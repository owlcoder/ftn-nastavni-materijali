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c01542dde04795" /><Relationship Type="http://schemas.openxmlformats.org/officeDocument/2006/relationships/extended-properties" Target="/docProps/app.xml" Id="R848f859d781e4a4b" /><Relationship Type="http://schemas.openxmlformats.org/officeDocument/2006/relationships/officeDocument" Target="/ppt/presentation.xml" Id="Rbb9bd3d0d21b47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e8587f414549a1"/>
  </p:sldMasterIdLst>
  <p:notesMasterIdLst>
    <p:notesMasterId xmlns:r="http://schemas.openxmlformats.org/officeDocument/2006/relationships" r:id="R8279672dcdfc4251"/>
  </p:notesMasterIdLst>
  <p:sldIdLst>
    <p:sldId xmlns:r="http://schemas.openxmlformats.org/officeDocument/2006/relationships" id="256" r:id="Rcbd14bef3d194c97"/>
    <p:sldId xmlns:r="http://schemas.openxmlformats.org/officeDocument/2006/relationships" id="257" r:id="R21a7c1f97b6d4c7f"/>
    <p:sldId xmlns:r="http://schemas.openxmlformats.org/officeDocument/2006/relationships" id="258" r:id="R976f126997404a71"/>
    <p:sldId xmlns:r="http://schemas.openxmlformats.org/officeDocument/2006/relationships" id="259" r:id="R70237d592727490b"/>
    <p:sldId xmlns:r="http://schemas.openxmlformats.org/officeDocument/2006/relationships" id="260" r:id="R38e210e28ba1462a"/>
    <p:sldId xmlns:r="http://schemas.openxmlformats.org/officeDocument/2006/relationships" id="261" r:id="R10083f1b47d54900"/>
    <p:sldId xmlns:r="http://schemas.openxmlformats.org/officeDocument/2006/relationships" id="262" r:id="Rcbafdae9e3ad4bae"/>
    <p:sldId xmlns:r="http://schemas.openxmlformats.org/officeDocument/2006/relationships" id="263" r:id="Rf4eaa78ca7724a9b"/>
    <p:sldId xmlns:r="http://schemas.openxmlformats.org/officeDocument/2006/relationships" id="264" r:id="Re9cc13e7e1b347dc"/>
    <p:sldId xmlns:r="http://schemas.openxmlformats.org/officeDocument/2006/relationships" id="265" r:id="R0168ceec21924991"/>
    <p:sldId xmlns:r="http://schemas.openxmlformats.org/officeDocument/2006/relationships" id="266" r:id="R1af778eb21a34020"/>
    <p:sldId xmlns:r="http://schemas.openxmlformats.org/officeDocument/2006/relationships" id="267" r:id="R582be7ae421b4601"/>
    <p:sldId xmlns:r="http://schemas.openxmlformats.org/officeDocument/2006/relationships" id="268" r:id="R87bdeb8e80c647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f87099654e4a2c" /><Relationship Type="http://schemas.openxmlformats.org/officeDocument/2006/relationships/slideMaster" Target="/ppt/slideMasters/slideMaster1.xml" Id="Rd0e8587f414549a1" /><Relationship Type="http://schemas.openxmlformats.org/officeDocument/2006/relationships/notesMaster" Target="/ppt/notesMasters/notesMaster1.xml" Id="R8279672dcdfc4251" /><Relationship Type="http://schemas.openxmlformats.org/officeDocument/2006/relationships/presProps" Target="/ppt/presProps.xml" Id="R7668fd591beb4001" /><Relationship Type="http://schemas.openxmlformats.org/officeDocument/2006/relationships/tableStyles" Target="/ppt/tableStyles.xml" Id="R75ddec7868ab4b63" /><Relationship Type="http://schemas.openxmlformats.org/officeDocument/2006/relationships/slide" Target="/ppt/slides/slide1.xml" Id="Rcbd14bef3d194c97" /><Relationship Type="http://schemas.openxmlformats.org/officeDocument/2006/relationships/slide" Target="/ppt/slides/slide2.xml" Id="R21a7c1f97b6d4c7f" /><Relationship Type="http://schemas.openxmlformats.org/officeDocument/2006/relationships/slide" Target="/ppt/slides/slide3.xml" Id="R976f126997404a71" /><Relationship Type="http://schemas.openxmlformats.org/officeDocument/2006/relationships/slide" Target="/ppt/slides/slide4.xml" Id="R70237d592727490b" /><Relationship Type="http://schemas.openxmlformats.org/officeDocument/2006/relationships/slide" Target="/ppt/slides/slide5.xml" Id="R38e210e28ba1462a" /><Relationship Type="http://schemas.openxmlformats.org/officeDocument/2006/relationships/slide" Target="/ppt/slides/slide6.xml" Id="R10083f1b47d54900" /><Relationship Type="http://schemas.openxmlformats.org/officeDocument/2006/relationships/slide" Target="/ppt/slides/slide7.xml" Id="Rcbafdae9e3ad4bae" /><Relationship Type="http://schemas.openxmlformats.org/officeDocument/2006/relationships/slide" Target="/ppt/slides/slide8.xml" Id="Rf4eaa78ca7724a9b" /><Relationship Type="http://schemas.openxmlformats.org/officeDocument/2006/relationships/slide" Target="/ppt/slides/slide9.xml" Id="Re9cc13e7e1b347dc" /><Relationship Type="http://schemas.openxmlformats.org/officeDocument/2006/relationships/slide" Target="/ppt/slides/slide10.xml" Id="R0168ceec21924991" /><Relationship Type="http://schemas.openxmlformats.org/officeDocument/2006/relationships/slide" Target="/ppt/slides/slide11.xml" Id="R1af778eb21a34020" /><Relationship Type="http://schemas.openxmlformats.org/officeDocument/2006/relationships/slide" Target="/ppt/slides/slide12.xml" Id="R582be7ae421b4601" /><Relationship Type="http://schemas.openxmlformats.org/officeDocument/2006/relationships/slide" Target="/ppt/slides/slide13.xml" Id="R87bdeb8e80c647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5d08771d4048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1acad00a95443f" /><Relationship Type="http://schemas.openxmlformats.org/officeDocument/2006/relationships/notesMaster" Target="/ppt/notesMasters/notesMaster1.xml" Id="R370ae2a3e27c45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221f54e89f408d" /><Relationship Type="http://schemas.openxmlformats.org/officeDocument/2006/relationships/notesMaster" Target="/ppt/notesMasters/notesMaster1.xml" Id="R7cd0ef88589a45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da0fe046494322" /><Relationship Type="http://schemas.openxmlformats.org/officeDocument/2006/relationships/notesMaster" Target="/ppt/notesMasters/notesMaster1.xml" Id="R2ae74d43db4f41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d7cd558cc44e0c" /><Relationship Type="http://schemas.openxmlformats.org/officeDocument/2006/relationships/notesMaster" Target="/ppt/notesMasters/notesMaster1.xml" Id="R3798a0558cb64d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ac5b41f8dc47a5" /><Relationship Type="http://schemas.openxmlformats.org/officeDocument/2006/relationships/notesMaster" Target="/ppt/notesMasters/notesMaster1.xml" Id="Rd8aa6e66d2c84e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87e02198c141a8" /><Relationship Type="http://schemas.openxmlformats.org/officeDocument/2006/relationships/notesMaster" Target="/ppt/notesMasters/notesMaster1.xml" Id="R861a702df69540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08e7b4005849e9" /><Relationship Type="http://schemas.openxmlformats.org/officeDocument/2006/relationships/notesMaster" Target="/ppt/notesMasters/notesMaster1.xml" Id="R25d7315de68242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ec1e9e7c7545f2" /><Relationship Type="http://schemas.openxmlformats.org/officeDocument/2006/relationships/notesMaster" Target="/ppt/notesMasters/notesMaster1.xml" Id="Rd974a9e92b0b4c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7217937c294320" /><Relationship Type="http://schemas.openxmlformats.org/officeDocument/2006/relationships/notesMaster" Target="/ppt/notesMasters/notesMaster1.xml" Id="R7fb08aba676343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f6c64ff762464e" /><Relationship Type="http://schemas.openxmlformats.org/officeDocument/2006/relationships/notesMaster" Target="/ppt/notesMasters/notesMaster1.xml" Id="R73b3cb26df794b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14afa59d5c414f" /><Relationship Type="http://schemas.openxmlformats.org/officeDocument/2006/relationships/notesMaster" Target="/ppt/notesMasters/notesMaster1.xml" Id="R178ea6cc86dc41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2b9f7d0c93493a" /><Relationship Type="http://schemas.openxmlformats.org/officeDocument/2006/relationships/notesMaster" Target="/ppt/notesMasters/notesMaster1.xml" Id="Ra230de5391e244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8a9866d4f54b96" /><Relationship Type="http://schemas.openxmlformats.org/officeDocument/2006/relationships/notesMaster" Target="/ppt/notesMasters/notesMaster1.xml" Id="Rb769106f64244c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Насловни слајд. Заменити текст у угластим заградама. Не додавати број вежбе или предавања у главни наслов.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Разделни слајд за почетак новог поглавља. Користити једном по већој тематској целини.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Основни слајд за објашњење једног појма. Избегавати више од четири кратке ставке.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Слајд за поређење. Обе колоне треба да користе исте критеријуме и сличан обим текста.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Слајд за дефиницију. Формулација треба да буде терминолошки прецизна и без промотивног језика.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Слајд за поступак са највише четири корака. Ако их има више, поступак поделити на два слајда.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Слајд за структурисано поређење. Користити исте мерне јединице и прецизне критеријуме.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Табеларни слајд. Табелу користити само када су редови и колоне неопходни за читање односа.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Слајд за код. Приказати само део кода неопходан за објашњење; задржати Consolas и синтаксно бојење.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Слајд за илустрацију. Заменити означени оквир сликом и проверити читљивост при пројекцији.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Слајд за дискусију. Критеријум одговора може се открити након што студенти предложе решење.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Завршни слајд. Сажети само појмове који су неопходни за наставак курса или проверу знања.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Слајд за крај предавања. Навести само изворе који су заиста коришћени и конкретну припрему за наредни термин.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0c94d17ae47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b9f82950074f61" /><Relationship Type="http://schemas.openxmlformats.org/officeDocument/2006/relationships/slideLayout" Target="/ppt/slideLayouts/slideLayout1.xml" Id="Ra59edeb6606449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9edeb6606449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f089a6ef04a4c" /><Relationship Type="http://schemas.openxmlformats.org/officeDocument/2006/relationships/notesSlide" Target="/ppt/notesSlides/notesSlide1.xml" Id="R1d64fe86bfef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aab5013af4a9b" /><Relationship Type="http://schemas.openxmlformats.org/officeDocument/2006/relationships/notesSlide" Target="/ppt/notesSlides/notesSlide2.xml" Id="Rd0664d53239f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5b76214b84c57" /><Relationship Type="http://schemas.openxmlformats.org/officeDocument/2006/relationships/notesSlide" Target="/ppt/notesSlides/notesSlide3.xml" Id="R4c61986d1f1240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f7aa9ad2b4a05" /><Relationship Type="http://schemas.openxmlformats.org/officeDocument/2006/relationships/notesSlide" Target="/ppt/notesSlides/notesSlide4.xml" Id="Rca0e5ee61df04e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26055a0474d7e" /><Relationship Type="http://schemas.openxmlformats.org/officeDocument/2006/relationships/notesSlide" Target="/ppt/notesSlides/notesSlide5.xml" Id="Rd578e79b31c742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b9d225f794111" /><Relationship Type="http://schemas.openxmlformats.org/officeDocument/2006/relationships/notesSlide" Target="/ppt/notesSlides/notesSlide6.xml" Id="R63bfa3fe3d434f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cf21183524c89" /><Relationship Type="http://schemas.openxmlformats.org/officeDocument/2006/relationships/notesSlide" Target="/ppt/notesSlides/notesSlide7.xml" Id="R55f3d503fbbe47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c8cec56bc4d65" /><Relationship Type="http://schemas.openxmlformats.org/officeDocument/2006/relationships/notesSlide" Target="/ppt/notesSlides/notesSlide8.xml" Id="Re2eea22bb4da49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aa5690ed84927" /><Relationship Type="http://schemas.openxmlformats.org/officeDocument/2006/relationships/notesSlide" Target="/ppt/notesSlides/notesSlide9.xml" Id="R82686de7b19340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90e3d0d8e4212" /><Relationship Type="http://schemas.openxmlformats.org/officeDocument/2006/relationships/notesSlide" Target="/ppt/notesSlides/notesSlide10.xml" Id="Rb38faaefbd0848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42ba0b5da4bbd" /><Relationship Type="http://schemas.openxmlformats.org/officeDocument/2006/relationships/notesSlide" Target="/ppt/notesSlides/notesSlide11.xml" Id="R8a6bcff7d5e646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f3973ded74adb" /><Relationship Type="http://schemas.openxmlformats.org/officeDocument/2006/relationships/notesSlide" Target="/ppt/notesSlides/notesSlide12.xml" Id="Rbb900e33b69b46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aad3f86934831" /><Relationship Type="http://schemas.openxmlformats.org/officeDocument/2006/relationships/notesSlide" Target="/ppt/notesSlides/notesSlide13.xml" Id="Rb586ce6dc27848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77858-7A89-4C43-B4CC-C94BF762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765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65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C95FD-9B06-4A70-A426-9DEBB50A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782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6C097-8229-440E-884A-50F8AF12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5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5B7DF-F842-4578-B19F-D6B70853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28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[Наслов предавања]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27C66-B3C3-453D-97D7-B47E889D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[Кратак и информативан поднаслов]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8A937-9569-4C5C-AD5D-3C43A0D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76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1F443-12BD-4529-9EC2-566477F4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[Име и презиме наставника]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22F9D-C30F-49AC-9B69-9FE5FEF9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CA4A5-3A28-4FEB-9654-9F444A8C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91125"/>
            <a:ext cx="2552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Академска 2026/27.</a:t>
            </a:r>
          </a:p>
        </p:txBody>
      </p:sp>
    </p:spTree>
    <p:extLst>
      <p:ext uri="{BB962C8B-B14F-4D97-AF65-F5344CB8AC3E}">
        <p14:creationId xmlns:p14="http://schemas.microsoft.com/office/powerpoint/2010/main" val="600136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00A3D-855C-4722-B86C-0D9B657E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765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6580"/>
                </a:solidFill>
                <a:latin typeface="Aptos"/>
                <a:ea typeface="Aptos"/>
                <a:cs typeface="Aptos"/>
              </a:rPr>
              <a:t>[НАЗИВ ПОГЛАВЉА]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E7553-DEB8-40B3-909D-8DCDB880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764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[Тема поглавља]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F0437-99E8-4928-AE29-3590EAB4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[Једна реченица која одређује обим поглавља]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4901D-A31E-48C6-9036-FD09FBAF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52387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658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99483-8D2A-4431-B6CB-38DB3523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[Предмет]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6D78D-7FE9-426A-95E0-0FDAD7E4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727204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518CE-8981-4AB4-9B4A-FBDE4DE9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086F9-1BE3-4A5B-8ABF-96AC6480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101DE-60A3-4102-BC03-DEF2B8DF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76522-B057-47CB-94F8-553C2444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[Наслов теме]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D9742-34E1-4A94-ADCB-61740BF8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[Поднаслов само ако додаје контекст који наслов не садржи]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45BC9-E489-4F8C-B691-7C972A85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[Главна тврдња или дефиниција]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574CE-397D-449B-A876-0903D83E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9525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buChar char="•"/>
              <a:defRPr sz="1575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[Прва чињеница или аргумент]</a:t>
            </a:r>
          </a:p>
          <a:p xmlns:a="http://schemas.openxmlformats.org/drawingml/2006/main">
            <a:pPr marL="304800" indent="-152400">
              <a:buChar char="•"/>
              <a:defRPr sz="1575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[Друга чињеница или објашњење]</a:t>
            </a:r>
          </a:p>
          <a:p xmlns:a="http://schemas.openxmlformats.org/drawingml/2006/main">
            <a:pPr marL="304800" indent="-152400">
              <a:buChar char="•"/>
              <a:defRPr sz="1575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[Пример, ограничење или последица]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A652A-BACD-4135-9CC9-775A8D19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755DD-2A8D-4799-AE74-4E41ACD0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705475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58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8BA93-B1E9-4027-AEAD-18AD00CC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765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6580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59D0C-E75E-4D2E-B936-42D51CE9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76925"/>
            <a:ext cx="1014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[Информација коју студенти треба да запамте или провере]</a:t>
            </a:r>
          </a:p>
        </p:txBody>
      </p:sp>
    </p:spTree>
    <p:extLst>
      <p:ext uri="{BB962C8B-B14F-4D97-AF65-F5344CB8AC3E}">
        <p14:creationId xmlns:p14="http://schemas.microsoft.com/office/powerpoint/2010/main" val="316797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0C669-568C-4746-865D-E99679F6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A3A2E-40C5-4B8E-B5E4-3ED3EBB3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A320A-9CDB-4F58-8895-966A2AD7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0C562-57FC-4445-A5DA-3168A7AB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[Поређење два приступа]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11784-FB3D-40F5-A9BC-0FF6FAC2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[Критеријум по ком се приступи пореде]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94E38-9A3D-41D4-BA5E-AD55BCA9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054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BEE15-9E87-4DC2-B78A-C998D41C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476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58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EED64-4F00-4289-B7DF-E54D93E4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71725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[Први приступ]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263AD-209E-4A0F-8510-49EA0240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724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[Опис приступа]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[Услови примене]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[Главно ограничење]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D0E70-FFF7-4BDD-A468-69B1317E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51054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1F6F2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0AC32-EA7C-4FE7-990F-A40E7B3C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76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F5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61FCD-D169-4145-9CE6-898DB16A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371725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[Други приступ]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9FF60-6099-4B79-B44E-B912932D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47244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[Опис приступа]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[Услови примене]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[Главно ограничење]</a:t>
            </a:r>
          </a:p>
        </p:txBody>
      </p:sp>
    </p:spTree>
    <p:extLst>
      <p:ext uri="{BB962C8B-B14F-4D97-AF65-F5344CB8AC3E}">
        <p14:creationId xmlns:p14="http://schemas.microsoft.com/office/powerpoint/2010/main" val="1614595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781DB-FA90-4E32-A8BF-68716A78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BC70A-5D7B-4F5D-B098-0C77DF11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5A44A-B539-4AD6-A74C-ECEE162F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1A9BC-1BAB-4432-8C50-C3364FF0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[Назив појма]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16BA2-C5FC-4BF5-9272-4DA1515F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[Област или контекст у ком се појам користи]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F1C19-5E1E-4867-A650-868AC5ED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58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9144D-A1B7-4FB9-BA21-1F321306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885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[Прецизна дефиниција појма у једној или две реченице]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AB3AB-CB3B-4750-9B46-BDC3187B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[Објашњење значаја, опсега или начина употребе појма]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EE5B4-AB22-4E0B-9F01-C6D35A74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6F2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8805C-204F-4A49-B37C-FF1B877A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2387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F5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EF346-B13F-4832-AA50-BFE4F0BA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01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F5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F5D"/>
                </a:solidFill>
                <a:latin typeface="Aptos"/>
                <a:ea typeface="Aptos"/>
                <a:cs typeface="Aptos"/>
              </a:rPr>
              <a:t>ПРИМЕР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A93EB-AF94-4359-B107-7E8107F1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1014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[Кратак пример који показује како се појам примењује]</a:t>
            </a:r>
          </a:p>
        </p:txBody>
      </p:sp>
    </p:spTree>
    <p:extLst>
      <p:ext uri="{BB962C8B-B14F-4D97-AF65-F5344CB8AC3E}">
        <p14:creationId xmlns:p14="http://schemas.microsoft.com/office/powerpoint/2010/main" val="233852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99D4AB-1718-47C3-A4B2-D828D680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533FE-BA48-4FFB-9B15-BC757973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82AA0-3789-4C9E-A092-707B2FA1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73AD9-88D6-4728-88C6-A6E1BC17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[Назив поступка]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8771C-353F-4A42-A8FB-CFE7BC52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[Улаз, циљ или услови под којима се поступак спроводи]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80CFC-59BB-4CFC-8405-5D366AAC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33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50C4C-4169-40BB-AD39-8DE9705F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765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65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8CBA1-72CF-40A3-876F-C6C626AA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[Корак]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1D432-7C42-4A35-8D51-4E4330E7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[Кратак опис]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F5B9F-DE06-4D82-B841-6882D5E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76500"/>
            <a:ext cx="2333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1F6F2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CA7A9-800B-4355-9416-75BD17A8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9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26F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F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B21F5-AF81-478A-A7E4-09A33E32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765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[Корак]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10229-3BCE-46FA-ACE3-EBAC6EEC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051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[Кратак опис]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064C0-E37D-48CC-80FB-4E87F7F4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2333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C3927-72AB-4354-82A4-72E4452D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864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864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4E642-95AD-46B0-ACFE-657D7C7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[Корак]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79AF7-D698-4B4D-938F-A2E82EFD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[Кратак опис]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F227A-260D-485E-8416-FD88174A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76500"/>
            <a:ext cx="2333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AF8F4-840A-47B0-BD1E-62394D2C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9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965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5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704D2-C4D5-4D00-AF08-76355618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765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[Корак]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A2116-2066-41B5-9CE1-E9ACA065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051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[Кратак опис]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FC14B-4A15-4EDF-B5DD-27573B4F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52775"/>
            <a:ext cx="49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6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3A4FBF-DE5F-4068-8865-FB8932B7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52775"/>
            <a:ext cx="49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6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4994B-23F4-4CD6-B38D-C917FAC5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52775"/>
            <a:ext cx="49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6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EF2F0-77A5-417E-9FBF-78D884BA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082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054BD-1411-49AC-AD8E-AF32C367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292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58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FC0C7-8675-468C-BFF6-3F46E836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006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765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6580"/>
                </a:solidFill>
                <a:latin typeface="Aptos"/>
                <a:ea typeface="Aptos"/>
                <a:cs typeface="Aptos"/>
              </a:rPr>
              <a:t>УСЛОВ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DE490E-CC05-41FD-ADE2-40660F9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1014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[Услов успешног завршетка или доказ исправности]</a:t>
            </a:r>
          </a:p>
        </p:txBody>
      </p:sp>
    </p:spTree>
    <p:extLst>
      <p:ext uri="{BB962C8B-B14F-4D97-AF65-F5344CB8AC3E}">
        <p14:creationId xmlns:p14="http://schemas.microsoft.com/office/powerpoint/2010/main" val="4566566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517B96-A921-4400-9740-5DA5C017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1A95E-B411-4469-85A8-FF234A3F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22BDA-FF0C-45E1-873E-EF00F03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8119C-AAE7-4C82-8732-3BF46F35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[Матрица поређења]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8BEE1-46F1-4475-9EBB-B3376F6B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[Објекти и критеријуми који се пореде]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522E1-7FDB-4577-977F-27C4CD24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6047A-1406-41D2-87C9-EA000A9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24100"/>
            <a:ext cx="2466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Критеријум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42F91-8CD6-4B61-9610-44D63C3E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90750"/>
            <a:ext cx="2619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76952-1848-4E4B-8F23-0051F7AE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24100"/>
            <a:ext cx="237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34B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4B61"/>
                </a:solidFill>
                <a:latin typeface="Aptos"/>
                <a:ea typeface="Aptos"/>
                <a:cs typeface="Aptos"/>
              </a:rPr>
              <a:t>[Опција A]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73E77-CD58-4915-B2A0-A2CA3C63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619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F3BFF-47B2-4C7A-A129-3FE5534D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24100"/>
            <a:ext cx="237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34B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4B61"/>
                </a:solidFill>
                <a:latin typeface="Aptos"/>
                <a:ea typeface="Aptos"/>
                <a:cs typeface="Aptos"/>
              </a:rPr>
              <a:t>[Опција B]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BE99F-A375-4AE3-AAA6-118D01CB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1A6B3-B380-4769-8E95-BE43BD8E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24100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34B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4B61"/>
                </a:solidFill>
                <a:latin typeface="Aptos"/>
                <a:ea typeface="Aptos"/>
                <a:cs typeface="Aptos"/>
              </a:rPr>
              <a:t>[Опција C]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D2D14-0834-4838-98FD-68F60F85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E018E-150C-4DA8-A880-2F478C16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67025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[Критеријум 1]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9B0EF-28A7-4CCF-921F-1C793EC9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43200"/>
            <a:ext cx="2619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4A6E9-1878-46E0-A70C-522836DF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67025"/>
            <a:ext cx="237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8260A-037D-43E6-8D9C-9850FC27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619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15194-9D3D-40D0-9F26-9A85F9E8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237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08BBC-D406-40F8-AACF-E2A984D1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4320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DB7A7-64A1-4D64-80A5-824CBCF7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67025"/>
            <a:ext cx="2276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D0799-8667-43C5-8003-2B60B121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9DEDF-A132-48E5-BE52-ADD57137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95675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[Критеријум 2]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A3325-F419-4CCB-9798-CE8229A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71850"/>
            <a:ext cx="2619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1BEDD4-D70E-4BD7-A482-23F46259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95675"/>
            <a:ext cx="237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1399A-573A-4884-8369-6861EEFF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2619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28CB4-A291-4291-845C-CDDE86C7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95675"/>
            <a:ext cx="237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920FF3-684F-4F99-AE87-FC8333FB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7185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9B3FC3-C996-4408-828C-4ACFFAE2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95675"/>
            <a:ext cx="2276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474F78-8933-4B4E-B19E-9CD3266A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0DB243-E39A-4559-B2CD-7570EC9C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24325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[Критеријум 3]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5A5C19-D638-4102-B4D1-0778C1C9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00500"/>
            <a:ext cx="2619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E61E61-50A1-41A7-913E-AE6B6734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24325"/>
            <a:ext cx="237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168205-43F7-46BA-A992-AF5EC8AE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619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0B6D02-D916-4A0F-B62A-FF380FB5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24325"/>
            <a:ext cx="237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AAFE8D-2303-440D-9EFD-769D9FF5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4917E9-9769-4BD7-8691-BA370EBB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24325"/>
            <a:ext cx="2276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56BA0D-8477-4D37-97CE-90894ED6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0138CE-119B-457E-A89D-B9FD2A76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52975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[Критеријум 4]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AFF8DA-8C97-4768-87C1-E231A7FC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29150"/>
            <a:ext cx="2619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D5DF9B-FA80-466D-B69D-ADBE506C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52975"/>
            <a:ext cx="237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43FCE8-97A0-4F72-9AFC-2EA6959B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2619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063A1A-C443-4A33-A92C-B0A616C5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52975"/>
            <a:ext cx="237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9386B7-12A5-48CA-A508-CD21518E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2915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C3367C-E7E2-4FAE-AA66-D3CE7B33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52975"/>
            <a:ext cx="2276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[Вредност]</a:t>
            </a:r>
          </a:p>
        </p:txBody>
      </p:sp>
    </p:spTree>
    <p:extLst>
      <p:ext uri="{BB962C8B-B14F-4D97-AF65-F5344CB8AC3E}">
        <p14:creationId xmlns:p14="http://schemas.microsoft.com/office/powerpoint/2010/main" val="176882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A05722-2AFC-476E-962A-3E01A314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65FAB-C14E-4A03-A662-051AF0A6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D6977-0001-429A-8BBB-ABD0FFAD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F1F2D-6A51-4EC6-95BA-DA0DC35F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[Наслов табеле]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C32DD-CB9E-4C94-831A-B65674B9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[Шта табела приказује и како треба читати податке]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F5FF2-1EBE-4CBE-9D34-C589B492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A6705-94AF-4012-A2D2-E0D5636F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9552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34B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4B61"/>
                </a:solidFill>
                <a:latin typeface="Aptos"/>
                <a:ea typeface="Aptos"/>
                <a:cs typeface="Aptos"/>
              </a:rPr>
              <a:t>[Колона 1]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0B9D4-823C-4E87-BF8E-BF9B6B41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7170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56254-CDE9-41D7-A827-CE7A34DD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29552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34B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4B61"/>
                </a:solidFill>
                <a:latin typeface="Aptos"/>
                <a:ea typeface="Aptos"/>
                <a:cs typeface="Aptos"/>
              </a:rPr>
              <a:t>[Колона 2]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7ED57-95C3-4E5E-BB44-B69087B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717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03091-924E-4328-B1D8-0FC3DCA8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955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34B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4B61"/>
                </a:solidFill>
                <a:latin typeface="Aptos"/>
                <a:ea typeface="Aptos"/>
                <a:cs typeface="Aptos"/>
              </a:rPr>
              <a:t>[Колона 3]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5F718-B999-4BF7-8D4B-870B0C64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3A71E-ED67-4B07-8AF0-BAD3FAD5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9552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34B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4B61"/>
                </a:solidFill>
                <a:latin typeface="Aptos"/>
                <a:ea typeface="Aptos"/>
                <a:cs typeface="Aptos"/>
              </a:rPr>
              <a:t>[Колона 4]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58CFE-A146-4F23-801B-C54EF859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81866-80C9-439C-BD24-84C37985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670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9CA2E-320B-4086-ADCA-DF5F5089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37AB9-4CF4-4AC5-90A6-0BD775AE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6702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6027E-809A-40DE-8DB1-2FA76961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A86AD-8E43-43A7-8558-FC291BA4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6702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34F21-AEA2-4C50-A1EB-1CFAFE44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47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8066C-62B1-4E6C-A9DC-45ED8234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6702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9C226-F606-4DC2-B61E-24A07C7F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454E2-B55B-47B1-B2CD-7A675115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147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04E0B-0784-4637-84E9-0BCA4F1A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E7966-1CFB-4FB5-A004-AF7C24AE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51472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2F34D-E7DE-4EDD-8399-BEA480AA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810B4E-A003-4341-B842-C48EEE87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51472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ACAD53-97D5-4BE9-886B-5BB6CB64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47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CE9E9B-C399-444B-A33B-CD5046E0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1472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EB7196-C195-42B0-8CE6-4084BF08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07FEEF-E718-491C-8497-3235C644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624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DFE2B3-14A3-4B2D-9FEF-442E6B2A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9550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EC808C-E5F8-4D49-82D3-87CDD87C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6242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7A87F-A47E-4411-9DE9-06167B32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1955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E1854-88D2-4949-86D6-A6CD6B60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16242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FE72AF-9AA0-4AE9-8F01-EAD87714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9550"/>
            <a:ext cx="247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A6CF6B-AEFC-413B-9BED-548C0C22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6242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5F1FF0-28A8-4558-9F88-2D761C28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449CCE-1029-4F29-BFE0-BEC10C48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101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1F40F6-9D92-43B9-956D-B5861C07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67250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93FB11-81D8-4E80-8B1B-6288E3FF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2ED438-9D20-4C4F-8AA8-AA95C6F3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A63E7B-AEAB-47CE-85F7-804B80D5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1012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43C3E7-CAB6-442A-B218-E7FA12A8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67250"/>
            <a:ext cx="247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91F34B-D320-4495-8DDD-40A94CE2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1012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[Податак]</a:t>
            </a:r>
          </a:p>
        </p:txBody>
      </p:sp>
    </p:spTree>
    <p:extLst>
      <p:ext uri="{BB962C8B-B14F-4D97-AF65-F5344CB8AC3E}">
        <p14:creationId xmlns:p14="http://schemas.microsoft.com/office/powerpoint/2010/main" val="1593783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4A959-346F-4F7D-A097-CE46BC31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9CEA4-8EAF-404E-9FDF-679C8F74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2CC06-DBB8-4B72-AB7B-908FF2D1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70795-F20C-448E-BDE1-6C78B04B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[Назив примера кода]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32DA3-76CC-4BEF-B88B-F2F7D347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[Проблем или правило које код приказује]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A25DB-218D-4431-9B38-87A3905C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667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6CB1B-60C6-44A2-A328-FCF9FA42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62E4A-8910-4C5F-8113-1F3083EB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76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B6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1E850-8BF4-4D05-8F0A-14D22F3D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76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C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EB771-3F69-42A9-AE2F-A8F95A0F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76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27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E70A6-009B-42C3-B6D6-A5F32123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6000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222C"/>
                </a:solidFill>
                <a:latin typeface="Consolas"/>
                <a:ea typeface="Consolas"/>
                <a:cs typeface="Consolas"/>
              </a:defRPr>
            </a:pPr>
            <a:r>
              <a:rPr b="1">
                <a:solidFill>
                  <a:srgbClr val="356A95"/>
                </a:solidFill>
              </a:rPr>
              <a:t>public</a:t>
            </a:r>
            <a:r>
              <a:rPr>
                <a:solidFill>
                  <a:srgbClr val="19222C"/>
                </a:solidFill>
              </a:rPr>
              <a:t> sealed class </a:t>
            </a:r>
            <a:r>
              <a:rPr b="1">
                <a:solidFill>
                  <a:srgbClr val="745A9B"/>
                </a:solidFill>
              </a:rPr>
              <a:t>PrimerServis</a:t>
            </a:r>
          </a:p>
          <a:p xmlns:a="http://schemas.openxmlformats.org/drawingml/2006/main">
            <a:pPr>
              <a:defRPr sz="1275">
                <a:solidFill>
                  <a:srgbClr val="19222C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9222C"/>
                </a:solidFill>
              </a:rPr>
              <a:t>{</a:t>
            </a:r>
          </a:p>
          <a:p xmlns:a="http://schemas.openxmlformats.org/drawingml/2006/main">
            <a:pPr>
              <a:defRPr sz="1275">
                <a:solidFill>
                  <a:srgbClr val="19222C"/>
                </a:solidFill>
                <a:latin typeface="Consolas"/>
                <a:ea typeface="Consolas"/>
                <a:cs typeface="Consolas"/>
              </a:defRPr>
            </a:pPr>
            <a:r>
              <a:rPr b="1">
                <a:solidFill>
                  <a:srgbClr val="356A95"/>
                </a:solidFill>
              </a:rPr>
              <a:t>    public</a:t>
            </a:r>
            <a:r>
              <a:rPr>
                <a:solidFill>
                  <a:srgbClr val="19222C"/>
                </a:solidFill>
              </a:rPr>
              <a:t> Result Obradi(Zahtev zahtev)</a:t>
            </a:r>
          </a:p>
          <a:p xmlns:a="http://schemas.openxmlformats.org/drawingml/2006/main">
            <a:pPr>
              <a:defRPr sz="1275">
                <a:solidFill>
                  <a:srgbClr val="19222C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9222C"/>
                </a:solidFill>
              </a:rPr>
              <a:t>    {</a:t>
            </a:r>
          </a:p>
          <a:p xmlns:a="http://schemas.openxmlformats.org/drawingml/2006/main">
            <a:pPr>
              <a:defRPr sz="1275">
                <a:solidFill>
                  <a:srgbClr val="19222C"/>
                </a:solidFill>
                <a:latin typeface="Consolas"/>
                <a:ea typeface="Consolas"/>
                <a:cs typeface="Consolas"/>
              </a:defRPr>
            </a:pPr>
            <a:r>
              <a:rPr b="1">
                <a:solidFill>
                  <a:srgbClr val="356A95"/>
                </a:solidFill>
              </a:rPr>
              <a:t>        if</a:t>
            </a:r>
            <a:r>
              <a:rPr>
                <a:solidFill>
                  <a:srgbClr val="19222C"/>
                </a:solidFill>
              </a:rPr>
              <a:t> (!zahtev.Ispravan)</a:t>
            </a:r>
          </a:p>
          <a:p xmlns:a="http://schemas.openxmlformats.org/drawingml/2006/main">
            <a:pPr>
              <a:defRPr sz="1275">
                <a:solidFill>
                  <a:srgbClr val="19222C"/>
                </a:solidFill>
                <a:latin typeface="Consolas"/>
                <a:ea typeface="Consolas"/>
                <a:cs typeface="Consolas"/>
              </a:defRPr>
            </a:pPr>
            <a:r>
              <a:rPr b="1">
                <a:solidFill>
                  <a:srgbClr val="356A95"/>
                </a:solidFill>
              </a:rPr>
              <a:t>            return</a:t>
            </a:r>
            <a:r>
              <a:rPr>
                <a:solidFill>
                  <a:srgbClr val="8A5C38"/>
                </a:solidFill>
              </a:rPr>
              <a:t> Result.Neuspeh("NeispravanZahtev");</a:t>
            </a:r>
          </a:p>
          <a:p xmlns:a="http://schemas.openxmlformats.org/drawingml/2006/main">
            <a:pPr>
              <a:defRPr sz="1275">
                <a:solidFill>
                  <a:srgbClr val="19222C"/>
                </a:solidFill>
                <a:latin typeface="Consolas"/>
                <a:ea typeface="Consolas"/>
                <a:cs typeface="Consolas"/>
              </a:defRPr>
            </a:pPr>
            <a:r>
              <a:rPr b="1">
                <a:solidFill>
                  <a:srgbClr val="356A95"/>
                </a:solidFill>
              </a:rPr>
              <a:t>        return</a:t>
            </a:r>
            <a:r>
              <a:rPr>
                <a:solidFill>
                  <a:srgbClr val="19222C"/>
                </a:solidFill>
              </a:rPr>
              <a:t> Result.Uspeh();</a:t>
            </a:r>
          </a:p>
          <a:p xmlns:a="http://schemas.openxmlformats.org/drawingml/2006/main">
            <a:pPr>
              <a:defRPr sz="1275">
                <a:solidFill>
                  <a:srgbClr val="19222C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9222C"/>
                </a:solidFill>
              </a:rPr>
              <a:t>    }</a:t>
            </a:r>
          </a:p>
          <a:p xmlns:a="http://schemas.openxmlformats.org/drawingml/2006/main">
            <a:pPr>
              <a:defRPr sz="1275">
                <a:solidFill>
                  <a:srgbClr val="19222C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9222C"/>
                </a:solidFill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852AD-7856-4F19-887A-D73B74BD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098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7658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76580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47BE0-2488-4757-8B01-08795D12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buChar char="•"/>
              <a:defRPr sz="1350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[Шта код ради]</a:t>
            </a:r>
          </a:p>
          <a:p xmlns:a="http://schemas.openxmlformats.org/drawingml/2006/main">
            <a:pPr marL="304800" indent="-152400">
              <a:buChar char="•"/>
              <a:defRPr sz="1350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[Коју одговорност има]</a:t>
            </a:r>
          </a:p>
          <a:p xmlns:a="http://schemas.openxmlformats.org/drawingml/2006/main">
            <a:pPr marL="304800" indent="-152400">
              <a:buChar char="•"/>
              <a:defRPr sz="1350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[Које ограничење важи]</a:t>
            </a:r>
          </a:p>
          <a:p xmlns:a="http://schemas.openxmlformats.org/drawingml/2006/main">
            <a:pPr marL="304800" indent="-152400">
              <a:buChar char="•"/>
              <a:defRPr sz="1350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[Како се понашање проверава]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FFE30-9AD9-499B-B9B0-37D1AB9E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82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6F2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F86D5-E317-4137-A649-AB054BBC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2006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F5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CA4E6-07C8-4830-93DD-25973FFD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720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26F5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F5D"/>
                </a:solidFill>
                <a:latin typeface="Aptos"/>
                <a:ea typeface="Aptos"/>
                <a:cs typeface="Aptos"/>
              </a:rPr>
              <a:t>ПРОВЕРА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EC92D-40C8-4DB4-B8FF-AE8E8029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014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[Команда, тест или очекивани резултат]</a:t>
            </a:r>
          </a:p>
        </p:txBody>
      </p:sp>
    </p:spTree>
    <p:extLst>
      <p:ext uri="{BB962C8B-B14F-4D97-AF65-F5344CB8AC3E}">
        <p14:creationId xmlns:p14="http://schemas.microsoft.com/office/powerpoint/2010/main" val="1094812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8D7BC-E5E7-4B60-8D7C-5C6A7001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5F9B2-4AA5-44F5-A238-98E1CAE8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8C4D6-46B6-48E0-B28A-ADFE886C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515DC-3432-48B5-AC81-AAC0E2DC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[Наслов илустрације]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264C1-996E-42ED-9F03-9508E0A7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[Шта студент треба да уочи на приказу]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0A784-0239-40F7-A410-0C80C8FF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44C8E-8FEE-47E0-BB08-F8A8C2A6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57450"/>
            <a:ext cx="5600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6C1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33CEA-6CB9-4DFC-87FD-7E337220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33775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87929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[Уметнути дијаграм, снимак екрана или фотографију]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03D56-661F-447D-AD8A-8DDAF46A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7658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76580"/>
                </a:solidFill>
                <a:latin typeface="Aptos"/>
                <a:ea typeface="Aptos"/>
                <a:cs typeface="Aptos"/>
              </a:rPr>
              <a:t>[Објашњење]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E5872-39E3-420A-B929-6E2C4F58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384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[Опис елемената на приказу и њиховог значаја. Текст треба да упућује на конкретне делове илустрације.]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46713-76FB-4DA9-8388-AACA6610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62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7929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[Извор или напомена о приказу]</a:t>
            </a:r>
          </a:p>
        </p:txBody>
      </p:sp>
    </p:spTree>
    <p:extLst>
      <p:ext uri="{BB962C8B-B14F-4D97-AF65-F5344CB8AC3E}">
        <p14:creationId xmlns:p14="http://schemas.microsoft.com/office/powerpoint/2010/main" val="4014942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070FB-DCBD-41A6-B902-72C6A8B5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72CA2-3BD0-4E63-9C01-9B793D2F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2568A-2AED-4640-A72D-4C04F3C1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018FA-24C5-4C1F-9AA3-EA5D1094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[Студија случаја]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E35E6-ABB0-4BB7-BE72-10B36BDF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[Систем, сценарио или проблем који се анализира]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759DF-C37C-4380-9916-5744D1BF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47658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76580"/>
                </a:solidFill>
                <a:latin typeface="Aptos"/>
                <a:ea typeface="Aptos"/>
                <a:cs typeface="Aptos"/>
              </a:rPr>
              <a:t>Полазна ситуација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54644-F44D-446D-B27F-5C9B0C31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[Кратак опис контекста и релевантних чињеница]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9FED2-C45E-469D-9AC6-7903AA7B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9525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E1D91-2FC9-4FCA-8D07-195805E5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0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526F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F5D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8055D-C30B-4875-B6A0-1F4C2ED3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[Питање које захтева примену појма, а не репродукцију дефиниције]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D23B2-4858-4920-8D6A-13EB8322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9525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9419D-2F11-4D87-A65F-6C99152C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02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7864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8644B"/>
                </a:solidFill>
                <a:latin typeface="Aptos"/>
                <a:ea typeface="Aptos"/>
                <a:cs typeface="Aptos"/>
              </a:rPr>
              <a:t>Критеријум одговора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D6FC2-1214-47D2-8696-EB6A97B5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[Елементи које образложен одговор мора да садржи]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0E8CD-8D26-4FD5-900B-FAF777BB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E4A86-62A8-4F71-8F0E-9738E739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534025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58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57056-E578-451E-BE15-7EE6C7A0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05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765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6580"/>
                </a:solidFill>
                <a:latin typeface="Aptos"/>
                <a:ea typeface="Aptos"/>
                <a:cs typeface="Aptos"/>
              </a:rPr>
              <a:t>ДИСКУСИЈА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F5675-DF80-4AB4-8C93-BF80ECAB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05475"/>
            <a:ext cx="1014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[Закључак након разговора са студентима]</a:t>
            </a:r>
          </a:p>
        </p:txBody>
      </p:sp>
    </p:spTree>
    <p:extLst>
      <p:ext uri="{BB962C8B-B14F-4D97-AF65-F5344CB8AC3E}">
        <p14:creationId xmlns:p14="http://schemas.microsoft.com/office/powerpoint/2010/main" val="2574253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D2A29-3BF2-42E2-B4FB-F5AB50E3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0B506-83B4-4346-B560-5C7569A7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1DCD8-FBF0-40AD-B901-3F9E97A2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4F8FA-6752-4ACD-9B84-52A08F27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Резиме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4646A-C272-432B-9914-E16300CD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[Назив предавања или тематске целине]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C7F7A-4F27-407E-8BB9-3FA5FA76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[Главни закључак]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8BEE3-C733-43B9-B87D-F8699720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76575"/>
            <a:ext cx="10363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01894-EA16-4224-ADC5-D2B75D20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765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65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74A68-CDD4-4B60-B4F3-CD20B60D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99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[Први кључни појам]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DA01A-AE49-4C00-ADB5-13B9E25D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099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[Једна реченица објашњења]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C7270-C876-4E37-8497-016141CB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0363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1F6F2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923C6-4F86-4826-97A2-CB964C6E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26F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F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0B0E0-8767-4877-9B28-401F9781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[Други кључни појам]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21FDC-8A2B-4FDC-A53E-1F883AA5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9097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[Једна реченица објашњења]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9F146-069A-45E7-8ADF-D70909CC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675"/>
            <a:ext cx="10363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0504A-769A-45BB-8280-08B5668F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864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864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7DE8A-C47C-4541-A094-9EBBB704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720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[Трећи кључни појам]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FF0AA-ACB1-474E-A652-C6380DB5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720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[Једна реченица објашњења]</a:t>
            </a:r>
          </a:p>
        </p:txBody>
      </p:sp>
    </p:spTree>
    <p:extLst>
      <p:ext uri="{BB962C8B-B14F-4D97-AF65-F5344CB8AC3E}">
        <p14:creationId xmlns:p14="http://schemas.microsoft.com/office/powerpoint/2010/main" val="13289588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6A371-F7B4-4CAA-AC1B-9299EB17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84E62-813F-4A33-9A84-D5C76F82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6C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C3415-B394-4C98-AE7C-6F6BB35F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0255A-FB9A-45AE-99D2-AAF5BF01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Литература и припрема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65A5E-B9FF-4A5F-8902-3F806669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2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[Обавезни извори и задатак за наредни термин]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38845-2840-4CFE-8D96-D612D5E0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47658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76580"/>
                </a:solidFill>
                <a:latin typeface="Aptos"/>
                <a:ea typeface="Aptos"/>
                <a:cs typeface="Aptos"/>
              </a:rPr>
              <a:t>Литература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80344-38CD-4851-8836-380D5A98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buChar char="•"/>
              <a:defRPr sz="1350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[Аутор, наслов, издање, поглавље]</a:t>
            </a:r>
          </a:p>
          <a:p xmlns:a="http://schemas.openxmlformats.org/drawingml/2006/main">
            <a:pPr marL="304800" indent="-152400">
              <a:buChar char="•"/>
              <a:defRPr sz="1350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[Званична документација или стандард]</a:t>
            </a:r>
          </a:p>
          <a:p xmlns:a="http://schemas.openxmlformats.org/drawingml/2006/main">
            <a:pPr marL="304800" indent="-152400">
              <a:buChar char="•"/>
              <a:defRPr sz="1350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[Додатни извор, ако је неопходан]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13BD6-0D10-4C6E-86EB-7940E648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3600"/>
            <a:ext cx="9525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CF6F2-FDAD-4016-9BF3-DA7BB75E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02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526F5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6F5D"/>
                </a:solidFill>
                <a:latin typeface="Aptos"/>
                <a:ea typeface="Aptos"/>
                <a:cs typeface="Aptos"/>
              </a:rPr>
              <a:t>Припрема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81761-62B0-4CD5-B8CC-3C43A901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051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buChar char="•"/>
              <a:defRPr sz="1350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[Шта прочитати или инсталирати]</a:t>
            </a:r>
          </a:p>
          <a:p xmlns:a="http://schemas.openxmlformats.org/drawingml/2006/main">
            <a:pPr marL="304800" indent="-152400">
              <a:buChar char="•"/>
              <a:defRPr sz="1350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[Који пример покренути]</a:t>
            </a:r>
          </a:p>
          <a:p xmlns:a="http://schemas.openxmlformats.org/drawingml/2006/main">
            <a:pPr marL="304800" indent="-152400">
              <a:buChar char="•"/>
              <a:defRPr sz="1350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t>[Шта донети на наредни термин]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52868-A398-4E47-A0AF-039DBCEF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C6CE0-E0E5-42A1-9405-53412B46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534025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4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2545C-851C-41D0-810E-96B7D4F0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05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864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8644B"/>
                </a:solidFill>
                <a:latin typeface="Aptos"/>
                <a:ea typeface="Aptos"/>
                <a:cs typeface="Aptos"/>
              </a:rPr>
              <a:t>РОК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7A9AE-CEED-4349-B71E-E3E6945A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05475"/>
            <a:ext cx="1014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22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[Датум, начин предаје или услов за приступ следећој активности]</a:t>
            </a:r>
          </a:p>
        </p:txBody>
      </p:sp>
    </p:spTree>
    <p:extLst>
      <p:ext uri="{BB962C8B-B14F-4D97-AF65-F5344CB8AC3E}">
        <p14:creationId xmlns:p14="http://schemas.microsoft.com/office/powerpoint/2010/main" val="1010146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2026-09-29T18:26:14.2660000Z</dcterms:created>
  <dcterms:modified xsi:type="dcterms:W3CDTF">2026-09-29T18:26:14.2660000Z</dcterms:modified>
</coreProperties>
</file>