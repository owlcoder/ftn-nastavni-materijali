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4c10ad62234901" /><Relationship Type="http://schemas.openxmlformats.org/officeDocument/2006/relationships/extended-properties" Target="/docProps/app.xml" Id="R4230d8a877cb482f" /><Relationship Type="http://schemas.openxmlformats.org/officeDocument/2006/relationships/officeDocument" Target="/ppt/presentation.xml" Id="R0d4338754dd045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1a7d708aef485d"/>
  </p:sldMasterIdLst>
  <p:notesMasterIdLst>
    <p:notesMasterId xmlns:r="http://schemas.openxmlformats.org/officeDocument/2006/relationships" r:id="Rf18651313569408f"/>
  </p:notesMasterIdLst>
  <p:sldIdLst>
    <p:sldId xmlns:r="http://schemas.openxmlformats.org/officeDocument/2006/relationships" id="256" r:id="Rc6387edec8db4a93"/>
    <p:sldId xmlns:r="http://schemas.openxmlformats.org/officeDocument/2006/relationships" id="257" r:id="Rf4d9af1f66854542"/>
    <p:sldId xmlns:r="http://schemas.openxmlformats.org/officeDocument/2006/relationships" id="258" r:id="Rc2da43515c754c38"/>
    <p:sldId xmlns:r="http://schemas.openxmlformats.org/officeDocument/2006/relationships" id="259" r:id="Rd812aef19d6d41a3"/>
    <p:sldId xmlns:r="http://schemas.openxmlformats.org/officeDocument/2006/relationships" id="260" r:id="R3562282f8e0d48f5"/>
    <p:sldId xmlns:r="http://schemas.openxmlformats.org/officeDocument/2006/relationships" id="261" r:id="R8bbcff124a6945f7"/>
    <p:sldId xmlns:r="http://schemas.openxmlformats.org/officeDocument/2006/relationships" id="262" r:id="R52d152ad009244b0"/>
    <p:sldId xmlns:r="http://schemas.openxmlformats.org/officeDocument/2006/relationships" id="263" r:id="Rba27a4a9a7bd4d9d"/>
    <p:sldId xmlns:r="http://schemas.openxmlformats.org/officeDocument/2006/relationships" id="264" r:id="R59cddf2c82bf40e7"/>
    <p:sldId xmlns:r="http://schemas.openxmlformats.org/officeDocument/2006/relationships" id="265" r:id="Rb20cbeecf41c4b89"/>
    <p:sldId xmlns:r="http://schemas.openxmlformats.org/officeDocument/2006/relationships" id="266" r:id="Rfe56d25f1f6a442f"/>
    <p:sldId xmlns:r="http://schemas.openxmlformats.org/officeDocument/2006/relationships" id="267" r:id="R07b9d84615654d8a"/>
    <p:sldId xmlns:r="http://schemas.openxmlformats.org/officeDocument/2006/relationships" id="268" r:id="R1a316173dab34b67"/>
    <p:sldId xmlns:r="http://schemas.openxmlformats.org/officeDocument/2006/relationships" id="269" r:id="R2c70c69da72a4938"/>
    <p:sldId xmlns:r="http://schemas.openxmlformats.org/officeDocument/2006/relationships" id="270" r:id="R0e20f64b70f54250"/>
    <p:sldId xmlns:r="http://schemas.openxmlformats.org/officeDocument/2006/relationships" id="271" r:id="R64a18eb6420a49f6"/>
    <p:sldId xmlns:r="http://schemas.openxmlformats.org/officeDocument/2006/relationships" id="272" r:id="R2fe021ba240f4a2d"/>
    <p:sldId xmlns:r="http://schemas.openxmlformats.org/officeDocument/2006/relationships" id="273" r:id="Rb21cee5d666b4643"/>
    <p:sldId xmlns:r="http://schemas.openxmlformats.org/officeDocument/2006/relationships" id="274" r:id="R906daa0d28324ab3"/>
    <p:sldId xmlns:r="http://schemas.openxmlformats.org/officeDocument/2006/relationships" id="275" r:id="R2f1b5dd6e2a14e8d"/>
    <p:sldId xmlns:r="http://schemas.openxmlformats.org/officeDocument/2006/relationships" id="276" r:id="R70ea72430c77489b"/>
    <p:sldId xmlns:r="http://schemas.openxmlformats.org/officeDocument/2006/relationships" id="277" r:id="Rf4f0c6d756ab4790"/>
    <p:sldId xmlns:r="http://schemas.openxmlformats.org/officeDocument/2006/relationships" id="278" r:id="R0cb4de64d6ed4552"/>
    <p:sldId xmlns:r="http://schemas.openxmlformats.org/officeDocument/2006/relationships" id="279" r:id="Rb74ea9b1bf5643b7"/>
    <p:sldId xmlns:r="http://schemas.openxmlformats.org/officeDocument/2006/relationships" id="280" r:id="Rbba1539863d74dfb"/>
    <p:sldId xmlns:r="http://schemas.openxmlformats.org/officeDocument/2006/relationships" id="281" r:id="R66fe5b09430542ef"/>
    <p:sldId xmlns:r="http://schemas.openxmlformats.org/officeDocument/2006/relationships" id="282" r:id="R8e20161db68e4e0f"/>
    <p:sldId xmlns:r="http://schemas.openxmlformats.org/officeDocument/2006/relationships" id="283" r:id="R5868d0e193d64bf7"/>
    <p:sldId xmlns:r="http://schemas.openxmlformats.org/officeDocument/2006/relationships" id="284" r:id="R4f734677460d416e"/>
    <p:sldId xmlns:r="http://schemas.openxmlformats.org/officeDocument/2006/relationships" id="285" r:id="Re60fc66fde3149b5"/>
    <p:sldId xmlns:r="http://schemas.openxmlformats.org/officeDocument/2006/relationships" id="286" r:id="R0ef08d4a443b4164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50e2cda0264d97" /><Relationship Type="http://schemas.openxmlformats.org/officeDocument/2006/relationships/slideMaster" Target="/ppt/slideMasters/slideMaster1.xml" Id="R391a7d708aef485d" /><Relationship Type="http://schemas.openxmlformats.org/officeDocument/2006/relationships/notesMaster" Target="/ppt/notesMasters/notesMaster1.xml" Id="Rf18651313569408f" /><Relationship Type="http://schemas.openxmlformats.org/officeDocument/2006/relationships/presProps" Target="/ppt/presProps.xml" Id="R5b781934d3824fd9" /><Relationship Type="http://schemas.openxmlformats.org/officeDocument/2006/relationships/tableStyles" Target="/ppt/tableStyles.xml" Id="Rf0f61bb12784406d" /><Relationship Type="http://schemas.openxmlformats.org/officeDocument/2006/relationships/slide" Target="/ppt/slides/slide1.xml" Id="Rc6387edec8db4a93" /><Relationship Type="http://schemas.openxmlformats.org/officeDocument/2006/relationships/slide" Target="/ppt/slides/slide2.xml" Id="Rf4d9af1f66854542" /><Relationship Type="http://schemas.openxmlformats.org/officeDocument/2006/relationships/slide" Target="/ppt/slides/slide3.xml" Id="Rc2da43515c754c38" /><Relationship Type="http://schemas.openxmlformats.org/officeDocument/2006/relationships/slide" Target="/ppt/slides/slide4.xml" Id="Rd812aef19d6d41a3" /><Relationship Type="http://schemas.openxmlformats.org/officeDocument/2006/relationships/slide" Target="/ppt/slides/slide5.xml" Id="R3562282f8e0d48f5" /><Relationship Type="http://schemas.openxmlformats.org/officeDocument/2006/relationships/slide" Target="/ppt/slides/slide6.xml" Id="R8bbcff124a6945f7" /><Relationship Type="http://schemas.openxmlformats.org/officeDocument/2006/relationships/slide" Target="/ppt/slides/slide7.xml" Id="R52d152ad009244b0" /><Relationship Type="http://schemas.openxmlformats.org/officeDocument/2006/relationships/slide" Target="/ppt/slides/slide8.xml" Id="Rba27a4a9a7bd4d9d" /><Relationship Type="http://schemas.openxmlformats.org/officeDocument/2006/relationships/slide" Target="/ppt/slides/slide9.xml" Id="R59cddf2c82bf40e7" /><Relationship Type="http://schemas.openxmlformats.org/officeDocument/2006/relationships/slide" Target="/ppt/slides/slide10.xml" Id="Rb20cbeecf41c4b89" /><Relationship Type="http://schemas.openxmlformats.org/officeDocument/2006/relationships/slide" Target="/ppt/slides/slide11.xml" Id="Rfe56d25f1f6a442f" /><Relationship Type="http://schemas.openxmlformats.org/officeDocument/2006/relationships/slide" Target="/ppt/slides/slide12.xml" Id="R07b9d84615654d8a" /><Relationship Type="http://schemas.openxmlformats.org/officeDocument/2006/relationships/slide" Target="/ppt/slides/slide13.xml" Id="R1a316173dab34b67" /><Relationship Type="http://schemas.openxmlformats.org/officeDocument/2006/relationships/slide" Target="/ppt/slides/slide14.xml" Id="R2c70c69da72a4938" /><Relationship Type="http://schemas.openxmlformats.org/officeDocument/2006/relationships/slide" Target="/ppt/slides/slide15.xml" Id="R0e20f64b70f54250" /><Relationship Type="http://schemas.openxmlformats.org/officeDocument/2006/relationships/slide" Target="/ppt/slides/slide16.xml" Id="R64a18eb6420a49f6" /><Relationship Type="http://schemas.openxmlformats.org/officeDocument/2006/relationships/slide" Target="/ppt/slides/slide17.xml" Id="R2fe021ba240f4a2d" /><Relationship Type="http://schemas.openxmlformats.org/officeDocument/2006/relationships/slide" Target="/ppt/slides/slide18.xml" Id="Rb21cee5d666b4643" /><Relationship Type="http://schemas.openxmlformats.org/officeDocument/2006/relationships/slide" Target="/ppt/slides/slide19.xml" Id="R906daa0d28324ab3" /><Relationship Type="http://schemas.openxmlformats.org/officeDocument/2006/relationships/slide" Target="/ppt/slides/slide20.xml" Id="R2f1b5dd6e2a14e8d" /><Relationship Type="http://schemas.openxmlformats.org/officeDocument/2006/relationships/slide" Target="/ppt/slides/slide21.xml" Id="R70ea72430c77489b" /><Relationship Type="http://schemas.openxmlformats.org/officeDocument/2006/relationships/slide" Target="/ppt/slides/slide22.xml" Id="Rf4f0c6d756ab4790" /><Relationship Type="http://schemas.openxmlformats.org/officeDocument/2006/relationships/slide" Target="/ppt/slides/slide23.xml" Id="R0cb4de64d6ed4552" /><Relationship Type="http://schemas.openxmlformats.org/officeDocument/2006/relationships/slide" Target="/ppt/slides/slide24.xml" Id="Rb74ea9b1bf5643b7" /><Relationship Type="http://schemas.openxmlformats.org/officeDocument/2006/relationships/slide" Target="/ppt/slides/slide25.xml" Id="Rbba1539863d74dfb" /><Relationship Type="http://schemas.openxmlformats.org/officeDocument/2006/relationships/slide" Target="/ppt/slides/slide26.xml" Id="R66fe5b09430542ef" /><Relationship Type="http://schemas.openxmlformats.org/officeDocument/2006/relationships/slide" Target="/ppt/slides/slide27.xml" Id="R8e20161db68e4e0f" /><Relationship Type="http://schemas.openxmlformats.org/officeDocument/2006/relationships/slide" Target="/ppt/slides/slide28.xml" Id="R5868d0e193d64bf7" /><Relationship Type="http://schemas.openxmlformats.org/officeDocument/2006/relationships/slide" Target="/ppt/slides/slide29.xml" Id="R4f734677460d416e" /><Relationship Type="http://schemas.openxmlformats.org/officeDocument/2006/relationships/slide" Target="/ppt/slides/slide30.xml" Id="Re60fc66fde3149b5" /><Relationship Type="http://schemas.openxmlformats.org/officeDocument/2006/relationships/slide" Target="/ppt/slides/slide31.xml" Id="R0ef08d4a443b41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4bab910b2d46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da84c30f0e49bf" /><Relationship Type="http://schemas.openxmlformats.org/officeDocument/2006/relationships/notesMaster" Target="/ppt/notesMasters/notesMaster1.xml" Id="Rbb4ef777105d48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893502e426464e" /><Relationship Type="http://schemas.openxmlformats.org/officeDocument/2006/relationships/notesMaster" Target="/ppt/notesMasters/notesMaster1.xml" Id="R513de5d65b9342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fc41d12acc4b11" /><Relationship Type="http://schemas.openxmlformats.org/officeDocument/2006/relationships/notesMaster" Target="/ppt/notesMasters/notesMaster1.xml" Id="R2cec497686584f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291c6d24d94a76" /><Relationship Type="http://schemas.openxmlformats.org/officeDocument/2006/relationships/notesMaster" Target="/ppt/notesMasters/notesMaster1.xml" Id="Rf032b7e0cb9444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4c541c78cd4ef4" /><Relationship Type="http://schemas.openxmlformats.org/officeDocument/2006/relationships/notesMaster" Target="/ppt/notesMasters/notesMaster1.xml" Id="R9eab295a769842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25ed85050f4a5f" /><Relationship Type="http://schemas.openxmlformats.org/officeDocument/2006/relationships/notesMaster" Target="/ppt/notesMasters/notesMaster1.xml" Id="R45ac9dfb043143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a7b8c9991e4bae" /><Relationship Type="http://schemas.openxmlformats.org/officeDocument/2006/relationships/notesMaster" Target="/ppt/notesMasters/notesMaster1.xml" Id="R815140de49ac45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a4e8b5dfa949a5" /><Relationship Type="http://schemas.openxmlformats.org/officeDocument/2006/relationships/notesMaster" Target="/ppt/notesMasters/notesMaster1.xml" Id="Rf83a0e059c5c48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3cc05e6db046c9" /><Relationship Type="http://schemas.openxmlformats.org/officeDocument/2006/relationships/notesMaster" Target="/ppt/notesMasters/notesMaster1.xml" Id="R066345ffa98d47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1f9f1cceff4863" /><Relationship Type="http://schemas.openxmlformats.org/officeDocument/2006/relationships/notesMaster" Target="/ppt/notesMasters/notesMaster1.xml" Id="Rfc3c003ac70747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30717cdfac4c0c" /><Relationship Type="http://schemas.openxmlformats.org/officeDocument/2006/relationships/notesMaster" Target="/ppt/notesMasters/notesMaster1.xml" Id="Rc6658cd1b68a4f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43dd9bde1a40d3" /><Relationship Type="http://schemas.openxmlformats.org/officeDocument/2006/relationships/notesMaster" Target="/ppt/notesMasters/notesMaster1.xml" Id="R64c8284dae4f48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8b3ca83b71942e6" /><Relationship Type="http://schemas.openxmlformats.org/officeDocument/2006/relationships/notesMaster" Target="/ppt/notesMasters/notesMaster1.xml" Id="R23f15157b51046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881e124e4fe4850" /><Relationship Type="http://schemas.openxmlformats.org/officeDocument/2006/relationships/notesMaster" Target="/ppt/notesMasters/notesMaster1.xml" Id="Re4de7292ec3f409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77d7b5a867444c" /><Relationship Type="http://schemas.openxmlformats.org/officeDocument/2006/relationships/notesMaster" Target="/ppt/notesMasters/notesMaster1.xml" Id="R7e0a8afd170e4a0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7581c7f0fe74b8a" /><Relationship Type="http://schemas.openxmlformats.org/officeDocument/2006/relationships/notesMaster" Target="/ppt/notesMasters/notesMaster1.xml" Id="R2614583234b849e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af56837efd043a9" /><Relationship Type="http://schemas.openxmlformats.org/officeDocument/2006/relationships/notesMaster" Target="/ppt/notesMasters/notesMaster1.xml" Id="R53ae5d4d7159408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9a3ec9190094634" /><Relationship Type="http://schemas.openxmlformats.org/officeDocument/2006/relationships/notesMaster" Target="/ppt/notesMasters/notesMaster1.xml" Id="R408b6edc5af243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f2dce5ac210408f" /><Relationship Type="http://schemas.openxmlformats.org/officeDocument/2006/relationships/notesMaster" Target="/ppt/notesMasters/notesMaster1.xml" Id="Rbf0eb180224e4f5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498d65cf4d4109" /><Relationship Type="http://schemas.openxmlformats.org/officeDocument/2006/relationships/notesMaster" Target="/ppt/notesMasters/notesMaster1.xml" Id="Re2aa77d196424a9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dbc16d22ea2407e" /><Relationship Type="http://schemas.openxmlformats.org/officeDocument/2006/relationships/notesMaster" Target="/ppt/notesMasters/notesMaster1.xml" Id="R7dad8ca0f9764c8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2d9fcf4643f4153" /><Relationship Type="http://schemas.openxmlformats.org/officeDocument/2006/relationships/notesMaster" Target="/ppt/notesMasters/notesMaster1.xml" Id="R2fd1bd52accb48d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41cd06456e641a3" /><Relationship Type="http://schemas.openxmlformats.org/officeDocument/2006/relationships/notesMaster" Target="/ppt/notesMasters/notesMaster1.xml" Id="R081ba474ff264b4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d58ec97699643b1" /><Relationship Type="http://schemas.openxmlformats.org/officeDocument/2006/relationships/notesMaster" Target="/ppt/notesMasters/notesMaster1.xml" Id="R49f97a9cef2a42b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dde301d1cd34315" /><Relationship Type="http://schemas.openxmlformats.org/officeDocument/2006/relationships/notesMaster" Target="/ppt/notesMasters/notesMaster1.xml" Id="Rcdda787abd4d4a4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c92e015fff34369" /><Relationship Type="http://schemas.openxmlformats.org/officeDocument/2006/relationships/notesMaster" Target="/ppt/notesMasters/notesMaster1.xml" Id="R86bf02e5fd3142e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36cd377aacf456d" /><Relationship Type="http://schemas.openxmlformats.org/officeDocument/2006/relationships/notesMaster" Target="/ppt/notesMasters/notesMaster1.xml" Id="R54b55595d09548a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c7e7ea93b4c4676" /><Relationship Type="http://schemas.openxmlformats.org/officeDocument/2006/relationships/notesMaster" Target="/ppt/notesMasters/notesMaster1.xml" Id="Re43eba936b964e5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67080482cbc42df" /><Relationship Type="http://schemas.openxmlformats.org/officeDocument/2006/relationships/notesMaster" Target="/ppt/notesMasters/notesMaster1.xml" Id="Ra3270eb9431e424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d2a2cb287224869" /><Relationship Type="http://schemas.openxmlformats.org/officeDocument/2006/relationships/notesMaster" Target="/ppt/notesMasters/notesMaster1.xml" Id="R46d33a6c0b704bd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b6c5ba281164047" /><Relationship Type="http://schemas.openxmlformats.org/officeDocument/2006/relationships/notesMaster" Target="/ppt/notesMasters/notesMaster1.xml" Id="R18f997baebb74e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Академска 2026/27.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Презентација је организована у четири тематске целине. Опсези слајдова су наведени у садржају.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Идентитет и улога су почетак. Одлука мора да обухвати конкретан запис, тражену радњу и однос према власнику.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Класификација и власништво прате податак кроз његов животни циклус, а серверска граница важи и ван екрана.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Ово је политика наставног примера. Правило Restricted само за власника није универзалан модел за све системе.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Матрица не уводи нове категорије података. Изведена је из достављеног C# примера.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Једна одлука, позитиван и негативан сценарио и траг који објашњава исход.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Код је распоређен на два слајда, без промене семантике. Нумерација је узастопна.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Допуна објашњава разлику између спољног одговора и унутрашњег ревизионог трага, на основу достављених правила.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Критеријуми потпуности, честе грешке и примена на један стварни пројектни сценарио.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Резиме повезује одлуку, имплементацију и доказ. Сви примери су наставни, додати примери не уводе нова правила предмета.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30fdb7aee48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5fbe1c97fb4229" /><Relationship Type="http://schemas.openxmlformats.org/officeDocument/2006/relationships/slideLayout" Target="/ppt/slideLayouts/slideLayout1.xml" Id="R810cbae096c747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0cbae096c747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276d1e81f4cb9" /><Relationship Type="http://schemas.openxmlformats.org/officeDocument/2006/relationships/image" Target="/ppt/media/image.png" Id="R01bc4482de554d30" /><Relationship Type="http://schemas.openxmlformats.org/officeDocument/2006/relationships/notesSlide" Target="/ppt/notesSlides/notesSlide1.xml" Id="R9a76fb80653f4e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617c28dc148ad" /><Relationship Type="http://schemas.openxmlformats.org/officeDocument/2006/relationships/notesSlide" Target="/ppt/notesSlides/notesSlide2.xml" Id="R988ffbc0289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c11fbedf34ab0" /><Relationship Type="http://schemas.openxmlformats.org/officeDocument/2006/relationships/notesSlide" Target="/ppt/notesSlides/notesSlide3.xml" Id="R444abbfcc1c943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fe3956da2476b" /><Relationship Type="http://schemas.openxmlformats.org/officeDocument/2006/relationships/image" Target="/ppt/media/image2.png" Id="Re6c291a7208546bf" /><Relationship Type="http://schemas.openxmlformats.org/officeDocument/2006/relationships/image" Target="/ppt/media/image3.png" Id="Ref5e2097f1f147a2" /><Relationship Type="http://schemas.openxmlformats.org/officeDocument/2006/relationships/image" Target="/ppt/media/image4.png" Id="Rfdc4299e7eeb4e68" /><Relationship Type="http://schemas.openxmlformats.org/officeDocument/2006/relationships/notesSlide" Target="/ppt/notesSlides/notesSlide4.xml" Id="R5ed625103a274c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4dcc357b34386" /><Relationship Type="http://schemas.openxmlformats.org/officeDocument/2006/relationships/notesSlide" Target="/ppt/notesSlides/notesSlide5.xml" Id="R00cd936e965b45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2dd78e49d4ea6" /><Relationship Type="http://schemas.openxmlformats.org/officeDocument/2006/relationships/notesSlide" Target="/ppt/notesSlides/notesSlide6.xml" Id="Re4d5fdd2f17146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902b1a1a145ce" /><Relationship Type="http://schemas.openxmlformats.org/officeDocument/2006/relationships/notesSlide" Target="/ppt/notesSlides/notesSlide7.xml" Id="R2bca7a56ea2c4e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cfccac57c429b" /><Relationship Type="http://schemas.openxmlformats.org/officeDocument/2006/relationships/notesSlide" Target="/ppt/notesSlides/notesSlide8.xml" Id="Rc9d1a986e6c744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9fdfb6c0944b4" /><Relationship Type="http://schemas.openxmlformats.org/officeDocument/2006/relationships/notesSlide" Target="/ppt/notesSlides/notesSlide9.xml" Id="Ree0624ca9e484d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4bc9470564d32" /><Relationship Type="http://schemas.openxmlformats.org/officeDocument/2006/relationships/notesSlide" Target="/ppt/notesSlides/notesSlide10.xml" Id="Rf60790547b424e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4d4c48888409e" /><Relationship Type="http://schemas.openxmlformats.org/officeDocument/2006/relationships/notesSlide" Target="/ppt/notesSlides/notesSlide11.xml" Id="R15d9f00844584b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801d8dedd48bf" /><Relationship Type="http://schemas.openxmlformats.org/officeDocument/2006/relationships/image" Target="/ppt/media/image5.png" Id="Rb4b43d6c54f548ba" /><Relationship Type="http://schemas.openxmlformats.org/officeDocument/2006/relationships/notesSlide" Target="/ppt/notesSlides/notesSlide12.xml" Id="Ra931b4f45c0d49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cb50c709d49c1" /><Relationship Type="http://schemas.openxmlformats.org/officeDocument/2006/relationships/image" Target="/ppt/media/image6.png" Id="Rd980414209af4255" /><Relationship Type="http://schemas.openxmlformats.org/officeDocument/2006/relationships/notesSlide" Target="/ppt/notesSlides/notesSlide13.xml" Id="R1584c82594f3473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592d0b3c549f2" /><Relationship Type="http://schemas.openxmlformats.org/officeDocument/2006/relationships/notesSlide" Target="/ppt/notesSlides/notesSlide14.xml" Id="R541ecd68c5044c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f86e8e31c4fed" /><Relationship Type="http://schemas.openxmlformats.org/officeDocument/2006/relationships/image" Target="/ppt/media/image7.png" Id="R823b39835f37495e" /><Relationship Type="http://schemas.openxmlformats.org/officeDocument/2006/relationships/notesSlide" Target="/ppt/notesSlides/notesSlide15.xml" Id="R00d58ccd296b4d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e15a191104977" /><Relationship Type="http://schemas.openxmlformats.org/officeDocument/2006/relationships/notesSlide" Target="/ppt/notesSlides/notesSlide16.xml" Id="Rcec240f9ff594a7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f7e4075114584" /><Relationship Type="http://schemas.openxmlformats.org/officeDocument/2006/relationships/image" Target="/ppt/media/image8.png" Id="R213a0b9e8f52453e" /><Relationship Type="http://schemas.openxmlformats.org/officeDocument/2006/relationships/notesSlide" Target="/ppt/notesSlides/notesSlide17.xml" Id="Rfd05bad2c00e45c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13aaf68084172" /><Relationship Type="http://schemas.openxmlformats.org/officeDocument/2006/relationships/notesSlide" Target="/ppt/notesSlides/notesSlide18.xml" Id="R2a6e7f5f482c488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553a081a747ab" /><Relationship Type="http://schemas.openxmlformats.org/officeDocument/2006/relationships/notesSlide" Target="/ppt/notesSlides/notesSlide19.xml" Id="R9177ca61b30a48e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d9d97b37b4271" /><Relationship Type="http://schemas.openxmlformats.org/officeDocument/2006/relationships/notesSlide" Target="/ppt/notesSlides/notesSlide20.xml" Id="R4eb7479d1d244d7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2b23614014d98" /><Relationship Type="http://schemas.openxmlformats.org/officeDocument/2006/relationships/notesSlide" Target="/ppt/notesSlides/notesSlide21.xml" Id="R9ee7ccbd454b473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394b11c3b4c02" /><Relationship Type="http://schemas.openxmlformats.org/officeDocument/2006/relationships/notesSlide" Target="/ppt/notesSlides/notesSlide22.xml" Id="R1bae8f3cbc2e41f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d43cb0ffe4653" /><Relationship Type="http://schemas.openxmlformats.org/officeDocument/2006/relationships/notesSlide" Target="/ppt/notesSlides/notesSlide23.xml" Id="Re8e89908239b4d1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a916bf9744084" /><Relationship Type="http://schemas.openxmlformats.org/officeDocument/2006/relationships/notesSlide" Target="/ppt/notesSlides/notesSlide24.xml" Id="R5a9ec30b802249a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85be8bf5b40bc" /><Relationship Type="http://schemas.openxmlformats.org/officeDocument/2006/relationships/notesSlide" Target="/ppt/notesSlides/notesSlide25.xml" Id="R4fd525a9ec3f4c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1f75aa25c4615" /><Relationship Type="http://schemas.openxmlformats.org/officeDocument/2006/relationships/notesSlide" Target="/ppt/notesSlides/notesSlide26.xml" Id="R75342eb48efd454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bbdde84fa4f9a" /><Relationship Type="http://schemas.openxmlformats.org/officeDocument/2006/relationships/notesSlide" Target="/ppt/notesSlides/notesSlide27.xml" Id="R052d67d0671145d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1c878f1174868" /><Relationship Type="http://schemas.openxmlformats.org/officeDocument/2006/relationships/notesSlide" Target="/ppt/notesSlides/notesSlide28.xml" Id="R446b0268505d4b2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4f039351d483b" /><Relationship Type="http://schemas.openxmlformats.org/officeDocument/2006/relationships/image" Target="/ppt/media/image9.png" Id="R44ebbfb59fca42b7" /><Relationship Type="http://schemas.openxmlformats.org/officeDocument/2006/relationships/image" Target="/ppt/media/image10.png" Id="Re9730fa29218469d" /><Relationship Type="http://schemas.openxmlformats.org/officeDocument/2006/relationships/image" Target="/ppt/media/image11.png" Id="R1a5544a6f7674bfe" /><Relationship Type="http://schemas.openxmlformats.org/officeDocument/2006/relationships/notesSlide" Target="/ppt/notesSlides/notesSlide29.xml" Id="R64bec6c7bef647d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9aa7a2fc84c0e" /><Relationship Type="http://schemas.openxmlformats.org/officeDocument/2006/relationships/notesSlide" Target="/ppt/notesSlides/notesSlide30.xml" Id="R75ab0115a888461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2a683068f4248" /><Relationship Type="http://schemas.openxmlformats.org/officeDocument/2006/relationships/notesSlide" Target="/ppt/notesSlides/notesSlide31.xml" Id="R9e01608fd17441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D697F-9D16-492C-A800-99BF717D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060234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c4482de554d30"/>
          <a:stretch xmlns:a="http://schemas.openxmlformats.org/drawingml/2006/main"/>
        </p:blipFill>
        <p:spPr>
          <a:xfrm xmlns:a="http://schemas.openxmlformats.org/drawingml/2006/main">
            <a:off x="11353800" y="1809750"/>
            <a:ext cx="5715000" cy="5715000"/>
          </a:xfrm>
          <a:prstGeom xmlns:a="http://schemas.openxmlformats.org/drawingml/2006/main" prst="rect">
            <a:avLst/>
          </a:prstGeom>
        </p:spPr>
      </p:pic>
      <p:sp>
        <p:nvSpPr>
          <p:cNvPr id="3" name="text-cover">
            <a:extLst xmlns:a="http://schemas.openxmlformats.org/drawingml/2006/main">
              <a:ext uri="{FF2B5EF4-FFF2-40B4-BE49-F238E27FC236}">
                <a16:creationId xmlns:a16="http://schemas.microsoft.com/office/drawing/2014/main" id="{CDDEA97C-2173-413C-81AD-CCBB1EC7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19200"/>
            <a:ext cx="5341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ПРИМЕЊЕНО СОФТВЕРСКО ИНЖЕЊЕРСТВО</a:t>
            </a:r>
          </a:p>
        </p:txBody>
      </p:sp>
      <p:sp>
        <p:nvSpPr>
          <p:cNvPr id="4" name="text-cover">
            <a:extLst xmlns:a="http://schemas.openxmlformats.org/drawingml/2006/main">
              <a:ext uri="{FF2B5EF4-FFF2-40B4-BE49-F238E27FC236}">
                <a16:creationId xmlns:a16="http://schemas.microsoft.com/office/drawing/2014/main" id="{9A5264E2-B811-4182-99FC-FCB20F3A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39180"/>
            <a:ext cx="51854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ОСНОВЕ ИНФОРМАЦИОНЕ БЕЗБЕДНОСТИ</a:t>
            </a:r>
          </a:p>
        </p:txBody>
      </p:sp>
      <p:sp>
        <p:nvSpPr>
          <p:cNvPr id="5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D78AFE76-36D6-49F1-91F7-F9714B4C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11561"/>
            <a:ext cx="7598866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974"/>
          </a:bodyPr>
          <a:lstStyle xmlns:a="http://schemas.openxmlformats.org/drawingml/2006/main"/>
          <a:p xmlns:a="http://schemas.openxmlformats.org/drawingml/2006/main">
            <a:pPr algn="l">
              <a:defRPr sz="6900">
                <a:latin typeface="IBM Plex Sans"/>
                <a:ea typeface="IBM Plex Sans"/>
                <a:cs typeface="IBM Plex Sans"/>
              </a:defRPr>
            </a:pPr>
            <a:r>
              <a:rPr sz="69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Ауторизација над </a:t>
            </a:r>
          </a:p>
        </p:txBody>
      </p:sp>
      <p:sp>
        <p:nvSpPr>
          <p:cNvPr id="6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A049829E-11BC-461A-A06F-B51C0A91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31616"/>
            <a:ext cx="4904631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900">
                <a:latin typeface="IBM Plex Sans"/>
                <a:ea typeface="IBM Plex Sans"/>
                <a:cs typeface="IBM Plex Sans"/>
              </a:defRPr>
            </a:pPr>
            <a:r>
              <a:rPr sz="69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ресурсом и </a:t>
            </a:r>
          </a:p>
        </p:txBody>
      </p:sp>
      <p:sp>
        <p:nvSpPr>
          <p:cNvPr id="7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D5F192AE-2AC7-475B-A2E5-BF1CE6F8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51672"/>
            <a:ext cx="6607969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740"/>
          </a:bodyPr>
          <a:lstStyle xmlns:a="http://schemas.openxmlformats.org/drawingml/2006/main"/>
          <a:p xmlns:a="http://schemas.openxmlformats.org/drawingml/2006/main">
            <a:pPr algn="l">
              <a:defRPr sz="6900">
                <a:latin typeface="IBM Plex Sans"/>
                <a:ea typeface="IBM Plex Sans"/>
                <a:cs typeface="IBM Plex Sans"/>
              </a:defRPr>
            </a:pPr>
            <a:r>
              <a:rPr sz="69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класификација </a:t>
            </a:r>
          </a:p>
        </p:txBody>
      </p:sp>
      <p:sp>
        <p:nvSpPr>
          <p:cNvPr id="8" name="heading-cover">
            <a:extLst xmlns:a="http://schemas.openxmlformats.org/drawingml/2006/main">
              <a:ext uri="{FF2B5EF4-FFF2-40B4-BE49-F238E27FC236}">
                <a16:creationId xmlns:a16="http://schemas.microsoft.com/office/drawing/2014/main" id="{D1949FF2-8A7B-4060-98FF-4A20272E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71727"/>
            <a:ext cx="4130427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900">
                <a:latin typeface="IBM Plex Sans"/>
                <a:ea typeface="IBM Plex Sans"/>
                <a:cs typeface="IBM Plex Sans"/>
              </a:defRPr>
            </a:pPr>
            <a:r>
              <a:rPr sz="69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података</a:t>
            </a:r>
          </a:p>
        </p:txBody>
      </p:sp>
      <p:sp>
        <p:nvSpPr>
          <p:cNvPr id="9" name="text-cover">
            <a:extLst xmlns:a="http://schemas.openxmlformats.org/drawingml/2006/main">
              <a:ext uri="{FF2B5EF4-FFF2-40B4-BE49-F238E27FC236}">
                <a16:creationId xmlns:a16="http://schemas.microsoft.com/office/drawing/2014/main" id="{53767F75-CCDE-4421-A5FF-80DCFBA9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82308"/>
            <a:ext cx="897403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Провера приступа конкретном ресурсу и правила руковања </a:t>
            </a:r>
          </a:p>
        </p:txBody>
      </p:sp>
      <p:sp>
        <p:nvSpPr>
          <p:cNvPr id="10" name="text-cover">
            <a:extLst xmlns:a="http://schemas.openxmlformats.org/drawingml/2006/main">
              <a:ext uri="{FF2B5EF4-FFF2-40B4-BE49-F238E27FC236}">
                <a16:creationId xmlns:a16="http://schemas.microsoft.com/office/drawing/2014/main" id="{B9861D54-3ACE-4E3F-9402-9EF3D990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508998"/>
            <a:ext cx="176941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подацима</a:t>
            </a:r>
          </a:p>
        </p:txBody>
      </p:sp>
      <p:sp>
        <p:nvSpPr>
          <p:cNvPr id="11" name="text-cover">
            <a:extLst xmlns:a="http://schemas.openxmlformats.org/drawingml/2006/main">
              <a:ext uri="{FF2B5EF4-FFF2-40B4-BE49-F238E27FC236}">
                <a16:creationId xmlns:a16="http://schemas.microsoft.com/office/drawing/2014/main" id="{7F0FAC48-C901-4F52-9100-CB85AEF7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307884"/>
            <a:ext cx="746179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Факултет техничких наука · Универзитет у Новом Саду</a:t>
            </a:r>
          </a:p>
        </p:txBody>
      </p:sp>
      <p:sp>
        <p:nvSpPr>
          <p:cNvPr id="12" name="text-cover">
            <a:extLst xmlns:a="http://schemas.openxmlformats.org/drawingml/2006/main">
              <a:ext uri="{FF2B5EF4-FFF2-40B4-BE49-F238E27FC236}">
                <a16:creationId xmlns:a16="http://schemas.microsoft.com/office/drawing/2014/main" id="{DA1E36E1-46E2-4073-9DD4-271EC293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747820"/>
            <a:ext cx="135433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Нови Сад</a:t>
            </a:r>
          </a:p>
        </p:txBody>
      </p:sp>
    </p:spTree>
    <p:extLst>
      <p:ext uri="{BB962C8B-B14F-4D97-AF65-F5344CB8AC3E}">
        <p14:creationId xmlns:p14="http://schemas.microsoft.com/office/powerpoint/2010/main" val="1343806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ACF0B2-4EB3-4BCF-AE69-162DF58D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00857-3ED4-4356-B974-B6B147AC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E77A6-9BB1-4F34-9294-8B60FFB5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24EC2-5CD8-4AFC-BFB3-4AE83704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7AE75-490F-4CCA-B371-51D37E89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9275" y="2434530"/>
            <a:ext cx="3819525" cy="2723852"/>
          </a:xfrm>
          <a:prstGeom xmlns:a="http://schemas.openxmlformats.org/drawingml/2006/main" prst="roundRect">
            <a:avLst>
              <a:gd name="adj" fmla="val 5595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CA799-5F26-4E33-A2C7-0ED9AB7A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318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ED1D3629-CF7C-4F18-B789-CD44C615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318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21E82-7FC7-4C29-9C1A-9C9731AA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FB99386-324C-447C-9EA7-FB279C6D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43648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ПРЕГЛЕД</a:t>
            </a:r>
          </a:p>
        </p:txBody>
      </p:sp>
      <p:sp>
        <p:nvSpPr>
          <p:cNvPr id="10" name="heading-sadrzaj">
            <a:extLst xmlns:a="http://schemas.openxmlformats.org/drawingml/2006/main">
              <a:ext uri="{FF2B5EF4-FFF2-40B4-BE49-F238E27FC236}">
                <a16:creationId xmlns:a16="http://schemas.microsoft.com/office/drawing/2014/main" id="{C1A14C02-FFE2-4B84-A959-2AEC1F84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36463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презентације</a:t>
            </a:r>
          </a:p>
        </p:txBody>
      </p:sp>
      <p:sp>
        <p:nvSpPr>
          <p:cNvPr id="1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7EF274A6-C030-4ED3-8FF6-21748F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B9AAC57-DC97-45A2-A726-F7A5CD45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30786"/>
            <a:ext cx="313313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над ресурсом</a:t>
            </a:r>
          </a:p>
        </p:txBody>
      </p:sp>
      <p:sp>
        <p:nvSpPr>
          <p:cNvPr id="1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6260154-7AA5-4052-9851-4DDD9CE9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22216"/>
            <a:ext cx="337512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Субјекат, ресурс, контекст и </a:t>
            </a:r>
          </a:p>
        </p:txBody>
      </p:sp>
      <p:sp>
        <p:nvSpPr>
          <p:cNvPr id="1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963844C1-FC7A-4C82-B948-705CE588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42197"/>
            <a:ext cx="183326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 · 05–10</a:t>
            </a:r>
          </a:p>
        </p:txBody>
      </p:sp>
      <p:sp>
        <p:nvSpPr>
          <p:cNvPr id="1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4D3600B0-CA58-4130-BF06-CD7B438F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5AD4D7C6-CD2E-4D8B-B450-7613B10B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30786"/>
            <a:ext cx="255716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Заштита податка</a:t>
            </a:r>
          </a:p>
        </p:txBody>
      </p:sp>
      <p:sp>
        <p:nvSpPr>
          <p:cNvPr id="1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20D717E-7E76-4E45-AFD6-2AC89958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22216"/>
            <a:ext cx="309904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Животни циклус, случај и </a:t>
            </a:r>
          </a:p>
        </p:txBody>
      </p:sp>
      <p:sp>
        <p:nvSpPr>
          <p:cNvPr id="1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76A7B6B2-D8E1-489E-B4E7-A0225861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42197"/>
            <a:ext cx="291226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нивои приступа · 11–18</a:t>
            </a:r>
          </a:p>
        </p:txBody>
      </p:sp>
      <p:sp>
        <p:nvSpPr>
          <p:cNvPr id="1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C1A36DB-675B-4678-880A-B3129172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30C2685D-735B-4827-AB6E-8715A6B8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30786"/>
            <a:ext cx="25195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Имплементација</a:t>
            </a:r>
          </a:p>
        </p:txBody>
      </p:sp>
      <p:sp>
        <p:nvSpPr>
          <p:cNvPr id="2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3D0A9570-8F52-40C1-A345-D1168FDD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922216"/>
            <a:ext cx="351234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Серверска одлука, негативан </a:t>
            </a:r>
          </a:p>
        </p:txBody>
      </p:sp>
      <p:sp>
        <p:nvSpPr>
          <p:cNvPr id="22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33B22818-CB67-4F74-8F6F-68B9D8D2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242197"/>
            <a:ext cx="346635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и ревизиони запис · 19–</a:t>
            </a:r>
          </a:p>
        </p:txBody>
      </p:sp>
      <p:sp>
        <p:nvSpPr>
          <p:cNvPr id="23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D557F01E-645E-46FA-9BE7-2CC2555B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562177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25</a:t>
            </a:r>
          </a:p>
        </p:txBody>
      </p:sp>
      <p:sp>
        <p:nvSpPr>
          <p:cNvPr id="24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724C30B7-E24D-4155-AF75-33DDB16E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29805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352005A6-35F4-4BBE-A8B8-824E3948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430786"/>
            <a:ext cx="286762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и примена</a:t>
            </a:r>
          </a:p>
        </p:txBody>
      </p:sp>
      <p:sp>
        <p:nvSpPr>
          <p:cNvPr id="26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7F3D2C1-7E55-4991-8181-BD615742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922216"/>
            <a:ext cx="2790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Грешке, критеријуми и </a:t>
            </a:r>
          </a:p>
        </p:txBody>
      </p:sp>
      <p:sp>
        <p:nvSpPr>
          <p:cNvPr id="27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08089C96-DC83-4CBF-BA35-3FF9233F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242197"/>
            <a:ext cx="213181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пројекат · 26–31</a:t>
            </a:r>
          </a:p>
        </p:txBody>
      </p:sp>
      <p:sp>
        <p:nvSpPr>
          <p:cNvPr id="28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600A9D1C-C758-4760-90A8-3939E5E0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53683"/>
            <a:ext cx="891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29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29AC7BF9-29F6-4A1B-B88E-28E281DE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59388"/>
            <a:ext cx="619139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Основни модел и значај ауторизације (03–04).</a:t>
            </a:r>
          </a:p>
        </p:txBody>
      </p:sp>
      <p:sp>
        <p:nvSpPr>
          <p:cNvPr id="30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8E8FB2A4-42DE-45A6-B400-FBE21949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1" name="text-sadrzaj">
            <a:extLst xmlns:a="http://schemas.openxmlformats.org/drawingml/2006/main">
              <a:ext uri="{FF2B5EF4-FFF2-40B4-BE49-F238E27FC236}">
                <a16:creationId xmlns:a16="http://schemas.microsoft.com/office/drawing/2014/main" id="{E9EFC331-8A37-49FF-B6F5-E209FCA4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8081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CD9213-D188-48F2-A926-AEC65922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640C6-F47B-45C6-96FC-1B4E1547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7772400" cy="2784723"/>
          </a:xfrm>
          <a:prstGeom xmlns:a="http://schemas.openxmlformats.org/drawingml/2006/main" prst="roundRect">
            <a:avLst>
              <a:gd name="adj" fmla="val 547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82720-1EC7-4556-BB9A-C4763D19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12591"/>
            <a:ext cx="7772400" cy="2784723"/>
          </a:xfrm>
          <a:prstGeom xmlns:a="http://schemas.openxmlformats.org/drawingml/2006/main" prst="roundRect">
            <a:avLst>
              <a:gd name="adj" fmla="val 547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9C2F6-38D6-4477-80D5-8C57734B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0211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95EC1F8F-AF41-43EA-840F-EFA3E11C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0211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B44DA-4EE9-400A-B966-F6FD5069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245C98D-4E75-4463-B22F-4AE3FC9F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967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8" name="heading-source-02">
            <a:extLst xmlns:a="http://schemas.openxmlformats.org/drawingml/2006/main">
              <a:ext uri="{FF2B5EF4-FFF2-40B4-BE49-F238E27FC236}">
                <a16:creationId xmlns:a16="http://schemas.microsoft.com/office/drawing/2014/main" id="{F8353E36-810A-4F83-BA35-67EFFE59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117803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707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Ауторизација над конкретним ресурсом</a:t>
            </a:r>
          </a:p>
        </p:txBody>
      </p:sp>
      <p:sp>
        <p:nvSpPr>
          <p:cNvPr id="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CC72505-7106-463F-8B2B-D05AD5EC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6286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Одлука о приступу обухвата субјекат, тражену радњу, конкретан ресурс и контекст у коме захтев настаје.</a:t>
            </a:r>
          </a:p>
        </p:txBody>
      </p:sp>
      <p:sp>
        <p:nvSpPr>
          <p:cNvPr id="1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CBB8F714-69B7-4A4D-ADE4-1DD4EF98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ПРЕДМЕТ АНАЛИЗЕ</a:t>
            </a:r>
          </a:p>
        </p:txBody>
      </p:sp>
      <p:sp>
        <p:nvSpPr>
          <p:cNvPr id="1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DDA84C42-CE94-422B-8ED0-BC697759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23097"/>
            <a:ext cx="398502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Ризик који се анализира</a:t>
            </a:r>
          </a:p>
        </p:txBody>
      </p:sp>
      <p:sp>
        <p:nvSpPr>
          <p:cNvPr id="1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BA1504F4-D42E-4BE8-A4B6-D7A00B3D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1168"/>
            <a:ext cx="7541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Ауторизација има смисла тек када је везана за конкретан ресурс и </a:t>
            </a:r>
          </a:p>
        </p:txBody>
      </p:sp>
      <p:sp>
        <p:nvSpPr>
          <p:cNvPr id="1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579906A4-DC80-4892-944C-1C9A7AFD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1148"/>
            <a:ext cx="748188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његов контекст. Корисник може имати легитимну улогу, а ипак не </a:t>
            </a:r>
          </a:p>
        </p:txBody>
      </p:sp>
      <p:sp>
        <p:nvSpPr>
          <p:cNvPr id="1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09C6E63E-CF6C-4056-840B-DF3FFE6F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1129"/>
            <a:ext cx="68505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сме да чита, мења или дели баш тај запис. Зато се одлука не </a:t>
            </a:r>
          </a:p>
        </p:txBody>
      </p:sp>
      <p:sp>
        <p:nvSpPr>
          <p:cNvPr id="1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7A84C5BC-5989-4211-BF8C-AC4F9035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01109"/>
            <a:ext cx="622845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завршава провером типа ендпоинта или назива улоге.</a:t>
            </a:r>
          </a:p>
        </p:txBody>
      </p:sp>
      <p:sp>
        <p:nvSpPr>
          <p:cNvPr id="16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EDE9F085-FD1E-4C00-BBDF-1AE0A033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388816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ЗНАЧАЈ</a:t>
            </a:r>
          </a:p>
        </p:txBody>
      </p:sp>
      <p:sp>
        <p:nvSpPr>
          <p:cNvPr id="17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2AC21F27-E897-4614-8F0C-C5D630767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823097"/>
            <a:ext cx="475491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Значај за безбедност система</a:t>
            </a:r>
          </a:p>
        </p:txBody>
      </p:sp>
      <p:sp>
        <p:nvSpPr>
          <p:cNvPr id="18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7C81D4B4-6033-4FAC-A525-6B9DD118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341168"/>
            <a:ext cx="71590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Класификација података даје исти језик власницима, развоју и </a:t>
            </a:r>
          </a:p>
        </p:txBody>
      </p:sp>
      <p:sp>
        <p:nvSpPr>
          <p:cNvPr id="19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FDD12D1D-6096-431D-AD54-F034EC7B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661148"/>
            <a:ext cx="754915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операцијама. Када систем зна колико је податак осетљив, може да </a:t>
            </a:r>
          </a:p>
        </p:txBody>
      </p:sp>
      <p:sp>
        <p:nvSpPr>
          <p:cNvPr id="20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C6E711B3-B304-4266-BDED-4CB1D7EA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981129"/>
            <a:ext cx="738038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примени одговарајући приступ, приказ, чување и евиденцију без </a:t>
            </a:r>
          </a:p>
        </p:txBody>
      </p:sp>
      <p:sp>
        <p:nvSpPr>
          <p:cNvPr id="21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4FA3801E-59E8-4687-B79D-868CE022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5301109"/>
            <a:ext cx="344894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ослањања на нечије сећање.</a:t>
            </a:r>
          </a:p>
        </p:txBody>
      </p:sp>
      <p:sp>
        <p:nvSpPr>
          <p:cNvPr id="22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12E6F809-4579-4B35-A0CD-7E951661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392614"/>
            <a:ext cx="56922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КРИТЕРИЈУМ ПРОВЕРЕ · Проверљив резултат</a:t>
            </a:r>
          </a:p>
        </p:txBody>
      </p:sp>
      <p:sp>
        <p:nvSpPr>
          <p:cNvPr id="23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ECAFE66F-227F-4DC2-9852-84757C34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798320"/>
            <a:ext cx="127850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  <p:sp>
        <p:nvSpPr>
          <p:cNvPr id="24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87B00734-B42C-4E27-87BD-33020FB1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02">
            <a:extLst xmlns:a="http://schemas.openxmlformats.org/drawingml/2006/main">
              <a:ext uri="{FF2B5EF4-FFF2-40B4-BE49-F238E27FC236}">
                <a16:creationId xmlns:a16="http://schemas.microsoft.com/office/drawing/2014/main" id="{E0705643-6C5B-41F3-8254-B2D779A0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565801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BBB035-4E33-40F9-B07B-BD696443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E0BA54-07C5-4E8A-BC51-CCB4A943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5B5A80-D5C4-4EAE-AD0B-0336F150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4DC3F-2F87-48F6-8E9E-B384B471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A55D7-DE89-4B9B-A0E2-55252CA8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4F4B2-F0C1-4D22-B410-148D691A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EAF25AF6-211A-44F3-9563-4AEC13BE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364E7-6B3D-4814-A47C-0B21D976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291a7208546bf"/>
          <a:stretch xmlns:a="http://schemas.openxmlformats.org/drawingml/2006/main"/>
        </p:blipFill>
        <p:spPr>
          <a:xfrm xmlns:a="http://schemas.openxmlformats.org/drawingml/2006/main">
            <a:off x="4886325" y="405928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e2097f1f147a2"/>
          <a:stretch xmlns:a="http://schemas.openxmlformats.org/drawingml/2006/main"/>
        </p:blipFill>
        <p:spPr>
          <a:xfrm xmlns:a="http://schemas.openxmlformats.org/drawingml/2006/main">
            <a:off x="9010650" y="405928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4299e7eeb4e68"/>
          <a:stretch xmlns:a="http://schemas.openxmlformats.org/drawingml/2006/main"/>
        </p:blipFill>
        <p:spPr>
          <a:xfrm xmlns:a="http://schemas.openxmlformats.org/drawingml/2006/main">
            <a:off x="13134975" y="405928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68B796CF-507C-4EEE-8670-1B5D149A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967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УВОД</a:t>
            </a:r>
          </a:p>
        </p:txBody>
      </p:sp>
      <p:sp>
        <p:nvSpPr>
          <p:cNvPr id="13" name="heading-source-03">
            <a:extLst xmlns:a="http://schemas.openxmlformats.org/drawingml/2006/main">
              <a:ext uri="{FF2B5EF4-FFF2-40B4-BE49-F238E27FC236}">
                <a16:creationId xmlns:a16="http://schemas.microsoft.com/office/drawing/2014/main" id="{52AE24C5-7EC0-43E3-BC30-B10EC9C3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494005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Основни појмови</a:t>
            </a:r>
          </a:p>
        </p:txBody>
      </p:sp>
      <p:sp>
        <p:nvSpPr>
          <p:cNvPr id="1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3CC13F0F-E530-47D9-AA14-8234C581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3171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Субјекат, ресурс, контекст и одлука чине основу провере приступа конкретном запису.</a:t>
            </a:r>
          </a:p>
        </p:txBody>
      </p:sp>
      <p:sp>
        <p:nvSpPr>
          <p:cNvPr id="1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DF13CC7B-4A74-430D-A74D-EA0D8BF7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B5A041BD-56F8-4AAD-82B3-11DED9A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4527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Субјекат</a:t>
            </a:r>
          </a:p>
        </p:txBody>
      </p:sp>
      <p:sp>
        <p:nvSpPr>
          <p:cNvPr id="1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91B5747D-A5EE-4D8B-8E18-F7E29062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06930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тражи радњу</a:t>
            </a:r>
          </a:p>
        </p:txBody>
      </p:sp>
      <p:sp>
        <p:nvSpPr>
          <p:cNvPr id="18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4F80609-38FD-4E31-94B0-3E57B7BE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8E5A585E-0EE1-4A01-B44E-B1EA4B90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12305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2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4D66EDD8-C1A0-443D-B5C0-D4E8E7D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08954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над чим се ради</a:t>
            </a:r>
          </a:p>
        </p:txBody>
      </p:sp>
      <p:sp>
        <p:nvSpPr>
          <p:cNvPr id="21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09BEBEE4-E846-45C7-812B-85EE07B0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150BE12A-1423-45A8-90EE-DA5DEE09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15254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</a:t>
            </a:r>
          </a:p>
        </p:txBody>
      </p:sp>
      <p:sp>
        <p:nvSpPr>
          <p:cNvPr id="23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486EC44F-7AF2-401B-B3B3-68610FFE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26902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власништво и намена</a:t>
            </a:r>
          </a:p>
        </p:txBody>
      </p:sp>
      <p:sp>
        <p:nvSpPr>
          <p:cNvPr id="24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457948A-6C39-4DF2-ACC0-8457CE6C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4E59A4C4-D7E5-427B-A6B9-A8EF301A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13015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26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FE457A62-6557-479C-9D62-ED2E80B6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232856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дозволи или одбиј</a:t>
            </a:r>
          </a:p>
        </p:txBody>
      </p:sp>
      <p:sp>
        <p:nvSpPr>
          <p:cNvPr id="27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2E3F577B-281E-4274-A8EA-BDCC1A74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91783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ЗАКЉУЧАК</a:t>
            </a:r>
          </a:p>
        </p:txBody>
      </p:sp>
      <p:sp>
        <p:nvSpPr>
          <p:cNvPr id="28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A062B175-A3A0-476B-AEBA-353A02AA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97488"/>
            <a:ext cx="146561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Идентификатор у адреси не представља право приступа. Однос субјекта према ресурсу проверава се на серверу.</a:t>
            </a:r>
          </a:p>
        </p:txBody>
      </p:sp>
      <p:sp>
        <p:nvSpPr>
          <p:cNvPr id="29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2C509CD0-5E38-4DCC-A228-D73C245F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0" name="text-source-03">
            <a:extLst xmlns:a="http://schemas.openxmlformats.org/drawingml/2006/main">
              <a:ext uri="{FF2B5EF4-FFF2-40B4-BE49-F238E27FC236}">
                <a16:creationId xmlns:a16="http://schemas.microsoft.com/office/drawing/2014/main" id="{E38B4347-6830-47D2-A1EF-69DECE8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46308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E5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4429B-0AA9-482C-972A-D0FB5546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31683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96538-4038-452F-8C74-EC79371D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1931" y="6158657"/>
            <a:ext cx="113555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36441-C1B0-4D8B-9B2F-998C4767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790" y="6158657"/>
            <a:ext cx="138454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F3D11-EADE-4A43-8847-8A894D31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0638" y="6158657"/>
            <a:ext cx="1186309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F91BB7-339A-450D-81D4-C7BC2CEB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6BF"/>
          </a:solidFill>
          <a:ln xmlns:a="http://schemas.openxmlformats.org/drawingml/2006/main" w="0">
            <a:noFill/>
          </a:ln>
        </p:spPr>
      </p:sp>
      <p:sp>
        <p:nvSpPr>
          <p:cNvPr id="6" name="text-deo1">
            <a:extLst xmlns:a="http://schemas.openxmlformats.org/drawingml/2006/main">
              <a:ext uri="{FF2B5EF4-FFF2-40B4-BE49-F238E27FC236}">
                <a16:creationId xmlns:a16="http://schemas.microsoft.com/office/drawing/2014/main" id="{A7E189F8-EC8E-42FD-A2EF-A2A56545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7" name="text-deo1">
            <a:extLst xmlns:a="http://schemas.openxmlformats.org/drawingml/2006/main">
              <a:ext uri="{FF2B5EF4-FFF2-40B4-BE49-F238E27FC236}">
                <a16:creationId xmlns:a16="http://schemas.microsoft.com/office/drawing/2014/main" id="{92FC7A3C-B72E-46A8-9235-B3D46665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5926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ПРВИ ДЕО</a:t>
            </a:r>
          </a:p>
        </p:txBody>
      </p:sp>
      <p:sp>
        <p:nvSpPr>
          <p:cNvPr id="8" name="heading-deo1">
            <a:extLst xmlns:a="http://schemas.openxmlformats.org/drawingml/2006/main">
              <a:ext uri="{FF2B5EF4-FFF2-40B4-BE49-F238E27FC236}">
                <a16:creationId xmlns:a16="http://schemas.microsoft.com/office/drawing/2014/main" id="{FB87F048-E497-4594-9F3B-4731451A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9547473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438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над ресурсом</a:t>
            </a:r>
          </a:p>
        </p:txBody>
      </p:sp>
      <p:sp>
        <p:nvSpPr>
          <p:cNvPr id="9" name="text-deo1">
            <a:extLst xmlns:a="http://schemas.openxmlformats.org/drawingml/2006/main">
              <a:ext uri="{FF2B5EF4-FFF2-40B4-BE49-F238E27FC236}">
                <a16:creationId xmlns:a16="http://schemas.microsoft.com/office/drawing/2014/main" id="{2423AAC6-5D06-4D1E-92D6-A53F9121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871463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Идентитет и улога су почетак. Одлука мора да обухвати конкретан </a:t>
            </a:r>
          </a:p>
        </p:txBody>
      </p:sp>
      <p:sp>
        <p:nvSpPr>
          <p:cNvPr id="10" name="text-deo1">
            <a:extLst xmlns:a="http://schemas.openxmlformats.org/drawingml/2006/main">
              <a:ext uri="{FF2B5EF4-FFF2-40B4-BE49-F238E27FC236}">
                <a16:creationId xmlns:a16="http://schemas.microsoft.com/office/drawing/2014/main" id="{2B67BEB4-E611-46F4-BA20-E9EE1A12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631120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запис, тражену радњу и однос према власнику.</a:t>
            </a:r>
          </a:p>
        </p:txBody>
      </p:sp>
      <p:sp>
        <p:nvSpPr>
          <p:cNvPr id="11" name="text-deo1">
            <a:extLst xmlns:a="http://schemas.openxmlformats.org/drawingml/2006/main">
              <a:ext uri="{FF2B5EF4-FFF2-40B4-BE49-F238E27FC236}">
                <a16:creationId xmlns:a16="http://schemas.microsoft.com/office/drawing/2014/main" id="{14FB716F-7E58-4371-BBD6-5B25A4B4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25968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Субјекат</a:t>
            </a:r>
          </a:p>
        </p:txBody>
      </p:sp>
      <p:sp>
        <p:nvSpPr>
          <p:cNvPr id="12" name="text-deo1">
            <a:extLst xmlns:a="http://schemas.openxmlformats.org/drawingml/2006/main">
              <a:ext uri="{FF2B5EF4-FFF2-40B4-BE49-F238E27FC236}">
                <a16:creationId xmlns:a16="http://schemas.microsoft.com/office/drawing/2014/main" id="{B0D8AA43-DA78-42B4-88F7-4F26632D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956" y="6244382"/>
            <a:ext cx="107840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13" name="text-deo1">
            <a:extLst xmlns:a="http://schemas.openxmlformats.org/drawingml/2006/main">
              <a:ext uri="{FF2B5EF4-FFF2-40B4-BE49-F238E27FC236}">
                <a16:creationId xmlns:a16="http://schemas.microsoft.com/office/drawing/2014/main" id="{7E9C3BEF-4863-48BF-8F23-545D821C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815" y="6244382"/>
            <a:ext cx="13273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</a:t>
            </a:r>
          </a:p>
        </p:txBody>
      </p:sp>
      <p:sp>
        <p:nvSpPr>
          <p:cNvPr id="14" name="text-deo1">
            <a:extLst xmlns:a="http://schemas.openxmlformats.org/drawingml/2006/main">
              <a:ext uri="{FF2B5EF4-FFF2-40B4-BE49-F238E27FC236}">
                <a16:creationId xmlns:a16="http://schemas.microsoft.com/office/drawing/2014/main" id="{FEBCDD99-15CF-405F-A7F5-CB45C6CC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663" y="6244382"/>
            <a:ext cx="112915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15" name="text-deo1">
            <a:extLst xmlns:a="http://schemas.openxmlformats.org/drawingml/2006/main">
              <a:ext uri="{FF2B5EF4-FFF2-40B4-BE49-F238E27FC236}">
                <a16:creationId xmlns:a16="http://schemas.microsoft.com/office/drawing/2014/main" id="{108483B5-FE2C-441B-B4ED-CD2655A9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1">
            <a:extLst xmlns:a="http://schemas.openxmlformats.org/drawingml/2006/main">
              <a:ext uri="{FF2B5EF4-FFF2-40B4-BE49-F238E27FC236}">
                <a16:creationId xmlns:a16="http://schemas.microsoft.com/office/drawing/2014/main" id="{D497A182-2BFF-4A63-A75E-0676024F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95819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E47408-8CF5-4343-B3FE-E5C311EB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35BAD-DC92-4D9A-81BF-41D27C41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653135"/>
          </a:xfrm>
          <a:prstGeom xmlns:a="http://schemas.openxmlformats.org/drawingml/2006/main" prst="roundRect">
            <a:avLst>
              <a:gd name="adj" fmla="val 417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0CE7F-29AE-4F98-B1F7-82F80E6D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653135"/>
          </a:xfrm>
          <a:prstGeom xmlns:a="http://schemas.openxmlformats.org/drawingml/2006/main" prst="roundRect">
            <a:avLst>
              <a:gd name="adj" fmla="val 417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5ACFE-F4B0-4499-A19B-36B2DA44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653135"/>
          </a:xfrm>
          <a:prstGeom xmlns:a="http://schemas.openxmlformats.org/drawingml/2006/main" prst="roundRect">
            <a:avLst>
              <a:gd name="adj" fmla="val 417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455A0-0AFD-4952-9819-B1D291DA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070527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8DC52A91-B84C-4245-A401-6DDA381F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070527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852318-8E5D-4EFA-A72D-1697F241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F9842B3-5C6A-42FA-B178-B58FFCE3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 · ОДЛУКА</a:t>
            </a:r>
          </a:p>
        </p:txBody>
      </p:sp>
      <p:sp>
        <p:nvSpPr>
          <p:cNvPr id="9" name="heading-source-04">
            <a:extLst xmlns:a="http://schemas.openxmlformats.org/drawingml/2006/main">
              <a:ext uri="{FF2B5EF4-FFF2-40B4-BE49-F238E27FC236}">
                <a16:creationId xmlns:a16="http://schemas.microsoft.com/office/drawing/2014/main" id="{4CF97600-4399-470E-BB87-A6E236BF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6448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Субјекат</a:t>
            </a:r>
          </a:p>
        </p:txBody>
      </p:sp>
      <p:sp>
        <p:nvSpPr>
          <p:cNvPr id="1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2D0EABE1-C7F3-466A-BF14-B9A7D9D1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235714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тражи радњу</a:t>
            </a:r>
          </a:p>
        </p:txBody>
      </p:sp>
      <p:sp>
        <p:nvSpPr>
          <p:cNvPr id="1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73B1426-40C4-499C-86A6-844B9F44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392602F-C22D-4851-8DE1-78566223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339834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Субјекат је потврђен </a:t>
            </a:r>
          </a:p>
        </p:txBody>
      </p:sp>
      <p:sp>
        <p:nvSpPr>
          <p:cNvPr id="1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0666FC29-1BD1-43F7-8961-D084423D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74518"/>
            <a:ext cx="47854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идентитет са скупом дозвола, </a:t>
            </a:r>
          </a:p>
        </p:txBody>
      </p:sp>
      <p:sp>
        <p:nvSpPr>
          <p:cNvPr id="14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0ACC6E31-ED13-45E1-A438-6DD1ADFB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40188"/>
            <a:ext cx="451723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полази од њега, а не </a:t>
            </a:r>
          </a:p>
        </p:txBody>
      </p:sp>
      <p:sp>
        <p:nvSpPr>
          <p:cNvPr id="15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74D11E21-5BE7-454D-B0E4-BB359E06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05859"/>
            <a:ext cx="388471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 података из захтева.</a:t>
            </a:r>
          </a:p>
        </p:txBody>
      </p:sp>
      <p:sp>
        <p:nvSpPr>
          <p:cNvPr id="16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315F7753-E3CC-40DF-BB6F-AF1F81BC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752505"/>
            <a:ext cx="41951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</a:t>
            </a:r>
          </a:p>
        </p:txBody>
      </p:sp>
      <p:sp>
        <p:nvSpPr>
          <p:cNvPr id="17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F9147A43-5BDC-4CFE-B462-52970859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125766"/>
            <a:ext cx="13433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одлуку?</a:t>
            </a:r>
          </a:p>
        </p:txBody>
      </p:sp>
      <p:sp>
        <p:nvSpPr>
          <p:cNvPr id="1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E5E16A3A-9C04-47AF-8038-DA3D8AA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E8B385A1-75A6-472A-A6CD-2577CF3E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419174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 за читање својих </a:t>
            </a:r>
          </a:p>
        </p:txBody>
      </p:sp>
      <p:sp>
        <p:nvSpPr>
          <p:cNvPr id="2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CDD9ECEC-6229-4223-BF72-0A1A784D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474518"/>
            <a:ext cx="489882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записа не укључује туђе, шири </a:t>
            </a:r>
          </a:p>
        </p:txBody>
      </p:sp>
      <p:sp>
        <p:nvSpPr>
          <p:cNvPr id="2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5082031E-4411-4A69-AB55-B2EB5E73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840188"/>
            <a:ext cx="493350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приступ је посебна, именована </a:t>
            </a:r>
          </a:p>
        </p:txBody>
      </p:sp>
      <p:sp>
        <p:nvSpPr>
          <p:cNvPr id="2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20DC5CF-C486-4B5B-BB0C-7C824389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205859"/>
            <a:ext cx="16530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дозвола.</a:t>
            </a:r>
          </a:p>
        </p:txBody>
      </p:sp>
      <p:sp>
        <p:nvSpPr>
          <p:cNvPr id="2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F0F75AEC-4587-4EF5-8FE4-399C1D57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752505"/>
            <a:ext cx="43995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</a:t>
            </a:r>
          </a:p>
        </p:txBody>
      </p:sp>
      <p:sp>
        <p:nvSpPr>
          <p:cNvPr id="24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20E171DC-F7B1-4AC2-8117-5E8F2C2B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6125766"/>
            <a:ext cx="15981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видљива?</a:t>
            </a:r>
          </a:p>
        </p:txBody>
      </p:sp>
      <p:sp>
        <p:nvSpPr>
          <p:cNvPr id="25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BD4BD160-BBAC-4A02-8024-98D43895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6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6481D387-48AA-4A76-8A2D-542AF0BD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410810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Запис о одлуци чува ко је </a:t>
            </a:r>
          </a:p>
        </p:txBody>
      </p:sp>
      <p:sp>
        <p:nvSpPr>
          <p:cNvPr id="27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7AB5286E-6E61-439F-9CA3-E526EE0E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474518"/>
            <a:ext cx="449654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тражио приступ и на основу </a:t>
            </a:r>
          </a:p>
        </p:txBody>
      </p:sp>
      <p:sp>
        <p:nvSpPr>
          <p:cNvPr id="28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24AFA708-580A-4993-AAA5-FBDA7C9F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840188"/>
            <a:ext cx="452511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које дозволе је исход донет.</a:t>
            </a:r>
          </a:p>
        </p:txBody>
      </p:sp>
      <p:sp>
        <p:nvSpPr>
          <p:cNvPr id="29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B6F3508F-47C8-443A-AD0B-6BD6B2DC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386834"/>
            <a:ext cx="43871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</a:t>
            </a:r>
          </a:p>
        </p:txBody>
      </p:sp>
      <p:sp>
        <p:nvSpPr>
          <p:cNvPr id="30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BC4C7CEB-8F23-4E10-96B5-23B93B66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760095"/>
            <a:ext cx="13415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исхода?</a:t>
            </a:r>
          </a:p>
        </p:txBody>
      </p:sp>
      <p:sp>
        <p:nvSpPr>
          <p:cNvPr id="31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C560E40-902A-47E4-A334-0270A566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61027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32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0C543AA9-D2DC-40CB-8F2B-0D4C7A7E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66732"/>
            <a:ext cx="830446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Које дозволе субјекат мора да има за свој запис, а које за туђи?</a:t>
            </a:r>
          </a:p>
        </p:txBody>
      </p:sp>
      <p:sp>
        <p:nvSpPr>
          <p:cNvPr id="33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8F3214C8-ECE6-4CFA-8CF6-BDDD15C3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4" name="text-source-04">
            <a:extLst xmlns:a="http://schemas.openxmlformats.org/drawingml/2006/main">
              <a:ext uri="{FF2B5EF4-FFF2-40B4-BE49-F238E27FC236}">
                <a16:creationId xmlns:a16="http://schemas.microsoft.com/office/drawing/2014/main" id="{4C68B941-C249-49D6-8CD3-1855C386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432416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188541-9588-4893-A285-332AC2E7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8950C6-3AC7-480F-9C8E-61F338CD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653135"/>
          </a:xfrm>
          <a:prstGeom xmlns:a="http://schemas.openxmlformats.org/drawingml/2006/main" prst="roundRect">
            <a:avLst>
              <a:gd name="adj" fmla="val 417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0DBDF-C529-49BA-BD75-94341AD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653135"/>
          </a:xfrm>
          <a:prstGeom xmlns:a="http://schemas.openxmlformats.org/drawingml/2006/main" prst="roundRect">
            <a:avLst>
              <a:gd name="adj" fmla="val 417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7E611-AB0C-43A0-B59B-2D1A343C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653135"/>
          </a:xfrm>
          <a:prstGeom xmlns:a="http://schemas.openxmlformats.org/drawingml/2006/main" prst="roundRect">
            <a:avLst>
              <a:gd name="adj" fmla="val 417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0D9F7-6B23-43FD-9CF1-F29B6DC6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070527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3E676892-02DB-4E44-AE5D-7DB48B87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070527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1D6BB-466D-4E0D-9DCB-B7BBFF49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84D9FEE7-A4FB-4E2A-B2F3-5BDAA343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 · ОДЛУКА</a:t>
            </a:r>
          </a:p>
        </p:txBody>
      </p:sp>
      <p:sp>
        <p:nvSpPr>
          <p:cNvPr id="9" name="heading-source-05">
            <a:extLst xmlns:a="http://schemas.openxmlformats.org/drawingml/2006/main">
              <a:ext uri="{FF2B5EF4-FFF2-40B4-BE49-F238E27FC236}">
                <a16:creationId xmlns:a16="http://schemas.microsoft.com/office/drawing/2014/main" id="{2097F226-ED7B-4558-BE6A-FAA1EA44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18777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1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07FD1B9-7249-469A-9F20-DFD37645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238050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над чим се ради</a:t>
            </a:r>
          </a:p>
        </p:txBody>
      </p:sp>
      <p:sp>
        <p:nvSpPr>
          <p:cNvPr id="1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C8107E40-FD96-4BFD-B998-83B66FD3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5E398541-8306-4F88-9D5A-71132805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372472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 има власника и </a:t>
            </a:r>
          </a:p>
        </p:txBody>
      </p:sp>
      <p:sp>
        <p:nvSpPr>
          <p:cNvPr id="1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18ED2C2F-B3C5-465B-97C9-D06F3E07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74518"/>
            <a:ext cx="454952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класификацију, оба податка </a:t>
            </a:r>
          </a:p>
        </p:txBody>
      </p:sp>
      <p:sp>
        <p:nvSpPr>
          <p:cNvPr id="1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FE79633D-7815-4FDF-8869-D88FE5F1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40188"/>
            <a:ext cx="430991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улазе у одлуку пре читања </a:t>
            </a:r>
          </a:p>
        </p:txBody>
      </p:sp>
      <p:sp>
        <p:nvSpPr>
          <p:cNvPr id="1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6317150B-9D04-41CC-8C63-52CCFF31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05859"/>
            <a:ext cx="181540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садржаја.</a:t>
            </a:r>
          </a:p>
        </p:txBody>
      </p:sp>
      <p:sp>
        <p:nvSpPr>
          <p:cNvPr id="1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7E1B557A-24CF-4ECF-8C24-5465E94E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752505"/>
            <a:ext cx="41951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</a:t>
            </a:r>
          </a:p>
        </p:txBody>
      </p:sp>
      <p:sp>
        <p:nvSpPr>
          <p:cNvPr id="1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DCF6DC7-D7F7-4BD5-9DD4-E7F1E9F0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125766"/>
            <a:ext cx="13433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одлуку?</a:t>
            </a:r>
          </a:p>
        </p:txBody>
      </p:sp>
      <p:sp>
        <p:nvSpPr>
          <p:cNvPr id="1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6404659C-A544-4EF2-AFCF-CBC034A1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D52DCFA1-B110-4F8D-9E9C-B428D6E3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48488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Одбијање не треба да открива </a:t>
            </a:r>
          </a:p>
        </p:txBody>
      </p:sp>
      <p:sp>
        <p:nvSpPr>
          <p:cNvPr id="2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14C75F19-00AB-49D2-BCD0-B36A1297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474518"/>
            <a:ext cx="478303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нити постојање туђег </a:t>
            </a:r>
          </a:p>
        </p:txBody>
      </p:sp>
      <p:sp>
        <p:nvSpPr>
          <p:cNvPr id="2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2F89AA3E-25F6-468E-B5FA-F06DF1F3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840188"/>
            <a:ext cx="324043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осетљивог ресурса.</a:t>
            </a:r>
          </a:p>
        </p:txBody>
      </p:sp>
      <p:sp>
        <p:nvSpPr>
          <p:cNvPr id="2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04BD22CF-9A26-4FF8-9CF4-3BF0ECF9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386834"/>
            <a:ext cx="43995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</a:t>
            </a:r>
          </a:p>
        </p:txBody>
      </p:sp>
      <p:sp>
        <p:nvSpPr>
          <p:cNvPr id="2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D2DEA0AD-1F08-4AD4-8DB3-72304EB0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760095"/>
            <a:ext cx="15981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видљива?</a:t>
            </a:r>
          </a:p>
        </p:txBody>
      </p:sp>
      <p:sp>
        <p:nvSpPr>
          <p:cNvPr id="2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34617744-FEC7-4E7E-9F90-676FF2B6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5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ED154A6E-AD7D-441C-BC56-8E2B1FFD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426883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Исти принцип важи за API </a:t>
            </a:r>
          </a:p>
        </p:txBody>
      </p:sp>
      <p:sp>
        <p:nvSpPr>
          <p:cNvPr id="26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A56F97C9-0157-45DA-A31A-0B931B78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474518"/>
            <a:ext cx="391894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позив, извоз података и </a:t>
            </a:r>
          </a:p>
        </p:txBody>
      </p:sp>
      <p:sp>
        <p:nvSpPr>
          <p:cNvPr id="27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A60FDCA5-4B22-45C3-8216-128E1AB9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840188"/>
            <a:ext cx="491370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позадинску обраду, не само за </a:t>
            </a:r>
          </a:p>
        </p:txBody>
      </p:sp>
      <p:sp>
        <p:nvSpPr>
          <p:cNvPr id="28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C57FD29F-7454-4BCD-8CC3-59E62C7A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205859"/>
            <a:ext cx="13183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екран.</a:t>
            </a:r>
          </a:p>
        </p:txBody>
      </p:sp>
      <p:sp>
        <p:nvSpPr>
          <p:cNvPr id="29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47EE7915-70B9-4DAE-8BE8-F6885BEB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752505"/>
            <a:ext cx="43871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</a:t>
            </a:r>
          </a:p>
        </p:txBody>
      </p:sp>
      <p:sp>
        <p:nvSpPr>
          <p:cNvPr id="30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97D89BD6-B248-4CBB-B1C5-F44CE387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6125766"/>
            <a:ext cx="13415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исхода?</a:t>
            </a:r>
          </a:p>
        </p:txBody>
      </p:sp>
      <p:sp>
        <p:nvSpPr>
          <p:cNvPr id="31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77534F2F-986E-4B68-B1C2-9DAEE162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261027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32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2DDB359C-C719-4421-84E4-D46FEE8F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66732"/>
            <a:ext cx="127530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  <p:sp>
        <p:nvSpPr>
          <p:cNvPr id="33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12FB5640-2812-4102-8875-53D8C270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4" name="text-source-05">
            <a:extLst xmlns:a="http://schemas.openxmlformats.org/drawingml/2006/main">
              <a:ext uri="{FF2B5EF4-FFF2-40B4-BE49-F238E27FC236}">
                <a16:creationId xmlns:a16="http://schemas.microsoft.com/office/drawing/2014/main" id="{23B09D00-3E06-419C-842E-55E351D7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50640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C2D31D-078D-4D58-A565-C991FCF7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78DBA-C639-41DF-BFC6-09F9EDF0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4018806"/>
          </a:xfrm>
          <a:prstGeom xmlns:a="http://schemas.openxmlformats.org/drawingml/2006/main" prst="roundRect">
            <a:avLst>
              <a:gd name="adj" fmla="val 379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A29F3-813B-4B95-BF52-A17C8D7B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4018806"/>
          </a:xfrm>
          <a:prstGeom xmlns:a="http://schemas.openxmlformats.org/drawingml/2006/main" prst="roundRect">
            <a:avLst>
              <a:gd name="adj" fmla="val 379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E2B332-4860-42C6-8492-6B2F94CD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4018806"/>
          </a:xfrm>
          <a:prstGeom xmlns:a="http://schemas.openxmlformats.org/drawingml/2006/main" prst="roundRect">
            <a:avLst>
              <a:gd name="adj" fmla="val 3792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7BC35-3A44-43CC-A4A8-C4A7FABF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436197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FFDD676-4E93-4AEF-9EB3-F8DFCF23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436197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F64BE-4DFC-4457-896D-786C6568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BB73F6F2-5FE4-42F6-9600-4FB74738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 · ОДЛУКА</a:t>
            </a:r>
          </a:p>
        </p:txBody>
      </p:sp>
      <p:sp>
        <p:nvSpPr>
          <p:cNvPr id="9" name="heading-source-06">
            <a:extLst xmlns:a="http://schemas.openxmlformats.org/drawingml/2006/main">
              <a:ext uri="{FF2B5EF4-FFF2-40B4-BE49-F238E27FC236}">
                <a16:creationId xmlns:a16="http://schemas.microsoft.com/office/drawing/2014/main" id="{7DDA5DED-DB67-4771-BD17-9DE4B77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80079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</a:t>
            </a:r>
          </a:p>
        </p:txBody>
      </p:sp>
      <p:sp>
        <p:nvSpPr>
          <p:cNvPr id="1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DC9D0A9-46AD-483E-9DDE-807672F7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308148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власништво и намена</a:t>
            </a:r>
          </a:p>
        </p:txBody>
      </p:sp>
      <p:sp>
        <p:nvSpPr>
          <p:cNvPr id="1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A59227F-8A28-4A17-97B9-010E8FF5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D24FDDD3-D025-4A65-8D93-D913D9FE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481220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Власништво повезује субјекта </a:t>
            </a:r>
          </a:p>
        </p:txBody>
      </p:sp>
      <p:sp>
        <p:nvSpPr>
          <p:cNvPr id="1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12FFDC1D-67CC-4FE9-9877-E997D62B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74518"/>
            <a:ext cx="415453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 ресурс: исти захтев има </a:t>
            </a:r>
          </a:p>
        </p:txBody>
      </p:sp>
      <p:sp>
        <p:nvSpPr>
          <p:cNvPr id="1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4B87161-98E8-4237-97FE-692E8960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40188"/>
            <a:ext cx="478854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различит исход за власника и </a:t>
            </a:r>
          </a:p>
        </p:txBody>
      </p:sp>
      <p:sp>
        <p:nvSpPr>
          <p:cNvPr id="1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B3D261A8-D103-46D5-A281-C800FB16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205859"/>
            <a:ext cx="345951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 другог корисника.</a:t>
            </a:r>
          </a:p>
        </p:txBody>
      </p:sp>
      <p:sp>
        <p:nvSpPr>
          <p:cNvPr id="1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730E49F8-635A-46DB-98AD-38A7764F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752505"/>
            <a:ext cx="41951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</a:t>
            </a:r>
          </a:p>
        </p:txBody>
      </p:sp>
      <p:sp>
        <p:nvSpPr>
          <p:cNvPr id="1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1245C3E1-B72D-49D5-8FF8-B13B09F1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125766"/>
            <a:ext cx="13433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одлуку?</a:t>
            </a:r>
          </a:p>
        </p:txBody>
      </p:sp>
      <p:sp>
        <p:nvSpPr>
          <p:cNvPr id="1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D98750F7-78B8-4C3D-9556-7C7480B7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8262F5BA-E753-4D6B-8AC5-97770B79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401880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Класификација одређује </a:t>
            </a:r>
          </a:p>
        </p:txBody>
      </p:sp>
      <p:sp>
        <p:nvSpPr>
          <p:cNvPr id="2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5D0E290-E234-4EB5-BBFB-7CAF9DEC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474518"/>
            <a:ext cx="429651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докле сеже шира дозвола, </a:t>
            </a:r>
          </a:p>
        </p:txBody>
      </p:sp>
      <p:sp>
        <p:nvSpPr>
          <p:cNvPr id="2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90256E2E-350B-4FA0-8046-0DCBAE38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840188"/>
            <a:ext cx="442213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запис са највишом ознаком </a:t>
            </a:r>
          </a:p>
        </p:txBody>
      </p:sp>
      <p:sp>
        <p:nvSpPr>
          <p:cNvPr id="2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81EABBA-F31D-467E-80A3-7B41D707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205859"/>
            <a:ext cx="347513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остаје доступан само </a:t>
            </a:r>
          </a:p>
        </p:txBody>
      </p:sp>
      <p:sp>
        <p:nvSpPr>
          <p:cNvPr id="2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25967032-A137-4071-A9E4-7E472A05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571530"/>
            <a:ext cx="182031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власнику.</a:t>
            </a:r>
          </a:p>
        </p:txBody>
      </p:sp>
      <p:sp>
        <p:nvSpPr>
          <p:cNvPr id="2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A4C5752-3C70-4B92-A8A8-77B9B057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6118175"/>
            <a:ext cx="43995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</a:t>
            </a:r>
          </a:p>
        </p:txBody>
      </p:sp>
      <p:sp>
        <p:nvSpPr>
          <p:cNvPr id="2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ABC9CF70-AAF5-4D1C-B0F2-4AB284E4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6491436"/>
            <a:ext cx="15981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видљива?</a:t>
            </a:r>
          </a:p>
        </p:txBody>
      </p:sp>
      <p:sp>
        <p:nvSpPr>
          <p:cNvPr id="26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E6512836-8FA3-46CF-91E6-C22D1E25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7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F60C8324-0C00-4777-A556-3B4FB223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47092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 податка одговара за </a:t>
            </a:r>
          </a:p>
        </p:txBody>
      </p:sp>
      <p:sp>
        <p:nvSpPr>
          <p:cNvPr id="28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148A5273-C729-4604-A409-BAE0ABD9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474518"/>
            <a:ext cx="428044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промену класификације, а </a:t>
            </a:r>
          </a:p>
        </p:txBody>
      </p:sp>
      <p:sp>
        <p:nvSpPr>
          <p:cNvPr id="29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B5D8F850-C432-4170-A1A7-B8D8207D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840188"/>
            <a:ext cx="466144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систем чува траг те промене.</a:t>
            </a:r>
          </a:p>
        </p:txBody>
      </p:sp>
      <p:sp>
        <p:nvSpPr>
          <p:cNvPr id="30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6C13CF7-A7B4-4897-BED1-FE6FCE0D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386834"/>
            <a:ext cx="43871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</a:t>
            </a:r>
          </a:p>
        </p:txBody>
      </p:sp>
      <p:sp>
        <p:nvSpPr>
          <p:cNvPr id="31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9368B9A1-9804-40EC-85BB-00836CB5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760095"/>
            <a:ext cx="13415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исхода?</a:t>
            </a:r>
          </a:p>
        </p:txBody>
      </p:sp>
      <p:sp>
        <p:nvSpPr>
          <p:cNvPr id="32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31DC641A-8E41-43B8-9559-EF28C46A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26697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33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C2B8BF0C-EE8C-4A1A-8359-71D12AE7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032403"/>
            <a:ext cx="944016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Која чињеница о односу субјекта и ресурса мења исход при истој улози?</a:t>
            </a:r>
          </a:p>
        </p:txBody>
      </p:sp>
      <p:sp>
        <p:nvSpPr>
          <p:cNvPr id="34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B4249744-A24C-4ACC-9151-C3F3BC82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5" name="text-source-06">
            <a:extLst xmlns:a="http://schemas.openxmlformats.org/drawingml/2006/main">
              <a:ext uri="{FF2B5EF4-FFF2-40B4-BE49-F238E27FC236}">
                <a16:creationId xmlns:a16="http://schemas.microsoft.com/office/drawing/2014/main" id="{AF5D9938-9201-443D-A44B-AC7C4E78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24388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A8E4A2-1AD2-43DA-B4A0-26BBD0E7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1F6A8-0C05-417E-9355-DFE625A4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3287464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C1A976-E3F5-43BE-AAF5-C632C419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3287464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25C69-9F3D-48E2-AD81-E97327AF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3287464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2AD08-7E16-4B28-BC0C-C1A2F925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704856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9ED2510E-2F96-4509-8342-A911FB39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704856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5AFFD0-DD64-42DA-A9B2-6BB201D8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AB02A35C-395A-4600-A4AD-0A6517B0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 · ОДЛУКА</a:t>
            </a:r>
          </a:p>
        </p:txBody>
      </p:sp>
      <p:sp>
        <p:nvSpPr>
          <p:cNvPr id="9" name="heading-source-07">
            <a:extLst xmlns:a="http://schemas.openxmlformats.org/drawingml/2006/main">
              <a:ext uri="{FF2B5EF4-FFF2-40B4-BE49-F238E27FC236}">
                <a16:creationId xmlns:a16="http://schemas.microsoft.com/office/drawing/2014/main" id="{972E2129-730F-4C0D-897B-63882358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33972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1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590A8DFE-9386-42E5-A705-1C7CA0A8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265955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дозволи или одбиј</a:t>
            </a:r>
          </a:p>
        </p:txBody>
      </p:sp>
      <p:sp>
        <p:nvSpPr>
          <p:cNvPr id="1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499D6617-64B8-4175-9BE5-24664FE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24061DAB-3616-48EE-BBDA-E5041AAE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475104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се доноси на серверу, </a:t>
            </a:r>
          </a:p>
        </p:txBody>
      </p:sp>
      <p:sp>
        <p:nvSpPr>
          <p:cNvPr id="1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B7D0757C-0F54-4CE3-8153-70634DEC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74518"/>
            <a:ext cx="476532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над конкретним записом, пре </a:t>
            </a:r>
          </a:p>
        </p:txBody>
      </p:sp>
      <p:sp>
        <p:nvSpPr>
          <p:cNvPr id="14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30EF8711-0E10-4272-9445-61EA35E1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40188"/>
            <a:ext cx="469314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него што се садржај прочита.</a:t>
            </a:r>
          </a:p>
        </p:txBody>
      </p:sp>
      <p:sp>
        <p:nvSpPr>
          <p:cNvPr id="1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86A4A7FA-8A2D-4E30-A8C4-359060B8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86834"/>
            <a:ext cx="41951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улаз покреће ову </a:t>
            </a:r>
          </a:p>
        </p:txBody>
      </p:sp>
      <p:sp>
        <p:nvSpPr>
          <p:cNvPr id="16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B931D880-95F8-424D-9C1B-F24E2B73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760095"/>
            <a:ext cx="13433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одлуку?</a:t>
            </a:r>
          </a:p>
        </p:txBody>
      </p:sp>
      <p:sp>
        <p:nvSpPr>
          <p:cNvPr id="17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9A486FED-F8CE-464B-B84C-84FC755C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70355355-7523-4DC8-BB39-868471BA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487784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Сваки исход има стабилан код </a:t>
            </a:r>
          </a:p>
        </p:txBody>
      </p:sp>
      <p:sp>
        <p:nvSpPr>
          <p:cNvPr id="19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461F12C4-55D5-44C5-A229-64AD2942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474518"/>
            <a:ext cx="477961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разлога, па се одбијање може </a:t>
            </a:r>
          </a:p>
        </p:txBody>
      </p:sp>
      <p:sp>
        <p:nvSpPr>
          <p:cNvPr id="2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5D99ED46-68D5-4893-A855-370B3BC9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840188"/>
            <a:ext cx="370492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тестирати и објаснити.</a:t>
            </a:r>
          </a:p>
        </p:txBody>
      </p:sp>
      <p:sp>
        <p:nvSpPr>
          <p:cNvPr id="2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CF6C21FA-FCAE-48A3-A4F2-FBFA5819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386834"/>
            <a:ext cx="439950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која граница мора бити </a:t>
            </a:r>
          </a:p>
        </p:txBody>
      </p:sp>
      <p:sp>
        <p:nvSpPr>
          <p:cNvPr id="2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E00AF179-F8C6-46BA-A8AC-DAA1F028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760095"/>
            <a:ext cx="15981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видљива?</a:t>
            </a:r>
          </a:p>
        </p:txBody>
      </p:sp>
      <p:sp>
        <p:nvSpPr>
          <p:cNvPr id="23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1AE81038-B0F7-4C94-B1A3-E3D62BD5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4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0BA87881-2F6C-4850-AFCA-9E30A479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391924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Негативан тест за сваки </a:t>
            </a:r>
          </a:p>
        </p:txBody>
      </p:sp>
      <p:sp>
        <p:nvSpPr>
          <p:cNvPr id="25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F311507C-79F4-4617-86D6-1557EDA7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474518"/>
            <a:ext cx="461173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разлог одбијања доказује да </a:t>
            </a:r>
          </a:p>
        </p:txBody>
      </p:sp>
      <p:sp>
        <p:nvSpPr>
          <p:cNvPr id="26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ABD57130-51BB-403D-A5B5-266025DA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840188"/>
            <a:ext cx="387890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граница заиста постоји.</a:t>
            </a:r>
          </a:p>
        </p:txBody>
      </p:sp>
      <p:sp>
        <p:nvSpPr>
          <p:cNvPr id="27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03F3DA06-70D6-4BB7-B180-FA7691C9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386834"/>
            <a:ext cx="43871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Питање: који доказ остаје после </a:t>
            </a:r>
          </a:p>
        </p:txBody>
      </p:sp>
      <p:sp>
        <p:nvSpPr>
          <p:cNvPr id="28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6B6AFF7B-F348-46CD-8994-2237628C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760095"/>
            <a:ext cx="13415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исхода?</a:t>
            </a:r>
          </a:p>
        </p:txBody>
      </p:sp>
      <p:sp>
        <p:nvSpPr>
          <p:cNvPr id="29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74BB4B8A-4405-4ABB-99E6-881DE6B6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95356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ПИТАЊЕ ЗА АНАЛИЗУ</a:t>
            </a:r>
          </a:p>
        </p:txBody>
      </p:sp>
      <p:sp>
        <p:nvSpPr>
          <p:cNvPr id="30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945EB675-BA69-4B5C-9158-F6E794EA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301061"/>
            <a:ext cx="1011644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Који кодови исхода постоје у вашој одлуци и који тест доказује сваки од њих?</a:t>
            </a:r>
          </a:p>
        </p:txBody>
      </p:sp>
      <p:sp>
        <p:nvSpPr>
          <p:cNvPr id="31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17CE8AF-3645-4CB7-BA61-86D7045E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2" name="text-source-07">
            <a:extLst xmlns:a="http://schemas.openxmlformats.org/drawingml/2006/main">
              <a:ext uri="{FF2B5EF4-FFF2-40B4-BE49-F238E27FC236}">
                <a16:creationId xmlns:a16="http://schemas.microsoft.com/office/drawing/2014/main" id="{D1B82325-61E6-4503-85DB-95E295E2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841642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5A369-FC88-4211-A64E-BAEEAC9E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C1B47-0521-4559-A055-3CD15A9A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3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08ED164C-0958-42D9-835A-9A55CD78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1547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 · НИВОИ ПРОВЕРЕ</a:t>
            </a:r>
          </a:p>
        </p:txBody>
      </p:sp>
      <p:sp>
        <p:nvSpPr>
          <p:cNvPr id="4" name="heading-source-08">
            <a:extLst xmlns:a="http://schemas.openxmlformats.org/drawingml/2006/main">
              <a:ext uri="{FF2B5EF4-FFF2-40B4-BE49-F238E27FC236}">
                <a16:creationId xmlns:a16="http://schemas.microsoft.com/office/drawing/2014/main" id="{1AD18F07-96FB-4121-B7FD-C62118A6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02796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Нивои провере приступа</a:t>
            </a:r>
          </a:p>
        </p:txBody>
      </p:sp>
      <p:sp>
        <p:nvSpPr>
          <p:cNvPr id="5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F2903151-1EC5-4D80-A30E-954E0334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87559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Поређење приказује функцију сваког елемента и ограничење његове самосталне примене.</a:t>
            </a:r>
          </a:p>
        </p:txBody>
      </p:sp>
      <p:sp>
        <p:nvSpPr>
          <p:cNvPr id="6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99967792-2802-4326-8DF9-B7138139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7" name="text-source-08">
            <a:extLst xmlns:a="http://schemas.openxmlformats.org/drawingml/2006/main">
              <a:ext uri="{FF2B5EF4-FFF2-40B4-BE49-F238E27FC236}">
                <a16:creationId xmlns:a16="http://schemas.microsoft.com/office/drawing/2014/main" id="{635A1A36-2055-44DB-A85A-F343D9A1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219200" y="3112591"/>
          <a:ext xmlns:a="http://schemas.openxmlformats.org/drawingml/2006/main" cx="15849600" cy="4020741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482578"/>
                <a:gridCol w="5698927"/>
                <a:gridCol w="6649045"/>
              </a:tblGrid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Ниво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0E5E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Шта проверава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0E5E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Зашто није довољан сам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0E5E5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Пријава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Идентитет субјекта.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Не говори шта субјекат сме да уради.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Улога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Општи скуп одговорности.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Не зна однос према конкретном запису.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1098947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Ресурс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Власништво, припадност и класификацију.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Мора се комбиновати са радњом и политиком.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72568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Контекст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Време, стање и пословно оправдање.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Може променити закључак за исту улогу.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1153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E5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028E04-8CE8-4139-98D8-C058BAB1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2055465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2D09E-4769-4CA6-A9F3-79AA2A84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0565" y="6158657"/>
            <a:ext cx="2191196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5B750-B36C-400A-BAC2-1BA9059F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6062" y="6158657"/>
            <a:ext cx="776585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D85D36-FCBB-4AF9-938C-077295A1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6947" y="6158657"/>
            <a:ext cx="1309688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146E8-9D71-4F70-A919-BB2467E1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6BF"/>
          </a:solidFill>
          <a:ln xmlns:a="http://schemas.openxmlformats.org/drawingml/2006/main" w="0">
            <a:noFill/>
          </a:ln>
        </p:spPr>
      </p:sp>
      <p:sp>
        <p:nvSpPr>
          <p:cNvPr id="6" name="text-deo2">
            <a:extLst xmlns:a="http://schemas.openxmlformats.org/drawingml/2006/main">
              <a:ext uri="{FF2B5EF4-FFF2-40B4-BE49-F238E27FC236}">
                <a16:creationId xmlns:a16="http://schemas.microsoft.com/office/drawing/2014/main" id="{E426EF49-B058-45CF-9D60-0597EC6B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7" name="text-deo2">
            <a:extLst xmlns:a="http://schemas.openxmlformats.org/drawingml/2006/main">
              <a:ext uri="{FF2B5EF4-FFF2-40B4-BE49-F238E27FC236}">
                <a16:creationId xmlns:a16="http://schemas.microsoft.com/office/drawing/2014/main" id="{CD117723-FA65-4D04-A335-FA219FB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ДРУГИ ДЕО</a:t>
            </a:r>
          </a:p>
        </p:txBody>
      </p:sp>
      <p:sp>
        <p:nvSpPr>
          <p:cNvPr id="8" name="heading-deo2">
            <a:extLst xmlns:a="http://schemas.openxmlformats.org/drawingml/2006/main">
              <a:ext uri="{FF2B5EF4-FFF2-40B4-BE49-F238E27FC236}">
                <a16:creationId xmlns:a16="http://schemas.microsoft.com/office/drawing/2014/main" id="{39C621D2-E9F1-4E82-A980-ABC63C49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76485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306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Заштита податка</a:t>
            </a:r>
          </a:p>
        </p:txBody>
      </p:sp>
      <p:sp>
        <p:nvSpPr>
          <p:cNvPr id="9" name="text-deo2">
            <a:extLst xmlns:a="http://schemas.openxmlformats.org/drawingml/2006/main">
              <a:ext uri="{FF2B5EF4-FFF2-40B4-BE49-F238E27FC236}">
                <a16:creationId xmlns:a16="http://schemas.microsoft.com/office/drawing/2014/main" id="{2D412E0C-2D4A-4AA8-961A-3B482B47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857651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Класификација и власништво прате податак кроз његов животни </a:t>
            </a:r>
          </a:p>
        </p:txBody>
      </p:sp>
      <p:sp>
        <p:nvSpPr>
          <p:cNvPr id="10" name="text-deo2">
            <a:extLst xmlns:a="http://schemas.openxmlformats.org/drawingml/2006/main">
              <a:ext uri="{FF2B5EF4-FFF2-40B4-BE49-F238E27FC236}">
                <a16:creationId xmlns:a16="http://schemas.microsoft.com/office/drawing/2014/main" id="{63B3725E-BC44-44AC-9922-E5C510C9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642699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циклус, а серверска граница важи и ван екрана.</a:t>
            </a:r>
          </a:p>
        </p:txBody>
      </p:sp>
      <p:sp>
        <p:nvSpPr>
          <p:cNvPr id="11" name="text-deo2">
            <a:extLst xmlns:a="http://schemas.openxmlformats.org/drawingml/2006/main">
              <a:ext uri="{FF2B5EF4-FFF2-40B4-BE49-F238E27FC236}">
                <a16:creationId xmlns:a16="http://schemas.microsoft.com/office/drawing/2014/main" id="{B58C0994-C6E2-4D58-A0D6-62911AAD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99831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Класификација</a:t>
            </a:r>
          </a:p>
        </p:txBody>
      </p:sp>
      <p:sp>
        <p:nvSpPr>
          <p:cNvPr id="12" name="text-deo2">
            <a:extLst xmlns:a="http://schemas.openxmlformats.org/drawingml/2006/main">
              <a:ext uri="{FF2B5EF4-FFF2-40B4-BE49-F238E27FC236}">
                <a16:creationId xmlns:a16="http://schemas.microsoft.com/office/drawing/2014/main" id="{15A2D825-036D-46A5-8BDE-736592BF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0590" y="6244382"/>
            <a:ext cx="21340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Животни циклус</a:t>
            </a:r>
          </a:p>
        </p:txBody>
      </p:sp>
      <p:sp>
        <p:nvSpPr>
          <p:cNvPr id="13" name="text-deo2">
            <a:extLst xmlns:a="http://schemas.openxmlformats.org/drawingml/2006/main">
              <a:ext uri="{FF2B5EF4-FFF2-40B4-BE49-F238E27FC236}">
                <a16:creationId xmlns:a16="http://schemas.microsoft.com/office/drawing/2014/main" id="{BD1784CF-8D11-4CCB-872D-4154EAA8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6087" y="6244382"/>
            <a:ext cx="71943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API</a:t>
            </a:r>
          </a:p>
        </p:txBody>
      </p:sp>
      <p:sp>
        <p:nvSpPr>
          <p:cNvPr id="14" name="text-deo2">
            <a:extLst xmlns:a="http://schemas.openxmlformats.org/drawingml/2006/main">
              <a:ext uri="{FF2B5EF4-FFF2-40B4-BE49-F238E27FC236}">
                <a16:creationId xmlns:a16="http://schemas.microsoft.com/office/drawing/2014/main" id="{C2D61FED-FA73-491C-9A4D-26A7349B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6972" y="6244382"/>
            <a:ext cx="125253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</a:t>
            </a:r>
          </a:p>
        </p:txBody>
      </p:sp>
      <p:sp>
        <p:nvSpPr>
          <p:cNvPr id="15" name="text-deo2">
            <a:extLst xmlns:a="http://schemas.openxmlformats.org/drawingml/2006/main">
              <a:ext uri="{FF2B5EF4-FFF2-40B4-BE49-F238E27FC236}">
                <a16:creationId xmlns:a16="http://schemas.microsoft.com/office/drawing/2014/main" id="{B3A35FDA-F46E-4501-95A9-A87E7121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6" name="text-deo2">
            <a:extLst xmlns:a="http://schemas.openxmlformats.org/drawingml/2006/main">
              <a:ext uri="{FF2B5EF4-FFF2-40B4-BE49-F238E27FC236}">
                <a16:creationId xmlns:a16="http://schemas.microsoft.com/office/drawing/2014/main" id="{255416AB-BF87-47DB-9C83-08447B30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023950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6ADC6-8A77-48C4-867B-05AFE25A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6D801-BB35-4B6B-9D07-ABE38E8A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334250"/>
            <a:ext cx="15849600" cy="1097161"/>
          </a:xfrm>
          <a:prstGeom xmlns:a="http://schemas.openxmlformats.org/drawingml/2006/main" prst="roundRect">
            <a:avLst>
              <a:gd name="adj" fmla="val 10418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72E473A-64A8-4B7B-B01B-5C14C237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334250"/>
            <a:ext cx="114300" cy="1097161"/>
          </a:xfrm>
          <a:custGeom xmlns:a="http://schemas.openxmlformats.org/drawingml/2006/main">
            <a:pathLst>
              <a:path w="114300" h="10971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82861"/>
                </a:lnTo>
                <a:lnTo>
                  <a:pt x="61" y="986601"/>
                </a:lnTo>
                <a:lnTo>
                  <a:pt x="245" y="990337"/>
                </a:lnTo>
                <a:lnTo>
                  <a:pt x="550" y="994064"/>
                </a:lnTo>
                <a:lnTo>
                  <a:pt x="978" y="997780"/>
                </a:lnTo>
                <a:lnTo>
                  <a:pt x="1527" y="1001480"/>
                </a:lnTo>
                <a:lnTo>
                  <a:pt x="2196" y="1005160"/>
                </a:lnTo>
                <a:lnTo>
                  <a:pt x="2986" y="1008816"/>
                </a:lnTo>
                <a:lnTo>
                  <a:pt x="3895" y="1012444"/>
                </a:lnTo>
                <a:lnTo>
                  <a:pt x="4922" y="1016040"/>
                </a:lnTo>
                <a:lnTo>
                  <a:pt x="6066" y="1019601"/>
                </a:lnTo>
                <a:lnTo>
                  <a:pt x="7326" y="1023123"/>
                </a:lnTo>
                <a:lnTo>
                  <a:pt x="8701" y="1026602"/>
                </a:lnTo>
                <a:lnTo>
                  <a:pt x="10188" y="1030033"/>
                </a:lnTo>
                <a:lnTo>
                  <a:pt x="11787" y="1033415"/>
                </a:lnTo>
                <a:lnTo>
                  <a:pt x="13496" y="1036742"/>
                </a:lnTo>
                <a:lnTo>
                  <a:pt x="15313" y="1040011"/>
                </a:lnTo>
                <a:lnTo>
                  <a:pt x="17236" y="1043219"/>
                </a:lnTo>
                <a:lnTo>
                  <a:pt x="19263" y="1046363"/>
                </a:lnTo>
                <a:lnTo>
                  <a:pt x="21392" y="1049438"/>
                </a:lnTo>
                <a:lnTo>
                  <a:pt x="23620" y="1052442"/>
                </a:lnTo>
                <a:lnTo>
                  <a:pt x="25945" y="1055372"/>
                </a:lnTo>
                <a:lnTo>
                  <a:pt x="28365" y="1058224"/>
                </a:lnTo>
                <a:lnTo>
                  <a:pt x="30877" y="1060996"/>
                </a:lnTo>
                <a:lnTo>
                  <a:pt x="33478" y="1063683"/>
                </a:lnTo>
                <a:lnTo>
                  <a:pt x="36165" y="1066284"/>
                </a:lnTo>
                <a:lnTo>
                  <a:pt x="38937" y="1068796"/>
                </a:lnTo>
                <a:lnTo>
                  <a:pt x="41789" y="1071216"/>
                </a:lnTo>
                <a:lnTo>
                  <a:pt x="44719" y="1073541"/>
                </a:lnTo>
                <a:lnTo>
                  <a:pt x="47723" y="1075769"/>
                </a:lnTo>
                <a:lnTo>
                  <a:pt x="50798" y="1077898"/>
                </a:lnTo>
                <a:lnTo>
                  <a:pt x="53942" y="1079925"/>
                </a:lnTo>
                <a:lnTo>
                  <a:pt x="57150" y="1081848"/>
                </a:lnTo>
                <a:lnTo>
                  <a:pt x="60419" y="1083665"/>
                </a:lnTo>
                <a:lnTo>
                  <a:pt x="63746" y="1085373"/>
                </a:lnTo>
                <a:lnTo>
                  <a:pt x="67128" y="1086973"/>
                </a:lnTo>
                <a:lnTo>
                  <a:pt x="70559" y="1088460"/>
                </a:lnTo>
                <a:lnTo>
                  <a:pt x="74038" y="1089835"/>
                </a:lnTo>
                <a:lnTo>
                  <a:pt x="77559" y="1091095"/>
                </a:lnTo>
                <a:lnTo>
                  <a:pt x="81120" y="1092239"/>
                </a:lnTo>
                <a:lnTo>
                  <a:pt x="84717" y="1093266"/>
                </a:lnTo>
                <a:lnTo>
                  <a:pt x="88345" y="1094175"/>
                </a:lnTo>
                <a:lnTo>
                  <a:pt x="92001" y="1094965"/>
                </a:lnTo>
                <a:lnTo>
                  <a:pt x="95681" y="1095634"/>
                </a:lnTo>
                <a:lnTo>
                  <a:pt x="99381" y="1096183"/>
                </a:lnTo>
                <a:lnTo>
                  <a:pt x="103097" y="1096611"/>
                </a:lnTo>
                <a:lnTo>
                  <a:pt x="106824" y="1096916"/>
                </a:lnTo>
                <a:lnTo>
                  <a:pt x="110560" y="1097100"/>
                </a:lnTo>
                <a:lnTo>
                  <a:pt x="114300" y="1097161"/>
                </a:lnTo>
                <a:lnTo>
                  <a:pt x="114300" y="1097161"/>
                </a:lnTo>
                <a:lnTo>
                  <a:pt x="112430" y="1097100"/>
                </a:lnTo>
                <a:lnTo>
                  <a:pt x="110562" y="1096916"/>
                </a:lnTo>
                <a:lnTo>
                  <a:pt x="108698" y="1096611"/>
                </a:lnTo>
                <a:lnTo>
                  <a:pt x="106840" y="1096183"/>
                </a:lnTo>
                <a:lnTo>
                  <a:pt x="104991" y="1095634"/>
                </a:lnTo>
                <a:lnTo>
                  <a:pt x="103151" y="1094965"/>
                </a:lnTo>
                <a:lnTo>
                  <a:pt x="101323" y="1094175"/>
                </a:lnTo>
                <a:lnTo>
                  <a:pt x="99508" y="1093266"/>
                </a:lnTo>
                <a:lnTo>
                  <a:pt x="97710" y="1092239"/>
                </a:lnTo>
                <a:lnTo>
                  <a:pt x="95930" y="1091095"/>
                </a:lnTo>
                <a:lnTo>
                  <a:pt x="94169" y="1089835"/>
                </a:lnTo>
                <a:lnTo>
                  <a:pt x="92430" y="1088460"/>
                </a:lnTo>
                <a:lnTo>
                  <a:pt x="90714" y="1086973"/>
                </a:lnTo>
                <a:lnTo>
                  <a:pt x="89023" y="1085373"/>
                </a:lnTo>
                <a:lnTo>
                  <a:pt x="87360" y="1083665"/>
                </a:lnTo>
                <a:lnTo>
                  <a:pt x="85725" y="1081848"/>
                </a:lnTo>
                <a:lnTo>
                  <a:pt x="84121" y="1079925"/>
                </a:lnTo>
                <a:lnTo>
                  <a:pt x="82549" y="1077898"/>
                </a:lnTo>
                <a:lnTo>
                  <a:pt x="81011" y="1075769"/>
                </a:lnTo>
                <a:lnTo>
                  <a:pt x="79509" y="1073541"/>
                </a:lnTo>
                <a:lnTo>
                  <a:pt x="78044" y="1071216"/>
                </a:lnTo>
                <a:lnTo>
                  <a:pt x="76618" y="1068796"/>
                </a:lnTo>
                <a:lnTo>
                  <a:pt x="75233" y="1066284"/>
                </a:lnTo>
                <a:lnTo>
                  <a:pt x="73889" y="1063683"/>
                </a:lnTo>
                <a:lnTo>
                  <a:pt x="72588" y="1060996"/>
                </a:lnTo>
                <a:lnTo>
                  <a:pt x="71332" y="1058224"/>
                </a:lnTo>
                <a:lnTo>
                  <a:pt x="70122" y="1055372"/>
                </a:lnTo>
                <a:lnTo>
                  <a:pt x="68960" y="1052442"/>
                </a:lnTo>
                <a:lnTo>
                  <a:pt x="67846" y="1049438"/>
                </a:lnTo>
                <a:lnTo>
                  <a:pt x="66782" y="1046363"/>
                </a:lnTo>
                <a:lnTo>
                  <a:pt x="65768" y="1043219"/>
                </a:lnTo>
                <a:lnTo>
                  <a:pt x="64807" y="1040011"/>
                </a:lnTo>
                <a:lnTo>
                  <a:pt x="63898" y="1036742"/>
                </a:lnTo>
                <a:lnTo>
                  <a:pt x="63044" y="1033415"/>
                </a:lnTo>
                <a:lnTo>
                  <a:pt x="62244" y="1030033"/>
                </a:lnTo>
                <a:lnTo>
                  <a:pt x="61500" y="1026602"/>
                </a:lnTo>
                <a:lnTo>
                  <a:pt x="60813" y="1023123"/>
                </a:lnTo>
                <a:lnTo>
                  <a:pt x="60183" y="1019601"/>
                </a:lnTo>
                <a:lnTo>
                  <a:pt x="59611" y="1016040"/>
                </a:lnTo>
                <a:lnTo>
                  <a:pt x="59097" y="1012444"/>
                </a:lnTo>
                <a:lnTo>
                  <a:pt x="58643" y="1008816"/>
                </a:lnTo>
                <a:lnTo>
                  <a:pt x="58248" y="1005160"/>
                </a:lnTo>
                <a:lnTo>
                  <a:pt x="57913" y="1001480"/>
                </a:lnTo>
                <a:lnTo>
                  <a:pt x="57639" y="997780"/>
                </a:lnTo>
                <a:lnTo>
                  <a:pt x="57425" y="994064"/>
                </a:lnTo>
                <a:lnTo>
                  <a:pt x="57272" y="990337"/>
                </a:lnTo>
                <a:lnTo>
                  <a:pt x="57181" y="986601"/>
                </a:lnTo>
                <a:lnTo>
                  <a:pt x="57150" y="9828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7B7F4-7425-488C-8A34-FB4A0796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43d6c54f548ba"/>
          <a:stretch xmlns:a="http://schemas.openxmlformats.org/drawingml/2006/main"/>
        </p:blipFill>
        <p:spPr>
          <a:xfrm xmlns:a="http://schemas.openxmlformats.org/drawingml/2006/main">
            <a:off x="1219200" y="3352800"/>
            <a:ext cx="15849600" cy="4048125"/>
          </a:xfrm>
          <a:prstGeom xmlns:a="http://schemas.openxmlformats.org/drawingml/2006/main" prst="rect">
            <a:avLst/>
          </a:prstGeom>
        </p:spPr>
      </p:pic>
      <p:sp>
        <p:nvSpPr>
          <p:cNvPr id="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51C4C7EA-2E0E-4425-9C7C-4CA32104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1547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МОДЕЛ ЗАШТИТЕ</a:t>
            </a:r>
          </a:p>
        </p:txBody>
      </p:sp>
      <p:sp>
        <p:nvSpPr>
          <p:cNvPr id="7" name="heading-source-09">
            <a:extLst xmlns:a="http://schemas.openxmlformats.org/drawingml/2006/main">
              <a:ext uri="{FF2B5EF4-FFF2-40B4-BE49-F238E27FC236}">
                <a16:creationId xmlns:a16="http://schemas.microsoft.com/office/drawing/2014/main" id="{41CED0F0-0BE3-482F-958F-72DDF9A3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569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62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Модел заштите једног ресурса</a:t>
            </a:r>
          </a:p>
        </p:txBody>
      </p:sp>
      <p:sp>
        <p:nvSpPr>
          <p:cNvPr id="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D538D23-F2B3-4202-BEE1-94286FC3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46561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Идентификатор у адреси не представља право приступа. Однос субјекта према ресурсу проверава се на серверу.</a:t>
            </a:r>
          </a:p>
        </p:txBody>
      </p:sp>
      <p:sp>
        <p:nvSpPr>
          <p:cNvPr id="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15FC6F3E-8F9C-4851-8A6C-2DBBE2E8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71950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Sans"/>
                <a:ea typeface="IBM Plex Sans"/>
                <a:cs typeface="IBM Plex Sans"/>
              </a:defRPr>
            </a:pPr>
            <a:r>
              <a:rPr sz="3300" b="0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01</a:t>
            </a:r>
          </a:p>
        </p:txBody>
      </p:sp>
      <p:sp>
        <p:nvSpPr>
          <p:cNvPr id="1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06A3CEDF-60C0-4FB9-A273-29ACBCCC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10125"/>
            <a:ext cx="1293912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1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BBE4DA76-9E1F-4620-8D89-E8297F75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310098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власник и класификација</a:t>
            </a:r>
          </a:p>
        </p:txBody>
      </p:sp>
      <p:sp>
        <p:nvSpPr>
          <p:cNvPr id="1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76DABA7F-06BA-42A8-89FC-8EED1AD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171950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Sans"/>
                <a:ea typeface="IBM Plex Sans"/>
                <a:cs typeface="IBM Plex Sans"/>
              </a:defRPr>
            </a:pPr>
            <a:r>
              <a:rPr sz="3300" b="0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02</a:t>
            </a:r>
          </a:p>
        </p:txBody>
      </p:sp>
      <p:sp>
        <p:nvSpPr>
          <p:cNvPr id="1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2D546EF-97C8-4E21-A006-773A9E3F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810125"/>
            <a:ext cx="127248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Радња</a:t>
            </a:r>
          </a:p>
        </p:txBody>
      </p:sp>
      <p:sp>
        <p:nvSpPr>
          <p:cNvPr id="1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9C802465-4CC6-4178-9752-0057D124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34000"/>
            <a:ext cx="317256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читање, измена или извоз</a:t>
            </a:r>
          </a:p>
        </p:txBody>
      </p:sp>
      <p:sp>
        <p:nvSpPr>
          <p:cNvPr id="1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658625D8-79DE-4F7D-BCD0-398AAAB2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71950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Sans"/>
                <a:ea typeface="IBM Plex Sans"/>
                <a:cs typeface="IBM Plex Sans"/>
              </a:defRPr>
            </a:pPr>
            <a:r>
              <a:rPr sz="3300" b="0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03</a:t>
            </a:r>
          </a:p>
        </p:txBody>
      </p:sp>
      <p:sp>
        <p:nvSpPr>
          <p:cNvPr id="16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F1176CBB-AAD0-466A-B859-BC79FC80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810125"/>
            <a:ext cx="304041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Серверска провера</a:t>
            </a:r>
          </a:p>
        </p:txBody>
      </p:sp>
      <p:sp>
        <p:nvSpPr>
          <p:cNvPr id="17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471D41D-0DD7-426C-821E-24ADF2FB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334000"/>
            <a:ext cx="313670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субјекат, однос и правило</a:t>
            </a:r>
          </a:p>
        </p:txBody>
      </p:sp>
      <p:sp>
        <p:nvSpPr>
          <p:cNvPr id="18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CC84B368-8CCB-4E85-B547-78EA1B89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4171950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Sans"/>
                <a:ea typeface="IBM Plex Sans"/>
                <a:cs typeface="IBM Plex Sans"/>
              </a:defRPr>
            </a:pPr>
            <a:r>
              <a:rPr sz="3300" b="0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04</a:t>
            </a:r>
          </a:p>
        </p:txBody>
      </p:sp>
      <p:sp>
        <p:nvSpPr>
          <p:cNvPr id="19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578F990A-9CBF-4465-AC5F-F1388BD2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4810125"/>
            <a:ext cx="2554039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Безбедан исход</a:t>
            </a:r>
          </a:p>
        </p:txBody>
      </p:sp>
      <p:sp>
        <p:nvSpPr>
          <p:cNvPr id="20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47D0D328-0B94-412A-8D9C-F958DFEB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5334000"/>
            <a:ext cx="315262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подаци или контролисано </a:t>
            </a:r>
          </a:p>
        </p:txBody>
      </p:sp>
      <p:sp>
        <p:nvSpPr>
          <p:cNvPr id="21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A9B02D5-5C6B-4801-868F-3F8C7B7D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5653980"/>
            <a:ext cx="136475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одбијање</a:t>
            </a:r>
          </a:p>
        </p:txBody>
      </p:sp>
      <p:sp>
        <p:nvSpPr>
          <p:cNvPr id="22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02E8E2A3-224B-4B9A-AA72-4D5ECA1F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524750"/>
            <a:ext cx="25375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ЕЛЕМЕНТИ АНАЛИЗЕ</a:t>
            </a:r>
          </a:p>
        </p:txBody>
      </p:sp>
      <p:sp>
        <p:nvSpPr>
          <p:cNvPr id="23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06AAA4D-20BB-4CF7-80F4-561CB9BF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20930"/>
            <a:ext cx="1000660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сваког корака обухвата покретача, место одлуке и траг који остаје после исхода.</a:t>
            </a:r>
          </a:p>
        </p:txBody>
      </p:sp>
      <p:sp>
        <p:nvSpPr>
          <p:cNvPr id="24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801924A9-4FEA-4AE5-AEE9-C9672B75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09">
            <a:extLst xmlns:a="http://schemas.openxmlformats.org/drawingml/2006/main">
              <a:ext uri="{FF2B5EF4-FFF2-40B4-BE49-F238E27FC236}">
                <a16:creationId xmlns:a16="http://schemas.microsoft.com/office/drawing/2014/main" id="{E7CB3D03-55F9-4D41-8983-FAA79659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213966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D28A1F-18E4-4ED1-B669-938D0B97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A4AFBD-2316-4F8D-AC5F-5DF811FF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2251323"/>
          </a:xfrm>
          <a:prstGeom xmlns:a="http://schemas.openxmlformats.org/drawingml/2006/main" prst="roundRect">
            <a:avLst>
              <a:gd name="adj" fmla="val 6769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597D6-BFB7-4BE7-9C90-DDC2CC7C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80414209af4255"/>
          <a:stretch xmlns:a="http://schemas.openxmlformats.org/drawingml/2006/main"/>
        </p:blipFill>
        <p:spPr>
          <a:xfrm xmlns:a="http://schemas.openxmlformats.org/drawingml/2006/main">
            <a:off x="1219200" y="5286375"/>
            <a:ext cx="15849600" cy="3143250"/>
          </a:xfrm>
          <a:prstGeom xmlns:a="http://schemas.openxmlformats.org/drawingml/2006/main" prst="rect">
            <a:avLst/>
          </a:prstGeom>
        </p:spPr>
      </p:pic>
      <p:sp>
        <p:nvSpPr>
          <p:cNvPr id="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3D32888-9D5D-4E71-8471-3F8F753D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3109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ЖИВОТНИ ЦИКЛУС</a:t>
            </a:r>
          </a:p>
        </p:txBody>
      </p:sp>
      <p:sp>
        <p:nvSpPr>
          <p:cNvPr id="6" name="heading-source-10">
            <a:extLst xmlns:a="http://schemas.openxmlformats.org/drawingml/2006/main">
              <a:ext uri="{FF2B5EF4-FFF2-40B4-BE49-F238E27FC236}">
                <a16:creationId xmlns:a16="http://schemas.microsoft.com/office/drawing/2014/main" id="{6C16A563-E438-4100-AD0C-3B250D6C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714568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Животни циклус податка</a:t>
            </a:r>
          </a:p>
        </p:txBody>
      </p:sp>
      <p:sp>
        <p:nvSpPr>
          <p:cNvPr id="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BCFB5D9-B803-48E6-8906-B7671A27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36649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Процес приказује улазе, место одлуке и доказ који остаје после исхода.</a:t>
            </a:r>
          </a:p>
        </p:txBody>
      </p:sp>
      <p:sp>
        <p:nvSpPr>
          <p:cNvPr id="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09F1E7EC-4721-444E-95C9-FD2C1091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КОНТЕКСТ</a:t>
            </a:r>
          </a:p>
        </p:txBody>
      </p:sp>
      <p:sp>
        <p:nvSpPr>
          <p:cNvPr id="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D4B2B1E2-0A3E-46A2-B405-CE02CAC9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23097"/>
            <a:ext cx="408280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Животни циклус податка</a:t>
            </a:r>
          </a:p>
        </p:txBody>
      </p:sp>
      <p:sp>
        <p:nvSpPr>
          <p:cNvPr id="1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CAC4BDB6-CE58-4708-A380-21C8A61E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50693"/>
            <a:ext cx="156201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Заштита података не завршава се у тренутку читања. Исти податак пролази кроз креирање, употребу, дељење, чување и </a:t>
            </a:r>
          </a:p>
        </p:txBody>
      </p:sp>
      <p:sp>
        <p:nvSpPr>
          <p:cNvPr id="1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1B4BF065-D701-4475-8290-D01B25A7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23954"/>
            <a:ext cx="117876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уклањање. Свака фаза поставља друго питање о дозвољеном приступу и потребном трагу.</a:t>
            </a:r>
          </a:p>
        </p:txBody>
      </p:sp>
      <p:sp>
        <p:nvSpPr>
          <p:cNvPr id="1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067A123-55A5-4458-A22B-35A08922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1311" y="6753225"/>
            <a:ext cx="167893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Креирање</a:t>
            </a:r>
          </a:p>
        </p:txBody>
      </p:sp>
      <p:sp>
        <p:nvSpPr>
          <p:cNvPr id="1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74B373E-09C4-4C49-8789-B0BE1374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259" y="7258050"/>
            <a:ext cx="317718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 креирању се одређују </a:t>
            </a:r>
          </a:p>
        </p:txBody>
      </p:sp>
      <p:sp>
        <p:nvSpPr>
          <p:cNvPr id="1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AB8F560C-E715-4D8D-8302-A249620C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254" y="7578030"/>
            <a:ext cx="316319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власник и класификација.</a:t>
            </a:r>
          </a:p>
        </p:txBody>
      </p:sp>
      <p:sp>
        <p:nvSpPr>
          <p:cNvPr id="1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57565C8B-25E2-40FF-894D-95A2962A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2159" y="6753225"/>
            <a:ext cx="18944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Коришћење</a:t>
            </a:r>
          </a:p>
        </p:txBody>
      </p:sp>
      <p:sp>
        <p:nvSpPr>
          <p:cNvPr id="1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F8CF5A0A-294A-4692-8C00-81FA2D10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3959" y="7258050"/>
            <a:ext cx="357098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 коришћењу се проверава </a:t>
            </a:r>
          </a:p>
        </p:txBody>
      </p:sp>
      <p:sp>
        <p:nvSpPr>
          <p:cNvPr id="1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4840349-85D8-4571-85D7-266633E6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66" y="7578030"/>
            <a:ext cx="289961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сврха и опсег приступа.</a:t>
            </a:r>
          </a:p>
        </p:txBody>
      </p:sp>
      <p:sp>
        <p:nvSpPr>
          <p:cNvPr id="18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C0060A3-B71B-4D39-9E11-3238F049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2066" y="6753225"/>
            <a:ext cx="14519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Дељење</a:t>
            </a:r>
          </a:p>
        </p:txBody>
      </p:sp>
      <p:sp>
        <p:nvSpPr>
          <p:cNvPr id="19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650CAF6C-3F75-4556-8225-FA67719C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50" y="7258050"/>
            <a:ext cx="318760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 дељењу се проверава </a:t>
            </a:r>
          </a:p>
        </p:txBody>
      </p:sp>
      <p:sp>
        <p:nvSpPr>
          <p:cNvPr id="20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EEF3602B-02EB-4662-91CC-3C527404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3039" y="7578030"/>
            <a:ext cx="254987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граница поверења и </a:t>
            </a:r>
          </a:p>
        </p:txBody>
      </p:sp>
      <p:sp>
        <p:nvSpPr>
          <p:cNvPr id="21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99498329-3A5E-4B55-9C02-D4E87679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4009" y="7898011"/>
            <a:ext cx="322793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минимални скуп података.</a:t>
            </a:r>
          </a:p>
        </p:txBody>
      </p:sp>
      <p:sp>
        <p:nvSpPr>
          <p:cNvPr id="22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484F5FFA-CED9-437B-B3F2-B4F38FC0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526" y="6753225"/>
            <a:ext cx="294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Чување / уклањање</a:t>
            </a:r>
          </a:p>
        </p:txBody>
      </p:sp>
      <p:sp>
        <p:nvSpPr>
          <p:cNvPr id="23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47B2456B-9E0F-45F6-AB0A-8DECBEC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0684" y="7258050"/>
            <a:ext cx="355178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 чувању и уклањању важе </a:t>
            </a:r>
          </a:p>
        </p:txBody>
      </p:sp>
      <p:sp>
        <p:nvSpPr>
          <p:cNvPr id="24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DFCAF96D-1B7F-4514-9D7F-464309E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7461" y="7578030"/>
            <a:ext cx="36983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правила задржавања података </a:t>
            </a:r>
          </a:p>
        </p:txBody>
      </p:sp>
      <p:sp>
        <p:nvSpPr>
          <p:cNvPr id="25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853276F0-7396-4168-AF71-8980A43D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2443" y="7898011"/>
            <a:ext cx="206826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 audit правила.</a:t>
            </a:r>
          </a:p>
        </p:txBody>
      </p:sp>
      <p:sp>
        <p:nvSpPr>
          <p:cNvPr id="26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7638154B-0401-4034-BE8E-D44CE0B4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7" name="text-source-10">
            <a:extLst xmlns:a="http://schemas.openxmlformats.org/drawingml/2006/main">
              <a:ext uri="{FF2B5EF4-FFF2-40B4-BE49-F238E27FC236}">
                <a16:creationId xmlns:a16="http://schemas.microsoft.com/office/drawing/2014/main" id="{3D0251D5-B2DA-4E84-BB63-F2C015EC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58744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1C2628-DBEF-4641-ADA3-A1C4108C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2992F-DE29-4A40-A93B-35E22694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914204"/>
          </a:xfrm>
          <a:prstGeom xmlns:a="http://schemas.openxmlformats.org/drawingml/2006/main" prst="roundRect">
            <a:avLst>
              <a:gd name="adj" fmla="val 523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7315B-8A65-4DFD-A53D-164CD955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914204"/>
          </a:xfrm>
          <a:prstGeom xmlns:a="http://schemas.openxmlformats.org/drawingml/2006/main" prst="roundRect">
            <a:avLst>
              <a:gd name="adj" fmla="val 523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2DA89-9AB4-498C-85DD-C20E83AF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914204"/>
          </a:xfrm>
          <a:prstGeom xmlns:a="http://schemas.openxmlformats.org/drawingml/2006/main" prst="roundRect">
            <a:avLst>
              <a:gd name="adj" fmla="val 523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8E5245-1F8F-4DA3-980F-D4F094B6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9221B3DD-51AB-4B5F-9B37-97078AA1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217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ПРАВИЛА</a:t>
            </a:r>
          </a:p>
        </p:txBody>
      </p:sp>
      <p:sp>
        <p:nvSpPr>
          <p:cNvPr id="7" name="heading-source-11">
            <a:extLst xmlns:a="http://schemas.openxmlformats.org/drawingml/2006/main">
              <a:ext uri="{FF2B5EF4-FFF2-40B4-BE49-F238E27FC236}">
                <a16:creationId xmlns:a16="http://schemas.microsoft.com/office/drawing/2014/main" id="{6E3ED326-D0E6-4710-9DDC-BC5F4180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117979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80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мора имати контекст</a:t>
            </a:r>
          </a:p>
        </p:txBody>
      </p:sp>
      <p:sp>
        <p:nvSpPr>
          <p:cNvPr id="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11524C2E-43F2-4A37-B0C8-8F11A6BC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95481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Наведена правила остају видљива у имплементацији, тестовима и ревизији.</a:t>
            </a:r>
          </a:p>
        </p:txBody>
      </p:sp>
      <p:sp>
        <p:nvSpPr>
          <p:cNvPr id="9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D47E5C67-E9EC-4BCC-A2EE-729A6FA7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0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3C49C520-77DD-4C53-A082-FD364156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396403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права укључује </a:t>
            </a:r>
          </a:p>
        </p:txBody>
      </p:sp>
      <p:sp>
        <p:nvSpPr>
          <p:cNvPr id="11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4D96916C-CBE2-4FC8-80F3-0721846E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74518"/>
            <a:ext cx="396641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субјект, радњу, ресурс и </a:t>
            </a:r>
          </a:p>
        </p:txBody>
      </p:sp>
      <p:sp>
        <p:nvSpPr>
          <p:cNvPr id="12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A416BAC3-6A70-49C1-BDAC-DD9B6851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40188"/>
            <a:ext cx="333032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његову припадност.</a:t>
            </a:r>
          </a:p>
        </p:txBody>
      </p:sp>
      <p:sp>
        <p:nvSpPr>
          <p:cNvPr id="13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FE93E846-B49E-493D-9A34-0CDC7741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86834"/>
            <a:ext cx="21803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Јасно правило</a:t>
            </a:r>
          </a:p>
        </p:txBody>
      </p:sp>
      <p:sp>
        <p:nvSpPr>
          <p:cNvPr id="14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4542FDB4-151F-428D-A7B0-B0A272E8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5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F6F69F50-D5FA-4C9B-A3FF-7FE38C52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484882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Одбијање не треба да открива </a:t>
            </a:r>
          </a:p>
        </p:txBody>
      </p:sp>
      <p:sp>
        <p:nvSpPr>
          <p:cNvPr id="16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42D09C02-1672-47D9-B6C3-C2876116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474518"/>
            <a:ext cx="478303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нити постојање туђег </a:t>
            </a:r>
          </a:p>
        </p:txBody>
      </p:sp>
      <p:sp>
        <p:nvSpPr>
          <p:cNvPr id="17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1F1D3BF2-D4C2-46DF-93B3-698AE30E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840188"/>
            <a:ext cx="324043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осетљивог ресурса.</a:t>
            </a:r>
          </a:p>
        </p:txBody>
      </p:sp>
      <p:sp>
        <p:nvSpPr>
          <p:cNvPr id="18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2BC505B3-3DE0-48C3-B9EB-E10706A2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386834"/>
            <a:ext cx="310113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Проверљива примена</a:t>
            </a:r>
          </a:p>
        </p:txBody>
      </p:sp>
      <p:sp>
        <p:nvSpPr>
          <p:cNvPr id="19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747560CC-D3BC-4261-A8E7-61BBAFE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0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65E713DE-590D-4309-A773-DA2B7CF5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451202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Класификација представља </a:t>
            </a:r>
          </a:p>
        </p:txBody>
      </p:sp>
      <p:sp>
        <p:nvSpPr>
          <p:cNvPr id="21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2F1A2532-529E-4E50-AB00-7992D6A5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474518"/>
            <a:ext cx="408741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улаз у правила руковања </a:t>
            </a:r>
          </a:p>
        </p:txBody>
      </p:sp>
      <p:sp>
        <p:nvSpPr>
          <p:cNvPr id="22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3A8657FC-A0BE-478E-9443-B73F5DDF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840188"/>
            <a:ext cx="191303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подацима.</a:t>
            </a:r>
          </a:p>
        </p:txBody>
      </p:sp>
      <p:sp>
        <p:nvSpPr>
          <p:cNvPr id="23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89107886-F072-443E-BFDB-A54A9D83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386834"/>
            <a:ext cx="21466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Видљив доказ</a:t>
            </a:r>
          </a:p>
        </p:txBody>
      </p:sp>
      <p:sp>
        <p:nvSpPr>
          <p:cNvPr id="24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59BDDAA7-D5A8-40CD-8160-B0ED4853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5" name="text-source-11">
            <a:extLst xmlns:a="http://schemas.openxmlformats.org/drawingml/2006/main">
              <a:ext uri="{FF2B5EF4-FFF2-40B4-BE49-F238E27FC236}">
                <a16:creationId xmlns:a16="http://schemas.microsoft.com/office/drawing/2014/main" id="{C427EB30-5920-4D4E-9B3E-1EDDFCA4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368358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365F1-A9AF-4D82-AAA5-5CE00B95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82B4D-44C3-47EB-B162-48CDC80D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5849600" cy="2464743"/>
          </a:xfrm>
          <a:prstGeom xmlns:a="http://schemas.openxmlformats.org/drawingml/2006/main" prst="roundRect">
            <a:avLst>
              <a:gd name="adj" fmla="val 618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04CB3-AC91-4C6A-BA23-7372CD59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b39835f37495e"/>
          <a:stretch xmlns:a="http://schemas.openxmlformats.org/drawingml/2006/main"/>
        </p:blipFill>
        <p:spPr>
          <a:xfrm xmlns:a="http://schemas.openxmlformats.org/drawingml/2006/main">
            <a:off x="1219200" y="5791200"/>
            <a:ext cx="15849600" cy="2000250"/>
          </a:xfrm>
          <a:prstGeom xmlns:a="http://schemas.openxmlformats.org/drawingml/2006/main" prst="rect">
            <a:avLst/>
          </a:prstGeom>
        </p:spPr>
      </p:pic>
      <p:sp>
        <p:nvSpPr>
          <p:cNvPr id="5" name="text-case">
            <a:extLst xmlns:a="http://schemas.openxmlformats.org/drawingml/2006/main">
              <a:ext uri="{FF2B5EF4-FFF2-40B4-BE49-F238E27FC236}">
                <a16:creationId xmlns:a16="http://schemas.microsoft.com/office/drawing/2014/main" id="{AFB0AE80-2C19-4DC4-A468-D6906B8D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СЛУЧАЈ</a:t>
            </a:r>
          </a:p>
        </p:txBody>
      </p:sp>
      <p:sp>
        <p:nvSpPr>
          <p:cNvPr id="6" name="heading-case">
            <a:extLst xmlns:a="http://schemas.openxmlformats.org/drawingml/2006/main">
              <a:ext uri="{FF2B5EF4-FFF2-40B4-BE49-F238E27FC236}">
                <a16:creationId xmlns:a16="http://schemas.microsoft.com/office/drawing/2014/main" id="{CC78103E-7D2A-4F50-AD5E-E339D731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113502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37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Случај: исправна улога, погрешан запис</a:t>
            </a:r>
          </a:p>
        </p:txBody>
      </p:sp>
      <p:sp>
        <p:nvSpPr>
          <p:cNvPr id="7" name="text-case">
            <a:extLst xmlns:a="http://schemas.openxmlformats.org/drawingml/2006/main">
              <a:ext uri="{FF2B5EF4-FFF2-40B4-BE49-F238E27FC236}">
                <a16:creationId xmlns:a16="http://schemas.microsoft.com/office/drawing/2014/main" id="{0D982711-F055-46B9-A48D-0B7FA48E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633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Случај повезује опште правило са конкретним контекстом, серверском провером и очекиваним исходом.</a:t>
            </a:r>
          </a:p>
        </p:txBody>
      </p:sp>
      <p:sp>
        <p:nvSpPr>
          <p:cNvPr id="8" name="text-case">
            <a:extLst xmlns:a="http://schemas.openxmlformats.org/drawingml/2006/main">
              <a:ext uri="{FF2B5EF4-FFF2-40B4-BE49-F238E27FC236}">
                <a16:creationId xmlns:a16="http://schemas.microsoft.com/office/drawing/2014/main" id="{442AB7F3-360A-453B-A44A-D62207E9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СЦЕНАРИО</a:t>
            </a:r>
          </a:p>
        </p:txBody>
      </p:sp>
      <p:sp>
        <p:nvSpPr>
          <p:cNvPr id="9" name="text-case">
            <a:extLst xmlns:a="http://schemas.openxmlformats.org/drawingml/2006/main">
              <a:ext uri="{FF2B5EF4-FFF2-40B4-BE49-F238E27FC236}">
                <a16:creationId xmlns:a16="http://schemas.microsoft.com/office/drawing/2014/main" id="{4E841FD2-9F18-4FA7-B38D-C3B4EC70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23097"/>
            <a:ext cx="648101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Пример: исправна улога, погрешан запис</a:t>
            </a:r>
          </a:p>
        </p:txBody>
      </p:sp>
      <p:sp>
        <p:nvSpPr>
          <p:cNvPr id="10" name="text-case">
            <a:extLst xmlns:a="http://schemas.openxmlformats.org/drawingml/2006/main">
              <a:ext uri="{FF2B5EF4-FFF2-40B4-BE49-F238E27FC236}">
                <a16:creationId xmlns:a16="http://schemas.microsoft.com/office/drawing/2014/main" id="{6240EDB2-F476-4072-ADAC-29899B8B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1168"/>
            <a:ext cx="1486153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Два члана тима имају исту улогу и обојица могу да прегледају захтеве. Један мења идентификатор у адреси захтева и долази до туђег </a:t>
            </a:r>
          </a:p>
        </p:txBody>
      </p:sp>
      <p:sp>
        <p:nvSpPr>
          <p:cNvPr id="11" name="text-case">
            <a:extLst xmlns:a="http://schemas.openxmlformats.org/drawingml/2006/main">
              <a:ext uri="{FF2B5EF4-FFF2-40B4-BE49-F238E27FC236}">
                <a16:creationId xmlns:a16="http://schemas.microsoft.com/office/drawing/2014/main" id="{79E4B9ED-DD5B-4CB3-A376-21C396B9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1148"/>
            <a:ext cx="1544746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записа. Систем који проверава само улогу сматра захтев дозвољеним, иако се променио најважнији део контекста: однос корисника према </a:t>
            </a:r>
          </a:p>
        </p:txBody>
      </p:sp>
      <p:sp>
        <p:nvSpPr>
          <p:cNvPr id="12" name="text-case">
            <a:extLst xmlns:a="http://schemas.openxmlformats.org/drawingml/2006/main">
              <a:ext uri="{FF2B5EF4-FFF2-40B4-BE49-F238E27FC236}">
                <a16:creationId xmlns:a16="http://schemas.microsoft.com/office/drawing/2014/main" id="{F8F04751-0C55-49FE-9746-4C86E7A2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1129"/>
            <a:ext cx="260136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конкретном ресурсу.</a:t>
            </a:r>
          </a:p>
        </p:txBody>
      </p:sp>
      <p:sp>
        <p:nvSpPr>
          <p:cNvPr id="13" name="text-case">
            <a:extLst xmlns:a="http://schemas.openxmlformats.org/drawingml/2006/main">
              <a:ext uri="{FF2B5EF4-FFF2-40B4-BE49-F238E27FC236}">
                <a16:creationId xmlns:a16="http://schemas.microsoft.com/office/drawing/2014/main" id="{E5312A02-9F32-44DB-A391-77C42CFA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3141" y="6267450"/>
            <a:ext cx="1820019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Иста улога</a:t>
            </a:r>
          </a:p>
        </p:txBody>
      </p:sp>
      <p:sp>
        <p:nvSpPr>
          <p:cNvPr id="14" name="text-case">
            <a:extLst xmlns:a="http://schemas.openxmlformats.org/drawingml/2006/main">
              <a:ext uri="{FF2B5EF4-FFF2-40B4-BE49-F238E27FC236}">
                <a16:creationId xmlns:a16="http://schemas.microsoft.com/office/drawing/2014/main" id="{F5B88BEC-5966-4CB2-957C-145FD478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6248" y="6734175"/>
            <a:ext cx="211395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корисник Марко</a:t>
            </a:r>
          </a:p>
        </p:txBody>
      </p:sp>
      <p:sp>
        <p:nvSpPr>
          <p:cNvPr id="15" name="text-case">
            <a:extLst xmlns:a="http://schemas.openxmlformats.org/drawingml/2006/main">
              <a:ext uri="{FF2B5EF4-FFF2-40B4-BE49-F238E27FC236}">
                <a16:creationId xmlns:a16="http://schemas.microsoft.com/office/drawing/2014/main" id="{0A0B48D4-3633-437A-849D-718AB077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6345" y="6362700"/>
            <a:ext cx="297060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>
                <a:latin typeface="IBM Plex Sans"/>
                <a:ea typeface="IBM Plex Sans"/>
                <a:cs typeface="IBM Plex Sans"/>
              </a:defRPr>
            </a:pPr>
            <a:r>
              <a:rPr sz="1950" b="0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record-17 → record-93</a:t>
            </a:r>
          </a:p>
        </p:txBody>
      </p:sp>
      <p:sp>
        <p:nvSpPr>
          <p:cNvPr id="16" name="text-case">
            <a:extLst xmlns:a="http://schemas.openxmlformats.org/drawingml/2006/main">
              <a:ext uri="{FF2B5EF4-FFF2-40B4-BE49-F238E27FC236}">
                <a16:creationId xmlns:a16="http://schemas.microsoft.com/office/drawing/2014/main" id="{DB1D16DD-C5B8-4CB4-AD0B-04D2A21D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227" y="6267450"/>
            <a:ext cx="31371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Променио се власник</a:t>
            </a:r>
          </a:p>
        </p:txBody>
      </p:sp>
      <p:sp>
        <p:nvSpPr>
          <p:cNvPr id="17" name="text-case">
            <a:extLst xmlns:a="http://schemas.openxmlformats.org/drawingml/2006/main">
              <a:ext uri="{FF2B5EF4-FFF2-40B4-BE49-F238E27FC236}">
                <a16:creationId xmlns:a16="http://schemas.microsoft.com/office/drawing/2014/main" id="{3B316EBA-04CC-4206-A0B6-8D28D8F0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3159" y="6734175"/>
            <a:ext cx="259943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одбијање на серверу</a:t>
            </a:r>
          </a:p>
        </p:txBody>
      </p:sp>
      <p:sp>
        <p:nvSpPr>
          <p:cNvPr id="18" name="text-case">
            <a:extLst xmlns:a="http://schemas.openxmlformats.org/drawingml/2006/main">
              <a:ext uri="{FF2B5EF4-FFF2-40B4-BE49-F238E27FC236}">
                <a16:creationId xmlns:a16="http://schemas.microsoft.com/office/drawing/2014/main" id="{A9490985-5093-4214-9C5E-B1AD8FC3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9" name="text-case">
            <a:extLst xmlns:a="http://schemas.openxmlformats.org/drawingml/2006/main">
              <a:ext uri="{FF2B5EF4-FFF2-40B4-BE49-F238E27FC236}">
                <a16:creationId xmlns:a16="http://schemas.microsoft.com/office/drawing/2014/main" id="{80F847FF-B492-4999-AD7D-4B16A321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141850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290EC4-CB67-456A-A47A-46C8DE18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69A51-FF19-40CB-A511-EE285E91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47752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410F6-5D84-44F2-AC6C-4E07BB94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60999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CA54B-E20C-43D4-9CAC-87BF3A55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74246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0FA8C-E87A-47B7-ADE5-A578A157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10329506-6CF9-468F-8989-EC76BE9E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467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АНАЛИЗА СЛУЧАЈА</a:t>
            </a:r>
          </a:p>
        </p:txBody>
      </p:sp>
      <p:sp>
        <p:nvSpPr>
          <p:cNvPr id="7" name="heading-case-analysis">
            <a:extLst xmlns:a="http://schemas.openxmlformats.org/drawingml/2006/main">
              <a:ext uri="{FF2B5EF4-FFF2-40B4-BE49-F238E27FC236}">
                <a16:creationId xmlns:a16="http://schemas.microsoft.com/office/drawing/2014/main" id="{EF73576B-0540-4D89-B70F-0F6335EC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40489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341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Три питања за серверску границу</a:t>
            </a:r>
          </a:p>
        </p:txBody>
      </p:sp>
      <p:sp>
        <p:nvSpPr>
          <p:cNvPr id="8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B6793B9F-128E-4F0C-A764-E1FDA1C7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29780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9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131E8521-460B-483F-BE75-F0F8DB3E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20255"/>
            <a:ext cx="15254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</a:t>
            </a:r>
          </a:p>
        </p:txBody>
      </p:sp>
      <p:sp>
        <p:nvSpPr>
          <p:cNvPr id="10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E07AA59C-E991-4CB7-9126-55960C23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20255"/>
            <a:ext cx="968900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Одлука укључује идентитет, тражену радњу, ресурс и припадност ресурса </a:t>
            </a:r>
          </a:p>
        </p:txBody>
      </p:sp>
      <p:sp>
        <p:nvSpPr>
          <p:cNvPr id="11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FC3F0789-7FAC-409B-9C17-74AC7F5E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93516"/>
            <a:ext cx="50059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одговарајућем домену или власнику.</a:t>
            </a:r>
          </a:p>
        </p:txBody>
      </p:sp>
      <p:sp>
        <p:nvSpPr>
          <p:cNvPr id="12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6F214E59-48D0-42E6-98D2-F123E541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43027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3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43BF2E4B-150C-4C17-B169-8B772DC6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33502"/>
            <a:ext cx="139273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Обухват</a:t>
            </a:r>
          </a:p>
        </p:txBody>
      </p:sp>
      <p:sp>
        <p:nvSpPr>
          <p:cNvPr id="14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BF0C62FC-4223-42F8-B5DE-93A2BEDC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33502"/>
            <a:ext cx="106885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Исти принцип важи за API позив, извоз података и позадинску обраду, не само за </a:t>
            </a:r>
          </a:p>
        </p:txBody>
      </p:sp>
      <p:sp>
        <p:nvSpPr>
          <p:cNvPr id="15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82B8F583-D427-49EA-AA90-9EAB5FBB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06763"/>
            <a:ext cx="368602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екран који корисник види.</a:t>
            </a:r>
          </a:p>
        </p:txBody>
      </p:sp>
      <p:sp>
        <p:nvSpPr>
          <p:cNvPr id="16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850C3E62-2825-4953-8F8A-676ECE24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6274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7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451823A2-78EF-495F-97A4-010368AC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46749"/>
            <a:ext cx="11412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Доказ</a:t>
            </a:r>
          </a:p>
        </p:txBody>
      </p:sp>
      <p:sp>
        <p:nvSpPr>
          <p:cNvPr id="18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A3CEEB26-F8D7-4D9C-BE4F-7FE7C352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46749"/>
            <a:ext cx="100591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Одговор на одбијени приступ треба да буде користан клијенту, али не сме да </a:t>
            </a:r>
          </a:p>
        </p:txBody>
      </p:sp>
      <p:sp>
        <p:nvSpPr>
          <p:cNvPr id="19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FDD6D40F-822A-4F1D-93D3-20360FEC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20010"/>
            <a:ext cx="51832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открије податке о заштићеном запису.</a:t>
            </a:r>
          </a:p>
        </p:txBody>
      </p:sp>
      <p:sp>
        <p:nvSpPr>
          <p:cNvPr id="20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23024EF5-F1EA-44DD-95C1-C40138CA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1" name="text-case-analysis">
            <a:extLst xmlns:a="http://schemas.openxmlformats.org/drawingml/2006/main">
              <a:ext uri="{FF2B5EF4-FFF2-40B4-BE49-F238E27FC236}">
                <a16:creationId xmlns:a16="http://schemas.microsoft.com/office/drawing/2014/main" id="{F85AFC2C-CBDE-42C9-8769-82DF851C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4515448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69D35D-5024-4797-BDE4-6791210C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FE897-A9D8-4FCA-9376-5019C51C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334250"/>
            <a:ext cx="15849600" cy="1097161"/>
          </a:xfrm>
          <a:prstGeom xmlns:a="http://schemas.openxmlformats.org/drawingml/2006/main" prst="roundRect">
            <a:avLst>
              <a:gd name="adj" fmla="val 10418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C35E2AFB-8C2C-410D-8308-2CCA39DE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334250"/>
            <a:ext cx="114300" cy="1097161"/>
          </a:xfrm>
          <a:custGeom xmlns:a="http://schemas.openxmlformats.org/drawingml/2006/main">
            <a:pathLst>
              <a:path w="114300" h="109716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982861"/>
                </a:lnTo>
                <a:lnTo>
                  <a:pt x="61" y="986601"/>
                </a:lnTo>
                <a:lnTo>
                  <a:pt x="245" y="990337"/>
                </a:lnTo>
                <a:lnTo>
                  <a:pt x="550" y="994064"/>
                </a:lnTo>
                <a:lnTo>
                  <a:pt x="978" y="997780"/>
                </a:lnTo>
                <a:lnTo>
                  <a:pt x="1527" y="1001480"/>
                </a:lnTo>
                <a:lnTo>
                  <a:pt x="2196" y="1005160"/>
                </a:lnTo>
                <a:lnTo>
                  <a:pt x="2986" y="1008816"/>
                </a:lnTo>
                <a:lnTo>
                  <a:pt x="3895" y="1012444"/>
                </a:lnTo>
                <a:lnTo>
                  <a:pt x="4922" y="1016040"/>
                </a:lnTo>
                <a:lnTo>
                  <a:pt x="6066" y="1019601"/>
                </a:lnTo>
                <a:lnTo>
                  <a:pt x="7326" y="1023123"/>
                </a:lnTo>
                <a:lnTo>
                  <a:pt x="8701" y="1026602"/>
                </a:lnTo>
                <a:lnTo>
                  <a:pt x="10188" y="1030033"/>
                </a:lnTo>
                <a:lnTo>
                  <a:pt x="11787" y="1033415"/>
                </a:lnTo>
                <a:lnTo>
                  <a:pt x="13496" y="1036742"/>
                </a:lnTo>
                <a:lnTo>
                  <a:pt x="15313" y="1040011"/>
                </a:lnTo>
                <a:lnTo>
                  <a:pt x="17236" y="1043219"/>
                </a:lnTo>
                <a:lnTo>
                  <a:pt x="19263" y="1046363"/>
                </a:lnTo>
                <a:lnTo>
                  <a:pt x="21392" y="1049438"/>
                </a:lnTo>
                <a:lnTo>
                  <a:pt x="23620" y="1052442"/>
                </a:lnTo>
                <a:lnTo>
                  <a:pt x="25945" y="1055372"/>
                </a:lnTo>
                <a:lnTo>
                  <a:pt x="28365" y="1058224"/>
                </a:lnTo>
                <a:lnTo>
                  <a:pt x="30877" y="1060996"/>
                </a:lnTo>
                <a:lnTo>
                  <a:pt x="33478" y="1063683"/>
                </a:lnTo>
                <a:lnTo>
                  <a:pt x="36165" y="1066284"/>
                </a:lnTo>
                <a:lnTo>
                  <a:pt x="38937" y="1068796"/>
                </a:lnTo>
                <a:lnTo>
                  <a:pt x="41789" y="1071216"/>
                </a:lnTo>
                <a:lnTo>
                  <a:pt x="44719" y="1073541"/>
                </a:lnTo>
                <a:lnTo>
                  <a:pt x="47723" y="1075769"/>
                </a:lnTo>
                <a:lnTo>
                  <a:pt x="50798" y="1077898"/>
                </a:lnTo>
                <a:lnTo>
                  <a:pt x="53942" y="1079925"/>
                </a:lnTo>
                <a:lnTo>
                  <a:pt x="57150" y="1081848"/>
                </a:lnTo>
                <a:lnTo>
                  <a:pt x="60419" y="1083665"/>
                </a:lnTo>
                <a:lnTo>
                  <a:pt x="63746" y="1085373"/>
                </a:lnTo>
                <a:lnTo>
                  <a:pt x="67128" y="1086973"/>
                </a:lnTo>
                <a:lnTo>
                  <a:pt x="70559" y="1088460"/>
                </a:lnTo>
                <a:lnTo>
                  <a:pt x="74038" y="1089835"/>
                </a:lnTo>
                <a:lnTo>
                  <a:pt x="77559" y="1091095"/>
                </a:lnTo>
                <a:lnTo>
                  <a:pt x="81120" y="1092239"/>
                </a:lnTo>
                <a:lnTo>
                  <a:pt x="84717" y="1093266"/>
                </a:lnTo>
                <a:lnTo>
                  <a:pt x="88345" y="1094175"/>
                </a:lnTo>
                <a:lnTo>
                  <a:pt x="92001" y="1094965"/>
                </a:lnTo>
                <a:lnTo>
                  <a:pt x="95681" y="1095634"/>
                </a:lnTo>
                <a:lnTo>
                  <a:pt x="99381" y="1096183"/>
                </a:lnTo>
                <a:lnTo>
                  <a:pt x="103097" y="1096611"/>
                </a:lnTo>
                <a:lnTo>
                  <a:pt x="106824" y="1096916"/>
                </a:lnTo>
                <a:lnTo>
                  <a:pt x="110560" y="1097100"/>
                </a:lnTo>
                <a:lnTo>
                  <a:pt x="114300" y="1097161"/>
                </a:lnTo>
                <a:lnTo>
                  <a:pt x="114300" y="1097161"/>
                </a:lnTo>
                <a:lnTo>
                  <a:pt x="112430" y="1097100"/>
                </a:lnTo>
                <a:lnTo>
                  <a:pt x="110562" y="1096916"/>
                </a:lnTo>
                <a:lnTo>
                  <a:pt x="108698" y="1096611"/>
                </a:lnTo>
                <a:lnTo>
                  <a:pt x="106840" y="1096183"/>
                </a:lnTo>
                <a:lnTo>
                  <a:pt x="104991" y="1095634"/>
                </a:lnTo>
                <a:lnTo>
                  <a:pt x="103151" y="1094965"/>
                </a:lnTo>
                <a:lnTo>
                  <a:pt x="101323" y="1094175"/>
                </a:lnTo>
                <a:lnTo>
                  <a:pt x="99508" y="1093266"/>
                </a:lnTo>
                <a:lnTo>
                  <a:pt x="97710" y="1092239"/>
                </a:lnTo>
                <a:lnTo>
                  <a:pt x="95930" y="1091095"/>
                </a:lnTo>
                <a:lnTo>
                  <a:pt x="94169" y="1089835"/>
                </a:lnTo>
                <a:lnTo>
                  <a:pt x="92430" y="1088460"/>
                </a:lnTo>
                <a:lnTo>
                  <a:pt x="90714" y="1086973"/>
                </a:lnTo>
                <a:lnTo>
                  <a:pt x="89023" y="1085373"/>
                </a:lnTo>
                <a:lnTo>
                  <a:pt x="87360" y="1083665"/>
                </a:lnTo>
                <a:lnTo>
                  <a:pt x="85725" y="1081848"/>
                </a:lnTo>
                <a:lnTo>
                  <a:pt x="84121" y="1079925"/>
                </a:lnTo>
                <a:lnTo>
                  <a:pt x="82549" y="1077898"/>
                </a:lnTo>
                <a:lnTo>
                  <a:pt x="81011" y="1075769"/>
                </a:lnTo>
                <a:lnTo>
                  <a:pt x="79509" y="1073541"/>
                </a:lnTo>
                <a:lnTo>
                  <a:pt x="78044" y="1071216"/>
                </a:lnTo>
                <a:lnTo>
                  <a:pt x="76618" y="1068796"/>
                </a:lnTo>
                <a:lnTo>
                  <a:pt x="75233" y="1066284"/>
                </a:lnTo>
                <a:lnTo>
                  <a:pt x="73889" y="1063683"/>
                </a:lnTo>
                <a:lnTo>
                  <a:pt x="72588" y="1060996"/>
                </a:lnTo>
                <a:lnTo>
                  <a:pt x="71332" y="1058224"/>
                </a:lnTo>
                <a:lnTo>
                  <a:pt x="70122" y="1055372"/>
                </a:lnTo>
                <a:lnTo>
                  <a:pt x="68960" y="1052442"/>
                </a:lnTo>
                <a:lnTo>
                  <a:pt x="67846" y="1049438"/>
                </a:lnTo>
                <a:lnTo>
                  <a:pt x="66782" y="1046363"/>
                </a:lnTo>
                <a:lnTo>
                  <a:pt x="65768" y="1043219"/>
                </a:lnTo>
                <a:lnTo>
                  <a:pt x="64807" y="1040011"/>
                </a:lnTo>
                <a:lnTo>
                  <a:pt x="63898" y="1036742"/>
                </a:lnTo>
                <a:lnTo>
                  <a:pt x="63044" y="1033415"/>
                </a:lnTo>
                <a:lnTo>
                  <a:pt x="62244" y="1030033"/>
                </a:lnTo>
                <a:lnTo>
                  <a:pt x="61500" y="1026602"/>
                </a:lnTo>
                <a:lnTo>
                  <a:pt x="60813" y="1023123"/>
                </a:lnTo>
                <a:lnTo>
                  <a:pt x="60183" y="1019601"/>
                </a:lnTo>
                <a:lnTo>
                  <a:pt x="59611" y="1016040"/>
                </a:lnTo>
                <a:lnTo>
                  <a:pt x="59097" y="1012444"/>
                </a:lnTo>
                <a:lnTo>
                  <a:pt x="58643" y="1008816"/>
                </a:lnTo>
                <a:lnTo>
                  <a:pt x="58248" y="1005160"/>
                </a:lnTo>
                <a:lnTo>
                  <a:pt x="57913" y="1001480"/>
                </a:lnTo>
                <a:lnTo>
                  <a:pt x="57639" y="997780"/>
                </a:lnTo>
                <a:lnTo>
                  <a:pt x="57425" y="994064"/>
                </a:lnTo>
                <a:lnTo>
                  <a:pt x="57272" y="990337"/>
                </a:lnTo>
                <a:lnTo>
                  <a:pt x="57181" y="986601"/>
                </a:lnTo>
                <a:lnTo>
                  <a:pt x="57150" y="98286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092CA-31E6-4F14-8100-A5D8AA00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a0b9e8f52453e"/>
          <a:stretch xmlns:a="http://schemas.openxmlformats.org/drawingml/2006/main"/>
        </p:blipFill>
        <p:spPr>
          <a:xfrm xmlns:a="http://schemas.openxmlformats.org/drawingml/2006/main">
            <a:off x="1219200" y="3352800"/>
            <a:ext cx="1584960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37C6CD39-D0CD-45C9-B891-1CF28493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84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ШЕМА ОДЛУКЕ</a:t>
            </a:r>
          </a:p>
        </p:txBody>
      </p:sp>
      <p:sp>
        <p:nvSpPr>
          <p:cNvPr id="7" name="heading-decision-tree">
            <a:extLst xmlns:a="http://schemas.openxmlformats.org/drawingml/2006/main">
              <a:ext uri="{FF2B5EF4-FFF2-40B4-BE49-F238E27FC236}">
                <a16:creationId xmlns:a16="http://schemas.microsoft.com/office/drawing/2014/main" id="{CBAFBDA3-179A-4F9C-A984-ABE17E86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0624691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78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Власништво мења исход за исту улогу</a:t>
            </a:r>
          </a:p>
        </p:txBody>
      </p:sp>
      <p:sp>
        <p:nvSpPr>
          <p:cNvPr id="8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22A19974-350E-4992-A7FD-3449A047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9360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Шема читања је изведена из наставног примера политике на наредним слајдовима.</a:t>
            </a:r>
          </a:p>
        </p:txBody>
      </p:sp>
      <p:sp>
        <p:nvSpPr>
          <p:cNvPr id="9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E97A6379-BDBD-4E90-8C22-FAE87D69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823" y="4657725"/>
            <a:ext cx="209490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ReadRecords</a:t>
            </a:r>
          </a:p>
        </p:txBody>
      </p:sp>
      <p:sp>
        <p:nvSpPr>
          <p:cNvPr id="10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AAC84957-4C9E-4569-A23C-176FE201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28" y="5124450"/>
            <a:ext cx="302314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постоји основна дозвола</a:t>
            </a:r>
          </a:p>
        </p:txBody>
      </p:sp>
      <p:sp>
        <p:nvSpPr>
          <p:cNvPr id="11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9E57B1A3-FA12-4BC3-A131-63892A78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243" y="3867150"/>
            <a:ext cx="2690366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Власник ресурса</a:t>
            </a:r>
          </a:p>
        </p:txBody>
      </p:sp>
      <p:sp>
        <p:nvSpPr>
          <p:cNvPr id="12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1C2EED37-D351-43DB-877B-9961CFAF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279" y="4333875"/>
            <a:ext cx="173444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B0213C"/>
                </a:solidFill>
                <a:latin typeface="IBM Plex Sans"/>
                <a:ea typeface="IBM Plex Sans"/>
                <a:cs typeface="IBM Plex Sans"/>
              </a:rPr>
              <a:t>OwnerAccess</a:t>
            </a:r>
          </a:p>
        </p:txBody>
      </p:sp>
      <p:sp>
        <p:nvSpPr>
          <p:cNvPr id="13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E3B844D3-91E6-47C5-B702-A9B53D0D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351" y="6105525"/>
            <a:ext cx="2578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1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Други корисник</a:t>
            </a:r>
          </a:p>
        </p:txBody>
      </p:sp>
      <p:sp>
        <p:nvSpPr>
          <p:cNvPr id="14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7D4ECC81-DD49-4A93-9A35-3A98D83B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9535" y="6572250"/>
            <a:ext cx="296778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ReadAnyRecord + ознака</a:t>
            </a:r>
          </a:p>
        </p:txBody>
      </p:sp>
      <p:sp>
        <p:nvSpPr>
          <p:cNvPr id="15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4D41C9E2-E992-4E86-833D-906AE674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027" y="3943350"/>
            <a:ext cx="306094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Приступ свом запису</a:t>
            </a:r>
          </a:p>
        </p:txBody>
      </p:sp>
      <p:sp>
        <p:nvSpPr>
          <p:cNvPr id="16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1E24E996-3830-4BE5-BDF8-53E87AAC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0965" y="6181725"/>
            <a:ext cx="271507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A8520A"/>
                </a:solidFill>
                <a:latin typeface="IBM Plex Sans"/>
                <a:ea typeface="IBM Plex Sans"/>
                <a:cs typeface="IBM Plex Sans"/>
              </a:rPr>
              <a:t>Restricted → одбиј</a:t>
            </a:r>
          </a:p>
        </p:txBody>
      </p:sp>
      <p:sp>
        <p:nvSpPr>
          <p:cNvPr id="17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DF5C4AA5-F313-414E-AC8E-26CD35C5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524750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Илустративни модел</a:t>
            </a:r>
          </a:p>
        </p:txBody>
      </p:sp>
      <p:sp>
        <p:nvSpPr>
          <p:cNvPr id="18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A9A13699-7A55-4C19-8A0B-4A950BD1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20930"/>
            <a:ext cx="12614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Без ReadRecords одбија се сваки приступ. За туђи запис потребни су ReadAnyRecord и дозвољена класификација.</a:t>
            </a:r>
          </a:p>
        </p:txBody>
      </p:sp>
      <p:sp>
        <p:nvSpPr>
          <p:cNvPr id="19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E6EA0B5D-23FA-45B9-BA7B-E257225F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0" name="text-decision-tree">
            <a:extLst xmlns:a="http://schemas.openxmlformats.org/drawingml/2006/main">
              <a:ext uri="{FF2B5EF4-FFF2-40B4-BE49-F238E27FC236}">
                <a16:creationId xmlns:a16="http://schemas.microsoft.com/office/drawing/2014/main" id="{050E95C6-C23E-44AB-BCC5-2F73EA18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595598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B0D24-0270-45CE-8D31-A7B46597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0C857-B377-4AF7-88C8-98055098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53609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3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6FB9EFE4-2207-4185-B3BD-0733A946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53609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170C1-E2B4-4EEB-BC93-B01E50DB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5" name="text-classification-rules">
            <a:extLst xmlns:a="http://schemas.openxmlformats.org/drawingml/2006/main">
              <a:ext uri="{FF2B5EF4-FFF2-40B4-BE49-F238E27FC236}">
                <a16:creationId xmlns:a16="http://schemas.microsoft.com/office/drawing/2014/main" id="{9D261D38-31AB-490D-8831-4F1192BE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1547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 · КЛАСИФИКАЦИЈА</a:t>
            </a:r>
          </a:p>
        </p:txBody>
      </p:sp>
      <p:sp>
        <p:nvSpPr>
          <p:cNvPr id="6" name="heading-classification-rules">
            <a:extLst xmlns:a="http://schemas.openxmlformats.org/drawingml/2006/main">
              <a:ext uri="{FF2B5EF4-FFF2-40B4-BE49-F238E27FC236}">
                <a16:creationId xmlns:a16="http://schemas.microsoft.com/office/drawing/2014/main" id="{E4F0931D-B6A8-4E84-9666-E6DBDAA4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33643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04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Ознака податка је улаз у правило</a:t>
            </a:r>
          </a:p>
        </p:txBody>
      </p:sp>
      <p:sp>
        <p:nvSpPr>
          <p:cNvPr id="7" name="text-classification-rules">
            <a:extLst xmlns:a="http://schemas.openxmlformats.org/drawingml/2006/main">
              <a:ext uri="{FF2B5EF4-FFF2-40B4-BE49-F238E27FC236}">
                <a16:creationId xmlns:a16="http://schemas.microsoft.com/office/drawing/2014/main" id="{E557C153-EE34-4F6E-94FE-64DFD092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44109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Напомена</a:t>
            </a:r>
          </a:p>
        </p:txBody>
      </p:sp>
      <p:sp>
        <p:nvSpPr>
          <p:cNvPr id="8" name="text-classification-rules">
            <a:extLst xmlns:a="http://schemas.openxmlformats.org/drawingml/2006/main">
              <a:ext uri="{FF2B5EF4-FFF2-40B4-BE49-F238E27FC236}">
                <a16:creationId xmlns:a16="http://schemas.microsoft.com/office/drawing/2014/main" id="{14FAD62E-9E9E-44B4-8FB4-2640C996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849814"/>
            <a:ext cx="14173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Ово је матрица исхода достављеног наставног кода. Конкретне ознаке и правила одређује политика система.</a:t>
            </a:r>
          </a:p>
        </p:txBody>
      </p:sp>
      <p:sp>
        <p:nvSpPr>
          <p:cNvPr id="9" name="text-classification-rules">
            <a:extLst xmlns:a="http://schemas.openxmlformats.org/drawingml/2006/main">
              <a:ext uri="{FF2B5EF4-FFF2-40B4-BE49-F238E27FC236}">
                <a16:creationId xmlns:a16="http://schemas.microsoft.com/office/drawing/2014/main" id="{96865385-599A-4DDE-8E1D-43F1F9F1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0" name="text-classification-rules">
            <a:extLst xmlns:a="http://schemas.openxmlformats.org/drawingml/2006/main">
              <a:ext uri="{FF2B5EF4-FFF2-40B4-BE49-F238E27FC236}">
                <a16:creationId xmlns:a16="http://schemas.microsoft.com/office/drawing/2014/main" id="{0B9FF5FB-AB9B-4DB3-B179-544871F1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1219200" y="2434530"/>
          <a:ext xmlns:a="http://schemas.openxmlformats.org/drawingml/2006/main" cx="15849600" cy="3514279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224016"/>
                <a:gridCol w="6173837"/>
                <a:gridCol w="4432697"/>
              </a:tblGrid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Контекст из примера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0E5E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Шта систем проверава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0E5E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13202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Исход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0E5E5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Власник + ReadRecords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Потврђен идентитет и власништво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OwnerAccess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Други корисник + ReadRecords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Недостаје ReadAnyRecord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NotOwner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ReadAnyRecord + Internal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Шира дозвола и дозвољена ознака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ElevatedAccess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  <a:tr h="69904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ReadAnyRecord + Restricted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Ресурс је ограничен на власника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44505D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RestrictedToOwner</a:t>
                      </a:r>
                    </a:p>
                  </a:txBody>
                  <a:tcPr marL="228600" marR="228600" marT="171450" marB="171450" anchor="ctr">
                    <a:lnL w="9525">
                      <a:solidFill>
                        <a:srgbClr val="D3DAE1"/>
                      </a:solidFill>
                      <a:prstDash val="solid"/>
                    </a:lnL>
                    <a:lnR w="9525">
                      <a:solidFill>
                        <a:srgbClr val="D3DAE1"/>
                      </a:solidFill>
                      <a:prstDash val="solid"/>
                    </a:lnR>
                    <a:lnT w="9525">
                      <a:solidFill>
                        <a:srgbClr val="D3DAE1"/>
                      </a:solidFill>
                      <a:prstDash val="solid"/>
                    </a:lnT>
                    <a:lnB w="9525">
                      <a:solidFill>
                        <a:srgbClr val="D3DAE1"/>
                      </a:solidFill>
                      <a:prstDash val="solid"/>
                    </a:lnB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73745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0E5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8024-AF3A-41F5-92F5-BB48D754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437084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F024A-F9DF-4DFB-A1B6-39EA1F05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184" y="6158657"/>
            <a:ext cx="1937742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DAB1D-E0C1-499B-93C2-43F5A45F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4227" y="6158657"/>
            <a:ext cx="946547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0D6995-17A3-4FE4-B07A-F58E20A8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6BF"/>
          </a:solidFill>
          <a:ln xmlns:a="http://schemas.openxmlformats.org/drawingml/2006/main" w="0">
            <a:noFill/>
          </a:ln>
        </p:spPr>
      </p:sp>
      <p:sp>
        <p:nvSpPr>
          <p:cNvPr id="5" name="text-deo3">
            <a:extLst xmlns:a="http://schemas.openxmlformats.org/drawingml/2006/main">
              <a:ext uri="{FF2B5EF4-FFF2-40B4-BE49-F238E27FC236}">
                <a16:creationId xmlns:a16="http://schemas.microsoft.com/office/drawing/2014/main" id="{DF8E7D89-81AC-4CED-9119-D7D083D9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6" name="text-deo3">
            <a:extLst xmlns:a="http://schemas.openxmlformats.org/drawingml/2006/main">
              <a:ext uri="{FF2B5EF4-FFF2-40B4-BE49-F238E27FC236}">
                <a16:creationId xmlns:a16="http://schemas.microsoft.com/office/drawing/2014/main" id="{1503C1CE-3225-4BAE-9BC4-2163A577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ТРЕЋИ ДЕО</a:t>
            </a:r>
          </a:p>
        </p:txBody>
      </p:sp>
      <p:sp>
        <p:nvSpPr>
          <p:cNvPr id="7" name="heading-deo3">
            <a:extLst xmlns:a="http://schemas.openxmlformats.org/drawingml/2006/main">
              <a:ext uri="{FF2B5EF4-FFF2-40B4-BE49-F238E27FC236}">
                <a16:creationId xmlns:a16="http://schemas.microsoft.com/office/drawing/2014/main" id="{CD7F08AA-6484-420D-A161-E277D498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8821341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607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 правила до кода</a:t>
            </a:r>
          </a:p>
        </p:txBody>
      </p:sp>
      <p:sp>
        <p:nvSpPr>
          <p:cNvPr id="8" name="text-deo3">
            <a:extLst xmlns:a="http://schemas.openxmlformats.org/drawingml/2006/main">
              <a:ext uri="{FF2B5EF4-FFF2-40B4-BE49-F238E27FC236}">
                <a16:creationId xmlns:a16="http://schemas.microsoft.com/office/drawing/2014/main" id="{BC7A645F-4F5C-4443-96B4-BDB77608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91506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Једна одлука, позитиван и негативан сценарио и траг који објашњава </a:t>
            </a:r>
          </a:p>
        </p:txBody>
      </p:sp>
      <p:sp>
        <p:nvSpPr>
          <p:cNvPr id="9" name="text-deo3">
            <a:extLst xmlns:a="http://schemas.openxmlformats.org/drawingml/2006/main">
              <a:ext uri="{FF2B5EF4-FFF2-40B4-BE49-F238E27FC236}">
                <a16:creationId xmlns:a16="http://schemas.microsoft.com/office/drawing/2014/main" id="{710968D0-FC56-4572-8214-CA772898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11443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исход.</a:t>
            </a:r>
          </a:p>
        </p:txBody>
      </p:sp>
      <p:sp>
        <p:nvSpPr>
          <p:cNvPr id="10" name="text-deo3">
            <a:extLst xmlns:a="http://schemas.openxmlformats.org/drawingml/2006/main">
              <a:ext uri="{FF2B5EF4-FFF2-40B4-BE49-F238E27FC236}">
                <a16:creationId xmlns:a16="http://schemas.microsoft.com/office/drawing/2014/main" id="{05009A2E-8256-4BF3-8316-F7584703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379934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Политика</a:t>
            </a:r>
          </a:p>
        </p:txBody>
      </p:sp>
      <p:sp>
        <p:nvSpPr>
          <p:cNvPr id="11" name="text-deo3">
            <a:extLst xmlns:a="http://schemas.openxmlformats.org/drawingml/2006/main">
              <a:ext uri="{FF2B5EF4-FFF2-40B4-BE49-F238E27FC236}">
                <a16:creationId xmlns:a16="http://schemas.microsoft.com/office/drawing/2014/main" id="{CD1B49E0-4737-41B7-BD4C-199C5D9B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209" y="6244382"/>
            <a:ext cx="188059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 одбијања</a:t>
            </a:r>
          </a:p>
        </p:txBody>
      </p:sp>
      <p:sp>
        <p:nvSpPr>
          <p:cNvPr id="12" name="text-deo3">
            <a:extLst xmlns:a="http://schemas.openxmlformats.org/drawingml/2006/main">
              <a:ext uri="{FF2B5EF4-FFF2-40B4-BE49-F238E27FC236}">
                <a16:creationId xmlns:a16="http://schemas.microsoft.com/office/drawing/2014/main" id="{62D056CC-3B33-43C9-86FA-90FA24E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4252" y="6244382"/>
            <a:ext cx="88939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Audit</a:t>
            </a:r>
          </a:p>
        </p:txBody>
      </p:sp>
      <p:sp>
        <p:nvSpPr>
          <p:cNvPr id="13" name="text-deo3">
            <a:extLst xmlns:a="http://schemas.openxmlformats.org/drawingml/2006/main">
              <a:ext uri="{FF2B5EF4-FFF2-40B4-BE49-F238E27FC236}">
                <a16:creationId xmlns:a16="http://schemas.microsoft.com/office/drawing/2014/main" id="{F986D9BC-7EC8-44CB-A8AC-6DB76FAD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4" name="text-deo3">
            <a:extLst xmlns:a="http://schemas.openxmlformats.org/drawingml/2006/main">
              <a:ext uri="{FF2B5EF4-FFF2-40B4-BE49-F238E27FC236}">
                <a16:creationId xmlns:a16="http://schemas.microsoft.com/office/drawing/2014/main" id="{F57E4DDD-ABAE-409B-8E5B-A776019A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2033172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4033E2-5641-4910-9444-417F6C73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7721B-13E8-49C4-A56D-1A8FC34A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8839200" cy="2997845"/>
          </a:xfrm>
          <a:prstGeom xmlns:a="http://schemas.openxmlformats.org/drawingml/2006/main" prst="roundRect">
            <a:avLst>
              <a:gd name="adj" fmla="val 508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23BF2-5494-484D-8C78-D299454A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893641"/>
            <a:ext cx="670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D8F63-57DE-4658-8965-3B97F187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874716"/>
            <a:ext cx="670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93649-5761-40A0-8F51-D3A91618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855791"/>
            <a:ext cx="670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849C1-1F62-451B-AB0D-3D07C9B4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3B3A7863-D676-4619-909C-B9A95C34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 · РАЗВОЈ</a:t>
            </a:r>
          </a:p>
        </p:txBody>
      </p:sp>
      <p:sp>
        <p:nvSpPr>
          <p:cNvPr id="8" name="heading-source-12">
            <a:extLst xmlns:a="http://schemas.openxmlformats.org/drawingml/2006/main">
              <a:ext uri="{FF2B5EF4-FFF2-40B4-BE49-F238E27FC236}">
                <a16:creationId xmlns:a16="http://schemas.microsoft.com/office/drawing/2014/main" id="{DD0C7B31-2D2A-40B3-B3A4-9562A9C7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30051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у развоју</a:t>
            </a:r>
          </a:p>
        </p:txBody>
      </p:sp>
      <p:sp>
        <p:nvSpPr>
          <p:cNvPr id="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0EA555EF-C5CF-4A1C-BF3A-DF0AE085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157957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Тим примењује тему кроз серверске провере, тестове и ревизионе записе током развоја.</a:t>
            </a:r>
          </a:p>
        </p:txBody>
      </p:sp>
      <p:sp>
        <p:nvSpPr>
          <p:cNvPr id="1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57AD3D89-4715-44D7-8FC1-FE523CE7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РАЗВОЈНИ КОНТЕКСТ</a:t>
            </a:r>
          </a:p>
        </p:txBody>
      </p:sp>
      <p:sp>
        <p:nvSpPr>
          <p:cNvPr id="1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8224F648-AAF9-4FAA-8A93-E5782A87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23097"/>
            <a:ext cx="4194721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принципа у коду</a:t>
            </a:r>
          </a:p>
        </p:txBody>
      </p:sp>
      <p:sp>
        <p:nvSpPr>
          <p:cNvPr id="1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1814B567-6091-4340-9726-6D0501D9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50693"/>
            <a:ext cx="77734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 сваку значајну операцију тим формулише и позитиван и </a:t>
            </a:r>
          </a:p>
        </p:txBody>
      </p:sp>
      <p:sp>
        <p:nvSpPr>
          <p:cNvPr id="1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840B6E21-7717-4151-9544-6232D311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23954"/>
            <a:ext cx="73681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негативан сценарио. Негативан сценарио проверава да </a:t>
            </a:r>
          </a:p>
        </p:txBody>
      </p:sp>
      <p:sp>
        <p:nvSpPr>
          <p:cNvPr id="14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B22B31EE-AB59-4A08-9C6C-7FE46627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097214"/>
            <a:ext cx="83714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правилно пријављен корисник не може да заобиђе власништво </a:t>
            </a:r>
          </a:p>
        </p:txBody>
      </p:sp>
      <p:sp>
        <p:nvSpPr>
          <p:cNvPr id="15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4A01B135-96F5-4593-86D3-D03E5F16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470475"/>
            <a:ext cx="834270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променом идентификатора или позивом API-ја ван интерфејса.</a:t>
            </a:r>
          </a:p>
        </p:txBody>
      </p:sp>
      <p:sp>
        <p:nvSpPr>
          <p:cNvPr id="16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445FF8E3-DC1C-4CBA-8952-CB0A82BA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207841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Mono"/>
                <a:ea typeface="IBM Plex Mono"/>
                <a:cs typeface="IBM Plex Mono"/>
              </a:defRPr>
            </a:pPr>
            <a:r>
              <a:rPr sz="3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7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956058A1-D696-4D19-AF88-3F3B95D8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98316"/>
            <a:ext cx="49857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Дефинисана одлука и њена граница.</a:t>
            </a:r>
          </a:p>
        </p:txBody>
      </p:sp>
      <p:sp>
        <p:nvSpPr>
          <p:cNvPr id="18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F32D3A77-63A6-4FB9-BF25-1E5BAA1E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188916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Mono"/>
                <a:ea typeface="IBM Plex Mono"/>
                <a:cs typeface="IBM Plex Mono"/>
              </a:defRPr>
            </a:pPr>
            <a:r>
              <a:rPr sz="3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4230894D-65A5-4918-BDB1-24D940B8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179391"/>
            <a:ext cx="500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Серверска имплементација провере.</a:t>
            </a:r>
          </a:p>
        </p:txBody>
      </p:sp>
      <p:sp>
        <p:nvSpPr>
          <p:cNvPr id="20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A24051AC-C4B9-498F-A4AD-173A96A8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169991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Mono"/>
                <a:ea typeface="IBM Plex Mono"/>
                <a:cs typeface="IBM Plex Mono"/>
              </a:defRPr>
            </a:pPr>
            <a:r>
              <a:rPr sz="3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1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416559CF-FD92-46DC-9456-88A16418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160466"/>
            <a:ext cx="412402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Позитиван и негативан доказ.</a:t>
            </a:r>
          </a:p>
        </p:txBody>
      </p:sp>
      <p:sp>
        <p:nvSpPr>
          <p:cNvPr id="22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243AA658-E122-4A1A-932C-15DA37A9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3" name="text-source-12">
            <a:extLst xmlns:a="http://schemas.openxmlformats.org/drawingml/2006/main">
              <a:ext uri="{FF2B5EF4-FFF2-40B4-BE49-F238E27FC236}">
                <a16:creationId xmlns:a16="http://schemas.microsoft.com/office/drawing/2014/main" id="{ADD1BA5A-0FDF-4027-BAB4-834C9343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0558825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BAC567-C0D3-4C10-8EAA-D31581E3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47F25-E1D7-426C-8EDE-539DCDCD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1811000" cy="3356074"/>
          </a:xfrm>
          <a:prstGeom xmlns:a="http://schemas.openxmlformats.org/drawingml/2006/main" prst="roundRect">
            <a:avLst>
              <a:gd name="adj" fmla="val 454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EEDE9-9D15-4FB4-9811-DE951D38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3112591"/>
            <a:ext cx="3733800" cy="264348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54191E1F-F3C2-4233-8B17-68350582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3112591"/>
            <a:ext cx="114300" cy="2643485"/>
          </a:xfrm>
          <a:custGeom xmlns:a="http://schemas.openxmlformats.org/drawingml/2006/main">
            <a:pathLst>
              <a:path w="114300" h="2643485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2529185"/>
                </a:lnTo>
                <a:lnTo>
                  <a:pt x="61" y="2532925"/>
                </a:lnTo>
                <a:lnTo>
                  <a:pt x="245" y="2536661"/>
                </a:lnTo>
                <a:lnTo>
                  <a:pt x="550" y="2540389"/>
                </a:lnTo>
                <a:lnTo>
                  <a:pt x="978" y="2544104"/>
                </a:lnTo>
                <a:lnTo>
                  <a:pt x="1527" y="2547804"/>
                </a:lnTo>
                <a:lnTo>
                  <a:pt x="2196" y="2551484"/>
                </a:lnTo>
                <a:lnTo>
                  <a:pt x="2986" y="2555140"/>
                </a:lnTo>
                <a:lnTo>
                  <a:pt x="3895" y="2558768"/>
                </a:lnTo>
                <a:lnTo>
                  <a:pt x="4922" y="2562365"/>
                </a:lnTo>
                <a:lnTo>
                  <a:pt x="6066" y="2565926"/>
                </a:lnTo>
                <a:lnTo>
                  <a:pt x="7326" y="2569447"/>
                </a:lnTo>
                <a:lnTo>
                  <a:pt x="8701" y="2572926"/>
                </a:lnTo>
                <a:lnTo>
                  <a:pt x="10188" y="2576358"/>
                </a:lnTo>
                <a:lnTo>
                  <a:pt x="11787" y="2579739"/>
                </a:lnTo>
                <a:lnTo>
                  <a:pt x="13496" y="2583066"/>
                </a:lnTo>
                <a:lnTo>
                  <a:pt x="15313" y="2586335"/>
                </a:lnTo>
                <a:lnTo>
                  <a:pt x="17236" y="2589543"/>
                </a:lnTo>
                <a:lnTo>
                  <a:pt x="19263" y="2592687"/>
                </a:lnTo>
                <a:lnTo>
                  <a:pt x="21392" y="2595762"/>
                </a:lnTo>
                <a:lnTo>
                  <a:pt x="23620" y="2598767"/>
                </a:lnTo>
                <a:lnTo>
                  <a:pt x="25945" y="2601696"/>
                </a:lnTo>
                <a:lnTo>
                  <a:pt x="28365" y="2604548"/>
                </a:lnTo>
                <a:lnTo>
                  <a:pt x="30877" y="2607320"/>
                </a:lnTo>
                <a:lnTo>
                  <a:pt x="33478" y="2610007"/>
                </a:lnTo>
                <a:lnTo>
                  <a:pt x="36165" y="2612609"/>
                </a:lnTo>
                <a:lnTo>
                  <a:pt x="38937" y="2615120"/>
                </a:lnTo>
                <a:lnTo>
                  <a:pt x="41789" y="2617540"/>
                </a:lnTo>
                <a:lnTo>
                  <a:pt x="44719" y="2619865"/>
                </a:lnTo>
                <a:lnTo>
                  <a:pt x="47723" y="2622094"/>
                </a:lnTo>
                <a:lnTo>
                  <a:pt x="50798" y="2624222"/>
                </a:lnTo>
                <a:lnTo>
                  <a:pt x="53942" y="2626249"/>
                </a:lnTo>
                <a:lnTo>
                  <a:pt x="57150" y="2628172"/>
                </a:lnTo>
                <a:lnTo>
                  <a:pt x="60419" y="2629989"/>
                </a:lnTo>
                <a:lnTo>
                  <a:pt x="63746" y="2631698"/>
                </a:lnTo>
                <a:lnTo>
                  <a:pt x="67128" y="2633297"/>
                </a:lnTo>
                <a:lnTo>
                  <a:pt x="70559" y="2634785"/>
                </a:lnTo>
                <a:lnTo>
                  <a:pt x="74038" y="2636159"/>
                </a:lnTo>
                <a:lnTo>
                  <a:pt x="77559" y="2637419"/>
                </a:lnTo>
                <a:lnTo>
                  <a:pt x="81120" y="2638563"/>
                </a:lnTo>
                <a:lnTo>
                  <a:pt x="84717" y="2639590"/>
                </a:lnTo>
                <a:lnTo>
                  <a:pt x="88345" y="2640499"/>
                </a:lnTo>
                <a:lnTo>
                  <a:pt x="92001" y="2641289"/>
                </a:lnTo>
                <a:lnTo>
                  <a:pt x="95681" y="2641958"/>
                </a:lnTo>
                <a:lnTo>
                  <a:pt x="99381" y="2642507"/>
                </a:lnTo>
                <a:lnTo>
                  <a:pt x="103097" y="2642935"/>
                </a:lnTo>
                <a:lnTo>
                  <a:pt x="106824" y="2643240"/>
                </a:lnTo>
                <a:lnTo>
                  <a:pt x="110560" y="2643424"/>
                </a:lnTo>
                <a:lnTo>
                  <a:pt x="114300" y="2643485"/>
                </a:lnTo>
                <a:lnTo>
                  <a:pt x="114300" y="2643485"/>
                </a:lnTo>
                <a:lnTo>
                  <a:pt x="112430" y="2643424"/>
                </a:lnTo>
                <a:lnTo>
                  <a:pt x="110562" y="2643240"/>
                </a:lnTo>
                <a:lnTo>
                  <a:pt x="108698" y="2642935"/>
                </a:lnTo>
                <a:lnTo>
                  <a:pt x="106840" y="2642507"/>
                </a:lnTo>
                <a:lnTo>
                  <a:pt x="104991" y="2641958"/>
                </a:lnTo>
                <a:lnTo>
                  <a:pt x="103151" y="2641289"/>
                </a:lnTo>
                <a:lnTo>
                  <a:pt x="101323" y="2640499"/>
                </a:lnTo>
                <a:lnTo>
                  <a:pt x="99508" y="2639590"/>
                </a:lnTo>
                <a:lnTo>
                  <a:pt x="97710" y="2638563"/>
                </a:lnTo>
                <a:lnTo>
                  <a:pt x="95930" y="2637419"/>
                </a:lnTo>
                <a:lnTo>
                  <a:pt x="94169" y="2636159"/>
                </a:lnTo>
                <a:lnTo>
                  <a:pt x="92430" y="2634785"/>
                </a:lnTo>
                <a:lnTo>
                  <a:pt x="90714" y="2633297"/>
                </a:lnTo>
                <a:lnTo>
                  <a:pt x="89023" y="2631698"/>
                </a:lnTo>
                <a:lnTo>
                  <a:pt x="87360" y="2629989"/>
                </a:lnTo>
                <a:lnTo>
                  <a:pt x="85725" y="2628172"/>
                </a:lnTo>
                <a:lnTo>
                  <a:pt x="84121" y="2626249"/>
                </a:lnTo>
                <a:lnTo>
                  <a:pt x="82549" y="2624222"/>
                </a:lnTo>
                <a:lnTo>
                  <a:pt x="81011" y="2622094"/>
                </a:lnTo>
                <a:lnTo>
                  <a:pt x="79509" y="2619865"/>
                </a:lnTo>
                <a:lnTo>
                  <a:pt x="78044" y="2617540"/>
                </a:lnTo>
                <a:lnTo>
                  <a:pt x="76618" y="2615120"/>
                </a:lnTo>
                <a:lnTo>
                  <a:pt x="75233" y="2612609"/>
                </a:lnTo>
                <a:lnTo>
                  <a:pt x="73889" y="2610007"/>
                </a:lnTo>
                <a:lnTo>
                  <a:pt x="72588" y="2607320"/>
                </a:lnTo>
                <a:lnTo>
                  <a:pt x="71332" y="2604548"/>
                </a:lnTo>
                <a:lnTo>
                  <a:pt x="70122" y="2601696"/>
                </a:lnTo>
                <a:lnTo>
                  <a:pt x="68960" y="2598767"/>
                </a:lnTo>
                <a:lnTo>
                  <a:pt x="67846" y="2595762"/>
                </a:lnTo>
                <a:lnTo>
                  <a:pt x="66782" y="2592687"/>
                </a:lnTo>
                <a:lnTo>
                  <a:pt x="65768" y="2589543"/>
                </a:lnTo>
                <a:lnTo>
                  <a:pt x="64807" y="2586335"/>
                </a:lnTo>
                <a:lnTo>
                  <a:pt x="63898" y="2583066"/>
                </a:lnTo>
                <a:lnTo>
                  <a:pt x="63044" y="2579739"/>
                </a:lnTo>
                <a:lnTo>
                  <a:pt x="62244" y="2576358"/>
                </a:lnTo>
                <a:lnTo>
                  <a:pt x="61500" y="2572926"/>
                </a:lnTo>
                <a:lnTo>
                  <a:pt x="60813" y="2569447"/>
                </a:lnTo>
                <a:lnTo>
                  <a:pt x="60183" y="2565926"/>
                </a:lnTo>
                <a:lnTo>
                  <a:pt x="59611" y="2562365"/>
                </a:lnTo>
                <a:lnTo>
                  <a:pt x="59097" y="2558768"/>
                </a:lnTo>
                <a:lnTo>
                  <a:pt x="58643" y="2555140"/>
                </a:lnTo>
                <a:lnTo>
                  <a:pt x="58248" y="2551484"/>
                </a:lnTo>
                <a:lnTo>
                  <a:pt x="57913" y="2547804"/>
                </a:lnTo>
                <a:lnTo>
                  <a:pt x="57639" y="2544104"/>
                </a:lnTo>
                <a:lnTo>
                  <a:pt x="57425" y="2540389"/>
                </a:lnTo>
                <a:lnTo>
                  <a:pt x="57272" y="2536661"/>
                </a:lnTo>
                <a:lnTo>
                  <a:pt x="57181" y="2532925"/>
                </a:lnTo>
                <a:lnTo>
                  <a:pt x="57150" y="2529185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DEA95-FD38-4FB4-BF9D-472CA358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259568B0-6D1B-4158-80EA-51F0E883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3109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 · ИМПЛЕМЕНТАЦИЈА</a:t>
            </a:r>
          </a:p>
        </p:txBody>
      </p:sp>
      <p:sp>
        <p:nvSpPr>
          <p:cNvPr id="7" name="heading-policy-code">
            <a:extLst xmlns:a="http://schemas.openxmlformats.org/drawingml/2006/main">
              <a:ext uri="{FF2B5EF4-FFF2-40B4-BE49-F238E27FC236}">
                <a16:creationId xmlns:a16="http://schemas.microsoft.com/office/drawing/2014/main" id="{5738705A-C1D7-4F60-8887-7EC9A731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230525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46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 се доноси над конкретним ресурсом</a:t>
            </a:r>
          </a:p>
        </p:txBody>
      </p:sp>
      <p:sp>
        <p:nvSpPr>
          <p:cNvPr id="8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F5765D67-8093-4882-881F-E31C1AAD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23907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Метода проверава дозволу, власништво и класификацију пре читања ресурса.</a:t>
            </a:r>
          </a:p>
        </p:txBody>
      </p:sp>
      <p:sp>
        <p:nvSpPr>
          <p:cNvPr id="9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DD2AEE33-AFB7-485E-BBE4-761A5737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12616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0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A9A79FDF-9869-444E-B67A-28B55219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1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827B6BD3-2215-4013-A0E4-5DFF70A4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708797"/>
            <a:ext cx="5417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ResourceAccessDecision Decide(</a:t>
            </a:r>
          </a:p>
        </p:txBody>
      </p:sp>
      <p:sp>
        <p:nvSpPr>
          <p:cNvPr id="12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09263D63-FC33-4DBA-9ED7-DC064912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287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3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1A1AC474-7628-4A18-95A8-F2ECD4D1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8777"/>
            <a:ext cx="7475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Requester requester, ProtectedResource resource)</a:t>
            </a:r>
          </a:p>
        </p:txBody>
      </p:sp>
      <p:sp>
        <p:nvSpPr>
          <p:cNvPr id="14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02F47429-D658-408B-B9C7-47B780F4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5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EF5FD1E8-ECF3-44F8-A3FC-10F97B7B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6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F3043582-8B42-4EDB-B357-36E0BD37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87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7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B15A3DE7-A877-4A60-B517-4B308295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68738"/>
            <a:ext cx="92585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(!requester.Permissions.Contains(Permissions.ReadRecords))</a:t>
            </a:r>
          </a:p>
        </p:txBody>
      </p:sp>
      <p:sp>
        <p:nvSpPr>
          <p:cNvPr id="18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460EEE82-9D6E-46E7-9792-36B90BE4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87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19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DF4A0A7E-5E81-46CB-B492-ED33B456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88719"/>
            <a:ext cx="377219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false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0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D66CA57F-0A7F-43D7-B355-612E2D69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086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1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0D0ABB7C-66FE-4005-B9BB-AF3B2A75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308699"/>
            <a:ext cx="788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ResourceAccessCodes.MissingReadPermission);</a:t>
            </a:r>
          </a:p>
        </p:txBody>
      </p:sp>
      <p:sp>
        <p:nvSpPr>
          <p:cNvPr id="22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6D2C4B37-D523-4B24-8397-39632C73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6286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3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9111B305-E91F-4C1A-9568-AA5C0C28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628680"/>
            <a:ext cx="66524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(resource.OwnerId == requester.ActorId)</a:t>
            </a:r>
          </a:p>
        </p:txBody>
      </p:sp>
      <p:sp>
        <p:nvSpPr>
          <p:cNvPr id="24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ABA87EB5-FE22-4800-8E60-3F326459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4866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5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4DCD1E03-4D6E-4998-834D-ADAECCD0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48660"/>
            <a:ext cx="82985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true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ResourceAccessCodes.OwnerAccess);</a:t>
            </a:r>
          </a:p>
        </p:txBody>
      </p:sp>
      <p:sp>
        <p:nvSpPr>
          <p:cNvPr id="26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1F3DED7A-C7B3-4D88-8836-3F13730F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303091"/>
            <a:ext cx="1440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ТУМАЧЕЊЕ</a:t>
            </a:r>
          </a:p>
        </p:txBody>
      </p:sp>
      <p:sp>
        <p:nvSpPr>
          <p:cNvPr id="27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4160D5D6-3BFE-43F0-8E80-7B556AD5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708797"/>
            <a:ext cx="34748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Иста улога не значи исти </a:t>
            </a:r>
          </a:p>
        </p:txBody>
      </p:sp>
      <p:sp>
        <p:nvSpPr>
          <p:cNvPr id="28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841D79F5-F90D-4F78-B2A1-BB379600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082058"/>
            <a:ext cx="33074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приступ сваком запису. </a:t>
            </a:r>
          </a:p>
        </p:txBody>
      </p:sp>
      <p:sp>
        <p:nvSpPr>
          <p:cNvPr id="29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A1DC890D-AF55-464F-83F4-FB6EB1C3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455319"/>
            <a:ext cx="266164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Сервер проверава </a:t>
            </a:r>
          </a:p>
        </p:txBody>
      </p:sp>
      <p:sp>
        <p:nvSpPr>
          <p:cNvPr id="30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DCDEE42F-9E1A-4294-9733-5F20F7EB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828580"/>
            <a:ext cx="32446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дозволу, власништво и </a:t>
            </a:r>
          </a:p>
        </p:txBody>
      </p:sp>
      <p:sp>
        <p:nvSpPr>
          <p:cNvPr id="31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14A5B104-3E05-4D9E-A317-ECF81891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5201841"/>
            <a:ext cx="230609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класификацију.</a:t>
            </a:r>
          </a:p>
        </p:txBody>
      </p:sp>
      <p:sp>
        <p:nvSpPr>
          <p:cNvPr id="32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8FD951E3-399E-489A-A4E4-8824EA26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3" name="text-policy-code">
            <a:extLst xmlns:a="http://schemas.openxmlformats.org/drawingml/2006/main">
              <a:ext uri="{FF2B5EF4-FFF2-40B4-BE49-F238E27FC236}">
                <a16:creationId xmlns:a16="http://schemas.microsoft.com/office/drawing/2014/main" id="{B881FAA4-6FCA-4CAA-B2F9-D8038C3E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069574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4D2E6E-3AB6-434B-97EB-0DB84970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89754-C631-4B4F-ABE4-68AAAC90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11811000" cy="2716113"/>
          </a:xfrm>
          <a:prstGeom xmlns:a="http://schemas.openxmlformats.org/drawingml/2006/main" prst="roundRect">
            <a:avLst>
              <a:gd name="adj" fmla="val 561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B5027-538B-4D76-8218-0CEA7ADD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4530"/>
            <a:ext cx="3733800" cy="2270224"/>
          </a:xfrm>
          <a:prstGeom xmlns:a="http://schemas.openxmlformats.org/drawingml/2006/main" prst="roundRect">
            <a:avLst>
              <a:gd name="adj" fmla="val 50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66A87AA9-740F-4D2B-B937-CD96A3E7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4530"/>
            <a:ext cx="114300" cy="2270224"/>
          </a:xfrm>
          <a:custGeom xmlns:a="http://schemas.openxmlformats.org/drawingml/2006/main">
            <a:pathLst>
              <a:path w="114300" h="2270224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2155924"/>
                </a:lnTo>
                <a:lnTo>
                  <a:pt x="61" y="2159664"/>
                </a:lnTo>
                <a:lnTo>
                  <a:pt x="245" y="2163400"/>
                </a:lnTo>
                <a:lnTo>
                  <a:pt x="550" y="2167128"/>
                </a:lnTo>
                <a:lnTo>
                  <a:pt x="978" y="2170843"/>
                </a:lnTo>
                <a:lnTo>
                  <a:pt x="1527" y="2174543"/>
                </a:lnTo>
                <a:lnTo>
                  <a:pt x="2196" y="2178223"/>
                </a:lnTo>
                <a:lnTo>
                  <a:pt x="2986" y="2181879"/>
                </a:lnTo>
                <a:lnTo>
                  <a:pt x="3895" y="2185507"/>
                </a:lnTo>
                <a:lnTo>
                  <a:pt x="4922" y="2189104"/>
                </a:lnTo>
                <a:lnTo>
                  <a:pt x="6066" y="2192665"/>
                </a:lnTo>
                <a:lnTo>
                  <a:pt x="7326" y="2196186"/>
                </a:lnTo>
                <a:lnTo>
                  <a:pt x="8701" y="2199665"/>
                </a:lnTo>
                <a:lnTo>
                  <a:pt x="10188" y="2203097"/>
                </a:lnTo>
                <a:lnTo>
                  <a:pt x="11787" y="2206478"/>
                </a:lnTo>
                <a:lnTo>
                  <a:pt x="13496" y="2209805"/>
                </a:lnTo>
                <a:lnTo>
                  <a:pt x="15313" y="2213074"/>
                </a:lnTo>
                <a:lnTo>
                  <a:pt x="17236" y="2216282"/>
                </a:lnTo>
                <a:lnTo>
                  <a:pt x="19263" y="2219426"/>
                </a:lnTo>
                <a:lnTo>
                  <a:pt x="21392" y="2222501"/>
                </a:lnTo>
                <a:lnTo>
                  <a:pt x="23620" y="2225506"/>
                </a:lnTo>
                <a:lnTo>
                  <a:pt x="25945" y="2228435"/>
                </a:lnTo>
                <a:lnTo>
                  <a:pt x="28365" y="2231287"/>
                </a:lnTo>
                <a:lnTo>
                  <a:pt x="30877" y="2234059"/>
                </a:lnTo>
                <a:lnTo>
                  <a:pt x="33478" y="2236747"/>
                </a:lnTo>
                <a:lnTo>
                  <a:pt x="36165" y="2239348"/>
                </a:lnTo>
                <a:lnTo>
                  <a:pt x="38937" y="2241860"/>
                </a:lnTo>
                <a:lnTo>
                  <a:pt x="41789" y="2244279"/>
                </a:lnTo>
                <a:lnTo>
                  <a:pt x="44719" y="2246605"/>
                </a:lnTo>
                <a:lnTo>
                  <a:pt x="47723" y="2248833"/>
                </a:lnTo>
                <a:lnTo>
                  <a:pt x="50798" y="2250961"/>
                </a:lnTo>
                <a:lnTo>
                  <a:pt x="53942" y="2252988"/>
                </a:lnTo>
                <a:lnTo>
                  <a:pt x="57150" y="2254911"/>
                </a:lnTo>
                <a:lnTo>
                  <a:pt x="60419" y="2256728"/>
                </a:lnTo>
                <a:lnTo>
                  <a:pt x="63746" y="2258437"/>
                </a:lnTo>
                <a:lnTo>
                  <a:pt x="67128" y="2260036"/>
                </a:lnTo>
                <a:lnTo>
                  <a:pt x="70559" y="2261524"/>
                </a:lnTo>
                <a:lnTo>
                  <a:pt x="74038" y="2262898"/>
                </a:lnTo>
                <a:lnTo>
                  <a:pt x="77559" y="2264158"/>
                </a:lnTo>
                <a:lnTo>
                  <a:pt x="81120" y="2265302"/>
                </a:lnTo>
                <a:lnTo>
                  <a:pt x="84717" y="2266330"/>
                </a:lnTo>
                <a:lnTo>
                  <a:pt x="88345" y="2267238"/>
                </a:lnTo>
                <a:lnTo>
                  <a:pt x="92001" y="2268028"/>
                </a:lnTo>
                <a:lnTo>
                  <a:pt x="95681" y="2268698"/>
                </a:lnTo>
                <a:lnTo>
                  <a:pt x="99381" y="2269246"/>
                </a:lnTo>
                <a:lnTo>
                  <a:pt x="103097" y="2269674"/>
                </a:lnTo>
                <a:lnTo>
                  <a:pt x="106824" y="2269979"/>
                </a:lnTo>
                <a:lnTo>
                  <a:pt x="110560" y="2270163"/>
                </a:lnTo>
                <a:lnTo>
                  <a:pt x="114300" y="2270224"/>
                </a:lnTo>
                <a:lnTo>
                  <a:pt x="114300" y="2270224"/>
                </a:lnTo>
                <a:lnTo>
                  <a:pt x="112430" y="2270163"/>
                </a:lnTo>
                <a:lnTo>
                  <a:pt x="110562" y="2269979"/>
                </a:lnTo>
                <a:lnTo>
                  <a:pt x="108698" y="2269674"/>
                </a:lnTo>
                <a:lnTo>
                  <a:pt x="106840" y="2269246"/>
                </a:lnTo>
                <a:lnTo>
                  <a:pt x="104991" y="2268698"/>
                </a:lnTo>
                <a:lnTo>
                  <a:pt x="103151" y="2268028"/>
                </a:lnTo>
                <a:lnTo>
                  <a:pt x="101323" y="2267238"/>
                </a:lnTo>
                <a:lnTo>
                  <a:pt x="99508" y="2266330"/>
                </a:lnTo>
                <a:lnTo>
                  <a:pt x="97710" y="2265302"/>
                </a:lnTo>
                <a:lnTo>
                  <a:pt x="95930" y="2264158"/>
                </a:lnTo>
                <a:lnTo>
                  <a:pt x="94169" y="2262898"/>
                </a:lnTo>
                <a:lnTo>
                  <a:pt x="92430" y="2261524"/>
                </a:lnTo>
                <a:lnTo>
                  <a:pt x="90714" y="2260036"/>
                </a:lnTo>
                <a:lnTo>
                  <a:pt x="89023" y="2258437"/>
                </a:lnTo>
                <a:lnTo>
                  <a:pt x="87360" y="2256728"/>
                </a:lnTo>
                <a:lnTo>
                  <a:pt x="85725" y="2254911"/>
                </a:lnTo>
                <a:lnTo>
                  <a:pt x="84121" y="2252988"/>
                </a:lnTo>
                <a:lnTo>
                  <a:pt x="82549" y="2250961"/>
                </a:lnTo>
                <a:lnTo>
                  <a:pt x="81011" y="2248833"/>
                </a:lnTo>
                <a:lnTo>
                  <a:pt x="79509" y="2246605"/>
                </a:lnTo>
                <a:lnTo>
                  <a:pt x="78044" y="2244279"/>
                </a:lnTo>
                <a:lnTo>
                  <a:pt x="76618" y="2241860"/>
                </a:lnTo>
                <a:lnTo>
                  <a:pt x="75233" y="2239348"/>
                </a:lnTo>
                <a:lnTo>
                  <a:pt x="73889" y="2236747"/>
                </a:lnTo>
                <a:lnTo>
                  <a:pt x="72588" y="2234059"/>
                </a:lnTo>
                <a:lnTo>
                  <a:pt x="71332" y="2231287"/>
                </a:lnTo>
                <a:lnTo>
                  <a:pt x="70122" y="2228435"/>
                </a:lnTo>
                <a:lnTo>
                  <a:pt x="68960" y="2225506"/>
                </a:lnTo>
                <a:lnTo>
                  <a:pt x="67846" y="2222501"/>
                </a:lnTo>
                <a:lnTo>
                  <a:pt x="66782" y="2219426"/>
                </a:lnTo>
                <a:lnTo>
                  <a:pt x="65768" y="2216282"/>
                </a:lnTo>
                <a:lnTo>
                  <a:pt x="64807" y="2213074"/>
                </a:lnTo>
                <a:lnTo>
                  <a:pt x="63898" y="2209805"/>
                </a:lnTo>
                <a:lnTo>
                  <a:pt x="63044" y="2206478"/>
                </a:lnTo>
                <a:lnTo>
                  <a:pt x="62244" y="2203097"/>
                </a:lnTo>
                <a:lnTo>
                  <a:pt x="61500" y="2199665"/>
                </a:lnTo>
                <a:lnTo>
                  <a:pt x="60813" y="2196186"/>
                </a:lnTo>
                <a:lnTo>
                  <a:pt x="60183" y="2192665"/>
                </a:lnTo>
                <a:lnTo>
                  <a:pt x="59611" y="2189104"/>
                </a:lnTo>
                <a:lnTo>
                  <a:pt x="59097" y="2185507"/>
                </a:lnTo>
                <a:lnTo>
                  <a:pt x="58643" y="2181879"/>
                </a:lnTo>
                <a:lnTo>
                  <a:pt x="58248" y="2178223"/>
                </a:lnTo>
                <a:lnTo>
                  <a:pt x="57913" y="2174543"/>
                </a:lnTo>
                <a:lnTo>
                  <a:pt x="57639" y="2170843"/>
                </a:lnTo>
                <a:lnTo>
                  <a:pt x="57425" y="2167128"/>
                </a:lnTo>
                <a:lnTo>
                  <a:pt x="57272" y="2163400"/>
                </a:lnTo>
                <a:lnTo>
                  <a:pt x="57181" y="2159664"/>
                </a:lnTo>
                <a:lnTo>
                  <a:pt x="57150" y="2155924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E0207-DA7E-47FD-A822-BDA260BF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6ABCE287-F0F9-41E5-A230-0B0BC335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502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 · ИМПЛЕМЕНТАЦИЈА · НАСТАВАК</a:t>
            </a:r>
          </a:p>
        </p:txBody>
      </p:sp>
      <p:sp>
        <p:nvSpPr>
          <p:cNvPr id="7" name="heading-policy-code-next">
            <a:extLst xmlns:a="http://schemas.openxmlformats.org/drawingml/2006/main">
              <a:ext uri="{FF2B5EF4-FFF2-40B4-BE49-F238E27FC236}">
                <a16:creationId xmlns:a16="http://schemas.microsoft.com/office/drawing/2014/main" id="{4EE065CF-61CC-4C12-93FE-E920038F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954816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092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Контрола враћа експлицитан исход</a:t>
            </a:r>
          </a:p>
        </p:txBody>
      </p:sp>
      <p:sp>
        <p:nvSpPr>
          <p:cNvPr id="8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417DC289-907A-4589-8207-1CBBA45B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34555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9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D66666A0-4B52-47B1-9C6B-956D29E9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030736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10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CBA7DC74-EECE-429F-BA06-9B819C17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0736"/>
            <a:ext cx="953288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if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(!requester.Permissions.Contains(Permissions.ReadAnyRecord))</a:t>
            </a:r>
          </a:p>
        </p:txBody>
      </p:sp>
      <p:sp>
        <p:nvSpPr>
          <p:cNvPr id="11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2D49E223-E8A8-44AE-93A5-6361ACA6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50716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12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8E5F3292-3B9F-48FD-9C69-519047EE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350716"/>
            <a:ext cx="80242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false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ResourceAccessCodes.NotOwner);</a:t>
            </a:r>
          </a:p>
        </p:txBody>
      </p:sp>
      <p:sp>
        <p:nvSpPr>
          <p:cNvPr id="13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F8DE8719-CA43-4703-AC15-C741F591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0697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14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CBD6F7F7-C088-48FE-B3F3-F34B12C4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670697"/>
            <a:ext cx="953288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return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resource.Classification == DataClassification.Restricted</a:t>
            </a:r>
          </a:p>
        </p:txBody>
      </p:sp>
      <p:sp>
        <p:nvSpPr>
          <p:cNvPr id="15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E5AB18C6-D622-4A52-B664-01DF7535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990677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16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7E5BF541-2F4A-46F8-BED1-4C0C16D9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990677"/>
            <a:ext cx="8435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?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false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ResourceAccessCodes.RestrictedToOwner)</a:t>
            </a:r>
          </a:p>
        </p:txBody>
      </p:sp>
      <p:sp>
        <p:nvSpPr>
          <p:cNvPr id="17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781D9CC5-301E-44A3-A300-EF428F8A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10658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18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E996A7FE-7B6E-4E73-A685-071DAC84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10658"/>
            <a:ext cx="80240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: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(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true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ResourceAccessCodes.ElevatedAccess);</a:t>
            </a:r>
          </a:p>
        </p:txBody>
      </p:sp>
      <p:sp>
        <p:nvSpPr>
          <p:cNvPr id="19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FC819EAB-7EB7-469B-844B-8AF1C366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30638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  <p:sp>
        <p:nvSpPr>
          <p:cNvPr id="20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64700A02-BC83-401E-AFF1-499E9968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306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21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1654FDF2-171E-480F-B104-4C8C631E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625030"/>
            <a:ext cx="2949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БЕЗБЕДНОСНА ГРАНИЦА</a:t>
            </a:r>
          </a:p>
        </p:txBody>
      </p:sp>
      <p:sp>
        <p:nvSpPr>
          <p:cNvPr id="22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BE6A29D5-2D08-4B99-8591-2BB7BEC6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030736"/>
            <a:ext cx="353318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Одбијање је експлицитан </a:t>
            </a:r>
          </a:p>
        </p:txBody>
      </p:sp>
      <p:sp>
        <p:nvSpPr>
          <p:cNvPr id="23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9C5AAE36-2652-491F-BF80-9433EBEC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403997"/>
            <a:ext cx="32279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 са разлогом који </a:t>
            </a:r>
          </a:p>
        </p:txBody>
      </p:sp>
      <p:sp>
        <p:nvSpPr>
          <p:cNvPr id="24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2BC2E977-F32F-4B0F-BDBE-096B52F0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777258"/>
            <a:ext cx="29073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се може тестирати и </a:t>
            </a:r>
          </a:p>
        </p:txBody>
      </p:sp>
      <p:sp>
        <p:nvSpPr>
          <p:cNvPr id="25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48AFC8AC-3E7B-4B6B-9F14-1947C6ED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150519"/>
            <a:ext cx="165615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објаснити.</a:t>
            </a:r>
          </a:p>
        </p:txBody>
      </p:sp>
      <p:sp>
        <p:nvSpPr>
          <p:cNvPr id="26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AA339EB1-40D2-4793-BD97-3070BF86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7" name="text-policy-code-next">
            <a:extLst xmlns:a="http://schemas.openxmlformats.org/drawingml/2006/main">
              <a:ext uri="{FF2B5EF4-FFF2-40B4-BE49-F238E27FC236}">
                <a16:creationId xmlns:a16="http://schemas.microsoft.com/office/drawing/2014/main" id="{98E1538F-E54F-4A0E-B820-2582B72C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0336678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954456-1241-42BD-8062-9C99D177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9F60E4-9B05-4ACB-9F10-2959F9D9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11811000" cy="3996035"/>
          </a:xfrm>
          <a:prstGeom xmlns:a="http://schemas.openxmlformats.org/drawingml/2006/main" prst="roundRect">
            <a:avLst>
              <a:gd name="adj" fmla="val 381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BC443-6FB1-4078-B8AA-D21CE1E2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3112591"/>
            <a:ext cx="3733800" cy="2270224"/>
          </a:xfrm>
          <a:prstGeom xmlns:a="http://schemas.openxmlformats.org/drawingml/2006/main" prst="roundRect">
            <a:avLst>
              <a:gd name="adj" fmla="val 50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71E921A8-AAA2-4ECB-B0EC-289510ED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3112591"/>
            <a:ext cx="114300" cy="2270224"/>
          </a:xfrm>
          <a:custGeom xmlns:a="http://schemas.openxmlformats.org/drawingml/2006/main">
            <a:pathLst>
              <a:path w="114300" h="2270224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2155924"/>
                </a:lnTo>
                <a:lnTo>
                  <a:pt x="61" y="2159664"/>
                </a:lnTo>
                <a:lnTo>
                  <a:pt x="245" y="2163400"/>
                </a:lnTo>
                <a:lnTo>
                  <a:pt x="550" y="2167128"/>
                </a:lnTo>
                <a:lnTo>
                  <a:pt x="978" y="2170843"/>
                </a:lnTo>
                <a:lnTo>
                  <a:pt x="1527" y="2174543"/>
                </a:lnTo>
                <a:lnTo>
                  <a:pt x="2196" y="2178223"/>
                </a:lnTo>
                <a:lnTo>
                  <a:pt x="2986" y="2181879"/>
                </a:lnTo>
                <a:lnTo>
                  <a:pt x="3895" y="2185507"/>
                </a:lnTo>
                <a:lnTo>
                  <a:pt x="4922" y="2189104"/>
                </a:lnTo>
                <a:lnTo>
                  <a:pt x="6066" y="2192665"/>
                </a:lnTo>
                <a:lnTo>
                  <a:pt x="7326" y="2196186"/>
                </a:lnTo>
                <a:lnTo>
                  <a:pt x="8701" y="2199665"/>
                </a:lnTo>
                <a:lnTo>
                  <a:pt x="10188" y="2203097"/>
                </a:lnTo>
                <a:lnTo>
                  <a:pt x="11787" y="2206478"/>
                </a:lnTo>
                <a:lnTo>
                  <a:pt x="13496" y="2209805"/>
                </a:lnTo>
                <a:lnTo>
                  <a:pt x="15313" y="2213074"/>
                </a:lnTo>
                <a:lnTo>
                  <a:pt x="17236" y="2216282"/>
                </a:lnTo>
                <a:lnTo>
                  <a:pt x="19263" y="2219426"/>
                </a:lnTo>
                <a:lnTo>
                  <a:pt x="21392" y="2222501"/>
                </a:lnTo>
                <a:lnTo>
                  <a:pt x="23620" y="2225506"/>
                </a:lnTo>
                <a:lnTo>
                  <a:pt x="25945" y="2228435"/>
                </a:lnTo>
                <a:lnTo>
                  <a:pt x="28365" y="2231287"/>
                </a:lnTo>
                <a:lnTo>
                  <a:pt x="30877" y="2234059"/>
                </a:lnTo>
                <a:lnTo>
                  <a:pt x="33478" y="2236747"/>
                </a:lnTo>
                <a:lnTo>
                  <a:pt x="36165" y="2239348"/>
                </a:lnTo>
                <a:lnTo>
                  <a:pt x="38937" y="2241860"/>
                </a:lnTo>
                <a:lnTo>
                  <a:pt x="41789" y="2244279"/>
                </a:lnTo>
                <a:lnTo>
                  <a:pt x="44719" y="2246605"/>
                </a:lnTo>
                <a:lnTo>
                  <a:pt x="47723" y="2248833"/>
                </a:lnTo>
                <a:lnTo>
                  <a:pt x="50798" y="2250961"/>
                </a:lnTo>
                <a:lnTo>
                  <a:pt x="53942" y="2252988"/>
                </a:lnTo>
                <a:lnTo>
                  <a:pt x="57150" y="2254911"/>
                </a:lnTo>
                <a:lnTo>
                  <a:pt x="60419" y="2256728"/>
                </a:lnTo>
                <a:lnTo>
                  <a:pt x="63746" y="2258437"/>
                </a:lnTo>
                <a:lnTo>
                  <a:pt x="67128" y="2260036"/>
                </a:lnTo>
                <a:lnTo>
                  <a:pt x="70559" y="2261524"/>
                </a:lnTo>
                <a:lnTo>
                  <a:pt x="74038" y="2262898"/>
                </a:lnTo>
                <a:lnTo>
                  <a:pt x="77559" y="2264158"/>
                </a:lnTo>
                <a:lnTo>
                  <a:pt x="81120" y="2265302"/>
                </a:lnTo>
                <a:lnTo>
                  <a:pt x="84717" y="2266330"/>
                </a:lnTo>
                <a:lnTo>
                  <a:pt x="88345" y="2267238"/>
                </a:lnTo>
                <a:lnTo>
                  <a:pt x="92001" y="2268028"/>
                </a:lnTo>
                <a:lnTo>
                  <a:pt x="95681" y="2268698"/>
                </a:lnTo>
                <a:lnTo>
                  <a:pt x="99381" y="2269246"/>
                </a:lnTo>
                <a:lnTo>
                  <a:pt x="103097" y="2269674"/>
                </a:lnTo>
                <a:lnTo>
                  <a:pt x="106824" y="2269979"/>
                </a:lnTo>
                <a:lnTo>
                  <a:pt x="110560" y="2270163"/>
                </a:lnTo>
                <a:lnTo>
                  <a:pt x="114300" y="2270224"/>
                </a:lnTo>
                <a:lnTo>
                  <a:pt x="114300" y="2270224"/>
                </a:lnTo>
                <a:lnTo>
                  <a:pt x="112430" y="2270163"/>
                </a:lnTo>
                <a:lnTo>
                  <a:pt x="110562" y="2269979"/>
                </a:lnTo>
                <a:lnTo>
                  <a:pt x="108698" y="2269674"/>
                </a:lnTo>
                <a:lnTo>
                  <a:pt x="106840" y="2269246"/>
                </a:lnTo>
                <a:lnTo>
                  <a:pt x="104991" y="2268698"/>
                </a:lnTo>
                <a:lnTo>
                  <a:pt x="103151" y="2268028"/>
                </a:lnTo>
                <a:lnTo>
                  <a:pt x="101323" y="2267238"/>
                </a:lnTo>
                <a:lnTo>
                  <a:pt x="99508" y="2266330"/>
                </a:lnTo>
                <a:lnTo>
                  <a:pt x="97710" y="2265302"/>
                </a:lnTo>
                <a:lnTo>
                  <a:pt x="95930" y="2264158"/>
                </a:lnTo>
                <a:lnTo>
                  <a:pt x="94169" y="2262898"/>
                </a:lnTo>
                <a:lnTo>
                  <a:pt x="92430" y="2261524"/>
                </a:lnTo>
                <a:lnTo>
                  <a:pt x="90714" y="2260036"/>
                </a:lnTo>
                <a:lnTo>
                  <a:pt x="89023" y="2258437"/>
                </a:lnTo>
                <a:lnTo>
                  <a:pt x="87360" y="2256728"/>
                </a:lnTo>
                <a:lnTo>
                  <a:pt x="85725" y="2254911"/>
                </a:lnTo>
                <a:lnTo>
                  <a:pt x="84121" y="2252988"/>
                </a:lnTo>
                <a:lnTo>
                  <a:pt x="82549" y="2250961"/>
                </a:lnTo>
                <a:lnTo>
                  <a:pt x="81011" y="2248833"/>
                </a:lnTo>
                <a:lnTo>
                  <a:pt x="79509" y="2246605"/>
                </a:lnTo>
                <a:lnTo>
                  <a:pt x="78044" y="2244279"/>
                </a:lnTo>
                <a:lnTo>
                  <a:pt x="76618" y="2241860"/>
                </a:lnTo>
                <a:lnTo>
                  <a:pt x="75233" y="2239348"/>
                </a:lnTo>
                <a:lnTo>
                  <a:pt x="73889" y="2236747"/>
                </a:lnTo>
                <a:lnTo>
                  <a:pt x="72588" y="2234059"/>
                </a:lnTo>
                <a:lnTo>
                  <a:pt x="71332" y="2231287"/>
                </a:lnTo>
                <a:lnTo>
                  <a:pt x="70122" y="2228435"/>
                </a:lnTo>
                <a:lnTo>
                  <a:pt x="68960" y="2225506"/>
                </a:lnTo>
                <a:lnTo>
                  <a:pt x="67846" y="2222501"/>
                </a:lnTo>
                <a:lnTo>
                  <a:pt x="66782" y="2219426"/>
                </a:lnTo>
                <a:lnTo>
                  <a:pt x="65768" y="2216282"/>
                </a:lnTo>
                <a:lnTo>
                  <a:pt x="64807" y="2213074"/>
                </a:lnTo>
                <a:lnTo>
                  <a:pt x="63898" y="2209805"/>
                </a:lnTo>
                <a:lnTo>
                  <a:pt x="63044" y="2206478"/>
                </a:lnTo>
                <a:lnTo>
                  <a:pt x="62244" y="2203097"/>
                </a:lnTo>
                <a:lnTo>
                  <a:pt x="61500" y="2199665"/>
                </a:lnTo>
                <a:lnTo>
                  <a:pt x="60813" y="2196186"/>
                </a:lnTo>
                <a:lnTo>
                  <a:pt x="60183" y="2192665"/>
                </a:lnTo>
                <a:lnTo>
                  <a:pt x="59611" y="2189104"/>
                </a:lnTo>
                <a:lnTo>
                  <a:pt x="59097" y="2185507"/>
                </a:lnTo>
                <a:lnTo>
                  <a:pt x="58643" y="2181879"/>
                </a:lnTo>
                <a:lnTo>
                  <a:pt x="58248" y="2178223"/>
                </a:lnTo>
                <a:lnTo>
                  <a:pt x="57913" y="2174543"/>
                </a:lnTo>
                <a:lnTo>
                  <a:pt x="57639" y="2170843"/>
                </a:lnTo>
                <a:lnTo>
                  <a:pt x="57425" y="2167128"/>
                </a:lnTo>
                <a:lnTo>
                  <a:pt x="57272" y="2163400"/>
                </a:lnTo>
                <a:lnTo>
                  <a:pt x="57181" y="2159664"/>
                </a:lnTo>
                <a:lnTo>
                  <a:pt x="57150" y="2155924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88FA6-B94F-40B4-87C6-26F69AD6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5611416"/>
            <a:ext cx="3733800" cy="2270224"/>
          </a:xfrm>
          <a:prstGeom xmlns:a="http://schemas.openxmlformats.org/drawingml/2006/main" prst="roundRect">
            <a:avLst>
              <a:gd name="adj" fmla="val 50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86F5468-041B-4423-94E1-71E81C47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5611416"/>
            <a:ext cx="114300" cy="2270224"/>
          </a:xfrm>
          <a:custGeom xmlns:a="http://schemas.openxmlformats.org/drawingml/2006/main">
            <a:pathLst>
              <a:path w="114300" h="2270224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2155924"/>
                </a:lnTo>
                <a:lnTo>
                  <a:pt x="61" y="2159664"/>
                </a:lnTo>
                <a:lnTo>
                  <a:pt x="245" y="2163400"/>
                </a:lnTo>
                <a:lnTo>
                  <a:pt x="550" y="2167128"/>
                </a:lnTo>
                <a:lnTo>
                  <a:pt x="978" y="2170843"/>
                </a:lnTo>
                <a:lnTo>
                  <a:pt x="1527" y="2174543"/>
                </a:lnTo>
                <a:lnTo>
                  <a:pt x="2196" y="2178223"/>
                </a:lnTo>
                <a:lnTo>
                  <a:pt x="2986" y="2181879"/>
                </a:lnTo>
                <a:lnTo>
                  <a:pt x="3895" y="2185507"/>
                </a:lnTo>
                <a:lnTo>
                  <a:pt x="4922" y="2189104"/>
                </a:lnTo>
                <a:lnTo>
                  <a:pt x="6066" y="2192665"/>
                </a:lnTo>
                <a:lnTo>
                  <a:pt x="7326" y="2196186"/>
                </a:lnTo>
                <a:lnTo>
                  <a:pt x="8701" y="2199665"/>
                </a:lnTo>
                <a:lnTo>
                  <a:pt x="10188" y="2203097"/>
                </a:lnTo>
                <a:lnTo>
                  <a:pt x="11787" y="2206478"/>
                </a:lnTo>
                <a:lnTo>
                  <a:pt x="13496" y="2209805"/>
                </a:lnTo>
                <a:lnTo>
                  <a:pt x="15313" y="2213074"/>
                </a:lnTo>
                <a:lnTo>
                  <a:pt x="17236" y="2216282"/>
                </a:lnTo>
                <a:lnTo>
                  <a:pt x="19263" y="2219426"/>
                </a:lnTo>
                <a:lnTo>
                  <a:pt x="21392" y="2222501"/>
                </a:lnTo>
                <a:lnTo>
                  <a:pt x="23620" y="2225506"/>
                </a:lnTo>
                <a:lnTo>
                  <a:pt x="25945" y="2228435"/>
                </a:lnTo>
                <a:lnTo>
                  <a:pt x="28365" y="2231287"/>
                </a:lnTo>
                <a:lnTo>
                  <a:pt x="30877" y="2234059"/>
                </a:lnTo>
                <a:lnTo>
                  <a:pt x="33478" y="2236747"/>
                </a:lnTo>
                <a:lnTo>
                  <a:pt x="36165" y="2239348"/>
                </a:lnTo>
                <a:lnTo>
                  <a:pt x="38937" y="2241860"/>
                </a:lnTo>
                <a:lnTo>
                  <a:pt x="41789" y="2244279"/>
                </a:lnTo>
                <a:lnTo>
                  <a:pt x="44719" y="2246605"/>
                </a:lnTo>
                <a:lnTo>
                  <a:pt x="47723" y="2248833"/>
                </a:lnTo>
                <a:lnTo>
                  <a:pt x="50798" y="2250961"/>
                </a:lnTo>
                <a:lnTo>
                  <a:pt x="53942" y="2252988"/>
                </a:lnTo>
                <a:lnTo>
                  <a:pt x="57150" y="2254911"/>
                </a:lnTo>
                <a:lnTo>
                  <a:pt x="60419" y="2256728"/>
                </a:lnTo>
                <a:lnTo>
                  <a:pt x="63746" y="2258437"/>
                </a:lnTo>
                <a:lnTo>
                  <a:pt x="67128" y="2260036"/>
                </a:lnTo>
                <a:lnTo>
                  <a:pt x="70559" y="2261524"/>
                </a:lnTo>
                <a:lnTo>
                  <a:pt x="74038" y="2262898"/>
                </a:lnTo>
                <a:lnTo>
                  <a:pt x="77559" y="2264158"/>
                </a:lnTo>
                <a:lnTo>
                  <a:pt x="81120" y="2265302"/>
                </a:lnTo>
                <a:lnTo>
                  <a:pt x="84717" y="2266330"/>
                </a:lnTo>
                <a:lnTo>
                  <a:pt x="88345" y="2267238"/>
                </a:lnTo>
                <a:lnTo>
                  <a:pt x="92001" y="2268028"/>
                </a:lnTo>
                <a:lnTo>
                  <a:pt x="95681" y="2268698"/>
                </a:lnTo>
                <a:lnTo>
                  <a:pt x="99381" y="2269246"/>
                </a:lnTo>
                <a:lnTo>
                  <a:pt x="103097" y="2269674"/>
                </a:lnTo>
                <a:lnTo>
                  <a:pt x="106824" y="2269979"/>
                </a:lnTo>
                <a:lnTo>
                  <a:pt x="110560" y="2270163"/>
                </a:lnTo>
                <a:lnTo>
                  <a:pt x="114300" y="2270224"/>
                </a:lnTo>
                <a:lnTo>
                  <a:pt x="114300" y="2270224"/>
                </a:lnTo>
                <a:lnTo>
                  <a:pt x="112430" y="2270163"/>
                </a:lnTo>
                <a:lnTo>
                  <a:pt x="110562" y="2269979"/>
                </a:lnTo>
                <a:lnTo>
                  <a:pt x="108698" y="2269674"/>
                </a:lnTo>
                <a:lnTo>
                  <a:pt x="106840" y="2269246"/>
                </a:lnTo>
                <a:lnTo>
                  <a:pt x="104991" y="2268698"/>
                </a:lnTo>
                <a:lnTo>
                  <a:pt x="103151" y="2268028"/>
                </a:lnTo>
                <a:lnTo>
                  <a:pt x="101323" y="2267238"/>
                </a:lnTo>
                <a:lnTo>
                  <a:pt x="99508" y="2266330"/>
                </a:lnTo>
                <a:lnTo>
                  <a:pt x="97710" y="2265302"/>
                </a:lnTo>
                <a:lnTo>
                  <a:pt x="95930" y="2264158"/>
                </a:lnTo>
                <a:lnTo>
                  <a:pt x="94169" y="2262898"/>
                </a:lnTo>
                <a:lnTo>
                  <a:pt x="92430" y="2261524"/>
                </a:lnTo>
                <a:lnTo>
                  <a:pt x="90714" y="2260036"/>
                </a:lnTo>
                <a:lnTo>
                  <a:pt x="89023" y="2258437"/>
                </a:lnTo>
                <a:lnTo>
                  <a:pt x="87360" y="2256728"/>
                </a:lnTo>
                <a:lnTo>
                  <a:pt x="85725" y="2254911"/>
                </a:lnTo>
                <a:lnTo>
                  <a:pt x="84121" y="2252988"/>
                </a:lnTo>
                <a:lnTo>
                  <a:pt x="82549" y="2250961"/>
                </a:lnTo>
                <a:lnTo>
                  <a:pt x="81011" y="2248833"/>
                </a:lnTo>
                <a:lnTo>
                  <a:pt x="79509" y="2246605"/>
                </a:lnTo>
                <a:lnTo>
                  <a:pt x="78044" y="2244279"/>
                </a:lnTo>
                <a:lnTo>
                  <a:pt x="76618" y="2241860"/>
                </a:lnTo>
                <a:lnTo>
                  <a:pt x="75233" y="2239348"/>
                </a:lnTo>
                <a:lnTo>
                  <a:pt x="73889" y="2236747"/>
                </a:lnTo>
                <a:lnTo>
                  <a:pt x="72588" y="2234059"/>
                </a:lnTo>
                <a:lnTo>
                  <a:pt x="71332" y="2231287"/>
                </a:lnTo>
                <a:lnTo>
                  <a:pt x="70122" y="2228435"/>
                </a:lnTo>
                <a:lnTo>
                  <a:pt x="68960" y="2225506"/>
                </a:lnTo>
                <a:lnTo>
                  <a:pt x="67846" y="2222501"/>
                </a:lnTo>
                <a:lnTo>
                  <a:pt x="66782" y="2219426"/>
                </a:lnTo>
                <a:lnTo>
                  <a:pt x="65768" y="2216282"/>
                </a:lnTo>
                <a:lnTo>
                  <a:pt x="64807" y="2213074"/>
                </a:lnTo>
                <a:lnTo>
                  <a:pt x="63898" y="2209805"/>
                </a:lnTo>
                <a:lnTo>
                  <a:pt x="63044" y="2206478"/>
                </a:lnTo>
                <a:lnTo>
                  <a:pt x="62244" y="2203097"/>
                </a:lnTo>
                <a:lnTo>
                  <a:pt x="61500" y="2199665"/>
                </a:lnTo>
                <a:lnTo>
                  <a:pt x="60813" y="2196186"/>
                </a:lnTo>
                <a:lnTo>
                  <a:pt x="60183" y="2192665"/>
                </a:lnTo>
                <a:lnTo>
                  <a:pt x="59611" y="2189104"/>
                </a:lnTo>
                <a:lnTo>
                  <a:pt x="59097" y="2185507"/>
                </a:lnTo>
                <a:lnTo>
                  <a:pt x="58643" y="2181879"/>
                </a:lnTo>
                <a:lnTo>
                  <a:pt x="58248" y="2178223"/>
                </a:lnTo>
                <a:lnTo>
                  <a:pt x="57913" y="2174543"/>
                </a:lnTo>
                <a:lnTo>
                  <a:pt x="57639" y="2170843"/>
                </a:lnTo>
                <a:lnTo>
                  <a:pt x="57425" y="2167128"/>
                </a:lnTo>
                <a:lnTo>
                  <a:pt x="57272" y="2163400"/>
                </a:lnTo>
                <a:lnTo>
                  <a:pt x="57181" y="2159664"/>
                </a:lnTo>
                <a:lnTo>
                  <a:pt x="57150" y="2155924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163F1-613C-44F5-B3A2-9C79A10E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7591FA02-7041-49C6-97E8-A3FAC21A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74887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 · ТЕСТ</a:t>
            </a:r>
          </a:p>
        </p:txBody>
      </p:sp>
      <p:sp>
        <p:nvSpPr>
          <p:cNvPr id="9" name="heading-negative-test">
            <a:extLst xmlns:a="http://schemas.openxmlformats.org/drawingml/2006/main">
              <a:ext uri="{FF2B5EF4-FFF2-40B4-BE49-F238E27FC236}">
                <a16:creationId xmlns:a16="http://schemas.microsoft.com/office/drawing/2014/main" id="{4A1CB4D5-F5A8-46EB-B999-7F40E1A3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177338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16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Негативан тест доказује границу</a:t>
            </a:r>
          </a:p>
        </p:txBody>
      </p:sp>
      <p:sp>
        <p:nvSpPr>
          <p:cNvPr id="10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61F7563E-D967-4547-9C89-CF3DDDF9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1430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мења власника ресурса и очекује одбијање са стабилним кодом разлога.</a:t>
            </a:r>
          </a:p>
        </p:txBody>
      </p:sp>
      <p:sp>
        <p:nvSpPr>
          <p:cNvPr id="11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FF96F021-C3D2-45F9-99FC-DA3E22E3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12616"/>
            <a:ext cx="36348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C# · илустративни пример</a:t>
            </a:r>
          </a:p>
        </p:txBody>
      </p:sp>
      <p:sp>
        <p:nvSpPr>
          <p:cNvPr id="12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A904D4C6-22F6-4D4D-A26A-420F2A82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3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C6B793FB-AF37-440B-BF7D-7EBAA9EC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708797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[Test]</a:t>
            </a:r>
          </a:p>
        </p:txBody>
      </p:sp>
      <p:sp>
        <p:nvSpPr>
          <p:cNvPr id="14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873405E9-5144-4E42-A44C-25FE1AA7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287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5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7D5C07D0-E0B1-4015-910D-65325BDF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8777"/>
            <a:ext cx="7338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public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void Decide_WhenRequesterIsNotOwner_Denies()</a:t>
            </a:r>
          </a:p>
        </p:txBody>
      </p:sp>
      <p:sp>
        <p:nvSpPr>
          <p:cNvPr id="16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E42A1682-EE57-4895-B3F8-06BB335A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7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B22AB573-BF34-4334-9A34-473CF528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8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AAD5ECDB-8E6E-4484-938A-D6570D3F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87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9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D4BE2AC6-EC05-4051-B095-FA6CCE2C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68738"/>
            <a:ext cx="500657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var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decision = _policy.Decide(</a:t>
            </a:r>
          </a:p>
        </p:txBody>
      </p:sp>
      <p:sp>
        <p:nvSpPr>
          <p:cNvPr id="20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4C860A86-00E1-43A0-9720-A7616C2B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87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D5E331E7-BB9E-4851-8DB0-97395527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88719"/>
            <a:ext cx="747548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Requester(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"marko"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 Permissions.ReadRecords),</a:t>
            </a:r>
          </a:p>
        </p:txBody>
      </p:sp>
      <p:sp>
        <p:nvSpPr>
          <p:cNvPr id="22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C5AEB55B-9DA3-4806-9D24-563F54AE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086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3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53F680EC-7BB2-499C-923D-245A5F22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308699"/>
            <a:ext cx="6789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Resource(DataClassification.Internal));</a:t>
            </a:r>
          </a:p>
        </p:txBody>
      </p:sp>
      <p:sp>
        <p:nvSpPr>
          <p:cNvPr id="24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8BE597D5-FD15-4CF9-A399-6BBEAFE4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6286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5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BA20274C-3150-49C0-BC2C-CCB95A6C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628680"/>
            <a:ext cx="54179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Assert.That(decision, Is.EqualTo(</a:t>
            </a:r>
          </a:p>
        </p:txBody>
      </p:sp>
      <p:sp>
        <p:nvSpPr>
          <p:cNvPr id="26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AE479B87-B69C-4857-9D96-B63234F3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4866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7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471E0B9B-03BF-4EFC-BC74-70C81409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48660"/>
            <a:ext cx="59666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new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ResourceAccessDecision(</a:t>
            </a: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false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8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4412D99A-7452-48DB-95D5-1A0F8B86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268641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9</a:t>
            </a:r>
          </a:p>
        </p:txBody>
      </p:sp>
      <p:sp>
        <p:nvSpPr>
          <p:cNvPr id="29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9D2AF005-89AC-412B-9F2F-F55EDE25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268641"/>
            <a:ext cx="6378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          ResourceAccessCodes.NotOwner)));</a:t>
            </a:r>
          </a:p>
        </p:txBody>
      </p:sp>
      <p:sp>
        <p:nvSpPr>
          <p:cNvPr id="30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4084A1D2-0B25-4CEE-BF87-421EE476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6588621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sp>
        <p:nvSpPr>
          <p:cNvPr id="31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23850FBB-6B6E-4A19-A04E-5E990894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588621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32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226D6999-2A27-4DBB-89E5-270CB2CC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303091"/>
            <a:ext cx="1028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ДОКАЗ</a:t>
            </a:r>
          </a:p>
        </p:txBody>
      </p:sp>
      <p:sp>
        <p:nvSpPr>
          <p:cNvPr id="33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D8153FBD-B6E2-4D45-AB25-049CC506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3708797"/>
            <a:ext cx="355729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мења само власника </a:t>
            </a:r>
          </a:p>
        </p:txBody>
      </p:sp>
      <p:sp>
        <p:nvSpPr>
          <p:cNvPr id="34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24F34ED2-B278-4782-B5D3-36E2470B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082058"/>
            <a:ext cx="255657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ресурса и очекује </a:t>
            </a:r>
          </a:p>
        </p:txBody>
      </p:sp>
      <p:sp>
        <p:nvSpPr>
          <p:cNvPr id="35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E1706461-9BA6-4D5E-8CC6-2D7E4205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455319"/>
            <a:ext cx="34755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одбијање без откривања </a:t>
            </a:r>
          </a:p>
        </p:txBody>
      </p:sp>
      <p:sp>
        <p:nvSpPr>
          <p:cNvPr id="36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CEDF14A4-474F-4D20-AFEE-DB2C9171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4828580"/>
            <a:ext cx="233288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туђих података.</a:t>
            </a:r>
          </a:p>
        </p:txBody>
      </p:sp>
      <p:sp>
        <p:nvSpPr>
          <p:cNvPr id="37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D3BB333D-9308-45C7-9ABE-1434D45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5801916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ОЧЕКИВАНИ ИСХОД</a:t>
            </a:r>
          </a:p>
        </p:txBody>
      </p:sp>
      <p:sp>
        <p:nvSpPr>
          <p:cNvPr id="38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70F0BD28-6507-4706-8AE3-49861D37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6207621"/>
            <a:ext cx="23700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Тест мења једну </a:t>
            </a:r>
          </a:p>
        </p:txBody>
      </p:sp>
      <p:sp>
        <p:nvSpPr>
          <p:cNvPr id="39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692E9CF0-DD65-4A5F-BB03-A0744065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6580882"/>
            <a:ext cx="283175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чињеницу и очекује </a:t>
            </a:r>
          </a:p>
        </p:txBody>
      </p:sp>
      <p:sp>
        <p:nvSpPr>
          <p:cNvPr id="40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17FC2C3B-4CEB-4A04-94DA-384DC210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6954143"/>
            <a:ext cx="318789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јасан, стабилан разлог </a:t>
            </a:r>
          </a:p>
        </p:txBody>
      </p:sp>
      <p:sp>
        <p:nvSpPr>
          <p:cNvPr id="41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06FEA502-5A29-45E8-8F62-99798514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7327404"/>
            <a:ext cx="16036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одбијања.</a:t>
            </a:r>
          </a:p>
        </p:txBody>
      </p:sp>
      <p:sp>
        <p:nvSpPr>
          <p:cNvPr id="42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C9F350E3-9D95-4BFC-AC6F-2C04D8AD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43" name="text-negative-test">
            <a:extLst xmlns:a="http://schemas.openxmlformats.org/drawingml/2006/main">
              <a:ext uri="{FF2B5EF4-FFF2-40B4-BE49-F238E27FC236}">
                <a16:creationId xmlns:a16="http://schemas.microsoft.com/office/drawing/2014/main" id="{3F8EF012-DE69-427B-BC3E-78F935D0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07545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BAED8F-12A5-4401-9625-ACCF03D8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458CB-3205-45D6-ABDD-9C883B45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9525000" cy="3356074"/>
          </a:xfrm>
          <a:prstGeom xmlns:a="http://schemas.openxmlformats.org/drawingml/2006/main" prst="roundRect">
            <a:avLst>
              <a:gd name="adj" fmla="val 4541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80037E-5F36-4BE0-830F-E897D389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112591"/>
            <a:ext cx="6019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4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0C3BC3D6-8FB8-4CD2-92D1-43BDD759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112591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08A68-B1BF-42AD-94EE-A7EE4135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238155"/>
            <a:ext cx="6019800" cy="1896963"/>
          </a:xfrm>
          <a:prstGeom xmlns:a="http://schemas.openxmlformats.org/drawingml/2006/main" prst="roundRect">
            <a:avLst>
              <a:gd name="adj" fmla="val 602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6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8200BD24-5FC4-4037-A43D-C9E26B9F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238155"/>
            <a:ext cx="114300" cy="1896963"/>
          </a:xfrm>
          <a:custGeom xmlns:a="http://schemas.openxmlformats.org/drawingml/2006/main">
            <a:pathLst>
              <a:path w="114300" h="1896963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782663"/>
                </a:lnTo>
                <a:lnTo>
                  <a:pt x="61" y="1786403"/>
                </a:lnTo>
                <a:lnTo>
                  <a:pt x="245" y="1790139"/>
                </a:lnTo>
                <a:lnTo>
                  <a:pt x="550" y="1793867"/>
                </a:lnTo>
                <a:lnTo>
                  <a:pt x="978" y="1797582"/>
                </a:lnTo>
                <a:lnTo>
                  <a:pt x="1527" y="1801282"/>
                </a:lnTo>
                <a:lnTo>
                  <a:pt x="2196" y="1804962"/>
                </a:lnTo>
                <a:lnTo>
                  <a:pt x="2986" y="1808618"/>
                </a:lnTo>
                <a:lnTo>
                  <a:pt x="3895" y="1812246"/>
                </a:lnTo>
                <a:lnTo>
                  <a:pt x="4922" y="1815843"/>
                </a:lnTo>
                <a:lnTo>
                  <a:pt x="6066" y="1819404"/>
                </a:lnTo>
                <a:lnTo>
                  <a:pt x="7326" y="1822925"/>
                </a:lnTo>
                <a:lnTo>
                  <a:pt x="8701" y="1826404"/>
                </a:lnTo>
                <a:lnTo>
                  <a:pt x="10188" y="1829836"/>
                </a:lnTo>
                <a:lnTo>
                  <a:pt x="11787" y="1833217"/>
                </a:lnTo>
                <a:lnTo>
                  <a:pt x="13496" y="1836544"/>
                </a:lnTo>
                <a:lnTo>
                  <a:pt x="15313" y="1839813"/>
                </a:lnTo>
                <a:lnTo>
                  <a:pt x="17236" y="1843021"/>
                </a:lnTo>
                <a:lnTo>
                  <a:pt x="19263" y="1846165"/>
                </a:lnTo>
                <a:lnTo>
                  <a:pt x="21392" y="1849240"/>
                </a:lnTo>
                <a:lnTo>
                  <a:pt x="23620" y="1852245"/>
                </a:lnTo>
                <a:lnTo>
                  <a:pt x="25945" y="1855174"/>
                </a:lnTo>
                <a:lnTo>
                  <a:pt x="28365" y="1858027"/>
                </a:lnTo>
                <a:lnTo>
                  <a:pt x="30877" y="1860798"/>
                </a:lnTo>
                <a:lnTo>
                  <a:pt x="33478" y="1863486"/>
                </a:lnTo>
                <a:lnTo>
                  <a:pt x="36165" y="1866087"/>
                </a:lnTo>
                <a:lnTo>
                  <a:pt x="38937" y="1868599"/>
                </a:lnTo>
                <a:lnTo>
                  <a:pt x="41789" y="1871018"/>
                </a:lnTo>
                <a:lnTo>
                  <a:pt x="44719" y="1873344"/>
                </a:lnTo>
                <a:lnTo>
                  <a:pt x="47723" y="1875572"/>
                </a:lnTo>
                <a:lnTo>
                  <a:pt x="50798" y="1877700"/>
                </a:lnTo>
                <a:lnTo>
                  <a:pt x="53942" y="1879727"/>
                </a:lnTo>
                <a:lnTo>
                  <a:pt x="57150" y="1881650"/>
                </a:lnTo>
                <a:lnTo>
                  <a:pt x="60419" y="1883467"/>
                </a:lnTo>
                <a:lnTo>
                  <a:pt x="63746" y="1885176"/>
                </a:lnTo>
                <a:lnTo>
                  <a:pt x="67128" y="1886775"/>
                </a:lnTo>
                <a:lnTo>
                  <a:pt x="70559" y="1888263"/>
                </a:lnTo>
                <a:lnTo>
                  <a:pt x="74038" y="1889637"/>
                </a:lnTo>
                <a:lnTo>
                  <a:pt x="77559" y="1890897"/>
                </a:lnTo>
                <a:lnTo>
                  <a:pt x="81120" y="1892042"/>
                </a:lnTo>
                <a:lnTo>
                  <a:pt x="84717" y="1893069"/>
                </a:lnTo>
                <a:lnTo>
                  <a:pt x="88345" y="1893977"/>
                </a:lnTo>
                <a:lnTo>
                  <a:pt x="92001" y="1894767"/>
                </a:lnTo>
                <a:lnTo>
                  <a:pt x="95681" y="1895437"/>
                </a:lnTo>
                <a:lnTo>
                  <a:pt x="99381" y="1895985"/>
                </a:lnTo>
                <a:lnTo>
                  <a:pt x="103097" y="1896413"/>
                </a:lnTo>
                <a:lnTo>
                  <a:pt x="106824" y="1896719"/>
                </a:lnTo>
                <a:lnTo>
                  <a:pt x="110560" y="1896902"/>
                </a:lnTo>
                <a:lnTo>
                  <a:pt x="114300" y="1896963"/>
                </a:lnTo>
                <a:lnTo>
                  <a:pt x="114300" y="1896963"/>
                </a:lnTo>
                <a:lnTo>
                  <a:pt x="112430" y="1896902"/>
                </a:lnTo>
                <a:lnTo>
                  <a:pt x="110562" y="1896719"/>
                </a:lnTo>
                <a:lnTo>
                  <a:pt x="108698" y="1896413"/>
                </a:lnTo>
                <a:lnTo>
                  <a:pt x="106840" y="1895985"/>
                </a:lnTo>
                <a:lnTo>
                  <a:pt x="104991" y="1895437"/>
                </a:lnTo>
                <a:lnTo>
                  <a:pt x="103151" y="1894767"/>
                </a:lnTo>
                <a:lnTo>
                  <a:pt x="101323" y="1893977"/>
                </a:lnTo>
                <a:lnTo>
                  <a:pt x="99508" y="1893069"/>
                </a:lnTo>
                <a:lnTo>
                  <a:pt x="97710" y="1892042"/>
                </a:lnTo>
                <a:lnTo>
                  <a:pt x="95930" y="1890897"/>
                </a:lnTo>
                <a:lnTo>
                  <a:pt x="94169" y="1889637"/>
                </a:lnTo>
                <a:lnTo>
                  <a:pt x="92430" y="1888263"/>
                </a:lnTo>
                <a:lnTo>
                  <a:pt x="90714" y="1886775"/>
                </a:lnTo>
                <a:lnTo>
                  <a:pt x="89023" y="1885176"/>
                </a:lnTo>
                <a:lnTo>
                  <a:pt x="87360" y="1883467"/>
                </a:lnTo>
                <a:lnTo>
                  <a:pt x="85725" y="1881650"/>
                </a:lnTo>
                <a:lnTo>
                  <a:pt x="84121" y="1879727"/>
                </a:lnTo>
                <a:lnTo>
                  <a:pt x="82549" y="1877700"/>
                </a:lnTo>
                <a:lnTo>
                  <a:pt x="81011" y="1875572"/>
                </a:lnTo>
                <a:lnTo>
                  <a:pt x="79509" y="1873344"/>
                </a:lnTo>
                <a:lnTo>
                  <a:pt x="78044" y="1871018"/>
                </a:lnTo>
                <a:lnTo>
                  <a:pt x="76618" y="1868599"/>
                </a:lnTo>
                <a:lnTo>
                  <a:pt x="75233" y="1866087"/>
                </a:lnTo>
                <a:lnTo>
                  <a:pt x="73889" y="1863486"/>
                </a:lnTo>
                <a:lnTo>
                  <a:pt x="72588" y="1860798"/>
                </a:lnTo>
                <a:lnTo>
                  <a:pt x="71332" y="1858027"/>
                </a:lnTo>
                <a:lnTo>
                  <a:pt x="70122" y="1855174"/>
                </a:lnTo>
                <a:lnTo>
                  <a:pt x="68960" y="1852245"/>
                </a:lnTo>
                <a:lnTo>
                  <a:pt x="67846" y="1849240"/>
                </a:lnTo>
                <a:lnTo>
                  <a:pt x="66782" y="1846165"/>
                </a:lnTo>
                <a:lnTo>
                  <a:pt x="65768" y="1843021"/>
                </a:lnTo>
                <a:lnTo>
                  <a:pt x="64807" y="1839813"/>
                </a:lnTo>
                <a:lnTo>
                  <a:pt x="63898" y="1836544"/>
                </a:lnTo>
                <a:lnTo>
                  <a:pt x="63044" y="1833217"/>
                </a:lnTo>
                <a:lnTo>
                  <a:pt x="62244" y="1829836"/>
                </a:lnTo>
                <a:lnTo>
                  <a:pt x="61500" y="1826404"/>
                </a:lnTo>
                <a:lnTo>
                  <a:pt x="60813" y="1822925"/>
                </a:lnTo>
                <a:lnTo>
                  <a:pt x="60183" y="1819404"/>
                </a:lnTo>
                <a:lnTo>
                  <a:pt x="59611" y="1815843"/>
                </a:lnTo>
                <a:lnTo>
                  <a:pt x="59097" y="1812246"/>
                </a:lnTo>
                <a:lnTo>
                  <a:pt x="58643" y="1808618"/>
                </a:lnTo>
                <a:lnTo>
                  <a:pt x="58248" y="1804962"/>
                </a:lnTo>
                <a:lnTo>
                  <a:pt x="57913" y="1801282"/>
                </a:lnTo>
                <a:lnTo>
                  <a:pt x="57639" y="1797582"/>
                </a:lnTo>
                <a:lnTo>
                  <a:pt x="57425" y="1793867"/>
                </a:lnTo>
                <a:lnTo>
                  <a:pt x="57272" y="1790139"/>
                </a:lnTo>
                <a:lnTo>
                  <a:pt x="57181" y="1786403"/>
                </a:lnTo>
                <a:lnTo>
                  <a:pt x="57150" y="1782663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AE30A-848C-473B-A49F-19A1C57A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8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166A0CF2-C28A-4085-99A5-B6F99E87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 · ДОКАЗ</a:t>
            </a:r>
          </a:p>
        </p:txBody>
      </p:sp>
      <p:sp>
        <p:nvSpPr>
          <p:cNvPr id="9" name="heading-audit-record">
            <a:extLst xmlns:a="http://schemas.openxmlformats.org/drawingml/2006/main">
              <a:ext uri="{FF2B5EF4-FFF2-40B4-BE49-F238E27FC236}">
                <a16:creationId xmlns:a16="http://schemas.microsoft.com/office/drawing/2014/main" id="{29B2ACA2-B9B9-4A1D-97C7-9DD61FE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844168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64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Садржај безбедносног записа</a:t>
            </a:r>
          </a:p>
        </p:txBody>
      </p:sp>
      <p:sp>
        <p:nvSpPr>
          <p:cNvPr id="10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7ECF4CB2-0512-46B2-95E5-C4B7AE2C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2693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Запис садржи контекст потребан за реконструкцију одлуке, без тајни и непотребних личних података.</a:t>
            </a:r>
          </a:p>
        </p:txBody>
      </p:sp>
      <p:sp>
        <p:nvSpPr>
          <p:cNvPr id="11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2C50601D-45C3-49E9-A452-7D046BB0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12616"/>
            <a:ext cx="48692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JSON · пример безбедносног записа</a:t>
            </a:r>
          </a:p>
        </p:txBody>
      </p:sp>
      <p:sp>
        <p:nvSpPr>
          <p:cNvPr id="12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F628C3A7-F1E7-4BC6-BDB5-D10F6713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3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5FEC94D4-ED9B-48B1-9675-F8E3CC71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70879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{</a:t>
            </a:r>
          </a:p>
        </p:txBody>
      </p:sp>
      <p:sp>
        <p:nvSpPr>
          <p:cNvPr id="14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C2E35374-5784-4AA1-99DF-399C7C0E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28777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5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C992C6CB-BCBE-4988-A86F-133C8CA6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8777"/>
            <a:ext cx="281225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"actor"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"u-17"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6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7132DA69-2E29-4C47-8BEA-CE09B402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4875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7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FEC94B0D-490A-4CC1-ADCB-0B822CDD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348758"/>
            <a:ext cx="39094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"action"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"record.read"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18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6640B5B3-F187-478A-A90D-DF325289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68738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19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03C0D300-2C94-4EA3-9BA2-849F41A1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68738"/>
            <a:ext cx="363512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"target"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"record-93"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0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A88F4BE8-A7DC-43B6-9D4E-83FFEF50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98871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3621ACD6-70E4-4EC4-816F-C1EE33F1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988719"/>
            <a:ext cx="45952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"classification"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"internal"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2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9B6470CA-6495-48C4-B196-837D73F0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08699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3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DD380C5D-67DD-4F74-9F2B-247430A5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308699"/>
            <a:ext cx="336083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"outcome"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"denied"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,</a:t>
            </a:r>
          </a:p>
        </p:txBody>
      </p:sp>
      <p:sp>
        <p:nvSpPr>
          <p:cNvPr id="24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CBE3B3CA-4EA6-4B8D-A0BF-E04971C5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62868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7</a:t>
            </a:r>
          </a:p>
        </p:txBody>
      </p:sp>
      <p:sp>
        <p:nvSpPr>
          <p:cNvPr id="25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E991E922-3E54-4D72-B14A-F2AD1E52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628680"/>
            <a:ext cx="418370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 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"reason"</a:t>
            </a: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: </a:t>
            </a:r>
            <a:r>
              <a:rPr sz="1800" b="0">
                <a:solidFill>
                  <a:srgbClr val="A8520A"/>
                </a:solidFill>
                <a:latin typeface="IBM Plex Mono"/>
                <a:ea typeface="IBM Plex Mono"/>
                <a:cs typeface="IBM Plex Mono"/>
              </a:rPr>
              <a:t>"scope_mismatch"</a:t>
            </a:r>
          </a:p>
        </p:txBody>
      </p:sp>
      <p:sp>
        <p:nvSpPr>
          <p:cNvPr id="26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DAB64002-A045-4110-A59B-CC615329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94866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8C99A6"/>
                </a:solidFill>
                <a:latin typeface="IBM Plex Mono"/>
                <a:ea typeface="IBM Plex Mono"/>
                <a:cs typeface="IBM Plex Mono"/>
              </a:rPr>
              <a:t>8</a:t>
            </a:r>
          </a:p>
        </p:txBody>
      </p:sp>
      <p:sp>
        <p:nvSpPr>
          <p:cNvPr id="27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FB486066-3ACD-402D-AB96-11B4420A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948660"/>
            <a:ext cx="4801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13202D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28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0AD6F42E-B428-4CAC-A5A4-52B39A6E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303091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ДОВОЉНО</a:t>
            </a:r>
          </a:p>
        </p:txBody>
      </p:sp>
      <p:sp>
        <p:nvSpPr>
          <p:cNvPr id="29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47AF3619-6A3E-4832-9760-FEAE9BD4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708797"/>
            <a:ext cx="470594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Актер, радња, циљ, исход и разлог</a:t>
            </a:r>
          </a:p>
        </p:txBody>
      </p:sp>
      <p:sp>
        <p:nvSpPr>
          <p:cNvPr id="30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94033E4E-D68E-4F33-A5DC-F0F37C68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082058"/>
            <a:ext cx="571217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Временска ознака и correlation ID повезују </a:t>
            </a:r>
          </a:p>
        </p:txBody>
      </p:sp>
      <p:sp>
        <p:nvSpPr>
          <p:cNvPr id="31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AD663783-F13D-46FE-88C1-1EAF19C5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455319"/>
            <a:ext cx="31256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траг са остатком тока.</a:t>
            </a:r>
          </a:p>
        </p:txBody>
      </p:sp>
      <p:sp>
        <p:nvSpPr>
          <p:cNvPr id="32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0B6D1E83-1790-4773-B693-FF06CECB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428655"/>
            <a:ext cx="281181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НЕ ПРИПАДА У ДОКАЗ</a:t>
            </a:r>
          </a:p>
        </p:txBody>
      </p:sp>
      <p:sp>
        <p:nvSpPr>
          <p:cNvPr id="33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B4BD0376-4181-4F91-969A-E128A61C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5834360"/>
            <a:ext cx="54603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Лозинка, токен, тајна и сувишан садржај</a:t>
            </a:r>
          </a:p>
        </p:txBody>
      </p:sp>
      <p:sp>
        <p:nvSpPr>
          <p:cNvPr id="34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E7648EF8-EA57-430F-A187-AAC48D65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07621"/>
            <a:ext cx="57260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Траг не сме да постане нови извор цурења </a:t>
            </a:r>
          </a:p>
        </p:txBody>
      </p:sp>
      <p:sp>
        <p:nvSpPr>
          <p:cNvPr id="35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8E6C2DD5-C03F-4585-A6F6-AC963AB1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80882"/>
            <a:ext cx="472960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или збирка непотребних података.</a:t>
            </a:r>
          </a:p>
        </p:txBody>
      </p:sp>
      <p:sp>
        <p:nvSpPr>
          <p:cNvPr id="36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B4109576-182B-40EA-9268-CF20DB67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7" name="text-audit-record">
            <a:extLst xmlns:a="http://schemas.openxmlformats.org/drawingml/2006/main">
              <a:ext uri="{FF2B5EF4-FFF2-40B4-BE49-F238E27FC236}">
                <a16:creationId xmlns:a16="http://schemas.microsoft.com/office/drawing/2014/main" id="{8DF9739F-EA32-498E-932F-690E883B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7471875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C65EDC-AA0E-47AD-932F-0EAE179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4CFBF-C221-4506-A722-9F1B5626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4530"/>
            <a:ext cx="7772400" cy="2624584"/>
          </a:xfrm>
          <a:prstGeom xmlns:a="http://schemas.openxmlformats.org/drawingml/2006/main" prst="roundRect">
            <a:avLst>
              <a:gd name="adj" fmla="val 580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F63D0-DD8D-41BE-80F6-2C4C3B2C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34530"/>
            <a:ext cx="7772400" cy="2624584"/>
          </a:xfrm>
          <a:prstGeom xmlns:a="http://schemas.openxmlformats.org/drawingml/2006/main" prst="roundRect">
            <a:avLst>
              <a:gd name="adj" fmla="val 5807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F4D576-5040-4737-B0E5-39A2DD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63914"/>
            <a:ext cx="15849600" cy="1150441"/>
          </a:xfrm>
          <a:prstGeom xmlns:a="http://schemas.openxmlformats.org/drawingml/2006/main" prst="roundRect">
            <a:avLst>
              <a:gd name="adj" fmla="val 9935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5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10DFE8D0-632F-4524-A68E-8485C4B1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63914"/>
            <a:ext cx="114300" cy="1150441"/>
          </a:xfrm>
          <a:custGeom xmlns:a="http://schemas.openxmlformats.org/drawingml/2006/main">
            <a:pathLst>
              <a:path w="114300" h="1150441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036141"/>
                </a:lnTo>
                <a:lnTo>
                  <a:pt x="61" y="1039881"/>
                </a:lnTo>
                <a:lnTo>
                  <a:pt x="245" y="1043617"/>
                </a:lnTo>
                <a:lnTo>
                  <a:pt x="550" y="1047345"/>
                </a:lnTo>
                <a:lnTo>
                  <a:pt x="978" y="1051061"/>
                </a:lnTo>
                <a:lnTo>
                  <a:pt x="1527" y="1054760"/>
                </a:lnTo>
                <a:lnTo>
                  <a:pt x="2196" y="1058440"/>
                </a:lnTo>
                <a:lnTo>
                  <a:pt x="2986" y="1062096"/>
                </a:lnTo>
                <a:lnTo>
                  <a:pt x="3895" y="1065724"/>
                </a:lnTo>
                <a:lnTo>
                  <a:pt x="4922" y="1069321"/>
                </a:lnTo>
                <a:lnTo>
                  <a:pt x="6066" y="1072882"/>
                </a:lnTo>
                <a:lnTo>
                  <a:pt x="7326" y="1076404"/>
                </a:lnTo>
                <a:lnTo>
                  <a:pt x="8701" y="1079882"/>
                </a:lnTo>
                <a:lnTo>
                  <a:pt x="10188" y="1083314"/>
                </a:lnTo>
                <a:lnTo>
                  <a:pt x="11787" y="1086695"/>
                </a:lnTo>
                <a:lnTo>
                  <a:pt x="13496" y="1090022"/>
                </a:lnTo>
                <a:lnTo>
                  <a:pt x="15313" y="1093291"/>
                </a:lnTo>
                <a:lnTo>
                  <a:pt x="17236" y="1096500"/>
                </a:lnTo>
                <a:lnTo>
                  <a:pt x="19263" y="1099643"/>
                </a:lnTo>
                <a:lnTo>
                  <a:pt x="21392" y="1102719"/>
                </a:lnTo>
                <a:lnTo>
                  <a:pt x="23620" y="1105723"/>
                </a:lnTo>
                <a:lnTo>
                  <a:pt x="25945" y="1108653"/>
                </a:lnTo>
                <a:lnTo>
                  <a:pt x="28365" y="1111505"/>
                </a:lnTo>
                <a:lnTo>
                  <a:pt x="30877" y="1114276"/>
                </a:lnTo>
                <a:lnTo>
                  <a:pt x="33478" y="1116964"/>
                </a:lnTo>
                <a:lnTo>
                  <a:pt x="36165" y="1119565"/>
                </a:lnTo>
                <a:lnTo>
                  <a:pt x="38937" y="1122077"/>
                </a:lnTo>
                <a:lnTo>
                  <a:pt x="41789" y="1124497"/>
                </a:lnTo>
                <a:lnTo>
                  <a:pt x="44719" y="1126822"/>
                </a:lnTo>
                <a:lnTo>
                  <a:pt x="47723" y="1129050"/>
                </a:lnTo>
                <a:lnTo>
                  <a:pt x="50798" y="1131178"/>
                </a:lnTo>
                <a:lnTo>
                  <a:pt x="53942" y="1133205"/>
                </a:lnTo>
                <a:lnTo>
                  <a:pt x="57150" y="1135128"/>
                </a:lnTo>
                <a:lnTo>
                  <a:pt x="60419" y="1136945"/>
                </a:lnTo>
                <a:lnTo>
                  <a:pt x="63746" y="1138654"/>
                </a:lnTo>
                <a:lnTo>
                  <a:pt x="67128" y="1140253"/>
                </a:lnTo>
                <a:lnTo>
                  <a:pt x="70559" y="1141741"/>
                </a:lnTo>
                <a:lnTo>
                  <a:pt x="74038" y="1143115"/>
                </a:lnTo>
                <a:lnTo>
                  <a:pt x="77559" y="1144376"/>
                </a:lnTo>
                <a:lnTo>
                  <a:pt x="81120" y="1145520"/>
                </a:lnTo>
                <a:lnTo>
                  <a:pt x="84717" y="1146547"/>
                </a:lnTo>
                <a:lnTo>
                  <a:pt x="88345" y="1147456"/>
                </a:lnTo>
                <a:lnTo>
                  <a:pt x="92001" y="1148245"/>
                </a:lnTo>
                <a:lnTo>
                  <a:pt x="95681" y="1148915"/>
                </a:lnTo>
                <a:lnTo>
                  <a:pt x="99381" y="1149464"/>
                </a:lnTo>
                <a:lnTo>
                  <a:pt x="103097" y="1149891"/>
                </a:lnTo>
                <a:lnTo>
                  <a:pt x="106824" y="1150197"/>
                </a:lnTo>
                <a:lnTo>
                  <a:pt x="110560" y="1150380"/>
                </a:lnTo>
                <a:lnTo>
                  <a:pt x="114300" y="1150441"/>
                </a:lnTo>
                <a:lnTo>
                  <a:pt x="114300" y="1150441"/>
                </a:lnTo>
                <a:lnTo>
                  <a:pt x="112430" y="1150380"/>
                </a:lnTo>
                <a:lnTo>
                  <a:pt x="110562" y="1150197"/>
                </a:lnTo>
                <a:lnTo>
                  <a:pt x="108698" y="1149891"/>
                </a:lnTo>
                <a:lnTo>
                  <a:pt x="106840" y="1149464"/>
                </a:lnTo>
                <a:lnTo>
                  <a:pt x="104991" y="1148915"/>
                </a:lnTo>
                <a:lnTo>
                  <a:pt x="103151" y="1148245"/>
                </a:lnTo>
                <a:lnTo>
                  <a:pt x="101323" y="1147456"/>
                </a:lnTo>
                <a:lnTo>
                  <a:pt x="99508" y="1146547"/>
                </a:lnTo>
                <a:lnTo>
                  <a:pt x="97710" y="1145520"/>
                </a:lnTo>
                <a:lnTo>
                  <a:pt x="95930" y="1144376"/>
                </a:lnTo>
                <a:lnTo>
                  <a:pt x="94169" y="1143115"/>
                </a:lnTo>
                <a:lnTo>
                  <a:pt x="92430" y="1141741"/>
                </a:lnTo>
                <a:lnTo>
                  <a:pt x="90714" y="1140253"/>
                </a:lnTo>
                <a:lnTo>
                  <a:pt x="89023" y="1138654"/>
                </a:lnTo>
                <a:lnTo>
                  <a:pt x="87360" y="1136945"/>
                </a:lnTo>
                <a:lnTo>
                  <a:pt x="85725" y="1135128"/>
                </a:lnTo>
                <a:lnTo>
                  <a:pt x="84121" y="1133205"/>
                </a:lnTo>
                <a:lnTo>
                  <a:pt x="82549" y="1131178"/>
                </a:lnTo>
                <a:lnTo>
                  <a:pt x="81011" y="1129050"/>
                </a:lnTo>
                <a:lnTo>
                  <a:pt x="79509" y="1126822"/>
                </a:lnTo>
                <a:lnTo>
                  <a:pt x="78044" y="1124497"/>
                </a:lnTo>
                <a:lnTo>
                  <a:pt x="76618" y="1122077"/>
                </a:lnTo>
                <a:lnTo>
                  <a:pt x="75233" y="1119565"/>
                </a:lnTo>
                <a:lnTo>
                  <a:pt x="73889" y="1116964"/>
                </a:lnTo>
                <a:lnTo>
                  <a:pt x="72588" y="1114276"/>
                </a:lnTo>
                <a:lnTo>
                  <a:pt x="71332" y="1111505"/>
                </a:lnTo>
                <a:lnTo>
                  <a:pt x="70122" y="1108653"/>
                </a:lnTo>
                <a:lnTo>
                  <a:pt x="68960" y="1105723"/>
                </a:lnTo>
                <a:lnTo>
                  <a:pt x="67846" y="1102719"/>
                </a:lnTo>
                <a:lnTo>
                  <a:pt x="66782" y="1099643"/>
                </a:lnTo>
                <a:lnTo>
                  <a:pt x="65768" y="1096500"/>
                </a:lnTo>
                <a:lnTo>
                  <a:pt x="64807" y="1093291"/>
                </a:lnTo>
                <a:lnTo>
                  <a:pt x="63898" y="1090022"/>
                </a:lnTo>
                <a:lnTo>
                  <a:pt x="63044" y="1086695"/>
                </a:lnTo>
                <a:lnTo>
                  <a:pt x="62244" y="1083314"/>
                </a:lnTo>
                <a:lnTo>
                  <a:pt x="61500" y="1079882"/>
                </a:lnTo>
                <a:lnTo>
                  <a:pt x="60813" y="1076404"/>
                </a:lnTo>
                <a:lnTo>
                  <a:pt x="60183" y="1072882"/>
                </a:lnTo>
                <a:lnTo>
                  <a:pt x="59611" y="1069321"/>
                </a:lnTo>
                <a:lnTo>
                  <a:pt x="59097" y="1065724"/>
                </a:lnTo>
                <a:lnTo>
                  <a:pt x="58643" y="1062096"/>
                </a:lnTo>
                <a:lnTo>
                  <a:pt x="58248" y="1058440"/>
                </a:lnTo>
                <a:lnTo>
                  <a:pt x="57913" y="1054760"/>
                </a:lnTo>
                <a:lnTo>
                  <a:pt x="57639" y="1051061"/>
                </a:lnTo>
                <a:lnTo>
                  <a:pt x="57425" y="1047345"/>
                </a:lnTo>
                <a:lnTo>
                  <a:pt x="57272" y="1043617"/>
                </a:lnTo>
                <a:lnTo>
                  <a:pt x="57181" y="1039881"/>
                </a:lnTo>
                <a:lnTo>
                  <a:pt x="57150" y="1036141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64675-A690-4B97-B5A7-5A8345AC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8765DBBB-3EAD-491D-99B7-BEC8A985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36233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 · ГРАНИЦА ОДГОВОРА</a:t>
            </a:r>
          </a:p>
        </p:txBody>
      </p:sp>
      <p:sp>
        <p:nvSpPr>
          <p:cNvPr id="8" name="heading-denial-contract">
            <a:extLst xmlns:a="http://schemas.openxmlformats.org/drawingml/2006/main">
              <a:ext uri="{FF2B5EF4-FFF2-40B4-BE49-F238E27FC236}">
                <a16:creationId xmlns:a16="http://schemas.microsoft.com/office/drawing/2014/main" id="{8E94CD2A-B9C2-442C-8E29-FEF7261D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11926193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8709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Одбијање мора бити корисно и ограничено</a:t>
            </a:r>
          </a:p>
        </p:txBody>
      </p:sp>
      <p:sp>
        <p:nvSpPr>
          <p:cNvPr id="9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E98770D1-1CBF-4EAE-AD9F-840E0DFE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710755"/>
            <a:ext cx="13031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КЛИЈЕНТ</a:t>
            </a:r>
          </a:p>
        </p:txBody>
      </p:sp>
      <p:sp>
        <p:nvSpPr>
          <p:cNvPr id="10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115EC94D-56F0-4FD3-952C-AF9A2030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145036"/>
            <a:ext cx="401210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Без детаља туђег записа</a:t>
            </a:r>
          </a:p>
        </p:txBody>
      </p:sp>
      <p:sp>
        <p:nvSpPr>
          <p:cNvPr id="11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72C6DCDA-F93B-47A8-9CA2-DC0867D3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72632"/>
            <a:ext cx="744676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Контролисан одговор описује дозвољени исход захтева. </a:t>
            </a:r>
          </a:p>
        </p:txBody>
      </p:sp>
      <p:sp>
        <p:nvSpPr>
          <p:cNvPr id="12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FA8EC3A2-0E39-4BF9-9CB6-5684BC1A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45893"/>
            <a:ext cx="75238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 враћа садржај, власника нити осетљиве детаље туђег </a:t>
            </a:r>
          </a:p>
        </p:txBody>
      </p:sp>
      <p:sp>
        <p:nvSpPr>
          <p:cNvPr id="13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2C1F717F-C665-4065-8AD9-66914593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19154"/>
            <a:ext cx="14143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ресурса.</a:t>
            </a:r>
          </a:p>
        </p:txBody>
      </p:sp>
      <p:sp>
        <p:nvSpPr>
          <p:cNvPr id="14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009109A5-B8D2-48F3-A5C1-E5633333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710755"/>
            <a:ext cx="11659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СЕРВЕР</a:t>
            </a:r>
          </a:p>
        </p:txBody>
      </p:sp>
      <p:sp>
        <p:nvSpPr>
          <p:cNvPr id="15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34CF346D-B81D-4E17-9602-877ECBA8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145036"/>
            <a:ext cx="450502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Довољно за реконструкцију</a:t>
            </a:r>
          </a:p>
        </p:txBody>
      </p:sp>
      <p:sp>
        <p:nvSpPr>
          <p:cNvPr id="16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189EBF7F-1057-4EA5-8997-DA916D6E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672632"/>
            <a:ext cx="655200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Ревизиони траг чува актера, радњу, циљ, исход и </a:t>
            </a:r>
          </a:p>
        </p:txBody>
      </p:sp>
      <p:sp>
        <p:nvSpPr>
          <p:cNvPr id="17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4E0C4ED1-345F-49D1-AEB5-69CB52F4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45893"/>
            <a:ext cx="65920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стабилан разлог. Без лозинки, токена и сувишног </a:t>
            </a:r>
          </a:p>
        </p:txBody>
      </p:sp>
      <p:sp>
        <p:nvSpPr>
          <p:cNvPr id="18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2549C064-BB54-4701-A404-7E1BDAD3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419154"/>
            <a:ext cx="156284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садржаја.</a:t>
            </a:r>
          </a:p>
        </p:txBody>
      </p:sp>
      <p:sp>
        <p:nvSpPr>
          <p:cNvPr id="19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E30B5A2C-C6FA-48EB-ABEF-F16378F0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54414"/>
            <a:ext cx="15774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Тестирање</a:t>
            </a:r>
          </a:p>
        </p:txBody>
      </p:sp>
      <p:sp>
        <p:nvSpPr>
          <p:cNvPr id="20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63709160-C636-4946-BC29-842B4B04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60120"/>
            <a:ext cx="953526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Директан API захтев и извоз морају да примене исту одлуку као и екран.</a:t>
            </a:r>
          </a:p>
        </p:txBody>
      </p:sp>
      <p:sp>
        <p:nvSpPr>
          <p:cNvPr id="21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A379269B-BDE7-42FE-8C85-3951CAB2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2" name="text-denial-contract">
            <a:extLst xmlns:a="http://schemas.openxmlformats.org/drawingml/2006/main">
              <a:ext uri="{FF2B5EF4-FFF2-40B4-BE49-F238E27FC236}">
                <a16:creationId xmlns:a16="http://schemas.microsoft.com/office/drawing/2014/main" id="{3EF38D73-5E6D-4324-8F58-14AA0C56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8147077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0E5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C37B37-E4ED-4009-A291-38080D98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58657"/>
            <a:ext cx="1188541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26F78-1798-402F-9FA2-BE6492F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3641" y="6158657"/>
            <a:ext cx="1780580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D0AC7-6668-4085-9554-536938B3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8521" y="6158657"/>
            <a:ext cx="1350913" cy="4914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C8B6B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8D73B-4774-4A40-B3D6-9187FC21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6BF"/>
          </a:solidFill>
          <a:ln xmlns:a="http://schemas.openxmlformats.org/drawingml/2006/main" w="0">
            <a:noFill/>
          </a:ln>
        </p:spPr>
      </p:sp>
      <p:sp>
        <p:nvSpPr>
          <p:cNvPr id="5" name="text-deo4">
            <a:extLst xmlns:a="http://schemas.openxmlformats.org/drawingml/2006/main">
              <a:ext uri="{FF2B5EF4-FFF2-40B4-BE49-F238E27FC236}">
                <a16:creationId xmlns:a16="http://schemas.microsoft.com/office/drawing/2014/main" id="{FE049017-F828-4057-A2AD-1DC94785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3390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0">
                <a:latin typeface="IBM Plex Mono"/>
                <a:ea typeface="IBM Plex Mono"/>
                <a:cs typeface="IBM Plex Mono"/>
              </a:defRPr>
            </a:pPr>
            <a:r>
              <a:rPr sz="21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6" name="text-deo4">
            <a:extLst xmlns:a="http://schemas.openxmlformats.org/drawingml/2006/main">
              <a:ext uri="{FF2B5EF4-FFF2-40B4-BE49-F238E27FC236}">
                <a16:creationId xmlns:a16="http://schemas.microsoft.com/office/drawing/2014/main" id="{92B22444-0201-4053-9644-9F8D5F94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1964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ЧЕТВРТИ ДЕО</a:t>
            </a:r>
          </a:p>
        </p:txBody>
      </p:sp>
      <p:sp>
        <p:nvSpPr>
          <p:cNvPr id="7" name="heading-deo4">
            <a:extLst xmlns:a="http://schemas.openxmlformats.org/drawingml/2006/main">
              <a:ext uri="{FF2B5EF4-FFF2-40B4-BE49-F238E27FC236}">
                <a16:creationId xmlns:a16="http://schemas.microsoft.com/office/drawing/2014/main" id="{B16C12EB-3645-409F-94AE-6C269D47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04345"/>
            <a:ext cx="8674894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137"/>
          </a:bodyPr>
          <a:lstStyle xmlns:a="http://schemas.openxmlformats.org/drawingml/2006/main"/>
          <a:p xmlns:a="http://schemas.openxmlformats.org/drawingml/2006/main">
            <a:pPr algn="l">
              <a:defRPr sz="7200">
                <a:latin typeface="IBM Plex Sans"/>
                <a:ea typeface="IBM Plex Sans"/>
                <a:cs typeface="IBM Plex Sans"/>
              </a:defRPr>
            </a:pPr>
            <a:r>
              <a:rPr sz="72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и примена</a:t>
            </a:r>
          </a:p>
        </p:txBody>
      </p:sp>
      <p:sp>
        <p:nvSpPr>
          <p:cNvPr id="8" name="text-deo4">
            <a:extLst xmlns:a="http://schemas.openxmlformats.org/drawingml/2006/main">
              <a:ext uri="{FF2B5EF4-FFF2-40B4-BE49-F238E27FC236}">
                <a16:creationId xmlns:a16="http://schemas.microsoft.com/office/drawing/2014/main" id="{A476C9AF-BE57-4842-8569-3BA80068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54960"/>
            <a:ext cx="881955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Критеријуми потпуности, честе грешке и примена на један стварни </a:t>
            </a:r>
          </a:p>
        </p:txBody>
      </p:sp>
      <p:sp>
        <p:nvSpPr>
          <p:cNvPr id="9" name="text-deo4">
            <a:extLst xmlns:a="http://schemas.openxmlformats.org/drawingml/2006/main">
              <a:ext uri="{FF2B5EF4-FFF2-40B4-BE49-F238E27FC236}">
                <a16:creationId xmlns:a16="http://schemas.microsoft.com/office/drawing/2014/main" id="{9EBE52F3-AA0C-41CC-89B3-B7A11E3E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8221"/>
            <a:ext cx="293533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пројектни сценарио.</a:t>
            </a:r>
          </a:p>
        </p:txBody>
      </p:sp>
      <p:sp>
        <p:nvSpPr>
          <p:cNvPr id="10" name="text-deo4">
            <a:extLst xmlns:a="http://schemas.openxmlformats.org/drawingml/2006/main">
              <a:ext uri="{FF2B5EF4-FFF2-40B4-BE49-F238E27FC236}">
                <a16:creationId xmlns:a16="http://schemas.microsoft.com/office/drawing/2014/main" id="{F75BEC47-A959-4649-9124-81FCA58E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6244382"/>
            <a:ext cx="1131391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Грешке</a:t>
            </a:r>
          </a:p>
        </p:txBody>
      </p:sp>
      <p:sp>
        <p:nvSpPr>
          <p:cNvPr id="11" name="text-deo4">
            <a:extLst xmlns:a="http://schemas.openxmlformats.org/drawingml/2006/main">
              <a:ext uri="{FF2B5EF4-FFF2-40B4-BE49-F238E27FC236}">
                <a16:creationId xmlns:a16="http://schemas.microsoft.com/office/drawing/2014/main" id="{E5EDD951-BCBC-4C7C-A5EB-BD5C72A9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666" y="6244382"/>
            <a:ext cx="172343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Критеријуми</a:t>
            </a:r>
          </a:p>
        </p:txBody>
      </p:sp>
      <p:sp>
        <p:nvSpPr>
          <p:cNvPr id="12" name="text-deo4">
            <a:extLst xmlns:a="http://schemas.openxmlformats.org/drawingml/2006/main">
              <a:ext uri="{FF2B5EF4-FFF2-40B4-BE49-F238E27FC236}">
                <a16:creationId xmlns:a16="http://schemas.microsoft.com/office/drawing/2014/main" id="{92362AB4-C8DE-45A0-B32E-8C46C4BD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8546" y="6244382"/>
            <a:ext cx="129376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Пројекат</a:t>
            </a:r>
          </a:p>
        </p:txBody>
      </p:sp>
      <p:sp>
        <p:nvSpPr>
          <p:cNvPr id="13" name="text-deo4">
            <a:extLst xmlns:a="http://schemas.openxmlformats.org/drawingml/2006/main">
              <a:ext uri="{FF2B5EF4-FFF2-40B4-BE49-F238E27FC236}">
                <a16:creationId xmlns:a16="http://schemas.microsoft.com/office/drawing/2014/main" id="{75D213F9-6852-4722-9002-97EF994E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4" name="text-deo4">
            <a:extLst xmlns:a="http://schemas.openxmlformats.org/drawingml/2006/main">
              <a:ext uri="{FF2B5EF4-FFF2-40B4-BE49-F238E27FC236}">
                <a16:creationId xmlns:a16="http://schemas.microsoft.com/office/drawing/2014/main" id="{E35A5A00-777F-4AB0-956B-E83C8DA3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13303697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CAAF08-B89C-4751-8ABF-101642C7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6F608E-0D26-4E58-AC12-02410E36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5156150" cy="2914204"/>
          </a:xfrm>
          <a:prstGeom xmlns:a="http://schemas.openxmlformats.org/drawingml/2006/main" prst="roundRect">
            <a:avLst>
              <a:gd name="adj" fmla="val 523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3BBE1-64DE-46D0-B700-B5E8138A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850" y="3112591"/>
            <a:ext cx="5156299" cy="2914204"/>
          </a:xfrm>
          <a:prstGeom xmlns:a="http://schemas.openxmlformats.org/drawingml/2006/main" prst="roundRect">
            <a:avLst>
              <a:gd name="adj" fmla="val 523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D2B6C-294D-451D-8F42-ECB1B2F8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650" y="3112591"/>
            <a:ext cx="5156150" cy="2914204"/>
          </a:xfrm>
          <a:prstGeom xmlns:a="http://schemas.openxmlformats.org/drawingml/2006/main" prst="roundRect">
            <a:avLst>
              <a:gd name="adj" fmla="val 5230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7A11A-8995-4042-B055-A954F397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E64C4FB5-5A95-4148-A3F7-54AC3A9C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06127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 · ГРЕШКЕ</a:t>
            </a:r>
          </a:p>
        </p:txBody>
      </p:sp>
      <p:sp>
        <p:nvSpPr>
          <p:cNvPr id="7" name="heading-source-17">
            <a:extLst xmlns:a="http://schemas.openxmlformats.org/drawingml/2006/main">
              <a:ext uri="{FF2B5EF4-FFF2-40B4-BE49-F238E27FC236}">
                <a16:creationId xmlns:a16="http://schemas.microsoft.com/office/drawing/2014/main" id="{AFD45337-1606-49A1-B3E6-F00D2F80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017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4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Честе грешке у имплементацији</a:t>
            </a:r>
          </a:p>
        </p:txBody>
      </p:sp>
      <p:sp>
        <p:nvSpPr>
          <p:cNvPr id="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81EA9A9-066D-4F27-A06E-D92C1C9E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920219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Грешке настају када контекст, место одлуке или доказ остану нејасни.</a:t>
            </a:r>
          </a:p>
        </p:txBody>
      </p:sp>
      <p:sp>
        <p:nvSpPr>
          <p:cNvPr id="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83FF7107-19A6-41C4-BAF5-B50714A1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CDCB2701-749B-487C-A183-AEE729F7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436661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улоге без провере </a:t>
            </a:r>
          </a:p>
        </p:txBody>
      </p:sp>
      <p:sp>
        <p:nvSpPr>
          <p:cNvPr id="1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93D2A69-0A66-45EE-A852-0B3A2A53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474518"/>
            <a:ext cx="4235202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односа према конкретном </a:t>
            </a:r>
          </a:p>
        </p:txBody>
      </p:sp>
      <p:sp>
        <p:nvSpPr>
          <p:cNvPr id="1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70DBD3A-8829-4408-A0C9-48685421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840188"/>
            <a:ext cx="160153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ресурсу.</a:t>
            </a:r>
          </a:p>
        </p:txBody>
      </p:sp>
      <p:sp>
        <p:nvSpPr>
          <p:cNvPr id="13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35E70E90-28BC-48D5-8D20-BAC9400A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86834"/>
            <a:ext cx="408979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Нема јасног власника одлуке.</a:t>
            </a:r>
          </a:p>
        </p:txBody>
      </p:sp>
      <p:sp>
        <p:nvSpPr>
          <p:cNvPr id="1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94BA835E-FD1F-4BBE-B0C8-2843A128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5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61EB4D7-2379-4A6D-AB96-49C3D86E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108847"/>
            <a:ext cx="478973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Филтрирање листе у клијенту </a:t>
            </a:r>
          </a:p>
        </p:txBody>
      </p:sp>
      <p:sp>
        <p:nvSpPr>
          <p:cNvPr id="16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38F6A3CF-F28D-4540-A8FF-620DC205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4474518"/>
            <a:ext cx="466040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без исте провере на серверу.</a:t>
            </a:r>
          </a:p>
        </p:txBody>
      </p:sp>
      <p:sp>
        <p:nvSpPr>
          <p:cNvPr id="17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75C380E4-3237-4AB0-8156-66241F62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075" y="5021163"/>
            <a:ext cx="43547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 постоји негативан сценарио.</a:t>
            </a:r>
          </a:p>
        </p:txBody>
      </p:sp>
      <p:sp>
        <p:nvSpPr>
          <p:cNvPr id="18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656343AB-77BF-451F-8793-6E2BB202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9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1822A26B-F7FD-456C-A15B-661FEB9D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108847"/>
            <a:ext cx="4442817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Снижавање класификације </a:t>
            </a:r>
          </a:p>
        </p:txBody>
      </p:sp>
      <p:sp>
        <p:nvSpPr>
          <p:cNvPr id="20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EA1747EE-52AF-47E1-80F6-EB574353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474518"/>
            <a:ext cx="410810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без образложења и трага </a:t>
            </a:r>
          </a:p>
        </p:txBody>
      </p:sp>
      <p:sp>
        <p:nvSpPr>
          <p:cNvPr id="21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CC4D6A80-14E7-4896-A9A7-CF2F8492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4840188"/>
            <a:ext cx="171152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промене.</a:t>
            </a:r>
          </a:p>
        </p:txBody>
      </p:sp>
      <p:sp>
        <p:nvSpPr>
          <p:cNvPr id="22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B056B97F-E867-4749-8A9A-57EA642F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88875" y="5386834"/>
            <a:ext cx="454669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Доказ не показује стварни исход.</a:t>
            </a:r>
          </a:p>
        </p:txBody>
      </p:sp>
      <p:sp>
        <p:nvSpPr>
          <p:cNvPr id="23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03267AC1-59AB-43C5-B2FF-AFA47BBE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4" name="text-source-17">
            <a:extLst xmlns:a="http://schemas.openxmlformats.org/drawingml/2006/main">
              <a:ext uri="{FF2B5EF4-FFF2-40B4-BE49-F238E27FC236}">
                <a16:creationId xmlns:a16="http://schemas.microsoft.com/office/drawing/2014/main" id="{9AAE0D9C-29D6-4F83-9999-935FCF5D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5710015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43C02E-3749-4EDC-A502-6DAB83F9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78EFB-51E6-492F-8B6B-2E33EAC0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8839200" cy="2997845"/>
          </a:xfrm>
          <a:prstGeom xmlns:a="http://schemas.openxmlformats.org/drawingml/2006/main" prst="roundRect">
            <a:avLst>
              <a:gd name="adj" fmla="val 5084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011F6D-C64E-4F17-8696-2BDFE0A6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106763"/>
            <a:ext cx="670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D7AE6D-D079-456D-8F6D-63416EAB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300960"/>
            <a:ext cx="670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33A94-1A5B-49B3-8E7A-1A0A3DB1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868418"/>
            <a:ext cx="670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2CE44-BE8F-4548-B336-61CA92CD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6C72DDB0-6BEC-40BA-A4F8-6CD92699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8423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 · КРИТЕРИЈУМИ</a:t>
            </a:r>
          </a:p>
        </p:txBody>
      </p:sp>
      <p:sp>
        <p:nvSpPr>
          <p:cNvPr id="8" name="heading-source-18">
            <a:extLst xmlns:a="http://schemas.openxmlformats.org/drawingml/2006/main">
              <a:ext uri="{FF2B5EF4-FFF2-40B4-BE49-F238E27FC236}">
                <a16:creationId xmlns:a16="http://schemas.microsoft.com/office/drawing/2014/main" id="{2478D0D1-2BF8-41B7-B38A-E8FD713B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9807922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096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Критеријуми потпуне ауторизације</a:t>
            </a:r>
          </a:p>
        </p:txBody>
      </p:sp>
      <p:sp>
        <p:nvSpPr>
          <p:cNvPr id="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B2286871-A804-4F6E-BF91-F5399160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86266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Провера обухвата серверску границу, негативне сценарије и запис разлога одлуке.</a:t>
            </a:r>
          </a:p>
        </p:txBody>
      </p:sp>
      <p:sp>
        <p:nvSpPr>
          <p:cNvPr id="1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9B3FF7A7-99CE-47F1-AE20-DEE5EE69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388816"/>
            <a:ext cx="185172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ОБРАЗЛОЖЕЊЕ</a:t>
            </a:r>
          </a:p>
        </p:txBody>
      </p:sp>
      <p:sp>
        <p:nvSpPr>
          <p:cNvPr id="1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84C819BD-9755-4BE4-A461-A17497AB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23097"/>
            <a:ext cx="6110436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latin typeface="IBM Plex Sans"/>
                <a:ea typeface="IBM Plex Sans"/>
                <a:cs typeface="IBM Plex Sans"/>
              </a:defRPr>
            </a:pPr>
            <a:r>
              <a:rPr sz="24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Како знамо да је ауторизација потпуна</a:t>
            </a:r>
          </a:p>
        </p:txBody>
      </p:sp>
      <p:sp>
        <p:nvSpPr>
          <p:cNvPr id="1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674C0B18-255C-416C-B361-D1309BDB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350693"/>
            <a:ext cx="818420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Приступ се проверава на стварној граници система. Директан </a:t>
            </a:r>
          </a:p>
        </p:txBody>
      </p:sp>
      <p:sp>
        <p:nvSpPr>
          <p:cNvPr id="1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C17A34D-2A36-4754-AE99-B46465D9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23954"/>
            <a:ext cx="84903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API захтев, позадински процес и извоз примењују исто правило. </a:t>
            </a:r>
          </a:p>
        </p:txBody>
      </p:sp>
      <p:sp>
        <p:nvSpPr>
          <p:cNvPr id="1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63F5BFAE-DE59-4C1F-B3A1-BB7419C6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097214"/>
            <a:ext cx="85428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Негативни тестови описују границу приступа и очекивани разлог </a:t>
            </a:r>
          </a:p>
        </p:txBody>
      </p:sp>
      <p:sp>
        <p:nvSpPr>
          <p:cNvPr id="1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B1C6DC7-1B4A-4441-8006-C7EAA156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470475"/>
            <a:ext cx="160362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одбијања.</a:t>
            </a:r>
          </a:p>
        </p:txBody>
      </p:sp>
      <p:sp>
        <p:nvSpPr>
          <p:cNvPr id="1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27D8D69A-D840-48FC-B9AF-CA9EDDE5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207841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Mono"/>
                <a:ea typeface="IBM Plex Mono"/>
                <a:cs typeface="IBM Plex Mono"/>
              </a:defRPr>
            </a:pPr>
            <a:r>
              <a:rPr sz="3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37ACC294-BB2F-4FD5-842B-0868E545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98316"/>
            <a:ext cx="593273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Систем једнако штити ресурс када се захтев </a:t>
            </a:r>
          </a:p>
        </p:txBody>
      </p:sp>
      <p:sp>
        <p:nvSpPr>
          <p:cNvPr id="18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439C0CC2-3269-43C7-B00A-DEC71727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571577"/>
            <a:ext cx="455577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пошаље ван стандардног екрана.</a:t>
            </a:r>
          </a:p>
        </p:txBody>
      </p:sp>
      <p:sp>
        <p:nvSpPr>
          <p:cNvPr id="19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EAC53C41-149E-4740-BDFA-6858E69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402038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Mono"/>
                <a:ea typeface="IBM Plex Mono"/>
                <a:cs typeface="IBM Plex Mono"/>
              </a:defRPr>
            </a:pPr>
            <a:r>
              <a:rPr sz="3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20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76CEB55C-2221-4EA4-8F09-08D88EE5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392513"/>
            <a:ext cx="515451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Одбијени захтев не враћа детаље који </a:t>
            </a:r>
          </a:p>
        </p:txBody>
      </p:sp>
      <p:sp>
        <p:nvSpPr>
          <p:cNvPr id="21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F1F8C0CA-6FF6-44A3-9A14-B15B104B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765774"/>
            <a:ext cx="490373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помажу да се мапирају туђи подаци.</a:t>
            </a:r>
          </a:p>
        </p:txBody>
      </p:sp>
      <p:sp>
        <p:nvSpPr>
          <p:cNvPr id="22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B9BBEBD7-DA47-4FEB-AFEC-6FD40208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596235"/>
            <a:ext cx="80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>
                <a:latin typeface="IBM Plex Mono"/>
                <a:ea typeface="IBM Plex Mono"/>
                <a:cs typeface="IBM Plex Mono"/>
              </a:defRPr>
            </a:pPr>
            <a:r>
              <a:rPr sz="30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3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5212411-AFAB-4077-8E2F-1030819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586710"/>
            <a:ext cx="480089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Промена класификације и промена </a:t>
            </a:r>
          </a:p>
        </p:txBody>
      </p:sp>
      <p:sp>
        <p:nvSpPr>
          <p:cNvPr id="24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D64B2193-A105-49AC-AD73-495DE18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959971"/>
            <a:ext cx="544413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власништва остављају довољно трага за </a:t>
            </a:r>
          </a:p>
        </p:txBody>
      </p:sp>
      <p:sp>
        <p:nvSpPr>
          <p:cNvPr id="25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549CBDA0-8E65-457E-882C-F4D784AD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3232"/>
            <a:ext cx="245447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каснији преглед.</a:t>
            </a:r>
          </a:p>
        </p:txBody>
      </p:sp>
      <p:sp>
        <p:nvSpPr>
          <p:cNvPr id="26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0CF105FF-E53D-403D-A543-66C1161A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7" name="text-source-18">
            <a:extLst xmlns:a="http://schemas.openxmlformats.org/drawingml/2006/main">
              <a:ext uri="{FF2B5EF4-FFF2-40B4-BE49-F238E27FC236}">
                <a16:creationId xmlns:a16="http://schemas.microsoft.com/office/drawing/2014/main" id="{7D07DC0B-3F05-4A3B-85E2-10B7271D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1057194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F9043A-3B6A-4279-8590-1D763FA5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1CF67-9AAA-49BE-8238-D2EC8741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96BB42-1CAB-42F5-82DD-5B09B0AD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8464F-822D-4DCF-8063-C4870BF1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492E7-827B-4BD6-B653-976B9775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112591"/>
            <a:ext cx="34766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D35789-BD48-4F44-8259-48A02906C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510E8EF1-8B3A-437F-AA58-80BD560D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8DB45-EB72-465C-9BAA-29A9D9AB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bbfb59fca42b7"/>
          <a:stretch xmlns:a="http://schemas.openxmlformats.org/drawingml/2006/main"/>
        </p:blipFill>
        <p:spPr>
          <a:xfrm xmlns:a="http://schemas.openxmlformats.org/drawingml/2006/main">
            <a:off x="4886325" y="405928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30fa29218469d"/>
          <a:stretch xmlns:a="http://schemas.openxmlformats.org/drawingml/2006/main"/>
        </p:blipFill>
        <p:spPr>
          <a:xfrm xmlns:a="http://schemas.openxmlformats.org/drawingml/2006/main">
            <a:off x="9010650" y="4059287"/>
            <a:ext cx="266700" cy="190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544a6f7674bfe"/>
          <a:stretch xmlns:a="http://schemas.openxmlformats.org/drawingml/2006/main"/>
        </p:blipFill>
        <p:spPr>
          <a:xfrm xmlns:a="http://schemas.openxmlformats.org/drawingml/2006/main">
            <a:off x="13134975" y="4059287"/>
            <a:ext cx="2667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9BC7EF62-06F1-4BBA-9049-1B5FD026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37366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 · ПРОЈЕКАТ</a:t>
            </a:r>
          </a:p>
        </p:txBody>
      </p:sp>
      <p:sp>
        <p:nvSpPr>
          <p:cNvPr id="13" name="heading-source-19">
            <a:extLst xmlns:a="http://schemas.openxmlformats.org/drawingml/2006/main">
              <a:ext uri="{FF2B5EF4-FFF2-40B4-BE49-F238E27FC236}">
                <a16:creationId xmlns:a16="http://schemas.microsoft.com/office/drawing/2014/main" id="{98E50FB9-A35F-4874-A136-51B60D41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5971877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Примена на пројекат</a:t>
            </a:r>
          </a:p>
        </p:txBody>
      </p:sp>
      <p:sp>
        <p:nvSpPr>
          <p:cNvPr id="1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B90C3E34-1290-4F62-B1E0-E037E66A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089421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Анализа једног сценарија обухвата одлуку, имплементацију, тест одбијања и доказ.</a:t>
            </a:r>
          </a:p>
        </p:txBody>
      </p:sp>
      <p:sp>
        <p:nvSpPr>
          <p:cNvPr id="1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1615B0C0-6966-4EB2-949E-02C1959A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3707DCF7-7EA1-4C8A-8446-AC271048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250299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Избор сценарија</a:t>
            </a:r>
          </a:p>
        </p:txBody>
      </p:sp>
      <p:sp>
        <p:nvSpPr>
          <p:cNvPr id="1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EDC58488-A3C3-43A0-94B8-0F8C1EF9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59645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једна стварна радња</a:t>
            </a:r>
          </a:p>
        </p:txBody>
      </p:sp>
      <p:sp>
        <p:nvSpPr>
          <p:cNvPr id="1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E06B3996-A340-4AE8-A39B-DC4BD435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C3149AF-78A9-4FAB-83FD-71369A1F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108847"/>
            <a:ext cx="3208883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Дефинисање правила</a:t>
            </a:r>
          </a:p>
        </p:txBody>
      </p:sp>
      <p:sp>
        <p:nvSpPr>
          <p:cNvPr id="2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DB6D9AE7-8725-4F77-9F86-49F6EC83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00277"/>
            <a:ext cx="207808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улази и граница</a:t>
            </a:r>
          </a:p>
        </p:txBody>
      </p:sp>
      <p:sp>
        <p:nvSpPr>
          <p:cNvPr id="2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3DDDF85-0BAC-4095-946D-A35C0574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22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CC5C25AF-679C-4EF4-B3DA-98891638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108847"/>
            <a:ext cx="218985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Тест одбијања</a:t>
            </a:r>
          </a:p>
        </p:txBody>
      </p:sp>
      <p:sp>
        <p:nvSpPr>
          <p:cNvPr id="23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6C1A694F-71F6-4D4F-857B-D96706B1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600277"/>
            <a:ext cx="31776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једна чињеница недостаје</a:t>
            </a:r>
          </a:p>
        </p:txBody>
      </p:sp>
      <p:sp>
        <p:nvSpPr>
          <p:cNvPr id="24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5E95D6DB-5E58-4958-A9CC-19ACDF2C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5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8863AAFC-A695-4DC1-A810-5179B6FB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108847"/>
            <a:ext cx="25509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Ревизиони запис</a:t>
            </a:r>
          </a:p>
        </p:txBody>
      </p:sp>
      <p:sp>
        <p:nvSpPr>
          <p:cNvPr id="26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F96974F-AF83-42A2-9FDC-F977AF12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4600277"/>
            <a:ext cx="193476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исход и разлог</a:t>
            </a:r>
          </a:p>
        </p:txBody>
      </p:sp>
      <p:sp>
        <p:nvSpPr>
          <p:cNvPr id="27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182240D-59D7-4479-B949-30147E5D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91783"/>
            <a:ext cx="29490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ПРИМЕНА НА ПРОЈЕКАТ</a:t>
            </a:r>
          </a:p>
        </p:txBody>
      </p:sp>
      <p:sp>
        <p:nvSpPr>
          <p:cNvPr id="28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2D10B6B3-C75A-4C38-9BED-B7741CA4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97488"/>
            <a:ext cx="154843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Пројектна примена теме „Ауторизација над ресурсом и класификација података“ обухвата једну серверску одлуку, тест </a:t>
            </a:r>
          </a:p>
        </p:txBody>
      </p:sp>
      <p:sp>
        <p:nvSpPr>
          <p:cNvPr id="29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7D186D0F-4423-48E9-87BE-D5428B50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0749"/>
            <a:ext cx="73873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одбијања и доказ који други члан тима може да понови.</a:t>
            </a:r>
          </a:p>
        </p:txBody>
      </p:sp>
      <p:sp>
        <p:nvSpPr>
          <p:cNvPr id="30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7EB8FEB0-FB97-4ADE-BFAE-88EA9FD8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31" name="text-source-19">
            <a:extLst xmlns:a="http://schemas.openxmlformats.org/drawingml/2006/main">
              <a:ext uri="{FF2B5EF4-FFF2-40B4-BE49-F238E27FC236}">
                <a16:creationId xmlns:a16="http://schemas.microsoft.com/office/drawing/2014/main" id="{753E0CA9-4685-445A-BA48-91EC4FA5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82463282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C944C3-B4BD-49D0-9DEF-A872B574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9DFF4-1FBA-464B-836F-D28D610A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12591"/>
            <a:ext cx="38195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10FDD-69CD-43DC-A87C-1AB1AB3C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12591"/>
            <a:ext cx="38195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99D25-95E0-4DB5-BB8C-A3120D1E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12591"/>
            <a:ext cx="38195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C6077-533F-453D-8C34-988A9F98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9275" y="3112591"/>
            <a:ext cx="3819525" cy="2083891"/>
          </a:xfrm>
          <a:prstGeom xmlns:a="http://schemas.openxmlformats.org/drawingml/2006/main" prst="roundRect">
            <a:avLst>
              <a:gd name="adj" fmla="val 7313"/>
            </a:avLst>
          </a:prstGeom>
          <a:solidFill xmlns:a="http://schemas.openxmlformats.org/drawingml/2006/main">
            <a:srgbClr val="FCFCFB"/>
          </a:solidFill>
          <a:ln xmlns:a="http://schemas.openxmlformats.org/drawingml/2006/main" w="9525">
            <a:solidFill>
              <a:srgbClr val="D3DA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C74C58-353E-44ED-A898-D2F683C4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5849600" cy="1523702"/>
          </a:xfrm>
          <a:prstGeom xmlns:a="http://schemas.openxmlformats.org/drawingml/2006/main" prst="roundRect">
            <a:avLst>
              <a:gd name="adj" fmla="val 7501"/>
            </a:avLst>
          </a:prstGeom>
          <a:solidFill xmlns:a="http://schemas.openxmlformats.org/drawingml/2006/main">
            <a:srgbClr val="F0E5E5"/>
          </a:solidFill>
          <a:ln xmlns:a="http://schemas.openxmlformats.org/drawingml/2006/main" w="0">
            <a:noFill/>
          </a:ln>
        </p:spPr>
      </p:sp>
      <p:sp>
        <p:nvSpPr>
          <p:cNvPr id="7" name="rounded-banner-accent">
            <a:extLst xmlns:a="http://schemas.openxmlformats.org/drawingml/2006/main">
              <a:ext uri="{FF2B5EF4-FFF2-40B4-BE49-F238E27FC236}">
                <a16:creationId xmlns:a16="http://schemas.microsoft.com/office/drawing/2014/main" id="{DB708C89-1874-47ED-B7C2-9F15BDD7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01283"/>
            <a:ext cx="114300" cy="1523702"/>
          </a:xfrm>
          <a:custGeom xmlns:a="http://schemas.openxmlformats.org/drawingml/2006/main">
            <a:pathLst>
              <a:path w="114300" h="1523702">
                <a:moveTo>
                  <a:pt x="114300" y="0"/>
                </a:moveTo>
                <a:lnTo>
                  <a:pt x="110560" y="61"/>
                </a:lnTo>
                <a:lnTo>
                  <a:pt x="106824" y="245"/>
                </a:lnTo>
                <a:lnTo>
                  <a:pt x="103097" y="550"/>
                </a:lnTo>
                <a:lnTo>
                  <a:pt x="99381" y="978"/>
                </a:lnTo>
                <a:lnTo>
                  <a:pt x="95681" y="1527"/>
                </a:lnTo>
                <a:lnTo>
                  <a:pt x="92001" y="2196"/>
                </a:lnTo>
                <a:lnTo>
                  <a:pt x="88345" y="2986"/>
                </a:lnTo>
                <a:lnTo>
                  <a:pt x="84717" y="3895"/>
                </a:lnTo>
                <a:lnTo>
                  <a:pt x="81120" y="4922"/>
                </a:lnTo>
                <a:lnTo>
                  <a:pt x="77559" y="6066"/>
                </a:lnTo>
                <a:lnTo>
                  <a:pt x="74038" y="7326"/>
                </a:lnTo>
                <a:lnTo>
                  <a:pt x="70559" y="8701"/>
                </a:lnTo>
                <a:lnTo>
                  <a:pt x="67128" y="10188"/>
                </a:lnTo>
                <a:lnTo>
                  <a:pt x="63746" y="11787"/>
                </a:lnTo>
                <a:lnTo>
                  <a:pt x="60419" y="13496"/>
                </a:lnTo>
                <a:lnTo>
                  <a:pt x="57150" y="15313"/>
                </a:lnTo>
                <a:lnTo>
                  <a:pt x="53942" y="17236"/>
                </a:lnTo>
                <a:lnTo>
                  <a:pt x="50798" y="19263"/>
                </a:lnTo>
                <a:lnTo>
                  <a:pt x="47723" y="21392"/>
                </a:lnTo>
                <a:lnTo>
                  <a:pt x="44719" y="23620"/>
                </a:lnTo>
                <a:lnTo>
                  <a:pt x="41789" y="25945"/>
                </a:lnTo>
                <a:lnTo>
                  <a:pt x="38937" y="28365"/>
                </a:lnTo>
                <a:lnTo>
                  <a:pt x="36165" y="30877"/>
                </a:lnTo>
                <a:lnTo>
                  <a:pt x="33478" y="33478"/>
                </a:lnTo>
                <a:lnTo>
                  <a:pt x="30877" y="36165"/>
                </a:lnTo>
                <a:lnTo>
                  <a:pt x="28365" y="38937"/>
                </a:lnTo>
                <a:lnTo>
                  <a:pt x="25945" y="41789"/>
                </a:lnTo>
                <a:lnTo>
                  <a:pt x="23620" y="44719"/>
                </a:lnTo>
                <a:lnTo>
                  <a:pt x="21392" y="47723"/>
                </a:lnTo>
                <a:lnTo>
                  <a:pt x="19263" y="50798"/>
                </a:lnTo>
                <a:lnTo>
                  <a:pt x="17236" y="53942"/>
                </a:lnTo>
                <a:lnTo>
                  <a:pt x="15313" y="57150"/>
                </a:lnTo>
                <a:lnTo>
                  <a:pt x="13496" y="60419"/>
                </a:lnTo>
                <a:lnTo>
                  <a:pt x="11787" y="63746"/>
                </a:lnTo>
                <a:lnTo>
                  <a:pt x="10188" y="67128"/>
                </a:lnTo>
                <a:lnTo>
                  <a:pt x="8701" y="70559"/>
                </a:lnTo>
                <a:lnTo>
                  <a:pt x="7326" y="74038"/>
                </a:lnTo>
                <a:lnTo>
                  <a:pt x="6066" y="77559"/>
                </a:lnTo>
                <a:lnTo>
                  <a:pt x="4922" y="81120"/>
                </a:lnTo>
                <a:lnTo>
                  <a:pt x="3895" y="84717"/>
                </a:lnTo>
                <a:lnTo>
                  <a:pt x="2986" y="88345"/>
                </a:lnTo>
                <a:lnTo>
                  <a:pt x="2196" y="92001"/>
                </a:lnTo>
                <a:lnTo>
                  <a:pt x="1527" y="95681"/>
                </a:lnTo>
                <a:lnTo>
                  <a:pt x="978" y="99381"/>
                </a:lnTo>
                <a:lnTo>
                  <a:pt x="550" y="103097"/>
                </a:lnTo>
                <a:lnTo>
                  <a:pt x="245" y="106824"/>
                </a:lnTo>
                <a:lnTo>
                  <a:pt x="61" y="110560"/>
                </a:lnTo>
                <a:lnTo>
                  <a:pt x="0" y="114300"/>
                </a:lnTo>
                <a:lnTo>
                  <a:pt x="0" y="1409402"/>
                </a:lnTo>
                <a:lnTo>
                  <a:pt x="61" y="1413142"/>
                </a:lnTo>
                <a:lnTo>
                  <a:pt x="245" y="1416878"/>
                </a:lnTo>
                <a:lnTo>
                  <a:pt x="550" y="1420606"/>
                </a:lnTo>
                <a:lnTo>
                  <a:pt x="978" y="1424321"/>
                </a:lnTo>
                <a:lnTo>
                  <a:pt x="1527" y="1428021"/>
                </a:lnTo>
                <a:lnTo>
                  <a:pt x="2196" y="1431701"/>
                </a:lnTo>
                <a:lnTo>
                  <a:pt x="2986" y="1435357"/>
                </a:lnTo>
                <a:lnTo>
                  <a:pt x="3895" y="1438985"/>
                </a:lnTo>
                <a:lnTo>
                  <a:pt x="4922" y="1442582"/>
                </a:lnTo>
                <a:lnTo>
                  <a:pt x="6066" y="1446143"/>
                </a:lnTo>
                <a:lnTo>
                  <a:pt x="7326" y="1449665"/>
                </a:lnTo>
                <a:lnTo>
                  <a:pt x="8701" y="1453143"/>
                </a:lnTo>
                <a:lnTo>
                  <a:pt x="10188" y="1456575"/>
                </a:lnTo>
                <a:lnTo>
                  <a:pt x="11787" y="1459956"/>
                </a:lnTo>
                <a:lnTo>
                  <a:pt x="13496" y="1463283"/>
                </a:lnTo>
                <a:lnTo>
                  <a:pt x="15313" y="1466552"/>
                </a:lnTo>
                <a:lnTo>
                  <a:pt x="17236" y="1469760"/>
                </a:lnTo>
                <a:lnTo>
                  <a:pt x="19263" y="1472904"/>
                </a:lnTo>
                <a:lnTo>
                  <a:pt x="21392" y="1475980"/>
                </a:lnTo>
                <a:lnTo>
                  <a:pt x="23620" y="1478984"/>
                </a:lnTo>
                <a:lnTo>
                  <a:pt x="25945" y="1481913"/>
                </a:lnTo>
                <a:lnTo>
                  <a:pt x="28365" y="1484766"/>
                </a:lnTo>
                <a:lnTo>
                  <a:pt x="30877" y="1487537"/>
                </a:lnTo>
                <a:lnTo>
                  <a:pt x="33478" y="1490225"/>
                </a:lnTo>
                <a:lnTo>
                  <a:pt x="36165" y="1492826"/>
                </a:lnTo>
                <a:lnTo>
                  <a:pt x="38937" y="1495338"/>
                </a:lnTo>
                <a:lnTo>
                  <a:pt x="41789" y="1497757"/>
                </a:lnTo>
                <a:lnTo>
                  <a:pt x="44719" y="1500083"/>
                </a:lnTo>
                <a:lnTo>
                  <a:pt x="47723" y="1502311"/>
                </a:lnTo>
                <a:lnTo>
                  <a:pt x="50798" y="1504439"/>
                </a:lnTo>
                <a:lnTo>
                  <a:pt x="53942" y="1506466"/>
                </a:lnTo>
                <a:lnTo>
                  <a:pt x="57150" y="1508389"/>
                </a:lnTo>
                <a:lnTo>
                  <a:pt x="60419" y="1510206"/>
                </a:lnTo>
                <a:lnTo>
                  <a:pt x="63746" y="1511915"/>
                </a:lnTo>
                <a:lnTo>
                  <a:pt x="67128" y="1513514"/>
                </a:lnTo>
                <a:lnTo>
                  <a:pt x="70559" y="1515002"/>
                </a:lnTo>
                <a:lnTo>
                  <a:pt x="74038" y="1516376"/>
                </a:lnTo>
                <a:lnTo>
                  <a:pt x="77559" y="1517636"/>
                </a:lnTo>
                <a:lnTo>
                  <a:pt x="81120" y="1518781"/>
                </a:lnTo>
                <a:lnTo>
                  <a:pt x="84717" y="1519808"/>
                </a:lnTo>
                <a:lnTo>
                  <a:pt x="88345" y="1520716"/>
                </a:lnTo>
                <a:lnTo>
                  <a:pt x="92001" y="1521506"/>
                </a:lnTo>
                <a:lnTo>
                  <a:pt x="95681" y="1522176"/>
                </a:lnTo>
                <a:lnTo>
                  <a:pt x="99381" y="1522724"/>
                </a:lnTo>
                <a:lnTo>
                  <a:pt x="103097" y="1523152"/>
                </a:lnTo>
                <a:lnTo>
                  <a:pt x="106824" y="1523458"/>
                </a:lnTo>
                <a:lnTo>
                  <a:pt x="110560" y="1523641"/>
                </a:lnTo>
                <a:lnTo>
                  <a:pt x="114300" y="1523702"/>
                </a:lnTo>
                <a:lnTo>
                  <a:pt x="114300" y="1523702"/>
                </a:lnTo>
                <a:lnTo>
                  <a:pt x="112430" y="1523641"/>
                </a:lnTo>
                <a:lnTo>
                  <a:pt x="110562" y="1523458"/>
                </a:lnTo>
                <a:lnTo>
                  <a:pt x="108698" y="1523152"/>
                </a:lnTo>
                <a:lnTo>
                  <a:pt x="106840" y="1522724"/>
                </a:lnTo>
                <a:lnTo>
                  <a:pt x="104991" y="1522176"/>
                </a:lnTo>
                <a:lnTo>
                  <a:pt x="103151" y="1521506"/>
                </a:lnTo>
                <a:lnTo>
                  <a:pt x="101323" y="1520716"/>
                </a:lnTo>
                <a:lnTo>
                  <a:pt x="99508" y="1519808"/>
                </a:lnTo>
                <a:lnTo>
                  <a:pt x="97710" y="1518781"/>
                </a:lnTo>
                <a:lnTo>
                  <a:pt x="95930" y="1517636"/>
                </a:lnTo>
                <a:lnTo>
                  <a:pt x="94169" y="1516376"/>
                </a:lnTo>
                <a:lnTo>
                  <a:pt x="92430" y="1515002"/>
                </a:lnTo>
                <a:lnTo>
                  <a:pt x="90714" y="1513514"/>
                </a:lnTo>
                <a:lnTo>
                  <a:pt x="89023" y="1511915"/>
                </a:lnTo>
                <a:lnTo>
                  <a:pt x="87360" y="1510206"/>
                </a:lnTo>
                <a:lnTo>
                  <a:pt x="85725" y="1508389"/>
                </a:lnTo>
                <a:lnTo>
                  <a:pt x="84121" y="1506466"/>
                </a:lnTo>
                <a:lnTo>
                  <a:pt x="82549" y="1504439"/>
                </a:lnTo>
                <a:lnTo>
                  <a:pt x="81011" y="1502311"/>
                </a:lnTo>
                <a:lnTo>
                  <a:pt x="79509" y="1500083"/>
                </a:lnTo>
                <a:lnTo>
                  <a:pt x="78044" y="1497757"/>
                </a:lnTo>
                <a:lnTo>
                  <a:pt x="76618" y="1495338"/>
                </a:lnTo>
                <a:lnTo>
                  <a:pt x="75233" y="1492826"/>
                </a:lnTo>
                <a:lnTo>
                  <a:pt x="73889" y="1490225"/>
                </a:lnTo>
                <a:lnTo>
                  <a:pt x="72588" y="1487537"/>
                </a:lnTo>
                <a:lnTo>
                  <a:pt x="71332" y="1484766"/>
                </a:lnTo>
                <a:lnTo>
                  <a:pt x="70122" y="1481913"/>
                </a:lnTo>
                <a:lnTo>
                  <a:pt x="68960" y="1478984"/>
                </a:lnTo>
                <a:lnTo>
                  <a:pt x="67846" y="1475980"/>
                </a:lnTo>
                <a:lnTo>
                  <a:pt x="66782" y="1472904"/>
                </a:lnTo>
                <a:lnTo>
                  <a:pt x="65768" y="1469760"/>
                </a:lnTo>
                <a:lnTo>
                  <a:pt x="64807" y="1466552"/>
                </a:lnTo>
                <a:lnTo>
                  <a:pt x="63898" y="1463283"/>
                </a:lnTo>
                <a:lnTo>
                  <a:pt x="63044" y="1459956"/>
                </a:lnTo>
                <a:lnTo>
                  <a:pt x="62244" y="1456575"/>
                </a:lnTo>
                <a:lnTo>
                  <a:pt x="61500" y="1453143"/>
                </a:lnTo>
                <a:lnTo>
                  <a:pt x="60813" y="1449665"/>
                </a:lnTo>
                <a:lnTo>
                  <a:pt x="60183" y="1446143"/>
                </a:lnTo>
                <a:lnTo>
                  <a:pt x="59611" y="1442582"/>
                </a:lnTo>
                <a:lnTo>
                  <a:pt x="59097" y="1438985"/>
                </a:lnTo>
                <a:lnTo>
                  <a:pt x="58643" y="1435357"/>
                </a:lnTo>
                <a:lnTo>
                  <a:pt x="58248" y="1431701"/>
                </a:lnTo>
                <a:lnTo>
                  <a:pt x="57913" y="1428021"/>
                </a:lnTo>
                <a:lnTo>
                  <a:pt x="57639" y="1424321"/>
                </a:lnTo>
                <a:lnTo>
                  <a:pt x="57425" y="1420606"/>
                </a:lnTo>
                <a:lnTo>
                  <a:pt x="57272" y="1416878"/>
                </a:lnTo>
                <a:lnTo>
                  <a:pt x="57181" y="1413142"/>
                </a:lnTo>
                <a:lnTo>
                  <a:pt x="57150" y="1409402"/>
                </a:lnTo>
                <a:lnTo>
                  <a:pt x="57150" y="114300"/>
                </a:lnTo>
                <a:lnTo>
                  <a:pt x="57181" y="110560"/>
                </a:lnTo>
                <a:lnTo>
                  <a:pt x="57272" y="106824"/>
                </a:lnTo>
                <a:lnTo>
                  <a:pt x="57425" y="103097"/>
                </a:lnTo>
                <a:lnTo>
                  <a:pt x="57639" y="99381"/>
                </a:lnTo>
                <a:lnTo>
                  <a:pt x="57913" y="95681"/>
                </a:lnTo>
                <a:lnTo>
                  <a:pt x="58248" y="92001"/>
                </a:lnTo>
                <a:lnTo>
                  <a:pt x="58643" y="88345"/>
                </a:lnTo>
                <a:lnTo>
                  <a:pt x="59097" y="84717"/>
                </a:lnTo>
                <a:lnTo>
                  <a:pt x="59611" y="81120"/>
                </a:lnTo>
                <a:lnTo>
                  <a:pt x="60183" y="77559"/>
                </a:lnTo>
                <a:lnTo>
                  <a:pt x="60813" y="74038"/>
                </a:lnTo>
                <a:lnTo>
                  <a:pt x="61500" y="70559"/>
                </a:lnTo>
                <a:lnTo>
                  <a:pt x="62244" y="67128"/>
                </a:lnTo>
                <a:lnTo>
                  <a:pt x="63044" y="63746"/>
                </a:lnTo>
                <a:lnTo>
                  <a:pt x="63898" y="60419"/>
                </a:lnTo>
                <a:lnTo>
                  <a:pt x="64807" y="57150"/>
                </a:lnTo>
                <a:lnTo>
                  <a:pt x="65768" y="53942"/>
                </a:lnTo>
                <a:lnTo>
                  <a:pt x="66782" y="50798"/>
                </a:lnTo>
                <a:lnTo>
                  <a:pt x="67846" y="47723"/>
                </a:lnTo>
                <a:lnTo>
                  <a:pt x="68960" y="44719"/>
                </a:lnTo>
                <a:lnTo>
                  <a:pt x="70122" y="41789"/>
                </a:lnTo>
                <a:lnTo>
                  <a:pt x="71332" y="38937"/>
                </a:lnTo>
                <a:lnTo>
                  <a:pt x="72588" y="36165"/>
                </a:lnTo>
                <a:lnTo>
                  <a:pt x="73889" y="33478"/>
                </a:lnTo>
                <a:lnTo>
                  <a:pt x="75233" y="30877"/>
                </a:lnTo>
                <a:lnTo>
                  <a:pt x="76618" y="28365"/>
                </a:lnTo>
                <a:lnTo>
                  <a:pt x="78044" y="25945"/>
                </a:lnTo>
                <a:lnTo>
                  <a:pt x="79509" y="23620"/>
                </a:lnTo>
                <a:lnTo>
                  <a:pt x="81011" y="21392"/>
                </a:lnTo>
                <a:lnTo>
                  <a:pt x="82549" y="19263"/>
                </a:lnTo>
                <a:lnTo>
                  <a:pt x="84121" y="17236"/>
                </a:lnTo>
                <a:lnTo>
                  <a:pt x="85725" y="15313"/>
                </a:lnTo>
                <a:lnTo>
                  <a:pt x="87360" y="13496"/>
                </a:lnTo>
                <a:lnTo>
                  <a:pt x="89023" y="11787"/>
                </a:lnTo>
                <a:lnTo>
                  <a:pt x="90714" y="10188"/>
                </a:lnTo>
                <a:lnTo>
                  <a:pt x="92430" y="8701"/>
                </a:lnTo>
                <a:lnTo>
                  <a:pt x="94169" y="7326"/>
                </a:lnTo>
                <a:lnTo>
                  <a:pt x="95930" y="6066"/>
                </a:lnTo>
                <a:lnTo>
                  <a:pt x="97710" y="4922"/>
                </a:lnTo>
                <a:lnTo>
                  <a:pt x="99508" y="3895"/>
                </a:lnTo>
                <a:lnTo>
                  <a:pt x="101323" y="2986"/>
                </a:lnTo>
                <a:lnTo>
                  <a:pt x="103151" y="2196"/>
                </a:lnTo>
                <a:lnTo>
                  <a:pt x="104991" y="1527"/>
                </a:lnTo>
                <a:lnTo>
                  <a:pt x="106840" y="978"/>
                </a:lnTo>
                <a:lnTo>
                  <a:pt x="108698" y="550"/>
                </a:lnTo>
                <a:lnTo>
                  <a:pt x="110562" y="245"/>
                </a:lnTo>
                <a:lnTo>
                  <a:pt x="112430" y="61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B0213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7C56E-36CE-4120-BBBA-BDA34A01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DAE1"/>
          </a:solidFill>
          <a:ln xmlns:a="http://schemas.openxmlformats.org/drawingml/2006/main" w="0">
            <a:noFill/>
          </a:ln>
        </p:spPr>
      </p:sp>
      <p:sp>
        <p:nvSpPr>
          <p:cNvPr id="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3EE97CA-6FB7-4AFA-9AD0-D0A669D7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22175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 · ПРОВЕРА</a:t>
            </a:r>
          </a:p>
        </p:txBody>
      </p:sp>
      <p:sp>
        <p:nvSpPr>
          <p:cNvPr id="10" name="heading-source-20">
            <a:extLst xmlns:a="http://schemas.openxmlformats.org/drawingml/2006/main">
              <a:ext uri="{FF2B5EF4-FFF2-40B4-BE49-F238E27FC236}">
                <a16:creationId xmlns:a16="http://schemas.microsoft.com/office/drawing/2014/main" id="{D616CA35-FEEC-4407-ABC2-51981469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61214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Провера разумевања</a:t>
            </a:r>
          </a:p>
        </p:txBody>
      </p:sp>
      <p:sp>
        <p:nvSpPr>
          <p:cNvPr id="1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9BA1909A-3AC9-4AD8-8D3D-F474F0D0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44055"/>
            <a:ext cx="13876139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Разумевање теме подразумева објашњење одлуке и доказа независно од конкретног технолошког оквира.</a:t>
            </a:r>
          </a:p>
        </p:txBody>
      </p:sp>
      <p:sp>
        <p:nvSpPr>
          <p:cNvPr id="1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27BEC2A7-E182-4A4B-9FA5-203A3D36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13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DF800F2E-9B61-4851-AC7E-F7F0C13A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108847"/>
            <a:ext cx="14527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Субјекат</a:t>
            </a:r>
          </a:p>
        </p:txBody>
      </p:sp>
      <p:sp>
        <p:nvSpPr>
          <p:cNvPr id="1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FC9C1FD7-3E35-4B15-84DA-90F4E297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600277"/>
            <a:ext cx="2069306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 тражи радњу</a:t>
            </a:r>
          </a:p>
        </p:txBody>
      </p:sp>
      <p:sp>
        <p:nvSpPr>
          <p:cNvPr id="1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B1AF2F5E-3A2D-4781-A658-224D8E14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F637CF0-D787-423C-88C2-44C5A05C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08847"/>
            <a:ext cx="1230511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Ресурс</a:t>
            </a:r>
          </a:p>
        </p:txBody>
      </p:sp>
      <p:sp>
        <p:nvSpPr>
          <p:cNvPr id="1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4CBF2DA-40C5-46FE-83DD-F52F7AFE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00277"/>
            <a:ext cx="208954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над чим се ради</a:t>
            </a:r>
          </a:p>
        </p:txBody>
      </p:sp>
      <p:sp>
        <p:nvSpPr>
          <p:cNvPr id="1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AE434121-0D56-43CC-B5B2-C9163270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9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80778786-587A-4DCB-946F-64C6FAA9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108847"/>
            <a:ext cx="1525488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Контекст</a:t>
            </a:r>
          </a:p>
        </p:txBody>
      </p:sp>
      <p:sp>
        <p:nvSpPr>
          <p:cNvPr id="20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4EFE56F2-A5DD-4D40-803A-78182653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600277"/>
            <a:ext cx="2690217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власништво и намена</a:t>
            </a:r>
          </a:p>
        </p:txBody>
      </p:sp>
      <p:sp>
        <p:nvSpPr>
          <p:cNvPr id="21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B59F401F-A872-414C-BB6A-CF086E9A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40786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22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2576745B-432A-4C77-9D47-FF784880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08847"/>
            <a:ext cx="13015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13202D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23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16A210F-C29A-4308-8FCC-C877E8C1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600277"/>
            <a:ext cx="232856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дозволи или одбиј</a:t>
            </a:r>
          </a:p>
        </p:txBody>
      </p:sp>
      <p:sp>
        <p:nvSpPr>
          <p:cNvPr id="24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C3FB6BCE-AD9D-45B0-A3DE-88135775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91783"/>
            <a:ext cx="26747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B0213C"/>
                </a:solidFill>
                <a:latin typeface="IBM Plex Mono"/>
                <a:ea typeface="IBM Plex Mono"/>
                <a:cs typeface="IBM Plex Mono"/>
              </a:rPr>
              <a:t>ПИТАЊЕ ЗА ПРОВЕРУ</a:t>
            </a:r>
          </a:p>
        </p:txBody>
      </p:sp>
      <p:sp>
        <p:nvSpPr>
          <p:cNvPr id="25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491A8ABD-FD42-40E4-B483-9699757C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097488"/>
            <a:ext cx="1275308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  <p:sp>
        <p:nvSpPr>
          <p:cNvPr id="26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375C7AC5-C7B3-40F0-9441-4726E3FF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0749"/>
            <a:ext cx="1187395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0">
                <a:solidFill>
                  <a:srgbClr val="44505D"/>
                </a:solidFill>
                <a:latin typeface="IBM Plex Sans"/>
                <a:ea typeface="IBM Plex Sans"/>
                <a:cs typeface="IBM Plex Sans"/>
              </a:rPr>
              <a:t>Пројектна примена: применити исти модел на једну реалну границу у сопственом пројекту.</a:t>
            </a:r>
          </a:p>
        </p:txBody>
      </p:sp>
      <p:sp>
        <p:nvSpPr>
          <p:cNvPr id="27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0757E2CC-E5C4-4FFF-82E9-B90253EF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5E6975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28" name="text-source-20">
            <a:extLst xmlns:a="http://schemas.openxmlformats.org/drawingml/2006/main">
              <a:ext uri="{FF2B5EF4-FFF2-40B4-BE49-F238E27FC236}">
                <a16:creationId xmlns:a16="http://schemas.microsoft.com/office/drawing/2014/main" id="{B0976BEA-395C-44FB-BE25-484506F0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5E6975"/>
                </a:solidFill>
                <a:latin typeface="IBM Plex Mono"/>
                <a:ea typeface="IBM Plex Mono"/>
                <a:cs typeface="IBM Plex Mono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1719553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B021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9B34ED-3803-4B35-99A0-F71331B3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85800"/>
            <a:ext cx="685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E0E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9E4E9-782C-407D-915A-9708349D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87911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2236C-B239-48F0-95CA-C56FA2CE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41316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E0C2A-C229-4441-8C96-A92EABBD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94722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8E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29772-2BE6-4806-8BD7-7C06022E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309795"/>
            <a:ext cx="1584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5267"/>
          </a:solidFill>
          <a:ln xmlns:a="http://schemas.openxmlformats.org/drawingml/2006/main" w="0">
            <a:noFill/>
          </a:ln>
        </p:spPr>
      </p:sp>
      <p:sp>
        <p:nvSpPr>
          <p:cNvPr id="6" name="text-rezime">
            <a:extLst xmlns:a="http://schemas.openxmlformats.org/drawingml/2006/main">
              <a:ext uri="{FF2B5EF4-FFF2-40B4-BE49-F238E27FC236}">
                <a16:creationId xmlns:a16="http://schemas.microsoft.com/office/drawing/2014/main" id="{F88B228E-9C31-4DC8-9ABC-6C142095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668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F4E0E4"/>
                </a:solidFill>
                <a:latin typeface="IBM Plex Mono"/>
                <a:ea typeface="IBM Plex Mono"/>
                <a:cs typeface="IBM Plex Mono"/>
              </a:rPr>
              <a:t>ШТА ТРЕБА ПОНЕТИ СА ВЕЖБЕ</a:t>
            </a:r>
          </a:p>
        </p:txBody>
      </p:sp>
      <p:sp>
        <p:nvSpPr>
          <p:cNvPr id="7" name="heading-rezime">
            <a:extLst xmlns:a="http://schemas.openxmlformats.org/drawingml/2006/main">
              <a:ext uri="{FF2B5EF4-FFF2-40B4-BE49-F238E27FC236}">
                <a16:creationId xmlns:a16="http://schemas.microsoft.com/office/drawing/2014/main" id="{D8AEE47A-67BE-4EB3-B918-91C359BC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443930"/>
            <a:ext cx="233243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>
                <a:latin typeface="IBM Plex Sans"/>
                <a:ea typeface="IBM Plex Sans"/>
                <a:cs typeface="IBM Plex Sans"/>
              </a:defRPr>
            </a:pPr>
            <a:r>
              <a:rPr sz="4500" b="1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Резиме</a:t>
            </a:r>
          </a:p>
        </p:txBody>
      </p:sp>
      <p:sp>
        <p:nvSpPr>
          <p:cNvPr id="8" name="text-rezime">
            <a:extLst xmlns:a="http://schemas.openxmlformats.org/drawingml/2006/main">
              <a:ext uri="{FF2B5EF4-FFF2-40B4-BE49-F238E27FC236}">
                <a16:creationId xmlns:a16="http://schemas.microsoft.com/office/drawing/2014/main" id="{ABF6BD78-15DB-4AE8-AEC8-A1958CED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29780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F4E0E4"/>
                </a:solidFill>
                <a:latin typeface="IBM Plex Mono"/>
                <a:ea typeface="IBM Plex Mono"/>
                <a:cs typeface="IBM Plex Mono"/>
              </a:rPr>
              <a:t>01</a:t>
            </a:r>
          </a:p>
        </p:txBody>
      </p:sp>
      <p:sp>
        <p:nvSpPr>
          <p:cNvPr id="9" name="text-rezime">
            <a:extLst xmlns:a="http://schemas.openxmlformats.org/drawingml/2006/main">
              <a:ext uri="{FF2B5EF4-FFF2-40B4-BE49-F238E27FC236}">
                <a16:creationId xmlns:a16="http://schemas.microsoft.com/office/drawing/2014/main" id="{4F0EB9CC-3D34-42AA-9010-7F73B334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20255"/>
            <a:ext cx="1301502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Одлука</a:t>
            </a:r>
          </a:p>
        </p:txBody>
      </p:sp>
      <p:sp>
        <p:nvSpPr>
          <p:cNvPr id="10" name="text-rezime">
            <a:extLst xmlns:a="http://schemas.openxmlformats.org/drawingml/2006/main">
              <a:ext uri="{FF2B5EF4-FFF2-40B4-BE49-F238E27FC236}">
                <a16:creationId xmlns:a16="http://schemas.microsoft.com/office/drawing/2014/main" id="{751CCF13-FE22-4E6D-B9B8-C872B463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20255"/>
            <a:ext cx="7835354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F4E0E4"/>
                </a:solidFill>
                <a:latin typeface="IBM Plex Sans"/>
                <a:ea typeface="IBM Plex Sans"/>
                <a:cs typeface="IBM Plex Sans"/>
              </a:rPr>
              <a:t>Субјекат, радња, ресурс и контекст чине једну проверу.</a:t>
            </a:r>
          </a:p>
        </p:txBody>
      </p:sp>
      <p:sp>
        <p:nvSpPr>
          <p:cNvPr id="11" name="text-rezime">
            <a:extLst xmlns:a="http://schemas.openxmlformats.org/drawingml/2006/main">
              <a:ext uri="{FF2B5EF4-FFF2-40B4-BE49-F238E27FC236}">
                <a16:creationId xmlns:a16="http://schemas.microsoft.com/office/drawing/2014/main" id="{7D9D8554-EDA8-4977-BC01-760E4771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3186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F4E0E4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12" name="text-rezime">
            <a:extLst xmlns:a="http://schemas.openxmlformats.org/drawingml/2006/main">
              <a:ext uri="{FF2B5EF4-FFF2-40B4-BE49-F238E27FC236}">
                <a16:creationId xmlns:a16="http://schemas.microsoft.com/office/drawing/2014/main" id="{A1036BDF-3974-42C0-B223-2031A775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73661"/>
            <a:ext cx="2349847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Класификација</a:t>
            </a:r>
          </a:p>
        </p:txBody>
      </p:sp>
      <p:sp>
        <p:nvSpPr>
          <p:cNvPr id="13" name="text-rezime">
            <a:extLst xmlns:a="http://schemas.openxmlformats.org/drawingml/2006/main">
              <a:ext uri="{FF2B5EF4-FFF2-40B4-BE49-F238E27FC236}">
                <a16:creationId xmlns:a16="http://schemas.microsoft.com/office/drawing/2014/main" id="{9A9CA395-926B-41F7-8A43-94930B53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73661"/>
            <a:ext cx="7253883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F4E0E4"/>
                </a:solidFill>
                <a:latin typeface="IBM Plex Sans"/>
                <a:ea typeface="IBM Plex Sans"/>
                <a:cs typeface="IBM Plex Sans"/>
              </a:rPr>
              <a:t>Ознака мења правила приступа, дељења и чувања.</a:t>
            </a:r>
          </a:p>
        </p:txBody>
      </p:sp>
      <p:sp>
        <p:nvSpPr>
          <p:cNvPr id="14" name="text-rezime">
            <a:extLst xmlns:a="http://schemas.openxmlformats.org/drawingml/2006/main">
              <a:ext uri="{FF2B5EF4-FFF2-40B4-BE49-F238E27FC236}">
                <a16:creationId xmlns:a16="http://schemas.microsoft.com/office/drawing/2014/main" id="{4375839C-2041-44E4-9397-7AAA4EA4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36591"/>
            <a:ext cx="845939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>
                <a:latin typeface="IBM Plex Mono"/>
                <a:ea typeface="IBM Plex Mono"/>
                <a:cs typeface="IBM Plex Mono"/>
              </a:defRPr>
            </a:pPr>
            <a:r>
              <a:rPr sz="3300" b="0">
                <a:solidFill>
                  <a:srgbClr val="F4E0E4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sp>
        <p:nvSpPr>
          <p:cNvPr id="15" name="text-rezime">
            <a:extLst xmlns:a="http://schemas.openxmlformats.org/drawingml/2006/main">
              <a:ext uri="{FF2B5EF4-FFF2-40B4-BE49-F238E27FC236}">
                <a16:creationId xmlns:a16="http://schemas.microsoft.com/office/drawing/2014/main" id="{BDD02454-7379-4528-91A9-0EA0735A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27066"/>
            <a:ext cx="1141214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>
                <a:latin typeface="IBM Plex Sans"/>
                <a:ea typeface="IBM Plex Sans"/>
                <a:cs typeface="IBM Plex Sans"/>
              </a:defRPr>
            </a:pPr>
            <a:r>
              <a:rPr sz="2100" b="1">
                <a:solidFill>
                  <a:srgbClr val="F6F7F5"/>
                </a:solidFill>
                <a:latin typeface="IBM Plex Sans"/>
                <a:ea typeface="IBM Plex Sans"/>
                <a:cs typeface="IBM Plex Sans"/>
              </a:rPr>
              <a:t>Доказ</a:t>
            </a:r>
          </a:p>
        </p:txBody>
      </p:sp>
      <p:sp>
        <p:nvSpPr>
          <p:cNvPr id="16" name="text-rezime">
            <a:extLst xmlns:a="http://schemas.openxmlformats.org/drawingml/2006/main">
              <a:ext uri="{FF2B5EF4-FFF2-40B4-BE49-F238E27FC236}">
                <a16:creationId xmlns:a16="http://schemas.microsoft.com/office/drawing/2014/main" id="{E7DF4217-27A9-44FA-8283-7EF29B35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27066"/>
            <a:ext cx="8883997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latin typeface="IBM Plex Sans"/>
                <a:ea typeface="IBM Plex Sans"/>
                <a:cs typeface="IBM Plex Sans"/>
              </a:defRPr>
            </a:pPr>
            <a:r>
              <a:rPr sz="2250" b="0">
                <a:solidFill>
                  <a:srgbClr val="F4E0E4"/>
                </a:solidFill>
                <a:latin typeface="IBM Plex Sans"/>
                <a:ea typeface="IBM Plex Sans"/>
                <a:cs typeface="IBM Plex Sans"/>
              </a:rPr>
              <a:t>Негативан тест и ревизиони запис показују да граница постоји.</a:t>
            </a:r>
          </a:p>
        </p:txBody>
      </p:sp>
      <p:sp>
        <p:nvSpPr>
          <p:cNvPr id="17" name="text-rezime">
            <a:extLst xmlns:a="http://schemas.openxmlformats.org/drawingml/2006/main">
              <a:ext uri="{FF2B5EF4-FFF2-40B4-BE49-F238E27FC236}">
                <a16:creationId xmlns:a16="http://schemas.microsoft.com/office/drawing/2014/main" id="{2416CD9E-F527-4656-BEEF-C46A6273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471720"/>
            <a:ext cx="4265712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Sans"/>
                <a:ea typeface="IBM Plex Sans"/>
                <a:cs typeface="IBM Plex Sans"/>
              </a:defRPr>
            </a:pPr>
            <a:r>
              <a:rPr sz="1800" b="0">
                <a:solidFill>
                  <a:srgbClr val="F4E0E4"/>
                </a:solidFill>
                <a:latin typeface="IBM Plex Sans"/>
                <a:ea typeface="IBM Plex Sans"/>
                <a:cs typeface="IBM Plex Sans"/>
              </a:rPr>
              <a:t>Основе информационе безбедности</a:t>
            </a:r>
          </a:p>
        </p:txBody>
      </p:sp>
      <p:sp>
        <p:nvSpPr>
          <p:cNvPr id="18" name="text-rezime">
            <a:extLst xmlns:a="http://schemas.openxmlformats.org/drawingml/2006/main">
              <a:ext uri="{FF2B5EF4-FFF2-40B4-BE49-F238E27FC236}">
                <a16:creationId xmlns:a16="http://schemas.microsoft.com/office/drawing/2014/main" id="{814D3863-41B9-400A-A30E-C7DD72EC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4361" y="9471720"/>
            <a:ext cx="61733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latin typeface="IBM Plex Mono"/>
                <a:ea typeface="IBM Plex Mono"/>
                <a:cs typeface="IBM Plex Mono"/>
              </a:defRPr>
            </a:pPr>
            <a:r>
              <a:rPr sz="1800" b="0">
                <a:solidFill>
                  <a:srgbClr val="F4E0E4"/>
                </a:solidFill>
                <a:latin typeface="IBM Plex Mono"/>
                <a:ea typeface="IBM Plex Mono"/>
                <a:cs typeface="IBM Plex Mono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7241996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2026-10-09T19:39:18.1000000Z</dcterms:created>
  <dcterms:modified xsi:type="dcterms:W3CDTF">2026-10-09T19:39:18.1000000Z</dcterms:modified>
</coreProperties>
</file>