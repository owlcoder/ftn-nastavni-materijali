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3adbc46d5e43b2" /><Relationship Type="http://schemas.openxmlformats.org/officeDocument/2006/relationships/extended-properties" Target="/docProps/app.xml" Id="R87ac15cbb69144da" /><Relationship Type="http://schemas.openxmlformats.org/officeDocument/2006/relationships/officeDocument" Target="/ppt/presentation.xml" Id="Re2263153dcea4f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83280193994741"/>
  </p:sldMasterIdLst>
  <p:notesMasterIdLst>
    <p:notesMasterId xmlns:r="http://schemas.openxmlformats.org/officeDocument/2006/relationships" r:id="Rd73382fd03b34688"/>
  </p:notesMasterIdLst>
  <p:sldIdLst>
    <p:sldId xmlns:r="http://schemas.openxmlformats.org/officeDocument/2006/relationships" id="256" r:id="Ra6ea53cfd440476b"/>
    <p:sldId xmlns:r="http://schemas.openxmlformats.org/officeDocument/2006/relationships" id="257" r:id="Rbb0836bf450249fe"/>
    <p:sldId xmlns:r="http://schemas.openxmlformats.org/officeDocument/2006/relationships" id="258" r:id="R11e11c8f99924d6a"/>
    <p:sldId xmlns:r="http://schemas.openxmlformats.org/officeDocument/2006/relationships" id="259" r:id="R2351351552fb4a2e"/>
    <p:sldId xmlns:r="http://schemas.openxmlformats.org/officeDocument/2006/relationships" id="260" r:id="Rfa00a129e8d94ece"/>
    <p:sldId xmlns:r="http://schemas.openxmlformats.org/officeDocument/2006/relationships" id="261" r:id="Raa59206bb0644774"/>
    <p:sldId xmlns:r="http://schemas.openxmlformats.org/officeDocument/2006/relationships" id="262" r:id="Rfc4aaecf86154133"/>
    <p:sldId xmlns:r="http://schemas.openxmlformats.org/officeDocument/2006/relationships" id="263" r:id="R60679f8e2d9f4183"/>
    <p:sldId xmlns:r="http://schemas.openxmlformats.org/officeDocument/2006/relationships" id="264" r:id="Ref4e07211be1442e"/>
    <p:sldId xmlns:r="http://schemas.openxmlformats.org/officeDocument/2006/relationships" id="265" r:id="R6505043adbc74233"/>
    <p:sldId xmlns:r="http://schemas.openxmlformats.org/officeDocument/2006/relationships" id="266" r:id="Re3ef4a2caa224504"/>
    <p:sldId xmlns:r="http://schemas.openxmlformats.org/officeDocument/2006/relationships" id="267" r:id="R3f9b4acf278f49c2"/>
    <p:sldId xmlns:r="http://schemas.openxmlformats.org/officeDocument/2006/relationships" id="268" r:id="Rd53a97d15bb64bf4"/>
    <p:sldId xmlns:r="http://schemas.openxmlformats.org/officeDocument/2006/relationships" id="269" r:id="Rfaaa24a2bab7457e"/>
    <p:sldId xmlns:r="http://schemas.openxmlformats.org/officeDocument/2006/relationships" id="270" r:id="Rf429e4c43e714297"/>
    <p:sldId xmlns:r="http://schemas.openxmlformats.org/officeDocument/2006/relationships" id="271" r:id="R663596d229c34900"/>
    <p:sldId xmlns:r="http://schemas.openxmlformats.org/officeDocument/2006/relationships" id="272" r:id="Re96c025e20904b43"/>
    <p:sldId xmlns:r="http://schemas.openxmlformats.org/officeDocument/2006/relationships" id="273" r:id="Rc39c79658c834fe5"/>
    <p:sldId xmlns:r="http://schemas.openxmlformats.org/officeDocument/2006/relationships" id="274" r:id="R0c54b4dd75ce42b6"/>
    <p:sldId xmlns:r="http://schemas.openxmlformats.org/officeDocument/2006/relationships" id="275" r:id="R921671058fad473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2aef55547440ef" /><Relationship Type="http://schemas.openxmlformats.org/officeDocument/2006/relationships/slideMaster" Target="/ppt/slideMasters/slideMaster1.xml" Id="R6c83280193994741" /><Relationship Type="http://schemas.openxmlformats.org/officeDocument/2006/relationships/notesMaster" Target="/ppt/notesMasters/notesMaster1.xml" Id="Rd73382fd03b34688" /><Relationship Type="http://schemas.openxmlformats.org/officeDocument/2006/relationships/presProps" Target="/ppt/presProps.xml" Id="Ra134afb1ac884931" /><Relationship Type="http://schemas.openxmlformats.org/officeDocument/2006/relationships/viewProps" Target="/ppt/viewProps.xml" Id="Rdb7edb88100b4f18" /><Relationship Type="http://schemas.openxmlformats.org/officeDocument/2006/relationships/tableStyles" Target="/ppt/tableStyles.xml" Id="R845dc69902ae4c7a" /><Relationship Type="http://schemas.openxmlformats.org/officeDocument/2006/relationships/slide" Target="/ppt/slides/slide1.xml" Id="Ra6ea53cfd440476b" /><Relationship Type="http://schemas.openxmlformats.org/officeDocument/2006/relationships/slide" Target="/ppt/slides/slide2.xml" Id="Rbb0836bf450249fe" /><Relationship Type="http://schemas.openxmlformats.org/officeDocument/2006/relationships/slide" Target="/ppt/slides/slide3.xml" Id="R11e11c8f99924d6a" /><Relationship Type="http://schemas.openxmlformats.org/officeDocument/2006/relationships/slide" Target="/ppt/slides/slide4.xml" Id="R2351351552fb4a2e" /><Relationship Type="http://schemas.openxmlformats.org/officeDocument/2006/relationships/slide" Target="/ppt/slides/slide5.xml" Id="Rfa00a129e8d94ece" /><Relationship Type="http://schemas.openxmlformats.org/officeDocument/2006/relationships/slide" Target="/ppt/slides/slide6.xml" Id="Raa59206bb0644774" /><Relationship Type="http://schemas.openxmlformats.org/officeDocument/2006/relationships/slide" Target="/ppt/slides/slide7.xml" Id="Rfc4aaecf86154133" /><Relationship Type="http://schemas.openxmlformats.org/officeDocument/2006/relationships/slide" Target="/ppt/slides/slide8.xml" Id="R60679f8e2d9f4183" /><Relationship Type="http://schemas.openxmlformats.org/officeDocument/2006/relationships/slide" Target="/ppt/slides/slide9.xml" Id="Ref4e07211be1442e" /><Relationship Type="http://schemas.openxmlformats.org/officeDocument/2006/relationships/slide" Target="/ppt/slides/slide10.xml" Id="R6505043adbc74233" /><Relationship Type="http://schemas.openxmlformats.org/officeDocument/2006/relationships/slide" Target="/ppt/slides/slide11.xml" Id="Re3ef4a2caa224504" /><Relationship Type="http://schemas.openxmlformats.org/officeDocument/2006/relationships/slide" Target="/ppt/slides/slide12.xml" Id="R3f9b4acf278f49c2" /><Relationship Type="http://schemas.openxmlformats.org/officeDocument/2006/relationships/slide" Target="/ppt/slides/slide13.xml" Id="Rd53a97d15bb64bf4" /><Relationship Type="http://schemas.openxmlformats.org/officeDocument/2006/relationships/slide" Target="/ppt/slides/slide14.xml" Id="Rfaaa24a2bab7457e" /><Relationship Type="http://schemas.openxmlformats.org/officeDocument/2006/relationships/slide" Target="/ppt/slides/slide15.xml" Id="Rf429e4c43e714297" /><Relationship Type="http://schemas.openxmlformats.org/officeDocument/2006/relationships/slide" Target="/ppt/slides/slide16.xml" Id="R663596d229c34900" /><Relationship Type="http://schemas.openxmlformats.org/officeDocument/2006/relationships/slide" Target="/ppt/slides/slide17.xml" Id="Re96c025e20904b43" /><Relationship Type="http://schemas.openxmlformats.org/officeDocument/2006/relationships/slide" Target="/ppt/slides/slide18.xml" Id="Rc39c79658c834fe5" /><Relationship Type="http://schemas.openxmlformats.org/officeDocument/2006/relationships/slide" Target="/ppt/slides/slide19.xml" Id="R0c54b4dd75ce42b6" /><Relationship Type="http://schemas.openxmlformats.org/officeDocument/2006/relationships/slide" Target="/ppt/slides/slide20.xml" Id="R921671058fad47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bd6db4484746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2d6011eb55475b" /><Relationship Type="http://schemas.openxmlformats.org/officeDocument/2006/relationships/notesMaster" Target="/ppt/notesMasters/notesMaster1.xml" Id="Rad8f5ac7d7d94b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1888c4ed954abc" /><Relationship Type="http://schemas.openxmlformats.org/officeDocument/2006/relationships/notesMaster" Target="/ppt/notesMasters/notesMaster1.xml" Id="Rb2c9efc4860743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f0a998e691946dd" /><Relationship Type="http://schemas.openxmlformats.org/officeDocument/2006/relationships/notesMaster" Target="/ppt/notesMasters/notesMaster1.xml" Id="R2243fbeaefcc48c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387990329741d8" /><Relationship Type="http://schemas.openxmlformats.org/officeDocument/2006/relationships/notesMaster" Target="/ppt/notesMasters/notesMaster1.xml" Id="R565ec7a23cf2484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36c1db588c4454e" /><Relationship Type="http://schemas.openxmlformats.org/officeDocument/2006/relationships/notesMaster" Target="/ppt/notesMasters/notesMaster1.xml" Id="R4e922fe25daa400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b4ff9a41a724c14" /><Relationship Type="http://schemas.openxmlformats.org/officeDocument/2006/relationships/notesMaster" Target="/ppt/notesMasters/notesMaster1.xml" Id="R3f9e036554f7488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e17c7525eea477f" /><Relationship Type="http://schemas.openxmlformats.org/officeDocument/2006/relationships/notesMaster" Target="/ppt/notesMasters/notesMaster1.xml" Id="Rdff980b418db4e1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cf3c90493f84d8b" /><Relationship Type="http://schemas.openxmlformats.org/officeDocument/2006/relationships/notesMaster" Target="/ppt/notesMasters/notesMaster1.xml" Id="R02926e740b2c444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1b6dbd4fd744d35" /><Relationship Type="http://schemas.openxmlformats.org/officeDocument/2006/relationships/notesMaster" Target="/ppt/notesMasters/notesMaster1.xml" Id="R69c255fea5d54be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1df4aa4cc224eff" /><Relationship Type="http://schemas.openxmlformats.org/officeDocument/2006/relationships/notesMaster" Target="/ppt/notesMasters/notesMaster1.xml" Id="Rdbf1ef3fbce1469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e93916a55c44005" /><Relationship Type="http://schemas.openxmlformats.org/officeDocument/2006/relationships/notesMaster" Target="/ppt/notesMasters/notesMaster1.xml" Id="R007bdc57abed481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9b8fc08ee7e4118" /><Relationship Type="http://schemas.openxmlformats.org/officeDocument/2006/relationships/notesMaster" Target="/ppt/notesMasters/notesMaster1.xml" Id="R3f8271f14fd84b6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8538a98a31e4d2e" /><Relationship Type="http://schemas.openxmlformats.org/officeDocument/2006/relationships/notesMaster" Target="/ppt/notesMasters/notesMaster1.xml" Id="R006fe8a591754a4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9c18e4b96df45d6" /><Relationship Type="http://schemas.openxmlformats.org/officeDocument/2006/relationships/notesMaster" Target="/ppt/notesMasters/notesMaster1.xml" Id="Rc8e050f56c7e47d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0ffa51775724b79" /><Relationship Type="http://schemas.openxmlformats.org/officeDocument/2006/relationships/notesMaster" Target="/ppt/notesMasters/notesMaster1.xml" Id="Re792d370942e4d1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5491959085c48e8" /><Relationship Type="http://schemas.openxmlformats.org/officeDocument/2006/relationships/notesMaster" Target="/ppt/notesMasters/notesMaster1.xml" Id="R75a85bfd2b9546f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8f8461e5109426e" /><Relationship Type="http://schemas.openxmlformats.org/officeDocument/2006/relationships/notesMaster" Target="/ppt/notesMasters/notesMaster1.xml" Id="Rff74bd0052e841d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246e61b634b463b" /><Relationship Type="http://schemas.openxmlformats.org/officeDocument/2006/relationships/notesMaster" Target="/ppt/notesMasters/notesMaster1.xml" Id="R7a339d0b3cd04f0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674b89170fb42ad" /><Relationship Type="http://schemas.openxmlformats.org/officeDocument/2006/relationships/notesMaster" Target="/ppt/notesMasters/notesMaster1.xml" Id="R4df4d55b3056454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8fba41e86ba4441" /><Relationship Type="http://schemas.openxmlformats.org/officeDocument/2006/relationships/notesMaster" Target="/ppt/notesMasters/notesMaster1.xml" Id="Re29379c10ac845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a96bce775644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fe76d06bd146ee" /><Relationship Type="http://schemas.openxmlformats.org/officeDocument/2006/relationships/slideLayout" Target="/ppt/slideLayouts/slideLayout1.xml" Id="Rdbcd2335a8864a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cd2335a8864a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cbd9bbdfe14c33" /><Relationship Type="http://schemas.openxmlformats.org/officeDocument/2006/relationships/notesSlide" Target="/ppt/notesSlides/notesSlide1.xml" Id="Re19a1270cb0c49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fd11a7cbdb4bc4" /><Relationship Type="http://schemas.openxmlformats.org/officeDocument/2006/relationships/notesSlide" Target="/ppt/notesSlides/notesSlide2.xml" Id="R430d0de1970a456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0c078b0eba4ac8" /><Relationship Type="http://schemas.openxmlformats.org/officeDocument/2006/relationships/notesSlide" Target="/ppt/notesSlides/notesSlide3.xml" Id="R1d18f144e7b443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09aa97d0884592" /><Relationship Type="http://schemas.openxmlformats.org/officeDocument/2006/relationships/notesSlide" Target="/ppt/notesSlides/notesSlide4.xml" Id="Rce2b7bce480a4ec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a446a154ec4e63" /><Relationship Type="http://schemas.openxmlformats.org/officeDocument/2006/relationships/notesSlide" Target="/ppt/notesSlides/notesSlide5.xml" Id="Ra03ed9cef1fd481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f15db923984915" /><Relationship Type="http://schemas.openxmlformats.org/officeDocument/2006/relationships/notesSlide" Target="/ppt/notesSlides/notesSlide6.xml" Id="Rae71d2af8c3b4c9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6747166dc34d6f" /><Relationship Type="http://schemas.openxmlformats.org/officeDocument/2006/relationships/notesSlide" Target="/ppt/notesSlides/notesSlide7.xml" Id="Rfad4ae4210284ea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16c0c9ccfc4afc" /><Relationship Type="http://schemas.openxmlformats.org/officeDocument/2006/relationships/notesSlide" Target="/ppt/notesSlides/notesSlide8.xml" Id="Rf3bb280a03c9420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142ae41333456f" /><Relationship Type="http://schemas.openxmlformats.org/officeDocument/2006/relationships/notesSlide" Target="/ppt/notesSlides/notesSlide9.xml" Id="R90a16e379dcc466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1c89a58e514196" /><Relationship Type="http://schemas.openxmlformats.org/officeDocument/2006/relationships/notesSlide" Target="/ppt/notesSlides/notesSlide10.xml" Id="R92ed360bc4924a4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331eae1e144769" /><Relationship Type="http://schemas.openxmlformats.org/officeDocument/2006/relationships/notesSlide" Target="/ppt/notesSlides/notesSlide11.xml" Id="Rffaf3e6e8f1241f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def33894a443b3" /><Relationship Type="http://schemas.openxmlformats.org/officeDocument/2006/relationships/notesSlide" Target="/ppt/notesSlides/notesSlide12.xml" Id="Rafc2069328494c2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3be1c7e7f242b0" /><Relationship Type="http://schemas.openxmlformats.org/officeDocument/2006/relationships/notesSlide" Target="/ppt/notesSlides/notesSlide13.xml" Id="R5a4cd3e503e7425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9827ffa3d3476b" /><Relationship Type="http://schemas.openxmlformats.org/officeDocument/2006/relationships/notesSlide" Target="/ppt/notesSlides/notesSlide14.xml" Id="R0360930ba57e4b9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638bb286c24a7a" /><Relationship Type="http://schemas.openxmlformats.org/officeDocument/2006/relationships/notesSlide" Target="/ppt/notesSlides/notesSlide15.xml" Id="R4218945a8f1f44f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48ae33c9b64a5e" /><Relationship Type="http://schemas.openxmlformats.org/officeDocument/2006/relationships/notesSlide" Target="/ppt/notesSlides/notesSlide16.xml" Id="R847273f2499b40e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fdcc39c2d94bd1" /><Relationship Type="http://schemas.openxmlformats.org/officeDocument/2006/relationships/notesSlide" Target="/ppt/notesSlides/notesSlide17.xml" Id="Reaaa4778fb9a461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faaa5baf454157" /><Relationship Type="http://schemas.openxmlformats.org/officeDocument/2006/relationships/notesSlide" Target="/ppt/notesSlides/notesSlide18.xml" Id="R04f753a6b9cc4a3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db8e562b3d48c3" /><Relationship Type="http://schemas.openxmlformats.org/officeDocument/2006/relationships/notesSlide" Target="/ppt/notesSlides/notesSlide19.xml" Id="R41ddae2497cf4d3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a18b41bdac4005" /><Relationship Type="http://schemas.openxmlformats.org/officeDocument/2006/relationships/notesSlide" Target="/ppt/notesSlides/notesSlide20.xml" Id="Ra654fb9192fc4e6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C240358-3E84-4CEE-A93D-42503086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084"/>
                </a:solidFill>
                <a:latin typeface="Aptos"/>
                <a:ea typeface="Aptos"/>
                <a:cs typeface="Aptos"/>
              </a:rPr>
              <a:t>ОСНОВЕ ИНФОРМАЦИОНЕ БЕЗБЕДНОСТИ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6FA89B9D-3315-403D-8FFB-70C1ABA77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09650"/>
            <a:ext cx="10363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8D5560"/>
            </a:solidFill>
            <a:prstDash val="solid"/>
          </a:ln>
        </p:spPr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A88E8F67-9016-4A24-A659-A0A1BAEA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38275"/>
            <a:ext cx="6477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2636"/>
          </a:solidFill>
          <a:ln xmlns:a="http://schemas.openxmlformats.org/drawingml/2006/main" w="0">
            <a:noFill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0BE052D-0EBA-42AC-A8FD-94F4093B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71650"/>
            <a:ext cx="103632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4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Ауторизација над ресурсом и класификација података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326945F-A600-4E1D-BAC0-157062ADD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0045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47084"/>
                </a:solidFill>
                <a:latin typeface="Aptos"/>
                <a:ea typeface="Aptos"/>
                <a:cs typeface="Aptos"/>
              </a:rPr>
              <a:t>Провера приступа конкретном ресурсу и правила руковања подацима</a:t>
            </a:r>
          </a:p>
        </p:txBody>
      </p:sp>
      <p:sp>
        <p:nvSpPr>
          <p:cNvPr id="6" name="Straight Connector 5">
            <a:extLst xmlns:a="http://schemas.openxmlformats.org/drawingml/2006/main">
              <a:ext uri="{FF2B5EF4-FFF2-40B4-BE49-F238E27FC236}">
                <a16:creationId xmlns:a16="http://schemas.microsoft.com/office/drawing/2014/main" id="{2641CFB7-8F9E-472F-B0CD-41DC17E03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86375"/>
            <a:ext cx="10363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8D5560"/>
            </a:solidFill>
            <a:prstDash val="solid"/>
          </a:ln>
        </p:spPr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B8388F7-99A4-4219-BE48-70236D5D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Факултет техничких наука · Универзитет у Новом Саду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4700339-765D-4321-8A50-6C84FCECA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81650"/>
            <a:ext cx="3181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084"/>
                </a:solidFill>
                <a:latin typeface="Aptos"/>
                <a:ea typeface="Aptos"/>
                <a:cs typeface="Aptos"/>
              </a:rPr>
              <a:t>Академска 2026/27.</a:t>
            </a:r>
          </a:p>
        </p:txBody>
      </p:sp>
    </p:spTree>
    <p:extLst>
      <p:ext uri="{BB962C8B-B14F-4D97-AF65-F5344CB8AC3E}">
        <p14:creationId xmlns:p14="http://schemas.microsoft.com/office/powerpoint/2010/main" val="3986327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6372FB08-59A4-4741-A14F-D19C0FE5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D"/>
                </a:solidFill>
                <a:latin typeface="Aptos"/>
                <a:ea typeface="Aptos"/>
                <a:cs typeface="Aptos"/>
              </a:rPr>
              <a:t>Основе информационе безбедности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0002F626-7334-4BC5-A861-22001FAA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201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D5560"/>
          </a:solidFill>
          <a:ln xmlns:a="http://schemas.openxmlformats.org/drawingml/2006/main" w="7144">
            <a:solidFill>
              <a:srgbClr val="8D5560"/>
            </a:solidFill>
            <a:prstDash val="solid"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90E91AD-6386-44E2-AE66-3C3146A2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3292FF0-A5AB-499F-9EC9-0AB4C19A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Ауторизација над конкретним ресурсом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4211D73-FE1F-43BE-BD03-ED08398A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Одлука о приступу обухвата субјекат, тражену радњу, конкретан ресурс и контекст у коме захтев настаје.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DC44CFC-340D-4334-9E79-11DBF400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49"/>
            <a:ext cx="3257550" cy="3343275"/>
          </a:xfrm>
          <a:prstGeom xmlns:a="http://schemas.openxmlformats.org/drawingml/2006/main" prst="roundRect">
            <a:avLst>
              <a:gd name="adj" fmla="val 5983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CD1A9CC-4B3E-41BF-9D6A-75DEB72CB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9557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C3474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34747"/>
                </a:solidFill>
                <a:latin typeface="Aptos"/>
                <a:ea typeface="Aptos"/>
                <a:cs typeface="Aptos"/>
              </a:rPr>
              <a:t>ПРЕДМЕТ АНАЛИЗЕ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80B53B3-47C8-411E-8C06-89AD263AF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43225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Ризик који се анализира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D3153EC-01C1-4B64-94A1-7545ACC1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52800"/>
            <a:ext cx="295275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Ауторизација</a:t>
            </a: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има</a:t>
            </a: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смисла</a:t>
            </a: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тек</a:t>
            </a: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када</a:t>
            </a: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је</a:t>
            </a: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везана</a:t>
            </a: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за</a:t>
            </a: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конкретан</a:t>
            </a: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ресурс</a:t>
            </a: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и</a:t>
            </a: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његов</a:t>
            </a: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контекст</a:t>
            </a: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. </a:t>
            </a: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Корисник</a:t>
            </a: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може</a:t>
            </a: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имати</a:t>
            </a: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легитимну</a:t>
            </a: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улогу</a:t>
            </a: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, </a:t>
            </a: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а</a:t>
            </a: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ипак</a:t>
            </a: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не</a:t>
            </a: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сме</a:t>
            </a: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да</a:t>
            </a: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чита</a:t>
            </a: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, </a:t>
            </a: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мења</a:t>
            </a: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или</a:t>
            </a: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дели</a:t>
            </a: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баш</a:t>
            </a: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тај</a:t>
            </a: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запис</a:t>
            </a: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. </a:t>
            </a: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Зато</a:t>
            </a: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се</a:t>
            </a: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одлука</a:t>
            </a: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не</a:t>
            </a: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завршава</a:t>
            </a: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провером</a:t>
            </a: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типа</a:t>
            </a: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ендпоинта</a:t>
            </a: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или</a:t>
            </a: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назива</a:t>
            </a: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улоге</a:t>
            </a: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79B3FF37-329B-4273-8F76-569088B81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571749"/>
            <a:ext cx="3257550" cy="3343275"/>
          </a:xfrm>
          <a:prstGeom xmlns:a="http://schemas.openxmlformats.org/drawingml/2006/main" prst="roundRect">
            <a:avLst>
              <a:gd name="adj" fmla="val 5983"/>
            </a:avLst>
          </a:prstGeom>
          <a:solidFill xmlns:a="http://schemas.openxmlformats.org/drawingml/2006/main">
            <a:srgbClr val="FFF6E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C78B4DD9-26D8-460D-AB8D-BE6917A4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69557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B86A0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6A09"/>
                </a:solidFill>
                <a:latin typeface="Aptos"/>
                <a:ea typeface="Aptos"/>
                <a:cs typeface="Aptos"/>
              </a:rPr>
              <a:t>ЗНАЧАЈ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FE92F3A8-AE2F-4245-902D-103D16B9E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943225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Значај за безбедност система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9E20490-F598-4EEA-B1D8-7A23068F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352800"/>
            <a:ext cx="295275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Класификација података даје исти језик власницима, развоју и операцијама. Када систем зна колико је податак осетљив, може да примени одговарајући приступ, приказ, чување и евиденцију без ослањања на нечије сећање.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A6409182-67FB-4A45-AC0A-4A923305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71749"/>
            <a:ext cx="3257550" cy="3343275"/>
          </a:xfrm>
          <a:prstGeom xmlns:a="http://schemas.openxmlformats.org/drawingml/2006/main" prst="roundRect">
            <a:avLst>
              <a:gd name="adj" fmla="val 5983"/>
            </a:avLst>
          </a:prstGeom>
          <a:solidFill xmlns:a="http://schemas.openxmlformats.org/drawingml/2006/main">
            <a:srgbClr val="EDF8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BB0C7CA9-7180-400F-B523-9D6E82F7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9557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КРИТЕРИЈУМ ПРОВЕРЕ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BD7604F9-3E81-4F15-884D-C5E7B111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43225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Проверљив резултат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FF483D75-38D3-419C-BEDA-7299141D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52800"/>
            <a:ext cx="295275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Одлука је јасна, примењује се на серверу и оставља поновљив доказ успешног и одбијеног исхода.</a:t>
            </a:r>
          </a:p>
        </p:txBody>
      </p:sp>
    </p:spTree>
    <p:extLst>
      <p:ext uri="{BB962C8B-B14F-4D97-AF65-F5344CB8AC3E}">
        <p14:creationId xmlns:p14="http://schemas.microsoft.com/office/powerpoint/2010/main" val="6845767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49AF4297-6EBC-462E-99AC-00D4914F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D"/>
                </a:solidFill>
                <a:latin typeface="Aptos"/>
                <a:ea typeface="Aptos"/>
                <a:cs typeface="Aptos"/>
              </a:rPr>
              <a:t>Основе информационе безбедности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93291C51-523C-4EAE-BCA3-F97CB7C53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201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D5560"/>
          </a:solidFill>
          <a:ln xmlns:a="http://schemas.openxmlformats.org/drawingml/2006/main" w="7144">
            <a:solidFill>
              <a:srgbClr val="8D5560"/>
            </a:solidFill>
            <a:prstDash val="solid"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2ED438A-B574-4B7B-88AC-7B2660298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590D8A5-E363-4249-92B6-44F8BC13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Основни појмови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F44B676-2315-43D0-BF5A-A3110E8C1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Субјекат, ресурс, контекст и одлука чине основу провере приступа конкретном запису.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288A6F0-0178-4F33-8B50-3F4A7F42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9350"/>
            <a:ext cx="2471738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99C050C-D273-4565-B83D-52B9555A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533650"/>
            <a:ext cx="2185988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74809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4809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CABEBB7-1B4B-47B4-8062-669D48034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19400"/>
            <a:ext cx="22050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Субјекат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E534E46-1A4E-45C4-A8F5-4498BB773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209925"/>
            <a:ext cx="21859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ко тражи радњу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BB213671-1897-492C-B74E-FEF5B3E1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1388" y="2419350"/>
            <a:ext cx="2471738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EDF8FA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F85C3FDF-3C9E-4D1B-A9FD-74E39B121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4263" y="2533650"/>
            <a:ext cx="2185988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16849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849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EA54016-89FF-40FC-8F12-6227AB60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4738" y="2819400"/>
            <a:ext cx="22050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Ресурс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66891584-6E62-43AE-B6D9-5F23FC7FC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4263" y="3209925"/>
            <a:ext cx="21859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над чим се ради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73BE8578-802D-47E7-B56F-FE639662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419350"/>
            <a:ext cx="2471738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90FAC8DE-2138-4AC5-92A7-4C2F53E6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33650"/>
            <a:ext cx="2185988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2F5EF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7673CB8A-994B-4857-ABC7-E45B242F8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819400"/>
            <a:ext cx="22050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Контекст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418E097-08D1-48B9-AD00-4166C65C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09925"/>
            <a:ext cx="21859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власништво и намена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F99EEA5F-8C03-42FD-B18E-7DFE427A7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6363" y="2419350"/>
            <a:ext cx="2471738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EDF8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C07FCEFE-8B78-4AC2-B198-3BD670D0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2533650"/>
            <a:ext cx="2185988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022B4CBA-960B-4536-9233-361B817F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9713" y="2819400"/>
            <a:ext cx="22050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Одлука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8ABF207F-9AD1-465C-BA10-47AB20C5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3209925"/>
            <a:ext cx="21859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дозволи или одбиј</a:t>
            </a:r>
          </a:p>
        </p:txBody>
      </p:sp>
      <p:cxnSp>
        <p:nvCxnSpPr>
          <p:cNvPr id="221" name="Straight Arrow Connector 124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195638" y="30480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48092"/>
            </a:solidFill>
            <a:prstDash val="solid"/>
            <a:tailEnd type="arrow" w="sm" len="sm"/>
          </a:ln>
        </p:spPr>
      </p:cxnSp>
      <p:cxnSp>
        <p:nvCxnSpPr>
          <p:cNvPr id="222" name="Straight Arrow Connector 125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953126" y="3048000"/>
            <a:ext cx="285749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48092"/>
            </a:solidFill>
            <a:prstDash val="solid"/>
            <a:tailEnd type="arrow" w="sm" len="sm"/>
          </a:ln>
        </p:spPr>
      </p:cxnSp>
      <p:cxnSp>
        <p:nvCxnSpPr>
          <p:cNvPr id="223" name="Straight Arrow Connector 126"/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710613" y="30480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48092"/>
            </a:solidFill>
            <a:prstDash val="solid"/>
            <a:tailEnd type="arrow" w="sm" len="sm"/>
          </a:ln>
        </p:spPr>
      </p:cxn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C45D1612-BDF8-41E5-A040-8C5D0D74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429125"/>
            <a:ext cx="571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2636"/>
          </a:solidFill>
          <a:ln xmlns:a="http://schemas.openxmlformats.org/drawingml/2006/main" w="0">
            <a:noFill/>
          </a:ln>
        </p:spPr>
      </p:sp>
      <p:sp>
        <p:nvSpPr>
          <p:cNvPr id="76" name="Rounded Rectangle 75">
            <a:extLst xmlns:a="http://schemas.openxmlformats.org/drawingml/2006/main">
              <a:ext uri="{FF2B5EF4-FFF2-40B4-BE49-F238E27FC236}">
                <a16:creationId xmlns:a16="http://schemas.microsoft.com/office/drawing/2014/main" id="{5D7305B7-2F3D-448D-B028-E382E5F0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05300"/>
            <a:ext cx="10363200" cy="8001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8573">
            <a:solidFill>
              <a:srgbClr val="DBC7CC"/>
            </a:solidFill>
            <a:prstDash val="solid"/>
          </a:ln>
        </p:spPr>
      </p:sp>
      <p:sp>
        <p:nvSpPr>
          <p:cNvPr id="77" name="Rounded Rectangle 76">
            <a:extLst xmlns:a="http://schemas.openxmlformats.org/drawingml/2006/main">
              <a:ext uri="{FF2B5EF4-FFF2-40B4-BE49-F238E27FC236}">
                <a16:creationId xmlns:a16="http://schemas.microsoft.com/office/drawing/2014/main" id="{72A10E50-FBB7-4B9E-A277-8E9769FB6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57700"/>
            <a:ext cx="571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2636"/>
          </a:solidFill>
          <a:ln xmlns:a="http://schemas.openxmlformats.org/drawingml/2006/main" w="0">
            <a:noFill/>
          </a:ln>
        </p:spPr>
      </p:sp>
      <p:sp>
        <p:nvSpPr>
          <p:cNvPr id="78" name="Rectangle 77">
            <a:extLst xmlns:a="http://schemas.openxmlformats.org/drawingml/2006/main">
              <a:ext uri="{FF2B5EF4-FFF2-40B4-BE49-F238E27FC236}">
                <a16:creationId xmlns:a16="http://schemas.microsoft.com/office/drawing/2014/main" id="{6347D408-A209-4AE5-9AC6-11F5AA19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0075"/>
            <a:ext cx="963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13" b="1">
                <a:solidFill>
                  <a:srgbClr val="2854D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ЗАКЉУЧАК</a:t>
            </a:r>
          </a:p>
        </p:txBody>
      </p:sp>
      <p:sp>
        <p:nvSpPr>
          <p:cNvPr id="79" name="Rectangle 78">
            <a:extLst xmlns:a="http://schemas.openxmlformats.org/drawingml/2006/main">
              <a:ext uri="{FF2B5EF4-FFF2-40B4-BE49-F238E27FC236}">
                <a16:creationId xmlns:a16="http://schemas.microsoft.com/office/drawing/2014/main" id="{854CDAF0-30BD-4FBC-8235-E4B8984C5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38675"/>
            <a:ext cx="963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5055"/>
          </a:bodyPr>
          <a:lstStyle xmlns:a="http://schemas.openxmlformats.org/drawingml/2006/main"/>
          <a:p xmlns:a="http://schemas.openxmlformats.org/drawingml/2006/main">
            <a:pPr>
              <a:buNone/>
              <a:defRPr sz="1388" b="1">
                <a:solidFill>
                  <a:srgbClr val="1B2432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B2432"/>
                </a:solidFill>
                <a:latin typeface="Aptos"/>
                <a:ea typeface="Aptos"/>
                <a:cs typeface="Aptos"/>
              </a:rPr>
              <a:t>Идентификатор у адреси не представља право приступа. Однос субјекта према ресурсу проверава се на серверу.</a:t>
            </a:r>
          </a:p>
        </p:txBody>
      </p:sp>
    </p:spTree>
    <p:extLst>
      <p:ext uri="{BB962C8B-B14F-4D97-AF65-F5344CB8AC3E}">
        <p14:creationId xmlns:p14="http://schemas.microsoft.com/office/powerpoint/2010/main" val="3459976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CDA1234B-5BCC-4742-9535-516C0879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D"/>
                </a:solidFill>
                <a:latin typeface="Aptos"/>
                <a:ea typeface="Aptos"/>
                <a:cs typeface="Aptos"/>
              </a:rPr>
              <a:t>Основе информационе безбедности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9D22A148-DBDE-4EB6-ABEA-D5536215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201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D5560"/>
          </a:solidFill>
          <a:ln xmlns:a="http://schemas.openxmlformats.org/drawingml/2006/main" w="7144">
            <a:solidFill>
              <a:srgbClr val="8D5560"/>
            </a:solidFill>
            <a:prstDash val="solid"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2E391C0-4BD9-4454-A113-1AC095A2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80738FA-895F-4D88-AF34-CD850CEBA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Субјекат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5B71474-7F02-4252-8E0C-14D58CF79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ко тражи радњу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BF63E107-CB8E-4925-8B89-482866B1E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28875"/>
            <a:ext cx="3257550" cy="1952625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7E51C25-62A7-48B7-AFA2-EE034CE7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527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74809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4809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46354F4-706E-426F-B5EA-C60DB92D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0035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Субјекат је потврђен идентитет са скупом дозвола; одлука полази од њега, а не од података из захтева.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845646D-F383-452F-A7BE-6F0C52B5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48075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Питање: који улаз покреће ову одлуку?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E4334422-C0FF-42DA-8A84-3E1DBA6B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28875"/>
            <a:ext cx="3257550" cy="1952625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F78A710-19C9-4C4A-8B17-EBADBEE1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527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2F5EF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970C0134-C22F-45B2-B0B1-A74B4B4C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0035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30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Дозвола за читање својих записа не укључује туђе; шири приступ је посебна, именована дозвола.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DDABE01-CF4F-4EF6-9E20-246CF1BE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648075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Питање: која граница мора бити видљива?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B7FD701A-6926-483F-9F2A-82E51B5B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28875"/>
            <a:ext cx="3257550" cy="1952625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EDF8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1DEFB9B7-E071-410B-B44F-A3002647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527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1CC986AC-1BAC-4792-B3A7-0B3A4E1A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0035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Запис о одлуци чува ко је тражио приступ и на основу које дозволе је исход донет.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5FA5688E-C491-4DF0-915D-DEE0A494D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48075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Питање: који доказ остаје после исхода?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C8E65552-6D58-427C-9727-EDF61BC8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752975"/>
            <a:ext cx="8991600" cy="7429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6E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4BFE807D-C2DA-4EB0-A568-4CE47DD0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895850"/>
            <a:ext cx="571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2636"/>
          </a:solidFill>
          <a:ln xmlns:a="http://schemas.openxmlformats.org/drawingml/2006/main" w="0">
            <a:noFill/>
          </a:ln>
        </p:spPr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0E14C6B7-EE5B-4D0A-8B0F-A092400D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103632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8573">
            <a:solidFill>
              <a:srgbClr val="DBC7CC"/>
            </a:solidFill>
            <a:prstDash val="solid"/>
          </a:ln>
        </p:spPr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BF356B2C-62F9-4838-8597-28814F11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14900"/>
            <a:ext cx="571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2636"/>
          </a:solidFill>
          <a:ln xmlns:a="http://schemas.openxmlformats.org/drawingml/2006/main" w="0">
            <a:noFill/>
          </a:ln>
        </p:spPr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2FABA79B-F690-4CD9-98AC-BD42C6F5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67275"/>
            <a:ext cx="963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13" b="1">
                <a:solidFill>
                  <a:srgbClr val="2854D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ПИТАЊЕ ЗА АНАЛИЗУ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8880A67E-4BD3-40E1-AB5B-95B19E65D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95875"/>
            <a:ext cx="963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388" b="1">
                <a:solidFill>
                  <a:srgbClr val="1B2432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B2432"/>
                </a:solidFill>
                <a:latin typeface="Aptos"/>
                <a:ea typeface="Aptos"/>
                <a:cs typeface="Aptos"/>
              </a:rPr>
              <a:t>Које дозволе субјекат мора да има за свој запис, а које за туђи?</a:t>
            </a:r>
          </a:p>
        </p:txBody>
      </p:sp>
    </p:spTree>
    <p:extLst>
      <p:ext uri="{BB962C8B-B14F-4D97-AF65-F5344CB8AC3E}">
        <p14:creationId xmlns:p14="http://schemas.microsoft.com/office/powerpoint/2010/main" val="14567339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5FBB923B-4DB1-4DB9-A768-AD64412A7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D"/>
                </a:solidFill>
                <a:latin typeface="Aptos"/>
                <a:ea typeface="Aptos"/>
                <a:cs typeface="Aptos"/>
              </a:rPr>
              <a:t>Основе информационе безбедности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9A279F69-BA3F-4399-859D-E063FB22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201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D5560"/>
          </a:solidFill>
          <a:ln xmlns:a="http://schemas.openxmlformats.org/drawingml/2006/main" w="7144">
            <a:solidFill>
              <a:srgbClr val="8D5560"/>
            </a:solidFill>
            <a:prstDash val="solid"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C373997-96D1-4820-842E-0B382F307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A6DE4D2-5272-4FDC-8305-07B759247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Ресурс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B13D260-CEEC-47A4-BB58-B3CD103C2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над чим се ради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279BA4AC-F2A1-435D-A721-602C6BA7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28875"/>
            <a:ext cx="3257550" cy="1952625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3C4C958-0832-4B3E-A705-0F853E9D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527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74809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4809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89B0C05-D89C-488B-AAC6-0C3CC431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0035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Ресурс има власника и класификацију; оба податка улазе у одлуку пре читања садржаја.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06C394A9-EFDC-4582-B8CF-B6A1CCB1C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48075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Питање: који улаз покреће ову одлуку?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5FCA13A6-A5C4-4144-A67D-2E04D994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28875"/>
            <a:ext cx="3257550" cy="1952625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0C633A6-1A3C-4381-A6A7-0C830F60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527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2F5EF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84CF409-5AB1-4BAF-850A-7BA6FA273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0035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30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Одбијање не треба да открива садржај нити постојање туђег осетљивог ресурса.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7457361A-B9C0-4B36-BE98-8B19CAE4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648075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Питање: која граница мора бити видљива?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68191500-968B-49D5-B7A2-D472979C6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28875"/>
            <a:ext cx="3257550" cy="1952625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EDF8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97401978-A2BB-476E-8448-6B78DF3E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527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882A580A-8A96-4DDC-AAAC-23613BE4F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0035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Исти принцип важи за API позив, извоз података и позадинску обраду, не само за екран.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F69460DC-94BE-4814-AE85-1CDD564F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48075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Питање: који доказ остаје после исхода?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AFF8F7EF-103C-4AFF-91F1-7BAA8997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752975"/>
            <a:ext cx="8991600" cy="7429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6E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8CF20779-1059-4B14-8898-B1384E12C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895850"/>
            <a:ext cx="571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2636"/>
          </a:solidFill>
          <a:ln xmlns:a="http://schemas.openxmlformats.org/drawingml/2006/main" w="0">
            <a:noFill/>
          </a:ln>
        </p:spPr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2CF009CA-AE08-44BB-B391-F555AB70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103632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8573">
            <a:solidFill>
              <a:srgbClr val="DBC7CC"/>
            </a:solidFill>
            <a:prstDash val="solid"/>
          </a:ln>
        </p:spPr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BD97CA0E-8944-4F8D-A013-8AAE8179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14900"/>
            <a:ext cx="571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2636"/>
          </a:solidFill>
          <a:ln xmlns:a="http://schemas.openxmlformats.org/drawingml/2006/main" w="0">
            <a:noFill/>
          </a:ln>
        </p:spPr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56BCE1F7-4127-4713-B298-9D970003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67275"/>
            <a:ext cx="963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13" b="1">
                <a:solidFill>
                  <a:srgbClr val="2854D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ПИТАЊЕ ЗА АНАЛИЗУ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6358B0FE-29A7-48CB-9361-2AECD727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95875"/>
            <a:ext cx="963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388" b="1">
                <a:solidFill>
                  <a:srgbClr val="1B2432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B2432"/>
                </a:solidFill>
                <a:latin typeface="Aptos"/>
                <a:ea typeface="Aptos"/>
                <a:cs typeface="Aptos"/>
              </a:rPr>
              <a:t>Који ресурс носи ризик хоризонталног приступа и које информације одлука мора да узме у обзир?</a:t>
            </a:r>
          </a:p>
        </p:txBody>
      </p:sp>
    </p:spTree>
    <p:extLst>
      <p:ext uri="{BB962C8B-B14F-4D97-AF65-F5344CB8AC3E}">
        <p14:creationId xmlns:p14="http://schemas.microsoft.com/office/powerpoint/2010/main" val="21170886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21B6F45F-BACC-44CD-A558-84A083B1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D"/>
                </a:solidFill>
                <a:latin typeface="Aptos"/>
                <a:ea typeface="Aptos"/>
                <a:cs typeface="Aptos"/>
              </a:rPr>
              <a:t>Основе информационе безбедности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2C4EC745-A73A-4D9D-8FF5-2589D4F6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201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D5560"/>
          </a:solidFill>
          <a:ln xmlns:a="http://schemas.openxmlformats.org/drawingml/2006/main" w="7144">
            <a:solidFill>
              <a:srgbClr val="8D5560"/>
            </a:solidFill>
            <a:prstDash val="solid"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BF66912-6305-43BC-ADC6-C7B43F87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648827E-E152-4BA4-BCAD-22493463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Контекст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21069E1-D82F-4545-9C7F-03495D42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власништво и намена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C7DB3A86-F9BD-41E9-9C15-C86A7C20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28875"/>
            <a:ext cx="3257550" cy="1952625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5E9AE12-0BB1-4D90-A699-E20861A7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527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74809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4809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DCCA1A2-237D-4B46-A722-147CA969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0035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Власништво повезује субјекта и ресурс: исти захтев има различит исход за власника и за другог корисника.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60C1048-E86E-4C52-8416-186564F4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48075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Питање: који улаз покреће ову одлуку?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05FB4689-9DA5-413F-B88E-C0649D8F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28875"/>
            <a:ext cx="3257550" cy="1952625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994930F7-C123-4E61-9A20-E0B810EF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527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2F5EF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39C59126-2948-4593-989D-EEB70D3E7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0035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30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Класификација одређује докле сеже шира дозвола; запис са највишом ознаком остаје доступан само власнику.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9C37A7FF-A8F7-42AC-8F78-7743A1406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648075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Питање: која граница мора бити видљива?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908964A8-7554-48E2-A044-7A28F858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28875"/>
            <a:ext cx="3257550" cy="1952625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EDF8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AAB3388E-B784-40D4-909D-3DC5814DD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527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13FB0DA4-7C50-43EE-8890-3E5C88567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0035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30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Власник податка одговара за промену класификације, а систем чува траг те промене.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F238E69E-F949-433F-B256-A695354F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48075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Питање: који доказ остаје после исхода?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C7ABF4E7-3BA1-4BD7-A449-C2DB0317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752975"/>
            <a:ext cx="8991600" cy="7429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6E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EA9FB3D0-0F37-45C3-927D-8BE918F3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895850"/>
            <a:ext cx="571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2636"/>
          </a:solidFill>
          <a:ln xmlns:a="http://schemas.openxmlformats.org/drawingml/2006/main" w="0">
            <a:noFill/>
          </a:ln>
        </p:spPr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2CD6F7EF-1EE6-4D43-87C0-B2ED1D9E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103632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8573">
            <a:solidFill>
              <a:srgbClr val="DBC7CC"/>
            </a:solidFill>
            <a:prstDash val="solid"/>
          </a:ln>
        </p:spPr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33B2C6C6-CD35-4DED-B850-3DA05E78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14900"/>
            <a:ext cx="571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2636"/>
          </a:solidFill>
          <a:ln xmlns:a="http://schemas.openxmlformats.org/drawingml/2006/main" w="0">
            <a:noFill/>
          </a:ln>
        </p:spPr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8CA2F5D-13C2-4B92-9C26-7D23D173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67275"/>
            <a:ext cx="963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13" b="1">
                <a:solidFill>
                  <a:srgbClr val="2854D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ПИТАЊЕ ЗА АНАЛИЗУ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75002033-CA5F-482B-A98B-F0A9C496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95875"/>
            <a:ext cx="963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388" b="1">
                <a:solidFill>
                  <a:srgbClr val="1B2432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B2432"/>
                </a:solidFill>
                <a:latin typeface="Aptos"/>
                <a:ea typeface="Aptos"/>
                <a:cs typeface="Aptos"/>
              </a:rPr>
              <a:t>Која чињеница о односу субјекта и ресурса мења исход при истој улози?</a:t>
            </a:r>
          </a:p>
        </p:txBody>
      </p:sp>
    </p:spTree>
    <p:extLst>
      <p:ext uri="{BB962C8B-B14F-4D97-AF65-F5344CB8AC3E}">
        <p14:creationId xmlns:p14="http://schemas.microsoft.com/office/powerpoint/2010/main" val="15491450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8BAA8594-5C65-433F-BAD9-EBD9E94A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D"/>
                </a:solidFill>
                <a:latin typeface="Aptos"/>
                <a:ea typeface="Aptos"/>
                <a:cs typeface="Aptos"/>
              </a:rPr>
              <a:t>Основе информационе безбедности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88C0FA6A-AF74-440B-A5B6-EEFBAD7E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201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D5560"/>
          </a:solidFill>
          <a:ln xmlns:a="http://schemas.openxmlformats.org/drawingml/2006/main" w="7144">
            <a:solidFill>
              <a:srgbClr val="8D5560"/>
            </a:solidFill>
            <a:prstDash val="solid"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B44B0FA-E215-48A5-84B0-905D7FAD2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CF154C5-91E9-4D3D-959F-BCC59EE8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Одлука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1FDF5C6-1698-4703-A612-BC2BF597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дозволи или одбиј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ECBA77C0-372E-4A96-AA43-C4138A92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28875"/>
            <a:ext cx="3257550" cy="1952625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3697ECE-0FEE-4D92-BA3C-0B08D893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527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74809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4809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12CC352-8F1A-43F5-A6A7-CC5535504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0035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Одлука се доноси на серверу, над конкретним записом, пре него што се садржај прочита.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60F9E05-54DC-45FA-A114-3DD4EBC6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48075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Питање: који улаз покреће ову одлуку?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B0BFFE43-1E0D-4542-9BF0-F23C1D4E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28875"/>
            <a:ext cx="3257550" cy="1952625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37F526B8-8E5D-4772-9EB4-4463C06C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527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2F5EF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DB46F888-8644-4510-94AC-14DDCBD7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0035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Сваки исход има стабилан код разлога, па се одбијање може тестирати и објаснити.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6A2F0F3-3407-4FF0-AA38-ED7F8376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648075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Питање: која граница мора бити видљива?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A10F66EC-86FB-4DCE-8AA7-922025611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28875"/>
            <a:ext cx="3257550" cy="1952625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EDF8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5FD55B23-3D1D-4157-AAA0-8431044F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527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4F69C80D-73D9-4625-9AF2-A00AC2D2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0035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30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Негативан тест за сваки разлог одбијања доказује да граница заиста постоји.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A9C5F890-4097-456A-A208-A2FF2EA56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48075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Питање: који доказ остаје после исхода?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946E881F-A732-4729-BCE4-B85C285D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752975"/>
            <a:ext cx="8991600" cy="7429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6E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5147E546-DF33-4C68-AC33-B245B2C3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895850"/>
            <a:ext cx="571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2636"/>
          </a:solidFill>
          <a:ln xmlns:a="http://schemas.openxmlformats.org/drawingml/2006/main" w="0">
            <a:noFill/>
          </a:ln>
        </p:spPr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610F894D-B6B1-4D0A-9FF9-102E84A06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103632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8573">
            <a:solidFill>
              <a:srgbClr val="DBC7CC"/>
            </a:solidFill>
            <a:prstDash val="solid"/>
          </a:ln>
        </p:spPr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F928D4DB-94DE-4358-A9F5-9FEE9D77B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14900"/>
            <a:ext cx="571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2636"/>
          </a:solidFill>
          <a:ln xmlns:a="http://schemas.openxmlformats.org/drawingml/2006/main" w="0">
            <a:noFill/>
          </a:ln>
        </p:spPr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EAF2CC7D-CEA1-483E-8AA1-6705729F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67275"/>
            <a:ext cx="963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13" b="1">
                <a:solidFill>
                  <a:srgbClr val="2854D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ПИТАЊЕ ЗА АНАЛИЗУ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08757245-A9E6-4673-8C31-71F3E0FC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95875"/>
            <a:ext cx="963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388" b="1">
                <a:solidFill>
                  <a:srgbClr val="1B2432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B2432"/>
                </a:solidFill>
                <a:latin typeface="Aptos"/>
                <a:ea typeface="Aptos"/>
                <a:cs typeface="Aptos"/>
              </a:rPr>
              <a:t>Који кодови исхода постоје у вашој одлуци и који тест доказује сваки од њих?</a:t>
            </a:r>
          </a:p>
        </p:txBody>
      </p:sp>
    </p:spTree>
    <p:extLst>
      <p:ext uri="{BB962C8B-B14F-4D97-AF65-F5344CB8AC3E}">
        <p14:creationId xmlns:p14="http://schemas.microsoft.com/office/powerpoint/2010/main" val="716470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4BC5B67A-01F5-479D-ACF2-C2CF159C9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D"/>
                </a:solidFill>
                <a:latin typeface="Aptos"/>
                <a:ea typeface="Aptos"/>
                <a:cs typeface="Aptos"/>
              </a:rPr>
              <a:t>Основе информационе безбедности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E7FCB8DA-AC37-4612-8BF7-E2FC4C824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201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D5560"/>
          </a:solidFill>
          <a:ln xmlns:a="http://schemas.openxmlformats.org/drawingml/2006/main" w="7144">
            <a:solidFill>
              <a:srgbClr val="8D5560"/>
            </a:solidFill>
            <a:prstDash val="solid"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409AAFB-D9ED-45CF-9093-40781905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4A80B50-D59A-4F48-85DD-6CB7B6DD7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Нивои провере приступа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48933A9-988D-467B-87B3-A4A51765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Поређење приказује функцију сваког елемента и ограничење његове самосталне примене.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9289AED-7324-49A0-9C38-C97899FD7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478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57184"/>
                </a:solidFill>
                <a:latin typeface="Aptos"/>
                <a:ea typeface="Aptos"/>
                <a:cs typeface="Aptos"/>
              </a:rPr>
              <a:t>Ниво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2E63B21-22C2-4BB7-B8B5-F830E06F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47875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57184"/>
                </a:solidFill>
                <a:latin typeface="Aptos"/>
                <a:ea typeface="Aptos"/>
                <a:cs typeface="Aptos"/>
              </a:rPr>
              <a:t>Шта проверава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E129746-DBF2-4BD9-9101-8E127B21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47875"/>
            <a:ext cx="3771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57184"/>
                </a:solidFill>
                <a:latin typeface="Aptos"/>
                <a:ea typeface="Aptos"/>
                <a:cs typeface="Aptos"/>
              </a:rPr>
              <a:t>Зашто није довољан сам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7DEF4FB5-7A95-41A3-A582-8C9EE03FF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10591800" cy="609600"/>
          </a:xfrm>
          <a:prstGeom xmlns:a="http://schemas.openxmlformats.org/drawingml/2006/main" prst="roundRect">
            <a:avLst>
              <a:gd name="adj" fmla="val 17188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F1D213F-6F24-4310-8F20-9B0692B1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860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74809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48092"/>
                </a:solidFill>
                <a:latin typeface="Aptos"/>
                <a:ea typeface="Aptos"/>
                <a:cs typeface="Aptos"/>
              </a:rPr>
              <a:t>Пријава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C2A79BE-38CC-44BD-B161-4017E8A5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28875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Идентитет субјекта.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EFEC7FCC-F11C-43BE-8BBE-096303EA8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28875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Не говори шта субјекат сме да уради.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7AFDB29A-829E-461A-B57F-938C8C5D1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10591800" cy="609600"/>
          </a:xfrm>
          <a:prstGeom xmlns:a="http://schemas.openxmlformats.org/drawingml/2006/main" prst="roundRect">
            <a:avLst>
              <a:gd name="adj" fmla="val 17188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0282B17D-46C8-415E-BD32-A0B22B48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289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2F5EF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Улога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A5F476D3-3E5C-45F6-87AD-BFD9E3844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71825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Општи скуп одговорности.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B7DCA9EB-DCE3-41FE-8894-FC2E3DAAB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171825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Не зна однос према конкретном запису.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27F6C655-298E-4E75-8DBA-1AD3EDB4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48100"/>
            <a:ext cx="10591800" cy="609600"/>
          </a:xfrm>
          <a:prstGeom xmlns:a="http://schemas.openxmlformats.org/drawingml/2006/main" prst="roundRect">
            <a:avLst>
              <a:gd name="adj" fmla="val 17188"/>
            </a:avLst>
          </a:prstGeom>
          <a:solidFill xmlns:a="http://schemas.openxmlformats.org/drawingml/2006/main">
            <a:srgbClr val="F7F4F5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199CE3B3-2371-4125-AE64-8BCE126F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719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7651D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Ресурс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4871B6FA-E738-4EB6-A936-035F7DCBC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14775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Власништво, припадност и класификацију.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FFCE5CD4-CC05-42C5-9568-ECB66375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914775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Мора се комбиновати са радњом и политиком.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DEBEC2C8-812A-4AD5-A4C7-9CC9C62C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91050"/>
            <a:ext cx="10591800" cy="609600"/>
          </a:xfrm>
          <a:prstGeom xmlns:a="http://schemas.openxmlformats.org/drawingml/2006/main" prst="roundRect">
            <a:avLst>
              <a:gd name="adj" fmla="val 17188"/>
            </a:avLst>
          </a:prstGeom>
          <a:solidFill xmlns:a="http://schemas.openxmlformats.org/drawingml/2006/main">
            <a:srgbClr val="EDF8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76A78283-2DFE-4535-B200-0A744735E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148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Контекст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F1C32701-FA27-4C56-A2C3-1D34B8E6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657725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Време, стање и пословно оправдање.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7752FA9C-800D-45D2-8E0D-B4CE7F3D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657725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Може променити закључак за исту улогу.</a:t>
            </a:r>
          </a:p>
        </p:txBody>
      </p:sp>
    </p:spTree>
    <p:extLst>
      <p:ext uri="{BB962C8B-B14F-4D97-AF65-F5344CB8AC3E}">
        <p14:creationId xmlns:p14="http://schemas.microsoft.com/office/powerpoint/2010/main" val="6049814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BD387BA3-5965-4B73-94F5-358DFF16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D"/>
                </a:solidFill>
                <a:latin typeface="Aptos"/>
                <a:ea typeface="Aptos"/>
                <a:cs typeface="Aptos"/>
              </a:rPr>
              <a:t>Основе информационе безбедности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C258C937-4C60-4FED-B5AE-AF9D1BEC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201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D5560"/>
          </a:solidFill>
          <a:ln xmlns:a="http://schemas.openxmlformats.org/drawingml/2006/main" w="7144">
            <a:solidFill>
              <a:srgbClr val="8D5560"/>
            </a:solidFill>
            <a:prstDash val="solid"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71BEFEE-2150-43B7-9365-29452B4AC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3F5970F-2D58-4228-BC6E-716C2E073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Модел заштите једног ресурса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4D4C74E-4730-4C53-89F6-D7F6E50B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6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Идентификатор у адреси не представља право приступа. Однос субјекта према ресурсу проверава се на серверу.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6305EAFE-77D9-46AF-86BE-94C10BE6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2462213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29274A7-D1DC-46E3-9229-D8F0EEEE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686050"/>
            <a:ext cx="2176463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74809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4809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0B587A7-5166-4948-8E42-DA4C8C01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21955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Ресурс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F59204A-0456-4757-87DB-25BD9D4D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362325"/>
            <a:ext cx="217646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власник и класификација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2B8C83DF-9478-458D-A933-DEAC4BDC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913" y="2571750"/>
            <a:ext cx="2462213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EDF8FA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B8556ED-05BA-4C16-927C-04327396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788" y="2686050"/>
            <a:ext cx="2176463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16849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849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4D641044-AB1E-4741-B4B0-3352D046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4263" y="2971800"/>
            <a:ext cx="21955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Радња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6B270203-0189-49BF-81F2-13D6A7A99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788" y="3362325"/>
            <a:ext cx="217646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читање, измена или извоз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7C32C490-AD33-43D6-B726-04EB909DA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71750"/>
            <a:ext cx="2462213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C9E987AF-1AC9-40F4-A2F6-79B2CAE6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86050"/>
            <a:ext cx="2176463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2F5EF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375DF44D-7771-4CF6-AD35-296BF851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971800"/>
            <a:ext cx="21955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Серверска провера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D149480-DB85-49BB-B8FB-EC64E4477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62325"/>
            <a:ext cx="217646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субјекат, однос и правило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D4FC90C3-B9A2-460C-9A86-98B4089F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6838" y="2571750"/>
            <a:ext cx="2462213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EDF8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6B69500C-4BE4-4675-8D68-CB51C3FC9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9713" y="2686050"/>
            <a:ext cx="2176463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0B9F79BE-5F64-4BB5-B48D-C0783A27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2971800"/>
            <a:ext cx="21955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Безбедан исход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4A700990-61ED-441D-A211-142192416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9713" y="3362325"/>
            <a:ext cx="217646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16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подаци или контролисано одбијање</a:t>
            </a:r>
          </a:p>
        </p:txBody>
      </p:sp>
      <p:cxnSp>
        <p:nvCxnSpPr>
          <p:cNvPr id="221" name="Straight Arrow Connector 124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205163" y="32004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48092"/>
            </a:solidFill>
            <a:prstDash val="solid"/>
            <a:tailEnd type="arrow" w="sm" len="sm"/>
          </a:ln>
        </p:spPr>
      </p:cxnSp>
      <p:cxnSp>
        <p:nvCxnSpPr>
          <p:cNvPr id="222" name="Straight Arrow Connector 125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953126" y="3200400"/>
            <a:ext cx="285749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48092"/>
            </a:solidFill>
            <a:prstDash val="solid"/>
            <a:tailEnd type="arrow" w="sm" len="sm"/>
          </a:ln>
        </p:spPr>
      </p:cxnSp>
      <p:cxnSp>
        <p:nvCxnSpPr>
          <p:cNvPr id="223" name="Straight Arrow Connector 126"/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701088" y="32004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48092"/>
            </a:solidFill>
            <a:prstDash val="solid"/>
            <a:tailEnd type="arrow" w="sm" len="sm"/>
          </a:ln>
        </p:spPr>
      </p:cxn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6C0E9DEE-D9A3-450F-9372-AE374F9B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19600"/>
            <a:ext cx="8763000" cy="7429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CBD37CE9-F4C3-4EB8-8CBC-7A85E53C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562475"/>
            <a:ext cx="571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2636"/>
          </a:solidFill>
          <a:ln xmlns:a="http://schemas.openxmlformats.org/drawingml/2006/main" w="0">
            <a:noFill/>
          </a:ln>
        </p:spPr>
      </p:sp>
      <p:sp>
        <p:nvSpPr>
          <p:cNvPr id="76" name="Rounded Rectangle 75">
            <a:extLst xmlns:a="http://schemas.openxmlformats.org/drawingml/2006/main">
              <a:ext uri="{FF2B5EF4-FFF2-40B4-BE49-F238E27FC236}">
                <a16:creationId xmlns:a16="http://schemas.microsoft.com/office/drawing/2014/main" id="{FC2CEE38-69E5-461A-B0B0-A579E20D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38650"/>
            <a:ext cx="103632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8573">
            <a:solidFill>
              <a:srgbClr val="DBC7CC"/>
            </a:solidFill>
            <a:prstDash val="solid"/>
          </a:ln>
        </p:spPr>
      </p:sp>
      <p:sp>
        <p:nvSpPr>
          <p:cNvPr id="77" name="Rounded Rectangle 76">
            <a:extLst xmlns:a="http://schemas.openxmlformats.org/drawingml/2006/main">
              <a:ext uri="{FF2B5EF4-FFF2-40B4-BE49-F238E27FC236}">
                <a16:creationId xmlns:a16="http://schemas.microsoft.com/office/drawing/2014/main" id="{90EE5DAE-2BA1-479C-BEA2-54B755C1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91050"/>
            <a:ext cx="571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2636"/>
          </a:solidFill>
          <a:ln xmlns:a="http://schemas.openxmlformats.org/drawingml/2006/main" w="0">
            <a:noFill/>
          </a:ln>
        </p:spPr>
      </p:sp>
      <p:sp>
        <p:nvSpPr>
          <p:cNvPr id="78" name="Rectangle 77">
            <a:extLst xmlns:a="http://schemas.openxmlformats.org/drawingml/2006/main">
              <a:ext uri="{FF2B5EF4-FFF2-40B4-BE49-F238E27FC236}">
                <a16:creationId xmlns:a16="http://schemas.microsoft.com/office/drawing/2014/main" id="{16961065-3058-45BD-91FC-C677503BD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43425"/>
            <a:ext cx="963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13" b="1">
                <a:solidFill>
                  <a:srgbClr val="2854D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ЕЛЕМЕНТИ АНАЛИЗЕ</a:t>
            </a:r>
          </a:p>
        </p:txBody>
      </p:sp>
      <p:sp>
        <p:nvSpPr>
          <p:cNvPr id="79" name="Rectangle 78">
            <a:extLst xmlns:a="http://schemas.openxmlformats.org/drawingml/2006/main">
              <a:ext uri="{FF2B5EF4-FFF2-40B4-BE49-F238E27FC236}">
                <a16:creationId xmlns:a16="http://schemas.microsoft.com/office/drawing/2014/main" id="{B7B93255-412E-4449-8508-6EFC7885E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72025"/>
            <a:ext cx="963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88" b="1">
                <a:solidFill>
                  <a:srgbClr val="1B2432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B2432"/>
                </a:solidFill>
                <a:latin typeface="Aptos"/>
                <a:ea typeface="Aptos"/>
                <a:cs typeface="Aptos"/>
              </a:rPr>
              <a:t>Анализа сваког корака обухвата покретача, место одлуке и траг који остаје после исхода.</a:t>
            </a:r>
          </a:p>
        </p:txBody>
      </p:sp>
    </p:spTree>
    <p:extLst>
      <p:ext uri="{BB962C8B-B14F-4D97-AF65-F5344CB8AC3E}">
        <p14:creationId xmlns:p14="http://schemas.microsoft.com/office/powerpoint/2010/main" val="10078638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3ADFA57C-7E31-4B7D-9528-17CA9E3FA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D"/>
                </a:solidFill>
                <a:latin typeface="Aptos"/>
                <a:ea typeface="Aptos"/>
                <a:cs typeface="Aptos"/>
              </a:rPr>
              <a:t>Основе информационе безбедности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78014680-BAAF-4218-B039-9C8B9C08F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201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D5560"/>
          </a:solidFill>
          <a:ln xmlns:a="http://schemas.openxmlformats.org/drawingml/2006/main" w="7144">
            <a:solidFill>
              <a:srgbClr val="8D5560"/>
            </a:solidFill>
            <a:prstDash val="solid"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516CB8A-190B-443C-8B38-1DF58534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3DF3ECD-A8BA-4284-8E87-3AE5D300E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Животни циклус податка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0BE91FE-3175-417F-8470-D70F1E2A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Процес приказује улазе, место одлуке и доказ који остаје после исхода.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37435B5E-E6CA-4DEE-B940-DCC2A04E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52650"/>
            <a:ext cx="4572000" cy="3143250"/>
          </a:xfrm>
          <a:prstGeom xmlns:a="http://schemas.openxmlformats.org/drawingml/2006/main" prst="roundRect">
            <a:avLst>
              <a:gd name="adj" fmla="val 4242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156E6EE-79AE-47F6-9FDA-4879569D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76475"/>
            <a:ext cx="426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74809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48092"/>
                </a:solidFill>
                <a:latin typeface="Aptos"/>
                <a:ea typeface="Aptos"/>
                <a:cs typeface="Aptos"/>
              </a:rPr>
              <a:t>КОНТЕКСТ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1F00FBB-B3E3-41B7-904C-756BE9B4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24125"/>
            <a:ext cx="4267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Животни циклус податка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D91DBCD-7119-4D3E-98D1-C0E650D0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86100"/>
            <a:ext cx="4267200" cy="2105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Заштита података не завршава се у тренутку читања. Исти податак пролази кроз креирање, употребу, дељење, чување и уклањање. Свака фаза поставља друго питање о дозвољеном приступу и потребном трагу.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CD2B15E8-1C9B-4F44-813A-5588336DF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095500"/>
            <a:ext cx="563880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A1B7E90-BA8B-47F0-A32B-164ACD2EA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219325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2F5EF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BD3953E3-DF90-48B1-8601-9CC0A920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466975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При креирању се одређују власник и класификација.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4E76BDC8-D8FF-4866-B3B4-439CFCCFD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971800"/>
            <a:ext cx="563880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EDF8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D85A31B-048F-4B11-BF5A-90AB4CB0D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095625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5D72023-D1B9-4133-BE77-070F775D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343275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При коришћењу се проверава сврха и опсег приступа.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DE861F12-4EC9-4250-879F-CC4DE819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848100"/>
            <a:ext cx="563880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0C153001-2583-4F19-B9CD-5AAC483C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971925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2F5EF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9982DC76-F87C-4E84-8FA6-96471EA4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219575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53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При дељењу се проверава граница поверења и минимални скуп података.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D2F1DD49-B6CD-46CF-8DCD-6C6C6347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724400"/>
            <a:ext cx="563880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EDF8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547A6E37-D393-43E9-B1CF-8CF928762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848225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AEF4DC51-BB91-43C0-905C-F23C543AF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095875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При чувању и уклањању важе ретентион и audit правила.</a:t>
            </a:r>
          </a:p>
        </p:txBody>
      </p:sp>
    </p:spTree>
    <p:extLst>
      <p:ext uri="{BB962C8B-B14F-4D97-AF65-F5344CB8AC3E}">
        <p14:creationId xmlns:p14="http://schemas.microsoft.com/office/powerpoint/2010/main" val="68663766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39E8D9CF-F8AE-4DBB-B612-40567474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D"/>
                </a:solidFill>
                <a:latin typeface="Aptos"/>
                <a:ea typeface="Aptos"/>
                <a:cs typeface="Aptos"/>
              </a:rPr>
              <a:t>Основе информационе безбедности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49E159CC-3D21-4859-B06B-DEDD0127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201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D5560"/>
          </a:solidFill>
          <a:ln xmlns:a="http://schemas.openxmlformats.org/drawingml/2006/main" w="7144">
            <a:solidFill>
              <a:srgbClr val="8D5560"/>
            </a:solidFill>
            <a:prstDash val="solid"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1D57662-CF60-4E60-AE2A-9C8C0D23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D1DE885-8269-4294-A346-E333D266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Одлука мора имати контекст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D8A2984-4A42-406C-81A9-89AF3502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Наведена правила остају видљива у имплементацији, тестовима и ревизији.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CB6E1B32-538F-40FB-A501-65847EC8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3257550" cy="2343150"/>
          </a:xfrm>
          <a:prstGeom xmlns:a="http://schemas.openxmlformats.org/drawingml/2006/main" prst="roundRect">
            <a:avLst>
              <a:gd name="adj" fmla="val 5691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11A68A6-598C-4703-A175-E823E84D2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2412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2F5EF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F1F7BB7-5683-460F-8718-4BBF9E97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71775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Провера права укључује субјект, радњу, ресурс и његову припадност.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72FC82A-D388-44CE-A3FB-C5FFBE7A8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81450"/>
            <a:ext cx="2952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Јасно правило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28721DAA-2B33-4BBB-9014-8B7CDE3E1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400300"/>
            <a:ext cx="3257550" cy="2343150"/>
          </a:xfrm>
          <a:prstGeom xmlns:a="http://schemas.openxmlformats.org/drawingml/2006/main" prst="roundRect">
            <a:avLst>
              <a:gd name="adj" fmla="val 5691"/>
            </a:avLst>
          </a:prstGeom>
          <a:solidFill xmlns:a="http://schemas.openxmlformats.org/drawingml/2006/main">
            <a:srgbClr val="F7F4F5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CA8C4055-522F-4D45-AEF3-BC9084C6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2412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7651D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2612DD69-0466-47C9-8B07-62657734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771775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Одбијање не треба да открива садржај нити постојање туђег осетљивог ресурса.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035A630-0F65-450B-B190-479066175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981450"/>
            <a:ext cx="2952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Проверљива примена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37B5289C-9751-448B-8A0A-4A06F8BE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00300"/>
            <a:ext cx="3257550" cy="2343150"/>
          </a:xfrm>
          <a:prstGeom xmlns:a="http://schemas.openxmlformats.org/drawingml/2006/main" prst="roundRect">
            <a:avLst>
              <a:gd name="adj" fmla="val 5691"/>
            </a:avLst>
          </a:prstGeom>
          <a:solidFill xmlns:a="http://schemas.openxmlformats.org/drawingml/2006/main">
            <a:srgbClr val="EDF8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DEFFD8BA-10C6-4887-9CCB-FB2FBE8A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2412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7CE50752-7A75-4D4D-B962-A17FF9CE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71775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Класификација представља улаз у правила руковања подацима.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53315F9C-EB1D-4386-91CC-82CE998B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81450"/>
            <a:ext cx="2952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Видљив доказ</a:t>
            </a:r>
          </a:p>
        </p:txBody>
      </p:sp>
    </p:spTree>
    <p:extLst>
      <p:ext uri="{BB962C8B-B14F-4D97-AF65-F5344CB8AC3E}">
        <p14:creationId xmlns:p14="http://schemas.microsoft.com/office/powerpoint/2010/main" val="83770631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1198844D-277A-486F-9ACF-2CD20692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D"/>
                </a:solidFill>
                <a:latin typeface="Aptos"/>
                <a:ea typeface="Aptos"/>
                <a:cs typeface="Aptos"/>
              </a:rPr>
              <a:t>Основе информационе безбедности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B9CABE05-6393-4251-9F8A-E88F2D4FD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201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D5560"/>
          </a:solidFill>
          <a:ln xmlns:a="http://schemas.openxmlformats.org/drawingml/2006/main" w="7144">
            <a:solidFill>
              <a:srgbClr val="8D5560"/>
            </a:solidFill>
            <a:prstDash val="solid"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9FFB6D4-3B66-4C75-9859-0FD37AC2C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61B533E-249D-4613-96B9-E712521F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Примена у развоју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77FE16A-E85C-4B2B-875E-02C3FFF0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Тим примењује тему кроз серверске провере, тестове и ревизионе записе током развоја.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F06A2DDC-FF1E-447D-82DF-56B0E0E1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4810125" cy="28575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A4CB545-EBB7-4CA8-9AA0-765505D17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4505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2F5EF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РАЗВОЈНИ КОНТЕКСТ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3BD74EF-BDC6-40A2-9D15-586D4609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81275"/>
            <a:ext cx="4505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Примена принципа у коду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82A454B-7D09-4C82-9C62-85A53FC9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24200"/>
            <a:ext cx="4505325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За сваку значајну операцију тим формулише и позитиван и негативан сценарио. Негативан сценарио проверава да правилно пријављен корисник не може да заобиђе власништво променом идентификатора или позивом API-ја ван интерфејса.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BB815A93-3CCD-4CA7-B71A-763BFE2B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09800"/>
            <a:ext cx="5353050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95D04840-D0D7-4DBE-B950-DC41BAEC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33625"/>
            <a:ext cx="504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74809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4809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3DB90033-B43F-4315-A6AD-BB466337E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8127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Дефинисана одлука и њена граница.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B29EFCBF-FD7D-4BAA-985D-2914B6F8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200400"/>
            <a:ext cx="5353050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F7F4F5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1EDA9875-471C-4B52-90BD-0608E8714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24225"/>
            <a:ext cx="504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7651D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0C5C0682-89F3-4748-9A38-8D63CB564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7187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Серверска имплементација провере.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0B3D8C5D-49DA-4C5B-BA7B-77D58F5B7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191000"/>
            <a:ext cx="5353050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EDF8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B90FC087-FA9E-4AB9-8516-557C123E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14825"/>
            <a:ext cx="504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C218A94-EEDD-41D0-8F28-B778DD4A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6247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Позитиван и негативан доказ.</a:t>
            </a:r>
          </a:p>
        </p:txBody>
      </p:sp>
    </p:spTree>
    <p:extLst>
      <p:ext uri="{BB962C8B-B14F-4D97-AF65-F5344CB8AC3E}">
        <p14:creationId xmlns:p14="http://schemas.microsoft.com/office/powerpoint/2010/main" val="121358889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D5E21E69-70B5-43C7-B302-B5F45991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D"/>
                </a:solidFill>
                <a:latin typeface="Aptos"/>
                <a:ea typeface="Aptos"/>
                <a:cs typeface="Aptos"/>
              </a:rPr>
              <a:t>Основе информационе безбедности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54861363-7A89-490C-8BBE-0CBD0B4F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201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D5560"/>
          </a:solidFill>
          <a:ln xmlns:a="http://schemas.openxmlformats.org/drawingml/2006/main" w="7144">
            <a:solidFill>
              <a:srgbClr val="8D5560"/>
            </a:solidFill>
            <a:prstDash val="solid"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00C7750-DDF7-47AE-B4A0-9FE6BB08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DA2CA1C-27E7-4A3C-B96D-FBBC219A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Случај: исправна улога, погрешан запис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415107E-5EB6-42EF-883D-29BE5086A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Случај повезује опште правило са конкретним контекстом, серверском провером и очекиваним исходом.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3A91D0A-337C-49D8-8B22-C94F5DAE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43125"/>
            <a:ext cx="10629900" cy="16192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52FBDA9-E923-4E23-A6E4-53E0156C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10325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74809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48092"/>
                </a:solidFill>
                <a:latin typeface="Aptos"/>
                <a:ea typeface="Aptos"/>
                <a:cs typeface="Aptos"/>
              </a:rPr>
              <a:t>СЦЕНАРИО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EB34F36-892F-4CE7-A201-034CAAF0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14600"/>
            <a:ext cx="1032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Пример: исправна улога, погрешан запис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A240096-C036-49CE-BD29-3CE1120B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81325"/>
            <a:ext cx="103251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Два члана тима имају исту улогу и обојица могу да прегледају захтеве. Један мења идентификатор у адреси захтева и долази до туђег записа. Систем који проверава само улогу сматра захтев дозвољеним, иако се променио најважнији део контекста: однос корисника према конкретном ресурсу.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2CC2FBC0-AE50-471F-BB40-B2AEBC9BC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48125"/>
            <a:ext cx="3352800" cy="1352550"/>
          </a:xfrm>
          <a:prstGeom xmlns:a="http://schemas.openxmlformats.org/drawingml/2006/main" prst="roundRect">
            <a:avLst>
              <a:gd name="adj" fmla="val 9859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93D3126B-ADFF-4898-9F4E-5CE234F8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719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2F5EF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D2B7B2D7-B9A2-4BB1-88DD-CBB865441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1960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Одлука укључује идентитет, тражену радњу, ресурс и припадност ресурса одговарајућем домену или власнику.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3F32ABCF-62AF-4FF3-AB7D-8999EBAC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048125"/>
            <a:ext cx="3352800" cy="1352550"/>
          </a:xfrm>
          <a:prstGeom xmlns:a="http://schemas.openxmlformats.org/drawingml/2006/main" prst="roundRect">
            <a:avLst>
              <a:gd name="adj" fmla="val 9859"/>
            </a:avLst>
          </a:prstGeom>
          <a:solidFill xmlns:a="http://schemas.openxmlformats.org/drawingml/2006/main">
            <a:srgbClr val="FFF6E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E83F77D-4186-4867-8852-9D30B22BE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1719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B86A0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6A0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A7EF800E-E8E5-43D6-AEFA-C2C44B6FD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41960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989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Исти принцип важи за API позив, извоз података и позадинску обраду, не само за екран који корисник види.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7038BB6A-3A32-4F75-B9B3-104BF2D2A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48125"/>
            <a:ext cx="3352800" cy="1352550"/>
          </a:xfrm>
          <a:prstGeom xmlns:a="http://schemas.openxmlformats.org/drawingml/2006/main" prst="roundRect">
            <a:avLst>
              <a:gd name="adj" fmla="val 9859"/>
            </a:avLst>
          </a:prstGeom>
          <a:solidFill xmlns:a="http://schemas.openxmlformats.org/drawingml/2006/main">
            <a:srgbClr val="EDF8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03AAE2CF-D644-4C80-A312-2A0186AD2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719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B174C765-73AE-47F8-89B3-04617428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41960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852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Одговор на одбијени приступ треба да буде користан клијенту, али не сме да открије податке о заштићеном запису.</a:t>
            </a:r>
          </a:p>
        </p:txBody>
      </p:sp>
    </p:spTree>
    <p:extLst>
      <p:ext uri="{BB962C8B-B14F-4D97-AF65-F5344CB8AC3E}">
        <p14:creationId xmlns:p14="http://schemas.microsoft.com/office/powerpoint/2010/main" val="177632182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9E2B1DBA-F56C-44F2-9E98-BD3B1871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D"/>
                </a:solidFill>
                <a:latin typeface="Aptos"/>
                <a:ea typeface="Aptos"/>
                <a:cs typeface="Aptos"/>
              </a:rPr>
              <a:t>Основе информационе безбедности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4DCB16DE-011A-45B2-A529-7E532774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201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D5560"/>
          </a:solidFill>
          <a:ln xmlns:a="http://schemas.openxmlformats.org/drawingml/2006/main" w="7144">
            <a:solidFill>
              <a:srgbClr val="8D5560"/>
            </a:solidFill>
            <a:prstDash val="solid"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436B7F6-4964-4C13-8C3D-50B47866B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B012E6D-692B-4314-BB3F-605C6001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Одлука се доноси над конкретним ресурсом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9632270-BEF6-4F88-A1AF-F3378677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Метода проверава дозволу, власништво и класификацију пре читања ресурса.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3DDDF580-FC61-41A4-B6E1-EA2B259BC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6858000" cy="2812550"/>
          </a:xfrm>
          <a:prstGeom xmlns:a="http://schemas.openxmlformats.org/drawingml/2006/main" prst="roundRect">
            <a:avLst>
              <a:gd name="adj" fmla="val 4184"/>
            </a:avLst>
          </a:prstGeom>
          <a:solidFill xmlns:a="http://schemas.openxmlformats.org/drawingml/2006/main">
            <a:srgbClr val="F4F6F7"/>
          </a:solidFill>
          <a:ln xmlns:a="http://schemas.openxmlformats.org/drawingml/2006/main" w="9525">
            <a:solidFill>
              <a:srgbClr val="CCD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ajor"/>
        </p:style>
      </p:sp>
      <p:sp>
        <p:nvSpPr>
          <p:cNvPr id="7" name="Straight Connector 6">
            <a:extLst xmlns:a="http://schemas.openxmlformats.org/drawingml/2006/main">
              <a:ext uri="{FF2B5EF4-FFF2-40B4-BE49-F238E27FC236}">
                <a16:creationId xmlns:a16="http://schemas.microsoft.com/office/drawing/2014/main" id="{92F74129-30FC-4C45-A147-8C509A70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38400"/>
            <a:ext cx="68580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AFBEC9"/>
          </a:solidFill>
          <a:ln xmlns:a="http://schemas.openxmlformats.org/drawingml/2006/main" w="9525">
            <a:solidFill>
              <a:srgbClr val="AFBEC9"/>
            </a:solidFill>
            <a:prstDash val="solid"/>
          </a:ln>
        </p:spPr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2A48360C-71CE-444D-90FC-7EF9E10C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1456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6A60"/>
          </a:solidFill>
          <a:ln xmlns:a="http://schemas.openxmlformats.org/drawingml/2006/main" w="0">
            <a:noFill/>
          </a:ln>
        </p:spPr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18F460E4-2A91-4FA4-88B4-F59AD75A6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9463" y="221456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D42"/>
          </a:solidFill>
          <a:ln xmlns:a="http://schemas.openxmlformats.org/drawingml/2006/main" w="0">
            <a:noFill/>
          </a:ln>
        </p:spPr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85A35D4D-6C02-45D0-8A97-5969ADB78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21456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C466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AE8C6B3-38DF-463C-88D9-5B831DBD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304800" cy="302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300"/>
              </a:lnSpc>
              <a:buNone/>
              <a:defRPr sz="975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1</a:t>
            </a:r>
          </a:p>
          <a:p xmlns:a="http://schemas.openxmlformats.org/drawingml/2006/main">
            <a:pPr algn="r">
              <a:lnSpc>
                <a:spcPts val="1300"/>
              </a:lnSpc>
              <a:buNone/>
              <a:defRPr sz="975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2</a:t>
            </a:r>
          </a:p>
          <a:p xmlns:a="http://schemas.openxmlformats.org/drawingml/2006/main">
            <a:pPr algn="r">
              <a:lnSpc>
                <a:spcPts val="1300"/>
              </a:lnSpc>
              <a:buNone/>
              <a:defRPr sz="975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3</a:t>
            </a:r>
          </a:p>
          <a:p xmlns:a="http://schemas.openxmlformats.org/drawingml/2006/main">
            <a:pPr algn="r">
              <a:lnSpc>
                <a:spcPts val="1300"/>
              </a:lnSpc>
              <a:buNone/>
              <a:defRPr sz="975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4</a:t>
            </a:r>
          </a:p>
          <a:p xmlns:a="http://schemas.openxmlformats.org/drawingml/2006/main">
            <a:pPr algn="r">
              <a:lnSpc>
                <a:spcPts val="1300"/>
              </a:lnSpc>
              <a:buNone/>
              <a:defRPr sz="975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5</a:t>
            </a:r>
          </a:p>
          <a:p xmlns:a="http://schemas.openxmlformats.org/drawingml/2006/main">
            <a:pPr algn="r">
              <a:lnSpc>
                <a:spcPts val="1300"/>
              </a:lnSpc>
              <a:buNone/>
              <a:defRPr sz="975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6</a:t>
            </a:r>
          </a:p>
          <a:p xmlns:a="http://schemas.openxmlformats.org/drawingml/2006/main">
            <a:pPr algn="r">
              <a:lnSpc>
                <a:spcPts val="1300"/>
              </a:lnSpc>
              <a:buNone/>
              <a:defRPr sz="975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7</a:t>
            </a:r>
          </a:p>
          <a:p xmlns:a="http://schemas.openxmlformats.org/drawingml/2006/main">
            <a:pPr algn="r">
              <a:lnSpc>
                <a:spcPts val="1300"/>
              </a:lnSpc>
              <a:buNone/>
              <a:defRPr sz="975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8</a:t>
            </a:r>
          </a:p>
          <a:p xmlns:a="http://schemas.openxmlformats.org/drawingml/2006/main">
            <a:pPr algn="r">
              <a:lnSpc>
                <a:spcPts val="1300"/>
              </a:lnSpc>
              <a:buNone/>
              <a:defRPr sz="975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9</a:t>
            </a:r>
          </a:p>
          <a:p xmlns:a="http://schemas.openxmlformats.org/drawingml/2006/main">
            <a:pPr algn="r">
              <a:lnSpc>
                <a:spcPts val="1300"/>
              </a:lnSpc>
              <a:buNone/>
              <a:defRPr sz="975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10</a:t>
            </a:r>
          </a:p>
          <a:p xmlns:a="http://schemas.openxmlformats.org/drawingml/2006/main">
            <a:pPr algn="r">
              <a:lnSpc>
                <a:spcPts val="1300"/>
              </a:lnSpc>
              <a:buNone/>
              <a:defRPr sz="975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11</a:t>
            </a:r>
          </a:p>
          <a:p xmlns:a="http://schemas.openxmlformats.org/drawingml/2006/main">
            <a:pPr algn="r">
              <a:lnSpc>
                <a:spcPts val="1300"/>
              </a:lnSpc>
              <a:buNone/>
              <a:defRPr sz="975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12</a:t>
            </a:r>
          </a:p>
          <a:p xmlns:a="http://schemas.openxmlformats.org/drawingml/2006/main">
            <a:pPr algn="r">
              <a:lnSpc>
                <a:spcPts val="1300"/>
              </a:lnSpc>
              <a:buNone/>
              <a:defRPr sz="975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13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10F6292-0D77-41F6-A0DB-627EC42E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71750"/>
            <a:ext cx="6153150" cy="302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ts val="1300"/>
              </a:lnSpc>
              <a:buNone/>
              <a:defRPr sz="1050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1">
                <a:solidFill>
                  <a:srgbClr val="0969C3"/>
                </a:solidFill>
              </a:rPr>
              <a:t>public</a:t>
            </a:r>
            <a:r>
              <a:rPr b="0">
                <a:solidFill>
                  <a:srgbClr val="263044"/>
                </a:solidFill>
              </a:rPr>
              <a:t> </a:t>
            </a:r>
            <a:r>
              <a:rPr b="0">
                <a:solidFill>
                  <a:srgbClr val="7651D4"/>
                </a:solidFill>
              </a:rPr>
              <a:t>ResourceAccessDecision</a:t>
            </a:r>
            <a:r>
              <a:rPr b="0">
                <a:solidFill>
                  <a:srgbClr val="263044"/>
                </a:solidFill>
              </a:rPr>
              <a:t> </a:t>
            </a:r>
            <a:r>
              <a:rPr b="0">
                <a:solidFill>
                  <a:srgbClr val="7651D4"/>
                </a:solidFill>
              </a:rPr>
              <a:t>Decide</a:t>
            </a:r>
            <a:r>
              <a:rPr b="0">
                <a:solidFill>
                  <a:srgbClr val="263044"/>
                </a:solidFill>
              </a:rPr>
              <a:t>(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050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    </a:t>
            </a:r>
            <a:r>
              <a:rPr b="0">
                <a:solidFill>
                  <a:srgbClr val="7651D4"/>
                </a:solidFill>
              </a:rPr>
              <a:t>Requester</a:t>
            </a:r>
            <a:r>
              <a:rPr b="0">
                <a:solidFill>
                  <a:srgbClr val="263044"/>
                </a:solidFill>
              </a:rPr>
              <a:t> requester, </a:t>
            </a:r>
            <a:r>
              <a:rPr b="0">
                <a:solidFill>
                  <a:srgbClr val="7651D4"/>
                </a:solidFill>
              </a:rPr>
              <a:t>ProtectedResource</a:t>
            </a:r>
            <a:r>
              <a:rPr b="0">
                <a:solidFill>
                  <a:srgbClr val="263044"/>
                </a:solidFill>
              </a:rPr>
              <a:t> resource)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050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{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050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    </a:t>
            </a:r>
            <a:r>
              <a:rPr b="1">
                <a:solidFill>
                  <a:srgbClr val="0969C3"/>
                </a:solidFill>
              </a:rPr>
              <a:t>if</a:t>
            </a:r>
            <a:r>
              <a:rPr b="0">
                <a:solidFill>
                  <a:srgbClr val="263044"/>
                </a:solidFill>
              </a:rPr>
              <a:t> (!requester.</a:t>
            </a:r>
            <a:r>
              <a:rPr b="0">
                <a:solidFill>
                  <a:srgbClr val="7651D4"/>
                </a:solidFill>
              </a:rPr>
              <a:t>Permissions</a:t>
            </a:r>
            <a:r>
              <a:rPr b="0">
                <a:solidFill>
                  <a:srgbClr val="263044"/>
                </a:solidFill>
              </a:rPr>
              <a:t>.</a:t>
            </a:r>
            <a:r>
              <a:rPr b="0">
                <a:solidFill>
                  <a:srgbClr val="7651D4"/>
                </a:solidFill>
              </a:rPr>
              <a:t>Contains</a:t>
            </a:r>
            <a:r>
              <a:rPr b="0">
                <a:solidFill>
                  <a:srgbClr val="263044"/>
                </a:solidFill>
              </a:rPr>
              <a:t>(</a:t>
            </a:r>
            <a:r>
              <a:rPr b="0">
                <a:solidFill>
                  <a:srgbClr val="7651D4"/>
                </a:solidFill>
              </a:rPr>
              <a:t>Permissions</a:t>
            </a:r>
            <a:r>
              <a:rPr b="0">
                <a:solidFill>
                  <a:srgbClr val="263044"/>
                </a:solidFill>
              </a:rPr>
              <a:t>.</a:t>
            </a:r>
            <a:r>
              <a:rPr b="0">
                <a:solidFill>
                  <a:srgbClr val="7651D4"/>
                </a:solidFill>
              </a:rPr>
              <a:t>ReadRecords</a:t>
            </a:r>
            <a:r>
              <a:rPr b="0">
                <a:solidFill>
                  <a:srgbClr val="263044"/>
                </a:solidFill>
              </a:rPr>
              <a:t>))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050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        </a:t>
            </a:r>
            <a:r>
              <a:rPr b="1">
                <a:solidFill>
                  <a:srgbClr val="0969C3"/>
                </a:solidFill>
              </a:rPr>
              <a:t>return</a:t>
            </a:r>
            <a:r>
              <a:rPr b="0">
                <a:solidFill>
                  <a:srgbClr val="263044"/>
                </a:solidFill>
              </a:rPr>
              <a:t> </a:t>
            </a:r>
            <a:r>
              <a:rPr b="1">
                <a:solidFill>
                  <a:srgbClr val="0969C3"/>
                </a:solidFill>
              </a:rPr>
              <a:t>new</a:t>
            </a:r>
            <a:r>
              <a:rPr b="0">
                <a:solidFill>
                  <a:srgbClr val="263044"/>
                </a:solidFill>
              </a:rPr>
              <a:t>(</a:t>
            </a:r>
            <a:r>
              <a:rPr b="1">
                <a:solidFill>
                  <a:srgbClr val="0969C3"/>
                </a:solidFill>
              </a:rPr>
              <a:t>false</a:t>
            </a:r>
            <a:r>
              <a:rPr b="0">
                <a:solidFill>
                  <a:srgbClr val="263044"/>
                </a:solidFill>
              </a:rPr>
              <a:t>, </a:t>
            </a:r>
            <a:r>
              <a:rPr b="0">
                <a:solidFill>
                  <a:srgbClr val="7651D4"/>
                </a:solidFill>
              </a:rPr>
              <a:t>ResourceAccessCodes</a:t>
            </a:r>
            <a:r>
              <a:rPr b="0">
                <a:solidFill>
                  <a:srgbClr val="263044"/>
                </a:solidFill>
              </a:rPr>
              <a:t>.</a:t>
            </a:r>
            <a:r>
              <a:rPr b="0">
                <a:solidFill>
                  <a:srgbClr val="7651D4"/>
                </a:solidFill>
              </a:rPr>
              <a:t>MissingReadPermission</a:t>
            </a:r>
            <a:r>
              <a:rPr b="0">
                <a:solidFill>
                  <a:srgbClr val="263044"/>
                </a:solidFill>
              </a:rPr>
              <a:t>);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050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    </a:t>
            </a:r>
            <a:r>
              <a:rPr b="1">
                <a:solidFill>
                  <a:srgbClr val="0969C3"/>
                </a:solidFill>
              </a:rPr>
              <a:t>if</a:t>
            </a:r>
            <a:r>
              <a:rPr b="0">
                <a:solidFill>
                  <a:srgbClr val="263044"/>
                </a:solidFill>
              </a:rPr>
              <a:t> (resource.</a:t>
            </a:r>
            <a:r>
              <a:rPr b="0">
                <a:solidFill>
                  <a:srgbClr val="7651D4"/>
                </a:solidFill>
              </a:rPr>
              <a:t>OwnerId</a:t>
            </a:r>
            <a:r>
              <a:rPr b="0">
                <a:solidFill>
                  <a:srgbClr val="263044"/>
                </a:solidFill>
              </a:rPr>
              <a:t> == requester.</a:t>
            </a:r>
            <a:r>
              <a:rPr b="0">
                <a:solidFill>
                  <a:srgbClr val="7651D4"/>
                </a:solidFill>
              </a:rPr>
              <a:t>ActorId</a:t>
            </a:r>
            <a:r>
              <a:rPr b="0">
                <a:solidFill>
                  <a:srgbClr val="263044"/>
                </a:solidFill>
              </a:rPr>
              <a:t>)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050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        </a:t>
            </a:r>
            <a:r>
              <a:rPr b="1">
                <a:solidFill>
                  <a:srgbClr val="0969C3"/>
                </a:solidFill>
              </a:rPr>
              <a:t>return</a:t>
            </a:r>
            <a:r>
              <a:rPr b="0">
                <a:solidFill>
                  <a:srgbClr val="263044"/>
                </a:solidFill>
              </a:rPr>
              <a:t> </a:t>
            </a:r>
            <a:r>
              <a:rPr b="1">
                <a:solidFill>
                  <a:srgbClr val="0969C3"/>
                </a:solidFill>
              </a:rPr>
              <a:t>new</a:t>
            </a:r>
            <a:r>
              <a:rPr b="0">
                <a:solidFill>
                  <a:srgbClr val="263044"/>
                </a:solidFill>
              </a:rPr>
              <a:t>(</a:t>
            </a:r>
            <a:r>
              <a:rPr b="1">
                <a:solidFill>
                  <a:srgbClr val="0969C3"/>
                </a:solidFill>
              </a:rPr>
              <a:t>true</a:t>
            </a:r>
            <a:r>
              <a:rPr b="0">
                <a:solidFill>
                  <a:srgbClr val="263044"/>
                </a:solidFill>
              </a:rPr>
              <a:t>, </a:t>
            </a:r>
            <a:r>
              <a:rPr b="0">
                <a:solidFill>
                  <a:srgbClr val="7651D4"/>
                </a:solidFill>
              </a:rPr>
              <a:t>ResourceAccessCodes</a:t>
            </a:r>
            <a:r>
              <a:rPr b="0">
                <a:solidFill>
                  <a:srgbClr val="263044"/>
                </a:solidFill>
              </a:rPr>
              <a:t>.</a:t>
            </a:r>
            <a:r>
              <a:rPr b="0">
                <a:solidFill>
                  <a:srgbClr val="7651D4"/>
                </a:solidFill>
              </a:rPr>
              <a:t>OwnerAccess</a:t>
            </a:r>
            <a:r>
              <a:rPr b="0">
                <a:solidFill>
                  <a:srgbClr val="263044"/>
                </a:solidFill>
              </a:rPr>
              <a:t>);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050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    </a:t>
            </a:r>
            <a:r>
              <a:rPr b="1">
                <a:solidFill>
                  <a:srgbClr val="0969C3"/>
                </a:solidFill>
              </a:rPr>
              <a:t>if</a:t>
            </a:r>
            <a:r>
              <a:rPr b="0">
                <a:solidFill>
                  <a:srgbClr val="263044"/>
                </a:solidFill>
              </a:rPr>
              <a:t> (!requester.</a:t>
            </a:r>
            <a:r>
              <a:rPr b="0">
                <a:solidFill>
                  <a:srgbClr val="7651D4"/>
                </a:solidFill>
              </a:rPr>
              <a:t>Permissions</a:t>
            </a:r>
            <a:r>
              <a:rPr b="0">
                <a:solidFill>
                  <a:srgbClr val="263044"/>
                </a:solidFill>
              </a:rPr>
              <a:t>.</a:t>
            </a:r>
            <a:r>
              <a:rPr b="0">
                <a:solidFill>
                  <a:srgbClr val="7651D4"/>
                </a:solidFill>
              </a:rPr>
              <a:t>Contains</a:t>
            </a:r>
            <a:r>
              <a:rPr b="0">
                <a:solidFill>
                  <a:srgbClr val="263044"/>
                </a:solidFill>
              </a:rPr>
              <a:t>(</a:t>
            </a:r>
            <a:r>
              <a:rPr b="0">
                <a:solidFill>
                  <a:srgbClr val="7651D4"/>
                </a:solidFill>
              </a:rPr>
              <a:t>Permissions</a:t>
            </a:r>
            <a:r>
              <a:rPr b="0">
                <a:solidFill>
                  <a:srgbClr val="263044"/>
                </a:solidFill>
              </a:rPr>
              <a:t>.</a:t>
            </a:r>
            <a:r>
              <a:rPr b="0">
                <a:solidFill>
                  <a:srgbClr val="7651D4"/>
                </a:solidFill>
              </a:rPr>
              <a:t>ReadAnyRecord</a:t>
            </a:r>
            <a:r>
              <a:rPr b="0">
                <a:solidFill>
                  <a:srgbClr val="263044"/>
                </a:solidFill>
              </a:rPr>
              <a:t>))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050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        </a:t>
            </a:r>
            <a:r>
              <a:rPr b="1">
                <a:solidFill>
                  <a:srgbClr val="0969C3"/>
                </a:solidFill>
              </a:rPr>
              <a:t>return</a:t>
            </a:r>
            <a:r>
              <a:rPr b="0">
                <a:solidFill>
                  <a:srgbClr val="263044"/>
                </a:solidFill>
              </a:rPr>
              <a:t> </a:t>
            </a:r>
            <a:r>
              <a:rPr b="1">
                <a:solidFill>
                  <a:srgbClr val="0969C3"/>
                </a:solidFill>
              </a:rPr>
              <a:t>new</a:t>
            </a:r>
            <a:r>
              <a:rPr b="0">
                <a:solidFill>
                  <a:srgbClr val="263044"/>
                </a:solidFill>
              </a:rPr>
              <a:t>(</a:t>
            </a:r>
            <a:r>
              <a:rPr b="1">
                <a:solidFill>
                  <a:srgbClr val="0969C3"/>
                </a:solidFill>
              </a:rPr>
              <a:t>false</a:t>
            </a:r>
            <a:r>
              <a:rPr b="0">
                <a:solidFill>
                  <a:srgbClr val="263044"/>
                </a:solidFill>
              </a:rPr>
              <a:t>, </a:t>
            </a:r>
            <a:r>
              <a:rPr b="0">
                <a:solidFill>
                  <a:srgbClr val="7651D4"/>
                </a:solidFill>
              </a:rPr>
              <a:t>ResourceAccessCodes</a:t>
            </a:r>
            <a:r>
              <a:rPr b="0">
                <a:solidFill>
                  <a:srgbClr val="263044"/>
                </a:solidFill>
              </a:rPr>
              <a:t>.</a:t>
            </a:r>
            <a:r>
              <a:rPr b="0">
                <a:solidFill>
                  <a:srgbClr val="7651D4"/>
                </a:solidFill>
              </a:rPr>
              <a:t>NotOwner</a:t>
            </a:r>
            <a:r>
              <a:rPr b="0">
                <a:solidFill>
                  <a:srgbClr val="263044"/>
                </a:solidFill>
              </a:rPr>
              <a:t>);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050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    </a:t>
            </a:r>
            <a:r>
              <a:rPr b="1">
                <a:solidFill>
                  <a:srgbClr val="0969C3"/>
                </a:solidFill>
              </a:rPr>
              <a:t>return</a:t>
            </a:r>
            <a:r>
              <a:rPr b="0">
                <a:solidFill>
                  <a:srgbClr val="263044"/>
                </a:solidFill>
              </a:rPr>
              <a:t> resource.</a:t>
            </a:r>
            <a:r>
              <a:rPr b="0">
                <a:solidFill>
                  <a:srgbClr val="7651D4"/>
                </a:solidFill>
              </a:rPr>
              <a:t>Classification</a:t>
            </a:r>
            <a:r>
              <a:rPr b="0">
                <a:solidFill>
                  <a:srgbClr val="263044"/>
                </a:solidFill>
              </a:rPr>
              <a:t> == </a:t>
            </a:r>
            <a:r>
              <a:rPr b="0">
                <a:solidFill>
                  <a:srgbClr val="7651D4"/>
                </a:solidFill>
              </a:rPr>
              <a:t>DataClassification</a:t>
            </a:r>
            <a:r>
              <a:rPr b="0">
                <a:solidFill>
                  <a:srgbClr val="263044"/>
                </a:solidFill>
              </a:rPr>
              <a:t>.</a:t>
            </a:r>
            <a:r>
              <a:rPr b="0">
                <a:solidFill>
                  <a:srgbClr val="7651D4"/>
                </a:solidFill>
              </a:rPr>
              <a:t>Restricted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050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        ? </a:t>
            </a:r>
            <a:r>
              <a:rPr b="1">
                <a:solidFill>
                  <a:srgbClr val="0969C3"/>
                </a:solidFill>
              </a:rPr>
              <a:t>new</a:t>
            </a:r>
            <a:r>
              <a:rPr b="0">
                <a:solidFill>
                  <a:srgbClr val="263044"/>
                </a:solidFill>
              </a:rPr>
              <a:t>(</a:t>
            </a:r>
            <a:r>
              <a:rPr b="1">
                <a:solidFill>
                  <a:srgbClr val="0969C3"/>
                </a:solidFill>
              </a:rPr>
              <a:t>false</a:t>
            </a:r>
            <a:r>
              <a:rPr b="0">
                <a:solidFill>
                  <a:srgbClr val="263044"/>
                </a:solidFill>
              </a:rPr>
              <a:t>, </a:t>
            </a:r>
            <a:r>
              <a:rPr b="0">
                <a:solidFill>
                  <a:srgbClr val="7651D4"/>
                </a:solidFill>
              </a:rPr>
              <a:t>ResourceAccessCodes</a:t>
            </a:r>
            <a:r>
              <a:rPr b="0">
                <a:solidFill>
                  <a:srgbClr val="263044"/>
                </a:solidFill>
              </a:rPr>
              <a:t>.</a:t>
            </a:r>
            <a:r>
              <a:rPr b="0">
                <a:solidFill>
                  <a:srgbClr val="7651D4"/>
                </a:solidFill>
              </a:rPr>
              <a:t>RestrictedToOwner</a:t>
            </a:r>
            <a:r>
              <a:rPr b="0">
                <a:solidFill>
                  <a:srgbClr val="263044"/>
                </a:solidFill>
              </a:rPr>
              <a:t>)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050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        : </a:t>
            </a:r>
            <a:r>
              <a:rPr b="1">
                <a:solidFill>
                  <a:srgbClr val="0969C3"/>
                </a:solidFill>
              </a:rPr>
              <a:t>new</a:t>
            </a:r>
            <a:r>
              <a:rPr b="0">
                <a:solidFill>
                  <a:srgbClr val="263044"/>
                </a:solidFill>
              </a:rPr>
              <a:t>(</a:t>
            </a:r>
            <a:r>
              <a:rPr b="1">
                <a:solidFill>
                  <a:srgbClr val="0969C3"/>
                </a:solidFill>
              </a:rPr>
              <a:t>true</a:t>
            </a:r>
            <a:r>
              <a:rPr b="0">
                <a:solidFill>
                  <a:srgbClr val="263044"/>
                </a:solidFill>
              </a:rPr>
              <a:t>, </a:t>
            </a:r>
            <a:r>
              <a:rPr b="0">
                <a:solidFill>
                  <a:srgbClr val="7651D4"/>
                </a:solidFill>
              </a:rPr>
              <a:t>ResourceAccessCodes</a:t>
            </a:r>
            <a:r>
              <a:rPr b="0">
                <a:solidFill>
                  <a:srgbClr val="263044"/>
                </a:solidFill>
              </a:rPr>
              <a:t>.</a:t>
            </a:r>
            <a:r>
              <a:rPr b="0">
                <a:solidFill>
                  <a:srgbClr val="7651D4"/>
                </a:solidFill>
              </a:rPr>
              <a:t>ElevatedAccess</a:t>
            </a:r>
            <a:r>
              <a:rPr b="0">
                <a:solidFill>
                  <a:srgbClr val="263044"/>
                </a:solidFill>
              </a:rPr>
              <a:t>);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050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}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867AB98F-FBEC-4E28-9AB5-6D42E5D1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52650"/>
            <a:ext cx="3600450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44D6A08-A899-4BC5-A673-4A59627D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76475"/>
            <a:ext cx="3295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2F5EF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ТУМАЧЕЊЕ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F7416EBA-1515-4ABB-A329-541F1E41D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24125"/>
            <a:ext cx="32956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Иста улога не значи исти приступ сваком запису. Сервер проверава дозволу, власништво и класификацију.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6A3203F3-6B2B-4D84-9CC7-3E9938353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48150"/>
            <a:ext cx="360045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FFF6E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303A6FAB-5A6E-4498-BA57-0725BF31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371975"/>
            <a:ext cx="3295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B86A0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6A09"/>
                </a:solidFill>
                <a:latin typeface="Aptos"/>
                <a:ea typeface="Aptos"/>
                <a:cs typeface="Aptos"/>
              </a:rPr>
              <a:t>БЕЗБЕДНОСНА ГРАНИЦА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C7A940E2-E6CF-4F7D-B3A9-C8377008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619625"/>
            <a:ext cx="3295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Одбијање је експлицитан исход са разлогом који се може тестирати и објаснити.</a:t>
            </a:r>
          </a:p>
        </p:txBody>
      </p:sp>
    </p:spTree>
    <p:extLst>
      <p:ext uri="{BB962C8B-B14F-4D97-AF65-F5344CB8AC3E}">
        <p14:creationId xmlns:p14="http://schemas.microsoft.com/office/powerpoint/2010/main" val="13574331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29DAB547-664D-4DE6-B9DD-98C817946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D"/>
                </a:solidFill>
                <a:latin typeface="Aptos"/>
                <a:ea typeface="Aptos"/>
                <a:cs typeface="Aptos"/>
              </a:rPr>
              <a:t>Основе информационе безбедности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97F27B9C-B4A9-4C3B-8738-4A512AC57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201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D5560"/>
          </a:solidFill>
          <a:ln xmlns:a="http://schemas.openxmlformats.org/drawingml/2006/main" w="7144">
            <a:solidFill>
              <a:srgbClr val="8D5560"/>
            </a:solidFill>
            <a:prstDash val="solid"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511106A-D6DF-4099-94BA-9B5A1A97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D86A4AD-1C89-48A1-9D6A-FF05F6A26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Негативан тест доказује границу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DCFCDA6-40F9-4447-82C0-FA5A74C2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Тест мења власника ресурса и очекује одбијање са стабилним кодом разлога.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CCD7FE39-FB2D-482F-B958-D0EF74DAD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6858000" cy="23172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4F6F7"/>
          </a:solidFill>
          <a:ln xmlns:a="http://schemas.openxmlformats.org/drawingml/2006/main" w="9525">
            <a:solidFill>
              <a:srgbClr val="CCD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ajor"/>
        </p:style>
      </p:sp>
      <p:sp>
        <p:nvSpPr>
          <p:cNvPr id="7" name="Straight Connector 6">
            <a:extLst xmlns:a="http://schemas.openxmlformats.org/drawingml/2006/main">
              <a:ext uri="{FF2B5EF4-FFF2-40B4-BE49-F238E27FC236}">
                <a16:creationId xmlns:a16="http://schemas.microsoft.com/office/drawing/2014/main" id="{FD0DECC2-5608-4F6C-B61D-2B0A4E442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38400"/>
            <a:ext cx="68580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AFBEC9"/>
          </a:solidFill>
          <a:ln xmlns:a="http://schemas.openxmlformats.org/drawingml/2006/main" w="9525">
            <a:solidFill>
              <a:srgbClr val="AFBEC9"/>
            </a:solidFill>
            <a:prstDash val="solid"/>
          </a:ln>
        </p:spPr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F4215D5F-9AE1-4855-B972-215715E5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1456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6A60"/>
          </a:solidFill>
          <a:ln xmlns:a="http://schemas.openxmlformats.org/drawingml/2006/main" w="0">
            <a:noFill/>
          </a:ln>
        </p:spPr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37940779-35EB-4556-A815-7BA2016B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9463" y="221456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D42"/>
          </a:solidFill>
          <a:ln xmlns:a="http://schemas.openxmlformats.org/drawingml/2006/main" w="0">
            <a:noFill/>
          </a:ln>
        </p:spPr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B9D9F986-EC1D-4D64-B185-A7F4115D2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21456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C466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B0AB81E-67B4-406C-A0A9-286BD660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304800" cy="302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300"/>
              </a:lnSpc>
              <a:buNone/>
              <a:defRPr sz="975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1</a:t>
            </a:r>
          </a:p>
          <a:p xmlns:a="http://schemas.openxmlformats.org/drawingml/2006/main">
            <a:pPr algn="r">
              <a:lnSpc>
                <a:spcPts val="1300"/>
              </a:lnSpc>
              <a:buNone/>
              <a:defRPr sz="975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2</a:t>
            </a:r>
          </a:p>
          <a:p xmlns:a="http://schemas.openxmlformats.org/drawingml/2006/main">
            <a:pPr algn="r">
              <a:lnSpc>
                <a:spcPts val="1300"/>
              </a:lnSpc>
              <a:buNone/>
              <a:defRPr sz="975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3</a:t>
            </a:r>
          </a:p>
          <a:p xmlns:a="http://schemas.openxmlformats.org/drawingml/2006/main">
            <a:pPr algn="r">
              <a:lnSpc>
                <a:spcPts val="1300"/>
              </a:lnSpc>
              <a:buNone/>
              <a:defRPr sz="975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4</a:t>
            </a:r>
          </a:p>
          <a:p xmlns:a="http://schemas.openxmlformats.org/drawingml/2006/main">
            <a:pPr algn="r">
              <a:lnSpc>
                <a:spcPts val="1300"/>
              </a:lnSpc>
              <a:buNone/>
              <a:defRPr sz="975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5</a:t>
            </a:r>
          </a:p>
          <a:p xmlns:a="http://schemas.openxmlformats.org/drawingml/2006/main">
            <a:pPr algn="r">
              <a:lnSpc>
                <a:spcPts val="1300"/>
              </a:lnSpc>
              <a:buNone/>
              <a:defRPr sz="975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6</a:t>
            </a:r>
          </a:p>
          <a:p xmlns:a="http://schemas.openxmlformats.org/drawingml/2006/main">
            <a:pPr algn="r">
              <a:lnSpc>
                <a:spcPts val="1300"/>
              </a:lnSpc>
              <a:buNone/>
              <a:defRPr sz="975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7</a:t>
            </a:r>
          </a:p>
          <a:p xmlns:a="http://schemas.openxmlformats.org/drawingml/2006/main">
            <a:pPr algn="r">
              <a:lnSpc>
                <a:spcPts val="1300"/>
              </a:lnSpc>
              <a:buNone/>
              <a:defRPr sz="975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8</a:t>
            </a:r>
          </a:p>
          <a:p xmlns:a="http://schemas.openxmlformats.org/drawingml/2006/main">
            <a:pPr algn="r">
              <a:lnSpc>
                <a:spcPts val="1300"/>
              </a:lnSpc>
              <a:buNone/>
              <a:defRPr sz="975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9</a:t>
            </a:r>
          </a:p>
          <a:p xmlns:a="http://schemas.openxmlformats.org/drawingml/2006/main">
            <a:pPr algn="r">
              <a:lnSpc>
                <a:spcPts val="1300"/>
              </a:lnSpc>
              <a:buNone/>
              <a:defRPr sz="975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2EF0C64-3A96-4739-99A8-F84347FC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71750"/>
            <a:ext cx="6153150" cy="302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ts val="1300"/>
              </a:lnSpc>
              <a:buNone/>
              <a:defRPr sz="1050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[</a:t>
            </a:r>
            <a:r>
              <a:rPr b="0">
                <a:solidFill>
                  <a:srgbClr val="7651D4"/>
                </a:solidFill>
              </a:rPr>
              <a:t>Test</a:t>
            </a:r>
            <a:r>
              <a:rPr b="0">
                <a:solidFill>
                  <a:srgbClr val="263044"/>
                </a:solidFill>
              </a:rPr>
              <a:t>]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050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1">
                <a:solidFill>
                  <a:srgbClr val="0969C3"/>
                </a:solidFill>
              </a:rPr>
              <a:t>public</a:t>
            </a:r>
            <a:r>
              <a:rPr b="0">
                <a:solidFill>
                  <a:srgbClr val="263044"/>
                </a:solidFill>
              </a:rPr>
              <a:t> </a:t>
            </a:r>
            <a:r>
              <a:rPr b="1">
                <a:solidFill>
                  <a:srgbClr val="0969C3"/>
                </a:solidFill>
              </a:rPr>
              <a:t>void</a:t>
            </a:r>
            <a:r>
              <a:rPr b="0">
                <a:solidFill>
                  <a:srgbClr val="263044"/>
                </a:solidFill>
              </a:rPr>
              <a:t> </a:t>
            </a:r>
            <a:r>
              <a:rPr b="0">
                <a:solidFill>
                  <a:srgbClr val="7651D4"/>
                </a:solidFill>
              </a:rPr>
              <a:t>Decide_WhenRequesterIsNotOwner_Denies</a:t>
            </a:r>
            <a:r>
              <a:rPr b="0">
                <a:solidFill>
                  <a:srgbClr val="263044"/>
                </a:solidFill>
              </a:rPr>
              <a:t>()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050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{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050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    </a:t>
            </a:r>
            <a:r>
              <a:rPr b="1">
                <a:solidFill>
                  <a:srgbClr val="0969C3"/>
                </a:solidFill>
              </a:rPr>
              <a:t>var</a:t>
            </a:r>
            <a:r>
              <a:rPr b="0">
                <a:solidFill>
                  <a:srgbClr val="263044"/>
                </a:solidFill>
              </a:rPr>
              <a:t> decision = _policy.</a:t>
            </a:r>
            <a:r>
              <a:rPr b="0">
                <a:solidFill>
                  <a:srgbClr val="7651D4"/>
                </a:solidFill>
              </a:rPr>
              <a:t>Decide</a:t>
            </a:r>
            <a:r>
              <a:rPr b="0">
                <a:solidFill>
                  <a:srgbClr val="263044"/>
                </a:solidFill>
              </a:rPr>
              <a:t>(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050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        </a:t>
            </a:r>
            <a:r>
              <a:rPr b="0">
                <a:solidFill>
                  <a:srgbClr val="7651D4"/>
                </a:solidFill>
              </a:rPr>
              <a:t>Requester</a:t>
            </a:r>
            <a:r>
              <a:rPr b="0">
                <a:solidFill>
                  <a:srgbClr val="263044"/>
                </a:solidFill>
              </a:rPr>
              <a:t>(</a:t>
            </a:r>
            <a:r>
              <a:rPr b="0">
                <a:solidFill>
                  <a:srgbClr val="B45309"/>
                </a:solidFill>
              </a:rPr>
              <a:t>"marko"</a:t>
            </a:r>
            <a:r>
              <a:rPr b="0">
                <a:solidFill>
                  <a:srgbClr val="263044"/>
                </a:solidFill>
              </a:rPr>
              <a:t>, </a:t>
            </a:r>
            <a:r>
              <a:rPr b="0">
                <a:solidFill>
                  <a:srgbClr val="7651D4"/>
                </a:solidFill>
              </a:rPr>
              <a:t>Permissions</a:t>
            </a:r>
            <a:r>
              <a:rPr b="0">
                <a:solidFill>
                  <a:srgbClr val="263044"/>
                </a:solidFill>
              </a:rPr>
              <a:t>.</a:t>
            </a:r>
            <a:r>
              <a:rPr b="0">
                <a:solidFill>
                  <a:srgbClr val="7651D4"/>
                </a:solidFill>
              </a:rPr>
              <a:t>ReadRecords</a:t>
            </a:r>
            <a:r>
              <a:rPr b="0">
                <a:solidFill>
                  <a:srgbClr val="263044"/>
                </a:solidFill>
              </a:rPr>
              <a:t>),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050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        </a:t>
            </a:r>
            <a:r>
              <a:rPr b="0">
                <a:solidFill>
                  <a:srgbClr val="7651D4"/>
                </a:solidFill>
              </a:rPr>
              <a:t>Resource</a:t>
            </a:r>
            <a:r>
              <a:rPr b="0">
                <a:solidFill>
                  <a:srgbClr val="263044"/>
                </a:solidFill>
              </a:rPr>
              <a:t>(</a:t>
            </a:r>
            <a:r>
              <a:rPr b="0">
                <a:solidFill>
                  <a:srgbClr val="7651D4"/>
                </a:solidFill>
              </a:rPr>
              <a:t>DataClassification</a:t>
            </a:r>
            <a:r>
              <a:rPr b="0">
                <a:solidFill>
                  <a:srgbClr val="263044"/>
                </a:solidFill>
              </a:rPr>
              <a:t>.</a:t>
            </a:r>
            <a:r>
              <a:rPr b="0">
                <a:solidFill>
                  <a:srgbClr val="7651D4"/>
                </a:solidFill>
              </a:rPr>
              <a:t>Internal</a:t>
            </a:r>
            <a:r>
              <a:rPr b="0">
                <a:solidFill>
                  <a:srgbClr val="263044"/>
                </a:solidFill>
              </a:rPr>
              <a:t>));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050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 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050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    </a:t>
            </a:r>
            <a:r>
              <a:rPr b="0">
                <a:solidFill>
                  <a:srgbClr val="7651D4"/>
                </a:solidFill>
              </a:rPr>
              <a:t>Assert</a:t>
            </a:r>
            <a:r>
              <a:rPr b="0">
                <a:solidFill>
                  <a:srgbClr val="263044"/>
                </a:solidFill>
              </a:rPr>
              <a:t>.</a:t>
            </a:r>
            <a:r>
              <a:rPr b="0">
                <a:solidFill>
                  <a:srgbClr val="7651D4"/>
                </a:solidFill>
              </a:rPr>
              <a:t>That</a:t>
            </a:r>
            <a:r>
              <a:rPr b="0">
                <a:solidFill>
                  <a:srgbClr val="263044"/>
                </a:solidFill>
              </a:rPr>
              <a:t>(decision, </a:t>
            </a:r>
            <a:r>
              <a:rPr b="0">
                <a:solidFill>
                  <a:srgbClr val="7651D4"/>
                </a:solidFill>
              </a:rPr>
              <a:t>Is</a:t>
            </a:r>
            <a:r>
              <a:rPr b="0">
                <a:solidFill>
                  <a:srgbClr val="263044"/>
                </a:solidFill>
              </a:rPr>
              <a:t>.</a:t>
            </a:r>
            <a:r>
              <a:rPr b="0">
                <a:solidFill>
                  <a:srgbClr val="7651D4"/>
                </a:solidFill>
              </a:rPr>
              <a:t>EqualTo</a:t>
            </a:r>
            <a:r>
              <a:rPr b="0">
                <a:solidFill>
                  <a:srgbClr val="263044"/>
                </a:solidFill>
              </a:rPr>
              <a:t>(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050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        </a:t>
            </a:r>
            <a:r>
              <a:rPr b="1">
                <a:solidFill>
                  <a:srgbClr val="0969C3"/>
                </a:solidFill>
              </a:rPr>
              <a:t>new</a:t>
            </a:r>
            <a:r>
              <a:rPr b="0">
                <a:solidFill>
                  <a:srgbClr val="263044"/>
                </a:solidFill>
              </a:rPr>
              <a:t> </a:t>
            </a:r>
            <a:r>
              <a:rPr b="0">
                <a:solidFill>
                  <a:srgbClr val="7651D4"/>
                </a:solidFill>
              </a:rPr>
              <a:t>ResourceAccessDecision</a:t>
            </a:r>
            <a:r>
              <a:rPr b="0">
                <a:solidFill>
                  <a:srgbClr val="263044"/>
                </a:solidFill>
              </a:rPr>
              <a:t>(</a:t>
            </a:r>
            <a:r>
              <a:rPr b="1">
                <a:solidFill>
                  <a:srgbClr val="0969C3"/>
                </a:solidFill>
              </a:rPr>
              <a:t>false</a:t>
            </a:r>
            <a:r>
              <a:rPr b="0">
                <a:solidFill>
                  <a:srgbClr val="263044"/>
                </a:solidFill>
              </a:rPr>
              <a:t>, </a:t>
            </a:r>
            <a:r>
              <a:rPr b="0">
                <a:solidFill>
                  <a:srgbClr val="7651D4"/>
                </a:solidFill>
              </a:rPr>
              <a:t>ResourceAccessCodes</a:t>
            </a:r>
            <a:r>
              <a:rPr b="0">
                <a:solidFill>
                  <a:srgbClr val="263044"/>
                </a:solidFill>
              </a:rPr>
              <a:t>.</a:t>
            </a:r>
            <a:r>
              <a:rPr b="0">
                <a:solidFill>
                  <a:srgbClr val="7651D4"/>
                </a:solidFill>
              </a:rPr>
              <a:t>NotOwner</a:t>
            </a:r>
            <a:r>
              <a:rPr b="0">
                <a:solidFill>
                  <a:srgbClr val="263044"/>
                </a:solidFill>
              </a:rPr>
              <a:t>)));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050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}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86FA4A84-2839-49AE-B740-38ACFEA35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52650"/>
            <a:ext cx="3600450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EDF8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1DF16E61-9E2D-4F89-8102-A17D8865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76475"/>
            <a:ext cx="3295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ДОКАЗ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DC9EA21-4861-4843-8CA2-2D234551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24125"/>
            <a:ext cx="32956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Тест мења само власника ресурса и очекује одбијање без откривања туђих података.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FFEF9973-15E5-4481-B7A9-CB94867ED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48150"/>
            <a:ext cx="360045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F7F4F5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B29161D1-6F3B-44F0-B12D-688ED6DD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371975"/>
            <a:ext cx="3295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7651D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ОЧЕКИВАНИ ИСХОД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DB8B721A-3ADE-458A-887E-ACAAD463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619625"/>
            <a:ext cx="3295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Тест мења једну чињеницу и очекује јасан, стабилан разлог одбијања.</a:t>
            </a:r>
          </a:p>
        </p:txBody>
      </p:sp>
    </p:spTree>
    <p:extLst>
      <p:ext uri="{BB962C8B-B14F-4D97-AF65-F5344CB8AC3E}">
        <p14:creationId xmlns:p14="http://schemas.microsoft.com/office/powerpoint/2010/main" val="45531595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C3047E25-2617-4273-A23D-08DBA5E4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D"/>
                </a:solidFill>
                <a:latin typeface="Aptos"/>
                <a:ea typeface="Aptos"/>
                <a:cs typeface="Aptos"/>
              </a:rPr>
              <a:t>Основе информационе безбедности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B0E9091F-2E4C-4475-8160-F02637FA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201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D5560"/>
          </a:solidFill>
          <a:ln xmlns:a="http://schemas.openxmlformats.org/drawingml/2006/main" w="7144">
            <a:solidFill>
              <a:srgbClr val="8D5560"/>
            </a:solidFill>
            <a:prstDash val="solid"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4715601-5DED-49A9-A9C8-C4CB2243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70A5148-27DF-401E-AB40-B58B35E6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Садржај безбедносног записа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46675FA-B10C-47C2-8174-4C3019E5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Запис садржи контекст потребан за реконструкцију одлуке, без тајни и непотребних личних података.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6EF6E3E2-B9BE-4805-8F39-BF5222E1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52650"/>
            <a:ext cx="5334000" cy="2085975"/>
          </a:xfrm>
          <a:prstGeom xmlns:a="http://schemas.openxmlformats.org/drawingml/2006/main" prst="roundRect">
            <a:avLst>
              <a:gd name="adj" fmla="val 4566"/>
            </a:avLst>
          </a:prstGeom>
          <a:solidFill xmlns:a="http://schemas.openxmlformats.org/drawingml/2006/main">
            <a:srgbClr val="F4F6F7"/>
          </a:solidFill>
          <a:ln xmlns:a="http://schemas.openxmlformats.org/drawingml/2006/main" w="9525">
            <a:solidFill>
              <a:srgbClr val="CCD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ajor"/>
        </p:style>
      </p:sp>
      <p:sp>
        <p:nvSpPr>
          <p:cNvPr id="7" name="Straight Connector 6">
            <a:extLst xmlns:a="http://schemas.openxmlformats.org/drawingml/2006/main">
              <a:ext uri="{FF2B5EF4-FFF2-40B4-BE49-F238E27FC236}">
                <a16:creationId xmlns:a16="http://schemas.microsoft.com/office/drawing/2014/main" id="{AE89BC82-9092-4F5B-BBB5-01436110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95550"/>
            <a:ext cx="53340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AFBEC9"/>
          </a:solidFill>
          <a:ln xmlns:a="http://schemas.openxmlformats.org/drawingml/2006/main" w="9525">
            <a:solidFill>
              <a:srgbClr val="AFBEC9"/>
            </a:solidFill>
            <a:prstDash val="solid"/>
          </a:ln>
        </p:spPr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19DA4C06-3B70-4BAE-84F1-36DB3A66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27171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6A60"/>
          </a:solidFill>
          <a:ln xmlns:a="http://schemas.openxmlformats.org/drawingml/2006/main" w="0">
            <a:noFill/>
          </a:ln>
        </p:spPr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4F63DEBC-1B55-475C-8AA1-3577DB07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5963" y="227171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D42"/>
          </a:solidFill>
          <a:ln xmlns:a="http://schemas.openxmlformats.org/drawingml/2006/main" w="0">
            <a:noFill/>
          </a:ln>
        </p:spPr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D1732791-14F9-4E68-A293-839DE2B4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27171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C466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A03095F-7212-4FAC-B7D7-346020F8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28900"/>
            <a:ext cx="3048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300"/>
              </a:lnSpc>
              <a:buNone/>
              <a:defRPr sz="1050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1</a:t>
            </a:r>
          </a:p>
          <a:p xmlns:a="http://schemas.openxmlformats.org/drawingml/2006/main">
            <a:pPr algn="r">
              <a:lnSpc>
                <a:spcPts val="1300"/>
              </a:lnSpc>
              <a:buNone/>
              <a:defRPr sz="1050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2</a:t>
            </a:r>
          </a:p>
          <a:p xmlns:a="http://schemas.openxmlformats.org/drawingml/2006/main">
            <a:pPr algn="r">
              <a:lnSpc>
                <a:spcPts val="1300"/>
              </a:lnSpc>
              <a:buNone/>
              <a:defRPr sz="1050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3</a:t>
            </a:r>
          </a:p>
          <a:p xmlns:a="http://schemas.openxmlformats.org/drawingml/2006/main">
            <a:pPr algn="r">
              <a:lnSpc>
                <a:spcPts val="1300"/>
              </a:lnSpc>
              <a:buNone/>
              <a:defRPr sz="1050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4</a:t>
            </a:r>
          </a:p>
          <a:p xmlns:a="http://schemas.openxmlformats.org/drawingml/2006/main">
            <a:pPr algn="r">
              <a:lnSpc>
                <a:spcPts val="1300"/>
              </a:lnSpc>
              <a:buNone/>
              <a:defRPr sz="1050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5</a:t>
            </a:r>
          </a:p>
          <a:p xmlns:a="http://schemas.openxmlformats.org/drawingml/2006/main">
            <a:pPr algn="r">
              <a:lnSpc>
                <a:spcPts val="1300"/>
              </a:lnSpc>
              <a:buNone/>
              <a:defRPr sz="1050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6</a:t>
            </a:r>
          </a:p>
          <a:p xmlns:a="http://schemas.openxmlformats.org/drawingml/2006/main">
            <a:pPr algn="r">
              <a:lnSpc>
                <a:spcPts val="1300"/>
              </a:lnSpc>
              <a:buNone/>
              <a:defRPr sz="1050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7</a:t>
            </a:r>
          </a:p>
          <a:p xmlns:a="http://schemas.openxmlformats.org/drawingml/2006/main">
            <a:pPr algn="r">
              <a:lnSpc>
                <a:spcPts val="1300"/>
              </a:lnSpc>
              <a:buNone/>
              <a:defRPr sz="1050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978942A-F244-4366-B9EC-F698359A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28900"/>
            <a:ext cx="462915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ts val="1300"/>
              </a:lnSpc>
              <a:buNone/>
              <a:defRPr sz="1125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{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125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  </a:t>
            </a:r>
            <a:r>
              <a:rPr b="0">
                <a:solidFill>
                  <a:srgbClr val="B45309"/>
                </a:solidFill>
              </a:rPr>
              <a:t>"actor"</a:t>
            </a:r>
            <a:r>
              <a:rPr b="0">
                <a:solidFill>
                  <a:srgbClr val="263044"/>
                </a:solidFill>
              </a:rPr>
              <a:t>: </a:t>
            </a:r>
            <a:r>
              <a:rPr b="0">
                <a:solidFill>
                  <a:srgbClr val="B45309"/>
                </a:solidFill>
              </a:rPr>
              <a:t>"u-17"</a:t>
            </a:r>
            <a:r>
              <a:rPr b="0">
                <a:solidFill>
                  <a:srgbClr val="263044"/>
                </a:solidFill>
              </a:rPr>
              <a:t>,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125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  </a:t>
            </a:r>
            <a:r>
              <a:rPr b="0">
                <a:solidFill>
                  <a:srgbClr val="B45309"/>
                </a:solidFill>
              </a:rPr>
              <a:t>"action"</a:t>
            </a:r>
            <a:r>
              <a:rPr b="0">
                <a:solidFill>
                  <a:srgbClr val="263044"/>
                </a:solidFill>
              </a:rPr>
              <a:t>: </a:t>
            </a:r>
            <a:r>
              <a:rPr b="0">
                <a:solidFill>
                  <a:srgbClr val="B45309"/>
                </a:solidFill>
              </a:rPr>
              <a:t>"record.read"</a:t>
            </a:r>
            <a:r>
              <a:rPr b="0">
                <a:solidFill>
                  <a:srgbClr val="263044"/>
                </a:solidFill>
              </a:rPr>
              <a:t>,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125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  </a:t>
            </a:r>
            <a:r>
              <a:rPr b="0">
                <a:solidFill>
                  <a:srgbClr val="B45309"/>
                </a:solidFill>
              </a:rPr>
              <a:t>"target"</a:t>
            </a:r>
            <a:r>
              <a:rPr b="0">
                <a:solidFill>
                  <a:srgbClr val="263044"/>
                </a:solidFill>
              </a:rPr>
              <a:t>: </a:t>
            </a:r>
            <a:r>
              <a:rPr b="0">
                <a:solidFill>
                  <a:srgbClr val="B45309"/>
                </a:solidFill>
              </a:rPr>
              <a:t>"record-93"</a:t>
            </a:r>
            <a:r>
              <a:rPr b="0">
                <a:solidFill>
                  <a:srgbClr val="263044"/>
                </a:solidFill>
              </a:rPr>
              <a:t>,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125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  </a:t>
            </a:r>
            <a:r>
              <a:rPr b="0">
                <a:solidFill>
                  <a:srgbClr val="B45309"/>
                </a:solidFill>
              </a:rPr>
              <a:t>"classification"</a:t>
            </a:r>
            <a:r>
              <a:rPr b="0">
                <a:solidFill>
                  <a:srgbClr val="263044"/>
                </a:solidFill>
              </a:rPr>
              <a:t>: </a:t>
            </a:r>
            <a:r>
              <a:rPr b="0">
                <a:solidFill>
                  <a:srgbClr val="B45309"/>
                </a:solidFill>
              </a:rPr>
              <a:t>"internal"</a:t>
            </a:r>
            <a:r>
              <a:rPr b="0">
                <a:solidFill>
                  <a:srgbClr val="263044"/>
                </a:solidFill>
              </a:rPr>
              <a:t>,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125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  </a:t>
            </a:r>
            <a:r>
              <a:rPr b="0">
                <a:solidFill>
                  <a:srgbClr val="B45309"/>
                </a:solidFill>
              </a:rPr>
              <a:t>"outcome"</a:t>
            </a:r>
            <a:r>
              <a:rPr b="0">
                <a:solidFill>
                  <a:srgbClr val="263044"/>
                </a:solidFill>
              </a:rPr>
              <a:t>: </a:t>
            </a:r>
            <a:r>
              <a:rPr b="0">
                <a:solidFill>
                  <a:srgbClr val="B45309"/>
                </a:solidFill>
              </a:rPr>
              <a:t>"denied"</a:t>
            </a:r>
            <a:r>
              <a:rPr b="0">
                <a:solidFill>
                  <a:srgbClr val="263044"/>
                </a:solidFill>
              </a:rPr>
              <a:t>,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125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  </a:t>
            </a:r>
            <a:r>
              <a:rPr b="0">
                <a:solidFill>
                  <a:srgbClr val="B45309"/>
                </a:solidFill>
              </a:rPr>
              <a:t>"reason"</a:t>
            </a:r>
            <a:r>
              <a:rPr b="0">
                <a:solidFill>
                  <a:srgbClr val="263044"/>
                </a:solidFill>
              </a:rPr>
              <a:t>: </a:t>
            </a:r>
            <a:r>
              <a:rPr b="0">
                <a:solidFill>
                  <a:srgbClr val="B45309"/>
                </a:solidFill>
              </a:rPr>
              <a:t>"scope_mismatch"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125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}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C8A747D4-C416-4544-A55E-77843A60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152650"/>
            <a:ext cx="4591050" cy="1352550"/>
          </a:xfrm>
          <a:prstGeom xmlns:a="http://schemas.openxmlformats.org/drawingml/2006/main" prst="roundRect">
            <a:avLst>
              <a:gd name="adj" fmla="val 9859"/>
            </a:avLst>
          </a:prstGeom>
          <a:solidFill xmlns:a="http://schemas.openxmlformats.org/drawingml/2006/main">
            <a:srgbClr val="EDF8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B191B14-FE14-4C95-9E7C-8AB2C231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7647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ДОВОЉНО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9DE016E6-4824-49C5-A3DE-F2F4F477F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24125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425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Актер, радња, циљ, исход и разлог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F562A49-CCE2-493E-9766-BB033542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33700"/>
            <a:ext cx="4286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Временска ознака и correlation ID повезују траг са остатком тока.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CB196112-A738-4951-98AE-E6918837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67150"/>
            <a:ext cx="459105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25539CC8-2196-4F31-9ED5-BDA04EB6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9097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C3474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34747"/>
                </a:solidFill>
                <a:latin typeface="Aptos"/>
                <a:ea typeface="Aptos"/>
                <a:cs typeface="Aptos"/>
              </a:rPr>
              <a:t>НЕ ПРИПАДА У ДОКАЗ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7645350E-43C3-43DF-9EEB-867605961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38625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Лозинка</a:t>
            </a: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, </a:t>
            </a: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токен</a:t>
            </a: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, </a:t>
            </a: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тајна</a:t>
            </a: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и</a:t>
            </a: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сувишан</a:t>
            </a: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садржај</a:t>
            </a:r>
            <a:endParaRPr sz="1350" b="1">
              <a:solidFill>
                <a:srgbClr val="1A20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B6A8F6C1-7531-45F6-85E8-B0D33D0A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48200"/>
            <a:ext cx="4286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Траг не сме да постане нови извор цурења или збирка непотребних података.</a:t>
            </a:r>
          </a:p>
        </p:txBody>
      </p:sp>
    </p:spTree>
    <p:extLst>
      <p:ext uri="{BB962C8B-B14F-4D97-AF65-F5344CB8AC3E}">
        <p14:creationId xmlns:p14="http://schemas.microsoft.com/office/powerpoint/2010/main" val="25097426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1EB92CEB-8DEF-400E-928A-C175F502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D"/>
                </a:solidFill>
                <a:latin typeface="Aptos"/>
                <a:ea typeface="Aptos"/>
                <a:cs typeface="Aptos"/>
              </a:rPr>
              <a:t>Основе информационе безбедности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682A0FA6-67C3-48B6-9572-22321317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201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D5560"/>
          </a:solidFill>
          <a:ln xmlns:a="http://schemas.openxmlformats.org/drawingml/2006/main" w="7144">
            <a:solidFill>
              <a:srgbClr val="8D5560"/>
            </a:solidFill>
            <a:prstDash val="solid"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EFB84B2-D587-4277-AF2C-107959EB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9B23729-E8FF-4EF4-BB70-251B0A570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Честе грешке у имплементацији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10D65EA-C549-4DA2-A549-A9C9FBF5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Грешке настају када контекст, место одлуке или доказ остану нејасни.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B85BE021-0FAB-4E0F-BDC8-E225B787E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325755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F481CE1-053E-4C3E-BCEE-738C0C09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0507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C3474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34747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3A471AB-D85F-43CD-AE72-10E1648D2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52725"/>
            <a:ext cx="2952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Провера улоге без провере односа према конкретном ресурсу.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7852C00-A9FC-4823-A85E-B77DEB1BB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295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Нема јасног власника одлуке.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F713408-4A39-4911-8D9E-309ED93A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381250"/>
            <a:ext cx="325755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FF6E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9E5D24D-18CE-4F59-AC5E-AFDD795B2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0507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B86A0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6A0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D6792D5-44FD-422C-BA43-481A54E93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752725"/>
            <a:ext cx="2952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Филтрирање листе у клијенту без исте провере на серверу.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DE9645B5-6A00-4E49-A5DE-F5A9FBF93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038600"/>
            <a:ext cx="295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Не постоји негативан сценарио.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7E1535EF-A95A-484B-8906-3AC1D164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81250"/>
            <a:ext cx="325755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7F4F5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DCA31EFA-A3DA-4142-8413-E36A2A3E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0507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7651D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11A87C46-8B39-4858-A314-9482E861D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52725"/>
            <a:ext cx="2952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Снижавање класификације без образложења и трага промене.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B12B3765-78B8-4352-A290-1140CA70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38600"/>
            <a:ext cx="295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Доказ не показује стварни исход.</a:t>
            </a:r>
          </a:p>
        </p:txBody>
      </p:sp>
    </p:spTree>
    <p:extLst>
      <p:ext uri="{BB962C8B-B14F-4D97-AF65-F5344CB8AC3E}">
        <p14:creationId xmlns:p14="http://schemas.microsoft.com/office/powerpoint/2010/main" val="11666455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2590BDDE-361E-48EB-89E4-2A59056D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D"/>
                </a:solidFill>
                <a:latin typeface="Aptos"/>
                <a:ea typeface="Aptos"/>
                <a:cs typeface="Aptos"/>
              </a:rPr>
              <a:t>Основе информационе безбедности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AD6A998F-9448-4983-B417-628974CA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201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D5560"/>
          </a:solidFill>
          <a:ln xmlns:a="http://schemas.openxmlformats.org/drawingml/2006/main" w="7144">
            <a:solidFill>
              <a:srgbClr val="8D5560"/>
            </a:solidFill>
            <a:prstDash val="solid"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6465A20-4521-4D9D-821E-7A1797127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88579F5-1812-41C1-84E5-A3051898E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Критеријуми потпуне ауторизације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C3E5278-5A09-4B28-9696-B8733DFF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Провера обухвата серверску границу, негативне сценарије и запис разлога одлуке.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0BA288FD-4B32-4437-A24D-2FFD0AEF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52650"/>
            <a:ext cx="4476750" cy="2828925"/>
          </a:xfrm>
          <a:prstGeom xmlns:a="http://schemas.openxmlformats.org/drawingml/2006/main" prst="roundRect">
            <a:avLst>
              <a:gd name="adj" fmla="val 4294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2F67A39-D8FE-4E6C-8E6F-EC5AAD0E1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76475"/>
            <a:ext cx="417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74809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48092"/>
                </a:solidFill>
                <a:latin typeface="Aptos"/>
                <a:ea typeface="Aptos"/>
                <a:cs typeface="Aptos"/>
              </a:rPr>
              <a:t>ОБРАЗЛОЖЕЊЕ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0E25C42-8637-4310-A9A4-50C5C9A9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24125"/>
            <a:ext cx="4171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Како знамо да је ауторизација потпуна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00A4E06-0EBC-4D42-91EF-BF8A9E9F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43250"/>
            <a:ext cx="4171950" cy="2009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Приступ се проверава на стварној граници система. Директан API захтев, позадински процес и извоз примењују исто правило. Негативни тестови описују границу приступа и очекивани разлог одбијања.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1BEC12F-1A66-4177-9B88-C9E2F218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152650"/>
            <a:ext cx="5734050" cy="828675"/>
          </a:xfrm>
          <a:prstGeom xmlns:a="http://schemas.openxmlformats.org/drawingml/2006/main" prst="roundRect">
            <a:avLst>
              <a:gd name="adj" fmla="val 16092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D7499A0-C907-4BAB-9BC3-A3AC96AF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276475"/>
            <a:ext cx="542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2F5EF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97C12C3-C815-48AA-944F-C1E9CD55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524125"/>
            <a:ext cx="542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Систем једнако штити ресурс када се захтев пошаље ван стандардног екрана.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0FB21638-7D02-4D56-AFB2-AD7676F80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152775"/>
            <a:ext cx="5734050" cy="828675"/>
          </a:xfrm>
          <a:prstGeom xmlns:a="http://schemas.openxmlformats.org/drawingml/2006/main" prst="roundRect">
            <a:avLst>
              <a:gd name="adj" fmla="val 16092"/>
            </a:avLst>
          </a:prstGeom>
          <a:solidFill xmlns:a="http://schemas.openxmlformats.org/drawingml/2006/main">
            <a:srgbClr val="EDF8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4ABAF14-9A1E-40D2-92AC-B5EBE54EB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276600"/>
            <a:ext cx="542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95280EA-F1C1-47BB-97C9-7B081C124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524250"/>
            <a:ext cx="542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Одбијени захтев не враћа детаље који помажу да се мапирају туђи подаци.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B4CEFE6E-B684-45BB-81F6-37EB0076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152900"/>
            <a:ext cx="5734050" cy="828675"/>
          </a:xfrm>
          <a:prstGeom xmlns:a="http://schemas.openxmlformats.org/drawingml/2006/main" prst="roundRect">
            <a:avLst>
              <a:gd name="adj" fmla="val 16092"/>
            </a:avLst>
          </a:prstGeom>
          <a:solidFill xmlns:a="http://schemas.openxmlformats.org/drawingml/2006/main">
            <a:srgbClr val="FFF6E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03A4B0BC-AB9D-4DB1-BE0C-96B5A2BB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276725"/>
            <a:ext cx="542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B86A0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6A0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36022626-4C24-488D-9533-8D33957B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524375"/>
            <a:ext cx="542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Промена класификације и промена власништва остављају довољно трага за каснији преглед.</a:t>
            </a:r>
          </a:p>
        </p:txBody>
      </p:sp>
    </p:spTree>
    <p:extLst>
      <p:ext uri="{BB962C8B-B14F-4D97-AF65-F5344CB8AC3E}">
        <p14:creationId xmlns:p14="http://schemas.microsoft.com/office/powerpoint/2010/main" val="58231278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A796AA8F-C604-4A0B-82D3-943F727C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D"/>
                </a:solidFill>
                <a:latin typeface="Aptos"/>
                <a:ea typeface="Aptos"/>
                <a:cs typeface="Aptos"/>
              </a:rPr>
              <a:t>Основе информационе безбедности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08F58866-2C74-4321-90AD-C742E71F6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201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D5560"/>
          </a:solidFill>
          <a:ln xmlns:a="http://schemas.openxmlformats.org/drawingml/2006/main" w="7144">
            <a:solidFill>
              <a:srgbClr val="8D5560"/>
            </a:solidFill>
            <a:prstDash val="solid"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61B786F-0BAC-4A39-87C4-94D84713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2C26126-F7E6-4D49-922B-3CE7EDDA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Примена на пројекат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47DAA29-E934-40DA-BD3B-E8B9731E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Анализа једног сценарија обухвата одлуку, имплементацију, тест одбијања и доказ.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D8A02756-EBEC-4896-B9E6-A16AD593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2433638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DB4F46E-7183-4C93-B199-25B709D3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514600"/>
            <a:ext cx="2147888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74809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4809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B67072A-5ADD-4E92-ADCB-139F9305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0350"/>
            <a:ext cx="21669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Избор сценарија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07B3A04D-F0E5-44B2-8D3C-8FA519A1B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190875"/>
            <a:ext cx="21478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једна стварна радња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B09FC4C6-AB2E-4FBD-AF9C-3585AB70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488" y="2400300"/>
            <a:ext cx="2433638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857C21D-5F77-4E37-B518-A317AB45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363" y="2514600"/>
            <a:ext cx="2147888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2F5EF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28B2B9D9-1214-4883-9D05-D1122309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838" y="2800350"/>
            <a:ext cx="21669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Дефинисање правила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EFB2103-85AF-4DDA-A560-8727647E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363" y="3190875"/>
            <a:ext cx="21478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улази и граница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98E59CA7-0545-4C57-8A09-113977321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400300"/>
            <a:ext cx="2433638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8D2A6B87-A582-49E7-8FFD-E672C414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14600"/>
            <a:ext cx="2147888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C3474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3474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9044D529-FD15-432A-9613-79C2DE09B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800350"/>
            <a:ext cx="21669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Тест одбијања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F1E76F1E-0CD2-4874-8BE3-C8CAD08C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90875"/>
            <a:ext cx="21478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једна чињеница недостаје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2F5E499F-7147-4538-BB66-55E30F85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8263" y="2400300"/>
            <a:ext cx="2433638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EDF8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80A2EE09-6E9D-4563-B24D-BB24745A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2514600"/>
            <a:ext cx="2147888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53573DD0-5F30-4EA7-A765-D0B938FF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800350"/>
            <a:ext cx="21669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Ревизиони запис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1D8A3F66-40AC-4D34-88FA-669C45FA2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3190875"/>
            <a:ext cx="21478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исход и разлог</a:t>
            </a:r>
          </a:p>
        </p:txBody>
      </p:sp>
      <p:cxnSp>
        <p:nvCxnSpPr>
          <p:cNvPr id="221" name="Straight Arrow Connector 124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233738" y="30289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48092"/>
            </a:solidFill>
            <a:prstDash val="solid"/>
            <a:tailEnd type="arrow" w="sm" len="sm"/>
          </a:ln>
        </p:spPr>
      </p:cxnSp>
      <p:cxnSp>
        <p:nvCxnSpPr>
          <p:cNvPr id="222" name="Straight Arrow Connector 125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953126" y="3028950"/>
            <a:ext cx="285749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48092"/>
            </a:solidFill>
            <a:prstDash val="solid"/>
            <a:tailEnd type="arrow" w="sm" len="sm"/>
          </a:ln>
        </p:spPr>
      </p:cxnSp>
      <p:cxnSp>
        <p:nvCxnSpPr>
          <p:cNvPr id="223" name="Straight Arrow Connector 126"/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672513" y="30289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48092"/>
            </a:solidFill>
            <a:prstDash val="solid"/>
            <a:tailEnd type="arrow" w="sm" len="sm"/>
          </a:ln>
        </p:spPr>
      </p:cxn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05E223F9-4F8E-45AA-9321-6D43A047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05300"/>
            <a:ext cx="8953500" cy="914400"/>
          </a:xfrm>
          <a:prstGeom xmlns:a="http://schemas.openxmlformats.org/drawingml/2006/main" prst="roundRect">
            <a:avLst>
              <a:gd name="adj" fmla="val 13542"/>
            </a:avLst>
          </a:prstGeom>
          <a:solidFill xmlns:a="http://schemas.openxmlformats.org/drawingml/2006/main">
            <a:srgbClr val="FFF6E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D45BCC31-32F5-4832-BF60-1285DB569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448175"/>
            <a:ext cx="57150" cy="62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2636"/>
          </a:solidFill>
          <a:ln xmlns:a="http://schemas.openxmlformats.org/drawingml/2006/main" w="0">
            <a:noFill/>
          </a:ln>
        </p:spPr>
      </p:sp>
      <p:sp>
        <p:nvSpPr>
          <p:cNvPr id="76" name="Rounded Rectangle 75">
            <a:extLst xmlns:a="http://schemas.openxmlformats.org/drawingml/2006/main">
              <a:ext uri="{FF2B5EF4-FFF2-40B4-BE49-F238E27FC236}">
                <a16:creationId xmlns:a16="http://schemas.microsoft.com/office/drawing/2014/main" id="{BCDDC716-E590-4DC3-A013-7E83FDAF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10363200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8573">
            <a:solidFill>
              <a:srgbClr val="DBC7CC"/>
            </a:solidFill>
            <a:prstDash val="solid"/>
          </a:ln>
        </p:spPr>
      </p:sp>
      <p:sp>
        <p:nvSpPr>
          <p:cNvPr id="77" name="Rounded Rectangle 76">
            <a:extLst xmlns:a="http://schemas.openxmlformats.org/drawingml/2006/main">
              <a:ext uri="{FF2B5EF4-FFF2-40B4-BE49-F238E27FC236}">
                <a16:creationId xmlns:a16="http://schemas.microsoft.com/office/drawing/2014/main" id="{B784813B-CB55-496F-B3CF-84BB82B03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19600"/>
            <a:ext cx="5715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2636"/>
          </a:solidFill>
          <a:ln xmlns:a="http://schemas.openxmlformats.org/drawingml/2006/main" w="0">
            <a:noFill/>
          </a:ln>
        </p:spPr>
      </p:sp>
      <p:sp>
        <p:nvSpPr>
          <p:cNvPr id="78" name="Rectangle 77">
            <a:extLst xmlns:a="http://schemas.openxmlformats.org/drawingml/2006/main">
              <a:ext uri="{FF2B5EF4-FFF2-40B4-BE49-F238E27FC236}">
                <a16:creationId xmlns:a16="http://schemas.microsoft.com/office/drawing/2014/main" id="{409EDD91-D16F-479E-9118-8F0EAA190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71975"/>
            <a:ext cx="963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13" b="1">
                <a:solidFill>
                  <a:srgbClr val="2854D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ПРИМЕНА НА ПРОЈЕКАТ</a:t>
            </a:r>
          </a:p>
        </p:txBody>
      </p:sp>
      <p:sp>
        <p:nvSpPr>
          <p:cNvPr id="79" name="Rectangle 78">
            <a:extLst xmlns:a="http://schemas.openxmlformats.org/drawingml/2006/main">
              <a:ext uri="{FF2B5EF4-FFF2-40B4-BE49-F238E27FC236}">
                <a16:creationId xmlns:a16="http://schemas.microsoft.com/office/drawing/2014/main" id="{F5E17CED-B316-4116-AE4A-3D1857E4F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00575"/>
            <a:ext cx="9639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13" b="1">
                <a:solidFill>
                  <a:srgbClr val="1B2432"/>
                </a:solidFill>
                <a:latin typeface="Aptos"/>
                <a:ea typeface="Aptos"/>
                <a:cs typeface="Aptos"/>
              </a:defRPr>
            </a:pPr>
            <a:r>
              <a:rPr sz="1313" b="1">
                <a:solidFill>
                  <a:srgbClr val="1B2432"/>
                </a:solidFill>
                <a:latin typeface="Aptos"/>
                <a:ea typeface="Aptos"/>
                <a:cs typeface="Aptos"/>
              </a:rPr>
              <a:t>Пројектна примена теме „Ауторизација над ресурсом и класификација података“ обухвата једну серверску одлуку, тест одбијања и доказ који други члан тима може да понови.</a:t>
            </a:r>
          </a:p>
        </p:txBody>
      </p:sp>
    </p:spTree>
    <p:extLst>
      <p:ext uri="{BB962C8B-B14F-4D97-AF65-F5344CB8AC3E}">
        <p14:creationId xmlns:p14="http://schemas.microsoft.com/office/powerpoint/2010/main" val="212461765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A4047CFD-FADA-439A-880D-A576ADD6A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D"/>
                </a:solidFill>
                <a:latin typeface="Aptos"/>
                <a:ea typeface="Aptos"/>
                <a:cs typeface="Aptos"/>
              </a:rPr>
              <a:t>Основе информационе безбедности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9C9FB3B2-916A-48B1-9052-5D647EFF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201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D5560"/>
          </a:solidFill>
          <a:ln xmlns:a="http://schemas.openxmlformats.org/drawingml/2006/main" w="7144">
            <a:solidFill>
              <a:srgbClr val="8D5560"/>
            </a:solidFill>
            <a:prstDash val="solid"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F3DEEF1-F69C-4B96-BC01-65E3405A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87AC77E-CA2A-46BA-9593-A431217F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Провера разумевања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C3AF33B-8BEF-4693-989F-53EAB0E3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Разумевање теме подразумева објашњење одлуке и доказа независно од конкретног технолошког оквира.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75ED3FD9-2D74-48AE-B923-31C8CD38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2471738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5BEBE17-5C3A-470F-BADA-243F4CCC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400300"/>
            <a:ext cx="2185988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74809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4809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E018CEB-0A4C-43AB-A1C4-8C5D074B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22050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Субјекат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41E8355-2772-447A-A03D-ED71A6AA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076575"/>
            <a:ext cx="21859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ко тражи радњу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04119D2-00A5-4B4C-AD9F-DE6A605A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1388" y="2286000"/>
            <a:ext cx="2471738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EDF8FA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1F91105-EB9B-470F-9EE3-EACE6329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4263" y="2400300"/>
            <a:ext cx="2185988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16849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849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BAA1488-54A4-4330-B339-CB5C4EE4D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4738" y="2686050"/>
            <a:ext cx="22050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Ресурс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4C1F9D16-C1B9-4AEE-B2B9-CF4D9DFB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4263" y="3076575"/>
            <a:ext cx="21859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над чим се ради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A8E8546F-FFE7-4725-B510-28631411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286000"/>
            <a:ext cx="2471738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C8EE06D4-11A0-49F3-B886-BB364E71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00300"/>
            <a:ext cx="2185988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2F5EF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52DB6E0C-003C-4699-944A-8AD8BC5E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686050"/>
            <a:ext cx="22050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Контекст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DA737645-68CB-4FF3-B426-A5A32AD2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76575"/>
            <a:ext cx="21859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власништво и намена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F21EB990-9BCC-480C-84F8-DEB102314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6363" y="2286000"/>
            <a:ext cx="2471738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EDF8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F3D5D665-08BF-485C-BFBD-F3AC60FDB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2400300"/>
            <a:ext cx="2185988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4C2E98E0-1633-47BC-81DC-18232AF7E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9713" y="2686050"/>
            <a:ext cx="22050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Одлука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EC5B1A84-16B1-4ED4-A2A8-8CA2FB51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3076575"/>
            <a:ext cx="21859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дозволи или одбиј</a:t>
            </a:r>
          </a:p>
        </p:txBody>
      </p:sp>
      <p:cxnSp>
        <p:nvCxnSpPr>
          <p:cNvPr id="223" name="Straight Arrow Connector 126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195638" y="29146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48092"/>
            </a:solidFill>
            <a:prstDash val="solid"/>
            <a:tailEnd type="arrow" w="sm" len="sm"/>
          </a:ln>
        </p:spPr>
      </p:cxnSp>
      <p:cxnSp>
        <p:nvCxnSpPr>
          <p:cNvPr id="224" name="Straight Arrow Connector 127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953126" y="2914650"/>
            <a:ext cx="285749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48092"/>
            </a:solidFill>
            <a:prstDash val="solid"/>
            <a:tailEnd type="arrow" w="sm" len="sm"/>
          </a:ln>
        </p:spPr>
      </p:cxnSp>
      <p:cxnSp>
        <p:nvCxnSpPr>
          <p:cNvPr id="225" name="Straight Arrow Connector 128"/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710613" y="29146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48092"/>
            </a:solidFill>
            <a:prstDash val="solid"/>
            <a:tailEnd type="arrow" w="sm" len="sm"/>
          </a:ln>
        </p:spPr>
      </p:cxn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97EF2A6C-BF47-4AA5-9C10-F74239C2C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14800"/>
            <a:ext cx="9334500" cy="895350"/>
          </a:xfrm>
          <a:prstGeom xmlns:a="http://schemas.openxmlformats.org/drawingml/2006/main" prst="roundRect">
            <a:avLst>
              <a:gd name="adj" fmla="val 13830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906316F0-C2C7-4D0F-854B-D12B52E1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257675"/>
            <a:ext cx="5715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2636"/>
          </a:solidFill>
          <a:ln xmlns:a="http://schemas.openxmlformats.org/drawingml/2006/main" w="0">
            <a:noFill/>
          </a:ln>
        </p:spPr>
      </p:sp>
      <p:sp>
        <p:nvSpPr>
          <p:cNvPr id="77" name="Rounded Rectangle 76">
            <a:extLst xmlns:a="http://schemas.openxmlformats.org/drawingml/2006/main">
              <a:ext uri="{FF2B5EF4-FFF2-40B4-BE49-F238E27FC236}">
                <a16:creationId xmlns:a16="http://schemas.microsoft.com/office/drawing/2014/main" id="{851932F6-4E08-4A1D-8290-FA90EA7C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10363200" cy="1092934"/>
          </a:xfrm>
          <a:prstGeom xmlns:a="http://schemas.openxmlformats.org/drawingml/2006/main" prst="roundRect">
            <a:avLst>
              <a:gd name="adj" fmla="val 8046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8573">
            <a:solidFill>
              <a:srgbClr val="DBC7CC"/>
            </a:solidFill>
            <a:prstDash val="solid"/>
          </a:ln>
        </p:spPr>
      </p:sp>
      <p:sp>
        <p:nvSpPr>
          <p:cNvPr id="78" name="Rounded Rectangle 77">
            <a:extLst xmlns:a="http://schemas.openxmlformats.org/drawingml/2006/main">
              <a:ext uri="{FF2B5EF4-FFF2-40B4-BE49-F238E27FC236}">
                <a16:creationId xmlns:a16="http://schemas.microsoft.com/office/drawing/2014/main" id="{24CA7DA1-6411-4E28-8A57-2399C162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48150"/>
            <a:ext cx="45719" cy="762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2636"/>
          </a:solidFill>
          <a:ln xmlns:a="http://schemas.openxmlformats.org/drawingml/2006/main" w="0">
            <a:noFill/>
          </a:ln>
        </p:spPr>
      </p:sp>
      <p:sp>
        <p:nvSpPr>
          <p:cNvPr id="79" name="Rectangle 78">
            <a:extLst xmlns:a="http://schemas.openxmlformats.org/drawingml/2006/main">
              <a:ext uri="{FF2B5EF4-FFF2-40B4-BE49-F238E27FC236}">
                <a16:creationId xmlns:a16="http://schemas.microsoft.com/office/drawing/2014/main" id="{B8B9B716-F82A-424E-9A53-E2F897816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00525"/>
            <a:ext cx="963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13" b="1">
                <a:solidFill>
                  <a:srgbClr val="2854D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ПИТАЊЕ ЗА ПРОВЕРУ</a:t>
            </a:r>
          </a:p>
        </p:txBody>
      </p:sp>
      <p:sp>
        <p:nvSpPr>
          <p:cNvPr id="80" name="Rectangle 79">
            <a:extLst xmlns:a="http://schemas.openxmlformats.org/drawingml/2006/main">
              <a:ext uri="{FF2B5EF4-FFF2-40B4-BE49-F238E27FC236}">
                <a16:creationId xmlns:a16="http://schemas.microsoft.com/office/drawing/2014/main" id="{E3473A48-7A3E-426E-8C2D-EDB59417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29125"/>
            <a:ext cx="9639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388" b="1">
                <a:solidFill>
                  <a:srgbClr val="1B2432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B2432"/>
                </a:solidFill>
                <a:latin typeface="Aptos"/>
                <a:ea typeface="Aptos"/>
                <a:cs typeface="Aptos"/>
              </a:rPr>
              <a:t>Који ресурс носи ризик хоризонталног приступа и које информације одлука мора да узме у обзир?</a:t>
            </a:r>
          </a:p>
        </p:txBody>
      </p:sp>
      <p:sp>
        <p:nvSpPr>
          <p:cNvPr id="81" name="Rectangle 80">
            <a:extLst xmlns:a="http://schemas.openxmlformats.org/drawingml/2006/main">
              <a:ext uri="{FF2B5EF4-FFF2-40B4-BE49-F238E27FC236}">
                <a16:creationId xmlns:a16="http://schemas.microsoft.com/office/drawing/2014/main" id="{6C89B35D-810F-4ADE-AE04-8E1E144E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95838"/>
            <a:ext cx="963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2637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37B"/>
                </a:solidFill>
                <a:latin typeface="Aptos"/>
                <a:ea typeface="Aptos"/>
                <a:cs typeface="Aptos"/>
              </a:rPr>
              <a:t>Пројектна примена: применити исти модел на једну реалну границу у сопственом пројекту.</a:t>
            </a:r>
          </a:p>
        </p:txBody>
      </p:sp>
    </p:spTree>
    <p:extLst>
      <p:ext uri="{BB962C8B-B14F-4D97-AF65-F5344CB8AC3E}">
        <p14:creationId xmlns:p14="http://schemas.microsoft.com/office/powerpoint/2010/main" val="1454624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2026-09-29T19:08:29.8990000Z</dcterms:created>
  <dcterms:modified xsi:type="dcterms:W3CDTF">2026-09-29T19:08:29.8990000Z</dcterms:modified>
</coreProperties>
</file>