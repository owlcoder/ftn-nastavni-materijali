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C240358-3E84-4CEE-A93D-42503086738C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6FA89B9D-3315-403D-8FFB-70C1ABA77159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E8F67-9016-4A24-A659-A0A1BAEACDFF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BE052D-0EBA-42AC-A8FD-94F4093B9840}"/>
              </a:ext>
            </a:extLst>
          </p:cNvPr>
          <p:cNvSpPr>
            <a:spLocks noGrp="1"/>
          </p:cNvSpPr>
          <p:nvPr/>
        </p:nvSpPr>
        <p:spPr>
          <a:xfrm>
            <a:off x="914400" y="1771650"/>
            <a:ext cx="10363200" cy="156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Ауторизација над ресурсом и класификација података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26945F-A600-4E1D-BAC0-157062ADDA9F}"/>
              </a:ext>
            </a:extLst>
          </p:cNvPr>
          <p:cNvSpPr>
            <a:spLocks noGrp="1"/>
          </p:cNvSpPr>
          <p:nvPr/>
        </p:nvSpPr>
        <p:spPr>
          <a:xfrm>
            <a:off x="933450" y="3600450"/>
            <a:ext cx="96202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Одлука о приступу зависи од субјекта, ресурса и контекста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2641CFB7-8F9E-472F-B0CD-41DC17E03F3E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8388F7-99A4-4219-BE48-70236D5D5496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ОИБ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00339-765D-4321-8A50-6C84FCECA67C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398632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6372FB08-59A4-4741-A14F-D19C0FE5C85D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0002F626-7334-4BC5-A861-22001FAA830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E91AD-6386-44E2-AE66-3C3146A2E6F8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292FF0-A5AB-499F-9EC9-0AB4C19AEE80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Проблем који решавамо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211D73-FE1F-43BE-BD03-ED08398AAFB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0802"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Ауторизација има смисла тек када је везана за конкретан ресурс и његов контекст. Корисник може имати легитимну улогу, а ипак не сме да чита, мења или дели баш тај запис. Зато се одлука не завршава провером типа ендпоинта или назива улоге.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C44CFC-340D-4334-9E79-11DBF400A1BA}"/>
              </a:ext>
            </a:extLst>
          </p:cNvPr>
          <p:cNvSpPr>
            <a:spLocks noGrp="1"/>
          </p:cNvSpPr>
          <p:nvPr/>
        </p:nvSpPr>
        <p:spPr>
          <a:xfrm>
            <a:off x="819150" y="2571749"/>
            <a:ext cx="3257550" cy="3343275"/>
          </a:xfrm>
          <a:prstGeom prst="roundRect">
            <a:avLst>
              <a:gd name="adj" fmla="val 5983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D1A9CC-4B3E-41BF-9D6A-75DEB72CBA91}"/>
              </a:ext>
            </a:extLst>
          </p:cNvPr>
          <p:cNvSpPr>
            <a:spLocks noGrp="1"/>
          </p:cNvSpPr>
          <p:nvPr/>
        </p:nvSpPr>
        <p:spPr>
          <a:xfrm>
            <a:off x="971550" y="26955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ПРОБЛЕМ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0B53B3-47C8-411E-8C06-89AD263AF9B0}"/>
              </a:ext>
            </a:extLst>
          </p:cNvPr>
          <p:cNvSpPr>
            <a:spLocks noGrp="1"/>
          </p:cNvSpPr>
          <p:nvPr/>
        </p:nvSpPr>
        <p:spPr>
          <a:xfrm>
            <a:off x="971550" y="2943225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Шта може поћи по злу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3153EC-01C1-4B64-94A1-7545ACC1CC31}"/>
              </a:ext>
            </a:extLst>
          </p:cNvPr>
          <p:cNvSpPr>
            <a:spLocks noGrp="1"/>
          </p:cNvSpPr>
          <p:nvPr/>
        </p:nvSpPr>
        <p:spPr>
          <a:xfrm>
            <a:off x="971550" y="3352800"/>
            <a:ext cx="2952750" cy="1343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Ауторизација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има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смисла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тек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када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везана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конкретан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ресурс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и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његов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контекст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Корисник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имати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легитимну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улогу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ипак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сме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да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чита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дели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баш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тај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запис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Зато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се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завршава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провером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типа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ендпоинта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назива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улоге</a:t>
            </a:r>
            <a:r>
              <a:rPr sz="1500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9B3FF37-329B-4273-8F76-569088B81090}"/>
              </a:ext>
            </a:extLst>
          </p:cNvPr>
          <p:cNvSpPr>
            <a:spLocks noGrp="1"/>
          </p:cNvSpPr>
          <p:nvPr/>
        </p:nvSpPr>
        <p:spPr>
          <a:xfrm>
            <a:off x="4467225" y="2571749"/>
            <a:ext cx="3257550" cy="3343275"/>
          </a:xfrm>
          <a:prstGeom prst="roundRect">
            <a:avLst>
              <a:gd name="adj" fmla="val 5983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8B4DD9-26D8-460D-AB8D-BE6917A47A3C}"/>
              </a:ext>
            </a:extLst>
          </p:cNvPr>
          <p:cNvSpPr>
            <a:spLocks noGrp="1"/>
          </p:cNvSpPr>
          <p:nvPr/>
        </p:nvSpPr>
        <p:spPr>
          <a:xfrm>
            <a:off x="4619625" y="26955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ЗАШТО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92F3A8-AE2F-4245-902D-103D16B9EF27}"/>
              </a:ext>
            </a:extLst>
          </p:cNvPr>
          <p:cNvSpPr>
            <a:spLocks noGrp="1"/>
          </p:cNvSpPr>
          <p:nvPr/>
        </p:nvSpPr>
        <p:spPr>
          <a:xfrm>
            <a:off x="4619625" y="2943225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Зашто је тема важна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E20490-F598-4EEA-B1D8-7A23068F4CFD}"/>
              </a:ext>
            </a:extLst>
          </p:cNvPr>
          <p:cNvSpPr>
            <a:spLocks noGrp="1"/>
          </p:cNvSpPr>
          <p:nvPr/>
        </p:nvSpPr>
        <p:spPr>
          <a:xfrm>
            <a:off x="4619625" y="3352800"/>
            <a:ext cx="2952750" cy="1343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Класификација података даје исти језик власницима, развоју и операцијама. Када систем зна колико је податак осетљив, може да примени одговарајући приступ, приказ, чување и евиденцију без ослањања на нечије сећање.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6409182-67FB-4A45-AC0A-4A92330584A1}"/>
              </a:ext>
            </a:extLst>
          </p:cNvPr>
          <p:cNvSpPr>
            <a:spLocks noGrp="1"/>
          </p:cNvSpPr>
          <p:nvPr/>
        </p:nvSpPr>
        <p:spPr>
          <a:xfrm>
            <a:off x="8115300" y="2571749"/>
            <a:ext cx="3257550" cy="3343275"/>
          </a:xfrm>
          <a:prstGeom prst="roundRect">
            <a:avLst>
              <a:gd name="adj" fmla="val 5983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B0C7CA9-7180-400F-B523-9D6E82F7DF9B}"/>
              </a:ext>
            </a:extLst>
          </p:cNvPr>
          <p:cNvSpPr>
            <a:spLocks noGrp="1"/>
          </p:cNvSpPr>
          <p:nvPr/>
        </p:nvSpPr>
        <p:spPr>
          <a:xfrm>
            <a:off x="8267700" y="26955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7604F9-3E81-4F15-884D-C5E7B111B697}"/>
              </a:ext>
            </a:extLst>
          </p:cNvPr>
          <p:cNvSpPr>
            <a:spLocks noGrp="1"/>
          </p:cNvSpPr>
          <p:nvPr/>
        </p:nvSpPr>
        <p:spPr>
          <a:xfrm>
            <a:off x="8267700" y="2943225"/>
            <a:ext cx="2952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Шта треба доказати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483D75-38D3-419C-BEDA-7299141D9382}"/>
              </a:ext>
            </a:extLst>
          </p:cNvPr>
          <p:cNvSpPr>
            <a:spLocks noGrp="1"/>
          </p:cNvSpPr>
          <p:nvPr/>
        </p:nvSpPr>
        <p:spPr>
          <a:xfrm>
            <a:off x="8267700" y="3352800"/>
            <a:ext cx="2952750" cy="1343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 је јасна, примењује се на серверу и оставља поновљив доказ успешног и одбијеног исхода.</a:t>
            </a:r>
          </a:p>
        </p:txBody>
      </p:sp>
    </p:spTree>
    <p:extLst>
      <p:ext uri="{BB962C8B-B14F-4D97-AF65-F5344CB8AC3E}">
        <p14:creationId xmlns:p14="http://schemas.microsoft.com/office/powerpoint/2010/main" val="684576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49AF4297-6EBC-462E-99AC-00D4914F0513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93291C51-523C-4EAE-BCA3-F97CB7C53F9A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ED438A-B574-4B7B-88AC-7B2660298C3D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90D8A5-E363-4249-92B6-44F8BC13DA7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Четири појма граде једну одлуку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44B676-2315-43D0-BF5A-A3110E8C16F8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Сваки елемент одговара на друго питање и оставља другачији доказ.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288A6F0-0178-4F33-8B50-3F4A7F4288CF}"/>
              </a:ext>
            </a:extLst>
          </p:cNvPr>
          <p:cNvSpPr>
            <a:spLocks noGrp="1"/>
          </p:cNvSpPr>
          <p:nvPr/>
        </p:nvSpPr>
        <p:spPr>
          <a:xfrm>
            <a:off x="723900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C050C-D273-4565-B83D-52B9555AD781}"/>
              </a:ext>
            </a:extLst>
          </p:cNvPr>
          <p:cNvSpPr>
            <a:spLocks noGrp="1"/>
          </p:cNvSpPr>
          <p:nvPr/>
        </p:nvSpPr>
        <p:spPr>
          <a:xfrm>
            <a:off x="866775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BEBB7-1B4B-47B4-8062-669D4803487C}"/>
              </a:ext>
            </a:extLst>
          </p:cNvPr>
          <p:cNvSpPr>
            <a:spLocks noGrp="1"/>
          </p:cNvSpPr>
          <p:nvPr/>
        </p:nvSpPr>
        <p:spPr>
          <a:xfrm>
            <a:off x="857250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Субјекат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534E46-1A4E-45C4-A8F5-4498BB773827}"/>
              </a:ext>
            </a:extLst>
          </p:cNvPr>
          <p:cNvSpPr>
            <a:spLocks noGrp="1"/>
          </p:cNvSpPr>
          <p:nvPr/>
        </p:nvSpPr>
        <p:spPr>
          <a:xfrm>
            <a:off x="866775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тражи радњу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B213671-1897-492C-B74E-FEF5B3E1B3E5}"/>
              </a:ext>
            </a:extLst>
          </p:cNvPr>
          <p:cNvSpPr>
            <a:spLocks noGrp="1"/>
          </p:cNvSpPr>
          <p:nvPr/>
        </p:nvSpPr>
        <p:spPr>
          <a:xfrm>
            <a:off x="3481388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A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C3FDF-3C9E-4D1B-A9FD-74E39B1217D7}"/>
              </a:ext>
            </a:extLst>
          </p:cNvPr>
          <p:cNvSpPr>
            <a:spLocks noGrp="1"/>
          </p:cNvSpPr>
          <p:nvPr/>
        </p:nvSpPr>
        <p:spPr>
          <a:xfrm>
            <a:off x="3624263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A54016-89FF-40FC-8F12-6227AB60C9D5}"/>
              </a:ext>
            </a:extLst>
          </p:cNvPr>
          <p:cNvSpPr>
            <a:spLocks noGrp="1"/>
          </p:cNvSpPr>
          <p:nvPr/>
        </p:nvSpPr>
        <p:spPr>
          <a:xfrm>
            <a:off x="3614738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891584-6E62-43AE-B6D9-5F23FC7FC499}"/>
              </a:ext>
            </a:extLst>
          </p:cNvPr>
          <p:cNvSpPr>
            <a:spLocks noGrp="1"/>
          </p:cNvSpPr>
          <p:nvPr/>
        </p:nvSpPr>
        <p:spPr>
          <a:xfrm>
            <a:off x="3624263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над чим се ради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3BE8578-802D-47E7-B56F-FE639662A1C8}"/>
              </a:ext>
            </a:extLst>
          </p:cNvPr>
          <p:cNvSpPr>
            <a:spLocks noGrp="1"/>
          </p:cNvSpPr>
          <p:nvPr/>
        </p:nvSpPr>
        <p:spPr>
          <a:xfrm>
            <a:off x="6238875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FAC8DE-2138-4AC5-92A7-4C2F53E6D012}"/>
              </a:ext>
            </a:extLst>
          </p:cNvPr>
          <p:cNvSpPr>
            <a:spLocks noGrp="1"/>
          </p:cNvSpPr>
          <p:nvPr/>
        </p:nvSpPr>
        <p:spPr>
          <a:xfrm>
            <a:off x="6381750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73CB8A-994B-4857-ABC7-E45B242F872A}"/>
              </a:ext>
            </a:extLst>
          </p:cNvPr>
          <p:cNvSpPr>
            <a:spLocks noGrp="1"/>
          </p:cNvSpPr>
          <p:nvPr/>
        </p:nvSpPr>
        <p:spPr>
          <a:xfrm>
            <a:off x="6372225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18E097-08D1-48B9-AD00-4166C65C6C69}"/>
              </a:ext>
            </a:extLst>
          </p:cNvPr>
          <p:cNvSpPr>
            <a:spLocks noGrp="1"/>
          </p:cNvSpPr>
          <p:nvPr/>
        </p:nvSpPr>
        <p:spPr>
          <a:xfrm>
            <a:off x="6381750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власништво и намена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99EEA5F-8C03-42FD-B18E-7DFE427A75BE}"/>
              </a:ext>
            </a:extLst>
          </p:cNvPr>
          <p:cNvSpPr>
            <a:spLocks noGrp="1"/>
          </p:cNvSpPr>
          <p:nvPr/>
        </p:nvSpPr>
        <p:spPr>
          <a:xfrm>
            <a:off x="8996363" y="241935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7FCEFE-8B78-4AC2-B198-3BD670D0C12E}"/>
              </a:ext>
            </a:extLst>
          </p:cNvPr>
          <p:cNvSpPr>
            <a:spLocks noGrp="1"/>
          </p:cNvSpPr>
          <p:nvPr/>
        </p:nvSpPr>
        <p:spPr>
          <a:xfrm>
            <a:off x="9139238" y="253365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2B4CBA-960B-4536-9233-361B817FDEA6}"/>
              </a:ext>
            </a:extLst>
          </p:cNvPr>
          <p:cNvSpPr>
            <a:spLocks noGrp="1"/>
          </p:cNvSpPr>
          <p:nvPr/>
        </p:nvSpPr>
        <p:spPr>
          <a:xfrm>
            <a:off x="9129713" y="281940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BF207F-9AD1-465C-BA10-47AB20C53285}"/>
              </a:ext>
            </a:extLst>
          </p:cNvPr>
          <p:cNvSpPr>
            <a:spLocks noGrp="1"/>
          </p:cNvSpPr>
          <p:nvPr/>
        </p:nvSpPr>
        <p:spPr>
          <a:xfrm>
            <a:off x="9139238" y="320992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cxnSp>
        <p:nvCxnSpPr>
          <p:cNvPr id="125" name="Straight Arrow Connector 124"/>
          <p:cNvCxnSpPr>
            <a:stCxn id="6" idx="3"/>
            <a:endCxn id="10" idx="1"/>
          </p:cNvCxnSpPr>
          <p:nvPr/>
        </p:nvCxnSpPr>
        <p:spPr>
          <a:xfrm>
            <a:off x="3195638" y="30480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6" name="Straight Arrow Connector 125"/>
          <p:cNvCxnSpPr>
            <a:stCxn id="10" idx="3"/>
            <a:endCxn id="14" idx="1"/>
          </p:cNvCxnSpPr>
          <p:nvPr/>
        </p:nvCxnSpPr>
        <p:spPr>
          <a:xfrm>
            <a:off x="5953126" y="304800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4" idx="3"/>
            <a:endCxn id="18" idx="1"/>
          </p:cNvCxnSpPr>
          <p:nvPr/>
        </p:nvCxnSpPr>
        <p:spPr>
          <a:xfrm>
            <a:off x="8710613" y="30480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45D1612-BDF8-41E5-A040-8C5D0D74696E}"/>
              </a:ext>
            </a:extLst>
          </p:cNvPr>
          <p:cNvSpPr>
            <a:spLocks noGrp="1"/>
          </p:cNvSpPr>
          <p:nvPr/>
        </p:nvSpPr>
        <p:spPr>
          <a:xfrm>
            <a:off x="1752600" y="4429125"/>
            <a:ext cx="57150" cy="514350"/>
          </a:xfrm>
          <a:prstGeom prst="roundRect">
            <a:avLst>
              <a:gd name="adj" fmla="val 50000"/>
            </a:avLst>
          </a:prstGeom>
          <a:solidFill>
            <a:srgbClr val="748092"/>
          </a:solidFill>
          <a:ln w="0">
            <a:noFill/>
          </a:ln>
        </p:spPr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5D7305B7-2F3D-448D-B028-E382E5F0272A}"/>
              </a:ext>
            </a:extLst>
          </p:cNvPr>
          <p:cNvSpPr>
            <a:spLocks noGrp="1"/>
          </p:cNvSpPr>
          <p:nvPr/>
        </p:nvSpPr>
        <p:spPr>
          <a:xfrm>
            <a:off x="914400" y="43053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2A10E50-FBB7-4B9E-A277-8E9769FB6FD4}"/>
              </a:ext>
            </a:extLst>
          </p:cNvPr>
          <p:cNvSpPr>
            <a:spLocks noGrp="1"/>
          </p:cNvSpPr>
          <p:nvPr/>
        </p:nvSpPr>
        <p:spPr>
          <a:xfrm>
            <a:off x="1085850" y="44577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347D408-A209-4AE5-9AC6-11F5AA192AB7}"/>
              </a:ext>
            </a:extLst>
          </p:cNvPr>
          <p:cNvSpPr>
            <a:spLocks noGrp="1"/>
          </p:cNvSpPr>
          <p:nvPr/>
        </p:nvSpPr>
        <p:spPr>
          <a:xfrm>
            <a:off x="1333500" y="44100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4CDAF0-30BD-4FBC-8235-E4B8984C5AF2}"/>
              </a:ext>
            </a:extLst>
          </p:cNvPr>
          <p:cNvSpPr>
            <a:spLocks noGrp="1"/>
          </p:cNvSpPr>
          <p:nvPr/>
        </p:nvSpPr>
        <p:spPr>
          <a:xfrm>
            <a:off x="1333500" y="4638675"/>
            <a:ext cx="96393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5055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Идентификатор у адреси не представља право приступа. Однос субјекта према ресурсу проверава се на серверу.</a:t>
            </a:r>
          </a:p>
        </p:txBody>
      </p:sp>
    </p:spTree>
    <p:extLst>
      <p:ext uri="{BB962C8B-B14F-4D97-AF65-F5344CB8AC3E}">
        <p14:creationId xmlns:p14="http://schemas.microsoft.com/office/powerpoint/2010/main" val="345997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DA1234B-5BCC-4742-9535-516C0879F6D3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9D22A148-DBDE-4EB6-ABEA-D5536215C4D4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E391C0-4BD9-4454-A113-1AC095A2A475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0738FA-895F-4D88-AF34-CD850CEBABCE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Субјекат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B71474-7F02-4252-8E0C-14D58CF79FC2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тражи радњу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F63E107-CB8E-4925-8B89-482866B1E629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E51C25-62A7-48B7-AFA2-EE034CE7E35B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6354F4-706E-426F-B5EA-C60DB92D500A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права укључује субјект, радњу, ресурс и његову припадност.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45646D-F383-452F-A7BE-6F0C52B501EE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4334422-C0FF-42DA-8A84-3E1DBA6BAE62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8A710-19C9-4C4A-8B17-EBADBEE1D242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0C0134-C22F-45B2-B0B1-A74B4B4C1F96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3046"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 укључује идентитет, тражену радњу, ресурс и припадност ресурса одговарајућем домену или власнику.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DABE01-CF4F-4EF6-9E20-246CF1BE6558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7FD701A-6926-483F-9F2A-82E51B5B3F59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EFB9B7-E071-410B-B44F-A3002647142B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C986AC-1BAC-4792-B3A7-0B3A4E1AE7F6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има пословно значење које сви чланови тима тумаче на исти начин.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A5688E-C491-4DF0-915D-DEE0A494DADA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8E65552-6D58-427C-9727-EDF61BC87485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BFE807D-C2DA-4EB0-A568-4CE47DD05045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E14C6B7-EE5B-4D0A-8B0F-A092400D7C48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F356B2C-62F9-4838-8597-28814F115FE5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ABA79B-F690-4CD9-98AC-BD42C6F50542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80A67E-4BD3-40E1-AB5B-95B19E65D093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145673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5FBB923B-4DB1-4DB9-A768-AD64412A709C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9A279F69-BA3F-4399-859D-E063FB22F59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373997-96D1-4820-842E-0B382F3078F7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6DE4D2-5272-4FDC-8305-07B7592470C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Ресурс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13D260-CEEC-47A4-BB58-B3CD103C24B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над чим се ради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79BA4AC-F2A1-435D-A721-602C6BA732A9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C4C958-0832-4B3E-A705-0F853E9D894C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9B0C05-D89C-488B-AAC6-0C3CC431E452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не треба да открива садржај нити постојање туђег осетљивог ресурса.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C394A9-EFDC-4582-B8CF-B6A1CCB1C8D8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CA13A6-A5C4-4144-A67D-2E04D994E9A4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C633A6-1A3C-4381-A6A7-0C830F607BED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4CF409-5AB1-4BAF-850A-7BA6FA2733A9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3046"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Исти принцип важи за API позив, извоз података и позадинску обраду, не само за екран који корисник види.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57361A-B9C0-4B36-BE98-8B19CAE402CF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8191500-968B-49D5-B7A2-D472979C692D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401978-A2BB-476E-8448-6B78DF3EB9AF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2A580A-8A96-4DDC-AAAC-23613BE4FE2C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за приказ и извоз треба да буду строжа када последице грешке расту.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9460DC-94BE-4814-AE85-1CDD564F8338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FF8F7EF-103C-4AFF-91F1-7BAA8997A0F5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CF20779-1059-4B14-8898-B1384E12CC86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CF009CA-AE08-44BB-B391-F555AB703118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D97CA0E-8944-4F8D-A013-8AAE817950BD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6BCE1F7-4127-4713-B298-9D97000337B8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58B0FE-29A7-48CB-9361-2AECD727376C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2117088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1B6F45F-BACC-44CD-A558-84A083B19C36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C4EC745-A73A-4D9D-8FF5-2589D4F6B6BF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F66912-6305-43BC-ADC6-C7B43F874444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48827E-E152-4BA4-BCAD-224934634B30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Контекст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1069E1-D82F-4545-9C7F-03495D4270D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власништво и намена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DB3A86-F9BD-41E9-9C15-C86A7C20BCAF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E9AE12-0BB1-4D90-A699-E20861A77044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CCA1A2-237D-4B46-A722-147CA969D084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није етикета за документацију, већ улаз у правила руковања подацима.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0C1048-E86E-4C52-8416-186564F44895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FB4689-9DA5-413F-B88E-C0649D8F5A21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4930F7-C123-4E61-9A20-E0B810EF0413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59126-2948-4593-989D-EEB70D3E77D0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3046"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на одбијени приступ треба да буде користан клијенту, али не сме да открије податке о заштићеном запису.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37A7FF-A8F7-42AC-8F78-7743A14066F7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08964A8-7554-48E2-A044-7A28F85872F9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B3388E-B784-40D4-909D-3DC5814DD09C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3FB0DA4-7C50-43EE-8890-3E5C885673AD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3046"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Власник податка одговара за оправданост промене класификације, а систем чува траг те промене.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38E69E-F949-433F-B256-A695354FEFD0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7ABF4E7-3BA1-4BD7-A449-C2DB0317591C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9FB3D0-0F37-45C3-927D-8BE918F3A5A7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CD6F7EF-1EE6-4D43-87C0-B2ED1D9E554B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3B2C6C6-CD35-4DED-B850-3DA05E781EC1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CA2F5D-13C2-4B92-9C26-7D23D173674F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002033-CA5F-482B-A98B-F0A9C496426C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1549145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BAA8594-5C65-433F-BAD9-EBD9E94AD097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88C0FA6A-AF74-440B-A5B6-EEFBAD7EC31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44B0FA-E215-48A5-84B0-905D7FAD2897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F154C5-91E9-4D3D-959F-BCC59EE82FF8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Одлука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FDF5C6-1698-4703-A612-BC2BF5974BA2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BA77C0-372E-4A96-AA43-C4138A92A636}"/>
              </a:ext>
            </a:extLst>
          </p:cNvPr>
          <p:cNvSpPr>
            <a:spLocks noGrp="1"/>
          </p:cNvSpPr>
          <p:nvPr/>
        </p:nvSpPr>
        <p:spPr>
          <a:xfrm>
            <a:off x="8953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697ECE-0FEE-4D92-BA3C-0B08D8931CBF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2CC352-8F1A-43F5-A6A7-CC5535504262}"/>
              </a:ext>
            </a:extLst>
          </p:cNvPr>
          <p:cNvSpPr>
            <a:spLocks noGrp="1"/>
          </p:cNvSpPr>
          <p:nvPr/>
        </p:nvSpPr>
        <p:spPr>
          <a:xfrm>
            <a:off x="10477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има пословно значење које сви чланови тима тумаче на исти начин.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F9E05-54DC-45FA-A114-3DD4EBC607C8}"/>
              </a:ext>
            </a:extLst>
          </p:cNvPr>
          <p:cNvSpPr>
            <a:spLocks noGrp="1"/>
          </p:cNvSpPr>
          <p:nvPr/>
        </p:nvSpPr>
        <p:spPr>
          <a:xfrm>
            <a:off x="10477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BFFE43-1E0D-4542-9BF0-F23C1D4E99E4}"/>
              </a:ext>
            </a:extLst>
          </p:cNvPr>
          <p:cNvSpPr>
            <a:spLocks noGrp="1"/>
          </p:cNvSpPr>
          <p:nvPr/>
        </p:nvSpPr>
        <p:spPr>
          <a:xfrm>
            <a:off x="445770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F526B8-8E5D-4772-9EB4-4463C06CD484}"/>
              </a:ext>
            </a:extLst>
          </p:cNvPr>
          <p:cNvSpPr>
            <a:spLocks noGrp="1"/>
          </p:cNvSpPr>
          <p:nvPr/>
        </p:nvSpPr>
        <p:spPr>
          <a:xfrm>
            <a:off x="461010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46F888-8644-4510-94AC-14DDCBD70484}"/>
              </a:ext>
            </a:extLst>
          </p:cNvPr>
          <p:cNvSpPr>
            <a:spLocks noGrp="1"/>
          </p:cNvSpPr>
          <p:nvPr/>
        </p:nvSpPr>
        <p:spPr>
          <a:xfrm>
            <a:off x="461010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за приказ и извоз треба да буду строжа када последице грешке расту.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A2F0F3-3407-4FF0-AA38-ED7F8376958E}"/>
              </a:ext>
            </a:extLst>
          </p:cNvPr>
          <p:cNvSpPr>
            <a:spLocks noGrp="1"/>
          </p:cNvSpPr>
          <p:nvPr/>
        </p:nvSpPr>
        <p:spPr>
          <a:xfrm>
            <a:off x="461010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10F66EC-86FB-4DCE-8AA7-922025611B81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3257550" cy="1952625"/>
          </a:xfrm>
          <a:prstGeom prst="roundRect">
            <a:avLst>
              <a:gd name="adj" fmla="val 682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D55B23-3D1D-4157-AAA0-8431044FD66A}"/>
              </a:ext>
            </a:extLst>
          </p:cNvPr>
          <p:cNvSpPr>
            <a:spLocks noGrp="1"/>
          </p:cNvSpPr>
          <p:nvPr/>
        </p:nvSpPr>
        <p:spPr>
          <a:xfrm>
            <a:off x="8172450" y="2552700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69C80D-73D9-4625-9AF2-A00AC2D21122}"/>
              </a:ext>
            </a:extLst>
          </p:cNvPr>
          <p:cNvSpPr>
            <a:spLocks noGrp="1"/>
          </p:cNvSpPr>
          <p:nvPr/>
        </p:nvSpPr>
        <p:spPr>
          <a:xfrm>
            <a:off x="8172450" y="2800350"/>
            <a:ext cx="2952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3046"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Власник податка одговара за оправданост промене класификације, а систем чува траг те промене.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C5F890-4097-456A-A208-A2FF2EA56D08}"/>
              </a:ext>
            </a:extLst>
          </p:cNvPr>
          <p:cNvSpPr>
            <a:spLocks noGrp="1"/>
          </p:cNvSpPr>
          <p:nvPr/>
        </p:nvSpPr>
        <p:spPr>
          <a:xfrm>
            <a:off x="8172450" y="3648075"/>
            <a:ext cx="29527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46E881F-A732-4729-BCE4-B85C285D0DC9}"/>
              </a:ext>
            </a:extLst>
          </p:cNvPr>
          <p:cNvSpPr>
            <a:spLocks noGrp="1"/>
          </p:cNvSpPr>
          <p:nvPr/>
        </p:nvSpPr>
        <p:spPr>
          <a:xfrm>
            <a:off x="1600200" y="4752975"/>
            <a:ext cx="8991600" cy="74295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147E546-DF33-4C68-AC33-B245B2C3CF50}"/>
              </a:ext>
            </a:extLst>
          </p:cNvPr>
          <p:cNvSpPr>
            <a:spLocks noGrp="1"/>
          </p:cNvSpPr>
          <p:nvPr/>
        </p:nvSpPr>
        <p:spPr>
          <a:xfrm>
            <a:off x="1733550" y="4895850"/>
            <a:ext cx="57150" cy="4572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10F894D-B6B1-4D0A-9FF9-102E84A06AAA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928D4DB-94DE-4358-A9F5-9FEE9D77B808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F2CC7D-CEA1-483E-8AA1-6705729FC728}"/>
              </a:ext>
            </a:extLst>
          </p:cNvPr>
          <p:cNvSpPr>
            <a:spLocks noGrp="1"/>
          </p:cNvSpPr>
          <p:nvPr/>
        </p:nvSpPr>
        <p:spPr>
          <a:xfrm>
            <a:off x="1333500" y="48672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ДИСКУСИЈУ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757245-A9E6-4673-8C31-71F3E0FC25FA}"/>
              </a:ext>
            </a:extLst>
          </p:cNvPr>
          <p:cNvSpPr>
            <a:spLocks noGrp="1"/>
          </p:cNvSpPr>
          <p:nvPr/>
        </p:nvSpPr>
        <p:spPr>
          <a:xfrm>
            <a:off x="1333500" y="50958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7164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BC5B67A-01F5-479D-ACF2-C2CF159C9481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E7FCB8DA-AC37-4612-8BF7-E2FC4C824297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09AAFB-D9ED-45CF-9093-407819054A0E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A80B50-D59A-4F48-85DD-6CB7B6DD7FE5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Нивои провере приступа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8933A9-988D-467B-87B3-A4A517651A90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Поређење служи да се разлике виде без тешке табеле и ситног текста.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289AED-7324-49A0-9C38-C97899FD77E0}"/>
              </a:ext>
            </a:extLst>
          </p:cNvPr>
          <p:cNvSpPr>
            <a:spLocks noGrp="1"/>
          </p:cNvSpPr>
          <p:nvPr/>
        </p:nvSpPr>
        <p:spPr>
          <a:xfrm>
            <a:off x="876300" y="2047875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Ниво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E63B21-22C2-4BB7-B8B5-F830E06FC99F}"/>
              </a:ext>
            </a:extLst>
          </p:cNvPr>
          <p:cNvSpPr>
            <a:spLocks noGrp="1"/>
          </p:cNvSpPr>
          <p:nvPr/>
        </p:nvSpPr>
        <p:spPr>
          <a:xfrm>
            <a:off x="3638550" y="2047875"/>
            <a:ext cx="361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проверава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129746-DBF2-4BD9-9101-8E127B210D37}"/>
              </a:ext>
            </a:extLst>
          </p:cNvPr>
          <p:cNvSpPr>
            <a:spLocks noGrp="1"/>
          </p:cNvSpPr>
          <p:nvPr/>
        </p:nvSpPr>
        <p:spPr>
          <a:xfrm>
            <a:off x="7543800" y="2047875"/>
            <a:ext cx="3771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Зашто није довољан сам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DEF4FB5-7A95-41A3-A582-8C9EE03FF6D0}"/>
              </a:ext>
            </a:extLst>
          </p:cNvPr>
          <p:cNvSpPr>
            <a:spLocks noGrp="1"/>
          </p:cNvSpPr>
          <p:nvPr/>
        </p:nvSpPr>
        <p:spPr>
          <a:xfrm>
            <a:off x="800100" y="236220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1D213F-6F24-4310-8F20-9B0692B164EA}"/>
              </a:ext>
            </a:extLst>
          </p:cNvPr>
          <p:cNvSpPr>
            <a:spLocks noGrp="1"/>
          </p:cNvSpPr>
          <p:nvPr/>
        </p:nvSpPr>
        <p:spPr>
          <a:xfrm>
            <a:off x="952500" y="24860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Пријава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2A79BE-38CC-44BD-B161-4017E8A5483E}"/>
              </a:ext>
            </a:extLst>
          </p:cNvPr>
          <p:cNvSpPr>
            <a:spLocks noGrp="1"/>
          </p:cNvSpPr>
          <p:nvPr/>
        </p:nvSpPr>
        <p:spPr>
          <a:xfrm>
            <a:off x="3638550" y="24288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 субјекта.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C7FCC-F11C-43BE-8BBE-096303EA815D}"/>
              </a:ext>
            </a:extLst>
          </p:cNvPr>
          <p:cNvSpPr>
            <a:spLocks noGrp="1"/>
          </p:cNvSpPr>
          <p:nvPr/>
        </p:nvSpPr>
        <p:spPr>
          <a:xfrm>
            <a:off x="7543800" y="24288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говори шта субјекат сме да уради.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AFDB29A-829E-461A-B57F-938C8C5D1B14}"/>
              </a:ext>
            </a:extLst>
          </p:cNvPr>
          <p:cNvSpPr>
            <a:spLocks noGrp="1"/>
          </p:cNvSpPr>
          <p:nvPr/>
        </p:nvSpPr>
        <p:spPr>
          <a:xfrm>
            <a:off x="800100" y="310515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82B17D-46C8-415E-BD32-A0B22B48E0E9}"/>
              </a:ext>
            </a:extLst>
          </p:cNvPr>
          <p:cNvSpPr>
            <a:spLocks noGrp="1"/>
          </p:cNvSpPr>
          <p:nvPr/>
        </p:nvSpPr>
        <p:spPr>
          <a:xfrm>
            <a:off x="952500" y="32289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F476D3-3E5C-45F6-87AD-BFD9E38444B7}"/>
              </a:ext>
            </a:extLst>
          </p:cNvPr>
          <p:cNvSpPr>
            <a:spLocks noGrp="1"/>
          </p:cNvSpPr>
          <p:nvPr/>
        </p:nvSpPr>
        <p:spPr>
          <a:xfrm>
            <a:off x="3638550" y="31718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Општи скуп одговорности.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DCA9EB-DCE3-41FE-8894-FC2E3DAAB66A}"/>
              </a:ext>
            </a:extLst>
          </p:cNvPr>
          <p:cNvSpPr>
            <a:spLocks noGrp="1"/>
          </p:cNvSpPr>
          <p:nvPr/>
        </p:nvSpPr>
        <p:spPr>
          <a:xfrm>
            <a:off x="7543800" y="31718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зна однос према конкретном запису.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7F6C655-298E-4E75-8DBA-1AD3EDB43EA1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9CE3B3-2371-4125-AE64-8BCE126F18AF}"/>
              </a:ext>
            </a:extLst>
          </p:cNvPr>
          <p:cNvSpPr>
            <a:spLocks noGrp="1"/>
          </p:cNvSpPr>
          <p:nvPr/>
        </p:nvSpPr>
        <p:spPr>
          <a:xfrm>
            <a:off x="952500" y="39719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71B6FA-E738-4EB6-A936-035F7DCBC7AA}"/>
              </a:ext>
            </a:extLst>
          </p:cNvPr>
          <p:cNvSpPr>
            <a:spLocks noGrp="1"/>
          </p:cNvSpPr>
          <p:nvPr/>
        </p:nvSpPr>
        <p:spPr>
          <a:xfrm>
            <a:off x="3638550" y="39147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Власништво, припадност и класификацију.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CE5CD4-CC05-42C5-9568-ECB66375AC6F}"/>
              </a:ext>
            </a:extLst>
          </p:cNvPr>
          <p:cNvSpPr>
            <a:spLocks noGrp="1"/>
          </p:cNvSpPr>
          <p:nvPr/>
        </p:nvSpPr>
        <p:spPr>
          <a:xfrm>
            <a:off x="7543800" y="391477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Мора се комбиновати са радњом и политиком.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EBEC2C8-812A-4AD5-A4C7-9CC9C62CE7AB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10591800" cy="609600"/>
          </a:xfrm>
          <a:prstGeom prst="roundRect">
            <a:avLst>
              <a:gd name="adj" fmla="val 17188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6A78283-2DFE-4535-B200-0A744735E6A8}"/>
              </a:ext>
            </a:extLst>
          </p:cNvPr>
          <p:cNvSpPr>
            <a:spLocks noGrp="1"/>
          </p:cNvSpPr>
          <p:nvPr/>
        </p:nvSpPr>
        <p:spPr>
          <a:xfrm>
            <a:off x="952500" y="471487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1C32701-FA27-4C56-A2C3-1D34B8E6F693}"/>
              </a:ext>
            </a:extLst>
          </p:cNvPr>
          <p:cNvSpPr>
            <a:spLocks noGrp="1"/>
          </p:cNvSpPr>
          <p:nvPr/>
        </p:nvSpPr>
        <p:spPr>
          <a:xfrm>
            <a:off x="3638550" y="46577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Време, стање и пословно оправдање.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52FA9C-800D-45D2-8E0D-B4CE7F3DD7B4}"/>
              </a:ext>
            </a:extLst>
          </p:cNvPr>
          <p:cNvSpPr>
            <a:spLocks noGrp="1"/>
          </p:cNvSpPr>
          <p:nvPr/>
        </p:nvSpPr>
        <p:spPr>
          <a:xfrm>
            <a:off x="7543800" y="4657725"/>
            <a:ext cx="3619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Може променити закључак за исту улогу.</a:t>
            </a:r>
          </a:p>
        </p:txBody>
      </p:sp>
    </p:spTree>
    <p:extLst>
      <p:ext uri="{BB962C8B-B14F-4D97-AF65-F5344CB8AC3E}">
        <p14:creationId xmlns:p14="http://schemas.microsoft.com/office/powerpoint/2010/main" val="604981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BD387BA3-5965-4B73-94F5-358DFF1635BD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C258C937-4C60-4FED-B5AE-AF9D1BEC508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BEFEE-2150-43B7-9365-29452B4AC3F3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F5970F-2D58-4228-BC6E-716C2E073DF8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Шема заштите једног ресурса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D4C74E-4730-4C53-89F6-D7F6E50BE61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9683"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Идентификатор у адреси не представља право приступа. Однос субјекта према ресурсу проверава се на серверу.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305EAFE-77D9-46AF-86BE-94C10BE695F3}"/>
              </a:ext>
            </a:extLst>
          </p:cNvPr>
          <p:cNvSpPr>
            <a:spLocks noGrp="1"/>
          </p:cNvSpPr>
          <p:nvPr/>
        </p:nvSpPr>
        <p:spPr>
          <a:xfrm>
            <a:off x="742950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9274A7-D1DC-46E3-9229-D8F0EEEE2631}"/>
              </a:ext>
            </a:extLst>
          </p:cNvPr>
          <p:cNvSpPr>
            <a:spLocks noGrp="1"/>
          </p:cNvSpPr>
          <p:nvPr/>
        </p:nvSpPr>
        <p:spPr>
          <a:xfrm>
            <a:off x="885825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587A7-5166-4948-8E42-DA4C8C01126A}"/>
              </a:ext>
            </a:extLst>
          </p:cNvPr>
          <p:cNvSpPr>
            <a:spLocks noGrp="1"/>
          </p:cNvSpPr>
          <p:nvPr/>
        </p:nvSpPr>
        <p:spPr>
          <a:xfrm>
            <a:off x="876300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59204A-0456-4757-87DB-25BD9D4D579F}"/>
              </a:ext>
            </a:extLst>
          </p:cNvPr>
          <p:cNvSpPr>
            <a:spLocks noGrp="1"/>
          </p:cNvSpPr>
          <p:nvPr/>
        </p:nvSpPr>
        <p:spPr>
          <a:xfrm>
            <a:off x="885825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власник и класификација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B8C83DF-9478-458D-A933-DEAC4BDCE0F0}"/>
              </a:ext>
            </a:extLst>
          </p:cNvPr>
          <p:cNvSpPr>
            <a:spLocks noGrp="1"/>
          </p:cNvSpPr>
          <p:nvPr/>
        </p:nvSpPr>
        <p:spPr>
          <a:xfrm>
            <a:off x="3490913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EDF8FA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8556ED-05BA-4C16-927C-0432739618A4}"/>
              </a:ext>
            </a:extLst>
          </p:cNvPr>
          <p:cNvSpPr>
            <a:spLocks noGrp="1"/>
          </p:cNvSpPr>
          <p:nvPr/>
        </p:nvSpPr>
        <p:spPr>
          <a:xfrm>
            <a:off x="3633788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641044-AB1E-4741-B4B0-3352D04645FA}"/>
              </a:ext>
            </a:extLst>
          </p:cNvPr>
          <p:cNvSpPr>
            <a:spLocks noGrp="1"/>
          </p:cNvSpPr>
          <p:nvPr/>
        </p:nvSpPr>
        <p:spPr>
          <a:xfrm>
            <a:off x="3624263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Радња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0203-0189-49BF-81F2-13D6A7A99D76}"/>
              </a:ext>
            </a:extLst>
          </p:cNvPr>
          <p:cNvSpPr>
            <a:spLocks noGrp="1"/>
          </p:cNvSpPr>
          <p:nvPr/>
        </p:nvSpPr>
        <p:spPr>
          <a:xfrm>
            <a:off x="3633788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читање, измена или извоз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C32C490-AD33-43D6-B726-04EB909DA803}"/>
              </a:ext>
            </a:extLst>
          </p:cNvPr>
          <p:cNvSpPr>
            <a:spLocks noGrp="1"/>
          </p:cNvSpPr>
          <p:nvPr/>
        </p:nvSpPr>
        <p:spPr>
          <a:xfrm>
            <a:off x="6238875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E987AF-1AC9-40F4-A2F6-79B2CAE6D116}"/>
              </a:ext>
            </a:extLst>
          </p:cNvPr>
          <p:cNvSpPr>
            <a:spLocks noGrp="1"/>
          </p:cNvSpPr>
          <p:nvPr/>
        </p:nvSpPr>
        <p:spPr>
          <a:xfrm>
            <a:off x="6381750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DF44D-7771-4CF6-AD35-296BF851322C}"/>
              </a:ext>
            </a:extLst>
          </p:cNvPr>
          <p:cNvSpPr>
            <a:spLocks noGrp="1"/>
          </p:cNvSpPr>
          <p:nvPr/>
        </p:nvSpPr>
        <p:spPr>
          <a:xfrm>
            <a:off x="6372225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Серверска провера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149480-DB85-49BB-B8FB-EC64E4477C36}"/>
              </a:ext>
            </a:extLst>
          </p:cNvPr>
          <p:cNvSpPr>
            <a:spLocks noGrp="1"/>
          </p:cNvSpPr>
          <p:nvPr/>
        </p:nvSpPr>
        <p:spPr>
          <a:xfrm>
            <a:off x="6381750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субјекат, однос и правило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4FC90C3-B9A2-460C-9A86-98B4089F717C}"/>
              </a:ext>
            </a:extLst>
          </p:cNvPr>
          <p:cNvSpPr>
            <a:spLocks noGrp="1"/>
          </p:cNvSpPr>
          <p:nvPr/>
        </p:nvSpPr>
        <p:spPr>
          <a:xfrm>
            <a:off x="8986838" y="2571750"/>
            <a:ext cx="2462213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69500C-4BE4-4675-8D68-CB51C3FC9ED3}"/>
              </a:ext>
            </a:extLst>
          </p:cNvPr>
          <p:cNvSpPr>
            <a:spLocks noGrp="1"/>
          </p:cNvSpPr>
          <p:nvPr/>
        </p:nvSpPr>
        <p:spPr>
          <a:xfrm>
            <a:off x="9129713" y="2686050"/>
            <a:ext cx="2176463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B9F79BE-5F64-4BB5-B48D-C0783A279B50}"/>
              </a:ext>
            </a:extLst>
          </p:cNvPr>
          <p:cNvSpPr>
            <a:spLocks noGrp="1"/>
          </p:cNvSpPr>
          <p:nvPr/>
        </p:nvSpPr>
        <p:spPr>
          <a:xfrm>
            <a:off x="9120188" y="2971800"/>
            <a:ext cx="219551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Безбедан исход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700990-61ED-441D-A211-142192416EA9}"/>
              </a:ext>
            </a:extLst>
          </p:cNvPr>
          <p:cNvSpPr>
            <a:spLocks noGrp="1"/>
          </p:cNvSpPr>
          <p:nvPr/>
        </p:nvSpPr>
        <p:spPr>
          <a:xfrm>
            <a:off x="9129713" y="3362325"/>
            <a:ext cx="2176463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1699"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подаци или контролисано одбијање</a:t>
            </a:r>
          </a:p>
        </p:txBody>
      </p:sp>
      <p:cxnSp>
        <p:nvCxnSpPr>
          <p:cNvPr id="125" name="Straight Arrow Connector 124"/>
          <p:cNvCxnSpPr>
            <a:stCxn id="6" idx="3"/>
            <a:endCxn id="10" idx="1"/>
          </p:cNvCxnSpPr>
          <p:nvPr/>
        </p:nvCxnSpPr>
        <p:spPr>
          <a:xfrm>
            <a:off x="3205163" y="32004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6" name="Straight Arrow Connector 125"/>
          <p:cNvCxnSpPr>
            <a:stCxn id="10" idx="3"/>
            <a:endCxn id="14" idx="1"/>
          </p:cNvCxnSpPr>
          <p:nvPr/>
        </p:nvCxnSpPr>
        <p:spPr>
          <a:xfrm>
            <a:off x="5953126" y="320040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4" idx="3"/>
            <a:endCxn id="18" idx="1"/>
          </p:cNvCxnSpPr>
          <p:nvPr/>
        </p:nvCxnSpPr>
        <p:spPr>
          <a:xfrm>
            <a:off x="8701088" y="320040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C0E9DEE-D9A3-450F-9372-AE374F9B20B3}"/>
              </a:ext>
            </a:extLst>
          </p:cNvPr>
          <p:cNvSpPr>
            <a:spLocks noGrp="1"/>
          </p:cNvSpPr>
          <p:nvPr/>
        </p:nvSpPr>
        <p:spPr>
          <a:xfrm>
            <a:off x="1714500" y="4419600"/>
            <a:ext cx="8763000" cy="742950"/>
          </a:xfrm>
          <a:prstGeom prst="roundRect">
            <a:avLst>
              <a:gd name="adj" fmla="val 16667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BD37CE9-F4C3-4EB8-8CBC-7A85E53CAA98}"/>
              </a:ext>
            </a:extLst>
          </p:cNvPr>
          <p:cNvSpPr>
            <a:spLocks noGrp="1"/>
          </p:cNvSpPr>
          <p:nvPr/>
        </p:nvSpPr>
        <p:spPr>
          <a:xfrm>
            <a:off x="1847850" y="4562475"/>
            <a:ext cx="57150" cy="4572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FC2CEE38-69E5-461A-B0B0-A579E20D9038}"/>
              </a:ext>
            </a:extLst>
          </p:cNvPr>
          <p:cNvSpPr>
            <a:spLocks noGrp="1"/>
          </p:cNvSpPr>
          <p:nvPr/>
        </p:nvSpPr>
        <p:spPr>
          <a:xfrm>
            <a:off x="914400" y="443865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90EE5DAE-2BA1-479C-BEA2-54B755C1E0CF}"/>
              </a:ext>
            </a:extLst>
          </p:cNvPr>
          <p:cNvSpPr>
            <a:spLocks noGrp="1"/>
          </p:cNvSpPr>
          <p:nvPr/>
        </p:nvSpPr>
        <p:spPr>
          <a:xfrm>
            <a:off x="1085850" y="459105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6961065-3058-45BD-91FC-C677503BD81F}"/>
              </a:ext>
            </a:extLst>
          </p:cNvPr>
          <p:cNvSpPr>
            <a:spLocks noGrp="1"/>
          </p:cNvSpPr>
          <p:nvPr/>
        </p:nvSpPr>
        <p:spPr>
          <a:xfrm>
            <a:off x="1333500" y="45434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7B93255-412E-4449-8508-6EFC7885EA67}"/>
              </a:ext>
            </a:extLst>
          </p:cNvPr>
          <p:cNvSpPr>
            <a:spLocks noGrp="1"/>
          </p:cNvSpPr>
          <p:nvPr/>
        </p:nvSpPr>
        <p:spPr>
          <a:xfrm>
            <a:off x="1333500" y="477202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За сваки корак наведите ко га покреће, ко доноси одлуку и који траг остаје.</a:t>
            </a:r>
          </a:p>
        </p:txBody>
      </p:sp>
    </p:spTree>
    <p:extLst>
      <p:ext uri="{BB962C8B-B14F-4D97-AF65-F5344CB8AC3E}">
        <p14:creationId xmlns:p14="http://schemas.microsoft.com/office/powerpoint/2010/main" val="1007863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ADFA57C-7E31-4B7D-9528-17CA9E3FA9CB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8014680-BAAF-4218-B039-9C8B9C08F66F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16CB8A-190B-443C-8B38-1DF58534C01F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DF3ECD-A8BA-4284-8E87-3AE5D300EFB1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Животни циклус податка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BE91FE-3175-417F-8470-D70F1E2AD90B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 описа проблема до одлуке која може да се провери.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7435B5E-E6CA-4DEE-B940-DCC2A04E4822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4572000" cy="3143250"/>
          </a:xfrm>
          <a:prstGeom prst="roundRect">
            <a:avLst>
              <a:gd name="adj" fmla="val 4242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56E6EE-79AE-47F6-9FDA-4879569DC130}"/>
              </a:ext>
            </a:extLst>
          </p:cNvPr>
          <p:cNvSpPr>
            <a:spLocks noGrp="1"/>
          </p:cNvSpPr>
          <p:nvPr/>
        </p:nvSpPr>
        <p:spPr>
          <a:xfrm>
            <a:off x="933450" y="2276475"/>
            <a:ext cx="42672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F00FBB-B3E3-41B7-904C-756BE9B45240}"/>
              </a:ext>
            </a:extLst>
          </p:cNvPr>
          <p:cNvSpPr>
            <a:spLocks noGrp="1"/>
          </p:cNvSpPr>
          <p:nvPr/>
        </p:nvSpPr>
        <p:spPr>
          <a:xfrm>
            <a:off x="933450" y="2524125"/>
            <a:ext cx="42672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Животни циклус податка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91DBCD-7119-4D3E-98D1-C0E650D09809}"/>
              </a:ext>
            </a:extLst>
          </p:cNvPr>
          <p:cNvSpPr>
            <a:spLocks noGrp="1"/>
          </p:cNvSpPr>
          <p:nvPr/>
        </p:nvSpPr>
        <p:spPr>
          <a:xfrm>
            <a:off x="933450" y="3086100"/>
            <a:ext cx="4267200" cy="2105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Заштита података не завршава се у тренутку читања. Исти податак пролази кроз креирање, употребу, дељење, чување и уклањање. Свака фаза поставља друго питање о дозвољеном приступу и потребном трагу.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D2B15E8-1C9B-4F44-813A-5588336DFE70}"/>
              </a:ext>
            </a:extLst>
          </p:cNvPr>
          <p:cNvSpPr>
            <a:spLocks noGrp="1"/>
          </p:cNvSpPr>
          <p:nvPr/>
        </p:nvSpPr>
        <p:spPr>
          <a:xfrm>
            <a:off x="5772150" y="20955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1B7E90-BA8B-47F0-A32B-164ACD2EAA53}"/>
              </a:ext>
            </a:extLst>
          </p:cNvPr>
          <p:cNvSpPr>
            <a:spLocks noGrp="1"/>
          </p:cNvSpPr>
          <p:nvPr/>
        </p:nvSpPr>
        <p:spPr>
          <a:xfrm>
            <a:off x="5924550" y="22193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3953E3-DF90-48B1-8601-9CC0A920DDD8}"/>
              </a:ext>
            </a:extLst>
          </p:cNvPr>
          <p:cNvSpPr>
            <a:spLocks noGrp="1"/>
          </p:cNvSpPr>
          <p:nvPr/>
        </p:nvSpPr>
        <p:spPr>
          <a:xfrm>
            <a:off x="5924550" y="24669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креирању се одређују власник и класификација.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E76BDC8-D8FF-4866-B3B4-439CFCCFD9A3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D85A31B-048F-4B11-BF5A-90AB4CB0D7CB}"/>
              </a:ext>
            </a:extLst>
          </p:cNvPr>
          <p:cNvSpPr>
            <a:spLocks noGrp="1"/>
          </p:cNvSpPr>
          <p:nvPr/>
        </p:nvSpPr>
        <p:spPr>
          <a:xfrm>
            <a:off x="5924550" y="30956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D72023-D1B9-4133-BE77-070F775DB439}"/>
              </a:ext>
            </a:extLst>
          </p:cNvPr>
          <p:cNvSpPr>
            <a:spLocks noGrp="1"/>
          </p:cNvSpPr>
          <p:nvPr/>
        </p:nvSpPr>
        <p:spPr>
          <a:xfrm>
            <a:off x="5924550" y="33432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коришћењу се проверава сврха и опсег приступа.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E861F12-4EC9-4250-879F-CC4DE8196BFE}"/>
              </a:ext>
            </a:extLst>
          </p:cNvPr>
          <p:cNvSpPr>
            <a:spLocks noGrp="1"/>
          </p:cNvSpPr>
          <p:nvPr/>
        </p:nvSpPr>
        <p:spPr>
          <a:xfrm>
            <a:off x="5772150" y="38481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153001-2583-4F19-B9CD-5AAC483C44BE}"/>
              </a:ext>
            </a:extLst>
          </p:cNvPr>
          <p:cNvSpPr>
            <a:spLocks noGrp="1"/>
          </p:cNvSpPr>
          <p:nvPr/>
        </p:nvSpPr>
        <p:spPr>
          <a:xfrm>
            <a:off x="5924550" y="39719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82DC76-F87C-4E84-8FA6-96471EA4F9FF}"/>
              </a:ext>
            </a:extLst>
          </p:cNvPr>
          <p:cNvSpPr>
            <a:spLocks noGrp="1"/>
          </p:cNvSpPr>
          <p:nvPr/>
        </p:nvSpPr>
        <p:spPr>
          <a:xfrm>
            <a:off x="5924550" y="42195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5316"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дељењу се проверава граница поверења и минимални скуп података.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2F1DD49-B6CD-46CF-8DCD-6C6C6347181D}"/>
              </a:ext>
            </a:extLst>
          </p:cNvPr>
          <p:cNvSpPr>
            <a:spLocks noGrp="1"/>
          </p:cNvSpPr>
          <p:nvPr/>
        </p:nvSpPr>
        <p:spPr>
          <a:xfrm>
            <a:off x="5772150" y="4724400"/>
            <a:ext cx="5638800" cy="723900"/>
          </a:xfrm>
          <a:prstGeom prst="roundRect">
            <a:avLst>
              <a:gd name="adj" fmla="val 18421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47A6E37-D393-43E9-B1CF-8CF928762B94}"/>
              </a:ext>
            </a:extLst>
          </p:cNvPr>
          <p:cNvSpPr>
            <a:spLocks noGrp="1"/>
          </p:cNvSpPr>
          <p:nvPr/>
        </p:nvSpPr>
        <p:spPr>
          <a:xfrm>
            <a:off x="5924550" y="4848225"/>
            <a:ext cx="5334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F4DC51-BB91-43C0-905C-F23C543AF98C}"/>
              </a:ext>
            </a:extLst>
          </p:cNvPr>
          <p:cNvSpPr>
            <a:spLocks noGrp="1"/>
          </p:cNvSpPr>
          <p:nvPr/>
        </p:nvSpPr>
        <p:spPr>
          <a:xfrm>
            <a:off x="5924550" y="50958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чувању и уклањању важе ретентион и audit правила.</a:t>
            </a:r>
          </a:p>
        </p:txBody>
      </p:sp>
    </p:spTree>
    <p:extLst>
      <p:ext uri="{BB962C8B-B14F-4D97-AF65-F5344CB8AC3E}">
        <p14:creationId xmlns:p14="http://schemas.microsoft.com/office/powerpoint/2010/main" val="6866376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9E8D9CF-F8AE-4DBB-B612-40567474CC41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49E159CC-3D21-4859-B06B-DEDD0127860A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D57662-CF60-4E60-AE2A-9C8C0D2305EE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1DE885-8269-4294-A346-E333D266D85F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Одлука мора имати контекст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8A2984-4A42-406C-81A9-89AF35025B5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Три правила која треба да остану видљива у имплементацији и ревизији.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B6E1B32-538F-40FB-A501-65847EC8B9A3}"/>
              </a:ext>
            </a:extLst>
          </p:cNvPr>
          <p:cNvSpPr>
            <a:spLocks noGrp="1"/>
          </p:cNvSpPr>
          <p:nvPr/>
        </p:nvSpPr>
        <p:spPr>
          <a:xfrm>
            <a:off x="819150" y="2400300"/>
            <a:ext cx="3257550" cy="2343150"/>
          </a:xfrm>
          <a:prstGeom prst="roundRect">
            <a:avLst>
              <a:gd name="adj" fmla="val 5691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A68A6-598C-4703-A175-E823E84D2F37}"/>
              </a:ext>
            </a:extLst>
          </p:cNvPr>
          <p:cNvSpPr>
            <a:spLocks noGrp="1"/>
          </p:cNvSpPr>
          <p:nvPr/>
        </p:nvSpPr>
        <p:spPr>
          <a:xfrm>
            <a:off x="971550" y="252412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1F7BB7-5683-460F-8718-4BBF9E97E424}"/>
              </a:ext>
            </a:extLst>
          </p:cNvPr>
          <p:cNvSpPr>
            <a:spLocks noGrp="1"/>
          </p:cNvSpPr>
          <p:nvPr/>
        </p:nvSpPr>
        <p:spPr>
          <a:xfrm>
            <a:off x="971550" y="2771775"/>
            <a:ext cx="29527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права укључује субјект, радњу, ресурс и његову припадност.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2FC82A-D388-44CE-A3FB-C5FFBE7A85D3}"/>
              </a:ext>
            </a:extLst>
          </p:cNvPr>
          <p:cNvSpPr>
            <a:spLocks noGrp="1"/>
          </p:cNvSpPr>
          <p:nvPr/>
        </p:nvSpPr>
        <p:spPr>
          <a:xfrm>
            <a:off x="971550" y="3981450"/>
            <a:ext cx="2952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Јасно правило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8721DAA-2B33-4BBB-9014-8B7CDE3E1C81}"/>
              </a:ext>
            </a:extLst>
          </p:cNvPr>
          <p:cNvSpPr>
            <a:spLocks noGrp="1"/>
          </p:cNvSpPr>
          <p:nvPr/>
        </p:nvSpPr>
        <p:spPr>
          <a:xfrm>
            <a:off x="4467225" y="2400300"/>
            <a:ext cx="3257550" cy="2343150"/>
          </a:xfrm>
          <a:prstGeom prst="roundRect">
            <a:avLst>
              <a:gd name="adj" fmla="val 5691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8C4055-522F-4D45-AEF3-BC9084C6AE3B}"/>
              </a:ext>
            </a:extLst>
          </p:cNvPr>
          <p:cNvSpPr>
            <a:spLocks noGrp="1"/>
          </p:cNvSpPr>
          <p:nvPr/>
        </p:nvSpPr>
        <p:spPr>
          <a:xfrm>
            <a:off x="4619625" y="252412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12DD69-0466-47C9-8B07-62657734AB60}"/>
              </a:ext>
            </a:extLst>
          </p:cNvPr>
          <p:cNvSpPr>
            <a:spLocks noGrp="1"/>
          </p:cNvSpPr>
          <p:nvPr/>
        </p:nvSpPr>
        <p:spPr>
          <a:xfrm>
            <a:off x="4619625" y="2771775"/>
            <a:ext cx="29527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не треба да открива садржај нити постојање туђег осетљивог ресурса.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35A630-0F65-450B-B190-47906617565D}"/>
              </a:ext>
            </a:extLst>
          </p:cNvPr>
          <p:cNvSpPr>
            <a:spLocks noGrp="1"/>
          </p:cNvSpPr>
          <p:nvPr/>
        </p:nvSpPr>
        <p:spPr>
          <a:xfrm>
            <a:off x="4619625" y="3981450"/>
            <a:ext cx="2952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Проверљива примена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7B5289C-9751-448B-8A0A-4A06F8BE1AA5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3257550" cy="2343150"/>
          </a:xfrm>
          <a:prstGeom prst="roundRect">
            <a:avLst>
              <a:gd name="adj" fmla="val 5691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FFD8BA-10C6-4887-9CCB-FB2FBE8A0175}"/>
              </a:ext>
            </a:extLst>
          </p:cNvPr>
          <p:cNvSpPr>
            <a:spLocks noGrp="1"/>
          </p:cNvSpPr>
          <p:nvPr/>
        </p:nvSpPr>
        <p:spPr>
          <a:xfrm>
            <a:off x="8267700" y="252412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E50752-7A75-4D4D-B962-A17FF9CE8447}"/>
              </a:ext>
            </a:extLst>
          </p:cNvPr>
          <p:cNvSpPr>
            <a:spLocks noGrp="1"/>
          </p:cNvSpPr>
          <p:nvPr/>
        </p:nvSpPr>
        <p:spPr>
          <a:xfrm>
            <a:off x="8267700" y="2771775"/>
            <a:ext cx="29527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није етикета за документацију, већ улаз у правила руковања подацима.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315F9C-EB1D-4386-91CC-82CE998B61AE}"/>
              </a:ext>
            </a:extLst>
          </p:cNvPr>
          <p:cNvSpPr>
            <a:spLocks noGrp="1"/>
          </p:cNvSpPr>
          <p:nvPr/>
        </p:nvSpPr>
        <p:spPr>
          <a:xfrm>
            <a:off x="8267700" y="3981450"/>
            <a:ext cx="2952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Видљив доказ</a:t>
            </a:r>
          </a:p>
        </p:txBody>
      </p:sp>
    </p:spTree>
    <p:extLst>
      <p:ext uri="{BB962C8B-B14F-4D97-AF65-F5344CB8AC3E}">
        <p14:creationId xmlns:p14="http://schemas.microsoft.com/office/powerpoint/2010/main" val="837706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198844D-277A-486F-9ACF-2CD20692E962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B9CABE05-6393-4251-9F8A-E88F2D4FDA5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FFB6D4-3B66-4C75-9859-0FD37AC2CFC1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1B533E-249D-4613-96B9-E712521F46C5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Како се ова тема види у развоју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7FE16A-E85C-4B2B-875E-02C3FFF0D398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Тема се види у малим одлукама током развоја, не само у завршној документацији.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06A2DDC-FF1E-447D-82DF-56B0E0E1679D}"/>
              </a:ext>
            </a:extLst>
          </p:cNvPr>
          <p:cNvSpPr>
            <a:spLocks noGrp="1"/>
          </p:cNvSpPr>
          <p:nvPr/>
        </p:nvSpPr>
        <p:spPr>
          <a:xfrm>
            <a:off x="800100" y="2209800"/>
            <a:ext cx="4810125" cy="2857500"/>
          </a:xfrm>
          <a:prstGeom prst="roundRect">
            <a:avLst>
              <a:gd name="adj" fmla="val 4667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4CB545-EBB7-4CA8-9AA0-765505D177B3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450532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РАЗВОЈНИ КОНТЕКСТ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D74EF-BDC6-40A2-9D15-586D46096140}"/>
              </a:ext>
            </a:extLst>
          </p:cNvPr>
          <p:cNvSpPr>
            <a:spLocks noGrp="1"/>
          </p:cNvSpPr>
          <p:nvPr/>
        </p:nvSpPr>
        <p:spPr>
          <a:xfrm>
            <a:off x="952500" y="2581275"/>
            <a:ext cx="45053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 принципа до радног кода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2A454B-7D09-4C82-9C62-85A53FC92BEB}"/>
              </a:ext>
            </a:extLst>
          </p:cNvPr>
          <p:cNvSpPr>
            <a:spLocks noGrp="1"/>
          </p:cNvSpPr>
          <p:nvPr/>
        </p:nvSpPr>
        <p:spPr>
          <a:xfrm>
            <a:off x="952500" y="3124200"/>
            <a:ext cx="4505325" cy="1838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 сваку значајну операцију тим формулише и позитиван и негативан сценарио. Негативан сценарио проверава да правилно пријављен корисник не може да заобиђе власништво променом идентификатора или позивом API-ја ван интерфејса.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B815A93-3CCD-4CA7-B71A-763BFE2B06E2}"/>
              </a:ext>
            </a:extLst>
          </p:cNvPr>
          <p:cNvSpPr>
            <a:spLocks noGrp="1"/>
          </p:cNvSpPr>
          <p:nvPr/>
        </p:nvSpPr>
        <p:spPr>
          <a:xfrm>
            <a:off x="6038850" y="2209800"/>
            <a:ext cx="5353050" cy="819150"/>
          </a:xfrm>
          <a:prstGeom prst="roundRect">
            <a:avLst>
              <a:gd name="adj" fmla="val 16279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D04840-D0D7-4DBE-B950-DC41BAECF634}"/>
              </a:ext>
            </a:extLst>
          </p:cNvPr>
          <p:cNvSpPr>
            <a:spLocks noGrp="1"/>
          </p:cNvSpPr>
          <p:nvPr/>
        </p:nvSpPr>
        <p:spPr>
          <a:xfrm>
            <a:off x="6191250" y="2333625"/>
            <a:ext cx="5048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B90033-B43F-4315-A6AD-BB466337EAC7}"/>
              </a:ext>
            </a:extLst>
          </p:cNvPr>
          <p:cNvSpPr>
            <a:spLocks noGrp="1"/>
          </p:cNvSpPr>
          <p:nvPr/>
        </p:nvSpPr>
        <p:spPr>
          <a:xfrm>
            <a:off x="6191250" y="258127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Именуј одлуку и њену границу.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29EFCBF-FD7D-4BAA-985D-2914B6F8D6D9}"/>
              </a:ext>
            </a:extLst>
          </p:cNvPr>
          <p:cNvSpPr>
            <a:spLocks noGrp="1"/>
          </p:cNvSpPr>
          <p:nvPr/>
        </p:nvSpPr>
        <p:spPr>
          <a:xfrm>
            <a:off x="6038850" y="3200400"/>
            <a:ext cx="5353050" cy="819150"/>
          </a:xfrm>
          <a:prstGeom prst="roundRect">
            <a:avLst>
              <a:gd name="adj" fmla="val 16279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DA9875-471C-4B52-90BD-0608E8714D2C}"/>
              </a:ext>
            </a:extLst>
          </p:cNvPr>
          <p:cNvSpPr>
            <a:spLocks noGrp="1"/>
          </p:cNvSpPr>
          <p:nvPr/>
        </p:nvSpPr>
        <p:spPr>
          <a:xfrm>
            <a:off x="6191250" y="3324225"/>
            <a:ext cx="5048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5C0682-89F3-4748-9A38-8D63CB56401A}"/>
              </a:ext>
            </a:extLst>
          </p:cNvPr>
          <p:cNvSpPr>
            <a:spLocks noGrp="1"/>
          </p:cNvSpPr>
          <p:nvPr/>
        </p:nvSpPr>
        <p:spPr>
          <a:xfrm>
            <a:off x="6191250" y="357187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Имплементирај проверу на серверу.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B3D8C5D-49DA-4C5B-BA7B-77D58F5B76D9}"/>
              </a:ext>
            </a:extLst>
          </p:cNvPr>
          <p:cNvSpPr>
            <a:spLocks noGrp="1"/>
          </p:cNvSpPr>
          <p:nvPr/>
        </p:nvSpPr>
        <p:spPr>
          <a:xfrm>
            <a:off x="6038850" y="4191000"/>
            <a:ext cx="5353050" cy="819150"/>
          </a:xfrm>
          <a:prstGeom prst="roundRect">
            <a:avLst>
              <a:gd name="adj" fmla="val 1627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0FC087-FA9E-4AB9-8516-557C123EB58A}"/>
              </a:ext>
            </a:extLst>
          </p:cNvPr>
          <p:cNvSpPr>
            <a:spLocks noGrp="1"/>
          </p:cNvSpPr>
          <p:nvPr/>
        </p:nvSpPr>
        <p:spPr>
          <a:xfrm>
            <a:off x="6191250" y="4314825"/>
            <a:ext cx="5048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218A94-EEDD-41D0-8F28-B778DD4AAC53}"/>
              </a:ext>
            </a:extLst>
          </p:cNvPr>
          <p:cNvSpPr>
            <a:spLocks noGrp="1"/>
          </p:cNvSpPr>
          <p:nvPr/>
        </p:nvSpPr>
        <p:spPr>
          <a:xfrm>
            <a:off x="6191250" y="4562475"/>
            <a:ext cx="5048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Додај позитиван и негативан доказ.</a:t>
            </a:r>
          </a:p>
        </p:txBody>
      </p:sp>
    </p:spTree>
    <p:extLst>
      <p:ext uri="{BB962C8B-B14F-4D97-AF65-F5344CB8AC3E}">
        <p14:creationId xmlns:p14="http://schemas.microsoft.com/office/powerpoint/2010/main" val="1213588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5E21E69-70B5-43C7-B302-B5F459919608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54861363-7A89-490C-8BBE-0CBD0B4F591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0C7750-DDF7-47AE-B4A0-9FE6BB084938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A2CA1C-27E7-4A3C-B96D-FBBC219A4182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Пример: исправна улога, погрешан запис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15107E-5EB6-42EF-883D-29BE5086A09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Конкретан случај показује где опште правило постаје стварна одлука система.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A91D0A-337C-49D8-8B22-C94F5DAED2AD}"/>
              </a:ext>
            </a:extLst>
          </p:cNvPr>
          <p:cNvSpPr>
            <a:spLocks noGrp="1"/>
          </p:cNvSpPr>
          <p:nvPr/>
        </p:nvSpPr>
        <p:spPr>
          <a:xfrm>
            <a:off x="781050" y="2143125"/>
            <a:ext cx="10629900" cy="1619250"/>
          </a:xfrm>
          <a:prstGeom prst="roundRect">
            <a:avLst>
              <a:gd name="adj" fmla="val 8235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2FBDA9-E923-4E23-A6E4-53E0156CA24E}"/>
              </a:ext>
            </a:extLst>
          </p:cNvPr>
          <p:cNvSpPr>
            <a:spLocks noGrp="1"/>
          </p:cNvSpPr>
          <p:nvPr/>
        </p:nvSpPr>
        <p:spPr>
          <a:xfrm>
            <a:off x="933450" y="2266950"/>
            <a:ext cx="10325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B34F36-892F-4CE7-A201-034CAAF05651}"/>
              </a:ext>
            </a:extLst>
          </p:cNvPr>
          <p:cNvSpPr>
            <a:spLocks noGrp="1"/>
          </p:cNvSpPr>
          <p:nvPr/>
        </p:nvSpPr>
        <p:spPr>
          <a:xfrm>
            <a:off x="933450" y="2514600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Пример: исправна улога, погрешан запис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240096-C036-49CE-BD29-3CE1120B9AF1}"/>
              </a:ext>
            </a:extLst>
          </p:cNvPr>
          <p:cNvSpPr>
            <a:spLocks noGrp="1"/>
          </p:cNvSpPr>
          <p:nvPr/>
        </p:nvSpPr>
        <p:spPr>
          <a:xfrm>
            <a:off x="933450" y="2981325"/>
            <a:ext cx="10325100" cy="676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Два члана тима имају исту улогу и обојица могу да прегледају захтеве. Један мења идентификатор у адреси захтева и долази до туђег записа. Систем који проверава само улогу сматра захтев дозвољеним, иако се променио најважнији део контекста: однос корисника према конкретном ресурсу.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CC2FBC0-AE50-471F-BB40-B2AEBC9BC106}"/>
              </a:ext>
            </a:extLst>
          </p:cNvPr>
          <p:cNvSpPr>
            <a:spLocks noGrp="1"/>
          </p:cNvSpPr>
          <p:nvPr/>
        </p:nvSpPr>
        <p:spPr>
          <a:xfrm>
            <a:off x="781050" y="4048125"/>
            <a:ext cx="3352800" cy="1352550"/>
          </a:xfrm>
          <a:prstGeom prst="roundRect">
            <a:avLst>
              <a:gd name="adj" fmla="val 9859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D3126B-ADFF-4898-9F4E-5CE234F8FABF}"/>
              </a:ext>
            </a:extLst>
          </p:cNvPr>
          <p:cNvSpPr>
            <a:spLocks noGrp="1"/>
          </p:cNvSpPr>
          <p:nvPr/>
        </p:nvSpPr>
        <p:spPr>
          <a:xfrm>
            <a:off x="933450" y="4171950"/>
            <a:ext cx="3048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B7B2D7-B9A2-4BB1-88DD-CBB8654419D3}"/>
              </a:ext>
            </a:extLst>
          </p:cNvPr>
          <p:cNvSpPr>
            <a:spLocks noGrp="1"/>
          </p:cNvSpPr>
          <p:nvPr/>
        </p:nvSpPr>
        <p:spPr>
          <a:xfrm>
            <a:off x="933450" y="4419600"/>
            <a:ext cx="3048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 укључује идентитет, тражену радњу, ресурс и припадност ресурса одговарајућем домену или власнику.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F32ABCF-62AF-4FF3-AB7D-8999EBAC7DF4}"/>
              </a:ext>
            </a:extLst>
          </p:cNvPr>
          <p:cNvSpPr>
            <a:spLocks noGrp="1"/>
          </p:cNvSpPr>
          <p:nvPr/>
        </p:nvSpPr>
        <p:spPr>
          <a:xfrm>
            <a:off x="4391025" y="4048125"/>
            <a:ext cx="3352800" cy="1352550"/>
          </a:xfrm>
          <a:prstGeom prst="roundRect">
            <a:avLst>
              <a:gd name="adj" fmla="val 9859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83F77D-4186-4867-8852-9D30B22BE394}"/>
              </a:ext>
            </a:extLst>
          </p:cNvPr>
          <p:cNvSpPr>
            <a:spLocks noGrp="1"/>
          </p:cNvSpPr>
          <p:nvPr/>
        </p:nvSpPr>
        <p:spPr>
          <a:xfrm>
            <a:off x="4543425" y="4171950"/>
            <a:ext cx="3048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EF800E-E8E5-43D6-AEFA-C2C44B6FD6A4}"/>
              </a:ext>
            </a:extLst>
          </p:cNvPr>
          <p:cNvSpPr>
            <a:spLocks noGrp="1"/>
          </p:cNvSpPr>
          <p:nvPr/>
        </p:nvSpPr>
        <p:spPr>
          <a:xfrm>
            <a:off x="4543425" y="4419600"/>
            <a:ext cx="3048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9891"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Исти принцип важи за API позив, извоз података и позадинску обраду, не само за екран који корисник види.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038BB6A-3A32-4F75-B9B3-104BF2D2A1D8}"/>
              </a:ext>
            </a:extLst>
          </p:cNvPr>
          <p:cNvSpPr>
            <a:spLocks noGrp="1"/>
          </p:cNvSpPr>
          <p:nvPr/>
        </p:nvSpPr>
        <p:spPr>
          <a:xfrm>
            <a:off x="8001000" y="4048125"/>
            <a:ext cx="3352800" cy="1352550"/>
          </a:xfrm>
          <a:prstGeom prst="roundRect">
            <a:avLst>
              <a:gd name="adj" fmla="val 985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AAE2CF-D644-4C80-A312-2A0186AD2DF1}"/>
              </a:ext>
            </a:extLst>
          </p:cNvPr>
          <p:cNvSpPr>
            <a:spLocks noGrp="1"/>
          </p:cNvSpPr>
          <p:nvPr/>
        </p:nvSpPr>
        <p:spPr>
          <a:xfrm>
            <a:off x="8153400" y="4171950"/>
            <a:ext cx="3048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4C765-73AE-47F8-89B3-04617428B59C}"/>
              </a:ext>
            </a:extLst>
          </p:cNvPr>
          <p:cNvSpPr>
            <a:spLocks noGrp="1"/>
          </p:cNvSpPr>
          <p:nvPr/>
        </p:nvSpPr>
        <p:spPr>
          <a:xfrm>
            <a:off x="8153400" y="4419600"/>
            <a:ext cx="3048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8520"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на одбијени приступ треба да буде користан клијенту, али не сме да открије податке о заштићеном запису.</a:t>
            </a:r>
          </a:p>
        </p:txBody>
      </p:sp>
    </p:spTree>
    <p:extLst>
      <p:ext uri="{BB962C8B-B14F-4D97-AF65-F5344CB8AC3E}">
        <p14:creationId xmlns:p14="http://schemas.microsoft.com/office/powerpoint/2010/main" val="17763218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E2B1DBA-F56C-44F2-9E98-BD3B1871B068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4DCB16DE-011A-45B2-A529-7E53277428E6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36B7F6-4964-4C13-8C3D-50B47866B341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012E6D-692B-4314-BB3F-605C60015D77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Одлука се доноси над конкретним ресурсом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632270-BEF6-4F88-A1AF-F3378677386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Код почиње од исте леве ивице као наслов прозора и остаје читљив на пројектору.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DDF580-FC61-41A4-B6E1-EA2B259BC520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6858000" cy="2276475"/>
          </a:xfrm>
          <a:prstGeom prst="roundRect">
            <a:avLst>
              <a:gd name="adj" fmla="val 4712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92F74129-30FC-4C45-A147-8C509A703713}"/>
              </a:ext>
            </a:extLst>
          </p:cNvPr>
          <p:cNvSpPr>
            <a:spLocks noGrp="1"/>
          </p:cNvSpPr>
          <p:nvPr/>
        </p:nvSpPr>
        <p:spPr>
          <a:xfrm>
            <a:off x="666750" y="2438400"/>
            <a:ext cx="68580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A48360C-71CE-444D-90FC-7EF9E10C43DA}"/>
              </a:ext>
            </a:extLst>
          </p:cNvPr>
          <p:cNvSpPr>
            <a:spLocks noGrp="1"/>
          </p:cNvSpPr>
          <p:nvPr/>
        </p:nvSpPr>
        <p:spPr>
          <a:xfrm>
            <a:off x="6838950" y="2219325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F460E4-2A91-4FA4-88B4-F59AD75A6EB1}"/>
              </a:ext>
            </a:extLst>
          </p:cNvPr>
          <p:cNvSpPr>
            <a:spLocks noGrp="1"/>
          </p:cNvSpPr>
          <p:nvPr/>
        </p:nvSpPr>
        <p:spPr>
          <a:xfrm>
            <a:off x="7010400" y="2219325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5A35D4D-6C02-45D0-8A97-5969ADB78DBC}"/>
              </a:ext>
            </a:extLst>
          </p:cNvPr>
          <p:cNvSpPr>
            <a:spLocks noGrp="1"/>
          </p:cNvSpPr>
          <p:nvPr/>
        </p:nvSpPr>
        <p:spPr>
          <a:xfrm>
            <a:off x="7181850" y="2219325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8C6B3-38DF-463C-88D9-5B831DBD91A2}"/>
              </a:ext>
            </a:extLst>
          </p:cNvPr>
          <p:cNvSpPr>
            <a:spLocks noGrp="1"/>
          </p:cNvSpPr>
          <p:nvPr/>
        </p:nvSpPr>
        <p:spPr>
          <a:xfrm>
            <a:off x="781050" y="2571750"/>
            <a:ext cx="30480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0F6292-0D77-41F6-A0DB-627EC42E6A78}"/>
              </a:ext>
            </a:extLst>
          </p:cNvPr>
          <p:cNvSpPr>
            <a:spLocks noGrp="1"/>
          </p:cNvSpPr>
          <p:nvPr/>
        </p:nvSpPr>
        <p:spPr>
          <a:xfrm>
            <a:off x="1200150" y="2571750"/>
            <a:ext cx="615315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&lt;</a:t>
            </a:r>
            <a:r>
              <a:rPr b="0">
                <a:solidFill>
                  <a:srgbClr val="7651D4"/>
                </a:solidFill>
              </a:rPr>
              <a:t>RecordDto</a:t>
            </a:r>
            <a:r>
              <a:rPr b="0">
                <a:solidFill>
                  <a:srgbClr val="263044"/>
                </a:solidFill>
              </a:rPr>
              <a:t>&gt; </a:t>
            </a:r>
            <a:r>
              <a:rPr b="0">
                <a:solidFill>
                  <a:srgbClr val="7651D4"/>
                </a:solidFill>
              </a:rPr>
              <a:t>Read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UserContext</a:t>
            </a:r>
            <a:r>
              <a:rPr b="0">
                <a:solidFill>
                  <a:srgbClr val="263044"/>
                </a:solidFill>
              </a:rPr>
              <a:t> user, </a:t>
            </a:r>
            <a:r>
              <a:rPr b="0">
                <a:solidFill>
                  <a:srgbClr val="7651D4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if</a:t>
            </a:r>
            <a:r>
              <a:rPr b="0">
                <a:solidFill>
                  <a:srgbClr val="263044"/>
                </a:solidFill>
              </a:rPr>
              <a:t> (!user.</a:t>
            </a:r>
            <a:r>
              <a:rPr b="0">
                <a:solidFill>
                  <a:srgbClr val="7651D4"/>
                </a:solidFill>
              </a:rPr>
              <a:t>Can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"record.read"</a:t>
            </a:r>
            <a:r>
              <a:rPr b="0">
                <a:solidFill>
                  <a:srgbClr val="263044"/>
                </a:solidFill>
              </a:rPr>
              <a:t>))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Forbidden</a:t>
            </a:r>
            <a:r>
              <a:rPr b="0">
                <a:solidFill>
                  <a:srgbClr val="263044"/>
                </a:solidFill>
              </a:rPr>
              <a:t>();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ownsRecord =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OwnerId</a:t>
            </a:r>
            <a:r>
              <a:rPr b="0">
                <a:solidFill>
                  <a:srgbClr val="263044"/>
                </a:solidFill>
              </a:rPr>
              <a:t> == user.</a:t>
            </a:r>
            <a:r>
              <a:rPr b="0">
                <a:solidFill>
                  <a:srgbClr val="7651D4"/>
                </a:solidFill>
              </a:rPr>
              <a:t>Id</a:t>
            </a:r>
            <a:r>
              <a:rPr b="0">
                <a:solidFill>
                  <a:srgbClr val="263044"/>
                </a:solidFill>
              </a:rPr>
              <a:t>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canReadAll = user.</a:t>
            </a:r>
            <a:r>
              <a:rPr b="0">
                <a:solidFill>
                  <a:srgbClr val="7651D4"/>
                </a:solidFill>
              </a:rPr>
              <a:t>Can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"record.read.all"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if</a:t>
            </a:r>
            <a:r>
              <a:rPr b="0">
                <a:solidFill>
                  <a:srgbClr val="263044"/>
                </a:solidFill>
              </a:rPr>
              <a:t> (!ownsRecord &amp;&amp; !canReadAll)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NotFound</a:t>
            </a:r>
            <a:r>
              <a:rPr b="0">
                <a:solidFill>
                  <a:srgbClr val="263044"/>
                </a:solidFill>
              </a:rPr>
              <a:t>();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if</a:t>
            </a:r>
            <a:r>
              <a:rPr b="0">
                <a:solidFill>
                  <a:srgbClr val="263044"/>
                </a:solidFill>
              </a:rPr>
              <a:t> (!policy.</a:t>
            </a:r>
            <a:r>
              <a:rPr b="0">
                <a:solidFill>
                  <a:srgbClr val="7651D4"/>
                </a:solidFill>
              </a:rPr>
              <a:t>Allows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Classification</a:t>
            </a:r>
            <a:r>
              <a:rPr b="0">
                <a:solidFill>
                  <a:srgbClr val="263044"/>
                </a:solidFill>
              </a:rPr>
              <a:t>, user.</a:t>
            </a:r>
            <a:r>
              <a:rPr b="0">
                <a:solidFill>
                  <a:srgbClr val="7651D4"/>
                </a:solidFill>
              </a:rPr>
              <a:t>Clearance</a:t>
            </a:r>
            <a:r>
              <a:rPr b="0">
                <a:solidFill>
                  <a:srgbClr val="263044"/>
                </a:solidFill>
              </a:rPr>
              <a:t>))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Forbidden</a:t>
            </a:r>
            <a:r>
              <a:rPr b="0">
                <a:solidFill>
                  <a:srgbClr val="263044"/>
                </a:solidFill>
              </a:rPr>
              <a:t>();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Ok</a:t>
            </a:r>
            <a:r>
              <a:rPr b="0">
                <a:solidFill>
                  <a:srgbClr val="263044"/>
                </a:solidFill>
              </a:rPr>
              <a:t>(mapper.</a:t>
            </a:r>
            <a:r>
              <a:rPr b="0">
                <a:solidFill>
                  <a:srgbClr val="7651D4"/>
                </a:solidFill>
              </a:rPr>
              <a:t>ToDto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));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67AB98F-FBEC-4E28-9AB5-6D42E5D14362}"/>
              </a:ext>
            </a:extLst>
          </p:cNvPr>
          <p:cNvSpPr>
            <a:spLocks noGrp="1"/>
          </p:cNvSpPr>
          <p:nvPr/>
        </p:nvSpPr>
        <p:spPr>
          <a:xfrm>
            <a:off x="7924800" y="2152650"/>
            <a:ext cx="3600450" cy="1809750"/>
          </a:xfrm>
          <a:prstGeom prst="roundRect">
            <a:avLst>
              <a:gd name="adj" fmla="val 7368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4D6A08-A899-4BC5-A673-4A59627D1506}"/>
              </a:ext>
            </a:extLst>
          </p:cNvPr>
          <p:cNvSpPr>
            <a:spLocks noGrp="1"/>
          </p:cNvSpPr>
          <p:nvPr/>
        </p:nvSpPr>
        <p:spPr>
          <a:xfrm>
            <a:off x="8077200" y="22764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416EBA-1515-4ABB-A329-541F1E41D3E8}"/>
              </a:ext>
            </a:extLst>
          </p:cNvPr>
          <p:cNvSpPr>
            <a:spLocks noGrp="1"/>
          </p:cNvSpPr>
          <p:nvPr/>
        </p:nvSpPr>
        <p:spPr>
          <a:xfrm>
            <a:off x="8077200" y="2524125"/>
            <a:ext cx="32956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Иста улога не значи исти приступ сваком запису. Сервер проверава дозволу, власништво и класификацију.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3203F3-6B2B-4D84-9CC7-3E99383533CA}"/>
              </a:ext>
            </a:extLst>
          </p:cNvPr>
          <p:cNvSpPr>
            <a:spLocks noGrp="1"/>
          </p:cNvSpPr>
          <p:nvPr/>
        </p:nvSpPr>
        <p:spPr>
          <a:xfrm>
            <a:off x="7924800" y="4248150"/>
            <a:ext cx="3600450" cy="1428750"/>
          </a:xfrm>
          <a:prstGeom prst="roundRect">
            <a:avLst>
              <a:gd name="adj" fmla="val 9333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3A6FAB-5A6E-4498-BA57-0725BF3180BC}"/>
              </a:ext>
            </a:extLst>
          </p:cNvPr>
          <p:cNvSpPr>
            <a:spLocks noGrp="1"/>
          </p:cNvSpPr>
          <p:nvPr/>
        </p:nvSpPr>
        <p:spPr>
          <a:xfrm>
            <a:off x="8077200" y="43719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ГРАНИЦА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A940E2-E6CF-4F7D-B3A9-C8377008FE1C}"/>
              </a:ext>
            </a:extLst>
          </p:cNvPr>
          <p:cNvSpPr>
            <a:spLocks noGrp="1"/>
          </p:cNvSpPr>
          <p:nvPr/>
        </p:nvSpPr>
        <p:spPr>
          <a:xfrm>
            <a:off x="8077200" y="4619625"/>
            <a:ext cx="32956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је експлицитан исход са разлогом који се може тестирати и објаснити.</a:t>
            </a:r>
          </a:p>
        </p:txBody>
      </p:sp>
    </p:spTree>
    <p:extLst>
      <p:ext uri="{BB962C8B-B14F-4D97-AF65-F5344CB8AC3E}">
        <p14:creationId xmlns:p14="http://schemas.microsoft.com/office/powerpoint/2010/main" val="135743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9DAB547-664D-4DE6-B9DD-98C8179464BB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97F27B9C-B4A9-4C3B-8738-4A512AC57FAB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1106A-D6DF-4099-94BA-9B5A1A9729F2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86A4AD-1C89-48A1-9D6A-FF05F6A26F99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Негативан тест доказује границу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CFCDA6-40F9-4447-82C0-FA5A74C29CDF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Негативан тест није споредан случај — он описује где право престаје.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D7FE39-FB2D-482F-B958-D0EF74DAD98B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6858000" cy="2524125"/>
          </a:xfrm>
          <a:prstGeom prst="roundRect">
            <a:avLst>
              <a:gd name="adj" fmla="val 4712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D0DECC2-5608-4F6C-B61D-2B0A4E442B29}"/>
              </a:ext>
            </a:extLst>
          </p:cNvPr>
          <p:cNvSpPr>
            <a:spLocks noGrp="1"/>
          </p:cNvSpPr>
          <p:nvPr/>
        </p:nvSpPr>
        <p:spPr>
          <a:xfrm>
            <a:off x="666750" y="2438400"/>
            <a:ext cx="68580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4215D5F-9AE1-4855-B972-215715E5AD93}"/>
              </a:ext>
            </a:extLst>
          </p:cNvPr>
          <p:cNvSpPr>
            <a:spLocks noGrp="1"/>
          </p:cNvSpPr>
          <p:nvPr/>
        </p:nvSpPr>
        <p:spPr>
          <a:xfrm>
            <a:off x="6838950" y="2219325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7940779-35EB-4556-A815-7BA2016BE76A}"/>
              </a:ext>
            </a:extLst>
          </p:cNvPr>
          <p:cNvSpPr>
            <a:spLocks noGrp="1"/>
          </p:cNvSpPr>
          <p:nvPr/>
        </p:nvSpPr>
        <p:spPr>
          <a:xfrm>
            <a:off x="7010400" y="2219325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9D9F986-EC1D-4D64-B185-A7F4115D2950}"/>
              </a:ext>
            </a:extLst>
          </p:cNvPr>
          <p:cNvSpPr>
            <a:spLocks noGrp="1"/>
          </p:cNvSpPr>
          <p:nvPr/>
        </p:nvSpPr>
        <p:spPr>
          <a:xfrm>
            <a:off x="7181850" y="2219325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0AB81E-67B4-406C-A0A9-286BD66096A6}"/>
              </a:ext>
            </a:extLst>
          </p:cNvPr>
          <p:cNvSpPr>
            <a:spLocks noGrp="1"/>
          </p:cNvSpPr>
          <p:nvPr/>
        </p:nvSpPr>
        <p:spPr>
          <a:xfrm>
            <a:off x="781050" y="2571750"/>
            <a:ext cx="30480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EF0C64-3A96-4739-99A8-F84347FC9123}"/>
              </a:ext>
            </a:extLst>
          </p:cNvPr>
          <p:cNvSpPr>
            <a:spLocks noGrp="1"/>
          </p:cNvSpPr>
          <p:nvPr/>
        </p:nvSpPr>
        <p:spPr>
          <a:xfrm>
            <a:off x="1200150" y="2571750"/>
            <a:ext cx="6153150" cy="3028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[</a:t>
            </a:r>
            <a:r>
              <a:rPr b="0">
                <a:solidFill>
                  <a:srgbClr val="7651D4"/>
                </a:solidFill>
              </a:rPr>
              <a:t>Fact</a:t>
            </a:r>
            <a:r>
              <a:rPr b="0">
                <a:solidFill>
                  <a:srgbClr val="263044"/>
                </a:solidFill>
              </a:rPr>
              <a:t>]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void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Reader_cannot_open_another_users_record</a:t>
            </a:r>
            <a:r>
              <a:rPr b="0">
                <a:solidFill>
                  <a:srgbClr val="263044"/>
                </a:solidFill>
              </a:rPr>
              <a:t>()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user = </a:t>
            </a:r>
            <a:r>
              <a:rPr b="0">
                <a:solidFill>
                  <a:srgbClr val="7651D4"/>
                </a:solidFill>
              </a:rPr>
              <a:t>User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With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"record.read"</a:t>
            </a:r>
            <a:r>
              <a:rPr b="0">
                <a:solidFill>
                  <a:srgbClr val="263044"/>
                </a:solidFill>
              </a:rPr>
              <a:t>, id: </a:t>
            </a:r>
            <a:r>
              <a:rPr b="0">
                <a:solidFill>
                  <a:srgbClr val="B45309"/>
                </a:solidFill>
              </a:rPr>
              <a:t>"u-17"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 = </a:t>
            </a:r>
            <a:r>
              <a:rPr b="0">
                <a:solidFill>
                  <a:srgbClr val="7651D4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OwnedBy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"u-99"</a:t>
            </a:r>
            <a:r>
              <a:rPr b="0">
                <a:solidFill>
                  <a:srgbClr val="263044"/>
                </a:solidFill>
              </a:rPr>
              <a:t>, </a:t>
            </a:r>
            <a:r>
              <a:rPr b="0">
                <a:solidFill>
                  <a:srgbClr val="7651D4"/>
                </a:solidFill>
              </a:rPr>
              <a:t>Classification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Internal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result = service.</a:t>
            </a:r>
            <a:r>
              <a:rPr b="0">
                <a:solidFill>
                  <a:srgbClr val="7651D4"/>
                </a:solidFill>
              </a:rPr>
              <a:t>Read</a:t>
            </a:r>
            <a:r>
              <a:rPr b="0">
                <a:solidFill>
                  <a:srgbClr val="263044"/>
                </a:solidFill>
              </a:rPr>
              <a:t>(user,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result.</a:t>
            </a:r>
            <a:r>
              <a:rPr b="0">
                <a:solidFill>
                  <a:srgbClr val="7651D4"/>
                </a:solidFill>
              </a:rPr>
              <a:t>Status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Status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NotFound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audit.</a:t>
            </a:r>
            <a:r>
              <a:rPr b="0">
                <a:solidFill>
                  <a:srgbClr val="7651D4"/>
                </a:solidFill>
              </a:rPr>
              <a:t>Last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Outcome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"denied"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6FA4A84-2839-49AE-B740-38ACFEA3592E}"/>
              </a:ext>
            </a:extLst>
          </p:cNvPr>
          <p:cNvSpPr>
            <a:spLocks noGrp="1"/>
          </p:cNvSpPr>
          <p:nvPr/>
        </p:nvSpPr>
        <p:spPr>
          <a:xfrm>
            <a:off x="7924800" y="2152650"/>
            <a:ext cx="3600450" cy="1809750"/>
          </a:xfrm>
          <a:prstGeom prst="roundRect">
            <a:avLst>
              <a:gd name="adj" fmla="val 7368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F16E61-9E2D-4F89-8102-A17D88651E32}"/>
              </a:ext>
            </a:extLst>
          </p:cNvPr>
          <p:cNvSpPr>
            <a:spLocks noGrp="1"/>
          </p:cNvSpPr>
          <p:nvPr/>
        </p:nvSpPr>
        <p:spPr>
          <a:xfrm>
            <a:off x="8077200" y="22764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C9EA21-4861-4843-8CA2-2D234551438E}"/>
              </a:ext>
            </a:extLst>
          </p:cNvPr>
          <p:cNvSpPr>
            <a:spLocks noGrp="1"/>
          </p:cNvSpPr>
          <p:nvPr/>
        </p:nvSpPr>
        <p:spPr>
          <a:xfrm>
            <a:off x="8077200" y="2524125"/>
            <a:ext cx="32956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мења само власника ресурса и очекује одбијање без откривања туђих података.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FEF9973-15E5-4481-B7A9-CB94867EDA22}"/>
              </a:ext>
            </a:extLst>
          </p:cNvPr>
          <p:cNvSpPr>
            <a:spLocks noGrp="1"/>
          </p:cNvSpPr>
          <p:nvPr/>
        </p:nvSpPr>
        <p:spPr>
          <a:xfrm>
            <a:off x="7924800" y="4248150"/>
            <a:ext cx="3600450" cy="1428750"/>
          </a:xfrm>
          <a:prstGeom prst="roundRect">
            <a:avLst>
              <a:gd name="adj" fmla="val 9333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9161D1-6F3B-44F0-B12D-688ED6DDBB58}"/>
              </a:ext>
            </a:extLst>
          </p:cNvPr>
          <p:cNvSpPr>
            <a:spLocks noGrp="1"/>
          </p:cNvSpPr>
          <p:nvPr/>
        </p:nvSpPr>
        <p:spPr>
          <a:xfrm>
            <a:off x="8077200" y="4371975"/>
            <a:ext cx="3295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8B721A-3ADE-458A-887E-ACAAD463EFD6}"/>
              </a:ext>
            </a:extLst>
          </p:cNvPr>
          <p:cNvSpPr>
            <a:spLocks noGrp="1"/>
          </p:cNvSpPr>
          <p:nvPr/>
        </p:nvSpPr>
        <p:spPr>
          <a:xfrm>
            <a:off x="8077200" y="4619625"/>
            <a:ext cx="32956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Промените једну чињеницу и очекујте јасан, стабилан разлог одбијања.</a:t>
            </a:r>
          </a:p>
        </p:txBody>
      </p:sp>
    </p:spTree>
    <p:extLst>
      <p:ext uri="{BB962C8B-B14F-4D97-AF65-F5344CB8AC3E}">
        <p14:creationId xmlns:p14="http://schemas.microsoft.com/office/powerpoint/2010/main" val="455315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3047E25-2617-4273-A23D-08DBA5E4CA44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B0E9091F-2E4C-4475-8160-F02637FAFDD0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715601-5DED-49A9-A9C8-C4CB224302A3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0A5148-27DF-401E-AB40-B58B35E6C578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Доказ мора да одговори шта се догодило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675FA-B10C-47C2-8174-4C3019E50A52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Чува се довољно контекста за реконструкцију, али не и тајне или непотребни лични подаци.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EF6E3E2-B9BE-4805-8F39-BF5222E171C6}"/>
              </a:ext>
            </a:extLst>
          </p:cNvPr>
          <p:cNvSpPr>
            <a:spLocks noGrp="1"/>
          </p:cNvSpPr>
          <p:nvPr/>
        </p:nvSpPr>
        <p:spPr>
          <a:xfrm>
            <a:off x="857250" y="2152650"/>
            <a:ext cx="5334000" cy="2085975"/>
          </a:xfrm>
          <a:prstGeom prst="roundRect">
            <a:avLst>
              <a:gd name="adj" fmla="val 5455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AE89BC82-9092-4F5B-BBB5-014361101BB4}"/>
              </a:ext>
            </a:extLst>
          </p:cNvPr>
          <p:cNvSpPr>
            <a:spLocks noGrp="1"/>
          </p:cNvSpPr>
          <p:nvPr/>
        </p:nvSpPr>
        <p:spPr>
          <a:xfrm>
            <a:off x="857250" y="2495550"/>
            <a:ext cx="53340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DA4C06-3B70-4BAE-84F1-36DB3A667BCF}"/>
              </a:ext>
            </a:extLst>
          </p:cNvPr>
          <p:cNvSpPr>
            <a:spLocks noGrp="1"/>
          </p:cNvSpPr>
          <p:nvPr/>
        </p:nvSpPr>
        <p:spPr>
          <a:xfrm>
            <a:off x="5505450" y="2276475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F63DEBC-1B55-475C-8AA1-3577DB07BE63}"/>
              </a:ext>
            </a:extLst>
          </p:cNvPr>
          <p:cNvSpPr>
            <a:spLocks noGrp="1"/>
          </p:cNvSpPr>
          <p:nvPr/>
        </p:nvSpPr>
        <p:spPr>
          <a:xfrm>
            <a:off x="5676900" y="2276475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1732791-14F9-4E68-A293-839DE2B41401}"/>
              </a:ext>
            </a:extLst>
          </p:cNvPr>
          <p:cNvSpPr>
            <a:spLocks noGrp="1"/>
          </p:cNvSpPr>
          <p:nvPr/>
        </p:nvSpPr>
        <p:spPr>
          <a:xfrm>
            <a:off x="5848350" y="2276475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03095F-7212-4FAC-B7D7-346020F8187C}"/>
              </a:ext>
            </a:extLst>
          </p:cNvPr>
          <p:cNvSpPr>
            <a:spLocks noGrp="1"/>
          </p:cNvSpPr>
          <p:nvPr/>
        </p:nvSpPr>
        <p:spPr>
          <a:xfrm>
            <a:off x="971550" y="2628900"/>
            <a:ext cx="304800" cy="2533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78942A-F244-4366-B9EC-F698359A735B}"/>
              </a:ext>
            </a:extLst>
          </p:cNvPr>
          <p:cNvSpPr>
            <a:spLocks noGrp="1"/>
          </p:cNvSpPr>
          <p:nvPr/>
        </p:nvSpPr>
        <p:spPr>
          <a:xfrm>
            <a:off x="1390650" y="2628900"/>
            <a:ext cx="4629150" cy="2533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"actor"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"u-17"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"action"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"record.read"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"target"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"record-93"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"classification"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"internal"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"outcome"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"denied"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"reason"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"scope_mismatch"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8A747D4-C416-4544-A55E-77843A607857}"/>
              </a:ext>
            </a:extLst>
          </p:cNvPr>
          <p:cNvSpPr>
            <a:spLocks noGrp="1"/>
          </p:cNvSpPr>
          <p:nvPr/>
        </p:nvSpPr>
        <p:spPr>
          <a:xfrm>
            <a:off x="6648450" y="2152650"/>
            <a:ext cx="4591050" cy="1352550"/>
          </a:xfrm>
          <a:prstGeom prst="roundRect">
            <a:avLst>
              <a:gd name="adj" fmla="val 9859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191B14-FE14-4C95-9E7C-8AB2C2318EA7}"/>
              </a:ext>
            </a:extLst>
          </p:cNvPr>
          <p:cNvSpPr>
            <a:spLocks noGrp="1"/>
          </p:cNvSpPr>
          <p:nvPr/>
        </p:nvSpPr>
        <p:spPr>
          <a:xfrm>
            <a:off x="6800850" y="2276475"/>
            <a:ext cx="4286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E016E6-4824-49C5-A3DE-F2F4F477F0D3}"/>
              </a:ext>
            </a:extLst>
          </p:cNvPr>
          <p:cNvSpPr>
            <a:spLocks noGrp="1"/>
          </p:cNvSpPr>
          <p:nvPr/>
        </p:nvSpPr>
        <p:spPr>
          <a:xfrm>
            <a:off x="6800850" y="2524125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Актер, радња, циљ, исход и разлог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562A49-CCE2-493E-9766-BB033542FEA0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286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Временска ознака и correlation ID повезују траг са остатком тока.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B196112-A738-4951-98AE-E6918837E83C}"/>
              </a:ext>
            </a:extLst>
          </p:cNvPr>
          <p:cNvSpPr>
            <a:spLocks noGrp="1"/>
          </p:cNvSpPr>
          <p:nvPr/>
        </p:nvSpPr>
        <p:spPr>
          <a:xfrm>
            <a:off x="6648450" y="3867150"/>
            <a:ext cx="4591050" cy="1428750"/>
          </a:xfrm>
          <a:prstGeom prst="roundRect">
            <a:avLst>
              <a:gd name="adj" fmla="val 9333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539CC8-2196-4F31-9ED5-BDA04EB61D68}"/>
              </a:ext>
            </a:extLst>
          </p:cNvPr>
          <p:cNvSpPr>
            <a:spLocks noGrp="1"/>
          </p:cNvSpPr>
          <p:nvPr/>
        </p:nvSpPr>
        <p:spPr>
          <a:xfrm>
            <a:off x="6800850" y="3990975"/>
            <a:ext cx="4286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ДОКАЗ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45350E-43C3-43DF-9EEB-86760596144C}"/>
              </a:ext>
            </a:extLst>
          </p:cNvPr>
          <p:cNvSpPr>
            <a:spLocks noGrp="1"/>
          </p:cNvSpPr>
          <p:nvPr/>
        </p:nvSpPr>
        <p:spPr>
          <a:xfrm>
            <a:off x="6800850" y="4238625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</a:t>
            </a:r>
            <a:r>
              <a:rPr sz="1350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lang="sr-Cyrl-RS" sz="1350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токен</a:t>
            </a:r>
            <a:r>
              <a:rPr sz="1350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тајна</a:t>
            </a:r>
            <a:r>
              <a:rPr sz="1350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</a:t>
            </a:r>
            <a:r>
              <a:rPr sz="1350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сувишан</a:t>
            </a:r>
            <a:r>
              <a:rPr sz="1350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садржај</a:t>
            </a:r>
            <a:endParaRPr sz="1350" b="1" dirty="0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A8F6C1-7531-45F6-85E8-B0D33D0A9339}"/>
              </a:ext>
            </a:extLst>
          </p:cNvPr>
          <p:cNvSpPr>
            <a:spLocks noGrp="1"/>
          </p:cNvSpPr>
          <p:nvPr/>
        </p:nvSpPr>
        <p:spPr>
          <a:xfrm>
            <a:off x="6800850" y="4648200"/>
            <a:ext cx="4286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Траг не сме да постане нови извор цурења или збирка непотребних података.</a:t>
            </a:r>
          </a:p>
        </p:txBody>
      </p:sp>
    </p:spTree>
    <p:extLst>
      <p:ext uri="{BB962C8B-B14F-4D97-AF65-F5344CB8AC3E}">
        <p14:creationId xmlns:p14="http://schemas.microsoft.com/office/powerpoint/2010/main" val="250974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B92CEB-8DEF-400E-928A-C175F5025185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682A0FA6-67C3-48B6-9572-2232131765A1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FB84B2-D587-4277-AF2C-107959EB0B2E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B23729-E8FF-4EF4-BB70-251B0A570C28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Три грешке које треба препознати одмах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0D65EA-C549-4DA2-A549-A9C9FBF5FB29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Свака делује практично у првој итерацији, али касније постаје скривена безбедносна граница.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85BE021-0FAB-4E0F-BDC8-E225B787E8F0}"/>
              </a:ext>
            </a:extLst>
          </p:cNvPr>
          <p:cNvSpPr>
            <a:spLocks noGrp="1"/>
          </p:cNvSpPr>
          <p:nvPr/>
        </p:nvSpPr>
        <p:spPr>
          <a:xfrm>
            <a:off x="819150" y="2381250"/>
            <a:ext cx="3257550" cy="2381250"/>
          </a:xfrm>
          <a:prstGeom prst="roundRect">
            <a:avLst>
              <a:gd name="adj" fmla="val 5600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481CE1-053E-4C3E-BCEE-738C0C09B814}"/>
              </a:ext>
            </a:extLst>
          </p:cNvPr>
          <p:cNvSpPr>
            <a:spLocks noGrp="1"/>
          </p:cNvSpPr>
          <p:nvPr/>
        </p:nvSpPr>
        <p:spPr>
          <a:xfrm>
            <a:off x="971550" y="25050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A471AB-D85F-43CD-AE72-10E1648D2F05}"/>
              </a:ext>
            </a:extLst>
          </p:cNvPr>
          <p:cNvSpPr>
            <a:spLocks noGrp="1"/>
          </p:cNvSpPr>
          <p:nvPr/>
        </p:nvSpPr>
        <p:spPr>
          <a:xfrm>
            <a:off x="971550" y="2752725"/>
            <a:ext cx="2952750" cy="1219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улоге без провере односа према конкретном ресурсу.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852C00-A9FC-4823-A85E-B77DEB1BBB80}"/>
              </a:ext>
            </a:extLst>
          </p:cNvPr>
          <p:cNvSpPr>
            <a:spLocks noGrp="1"/>
          </p:cNvSpPr>
          <p:nvPr/>
        </p:nvSpPr>
        <p:spPr>
          <a:xfrm>
            <a:off x="971550" y="40386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Нема јасног власника одлуке.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F713408-4A39-4911-8D9E-309ED93A3BE3}"/>
              </a:ext>
            </a:extLst>
          </p:cNvPr>
          <p:cNvSpPr>
            <a:spLocks noGrp="1"/>
          </p:cNvSpPr>
          <p:nvPr/>
        </p:nvSpPr>
        <p:spPr>
          <a:xfrm>
            <a:off x="4467225" y="2381250"/>
            <a:ext cx="3257550" cy="2381250"/>
          </a:xfrm>
          <a:prstGeom prst="roundRect">
            <a:avLst>
              <a:gd name="adj" fmla="val 5600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E5D24D-18CE-4F59-AC5E-AFDD795B259A}"/>
              </a:ext>
            </a:extLst>
          </p:cNvPr>
          <p:cNvSpPr>
            <a:spLocks noGrp="1"/>
          </p:cNvSpPr>
          <p:nvPr/>
        </p:nvSpPr>
        <p:spPr>
          <a:xfrm>
            <a:off x="4619625" y="25050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6792D5-44FD-422C-BA43-481A54E93C9F}"/>
              </a:ext>
            </a:extLst>
          </p:cNvPr>
          <p:cNvSpPr>
            <a:spLocks noGrp="1"/>
          </p:cNvSpPr>
          <p:nvPr/>
        </p:nvSpPr>
        <p:spPr>
          <a:xfrm>
            <a:off x="4619625" y="2752725"/>
            <a:ext cx="2952750" cy="1219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Филтрирање листе у клијенту без исте провере на серверу.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9645B5-6A00-4E49-A5DE-F5A9FBF93AD7}"/>
              </a:ext>
            </a:extLst>
          </p:cNvPr>
          <p:cNvSpPr>
            <a:spLocks noGrp="1"/>
          </p:cNvSpPr>
          <p:nvPr/>
        </p:nvSpPr>
        <p:spPr>
          <a:xfrm>
            <a:off x="4619625" y="40386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постоји негативан сценарио.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E1535EF-A95A-484B-8906-3AC1D164CB5E}"/>
              </a:ext>
            </a:extLst>
          </p:cNvPr>
          <p:cNvSpPr>
            <a:spLocks noGrp="1"/>
          </p:cNvSpPr>
          <p:nvPr/>
        </p:nvSpPr>
        <p:spPr>
          <a:xfrm>
            <a:off x="8115300" y="2381250"/>
            <a:ext cx="3257550" cy="2381250"/>
          </a:xfrm>
          <a:prstGeom prst="roundRect">
            <a:avLst>
              <a:gd name="adj" fmla="val 5600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A31EFA-A3DA-4142-8413-E36A2A3E93BA}"/>
              </a:ext>
            </a:extLst>
          </p:cNvPr>
          <p:cNvSpPr>
            <a:spLocks noGrp="1"/>
          </p:cNvSpPr>
          <p:nvPr/>
        </p:nvSpPr>
        <p:spPr>
          <a:xfrm>
            <a:off x="8267700" y="2505075"/>
            <a:ext cx="29527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A87C46-8B39-4858-A314-9482E861DE22}"/>
              </a:ext>
            </a:extLst>
          </p:cNvPr>
          <p:cNvSpPr>
            <a:spLocks noGrp="1"/>
          </p:cNvSpPr>
          <p:nvPr/>
        </p:nvSpPr>
        <p:spPr>
          <a:xfrm>
            <a:off x="8267700" y="2752725"/>
            <a:ext cx="2952750" cy="1219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Снижавање класификације без образложења и трага промене.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12B3765-78B8-4352-A290-1140CA709080}"/>
              </a:ext>
            </a:extLst>
          </p:cNvPr>
          <p:cNvSpPr>
            <a:spLocks noGrp="1"/>
          </p:cNvSpPr>
          <p:nvPr/>
        </p:nvSpPr>
        <p:spPr>
          <a:xfrm>
            <a:off x="8267700" y="40386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Доказ не показује стварни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1166645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590BDDE-361E-48EB-89E4-2A59056D8918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D6A998F-9448-4983-B417-628974CA92A8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465A20-4521-4D9D-821E-7A1797127CDA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8579F5-1812-41C1-84E5-A3051898E848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Како знамо да је ауторизација потпуна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3E5278-5A09-4B28-9696-B8733DFFBDC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Добар доказ је свеж, поновљив и довољно јасан да га други члан тима протумачи.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BA288FD-4B32-4437-A24D-2FFD0AEF15EC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4476750" cy="2828925"/>
          </a:xfrm>
          <a:prstGeom prst="roundRect">
            <a:avLst>
              <a:gd name="adj" fmla="val 4294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F67A39-D8FE-4E6C-8E6F-EC5AAD0E1837}"/>
              </a:ext>
            </a:extLst>
          </p:cNvPr>
          <p:cNvSpPr>
            <a:spLocks noGrp="1"/>
          </p:cNvSpPr>
          <p:nvPr/>
        </p:nvSpPr>
        <p:spPr>
          <a:xfrm>
            <a:off x="933450" y="2276475"/>
            <a:ext cx="41719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ОБРАЗЛОЖЕЊЕ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C42-8637-4310-A9A4-50C5C9A97845}"/>
              </a:ext>
            </a:extLst>
          </p:cNvPr>
          <p:cNvSpPr>
            <a:spLocks noGrp="1"/>
          </p:cNvSpPr>
          <p:nvPr/>
        </p:nvSpPr>
        <p:spPr>
          <a:xfrm>
            <a:off x="933450" y="2524125"/>
            <a:ext cx="41719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Како знамо да је ауторизација потпуна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0A4E06-0EBC-4D42-91EF-BF8A9E9FE29F}"/>
              </a:ext>
            </a:extLst>
          </p:cNvPr>
          <p:cNvSpPr>
            <a:spLocks noGrp="1"/>
          </p:cNvSpPr>
          <p:nvPr/>
        </p:nvSpPr>
        <p:spPr>
          <a:xfrm>
            <a:off x="933450" y="3143250"/>
            <a:ext cx="4171950" cy="2009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Приступ треба проверити кроз стварну границу система, а не само кроз кориснички интерфејс. То значи да директан API захтев, позадински процес и извоз не могу прескочити исто правило. Негативни тестови зато нису додатак после имплементације, већ најјаснији опис границе приступа.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1BEC12F-1A66-4177-9B88-C9E2F2181422}"/>
              </a:ext>
            </a:extLst>
          </p:cNvPr>
          <p:cNvSpPr>
            <a:spLocks noGrp="1"/>
          </p:cNvSpPr>
          <p:nvPr/>
        </p:nvSpPr>
        <p:spPr>
          <a:xfrm>
            <a:off x="5676900" y="2152650"/>
            <a:ext cx="5734050" cy="828675"/>
          </a:xfrm>
          <a:prstGeom prst="roundRect">
            <a:avLst>
              <a:gd name="adj" fmla="val 16092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7499A0-C907-4BAB-9BC3-A3AC96AF1395}"/>
              </a:ext>
            </a:extLst>
          </p:cNvPr>
          <p:cNvSpPr>
            <a:spLocks noGrp="1"/>
          </p:cNvSpPr>
          <p:nvPr/>
        </p:nvSpPr>
        <p:spPr>
          <a:xfrm>
            <a:off x="5829300" y="2276475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7C12C3-C815-48AA-944F-C1E9CD55A4E1}"/>
              </a:ext>
            </a:extLst>
          </p:cNvPr>
          <p:cNvSpPr>
            <a:spLocks noGrp="1"/>
          </p:cNvSpPr>
          <p:nvPr/>
        </p:nvSpPr>
        <p:spPr>
          <a:xfrm>
            <a:off x="5829300" y="2524125"/>
            <a:ext cx="5429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Систем једнако штити ресурс када се захтев пошаље ван стандардног екрана.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B21638-7D02-4D56-AFB2-AD7676F805A4}"/>
              </a:ext>
            </a:extLst>
          </p:cNvPr>
          <p:cNvSpPr>
            <a:spLocks noGrp="1"/>
          </p:cNvSpPr>
          <p:nvPr/>
        </p:nvSpPr>
        <p:spPr>
          <a:xfrm>
            <a:off x="5676900" y="3152775"/>
            <a:ext cx="5734050" cy="828675"/>
          </a:xfrm>
          <a:prstGeom prst="roundRect">
            <a:avLst>
              <a:gd name="adj" fmla="val 16092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BAF14-9A1E-40D2-92AC-B5EBE54EB2F1}"/>
              </a:ext>
            </a:extLst>
          </p:cNvPr>
          <p:cNvSpPr>
            <a:spLocks noGrp="1"/>
          </p:cNvSpPr>
          <p:nvPr/>
        </p:nvSpPr>
        <p:spPr>
          <a:xfrm>
            <a:off x="5829300" y="3276600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5280EA-F1C1-47BB-97C9-7B081C124E66}"/>
              </a:ext>
            </a:extLst>
          </p:cNvPr>
          <p:cNvSpPr>
            <a:spLocks noGrp="1"/>
          </p:cNvSpPr>
          <p:nvPr/>
        </p:nvSpPr>
        <p:spPr>
          <a:xfrm>
            <a:off x="5829300" y="3524250"/>
            <a:ext cx="5429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Одбијени захтев не враћа детаље који помажу да се мапирају туђи подаци.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4CEFE6E-B684-45BB-81F6-37EB0076068B}"/>
              </a:ext>
            </a:extLst>
          </p:cNvPr>
          <p:cNvSpPr>
            <a:spLocks noGrp="1"/>
          </p:cNvSpPr>
          <p:nvPr/>
        </p:nvSpPr>
        <p:spPr>
          <a:xfrm>
            <a:off x="5676900" y="4152900"/>
            <a:ext cx="5734050" cy="828675"/>
          </a:xfrm>
          <a:prstGeom prst="roundRect">
            <a:avLst>
              <a:gd name="adj" fmla="val 16092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A4B0BC-AB9D-4DB1-BE0C-96B5A2BB873F}"/>
              </a:ext>
            </a:extLst>
          </p:cNvPr>
          <p:cNvSpPr>
            <a:spLocks noGrp="1"/>
          </p:cNvSpPr>
          <p:nvPr/>
        </p:nvSpPr>
        <p:spPr>
          <a:xfrm>
            <a:off x="5829300" y="4276725"/>
            <a:ext cx="5429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022626-4C24-488D-9533-8D33957B7B7E}"/>
              </a:ext>
            </a:extLst>
          </p:cNvPr>
          <p:cNvSpPr>
            <a:spLocks noGrp="1"/>
          </p:cNvSpPr>
          <p:nvPr/>
        </p:nvSpPr>
        <p:spPr>
          <a:xfrm>
            <a:off x="5829300" y="4524375"/>
            <a:ext cx="5429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Промена класификације и промена власништва остављају довољно трага за каснији преглед.</a:t>
            </a:r>
          </a:p>
        </p:txBody>
      </p:sp>
    </p:spTree>
    <p:extLst>
      <p:ext uri="{BB962C8B-B14F-4D97-AF65-F5344CB8AC3E}">
        <p14:creationId xmlns:p14="http://schemas.microsoft.com/office/powerpoint/2010/main" val="582312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796AA8F-C604-4A0B-82D3-943F727C3630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08F58866-2C74-4321-90AD-C742E71F69D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1B786F-0BAC-4A39-87C4-94D84713DE29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C26126-F7E6-4D49-922B-3CE7EDDAB56E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Мини вежба за пројекат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7DAA29-E934-40DA-BD3B-E8B9731EA689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 једном сценарију повежите одлуку, имплементацију, негативни тест и доказ.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8A02756-EBEC-4896-B9E6-A16AD593698B}"/>
              </a:ext>
            </a:extLst>
          </p:cNvPr>
          <p:cNvSpPr>
            <a:spLocks noGrp="1"/>
          </p:cNvSpPr>
          <p:nvPr/>
        </p:nvSpPr>
        <p:spPr>
          <a:xfrm>
            <a:off x="800100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B4F46E-7183-4C93-B199-25B709D3C2B2}"/>
              </a:ext>
            </a:extLst>
          </p:cNvPr>
          <p:cNvSpPr>
            <a:spLocks noGrp="1"/>
          </p:cNvSpPr>
          <p:nvPr/>
        </p:nvSpPr>
        <p:spPr>
          <a:xfrm>
            <a:off x="942975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67072A-5ADD-4E92-ADCB-139F930592D6}"/>
              </a:ext>
            </a:extLst>
          </p:cNvPr>
          <p:cNvSpPr>
            <a:spLocks noGrp="1"/>
          </p:cNvSpPr>
          <p:nvPr/>
        </p:nvSpPr>
        <p:spPr>
          <a:xfrm>
            <a:off x="933450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Изаберите сценарио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B3A04D-F0E5-44B2-8D3C-8FA519A1B6EB}"/>
              </a:ext>
            </a:extLst>
          </p:cNvPr>
          <p:cNvSpPr>
            <a:spLocks noGrp="1"/>
          </p:cNvSpPr>
          <p:nvPr/>
        </p:nvSpPr>
        <p:spPr>
          <a:xfrm>
            <a:off x="942975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стварна радња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9FC4C6-AB2E-4FBD-AF9C-3585AB7028F2}"/>
              </a:ext>
            </a:extLst>
          </p:cNvPr>
          <p:cNvSpPr>
            <a:spLocks noGrp="1"/>
          </p:cNvSpPr>
          <p:nvPr/>
        </p:nvSpPr>
        <p:spPr>
          <a:xfrm>
            <a:off x="3519488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57C21D-5F77-4E37-B518-A317AB451068}"/>
              </a:ext>
            </a:extLst>
          </p:cNvPr>
          <p:cNvSpPr>
            <a:spLocks noGrp="1"/>
          </p:cNvSpPr>
          <p:nvPr/>
        </p:nvSpPr>
        <p:spPr>
          <a:xfrm>
            <a:off x="3662363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B2B9D9-1214-4883-9D05-D1122309B5EB}"/>
              </a:ext>
            </a:extLst>
          </p:cNvPr>
          <p:cNvSpPr>
            <a:spLocks noGrp="1"/>
          </p:cNvSpPr>
          <p:nvPr/>
        </p:nvSpPr>
        <p:spPr>
          <a:xfrm>
            <a:off x="3652838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Именујте правило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B2103-85AF-4DDA-A560-8727647E9FCE}"/>
              </a:ext>
            </a:extLst>
          </p:cNvPr>
          <p:cNvSpPr>
            <a:spLocks noGrp="1"/>
          </p:cNvSpPr>
          <p:nvPr/>
        </p:nvSpPr>
        <p:spPr>
          <a:xfrm>
            <a:off x="3662363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улази и граница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E59CA7-0545-4C57-8A09-1139773216B1}"/>
              </a:ext>
            </a:extLst>
          </p:cNvPr>
          <p:cNvSpPr>
            <a:spLocks noGrp="1"/>
          </p:cNvSpPr>
          <p:nvPr/>
        </p:nvSpPr>
        <p:spPr>
          <a:xfrm>
            <a:off x="6238875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2A6B87-A582-49E7-8FFD-E672C4143BA4}"/>
              </a:ext>
            </a:extLst>
          </p:cNvPr>
          <p:cNvSpPr>
            <a:spLocks noGrp="1"/>
          </p:cNvSpPr>
          <p:nvPr/>
        </p:nvSpPr>
        <p:spPr>
          <a:xfrm>
            <a:off x="6381750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44D529-FD15-432A-9613-79C2DE09B341}"/>
              </a:ext>
            </a:extLst>
          </p:cNvPr>
          <p:cNvSpPr>
            <a:spLocks noGrp="1"/>
          </p:cNvSpPr>
          <p:nvPr/>
        </p:nvSpPr>
        <p:spPr>
          <a:xfrm>
            <a:off x="6372225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Напишите денy тест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E76F1E-0CD2-4874-8BE3-C8CAD08C177F}"/>
              </a:ext>
            </a:extLst>
          </p:cNvPr>
          <p:cNvSpPr>
            <a:spLocks noGrp="1"/>
          </p:cNvSpPr>
          <p:nvPr/>
        </p:nvSpPr>
        <p:spPr>
          <a:xfrm>
            <a:off x="6381750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чињеница недостаје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F5E499F-7147-4538-BB66-55E30F85F59B}"/>
              </a:ext>
            </a:extLst>
          </p:cNvPr>
          <p:cNvSpPr>
            <a:spLocks noGrp="1"/>
          </p:cNvSpPr>
          <p:nvPr/>
        </p:nvSpPr>
        <p:spPr>
          <a:xfrm>
            <a:off x="8958263" y="2400300"/>
            <a:ext cx="2433638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A2EE09-6E9D-4563-B24D-BB24745AAAC9}"/>
              </a:ext>
            </a:extLst>
          </p:cNvPr>
          <p:cNvSpPr>
            <a:spLocks noGrp="1"/>
          </p:cNvSpPr>
          <p:nvPr/>
        </p:nvSpPr>
        <p:spPr>
          <a:xfrm>
            <a:off x="9101138" y="2514600"/>
            <a:ext cx="21478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573DD0-5F30-4EA7-A765-D0B938FF2851}"/>
              </a:ext>
            </a:extLst>
          </p:cNvPr>
          <p:cNvSpPr>
            <a:spLocks noGrp="1"/>
          </p:cNvSpPr>
          <p:nvPr/>
        </p:nvSpPr>
        <p:spPr>
          <a:xfrm>
            <a:off x="9091613" y="2800350"/>
            <a:ext cx="21669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Сачувајте доказ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8A3F66-40AC-4D34-88FA-669C45FA21BB}"/>
              </a:ext>
            </a:extLst>
          </p:cNvPr>
          <p:cNvSpPr>
            <a:spLocks noGrp="1"/>
          </p:cNvSpPr>
          <p:nvPr/>
        </p:nvSpPr>
        <p:spPr>
          <a:xfrm>
            <a:off x="9101138" y="3190875"/>
            <a:ext cx="21478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исход и разлог</a:t>
            </a:r>
          </a:p>
        </p:txBody>
      </p:sp>
      <p:cxnSp>
        <p:nvCxnSpPr>
          <p:cNvPr id="125" name="Straight Arrow Connector 124"/>
          <p:cNvCxnSpPr>
            <a:stCxn id="6" idx="3"/>
            <a:endCxn id="10" idx="1"/>
          </p:cNvCxnSpPr>
          <p:nvPr/>
        </p:nvCxnSpPr>
        <p:spPr>
          <a:xfrm>
            <a:off x="3233738" y="30289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6" name="Straight Arrow Connector 125"/>
          <p:cNvCxnSpPr>
            <a:stCxn id="10" idx="3"/>
            <a:endCxn id="14" idx="1"/>
          </p:cNvCxnSpPr>
          <p:nvPr/>
        </p:nvCxnSpPr>
        <p:spPr>
          <a:xfrm>
            <a:off x="5953126" y="302895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4" idx="3"/>
            <a:endCxn id="18" idx="1"/>
          </p:cNvCxnSpPr>
          <p:nvPr/>
        </p:nvCxnSpPr>
        <p:spPr>
          <a:xfrm>
            <a:off x="8672513" y="30289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5E223F9-4F8E-45AA-9321-6D43A047B05C}"/>
              </a:ext>
            </a:extLst>
          </p:cNvPr>
          <p:cNvSpPr>
            <a:spLocks noGrp="1"/>
          </p:cNvSpPr>
          <p:nvPr/>
        </p:nvSpPr>
        <p:spPr>
          <a:xfrm>
            <a:off x="1619250" y="4305300"/>
            <a:ext cx="8953500" cy="914400"/>
          </a:xfrm>
          <a:prstGeom prst="roundRect">
            <a:avLst>
              <a:gd name="adj" fmla="val 13542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45BCC31-32F5-4832-BF60-1285DB56926A}"/>
              </a:ext>
            </a:extLst>
          </p:cNvPr>
          <p:cNvSpPr>
            <a:spLocks noGrp="1"/>
          </p:cNvSpPr>
          <p:nvPr/>
        </p:nvSpPr>
        <p:spPr>
          <a:xfrm>
            <a:off x="1752600" y="4448175"/>
            <a:ext cx="57150" cy="62865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BCDDC716-E590-4DC3-A013-7E83FDAF35DF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990600"/>
          </a:xfrm>
          <a:prstGeom prst="roundRect">
            <a:avLst>
              <a:gd name="adj" fmla="val 13462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784813B-CB55-496F-B3CF-84BB82B0341A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6858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09EDD91-D16F-479E-9118-8F0EAA19009D}"/>
              </a:ext>
            </a:extLst>
          </p:cNvPr>
          <p:cNvSpPr>
            <a:spLocks noGrp="1"/>
          </p:cNvSpPr>
          <p:nvPr/>
        </p:nvSpPr>
        <p:spPr>
          <a:xfrm>
            <a:off x="1333500" y="43719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ЗАДАТАК ЗА ПРОЈЕКАТ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5E17CED-B316-4116-AE4A-3D1857E4FCA6}"/>
              </a:ext>
            </a:extLst>
          </p:cNvPr>
          <p:cNvSpPr>
            <a:spLocks noGrp="1"/>
          </p:cNvSpPr>
          <p:nvPr/>
        </p:nvSpPr>
        <p:spPr>
          <a:xfrm>
            <a:off x="1333500" y="4600575"/>
            <a:ext cx="96393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13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13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Примените тему „Ауторизација над ресурсом и класификација података“ на додељену пројектну целину и припремите доказ који други члан тима може да понови.</a:t>
            </a:r>
          </a:p>
        </p:txBody>
      </p:sp>
    </p:spTree>
    <p:extLst>
      <p:ext uri="{BB962C8B-B14F-4D97-AF65-F5344CB8AC3E}">
        <p14:creationId xmlns:p14="http://schemas.microsoft.com/office/powerpoint/2010/main" val="2124617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A4047CFD-FADA-439A-880D-A576ADD6ACBC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3429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9C9FB3B2-916A-48B1-9052-5D647EFF0984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3DEEF1-F69C-4B96-BC01-65E3405AD920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7AC77E-CA2A-46BA-9593-A431217F4AB4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8204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3AF33B-8BEF-4693-989F-53EAB0E34C1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Тема је савладана када одлуку можете да објасните без ослањања на назив framework-а.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5ED3FD9-2D74-48AE-B923-31C8CD383240}"/>
              </a:ext>
            </a:extLst>
          </p:cNvPr>
          <p:cNvSpPr>
            <a:spLocks noGrp="1"/>
          </p:cNvSpPr>
          <p:nvPr/>
        </p:nvSpPr>
        <p:spPr>
          <a:xfrm>
            <a:off x="723900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BEBE17-5C3A-470F-BADA-243F4CCCA1FA}"/>
              </a:ext>
            </a:extLst>
          </p:cNvPr>
          <p:cNvSpPr>
            <a:spLocks noGrp="1"/>
          </p:cNvSpPr>
          <p:nvPr/>
        </p:nvSpPr>
        <p:spPr>
          <a:xfrm>
            <a:off x="866775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018CEB-0A4C-43AB-A1C4-8C5D074B6C38}"/>
              </a:ext>
            </a:extLst>
          </p:cNvPr>
          <p:cNvSpPr>
            <a:spLocks noGrp="1"/>
          </p:cNvSpPr>
          <p:nvPr/>
        </p:nvSpPr>
        <p:spPr>
          <a:xfrm>
            <a:off x="857250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Субјекат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1E8355-2772-447A-A03D-ED71A6AA7A2D}"/>
              </a:ext>
            </a:extLst>
          </p:cNvPr>
          <p:cNvSpPr>
            <a:spLocks noGrp="1"/>
          </p:cNvSpPr>
          <p:nvPr/>
        </p:nvSpPr>
        <p:spPr>
          <a:xfrm>
            <a:off x="866775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тражи радњу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04119D2-00A5-4B4C-AD9F-DE6A605AEC81}"/>
              </a:ext>
            </a:extLst>
          </p:cNvPr>
          <p:cNvSpPr>
            <a:spLocks noGrp="1"/>
          </p:cNvSpPr>
          <p:nvPr/>
        </p:nvSpPr>
        <p:spPr>
          <a:xfrm>
            <a:off x="3481388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A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F91105-EB9B-470F-9EE3-EACE6329C03F}"/>
              </a:ext>
            </a:extLst>
          </p:cNvPr>
          <p:cNvSpPr>
            <a:spLocks noGrp="1"/>
          </p:cNvSpPr>
          <p:nvPr/>
        </p:nvSpPr>
        <p:spPr>
          <a:xfrm>
            <a:off x="3624263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AA1488-54A4-4330-B339-CB5C4EE4DA35}"/>
              </a:ext>
            </a:extLst>
          </p:cNvPr>
          <p:cNvSpPr>
            <a:spLocks noGrp="1"/>
          </p:cNvSpPr>
          <p:nvPr/>
        </p:nvSpPr>
        <p:spPr>
          <a:xfrm>
            <a:off x="3614738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1F9D16-C1B9-4AEE-B2B9-CF4D9DFBBE90}"/>
              </a:ext>
            </a:extLst>
          </p:cNvPr>
          <p:cNvSpPr>
            <a:spLocks noGrp="1"/>
          </p:cNvSpPr>
          <p:nvPr/>
        </p:nvSpPr>
        <p:spPr>
          <a:xfrm>
            <a:off x="3624263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над чим се ради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8E8546F-FFE7-4725-B510-286314111CB4}"/>
              </a:ext>
            </a:extLst>
          </p:cNvPr>
          <p:cNvSpPr>
            <a:spLocks noGrp="1"/>
          </p:cNvSpPr>
          <p:nvPr/>
        </p:nvSpPr>
        <p:spPr>
          <a:xfrm>
            <a:off x="6238875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EE06D4-11A0-49F3-B886-BB364E7108EC}"/>
              </a:ext>
            </a:extLst>
          </p:cNvPr>
          <p:cNvSpPr>
            <a:spLocks noGrp="1"/>
          </p:cNvSpPr>
          <p:nvPr/>
        </p:nvSpPr>
        <p:spPr>
          <a:xfrm>
            <a:off x="6381750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DB6E0C-003C-4699-944A-8AD8BC5E6798}"/>
              </a:ext>
            </a:extLst>
          </p:cNvPr>
          <p:cNvSpPr>
            <a:spLocks noGrp="1"/>
          </p:cNvSpPr>
          <p:nvPr/>
        </p:nvSpPr>
        <p:spPr>
          <a:xfrm>
            <a:off x="6372225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737645-68CB-4FF3-B426-A5A32AD25B40}"/>
              </a:ext>
            </a:extLst>
          </p:cNvPr>
          <p:cNvSpPr>
            <a:spLocks noGrp="1"/>
          </p:cNvSpPr>
          <p:nvPr/>
        </p:nvSpPr>
        <p:spPr>
          <a:xfrm>
            <a:off x="6381750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власништво и намена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21EB990-9BCC-480C-84F8-DEB102314BFB}"/>
              </a:ext>
            </a:extLst>
          </p:cNvPr>
          <p:cNvSpPr>
            <a:spLocks noGrp="1"/>
          </p:cNvSpPr>
          <p:nvPr/>
        </p:nvSpPr>
        <p:spPr>
          <a:xfrm>
            <a:off x="8996363" y="2286000"/>
            <a:ext cx="2471738" cy="1257300"/>
          </a:xfrm>
          <a:prstGeom prst="roundRect">
            <a:avLst>
              <a:gd name="adj" fmla="val 10606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D5D665-08BF-485C-BFBD-F3AC60FDBD22}"/>
              </a:ext>
            </a:extLst>
          </p:cNvPr>
          <p:cNvSpPr>
            <a:spLocks noGrp="1"/>
          </p:cNvSpPr>
          <p:nvPr/>
        </p:nvSpPr>
        <p:spPr>
          <a:xfrm>
            <a:off x="9139238" y="2400300"/>
            <a:ext cx="2185988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7018"/>
          </a:bodyPr>
          <a:lstStyle/>
          <a:p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2E98E0-1633-47BC-81DC-18232AF7E7EC}"/>
              </a:ext>
            </a:extLst>
          </p:cNvPr>
          <p:cNvSpPr>
            <a:spLocks noGrp="1"/>
          </p:cNvSpPr>
          <p:nvPr/>
        </p:nvSpPr>
        <p:spPr>
          <a:xfrm>
            <a:off x="9129713" y="2686050"/>
            <a:ext cx="220503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5B1A84-16B1-4ED4-A2A8-8CA2FB512E79}"/>
              </a:ext>
            </a:extLst>
          </p:cNvPr>
          <p:cNvSpPr>
            <a:spLocks noGrp="1"/>
          </p:cNvSpPr>
          <p:nvPr/>
        </p:nvSpPr>
        <p:spPr>
          <a:xfrm>
            <a:off x="9139238" y="3076575"/>
            <a:ext cx="2185988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cxnSp>
        <p:nvCxnSpPr>
          <p:cNvPr id="127" name="Straight Arrow Connector 126"/>
          <p:cNvCxnSpPr>
            <a:stCxn id="6" idx="3"/>
            <a:endCxn id="10" idx="1"/>
          </p:cNvCxnSpPr>
          <p:nvPr/>
        </p:nvCxnSpPr>
        <p:spPr>
          <a:xfrm>
            <a:off x="3195638" y="29146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8" name="Straight Arrow Connector 127"/>
          <p:cNvCxnSpPr>
            <a:stCxn id="10" idx="3"/>
            <a:endCxn id="14" idx="1"/>
          </p:cNvCxnSpPr>
          <p:nvPr/>
        </p:nvCxnSpPr>
        <p:spPr>
          <a:xfrm>
            <a:off x="5953126" y="2914650"/>
            <a:ext cx="285749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9" name="Straight Arrow Connector 128"/>
          <p:cNvCxnSpPr>
            <a:stCxn id="14" idx="3"/>
            <a:endCxn id="18" idx="1"/>
          </p:cNvCxnSpPr>
          <p:nvPr/>
        </p:nvCxnSpPr>
        <p:spPr>
          <a:xfrm>
            <a:off x="8710613" y="2914650"/>
            <a:ext cx="285750" cy="0"/>
          </a:xfrm>
          <a:prstGeom prst="straightConnector1">
            <a:avLst/>
          </a:prstGeom>
          <a:ln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7EF2A6C-BF47-4AA5-9C10-F74239C2C0B0}"/>
              </a:ext>
            </a:extLst>
          </p:cNvPr>
          <p:cNvSpPr>
            <a:spLocks noGrp="1"/>
          </p:cNvSpPr>
          <p:nvPr/>
        </p:nvSpPr>
        <p:spPr>
          <a:xfrm>
            <a:off x="1428750" y="4114800"/>
            <a:ext cx="9334500" cy="895350"/>
          </a:xfrm>
          <a:prstGeom prst="roundRect">
            <a:avLst>
              <a:gd name="adj" fmla="val 1383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06316F0-C2C7-4D0F-854B-D12B52E1021E}"/>
              </a:ext>
            </a:extLst>
          </p:cNvPr>
          <p:cNvSpPr>
            <a:spLocks noGrp="1"/>
          </p:cNvSpPr>
          <p:nvPr/>
        </p:nvSpPr>
        <p:spPr>
          <a:xfrm>
            <a:off x="1562100" y="4257675"/>
            <a:ext cx="57150" cy="6096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51932F6-4E08-4A1D-8290-FA90EA7C06A6}"/>
              </a:ext>
            </a:extLst>
          </p:cNvPr>
          <p:cNvSpPr>
            <a:spLocks noGrp="1"/>
          </p:cNvSpPr>
          <p:nvPr/>
        </p:nvSpPr>
        <p:spPr>
          <a:xfrm>
            <a:off x="914400" y="4095750"/>
            <a:ext cx="10363200" cy="1092934"/>
          </a:xfrm>
          <a:prstGeom prst="roundRect">
            <a:avLst>
              <a:gd name="adj" fmla="val 8046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24CA7DA1-6411-4E28-8A57-2399C162125B}"/>
              </a:ext>
            </a:extLst>
          </p:cNvPr>
          <p:cNvSpPr>
            <a:spLocks noGrp="1"/>
          </p:cNvSpPr>
          <p:nvPr/>
        </p:nvSpPr>
        <p:spPr>
          <a:xfrm>
            <a:off x="1085850" y="4248150"/>
            <a:ext cx="45719" cy="7620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8B9B716-F82A-424E-9A53-E2F897816C23}"/>
              </a:ext>
            </a:extLst>
          </p:cNvPr>
          <p:cNvSpPr>
            <a:spLocks noGrp="1"/>
          </p:cNvSpPr>
          <p:nvPr/>
        </p:nvSpPr>
        <p:spPr>
          <a:xfrm>
            <a:off x="1333500" y="42005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ЗА ЗАВРШЕТАК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3473A48-7A3E-426E-8C2D-EDB594170070}"/>
              </a:ext>
            </a:extLst>
          </p:cNvPr>
          <p:cNvSpPr>
            <a:spLocks noGrp="1"/>
          </p:cNvSpPr>
          <p:nvPr/>
        </p:nvSpPr>
        <p:spPr>
          <a:xfrm>
            <a:off x="1333500" y="4429125"/>
            <a:ext cx="96393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C89B35D-810F-4ADE-AE04-8E1E144E0099}"/>
              </a:ext>
            </a:extLst>
          </p:cNvPr>
          <p:cNvSpPr>
            <a:spLocks noGrp="1"/>
          </p:cNvSpPr>
          <p:nvPr/>
        </p:nvSpPr>
        <p:spPr>
          <a:xfrm>
            <a:off x="1314450" y="4795838"/>
            <a:ext cx="9639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Следећи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корак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: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применити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исти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модел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на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једну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реалну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границу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сопственом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пројекту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46244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2167</Words>
  <Application>Microsoft Macintosh PowerPoint</Application>
  <DocSecurity>0</DocSecurity>
  <PresentationFormat>Widescreen</PresentationFormat>
  <Paragraphs>354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5</cp:revision>
  <dcterms:created xsi:type="dcterms:W3CDTF">2026-09-29T08:52:44Z</dcterms:created>
  <dcterms:modified xsi:type="dcterms:W3CDTF">2026-09-29T09:12:38Z</dcterms:modified>
</cp:coreProperties>
</file>