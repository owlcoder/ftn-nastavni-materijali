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514F34F-4EE3-461F-84BF-0B95B923945D}"/>
              </a:ext>
            </a:extLst>
          </p:cNvPr>
          <p:cNvSpPr>
            <a:spLocks noGrp="1"/>
          </p:cNvSpPr>
          <p:nvPr/>
        </p:nvSpPr>
        <p:spPr>
          <a:xfrm>
            <a:off x="914400" y="590550"/>
            <a:ext cx="7810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470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28D98A43-7937-4C08-B2AE-115D31C0CD15}"/>
              </a:ext>
            </a:extLst>
          </p:cNvPr>
          <p:cNvSpPr>
            <a:spLocks noGrp="1"/>
          </p:cNvSpPr>
          <p:nvPr/>
        </p:nvSpPr>
        <p:spPr>
          <a:xfrm>
            <a:off x="914400" y="1009650"/>
            <a:ext cx="10363200" cy="9525"/>
          </a:xfrm>
          <a:prstGeom prst="line">
            <a:avLst/>
          </a:prstGeom>
          <a:noFill/>
          <a:ln w="8573">
            <a:solidFill>
              <a:srgbClr val="7F8B9B"/>
            </a:solidFill>
            <a:prstDash val="solid"/>
          </a:ln>
        </p:spPr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396FA3E-37B5-48E5-BAFB-EE721E76F9BF}"/>
              </a:ext>
            </a:extLst>
          </p:cNvPr>
          <p:cNvSpPr>
            <a:spLocks noGrp="1"/>
          </p:cNvSpPr>
          <p:nvPr/>
        </p:nvSpPr>
        <p:spPr>
          <a:xfrm>
            <a:off x="914400" y="1438275"/>
            <a:ext cx="647700" cy="66675"/>
          </a:xfrm>
          <a:prstGeom prst="roundRect">
            <a:avLst>
              <a:gd name="adj" fmla="val 50000"/>
            </a:avLst>
          </a:prstGeom>
          <a:solidFill>
            <a:srgbClr val="315CF4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EC0073-CD05-4874-A095-FF868C97C228}"/>
              </a:ext>
            </a:extLst>
          </p:cNvPr>
          <p:cNvSpPr>
            <a:spLocks noGrp="1"/>
          </p:cNvSpPr>
          <p:nvPr/>
        </p:nvSpPr>
        <p:spPr>
          <a:xfrm>
            <a:off x="914400" y="1771650"/>
            <a:ext cx="10363200" cy="156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4000"/>
              </a:lnSpc>
              <a:buNone/>
              <a:defRPr sz="34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Корелација догађаја, ефективност контрола и учење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3FE283C-2D17-494F-8590-BA6EF747D8D9}"/>
              </a:ext>
            </a:extLst>
          </p:cNvPr>
          <p:cNvSpPr>
            <a:spLocks noGrp="1"/>
          </p:cNvSpPr>
          <p:nvPr/>
        </p:nvSpPr>
        <p:spPr>
          <a:xfrm>
            <a:off x="933450" y="3600450"/>
            <a:ext cx="962025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Безбедност као процес који се мери, проверава и унапређује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9EA1BF86-D518-406A-B3CE-671108CD62BD}"/>
              </a:ext>
            </a:extLst>
          </p:cNvPr>
          <p:cNvSpPr>
            <a:spLocks noGrp="1"/>
          </p:cNvSpPr>
          <p:nvPr/>
        </p:nvSpPr>
        <p:spPr>
          <a:xfrm>
            <a:off x="914400" y="5286375"/>
            <a:ext cx="10363200" cy="9525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C2EE84E-C698-4B9C-B6AF-BDE228876544}"/>
              </a:ext>
            </a:extLst>
          </p:cNvPr>
          <p:cNvSpPr>
            <a:spLocks noGrp="1"/>
          </p:cNvSpPr>
          <p:nvPr/>
        </p:nvSpPr>
        <p:spPr>
          <a:xfrm>
            <a:off x="914400" y="5581650"/>
            <a:ext cx="40005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ОИБ · 5. семестар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18314BE-3355-41CE-93BA-A7CEFB705D47}"/>
              </a:ext>
            </a:extLst>
          </p:cNvPr>
          <p:cNvSpPr>
            <a:spLocks noGrp="1"/>
          </p:cNvSpPr>
          <p:nvPr/>
        </p:nvSpPr>
        <p:spPr>
          <a:xfrm>
            <a:off x="8096250" y="5581650"/>
            <a:ext cx="31813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664471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F0ECF61-EBFC-4D03-9E7E-9A2F6FBF50A6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105B6F46-9009-4EC6-AE30-45943BBF97BD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E2021BD-344C-414A-99DA-CA1663C3FE56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4061D1-76B4-45DB-8F0D-DDBF028F40AD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Проблем који решавамо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02917D-EA2F-4168-9D1B-C63097B005CA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82269"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Завршна слика безбедности не састоји се од појединачних контрола, већ од њихове везе. Догађаји добијају смисао када се корелишу, контрола добија вредност када постоји свеж доказ да ради, а инцидент постаје прилика да се систем побољша без прикривања грешака.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2DE29A4-9DD8-402C-8326-1ECC93D79FC7}"/>
              </a:ext>
            </a:extLst>
          </p:cNvPr>
          <p:cNvSpPr>
            <a:spLocks noGrp="1"/>
          </p:cNvSpPr>
          <p:nvPr/>
        </p:nvSpPr>
        <p:spPr>
          <a:xfrm>
            <a:off x="819150" y="2571750"/>
            <a:ext cx="3257550" cy="2228850"/>
          </a:xfrm>
          <a:prstGeom prst="roundRect">
            <a:avLst>
              <a:gd name="adj" fmla="val 5983"/>
            </a:avLst>
          </a:prstGeom>
          <a:solidFill>
            <a:srgbClr val="FFF0F0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DABF9A-0AA3-4214-848D-D281811230CF}"/>
              </a:ext>
            </a:extLst>
          </p:cNvPr>
          <p:cNvSpPr>
            <a:spLocks noGrp="1"/>
          </p:cNvSpPr>
          <p:nvPr/>
        </p:nvSpPr>
        <p:spPr>
          <a:xfrm>
            <a:off x="971550" y="2695575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ПРОБЛЕМ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9AD96CF-9B70-4903-9399-BCC7E13E21BE}"/>
              </a:ext>
            </a:extLst>
          </p:cNvPr>
          <p:cNvSpPr>
            <a:spLocks noGrp="1"/>
          </p:cNvSpPr>
          <p:nvPr/>
        </p:nvSpPr>
        <p:spPr>
          <a:xfrm>
            <a:off x="971550" y="2943225"/>
            <a:ext cx="2952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Шта може поћи по злу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56B3F8-71EC-4C1A-AAD9-97B62A78B7E7}"/>
              </a:ext>
            </a:extLst>
          </p:cNvPr>
          <p:cNvSpPr>
            <a:spLocks noGrp="1"/>
          </p:cNvSpPr>
          <p:nvPr/>
        </p:nvSpPr>
        <p:spPr>
          <a:xfrm>
            <a:off x="971550" y="3352800"/>
            <a:ext cx="2952750" cy="1343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8630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Завршна слика безбедности не састоји се од појединачних контрола, већ од њихове везе. Догађаји добијају смисао када се корелишу, контрола добија вредност када постоји свеж доказ да ради, а инцидент постаје прилика да се систем побољша без прикривања грешака.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0D58D13-5B7E-4CAA-A57F-53F5DD093941}"/>
              </a:ext>
            </a:extLst>
          </p:cNvPr>
          <p:cNvSpPr>
            <a:spLocks noGrp="1"/>
          </p:cNvSpPr>
          <p:nvPr/>
        </p:nvSpPr>
        <p:spPr>
          <a:xfrm>
            <a:off x="4467225" y="2571750"/>
            <a:ext cx="3257550" cy="2228850"/>
          </a:xfrm>
          <a:prstGeom prst="roundRect">
            <a:avLst>
              <a:gd name="adj" fmla="val 5983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C4BA77A-756F-4BE5-8870-047CF3E6A742}"/>
              </a:ext>
            </a:extLst>
          </p:cNvPr>
          <p:cNvSpPr>
            <a:spLocks noGrp="1"/>
          </p:cNvSpPr>
          <p:nvPr/>
        </p:nvSpPr>
        <p:spPr>
          <a:xfrm>
            <a:off x="4619625" y="2695575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ЗАШТО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6FF665-9CBE-4D8C-B316-2F6224D1B4E3}"/>
              </a:ext>
            </a:extLst>
          </p:cNvPr>
          <p:cNvSpPr>
            <a:spLocks noGrp="1"/>
          </p:cNvSpPr>
          <p:nvPr/>
        </p:nvSpPr>
        <p:spPr>
          <a:xfrm>
            <a:off x="4619625" y="2943225"/>
            <a:ext cx="2952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Зашто је тема важна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CE14DD-762A-4214-9FC0-7656037CAFC4}"/>
              </a:ext>
            </a:extLst>
          </p:cNvPr>
          <p:cNvSpPr>
            <a:spLocks noGrp="1"/>
          </p:cNvSpPr>
          <p:nvPr/>
        </p:nvSpPr>
        <p:spPr>
          <a:xfrm>
            <a:off x="4619625" y="3352800"/>
            <a:ext cx="2952750" cy="1343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1625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Мерење ефективности спречава лажни осећај сигурности. Контрола која постоји, али је погрешно подешена, никада тестирана или без власника, не заслужује исто поверење као контрола са проверљивим доказом.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2DA1B57-1315-46B1-AAED-7C6690EBE9C6}"/>
              </a:ext>
            </a:extLst>
          </p:cNvPr>
          <p:cNvSpPr>
            <a:spLocks noGrp="1"/>
          </p:cNvSpPr>
          <p:nvPr/>
        </p:nvSpPr>
        <p:spPr>
          <a:xfrm>
            <a:off x="8115300" y="2571750"/>
            <a:ext cx="3257550" cy="2228850"/>
          </a:xfrm>
          <a:prstGeom prst="roundRect">
            <a:avLst>
              <a:gd name="adj" fmla="val 5983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C14DF60-DA11-4F9F-9563-DB1FC4996BED}"/>
              </a:ext>
            </a:extLst>
          </p:cNvPr>
          <p:cNvSpPr>
            <a:spLocks noGrp="1"/>
          </p:cNvSpPr>
          <p:nvPr/>
        </p:nvSpPr>
        <p:spPr>
          <a:xfrm>
            <a:off x="8267700" y="2695575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ИСХОД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5495E3-FF2D-42BD-AB38-581705343BE5}"/>
              </a:ext>
            </a:extLst>
          </p:cNvPr>
          <p:cNvSpPr>
            <a:spLocks noGrp="1"/>
          </p:cNvSpPr>
          <p:nvPr/>
        </p:nvSpPr>
        <p:spPr>
          <a:xfrm>
            <a:off x="8267700" y="2943225"/>
            <a:ext cx="2952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Шта треба доказати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050AF9-CCC4-4CDC-8C84-304996F42875}"/>
              </a:ext>
            </a:extLst>
          </p:cNvPr>
          <p:cNvSpPr>
            <a:spLocks noGrp="1"/>
          </p:cNvSpPr>
          <p:nvPr/>
        </p:nvSpPr>
        <p:spPr>
          <a:xfrm>
            <a:off x="8267700" y="3352800"/>
            <a:ext cx="2952750" cy="1343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Одлука је јасна, примењује се на серверу и оставља поновљив доказ успешног и одбијеног исхода.</a:t>
            </a:r>
          </a:p>
        </p:txBody>
      </p:sp>
    </p:spTree>
    <p:extLst>
      <p:ext uri="{BB962C8B-B14F-4D97-AF65-F5344CB8AC3E}">
        <p14:creationId xmlns:p14="http://schemas.microsoft.com/office/powerpoint/2010/main" val="262796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21FE8C80-45F3-4687-BF76-AFF2CF2E93E9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9FE4D3C2-232B-4FD4-A81C-8BE440B923B3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70381B9-0255-44A7-A298-ADEEDCB5A291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18921D-6EAF-4DC6-93D8-2D10901595F5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Четири појма граде једну одлуку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D551CE-9604-47E2-BFDA-2A029D2838F5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Сваки елемент одговара на друго питање и оставља другачији доказ.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95C803B-DE39-4679-A4E6-9B9A96166F80}"/>
              </a:ext>
            </a:extLst>
          </p:cNvPr>
          <p:cNvSpPr>
            <a:spLocks noGrp="1"/>
          </p:cNvSpPr>
          <p:nvPr/>
        </p:nvSpPr>
        <p:spPr>
          <a:xfrm>
            <a:off x="723900" y="2419350"/>
            <a:ext cx="2471738" cy="1257300"/>
          </a:xfrm>
          <a:prstGeom prst="roundRect">
            <a:avLst>
              <a:gd name="adj" fmla="val 10606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F657CA-F5CE-4A2E-AC83-B484AD8D159D}"/>
              </a:ext>
            </a:extLst>
          </p:cNvPr>
          <p:cNvSpPr>
            <a:spLocks noGrp="1"/>
          </p:cNvSpPr>
          <p:nvPr/>
        </p:nvSpPr>
        <p:spPr>
          <a:xfrm>
            <a:off x="866775" y="2533650"/>
            <a:ext cx="2185988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949C74-B140-4AE3-9E08-6891A57B9AFE}"/>
              </a:ext>
            </a:extLst>
          </p:cNvPr>
          <p:cNvSpPr>
            <a:spLocks noGrp="1"/>
          </p:cNvSpPr>
          <p:nvPr/>
        </p:nvSpPr>
        <p:spPr>
          <a:xfrm>
            <a:off x="857250" y="2819400"/>
            <a:ext cx="220503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Догађаји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498671-EC17-4E3F-92AF-7478E0532667}"/>
              </a:ext>
            </a:extLst>
          </p:cNvPr>
          <p:cNvSpPr>
            <a:spLocks noGrp="1"/>
          </p:cNvSpPr>
          <p:nvPr/>
        </p:nvSpPr>
        <p:spPr>
          <a:xfrm>
            <a:off x="866775" y="3209925"/>
            <a:ext cx="218598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појединачни трагови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170EBA0-968C-4902-B9D1-E96CFD01E4DC}"/>
              </a:ext>
            </a:extLst>
          </p:cNvPr>
          <p:cNvSpPr>
            <a:spLocks noGrp="1"/>
          </p:cNvSpPr>
          <p:nvPr/>
        </p:nvSpPr>
        <p:spPr>
          <a:xfrm>
            <a:off x="3481388" y="2419350"/>
            <a:ext cx="2471738" cy="1257300"/>
          </a:xfrm>
          <a:prstGeom prst="roundRect">
            <a:avLst>
              <a:gd name="adj" fmla="val 10606"/>
            </a:avLst>
          </a:prstGeom>
          <a:solidFill>
            <a:srgbClr val="EDF8FA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5C2CE2B-9A61-419B-8F75-CEFF54E89AF1}"/>
              </a:ext>
            </a:extLst>
          </p:cNvPr>
          <p:cNvSpPr>
            <a:spLocks noGrp="1"/>
          </p:cNvSpPr>
          <p:nvPr/>
        </p:nvSpPr>
        <p:spPr>
          <a:xfrm>
            <a:off x="3624263" y="2533650"/>
            <a:ext cx="2185988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6849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849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C949DF-8FA0-4A38-AC75-6F3451E502D7}"/>
              </a:ext>
            </a:extLst>
          </p:cNvPr>
          <p:cNvSpPr>
            <a:spLocks noGrp="1"/>
          </p:cNvSpPr>
          <p:nvPr/>
        </p:nvSpPr>
        <p:spPr>
          <a:xfrm>
            <a:off x="3614738" y="2819400"/>
            <a:ext cx="220503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Корелација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79B123C-A4AF-467B-879C-C3FD6EDA6035}"/>
              </a:ext>
            </a:extLst>
          </p:cNvPr>
          <p:cNvSpPr>
            <a:spLocks noGrp="1"/>
          </p:cNvSpPr>
          <p:nvPr/>
        </p:nvSpPr>
        <p:spPr>
          <a:xfrm>
            <a:off x="3624263" y="3209925"/>
            <a:ext cx="218598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заједнички контекст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43CF1901-1C7E-47CD-8AEC-C4DAE1D884D1}"/>
              </a:ext>
            </a:extLst>
          </p:cNvPr>
          <p:cNvSpPr>
            <a:spLocks noGrp="1"/>
          </p:cNvSpPr>
          <p:nvPr/>
        </p:nvSpPr>
        <p:spPr>
          <a:xfrm>
            <a:off x="6238875" y="2419350"/>
            <a:ext cx="2471738" cy="1257300"/>
          </a:xfrm>
          <a:prstGeom prst="roundRect">
            <a:avLst>
              <a:gd name="adj" fmla="val 10606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590F6B-D738-4BCA-B26A-44D3EF3E95C2}"/>
              </a:ext>
            </a:extLst>
          </p:cNvPr>
          <p:cNvSpPr>
            <a:spLocks noGrp="1"/>
          </p:cNvSpPr>
          <p:nvPr/>
        </p:nvSpPr>
        <p:spPr>
          <a:xfrm>
            <a:off x="6381750" y="2533650"/>
            <a:ext cx="2185988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D0967C9-1044-404A-9728-C53F2DF808EF}"/>
              </a:ext>
            </a:extLst>
          </p:cNvPr>
          <p:cNvSpPr>
            <a:spLocks noGrp="1"/>
          </p:cNvSpPr>
          <p:nvPr/>
        </p:nvSpPr>
        <p:spPr>
          <a:xfrm>
            <a:off x="6372225" y="2819400"/>
            <a:ext cx="220503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Контрола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61EEE45-4764-445A-B401-3FC545ED23AA}"/>
              </a:ext>
            </a:extLst>
          </p:cNvPr>
          <p:cNvSpPr>
            <a:spLocks noGrp="1"/>
          </p:cNvSpPr>
          <p:nvPr/>
        </p:nvSpPr>
        <p:spPr>
          <a:xfrm>
            <a:off x="6381750" y="3209925"/>
            <a:ext cx="218598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смањује одређени ризик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794FB77-C63F-4086-901F-5A8FA7758724}"/>
              </a:ext>
            </a:extLst>
          </p:cNvPr>
          <p:cNvSpPr>
            <a:spLocks noGrp="1"/>
          </p:cNvSpPr>
          <p:nvPr/>
        </p:nvSpPr>
        <p:spPr>
          <a:xfrm>
            <a:off x="8996363" y="2419350"/>
            <a:ext cx="2471738" cy="1257300"/>
          </a:xfrm>
          <a:prstGeom prst="roundRect">
            <a:avLst>
              <a:gd name="adj" fmla="val 10606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3AEF26C-0509-41A2-98D6-0D6F49F98E60}"/>
              </a:ext>
            </a:extLst>
          </p:cNvPr>
          <p:cNvSpPr>
            <a:spLocks noGrp="1"/>
          </p:cNvSpPr>
          <p:nvPr/>
        </p:nvSpPr>
        <p:spPr>
          <a:xfrm>
            <a:off x="9139238" y="2533650"/>
            <a:ext cx="2185988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29D883C-6D25-498F-B1A9-D25639DB6BD2}"/>
              </a:ext>
            </a:extLst>
          </p:cNvPr>
          <p:cNvSpPr>
            <a:spLocks noGrp="1"/>
          </p:cNvSpPr>
          <p:nvPr/>
        </p:nvSpPr>
        <p:spPr>
          <a:xfrm>
            <a:off x="9129713" y="2819400"/>
            <a:ext cx="220503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Доказ и учење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B949405-0087-42E6-AA48-AE72B34C7709}"/>
              </a:ext>
            </a:extLst>
          </p:cNvPr>
          <p:cNvSpPr>
            <a:spLocks noGrp="1"/>
          </p:cNvSpPr>
          <p:nvPr/>
        </p:nvSpPr>
        <p:spPr>
          <a:xfrm>
            <a:off x="9139238" y="3209925"/>
            <a:ext cx="218598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мери и побољшава</a:t>
            </a:r>
          </a:p>
        </p:txBody>
      </p:sp>
      <p:cxnSp>
        <p:nvCxnSpPr>
          <p:cNvPr id="125" name="Straight Arrow Connector 124"/>
          <p:cNvCxnSpPr>
            <a:stCxn id="6" idx="3"/>
            <a:endCxn id="10" idx="1"/>
          </p:cNvCxnSpPr>
          <p:nvPr/>
        </p:nvCxnSpPr>
        <p:spPr>
          <a:xfrm>
            <a:off x="3195638" y="3048000"/>
            <a:ext cx="285750" cy="0"/>
          </a:xfrm>
          <a:prstGeom prst="straightConnector1">
            <a:avLst/>
          </a:prstGeom>
          <a:ln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26" name="Straight Arrow Connector 125"/>
          <p:cNvCxnSpPr>
            <a:stCxn id="10" idx="3"/>
            <a:endCxn id="14" idx="1"/>
          </p:cNvCxnSpPr>
          <p:nvPr/>
        </p:nvCxnSpPr>
        <p:spPr>
          <a:xfrm>
            <a:off x="5953126" y="3048000"/>
            <a:ext cx="285749" cy="0"/>
          </a:xfrm>
          <a:prstGeom prst="straightConnector1">
            <a:avLst/>
          </a:prstGeom>
          <a:ln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27" name="Straight Arrow Connector 126"/>
          <p:cNvCxnSpPr>
            <a:stCxn id="14" idx="3"/>
            <a:endCxn id="18" idx="1"/>
          </p:cNvCxnSpPr>
          <p:nvPr/>
        </p:nvCxnSpPr>
        <p:spPr>
          <a:xfrm>
            <a:off x="8710613" y="3048000"/>
            <a:ext cx="285750" cy="0"/>
          </a:xfrm>
          <a:prstGeom prst="straightConnector1">
            <a:avLst/>
          </a:prstGeom>
          <a:ln w="13335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4C4E2B4C-F88B-485D-A461-30FF478B3561}"/>
              </a:ext>
            </a:extLst>
          </p:cNvPr>
          <p:cNvSpPr>
            <a:spLocks noGrp="1"/>
          </p:cNvSpPr>
          <p:nvPr/>
        </p:nvSpPr>
        <p:spPr>
          <a:xfrm>
            <a:off x="1619250" y="4286250"/>
            <a:ext cx="8953500" cy="800100"/>
          </a:xfrm>
          <a:prstGeom prst="roundRect">
            <a:avLst>
              <a:gd name="adj" fmla="val 15476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670B4116-DEE9-4997-AFB5-F458D7481555}"/>
              </a:ext>
            </a:extLst>
          </p:cNvPr>
          <p:cNvSpPr>
            <a:spLocks noGrp="1"/>
          </p:cNvSpPr>
          <p:nvPr/>
        </p:nvSpPr>
        <p:spPr>
          <a:xfrm>
            <a:off x="1752600" y="4429125"/>
            <a:ext cx="57150" cy="514350"/>
          </a:xfrm>
          <a:prstGeom prst="roundRect">
            <a:avLst>
              <a:gd name="adj" fmla="val 50000"/>
            </a:avLst>
          </a:prstGeom>
          <a:solidFill>
            <a:srgbClr val="748092"/>
          </a:solidFill>
          <a:ln w="0">
            <a:noFill/>
          </a:ln>
        </p:spPr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3A2E2605-F6D5-4FF1-B2FF-746D6CA26B46}"/>
              </a:ext>
            </a:extLst>
          </p:cNvPr>
          <p:cNvSpPr>
            <a:spLocks noGrp="1"/>
          </p:cNvSpPr>
          <p:nvPr/>
        </p:nvSpPr>
        <p:spPr>
          <a:xfrm>
            <a:off x="914400" y="43053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B6D9384E-B444-4E95-80DD-8E025D6BF247}"/>
              </a:ext>
            </a:extLst>
          </p:cNvPr>
          <p:cNvSpPr>
            <a:spLocks noGrp="1"/>
          </p:cNvSpPr>
          <p:nvPr/>
        </p:nvSpPr>
        <p:spPr>
          <a:xfrm>
            <a:off x="1085850" y="44577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A9F2543-EA36-40AD-8C5B-082FEC094602}"/>
              </a:ext>
            </a:extLst>
          </p:cNvPr>
          <p:cNvSpPr>
            <a:spLocks noGrp="1"/>
          </p:cNvSpPr>
          <p:nvPr/>
        </p:nvSpPr>
        <p:spPr>
          <a:xfrm>
            <a:off x="1333500" y="4410075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9E525BB-0CCE-456A-91BA-0F349FD0DD3F}"/>
              </a:ext>
            </a:extLst>
          </p:cNvPr>
          <p:cNvSpPr>
            <a:spLocks noGrp="1"/>
          </p:cNvSpPr>
          <p:nvPr/>
        </p:nvSpPr>
        <p:spPr>
          <a:xfrm>
            <a:off x="1333500" y="4638675"/>
            <a:ext cx="96393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Безбедност напредује кроз повратну спрегу: доказ мења разумевање ризика, а то мења контролу.</a:t>
            </a:r>
          </a:p>
        </p:txBody>
      </p:sp>
    </p:spTree>
    <p:extLst>
      <p:ext uri="{BB962C8B-B14F-4D97-AF65-F5344CB8AC3E}">
        <p14:creationId xmlns:p14="http://schemas.microsoft.com/office/powerpoint/2010/main" val="1423901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D7C2F836-FA93-4E16-86B2-C8534FE8F0D3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75F3546A-68BF-4A65-90DF-02544ADF2F35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6DDD71-1B7A-4800-B61D-DEF656DCF0EC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0389FD-1890-404F-8CE8-1D00993994D7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Догађаји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EAB119-A22C-4979-A7BA-6BC26DD72C76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појединачни трагови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EB824BF-2B4C-4CDC-A7D9-66FC888668FE}"/>
              </a:ext>
            </a:extLst>
          </p:cNvPr>
          <p:cNvSpPr>
            <a:spLocks noGrp="1"/>
          </p:cNvSpPr>
          <p:nvPr/>
        </p:nvSpPr>
        <p:spPr>
          <a:xfrm>
            <a:off x="895350" y="2428875"/>
            <a:ext cx="3257550" cy="1952625"/>
          </a:xfrm>
          <a:prstGeom prst="roundRect">
            <a:avLst>
              <a:gd name="adj" fmla="val 6829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882BD61-814C-400D-A503-B14AFE525D5B}"/>
              </a:ext>
            </a:extLst>
          </p:cNvPr>
          <p:cNvSpPr>
            <a:spLocks noGrp="1"/>
          </p:cNvSpPr>
          <p:nvPr/>
        </p:nvSpPr>
        <p:spPr>
          <a:xfrm>
            <a:off x="1047750" y="2552700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447F1D-8350-4BE6-9E00-C8B0CDF1909D}"/>
              </a:ext>
            </a:extLst>
          </p:cNvPr>
          <p:cNvSpPr>
            <a:spLocks noGrp="1"/>
          </p:cNvSpPr>
          <p:nvPr/>
        </p:nvSpPr>
        <p:spPr>
          <a:xfrm>
            <a:off x="1047750" y="2800350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Корелација повезује догађаје кроз време, актере и ресурсе, а не само по једној поруци лога.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26ADA3-75E8-4662-9D6D-B206CAB72B60}"/>
              </a:ext>
            </a:extLst>
          </p:cNvPr>
          <p:cNvSpPr>
            <a:spLocks noGrp="1"/>
          </p:cNvSpPr>
          <p:nvPr/>
        </p:nvSpPr>
        <p:spPr>
          <a:xfrm>
            <a:off x="1047750" y="3648075"/>
            <a:ext cx="29527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улаз покреће ову одлуку?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18A9B15-4CBB-4E43-B9F0-D25CC60D0E34}"/>
              </a:ext>
            </a:extLst>
          </p:cNvPr>
          <p:cNvSpPr>
            <a:spLocks noGrp="1"/>
          </p:cNvSpPr>
          <p:nvPr/>
        </p:nvSpPr>
        <p:spPr>
          <a:xfrm>
            <a:off x="4457700" y="2428875"/>
            <a:ext cx="3257550" cy="1952625"/>
          </a:xfrm>
          <a:prstGeom prst="roundRect">
            <a:avLst>
              <a:gd name="adj" fmla="val 6829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88AD2F-77FA-4312-9C33-38DAEF46E31D}"/>
              </a:ext>
            </a:extLst>
          </p:cNvPr>
          <p:cNvSpPr>
            <a:spLocks noGrp="1"/>
          </p:cNvSpPr>
          <p:nvPr/>
        </p:nvSpPr>
        <p:spPr>
          <a:xfrm>
            <a:off x="4610100" y="2552700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AC10578-9DB7-4BE4-BC7B-33DF9F1EDC38}"/>
              </a:ext>
            </a:extLst>
          </p:cNvPr>
          <p:cNvSpPr>
            <a:spLocks noGrp="1"/>
          </p:cNvSpPr>
          <p:nvPr/>
        </p:nvSpPr>
        <p:spPr>
          <a:xfrm>
            <a:off x="4610100" y="2800350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Корелација повезује низ догађаја у једну причу о понашању система.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DF357E-E905-479B-A880-8BBF241B8558}"/>
              </a:ext>
            </a:extLst>
          </p:cNvPr>
          <p:cNvSpPr>
            <a:spLocks noGrp="1"/>
          </p:cNvSpPr>
          <p:nvPr/>
        </p:nvSpPr>
        <p:spPr>
          <a:xfrm>
            <a:off x="4610100" y="3648075"/>
            <a:ext cx="29527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која граница мора бити видљива?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4D15C446-3F0F-4496-B0F3-DD12ACA3930D}"/>
              </a:ext>
            </a:extLst>
          </p:cNvPr>
          <p:cNvSpPr>
            <a:spLocks noGrp="1"/>
          </p:cNvSpPr>
          <p:nvPr/>
        </p:nvSpPr>
        <p:spPr>
          <a:xfrm>
            <a:off x="8020050" y="2428875"/>
            <a:ext cx="3257550" cy="1952625"/>
          </a:xfrm>
          <a:prstGeom prst="roundRect">
            <a:avLst>
              <a:gd name="adj" fmla="val 6829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EB89E2A-6288-4E01-A0E8-0AEC1D24E91A}"/>
              </a:ext>
            </a:extLst>
          </p:cNvPr>
          <p:cNvSpPr>
            <a:spLocks noGrp="1"/>
          </p:cNvSpPr>
          <p:nvPr/>
        </p:nvSpPr>
        <p:spPr>
          <a:xfrm>
            <a:off x="8172450" y="2552700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61829D2-AC91-4121-96AD-A687A8BB8D0D}"/>
              </a:ext>
            </a:extLst>
          </p:cNvPr>
          <p:cNvSpPr>
            <a:spLocks noGrp="1"/>
          </p:cNvSpPr>
          <p:nvPr/>
        </p:nvSpPr>
        <p:spPr>
          <a:xfrm>
            <a:off x="8172450" y="2800350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Корелациони идентификатор повезује намеру, обраду и исход једне радње.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A61F097-44BE-42D1-9BAA-646EDC84C44D}"/>
              </a:ext>
            </a:extLst>
          </p:cNvPr>
          <p:cNvSpPr>
            <a:spLocks noGrp="1"/>
          </p:cNvSpPr>
          <p:nvPr/>
        </p:nvSpPr>
        <p:spPr>
          <a:xfrm>
            <a:off x="8172450" y="3648075"/>
            <a:ext cx="29527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доказ остаје после исхода?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77B4506A-2812-4771-85EB-1BEBEBC86473}"/>
              </a:ext>
            </a:extLst>
          </p:cNvPr>
          <p:cNvSpPr>
            <a:spLocks noGrp="1"/>
          </p:cNvSpPr>
          <p:nvPr/>
        </p:nvSpPr>
        <p:spPr>
          <a:xfrm>
            <a:off x="1600200" y="4752975"/>
            <a:ext cx="8991600" cy="74295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4CCC897-1E7C-4CED-9630-D746DC21CB88}"/>
              </a:ext>
            </a:extLst>
          </p:cNvPr>
          <p:cNvSpPr>
            <a:spLocks noGrp="1"/>
          </p:cNvSpPr>
          <p:nvPr/>
        </p:nvSpPr>
        <p:spPr>
          <a:xfrm>
            <a:off x="1733550" y="4895850"/>
            <a:ext cx="57150" cy="4572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55617A2-76DE-449A-B267-F7B1DFB4AC68}"/>
              </a:ext>
            </a:extLst>
          </p:cNvPr>
          <p:cNvSpPr>
            <a:spLocks noGrp="1"/>
          </p:cNvSpPr>
          <p:nvPr/>
        </p:nvSpPr>
        <p:spPr>
          <a:xfrm>
            <a:off x="914400" y="4762500"/>
            <a:ext cx="10363200" cy="781050"/>
          </a:xfrm>
          <a:prstGeom prst="roundRect">
            <a:avLst>
              <a:gd name="adj" fmla="val 17073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0AE54868-85F0-4B67-A3A1-16874A83D739}"/>
              </a:ext>
            </a:extLst>
          </p:cNvPr>
          <p:cNvSpPr>
            <a:spLocks noGrp="1"/>
          </p:cNvSpPr>
          <p:nvPr/>
        </p:nvSpPr>
        <p:spPr>
          <a:xfrm>
            <a:off x="1085850" y="4914900"/>
            <a:ext cx="57150" cy="47625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9826A66-1C06-4BC1-95F2-136C68705B4C}"/>
              </a:ext>
            </a:extLst>
          </p:cNvPr>
          <p:cNvSpPr>
            <a:spLocks noGrp="1"/>
          </p:cNvSpPr>
          <p:nvPr/>
        </p:nvSpPr>
        <p:spPr>
          <a:xfrm>
            <a:off x="1333500" y="4867275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ПИТАЊЕ ЗА ДИСКУСИЈУ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39A2D59-DA22-49F8-8C61-BA4EA4FFECEF}"/>
              </a:ext>
            </a:extLst>
          </p:cNvPr>
          <p:cNvSpPr>
            <a:spLocks noGrp="1"/>
          </p:cNvSpPr>
          <p:nvPr/>
        </p:nvSpPr>
        <p:spPr>
          <a:xfrm>
            <a:off x="1333500" y="5095875"/>
            <a:ext cx="9639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87712"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Изаберите једну контролу и покажите који ризик ублажава, који доказ чува и како бисте приметили да је престала да ради.</a:t>
            </a:r>
          </a:p>
        </p:txBody>
      </p:sp>
    </p:spTree>
    <p:extLst>
      <p:ext uri="{BB962C8B-B14F-4D97-AF65-F5344CB8AC3E}">
        <p14:creationId xmlns:p14="http://schemas.microsoft.com/office/powerpoint/2010/main" val="1236263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EABD5342-9AE5-4ED1-B9CD-E26C0C37CABF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E66378AC-3B73-4066-B9A3-14DA842DAC1C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AE4209-372B-4A93-8F20-F8C0359DA580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36957B-29E3-4CD1-ABD5-6EEF4ED44EF0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Корелација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D197A1-5671-43B7-8AC3-1E88ABF9B544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заједнички контекст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EA0A3BD-D952-480F-AE1B-37FCCE0E25CA}"/>
              </a:ext>
            </a:extLst>
          </p:cNvPr>
          <p:cNvSpPr>
            <a:spLocks noGrp="1"/>
          </p:cNvSpPr>
          <p:nvPr/>
        </p:nvSpPr>
        <p:spPr>
          <a:xfrm>
            <a:off x="895350" y="2428875"/>
            <a:ext cx="3257550" cy="1952625"/>
          </a:xfrm>
          <a:prstGeom prst="roundRect">
            <a:avLst>
              <a:gd name="adj" fmla="val 6829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7DF9B2-96EA-44A0-A9E2-74428BFEF4FB}"/>
              </a:ext>
            </a:extLst>
          </p:cNvPr>
          <p:cNvSpPr>
            <a:spLocks noGrp="1"/>
          </p:cNvSpPr>
          <p:nvPr/>
        </p:nvSpPr>
        <p:spPr>
          <a:xfrm>
            <a:off x="1047750" y="2552700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3BACFC2-CA96-4562-BA8F-4E2F30741207}"/>
              </a:ext>
            </a:extLst>
          </p:cNvPr>
          <p:cNvSpPr>
            <a:spLocks noGrp="1"/>
          </p:cNvSpPr>
          <p:nvPr/>
        </p:nvSpPr>
        <p:spPr>
          <a:xfrm>
            <a:off x="1047750" y="2800350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Одговор са већим последицама захтева људску одлуку и јасан траг одобрења.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76D3A22-B613-4D44-AE95-177BC75343EC}"/>
              </a:ext>
            </a:extLst>
          </p:cNvPr>
          <p:cNvSpPr>
            <a:spLocks noGrp="1"/>
          </p:cNvSpPr>
          <p:nvPr/>
        </p:nvSpPr>
        <p:spPr>
          <a:xfrm>
            <a:off x="1047750" y="3648075"/>
            <a:ext cx="29527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улаз покреће ову одлуку?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9F5F03E-89A6-423F-BA1B-E050C601811F}"/>
              </a:ext>
            </a:extLst>
          </p:cNvPr>
          <p:cNvSpPr>
            <a:spLocks noGrp="1"/>
          </p:cNvSpPr>
          <p:nvPr/>
        </p:nvSpPr>
        <p:spPr>
          <a:xfrm>
            <a:off x="4457700" y="2428875"/>
            <a:ext cx="3257550" cy="1952625"/>
          </a:xfrm>
          <a:prstGeom prst="roundRect">
            <a:avLst>
              <a:gd name="adj" fmla="val 6829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16E6AB-3065-4A57-840F-0BCBC36C998D}"/>
              </a:ext>
            </a:extLst>
          </p:cNvPr>
          <p:cNvSpPr>
            <a:spLocks noGrp="1"/>
          </p:cNvSpPr>
          <p:nvPr/>
        </p:nvSpPr>
        <p:spPr>
          <a:xfrm>
            <a:off x="4610100" y="2552700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D0C50C-613B-4518-9CFE-5DFD95FD5F82}"/>
              </a:ext>
            </a:extLst>
          </p:cNvPr>
          <p:cNvSpPr>
            <a:spLocks noGrp="1"/>
          </p:cNvSpPr>
          <p:nvPr/>
        </p:nvSpPr>
        <p:spPr>
          <a:xfrm>
            <a:off x="4610100" y="2800350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3046"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Мера ефективности прати да ли контрола има власника, доказ и покривеност релевантног сценарија.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EE13BA-98C2-4475-8A47-8E64767BA3FC}"/>
              </a:ext>
            </a:extLst>
          </p:cNvPr>
          <p:cNvSpPr>
            <a:spLocks noGrp="1"/>
          </p:cNvSpPr>
          <p:nvPr/>
        </p:nvSpPr>
        <p:spPr>
          <a:xfrm>
            <a:off x="4610100" y="3648075"/>
            <a:ext cx="29527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која граница мора бити видљива?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55EE249-DBF8-465A-AB6B-FF51BE7954AF}"/>
              </a:ext>
            </a:extLst>
          </p:cNvPr>
          <p:cNvSpPr>
            <a:spLocks noGrp="1"/>
          </p:cNvSpPr>
          <p:nvPr/>
        </p:nvSpPr>
        <p:spPr>
          <a:xfrm>
            <a:off x="8020050" y="2428875"/>
            <a:ext cx="3257550" cy="1952625"/>
          </a:xfrm>
          <a:prstGeom prst="roundRect">
            <a:avLst>
              <a:gd name="adj" fmla="val 6829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444503D-40B4-4CFE-A86B-E525CDC7DEF9}"/>
              </a:ext>
            </a:extLst>
          </p:cNvPr>
          <p:cNvSpPr>
            <a:spLocks noGrp="1"/>
          </p:cNvSpPr>
          <p:nvPr/>
        </p:nvSpPr>
        <p:spPr>
          <a:xfrm>
            <a:off x="8172450" y="2552700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3A471EE-8169-4E39-990D-FAC646C99588}"/>
              </a:ext>
            </a:extLst>
          </p:cNvPr>
          <p:cNvSpPr>
            <a:spLocks noGrp="1"/>
          </p:cNvSpPr>
          <p:nvPr/>
        </p:nvSpPr>
        <p:spPr>
          <a:xfrm>
            <a:off x="8172450" y="2800350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Правила корелације морају бити објашњива, посебно када утичу на приоритет упозорења.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DFD71E0-2D50-49F8-97E9-2FEDDA056F69}"/>
              </a:ext>
            </a:extLst>
          </p:cNvPr>
          <p:cNvSpPr>
            <a:spLocks noGrp="1"/>
          </p:cNvSpPr>
          <p:nvPr/>
        </p:nvSpPr>
        <p:spPr>
          <a:xfrm>
            <a:off x="8172450" y="3648075"/>
            <a:ext cx="29527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доказ остаје после исхода?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C11FCAF-3AA9-478C-A844-5B0CF67FFD00}"/>
              </a:ext>
            </a:extLst>
          </p:cNvPr>
          <p:cNvSpPr>
            <a:spLocks noGrp="1"/>
          </p:cNvSpPr>
          <p:nvPr/>
        </p:nvSpPr>
        <p:spPr>
          <a:xfrm>
            <a:off x="1600200" y="4752975"/>
            <a:ext cx="8991600" cy="74295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60AD80E-BE47-445C-930E-58C06E46606E}"/>
              </a:ext>
            </a:extLst>
          </p:cNvPr>
          <p:cNvSpPr>
            <a:spLocks noGrp="1"/>
          </p:cNvSpPr>
          <p:nvPr/>
        </p:nvSpPr>
        <p:spPr>
          <a:xfrm>
            <a:off x="1733550" y="4895850"/>
            <a:ext cx="57150" cy="4572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998B8C0A-3CCD-483C-89AF-77DB08B13997}"/>
              </a:ext>
            </a:extLst>
          </p:cNvPr>
          <p:cNvSpPr>
            <a:spLocks noGrp="1"/>
          </p:cNvSpPr>
          <p:nvPr/>
        </p:nvSpPr>
        <p:spPr>
          <a:xfrm>
            <a:off x="914400" y="4762500"/>
            <a:ext cx="10363200" cy="781050"/>
          </a:xfrm>
          <a:prstGeom prst="roundRect">
            <a:avLst>
              <a:gd name="adj" fmla="val 17073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2FA9C5B-D9D4-453C-8CE1-2DF805EF4167}"/>
              </a:ext>
            </a:extLst>
          </p:cNvPr>
          <p:cNvSpPr>
            <a:spLocks noGrp="1"/>
          </p:cNvSpPr>
          <p:nvPr/>
        </p:nvSpPr>
        <p:spPr>
          <a:xfrm>
            <a:off x="1085850" y="4914900"/>
            <a:ext cx="57150" cy="47625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5F305B9-8B32-4E7B-AB3E-18411B69ABC0}"/>
              </a:ext>
            </a:extLst>
          </p:cNvPr>
          <p:cNvSpPr>
            <a:spLocks noGrp="1"/>
          </p:cNvSpPr>
          <p:nvPr/>
        </p:nvSpPr>
        <p:spPr>
          <a:xfrm>
            <a:off x="1333500" y="4867275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ПИТАЊЕ ЗА ДИСКУСИЈУ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766F13-B081-477E-89EF-DFCD9BC3E428}"/>
              </a:ext>
            </a:extLst>
          </p:cNvPr>
          <p:cNvSpPr>
            <a:spLocks noGrp="1"/>
          </p:cNvSpPr>
          <p:nvPr/>
        </p:nvSpPr>
        <p:spPr>
          <a:xfrm>
            <a:off x="1333500" y="5095875"/>
            <a:ext cx="9639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87712"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Изаберите једну контролу и покажите који ризик ублажава, који доказ чува и како бисте приметили да је престала да ради.</a:t>
            </a:r>
          </a:p>
        </p:txBody>
      </p:sp>
    </p:spTree>
    <p:extLst>
      <p:ext uri="{BB962C8B-B14F-4D97-AF65-F5344CB8AC3E}">
        <p14:creationId xmlns:p14="http://schemas.microsoft.com/office/powerpoint/2010/main" val="99734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AD9C7C7B-FD7A-43B5-ABA5-9F0FF88F8E1C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15485F71-31CF-4FC6-BF2F-CC5FB7BC57F8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5CE5E3-2D0F-4119-9009-06DBF6FAB9C3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A53325-FC43-4FAF-9B97-CD8265254B95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Контрола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C6D3F6-77B1-44FD-8978-1260E48BCA09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смањује одређени ризик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5EAE04D-B105-49C2-96A6-782CF038DA3E}"/>
              </a:ext>
            </a:extLst>
          </p:cNvPr>
          <p:cNvSpPr>
            <a:spLocks noGrp="1"/>
          </p:cNvSpPr>
          <p:nvPr/>
        </p:nvSpPr>
        <p:spPr>
          <a:xfrm>
            <a:off x="895350" y="2428875"/>
            <a:ext cx="3257550" cy="1952625"/>
          </a:xfrm>
          <a:prstGeom prst="roundRect">
            <a:avLst>
              <a:gd name="adj" fmla="val 6829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12E37A-D413-4BF4-9687-16761FEAFB35}"/>
              </a:ext>
            </a:extLst>
          </p:cNvPr>
          <p:cNvSpPr>
            <a:spLocks noGrp="1"/>
          </p:cNvSpPr>
          <p:nvPr/>
        </p:nvSpPr>
        <p:spPr>
          <a:xfrm>
            <a:off x="1047750" y="2552700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289299-FB26-4130-B2BC-C030CE13A3AC}"/>
              </a:ext>
            </a:extLst>
          </p:cNvPr>
          <p:cNvSpPr>
            <a:spLocks noGrp="1"/>
          </p:cNvSpPr>
          <p:nvPr/>
        </p:nvSpPr>
        <p:spPr>
          <a:xfrm>
            <a:off x="1047750" y="2800350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Пост-инцидент преглед испитује систем и процес, не тражи најближег кривца.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D81BAA6-FA88-48B1-B0D5-AB07DA3D9EE8}"/>
              </a:ext>
            </a:extLst>
          </p:cNvPr>
          <p:cNvSpPr>
            <a:spLocks noGrp="1"/>
          </p:cNvSpPr>
          <p:nvPr/>
        </p:nvSpPr>
        <p:spPr>
          <a:xfrm>
            <a:off x="1047750" y="3648075"/>
            <a:ext cx="29527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улаз покреће ову одлуку?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0882B80-2885-41F3-B189-B9DB96793A17}"/>
              </a:ext>
            </a:extLst>
          </p:cNvPr>
          <p:cNvSpPr>
            <a:spLocks noGrp="1"/>
          </p:cNvSpPr>
          <p:nvPr/>
        </p:nvSpPr>
        <p:spPr>
          <a:xfrm>
            <a:off x="4457700" y="2428875"/>
            <a:ext cx="3257550" cy="1952625"/>
          </a:xfrm>
          <a:prstGeom prst="roundRect">
            <a:avLst>
              <a:gd name="adj" fmla="val 6829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D546E12-B8E0-4800-A513-D5529754E6BE}"/>
              </a:ext>
            </a:extLst>
          </p:cNvPr>
          <p:cNvSpPr>
            <a:spLocks noGrp="1"/>
          </p:cNvSpPr>
          <p:nvPr/>
        </p:nvSpPr>
        <p:spPr>
          <a:xfrm>
            <a:off x="4610100" y="2552700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A80CD4B-597A-4406-BC6C-700601785C5E}"/>
              </a:ext>
            </a:extLst>
          </p:cNvPr>
          <p:cNvSpPr>
            <a:spLocks noGrp="1"/>
          </p:cNvSpPr>
          <p:nvPr/>
        </p:nvSpPr>
        <p:spPr>
          <a:xfrm>
            <a:off x="4610100" y="2800350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3046"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Аутоматизован одговор може убрзати реакцију, али радња са великом последицом задржава људску потврду и audit траг.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6D2B88F-14F0-4D2E-8D6E-809077BAB04B}"/>
              </a:ext>
            </a:extLst>
          </p:cNvPr>
          <p:cNvSpPr>
            <a:spLocks noGrp="1"/>
          </p:cNvSpPr>
          <p:nvPr/>
        </p:nvSpPr>
        <p:spPr>
          <a:xfrm>
            <a:off x="4610100" y="3648075"/>
            <a:ext cx="29527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која граница мора бити видљива?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6EFF7B6-4B08-4DFA-B934-66315D53DB4E}"/>
              </a:ext>
            </a:extLst>
          </p:cNvPr>
          <p:cNvSpPr>
            <a:spLocks noGrp="1"/>
          </p:cNvSpPr>
          <p:nvPr/>
        </p:nvSpPr>
        <p:spPr>
          <a:xfrm>
            <a:off x="8020050" y="2428875"/>
            <a:ext cx="3257550" cy="1952625"/>
          </a:xfrm>
          <a:prstGeom prst="roundRect">
            <a:avLst>
              <a:gd name="adj" fmla="val 6829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0F1D85-60B2-48F9-8BE4-AC50EA1198A0}"/>
              </a:ext>
            </a:extLst>
          </p:cNvPr>
          <p:cNvSpPr>
            <a:spLocks noGrp="1"/>
          </p:cNvSpPr>
          <p:nvPr/>
        </p:nvSpPr>
        <p:spPr>
          <a:xfrm>
            <a:off x="8172450" y="2552700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050F03-8613-413E-8329-011037E58A94}"/>
              </a:ext>
            </a:extLst>
          </p:cNvPr>
          <p:cNvSpPr>
            <a:spLocks noGrp="1"/>
          </p:cNvSpPr>
          <p:nvPr/>
        </p:nvSpPr>
        <p:spPr>
          <a:xfrm>
            <a:off x="8172450" y="2800350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Аутоматизација предлаже или ограничава одговор када је последица грешке велика.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B6BF96-F02A-4683-A2A5-35250F73BE9F}"/>
              </a:ext>
            </a:extLst>
          </p:cNvPr>
          <p:cNvSpPr>
            <a:spLocks noGrp="1"/>
          </p:cNvSpPr>
          <p:nvPr/>
        </p:nvSpPr>
        <p:spPr>
          <a:xfrm>
            <a:off x="8172450" y="3648075"/>
            <a:ext cx="29527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доказ остаје после исхода?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5B41B94-51EE-424F-A2EF-0C30D74E6B78}"/>
              </a:ext>
            </a:extLst>
          </p:cNvPr>
          <p:cNvSpPr>
            <a:spLocks noGrp="1"/>
          </p:cNvSpPr>
          <p:nvPr/>
        </p:nvSpPr>
        <p:spPr>
          <a:xfrm>
            <a:off x="1600200" y="4752975"/>
            <a:ext cx="8991600" cy="74295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25CE1270-1D0B-4B9D-BB73-FECDBE4CFF22}"/>
              </a:ext>
            </a:extLst>
          </p:cNvPr>
          <p:cNvSpPr>
            <a:spLocks noGrp="1"/>
          </p:cNvSpPr>
          <p:nvPr/>
        </p:nvSpPr>
        <p:spPr>
          <a:xfrm>
            <a:off x="1733550" y="4895850"/>
            <a:ext cx="57150" cy="4572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5044104-CD7C-4E3E-8B35-B277EDF85FE3}"/>
              </a:ext>
            </a:extLst>
          </p:cNvPr>
          <p:cNvSpPr>
            <a:spLocks noGrp="1"/>
          </p:cNvSpPr>
          <p:nvPr/>
        </p:nvSpPr>
        <p:spPr>
          <a:xfrm>
            <a:off x="914400" y="4762500"/>
            <a:ext cx="10363200" cy="781050"/>
          </a:xfrm>
          <a:prstGeom prst="roundRect">
            <a:avLst>
              <a:gd name="adj" fmla="val 17073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439CCCA7-4580-4D6B-A614-73014302DA5B}"/>
              </a:ext>
            </a:extLst>
          </p:cNvPr>
          <p:cNvSpPr>
            <a:spLocks noGrp="1"/>
          </p:cNvSpPr>
          <p:nvPr/>
        </p:nvSpPr>
        <p:spPr>
          <a:xfrm>
            <a:off x="1085850" y="4914900"/>
            <a:ext cx="57150" cy="47625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83A9210-E033-490B-8F5E-E2C12D204EF6}"/>
              </a:ext>
            </a:extLst>
          </p:cNvPr>
          <p:cNvSpPr>
            <a:spLocks noGrp="1"/>
          </p:cNvSpPr>
          <p:nvPr/>
        </p:nvSpPr>
        <p:spPr>
          <a:xfrm>
            <a:off x="1333500" y="4867275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ПИТАЊЕ ЗА ДИСКУСИЈУ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BD2D97-0B68-4B42-84F8-EDEACF0BC374}"/>
              </a:ext>
            </a:extLst>
          </p:cNvPr>
          <p:cNvSpPr>
            <a:spLocks noGrp="1"/>
          </p:cNvSpPr>
          <p:nvPr/>
        </p:nvSpPr>
        <p:spPr>
          <a:xfrm>
            <a:off x="1333500" y="5095875"/>
            <a:ext cx="9639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87712"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Изаберите једну контролу и покажите који ризик ублажава, који доказ чува и како бисте приметили да је престала да ради.</a:t>
            </a:r>
          </a:p>
        </p:txBody>
      </p:sp>
    </p:spTree>
    <p:extLst>
      <p:ext uri="{BB962C8B-B14F-4D97-AF65-F5344CB8AC3E}">
        <p14:creationId xmlns:p14="http://schemas.microsoft.com/office/powerpoint/2010/main" val="10511270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2E4388AA-CF47-4B2A-8ED3-F83D24F161F2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2A049087-04B6-41B5-9C1C-DD29B62542A6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902266-9DE0-41B6-B9C1-42717B7A5E00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FD5B79D-7EE4-4DE0-A4A0-DE508C9BEB65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Доказ и учење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D6F2AD-6893-4DAF-AAE8-D8ADC0E1EF51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мери и побољшава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3E006C8-B884-457F-BF5B-1184A7B4F310}"/>
              </a:ext>
            </a:extLst>
          </p:cNvPr>
          <p:cNvSpPr>
            <a:spLocks noGrp="1"/>
          </p:cNvSpPr>
          <p:nvPr/>
        </p:nvSpPr>
        <p:spPr>
          <a:xfrm>
            <a:off x="895350" y="2428875"/>
            <a:ext cx="3257550" cy="1952625"/>
          </a:xfrm>
          <a:prstGeom prst="roundRect">
            <a:avLst>
              <a:gd name="adj" fmla="val 6829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FB9CD4-EE52-412A-8F8C-1080D56BB3D2}"/>
              </a:ext>
            </a:extLst>
          </p:cNvPr>
          <p:cNvSpPr>
            <a:spLocks noGrp="1"/>
          </p:cNvSpPr>
          <p:nvPr/>
        </p:nvSpPr>
        <p:spPr>
          <a:xfrm>
            <a:off x="1047750" y="2552700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B1AD95-FD64-4D89-AB74-4CD189C2E811}"/>
              </a:ext>
            </a:extLst>
          </p:cNvPr>
          <p:cNvSpPr>
            <a:spLocks noGrp="1"/>
          </p:cNvSpPr>
          <p:nvPr/>
        </p:nvSpPr>
        <p:spPr>
          <a:xfrm>
            <a:off x="1047750" y="2800350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Корелациони идентификатор повезује намеру, обраду и исход једне радње.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0CDE69-00BA-4C78-99C3-EE434BCE200E}"/>
              </a:ext>
            </a:extLst>
          </p:cNvPr>
          <p:cNvSpPr>
            <a:spLocks noGrp="1"/>
          </p:cNvSpPr>
          <p:nvPr/>
        </p:nvSpPr>
        <p:spPr>
          <a:xfrm>
            <a:off x="1047750" y="3648075"/>
            <a:ext cx="29527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улаз покреће ову одлуку?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89B470D-E6E8-4003-A36A-6D404113F02A}"/>
              </a:ext>
            </a:extLst>
          </p:cNvPr>
          <p:cNvSpPr>
            <a:spLocks noGrp="1"/>
          </p:cNvSpPr>
          <p:nvPr/>
        </p:nvSpPr>
        <p:spPr>
          <a:xfrm>
            <a:off x="4457700" y="2428875"/>
            <a:ext cx="3257550" cy="1952625"/>
          </a:xfrm>
          <a:prstGeom prst="roundRect">
            <a:avLst>
              <a:gd name="adj" fmla="val 6829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0B0D5C-1D0E-4926-B1C2-8E2AE3C01CC2}"/>
              </a:ext>
            </a:extLst>
          </p:cNvPr>
          <p:cNvSpPr>
            <a:spLocks noGrp="1"/>
          </p:cNvSpPr>
          <p:nvPr/>
        </p:nvSpPr>
        <p:spPr>
          <a:xfrm>
            <a:off x="4610100" y="2552700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5EFD02-CEC4-4341-A960-A42D1BC4DDAD}"/>
              </a:ext>
            </a:extLst>
          </p:cNvPr>
          <p:cNvSpPr>
            <a:spLocks noGrp="1"/>
          </p:cNvSpPr>
          <p:nvPr/>
        </p:nvSpPr>
        <p:spPr>
          <a:xfrm>
            <a:off x="4610100" y="2800350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Правила корелације морају бити објашњива, посебно када утичу на приоритет упозорења.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EBD3DE-7326-47BB-88A7-F2F3724DE181}"/>
              </a:ext>
            </a:extLst>
          </p:cNvPr>
          <p:cNvSpPr>
            <a:spLocks noGrp="1"/>
          </p:cNvSpPr>
          <p:nvPr/>
        </p:nvSpPr>
        <p:spPr>
          <a:xfrm>
            <a:off x="4610100" y="3648075"/>
            <a:ext cx="29527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која граница мора бити видљива?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53FDFD2-7CC2-4504-86B2-874694A5BCE4}"/>
              </a:ext>
            </a:extLst>
          </p:cNvPr>
          <p:cNvSpPr>
            <a:spLocks noGrp="1"/>
          </p:cNvSpPr>
          <p:nvPr/>
        </p:nvSpPr>
        <p:spPr>
          <a:xfrm>
            <a:off x="8020050" y="2428875"/>
            <a:ext cx="3257550" cy="1952625"/>
          </a:xfrm>
          <a:prstGeom prst="roundRect">
            <a:avLst>
              <a:gd name="adj" fmla="val 6829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3EB1CD-0D0F-45F1-B3E3-48B628D44E89}"/>
              </a:ext>
            </a:extLst>
          </p:cNvPr>
          <p:cNvSpPr>
            <a:spLocks noGrp="1"/>
          </p:cNvSpPr>
          <p:nvPr/>
        </p:nvSpPr>
        <p:spPr>
          <a:xfrm>
            <a:off x="8172450" y="2552700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53A8C03-6AB5-4516-8137-56F7E3F1719E}"/>
              </a:ext>
            </a:extLst>
          </p:cNvPr>
          <p:cNvSpPr>
            <a:spLocks noGrp="1"/>
          </p:cNvSpPr>
          <p:nvPr/>
        </p:nvSpPr>
        <p:spPr>
          <a:xfrm>
            <a:off x="8172450" y="2800350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Аутоматизација предлаже или ограничава одговор када је последица грешке велика.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897A2F0-0425-4AF5-A0AC-083D26401B04}"/>
              </a:ext>
            </a:extLst>
          </p:cNvPr>
          <p:cNvSpPr>
            <a:spLocks noGrp="1"/>
          </p:cNvSpPr>
          <p:nvPr/>
        </p:nvSpPr>
        <p:spPr>
          <a:xfrm>
            <a:off x="8172450" y="3648075"/>
            <a:ext cx="29527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доказ остаје после исхода?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152B8F33-70FE-45F2-B0CA-82FBEAAD7D84}"/>
              </a:ext>
            </a:extLst>
          </p:cNvPr>
          <p:cNvSpPr>
            <a:spLocks noGrp="1"/>
          </p:cNvSpPr>
          <p:nvPr/>
        </p:nvSpPr>
        <p:spPr>
          <a:xfrm>
            <a:off x="1600200" y="4752975"/>
            <a:ext cx="8991600" cy="74295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71C67FE-5317-42BD-AD6F-49993BFC8EF0}"/>
              </a:ext>
            </a:extLst>
          </p:cNvPr>
          <p:cNvSpPr>
            <a:spLocks noGrp="1"/>
          </p:cNvSpPr>
          <p:nvPr/>
        </p:nvSpPr>
        <p:spPr>
          <a:xfrm>
            <a:off x="1733550" y="4895850"/>
            <a:ext cx="57150" cy="4572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7E55CD8-64BB-40CB-842D-1DAADCFF37C4}"/>
              </a:ext>
            </a:extLst>
          </p:cNvPr>
          <p:cNvSpPr>
            <a:spLocks noGrp="1"/>
          </p:cNvSpPr>
          <p:nvPr/>
        </p:nvSpPr>
        <p:spPr>
          <a:xfrm>
            <a:off x="914400" y="4762500"/>
            <a:ext cx="10363200" cy="781050"/>
          </a:xfrm>
          <a:prstGeom prst="roundRect">
            <a:avLst>
              <a:gd name="adj" fmla="val 17073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E221150-3305-4592-BE35-F8A9D074E4FF}"/>
              </a:ext>
            </a:extLst>
          </p:cNvPr>
          <p:cNvSpPr>
            <a:spLocks noGrp="1"/>
          </p:cNvSpPr>
          <p:nvPr/>
        </p:nvSpPr>
        <p:spPr>
          <a:xfrm>
            <a:off x="1085850" y="4914900"/>
            <a:ext cx="57150" cy="47625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BEC369B-E4D2-42B0-950A-77171D2572EE}"/>
              </a:ext>
            </a:extLst>
          </p:cNvPr>
          <p:cNvSpPr>
            <a:spLocks noGrp="1"/>
          </p:cNvSpPr>
          <p:nvPr/>
        </p:nvSpPr>
        <p:spPr>
          <a:xfrm>
            <a:off x="1333500" y="4867275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ПИТАЊЕ ЗА ДИСКУСИЈУ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742B1E4-D7C2-4C6B-8E18-DF5E57C91C3C}"/>
              </a:ext>
            </a:extLst>
          </p:cNvPr>
          <p:cNvSpPr>
            <a:spLocks noGrp="1"/>
          </p:cNvSpPr>
          <p:nvPr/>
        </p:nvSpPr>
        <p:spPr>
          <a:xfrm>
            <a:off x="1333500" y="5095875"/>
            <a:ext cx="9639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87712"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Изаберите једну контролу и покажите који ризик ублажава, који доказ чува и како бисте приметили да је престала да ради.</a:t>
            </a:r>
          </a:p>
        </p:txBody>
      </p:sp>
    </p:spTree>
    <p:extLst>
      <p:ext uri="{BB962C8B-B14F-4D97-AF65-F5344CB8AC3E}">
        <p14:creationId xmlns:p14="http://schemas.microsoft.com/office/powerpoint/2010/main" val="369485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1DA8C5A-C575-4D6B-A84D-1CA094CB2061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4FF5D0F1-C2A7-43A8-B1CC-12094FD48F0C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647903-FA00-4B2C-97AF-78B4DFB7BD82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C73C6C-A7EC-4E82-A02A-109680D21839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Доказ, покривеност и ефективност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756704-F13B-49C5-BA08-39F9E81EDE41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Поређење служи да се разлике виде без тешке табеле и ситног текста.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BEF9B20-B3DA-42F2-96C2-09948968AA27}"/>
              </a:ext>
            </a:extLst>
          </p:cNvPr>
          <p:cNvSpPr>
            <a:spLocks noGrp="1"/>
          </p:cNvSpPr>
          <p:nvPr/>
        </p:nvSpPr>
        <p:spPr>
          <a:xfrm>
            <a:off x="876300" y="2047875"/>
            <a:ext cx="247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51D128-9695-4934-8AEA-4644768616DC}"/>
              </a:ext>
            </a:extLst>
          </p:cNvPr>
          <p:cNvSpPr>
            <a:spLocks noGrp="1"/>
          </p:cNvSpPr>
          <p:nvPr/>
        </p:nvSpPr>
        <p:spPr>
          <a:xfrm>
            <a:off x="3638550" y="2047875"/>
            <a:ext cx="361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Слаб одговор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CE3AF6-9960-4E5F-A959-429A39E999AB}"/>
              </a:ext>
            </a:extLst>
          </p:cNvPr>
          <p:cNvSpPr>
            <a:spLocks noGrp="1"/>
          </p:cNvSpPr>
          <p:nvPr/>
        </p:nvSpPr>
        <p:spPr>
          <a:xfrm>
            <a:off x="7543800" y="2047875"/>
            <a:ext cx="37719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Поуздан одговор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4A93C48-AB80-4776-AB38-881C6572856A}"/>
              </a:ext>
            </a:extLst>
          </p:cNvPr>
          <p:cNvSpPr>
            <a:spLocks noGrp="1"/>
          </p:cNvSpPr>
          <p:nvPr/>
        </p:nvSpPr>
        <p:spPr>
          <a:xfrm>
            <a:off x="800100" y="2362200"/>
            <a:ext cx="10591800" cy="609600"/>
          </a:xfrm>
          <a:prstGeom prst="roundRect">
            <a:avLst>
              <a:gd name="adj" fmla="val 17188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9BB4A9-8B0C-4E53-89A8-68426A5985E5}"/>
              </a:ext>
            </a:extLst>
          </p:cNvPr>
          <p:cNvSpPr>
            <a:spLocks noGrp="1"/>
          </p:cNvSpPr>
          <p:nvPr/>
        </p:nvSpPr>
        <p:spPr>
          <a:xfrm>
            <a:off x="952500" y="24860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Да ли контрола постоји?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1C82BE-4795-4B62-990D-D3D3680235C8}"/>
              </a:ext>
            </a:extLst>
          </p:cNvPr>
          <p:cNvSpPr>
            <a:spLocks noGrp="1"/>
          </p:cNvSpPr>
          <p:nvPr/>
        </p:nvSpPr>
        <p:spPr>
          <a:xfrm>
            <a:off x="3638550" y="2428875"/>
            <a:ext cx="3619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Класа или подешавање је присутно.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64D56AE-78FC-4D5E-BD8E-C33A7AB2F8BD}"/>
              </a:ext>
            </a:extLst>
          </p:cNvPr>
          <p:cNvSpPr>
            <a:spLocks noGrp="1"/>
          </p:cNvSpPr>
          <p:nvPr/>
        </p:nvSpPr>
        <p:spPr>
          <a:xfrm>
            <a:off x="7543800" y="2428875"/>
            <a:ext cx="3619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Контрола има власника, активну конфигурацију и сврху.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BB8D7D5-161B-4FBE-8D8A-600D4DC50CA3}"/>
              </a:ext>
            </a:extLst>
          </p:cNvPr>
          <p:cNvSpPr>
            <a:spLocks noGrp="1"/>
          </p:cNvSpPr>
          <p:nvPr/>
        </p:nvSpPr>
        <p:spPr>
          <a:xfrm>
            <a:off x="800100" y="3105150"/>
            <a:ext cx="10591800" cy="609600"/>
          </a:xfrm>
          <a:prstGeom prst="roundRect">
            <a:avLst>
              <a:gd name="adj" fmla="val 17188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26E10-192D-4596-97A9-46006C1F894E}"/>
              </a:ext>
            </a:extLst>
          </p:cNvPr>
          <p:cNvSpPr>
            <a:spLocks noGrp="1"/>
          </p:cNvSpPr>
          <p:nvPr/>
        </p:nvSpPr>
        <p:spPr>
          <a:xfrm>
            <a:off x="952500" y="322897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Да ли ради?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7D5D1D2-C5AE-4740-B0BE-BA2F87D0176A}"/>
              </a:ext>
            </a:extLst>
          </p:cNvPr>
          <p:cNvSpPr>
            <a:spLocks noGrp="1"/>
          </p:cNvSpPr>
          <p:nvPr/>
        </p:nvSpPr>
        <p:spPr>
          <a:xfrm>
            <a:off x="3638550" y="3171825"/>
            <a:ext cx="3619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Једном је ручно проверена.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B1A18A-A46E-4981-B2D3-2C5BD2760D59}"/>
              </a:ext>
            </a:extLst>
          </p:cNvPr>
          <p:cNvSpPr>
            <a:spLocks noGrp="1"/>
          </p:cNvSpPr>
          <p:nvPr/>
        </p:nvSpPr>
        <p:spPr>
          <a:xfrm>
            <a:off x="7543800" y="3171825"/>
            <a:ext cx="3619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Постоји поновљив тест или актуелан оперативни доказ.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DB0F242-46B9-4A08-83B3-06FD4A5BAAFC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10591800" cy="609600"/>
          </a:xfrm>
          <a:prstGeom prst="roundRect">
            <a:avLst>
              <a:gd name="adj" fmla="val 17188"/>
            </a:avLst>
          </a:prstGeom>
          <a:solidFill>
            <a:srgbClr val="F5F0FF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838C4AD-0770-45B8-B120-4CC1FBA2BC33}"/>
              </a:ext>
            </a:extLst>
          </p:cNvPr>
          <p:cNvSpPr>
            <a:spLocks noGrp="1"/>
          </p:cNvSpPr>
          <p:nvPr/>
        </p:nvSpPr>
        <p:spPr>
          <a:xfrm>
            <a:off x="952500" y="39719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Шта покрива?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17D4EA0-7295-4CAA-BB34-9AF1F1BA1749}"/>
              </a:ext>
            </a:extLst>
          </p:cNvPr>
          <p:cNvSpPr>
            <a:spLocks noGrp="1"/>
          </p:cNvSpPr>
          <p:nvPr/>
        </p:nvSpPr>
        <p:spPr>
          <a:xfrm>
            <a:off x="3638550" y="3914775"/>
            <a:ext cx="3619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Претпоставља се да важи свуда.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400D03F-5B8E-4268-800F-E5BE8B366786}"/>
              </a:ext>
            </a:extLst>
          </p:cNvPr>
          <p:cNvSpPr>
            <a:spLocks noGrp="1"/>
          </p:cNvSpPr>
          <p:nvPr/>
        </p:nvSpPr>
        <p:spPr>
          <a:xfrm>
            <a:off x="7543800" y="3914775"/>
            <a:ext cx="3619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Познати су сценарио, граница и изузеци.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893483C-BBF0-48EB-AF84-122863A2E55F}"/>
              </a:ext>
            </a:extLst>
          </p:cNvPr>
          <p:cNvSpPr>
            <a:spLocks noGrp="1"/>
          </p:cNvSpPr>
          <p:nvPr/>
        </p:nvSpPr>
        <p:spPr>
          <a:xfrm>
            <a:off x="800100" y="4591050"/>
            <a:ext cx="10591800" cy="609600"/>
          </a:xfrm>
          <a:prstGeom prst="roundRect">
            <a:avLst>
              <a:gd name="adj" fmla="val 17188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2B82BE8-2A5D-468F-95DF-F1DF9DA73081}"/>
              </a:ext>
            </a:extLst>
          </p:cNvPr>
          <p:cNvSpPr>
            <a:spLocks noGrp="1"/>
          </p:cNvSpPr>
          <p:nvPr/>
        </p:nvSpPr>
        <p:spPr>
          <a:xfrm>
            <a:off x="952500" y="471487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Како знамо да је ослабила?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30AB4DE-6CF5-4A7A-A229-78EC21BD6157}"/>
              </a:ext>
            </a:extLst>
          </p:cNvPr>
          <p:cNvSpPr>
            <a:spLocks noGrp="1"/>
          </p:cNvSpPr>
          <p:nvPr/>
        </p:nvSpPr>
        <p:spPr>
          <a:xfrm>
            <a:off x="3638550" y="4657725"/>
            <a:ext cx="3619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Проблем се види тек после инцидента.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66E9835-6784-4554-BCCF-20CA422D0973}"/>
              </a:ext>
            </a:extLst>
          </p:cNvPr>
          <p:cNvSpPr>
            <a:spLocks noGrp="1"/>
          </p:cNvSpPr>
          <p:nvPr/>
        </p:nvSpPr>
        <p:spPr>
          <a:xfrm>
            <a:off x="7543800" y="4657725"/>
            <a:ext cx="3619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Метрика, alert или редован преглед откривају одступање.</a:t>
            </a:r>
          </a:p>
        </p:txBody>
      </p:sp>
    </p:spTree>
    <p:extLst>
      <p:ext uri="{BB962C8B-B14F-4D97-AF65-F5344CB8AC3E}">
        <p14:creationId xmlns:p14="http://schemas.microsoft.com/office/powerpoint/2010/main" val="3910716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F28C3B95-C48E-4C77-8212-34314B60C2FF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DCAD4A46-F1A3-4187-A10E-3C5C4B79FB17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CABD483-95CD-4CA5-9FF9-C720A059128A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30C889-BF16-415D-9C58-218FFAFB44F7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Шема континуираног унапређивања безбедности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533B9E-9010-4194-90AC-3EF12FC2503E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Безбедност напредује кроз повратну спрегу: доказ мења разумевање ризика, а то мења контролу.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E98C2CB-20AF-4E65-A646-9B41E1835C78}"/>
              </a:ext>
            </a:extLst>
          </p:cNvPr>
          <p:cNvSpPr>
            <a:spLocks noGrp="1"/>
          </p:cNvSpPr>
          <p:nvPr/>
        </p:nvSpPr>
        <p:spPr>
          <a:xfrm>
            <a:off x="742950" y="2571750"/>
            <a:ext cx="2462213" cy="1257300"/>
          </a:xfrm>
          <a:prstGeom prst="roundRect">
            <a:avLst>
              <a:gd name="adj" fmla="val 10606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522860-577B-47F9-93D5-589A38631E58}"/>
              </a:ext>
            </a:extLst>
          </p:cNvPr>
          <p:cNvSpPr>
            <a:spLocks noGrp="1"/>
          </p:cNvSpPr>
          <p:nvPr/>
        </p:nvSpPr>
        <p:spPr>
          <a:xfrm>
            <a:off x="885825" y="2686050"/>
            <a:ext cx="2176463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3E0D06-C1EB-4FEB-930C-B08B2D307B1E}"/>
              </a:ext>
            </a:extLst>
          </p:cNvPr>
          <p:cNvSpPr>
            <a:spLocks noGrp="1"/>
          </p:cNvSpPr>
          <p:nvPr/>
        </p:nvSpPr>
        <p:spPr>
          <a:xfrm>
            <a:off x="876300" y="2971800"/>
            <a:ext cx="2195513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Догађаји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DA72131-0D93-4CC1-B8A5-FD344ED6BEE4}"/>
              </a:ext>
            </a:extLst>
          </p:cNvPr>
          <p:cNvSpPr>
            <a:spLocks noGrp="1"/>
          </p:cNvSpPr>
          <p:nvPr/>
        </p:nvSpPr>
        <p:spPr>
          <a:xfrm>
            <a:off x="885825" y="3362325"/>
            <a:ext cx="2176463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трагови понашања система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0E14B84-1F21-4D53-BF61-476E1A9C8609}"/>
              </a:ext>
            </a:extLst>
          </p:cNvPr>
          <p:cNvSpPr>
            <a:spLocks noGrp="1"/>
          </p:cNvSpPr>
          <p:nvPr/>
        </p:nvSpPr>
        <p:spPr>
          <a:xfrm>
            <a:off x="3490913" y="2571750"/>
            <a:ext cx="2462213" cy="1257300"/>
          </a:xfrm>
          <a:prstGeom prst="roundRect">
            <a:avLst>
              <a:gd name="adj" fmla="val 10606"/>
            </a:avLst>
          </a:prstGeom>
          <a:solidFill>
            <a:srgbClr val="EDF8FA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26DD6E-7145-4B51-933E-A313064D8FB7}"/>
              </a:ext>
            </a:extLst>
          </p:cNvPr>
          <p:cNvSpPr>
            <a:spLocks noGrp="1"/>
          </p:cNvSpPr>
          <p:nvPr/>
        </p:nvSpPr>
        <p:spPr>
          <a:xfrm>
            <a:off x="3633788" y="2686050"/>
            <a:ext cx="2176463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6849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849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0461A0-A6EC-466D-8212-935329D086BB}"/>
              </a:ext>
            </a:extLst>
          </p:cNvPr>
          <p:cNvSpPr>
            <a:spLocks noGrp="1"/>
          </p:cNvSpPr>
          <p:nvPr/>
        </p:nvSpPr>
        <p:spPr>
          <a:xfrm>
            <a:off x="3624263" y="2971800"/>
            <a:ext cx="2195513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Корелација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179F4E-E328-4D58-8548-0F4F3601E5DC}"/>
              </a:ext>
            </a:extLst>
          </p:cNvPr>
          <p:cNvSpPr>
            <a:spLocks noGrp="1"/>
          </p:cNvSpPr>
          <p:nvPr/>
        </p:nvSpPr>
        <p:spPr>
          <a:xfrm>
            <a:off x="3633788" y="3362325"/>
            <a:ext cx="2176463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образац и приоритет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7BD2EEB-8CC3-4BCD-857A-D07C40E91353}"/>
              </a:ext>
            </a:extLst>
          </p:cNvPr>
          <p:cNvSpPr>
            <a:spLocks noGrp="1"/>
          </p:cNvSpPr>
          <p:nvPr/>
        </p:nvSpPr>
        <p:spPr>
          <a:xfrm>
            <a:off x="6238875" y="2571750"/>
            <a:ext cx="2462213" cy="1257300"/>
          </a:xfrm>
          <a:prstGeom prst="roundRect">
            <a:avLst>
              <a:gd name="adj" fmla="val 10606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069AAC-1BB4-4946-9AE3-5AB6FC41E33E}"/>
              </a:ext>
            </a:extLst>
          </p:cNvPr>
          <p:cNvSpPr>
            <a:spLocks noGrp="1"/>
          </p:cNvSpPr>
          <p:nvPr/>
        </p:nvSpPr>
        <p:spPr>
          <a:xfrm>
            <a:off x="6381750" y="2686050"/>
            <a:ext cx="2176463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DB4D56F-A79C-48A5-A624-C01C23C5D4D7}"/>
              </a:ext>
            </a:extLst>
          </p:cNvPr>
          <p:cNvSpPr>
            <a:spLocks noGrp="1"/>
          </p:cNvSpPr>
          <p:nvPr/>
        </p:nvSpPr>
        <p:spPr>
          <a:xfrm>
            <a:off x="6372225" y="2971800"/>
            <a:ext cx="2195513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Контрола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987C943-C532-4FFB-B5A3-CC7B979F65A3}"/>
              </a:ext>
            </a:extLst>
          </p:cNvPr>
          <p:cNvSpPr>
            <a:spLocks noGrp="1"/>
          </p:cNvSpPr>
          <p:nvPr/>
        </p:nvSpPr>
        <p:spPr>
          <a:xfrm>
            <a:off x="6381750" y="3362325"/>
            <a:ext cx="2176463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одговор на ризик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FD2105F-1266-4CB5-970E-A197C75ECB2F}"/>
              </a:ext>
            </a:extLst>
          </p:cNvPr>
          <p:cNvSpPr>
            <a:spLocks noGrp="1"/>
          </p:cNvSpPr>
          <p:nvPr/>
        </p:nvSpPr>
        <p:spPr>
          <a:xfrm>
            <a:off x="8986838" y="2571750"/>
            <a:ext cx="2462213" cy="1257300"/>
          </a:xfrm>
          <a:prstGeom prst="roundRect">
            <a:avLst>
              <a:gd name="adj" fmla="val 10606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3BED89-6012-43FC-8847-AC4F4886B40C}"/>
              </a:ext>
            </a:extLst>
          </p:cNvPr>
          <p:cNvSpPr>
            <a:spLocks noGrp="1"/>
          </p:cNvSpPr>
          <p:nvPr/>
        </p:nvSpPr>
        <p:spPr>
          <a:xfrm>
            <a:off x="9129713" y="2686050"/>
            <a:ext cx="2176463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585E708-ED51-409A-9ACC-007A8626F66D}"/>
              </a:ext>
            </a:extLst>
          </p:cNvPr>
          <p:cNvSpPr>
            <a:spLocks noGrp="1"/>
          </p:cNvSpPr>
          <p:nvPr/>
        </p:nvSpPr>
        <p:spPr>
          <a:xfrm>
            <a:off x="9120188" y="2971800"/>
            <a:ext cx="2195513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Доказ и учење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0ED35FF-C0BC-4DF8-B9DA-AF257DA9F6E3}"/>
              </a:ext>
            </a:extLst>
          </p:cNvPr>
          <p:cNvSpPr>
            <a:spLocks noGrp="1"/>
          </p:cNvSpPr>
          <p:nvPr/>
        </p:nvSpPr>
        <p:spPr>
          <a:xfrm>
            <a:off x="9129713" y="3362325"/>
            <a:ext cx="2176463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89621"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провера и следеће побољшање</a:t>
            </a:r>
          </a:p>
        </p:txBody>
      </p:sp>
      <p:cxnSp>
        <p:nvCxnSpPr>
          <p:cNvPr id="125" name="Straight Arrow Connector 124"/>
          <p:cNvCxnSpPr>
            <a:stCxn id="6" idx="3"/>
            <a:endCxn id="10" idx="1"/>
          </p:cNvCxnSpPr>
          <p:nvPr/>
        </p:nvCxnSpPr>
        <p:spPr>
          <a:xfrm>
            <a:off x="3205163" y="3200400"/>
            <a:ext cx="285750" cy="0"/>
          </a:xfrm>
          <a:prstGeom prst="straightConnector1">
            <a:avLst/>
          </a:prstGeom>
          <a:ln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26" name="Straight Arrow Connector 125"/>
          <p:cNvCxnSpPr>
            <a:stCxn id="10" idx="3"/>
            <a:endCxn id="14" idx="1"/>
          </p:cNvCxnSpPr>
          <p:nvPr/>
        </p:nvCxnSpPr>
        <p:spPr>
          <a:xfrm>
            <a:off x="5953126" y="3200400"/>
            <a:ext cx="285749" cy="0"/>
          </a:xfrm>
          <a:prstGeom prst="straightConnector1">
            <a:avLst/>
          </a:prstGeom>
          <a:ln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27" name="Straight Arrow Connector 126"/>
          <p:cNvCxnSpPr>
            <a:stCxn id="14" idx="3"/>
            <a:endCxn id="18" idx="1"/>
          </p:cNvCxnSpPr>
          <p:nvPr/>
        </p:nvCxnSpPr>
        <p:spPr>
          <a:xfrm>
            <a:off x="8701088" y="3200400"/>
            <a:ext cx="285750" cy="0"/>
          </a:xfrm>
          <a:prstGeom prst="straightConnector1">
            <a:avLst/>
          </a:prstGeom>
          <a:ln w="13335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5C3DDD77-8C0B-49C0-82C6-8832077D779B}"/>
              </a:ext>
            </a:extLst>
          </p:cNvPr>
          <p:cNvSpPr>
            <a:spLocks noGrp="1"/>
          </p:cNvSpPr>
          <p:nvPr/>
        </p:nvSpPr>
        <p:spPr>
          <a:xfrm>
            <a:off x="1714500" y="4419600"/>
            <a:ext cx="8763000" cy="742950"/>
          </a:xfrm>
          <a:prstGeom prst="roundRect">
            <a:avLst>
              <a:gd name="adj" fmla="val 16667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6612DC17-397D-4764-98CA-471AA45D792F}"/>
              </a:ext>
            </a:extLst>
          </p:cNvPr>
          <p:cNvSpPr>
            <a:spLocks noGrp="1"/>
          </p:cNvSpPr>
          <p:nvPr/>
        </p:nvSpPr>
        <p:spPr>
          <a:xfrm>
            <a:off x="1847850" y="4562475"/>
            <a:ext cx="57150" cy="45720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440D77A4-D779-4911-A226-834A3C12D22D}"/>
              </a:ext>
            </a:extLst>
          </p:cNvPr>
          <p:cNvSpPr>
            <a:spLocks noGrp="1"/>
          </p:cNvSpPr>
          <p:nvPr/>
        </p:nvSpPr>
        <p:spPr>
          <a:xfrm>
            <a:off x="914400" y="4438650"/>
            <a:ext cx="10363200" cy="781050"/>
          </a:xfrm>
          <a:prstGeom prst="roundRect">
            <a:avLst>
              <a:gd name="adj" fmla="val 17073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E008D032-8490-4F91-B7C8-8FABDAEB12F2}"/>
              </a:ext>
            </a:extLst>
          </p:cNvPr>
          <p:cNvSpPr>
            <a:spLocks noGrp="1"/>
          </p:cNvSpPr>
          <p:nvPr/>
        </p:nvSpPr>
        <p:spPr>
          <a:xfrm>
            <a:off x="1085850" y="4591050"/>
            <a:ext cx="57150" cy="47625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2B13523-3D60-41BC-BD56-7836EC5A5395}"/>
              </a:ext>
            </a:extLst>
          </p:cNvPr>
          <p:cNvSpPr>
            <a:spLocks noGrp="1"/>
          </p:cNvSpPr>
          <p:nvPr/>
        </p:nvSpPr>
        <p:spPr>
          <a:xfrm>
            <a:off x="1333500" y="4543425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ЗАДАТАК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19DA753-33A0-4A1D-9E42-F8B80C4DE477}"/>
              </a:ext>
            </a:extLst>
          </p:cNvPr>
          <p:cNvSpPr>
            <a:spLocks noGrp="1"/>
          </p:cNvSpPr>
          <p:nvPr/>
        </p:nvSpPr>
        <p:spPr>
          <a:xfrm>
            <a:off x="1333500" y="4772025"/>
            <a:ext cx="9639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За сваки корак наведите ко га покреће, ко доноси одлуку и који траг остаје.</a:t>
            </a:r>
          </a:p>
        </p:txBody>
      </p:sp>
    </p:spTree>
    <p:extLst>
      <p:ext uri="{BB962C8B-B14F-4D97-AF65-F5344CB8AC3E}">
        <p14:creationId xmlns:p14="http://schemas.microsoft.com/office/powerpoint/2010/main" val="14225960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900D561F-BC5F-4937-B496-5E47F18A7D3B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D2CB1683-360D-47C4-A533-A86C6517FD49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026173-54A3-4530-8EF7-7AA2602C40E0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90DB24C-7D98-4D21-B87A-573FDF5B18AF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Безбедносна повратна спрега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391F08-0418-4894-9EA2-479FCC12C9CA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Од описа проблема до одлуке која може да се провери.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0E86EB4-067B-4D70-A89C-7717B0E39064}"/>
              </a:ext>
            </a:extLst>
          </p:cNvPr>
          <p:cNvSpPr>
            <a:spLocks noGrp="1"/>
          </p:cNvSpPr>
          <p:nvPr/>
        </p:nvSpPr>
        <p:spPr>
          <a:xfrm>
            <a:off x="781050" y="2152650"/>
            <a:ext cx="4572000" cy="3143250"/>
          </a:xfrm>
          <a:prstGeom prst="roundRect">
            <a:avLst>
              <a:gd name="adj" fmla="val 4242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5F6F43-948C-4C1B-A055-077BFC8D1EF3}"/>
              </a:ext>
            </a:extLst>
          </p:cNvPr>
          <p:cNvSpPr>
            <a:spLocks noGrp="1"/>
          </p:cNvSpPr>
          <p:nvPr/>
        </p:nvSpPr>
        <p:spPr>
          <a:xfrm>
            <a:off x="933450" y="2276475"/>
            <a:ext cx="42672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КОНТЕКСТ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26E6385-A630-4B70-89D5-F58C9D444D20}"/>
              </a:ext>
            </a:extLst>
          </p:cNvPr>
          <p:cNvSpPr>
            <a:spLocks noGrp="1"/>
          </p:cNvSpPr>
          <p:nvPr/>
        </p:nvSpPr>
        <p:spPr>
          <a:xfrm>
            <a:off x="933450" y="2524125"/>
            <a:ext cx="42672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Безбедносна повратна спрега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5566FB2-A945-4189-B976-F35858839A4D}"/>
              </a:ext>
            </a:extLst>
          </p:cNvPr>
          <p:cNvSpPr>
            <a:spLocks noGrp="1"/>
          </p:cNvSpPr>
          <p:nvPr/>
        </p:nvSpPr>
        <p:spPr>
          <a:xfrm>
            <a:off x="933450" y="3086100"/>
            <a:ext cx="4267200" cy="2105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Зрео систем не завршава безбедност имплементацијом контроле. Догађаји и тестови стварају доказ, доказ мења процену ризика, а процена ризика води ка бољој политици или другачијој контроли. Тако се избегава лажни осећај да је једном завршени посао заувек довољан.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18767BE-C5D1-4355-ACB3-97FE30782A93}"/>
              </a:ext>
            </a:extLst>
          </p:cNvPr>
          <p:cNvSpPr>
            <a:spLocks noGrp="1"/>
          </p:cNvSpPr>
          <p:nvPr/>
        </p:nvSpPr>
        <p:spPr>
          <a:xfrm>
            <a:off x="5772150" y="2095500"/>
            <a:ext cx="5638800" cy="723900"/>
          </a:xfrm>
          <a:prstGeom prst="roundRect">
            <a:avLst>
              <a:gd name="adj" fmla="val 18421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57C594B-F5A1-43B0-AFFF-8985215CA9A3}"/>
              </a:ext>
            </a:extLst>
          </p:cNvPr>
          <p:cNvSpPr>
            <a:spLocks noGrp="1"/>
          </p:cNvSpPr>
          <p:nvPr/>
        </p:nvSpPr>
        <p:spPr>
          <a:xfrm>
            <a:off x="5924550" y="2219325"/>
            <a:ext cx="5334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8D191-4FCB-4FEB-B810-55233E104274}"/>
              </a:ext>
            </a:extLst>
          </p:cNvPr>
          <p:cNvSpPr>
            <a:spLocks noGrp="1"/>
          </p:cNvSpPr>
          <p:nvPr/>
        </p:nvSpPr>
        <p:spPr>
          <a:xfrm>
            <a:off x="5924550" y="2466975"/>
            <a:ext cx="5334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Догађај или тест открива образац који захтева пажњу.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EC9CA77-5861-4FBA-BCD8-03DAD4884585}"/>
              </a:ext>
            </a:extLst>
          </p:cNvPr>
          <p:cNvSpPr>
            <a:spLocks noGrp="1"/>
          </p:cNvSpPr>
          <p:nvPr/>
        </p:nvSpPr>
        <p:spPr>
          <a:xfrm>
            <a:off x="5772150" y="2971800"/>
            <a:ext cx="5638800" cy="723900"/>
          </a:xfrm>
          <a:prstGeom prst="roundRect">
            <a:avLst>
              <a:gd name="adj" fmla="val 18421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6A9835-B777-4988-AC4D-04D7BC94B4DD}"/>
              </a:ext>
            </a:extLst>
          </p:cNvPr>
          <p:cNvSpPr>
            <a:spLocks noGrp="1"/>
          </p:cNvSpPr>
          <p:nvPr/>
        </p:nvSpPr>
        <p:spPr>
          <a:xfrm>
            <a:off x="5924550" y="3095625"/>
            <a:ext cx="5334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2875801-850E-4871-AC4A-EF46680B04D7}"/>
              </a:ext>
            </a:extLst>
          </p:cNvPr>
          <p:cNvSpPr>
            <a:spLocks noGrp="1"/>
          </p:cNvSpPr>
          <p:nvPr/>
        </p:nvSpPr>
        <p:spPr>
          <a:xfrm>
            <a:off x="5924550" y="3343275"/>
            <a:ext cx="5334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5316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Корелација повезује образац са имовином, актером и контролом.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3FFB48B-3AAF-4C63-9D0A-A84562AB041F}"/>
              </a:ext>
            </a:extLst>
          </p:cNvPr>
          <p:cNvSpPr>
            <a:spLocks noGrp="1"/>
          </p:cNvSpPr>
          <p:nvPr/>
        </p:nvSpPr>
        <p:spPr>
          <a:xfrm>
            <a:off x="5772150" y="3848100"/>
            <a:ext cx="5638800" cy="723900"/>
          </a:xfrm>
          <a:prstGeom prst="roundRect">
            <a:avLst>
              <a:gd name="adj" fmla="val 18421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9B25DD1-D8FA-44C0-9FDC-E85CD984A467}"/>
              </a:ext>
            </a:extLst>
          </p:cNvPr>
          <p:cNvSpPr>
            <a:spLocks noGrp="1"/>
          </p:cNvSpPr>
          <p:nvPr/>
        </p:nvSpPr>
        <p:spPr>
          <a:xfrm>
            <a:off x="5924550" y="3971925"/>
            <a:ext cx="5334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9564C92-53D5-45E7-8CD9-A8DB1492B945}"/>
              </a:ext>
            </a:extLst>
          </p:cNvPr>
          <p:cNvSpPr>
            <a:spLocks noGrp="1"/>
          </p:cNvSpPr>
          <p:nvPr/>
        </p:nvSpPr>
        <p:spPr>
          <a:xfrm>
            <a:off x="5924550" y="4219575"/>
            <a:ext cx="5334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5316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Тим проверава да ли постојећа контрола покрива стварни сценарио.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E5A67313-7B6E-4599-B631-60AD9C2958DE}"/>
              </a:ext>
            </a:extLst>
          </p:cNvPr>
          <p:cNvSpPr>
            <a:spLocks noGrp="1"/>
          </p:cNvSpPr>
          <p:nvPr/>
        </p:nvSpPr>
        <p:spPr>
          <a:xfrm>
            <a:off x="5772150" y="4724400"/>
            <a:ext cx="5638800" cy="723900"/>
          </a:xfrm>
          <a:prstGeom prst="roundRect">
            <a:avLst>
              <a:gd name="adj" fmla="val 18421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27E0508-4A64-4689-AB2F-DD98620C2246}"/>
              </a:ext>
            </a:extLst>
          </p:cNvPr>
          <p:cNvSpPr>
            <a:spLocks noGrp="1"/>
          </p:cNvSpPr>
          <p:nvPr/>
        </p:nvSpPr>
        <p:spPr>
          <a:xfrm>
            <a:off x="5924550" y="4848225"/>
            <a:ext cx="5334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A86D198-3E33-4BAD-A4C3-A993C348599E}"/>
              </a:ext>
            </a:extLst>
          </p:cNvPr>
          <p:cNvSpPr>
            <a:spLocks noGrp="1"/>
          </p:cNvSpPr>
          <p:nvPr/>
        </p:nvSpPr>
        <p:spPr>
          <a:xfrm>
            <a:off x="5924550" y="5095875"/>
            <a:ext cx="5334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5316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Нова одлука ствара ажурирану политику, тест или оперативну процедуру.</a:t>
            </a:r>
          </a:p>
        </p:txBody>
      </p:sp>
    </p:spTree>
    <p:extLst>
      <p:ext uri="{BB962C8B-B14F-4D97-AF65-F5344CB8AC3E}">
        <p14:creationId xmlns:p14="http://schemas.microsoft.com/office/powerpoint/2010/main" val="5337407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9C3A89E-E7CB-4AA9-817F-9E0DED97BD56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48048299-5A5A-4662-BFB1-94CB7ABD49BA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F6592F-0F7C-4F0E-B612-DBBDCCF2A0F2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CCBD08-38D7-4C71-B43D-291038A03A99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Контрола има смисао тек уз доказ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B0993F-9630-461B-921F-6A60318C2D56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Три правила која треба да остану видљива у имплементацији и ревизији.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74A8679-3DF3-4576-B8BD-102B97333D67}"/>
              </a:ext>
            </a:extLst>
          </p:cNvPr>
          <p:cNvSpPr>
            <a:spLocks noGrp="1"/>
          </p:cNvSpPr>
          <p:nvPr/>
        </p:nvSpPr>
        <p:spPr>
          <a:xfrm>
            <a:off x="819150" y="2400300"/>
            <a:ext cx="3257550" cy="2343150"/>
          </a:xfrm>
          <a:prstGeom prst="roundRect">
            <a:avLst>
              <a:gd name="adj" fmla="val 5691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A5E5314-625C-4F14-AC02-739B55ECC03C}"/>
              </a:ext>
            </a:extLst>
          </p:cNvPr>
          <p:cNvSpPr>
            <a:spLocks noGrp="1"/>
          </p:cNvSpPr>
          <p:nvPr/>
        </p:nvSpPr>
        <p:spPr>
          <a:xfrm>
            <a:off x="971550" y="2524125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AB0B86-B54E-4EBD-B53B-C97E04AA2B34}"/>
              </a:ext>
            </a:extLst>
          </p:cNvPr>
          <p:cNvSpPr>
            <a:spLocks noGrp="1"/>
          </p:cNvSpPr>
          <p:nvPr/>
        </p:nvSpPr>
        <p:spPr>
          <a:xfrm>
            <a:off x="971550" y="2771775"/>
            <a:ext cx="2952750" cy="1143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Корелација повезује догађаје кроз време, актере и ресурсе, а не само по једној поруци лога.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C6716B-F338-45B7-88AD-AEE82BD56F92}"/>
              </a:ext>
            </a:extLst>
          </p:cNvPr>
          <p:cNvSpPr>
            <a:spLocks noGrp="1"/>
          </p:cNvSpPr>
          <p:nvPr/>
        </p:nvSpPr>
        <p:spPr>
          <a:xfrm>
            <a:off x="971550" y="3981450"/>
            <a:ext cx="2952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Јасно правило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2B5F86F-6C69-4195-964C-897F9CC2BE2B}"/>
              </a:ext>
            </a:extLst>
          </p:cNvPr>
          <p:cNvSpPr>
            <a:spLocks noGrp="1"/>
          </p:cNvSpPr>
          <p:nvPr/>
        </p:nvSpPr>
        <p:spPr>
          <a:xfrm>
            <a:off x="4467225" y="2400300"/>
            <a:ext cx="3257550" cy="2343150"/>
          </a:xfrm>
          <a:prstGeom prst="roundRect">
            <a:avLst>
              <a:gd name="adj" fmla="val 5691"/>
            </a:avLst>
          </a:prstGeom>
          <a:solidFill>
            <a:srgbClr val="F5F0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2AAACB7-7CAD-464D-88FE-0BB0893505D4}"/>
              </a:ext>
            </a:extLst>
          </p:cNvPr>
          <p:cNvSpPr>
            <a:spLocks noGrp="1"/>
          </p:cNvSpPr>
          <p:nvPr/>
        </p:nvSpPr>
        <p:spPr>
          <a:xfrm>
            <a:off x="4619625" y="2524125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E5ECEF-DE1C-4884-AE1F-FC61B278B04E}"/>
              </a:ext>
            </a:extLst>
          </p:cNvPr>
          <p:cNvSpPr>
            <a:spLocks noGrp="1"/>
          </p:cNvSpPr>
          <p:nvPr/>
        </p:nvSpPr>
        <p:spPr>
          <a:xfrm>
            <a:off x="4619625" y="2771775"/>
            <a:ext cx="2952750" cy="1143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Одговор са већим последицама захтева људску одлуку и јасан траг одобрења.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C27203-BB64-4B4A-BF9F-132E35ADE98E}"/>
              </a:ext>
            </a:extLst>
          </p:cNvPr>
          <p:cNvSpPr>
            <a:spLocks noGrp="1"/>
          </p:cNvSpPr>
          <p:nvPr/>
        </p:nvSpPr>
        <p:spPr>
          <a:xfrm>
            <a:off x="4619625" y="3981450"/>
            <a:ext cx="2952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Проверљива примена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934C6EE-7339-4883-B5BD-BB5256BD331B}"/>
              </a:ext>
            </a:extLst>
          </p:cNvPr>
          <p:cNvSpPr>
            <a:spLocks noGrp="1"/>
          </p:cNvSpPr>
          <p:nvPr/>
        </p:nvSpPr>
        <p:spPr>
          <a:xfrm>
            <a:off x="8115300" y="2400300"/>
            <a:ext cx="3257550" cy="2343150"/>
          </a:xfrm>
          <a:prstGeom prst="roundRect">
            <a:avLst>
              <a:gd name="adj" fmla="val 5691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7827DE6-3432-4508-A295-E5AD220EE23B}"/>
              </a:ext>
            </a:extLst>
          </p:cNvPr>
          <p:cNvSpPr>
            <a:spLocks noGrp="1"/>
          </p:cNvSpPr>
          <p:nvPr/>
        </p:nvSpPr>
        <p:spPr>
          <a:xfrm>
            <a:off x="8267700" y="2524125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90B72F-AF90-4F10-ACFE-E604685AD285}"/>
              </a:ext>
            </a:extLst>
          </p:cNvPr>
          <p:cNvSpPr>
            <a:spLocks noGrp="1"/>
          </p:cNvSpPr>
          <p:nvPr/>
        </p:nvSpPr>
        <p:spPr>
          <a:xfrm>
            <a:off x="8267700" y="2771775"/>
            <a:ext cx="2952750" cy="1143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Пост-инцидент преглед испитује систем и процес, не тражи најближег кривца.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92BA58-216B-4C7A-A267-C7474FD4741B}"/>
              </a:ext>
            </a:extLst>
          </p:cNvPr>
          <p:cNvSpPr>
            <a:spLocks noGrp="1"/>
          </p:cNvSpPr>
          <p:nvPr/>
        </p:nvSpPr>
        <p:spPr>
          <a:xfrm>
            <a:off x="8267700" y="3981450"/>
            <a:ext cx="2952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Видљив доказ</a:t>
            </a:r>
          </a:p>
        </p:txBody>
      </p:sp>
    </p:spTree>
    <p:extLst>
      <p:ext uri="{BB962C8B-B14F-4D97-AF65-F5344CB8AC3E}">
        <p14:creationId xmlns:p14="http://schemas.microsoft.com/office/powerpoint/2010/main" val="1034516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299BF343-0899-4F49-874C-E9F831887AC1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8D16969C-499F-4674-9E62-444163829A89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FABF71D-232A-4755-8AD3-1BD37C834899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06A60F8-A45D-40F4-B2BA-8B98DB80C8AC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Како се ова тема види у развоју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0B0D89-368F-4516-AC36-A6557674F901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Тема се види у малим одлукама током развоја, не само у завршној документацији.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D8FA854-B232-4A15-9591-F177571677C8}"/>
              </a:ext>
            </a:extLst>
          </p:cNvPr>
          <p:cNvSpPr>
            <a:spLocks noGrp="1"/>
          </p:cNvSpPr>
          <p:nvPr/>
        </p:nvSpPr>
        <p:spPr>
          <a:xfrm>
            <a:off x="800100" y="2209800"/>
            <a:ext cx="4810125" cy="2857500"/>
          </a:xfrm>
          <a:prstGeom prst="roundRect">
            <a:avLst>
              <a:gd name="adj" fmla="val 4667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990426-FF8B-4695-941F-2783CA39D483}"/>
              </a:ext>
            </a:extLst>
          </p:cNvPr>
          <p:cNvSpPr>
            <a:spLocks noGrp="1"/>
          </p:cNvSpPr>
          <p:nvPr/>
        </p:nvSpPr>
        <p:spPr>
          <a:xfrm>
            <a:off x="952500" y="2333625"/>
            <a:ext cx="4505325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РАЗВОЈНИ КОНТЕКСТ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8E363F-ED15-4CAA-AAA8-A071D154E3EB}"/>
              </a:ext>
            </a:extLst>
          </p:cNvPr>
          <p:cNvSpPr>
            <a:spLocks noGrp="1"/>
          </p:cNvSpPr>
          <p:nvPr/>
        </p:nvSpPr>
        <p:spPr>
          <a:xfrm>
            <a:off x="952500" y="2581275"/>
            <a:ext cx="450532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7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 принципа до радног кода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556C0A-DDF5-45F8-8320-DB6B397A0B73}"/>
              </a:ext>
            </a:extLst>
          </p:cNvPr>
          <p:cNvSpPr>
            <a:spLocks noGrp="1"/>
          </p:cNvSpPr>
          <p:nvPr/>
        </p:nvSpPr>
        <p:spPr>
          <a:xfrm>
            <a:off x="952500" y="3124200"/>
            <a:ext cx="4505325" cy="1838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Добра безбедносна анализа показује узрочну везу: коју имовину штитимо, који сценарио разматрамо, која контрола делује и како знамо да њено понашање још увек одговара намери. Кратак, јасан доказ вреди више од дуге листе функционалности.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851224F-CA6E-42A6-BE60-277B9EED0632}"/>
              </a:ext>
            </a:extLst>
          </p:cNvPr>
          <p:cNvSpPr>
            <a:spLocks noGrp="1"/>
          </p:cNvSpPr>
          <p:nvPr/>
        </p:nvSpPr>
        <p:spPr>
          <a:xfrm>
            <a:off x="6038850" y="2209800"/>
            <a:ext cx="5353050" cy="819150"/>
          </a:xfrm>
          <a:prstGeom prst="roundRect">
            <a:avLst>
              <a:gd name="adj" fmla="val 16279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33B83E5-4E07-427A-B5DC-AF637F371442}"/>
              </a:ext>
            </a:extLst>
          </p:cNvPr>
          <p:cNvSpPr>
            <a:spLocks noGrp="1"/>
          </p:cNvSpPr>
          <p:nvPr/>
        </p:nvSpPr>
        <p:spPr>
          <a:xfrm>
            <a:off x="6191250" y="2333625"/>
            <a:ext cx="5048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2E9D9B-909D-4598-841F-007F9E615F65}"/>
              </a:ext>
            </a:extLst>
          </p:cNvPr>
          <p:cNvSpPr>
            <a:spLocks noGrp="1"/>
          </p:cNvSpPr>
          <p:nvPr/>
        </p:nvSpPr>
        <p:spPr>
          <a:xfrm>
            <a:off x="6191250" y="2581275"/>
            <a:ext cx="5048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Именуј одлуку и њену границу.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6D483CC-A7E2-4A70-86BE-07BCC5D2E41C}"/>
              </a:ext>
            </a:extLst>
          </p:cNvPr>
          <p:cNvSpPr>
            <a:spLocks noGrp="1"/>
          </p:cNvSpPr>
          <p:nvPr/>
        </p:nvSpPr>
        <p:spPr>
          <a:xfrm>
            <a:off x="6038850" y="3200400"/>
            <a:ext cx="5353050" cy="819150"/>
          </a:xfrm>
          <a:prstGeom prst="roundRect">
            <a:avLst>
              <a:gd name="adj" fmla="val 16279"/>
            </a:avLst>
          </a:prstGeom>
          <a:solidFill>
            <a:srgbClr val="F5F0FF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1DA885F-1344-4810-93B1-9DB1D5B1C57F}"/>
              </a:ext>
            </a:extLst>
          </p:cNvPr>
          <p:cNvSpPr>
            <a:spLocks noGrp="1"/>
          </p:cNvSpPr>
          <p:nvPr/>
        </p:nvSpPr>
        <p:spPr>
          <a:xfrm>
            <a:off x="6191250" y="3324225"/>
            <a:ext cx="5048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F3C35EA-B973-45FE-A854-EEBAD12A2BBF}"/>
              </a:ext>
            </a:extLst>
          </p:cNvPr>
          <p:cNvSpPr>
            <a:spLocks noGrp="1"/>
          </p:cNvSpPr>
          <p:nvPr/>
        </p:nvSpPr>
        <p:spPr>
          <a:xfrm>
            <a:off x="6191250" y="3571875"/>
            <a:ext cx="5048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Имплементирај проверу на серверу.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47BA7DF-835E-485C-89D5-3757B9D82A70}"/>
              </a:ext>
            </a:extLst>
          </p:cNvPr>
          <p:cNvSpPr>
            <a:spLocks noGrp="1"/>
          </p:cNvSpPr>
          <p:nvPr/>
        </p:nvSpPr>
        <p:spPr>
          <a:xfrm>
            <a:off x="6038850" y="4191000"/>
            <a:ext cx="5353050" cy="819150"/>
          </a:xfrm>
          <a:prstGeom prst="roundRect">
            <a:avLst>
              <a:gd name="adj" fmla="val 16279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4FED7E2-7152-4E0E-AA77-ECFA607B0A5B}"/>
              </a:ext>
            </a:extLst>
          </p:cNvPr>
          <p:cNvSpPr>
            <a:spLocks noGrp="1"/>
          </p:cNvSpPr>
          <p:nvPr/>
        </p:nvSpPr>
        <p:spPr>
          <a:xfrm>
            <a:off x="6191250" y="4314825"/>
            <a:ext cx="5048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3632B4C-9A15-4642-8729-1E6D110D6819}"/>
              </a:ext>
            </a:extLst>
          </p:cNvPr>
          <p:cNvSpPr>
            <a:spLocks noGrp="1"/>
          </p:cNvSpPr>
          <p:nvPr/>
        </p:nvSpPr>
        <p:spPr>
          <a:xfrm>
            <a:off x="6191250" y="4562475"/>
            <a:ext cx="5048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Додај позитиван и негативан доказ.</a:t>
            </a:r>
          </a:p>
        </p:txBody>
      </p:sp>
    </p:spTree>
    <p:extLst>
      <p:ext uri="{BB962C8B-B14F-4D97-AF65-F5344CB8AC3E}">
        <p14:creationId xmlns:p14="http://schemas.microsoft.com/office/powerpoint/2010/main" val="12274139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08FAB218-47E0-4363-AC64-FE79C1F9CA48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1EA31A99-C8C9-47D6-9203-01975786AF71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296A09-E6F6-4815-9AFA-525801466984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8A458C-109F-4E23-A883-742B732CC94A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Пример: контрола постоји, али нема свеж доказ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57D673-538A-4639-BFC3-0440217A4885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Конкретан случај показује где опште правило постаје стварна одлука система.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6FD715C-B769-45F2-92F9-634C36A4A64B}"/>
              </a:ext>
            </a:extLst>
          </p:cNvPr>
          <p:cNvSpPr>
            <a:spLocks noGrp="1"/>
          </p:cNvSpPr>
          <p:nvPr/>
        </p:nvSpPr>
        <p:spPr>
          <a:xfrm>
            <a:off x="781050" y="2143125"/>
            <a:ext cx="10629900" cy="1619250"/>
          </a:xfrm>
          <a:prstGeom prst="roundRect">
            <a:avLst>
              <a:gd name="adj" fmla="val 8235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1DBAFF-1A18-4C7F-98EF-3334E075EC86}"/>
              </a:ext>
            </a:extLst>
          </p:cNvPr>
          <p:cNvSpPr>
            <a:spLocks noGrp="1"/>
          </p:cNvSpPr>
          <p:nvPr/>
        </p:nvSpPr>
        <p:spPr>
          <a:xfrm>
            <a:off x="933450" y="2266950"/>
            <a:ext cx="10325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СЦЕНАРИО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D870E6-244A-4FCB-A681-FD734E89F8AA}"/>
              </a:ext>
            </a:extLst>
          </p:cNvPr>
          <p:cNvSpPr>
            <a:spLocks noGrp="1"/>
          </p:cNvSpPr>
          <p:nvPr/>
        </p:nvSpPr>
        <p:spPr>
          <a:xfrm>
            <a:off x="933450" y="2514600"/>
            <a:ext cx="103251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7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Пример: контрола постоји, али нема свеж доказ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6BBDD87-194B-4CEC-BCE7-0825A46B0E66}"/>
              </a:ext>
            </a:extLst>
          </p:cNvPr>
          <p:cNvSpPr>
            <a:spLocks noGrp="1"/>
          </p:cNvSpPr>
          <p:nvPr/>
        </p:nvSpPr>
        <p:spPr>
          <a:xfrm>
            <a:off x="933450" y="2981325"/>
            <a:ext cx="10325100" cy="676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Систем има правило које ограничава приступ осетљивом ресурсу. Правило је било успешно тестирано пре неколико месеци, али се у међувремену променио модел улога и додат је нови улаз у систем. Без новог доказа тим зна да контрола постоји, али не зна да ли још покрива стварни ризик. Ефективност зато укључује свежину, опсег и резултат провере.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16132BB-8AAC-4E26-96D7-4C66B5EAA1FE}"/>
              </a:ext>
            </a:extLst>
          </p:cNvPr>
          <p:cNvSpPr>
            <a:spLocks noGrp="1"/>
          </p:cNvSpPr>
          <p:nvPr/>
        </p:nvSpPr>
        <p:spPr>
          <a:xfrm>
            <a:off x="781050" y="4048125"/>
            <a:ext cx="3352800" cy="1352550"/>
          </a:xfrm>
          <a:prstGeom prst="roundRect">
            <a:avLst>
              <a:gd name="adj" fmla="val 9859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252FFA5-06AF-4675-9C8A-A047573FFF64}"/>
              </a:ext>
            </a:extLst>
          </p:cNvPr>
          <p:cNvSpPr>
            <a:spLocks noGrp="1"/>
          </p:cNvSpPr>
          <p:nvPr/>
        </p:nvSpPr>
        <p:spPr>
          <a:xfrm>
            <a:off x="933450" y="4171950"/>
            <a:ext cx="3048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3F61E3-064F-4941-A114-A39E7F50C6A2}"/>
              </a:ext>
            </a:extLst>
          </p:cNvPr>
          <p:cNvSpPr>
            <a:spLocks noGrp="1"/>
          </p:cNvSpPr>
          <p:nvPr/>
        </p:nvSpPr>
        <p:spPr>
          <a:xfrm>
            <a:off x="933450" y="4419600"/>
            <a:ext cx="30480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Корелација повезује низ догађаја у једну причу о понашању система.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5487854-A4CF-4ED1-96EB-FCEE71D9ED55}"/>
              </a:ext>
            </a:extLst>
          </p:cNvPr>
          <p:cNvSpPr>
            <a:spLocks noGrp="1"/>
          </p:cNvSpPr>
          <p:nvPr/>
        </p:nvSpPr>
        <p:spPr>
          <a:xfrm>
            <a:off x="4391025" y="4048125"/>
            <a:ext cx="3352800" cy="1352550"/>
          </a:xfrm>
          <a:prstGeom prst="roundRect">
            <a:avLst>
              <a:gd name="adj" fmla="val 9859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A13FC71-67A3-47A8-A0F1-E6EB0034C7C7}"/>
              </a:ext>
            </a:extLst>
          </p:cNvPr>
          <p:cNvSpPr>
            <a:spLocks noGrp="1"/>
          </p:cNvSpPr>
          <p:nvPr/>
        </p:nvSpPr>
        <p:spPr>
          <a:xfrm>
            <a:off x="4543425" y="4171950"/>
            <a:ext cx="3048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7CFB78-60D6-432B-BB5A-CBD0B0B54B7D}"/>
              </a:ext>
            </a:extLst>
          </p:cNvPr>
          <p:cNvSpPr>
            <a:spLocks noGrp="1"/>
          </p:cNvSpPr>
          <p:nvPr/>
        </p:nvSpPr>
        <p:spPr>
          <a:xfrm>
            <a:off x="4543425" y="4419600"/>
            <a:ext cx="30480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Мера ефективности прати да ли контрола има власника, доказ и покривеност релевантног сценарија.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3CEC930-3379-4DF8-8319-9F2DDA1298BA}"/>
              </a:ext>
            </a:extLst>
          </p:cNvPr>
          <p:cNvSpPr>
            <a:spLocks noGrp="1"/>
          </p:cNvSpPr>
          <p:nvPr/>
        </p:nvSpPr>
        <p:spPr>
          <a:xfrm>
            <a:off x="8001000" y="4048125"/>
            <a:ext cx="3352800" cy="1352550"/>
          </a:xfrm>
          <a:prstGeom prst="roundRect">
            <a:avLst>
              <a:gd name="adj" fmla="val 9859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5F73A6B-44F9-4891-8547-240B30EBC8C1}"/>
              </a:ext>
            </a:extLst>
          </p:cNvPr>
          <p:cNvSpPr>
            <a:spLocks noGrp="1"/>
          </p:cNvSpPr>
          <p:nvPr/>
        </p:nvSpPr>
        <p:spPr>
          <a:xfrm>
            <a:off x="8153400" y="4171950"/>
            <a:ext cx="3048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5D8A867-2313-4C20-A3E0-5329F79E65D5}"/>
              </a:ext>
            </a:extLst>
          </p:cNvPr>
          <p:cNvSpPr>
            <a:spLocks noGrp="1"/>
          </p:cNvSpPr>
          <p:nvPr/>
        </p:nvSpPr>
        <p:spPr>
          <a:xfrm>
            <a:off x="8153400" y="4419600"/>
            <a:ext cx="30480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8520"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Аутоматизован одговор може убрзати реакцију, али радња са великом последицом задржава људску потврду и audit траг.</a:t>
            </a:r>
          </a:p>
        </p:txBody>
      </p:sp>
    </p:spTree>
    <p:extLst>
      <p:ext uri="{BB962C8B-B14F-4D97-AF65-F5344CB8AC3E}">
        <p14:creationId xmlns:p14="http://schemas.microsoft.com/office/powerpoint/2010/main" val="3982335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6D7A0B16-B878-405A-B2E2-FE96B597E3E9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EF72A533-413C-4AFC-AFC0-DA08DCE4F9A1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6D89F0-10AE-4A15-B414-110E9C22E363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C384349-9036-4550-BE8F-3D9B8843C558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Корелација гради причу, не закључак из једног записа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91B12A-3A81-4E1F-A646-82C5AB4DE676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Код почиње од исте леве ивице као наслов прозора и остаје читљив на пројектору.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52D0FF-5EAA-4B5C-8B06-7BFAC31FD729}"/>
              </a:ext>
            </a:extLst>
          </p:cNvPr>
          <p:cNvSpPr>
            <a:spLocks noGrp="1"/>
          </p:cNvSpPr>
          <p:nvPr/>
        </p:nvSpPr>
        <p:spPr>
          <a:xfrm>
            <a:off x="666750" y="2095500"/>
            <a:ext cx="6858000" cy="2133600"/>
          </a:xfrm>
          <a:prstGeom prst="roundRect">
            <a:avLst>
              <a:gd name="adj" fmla="val 4712"/>
            </a:avLst>
          </a:prstGeom>
          <a:solidFill>
            <a:srgbClr val="F7F8FB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4B53F641-8A3B-4BED-A6D8-17A0B2A7AE39}"/>
              </a:ext>
            </a:extLst>
          </p:cNvPr>
          <p:cNvSpPr>
            <a:spLocks noGrp="1"/>
          </p:cNvSpPr>
          <p:nvPr/>
        </p:nvSpPr>
        <p:spPr>
          <a:xfrm>
            <a:off x="666750" y="2438400"/>
            <a:ext cx="6858000" cy="9525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0FC9F0D-5339-4B50-B578-EC9979FE48F0}"/>
              </a:ext>
            </a:extLst>
          </p:cNvPr>
          <p:cNvSpPr>
            <a:spLocks noGrp="1"/>
          </p:cNvSpPr>
          <p:nvPr/>
        </p:nvSpPr>
        <p:spPr>
          <a:xfrm>
            <a:off x="6838950" y="2219325"/>
            <a:ext cx="85725" cy="85725"/>
          </a:xfrm>
          <a:prstGeom prst="ellipse">
            <a:avLst/>
          </a:prstGeom>
          <a:solidFill>
            <a:srgbClr val="EF6A60"/>
          </a:solidFill>
          <a:ln w="0">
            <a:noFill/>
          </a:ln>
        </p:spPr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E801028-4411-4B2A-8270-9FDDF4DA2BD1}"/>
              </a:ext>
            </a:extLst>
          </p:cNvPr>
          <p:cNvSpPr>
            <a:spLocks noGrp="1"/>
          </p:cNvSpPr>
          <p:nvPr/>
        </p:nvSpPr>
        <p:spPr>
          <a:xfrm>
            <a:off x="7010400" y="2219325"/>
            <a:ext cx="85725" cy="85725"/>
          </a:xfrm>
          <a:prstGeom prst="ellipse">
            <a:avLst/>
          </a:prstGeom>
          <a:solidFill>
            <a:srgbClr val="F2BD42"/>
          </a:solidFill>
          <a:ln w="0">
            <a:noFill/>
          </a:ln>
        </p:spPr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A4D0912-633F-4B7B-B25C-1EE91436193E}"/>
              </a:ext>
            </a:extLst>
          </p:cNvPr>
          <p:cNvSpPr>
            <a:spLocks noGrp="1"/>
          </p:cNvSpPr>
          <p:nvPr/>
        </p:nvSpPr>
        <p:spPr>
          <a:xfrm>
            <a:off x="7181850" y="2219325"/>
            <a:ext cx="85725" cy="85725"/>
          </a:xfrm>
          <a:prstGeom prst="ellipse">
            <a:avLst/>
          </a:prstGeom>
          <a:solidFill>
            <a:srgbClr val="65C466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997002-8EFD-4609-BA2E-9AE6110E9967}"/>
              </a:ext>
            </a:extLst>
          </p:cNvPr>
          <p:cNvSpPr>
            <a:spLocks noGrp="1"/>
          </p:cNvSpPr>
          <p:nvPr/>
        </p:nvSpPr>
        <p:spPr>
          <a:xfrm>
            <a:off x="781050" y="2571750"/>
            <a:ext cx="304800" cy="3028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9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D46582C-A5A4-4CB7-A21B-E1F5D3852278}"/>
              </a:ext>
            </a:extLst>
          </p:cNvPr>
          <p:cNvSpPr>
            <a:spLocks noGrp="1"/>
          </p:cNvSpPr>
          <p:nvPr/>
        </p:nvSpPr>
        <p:spPr>
          <a:xfrm>
            <a:off x="1200150" y="2571750"/>
            <a:ext cx="6153150" cy="3028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969C3"/>
                </a:solidFill>
              </a:rPr>
              <a:t>public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Finding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Correlate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7651D4"/>
                </a:solidFill>
              </a:rPr>
              <a:t>IEnumerable</a:t>
            </a:r>
            <a:r>
              <a:rPr b="0">
                <a:solidFill>
                  <a:srgbClr val="263044"/>
                </a:solidFill>
              </a:rPr>
              <a:t>&lt;</a:t>
            </a:r>
            <a:r>
              <a:rPr b="0">
                <a:solidFill>
                  <a:srgbClr val="7651D4"/>
                </a:solidFill>
              </a:rPr>
              <a:t>Event</a:t>
            </a:r>
            <a:r>
              <a:rPr b="0">
                <a:solidFill>
                  <a:srgbClr val="263044"/>
                </a:solidFill>
              </a:rPr>
              <a:t>&gt; events)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var</a:t>
            </a:r>
            <a:r>
              <a:rPr b="0">
                <a:solidFill>
                  <a:srgbClr val="263044"/>
                </a:solidFill>
              </a:rPr>
              <a:t> story = events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    .</a:t>
            </a:r>
            <a:r>
              <a:rPr b="0">
                <a:solidFill>
                  <a:srgbClr val="7651D4"/>
                </a:solidFill>
              </a:rPr>
              <a:t>Where</a:t>
            </a:r>
            <a:r>
              <a:rPr b="0">
                <a:solidFill>
                  <a:srgbClr val="263044"/>
                </a:solidFill>
              </a:rPr>
              <a:t>(e =&gt; e.</a:t>
            </a:r>
            <a:r>
              <a:rPr b="0">
                <a:solidFill>
                  <a:srgbClr val="7651D4"/>
                </a:solidFill>
              </a:rPr>
              <a:t>CorrelationId</a:t>
            </a:r>
            <a:r>
              <a:rPr b="0">
                <a:solidFill>
                  <a:srgbClr val="263044"/>
                </a:solidFill>
              </a:rPr>
              <a:t> != </a:t>
            </a:r>
            <a:r>
              <a:rPr b="1">
                <a:solidFill>
                  <a:srgbClr val="0969C3"/>
                </a:solidFill>
              </a:rPr>
              <a:t>null</a:t>
            </a:r>
            <a:r>
              <a:rPr b="0">
                <a:solidFill>
                  <a:srgbClr val="263044"/>
                </a:solidFill>
              </a:rPr>
              <a:t>)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    .</a:t>
            </a:r>
            <a:r>
              <a:rPr b="0">
                <a:solidFill>
                  <a:srgbClr val="7651D4"/>
                </a:solidFill>
              </a:rPr>
              <a:t>GroupBy</a:t>
            </a:r>
            <a:r>
              <a:rPr b="0">
                <a:solidFill>
                  <a:srgbClr val="263044"/>
                </a:solidFill>
              </a:rPr>
              <a:t>(e =&gt; e.</a:t>
            </a:r>
            <a:r>
              <a:rPr b="0">
                <a:solidFill>
                  <a:srgbClr val="7651D4"/>
                </a:solidFill>
              </a:rPr>
              <a:t>CorrelationId</a:t>
            </a:r>
            <a:r>
              <a:rPr b="0">
                <a:solidFill>
                  <a:srgbClr val="263044"/>
                </a:solidFill>
              </a:rPr>
              <a:t>)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    .</a:t>
            </a:r>
            <a:r>
              <a:rPr b="0">
                <a:solidFill>
                  <a:srgbClr val="7651D4"/>
                </a:solidFill>
              </a:rPr>
              <a:t>Select</a:t>
            </a:r>
            <a:r>
              <a:rPr b="0">
                <a:solidFill>
                  <a:srgbClr val="263044"/>
                </a:solidFill>
              </a:rPr>
              <a:t>(group =&gt; timeline.</a:t>
            </a:r>
            <a:r>
              <a:rPr b="0">
                <a:solidFill>
                  <a:srgbClr val="7651D4"/>
                </a:solidFill>
              </a:rPr>
              <a:t>Build</a:t>
            </a:r>
            <a:r>
              <a:rPr b="0">
                <a:solidFill>
                  <a:srgbClr val="263044"/>
                </a:solidFill>
              </a:rPr>
              <a:t>(group));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return</a:t>
            </a:r>
            <a:r>
              <a:rPr b="0">
                <a:solidFill>
                  <a:srgbClr val="263044"/>
                </a:solidFill>
              </a:rPr>
              <a:t> detector.</a:t>
            </a:r>
            <a:r>
              <a:rPr b="0">
                <a:solidFill>
                  <a:srgbClr val="7651D4"/>
                </a:solidFill>
              </a:rPr>
              <a:t>FindRiskPattern</a:t>
            </a:r>
            <a:r>
              <a:rPr b="0">
                <a:solidFill>
                  <a:srgbClr val="263044"/>
                </a:solidFill>
              </a:rPr>
              <a:t>(story)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    ?? </a:t>
            </a:r>
            <a:r>
              <a:rPr b="0">
                <a:solidFill>
                  <a:srgbClr val="7651D4"/>
                </a:solidFill>
              </a:rPr>
              <a:t>Finding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None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B45309"/>
                </a:solidFill>
              </a:rPr>
              <a:t>"insufficient_context"</a:t>
            </a:r>
            <a:r>
              <a:rPr b="0">
                <a:solidFill>
                  <a:srgbClr val="263044"/>
                </a:solidFill>
              </a:rPr>
              <a:t>);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05AF949-84E7-4468-A879-F5F6B4884334}"/>
              </a:ext>
            </a:extLst>
          </p:cNvPr>
          <p:cNvSpPr>
            <a:spLocks noGrp="1"/>
          </p:cNvSpPr>
          <p:nvPr/>
        </p:nvSpPr>
        <p:spPr>
          <a:xfrm>
            <a:off x="7924800" y="2152650"/>
            <a:ext cx="3600450" cy="1809750"/>
          </a:xfrm>
          <a:prstGeom prst="roundRect">
            <a:avLst>
              <a:gd name="adj" fmla="val 7368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B13C09E-35CC-4F49-A5D4-6173A9417C85}"/>
              </a:ext>
            </a:extLst>
          </p:cNvPr>
          <p:cNvSpPr>
            <a:spLocks noGrp="1"/>
          </p:cNvSpPr>
          <p:nvPr/>
        </p:nvSpPr>
        <p:spPr>
          <a:xfrm>
            <a:off x="8077200" y="2276475"/>
            <a:ext cx="32956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03D6FF-7D12-460E-9541-D37A86DC856C}"/>
              </a:ext>
            </a:extLst>
          </p:cNvPr>
          <p:cNvSpPr>
            <a:spLocks noGrp="1"/>
          </p:cNvSpPr>
          <p:nvPr/>
        </p:nvSpPr>
        <p:spPr>
          <a:xfrm>
            <a:off x="8077200" y="2524125"/>
            <a:ext cx="329565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Време, актер, ресурс и correlation ID повезују догађаје у образац који може да се објасни.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0CB096E-02BD-45A2-BE64-6532FC8A3EAA}"/>
              </a:ext>
            </a:extLst>
          </p:cNvPr>
          <p:cNvSpPr>
            <a:spLocks noGrp="1"/>
          </p:cNvSpPr>
          <p:nvPr/>
        </p:nvSpPr>
        <p:spPr>
          <a:xfrm>
            <a:off x="7924800" y="4248150"/>
            <a:ext cx="3600450" cy="1428750"/>
          </a:xfrm>
          <a:prstGeom prst="roundRect">
            <a:avLst>
              <a:gd name="adj" fmla="val 9333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ECF73DE-59A0-4C70-86C6-63ADA9D3A6EB}"/>
              </a:ext>
            </a:extLst>
          </p:cNvPr>
          <p:cNvSpPr>
            <a:spLocks noGrp="1"/>
          </p:cNvSpPr>
          <p:nvPr/>
        </p:nvSpPr>
        <p:spPr>
          <a:xfrm>
            <a:off x="8077200" y="4371975"/>
            <a:ext cx="32956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ГРАНИЦА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BAE312A-BAAD-493B-9FD9-40074EC714B3}"/>
              </a:ext>
            </a:extLst>
          </p:cNvPr>
          <p:cNvSpPr>
            <a:spLocks noGrp="1"/>
          </p:cNvSpPr>
          <p:nvPr/>
        </p:nvSpPr>
        <p:spPr>
          <a:xfrm>
            <a:off x="8077200" y="4619625"/>
            <a:ext cx="329565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Одбијање је експлицитан исход са разлогом који се може тестирати и објаснити.</a:t>
            </a:r>
          </a:p>
        </p:txBody>
      </p:sp>
    </p:spTree>
    <p:extLst>
      <p:ext uri="{BB962C8B-B14F-4D97-AF65-F5344CB8AC3E}">
        <p14:creationId xmlns:p14="http://schemas.microsoft.com/office/powerpoint/2010/main" val="16764046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2531925-ED9A-4502-B08E-5CB9C342A9BF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77221F61-5870-4A22-A24B-31652ABE6548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46FEF0-61D0-4F10-BD73-191CAFDC71A2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D16CEA-5844-4DE1-894E-6E81F7CB4E65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Стар доказ не сме да изгледа као актуелна сигурност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22CBCE-1B88-4707-A303-D64B0275D2B4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Негативан тест није споредан случај — он описује где право престаје.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31669E1-98CB-48CA-ACE7-AA3B2DBB4BC3}"/>
              </a:ext>
            </a:extLst>
          </p:cNvPr>
          <p:cNvSpPr>
            <a:spLocks noGrp="1"/>
          </p:cNvSpPr>
          <p:nvPr/>
        </p:nvSpPr>
        <p:spPr>
          <a:xfrm>
            <a:off x="666750" y="2095500"/>
            <a:ext cx="6858000" cy="2276475"/>
          </a:xfrm>
          <a:prstGeom prst="roundRect">
            <a:avLst>
              <a:gd name="adj" fmla="val 4712"/>
            </a:avLst>
          </a:prstGeom>
          <a:solidFill>
            <a:srgbClr val="F7F8FB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D3B89BB2-56C8-4197-A740-EBEE4C1E901D}"/>
              </a:ext>
            </a:extLst>
          </p:cNvPr>
          <p:cNvSpPr>
            <a:spLocks noGrp="1"/>
          </p:cNvSpPr>
          <p:nvPr/>
        </p:nvSpPr>
        <p:spPr>
          <a:xfrm>
            <a:off x="666750" y="2438400"/>
            <a:ext cx="6858000" cy="9525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8890817-D576-45DD-9DFE-B82988D9ACB4}"/>
              </a:ext>
            </a:extLst>
          </p:cNvPr>
          <p:cNvSpPr>
            <a:spLocks noGrp="1"/>
          </p:cNvSpPr>
          <p:nvPr/>
        </p:nvSpPr>
        <p:spPr>
          <a:xfrm>
            <a:off x="6838950" y="2219325"/>
            <a:ext cx="85725" cy="85725"/>
          </a:xfrm>
          <a:prstGeom prst="ellipse">
            <a:avLst/>
          </a:prstGeom>
          <a:solidFill>
            <a:srgbClr val="EF6A60"/>
          </a:solidFill>
          <a:ln w="0">
            <a:noFill/>
          </a:ln>
        </p:spPr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8E26769-05FA-4AE2-9CAB-49EBA6D4D05A}"/>
              </a:ext>
            </a:extLst>
          </p:cNvPr>
          <p:cNvSpPr>
            <a:spLocks noGrp="1"/>
          </p:cNvSpPr>
          <p:nvPr/>
        </p:nvSpPr>
        <p:spPr>
          <a:xfrm>
            <a:off x="7010400" y="2219325"/>
            <a:ext cx="85725" cy="85725"/>
          </a:xfrm>
          <a:prstGeom prst="ellipse">
            <a:avLst/>
          </a:prstGeom>
          <a:solidFill>
            <a:srgbClr val="F2BD42"/>
          </a:solidFill>
          <a:ln w="0">
            <a:noFill/>
          </a:ln>
        </p:spPr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DC8A1BD-7609-431A-98A8-2957B400527B}"/>
              </a:ext>
            </a:extLst>
          </p:cNvPr>
          <p:cNvSpPr>
            <a:spLocks noGrp="1"/>
          </p:cNvSpPr>
          <p:nvPr/>
        </p:nvSpPr>
        <p:spPr>
          <a:xfrm>
            <a:off x="7181850" y="2219325"/>
            <a:ext cx="85725" cy="85725"/>
          </a:xfrm>
          <a:prstGeom prst="ellipse">
            <a:avLst/>
          </a:prstGeom>
          <a:solidFill>
            <a:srgbClr val="65C466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692352-7E62-41C0-BDAB-61231DDC74FC}"/>
              </a:ext>
            </a:extLst>
          </p:cNvPr>
          <p:cNvSpPr>
            <a:spLocks noGrp="1"/>
          </p:cNvSpPr>
          <p:nvPr/>
        </p:nvSpPr>
        <p:spPr>
          <a:xfrm>
            <a:off x="781050" y="2571750"/>
            <a:ext cx="304800" cy="3028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9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96EA46-F66B-4FFB-879D-9DC927735B9B}"/>
              </a:ext>
            </a:extLst>
          </p:cNvPr>
          <p:cNvSpPr>
            <a:spLocks noGrp="1"/>
          </p:cNvSpPr>
          <p:nvPr/>
        </p:nvSpPr>
        <p:spPr>
          <a:xfrm>
            <a:off x="1200150" y="2571750"/>
            <a:ext cx="6153150" cy="3028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[</a:t>
            </a:r>
            <a:r>
              <a:rPr b="0">
                <a:solidFill>
                  <a:srgbClr val="7651D4"/>
                </a:solidFill>
              </a:rPr>
              <a:t>Fact</a:t>
            </a:r>
            <a:r>
              <a:rPr b="0">
                <a:solidFill>
                  <a:srgbClr val="263044"/>
                </a:solidFill>
              </a:rPr>
              <a:t>]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969C3"/>
                </a:solidFill>
              </a:rPr>
              <a:t>public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1">
                <a:solidFill>
                  <a:srgbClr val="0969C3"/>
                </a:solidFill>
              </a:rPr>
              <a:t>void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Control_without_fresh_evidence_is_not_effective</a:t>
            </a:r>
            <a:r>
              <a:rPr b="0">
                <a:solidFill>
                  <a:srgbClr val="263044"/>
                </a:solidFill>
              </a:rPr>
              <a:t>()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var</a:t>
            </a:r>
            <a:r>
              <a:rPr b="0">
                <a:solidFill>
                  <a:srgbClr val="263044"/>
                </a:solidFill>
              </a:rPr>
              <a:t> control = </a:t>
            </a:r>
            <a:r>
              <a:rPr b="0">
                <a:solidFill>
                  <a:srgbClr val="7651D4"/>
                </a:solidFill>
              </a:rPr>
              <a:t>Control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Tested</a:t>
            </a:r>
            <a:r>
              <a:rPr b="0">
                <a:solidFill>
                  <a:srgbClr val="263044"/>
                </a:solidFill>
              </a:rPr>
              <a:t>(monthsAgo: </a:t>
            </a:r>
            <a:r>
              <a:rPr b="0">
                <a:solidFill>
                  <a:srgbClr val="B86A09"/>
                </a:solidFill>
              </a:rPr>
              <a:t>8</a:t>
            </a:r>
            <a:r>
              <a:rPr b="0">
                <a:solidFill>
                  <a:srgbClr val="263044"/>
                </a:solidFill>
              </a:rPr>
              <a:t>);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endParaRPr b="0">
              <a:solidFill>
                <a:srgbClr val="263044"/>
              </a:solidFill>
            </a:endParaRP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var</a:t>
            </a:r>
            <a:r>
              <a:rPr b="0">
                <a:solidFill>
                  <a:srgbClr val="263044"/>
                </a:solidFill>
              </a:rPr>
              <a:t> score = effectiveness.</a:t>
            </a:r>
            <a:r>
              <a:rPr b="0">
                <a:solidFill>
                  <a:srgbClr val="7651D4"/>
                </a:solidFill>
              </a:rPr>
              <a:t>Evaluate</a:t>
            </a:r>
            <a:r>
              <a:rPr b="0">
                <a:solidFill>
                  <a:srgbClr val="263044"/>
                </a:solidFill>
              </a:rPr>
              <a:t>(control, changedFlow: </a:t>
            </a:r>
            <a:r>
              <a:rPr b="1">
                <a:solidFill>
                  <a:srgbClr val="0969C3"/>
                </a:solidFill>
              </a:rPr>
              <a:t>true</a:t>
            </a:r>
            <a:r>
              <a:rPr b="0">
                <a:solidFill>
                  <a:srgbClr val="263044"/>
                </a:solidFill>
              </a:rPr>
              <a:t>);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endParaRPr b="0">
              <a:solidFill>
                <a:srgbClr val="263044"/>
              </a:solidFill>
            </a:endParaRP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score.</a:t>
            </a:r>
            <a:r>
              <a:rPr b="0">
                <a:solidFill>
                  <a:srgbClr val="7651D4"/>
                </a:solidFill>
              </a:rPr>
              <a:t>Status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Should</a:t>
            </a:r>
            <a:r>
              <a:rPr b="0">
                <a:solidFill>
                  <a:srgbClr val="263044"/>
                </a:solidFill>
              </a:rPr>
              <a:t>().</a:t>
            </a:r>
            <a:r>
              <a:rPr b="0">
                <a:solidFill>
                  <a:srgbClr val="7651D4"/>
                </a:solidFill>
              </a:rPr>
              <a:t>Be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B45309"/>
                </a:solidFill>
              </a:rPr>
              <a:t>"unknown"</a:t>
            </a:r>
            <a:r>
              <a:rPr b="0">
                <a:solidFill>
                  <a:srgbClr val="263044"/>
                </a:solidFill>
              </a:rPr>
              <a:t>);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score.</a:t>
            </a:r>
            <a:r>
              <a:rPr b="0">
                <a:solidFill>
                  <a:srgbClr val="7651D4"/>
                </a:solidFill>
              </a:rPr>
              <a:t>Reason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Should</a:t>
            </a:r>
            <a:r>
              <a:rPr b="0">
                <a:solidFill>
                  <a:srgbClr val="263044"/>
                </a:solidFill>
              </a:rPr>
              <a:t>().</a:t>
            </a:r>
            <a:r>
              <a:rPr b="0">
                <a:solidFill>
                  <a:srgbClr val="7651D4"/>
                </a:solidFill>
              </a:rPr>
              <a:t>Be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B45309"/>
                </a:solidFill>
              </a:rPr>
              <a:t>"stale_evidence"</a:t>
            </a:r>
            <a:r>
              <a:rPr b="0">
                <a:solidFill>
                  <a:srgbClr val="263044"/>
                </a:solidFill>
              </a:rPr>
              <a:t>);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6865E24-D58B-4679-94A8-E040FE298549}"/>
              </a:ext>
            </a:extLst>
          </p:cNvPr>
          <p:cNvSpPr>
            <a:spLocks noGrp="1"/>
          </p:cNvSpPr>
          <p:nvPr/>
        </p:nvSpPr>
        <p:spPr>
          <a:xfrm>
            <a:off x="7924800" y="2152650"/>
            <a:ext cx="3600450" cy="1809750"/>
          </a:xfrm>
          <a:prstGeom prst="roundRect">
            <a:avLst>
              <a:gd name="adj" fmla="val 7368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51DEB0-1780-45FD-9AD4-DC665E9BBA83}"/>
              </a:ext>
            </a:extLst>
          </p:cNvPr>
          <p:cNvSpPr>
            <a:spLocks noGrp="1"/>
          </p:cNvSpPr>
          <p:nvPr/>
        </p:nvSpPr>
        <p:spPr>
          <a:xfrm>
            <a:off x="8077200" y="2276475"/>
            <a:ext cx="32956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987207-8D15-4BBE-9B05-B51A16F565EB}"/>
              </a:ext>
            </a:extLst>
          </p:cNvPr>
          <p:cNvSpPr>
            <a:spLocks noGrp="1"/>
          </p:cNvSpPr>
          <p:nvPr/>
        </p:nvSpPr>
        <p:spPr>
          <a:xfrm>
            <a:off x="8077200" y="2524125"/>
            <a:ext cx="32956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Промена тока или истек рока враћа оцену на непознато док се контрола поново не провери.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556845B-53B8-4AED-9E37-E04A478D5C1D}"/>
              </a:ext>
            </a:extLst>
          </p:cNvPr>
          <p:cNvSpPr>
            <a:spLocks noGrp="1"/>
          </p:cNvSpPr>
          <p:nvPr/>
        </p:nvSpPr>
        <p:spPr>
          <a:xfrm>
            <a:off x="7924800" y="4248150"/>
            <a:ext cx="3600450" cy="1428750"/>
          </a:xfrm>
          <a:prstGeom prst="roundRect">
            <a:avLst>
              <a:gd name="adj" fmla="val 9333"/>
            </a:avLst>
          </a:prstGeom>
          <a:solidFill>
            <a:srgbClr val="F5F0FF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3DB3E4-65CB-4DC4-85D6-65DDCAB16996}"/>
              </a:ext>
            </a:extLst>
          </p:cNvPr>
          <p:cNvSpPr>
            <a:spLocks noGrp="1"/>
          </p:cNvSpPr>
          <p:nvPr/>
        </p:nvSpPr>
        <p:spPr>
          <a:xfrm>
            <a:off x="8077200" y="4371975"/>
            <a:ext cx="32956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ПРОВЕРА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BFC558E-BF7F-46BC-9348-9B291475A1BA}"/>
              </a:ext>
            </a:extLst>
          </p:cNvPr>
          <p:cNvSpPr>
            <a:spLocks noGrp="1"/>
          </p:cNvSpPr>
          <p:nvPr/>
        </p:nvSpPr>
        <p:spPr>
          <a:xfrm>
            <a:off x="8077200" y="4619625"/>
            <a:ext cx="329565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Промените једну чињеницу и очекујте јасан, стабилан разлог одбијања.</a:t>
            </a:r>
          </a:p>
        </p:txBody>
      </p:sp>
    </p:spTree>
    <p:extLst>
      <p:ext uri="{BB962C8B-B14F-4D97-AF65-F5344CB8AC3E}">
        <p14:creationId xmlns:p14="http://schemas.microsoft.com/office/powerpoint/2010/main" val="20741755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25881507-60C0-4967-BEC9-9110D8A1E06B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C7FB4AEF-6EF0-4344-B6BB-3154DE8FE2FC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8A6E5EF-009A-41E3-822A-A4F89498E1C2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6C04DC-785E-4457-89EE-0135EC9A124F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Доказ мора да одговори шта се догодило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228B8DF-61B9-4B5A-A6D6-A31A7BAD00CC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Чува се довољно контекста за реконструкцију, али не и тајне или непотребни лични подаци.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9350125-721E-47F3-BFD5-834D4F475733}"/>
              </a:ext>
            </a:extLst>
          </p:cNvPr>
          <p:cNvSpPr>
            <a:spLocks noGrp="1"/>
          </p:cNvSpPr>
          <p:nvPr/>
        </p:nvSpPr>
        <p:spPr>
          <a:xfrm>
            <a:off x="857250" y="2152650"/>
            <a:ext cx="5334000" cy="2028825"/>
          </a:xfrm>
          <a:prstGeom prst="roundRect">
            <a:avLst>
              <a:gd name="adj" fmla="val 5455"/>
            </a:avLst>
          </a:prstGeom>
          <a:solidFill>
            <a:srgbClr val="F7F8FB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0030EC6B-20A7-4736-B6E4-94EEDE31257F}"/>
              </a:ext>
            </a:extLst>
          </p:cNvPr>
          <p:cNvSpPr>
            <a:spLocks noGrp="1"/>
          </p:cNvSpPr>
          <p:nvPr/>
        </p:nvSpPr>
        <p:spPr>
          <a:xfrm>
            <a:off x="857250" y="2495550"/>
            <a:ext cx="5334000" cy="9525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B8A82F9-CDAF-4E31-9981-49CD8E709A56}"/>
              </a:ext>
            </a:extLst>
          </p:cNvPr>
          <p:cNvSpPr>
            <a:spLocks noGrp="1"/>
          </p:cNvSpPr>
          <p:nvPr/>
        </p:nvSpPr>
        <p:spPr>
          <a:xfrm>
            <a:off x="5505450" y="2276475"/>
            <a:ext cx="85725" cy="85725"/>
          </a:xfrm>
          <a:prstGeom prst="ellipse">
            <a:avLst/>
          </a:prstGeom>
          <a:solidFill>
            <a:srgbClr val="EF6A60"/>
          </a:solidFill>
          <a:ln w="0">
            <a:noFill/>
          </a:ln>
        </p:spPr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9770EFD-4A94-46E8-B826-AD29D5F9963C}"/>
              </a:ext>
            </a:extLst>
          </p:cNvPr>
          <p:cNvSpPr>
            <a:spLocks noGrp="1"/>
          </p:cNvSpPr>
          <p:nvPr/>
        </p:nvSpPr>
        <p:spPr>
          <a:xfrm>
            <a:off x="5676900" y="2276475"/>
            <a:ext cx="85725" cy="85725"/>
          </a:xfrm>
          <a:prstGeom prst="ellipse">
            <a:avLst/>
          </a:prstGeom>
          <a:solidFill>
            <a:srgbClr val="F2BD42"/>
          </a:solidFill>
          <a:ln w="0">
            <a:noFill/>
          </a:ln>
        </p:spPr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4CA6231-A168-4B82-ADA5-E85AF9523D8A}"/>
              </a:ext>
            </a:extLst>
          </p:cNvPr>
          <p:cNvSpPr>
            <a:spLocks noGrp="1"/>
          </p:cNvSpPr>
          <p:nvPr/>
        </p:nvSpPr>
        <p:spPr>
          <a:xfrm>
            <a:off x="5848350" y="2276475"/>
            <a:ext cx="85725" cy="85725"/>
          </a:xfrm>
          <a:prstGeom prst="ellipse">
            <a:avLst/>
          </a:prstGeom>
          <a:solidFill>
            <a:srgbClr val="65C466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45F39F-C317-4F46-8ECC-697207F52DE2}"/>
              </a:ext>
            </a:extLst>
          </p:cNvPr>
          <p:cNvSpPr>
            <a:spLocks noGrp="1"/>
          </p:cNvSpPr>
          <p:nvPr/>
        </p:nvSpPr>
        <p:spPr>
          <a:xfrm>
            <a:off x="971550" y="2628900"/>
            <a:ext cx="304800" cy="2533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DC8AB3-D7E4-4FFD-9855-158A755E794D}"/>
              </a:ext>
            </a:extLst>
          </p:cNvPr>
          <p:cNvSpPr>
            <a:spLocks noGrp="1"/>
          </p:cNvSpPr>
          <p:nvPr/>
        </p:nvSpPr>
        <p:spPr>
          <a:xfrm>
            <a:off x="1390650" y="2628900"/>
            <a:ext cx="4629150" cy="2533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"control"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"object-authorization"</a:t>
            </a:r>
            <a:r>
              <a:rPr b="0">
                <a:solidFill>
                  <a:srgbClr val="263044"/>
                </a:solidFill>
              </a:rPr>
              <a:t>,</a:t>
            </a:r>
          </a:p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"risk"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"cross-tenant-access"</a:t>
            </a:r>
            <a:r>
              <a:rPr b="0">
                <a:solidFill>
                  <a:srgbClr val="263044"/>
                </a:solidFill>
              </a:rPr>
              <a:t>,</a:t>
            </a:r>
          </a:p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"lastEvidence"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"2026-09-20"</a:t>
            </a:r>
            <a:r>
              <a:rPr b="0">
                <a:solidFill>
                  <a:srgbClr val="263044"/>
                </a:solidFill>
              </a:rPr>
              <a:t>,</a:t>
            </a:r>
          </a:p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"coveredScenario"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"foreign-record-denied"</a:t>
            </a:r>
            <a:r>
              <a:rPr b="0">
                <a:solidFill>
                  <a:srgbClr val="263044"/>
                </a:solidFill>
              </a:rPr>
              <a:t>,</a:t>
            </a:r>
          </a:p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"status"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"effective"</a:t>
            </a:r>
            <a:r>
              <a:rPr b="0">
                <a:solidFill>
                  <a:srgbClr val="263044"/>
                </a:solidFill>
              </a:rPr>
              <a:t>,</a:t>
            </a:r>
          </a:p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"nextReview"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"2026-10-20"</a:t>
            </a:r>
          </a:p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D748E95-08A3-459E-A254-2C1D92E0F481}"/>
              </a:ext>
            </a:extLst>
          </p:cNvPr>
          <p:cNvSpPr>
            <a:spLocks noGrp="1"/>
          </p:cNvSpPr>
          <p:nvPr/>
        </p:nvSpPr>
        <p:spPr>
          <a:xfrm>
            <a:off x="6648450" y="2152650"/>
            <a:ext cx="4591050" cy="1352550"/>
          </a:xfrm>
          <a:prstGeom prst="roundRect">
            <a:avLst>
              <a:gd name="adj" fmla="val 9859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F6ACDB4-4F0C-4245-8B24-B22B4BDB8C12}"/>
              </a:ext>
            </a:extLst>
          </p:cNvPr>
          <p:cNvSpPr>
            <a:spLocks noGrp="1"/>
          </p:cNvSpPr>
          <p:nvPr/>
        </p:nvSpPr>
        <p:spPr>
          <a:xfrm>
            <a:off x="6800850" y="2276475"/>
            <a:ext cx="4286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ДОВОЉНО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BE02471-1B5D-4E8D-8763-3AED2F51211F}"/>
              </a:ext>
            </a:extLst>
          </p:cNvPr>
          <p:cNvSpPr>
            <a:spLocks noGrp="1"/>
          </p:cNvSpPr>
          <p:nvPr/>
        </p:nvSpPr>
        <p:spPr>
          <a:xfrm>
            <a:off x="6800850" y="2524125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4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Актер, радња, циљ, исход и разлог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F367E09-4B06-45BE-9D17-6DE0E787A781}"/>
              </a:ext>
            </a:extLst>
          </p:cNvPr>
          <p:cNvSpPr>
            <a:spLocks noGrp="1"/>
          </p:cNvSpPr>
          <p:nvPr/>
        </p:nvSpPr>
        <p:spPr>
          <a:xfrm>
            <a:off x="6800850" y="2933700"/>
            <a:ext cx="42862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Временска ознака и correlation ID повезују траг са остатком тока.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2C05A9F-21E3-4700-B4AF-4D166D1A4C45}"/>
              </a:ext>
            </a:extLst>
          </p:cNvPr>
          <p:cNvSpPr>
            <a:spLocks noGrp="1"/>
          </p:cNvSpPr>
          <p:nvPr/>
        </p:nvSpPr>
        <p:spPr>
          <a:xfrm>
            <a:off x="6648450" y="3867150"/>
            <a:ext cx="4591050" cy="1428750"/>
          </a:xfrm>
          <a:prstGeom prst="roundRect">
            <a:avLst>
              <a:gd name="adj" fmla="val 9333"/>
            </a:avLst>
          </a:prstGeom>
          <a:solidFill>
            <a:srgbClr val="FFF0F0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61DE90F-DAC3-4988-A5BB-FCD3A40994EE}"/>
              </a:ext>
            </a:extLst>
          </p:cNvPr>
          <p:cNvSpPr>
            <a:spLocks noGrp="1"/>
          </p:cNvSpPr>
          <p:nvPr/>
        </p:nvSpPr>
        <p:spPr>
          <a:xfrm>
            <a:off x="6800850" y="3990975"/>
            <a:ext cx="4286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НЕ ПРИПАДА У ДОКАЗ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58743E7-1775-4CB5-9D10-48BAE939FCE2}"/>
              </a:ext>
            </a:extLst>
          </p:cNvPr>
          <p:cNvSpPr>
            <a:spLocks noGrp="1"/>
          </p:cNvSpPr>
          <p:nvPr/>
        </p:nvSpPr>
        <p:spPr>
          <a:xfrm>
            <a:off x="6800850" y="4238625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Лозинка, token, тајна и сувишан садржај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E714534-3568-4865-AEBA-E1313CB2D2C0}"/>
              </a:ext>
            </a:extLst>
          </p:cNvPr>
          <p:cNvSpPr>
            <a:spLocks noGrp="1"/>
          </p:cNvSpPr>
          <p:nvPr/>
        </p:nvSpPr>
        <p:spPr>
          <a:xfrm>
            <a:off x="6800850" y="4648200"/>
            <a:ext cx="4286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Траг не сме да постане нови извор цурења или збирка непотребних података.</a:t>
            </a:r>
          </a:p>
        </p:txBody>
      </p:sp>
    </p:spTree>
    <p:extLst>
      <p:ext uri="{BB962C8B-B14F-4D97-AF65-F5344CB8AC3E}">
        <p14:creationId xmlns:p14="http://schemas.microsoft.com/office/powerpoint/2010/main" val="5171517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3920585-7BF4-468D-A0EF-9DC011C8A977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21D903BF-600C-4DEE-8613-2CDD252CD0A5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5C1830-2B9E-44E2-B8DA-50D7B70F126E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4B62D2-219C-4996-A56D-BBE70C288254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Три грешке које треба препознати одмах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B63EED-F799-4F02-9DCB-35526E9EC3EF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Свака делује практично у првој итерацији, али касније постаје скривена безбедносна граница.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05A092D-30CE-45EC-8757-2C13D863DF88}"/>
              </a:ext>
            </a:extLst>
          </p:cNvPr>
          <p:cNvSpPr>
            <a:spLocks noGrp="1"/>
          </p:cNvSpPr>
          <p:nvPr/>
        </p:nvSpPr>
        <p:spPr>
          <a:xfrm>
            <a:off x="819150" y="2381250"/>
            <a:ext cx="3257550" cy="2381250"/>
          </a:xfrm>
          <a:prstGeom prst="roundRect">
            <a:avLst>
              <a:gd name="adj" fmla="val 5600"/>
            </a:avLst>
          </a:prstGeom>
          <a:solidFill>
            <a:srgbClr val="FFF0F0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0B8CE2-72FE-4430-A126-FA2B9CF52BC3}"/>
              </a:ext>
            </a:extLst>
          </p:cNvPr>
          <p:cNvSpPr>
            <a:spLocks noGrp="1"/>
          </p:cNvSpPr>
          <p:nvPr/>
        </p:nvSpPr>
        <p:spPr>
          <a:xfrm>
            <a:off x="971550" y="2505075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AACA12F-6300-4D17-BEE3-79A9FC75DDBD}"/>
              </a:ext>
            </a:extLst>
          </p:cNvPr>
          <p:cNvSpPr>
            <a:spLocks noGrp="1"/>
          </p:cNvSpPr>
          <p:nvPr/>
        </p:nvSpPr>
        <p:spPr>
          <a:xfrm>
            <a:off x="971550" y="2752725"/>
            <a:ext cx="2952750" cy="1219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Закључивање из једног догађаја без ширег контекста.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AA5D2A-6765-42AE-96D9-86A7D025E7E4}"/>
              </a:ext>
            </a:extLst>
          </p:cNvPr>
          <p:cNvSpPr>
            <a:spLocks noGrp="1"/>
          </p:cNvSpPr>
          <p:nvPr/>
        </p:nvSpPr>
        <p:spPr>
          <a:xfrm>
            <a:off x="971550" y="4038600"/>
            <a:ext cx="2952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Нема јасног власника одлуке.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3F110E6-E07C-4D90-AF33-239D333F1ECC}"/>
              </a:ext>
            </a:extLst>
          </p:cNvPr>
          <p:cNvSpPr>
            <a:spLocks noGrp="1"/>
          </p:cNvSpPr>
          <p:nvPr/>
        </p:nvSpPr>
        <p:spPr>
          <a:xfrm>
            <a:off x="4467225" y="2381250"/>
            <a:ext cx="3257550" cy="2381250"/>
          </a:xfrm>
          <a:prstGeom prst="roundRect">
            <a:avLst>
              <a:gd name="adj" fmla="val 5600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655C83F-EE47-4554-825B-CCEEFC4A9F53}"/>
              </a:ext>
            </a:extLst>
          </p:cNvPr>
          <p:cNvSpPr>
            <a:spLocks noGrp="1"/>
          </p:cNvSpPr>
          <p:nvPr/>
        </p:nvSpPr>
        <p:spPr>
          <a:xfrm>
            <a:off x="4619625" y="2505075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2826500-56EA-4C34-A7E6-B7C7EE233B93}"/>
              </a:ext>
            </a:extLst>
          </p:cNvPr>
          <p:cNvSpPr>
            <a:spLocks noGrp="1"/>
          </p:cNvSpPr>
          <p:nvPr/>
        </p:nvSpPr>
        <p:spPr>
          <a:xfrm>
            <a:off x="4619625" y="2752725"/>
            <a:ext cx="2952750" cy="1219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Аутоматска акција са великом последицом без заштитне провере.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1F9F8D-E45D-46B3-B7C4-903634158CDF}"/>
              </a:ext>
            </a:extLst>
          </p:cNvPr>
          <p:cNvSpPr>
            <a:spLocks noGrp="1"/>
          </p:cNvSpPr>
          <p:nvPr/>
        </p:nvSpPr>
        <p:spPr>
          <a:xfrm>
            <a:off x="4619625" y="4038600"/>
            <a:ext cx="2952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 постоји негативан сценарио.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1CFF61A-3F39-4697-B8F2-E4F19C21E9AB}"/>
              </a:ext>
            </a:extLst>
          </p:cNvPr>
          <p:cNvSpPr>
            <a:spLocks noGrp="1"/>
          </p:cNvSpPr>
          <p:nvPr/>
        </p:nvSpPr>
        <p:spPr>
          <a:xfrm>
            <a:off x="8115300" y="2381250"/>
            <a:ext cx="3257550" cy="2381250"/>
          </a:xfrm>
          <a:prstGeom prst="roundRect">
            <a:avLst>
              <a:gd name="adj" fmla="val 5600"/>
            </a:avLst>
          </a:prstGeom>
          <a:solidFill>
            <a:srgbClr val="F5F0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6C1413E-6F93-47DD-A07E-21EA2BAA89D4}"/>
              </a:ext>
            </a:extLst>
          </p:cNvPr>
          <p:cNvSpPr>
            <a:spLocks noGrp="1"/>
          </p:cNvSpPr>
          <p:nvPr/>
        </p:nvSpPr>
        <p:spPr>
          <a:xfrm>
            <a:off x="8267700" y="2505075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CD7B55-3C96-4622-8AA0-ED2D8B3C41AF}"/>
              </a:ext>
            </a:extLst>
          </p:cNvPr>
          <p:cNvSpPr>
            <a:spLocks noGrp="1"/>
          </p:cNvSpPr>
          <p:nvPr/>
        </p:nvSpPr>
        <p:spPr>
          <a:xfrm>
            <a:off x="8267700" y="2752725"/>
            <a:ext cx="2952750" cy="1219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Оцена контроле само по томе да ли је имплементирана.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49BD23A-82BF-4B48-94F8-BCF2404E3B8C}"/>
              </a:ext>
            </a:extLst>
          </p:cNvPr>
          <p:cNvSpPr>
            <a:spLocks noGrp="1"/>
          </p:cNvSpPr>
          <p:nvPr/>
        </p:nvSpPr>
        <p:spPr>
          <a:xfrm>
            <a:off x="8267700" y="4038600"/>
            <a:ext cx="2952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Доказ не показује стварни исход.</a:t>
            </a:r>
          </a:p>
        </p:txBody>
      </p:sp>
    </p:spTree>
    <p:extLst>
      <p:ext uri="{BB962C8B-B14F-4D97-AF65-F5344CB8AC3E}">
        <p14:creationId xmlns:p14="http://schemas.microsoft.com/office/powerpoint/2010/main" val="15853732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D20BC047-E7A2-4554-AD7E-7240083E2A5D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DAAD7E9C-E1D1-4EF7-93E8-4E9B3E9EB498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40B23D-28D6-4522-89AE-259DF9ACB8E1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B8CFC3-5DFC-4517-91CB-A93F5635F5D2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Ефективност је више од постојања контроле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8A4634-E91D-4F16-8056-46134A288705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Добар доказ је свеж, поновљив и довољно јасан да га други члан тима протумачи.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5AC0205-C54E-441E-8BD2-F502652037F3}"/>
              </a:ext>
            </a:extLst>
          </p:cNvPr>
          <p:cNvSpPr>
            <a:spLocks noGrp="1"/>
          </p:cNvSpPr>
          <p:nvPr/>
        </p:nvSpPr>
        <p:spPr>
          <a:xfrm>
            <a:off x="781050" y="2152650"/>
            <a:ext cx="4476750" cy="2504410"/>
          </a:xfrm>
          <a:prstGeom prst="roundRect">
            <a:avLst>
              <a:gd name="adj" fmla="val 4294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9253718-4AB0-4F7B-AF1A-B1B716751E73}"/>
              </a:ext>
            </a:extLst>
          </p:cNvPr>
          <p:cNvSpPr>
            <a:spLocks noGrp="1"/>
          </p:cNvSpPr>
          <p:nvPr/>
        </p:nvSpPr>
        <p:spPr>
          <a:xfrm>
            <a:off x="933450" y="2276475"/>
            <a:ext cx="41719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ОБРАЗЛОЖЕЊЕ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7B2CE3-9967-481B-8A32-9AAB69830430}"/>
              </a:ext>
            </a:extLst>
          </p:cNvPr>
          <p:cNvSpPr>
            <a:spLocks noGrp="1"/>
          </p:cNvSpPr>
          <p:nvPr/>
        </p:nvSpPr>
        <p:spPr>
          <a:xfrm>
            <a:off x="933450" y="2524125"/>
            <a:ext cx="41719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Ефективност је више од постојања контроле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0E1748-FDE0-4995-8FE6-28DA59D1EE00}"/>
              </a:ext>
            </a:extLst>
          </p:cNvPr>
          <p:cNvSpPr>
            <a:spLocks noGrp="1"/>
          </p:cNvSpPr>
          <p:nvPr/>
        </p:nvSpPr>
        <p:spPr>
          <a:xfrm>
            <a:off x="933450" y="3143250"/>
            <a:ext cx="4171950" cy="2009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Контрола може бити имплементирана, али погрешно подешена, заобиђена новим током или застарела после промене система. Зато се њена ефективност процењује кроз доказ: последњи успешан тест, покривени сценарио, власника и способност да се проблем примети ако контрола закаже.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9810676-1500-45BC-A2B7-BEF7F374F459}"/>
              </a:ext>
            </a:extLst>
          </p:cNvPr>
          <p:cNvSpPr>
            <a:spLocks noGrp="1"/>
          </p:cNvSpPr>
          <p:nvPr/>
        </p:nvSpPr>
        <p:spPr>
          <a:xfrm>
            <a:off x="5676900" y="2152650"/>
            <a:ext cx="5734050" cy="828675"/>
          </a:xfrm>
          <a:prstGeom prst="roundRect">
            <a:avLst>
              <a:gd name="adj" fmla="val 16092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7E66B3-E4EB-4B4F-B916-CD4ADFE3396C}"/>
              </a:ext>
            </a:extLst>
          </p:cNvPr>
          <p:cNvSpPr>
            <a:spLocks noGrp="1"/>
          </p:cNvSpPr>
          <p:nvPr/>
        </p:nvSpPr>
        <p:spPr>
          <a:xfrm>
            <a:off x="5829300" y="2276475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8C0004-A21C-47CB-9B11-8A400BE9297A}"/>
              </a:ext>
            </a:extLst>
          </p:cNvPr>
          <p:cNvSpPr>
            <a:spLocks noGrp="1"/>
          </p:cNvSpPr>
          <p:nvPr/>
        </p:nvSpPr>
        <p:spPr>
          <a:xfrm>
            <a:off x="5829300" y="2524125"/>
            <a:ext cx="5429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Доказ се освежава када се промени релевантан ток, улога или граница поверења.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55805E3-F762-4DB0-B598-8B519D4A55F2}"/>
              </a:ext>
            </a:extLst>
          </p:cNvPr>
          <p:cNvSpPr>
            <a:spLocks noGrp="1"/>
          </p:cNvSpPr>
          <p:nvPr/>
        </p:nvSpPr>
        <p:spPr>
          <a:xfrm>
            <a:off x="5676900" y="3152775"/>
            <a:ext cx="5734050" cy="828675"/>
          </a:xfrm>
          <a:prstGeom prst="roundRect">
            <a:avLst>
              <a:gd name="adj" fmla="val 16092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D796B9D-57B7-4329-A35B-50966C48A2D9}"/>
              </a:ext>
            </a:extLst>
          </p:cNvPr>
          <p:cNvSpPr>
            <a:spLocks noGrp="1"/>
          </p:cNvSpPr>
          <p:nvPr/>
        </p:nvSpPr>
        <p:spPr>
          <a:xfrm>
            <a:off x="5829300" y="3276600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82810C-235F-4D8D-A562-01AAC0B27D39}"/>
              </a:ext>
            </a:extLst>
          </p:cNvPr>
          <p:cNvSpPr>
            <a:spLocks noGrp="1"/>
          </p:cNvSpPr>
          <p:nvPr/>
        </p:nvSpPr>
        <p:spPr>
          <a:xfrm>
            <a:off x="5829300" y="3524250"/>
            <a:ext cx="5429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Мера ефективности не скрива непознато, већ показује где доказа нема довољно.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05F7CC4-DD77-4120-AF61-65FE50B4EFED}"/>
              </a:ext>
            </a:extLst>
          </p:cNvPr>
          <p:cNvSpPr>
            <a:spLocks noGrp="1"/>
          </p:cNvSpPr>
          <p:nvPr/>
        </p:nvSpPr>
        <p:spPr>
          <a:xfrm>
            <a:off x="5676900" y="4152900"/>
            <a:ext cx="5734050" cy="828675"/>
          </a:xfrm>
          <a:prstGeom prst="roundRect">
            <a:avLst>
              <a:gd name="adj" fmla="val 16092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2D4FD0-CCBD-45F3-A45E-EE78D4139EDD}"/>
              </a:ext>
            </a:extLst>
          </p:cNvPr>
          <p:cNvSpPr>
            <a:spLocks noGrp="1"/>
          </p:cNvSpPr>
          <p:nvPr/>
        </p:nvSpPr>
        <p:spPr>
          <a:xfrm>
            <a:off x="5829300" y="4276725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6ACCAF-577C-4AA4-8E1F-C31159456835}"/>
              </a:ext>
            </a:extLst>
          </p:cNvPr>
          <p:cNvSpPr>
            <a:spLocks noGrp="1"/>
          </p:cNvSpPr>
          <p:nvPr/>
        </p:nvSpPr>
        <p:spPr>
          <a:xfrm>
            <a:off x="5829300" y="4524375"/>
            <a:ext cx="5429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Квалитетна анализа повезује ризик, контролу, тест и преостало ограничење у једну јасну причу.</a:t>
            </a:r>
          </a:p>
        </p:txBody>
      </p:sp>
    </p:spTree>
    <p:extLst>
      <p:ext uri="{BB962C8B-B14F-4D97-AF65-F5344CB8AC3E}">
        <p14:creationId xmlns:p14="http://schemas.microsoft.com/office/powerpoint/2010/main" val="5100681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C57A1051-10B2-4402-B13B-38D01F3F97D3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E95A4CEF-64E3-416C-9D1E-0C8B29097ABF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0F4C75-A70A-4928-9C39-29077DD1693B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92D655-1825-4F23-81F6-9F7921091987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Мини вежба за пројекат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BCFF0A-5007-49A0-A598-55AD24AB2534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 једном сценарију повежите одлуку, имплементацију, негативни тест и доказ.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F47B702-CE2A-4ABD-962C-4977CA53DF24}"/>
              </a:ext>
            </a:extLst>
          </p:cNvPr>
          <p:cNvSpPr>
            <a:spLocks noGrp="1"/>
          </p:cNvSpPr>
          <p:nvPr/>
        </p:nvSpPr>
        <p:spPr>
          <a:xfrm>
            <a:off x="800100" y="2400300"/>
            <a:ext cx="2433638" cy="1257300"/>
          </a:xfrm>
          <a:prstGeom prst="roundRect">
            <a:avLst>
              <a:gd name="adj" fmla="val 10606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DCA7CC-88C5-4F11-AB26-20E52B04BE9A}"/>
              </a:ext>
            </a:extLst>
          </p:cNvPr>
          <p:cNvSpPr>
            <a:spLocks noGrp="1"/>
          </p:cNvSpPr>
          <p:nvPr/>
        </p:nvSpPr>
        <p:spPr>
          <a:xfrm>
            <a:off x="942975" y="2514600"/>
            <a:ext cx="2147888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716478-3361-4334-BE4C-6E85BD7D6DEB}"/>
              </a:ext>
            </a:extLst>
          </p:cNvPr>
          <p:cNvSpPr>
            <a:spLocks noGrp="1"/>
          </p:cNvSpPr>
          <p:nvPr/>
        </p:nvSpPr>
        <p:spPr>
          <a:xfrm>
            <a:off x="933450" y="2800350"/>
            <a:ext cx="216693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Изаберите сценарио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602D1F-745F-4347-B397-8DE7F5D90BCF}"/>
              </a:ext>
            </a:extLst>
          </p:cNvPr>
          <p:cNvSpPr>
            <a:spLocks noGrp="1"/>
          </p:cNvSpPr>
          <p:nvPr/>
        </p:nvSpPr>
        <p:spPr>
          <a:xfrm>
            <a:off x="942975" y="3190875"/>
            <a:ext cx="214788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једна стварна радња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F50C05A-2E2A-4E79-8DF8-20A7201D42FF}"/>
              </a:ext>
            </a:extLst>
          </p:cNvPr>
          <p:cNvSpPr>
            <a:spLocks noGrp="1"/>
          </p:cNvSpPr>
          <p:nvPr/>
        </p:nvSpPr>
        <p:spPr>
          <a:xfrm>
            <a:off x="3519488" y="2400300"/>
            <a:ext cx="2433638" cy="1257300"/>
          </a:xfrm>
          <a:prstGeom prst="roundRect">
            <a:avLst>
              <a:gd name="adj" fmla="val 10606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264AA2-9C88-4EE6-9C42-470E87E757CA}"/>
              </a:ext>
            </a:extLst>
          </p:cNvPr>
          <p:cNvSpPr>
            <a:spLocks noGrp="1"/>
          </p:cNvSpPr>
          <p:nvPr/>
        </p:nvSpPr>
        <p:spPr>
          <a:xfrm>
            <a:off x="3662363" y="2514600"/>
            <a:ext cx="2147888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D831EA2-E280-430D-9A1B-6350B10EB40A}"/>
              </a:ext>
            </a:extLst>
          </p:cNvPr>
          <p:cNvSpPr>
            <a:spLocks noGrp="1"/>
          </p:cNvSpPr>
          <p:nvPr/>
        </p:nvSpPr>
        <p:spPr>
          <a:xfrm>
            <a:off x="3652838" y="2800350"/>
            <a:ext cx="216693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Именујте правило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717954-27C5-4903-98BE-B09E773D5F88}"/>
              </a:ext>
            </a:extLst>
          </p:cNvPr>
          <p:cNvSpPr>
            <a:spLocks noGrp="1"/>
          </p:cNvSpPr>
          <p:nvPr/>
        </p:nvSpPr>
        <p:spPr>
          <a:xfrm>
            <a:off x="3662363" y="3190875"/>
            <a:ext cx="214788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улази и граница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335B7E8-CDCA-4DA0-AF39-3E744098C814}"/>
              </a:ext>
            </a:extLst>
          </p:cNvPr>
          <p:cNvSpPr>
            <a:spLocks noGrp="1"/>
          </p:cNvSpPr>
          <p:nvPr/>
        </p:nvSpPr>
        <p:spPr>
          <a:xfrm>
            <a:off x="6238875" y="2400300"/>
            <a:ext cx="2433638" cy="1257300"/>
          </a:xfrm>
          <a:prstGeom prst="roundRect">
            <a:avLst>
              <a:gd name="adj" fmla="val 10606"/>
            </a:avLst>
          </a:prstGeom>
          <a:solidFill>
            <a:srgbClr val="FFF0F0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95EFF0-FB9A-4F8A-8176-B3749D78B4C1}"/>
              </a:ext>
            </a:extLst>
          </p:cNvPr>
          <p:cNvSpPr>
            <a:spLocks noGrp="1"/>
          </p:cNvSpPr>
          <p:nvPr/>
        </p:nvSpPr>
        <p:spPr>
          <a:xfrm>
            <a:off x="6381750" y="2514600"/>
            <a:ext cx="2147888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EEEC7EA-20CC-4B0C-B694-15A423257B03}"/>
              </a:ext>
            </a:extLst>
          </p:cNvPr>
          <p:cNvSpPr>
            <a:spLocks noGrp="1"/>
          </p:cNvSpPr>
          <p:nvPr/>
        </p:nvSpPr>
        <p:spPr>
          <a:xfrm>
            <a:off x="6372225" y="2800350"/>
            <a:ext cx="216693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Напишите денy тест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816261D-58C8-4FC3-B1D9-61A591F74CE4}"/>
              </a:ext>
            </a:extLst>
          </p:cNvPr>
          <p:cNvSpPr>
            <a:spLocks noGrp="1"/>
          </p:cNvSpPr>
          <p:nvPr/>
        </p:nvSpPr>
        <p:spPr>
          <a:xfrm>
            <a:off x="6381750" y="3190875"/>
            <a:ext cx="214788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једна чињеница недостаје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AA2D17E-586C-4EDC-882C-24291AE6DEC3}"/>
              </a:ext>
            </a:extLst>
          </p:cNvPr>
          <p:cNvSpPr>
            <a:spLocks noGrp="1"/>
          </p:cNvSpPr>
          <p:nvPr/>
        </p:nvSpPr>
        <p:spPr>
          <a:xfrm>
            <a:off x="8958263" y="2400300"/>
            <a:ext cx="2433638" cy="1257300"/>
          </a:xfrm>
          <a:prstGeom prst="roundRect">
            <a:avLst>
              <a:gd name="adj" fmla="val 10606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05E471B-1FDC-4730-81AA-097E3C698CBA}"/>
              </a:ext>
            </a:extLst>
          </p:cNvPr>
          <p:cNvSpPr>
            <a:spLocks noGrp="1"/>
          </p:cNvSpPr>
          <p:nvPr/>
        </p:nvSpPr>
        <p:spPr>
          <a:xfrm>
            <a:off x="9101138" y="2514600"/>
            <a:ext cx="2147888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09198CD-73C5-4F6E-95E7-9DBDFDF09622}"/>
              </a:ext>
            </a:extLst>
          </p:cNvPr>
          <p:cNvSpPr>
            <a:spLocks noGrp="1"/>
          </p:cNvSpPr>
          <p:nvPr/>
        </p:nvSpPr>
        <p:spPr>
          <a:xfrm>
            <a:off x="9091613" y="2800350"/>
            <a:ext cx="216693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Сачувајте доказ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4FED62-2896-4BA3-B9BB-E9093380BBC0}"/>
              </a:ext>
            </a:extLst>
          </p:cNvPr>
          <p:cNvSpPr>
            <a:spLocks noGrp="1"/>
          </p:cNvSpPr>
          <p:nvPr/>
        </p:nvSpPr>
        <p:spPr>
          <a:xfrm>
            <a:off x="9101138" y="3190875"/>
            <a:ext cx="214788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исход и разлог</a:t>
            </a:r>
          </a:p>
        </p:txBody>
      </p:sp>
      <p:cxnSp>
        <p:nvCxnSpPr>
          <p:cNvPr id="125" name="Straight Arrow Connector 124"/>
          <p:cNvCxnSpPr>
            <a:stCxn id="6" idx="3"/>
            <a:endCxn id="10" idx="1"/>
          </p:cNvCxnSpPr>
          <p:nvPr/>
        </p:nvCxnSpPr>
        <p:spPr>
          <a:xfrm>
            <a:off x="3233738" y="3028950"/>
            <a:ext cx="285750" cy="0"/>
          </a:xfrm>
          <a:prstGeom prst="straightConnector1">
            <a:avLst/>
          </a:prstGeom>
          <a:ln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26" name="Straight Arrow Connector 125"/>
          <p:cNvCxnSpPr>
            <a:stCxn id="10" idx="3"/>
            <a:endCxn id="14" idx="1"/>
          </p:cNvCxnSpPr>
          <p:nvPr/>
        </p:nvCxnSpPr>
        <p:spPr>
          <a:xfrm>
            <a:off x="5953126" y="3028950"/>
            <a:ext cx="285749" cy="0"/>
          </a:xfrm>
          <a:prstGeom prst="straightConnector1">
            <a:avLst/>
          </a:prstGeom>
          <a:ln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27" name="Straight Arrow Connector 126"/>
          <p:cNvCxnSpPr>
            <a:stCxn id="14" idx="3"/>
            <a:endCxn id="18" idx="1"/>
          </p:cNvCxnSpPr>
          <p:nvPr/>
        </p:nvCxnSpPr>
        <p:spPr>
          <a:xfrm>
            <a:off x="8672513" y="3028950"/>
            <a:ext cx="285750" cy="0"/>
          </a:xfrm>
          <a:prstGeom prst="straightConnector1">
            <a:avLst/>
          </a:prstGeom>
          <a:ln w="13335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F0A1D6E1-1387-4EEF-82FA-B34CE2D0E343}"/>
              </a:ext>
            </a:extLst>
          </p:cNvPr>
          <p:cNvSpPr>
            <a:spLocks noGrp="1"/>
          </p:cNvSpPr>
          <p:nvPr/>
        </p:nvSpPr>
        <p:spPr>
          <a:xfrm>
            <a:off x="1619250" y="4305300"/>
            <a:ext cx="8953500" cy="914400"/>
          </a:xfrm>
          <a:prstGeom prst="roundRect">
            <a:avLst>
              <a:gd name="adj" fmla="val 13542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C312FA73-6670-4FA7-B9E0-FEBFAE064BF2}"/>
              </a:ext>
            </a:extLst>
          </p:cNvPr>
          <p:cNvSpPr>
            <a:spLocks noGrp="1"/>
          </p:cNvSpPr>
          <p:nvPr/>
        </p:nvSpPr>
        <p:spPr>
          <a:xfrm>
            <a:off x="1752600" y="4448175"/>
            <a:ext cx="57150" cy="62865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22D44297-A815-4DAD-ADDC-0E45AF07C491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990600"/>
          </a:xfrm>
          <a:prstGeom prst="roundRect">
            <a:avLst>
              <a:gd name="adj" fmla="val 13462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AF06A24D-33D0-4E16-8009-1A9D6E396DBC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68580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0512735-F910-4972-A76B-90AACA104C16}"/>
              </a:ext>
            </a:extLst>
          </p:cNvPr>
          <p:cNvSpPr>
            <a:spLocks noGrp="1"/>
          </p:cNvSpPr>
          <p:nvPr/>
        </p:nvSpPr>
        <p:spPr>
          <a:xfrm>
            <a:off x="1333500" y="4371975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ЗАДАТАК ЗА ПРОЈЕКАТ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5D655B6-7EEE-425A-9121-3E0194FE197A}"/>
              </a:ext>
            </a:extLst>
          </p:cNvPr>
          <p:cNvSpPr>
            <a:spLocks noGrp="1"/>
          </p:cNvSpPr>
          <p:nvPr/>
        </p:nvSpPr>
        <p:spPr>
          <a:xfrm>
            <a:off x="1333500" y="4600575"/>
            <a:ext cx="96393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13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13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Примените тему „Корелација догађаја, ефективност контрола и учење“ на додељену пројектну целину и припремите доказ који други члан тима може да понови.</a:t>
            </a:r>
          </a:p>
        </p:txBody>
      </p:sp>
    </p:spTree>
    <p:extLst>
      <p:ext uri="{BB962C8B-B14F-4D97-AF65-F5344CB8AC3E}">
        <p14:creationId xmlns:p14="http://schemas.microsoft.com/office/powerpoint/2010/main" val="15775480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FA887AF8-4FBC-4561-9CBE-9F79C52F2106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E6B50E23-E805-42FC-86F8-B907A9B58A7C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ED02FE1-DE58-4F8F-B81E-42871C6764CD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1E444C-D5F9-482B-945E-F0B4A4B50B49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Провера разумевања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97B933-B552-45C2-8DBA-A3AA94C908D0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Тема је савладана када одлуку можете да објасните без ослањања на назив framework-а.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BF5E427-C321-4399-8FE0-5916EA9B2BBB}"/>
              </a:ext>
            </a:extLst>
          </p:cNvPr>
          <p:cNvSpPr>
            <a:spLocks noGrp="1"/>
          </p:cNvSpPr>
          <p:nvPr/>
        </p:nvSpPr>
        <p:spPr>
          <a:xfrm>
            <a:off x="723900" y="2286000"/>
            <a:ext cx="2471738" cy="1257300"/>
          </a:xfrm>
          <a:prstGeom prst="roundRect">
            <a:avLst>
              <a:gd name="adj" fmla="val 10606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9A62F6-C533-407F-9D7E-D115F46C43F6}"/>
              </a:ext>
            </a:extLst>
          </p:cNvPr>
          <p:cNvSpPr>
            <a:spLocks noGrp="1"/>
          </p:cNvSpPr>
          <p:nvPr/>
        </p:nvSpPr>
        <p:spPr>
          <a:xfrm>
            <a:off x="866775" y="2400300"/>
            <a:ext cx="2185988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1203DE-5D77-4EB9-925B-BEA907319325}"/>
              </a:ext>
            </a:extLst>
          </p:cNvPr>
          <p:cNvSpPr>
            <a:spLocks noGrp="1"/>
          </p:cNvSpPr>
          <p:nvPr/>
        </p:nvSpPr>
        <p:spPr>
          <a:xfrm>
            <a:off x="857250" y="2686050"/>
            <a:ext cx="220503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Догађаји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0415FA-F34D-4B0F-BD57-7D21AB304A61}"/>
              </a:ext>
            </a:extLst>
          </p:cNvPr>
          <p:cNvSpPr>
            <a:spLocks noGrp="1"/>
          </p:cNvSpPr>
          <p:nvPr/>
        </p:nvSpPr>
        <p:spPr>
          <a:xfrm>
            <a:off x="866775" y="3076575"/>
            <a:ext cx="218598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појединачни трагови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21247F2-1BBA-438D-AF30-38A53AEA256C}"/>
              </a:ext>
            </a:extLst>
          </p:cNvPr>
          <p:cNvSpPr>
            <a:spLocks noGrp="1"/>
          </p:cNvSpPr>
          <p:nvPr/>
        </p:nvSpPr>
        <p:spPr>
          <a:xfrm>
            <a:off x="3481388" y="2286000"/>
            <a:ext cx="2471738" cy="1257300"/>
          </a:xfrm>
          <a:prstGeom prst="roundRect">
            <a:avLst>
              <a:gd name="adj" fmla="val 10606"/>
            </a:avLst>
          </a:prstGeom>
          <a:solidFill>
            <a:srgbClr val="EDF8FA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8284748-F374-41C1-BE32-40AD5F75A2B9}"/>
              </a:ext>
            </a:extLst>
          </p:cNvPr>
          <p:cNvSpPr>
            <a:spLocks noGrp="1"/>
          </p:cNvSpPr>
          <p:nvPr/>
        </p:nvSpPr>
        <p:spPr>
          <a:xfrm>
            <a:off x="3624263" y="2400300"/>
            <a:ext cx="2185988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6849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849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B43A0C-B843-4DCF-B360-043CAE65D9A3}"/>
              </a:ext>
            </a:extLst>
          </p:cNvPr>
          <p:cNvSpPr>
            <a:spLocks noGrp="1"/>
          </p:cNvSpPr>
          <p:nvPr/>
        </p:nvSpPr>
        <p:spPr>
          <a:xfrm>
            <a:off x="3614738" y="2686050"/>
            <a:ext cx="220503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Корелација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90D33ED-4405-4B3E-B659-B4AC703B6AA7}"/>
              </a:ext>
            </a:extLst>
          </p:cNvPr>
          <p:cNvSpPr>
            <a:spLocks noGrp="1"/>
          </p:cNvSpPr>
          <p:nvPr/>
        </p:nvSpPr>
        <p:spPr>
          <a:xfrm>
            <a:off x="3624263" y="3076575"/>
            <a:ext cx="218598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заједнички контекст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651D96E-FFE7-4055-96E5-0A367AD33552}"/>
              </a:ext>
            </a:extLst>
          </p:cNvPr>
          <p:cNvSpPr>
            <a:spLocks noGrp="1"/>
          </p:cNvSpPr>
          <p:nvPr/>
        </p:nvSpPr>
        <p:spPr>
          <a:xfrm>
            <a:off x="6238875" y="2286000"/>
            <a:ext cx="2471738" cy="1257300"/>
          </a:xfrm>
          <a:prstGeom prst="roundRect">
            <a:avLst>
              <a:gd name="adj" fmla="val 10606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2972D3-90EF-4105-B2D1-1ABA40172993}"/>
              </a:ext>
            </a:extLst>
          </p:cNvPr>
          <p:cNvSpPr>
            <a:spLocks noGrp="1"/>
          </p:cNvSpPr>
          <p:nvPr/>
        </p:nvSpPr>
        <p:spPr>
          <a:xfrm>
            <a:off x="6381750" y="2400300"/>
            <a:ext cx="2185988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80D50E4-1D3B-40F9-994E-C0A40FAF2BEA}"/>
              </a:ext>
            </a:extLst>
          </p:cNvPr>
          <p:cNvSpPr>
            <a:spLocks noGrp="1"/>
          </p:cNvSpPr>
          <p:nvPr/>
        </p:nvSpPr>
        <p:spPr>
          <a:xfrm>
            <a:off x="6372225" y="2686050"/>
            <a:ext cx="220503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Контрола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C03405-5CDE-4B40-8438-E083CCE3CB3D}"/>
              </a:ext>
            </a:extLst>
          </p:cNvPr>
          <p:cNvSpPr>
            <a:spLocks noGrp="1"/>
          </p:cNvSpPr>
          <p:nvPr/>
        </p:nvSpPr>
        <p:spPr>
          <a:xfrm>
            <a:off x="6381750" y="3076575"/>
            <a:ext cx="218598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смањује одређени ризик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3CA1488-0F03-421F-A0F0-FBB41896CB9D}"/>
              </a:ext>
            </a:extLst>
          </p:cNvPr>
          <p:cNvSpPr>
            <a:spLocks noGrp="1"/>
          </p:cNvSpPr>
          <p:nvPr/>
        </p:nvSpPr>
        <p:spPr>
          <a:xfrm>
            <a:off x="8996363" y="2286000"/>
            <a:ext cx="2471738" cy="1257300"/>
          </a:xfrm>
          <a:prstGeom prst="roundRect">
            <a:avLst>
              <a:gd name="adj" fmla="val 10606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4B81D4D-5623-4FAB-AEA7-8022E3C6B456}"/>
              </a:ext>
            </a:extLst>
          </p:cNvPr>
          <p:cNvSpPr>
            <a:spLocks noGrp="1"/>
          </p:cNvSpPr>
          <p:nvPr/>
        </p:nvSpPr>
        <p:spPr>
          <a:xfrm>
            <a:off x="9139238" y="2400300"/>
            <a:ext cx="2185988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1FC80B9-D9B8-4C21-ACF7-02A3CA4B654F}"/>
              </a:ext>
            </a:extLst>
          </p:cNvPr>
          <p:cNvSpPr>
            <a:spLocks noGrp="1"/>
          </p:cNvSpPr>
          <p:nvPr/>
        </p:nvSpPr>
        <p:spPr>
          <a:xfrm>
            <a:off x="9129713" y="2686050"/>
            <a:ext cx="220503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Доказ и учење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AE19542-21BD-4866-9EEB-3EDE4308FB72}"/>
              </a:ext>
            </a:extLst>
          </p:cNvPr>
          <p:cNvSpPr>
            <a:spLocks noGrp="1"/>
          </p:cNvSpPr>
          <p:nvPr/>
        </p:nvSpPr>
        <p:spPr>
          <a:xfrm>
            <a:off x="9139238" y="3076575"/>
            <a:ext cx="218598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мери и побољшава</a:t>
            </a:r>
          </a:p>
        </p:txBody>
      </p:sp>
      <p:cxnSp>
        <p:nvCxnSpPr>
          <p:cNvPr id="127" name="Straight Arrow Connector 126"/>
          <p:cNvCxnSpPr>
            <a:stCxn id="6" idx="3"/>
            <a:endCxn id="10" idx="1"/>
          </p:cNvCxnSpPr>
          <p:nvPr/>
        </p:nvCxnSpPr>
        <p:spPr>
          <a:xfrm>
            <a:off x="3195638" y="2914650"/>
            <a:ext cx="285750" cy="0"/>
          </a:xfrm>
          <a:prstGeom prst="straightConnector1">
            <a:avLst/>
          </a:prstGeom>
          <a:ln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28" name="Straight Arrow Connector 127"/>
          <p:cNvCxnSpPr>
            <a:stCxn id="10" idx="3"/>
            <a:endCxn id="14" idx="1"/>
          </p:cNvCxnSpPr>
          <p:nvPr/>
        </p:nvCxnSpPr>
        <p:spPr>
          <a:xfrm>
            <a:off x="5953126" y="2914650"/>
            <a:ext cx="285749" cy="0"/>
          </a:xfrm>
          <a:prstGeom prst="straightConnector1">
            <a:avLst/>
          </a:prstGeom>
          <a:ln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29" name="Straight Arrow Connector 128"/>
          <p:cNvCxnSpPr>
            <a:stCxn id="14" idx="3"/>
            <a:endCxn id="18" idx="1"/>
          </p:cNvCxnSpPr>
          <p:nvPr/>
        </p:nvCxnSpPr>
        <p:spPr>
          <a:xfrm>
            <a:off x="8710613" y="2914650"/>
            <a:ext cx="285750" cy="0"/>
          </a:xfrm>
          <a:prstGeom prst="straightConnector1">
            <a:avLst/>
          </a:prstGeom>
          <a:ln w="13335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1B677F3-1D71-45B9-88DC-25BBA9EC984B}"/>
              </a:ext>
            </a:extLst>
          </p:cNvPr>
          <p:cNvSpPr>
            <a:spLocks noGrp="1"/>
          </p:cNvSpPr>
          <p:nvPr/>
        </p:nvSpPr>
        <p:spPr>
          <a:xfrm>
            <a:off x="1428750" y="4114800"/>
            <a:ext cx="9334500" cy="895350"/>
          </a:xfrm>
          <a:prstGeom prst="roundRect">
            <a:avLst>
              <a:gd name="adj" fmla="val 13830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B46EA28-991C-47D5-A714-5B23EF5FDE14}"/>
              </a:ext>
            </a:extLst>
          </p:cNvPr>
          <p:cNvSpPr>
            <a:spLocks noGrp="1"/>
          </p:cNvSpPr>
          <p:nvPr/>
        </p:nvSpPr>
        <p:spPr>
          <a:xfrm>
            <a:off x="1562100" y="4257675"/>
            <a:ext cx="57150" cy="60960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5CA03E1C-9CC3-4B19-A25A-3EABC1AD700D}"/>
              </a:ext>
            </a:extLst>
          </p:cNvPr>
          <p:cNvSpPr>
            <a:spLocks noGrp="1"/>
          </p:cNvSpPr>
          <p:nvPr/>
        </p:nvSpPr>
        <p:spPr>
          <a:xfrm>
            <a:off x="914400" y="4095750"/>
            <a:ext cx="10363200" cy="1177997"/>
          </a:xfrm>
          <a:prstGeom prst="roundRect">
            <a:avLst>
              <a:gd name="adj" fmla="val 8046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CBC929A9-7544-4A42-B234-D9F86BC537C3}"/>
              </a:ext>
            </a:extLst>
          </p:cNvPr>
          <p:cNvSpPr>
            <a:spLocks noGrp="1"/>
          </p:cNvSpPr>
          <p:nvPr/>
        </p:nvSpPr>
        <p:spPr>
          <a:xfrm>
            <a:off x="1085850" y="4248150"/>
            <a:ext cx="49507" cy="87630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E14D399B-409A-4602-9A34-181C5BB167CF}"/>
              </a:ext>
            </a:extLst>
          </p:cNvPr>
          <p:cNvSpPr>
            <a:spLocks noGrp="1"/>
          </p:cNvSpPr>
          <p:nvPr/>
        </p:nvSpPr>
        <p:spPr>
          <a:xfrm>
            <a:off x="1333500" y="4200525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ЗА ЗАВРШЕТАК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4632307-4A20-43FA-B9ED-AAA6B68B07BB}"/>
              </a:ext>
            </a:extLst>
          </p:cNvPr>
          <p:cNvSpPr>
            <a:spLocks noGrp="1"/>
          </p:cNvSpPr>
          <p:nvPr/>
        </p:nvSpPr>
        <p:spPr>
          <a:xfrm>
            <a:off x="1333500" y="4429125"/>
            <a:ext cx="96393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87806"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Изаберите једну контролу и покажите који ризик ублажава, који доказ чува и како бисте приметили да је престала да ради.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0B2EAC90-D3A5-4244-9E10-41F6E957E6C1}"/>
              </a:ext>
            </a:extLst>
          </p:cNvPr>
          <p:cNvSpPr>
            <a:spLocks noGrp="1"/>
          </p:cNvSpPr>
          <p:nvPr/>
        </p:nvSpPr>
        <p:spPr>
          <a:xfrm>
            <a:off x="1322093" y="4838700"/>
            <a:ext cx="9639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275" b="0">
                <a:solidFill>
                  <a:srgbClr val="52637B"/>
                </a:solidFill>
                <a:latin typeface="Aptos"/>
                <a:ea typeface="Aptos"/>
                <a:cs typeface="Aptos"/>
              </a:defRPr>
            </a:pP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Следећи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корак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: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применити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исти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модел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на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једну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реалну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границу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у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сопственом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пројекту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652726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2172</Words>
  <Application>Microsoft Macintosh PowerPoint</Application>
  <DocSecurity>0</DocSecurity>
  <PresentationFormat>Widescreen</PresentationFormat>
  <Paragraphs>350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Calibri</vt:lpstr>
      <vt:lpstr>Consolas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Jovanović Danijel</cp:lastModifiedBy>
  <cp:revision>1</cp:revision>
  <dcterms:created xsi:type="dcterms:W3CDTF">2026-09-29T08:52:59Z</dcterms:created>
  <dcterms:modified xsi:type="dcterms:W3CDTF">2026-09-29T09:24:43Z</dcterms:modified>
</cp:coreProperties>
</file>