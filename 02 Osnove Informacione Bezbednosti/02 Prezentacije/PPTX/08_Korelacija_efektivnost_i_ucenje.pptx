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5a788be3938414c" /><Relationship Type="http://schemas.openxmlformats.org/officeDocument/2006/relationships/extended-properties" Target="/docProps/app.xml" Id="R05ba753b9bea4cf0" /><Relationship Type="http://schemas.openxmlformats.org/officeDocument/2006/relationships/officeDocument" Target="/ppt/presentation.xml" Id="R10b54c248d50418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fe54430a2147b9"/>
  </p:sldMasterIdLst>
  <p:notesMasterIdLst>
    <p:notesMasterId xmlns:r="http://schemas.openxmlformats.org/officeDocument/2006/relationships" r:id="Rdb0760b9264c4801"/>
  </p:notesMasterIdLst>
  <p:sldIdLst>
    <p:sldId xmlns:r="http://schemas.openxmlformats.org/officeDocument/2006/relationships" id="256" r:id="Raecd00dd16364f88"/>
    <p:sldId xmlns:r="http://schemas.openxmlformats.org/officeDocument/2006/relationships" id="257" r:id="R12c03dbb06b94e0f"/>
    <p:sldId xmlns:r="http://schemas.openxmlformats.org/officeDocument/2006/relationships" id="258" r:id="Rd2030e78517a4251"/>
    <p:sldId xmlns:r="http://schemas.openxmlformats.org/officeDocument/2006/relationships" id="259" r:id="R9609568d6330433b"/>
    <p:sldId xmlns:r="http://schemas.openxmlformats.org/officeDocument/2006/relationships" id="260" r:id="R5792fc965f3f4c23"/>
    <p:sldId xmlns:r="http://schemas.openxmlformats.org/officeDocument/2006/relationships" id="261" r:id="R9fb684079f724089"/>
    <p:sldId xmlns:r="http://schemas.openxmlformats.org/officeDocument/2006/relationships" id="262" r:id="R5bafe761e6754bfb"/>
    <p:sldId xmlns:r="http://schemas.openxmlformats.org/officeDocument/2006/relationships" id="263" r:id="R71c961c3d1104813"/>
    <p:sldId xmlns:r="http://schemas.openxmlformats.org/officeDocument/2006/relationships" id="264" r:id="Rb6ca3c04fdd64700"/>
    <p:sldId xmlns:r="http://schemas.openxmlformats.org/officeDocument/2006/relationships" id="265" r:id="R5aa61c032b6544df"/>
    <p:sldId xmlns:r="http://schemas.openxmlformats.org/officeDocument/2006/relationships" id="266" r:id="R5c58fdc7498646a3"/>
    <p:sldId xmlns:r="http://schemas.openxmlformats.org/officeDocument/2006/relationships" id="267" r:id="Rb888905cafb94714"/>
    <p:sldId xmlns:r="http://schemas.openxmlformats.org/officeDocument/2006/relationships" id="268" r:id="Raa5cdae395a54696"/>
    <p:sldId xmlns:r="http://schemas.openxmlformats.org/officeDocument/2006/relationships" id="269" r:id="R291f1af6887045a5"/>
    <p:sldId xmlns:r="http://schemas.openxmlformats.org/officeDocument/2006/relationships" id="270" r:id="R946c9791079c4033"/>
    <p:sldId xmlns:r="http://schemas.openxmlformats.org/officeDocument/2006/relationships" id="271" r:id="R8ff97e64536a4e77"/>
    <p:sldId xmlns:r="http://schemas.openxmlformats.org/officeDocument/2006/relationships" id="272" r:id="Rb9574a733a434b44"/>
    <p:sldId xmlns:r="http://schemas.openxmlformats.org/officeDocument/2006/relationships" id="273" r:id="Re13189ec77bf4d97"/>
    <p:sldId xmlns:r="http://schemas.openxmlformats.org/officeDocument/2006/relationships" id="274" r:id="R356aa707727a4d3c"/>
    <p:sldId xmlns:r="http://schemas.openxmlformats.org/officeDocument/2006/relationships" id="275" r:id="Rc83c443b4a014d2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942d7071664cbd" /><Relationship Type="http://schemas.openxmlformats.org/officeDocument/2006/relationships/slideMaster" Target="/ppt/slideMasters/slideMaster1.xml" Id="Rd8fe54430a2147b9" /><Relationship Type="http://schemas.openxmlformats.org/officeDocument/2006/relationships/notesMaster" Target="/ppt/notesMasters/notesMaster1.xml" Id="Rdb0760b9264c4801" /><Relationship Type="http://schemas.openxmlformats.org/officeDocument/2006/relationships/presProps" Target="/ppt/presProps.xml" Id="R1a9b58149c944b7e" /><Relationship Type="http://schemas.openxmlformats.org/officeDocument/2006/relationships/viewProps" Target="/ppt/viewProps.xml" Id="Rc2a86cd6f4ab4d01" /><Relationship Type="http://schemas.openxmlformats.org/officeDocument/2006/relationships/tableStyles" Target="/ppt/tableStyles.xml" Id="R171af8d7de5e4a03" /><Relationship Type="http://schemas.openxmlformats.org/officeDocument/2006/relationships/slide" Target="/ppt/slides/slide1.xml" Id="Raecd00dd16364f88" /><Relationship Type="http://schemas.openxmlformats.org/officeDocument/2006/relationships/slide" Target="/ppt/slides/slide2.xml" Id="R12c03dbb06b94e0f" /><Relationship Type="http://schemas.openxmlformats.org/officeDocument/2006/relationships/slide" Target="/ppt/slides/slide3.xml" Id="Rd2030e78517a4251" /><Relationship Type="http://schemas.openxmlformats.org/officeDocument/2006/relationships/slide" Target="/ppt/slides/slide4.xml" Id="R9609568d6330433b" /><Relationship Type="http://schemas.openxmlformats.org/officeDocument/2006/relationships/slide" Target="/ppt/slides/slide5.xml" Id="R5792fc965f3f4c23" /><Relationship Type="http://schemas.openxmlformats.org/officeDocument/2006/relationships/slide" Target="/ppt/slides/slide6.xml" Id="R9fb684079f724089" /><Relationship Type="http://schemas.openxmlformats.org/officeDocument/2006/relationships/slide" Target="/ppt/slides/slide7.xml" Id="R5bafe761e6754bfb" /><Relationship Type="http://schemas.openxmlformats.org/officeDocument/2006/relationships/slide" Target="/ppt/slides/slide8.xml" Id="R71c961c3d1104813" /><Relationship Type="http://schemas.openxmlformats.org/officeDocument/2006/relationships/slide" Target="/ppt/slides/slide9.xml" Id="Rb6ca3c04fdd64700" /><Relationship Type="http://schemas.openxmlformats.org/officeDocument/2006/relationships/slide" Target="/ppt/slides/slide10.xml" Id="R5aa61c032b6544df" /><Relationship Type="http://schemas.openxmlformats.org/officeDocument/2006/relationships/slide" Target="/ppt/slides/slide11.xml" Id="R5c58fdc7498646a3" /><Relationship Type="http://schemas.openxmlformats.org/officeDocument/2006/relationships/slide" Target="/ppt/slides/slide12.xml" Id="Rb888905cafb94714" /><Relationship Type="http://schemas.openxmlformats.org/officeDocument/2006/relationships/slide" Target="/ppt/slides/slide13.xml" Id="Raa5cdae395a54696" /><Relationship Type="http://schemas.openxmlformats.org/officeDocument/2006/relationships/slide" Target="/ppt/slides/slide14.xml" Id="R291f1af6887045a5" /><Relationship Type="http://schemas.openxmlformats.org/officeDocument/2006/relationships/slide" Target="/ppt/slides/slide15.xml" Id="R946c9791079c4033" /><Relationship Type="http://schemas.openxmlformats.org/officeDocument/2006/relationships/slide" Target="/ppt/slides/slide16.xml" Id="R8ff97e64536a4e77" /><Relationship Type="http://schemas.openxmlformats.org/officeDocument/2006/relationships/slide" Target="/ppt/slides/slide17.xml" Id="Rb9574a733a434b44" /><Relationship Type="http://schemas.openxmlformats.org/officeDocument/2006/relationships/slide" Target="/ppt/slides/slide18.xml" Id="Re13189ec77bf4d97" /><Relationship Type="http://schemas.openxmlformats.org/officeDocument/2006/relationships/slide" Target="/ppt/slides/slide19.xml" Id="R356aa707727a4d3c" /><Relationship Type="http://schemas.openxmlformats.org/officeDocument/2006/relationships/slide" Target="/ppt/slides/slide20.xml" Id="Rc83c443b4a014d2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e7299dd5a21445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f4659bdffb24235" /><Relationship Type="http://schemas.openxmlformats.org/officeDocument/2006/relationships/notesMaster" Target="/ppt/notesMasters/notesMaster1.xml" Id="Rfcbb371c658044b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113c4ce47994d63" /><Relationship Type="http://schemas.openxmlformats.org/officeDocument/2006/relationships/notesMaster" Target="/ppt/notesMasters/notesMaster1.xml" Id="R57218578db7e4e7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7e9c77c71eb4ea1" /><Relationship Type="http://schemas.openxmlformats.org/officeDocument/2006/relationships/notesMaster" Target="/ppt/notesMasters/notesMaster1.xml" Id="R0b225f5e31524e7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4069abb33f346c5" /><Relationship Type="http://schemas.openxmlformats.org/officeDocument/2006/relationships/notesMaster" Target="/ppt/notesMasters/notesMaster1.xml" Id="R098974e5a4d24c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c16f083cf224e92" /><Relationship Type="http://schemas.openxmlformats.org/officeDocument/2006/relationships/notesMaster" Target="/ppt/notesMasters/notesMaster1.xml" Id="R127533fcef8048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0e5a7f874c469e" /><Relationship Type="http://schemas.openxmlformats.org/officeDocument/2006/relationships/notesMaster" Target="/ppt/notesMasters/notesMaster1.xml" Id="Rbbddc821903e4bd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d3dd953c6c485e" /><Relationship Type="http://schemas.openxmlformats.org/officeDocument/2006/relationships/notesMaster" Target="/ppt/notesMasters/notesMaster1.xml" Id="R39d1818f31e148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325c5f76254463" /><Relationship Type="http://schemas.openxmlformats.org/officeDocument/2006/relationships/notesMaster" Target="/ppt/notesMasters/notesMaster1.xml" Id="Rcd108da5eace427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a477d46260d4f85" /><Relationship Type="http://schemas.openxmlformats.org/officeDocument/2006/relationships/notesMaster" Target="/ppt/notesMasters/notesMaster1.xml" Id="Ra7c84934246b4ee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cf6aebfa37a411f" /><Relationship Type="http://schemas.openxmlformats.org/officeDocument/2006/relationships/notesMaster" Target="/ppt/notesMasters/notesMaster1.xml" Id="Rc4a84cd74f894f1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4059e614a54874" /><Relationship Type="http://schemas.openxmlformats.org/officeDocument/2006/relationships/notesMaster" Target="/ppt/notesMasters/notesMaster1.xml" Id="Rae2bb80a9cb5452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8936f6592d4403" /><Relationship Type="http://schemas.openxmlformats.org/officeDocument/2006/relationships/notesMaster" Target="/ppt/notesMasters/notesMaster1.xml" Id="R96f6807ae05440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b89a2362c0d4d47" /><Relationship Type="http://schemas.openxmlformats.org/officeDocument/2006/relationships/notesMaster" Target="/ppt/notesMasters/notesMaster1.xml" Id="R5615ceb520ee4d7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239e6a7dc264a1a" /><Relationship Type="http://schemas.openxmlformats.org/officeDocument/2006/relationships/notesMaster" Target="/ppt/notesMasters/notesMaster1.xml" Id="R4439936cc9ff448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92239ff978b4fe7" /><Relationship Type="http://schemas.openxmlformats.org/officeDocument/2006/relationships/notesMaster" Target="/ppt/notesMasters/notesMaster1.xml" Id="R2e0468d1331846d6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67aaeb1ee804119" /><Relationship Type="http://schemas.openxmlformats.org/officeDocument/2006/relationships/notesMaster" Target="/ppt/notesMasters/notesMaster1.xml" Id="Rf967b2e957c5411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50e7a4e4974978" /><Relationship Type="http://schemas.openxmlformats.org/officeDocument/2006/relationships/notesMaster" Target="/ppt/notesMasters/notesMaster1.xml" Id="R8e8604ffa59d493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1856fe777f543e5" /><Relationship Type="http://schemas.openxmlformats.org/officeDocument/2006/relationships/notesMaster" Target="/ppt/notesMasters/notesMaster1.xml" Id="R1e7dd4bfda36482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6ef753f48f3478c" /><Relationship Type="http://schemas.openxmlformats.org/officeDocument/2006/relationships/notesMaster" Target="/ppt/notesMasters/notesMaster1.xml" Id="Rf404586ac6d24137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f7b5b7a837c4af0" /><Relationship Type="http://schemas.openxmlformats.org/officeDocument/2006/relationships/notesMaster" Target="/ppt/notesMasters/notesMaster1.xml" Id="R2eb51da787b5485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Извор: oibThematicExercises.ts и oibThematicPresentations.ts.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98ed8feefd4a8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3baa7734384655" /><Relationship Type="http://schemas.openxmlformats.org/officeDocument/2006/relationships/slideLayout" Target="/ppt/slideLayouts/slideLayout1.xml" Id="Rba17596401ec4f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a17596401ec4f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dee4df7a0943c1" /><Relationship Type="http://schemas.openxmlformats.org/officeDocument/2006/relationships/notesSlide" Target="/ppt/notesSlides/notesSlide1.xml" Id="R5f10e2c7551a4dd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d2671a6c2544e1" /><Relationship Type="http://schemas.openxmlformats.org/officeDocument/2006/relationships/notesSlide" Target="/ppt/notesSlides/notesSlide2.xml" Id="Ra5983ec8cae449b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9fa16408f401c" /><Relationship Type="http://schemas.openxmlformats.org/officeDocument/2006/relationships/notesSlide" Target="/ppt/notesSlides/notesSlide3.xml" Id="Rcec40a5377a347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605b25b1b546bd" /><Relationship Type="http://schemas.openxmlformats.org/officeDocument/2006/relationships/notesSlide" Target="/ppt/notesSlides/notesSlide4.xml" Id="R2d62fea6dc034b3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ae914bf9e441f" /><Relationship Type="http://schemas.openxmlformats.org/officeDocument/2006/relationships/notesSlide" Target="/ppt/notesSlides/notesSlide5.xml" Id="R29c39fc7b6ca4cf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e9355eb61b4228" /><Relationship Type="http://schemas.openxmlformats.org/officeDocument/2006/relationships/notesSlide" Target="/ppt/notesSlides/notesSlide6.xml" Id="Rcea3fd6c9e394ef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af8dca13ce4abe" /><Relationship Type="http://schemas.openxmlformats.org/officeDocument/2006/relationships/notesSlide" Target="/ppt/notesSlides/notesSlide7.xml" Id="R0f8efc82444f4b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2bf8316143466c" /><Relationship Type="http://schemas.openxmlformats.org/officeDocument/2006/relationships/notesSlide" Target="/ppt/notesSlides/notesSlide8.xml" Id="R0a4b656cf1394ce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af4ce668f64f93" /><Relationship Type="http://schemas.openxmlformats.org/officeDocument/2006/relationships/notesSlide" Target="/ppt/notesSlides/notesSlide9.xml" Id="R0c33a15093a74b5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7d5a4a3e2b94306" /><Relationship Type="http://schemas.openxmlformats.org/officeDocument/2006/relationships/notesSlide" Target="/ppt/notesSlides/notesSlide10.xml" Id="R6203beb8485a47b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9b7adaa92040fb" /><Relationship Type="http://schemas.openxmlformats.org/officeDocument/2006/relationships/notesSlide" Target="/ppt/notesSlides/notesSlide11.xml" Id="R037e815cf80c45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b41be050b400f" /><Relationship Type="http://schemas.openxmlformats.org/officeDocument/2006/relationships/notesSlide" Target="/ppt/notesSlides/notesSlide12.xml" Id="Rbc39ecf293864a1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d04159d0444bf9" /><Relationship Type="http://schemas.openxmlformats.org/officeDocument/2006/relationships/notesSlide" Target="/ppt/notesSlides/notesSlide13.xml" Id="Rca5f0c97d4fc4e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4bd6ecaf64423f" /><Relationship Type="http://schemas.openxmlformats.org/officeDocument/2006/relationships/notesSlide" Target="/ppt/notesSlides/notesSlide14.xml" Id="R93b1721e9631492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e1e586b5c147ea" /><Relationship Type="http://schemas.openxmlformats.org/officeDocument/2006/relationships/notesSlide" Target="/ppt/notesSlides/notesSlide15.xml" Id="Rc7eebf0916bc4b17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c1cfa5ecc94411" /><Relationship Type="http://schemas.openxmlformats.org/officeDocument/2006/relationships/notesSlide" Target="/ppt/notesSlides/notesSlide16.xml" Id="Rb49a7ab4cda9498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ef7f7fd93a4dba" /><Relationship Type="http://schemas.openxmlformats.org/officeDocument/2006/relationships/notesSlide" Target="/ppt/notesSlides/notesSlide17.xml" Id="R9d906737f1134b9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51859cde9140ac" /><Relationship Type="http://schemas.openxmlformats.org/officeDocument/2006/relationships/notesSlide" Target="/ppt/notesSlides/notesSlide18.xml" Id="Rfd1e35dbc31d421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bb55d3766f418e" /><Relationship Type="http://schemas.openxmlformats.org/officeDocument/2006/relationships/notesSlide" Target="/ppt/notesSlides/notesSlide19.xml" Id="Rb925904aae6b44b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1d5552c1934a41" /><Relationship Type="http://schemas.openxmlformats.org/officeDocument/2006/relationships/notesSlide" Target="/ppt/notesSlides/notesSlide20.xml" Id="R75ec03009e5c4aa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1514F34F-4EE3-461F-84BF-0B95B923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550"/>
            <a:ext cx="781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47084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28D98A43-7937-4C08-B2AE-115D31C0C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09650"/>
            <a:ext cx="10363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8D5560"/>
            </a:solidFill>
            <a:prstDash val="solid"/>
          </a:ln>
        </p:spPr>
      </p:sp>
      <p:sp>
        <p:nvSpPr>
          <p:cNvPr id="3" name="Rounded Rectangle 2">
            <a:extLst xmlns:a="http://schemas.openxmlformats.org/drawingml/2006/main">
              <a:ext uri="{FF2B5EF4-FFF2-40B4-BE49-F238E27FC236}">
                <a16:creationId xmlns:a16="http://schemas.microsoft.com/office/drawing/2014/main" id="{5396FA3E-37B5-48E5-BAFB-EE721E76F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438275"/>
            <a:ext cx="647700" cy="6667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DEC0073-CD05-4874-A095-FF868C97C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71650"/>
            <a:ext cx="103632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34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34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Корелација догађаја, ефективност контрола и учење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3FE283C-2D17-494F-8590-BA6EF747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00450"/>
            <a:ext cx="962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4000"/>
              </a:lnSpc>
              <a:buNone/>
              <a:defRPr sz="1725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Корелација догађаја, процена контрола и постинцидентна анализа</a:t>
            </a:r>
          </a:p>
        </p:txBody>
      </p:sp>
      <p:sp>
        <p:nvSpPr>
          <p:cNvPr id="6" name="Straight Connector 5">
            <a:extLst xmlns:a="http://schemas.openxmlformats.org/drawingml/2006/main">
              <a:ext uri="{FF2B5EF4-FFF2-40B4-BE49-F238E27FC236}">
                <a16:creationId xmlns:a16="http://schemas.microsoft.com/office/drawing/2014/main" id="{9EA1BF86-D518-406A-B3CE-671108CD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86375"/>
            <a:ext cx="10363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8573">
            <a:solidFill>
              <a:srgbClr val="8D5560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8C2EE84E-C698-4B9C-B6AF-BDE22887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6191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Факултет техничких наука · Универзитет у Новом Саду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E18314BE-3355-41CE-93BA-A7CEFB70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5581650"/>
            <a:ext cx="3181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0000"/>
              </a:lnSpc>
              <a:buNone/>
              <a:defRPr sz="1200" b="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084"/>
                </a:solidFill>
                <a:latin typeface="Aptos"/>
                <a:ea typeface="Aptos"/>
                <a:cs typeface="Aptos"/>
              </a:rPr>
              <a:t>Академска 2026/27.</a:t>
            </a:r>
          </a:p>
        </p:txBody>
      </p:sp>
    </p:spTree>
    <p:extLst>
      <p:ext uri="{BB962C8B-B14F-4D97-AF65-F5344CB8AC3E}">
        <p14:creationId xmlns:p14="http://schemas.microsoft.com/office/powerpoint/2010/main" val="66447131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F0ECF61-EBFC-4D03-9E7E-9A2F6FBF5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105B6F46-9009-4EC6-AE30-45943BBF9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E2021BD-344C-414A-99DA-CA1663C3F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34061D1-76B4-45DB-8F0D-DDBF028F4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Корелација и ефективност контрола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102917D-EA2F-4168-9D1B-C63097B00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33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Догађаји добијају значење кроз заједнички контекст, а контрола се процењује на основу актуелног и проверљивог доказа.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92DE29A4-9DD8-402C-8326-1ECC93D79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71750"/>
            <a:ext cx="3257550" cy="2228850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5DABF9A-0AA3-4214-848D-D28181123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955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C347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34747"/>
                </a:solidFill>
                <a:latin typeface="Aptos"/>
                <a:ea typeface="Aptos"/>
                <a:cs typeface="Aptos"/>
              </a:rPr>
              <a:t>ПРЕДМЕТ АНАЛИЗЕ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99AD96CF-9B70-4903-9399-BCC7E13E2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432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Ризик који се анализира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156B3F8-71EC-4C1A-AAD9-97B62A78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52800"/>
            <a:ext cx="29527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Процена безбедности обухвата везу између догађаја, контрола и доказа. Корелација даје контекст догађајима, а актуелан доказ омогућава процену рада контроле и последица инцидента.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C0D58D13-5B7E-4CAA-A57F-53F5DD093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571750"/>
            <a:ext cx="3257550" cy="2228850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C4BA77A-756F-4BE5-8870-047CF3E6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955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ЗНАЧАЈ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B46FF665-9CBE-4D8C-B316-2F6224D1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9432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Значај за безбедност система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FFCE14DD-762A-4214-9FC0-7656037C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352800"/>
            <a:ext cx="29527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16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Мерење ефективности спречава лажни осећај сигурности. Контрола која постоји, али је погрешно подешена, никада тестирана или без власника, не заслужује исто поверење као контрола са проверљивим доказом.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82DA1B57-1315-46B1-AAED-7C6690EBE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71750"/>
            <a:ext cx="3257550" cy="2228850"/>
          </a:xfrm>
          <a:prstGeom xmlns:a="http://schemas.openxmlformats.org/drawingml/2006/main" prst="roundRect">
            <a:avLst>
              <a:gd name="adj" fmla="val 5983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C14DF60-DA11-4F9F-9563-DB1FC499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955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КРИТЕРИЈУМ ПРОВЕРЕ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15495E3-FF2D-42BD-AB38-58170534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43225"/>
            <a:ext cx="2952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Проверљив резултат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7050AF9-CCC4-4CDC-8C84-304996F42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52800"/>
            <a:ext cx="2952750" cy="1343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Одлука је јасна, примењује се на серверу и оставља поновљив доказ успешног и одбијеног исхода.</a:t>
            </a:r>
          </a:p>
        </p:txBody>
      </p:sp>
    </p:spTree>
    <p:extLst>
      <p:ext uri="{BB962C8B-B14F-4D97-AF65-F5344CB8AC3E}">
        <p14:creationId xmlns:p14="http://schemas.microsoft.com/office/powerpoint/2010/main" val="26279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21FE8C80-45F3-4687-BF76-AFF2CF2E9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9FE4D3C2-232B-4FD4-A81C-8BE440B92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70381B9-0255-44A7-A298-ADEEDCB5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918921D-6EAF-4DC6-93D8-2D1090159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Основни појмови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5D551CE-9604-47E2-BFDA-2A029D283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Догађаји, корелација, контрола и доказ омогућавају процену стварног безбедносног исхода.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95C803B-DE39-4679-A4E6-9B9A96166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1935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0F657CA-F5CE-4A2E-AC83-B484AD8D1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53365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8949C74-B140-4AE3-9E08-6891A57B9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1940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Догађаји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5498671-EC17-4E3F-92AF-7478E053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20992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појединачни трагови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170EBA0-968C-4902-B9D1-E96CFD01E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41935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5C2CE2B-9A61-419B-8F75-CEFF54E89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53365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684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49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90C949DF-8FA0-4A38-AC75-6F3451E50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81940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Корелација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079B123C-A4AF-467B-879C-C3FD6EDA6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320992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заједнички контекст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3CF1901-1C7E-47CD-8AEC-C4DAE1D88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1935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27590F6B-D738-4BCA-B26A-44D3EF3E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3365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D0967C9-1044-404A-9728-C53F2DF80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1940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Контрола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61EEE45-4764-445A-B401-3FC545ED2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0992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смањује одређени ризик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794FB77-C63F-4086-901F-5A8FA7758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41935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3AEF26C-0509-41A2-98D6-0D6F49F9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53365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F29D883C-6D25-498F-B1A9-D25639DB6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81940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Доказ и учење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9B949405-0087-42E6-AA48-AE72B34C7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20992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мери и побољшава</a:t>
            </a:r>
          </a:p>
        </p:txBody>
      </p:sp>
      <p:cxnSp>
        <p:nvCxnSpPr>
          <p:cNvPr id="221" name="Straight Arrow Connector 12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95638" y="30480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2" name="Straight Arrow Connector 125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6" y="3048000"/>
            <a:ext cx="285749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3" name="Straight Arrow Connector 126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10613" y="30480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4C4E2B4C-F88B-485D-A461-30FF478B3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86250"/>
            <a:ext cx="8953500" cy="800100"/>
          </a:xfrm>
          <a:prstGeom xmlns:a="http://schemas.openxmlformats.org/drawingml/2006/main" prst="roundRect">
            <a:avLst>
              <a:gd name="adj" fmla="val 1547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670B4116-DEE9-4997-AFB5-F458D748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29125"/>
            <a:ext cx="57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6" name="Rounded Rectangle 75">
            <a:extLst xmlns:a="http://schemas.openxmlformats.org/drawingml/2006/main">
              <a:ext uri="{FF2B5EF4-FFF2-40B4-BE49-F238E27FC236}">
                <a16:creationId xmlns:a16="http://schemas.microsoft.com/office/drawing/2014/main" id="{3A2E2605-F6D5-4FF1-B2FF-746D6CA26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1036320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B6D9384E-B444-4E95-80DD-8E025D6BF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571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8A9F2543-EA36-40AD-8C5B-082FEC09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ЗАКЉУЧАК</a:t>
            </a: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59E525BB-0CCE-456A-91BA-0F349FD0D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38675"/>
            <a:ext cx="9639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Безбедност напредује кроз повратну спрегу: доказ мења разумевање ризика, а то мења контролу.</a:t>
            </a:r>
          </a:p>
        </p:txBody>
      </p:sp>
    </p:spTree>
    <p:extLst>
      <p:ext uri="{BB962C8B-B14F-4D97-AF65-F5344CB8AC3E}">
        <p14:creationId xmlns:p14="http://schemas.microsoft.com/office/powerpoint/2010/main" val="142390166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7C2F836-FA93-4E16-86B2-C8534FE8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75F3546A-68BF-4A65-90DF-02544ADF2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3B6DDD71-1B7A-4800-B61D-DEF656DCF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7E0389FD-1890-404F-8CE8-1D009939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Догађаји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A8EAB119-A22C-4979-A7BA-6BC26DD7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појединачни трагови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EB824BF-2B4C-4CDC-A7D9-66FC8886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882BD61-814C-400D-A503-B14AFE525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D8447F1D-8350-4BE6-9E00-C8B0CDF19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7642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Догађај бележи време, актера, ресурс, тип и идентификатор тока.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826ADA3-75E8-4662-9D6D-B206CAB72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улаз покреће ову одлуку?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318A9B15-4CBB-4E43-B9F0-D25CC60D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C88AD2F-77FA-4312-9C33-38DAEF46E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AC10578-9DB7-4BE4-BC7B-33DF9F1E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Један догађај ретко је довољан за закључак; значење долази из везе са другима.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8DF357E-E905-479B-A880-8BBF241B8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која граница мора бити видљива?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4D15C446-3F0F-4496-B0F3-DD12ACA3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EB89E2A-6288-4E01-A0E8-0AEC1D24E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61829D2-AC91-4121-96AD-A687A8BB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Догађаји без идентификатора тока не могу се поуздано повезати.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A61F097-44BE-42D1-9BAA-646EDC84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доказ остаје после исхода?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77B4506A-2812-4771-85EB-1BEBEBC86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52975"/>
            <a:ext cx="899160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4CCC897-1E7C-4CED-9630-D746DC21C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A55617A2-76DE-449A-B267-F7B1DFB4A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63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0AE54868-85F0-4B67-A3A1-16874A83D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571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49826A66-1C06-4BC1-95F2-136C68705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672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ПИТАЊЕ ЗА АНАЛИЗУ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39A2D59-DA22-49F8-8C61-BA4EA4FF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Који подаци морају постојати у сваком догађају да би се касније могао повезати са другима?</a:t>
            </a:r>
          </a:p>
        </p:txBody>
      </p:sp>
    </p:spTree>
    <p:extLst>
      <p:ext uri="{BB962C8B-B14F-4D97-AF65-F5344CB8AC3E}">
        <p14:creationId xmlns:p14="http://schemas.microsoft.com/office/powerpoint/2010/main" val="12362634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EABD5342-9AE5-4ED1-B9CD-E26C0C37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E66378AC-3B73-4066-B9A3-14DA842DA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7AE4209-372B-4A93-8F20-F8C0359DA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5F36957B-29E3-4CD1-ABD5-6EEF4ED44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Корелација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ECD197A1-5671-43B7-8AC3-1E88ABF9B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заједнички контекст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3EA0A3BD-D952-480F-AE1B-37FCCE0E2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07DF9B2-96EA-44A0-A9E2-74428BFEF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3BACFC2-CA96-4562-BA8F-4E2F30741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Корелација групише догађаје истог тока у један случај.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A76D3A22-B613-4D44-AE95-177BC7534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улаз покреће ову одлуку?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19F5F03E-89A6-423F-BA1B-E050C6018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416E6AB-3065-4A57-840F-0BCBC36C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1D0C50C-613B-4518-9CFE-5DFD95FD5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Случај чува број догађаја и скуп њихових типова, без дуплирања.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BEE13BA-98C2-4475-8A47-8E64767BA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која граница мора бити видљива?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555EE249-DBF8-465A-AB6B-FF51BE795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444503D-40B4-4CFE-A86B-E525CDC7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3A471EE-8169-4E39-990D-FAC646C99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Правило корелације се тестира познатим низом догађаја и очекиваним случајем.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2DFD71E0-2D50-49F8-97E9-2FEDDA056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доказ остаје после исхода?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2C11FCAF-3AA9-478C-A844-5B0CF67FF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52975"/>
            <a:ext cx="899160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C60AD80E-BE47-445C-930E-58C06E466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998B8C0A-3CCD-483C-89AF-77DB08B1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63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52FA9C5B-D9D4-453C-8CE1-2DF805EF4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571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25F305B9-8B32-4E7B-AB3E-18411B69A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672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ПИТАЊЕ ЗА АНАЛИЗУ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CD766F13-B081-477E-89EF-DFCD9BC3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Који низ догађаја у вашем систему заједно значи више него сваки појединачно?</a:t>
            </a:r>
          </a:p>
        </p:txBody>
      </p:sp>
    </p:spTree>
    <p:extLst>
      <p:ext uri="{BB962C8B-B14F-4D97-AF65-F5344CB8AC3E}">
        <p14:creationId xmlns:p14="http://schemas.microsoft.com/office/powerpoint/2010/main" val="997340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D9C7C7B-FD7A-43B5-ABA5-9F0FF88F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15485F71-31CF-4FC6-BF2F-CC5FB7BC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15CE5E3-2D0F-4119-9009-06DBF6FA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DA53325-FC43-4FAF-9B97-CD826525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Контрола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DC6D3F6-77B1-44FD-8978-1260E48BC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смањује одређени ризик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B5EAE04D-B105-49C2-96A6-782CF038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5D12E37A-D413-4BF4-9687-16761FEAF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18289299-FB26-4130-B2BC-C030CE13A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Контрола је везана за конкретан ризик који смањује и за ток на који се примењује.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8D81BAA6-FA88-48B1-B0D5-AB07DA3D9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улаз покреће ову одлуку?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0882B80-2885-41F3-B189-B9DB96793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3D546E12-B8E0-4800-A513-D5529754E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DA80CD4B-597A-4406-BC6C-700601785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304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Ефективност је удео заустављених покушаја у односу на све покушаје.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6D2B88F-14F0-4D2E-8D6E-809077BAB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која граница мора бити видљива?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76EFF7B6-4B08-4DFA-B934-66315D53D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50F1D85-60B2-48F9-8BE4-AC50EA119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3050F03-8613-413E-8329-011037E5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Контрола која никада није била на проби не сматра се ефективном.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D3B6BF96-F02A-4683-A2A5-35250F73B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доказ остаје после исхода?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5B41B94-51EE-424F-A2EF-0C30D74E6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52975"/>
            <a:ext cx="899160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25CE1270-1D0B-4B9D-BB73-FECDBE4C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85044104-CD7C-4E3E-8B35-B277EDF85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63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439CCCA7-4580-4D6B-A614-73014302D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571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B83A9210-E033-490B-8F5E-E2C12D204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672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ПИТАЊЕ ЗА АНАЛИЗУ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45BD2D97-0B68-4B42-84F8-EDEACF0BC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Којим бројем бисте показали да ваша контрола заиста зауставља покушаје?</a:t>
            </a:r>
          </a:p>
        </p:txBody>
      </p:sp>
    </p:spTree>
    <p:extLst>
      <p:ext uri="{BB962C8B-B14F-4D97-AF65-F5344CB8AC3E}">
        <p14:creationId xmlns:p14="http://schemas.microsoft.com/office/powerpoint/2010/main" val="105112701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E4388AA-CF47-4B2A-8ED3-F83D24F1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2A049087-04B6-41B5-9C1C-DD29B6254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4902266-9DE0-41B6-B9C1-42717B7A5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EFD5B79D-7EE4-4DE0-A4A0-DE508C9B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Доказ и учење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F1D6F2AD-6893-4DAF-AAE8-D8ADC0E1E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мери и побољшава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3E006C8-B884-457F-BF5B-1184A7B4F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6FB9CD4-EE52-412A-8F8C-1080D56B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FAB1AD95-FD64-4D89-AB74-4CD189C2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Доказ ефективности мора бити свеж; после промене тока оцена се поново утврђује.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FC0CDE69-00BA-4C78-99C3-EE434BCE2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улаз покреће ову одлуку?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89B470D-E6E8-4003-A36A-6D404113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00B0D5C-1D0E-4926-B1C2-8E2AE3C0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05EFD02-CEC4-4341-A960-A42D1BC4D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Циљни удео је унапред одређен, па се резултат пореди са прагом, а не са утиском.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2DEBD3DE-7326-47BB-88A7-F2F3724DE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која граница мора бити видљива?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53FDFD2-7CC2-4504-86B2-874694A5B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428875"/>
            <a:ext cx="3257550" cy="1952625"/>
          </a:xfrm>
          <a:prstGeom xmlns:a="http://schemas.openxmlformats.org/drawingml/2006/main" prst="roundRect">
            <a:avLst>
              <a:gd name="adj" fmla="val 682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D3EB1CD-0D0F-45F1-B3E3-48B628D44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52700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53A8C03-6AB5-4516-8137-56F7E3F17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00350"/>
            <a:ext cx="2952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Резултат мерења води до корекције контроле или до прихватања преосталог ризика.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897A2F0-0425-4AF5-A0AC-083D26401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48075"/>
            <a:ext cx="2952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Питање: који доказ остаје после исхода?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152B8F33-70FE-45F2-B0CA-82FBEAAD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52975"/>
            <a:ext cx="899160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871C67FE-5317-42BD-AD6F-49993BFC8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67E55CD8-64BB-40CB-842D-1DAADCFF3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10363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BE221150-3305-4592-BE35-F8A9D074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914900"/>
            <a:ext cx="571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BEC369B-E4D2-42B0-950A-77171D257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672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ПИТАЊЕ ЗА АНАЛИЗУ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A742B1E4-D7C2-4C6B-8E18-DF5E57C91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09587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Који ризик контрола ублажава, који доказ чува и који сигнал показује да је престала да ради?</a:t>
            </a:r>
          </a:p>
        </p:txBody>
      </p:sp>
    </p:spTree>
    <p:extLst>
      <p:ext uri="{BB962C8B-B14F-4D97-AF65-F5344CB8AC3E}">
        <p14:creationId xmlns:p14="http://schemas.microsoft.com/office/powerpoint/2010/main" val="3694851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D1DA8C5A-C575-4D6B-A84D-1CA094CB2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4FF5D0F1-C2A7-43A8-B1CC-12094FD4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647903-FA00-4B2C-97AF-78B4DFB7B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7C73C6C-A7EC-4E82-A02A-109680D21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Доказ, покривеност и ефективност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1756704-F13B-49C5-BA08-39F9E81E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Поређење приказује функцију сваког елемента и ограничење његове самосталне примене.</a:t>
            </a:r>
          </a:p>
        </p:txBody>
      </p:sp>
      <p:sp>
        <p:nvSpPr>
          <p:cNvPr id="6" name="Rectangle 5">
            <a:extLst xmlns:a="http://schemas.openxmlformats.org/drawingml/2006/main">
              <a:ext uri="{FF2B5EF4-FFF2-40B4-BE49-F238E27FC236}">
                <a16:creationId xmlns:a16="http://schemas.microsoft.com/office/drawing/2014/main" id="{BBEF9B20-B3DA-42F2-96C2-09948968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478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184"/>
                </a:solidFill>
                <a:latin typeface="Aptos"/>
                <a:ea typeface="Aptos"/>
                <a:cs typeface="Aptos"/>
              </a:rPr>
              <a:t>Питање</a:t>
            </a:r>
          </a:p>
        </p:txBody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E51D128-9695-4934-8AEA-464476861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047875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184"/>
                </a:solidFill>
                <a:latin typeface="Aptos"/>
                <a:ea typeface="Aptos"/>
                <a:cs typeface="Aptos"/>
              </a:rPr>
              <a:t>Слаб одговор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6CE3AF6-9960-4E5F-A959-429A39E99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478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050" b="1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Поуздан одговор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4A93C48-AB80-4776-AB38-881C65728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059180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39BB4A9-8B0C-4E53-89A8-68426A59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860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Да ли контрола постоји?</a:t>
            </a:r>
          </a:p>
        </p:txBody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F81C82BE-4795-4B62-990D-D3D368023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288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Класа или подешавање је присутно.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664D56AE-78FC-4D5E-BD8E-C33A7AB2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288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Контрола има власника, активну конфигурацију и сврху.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4BB8D7D5-161B-4FBE-8D8A-600D4DC50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05150"/>
            <a:ext cx="1059180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FEF26E10-192D-4596-97A9-46006C1F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289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Да ли ради?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57D5D1D2-C5AE-4740-B0BE-BA2F87D01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1718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Једном је ручно проверена.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54B1A18A-A46E-4981-B2D3-2C5BD276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718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Постоји поновљив тест или актуелан оперативни доказ.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1DB0F242-46B9-4A08-83B3-06FD4A5B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48100"/>
            <a:ext cx="1059180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838C4AD-0770-45B8-B120-4CC1FBA2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7192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Шта покрива?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17D4EA0-7295-4CAA-BB34-9AF1F1BA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147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Претпоставља се да важи свуда.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400D03F-5B8E-4268-800F-E5BE8B366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91477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Познати су сценарио, граница и изузеци.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F893483C-BBF0-48EB-AF84-122863A2E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91050"/>
            <a:ext cx="10591800" cy="609600"/>
          </a:xfrm>
          <a:prstGeom xmlns:a="http://schemas.openxmlformats.org/drawingml/2006/main" prst="roundRect">
            <a:avLst>
              <a:gd name="adj" fmla="val 17188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02B82BE8-2A5D-468F-95DF-F1DF9DA7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14875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Како знамо да је ослабила?</a:t>
            </a: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930AB4DE-6CF5-4A7A-A229-78EC21BD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6577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Проблем се види тек после инцидента.</a:t>
            </a:r>
          </a:p>
        </p:txBody>
      </p:sp>
      <p:sp>
        <p:nvSpPr>
          <p:cNvPr id="24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966E9835-6784-4554-BCCF-20CA422D0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57725"/>
            <a:ext cx="361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Метрика, alert или редован преглед откривају одступање.</a:t>
            </a:r>
          </a:p>
        </p:txBody>
      </p:sp>
    </p:spTree>
    <p:extLst>
      <p:ext uri="{BB962C8B-B14F-4D97-AF65-F5344CB8AC3E}">
        <p14:creationId xmlns:p14="http://schemas.microsoft.com/office/powerpoint/2010/main" val="39107161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F28C3B95-C48E-4C77-8212-34314B60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DCAD4A46-F1A3-4187-A10E-3C5C4B79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CABD483-95CD-4CA5-9FF9-C720A059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A30C889-BF16-415D-9C58-218FFAFB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Модел континуираног унапређивања безбедности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D533B9E-9010-4194-90AC-3EF12FC25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Безбедност напредује кроз повратну спрегу. доказ мења разумевање ризика, а то мења контролу.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E98C2CB-20AF-4E65-A646-9B41E1835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2462213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10522860-577B-47F9-93D5-589A38631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686050"/>
            <a:ext cx="2176463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03E0D06-C1EB-4FEB-930C-B08B2D307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21955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Догађаји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BDA72131-0D93-4CC1-B8A5-FD344ED6B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62325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трагови понашања система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0E14B84-1F21-4D53-BF61-476E1A9C8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913" y="2571750"/>
            <a:ext cx="2462213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726DD6E-7145-4B51-933E-A313064D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2686050"/>
            <a:ext cx="2176463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684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49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FE0461A0-A6EC-466D-8212-935329D0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971800"/>
            <a:ext cx="21955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Корелација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E6179F4E-E328-4D58-8548-0F4F3601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3788" y="3362325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образац и приоритет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17BD2EEB-8CC3-4BCD-857A-D07C40E91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2462213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AB069AAC-1BB4-4946-9AE3-5AB6FC41E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86050"/>
            <a:ext cx="2176463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CDB4D56F-A79C-48A5-A624-C01C23C5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971800"/>
            <a:ext cx="21955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Контрола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B987C943-C532-4FFB-B5A3-CC7B979F6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362325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одговор на ризик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FD2105F-1266-4CB5-970E-A197C75EC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6838" y="2571750"/>
            <a:ext cx="2462213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C3BED89-6012-43FC-8847-AC4F4886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686050"/>
            <a:ext cx="2176463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585E708-ED51-409A-9ACC-007A8626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0188" y="2971800"/>
            <a:ext cx="219551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Доказ и учење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70ED35FF-C0BC-4DF8-B9DA-AF257DA9F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3362325"/>
            <a:ext cx="2176463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8962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провера и следеће побољшање</a:t>
            </a:r>
          </a:p>
        </p:txBody>
      </p:sp>
      <p:cxnSp>
        <p:nvCxnSpPr>
          <p:cNvPr id="221" name="Straight Arrow Connector 12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05163" y="3200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2" name="Straight Arrow Connector 125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6" y="3200400"/>
            <a:ext cx="285749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3" name="Straight Arrow Connector 126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01088" y="320040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5C3DDD77-8C0B-49C0-82C6-8832077D7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419600"/>
            <a:ext cx="8763000" cy="74295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6612DC17-397D-4764-98CA-471AA45D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62475"/>
            <a:ext cx="5715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6" name="Rounded Rectangle 75">
            <a:extLst xmlns:a="http://schemas.openxmlformats.org/drawingml/2006/main">
              <a:ext uri="{FF2B5EF4-FFF2-40B4-BE49-F238E27FC236}">
                <a16:creationId xmlns:a16="http://schemas.microsoft.com/office/drawing/2014/main" id="{440D77A4-D779-4911-A226-834A3C12D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1036320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E008D032-8490-4F91-B7C8-8FABDAEB1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591050"/>
            <a:ext cx="5715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12B13523-3D60-41BC-BD56-7836EC5A5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4342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ЕЛЕМЕНТИ АНАЛИЗЕ</a:t>
            </a: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619DA753-33A0-4A1D-9E42-F8B80C4DE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72025"/>
            <a:ext cx="9639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Анализа сваког корака обухвата покретача, место одлуке и траг који остаје после исхода.</a:t>
            </a:r>
          </a:p>
        </p:txBody>
      </p:sp>
    </p:spTree>
    <p:extLst>
      <p:ext uri="{BB962C8B-B14F-4D97-AF65-F5344CB8AC3E}">
        <p14:creationId xmlns:p14="http://schemas.microsoft.com/office/powerpoint/2010/main" val="14225960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900D561F-BC5F-4937-B496-5E47F18A7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D2CB1683-360D-47C4-A533-A86C6517F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D3026173-54A3-4530-8EF7-7AA2602C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090DB24C-7D98-4D21-B87A-573FDF5B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Безбедносна повратна спрега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4391F08-0418-4894-9EA2-479FCC12C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Процес приказује улазе, место одлуке и доказ који остаје после исхода.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70E86EB4-067B-4D70-A89C-7717B0E39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572000" cy="3143250"/>
          </a:xfrm>
          <a:prstGeom xmlns:a="http://schemas.openxmlformats.org/drawingml/2006/main" prst="roundRect">
            <a:avLst>
              <a:gd name="adj" fmla="val 4242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15F6F43-948C-4C1B-A055-077BFC8D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4267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КОНТЕКСТ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B26E6385-A630-4B70-89D5-F58C9D44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24125"/>
            <a:ext cx="4267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Безбедносна повратна спрега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55566FB2-A945-4189-B976-F35858839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86100"/>
            <a:ext cx="4267200" cy="2105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Зрео систем не завршава безбедност имплементацијом контроле. Догађаји и тестови стварају доказ, доказ мења процену ризика, а процена ризика води ка бољој политици или другачијој контроли. Тако се избегава лажни осећај да је једном завршени посао заувек довољан.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018767BE-C5D1-4355-ACB3-97FE30782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095500"/>
            <a:ext cx="56388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857C594B-F5A1-43B0-AFFF-8985215CA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2193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058D191-4FCB-4FEB-B810-55233E10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4669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Догађај или тест открива образац који захтева пажњу.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EC9CA77-5861-4FBA-BCD8-03DAD488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971800"/>
            <a:ext cx="56388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716A9835-B777-4988-AC4D-04D7BC94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0956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2875801-850E-4871-AC4A-EF46680B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3432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Корелација повезује образац са имовином, актером и контролом.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3FFB48B-3AAF-4C63-9D0A-A84562AB0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848100"/>
            <a:ext cx="56388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59B25DD1-D8FA-44C0-9FDC-E85CD984A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9719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C9564C92-53D5-45E7-8CD9-A8DB1492B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195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Тим проверава да ли постојећа контрола покрива стварни сценарио.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E5A67313-7B6E-4599-B631-60AD9C295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724400"/>
            <a:ext cx="563880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927E0508-4A64-4689-AB2F-DD98620C2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848225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AA86D198-3E33-4BAD-A4C3-A993C348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5095875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531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Нова одлука ствара ажурирану политику, тест или оперативну процедуру.</a:t>
            </a:r>
          </a:p>
        </p:txBody>
      </p:sp>
    </p:spTree>
    <p:extLst>
      <p:ext uri="{BB962C8B-B14F-4D97-AF65-F5344CB8AC3E}">
        <p14:creationId xmlns:p14="http://schemas.microsoft.com/office/powerpoint/2010/main" val="53374072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9C3A89E-E7CB-4AA9-817F-9E0DED97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48048299-5A5A-4662-BFB1-94CB7ABD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9F6592F-0F7C-4F0E-B612-DBBDCCF2A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7CCBD08-38D7-4C71-B43D-291038A0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Контрола има смисао тек уз доказ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CB0993F-9630-461B-921F-6A60318C2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Наведена правила остају видљива у имплементацији, тестовима и ревизији.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74A8679-3DF3-4576-B8BD-102B97333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3257550" cy="2343150"/>
          </a:xfrm>
          <a:prstGeom xmlns:a="http://schemas.openxmlformats.org/drawingml/2006/main" prst="roundRect">
            <a:avLst>
              <a:gd name="adj" fmla="val 5691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EA5E5314-625C-4F14-AC02-739B55EC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24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70AB0B86-B54E-4EBD-B53B-C97E04AA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7177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Корелација повезује догађаје по времену, актеру и ресурсу, уз садржај појединачних порука лога.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FC6716B-F338-45B7-88AD-AEE82BD5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81450"/>
            <a:ext cx="295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Јасно правило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2B5F86F-6C69-4195-964C-897F9CC2B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400300"/>
            <a:ext cx="3257550" cy="2343150"/>
          </a:xfrm>
          <a:prstGeom xmlns:a="http://schemas.openxmlformats.org/drawingml/2006/main" prst="roundRect">
            <a:avLst>
              <a:gd name="adj" fmla="val 5691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2AAACB7-7CAD-464D-88FE-0BB089350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24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0E5ECEF-DE1C-4884-AE1F-FC61B278B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7177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Одговор са већим последицама захтева људску одлуку и јасан траг одобрења.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72C27203-BB64-4B4A-BF9F-132E35AD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81450"/>
            <a:ext cx="295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Проверљива примена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9934C6EE-7339-4883-B5BD-BB5256BD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400300"/>
            <a:ext cx="3257550" cy="2343150"/>
          </a:xfrm>
          <a:prstGeom xmlns:a="http://schemas.openxmlformats.org/drawingml/2006/main" prst="roundRect">
            <a:avLst>
              <a:gd name="adj" fmla="val 5691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07827DE6-3432-4508-A295-E5AD220E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2412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390B72F-AF90-4F10-ACFE-E604685AD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7177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Постинцидентни преглед испитује системске и процесне узроке догађаја.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292BA58-216B-4C7A-A267-C7474FD47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81450"/>
            <a:ext cx="29527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Видљив доказ</a:t>
            </a:r>
          </a:p>
        </p:txBody>
      </p:sp>
    </p:spTree>
    <p:extLst>
      <p:ext uri="{BB962C8B-B14F-4D97-AF65-F5344CB8AC3E}">
        <p14:creationId xmlns:p14="http://schemas.microsoft.com/office/powerpoint/2010/main" val="103451646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299BF343-0899-4F49-874C-E9F83188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8D16969C-499F-4674-9E62-44416382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1FABF71D-232A-4755-8AD3-1BD37C834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06A60F8-A45D-40F4-B2BA-8B98DB80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Примена у развоју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DA0B0D89-368F-4516-AC36-A6557674F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Тим примењује тему кроз серверске провере, тестове и ревизионе записе током развоја.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2D8FA854-B232-4A15-9591-F17757167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09800"/>
            <a:ext cx="4810125" cy="2857500"/>
          </a:xfrm>
          <a:prstGeom xmlns:a="http://schemas.openxmlformats.org/drawingml/2006/main" prst="roundRect">
            <a:avLst>
              <a:gd name="adj" fmla="val 4667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C990426-FF8B-4695-941F-2783CA39D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45053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РАЗВОЈНИ КОНТЕКСТ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8C8E363F-ED15-4CAA-AAA8-A071D154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81275"/>
            <a:ext cx="4505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Примена принципа у коду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5556C0A-DDF5-45F8-8320-DB6B397A0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24200"/>
            <a:ext cx="4505325" cy="1838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Добра безбедносна анализа показује узрочну везу: коју имовину штитимо, који сценарио разматрамо, која контрола делује и како знамо да њено понашање још увек одговара намери. Кратак, јасан доказ вреди више од дуге листе функционалности.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4851224F-CA6E-42A6-BE60-277B9EED0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209800"/>
            <a:ext cx="5353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433B83E5-4E07-427A-B5DC-AF637F37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22E9D9B-909D-4598-841F-007F9E61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812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Дефинисана одлука и њена граница.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26D483CC-A7E2-4A70-86BE-07BCC5D2E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200400"/>
            <a:ext cx="5353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91DA885F-1344-4810-93B1-9DB1D5B1C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242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F3C35EA-B973-45FE-A854-EEBAD12A2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718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Серверска имплементација провере.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47BA7DF-835E-485C-89D5-3757B9D82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4191000"/>
            <a:ext cx="535305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44FED7E2-7152-4E0E-AA77-ECFA607B0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14825"/>
            <a:ext cx="504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03632B4C-9A15-4642-8729-1E6D110D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562475"/>
            <a:ext cx="504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Позитиван и негативан доказ.</a:t>
            </a:r>
          </a:p>
        </p:txBody>
      </p:sp>
    </p:spTree>
    <p:extLst>
      <p:ext uri="{BB962C8B-B14F-4D97-AF65-F5344CB8AC3E}">
        <p14:creationId xmlns:p14="http://schemas.microsoft.com/office/powerpoint/2010/main" val="122741397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08FAB218-47E0-4363-AC64-FE79C1F9C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1EA31A99-C8C9-47D6-9203-01975786A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3296A09-E6F6-4815-9AFA-52580146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A8A458C-109F-4E23-A883-742B732CC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Случај: контрола постоји, али нема свеж доказ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8157D673-538A-4639-BFC3-0440217A4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Случај повезује опште правило са конкретним контекстом, серверском провером и очекиваним исходом.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86FD715C-B769-45F2-92F9-634C36A4A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1062990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C51DBAFF-1A18-4C7F-98EF-3334E075E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66950"/>
            <a:ext cx="10325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СЦЕНАРИО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3BD870E6-244A-4FCB-A681-FD734E89F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14600"/>
            <a:ext cx="10325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72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Пример: контрола постоји, али нема свеж доказ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6BBDD87-194B-4CEC-BCE7-0825A46B0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81325"/>
            <a:ext cx="103251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Систем има правило које ограничава приступ осетљивом ресурсу. Правило је било успешно тестирано пре неколико месеци, али се у међувремену променио модел улога и додат је нови улаз у систем. Без новог доказа тим зна да контрола постоји, али не зна да ли још покрива стварни ризик. Ефективност зато укључује свежину, опсег и резултат провере.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16132BB-8AAC-4E26-96D7-4C66B5EAA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48125"/>
            <a:ext cx="33528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2252FFA5-06AF-4675-9C8A-A047573F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13F61E3-064F-4941-A114-A39E7F50C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196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Корелација повезује низ догађаја у једну причу о понашању система.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C5487854-A4CF-4ED1-96EB-FCEE71D9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1025" y="4048125"/>
            <a:ext cx="33528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6A13FC71-67A3-47A8-A0F1-E6EB0034C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171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F17CFB78-60D6-432B-BB5A-CBD0B0B54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44196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Мера ефективности прати да ли контрола има власника, доказ и покривеност релевантног сценарија.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53CEC930-3379-4DF8-8319-9F2DDA129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48125"/>
            <a:ext cx="335280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5F73A6B-44F9-4891-8547-240B30EB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171950"/>
            <a:ext cx="3048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15D8A867-2313-4C20-A3E0-5329F79E6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41960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9852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Аутоматизован одговор може убрзати реакцију, али радња са великом последицом задржава људску потврду и ревизиони траг.</a:t>
            </a:r>
          </a:p>
        </p:txBody>
      </p:sp>
    </p:spTree>
    <p:extLst>
      <p:ext uri="{BB962C8B-B14F-4D97-AF65-F5344CB8AC3E}">
        <p14:creationId xmlns:p14="http://schemas.microsoft.com/office/powerpoint/2010/main" val="3982335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6D7A0B16-B878-405A-B2E2-FE96B597E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EF72A533-413C-4AFC-AFC0-DA08DCE4F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66D89F0-10AE-4A15-B414-110E9C22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3C384349-9036-4550-BE8F-3D9B8843C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Корелација гради причу, не закључак из једног записа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391B12A-3A81-4E1F-A646-82C5AB4D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Корелација групише догађаје по идентификатору тока и бележи њихове типове.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C352D0FF-5EAA-4B5C-8B06-7BFAC31FD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858000" cy="2647450"/>
          </a:xfrm>
          <a:prstGeom xmlns:a="http://schemas.openxmlformats.org/drawingml/2006/main" prst="roundRect">
            <a:avLst>
              <a:gd name="adj" fmla="val 4464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4B53F641-8A3B-4BED-A6D8-17A0B2A7A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6858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80FC9F0D-5339-4B50-B578-EC9979FE4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60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5E801028-4411-4B2A-8270-9FDDF4DA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463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D42"/>
          </a:solidFill>
          <a:ln xmlns:a="http://schemas.openxmlformats.org/drawingml/2006/main" w="0">
            <a:noFill/>
          </a:ln>
        </p:spPr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BA4D0912-633F-4B7B-B25C-1EE914361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BB997002-8EFD-4609-BA2E-9AE6110E9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048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2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3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4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5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6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7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8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9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10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11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D46582C-A5A4-4CB7-A21B-E1F5D385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61531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1">
                <a:solidFill>
                  <a:srgbClr val="0969C3"/>
                </a:solidFill>
              </a:rPr>
              <a:t>public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0">
                <a:solidFill>
                  <a:srgbClr val="7651D4"/>
                </a:solidFill>
              </a:rPr>
              <a:t>IReadOnlyList</a:t>
            </a:r>
            <a:r>
              <a:rPr b="0">
                <a:solidFill>
                  <a:srgbClr val="263044"/>
                </a:solidFill>
              </a:rPr>
              <a:t>&lt;</a:t>
            </a:r>
            <a:r>
              <a:rPr b="0">
                <a:solidFill>
                  <a:srgbClr val="7651D4"/>
                </a:solidFill>
              </a:rPr>
              <a:t>CorrelationCase</a:t>
            </a:r>
            <a:r>
              <a:rPr b="0">
                <a:solidFill>
                  <a:srgbClr val="263044"/>
                </a:solidFill>
              </a:rPr>
              <a:t>&gt; </a:t>
            </a:r>
            <a:r>
              <a:rPr b="0">
                <a:solidFill>
                  <a:srgbClr val="7651D4"/>
                </a:solidFill>
              </a:rPr>
              <a:t>Correlate</a:t>
            </a:r>
            <a:r>
              <a:rPr b="0">
                <a:solidFill>
                  <a:srgbClr val="263044"/>
                </a:solidFill>
              </a:rPr>
              <a:t>(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</a:t>
            </a:r>
            <a:r>
              <a:rPr b="0">
                <a:solidFill>
                  <a:srgbClr val="7651D4"/>
                </a:solidFill>
              </a:rPr>
              <a:t>IEnumerable</a:t>
            </a:r>
            <a:r>
              <a:rPr b="0">
                <a:solidFill>
                  <a:srgbClr val="263044"/>
                </a:solidFill>
              </a:rPr>
              <a:t>&lt;</a:t>
            </a:r>
            <a:r>
              <a:rPr b="0">
                <a:solidFill>
                  <a:srgbClr val="7651D4"/>
                </a:solidFill>
              </a:rPr>
              <a:t>SecurityEvent</a:t>
            </a:r>
            <a:r>
              <a:rPr b="0">
                <a:solidFill>
                  <a:srgbClr val="263044"/>
                </a:solidFill>
              </a:rPr>
              <a:t>&gt; events)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{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</a:t>
            </a:r>
            <a:r>
              <a:rPr b="1">
                <a:solidFill>
                  <a:srgbClr val="0969C3"/>
                </a:solidFill>
              </a:rPr>
              <a:t>return</a:t>
            </a:r>
            <a:r>
              <a:rPr b="0">
                <a:solidFill>
                  <a:srgbClr val="263044"/>
                </a:solidFill>
              </a:rPr>
              <a:t> events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.</a:t>
            </a:r>
            <a:r>
              <a:rPr b="0">
                <a:solidFill>
                  <a:srgbClr val="7651D4"/>
                </a:solidFill>
              </a:rPr>
              <a:t>GroupBy</a:t>
            </a:r>
            <a:r>
              <a:rPr b="0">
                <a:solidFill>
                  <a:srgbClr val="263044"/>
                </a:solidFill>
              </a:rPr>
              <a:t>(securityEvent =&gt; securityEvent.</a:t>
            </a:r>
            <a:r>
              <a:rPr b="0">
                <a:solidFill>
                  <a:srgbClr val="7651D4"/>
                </a:solidFill>
              </a:rPr>
              <a:t>CorrelationId</a:t>
            </a:r>
            <a:r>
              <a:rPr b="0">
                <a:solidFill>
                  <a:srgbClr val="263044"/>
                </a:solidFill>
              </a:rPr>
              <a:t>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.</a:t>
            </a:r>
            <a:r>
              <a:rPr b="0">
                <a:solidFill>
                  <a:srgbClr val="7651D4"/>
                </a:solidFill>
              </a:rPr>
              <a:t>Select</a:t>
            </a:r>
            <a:r>
              <a:rPr b="0">
                <a:solidFill>
                  <a:srgbClr val="263044"/>
                </a:solidFill>
              </a:rPr>
              <a:t>(group =&gt; </a:t>
            </a:r>
            <a:r>
              <a:rPr b="1">
                <a:solidFill>
                  <a:srgbClr val="0969C3"/>
                </a:solidFill>
              </a:rPr>
              <a:t>new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0">
                <a:solidFill>
                  <a:srgbClr val="7651D4"/>
                </a:solidFill>
              </a:rPr>
              <a:t>CorrelationCase</a:t>
            </a:r>
            <a:r>
              <a:rPr b="0">
                <a:solidFill>
                  <a:srgbClr val="263044"/>
                </a:solidFill>
              </a:rPr>
              <a:t>(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    group.</a:t>
            </a:r>
            <a:r>
              <a:rPr b="0">
                <a:solidFill>
                  <a:srgbClr val="7651D4"/>
                </a:solidFill>
              </a:rPr>
              <a:t>Key</a:t>
            </a:r>
            <a:r>
              <a:rPr b="0">
                <a:solidFill>
                  <a:srgbClr val="263044"/>
                </a:solidFill>
              </a:rPr>
              <a:t>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    group.</a:t>
            </a:r>
            <a:r>
              <a:rPr b="0">
                <a:solidFill>
                  <a:srgbClr val="7651D4"/>
                </a:solidFill>
              </a:rPr>
              <a:t>Count</a:t>
            </a:r>
            <a:r>
              <a:rPr b="0">
                <a:solidFill>
                  <a:srgbClr val="263044"/>
                </a:solidFill>
              </a:rPr>
              <a:t>(),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    group.</a:t>
            </a:r>
            <a:r>
              <a:rPr b="0">
                <a:solidFill>
                  <a:srgbClr val="7651D4"/>
                </a:solidFill>
              </a:rPr>
              <a:t>Select</a:t>
            </a:r>
            <a:r>
              <a:rPr b="0">
                <a:solidFill>
                  <a:srgbClr val="263044"/>
                </a:solidFill>
              </a:rPr>
              <a:t>(securityEvent =&gt; securityEvent.</a:t>
            </a:r>
            <a:r>
              <a:rPr b="0">
                <a:solidFill>
                  <a:srgbClr val="7651D4"/>
                </a:solidFill>
              </a:rPr>
              <a:t>Type</a:t>
            </a:r>
            <a:r>
              <a:rPr b="0">
                <a:solidFill>
                  <a:srgbClr val="263044"/>
                </a:solidFill>
              </a:rPr>
              <a:t>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        .</a:t>
            </a:r>
            <a:r>
              <a:rPr b="0">
                <a:solidFill>
                  <a:srgbClr val="7651D4"/>
                </a:solidFill>
              </a:rPr>
              <a:t>ToHashSet</a:t>
            </a:r>
            <a:r>
              <a:rPr b="0">
                <a:solidFill>
                  <a:srgbClr val="263044"/>
                </a:solidFill>
              </a:rPr>
              <a:t>(</a:t>
            </a:r>
            <a:r>
              <a:rPr b="0">
                <a:solidFill>
                  <a:srgbClr val="7651D4"/>
                </a:solidFill>
              </a:rPr>
              <a:t>StringComparer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OrdinalIgnoreCase</a:t>
            </a:r>
            <a:r>
              <a:rPr b="0">
                <a:solidFill>
                  <a:srgbClr val="263044"/>
                </a:solidFill>
              </a:rPr>
              <a:t>)))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.</a:t>
            </a:r>
            <a:r>
              <a:rPr b="0">
                <a:solidFill>
                  <a:srgbClr val="7651D4"/>
                </a:solidFill>
              </a:rPr>
              <a:t>ToArray</a:t>
            </a:r>
            <a:r>
              <a:rPr b="0">
                <a:solidFill>
                  <a:srgbClr val="263044"/>
                </a:solidFill>
              </a:rPr>
              <a:t>();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}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05AF949-84E7-4468-A879-F5F6B4884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36004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B13C09E-35CC-4F49-A5D4-6173A941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7647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ТУМАЧЕЊЕ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4203D6FF-7D12-460E-9541-D37A86DC8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32956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Correlation ID повезује појединачне догађаје у случај са бројем догађаја и скупом типова.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B0CB096E-02BD-45A2-BE64-6532FC8A3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48150"/>
            <a:ext cx="36004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ECF73DE-59A0-4C70-86C6-63ADA9D3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7197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БЕЗБЕДНОСНА ГРАНИЦА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DBAE312A-BAAD-493B-9FD9-40074EC7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3295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Одбијање је експлицитан исход са разлогом који се може тестирати и објаснити.</a:t>
            </a:r>
          </a:p>
        </p:txBody>
      </p:sp>
    </p:spTree>
    <p:extLst>
      <p:ext uri="{BB962C8B-B14F-4D97-AF65-F5344CB8AC3E}">
        <p14:creationId xmlns:p14="http://schemas.microsoft.com/office/powerpoint/2010/main" val="167640460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A2531925-ED9A-4502-B08E-5CB9C342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77221F61-5870-4A22-A24B-31652ABE6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146FEF0-61D0-4F10-BD73-191CAFDC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5D16CEA-5844-4DE1-894E-6E81F7CB4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Контрола без мерења не важи као ефективна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D22CBCE-1B88-4707-A303-D64B0275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Тест показује да контрола која никада није била на проби не добија оцену да ради.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131669E1-98CB-48CA-ACE7-AA3B2DBB4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858000" cy="2647450"/>
          </a:xfrm>
          <a:prstGeom xmlns:a="http://schemas.openxmlformats.org/drawingml/2006/main" prst="roundRect">
            <a:avLst>
              <a:gd name="adj" fmla="val 4184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D3B89BB2-56C8-4197-A740-EBEE4C1E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38400"/>
            <a:ext cx="6858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E8890817-D576-45DD-9DFE-B82988D9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60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38E26769-05FA-4AE2-9CAB-49EBA6D4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9463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D42"/>
          </a:solidFill>
          <a:ln xmlns:a="http://schemas.openxmlformats.org/drawingml/2006/main" w="0">
            <a:noFill/>
          </a:ln>
        </p:spPr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6DC8A1BD-7609-431A-98A8-2957B4005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21456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7F692352-7E62-41C0-BDAB-61231DDC7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71750"/>
            <a:ext cx="30480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2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3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4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5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6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7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8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9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10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11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975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975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696EA46-F66B-4FFB-879D-9DC92773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71750"/>
            <a:ext cx="6153150" cy="3028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[</a:t>
            </a:r>
            <a:r>
              <a:rPr b="0">
                <a:solidFill>
                  <a:srgbClr val="7651D4"/>
                </a:solidFill>
              </a:rPr>
              <a:t>Test</a:t>
            </a:r>
            <a:r>
              <a:rPr b="0">
                <a:solidFill>
                  <a:srgbClr val="263044"/>
                </a:solidFill>
              </a:rPr>
              <a:t>]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1">
                <a:solidFill>
                  <a:srgbClr val="0969C3"/>
                </a:solidFill>
              </a:rPr>
              <a:t>public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1">
                <a:solidFill>
                  <a:srgbClr val="0969C3"/>
                </a:solidFill>
              </a:rPr>
              <a:t>void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0">
                <a:solidFill>
                  <a:srgbClr val="7651D4"/>
                </a:solidFill>
              </a:rPr>
              <a:t>Evaluate_WhenControlWasNeverExercised_DoesNotClaimItWorks</a:t>
            </a:r>
            <a:r>
              <a:rPr b="0">
                <a:solidFill>
                  <a:srgbClr val="263044"/>
                </a:solidFill>
              </a:rPr>
              <a:t>()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{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</a:t>
            </a:r>
            <a:r>
              <a:rPr b="1">
                <a:solidFill>
                  <a:srgbClr val="0969C3"/>
                </a:solidFill>
              </a:rPr>
              <a:t>var</a:t>
            </a:r>
            <a:r>
              <a:rPr b="0">
                <a:solidFill>
                  <a:srgbClr val="263044"/>
                </a:solidFill>
              </a:rPr>
              <a:t> effectiveness = _calculator.</a:t>
            </a:r>
            <a:r>
              <a:rPr b="0">
                <a:solidFill>
                  <a:srgbClr val="7651D4"/>
                </a:solidFill>
              </a:rPr>
              <a:t>Evaluate</a:t>
            </a:r>
            <a:r>
              <a:rPr b="0">
                <a:solidFill>
                  <a:srgbClr val="263044"/>
                </a:solidFill>
              </a:rPr>
              <a:t>(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</a:t>
            </a:r>
            <a:r>
              <a:rPr b="1">
                <a:solidFill>
                  <a:srgbClr val="0969C3"/>
                </a:solidFill>
              </a:rPr>
              <a:t>new</a:t>
            </a:r>
            <a:r>
              <a:rPr b="0">
                <a:solidFill>
                  <a:srgbClr val="263044"/>
                </a:solidFill>
              </a:rPr>
              <a:t> </a:t>
            </a:r>
            <a:r>
              <a:rPr b="0">
                <a:solidFill>
                  <a:srgbClr val="7651D4"/>
                </a:solidFill>
              </a:rPr>
              <a:t>ControlMeasurement</a:t>
            </a:r>
            <a:r>
              <a:rPr b="0">
                <a:solidFill>
                  <a:srgbClr val="263044"/>
                </a:solidFill>
              </a:rPr>
              <a:t>(</a:t>
            </a:r>
            <a:r>
              <a:rPr b="0">
                <a:solidFill>
                  <a:srgbClr val="B45309"/>
                </a:solidFill>
              </a:rPr>
              <a:t>"step-up"</a:t>
            </a:r>
            <a:r>
              <a:rPr b="0">
                <a:solidFill>
                  <a:srgbClr val="263044"/>
                </a:solidFill>
              </a:rPr>
              <a:t>, </a:t>
            </a:r>
            <a:r>
              <a:rPr b="0">
                <a:solidFill>
                  <a:srgbClr val="B86A09"/>
                </a:solidFill>
              </a:rPr>
              <a:t>0</a:t>
            </a:r>
            <a:r>
              <a:rPr b="0">
                <a:solidFill>
                  <a:srgbClr val="263044"/>
                </a:solidFill>
              </a:rPr>
              <a:t>, </a:t>
            </a:r>
            <a:r>
              <a:rPr b="0">
                <a:solidFill>
                  <a:srgbClr val="B86A09"/>
                </a:solidFill>
              </a:rPr>
              <a:t>0</a:t>
            </a:r>
            <a:r>
              <a:rPr b="0">
                <a:solidFill>
                  <a:srgbClr val="263044"/>
                </a:solidFill>
              </a:rPr>
              <a:t>));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</a:t>
            </a:r>
            <a:r>
              <a:rPr b="1">
                <a:solidFill>
                  <a:srgbClr val="0969C3"/>
                </a:solidFill>
              </a:rPr>
              <a:t>using</a:t>
            </a:r>
            <a:r>
              <a:rPr b="0">
                <a:solidFill>
                  <a:srgbClr val="263044"/>
                </a:solidFill>
              </a:rPr>
              <a:t> (</a:t>
            </a:r>
            <a:r>
              <a:rPr b="0">
                <a:solidFill>
                  <a:srgbClr val="7651D4"/>
                </a:solidFill>
              </a:rPr>
              <a:t>Assert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EnterMultipleScope</a:t>
            </a:r>
            <a:r>
              <a:rPr b="0">
                <a:solidFill>
                  <a:srgbClr val="263044"/>
                </a:solidFill>
              </a:rPr>
              <a:t>())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{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</a:t>
            </a:r>
            <a:r>
              <a:rPr b="0">
                <a:solidFill>
                  <a:srgbClr val="7651D4"/>
                </a:solidFill>
              </a:rPr>
              <a:t>Assert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That</a:t>
            </a:r>
            <a:r>
              <a:rPr b="0">
                <a:solidFill>
                  <a:srgbClr val="263044"/>
                </a:solidFill>
              </a:rPr>
              <a:t>(effectiveness.</a:t>
            </a:r>
            <a:r>
              <a:rPr b="0">
                <a:solidFill>
                  <a:srgbClr val="7651D4"/>
                </a:solidFill>
              </a:rPr>
              <a:t>Ratio</a:t>
            </a:r>
            <a:r>
              <a:rPr b="0">
                <a:solidFill>
                  <a:srgbClr val="263044"/>
                </a:solidFill>
              </a:rPr>
              <a:t>, </a:t>
            </a:r>
            <a:r>
              <a:rPr b="0">
                <a:solidFill>
                  <a:srgbClr val="7651D4"/>
                </a:solidFill>
              </a:rPr>
              <a:t>Is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Zero</a:t>
            </a:r>
            <a:r>
              <a:rPr b="0">
                <a:solidFill>
                  <a:srgbClr val="263044"/>
                </a:solidFill>
              </a:rPr>
              <a:t>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    </a:t>
            </a:r>
            <a:r>
              <a:rPr b="0">
                <a:solidFill>
                  <a:srgbClr val="7651D4"/>
                </a:solidFill>
              </a:rPr>
              <a:t>Assert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That</a:t>
            </a:r>
            <a:r>
              <a:rPr b="0">
                <a:solidFill>
                  <a:srgbClr val="263044"/>
                </a:solidFill>
              </a:rPr>
              <a:t>(effectiveness.</a:t>
            </a:r>
            <a:r>
              <a:rPr b="0">
                <a:solidFill>
                  <a:srgbClr val="7651D4"/>
                </a:solidFill>
              </a:rPr>
              <a:t>MeetsTarget</a:t>
            </a:r>
            <a:r>
              <a:rPr b="0">
                <a:solidFill>
                  <a:srgbClr val="263044"/>
                </a:solidFill>
              </a:rPr>
              <a:t>, </a:t>
            </a:r>
            <a:r>
              <a:rPr b="0">
                <a:solidFill>
                  <a:srgbClr val="7651D4"/>
                </a:solidFill>
              </a:rPr>
              <a:t>Is</a:t>
            </a:r>
            <a:r>
              <a:rPr b="0">
                <a:solidFill>
                  <a:srgbClr val="263044"/>
                </a:solidFill>
              </a:rPr>
              <a:t>.</a:t>
            </a:r>
            <a:r>
              <a:rPr b="0">
                <a:solidFill>
                  <a:srgbClr val="7651D4"/>
                </a:solidFill>
              </a:rPr>
              <a:t>False</a:t>
            </a:r>
            <a:r>
              <a:rPr b="0">
                <a:solidFill>
                  <a:srgbClr val="263044"/>
                </a:solidFill>
              </a:rPr>
              <a:t>);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  }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050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}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6865E24-D58B-4679-94A8-E040FE298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3600450" cy="1809750"/>
          </a:xfrm>
          <a:prstGeom xmlns:a="http://schemas.openxmlformats.org/drawingml/2006/main" prst="roundRect">
            <a:avLst>
              <a:gd name="adj" fmla="val 7368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2551DEB0-1780-45FD-9AD4-DC665E9B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7647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ДОКАЗ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91987207-8D15-4BBE-9B05-B51A16F5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3295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Без иједног покушаја удео је нула, а циљ се не сматра испуњеним.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556845B-53B8-4AED-9E37-E04A478D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48150"/>
            <a:ext cx="36004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A33DB3E4-65CB-4DC4-85D6-65DDCAB1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71975"/>
            <a:ext cx="3295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ОЧЕКИВАНИ ИСХОД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BFC558E-BF7F-46BC-9348-9B291475A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619625"/>
            <a:ext cx="32956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Тест не дозвољава да одсуство мерења изгледа као успех контроле.</a:t>
            </a:r>
          </a:p>
        </p:txBody>
      </p:sp>
    </p:spTree>
    <p:extLst>
      <p:ext uri="{BB962C8B-B14F-4D97-AF65-F5344CB8AC3E}">
        <p14:creationId xmlns:p14="http://schemas.microsoft.com/office/powerpoint/2010/main" val="207417551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25881507-60C0-4967-BEC9-9110D8A1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C7FB4AEF-6EF0-4344-B6BB-3154DE8F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08A6E5EF-009A-41E3-822A-A4F89498E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4C6C04DC-785E-4457-89EE-0135EC9A1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Садржај безбедносног записа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7228B8DF-61B9-4B5A-A6D6-A31A7BAD0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Запис садржи контекст потребан за реконструкцију одлуке, без тајни и непотребних личних података.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09350125-721E-47F3-BFD5-834D4F47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5334000" cy="2028825"/>
          </a:xfrm>
          <a:prstGeom xmlns:a="http://schemas.openxmlformats.org/drawingml/2006/main" prst="roundRect">
            <a:avLst>
              <a:gd name="adj" fmla="val 4695"/>
            </a:avLst>
          </a:prstGeom>
          <a:solidFill xmlns:a="http://schemas.openxmlformats.org/drawingml/2006/main">
            <a:srgbClr val="F4F6F7"/>
          </a:solidFill>
          <a:ln xmlns:a="http://schemas.openxmlformats.org/drawingml/2006/main" w="9525">
            <a:solidFill>
              <a:srgbClr val="CCD6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ajor"/>
        </p:style>
      </p:sp>
      <p:sp>
        <p:nvSpPr>
          <p:cNvPr id="7" name="Straight Connector 6">
            <a:extLst xmlns:a="http://schemas.openxmlformats.org/drawingml/2006/main">
              <a:ext uri="{FF2B5EF4-FFF2-40B4-BE49-F238E27FC236}">
                <a16:creationId xmlns:a16="http://schemas.microsoft.com/office/drawing/2014/main" id="{0030EC6B-20A7-4736-B6E4-94EEDE31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53340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AFBEC9"/>
          </a:solidFill>
          <a:ln xmlns:a="http://schemas.openxmlformats.org/drawingml/2006/main" w="9525">
            <a:solidFill>
              <a:srgbClr val="AFBEC9"/>
            </a:solidFill>
            <a:prstDash val="solid"/>
          </a:ln>
        </p:spPr>
      </p:sp>
      <p:sp>
        <p:nvSpPr>
          <p:cNvPr id="8" name="Oval 7">
            <a:extLst xmlns:a="http://schemas.openxmlformats.org/drawingml/2006/main">
              <a:ext uri="{FF2B5EF4-FFF2-40B4-BE49-F238E27FC236}">
                <a16:creationId xmlns:a16="http://schemas.microsoft.com/office/drawing/2014/main" id="{1B8A82F9-CDAF-4E31-9981-49CD8E709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717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6A60"/>
          </a:solidFill>
          <a:ln xmlns:a="http://schemas.openxmlformats.org/drawingml/2006/main" w="0">
            <a:noFill/>
          </a:ln>
        </p:spPr>
      </p:sp>
      <p:sp>
        <p:nvSpPr>
          <p:cNvPr id="9" name="Oval 8">
            <a:extLst xmlns:a="http://schemas.openxmlformats.org/drawingml/2006/main">
              <a:ext uri="{FF2B5EF4-FFF2-40B4-BE49-F238E27FC236}">
                <a16:creationId xmlns:a16="http://schemas.microsoft.com/office/drawing/2014/main" id="{99770EFD-4A94-46E8-B826-AD29D5F99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5963" y="22717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BD42"/>
          </a:solidFill>
          <a:ln xmlns:a="http://schemas.openxmlformats.org/drawingml/2006/main" w="0">
            <a:noFill/>
          </a:ln>
        </p:spPr>
      </p:sp>
      <p:sp>
        <p:nvSpPr>
          <p:cNvPr id="10" name="Oval 9">
            <a:extLst xmlns:a="http://schemas.openxmlformats.org/drawingml/2006/main">
              <a:ext uri="{FF2B5EF4-FFF2-40B4-BE49-F238E27FC236}">
                <a16:creationId xmlns:a16="http://schemas.microsoft.com/office/drawing/2014/main" id="{14CA6231-A168-4B82-ADA5-E85AF9523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271713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5C466"/>
          </a:solidFill>
          <a:ln xmlns:a="http://schemas.openxmlformats.org/drawingml/2006/main" w="0">
            <a:noFill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0145F39F-C317-4F46-8ECC-697207F5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28900"/>
            <a:ext cx="30480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ts val="13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1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2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3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4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5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6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7</a:t>
            </a:r>
          </a:p>
          <a:p xmlns:a="http://schemas.openxmlformats.org/drawingml/2006/main">
            <a:pPr algn="r">
              <a:lnSpc>
                <a:spcPts val="1300"/>
              </a:lnSpc>
              <a:buNone/>
              <a:defRPr sz="1050" b="0">
                <a:solidFill>
                  <a:srgbClr val="8792A6"/>
                </a:solidFill>
                <a:latin typeface="Consolas"/>
                <a:ea typeface="Consolas"/>
                <a:cs typeface="Consolas"/>
              </a:defRPr>
            </a:pPr>
            <a:r>
              <a:rPr sz="1050" b="0">
                <a:solidFill>
                  <a:srgbClr val="8792A6"/>
                </a:solidFill>
                <a:latin typeface="Consolas"/>
                <a:ea typeface="Consolas"/>
                <a:cs typeface="Consolas"/>
              </a:rPr>
              <a:t>8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3DC8AB3-D7E4-4FFD-9855-158A755E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628900"/>
            <a:ext cx="4629150" cy="2533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>
              <a:lnSpc>
                <a:spcPts val="1300"/>
              </a:lnSpc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{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"control"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"object-authorization"</a:t>
            </a:r>
            <a:r>
              <a:rPr b="0">
                <a:solidFill>
                  <a:srgbClr val="263044"/>
                </a:solidFill>
              </a:rPr>
              <a:t>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"risk"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"cross-tenant-access"</a:t>
            </a:r>
            <a:r>
              <a:rPr b="0">
                <a:solidFill>
                  <a:srgbClr val="263044"/>
                </a:solidFill>
              </a:rPr>
              <a:t>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"lastEvidence"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"2026-09-20"</a:t>
            </a:r>
            <a:r>
              <a:rPr b="0">
                <a:solidFill>
                  <a:srgbClr val="263044"/>
                </a:solidFill>
              </a:rPr>
              <a:t>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"coveredScenario"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"foreign-record-denied"</a:t>
            </a:r>
            <a:r>
              <a:rPr b="0">
                <a:solidFill>
                  <a:srgbClr val="263044"/>
                </a:solidFill>
              </a:rPr>
              <a:t>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"status"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"effective"</a:t>
            </a:r>
            <a:r>
              <a:rPr b="0">
                <a:solidFill>
                  <a:srgbClr val="263044"/>
                </a:solidFill>
              </a:rPr>
              <a:t>,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  </a:t>
            </a:r>
            <a:r>
              <a:rPr b="0">
                <a:solidFill>
                  <a:srgbClr val="B45309"/>
                </a:solidFill>
              </a:rPr>
              <a:t>"nextReview"</a:t>
            </a:r>
            <a:r>
              <a:rPr b="0">
                <a:solidFill>
                  <a:srgbClr val="263044"/>
                </a:solidFill>
              </a:rPr>
              <a:t>: </a:t>
            </a:r>
            <a:r>
              <a:rPr b="0">
                <a:solidFill>
                  <a:srgbClr val="B45309"/>
                </a:solidFill>
              </a:rPr>
              <a:t>"2026-10-20"</a:t>
            </a:r>
          </a:p>
          <a:p xmlns:a="http://schemas.openxmlformats.org/drawingml/2006/main">
            <a:pPr>
              <a:lnSpc>
                <a:spcPts val="1300"/>
              </a:lnSpc>
              <a:buNone/>
              <a:defRPr sz="1125">
                <a:solidFill>
                  <a:srgbClr val="263044"/>
                </a:solidFill>
                <a:latin typeface="Consolas"/>
                <a:ea typeface="Consolas"/>
                <a:cs typeface="Consolas"/>
              </a:defRPr>
            </a:pPr>
            <a:r>
              <a:rPr b="0">
                <a:solidFill>
                  <a:srgbClr val="263044"/>
                </a:solidFill>
              </a:rPr>
              <a:t>}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D748E95-08A3-459E-A254-2C1D92E0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152650"/>
            <a:ext cx="4591050" cy="1352550"/>
          </a:xfrm>
          <a:prstGeom xmlns:a="http://schemas.openxmlformats.org/drawingml/2006/main" prst="roundRect">
            <a:avLst>
              <a:gd name="adj" fmla="val 9859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0F6ACDB4-4F0C-4245-8B24-B22B4BDB8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764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ДОВОЉНО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1BE02471-1B5D-4E8D-8763-3AED2F51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5241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42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Актер, радња, циљ, исход и разлог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EF367E09-4B06-45BE-9D17-6DE0E787A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33700"/>
            <a:ext cx="42862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Временска ознака и correlation ID повезују траг са остатком тока.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2C05A9F-21E3-4700-B4AF-4D166D1A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67150"/>
            <a:ext cx="4591050" cy="1428750"/>
          </a:xfrm>
          <a:prstGeom xmlns:a="http://schemas.openxmlformats.org/drawingml/2006/main" prst="roundRect">
            <a:avLst>
              <a:gd name="adj" fmla="val 9333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A61DE90F-DAC3-4988-A5BB-FCD3A4099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909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C347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34747"/>
                </a:solidFill>
                <a:latin typeface="Aptos"/>
                <a:ea typeface="Aptos"/>
                <a:cs typeface="Aptos"/>
              </a:rPr>
              <a:t>НЕ ПРИПАДА У ДОКАЗ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558743E7-1775-4CB5-9D10-48BAE939F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38625"/>
            <a:ext cx="4286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3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Лозинка, token, тајна и сувишан садржај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6E714534-3568-4865-AEBA-E1313CB2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648200"/>
            <a:ext cx="4286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Траг не сме да постане нови извор цурења или збирка непотребних података.</a:t>
            </a:r>
          </a:p>
        </p:txBody>
      </p:sp>
    </p:spTree>
    <p:extLst>
      <p:ext uri="{BB962C8B-B14F-4D97-AF65-F5344CB8AC3E}">
        <p14:creationId xmlns:p14="http://schemas.microsoft.com/office/powerpoint/2010/main" val="51715170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3920585-7BF4-468D-A0EF-9DC011C8A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21D903BF-600C-4DEE-8613-2CDD252CD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795C1830-2B9E-44E2-B8DA-50D7B70F1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14B62D2-219C-4996-A56D-BBE70C288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Честе грешке у имплементацији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3CB63EED-F799-4F02-9DCB-35526E9EC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Грешке настају када контекст, место одлуке или доказ остану нејасни.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A05A092D-30CE-45EC-8757-2C13D863D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81250"/>
            <a:ext cx="32575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D80B8CE2-72FE-4430-A126-FA2B9CF52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050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C347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3474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AACA12F-6300-4D17-BEE3-79A9FC75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52725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Закључивање из једног догађаја без ширег контекста.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95AA5D2A-6765-42AE-96D9-86A7D025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38600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Нема јасног власника одлуке.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F3F110E6-E07C-4D90-AF33-239D333F1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7225" y="2381250"/>
            <a:ext cx="32575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D655C83F-EE47-4554-825B-CCEEFC4A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5050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2826500-56EA-4C34-A7E6-B7C7EE233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52725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Аутоматска акција са великом последицом без заштитне провере.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501F9F8D-E45D-46B3-B7C4-903634158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38600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Не постоји негативан сценарио.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A1CFF61A-3F39-4697-B8F2-E4F19C21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3257550" cy="2381250"/>
          </a:xfrm>
          <a:prstGeom xmlns:a="http://schemas.openxmlformats.org/drawingml/2006/main" prst="roundRect">
            <a:avLst>
              <a:gd name="adj" fmla="val 5600"/>
            </a:avLst>
          </a:prstGeom>
          <a:solidFill xmlns:a="http://schemas.openxmlformats.org/drawingml/2006/main">
            <a:srgbClr val="F7F4F5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36C1413E-6F93-47DD-A07E-21EA2BAA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05075"/>
            <a:ext cx="2952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651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88CD7B55-3C96-4622-8AA0-ED2D8B3C4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52725"/>
            <a:ext cx="295275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Оцена контроле само по томе да ли је имплементирана.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F49BD23A-82BF-4B48-94F8-BCF2404E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38600"/>
            <a:ext cx="2952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Доказ не показује стварни исход.</a:t>
            </a:r>
          </a:p>
        </p:txBody>
      </p:sp>
    </p:spTree>
    <p:extLst>
      <p:ext uri="{BB962C8B-B14F-4D97-AF65-F5344CB8AC3E}">
        <p14:creationId xmlns:p14="http://schemas.microsoft.com/office/powerpoint/2010/main" val="158537326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D20BC047-E7A2-4554-AD7E-7240083E2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DAAD7E9C-E1D1-4EF7-93E8-4E9B3E9E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640B23D-28D6-4522-89AE-259DF9AC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6B8CFC3-5DFC-4517-91CB-A93F5635F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Процена ефективности контроле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B8A4634-E91D-4F16-8056-46134A28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Процена користи актуелан доказ, покривеност релевантних сценарија и позната ограничења.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5AC0205-C54E-441E-8BD2-F5026520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52650"/>
            <a:ext cx="4476750" cy="2504410"/>
          </a:xfrm>
          <a:prstGeom xmlns:a="http://schemas.openxmlformats.org/drawingml/2006/main" prst="roundRect">
            <a:avLst>
              <a:gd name="adj" fmla="val 4294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29253718-4AB0-4F7B-AF1A-B1B716751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76475"/>
            <a:ext cx="4171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ОБРАЗЛОЖЕЊЕ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97B2CE3-9967-481B-8A32-9AAB69830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24125"/>
            <a:ext cx="41719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65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ЕФЕКТИВНОСТ КОНТРОЛЕ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40E1748-FDE0-4995-8FE6-28DA59D1E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43250"/>
            <a:ext cx="4171950" cy="2009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Контрола може бити имплементирана, али погрешно подешена, заобиђена новим током или застарела после промене система. Зато се њена ефективност процењује кроз доказ: последњи успешан тест, покривени сценарио, власника и способност да се проблем примети ако контрола закаже.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29810676-1500-45BC-A2B7-BEF7F374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52650"/>
            <a:ext cx="5734050" cy="828675"/>
          </a:xfrm>
          <a:prstGeom xmlns:a="http://schemas.openxmlformats.org/drawingml/2006/main" prst="roundRect">
            <a:avLst>
              <a:gd name="adj" fmla="val 16092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C67E66B3-E4EB-4B4F-B916-CD4ADFE33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276475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C18C0004-A21C-47CB-9B11-8A400BE9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52412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Доказ се освежава када се промени релевантан ток, улога или граница поверења.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55805E3-F762-4DB0-B598-8B519D4A5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152775"/>
            <a:ext cx="5734050" cy="828675"/>
          </a:xfrm>
          <a:prstGeom xmlns:a="http://schemas.openxmlformats.org/drawingml/2006/main" prst="roundRect">
            <a:avLst>
              <a:gd name="adj" fmla="val 16092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4" name="Rectangle 13">
            <a:extLst xmlns:a="http://schemas.openxmlformats.org/drawingml/2006/main">
              <a:ext uri="{FF2B5EF4-FFF2-40B4-BE49-F238E27FC236}">
                <a16:creationId xmlns:a16="http://schemas.microsoft.com/office/drawing/2014/main" id="{BD796B9D-57B7-4329-A35B-50966C48A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276600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C182810C-235F-4D8D-A562-01AAC0B2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524250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Мера ефективности јасно приказује области за које нема довољно доказа.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D05F7CC4-DD77-4120-AF61-65FE50B4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4152900"/>
            <a:ext cx="5734050" cy="828675"/>
          </a:xfrm>
          <a:prstGeom xmlns:a="http://schemas.openxmlformats.org/drawingml/2006/main" prst="roundRect">
            <a:avLst>
              <a:gd name="adj" fmla="val 16092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F2D4FD0-CCBD-45F3-A45E-EE78D4139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276725"/>
            <a:ext cx="5429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B86A09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86A0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806ACCAF-577C-4AA4-8E1F-C31159456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524375"/>
            <a:ext cx="5429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275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Квалитетна анализа повезује ризик, контролу, тест и преостало ограничење у једну јасну причу.</a:t>
            </a:r>
          </a:p>
        </p:txBody>
      </p:sp>
    </p:spTree>
    <p:extLst>
      <p:ext uri="{BB962C8B-B14F-4D97-AF65-F5344CB8AC3E}">
        <p14:creationId xmlns:p14="http://schemas.microsoft.com/office/powerpoint/2010/main" val="510068157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7A1051-10B2-4402-B13B-38D01F3F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E95A4CEF-64E3-416C-9D1E-0C8B2909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950F4C75-A70A-4928-9C39-29077DD16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392D655-1825-4F23-81F6-9F7921091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Примена на пројекат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4BBCFF0A-5007-49A0-A598-55AD24AB2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Анализа једног сценарија обухвата одлуку, имплементацију, тест одбијања и доказ.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6F47B702-CE2A-4ABD-962C-4977CA53D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4336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1DCA7CC-88C5-4F11-AB26-20E52B04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514600"/>
            <a:ext cx="21478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51716478-3361-4334-BE4C-6E85BD7D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0350"/>
            <a:ext cx="21669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Избор сценарија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32602D1F-745F-4347-B397-8DE7F5D9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190875"/>
            <a:ext cx="21478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једна стварна радња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AF50C05A-2E2A-4E79-8DF8-20A7201D4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488" y="2400300"/>
            <a:ext cx="24336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A5264AA2-9C88-4EE6-9C42-470E87E75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2514600"/>
            <a:ext cx="21478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4D831EA2-E280-430D-9A1B-6350B10E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38" y="2800350"/>
            <a:ext cx="21669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Дефинисање правила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A717954-27C5-4903-98BE-B09E773D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190875"/>
            <a:ext cx="21478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улази и граница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3335B7E8-CDCA-4DA0-AF39-3E744098C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400300"/>
            <a:ext cx="24336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8595EFF0-FB9A-4F8A-8176-B3749D78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21478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C3474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C3474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BEEEC7EA-20CC-4B0C-B694-15A42325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800350"/>
            <a:ext cx="21669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Тест одбијања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3816261D-58C8-4FC3-B1D9-61A591F7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90875"/>
            <a:ext cx="21478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једна чињеница недостаје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8AA2D17E-586C-4EDC-882C-24291AE6D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8263" y="2400300"/>
            <a:ext cx="24336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05E471B-1FDC-4730-81AA-097E3C698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2514600"/>
            <a:ext cx="21478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D09198CD-73C5-4F6E-95E7-9DBDFDF09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1613" y="2800350"/>
            <a:ext cx="21669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Ревизиони запис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D54FED62-2896-4BA3-B9BB-E9093380B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138" y="3190875"/>
            <a:ext cx="21478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исход и разлог</a:t>
            </a:r>
          </a:p>
        </p:txBody>
      </p:sp>
      <p:cxnSp>
        <p:nvCxnSpPr>
          <p:cNvPr id="221" name="Straight Arrow Connector 124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233738" y="30289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2" name="Straight Arrow Connector 125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6" y="3028950"/>
            <a:ext cx="285749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3" name="Straight Arrow Connector 126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672513" y="30289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F0A1D6E1-1387-4EEF-82FA-B34CE2D0E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305300"/>
            <a:ext cx="8953500" cy="914400"/>
          </a:xfrm>
          <a:prstGeom xmlns:a="http://schemas.openxmlformats.org/drawingml/2006/main" prst="roundRect">
            <a:avLst>
              <a:gd name="adj" fmla="val 13542"/>
            </a:avLst>
          </a:prstGeom>
          <a:solidFill xmlns:a="http://schemas.openxmlformats.org/drawingml/2006/main">
            <a:srgbClr val="FFF6E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C312FA73-6670-4FA7-B9E0-FEBFAE064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448175"/>
            <a:ext cx="571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6" name="Rounded Rectangle 75">
            <a:extLst xmlns:a="http://schemas.openxmlformats.org/drawingml/2006/main">
              <a:ext uri="{FF2B5EF4-FFF2-40B4-BE49-F238E27FC236}">
                <a16:creationId xmlns:a16="http://schemas.microsoft.com/office/drawing/2014/main" id="{22D44297-A815-4DAD-ADDC-0E45AF07C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0363200" cy="990600"/>
          </a:xfrm>
          <a:prstGeom xmlns:a="http://schemas.openxmlformats.org/drawingml/2006/main" prst="roundRect">
            <a:avLst>
              <a:gd name="adj" fmla="val 13462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AF06A24D-33D0-4E16-8009-1A9D6E39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19600"/>
            <a:ext cx="571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8" name="Rectangle 77">
            <a:extLst xmlns:a="http://schemas.openxmlformats.org/drawingml/2006/main">
              <a:ext uri="{FF2B5EF4-FFF2-40B4-BE49-F238E27FC236}">
                <a16:creationId xmlns:a16="http://schemas.microsoft.com/office/drawing/2014/main" id="{D0512735-F910-4972-A76B-90AACA10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37197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ПРИМЕНА НА ПРОЈЕКАТ</a:t>
            </a: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55D655B6-7EEE-425A-9121-3E0194FE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00575"/>
            <a:ext cx="9639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13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13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Пројектна примена теме „Корелација догађаја, ефективност контрола и учење“ обухвата једну серверску одлуку, тест одбијања и доказ који други члан тима може да понови.</a:t>
            </a:r>
          </a:p>
        </p:txBody>
      </p:sp>
    </p:spTree>
    <p:extLst>
      <p:ext uri="{BB962C8B-B14F-4D97-AF65-F5344CB8AC3E}">
        <p14:creationId xmlns:p14="http://schemas.microsoft.com/office/powerpoint/2010/main" val="157754809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FA887AF8-4FBC-4561-9CBE-9F79C52F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38125"/>
            <a:ext cx="3429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8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E6B7D"/>
                </a:solidFill>
                <a:latin typeface="Aptos"/>
                <a:ea typeface="Aptos"/>
                <a:cs typeface="Aptos"/>
              </a:rPr>
              <a:t>Основе информационе безбедности</a:t>
            </a:r>
          </a:p>
        </p:txBody>
      </p:sp>
      <p:sp>
        <p:nvSpPr>
          <p:cNvPr id="2" name="Straight Connector 1">
            <a:extLst xmlns:a="http://schemas.openxmlformats.org/drawingml/2006/main">
              <a:ext uri="{FF2B5EF4-FFF2-40B4-BE49-F238E27FC236}">
                <a16:creationId xmlns:a16="http://schemas.microsoft.com/office/drawing/2014/main" id="{E6B50E23-E805-42FC-86F8-B907A9B5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76250"/>
            <a:ext cx="1120140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8D5560"/>
          </a:solidFill>
          <a:ln xmlns:a="http://schemas.openxmlformats.org/drawingml/2006/main" w="7144">
            <a:solidFill>
              <a:srgbClr val="8D5560"/>
            </a:solidFill>
            <a:prstDash val="solid"/>
          </a:ln>
        </p:spPr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ED02FE1-DE58-4F8F-B81E-42871C676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6477000"/>
            <a:ext cx="323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2000"/>
              </a:lnSpc>
              <a:buNone/>
              <a:defRPr sz="975" b="0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A202C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51E444C-D5F9-482B-945E-F0B4A4B5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A202C"/>
                </a:solidFill>
                <a:latin typeface="Aptos Display"/>
                <a:ea typeface="Aptos Display"/>
                <a:cs typeface="Aptos Display"/>
              </a:rPr>
              <a:t>Провера разумевања</a:t>
            </a: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6F97B933-B552-45C2-8DBA-A3AA94C90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57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Разумевање теме подразумева објашњење одлуке и доказа независно од конкретног технолошког оквира.</a:t>
            </a:r>
          </a:p>
        </p:txBody>
      </p:sp>
      <p:sp>
        <p:nvSpPr>
          <p:cNvPr id="6" name="Rounded Rectangle 5">
            <a:extLst xmlns:a="http://schemas.openxmlformats.org/drawingml/2006/main">
              <a:ext uri="{FF2B5EF4-FFF2-40B4-BE49-F238E27FC236}">
                <a16:creationId xmlns:a16="http://schemas.microsoft.com/office/drawing/2014/main" id="{4BF5E427-C321-4399-8FE0-5916EA9B2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8600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4F6F9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Rectangle 6">
            <a:extLst xmlns:a="http://schemas.openxmlformats.org/drawingml/2006/main">
              <a:ext uri="{FF2B5EF4-FFF2-40B4-BE49-F238E27FC236}">
                <a16:creationId xmlns:a16="http://schemas.microsoft.com/office/drawing/2014/main" id="{7F9A62F6-C533-407F-9D7E-D115F46C4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240030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74809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809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C31203DE-5D77-4EB9-925B-BEA907319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Догађаји</a:t>
            </a:r>
          </a:p>
        </p:txBody>
      </p:sp>
      <p:sp>
        <p:nvSpPr>
          <p:cNvPr id="9" name="Rectangle 8">
            <a:extLst xmlns:a="http://schemas.openxmlformats.org/drawingml/2006/main">
              <a:ext uri="{FF2B5EF4-FFF2-40B4-BE49-F238E27FC236}">
                <a16:creationId xmlns:a16="http://schemas.microsoft.com/office/drawing/2014/main" id="{030415FA-F34D-4B0F-BD57-7D21AB304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" y="307657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појединачни трагови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B21247F2-1BBA-438D-AF30-38A53AEA2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1388" y="228600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A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Rectangle 10">
            <a:extLst xmlns:a="http://schemas.openxmlformats.org/drawingml/2006/main">
              <a:ext uri="{FF2B5EF4-FFF2-40B4-BE49-F238E27FC236}">
                <a16:creationId xmlns:a16="http://schemas.microsoft.com/office/drawing/2014/main" id="{E8284748-F374-41C1-BE32-40AD5F75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240030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6849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6849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E6B43A0C-B843-4DCF-B360-043CAE65D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4738" y="268605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Корелација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490D33ED-4405-4B3E-B659-B4AC703B6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4263" y="307657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заједнички контекст</a:t>
            </a:r>
          </a:p>
        </p:txBody>
      </p:sp>
      <p:sp>
        <p:nvSpPr>
          <p:cNvPr id="14" name="Rounded Rectangle 13">
            <a:extLst xmlns:a="http://schemas.openxmlformats.org/drawingml/2006/main">
              <a:ext uri="{FF2B5EF4-FFF2-40B4-BE49-F238E27FC236}">
                <a16:creationId xmlns:a16="http://schemas.microsoft.com/office/drawing/2014/main" id="{E651D96E-FFE7-4055-96E5-0A367AD33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8600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Rectangle 14">
            <a:extLst xmlns:a="http://schemas.openxmlformats.org/drawingml/2006/main">
              <a:ext uri="{FF2B5EF4-FFF2-40B4-BE49-F238E27FC236}">
                <a16:creationId xmlns:a16="http://schemas.microsoft.com/office/drawing/2014/main" id="{782972D3-90EF-4105-B2D1-1ABA4017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2F5EF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180D50E4-1D3B-40F9-994E-C0A40FAF2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268605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Контрола</a:t>
            </a: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06C03405-5CDE-4B40-8438-E083CCE3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7657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смањује одређени ризик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3CA1488-0F03-421F-A0F0-FBB41896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6363" y="2286000"/>
            <a:ext cx="2471738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EDF8F2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34B81D4D-5623-4FAB-AEA7-8022E3C6B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2400300"/>
            <a:ext cx="2185988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rmAutofit fontScale="970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975" b="1">
                <a:solidFill>
                  <a:srgbClr val="138A5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38A5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01FC80B9-D9B8-4C21-ACF7-02A3CA4B6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9713" y="2686050"/>
            <a:ext cx="220503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500" b="1">
                <a:solidFill>
                  <a:srgbClr val="1A202C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A202C"/>
                </a:solidFill>
                <a:latin typeface="Aptos"/>
                <a:ea typeface="Aptos"/>
                <a:cs typeface="Aptos"/>
              </a:rPr>
              <a:t>Доказ и учење</a:t>
            </a:r>
          </a:p>
        </p:txBody>
      </p:sp>
      <p:sp>
        <p:nvSpPr>
          <p:cNvPr id="21" name="Rectangle 20">
            <a:extLst xmlns:a="http://schemas.openxmlformats.org/drawingml/2006/main">
              <a:ext uri="{FF2B5EF4-FFF2-40B4-BE49-F238E27FC236}">
                <a16:creationId xmlns:a16="http://schemas.microsoft.com/office/drawing/2014/main" id="{FAE19542-21BD-4866-9EEB-3EDE4308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9238" y="3076575"/>
            <a:ext cx="2185988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2000"/>
              </a:lnSpc>
              <a:buNone/>
              <a:defRPr sz="1125" b="0">
                <a:solidFill>
                  <a:srgbClr val="657184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57184"/>
                </a:solidFill>
                <a:latin typeface="Aptos"/>
                <a:ea typeface="Aptos"/>
                <a:cs typeface="Aptos"/>
              </a:rPr>
              <a:t>мери и побољшава</a:t>
            </a:r>
          </a:p>
        </p:txBody>
      </p:sp>
      <p:cxnSp>
        <p:nvCxnSpPr>
          <p:cNvPr id="223" name="Straight Arrow Connector 126"/>
          <p:cNvCxnSpPr>
            <a:stCxn xmlns:a="http://schemas.openxmlformats.org/drawingml/2006/main" id="6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3195638" y="2914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4" name="Straight Arrow Connector 127"/>
          <p:cNvCxnSpPr>
            <a:stCxn xmlns:a="http://schemas.openxmlformats.org/drawingml/2006/main" id="10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953126" y="2914650"/>
            <a:ext cx="285749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cxnSp>
        <p:nvCxnSpPr>
          <p:cNvPr id="225" name="Straight Arrow Connector 128"/>
          <p:cNvCxnSpPr>
            <a:stCxn xmlns:a="http://schemas.openxmlformats.org/drawingml/2006/main" id="14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8710613" y="2914650"/>
            <a:ext cx="285750" cy="0"/>
          </a:xfrm>
          <a:prstGeom xmlns:a="http://schemas.openxmlformats.org/drawingml/2006/main" prst="straightConnector1">
            <a:avLst/>
          </a:prstGeom>
          <a:ln xmlns:a="http://schemas.openxmlformats.org/drawingml/2006/main" w="13335">
            <a:solidFill>
              <a:srgbClr val="748092"/>
            </a:solidFill>
            <a:prstDash val="solid"/>
            <a:tailEnd type="arrow" w="sm" len="sm"/>
          </a:ln>
        </p:spPr>
      </p:cxn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21B677F3-1D71-45B9-88DC-25BBA9EC9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14800"/>
            <a:ext cx="9334500" cy="895350"/>
          </a:xfrm>
          <a:prstGeom xmlns:a="http://schemas.openxmlformats.org/drawingml/2006/main" prst="roundRect">
            <a:avLst>
              <a:gd name="adj" fmla="val 13830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0B46EA28-991C-47D5-A714-5B23EF5FD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4257675"/>
            <a:ext cx="57150" cy="6096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7" name="Rounded Rectangle 76">
            <a:extLst xmlns:a="http://schemas.openxmlformats.org/drawingml/2006/main">
              <a:ext uri="{FF2B5EF4-FFF2-40B4-BE49-F238E27FC236}">
                <a16:creationId xmlns:a16="http://schemas.microsoft.com/office/drawing/2014/main" id="{5CA03E1C-9CC3-4B19-A25A-3EABC1AD7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0363200" cy="1177997"/>
          </a:xfrm>
          <a:prstGeom xmlns:a="http://schemas.openxmlformats.org/drawingml/2006/main" prst="roundRect">
            <a:avLst>
              <a:gd name="adj" fmla="val 8046"/>
            </a:avLst>
          </a:prstGeom>
          <a:solidFill xmlns:a="http://schemas.openxmlformats.org/drawingml/2006/main">
            <a:srgbClr val="F7EFF1"/>
          </a:solidFill>
          <a:ln xmlns:a="http://schemas.openxmlformats.org/drawingml/2006/main" w="8573">
            <a:solidFill>
              <a:srgbClr val="DBC7CC"/>
            </a:solidFill>
            <a:prstDash val="solid"/>
          </a:ln>
        </p:spPr>
      </p:sp>
      <p:sp>
        <p:nvSpPr>
          <p:cNvPr id="78" name="Rounded Rectangle 77">
            <a:extLst xmlns:a="http://schemas.openxmlformats.org/drawingml/2006/main">
              <a:ext uri="{FF2B5EF4-FFF2-40B4-BE49-F238E27FC236}">
                <a16:creationId xmlns:a16="http://schemas.microsoft.com/office/drawing/2014/main" id="{CBC929A9-7544-4A42-B234-D9F86BC53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248150"/>
            <a:ext cx="49507" cy="876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2636"/>
          </a:solidFill>
          <a:ln xmlns:a="http://schemas.openxmlformats.org/drawingml/2006/main" w="0">
            <a:noFill/>
          </a:ln>
        </p:spPr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E14D399B-409A-4602-9A34-181C5BB16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200525"/>
            <a:ext cx="9639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013" b="1">
                <a:solidFill>
                  <a:srgbClr val="2854D7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A2636"/>
                </a:solidFill>
                <a:latin typeface="Aptos"/>
                <a:ea typeface="Aptos"/>
                <a:cs typeface="Aptos"/>
              </a:rPr>
              <a:t>ПИТАЊЕ ЗА ПРОВЕРУ</a:t>
            </a:r>
          </a:p>
        </p:txBody>
      </p:sp>
      <p:sp>
        <p:nvSpPr>
          <p:cNvPr id="80" name="Rectangle 79">
            <a:extLst xmlns:a="http://schemas.openxmlformats.org/drawingml/2006/main">
              <a:ext uri="{FF2B5EF4-FFF2-40B4-BE49-F238E27FC236}">
                <a16:creationId xmlns:a16="http://schemas.microsoft.com/office/drawing/2014/main" id="{A4632307-4A20-43FA-B9ED-AAA6B68B0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29125"/>
            <a:ext cx="96393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88" b="1">
                <a:solidFill>
                  <a:srgbClr val="1B2432"/>
                </a:solidFill>
                <a:latin typeface="Aptos"/>
                <a:ea typeface="Aptos"/>
                <a:cs typeface="Aptos"/>
              </a:defRPr>
            </a:pPr>
            <a:r>
              <a:rPr sz="1388" b="1">
                <a:solidFill>
                  <a:srgbClr val="1B2432"/>
                </a:solidFill>
                <a:latin typeface="Aptos"/>
                <a:ea typeface="Aptos"/>
                <a:cs typeface="Aptos"/>
              </a:rPr>
              <a:t>Који ризик контрола ублажава, који доказ чува и који сигнал показује да је престала да ради?</a:t>
            </a:r>
          </a:p>
        </p:txBody>
      </p:sp>
      <p:sp>
        <p:nvSpPr>
          <p:cNvPr id="81" name="Rectangle 80">
            <a:extLst xmlns:a="http://schemas.openxmlformats.org/drawingml/2006/main">
              <a:ext uri="{FF2B5EF4-FFF2-40B4-BE49-F238E27FC236}">
                <a16:creationId xmlns:a16="http://schemas.microsoft.com/office/drawing/2014/main" id="{0B2EAC90-D3A5-4244-9E10-41F6E957E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093" y="4838700"/>
            <a:ext cx="963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75" b="0">
                <a:solidFill>
                  <a:srgbClr val="52637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2637B"/>
                </a:solidFill>
                <a:latin typeface="Aptos"/>
                <a:ea typeface="Aptos"/>
                <a:cs typeface="Aptos"/>
              </a:rPr>
              <a:t>Пројектна примена: применити исти модел на једну реалну границу у сопственом пројекту.</a:t>
            </a:r>
          </a:p>
        </p:txBody>
      </p:sp>
    </p:spTree>
    <p:extLst>
      <p:ext uri="{BB962C8B-B14F-4D97-AF65-F5344CB8AC3E}">
        <p14:creationId xmlns:p14="http://schemas.microsoft.com/office/powerpoint/2010/main" val="27652726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8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2026-09-29T19:08:42.8690000Z</dcterms:created>
  <dcterms:modified xsi:type="dcterms:W3CDTF">2026-09-29T19:08:42.8690000Z</dcterms:modified>
</coreProperties>
</file>