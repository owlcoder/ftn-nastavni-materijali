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Извор: oibThematicExercises.ts и oibThematicPresentations.ts.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82FFEB4-0DA1-442F-8307-A10D1A023186}"/>
              </a:ext>
            </a:extLst>
          </p:cNvPr>
          <p:cNvSpPr>
            <a:spLocks noGrp="1"/>
          </p:cNvSpPr>
          <p:nvPr/>
        </p:nvSpPr>
        <p:spPr>
          <a:xfrm>
            <a:off x="914400" y="590550"/>
            <a:ext cx="7810500" cy="228600"/>
          </a:xfrm>
          <a:prstGeom prst="rect">
            <a:avLst/>
          </a:prstGeom>
          <a:noFill/>
          <a:ln w="0">
            <a:noFill/>
          </a:ln>
        </p:spPr>
        <p:txBody>
          <a:bodyPr wrap="square" lIns="0" tIns="0" rIns="0" bIns="0" anchor="t">
            <a:normAutofit/>
          </a:bodyPr>
          <a:lstStyle/>
          <a:p>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307FF414-C477-49DA-BF85-E300E2AE14A7}"/>
              </a:ext>
            </a:extLst>
          </p:cNvPr>
          <p:cNvSpPr>
            <a:spLocks noGrp="1"/>
          </p:cNvSpPr>
          <p:nvPr/>
        </p:nvSpPr>
        <p:spPr>
          <a:xfrm>
            <a:off x="914400" y="1009650"/>
            <a:ext cx="10363200" cy="9525"/>
          </a:xfrm>
          <a:prstGeom prst="line">
            <a:avLst/>
          </a:prstGeom>
          <a:noFill/>
          <a:ln w="8573">
            <a:solidFill>
              <a:srgbClr val="7F8B9B"/>
            </a:solidFill>
            <a:prstDash val="solid"/>
          </a:ln>
        </p:spPr>
      </p:sp>
      <p:sp>
        <p:nvSpPr>
          <p:cNvPr id="3" name="Rounded Rectangle 2">
            <a:extLst>
              <a:ext uri="{FF2B5EF4-FFF2-40B4-BE49-F238E27FC236}">
                <a16:creationId xmlns:a16="http://schemas.microsoft.com/office/drawing/2014/main" id="{E95D7C6A-BB54-46E0-BAF2-7E7BBB4583C1}"/>
              </a:ext>
            </a:extLst>
          </p:cNvPr>
          <p:cNvSpPr>
            <a:spLocks noGrp="1"/>
          </p:cNvSpPr>
          <p:nvPr/>
        </p:nvSpPr>
        <p:spPr>
          <a:xfrm>
            <a:off x="914400" y="1438275"/>
            <a:ext cx="647700" cy="66675"/>
          </a:xfrm>
          <a:prstGeom prst="roundRect">
            <a:avLst>
              <a:gd name="adj" fmla="val 50000"/>
            </a:avLst>
          </a:prstGeom>
          <a:solidFill>
            <a:srgbClr val="315CF4"/>
          </a:solidFill>
          <a:ln w="0">
            <a:noFill/>
          </a:ln>
        </p:spPr>
      </p:sp>
      <p:sp>
        <p:nvSpPr>
          <p:cNvPr id="4" name="Rectangle 3">
            <a:extLst>
              <a:ext uri="{FF2B5EF4-FFF2-40B4-BE49-F238E27FC236}">
                <a16:creationId xmlns:a16="http://schemas.microsoft.com/office/drawing/2014/main" id="{068DB570-79A1-4C2A-AB57-F3A339535717}"/>
              </a:ext>
            </a:extLst>
          </p:cNvPr>
          <p:cNvSpPr>
            <a:spLocks noGrp="1"/>
          </p:cNvSpPr>
          <p:nvPr/>
        </p:nvSpPr>
        <p:spPr>
          <a:xfrm>
            <a:off x="914400" y="1771650"/>
            <a:ext cx="10363200" cy="1562100"/>
          </a:xfrm>
          <a:prstGeom prst="rect">
            <a:avLst/>
          </a:prstGeom>
          <a:noFill/>
          <a:ln w="0">
            <a:noFill/>
          </a:ln>
        </p:spPr>
        <p:txBody>
          <a:bodyPr wrap="square" lIns="0" tIns="0" rIns="0" bIns="0" anchor="ctr">
            <a:normAutofit/>
          </a:bodyPr>
          <a:lstStyle/>
          <a:p>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MFA, сесије, сервиси и тајне</a:t>
            </a:r>
          </a:p>
        </p:txBody>
      </p:sp>
      <p:sp>
        <p:nvSpPr>
          <p:cNvPr id="5" name="Rectangle 4">
            <a:extLst>
              <a:ext uri="{FF2B5EF4-FFF2-40B4-BE49-F238E27FC236}">
                <a16:creationId xmlns:a16="http://schemas.microsoft.com/office/drawing/2014/main" id="{F005D106-CE27-46FB-98C9-6BA428B6977C}"/>
              </a:ext>
            </a:extLst>
          </p:cNvPr>
          <p:cNvSpPr>
            <a:spLocks noGrp="1"/>
          </p:cNvSpPr>
          <p:nvPr/>
        </p:nvSpPr>
        <p:spPr>
          <a:xfrm>
            <a:off x="933450" y="3600450"/>
            <a:ext cx="9620250" cy="723900"/>
          </a:xfrm>
          <a:prstGeom prst="rect">
            <a:avLst/>
          </a:prstGeom>
          <a:noFill/>
          <a:ln w="0">
            <a:noFill/>
          </a:ln>
        </p:spPr>
        <p:txBody>
          <a:bodyPr wrap="square" lIns="0" tIns="0" rIns="0" bIns="0" anchor="ctr">
            <a:normAutofit/>
          </a:bodyPr>
          <a:lstStyle/>
          <a:p>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Контрола приступа кроз време, контекст и животни циклус</a:t>
            </a:r>
          </a:p>
        </p:txBody>
      </p:sp>
      <p:sp>
        <p:nvSpPr>
          <p:cNvPr id="6" name="Straight Connector 5">
            <a:extLst>
              <a:ext uri="{FF2B5EF4-FFF2-40B4-BE49-F238E27FC236}">
                <a16:creationId xmlns:a16="http://schemas.microsoft.com/office/drawing/2014/main" id="{5CDB1E20-D85A-47BE-A43C-2FEBA2866CCF}"/>
              </a:ext>
            </a:extLst>
          </p:cNvPr>
          <p:cNvSpPr>
            <a:spLocks noGrp="1"/>
          </p:cNvSpPr>
          <p:nvPr/>
        </p:nvSpPr>
        <p:spPr>
          <a:xfrm>
            <a:off x="914400" y="5286375"/>
            <a:ext cx="10363200" cy="9525"/>
          </a:xfrm>
          <a:prstGeom prst="line">
            <a:avLst/>
          </a:prstGeom>
          <a:noFill/>
          <a:ln w="9525">
            <a:solidFill>
              <a:srgbClr val="CBD5E1"/>
            </a:solidFill>
            <a:prstDash val="solid"/>
          </a:ln>
        </p:spPr>
      </p:sp>
      <p:sp>
        <p:nvSpPr>
          <p:cNvPr id="7" name="Rectangle 6">
            <a:extLst>
              <a:ext uri="{FF2B5EF4-FFF2-40B4-BE49-F238E27FC236}">
                <a16:creationId xmlns:a16="http://schemas.microsoft.com/office/drawing/2014/main" id="{9A62416F-6C92-4260-A3AC-A2EAC7782872}"/>
              </a:ext>
            </a:extLst>
          </p:cNvPr>
          <p:cNvSpPr>
            <a:spLocks noGrp="1"/>
          </p:cNvSpPr>
          <p:nvPr/>
        </p:nvSpPr>
        <p:spPr>
          <a:xfrm>
            <a:off x="914400" y="5581650"/>
            <a:ext cx="4000500" cy="247650"/>
          </a:xfrm>
          <a:prstGeom prst="rect">
            <a:avLst/>
          </a:prstGeom>
          <a:noFill/>
          <a:ln w="0">
            <a:noFill/>
          </a:ln>
        </p:spPr>
        <p:txBody>
          <a:bodyPr wrap="square" lIns="0" tIns="0" rIns="0" bIns="0" anchor="t">
            <a:normAutofit/>
          </a:bodyPr>
          <a:lstStyle/>
          <a:p>
            <a:pPr algn="l">
              <a:lnSpc>
                <a:spcPct val="100000"/>
              </a:lnSpc>
              <a:buNone/>
              <a:defRPr sz="1200" b="1">
                <a:solidFill>
                  <a:srgbClr val="1A202C"/>
                </a:solidFill>
                <a:latin typeface="Aptos"/>
                <a:ea typeface="Aptos"/>
                <a:cs typeface="Aptos"/>
              </a:defRPr>
            </a:pPr>
            <a:r>
              <a:rPr sz="1200" b="1">
                <a:solidFill>
                  <a:srgbClr val="1A202C"/>
                </a:solidFill>
                <a:latin typeface="Aptos"/>
                <a:ea typeface="Aptos"/>
                <a:cs typeface="Aptos"/>
              </a:rPr>
              <a:t>ОИБ · 5. семестар</a:t>
            </a:r>
          </a:p>
        </p:txBody>
      </p:sp>
      <p:sp>
        <p:nvSpPr>
          <p:cNvPr id="8" name="Rectangle 7">
            <a:extLst>
              <a:ext uri="{FF2B5EF4-FFF2-40B4-BE49-F238E27FC236}">
                <a16:creationId xmlns:a16="http://schemas.microsoft.com/office/drawing/2014/main" id="{B6B532CC-9DEF-414C-B26F-DE1B3B5060E1}"/>
              </a:ext>
            </a:extLst>
          </p:cNvPr>
          <p:cNvSpPr>
            <a:spLocks noGrp="1"/>
          </p:cNvSpPr>
          <p:nvPr/>
        </p:nvSpPr>
        <p:spPr>
          <a:xfrm>
            <a:off x="8096250" y="5581650"/>
            <a:ext cx="3181350" cy="247650"/>
          </a:xfrm>
          <a:prstGeom prst="rect">
            <a:avLst/>
          </a:prstGeom>
          <a:noFill/>
          <a:ln w="0">
            <a:noFill/>
          </a:ln>
        </p:spPr>
        <p:txBody>
          <a:bodyPr wrap="square" lIns="0" tIns="0" rIns="0" bIns="0" anchor="t">
            <a:normAutofit/>
          </a:bodyPr>
          <a:lstStyle/>
          <a:p>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13753001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79607E6C-7F2F-4379-8F1F-1D24ABF0EB74}"/>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387EB4AD-501D-4BB5-B7FB-B47C9C193DF0}"/>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E793F233-9176-48A8-BE91-738349663DA2}"/>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a:ext uri="{FF2B5EF4-FFF2-40B4-BE49-F238E27FC236}">
                <a16:creationId xmlns:a16="http://schemas.microsoft.com/office/drawing/2014/main" id="{2B4F9907-5CB9-4216-868B-D545796A0476}"/>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Проблем који решавамо</a:t>
            </a:r>
          </a:p>
        </p:txBody>
      </p:sp>
      <p:sp>
        <p:nvSpPr>
          <p:cNvPr id="5" name="Rectangle 4">
            <a:extLst>
              <a:ext uri="{FF2B5EF4-FFF2-40B4-BE49-F238E27FC236}">
                <a16:creationId xmlns:a16="http://schemas.microsoft.com/office/drawing/2014/main" id="{67829924-B510-424B-AE4C-61F9CBE360F8}"/>
              </a:ext>
            </a:extLst>
          </p:cNvPr>
          <p:cNvSpPr>
            <a:spLocks noGrp="1"/>
          </p:cNvSpPr>
          <p:nvPr/>
        </p:nvSpPr>
        <p:spPr>
          <a:xfrm>
            <a:off x="685800" y="1428750"/>
            <a:ext cx="10820400" cy="457200"/>
          </a:xfrm>
          <a:prstGeom prst="rect">
            <a:avLst/>
          </a:prstGeom>
          <a:noFill/>
          <a:ln w="0">
            <a:noFill/>
          </a:ln>
        </p:spPr>
        <p:txBody>
          <a:bodyPr wrap="square" lIns="0" tIns="0" rIns="0" bIns="0" anchor="t">
            <a:normAutofit fontScale="93371"/>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Идентитет није трајно доказан једном пријавом. Ризик радње, трајање сесије, врста уређаја и промена привилегија утичу на то колико је додатна потврда потребна. Оперативна безбедност зато прати приступ и након почетне аутентикације.</a:t>
            </a:r>
          </a:p>
        </p:txBody>
      </p:sp>
      <p:sp>
        <p:nvSpPr>
          <p:cNvPr id="6" name="Rounded Rectangle 5">
            <a:extLst>
              <a:ext uri="{FF2B5EF4-FFF2-40B4-BE49-F238E27FC236}">
                <a16:creationId xmlns:a16="http://schemas.microsoft.com/office/drawing/2014/main" id="{5880703B-8615-4D8F-BF29-0771741D1198}"/>
              </a:ext>
            </a:extLst>
          </p:cNvPr>
          <p:cNvSpPr>
            <a:spLocks noGrp="1"/>
          </p:cNvSpPr>
          <p:nvPr/>
        </p:nvSpPr>
        <p:spPr>
          <a:xfrm>
            <a:off x="819150" y="2571750"/>
            <a:ext cx="3257550" cy="2228850"/>
          </a:xfrm>
          <a:prstGeom prst="roundRect">
            <a:avLst>
              <a:gd name="adj" fmla="val 5983"/>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D96EB243-FFFA-4739-AC4E-248A0689DC10}"/>
              </a:ext>
            </a:extLst>
          </p:cNvPr>
          <p:cNvSpPr>
            <a:spLocks noGrp="1"/>
          </p:cNvSpPr>
          <p:nvPr/>
        </p:nvSpPr>
        <p:spPr>
          <a:xfrm>
            <a:off x="971550"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ПРОБЛЕМ</a:t>
            </a:r>
          </a:p>
        </p:txBody>
      </p:sp>
      <p:sp>
        <p:nvSpPr>
          <p:cNvPr id="8" name="Rectangle 7">
            <a:extLst>
              <a:ext uri="{FF2B5EF4-FFF2-40B4-BE49-F238E27FC236}">
                <a16:creationId xmlns:a16="http://schemas.microsoft.com/office/drawing/2014/main" id="{710CF5B5-6558-4B7D-9C04-92F718D4CC54}"/>
              </a:ext>
            </a:extLst>
          </p:cNvPr>
          <p:cNvSpPr>
            <a:spLocks noGrp="1"/>
          </p:cNvSpPr>
          <p:nvPr/>
        </p:nvSpPr>
        <p:spPr>
          <a:xfrm>
            <a:off x="971550"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Шта може поћи по злу</a:t>
            </a:r>
          </a:p>
        </p:txBody>
      </p:sp>
      <p:sp>
        <p:nvSpPr>
          <p:cNvPr id="9" name="Rectangle 8">
            <a:extLst>
              <a:ext uri="{FF2B5EF4-FFF2-40B4-BE49-F238E27FC236}">
                <a16:creationId xmlns:a16="http://schemas.microsoft.com/office/drawing/2014/main" id="{A658BA8F-C270-4889-BB0F-6ECBAAA434F0}"/>
              </a:ext>
            </a:extLst>
          </p:cNvPr>
          <p:cNvSpPr>
            <a:spLocks noGrp="1"/>
          </p:cNvSpPr>
          <p:nvPr/>
        </p:nvSpPr>
        <p:spPr>
          <a:xfrm>
            <a:off x="971550" y="3352800"/>
            <a:ext cx="2952750" cy="1343025"/>
          </a:xfrm>
          <a:prstGeom prst="rect">
            <a:avLst/>
          </a:prstGeom>
          <a:noFill/>
          <a:ln w="0">
            <a:noFill/>
          </a:ln>
        </p:spPr>
        <p:txBody>
          <a:bodyPr wrap="square" lIns="0" tIns="0" rIns="0" bIns="0" anchor="t">
            <a:normAutofit fontScale="87975"/>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Идентитет није трајно доказан једном пријавом. Ризик радње, трајање сесије, врста уређаја и промена привилегија утичу на то колико је додатна потврда потребна. Оперативна безбедност зато прати приступ и након почетне аутентикације.</a:t>
            </a:r>
          </a:p>
        </p:txBody>
      </p:sp>
      <p:sp>
        <p:nvSpPr>
          <p:cNvPr id="10" name="Rounded Rectangle 9">
            <a:extLst>
              <a:ext uri="{FF2B5EF4-FFF2-40B4-BE49-F238E27FC236}">
                <a16:creationId xmlns:a16="http://schemas.microsoft.com/office/drawing/2014/main" id="{C225B3E7-3B9B-46BB-A473-B4E91CCA1FA7}"/>
              </a:ext>
            </a:extLst>
          </p:cNvPr>
          <p:cNvSpPr>
            <a:spLocks noGrp="1"/>
          </p:cNvSpPr>
          <p:nvPr/>
        </p:nvSpPr>
        <p:spPr>
          <a:xfrm>
            <a:off x="4467225" y="2571750"/>
            <a:ext cx="3257550" cy="2228850"/>
          </a:xfrm>
          <a:prstGeom prst="roundRect">
            <a:avLst>
              <a:gd name="adj" fmla="val 5983"/>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48846AE0-1333-402B-8497-AAA65F40DDA7}"/>
              </a:ext>
            </a:extLst>
          </p:cNvPr>
          <p:cNvSpPr>
            <a:spLocks noGrp="1"/>
          </p:cNvSpPr>
          <p:nvPr/>
        </p:nvSpPr>
        <p:spPr>
          <a:xfrm>
            <a:off x="4619625"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ЗАШТО</a:t>
            </a:r>
          </a:p>
        </p:txBody>
      </p:sp>
      <p:sp>
        <p:nvSpPr>
          <p:cNvPr id="12" name="Rectangle 11">
            <a:extLst>
              <a:ext uri="{FF2B5EF4-FFF2-40B4-BE49-F238E27FC236}">
                <a16:creationId xmlns:a16="http://schemas.microsoft.com/office/drawing/2014/main" id="{8CE1DC05-11D2-4121-B350-59C17340965C}"/>
              </a:ext>
            </a:extLst>
          </p:cNvPr>
          <p:cNvSpPr>
            <a:spLocks noGrp="1"/>
          </p:cNvSpPr>
          <p:nvPr/>
        </p:nvSpPr>
        <p:spPr>
          <a:xfrm>
            <a:off x="4619625"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Зашто је тема важна</a:t>
            </a:r>
          </a:p>
        </p:txBody>
      </p:sp>
      <p:sp>
        <p:nvSpPr>
          <p:cNvPr id="13" name="Rectangle 12">
            <a:extLst>
              <a:ext uri="{FF2B5EF4-FFF2-40B4-BE49-F238E27FC236}">
                <a16:creationId xmlns:a16="http://schemas.microsoft.com/office/drawing/2014/main" id="{3ABC001B-0789-46A1-BEF7-6B28CE071DEC}"/>
              </a:ext>
            </a:extLst>
          </p:cNvPr>
          <p:cNvSpPr>
            <a:spLocks noGrp="1"/>
          </p:cNvSpPr>
          <p:nvPr/>
        </p:nvSpPr>
        <p:spPr>
          <a:xfrm>
            <a:off x="4619625" y="3352800"/>
            <a:ext cx="2952750" cy="1343025"/>
          </a:xfrm>
          <a:prstGeom prst="rect">
            <a:avLst/>
          </a:prstGeom>
          <a:noFill/>
          <a:ln w="0">
            <a:noFill/>
          </a:ln>
        </p:spPr>
        <p:txBody>
          <a:bodyPr wrap="square" lIns="0" tIns="0" rIns="0" bIns="0" anchor="t">
            <a:normAutofit fontScale="92219"/>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Вишефакторска потврда и временски ограничене привилегије смањују последице украденог креденцијала. Управљање тајнама штити везе међу сервисима, где непажња често остане скривена јер нема корисничког екрана.</a:t>
            </a:r>
          </a:p>
        </p:txBody>
      </p:sp>
      <p:sp>
        <p:nvSpPr>
          <p:cNvPr id="14" name="Rounded Rectangle 13">
            <a:extLst>
              <a:ext uri="{FF2B5EF4-FFF2-40B4-BE49-F238E27FC236}">
                <a16:creationId xmlns:a16="http://schemas.microsoft.com/office/drawing/2014/main" id="{BECB7932-AEE1-4531-B12B-ED59073033BB}"/>
              </a:ext>
            </a:extLst>
          </p:cNvPr>
          <p:cNvSpPr>
            <a:spLocks noGrp="1"/>
          </p:cNvSpPr>
          <p:nvPr/>
        </p:nvSpPr>
        <p:spPr>
          <a:xfrm>
            <a:off x="8115300" y="2571750"/>
            <a:ext cx="3257550" cy="2228850"/>
          </a:xfrm>
          <a:prstGeom prst="roundRect">
            <a:avLst>
              <a:gd name="adj" fmla="val 5983"/>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AF8EFB0C-DF26-437D-932E-2CCA18A08591}"/>
              </a:ext>
            </a:extLst>
          </p:cNvPr>
          <p:cNvSpPr>
            <a:spLocks noGrp="1"/>
          </p:cNvSpPr>
          <p:nvPr/>
        </p:nvSpPr>
        <p:spPr>
          <a:xfrm>
            <a:off x="8267700" y="26955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ИСХОД</a:t>
            </a:r>
          </a:p>
        </p:txBody>
      </p:sp>
      <p:sp>
        <p:nvSpPr>
          <p:cNvPr id="16" name="Rectangle 15">
            <a:extLst>
              <a:ext uri="{FF2B5EF4-FFF2-40B4-BE49-F238E27FC236}">
                <a16:creationId xmlns:a16="http://schemas.microsoft.com/office/drawing/2014/main" id="{C0A0541A-7E89-4FEA-BF15-52E4E25C046E}"/>
              </a:ext>
            </a:extLst>
          </p:cNvPr>
          <p:cNvSpPr>
            <a:spLocks noGrp="1"/>
          </p:cNvSpPr>
          <p:nvPr/>
        </p:nvSpPr>
        <p:spPr>
          <a:xfrm>
            <a:off x="8267700" y="2943225"/>
            <a:ext cx="2952750" cy="3429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Шта треба доказати</a:t>
            </a:r>
          </a:p>
        </p:txBody>
      </p:sp>
      <p:sp>
        <p:nvSpPr>
          <p:cNvPr id="17" name="Rectangle 16">
            <a:extLst>
              <a:ext uri="{FF2B5EF4-FFF2-40B4-BE49-F238E27FC236}">
                <a16:creationId xmlns:a16="http://schemas.microsoft.com/office/drawing/2014/main" id="{F630C273-044E-4A99-B589-79766B95E3AA}"/>
              </a:ext>
            </a:extLst>
          </p:cNvPr>
          <p:cNvSpPr>
            <a:spLocks noGrp="1"/>
          </p:cNvSpPr>
          <p:nvPr/>
        </p:nvSpPr>
        <p:spPr>
          <a:xfrm>
            <a:off x="8267700" y="3352800"/>
            <a:ext cx="2952750" cy="13430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91886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E20E0CE3-8B18-4ACC-9AE8-1B5BF3275B6D}"/>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EC1B38DB-9495-4BE6-ADE8-6707F5836957}"/>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79E39B6A-0167-4D45-A68D-E35E6A496811}"/>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a:ext uri="{FF2B5EF4-FFF2-40B4-BE49-F238E27FC236}">
                <a16:creationId xmlns:a16="http://schemas.microsoft.com/office/drawing/2014/main" id="{D2EA0458-6802-4DF6-B2DD-292BDE776505}"/>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Четири појма граде једну одлуку</a:t>
            </a:r>
          </a:p>
        </p:txBody>
      </p:sp>
      <p:sp>
        <p:nvSpPr>
          <p:cNvPr id="5" name="Rectangle 4">
            <a:extLst>
              <a:ext uri="{FF2B5EF4-FFF2-40B4-BE49-F238E27FC236}">
                <a16:creationId xmlns:a16="http://schemas.microsoft.com/office/drawing/2014/main" id="{BE47684F-84B2-4288-A90E-42DB207D31A6}"/>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Сваки елемент одговара на друго питање и оставља другачији доказ.</a:t>
            </a:r>
          </a:p>
        </p:txBody>
      </p:sp>
      <p:sp>
        <p:nvSpPr>
          <p:cNvPr id="6" name="Rounded Rectangle 5">
            <a:extLst>
              <a:ext uri="{FF2B5EF4-FFF2-40B4-BE49-F238E27FC236}">
                <a16:creationId xmlns:a16="http://schemas.microsoft.com/office/drawing/2014/main" id="{9E7C6089-3612-462B-8A56-4B5E68EFCF3D}"/>
              </a:ext>
            </a:extLst>
          </p:cNvPr>
          <p:cNvSpPr>
            <a:spLocks noGrp="1"/>
          </p:cNvSpPr>
          <p:nvPr/>
        </p:nvSpPr>
        <p:spPr>
          <a:xfrm>
            <a:off x="723900" y="2419350"/>
            <a:ext cx="24717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BC2C9D03-9A1E-41E7-A453-5A0624BB3A09}"/>
              </a:ext>
            </a:extLst>
          </p:cNvPr>
          <p:cNvSpPr>
            <a:spLocks noGrp="1"/>
          </p:cNvSpPr>
          <p:nvPr/>
        </p:nvSpPr>
        <p:spPr>
          <a:xfrm>
            <a:off x="866775"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78317759-C18E-4549-886F-B1AEA58CC635}"/>
              </a:ext>
            </a:extLst>
          </p:cNvPr>
          <p:cNvSpPr>
            <a:spLocks noGrp="1"/>
          </p:cNvSpPr>
          <p:nvPr/>
        </p:nvSpPr>
        <p:spPr>
          <a:xfrm>
            <a:off x="857250"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Пријава</a:t>
            </a:r>
          </a:p>
        </p:txBody>
      </p:sp>
      <p:sp>
        <p:nvSpPr>
          <p:cNvPr id="9" name="Rectangle 8">
            <a:extLst>
              <a:ext uri="{FF2B5EF4-FFF2-40B4-BE49-F238E27FC236}">
                <a16:creationId xmlns:a16="http://schemas.microsoft.com/office/drawing/2014/main" id="{DD2DBFF6-747F-426F-ABE3-CDFE206644FD}"/>
              </a:ext>
            </a:extLst>
          </p:cNvPr>
          <p:cNvSpPr>
            <a:spLocks noGrp="1"/>
          </p:cNvSpPr>
          <p:nvPr/>
        </p:nvSpPr>
        <p:spPr>
          <a:xfrm>
            <a:off x="866775"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почетна потврда идентитета</a:t>
            </a:r>
          </a:p>
        </p:txBody>
      </p:sp>
      <p:sp>
        <p:nvSpPr>
          <p:cNvPr id="10" name="Rounded Rectangle 9">
            <a:extLst>
              <a:ext uri="{FF2B5EF4-FFF2-40B4-BE49-F238E27FC236}">
                <a16:creationId xmlns:a16="http://schemas.microsoft.com/office/drawing/2014/main" id="{49F2075A-65C3-4994-A066-0C5CE20C016E}"/>
              </a:ext>
            </a:extLst>
          </p:cNvPr>
          <p:cNvSpPr>
            <a:spLocks noGrp="1"/>
          </p:cNvSpPr>
          <p:nvPr/>
        </p:nvSpPr>
        <p:spPr>
          <a:xfrm>
            <a:off x="3481388" y="2419350"/>
            <a:ext cx="2471738" cy="1257300"/>
          </a:xfrm>
          <a:prstGeom prst="roundRect">
            <a:avLst>
              <a:gd name="adj" fmla="val 10606"/>
            </a:avLst>
          </a:prstGeom>
          <a:solidFill>
            <a:srgbClr val="EDF8FA"/>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32E3CFAB-D2EF-4B62-A160-09E34496026D}"/>
              </a:ext>
            </a:extLst>
          </p:cNvPr>
          <p:cNvSpPr>
            <a:spLocks noGrp="1"/>
          </p:cNvSpPr>
          <p:nvPr/>
        </p:nvSpPr>
        <p:spPr>
          <a:xfrm>
            <a:off x="3624263"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a:ext uri="{FF2B5EF4-FFF2-40B4-BE49-F238E27FC236}">
                <a16:creationId xmlns:a16="http://schemas.microsoft.com/office/drawing/2014/main" id="{F06DA52E-25D1-4812-A259-946EB9A4D586}"/>
              </a:ext>
            </a:extLst>
          </p:cNvPr>
          <p:cNvSpPr>
            <a:spLocks noGrp="1"/>
          </p:cNvSpPr>
          <p:nvPr/>
        </p:nvSpPr>
        <p:spPr>
          <a:xfrm>
            <a:off x="3614738"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Сесија</a:t>
            </a:r>
          </a:p>
        </p:txBody>
      </p:sp>
      <p:sp>
        <p:nvSpPr>
          <p:cNvPr id="13" name="Rectangle 12">
            <a:extLst>
              <a:ext uri="{FF2B5EF4-FFF2-40B4-BE49-F238E27FC236}">
                <a16:creationId xmlns:a16="http://schemas.microsoft.com/office/drawing/2014/main" id="{A194318D-F309-493C-80BA-EEFF5539E959}"/>
              </a:ext>
            </a:extLst>
          </p:cNvPr>
          <p:cNvSpPr>
            <a:spLocks noGrp="1"/>
          </p:cNvSpPr>
          <p:nvPr/>
        </p:nvSpPr>
        <p:spPr>
          <a:xfrm>
            <a:off x="3624263" y="3209925"/>
            <a:ext cx="2185988" cy="323850"/>
          </a:xfrm>
          <a:prstGeom prst="rect">
            <a:avLst/>
          </a:prstGeom>
          <a:noFill/>
          <a:ln w="0">
            <a:noFill/>
          </a:ln>
        </p:spPr>
        <p:txBody>
          <a:bodyPr wrap="square" lIns="0" tIns="0" rIns="0" bIns="0" anchor="ctr">
            <a:normAutofit fontScale="91685"/>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привремени контекст приступа</a:t>
            </a:r>
          </a:p>
        </p:txBody>
      </p:sp>
      <p:sp>
        <p:nvSpPr>
          <p:cNvPr id="14" name="Rounded Rectangle 13">
            <a:extLst>
              <a:ext uri="{FF2B5EF4-FFF2-40B4-BE49-F238E27FC236}">
                <a16:creationId xmlns:a16="http://schemas.microsoft.com/office/drawing/2014/main" id="{B91BA9A4-4892-4C3A-B177-1831B82D5C75}"/>
              </a:ext>
            </a:extLst>
          </p:cNvPr>
          <p:cNvSpPr>
            <a:spLocks noGrp="1"/>
          </p:cNvSpPr>
          <p:nvPr/>
        </p:nvSpPr>
        <p:spPr>
          <a:xfrm>
            <a:off x="6238875" y="2419350"/>
            <a:ext cx="2471738" cy="1257300"/>
          </a:xfrm>
          <a:prstGeom prst="roundRect">
            <a:avLst>
              <a:gd name="adj" fmla="val 10606"/>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95CF401A-C169-4A9C-9CC2-33D64E63F80E}"/>
              </a:ext>
            </a:extLst>
          </p:cNvPr>
          <p:cNvSpPr>
            <a:spLocks noGrp="1"/>
          </p:cNvSpPr>
          <p:nvPr/>
        </p:nvSpPr>
        <p:spPr>
          <a:xfrm>
            <a:off x="6381750"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03</a:t>
            </a:r>
          </a:p>
        </p:txBody>
      </p:sp>
      <p:sp>
        <p:nvSpPr>
          <p:cNvPr id="16" name="Rectangle 15">
            <a:extLst>
              <a:ext uri="{FF2B5EF4-FFF2-40B4-BE49-F238E27FC236}">
                <a16:creationId xmlns:a16="http://schemas.microsoft.com/office/drawing/2014/main" id="{062180E4-2101-46CF-8562-387188095F76}"/>
              </a:ext>
            </a:extLst>
          </p:cNvPr>
          <p:cNvSpPr>
            <a:spLocks noGrp="1"/>
          </p:cNvSpPr>
          <p:nvPr/>
        </p:nvSpPr>
        <p:spPr>
          <a:xfrm>
            <a:off x="6372225"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Додатна потврда</a:t>
            </a:r>
          </a:p>
        </p:txBody>
      </p:sp>
      <p:sp>
        <p:nvSpPr>
          <p:cNvPr id="17" name="Rectangle 16">
            <a:extLst>
              <a:ext uri="{FF2B5EF4-FFF2-40B4-BE49-F238E27FC236}">
                <a16:creationId xmlns:a16="http://schemas.microsoft.com/office/drawing/2014/main" id="{E3414439-9172-4BB4-A6E2-12DEC931ABDF}"/>
              </a:ext>
            </a:extLst>
          </p:cNvPr>
          <p:cNvSpPr>
            <a:spLocks noGrp="1"/>
          </p:cNvSpPr>
          <p:nvPr/>
        </p:nvSpPr>
        <p:spPr>
          <a:xfrm>
            <a:off x="6381750"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за ризичну радњу</a:t>
            </a:r>
          </a:p>
        </p:txBody>
      </p:sp>
      <p:sp>
        <p:nvSpPr>
          <p:cNvPr id="18" name="Rounded Rectangle 17">
            <a:extLst>
              <a:ext uri="{FF2B5EF4-FFF2-40B4-BE49-F238E27FC236}">
                <a16:creationId xmlns:a16="http://schemas.microsoft.com/office/drawing/2014/main" id="{EBBD0E8F-B7A7-4782-9E6F-ECB748A30EE1}"/>
              </a:ext>
            </a:extLst>
          </p:cNvPr>
          <p:cNvSpPr>
            <a:spLocks noGrp="1"/>
          </p:cNvSpPr>
          <p:nvPr/>
        </p:nvSpPr>
        <p:spPr>
          <a:xfrm>
            <a:off x="8996363" y="2419350"/>
            <a:ext cx="24717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2284364E-068A-43A9-B38D-98EDE86318DB}"/>
              </a:ext>
            </a:extLst>
          </p:cNvPr>
          <p:cNvSpPr>
            <a:spLocks noGrp="1"/>
          </p:cNvSpPr>
          <p:nvPr/>
        </p:nvSpPr>
        <p:spPr>
          <a:xfrm>
            <a:off x="9139238" y="253365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71D3880A-679B-4098-8D8F-C181A938C378}"/>
              </a:ext>
            </a:extLst>
          </p:cNvPr>
          <p:cNvSpPr>
            <a:spLocks noGrp="1"/>
          </p:cNvSpPr>
          <p:nvPr/>
        </p:nvSpPr>
        <p:spPr>
          <a:xfrm>
            <a:off x="9129713" y="281940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Истек или опозив</a:t>
            </a:r>
          </a:p>
        </p:txBody>
      </p:sp>
      <p:sp>
        <p:nvSpPr>
          <p:cNvPr id="21" name="Rectangle 20">
            <a:extLst>
              <a:ext uri="{FF2B5EF4-FFF2-40B4-BE49-F238E27FC236}">
                <a16:creationId xmlns:a16="http://schemas.microsoft.com/office/drawing/2014/main" id="{3EA08F9C-86A7-46EA-AE6B-9A05808E8F22}"/>
              </a:ext>
            </a:extLst>
          </p:cNvPr>
          <p:cNvSpPr>
            <a:spLocks noGrp="1"/>
          </p:cNvSpPr>
          <p:nvPr/>
        </p:nvSpPr>
        <p:spPr>
          <a:xfrm>
            <a:off x="9139238" y="320992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прекид важења приступа</a:t>
            </a:r>
          </a:p>
        </p:txBody>
      </p:sp>
      <p:cxnSp>
        <p:nvCxnSpPr>
          <p:cNvPr id="125" name="Straight Arrow Connector 124"/>
          <p:cNvCxnSpPr>
            <a:stCxn id="6" idx="3"/>
            <a:endCxn id="10" idx="1"/>
          </p:cNvCxnSpPr>
          <p:nvPr/>
        </p:nvCxnSpPr>
        <p:spPr>
          <a:xfrm>
            <a:off x="3195638" y="304800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04800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710613" y="3048000"/>
            <a:ext cx="285750" cy="0"/>
          </a:xfrm>
          <a:prstGeom prst="straightConnector1">
            <a:avLst/>
          </a:prstGeom>
          <a:ln w="13335">
            <a:solidFill>
              <a:srgbClr val="748092"/>
            </a:solidFill>
            <a:prstDash val="solid"/>
            <a:tailEnd type="arrow" w="sm" len="sm"/>
          </a:ln>
        </p:spPr>
      </p:cxnSp>
      <p:sp>
        <p:nvSpPr>
          <p:cNvPr id="26" name="Rounded Rectangle 25">
            <a:extLst>
              <a:ext uri="{FF2B5EF4-FFF2-40B4-BE49-F238E27FC236}">
                <a16:creationId xmlns:a16="http://schemas.microsoft.com/office/drawing/2014/main" id="{ED45DA28-A05B-4B5B-9BD5-0A898CF6DEE7}"/>
              </a:ext>
            </a:extLst>
          </p:cNvPr>
          <p:cNvSpPr>
            <a:spLocks noGrp="1"/>
          </p:cNvSpPr>
          <p:nvPr/>
        </p:nvSpPr>
        <p:spPr>
          <a:xfrm>
            <a:off x="1752600" y="4429125"/>
            <a:ext cx="57150" cy="514350"/>
          </a:xfrm>
          <a:prstGeom prst="roundRect">
            <a:avLst>
              <a:gd name="adj" fmla="val 50000"/>
            </a:avLst>
          </a:prstGeom>
          <a:solidFill>
            <a:srgbClr val="748092"/>
          </a:solidFill>
          <a:ln w="0">
            <a:noFill/>
          </a:ln>
        </p:spPr>
      </p:sp>
      <p:sp>
        <p:nvSpPr>
          <p:cNvPr id="76" name="Rounded Rectangle 75">
            <a:extLst>
              <a:ext uri="{FF2B5EF4-FFF2-40B4-BE49-F238E27FC236}">
                <a16:creationId xmlns:a16="http://schemas.microsoft.com/office/drawing/2014/main" id="{03FC9162-DF55-4285-88A2-1DD7FF6ECEED}"/>
              </a:ext>
            </a:extLst>
          </p:cNvPr>
          <p:cNvSpPr>
            <a:spLocks noGrp="1"/>
          </p:cNvSpPr>
          <p:nvPr/>
        </p:nvSpPr>
        <p:spPr>
          <a:xfrm>
            <a:off x="914400" y="4305300"/>
            <a:ext cx="10363200" cy="800100"/>
          </a:xfrm>
          <a:prstGeom prst="roundRect">
            <a:avLst>
              <a:gd name="adj" fmla="val 16667"/>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0B431171-0C22-4E29-B6DE-DCC79E90E9A5}"/>
              </a:ext>
            </a:extLst>
          </p:cNvPr>
          <p:cNvSpPr>
            <a:spLocks noGrp="1"/>
          </p:cNvSpPr>
          <p:nvPr/>
        </p:nvSpPr>
        <p:spPr>
          <a:xfrm>
            <a:off x="1085850" y="4457700"/>
            <a:ext cx="57150" cy="49530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24CB7F95-D1FF-4CF3-98EE-64BA083300D8}"/>
              </a:ext>
            </a:extLst>
          </p:cNvPr>
          <p:cNvSpPr>
            <a:spLocks noGrp="1"/>
          </p:cNvSpPr>
          <p:nvPr/>
        </p:nvSpPr>
        <p:spPr>
          <a:xfrm>
            <a:off x="1333500" y="44100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КЉУЧНА ПОРУКА</a:t>
            </a:r>
          </a:p>
        </p:txBody>
      </p:sp>
      <p:sp>
        <p:nvSpPr>
          <p:cNvPr id="79" name="Rectangle 78">
            <a:extLst>
              <a:ext uri="{FF2B5EF4-FFF2-40B4-BE49-F238E27FC236}">
                <a16:creationId xmlns:a16="http://schemas.microsoft.com/office/drawing/2014/main" id="{C4FDCB4E-879D-43F6-BEA0-A3519F139156}"/>
              </a:ext>
            </a:extLst>
          </p:cNvPr>
          <p:cNvSpPr>
            <a:spLocks noGrp="1"/>
          </p:cNvSpPr>
          <p:nvPr/>
        </p:nvSpPr>
        <p:spPr>
          <a:xfrm>
            <a:off x="1333500" y="4638675"/>
            <a:ext cx="9639300" cy="36195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Поверење се не чува заувек. Систем га обнавља или опозива када се промени ризик.</a:t>
            </a:r>
          </a:p>
        </p:txBody>
      </p:sp>
    </p:spTree>
    <p:extLst>
      <p:ext uri="{BB962C8B-B14F-4D97-AF65-F5344CB8AC3E}">
        <p14:creationId xmlns:p14="http://schemas.microsoft.com/office/powerpoint/2010/main" val="18350282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A750244A-431F-4E7A-AA82-6264A49C1283}"/>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1D4BF382-5245-41F7-B92B-6AEB53DFC078}"/>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9DA50FE9-4E7C-4DD9-8F02-1D3857BFACA0}"/>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a:ext uri="{FF2B5EF4-FFF2-40B4-BE49-F238E27FC236}">
                <a16:creationId xmlns:a16="http://schemas.microsoft.com/office/drawing/2014/main" id="{BB829B28-5DD4-4C5A-884C-DFB26ECFA3ED}"/>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Пријава</a:t>
            </a:r>
          </a:p>
        </p:txBody>
      </p:sp>
      <p:sp>
        <p:nvSpPr>
          <p:cNvPr id="5" name="Rectangle 4">
            <a:extLst>
              <a:ext uri="{FF2B5EF4-FFF2-40B4-BE49-F238E27FC236}">
                <a16:creationId xmlns:a16="http://schemas.microsoft.com/office/drawing/2014/main" id="{53FC5127-9976-452F-B294-757161EF0050}"/>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почетна потврда идентитета</a:t>
            </a:r>
          </a:p>
        </p:txBody>
      </p:sp>
      <p:sp>
        <p:nvSpPr>
          <p:cNvPr id="6" name="Rounded Rectangle 5">
            <a:extLst>
              <a:ext uri="{FF2B5EF4-FFF2-40B4-BE49-F238E27FC236}">
                <a16:creationId xmlns:a16="http://schemas.microsoft.com/office/drawing/2014/main" id="{2767F7EB-2F2F-4796-8CFB-47E0FC1EA982}"/>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67E5ED6B-F014-4938-9CAD-EB2B8CB9FDD9}"/>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D7BEEAFD-8BCD-4947-8223-0E5B4126D998}"/>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Сесија може изгубити важност пре планираног истека.</a:t>
            </a:r>
          </a:p>
        </p:txBody>
      </p:sp>
      <p:sp>
        <p:nvSpPr>
          <p:cNvPr id="9" name="Rectangle 8">
            <a:extLst>
              <a:ext uri="{FF2B5EF4-FFF2-40B4-BE49-F238E27FC236}">
                <a16:creationId xmlns:a16="http://schemas.microsoft.com/office/drawing/2014/main" id="{F72BCEF3-6B83-480C-AECA-8EF9E0FC61D6}"/>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4A8885A6-B1E1-4E07-86F7-BE6ED31929C6}"/>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D5B21458-10E6-47BB-81BA-37EFC6684220}"/>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65208FCE-23DC-4DAD-819C-EBA9E18C7342}"/>
              </a:ext>
            </a:extLst>
          </p:cNvPr>
          <p:cNvSpPr>
            <a:spLocks noGrp="1"/>
          </p:cNvSpPr>
          <p:nvPr/>
        </p:nvSpPr>
        <p:spPr>
          <a:xfrm>
            <a:off x="461010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Сесија је привремени доказ контекста, не трајна потврда поверења.</a:t>
            </a:r>
          </a:p>
        </p:txBody>
      </p:sp>
      <p:sp>
        <p:nvSpPr>
          <p:cNvPr id="13" name="Rectangle 12">
            <a:extLst>
              <a:ext uri="{FF2B5EF4-FFF2-40B4-BE49-F238E27FC236}">
                <a16:creationId xmlns:a16="http://schemas.microsoft.com/office/drawing/2014/main" id="{928FED2F-7742-4B11-8362-54A23A6B6A87}"/>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6C9BA3A3-A841-4D25-B939-0365315559E2}"/>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A5AC6DFA-8048-4DEF-964D-AB3A1ED50077}"/>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C0BB79A0-0ECF-4BAE-B04A-5803E2CFAECF}"/>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Истек ограничава трајање поверења чак и када нема видљивог инцидента.</a:t>
            </a:r>
          </a:p>
        </p:txBody>
      </p:sp>
      <p:sp>
        <p:nvSpPr>
          <p:cNvPr id="17" name="Rectangle 16">
            <a:extLst>
              <a:ext uri="{FF2B5EF4-FFF2-40B4-BE49-F238E27FC236}">
                <a16:creationId xmlns:a16="http://schemas.microsoft.com/office/drawing/2014/main" id="{E17CBCE1-2A0B-4F8A-AB5C-2A5B0DD7439B}"/>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3A87456B-1C79-4F83-AB44-66CB4AB81A34}"/>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3173750C-4A76-4488-9379-892AC8BEF48B}"/>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430295DE-FE17-49AA-8320-D76558FB4D07}"/>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849D5D74-7E43-466A-8AA6-9F1F8CB37867}"/>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23B7D4D9-16B4-4550-8EA6-69C4C94414C5}"/>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C74A16CE-4466-437D-A0C9-F3503D167B96}"/>
              </a:ext>
            </a:extLst>
          </p:cNvPr>
          <p:cNvSpPr>
            <a:spLocks noGrp="1"/>
          </p:cNvSpPr>
          <p:nvPr/>
        </p:nvSpPr>
        <p:spPr>
          <a:xfrm>
            <a:off x="1333500" y="509587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Tree>
    <p:extLst>
      <p:ext uri="{BB962C8B-B14F-4D97-AF65-F5344CB8AC3E}">
        <p14:creationId xmlns:p14="http://schemas.microsoft.com/office/powerpoint/2010/main" val="71727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A965FD60-55B8-4B2E-B56C-61DE2F6FD620}"/>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7FBC1723-69AB-4539-BD6C-3B13A56BEDDC}"/>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EB976248-7C12-445C-8093-B3D71717F160}"/>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a:ext uri="{FF2B5EF4-FFF2-40B4-BE49-F238E27FC236}">
                <a16:creationId xmlns:a16="http://schemas.microsoft.com/office/drawing/2014/main" id="{53104EB2-C59B-4E2E-8614-A784F377B895}"/>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Сесија</a:t>
            </a:r>
          </a:p>
        </p:txBody>
      </p:sp>
      <p:sp>
        <p:nvSpPr>
          <p:cNvPr id="5" name="Rectangle 4">
            <a:extLst>
              <a:ext uri="{FF2B5EF4-FFF2-40B4-BE49-F238E27FC236}">
                <a16:creationId xmlns:a16="http://schemas.microsoft.com/office/drawing/2014/main" id="{C19B0B5F-21F8-488D-8647-B87B33F34E80}"/>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привремени контекст приступа</a:t>
            </a:r>
          </a:p>
        </p:txBody>
      </p:sp>
      <p:sp>
        <p:nvSpPr>
          <p:cNvPr id="6" name="Rounded Rectangle 5">
            <a:extLst>
              <a:ext uri="{FF2B5EF4-FFF2-40B4-BE49-F238E27FC236}">
                <a16:creationId xmlns:a16="http://schemas.microsoft.com/office/drawing/2014/main" id="{765FED9C-6C10-4A79-B676-355E1F0FAFFB}"/>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B3CD392E-0EED-4C8F-BFF3-23CCF9930661}"/>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46DEF15E-5534-49B7-AA11-3FBA8182021D}"/>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Додатна потврда прати ризик радње, не само тип корисника.</a:t>
            </a:r>
          </a:p>
        </p:txBody>
      </p:sp>
      <p:sp>
        <p:nvSpPr>
          <p:cNvPr id="9" name="Rectangle 8">
            <a:extLst>
              <a:ext uri="{FF2B5EF4-FFF2-40B4-BE49-F238E27FC236}">
                <a16:creationId xmlns:a16="http://schemas.microsoft.com/office/drawing/2014/main" id="{87A75830-836B-4985-99F6-F405656788F9}"/>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C14404D8-890B-4F0C-AD08-EF75155809A3}"/>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8558877E-EE0A-47C3-8A61-8860B27E006B}"/>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DDC72BBB-D74A-4F27-ACC8-94AE6EA6C10A}"/>
              </a:ext>
            </a:extLst>
          </p:cNvPr>
          <p:cNvSpPr>
            <a:spLocks noGrp="1"/>
          </p:cNvSpPr>
          <p:nvPr/>
        </p:nvSpPr>
        <p:spPr>
          <a:xfrm>
            <a:off x="461010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Step-up аутентикација има смисла када се ризик радње промени, а не као произвољна препрека за све кориснике.</a:t>
            </a:r>
          </a:p>
        </p:txBody>
      </p:sp>
      <p:sp>
        <p:nvSpPr>
          <p:cNvPr id="13" name="Rectangle 12">
            <a:extLst>
              <a:ext uri="{FF2B5EF4-FFF2-40B4-BE49-F238E27FC236}">
                <a16:creationId xmlns:a16="http://schemas.microsoft.com/office/drawing/2014/main" id="{99607489-557F-4F85-B87A-641E31BC2EF0}"/>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CA317E77-D4F7-4B92-8687-AB8CC039B02D}"/>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284DE8BD-5EFC-49A5-A36D-B5BB15B1B1C1}"/>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C776E2E8-7E78-4B23-AEBB-CC239706DD48}"/>
              </a:ext>
            </a:extLst>
          </p:cNvPr>
          <p:cNvSpPr>
            <a:spLocks noGrp="1"/>
          </p:cNvSpPr>
          <p:nvPr/>
        </p:nvSpPr>
        <p:spPr>
          <a:xfrm>
            <a:off x="81724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Опозив реагује на конкретну промену ризика и не чека да сесија природно нестане.</a:t>
            </a:r>
          </a:p>
        </p:txBody>
      </p:sp>
      <p:sp>
        <p:nvSpPr>
          <p:cNvPr id="17" name="Rectangle 16">
            <a:extLst>
              <a:ext uri="{FF2B5EF4-FFF2-40B4-BE49-F238E27FC236}">
                <a16:creationId xmlns:a16="http://schemas.microsoft.com/office/drawing/2014/main" id="{76AFE5A2-4BB8-4972-A0A4-16222C462B11}"/>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398925E4-2A7B-4D68-B436-B7A2606066D1}"/>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CD937710-E259-4CAD-AFD3-7A75248A8DED}"/>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3EF68F66-56FE-4C89-B50E-B36062E70C60}"/>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38366EC8-78C1-4DA1-A251-91291EC66740}"/>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7CF05F09-B2D6-4275-9291-EF09701AC6F1}"/>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429C3A30-1D7C-488F-9197-F12B8DCD2353}"/>
              </a:ext>
            </a:extLst>
          </p:cNvPr>
          <p:cNvSpPr>
            <a:spLocks noGrp="1"/>
          </p:cNvSpPr>
          <p:nvPr/>
        </p:nvSpPr>
        <p:spPr>
          <a:xfrm>
            <a:off x="1333500" y="509587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Tree>
    <p:extLst>
      <p:ext uri="{BB962C8B-B14F-4D97-AF65-F5344CB8AC3E}">
        <p14:creationId xmlns:p14="http://schemas.microsoft.com/office/powerpoint/2010/main" val="5061948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A9C3158-0D45-4DAF-9FCC-0BE4E972FE7D}"/>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8C1D4E96-115F-4C63-9A01-11F98B2CB673}"/>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CA328BF8-CF25-4F1E-A15C-2F7135357B17}"/>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a:ext uri="{FF2B5EF4-FFF2-40B4-BE49-F238E27FC236}">
                <a16:creationId xmlns:a16="http://schemas.microsoft.com/office/drawing/2014/main" id="{92E6F3B8-C4C3-4D97-8677-BCBD8B4264D7}"/>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Додатна потврда</a:t>
            </a:r>
          </a:p>
        </p:txBody>
      </p:sp>
      <p:sp>
        <p:nvSpPr>
          <p:cNvPr id="5" name="Rectangle 4">
            <a:extLst>
              <a:ext uri="{FF2B5EF4-FFF2-40B4-BE49-F238E27FC236}">
                <a16:creationId xmlns:a16="http://schemas.microsoft.com/office/drawing/2014/main" id="{545E5071-AA16-4E78-AAF6-F0F33268EF96}"/>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за ризичну радњу</a:t>
            </a:r>
          </a:p>
        </p:txBody>
      </p:sp>
      <p:sp>
        <p:nvSpPr>
          <p:cNvPr id="6" name="Rounded Rectangle 5">
            <a:extLst>
              <a:ext uri="{FF2B5EF4-FFF2-40B4-BE49-F238E27FC236}">
                <a16:creationId xmlns:a16="http://schemas.microsoft.com/office/drawing/2014/main" id="{828A72ED-8EC1-4C37-AB39-790E4A185420}"/>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FCED9A3A-AF48-4190-BD50-916D7CEA774C}"/>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9F5CB060-CD72-4DEE-B197-AB908C543D28}"/>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Сервисни идентитет има мали, јасно оправдан опсег, као и људски идентитет.</a:t>
            </a:r>
          </a:p>
        </p:txBody>
      </p:sp>
      <p:sp>
        <p:nvSpPr>
          <p:cNvPr id="9" name="Rectangle 8">
            <a:extLst>
              <a:ext uri="{FF2B5EF4-FFF2-40B4-BE49-F238E27FC236}">
                <a16:creationId xmlns:a16="http://schemas.microsoft.com/office/drawing/2014/main" id="{DD6A8352-DA65-4E71-B48E-83175154CE23}"/>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88A7777A-E40B-43BF-A629-7AE52F633271}"/>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2B80460E-5CBF-44CA-8BD1-F2FB3F1A66CA}"/>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3856EF9B-56B4-44CA-8EA0-130FDC773335}"/>
              </a:ext>
            </a:extLst>
          </p:cNvPr>
          <p:cNvSpPr>
            <a:spLocks noGrp="1"/>
          </p:cNvSpPr>
          <p:nvPr/>
        </p:nvSpPr>
        <p:spPr>
          <a:xfrm>
            <a:off x="461010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Сервисни налог добија исти третман као корисник: најмањи потребан опсег, рок важења и контролисану ротацију тајне.</a:t>
            </a:r>
          </a:p>
        </p:txBody>
      </p:sp>
      <p:sp>
        <p:nvSpPr>
          <p:cNvPr id="13" name="Rectangle 12">
            <a:extLst>
              <a:ext uri="{FF2B5EF4-FFF2-40B4-BE49-F238E27FC236}">
                <a16:creationId xmlns:a16="http://schemas.microsoft.com/office/drawing/2014/main" id="{8D9CE632-76C9-4BEA-8402-C1FB37149D0C}"/>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2A00DBB0-FC29-4430-9DBA-BB69ADA31785}"/>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A4B3CC8B-795A-45C0-9DF6-1C45749BFFB8}"/>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3053C002-15B3-449E-9371-85BBC893EC98}"/>
              </a:ext>
            </a:extLst>
          </p:cNvPr>
          <p:cNvSpPr>
            <a:spLocks noGrp="1"/>
          </p:cNvSpPr>
          <p:nvPr/>
        </p:nvSpPr>
        <p:spPr>
          <a:xfrm>
            <a:off x="817245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Додатни фактор доказује присуство или поседовање независног средства, а не понавља само исту лозинку.</a:t>
            </a:r>
          </a:p>
        </p:txBody>
      </p:sp>
      <p:sp>
        <p:nvSpPr>
          <p:cNvPr id="17" name="Rectangle 16">
            <a:extLst>
              <a:ext uri="{FF2B5EF4-FFF2-40B4-BE49-F238E27FC236}">
                <a16:creationId xmlns:a16="http://schemas.microsoft.com/office/drawing/2014/main" id="{2999A37F-2CCA-49A4-9C43-41EAC337C4E3}"/>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363FEA12-6649-4306-85CE-FF89B754F599}"/>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CD1C8C30-4E87-469B-87AB-B5D5AB4EECBD}"/>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936673FE-5220-4079-B6DD-C0CAB1ED4458}"/>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461FD54F-DDAE-41DF-A16C-B4DEED3D8BA6}"/>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3C53D655-26D2-488F-BB5E-6AF742F1267C}"/>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A86CC111-EABD-4873-929B-C23E8718C0A6}"/>
              </a:ext>
            </a:extLst>
          </p:cNvPr>
          <p:cNvSpPr>
            <a:spLocks noGrp="1"/>
          </p:cNvSpPr>
          <p:nvPr/>
        </p:nvSpPr>
        <p:spPr>
          <a:xfrm>
            <a:off x="1333500" y="509587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Tree>
    <p:extLst>
      <p:ext uri="{BB962C8B-B14F-4D97-AF65-F5344CB8AC3E}">
        <p14:creationId xmlns:p14="http://schemas.microsoft.com/office/powerpoint/2010/main" val="330298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59EEF07-3871-4227-9CF8-617931CAE332}"/>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B21B6EEA-9DC4-437C-90DA-659790547C13}"/>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B9F361B3-06B5-4423-AE2A-8D3D66EF910D}"/>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a:ext uri="{FF2B5EF4-FFF2-40B4-BE49-F238E27FC236}">
                <a16:creationId xmlns:a16="http://schemas.microsoft.com/office/drawing/2014/main" id="{7912666D-3229-43C0-AE3B-B857052328AD}"/>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Истек или опозив</a:t>
            </a:r>
          </a:p>
        </p:txBody>
      </p:sp>
      <p:sp>
        <p:nvSpPr>
          <p:cNvPr id="5" name="Rectangle 4">
            <a:extLst>
              <a:ext uri="{FF2B5EF4-FFF2-40B4-BE49-F238E27FC236}">
                <a16:creationId xmlns:a16="http://schemas.microsoft.com/office/drawing/2014/main" id="{B3D9BC8D-716B-47C9-890A-57D3F34F9AF7}"/>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прекид важења приступа</a:t>
            </a:r>
          </a:p>
        </p:txBody>
      </p:sp>
      <p:sp>
        <p:nvSpPr>
          <p:cNvPr id="6" name="Rounded Rectangle 5">
            <a:extLst>
              <a:ext uri="{FF2B5EF4-FFF2-40B4-BE49-F238E27FC236}">
                <a16:creationId xmlns:a16="http://schemas.microsoft.com/office/drawing/2014/main" id="{CECC8628-89EE-463C-982E-D0A63FBFE3B3}"/>
              </a:ext>
            </a:extLst>
          </p:cNvPr>
          <p:cNvSpPr>
            <a:spLocks noGrp="1"/>
          </p:cNvSpPr>
          <p:nvPr/>
        </p:nvSpPr>
        <p:spPr>
          <a:xfrm>
            <a:off x="895350" y="2428875"/>
            <a:ext cx="3257550" cy="1952625"/>
          </a:xfrm>
          <a:prstGeom prst="roundRect">
            <a:avLst>
              <a:gd name="adj" fmla="val 6829"/>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8097A794-7EBB-4249-9EB4-F09C6295C98C}"/>
              </a:ext>
            </a:extLst>
          </p:cNvPr>
          <p:cNvSpPr>
            <a:spLocks noGrp="1"/>
          </p:cNvSpPr>
          <p:nvPr/>
        </p:nvSpPr>
        <p:spPr>
          <a:xfrm>
            <a:off x="10477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0C1962D6-7125-4E9A-A705-10D7ECB8FC36}"/>
              </a:ext>
            </a:extLst>
          </p:cNvPr>
          <p:cNvSpPr>
            <a:spLocks noGrp="1"/>
          </p:cNvSpPr>
          <p:nvPr/>
        </p:nvSpPr>
        <p:spPr>
          <a:xfrm>
            <a:off x="104775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Истек ограничава трајање поверења чак и када нема видљивог инцидента.</a:t>
            </a:r>
          </a:p>
        </p:txBody>
      </p:sp>
      <p:sp>
        <p:nvSpPr>
          <p:cNvPr id="9" name="Rectangle 8">
            <a:extLst>
              <a:ext uri="{FF2B5EF4-FFF2-40B4-BE49-F238E27FC236}">
                <a16:creationId xmlns:a16="http://schemas.microsoft.com/office/drawing/2014/main" id="{ED9BA055-10E9-4E79-9100-90DACF69CAC1}"/>
              </a:ext>
            </a:extLst>
          </p:cNvPr>
          <p:cNvSpPr>
            <a:spLocks noGrp="1"/>
          </p:cNvSpPr>
          <p:nvPr/>
        </p:nvSpPr>
        <p:spPr>
          <a:xfrm>
            <a:off x="10477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a:ext uri="{FF2B5EF4-FFF2-40B4-BE49-F238E27FC236}">
                <a16:creationId xmlns:a16="http://schemas.microsoft.com/office/drawing/2014/main" id="{EC41DC93-5363-462D-8D49-430DFACBCA54}"/>
              </a:ext>
            </a:extLst>
          </p:cNvPr>
          <p:cNvSpPr>
            <a:spLocks noGrp="1"/>
          </p:cNvSpPr>
          <p:nvPr/>
        </p:nvSpPr>
        <p:spPr>
          <a:xfrm>
            <a:off x="4457700" y="2428875"/>
            <a:ext cx="3257550" cy="1952625"/>
          </a:xfrm>
          <a:prstGeom prst="roundRect">
            <a:avLst>
              <a:gd name="adj" fmla="val 6829"/>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711CC393-54F5-4A2E-A7CD-46832E32740A}"/>
              </a:ext>
            </a:extLst>
          </p:cNvPr>
          <p:cNvSpPr>
            <a:spLocks noGrp="1"/>
          </p:cNvSpPr>
          <p:nvPr/>
        </p:nvSpPr>
        <p:spPr>
          <a:xfrm>
            <a:off x="461010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02C8E821-1173-44EF-8B97-A042AA1BB8FB}"/>
              </a:ext>
            </a:extLst>
          </p:cNvPr>
          <p:cNvSpPr>
            <a:spLocks noGrp="1"/>
          </p:cNvSpPr>
          <p:nvPr/>
        </p:nvSpPr>
        <p:spPr>
          <a:xfrm>
            <a:off x="4610100" y="2800350"/>
            <a:ext cx="2952750" cy="781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Опозив реагује на конкретну промену ризика и не чека да сесија природно нестане.</a:t>
            </a:r>
          </a:p>
        </p:txBody>
      </p:sp>
      <p:sp>
        <p:nvSpPr>
          <p:cNvPr id="13" name="Rectangle 12">
            <a:extLst>
              <a:ext uri="{FF2B5EF4-FFF2-40B4-BE49-F238E27FC236}">
                <a16:creationId xmlns:a16="http://schemas.microsoft.com/office/drawing/2014/main" id="{DB1EBD1E-8884-4453-AA98-364A0C41655A}"/>
              </a:ext>
            </a:extLst>
          </p:cNvPr>
          <p:cNvSpPr>
            <a:spLocks noGrp="1"/>
          </p:cNvSpPr>
          <p:nvPr/>
        </p:nvSpPr>
        <p:spPr>
          <a:xfrm>
            <a:off x="461010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a:ext uri="{FF2B5EF4-FFF2-40B4-BE49-F238E27FC236}">
                <a16:creationId xmlns:a16="http://schemas.microsoft.com/office/drawing/2014/main" id="{C6A03353-DCFF-4158-AF7F-18E8CD7C3BCC}"/>
              </a:ext>
            </a:extLst>
          </p:cNvPr>
          <p:cNvSpPr>
            <a:spLocks noGrp="1"/>
          </p:cNvSpPr>
          <p:nvPr/>
        </p:nvSpPr>
        <p:spPr>
          <a:xfrm>
            <a:off x="8020050" y="2428875"/>
            <a:ext cx="3257550" cy="1952625"/>
          </a:xfrm>
          <a:prstGeom prst="roundRect">
            <a:avLst>
              <a:gd name="adj" fmla="val 6829"/>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EC1038EA-93C7-4355-9D14-DEAE553E9F01}"/>
              </a:ext>
            </a:extLst>
          </p:cNvPr>
          <p:cNvSpPr>
            <a:spLocks noGrp="1"/>
          </p:cNvSpPr>
          <p:nvPr/>
        </p:nvSpPr>
        <p:spPr>
          <a:xfrm>
            <a:off x="8172450" y="2552700"/>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A34D8256-75D0-4F00-8B75-688CF3718D52}"/>
              </a:ext>
            </a:extLst>
          </p:cNvPr>
          <p:cNvSpPr>
            <a:spLocks noGrp="1"/>
          </p:cNvSpPr>
          <p:nvPr/>
        </p:nvSpPr>
        <p:spPr>
          <a:xfrm>
            <a:off x="8172450" y="2800350"/>
            <a:ext cx="2952750" cy="781050"/>
          </a:xfrm>
          <a:prstGeom prst="rect">
            <a:avLst/>
          </a:prstGeom>
          <a:noFill/>
          <a:ln w="0">
            <a:noFill/>
          </a:ln>
        </p:spPr>
        <p:txBody>
          <a:bodyPr wrap="square" lIns="0" tIns="0" rIns="0" bIns="0" anchor="ctr">
            <a:normAutofit fontScale="93046"/>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Додатни фактор доказује присуство или поседовање независног средства, а не понавља само исту лозинку.</a:t>
            </a:r>
          </a:p>
        </p:txBody>
      </p:sp>
      <p:sp>
        <p:nvSpPr>
          <p:cNvPr id="17" name="Rectangle 16">
            <a:extLst>
              <a:ext uri="{FF2B5EF4-FFF2-40B4-BE49-F238E27FC236}">
                <a16:creationId xmlns:a16="http://schemas.microsoft.com/office/drawing/2014/main" id="{124E15CF-0C2F-4B64-9C93-0321C90CE7C8}"/>
              </a:ext>
            </a:extLst>
          </p:cNvPr>
          <p:cNvSpPr>
            <a:spLocks noGrp="1"/>
          </p:cNvSpPr>
          <p:nvPr/>
        </p:nvSpPr>
        <p:spPr>
          <a:xfrm>
            <a:off x="8172450" y="3648075"/>
            <a:ext cx="2952750" cy="628650"/>
          </a:xfrm>
          <a:prstGeom prst="rect">
            <a:avLst/>
          </a:prstGeom>
          <a:noFill/>
          <a:ln w="0">
            <a:noFill/>
          </a:ln>
        </p:spPr>
        <p:txBody>
          <a:bodyPr wrap="square" lIns="0" tIns="0" rIns="0" bIns="0" anchor="t">
            <a:normAutofit/>
          </a:bodyPr>
          <a:lstStyle/>
          <a:p>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a:ext uri="{FF2B5EF4-FFF2-40B4-BE49-F238E27FC236}">
                <a16:creationId xmlns:a16="http://schemas.microsoft.com/office/drawing/2014/main" id="{028BD193-BA55-43B1-9B96-2A67AB5FF9AE}"/>
              </a:ext>
            </a:extLst>
          </p:cNvPr>
          <p:cNvSpPr>
            <a:spLocks noGrp="1"/>
          </p:cNvSpPr>
          <p:nvPr/>
        </p:nvSpPr>
        <p:spPr>
          <a:xfrm>
            <a:off x="1600200" y="4752975"/>
            <a:ext cx="8991600" cy="742950"/>
          </a:xfrm>
          <a:prstGeom prst="roundRect">
            <a:avLst>
              <a:gd name="adj" fmla="val 16667"/>
            </a:avLst>
          </a:prstGeom>
          <a:solidFill>
            <a:srgbClr val="FFF6E9"/>
          </a:solidFill>
          <a:ln w="9525">
            <a:solidFill>
              <a:srgbClr val="D7DEE8"/>
            </a:solidFill>
            <a:prstDash val="solid"/>
          </a:ln>
        </p:spPr>
      </p:sp>
      <p:sp>
        <p:nvSpPr>
          <p:cNvPr id="19" name="Rounded Rectangle 18">
            <a:extLst>
              <a:ext uri="{FF2B5EF4-FFF2-40B4-BE49-F238E27FC236}">
                <a16:creationId xmlns:a16="http://schemas.microsoft.com/office/drawing/2014/main" id="{1E50AF6D-43B0-4D0F-92B3-9C34E484E606}"/>
              </a:ext>
            </a:extLst>
          </p:cNvPr>
          <p:cNvSpPr>
            <a:spLocks noGrp="1"/>
          </p:cNvSpPr>
          <p:nvPr/>
        </p:nvSpPr>
        <p:spPr>
          <a:xfrm>
            <a:off x="1733550" y="4895850"/>
            <a:ext cx="57150" cy="457200"/>
          </a:xfrm>
          <a:prstGeom prst="roundRect">
            <a:avLst>
              <a:gd name="adj" fmla="val 50000"/>
            </a:avLst>
          </a:prstGeom>
          <a:solidFill>
            <a:srgbClr val="B86A09"/>
          </a:solidFill>
          <a:ln w="0">
            <a:noFill/>
          </a:ln>
        </p:spPr>
      </p:sp>
      <p:sp>
        <p:nvSpPr>
          <p:cNvPr id="22" name="Rounded Rectangle 21">
            <a:extLst>
              <a:ext uri="{FF2B5EF4-FFF2-40B4-BE49-F238E27FC236}">
                <a16:creationId xmlns:a16="http://schemas.microsoft.com/office/drawing/2014/main" id="{0CF7A7C8-DBB3-4959-A159-CD88A3EAE7A2}"/>
              </a:ext>
            </a:extLst>
          </p:cNvPr>
          <p:cNvSpPr>
            <a:spLocks noGrp="1"/>
          </p:cNvSpPr>
          <p:nvPr/>
        </p:nvSpPr>
        <p:spPr>
          <a:xfrm>
            <a:off x="914400" y="4762500"/>
            <a:ext cx="10363200" cy="781050"/>
          </a:xfrm>
          <a:prstGeom prst="roundRect">
            <a:avLst>
              <a:gd name="adj" fmla="val 17073"/>
            </a:avLst>
          </a:prstGeom>
          <a:solidFill>
            <a:srgbClr val="EEF3FF"/>
          </a:solidFill>
          <a:ln w="8573">
            <a:solidFill>
              <a:srgbClr val="CAD7F2"/>
            </a:solidFill>
            <a:prstDash val="solid"/>
          </a:ln>
        </p:spPr>
      </p:sp>
      <p:sp>
        <p:nvSpPr>
          <p:cNvPr id="23" name="Rounded Rectangle 22">
            <a:extLst>
              <a:ext uri="{FF2B5EF4-FFF2-40B4-BE49-F238E27FC236}">
                <a16:creationId xmlns:a16="http://schemas.microsoft.com/office/drawing/2014/main" id="{7FFFF33A-DC57-4DC0-BB59-E5E0100E5650}"/>
              </a:ext>
            </a:extLst>
          </p:cNvPr>
          <p:cNvSpPr>
            <a:spLocks noGrp="1"/>
          </p:cNvSpPr>
          <p:nvPr/>
        </p:nvSpPr>
        <p:spPr>
          <a:xfrm>
            <a:off x="1085850" y="4914900"/>
            <a:ext cx="57150" cy="476250"/>
          </a:xfrm>
          <a:prstGeom prst="roundRect">
            <a:avLst>
              <a:gd name="adj" fmla="val 50000"/>
            </a:avLst>
          </a:prstGeom>
          <a:solidFill>
            <a:srgbClr val="2F5EF5"/>
          </a:solidFill>
          <a:ln w="0">
            <a:noFill/>
          </a:ln>
        </p:spPr>
      </p:sp>
      <p:sp>
        <p:nvSpPr>
          <p:cNvPr id="24" name="Rectangle 23">
            <a:extLst>
              <a:ext uri="{FF2B5EF4-FFF2-40B4-BE49-F238E27FC236}">
                <a16:creationId xmlns:a16="http://schemas.microsoft.com/office/drawing/2014/main" id="{F7EBC964-DDE0-4C2B-9B66-15638BD9C60F}"/>
              </a:ext>
            </a:extLst>
          </p:cNvPr>
          <p:cNvSpPr>
            <a:spLocks noGrp="1"/>
          </p:cNvSpPr>
          <p:nvPr/>
        </p:nvSpPr>
        <p:spPr>
          <a:xfrm>
            <a:off x="1333500" y="48672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ПИТАЊЕ ЗА ДИСКУСИЈУ</a:t>
            </a:r>
          </a:p>
        </p:txBody>
      </p:sp>
      <p:sp>
        <p:nvSpPr>
          <p:cNvPr id="25" name="Rectangle 24">
            <a:extLst>
              <a:ext uri="{FF2B5EF4-FFF2-40B4-BE49-F238E27FC236}">
                <a16:creationId xmlns:a16="http://schemas.microsoft.com/office/drawing/2014/main" id="{6E196054-AAA5-4C37-8D6B-2382F948A5BA}"/>
              </a:ext>
            </a:extLst>
          </p:cNvPr>
          <p:cNvSpPr>
            <a:spLocks noGrp="1"/>
          </p:cNvSpPr>
          <p:nvPr/>
        </p:nvSpPr>
        <p:spPr>
          <a:xfrm>
            <a:off x="1333500" y="509587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Tree>
    <p:extLst>
      <p:ext uri="{BB962C8B-B14F-4D97-AF65-F5344CB8AC3E}">
        <p14:creationId xmlns:p14="http://schemas.microsoft.com/office/powerpoint/2010/main" val="11198329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1FA49612-00E2-4578-B4C2-A9D26D49B464}"/>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5B90DC76-738F-4DD5-A23C-B5F3C605F4B7}"/>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70132614-D32F-4094-B4E7-4B1DF9514406}"/>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a:ext uri="{FF2B5EF4-FFF2-40B4-BE49-F238E27FC236}">
                <a16:creationId xmlns:a16="http://schemas.microsoft.com/office/drawing/2014/main" id="{426ED9E0-B568-42C3-B3F4-94807BD6585D}"/>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Различите врсте идентитета</a:t>
            </a:r>
          </a:p>
        </p:txBody>
      </p:sp>
      <p:sp>
        <p:nvSpPr>
          <p:cNvPr id="5" name="Rectangle 4">
            <a:extLst>
              <a:ext uri="{FF2B5EF4-FFF2-40B4-BE49-F238E27FC236}">
                <a16:creationId xmlns:a16="http://schemas.microsoft.com/office/drawing/2014/main" id="{DEAEF5D0-71F9-4A50-9984-7406375212EE}"/>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служи да се разлике виде без тешке табеле и ситног текста.</a:t>
            </a:r>
          </a:p>
        </p:txBody>
      </p:sp>
      <p:sp>
        <p:nvSpPr>
          <p:cNvPr id="6" name="Rectangle 5">
            <a:extLst>
              <a:ext uri="{FF2B5EF4-FFF2-40B4-BE49-F238E27FC236}">
                <a16:creationId xmlns:a16="http://schemas.microsoft.com/office/drawing/2014/main" id="{0D1B1166-CE5A-401C-89C3-E2D94661AEF6}"/>
              </a:ext>
            </a:extLst>
          </p:cNvPr>
          <p:cNvSpPr>
            <a:spLocks noGrp="1"/>
          </p:cNvSpPr>
          <p:nvPr/>
        </p:nvSpPr>
        <p:spPr>
          <a:xfrm>
            <a:off x="876300" y="2047875"/>
            <a:ext cx="24765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Идентитет</a:t>
            </a:r>
          </a:p>
        </p:txBody>
      </p:sp>
      <p:sp>
        <p:nvSpPr>
          <p:cNvPr id="7" name="Rectangle 6">
            <a:extLst>
              <a:ext uri="{FF2B5EF4-FFF2-40B4-BE49-F238E27FC236}">
                <a16:creationId xmlns:a16="http://schemas.microsoft.com/office/drawing/2014/main" id="{725BFCD5-040B-4C58-8C7D-12E4665052EC}"/>
              </a:ext>
            </a:extLst>
          </p:cNvPr>
          <p:cNvSpPr>
            <a:spLocks noGrp="1"/>
          </p:cNvSpPr>
          <p:nvPr/>
        </p:nvSpPr>
        <p:spPr>
          <a:xfrm>
            <a:off x="3638550" y="2047875"/>
            <a:ext cx="36195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Намена</a:t>
            </a:r>
          </a:p>
        </p:txBody>
      </p:sp>
      <p:sp>
        <p:nvSpPr>
          <p:cNvPr id="8" name="Rectangle 7">
            <a:extLst>
              <a:ext uri="{FF2B5EF4-FFF2-40B4-BE49-F238E27FC236}">
                <a16:creationId xmlns:a16="http://schemas.microsoft.com/office/drawing/2014/main" id="{A7FBFBAD-0D52-488C-88C4-F4E5EE061390}"/>
              </a:ext>
            </a:extLst>
          </p:cNvPr>
          <p:cNvSpPr>
            <a:spLocks noGrp="1"/>
          </p:cNvSpPr>
          <p:nvPr/>
        </p:nvSpPr>
        <p:spPr>
          <a:xfrm>
            <a:off x="7543800" y="2047875"/>
            <a:ext cx="3771900" cy="228600"/>
          </a:xfrm>
          <a:prstGeom prst="rect">
            <a:avLst/>
          </a:prstGeom>
          <a:noFill/>
          <a:ln w="0">
            <a:noFill/>
          </a:ln>
        </p:spPr>
        <p:txBody>
          <a:bodyPr wrap="square" lIns="0" tIns="0" rIns="0" bIns="0" anchor="t">
            <a:normAutofit/>
          </a:bodyPr>
          <a:lstStyle/>
          <a:p>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Посебан ризик</a:t>
            </a:r>
          </a:p>
        </p:txBody>
      </p:sp>
      <p:sp>
        <p:nvSpPr>
          <p:cNvPr id="9" name="Rounded Rectangle 8">
            <a:extLst>
              <a:ext uri="{FF2B5EF4-FFF2-40B4-BE49-F238E27FC236}">
                <a16:creationId xmlns:a16="http://schemas.microsoft.com/office/drawing/2014/main" id="{578E1477-0DE1-4454-8338-8CE6DDD99592}"/>
              </a:ext>
            </a:extLst>
          </p:cNvPr>
          <p:cNvSpPr>
            <a:spLocks noGrp="1"/>
          </p:cNvSpPr>
          <p:nvPr/>
        </p:nvSpPr>
        <p:spPr>
          <a:xfrm>
            <a:off x="800100" y="2362200"/>
            <a:ext cx="10591800" cy="609600"/>
          </a:xfrm>
          <a:prstGeom prst="roundRect">
            <a:avLst>
              <a:gd name="adj" fmla="val 17188"/>
            </a:avLst>
          </a:prstGeom>
          <a:solidFill>
            <a:srgbClr val="F4F6F9"/>
          </a:solidFill>
          <a:ln w="9525">
            <a:solidFill>
              <a:srgbClr val="D7DEE8"/>
            </a:solidFill>
            <a:prstDash val="solid"/>
          </a:ln>
        </p:spPr>
      </p:sp>
      <p:sp>
        <p:nvSpPr>
          <p:cNvPr id="10" name="Rectangle 9">
            <a:extLst>
              <a:ext uri="{FF2B5EF4-FFF2-40B4-BE49-F238E27FC236}">
                <a16:creationId xmlns:a16="http://schemas.microsoft.com/office/drawing/2014/main" id="{AC829531-B147-43A5-ACC2-B3CA3BECF73E}"/>
              </a:ext>
            </a:extLst>
          </p:cNvPr>
          <p:cNvSpPr>
            <a:spLocks noGrp="1"/>
          </p:cNvSpPr>
          <p:nvPr/>
        </p:nvSpPr>
        <p:spPr>
          <a:xfrm>
            <a:off x="952500" y="248602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Људски корисник</a:t>
            </a:r>
          </a:p>
        </p:txBody>
      </p:sp>
      <p:sp>
        <p:nvSpPr>
          <p:cNvPr id="11" name="Rectangle 10">
            <a:extLst>
              <a:ext uri="{FF2B5EF4-FFF2-40B4-BE49-F238E27FC236}">
                <a16:creationId xmlns:a16="http://schemas.microsoft.com/office/drawing/2014/main" id="{79428596-F7F1-43E4-8A66-0BED2C2B4FC8}"/>
              </a:ext>
            </a:extLst>
          </p:cNvPr>
          <p:cNvSpPr>
            <a:spLocks noGrp="1"/>
          </p:cNvSpPr>
          <p:nvPr/>
        </p:nvSpPr>
        <p:spPr>
          <a:xfrm>
            <a:off x="3638550" y="24288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Интерактивне радње и одговорност.</a:t>
            </a:r>
          </a:p>
        </p:txBody>
      </p:sp>
      <p:sp>
        <p:nvSpPr>
          <p:cNvPr id="12" name="Rectangle 11">
            <a:extLst>
              <a:ext uri="{FF2B5EF4-FFF2-40B4-BE49-F238E27FC236}">
                <a16:creationId xmlns:a16="http://schemas.microsoft.com/office/drawing/2014/main" id="{D9699CA7-DACD-406F-84C3-0A795615D135}"/>
              </a:ext>
            </a:extLst>
          </p:cNvPr>
          <p:cNvSpPr>
            <a:spLocks noGrp="1"/>
          </p:cNvSpPr>
          <p:nvPr/>
        </p:nvSpPr>
        <p:spPr>
          <a:xfrm>
            <a:off x="7543800" y="24288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Крађа креденцијала или преширока улога.</a:t>
            </a:r>
          </a:p>
        </p:txBody>
      </p:sp>
      <p:sp>
        <p:nvSpPr>
          <p:cNvPr id="13" name="Rounded Rectangle 12">
            <a:extLst>
              <a:ext uri="{FF2B5EF4-FFF2-40B4-BE49-F238E27FC236}">
                <a16:creationId xmlns:a16="http://schemas.microsoft.com/office/drawing/2014/main" id="{750175FD-053A-48A3-8CC5-408FCE563DEB}"/>
              </a:ext>
            </a:extLst>
          </p:cNvPr>
          <p:cNvSpPr>
            <a:spLocks noGrp="1"/>
          </p:cNvSpPr>
          <p:nvPr/>
        </p:nvSpPr>
        <p:spPr>
          <a:xfrm>
            <a:off x="800100" y="3105150"/>
            <a:ext cx="10591800" cy="609600"/>
          </a:xfrm>
          <a:prstGeom prst="roundRect">
            <a:avLst>
              <a:gd name="adj" fmla="val 17188"/>
            </a:avLst>
          </a:prstGeom>
          <a:solidFill>
            <a:srgbClr val="EEF3FF"/>
          </a:solidFill>
          <a:ln w="9525">
            <a:solidFill>
              <a:srgbClr val="D7DEE8"/>
            </a:solidFill>
            <a:prstDash val="solid"/>
          </a:ln>
        </p:spPr>
      </p:sp>
      <p:sp>
        <p:nvSpPr>
          <p:cNvPr id="14" name="Rectangle 13">
            <a:extLst>
              <a:ext uri="{FF2B5EF4-FFF2-40B4-BE49-F238E27FC236}">
                <a16:creationId xmlns:a16="http://schemas.microsoft.com/office/drawing/2014/main" id="{AF78A3C5-5C13-491A-8E0B-DBA4ADB04715}"/>
              </a:ext>
            </a:extLst>
          </p:cNvPr>
          <p:cNvSpPr>
            <a:spLocks noGrp="1"/>
          </p:cNvSpPr>
          <p:nvPr/>
        </p:nvSpPr>
        <p:spPr>
          <a:xfrm>
            <a:off x="952500" y="322897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2F5EF5"/>
                </a:solidFill>
                <a:latin typeface="Aptos"/>
                <a:ea typeface="Aptos"/>
                <a:cs typeface="Aptos"/>
              </a:defRPr>
            </a:pPr>
            <a:r>
              <a:rPr sz="1275" b="1">
                <a:solidFill>
                  <a:srgbClr val="2F5EF5"/>
                </a:solidFill>
                <a:latin typeface="Aptos"/>
                <a:ea typeface="Aptos"/>
                <a:cs typeface="Aptos"/>
              </a:rPr>
              <a:t>Сервисни налог</a:t>
            </a:r>
          </a:p>
        </p:txBody>
      </p:sp>
      <p:sp>
        <p:nvSpPr>
          <p:cNvPr id="15" name="Rectangle 14">
            <a:extLst>
              <a:ext uri="{FF2B5EF4-FFF2-40B4-BE49-F238E27FC236}">
                <a16:creationId xmlns:a16="http://schemas.microsoft.com/office/drawing/2014/main" id="{A7E6D7B0-2A6F-43B6-8CEF-E1188DB732F4}"/>
              </a:ext>
            </a:extLst>
          </p:cNvPr>
          <p:cNvSpPr>
            <a:spLocks noGrp="1"/>
          </p:cNvSpPr>
          <p:nvPr/>
        </p:nvSpPr>
        <p:spPr>
          <a:xfrm>
            <a:off x="3638550" y="31718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Комуникација међу компонентама.</a:t>
            </a:r>
          </a:p>
        </p:txBody>
      </p:sp>
      <p:sp>
        <p:nvSpPr>
          <p:cNvPr id="16" name="Rectangle 15">
            <a:extLst>
              <a:ext uri="{FF2B5EF4-FFF2-40B4-BE49-F238E27FC236}">
                <a16:creationId xmlns:a16="http://schemas.microsoft.com/office/drawing/2014/main" id="{E573AD47-986C-4933-9AC8-372F140A68D3}"/>
              </a:ext>
            </a:extLst>
          </p:cNvPr>
          <p:cNvSpPr>
            <a:spLocks noGrp="1"/>
          </p:cNvSpPr>
          <p:nvPr/>
        </p:nvSpPr>
        <p:spPr>
          <a:xfrm>
            <a:off x="7543800" y="31718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Тајна без рока или превелик опсег.</a:t>
            </a:r>
          </a:p>
        </p:txBody>
      </p:sp>
      <p:sp>
        <p:nvSpPr>
          <p:cNvPr id="17" name="Rounded Rectangle 16">
            <a:extLst>
              <a:ext uri="{FF2B5EF4-FFF2-40B4-BE49-F238E27FC236}">
                <a16:creationId xmlns:a16="http://schemas.microsoft.com/office/drawing/2014/main" id="{C49524F1-EF03-4E5A-9795-AC5DA6934696}"/>
              </a:ext>
            </a:extLst>
          </p:cNvPr>
          <p:cNvSpPr>
            <a:spLocks noGrp="1"/>
          </p:cNvSpPr>
          <p:nvPr/>
        </p:nvSpPr>
        <p:spPr>
          <a:xfrm>
            <a:off x="800100" y="3848100"/>
            <a:ext cx="10591800" cy="609600"/>
          </a:xfrm>
          <a:prstGeom prst="roundRect">
            <a:avLst>
              <a:gd name="adj" fmla="val 17188"/>
            </a:avLst>
          </a:prstGeom>
          <a:solidFill>
            <a:srgbClr val="F5F0FF"/>
          </a:solidFill>
          <a:ln w="9525">
            <a:solidFill>
              <a:srgbClr val="D7DEE8"/>
            </a:solidFill>
            <a:prstDash val="solid"/>
          </a:ln>
        </p:spPr>
      </p:sp>
      <p:sp>
        <p:nvSpPr>
          <p:cNvPr id="18" name="Rectangle 17">
            <a:extLst>
              <a:ext uri="{FF2B5EF4-FFF2-40B4-BE49-F238E27FC236}">
                <a16:creationId xmlns:a16="http://schemas.microsoft.com/office/drawing/2014/main" id="{D9B2C4C6-6A8C-487B-B05F-2C48BCE8C20D}"/>
              </a:ext>
            </a:extLst>
          </p:cNvPr>
          <p:cNvSpPr>
            <a:spLocks noGrp="1"/>
          </p:cNvSpPr>
          <p:nvPr/>
        </p:nvSpPr>
        <p:spPr>
          <a:xfrm>
            <a:off x="952500" y="397192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7651D4"/>
                </a:solidFill>
                <a:latin typeface="Aptos"/>
                <a:ea typeface="Aptos"/>
                <a:cs typeface="Aptos"/>
              </a:defRPr>
            </a:pPr>
            <a:r>
              <a:rPr sz="1275" b="1">
                <a:solidFill>
                  <a:srgbClr val="7651D4"/>
                </a:solidFill>
                <a:latin typeface="Aptos"/>
                <a:ea typeface="Aptos"/>
                <a:cs typeface="Aptos"/>
              </a:rPr>
              <a:t>Привремени приступ</a:t>
            </a:r>
          </a:p>
        </p:txBody>
      </p:sp>
      <p:sp>
        <p:nvSpPr>
          <p:cNvPr id="19" name="Rectangle 18">
            <a:extLst>
              <a:ext uri="{FF2B5EF4-FFF2-40B4-BE49-F238E27FC236}">
                <a16:creationId xmlns:a16="http://schemas.microsoft.com/office/drawing/2014/main" id="{4F11D6DB-57F8-4369-8912-5F155E48E224}"/>
              </a:ext>
            </a:extLst>
          </p:cNvPr>
          <p:cNvSpPr>
            <a:spLocks noGrp="1"/>
          </p:cNvSpPr>
          <p:nvPr/>
        </p:nvSpPr>
        <p:spPr>
          <a:xfrm>
            <a:off x="3638550" y="39147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Кратка ризична интервенција.</a:t>
            </a:r>
          </a:p>
        </p:txBody>
      </p:sp>
      <p:sp>
        <p:nvSpPr>
          <p:cNvPr id="20" name="Rectangle 19">
            <a:extLst>
              <a:ext uri="{FF2B5EF4-FFF2-40B4-BE49-F238E27FC236}">
                <a16:creationId xmlns:a16="http://schemas.microsoft.com/office/drawing/2014/main" id="{FB7E91F3-A640-445D-B5F2-39768E74A9D7}"/>
              </a:ext>
            </a:extLst>
          </p:cNvPr>
          <p:cNvSpPr>
            <a:spLocks noGrp="1"/>
          </p:cNvSpPr>
          <p:nvPr/>
        </p:nvSpPr>
        <p:spPr>
          <a:xfrm>
            <a:off x="7543800" y="391477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Право остане активно након потребе.</a:t>
            </a:r>
          </a:p>
        </p:txBody>
      </p:sp>
      <p:sp>
        <p:nvSpPr>
          <p:cNvPr id="21" name="Rounded Rectangle 20">
            <a:extLst>
              <a:ext uri="{FF2B5EF4-FFF2-40B4-BE49-F238E27FC236}">
                <a16:creationId xmlns:a16="http://schemas.microsoft.com/office/drawing/2014/main" id="{531EBD8E-99E5-44A5-96D5-97101F87BFEF}"/>
              </a:ext>
            </a:extLst>
          </p:cNvPr>
          <p:cNvSpPr>
            <a:spLocks noGrp="1"/>
          </p:cNvSpPr>
          <p:nvPr/>
        </p:nvSpPr>
        <p:spPr>
          <a:xfrm>
            <a:off x="800100" y="4591050"/>
            <a:ext cx="10591800" cy="609600"/>
          </a:xfrm>
          <a:prstGeom prst="roundRect">
            <a:avLst>
              <a:gd name="adj" fmla="val 17188"/>
            </a:avLst>
          </a:prstGeom>
          <a:solidFill>
            <a:srgbClr val="EDF8F2"/>
          </a:solidFill>
          <a:ln w="9525">
            <a:solidFill>
              <a:srgbClr val="D7DEE8"/>
            </a:solidFill>
            <a:prstDash val="solid"/>
          </a:ln>
        </p:spPr>
      </p:sp>
      <p:sp>
        <p:nvSpPr>
          <p:cNvPr id="22" name="Rectangle 21">
            <a:extLst>
              <a:ext uri="{FF2B5EF4-FFF2-40B4-BE49-F238E27FC236}">
                <a16:creationId xmlns:a16="http://schemas.microsoft.com/office/drawing/2014/main" id="{676E7BDD-0A31-4D73-B5D3-DF45DB94ABE1}"/>
              </a:ext>
            </a:extLst>
          </p:cNvPr>
          <p:cNvSpPr>
            <a:spLocks noGrp="1"/>
          </p:cNvSpPr>
          <p:nvPr/>
        </p:nvSpPr>
        <p:spPr>
          <a:xfrm>
            <a:off x="952500" y="4714875"/>
            <a:ext cx="2381250" cy="361950"/>
          </a:xfrm>
          <a:prstGeom prst="rect">
            <a:avLst/>
          </a:prstGeom>
          <a:noFill/>
          <a:ln w="0">
            <a:noFill/>
          </a:ln>
        </p:spPr>
        <p:txBody>
          <a:bodyPr wrap="square" lIns="0" tIns="0" rIns="0" bIns="0" anchor="ctr">
            <a:normAutofit/>
          </a:bodyPr>
          <a:lstStyle/>
          <a:p>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Администраторски налог</a:t>
            </a:r>
          </a:p>
        </p:txBody>
      </p:sp>
      <p:sp>
        <p:nvSpPr>
          <p:cNvPr id="23" name="Rectangle 22">
            <a:extLst>
              <a:ext uri="{FF2B5EF4-FFF2-40B4-BE49-F238E27FC236}">
                <a16:creationId xmlns:a16="http://schemas.microsoft.com/office/drawing/2014/main" id="{4F742B0F-A433-40E1-8C78-637343E286F2}"/>
              </a:ext>
            </a:extLst>
          </p:cNvPr>
          <p:cNvSpPr>
            <a:spLocks noGrp="1"/>
          </p:cNvSpPr>
          <p:nvPr/>
        </p:nvSpPr>
        <p:spPr>
          <a:xfrm>
            <a:off x="3638550" y="46577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Измене са великим утицајем.</a:t>
            </a:r>
          </a:p>
        </p:txBody>
      </p:sp>
      <p:sp>
        <p:nvSpPr>
          <p:cNvPr id="24" name="Rectangle 23">
            <a:extLst>
              <a:ext uri="{FF2B5EF4-FFF2-40B4-BE49-F238E27FC236}">
                <a16:creationId xmlns:a16="http://schemas.microsoft.com/office/drawing/2014/main" id="{4E3A8E12-32CF-4D3C-96CB-E8869940A2B2}"/>
              </a:ext>
            </a:extLst>
          </p:cNvPr>
          <p:cNvSpPr>
            <a:spLocks noGrp="1"/>
          </p:cNvSpPr>
          <p:nvPr/>
        </p:nvSpPr>
        <p:spPr>
          <a:xfrm>
            <a:off x="7543800" y="4657725"/>
            <a:ext cx="3619500" cy="457200"/>
          </a:xfrm>
          <a:prstGeom prst="rect">
            <a:avLst/>
          </a:prstGeom>
          <a:noFill/>
          <a:ln w="0">
            <a:noFill/>
          </a:ln>
        </p:spPr>
        <p:txBody>
          <a:bodyPr wrap="square" lIns="0" tIns="0" rIns="0" bIns="0" anchor="ctr">
            <a:normAutofit/>
          </a:bodyPr>
          <a:lstStyle/>
          <a:p>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Недостатак додатне потврде и аудита.</a:t>
            </a:r>
          </a:p>
        </p:txBody>
      </p:sp>
    </p:spTree>
    <p:extLst>
      <p:ext uri="{BB962C8B-B14F-4D97-AF65-F5344CB8AC3E}">
        <p14:creationId xmlns:p14="http://schemas.microsoft.com/office/powerpoint/2010/main" val="7332643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9AE70185-69A8-4BD5-9FD4-E3CCB84249DC}"/>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13269506-5D1E-47A6-BB6E-440F1E5955BD}"/>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4E95BB98-4603-4A11-AD9D-741EEB81C882}"/>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a:ext uri="{FF2B5EF4-FFF2-40B4-BE49-F238E27FC236}">
                <a16:creationId xmlns:a16="http://schemas.microsoft.com/office/drawing/2014/main" id="{C68BE4C7-8FCD-4423-886E-6A058D621645}"/>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Шема животног циклуса поверења</a:t>
            </a:r>
          </a:p>
        </p:txBody>
      </p:sp>
      <p:sp>
        <p:nvSpPr>
          <p:cNvPr id="5" name="Rectangle 4">
            <a:extLst>
              <a:ext uri="{FF2B5EF4-FFF2-40B4-BE49-F238E27FC236}">
                <a16:creationId xmlns:a16="http://schemas.microsoft.com/office/drawing/2014/main" id="{5E07F500-8288-4BDD-97F3-CBC1F962EA8B}"/>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Поверење се не чува заувек. Систем га обнавља или опозива када се промени ризик.</a:t>
            </a:r>
          </a:p>
        </p:txBody>
      </p:sp>
      <p:sp>
        <p:nvSpPr>
          <p:cNvPr id="6" name="Rounded Rectangle 5">
            <a:extLst>
              <a:ext uri="{FF2B5EF4-FFF2-40B4-BE49-F238E27FC236}">
                <a16:creationId xmlns:a16="http://schemas.microsoft.com/office/drawing/2014/main" id="{E2D0E638-DD7B-40D9-9911-80F557C011E5}"/>
              </a:ext>
            </a:extLst>
          </p:cNvPr>
          <p:cNvSpPr>
            <a:spLocks noGrp="1"/>
          </p:cNvSpPr>
          <p:nvPr/>
        </p:nvSpPr>
        <p:spPr>
          <a:xfrm>
            <a:off x="742950" y="2571750"/>
            <a:ext cx="2462213"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349D5260-FAAA-49F1-9848-2E22CDE6CE7C}"/>
              </a:ext>
            </a:extLst>
          </p:cNvPr>
          <p:cNvSpPr>
            <a:spLocks noGrp="1"/>
          </p:cNvSpPr>
          <p:nvPr/>
        </p:nvSpPr>
        <p:spPr>
          <a:xfrm>
            <a:off x="885825"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9459713A-30AB-4C09-9F9C-15E44FED8FC0}"/>
              </a:ext>
            </a:extLst>
          </p:cNvPr>
          <p:cNvSpPr>
            <a:spLocks noGrp="1"/>
          </p:cNvSpPr>
          <p:nvPr/>
        </p:nvSpPr>
        <p:spPr>
          <a:xfrm>
            <a:off x="876300"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Почетна пријава</a:t>
            </a:r>
          </a:p>
        </p:txBody>
      </p:sp>
      <p:sp>
        <p:nvSpPr>
          <p:cNvPr id="9" name="Rectangle 8">
            <a:extLst>
              <a:ext uri="{FF2B5EF4-FFF2-40B4-BE49-F238E27FC236}">
                <a16:creationId xmlns:a16="http://schemas.microsoft.com/office/drawing/2014/main" id="{D7F951D8-F4F5-4D46-A422-42236B6D4CC9}"/>
              </a:ext>
            </a:extLst>
          </p:cNvPr>
          <p:cNvSpPr>
            <a:spLocks noGrp="1"/>
          </p:cNvSpPr>
          <p:nvPr/>
        </p:nvSpPr>
        <p:spPr>
          <a:xfrm>
            <a:off x="885825"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основни ниво поверења</a:t>
            </a:r>
          </a:p>
        </p:txBody>
      </p:sp>
      <p:sp>
        <p:nvSpPr>
          <p:cNvPr id="10" name="Rounded Rectangle 9">
            <a:extLst>
              <a:ext uri="{FF2B5EF4-FFF2-40B4-BE49-F238E27FC236}">
                <a16:creationId xmlns:a16="http://schemas.microsoft.com/office/drawing/2014/main" id="{D5EF6400-EDA8-48BD-AA77-0F0AE28B1A04}"/>
              </a:ext>
            </a:extLst>
          </p:cNvPr>
          <p:cNvSpPr>
            <a:spLocks noGrp="1"/>
          </p:cNvSpPr>
          <p:nvPr/>
        </p:nvSpPr>
        <p:spPr>
          <a:xfrm>
            <a:off x="3490913" y="2571750"/>
            <a:ext cx="2462213" cy="1257300"/>
          </a:xfrm>
          <a:prstGeom prst="roundRect">
            <a:avLst>
              <a:gd name="adj" fmla="val 10606"/>
            </a:avLst>
          </a:prstGeom>
          <a:solidFill>
            <a:srgbClr val="EDF8FA"/>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9CBC2849-EC22-4B7F-8FF6-AAB392E87876}"/>
              </a:ext>
            </a:extLst>
          </p:cNvPr>
          <p:cNvSpPr>
            <a:spLocks noGrp="1"/>
          </p:cNvSpPr>
          <p:nvPr/>
        </p:nvSpPr>
        <p:spPr>
          <a:xfrm>
            <a:off x="3633788"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a:ext uri="{FF2B5EF4-FFF2-40B4-BE49-F238E27FC236}">
                <a16:creationId xmlns:a16="http://schemas.microsoft.com/office/drawing/2014/main" id="{A1E363FF-94F0-4157-A868-86702EBBC413}"/>
              </a:ext>
            </a:extLst>
          </p:cNvPr>
          <p:cNvSpPr>
            <a:spLocks noGrp="1"/>
          </p:cNvSpPr>
          <p:nvPr/>
        </p:nvSpPr>
        <p:spPr>
          <a:xfrm>
            <a:off x="3624263"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Активна сесија</a:t>
            </a:r>
          </a:p>
        </p:txBody>
      </p:sp>
      <p:sp>
        <p:nvSpPr>
          <p:cNvPr id="13" name="Rectangle 12">
            <a:extLst>
              <a:ext uri="{FF2B5EF4-FFF2-40B4-BE49-F238E27FC236}">
                <a16:creationId xmlns:a16="http://schemas.microsoft.com/office/drawing/2014/main" id="{5CCC057A-194D-4F92-B4EB-9C28FB1347A2}"/>
              </a:ext>
            </a:extLst>
          </p:cNvPr>
          <p:cNvSpPr>
            <a:spLocks noGrp="1"/>
          </p:cNvSpPr>
          <p:nvPr/>
        </p:nvSpPr>
        <p:spPr>
          <a:xfrm>
            <a:off x="3633788"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временски ограничена</a:t>
            </a:r>
          </a:p>
        </p:txBody>
      </p:sp>
      <p:sp>
        <p:nvSpPr>
          <p:cNvPr id="14" name="Rounded Rectangle 13">
            <a:extLst>
              <a:ext uri="{FF2B5EF4-FFF2-40B4-BE49-F238E27FC236}">
                <a16:creationId xmlns:a16="http://schemas.microsoft.com/office/drawing/2014/main" id="{3B71C71D-EAD5-4D03-BFBB-F76EDBB71FCE}"/>
              </a:ext>
            </a:extLst>
          </p:cNvPr>
          <p:cNvSpPr>
            <a:spLocks noGrp="1"/>
          </p:cNvSpPr>
          <p:nvPr/>
        </p:nvSpPr>
        <p:spPr>
          <a:xfrm>
            <a:off x="6238875" y="2571750"/>
            <a:ext cx="2462213" cy="1257300"/>
          </a:xfrm>
          <a:prstGeom prst="roundRect">
            <a:avLst>
              <a:gd name="adj" fmla="val 10606"/>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36272A53-75EE-419B-B637-20F2AD6C21D5}"/>
              </a:ext>
            </a:extLst>
          </p:cNvPr>
          <p:cNvSpPr>
            <a:spLocks noGrp="1"/>
          </p:cNvSpPr>
          <p:nvPr/>
        </p:nvSpPr>
        <p:spPr>
          <a:xfrm>
            <a:off x="6381750"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03</a:t>
            </a:r>
          </a:p>
        </p:txBody>
      </p:sp>
      <p:sp>
        <p:nvSpPr>
          <p:cNvPr id="16" name="Rectangle 15">
            <a:extLst>
              <a:ext uri="{FF2B5EF4-FFF2-40B4-BE49-F238E27FC236}">
                <a16:creationId xmlns:a16="http://schemas.microsoft.com/office/drawing/2014/main" id="{E33B02A4-D6E5-41F2-9B41-1C8952F75554}"/>
              </a:ext>
            </a:extLst>
          </p:cNvPr>
          <p:cNvSpPr>
            <a:spLocks noGrp="1"/>
          </p:cNvSpPr>
          <p:nvPr/>
        </p:nvSpPr>
        <p:spPr>
          <a:xfrm>
            <a:off x="6372225"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Ризична радња</a:t>
            </a:r>
          </a:p>
        </p:txBody>
      </p:sp>
      <p:sp>
        <p:nvSpPr>
          <p:cNvPr id="17" name="Rectangle 16">
            <a:extLst>
              <a:ext uri="{FF2B5EF4-FFF2-40B4-BE49-F238E27FC236}">
                <a16:creationId xmlns:a16="http://schemas.microsoft.com/office/drawing/2014/main" id="{007C38ED-825B-49DF-9E23-379DDF607326}"/>
              </a:ext>
            </a:extLst>
          </p:cNvPr>
          <p:cNvSpPr>
            <a:spLocks noGrp="1"/>
          </p:cNvSpPr>
          <p:nvPr/>
        </p:nvSpPr>
        <p:spPr>
          <a:xfrm>
            <a:off x="6381750"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step-up или одбијање</a:t>
            </a:r>
          </a:p>
        </p:txBody>
      </p:sp>
      <p:sp>
        <p:nvSpPr>
          <p:cNvPr id="18" name="Rounded Rectangle 17">
            <a:extLst>
              <a:ext uri="{FF2B5EF4-FFF2-40B4-BE49-F238E27FC236}">
                <a16:creationId xmlns:a16="http://schemas.microsoft.com/office/drawing/2014/main" id="{A52FAF41-DC5C-4106-B43E-2BDEA0F31B69}"/>
              </a:ext>
            </a:extLst>
          </p:cNvPr>
          <p:cNvSpPr>
            <a:spLocks noGrp="1"/>
          </p:cNvSpPr>
          <p:nvPr/>
        </p:nvSpPr>
        <p:spPr>
          <a:xfrm>
            <a:off x="8986838" y="2571750"/>
            <a:ext cx="2462213"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A5950833-F8E9-4348-BD1C-F60BC225BFBF}"/>
              </a:ext>
            </a:extLst>
          </p:cNvPr>
          <p:cNvSpPr>
            <a:spLocks noGrp="1"/>
          </p:cNvSpPr>
          <p:nvPr/>
        </p:nvSpPr>
        <p:spPr>
          <a:xfrm>
            <a:off x="9129713" y="2686050"/>
            <a:ext cx="2176463"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02D3850A-F76C-404B-B6B7-F0B5AE57DB15}"/>
              </a:ext>
            </a:extLst>
          </p:cNvPr>
          <p:cNvSpPr>
            <a:spLocks noGrp="1"/>
          </p:cNvSpPr>
          <p:nvPr/>
        </p:nvSpPr>
        <p:spPr>
          <a:xfrm>
            <a:off x="9120188" y="2971800"/>
            <a:ext cx="2195513"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Опозив или истек</a:t>
            </a:r>
          </a:p>
        </p:txBody>
      </p:sp>
      <p:sp>
        <p:nvSpPr>
          <p:cNvPr id="21" name="Rectangle 20">
            <a:extLst>
              <a:ext uri="{FF2B5EF4-FFF2-40B4-BE49-F238E27FC236}">
                <a16:creationId xmlns:a16="http://schemas.microsoft.com/office/drawing/2014/main" id="{0705B3A2-C58B-4499-81C3-FEE226D114A6}"/>
              </a:ext>
            </a:extLst>
          </p:cNvPr>
          <p:cNvSpPr>
            <a:spLocks noGrp="1"/>
          </p:cNvSpPr>
          <p:nvPr/>
        </p:nvSpPr>
        <p:spPr>
          <a:xfrm>
            <a:off x="9129713" y="3362325"/>
            <a:ext cx="2176463"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приступ престаје да важи</a:t>
            </a:r>
          </a:p>
        </p:txBody>
      </p:sp>
      <p:cxnSp>
        <p:nvCxnSpPr>
          <p:cNvPr id="125" name="Straight Arrow Connector 124"/>
          <p:cNvCxnSpPr>
            <a:stCxn id="6" idx="3"/>
            <a:endCxn id="10" idx="1"/>
          </p:cNvCxnSpPr>
          <p:nvPr/>
        </p:nvCxnSpPr>
        <p:spPr>
          <a:xfrm>
            <a:off x="3205163" y="320040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20040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701088" y="320040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4EEB6E94-6236-44AD-A12A-04EC19C08910}"/>
              </a:ext>
            </a:extLst>
          </p:cNvPr>
          <p:cNvSpPr>
            <a:spLocks noGrp="1"/>
          </p:cNvSpPr>
          <p:nvPr/>
        </p:nvSpPr>
        <p:spPr>
          <a:xfrm>
            <a:off x="1714500" y="4419600"/>
            <a:ext cx="8763000" cy="742950"/>
          </a:xfrm>
          <a:prstGeom prst="roundRect">
            <a:avLst>
              <a:gd name="adj" fmla="val 16667"/>
            </a:avLst>
          </a:prstGeom>
          <a:solidFill>
            <a:srgbClr val="EEF3FF"/>
          </a:solidFill>
          <a:ln w="9525">
            <a:solidFill>
              <a:srgbClr val="D7DEE8"/>
            </a:solidFill>
            <a:prstDash val="solid"/>
          </a:ln>
        </p:spPr>
      </p:sp>
      <p:sp>
        <p:nvSpPr>
          <p:cNvPr id="26" name="Rounded Rectangle 25">
            <a:extLst>
              <a:ext uri="{FF2B5EF4-FFF2-40B4-BE49-F238E27FC236}">
                <a16:creationId xmlns:a16="http://schemas.microsoft.com/office/drawing/2014/main" id="{86E21090-80D7-4BC8-958F-E8FC9C5833E5}"/>
              </a:ext>
            </a:extLst>
          </p:cNvPr>
          <p:cNvSpPr>
            <a:spLocks noGrp="1"/>
          </p:cNvSpPr>
          <p:nvPr/>
        </p:nvSpPr>
        <p:spPr>
          <a:xfrm>
            <a:off x="1847850" y="4562475"/>
            <a:ext cx="57150" cy="457200"/>
          </a:xfrm>
          <a:prstGeom prst="roundRect">
            <a:avLst>
              <a:gd name="adj" fmla="val 50000"/>
            </a:avLst>
          </a:prstGeom>
          <a:solidFill>
            <a:srgbClr val="2F5EF5"/>
          </a:solidFill>
          <a:ln w="0">
            <a:noFill/>
          </a:ln>
        </p:spPr>
      </p:sp>
      <p:sp>
        <p:nvSpPr>
          <p:cNvPr id="76" name="Rounded Rectangle 75">
            <a:extLst>
              <a:ext uri="{FF2B5EF4-FFF2-40B4-BE49-F238E27FC236}">
                <a16:creationId xmlns:a16="http://schemas.microsoft.com/office/drawing/2014/main" id="{A610F7DE-1F52-43B9-8529-BB74F241C01B}"/>
              </a:ext>
            </a:extLst>
          </p:cNvPr>
          <p:cNvSpPr>
            <a:spLocks noGrp="1"/>
          </p:cNvSpPr>
          <p:nvPr/>
        </p:nvSpPr>
        <p:spPr>
          <a:xfrm>
            <a:off x="914400" y="4438650"/>
            <a:ext cx="10363200" cy="781050"/>
          </a:xfrm>
          <a:prstGeom prst="roundRect">
            <a:avLst>
              <a:gd name="adj" fmla="val 17073"/>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343B534D-9F7B-4DAB-8BC4-C07DA8BF4D48}"/>
              </a:ext>
            </a:extLst>
          </p:cNvPr>
          <p:cNvSpPr>
            <a:spLocks noGrp="1"/>
          </p:cNvSpPr>
          <p:nvPr/>
        </p:nvSpPr>
        <p:spPr>
          <a:xfrm>
            <a:off x="1085850" y="4591050"/>
            <a:ext cx="57150" cy="47625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6D8087CD-85BD-480A-8193-C183740D3AB9}"/>
              </a:ext>
            </a:extLst>
          </p:cNvPr>
          <p:cNvSpPr>
            <a:spLocks noGrp="1"/>
          </p:cNvSpPr>
          <p:nvPr/>
        </p:nvSpPr>
        <p:spPr>
          <a:xfrm>
            <a:off x="1333500" y="454342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ЗАДАТАК</a:t>
            </a:r>
          </a:p>
        </p:txBody>
      </p:sp>
      <p:sp>
        <p:nvSpPr>
          <p:cNvPr id="79" name="Rectangle 78">
            <a:extLst>
              <a:ext uri="{FF2B5EF4-FFF2-40B4-BE49-F238E27FC236}">
                <a16:creationId xmlns:a16="http://schemas.microsoft.com/office/drawing/2014/main" id="{5959BDB5-797D-4B23-BA85-AC595A54546A}"/>
              </a:ext>
            </a:extLst>
          </p:cNvPr>
          <p:cNvSpPr>
            <a:spLocks noGrp="1"/>
          </p:cNvSpPr>
          <p:nvPr/>
        </p:nvSpPr>
        <p:spPr>
          <a:xfrm>
            <a:off x="1333500" y="4772025"/>
            <a:ext cx="9639300" cy="34290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За сваки корак наведите ко га покреће, ко доноси одлуку и који траг остаје.</a:t>
            </a:r>
          </a:p>
        </p:txBody>
      </p:sp>
    </p:spTree>
    <p:extLst>
      <p:ext uri="{BB962C8B-B14F-4D97-AF65-F5344CB8AC3E}">
        <p14:creationId xmlns:p14="http://schemas.microsoft.com/office/powerpoint/2010/main" val="243102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4EC3C21F-A30F-407C-814C-A9046C4E50FD}"/>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426471D5-7450-4BD7-A2EB-865A38B24A78}"/>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ED84FFAE-1CCC-423A-BB82-121F094388CE}"/>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a:ext uri="{FF2B5EF4-FFF2-40B4-BE49-F238E27FC236}">
                <a16:creationId xmlns:a16="http://schemas.microsoft.com/office/drawing/2014/main" id="{18A09CE0-1D00-417C-A2B7-10ACA7E5BDC6}"/>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Од тајне до безбедне употребе</a:t>
            </a:r>
          </a:p>
        </p:txBody>
      </p:sp>
      <p:sp>
        <p:nvSpPr>
          <p:cNvPr id="5" name="Rectangle 4">
            <a:extLst>
              <a:ext uri="{FF2B5EF4-FFF2-40B4-BE49-F238E27FC236}">
                <a16:creationId xmlns:a16="http://schemas.microsoft.com/office/drawing/2014/main" id="{AE27A770-89DF-4DB3-B2C3-2E03E7DDB259}"/>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Од описа проблема до одлуке која може да се провери.</a:t>
            </a:r>
          </a:p>
        </p:txBody>
      </p:sp>
      <p:sp>
        <p:nvSpPr>
          <p:cNvPr id="6" name="Rounded Rectangle 5">
            <a:extLst>
              <a:ext uri="{FF2B5EF4-FFF2-40B4-BE49-F238E27FC236}">
                <a16:creationId xmlns:a16="http://schemas.microsoft.com/office/drawing/2014/main" id="{217D4AD5-47F1-4B15-A003-C5BFB7EFFB85}"/>
              </a:ext>
            </a:extLst>
          </p:cNvPr>
          <p:cNvSpPr>
            <a:spLocks noGrp="1"/>
          </p:cNvSpPr>
          <p:nvPr/>
        </p:nvSpPr>
        <p:spPr>
          <a:xfrm>
            <a:off x="781050" y="2152650"/>
            <a:ext cx="4572000" cy="2313024"/>
          </a:xfrm>
          <a:prstGeom prst="roundRect">
            <a:avLst>
              <a:gd name="adj" fmla="val 4242"/>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5123B001-3365-4FAE-863A-5A5CF44BAC3C}"/>
              </a:ext>
            </a:extLst>
          </p:cNvPr>
          <p:cNvSpPr>
            <a:spLocks noGrp="1"/>
          </p:cNvSpPr>
          <p:nvPr/>
        </p:nvSpPr>
        <p:spPr>
          <a:xfrm>
            <a:off x="933450" y="2276475"/>
            <a:ext cx="426720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a:ext uri="{FF2B5EF4-FFF2-40B4-BE49-F238E27FC236}">
                <a16:creationId xmlns:a16="http://schemas.microsoft.com/office/drawing/2014/main" id="{51CA8F15-D455-4B2D-8C5D-2C84925D3E05}"/>
              </a:ext>
            </a:extLst>
          </p:cNvPr>
          <p:cNvSpPr>
            <a:spLocks noGrp="1"/>
          </p:cNvSpPr>
          <p:nvPr/>
        </p:nvSpPr>
        <p:spPr>
          <a:xfrm>
            <a:off x="933450" y="2524125"/>
            <a:ext cx="4267200" cy="495300"/>
          </a:xfrm>
          <a:prstGeom prst="rect">
            <a:avLst/>
          </a:prstGeom>
          <a:noFill/>
          <a:ln w="0">
            <a:noFill/>
          </a:ln>
        </p:spPr>
        <p:txBody>
          <a:bodyPr wrap="square" lIns="0" tIns="0" rIns="0" bIns="0" anchor="ctr">
            <a:normAutofit/>
          </a:bodyPr>
          <a:lstStyle/>
          <a:p>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Од тајне до безбедне употребе</a:t>
            </a:r>
          </a:p>
        </p:txBody>
      </p:sp>
      <p:sp>
        <p:nvSpPr>
          <p:cNvPr id="9" name="Rectangle 8">
            <a:extLst>
              <a:ext uri="{FF2B5EF4-FFF2-40B4-BE49-F238E27FC236}">
                <a16:creationId xmlns:a16="http://schemas.microsoft.com/office/drawing/2014/main" id="{79027C8D-B5BE-4CDD-A1AE-E40B5809CE41}"/>
              </a:ext>
            </a:extLst>
          </p:cNvPr>
          <p:cNvSpPr>
            <a:spLocks noGrp="1"/>
          </p:cNvSpPr>
          <p:nvPr/>
        </p:nvSpPr>
        <p:spPr>
          <a:xfrm>
            <a:off x="933450" y="3086100"/>
            <a:ext cx="4267200" cy="210502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Безбедно управљање тајном почиње пре њеног првог коришћења. Потребно је знати власника, сврху, компоненту која је користи и начин ротације. Сама вредност тајне треба да остане ван кода, екрана и записа који нису за то намењени.</a:t>
            </a:r>
          </a:p>
        </p:txBody>
      </p:sp>
      <p:sp>
        <p:nvSpPr>
          <p:cNvPr id="10" name="Rounded Rectangle 9">
            <a:extLst>
              <a:ext uri="{FF2B5EF4-FFF2-40B4-BE49-F238E27FC236}">
                <a16:creationId xmlns:a16="http://schemas.microsoft.com/office/drawing/2014/main" id="{24BB808F-3771-41C7-9CC8-9F148F89F2A7}"/>
              </a:ext>
            </a:extLst>
          </p:cNvPr>
          <p:cNvSpPr>
            <a:spLocks noGrp="1"/>
          </p:cNvSpPr>
          <p:nvPr/>
        </p:nvSpPr>
        <p:spPr>
          <a:xfrm>
            <a:off x="5772150" y="2095500"/>
            <a:ext cx="5638800" cy="723900"/>
          </a:xfrm>
          <a:prstGeom prst="roundRect">
            <a:avLst>
              <a:gd name="adj" fmla="val 18421"/>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02E7CDC0-C35E-43C9-8122-ADCCA98BD222}"/>
              </a:ext>
            </a:extLst>
          </p:cNvPr>
          <p:cNvSpPr>
            <a:spLocks noGrp="1"/>
          </p:cNvSpPr>
          <p:nvPr/>
        </p:nvSpPr>
        <p:spPr>
          <a:xfrm>
            <a:off x="5924550" y="22193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154905DC-CA7D-4A6E-9AE6-D3EAD28F5BCA}"/>
              </a:ext>
            </a:extLst>
          </p:cNvPr>
          <p:cNvSpPr>
            <a:spLocks noGrp="1"/>
          </p:cNvSpPr>
          <p:nvPr/>
        </p:nvSpPr>
        <p:spPr>
          <a:xfrm>
            <a:off x="5924550" y="2466975"/>
            <a:ext cx="5334000" cy="400050"/>
          </a:xfrm>
          <a:prstGeom prst="rect">
            <a:avLst/>
          </a:prstGeom>
          <a:noFill/>
          <a:ln w="0">
            <a:noFill/>
          </a:ln>
        </p:spPr>
        <p:txBody>
          <a:bodyPr wrap="square" lIns="0" tIns="0" rIns="0" bIns="0" anchor="ctr">
            <a:normAutofit/>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Тајна се издаје само идентитету који јој је стварно потребан.</a:t>
            </a:r>
          </a:p>
        </p:txBody>
      </p:sp>
      <p:sp>
        <p:nvSpPr>
          <p:cNvPr id="13" name="Rounded Rectangle 12">
            <a:extLst>
              <a:ext uri="{FF2B5EF4-FFF2-40B4-BE49-F238E27FC236}">
                <a16:creationId xmlns:a16="http://schemas.microsoft.com/office/drawing/2014/main" id="{7BDF553E-6145-44A5-A64B-FDCB0B32B451}"/>
              </a:ext>
            </a:extLst>
          </p:cNvPr>
          <p:cNvSpPr>
            <a:spLocks noGrp="1"/>
          </p:cNvSpPr>
          <p:nvPr/>
        </p:nvSpPr>
        <p:spPr>
          <a:xfrm>
            <a:off x="5772150" y="2971800"/>
            <a:ext cx="5638800" cy="723900"/>
          </a:xfrm>
          <a:prstGeom prst="roundRect">
            <a:avLst>
              <a:gd name="adj" fmla="val 18421"/>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63C5ECC1-6F7F-424C-BFF1-EAADB1926D61}"/>
              </a:ext>
            </a:extLst>
          </p:cNvPr>
          <p:cNvSpPr>
            <a:spLocks noGrp="1"/>
          </p:cNvSpPr>
          <p:nvPr/>
        </p:nvSpPr>
        <p:spPr>
          <a:xfrm>
            <a:off x="5924550" y="30956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a:ext uri="{FF2B5EF4-FFF2-40B4-BE49-F238E27FC236}">
                <a16:creationId xmlns:a16="http://schemas.microsoft.com/office/drawing/2014/main" id="{78A0D0C0-84C7-4426-807F-0EB658486B5A}"/>
              </a:ext>
            </a:extLst>
          </p:cNvPr>
          <p:cNvSpPr>
            <a:spLocks noGrp="1"/>
          </p:cNvSpPr>
          <p:nvPr/>
        </p:nvSpPr>
        <p:spPr>
          <a:xfrm>
            <a:off x="5924550" y="3343275"/>
            <a:ext cx="5334000" cy="400050"/>
          </a:xfrm>
          <a:prstGeom prst="rect">
            <a:avLst/>
          </a:prstGeom>
          <a:noFill/>
          <a:ln w="0">
            <a:noFill/>
          </a:ln>
        </p:spPr>
        <p:txBody>
          <a:bodyPr wrap="square" lIns="0" tIns="0" rIns="0" bIns="0" anchor="ctr">
            <a:normAutofit/>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Систем прати истек и планира ротацију пре прекида рада.</a:t>
            </a:r>
          </a:p>
        </p:txBody>
      </p:sp>
      <p:sp>
        <p:nvSpPr>
          <p:cNvPr id="16" name="Rounded Rectangle 15">
            <a:extLst>
              <a:ext uri="{FF2B5EF4-FFF2-40B4-BE49-F238E27FC236}">
                <a16:creationId xmlns:a16="http://schemas.microsoft.com/office/drawing/2014/main" id="{5CCFEDF7-E28C-4832-9D2F-1D239A23C98E}"/>
              </a:ext>
            </a:extLst>
          </p:cNvPr>
          <p:cNvSpPr>
            <a:spLocks noGrp="1"/>
          </p:cNvSpPr>
          <p:nvPr/>
        </p:nvSpPr>
        <p:spPr>
          <a:xfrm>
            <a:off x="5772150" y="3848100"/>
            <a:ext cx="5638800" cy="817598"/>
          </a:xfrm>
          <a:prstGeom prst="roundRect">
            <a:avLst>
              <a:gd name="adj" fmla="val 18421"/>
            </a:avLst>
          </a:prstGeom>
          <a:solidFill>
            <a:srgbClr val="EEF3FF"/>
          </a:solidFill>
          <a:ln w="9525">
            <a:solidFill>
              <a:srgbClr val="D7DEE8"/>
            </a:solidFill>
            <a:prstDash val="solid"/>
          </a:ln>
        </p:spPr>
      </p:sp>
      <p:sp>
        <p:nvSpPr>
          <p:cNvPr id="17" name="Rectangle 16">
            <a:extLst>
              <a:ext uri="{FF2B5EF4-FFF2-40B4-BE49-F238E27FC236}">
                <a16:creationId xmlns:a16="http://schemas.microsoft.com/office/drawing/2014/main" id="{CF68DA78-D5A4-4E94-ADA6-6446D40E13C0}"/>
              </a:ext>
            </a:extLst>
          </p:cNvPr>
          <p:cNvSpPr>
            <a:spLocks noGrp="1"/>
          </p:cNvSpPr>
          <p:nvPr/>
        </p:nvSpPr>
        <p:spPr>
          <a:xfrm>
            <a:off x="5924550" y="3971925"/>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03</a:t>
            </a:r>
          </a:p>
        </p:txBody>
      </p:sp>
      <p:sp>
        <p:nvSpPr>
          <p:cNvPr id="18" name="Rectangle 17">
            <a:extLst>
              <a:ext uri="{FF2B5EF4-FFF2-40B4-BE49-F238E27FC236}">
                <a16:creationId xmlns:a16="http://schemas.microsoft.com/office/drawing/2014/main" id="{205A43B8-92F7-4AB8-B43D-A1CA37DB6A15}"/>
              </a:ext>
            </a:extLst>
          </p:cNvPr>
          <p:cNvSpPr>
            <a:spLocks noGrp="1"/>
          </p:cNvSpPr>
          <p:nvPr/>
        </p:nvSpPr>
        <p:spPr>
          <a:xfrm>
            <a:off x="5924550" y="4219575"/>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Логови бележе употребу и неуспех без приказивања вредности тајне.</a:t>
            </a:r>
          </a:p>
        </p:txBody>
      </p:sp>
      <p:sp>
        <p:nvSpPr>
          <p:cNvPr id="19" name="Rounded Rectangle 18">
            <a:extLst>
              <a:ext uri="{FF2B5EF4-FFF2-40B4-BE49-F238E27FC236}">
                <a16:creationId xmlns:a16="http://schemas.microsoft.com/office/drawing/2014/main" id="{46C32166-23AC-4A6B-BED3-6F11D593B267}"/>
              </a:ext>
            </a:extLst>
          </p:cNvPr>
          <p:cNvSpPr>
            <a:spLocks noGrp="1"/>
          </p:cNvSpPr>
          <p:nvPr/>
        </p:nvSpPr>
        <p:spPr>
          <a:xfrm>
            <a:off x="5772150" y="4830727"/>
            <a:ext cx="5638800" cy="723900"/>
          </a:xfrm>
          <a:prstGeom prst="roundRect">
            <a:avLst>
              <a:gd name="adj" fmla="val 18421"/>
            </a:avLst>
          </a:prstGeom>
          <a:solidFill>
            <a:srgbClr val="EDF8F2"/>
          </a:solidFill>
          <a:ln w="9525">
            <a:solidFill>
              <a:srgbClr val="D7DEE8"/>
            </a:solidFill>
            <a:prstDash val="solid"/>
          </a:ln>
        </p:spPr>
      </p:sp>
      <p:sp>
        <p:nvSpPr>
          <p:cNvPr id="20" name="Rectangle 19">
            <a:extLst>
              <a:ext uri="{FF2B5EF4-FFF2-40B4-BE49-F238E27FC236}">
                <a16:creationId xmlns:a16="http://schemas.microsoft.com/office/drawing/2014/main" id="{6D51C30D-92D2-4903-BA72-89BA10F81C51}"/>
              </a:ext>
            </a:extLst>
          </p:cNvPr>
          <p:cNvSpPr>
            <a:spLocks noGrp="1"/>
          </p:cNvSpPr>
          <p:nvPr/>
        </p:nvSpPr>
        <p:spPr>
          <a:xfrm>
            <a:off x="5924550" y="4954552"/>
            <a:ext cx="5334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a:ext uri="{FF2B5EF4-FFF2-40B4-BE49-F238E27FC236}">
                <a16:creationId xmlns:a16="http://schemas.microsoft.com/office/drawing/2014/main" id="{8A70E53D-EF92-4D45-9805-7F7148ADF0F3}"/>
              </a:ext>
            </a:extLst>
          </p:cNvPr>
          <p:cNvSpPr>
            <a:spLocks noGrp="1"/>
          </p:cNvSpPr>
          <p:nvPr/>
        </p:nvSpPr>
        <p:spPr>
          <a:xfrm>
            <a:off x="5924550" y="5202202"/>
            <a:ext cx="5334000" cy="400050"/>
          </a:xfrm>
          <a:prstGeom prst="rect">
            <a:avLst/>
          </a:prstGeom>
          <a:noFill/>
          <a:ln w="0">
            <a:noFill/>
          </a:ln>
        </p:spPr>
        <p:txBody>
          <a:bodyPr wrap="square" lIns="0" tIns="0" rIns="0" bIns="0" anchor="ctr">
            <a:normAutofit fontScale="95316"/>
          </a:bodyPr>
          <a:lstStyle/>
          <a:p>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Опозив ограничава последицу сумње да је тајна компромитована.</a:t>
            </a:r>
          </a:p>
        </p:txBody>
      </p:sp>
    </p:spTree>
    <p:extLst>
      <p:ext uri="{BB962C8B-B14F-4D97-AF65-F5344CB8AC3E}">
        <p14:creationId xmlns:p14="http://schemas.microsoft.com/office/powerpoint/2010/main" val="14467714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CB0817E6-3177-4572-98DF-3B501496ED0F}"/>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16C7A7DC-3218-422F-9208-2136E952146E}"/>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9795EB1F-C9EA-475F-8673-E3B926237264}"/>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a:ext uri="{FF2B5EF4-FFF2-40B4-BE49-F238E27FC236}">
                <a16:creationId xmlns:a16="http://schemas.microsoft.com/office/drawing/2014/main" id="{B8AF6236-BC75-4F4E-9306-989DDFB7B011}"/>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Приступ има рок и контекст</a:t>
            </a:r>
          </a:p>
        </p:txBody>
      </p:sp>
      <p:sp>
        <p:nvSpPr>
          <p:cNvPr id="5" name="Rectangle 4">
            <a:extLst>
              <a:ext uri="{FF2B5EF4-FFF2-40B4-BE49-F238E27FC236}">
                <a16:creationId xmlns:a16="http://schemas.microsoft.com/office/drawing/2014/main" id="{3D1BB57F-C910-4A1A-B08B-BC9200D5A6CD}"/>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Три правила која треба да остану видљива у имплементацији и ревизији.</a:t>
            </a:r>
          </a:p>
        </p:txBody>
      </p:sp>
      <p:sp>
        <p:nvSpPr>
          <p:cNvPr id="6" name="Rounded Rectangle 5">
            <a:extLst>
              <a:ext uri="{FF2B5EF4-FFF2-40B4-BE49-F238E27FC236}">
                <a16:creationId xmlns:a16="http://schemas.microsoft.com/office/drawing/2014/main" id="{BE05B434-3235-4BD6-889A-C70435F618A2}"/>
              </a:ext>
            </a:extLst>
          </p:cNvPr>
          <p:cNvSpPr>
            <a:spLocks noGrp="1"/>
          </p:cNvSpPr>
          <p:nvPr/>
        </p:nvSpPr>
        <p:spPr>
          <a:xfrm>
            <a:off x="819150" y="2400300"/>
            <a:ext cx="3257550" cy="2343150"/>
          </a:xfrm>
          <a:prstGeom prst="roundRect">
            <a:avLst>
              <a:gd name="adj" fmla="val 5691"/>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0CFD7527-A9D5-46CF-9EE4-A7D71DAD8228}"/>
              </a:ext>
            </a:extLst>
          </p:cNvPr>
          <p:cNvSpPr>
            <a:spLocks noGrp="1"/>
          </p:cNvSpPr>
          <p:nvPr/>
        </p:nvSpPr>
        <p:spPr>
          <a:xfrm>
            <a:off x="971550"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8" name="Rectangle 7">
            <a:extLst>
              <a:ext uri="{FF2B5EF4-FFF2-40B4-BE49-F238E27FC236}">
                <a16:creationId xmlns:a16="http://schemas.microsoft.com/office/drawing/2014/main" id="{685655B4-2B10-45C9-842E-88D65990E28E}"/>
              </a:ext>
            </a:extLst>
          </p:cNvPr>
          <p:cNvSpPr>
            <a:spLocks noGrp="1"/>
          </p:cNvSpPr>
          <p:nvPr/>
        </p:nvSpPr>
        <p:spPr>
          <a:xfrm>
            <a:off x="971550"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Сесија може изгубити важност пре планираног истека.</a:t>
            </a:r>
          </a:p>
        </p:txBody>
      </p:sp>
      <p:sp>
        <p:nvSpPr>
          <p:cNvPr id="9" name="Rectangle 8">
            <a:extLst>
              <a:ext uri="{FF2B5EF4-FFF2-40B4-BE49-F238E27FC236}">
                <a16:creationId xmlns:a16="http://schemas.microsoft.com/office/drawing/2014/main" id="{D3C87950-CD48-4772-B678-74BB37DC4797}"/>
              </a:ext>
            </a:extLst>
          </p:cNvPr>
          <p:cNvSpPr>
            <a:spLocks noGrp="1"/>
          </p:cNvSpPr>
          <p:nvPr/>
        </p:nvSpPr>
        <p:spPr>
          <a:xfrm>
            <a:off x="971550"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a:ext uri="{FF2B5EF4-FFF2-40B4-BE49-F238E27FC236}">
                <a16:creationId xmlns:a16="http://schemas.microsoft.com/office/drawing/2014/main" id="{2F47DDE1-32C5-4063-A5F4-211ABEB296A4}"/>
              </a:ext>
            </a:extLst>
          </p:cNvPr>
          <p:cNvSpPr>
            <a:spLocks noGrp="1"/>
          </p:cNvSpPr>
          <p:nvPr/>
        </p:nvSpPr>
        <p:spPr>
          <a:xfrm>
            <a:off x="4467225" y="2400300"/>
            <a:ext cx="3257550" cy="2343150"/>
          </a:xfrm>
          <a:prstGeom prst="roundRect">
            <a:avLst>
              <a:gd name="adj" fmla="val 5691"/>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C5284263-40DE-4A85-8844-82D847CB3FFB}"/>
              </a:ext>
            </a:extLst>
          </p:cNvPr>
          <p:cNvSpPr>
            <a:spLocks noGrp="1"/>
          </p:cNvSpPr>
          <p:nvPr/>
        </p:nvSpPr>
        <p:spPr>
          <a:xfrm>
            <a:off x="4619625"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02</a:t>
            </a:r>
          </a:p>
        </p:txBody>
      </p:sp>
      <p:sp>
        <p:nvSpPr>
          <p:cNvPr id="12" name="Rectangle 11">
            <a:extLst>
              <a:ext uri="{FF2B5EF4-FFF2-40B4-BE49-F238E27FC236}">
                <a16:creationId xmlns:a16="http://schemas.microsoft.com/office/drawing/2014/main" id="{ED436743-A5D8-4AAC-A3CB-300F7F8EF956}"/>
              </a:ext>
            </a:extLst>
          </p:cNvPr>
          <p:cNvSpPr>
            <a:spLocks noGrp="1"/>
          </p:cNvSpPr>
          <p:nvPr/>
        </p:nvSpPr>
        <p:spPr>
          <a:xfrm>
            <a:off x="4619625"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Додатна потврда прати ризик радње, не само тип корисника.</a:t>
            </a:r>
          </a:p>
        </p:txBody>
      </p:sp>
      <p:sp>
        <p:nvSpPr>
          <p:cNvPr id="13" name="Rectangle 12">
            <a:extLst>
              <a:ext uri="{FF2B5EF4-FFF2-40B4-BE49-F238E27FC236}">
                <a16:creationId xmlns:a16="http://schemas.microsoft.com/office/drawing/2014/main" id="{3C5C788B-A33F-4EAC-9FF7-3C28A10500A5}"/>
              </a:ext>
            </a:extLst>
          </p:cNvPr>
          <p:cNvSpPr>
            <a:spLocks noGrp="1"/>
          </p:cNvSpPr>
          <p:nvPr/>
        </p:nvSpPr>
        <p:spPr>
          <a:xfrm>
            <a:off x="4619625"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a:ext uri="{FF2B5EF4-FFF2-40B4-BE49-F238E27FC236}">
                <a16:creationId xmlns:a16="http://schemas.microsoft.com/office/drawing/2014/main" id="{6A5F6870-9163-462C-8D53-04DCA87E4C68}"/>
              </a:ext>
            </a:extLst>
          </p:cNvPr>
          <p:cNvSpPr>
            <a:spLocks noGrp="1"/>
          </p:cNvSpPr>
          <p:nvPr/>
        </p:nvSpPr>
        <p:spPr>
          <a:xfrm>
            <a:off x="8115300" y="2400300"/>
            <a:ext cx="3257550" cy="2343150"/>
          </a:xfrm>
          <a:prstGeom prst="roundRect">
            <a:avLst>
              <a:gd name="adj" fmla="val 5691"/>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775B4ED3-A1AA-4124-803C-C5EAC808FE6E}"/>
              </a:ext>
            </a:extLst>
          </p:cNvPr>
          <p:cNvSpPr>
            <a:spLocks noGrp="1"/>
          </p:cNvSpPr>
          <p:nvPr/>
        </p:nvSpPr>
        <p:spPr>
          <a:xfrm>
            <a:off x="8267700" y="252412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a:ext uri="{FF2B5EF4-FFF2-40B4-BE49-F238E27FC236}">
                <a16:creationId xmlns:a16="http://schemas.microsoft.com/office/drawing/2014/main" id="{B926ED60-4F46-4114-B9AA-457DBC36F238}"/>
              </a:ext>
            </a:extLst>
          </p:cNvPr>
          <p:cNvSpPr>
            <a:spLocks noGrp="1"/>
          </p:cNvSpPr>
          <p:nvPr/>
        </p:nvSpPr>
        <p:spPr>
          <a:xfrm>
            <a:off x="8267700" y="2771775"/>
            <a:ext cx="2952750" cy="1143000"/>
          </a:xfrm>
          <a:prstGeom prst="rect">
            <a:avLst/>
          </a:prstGeom>
          <a:noFill/>
          <a:ln w="0">
            <a:noFill/>
          </a:ln>
        </p:spPr>
        <p:txBody>
          <a:bodyPr wrap="square" lIns="0" tIns="0" rIns="0" bIns="0" anchor="ctr">
            <a:normAutofit/>
          </a:bodyPr>
          <a:lstStyle/>
          <a:p>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Сервисни идентитет има мали, јасно оправдан опсег, као и људски идентитет.</a:t>
            </a:r>
          </a:p>
        </p:txBody>
      </p:sp>
      <p:sp>
        <p:nvSpPr>
          <p:cNvPr id="17" name="Rectangle 16">
            <a:extLst>
              <a:ext uri="{FF2B5EF4-FFF2-40B4-BE49-F238E27FC236}">
                <a16:creationId xmlns:a16="http://schemas.microsoft.com/office/drawing/2014/main" id="{189AF4A7-EE19-45A4-A0F5-CD9093A82AC8}"/>
              </a:ext>
            </a:extLst>
          </p:cNvPr>
          <p:cNvSpPr>
            <a:spLocks noGrp="1"/>
          </p:cNvSpPr>
          <p:nvPr/>
        </p:nvSpPr>
        <p:spPr>
          <a:xfrm>
            <a:off x="8267700" y="3981450"/>
            <a:ext cx="2952750" cy="6572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201223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9F207137-267F-40EF-8E8E-71FA4A5D0ECE}"/>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ED0BEE18-D6C4-4B07-A1B6-E4F239ACB3A7}"/>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61790812-C4E9-4293-8985-942E889F49EC}"/>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a:ext uri="{FF2B5EF4-FFF2-40B4-BE49-F238E27FC236}">
                <a16:creationId xmlns:a16="http://schemas.microsoft.com/office/drawing/2014/main" id="{F54912C5-8A60-47DF-A842-BA5128106166}"/>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Како се ова тема види у развоју</a:t>
            </a:r>
          </a:p>
        </p:txBody>
      </p:sp>
      <p:sp>
        <p:nvSpPr>
          <p:cNvPr id="5" name="Rectangle 4">
            <a:extLst>
              <a:ext uri="{FF2B5EF4-FFF2-40B4-BE49-F238E27FC236}">
                <a16:creationId xmlns:a16="http://schemas.microsoft.com/office/drawing/2014/main" id="{B5C10F75-9CB0-4F12-A263-84579BFA512D}"/>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Тема се види у малим одлукама током развоја, не само у завршној документацији.</a:t>
            </a:r>
          </a:p>
        </p:txBody>
      </p:sp>
      <p:sp>
        <p:nvSpPr>
          <p:cNvPr id="6" name="Rounded Rectangle 5">
            <a:extLst>
              <a:ext uri="{FF2B5EF4-FFF2-40B4-BE49-F238E27FC236}">
                <a16:creationId xmlns:a16="http://schemas.microsoft.com/office/drawing/2014/main" id="{E2365EB8-70FE-4CB3-AB9E-935D18405BBE}"/>
              </a:ext>
            </a:extLst>
          </p:cNvPr>
          <p:cNvSpPr>
            <a:spLocks noGrp="1"/>
          </p:cNvSpPr>
          <p:nvPr/>
        </p:nvSpPr>
        <p:spPr>
          <a:xfrm>
            <a:off x="800100" y="2209800"/>
            <a:ext cx="4810125" cy="2489791"/>
          </a:xfrm>
          <a:prstGeom prst="roundRect">
            <a:avLst>
              <a:gd name="adj" fmla="val 4667"/>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C437406F-F372-4984-A812-637723795F0A}"/>
              </a:ext>
            </a:extLst>
          </p:cNvPr>
          <p:cNvSpPr>
            <a:spLocks noGrp="1"/>
          </p:cNvSpPr>
          <p:nvPr/>
        </p:nvSpPr>
        <p:spPr>
          <a:xfrm>
            <a:off x="952500" y="2333625"/>
            <a:ext cx="4505325"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РАЗВОЈНИ КОНТЕКСТ</a:t>
            </a:r>
          </a:p>
        </p:txBody>
      </p:sp>
      <p:sp>
        <p:nvSpPr>
          <p:cNvPr id="8" name="Rectangle 7">
            <a:extLst>
              <a:ext uri="{FF2B5EF4-FFF2-40B4-BE49-F238E27FC236}">
                <a16:creationId xmlns:a16="http://schemas.microsoft.com/office/drawing/2014/main" id="{6B555463-DA8B-4497-ABF5-D474C9C2DF94}"/>
              </a:ext>
            </a:extLst>
          </p:cNvPr>
          <p:cNvSpPr>
            <a:spLocks noGrp="1"/>
          </p:cNvSpPr>
          <p:nvPr/>
        </p:nvSpPr>
        <p:spPr>
          <a:xfrm>
            <a:off x="952500" y="2581275"/>
            <a:ext cx="4505325" cy="476250"/>
          </a:xfrm>
          <a:prstGeom prst="rect">
            <a:avLst/>
          </a:prstGeom>
          <a:noFill/>
          <a:ln w="0">
            <a:noFill/>
          </a:ln>
        </p:spPr>
        <p:txBody>
          <a:bodyPr wrap="square" lIns="0" tIns="0" rIns="0" bIns="0" anchor="ctr">
            <a:normAutofit/>
          </a:bodyPr>
          <a:lstStyle/>
          <a:p>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Од принципа до радног кода</a:t>
            </a:r>
          </a:p>
        </p:txBody>
      </p:sp>
      <p:sp>
        <p:nvSpPr>
          <p:cNvPr id="9" name="Rectangle 8">
            <a:extLst>
              <a:ext uri="{FF2B5EF4-FFF2-40B4-BE49-F238E27FC236}">
                <a16:creationId xmlns:a16="http://schemas.microsoft.com/office/drawing/2014/main" id="{40EDECFD-DB79-47B9-9032-7F232CCC7E04}"/>
              </a:ext>
            </a:extLst>
          </p:cNvPr>
          <p:cNvSpPr>
            <a:spLocks noGrp="1"/>
          </p:cNvSpPr>
          <p:nvPr/>
        </p:nvSpPr>
        <p:spPr>
          <a:xfrm>
            <a:off x="952500" y="3124200"/>
            <a:ext cx="4505325" cy="1838325"/>
          </a:xfrm>
          <a:prstGeom prst="rect">
            <a:avLst/>
          </a:prstGeom>
          <a:noFill/>
          <a:ln w="0">
            <a:noFill/>
          </a:ln>
        </p:spPr>
        <p:txBody>
          <a:bodyPr wrap="square" lIns="0" tIns="0" rIns="0" bIns="0" anchor="t">
            <a:normAutofit/>
          </a:bodyPr>
          <a:lstStyle/>
          <a:p>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Развојни тим унапред одређује које ситуације мењају ниво поверења: промена привилегије, приступ осетљивом податку или сумњива пријава. Тајне се референцирају из безбедног извора и никада се не преносе кроз код, тестне исписе или историју репозиторијума.</a:t>
            </a:r>
          </a:p>
        </p:txBody>
      </p:sp>
      <p:sp>
        <p:nvSpPr>
          <p:cNvPr id="10" name="Rounded Rectangle 9">
            <a:extLst>
              <a:ext uri="{FF2B5EF4-FFF2-40B4-BE49-F238E27FC236}">
                <a16:creationId xmlns:a16="http://schemas.microsoft.com/office/drawing/2014/main" id="{6BD61561-0E7A-477A-8243-50E7DC407904}"/>
              </a:ext>
            </a:extLst>
          </p:cNvPr>
          <p:cNvSpPr>
            <a:spLocks noGrp="1"/>
          </p:cNvSpPr>
          <p:nvPr/>
        </p:nvSpPr>
        <p:spPr>
          <a:xfrm>
            <a:off x="6038850" y="2209800"/>
            <a:ext cx="5353050" cy="819150"/>
          </a:xfrm>
          <a:prstGeom prst="roundRect">
            <a:avLst>
              <a:gd name="adj" fmla="val 16279"/>
            </a:avLst>
          </a:prstGeom>
          <a:solidFill>
            <a:srgbClr val="F4F6F9"/>
          </a:solidFill>
          <a:ln w="9525">
            <a:solidFill>
              <a:srgbClr val="D7DEE8"/>
            </a:solidFill>
            <a:prstDash val="solid"/>
          </a:ln>
        </p:spPr>
      </p:sp>
      <p:sp>
        <p:nvSpPr>
          <p:cNvPr id="11" name="Rectangle 10">
            <a:extLst>
              <a:ext uri="{FF2B5EF4-FFF2-40B4-BE49-F238E27FC236}">
                <a16:creationId xmlns:a16="http://schemas.microsoft.com/office/drawing/2014/main" id="{D8926BAF-790A-4C4E-93D7-6496F2EA8F14}"/>
              </a:ext>
            </a:extLst>
          </p:cNvPr>
          <p:cNvSpPr>
            <a:spLocks noGrp="1"/>
          </p:cNvSpPr>
          <p:nvPr/>
        </p:nvSpPr>
        <p:spPr>
          <a:xfrm>
            <a:off x="6191250" y="23336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a:ext uri="{FF2B5EF4-FFF2-40B4-BE49-F238E27FC236}">
                <a16:creationId xmlns:a16="http://schemas.microsoft.com/office/drawing/2014/main" id="{C0569D33-1726-487A-9BE8-F3361406EFC1}"/>
              </a:ext>
            </a:extLst>
          </p:cNvPr>
          <p:cNvSpPr>
            <a:spLocks noGrp="1"/>
          </p:cNvSpPr>
          <p:nvPr/>
        </p:nvSpPr>
        <p:spPr>
          <a:xfrm>
            <a:off x="6191250" y="25812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Именуј одлуку и њену границу.</a:t>
            </a:r>
          </a:p>
        </p:txBody>
      </p:sp>
      <p:sp>
        <p:nvSpPr>
          <p:cNvPr id="13" name="Rounded Rectangle 12">
            <a:extLst>
              <a:ext uri="{FF2B5EF4-FFF2-40B4-BE49-F238E27FC236}">
                <a16:creationId xmlns:a16="http://schemas.microsoft.com/office/drawing/2014/main" id="{F95483CD-7003-4E70-AF28-EB5FA8C5FD11}"/>
              </a:ext>
            </a:extLst>
          </p:cNvPr>
          <p:cNvSpPr>
            <a:spLocks noGrp="1"/>
          </p:cNvSpPr>
          <p:nvPr/>
        </p:nvSpPr>
        <p:spPr>
          <a:xfrm>
            <a:off x="6038850" y="3200400"/>
            <a:ext cx="5353050" cy="819150"/>
          </a:xfrm>
          <a:prstGeom prst="roundRect">
            <a:avLst>
              <a:gd name="adj" fmla="val 16279"/>
            </a:avLst>
          </a:prstGeom>
          <a:solidFill>
            <a:srgbClr val="F5F0FF"/>
          </a:solidFill>
          <a:ln w="9525">
            <a:solidFill>
              <a:srgbClr val="D7DEE8"/>
            </a:solidFill>
            <a:prstDash val="solid"/>
          </a:ln>
        </p:spPr>
      </p:sp>
      <p:sp>
        <p:nvSpPr>
          <p:cNvPr id="14" name="Rectangle 13">
            <a:extLst>
              <a:ext uri="{FF2B5EF4-FFF2-40B4-BE49-F238E27FC236}">
                <a16:creationId xmlns:a16="http://schemas.microsoft.com/office/drawing/2014/main" id="{D90A9C39-D5A7-468B-BCAC-36200D43CA74}"/>
              </a:ext>
            </a:extLst>
          </p:cNvPr>
          <p:cNvSpPr>
            <a:spLocks noGrp="1"/>
          </p:cNvSpPr>
          <p:nvPr/>
        </p:nvSpPr>
        <p:spPr>
          <a:xfrm>
            <a:off x="6191250" y="33242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02</a:t>
            </a:r>
          </a:p>
        </p:txBody>
      </p:sp>
      <p:sp>
        <p:nvSpPr>
          <p:cNvPr id="15" name="Rectangle 14">
            <a:extLst>
              <a:ext uri="{FF2B5EF4-FFF2-40B4-BE49-F238E27FC236}">
                <a16:creationId xmlns:a16="http://schemas.microsoft.com/office/drawing/2014/main" id="{116E3B98-042F-4064-B24B-5C30A28A0D07}"/>
              </a:ext>
            </a:extLst>
          </p:cNvPr>
          <p:cNvSpPr>
            <a:spLocks noGrp="1"/>
          </p:cNvSpPr>
          <p:nvPr/>
        </p:nvSpPr>
        <p:spPr>
          <a:xfrm>
            <a:off x="6191250" y="35718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Имплементирај проверу на серверу.</a:t>
            </a:r>
          </a:p>
        </p:txBody>
      </p:sp>
      <p:sp>
        <p:nvSpPr>
          <p:cNvPr id="16" name="Rounded Rectangle 15">
            <a:extLst>
              <a:ext uri="{FF2B5EF4-FFF2-40B4-BE49-F238E27FC236}">
                <a16:creationId xmlns:a16="http://schemas.microsoft.com/office/drawing/2014/main" id="{160EC521-1F62-4A7B-B84A-3E30011CCD0F}"/>
              </a:ext>
            </a:extLst>
          </p:cNvPr>
          <p:cNvSpPr>
            <a:spLocks noGrp="1"/>
          </p:cNvSpPr>
          <p:nvPr/>
        </p:nvSpPr>
        <p:spPr>
          <a:xfrm>
            <a:off x="6038850" y="4191000"/>
            <a:ext cx="5353050" cy="819150"/>
          </a:xfrm>
          <a:prstGeom prst="roundRect">
            <a:avLst>
              <a:gd name="adj" fmla="val 16279"/>
            </a:avLst>
          </a:prstGeom>
          <a:solidFill>
            <a:srgbClr val="EDF8F2"/>
          </a:solidFill>
          <a:ln w="9525">
            <a:solidFill>
              <a:srgbClr val="D7DEE8"/>
            </a:solidFill>
            <a:prstDash val="solid"/>
          </a:ln>
        </p:spPr>
      </p:sp>
      <p:sp>
        <p:nvSpPr>
          <p:cNvPr id="17" name="Rectangle 16">
            <a:extLst>
              <a:ext uri="{FF2B5EF4-FFF2-40B4-BE49-F238E27FC236}">
                <a16:creationId xmlns:a16="http://schemas.microsoft.com/office/drawing/2014/main" id="{C0E24C8D-E811-4A81-9215-F4167C52F7D3}"/>
              </a:ext>
            </a:extLst>
          </p:cNvPr>
          <p:cNvSpPr>
            <a:spLocks noGrp="1"/>
          </p:cNvSpPr>
          <p:nvPr/>
        </p:nvSpPr>
        <p:spPr>
          <a:xfrm>
            <a:off x="6191250" y="4314825"/>
            <a:ext cx="5048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a:ext uri="{FF2B5EF4-FFF2-40B4-BE49-F238E27FC236}">
                <a16:creationId xmlns:a16="http://schemas.microsoft.com/office/drawing/2014/main" id="{E1211A18-C48D-456A-9456-54466B4B2179}"/>
              </a:ext>
            </a:extLst>
          </p:cNvPr>
          <p:cNvSpPr>
            <a:spLocks noGrp="1"/>
          </p:cNvSpPr>
          <p:nvPr/>
        </p:nvSpPr>
        <p:spPr>
          <a:xfrm>
            <a:off x="6191250" y="4562475"/>
            <a:ext cx="5048250" cy="40005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Додај позитиван и негативан доказ.</a:t>
            </a:r>
          </a:p>
        </p:txBody>
      </p:sp>
    </p:spTree>
    <p:extLst>
      <p:ext uri="{BB962C8B-B14F-4D97-AF65-F5344CB8AC3E}">
        <p14:creationId xmlns:p14="http://schemas.microsoft.com/office/powerpoint/2010/main" val="158245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AF8666B0-7314-44A0-948F-288F12134D6E}"/>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B2AEF999-F629-4A89-B4C7-141AF654B2FC}"/>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39025FFF-8516-40AA-9F8C-EA1423FC1B39}"/>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a:ext uri="{FF2B5EF4-FFF2-40B4-BE49-F238E27FC236}">
                <a16:creationId xmlns:a16="http://schemas.microsoft.com/office/drawing/2014/main" id="{A38A2FBC-C1D9-4707-B809-599FC662CF46}"/>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Пример: сесија после промене привилегије</a:t>
            </a:r>
          </a:p>
        </p:txBody>
      </p:sp>
      <p:sp>
        <p:nvSpPr>
          <p:cNvPr id="5" name="Rectangle 4">
            <a:extLst>
              <a:ext uri="{FF2B5EF4-FFF2-40B4-BE49-F238E27FC236}">
                <a16:creationId xmlns:a16="http://schemas.microsoft.com/office/drawing/2014/main" id="{314DA63B-20AD-4736-8974-EBFFC2ACC2CC}"/>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Конкретан случај показује где опште правило постаје стварна одлука система.</a:t>
            </a:r>
          </a:p>
        </p:txBody>
      </p:sp>
      <p:sp>
        <p:nvSpPr>
          <p:cNvPr id="6" name="Rounded Rectangle 5">
            <a:extLst>
              <a:ext uri="{FF2B5EF4-FFF2-40B4-BE49-F238E27FC236}">
                <a16:creationId xmlns:a16="http://schemas.microsoft.com/office/drawing/2014/main" id="{96CFFB0C-90B8-4192-BD5A-F562F0C59EF0}"/>
              </a:ext>
            </a:extLst>
          </p:cNvPr>
          <p:cNvSpPr>
            <a:spLocks noGrp="1"/>
          </p:cNvSpPr>
          <p:nvPr/>
        </p:nvSpPr>
        <p:spPr>
          <a:xfrm>
            <a:off x="781050" y="2143125"/>
            <a:ext cx="10629900" cy="1619250"/>
          </a:xfrm>
          <a:prstGeom prst="roundRect">
            <a:avLst>
              <a:gd name="adj" fmla="val 8235"/>
            </a:avLst>
          </a:prstGeom>
          <a:solidFill>
            <a:srgbClr val="F4F6F9"/>
          </a:solidFill>
          <a:ln w="9525">
            <a:solidFill>
              <a:srgbClr val="D7DEE8"/>
            </a:solidFill>
            <a:prstDash val="solid"/>
          </a:ln>
        </p:spPr>
      </p:sp>
      <p:sp>
        <p:nvSpPr>
          <p:cNvPr id="7" name="Rectangle 6">
            <a:extLst>
              <a:ext uri="{FF2B5EF4-FFF2-40B4-BE49-F238E27FC236}">
                <a16:creationId xmlns:a16="http://schemas.microsoft.com/office/drawing/2014/main" id="{A8BB0E95-EF0D-4B5E-B347-067CFEB71127}"/>
              </a:ext>
            </a:extLst>
          </p:cNvPr>
          <p:cNvSpPr>
            <a:spLocks noGrp="1"/>
          </p:cNvSpPr>
          <p:nvPr/>
        </p:nvSpPr>
        <p:spPr>
          <a:xfrm>
            <a:off x="933450" y="2266950"/>
            <a:ext cx="1032510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a:ext uri="{FF2B5EF4-FFF2-40B4-BE49-F238E27FC236}">
                <a16:creationId xmlns:a16="http://schemas.microsoft.com/office/drawing/2014/main" id="{1DD3F05E-A243-4AF5-8B29-3E678C75A457}"/>
              </a:ext>
            </a:extLst>
          </p:cNvPr>
          <p:cNvSpPr>
            <a:spLocks noGrp="1"/>
          </p:cNvSpPr>
          <p:nvPr/>
        </p:nvSpPr>
        <p:spPr>
          <a:xfrm>
            <a:off x="933450" y="2514600"/>
            <a:ext cx="10325100" cy="400050"/>
          </a:xfrm>
          <a:prstGeom prst="rect">
            <a:avLst/>
          </a:prstGeom>
          <a:noFill/>
          <a:ln w="0">
            <a:noFill/>
          </a:ln>
        </p:spPr>
        <p:txBody>
          <a:bodyPr wrap="square" lIns="0" tIns="0" rIns="0" bIns="0" anchor="ctr">
            <a:normAutofit/>
          </a:bodyPr>
          <a:lstStyle/>
          <a:p>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сесија после промене привилегије</a:t>
            </a:r>
          </a:p>
        </p:txBody>
      </p:sp>
      <p:sp>
        <p:nvSpPr>
          <p:cNvPr id="9" name="Rectangle 8">
            <a:extLst>
              <a:ext uri="{FF2B5EF4-FFF2-40B4-BE49-F238E27FC236}">
                <a16:creationId xmlns:a16="http://schemas.microsoft.com/office/drawing/2014/main" id="{59D1F3B8-3EEE-4D97-B30F-EBBC81B5659F}"/>
              </a:ext>
            </a:extLst>
          </p:cNvPr>
          <p:cNvSpPr>
            <a:spLocks noGrp="1"/>
          </p:cNvSpPr>
          <p:nvPr/>
        </p:nvSpPr>
        <p:spPr>
          <a:xfrm>
            <a:off x="933450" y="2981325"/>
            <a:ext cx="10325100" cy="67627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Корисник се пријавио ујутру, а касније током дана добија виши ниво приступа. Ако систем не преиспита постојећу сесију, корисник може извршити ризичну радњу без додатне потврде која би била потребна да се пријављује у том тренутку. Обрнуто, одузета привилегија мора заиста да престане да важи, а не да чека крај дуготрајне сесије.</a:t>
            </a:r>
          </a:p>
        </p:txBody>
      </p:sp>
      <p:sp>
        <p:nvSpPr>
          <p:cNvPr id="10" name="Rounded Rectangle 9">
            <a:extLst>
              <a:ext uri="{FF2B5EF4-FFF2-40B4-BE49-F238E27FC236}">
                <a16:creationId xmlns:a16="http://schemas.microsoft.com/office/drawing/2014/main" id="{8ABF42BF-8012-4C99-975B-CED13F5F8F70}"/>
              </a:ext>
            </a:extLst>
          </p:cNvPr>
          <p:cNvSpPr>
            <a:spLocks noGrp="1"/>
          </p:cNvSpPr>
          <p:nvPr/>
        </p:nvSpPr>
        <p:spPr>
          <a:xfrm>
            <a:off x="781050" y="4048125"/>
            <a:ext cx="3352800" cy="1352550"/>
          </a:xfrm>
          <a:prstGeom prst="roundRect">
            <a:avLst>
              <a:gd name="adj" fmla="val 9859"/>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D5DC3B68-EB8A-4185-A601-C7B4B2C043D4}"/>
              </a:ext>
            </a:extLst>
          </p:cNvPr>
          <p:cNvSpPr>
            <a:spLocks noGrp="1"/>
          </p:cNvSpPr>
          <p:nvPr/>
        </p:nvSpPr>
        <p:spPr>
          <a:xfrm>
            <a:off x="933450"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8834A574-5419-42F9-BD3F-8ECBB800E3CE}"/>
              </a:ext>
            </a:extLst>
          </p:cNvPr>
          <p:cNvSpPr>
            <a:spLocks noGrp="1"/>
          </p:cNvSpPr>
          <p:nvPr/>
        </p:nvSpPr>
        <p:spPr>
          <a:xfrm>
            <a:off x="933450" y="4419600"/>
            <a:ext cx="3048000" cy="7810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Сесија је привремени доказ контекста, не трајна потврда поверења.</a:t>
            </a:r>
          </a:p>
        </p:txBody>
      </p:sp>
      <p:sp>
        <p:nvSpPr>
          <p:cNvPr id="13" name="Rounded Rectangle 12">
            <a:extLst>
              <a:ext uri="{FF2B5EF4-FFF2-40B4-BE49-F238E27FC236}">
                <a16:creationId xmlns:a16="http://schemas.microsoft.com/office/drawing/2014/main" id="{2658D6EB-DDB2-43D0-B2AE-412D21ADFA2F}"/>
              </a:ext>
            </a:extLst>
          </p:cNvPr>
          <p:cNvSpPr>
            <a:spLocks noGrp="1"/>
          </p:cNvSpPr>
          <p:nvPr/>
        </p:nvSpPr>
        <p:spPr>
          <a:xfrm>
            <a:off x="4391025" y="4048125"/>
            <a:ext cx="3352800" cy="1352550"/>
          </a:xfrm>
          <a:prstGeom prst="roundRect">
            <a:avLst>
              <a:gd name="adj" fmla="val 9859"/>
            </a:avLst>
          </a:prstGeom>
          <a:solidFill>
            <a:srgbClr val="FFF6E9"/>
          </a:solidFill>
          <a:ln w="9525">
            <a:solidFill>
              <a:srgbClr val="D7DEE8"/>
            </a:solidFill>
            <a:prstDash val="solid"/>
          </a:ln>
        </p:spPr>
      </p:sp>
      <p:sp>
        <p:nvSpPr>
          <p:cNvPr id="14" name="Rectangle 13">
            <a:extLst>
              <a:ext uri="{FF2B5EF4-FFF2-40B4-BE49-F238E27FC236}">
                <a16:creationId xmlns:a16="http://schemas.microsoft.com/office/drawing/2014/main" id="{CB1FD298-890F-496F-95AC-F33B4C274E03}"/>
              </a:ext>
            </a:extLst>
          </p:cNvPr>
          <p:cNvSpPr>
            <a:spLocks noGrp="1"/>
          </p:cNvSpPr>
          <p:nvPr/>
        </p:nvSpPr>
        <p:spPr>
          <a:xfrm>
            <a:off x="4543425"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a:ext uri="{FF2B5EF4-FFF2-40B4-BE49-F238E27FC236}">
                <a16:creationId xmlns:a16="http://schemas.microsoft.com/office/drawing/2014/main" id="{ACA01015-E263-4ED5-93F6-6588435638B0}"/>
              </a:ext>
            </a:extLst>
          </p:cNvPr>
          <p:cNvSpPr>
            <a:spLocks noGrp="1"/>
          </p:cNvSpPr>
          <p:nvPr/>
        </p:nvSpPr>
        <p:spPr>
          <a:xfrm>
            <a:off x="4543425" y="4419600"/>
            <a:ext cx="3048000" cy="781050"/>
          </a:xfrm>
          <a:prstGeom prst="rect">
            <a:avLst/>
          </a:prstGeom>
          <a:noFill/>
          <a:ln w="0">
            <a:noFill/>
          </a:ln>
        </p:spPr>
        <p:txBody>
          <a:bodyPr wrap="square" lIns="0" tIns="0" rIns="0" bIns="0" anchor="ctr">
            <a:normAutofit fontScale="98520"/>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Step-up аутентикација има смисла када се ризик радње промени, а не као произвољна препрека за све кориснике.</a:t>
            </a:r>
          </a:p>
        </p:txBody>
      </p:sp>
      <p:sp>
        <p:nvSpPr>
          <p:cNvPr id="16" name="Rounded Rectangle 15">
            <a:extLst>
              <a:ext uri="{FF2B5EF4-FFF2-40B4-BE49-F238E27FC236}">
                <a16:creationId xmlns:a16="http://schemas.microsoft.com/office/drawing/2014/main" id="{C22D51D6-0109-446A-A3E2-CFCF86D6CB21}"/>
              </a:ext>
            </a:extLst>
          </p:cNvPr>
          <p:cNvSpPr>
            <a:spLocks noGrp="1"/>
          </p:cNvSpPr>
          <p:nvPr/>
        </p:nvSpPr>
        <p:spPr>
          <a:xfrm>
            <a:off x="8001000" y="4048125"/>
            <a:ext cx="3352800" cy="1352550"/>
          </a:xfrm>
          <a:prstGeom prst="roundRect">
            <a:avLst>
              <a:gd name="adj" fmla="val 9859"/>
            </a:avLst>
          </a:prstGeom>
          <a:solidFill>
            <a:srgbClr val="EDF8F2"/>
          </a:solidFill>
          <a:ln w="9525">
            <a:solidFill>
              <a:srgbClr val="D7DEE8"/>
            </a:solidFill>
            <a:prstDash val="solid"/>
          </a:ln>
        </p:spPr>
      </p:sp>
      <p:sp>
        <p:nvSpPr>
          <p:cNvPr id="17" name="Rectangle 16">
            <a:extLst>
              <a:ext uri="{FF2B5EF4-FFF2-40B4-BE49-F238E27FC236}">
                <a16:creationId xmlns:a16="http://schemas.microsoft.com/office/drawing/2014/main" id="{B56A2683-DAAA-4F66-BFF4-D10C1D9F69F3}"/>
              </a:ext>
            </a:extLst>
          </p:cNvPr>
          <p:cNvSpPr>
            <a:spLocks noGrp="1"/>
          </p:cNvSpPr>
          <p:nvPr/>
        </p:nvSpPr>
        <p:spPr>
          <a:xfrm>
            <a:off x="8153400" y="4171950"/>
            <a:ext cx="304800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a:ext uri="{FF2B5EF4-FFF2-40B4-BE49-F238E27FC236}">
                <a16:creationId xmlns:a16="http://schemas.microsoft.com/office/drawing/2014/main" id="{CA573F2C-5BA5-4324-B1D6-099C1C60BD20}"/>
              </a:ext>
            </a:extLst>
          </p:cNvPr>
          <p:cNvSpPr>
            <a:spLocks noGrp="1"/>
          </p:cNvSpPr>
          <p:nvPr/>
        </p:nvSpPr>
        <p:spPr>
          <a:xfrm>
            <a:off x="8153400" y="4419600"/>
            <a:ext cx="3048000" cy="781050"/>
          </a:xfrm>
          <a:prstGeom prst="rect">
            <a:avLst/>
          </a:prstGeom>
          <a:noFill/>
          <a:ln w="0">
            <a:noFill/>
          </a:ln>
        </p:spPr>
        <p:txBody>
          <a:bodyPr wrap="square" lIns="0" tIns="0" rIns="0" bIns="0" anchor="ctr">
            <a:normAutofit fontScale="98520"/>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Сервисни налог добија исти третман као корисник: најмањи потребан опсег, рок важења и контролисану ротацију тајне.</a:t>
            </a:r>
          </a:p>
        </p:txBody>
      </p:sp>
    </p:spTree>
    <p:extLst>
      <p:ext uri="{BB962C8B-B14F-4D97-AF65-F5344CB8AC3E}">
        <p14:creationId xmlns:p14="http://schemas.microsoft.com/office/powerpoint/2010/main" val="6984883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777B7EF0-D340-4577-BA21-24909DFCC5EF}"/>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2F836305-B7A6-4B07-9C28-EF6FFA1EABD7}"/>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1A619A89-7407-4475-81BA-34A79405D2C2}"/>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a:ext uri="{FF2B5EF4-FFF2-40B4-BE49-F238E27FC236}">
                <a16:creationId xmlns:a16="http://schemas.microsoft.com/office/drawing/2014/main" id="{59CC4467-A471-44D0-AB84-A0A665856A36}"/>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Step-up не замењује проверу сесије и дозволе</a:t>
            </a:r>
          </a:p>
        </p:txBody>
      </p:sp>
      <p:sp>
        <p:nvSpPr>
          <p:cNvPr id="5" name="Rectangle 4">
            <a:extLst>
              <a:ext uri="{FF2B5EF4-FFF2-40B4-BE49-F238E27FC236}">
                <a16:creationId xmlns:a16="http://schemas.microsoft.com/office/drawing/2014/main" id="{A5B1776D-A15C-4C17-873B-921AAD717369}"/>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Код почиње од исте леве ивице као наслов прозора и остаје читљив на пројектору.</a:t>
            </a:r>
          </a:p>
        </p:txBody>
      </p:sp>
      <p:sp>
        <p:nvSpPr>
          <p:cNvPr id="6" name="Rounded Rectangle 5">
            <a:extLst>
              <a:ext uri="{FF2B5EF4-FFF2-40B4-BE49-F238E27FC236}">
                <a16:creationId xmlns:a16="http://schemas.microsoft.com/office/drawing/2014/main" id="{0D8D4B0D-9ADA-46AB-8D6F-3592DF577AE1}"/>
              </a:ext>
            </a:extLst>
          </p:cNvPr>
          <p:cNvSpPr>
            <a:spLocks noGrp="1"/>
          </p:cNvSpPr>
          <p:nvPr/>
        </p:nvSpPr>
        <p:spPr>
          <a:xfrm>
            <a:off x="666750" y="2095500"/>
            <a:ext cx="6858000" cy="2352675"/>
          </a:xfrm>
          <a:prstGeom prst="roundRect">
            <a:avLst>
              <a:gd name="adj" fmla="val 4712"/>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4DAFA643-C604-4336-AA47-EF24793828EF}"/>
              </a:ext>
            </a:extLst>
          </p:cNvPr>
          <p:cNvSpPr>
            <a:spLocks noGrp="1"/>
          </p:cNvSpPr>
          <p:nvPr/>
        </p:nvSpPr>
        <p:spPr>
          <a:xfrm>
            <a:off x="666750" y="2438400"/>
            <a:ext cx="6858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F7B9AB50-92AE-4662-86FC-ABE64DDEBC8B}"/>
              </a:ext>
            </a:extLst>
          </p:cNvPr>
          <p:cNvSpPr>
            <a:spLocks noGrp="1"/>
          </p:cNvSpPr>
          <p:nvPr/>
        </p:nvSpPr>
        <p:spPr>
          <a:xfrm>
            <a:off x="6838950" y="221932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F5E18037-2EC5-4288-AC0F-666AD4851F39}"/>
              </a:ext>
            </a:extLst>
          </p:cNvPr>
          <p:cNvSpPr>
            <a:spLocks noGrp="1"/>
          </p:cNvSpPr>
          <p:nvPr/>
        </p:nvSpPr>
        <p:spPr>
          <a:xfrm>
            <a:off x="7010400" y="221932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74AB3004-2C49-405B-9A30-A6FF847EACDC}"/>
              </a:ext>
            </a:extLst>
          </p:cNvPr>
          <p:cNvSpPr>
            <a:spLocks noGrp="1"/>
          </p:cNvSpPr>
          <p:nvPr/>
        </p:nvSpPr>
        <p:spPr>
          <a:xfrm>
            <a:off x="7181850" y="221932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F43F7927-18DA-4800-B419-351C7A67A489}"/>
              </a:ext>
            </a:extLst>
          </p:cNvPr>
          <p:cNvSpPr>
            <a:spLocks noGrp="1"/>
          </p:cNvSpPr>
          <p:nvPr/>
        </p:nvSpPr>
        <p:spPr>
          <a:xfrm>
            <a:off x="781050" y="2571750"/>
            <a:ext cx="304800" cy="3028950"/>
          </a:xfrm>
          <a:prstGeom prst="rect">
            <a:avLst/>
          </a:prstGeom>
          <a:noFill/>
          <a:ln w="0">
            <a:noFill/>
          </a:ln>
        </p:spPr>
        <p:txBody>
          <a:bodyPr wrap="square" lIns="0" tIns="0" rIns="0" bIns="0" anchor="t">
            <a:normAutofit/>
          </a:bodyPr>
          <a:lstStyle/>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p:txBody>
      </p:sp>
      <p:sp>
        <p:nvSpPr>
          <p:cNvPr id="12" name="Rectangle 11">
            <a:extLst>
              <a:ext uri="{FF2B5EF4-FFF2-40B4-BE49-F238E27FC236}">
                <a16:creationId xmlns:a16="http://schemas.microsoft.com/office/drawing/2014/main" id="{0E1074D8-00DC-469A-9859-03FCD2B390B5}"/>
              </a:ext>
            </a:extLst>
          </p:cNvPr>
          <p:cNvSpPr>
            <a:spLocks noGrp="1"/>
          </p:cNvSpPr>
          <p:nvPr/>
        </p:nvSpPr>
        <p:spPr>
          <a:xfrm>
            <a:off x="1200150" y="2571750"/>
            <a:ext cx="6153150" cy="3028950"/>
          </a:xfrm>
          <a:prstGeom prst="rect">
            <a:avLst/>
          </a:prstGeom>
          <a:noFill/>
          <a:ln w="0">
            <a:noFill/>
          </a:ln>
        </p:spPr>
        <p:txBody>
          <a:bodyPr wrap="square" lIns="0" tIns="0" rIns="0" bIns="0" anchor="t">
            <a:normAutofit/>
          </a:bodyPr>
          <a:lstStyle/>
          <a:p>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0">
                <a:solidFill>
                  <a:srgbClr val="7651D4"/>
                </a:solidFill>
              </a:rPr>
              <a:t>Result</a:t>
            </a:r>
            <a:r>
              <a:rPr b="0">
                <a:solidFill>
                  <a:srgbClr val="263044"/>
                </a:solidFill>
              </a:rPr>
              <a:t> </a:t>
            </a:r>
            <a:r>
              <a:rPr b="0">
                <a:solidFill>
                  <a:srgbClr val="7651D4"/>
                </a:solidFill>
              </a:rPr>
              <a:t>Approve</a:t>
            </a:r>
            <a:r>
              <a:rPr b="0">
                <a:solidFill>
                  <a:srgbClr val="263044"/>
                </a:solidFill>
              </a:rPr>
              <a:t>(</a:t>
            </a:r>
            <a:r>
              <a:rPr b="0">
                <a:solidFill>
                  <a:srgbClr val="7651D4"/>
                </a:solidFill>
              </a:rPr>
              <a:t>Session</a:t>
            </a:r>
            <a:r>
              <a:rPr b="0">
                <a:solidFill>
                  <a:srgbClr val="263044"/>
                </a:solidFill>
              </a:rPr>
              <a:t> session, </a:t>
            </a:r>
            <a:r>
              <a:rPr b="0">
                <a:solidFill>
                  <a:srgbClr val="7651D4"/>
                </a:solidFill>
              </a:rPr>
              <a:t>MfaProof</a:t>
            </a:r>
            <a:r>
              <a:rPr b="0">
                <a:solidFill>
                  <a:srgbClr val="263044"/>
                </a:solidFill>
              </a:rPr>
              <a:t> proof)</a:t>
            </a:r>
          </a:p>
          <a:p>
            <a:pPr>
              <a:buNone/>
              <a:defRPr sz="1050">
                <a:solidFill>
                  <a:srgbClr val="263044"/>
                </a:solidFill>
                <a:latin typeface="Consolas"/>
                <a:ea typeface="Consolas"/>
                <a:cs typeface="Consolas"/>
              </a:defRPr>
            </a:pP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(session.</a:t>
            </a:r>
            <a:r>
              <a:rPr b="0">
                <a:solidFill>
                  <a:srgbClr val="7651D4"/>
                </a:solidFill>
              </a:rPr>
              <a:t>IsExpired</a:t>
            </a:r>
            <a:r>
              <a:rPr b="0">
                <a:solidFill>
                  <a:srgbClr val="263044"/>
                </a:solidFill>
              </a:rPr>
              <a:t> || session.</a:t>
            </a:r>
            <a:r>
              <a:rPr b="0">
                <a:solidFill>
                  <a:srgbClr val="7651D4"/>
                </a:solidFill>
              </a:rPr>
              <a:t>IsRevoked</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Result</a:t>
            </a:r>
            <a:r>
              <a:rPr b="0">
                <a:solidFill>
                  <a:srgbClr val="263044"/>
                </a:solidFill>
              </a:rPr>
              <a:t>.</a:t>
            </a:r>
            <a:r>
              <a:rPr b="0">
                <a:solidFill>
                  <a:srgbClr val="7651D4"/>
                </a:solidFill>
              </a:rPr>
              <a:t>Deny</a:t>
            </a:r>
            <a:r>
              <a:rPr b="0">
                <a:solidFill>
                  <a:srgbClr val="263044"/>
                </a:solidFill>
              </a:rPr>
              <a:t>(</a:t>
            </a:r>
            <a:r>
              <a:rPr b="0">
                <a:solidFill>
                  <a:srgbClr val="B45309"/>
                </a:solidFill>
              </a:rPr>
              <a:t>"invalid_session"</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(!proof.</a:t>
            </a:r>
            <a:r>
              <a:rPr b="0">
                <a:solidFill>
                  <a:srgbClr val="7651D4"/>
                </a:solidFill>
              </a:rPr>
              <a:t>IsValidFor</a:t>
            </a:r>
            <a:r>
              <a:rPr b="0">
                <a:solidFill>
                  <a:srgbClr val="263044"/>
                </a:solidFill>
              </a:rPr>
              <a:t>(session.</a:t>
            </a:r>
            <a:r>
              <a:rPr b="0">
                <a:solidFill>
                  <a:srgbClr val="7651D4"/>
                </a:solidFill>
              </a:rPr>
              <a:t>SubjectId</a:t>
            </a:r>
            <a:r>
              <a:rPr b="0">
                <a:solidFill>
                  <a:srgbClr val="263044"/>
                </a:solidFill>
              </a:rPr>
              <a:t>, clock.</a:t>
            </a:r>
            <a:r>
              <a:rPr b="0">
                <a:solidFill>
                  <a:srgbClr val="7651D4"/>
                </a:solidFill>
              </a:rPr>
              <a:t>UtcNow</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Result</a:t>
            </a:r>
            <a:r>
              <a:rPr b="0">
                <a:solidFill>
                  <a:srgbClr val="263044"/>
                </a:solidFill>
              </a:rPr>
              <a:t>.</a:t>
            </a:r>
            <a:r>
              <a:rPr b="0">
                <a:solidFill>
                  <a:srgbClr val="7651D4"/>
                </a:solidFill>
              </a:rPr>
              <a:t>Deny</a:t>
            </a:r>
            <a:r>
              <a:rPr b="0">
                <a:solidFill>
                  <a:srgbClr val="263044"/>
                </a:solidFill>
              </a:rPr>
              <a:t>(</a:t>
            </a:r>
            <a:r>
              <a:rPr b="0">
                <a:solidFill>
                  <a:srgbClr val="B45309"/>
                </a:solidFill>
              </a:rPr>
              <a:t>"step_up_required"</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(!session.</a:t>
            </a:r>
            <a:r>
              <a:rPr b="0">
                <a:solidFill>
                  <a:srgbClr val="7651D4"/>
                </a:solidFill>
              </a:rPr>
              <a:t>Has</a:t>
            </a:r>
            <a:r>
              <a:rPr b="0">
                <a:solidFill>
                  <a:srgbClr val="263044"/>
                </a:solidFill>
              </a:rPr>
              <a:t>(</a:t>
            </a:r>
            <a:r>
              <a:rPr b="0">
                <a:solidFill>
                  <a:srgbClr val="B45309"/>
                </a:solidFill>
              </a:rPr>
              <a:t>"payment.approve"</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Result</a:t>
            </a:r>
            <a:r>
              <a:rPr b="0">
                <a:solidFill>
                  <a:srgbClr val="263044"/>
                </a:solidFill>
              </a:rPr>
              <a:t>.</a:t>
            </a:r>
            <a:r>
              <a:rPr b="0">
                <a:solidFill>
                  <a:srgbClr val="7651D4"/>
                </a:solidFill>
              </a:rPr>
              <a:t>Deny</a:t>
            </a:r>
            <a:r>
              <a:rPr b="0">
                <a:solidFill>
                  <a:srgbClr val="263044"/>
                </a:solidFill>
              </a:rPr>
              <a:t>(</a:t>
            </a:r>
            <a:r>
              <a:rPr b="0">
                <a:solidFill>
                  <a:srgbClr val="B45309"/>
                </a:solidFill>
              </a:rPr>
              <a:t>"missing_permission"</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Result</a:t>
            </a:r>
            <a:r>
              <a:rPr b="0">
                <a:solidFill>
                  <a:srgbClr val="263044"/>
                </a:solidFill>
              </a:rPr>
              <a:t>.</a:t>
            </a:r>
            <a:r>
              <a:rPr b="0">
                <a:solidFill>
                  <a:srgbClr val="7651D4"/>
                </a:solidFill>
              </a:rPr>
              <a:t>Ok</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1CBBE798-7273-4724-98CF-B3F2B1ED0C61}"/>
              </a:ext>
            </a:extLst>
          </p:cNvPr>
          <p:cNvSpPr>
            <a:spLocks noGrp="1"/>
          </p:cNvSpPr>
          <p:nvPr/>
        </p:nvSpPr>
        <p:spPr>
          <a:xfrm>
            <a:off x="7924800" y="2152650"/>
            <a:ext cx="3600450" cy="1809750"/>
          </a:xfrm>
          <a:prstGeom prst="roundRect">
            <a:avLst>
              <a:gd name="adj" fmla="val 7368"/>
            </a:avLst>
          </a:prstGeom>
          <a:solidFill>
            <a:srgbClr val="EEF3FF"/>
          </a:solidFill>
          <a:ln w="9525">
            <a:solidFill>
              <a:srgbClr val="D7DEE8"/>
            </a:solidFill>
            <a:prstDash val="solid"/>
          </a:ln>
        </p:spPr>
      </p:sp>
      <p:sp>
        <p:nvSpPr>
          <p:cNvPr id="14" name="Rectangle 13">
            <a:extLst>
              <a:ext uri="{FF2B5EF4-FFF2-40B4-BE49-F238E27FC236}">
                <a16:creationId xmlns:a16="http://schemas.microsoft.com/office/drawing/2014/main" id="{7B64B8BC-10B4-4521-A757-45CAF388A6AB}"/>
              </a:ext>
            </a:extLst>
          </p:cNvPr>
          <p:cNvSpPr>
            <a:spLocks noGrp="1"/>
          </p:cNvSpPr>
          <p:nvPr/>
        </p:nvSpPr>
        <p:spPr>
          <a:xfrm>
            <a:off x="8077200" y="22764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ШТА ЈЕ ВАЖНО</a:t>
            </a:r>
          </a:p>
        </p:txBody>
      </p:sp>
      <p:sp>
        <p:nvSpPr>
          <p:cNvPr id="15" name="Rectangle 14">
            <a:extLst>
              <a:ext uri="{FF2B5EF4-FFF2-40B4-BE49-F238E27FC236}">
                <a16:creationId xmlns:a16="http://schemas.microsoft.com/office/drawing/2014/main" id="{C9DCDBFC-C1C6-49FD-A5DF-06C924D88D02}"/>
              </a:ext>
            </a:extLst>
          </p:cNvPr>
          <p:cNvSpPr>
            <a:spLocks noGrp="1"/>
          </p:cNvSpPr>
          <p:nvPr/>
        </p:nvSpPr>
        <p:spPr>
          <a:xfrm>
            <a:off x="8077200" y="2524125"/>
            <a:ext cx="3295650" cy="9906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Додатна потврда подиже ниво поверења само за ограничену радњу и кратак временски прозор.</a:t>
            </a:r>
          </a:p>
        </p:txBody>
      </p:sp>
      <p:sp>
        <p:nvSpPr>
          <p:cNvPr id="16" name="Rounded Rectangle 15">
            <a:extLst>
              <a:ext uri="{FF2B5EF4-FFF2-40B4-BE49-F238E27FC236}">
                <a16:creationId xmlns:a16="http://schemas.microsoft.com/office/drawing/2014/main" id="{101EC110-06A9-4494-B095-968AA410770C}"/>
              </a:ext>
            </a:extLst>
          </p:cNvPr>
          <p:cNvSpPr>
            <a:spLocks noGrp="1"/>
          </p:cNvSpPr>
          <p:nvPr/>
        </p:nvSpPr>
        <p:spPr>
          <a:xfrm>
            <a:off x="7924800" y="4248150"/>
            <a:ext cx="3600450" cy="1428750"/>
          </a:xfrm>
          <a:prstGeom prst="roundRect">
            <a:avLst>
              <a:gd name="adj" fmla="val 9333"/>
            </a:avLst>
          </a:prstGeom>
          <a:solidFill>
            <a:srgbClr val="FFF6E9"/>
          </a:solidFill>
          <a:ln w="9525">
            <a:solidFill>
              <a:srgbClr val="D7DEE8"/>
            </a:solidFill>
            <a:prstDash val="solid"/>
          </a:ln>
        </p:spPr>
      </p:sp>
      <p:sp>
        <p:nvSpPr>
          <p:cNvPr id="17" name="Rectangle 16">
            <a:extLst>
              <a:ext uri="{FF2B5EF4-FFF2-40B4-BE49-F238E27FC236}">
                <a16:creationId xmlns:a16="http://schemas.microsoft.com/office/drawing/2014/main" id="{D57FFFB4-66B4-4E12-87A0-CFE419FFF68A}"/>
              </a:ext>
            </a:extLst>
          </p:cNvPr>
          <p:cNvSpPr>
            <a:spLocks noGrp="1"/>
          </p:cNvSpPr>
          <p:nvPr/>
        </p:nvSpPr>
        <p:spPr>
          <a:xfrm>
            <a:off x="8077200" y="43719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ГРАНИЦА</a:t>
            </a:r>
          </a:p>
        </p:txBody>
      </p:sp>
      <p:sp>
        <p:nvSpPr>
          <p:cNvPr id="18" name="Rectangle 17">
            <a:extLst>
              <a:ext uri="{FF2B5EF4-FFF2-40B4-BE49-F238E27FC236}">
                <a16:creationId xmlns:a16="http://schemas.microsoft.com/office/drawing/2014/main" id="{FAD97ABD-190A-418C-BC7A-16CD6E16C712}"/>
              </a:ext>
            </a:extLst>
          </p:cNvPr>
          <p:cNvSpPr>
            <a:spLocks noGrp="1"/>
          </p:cNvSpPr>
          <p:nvPr/>
        </p:nvSpPr>
        <p:spPr>
          <a:xfrm>
            <a:off x="8077200" y="4619625"/>
            <a:ext cx="3295650" cy="83820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Одбијање је експлицитан исход са разлогом који се може тестирати и објаснити.</a:t>
            </a:r>
          </a:p>
        </p:txBody>
      </p:sp>
    </p:spTree>
    <p:extLst>
      <p:ext uri="{BB962C8B-B14F-4D97-AF65-F5344CB8AC3E}">
        <p14:creationId xmlns:p14="http://schemas.microsoft.com/office/powerpoint/2010/main" val="4995006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0EF2E753-B3EC-4FA9-98D3-3DC3366D33D1}"/>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68C5E10B-162C-4855-981B-06F0AB8B46AA}"/>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74A074E4-C960-4F21-B128-21677B212961}"/>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a:ext uri="{FF2B5EF4-FFF2-40B4-BE49-F238E27FC236}">
                <a16:creationId xmlns:a16="http://schemas.microsoft.com/office/drawing/2014/main" id="{0B2B9F64-19D6-45E0-80F2-D88214BE30FB}"/>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Опозив има предност над старим доказом</a:t>
            </a:r>
          </a:p>
        </p:txBody>
      </p:sp>
      <p:sp>
        <p:nvSpPr>
          <p:cNvPr id="5" name="Rectangle 4">
            <a:extLst>
              <a:ext uri="{FF2B5EF4-FFF2-40B4-BE49-F238E27FC236}">
                <a16:creationId xmlns:a16="http://schemas.microsoft.com/office/drawing/2014/main" id="{5FBE151A-D01E-457A-8DAA-6FE4D0B14962}"/>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Негативан тест није споредан случај — он описује где право престаје.</a:t>
            </a:r>
          </a:p>
        </p:txBody>
      </p:sp>
      <p:sp>
        <p:nvSpPr>
          <p:cNvPr id="6" name="Rounded Rectangle 5">
            <a:extLst>
              <a:ext uri="{FF2B5EF4-FFF2-40B4-BE49-F238E27FC236}">
                <a16:creationId xmlns:a16="http://schemas.microsoft.com/office/drawing/2014/main" id="{134F8F15-907D-4FEC-9383-1512BB812B0B}"/>
              </a:ext>
            </a:extLst>
          </p:cNvPr>
          <p:cNvSpPr>
            <a:spLocks noGrp="1"/>
          </p:cNvSpPr>
          <p:nvPr/>
        </p:nvSpPr>
        <p:spPr>
          <a:xfrm>
            <a:off x="666750" y="2095500"/>
            <a:ext cx="6858000" cy="2276475"/>
          </a:xfrm>
          <a:prstGeom prst="roundRect">
            <a:avLst>
              <a:gd name="adj" fmla="val 4712"/>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676C64B8-87DC-4E3C-A9BE-ADE25B6D8B8A}"/>
              </a:ext>
            </a:extLst>
          </p:cNvPr>
          <p:cNvSpPr>
            <a:spLocks noGrp="1"/>
          </p:cNvSpPr>
          <p:nvPr/>
        </p:nvSpPr>
        <p:spPr>
          <a:xfrm>
            <a:off x="666750" y="2438400"/>
            <a:ext cx="6858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25F20EBD-3258-4F49-8C6F-5F18C4A17846}"/>
              </a:ext>
            </a:extLst>
          </p:cNvPr>
          <p:cNvSpPr>
            <a:spLocks noGrp="1"/>
          </p:cNvSpPr>
          <p:nvPr/>
        </p:nvSpPr>
        <p:spPr>
          <a:xfrm>
            <a:off x="6838950" y="221932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37093661-B0DC-483D-828C-9BE368475390}"/>
              </a:ext>
            </a:extLst>
          </p:cNvPr>
          <p:cNvSpPr>
            <a:spLocks noGrp="1"/>
          </p:cNvSpPr>
          <p:nvPr/>
        </p:nvSpPr>
        <p:spPr>
          <a:xfrm>
            <a:off x="7010400" y="221932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8EDD7A5D-8B33-48F7-A281-94F67B6D02D5}"/>
              </a:ext>
            </a:extLst>
          </p:cNvPr>
          <p:cNvSpPr>
            <a:spLocks noGrp="1"/>
          </p:cNvSpPr>
          <p:nvPr/>
        </p:nvSpPr>
        <p:spPr>
          <a:xfrm>
            <a:off x="7181850" y="221932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0832FBCA-54A3-4385-AD14-4BE1C750F967}"/>
              </a:ext>
            </a:extLst>
          </p:cNvPr>
          <p:cNvSpPr>
            <a:spLocks noGrp="1"/>
          </p:cNvSpPr>
          <p:nvPr/>
        </p:nvSpPr>
        <p:spPr>
          <a:xfrm>
            <a:off x="781050" y="2571750"/>
            <a:ext cx="304800" cy="3028950"/>
          </a:xfrm>
          <a:prstGeom prst="rect">
            <a:avLst/>
          </a:prstGeom>
          <a:noFill/>
          <a:ln w="0">
            <a:noFill/>
          </a:ln>
        </p:spPr>
        <p:txBody>
          <a:bodyPr wrap="square" lIns="0" tIns="0" rIns="0" bIns="0" anchor="t">
            <a:normAutofit/>
          </a:bodyPr>
          <a:lstStyle/>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p:txBody>
      </p:sp>
      <p:sp>
        <p:nvSpPr>
          <p:cNvPr id="12" name="Rectangle 11">
            <a:extLst>
              <a:ext uri="{FF2B5EF4-FFF2-40B4-BE49-F238E27FC236}">
                <a16:creationId xmlns:a16="http://schemas.microsoft.com/office/drawing/2014/main" id="{E0AD5860-9E02-4DAE-989A-A41388D4C84C}"/>
              </a:ext>
            </a:extLst>
          </p:cNvPr>
          <p:cNvSpPr>
            <a:spLocks noGrp="1"/>
          </p:cNvSpPr>
          <p:nvPr/>
        </p:nvSpPr>
        <p:spPr>
          <a:xfrm>
            <a:off x="1200150" y="2571750"/>
            <a:ext cx="6153150" cy="3028950"/>
          </a:xfrm>
          <a:prstGeom prst="rect">
            <a:avLst/>
          </a:prstGeom>
          <a:noFill/>
          <a:ln w="0">
            <a:noFill/>
          </a:ln>
        </p:spPr>
        <p:txBody>
          <a:bodyPr wrap="square" lIns="0" tIns="0" rIns="0" bIns="0" anchor="t">
            <a:normAutofit/>
          </a:bodyPr>
          <a:lstStyle/>
          <a:p>
            <a:pPr>
              <a:buNone/>
              <a:defRPr sz="1050">
                <a:solidFill>
                  <a:srgbClr val="263044"/>
                </a:solidFill>
                <a:latin typeface="Consolas"/>
                <a:ea typeface="Consolas"/>
                <a:cs typeface="Consolas"/>
              </a:defRPr>
            </a:pPr>
            <a:r>
              <a:rPr b="0">
                <a:solidFill>
                  <a:srgbClr val="263044"/>
                </a:solidFill>
              </a:rPr>
              <a:t>[</a:t>
            </a:r>
            <a:r>
              <a:rPr b="0">
                <a:solidFill>
                  <a:srgbClr val="7651D4"/>
                </a:solidFill>
              </a:rPr>
              <a:t>Fact</a:t>
            </a:r>
            <a:r>
              <a:rPr b="0">
                <a:solidFill>
                  <a:srgbClr val="263044"/>
                </a:solidFill>
              </a:rPr>
              <a:t>]</a:t>
            </a:r>
          </a:p>
          <a:p>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Revoked_session_cannot_use_valid_old_mfa_proof</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session = </a:t>
            </a:r>
            <a:r>
              <a:rPr b="0">
                <a:solidFill>
                  <a:srgbClr val="7651D4"/>
                </a:solidFill>
              </a:rPr>
              <a:t>Session</a:t>
            </a:r>
            <a:r>
              <a:rPr b="0">
                <a:solidFill>
                  <a:srgbClr val="263044"/>
                </a:solidFill>
              </a:rPr>
              <a:t>.</a:t>
            </a:r>
            <a:r>
              <a:rPr b="0">
                <a:solidFill>
                  <a:srgbClr val="7651D4"/>
                </a:solidFill>
              </a:rPr>
              <a:t>Revoked</a:t>
            </a:r>
            <a:r>
              <a:rPr b="0">
                <a:solidFill>
                  <a:srgbClr val="263044"/>
                </a:solidFill>
              </a:rPr>
              <a:t>(subject: </a:t>
            </a:r>
            <a:r>
              <a:rPr b="0">
                <a:solidFill>
                  <a:srgbClr val="B45309"/>
                </a:solidFill>
              </a:rPr>
              <a:t>"u-8"</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proof = </a:t>
            </a:r>
            <a:r>
              <a:rPr b="0">
                <a:solidFill>
                  <a:srgbClr val="7651D4"/>
                </a:solidFill>
              </a:rPr>
              <a:t>MfaProof</a:t>
            </a:r>
            <a:r>
              <a:rPr b="0">
                <a:solidFill>
                  <a:srgbClr val="263044"/>
                </a:solidFill>
              </a:rPr>
              <a:t>.</a:t>
            </a:r>
            <a:r>
              <a:rPr b="0">
                <a:solidFill>
                  <a:srgbClr val="7651D4"/>
                </a:solidFill>
              </a:rPr>
              <a:t>ValidFor</a:t>
            </a:r>
            <a:r>
              <a:rPr b="0">
                <a:solidFill>
                  <a:srgbClr val="263044"/>
                </a:solidFill>
              </a:rPr>
              <a:t>(</a:t>
            </a:r>
            <a:r>
              <a:rPr b="0">
                <a:solidFill>
                  <a:srgbClr val="B45309"/>
                </a:solidFill>
              </a:rPr>
              <a:t>"u-8"</a:t>
            </a:r>
            <a:r>
              <a:rPr b="0">
                <a:solidFill>
                  <a:srgbClr val="263044"/>
                </a:solidFill>
              </a:rPr>
              <a:t>);</a:t>
            </a:r>
          </a:p>
          <a:p>
            <a:pPr>
              <a:buNone/>
              <a:defRPr sz="1050">
                <a:solidFill>
                  <a:srgbClr val="263044"/>
                </a:solidFill>
                <a:latin typeface="Consolas"/>
                <a:ea typeface="Consolas"/>
                <a:cs typeface="Consolas"/>
              </a:defRPr>
            </a:pPr>
            <a:endParaRPr b="0">
              <a:solidFill>
                <a:srgbClr val="263044"/>
              </a:solidFill>
            </a:endParaRPr>
          </a:p>
          <a:p>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result = guard.</a:t>
            </a:r>
            <a:r>
              <a:rPr b="0">
                <a:solidFill>
                  <a:srgbClr val="7651D4"/>
                </a:solidFill>
              </a:rPr>
              <a:t>Approve</a:t>
            </a:r>
            <a:r>
              <a:rPr b="0">
                <a:solidFill>
                  <a:srgbClr val="263044"/>
                </a:solidFill>
              </a:rPr>
              <a:t>(session, proof);</a:t>
            </a:r>
          </a:p>
          <a:p>
            <a:pPr>
              <a:buNone/>
              <a:defRPr sz="1050">
                <a:solidFill>
                  <a:srgbClr val="263044"/>
                </a:solidFill>
                <a:latin typeface="Consolas"/>
                <a:ea typeface="Consolas"/>
                <a:cs typeface="Consolas"/>
              </a:defRPr>
            </a:pPr>
            <a:endParaRPr b="0">
              <a:solidFill>
                <a:srgbClr val="263044"/>
              </a:solidFill>
            </a:endParaRPr>
          </a:p>
          <a:p>
            <a:pPr>
              <a:buNone/>
              <a:defRPr sz="1050">
                <a:solidFill>
                  <a:srgbClr val="263044"/>
                </a:solidFill>
                <a:latin typeface="Consolas"/>
                <a:ea typeface="Consolas"/>
                <a:cs typeface="Consolas"/>
              </a:defRPr>
            </a:pPr>
            <a:r>
              <a:rPr b="0">
                <a:solidFill>
                  <a:srgbClr val="263044"/>
                </a:solidFill>
              </a:rPr>
              <a:t>    result.</a:t>
            </a:r>
            <a:r>
              <a:rPr b="0">
                <a:solidFill>
                  <a:srgbClr val="7651D4"/>
                </a:solidFill>
              </a:rPr>
              <a:t>Reason</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45309"/>
                </a:solidFill>
              </a:rPr>
              <a:t>"invalid_session"</a:t>
            </a:r>
            <a:r>
              <a:rPr b="0">
                <a:solidFill>
                  <a:srgbClr val="263044"/>
                </a:solidFill>
              </a:rPr>
              <a:t>);</a:t>
            </a:r>
          </a:p>
          <a:p>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05A355B1-0EF0-45F2-AC2B-0F76CA8DACDF}"/>
              </a:ext>
            </a:extLst>
          </p:cNvPr>
          <p:cNvSpPr>
            <a:spLocks noGrp="1"/>
          </p:cNvSpPr>
          <p:nvPr/>
        </p:nvSpPr>
        <p:spPr>
          <a:xfrm>
            <a:off x="7924800" y="2152650"/>
            <a:ext cx="3600450" cy="1809750"/>
          </a:xfrm>
          <a:prstGeom prst="roundRect">
            <a:avLst>
              <a:gd name="adj" fmla="val 7368"/>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DA9D490F-CE4F-4454-9FE1-D1F52433A1F6}"/>
              </a:ext>
            </a:extLst>
          </p:cNvPr>
          <p:cNvSpPr>
            <a:spLocks noGrp="1"/>
          </p:cNvSpPr>
          <p:nvPr/>
        </p:nvSpPr>
        <p:spPr>
          <a:xfrm>
            <a:off x="8077200" y="22764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a:ext uri="{FF2B5EF4-FFF2-40B4-BE49-F238E27FC236}">
                <a16:creationId xmlns:a16="http://schemas.microsoft.com/office/drawing/2014/main" id="{A4CB7022-A3EE-44B6-A9FB-2134DBD1370D}"/>
              </a:ext>
            </a:extLst>
          </p:cNvPr>
          <p:cNvSpPr>
            <a:spLocks noGrp="1"/>
          </p:cNvSpPr>
          <p:nvPr/>
        </p:nvSpPr>
        <p:spPr>
          <a:xfrm>
            <a:off x="8077200" y="2524125"/>
            <a:ext cx="3295650" cy="10287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Чак и валидан стари MFA доказ не оживљава сесију која је у међувремену опозвана.</a:t>
            </a:r>
          </a:p>
        </p:txBody>
      </p:sp>
      <p:sp>
        <p:nvSpPr>
          <p:cNvPr id="16" name="Rounded Rectangle 15">
            <a:extLst>
              <a:ext uri="{FF2B5EF4-FFF2-40B4-BE49-F238E27FC236}">
                <a16:creationId xmlns:a16="http://schemas.microsoft.com/office/drawing/2014/main" id="{911BBC7D-BD6D-462C-8877-5F5BB9553A7A}"/>
              </a:ext>
            </a:extLst>
          </p:cNvPr>
          <p:cNvSpPr>
            <a:spLocks noGrp="1"/>
          </p:cNvSpPr>
          <p:nvPr/>
        </p:nvSpPr>
        <p:spPr>
          <a:xfrm>
            <a:off x="7924800" y="4248150"/>
            <a:ext cx="3600450" cy="1428750"/>
          </a:xfrm>
          <a:prstGeom prst="roundRect">
            <a:avLst>
              <a:gd name="adj" fmla="val 9333"/>
            </a:avLst>
          </a:prstGeom>
          <a:solidFill>
            <a:srgbClr val="F5F0FF"/>
          </a:solidFill>
          <a:ln w="9525">
            <a:solidFill>
              <a:srgbClr val="D7DEE8"/>
            </a:solidFill>
            <a:prstDash val="solid"/>
          </a:ln>
        </p:spPr>
      </p:sp>
      <p:sp>
        <p:nvSpPr>
          <p:cNvPr id="17" name="Rectangle 16">
            <a:extLst>
              <a:ext uri="{FF2B5EF4-FFF2-40B4-BE49-F238E27FC236}">
                <a16:creationId xmlns:a16="http://schemas.microsoft.com/office/drawing/2014/main" id="{6D11506B-2B98-4E91-BE91-99FA47B329B3}"/>
              </a:ext>
            </a:extLst>
          </p:cNvPr>
          <p:cNvSpPr>
            <a:spLocks noGrp="1"/>
          </p:cNvSpPr>
          <p:nvPr/>
        </p:nvSpPr>
        <p:spPr>
          <a:xfrm>
            <a:off x="8077200" y="4371975"/>
            <a:ext cx="32956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ПРОВЕРА</a:t>
            </a:r>
          </a:p>
        </p:txBody>
      </p:sp>
      <p:sp>
        <p:nvSpPr>
          <p:cNvPr id="18" name="Rectangle 17">
            <a:extLst>
              <a:ext uri="{FF2B5EF4-FFF2-40B4-BE49-F238E27FC236}">
                <a16:creationId xmlns:a16="http://schemas.microsoft.com/office/drawing/2014/main" id="{1714526B-7D99-40A6-99E7-42B2152115E0}"/>
              </a:ext>
            </a:extLst>
          </p:cNvPr>
          <p:cNvSpPr>
            <a:spLocks noGrp="1"/>
          </p:cNvSpPr>
          <p:nvPr/>
        </p:nvSpPr>
        <p:spPr>
          <a:xfrm>
            <a:off x="8077200" y="4619625"/>
            <a:ext cx="3295650" cy="83820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Промените једну чињеницу и очекујте јасан, стабилан разлог одбијања.</a:t>
            </a:r>
          </a:p>
        </p:txBody>
      </p:sp>
    </p:spTree>
    <p:extLst>
      <p:ext uri="{BB962C8B-B14F-4D97-AF65-F5344CB8AC3E}">
        <p14:creationId xmlns:p14="http://schemas.microsoft.com/office/powerpoint/2010/main" val="939208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A5052AD-C5FA-437D-A64C-A64013996477}"/>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9B47E582-BC3B-49FC-8D43-EDBC8F175D8D}"/>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D3FD1510-FB92-453B-8560-B55EECA1D339}"/>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a:ext uri="{FF2B5EF4-FFF2-40B4-BE49-F238E27FC236}">
                <a16:creationId xmlns:a16="http://schemas.microsoft.com/office/drawing/2014/main" id="{CDE8D3BB-71DA-4A82-9316-33103D4FCE8F}"/>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Доказ мора да одговори шта се догодило</a:t>
            </a:r>
          </a:p>
        </p:txBody>
      </p:sp>
      <p:sp>
        <p:nvSpPr>
          <p:cNvPr id="5" name="Rectangle 4">
            <a:extLst>
              <a:ext uri="{FF2B5EF4-FFF2-40B4-BE49-F238E27FC236}">
                <a16:creationId xmlns:a16="http://schemas.microsoft.com/office/drawing/2014/main" id="{7304EDAF-271C-49D8-9C9F-FEC6CA65F994}"/>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Чува се довољно контекста за реконструкцију, али не и тајне или непотребни лични подаци.</a:t>
            </a:r>
          </a:p>
        </p:txBody>
      </p:sp>
      <p:sp>
        <p:nvSpPr>
          <p:cNvPr id="6" name="Rounded Rectangle 5">
            <a:extLst>
              <a:ext uri="{FF2B5EF4-FFF2-40B4-BE49-F238E27FC236}">
                <a16:creationId xmlns:a16="http://schemas.microsoft.com/office/drawing/2014/main" id="{0DDB940B-7689-404A-88E3-D55B30804276}"/>
              </a:ext>
            </a:extLst>
          </p:cNvPr>
          <p:cNvSpPr>
            <a:spLocks noGrp="1"/>
          </p:cNvSpPr>
          <p:nvPr/>
        </p:nvSpPr>
        <p:spPr>
          <a:xfrm>
            <a:off x="857250" y="2152650"/>
            <a:ext cx="5334000" cy="2085975"/>
          </a:xfrm>
          <a:prstGeom prst="roundRect">
            <a:avLst>
              <a:gd name="adj" fmla="val 5455"/>
            </a:avLst>
          </a:prstGeom>
          <a:solidFill>
            <a:srgbClr val="F7F8FB"/>
          </a:solidFill>
          <a:ln w="9525">
            <a:solidFill>
              <a:srgbClr val="D7DEE8"/>
            </a:solidFill>
            <a:prstDash val="solid"/>
          </a:ln>
        </p:spPr>
        <p:style>
          <a:lnRef idx="0">
            <a:scrgbClr r="0" g="0" b="0"/>
          </a:lnRef>
          <a:fillRef idx="0">
            <a:scrgbClr r="0" g="0" b="0"/>
          </a:fillRef>
          <a:effectRef idx="10">
            <a:scrgbClr r="0" g="0" b="0"/>
          </a:effectRef>
          <a:fontRef idx="major"/>
        </p:style>
      </p:sp>
      <p:sp>
        <p:nvSpPr>
          <p:cNvPr id="7" name="Straight Connector 6">
            <a:extLst>
              <a:ext uri="{FF2B5EF4-FFF2-40B4-BE49-F238E27FC236}">
                <a16:creationId xmlns:a16="http://schemas.microsoft.com/office/drawing/2014/main" id="{22D5732C-8915-4CC7-A449-3A815F09E66C}"/>
              </a:ext>
            </a:extLst>
          </p:cNvPr>
          <p:cNvSpPr>
            <a:spLocks noGrp="1"/>
          </p:cNvSpPr>
          <p:nvPr/>
        </p:nvSpPr>
        <p:spPr>
          <a:xfrm>
            <a:off x="857250" y="2495550"/>
            <a:ext cx="5334000" cy="9525"/>
          </a:xfrm>
          <a:prstGeom prst="line">
            <a:avLst/>
          </a:prstGeom>
          <a:noFill/>
          <a:ln w="9525">
            <a:solidFill>
              <a:srgbClr val="D7DEE8"/>
            </a:solidFill>
            <a:prstDash val="solid"/>
          </a:ln>
        </p:spPr>
      </p:sp>
      <p:sp>
        <p:nvSpPr>
          <p:cNvPr id="8" name="Oval 7">
            <a:extLst>
              <a:ext uri="{FF2B5EF4-FFF2-40B4-BE49-F238E27FC236}">
                <a16:creationId xmlns:a16="http://schemas.microsoft.com/office/drawing/2014/main" id="{4904EC86-031E-4EBF-B6BB-59FDACAB2CC1}"/>
              </a:ext>
            </a:extLst>
          </p:cNvPr>
          <p:cNvSpPr>
            <a:spLocks noGrp="1"/>
          </p:cNvSpPr>
          <p:nvPr/>
        </p:nvSpPr>
        <p:spPr>
          <a:xfrm>
            <a:off x="5505450" y="2276475"/>
            <a:ext cx="85725" cy="85725"/>
          </a:xfrm>
          <a:prstGeom prst="ellipse">
            <a:avLst/>
          </a:prstGeom>
          <a:solidFill>
            <a:srgbClr val="EF6A60"/>
          </a:solidFill>
          <a:ln w="0">
            <a:noFill/>
          </a:ln>
        </p:spPr>
      </p:sp>
      <p:sp>
        <p:nvSpPr>
          <p:cNvPr id="9" name="Oval 8">
            <a:extLst>
              <a:ext uri="{FF2B5EF4-FFF2-40B4-BE49-F238E27FC236}">
                <a16:creationId xmlns:a16="http://schemas.microsoft.com/office/drawing/2014/main" id="{C33BF492-A312-478E-BADA-35FD6D239AA8}"/>
              </a:ext>
            </a:extLst>
          </p:cNvPr>
          <p:cNvSpPr>
            <a:spLocks noGrp="1"/>
          </p:cNvSpPr>
          <p:nvPr/>
        </p:nvSpPr>
        <p:spPr>
          <a:xfrm>
            <a:off x="5676900" y="2276475"/>
            <a:ext cx="85725" cy="85725"/>
          </a:xfrm>
          <a:prstGeom prst="ellipse">
            <a:avLst/>
          </a:prstGeom>
          <a:solidFill>
            <a:srgbClr val="F2BD42"/>
          </a:solidFill>
          <a:ln w="0">
            <a:noFill/>
          </a:ln>
        </p:spPr>
      </p:sp>
      <p:sp>
        <p:nvSpPr>
          <p:cNvPr id="10" name="Oval 9">
            <a:extLst>
              <a:ext uri="{FF2B5EF4-FFF2-40B4-BE49-F238E27FC236}">
                <a16:creationId xmlns:a16="http://schemas.microsoft.com/office/drawing/2014/main" id="{85E458CA-C570-4CAD-AD5D-E1563DC48A0B}"/>
              </a:ext>
            </a:extLst>
          </p:cNvPr>
          <p:cNvSpPr>
            <a:spLocks noGrp="1"/>
          </p:cNvSpPr>
          <p:nvPr/>
        </p:nvSpPr>
        <p:spPr>
          <a:xfrm>
            <a:off x="5848350" y="2276475"/>
            <a:ext cx="85725" cy="85725"/>
          </a:xfrm>
          <a:prstGeom prst="ellipse">
            <a:avLst/>
          </a:prstGeom>
          <a:solidFill>
            <a:srgbClr val="65C466"/>
          </a:solidFill>
          <a:ln w="0">
            <a:noFill/>
          </a:ln>
        </p:spPr>
      </p:sp>
      <p:sp>
        <p:nvSpPr>
          <p:cNvPr id="11" name="Rectangle 10">
            <a:extLst>
              <a:ext uri="{FF2B5EF4-FFF2-40B4-BE49-F238E27FC236}">
                <a16:creationId xmlns:a16="http://schemas.microsoft.com/office/drawing/2014/main" id="{3F5A76A0-9676-40E5-A87D-DC31A195B8E2}"/>
              </a:ext>
            </a:extLst>
          </p:cNvPr>
          <p:cNvSpPr>
            <a:spLocks noGrp="1"/>
          </p:cNvSpPr>
          <p:nvPr/>
        </p:nvSpPr>
        <p:spPr>
          <a:xfrm>
            <a:off x="971550" y="2628900"/>
            <a:ext cx="304800" cy="2533650"/>
          </a:xfrm>
          <a:prstGeom prst="rect">
            <a:avLst/>
          </a:prstGeom>
          <a:noFill/>
          <a:ln w="0">
            <a:noFill/>
          </a:ln>
        </p:spPr>
        <p:txBody>
          <a:bodyPr wrap="square" lIns="0" tIns="0" rIns="0" bIns="0" anchor="t">
            <a:normAutofit/>
          </a:bodyPr>
          <a:lstStyle/>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a:ext uri="{FF2B5EF4-FFF2-40B4-BE49-F238E27FC236}">
                <a16:creationId xmlns:a16="http://schemas.microsoft.com/office/drawing/2014/main" id="{8D4CB142-BE17-4DC2-895F-F56D1C1E2C98}"/>
              </a:ext>
            </a:extLst>
          </p:cNvPr>
          <p:cNvSpPr>
            <a:spLocks noGrp="1"/>
          </p:cNvSpPr>
          <p:nvPr/>
        </p:nvSpPr>
        <p:spPr>
          <a:xfrm>
            <a:off x="1390650" y="2628900"/>
            <a:ext cx="4629150" cy="2533650"/>
          </a:xfrm>
          <a:prstGeom prst="rect">
            <a:avLst/>
          </a:prstGeom>
          <a:noFill/>
          <a:ln w="0">
            <a:noFill/>
          </a:ln>
        </p:spPr>
        <p:txBody>
          <a:bodyPr wrap="square" lIns="0" tIns="0" rIns="0" bIns="0" anchor="t">
            <a:normAutofit/>
          </a:bodyPr>
          <a:lstStyle/>
          <a:p>
            <a:pPr>
              <a:buNone/>
              <a:defRPr sz="1125">
                <a:solidFill>
                  <a:srgbClr val="263044"/>
                </a:solidFill>
                <a:latin typeface="Consolas"/>
                <a:ea typeface="Consolas"/>
                <a:cs typeface="Consolas"/>
              </a:defRPr>
            </a:pP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"subject"</a:t>
            </a:r>
            <a:r>
              <a:rPr b="0">
                <a:solidFill>
                  <a:srgbClr val="263044"/>
                </a:solidFill>
              </a:rPr>
              <a:t>: </a:t>
            </a:r>
            <a:r>
              <a:rPr b="0">
                <a:solidFill>
                  <a:srgbClr val="B45309"/>
                </a:solidFill>
              </a:rPr>
              <a:t>"u-8"</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"action"</a:t>
            </a:r>
            <a:r>
              <a:rPr b="0">
                <a:solidFill>
                  <a:srgbClr val="263044"/>
                </a:solidFill>
              </a:rPr>
              <a:t>: </a:t>
            </a:r>
            <a:r>
              <a:rPr b="0">
                <a:solidFill>
                  <a:srgbClr val="B45309"/>
                </a:solidFill>
              </a:rPr>
              <a:t>"payment.approve"</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"sessionState"</a:t>
            </a:r>
            <a:r>
              <a:rPr b="0">
                <a:solidFill>
                  <a:srgbClr val="263044"/>
                </a:solidFill>
              </a:rPr>
              <a:t>: </a:t>
            </a:r>
            <a:r>
              <a:rPr b="0">
                <a:solidFill>
                  <a:srgbClr val="B45309"/>
                </a:solidFill>
              </a:rPr>
              <a:t>"revoked"</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"assurance"</a:t>
            </a:r>
            <a:r>
              <a:rPr b="0">
                <a:solidFill>
                  <a:srgbClr val="263044"/>
                </a:solidFill>
              </a:rPr>
              <a:t>: </a:t>
            </a:r>
            <a:r>
              <a:rPr b="0">
                <a:solidFill>
                  <a:srgbClr val="B45309"/>
                </a:solidFill>
              </a:rPr>
              <a:t>"mfa"</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"outcome"</a:t>
            </a:r>
            <a:r>
              <a:rPr b="0">
                <a:solidFill>
                  <a:srgbClr val="263044"/>
                </a:solidFill>
              </a:rPr>
              <a:t>: </a:t>
            </a:r>
            <a:r>
              <a:rPr b="0">
                <a:solidFill>
                  <a:srgbClr val="B45309"/>
                </a:solidFill>
              </a:rPr>
              <a:t>"denied"</a:t>
            </a:r>
            <a:r>
              <a:rPr b="0">
                <a:solidFill>
                  <a:srgbClr val="263044"/>
                </a:solidFill>
              </a:rPr>
              <a:t>,</a:t>
            </a:r>
          </a:p>
          <a:p>
            <a:pPr>
              <a:buNone/>
              <a:defRPr sz="1125">
                <a:solidFill>
                  <a:srgbClr val="263044"/>
                </a:solidFill>
                <a:latin typeface="Consolas"/>
                <a:ea typeface="Consolas"/>
                <a:cs typeface="Consolas"/>
              </a:defRPr>
            </a:pPr>
            <a:r>
              <a:rPr b="0">
                <a:solidFill>
                  <a:srgbClr val="263044"/>
                </a:solidFill>
              </a:rPr>
              <a:t>  </a:t>
            </a:r>
            <a:r>
              <a:rPr b="0">
                <a:solidFill>
                  <a:srgbClr val="B45309"/>
                </a:solidFill>
              </a:rPr>
              <a:t>"secretValueLogged"</a:t>
            </a:r>
            <a:r>
              <a:rPr b="0">
                <a:solidFill>
                  <a:srgbClr val="263044"/>
                </a:solidFill>
              </a:rPr>
              <a:t>: </a:t>
            </a:r>
            <a:r>
              <a:rPr b="1">
                <a:solidFill>
                  <a:srgbClr val="0969C3"/>
                </a:solidFill>
              </a:rPr>
              <a:t>false</a:t>
            </a:r>
          </a:p>
          <a:p>
            <a:pPr>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a:ext uri="{FF2B5EF4-FFF2-40B4-BE49-F238E27FC236}">
                <a16:creationId xmlns:a16="http://schemas.microsoft.com/office/drawing/2014/main" id="{0DEADB72-EB38-478F-A1DA-63DD73E6606D}"/>
              </a:ext>
            </a:extLst>
          </p:cNvPr>
          <p:cNvSpPr>
            <a:spLocks noGrp="1"/>
          </p:cNvSpPr>
          <p:nvPr/>
        </p:nvSpPr>
        <p:spPr>
          <a:xfrm>
            <a:off x="6648450" y="2152650"/>
            <a:ext cx="4591050" cy="1352550"/>
          </a:xfrm>
          <a:prstGeom prst="roundRect">
            <a:avLst>
              <a:gd name="adj" fmla="val 9859"/>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DCBD157B-4727-49B7-A9C3-00E38A63C80C}"/>
              </a:ext>
            </a:extLst>
          </p:cNvPr>
          <p:cNvSpPr>
            <a:spLocks noGrp="1"/>
          </p:cNvSpPr>
          <p:nvPr/>
        </p:nvSpPr>
        <p:spPr>
          <a:xfrm>
            <a:off x="6800850" y="2276475"/>
            <a:ext cx="4286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a:ext uri="{FF2B5EF4-FFF2-40B4-BE49-F238E27FC236}">
                <a16:creationId xmlns:a16="http://schemas.microsoft.com/office/drawing/2014/main" id="{124915A3-8CF4-4417-8AF0-B1B9959DBCFD}"/>
              </a:ext>
            </a:extLst>
          </p:cNvPr>
          <p:cNvSpPr>
            <a:spLocks noGrp="1"/>
          </p:cNvSpPr>
          <p:nvPr/>
        </p:nvSpPr>
        <p:spPr>
          <a:xfrm>
            <a:off x="6800850" y="2524125"/>
            <a:ext cx="4286250" cy="342900"/>
          </a:xfrm>
          <a:prstGeom prst="rect">
            <a:avLst/>
          </a:prstGeom>
          <a:noFill/>
          <a:ln w="0">
            <a:noFill/>
          </a:ln>
        </p:spPr>
        <p:txBody>
          <a:bodyPr wrap="square" lIns="0" tIns="0" rIns="0" bIns="0" anchor="ctr">
            <a:normAutofit/>
          </a:bodyPr>
          <a:lstStyle/>
          <a:p>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a:ext uri="{FF2B5EF4-FFF2-40B4-BE49-F238E27FC236}">
                <a16:creationId xmlns:a16="http://schemas.microsoft.com/office/drawing/2014/main" id="{F226C5FF-8C07-4826-86F8-4324ADAA9B92}"/>
              </a:ext>
            </a:extLst>
          </p:cNvPr>
          <p:cNvSpPr>
            <a:spLocks noGrp="1"/>
          </p:cNvSpPr>
          <p:nvPr/>
        </p:nvSpPr>
        <p:spPr>
          <a:xfrm>
            <a:off x="6800850" y="2933700"/>
            <a:ext cx="4286250" cy="4667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a:ext uri="{FF2B5EF4-FFF2-40B4-BE49-F238E27FC236}">
                <a16:creationId xmlns:a16="http://schemas.microsoft.com/office/drawing/2014/main" id="{D408DCAC-0B90-4002-BD17-F3DF2997F596}"/>
              </a:ext>
            </a:extLst>
          </p:cNvPr>
          <p:cNvSpPr>
            <a:spLocks noGrp="1"/>
          </p:cNvSpPr>
          <p:nvPr/>
        </p:nvSpPr>
        <p:spPr>
          <a:xfrm>
            <a:off x="6648450" y="3867150"/>
            <a:ext cx="4591050" cy="1428750"/>
          </a:xfrm>
          <a:prstGeom prst="roundRect">
            <a:avLst>
              <a:gd name="adj" fmla="val 9333"/>
            </a:avLst>
          </a:prstGeom>
          <a:solidFill>
            <a:srgbClr val="FFF0F0"/>
          </a:solidFill>
          <a:ln w="9525">
            <a:solidFill>
              <a:srgbClr val="D7DEE8"/>
            </a:solidFill>
            <a:prstDash val="solid"/>
          </a:ln>
        </p:spPr>
      </p:sp>
      <p:sp>
        <p:nvSpPr>
          <p:cNvPr id="18" name="Rectangle 17">
            <a:extLst>
              <a:ext uri="{FF2B5EF4-FFF2-40B4-BE49-F238E27FC236}">
                <a16:creationId xmlns:a16="http://schemas.microsoft.com/office/drawing/2014/main" id="{4D836D48-514E-480E-9890-2EFA1E059405}"/>
              </a:ext>
            </a:extLst>
          </p:cNvPr>
          <p:cNvSpPr>
            <a:spLocks noGrp="1"/>
          </p:cNvSpPr>
          <p:nvPr/>
        </p:nvSpPr>
        <p:spPr>
          <a:xfrm>
            <a:off x="6800850" y="3990975"/>
            <a:ext cx="42862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a:ext uri="{FF2B5EF4-FFF2-40B4-BE49-F238E27FC236}">
                <a16:creationId xmlns:a16="http://schemas.microsoft.com/office/drawing/2014/main" id="{53ACC8C6-2700-41D2-A0B7-DFE9F9364023}"/>
              </a:ext>
            </a:extLst>
          </p:cNvPr>
          <p:cNvSpPr>
            <a:spLocks noGrp="1"/>
          </p:cNvSpPr>
          <p:nvPr/>
        </p:nvSpPr>
        <p:spPr>
          <a:xfrm>
            <a:off x="6800850" y="4238625"/>
            <a:ext cx="4286250" cy="342900"/>
          </a:xfrm>
          <a:prstGeom prst="rect">
            <a:avLst/>
          </a:prstGeom>
          <a:noFill/>
          <a:ln w="0">
            <a:noFill/>
          </a:ln>
        </p:spPr>
        <p:txBody>
          <a:bodyPr wrap="square" lIns="0" tIns="0" rIns="0" bIns="0" anchor="ctr">
            <a:normAutofit/>
          </a:bodyPr>
          <a:lstStyle/>
          <a:p>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Лозинка, token, тајна и сувишан садржај</a:t>
            </a:r>
          </a:p>
        </p:txBody>
      </p:sp>
      <p:sp>
        <p:nvSpPr>
          <p:cNvPr id="20" name="Rectangle 19">
            <a:extLst>
              <a:ext uri="{FF2B5EF4-FFF2-40B4-BE49-F238E27FC236}">
                <a16:creationId xmlns:a16="http://schemas.microsoft.com/office/drawing/2014/main" id="{3AFA6733-55F6-4EED-96BE-296F9891E67A}"/>
              </a:ext>
            </a:extLst>
          </p:cNvPr>
          <p:cNvSpPr>
            <a:spLocks noGrp="1"/>
          </p:cNvSpPr>
          <p:nvPr/>
        </p:nvSpPr>
        <p:spPr>
          <a:xfrm>
            <a:off x="6800850" y="4648200"/>
            <a:ext cx="4286250" cy="5429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873638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B4247C25-FF98-4FD1-A929-49E455BAA020}"/>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A5437B52-6B82-432E-A17A-476D17A4D846}"/>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E1E7966A-99D5-4AEA-A7D6-96BB0D157AF3}"/>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a:ext uri="{FF2B5EF4-FFF2-40B4-BE49-F238E27FC236}">
                <a16:creationId xmlns:a16="http://schemas.microsoft.com/office/drawing/2014/main" id="{9E777941-C0D0-40D7-B188-8B2231A97114}"/>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Три грешке које треба препознати одмах</a:t>
            </a:r>
          </a:p>
        </p:txBody>
      </p:sp>
      <p:sp>
        <p:nvSpPr>
          <p:cNvPr id="5" name="Rectangle 4">
            <a:extLst>
              <a:ext uri="{FF2B5EF4-FFF2-40B4-BE49-F238E27FC236}">
                <a16:creationId xmlns:a16="http://schemas.microsoft.com/office/drawing/2014/main" id="{8AE503B7-7F67-4B68-94C4-3B22E23E47FD}"/>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Свака делује практично у првој итерацији, али касније постаје скривена безбедносна граница.</a:t>
            </a:r>
          </a:p>
        </p:txBody>
      </p:sp>
      <p:sp>
        <p:nvSpPr>
          <p:cNvPr id="6" name="Rounded Rectangle 5">
            <a:extLst>
              <a:ext uri="{FF2B5EF4-FFF2-40B4-BE49-F238E27FC236}">
                <a16:creationId xmlns:a16="http://schemas.microsoft.com/office/drawing/2014/main" id="{C050AF20-5332-4307-A578-342069AE95E8}"/>
              </a:ext>
            </a:extLst>
          </p:cNvPr>
          <p:cNvSpPr>
            <a:spLocks noGrp="1"/>
          </p:cNvSpPr>
          <p:nvPr/>
        </p:nvSpPr>
        <p:spPr>
          <a:xfrm>
            <a:off x="819150" y="2381250"/>
            <a:ext cx="3257550" cy="2381250"/>
          </a:xfrm>
          <a:prstGeom prst="roundRect">
            <a:avLst>
              <a:gd name="adj" fmla="val 5600"/>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7AF5D01A-5AA9-4517-B907-EAF475AB3D9F}"/>
              </a:ext>
            </a:extLst>
          </p:cNvPr>
          <p:cNvSpPr>
            <a:spLocks noGrp="1"/>
          </p:cNvSpPr>
          <p:nvPr/>
        </p:nvSpPr>
        <p:spPr>
          <a:xfrm>
            <a:off x="971550"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a:ext uri="{FF2B5EF4-FFF2-40B4-BE49-F238E27FC236}">
                <a16:creationId xmlns:a16="http://schemas.microsoft.com/office/drawing/2014/main" id="{92D3FC6B-BD1D-49D8-B264-2C2739007750}"/>
              </a:ext>
            </a:extLst>
          </p:cNvPr>
          <p:cNvSpPr>
            <a:spLocks noGrp="1"/>
          </p:cNvSpPr>
          <p:nvPr/>
        </p:nvSpPr>
        <p:spPr>
          <a:xfrm>
            <a:off x="971550"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Token третиран као вечна дозвола.</a:t>
            </a:r>
          </a:p>
        </p:txBody>
      </p:sp>
      <p:sp>
        <p:nvSpPr>
          <p:cNvPr id="9" name="Rectangle 8">
            <a:extLst>
              <a:ext uri="{FF2B5EF4-FFF2-40B4-BE49-F238E27FC236}">
                <a16:creationId xmlns:a16="http://schemas.microsoft.com/office/drawing/2014/main" id="{D15190D4-9511-4B71-B374-B0EC585DB0E2}"/>
              </a:ext>
            </a:extLst>
          </p:cNvPr>
          <p:cNvSpPr>
            <a:spLocks noGrp="1"/>
          </p:cNvSpPr>
          <p:nvPr/>
        </p:nvSpPr>
        <p:spPr>
          <a:xfrm>
            <a:off x="971550"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a:ext uri="{FF2B5EF4-FFF2-40B4-BE49-F238E27FC236}">
                <a16:creationId xmlns:a16="http://schemas.microsoft.com/office/drawing/2014/main" id="{30D1C9A6-299E-4460-8408-3C8DD179A97E}"/>
              </a:ext>
            </a:extLst>
          </p:cNvPr>
          <p:cNvSpPr>
            <a:spLocks noGrp="1"/>
          </p:cNvSpPr>
          <p:nvPr/>
        </p:nvSpPr>
        <p:spPr>
          <a:xfrm>
            <a:off x="4467225" y="2381250"/>
            <a:ext cx="3257550" cy="2381250"/>
          </a:xfrm>
          <a:prstGeom prst="roundRect">
            <a:avLst>
              <a:gd name="adj" fmla="val 5600"/>
            </a:avLst>
          </a:prstGeom>
          <a:solidFill>
            <a:srgbClr val="FFF6E9"/>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BDC049F9-0A05-4BBD-B95C-505CA95E39E5}"/>
              </a:ext>
            </a:extLst>
          </p:cNvPr>
          <p:cNvSpPr>
            <a:spLocks noGrp="1"/>
          </p:cNvSpPr>
          <p:nvPr/>
        </p:nvSpPr>
        <p:spPr>
          <a:xfrm>
            <a:off x="4619625"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a:ext uri="{FF2B5EF4-FFF2-40B4-BE49-F238E27FC236}">
                <a16:creationId xmlns:a16="http://schemas.microsoft.com/office/drawing/2014/main" id="{3B2ED554-679D-4AD7-954B-D553CEF87567}"/>
              </a:ext>
            </a:extLst>
          </p:cNvPr>
          <p:cNvSpPr>
            <a:spLocks noGrp="1"/>
          </p:cNvSpPr>
          <p:nvPr/>
        </p:nvSpPr>
        <p:spPr>
          <a:xfrm>
            <a:off x="4619625"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Администраторска права додељена без рока и прегледа.</a:t>
            </a:r>
          </a:p>
        </p:txBody>
      </p:sp>
      <p:sp>
        <p:nvSpPr>
          <p:cNvPr id="13" name="Rectangle 12">
            <a:extLst>
              <a:ext uri="{FF2B5EF4-FFF2-40B4-BE49-F238E27FC236}">
                <a16:creationId xmlns:a16="http://schemas.microsoft.com/office/drawing/2014/main" id="{770A8BBF-1D9E-44F0-9BD8-EDEAD571AB73}"/>
              </a:ext>
            </a:extLst>
          </p:cNvPr>
          <p:cNvSpPr>
            <a:spLocks noGrp="1"/>
          </p:cNvSpPr>
          <p:nvPr/>
        </p:nvSpPr>
        <p:spPr>
          <a:xfrm>
            <a:off x="4619625"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a:ext uri="{FF2B5EF4-FFF2-40B4-BE49-F238E27FC236}">
                <a16:creationId xmlns:a16="http://schemas.microsoft.com/office/drawing/2014/main" id="{9A9DF28F-F60C-4331-86D8-AA9815F4C992}"/>
              </a:ext>
            </a:extLst>
          </p:cNvPr>
          <p:cNvSpPr>
            <a:spLocks noGrp="1"/>
          </p:cNvSpPr>
          <p:nvPr/>
        </p:nvSpPr>
        <p:spPr>
          <a:xfrm>
            <a:off x="8115300" y="2381250"/>
            <a:ext cx="3257550" cy="2381250"/>
          </a:xfrm>
          <a:prstGeom prst="roundRect">
            <a:avLst>
              <a:gd name="adj" fmla="val 5600"/>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0BB41FD3-65C4-4BA9-8369-160BBD33D87A}"/>
              </a:ext>
            </a:extLst>
          </p:cNvPr>
          <p:cNvSpPr>
            <a:spLocks noGrp="1"/>
          </p:cNvSpPr>
          <p:nvPr/>
        </p:nvSpPr>
        <p:spPr>
          <a:xfrm>
            <a:off x="8267700" y="2505075"/>
            <a:ext cx="2952750" cy="190500"/>
          </a:xfrm>
          <a:prstGeom prst="rect">
            <a:avLst/>
          </a:prstGeom>
          <a:noFill/>
          <a:ln w="0">
            <a:noFill/>
          </a:ln>
        </p:spPr>
        <p:txBody>
          <a:bodyPr wrap="square" lIns="0" tIns="0" rIns="0" bIns="0" anchor="t">
            <a:normAutofit/>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03</a:t>
            </a:r>
          </a:p>
        </p:txBody>
      </p:sp>
      <p:sp>
        <p:nvSpPr>
          <p:cNvPr id="16" name="Rectangle 15">
            <a:extLst>
              <a:ext uri="{FF2B5EF4-FFF2-40B4-BE49-F238E27FC236}">
                <a16:creationId xmlns:a16="http://schemas.microsoft.com/office/drawing/2014/main" id="{907D0317-68CD-46C3-B999-EF841A8065BA}"/>
              </a:ext>
            </a:extLst>
          </p:cNvPr>
          <p:cNvSpPr>
            <a:spLocks noGrp="1"/>
          </p:cNvSpPr>
          <p:nvPr/>
        </p:nvSpPr>
        <p:spPr>
          <a:xfrm>
            <a:off x="8267700" y="2752725"/>
            <a:ext cx="2952750" cy="1219200"/>
          </a:xfrm>
          <a:prstGeom prst="rect">
            <a:avLst/>
          </a:prstGeom>
          <a:noFill/>
          <a:ln w="0">
            <a:noFill/>
          </a:ln>
        </p:spPr>
        <p:txBody>
          <a:bodyPr wrap="square" lIns="0" tIns="0" rIns="0" bIns="0" anchor="ctr">
            <a:normAutofit/>
          </a:bodyPr>
          <a:lstStyle/>
          <a:p>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Једна широка тајна дељена међу више независних сервиса.</a:t>
            </a:r>
          </a:p>
        </p:txBody>
      </p:sp>
      <p:sp>
        <p:nvSpPr>
          <p:cNvPr id="17" name="Rectangle 16">
            <a:extLst>
              <a:ext uri="{FF2B5EF4-FFF2-40B4-BE49-F238E27FC236}">
                <a16:creationId xmlns:a16="http://schemas.microsoft.com/office/drawing/2014/main" id="{8EDAA20C-C954-4923-A3B0-A3902333D303}"/>
              </a:ext>
            </a:extLst>
          </p:cNvPr>
          <p:cNvSpPr>
            <a:spLocks noGrp="1"/>
          </p:cNvSpPr>
          <p:nvPr/>
        </p:nvSpPr>
        <p:spPr>
          <a:xfrm>
            <a:off x="8267700" y="4038600"/>
            <a:ext cx="2952750" cy="619125"/>
          </a:xfrm>
          <a:prstGeom prst="rect">
            <a:avLst/>
          </a:prstGeom>
          <a:noFill/>
          <a:ln w="0">
            <a:noFill/>
          </a:ln>
        </p:spPr>
        <p:txBody>
          <a:bodyPr wrap="square" lIns="0" tIns="0" rIns="0" bIns="0" anchor="t">
            <a:normAutofit/>
          </a:bodyPr>
          <a:lstStyle/>
          <a:p>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1994375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EE524073-23F9-4B8E-89C4-964229393D76}"/>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8A62068B-5F2B-43F7-AE05-AD6E72496714}"/>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5EE3A7E4-E482-496B-825C-0019B4282006}"/>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a:ext uri="{FF2B5EF4-FFF2-40B4-BE49-F238E27FC236}">
                <a16:creationId xmlns:a16="http://schemas.microsoft.com/office/drawing/2014/main" id="{A61DC68E-61E3-4E55-B9B7-6487B984BF07}"/>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Тајне као део архитектуре</a:t>
            </a:r>
          </a:p>
        </p:txBody>
      </p:sp>
      <p:sp>
        <p:nvSpPr>
          <p:cNvPr id="5" name="Rectangle 4">
            <a:extLst>
              <a:ext uri="{FF2B5EF4-FFF2-40B4-BE49-F238E27FC236}">
                <a16:creationId xmlns:a16="http://schemas.microsoft.com/office/drawing/2014/main" id="{B90EDA34-266E-4EB7-8CE5-0ED78D7E8338}"/>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Добар доказ је свеж, поновљив и довољно јасан да га други члан тима протумачи.</a:t>
            </a:r>
          </a:p>
        </p:txBody>
      </p:sp>
      <p:sp>
        <p:nvSpPr>
          <p:cNvPr id="6" name="Rounded Rectangle 5">
            <a:extLst>
              <a:ext uri="{FF2B5EF4-FFF2-40B4-BE49-F238E27FC236}">
                <a16:creationId xmlns:a16="http://schemas.microsoft.com/office/drawing/2014/main" id="{90098335-023A-4D46-8724-791069AACBE6}"/>
              </a:ext>
            </a:extLst>
          </p:cNvPr>
          <p:cNvSpPr>
            <a:spLocks noGrp="1"/>
          </p:cNvSpPr>
          <p:nvPr/>
        </p:nvSpPr>
        <p:spPr>
          <a:xfrm>
            <a:off x="781050" y="2152650"/>
            <a:ext cx="4476750" cy="3105150"/>
          </a:xfrm>
          <a:prstGeom prst="roundRect">
            <a:avLst>
              <a:gd name="adj" fmla="val 4294"/>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6DA8738D-A42B-4887-9EAF-864F385B2AEE}"/>
              </a:ext>
            </a:extLst>
          </p:cNvPr>
          <p:cNvSpPr>
            <a:spLocks noGrp="1"/>
          </p:cNvSpPr>
          <p:nvPr/>
        </p:nvSpPr>
        <p:spPr>
          <a:xfrm>
            <a:off x="933450" y="2276475"/>
            <a:ext cx="4171950" cy="190500"/>
          </a:xfrm>
          <a:prstGeom prst="rect">
            <a:avLst/>
          </a:prstGeom>
          <a:noFill/>
          <a:ln w="0">
            <a:noFill/>
          </a:ln>
        </p:spPr>
        <p:txBody>
          <a:bodyPr wrap="square" lIns="0" tIns="0" rIns="0" bIns="0" anchor="t">
            <a:normAutofit/>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a:ext uri="{FF2B5EF4-FFF2-40B4-BE49-F238E27FC236}">
                <a16:creationId xmlns:a16="http://schemas.microsoft.com/office/drawing/2014/main" id="{CC92A32E-7BAD-43B3-A8D9-D85FCE77FB69}"/>
              </a:ext>
            </a:extLst>
          </p:cNvPr>
          <p:cNvSpPr>
            <a:spLocks noGrp="1"/>
          </p:cNvSpPr>
          <p:nvPr/>
        </p:nvSpPr>
        <p:spPr>
          <a:xfrm>
            <a:off x="933450" y="2524125"/>
            <a:ext cx="4171950" cy="552450"/>
          </a:xfrm>
          <a:prstGeom prst="rect">
            <a:avLst/>
          </a:prstGeom>
          <a:noFill/>
          <a:ln w="0">
            <a:noFill/>
          </a:ln>
        </p:spPr>
        <p:txBody>
          <a:bodyPr wrap="square" lIns="0" tIns="0" rIns="0" bIns="0" anchor="ctr">
            <a:normAutofit/>
          </a:bodyPr>
          <a:lstStyle/>
          <a:p>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Тајне као део архитектуре</a:t>
            </a:r>
          </a:p>
        </p:txBody>
      </p:sp>
      <p:sp>
        <p:nvSpPr>
          <p:cNvPr id="9" name="Rectangle 8">
            <a:extLst>
              <a:ext uri="{FF2B5EF4-FFF2-40B4-BE49-F238E27FC236}">
                <a16:creationId xmlns:a16="http://schemas.microsoft.com/office/drawing/2014/main" id="{86480A5F-CFC6-4A88-AFBC-4C52F179A52D}"/>
              </a:ext>
            </a:extLst>
          </p:cNvPr>
          <p:cNvSpPr>
            <a:spLocks noGrp="1"/>
          </p:cNvSpPr>
          <p:nvPr/>
        </p:nvSpPr>
        <p:spPr>
          <a:xfrm>
            <a:off x="933450" y="3143250"/>
            <a:ext cx="4171950" cy="2009775"/>
          </a:xfrm>
          <a:prstGeom prst="rect">
            <a:avLst/>
          </a:prstGeom>
          <a:noFill/>
          <a:ln w="0">
            <a:noFill/>
          </a:ln>
        </p:spPr>
        <p:txBody>
          <a:bodyPr wrap="square" lIns="0" tIns="0" rIns="0" bIns="0" anchor="t">
            <a:normAutofit/>
          </a:bodyPr>
          <a:lstStyle/>
          <a:p>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Тајна није конфигурациона вредност као свака друга. Њено излагање може дати приступ без видљивог корисничког екрана, нарочито између сервиса. Зато развојни процес дефинише одакле тајна долази, ко је користи, када се ротира и како се проверава да није случајно завршила у репозиторијуму или логу.</a:t>
            </a:r>
          </a:p>
        </p:txBody>
      </p:sp>
      <p:sp>
        <p:nvSpPr>
          <p:cNvPr id="10" name="Rounded Rectangle 9">
            <a:extLst>
              <a:ext uri="{FF2B5EF4-FFF2-40B4-BE49-F238E27FC236}">
                <a16:creationId xmlns:a16="http://schemas.microsoft.com/office/drawing/2014/main" id="{E42BF114-5F3C-4669-9184-594FD779BCF4}"/>
              </a:ext>
            </a:extLst>
          </p:cNvPr>
          <p:cNvSpPr>
            <a:spLocks noGrp="1"/>
          </p:cNvSpPr>
          <p:nvPr/>
        </p:nvSpPr>
        <p:spPr>
          <a:xfrm>
            <a:off x="5676900" y="2152650"/>
            <a:ext cx="5734050" cy="828675"/>
          </a:xfrm>
          <a:prstGeom prst="roundRect">
            <a:avLst>
              <a:gd name="adj" fmla="val 16092"/>
            </a:avLst>
          </a:prstGeom>
          <a:solidFill>
            <a:srgbClr val="EEF3FF"/>
          </a:solidFill>
          <a:ln w="9525">
            <a:solidFill>
              <a:srgbClr val="D7DEE8"/>
            </a:solidFill>
            <a:prstDash val="solid"/>
          </a:ln>
        </p:spPr>
      </p:sp>
      <p:sp>
        <p:nvSpPr>
          <p:cNvPr id="11" name="Rectangle 10">
            <a:extLst>
              <a:ext uri="{FF2B5EF4-FFF2-40B4-BE49-F238E27FC236}">
                <a16:creationId xmlns:a16="http://schemas.microsoft.com/office/drawing/2014/main" id="{4F49068A-59D1-45FF-9033-732AEA99E776}"/>
              </a:ext>
            </a:extLst>
          </p:cNvPr>
          <p:cNvSpPr>
            <a:spLocks noGrp="1"/>
          </p:cNvSpPr>
          <p:nvPr/>
        </p:nvSpPr>
        <p:spPr>
          <a:xfrm>
            <a:off x="5829300" y="2276475"/>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01</a:t>
            </a:r>
          </a:p>
        </p:txBody>
      </p:sp>
      <p:sp>
        <p:nvSpPr>
          <p:cNvPr id="12" name="Rectangle 11">
            <a:extLst>
              <a:ext uri="{FF2B5EF4-FFF2-40B4-BE49-F238E27FC236}">
                <a16:creationId xmlns:a16="http://schemas.microsoft.com/office/drawing/2014/main" id="{989EC677-FD87-44C9-AF37-6FA0819C5B29}"/>
              </a:ext>
            </a:extLst>
          </p:cNvPr>
          <p:cNvSpPr>
            <a:spLocks noGrp="1"/>
          </p:cNvSpPr>
          <p:nvPr/>
        </p:nvSpPr>
        <p:spPr>
          <a:xfrm>
            <a:off x="5829300" y="2524125"/>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Сваки сервисни идентитет има сврху и најмањи потребан опсег.</a:t>
            </a:r>
          </a:p>
        </p:txBody>
      </p:sp>
      <p:sp>
        <p:nvSpPr>
          <p:cNvPr id="13" name="Rounded Rectangle 12">
            <a:extLst>
              <a:ext uri="{FF2B5EF4-FFF2-40B4-BE49-F238E27FC236}">
                <a16:creationId xmlns:a16="http://schemas.microsoft.com/office/drawing/2014/main" id="{146DEA64-7841-4F9F-96C3-831E193080ED}"/>
              </a:ext>
            </a:extLst>
          </p:cNvPr>
          <p:cNvSpPr>
            <a:spLocks noGrp="1"/>
          </p:cNvSpPr>
          <p:nvPr/>
        </p:nvSpPr>
        <p:spPr>
          <a:xfrm>
            <a:off x="5676900" y="3152775"/>
            <a:ext cx="5734050" cy="828675"/>
          </a:xfrm>
          <a:prstGeom prst="roundRect">
            <a:avLst>
              <a:gd name="adj" fmla="val 16092"/>
            </a:avLst>
          </a:prstGeom>
          <a:solidFill>
            <a:srgbClr val="EDF8F2"/>
          </a:solidFill>
          <a:ln w="9525">
            <a:solidFill>
              <a:srgbClr val="D7DEE8"/>
            </a:solidFill>
            <a:prstDash val="solid"/>
          </a:ln>
        </p:spPr>
      </p:sp>
      <p:sp>
        <p:nvSpPr>
          <p:cNvPr id="14" name="Rectangle 13">
            <a:extLst>
              <a:ext uri="{FF2B5EF4-FFF2-40B4-BE49-F238E27FC236}">
                <a16:creationId xmlns:a16="http://schemas.microsoft.com/office/drawing/2014/main" id="{4BB887D0-9650-4638-B589-0773750E2926}"/>
              </a:ext>
            </a:extLst>
          </p:cNvPr>
          <p:cNvSpPr>
            <a:spLocks noGrp="1"/>
          </p:cNvSpPr>
          <p:nvPr/>
        </p:nvSpPr>
        <p:spPr>
          <a:xfrm>
            <a:off x="5829300" y="3276600"/>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a:ext uri="{FF2B5EF4-FFF2-40B4-BE49-F238E27FC236}">
                <a16:creationId xmlns:a16="http://schemas.microsoft.com/office/drawing/2014/main" id="{2F8AD6E1-13D7-4F77-8D57-DD4CE1580812}"/>
              </a:ext>
            </a:extLst>
          </p:cNvPr>
          <p:cNvSpPr>
            <a:spLocks noGrp="1"/>
          </p:cNvSpPr>
          <p:nvPr/>
        </p:nvSpPr>
        <p:spPr>
          <a:xfrm>
            <a:off x="5829300" y="3524250"/>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Ротација се планира пре истека, уместо да се чека прекид рада.</a:t>
            </a:r>
          </a:p>
        </p:txBody>
      </p:sp>
      <p:sp>
        <p:nvSpPr>
          <p:cNvPr id="16" name="Rounded Rectangle 15">
            <a:extLst>
              <a:ext uri="{FF2B5EF4-FFF2-40B4-BE49-F238E27FC236}">
                <a16:creationId xmlns:a16="http://schemas.microsoft.com/office/drawing/2014/main" id="{A8E072B2-3BC6-49FF-9825-3580A966C307}"/>
              </a:ext>
            </a:extLst>
          </p:cNvPr>
          <p:cNvSpPr>
            <a:spLocks noGrp="1"/>
          </p:cNvSpPr>
          <p:nvPr/>
        </p:nvSpPr>
        <p:spPr>
          <a:xfrm>
            <a:off x="5676900" y="4152900"/>
            <a:ext cx="5734050" cy="828675"/>
          </a:xfrm>
          <a:prstGeom prst="roundRect">
            <a:avLst>
              <a:gd name="adj" fmla="val 16092"/>
            </a:avLst>
          </a:prstGeom>
          <a:solidFill>
            <a:srgbClr val="FFF6E9"/>
          </a:solidFill>
          <a:ln w="9525">
            <a:solidFill>
              <a:srgbClr val="D7DEE8"/>
            </a:solidFill>
            <a:prstDash val="solid"/>
          </a:ln>
        </p:spPr>
      </p:sp>
      <p:sp>
        <p:nvSpPr>
          <p:cNvPr id="17" name="Rectangle 16">
            <a:extLst>
              <a:ext uri="{FF2B5EF4-FFF2-40B4-BE49-F238E27FC236}">
                <a16:creationId xmlns:a16="http://schemas.microsoft.com/office/drawing/2014/main" id="{B8460DB8-17E8-430A-9A59-1889743749B2}"/>
              </a:ext>
            </a:extLst>
          </p:cNvPr>
          <p:cNvSpPr>
            <a:spLocks noGrp="1"/>
          </p:cNvSpPr>
          <p:nvPr/>
        </p:nvSpPr>
        <p:spPr>
          <a:xfrm>
            <a:off x="5829300" y="4276725"/>
            <a:ext cx="5429250" cy="190500"/>
          </a:xfrm>
          <a:prstGeom prst="rect">
            <a:avLst/>
          </a:prstGeom>
          <a:noFill/>
          <a:ln w="0">
            <a:noFill/>
          </a:ln>
        </p:spPr>
        <p:txBody>
          <a:bodyPr wrap="square" lIns="0" tIns="0" rIns="0" bIns="0" anchor="t">
            <a:normAutofit/>
          </a:bodyPr>
          <a:lstStyle/>
          <a:p>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a:ext uri="{FF2B5EF4-FFF2-40B4-BE49-F238E27FC236}">
                <a16:creationId xmlns:a16="http://schemas.microsoft.com/office/drawing/2014/main" id="{5EF05087-560E-471B-8409-07A639CC8A01}"/>
              </a:ext>
            </a:extLst>
          </p:cNvPr>
          <p:cNvSpPr>
            <a:spLocks noGrp="1"/>
          </p:cNvSpPr>
          <p:nvPr/>
        </p:nvSpPr>
        <p:spPr>
          <a:xfrm>
            <a:off x="5829300" y="4524375"/>
            <a:ext cx="5429250" cy="438150"/>
          </a:xfrm>
          <a:prstGeom prst="rect">
            <a:avLst/>
          </a:prstGeom>
          <a:noFill/>
          <a:ln w="0">
            <a:noFill/>
          </a:ln>
        </p:spPr>
        <p:txBody>
          <a:bodyPr wrap="square" lIns="0" tIns="0" rIns="0" bIns="0" anchor="ctr">
            <a:normAutofit/>
          </a:bodyPr>
          <a:lstStyle/>
          <a:p>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Тестови проверавају понашање при опозиву или истеку без приказивања стварних вредности тајне.</a:t>
            </a:r>
          </a:p>
        </p:txBody>
      </p:sp>
    </p:spTree>
    <p:extLst>
      <p:ext uri="{BB962C8B-B14F-4D97-AF65-F5344CB8AC3E}">
        <p14:creationId xmlns:p14="http://schemas.microsoft.com/office/powerpoint/2010/main" val="1571742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C7B70D96-2063-4B1C-96EA-9EC0C377BF83}"/>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4C0D1622-EAC2-4222-B47E-CD055B4B00CE}"/>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7CC838DE-F722-4DD1-8603-E4BE007DF4B5}"/>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a:ext uri="{FF2B5EF4-FFF2-40B4-BE49-F238E27FC236}">
                <a16:creationId xmlns:a16="http://schemas.microsoft.com/office/drawing/2014/main" id="{9CECC064-99AF-426D-9382-A30B1280BF55}"/>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Мини вежба за пројекат</a:t>
            </a:r>
          </a:p>
        </p:txBody>
      </p:sp>
      <p:sp>
        <p:nvSpPr>
          <p:cNvPr id="5" name="Rectangle 4">
            <a:extLst>
              <a:ext uri="{FF2B5EF4-FFF2-40B4-BE49-F238E27FC236}">
                <a16:creationId xmlns:a16="http://schemas.microsoft.com/office/drawing/2014/main" id="{76AF549B-C216-41F7-9699-DA34D8C9FC7E}"/>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 једном сценарију повежите одлуку, имплементацију, негативни тест и доказ.</a:t>
            </a:r>
          </a:p>
        </p:txBody>
      </p:sp>
      <p:sp>
        <p:nvSpPr>
          <p:cNvPr id="6" name="Rounded Rectangle 5">
            <a:extLst>
              <a:ext uri="{FF2B5EF4-FFF2-40B4-BE49-F238E27FC236}">
                <a16:creationId xmlns:a16="http://schemas.microsoft.com/office/drawing/2014/main" id="{6C3D3E3D-C835-4B32-B6E6-40E28CA40F73}"/>
              </a:ext>
            </a:extLst>
          </p:cNvPr>
          <p:cNvSpPr>
            <a:spLocks noGrp="1"/>
          </p:cNvSpPr>
          <p:nvPr/>
        </p:nvSpPr>
        <p:spPr>
          <a:xfrm>
            <a:off x="800100" y="2400300"/>
            <a:ext cx="24336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D9113F39-9FC2-44A2-BF81-0B096437AD1F}"/>
              </a:ext>
            </a:extLst>
          </p:cNvPr>
          <p:cNvSpPr>
            <a:spLocks noGrp="1"/>
          </p:cNvSpPr>
          <p:nvPr/>
        </p:nvSpPr>
        <p:spPr>
          <a:xfrm>
            <a:off x="942975"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27F46229-D385-4EAB-ADB4-2BE4EA843FBE}"/>
              </a:ext>
            </a:extLst>
          </p:cNvPr>
          <p:cNvSpPr>
            <a:spLocks noGrp="1"/>
          </p:cNvSpPr>
          <p:nvPr/>
        </p:nvSpPr>
        <p:spPr>
          <a:xfrm>
            <a:off x="933450"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Изаберите сценарио</a:t>
            </a:r>
          </a:p>
        </p:txBody>
      </p:sp>
      <p:sp>
        <p:nvSpPr>
          <p:cNvPr id="9" name="Rectangle 8">
            <a:extLst>
              <a:ext uri="{FF2B5EF4-FFF2-40B4-BE49-F238E27FC236}">
                <a16:creationId xmlns:a16="http://schemas.microsoft.com/office/drawing/2014/main" id="{09F40066-E89A-4797-886D-632E5824F371}"/>
              </a:ext>
            </a:extLst>
          </p:cNvPr>
          <p:cNvSpPr>
            <a:spLocks noGrp="1"/>
          </p:cNvSpPr>
          <p:nvPr/>
        </p:nvSpPr>
        <p:spPr>
          <a:xfrm>
            <a:off x="942975"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a:ext uri="{FF2B5EF4-FFF2-40B4-BE49-F238E27FC236}">
                <a16:creationId xmlns:a16="http://schemas.microsoft.com/office/drawing/2014/main" id="{1F2AB879-AC78-473F-A143-5116198D3C1C}"/>
              </a:ext>
            </a:extLst>
          </p:cNvPr>
          <p:cNvSpPr>
            <a:spLocks noGrp="1"/>
          </p:cNvSpPr>
          <p:nvPr/>
        </p:nvSpPr>
        <p:spPr>
          <a:xfrm>
            <a:off x="3519488" y="2400300"/>
            <a:ext cx="2433638" cy="1257300"/>
          </a:xfrm>
          <a:prstGeom prst="roundRect">
            <a:avLst>
              <a:gd name="adj" fmla="val 10606"/>
            </a:avLst>
          </a:prstGeom>
          <a:solidFill>
            <a:srgbClr val="EEF3FF"/>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5D8ADFCE-1567-468B-8C53-57330835D2EA}"/>
              </a:ext>
            </a:extLst>
          </p:cNvPr>
          <p:cNvSpPr>
            <a:spLocks noGrp="1"/>
          </p:cNvSpPr>
          <p:nvPr/>
        </p:nvSpPr>
        <p:spPr>
          <a:xfrm>
            <a:off x="3662363"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2F5EF5"/>
                </a:solidFill>
                <a:latin typeface="Aptos"/>
                <a:ea typeface="Aptos"/>
                <a:cs typeface="Aptos"/>
              </a:defRPr>
            </a:pPr>
            <a:r>
              <a:rPr sz="1200" b="1">
                <a:solidFill>
                  <a:srgbClr val="2F5EF5"/>
                </a:solidFill>
                <a:latin typeface="Aptos"/>
                <a:ea typeface="Aptos"/>
                <a:cs typeface="Aptos"/>
              </a:rPr>
              <a:t>02</a:t>
            </a:r>
          </a:p>
        </p:txBody>
      </p:sp>
      <p:sp>
        <p:nvSpPr>
          <p:cNvPr id="12" name="Rectangle 11">
            <a:extLst>
              <a:ext uri="{FF2B5EF4-FFF2-40B4-BE49-F238E27FC236}">
                <a16:creationId xmlns:a16="http://schemas.microsoft.com/office/drawing/2014/main" id="{A2C77CB9-33BA-402A-B4D9-755AEF97D4DA}"/>
              </a:ext>
            </a:extLst>
          </p:cNvPr>
          <p:cNvSpPr>
            <a:spLocks noGrp="1"/>
          </p:cNvSpPr>
          <p:nvPr/>
        </p:nvSpPr>
        <p:spPr>
          <a:xfrm>
            <a:off x="3652838"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Именујте правило</a:t>
            </a:r>
          </a:p>
        </p:txBody>
      </p:sp>
      <p:sp>
        <p:nvSpPr>
          <p:cNvPr id="13" name="Rectangle 12">
            <a:extLst>
              <a:ext uri="{FF2B5EF4-FFF2-40B4-BE49-F238E27FC236}">
                <a16:creationId xmlns:a16="http://schemas.microsoft.com/office/drawing/2014/main" id="{70AF595B-12C4-474B-83B5-CC6A082321AB}"/>
              </a:ext>
            </a:extLst>
          </p:cNvPr>
          <p:cNvSpPr>
            <a:spLocks noGrp="1"/>
          </p:cNvSpPr>
          <p:nvPr/>
        </p:nvSpPr>
        <p:spPr>
          <a:xfrm>
            <a:off x="3662363"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a:ext uri="{FF2B5EF4-FFF2-40B4-BE49-F238E27FC236}">
                <a16:creationId xmlns:a16="http://schemas.microsoft.com/office/drawing/2014/main" id="{AC923163-EFAA-486B-B0D4-4B1D2FD96D59}"/>
              </a:ext>
            </a:extLst>
          </p:cNvPr>
          <p:cNvSpPr>
            <a:spLocks noGrp="1"/>
          </p:cNvSpPr>
          <p:nvPr/>
        </p:nvSpPr>
        <p:spPr>
          <a:xfrm>
            <a:off x="6238875" y="2400300"/>
            <a:ext cx="2433638" cy="1257300"/>
          </a:xfrm>
          <a:prstGeom prst="roundRect">
            <a:avLst>
              <a:gd name="adj" fmla="val 10606"/>
            </a:avLst>
          </a:prstGeom>
          <a:solidFill>
            <a:srgbClr val="FFF0F0"/>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2AF17A69-9AD3-4088-82BE-289D58B5C3E4}"/>
              </a:ext>
            </a:extLst>
          </p:cNvPr>
          <p:cNvSpPr>
            <a:spLocks noGrp="1"/>
          </p:cNvSpPr>
          <p:nvPr/>
        </p:nvSpPr>
        <p:spPr>
          <a:xfrm>
            <a:off x="6381750"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a:ext uri="{FF2B5EF4-FFF2-40B4-BE49-F238E27FC236}">
                <a16:creationId xmlns:a16="http://schemas.microsoft.com/office/drawing/2014/main" id="{1F7E551B-5EE4-453B-B0E8-B861EBC0C238}"/>
              </a:ext>
            </a:extLst>
          </p:cNvPr>
          <p:cNvSpPr>
            <a:spLocks noGrp="1"/>
          </p:cNvSpPr>
          <p:nvPr/>
        </p:nvSpPr>
        <p:spPr>
          <a:xfrm>
            <a:off x="6372225"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Напишите денy тест</a:t>
            </a:r>
          </a:p>
        </p:txBody>
      </p:sp>
      <p:sp>
        <p:nvSpPr>
          <p:cNvPr id="17" name="Rectangle 16">
            <a:extLst>
              <a:ext uri="{FF2B5EF4-FFF2-40B4-BE49-F238E27FC236}">
                <a16:creationId xmlns:a16="http://schemas.microsoft.com/office/drawing/2014/main" id="{9F04362A-DAB3-49CB-AF3B-4217A240A5B6}"/>
              </a:ext>
            </a:extLst>
          </p:cNvPr>
          <p:cNvSpPr>
            <a:spLocks noGrp="1"/>
          </p:cNvSpPr>
          <p:nvPr/>
        </p:nvSpPr>
        <p:spPr>
          <a:xfrm>
            <a:off x="6381750"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a:ext uri="{FF2B5EF4-FFF2-40B4-BE49-F238E27FC236}">
                <a16:creationId xmlns:a16="http://schemas.microsoft.com/office/drawing/2014/main" id="{2BAB318A-6876-4B2F-9980-A9B7EE9D7735}"/>
              </a:ext>
            </a:extLst>
          </p:cNvPr>
          <p:cNvSpPr>
            <a:spLocks noGrp="1"/>
          </p:cNvSpPr>
          <p:nvPr/>
        </p:nvSpPr>
        <p:spPr>
          <a:xfrm>
            <a:off x="8958263" y="2400300"/>
            <a:ext cx="24336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9417F403-16BB-4EF9-A849-13163D76F5D4}"/>
              </a:ext>
            </a:extLst>
          </p:cNvPr>
          <p:cNvSpPr>
            <a:spLocks noGrp="1"/>
          </p:cNvSpPr>
          <p:nvPr/>
        </p:nvSpPr>
        <p:spPr>
          <a:xfrm>
            <a:off x="9101138" y="2514600"/>
            <a:ext cx="21478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E5CA923D-E7A0-4E6B-8AD9-C533FB130EC4}"/>
              </a:ext>
            </a:extLst>
          </p:cNvPr>
          <p:cNvSpPr>
            <a:spLocks noGrp="1"/>
          </p:cNvSpPr>
          <p:nvPr/>
        </p:nvSpPr>
        <p:spPr>
          <a:xfrm>
            <a:off x="9091613" y="2800350"/>
            <a:ext cx="21669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Сачувајте доказ</a:t>
            </a:r>
          </a:p>
        </p:txBody>
      </p:sp>
      <p:sp>
        <p:nvSpPr>
          <p:cNvPr id="21" name="Rectangle 20">
            <a:extLst>
              <a:ext uri="{FF2B5EF4-FFF2-40B4-BE49-F238E27FC236}">
                <a16:creationId xmlns:a16="http://schemas.microsoft.com/office/drawing/2014/main" id="{0DA081E7-B935-43A4-85EB-2122EBC87818}"/>
              </a:ext>
            </a:extLst>
          </p:cNvPr>
          <p:cNvSpPr>
            <a:spLocks noGrp="1"/>
          </p:cNvSpPr>
          <p:nvPr/>
        </p:nvSpPr>
        <p:spPr>
          <a:xfrm>
            <a:off x="9101138" y="3190875"/>
            <a:ext cx="21478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125" name="Straight Arrow Connector 124"/>
          <p:cNvCxnSpPr>
            <a:stCxn id="6" idx="3"/>
            <a:endCxn id="10" idx="1"/>
          </p:cNvCxnSpPr>
          <p:nvPr/>
        </p:nvCxnSpPr>
        <p:spPr>
          <a:xfrm>
            <a:off x="3233738" y="3028950"/>
            <a:ext cx="285750" cy="0"/>
          </a:xfrm>
          <a:prstGeom prst="straightConnector1">
            <a:avLst/>
          </a:prstGeom>
          <a:ln w="13335">
            <a:solidFill>
              <a:srgbClr val="748092"/>
            </a:solidFill>
            <a:prstDash val="solid"/>
            <a:tailEnd type="arrow" w="sm" len="sm"/>
          </a:ln>
        </p:spPr>
      </p:cxnSp>
      <p:cxnSp>
        <p:nvCxnSpPr>
          <p:cNvPr id="126" name="Straight Arrow Connector 125"/>
          <p:cNvCxnSpPr>
            <a:stCxn id="10" idx="3"/>
            <a:endCxn id="14" idx="1"/>
          </p:cNvCxnSpPr>
          <p:nvPr/>
        </p:nvCxnSpPr>
        <p:spPr>
          <a:xfrm>
            <a:off x="5953126" y="3028950"/>
            <a:ext cx="285749" cy="0"/>
          </a:xfrm>
          <a:prstGeom prst="straightConnector1">
            <a:avLst/>
          </a:prstGeom>
          <a:ln w="13335">
            <a:solidFill>
              <a:srgbClr val="748092"/>
            </a:solidFill>
            <a:prstDash val="solid"/>
            <a:tailEnd type="arrow" w="sm" len="sm"/>
          </a:ln>
        </p:spPr>
      </p:cxnSp>
      <p:cxnSp>
        <p:nvCxnSpPr>
          <p:cNvPr id="127" name="Straight Arrow Connector 126"/>
          <p:cNvCxnSpPr>
            <a:stCxn id="14" idx="3"/>
            <a:endCxn id="18" idx="1"/>
          </p:cNvCxnSpPr>
          <p:nvPr/>
        </p:nvCxnSpPr>
        <p:spPr>
          <a:xfrm>
            <a:off x="8672513" y="302895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19754DE0-31AB-4E22-BC6D-C469FC4F61FF}"/>
              </a:ext>
            </a:extLst>
          </p:cNvPr>
          <p:cNvSpPr>
            <a:spLocks noGrp="1"/>
          </p:cNvSpPr>
          <p:nvPr/>
        </p:nvSpPr>
        <p:spPr>
          <a:xfrm>
            <a:off x="1619250" y="4305300"/>
            <a:ext cx="8953500" cy="914400"/>
          </a:xfrm>
          <a:prstGeom prst="roundRect">
            <a:avLst>
              <a:gd name="adj" fmla="val 13542"/>
            </a:avLst>
          </a:prstGeom>
          <a:solidFill>
            <a:srgbClr val="FFF6E9"/>
          </a:solidFill>
          <a:ln w="9525">
            <a:solidFill>
              <a:srgbClr val="D7DEE8"/>
            </a:solidFill>
            <a:prstDash val="solid"/>
          </a:ln>
        </p:spPr>
      </p:sp>
      <p:sp>
        <p:nvSpPr>
          <p:cNvPr id="26" name="Rounded Rectangle 25">
            <a:extLst>
              <a:ext uri="{FF2B5EF4-FFF2-40B4-BE49-F238E27FC236}">
                <a16:creationId xmlns:a16="http://schemas.microsoft.com/office/drawing/2014/main" id="{3E6E5E20-FCAB-4319-B2AB-8E7766CCB2A7}"/>
              </a:ext>
            </a:extLst>
          </p:cNvPr>
          <p:cNvSpPr>
            <a:spLocks noGrp="1"/>
          </p:cNvSpPr>
          <p:nvPr/>
        </p:nvSpPr>
        <p:spPr>
          <a:xfrm>
            <a:off x="1752600" y="4448175"/>
            <a:ext cx="57150" cy="628650"/>
          </a:xfrm>
          <a:prstGeom prst="roundRect">
            <a:avLst>
              <a:gd name="adj" fmla="val 50000"/>
            </a:avLst>
          </a:prstGeom>
          <a:solidFill>
            <a:srgbClr val="B86A09"/>
          </a:solidFill>
          <a:ln w="0">
            <a:noFill/>
          </a:ln>
        </p:spPr>
      </p:sp>
      <p:sp>
        <p:nvSpPr>
          <p:cNvPr id="76" name="Rounded Rectangle 75">
            <a:extLst>
              <a:ext uri="{FF2B5EF4-FFF2-40B4-BE49-F238E27FC236}">
                <a16:creationId xmlns:a16="http://schemas.microsoft.com/office/drawing/2014/main" id="{C6320E42-C146-49ED-88C6-FA4EC7AC4FC6}"/>
              </a:ext>
            </a:extLst>
          </p:cNvPr>
          <p:cNvSpPr>
            <a:spLocks noGrp="1"/>
          </p:cNvSpPr>
          <p:nvPr/>
        </p:nvSpPr>
        <p:spPr>
          <a:xfrm>
            <a:off x="914400" y="4267200"/>
            <a:ext cx="10363200" cy="990600"/>
          </a:xfrm>
          <a:prstGeom prst="roundRect">
            <a:avLst>
              <a:gd name="adj" fmla="val 13462"/>
            </a:avLst>
          </a:prstGeom>
          <a:solidFill>
            <a:srgbClr val="EEF3FF"/>
          </a:solidFill>
          <a:ln w="8573">
            <a:solidFill>
              <a:srgbClr val="CAD7F2"/>
            </a:solidFill>
            <a:prstDash val="solid"/>
          </a:ln>
        </p:spPr>
      </p:sp>
      <p:sp>
        <p:nvSpPr>
          <p:cNvPr id="77" name="Rounded Rectangle 76">
            <a:extLst>
              <a:ext uri="{FF2B5EF4-FFF2-40B4-BE49-F238E27FC236}">
                <a16:creationId xmlns:a16="http://schemas.microsoft.com/office/drawing/2014/main" id="{D0BEBAD9-0C4E-4E53-B37C-A245F1D66AFD}"/>
              </a:ext>
            </a:extLst>
          </p:cNvPr>
          <p:cNvSpPr>
            <a:spLocks noGrp="1"/>
          </p:cNvSpPr>
          <p:nvPr/>
        </p:nvSpPr>
        <p:spPr>
          <a:xfrm>
            <a:off x="1085850" y="4419600"/>
            <a:ext cx="57150" cy="685800"/>
          </a:xfrm>
          <a:prstGeom prst="roundRect">
            <a:avLst>
              <a:gd name="adj" fmla="val 50000"/>
            </a:avLst>
          </a:prstGeom>
          <a:solidFill>
            <a:srgbClr val="2F5EF5"/>
          </a:solidFill>
          <a:ln w="0">
            <a:noFill/>
          </a:ln>
        </p:spPr>
      </p:sp>
      <p:sp>
        <p:nvSpPr>
          <p:cNvPr id="78" name="Rectangle 77">
            <a:extLst>
              <a:ext uri="{FF2B5EF4-FFF2-40B4-BE49-F238E27FC236}">
                <a16:creationId xmlns:a16="http://schemas.microsoft.com/office/drawing/2014/main" id="{1DF3D484-4F80-4685-84E0-EAE513384263}"/>
              </a:ext>
            </a:extLst>
          </p:cNvPr>
          <p:cNvSpPr>
            <a:spLocks noGrp="1"/>
          </p:cNvSpPr>
          <p:nvPr/>
        </p:nvSpPr>
        <p:spPr>
          <a:xfrm>
            <a:off x="1333500" y="437197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ЗАДАТАК ЗА ПРОЈЕКАТ</a:t>
            </a:r>
          </a:p>
        </p:txBody>
      </p:sp>
      <p:sp>
        <p:nvSpPr>
          <p:cNvPr id="79" name="Rectangle 78">
            <a:extLst>
              <a:ext uri="{FF2B5EF4-FFF2-40B4-BE49-F238E27FC236}">
                <a16:creationId xmlns:a16="http://schemas.microsoft.com/office/drawing/2014/main" id="{3062AACF-7D1C-4B34-B1CA-8097FA70BEE4}"/>
              </a:ext>
            </a:extLst>
          </p:cNvPr>
          <p:cNvSpPr>
            <a:spLocks noGrp="1"/>
          </p:cNvSpPr>
          <p:nvPr/>
        </p:nvSpPr>
        <p:spPr>
          <a:xfrm>
            <a:off x="1333500" y="4600575"/>
            <a:ext cx="9639300" cy="552450"/>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Примените тему „MFA, сесије, сервиси и тајне“ на додељену пројектну целину и припремите доказ који други члан тима може да понови.</a:t>
            </a:r>
          </a:p>
        </p:txBody>
      </p:sp>
    </p:spTree>
    <p:extLst>
      <p:ext uri="{BB962C8B-B14F-4D97-AF65-F5344CB8AC3E}">
        <p14:creationId xmlns:p14="http://schemas.microsoft.com/office/powerpoint/2010/main" val="52809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223FEDB4-70ED-4B4A-8B0F-F4D8183B08C0}"/>
              </a:ext>
            </a:extLst>
          </p:cNvPr>
          <p:cNvSpPr>
            <a:spLocks noGrp="1"/>
          </p:cNvSpPr>
          <p:nvPr/>
        </p:nvSpPr>
        <p:spPr>
          <a:xfrm>
            <a:off x="495300" y="238125"/>
            <a:ext cx="3429000" cy="171450"/>
          </a:xfrm>
          <a:prstGeom prst="rect">
            <a:avLst/>
          </a:prstGeom>
          <a:noFill/>
          <a:ln w="0">
            <a:noFill/>
          </a:ln>
        </p:spPr>
        <p:txBody>
          <a:bodyPr wrap="square" lIns="0" tIns="0" rIns="0" bIns="0" anchor="t">
            <a:normAutofit/>
          </a:bodyPr>
          <a:lstStyle/>
          <a:p>
            <a:pPr algn="l">
              <a:lnSpc>
                <a:spcPct val="102000"/>
              </a:lnSpc>
              <a:buNone/>
              <a:defRPr sz="825" b="0">
                <a:solidFill>
                  <a:srgbClr val="657184"/>
                </a:solidFill>
                <a:latin typeface="Aptos"/>
                <a:ea typeface="Aptos"/>
                <a:cs typeface="Aptos"/>
              </a:defRPr>
            </a:pPr>
            <a:r>
              <a:rPr sz="825" b="0">
                <a:solidFill>
                  <a:srgbClr val="657184"/>
                </a:solidFill>
                <a:latin typeface="Aptos"/>
                <a:ea typeface="Aptos"/>
                <a:cs typeface="Aptos"/>
              </a:rPr>
              <a:t>Основе информационе безбедности</a:t>
            </a:r>
          </a:p>
        </p:txBody>
      </p:sp>
      <p:sp>
        <p:nvSpPr>
          <p:cNvPr id="2" name="Straight Connector 1">
            <a:extLst>
              <a:ext uri="{FF2B5EF4-FFF2-40B4-BE49-F238E27FC236}">
                <a16:creationId xmlns:a16="http://schemas.microsoft.com/office/drawing/2014/main" id="{5D7BA804-D84F-4B78-BB6C-0E8DE7652DD9}"/>
              </a:ext>
            </a:extLst>
          </p:cNvPr>
          <p:cNvSpPr>
            <a:spLocks noGrp="1"/>
          </p:cNvSpPr>
          <p:nvPr/>
        </p:nvSpPr>
        <p:spPr>
          <a:xfrm>
            <a:off x="495300" y="476250"/>
            <a:ext cx="11201400" cy="9525"/>
          </a:xfrm>
          <a:prstGeom prst="line">
            <a:avLst/>
          </a:prstGeom>
          <a:noFill/>
          <a:ln w="9525">
            <a:solidFill>
              <a:srgbClr val="748092"/>
            </a:solidFill>
            <a:prstDash val="solid"/>
          </a:ln>
        </p:spPr>
      </p:sp>
      <p:sp>
        <p:nvSpPr>
          <p:cNvPr id="3" name="Rectangle 2">
            <a:extLst>
              <a:ext uri="{FF2B5EF4-FFF2-40B4-BE49-F238E27FC236}">
                <a16:creationId xmlns:a16="http://schemas.microsoft.com/office/drawing/2014/main" id="{0B73AAE9-0A8A-4E97-88F1-D7CB43B8C5BC}"/>
              </a:ext>
            </a:extLst>
          </p:cNvPr>
          <p:cNvSpPr>
            <a:spLocks noGrp="1"/>
          </p:cNvSpPr>
          <p:nvPr/>
        </p:nvSpPr>
        <p:spPr>
          <a:xfrm>
            <a:off x="11372850" y="6477000"/>
            <a:ext cx="323850" cy="171450"/>
          </a:xfrm>
          <a:prstGeom prst="rect">
            <a:avLst/>
          </a:prstGeom>
          <a:noFill/>
          <a:ln w="0">
            <a:noFill/>
          </a:ln>
        </p:spPr>
        <p:txBody>
          <a:bodyPr wrap="square" lIns="0" tIns="0" rIns="0" bIns="0" anchor="t">
            <a:normAutofit/>
          </a:bodyPr>
          <a:lstStyle/>
          <a:p>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a:ext uri="{FF2B5EF4-FFF2-40B4-BE49-F238E27FC236}">
                <a16:creationId xmlns:a16="http://schemas.microsoft.com/office/drawing/2014/main" id="{7139315D-49DC-4D5B-9B04-87A6940EEC8D}"/>
              </a:ext>
            </a:extLst>
          </p:cNvPr>
          <p:cNvSpPr>
            <a:spLocks noGrp="1"/>
          </p:cNvSpPr>
          <p:nvPr/>
        </p:nvSpPr>
        <p:spPr>
          <a:xfrm>
            <a:off x="685800" y="781050"/>
            <a:ext cx="10820400" cy="542925"/>
          </a:xfrm>
          <a:prstGeom prst="rect">
            <a:avLst/>
          </a:prstGeom>
          <a:noFill/>
          <a:ln w="0">
            <a:noFill/>
          </a:ln>
        </p:spPr>
        <p:txBody>
          <a:bodyPr wrap="square" lIns="0" tIns="0" rIns="0" bIns="0" anchor="t">
            <a:normAutofit/>
          </a:bodyPr>
          <a:lstStyle/>
          <a:p>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a:ext uri="{FF2B5EF4-FFF2-40B4-BE49-F238E27FC236}">
                <a16:creationId xmlns:a16="http://schemas.microsoft.com/office/drawing/2014/main" id="{12C29E1A-F6D4-4BE7-B732-31E99189FAED}"/>
              </a:ext>
            </a:extLst>
          </p:cNvPr>
          <p:cNvSpPr>
            <a:spLocks noGrp="1"/>
          </p:cNvSpPr>
          <p:nvPr/>
        </p:nvSpPr>
        <p:spPr>
          <a:xfrm>
            <a:off x="685800" y="1428750"/>
            <a:ext cx="10820400" cy="457200"/>
          </a:xfrm>
          <a:prstGeom prst="rect">
            <a:avLst/>
          </a:prstGeom>
          <a:noFill/>
          <a:ln w="0">
            <a:noFill/>
          </a:ln>
        </p:spPr>
        <p:txBody>
          <a:bodyPr wrap="square" lIns="0" tIns="0" rIns="0" bIns="0" anchor="t">
            <a:normAutofit/>
          </a:bodyPr>
          <a:lstStyle/>
          <a:p>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Тема је савладана када одлуку можете да објасните без ослањања на назив framework-а.</a:t>
            </a:r>
          </a:p>
        </p:txBody>
      </p:sp>
      <p:sp>
        <p:nvSpPr>
          <p:cNvPr id="6" name="Rounded Rectangle 5">
            <a:extLst>
              <a:ext uri="{FF2B5EF4-FFF2-40B4-BE49-F238E27FC236}">
                <a16:creationId xmlns:a16="http://schemas.microsoft.com/office/drawing/2014/main" id="{34B90FDF-0B11-474E-8C29-DC25304C18B1}"/>
              </a:ext>
            </a:extLst>
          </p:cNvPr>
          <p:cNvSpPr>
            <a:spLocks noGrp="1"/>
          </p:cNvSpPr>
          <p:nvPr/>
        </p:nvSpPr>
        <p:spPr>
          <a:xfrm>
            <a:off x="723900" y="2286000"/>
            <a:ext cx="2471738" cy="1257300"/>
          </a:xfrm>
          <a:prstGeom prst="roundRect">
            <a:avLst>
              <a:gd name="adj" fmla="val 10606"/>
            </a:avLst>
          </a:prstGeom>
          <a:solidFill>
            <a:srgbClr val="F4F6F9"/>
          </a:solidFill>
          <a:ln w="9525">
            <a:solidFill>
              <a:srgbClr val="D7DEE8"/>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1325B2FC-3FCE-4F8E-B395-244608D3A011}"/>
              </a:ext>
            </a:extLst>
          </p:cNvPr>
          <p:cNvSpPr>
            <a:spLocks noGrp="1"/>
          </p:cNvSpPr>
          <p:nvPr/>
        </p:nvSpPr>
        <p:spPr>
          <a:xfrm>
            <a:off x="866775"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a:ext uri="{FF2B5EF4-FFF2-40B4-BE49-F238E27FC236}">
                <a16:creationId xmlns:a16="http://schemas.microsoft.com/office/drawing/2014/main" id="{44A535C1-6F73-4B60-BB64-B27BBE2221C9}"/>
              </a:ext>
            </a:extLst>
          </p:cNvPr>
          <p:cNvSpPr>
            <a:spLocks noGrp="1"/>
          </p:cNvSpPr>
          <p:nvPr/>
        </p:nvSpPr>
        <p:spPr>
          <a:xfrm>
            <a:off x="857250"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Пријава</a:t>
            </a:r>
          </a:p>
        </p:txBody>
      </p:sp>
      <p:sp>
        <p:nvSpPr>
          <p:cNvPr id="9" name="Rectangle 8">
            <a:extLst>
              <a:ext uri="{FF2B5EF4-FFF2-40B4-BE49-F238E27FC236}">
                <a16:creationId xmlns:a16="http://schemas.microsoft.com/office/drawing/2014/main" id="{DE7E1EC2-1DD7-4A21-B1AF-22A3412050AA}"/>
              </a:ext>
            </a:extLst>
          </p:cNvPr>
          <p:cNvSpPr>
            <a:spLocks noGrp="1"/>
          </p:cNvSpPr>
          <p:nvPr/>
        </p:nvSpPr>
        <p:spPr>
          <a:xfrm>
            <a:off x="866775"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почетна потврда идентитета</a:t>
            </a:r>
          </a:p>
        </p:txBody>
      </p:sp>
      <p:sp>
        <p:nvSpPr>
          <p:cNvPr id="10" name="Rounded Rectangle 9">
            <a:extLst>
              <a:ext uri="{FF2B5EF4-FFF2-40B4-BE49-F238E27FC236}">
                <a16:creationId xmlns:a16="http://schemas.microsoft.com/office/drawing/2014/main" id="{35F8CB64-F49F-4BF3-BAD7-0986C7F69566}"/>
              </a:ext>
            </a:extLst>
          </p:cNvPr>
          <p:cNvSpPr>
            <a:spLocks noGrp="1"/>
          </p:cNvSpPr>
          <p:nvPr/>
        </p:nvSpPr>
        <p:spPr>
          <a:xfrm>
            <a:off x="3481388" y="2286000"/>
            <a:ext cx="2471738" cy="1257300"/>
          </a:xfrm>
          <a:prstGeom prst="roundRect">
            <a:avLst>
              <a:gd name="adj" fmla="val 10606"/>
            </a:avLst>
          </a:prstGeom>
          <a:solidFill>
            <a:srgbClr val="EDF8FA"/>
          </a:solidFill>
          <a:ln w="9525">
            <a:solidFill>
              <a:srgbClr val="D7DEE8"/>
            </a:solidFill>
            <a:prstDash val="solid"/>
          </a:ln>
        </p:spPr>
        <p:style>
          <a:lnRef idx="0">
            <a:scrgbClr r="0" g="0" b="0"/>
          </a:lnRef>
          <a:fillRef idx="0">
            <a:scrgbClr r="0" g="0" b="0"/>
          </a:fillRef>
          <a:effectRef idx="4">
            <a:scrgbClr r="0" g="0" b="0"/>
          </a:effectRef>
          <a:fontRef idx="major"/>
        </p:style>
      </p:sp>
      <p:sp>
        <p:nvSpPr>
          <p:cNvPr id="11" name="Rectangle 10">
            <a:extLst>
              <a:ext uri="{FF2B5EF4-FFF2-40B4-BE49-F238E27FC236}">
                <a16:creationId xmlns:a16="http://schemas.microsoft.com/office/drawing/2014/main" id="{B86030AB-A630-403C-9057-E1823510EF1F}"/>
              </a:ext>
            </a:extLst>
          </p:cNvPr>
          <p:cNvSpPr>
            <a:spLocks noGrp="1"/>
          </p:cNvSpPr>
          <p:nvPr/>
        </p:nvSpPr>
        <p:spPr>
          <a:xfrm>
            <a:off x="3624263"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a:ext uri="{FF2B5EF4-FFF2-40B4-BE49-F238E27FC236}">
                <a16:creationId xmlns:a16="http://schemas.microsoft.com/office/drawing/2014/main" id="{BF3D367D-FC08-4BB9-819B-CD9834506F88}"/>
              </a:ext>
            </a:extLst>
          </p:cNvPr>
          <p:cNvSpPr>
            <a:spLocks noGrp="1"/>
          </p:cNvSpPr>
          <p:nvPr/>
        </p:nvSpPr>
        <p:spPr>
          <a:xfrm>
            <a:off x="3614738"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Сесија</a:t>
            </a:r>
          </a:p>
        </p:txBody>
      </p:sp>
      <p:sp>
        <p:nvSpPr>
          <p:cNvPr id="13" name="Rectangle 12">
            <a:extLst>
              <a:ext uri="{FF2B5EF4-FFF2-40B4-BE49-F238E27FC236}">
                <a16:creationId xmlns:a16="http://schemas.microsoft.com/office/drawing/2014/main" id="{0A3E5CB9-5D49-425E-9DA7-B58F9580F4AA}"/>
              </a:ext>
            </a:extLst>
          </p:cNvPr>
          <p:cNvSpPr>
            <a:spLocks noGrp="1"/>
          </p:cNvSpPr>
          <p:nvPr/>
        </p:nvSpPr>
        <p:spPr>
          <a:xfrm>
            <a:off x="3624263" y="3076575"/>
            <a:ext cx="2185988" cy="323850"/>
          </a:xfrm>
          <a:prstGeom prst="rect">
            <a:avLst/>
          </a:prstGeom>
          <a:noFill/>
          <a:ln w="0">
            <a:noFill/>
          </a:ln>
        </p:spPr>
        <p:txBody>
          <a:bodyPr wrap="square" lIns="0" tIns="0" rIns="0" bIns="0" anchor="ctr">
            <a:normAutofit fontScale="91685"/>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привремени контекст приступа</a:t>
            </a:r>
          </a:p>
        </p:txBody>
      </p:sp>
      <p:sp>
        <p:nvSpPr>
          <p:cNvPr id="14" name="Rounded Rectangle 13">
            <a:extLst>
              <a:ext uri="{FF2B5EF4-FFF2-40B4-BE49-F238E27FC236}">
                <a16:creationId xmlns:a16="http://schemas.microsoft.com/office/drawing/2014/main" id="{FDB99462-DC7F-4404-8EF8-F99A324D0128}"/>
              </a:ext>
            </a:extLst>
          </p:cNvPr>
          <p:cNvSpPr>
            <a:spLocks noGrp="1"/>
          </p:cNvSpPr>
          <p:nvPr/>
        </p:nvSpPr>
        <p:spPr>
          <a:xfrm>
            <a:off x="6238875" y="2286000"/>
            <a:ext cx="2471738" cy="1257300"/>
          </a:xfrm>
          <a:prstGeom prst="roundRect">
            <a:avLst>
              <a:gd name="adj" fmla="val 10606"/>
            </a:avLst>
          </a:prstGeom>
          <a:solidFill>
            <a:srgbClr val="F5F0FF"/>
          </a:solidFill>
          <a:ln w="9525">
            <a:solidFill>
              <a:srgbClr val="D7DEE8"/>
            </a:solidFill>
            <a:prstDash val="solid"/>
          </a:ln>
        </p:spPr>
        <p:style>
          <a:lnRef idx="0">
            <a:scrgbClr r="0" g="0" b="0"/>
          </a:lnRef>
          <a:fillRef idx="0">
            <a:scrgbClr r="0" g="0" b="0"/>
          </a:fillRef>
          <a:effectRef idx="4">
            <a:scrgbClr r="0" g="0" b="0"/>
          </a:effectRef>
          <a:fontRef idx="major"/>
        </p:style>
      </p:sp>
      <p:sp>
        <p:nvSpPr>
          <p:cNvPr id="15" name="Rectangle 14">
            <a:extLst>
              <a:ext uri="{FF2B5EF4-FFF2-40B4-BE49-F238E27FC236}">
                <a16:creationId xmlns:a16="http://schemas.microsoft.com/office/drawing/2014/main" id="{34408390-8F3F-4246-B3D1-700A1FFB94DA}"/>
              </a:ext>
            </a:extLst>
          </p:cNvPr>
          <p:cNvSpPr>
            <a:spLocks noGrp="1"/>
          </p:cNvSpPr>
          <p:nvPr/>
        </p:nvSpPr>
        <p:spPr>
          <a:xfrm>
            <a:off x="6381750"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7651D4"/>
                </a:solidFill>
                <a:latin typeface="Aptos"/>
                <a:ea typeface="Aptos"/>
                <a:cs typeface="Aptos"/>
              </a:defRPr>
            </a:pPr>
            <a:r>
              <a:rPr sz="1200" b="1">
                <a:solidFill>
                  <a:srgbClr val="7651D4"/>
                </a:solidFill>
                <a:latin typeface="Aptos"/>
                <a:ea typeface="Aptos"/>
                <a:cs typeface="Aptos"/>
              </a:rPr>
              <a:t>03</a:t>
            </a:r>
          </a:p>
        </p:txBody>
      </p:sp>
      <p:sp>
        <p:nvSpPr>
          <p:cNvPr id="16" name="Rectangle 15">
            <a:extLst>
              <a:ext uri="{FF2B5EF4-FFF2-40B4-BE49-F238E27FC236}">
                <a16:creationId xmlns:a16="http://schemas.microsoft.com/office/drawing/2014/main" id="{1D230603-7E70-48D0-AAC4-8EE7462810C4}"/>
              </a:ext>
            </a:extLst>
          </p:cNvPr>
          <p:cNvSpPr>
            <a:spLocks noGrp="1"/>
          </p:cNvSpPr>
          <p:nvPr/>
        </p:nvSpPr>
        <p:spPr>
          <a:xfrm>
            <a:off x="6372225"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Додатна потврда</a:t>
            </a:r>
          </a:p>
        </p:txBody>
      </p:sp>
      <p:sp>
        <p:nvSpPr>
          <p:cNvPr id="17" name="Rectangle 16">
            <a:extLst>
              <a:ext uri="{FF2B5EF4-FFF2-40B4-BE49-F238E27FC236}">
                <a16:creationId xmlns:a16="http://schemas.microsoft.com/office/drawing/2014/main" id="{6D7BF5B8-A092-4275-A1E5-36991B1B6EDC}"/>
              </a:ext>
            </a:extLst>
          </p:cNvPr>
          <p:cNvSpPr>
            <a:spLocks noGrp="1"/>
          </p:cNvSpPr>
          <p:nvPr/>
        </p:nvSpPr>
        <p:spPr>
          <a:xfrm>
            <a:off x="6381750"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за ризичну радњу</a:t>
            </a:r>
          </a:p>
        </p:txBody>
      </p:sp>
      <p:sp>
        <p:nvSpPr>
          <p:cNvPr id="18" name="Rounded Rectangle 17">
            <a:extLst>
              <a:ext uri="{FF2B5EF4-FFF2-40B4-BE49-F238E27FC236}">
                <a16:creationId xmlns:a16="http://schemas.microsoft.com/office/drawing/2014/main" id="{67371333-FE0F-450A-B1D9-7CA604E4EA71}"/>
              </a:ext>
            </a:extLst>
          </p:cNvPr>
          <p:cNvSpPr>
            <a:spLocks noGrp="1"/>
          </p:cNvSpPr>
          <p:nvPr/>
        </p:nvSpPr>
        <p:spPr>
          <a:xfrm>
            <a:off x="8996363" y="2286000"/>
            <a:ext cx="2471738" cy="1257300"/>
          </a:xfrm>
          <a:prstGeom prst="roundRect">
            <a:avLst>
              <a:gd name="adj" fmla="val 10606"/>
            </a:avLst>
          </a:prstGeom>
          <a:solidFill>
            <a:srgbClr val="EDF8F2"/>
          </a:solidFill>
          <a:ln w="9525">
            <a:solidFill>
              <a:srgbClr val="D7DEE8"/>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CA30B2EF-0610-4C91-B9AF-4C04391F840A}"/>
              </a:ext>
            </a:extLst>
          </p:cNvPr>
          <p:cNvSpPr>
            <a:spLocks noGrp="1"/>
          </p:cNvSpPr>
          <p:nvPr/>
        </p:nvSpPr>
        <p:spPr>
          <a:xfrm>
            <a:off x="9139238" y="2400300"/>
            <a:ext cx="2185988" cy="180975"/>
          </a:xfrm>
          <a:prstGeom prst="rect">
            <a:avLst/>
          </a:prstGeom>
          <a:noFill/>
          <a:ln w="0">
            <a:noFill/>
          </a:ln>
        </p:spPr>
        <p:txBody>
          <a:bodyPr wrap="square" lIns="0" tIns="0" rIns="0" bIns="0" anchor="t">
            <a:normAutofit fontScale="97018"/>
          </a:bodyPr>
          <a:lstStyle/>
          <a:p>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a:ext uri="{FF2B5EF4-FFF2-40B4-BE49-F238E27FC236}">
                <a16:creationId xmlns:a16="http://schemas.microsoft.com/office/drawing/2014/main" id="{93E146FE-64C5-4F65-B72D-8A89156CBB3B}"/>
              </a:ext>
            </a:extLst>
          </p:cNvPr>
          <p:cNvSpPr>
            <a:spLocks noGrp="1"/>
          </p:cNvSpPr>
          <p:nvPr/>
        </p:nvSpPr>
        <p:spPr>
          <a:xfrm>
            <a:off x="9129713" y="2686050"/>
            <a:ext cx="2205038" cy="323850"/>
          </a:xfrm>
          <a:prstGeom prst="rect">
            <a:avLst/>
          </a:prstGeom>
          <a:noFill/>
          <a:ln w="0">
            <a:noFill/>
          </a:ln>
        </p:spPr>
        <p:txBody>
          <a:bodyPr wrap="square" lIns="0" tIns="0" rIns="0" bIns="0" anchor="ctr">
            <a:normAutofit/>
          </a:bodyPr>
          <a:lstStyle/>
          <a:p>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Истек или опозив</a:t>
            </a:r>
          </a:p>
        </p:txBody>
      </p:sp>
      <p:sp>
        <p:nvSpPr>
          <p:cNvPr id="21" name="Rectangle 20">
            <a:extLst>
              <a:ext uri="{FF2B5EF4-FFF2-40B4-BE49-F238E27FC236}">
                <a16:creationId xmlns:a16="http://schemas.microsoft.com/office/drawing/2014/main" id="{A6E60685-7DF9-4DC5-AB4F-F0A7C14D287C}"/>
              </a:ext>
            </a:extLst>
          </p:cNvPr>
          <p:cNvSpPr>
            <a:spLocks noGrp="1"/>
          </p:cNvSpPr>
          <p:nvPr/>
        </p:nvSpPr>
        <p:spPr>
          <a:xfrm>
            <a:off x="9139238" y="3076575"/>
            <a:ext cx="2185988" cy="323850"/>
          </a:xfrm>
          <a:prstGeom prst="rect">
            <a:avLst/>
          </a:prstGeom>
          <a:noFill/>
          <a:ln w="0">
            <a:noFill/>
          </a:ln>
        </p:spPr>
        <p:txBody>
          <a:bodyPr wrap="square" lIns="0" tIns="0" rIns="0" bIns="0" anchor="ctr">
            <a:normAutofit/>
          </a:bodyPr>
          <a:lstStyle/>
          <a:p>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прекид важења приступа</a:t>
            </a:r>
          </a:p>
        </p:txBody>
      </p:sp>
      <p:cxnSp>
        <p:nvCxnSpPr>
          <p:cNvPr id="127" name="Straight Arrow Connector 126"/>
          <p:cNvCxnSpPr>
            <a:stCxn id="6" idx="3"/>
            <a:endCxn id="10" idx="1"/>
          </p:cNvCxnSpPr>
          <p:nvPr/>
        </p:nvCxnSpPr>
        <p:spPr>
          <a:xfrm>
            <a:off x="3195638" y="2914650"/>
            <a:ext cx="285750" cy="0"/>
          </a:xfrm>
          <a:prstGeom prst="straightConnector1">
            <a:avLst/>
          </a:prstGeom>
          <a:ln w="13335">
            <a:solidFill>
              <a:srgbClr val="748092"/>
            </a:solidFill>
            <a:prstDash val="solid"/>
            <a:tailEnd type="arrow" w="sm" len="sm"/>
          </a:ln>
        </p:spPr>
      </p:cxnSp>
      <p:cxnSp>
        <p:nvCxnSpPr>
          <p:cNvPr id="128" name="Straight Arrow Connector 127"/>
          <p:cNvCxnSpPr>
            <a:stCxn id="10" idx="3"/>
            <a:endCxn id="14" idx="1"/>
          </p:cNvCxnSpPr>
          <p:nvPr/>
        </p:nvCxnSpPr>
        <p:spPr>
          <a:xfrm>
            <a:off x="5953126" y="2914650"/>
            <a:ext cx="285749" cy="0"/>
          </a:xfrm>
          <a:prstGeom prst="straightConnector1">
            <a:avLst/>
          </a:prstGeom>
          <a:ln w="13335">
            <a:solidFill>
              <a:srgbClr val="748092"/>
            </a:solidFill>
            <a:prstDash val="solid"/>
            <a:tailEnd type="arrow" w="sm" len="sm"/>
          </a:ln>
        </p:spPr>
      </p:cxnSp>
      <p:cxnSp>
        <p:nvCxnSpPr>
          <p:cNvPr id="129" name="Straight Arrow Connector 128"/>
          <p:cNvCxnSpPr>
            <a:stCxn id="14" idx="3"/>
            <a:endCxn id="18" idx="1"/>
          </p:cNvCxnSpPr>
          <p:nvPr/>
        </p:nvCxnSpPr>
        <p:spPr>
          <a:xfrm>
            <a:off x="8710613" y="2914650"/>
            <a:ext cx="285750" cy="0"/>
          </a:xfrm>
          <a:prstGeom prst="straightConnector1">
            <a:avLst/>
          </a:prstGeom>
          <a:ln w="13335">
            <a:solidFill>
              <a:srgbClr val="748092"/>
            </a:solidFill>
            <a:prstDash val="solid"/>
            <a:tailEnd type="arrow" w="sm" len="sm"/>
          </a:ln>
        </p:spPr>
      </p:cxnSp>
      <p:sp>
        <p:nvSpPr>
          <p:cNvPr id="25" name="Rounded Rectangle 24">
            <a:extLst>
              <a:ext uri="{FF2B5EF4-FFF2-40B4-BE49-F238E27FC236}">
                <a16:creationId xmlns:a16="http://schemas.microsoft.com/office/drawing/2014/main" id="{8FB99EE3-F062-4AA5-8D8F-B8B9BE2ADBAB}"/>
              </a:ext>
            </a:extLst>
          </p:cNvPr>
          <p:cNvSpPr>
            <a:spLocks noGrp="1"/>
          </p:cNvSpPr>
          <p:nvPr/>
        </p:nvSpPr>
        <p:spPr>
          <a:xfrm>
            <a:off x="1428750" y="4114800"/>
            <a:ext cx="9334500" cy="895350"/>
          </a:xfrm>
          <a:prstGeom prst="roundRect">
            <a:avLst>
              <a:gd name="adj" fmla="val 13830"/>
            </a:avLst>
          </a:prstGeom>
          <a:solidFill>
            <a:srgbClr val="EEF3FF"/>
          </a:solidFill>
          <a:ln w="9525">
            <a:solidFill>
              <a:srgbClr val="D7DEE8"/>
            </a:solidFill>
            <a:prstDash val="solid"/>
          </a:ln>
        </p:spPr>
      </p:sp>
      <p:sp>
        <p:nvSpPr>
          <p:cNvPr id="26" name="Rounded Rectangle 25">
            <a:extLst>
              <a:ext uri="{FF2B5EF4-FFF2-40B4-BE49-F238E27FC236}">
                <a16:creationId xmlns:a16="http://schemas.microsoft.com/office/drawing/2014/main" id="{8F554B0D-D01D-417C-A6B4-E93E75B47049}"/>
              </a:ext>
            </a:extLst>
          </p:cNvPr>
          <p:cNvSpPr>
            <a:spLocks noGrp="1"/>
          </p:cNvSpPr>
          <p:nvPr/>
        </p:nvSpPr>
        <p:spPr>
          <a:xfrm>
            <a:off x="1562100" y="4257675"/>
            <a:ext cx="57150" cy="609600"/>
          </a:xfrm>
          <a:prstGeom prst="roundRect">
            <a:avLst>
              <a:gd name="adj" fmla="val 50000"/>
            </a:avLst>
          </a:prstGeom>
          <a:solidFill>
            <a:srgbClr val="2F5EF5"/>
          </a:solidFill>
          <a:ln w="0">
            <a:noFill/>
          </a:ln>
        </p:spPr>
      </p:sp>
      <p:sp>
        <p:nvSpPr>
          <p:cNvPr id="77" name="Rounded Rectangle 76">
            <a:extLst>
              <a:ext uri="{FF2B5EF4-FFF2-40B4-BE49-F238E27FC236}">
                <a16:creationId xmlns:a16="http://schemas.microsoft.com/office/drawing/2014/main" id="{8D0E39FC-69BD-4A4A-8CA1-5C8F2511ECDC}"/>
              </a:ext>
            </a:extLst>
          </p:cNvPr>
          <p:cNvSpPr>
            <a:spLocks noGrp="1"/>
          </p:cNvSpPr>
          <p:nvPr/>
        </p:nvSpPr>
        <p:spPr>
          <a:xfrm>
            <a:off x="914400" y="4095750"/>
            <a:ext cx="10363200" cy="1333491"/>
          </a:xfrm>
          <a:prstGeom prst="roundRect">
            <a:avLst>
              <a:gd name="adj" fmla="val 8046"/>
            </a:avLst>
          </a:prstGeom>
          <a:solidFill>
            <a:srgbClr val="EEF3FF"/>
          </a:solidFill>
          <a:ln w="8573">
            <a:solidFill>
              <a:srgbClr val="CAD7F2"/>
            </a:solidFill>
            <a:prstDash val="solid"/>
          </a:ln>
        </p:spPr>
      </p:sp>
      <p:sp>
        <p:nvSpPr>
          <p:cNvPr id="78" name="Rounded Rectangle 77">
            <a:extLst>
              <a:ext uri="{FF2B5EF4-FFF2-40B4-BE49-F238E27FC236}">
                <a16:creationId xmlns:a16="http://schemas.microsoft.com/office/drawing/2014/main" id="{BA289F6A-2813-4E5B-A1B6-0A095BEDABCB}"/>
              </a:ext>
            </a:extLst>
          </p:cNvPr>
          <p:cNvSpPr>
            <a:spLocks noGrp="1"/>
          </p:cNvSpPr>
          <p:nvPr/>
        </p:nvSpPr>
        <p:spPr>
          <a:xfrm>
            <a:off x="1085850" y="4248150"/>
            <a:ext cx="45719" cy="938213"/>
          </a:xfrm>
          <a:prstGeom prst="roundRect">
            <a:avLst>
              <a:gd name="adj" fmla="val 50000"/>
            </a:avLst>
          </a:prstGeom>
          <a:solidFill>
            <a:srgbClr val="2F5EF5"/>
          </a:solidFill>
          <a:ln w="0">
            <a:noFill/>
          </a:ln>
        </p:spPr>
      </p:sp>
      <p:sp>
        <p:nvSpPr>
          <p:cNvPr id="79" name="Rectangle 78">
            <a:extLst>
              <a:ext uri="{FF2B5EF4-FFF2-40B4-BE49-F238E27FC236}">
                <a16:creationId xmlns:a16="http://schemas.microsoft.com/office/drawing/2014/main" id="{9B1083C5-2F9C-4D22-8214-91E598D70B41}"/>
              </a:ext>
            </a:extLst>
          </p:cNvPr>
          <p:cNvSpPr>
            <a:spLocks noGrp="1"/>
          </p:cNvSpPr>
          <p:nvPr/>
        </p:nvSpPr>
        <p:spPr>
          <a:xfrm>
            <a:off x="1333500" y="4200525"/>
            <a:ext cx="9639300" cy="190500"/>
          </a:xfrm>
          <a:prstGeom prst="rect">
            <a:avLst/>
          </a:prstGeom>
          <a:noFill/>
          <a:ln w="0">
            <a:noFill/>
          </a:ln>
        </p:spPr>
        <p:txBody>
          <a:bodyPr wrap="square" lIns="0" tIns="0" rIns="0" bIns="0">
            <a:noAutofit/>
          </a:bodyPr>
          <a:lstStyle/>
          <a:p>
            <a:pPr>
              <a:buNone/>
              <a:defRPr sz="1013" b="1">
                <a:solidFill>
                  <a:srgbClr val="2854D7"/>
                </a:solidFill>
                <a:latin typeface="Aptos"/>
                <a:ea typeface="Aptos"/>
                <a:cs typeface="Aptos"/>
              </a:defRPr>
            </a:pPr>
            <a:r>
              <a:rPr sz="1200" b="1">
                <a:solidFill>
                  <a:srgbClr val="2854D7"/>
                </a:solidFill>
                <a:latin typeface="Aptos"/>
                <a:ea typeface="Aptos"/>
                <a:cs typeface="Aptos"/>
              </a:rPr>
              <a:t>ЗА ЗАВРШЕТАК</a:t>
            </a:r>
          </a:p>
        </p:txBody>
      </p:sp>
      <p:sp>
        <p:nvSpPr>
          <p:cNvPr id="80" name="Rectangle 79">
            <a:extLst>
              <a:ext uri="{FF2B5EF4-FFF2-40B4-BE49-F238E27FC236}">
                <a16:creationId xmlns:a16="http://schemas.microsoft.com/office/drawing/2014/main" id="{4F833C71-FA59-4325-BF07-9BF3AB74826F}"/>
              </a:ext>
            </a:extLst>
          </p:cNvPr>
          <p:cNvSpPr>
            <a:spLocks noGrp="1"/>
          </p:cNvSpPr>
          <p:nvPr/>
        </p:nvSpPr>
        <p:spPr>
          <a:xfrm>
            <a:off x="1333500" y="4429125"/>
            <a:ext cx="9639300" cy="371475"/>
          </a:xfrm>
          <a:prstGeom prst="rect">
            <a:avLst/>
          </a:prstGeom>
          <a:noFill/>
          <a:ln w="0">
            <a:noFill/>
          </a:ln>
        </p:spPr>
        <p:txBody>
          <a:bodyPr wrap="square" lIns="0" tIns="0" rIns="0" bIns="0" anchor="ctr">
            <a:normAutofit/>
          </a:bodyPr>
          <a:lstStyle/>
          <a:p>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
        <p:nvSpPr>
          <p:cNvPr id="81" name="Rectangle 80">
            <a:extLst>
              <a:ext uri="{FF2B5EF4-FFF2-40B4-BE49-F238E27FC236}">
                <a16:creationId xmlns:a16="http://schemas.microsoft.com/office/drawing/2014/main" id="{07865435-C56B-4D38-8969-9F21ADEB4CA2}"/>
              </a:ext>
            </a:extLst>
          </p:cNvPr>
          <p:cNvSpPr>
            <a:spLocks noGrp="1"/>
          </p:cNvSpPr>
          <p:nvPr/>
        </p:nvSpPr>
        <p:spPr>
          <a:xfrm>
            <a:off x="1314450" y="4900613"/>
            <a:ext cx="9639300" cy="285750"/>
          </a:xfrm>
          <a:prstGeom prst="rect">
            <a:avLst/>
          </a:prstGeom>
          <a:noFill/>
          <a:ln w="0">
            <a:noFill/>
          </a:ln>
        </p:spPr>
        <p:txBody>
          <a:bodyPr wrap="square" lIns="0" tIns="0" rIns="0" bIns="0" anchor="ctr">
            <a:normAutofit/>
          </a:bodyPr>
          <a:lstStyle/>
          <a:p>
            <a:pPr>
              <a:buNone/>
              <a:defRPr sz="1275" b="0">
                <a:solidFill>
                  <a:srgbClr val="52637B"/>
                </a:solidFill>
                <a:latin typeface="Aptos"/>
                <a:ea typeface="Aptos"/>
                <a:cs typeface="Aptos"/>
              </a:defRPr>
            </a:pPr>
            <a:r>
              <a:rPr sz="1275" b="0" dirty="0" err="1">
                <a:solidFill>
                  <a:srgbClr val="52637B"/>
                </a:solidFill>
                <a:latin typeface="Aptos"/>
                <a:ea typeface="Aptos"/>
                <a:cs typeface="Aptos"/>
              </a:rPr>
              <a:t>Следећи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корак</a:t>
            </a:r>
            <a:r>
              <a:rPr sz="1275" b="0" dirty="0">
                <a:solidFill>
                  <a:srgbClr val="52637B"/>
                </a:solidFill>
                <a:latin typeface="Aptos"/>
                <a:ea typeface="Aptos"/>
                <a:cs typeface="Aptos"/>
              </a:rPr>
              <a:t>: </a:t>
            </a:r>
            <a:r>
              <a:rPr sz="1275" b="0" dirty="0" err="1">
                <a:solidFill>
                  <a:srgbClr val="52637B"/>
                </a:solidFill>
                <a:latin typeface="Aptos"/>
                <a:ea typeface="Aptos"/>
                <a:cs typeface="Aptos"/>
              </a:rPr>
              <a:t>применити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исти</a:t>
            </a:r>
            <a:r>
              <a:rPr sz="1275" b="0" dirty="0">
                <a:solidFill>
                  <a:srgbClr val="52637B"/>
                </a:solidFill>
                <a:latin typeface="Aptos"/>
                <a:ea typeface="Aptos"/>
                <a:cs typeface="Aptos"/>
              </a:rPr>
              <a:t> </a:t>
            </a:r>
            <a:r>
              <a:rPr sz="1275" b="0" dirty="0" err="1">
                <a:solidFill>
                  <a:srgbClr val="52637B"/>
                </a:solidFill>
                <a:latin typeface="Aptos"/>
                <a:ea typeface="Aptos"/>
                <a:cs typeface="Aptos"/>
              </a:rPr>
              <a:t>модел</a:t>
            </a:r>
            <a:r>
              <a:rPr sz="1275" b="0" dirty="0">
                <a:solidFill>
                  <a:srgbClr val="52637B"/>
                </a:solidFill>
                <a:latin typeface="Aptos"/>
                <a:ea typeface="Aptos"/>
                <a:cs typeface="Aptos"/>
              </a:rPr>
              <a:t> </a:t>
            </a:r>
            <a:r>
              <a:rPr sz="1275" b="0" dirty="0" err="1">
                <a:solidFill>
                  <a:srgbClr val="52637B"/>
                </a:solidFill>
                <a:latin typeface="Aptos"/>
                <a:ea typeface="Aptos"/>
                <a:cs typeface="Aptos"/>
              </a:rPr>
              <a:t>на</a:t>
            </a:r>
            <a:r>
              <a:rPr sz="1275" b="0" dirty="0">
                <a:solidFill>
                  <a:srgbClr val="52637B"/>
                </a:solidFill>
                <a:latin typeface="Aptos"/>
                <a:ea typeface="Aptos"/>
                <a:cs typeface="Aptos"/>
              </a:rPr>
              <a:t> </a:t>
            </a:r>
            <a:r>
              <a:rPr sz="1275" b="0" dirty="0" err="1">
                <a:solidFill>
                  <a:srgbClr val="52637B"/>
                </a:solidFill>
                <a:latin typeface="Aptos"/>
                <a:ea typeface="Aptos"/>
                <a:cs typeface="Aptos"/>
              </a:rPr>
              <a:t>једну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реалну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границу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у</a:t>
            </a:r>
            <a:r>
              <a:rPr sz="1275" b="0" dirty="0">
                <a:solidFill>
                  <a:srgbClr val="52637B"/>
                </a:solidFill>
                <a:latin typeface="Aptos"/>
                <a:ea typeface="Aptos"/>
                <a:cs typeface="Aptos"/>
              </a:rPr>
              <a:t> </a:t>
            </a:r>
            <a:r>
              <a:rPr sz="1275" b="0" dirty="0" err="1">
                <a:solidFill>
                  <a:srgbClr val="52637B"/>
                </a:solidFill>
                <a:latin typeface="Aptos"/>
                <a:ea typeface="Aptos"/>
                <a:cs typeface="Aptos"/>
              </a:rPr>
              <a:t>сопственом</a:t>
            </a:r>
            <a:r>
              <a:rPr sz="1275" b="0" dirty="0">
                <a:solidFill>
                  <a:srgbClr val="52637B"/>
                </a:solidFill>
                <a:latin typeface="Aptos"/>
                <a:ea typeface="Aptos"/>
                <a:cs typeface="Aptos"/>
              </a:rPr>
              <a:t> </a:t>
            </a:r>
            <a:r>
              <a:rPr sz="1275" b="0" dirty="0" err="1">
                <a:solidFill>
                  <a:srgbClr val="52637B"/>
                </a:solidFill>
                <a:latin typeface="Aptos"/>
                <a:ea typeface="Aptos"/>
                <a:cs typeface="Aptos"/>
              </a:rPr>
              <a:t>пројекту</a:t>
            </a:r>
            <a:r>
              <a:rPr sz="1275" b="0" dirty="0">
                <a:solidFill>
                  <a:srgbClr val="52637B"/>
                </a:solidFill>
                <a:latin typeface="Aptos"/>
                <a:ea typeface="Aptos"/>
                <a:cs typeface="Aptos"/>
              </a:rPr>
              <a:t>.</a:t>
            </a:r>
          </a:p>
        </p:txBody>
      </p:sp>
    </p:spTree>
    <p:extLst>
      <p:ext uri="{BB962C8B-B14F-4D97-AF65-F5344CB8AC3E}">
        <p14:creationId xmlns:p14="http://schemas.microsoft.com/office/powerpoint/2010/main" val="41676071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2103</Words>
  <Application>Microsoft Macintosh PowerPoint</Application>
  <DocSecurity>0</DocSecurity>
  <PresentationFormat>Widescreen</PresentationFormat>
  <Paragraphs>352</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Calibri</vt:lpstr>
      <vt:lpstr>Consolas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Jovanović Danijel</cp:lastModifiedBy>
  <cp:revision>5</cp:revision>
  <dcterms:created xsi:type="dcterms:W3CDTF">2026-09-29T08:52:52Z</dcterms:created>
  <dcterms:modified xsi:type="dcterms:W3CDTF">2026-09-29T09:19:11Z</dcterms:modified>
</cp:coreProperties>
</file>