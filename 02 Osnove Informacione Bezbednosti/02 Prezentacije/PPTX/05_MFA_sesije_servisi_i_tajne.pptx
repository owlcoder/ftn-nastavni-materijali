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46b90c52ce40fd" /><Relationship Type="http://schemas.openxmlformats.org/officeDocument/2006/relationships/extended-properties" Target="/docProps/app.xml" Id="R8199a7bc2e5847b9" /><Relationship Type="http://schemas.openxmlformats.org/officeDocument/2006/relationships/officeDocument" Target="/ppt/presentation.xml" Id="Re008d1eb775b4025" /></Relationships>
</file>

<file path=ppt/presentation.xml><?xml version="1.0" encoding="utf-8"?>
<p:presentation xmlns:p="http://schemas.openxmlformats.org/presentationml/2006/main">
  <p:sldMasterIdLst>
    <p:sldMasterId xmlns:r="http://schemas.openxmlformats.org/officeDocument/2006/relationships" id="2147483648" r:id="Rb034a8a6674b4389"/>
  </p:sldMasterIdLst>
  <p:notesMasterIdLst>
    <p:notesMasterId xmlns:r="http://schemas.openxmlformats.org/officeDocument/2006/relationships" r:id="R828eb6944d124157"/>
  </p:notesMasterIdLst>
  <p:sldIdLst>
    <p:sldId xmlns:r="http://schemas.openxmlformats.org/officeDocument/2006/relationships" id="256" r:id="R49bf93d80c454ae9"/>
    <p:sldId xmlns:r="http://schemas.openxmlformats.org/officeDocument/2006/relationships" id="257" r:id="Rc3fc641d47544b71"/>
    <p:sldId xmlns:r="http://schemas.openxmlformats.org/officeDocument/2006/relationships" id="258" r:id="R8d5cde9c9be048be"/>
    <p:sldId xmlns:r="http://schemas.openxmlformats.org/officeDocument/2006/relationships" id="259" r:id="R7fd7d2854ad64a53"/>
    <p:sldId xmlns:r="http://schemas.openxmlformats.org/officeDocument/2006/relationships" id="260" r:id="R3e17edb4c20f4d54"/>
    <p:sldId xmlns:r="http://schemas.openxmlformats.org/officeDocument/2006/relationships" id="261" r:id="Re6aa1d2d40d04a63"/>
    <p:sldId xmlns:r="http://schemas.openxmlformats.org/officeDocument/2006/relationships" id="262" r:id="R10e5f51ac4cd46e9"/>
    <p:sldId xmlns:r="http://schemas.openxmlformats.org/officeDocument/2006/relationships" id="263" r:id="R15ad3404b4504a61"/>
    <p:sldId xmlns:r="http://schemas.openxmlformats.org/officeDocument/2006/relationships" id="264" r:id="R25d0275ae0834acc"/>
    <p:sldId xmlns:r="http://schemas.openxmlformats.org/officeDocument/2006/relationships" id="265" r:id="R561d5dd073624e51"/>
    <p:sldId xmlns:r="http://schemas.openxmlformats.org/officeDocument/2006/relationships" id="266" r:id="Re8100b5b4cb647af"/>
    <p:sldId xmlns:r="http://schemas.openxmlformats.org/officeDocument/2006/relationships" id="267" r:id="R8306112edaaf4a87"/>
    <p:sldId xmlns:r="http://schemas.openxmlformats.org/officeDocument/2006/relationships" id="268" r:id="R845d72cff2fa4263"/>
    <p:sldId xmlns:r="http://schemas.openxmlformats.org/officeDocument/2006/relationships" id="269" r:id="Rc4361077f4d849f5"/>
    <p:sldId xmlns:r="http://schemas.openxmlformats.org/officeDocument/2006/relationships" id="270" r:id="R783626116af54280"/>
    <p:sldId xmlns:r="http://schemas.openxmlformats.org/officeDocument/2006/relationships" id="271" r:id="R090b9d1bbdf940a7"/>
    <p:sldId xmlns:r="http://schemas.openxmlformats.org/officeDocument/2006/relationships" id="272" r:id="R5f5e9fbf425746fe"/>
    <p:sldId xmlns:r="http://schemas.openxmlformats.org/officeDocument/2006/relationships" id="273" r:id="Re94849f2c7fe4dfb"/>
    <p:sldId xmlns:r="http://schemas.openxmlformats.org/officeDocument/2006/relationships" id="274" r:id="R4fd17c88987c495e"/>
    <p:sldId xmlns:r="http://schemas.openxmlformats.org/officeDocument/2006/relationships" id="275" r:id="R4827d6ba6577439a"/>
    <p:sldId xmlns:r="http://schemas.openxmlformats.org/officeDocument/2006/relationships" id="276" r:id="R08d5616b9a814b92"/>
    <p:sldId xmlns:r="http://schemas.openxmlformats.org/officeDocument/2006/relationships" id="277" r:id="R94cd90f21bda4ac7"/>
    <p:sldId xmlns:r="http://schemas.openxmlformats.org/officeDocument/2006/relationships" id="278" r:id="R025058934c0a4f52"/>
    <p:sldId xmlns:r="http://schemas.openxmlformats.org/officeDocument/2006/relationships" id="279" r:id="R85c38c2d367b41b6"/>
    <p:sldId xmlns:r="http://schemas.openxmlformats.org/officeDocument/2006/relationships" id="280" r:id="R50f9c6d9ca534126"/>
    <p:sldId xmlns:r="http://schemas.openxmlformats.org/officeDocument/2006/relationships" id="281" r:id="R63d2c1a1e8c54181"/>
    <p:sldId xmlns:r="http://schemas.openxmlformats.org/officeDocument/2006/relationships" id="282" r:id="R0916b4af081f42d8"/>
    <p:sldId xmlns:r="http://schemas.openxmlformats.org/officeDocument/2006/relationships" id="283" r:id="Rc12b7e7ffd1b4205"/>
    <p:sldId xmlns:r="http://schemas.openxmlformats.org/officeDocument/2006/relationships" id="284" r:id="R35572e1e842c45ce"/>
    <p:sldId xmlns:r="http://schemas.openxmlformats.org/officeDocument/2006/relationships" id="285" r:id="R2d2595ca6f7a44c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ed287e94c149d0" /><Relationship Type="http://schemas.openxmlformats.org/officeDocument/2006/relationships/slideMaster" Target="/ppt/slideMasters/slideMaster1.xml" Id="Rb034a8a6674b4389" /><Relationship Type="http://schemas.openxmlformats.org/officeDocument/2006/relationships/notesMaster" Target="/ppt/notesMasters/notesMaster1.xml" Id="R828eb6944d124157" /><Relationship Type="http://schemas.openxmlformats.org/officeDocument/2006/relationships/presProps" Target="/ppt/presProps.xml" Id="R7f3fe31c76bd4491" /><Relationship Type="http://schemas.openxmlformats.org/officeDocument/2006/relationships/tableStyles" Target="/ppt/tableStyles.xml" Id="R63a79bcbf38c4400" /><Relationship Type="http://schemas.openxmlformats.org/officeDocument/2006/relationships/slide" Target="/ppt/slides/slide1.xml" Id="R49bf93d80c454ae9" /><Relationship Type="http://schemas.openxmlformats.org/officeDocument/2006/relationships/slide" Target="/ppt/slides/slide2.xml" Id="Rc3fc641d47544b71" /><Relationship Type="http://schemas.openxmlformats.org/officeDocument/2006/relationships/slide" Target="/ppt/slides/slide3.xml" Id="R8d5cde9c9be048be" /><Relationship Type="http://schemas.openxmlformats.org/officeDocument/2006/relationships/slide" Target="/ppt/slides/slide4.xml" Id="R7fd7d2854ad64a53" /><Relationship Type="http://schemas.openxmlformats.org/officeDocument/2006/relationships/slide" Target="/ppt/slides/slide5.xml" Id="R3e17edb4c20f4d54" /><Relationship Type="http://schemas.openxmlformats.org/officeDocument/2006/relationships/slide" Target="/ppt/slides/slide6.xml" Id="Re6aa1d2d40d04a63" /><Relationship Type="http://schemas.openxmlformats.org/officeDocument/2006/relationships/slide" Target="/ppt/slides/slide7.xml" Id="R10e5f51ac4cd46e9" /><Relationship Type="http://schemas.openxmlformats.org/officeDocument/2006/relationships/slide" Target="/ppt/slides/slide8.xml" Id="R15ad3404b4504a61" /><Relationship Type="http://schemas.openxmlformats.org/officeDocument/2006/relationships/slide" Target="/ppt/slides/slide9.xml" Id="R25d0275ae0834acc" /><Relationship Type="http://schemas.openxmlformats.org/officeDocument/2006/relationships/slide" Target="/ppt/slides/slide10.xml" Id="R561d5dd073624e51" /><Relationship Type="http://schemas.openxmlformats.org/officeDocument/2006/relationships/slide" Target="/ppt/slides/slide11.xml" Id="Re8100b5b4cb647af" /><Relationship Type="http://schemas.openxmlformats.org/officeDocument/2006/relationships/slide" Target="/ppt/slides/slide12.xml" Id="R8306112edaaf4a87" /><Relationship Type="http://schemas.openxmlformats.org/officeDocument/2006/relationships/slide" Target="/ppt/slides/slide13.xml" Id="R845d72cff2fa4263" /><Relationship Type="http://schemas.openxmlformats.org/officeDocument/2006/relationships/slide" Target="/ppt/slides/slide14.xml" Id="Rc4361077f4d849f5" /><Relationship Type="http://schemas.openxmlformats.org/officeDocument/2006/relationships/slide" Target="/ppt/slides/slide15.xml" Id="R783626116af54280" /><Relationship Type="http://schemas.openxmlformats.org/officeDocument/2006/relationships/slide" Target="/ppt/slides/slide16.xml" Id="R090b9d1bbdf940a7" /><Relationship Type="http://schemas.openxmlformats.org/officeDocument/2006/relationships/slide" Target="/ppt/slides/slide17.xml" Id="R5f5e9fbf425746fe" /><Relationship Type="http://schemas.openxmlformats.org/officeDocument/2006/relationships/slide" Target="/ppt/slides/slide18.xml" Id="Re94849f2c7fe4dfb" /><Relationship Type="http://schemas.openxmlformats.org/officeDocument/2006/relationships/slide" Target="/ppt/slides/slide19.xml" Id="R4fd17c88987c495e" /><Relationship Type="http://schemas.openxmlformats.org/officeDocument/2006/relationships/slide" Target="/ppt/slides/slide20.xml" Id="R4827d6ba6577439a" /><Relationship Type="http://schemas.openxmlformats.org/officeDocument/2006/relationships/slide" Target="/ppt/slides/slide21.xml" Id="R08d5616b9a814b92" /><Relationship Type="http://schemas.openxmlformats.org/officeDocument/2006/relationships/slide" Target="/ppt/slides/slide22.xml" Id="R94cd90f21bda4ac7" /><Relationship Type="http://schemas.openxmlformats.org/officeDocument/2006/relationships/slide" Target="/ppt/slides/slide23.xml" Id="R025058934c0a4f52" /><Relationship Type="http://schemas.openxmlformats.org/officeDocument/2006/relationships/slide" Target="/ppt/slides/slide24.xml" Id="R85c38c2d367b41b6" /><Relationship Type="http://schemas.openxmlformats.org/officeDocument/2006/relationships/slide" Target="/ppt/slides/slide25.xml" Id="R50f9c6d9ca534126" /><Relationship Type="http://schemas.openxmlformats.org/officeDocument/2006/relationships/slide" Target="/ppt/slides/slide26.xml" Id="R63d2c1a1e8c54181" /><Relationship Type="http://schemas.openxmlformats.org/officeDocument/2006/relationships/slide" Target="/ppt/slides/slide27.xml" Id="R0916b4af081f42d8" /><Relationship Type="http://schemas.openxmlformats.org/officeDocument/2006/relationships/slide" Target="/ppt/slides/slide28.xml" Id="Rc12b7e7ffd1b4205" /><Relationship Type="http://schemas.openxmlformats.org/officeDocument/2006/relationships/slide" Target="/ppt/slides/slide29.xml" Id="R35572e1e842c45ce" /><Relationship Type="http://schemas.openxmlformats.org/officeDocument/2006/relationships/slide" Target="/ppt/slides/slide30.xml" Id="R2d2595ca6f7a44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9ca8acf4e34a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8c7bcab8e74c49" /><Relationship Type="http://schemas.openxmlformats.org/officeDocument/2006/relationships/notesMaster" Target="/ppt/notesMasters/notesMaster1.xml" Id="R86e23c7c4cfe4b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2efa09c7054393" /><Relationship Type="http://schemas.openxmlformats.org/officeDocument/2006/relationships/notesMaster" Target="/ppt/notesMasters/notesMaster1.xml" Id="Rfa8ab0e5ab9e4c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679e61f16f429c" /><Relationship Type="http://schemas.openxmlformats.org/officeDocument/2006/relationships/notesMaster" Target="/ppt/notesMasters/notesMaster1.xml" Id="Rcd244ebe8ef447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82df9aa8e04c56" /><Relationship Type="http://schemas.openxmlformats.org/officeDocument/2006/relationships/notesMaster" Target="/ppt/notesMasters/notesMaster1.xml" Id="R40c150c698ea4a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71352e8c154819" /><Relationship Type="http://schemas.openxmlformats.org/officeDocument/2006/relationships/notesMaster" Target="/ppt/notesMasters/notesMaster1.xml" Id="R13ff240b301443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25d8b5cd4941d5" /><Relationship Type="http://schemas.openxmlformats.org/officeDocument/2006/relationships/notesMaster" Target="/ppt/notesMasters/notesMaster1.xml" Id="R7ba8b017c7bf4f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b5c2567a2c406c" /><Relationship Type="http://schemas.openxmlformats.org/officeDocument/2006/relationships/notesMaster" Target="/ppt/notesMasters/notesMaster1.xml" Id="R229cb0f3abd540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0e1782579c4036" /><Relationship Type="http://schemas.openxmlformats.org/officeDocument/2006/relationships/notesMaster" Target="/ppt/notesMasters/notesMaster1.xml" Id="Re6adbb122be842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96d38c85f3479e" /><Relationship Type="http://schemas.openxmlformats.org/officeDocument/2006/relationships/notesMaster" Target="/ppt/notesMasters/notesMaster1.xml" Id="R71dc8cf2d0a043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12c4dbd9a34c22" /><Relationship Type="http://schemas.openxmlformats.org/officeDocument/2006/relationships/notesMaster" Target="/ppt/notesMasters/notesMaster1.xml" Id="R3f2e20ead47b40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6a28345543495e" /><Relationship Type="http://schemas.openxmlformats.org/officeDocument/2006/relationships/notesMaster" Target="/ppt/notesMasters/notesMaster1.xml" Id="Rc9345285249541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22e5405fe545e1" /><Relationship Type="http://schemas.openxmlformats.org/officeDocument/2006/relationships/notesMaster" Target="/ppt/notesMasters/notesMaster1.xml" Id="R049964de576040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b280cee9a548e0" /><Relationship Type="http://schemas.openxmlformats.org/officeDocument/2006/relationships/notesMaster" Target="/ppt/notesMasters/notesMaster1.xml" Id="R9f504a344c0b45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30c2ef4523429a" /><Relationship Type="http://schemas.openxmlformats.org/officeDocument/2006/relationships/notesMaster" Target="/ppt/notesMasters/notesMaster1.xml" Id="Re1444f54e45148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765935819248ae" /><Relationship Type="http://schemas.openxmlformats.org/officeDocument/2006/relationships/notesMaster" Target="/ppt/notesMasters/notesMaster1.xml" Id="Re0140a9945c045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d7d479ebefd4ffc" /><Relationship Type="http://schemas.openxmlformats.org/officeDocument/2006/relationships/notesMaster" Target="/ppt/notesMasters/notesMaster1.xml" Id="R6f5d25ca848e44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95dd3c825c4b67" /><Relationship Type="http://schemas.openxmlformats.org/officeDocument/2006/relationships/notesMaster" Target="/ppt/notesMasters/notesMaster1.xml" Id="Re9a573f4b4e147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517d238d4d49a7" /><Relationship Type="http://schemas.openxmlformats.org/officeDocument/2006/relationships/notesMaster" Target="/ppt/notesMasters/notesMaster1.xml" Id="R21493a4b9a8146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84a6a1edd1442e" /><Relationship Type="http://schemas.openxmlformats.org/officeDocument/2006/relationships/notesMaster" Target="/ppt/notesMasters/notesMaster1.xml" Id="R2cbd1b74991f42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c9e0e05681344cf" /><Relationship Type="http://schemas.openxmlformats.org/officeDocument/2006/relationships/notesMaster" Target="/ppt/notesMasters/notesMaster1.xml" Id="R3fb3a52121074d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9b4e88c3934835" /><Relationship Type="http://schemas.openxmlformats.org/officeDocument/2006/relationships/notesMaster" Target="/ppt/notesMasters/notesMaster1.xml" Id="R10cb218650f74c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1570cd348b4462" /><Relationship Type="http://schemas.openxmlformats.org/officeDocument/2006/relationships/notesMaster" Target="/ppt/notesMasters/notesMaster1.xml" Id="R0a13bb4666a545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a1bb3c6a8494426" /><Relationship Type="http://schemas.openxmlformats.org/officeDocument/2006/relationships/notesMaster" Target="/ppt/notesMasters/notesMaster1.xml" Id="Re9a34e4e8d8c409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045b172cf34eac" /><Relationship Type="http://schemas.openxmlformats.org/officeDocument/2006/relationships/notesMaster" Target="/ppt/notesMasters/notesMaster1.xml" Id="R20893bb21d004d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09bc506d37542cb" /><Relationship Type="http://schemas.openxmlformats.org/officeDocument/2006/relationships/notesMaster" Target="/ppt/notesMasters/notesMaster1.xml" Id="Rc305686c56fc49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8e8e772287403c" /><Relationship Type="http://schemas.openxmlformats.org/officeDocument/2006/relationships/notesMaster" Target="/ppt/notesMasters/notesMaster1.xml" Id="R636f9d39d3384f5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d942282bb994b42" /><Relationship Type="http://schemas.openxmlformats.org/officeDocument/2006/relationships/notesMaster" Target="/ppt/notesMasters/notesMaster1.xml" Id="R7502da7075f34f9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6f46cf9a99d4057" /><Relationship Type="http://schemas.openxmlformats.org/officeDocument/2006/relationships/notesMaster" Target="/ppt/notesMasters/notesMaster1.xml" Id="Rf68d82b08bee415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2bcd02d3065475e" /><Relationship Type="http://schemas.openxmlformats.org/officeDocument/2006/relationships/notesMaster" Target="/ppt/notesMasters/notesMaster1.xml" Id="Ra7eecd96c694476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d04b73675e2482a" /><Relationship Type="http://schemas.openxmlformats.org/officeDocument/2006/relationships/notesMaster" Target="/ppt/notesMasters/notesMaster1.xml" Id="Rf0a94416815b41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Академска 2026/27.&lt;br&gt;Исходни слајд 1 — садржај: ОСНОВЕ ИНФОРМАЦИОНЕ БЕЗБЕДНОСТИ&lt;br&gt;MFA, сесије, сервиси и тајне&lt;br&gt;Вишефакторска аутентикација, животни циклус сесије и управљање тајнама&lt;br&gt;Факултет техничких наука · Универзитет у Новом Саду&lt;br&gt;Академска 2026/27.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Презентација је организована у четири тематске целине. Опсези слајдова су наведени у садржају.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2 — садржај: Основе информационе безбедности&lt;br&gt;2&lt;br&gt;Континуирана провера идентитета&lt;br&gt;Ризик радње, трајање сесије, врста уређаја и промена привилегија одређују потребан ниво додатне потврде.&lt;br&gt;ПРЕДМЕТ АНАЛИЗЕ&lt;br&gt;Ризик који се анализира&lt;br&gt;Идентитет није трајно доказан једном пријавом. Ризик радње, трајање сесије, врста уређаја и промена привилегија утичу на то колико је додатна потврда потребна. Оперативна безбедност зато прати приступ и након почетне аутентикације.&lt;br&gt;ЗНАЧАЈ&lt;br&gt;Значај за безбедност система&lt;br&gt;Вишефакторска потврда и временски ограничене привилегије смањују последице украденог креденцијала. Управљање тајнама штити везе међу сервисима, где непажња често остане скривена јер нема корисничког екрана.&lt;br&gt;КРИТЕРИЈУМ ПРОВЕРЕ&lt;br&gt;Проверљив резултат&lt;br&gt;Одлука је јасна, примењује се на серверу и оставља поновљив доказ успешног и одбијеног исхода.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Потврдити идентитет и разумети шта та потврда заиста доказује.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3 — садржај: Основе информационе безбедности&lt;br&gt;3&lt;br&gt;Основни појмови&lt;br&gt;Пријава, сесија, додатна потврда и опозив описују животни циклус приступа.&lt;br&gt;01&lt;br&gt;Пријава&lt;br&gt;почетна потврда идентитета&lt;br&gt;02&lt;br&gt;Сесија&lt;br&gt;привремени контекст приступа&lt;br&gt;03&lt;br&gt;Додатна потврда&lt;br&gt;за ризичну радњу&lt;br&gt;04&lt;br&gt;Истек или опозив&lt;br&gt;прекид важења приступа&lt;br&gt;ЗАКЉУЧАК&lt;br&gt;Поверење се не чува заувек. Систем га обнавља или опозива када се промени ризик.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4 — садржај: Основе информационе безбедности&lt;br&gt;4&lt;br&gt;Пријава&lt;br&gt;почетна потврда идентитета&lt;br&gt;01&lt;br&gt;Пријава потврђује идентитет у једном тренутку, не говори шта субјекат сме да ради касније.&lt;br&gt;Питање: који улаз покреће ову одлуку?&lt;br&gt;02&lt;br&gt;Вишефакторска потврда вреди за субјекта који ју је дао и за ограничено време.&lt;br&gt;Питање: која граница мора бити видљива?&lt;br&gt;03&lt;br&gt;Систем бележи време и начин потврде, али никада саму лозинку или код.&lt;br&gt;Питање: који доказ остаје после исхода?&lt;br&gt;ПИТАЊЕ ЗА АНАЛИЗУ&lt;br&gt;Шта ваш систем зна о кориснику одмах после пријаве, а шта тек треба да провери?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Парафраза категорија фактора и принципа независности OWASP MFA Cheat Sheet. Извор: https://cheatsheetseries.owasp.org/cheatsheets/Multifactor_Authentication_Cheat_Sheet.html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8 — садржај: Основе информационе безбедности&lt;br&gt;8&lt;br&gt;Различите врсте идентитета&lt;br&gt;Поређење приказује функцију сваког елемента и ограничење његове самосталне примене.&lt;br&gt;Идентитет&lt;br&gt;Намена&lt;br&gt;Посебан ризик&lt;br&gt;Људски корисник&lt;br&gt;Интерактивне радње и одговорност.&lt;br&gt;Крађа креденцијала или преширока улога.&lt;br&gt;Сервисни налог&lt;br&gt;Комуникација међу компонентама.&lt;br&gt;Тајна без рока или превелик опсег.&lt;br&gt;Привремени приступ&lt;br&gt;Кратка ризична интервенција.&lt;br&gt;Право остане активно након потребе.&lt;br&gt;Администраторски налог&lt;br&gt;Измене са великим утицајем.&lt;br&gt;Недостатак додатне потврде и аудита.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Приступ важи само док важе сесија, право и потребан ниво потврде.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5 — садржај: Основе информационе безбедности&lt;br&gt;5&lt;br&gt;Сесија&lt;br&gt;привремени контекст приступа&lt;br&gt;01&lt;br&gt;Сесија је привремени доказ контекста, а не трајна потврда поверења.&lt;br&gt;Питање: који улаз покреће ову одлуку?&lt;br&gt;02&lt;br&gt;Сервер при сваком захтеву проверава да ли сесија и даље важи.&lt;br&gt;Питање: која граница мора бити видљива?&lt;br&gt;03&lt;br&gt;Запис о сесији чува када је настала, када је потврђена и када је престала да важи.&lt;br&gt;Питање: који доказ остаје после исхода?&lt;br&gt;ПИТАЊЕ ЗА АНАЛИЗУ&lt;br&gt;Који податак о сесији сервер мора да провери пре сваке осетљиве радње?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6 — садржај: Основе информационе безбедности&lt;br&gt;6&lt;br&gt;Додатна потврда&lt;br&gt;за ризичну радњу&lt;br&gt;01&lt;br&gt;Додатну потврду тражи конкретна ризична радња, а не само тип корисника.&lt;br&gt;Питање: који улаз покреће ову одлуку?&lt;br&gt;02&lt;br&gt;Свака радња одређује колико стара потврда идентитета сме да буде.&lt;br&gt;Питање: која граница мора бити видљива?&lt;br&gt;03&lt;br&gt;Одлука бележи да ли је тражена нова потврда и из ког разлога.&lt;br&gt;Питање: који доказ остаје после исхода?&lt;br&gt;ПИТАЊЕ ЗА АНАЛИЗУ&lt;br&gt;Која радња у вашем систему заслужује додатну потврду и колико свежа она мора бити?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7 — садржај: Основе информационе безбедности&lt;br&gt;7&lt;br&gt;Истек или опозив&lt;br&gt;прекид важења приступа&lt;br&gt;01&lt;br&gt;Истек ограничава трајање поверења чак и када нема видљивог инцидента.&lt;br&gt;Питање: који улаз покреће ову одлуку?&lt;br&gt;02&lt;br&gt;Опозив има предност над сваким ранијим доказом идентитета.&lt;br&gt;Питање: која граница мора бити видљива?&lt;br&gt;03&lt;br&gt;Опозив и истек остављају траг: ко је прекинуо приступ, када и зашто.&lt;br&gt;Питање: који доказ остаје после исхода?&lt;br&gt;ПИТАЊЕ ЗА АНАЛИЗУ&lt;br&gt;Који догађај у вашем систему мора одмах да опозове постојећу сесију?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Дијаграм илуструје изворни модел. Опозив и истек прекидају приступ. Додатни извор: https://cheatsheetseries.owasp.org/cheatsheets/Session_Management_Cheat_Sheet.html&lt;br&gt;Исходни слајд 9 — садржај: Основе информационе безбедности&lt;br&gt;9&lt;br&gt;Модел животног циклуса поверења&lt;br&gt;Поверење се не чува заувек. Систем га обнавља или опозива када се промени ризик.&lt;br&gt;01&lt;br&gt;Почетна пријава&lt;br&gt;основни ниво поверења&lt;br&gt;02&lt;br&gt;Активна сесија&lt;br&gt;временски ограничена&lt;br&gt;03&lt;br&gt;Ризична радња&lt;br&gt;step-up или одбијање&lt;br&gt;04&lt;br&gt;Опозив или истек&lt;br&gt;приступ престаје да важи&lt;br&gt;ЕЛЕМЕНТИ АНАЛИЗЕ&lt;br&gt;Анализа сваког корака обухвата покретача, место одлуке и траг који остаје после исхода.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11 — садржај: Основе информационе безбедности&lt;br&gt;11&lt;br&gt;Приступ има рок и контекст&lt;br&gt;Наведена правила остају видљива у имплементацији, тестовима и ревизији.&lt;br&gt;01&lt;br&gt;Сесија може изгубити важност пре планираног истека.&lt;br&gt;Јасно правило&lt;br&gt;02&lt;br&gt;Додатна потврда прати ризик радње, не само тип корисника.&lt;br&gt;Проверљива примена&lt;br&gt;03&lt;br&gt;Сервисни идентитет има мали, јасно оправдан опсег, као и људски идентитет.&lt;br&gt;Видљив доказ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13 — садржај: Основе информационе безбедности&lt;br&gt;13&lt;br&gt;Случај: сесија после промене привилегије&lt;br&gt;Случај повезује опште правило са конкретним контекстом, серверском провером и очекиваним исходом.&lt;br&gt;СЦЕНАРИО&lt;br&gt;Пример: сесија после промене привилегије&lt;br&gt;Корисник се пријавио ујутру, а касније током дана добија виши ниво приступа. Ако систем не преиспита постојећу сесију, корисник може извршити ризичну радњу без додатне потврде која би била потребна да се пријављује у том тренутку. Обрнуто, одузета привилегија мора заиста да престане да важи, а не да чека крај дуготрајне сесије.&lt;br&gt;01&lt;br&gt;Сесија је привремени доказ контекста, не трајна потврда поверења.&lt;br&gt;02&lt;br&gt;Step-up аутентикација има смисла када се ризик радње промени, а не као произвољна препрека за све кориснике.&lt;br&gt;03&lt;br&gt;Сервисни налог добија исти третман као корисник: најмањи потребан опсег, рок важења и контролисану ротацију тајне.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Додатна илустративна скица. MFA провера не замењује ауторизацију и важење сесије. Извори: https://cheatsheetseries.owasp.org/cheatsheets/Multifactor_Authentication_Cheat_Sheet.html https://cheatsheetseries.owasp.org/cheatsheets/Session_Management_Cheat_Sheet.html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Одредити ко користи тајну, колико траје и како престаје да важи.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10 — садржај: Основе информационе безбедности&lt;br&gt;10&lt;br&gt;Од тајне до безбедне употребе&lt;br&gt;Процес приказује улазе, место одлуке и доказ који остаје после исхода.&lt;br&gt;КОНТЕКСТ&lt;br&gt;Од тајне до безбедне употребе&lt;br&gt;Безбедно управљање тајном почиње пре њеног првог коришћења. Потребно је знати власника, сврху, компоненту која је користи и начин ротације. Сама вредност тајне треба да остане ван кода, екрана и записа који нису за то намењени.&lt;br&gt;01&lt;br&gt;Тајна се издаје само идентитету који јој је стварно потребан.&lt;br&gt;02&lt;br&gt;Систем прати истек и планира ротацију пре прекида рада.&lt;br&gt;03&lt;br&gt;Логови бележе употребу и неуспех без приказивања вредности тајне.&lt;br&gt;04&lt;br&gt;Опозив ограничава последицу сумње да је тајна компромитована.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18 — садржај: Основе информационе безбедности&lt;br&gt;18&lt;br&gt;Управљање тајнама у архитектури&lt;br&gt;Тајне имају власника, ограничен опсег, рок важења и поступак ротације.&lt;br&gt;ОБРАЗЛОЖЕЊЕ&lt;br&gt;Тајне као део архитектуре&lt;br&gt;Тајна није конфигурациона вредност као свака друга. Њено излагање може дати приступ без видљивог корисничког екрана, нарочито између сервиса. Зато развојни процес дефинише одакле тајна долази, ко је користи, када се ротира и како се проверава да није случајно завршила у репозиторијуму или логу.&lt;br&gt;01&lt;br&gt;Сваки сервисни идентитет има сврху и најмањи потребан опсег.&lt;br&gt;02&lt;br&gt;Ротација се планира пре истека, уместо да се чека прекид рада.&lt;br&gt;03&lt;br&gt;Тестови проверавају понашање при опозиву или истеку без приказивања стварних вредности тајне.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Парафраза lifecycle/rotation guidance. Извор: https://cheatsheetseries.owasp.org/cheatsheets/Secrets_Management_Cheat_Sheet.html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12 — садржај: Основе информационе безбедности&lt;br&gt;12&lt;br&gt;Примена у развоју&lt;br&gt;Тим примењује тему кроз серверске провере, тестове и ревизионе записе током развоја.&lt;br&gt;РАЗВОЈНИ КОНТЕКСТ&lt;br&gt;Примена принципа у коду&lt;br&gt;Развојни тим унапред одређује које ситуације мењају ниво поверења: промена привилегије, приступ осетљивом податку или сумњива пријава. Тајне се референцирају из безбедног извора и никада се не преносе кроз код, тестне исписе или историју репозиторијума.&lt;br&gt;01&lt;br&gt;Дефинисана одлука и њена граница.&lt;br&gt;02&lt;br&gt;Серверска имплементација провере.&lt;br&gt;03&lt;br&gt;Позитиван и негативан доказ.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Одбијање, опозив и истек морају бити видљиви у тесту и ревизионом запису.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14 — садржај: Основе информационе безбедности&lt;br&gt;14&lt;br&gt;Step-up не замењује проверу сесије&lt;br&gt;Додатна потврда идентитета вреди само уз важећу сесију и довољно свежу MFA потврду.&lt;br&gt;1&lt;br&gt;2&lt;br&gt;3&lt;br&gt;4&lt;br&gt;5&lt;br&gt;6&lt;br&gt;7&lt;br&gt;8&lt;br&gt;9&lt;br&gt;10&lt;br&gt;11&lt;br&gt;public StepUpDecision Evaluate(&lt;br&gt;    AuthSession session, RiskyOperation operation, DateTimeOffset now)&lt;br&gt;{&lt;br&gt;    if (session.Revoked)&lt;br&gt;        return new(false, false, StepUpCodes.SessionRevoked, …),&lt;br&gt;    if (session.MfaVerifiedAt is not { } verifiedAt)&lt;br&gt;        return new(false, true, StepUpCodes.MfaRequired, …),&lt;br&gt;    if (!IsFresh(verifiedAt, operation.MaximumMfaAge, now))&lt;br&gt;        return new(false, true, StepUpCodes.MfaStale, …),&lt;br&gt;    return new(true, false, StepUpCodes.StepUpSatisfied, …),&lt;br&gt;}&lt;br&gt;ТУМАЧЕЊЕ&lt;br&gt;Додатна потврда подиже ниво поверења само за ограничену радњу и кратак временски прозор.&lt;br&gt;БЕЗБЕДНОСНА ГРАНИЦА&lt;br&gt;Одбијање је експлицитан исход са разлогом који се може тестирати и објаснити.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15 — садржај: Основе информационе безбедности&lt;br&gt;15&lt;br&gt;Опозив има предност над старим доказом&lt;br&gt;Тест потврђује да опозвана сесија поништава и сасвим свежу MFA потврду.&lt;br&gt;1&lt;br&gt;2&lt;br&gt;3&lt;br&gt;4&lt;br&gt;5&lt;br&gt;6&lt;br&gt;7&lt;br&gt;8&lt;br&gt;9&lt;br&gt;10&lt;br&gt;11&lt;br&gt;12&lt;br&gt;13&lt;br&gt;[Test]&lt;br&gt;public void Evaluate_WhenSessionIsRevoked_DeniesWithoutOfferingMfa()&lt;br&gt;{&lt;br&gt;    var decision = _policy.Evaluate(&lt;br&gt;        Session(Now.AddMinutes(-1), revoked: true), Export, Now),&lt;br&gt; &lt;br&gt;    using (Assert.EnterMultipleScope())&lt;br&gt;    {&lt;br&gt;        Assert.That(decision.Allowed, Is.False),&lt;br&gt;        Assert.That(decision.RequiresMfa, Is.False),&lt;br&gt;        Assert.That(decision.Code, Is.EqualTo(StepUpCodes.SessionRevoked)),&lt;br&gt;    }&lt;br&gt;}&lt;br&gt;ДОКАЗ&lt;br&gt;Ни MFA потврда стара један минут не оживљава сесију која је опозвана.&lt;br&gt;ОЧЕКИВАНИ ИСХОД&lt;br&gt;Одлука одбија радњу и не нуди нову MFA потврду, јер сесија више не важи.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16 — садржај: Основе информационе безбедности&lt;br&gt;16&lt;br&gt;Садржај безбедносног записа&lt;br&gt;Запис садржи контекст потребан за реконструкцију одлуке, без тајни и непотребних личних података.&lt;br&gt;1&lt;br&gt;2&lt;br&gt;3&lt;br&gt;4&lt;br&gt;5&lt;br&gt;6&lt;br&gt;7&lt;br&gt;8&lt;br&gt;{&lt;br&gt;  "subject": "u-8",&lt;br&gt;  "action": "payment.approve",&lt;br&gt;  "sessionState": "revoked",&lt;br&gt;  "assurance": "mfa",&lt;br&gt;  "outcome": "denied",&lt;br&gt;  "secretValueLogged": false&lt;br&gt;}&lt;br&gt;ДОВОЉНО&lt;br&gt;Актер, радња, циљ, исход и разлог&lt;br&gt;Временска ознака и correlation ID повезују траг са остатком тока.&lt;br&gt;НЕ ПРИПАДА У ДОКАЗ&lt;br&gt;Лозинка, token, тајна и сувишан садржај&lt;br&gt;Траг не сме да постане нови извор цурења или збирка непотребних података.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17 — садржај: Основе информационе безбедности&lt;br&gt;17&lt;br&gt;Честе грешке у имплементацији&lt;br&gt;Грешке настају када контекст, место одлуке или доказ остану нејасни.&lt;br&gt;01&lt;br&gt;Token третиран као вечна дозвола.&lt;br&gt;Нема јасног власника одлуке.&lt;br&gt;02&lt;br&gt;Администраторска права додељена без рока и прегледа.&lt;br&gt;Не постоји негативан сценарио.&lt;br&gt;03&lt;br&gt;Једна широка тајна дељена међу више независних сервиса.&lt;br&gt;Доказ не показује стварни исход.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19 — садржај: Основе информационе безбедности&lt;br&gt;19&lt;br&gt;Примена на пројекат&lt;br&gt;Анализа једног сценарија обухвата одлуку, имплементацију, тест одбијања и доказ.&lt;br&gt;01&lt;br&gt;Избор сценарија&lt;br&gt;једна стварна радња&lt;br&gt;02&lt;br&gt;Дефинисање правила&lt;br&gt;улази и граница&lt;br&gt;03&lt;br&gt;Тест одбијања&lt;br&gt;једна чињеница недостаје&lt;br&gt;04&lt;br&gt;Ревизиони запис&lt;br&gt;исход и разлог&lt;br&gt;ПРИМЕНА НА ПРОЈЕКАТ&lt;br&gt;Пројектна примена теме „MFA, сесије, сервиси и тајне“ обухвата једну серверску одлуку, тест одбијања и доказ који други члан тима може да понови.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Илустративна матрица. Изворни Evaluate пример приказује опозив и свежину, провера истека мора бити обезбеђена серверским механизмом сесије. https://cheatsheetseries.owasp.org/cheatsheets/Session_Management_Cheat_Sheet.html https://cheatsheetseries.owasp.org/cheatsheets/Multifactor_Authentication_Cheat_Sheet.html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 &lt;br&gt;Исходни слајд 20 — садржај: Основе информационе безбедности&lt;br&gt;20&lt;br&gt;Провера разумевања&lt;br&gt;Разумевање теме подразумева објашњење одлуке и доказа независно од конкретног технолошког оквира.&lt;br&gt;01&lt;br&gt;Пријава&lt;br&gt;почетна потврда идентитета&lt;br&gt;02&lt;br&gt;Сесија&lt;br&gt;привремени контекст приступа&lt;br&gt;03&lt;br&gt;Додатна потврда&lt;br&gt;за ризичну радњу&lt;br&gt;04&lt;br&gt;Истек или опозив&lt;br&gt;прекид важења приступа&lt;br&gt;ПИТАЊЕ ЗА ПРОВЕРУ&lt;br&gt;Која радња заслужује додатну потврду идентитета и који догађај би требало да опозове постојећу сесију?&lt;br&gt;Пројектна примена: применити исти модел на једну реалну границу у сопственом пројекту.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Резиме изворних појмова. Праг свежине, истек и поступак ротације одређује политика система.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62902cf88347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14dea09c0442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9772f99d3343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af52b0706944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06cec9daf240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5c203921d74d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D9CA89-37D4-43AB-A86B-78228776AE8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A4A645-7086-4C3B-895B-461D2AF8843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3C4388-0DE7-4770-9434-606B49F074F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142048-1E1F-4C33-9F09-75AB87A8D9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0FFBDFB-E371-49AC-8932-0FF6A39C92B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C8494D-466E-4715-B9E5-70BB0183201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7A0D3-B1DB-42CC-81E4-4D0CB2742E4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78F8BA-EA83-4E5F-9552-0EB8EDD8E46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4186E3-5B04-4CD5-928D-8939B3C0F04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0C5F15-DA58-400B-9EF7-C896518BBD9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f067d402654e89" /><Relationship Type="http://schemas.openxmlformats.org/officeDocument/2006/relationships/slideLayout" Target="/ppt/slideLayouts/slideLayout1.xml" Id="R2fa8f68f53bf41f6" /><Relationship Type="http://schemas.openxmlformats.org/officeDocument/2006/relationships/slideLayout" Target="/ppt/slideLayouts/slideLayout2.xml" Id="Rc85e418457ab4b67" /><Relationship Type="http://schemas.openxmlformats.org/officeDocument/2006/relationships/slideLayout" Target="/ppt/slideLayouts/slideLayout3.xml" Id="R1c453f0ef48649af" /><Relationship Type="http://schemas.openxmlformats.org/officeDocument/2006/relationships/slideLayout" Target="/ppt/slideLayouts/slideLayout4.xml" Id="Rb5decd3a23d64528" /><Relationship Type="http://schemas.openxmlformats.org/officeDocument/2006/relationships/slideLayout" Target="/ppt/slideLayouts/slideLayout5.xml" Id="R0292987b950c46b4" /><Relationship Type="http://schemas.openxmlformats.org/officeDocument/2006/relationships/slideLayout" Target="/ppt/slideLayouts/slideLayout6.xml" Id="Ra6b4ef44a6ef48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a8f68f53bf41f6"/>
    <p:sldLayoutId xmlns:r="http://schemas.openxmlformats.org/officeDocument/2006/relationships" id="2147483650" r:id="Rc85e418457ab4b67"/>
    <p:sldLayoutId xmlns:r="http://schemas.openxmlformats.org/officeDocument/2006/relationships" id="2147483651" r:id="R1c453f0ef48649af"/>
    <p:sldLayoutId xmlns:r="http://schemas.openxmlformats.org/officeDocument/2006/relationships" id="2147483652" r:id="Rb5decd3a23d64528"/>
    <p:sldLayoutId xmlns:r="http://schemas.openxmlformats.org/officeDocument/2006/relationships" id="2147483653" r:id="R0292987b950c46b4"/>
    <p:sldLayoutId xmlns:r="http://schemas.openxmlformats.org/officeDocument/2006/relationships" id="2147483654" r:id="Ra6b4ef44a6ef48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f6a551bed0490b" /><Relationship Type="http://schemas.openxmlformats.org/officeDocument/2006/relationships/image" Target="/ppt/media/image.png" Id="R390d76f1c46f4997" /><Relationship Type="http://schemas.openxmlformats.org/officeDocument/2006/relationships/notesSlide" Target="/ppt/notesSlides/notesSlide1.xml" Id="Rc176a89e7fa743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305a17af004a44" /><Relationship Type="http://schemas.openxmlformats.org/officeDocument/2006/relationships/notesSlide" Target="/ppt/notesSlides/notesSlide2.xml" Id="R00f6201bf38a4a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7b9f12efa14fd4" /><Relationship Type="http://schemas.openxmlformats.org/officeDocument/2006/relationships/image" Target="/ppt/media/image2.png" Id="R0ce0e20ee9d14055" /><Relationship Type="http://schemas.openxmlformats.org/officeDocument/2006/relationships/notesSlide" Target="/ppt/notesSlides/notesSlide3.xml" Id="R008758e6c6014d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9a28ccdfb6466b" /><Relationship Type="http://schemas.openxmlformats.org/officeDocument/2006/relationships/notesSlide" Target="/ppt/notesSlides/notesSlide4.xml" Id="R86893576c54b47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482342433d4894" /><Relationship Type="http://schemas.openxmlformats.org/officeDocument/2006/relationships/image" Target="/ppt/media/image3.png" Id="R3e10d898e6b64f0d" /><Relationship Type="http://schemas.openxmlformats.org/officeDocument/2006/relationships/image" Target="/ppt/media/image4.png" Id="R59652df84f5b4ea5" /><Relationship Type="http://schemas.openxmlformats.org/officeDocument/2006/relationships/image" Target="/ppt/media/image5.png" Id="Re525ba0e459c40b9" /><Relationship Type="http://schemas.openxmlformats.org/officeDocument/2006/relationships/notesSlide" Target="/ppt/notesSlides/notesSlide5.xml" Id="R452ac028663c40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9a24befe3a4969" /><Relationship Type="http://schemas.openxmlformats.org/officeDocument/2006/relationships/notesSlide" Target="/ppt/notesSlides/notesSlide6.xml" Id="R53dc06d2425b4a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b91fce546c4ce3" /><Relationship Type="http://schemas.openxmlformats.org/officeDocument/2006/relationships/notesSlide" Target="/ppt/notesSlides/notesSlide7.xml" Id="R8449c188628248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54165c2ebd49ab" /><Relationship Type="http://schemas.openxmlformats.org/officeDocument/2006/relationships/notesSlide" Target="/ppt/notesSlides/notesSlide8.xml" Id="Re3b01a51a7f643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0bd0e661a194527" /><Relationship Type="http://schemas.openxmlformats.org/officeDocument/2006/relationships/notesSlide" Target="/ppt/notesSlides/notesSlide9.xml" Id="Ra0dd2deadb014a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88fc4e5eaac43e5" /><Relationship Type="http://schemas.openxmlformats.org/officeDocument/2006/relationships/notesSlide" Target="/ppt/notesSlides/notesSlide10.xml" Id="R3d3591ba891549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560127d68a840d1" /><Relationship Type="http://schemas.openxmlformats.org/officeDocument/2006/relationships/notesSlide" Target="/ppt/notesSlides/notesSlide11.xml" Id="R43a4e1d86b8046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4df4774be24918" /><Relationship Type="http://schemas.openxmlformats.org/officeDocument/2006/relationships/notesSlide" Target="/ppt/notesSlides/notesSlide12.xml" Id="Rba5e5e672ec344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cf8e3a707e482d" /><Relationship Type="http://schemas.openxmlformats.org/officeDocument/2006/relationships/image" Target="/ppt/media/image6.png" Id="R92266354d3ae4fce" /><Relationship Type="http://schemas.openxmlformats.org/officeDocument/2006/relationships/notesSlide" Target="/ppt/notesSlides/notesSlide13.xml" Id="R4b7e945beb244d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f4cadffdefc448c" /><Relationship Type="http://schemas.openxmlformats.org/officeDocument/2006/relationships/notesSlide" Target="/ppt/notesSlides/notesSlide14.xml" Id="R4c37892eeec54d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981708f3cf44b35" /><Relationship Type="http://schemas.openxmlformats.org/officeDocument/2006/relationships/notesSlide" Target="/ppt/notesSlides/notesSlide15.xml" Id="R023ef0c44cfa45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223cd93863d417d" /><Relationship Type="http://schemas.openxmlformats.org/officeDocument/2006/relationships/image" Target="/ppt/media/image7.png" Id="R02453b04eb5548a8" /><Relationship Type="http://schemas.openxmlformats.org/officeDocument/2006/relationships/notesSlide" Target="/ppt/notesSlides/notesSlide16.xml" Id="Rc939a864c7d44e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e4a68b31c4d47d4" /><Relationship Type="http://schemas.openxmlformats.org/officeDocument/2006/relationships/notesSlide" Target="/ppt/notesSlides/notesSlide17.xml" Id="R02a6c0b058834b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683909cd0434078" /><Relationship Type="http://schemas.openxmlformats.org/officeDocument/2006/relationships/notesSlide" Target="/ppt/notesSlides/notesSlide18.xml" Id="R2f0942c71b9649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55e2cc421114d1b" /><Relationship Type="http://schemas.openxmlformats.org/officeDocument/2006/relationships/notesSlide" Target="/ppt/notesSlides/notesSlide19.xml" Id="R904c0732c74342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a1d9ababf9c4238" /><Relationship Type="http://schemas.openxmlformats.org/officeDocument/2006/relationships/image" Target="/ppt/media/image8.png" Id="R8f52d808fd974a92" /><Relationship Type="http://schemas.openxmlformats.org/officeDocument/2006/relationships/notesSlide" Target="/ppt/notesSlides/notesSlide20.xml" Id="R7c1752a1e94049d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a03c76cd3254066" /><Relationship Type="http://schemas.openxmlformats.org/officeDocument/2006/relationships/notesSlide" Target="/ppt/notesSlides/notesSlide21.xml" Id="Rd06fc3cd188143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e37d5ed212b482a" /><Relationship Type="http://schemas.openxmlformats.org/officeDocument/2006/relationships/notesSlide" Target="/ppt/notesSlides/notesSlide22.xml" Id="Rf92913096af3434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96a47d8d3fa41df" /><Relationship Type="http://schemas.openxmlformats.org/officeDocument/2006/relationships/notesSlide" Target="/ppt/notesSlides/notesSlide23.xml" Id="Ra144a4d1043b41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1ad5533f9764b07" /><Relationship Type="http://schemas.openxmlformats.org/officeDocument/2006/relationships/notesSlide" Target="/ppt/notesSlides/notesSlide24.xml" Id="R3d3e125847b240a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031d4f7ea264e54" /><Relationship Type="http://schemas.openxmlformats.org/officeDocument/2006/relationships/notesSlide" Target="/ppt/notesSlides/notesSlide25.xml" Id="R0e68650f9e304c4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c6abbd4501d4f32" /><Relationship Type="http://schemas.openxmlformats.org/officeDocument/2006/relationships/notesSlide" Target="/ppt/notesSlides/notesSlide26.xml" Id="Rf878155f01224f6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7914b84234e4277" /><Relationship Type="http://schemas.openxmlformats.org/officeDocument/2006/relationships/image" Target="/ppt/media/image9.png" Id="R85d077d7cf144ad1" /><Relationship Type="http://schemas.openxmlformats.org/officeDocument/2006/relationships/image" Target="/ppt/media/image10.png" Id="R33cb83d306b44c43" /><Relationship Type="http://schemas.openxmlformats.org/officeDocument/2006/relationships/image" Target="/ppt/media/image11.png" Id="Rdad8ebf9b7584c93" /><Relationship Type="http://schemas.openxmlformats.org/officeDocument/2006/relationships/notesSlide" Target="/ppt/notesSlides/notesSlide27.xml" Id="R02256029d1d8432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31f8b4550c24e27" /><Relationship Type="http://schemas.openxmlformats.org/officeDocument/2006/relationships/notesSlide" Target="/ppt/notesSlides/notesSlide28.xml" Id="R84665f99576845a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86df96b59444cec" /><Relationship Type="http://schemas.openxmlformats.org/officeDocument/2006/relationships/notesSlide" Target="/ppt/notesSlides/notesSlide29.xml" Id="R069d08898c63415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f2c427e79dc4347" /><Relationship Type="http://schemas.openxmlformats.org/officeDocument/2006/relationships/notesSlide" Target="/ppt/notesSlides/notesSlide30.xml" Id="R7c55b1896f8341be" /></Relationships>
</file>

<file path=ppt/slides/slide1.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B9DA71-6A9A-4AB0-9682-8372E4589425}"/>
              </a:ext>
            </a:extLst>
          </p:cNvPr>
          <p:cNvSpPr>
            <a:spLocks xmlns:a="http://schemas.openxmlformats.org/drawingml/2006/main" noGrp="1"/>
          </p:cNvSpPr>
          <p:nvPr/>
        </p:nvSpPr>
        <p:spPr>
          <a:xfrm xmlns:a="http://schemas.openxmlformats.org/drawingml/2006/main">
            <a:off x="1219200" y="8060234"/>
            <a:ext cx="10096500" cy="9525"/>
          </a:xfrm>
          <a:prstGeom xmlns:a="http://schemas.openxmlformats.org/drawingml/2006/main" prst="rect">
            <a:avLst/>
          </a:prstGeom>
          <a:solidFill xmlns:a="http://schemas.openxmlformats.org/drawingml/2006/main">
            <a:srgbClr val="D3DAE1"/>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47BC35F-6AED-4BE4-A2EA-A45819A71C7B}"/>
              </a:ext>
            </a:extLst>
          </p:cNvPr>
          <p:cNvPicPr>
            <a:picLocks xmlns:a="http://schemas.openxmlformats.org/drawingml/2006/main" noChangeAspect="1"/>
          </p:cNvPicPr>
          <p:nvPr/>
        </p:nvPicPr>
        <p:blipFill>
          <a:blip xmlns:r="http://schemas.openxmlformats.org/officeDocument/2006/relationships" xmlns:a="http://schemas.openxmlformats.org/drawingml/2006/main" r:embed="R390d76f1c46f4997"/>
          <a:stretch xmlns:a="http://schemas.openxmlformats.org/drawingml/2006/main"/>
        </p:blipFill>
        <p:spPr>
          <a:xfrm xmlns:a="http://schemas.openxmlformats.org/drawingml/2006/main">
            <a:off x="11525250" y="1762125"/>
            <a:ext cx="5810250" cy="5524500"/>
          </a:xfrm>
          <a:prstGeom xmlns:a="http://schemas.openxmlformats.org/drawingml/2006/main" prst="rect">
            <a:avLst/>
          </a:prstGeom>
        </p:spPr>
      </p:pic>
      <p:sp>
        <p:nvSpPr>
          <p:cNvPr id="3" name="text-cover">
            <a:extLst xmlns:a="http://schemas.openxmlformats.org/drawingml/2006/main">
              <a:ext uri="{FF2B5EF4-FFF2-40B4-BE49-F238E27FC236}">
                <a16:creationId xmlns:a16="http://schemas.microsoft.com/office/drawing/2014/main" id="{80F9A624-F2B8-4E8D-9370-9597D83E512E}"/>
              </a:ext>
            </a:extLst>
          </p:cNvPr>
          <p:cNvSpPr>
            <a:spLocks xmlns:a="http://schemas.openxmlformats.org/drawingml/2006/main" noGrp="1"/>
          </p:cNvSpPr>
          <p:nvPr/>
        </p:nvSpPr>
        <p:spPr>
          <a:xfrm xmlns:a="http://schemas.openxmlformats.org/drawingml/2006/main">
            <a:off x="1219200" y="1219200"/>
            <a:ext cx="5341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ПРИМЕЊЕНО СОФТВЕРСКО ИНЖЕЊЕРСТВО</a:t>
            </a:r>
          </a:p>
        </p:txBody>
      </p:sp>
      <p:sp>
        <p:nvSpPr>
          <p:cNvPr id="4" name="text-cover">
            <a:extLst xmlns:a="http://schemas.openxmlformats.org/drawingml/2006/main">
              <a:ext uri="{FF2B5EF4-FFF2-40B4-BE49-F238E27FC236}">
                <a16:creationId xmlns:a16="http://schemas.microsoft.com/office/drawing/2014/main" id="{D61CFB7A-6CFA-4474-901A-213A20BFDB23}"/>
              </a:ext>
            </a:extLst>
          </p:cNvPr>
          <p:cNvSpPr>
            <a:spLocks xmlns:a="http://schemas.openxmlformats.org/drawingml/2006/main" noGrp="1"/>
          </p:cNvSpPr>
          <p:nvPr/>
        </p:nvSpPr>
        <p:spPr>
          <a:xfrm xmlns:a="http://schemas.openxmlformats.org/drawingml/2006/main">
            <a:off x="1219200" y="1539180"/>
            <a:ext cx="518547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ОСНОВЕ ИНФОРМАЦИОНЕ БЕЗБЕДНОСТИ</a:t>
            </a:r>
          </a:p>
        </p:txBody>
      </p:sp>
      <p:sp>
        <p:nvSpPr>
          <p:cNvPr id="5" name="heading-cover">
            <a:extLst xmlns:a="http://schemas.openxmlformats.org/drawingml/2006/main">
              <a:ext uri="{FF2B5EF4-FFF2-40B4-BE49-F238E27FC236}">
                <a16:creationId xmlns:a16="http://schemas.microsoft.com/office/drawing/2014/main" id="{775302E2-F497-40C0-9C9B-9E11DE7EFD67}"/>
              </a:ext>
            </a:extLst>
          </p:cNvPr>
          <p:cNvSpPr>
            <a:spLocks xmlns:a="http://schemas.openxmlformats.org/drawingml/2006/main" noGrp="1"/>
          </p:cNvSpPr>
          <p:nvPr/>
        </p:nvSpPr>
        <p:spPr>
          <a:xfrm xmlns:a="http://schemas.openxmlformats.org/drawingml/2006/main">
            <a:off x="1219200" y="2011561"/>
            <a:ext cx="9474696"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8323"/>
          </a:bodyPr>
          <a:lstStyle xmlns:a="http://schemas.openxmlformats.org/drawingml/2006/main">
            <a:defPPr algn="l">
              <a:defRPr sz="6900">
                <a:latin typeface="IBM Plex Sans"/>
                <a:ea typeface="IBM Plex Sans"/>
                <a:cs typeface="IBM Plex Sans"/>
              </a:defRPr>
            </a:defPPr>
          </a:lstStyle>
          <a:p xmlns:a="http://schemas.openxmlformats.org/drawingml/2006/main">
            <a:pPr algn="l">
              <a:defRPr sz="6900">
                <a:latin typeface="IBM Plex Sans"/>
                <a:ea typeface="IBM Plex Sans"/>
                <a:cs typeface="IBM Plex Sans"/>
              </a:defRPr>
            </a:pPr>
            <a:r>
              <a:rPr sz="6900" b="1">
                <a:solidFill>
                  <a:srgbClr val="13202D"/>
                </a:solidFill>
                <a:latin typeface="IBM Plex Sans"/>
                <a:ea typeface="IBM Plex Sans"/>
                <a:cs typeface="IBM Plex Sans"/>
              </a:rPr>
              <a:t>MFA, сесије, сервиси и </a:t>
            </a:r>
          </a:p>
        </p:txBody>
      </p:sp>
      <p:sp>
        <p:nvSpPr>
          <p:cNvPr id="6" name="heading-cover">
            <a:extLst xmlns:a="http://schemas.openxmlformats.org/drawingml/2006/main">
              <a:ext uri="{FF2B5EF4-FFF2-40B4-BE49-F238E27FC236}">
                <a16:creationId xmlns:a16="http://schemas.microsoft.com/office/drawing/2014/main" id="{D4A23416-6AE1-4A11-AE24-C7B6887606D4}"/>
              </a:ext>
            </a:extLst>
          </p:cNvPr>
          <p:cNvSpPr>
            <a:spLocks xmlns:a="http://schemas.openxmlformats.org/drawingml/2006/main" noGrp="1"/>
          </p:cNvSpPr>
          <p:nvPr/>
        </p:nvSpPr>
        <p:spPr>
          <a:xfrm xmlns:a="http://schemas.openxmlformats.org/drawingml/2006/main">
            <a:off x="1219200" y="2931616"/>
            <a:ext cx="241741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6900">
                <a:latin typeface="IBM Plex Sans"/>
                <a:ea typeface="IBM Plex Sans"/>
                <a:cs typeface="IBM Plex Sans"/>
              </a:defRPr>
            </a:defPPr>
          </a:lstStyle>
          <a:p xmlns:a="http://schemas.openxmlformats.org/drawingml/2006/main">
            <a:pPr algn="l">
              <a:defRPr sz="6900">
                <a:latin typeface="IBM Plex Sans"/>
                <a:ea typeface="IBM Plex Sans"/>
                <a:cs typeface="IBM Plex Sans"/>
              </a:defRPr>
            </a:pPr>
            <a:r>
              <a:rPr sz="6900" b="1">
                <a:solidFill>
                  <a:srgbClr val="13202D"/>
                </a:solidFill>
                <a:latin typeface="IBM Plex Sans"/>
                <a:ea typeface="IBM Plex Sans"/>
                <a:cs typeface="IBM Plex Sans"/>
              </a:rPr>
              <a:t>тајне</a:t>
            </a:r>
          </a:p>
        </p:txBody>
      </p:sp>
      <p:sp>
        <p:nvSpPr>
          <p:cNvPr id="7" name="text-cover">
            <a:extLst xmlns:a="http://schemas.openxmlformats.org/drawingml/2006/main">
              <a:ext uri="{FF2B5EF4-FFF2-40B4-BE49-F238E27FC236}">
                <a16:creationId xmlns:a16="http://schemas.microsoft.com/office/drawing/2014/main" id="{7B40675F-C581-47E1-87EF-B16D0AB24801}"/>
              </a:ext>
            </a:extLst>
          </p:cNvPr>
          <p:cNvSpPr>
            <a:spLocks xmlns:a="http://schemas.openxmlformats.org/drawingml/2006/main" noGrp="1"/>
          </p:cNvSpPr>
          <p:nvPr/>
        </p:nvSpPr>
        <p:spPr>
          <a:xfrm xmlns:a="http://schemas.openxmlformats.org/drawingml/2006/main">
            <a:off x="1219200" y="4242197"/>
            <a:ext cx="848484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0">
                <a:solidFill>
                  <a:srgbClr val="44505D"/>
                </a:solidFill>
                <a:latin typeface="IBM Plex Sans"/>
                <a:ea typeface="IBM Plex Sans"/>
                <a:cs typeface="IBM Plex Sans"/>
              </a:rPr>
              <a:t>Вишефакторска аутентикација, животни циклус сесије и </a:t>
            </a:r>
          </a:p>
        </p:txBody>
      </p:sp>
      <p:sp>
        <p:nvSpPr>
          <p:cNvPr id="8" name="text-cover">
            <a:extLst xmlns:a="http://schemas.openxmlformats.org/drawingml/2006/main">
              <a:ext uri="{FF2B5EF4-FFF2-40B4-BE49-F238E27FC236}">
                <a16:creationId xmlns:a16="http://schemas.microsoft.com/office/drawing/2014/main" id="{5854A631-A3CD-4FB2-8F4F-378F759B2CA6}"/>
              </a:ext>
            </a:extLst>
          </p:cNvPr>
          <p:cNvSpPr>
            <a:spLocks xmlns:a="http://schemas.openxmlformats.org/drawingml/2006/main" noGrp="1"/>
          </p:cNvSpPr>
          <p:nvPr/>
        </p:nvSpPr>
        <p:spPr>
          <a:xfrm xmlns:a="http://schemas.openxmlformats.org/drawingml/2006/main">
            <a:off x="1219200" y="4668887"/>
            <a:ext cx="317450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0">
                <a:solidFill>
                  <a:srgbClr val="44505D"/>
                </a:solidFill>
                <a:latin typeface="IBM Plex Sans"/>
                <a:ea typeface="IBM Plex Sans"/>
                <a:cs typeface="IBM Plex Sans"/>
              </a:rPr>
              <a:t>управљање тајнама</a:t>
            </a:r>
          </a:p>
        </p:txBody>
      </p:sp>
      <p:sp>
        <p:nvSpPr>
          <p:cNvPr id="9" name="text-cover">
            <a:extLst xmlns:a="http://schemas.openxmlformats.org/drawingml/2006/main">
              <a:ext uri="{FF2B5EF4-FFF2-40B4-BE49-F238E27FC236}">
                <a16:creationId xmlns:a16="http://schemas.microsoft.com/office/drawing/2014/main" id="{C6852C0F-7EF1-44CF-8B51-BE3822C19CF5}"/>
              </a:ext>
            </a:extLst>
          </p:cNvPr>
          <p:cNvSpPr>
            <a:spLocks xmlns:a="http://schemas.openxmlformats.org/drawingml/2006/main" noGrp="1"/>
          </p:cNvSpPr>
          <p:nvPr/>
        </p:nvSpPr>
        <p:spPr>
          <a:xfrm xmlns:a="http://schemas.openxmlformats.org/drawingml/2006/main">
            <a:off x="1219200" y="8307884"/>
            <a:ext cx="746179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Факултет техничких наука · Универзитет у Новом Саду</a:t>
            </a:r>
          </a:p>
        </p:txBody>
      </p:sp>
      <p:sp>
        <p:nvSpPr>
          <p:cNvPr id="10" name="text-cover">
            <a:extLst xmlns:a="http://schemas.openxmlformats.org/drawingml/2006/main">
              <a:ext uri="{FF2B5EF4-FFF2-40B4-BE49-F238E27FC236}">
                <a16:creationId xmlns:a16="http://schemas.microsoft.com/office/drawing/2014/main" id="{89B81759-5F95-490E-B00D-CC61E315B079}"/>
              </a:ext>
            </a:extLst>
          </p:cNvPr>
          <p:cNvSpPr>
            <a:spLocks xmlns:a="http://schemas.openxmlformats.org/drawingml/2006/main" noGrp="1"/>
          </p:cNvSpPr>
          <p:nvPr/>
        </p:nvSpPr>
        <p:spPr>
          <a:xfrm xmlns:a="http://schemas.openxmlformats.org/drawingml/2006/main">
            <a:off x="1219200" y="8747820"/>
            <a:ext cx="13543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Нови Сад</a:t>
            </a:r>
          </a:p>
        </p:txBody>
      </p:sp>
    </p:spTree>
    <p:extLst>
      <p:ext uri="{BB962C8B-B14F-4D97-AF65-F5344CB8AC3E}">
        <p14:creationId xmlns:p14="http://schemas.microsoft.com/office/powerpoint/2010/main" val="539532456"/>
      </p:ext>
    </p:extLst>
  </p:cSld>
</p:sld>
</file>

<file path=ppt/slides/slide2.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0FB0BFE-45C2-46B7-932D-B63506B8C8E5}"/>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F3FF26-7F05-46D6-AA0D-C03B32CE5BE9}"/>
              </a:ext>
            </a:extLst>
          </p:cNvPr>
          <p:cNvSpPr>
            <a:spLocks xmlns:a="http://schemas.openxmlformats.org/drawingml/2006/main" noGrp="1"/>
          </p:cNvSpPr>
          <p:nvPr/>
        </p:nvSpPr>
        <p:spPr>
          <a:xfrm xmlns:a="http://schemas.openxmlformats.org/drawingml/2006/main">
            <a:off x="1219200" y="2434530"/>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B17DB0A8-5CDA-4AA1-8345-BDE5BBA88868}"/>
              </a:ext>
            </a:extLst>
          </p:cNvPr>
          <p:cNvSpPr>
            <a:spLocks xmlns:a="http://schemas.openxmlformats.org/drawingml/2006/main" noGrp="1"/>
          </p:cNvSpPr>
          <p:nvPr/>
        </p:nvSpPr>
        <p:spPr>
          <a:xfrm xmlns:a="http://schemas.openxmlformats.org/drawingml/2006/main">
            <a:off x="5229225" y="2434530"/>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4" name="">
            <a:extLst xmlns:a="http://schemas.openxmlformats.org/drawingml/2006/main">
              <a:ext uri="{FF2B5EF4-FFF2-40B4-BE49-F238E27FC236}">
                <a16:creationId xmlns:a16="http://schemas.microsoft.com/office/drawing/2014/main" id="{5A44A4DE-7BB9-4CB0-BE11-0AB102CE45B2}"/>
              </a:ext>
            </a:extLst>
          </p:cNvPr>
          <p:cNvSpPr>
            <a:spLocks xmlns:a="http://schemas.openxmlformats.org/drawingml/2006/main" noGrp="1"/>
          </p:cNvSpPr>
          <p:nvPr/>
        </p:nvSpPr>
        <p:spPr>
          <a:xfrm xmlns:a="http://schemas.openxmlformats.org/drawingml/2006/main">
            <a:off x="9239250" y="2434530"/>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5" name="">
            <a:extLst xmlns:a="http://schemas.openxmlformats.org/drawingml/2006/main">
              <a:ext uri="{FF2B5EF4-FFF2-40B4-BE49-F238E27FC236}">
                <a16:creationId xmlns:a16="http://schemas.microsoft.com/office/drawing/2014/main" id="{14B7EFCB-2601-40A6-AF88-455054EC4BF7}"/>
              </a:ext>
            </a:extLst>
          </p:cNvPr>
          <p:cNvSpPr>
            <a:spLocks xmlns:a="http://schemas.openxmlformats.org/drawingml/2006/main" noGrp="1"/>
          </p:cNvSpPr>
          <p:nvPr/>
        </p:nvSpPr>
        <p:spPr>
          <a:xfrm xmlns:a="http://schemas.openxmlformats.org/drawingml/2006/main">
            <a:off x="13249275" y="2434530"/>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6" name="">
            <a:extLst xmlns:a="http://schemas.openxmlformats.org/drawingml/2006/main">
              <a:ext uri="{FF2B5EF4-FFF2-40B4-BE49-F238E27FC236}">
                <a16:creationId xmlns:a16="http://schemas.microsoft.com/office/drawing/2014/main" id="{EC0CE626-DE03-498B-A85A-835454FB9678}"/>
              </a:ext>
            </a:extLst>
          </p:cNvPr>
          <p:cNvSpPr>
            <a:spLocks xmlns:a="http://schemas.openxmlformats.org/drawingml/2006/main" noGrp="1"/>
          </p:cNvSpPr>
          <p:nvPr/>
        </p:nvSpPr>
        <p:spPr>
          <a:xfrm xmlns:a="http://schemas.openxmlformats.org/drawingml/2006/main">
            <a:off x="1219200" y="5143202"/>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7" name="rounded-banner-accent">
            <a:extLst xmlns:a="http://schemas.openxmlformats.org/drawingml/2006/main">
              <a:ext uri="{FF2B5EF4-FFF2-40B4-BE49-F238E27FC236}">
                <a16:creationId xmlns:a16="http://schemas.microsoft.com/office/drawing/2014/main" id="{590C4B96-811F-428B-9475-9C13738265C4}"/>
              </a:ext>
            </a:extLst>
          </p:cNvPr>
          <p:cNvSpPr>
            <a:spLocks xmlns:a="http://schemas.openxmlformats.org/drawingml/2006/main" noGrp="1"/>
          </p:cNvSpPr>
          <p:nvPr/>
        </p:nvSpPr>
        <p:spPr>
          <a:xfrm xmlns:a="http://schemas.openxmlformats.org/drawingml/2006/main">
            <a:off x="1219200" y="5143202"/>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8568A0-70CE-4048-BAF3-9CCC5421684B}"/>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9" name="text-sadrzaj">
            <a:extLst xmlns:a="http://schemas.openxmlformats.org/drawingml/2006/main">
              <a:ext uri="{FF2B5EF4-FFF2-40B4-BE49-F238E27FC236}">
                <a16:creationId xmlns:a16="http://schemas.microsoft.com/office/drawing/2014/main" id="{E10B0971-7FD9-4B05-922F-24425EA58A67}"/>
              </a:ext>
            </a:extLst>
          </p:cNvPr>
          <p:cNvSpPr>
            <a:spLocks xmlns:a="http://schemas.openxmlformats.org/drawingml/2006/main" noGrp="1"/>
          </p:cNvSpPr>
          <p:nvPr/>
        </p:nvSpPr>
        <p:spPr>
          <a:xfrm xmlns:a="http://schemas.openxmlformats.org/drawingml/2006/main">
            <a:off x="1219200" y="1066800"/>
            <a:ext cx="143648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ПРЕГЛЕД</a:t>
            </a:r>
          </a:p>
        </p:txBody>
      </p:sp>
      <p:sp>
        <p:nvSpPr>
          <p:cNvPr id="10" name="heading-sadrzaj">
            <a:extLst xmlns:a="http://schemas.openxmlformats.org/drawingml/2006/main">
              <a:ext uri="{FF2B5EF4-FFF2-40B4-BE49-F238E27FC236}">
                <a16:creationId xmlns:a16="http://schemas.microsoft.com/office/drawing/2014/main" id="{9189CE59-91EC-4B3E-8EA4-BEA49A2A6C54}"/>
              </a:ext>
            </a:extLst>
          </p:cNvPr>
          <p:cNvSpPr>
            <a:spLocks xmlns:a="http://schemas.openxmlformats.org/drawingml/2006/main" noGrp="1"/>
          </p:cNvSpPr>
          <p:nvPr/>
        </p:nvSpPr>
        <p:spPr>
          <a:xfrm xmlns:a="http://schemas.openxmlformats.org/drawingml/2006/main">
            <a:off x="1219200" y="1443930"/>
            <a:ext cx="636463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Садржај презентације</a:t>
            </a:r>
          </a:p>
        </p:txBody>
      </p:sp>
      <p:sp>
        <p:nvSpPr>
          <p:cNvPr id="11" name="text-sadrzaj">
            <a:extLst xmlns:a="http://schemas.openxmlformats.org/drawingml/2006/main">
              <a:ext uri="{FF2B5EF4-FFF2-40B4-BE49-F238E27FC236}">
                <a16:creationId xmlns:a16="http://schemas.microsoft.com/office/drawing/2014/main" id="{11F71010-21BE-4940-B913-0EA96957D5A7}"/>
              </a:ext>
            </a:extLst>
          </p:cNvPr>
          <p:cNvSpPr>
            <a:spLocks xmlns:a="http://schemas.openxmlformats.org/drawingml/2006/main" noGrp="1"/>
          </p:cNvSpPr>
          <p:nvPr/>
        </p:nvSpPr>
        <p:spPr>
          <a:xfrm xmlns:a="http://schemas.openxmlformats.org/drawingml/2006/main">
            <a:off x="1495425" y="2729805"/>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2" name="text-sadrzaj">
            <a:extLst xmlns:a="http://schemas.openxmlformats.org/drawingml/2006/main">
              <a:ext uri="{FF2B5EF4-FFF2-40B4-BE49-F238E27FC236}">
                <a16:creationId xmlns:a16="http://schemas.microsoft.com/office/drawing/2014/main" id="{832B931A-626A-4406-A0F9-B9B92AB78016}"/>
              </a:ext>
            </a:extLst>
          </p:cNvPr>
          <p:cNvSpPr>
            <a:spLocks xmlns:a="http://schemas.openxmlformats.org/drawingml/2006/main" noGrp="1"/>
          </p:cNvSpPr>
          <p:nvPr/>
        </p:nvSpPr>
        <p:spPr>
          <a:xfrm xmlns:a="http://schemas.openxmlformats.org/drawingml/2006/main">
            <a:off x="1495425" y="3430786"/>
            <a:ext cx="252829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Идентитет и MFA</a:t>
            </a:r>
          </a:p>
        </p:txBody>
      </p:sp>
      <p:sp>
        <p:nvSpPr>
          <p:cNvPr id="13" name="text-sadrzaj">
            <a:extLst xmlns:a="http://schemas.openxmlformats.org/drawingml/2006/main">
              <a:ext uri="{FF2B5EF4-FFF2-40B4-BE49-F238E27FC236}">
                <a16:creationId xmlns:a16="http://schemas.microsoft.com/office/drawing/2014/main" id="{9A1032A3-0D63-4E2C-8312-2722F084C847}"/>
              </a:ext>
            </a:extLst>
          </p:cNvPr>
          <p:cNvSpPr>
            <a:spLocks xmlns:a="http://schemas.openxmlformats.org/drawingml/2006/main" noGrp="1"/>
          </p:cNvSpPr>
          <p:nvPr/>
        </p:nvSpPr>
        <p:spPr>
          <a:xfrm xmlns:a="http://schemas.openxmlformats.org/drawingml/2006/main">
            <a:off x="1495425" y="3922216"/>
            <a:ext cx="359315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Пријава, фактори и различите </a:t>
            </a:r>
          </a:p>
        </p:txBody>
      </p:sp>
      <p:sp>
        <p:nvSpPr>
          <p:cNvPr id="14" name="text-sadrzaj">
            <a:extLst xmlns:a="http://schemas.openxmlformats.org/drawingml/2006/main">
              <a:ext uri="{FF2B5EF4-FFF2-40B4-BE49-F238E27FC236}">
                <a16:creationId xmlns:a16="http://schemas.microsoft.com/office/drawing/2014/main" id="{8A69B79E-E454-4305-85DC-17515A64EB35}"/>
              </a:ext>
            </a:extLst>
          </p:cNvPr>
          <p:cNvSpPr>
            <a:spLocks xmlns:a="http://schemas.openxmlformats.org/drawingml/2006/main" noGrp="1"/>
          </p:cNvSpPr>
          <p:nvPr/>
        </p:nvSpPr>
        <p:spPr>
          <a:xfrm xmlns:a="http://schemas.openxmlformats.org/drawingml/2006/main">
            <a:off x="1495425" y="4242197"/>
            <a:ext cx="318328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врсте идентитета (04–08).</a:t>
            </a:r>
          </a:p>
        </p:txBody>
      </p:sp>
      <p:sp>
        <p:nvSpPr>
          <p:cNvPr id="15" name="text-sadrzaj">
            <a:extLst xmlns:a="http://schemas.openxmlformats.org/drawingml/2006/main">
              <a:ext uri="{FF2B5EF4-FFF2-40B4-BE49-F238E27FC236}">
                <a16:creationId xmlns:a16="http://schemas.microsoft.com/office/drawing/2014/main" id="{0C1CEF1C-F936-415B-801D-E060B4FCCE11}"/>
              </a:ext>
            </a:extLst>
          </p:cNvPr>
          <p:cNvSpPr>
            <a:spLocks xmlns:a="http://schemas.openxmlformats.org/drawingml/2006/main" noGrp="1"/>
          </p:cNvSpPr>
          <p:nvPr/>
        </p:nvSpPr>
        <p:spPr>
          <a:xfrm xmlns:a="http://schemas.openxmlformats.org/drawingml/2006/main">
            <a:off x="5505450" y="2729805"/>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6" name="text-sadrzaj">
            <a:extLst xmlns:a="http://schemas.openxmlformats.org/drawingml/2006/main">
              <a:ext uri="{FF2B5EF4-FFF2-40B4-BE49-F238E27FC236}">
                <a16:creationId xmlns:a16="http://schemas.microsoft.com/office/drawing/2014/main" id="{D7B1D0B7-C99B-4C1E-BC90-743D8FC0CFA7}"/>
              </a:ext>
            </a:extLst>
          </p:cNvPr>
          <p:cNvSpPr>
            <a:spLocks xmlns:a="http://schemas.openxmlformats.org/drawingml/2006/main" noGrp="1"/>
          </p:cNvSpPr>
          <p:nvPr/>
        </p:nvSpPr>
        <p:spPr>
          <a:xfrm xmlns:a="http://schemas.openxmlformats.org/drawingml/2006/main">
            <a:off x="5505450" y="3430786"/>
            <a:ext cx="243423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Сесија и step-up</a:t>
            </a:r>
          </a:p>
        </p:txBody>
      </p:sp>
      <p:sp>
        <p:nvSpPr>
          <p:cNvPr id="17" name="text-sadrzaj">
            <a:extLst xmlns:a="http://schemas.openxmlformats.org/drawingml/2006/main">
              <a:ext uri="{FF2B5EF4-FFF2-40B4-BE49-F238E27FC236}">
                <a16:creationId xmlns:a16="http://schemas.microsoft.com/office/drawing/2014/main" id="{21CAAD20-5238-4610-B279-0C5B50FE9A8A}"/>
              </a:ext>
            </a:extLst>
          </p:cNvPr>
          <p:cNvSpPr>
            <a:spLocks xmlns:a="http://schemas.openxmlformats.org/drawingml/2006/main" noGrp="1"/>
          </p:cNvSpPr>
          <p:nvPr/>
        </p:nvSpPr>
        <p:spPr>
          <a:xfrm xmlns:a="http://schemas.openxmlformats.org/drawingml/2006/main">
            <a:off x="5505450" y="3922216"/>
            <a:ext cx="327734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Важење, свежина потврде, </a:t>
            </a:r>
          </a:p>
        </p:txBody>
      </p:sp>
      <p:sp>
        <p:nvSpPr>
          <p:cNvPr id="18" name="text-sadrzaj">
            <a:extLst xmlns:a="http://schemas.openxmlformats.org/drawingml/2006/main">
              <a:ext uri="{FF2B5EF4-FFF2-40B4-BE49-F238E27FC236}">
                <a16:creationId xmlns:a16="http://schemas.microsoft.com/office/drawing/2014/main" id="{20ED1F44-DAE1-411D-95E4-9B871A9EAA48}"/>
              </a:ext>
            </a:extLst>
          </p:cNvPr>
          <p:cNvSpPr>
            <a:spLocks xmlns:a="http://schemas.openxmlformats.org/drawingml/2006/main" noGrp="1"/>
          </p:cNvSpPr>
          <p:nvPr/>
        </p:nvSpPr>
        <p:spPr>
          <a:xfrm xmlns:a="http://schemas.openxmlformats.org/drawingml/2006/main">
            <a:off x="5505450" y="4242197"/>
            <a:ext cx="290601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истек и опозив (09–16).</a:t>
            </a:r>
          </a:p>
        </p:txBody>
      </p:sp>
      <p:sp>
        <p:nvSpPr>
          <p:cNvPr id="19" name="text-sadrzaj">
            <a:extLst xmlns:a="http://schemas.openxmlformats.org/drawingml/2006/main">
              <a:ext uri="{FF2B5EF4-FFF2-40B4-BE49-F238E27FC236}">
                <a16:creationId xmlns:a16="http://schemas.microsoft.com/office/drawing/2014/main" id="{BC98EC21-3D2C-493C-9F70-2430855F0121}"/>
              </a:ext>
            </a:extLst>
          </p:cNvPr>
          <p:cNvSpPr>
            <a:spLocks xmlns:a="http://schemas.openxmlformats.org/drawingml/2006/main" noGrp="1"/>
          </p:cNvSpPr>
          <p:nvPr/>
        </p:nvSpPr>
        <p:spPr>
          <a:xfrm xmlns:a="http://schemas.openxmlformats.org/drawingml/2006/main">
            <a:off x="9515475" y="2729805"/>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0" name="text-sadrzaj">
            <a:extLst xmlns:a="http://schemas.openxmlformats.org/drawingml/2006/main">
              <a:ext uri="{FF2B5EF4-FFF2-40B4-BE49-F238E27FC236}">
                <a16:creationId xmlns:a16="http://schemas.microsoft.com/office/drawing/2014/main" id="{1818097D-810A-49C6-94B3-8CDB7D4B8F01}"/>
              </a:ext>
            </a:extLst>
          </p:cNvPr>
          <p:cNvSpPr>
            <a:spLocks xmlns:a="http://schemas.openxmlformats.org/drawingml/2006/main" noGrp="1"/>
          </p:cNvSpPr>
          <p:nvPr/>
        </p:nvSpPr>
        <p:spPr>
          <a:xfrm xmlns:a="http://schemas.openxmlformats.org/drawingml/2006/main">
            <a:off x="9515475" y="3430786"/>
            <a:ext cx="238050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Сервиси и тајне</a:t>
            </a:r>
          </a:p>
        </p:txBody>
      </p:sp>
      <p:sp>
        <p:nvSpPr>
          <p:cNvPr id="21" name="text-sadrzaj">
            <a:extLst xmlns:a="http://schemas.openxmlformats.org/drawingml/2006/main">
              <a:ext uri="{FF2B5EF4-FFF2-40B4-BE49-F238E27FC236}">
                <a16:creationId xmlns:a16="http://schemas.microsoft.com/office/drawing/2014/main" id="{032DF125-9CC7-4408-AF56-97F54D506D47}"/>
              </a:ext>
            </a:extLst>
          </p:cNvPr>
          <p:cNvSpPr>
            <a:spLocks xmlns:a="http://schemas.openxmlformats.org/drawingml/2006/main" noGrp="1"/>
          </p:cNvSpPr>
          <p:nvPr/>
        </p:nvSpPr>
        <p:spPr>
          <a:xfrm xmlns:a="http://schemas.openxmlformats.org/drawingml/2006/main">
            <a:off x="9515475" y="3922216"/>
            <a:ext cx="320620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Власник, опсег, ротација и </a:t>
            </a:r>
          </a:p>
        </p:txBody>
      </p:sp>
      <p:sp>
        <p:nvSpPr>
          <p:cNvPr id="22" name="text-sadrzaj">
            <a:extLst xmlns:a="http://schemas.openxmlformats.org/drawingml/2006/main">
              <a:ext uri="{FF2B5EF4-FFF2-40B4-BE49-F238E27FC236}">
                <a16:creationId xmlns:a16="http://schemas.microsoft.com/office/drawing/2014/main" id="{D3008B06-CBFF-4971-8A46-E68E0DE1082E}"/>
              </a:ext>
            </a:extLst>
          </p:cNvPr>
          <p:cNvSpPr>
            <a:spLocks xmlns:a="http://schemas.openxmlformats.org/drawingml/2006/main" noGrp="1"/>
          </p:cNvSpPr>
          <p:nvPr/>
        </p:nvSpPr>
        <p:spPr>
          <a:xfrm xmlns:a="http://schemas.openxmlformats.org/drawingml/2006/main">
            <a:off x="9515475" y="4242197"/>
            <a:ext cx="263247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архитектура (17–21).</a:t>
            </a:r>
          </a:p>
        </p:txBody>
      </p:sp>
      <p:sp>
        <p:nvSpPr>
          <p:cNvPr id="23" name="text-sadrzaj">
            <a:extLst xmlns:a="http://schemas.openxmlformats.org/drawingml/2006/main">
              <a:ext uri="{FF2B5EF4-FFF2-40B4-BE49-F238E27FC236}">
                <a16:creationId xmlns:a16="http://schemas.microsoft.com/office/drawing/2014/main" id="{2F29C998-E897-46DB-ADEC-53CA09057952}"/>
              </a:ext>
            </a:extLst>
          </p:cNvPr>
          <p:cNvSpPr>
            <a:spLocks xmlns:a="http://schemas.openxmlformats.org/drawingml/2006/main" noGrp="1"/>
          </p:cNvSpPr>
          <p:nvPr/>
        </p:nvSpPr>
        <p:spPr>
          <a:xfrm xmlns:a="http://schemas.openxmlformats.org/drawingml/2006/main">
            <a:off x="13525500" y="2729805"/>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04</a:t>
            </a:r>
          </a:p>
        </p:txBody>
      </p:sp>
      <p:sp>
        <p:nvSpPr>
          <p:cNvPr id="24" name="text-sadrzaj">
            <a:extLst xmlns:a="http://schemas.openxmlformats.org/drawingml/2006/main">
              <a:ext uri="{FF2B5EF4-FFF2-40B4-BE49-F238E27FC236}">
                <a16:creationId xmlns:a16="http://schemas.microsoft.com/office/drawing/2014/main" id="{4C9305F5-59EB-46F4-B897-EF5AE7E2A622}"/>
              </a:ext>
            </a:extLst>
          </p:cNvPr>
          <p:cNvSpPr>
            <a:spLocks xmlns:a="http://schemas.openxmlformats.org/drawingml/2006/main" noGrp="1"/>
          </p:cNvSpPr>
          <p:nvPr/>
        </p:nvSpPr>
        <p:spPr>
          <a:xfrm xmlns:a="http://schemas.openxmlformats.org/drawingml/2006/main">
            <a:off x="13525500" y="3430786"/>
            <a:ext cx="249822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Провера и доказ</a:t>
            </a:r>
          </a:p>
        </p:txBody>
      </p:sp>
      <p:sp>
        <p:nvSpPr>
          <p:cNvPr id="25" name="text-sadrzaj">
            <a:extLst xmlns:a="http://schemas.openxmlformats.org/drawingml/2006/main">
              <a:ext uri="{FF2B5EF4-FFF2-40B4-BE49-F238E27FC236}">
                <a16:creationId xmlns:a16="http://schemas.microsoft.com/office/drawing/2014/main" id="{2D2EF4A7-530A-4B53-BC50-58BC8AFD9666}"/>
              </a:ext>
            </a:extLst>
          </p:cNvPr>
          <p:cNvSpPr>
            <a:spLocks xmlns:a="http://schemas.openxmlformats.org/drawingml/2006/main" noGrp="1"/>
          </p:cNvSpPr>
          <p:nvPr/>
        </p:nvSpPr>
        <p:spPr>
          <a:xfrm xmlns:a="http://schemas.openxmlformats.org/drawingml/2006/main">
            <a:off x="13525500" y="3922216"/>
            <a:ext cx="354687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Код, тест, запис и примена на </a:t>
            </a:r>
          </a:p>
        </p:txBody>
      </p:sp>
      <p:sp>
        <p:nvSpPr>
          <p:cNvPr id="26" name="text-sadrzaj">
            <a:extLst xmlns:a="http://schemas.openxmlformats.org/drawingml/2006/main">
              <a:ext uri="{FF2B5EF4-FFF2-40B4-BE49-F238E27FC236}">
                <a16:creationId xmlns:a16="http://schemas.microsoft.com/office/drawing/2014/main" id="{ED11A68C-00FD-4BA9-BD4B-1A4B02DD188D}"/>
              </a:ext>
            </a:extLst>
          </p:cNvPr>
          <p:cNvSpPr>
            <a:spLocks xmlns:a="http://schemas.openxmlformats.org/drawingml/2006/main" noGrp="1"/>
          </p:cNvSpPr>
          <p:nvPr/>
        </p:nvSpPr>
        <p:spPr>
          <a:xfrm xmlns:a="http://schemas.openxmlformats.org/drawingml/2006/main">
            <a:off x="13525500" y="4242197"/>
            <a:ext cx="2218581"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пројекат (22–30).</a:t>
            </a:r>
          </a:p>
        </p:txBody>
      </p:sp>
      <p:sp>
        <p:nvSpPr>
          <p:cNvPr id="27" name="text-sadrzaj">
            <a:extLst xmlns:a="http://schemas.openxmlformats.org/drawingml/2006/main">
              <a:ext uri="{FF2B5EF4-FFF2-40B4-BE49-F238E27FC236}">
                <a16:creationId xmlns:a16="http://schemas.microsoft.com/office/drawing/2014/main" id="{21456C2A-AE48-4BB6-A2E2-C207212CCB26}"/>
              </a:ext>
            </a:extLst>
          </p:cNvPr>
          <p:cNvSpPr>
            <a:spLocks xmlns:a="http://schemas.openxmlformats.org/drawingml/2006/main" noGrp="1"/>
          </p:cNvSpPr>
          <p:nvPr/>
        </p:nvSpPr>
        <p:spPr>
          <a:xfrm xmlns:a="http://schemas.openxmlformats.org/drawingml/2006/main">
            <a:off x="1504950" y="5333702"/>
            <a:ext cx="8916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Увод</a:t>
            </a:r>
          </a:p>
        </p:txBody>
      </p:sp>
      <p:sp>
        <p:nvSpPr>
          <p:cNvPr id="28" name="text-sadrzaj">
            <a:extLst xmlns:a="http://schemas.openxmlformats.org/drawingml/2006/main">
              <a:ext uri="{FF2B5EF4-FFF2-40B4-BE49-F238E27FC236}">
                <a16:creationId xmlns:a16="http://schemas.microsoft.com/office/drawing/2014/main" id="{BD997BC1-9EC2-4F78-8C24-FB3A2CF14212}"/>
              </a:ext>
            </a:extLst>
          </p:cNvPr>
          <p:cNvSpPr>
            <a:spLocks xmlns:a="http://schemas.openxmlformats.org/drawingml/2006/main" noGrp="1"/>
          </p:cNvSpPr>
          <p:nvPr/>
        </p:nvSpPr>
        <p:spPr>
          <a:xfrm xmlns:a="http://schemas.openxmlformats.org/drawingml/2006/main">
            <a:off x="1504950" y="5739408"/>
            <a:ext cx="601920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Зашто се приступ прати и после пријаве (03).</a:t>
            </a:r>
          </a:p>
        </p:txBody>
      </p:sp>
      <p:sp>
        <p:nvSpPr>
          <p:cNvPr id="29" name="text-sadrzaj">
            <a:extLst xmlns:a="http://schemas.openxmlformats.org/drawingml/2006/main">
              <a:ext uri="{FF2B5EF4-FFF2-40B4-BE49-F238E27FC236}">
                <a16:creationId xmlns:a16="http://schemas.microsoft.com/office/drawing/2014/main" id="{EE5670F1-AA2C-4D4B-A429-BE666E3255CF}"/>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30" name="text-sadrzaj">
            <a:extLst xmlns:a="http://schemas.openxmlformats.org/drawingml/2006/main">
              <a:ext uri="{FF2B5EF4-FFF2-40B4-BE49-F238E27FC236}">
                <a16:creationId xmlns:a16="http://schemas.microsoft.com/office/drawing/2014/main" id="{0CC1814B-9579-4337-8E5C-7AEE2D1A8C1B}"/>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02</a:t>
            </a:r>
          </a:p>
        </p:txBody>
      </p:sp>
    </p:spTree>
    <p:extLst>
      <p:ext uri="{BB962C8B-B14F-4D97-AF65-F5344CB8AC3E}">
        <p14:creationId xmlns:p14="http://schemas.microsoft.com/office/powerpoint/2010/main" val="433636591"/>
      </p:ext>
    </p:extLst>
  </p:cSld>
</p:sld>
</file>

<file path=ppt/slides/slide3.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F895EFB-FD5F-4CE6-B0A2-EF9E25F2007E}"/>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156C95-E57C-4530-8F8C-9EFF9FF32C4E}"/>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8C421F1-23FE-4588-A7D0-15FAD30BD21B}"/>
              </a:ext>
            </a:extLst>
          </p:cNvPr>
          <p:cNvPicPr>
            <a:picLocks xmlns:a="http://schemas.openxmlformats.org/drawingml/2006/main" noChangeAspect="1"/>
          </p:cNvPicPr>
          <p:nvPr/>
        </p:nvPicPr>
        <p:blipFill>
          <a:blip xmlns:r="http://schemas.openxmlformats.org/officeDocument/2006/relationships" xmlns:a="http://schemas.openxmlformats.org/drawingml/2006/main" r:embed="R0ce0e20ee9d14055"/>
          <a:stretch xmlns:a="http://schemas.openxmlformats.org/drawingml/2006/main"/>
        </p:blipFill>
        <p:spPr>
          <a:xfrm xmlns:a="http://schemas.openxmlformats.org/drawingml/2006/main">
            <a:off x="1223953" y="3112591"/>
            <a:ext cx="4562495" cy="4572000"/>
          </a:xfrm>
          <a:prstGeom xmlns:a="http://schemas.openxmlformats.org/drawingml/2006/main" prst="rect">
            <a:avLst/>
          </a:prstGeom>
        </p:spPr>
      </p:pic>
      <p:sp>
        <p:nvSpPr>
          <p:cNvPr id="4" name="text-source-02">
            <a:extLst xmlns:a="http://schemas.openxmlformats.org/drawingml/2006/main">
              <a:ext uri="{FF2B5EF4-FFF2-40B4-BE49-F238E27FC236}">
                <a16:creationId xmlns:a16="http://schemas.microsoft.com/office/drawing/2014/main" id="{F7F4A391-9933-4C61-A592-4373EC194083}"/>
              </a:ext>
            </a:extLst>
          </p:cNvPr>
          <p:cNvSpPr>
            <a:spLocks xmlns:a="http://schemas.openxmlformats.org/drawingml/2006/main" noGrp="1"/>
          </p:cNvSpPr>
          <p:nvPr/>
        </p:nvSpPr>
        <p:spPr>
          <a:xfrm xmlns:a="http://schemas.openxmlformats.org/drawingml/2006/main">
            <a:off x="1219200" y="1066800"/>
            <a:ext cx="59665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УВОД · ВРЕМЕНСКИ ОГРАНИЧЕНО ПОВЕРЕЊЕ</a:t>
            </a:r>
          </a:p>
        </p:txBody>
      </p:sp>
      <p:sp>
        <p:nvSpPr>
          <p:cNvPr id="5" name="heading-source-02">
            <a:extLst xmlns:a="http://schemas.openxmlformats.org/drawingml/2006/main">
              <a:ext uri="{FF2B5EF4-FFF2-40B4-BE49-F238E27FC236}">
                <a16:creationId xmlns:a16="http://schemas.microsoft.com/office/drawing/2014/main" id="{22E23826-56E5-4373-8A48-52CCBBD410F0}"/>
              </a:ext>
            </a:extLst>
          </p:cNvPr>
          <p:cNvSpPr>
            <a:spLocks xmlns:a="http://schemas.openxmlformats.org/drawingml/2006/main" noGrp="1"/>
          </p:cNvSpPr>
          <p:nvPr/>
        </p:nvSpPr>
        <p:spPr>
          <a:xfrm xmlns:a="http://schemas.openxmlformats.org/drawingml/2006/main">
            <a:off x="1219200" y="1443930"/>
            <a:ext cx="979125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246"/>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Континуирана провера идентитета</a:t>
            </a:r>
          </a:p>
        </p:txBody>
      </p:sp>
      <p:sp>
        <p:nvSpPr>
          <p:cNvPr id="6" name="text-source-02">
            <a:extLst xmlns:a="http://schemas.openxmlformats.org/drawingml/2006/main">
              <a:ext uri="{FF2B5EF4-FFF2-40B4-BE49-F238E27FC236}">
                <a16:creationId xmlns:a16="http://schemas.microsoft.com/office/drawing/2014/main" id="{54DE88D8-32F1-4C78-A681-5014EE7BBB9D}"/>
              </a:ext>
            </a:extLst>
          </p:cNvPr>
          <p:cNvSpPr>
            <a:spLocks xmlns:a="http://schemas.openxmlformats.org/drawingml/2006/main" noGrp="1"/>
          </p:cNvSpPr>
          <p:nvPr/>
        </p:nvSpPr>
        <p:spPr>
          <a:xfrm xmlns:a="http://schemas.openxmlformats.org/drawingml/2006/main">
            <a:off x="1219200" y="2444055"/>
            <a:ext cx="1413048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Ризик радње, трајање сесије, врста уређаја и промена привилегија одређују потребан ниво додатне потврде.</a:t>
            </a:r>
          </a:p>
        </p:txBody>
      </p:sp>
      <p:sp>
        <p:nvSpPr>
          <p:cNvPr id="7" name="text-source-02">
            <a:extLst xmlns:a="http://schemas.openxmlformats.org/drawingml/2006/main">
              <a:ext uri="{FF2B5EF4-FFF2-40B4-BE49-F238E27FC236}">
                <a16:creationId xmlns:a16="http://schemas.microsoft.com/office/drawing/2014/main" id="{413B4E3E-3CF2-49A0-BCE3-86DB5036A28A}"/>
              </a:ext>
            </a:extLst>
          </p:cNvPr>
          <p:cNvSpPr>
            <a:spLocks xmlns:a="http://schemas.openxmlformats.org/drawingml/2006/main" noGrp="1"/>
          </p:cNvSpPr>
          <p:nvPr/>
        </p:nvSpPr>
        <p:spPr>
          <a:xfrm xmlns:a="http://schemas.openxmlformats.org/drawingml/2006/main">
            <a:off x="6400800" y="3112591"/>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ПРЕДМЕТ АНАЛИЗЕ</a:t>
            </a:r>
          </a:p>
        </p:txBody>
      </p:sp>
      <p:sp>
        <p:nvSpPr>
          <p:cNvPr id="8" name="text-source-02">
            <a:extLst xmlns:a="http://schemas.openxmlformats.org/drawingml/2006/main">
              <a:ext uri="{FF2B5EF4-FFF2-40B4-BE49-F238E27FC236}">
                <a16:creationId xmlns:a16="http://schemas.microsoft.com/office/drawing/2014/main" id="{E436C149-B26E-4BE9-8F87-86091E7D93AB}"/>
              </a:ext>
            </a:extLst>
          </p:cNvPr>
          <p:cNvSpPr>
            <a:spLocks xmlns:a="http://schemas.openxmlformats.org/drawingml/2006/main" noGrp="1"/>
          </p:cNvSpPr>
          <p:nvPr/>
        </p:nvSpPr>
        <p:spPr>
          <a:xfrm xmlns:a="http://schemas.openxmlformats.org/drawingml/2006/main">
            <a:off x="6400800" y="3518297"/>
            <a:ext cx="352975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Ризик који се анализира</a:t>
            </a:r>
          </a:p>
        </p:txBody>
      </p:sp>
      <p:sp>
        <p:nvSpPr>
          <p:cNvPr id="9" name="text-source-02">
            <a:extLst xmlns:a="http://schemas.openxmlformats.org/drawingml/2006/main">
              <a:ext uri="{FF2B5EF4-FFF2-40B4-BE49-F238E27FC236}">
                <a16:creationId xmlns:a16="http://schemas.microsoft.com/office/drawing/2014/main" id="{B440511F-42F2-4E65-A3BA-74075DD58F09}"/>
              </a:ext>
            </a:extLst>
          </p:cNvPr>
          <p:cNvSpPr>
            <a:spLocks xmlns:a="http://schemas.openxmlformats.org/drawingml/2006/main" noGrp="1"/>
          </p:cNvSpPr>
          <p:nvPr/>
        </p:nvSpPr>
        <p:spPr>
          <a:xfrm xmlns:a="http://schemas.openxmlformats.org/drawingml/2006/main">
            <a:off x="6400800" y="3958233"/>
            <a:ext cx="1048776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Идентитет није трајно доказан једном пријавом. Ризик радње, трајање сесије, врста уређаја и </a:t>
            </a:r>
          </a:p>
        </p:txBody>
      </p:sp>
      <p:sp>
        <p:nvSpPr>
          <p:cNvPr id="10" name="text-source-02">
            <a:extLst xmlns:a="http://schemas.openxmlformats.org/drawingml/2006/main">
              <a:ext uri="{FF2B5EF4-FFF2-40B4-BE49-F238E27FC236}">
                <a16:creationId xmlns:a16="http://schemas.microsoft.com/office/drawing/2014/main" id="{8EFF88CD-5D64-4C72-9453-C8D6626CC058}"/>
              </a:ext>
            </a:extLst>
          </p:cNvPr>
          <p:cNvSpPr>
            <a:spLocks xmlns:a="http://schemas.openxmlformats.org/drawingml/2006/main" noGrp="1"/>
          </p:cNvSpPr>
          <p:nvPr/>
        </p:nvSpPr>
        <p:spPr>
          <a:xfrm xmlns:a="http://schemas.openxmlformats.org/drawingml/2006/main">
            <a:off x="6400800" y="4278213"/>
            <a:ext cx="106034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промена привилегија утичу на то колико је додатна потврда потребна. Оперативна безбедност </a:t>
            </a:r>
          </a:p>
        </p:txBody>
      </p:sp>
      <p:sp>
        <p:nvSpPr>
          <p:cNvPr id="11" name="text-source-02">
            <a:extLst xmlns:a="http://schemas.openxmlformats.org/drawingml/2006/main">
              <a:ext uri="{FF2B5EF4-FFF2-40B4-BE49-F238E27FC236}">
                <a16:creationId xmlns:a16="http://schemas.microsoft.com/office/drawing/2014/main" id="{A3589453-6FC4-49A0-8755-F01A3B560DC2}"/>
              </a:ext>
            </a:extLst>
          </p:cNvPr>
          <p:cNvSpPr>
            <a:spLocks xmlns:a="http://schemas.openxmlformats.org/drawingml/2006/main" noGrp="1"/>
          </p:cNvSpPr>
          <p:nvPr/>
        </p:nvSpPr>
        <p:spPr>
          <a:xfrm xmlns:a="http://schemas.openxmlformats.org/drawingml/2006/main">
            <a:off x="6400800" y="4598194"/>
            <a:ext cx="587662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зато прати приступ и након почетне аутентикације.</a:t>
            </a:r>
          </a:p>
        </p:txBody>
      </p:sp>
      <p:sp>
        <p:nvSpPr>
          <p:cNvPr id="12" name="text-source-02">
            <a:extLst xmlns:a="http://schemas.openxmlformats.org/drawingml/2006/main">
              <a:ext uri="{FF2B5EF4-FFF2-40B4-BE49-F238E27FC236}">
                <a16:creationId xmlns:a16="http://schemas.microsoft.com/office/drawing/2014/main" id="{597AF4B6-528F-43BE-BE8F-8A2965329800}"/>
              </a:ext>
            </a:extLst>
          </p:cNvPr>
          <p:cNvSpPr>
            <a:spLocks xmlns:a="http://schemas.openxmlformats.org/drawingml/2006/main" noGrp="1"/>
          </p:cNvSpPr>
          <p:nvPr/>
        </p:nvSpPr>
        <p:spPr>
          <a:xfrm xmlns:a="http://schemas.openxmlformats.org/drawingml/2006/main">
            <a:off x="6400800" y="5146774"/>
            <a:ext cx="11659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ЗНАЧАЈ</a:t>
            </a:r>
          </a:p>
        </p:txBody>
      </p:sp>
      <p:sp>
        <p:nvSpPr>
          <p:cNvPr id="13" name="text-source-02">
            <a:extLst xmlns:a="http://schemas.openxmlformats.org/drawingml/2006/main">
              <a:ext uri="{FF2B5EF4-FFF2-40B4-BE49-F238E27FC236}">
                <a16:creationId xmlns:a16="http://schemas.microsoft.com/office/drawing/2014/main" id="{58565453-3B74-4895-AE6B-C7545A2CC3EE}"/>
              </a:ext>
            </a:extLst>
          </p:cNvPr>
          <p:cNvSpPr>
            <a:spLocks xmlns:a="http://schemas.openxmlformats.org/drawingml/2006/main" noGrp="1"/>
          </p:cNvSpPr>
          <p:nvPr/>
        </p:nvSpPr>
        <p:spPr>
          <a:xfrm xmlns:a="http://schemas.openxmlformats.org/drawingml/2006/main">
            <a:off x="6400800" y="5552480"/>
            <a:ext cx="420350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Значај за безбедност система</a:t>
            </a:r>
          </a:p>
        </p:txBody>
      </p:sp>
      <p:sp>
        <p:nvSpPr>
          <p:cNvPr id="14" name="text-source-02">
            <a:extLst xmlns:a="http://schemas.openxmlformats.org/drawingml/2006/main">
              <a:ext uri="{FF2B5EF4-FFF2-40B4-BE49-F238E27FC236}">
                <a16:creationId xmlns:a16="http://schemas.microsoft.com/office/drawing/2014/main" id="{F7DF48FF-DF1A-400A-BCEF-DB526C2096AA}"/>
              </a:ext>
            </a:extLst>
          </p:cNvPr>
          <p:cNvSpPr>
            <a:spLocks xmlns:a="http://schemas.openxmlformats.org/drawingml/2006/main" noGrp="1"/>
          </p:cNvSpPr>
          <p:nvPr/>
        </p:nvSpPr>
        <p:spPr>
          <a:xfrm xmlns:a="http://schemas.openxmlformats.org/drawingml/2006/main">
            <a:off x="6400800" y="5992416"/>
            <a:ext cx="1045056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Вишефакторска потврда и временски ограничене привилегије смањују последице украденог </a:t>
            </a:r>
          </a:p>
        </p:txBody>
      </p:sp>
      <p:sp>
        <p:nvSpPr>
          <p:cNvPr id="15" name="text-source-02">
            <a:extLst xmlns:a="http://schemas.openxmlformats.org/drawingml/2006/main">
              <a:ext uri="{FF2B5EF4-FFF2-40B4-BE49-F238E27FC236}">
                <a16:creationId xmlns:a16="http://schemas.microsoft.com/office/drawing/2014/main" id="{971D10D4-93AC-4134-9EF7-C77364A19F8A}"/>
              </a:ext>
            </a:extLst>
          </p:cNvPr>
          <p:cNvSpPr>
            <a:spLocks xmlns:a="http://schemas.openxmlformats.org/drawingml/2006/main" noGrp="1"/>
          </p:cNvSpPr>
          <p:nvPr/>
        </p:nvSpPr>
        <p:spPr>
          <a:xfrm xmlns:a="http://schemas.openxmlformats.org/drawingml/2006/main">
            <a:off x="6400800" y="6312396"/>
            <a:ext cx="1010944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креденцијала. Управљање тајнама штити везе међу сервисима, где непажња често остане </a:t>
            </a:r>
          </a:p>
        </p:txBody>
      </p:sp>
      <p:sp>
        <p:nvSpPr>
          <p:cNvPr id="16" name="text-source-02">
            <a:extLst xmlns:a="http://schemas.openxmlformats.org/drawingml/2006/main">
              <a:ext uri="{FF2B5EF4-FFF2-40B4-BE49-F238E27FC236}">
                <a16:creationId xmlns:a16="http://schemas.microsoft.com/office/drawing/2014/main" id="{193402A0-ED0A-44A9-A873-4E0D2B0F63FF}"/>
              </a:ext>
            </a:extLst>
          </p:cNvPr>
          <p:cNvSpPr>
            <a:spLocks xmlns:a="http://schemas.openxmlformats.org/drawingml/2006/main" noGrp="1"/>
          </p:cNvSpPr>
          <p:nvPr/>
        </p:nvSpPr>
        <p:spPr>
          <a:xfrm xmlns:a="http://schemas.openxmlformats.org/drawingml/2006/main">
            <a:off x="6400800" y="6632377"/>
            <a:ext cx="4630341"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скривена јер нема корисничког екрана.</a:t>
            </a:r>
          </a:p>
        </p:txBody>
      </p:sp>
      <p:sp>
        <p:nvSpPr>
          <p:cNvPr id="17" name="text-source-02">
            <a:extLst xmlns:a="http://schemas.openxmlformats.org/drawingml/2006/main">
              <a:ext uri="{FF2B5EF4-FFF2-40B4-BE49-F238E27FC236}">
                <a16:creationId xmlns:a16="http://schemas.microsoft.com/office/drawing/2014/main" id="{DC352D68-87A7-4D55-954C-AA3B1C6A3F6B}"/>
              </a:ext>
            </a:extLst>
          </p:cNvPr>
          <p:cNvSpPr>
            <a:spLocks xmlns:a="http://schemas.openxmlformats.org/drawingml/2006/main" noGrp="1"/>
          </p:cNvSpPr>
          <p:nvPr/>
        </p:nvSpPr>
        <p:spPr>
          <a:xfrm xmlns:a="http://schemas.openxmlformats.org/drawingml/2006/main">
            <a:off x="6400800" y="7180957"/>
            <a:ext cx="28118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КРИТЕРИЈУМ ПРОВЕРЕ</a:t>
            </a:r>
          </a:p>
        </p:txBody>
      </p:sp>
      <p:sp>
        <p:nvSpPr>
          <p:cNvPr id="18" name="text-source-02">
            <a:extLst xmlns:a="http://schemas.openxmlformats.org/drawingml/2006/main">
              <a:ext uri="{FF2B5EF4-FFF2-40B4-BE49-F238E27FC236}">
                <a16:creationId xmlns:a16="http://schemas.microsoft.com/office/drawing/2014/main" id="{B3F12D32-01E5-450B-9D2F-E88957ECD954}"/>
              </a:ext>
            </a:extLst>
          </p:cNvPr>
          <p:cNvSpPr>
            <a:spLocks xmlns:a="http://schemas.openxmlformats.org/drawingml/2006/main" noGrp="1"/>
          </p:cNvSpPr>
          <p:nvPr/>
        </p:nvSpPr>
        <p:spPr>
          <a:xfrm xmlns:a="http://schemas.openxmlformats.org/drawingml/2006/main">
            <a:off x="6400800" y="7586663"/>
            <a:ext cx="304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Проверљив резултат</a:t>
            </a:r>
          </a:p>
        </p:txBody>
      </p:sp>
      <p:sp>
        <p:nvSpPr>
          <p:cNvPr id="19" name="text-source-02">
            <a:extLst xmlns:a="http://schemas.openxmlformats.org/drawingml/2006/main">
              <a:ext uri="{FF2B5EF4-FFF2-40B4-BE49-F238E27FC236}">
                <a16:creationId xmlns:a16="http://schemas.microsoft.com/office/drawing/2014/main" id="{7108CCB3-09B5-4EEA-AAA5-04000271A3C6}"/>
              </a:ext>
            </a:extLst>
          </p:cNvPr>
          <p:cNvSpPr>
            <a:spLocks xmlns:a="http://schemas.openxmlformats.org/drawingml/2006/main" noGrp="1"/>
          </p:cNvSpPr>
          <p:nvPr/>
        </p:nvSpPr>
        <p:spPr>
          <a:xfrm xmlns:a="http://schemas.openxmlformats.org/drawingml/2006/main">
            <a:off x="6400800" y="8026598"/>
            <a:ext cx="1100762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Одлука је јасна, примењује се на серверу и оставља поновљив доказ успешног и одбијеног исхода.</a:t>
            </a:r>
          </a:p>
        </p:txBody>
      </p:sp>
      <p:sp>
        <p:nvSpPr>
          <p:cNvPr id="20" name="text-source-02">
            <a:extLst xmlns:a="http://schemas.openxmlformats.org/drawingml/2006/main">
              <a:ext uri="{FF2B5EF4-FFF2-40B4-BE49-F238E27FC236}">
                <a16:creationId xmlns:a16="http://schemas.microsoft.com/office/drawing/2014/main" id="{85A6A235-F46E-43E4-B2E3-D18A22418869}"/>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1" name="text-source-02">
            <a:extLst xmlns:a="http://schemas.openxmlformats.org/drawingml/2006/main">
              <a:ext uri="{FF2B5EF4-FFF2-40B4-BE49-F238E27FC236}">
                <a16:creationId xmlns:a16="http://schemas.microsoft.com/office/drawing/2014/main" id="{B2C51FA5-4E75-4268-9DCA-B85FD2F27CBB}"/>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03</a:t>
            </a:r>
          </a:p>
        </p:txBody>
      </p:sp>
    </p:spTree>
    <p:extLst>
      <p:ext uri="{BB962C8B-B14F-4D97-AF65-F5344CB8AC3E}">
        <p14:creationId xmlns:p14="http://schemas.microsoft.com/office/powerpoint/2010/main" val="1168857080"/>
      </p:ext>
    </p:extLst>
  </p:cSld>
</p:sld>
</file>

<file path=ppt/slides/slide4.xml><?xml version="1.0" encoding="utf-8"?>
<p:sld xmlns:p="http://schemas.openxmlformats.org/presentationml/2006/main">
  <p:cSld>
    <p:bg>
      <p:bgPr>
        <a:solidFill xmlns:a="http://schemas.openxmlformats.org/drawingml/2006/main">
          <a:srgbClr val="E6E8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3E8773B-F367-4D91-A919-748BD5694D2B}"/>
              </a:ext>
            </a:extLst>
          </p:cNvPr>
          <p:cNvSpPr>
            <a:spLocks xmlns:a="http://schemas.openxmlformats.org/drawingml/2006/main" noGrp="1"/>
          </p:cNvSpPr>
          <p:nvPr/>
        </p:nvSpPr>
        <p:spPr>
          <a:xfrm xmlns:a="http://schemas.openxmlformats.org/drawingml/2006/main">
            <a:off x="6400800" y="5972026"/>
            <a:ext cx="1225897"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2" name="">
            <a:extLst xmlns:a="http://schemas.openxmlformats.org/drawingml/2006/main">
              <a:ext uri="{FF2B5EF4-FFF2-40B4-BE49-F238E27FC236}">
                <a16:creationId xmlns:a16="http://schemas.microsoft.com/office/drawing/2014/main" id="{D0CB7F24-B210-40EE-876D-D7F35BFE1C77}"/>
              </a:ext>
            </a:extLst>
          </p:cNvPr>
          <p:cNvSpPr>
            <a:spLocks xmlns:a="http://schemas.openxmlformats.org/drawingml/2006/main" noGrp="1"/>
          </p:cNvSpPr>
          <p:nvPr/>
        </p:nvSpPr>
        <p:spPr>
          <a:xfrm xmlns:a="http://schemas.openxmlformats.org/drawingml/2006/main">
            <a:off x="7740997" y="5972026"/>
            <a:ext cx="1319361"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3" name="">
            <a:extLst xmlns:a="http://schemas.openxmlformats.org/drawingml/2006/main">
              <a:ext uri="{FF2B5EF4-FFF2-40B4-BE49-F238E27FC236}">
                <a16:creationId xmlns:a16="http://schemas.microsoft.com/office/drawing/2014/main" id="{FA5353B6-DDE4-4AD5-8976-D2A01A6F284B}"/>
              </a:ext>
            </a:extLst>
          </p:cNvPr>
          <p:cNvSpPr>
            <a:spLocks xmlns:a="http://schemas.openxmlformats.org/drawingml/2006/main" noGrp="1"/>
          </p:cNvSpPr>
          <p:nvPr/>
        </p:nvSpPr>
        <p:spPr>
          <a:xfrm xmlns:a="http://schemas.openxmlformats.org/drawingml/2006/main">
            <a:off x="9174659" y="5972026"/>
            <a:ext cx="2363093"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4" name="">
            <a:extLst xmlns:a="http://schemas.openxmlformats.org/drawingml/2006/main">
              <a:ext uri="{FF2B5EF4-FFF2-40B4-BE49-F238E27FC236}">
                <a16:creationId xmlns:a16="http://schemas.microsoft.com/office/drawing/2014/main" id="{F8B67609-C836-407C-B592-2425F16166A7}"/>
              </a:ext>
            </a:extLst>
          </p:cNvPr>
          <p:cNvSpPr>
            <a:spLocks xmlns:a="http://schemas.openxmlformats.org/drawingml/2006/main" noGrp="1"/>
          </p:cNvSpPr>
          <p:nvPr/>
        </p:nvSpPr>
        <p:spPr>
          <a:xfrm xmlns:a="http://schemas.openxmlformats.org/drawingml/2006/main">
            <a:off x="11652052" y="5972026"/>
            <a:ext cx="2580084"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5" name="">
            <a:extLst xmlns:a="http://schemas.openxmlformats.org/drawingml/2006/main">
              <a:ext uri="{FF2B5EF4-FFF2-40B4-BE49-F238E27FC236}">
                <a16:creationId xmlns:a16="http://schemas.microsoft.com/office/drawing/2014/main" id="{47D51D1C-922A-43C0-9144-296304DC5476}"/>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B5BCD0"/>
          </a:solidFill>
          <a:ln xmlns:a="http://schemas.openxmlformats.org/drawingml/2006/main" w="0">
            <a:noFill/>
          </a:ln>
        </p:spPr>
      </p:sp>
      <p:sp>
        <p:nvSpPr>
          <p:cNvPr id="6" name="text-deo1">
            <a:extLst xmlns:a="http://schemas.openxmlformats.org/drawingml/2006/main">
              <a:ext uri="{FF2B5EF4-FFF2-40B4-BE49-F238E27FC236}">
                <a16:creationId xmlns:a16="http://schemas.microsoft.com/office/drawing/2014/main" id="{C382A53D-587D-4EBF-A096-42530CFFD88D}"/>
              </a:ext>
            </a:extLst>
          </p:cNvPr>
          <p:cNvSpPr>
            <a:spLocks xmlns:a="http://schemas.openxmlformats.org/drawingml/2006/main" noGrp="1"/>
          </p:cNvSpPr>
          <p:nvPr/>
        </p:nvSpPr>
        <p:spPr>
          <a:xfrm xmlns:a="http://schemas.openxmlformats.org/drawingml/2006/main">
            <a:off x="1219200" y="3257550"/>
            <a:ext cx="33909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0">
                <a:latin typeface="IBM Plex Mono"/>
                <a:ea typeface="IBM Plex Mono"/>
                <a:cs typeface="IBM Plex Mono"/>
              </a:defRPr>
            </a:defPPr>
          </a:lstStyle>
          <a:p xmlns:a="http://schemas.openxmlformats.org/drawingml/2006/main">
            <a:pPr algn="l">
              <a:defRPr sz="21000">
                <a:latin typeface="IBM Plex Mono"/>
                <a:ea typeface="IBM Plex Mono"/>
                <a:cs typeface="IBM Plex Mono"/>
              </a:defRPr>
            </a:pPr>
            <a:r>
              <a:rPr sz="21000" b="0">
                <a:solidFill>
                  <a:srgbClr val="3A46A5"/>
                </a:solidFill>
                <a:latin typeface="IBM Plex Mono"/>
                <a:ea typeface="IBM Plex Mono"/>
                <a:cs typeface="IBM Plex Mono"/>
              </a:rPr>
              <a:t>01</a:t>
            </a:r>
          </a:p>
        </p:txBody>
      </p:sp>
      <p:sp>
        <p:nvSpPr>
          <p:cNvPr id="7" name="text-deo1">
            <a:extLst xmlns:a="http://schemas.openxmlformats.org/drawingml/2006/main">
              <a:ext uri="{FF2B5EF4-FFF2-40B4-BE49-F238E27FC236}">
                <a16:creationId xmlns:a16="http://schemas.microsoft.com/office/drawing/2014/main" id="{64FDDFD5-604B-4A27-9839-83E604A7521E}"/>
              </a:ext>
            </a:extLst>
          </p:cNvPr>
          <p:cNvSpPr>
            <a:spLocks xmlns:a="http://schemas.openxmlformats.org/drawingml/2006/main" noGrp="1"/>
          </p:cNvSpPr>
          <p:nvPr/>
        </p:nvSpPr>
        <p:spPr>
          <a:xfrm xmlns:a="http://schemas.openxmlformats.org/drawingml/2006/main">
            <a:off x="6400800" y="3518595"/>
            <a:ext cx="15926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ПРВИ ДЕО</a:t>
            </a:r>
          </a:p>
        </p:txBody>
      </p:sp>
      <p:sp>
        <p:nvSpPr>
          <p:cNvPr id="8" name="heading-deo1">
            <a:extLst xmlns:a="http://schemas.openxmlformats.org/drawingml/2006/main">
              <a:ext uri="{FF2B5EF4-FFF2-40B4-BE49-F238E27FC236}">
                <a16:creationId xmlns:a16="http://schemas.microsoft.com/office/drawing/2014/main" id="{A38E08B3-B2DF-4A53-B287-FF8EEEC2881A}"/>
              </a:ext>
            </a:extLst>
          </p:cNvPr>
          <p:cNvSpPr>
            <a:spLocks xmlns:a="http://schemas.openxmlformats.org/drawingml/2006/main" noGrp="1"/>
          </p:cNvSpPr>
          <p:nvPr/>
        </p:nvSpPr>
        <p:spPr>
          <a:xfrm xmlns:a="http://schemas.openxmlformats.org/drawingml/2006/main">
            <a:off x="6400800" y="3990975"/>
            <a:ext cx="7549753"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716"/>
          </a:bodyPr>
          <a:lstStyle xmlns:a="http://schemas.openxmlformats.org/drawingml/2006/main">
            <a:defPPr algn="l">
              <a:defRPr sz="7200">
                <a:latin typeface="IBM Plex Sans"/>
                <a:ea typeface="IBM Plex Sans"/>
                <a:cs typeface="IBM Plex Sans"/>
              </a:defRPr>
            </a:defPPr>
          </a:lstStyle>
          <a:p xmlns:a="http://schemas.openxmlformats.org/drawingml/2006/main">
            <a:pPr algn="l">
              <a:defRPr sz="7200">
                <a:latin typeface="IBM Plex Sans"/>
                <a:ea typeface="IBM Plex Sans"/>
                <a:cs typeface="IBM Plex Sans"/>
              </a:defRPr>
            </a:pPr>
            <a:r>
              <a:rPr sz="7200" b="1">
                <a:solidFill>
                  <a:srgbClr val="13202D"/>
                </a:solidFill>
                <a:latin typeface="IBM Plex Sans"/>
                <a:ea typeface="IBM Plex Sans"/>
                <a:cs typeface="IBM Plex Sans"/>
              </a:rPr>
              <a:t>Идентитет и MFA</a:t>
            </a:r>
          </a:p>
        </p:txBody>
      </p:sp>
      <p:sp>
        <p:nvSpPr>
          <p:cNvPr id="9" name="text-deo1">
            <a:extLst xmlns:a="http://schemas.openxmlformats.org/drawingml/2006/main">
              <a:ext uri="{FF2B5EF4-FFF2-40B4-BE49-F238E27FC236}">
                <a16:creationId xmlns:a16="http://schemas.microsoft.com/office/drawing/2014/main" id="{214CB74B-4838-48B9-B996-8F9ADFB2886B}"/>
              </a:ext>
            </a:extLst>
          </p:cNvPr>
          <p:cNvSpPr>
            <a:spLocks xmlns:a="http://schemas.openxmlformats.org/drawingml/2006/main" noGrp="1"/>
          </p:cNvSpPr>
          <p:nvPr/>
        </p:nvSpPr>
        <p:spPr>
          <a:xfrm xmlns:a="http://schemas.openxmlformats.org/drawingml/2006/main">
            <a:off x="6400800" y="5341590"/>
            <a:ext cx="857622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Потврдити идентитет и разумети шта та потврда заиста доказује.</a:t>
            </a:r>
          </a:p>
        </p:txBody>
      </p:sp>
      <p:sp>
        <p:nvSpPr>
          <p:cNvPr id="10" name="text-deo1">
            <a:extLst xmlns:a="http://schemas.openxmlformats.org/drawingml/2006/main">
              <a:ext uri="{FF2B5EF4-FFF2-40B4-BE49-F238E27FC236}">
                <a16:creationId xmlns:a16="http://schemas.microsoft.com/office/drawing/2014/main" id="{9F35523E-006B-493F-84BA-E101BBA2B6A0}"/>
              </a:ext>
            </a:extLst>
          </p:cNvPr>
          <p:cNvSpPr>
            <a:spLocks xmlns:a="http://schemas.openxmlformats.org/drawingml/2006/main" noGrp="1"/>
          </p:cNvSpPr>
          <p:nvPr/>
        </p:nvSpPr>
        <p:spPr>
          <a:xfrm xmlns:a="http://schemas.openxmlformats.org/drawingml/2006/main">
            <a:off x="6600825" y="6057751"/>
            <a:ext cx="116874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пријава</a:t>
            </a:r>
          </a:p>
        </p:txBody>
      </p:sp>
      <p:sp>
        <p:nvSpPr>
          <p:cNvPr id="11" name="text-deo1">
            <a:extLst xmlns:a="http://schemas.openxmlformats.org/drawingml/2006/main">
              <a:ext uri="{FF2B5EF4-FFF2-40B4-BE49-F238E27FC236}">
                <a16:creationId xmlns:a16="http://schemas.microsoft.com/office/drawing/2014/main" id="{E5D5853A-D696-42C9-A4E2-0309C0FA7B70}"/>
              </a:ext>
            </a:extLst>
          </p:cNvPr>
          <p:cNvSpPr>
            <a:spLocks xmlns:a="http://schemas.openxmlformats.org/drawingml/2006/main" noGrp="1"/>
          </p:cNvSpPr>
          <p:nvPr/>
        </p:nvSpPr>
        <p:spPr>
          <a:xfrm xmlns:a="http://schemas.openxmlformats.org/drawingml/2006/main">
            <a:off x="7941022" y="6057751"/>
            <a:ext cx="1262211"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фактори</a:t>
            </a:r>
          </a:p>
        </p:txBody>
      </p:sp>
      <p:sp>
        <p:nvSpPr>
          <p:cNvPr id="12" name="text-deo1">
            <a:extLst xmlns:a="http://schemas.openxmlformats.org/drawingml/2006/main">
              <a:ext uri="{FF2B5EF4-FFF2-40B4-BE49-F238E27FC236}">
                <a16:creationId xmlns:a16="http://schemas.microsoft.com/office/drawing/2014/main" id="{A513AF52-4DBF-4525-85F7-03761546AE3E}"/>
              </a:ext>
            </a:extLst>
          </p:cNvPr>
          <p:cNvSpPr>
            <a:spLocks xmlns:a="http://schemas.openxmlformats.org/drawingml/2006/main" noGrp="1"/>
          </p:cNvSpPr>
          <p:nvPr/>
        </p:nvSpPr>
        <p:spPr>
          <a:xfrm xmlns:a="http://schemas.openxmlformats.org/drawingml/2006/main">
            <a:off x="9374684" y="6057751"/>
            <a:ext cx="230594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људски идентитет</a:t>
            </a:r>
          </a:p>
        </p:txBody>
      </p:sp>
      <p:sp>
        <p:nvSpPr>
          <p:cNvPr id="13" name="text-deo1">
            <a:extLst xmlns:a="http://schemas.openxmlformats.org/drawingml/2006/main">
              <a:ext uri="{FF2B5EF4-FFF2-40B4-BE49-F238E27FC236}">
                <a16:creationId xmlns:a16="http://schemas.microsoft.com/office/drawing/2014/main" id="{3CD26C15-189A-4D4D-8638-90DE93642456}"/>
              </a:ext>
            </a:extLst>
          </p:cNvPr>
          <p:cNvSpPr>
            <a:spLocks xmlns:a="http://schemas.openxmlformats.org/drawingml/2006/main" noGrp="1"/>
          </p:cNvSpPr>
          <p:nvPr/>
        </p:nvSpPr>
        <p:spPr>
          <a:xfrm xmlns:a="http://schemas.openxmlformats.org/drawingml/2006/main">
            <a:off x="11852077" y="6057751"/>
            <a:ext cx="252293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сервисни идентитет</a:t>
            </a:r>
          </a:p>
        </p:txBody>
      </p:sp>
      <p:sp>
        <p:nvSpPr>
          <p:cNvPr id="14" name="text-deo1">
            <a:extLst xmlns:a="http://schemas.openxmlformats.org/drawingml/2006/main">
              <a:ext uri="{FF2B5EF4-FFF2-40B4-BE49-F238E27FC236}">
                <a16:creationId xmlns:a16="http://schemas.microsoft.com/office/drawing/2014/main" id="{6892A848-4A1E-499C-AAC2-2F9279EE7FFA}"/>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5" name="text-deo1">
            <a:extLst xmlns:a="http://schemas.openxmlformats.org/drawingml/2006/main">
              <a:ext uri="{FF2B5EF4-FFF2-40B4-BE49-F238E27FC236}">
                <a16:creationId xmlns:a16="http://schemas.microsoft.com/office/drawing/2014/main" id="{7B9B9640-48F5-4825-A6C4-66E4292E5A9C}"/>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04</a:t>
            </a:r>
          </a:p>
        </p:txBody>
      </p:sp>
    </p:spTree>
    <p:extLst>
      <p:ext uri="{BB962C8B-B14F-4D97-AF65-F5344CB8AC3E}">
        <p14:creationId xmlns:p14="http://schemas.microsoft.com/office/powerpoint/2010/main" val="532406919"/>
      </p:ext>
    </p:extLst>
  </p:cSld>
</p:sld>
</file>

<file path=ppt/slides/slide5.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B8C4DEE-7461-45DB-B2B4-F9D2ACF02AFE}"/>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D56496-4F2C-4DEA-B13E-40F47F9EDD33}"/>
              </a:ext>
            </a:extLst>
          </p:cNvPr>
          <p:cNvSpPr>
            <a:spLocks xmlns:a="http://schemas.openxmlformats.org/drawingml/2006/main" noGrp="1"/>
          </p:cNvSpPr>
          <p:nvPr/>
        </p:nvSpPr>
        <p:spPr>
          <a:xfrm xmlns:a="http://schemas.openxmlformats.org/drawingml/2006/main">
            <a:off x="1219200" y="3112591"/>
            <a:ext cx="34766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BC33A643-8210-488D-BDF3-1B81029B10B8}"/>
              </a:ext>
            </a:extLst>
          </p:cNvPr>
          <p:cNvSpPr>
            <a:spLocks xmlns:a="http://schemas.openxmlformats.org/drawingml/2006/main" noGrp="1"/>
          </p:cNvSpPr>
          <p:nvPr/>
        </p:nvSpPr>
        <p:spPr>
          <a:xfrm xmlns:a="http://schemas.openxmlformats.org/drawingml/2006/main">
            <a:off x="5343525" y="3112591"/>
            <a:ext cx="34766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4" name="">
            <a:extLst xmlns:a="http://schemas.openxmlformats.org/drawingml/2006/main">
              <a:ext uri="{FF2B5EF4-FFF2-40B4-BE49-F238E27FC236}">
                <a16:creationId xmlns:a16="http://schemas.microsoft.com/office/drawing/2014/main" id="{EDE0A753-EDF2-4B3F-9195-1237F1414218}"/>
              </a:ext>
            </a:extLst>
          </p:cNvPr>
          <p:cNvSpPr>
            <a:spLocks xmlns:a="http://schemas.openxmlformats.org/drawingml/2006/main" noGrp="1"/>
          </p:cNvSpPr>
          <p:nvPr/>
        </p:nvSpPr>
        <p:spPr>
          <a:xfrm xmlns:a="http://schemas.openxmlformats.org/drawingml/2006/main">
            <a:off x="9467850" y="3112591"/>
            <a:ext cx="34766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5" name="">
            <a:extLst xmlns:a="http://schemas.openxmlformats.org/drawingml/2006/main">
              <a:ext uri="{FF2B5EF4-FFF2-40B4-BE49-F238E27FC236}">
                <a16:creationId xmlns:a16="http://schemas.microsoft.com/office/drawing/2014/main" id="{D721CAEA-7BA8-4676-82E3-A2EAE413A73A}"/>
              </a:ext>
            </a:extLst>
          </p:cNvPr>
          <p:cNvSpPr>
            <a:spLocks xmlns:a="http://schemas.openxmlformats.org/drawingml/2006/main" noGrp="1"/>
          </p:cNvSpPr>
          <p:nvPr/>
        </p:nvSpPr>
        <p:spPr>
          <a:xfrm xmlns:a="http://schemas.openxmlformats.org/drawingml/2006/main">
            <a:off x="13592175" y="3112591"/>
            <a:ext cx="34766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6" name="">
            <a:extLst xmlns:a="http://schemas.openxmlformats.org/drawingml/2006/main">
              <a:ext uri="{FF2B5EF4-FFF2-40B4-BE49-F238E27FC236}">
                <a16:creationId xmlns:a16="http://schemas.microsoft.com/office/drawing/2014/main" id="{51272046-F10B-44F0-898B-58F0E71BCABA}"/>
              </a:ext>
            </a:extLst>
          </p:cNvPr>
          <p:cNvSpPr>
            <a:spLocks xmlns:a="http://schemas.openxmlformats.org/drawingml/2006/main" noGrp="1"/>
          </p:cNvSpPr>
          <p:nvPr/>
        </p:nvSpPr>
        <p:spPr>
          <a:xfrm xmlns:a="http://schemas.openxmlformats.org/drawingml/2006/main">
            <a:off x="1219200" y="5821263"/>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7" name="rounded-banner-accent">
            <a:extLst xmlns:a="http://schemas.openxmlformats.org/drawingml/2006/main">
              <a:ext uri="{FF2B5EF4-FFF2-40B4-BE49-F238E27FC236}">
                <a16:creationId xmlns:a16="http://schemas.microsoft.com/office/drawing/2014/main" id="{1F26B561-94DD-41BA-95C3-22367A7B63DF}"/>
              </a:ext>
            </a:extLst>
          </p:cNvPr>
          <p:cNvSpPr>
            <a:spLocks xmlns:a="http://schemas.openxmlformats.org/drawingml/2006/main" noGrp="1"/>
          </p:cNvSpPr>
          <p:nvPr/>
        </p:nvSpPr>
        <p:spPr>
          <a:xfrm xmlns:a="http://schemas.openxmlformats.org/drawingml/2006/main">
            <a:off x="1219200" y="5821263"/>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C7DEF7-03EF-4EA9-9D72-554D86D8B54E}"/>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5C1E8268-09D8-4A2D-AFC8-D3C73DFE0A56}"/>
              </a:ext>
            </a:extLst>
          </p:cNvPr>
          <p:cNvPicPr>
            <a:picLocks xmlns:a="http://schemas.openxmlformats.org/drawingml/2006/main" noChangeAspect="1"/>
          </p:cNvPicPr>
          <p:nvPr/>
        </p:nvPicPr>
        <p:blipFill>
          <a:blip xmlns:r="http://schemas.openxmlformats.org/officeDocument/2006/relationships" xmlns:a="http://schemas.openxmlformats.org/drawingml/2006/main" r:embed="R3e10d898e6b64f0d"/>
          <a:stretch xmlns:a="http://schemas.openxmlformats.org/drawingml/2006/main"/>
        </p:blipFill>
        <p:spPr>
          <a:xfrm xmlns:a="http://schemas.openxmlformats.org/drawingml/2006/main">
            <a:off x="4886325" y="4219277"/>
            <a:ext cx="266700" cy="1905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198E99E-565B-4A2A-B7A6-18D771C0A251}"/>
              </a:ext>
            </a:extLst>
          </p:cNvPr>
          <p:cNvPicPr>
            <a:picLocks xmlns:a="http://schemas.openxmlformats.org/drawingml/2006/main" noChangeAspect="1"/>
          </p:cNvPicPr>
          <p:nvPr/>
        </p:nvPicPr>
        <p:blipFill>
          <a:blip xmlns:r="http://schemas.openxmlformats.org/officeDocument/2006/relationships" xmlns:a="http://schemas.openxmlformats.org/drawingml/2006/main" r:embed="R59652df84f5b4ea5"/>
          <a:stretch xmlns:a="http://schemas.openxmlformats.org/drawingml/2006/main"/>
        </p:blipFill>
        <p:spPr>
          <a:xfrm xmlns:a="http://schemas.openxmlformats.org/drawingml/2006/main">
            <a:off x="9010650" y="4219277"/>
            <a:ext cx="266700" cy="190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FB6833AB-61EA-4048-BD72-3C94797B2213}"/>
              </a:ext>
            </a:extLst>
          </p:cNvPr>
          <p:cNvPicPr>
            <a:picLocks xmlns:a="http://schemas.openxmlformats.org/drawingml/2006/main" noChangeAspect="1"/>
          </p:cNvPicPr>
          <p:nvPr/>
        </p:nvPicPr>
        <p:blipFill>
          <a:blip xmlns:r="http://schemas.openxmlformats.org/officeDocument/2006/relationships" xmlns:a="http://schemas.openxmlformats.org/drawingml/2006/main" r:embed="Re525ba0e459c40b9"/>
          <a:stretch xmlns:a="http://schemas.openxmlformats.org/drawingml/2006/main"/>
        </p:blipFill>
        <p:spPr>
          <a:xfrm xmlns:a="http://schemas.openxmlformats.org/drawingml/2006/main">
            <a:off x="13134975" y="4219277"/>
            <a:ext cx="266700" cy="190500"/>
          </a:xfrm>
          <a:prstGeom xmlns:a="http://schemas.openxmlformats.org/drawingml/2006/main" prst="rect">
            <a:avLst/>
          </a:prstGeom>
        </p:spPr>
      </p:pic>
      <p:sp>
        <p:nvSpPr>
          <p:cNvPr id="12" name="text-source-03">
            <a:extLst xmlns:a="http://schemas.openxmlformats.org/drawingml/2006/main">
              <a:ext uri="{FF2B5EF4-FFF2-40B4-BE49-F238E27FC236}">
                <a16:creationId xmlns:a16="http://schemas.microsoft.com/office/drawing/2014/main" id="{A3EAC64D-7BB1-46AB-B1AF-F3CD9E19FB10}"/>
              </a:ext>
            </a:extLst>
          </p:cNvPr>
          <p:cNvSpPr>
            <a:spLocks xmlns:a="http://schemas.openxmlformats.org/drawingml/2006/main" noGrp="1"/>
          </p:cNvSpPr>
          <p:nvPr/>
        </p:nvSpPr>
        <p:spPr>
          <a:xfrm xmlns:a="http://schemas.openxmlformats.org/drawingml/2006/main">
            <a:off x="1219200" y="10668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01 · ОСНОВНИ ПОЈМОВИ</a:t>
            </a:r>
          </a:p>
        </p:txBody>
      </p:sp>
      <p:sp>
        <p:nvSpPr>
          <p:cNvPr id="13" name="heading-source-03">
            <a:extLst xmlns:a="http://schemas.openxmlformats.org/drawingml/2006/main">
              <a:ext uri="{FF2B5EF4-FFF2-40B4-BE49-F238E27FC236}">
                <a16:creationId xmlns:a16="http://schemas.microsoft.com/office/drawing/2014/main" id="{9AC50666-E64C-4D2A-9EAE-FF467E0ED98B}"/>
              </a:ext>
            </a:extLst>
          </p:cNvPr>
          <p:cNvSpPr>
            <a:spLocks xmlns:a="http://schemas.openxmlformats.org/drawingml/2006/main" noGrp="1"/>
          </p:cNvSpPr>
          <p:nvPr/>
        </p:nvSpPr>
        <p:spPr>
          <a:xfrm xmlns:a="http://schemas.openxmlformats.org/drawingml/2006/main">
            <a:off x="1219200" y="1443930"/>
            <a:ext cx="4940052"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Основни појмови</a:t>
            </a:r>
          </a:p>
        </p:txBody>
      </p:sp>
      <p:sp>
        <p:nvSpPr>
          <p:cNvPr id="14" name="text-source-03">
            <a:extLst xmlns:a="http://schemas.openxmlformats.org/drawingml/2006/main">
              <a:ext uri="{FF2B5EF4-FFF2-40B4-BE49-F238E27FC236}">
                <a16:creationId xmlns:a16="http://schemas.microsoft.com/office/drawing/2014/main" id="{D60E64CA-1A21-4047-BB84-E30AECD0FF52}"/>
              </a:ext>
            </a:extLst>
          </p:cNvPr>
          <p:cNvSpPr>
            <a:spLocks xmlns:a="http://schemas.openxmlformats.org/drawingml/2006/main" noGrp="1"/>
          </p:cNvSpPr>
          <p:nvPr/>
        </p:nvSpPr>
        <p:spPr>
          <a:xfrm xmlns:a="http://schemas.openxmlformats.org/drawingml/2006/main">
            <a:off x="1219200" y="2444055"/>
            <a:ext cx="1006122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Пријава, сесија, додатна потврда и опозив описују животни циклус приступа.</a:t>
            </a:r>
          </a:p>
        </p:txBody>
      </p:sp>
      <p:sp>
        <p:nvSpPr>
          <p:cNvPr id="15" name="text-source-03">
            <a:extLst xmlns:a="http://schemas.openxmlformats.org/drawingml/2006/main">
              <a:ext uri="{FF2B5EF4-FFF2-40B4-BE49-F238E27FC236}">
                <a16:creationId xmlns:a16="http://schemas.microsoft.com/office/drawing/2014/main" id="{E5200241-E36E-4B5F-96E6-2EA0B6FD310B}"/>
              </a:ext>
            </a:extLst>
          </p:cNvPr>
          <p:cNvSpPr>
            <a:spLocks xmlns:a="http://schemas.openxmlformats.org/drawingml/2006/main" noGrp="1"/>
          </p:cNvSpPr>
          <p:nvPr/>
        </p:nvSpPr>
        <p:spPr>
          <a:xfrm xmlns:a="http://schemas.openxmlformats.org/drawingml/2006/main">
            <a:off x="1495425"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6" name="text-source-03">
            <a:extLst xmlns:a="http://schemas.openxmlformats.org/drawingml/2006/main">
              <a:ext uri="{FF2B5EF4-FFF2-40B4-BE49-F238E27FC236}">
                <a16:creationId xmlns:a16="http://schemas.microsoft.com/office/drawing/2014/main" id="{091CD9A4-F45F-4370-B245-517A634D9729}"/>
              </a:ext>
            </a:extLst>
          </p:cNvPr>
          <p:cNvSpPr>
            <a:spLocks xmlns:a="http://schemas.openxmlformats.org/drawingml/2006/main" noGrp="1"/>
          </p:cNvSpPr>
          <p:nvPr/>
        </p:nvSpPr>
        <p:spPr>
          <a:xfrm xmlns:a="http://schemas.openxmlformats.org/drawingml/2006/main">
            <a:off x="1495425" y="4108847"/>
            <a:ext cx="137561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Пријава</a:t>
            </a:r>
          </a:p>
        </p:txBody>
      </p:sp>
      <p:sp>
        <p:nvSpPr>
          <p:cNvPr id="17" name="text-source-03">
            <a:extLst xmlns:a="http://schemas.openxmlformats.org/drawingml/2006/main">
              <a:ext uri="{FF2B5EF4-FFF2-40B4-BE49-F238E27FC236}">
                <a16:creationId xmlns:a16="http://schemas.microsoft.com/office/drawing/2014/main" id="{7C142817-4079-4568-B05B-FA1EE67A06D5}"/>
              </a:ext>
            </a:extLst>
          </p:cNvPr>
          <p:cNvSpPr>
            <a:spLocks xmlns:a="http://schemas.openxmlformats.org/drawingml/2006/main" noGrp="1"/>
          </p:cNvSpPr>
          <p:nvPr/>
        </p:nvSpPr>
        <p:spPr>
          <a:xfrm xmlns:a="http://schemas.openxmlformats.org/drawingml/2006/main">
            <a:off x="1495425" y="4600277"/>
            <a:ext cx="21480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почетна потврда </a:t>
            </a:r>
          </a:p>
        </p:txBody>
      </p:sp>
      <p:sp>
        <p:nvSpPr>
          <p:cNvPr id="18" name="text-source-03">
            <a:extLst xmlns:a="http://schemas.openxmlformats.org/drawingml/2006/main">
              <a:ext uri="{FF2B5EF4-FFF2-40B4-BE49-F238E27FC236}">
                <a16:creationId xmlns:a16="http://schemas.microsoft.com/office/drawing/2014/main" id="{93ED57BF-F577-4CFE-800E-3D8DB9D7CB1E}"/>
              </a:ext>
            </a:extLst>
          </p:cNvPr>
          <p:cNvSpPr>
            <a:spLocks xmlns:a="http://schemas.openxmlformats.org/drawingml/2006/main" noGrp="1"/>
          </p:cNvSpPr>
          <p:nvPr/>
        </p:nvSpPr>
        <p:spPr>
          <a:xfrm xmlns:a="http://schemas.openxmlformats.org/drawingml/2006/main">
            <a:off x="1495425" y="4920258"/>
            <a:ext cx="157058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идентитета</a:t>
            </a:r>
          </a:p>
        </p:txBody>
      </p:sp>
      <p:sp>
        <p:nvSpPr>
          <p:cNvPr id="19" name="text-source-03">
            <a:extLst xmlns:a="http://schemas.openxmlformats.org/drawingml/2006/main">
              <a:ext uri="{FF2B5EF4-FFF2-40B4-BE49-F238E27FC236}">
                <a16:creationId xmlns:a16="http://schemas.microsoft.com/office/drawing/2014/main" id="{4A3D4506-212B-4C5D-9F9E-C9A205CC0764}"/>
              </a:ext>
            </a:extLst>
          </p:cNvPr>
          <p:cNvSpPr>
            <a:spLocks xmlns:a="http://schemas.openxmlformats.org/drawingml/2006/main" noGrp="1"/>
          </p:cNvSpPr>
          <p:nvPr/>
        </p:nvSpPr>
        <p:spPr>
          <a:xfrm xmlns:a="http://schemas.openxmlformats.org/drawingml/2006/main">
            <a:off x="5619750"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20" name="text-source-03">
            <a:extLst xmlns:a="http://schemas.openxmlformats.org/drawingml/2006/main">
              <a:ext uri="{FF2B5EF4-FFF2-40B4-BE49-F238E27FC236}">
                <a16:creationId xmlns:a16="http://schemas.microsoft.com/office/drawing/2014/main" id="{D894A9EF-6F0E-4D43-9935-4358180D19F2}"/>
              </a:ext>
            </a:extLst>
          </p:cNvPr>
          <p:cNvSpPr>
            <a:spLocks xmlns:a="http://schemas.openxmlformats.org/drawingml/2006/main" noGrp="1"/>
          </p:cNvSpPr>
          <p:nvPr/>
        </p:nvSpPr>
        <p:spPr>
          <a:xfrm xmlns:a="http://schemas.openxmlformats.org/drawingml/2006/main">
            <a:off x="5619750" y="4108847"/>
            <a:ext cx="118169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Сесија</a:t>
            </a:r>
          </a:p>
        </p:txBody>
      </p:sp>
      <p:sp>
        <p:nvSpPr>
          <p:cNvPr id="21" name="text-source-03">
            <a:extLst xmlns:a="http://schemas.openxmlformats.org/drawingml/2006/main">
              <a:ext uri="{FF2B5EF4-FFF2-40B4-BE49-F238E27FC236}">
                <a16:creationId xmlns:a16="http://schemas.microsoft.com/office/drawing/2014/main" id="{BC46DE40-E732-485D-A00B-FD9B022484BB}"/>
              </a:ext>
            </a:extLst>
          </p:cNvPr>
          <p:cNvSpPr>
            <a:spLocks xmlns:a="http://schemas.openxmlformats.org/drawingml/2006/main" noGrp="1"/>
          </p:cNvSpPr>
          <p:nvPr/>
        </p:nvSpPr>
        <p:spPr>
          <a:xfrm xmlns:a="http://schemas.openxmlformats.org/drawingml/2006/main">
            <a:off x="5619750" y="4600277"/>
            <a:ext cx="2694831"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привремени контекст </a:t>
            </a:r>
          </a:p>
        </p:txBody>
      </p:sp>
      <p:sp>
        <p:nvSpPr>
          <p:cNvPr id="22" name="text-source-03">
            <a:extLst xmlns:a="http://schemas.openxmlformats.org/drawingml/2006/main">
              <a:ext uri="{FF2B5EF4-FFF2-40B4-BE49-F238E27FC236}">
                <a16:creationId xmlns:a16="http://schemas.microsoft.com/office/drawing/2014/main" id="{22711595-AD99-45F9-A56C-E55D081E3D12}"/>
              </a:ext>
            </a:extLst>
          </p:cNvPr>
          <p:cNvSpPr>
            <a:spLocks xmlns:a="http://schemas.openxmlformats.org/drawingml/2006/main" noGrp="1"/>
          </p:cNvSpPr>
          <p:nvPr/>
        </p:nvSpPr>
        <p:spPr>
          <a:xfrm xmlns:a="http://schemas.openxmlformats.org/drawingml/2006/main">
            <a:off x="5619750" y="4920258"/>
            <a:ext cx="133394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приступа</a:t>
            </a:r>
          </a:p>
        </p:txBody>
      </p:sp>
      <p:sp>
        <p:nvSpPr>
          <p:cNvPr id="23" name="text-source-03">
            <a:extLst xmlns:a="http://schemas.openxmlformats.org/drawingml/2006/main">
              <a:ext uri="{FF2B5EF4-FFF2-40B4-BE49-F238E27FC236}">
                <a16:creationId xmlns:a16="http://schemas.microsoft.com/office/drawing/2014/main" id="{F9D985D4-7D51-42A0-B091-BED757F75169}"/>
              </a:ext>
            </a:extLst>
          </p:cNvPr>
          <p:cNvSpPr>
            <a:spLocks xmlns:a="http://schemas.openxmlformats.org/drawingml/2006/main" noGrp="1"/>
          </p:cNvSpPr>
          <p:nvPr/>
        </p:nvSpPr>
        <p:spPr>
          <a:xfrm xmlns:a="http://schemas.openxmlformats.org/drawingml/2006/main">
            <a:off x="9744075"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4" name="text-source-03">
            <a:extLst xmlns:a="http://schemas.openxmlformats.org/drawingml/2006/main">
              <a:ext uri="{FF2B5EF4-FFF2-40B4-BE49-F238E27FC236}">
                <a16:creationId xmlns:a16="http://schemas.microsoft.com/office/drawing/2014/main" id="{4271CA03-FFF8-4A64-B7DB-8FE74DE40ECF}"/>
              </a:ext>
            </a:extLst>
          </p:cNvPr>
          <p:cNvSpPr>
            <a:spLocks xmlns:a="http://schemas.openxmlformats.org/drawingml/2006/main" noGrp="1"/>
          </p:cNvSpPr>
          <p:nvPr/>
        </p:nvSpPr>
        <p:spPr>
          <a:xfrm xmlns:a="http://schemas.openxmlformats.org/drawingml/2006/main">
            <a:off x="9744075" y="4108847"/>
            <a:ext cx="258454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Додатна потврда</a:t>
            </a:r>
          </a:p>
        </p:txBody>
      </p:sp>
      <p:sp>
        <p:nvSpPr>
          <p:cNvPr id="25" name="text-source-03">
            <a:extLst xmlns:a="http://schemas.openxmlformats.org/drawingml/2006/main">
              <a:ext uri="{FF2B5EF4-FFF2-40B4-BE49-F238E27FC236}">
                <a16:creationId xmlns:a16="http://schemas.microsoft.com/office/drawing/2014/main" id="{19A657FC-CE81-4C4B-8A18-CE08C59944A4}"/>
              </a:ext>
            </a:extLst>
          </p:cNvPr>
          <p:cNvSpPr>
            <a:spLocks xmlns:a="http://schemas.openxmlformats.org/drawingml/2006/main" noGrp="1"/>
          </p:cNvSpPr>
          <p:nvPr/>
        </p:nvSpPr>
        <p:spPr>
          <a:xfrm xmlns:a="http://schemas.openxmlformats.org/drawingml/2006/main">
            <a:off x="9744075" y="4600277"/>
            <a:ext cx="226918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за ризичну радњу</a:t>
            </a:r>
          </a:p>
        </p:txBody>
      </p:sp>
      <p:sp>
        <p:nvSpPr>
          <p:cNvPr id="26" name="text-source-03">
            <a:extLst xmlns:a="http://schemas.openxmlformats.org/drawingml/2006/main">
              <a:ext uri="{FF2B5EF4-FFF2-40B4-BE49-F238E27FC236}">
                <a16:creationId xmlns:a16="http://schemas.microsoft.com/office/drawing/2014/main" id="{A84CD9E3-08A0-492B-9799-8EAE807A5E65}"/>
              </a:ext>
            </a:extLst>
          </p:cNvPr>
          <p:cNvSpPr>
            <a:spLocks xmlns:a="http://schemas.openxmlformats.org/drawingml/2006/main" noGrp="1"/>
          </p:cNvSpPr>
          <p:nvPr/>
        </p:nvSpPr>
        <p:spPr>
          <a:xfrm xmlns:a="http://schemas.openxmlformats.org/drawingml/2006/main">
            <a:off x="13868400"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04</a:t>
            </a:r>
          </a:p>
        </p:txBody>
      </p:sp>
      <p:sp>
        <p:nvSpPr>
          <p:cNvPr id="27" name="text-source-03">
            <a:extLst xmlns:a="http://schemas.openxmlformats.org/drawingml/2006/main">
              <a:ext uri="{FF2B5EF4-FFF2-40B4-BE49-F238E27FC236}">
                <a16:creationId xmlns:a16="http://schemas.microsoft.com/office/drawing/2014/main" id="{667E029A-81FD-4C9C-9D9A-FF7FEC050A2C}"/>
              </a:ext>
            </a:extLst>
          </p:cNvPr>
          <p:cNvSpPr>
            <a:spLocks xmlns:a="http://schemas.openxmlformats.org/drawingml/2006/main" noGrp="1"/>
          </p:cNvSpPr>
          <p:nvPr/>
        </p:nvSpPr>
        <p:spPr>
          <a:xfrm xmlns:a="http://schemas.openxmlformats.org/drawingml/2006/main">
            <a:off x="13868400" y="4108847"/>
            <a:ext cx="262145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Истек или опозив</a:t>
            </a:r>
          </a:p>
        </p:txBody>
      </p:sp>
      <p:sp>
        <p:nvSpPr>
          <p:cNvPr id="28" name="text-source-03">
            <a:extLst xmlns:a="http://schemas.openxmlformats.org/drawingml/2006/main">
              <a:ext uri="{FF2B5EF4-FFF2-40B4-BE49-F238E27FC236}">
                <a16:creationId xmlns:a16="http://schemas.microsoft.com/office/drawing/2014/main" id="{E7756E86-AA3C-4CBD-B203-1856C019BB4A}"/>
              </a:ext>
            </a:extLst>
          </p:cNvPr>
          <p:cNvSpPr>
            <a:spLocks xmlns:a="http://schemas.openxmlformats.org/drawingml/2006/main" noGrp="1"/>
          </p:cNvSpPr>
          <p:nvPr/>
        </p:nvSpPr>
        <p:spPr>
          <a:xfrm xmlns:a="http://schemas.openxmlformats.org/drawingml/2006/main">
            <a:off x="13868400" y="4600277"/>
            <a:ext cx="3086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прекид важења приступа</a:t>
            </a:r>
          </a:p>
        </p:txBody>
      </p:sp>
      <p:sp>
        <p:nvSpPr>
          <p:cNvPr id="29" name="text-source-03">
            <a:extLst xmlns:a="http://schemas.openxmlformats.org/drawingml/2006/main">
              <a:ext uri="{FF2B5EF4-FFF2-40B4-BE49-F238E27FC236}">
                <a16:creationId xmlns:a16="http://schemas.microsoft.com/office/drawing/2014/main" id="{F07C300A-4B52-40C5-BDB1-76B328C0795A}"/>
              </a:ext>
            </a:extLst>
          </p:cNvPr>
          <p:cNvSpPr>
            <a:spLocks xmlns:a="http://schemas.openxmlformats.org/drawingml/2006/main" noGrp="1"/>
          </p:cNvSpPr>
          <p:nvPr/>
        </p:nvSpPr>
        <p:spPr>
          <a:xfrm xmlns:a="http://schemas.openxmlformats.org/drawingml/2006/main">
            <a:off x="1504950" y="6011763"/>
            <a:ext cx="14402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ЗАКЉУЧАК</a:t>
            </a:r>
          </a:p>
        </p:txBody>
      </p:sp>
      <p:sp>
        <p:nvSpPr>
          <p:cNvPr id="30" name="text-source-03">
            <a:extLst xmlns:a="http://schemas.openxmlformats.org/drawingml/2006/main">
              <a:ext uri="{FF2B5EF4-FFF2-40B4-BE49-F238E27FC236}">
                <a16:creationId xmlns:a16="http://schemas.microsoft.com/office/drawing/2014/main" id="{E3FFB312-9265-46BE-B1D7-2870EF26AFEF}"/>
              </a:ext>
            </a:extLst>
          </p:cNvPr>
          <p:cNvSpPr>
            <a:spLocks xmlns:a="http://schemas.openxmlformats.org/drawingml/2006/main" noGrp="1"/>
          </p:cNvSpPr>
          <p:nvPr/>
        </p:nvSpPr>
        <p:spPr>
          <a:xfrm xmlns:a="http://schemas.openxmlformats.org/drawingml/2006/main">
            <a:off x="1504950" y="6417469"/>
            <a:ext cx="1109230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Поверење се не чува заувек. Систем га обнавља или опозива када се промени ризик.</a:t>
            </a:r>
          </a:p>
        </p:txBody>
      </p:sp>
      <p:sp>
        <p:nvSpPr>
          <p:cNvPr id="31" name="text-source-03">
            <a:extLst xmlns:a="http://schemas.openxmlformats.org/drawingml/2006/main">
              <a:ext uri="{FF2B5EF4-FFF2-40B4-BE49-F238E27FC236}">
                <a16:creationId xmlns:a16="http://schemas.microsoft.com/office/drawing/2014/main" id="{076371EB-1548-4908-AA1A-6C52CCE10359}"/>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32" name="text-source-03">
            <a:extLst xmlns:a="http://schemas.openxmlformats.org/drawingml/2006/main">
              <a:ext uri="{FF2B5EF4-FFF2-40B4-BE49-F238E27FC236}">
                <a16:creationId xmlns:a16="http://schemas.microsoft.com/office/drawing/2014/main" id="{6D842F56-044B-4B07-A5EC-BEF81428908D}"/>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05</a:t>
            </a:r>
          </a:p>
        </p:txBody>
      </p:sp>
    </p:spTree>
    <p:extLst>
      <p:ext uri="{BB962C8B-B14F-4D97-AF65-F5344CB8AC3E}">
        <p14:creationId xmlns:p14="http://schemas.microsoft.com/office/powerpoint/2010/main" val="641389816"/>
      </p:ext>
    </p:extLst>
  </p:cSld>
</p:sld>
</file>

<file path=ppt/slides/slide6.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811904B-6C08-4316-B51F-39AAF358D571}"/>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57A226-34EC-4966-9582-73D7DA84A37F}"/>
              </a:ext>
            </a:extLst>
          </p:cNvPr>
          <p:cNvSpPr>
            <a:spLocks xmlns:a="http://schemas.openxmlformats.org/drawingml/2006/main" noGrp="1"/>
          </p:cNvSpPr>
          <p:nvPr/>
        </p:nvSpPr>
        <p:spPr>
          <a:xfrm xmlns:a="http://schemas.openxmlformats.org/drawingml/2006/main">
            <a:off x="1219200" y="3112591"/>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0DF9F4-44FA-47E7-BDE4-3221CFF66D84}"/>
              </a:ext>
            </a:extLst>
          </p:cNvPr>
          <p:cNvSpPr>
            <a:spLocks xmlns:a="http://schemas.openxmlformats.org/drawingml/2006/main" noGrp="1"/>
          </p:cNvSpPr>
          <p:nvPr/>
        </p:nvSpPr>
        <p:spPr>
          <a:xfrm xmlns:a="http://schemas.openxmlformats.org/drawingml/2006/main">
            <a:off x="1219200" y="4245918"/>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557EC1-F1BD-4789-BABA-639B797139EF}"/>
              </a:ext>
            </a:extLst>
          </p:cNvPr>
          <p:cNvSpPr>
            <a:spLocks xmlns:a="http://schemas.openxmlformats.org/drawingml/2006/main" noGrp="1"/>
          </p:cNvSpPr>
          <p:nvPr/>
        </p:nvSpPr>
        <p:spPr>
          <a:xfrm xmlns:a="http://schemas.openxmlformats.org/drawingml/2006/main">
            <a:off x="1219200" y="5379244"/>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0BDA02-75B9-4246-BFB3-154D97101EF5}"/>
              </a:ext>
            </a:extLst>
          </p:cNvPr>
          <p:cNvSpPr>
            <a:spLocks xmlns:a="http://schemas.openxmlformats.org/drawingml/2006/main" noGrp="1"/>
          </p:cNvSpPr>
          <p:nvPr/>
        </p:nvSpPr>
        <p:spPr>
          <a:xfrm xmlns:a="http://schemas.openxmlformats.org/drawingml/2006/main">
            <a:off x="1219200" y="6607820"/>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96A8EAB9-56F7-43E4-93F1-84CA4B6F5C27}"/>
              </a:ext>
            </a:extLst>
          </p:cNvPr>
          <p:cNvSpPr>
            <a:spLocks xmlns:a="http://schemas.openxmlformats.org/drawingml/2006/main" noGrp="1"/>
          </p:cNvSpPr>
          <p:nvPr/>
        </p:nvSpPr>
        <p:spPr>
          <a:xfrm xmlns:a="http://schemas.openxmlformats.org/drawingml/2006/main">
            <a:off x="1219200" y="6607820"/>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1A9CB1-0EAF-4E59-9B61-ADC9345D5949}"/>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04">
            <a:extLst xmlns:a="http://schemas.openxmlformats.org/drawingml/2006/main">
              <a:ext uri="{FF2B5EF4-FFF2-40B4-BE49-F238E27FC236}">
                <a16:creationId xmlns:a16="http://schemas.microsoft.com/office/drawing/2014/main" id="{9090A2A3-2B41-4BDB-ADBB-D5B231361E4A}"/>
              </a:ext>
            </a:extLst>
          </p:cNvPr>
          <p:cNvSpPr>
            <a:spLocks xmlns:a="http://schemas.openxmlformats.org/drawingml/2006/main" noGrp="1"/>
          </p:cNvSpPr>
          <p:nvPr/>
        </p:nvSpPr>
        <p:spPr>
          <a:xfrm xmlns:a="http://schemas.openxmlformats.org/drawingml/2006/main">
            <a:off x="1219200" y="1066800"/>
            <a:ext cx="22175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01 · ПРИЈАВА</a:t>
            </a:r>
          </a:p>
        </p:txBody>
      </p:sp>
      <p:sp>
        <p:nvSpPr>
          <p:cNvPr id="9" name="heading-source-04">
            <a:extLst xmlns:a="http://schemas.openxmlformats.org/drawingml/2006/main">
              <a:ext uri="{FF2B5EF4-FFF2-40B4-BE49-F238E27FC236}">
                <a16:creationId xmlns:a16="http://schemas.microsoft.com/office/drawing/2014/main" id="{2F55CF73-E02A-4D6E-A62F-9A1CBDA5BE18}"/>
              </a:ext>
            </a:extLst>
          </p:cNvPr>
          <p:cNvSpPr>
            <a:spLocks xmlns:a="http://schemas.openxmlformats.org/drawingml/2006/main" noGrp="1"/>
          </p:cNvSpPr>
          <p:nvPr/>
        </p:nvSpPr>
        <p:spPr>
          <a:xfrm xmlns:a="http://schemas.openxmlformats.org/drawingml/2006/main">
            <a:off x="1219200" y="1443930"/>
            <a:ext cx="2489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Пријава</a:t>
            </a:r>
          </a:p>
        </p:txBody>
      </p:sp>
      <p:sp>
        <p:nvSpPr>
          <p:cNvPr id="10" name="text-source-04">
            <a:extLst xmlns:a="http://schemas.openxmlformats.org/drawingml/2006/main">
              <a:ext uri="{FF2B5EF4-FFF2-40B4-BE49-F238E27FC236}">
                <a16:creationId xmlns:a16="http://schemas.microsoft.com/office/drawing/2014/main" id="{765E80C9-925C-48E1-A55F-80680E0F3A35}"/>
              </a:ext>
            </a:extLst>
          </p:cNvPr>
          <p:cNvSpPr>
            <a:spLocks xmlns:a="http://schemas.openxmlformats.org/drawingml/2006/main" noGrp="1"/>
          </p:cNvSpPr>
          <p:nvPr/>
        </p:nvSpPr>
        <p:spPr>
          <a:xfrm xmlns:a="http://schemas.openxmlformats.org/drawingml/2006/main">
            <a:off x="1219200" y="2444055"/>
            <a:ext cx="394394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почетна потврда идентитета</a:t>
            </a:r>
          </a:p>
        </p:txBody>
      </p:sp>
      <p:sp>
        <p:nvSpPr>
          <p:cNvPr id="11" name="text-source-04">
            <a:extLst xmlns:a="http://schemas.openxmlformats.org/drawingml/2006/main">
              <a:ext uri="{FF2B5EF4-FFF2-40B4-BE49-F238E27FC236}">
                <a16:creationId xmlns:a16="http://schemas.microsoft.com/office/drawing/2014/main" id="{48629132-19A4-45C5-B541-2E977962C5F9}"/>
              </a:ext>
            </a:extLst>
          </p:cNvPr>
          <p:cNvSpPr>
            <a:spLocks xmlns:a="http://schemas.openxmlformats.org/drawingml/2006/main" noGrp="1"/>
          </p:cNvSpPr>
          <p:nvPr/>
        </p:nvSpPr>
        <p:spPr>
          <a:xfrm xmlns:a="http://schemas.openxmlformats.org/drawingml/2006/main">
            <a:off x="121920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2" name="text-source-04">
            <a:extLst xmlns:a="http://schemas.openxmlformats.org/drawingml/2006/main">
              <a:ext uri="{FF2B5EF4-FFF2-40B4-BE49-F238E27FC236}">
                <a16:creationId xmlns:a16="http://schemas.microsoft.com/office/drawing/2014/main" id="{3BFF226C-7374-4D6B-B526-869CFE23EBAE}"/>
              </a:ext>
            </a:extLst>
          </p:cNvPr>
          <p:cNvSpPr>
            <a:spLocks xmlns:a="http://schemas.openxmlformats.org/drawingml/2006/main" noGrp="1"/>
          </p:cNvSpPr>
          <p:nvPr/>
        </p:nvSpPr>
        <p:spPr>
          <a:xfrm xmlns:a="http://schemas.openxmlformats.org/drawingml/2006/main">
            <a:off x="2247900" y="3303091"/>
            <a:ext cx="11493401"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Пријава потврђује идентитет у једном тренутку, не говори шта субјекат сме да ради касније.</a:t>
            </a:r>
          </a:p>
        </p:txBody>
      </p:sp>
      <p:sp>
        <p:nvSpPr>
          <p:cNvPr id="13" name="text-source-04">
            <a:extLst xmlns:a="http://schemas.openxmlformats.org/drawingml/2006/main">
              <a:ext uri="{FF2B5EF4-FFF2-40B4-BE49-F238E27FC236}">
                <a16:creationId xmlns:a16="http://schemas.microsoft.com/office/drawing/2014/main" id="{90FA1298-95CC-4149-9670-87D3E9A74484}"/>
              </a:ext>
            </a:extLst>
          </p:cNvPr>
          <p:cNvSpPr>
            <a:spLocks xmlns:a="http://schemas.openxmlformats.org/drawingml/2006/main" noGrp="1"/>
          </p:cNvSpPr>
          <p:nvPr/>
        </p:nvSpPr>
        <p:spPr>
          <a:xfrm xmlns:a="http://schemas.openxmlformats.org/drawingml/2006/main">
            <a:off x="2247900" y="3716387"/>
            <a:ext cx="455622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улаз покреће ову одлуку?</a:t>
            </a:r>
          </a:p>
        </p:txBody>
      </p:sp>
      <p:sp>
        <p:nvSpPr>
          <p:cNvPr id="14" name="text-source-04">
            <a:extLst xmlns:a="http://schemas.openxmlformats.org/drawingml/2006/main">
              <a:ext uri="{FF2B5EF4-FFF2-40B4-BE49-F238E27FC236}">
                <a16:creationId xmlns:a16="http://schemas.microsoft.com/office/drawing/2014/main" id="{C6C6CAB7-DF35-4F98-8BDA-D5A781F65DFC}"/>
              </a:ext>
            </a:extLst>
          </p:cNvPr>
          <p:cNvSpPr>
            <a:spLocks xmlns:a="http://schemas.openxmlformats.org/drawingml/2006/main" noGrp="1"/>
          </p:cNvSpPr>
          <p:nvPr/>
        </p:nvSpPr>
        <p:spPr>
          <a:xfrm xmlns:a="http://schemas.openxmlformats.org/drawingml/2006/main">
            <a:off x="1219200" y="444594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5" name="text-source-04">
            <a:extLst xmlns:a="http://schemas.openxmlformats.org/drawingml/2006/main">
              <a:ext uri="{FF2B5EF4-FFF2-40B4-BE49-F238E27FC236}">
                <a16:creationId xmlns:a16="http://schemas.microsoft.com/office/drawing/2014/main" id="{5A8C587D-3DA8-45BE-8D90-CA25FB2EF604}"/>
              </a:ext>
            </a:extLst>
          </p:cNvPr>
          <p:cNvSpPr>
            <a:spLocks xmlns:a="http://schemas.openxmlformats.org/drawingml/2006/main" noGrp="1"/>
          </p:cNvSpPr>
          <p:nvPr/>
        </p:nvSpPr>
        <p:spPr>
          <a:xfrm xmlns:a="http://schemas.openxmlformats.org/drawingml/2006/main">
            <a:off x="2247900" y="4436418"/>
            <a:ext cx="996523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Вишефакторска потврда вреди за субјекта који ју је дао и за ограничено време.</a:t>
            </a:r>
          </a:p>
        </p:txBody>
      </p:sp>
      <p:sp>
        <p:nvSpPr>
          <p:cNvPr id="16" name="text-source-04">
            <a:extLst xmlns:a="http://schemas.openxmlformats.org/drawingml/2006/main">
              <a:ext uri="{FF2B5EF4-FFF2-40B4-BE49-F238E27FC236}">
                <a16:creationId xmlns:a16="http://schemas.microsoft.com/office/drawing/2014/main" id="{0CFBD571-7B8B-4779-9B6F-13DEA07FFBA9}"/>
              </a:ext>
            </a:extLst>
          </p:cNvPr>
          <p:cNvSpPr>
            <a:spLocks xmlns:a="http://schemas.openxmlformats.org/drawingml/2006/main" noGrp="1"/>
          </p:cNvSpPr>
          <p:nvPr/>
        </p:nvSpPr>
        <p:spPr>
          <a:xfrm xmlns:a="http://schemas.openxmlformats.org/drawingml/2006/main">
            <a:off x="2247900" y="4849713"/>
            <a:ext cx="494972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која граница мора бити видљива?</a:t>
            </a:r>
          </a:p>
        </p:txBody>
      </p:sp>
      <p:sp>
        <p:nvSpPr>
          <p:cNvPr id="17" name="text-source-04">
            <a:extLst xmlns:a="http://schemas.openxmlformats.org/drawingml/2006/main">
              <a:ext uri="{FF2B5EF4-FFF2-40B4-BE49-F238E27FC236}">
                <a16:creationId xmlns:a16="http://schemas.microsoft.com/office/drawing/2014/main" id="{EA08E50A-04B9-46B6-81C0-F7C86F673F65}"/>
              </a:ext>
            </a:extLst>
          </p:cNvPr>
          <p:cNvSpPr>
            <a:spLocks xmlns:a="http://schemas.openxmlformats.org/drawingml/2006/main" noGrp="1"/>
          </p:cNvSpPr>
          <p:nvPr/>
        </p:nvSpPr>
        <p:spPr>
          <a:xfrm xmlns:a="http://schemas.openxmlformats.org/drawingml/2006/main">
            <a:off x="1219200" y="557926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18" name="text-source-04">
            <a:extLst xmlns:a="http://schemas.openxmlformats.org/drawingml/2006/main">
              <a:ext uri="{FF2B5EF4-FFF2-40B4-BE49-F238E27FC236}">
                <a16:creationId xmlns:a16="http://schemas.microsoft.com/office/drawing/2014/main" id="{3ADF7FD3-76A9-4CD2-968D-3CE026004700}"/>
              </a:ext>
            </a:extLst>
          </p:cNvPr>
          <p:cNvSpPr>
            <a:spLocks xmlns:a="http://schemas.openxmlformats.org/drawingml/2006/main" noGrp="1"/>
          </p:cNvSpPr>
          <p:nvPr/>
        </p:nvSpPr>
        <p:spPr>
          <a:xfrm xmlns:a="http://schemas.openxmlformats.org/drawingml/2006/main">
            <a:off x="2247900" y="5569744"/>
            <a:ext cx="929282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Систем бележи време и начин потврде, али никада саму лозинку или код.</a:t>
            </a:r>
          </a:p>
        </p:txBody>
      </p:sp>
      <p:sp>
        <p:nvSpPr>
          <p:cNvPr id="19" name="text-source-04">
            <a:extLst xmlns:a="http://schemas.openxmlformats.org/drawingml/2006/main">
              <a:ext uri="{FF2B5EF4-FFF2-40B4-BE49-F238E27FC236}">
                <a16:creationId xmlns:a16="http://schemas.microsoft.com/office/drawing/2014/main" id="{A3970C21-914F-45EA-B996-33EB81DC11E6}"/>
              </a:ext>
            </a:extLst>
          </p:cNvPr>
          <p:cNvSpPr>
            <a:spLocks xmlns:a="http://schemas.openxmlformats.org/drawingml/2006/main" noGrp="1"/>
          </p:cNvSpPr>
          <p:nvPr/>
        </p:nvSpPr>
        <p:spPr>
          <a:xfrm xmlns:a="http://schemas.openxmlformats.org/drawingml/2006/main">
            <a:off x="2247900" y="5983039"/>
            <a:ext cx="471934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доказ остаје после исхода?</a:t>
            </a:r>
          </a:p>
        </p:txBody>
      </p:sp>
      <p:sp>
        <p:nvSpPr>
          <p:cNvPr id="20" name="text-source-04">
            <a:extLst xmlns:a="http://schemas.openxmlformats.org/drawingml/2006/main">
              <a:ext uri="{FF2B5EF4-FFF2-40B4-BE49-F238E27FC236}">
                <a16:creationId xmlns:a16="http://schemas.microsoft.com/office/drawing/2014/main" id="{4560E2AA-EA5A-48D0-8C0D-599E915A0082}"/>
              </a:ext>
            </a:extLst>
          </p:cNvPr>
          <p:cNvSpPr>
            <a:spLocks xmlns:a="http://schemas.openxmlformats.org/drawingml/2006/main" noGrp="1"/>
          </p:cNvSpPr>
          <p:nvPr/>
        </p:nvSpPr>
        <p:spPr>
          <a:xfrm xmlns:a="http://schemas.openxmlformats.org/drawingml/2006/main">
            <a:off x="1504950" y="6798320"/>
            <a:ext cx="2674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ПИТАЊЕ ЗА АНАЛИЗУ</a:t>
            </a:r>
          </a:p>
        </p:txBody>
      </p:sp>
      <p:sp>
        <p:nvSpPr>
          <p:cNvPr id="21" name="text-source-04">
            <a:extLst xmlns:a="http://schemas.openxmlformats.org/drawingml/2006/main">
              <a:ext uri="{FF2B5EF4-FFF2-40B4-BE49-F238E27FC236}">
                <a16:creationId xmlns:a16="http://schemas.microsoft.com/office/drawing/2014/main" id="{7EA84586-B04B-462E-83FC-03742BB2832E}"/>
              </a:ext>
            </a:extLst>
          </p:cNvPr>
          <p:cNvSpPr>
            <a:spLocks xmlns:a="http://schemas.openxmlformats.org/drawingml/2006/main" noGrp="1"/>
          </p:cNvSpPr>
          <p:nvPr/>
        </p:nvSpPr>
        <p:spPr>
          <a:xfrm xmlns:a="http://schemas.openxmlformats.org/drawingml/2006/main">
            <a:off x="1504950" y="7204025"/>
            <a:ext cx="1083677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Шта ваш систем зна о кориснику одмах после пријаве, а шта тек треба да провери?</a:t>
            </a:r>
          </a:p>
        </p:txBody>
      </p:sp>
      <p:sp>
        <p:nvSpPr>
          <p:cNvPr id="22" name="text-source-04">
            <a:extLst xmlns:a="http://schemas.openxmlformats.org/drawingml/2006/main">
              <a:ext uri="{FF2B5EF4-FFF2-40B4-BE49-F238E27FC236}">
                <a16:creationId xmlns:a16="http://schemas.microsoft.com/office/drawing/2014/main" id="{56AEAE90-4FFB-445B-BDDD-C9F6F66B9749}"/>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3" name="text-source-04">
            <a:extLst xmlns:a="http://schemas.openxmlformats.org/drawingml/2006/main">
              <a:ext uri="{FF2B5EF4-FFF2-40B4-BE49-F238E27FC236}">
                <a16:creationId xmlns:a16="http://schemas.microsoft.com/office/drawing/2014/main" id="{8C459A7B-1C55-4F4E-8303-F4E9CAB57359}"/>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06</a:t>
            </a:r>
          </a:p>
        </p:txBody>
      </p:sp>
    </p:spTree>
    <p:extLst>
      <p:ext uri="{BB962C8B-B14F-4D97-AF65-F5344CB8AC3E}">
        <p14:creationId xmlns:p14="http://schemas.microsoft.com/office/powerpoint/2010/main" val="1860464301"/>
      </p:ext>
    </p:extLst>
  </p:cSld>
</p:sld>
</file>

<file path=ppt/slides/slide7.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6E1E7BB-78D7-4290-AF9E-9FC9A04689D7}"/>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A4ED00-F164-44D7-9CC0-F66A42CBDC79}"/>
              </a:ext>
            </a:extLst>
          </p:cNvPr>
          <p:cNvSpPr>
            <a:spLocks xmlns:a="http://schemas.openxmlformats.org/drawingml/2006/main" noGrp="1"/>
          </p:cNvSpPr>
          <p:nvPr/>
        </p:nvSpPr>
        <p:spPr>
          <a:xfrm xmlns:a="http://schemas.openxmlformats.org/drawingml/2006/main">
            <a:off x="1219200" y="3112591"/>
            <a:ext cx="5156150" cy="2289423"/>
          </a:xfrm>
          <a:prstGeom xmlns:a="http://schemas.openxmlformats.org/drawingml/2006/main" prst="roundRect">
            <a:avLst>
              <a:gd name="adj" fmla="val 6657"/>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47B5C1C8-7172-4EC9-89B5-6B92E8A6AD8A}"/>
              </a:ext>
            </a:extLst>
          </p:cNvPr>
          <p:cNvSpPr>
            <a:spLocks xmlns:a="http://schemas.openxmlformats.org/drawingml/2006/main" noGrp="1"/>
          </p:cNvSpPr>
          <p:nvPr/>
        </p:nvSpPr>
        <p:spPr>
          <a:xfrm xmlns:a="http://schemas.openxmlformats.org/drawingml/2006/main">
            <a:off x="6565850" y="3112591"/>
            <a:ext cx="5156299" cy="2289423"/>
          </a:xfrm>
          <a:prstGeom xmlns:a="http://schemas.openxmlformats.org/drawingml/2006/main" prst="roundRect">
            <a:avLst>
              <a:gd name="adj" fmla="val 6657"/>
            </a:avLst>
          </a:prstGeom>
          <a:solidFill xmlns:a="http://schemas.openxmlformats.org/drawingml/2006/main">
            <a:srgbClr val="FCFCFB"/>
          </a:solidFill>
          <a:ln xmlns:a="http://schemas.openxmlformats.org/drawingml/2006/main" w="9525">
            <a:solidFill>
              <a:srgbClr val="D3DAE1"/>
            </a:solidFill>
          </a:ln>
        </p:spPr>
      </p:sp>
      <p:sp>
        <p:nvSpPr>
          <p:cNvPr id="4" name="">
            <a:extLst xmlns:a="http://schemas.openxmlformats.org/drawingml/2006/main">
              <a:ext uri="{FF2B5EF4-FFF2-40B4-BE49-F238E27FC236}">
                <a16:creationId xmlns:a16="http://schemas.microsoft.com/office/drawing/2014/main" id="{B5CC0E4F-EB79-466A-9010-79FEEFF78718}"/>
              </a:ext>
            </a:extLst>
          </p:cNvPr>
          <p:cNvSpPr>
            <a:spLocks xmlns:a="http://schemas.openxmlformats.org/drawingml/2006/main" noGrp="1"/>
          </p:cNvSpPr>
          <p:nvPr/>
        </p:nvSpPr>
        <p:spPr>
          <a:xfrm xmlns:a="http://schemas.openxmlformats.org/drawingml/2006/main">
            <a:off x="11912650" y="3112591"/>
            <a:ext cx="5156150" cy="2289423"/>
          </a:xfrm>
          <a:prstGeom xmlns:a="http://schemas.openxmlformats.org/drawingml/2006/main" prst="roundRect">
            <a:avLst>
              <a:gd name="adj" fmla="val 6657"/>
            </a:avLst>
          </a:prstGeom>
          <a:solidFill xmlns:a="http://schemas.openxmlformats.org/drawingml/2006/main">
            <a:srgbClr val="FCFCFB"/>
          </a:solidFill>
          <a:ln xmlns:a="http://schemas.openxmlformats.org/drawingml/2006/main" w="9525">
            <a:solidFill>
              <a:srgbClr val="D3DAE1"/>
            </a:solidFill>
          </a:ln>
        </p:spPr>
      </p:sp>
      <p:sp>
        <p:nvSpPr>
          <p:cNvPr id="5" name="">
            <a:extLst xmlns:a="http://schemas.openxmlformats.org/drawingml/2006/main">
              <a:ext uri="{FF2B5EF4-FFF2-40B4-BE49-F238E27FC236}">
                <a16:creationId xmlns:a16="http://schemas.microsoft.com/office/drawing/2014/main" id="{480D09A0-5A29-48D9-AB3B-94F7C1CD6CBE}"/>
              </a:ext>
            </a:extLst>
          </p:cNvPr>
          <p:cNvSpPr>
            <a:spLocks xmlns:a="http://schemas.openxmlformats.org/drawingml/2006/main" noGrp="1"/>
          </p:cNvSpPr>
          <p:nvPr/>
        </p:nvSpPr>
        <p:spPr>
          <a:xfrm xmlns:a="http://schemas.openxmlformats.org/drawingml/2006/main">
            <a:off x="1219200" y="5706814"/>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E3CD9767-7017-4140-AEE4-7FBADD2C08C5}"/>
              </a:ext>
            </a:extLst>
          </p:cNvPr>
          <p:cNvSpPr>
            <a:spLocks xmlns:a="http://schemas.openxmlformats.org/drawingml/2006/main" noGrp="1"/>
          </p:cNvSpPr>
          <p:nvPr/>
        </p:nvSpPr>
        <p:spPr>
          <a:xfrm xmlns:a="http://schemas.openxmlformats.org/drawingml/2006/main">
            <a:off x="1219200" y="5706814"/>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6E3000-1D65-4D51-82ED-BEE63F64074A}"/>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mfa-faktori">
            <a:extLst xmlns:a="http://schemas.openxmlformats.org/drawingml/2006/main">
              <a:ext uri="{FF2B5EF4-FFF2-40B4-BE49-F238E27FC236}">
                <a16:creationId xmlns:a16="http://schemas.microsoft.com/office/drawing/2014/main" id="{18F43E6C-11F8-4182-90F0-901BA15F59C2}"/>
              </a:ext>
            </a:extLst>
          </p:cNvPr>
          <p:cNvSpPr>
            <a:spLocks xmlns:a="http://schemas.openxmlformats.org/drawingml/2006/main" noGrp="1"/>
          </p:cNvSpPr>
          <p:nvPr/>
        </p:nvSpPr>
        <p:spPr>
          <a:xfrm xmlns:a="http://schemas.openxmlformats.org/drawingml/2006/main">
            <a:off x="1219200" y="1066800"/>
            <a:ext cx="37796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01 · ДОДАТНО ОБЈАШЊЕЊЕ</a:t>
            </a:r>
          </a:p>
        </p:txBody>
      </p:sp>
      <p:sp>
        <p:nvSpPr>
          <p:cNvPr id="9" name="heading-mfa-faktori">
            <a:extLst xmlns:a="http://schemas.openxmlformats.org/drawingml/2006/main">
              <a:ext uri="{FF2B5EF4-FFF2-40B4-BE49-F238E27FC236}">
                <a16:creationId xmlns:a16="http://schemas.microsoft.com/office/drawing/2014/main" id="{C5B7FBC9-15F7-4218-B626-0598FDB6A292}"/>
              </a:ext>
            </a:extLst>
          </p:cNvPr>
          <p:cNvSpPr>
            <a:spLocks xmlns:a="http://schemas.openxmlformats.org/drawingml/2006/main" noGrp="1"/>
          </p:cNvSpPr>
          <p:nvPr/>
        </p:nvSpPr>
        <p:spPr>
          <a:xfrm xmlns:a="http://schemas.openxmlformats.org/drawingml/2006/main">
            <a:off x="1219200" y="1443930"/>
            <a:ext cx="9703147"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246"/>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MFA комбинује различите факторе</a:t>
            </a:r>
          </a:p>
        </p:txBody>
      </p:sp>
      <p:sp>
        <p:nvSpPr>
          <p:cNvPr id="10" name="text-mfa-faktori">
            <a:extLst xmlns:a="http://schemas.openxmlformats.org/drawingml/2006/main">
              <a:ext uri="{FF2B5EF4-FFF2-40B4-BE49-F238E27FC236}">
                <a16:creationId xmlns:a16="http://schemas.microsoft.com/office/drawing/2014/main" id="{0B58445C-BAD5-4A62-8046-D886CD75A3DE}"/>
              </a:ext>
            </a:extLst>
          </p:cNvPr>
          <p:cNvSpPr>
            <a:spLocks xmlns:a="http://schemas.openxmlformats.org/drawingml/2006/main" noGrp="1"/>
          </p:cNvSpPr>
          <p:nvPr/>
        </p:nvSpPr>
        <p:spPr>
          <a:xfrm xmlns:a="http://schemas.openxmlformats.org/drawingml/2006/main">
            <a:off x="1219200" y="2444055"/>
            <a:ext cx="1058078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Фактори треба да буду независни, а опоравак налога не сме да заобиђе заштиту.</a:t>
            </a:r>
          </a:p>
        </p:txBody>
      </p:sp>
      <p:sp>
        <p:nvSpPr>
          <p:cNvPr id="11" name="text-mfa-faktori">
            <a:extLst xmlns:a="http://schemas.openxmlformats.org/drawingml/2006/main">
              <a:ext uri="{FF2B5EF4-FFF2-40B4-BE49-F238E27FC236}">
                <a16:creationId xmlns:a16="http://schemas.microsoft.com/office/drawing/2014/main" id="{D1B352DC-A8C9-4B07-BC7D-2FE5529B464E}"/>
              </a:ext>
            </a:extLst>
          </p:cNvPr>
          <p:cNvSpPr>
            <a:spLocks xmlns:a="http://schemas.openxmlformats.org/drawingml/2006/main" noGrp="1"/>
          </p:cNvSpPr>
          <p:nvPr/>
        </p:nvSpPr>
        <p:spPr>
          <a:xfrm xmlns:a="http://schemas.openxmlformats.org/drawingml/2006/main">
            <a:off x="1495425" y="3388816"/>
            <a:ext cx="1028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ЗНАЊЕ</a:t>
            </a:r>
          </a:p>
        </p:txBody>
      </p:sp>
      <p:sp>
        <p:nvSpPr>
          <p:cNvPr id="12" name="text-mfa-faktori">
            <a:extLst xmlns:a="http://schemas.openxmlformats.org/drawingml/2006/main">
              <a:ext uri="{FF2B5EF4-FFF2-40B4-BE49-F238E27FC236}">
                <a16:creationId xmlns:a16="http://schemas.microsoft.com/office/drawing/2014/main" id="{CBB4C772-87AE-460B-85AE-624D4B850C0A}"/>
              </a:ext>
            </a:extLst>
          </p:cNvPr>
          <p:cNvSpPr>
            <a:spLocks xmlns:a="http://schemas.openxmlformats.org/drawingml/2006/main" noGrp="1"/>
          </p:cNvSpPr>
          <p:nvPr/>
        </p:nvSpPr>
        <p:spPr>
          <a:xfrm xmlns:a="http://schemas.openxmlformats.org/drawingml/2006/main">
            <a:off x="1495425" y="3842147"/>
            <a:ext cx="2921347"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1">
                <a:solidFill>
                  <a:srgbClr val="13202D"/>
                </a:solidFill>
                <a:latin typeface="IBM Plex Sans"/>
                <a:ea typeface="IBM Plex Sans"/>
                <a:cs typeface="IBM Plex Sans"/>
              </a:rPr>
              <a:t>Нешто што знамо</a:t>
            </a:r>
          </a:p>
        </p:txBody>
      </p:sp>
      <p:sp>
        <p:nvSpPr>
          <p:cNvPr id="13" name="text-mfa-faktori">
            <a:extLst xmlns:a="http://schemas.openxmlformats.org/drawingml/2006/main">
              <a:ext uri="{FF2B5EF4-FFF2-40B4-BE49-F238E27FC236}">
                <a16:creationId xmlns:a16="http://schemas.microsoft.com/office/drawing/2014/main" id="{90316466-D61C-474D-99F6-7A02F12DED09}"/>
              </a:ext>
            </a:extLst>
          </p:cNvPr>
          <p:cNvSpPr>
            <a:spLocks xmlns:a="http://schemas.openxmlformats.org/drawingml/2006/main" noGrp="1"/>
          </p:cNvSpPr>
          <p:nvPr/>
        </p:nvSpPr>
        <p:spPr>
          <a:xfrm xmlns:a="http://schemas.openxmlformats.org/drawingml/2006/main">
            <a:off x="1495425" y="4388793"/>
            <a:ext cx="434697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Лозинка или други меморисани </a:t>
            </a:r>
          </a:p>
        </p:txBody>
      </p:sp>
      <p:sp>
        <p:nvSpPr>
          <p:cNvPr id="14" name="text-mfa-faktori">
            <a:extLst xmlns:a="http://schemas.openxmlformats.org/drawingml/2006/main">
              <a:ext uri="{FF2B5EF4-FFF2-40B4-BE49-F238E27FC236}">
                <a16:creationId xmlns:a16="http://schemas.microsoft.com/office/drawing/2014/main" id="{FC77CD92-BD9E-4F4A-A998-FB26DBDC31A0}"/>
              </a:ext>
            </a:extLst>
          </p:cNvPr>
          <p:cNvSpPr>
            <a:spLocks xmlns:a="http://schemas.openxmlformats.org/drawingml/2006/main" noGrp="1"/>
          </p:cNvSpPr>
          <p:nvPr/>
        </p:nvSpPr>
        <p:spPr>
          <a:xfrm xmlns:a="http://schemas.openxmlformats.org/drawingml/2006/main">
            <a:off x="1495425" y="4762054"/>
            <a:ext cx="142517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податак.</a:t>
            </a:r>
          </a:p>
        </p:txBody>
      </p:sp>
      <p:sp>
        <p:nvSpPr>
          <p:cNvPr id="15" name="text-mfa-faktori">
            <a:extLst xmlns:a="http://schemas.openxmlformats.org/drawingml/2006/main">
              <a:ext uri="{FF2B5EF4-FFF2-40B4-BE49-F238E27FC236}">
                <a16:creationId xmlns:a16="http://schemas.microsoft.com/office/drawing/2014/main" id="{813C6312-9715-4274-AF9F-143562459478}"/>
              </a:ext>
            </a:extLst>
          </p:cNvPr>
          <p:cNvSpPr>
            <a:spLocks xmlns:a="http://schemas.openxmlformats.org/drawingml/2006/main" noGrp="1"/>
          </p:cNvSpPr>
          <p:nvPr/>
        </p:nvSpPr>
        <p:spPr>
          <a:xfrm xmlns:a="http://schemas.openxmlformats.org/drawingml/2006/main">
            <a:off x="6842075" y="3388816"/>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ПОСЕДОВАЊЕ</a:t>
            </a:r>
          </a:p>
        </p:txBody>
      </p:sp>
      <p:sp>
        <p:nvSpPr>
          <p:cNvPr id="16" name="text-mfa-faktori">
            <a:extLst xmlns:a="http://schemas.openxmlformats.org/drawingml/2006/main">
              <a:ext uri="{FF2B5EF4-FFF2-40B4-BE49-F238E27FC236}">
                <a16:creationId xmlns:a16="http://schemas.microsoft.com/office/drawing/2014/main" id="{A1B09F91-9CED-4BF1-8D29-C03AFE1EB66E}"/>
              </a:ext>
            </a:extLst>
          </p:cNvPr>
          <p:cNvSpPr>
            <a:spLocks xmlns:a="http://schemas.openxmlformats.org/drawingml/2006/main" noGrp="1"/>
          </p:cNvSpPr>
          <p:nvPr/>
        </p:nvSpPr>
        <p:spPr>
          <a:xfrm xmlns:a="http://schemas.openxmlformats.org/drawingml/2006/main">
            <a:off x="6842075" y="3842147"/>
            <a:ext cx="298073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1">
                <a:solidFill>
                  <a:srgbClr val="13202D"/>
                </a:solidFill>
                <a:latin typeface="IBM Plex Sans"/>
                <a:ea typeface="IBM Plex Sans"/>
                <a:cs typeface="IBM Plex Sans"/>
              </a:rPr>
              <a:t>Нешто што имамо</a:t>
            </a:r>
          </a:p>
        </p:txBody>
      </p:sp>
      <p:sp>
        <p:nvSpPr>
          <p:cNvPr id="17" name="text-mfa-faktori">
            <a:extLst xmlns:a="http://schemas.openxmlformats.org/drawingml/2006/main">
              <a:ext uri="{FF2B5EF4-FFF2-40B4-BE49-F238E27FC236}">
                <a16:creationId xmlns:a16="http://schemas.microsoft.com/office/drawing/2014/main" id="{47F7E5EE-F5C7-44B9-8934-7BE6DDE3AD7E}"/>
              </a:ext>
            </a:extLst>
          </p:cNvPr>
          <p:cNvSpPr>
            <a:spLocks xmlns:a="http://schemas.openxmlformats.org/drawingml/2006/main" noGrp="1"/>
          </p:cNvSpPr>
          <p:nvPr/>
        </p:nvSpPr>
        <p:spPr>
          <a:xfrm xmlns:a="http://schemas.openxmlformats.org/drawingml/2006/main">
            <a:off x="6842075" y="4388793"/>
            <a:ext cx="415141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Уређај или безбедносни кључ.</a:t>
            </a:r>
          </a:p>
        </p:txBody>
      </p:sp>
      <p:sp>
        <p:nvSpPr>
          <p:cNvPr id="18" name="text-mfa-faktori">
            <a:extLst xmlns:a="http://schemas.openxmlformats.org/drawingml/2006/main">
              <a:ext uri="{FF2B5EF4-FFF2-40B4-BE49-F238E27FC236}">
                <a16:creationId xmlns:a16="http://schemas.microsoft.com/office/drawing/2014/main" id="{F5509A05-3463-40EA-990C-70104D3D35C4}"/>
              </a:ext>
            </a:extLst>
          </p:cNvPr>
          <p:cNvSpPr>
            <a:spLocks xmlns:a="http://schemas.openxmlformats.org/drawingml/2006/main" noGrp="1"/>
          </p:cNvSpPr>
          <p:nvPr/>
        </p:nvSpPr>
        <p:spPr>
          <a:xfrm xmlns:a="http://schemas.openxmlformats.org/drawingml/2006/main">
            <a:off x="12188875" y="3388816"/>
            <a:ext cx="14402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СВОЈСТВО</a:t>
            </a:r>
          </a:p>
        </p:txBody>
      </p:sp>
      <p:sp>
        <p:nvSpPr>
          <p:cNvPr id="19" name="text-mfa-faktori">
            <a:extLst xmlns:a="http://schemas.openxmlformats.org/drawingml/2006/main">
              <a:ext uri="{FF2B5EF4-FFF2-40B4-BE49-F238E27FC236}">
                <a16:creationId xmlns:a16="http://schemas.microsoft.com/office/drawing/2014/main" id="{24294D29-F0E6-472F-8357-E2DADD5978A8}"/>
              </a:ext>
            </a:extLst>
          </p:cNvPr>
          <p:cNvSpPr>
            <a:spLocks xmlns:a="http://schemas.openxmlformats.org/drawingml/2006/main" noGrp="1"/>
          </p:cNvSpPr>
          <p:nvPr/>
        </p:nvSpPr>
        <p:spPr>
          <a:xfrm xmlns:a="http://schemas.openxmlformats.org/drawingml/2006/main">
            <a:off x="12188875" y="3842147"/>
            <a:ext cx="281761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1">
                <a:solidFill>
                  <a:srgbClr val="13202D"/>
                </a:solidFill>
                <a:latin typeface="IBM Plex Sans"/>
                <a:ea typeface="IBM Plex Sans"/>
                <a:cs typeface="IBM Plex Sans"/>
              </a:rPr>
              <a:t>Нешто што јесмо</a:t>
            </a:r>
          </a:p>
        </p:txBody>
      </p:sp>
      <p:sp>
        <p:nvSpPr>
          <p:cNvPr id="20" name="text-mfa-faktori">
            <a:extLst xmlns:a="http://schemas.openxmlformats.org/drawingml/2006/main">
              <a:ext uri="{FF2B5EF4-FFF2-40B4-BE49-F238E27FC236}">
                <a16:creationId xmlns:a16="http://schemas.microsoft.com/office/drawing/2014/main" id="{B902A86B-45D9-4129-989D-1ED6873D0668}"/>
              </a:ext>
            </a:extLst>
          </p:cNvPr>
          <p:cNvSpPr>
            <a:spLocks xmlns:a="http://schemas.openxmlformats.org/drawingml/2006/main" noGrp="1"/>
          </p:cNvSpPr>
          <p:nvPr/>
        </p:nvSpPr>
        <p:spPr>
          <a:xfrm xmlns:a="http://schemas.openxmlformats.org/drawingml/2006/main">
            <a:off x="12188875" y="4388793"/>
            <a:ext cx="422240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Биометријска карактеристика.</a:t>
            </a:r>
          </a:p>
        </p:txBody>
      </p:sp>
      <p:sp>
        <p:nvSpPr>
          <p:cNvPr id="21" name="text-mfa-faktori">
            <a:extLst xmlns:a="http://schemas.openxmlformats.org/drawingml/2006/main">
              <a:ext uri="{FF2B5EF4-FFF2-40B4-BE49-F238E27FC236}">
                <a16:creationId xmlns:a16="http://schemas.microsoft.com/office/drawing/2014/main" id="{E7943D3E-1FEB-46F1-815E-F03CEB3EEA0C}"/>
              </a:ext>
            </a:extLst>
          </p:cNvPr>
          <p:cNvSpPr>
            <a:spLocks xmlns:a="http://schemas.openxmlformats.org/drawingml/2006/main" noGrp="1"/>
          </p:cNvSpPr>
          <p:nvPr/>
        </p:nvSpPr>
        <p:spPr>
          <a:xfrm xmlns:a="http://schemas.openxmlformats.org/drawingml/2006/main">
            <a:off x="1504950" y="5897314"/>
            <a:ext cx="14402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Напомена</a:t>
            </a:r>
          </a:p>
        </p:txBody>
      </p:sp>
      <p:sp>
        <p:nvSpPr>
          <p:cNvPr id="22" name="text-mfa-faktori">
            <a:extLst xmlns:a="http://schemas.openxmlformats.org/drawingml/2006/main">
              <a:ext uri="{FF2B5EF4-FFF2-40B4-BE49-F238E27FC236}">
                <a16:creationId xmlns:a16="http://schemas.microsoft.com/office/drawing/2014/main" id="{CFDD33F7-90EB-4B27-93FA-83102C378A7F}"/>
              </a:ext>
            </a:extLst>
          </p:cNvPr>
          <p:cNvSpPr>
            <a:spLocks xmlns:a="http://schemas.openxmlformats.org/drawingml/2006/main" noGrp="1"/>
          </p:cNvSpPr>
          <p:nvPr/>
        </p:nvSpPr>
        <p:spPr>
          <a:xfrm xmlns:a="http://schemas.openxmlformats.org/drawingml/2006/main">
            <a:off x="1504950" y="6303020"/>
            <a:ext cx="1282154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Две лозинке припадају истом фактору. Одвојени кораци нису аутоматски вишефакторска потврда.</a:t>
            </a:r>
          </a:p>
        </p:txBody>
      </p:sp>
      <p:sp>
        <p:nvSpPr>
          <p:cNvPr id="23" name="text-mfa-faktori">
            <a:extLst xmlns:a="http://schemas.openxmlformats.org/drawingml/2006/main">
              <a:ext uri="{FF2B5EF4-FFF2-40B4-BE49-F238E27FC236}">
                <a16:creationId xmlns:a16="http://schemas.microsoft.com/office/drawing/2014/main" id="{102B0377-ECE6-4165-941D-8EBAD38DF6EB}"/>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4" name="text-mfa-faktori">
            <a:extLst xmlns:a="http://schemas.openxmlformats.org/drawingml/2006/main">
              <a:ext uri="{FF2B5EF4-FFF2-40B4-BE49-F238E27FC236}">
                <a16:creationId xmlns:a16="http://schemas.microsoft.com/office/drawing/2014/main" id="{CCEF8869-292E-4E4A-B822-D70E3A68CA8B}"/>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07</a:t>
            </a:r>
          </a:p>
        </p:txBody>
      </p:sp>
    </p:spTree>
    <p:extLst>
      <p:ext uri="{BB962C8B-B14F-4D97-AF65-F5344CB8AC3E}">
        <p14:creationId xmlns:p14="http://schemas.microsoft.com/office/powerpoint/2010/main" val="912757757"/>
      </p:ext>
    </p:extLst>
  </p:cSld>
</p:sld>
</file>

<file path=ppt/slides/slide8.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7CD4FE-2583-4172-8698-E35FC3B27429}"/>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12D618-B8D0-4EB0-8551-D23C3C73B719}"/>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text-source-08">
            <a:extLst xmlns:a="http://schemas.openxmlformats.org/drawingml/2006/main">
              <a:ext uri="{FF2B5EF4-FFF2-40B4-BE49-F238E27FC236}">
                <a16:creationId xmlns:a16="http://schemas.microsoft.com/office/drawing/2014/main" id="{1A8031BB-1BA3-4E21-8EAF-444CD1D33C92}"/>
              </a:ext>
            </a:extLst>
          </p:cNvPr>
          <p:cNvSpPr>
            <a:spLocks xmlns:a="http://schemas.openxmlformats.org/drawingml/2006/main" noGrp="1"/>
          </p:cNvSpPr>
          <p:nvPr/>
        </p:nvSpPr>
        <p:spPr>
          <a:xfrm xmlns:a="http://schemas.openxmlformats.org/drawingml/2006/main">
            <a:off x="1219200" y="1066800"/>
            <a:ext cx="362337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01 · ВРСТЕ ИДЕНТИТЕТА</a:t>
            </a:r>
          </a:p>
        </p:txBody>
      </p:sp>
      <p:sp>
        <p:nvSpPr>
          <p:cNvPr id="4" name="heading-source-08">
            <a:extLst xmlns:a="http://schemas.openxmlformats.org/drawingml/2006/main">
              <a:ext uri="{FF2B5EF4-FFF2-40B4-BE49-F238E27FC236}">
                <a16:creationId xmlns:a16="http://schemas.microsoft.com/office/drawing/2014/main" id="{6BEA9D58-EDB0-4B7E-AFC0-4DEC81D15762}"/>
              </a:ext>
            </a:extLst>
          </p:cNvPr>
          <p:cNvSpPr>
            <a:spLocks xmlns:a="http://schemas.openxmlformats.org/drawingml/2006/main" noGrp="1"/>
          </p:cNvSpPr>
          <p:nvPr/>
        </p:nvSpPr>
        <p:spPr>
          <a:xfrm xmlns:a="http://schemas.openxmlformats.org/drawingml/2006/main">
            <a:off x="1219200" y="1443930"/>
            <a:ext cx="8027789"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731"/>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Различите врсте идентитета</a:t>
            </a:r>
          </a:p>
        </p:txBody>
      </p:sp>
      <p:sp>
        <p:nvSpPr>
          <p:cNvPr id="5" name="text-source-08">
            <a:extLst xmlns:a="http://schemas.openxmlformats.org/drawingml/2006/main">
              <a:ext uri="{FF2B5EF4-FFF2-40B4-BE49-F238E27FC236}">
                <a16:creationId xmlns:a16="http://schemas.microsoft.com/office/drawing/2014/main" id="{1ED1B461-FA3B-4625-94BC-4B50EB1231E8}"/>
              </a:ext>
            </a:extLst>
          </p:cNvPr>
          <p:cNvSpPr>
            <a:spLocks xmlns:a="http://schemas.openxmlformats.org/drawingml/2006/main" noGrp="1"/>
          </p:cNvSpPr>
          <p:nvPr/>
        </p:nvSpPr>
        <p:spPr>
          <a:xfrm xmlns:a="http://schemas.openxmlformats.org/drawingml/2006/main">
            <a:off x="1219200" y="2444055"/>
            <a:ext cx="1187559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Поређење приказује функцију сваког елемента и ограничење његове самосталне примене.</a:t>
            </a:r>
          </a:p>
        </p:txBody>
      </p:sp>
      <p:sp>
        <p:nvSpPr>
          <p:cNvPr id="6" name="text-source-08">
            <a:extLst xmlns:a="http://schemas.openxmlformats.org/drawingml/2006/main">
              <a:ext uri="{FF2B5EF4-FFF2-40B4-BE49-F238E27FC236}">
                <a16:creationId xmlns:a16="http://schemas.microsoft.com/office/drawing/2014/main" id="{C883D243-D5D9-44C6-A42A-F8B41CCA5E01}"/>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7" name="text-source-08">
            <a:extLst xmlns:a="http://schemas.openxmlformats.org/drawingml/2006/main">
              <a:ext uri="{FF2B5EF4-FFF2-40B4-BE49-F238E27FC236}">
                <a16:creationId xmlns:a16="http://schemas.microsoft.com/office/drawing/2014/main" id="{D619A87A-8906-4DEC-AA85-676C3517D091}"/>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08</a:t>
            </a:r>
          </a:p>
        </p:txBody>
      </p:sp>
      <p:graphicFrame>
        <p:nvGraphicFramePr>
          <p:cNvPr id="8" name="">
            <a:extLst xmlns:a="http://schemas.openxmlformats.org/drawingml/2006/main">
              <a:ext uri="{FF2B5EF4-FFF2-40B4-BE49-F238E27FC236}">
                <a16:creationId xmlns:a16="http://schemas.microsoft.com/office/drawing/2014/main" id="{CF874746-6A58-476A-9308-AAB2CD38A702}"/>
              </a:ext>
            </a:extLst>
          </p:cNvPr>
          <p:cNvGraphicFramePr/>
          <p:nvPr/>
        </p:nvGraphicFramePr>
        <p:xfrm>
          <a:off xmlns:a="http://schemas.openxmlformats.org/drawingml/2006/main" x="1219200" y="3112591"/>
          <a:ext xmlns:a="http://schemas.openxmlformats.org/drawingml/2006/main" cx="15849600" cy="3514279"/>
        </p:xfrm>
        <a:graphic xmlns:a="http://schemas.openxmlformats.org/drawingml/2006/main">
          <a:graphicData uri="http://schemas.openxmlformats.org/drawingml/2006/table">
            <a:tbl>
              <a:tblPr firstRow="1" bandRow="0"/>
              <a:tblGrid>
                <a:gridCol w="3640931"/>
                <a:gridCol w="6015484"/>
                <a:gridCol w="6174135"/>
              </a:tblGrid>
              <a:tr h="699046">
                <a:tc>
                  <a:txBody>
                    <a:bodyPr>
                      <a:noAutofit/>
                    </a:bodyPr>
                    <a:lstStyle/>
                    <a:p>
                      <a:r>
                        <a:rPr sz="1950" b="1">
                          <a:solidFill>
                            <a:srgbClr val="13202D"/>
                          </a:solidFill>
                          <a:latin typeface="IBM Plex Sans"/>
                          <a:ea typeface="IBM Plex Sans"/>
                          <a:cs typeface="IBM Plex Sans"/>
                        </a:rPr>
                        <a:t>Идентитет</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E6E8EE"/>
                    </a:solidFill>
                  </a:tcPr>
                </a:tc>
                <a:tc>
                  <a:txBody>
                    <a:bodyPr>
                      <a:noAutofit/>
                    </a:bodyPr>
                    <a:lstStyle/>
                    <a:p>
                      <a:r>
                        <a:rPr sz="1950" b="1">
                          <a:solidFill>
                            <a:srgbClr val="13202D"/>
                          </a:solidFill>
                          <a:latin typeface="IBM Plex Sans"/>
                          <a:ea typeface="IBM Plex Sans"/>
                          <a:cs typeface="IBM Plex Sans"/>
                        </a:rPr>
                        <a:t>Намена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E6E8EE"/>
                    </a:solidFill>
                  </a:tcPr>
                </a:tc>
                <a:tc>
                  <a:txBody>
                    <a:bodyPr>
                      <a:noAutofit/>
                    </a:bodyPr>
                    <a:lstStyle/>
                    <a:p>
                      <a:r>
                        <a:rPr sz="1950" b="1">
                          <a:solidFill>
                            <a:srgbClr val="13202D"/>
                          </a:solidFill>
                          <a:latin typeface="IBM Plex Sans"/>
                          <a:ea typeface="IBM Plex Sans"/>
                          <a:cs typeface="IBM Plex Sans"/>
                        </a:rPr>
                        <a:t>Посебан ризик</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E6E8EE"/>
                    </a:solidFill>
                  </a:tcPr>
                </a:tc>
              </a:tr>
              <a:tr h="699046">
                <a:tc>
                  <a:txBody>
                    <a:bodyPr>
                      <a:noAutofit/>
                    </a:bodyPr>
                    <a:lstStyle/>
                    <a:p>
                      <a:r>
                        <a:rPr sz="1950" b="0">
                          <a:solidFill>
                            <a:srgbClr val="44505D"/>
                          </a:solidFill>
                          <a:latin typeface="IBM Plex Sans"/>
                          <a:ea typeface="IBM Plex Sans"/>
                          <a:cs typeface="IBM Plex Sans"/>
                        </a:rPr>
                        <a:t>Људски корисник</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Интерактивне радње и одговорност.</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Крађа креденцијала или преширока улога.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r h="699046">
                <a:tc>
                  <a:txBody>
                    <a:bodyPr>
                      <a:noAutofit/>
                    </a:bodyPr>
                    <a:lstStyle/>
                    <a:p>
                      <a:r>
                        <a:rPr sz="1950" b="0">
                          <a:solidFill>
                            <a:srgbClr val="44505D"/>
                          </a:solidFill>
                          <a:latin typeface="IBM Plex Sans"/>
                          <a:ea typeface="IBM Plex Sans"/>
                          <a:cs typeface="IBM Plex Sans"/>
                        </a:rPr>
                        <a:t>Сервисни налог</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Комуникација међу компонентама.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Тајна без рока или превелик опсег.</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r h="699046">
                <a:tc>
                  <a:txBody>
                    <a:bodyPr>
                      <a:noAutofit/>
                    </a:bodyPr>
                    <a:lstStyle/>
                    <a:p>
                      <a:r>
                        <a:rPr sz="1950" b="0">
                          <a:solidFill>
                            <a:srgbClr val="44505D"/>
                          </a:solidFill>
                          <a:latin typeface="IBM Plex Sans"/>
                          <a:ea typeface="IBM Plex Sans"/>
                          <a:cs typeface="IBM Plex Sans"/>
                        </a:rPr>
                        <a:t>Привремени приступ</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Кратка ризична интервенција.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Право остане активно након потребе.</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r h="699046">
                <a:tc>
                  <a:txBody>
                    <a:bodyPr>
                      <a:noAutofit/>
                    </a:bodyPr>
                    <a:lstStyle/>
                    <a:p>
                      <a:r>
                        <a:rPr sz="1950" b="0">
                          <a:solidFill>
                            <a:srgbClr val="44505D"/>
                          </a:solidFill>
                          <a:latin typeface="IBM Plex Sans"/>
                          <a:ea typeface="IBM Plex Sans"/>
                          <a:cs typeface="IBM Plex Sans"/>
                        </a:rPr>
                        <a:t>Администраторски налог</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Измене са великим утицајем.</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Недостатак додатне потврде и аудита.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bl>
          </a:graphicData>
        </a:graphic>
      </p:graphicFrame>
    </p:spTree>
    <p:extLst>
      <p:ext uri="{BB962C8B-B14F-4D97-AF65-F5344CB8AC3E}">
        <p14:creationId xmlns:p14="http://schemas.microsoft.com/office/powerpoint/2010/main" val="1913171284"/>
      </p:ext>
    </p:extLst>
  </p:cSld>
</p:sld>
</file>

<file path=ppt/slides/slide9.xml><?xml version="1.0" encoding="utf-8"?>
<p:sld xmlns:p="http://schemas.openxmlformats.org/presentationml/2006/main">
  <p:cSld>
    <p:bg>
      <p:bgPr>
        <a:solidFill xmlns:a="http://schemas.openxmlformats.org/drawingml/2006/main">
          <a:srgbClr val="E6E8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680BAF-7F59-4A7C-B3B3-3E0D9D271D2B}"/>
              </a:ext>
            </a:extLst>
          </p:cNvPr>
          <p:cNvSpPr>
            <a:spLocks xmlns:a="http://schemas.openxmlformats.org/drawingml/2006/main" noGrp="1"/>
          </p:cNvSpPr>
          <p:nvPr/>
        </p:nvSpPr>
        <p:spPr>
          <a:xfrm xmlns:a="http://schemas.openxmlformats.org/drawingml/2006/main">
            <a:off x="6400800" y="5972026"/>
            <a:ext cx="1262211"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2" name="">
            <a:extLst xmlns:a="http://schemas.openxmlformats.org/drawingml/2006/main">
              <a:ext uri="{FF2B5EF4-FFF2-40B4-BE49-F238E27FC236}">
                <a16:creationId xmlns:a16="http://schemas.microsoft.com/office/drawing/2014/main" id="{BB726F6A-4BD6-43E2-B742-A742E876B4E3}"/>
              </a:ext>
            </a:extLst>
          </p:cNvPr>
          <p:cNvSpPr>
            <a:spLocks xmlns:a="http://schemas.openxmlformats.org/drawingml/2006/main" noGrp="1"/>
          </p:cNvSpPr>
          <p:nvPr/>
        </p:nvSpPr>
        <p:spPr>
          <a:xfrm xmlns:a="http://schemas.openxmlformats.org/drawingml/2006/main">
            <a:off x="7777311" y="5972026"/>
            <a:ext cx="1835497"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3" name="">
            <a:extLst xmlns:a="http://schemas.openxmlformats.org/drawingml/2006/main">
              <a:ext uri="{FF2B5EF4-FFF2-40B4-BE49-F238E27FC236}">
                <a16:creationId xmlns:a16="http://schemas.microsoft.com/office/drawing/2014/main" id="{AC0596B3-BC98-4CBC-8C08-B96B8EAD445D}"/>
              </a:ext>
            </a:extLst>
          </p:cNvPr>
          <p:cNvSpPr>
            <a:spLocks xmlns:a="http://schemas.openxmlformats.org/drawingml/2006/main" noGrp="1"/>
          </p:cNvSpPr>
          <p:nvPr/>
        </p:nvSpPr>
        <p:spPr>
          <a:xfrm xmlns:a="http://schemas.openxmlformats.org/drawingml/2006/main">
            <a:off x="9727109" y="5972026"/>
            <a:ext cx="2058144"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4" name="">
            <a:extLst xmlns:a="http://schemas.openxmlformats.org/drawingml/2006/main">
              <a:ext uri="{FF2B5EF4-FFF2-40B4-BE49-F238E27FC236}">
                <a16:creationId xmlns:a16="http://schemas.microsoft.com/office/drawing/2014/main" id="{50BA839F-5A81-4075-883E-A2EF53E202CC}"/>
              </a:ext>
            </a:extLst>
          </p:cNvPr>
          <p:cNvSpPr>
            <a:spLocks xmlns:a="http://schemas.openxmlformats.org/drawingml/2006/main" noGrp="1"/>
          </p:cNvSpPr>
          <p:nvPr/>
        </p:nvSpPr>
        <p:spPr>
          <a:xfrm xmlns:a="http://schemas.openxmlformats.org/drawingml/2006/main">
            <a:off x="11899553" y="5972026"/>
            <a:ext cx="1162050"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5" name="">
            <a:extLst xmlns:a="http://schemas.openxmlformats.org/drawingml/2006/main">
              <a:ext uri="{FF2B5EF4-FFF2-40B4-BE49-F238E27FC236}">
                <a16:creationId xmlns:a16="http://schemas.microsoft.com/office/drawing/2014/main" id="{73C95BB7-5AF5-4061-9C30-64B897C0F98E}"/>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B5BCD0"/>
          </a:solidFill>
          <a:ln xmlns:a="http://schemas.openxmlformats.org/drawingml/2006/main" w="0">
            <a:noFill/>
          </a:ln>
        </p:spPr>
      </p:sp>
      <p:sp>
        <p:nvSpPr>
          <p:cNvPr id="6" name="text-deo2">
            <a:extLst xmlns:a="http://schemas.openxmlformats.org/drawingml/2006/main">
              <a:ext uri="{FF2B5EF4-FFF2-40B4-BE49-F238E27FC236}">
                <a16:creationId xmlns:a16="http://schemas.microsoft.com/office/drawing/2014/main" id="{57CCD97F-E96E-4B71-BEBA-C61808789C06}"/>
              </a:ext>
            </a:extLst>
          </p:cNvPr>
          <p:cNvSpPr>
            <a:spLocks xmlns:a="http://schemas.openxmlformats.org/drawingml/2006/main" noGrp="1"/>
          </p:cNvSpPr>
          <p:nvPr/>
        </p:nvSpPr>
        <p:spPr>
          <a:xfrm xmlns:a="http://schemas.openxmlformats.org/drawingml/2006/main">
            <a:off x="1219200" y="3257550"/>
            <a:ext cx="33909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0">
                <a:latin typeface="IBM Plex Mono"/>
                <a:ea typeface="IBM Plex Mono"/>
                <a:cs typeface="IBM Plex Mono"/>
              </a:defRPr>
            </a:defPPr>
          </a:lstStyle>
          <a:p xmlns:a="http://schemas.openxmlformats.org/drawingml/2006/main">
            <a:pPr algn="l">
              <a:defRPr sz="21000">
                <a:latin typeface="IBM Plex Mono"/>
                <a:ea typeface="IBM Plex Mono"/>
                <a:cs typeface="IBM Plex Mono"/>
              </a:defRPr>
            </a:pPr>
            <a:r>
              <a:rPr sz="21000" b="0">
                <a:solidFill>
                  <a:srgbClr val="3A46A5"/>
                </a:solidFill>
                <a:latin typeface="IBM Plex Mono"/>
                <a:ea typeface="IBM Plex Mono"/>
                <a:cs typeface="IBM Plex Mono"/>
              </a:rPr>
              <a:t>02</a:t>
            </a:r>
          </a:p>
        </p:txBody>
      </p:sp>
      <p:sp>
        <p:nvSpPr>
          <p:cNvPr id="7" name="text-deo2">
            <a:extLst xmlns:a="http://schemas.openxmlformats.org/drawingml/2006/main">
              <a:ext uri="{FF2B5EF4-FFF2-40B4-BE49-F238E27FC236}">
                <a16:creationId xmlns:a16="http://schemas.microsoft.com/office/drawing/2014/main" id="{CD47EA4E-2859-4AF4-996E-50424493F3E1}"/>
              </a:ext>
            </a:extLst>
          </p:cNvPr>
          <p:cNvSpPr>
            <a:spLocks xmlns:a="http://schemas.openxmlformats.org/drawingml/2006/main" noGrp="1"/>
          </p:cNvSpPr>
          <p:nvPr/>
        </p:nvSpPr>
        <p:spPr>
          <a:xfrm xmlns:a="http://schemas.openxmlformats.org/drawingml/2006/main">
            <a:off x="6400800" y="3518595"/>
            <a:ext cx="174887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ДРУГИ ДЕО</a:t>
            </a:r>
          </a:p>
        </p:txBody>
      </p:sp>
      <p:sp>
        <p:nvSpPr>
          <p:cNvPr id="8" name="heading-deo2">
            <a:extLst xmlns:a="http://schemas.openxmlformats.org/drawingml/2006/main">
              <a:ext uri="{FF2B5EF4-FFF2-40B4-BE49-F238E27FC236}">
                <a16:creationId xmlns:a16="http://schemas.microsoft.com/office/drawing/2014/main" id="{51CF63A3-5DF0-4694-9F7F-3AD2ECC8733E}"/>
              </a:ext>
            </a:extLst>
          </p:cNvPr>
          <p:cNvSpPr>
            <a:spLocks xmlns:a="http://schemas.openxmlformats.org/drawingml/2006/main" noGrp="1"/>
          </p:cNvSpPr>
          <p:nvPr/>
        </p:nvSpPr>
        <p:spPr>
          <a:xfrm xmlns:a="http://schemas.openxmlformats.org/drawingml/2006/main">
            <a:off x="6400800" y="3990975"/>
            <a:ext cx="7208044"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319"/>
          </a:bodyPr>
          <a:lstStyle xmlns:a="http://schemas.openxmlformats.org/drawingml/2006/main">
            <a:defPPr algn="l">
              <a:defRPr sz="7200">
                <a:latin typeface="IBM Plex Sans"/>
                <a:ea typeface="IBM Plex Sans"/>
                <a:cs typeface="IBM Plex Sans"/>
              </a:defRPr>
            </a:defPPr>
          </a:lstStyle>
          <a:p xmlns:a="http://schemas.openxmlformats.org/drawingml/2006/main">
            <a:pPr algn="l">
              <a:defRPr sz="7200">
                <a:latin typeface="IBM Plex Sans"/>
                <a:ea typeface="IBM Plex Sans"/>
                <a:cs typeface="IBM Plex Sans"/>
              </a:defRPr>
            </a:pPr>
            <a:r>
              <a:rPr sz="7200" b="1">
                <a:solidFill>
                  <a:srgbClr val="13202D"/>
                </a:solidFill>
                <a:latin typeface="IBM Plex Sans"/>
                <a:ea typeface="IBM Plex Sans"/>
                <a:cs typeface="IBM Plex Sans"/>
              </a:rPr>
              <a:t>Сесија и step-up</a:t>
            </a:r>
          </a:p>
        </p:txBody>
      </p:sp>
      <p:sp>
        <p:nvSpPr>
          <p:cNvPr id="9" name="text-deo2">
            <a:extLst xmlns:a="http://schemas.openxmlformats.org/drawingml/2006/main">
              <a:ext uri="{FF2B5EF4-FFF2-40B4-BE49-F238E27FC236}">
                <a16:creationId xmlns:a16="http://schemas.microsoft.com/office/drawing/2014/main" id="{34B01C9D-4D61-4632-9D2E-5F34E2E2A006}"/>
              </a:ext>
            </a:extLst>
          </p:cNvPr>
          <p:cNvSpPr>
            <a:spLocks xmlns:a="http://schemas.openxmlformats.org/drawingml/2006/main" noGrp="1"/>
          </p:cNvSpPr>
          <p:nvPr/>
        </p:nvSpPr>
        <p:spPr>
          <a:xfrm xmlns:a="http://schemas.openxmlformats.org/drawingml/2006/main">
            <a:off x="6400800" y="5341590"/>
            <a:ext cx="902508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Приступ важи само док важе сесија, право и потребан ниво потврде.</a:t>
            </a:r>
          </a:p>
        </p:txBody>
      </p:sp>
      <p:sp>
        <p:nvSpPr>
          <p:cNvPr id="10" name="text-deo2">
            <a:extLst xmlns:a="http://schemas.openxmlformats.org/drawingml/2006/main">
              <a:ext uri="{FF2B5EF4-FFF2-40B4-BE49-F238E27FC236}">
                <a16:creationId xmlns:a16="http://schemas.microsoft.com/office/drawing/2014/main" id="{6F9C5ED8-A929-43C1-883E-51585C5C5CB8}"/>
              </a:ext>
            </a:extLst>
          </p:cNvPr>
          <p:cNvSpPr>
            <a:spLocks xmlns:a="http://schemas.openxmlformats.org/drawingml/2006/main" noGrp="1"/>
          </p:cNvSpPr>
          <p:nvPr/>
        </p:nvSpPr>
        <p:spPr>
          <a:xfrm xmlns:a="http://schemas.openxmlformats.org/drawingml/2006/main">
            <a:off x="6600825" y="6057751"/>
            <a:ext cx="1205061"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важење</a:t>
            </a:r>
          </a:p>
        </p:txBody>
      </p:sp>
      <p:sp>
        <p:nvSpPr>
          <p:cNvPr id="11" name="text-deo2">
            <a:extLst xmlns:a="http://schemas.openxmlformats.org/drawingml/2006/main">
              <a:ext uri="{FF2B5EF4-FFF2-40B4-BE49-F238E27FC236}">
                <a16:creationId xmlns:a16="http://schemas.microsoft.com/office/drawing/2014/main" id="{9812522E-0588-4EA7-9B0E-C624495573D8}"/>
              </a:ext>
            </a:extLst>
          </p:cNvPr>
          <p:cNvSpPr>
            <a:spLocks xmlns:a="http://schemas.openxmlformats.org/drawingml/2006/main" noGrp="1"/>
          </p:cNvSpPr>
          <p:nvPr/>
        </p:nvSpPr>
        <p:spPr>
          <a:xfrm xmlns:a="http://schemas.openxmlformats.org/drawingml/2006/main">
            <a:off x="7977336" y="6057751"/>
            <a:ext cx="177834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свежина MFA</a:t>
            </a:r>
          </a:p>
        </p:txBody>
      </p:sp>
      <p:sp>
        <p:nvSpPr>
          <p:cNvPr id="12" name="text-deo2">
            <a:extLst xmlns:a="http://schemas.openxmlformats.org/drawingml/2006/main">
              <a:ext uri="{FF2B5EF4-FFF2-40B4-BE49-F238E27FC236}">
                <a16:creationId xmlns:a16="http://schemas.microsoft.com/office/drawing/2014/main" id="{14A25CA4-861C-496E-A845-4F1F28C809F8}"/>
              </a:ext>
            </a:extLst>
          </p:cNvPr>
          <p:cNvSpPr>
            <a:spLocks xmlns:a="http://schemas.openxmlformats.org/drawingml/2006/main" noGrp="1"/>
          </p:cNvSpPr>
          <p:nvPr/>
        </p:nvSpPr>
        <p:spPr>
          <a:xfrm xmlns:a="http://schemas.openxmlformats.org/drawingml/2006/main">
            <a:off x="9927134" y="6057751"/>
            <a:ext cx="200099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ризична радња</a:t>
            </a:r>
          </a:p>
        </p:txBody>
      </p:sp>
      <p:sp>
        <p:nvSpPr>
          <p:cNvPr id="13" name="text-deo2">
            <a:extLst xmlns:a="http://schemas.openxmlformats.org/drawingml/2006/main">
              <a:ext uri="{FF2B5EF4-FFF2-40B4-BE49-F238E27FC236}">
                <a16:creationId xmlns:a16="http://schemas.microsoft.com/office/drawing/2014/main" id="{7CC521D6-5AF8-4BCB-9456-13DFB6033D96}"/>
              </a:ext>
            </a:extLst>
          </p:cNvPr>
          <p:cNvSpPr>
            <a:spLocks xmlns:a="http://schemas.openxmlformats.org/drawingml/2006/main" noGrp="1"/>
          </p:cNvSpPr>
          <p:nvPr/>
        </p:nvSpPr>
        <p:spPr>
          <a:xfrm xmlns:a="http://schemas.openxmlformats.org/drawingml/2006/main">
            <a:off x="12099578" y="6057751"/>
            <a:ext cx="110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опозив</a:t>
            </a:r>
          </a:p>
        </p:txBody>
      </p:sp>
      <p:sp>
        <p:nvSpPr>
          <p:cNvPr id="14" name="text-deo2">
            <a:extLst xmlns:a="http://schemas.openxmlformats.org/drawingml/2006/main">
              <a:ext uri="{FF2B5EF4-FFF2-40B4-BE49-F238E27FC236}">
                <a16:creationId xmlns:a16="http://schemas.microsoft.com/office/drawing/2014/main" id="{A33D5EDD-6606-4AA3-B877-904474234212}"/>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5" name="text-deo2">
            <a:extLst xmlns:a="http://schemas.openxmlformats.org/drawingml/2006/main">
              <a:ext uri="{FF2B5EF4-FFF2-40B4-BE49-F238E27FC236}">
                <a16:creationId xmlns:a16="http://schemas.microsoft.com/office/drawing/2014/main" id="{43D18078-6485-4FC8-A663-1827DC0B1A23}"/>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09</a:t>
            </a:r>
          </a:p>
        </p:txBody>
      </p:sp>
    </p:spTree>
    <p:extLst>
      <p:ext uri="{BB962C8B-B14F-4D97-AF65-F5344CB8AC3E}">
        <p14:creationId xmlns:p14="http://schemas.microsoft.com/office/powerpoint/2010/main" val="2004457573"/>
      </p:ext>
    </p:extLst>
  </p:cSld>
</p:sld>
</file>

<file path=ppt/slides/slide10.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50DAA2-3BA8-4B97-A48B-892D1D7AD573}"/>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0C39F9-AE75-44ED-8D13-A0CA9011553B}"/>
              </a:ext>
            </a:extLst>
          </p:cNvPr>
          <p:cNvSpPr>
            <a:spLocks xmlns:a="http://schemas.openxmlformats.org/drawingml/2006/main" noGrp="1"/>
          </p:cNvSpPr>
          <p:nvPr/>
        </p:nvSpPr>
        <p:spPr>
          <a:xfrm xmlns:a="http://schemas.openxmlformats.org/drawingml/2006/main">
            <a:off x="1219200" y="3112591"/>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1B3977-2825-4170-97B4-832833748DD6}"/>
              </a:ext>
            </a:extLst>
          </p:cNvPr>
          <p:cNvSpPr>
            <a:spLocks xmlns:a="http://schemas.openxmlformats.org/drawingml/2006/main" noGrp="1"/>
          </p:cNvSpPr>
          <p:nvPr/>
        </p:nvSpPr>
        <p:spPr>
          <a:xfrm xmlns:a="http://schemas.openxmlformats.org/drawingml/2006/main">
            <a:off x="1219200" y="4245918"/>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74BD68-70BD-4ED1-B7E8-39760A01266F}"/>
              </a:ext>
            </a:extLst>
          </p:cNvPr>
          <p:cNvSpPr>
            <a:spLocks xmlns:a="http://schemas.openxmlformats.org/drawingml/2006/main" noGrp="1"/>
          </p:cNvSpPr>
          <p:nvPr/>
        </p:nvSpPr>
        <p:spPr>
          <a:xfrm xmlns:a="http://schemas.openxmlformats.org/drawingml/2006/main">
            <a:off x="1219200" y="5379244"/>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572707-000B-4B2C-8412-9D3D8F856918}"/>
              </a:ext>
            </a:extLst>
          </p:cNvPr>
          <p:cNvSpPr>
            <a:spLocks xmlns:a="http://schemas.openxmlformats.org/drawingml/2006/main" noGrp="1"/>
          </p:cNvSpPr>
          <p:nvPr/>
        </p:nvSpPr>
        <p:spPr>
          <a:xfrm xmlns:a="http://schemas.openxmlformats.org/drawingml/2006/main">
            <a:off x="1219200" y="6607820"/>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E5DFC787-2570-447A-8B95-5D805D03C2EA}"/>
              </a:ext>
            </a:extLst>
          </p:cNvPr>
          <p:cNvSpPr>
            <a:spLocks xmlns:a="http://schemas.openxmlformats.org/drawingml/2006/main" noGrp="1"/>
          </p:cNvSpPr>
          <p:nvPr/>
        </p:nvSpPr>
        <p:spPr>
          <a:xfrm xmlns:a="http://schemas.openxmlformats.org/drawingml/2006/main">
            <a:off x="1219200" y="6607820"/>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CCA0290-9BEB-41E8-AD71-7259B9BCBCE3}"/>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05">
            <a:extLst xmlns:a="http://schemas.openxmlformats.org/drawingml/2006/main">
              <a:ext uri="{FF2B5EF4-FFF2-40B4-BE49-F238E27FC236}">
                <a16:creationId xmlns:a16="http://schemas.microsoft.com/office/drawing/2014/main" id="{55A32273-C6E3-4289-A9BC-F28E7D437BE0}"/>
              </a:ext>
            </a:extLst>
          </p:cNvPr>
          <p:cNvSpPr>
            <a:spLocks xmlns:a="http://schemas.openxmlformats.org/drawingml/2006/main" noGrp="1"/>
          </p:cNvSpPr>
          <p:nvPr/>
        </p:nvSpPr>
        <p:spPr>
          <a:xfrm xmlns:a="http://schemas.openxmlformats.org/drawingml/2006/main">
            <a:off x="1219200" y="1066800"/>
            <a:ext cx="206127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02 · СЕСИЈА</a:t>
            </a:r>
          </a:p>
        </p:txBody>
      </p:sp>
      <p:sp>
        <p:nvSpPr>
          <p:cNvPr id="9" name="heading-source-05">
            <a:extLst xmlns:a="http://schemas.openxmlformats.org/drawingml/2006/main">
              <a:ext uri="{FF2B5EF4-FFF2-40B4-BE49-F238E27FC236}">
                <a16:creationId xmlns:a16="http://schemas.microsoft.com/office/drawing/2014/main" id="{F95D66D5-2DA9-4DDF-9258-F1D8FE481172}"/>
              </a:ext>
            </a:extLst>
          </p:cNvPr>
          <p:cNvSpPr>
            <a:spLocks xmlns:a="http://schemas.openxmlformats.org/drawingml/2006/main" noGrp="1"/>
          </p:cNvSpPr>
          <p:nvPr/>
        </p:nvSpPr>
        <p:spPr>
          <a:xfrm xmlns:a="http://schemas.openxmlformats.org/drawingml/2006/main">
            <a:off x="1219200" y="1443930"/>
            <a:ext cx="2083147"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Сесија</a:t>
            </a:r>
          </a:p>
        </p:txBody>
      </p:sp>
      <p:sp>
        <p:nvSpPr>
          <p:cNvPr id="10" name="text-source-05">
            <a:extLst xmlns:a="http://schemas.openxmlformats.org/drawingml/2006/main">
              <a:ext uri="{FF2B5EF4-FFF2-40B4-BE49-F238E27FC236}">
                <a16:creationId xmlns:a16="http://schemas.microsoft.com/office/drawing/2014/main" id="{29C7CF63-B38B-46D6-ABDD-7BE7D6673FF0}"/>
              </a:ext>
            </a:extLst>
          </p:cNvPr>
          <p:cNvSpPr>
            <a:spLocks xmlns:a="http://schemas.openxmlformats.org/drawingml/2006/main" noGrp="1"/>
          </p:cNvSpPr>
          <p:nvPr/>
        </p:nvSpPr>
        <p:spPr>
          <a:xfrm xmlns:a="http://schemas.openxmlformats.org/drawingml/2006/main">
            <a:off x="1219200" y="2444055"/>
            <a:ext cx="430589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привремени контекст приступа</a:t>
            </a:r>
          </a:p>
        </p:txBody>
      </p:sp>
      <p:sp>
        <p:nvSpPr>
          <p:cNvPr id="11" name="text-source-05">
            <a:extLst xmlns:a="http://schemas.openxmlformats.org/drawingml/2006/main">
              <a:ext uri="{FF2B5EF4-FFF2-40B4-BE49-F238E27FC236}">
                <a16:creationId xmlns:a16="http://schemas.microsoft.com/office/drawing/2014/main" id="{592745BB-D300-4149-B032-AA9D7D82E7AE}"/>
              </a:ext>
            </a:extLst>
          </p:cNvPr>
          <p:cNvSpPr>
            <a:spLocks xmlns:a="http://schemas.openxmlformats.org/drawingml/2006/main" noGrp="1"/>
          </p:cNvSpPr>
          <p:nvPr/>
        </p:nvSpPr>
        <p:spPr>
          <a:xfrm xmlns:a="http://schemas.openxmlformats.org/drawingml/2006/main">
            <a:off x="121920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2" name="text-source-05">
            <a:extLst xmlns:a="http://schemas.openxmlformats.org/drawingml/2006/main">
              <a:ext uri="{FF2B5EF4-FFF2-40B4-BE49-F238E27FC236}">
                <a16:creationId xmlns:a16="http://schemas.microsoft.com/office/drawing/2014/main" id="{49DDD276-AD7B-4949-991B-5B76EE4748BF}"/>
              </a:ext>
            </a:extLst>
          </p:cNvPr>
          <p:cNvSpPr>
            <a:spLocks xmlns:a="http://schemas.openxmlformats.org/drawingml/2006/main" noGrp="1"/>
          </p:cNvSpPr>
          <p:nvPr/>
        </p:nvSpPr>
        <p:spPr>
          <a:xfrm xmlns:a="http://schemas.openxmlformats.org/drawingml/2006/main">
            <a:off x="2247900" y="3303091"/>
            <a:ext cx="8791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Сесија је привремени доказ контекста, а не трајна потврда поверења.</a:t>
            </a:r>
          </a:p>
        </p:txBody>
      </p:sp>
      <p:sp>
        <p:nvSpPr>
          <p:cNvPr id="13" name="text-source-05">
            <a:extLst xmlns:a="http://schemas.openxmlformats.org/drawingml/2006/main">
              <a:ext uri="{FF2B5EF4-FFF2-40B4-BE49-F238E27FC236}">
                <a16:creationId xmlns:a16="http://schemas.microsoft.com/office/drawing/2014/main" id="{9E5F64FE-5047-44A4-9386-0CA8B0DFC5F4}"/>
              </a:ext>
            </a:extLst>
          </p:cNvPr>
          <p:cNvSpPr>
            <a:spLocks xmlns:a="http://schemas.openxmlformats.org/drawingml/2006/main" noGrp="1"/>
          </p:cNvSpPr>
          <p:nvPr/>
        </p:nvSpPr>
        <p:spPr>
          <a:xfrm xmlns:a="http://schemas.openxmlformats.org/drawingml/2006/main">
            <a:off x="2247900" y="3716387"/>
            <a:ext cx="455622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улаз покреће ову одлуку?</a:t>
            </a:r>
          </a:p>
        </p:txBody>
      </p:sp>
      <p:sp>
        <p:nvSpPr>
          <p:cNvPr id="14" name="text-source-05">
            <a:extLst xmlns:a="http://schemas.openxmlformats.org/drawingml/2006/main">
              <a:ext uri="{FF2B5EF4-FFF2-40B4-BE49-F238E27FC236}">
                <a16:creationId xmlns:a16="http://schemas.microsoft.com/office/drawing/2014/main" id="{D1EDFFF0-21DB-42B0-A656-C9B5CA9D478B}"/>
              </a:ext>
            </a:extLst>
          </p:cNvPr>
          <p:cNvSpPr>
            <a:spLocks xmlns:a="http://schemas.openxmlformats.org/drawingml/2006/main" noGrp="1"/>
          </p:cNvSpPr>
          <p:nvPr/>
        </p:nvSpPr>
        <p:spPr>
          <a:xfrm xmlns:a="http://schemas.openxmlformats.org/drawingml/2006/main">
            <a:off x="1219200" y="444594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5" name="text-source-05">
            <a:extLst xmlns:a="http://schemas.openxmlformats.org/drawingml/2006/main">
              <a:ext uri="{FF2B5EF4-FFF2-40B4-BE49-F238E27FC236}">
                <a16:creationId xmlns:a16="http://schemas.microsoft.com/office/drawing/2014/main" id="{055BFEDD-13E7-4C3E-AC6C-2D8C38FBED06}"/>
              </a:ext>
            </a:extLst>
          </p:cNvPr>
          <p:cNvSpPr>
            <a:spLocks xmlns:a="http://schemas.openxmlformats.org/drawingml/2006/main" noGrp="1"/>
          </p:cNvSpPr>
          <p:nvPr/>
        </p:nvSpPr>
        <p:spPr>
          <a:xfrm xmlns:a="http://schemas.openxmlformats.org/drawingml/2006/main">
            <a:off x="2247900" y="4436418"/>
            <a:ext cx="816545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Сервер при сваком захтеву проверава да ли сесија и даље важи.</a:t>
            </a:r>
          </a:p>
        </p:txBody>
      </p:sp>
      <p:sp>
        <p:nvSpPr>
          <p:cNvPr id="16" name="text-source-05">
            <a:extLst xmlns:a="http://schemas.openxmlformats.org/drawingml/2006/main">
              <a:ext uri="{FF2B5EF4-FFF2-40B4-BE49-F238E27FC236}">
                <a16:creationId xmlns:a16="http://schemas.microsoft.com/office/drawing/2014/main" id="{C608BCB5-090A-4C86-9B15-6B1F207BCB50}"/>
              </a:ext>
            </a:extLst>
          </p:cNvPr>
          <p:cNvSpPr>
            <a:spLocks xmlns:a="http://schemas.openxmlformats.org/drawingml/2006/main" noGrp="1"/>
          </p:cNvSpPr>
          <p:nvPr/>
        </p:nvSpPr>
        <p:spPr>
          <a:xfrm xmlns:a="http://schemas.openxmlformats.org/drawingml/2006/main">
            <a:off x="2247900" y="4849713"/>
            <a:ext cx="494972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која граница мора бити видљива?</a:t>
            </a:r>
          </a:p>
        </p:txBody>
      </p:sp>
      <p:sp>
        <p:nvSpPr>
          <p:cNvPr id="17" name="text-source-05">
            <a:extLst xmlns:a="http://schemas.openxmlformats.org/drawingml/2006/main">
              <a:ext uri="{FF2B5EF4-FFF2-40B4-BE49-F238E27FC236}">
                <a16:creationId xmlns:a16="http://schemas.microsoft.com/office/drawing/2014/main" id="{458C0F33-62A5-4BD6-B6F1-36A68B09C878}"/>
              </a:ext>
            </a:extLst>
          </p:cNvPr>
          <p:cNvSpPr>
            <a:spLocks xmlns:a="http://schemas.openxmlformats.org/drawingml/2006/main" noGrp="1"/>
          </p:cNvSpPr>
          <p:nvPr/>
        </p:nvSpPr>
        <p:spPr>
          <a:xfrm xmlns:a="http://schemas.openxmlformats.org/drawingml/2006/main">
            <a:off x="1219200" y="557926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18" name="text-source-05">
            <a:extLst xmlns:a="http://schemas.openxmlformats.org/drawingml/2006/main">
              <a:ext uri="{FF2B5EF4-FFF2-40B4-BE49-F238E27FC236}">
                <a16:creationId xmlns:a16="http://schemas.microsoft.com/office/drawing/2014/main" id="{364C0E9D-6DB8-4983-8E6A-418E331E23AF}"/>
              </a:ext>
            </a:extLst>
          </p:cNvPr>
          <p:cNvSpPr>
            <a:spLocks xmlns:a="http://schemas.openxmlformats.org/drawingml/2006/main" noGrp="1"/>
          </p:cNvSpPr>
          <p:nvPr/>
        </p:nvSpPr>
        <p:spPr>
          <a:xfrm xmlns:a="http://schemas.openxmlformats.org/drawingml/2006/main">
            <a:off x="2247900" y="5569744"/>
            <a:ext cx="1029846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Запис о сесији чува када је настала, када је потврђена и када је престала да важи.</a:t>
            </a:r>
          </a:p>
        </p:txBody>
      </p:sp>
      <p:sp>
        <p:nvSpPr>
          <p:cNvPr id="19" name="text-source-05">
            <a:extLst xmlns:a="http://schemas.openxmlformats.org/drawingml/2006/main">
              <a:ext uri="{FF2B5EF4-FFF2-40B4-BE49-F238E27FC236}">
                <a16:creationId xmlns:a16="http://schemas.microsoft.com/office/drawing/2014/main" id="{0B0BE1F8-AFC4-4751-8220-8149169CCDF1}"/>
              </a:ext>
            </a:extLst>
          </p:cNvPr>
          <p:cNvSpPr>
            <a:spLocks xmlns:a="http://schemas.openxmlformats.org/drawingml/2006/main" noGrp="1"/>
          </p:cNvSpPr>
          <p:nvPr/>
        </p:nvSpPr>
        <p:spPr>
          <a:xfrm xmlns:a="http://schemas.openxmlformats.org/drawingml/2006/main">
            <a:off x="2247900" y="5983039"/>
            <a:ext cx="471934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доказ остаје после исхода?</a:t>
            </a:r>
          </a:p>
        </p:txBody>
      </p:sp>
      <p:sp>
        <p:nvSpPr>
          <p:cNvPr id="20" name="text-source-05">
            <a:extLst xmlns:a="http://schemas.openxmlformats.org/drawingml/2006/main">
              <a:ext uri="{FF2B5EF4-FFF2-40B4-BE49-F238E27FC236}">
                <a16:creationId xmlns:a16="http://schemas.microsoft.com/office/drawing/2014/main" id="{3F4226D0-6D5C-431D-983F-A9EF08575FC5}"/>
              </a:ext>
            </a:extLst>
          </p:cNvPr>
          <p:cNvSpPr>
            <a:spLocks xmlns:a="http://schemas.openxmlformats.org/drawingml/2006/main" noGrp="1"/>
          </p:cNvSpPr>
          <p:nvPr/>
        </p:nvSpPr>
        <p:spPr>
          <a:xfrm xmlns:a="http://schemas.openxmlformats.org/drawingml/2006/main">
            <a:off x="1504950" y="6798320"/>
            <a:ext cx="2674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ПИТАЊЕ ЗА АНАЛИЗУ</a:t>
            </a:r>
          </a:p>
        </p:txBody>
      </p:sp>
      <p:sp>
        <p:nvSpPr>
          <p:cNvPr id="21" name="text-source-05">
            <a:extLst xmlns:a="http://schemas.openxmlformats.org/drawingml/2006/main">
              <a:ext uri="{FF2B5EF4-FFF2-40B4-BE49-F238E27FC236}">
                <a16:creationId xmlns:a16="http://schemas.microsoft.com/office/drawing/2014/main" id="{82E9BF1F-3613-4B97-8455-306454BC7261}"/>
              </a:ext>
            </a:extLst>
          </p:cNvPr>
          <p:cNvSpPr>
            <a:spLocks xmlns:a="http://schemas.openxmlformats.org/drawingml/2006/main" noGrp="1"/>
          </p:cNvSpPr>
          <p:nvPr/>
        </p:nvSpPr>
        <p:spPr>
          <a:xfrm xmlns:a="http://schemas.openxmlformats.org/drawingml/2006/main">
            <a:off x="1504950" y="7204025"/>
            <a:ext cx="974705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Који податак о сесији сервер мора да провери пре сваке осетљиве радње?</a:t>
            </a:r>
          </a:p>
        </p:txBody>
      </p:sp>
      <p:sp>
        <p:nvSpPr>
          <p:cNvPr id="22" name="text-source-05">
            <a:extLst xmlns:a="http://schemas.openxmlformats.org/drawingml/2006/main">
              <a:ext uri="{FF2B5EF4-FFF2-40B4-BE49-F238E27FC236}">
                <a16:creationId xmlns:a16="http://schemas.microsoft.com/office/drawing/2014/main" id="{6AB03176-30A2-4E23-847D-0ADD2562622F}"/>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3" name="text-source-05">
            <a:extLst xmlns:a="http://schemas.openxmlformats.org/drawingml/2006/main">
              <a:ext uri="{FF2B5EF4-FFF2-40B4-BE49-F238E27FC236}">
                <a16:creationId xmlns:a16="http://schemas.microsoft.com/office/drawing/2014/main" id="{B89488A9-9294-4FDE-A994-01E8CD9BE69D}"/>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10</a:t>
            </a:r>
          </a:p>
        </p:txBody>
      </p:sp>
    </p:spTree>
    <p:extLst>
      <p:ext uri="{BB962C8B-B14F-4D97-AF65-F5344CB8AC3E}">
        <p14:creationId xmlns:p14="http://schemas.microsoft.com/office/powerpoint/2010/main" val="844114128"/>
      </p:ext>
    </p:extLst>
  </p:cSld>
</p:sld>
</file>

<file path=ppt/slides/slide11.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6AFF485-25AC-424B-9131-F233818240EA}"/>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FB93A9-591D-4F0F-A975-8243727F4622}"/>
              </a:ext>
            </a:extLst>
          </p:cNvPr>
          <p:cNvSpPr>
            <a:spLocks xmlns:a="http://schemas.openxmlformats.org/drawingml/2006/main" noGrp="1"/>
          </p:cNvSpPr>
          <p:nvPr/>
        </p:nvSpPr>
        <p:spPr>
          <a:xfrm xmlns:a="http://schemas.openxmlformats.org/drawingml/2006/main">
            <a:off x="1219200" y="3112591"/>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798962-1B78-4CA6-B918-C7660E43D99F}"/>
              </a:ext>
            </a:extLst>
          </p:cNvPr>
          <p:cNvSpPr>
            <a:spLocks xmlns:a="http://schemas.openxmlformats.org/drawingml/2006/main" noGrp="1"/>
          </p:cNvSpPr>
          <p:nvPr/>
        </p:nvSpPr>
        <p:spPr>
          <a:xfrm xmlns:a="http://schemas.openxmlformats.org/drawingml/2006/main">
            <a:off x="1219200" y="4245918"/>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8A8421-D61C-4E02-BA8F-0DB540FCD9AE}"/>
              </a:ext>
            </a:extLst>
          </p:cNvPr>
          <p:cNvSpPr>
            <a:spLocks xmlns:a="http://schemas.openxmlformats.org/drawingml/2006/main" noGrp="1"/>
          </p:cNvSpPr>
          <p:nvPr/>
        </p:nvSpPr>
        <p:spPr>
          <a:xfrm xmlns:a="http://schemas.openxmlformats.org/drawingml/2006/main">
            <a:off x="1219200" y="5379244"/>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8CC9AE-6FD0-4CF3-906B-D1D691AE7978}"/>
              </a:ext>
            </a:extLst>
          </p:cNvPr>
          <p:cNvSpPr>
            <a:spLocks xmlns:a="http://schemas.openxmlformats.org/drawingml/2006/main" noGrp="1"/>
          </p:cNvSpPr>
          <p:nvPr/>
        </p:nvSpPr>
        <p:spPr>
          <a:xfrm xmlns:a="http://schemas.openxmlformats.org/drawingml/2006/main">
            <a:off x="1219200" y="6607820"/>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4675E701-CF47-44D3-838F-DCD0BCA82176}"/>
              </a:ext>
            </a:extLst>
          </p:cNvPr>
          <p:cNvSpPr>
            <a:spLocks xmlns:a="http://schemas.openxmlformats.org/drawingml/2006/main" noGrp="1"/>
          </p:cNvSpPr>
          <p:nvPr/>
        </p:nvSpPr>
        <p:spPr>
          <a:xfrm xmlns:a="http://schemas.openxmlformats.org/drawingml/2006/main">
            <a:off x="1219200" y="6607820"/>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CB41E7-2B29-4CE2-B2EB-064ED68BBAEF}"/>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06">
            <a:extLst xmlns:a="http://schemas.openxmlformats.org/drawingml/2006/main">
              <a:ext uri="{FF2B5EF4-FFF2-40B4-BE49-F238E27FC236}">
                <a16:creationId xmlns:a16="http://schemas.microsoft.com/office/drawing/2014/main" id="{58DB9779-2534-49DB-A1A9-203F48B6C118}"/>
              </a:ext>
            </a:extLst>
          </p:cNvPr>
          <p:cNvSpPr>
            <a:spLocks xmlns:a="http://schemas.openxmlformats.org/drawingml/2006/main" noGrp="1"/>
          </p:cNvSpPr>
          <p:nvPr/>
        </p:nvSpPr>
        <p:spPr>
          <a:xfrm xmlns:a="http://schemas.openxmlformats.org/drawingml/2006/main">
            <a:off x="1219200" y="10668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02 · ДОДАТНА ПОТВРДА</a:t>
            </a:r>
          </a:p>
        </p:txBody>
      </p:sp>
      <p:sp>
        <p:nvSpPr>
          <p:cNvPr id="9" name="heading-source-06">
            <a:extLst xmlns:a="http://schemas.openxmlformats.org/drawingml/2006/main">
              <a:ext uri="{FF2B5EF4-FFF2-40B4-BE49-F238E27FC236}">
                <a16:creationId xmlns:a16="http://schemas.microsoft.com/office/drawing/2014/main" id="{8E6A166B-46E9-4D75-8BA5-ED7BC7AFD905}"/>
              </a:ext>
            </a:extLst>
          </p:cNvPr>
          <p:cNvSpPr>
            <a:spLocks xmlns:a="http://schemas.openxmlformats.org/drawingml/2006/main" noGrp="1"/>
          </p:cNvSpPr>
          <p:nvPr/>
        </p:nvSpPr>
        <p:spPr>
          <a:xfrm xmlns:a="http://schemas.openxmlformats.org/drawingml/2006/main">
            <a:off x="1219200" y="1443930"/>
            <a:ext cx="5003602"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Додатна потврда</a:t>
            </a:r>
          </a:p>
        </p:txBody>
      </p:sp>
      <p:sp>
        <p:nvSpPr>
          <p:cNvPr id="10" name="text-source-06">
            <a:extLst xmlns:a="http://schemas.openxmlformats.org/drawingml/2006/main">
              <a:ext uri="{FF2B5EF4-FFF2-40B4-BE49-F238E27FC236}">
                <a16:creationId xmlns:a16="http://schemas.microsoft.com/office/drawing/2014/main" id="{27D0333A-BB2F-4166-BF8F-7DABE38F3181}"/>
              </a:ext>
            </a:extLst>
          </p:cNvPr>
          <p:cNvSpPr>
            <a:spLocks xmlns:a="http://schemas.openxmlformats.org/drawingml/2006/main" noGrp="1"/>
          </p:cNvSpPr>
          <p:nvPr/>
        </p:nvSpPr>
        <p:spPr>
          <a:xfrm xmlns:a="http://schemas.openxmlformats.org/drawingml/2006/main">
            <a:off x="1219200" y="2444055"/>
            <a:ext cx="259020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за ризичну радњу</a:t>
            </a:r>
          </a:p>
        </p:txBody>
      </p:sp>
      <p:sp>
        <p:nvSpPr>
          <p:cNvPr id="11" name="text-source-06">
            <a:extLst xmlns:a="http://schemas.openxmlformats.org/drawingml/2006/main">
              <a:ext uri="{FF2B5EF4-FFF2-40B4-BE49-F238E27FC236}">
                <a16:creationId xmlns:a16="http://schemas.microsoft.com/office/drawing/2014/main" id="{3750B3D5-44DF-4351-A301-51C7FB94A023}"/>
              </a:ext>
            </a:extLst>
          </p:cNvPr>
          <p:cNvSpPr>
            <a:spLocks xmlns:a="http://schemas.openxmlformats.org/drawingml/2006/main" noGrp="1"/>
          </p:cNvSpPr>
          <p:nvPr/>
        </p:nvSpPr>
        <p:spPr>
          <a:xfrm xmlns:a="http://schemas.openxmlformats.org/drawingml/2006/main">
            <a:off x="121920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2" name="text-source-06">
            <a:extLst xmlns:a="http://schemas.openxmlformats.org/drawingml/2006/main">
              <a:ext uri="{FF2B5EF4-FFF2-40B4-BE49-F238E27FC236}">
                <a16:creationId xmlns:a16="http://schemas.microsoft.com/office/drawing/2014/main" id="{F45444BF-D011-49BC-B8C1-A93FFD7C8AE1}"/>
              </a:ext>
            </a:extLst>
          </p:cNvPr>
          <p:cNvSpPr>
            <a:spLocks xmlns:a="http://schemas.openxmlformats.org/drawingml/2006/main" noGrp="1"/>
          </p:cNvSpPr>
          <p:nvPr/>
        </p:nvSpPr>
        <p:spPr>
          <a:xfrm xmlns:a="http://schemas.openxmlformats.org/drawingml/2006/main">
            <a:off x="2247900" y="3303091"/>
            <a:ext cx="962441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Додатну потврду тражи конкретна ризична радња, а не само тип корисника.</a:t>
            </a:r>
          </a:p>
        </p:txBody>
      </p:sp>
      <p:sp>
        <p:nvSpPr>
          <p:cNvPr id="13" name="text-source-06">
            <a:extLst xmlns:a="http://schemas.openxmlformats.org/drawingml/2006/main">
              <a:ext uri="{FF2B5EF4-FFF2-40B4-BE49-F238E27FC236}">
                <a16:creationId xmlns:a16="http://schemas.microsoft.com/office/drawing/2014/main" id="{FB105320-567E-4873-A023-F8435D162C69}"/>
              </a:ext>
            </a:extLst>
          </p:cNvPr>
          <p:cNvSpPr>
            <a:spLocks xmlns:a="http://schemas.openxmlformats.org/drawingml/2006/main" noGrp="1"/>
          </p:cNvSpPr>
          <p:nvPr/>
        </p:nvSpPr>
        <p:spPr>
          <a:xfrm xmlns:a="http://schemas.openxmlformats.org/drawingml/2006/main">
            <a:off x="2247900" y="3716387"/>
            <a:ext cx="455622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улаз покреће ову одлуку?</a:t>
            </a:r>
          </a:p>
        </p:txBody>
      </p:sp>
      <p:sp>
        <p:nvSpPr>
          <p:cNvPr id="14" name="text-source-06">
            <a:extLst xmlns:a="http://schemas.openxmlformats.org/drawingml/2006/main">
              <a:ext uri="{FF2B5EF4-FFF2-40B4-BE49-F238E27FC236}">
                <a16:creationId xmlns:a16="http://schemas.microsoft.com/office/drawing/2014/main" id="{FEECD02E-3FA8-45AD-9B93-F05A9D62CA8B}"/>
              </a:ext>
            </a:extLst>
          </p:cNvPr>
          <p:cNvSpPr>
            <a:spLocks xmlns:a="http://schemas.openxmlformats.org/drawingml/2006/main" noGrp="1"/>
          </p:cNvSpPr>
          <p:nvPr/>
        </p:nvSpPr>
        <p:spPr>
          <a:xfrm xmlns:a="http://schemas.openxmlformats.org/drawingml/2006/main">
            <a:off x="1219200" y="444594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5" name="text-source-06">
            <a:extLst xmlns:a="http://schemas.openxmlformats.org/drawingml/2006/main">
              <a:ext uri="{FF2B5EF4-FFF2-40B4-BE49-F238E27FC236}">
                <a16:creationId xmlns:a16="http://schemas.microsoft.com/office/drawing/2014/main" id="{ADDF0C16-8279-4CDB-ACB2-925ED58E04DD}"/>
              </a:ext>
            </a:extLst>
          </p:cNvPr>
          <p:cNvSpPr>
            <a:spLocks xmlns:a="http://schemas.openxmlformats.org/drawingml/2006/main" noGrp="1"/>
          </p:cNvSpPr>
          <p:nvPr/>
        </p:nvSpPr>
        <p:spPr>
          <a:xfrm xmlns:a="http://schemas.openxmlformats.org/drawingml/2006/main">
            <a:off x="2247900" y="4436418"/>
            <a:ext cx="871879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Свака радња одређује колико стара потврда идентитета сме да буде.</a:t>
            </a:r>
          </a:p>
        </p:txBody>
      </p:sp>
      <p:sp>
        <p:nvSpPr>
          <p:cNvPr id="16" name="text-source-06">
            <a:extLst xmlns:a="http://schemas.openxmlformats.org/drawingml/2006/main">
              <a:ext uri="{FF2B5EF4-FFF2-40B4-BE49-F238E27FC236}">
                <a16:creationId xmlns:a16="http://schemas.microsoft.com/office/drawing/2014/main" id="{C92A8A29-A9B6-401E-9622-86F018728D20}"/>
              </a:ext>
            </a:extLst>
          </p:cNvPr>
          <p:cNvSpPr>
            <a:spLocks xmlns:a="http://schemas.openxmlformats.org/drawingml/2006/main" noGrp="1"/>
          </p:cNvSpPr>
          <p:nvPr/>
        </p:nvSpPr>
        <p:spPr>
          <a:xfrm xmlns:a="http://schemas.openxmlformats.org/drawingml/2006/main">
            <a:off x="2247900" y="4849713"/>
            <a:ext cx="494972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која граница мора бити видљива?</a:t>
            </a:r>
          </a:p>
        </p:txBody>
      </p:sp>
      <p:sp>
        <p:nvSpPr>
          <p:cNvPr id="17" name="text-source-06">
            <a:extLst xmlns:a="http://schemas.openxmlformats.org/drawingml/2006/main">
              <a:ext uri="{FF2B5EF4-FFF2-40B4-BE49-F238E27FC236}">
                <a16:creationId xmlns:a16="http://schemas.microsoft.com/office/drawing/2014/main" id="{C77231F6-C89E-46F6-B508-79BDD72D76FA}"/>
              </a:ext>
            </a:extLst>
          </p:cNvPr>
          <p:cNvSpPr>
            <a:spLocks xmlns:a="http://schemas.openxmlformats.org/drawingml/2006/main" noGrp="1"/>
          </p:cNvSpPr>
          <p:nvPr/>
        </p:nvSpPr>
        <p:spPr>
          <a:xfrm xmlns:a="http://schemas.openxmlformats.org/drawingml/2006/main">
            <a:off x="1219200" y="557926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18" name="text-source-06">
            <a:extLst xmlns:a="http://schemas.openxmlformats.org/drawingml/2006/main">
              <a:ext uri="{FF2B5EF4-FFF2-40B4-BE49-F238E27FC236}">
                <a16:creationId xmlns:a16="http://schemas.microsoft.com/office/drawing/2014/main" id="{C0684C43-E44B-4037-90B6-3C1318C67F17}"/>
              </a:ext>
            </a:extLst>
          </p:cNvPr>
          <p:cNvSpPr>
            <a:spLocks xmlns:a="http://schemas.openxmlformats.org/drawingml/2006/main" noGrp="1"/>
          </p:cNvSpPr>
          <p:nvPr/>
        </p:nvSpPr>
        <p:spPr>
          <a:xfrm xmlns:a="http://schemas.openxmlformats.org/drawingml/2006/main">
            <a:off x="2247900" y="5569744"/>
            <a:ext cx="803404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Одлука бележи да ли је тражена нова потврда и из ког разлога.</a:t>
            </a:r>
          </a:p>
        </p:txBody>
      </p:sp>
      <p:sp>
        <p:nvSpPr>
          <p:cNvPr id="19" name="text-source-06">
            <a:extLst xmlns:a="http://schemas.openxmlformats.org/drawingml/2006/main">
              <a:ext uri="{FF2B5EF4-FFF2-40B4-BE49-F238E27FC236}">
                <a16:creationId xmlns:a16="http://schemas.microsoft.com/office/drawing/2014/main" id="{C52361B4-E021-4525-8FC1-1EC44DDABB29}"/>
              </a:ext>
            </a:extLst>
          </p:cNvPr>
          <p:cNvSpPr>
            <a:spLocks xmlns:a="http://schemas.openxmlformats.org/drawingml/2006/main" noGrp="1"/>
          </p:cNvSpPr>
          <p:nvPr/>
        </p:nvSpPr>
        <p:spPr>
          <a:xfrm xmlns:a="http://schemas.openxmlformats.org/drawingml/2006/main">
            <a:off x="2247900" y="5983039"/>
            <a:ext cx="471934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доказ остаје после исхода?</a:t>
            </a:r>
          </a:p>
        </p:txBody>
      </p:sp>
      <p:sp>
        <p:nvSpPr>
          <p:cNvPr id="20" name="text-source-06">
            <a:extLst xmlns:a="http://schemas.openxmlformats.org/drawingml/2006/main">
              <a:ext uri="{FF2B5EF4-FFF2-40B4-BE49-F238E27FC236}">
                <a16:creationId xmlns:a16="http://schemas.microsoft.com/office/drawing/2014/main" id="{4CDBA711-77F9-4CA8-B08F-952B82DBCDE3}"/>
              </a:ext>
            </a:extLst>
          </p:cNvPr>
          <p:cNvSpPr>
            <a:spLocks xmlns:a="http://schemas.openxmlformats.org/drawingml/2006/main" noGrp="1"/>
          </p:cNvSpPr>
          <p:nvPr/>
        </p:nvSpPr>
        <p:spPr>
          <a:xfrm xmlns:a="http://schemas.openxmlformats.org/drawingml/2006/main">
            <a:off x="1504950" y="6798320"/>
            <a:ext cx="2674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ПИТАЊЕ ЗА АНАЛИЗУ</a:t>
            </a:r>
          </a:p>
        </p:txBody>
      </p:sp>
      <p:sp>
        <p:nvSpPr>
          <p:cNvPr id="21" name="text-source-06">
            <a:extLst xmlns:a="http://schemas.openxmlformats.org/drawingml/2006/main">
              <a:ext uri="{FF2B5EF4-FFF2-40B4-BE49-F238E27FC236}">
                <a16:creationId xmlns:a16="http://schemas.microsoft.com/office/drawing/2014/main" id="{D108B2F0-48E9-40F6-B11F-12D5ACE7ACDA}"/>
              </a:ext>
            </a:extLst>
          </p:cNvPr>
          <p:cNvSpPr>
            <a:spLocks xmlns:a="http://schemas.openxmlformats.org/drawingml/2006/main" noGrp="1"/>
          </p:cNvSpPr>
          <p:nvPr/>
        </p:nvSpPr>
        <p:spPr>
          <a:xfrm xmlns:a="http://schemas.openxmlformats.org/drawingml/2006/main">
            <a:off x="1504950" y="7204025"/>
            <a:ext cx="1139606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Која радња у вашем систему заслужује додатну потврду и колико свежа она мора бити?</a:t>
            </a:r>
          </a:p>
        </p:txBody>
      </p:sp>
      <p:sp>
        <p:nvSpPr>
          <p:cNvPr id="22" name="text-source-06">
            <a:extLst xmlns:a="http://schemas.openxmlformats.org/drawingml/2006/main">
              <a:ext uri="{FF2B5EF4-FFF2-40B4-BE49-F238E27FC236}">
                <a16:creationId xmlns:a16="http://schemas.microsoft.com/office/drawing/2014/main" id="{264F07CA-D061-40EF-AEB6-1878AFFBACF2}"/>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3" name="text-source-06">
            <a:extLst xmlns:a="http://schemas.openxmlformats.org/drawingml/2006/main">
              <a:ext uri="{FF2B5EF4-FFF2-40B4-BE49-F238E27FC236}">
                <a16:creationId xmlns:a16="http://schemas.microsoft.com/office/drawing/2014/main" id="{FCF0413D-1752-45CF-9A1D-0BE59DB05C28}"/>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11</a:t>
            </a:r>
          </a:p>
        </p:txBody>
      </p:sp>
    </p:spTree>
    <p:extLst>
      <p:ext uri="{BB962C8B-B14F-4D97-AF65-F5344CB8AC3E}">
        <p14:creationId xmlns:p14="http://schemas.microsoft.com/office/powerpoint/2010/main" val="1412588044"/>
      </p:ext>
    </p:extLst>
  </p:cSld>
</p:sld>
</file>

<file path=ppt/slides/slide12.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B411E83-6E27-41D3-9D01-CEE6561F268B}"/>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1D506A-AD3D-47E2-9F88-EA71B8F4111E}"/>
              </a:ext>
            </a:extLst>
          </p:cNvPr>
          <p:cNvSpPr>
            <a:spLocks xmlns:a="http://schemas.openxmlformats.org/drawingml/2006/main" noGrp="1"/>
          </p:cNvSpPr>
          <p:nvPr/>
        </p:nvSpPr>
        <p:spPr>
          <a:xfrm xmlns:a="http://schemas.openxmlformats.org/drawingml/2006/main">
            <a:off x="1219200" y="3112591"/>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8B8D71-431D-4CD7-B027-9196238F3412}"/>
              </a:ext>
            </a:extLst>
          </p:cNvPr>
          <p:cNvSpPr>
            <a:spLocks xmlns:a="http://schemas.openxmlformats.org/drawingml/2006/main" noGrp="1"/>
          </p:cNvSpPr>
          <p:nvPr/>
        </p:nvSpPr>
        <p:spPr>
          <a:xfrm xmlns:a="http://schemas.openxmlformats.org/drawingml/2006/main">
            <a:off x="1219200" y="4245918"/>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32D43A-4AE9-41C4-AF2E-498B41620A31}"/>
              </a:ext>
            </a:extLst>
          </p:cNvPr>
          <p:cNvSpPr>
            <a:spLocks xmlns:a="http://schemas.openxmlformats.org/drawingml/2006/main" noGrp="1"/>
          </p:cNvSpPr>
          <p:nvPr/>
        </p:nvSpPr>
        <p:spPr>
          <a:xfrm xmlns:a="http://schemas.openxmlformats.org/drawingml/2006/main">
            <a:off x="1219200" y="5379244"/>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5C31E2-911D-4ACD-8B28-A40DFE53434B}"/>
              </a:ext>
            </a:extLst>
          </p:cNvPr>
          <p:cNvSpPr>
            <a:spLocks xmlns:a="http://schemas.openxmlformats.org/drawingml/2006/main" noGrp="1"/>
          </p:cNvSpPr>
          <p:nvPr/>
        </p:nvSpPr>
        <p:spPr>
          <a:xfrm xmlns:a="http://schemas.openxmlformats.org/drawingml/2006/main">
            <a:off x="1219200" y="6607820"/>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230DF3AE-F76A-4997-AB3F-643EC92FEB98}"/>
              </a:ext>
            </a:extLst>
          </p:cNvPr>
          <p:cNvSpPr>
            <a:spLocks xmlns:a="http://schemas.openxmlformats.org/drawingml/2006/main" noGrp="1"/>
          </p:cNvSpPr>
          <p:nvPr/>
        </p:nvSpPr>
        <p:spPr>
          <a:xfrm xmlns:a="http://schemas.openxmlformats.org/drawingml/2006/main">
            <a:off x="1219200" y="6607820"/>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278805-DFFF-4CB0-900D-EDA413AA9D9C}"/>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07">
            <a:extLst xmlns:a="http://schemas.openxmlformats.org/drawingml/2006/main">
              <a:ext uri="{FF2B5EF4-FFF2-40B4-BE49-F238E27FC236}">
                <a16:creationId xmlns:a16="http://schemas.microsoft.com/office/drawing/2014/main" id="{A40F8BF0-9C44-4932-B93D-A0AC8B69AE0F}"/>
              </a:ext>
            </a:extLst>
          </p:cNvPr>
          <p:cNvSpPr>
            <a:spLocks xmlns:a="http://schemas.openxmlformats.org/drawingml/2006/main" noGrp="1"/>
          </p:cNvSpPr>
          <p:nvPr/>
        </p:nvSpPr>
        <p:spPr>
          <a:xfrm xmlns:a="http://schemas.openxmlformats.org/drawingml/2006/main">
            <a:off x="1219200" y="1066800"/>
            <a:ext cx="331097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02 · ИСТЕК И ОПОЗИВ</a:t>
            </a:r>
          </a:p>
        </p:txBody>
      </p:sp>
      <p:sp>
        <p:nvSpPr>
          <p:cNvPr id="9" name="heading-source-07">
            <a:extLst xmlns:a="http://schemas.openxmlformats.org/drawingml/2006/main">
              <a:ext uri="{FF2B5EF4-FFF2-40B4-BE49-F238E27FC236}">
                <a16:creationId xmlns:a16="http://schemas.microsoft.com/office/drawing/2014/main" id="{A87A03E7-5886-4AD5-A46C-8F018ECE1685}"/>
              </a:ext>
            </a:extLst>
          </p:cNvPr>
          <p:cNvSpPr>
            <a:spLocks xmlns:a="http://schemas.openxmlformats.org/drawingml/2006/main" noGrp="1"/>
          </p:cNvSpPr>
          <p:nvPr/>
        </p:nvSpPr>
        <p:spPr>
          <a:xfrm xmlns:a="http://schemas.openxmlformats.org/drawingml/2006/main">
            <a:off x="1219200" y="1443930"/>
            <a:ext cx="507295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Истек или опозив</a:t>
            </a:r>
          </a:p>
        </p:txBody>
      </p:sp>
      <p:sp>
        <p:nvSpPr>
          <p:cNvPr id="10" name="text-source-07">
            <a:extLst xmlns:a="http://schemas.openxmlformats.org/drawingml/2006/main">
              <a:ext uri="{FF2B5EF4-FFF2-40B4-BE49-F238E27FC236}">
                <a16:creationId xmlns:a16="http://schemas.microsoft.com/office/drawing/2014/main" id="{5994D54A-3A7E-4741-BA7B-30F37E99ED71}"/>
              </a:ext>
            </a:extLst>
          </p:cNvPr>
          <p:cNvSpPr>
            <a:spLocks xmlns:a="http://schemas.openxmlformats.org/drawingml/2006/main" noGrp="1"/>
          </p:cNvSpPr>
          <p:nvPr/>
        </p:nvSpPr>
        <p:spPr>
          <a:xfrm xmlns:a="http://schemas.openxmlformats.org/drawingml/2006/main">
            <a:off x="1219200" y="2444055"/>
            <a:ext cx="3543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прекид важења приступа</a:t>
            </a:r>
          </a:p>
        </p:txBody>
      </p:sp>
      <p:sp>
        <p:nvSpPr>
          <p:cNvPr id="11" name="text-source-07">
            <a:extLst xmlns:a="http://schemas.openxmlformats.org/drawingml/2006/main">
              <a:ext uri="{FF2B5EF4-FFF2-40B4-BE49-F238E27FC236}">
                <a16:creationId xmlns:a16="http://schemas.microsoft.com/office/drawing/2014/main" id="{3C8D7317-F839-4AF2-9081-8D7C0BE9266F}"/>
              </a:ext>
            </a:extLst>
          </p:cNvPr>
          <p:cNvSpPr>
            <a:spLocks xmlns:a="http://schemas.openxmlformats.org/drawingml/2006/main" noGrp="1"/>
          </p:cNvSpPr>
          <p:nvPr/>
        </p:nvSpPr>
        <p:spPr>
          <a:xfrm xmlns:a="http://schemas.openxmlformats.org/drawingml/2006/main">
            <a:off x="121920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2" name="text-source-07">
            <a:extLst xmlns:a="http://schemas.openxmlformats.org/drawingml/2006/main">
              <a:ext uri="{FF2B5EF4-FFF2-40B4-BE49-F238E27FC236}">
                <a16:creationId xmlns:a16="http://schemas.microsoft.com/office/drawing/2014/main" id="{DB11A0A6-F450-45E7-8277-426FDE01277F}"/>
              </a:ext>
            </a:extLst>
          </p:cNvPr>
          <p:cNvSpPr>
            <a:spLocks xmlns:a="http://schemas.openxmlformats.org/drawingml/2006/main" noGrp="1"/>
          </p:cNvSpPr>
          <p:nvPr/>
        </p:nvSpPr>
        <p:spPr>
          <a:xfrm xmlns:a="http://schemas.openxmlformats.org/drawingml/2006/main">
            <a:off x="2247900" y="3303091"/>
            <a:ext cx="947350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Истек ограничава трајање поверења чак и када нема видљивог инцидента.</a:t>
            </a:r>
          </a:p>
        </p:txBody>
      </p:sp>
      <p:sp>
        <p:nvSpPr>
          <p:cNvPr id="13" name="text-source-07">
            <a:extLst xmlns:a="http://schemas.openxmlformats.org/drawingml/2006/main">
              <a:ext uri="{FF2B5EF4-FFF2-40B4-BE49-F238E27FC236}">
                <a16:creationId xmlns:a16="http://schemas.microsoft.com/office/drawing/2014/main" id="{CAF973FE-4D00-4A0E-85E4-F750C9B394E8}"/>
              </a:ext>
            </a:extLst>
          </p:cNvPr>
          <p:cNvSpPr>
            <a:spLocks xmlns:a="http://schemas.openxmlformats.org/drawingml/2006/main" noGrp="1"/>
          </p:cNvSpPr>
          <p:nvPr/>
        </p:nvSpPr>
        <p:spPr>
          <a:xfrm xmlns:a="http://schemas.openxmlformats.org/drawingml/2006/main">
            <a:off x="2247900" y="3716387"/>
            <a:ext cx="455622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улаз покреће ову одлуку?</a:t>
            </a:r>
          </a:p>
        </p:txBody>
      </p:sp>
      <p:sp>
        <p:nvSpPr>
          <p:cNvPr id="14" name="text-source-07">
            <a:extLst xmlns:a="http://schemas.openxmlformats.org/drawingml/2006/main">
              <a:ext uri="{FF2B5EF4-FFF2-40B4-BE49-F238E27FC236}">
                <a16:creationId xmlns:a16="http://schemas.microsoft.com/office/drawing/2014/main" id="{2E93C57B-AE20-4152-86C8-55405AA4CA89}"/>
              </a:ext>
            </a:extLst>
          </p:cNvPr>
          <p:cNvSpPr>
            <a:spLocks xmlns:a="http://schemas.openxmlformats.org/drawingml/2006/main" noGrp="1"/>
          </p:cNvSpPr>
          <p:nvPr/>
        </p:nvSpPr>
        <p:spPr>
          <a:xfrm xmlns:a="http://schemas.openxmlformats.org/drawingml/2006/main">
            <a:off x="1219200" y="444594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5" name="text-source-07">
            <a:extLst xmlns:a="http://schemas.openxmlformats.org/drawingml/2006/main">
              <a:ext uri="{FF2B5EF4-FFF2-40B4-BE49-F238E27FC236}">
                <a16:creationId xmlns:a16="http://schemas.microsoft.com/office/drawing/2014/main" id="{342B9517-FDFB-4BCC-B125-76D67040F274}"/>
              </a:ext>
            </a:extLst>
          </p:cNvPr>
          <p:cNvSpPr>
            <a:spLocks xmlns:a="http://schemas.openxmlformats.org/drawingml/2006/main" noGrp="1"/>
          </p:cNvSpPr>
          <p:nvPr/>
        </p:nvSpPr>
        <p:spPr>
          <a:xfrm xmlns:a="http://schemas.openxmlformats.org/drawingml/2006/main">
            <a:off x="2247900" y="4436418"/>
            <a:ext cx="801201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Опозив има предност над сваким ранијим доказом идентитета.</a:t>
            </a:r>
          </a:p>
        </p:txBody>
      </p:sp>
      <p:sp>
        <p:nvSpPr>
          <p:cNvPr id="16" name="text-source-07">
            <a:extLst xmlns:a="http://schemas.openxmlformats.org/drawingml/2006/main">
              <a:ext uri="{FF2B5EF4-FFF2-40B4-BE49-F238E27FC236}">
                <a16:creationId xmlns:a16="http://schemas.microsoft.com/office/drawing/2014/main" id="{539EEB7E-0698-4E86-895D-6AEA79A8D86F}"/>
              </a:ext>
            </a:extLst>
          </p:cNvPr>
          <p:cNvSpPr>
            <a:spLocks xmlns:a="http://schemas.openxmlformats.org/drawingml/2006/main" noGrp="1"/>
          </p:cNvSpPr>
          <p:nvPr/>
        </p:nvSpPr>
        <p:spPr>
          <a:xfrm xmlns:a="http://schemas.openxmlformats.org/drawingml/2006/main">
            <a:off x="2247900" y="4849713"/>
            <a:ext cx="494972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која граница мора бити видљива?</a:t>
            </a:r>
          </a:p>
        </p:txBody>
      </p:sp>
      <p:sp>
        <p:nvSpPr>
          <p:cNvPr id="17" name="text-source-07">
            <a:extLst xmlns:a="http://schemas.openxmlformats.org/drawingml/2006/main">
              <a:ext uri="{FF2B5EF4-FFF2-40B4-BE49-F238E27FC236}">
                <a16:creationId xmlns:a16="http://schemas.microsoft.com/office/drawing/2014/main" id="{F73B3241-11E9-475C-9D99-D7CBDC150482}"/>
              </a:ext>
            </a:extLst>
          </p:cNvPr>
          <p:cNvSpPr>
            <a:spLocks xmlns:a="http://schemas.openxmlformats.org/drawingml/2006/main" noGrp="1"/>
          </p:cNvSpPr>
          <p:nvPr/>
        </p:nvSpPr>
        <p:spPr>
          <a:xfrm xmlns:a="http://schemas.openxmlformats.org/drawingml/2006/main">
            <a:off x="1219200" y="557926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18" name="text-source-07">
            <a:extLst xmlns:a="http://schemas.openxmlformats.org/drawingml/2006/main">
              <a:ext uri="{FF2B5EF4-FFF2-40B4-BE49-F238E27FC236}">
                <a16:creationId xmlns:a16="http://schemas.microsoft.com/office/drawing/2014/main" id="{CF46E045-45A5-4750-B605-42C4A84683F3}"/>
              </a:ext>
            </a:extLst>
          </p:cNvPr>
          <p:cNvSpPr>
            <a:spLocks xmlns:a="http://schemas.openxmlformats.org/drawingml/2006/main" noGrp="1"/>
          </p:cNvSpPr>
          <p:nvPr/>
        </p:nvSpPr>
        <p:spPr>
          <a:xfrm xmlns:a="http://schemas.openxmlformats.org/drawingml/2006/main">
            <a:off x="2247900" y="5569744"/>
            <a:ext cx="871299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Опозив и истек остављају траг: ко је прекинуо приступ, када и зашто.</a:t>
            </a:r>
          </a:p>
        </p:txBody>
      </p:sp>
      <p:sp>
        <p:nvSpPr>
          <p:cNvPr id="19" name="text-source-07">
            <a:extLst xmlns:a="http://schemas.openxmlformats.org/drawingml/2006/main">
              <a:ext uri="{FF2B5EF4-FFF2-40B4-BE49-F238E27FC236}">
                <a16:creationId xmlns:a16="http://schemas.microsoft.com/office/drawing/2014/main" id="{E57D6B45-5A56-4812-BF3F-74CD673E4BAE}"/>
              </a:ext>
            </a:extLst>
          </p:cNvPr>
          <p:cNvSpPr>
            <a:spLocks xmlns:a="http://schemas.openxmlformats.org/drawingml/2006/main" noGrp="1"/>
          </p:cNvSpPr>
          <p:nvPr/>
        </p:nvSpPr>
        <p:spPr>
          <a:xfrm xmlns:a="http://schemas.openxmlformats.org/drawingml/2006/main">
            <a:off x="2247900" y="5983039"/>
            <a:ext cx="471934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Питање: који доказ остаје после исхода?</a:t>
            </a:r>
          </a:p>
        </p:txBody>
      </p:sp>
      <p:sp>
        <p:nvSpPr>
          <p:cNvPr id="20" name="text-source-07">
            <a:extLst xmlns:a="http://schemas.openxmlformats.org/drawingml/2006/main">
              <a:ext uri="{FF2B5EF4-FFF2-40B4-BE49-F238E27FC236}">
                <a16:creationId xmlns:a16="http://schemas.microsoft.com/office/drawing/2014/main" id="{3ACEF93E-F152-41D4-A199-F2EF5888EF58}"/>
              </a:ext>
            </a:extLst>
          </p:cNvPr>
          <p:cNvSpPr>
            <a:spLocks xmlns:a="http://schemas.openxmlformats.org/drawingml/2006/main" noGrp="1"/>
          </p:cNvSpPr>
          <p:nvPr/>
        </p:nvSpPr>
        <p:spPr>
          <a:xfrm xmlns:a="http://schemas.openxmlformats.org/drawingml/2006/main">
            <a:off x="1504950" y="6798320"/>
            <a:ext cx="2674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ПИТАЊЕ ЗА АНАЛИЗУ</a:t>
            </a:r>
          </a:p>
        </p:txBody>
      </p:sp>
      <p:sp>
        <p:nvSpPr>
          <p:cNvPr id="21" name="text-source-07">
            <a:extLst xmlns:a="http://schemas.openxmlformats.org/drawingml/2006/main">
              <a:ext uri="{FF2B5EF4-FFF2-40B4-BE49-F238E27FC236}">
                <a16:creationId xmlns:a16="http://schemas.microsoft.com/office/drawing/2014/main" id="{1E8BEF8E-D431-4D2D-838A-C329EBC67CC0}"/>
              </a:ext>
            </a:extLst>
          </p:cNvPr>
          <p:cNvSpPr>
            <a:spLocks xmlns:a="http://schemas.openxmlformats.org/drawingml/2006/main" noGrp="1"/>
          </p:cNvSpPr>
          <p:nvPr/>
        </p:nvSpPr>
        <p:spPr>
          <a:xfrm xmlns:a="http://schemas.openxmlformats.org/drawingml/2006/main">
            <a:off x="1504950" y="7204025"/>
            <a:ext cx="925606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Који догађај у вашем систему мора одмах да опозове постојећу сесију?</a:t>
            </a:r>
          </a:p>
        </p:txBody>
      </p:sp>
      <p:sp>
        <p:nvSpPr>
          <p:cNvPr id="22" name="text-source-07">
            <a:extLst xmlns:a="http://schemas.openxmlformats.org/drawingml/2006/main">
              <a:ext uri="{FF2B5EF4-FFF2-40B4-BE49-F238E27FC236}">
                <a16:creationId xmlns:a16="http://schemas.microsoft.com/office/drawing/2014/main" id="{A59DE2F1-660B-403E-8DBA-9BEC06B2ED40}"/>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3" name="text-source-07">
            <a:extLst xmlns:a="http://schemas.openxmlformats.org/drawingml/2006/main">
              <a:ext uri="{FF2B5EF4-FFF2-40B4-BE49-F238E27FC236}">
                <a16:creationId xmlns:a16="http://schemas.microsoft.com/office/drawing/2014/main" id="{C92D0BE1-0034-40C2-A5AA-C7EEFCD1664B}"/>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12</a:t>
            </a:r>
          </a:p>
        </p:txBody>
      </p:sp>
    </p:spTree>
    <p:extLst>
      <p:ext uri="{BB962C8B-B14F-4D97-AF65-F5344CB8AC3E}">
        <p14:creationId xmlns:p14="http://schemas.microsoft.com/office/powerpoint/2010/main" val="1804925467"/>
      </p:ext>
    </p:extLst>
  </p:cSld>
</p:sld>
</file>

<file path=ppt/slides/slide13.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454B489-F769-47A5-832E-5DEA21453144}"/>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7CE643-50A3-40ED-AEBE-C531743685F5}"/>
              </a:ext>
            </a:extLst>
          </p:cNvPr>
          <p:cNvSpPr>
            <a:spLocks xmlns:a="http://schemas.openxmlformats.org/drawingml/2006/main" noGrp="1"/>
          </p:cNvSpPr>
          <p:nvPr/>
        </p:nvSpPr>
        <p:spPr>
          <a:xfrm xmlns:a="http://schemas.openxmlformats.org/drawingml/2006/main">
            <a:off x="1219200" y="7191375"/>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3" name="rounded-banner-accent">
            <a:extLst xmlns:a="http://schemas.openxmlformats.org/drawingml/2006/main">
              <a:ext uri="{FF2B5EF4-FFF2-40B4-BE49-F238E27FC236}">
                <a16:creationId xmlns:a16="http://schemas.microsoft.com/office/drawing/2014/main" id="{44FD4B34-E1ED-4DDE-BAFE-2609CB751554}"/>
              </a:ext>
            </a:extLst>
          </p:cNvPr>
          <p:cNvSpPr>
            <a:spLocks xmlns:a="http://schemas.openxmlformats.org/drawingml/2006/main" noGrp="1"/>
          </p:cNvSpPr>
          <p:nvPr/>
        </p:nvSpPr>
        <p:spPr>
          <a:xfrm xmlns:a="http://schemas.openxmlformats.org/drawingml/2006/main">
            <a:off x="1219200" y="7191375"/>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337C6F-103A-4064-BA6D-F773358794D2}"/>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7492CDE-59F0-4C87-937F-13BF29C09190}"/>
              </a:ext>
            </a:extLst>
          </p:cNvPr>
          <p:cNvPicPr>
            <a:picLocks xmlns:a="http://schemas.openxmlformats.org/drawingml/2006/main" noChangeAspect="1"/>
          </p:cNvPicPr>
          <p:nvPr/>
        </p:nvPicPr>
        <p:blipFill>
          <a:blip xmlns:r="http://schemas.openxmlformats.org/officeDocument/2006/relationships" xmlns:a="http://schemas.openxmlformats.org/drawingml/2006/main" r:embed="R92266354d3ae4fce"/>
          <a:stretch xmlns:a="http://schemas.openxmlformats.org/drawingml/2006/main"/>
        </p:blipFill>
        <p:spPr>
          <a:xfrm xmlns:a="http://schemas.openxmlformats.org/drawingml/2006/main">
            <a:off x="1219200" y="3429000"/>
            <a:ext cx="15849600" cy="2762250"/>
          </a:xfrm>
          <a:prstGeom xmlns:a="http://schemas.openxmlformats.org/drawingml/2006/main" prst="rect">
            <a:avLst/>
          </a:prstGeom>
        </p:spPr>
      </p:pic>
      <p:sp>
        <p:nvSpPr>
          <p:cNvPr id="6" name="text-zivotni-ciklus">
            <a:extLst xmlns:a="http://schemas.openxmlformats.org/drawingml/2006/main">
              <a:ext uri="{FF2B5EF4-FFF2-40B4-BE49-F238E27FC236}">
                <a16:creationId xmlns:a16="http://schemas.microsoft.com/office/drawing/2014/main" id="{B262B818-1B0C-4F2C-810E-898176953411}"/>
              </a:ext>
            </a:extLst>
          </p:cNvPr>
          <p:cNvSpPr>
            <a:spLocks xmlns:a="http://schemas.openxmlformats.org/drawingml/2006/main" noGrp="1"/>
          </p:cNvSpPr>
          <p:nvPr/>
        </p:nvSpPr>
        <p:spPr>
          <a:xfrm xmlns:a="http://schemas.openxmlformats.org/drawingml/2006/main">
            <a:off x="1596182" y="5534025"/>
            <a:ext cx="2636937"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Почетна пријава</a:t>
            </a:r>
          </a:p>
        </p:txBody>
      </p:sp>
      <p:sp>
        <p:nvSpPr>
          <p:cNvPr id="7" name="text-zivotni-ciklus">
            <a:extLst xmlns:a="http://schemas.openxmlformats.org/drawingml/2006/main">
              <a:ext uri="{FF2B5EF4-FFF2-40B4-BE49-F238E27FC236}">
                <a16:creationId xmlns:a16="http://schemas.microsoft.com/office/drawing/2014/main" id="{AD5EFF31-3193-425C-8A16-17A88B3879A6}"/>
              </a:ext>
            </a:extLst>
          </p:cNvPr>
          <p:cNvSpPr>
            <a:spLocks xmlns:a="http://schemas.openxmlformats.org/drawingml/2006/main" noGrp="1"/>
          </p:cNvSpPr>
          <p:nvPr/>
        </p:nvSpPr>
        <p:spPr>
          <a:xfrm xmlns:a="http://schemas.openxmlformats.org/drawingml/2006/main">
            <a:off x="1325761" y="6010275"/>
            <a:ext cx="317762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13202D"/>
                </a:solidFill>
                <a:latin typeface="IBM Plex Sans"/>
                <a:ea typeface="IBM Plex Sans"/>
                <a:cs typeface="IBM Plex Sans"/>
              </a:rPr>
              <a:t>основни ниво поверења</a:t>
            </a:r>
          </a:p>
        </p:txBody>
      </p:sp>
      <p:sp>
        <p:nvSpPr>
          <p:cNvPr id="8" name="text-zivotni-ciklus">
            <a:extLst xmlns:a="http://schemas.openxmlformats.org/drawingml/2006/main">
              <a:ext uri="{FF2B5EF4-FFF2-40B4-BE49-F238E27FC236}">
                <a16:creationId xmlns:a16="http://schemas.microsoft.com/office/drawing/2014/main" id="{4BC5DFF0-F619-497A-8E2F-5A224FC81F5A}"/>
              </a:ext>
            </a:extLst>
          </p:cNvPr>
          <p:cNvSpPr>
            <a:spLocks xmlns:a="http://schemas.openxmlformats.org/drawingml/2006/main" noGrp="1"/>
          </p:cNvSpPr>
          <p:nvPr/>
        </p:nvSpPr>
        <p:spPr>
          <a:xfrm xmlns:a="http://schemas.openxmlformats.org/drawingml/2006/main">
            <a:off x="2605980" y="5095875"/>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3A46A5"/>
                </a:solidFill>
                <a:latin typeface="IBM Plex Sans"/>
                <a:ea typeface="IBM Plex Sans"/>
                <a:cs typeface="IBM Plex Sans"/>
              </a:rPr>
              <a:t>01</a:t>
            </a:r>
          </a:p>
        </p:txBody>
      </p:sp>
      <p:sp>
        <p:nvSpPr>
          <p:cNvPr id="9" name="text-zivotni-ciklus">
            <a:extLst xmlns:a="http://schemas.openxmlformats.org/drawingml/2006/main">
              <a:ext uri="{FF2B5EF4-FFF2-40B4-BE49-F238E27FC236}">
                <a16:creationId xmlns:a16="http://schemas.microsoft.com/office/drawing/2014/main" id="{0E33AB45-99A1-439E-97D4-D92B7CBEE368}"/>
              </a:ext>
            </a:extLst>
          </p:cNvPr>
          <p:cNvSpPr>
            <a:spLocks xmlns:a="http://schemas.openxmlformats.org/drawingml/2006/main" noGrp="1"/>
          </p:cNvSpPr>
          <p:nvPr/>
        </p:nvSpPr>
        <p:spPr>
          <a:xfrm xmlns:a="http://schemas.openxmlformats.org/drawingml/2006/main">
            <a:off x="5924848" y="5534025"/>
            <a:ext cx="243780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Активна сесија</a:t>
            </a:r>
          </a:p>
        </p:txBody>
      </p:sp>
      <p:sp>
        <p:nvSpPr>
          <p:cNvPr id="10" name="text-zivotni-ciklus">
            <a:extLst xmlns:a="http://schemas.openxmlformats.org/drawingml/2006/main">
              <a:ext uri="{FF2B5EF4-FFF2-40B4-BE49-F238E27FC236}">
                <a16:creationId xmlns:a16="http://schemas.microsoft.com/office/drawing/2014/main" id="{014C8E19-D4C7-4CEA-853E-82570B8D970A}"/>
              </a:ext>
            </a:extLst>
          </p:cNvPr>
          <p:cNvSpPr>
            <a:spLocks xmlns:a="http://schemas.openxmlformats.org/drawingml/2006/main" noGrp="1"/>
          </p:cNvSpPr>
          <p:nvPr/>
        </p:nvSpPr>
        <p:spPr>
          <a:xfrm xmlns:a="http://schemas.openxmlformats.org/drawingml/2006/main">
            <a:off x="5623620" y="6010275"/>
            <a:ext cx="30401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13202D"/>
                </a:solidFill>
                <a:latin typeface="IBM Plex Sans"/>
                <a:ea typeface="IBM Plex Sans"/>
                <a:cs typeface="IBM Plex Sans"/>
              </a:rPr>
              <a:t>временски ограничена</a:t>
            </a:r>
          </a:p>
        </p:txBody>
      </p:sp>
      <p:sp>
        <p:nvSpPr>
          <p:cNvPr id="11" name="text-zivotni-ciklus">
            <a:extLst xmlns:a="http://schemas.openxmlformats.org/drawingml/2006/main">
              <a:ext uri="{FF2B5EF4-FFF2-40B4-BE49-F238E27FC236}">
                <a16:creationId xmlns:a16="http://schemas.microsoft.com/office/drawing/2014/main" id="{5C2E360D-F599-48A7-9760-F24A6FDCA03F}"/>
              </a:ext>
            </a:extLst>
          </p:cNvPr>
          <p:cNvSpPr>
            <a:spLocks xmlns:a="http://schemas.openxmlformats.org/drawingml/2006/main" noGrp="1"/>
          </p:cNvSpPr>
          <p:nvPr/>
        </p:nvSpPr>
        <p:spPr>
          <a:xfrm xmlns:a="http://schemas.openxmlformats.org/drawingml/2006/main">
            <a:off x="6835080" y="5095875"/>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3A46A5"/>
                </a:solidFill>
                <a:latin typeface="IBM Plex Sans"/>
                <a:ea typeface="IBM Plex Sans"/>
                <a:cs typeface="IBM Plex Sans"/>
              </a:rPr>
              <a:t>02</a:t>
            </a:r>
          </a:p>
        </p:txBody>
      </p:sp>
      <p:sp>
        <p:nvSpPr>
          <p:cNvPr id="12" name="text-zivotni-ciklus">
            <a:extLst xmlns:a="http://schemas.openxmlformats.org/drawingml/2006/main">
              <a:ext uri="{FF2B5EF4-FFF2-40B4-BE49-F238E27FC236}">
                <a16:creationId xmlns:a16="http://schemas.microsoft.com/office/drawing/2014/main" id="{0D206270-31D6-4A1A-802B-9B9239C81D60}"/>
              </a:ext>
            </a:extLst>
          </p:cNvPr>
          <p:cNvSpPr>
            <a:spLocks xmlns:a="http://schemas.openxmlformats.org/drawingml/2006/main" noGrp="1"/>
          </p:cNvSpPr>
          <p:nvPr/>
        </p:nvSpPr>
        <p:spPr>
          <a:xfrm xmlns:a="http://schemas.openxmlformats.org/drawingml/2006/main">
            <a:off x="10120461" y="5534025"/>
            <a:ext cx="2504629"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Ризична радња</a:t>
            </a:r>
          </a:p>
        </p:txBody>
      </p:sp>
      <p:sp>
        <p:nvSpPr>
          <p:cNvPr id="13" name="text-zivotni-ciklus">
            <a:extLst xmlns:a="http://schemas.openxmlformats.org/drawingml/2006/main">
              <a:ext uri="{FF2B5EF4-FFF2-40B4-BE49-F238E27FC236}">
                <a16:creationId xmlns:a16="http://schemas.microsoft.com/office/drawing/2014/main" id="{669C71E5-13BF-4B3C-91B3-04AAF345151F}"/>
              </a:ext>
            </a:extLst>
          </p:cNvPr>
          <p:cNvSpPr>
            <a:spLocks xmlns:a="http://schemas.openxmlformats.org/drawingml/2006/main" noGrp="1"/>
          </p:cNvSpPr>
          <p:nvPr/>
        </p:nvSpPr>
        <p:spPr>
          <a:xfrm xmlns:a="http://schemas.openxmlformats.org/drawingml/2006/main">
            <a:off x="9938742" y="6010275"/>
            <a:ext cx="286806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13202D"/>
                </a:solidFill>
                <a:latin typeface="IBM Plex Sans"/>
                <a:ea typeface="IBM Plex Sans"/>
                <a:cs typeface="IBM Plex Sans"/>
              </a:rPr>
              <a:t>step-up или одбијање</a:t>
            </a:r>
          </a:p>
        </p:txBody>
      </p:sp>
      <p:sp>
        <p:nvSpPr>
          <p:cNvPr id="14" name="text-zivotni-ciklus">
            <a:extLst xmlns:a="http://schemas.openxmlformats.org/drawingml/2006/main">
              <a:ext uri="{FF2B5EF4-FFF2-40B4-BE49-F238E27FC236}">
                <a16:creationId xmlns:a16="http://schemas.microsoft.com/office/drawing/2014/main" id="{AE7425F8-E4FE-4869-9087-304717CF3578}"/>
              </a:ext>
            </a:extLst>
          </p:cNvPr>
          <p:cNvSpPr>
            <a:spLocks xmlns:a="http://schemas.openxmlformats.org/drawingml/2006/main" noGrp="1"/>
          </p:cNvSpPr>
          <p:nvPr/>
        </p:nvSpPr>
        <p:spPr>
          <a:xfrm xmlns:a="http://schemas.openxmlformats.org/drawingml/2006/main">
            <a:off x="11064180" y="5095875"/>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3A46A5"/>
                </a:solidFill>
                <a:latin typeface="IBM Plex Sans"/>
                <a:ea typeface="IBM Plex Sans"/>
                <a:cs typeface="IBM Plex Sans"/>
              </a:rPr>
              <a:t>03</a:t>
            </a:r>
          </a:p>
        </p:txBody>
      </p:sp>
      <p:sp>
        <p:nvSpPr>
          <p:cNvPr id="15" name="text-zivotni-ciklus">
            <a:extLst xmlns:a="http://schemas.openxmlformats.org/drawingml/2006/main">
              <a:ext uri="{FF2B5EF4-FFF2-40B4-BE49-F238E27FC236}">
                <a16:creationId xmlns:a16="http://schemas.microsoft.com/office/drawing/2014/main" id="{081BEBF3-77E3-4A45-8411-B6040C159819}"/>
              </a:ext>
            </a:extLst>
          </p:cNvPr>
          <p:cNvSpPr>
            <a:spLocks xmlns:a="http://schemas.openxmlformats.org/drawingml/2006/main" noGrp="1"/>
          </p:cNvSpPr>
          <p:nvPr/>
        </p:nvSpPr>
        <p:spPr>
          <a:xfrm xmlns:a="http://schemas.openxmlformats.org/drawingml/2006/main">
            <a:off x="14204900" y="5534025"/>
            <a:ext cx="2794099"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Опозив или истек</a:t>
            </a:r>
          </a:p>
        </p:txBody>
      </p:sp>
      <p:sp>
        <p:nvSpPr>
          <p:cNvPr id="16" name="text-zivotni-ciklus">
            <a:extLst xmlns:a="http://schemas.openxmlformats.org/drawingml/2006/main">
              <a:ext uri="{FF2B5EF4-FFF2-40B4-BE49-F238E27FC236}">
                <a16:creationId xmlns:a16="http://schemas.microsoft.com/office/drawing/2014/main" id="{62C9AD18-FF56-4A8F-9ABC-6D381FD263ED}"/>
              </a:ext>
            </a:extLst>
          </p:cNvPr>
          <p:cNvSpPr>
            <a:spLocks xmlns:a="http://schemas.openxmlformats.org/drawingml/2006/main" noGrp="1"/>
          </p:cNvSpPr>
          <p:nvPr/>
        </p:nvSpPr>
        <p:spPr>
          <a:xfrm xmlns:a="http://schemas.openxmlformats.org/drawingml/2006/main">
            <a:off x="13933884" y="6010275"/>
            <a:ext cx="3336131"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13202D"/>
                </a:solidFill>
                <a:latin typeface="IBM Plex Sans"/>
                <a:ea typeface="IBM Plex Sans"/>
                <a:cs typeface="IBM Plex Sans"/>
              </a:rPr>
              <a:t>приступ престаје да важи</a:t>
            </a:r>
          </a:p>
        </p:txBody>
      </p:sp>
      <p:sp>
        <p:nvSpPr>
          <p:cNvPr id="17" name="text-zivotni-ciklus">
            <a:extLst xmlns:a="http://schemas.openxmlformats.org/drawingml/2006/main">
              <a:ext uri="{FF2B5EF4-FFF2-40B4-BE49-F238E27FC236}">
                <a16:creationId xmlns:a16="http://schemas.microsoft.com/office/drawing/2014/main" id="{BBBBFA59-7C02-4319-A140-980128E803B2}"/>
              </a:ext>
            </a:extLst>
          </p:cNvPr>
          <p:cNvSpPr>
            <a:spLocks xmlns:a="http://schemas.openxmlformats.org/drawingml/2006/main" noGrp="1"/>
          </p:cNvSpPr>
          <p:nvPr/>
        </p:nvSpPr>
        <p:spPr>
          <a:xfrm xmlns:a="http://schemas.openxmlformats.org/drawingml/2006/main">
            <a:off x="15293280" y="5095875"/>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3A46A5"/>
                </a:solidFill>
                <a:latin typeface="IBM Plex Sans"/>
                <a:ea typeface="IBM Plex Sans"/>
                <a:cs typeface="IBM Plex Sans"/>
              </a:rPr>
              <a:t>04</a:t>
            </a:r>
          </a:p>
        </p:txBody>
      </p:sp>
      <p:sp>
        <p:nvSpPr>
          <p:cNvPr id="18" name="text-zivotni-ciklus">
            <a:extLst xmlns:a="http://schemas.openxmlformats.org/drawingml/2006/main">
              <a:ext uri="{FF2B5EF4-FFF2-40B4-BE49-F238E27FC236}">
                <a16:creationId xmlns:a16="http://schemas.microsoft.com/office/drawing/2014/main" id="{92CF9AF3-2F91-4288-AB87-1D83B21EC231}"/>
              </a:ext>
            </a:extLst>
          </p:cNvPr>
          <p:cNvSpPr>
            <a:spLocks xmlns:a="http://schemas.openxmlformats.org/drawingml/2006/main" noGrp="1"/>
          </p:cNvSpPr>
          <p:nvPr/>
        </p:nvSpPr>
        <p:spPr>
          <a:xfrm xmlns:a="http://schemas.openxmlformats.org/drawingml/2006/main">
            <a:off x="1219200" y="1066800"/>
            <a:ext cx="331097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02 · ЖИВОТНИ ЦИКЛУС</a:t>
            </a:r>
          </a:p>
        </p:txBody>
      </p:sp>
      <p:sp>
        <p:nvSpPr>
          <p:cNvPr id="19" name="heading-zivotni-ciklus">
            <a:extLst xmlns:a="http://schemas.openxmlformats.org/drawingml/2006/main">
              <a:ext uri="{FF2B5EF4-FFF2-40B4-BE49-F238E27FC236}">
                <a16:creationId xmlns:a16="http://schemas.microsoft.com/office/drawing/2014/main" id="{8EA5F3C9-FF1D-4B34-9F52-4F987244D7A0}"/>
              </a:ext>
            </a:extLst>
          </p:cNvPr>
          <p:cNvSpPr>
            <a:spLocks xmlns:a="http://schemas.openxmlformats.org/drawingml/2006/main" noGrp="1"/>
          </p:cNvSpPr>
          <p:nvPr/>
        </p:nvSpPr>
        <p:spPr>
          <a:xfrm xmlns:a="http://schemas.openxmlformats.org/drawingml/2006/main">
            <a:off x="1219200" y="1443930"/>
            <a:ext cx="9984432"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246"/>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Модел животног циклуса поверења</a:t>
            </a:r>
          </a:p>
        </p:txBody>
      </p:sp>
      <p:sp>
        <p:nvSpPr>
          <p:cNvPr id="20" name="text-zivotni-ciklus">
            <a:extLst xmlns:a="http://schemas.openxmlformats.org/drawingml/2006/main">
              <a:ext uri="{FF2B5EF4-FFF2-40B4-BE49-F238E27FC236}">
                <a16:creationId xmlns:a16="http://schemas.microsoft.com/office/drawing/2014/main" id="{33B23814-0BF8-46A9-A311-B589FC09C305}"/>
              </a:ext>
            </a:extLst>
          </p:cNvPr>
          <p:cNvSpPr>
            <a:spLocks xmlns:a="http://schemas.openxmlformats.org/drawingml/2006/main" noGrp="1"/>
          </p:cNvSpPr>
          <p:nvPr/>
        </p:nvSpPr>
        <p:spPr>
          <a:xfrm xmlns:a="http://schemas.openxmlformats.org/drawingml/2006/main">
            <a:off x="1219200" y="2444055"/>
            <a:ext cx="1109230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Поверење се не чува заувек. Систем га обнавља или опозива када се промени ризик.</a:t>
            </a:r>
          </a:p>
        </p:txBody>
      </p:sp>
      <p:sp>
        <p:nvSpPr>
          <p:cNvPr id="21" name="text-zivotni-ciklus">
            <a:extLst xmlns:a="http://schemas.openxmlformats.org/drawingml/2006/main">
              <a:ext uri="{FF2B5EF4-FFF2-40B4-BE49-F238E27FC236}">
                <a16:creationId xmlns:a16="http://schemas.microsoft.com/office/drawing/2014/main" id="{903334B1-A0F2-417D-91E9-C7051405B7A4}"/>
              </a:ext>
            </a:extLst>
          </p:cNvPr>
          <p:cNvSpPr>
            <a:spLocks xmlns:a="http://schemas.openxmlformats.org/drawingml/2006/main" noGrp="1"/>
          </p:cNvSpPr>
          <p:nvPr/>
        </p:nvSpPr>
        <p:spPr>
          <a:xfrm xmlns:a="http://schemas.openxmlformats.org/drawingml/2006/main">
            <a:off x="1504950" y="7381875"/>
            <a:ext cx="25375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ЕЛЕМЕНТИ АНАЛИЗЕ</a:t>
            </a:r>
          </a:p>
        </p:txBody>
      </p:sp>
      <p:sp>
        <p:nvSpPr>
          <p:cNvPr id="22" name="text-zivotni-ciklus">
            <a:extLst xmlns:a="http://schemas.openxmlformats.org/drawingml/2006/main">
              <a:ext uri="{FF2B5EF4-FFF2-40B4-BE49-F238E27FC236}">
                <a16:creationId xmlns:a16="http://schemas.microsoft.com/office/drawing/2014/main" id="{EE15C849-17E3-4EFE-B0B2-65E3BEC8C164}"/>
              </a:ext>
            </a:extLst>
          </p:cNvPr>
          <p:cNvSpPr>
            <a:spLocks xmlns:a="http://schemas.openxmlformats.org/drawingml/2006/main" noGrp="1"/>
          </p:cNvSpPr>
          <p:nvPr/>
        </p:nvSpPr>
        <p:spPr>
          <a:xfrm xmlns:a="http://schemas.openxmlformats.org/drawingml/2006/main">
            <a:off x="1504950" y="7787580"/>
            <a:ext cx="1161722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Анализа сваког корака обухвата покретача, место одлуке и траг који остаје после исхода.</a:t>
            </a:r>
          </a:p>
        </p:txBody>
      </p:sp>
      <p:sp>
        <p:nvSpPr>
          <p:cNvPr id="23" name="text-zivotni-ciklus">
            <a:extLst xmlns:a="http://schemas.openxmlformats.org/drawingml/2006/main">
              <a:ext uri="{FF2B5EF4-FFF2-40B4-BE49-F238E27FC236}">
                <a16:creationId xmlns:a16="http://schemas.microsoft.com/office/drawing/2014/main" id="{C69DBB98-3E7E-42DD-9D74-BB6266875967}"/>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4" name="text-zivotni-ciklus">
            <a:extLst xmlns:a="http://schemas.openxmlformats.org/drawingml/2006/main">
              <a:ext uri="{FF2B5EF4-FFF2-40B4-BE49-F238E27FC236}">
                <a16:creationId xmlns:a16="http://schemas.microsoft.com/office/drawing/2014/main" id="{67280F1A-FB25-4E68-8225-EE26D09EF457}"/>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13</a:t>
            </a:r>
          </a:p>
        </p:txBody>
      </p:sp>
    </p:spTree>
    <p:extLst>
      <p:ext uri="{BB962C8B-B14F-4D97-AF65-F5344CB8AC3E}">
        <p14:creationId xmlns:p14="http://schemas.microsoft.com/office/powerpoint/2010/main" val="65436024"/>
      </p:ext>
    </p:extLst>
  </p:cSld>
</p:sld>
</file>

<file path=ppt/slides/slide14.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87281B5-6DB5-40DD-94AC-7CC8447F933F}"/>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72310C-F202-42EB-B5F9-BCEB1BFA64F6}"/>
              </a:ext>
            </a:extLst>
          </p:cNvPr>
          <p:cNvSpPr>
            <a:spLocks xmlns:a="http://schemas.openxmlformats.org/drawingml/2006/main" noGrp="1"/>
          </p:cNvSpPr>
          <p:nvPr/>
        </p:nvSpPr>
        <p:spPr>
          <a:xfrm xmlns:a="http://schemas.openxmlformats.org/drawingml/2006/main">
            <a:off x="1219200" y="3112591"/>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8688F6-C68E-42D3-B36B-D4CA0DC40518}"/>
              </a:ext>
            </a:extLst>
          </p:cNvPr>
          <p:cNvSpPr>
            <a:spLocks xmlns:a="http://schemas.openxmlformats.org/drawingml/2006/main" noGrp="1"/>
          </p:cNvSpPr>
          <p:nvPr/>
        </p:nvSpPr>
        <p:spPr>
          <a:xfrm xmlns:a="http://schemas.openxmlformats.org/drawingml/2006/main">
            <a:off x="1219200" y="4245918"/>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47409C-BAF0-4038-B7E8-AF67DF5E7EDF}"/>
              </a:ext>
            </a:extLst>
          </p:cNvPr>
          <p:cNvSpPr>
            <a:spLocks xmlns:a="http://schemas.openxmlformats.org/drawingml/2006/main" noGrp="1"/>
          </p:cNvSpPr>
          <p:nvPr/>
        </p:nvSpPr>
        <p:spPr>
          <a:xfrm xmlns:a="http://schemas.openxmlformats.org/drawingml/2006/main">
            <a:off x="1219200" y="5379244"/>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FF1A58-0F78-4C79-9405-552214E39296}"/>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6" name="text-source-11">
            <a:extLst xmlns:a="http://schemas.openxmlformats.org/drawingml/2006/main">
              <a:ext uri="{FF2B5EF4-FFF2-40B4-BE49-F238E27FC236}">
                <a16:creationId xmlns:a16="http://schemas.microsoft.com/office/drawing/2014/main" id="{3D00C2A3-3D1F-4893-872D-079A4C500746}"/>
              </a:ext>
            </a:extLst>
          </p:cNvPr>
          <p:cNvSpPr>
            <a:spLocks xmlns:a="http://schemas.openxmlformats.org/drawingml/2006/main" noGrp="1"/>
          </p:cNvSpPr>
          <p:nvPr/>
        </p:nvSpPr>
        <p:spPr>
          <a:xfrm xmlns:a="http://schemas.openxmlformats.org/drawingml/2006/main">
            <a:off x="1219200" y="1066800"/>
            <a:ext cx="331097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02 · РОК И КОНТЕКСТ</a:t>
            </a:r>
          </a:p>
        </p:txBody>
      </p:sp>
      <p:sp>
        <p:nvSpPr>
          <p:cNvPr id="7" name="heading-source-11">
            <a:extLst xmlns:a="http://schemas.openxmlformats.org/drawingml/2006/main">
              <a:ext uri="{FF2B5EF4-FFF2-40B4-BE49-F238E27FC236}">
                <a16:creationId xmlns:a16="http://schemas.microsoft.com/office/drawing/2014/main" id="{56370E2B-A3FB-42DF-967A-E75F1D6A8C43}"/>
              </a:ext>
            </a:extLst>
          </p:cNvPr>
          <p:cNvSpPr>
            <a:spLocks xmlns:a="http://schemas.openxmlformats.org/drawingml/2006/main" noGrp="1"/>
          </p:cNvSpPr>
          <p:nvPr/>
        </p:nvSpPr>
        <p:spPr>
          <a:xfrm xmlns:a="http://schemas.openxmlformats.org/drawingml/2006/main">
            <a:off x="1219200" y="1443930"/>
            <a:ext cx="784428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Приступ има рок и контекст</a:t>
            </a:r>
          </a:p>
        </p:txBody>
      </p:sp>
      <p:sp>
        <p:nvSpPr>
          <p:cNvPr id="8" name="text-source-11">
            <a:extLst xmlns:a="http://schemas.openxmlformats.org/drawingml/2006/main">
              <a:ext uri="{FF2B5EF4-FFF2-40B4-BE49-F238E27FC236}">
                <a16:creationId xmlns:a16="http://schemas.microsoft.com/office/drawing/2014/main" id="{7DACE2D8-F962-4DC8-9C35-BBFDD9B40781}"/>
              </a:ext>
            </a:extLst>
          </p:cNvPr>
          <p:cNvSpPr>
            <a:spLocks xmlns:a="http://schemas.openxmlformats.org/drawingml/2006/main" noGrp="1"/>
          </p:cNvSpPr>
          <p:nvPr/>
        </p:nvSpPr>
        <p:spPr>
          <a:xfrm xmlns:a="http://schemas.openxmlformats.org/drawingml/2006/main">
            <a:off x="1219200" y="2444055"/>
            <a:ext cx="995481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Наведена правила остају видљива у имплементацији, тестовима и ревизији.</a:t>
            </a:r>
          </a:p>
        </p:txBody>
      </p:sp>
      <p:sp>
        <p:nvSpPr>
          <p:cNvPr id="9" name="text-source-11">
            <a:extLst xmlns:a="http://schemas.openxmlformats.org/drawingml/2006/main">
              <a:ext uri="{FF2B5EF4-FFF2-40B4-BE49-F238E27FC236}">
                <a16:creationId xmlns:a16="http://schemas.microsoft.com/office/drawing/2014/main" id="{32737233-BDDF-4830-9DF1-3AA526076746}"/>
              </a:ext>
            </a:extLst>
          </p:cNvPr>
          <p:cNvSpPr>
            <a:spLocks xmlns:a="http://schemas.openxmlformats.org/drawingml/2006/main" noGrp="1"/>
          </p:cNvSpPr>
          <p:nvPr/>
        </p:nvSpPr>
        <p:spPr>
          <a:xfrm xmlns:a="http://schemas.openxmlformats.org/drawingml/2006/main">
            <a:off x="121920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0" name="text-source-11">
            <a:extLst xmlns:a="http://schemas.openxmlformats.org/drawingml/2006/main">
              <a:ext uri="{FF2B5EF4-FFF2-40B4-BE49-F238E27FC236}">
                <a16:creationId xmlns:a16="http://schemas.microsoft.com/office/drawing/2014/main" id="{1A5AB832-0988-42EC-BB18-1189A7AE7065}"/>
              </a:ext>
            </a:extLst>
          </p:cNvPr>
          <p:cNvSpPr>
            <a:spLocks xmlns:a="http://schemas.openxmlformats.org/drawingml/2006/main" noGrp="1"/>
          </p:cNvSpPr>
          <p:nvPr/>
        </p:nvSpPr>
        <p:spPr>
          <a:xfrm xmlns:a="http://schemas.openxmlformats.org/drawingml/2006/main">
            <a:off x="2247900" y="3303091"/>
            <a:ext cx="697557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Сесија може изгубити важност пре планираног истека.</a:t>
            </a:r>
          </a:p>
        </p:txBody>
      </p:sp>
      <p:sp>
        <p:nvSpPr>
          <p:cNvPr id="11" name="text-source-11">
            <a:extLst xmlns:a="http://schemas.openxmlformats.org/drawingml/2006/main">
              <a:ext uri="{FF2B5EF4-FFF2-40B4-BE49-F238E27FC236}">
                <a16:creationId xmlns:a16="http://schemas.microsoft.com/office/drawing/2014/main" id="{E9CE1D97-BEF6-48DA-A3A5-FD4CECAC3011}"/>
              </a:ext>
            </a:extLst>
          </p:cNvPr>
          <p:cNvSpPr>
            <a:spLocks xmlns:a="http://schemas.openxmlformats.org/drawingml/2006/main" noGrp="1"/>
          </p:cNvSpPr>
          <p:nvPr/>
        </p:nvSpPr>
        <p:spPr>
          <a:xfrm xmlns:a="http://schemas.openxmlformats.org/drawingml/2006/main">
            <a:off x="2247900" y="3716387"/>
            <a:ext cx="191779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Јасно правило</a:t>
            </a:r>
          </a:p>
        </p:txBody>
      </p:sp>
      <p:sp>
        <p:nvSpPr>
          <p:cNvPr id="12" name="text-source-11">
            <a:extLst xmlns:a="http://schemas.openxmlformats.org/drawingml/2006/main">
              <a:ext uri="{FF2B5EF4-FFF2-40B4-BE49-F238E27FC236}">
                <a16:creationId xmlns:a16="http://schemas.microsoft.com/office/drawing/2014/main" id="{94D0E52E-8518-4506-88E8-24519FE03C6B}"/>
              </a:ext>
            </a:extLst>
          </p:cNvPr>
          <p:cNvSpPr>
            <a:spLocks xmlns:a="http://schemas.openxmlformats.org/drawingml/2006/main" noGrp="1"/>
          </p:cNvSpPr>
          <p:nvPr/>
        </p:nvSpPr>
        <p:spPr>
          <a:xfrm xmlns:a="http://schemas.openxmlformats.org/drawingml/2006/main">
            <a:off x="1219200" y="444594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3" name="text-source-11">
            <a:extLst xmlns:a="http://schemas.openxmlformats.org/drawingml/2006/main">
              <a:ext uri="{FF2B5EF4-FFF2-40B4-BE49-F238E27FC236}">
                <a16:creationId xmlns:a16="http://schemas.microsoft.com/office/drawing/2014/main" id="{75EE8A2C-4FAC-4CF3-9B7C-B6EC6F8FF529}"/>
              </a:ext>
            </a:extLst>
          </p:cNvPr>
          <p:cNvSpPr>
            <a:spLocks xmlns:a="http://schemas.openxmlformats.org/drawingml/2006/main" noGrp="1"/>
          </p:cNvSpPr>
          <p:nvPr/>
        </p:nvSpPr>
        <p:spPr>
          <a:xfrm xmlns:a="http://schemas.openxmlformats.org/drawingml/2006/main">
            <a:off x="2247900" y="4436418"/>
            <a:ext cx="77709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Додатна потврда прати ризик радње, не само тип корисника.</a:t>
            </a:r>
          </a:p>
        </p:txBody>
      </p:sp>
      <p:sp>
        <p:nvSpPr>
          <p:cNvPr id="14" name="text-source-11">
            <a:extLst xmlns:a="http://schemas.openxmlformats.org/drawingml/2006/main">
              <a:ext uri="{FF2B5EF4-FFF2-40B4-BE49-F238E27FC236}">
                <a16:creationId xmlns:a16="http://schemas.microsoft.com/office/drawing/2014/main" id="{28FD0134-0B69-4A90-A8CD-80C62FAA2D93}"/>
              </a:ext>
            </a:extLst>
          </p:cNvPr>
          <p:cNvSpPr>
            <a:spLocks xmlns:a="http://schemas.openxmlformats.org/drawingml/2006/main" noGrp="1"/>
          </p:cNvSpPr>
          <p:nvPr/>
        </p:nvSpPr>
        <p:spPr>
          <a:xfrm xmlns:a="http://schemas.openxmlformats.org/drawingml/2006/main">
            <a:off x="2247900" y="4849713"/>
            <a:ext cx="270718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Проверљива примена</a:t>
            </a:r>
          </a:p>
        </p:txBody>
      </p:sp>
      <p:sp>
        <p:nvSpPr>
          <p:cNvPr id="15" name="text-source-11">
            <a:extLst xmlns:a="http://schemas.openxmlformats.org/drawingml/2006/main">
              <a:ext uri="{FF2B5EF4-FFF2-40B4-BE49-F238E27FC236}">
                <a16:creationId xmlns:a16="http://schemas.microsoft.com/office/drawing/2014/main" id="{1902FA54-34A7-40B6-A02C-33FF5D79FBE2}"/>
              </a:ext>
            </a:extLst>
          </p:cNvPr>
          <p:cNvSpPr>
            <a:spLocks xmlns:a="http://schemas.openxmlformats.org/drawingml/2006/main" noGrp="1"/>
          </p:cNvSpPr>
          <p:nvPr/>
        </p:nvSpPr>
        <p:spPr>
          <a:xfrm xmlns:a="http://schemas.openxmlformats.org/drawingml/2006/main">
            <a:off x="1219200" y="557926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16" name="text-source-11">
            <a:extLst xmlns:a="http://schemas.openxmlformats.org/drawingml/2006/main">
              <a:ext uri="{FF2B5EF4-FFF2-40B4-BE49-F238E27FC236}">
                <a16:creationId xmlns:a16="http://schemas.microsoft.com/office/drawing/2014/main" id="{0F7085DF-D3B5-4EAE-9273-56953C5D8C74}"/>
              </a:ext>
            </a:extLst>
          </p:cNvPr>
          <p:cNvSpPr>
            <a:spLocks xmlns:a="http://schemas.openxmlformats.org/drawingml/2006/main" noGrp="1"/>
          </p:cNvSpPr>
          <p:nvPr/>
        </p:nvSpPr>
        <p:spPr>
          <a:xfrm xmlns:a="http://schemas.openxmlformats.org/drawingml/2006/main">
            <a:off x="2247900" y="5569744"/>
            <a:ext cx="9789021"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Сервисни идентитет има мали, јасно оправдан опсег, као и људски идентитет.</a:t>
            </a:r>
          </a:p>
        </p:txBody>
      </p:sp>
      <p:sp>
        <p:nvSpPr>
          <p:cNvPr id="17" name="text-source-11">
            <a:extLst xmlns:a="http://schemas.openxmlformats.org/drawingml/2006/main">
              <a:ext uri="{FF2B5EF4-FFF2-40B4-BE49-F238E27FC236}">
                <a16:creationId xmlns:a16="http://schemas.microsoft.com/office/drawing/2014/main" id="{176DDA70-6C01-4C62-8FAC-84D49FDF0B24}"/>
              </a:ext>
            </a:extLst>
          </p:cNvPr>
          <p:cNvSpPr>
            <a:spLocks xmlns:a="http://schemas.openxmlformats.org/drawingml/2006/main" noGrp="1"/>
          </p:cNvSpPr>
          <p:nvPr/>
        </p:nvSpPr>
        <p:spPr>
          <a:xfrm xmlns:a="http://schemas.openxmlformats.org/drawingml/2006/main">
            <a:off x="2247900" y="5983039"/>
            <a:ext cx="188892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Видљив доказ</a:t>
            </a:r>
          </a:p>
        </p:txBody>
      </p:sp>
      <p:sp>
        <p:nvSpPr>
          <p:cNvPr id="18" name="text-source-11">
            <a:extLst xmlns:a="http://schemas.openxmlformats.org/drawingml/2006/main">
              <a:ext uri="{FF2B5EF4-FFF2-40B4-BE49-F238E27FC236}">
                <a16:creationId xmlns:a16="http://schemas.microsoft.com/office/drawing/2014/main" id="{38C1A0C8-0047-4A75-A51A-7ABE7B167072}"/>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9" name="text-source-11">
            <a:extLst xmlns:a="http://schemas.openxmlformats.org/drawingml/2006/main">
              <a:ext uri="{FF2B5EF4-FFF2-40B4-BE49-F238E27FC236}">
                <a16:creationId xmlns:a16="http://schemas.microsoft.com/office/drawing/2014/main" id="{FC7E24C3-E9E1-459A-8750-60236DA5FF54}"/>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14</a:t>
            </a:r>
          </a:p>
        </p:txBody>
      </p:sp>
    </p:spTree>
    <p:extLst>
      <p:ext uri="{BB962C8B-B14F-4D97-AF65-F5344CB8AC3E}">
        <p14:creationId xmlns:p14="http://schemas.microsoft.com/office/powerpoint/2010/main" val="697283459"/>
      </p:ext>
    </p:extLst>
  </p:cSld>
</p:sld>
</file>

<file path=ppt/slides/slide15.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9B0529B-ABB6-40C4-8421-C3FE061205FD}"/>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890B3D-37CC-4E12-9198-87A007AC6BD7}"/>
              </a:ext>
            </a:extLst>
          </p:cNvPr>
          <p:cNvSpPr>
            <a:spLocks xmlns:a="http://schemas.openxmlformats.org/drawingml/2006/main" noGrp="1"/>
          </p:cNvSpPr>
          <p:nvPr/>
        </p:nvSpPr>
        <p:spPr>
          <a:xfrm xmlns:a="http://schemas.openxmlformats.org/drawingml/2006/main">
            <a:off x="1219200" y="3112591"/>
            <a:ext cx="15849600" cy="1896963"/>
          </a:xfrm>
          <a:prstGeom xmlns:a="http://schemas.openxmlformats.org/drawingml/2006/main" prst="roundRect">
            <a:avLst>
              <a:gd name="adj" fmla="val 6025"/>
            </a:avLst>
          </a:prstGeom>
          <a:solidFill xmlns:a="http://schemas.openxmlformats.org/drawingml/2006/main">
            <a:srgbClr val="E6E8EE"/>
          </a:solidFill>
          <a:ln xmlns:a="http://schemas.openxmlformats.org/drawingml/2006/main" w="0">
            <a:noFill/>
          </a:ln>
        </p:spPr>
      </p:sp>
      <p:sp>
        <p:nvSpPr>
          <p:cNvPr id="3" name="rounded-banner-accent">
            <a:extLst xmlns:a="http://schemas.openxmlformats.org/drawingml/2006/main">
              <a:ext uri="{FF2B5EF4-FFF2-40B4-BE49-F238E27FC236}">
                <a16:creationId xmlns:a16="http://schemas.microsoft.com/office/drawing/2014/main" id="{D71D2828-0397-4483-97A8-A381AFA1691F}"/>
              </a:ext>
            </a:extLst>
          </p:cNvPr>
          <p:cNvSpPr>
            <a:spLocks xmlns:a="http://schemas.openxmlformats.org/drawingml/2006/main" noGrp="1"/>
          </p:cNvSpPr>
          <p:nvPr/>
        </p:nvSpPr>
        <p:spPr>
          <a:xfrm xmlns:a="http://schemas.openxmlformats.org/drawingml/2006/main">
            <a:off x="1219200" y="3112591"/>
            <a:ext cx="114300" cy="1896963"/>
          </a:xfrm>
          <a:custGeom xmlns:a="http://schemas.openxmlformats.org/drawingml/2006/main">
            <a:pathLst>
              <a:path w="114300" h="1896963">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782663"/>
                </a:lnTo>
                <a:lnTo>
                  <a:pt x="61" y="1786403"/>
                </a:lnTo>
                <a:lnTo>
                  <a:pt x="245" y="1790139"/>
                </a:lnTo>
                <a:lnTo>
                  <a:pt x="550" y="1793867"/>
                </a:lnTo>
                <a:lnTo>
                  <a:pt x="978" y="1797582"/>
                </a:lnTo>
                <a:lnTo>
                  <a:pt x="1527" y="1801282"/>
                </a:lnTo>
                <a:lnTo>
                  <a:pt x="2196" y="1804962"/>
                </a:lnTo>
                <a:lnTo>
                  <a:pt x="2986" y="1808618"/>
                </a:lnTo>
                <a:lnTo>
                  <a:pt x="3895" y="1812246"/>
                </a:lnTo>
                <a:lnTo>
                  <a:pt x="4922" y="1815843"/>
                </a:lnTo>
                <a:lnTo>
                  <a:pt x="6066" y="1819404"/>
                </a:lnTo>
                <a:lnTo>
                  <a:pt x="7326" y="1822925"/>
                </a:lnTo>
                <a:lnTo>
                  <a:pt x="8701" y="1826404"/>
                </a:lnTo>
                <a:lnTo>
                  <a:pt x="10188" y="1829836"/>
                </a:lnTo>
                <a:lnTo>
                  <a:pt x="11787" y="1833217"/>
                </a:lnTo>
                <a:lnTo>
                  <a:pt x="13496" y="1836544"/>
                </a:lnTo>
                <a:lnTo>
                  <a:pt x="15313" y="1839813"/>
                </a:lnTo>
                <a:lnTo>
                  <a:pt x="17236" y="1843021"/>
                </a:lnTo>
                <a:lnTo>
                  <a:pt x="19263" y="1846165"/>
                </a:lnTo>
                <a:lnTo>
                  <a:pt x="21392" y="1849240"/>
                </a:lnTo>
                <a:lnTo>
                  <a:pt x="23620" y="1852245"/>
                </a:lnTo>
                <a:lnTo>
                  <a:pt x="25945" y="1855174"/>
                </a:lnTo>
                <a:lnTo>
                  <a:pt x="28365" y="1858027"/>
                </a:lnTo>
                <a:lnTo>
                  <a:pt x="30877" y="1860798"/>
                </a:lnTo>
                <a:lnTo>
                  <a:pt x="33478" y="1863486"/>
                </a:lnTo>
                <a:lnTo>
                  <a:pt x="36165" y="1866087"/>
                </a:lnTo>
                <a:lnTo>
                  <a:pt x="38937" y="1868599"/>
                </a:lnTo>
                <a:lnTo>
                  <a:pt x="41789" y="1871018"/>
                </a:lnTo>
                <a:lnTo>
                  <a:pt x="44719" y="1873344"/>
                </a:lnTo>
                <a:lnTo>
                  <a:pt x="47723" y="1875572"/>
                </a:lnTo>
                <a:lnTo>
                  <a:pt x="50798" y="1877700"/>
                </a:lnTo>
                <a:lnTo>
                  <a:pt x="53942" y="1879727"/>
                </a:lnTo>
                <a:lnTo>
                  <a:pt x="57150" y="1881650"/>
                </a:lnTo>
                <a:lnTo>
                  <a:pt x="60419" y="1883467"/>
                </a:lnTo>
                <a:lnTo>
                  <a:pt x="63746" y="1885176"/>
                </a:lnTo>
                <a:lnTo>
                  <a:pt x="67128" y="1886775"/>
                </a:lnTo>
                <a:lnTo>
                  <a:pt x="70559" y="1888263"/>
                </a:lnTo>
                <a:lnTo>
                  <a:pt x="74038" y="1889637"/>
                </a:lnTo>
                <a:lnTo>
                  <a:pt x="77559" y="1890897"/>
                </a:lnTo>
                <a:lnTo>
                  <a:pt x="81120" y="1892042"/>
                </a:lnTo>
                <a:lnTo>
                  <a:pt x="84717" y="1893069"/>
                </a:lnTo>
                <a:lnTo>
                  <a:pt x="88345" y="1893977"/>
                </a:lnTo>
                <a:lnTo>
                  <a:pt x="92001" y="1894767"/>
                </a:lnTo>
                <a:lnTo>
                  <a:pt x="95681" y="1895437"/>
                </a:lnTo>
                <a:lnTo>
                  <a:pt x="99381" y="1895985"/>
                </a:lnTo>
                <a:lnTo>
                  <a:pt x="103097" y="1896413"/>
                </a:lnTo>
                <a:lnTo>
                  <a:pt x="106824" y="1896719"/>
                </a:lnTo>
                <a:lnTo>
                  <a:pt x="110560" y="1896902"/>
                </a:lnTo>
                <a:lnTo>
                  <a:pt x="114300" y="1896963"/>
                </a:lnTo>
                <a:lnTo>
                  <a:pt x="114300" y="1896963"/>
                </a:lnTo>
                <a:lnTo>
                  <a:pt x="112430" y="1896902"/>
                </a:lnTo>
                <a:lnTo>
                  <a:pt x="110562" y="1896719"/>
                </a:lnTo>
                <a:lnTo>
                  <a:pt x="108698" y="1896413"/>
                </a:lnTo>
                <a:lnTo>
                  <a:pt x="106840" y="1895985"/>
                </a:lnTo>
                <a:lnTo>
                  <a:pt x="104991" y="1895437"/>
                </a:lnTo>
                <a:lnTo>
                  <a:pt x="103151" y="1894767"/>
                </a:lnTo>
                <a:lnTo>
                  <a:pt x="101323" y="1893977"/>
                </a:lnTo>
                <a:lnTo>
                  <a:pt x="99508" y="1893069"/>
                </a:lnTo>
                <a:lnTo>
                  <a:pt x="97710" y="1892042"/>
                </a:lnTo>
                <a:lnTo>
                  <a:pt x="95930" y="1890897"/>
                </a:lnTo>
                <a:lnTo>
                  <a:pt x="94169" y="1889637"/>
                </a:lnTo>
                <a:lnTo>
                  <a:pt x="92430" y="1888263"/>
                </a:lnTo>
                <a:lnTo>
                  <a:pt x="90714" y="1886775"/>
                </a:lnTo>
                <a:lnTo>
                  <a:pt x="89023" y="1885176"/>
                </a:lnTo>
                <a:lnTo>
                  <a:pt x="87360" y="1883467"/>
                </a:lnTo>
                <a:lnTo>
                  <a:pt x="85725" y="1881650"/>
                </a:lnTo>
                <a:lnTo>
                  <a:pt x="84121" y="1879727"/>
                </a:lnTo>
                <a:lnTo>
                  <a:pt x="82549" y="1877700"/>
                </a:lnTo>
                <a:lnTo>
                  <a:pt x="81011" y="1875572"/>
                </a:lnTo>
                <a:lnTo>
                  <a:pt x="79509" y="1873344"/>
                </a:lnTo>
                <a:lnTo>
                  <a:pt x="78044" y="1871018"/>
                </a:lnTo>
                <a:lnTo>
                  <a:pt x="76618" y="1868599"/>
                </a:lnTo>
                <a:lnTo>
                  <a:pt x="75233" y="1866087"/>
                </a:lnTo>
                <a:lnTo>
                  <a:pt x="73889" y="1863486"/>
                </a:lnTo>
                <a:lnTo>
                  <a:pt x="72588" y="1860798"/>
                </a:lnTo>
                <a:lnTo>
                  <a:pt x="71332" y="1858027"/>
                </a:lnTo>
                <a:lnTo>
                  <a:pt x="70122" y="1855174"/>
                </a:lnTo>
                <a:lnTo>
                  <a:pt x="68960" y="1852245"/>
                </a:lnTo>
                <a:lnTo>
                  <a:pt x="67846" y="1849240"/>
                </a:lnTo>
                <a:lnTo>
                  <a:pt x="66782" y="1846165"/>
                </a:lnTo>
                <a:lnTo>
                  <a:pt x="65768" y="1843021"/>
                </a:lnTo>
                <a:lnTo>
                  <a:pt x="64807" y="1839813"/>
                </a:lnTo>
                <a:lnTo>
                  <a:pt x="63898" y="1836544"/>
                </a:lnTo>
                <a:lnTo>
                  <a:pt x="63044" y="1833217"/>
                </a:lnTo>
                <a:lnTo>
                  <a:pt x="62244" y="1829836"/>
                </a:lnTo>
                <a:lnTo>
                  <a:pt x="61500" y="1826404"/>
                </a:lnTo>
                <a:lnTo>
                  <a:pt x="60813" y="1822925"/>
                </a:lnTo>
                <a:lnTo>
                  <a:pt x="60183" y="1819404"/>
                </a:lnTo>
                <a:lnTo>
                  <a:pt x="59611" y="1815843"/>
                </a:lnTo>
                <a:lnTo>
                  <a:pt x="59097" y="1812246"/>
                </a:lnTo>
                <a:lnTo>
                  <a:pt x="58643" y="1808618"/>
                </a:lnTo>
                <a:lnTo>
                  <a:pt x="58248" y="1804962"/>
                </a:lnTo>
                <a:lnTo>
                  <a:pt x="57913" y="1801282"/>
                </a:lnTo>
                <a:lnTo>
                  <a:pt x="57639" y="1797582"/>
                </a:lnTo>
                <a:lnTo>
                  <a:pt x="57425" y="1793867"/>
                </a:lnTo>
                <a:lnTo>
                  <a:pt x="57272" y="1790139"/>
                </a:lnTo>
                <a:lnTo>
                  <a:pt x="57181" y="1786403"/>
                </a:lnTo>
                <a:lnTo>
                  <a:pt x="57150" y="1782663"/>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CA1CA7-F8D3-400D-BD55-F8A1F868C1AF}"/>
              </a:ext>
            </a:extLst>
          </p:cNvPr>
          <p:cNvSpPr>
            <a:spLocks xmlns:a="http://schemas.openxmlformats.org/drawingml/2006/main" noGrp="1"/>
          </p:cNvSpPr>
          <p:nvPr/>
        </p:nvSpPr>
        <p:spPr>
          <a:xfrm xmlns:a="http://schemas.openxmlformats.org/drawingml/2006/main">
            <a:off x="1219200" y="521910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8F28F1-26CE-4EBF-A9C2-31FCB705D833}"/>
              </a:ext>
            </a:extLst>
          </p:cNvPr>
          <p:cNvSpPr>
            <a:spLocks xmlns:a="http://schemas.openxmlformats.org/drawingml/2006/main" noGrp="1"/>
          </p:cNvSpPr>
          <p:nvPr/>
        </p:nvSpPr>
        <p:spPr>
          <a:xfrm xmlns:a="http://schemas.openxmlformats.org/drawingml/2006/main">
            <a:off x="1219200" y="6196310"/>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48E3996-4E47-44E6-8A8A-ECF22D95B7BB}"/>
              </a:ext>
            </a:extLst>
          </p:cNvPr>
          <p:cNvSpPr>
            <a:spLocks xmlns:a="http://schemas.openxmlformats.org/drawingml/2006/main" noGrp="1"/>
          </p:cNvSpPr>
          <p:nvPr/>
        </p:nvSpPr>
        <p:spPr>
          <a:xfrm xmlns:a="http://schemas.openxmlformats.org/drawingml/2006/main">
            <a:off x="1219200" y="7173516"/>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6D6445-6AD8-4E14-A771-B63AFF26BE7E}"/>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13">
            <a:extLst xmlns:a="http://schemas.openxmlformats.org/drawingml/2006/main">
              <a:ext uri="{FF2B5EF4-FFF2-40B4-BE49-F238E27FC236}">
                <a16:creationId xmlns:a16="http://schemas.microsoft.com/office/drawing/2014/main" id="{8A3112C8-DA46-41BC-9495-2B0333B83094}"/>
              </a:ext>
            </a:extLst>
          </p:cNvPr>
          <p:cNvSpPr>
            <a:spLocks xmlns:a="http://schemas.openxmlformats.org/drawingml/2006/main" noGrp="1"/>
          </p:cNvSpPr>
          <p:nvPr/>
        </p:nvSpPr>
        <p:spPr>
          <a:xfrm xmlns:a="http://schemas.openxmlformats.org/drawingml/2006/main">
            <a:off x="1219200" y="1066800"/>
            <a:ext cx="206127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02 · СЛУЧАЈ</a:t>
            </a:r>
          </a:p>
        </p:txBody>
      </p:sp>
      <p:sp>
        <p:nvSpPr>
          <p:cNvPr id="9" name="heading-source-13">
            <a:extLst xmlns:a="http://schemas.openxmlformats.org/drawingml/2006/main">
              <a:ext uri="{FF2B5EF4-FFF2-40B4-BE49-F238E27FC236}">
                <a16:creationId xmlns:a16="http://schemas.microsoft.com/office/drawing/2014/main" id="{32E677FB-B7EB-4CB9-A4D6-E08231D1F622}"/>
              </a:ext>
            </a:extLst>
          </p:cNvPr>
          <p:cNvSpPr>
            <a:spLocks xmlns:a="http://schemas.openxmlformats.org/drawingml/2006/main" noGrp="1"/>
          </p:cNvSpPr>
          <p:nvPr/>
        </p:nvSpPr>
        <p:spPr>
          <a:xfrm xmlns:a="http://schemas.openxmlformats.org/drawingml/2006/main">
            <a:off x="1219200" y="1443930"/>
            <a:ext cx="116554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8396"/>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Случај: сесија после промене привилегије</a:t>
            </a:r>
          </a:p>
        </p:txBody>
      </p:sp>
      <p:sp>
        <p:nvSpPr>
          <p:cNvPr id="10" name="text-source-13">
            <a:extLst xmlns:a="http://schemas.openxmlformats.org/drawingml/2006/main">
              <a:ext uri="{FF2B5EF4-FFF2-40B4-BE49-F238E27FC236}">
                <a16:creationId xmlns:a16="http://schemas.microsoft.com/office/drawing/2014/main" id="{AB510409-9396-43DE-B9DA-DC0E05DE7EBF}"/>
              </a:ext>
            </a:extLst>
          </p:cNvPr>
          <p:cNvSpPr>
            <a:spLocks xmlns:a="http://schemas.openxmlformats.org/drawingml/2006/main" noGrp="1"/>
          </p:cNvSpPr>
          <p:nvPr/>
        </p:nvSpPr>
        <p:spPr>
          <a:xfrm xmlns:a="http://schemas.openxmlformats.org/drawingml/2006/main">
            <a:off x="1219200" y="2444055"/>
            <a:ext cx="13633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Случај повезује опште правило са конкретним контекстом, серверском провером и очекиваним исходом.</a:t>
            </a:r>
          </a:p>
        </p:txBody>
      </p:sp>
      <p:sp>
        <p:nvSpPr>
          <p:cNvPr id="11" name="text-source-13">
            <a:extLst xmlns:a="http://schemas.openxmlformats.org/drawingml/2006/main">
              <a:ext uri="{FF2B5EF4-FFF2-40B4-BE49-F238E27FC236}">
                <a16:creationId xmlns:a16="http://schemas.microsoft.com/office/drawing/2014/main" id="{F607B309-8E3C-40A5-A40B-69755BFE0260}"/>
              </a:ext>
            </a:extLst>
          </p:cNvPr>
          <p:cNvSpPr>
            <a:spLocks xmlns:a="http://schemas.openxmlformats.org/drawingml/2006/main" noGrp="1"/>
          </p:cNvSpPr>
          <p:nvPr/>
        </p:nvSpPr>
        <p:spPr>
          <a:xfrm xmlns:a="http://schemas.openxmlformats.org/drawingml/2006/main">
            <a:off x="1504950" y="3303091"/>
            <a:ext cx="14402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СЦЕНАРИО</a:t>
            </a:r>
          </a:p>
        </p:txBody>
      </p:sp>
      <p:sp>
        <p:nvSpPr>
          <p:cNvPr id="12" name="text-source-13">
            <a:extLst xmlns:a="http://schemas.openxmlformats.org/drawingml/2006/main">
              <a:ext uri="{FF2B5EF4-FFF2-40B4-BE49-F238E27FC236}">
                <a16:creationId xmlns:a16="http://schemas.microsoft.com/office/drawing/2014/main" id="{009C6D81-E672-4E1C-A10D-FDE96DE27B45}"/>
              </a:ext>
            </a:extLst>
          </p:cNvPr>
          <p:cNvSpPr>
            <a:spLocks xmlns:a="http://schemas.openxmlformats.org/drawingml/2006/main" noGrp="1"/>
          </p:cNvSpPr>
          <p:nvPr/>
        </p:nvSpPr>
        <p:spPr>
          <a:xfrm xmlns:a="http://schemas.openxmlformats.org/drawingml/2006/main">
            <a:off x="1504950" y="3708797"/>
            <a:ext cx="1565984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Корисник се пријавио ујутру, а касније током дана добија виши ниво приступа. Ако систем не преиспита постојећу сесију, </a:t>
            </a:r>
          </a:p>
        </p:txBody>
      </p:sp>
      <p:sp>
        <p:nvSpPr>
          <p:cNvPr id="13" name="text-source-13">
            <a:extLst xmlns:a="http://schemas.openxmlformats.org/drawingml/2006/main">
              <a:ext uri="{FF2B5EF4-FFF2-40B4-BE49-F238E27FC236}">
                <a16:creationId xmlns:a16="http://schemas.microsoft.com/office/drawing/2014/main" id="{F9D14408-29DD-4D2D-9F82-57A505C5284F}"/>
              </a:ext>
            </a:extLst>
          </p:cNvPr>
          <p:cNvSpPr>
            <a:spLocks xmlns:a="http://schemas.openxmlformats.org/drawingml/2006/main" noGrp="1"/>
          </p:cNvSpPr>
          <p:nvPr/>
        </p:nvSpPr>
        <p:spPr>
          <a:xfrm xmlns:a="http://schemas.openxmlformats.org/drawingml/2006/main">
            <a:off x="1504950" y="4082058"/>
            <a:ext cx="1520800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корисник може извршити ризичну радњу без додатне потврде која би била потребна да се пријављује у том тренутку. </a:t>
            </a:r>
          </a:p>
        </p:txBody>
      </p:sp>
      <p:sp>
        <p:nvSpPr>
          <p:cNvPr id="14" name="text-source-13">
            <a:extLst xmlns:a="http://schemas.openxmlformats.org/drawingml/2006/main">
              <a:ext uri="{FF2B5EF4-FFF2-40B4-BE49-F238E27FC236}">
                <a16:creationId xmlns:a16="http://schemas.microsoft.com/office/drawing/2014/main" id="{80297D3F-A21D-4CB9-8D01-2555806B51CF}"/>
              </a:ext>
            </a:extLst>
          </p:cNvPr>
          <p:cNvSpPr>
            <a:spLocks xmlns:a="http://schemas.openxmlformats.org/drawingml/2006/main" noGrp="1"/>
          </p:cNvSpPr>
          <p:nvPr/>
        </p:nvSpPr>
        <p:spPr>
          <a:xfrm xmlns:a="http://schemas.openxmlformats.org/drawingml/2006/main">
            <a:off x="1504950" y="4455319"/>
            <a:ext cx="1292646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Обрнуто, одузета привилегија мора заиста да престане да важи, а не да чека крај дуготрајне сесије.</a:t>
            </a:r>
          </a:p>
        </p:txBody>
      </p:sp>
      <p:sp>
        <p:nvSpPr>
          <p:cNvPr id="15" name="text-source-13">
            <a:extLst xmlns:a="http://schemas.openxmlformats.org/drawingml/2006/main">
              <a:ext uri="{FF2B5EF4-FFF2-40B4-BE49-F238E27FC236}">
                <a16:creationId xmlns:a16="http://schemas.microsoft.com/office/drawing/2014/main" id="{DF59811E-0749-4792-99B2-11F283CE1C91}"/>
              </a:ext>
            </a:extLst>
          </p:cNvPr>
          <p:cNvSpPr>
            <a:spLocks xmlns:a="http://schemas.openxmlformats.org/drawingml/2006/main" noGrp="1"/>
          </p:cNvSpPr>
          <p:nvPr/>
        </p:nvSpPr>
        <p:spPr>
          <a:xfrm xmlns:a="http://schemas.openxmlformats.org/drawingml/2006/main">
            <a:off x="1219200" y="5419130"/>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6" name="text-source-13">
            <a:extLst xmlns:a="http://schemas.openxmlformats.org/drawingml/2006/main">
              <a:ext uri="{FF2B5EF4-FFF2-40B4-BE49-F238E27FC236}">
                <a16:creationId xmlns:a16="http://schemas.microsoft.com/office/drawing/2014/main" id="{D34C7861-E6E9-4876-B44E-A7A0CEC1DE12}"/>
              </a:ext>
            </a:extLst>
          </p:cNvPr>
          <p:cNvSpPr>
            <a:spLocks xmlns:a="http://schemas.openxmlformats.org/drawingml/2006/main" noGrp="1"/>
          </p:cNvSpPr>
          <p:nvPr/>
        </p:nvSpPr>
        <p:spPr>
          <a:xfrm xmlns:a="http://schemas.openxmlformats.org/drawingml/2006/main">
            <a:off x="2247900" y="5409605"/>
            <a:ext cx="859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Сесија је привремени доказ контекста, не трајна потврда поверења.</a:t>
            </a:r>
          </a:p>
        </p:txBody>
      </p:sp>
      <p:sp>
        <p:nvSpPr>
          <p:cNvPr id="17" name="text-source-13">
            <a:extLst xmlns:a="http://schemas.openxmlformats.org/drawingml/2006/main">
              <a:ext uri="{FF2B5EF4-FFF2-40B4-BE49-F238E27FC236}">
                <a16:creationId xmlns:a16="http://schemas.microsoft.com/office/drawing/2014/main" id="{AF6D2360-98CF-4EB1-AFD1-85C3EB15E896}"/>
              </a:ext>
            </a:extLst>
          </p:cNvPr>
          <p:cNvSpPr>
            <a:spLocks xmlns:a="http://schemas.openxmlformats.org/drawingml/2006/main" noGrp="1"/>
          </p:cNvSpPr>
          <p:nvPr/>
        </p:nvSpPr>
        <p:spPr>
          <a:xfrm xmlns:a="http://schemas.openxmlformats.org/drawingml/2006/main">
            <a:off x="1219200" y="6396335"/>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8" name="text-source-13">
            <a:extLst xmlns:a="http://schemas.openxmlformats.org/drawingml/2006/main">
              <a:ext uri="{FF2B5EF4-FFF2-40B4-BE49-F238E27FC236}">
                <a16:creationId xmlns:a16="http://schemas.microsoft.com/office/drawing/2014/main" id="{3217F76C-FB27-4B50-B72B-8453C9D5E8B6}"/>
              </a:ext>
            </a:extLst>
          </p:cNvPr>
          <p:cNvSpPr>
            <a:spLocks xmlns:a="http://schemas.openxmlformats.org/drawingml/2006/main" noGrp="1"/>
          </p:cNvSpPr>
          <p:nvPr/>
        </p:nvSpPr>
        <p:spPr>
          <a:xfrm xmlns:a="http://schemas.openxmlformats.org/drawingml/2006/main">
            <a:off x="2247900" y="6386810"/>
            <a:ext cx="1426934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Step-up аутентикација има смисла када се ризик радње промени, а не као произвољна препрека за све кориснике.</a:t>
            </a:r>
          </a:p>
        </p:txBody>
      </p:sp>
      <p:sp>
        <p:nvSpPr>
          <p:cNvPr id="19" name="text-source-13">
            <a:extLst xmlns:a="http://schemas.openxmlformats.org/drawingml/2006/main">
              <a:ext uri="{FF2B5EF4-FFF2-40B4-BE49-F238E27FC236}">
                <a16:creationId xmlns:a16="http://schemas.microsoft.com/office/drawing/2014/main" id="{B4DC4988-CCDF-4022-AC66-26F5F8915486}"/>
              </a:ext>
            </a:extLst>
          </p:cNvPr>
          <p:cNvSpPr>
            <a:spLocks xmlns:a="http://schemas.openxmlformats.org/drawingml/2006/main" noGrp="1"/>
          </p:cNvSpPr>
          <p:nvPr/>
        </p:nvSpPr>
        <p:spPr>
          <a:xfrm xmlns:a="http://schemas.openxmlformats.org/drawingml/2006/main">
            <a:off x="1219200" y="7373541"/>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0" name="text-source-13">
            <a:extLst xmlns:a="http://schemas.openxmlformats.org/drawingml/2006/main">
              <a:ext uri="{FF2B5EF4-FFF2-40B4-BE49-F238E27FC236}">
                <a16:creationId xmlns:a16="http://schemas.microsoft.com/office/drawing/2014/main" id="{2BDCC94E-5FB1-4902-817E-752224BAD000}"/>
              </a:ext>
            </a:extLst>
          </p:cNvPr>
          <p:cNvSpPr>
            <a:spLocks xmlns:a="http://schemas.openxmlformats.org/drawingml/2006/main" noGrp="1"/>
          </p:cNvSpPr>
          <p:nvPr/>
        </p:nvSpPr>
        <p:spPr>
          <a:xfrm xmlns:a="http://schemas.openxmlformats.org/drawingml/2006/main">
            <a:off x="2247900" y="7364016"/>
            <a:ext cx="1489888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Сервисни налог добија исти третман као корисник: најмањи потребан опсег, рок важења и контролисану ротацију тајне.</a:t>
            </a:r>
          </a:p>
        </p:txBody>
      </p:sp>
      <p:sp>
        <p:nvSpPr>
          <p:cNvPr id="21" name="text-source-13">
            <a:extLst xmlns:a="http://schemas.openxmlformats.org/drawingml/2006/main">
              <a:ext uri="{FF2B5EF4-FFF2-40B4-BE49-F238E27FC236}">
                <a16:creationId xmlns:a16="http://schemas.microsoft.com/office/drawing/2014/main" id="{0C84B8BD-310D-468D-84CD-1F8F76894312}"/>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2" name="text-source-13">
            <a:extLst xmlns:a="http://schemas.openxmlformats.org/drawingml/2006/main">
              <a:ext uri="{FF2B5EF4-FFF2-40B4-BE49-F238E27FC236}">
                <a16:creationId xmlns:a16="http://schemas.microsoft.com/office/drawing/2014/main" id="{938803B3-3D00-4305-8F5F-0FA294F11EBD}"/>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15</a:t>
            </a:r>
          </a:p>
        </p:txBody>
      </p:sp>
    </p:spTree>
    <p:extLst>
      <p:ext uri="{BB962C8B-B14F-4D97-AF65-F5344CB8AC3E}">
        <p14:creationId xmlns:p14="http://schemas.microsoft.com/office/powerpoint/2010/main" val="1912251062"/>
      </p:ext>
    </p:extLst>
  </p:cSld>
</p:sld>
</file>

<file path=ppt/slides/slide16.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E6CFDC1-4BC2-4214-AE53-AD9A5C3FF9EE}"/>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A0BB77-4026-47A6-AF78-1806E6B78723}"/>
              </a:ext>
            </a:extLst>
          </p:cNvPr>
          <p:cNvSpPr>
            <a:spLocks xmlns:a="http://schemas.openxmlformats.org/drawingml/2006/main" noGrp="1"/>
          </p:cNvSpPr>
          <p:nvPr/>
        </p:nvSpPr>
        <p:spPr>
          <a:xfrm xmlns:a="http://schemas.openxmlformats.org/drawingml/2006/main">
            <a:off x="1219200" y="7381875"/>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3" name="rounded-banner-accent">
            <a:extLst xmlns:a="http://schemas.openxmlformats.org/drawingml/2006/main">
              <a:ext uri="{FF2B5EF4-FFF2-40B4-BE49-F238E27FC236}">
                <a16:creationId xmlns:a16="http://schemas.microsoft.com/office/drawing/2014/main" id="{8AF0177E-195E-4F58-8436-28CBE9A7475C}"/>
              </a:ext>
            </a:extLst>
          </p:cNvPr>
          <p:cNvSpPr>
            <a:spLocks xmlns:a="http://schemas.openxmlformats.org/drawingml/2006/main" noGrp="1"/>
          </p:cNvSpPr>
          <p:nvPr/>
        </p:nvSpPr>
        <p:spPr>
          <a:xfrm xmlns:a="http://schemas.openxmlformats.org/drawingml/2006/main">
            <a:off x="1219200" y="7381875"/>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889B96-DF53-4FEE-89F4-CB12A083D99A}"/>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07D3331E-D507-4D47-9A87-D8CBB92A621B}"/>
              </a:ext>
            </a:extLst>
          </p:cNvPr>
          <p:cNvPicPr>
            <a:picLocks xmlns:a="http://schemas.openxmlformats.org/drawingml/2006/main" noChangeAspect="1"/>
          </p:cNvPicPr>
          <p:nvPr/>
        </p:nvPicPr>
        <p:blipFill>
          <a:blip xmlns:r="http://schemas.openxmlformats.org/officeDocument/2006/relationships" xmlns:a="http://schemas.openxmlformats.org/drawingml/2006/main" r:embed="R02453b04eb5548a8"/>
          <a:stretch xmlns:a="http://schemas.openxmlformats.org/drawingml/2006/main"/>
        </p:blipFill>
        <p:spPr>
          <a:xfrm xmlns:a="http://schemas.openxmlformats.org/drawingml/2006/main">
            <a:off x="1219200" y="3429000"/>
            <a:ext cx="15849600" cy="3190875"/>
          </a:xfrm>
          <a:prstGeom xmlns:a="http://schemas.openxmlformats.org/drawingml/2006/main" prst="rect">
            <a:avLst/>
          </a:prstGeom>
        </p:spPr>
      </p:pic>
      <p:sp>
        <p:nvSpPr>
          <p:cNvPr id="6" name="text-redosled-odluke">
            <a:extLst xmlns:a="http://schemas.openxmlformats.org/drawingml/2006/main">
              <a:ext uri="{FF2B5EF4-FFF2-40B4-BE49-F238E27FC236}">
                <a16:creationId xmlns:a16="http://schemas.microsoft.com/office/drawing/2014/main" id="{2B1395D7-1891-478F-920A-0B0DC48A08C4}"/>
              </a:ext>
            </a:extLst>
          </p:cNvPr>
          <p:cNvSpPr>
            <a:spLocks xmlns:a="http://schemas.openxmlformats.org/drawingml/2006/main" noGrp="1"/>
          </p:cNvSpPr>
          <p:nvPr/>
        </p:nvSpPr>
        <p:spPr>
          <a:xfrm xmlns:a="http://schemas.openxmlformats.org/drawingml/2006/main">
            <a:off x="1845915" y="4533900"/>
            <a:ext cx="2184946"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Сесија важи?</a:t>
            </a:r>
          </a:p>
        </p:txBody>
      </p:sp>
      <p:sp>
        <p:nvSpPr>
          <p:cNvPr id="7" name="text-redosled-odluke">
            <a:extLst xmlns:a="http://schemas.openxmlformats.org/drawingml/2006/main">
              <a:ext uri="{FF2B5EF4-FFF2-40B4-BE49-F238E27FC236}">
                <a16:creationId xmlns:a16="http://schemas.microsoft.com/office/drawing/2014/main" id="{5D81F6A5-EC38-4101-B608-04EC9BFD27E0}"/>
              </a:ext>
            </a:extLst>
          </p:cNvPr>
          <p:cNvSpPr>
            <a:spLocks xmlns:a="http://schemas.openxmlformats.org/drawingml/2006/main" noGrp="1"/>
          </p:cNvSpPr>
          <p:nvPr/>
        </p:nvSpPr>
        <p:spPr>
          <a:xfrm xmlns:a="http://schemas.openxmlformats.org/drawingml/2006/main">
            <a:off x="5649218" y="4533900"/>
            <a:ext cx="302701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Радња дозвољена?</a:t>
            </a:r>
          </a:p>
        </p:txBody>
      </p:sp>
      <p:sp>
        <p:nvSpPr>
          <p:cNvPr id="8" name="text-redosled-odluke">
            <a:extLst xmlns:a="http://schemas.openxmlformats.org/drawingml/2006/main">
              <a:ext uri="{FF2B5EF4-FFF2-40B4-BE49-F238E27FC236}">
                <a16:creationId xmlns:a16="http://schemas.microsoft.com/office/drawing/2014/main" id="{D95730E8-BCB0-4164-9D6C-4908AFCC4D71}"/>
              </a:ext>
            </a:extLst>
          </p:cNvPr>
          <p:cNvSpPr>
            <a:spLocks xmlns:a="http://schemas.openxmlformats.org/drawingml/2006/main" noGrp="1"/>
          </p:cNvSpPr>
          <p:nvPr/>
        </p:nvSpPr>
        <p:spPr>
          <a:xfrm xmlns:a="http://schemas.openxmlformats.org/drawingml/2006/main">
            <a:off x="10257234" y="4533900"/>
            <a:ext cx="2288381"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MFA је свежа?</a:t>
            </a:r>
          </a:p>
        </p:txBody>
      </p:sp>
      <p:sp>
        <p:nvSpPr>
          <p:cNvPr id="9" name="text-redosled-odluke">
            <a:extLst xmlns:a="http://schemas.openxmlformats.org/drawingml/2006/main">
              <a:ext uri="{FF2B5EF4-FFF2-40B4-BE49-F238E27FC236}">
                <a16:creationId xmlns:a16="http://schemas.microsoft.com/office/drawing/2014/main" id="{BD3226A8-3B9C-41DB-BCB6-D6522DEEDFA2}"/>
              </a:ext>
            </a:extLst>
          </p:cNvPr>
          <p:cNvSpPr>
            <a:spLocks xmlns:a="http://schemas.openxmlformats.org/drawingml/2006/main" noGrp="1"/>
          </p:cNvSpPr>
          <p:nvPr/>
        </p:nvSpPr>
        <p:spPr>
          <a:xfrm xmlns:a="http://schemas.openxmlformats.org/drawingml/2006/main">
            <a:off x="14576078" y="4533900"/>
            <a:ext cx="2156371"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Извршавање</a:t>
            </a:r>
          </a:p>
        </p:txBody>
      </p:sp>
      <p:sp>
        <p:nvSpPr>
          <p:cNvPr id="10" name="text-redosled-odluke">
            <a:extLst xmlns:a="http://schemas.openxmlformats.org/drawingml/2006/main">
              <a:ext uri="{FF2B5EF4-FFF2-40B4-BE49-F238E27FC236}">
                <a16:creationId xmlns:a16="http://schemas.microsoft.com/office/drawing/2014/main" id="{29CA5651-7847-467D-A226-C62BD60AA2FE}"/>
              </a:ext>
            </a:extLst>
          </p:cNvPr>
          <p:cNvSpPr>
            <a:spLocks xmlns:a="http://schemas.openxmlformats.org/drawingml/2006/main" noGrp="1"/>
          </p:cNvSpPr>
          <p:nvPr/>
        </p:nvSpPr>
        <p:spPr>
          <a:xfrm xmlns:a="http://schemas.openxmlformats.org/drawingml/2006/main">
            <a:off x="1890415" y="6296025"/>
            <a:ext cx="209609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A8520A"/>
                </a:solidFill>
                <a:latin typeface="IBM Plex Sans"/>
                <a:ea typeface="IBM Plex Sans"/>
                <a:cs typeface="IBM Plex Sans"/>
              </a:rPr>
              <a:t>не → одбијање</a:t>
            </a:r>
          </a:p>
        </p:txBody>
      </p:sp>
      <p:sp>
        <p:nvSpPr>
          <p:cNvPr id="11" name="text-redosled-odluke">
            <a:extLst xmlns:a="http://schemas.openxmlformats.org/drawingml/2006/main">
              <a:ext uri="{FF2B5EF4-FFF2-40B4-BE49-F238E27FC236}">
                <a16:creationId xmlns:a16="http://schemas.microsoft.com/office/drawing/2014/main" id="{7CDB27D0-90A0-4125-ACE8-02235347B4FF}"/>
              </a:ext>
            </a:extLst>
          </p:cNvPr>
          <p:cNvSpPr>
            <a:spLocks xmlns:a="http://schemas.openxmlformats.org/drawingml/2006/main" noGrp="1"/>
          </p:cNvSpPr>
          <p:nvPr/>
        </p:nvSpPr>
        <p:spPr>
          <a:xfrm xmlns:a="http://schemas.openxmlformats.org/drawingml/2006/main">
            <a:off x="6124277" y="6296025"/>
            <a:ext cx="209609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A8520A"/>
                </a:solidFill>
                <a:latin typeface="IBM Plex Sans"/>
                <a:ea typeface="IBM Plex Sans"/>
                <a:cs typeface="IBM Plex Sans"/>
              </a:rPr>
              <a:t>не → одбијање</a:t>
            </a:r>
          </a:p>
        </p:txBody>
      </p:sp>
      <p:sp>
        <p:nvSpPr>
          <p:cNvPr id="12" name="text-redosled-odluke">
            <a:extLst xmlns:a="http://schemas.openxmlformats.org/drawingml/2006/main">
              <a:ext uri="{FF2B5EF4-FFF2-40B4-BE49-F238E27FC236}">
                <a16:creationId xmlns:a16="http://schemas.microsoft.com/office/drawing/2014/main" id="{546AAEA7-96D2-442D-AB75-6DEA62766630}"/>
              </a:ext>
            </a:extLst>
          </p:cNvPr>
          <p:cNvSpPr>
            <a:spLocks xmlns:a="http://schemas.openxmlformats.org/drawingml/2006/main" noGrp="1"/>
          </p:cNvSpPr>
          <p:nvPr/>
        </p:nvSpPr>
        <p:spPr>
          <a:xfrm xmlns:a="http://schemas.openxmlformats.org/drawingml/2006/main">
            <a:off x="10500420" y="6296025"/>
            <a:ext cx="18590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A8520A"/>
                </a:solidFill>
                <a:latin typeface="IBM Plex Sans"/>
                <a:ea typeface="IBM Plex Sans"/>
                <a:cs typeface="IBM Plex Sans"/>
              </a:rPr>
              <a:t>не → step-up</a:t>
            </a:r>
          </a:p>
        </p:txBody>
      </p:sp>
      <p:sp>
        <p:nvSpPr>
          <p:cNvPr id="13" name="text-redosled-odluke">
            <a:extLst xmlns:a="http://schemas.openxmlformats.org/drawingml/2006/main">
              <a:ext uri="{FF2B5EF4-FFF2-40B4-BE49-F238E27FC236}">
                <a16:creationId xmlns:a16="http://schemas.microsoft.com/office/drawing/2014/main" id="{214E5812-A67F-4EDC-97ED-1BB4B81A7FFD}"/>
              </a:ext>
            </a:extLst>
          </p:cNvPr>
          <p:cNvSpPr>
            <a:spLocks xmlns:a="http://schemas.openxmlformats.org/drawingml/2006/main" noGrp="1"/>
          </p:cNvSpPr>
          <p:nvPr/>
        </p:nvSpPr>
        <p:spPr>
          <a:xfrm xmlns:a="http://schemas.openxmlformats.org/drawingml/2006/main">
            <a:off x="1219200" y="1066800"/>
            <a:ext cx="37796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02 · ОДЛУКА НА СЕРВЕРУ</a:t>
            </a:r>
          </a:p>
        </p:txBody>
      </p:sp>
      <p:sp>
        <p:nvSpPr>
          <p:cNvPr id="14" name="heading-redosled-odluke">
            <a:extLst xmlns:a="http://schemas.openxmlformats.org/drawingml/2006/main">
              <a:ext uri="{FF2B5EF4-FFF2-40B4-BE49-F238E27FC236}">
                <a16:creationId xmlns:a16="http://schemas.microsoft.com/office/drawing/2014/main" id="{21632768-48A0-4DDE-A11A-A7652A0B894E}"/>
              </a:ext>
            </a:extLst>
          </p:cNvPr>
          <p:cNvSpPr>
            <a:spLocks xmlns:a="http://schemas.openxmlformats.org/drawingml/2006/main" noGrp="1"/>
          </p:cNvSpPr>
          <p:nvPr/>
        </p:nvSpPr>
        <p:spPr>
          <a:xfrm xmlns:a="http://schemas.openxmlformats.org/drawingml/2006/main">
            <a:off x="1219200" y="1443930"/>
            <a:ext cx="1105153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8511"/>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Step-up је део одлуке о ризичној радњи</a:t>
            </a:r>
          </a:p>
        </p:txBody>
      </p:sp>
      <p:sp>
        <p:nvSpPr>
          <p:cNvPr id="15" name="text-redosled-odluke">
            <a:extLst xmlns:a="http://schemas.openxmlformats.org/drawingml/2006/main">
              <a:ext uri="{FF2B5EF4-FFF2-40B4-BE49-F238E27FC236}">
                <a16:creationId xmlns:a16="http://schemas.microsoft.com/office/drawing/2014/main" id="{0503EDB1-1472-4054-B2D0-A9E3D79E09B8}"/>
              </a:ext>
            </a:extLst>
          </p:cNvPr>
          <p:cNvSpPr>
            <a:spLocks xmlns:a="http://schemas.openxmlformats.org/drawingml/2006/main" noGrp="1"/>
          </p:cNvSpPr>
          <p:nvPr/>
        </p:nvSpPr>
        <p:spPr>
          <a:xfrm xmlns:a="http://schemas.openxmlformats.org/drawingml/2006/main">
            <a:off x="1219200" y="2444055"/>
            <a:ext cx="964019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Шематски ток · ниво потврде се проверава у контексту конкретне радње.</a:t>
            </a:r>
          </a:p>
        </p:txBody>
      </p:sp>
      <p:sp>
        <p:nvSpPr>
          <p:cNvPr id="16" name="text-redosled-odluke">
            <a:extLst xmlns:a="http://schemas.openxmlformats.org/drawingml/2006/main">
              <a:ext uri="{FF2B5EF4-FFF2-40B4-BE49-F238E27FC236}">
                <a16:creationId xmlns:a16="http://schemas.microsoft.com/office/drawing/2014/main" id="{55553C72-0805-4118-AB28-46D19F02164A}"/>
              </a:ext>
            </a:extLst>
          </p:cNvPr>
          <p:cNvSpPr>
            <a:spLocks xmlns:a="http://schemas.openxmlformats.org/drawingml/2006/main" noGrp="1"/>
          </p:cNvSpPr>
          <p:nvPr/>
        </p:nvSpPr>
        <p:spPr>
          <a:xfrm xmlns:a="http://schemas.openxmlformats.org/drawingml/2006/main">
            <a:off x="1504950" y="7572375"/>
            <a:ext cx="14402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Напомена</a:t>
            </a:r>
          </a:p>
        </p:txBody>
      </p:sp>
      <p:sp>
        <p:nvSpPr>
          <p:cNvPr id="17" name="text-redosled-odluke">
            <a:extLst xmlns:a="http://schemas.openxmlformats.org/drawingml/2006/main">
              <a:ext uri="{FF2B5EF4-FFF2-40B4-BE49-F238E27FC236}">
                <a16:creationId xmlns:a16="http://schemas.microsoft.com/office/drawing/2014/main" id="{CC9373CB-9DDC-4A95-B715-7DCE2432DABC}"/>
              </a:ext>
            </a:extLst>
          </p:cNvPr>
          <p:cNvSpPr>
            <a:spLocks xmlns:a="http://schemas.openxmlformats.org/drawingml/2006/main" noGrp="1"/>
          </p:cNvSpPr>
          <p:nvPr/>
        </p:nvSpPr>
        <p:spPr>
          <a:xfrm xmlns:a="http://schemas.openxmlformats.org/drawingml/2006/main">
            <a:off x="1504950" y="7978080"/>
            <a:ext cx="1245140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Успешна MFA потврда не оживљава опозвану сесију и не додељује недостајуће право на ресурс.</a:t>
            </a:r>
          </a:p>
        </p:txBody>
      </p:sp>
      <p:sp>
        <p:nvSpPr>
          <p:cNvPr id="18" name="text-redosled-odluke">
            <a:extLst xmlns:a="http://schemas.openxmlformats.org/drawingml/2006/main">
              <a:ext uri="{FF2B5EF4-FFF2-40B4-BE49-F238E27FC236}">
                <a16:creationId xmlns:a16="http://schemas.microsoft.com/office/drawing/2014/main" id="{273B1C37-8A2E-4D25-AB5B-5D64670EB7C8}"/>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9" name="text-redosled-odluke">
            <a:extLst xmlns:a="http://schemas.openxmlformats.org/drawingml/2006/main">
              <a:ext uri="{FF2B5EF4-FFF2-40B4-BE49-F238E27FC236}">
                <a16:creationId xmlns:a16="http://schemas.microsoft.com/office/drawing/2014/main" id="{B591CA65-A1EB-4DDB-B9C3-AFB98A5CB4E0}"/>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16</a:t>
            </a:r>
          </a:p>
        </p:txBody>
      </p:sp>
    </p:spTree>
    <p:extLst>
      <p:ext uri="{BB962C8B-B14F-4D97-AF65-F5344CB8AC3E}">
        <p14:creationId xmlns:p14="http://schemas.microsoft.com/office/powerpoint/2010/main" val="1752274015"/>
      </p:ext>
    </p:extLst>
  </p:cSld>
</p:sld>
</file>

<file path=ppt/slides/slide17.xml><?xml version="1.0" encoding="utf-8"?>
<p:sld xmlns:p="http://schemas.openxmlformats.org/presentationml/2006/main">
  <p:cSld>
    <p:bg>
      <p:bgPr>
        <a:solidFill xmlns:a="http://schemas.openxmlformats.org/drawingml/2006/main">
          <a:srgbClr val="E6E8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FDC4C99-0A00-4750-9C73-F540901E4B3E}"/>
              </a:ext>
            </a:extLst>
          </p:cNvPr>
          <p:cNvSpPr>
            <a:spLocks xmlns:a="http://schemas.openxmlformats.org/drawingml/2006/main" noGrp="1"/>
          </p:cNvSpPr>
          <p:nvPr/>
        </p:nvSpPr>
        <p:spPr>
          <a:xfrm xmlns:a="http://schemas.openxmlformats.org/drawingml/2006/main">
            <a:off x="6400800" y="5972026"/>
            <a:ext cx="1287363"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2" name="">
            <a:extLst xmlns:a="http://schemas.openxmlformats.org/drawingml/2006/main">
              <a:ext uri="{FF2B5EF4-FFF2-40B4-BE49-F238E27FC236}">
                <a16:creationId xmlns:a16="http://schemas.microsoft.com/office/drawing/2014/main" id="{087C5A8C-586E-4494-9C63-8FC2F95CF5D6}"/>
              </a:ext>
            </a:extLst>
          </p:cNvPr>
          <p:cNvSpPr>
            <a:spLocks xmlns:a="http://schemas.openxmlformats.org/drawingml/2006/main" noGrp="1"/>
          </p:cNvSpPr>
          <p:nvPr/>
        </p:nvSpPr>
        <p:spPr>
          <a:xfrm xmlns:a="http://schemas.openxmlformats.org/drawingml/2006/main">
            <a:off x="7802463" y="5972026"/>
            <a:ext cx="1971080"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3" name="">
            <a:extLst xmlns:a="http://schemas.openxmlformats.org/drawingml/2006/main">
              <a:ext uri="{FF2B5EF4-FFF2-40B4-BE49-F238E27FC236}">
                <a16:creationId xmlns:a16="http://schemas.microsoft.com/office/drawing/2014/main" id="{D6C3DF66-9FC4-4234-A99A-478CA0C97D74}"/>
              </a:ext>
            </a:extLst>
          </p:cNvPr>
          <p:cNvSpPr>
            <a:spLocks xmlns:a="http://schemas.openxmlformats.org/drawingml/2006/main" noGrp="1"/>
          </p:cNvSpPr>
          <p:nvPr/>
        </p:nvSpPr>
        <p:spPr>
          <a:xfrm xmlns:a="http://schemas.openxmlformats.org/drawingml/2006/main">
            <a:off x="9887843" y="5972026"/>
            <a:ext cx="2107555"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4" name="">
            <a:extLst xmlns:a="http://schemas.openxmlformats.org/drawingml/2006/main">
              <a:ext uri="{FF2B5EF4-FFF2-40B4-BE49-F238E27FC236}">
                <a16:creationId xmlns:a16="http://schemas.microsoft.com/office/drawing/2014/main" id="{0936FFBE-A38D-4205-AA01-12E0C8629B18}"/>
              </a:ext>
            </a:extLst>
          </p:cNvPr>
          <p:cNvSpPr>
            <a:spLocks xmlns:a="http://schemas.openxmlformats.org/drawingml/2006/main" noGrp="1"/>
          </p:cNvSpPr>
          <p:nvPr/>
        </p:nvSpPr>
        <p:spPr>
          <a:xfrm xmlns:a="http://schemas.openxmlformats.org/drawingml/2006/main">
            <a:off x="12109698" y="5972026"/>
            <a:ext cx="1335584"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5" name="">
            <a:extLst xmlns:a="http://schemas.openxmlformats.org/drawingml/2006/main">
              <a:ext uri="{FF2B5EF4-FFF2-40B4-BE49-F238E27FC236}">
                <a16:creationId xmlns:a16="http://schemas.microsoft.com/office/drawing/2014/main" id="{4684FD2A-FF8D-4E44-A5BB-BC522E884499}"/>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B5BCD0"/>
          </a:solidFill>
          <a:ln xmlns:a="http://schemas.openxmlformats.org/drawingml/2006/main" w="0">
            <a:noFill/>
          </a:ln>
        </p:spPr>
      </p:sp>
      <p:sp>
        <p:nvSpPr>
          <p:cNvPr id="6" name="text-deo3">
            <a:extLst xmlns:a="http://schemas.openxmlformats.org/drawingml/2006/main">
              <a:ext uri="{FF2B5EF4-FFF2-40B4-BE49-F238E27FC236}">
                <a16:creationId xmlns:a16="http://schemas.microsoft.com/office/drawing/2014/main" id="{7E572C5B-4CCC-4BC3-A230-F4805408844E}"/>
              </a:ext>
            </a:extLst>
          </p:cNvPr>
          <p:cNvSpPr>
            <a:spLocks xmlns:a="http://schemas.openxmlformats.org/drawingml/2006/main" noGrp="1"/>
          </p:cNvSpPr>
          <p:nvPr/>
        </p:nvSpPr>
        <p:spPr>
          <a:xfrm xmlns:a="http://schemas.openxmlformats.org/drawingml/2006/main">
            <a:off x="1219200" y="3257550"/>
            <a:ext cx="33909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0">
                <a:latin typeface="IBM Plex Mono"/>
                <a:ea typeface="IBM Plex Mono"/>
                <a:cs typeface="IBM Plex Mono"/>
              </a:defRPr>
            </a:defPPr>
          </a:lstStyle>
          <a:p xmlns:a="http://schemas.openxmlformats.org/drawingml/2006/main">
            <a:pPr algn="l">
              <a:defRPr sz="21000">
                <a:latin typeface="IBM Plex Mono"/>
                <a:ea typeface="IBM Plex Mono"/>
                <a:cs typeface="IBM Plex Mono"/>
              </a:defRPr>
            </a:pPr>
            <a:r>
              <a:rPr sz="21000" b="0">
                <a:solidFill>
                  <a:srgbClr val="3A46A5"/>
                </a:solidFill>
                <a:latin typeface="IBM Plex Mono"/>
                <a:ea typeface="IBM Plex Mono"/>
                <a:cs typeface="IBM Plex Mono"/>
              </a:rPr>
              <a:t>03</a:t>
            </a:r>
          </a:p>
        </p:txBody>
      </p:sp>
      <p:sp>
        <p:nvSpPr>
          <p:cNvPr id="7" name="text-deo3">
            <a:extLst xmlns:a="http://schemas.openxmlformats.org/drawingml/2006/main">
              <a:ext uri="{FF2B5EF4-FFF2-40B4-BE49-F238E27FC236}">
                <a16:creationId xmlns:a16="http://schemas.microsoft.com/office/drawing/2014/main" id="{6C5DC332-A8B1-4537-9B2F-C2D6A2BC3FAE}"/>
              </a:ext>
            </a:extLst>
          </p:cNvPr>
          <p:cNvSpPr>
            <a:spLocks xmlns:a="http://schemas.openxmlformats.org/drawingml/2006/main" noGrp="1"/>
          </p:cNvSpPr>
          <p:nvPr/>
        </p:nvSpPr>
        <p:spPr>
          <a:xfrm xmlns:a="http://schemas.openxmlformats.org/drawingml/2006/main">
            <a:off x="6400800" y="3518595"/>
            <a:ext cx="174887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ТРЕЋИ ДЕО</a:t>
            </a:r>
          </a:p>
        </p:txBody>
      </p:sp>
      <p:sp>
        <p:nvSpPr>
          <p:cNvPr id="8" name="heading-deo3">
            <a:extLst xmlns:a="http://schemas.openxmlformats.org/drawingml/2006/main">
              <a:ext uri="{FF2B5EF4-FFF2-40B4-BE49-F238E27FC236}">
                <a16:creationId xmlns:a16="http://schemas.microsoft.com/office/drawing/2014/main" id="{1B76BFB1-8A33-4DA9-A845-EB248AAC78D2}"/>
              </a:ext>
            </a:extLst>
          </p:cNvPr>
          <p:cNvSpPr>
            <a:spLocks xmlns:a="http://schemas.openxmlformats.org/drawingml/2006/main" noGrp="1"/>
          </p:cNvSpPr>
          <p:nvPr/>
        </p:nvSpPr>
        <p:spPr>
          <a:xfrm xmlns:a="http://schemas.openxmlformats.org/drawingml/2006/main">
            <a:off x="6400800" y="3990975"/>
            <a:ext cx="7043291"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686"/>
          </a:bodyPr>
          <a:lstStyle xmlns:a="http://schemas.openxmlformats.org/drawingml/2006/main">
            <a:defPPr algn="l">
              <a:defRPr sz="7200">
                <a:latin typeface="IBM Plex Sans"/>
                <a:ea typeface="IBM Plex Sans"/>
                <a:cs typeface="IBM Plex Sans"/>
              </a:defRPr>
            </a:defPPr>
          </a:lstStyle>
          <a:p xmlns:a="http://schemas.openxmlformats.org/drawingml/2006/main">
            <a:pPr algn="l">
              <a:defRPr sz="7200">
                <a:latin typeface="IBM Plex Sans"/>
                <a:ea typeface="IBM Plex Sans"/>
                <a:cs typeface="IBM Plex Sans"/>
              </a:defRPr>
            </a:pPr>
            <a:r>
              <a:rPr sz="7200" b="1">
                <a:solidFill>
                  <a:srgbClr val="13202D"/>
                </a:solidFill>
                <a:latin typeface="IBM Plex Sans"/>
                <a:ea typeface="IBM Plex Sans"/>
                <a:cs typeface="IBM Plex Sans"/>
              </a:rPr>
              <a:t>Сервиси и тајне</a:t>
            </a:r>
          </a:p>
        </p:txBody>
      </p:sp>
      <p:sp>
        <p:nvSpPr>
          <p:cNvPr id="9" name="text-deo3">
            <a:extLst xmlns:a="http://schemas.openxmlformats.org/drawingml/2006/main">
              <a:ext uri="{FF2B5EF4-FFF2-40B4-BE49-F238E27FC236}">
                <a16:creationId xmlns:a16="http://schemas.microsoft.com/office/drawing/2014/main" id="{C6FCD2D5-A155-4AC0-9E00-A10298DF5B79}"/>
              </a:ext>
            </a:extLst>
          </p:cNvPr>
          <p:cNvSpPr>
            <a:spLocks xmlns:a="http://schemas.openxmlformats.org/drawingml/2006/main" noGrp="1"/>
          </p:cNvSpPr>
          <p:nvPr/>
        </p:nvSpPr>
        <p:spPr>
          <a:xfrm xmlns:a="http://schemas.openxmlformats.org/drawingml/2006/main">
            <a:off x="6400800" y="5341590"/>
            <a:ext cx="8578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Одредити ко користи тајну, колико траје и како престаје да важи.</a:t>
            </a:r>
          </a:p>
        </p:txBody>
      </p:sp>
      <p:sp>
        <p:nvSpPr>
          <p:cNvPr id="10" name="text-deo3">
            <a:extLst xmlns:a="http://schemas.openxmlformats.org/drawingml/2006/main">
              <a:ext uri="{FF2B5EF4-FFF2-40B4-BE49-F238E27FC236}">
                <a16:creationId xmlns:a16="http://schemas.microsoft.com/office/drawing/2014/main" id="{02AFC6D0-76DC-4A6B-8E9C-550E35F505DA}"/>
              </a:ext>
            </a:extLst>
          </p:cNvPr>
          <p:cNvSpPr>
            <a:spLocks xmlns:a="http://schemas.openxmlformats.org/drawingml/2006/main" noGrp="1"/>
          </p:cNvSpPr>
          <p:nvPr/>
        </p:nvSpPr>
        <p:spPr>
          <a:xfrm xmlns:a="http://schemas.openxmlformats.org/drawingml/2006/main">
            <a:off x="6600825" y="6057751"/>
            <a:ext cx="123021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власник</a:t>
            </a:r>
          </a:p>
        </p:txBody>
      </p:sp>
      <p:sp>
        <p:nvSpPr>
          <p:cNvPr id="11" name="text-deo3">
            <a:extLst xmlns:a="http://schemas.openxmlformats.org/drawingml/2006/main">
              <a:ext uri="{FF2B5EF4-FFF2-40B4-BE49-F238E27FC236}">
                <a16:creationId xmlns:a16="http://schemas.microsoft.com/office/drawing/2014/main" id="{4EEC1A31-3AB9-47FB-9EDC-77B3E470FD58}"/>
              </a:ext>
            </a:extLst>
          </p:cNvPr>
          <p:cNvSpPr>
            <a:spLocks xmlns:a="http://schemas.openxmlformats.org/drawingml/2006/main" noGrp="1"/>
          </p:cNvSpPr>
          <p:nvPr/>
        </p:nvSpPr>
        <p:spPr>
          <a:xfrm xmlns:a="http://schemas.openxmlformats.org/drawingml/2006/main">
            <a:off x="8002488" y="6057751"/>
            <a:ext cx="191393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најмањи опсег</a:t>
            </a:r>
          </a:p>
        </p:txBody>
      </p:sp>
      <p:sp>
        <p:nvSpPr>
          <p:cNvPr id="12" name="text-deo3">
            <a:extLst xmlns:a="http://schemas.openxmlformats.org/drawingml/2006/main">
              <a:ext uri="{FF2B5EF4-FFF2-40B4-BE49-F238E27FC236}">
                <a16:creationId xmlns:a16="http://schemas.microsoft.com/office/drawing/2014/main" id="{1C478993-3BC6-43A8-AA15-44E72EAC9FCC}"/>
              </a:ext>
            </a:extLst>
          </p:cNvPr>
          <p:cNvSpPr>
            <a:spLocks xmlns:a="http://schemas.openxmlformats.org/drawingml/2006/main" noGrp="1"/>
          </p:cNvSpPr>
          <p:nvPr/>
        </p:nvSpPr>
        <p:spPr>
          <a:xfrm xmlns:a="http://schemas.openxmlformats.org/drawingml/2006/main">
            <a:off x="10087868" y="6057751"/>
            <a:ext cx="205040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безбедан извор</a:t>
            </a:r>
          </a:p>
        </p:txBody>
      </p:sp>
      <p:sp>
        <p:nvSpPr>
          <p:cNvPr id="13" name="text-deo3">
            <a:extLst xmlns:a="http://schemas.openxmlformats.org/drawingml/2006/main">
              <a:ext uri="{FF2B5EF4-FFF2-40B4-BE49-F238E27FC236}">
                <a16:creationId xmlns:a16="http://schemas.microsoft.com/office/drawing/2014/main" id="{CE29360D-B349-4CC9-B315-4DF8AEBC0A23}"/>
              </a:ext>
            </a:extLst>
          </p:cNvPr>
          <p:cNvSpPr>
            <a:spLocks xmlns:a="http://schemas.openxmlformats.org/drawingml/2006/main" noGrp="1"/>
          </p:cNvSpPr>
          <p:nvPr/>
        </p:nvSpPr>
        <p:spPr>
          <a:xfrm xmlns:a="http://schemas.openxmlformats.org/drawingml/2006/main">
            <a:off x="12309723" y="6057751"/>
            <a:ext cx="127843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ротација</a:t>
            </a:r>
          </a:p>
        </p:txBody>
      </p:sp>
      <p:sp>
        <p:nvSpPr>
          <p:cNvPr id="14" name="text-deo3">
            <a:extLst xmlns:a="http://schemas.openxmlformats.org/drawingml/2006/main">
              <a:ext uri="{FF2B5EF4-FFF2-40B4-BE49-F238E27FC236}">
                <a16:creationId xmlns:a16="http://schemas.microsoft.com/office/drawing/2014/main" id="{E091AF71-2FFF-4E9C-AE6E-3CD6DC38ED73}"/>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5" name="text-deo3">
            <a:extLst xmlns:a="http://schemas.openxmlformats.org/drawingml/2006/main">
              <a:ext uri="{FF2B5EF4-FFF2-40B4-BE49-F238E27FC236}">
                <a16:creationId xmlns:a16="http://schemas.microsoft.com/office/drawing/2014/main" id="{C2100E89-BA08-4E3B-BDA4-0820DE54D01E}"/>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17</a:t>
            </a:r>
          </a:p>
        </p:txBody>
      </p:sp>
    </p:spTree>
    <p:extLst>
      <p:ext uri="{BB962C8B-B14F-4D97-AF65-F5344CB8AC3E}">
        <p14:creationId xmlns:p14="http://schemas.microsoft.com/office/powerpoint/2010/main" val="1316470447"/>
      </p:ext>
    </p:extLst>
  </p:cSld>
</p:sld>
</file>

<file path=ppt/slides/slide18.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20A326A-0C33-4DC5-9AD3-1CF6BBF1E4E8}"/>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CE65F6-7E58-4610-8817-FCB56143E0C0}"/>
              </a:ext>
            </a:extLst>
          </p:cNvPr>
          <p:cNvSpPr>
            <a:spLocks xmlns:a="http://schemas.openxmlformats.org/drawingml/2006/main" noGrp="1"/>
          </p:cNvSpPr>
          <p:nvPr/>
        </p:nvSpPr>
        <p:spPr>
          <a:xfrm xmlns:a="http://schemas.openxmlformats.org/drawingml/2006/main">
            <a:off x="9201150" y="3112591"/>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374501-BC30-4720-B9AD-0A3B5365F22B}"/>
              </a:ext>
            </a:extLst>
          </p:cNvPr>
          <p:cNvSpPr>
            <a:spLocks xmlns:a="http://schemas.openxmlformats.org/drawingml/2006/main" noGrp="1"/>
          </p:cNvSpPr>
          <p:nvPr/>
        </p:nvSpPr>
        <p:spPr>
          <a:xfrm xmlns:a="http://schemas.openxmlformats.org/drawingml/2006/main">
            <a:off x="9201150" y="4272558"/>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8983AE-5588-4B3D-BCB7-F9C6BB80263D}"/>
              </a:ext>
            </a:extLst>
          </p:cNvPr>
          <p:cNvSpPr>
            <a:spLocks xmlns:a="http://schemas.openxmlformats.org/drawingml/2006/main" noGrp="1"/>
          </p:cNvSpPr>
          <p:nvPr/>
        </p:nvSpPr>
        <p:spPr>
          <a:xfrm xmlns:a="http://schemas.openxmlformats.org/drawingml/2006/main">
            <a:off x="9201150" y="5432524"/>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83E007-B6F8-4DAD-B6F3-0AD1C461883A}"/>
              </a:ext>
            </a:extLst>
          </p:cNvPr>
          <p:cNvSpPr>
            <a:spLocks xmlns:a="http://schemas.openxmlformats.org/drawingml/2006/main" noGrp="1"/>
          </p:cNvSpPr>
          <p:nvPr/>
        </p:nvSpPr>
        <p:spPr>
          <a:xfrm xmlns:a="http://schemas.openxmlformats.org/drawingml/2006/main">
            <a:off x="9201150" y="6592491"/>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C4840E-C9EF-4325-A6D2-1FBA70E831D0}"/>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7" name="text-source-10">
            <a:extLst xmlns:a="http://schemas.openxmlformats.org/drawingml/2006/main">
              <a:ext uri="{FF2B5EF4-FFF2-40B4-BE49-F238E27FC236}">
                <a16:creationId xmlns:a16="http://schemas.microsoft.com/office/drawing/2014/main" id="{B9DC28FF-376B-4935-8BCF-685CAF202A44}"/>
              </a:ext>
            </a:extLst>
          </p:cNvPr>
          <p:cNvSpPr>
            <a:spLocks xmlns:a="http://schemas.openxmlformats.org/drawingml/2006/main" noGrp="1"/>
          </p:cNvSpPr>
          <p:nvPr/>
        </p:nvSpPr>
        <p:spPr>
          <a:xfrm xmlns:a="http://schemas.openxmlformats.org/drawingml/2006/main">
            <a:off x="1219200" y="1066800"/>
            <a:ext cx="331097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03 · УПОТРЕБА ТАЈНЕ</a:t>
            </a:r>
          </a:p>
        </p:txBody>
      </p:sp>
      <p:sp>
        <p:nvSpPr>
          <p:cNvPr id="8" name="heading-source-10">
            <a:extLst xmlns:a="http://schemas.openxmlformats.org/drawingml/2006/main">
              <a:ext uri="{FF2B5EF4-FFF2-40B4-BE49-F238E27FC236}">
                <a16:creationId xmlns:a16="http://schemas.microsoft.com/office/drawing/2014/main" id="{C7C254E7-CAA2-4ECA-847E-E7830A263FCB}"/>
              </a:ext>
            </a:extLst>
          </p:cNvPr>
          <p:cNvSpPr>
            <a:spLocks xmlns:a="http://schemas.openxmlformats.org/drawingml/2006/main" noGrp="1"/>
          </p:cNvSpPr>
          <p:nvPr/>
        </p:nvSpPr>
        <p:spPr>
          <a:xfrm xmlns:a="http://schemas.openxmlformats.org/drawingml/2006/main">
            <a:off x="1219200" y="1443930"/>
            <a:ext cx="8619827"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629"/>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Од тајне до безбедне употребе</a:t>
            </a:r>
          </a:p>
        </p:txBody>
      </p:sp>
      <p:sp>
        <p:nvSpPr>
          <p:cNvPr id="9" name="text-source-10">
            <a:extLst xmlns:a="http://schemas.openxmlformats.org/drawingml/2006/main">
              <a:ext uri="{FF2B5EF4-FFF2-40B4-BE49-F238E27FC236}">
                <a16:creationId xmlns:a16="http://schemas.microsoft.com/office/drawing/2014/main" id="{9A2BFB64-9B89-46A9-B780-03409CE3E63B}"/>
              </a:ext>
            </a:extLst>
          </p:cNvPr>
          <p:cNvSpPr>
            <a:spLocks xmlns:a="http://schemas.openxmlformats.org/drawingml/2006/main" noGrp="1"/>
          </p:cNvSpPr>
          <p:nvPr/>
        </p:nvSpPr>
        <p:spPr>
          <a:xfrm xmlns:a="http://schemas.openxmlformats.org/drawingml/2006/main">
            <a:off x="1219200" y="2444055"/>
            <a:ext cx="936649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Процес приказује улазе, место одлуке и доказ који остаје после исхода.</a:t>
            </a:r>
          </a:p>
        </p:txBody>
      </p:sp>
      <p:sp>
        <p:nvSpPr>
          <p:cNvPr id="10" name="text-source-10">
            <a:extLst xmlns:a="http://schemas.openxmlformats.org/drawingml/2006/main">
              <a:ext uri="{FF2B5EF4-FFF2-40B4-BE49-F238E27FC236}">
                <a16:creationId xmlns:a16="http://schemas.microsoft.com/office/drawing/2014/main" id="{6B253A6A-0B1C-4498-950B-E235934E85D5}"/>
              </a:ext>
            </a:extLst>
          </p:cNvPr>
          <p:cNvSpPr>
            <a:spLocks xmlns:a="http://schemas.openxmlformats.org/drawingml/2006/main" noGrp="1"/>
          </p:cNvSpPr>
          <p:nvPr/>
        </p:nvSpPr>
        <p:spPr>
          <a:xfrm xmlns:a="http://schemas.openxmlformats.org/drawingml/2006/main">
            <a:off x="1219200" y="3112591"/>
            <a:ext cx="14402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КОНТЕКСТ</a:t>
            </a:r>
          </a:p>
        </p:txBody>
      </p:sp>
      <p:sp>
        <p:nvSpPr>
          <p:cNvPr id="11" name="text-source-10">
            <a:extLst xmlns:a="http://schemas.openxmlformats.org/drawingml/2006/main">
              <a:ext uri="{FF2B5EF4-FFF2-40B4-BE49-F238E27FC236}">
                <a16:creationId xmlns:a16="http://schemas.microsoft.com/office/drawing/2014/main" id="{AC4634EE-8BD0-4973-A07D-4E779A4BF978}"/>
              </a:ext>
            </a:extLst>
          </p:cNvPr>
          <p:cNvSpPr>
            <a:spLocks xmlns:a="http://schemas.openxmlformats.org/drawingml/2006/main" noGrp="1"/>
          </p:cNvSpPr>
          <p:nvPr/>
        </p:nvSpPr>
        <p:spPr>
          <a:xfrm xmlns:a="http://schemas.openxmlformats.org/drawingml/2006/main">
            <a:off x="1219200" y="3613547"/>
            <a:ext cx="490463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1">
                <a:solidFill>
                  <a:srgbClr val="13202D"/>
                </a:solidFill>
                <a:latin typeface="IBM Plex Sans"/>
                <a:ea typeface="IBM Plex Sans"/>
                <a:cs typeface="IBM Plex Sans"/>
              </a:rPr>
              <a:t>Од тајне до безбедне употребе</a:t>
            </a:r>
          </a:p>
        </p:txBody>
      </p:sp>
      <p:sp>
        <p:nvSpPr>
          <p:cNvPr id="12" name="text-source-10">
            <a:extLst xmlns:a="http://schemas.openxmlformats.org/drawingml/2006/main">
              <a:ext uri="{FF2B5EF4-FFF2-40B4-BE49-F238E27FC236}">
                <a16:creationId xmlns:a16="http://schemas.microsoft.com/office/drawing/2014/main" id="{88043A54-1922-47BA-97D2-4E9A537E2F97}"/>
              </a:ext>
            </a:extLst>
          </p:cNvPr>
          <p:cNvSpPr>
            <a:spLocks xmlns:a="http://schemas.openxmlformats.org/drawingml/2006/main" noGrp="1"/>
          </p:cNvSpPr>
          <p:nvPr/>
        </p:nvSpPr>
        <p:spPr>
          <a:xfrm xmlns:a="http://schemas.openxmlformats.org/drawingml/2006/main">
            <a:off x="1219200" y="4211687"/>
            <a:ext cx="666244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Безбедно управљање тајном почиње пре њеног првог </a:t>
            </a:r>
          </a:p>
        </p:txBody>
      </p:sp>
      <p:sp>
        <p:nvSpPr>
          <p:cNvPr id="13" name="text-source-10">
            <a:extLst xmlns:a="http://schemas.openxmlformats.org/drawingml/2006/main">
              <a:ext uri="{FF2B5EF4-FFF2-40B4-BE49-F238E27FC236}">
                <a16:creationId xmlns:a16="http://schemas.microsoft.com/office/drawing/2014/main" id="{BEC05B53-F471-499C-A502-125DC9EFC436}"/>
              </a:ext>
            </a:extLst>
          </p:cNvPr>
          <p:cNvSpPr>
            <a:spLocks xmlns:a="http://schemas.openxmlformats.org/drawingml/2006/main" noGrp="1"/>
          </p:cNvSpPr>
          <p:nvPr/>
        </p:nvSpPr>
        <p:spPr>
          <a:xfrm xmlns:a="http://schemas.openxmlformats.org/drawingml/2006/main">
            <a:off x="1219200" y="4558308"/>
            <a:ext cx="739214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коришћења. Потребно је знати власника, сврху, компоненту </a:t>
            </a:r>
          </a:p>
        </p:txBody>
      </p:sp>
      <p:sp>
        <p:nvSpPr>
          <p:cNvPr id="14" name="text-source-10">
            <a:extLst xmlns:a="http://schemas.openxmlformats.org/drawingml/2006/main">
              <a:ext uri="{FF2B5EF4-FFF2-40B4-BE49-F238E27FC236}">
                <a16:creationId xmlns:a16="http://schemas.microsoft.com/office/drawing/2014/main" id="{877206A9-F438-4E93-8118-EE5F15D6632C}"/>
              </a:ext>
            </a:extLst>
          </p:cNvPr>
          <p:cNvSpPr>
            <a:spLocks xmlns:a="http://schemas.openxmlformats.org/drawingml/2006/main" noGrp="1"/>
          </p:cNvSpPr>
          <p:nvPr/>
        </p:nvSpPr>
        <p:spPr>
          <a:xfrm xmlns:a="http://schemas.openxmlformats.org/drawingml/2006/main">
            <a:off x="1219200" y="4904929"/>
            <a:ext cx="769054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која је користи и начин ротације. Сама вредност тајне треба да </a:t>
            </a:r>
          </a:p>
        </p:txBody>
      </p:sp>
      <p:sp>
        <p:nvSpPr>
          <p:cNvPr id="15" name="text-source-10">
            <a:extLst xmlns:a="http://schemas.openxmlformats.org/drawingml/2006/main">
              <a:ext uri="{FF2B5EF4-FFF2-40B4-BE49-F238E27FC236}">
                <a16:creationId xmlns:a16="http://schemas.microsoft.com/office/drawing/2014/main" id="{9826B6C1-720B-413E-AF45-EA4B1275B0C2}"/>
              </a:ext>
            </a:extLst>
          </p:cNvPr>
          <p:cNvSpPr>
            <a:spLocks xmlns:a="http://schemas.openxmlformats.org/drawingml/2006/main" noGrp="1"/>
          </p:cNvSpPr>
          <p:nvPr/>
        </p:nvSpPr>
        <p:spPr>
          <a:xfrm xmlns:a="http://schemas.openxmlformats.org/drawingml/2006/main">
            <a:off x="1219200" y="5251549"/>
            <a:ext cx="7334101"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остане ван кода, екрана и записа који нису за то намењени.</a:t>
            </a:r>
          </a:p>
        </p:txBody>
      </p:sp>
      <p:sp>
        <p:nvSpPr>
          <p:cNvPr id="16" name="text-source-10">
            <a:extLst xmlns:a="http://schemas.openxmlformats.org/drawingml/2006/main">
              <a:ext uri="{FF2B5EF4-FFF2-40B4-BE49-F238E27FC236}">
                <a16:creationId xmlns:a16="http://schemas.microsoft.com/office/drawing/2014/main" id="{60AF8D21-CCAD-4E5B-BAD5-3A700D4E8C52}"/>
              </a:ext>
            </a:extLst>
          </p:cNvPr>
          <p:cNvSpPr>
            <a:spLocks xmlns:a="http://schemas.openxmlformats.org/drawingml/2006/main" noGrp="1"/>
          </p:cNvSpPr>
          <p:nvPr/>
        </p:nvSpPr>
        <p:spPr>
          <a:xfrm xmlns:a="http://schemas.openxmlformats.org/drawingml/2006/main">
            <a:off x="920115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7" name="text-source-10">
            <a:extLst xmlns:a="http://schemas.openxmlformats.org/drawingml/2006/main">
              <a:ext uri="{FF2B5EF4-FFF2-40B4-BE49-F238E27FC236}">
                <a16:creationId xmlns:a16="http://schemas.microsoft.com/office/drawing/2014/main" id="{899DA104-2A5E-4607-A71A-B53A72C608B7}"/>
              </a:ext>
            </a:extLst>
          </p:cNvPr>
          <p:cNvSpPr>
            <a:spLocks xmlns:a="http://schemas.openxmlformats.org/drawingml/2006/main" noGrp="1"/>
          </p:cNvSpPr>
          <p:nvPr/>
        </p:nvSpPr>
        <p:spPr>
          <a:xfrm xmlns:a="http://schemas.openxmlformats.org/drawingml/2006/main">
            <a:off x="10229850" y="3303091"/>
            <a:ext cx="638085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Тајна се издаје само идентитету који јој је стварно </a:t>
            </a:r>
          </a:p>
        </p:txBody>
      </p:sp>
      <p:sp>
        <p:nvSpPr>
          <p:cNvPr id="18" name="text-source-10">
            <a:extLst xmlns:a="http://schemas.openxmlformats.org/drawingml/2006/main">
              <a:ext uri="{FF2B5EF4-FFF2-40B4-BE49-F238E27FC236}">
                <a16:creationId xmlns:a16="http://schemas.microsoft.com/office/drawing/2014/main" id="{2ECA1683-DB17-4F22-A645-282B120CCF9C}"/>
              </a:ext>
            </a:extLst>
          </p:cNvPr>
          <p:cNvSpPr>
            <a:spLocks xmlns:a="http://schemas.openxmlformats.org/drawingml/2006/main" noGrp="1"/>
          </p:cNvSpPr>
          <p:nvPr/>
        </p:nvSpPr>
        <p:spPr>
          <a:xfrm xmlns:a="http://schemas.openxmlformats.org/drawingml/2006/main">
            <a:off x="10229850" y="3649712"/>
            <a:ext cx="1536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потребан.</a:t>
            </a:r>
          </a:p>
        </p:txBody>
      </p:sp>
      <p:sp>
        <p:nvSpPr>
          <p:cNvPr id="19" name="text-source-10">
            <a:extLst xmlns:a="http://schemas.openxmlformats.org/drawingml/2006/main">
              <a:ext uri="{FF2B5EF4-FFF2-40B4-BE49-F238E27FC236}">
                <a16:creationId xmlns:a16="http://schemas.microsoft.com/office/drawing/2014/main" id="{617F2EE9-12D4-4352-8952-C4B52EB0973A}"/>
              </a:ext>
            </a:extLst>
          </p:cNvPr>
          <p:cNvSpPr>
            <a:spLocks xmlns:a="http://schemas.openxmlformats.org/drawingml/2006/main" noGrp="1"/>
          </p:cNvSpPr>
          <p:nvPr/>
        </p:nvSpPr>
        <p:spPr>
          <a:xfrm xmlns:a="http://schemas.openxmlformats.org/drawingml/2006/main">
            <a:off x="9201150" y="447258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20" name="text-source-10">
            <a:extLst xmlns:a="http://schemas.openxmlformats.org/drawingml/2006/main">
              <a:ext uri="{FF2B5EF4-FFF2-40B4-BE49-F238E27FC236}">
                <a16:creationId xmlns:a16="http://schemas.microsoft.com/office/drawing/2014/main" id="{40F8F1E4-DCDF-474E-B549-F1C13D0F28F3}"/>
              </a:ext>
            </a:extLst>
          </p:cNvPr>
          <p:cNvSpPr>
            <a:spLocks xmlns:a="http://schemas.openxmlformats.org/drawingml/2006/main" noGrp="1"/>
          </p:cNvSpPr>
          <p:nvPr/>
        </p:nvSpPr>
        <p:spPr>
          <a:xfrm xmlns:a="http://schemas.openxmlformats.org/drawingml/2006/main">
            <a:off x="10229850" y="4463058"/>
            <a:ext cx="667196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Систем прати истек и планира ротацију пре прекида </a:t>
            </a:r>
          </a:p>
        </p:txBody>
      </p:sp>
      <p:sp>
        <p:nvSpPr>
          <p:cNvPr id="21" name="text-source-10">
            <a:extLst xmlns:a="http://schemas.openxmlformats.org/drawingml/2006/main">
              <a:ext uri="{FF2B5EF4-FFF2-40B4-BE49-F238E27FC236}">
                <a16:creationId xmlns:a16="http://schemas.microsoft.com/office/drawing/2014/main" id="{12C31E4E-669D-40D6-9C9D-34A42FDEC94A}"/>
              </a:ext>
            </a:extLst>
          </p:cNvPr>
          <p:cNvSpPr>
            <a:spLocks xmlns:a="http://schemas.openxmlformats.org/drawingml/2006/main" noGrp="1"/>
          </p:cNvSpPr>
          <p:nvPr/>
        </p:nvSpPr>
        <p:spPr>
          <a:xfrm xmlns:a="http://schemas.openxmlformats.org/drawingml/2006/main">
            <a:off x="10229850" y="4809679"/>
            <a:ext cx="100339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рада.</a:t>
            </a:r>
          </a:p>
        </p:txBody>
      </p:sp>
      <p:sp>
        <p:nvSpPr>
          <p:cNvPr id="22" name="text-source-10">
            <a:extLst xmlns:a="http://schemas.openxmlformats.org/drawingml/2006/main">
              <a:ext uri="{FF2B5EF4-FFF2-40B4-BE49-F238E27FC236}">
                <a16:creationId xmlns:a16="http://schemas.microsoft.com/office/drawing/2014/main" id="{D861A678-A24F-4A1B-AEFF-3B7A4F9812B4}"/>
              </a:ext>
            </a:extLst>
          </p:cNvPr>
          <p:cNvSpPr>
            <a:spLocks xmlns:a="http://schemas.openxmlformats.org/drawingml/2006/main" noGrp="1"/>
          </p:cNvSpPr>
          <p:nvPr/>
        </p:nvSpPr>
        <p:spPr>
          <a:xfrm xmlns:a="http://schemas.openxmlformats.org/drawingml/2006/main">
            <a:off x="9201150" y="563254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3" name="text-source-10">
            <a:extLst xmlns:a="http://schemas.openxmlformats.org/drawingml/2006/main">
              <a:ext uri="{FF2B5EF4-FFF2-40B4-BE49-F238E27FC236}">
                <a16:creationId xmlns:a16="http://schemas.microsoft.com/office/drawing/2014/main" id="{FD0D7832-AAF7-4F4C-BFC7-EC772243DFC0}"/>
              </a:ext>
            </a:extLst>
          </p:cNvPr>
          <p:cNvSpPr>
            <a:spLocks xmlns:a="http://schemas.openxmlformats.org/drawingml/2006/main" noGrp="1"/>
          </p:cNvSpPr>
          <p:nvPr/>
        </p:nvSpPr>
        <p:spPr>
          <a:xfrm xmlns:a="http://schemas.openxmlformats.org/drawingml/2006/main">
            <a:off x="10229850" y="5623024"/>
            <a:ext cx="6689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Логови бележе употребу и неуспех без приказивања </a:t>
            </a:r>
          </a:p>
        </p:txBody>
      </p:sp>
      <p:sp>
        <p:nvSpPr>
          <p:cNvPr id="24" name="text-source-10">
            <a:extLst xmlns:a="http://schemas.openxmlformats.org/drawingml/2006/main">
              <a:ext uri="{FF2B5EF4-FFF2-40B4-BE49-F238E27FC236}">
                <a16:creationId xmlns:a16="http://schemas.microsoft.com/office/drawing/2014/main" id="{76F942F7-2B36-44F7-80AC-B59653755858}"/>
              </a:ext>
            </a:extLst>
          </p:cNvPr>
          <p:cNvSpPr>
            <a:spLocks xmlns:a="http://schemas.openxmlformats.org/drawingml/2006/main" noGrp="1"/>
          </p:cNvSpPr>
          <p:nvPr/>
        </p:nvSpPr>
        <p:spPr>
          <a:xfrm xmlns:a="http://schemas.openxmlformats.org/drawingml/2006/main">
            <a:off x="10229850" y="5969645"/>
            <a:ext cx="236353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вредности тајне.</a:t>
            </a:r>
          </a:p>
        </p:txBody>
      </p:sp>
      <p:sp>
        <p:nvSpPr>
          <p:cNvPr id="25" name="text-source-10">
            <a:extLst xmlns:a="http://schemas.openxmlformats.org/drawingml/2006/main">
              <a:ext uri="{FF2B5EF4-FFF2-40B4-BE49-F238E27FC236}">
                <a16:creationId xmlns:a16="http://schemas.microsoft.com/office/drawing/2014/main" id="{E778E9CA-F461-41D3-B350-4998AB35EBF7}"/>
              </a:ext>
            </a:extLst>
          </p:cNvPr>
          <p:cNvSpPr>
            <a:spLocks xmlns:a="http://schemas.openxmlformats.org/drawingml/2006/main" noGrp="1"/>
          </p:cNvSpPr>
          <p:nvPr/>
        </p:nvSpPr>
        <p:spPr>
          <a:xfrm xmlns:a="http://schemas.openxmlformats.org/drawingml/2006/main">
            <a:off x="9201150" y="67925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04</a:t>
            </a:r>
          </a:p>
        </p:txBody>
      </p:sp>
      <p:sp>
        <p:nvSpPr>
          <p:cNvPr id="26" name="text-source-10">
            <a:extLst xmlns:a="http://schemas.openxmlformats.org/drawingml/2006/main">
              <a:ext uri="{FF2B5EF4-FFF2-40B4-BE49-F238E27FC236}">
                <a16:creationId xmlns:a16="http://schemas.microsoft.com/office/drawing/2014/main" id="{8E21ACF3-3502-4B8A-8ABB-64A36D409A7D}"/>
              </a:ext>
            </a:extLst>
          </p:cNvPr>
          <p:cNvSpPr>
            <a:spLocks xmlns:a="http://schemas.openxmlformats.org/drawingml/2006/main" noGrp="1"/>
          </p:cNvSpPr>
          <p:nvPr/>
        </p:nvSpPr>
        <p:spPr>
          <a:xfrm xmlns:a="http://schemas.openxmlformats.org/drawingml/2006/main">
            <a:off x="10229850" y="6782991"/>
            <a:ext cx="615850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Опозив ограничава последицу сумње да је тајна </a:t>
            </a:r>
          </a:p>
        </p:txBody>
      </p:sp>
      <p:sp>
        <p:nvSpPr>
          <p:cNvPr id="27" name="text-source-10">
            <a:extLst xmlns:a="http://schemas.openxmlformats.org/drawingml/2006/main">
              <a:ext uri="{FF2B5EF4-FFF2-40B4-BE49-F238E27FC236}">
                <a16:creationId xmlns:a16="http://schemas.microsoft.com/office/drawing/2014/main" id="{C8D13179-6854-433B-9826-15F7C9FADF11}"/>
              </a:ext>
            </a:extLst>
          </p:cNvPr>
          <p:cNvSpPr>
            <a:spLocks xmlns:a="http://schemas.openxmlformats.org/drawingml/2006/main" noGrp="1"/>
          </p:cNvSpPr>
          <p:nvPr/>
        </p:nvSpPr>
        <p:spPr>
          <a:xfrm xmlns:a="http://schemas.openxmlformats.org/drawingml/2006/main">
            <a:off x="10229850" y="7129611"/>
            <a:ext cx="246161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компромитована.</a:t>
            </a:r>
          </a:p>
        </p:txBody>
      </p:sp>
      <p:sp>
        <p:nvSpPr>
          <p:cNvPr id="28" name="text-source-10">
            <a:extLst xmlns:a="http://schemas.openxmlformats.org/drawingml/2006/main">
              <a:ext uri="{FF2B5EF4-FFF2-40B4-BE49-F238E27FC236}">
                <a16:creationId xmlns:a16="http://schemas.microsoft.com/office/drawing/2014/main" id="{DFC09BB5-C070-447D-906A-3DFC54220C70}"/>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9" name="text-source-10">
            <a:extLst xmlns:a="http://schemas.openxmlformats.org/drawingml/2006/main">
              <a:ext uri="{FF2B5EF4-FFF2-40B4-BE49-F238E27FC236}">
                <a16:creationId xmlns:a16="http://schemas.microsoft.com/office/drawing/2014/main" id="{5D62B397-B951-4434-B27D-45A28598E362}"/>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18</a:t>
            </a:r>
          </a:p>
        </p:txBody>
      </p:sp>
    </p:spTree>
    <p:extLst>
      <p:ext uri="{BB962C8B-B14F-4D97-AF65-F5344CB8AC3E}">
        <p14:creationId xmlns:p14="http://schemas.microsoft.com/office/powerpoint/2010/main" val="668685315"/>
      </p:ext>
    </p:extLst>
  </p:cSld>
</p:sld>
</file>

<file path=ppt/slides/slide19.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1A30598-E2B2-47D6-88AD-B25CDBAD863C}"/>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52CE11-316D-40E8-9756-88BBCEB97048}"/>
              </a:ext>
            </a:extLst>
          </p:cNvPr>
          <p:cNvSpPr>
            <a:spLocks xmlns:a="http://schemas.openxmlformats.org/drawingml/2006/main" noGrp="1"/>
          </p:cNvSpPr>
          <p:nvPr/>
        </p:nvSpPr>
        <p:spPr>
          <a:xfrm xmlns:a="http://schemas.openxmlformats.org/drawingml/2006/main">
            <a:off x="9201150" y="3112591"/>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76EAE26-EF89-4EE2-8C05-227C782C1211}"/>
              </a:ext>
            </a:extLst>
          </p:cNvPr>
          <p:cNvSpPr>
            <a:spLocks xmlns:a="http://schemas.openxmlformats.org/drawingml/2006/main" noGrp="1"/>
          </p:cNvSpPr>
          <p:nvPr/>
        </p:nvSpPr>
        <p:spPr>
          <a:xfrm xmlns:a="http://schemas.openxmlformats.org/drawingml/2006/main">
            <a:off x="9201150" y="4272558"/>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DE5701-515E-4BBB-93EF-1E8EF444FA3D}"/>
              </a:ext>
            </a:extLst>
          </p:cNvPr>
          <p:cNvSpPr>
            <a:spLocks xmlns:a="http://schemas.openxmlformats.org/drawingml/2006/main" noGrp="1"/>
          </p:cNvSpPr>
          <p:nvPr/>
        </p:nvSpPr>
        <p:spPr>
          <a:xfrm xmlns:a="http://schemas.openxmlformats.org/drawingml/2006/main">
            <a:off x="9201150" y="5432524"/>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14BC17-EB04-45B0-8F0A-279309ECD389}"/>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6" name="text-source-18">
            <a:extLst xmlns:a="http://schemas.openxmlformats.org/drawingml/2006/main">
              <a:ext uri="{FF2B5EF4-FFF2-40B4-BE49-F238E27FC236}">
                <a16:creationId xmlns:a16="http://schemas.microsoft.com/office/drawing/2014/main" id="{67024CCD-C44D-474E-B0FE-5B95E3910474}"/>
              </a:ext>
            </a:extLst>
          </p:cNvPr>
          <p:cNvSpPr>
            <a:spLocks xmlns:a="http://schemas.openxmlformats.org/drawingml/2006/main" noGrp="1"/>
          </p:cNvSpPr>
          <p:nvPr/>
        </p:nvSpPr>
        <p:spPr>
          <a:xfrm xmlns:a="http://schemas.openxmlformats.org/drawingml/2006/main">
            <a:off x="1219200" y="1066800"/>
            <a:ext cx="37796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03 · АРХИТЕКТУРА ТАЈНИ</a:t>
            </a:r>
          </a:p>
        </p:txBody>
      </p:sp>
      <p:sp>
        <p:nvSpPr>
          <p:cNvPr id="7" name="heading-source-18">
            <a:extLst xmlns:a="http://schemas.openxmlformats.org/drawingml/2006/main">
              <a:ext uri="{FF2B5EF4-FFF2-40B4-BE49-F238E27FC236}">
                <a16:creationId xmlns:a16="http://schemas.microsoft.com/office/drawing/2014/main" id="{D9F5C376-98C2-436B-BF73-7A75B6E2ECB0}"/>
              </a:ext>
            </a:extLst>
          </p:cNvPr>
          <p:cNvSpPr>
            <a:spLocks xmlns:a="http://schemas.openxmlformats.org/drawingml/2006/main" noGrp="1"/>
          </p:cNvSpPr>
          <p:nvPr/>
        </p:nvSpPr>
        <p:spPr>
          <a:xfrm xmlns:a="http://schemas.openxmlformats.org/drawingml/2006/main">
            <a:off x="1219200" y="1443930"/>
            <a:ext cx="9668321"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8966"/>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Управљање тајнама у архитектури</a:t>
            </a:r>
          </a:p>
        </p:txBody>
      </p:sp>
      <p:sp>
        <p:nvSpPr>
          <p:cNvPr id="8" name="text-source-18">
            <a:extLst xmlns:a="http://schemas.openxmlformats.org/drawingml/2006/main">
              <a:ext uri="{FF2B5EF4-FFF2-40B4-BE49-F238E27FC236}">
                <a16:creationId xmlns:a16="http://schemas.microsoft.com/office/drawing/2014/main" id="{F501FA91-2CD1-49C5-8C71-F62464E91F55}"/>
              </a:ext>
            </a:extLst>
          </p:cNvPr>
          <p:cNvSpPr>
            <a:spLocks xmlns:a="http://schemas.openxmlformats.org/drawingml/2006/main" noGrp="1"/>
          </p:cNvSpPr>
          <p:nvPr/>
        </p:nvSpPr>
        <p:spPr>
          <a:xfrm xmlns:a="http://schemas.openxmlformats.org/drawingml/2006/main">
            <a:off x="1219200" y="2444055"/>
            <a:ext cx="94979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Тајне имају власника, ограничен опсег, рок важења и поступак ротације.</a:t>
            </a:r>
          </a:p>
        </p:txBody>
      </p:sp>
      <p:sp>
        <p:nvSpPr>
          <p:cNvPr id="9" name="text-source-18">
            <a:extLst xmlns:a="http://schemas.openxmlformats.org/drawingml/2006/main">
              <a:ext uri="{FF2B5EF4-FFF2-40B4-BE49-F238E27FC236}">
                <a16:creationId xmlns:a16="http://schemas.microsoft.com/office/drawing/2014/main" id="{B8FBCFAB-0A24-4354-89E5-E3889A813ABB}"/>
              </a:ext>
            </a:extLst>
          </p:cNvPr>
          <p:cNvSpPr>
            <a:spLocks xmlns:a="http://schemas.openxmlformats.org/drawingml/2006/main" noGrp="1"/>
          </p:cNvSpPr>
          <p:nvPr/>
        </p:nvSpPr>
        <p:spPr>
          <a:xfrm xmlns:a="http://schemas.openxmlformats.org/drawingml/2006/main">
            <a:off x="1219200" y="3112591"/>
            <a:ext cx="18517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ОБРАЗЛОЖЕЊЕ</a:t>
            </a:r>
          </a:p>
        </p:txBody>
      </p:sp>
      <p:sp>
        <p:nvSpPr>
          <p:cNvPr id="10" name="text-source-18">
            <a:extLst xmlns:a="http://schemas.openxmlformats.org/drawingml/2006/main">
              <a:ext uri="{FF2B5EF4-FFF2-40B4-BE49-F238E27FC236}">
                <a16:creationId xmlns:a16="http://schemas.microsoft.com/office/drawing/2014/main" id="{7542B0A0-2B7F-45D9-9243-937A590D1CF8}"/>
              </a:ext>
            </a:extLst>
          </p:cNvPr>
          <p:cNvSpPr>
            <a:spLocks xmlns:a="http://schemas.openxmlformats.org/drawingml/2006/main" noGrp="1"/>
          </p:cNvSpPr>
          <p:nvPr/>
        </p:nvSpPr>
        <p:spPr>
          <a:xfrm xmlns:a="http://schemas.openxmlformats.org/drawingml/2006/main">
            <a:off x="1219200" y="3613547"/>
            <a:ext cx="4229546"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1">
                <a:solidFill>
                  <a:srgbClr val="13202D"/>
                </a:solidFill>
                <a:latin typeface="IBM Plex Sans"/>
                <a:ea typeface="IBM Plex Sans"/>
                <a:cs typeface="IBM Plex Sans"/>
              </a:rPr>
              <a:t>Тајне као део архитектуре</a:t>
            </a:r>
          </a:p>
        </p:txBody>
      </p:sp>
      <p:sp>
        <p:nvSpPr>
          <p:cNvPr id="11" name="text-source-18">
            <a:extLst xmlns:a="http://schemas.openxmlformats.org/drawingml/2006/main">
              <a:ext uri="{FF2B5EF4-FFF2-40B4-BE49-F238E27FC236}">
                <a16:creationId xmlns:a16="http://schemas.microsoft.com/office/drawing/2014/main" id="{C472F5C1-911A-4AFD-9293-A7D426C883D6}"/>
              </a:ext>
            </a:extLst>
          </p:cNvPr>
          <p:cNvSpPr>
            <a:spLocks xmlns:a="http://schemas.openxmlformats.org/drawingml/2006/main" noGrp="1"/>
          </p:cNvSpPr>
          <p:nvPr/>
        </p:nvSpPr>
        <p:spPr>
          <a:xfrm xmlns:a="http://schemas.openxmlformats.org/drawingml/2006/main">
            <a:off x="1219200" y="4211687"/>
            <a:ext cx="735687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Тајна није конфигурациона вредност као свака друга. Њено </a:t>
            </a:r>
          </a:p>
        </p:txBody>
      </p:sp>
      <p:sp>
        <p:nvSpPr>
          <p:cNvPr id="12" name="text-source-18">
            <a:extLst xmlns:a="http://schemas.openxmlformats.org/drawingml/2006/main">
              <a:ext uri="{FF2B5EF4-FFF2-40B4-BE49-F238E27FC236}">
                <a16:creationId xmlns:a16="http://schemas.microsoft.com/office/drawing/2014/main" id="{BAAFA917-077C-4EF3-8F91-250483152C1F}"/>
              </a:ext>
            </a:extLst>
          </p:cNvPr>
          <p:cNvSpPr>
            <a:spLocks xmlns:a="http://schemas.openxmlformats.org/drawingml/2006/main" noGrp="1"/>
          </p:cNvSpPr>
          <p:nvPr/>
        </p:nvSpPr>
        <p:spPr>
          <a:xfrm xmlns:a="http://schemas.openxmlformats.org/drawingml/2006/main">
            <a:off x="1219200" y="4558308"/>
            <a:ext cx="697185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излагање може дати приступ без видљивог корисничког </a:t>
            </a:r>
          </a:p>
        </p:txBody>
      </p:sp>
      <p:sp>
        <p:nvSpPr>
          <p:cNvPr id="13" name="text-source-18">
            <a:extLst xmlns:a="http://schemas.openxmlformats.org/drawingml/2006/main">
              <a:ext uri="{FF2B5EF4-FFF2-40B4-BE49-F238E27FC236}">
                <a16:creationId xmlns:a16="http://schemas.microsoft.com/office/drawing/2014/main" id="{01B0E014-2385-43ED-88B5-DDA5AA663665}"/>
              </a:ext>
            </a:extLst>
          </p:cNvPr>
          <p:cNvSpPr>
            <a:spLocks xmlns:a="http://schemas.openxmlformats.org/drawingml/2006/main" noGrp="1"/>
          </p:cNvSpPr>
          <p:nvPr/>
        </p:nvSpPr>
        <p:spPr>
          <a:xfrm xmlns:a="http://schemas.openxmlformats.org/drawingml/2006/main">
            <a:off x="1219200" y="4904929"/>
            <a:ext cx="691976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екрана, нарочито између сервиса. Зато развојни процес </a:t>
            </a:r>
          </a:p>
        </p:txBody>
      </p:sp>
      <p:sp>
        <p:nvSpPr>
          <p:cNvPr id="14" name="text-source-18">
            <a:extLst xmlns:a="http://schemas.openxmlformats.org/drawingml/2006/main">
              <a:ext uri="{FF2B5EF4-FFF2-40B4-BE49-F238E27FC236}">
                <a16:creationId xmlns:a16="http://schemas.microsoft.com/office/drawing/2014/main" id="{FD62A81B-FB82-4186-80E0-96AC8384C65C}"/>
              </a:ext>
            </a:extLst>
          </p:cNvPr>
          <p:cNvSpPr>
            <a:spLocks xmlns:a="http://schemas.openxmlformats.org/drawingml/2006/main" noGrp="1"/>
          </p:cNvSpPr>
          <p:nvPr/>
        </p:nvSpPr>
        <p:spPr>
          <a:xfrm xmlns:a="http://schemas.openxmlformats.org/drawingml/2006/main">
            <a:off x="1219200" y="5251549"/>
            <a:ext cx="773653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дефинише одакле тајна долази, ко је користи, када се ротира и </a:t>
            </a:r>
          </a:p>
        </p:txBody>
      </p:sp>
      <p:sp>
        <p:nvSpPr>
          <p:cNvPr id="15" name="text-source-18">
            <a:extLst xmlns:a="http://schemas.openxmlformats.org/drawingml/2006/main">
              <a:ext uri="{FF2B5EF4-FFF2-40B4-BE49-F238E27FC236}">
                <a16:creationId xmlns:a16="http://schemas.microsoft.com/office/drawing/2014/main" id="{B75E6C10-66B8-4C3C-A1E5-0EA157898176}"/>
              </a:ext>
            </a:extLst>
          </p:cNvPr>
          <p:cNvSpPr>
            <a:spLocks xmlns:a="http://schemas.openxmlformats.org/drawingml/2006/main" noGrp="1"/>
          </p:cNvSpPr>
          <p:nvPr/>
        </p:nvSpPr>
        <p:spPr>
          <a:xfrm xmlns:a="http://schemas.openxmlformats.org/drawingml/2006/main">
            <a:off x="1219200" y="5598170"/>
            <a:ext cx="774590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како се проверава да није случајно завршила у репозиторијуму </a:t>
            </a:r>
          </a:p>
        </p:txBody>
      </p:sp>
      <p:sp>
        <p:nvSpPr>
          <p:cNvPr id="16" name="text-source-18">
            <a:extLst xmlns:a="http://schemas.openxmlformats.org/drawingml/2006/main">
              <a:ext uri="{FF2B5EF4-FFF2-40B4-BE49-F238E27FC236}">
                <a16:creationId xmlns:a16="http://schemas.microsoft.com/office/drawing/2014/main" id="{1F605FB1-ED2C-46C8-AFD5-F884C72FC153}"/>
              </a:ext>
            </a:extLst>
          </p:cNvPr>
          <p:cNvSpPr>
            <a:spLocks xmlns:a="http://schemas.openxmlformats.org/drawingml/2006/main" noGrp="1"/>
          </p:cNvSpPr>
          <p:nvPr/>
        </p:nvSpPr>
        <p:spPr>
          <a:xfrm xmlns:a="http://schemas.openxmlformats.org/drawingml/2006/main">
            <a:off x="1219200" y="5944791"/>
            <a:ext cx="1412081"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или логу.</a:t>
            </a:r>
          </a:p>
        </p:txBody>
      </p:sp>
      <p:sp>
        <p:nvSpPr>
          <p:cNvPr id="17" name="text-source-18">
            <a:extLst xmlns:a="http://schemas.openxmlformats.org/drawingml/2006/main">
              <a:ext uri="{FF2B5EF4-FFF2-40B4-BE49-F238E27FC236}">
                <a16:creationId xmlns:a16="http://schemas.microsoft.com/office/drawing/2014/main" id="{31ABAE52-4C3B-4A1D-9606-A1B8C431E6DD}"/>
              </a:ext>
            </a:extLst>
          </p:cNvPr>
          <p:cNvSpPr>
            <a:spLocks xmlns:a="http://schemas.openxmlformats.org/drawingml/2006/main" noGrp="1"/>
          </p:cNvSpPr>
          <p:nvPr/>
        </p:nvSpPr>
        <p:spPr>
          <a:xfrm xmlns:a="http://schemas.openxmlformats.org/drawingml/2006/main">
            <a:off x="920115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8" name="text-source-18">
            <a:extLst xmlns:a="http://schemas.openxmlformats.org/drawingml/2006/main">
              <a:ext uri="{FF2B5EF4-FFF2-40B4-BE49-F238E27FC236}">
                <a16:creationId xmlns:a16="http://schemas.microsoft.com/office/drawing/2014/main" id="{CD8CF6C7-126F-44E5-B7C2-80DDF3A3AF48}"/>
              </a:ext>
            </a:extLst>
          </p:cNvPr>
          <p:cNvSpPr>
            <a:spLocks xmlns:a="http://schemas.openxmlformats.org/drawingml/2006/main" noGrp="1"/>
          </p:cNvSpPr>
          <p:nvPr/>
        </p:nvSpPr>
        <p:spPr>
          <a:xfrm xmlns:a="http://schemas.openxmlformats.org/drawingml/2006/main">
            <a:off x="10229850" y="3303091"/>
            <a:ext cx="612517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Сваки сервисни идентитет има сврху и најмањи </a:t>
            </a:r>
          </a:p>
        </p:txBody>
      </p:sp>
      <p:sp>
        <p:nvSpPr>
          <p:cNvPr id="19" name="text-source-18">
            <a:extLst xmlns:a="http://schemas.openxmlformats.org/drawingml/2006/main">
              <a:ext uri="{FF2B5EF4-FFF2-40B4-BE49-F238E27FC236}">
                <a16:creationId xmlns:a16="http://schemas.microsoft.com/office/drawing/2014/main" id="{1CE4737B-701F-4348-9EA7-253E64360AC1}"/>
              </a:ext>
            </a:extLst>
          </p:cNvPr>
          <p:cNvSpPr>
            <a:spLocks xmlns:a="http://schemas.openxmlformats.org/drawingml/2006/main" noGrp="1"/>
          </p:cNvSpPr>
          <p:nvPr/>
        </p:nvSpPr>
        <p:spPr>
          <a:xfrm xmlns:a="http://schemas.openxmlformats.org/drawingml/2006/main">
            <a:off x="10229850" y="3649712"/>
            <a:ext cx="225385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потребан опсег.</a:t>
            </a:r>
          </a:p>
        </p:txBody>
      </p:sp>
      <p:sp>
        <p:nvSpPr>
          <p:cNvPr id="20" name="text-source-18">
            <a:extLst xmlns:a="http://schemas.openxmlformats.org/drawingml/2006/main">
              <a:ext uri="{FF2B5EF4-FFF2-40B4-BE49-F238E27FC236}">
                <a16:creationId xmlns:a16="http://schemas.microsoft.com/office/drawing/2014/main" id="{B1F47334-2857-452A-B7D8-4018EA373CA5}"/>
              </a:ext>
            </a:extLst>
          </p:cNvPr>
          <p:cNvSpPr>
            <a:spLocks xmlns:a="http://schemas.openxmlformats.org/drawingml/2006/main" noGrp="1"/>
          </p:cNvSpPr>
          <p:nvPr/>
        </p:nvSpPr>
        <p:spPr>
          <a:xfrm xmlns:a="http://schemas.openxmlformats.org/drawingml/2006/main">
            <a:off x="9201150" y="447258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21" name="text-source-18">
            <a:extLst xmlns:a="http://schemas.openxmlformats.org/drawingml/2006/main">
              <a:ext uri="{FF2B5EF4-FFF2-40B4-BE49-F238E27FC236}">
                <a16:creationId xmlns:a16="http://schemas.microsoft.com/office/drawing/2014/main" id="{5242D194-8348-45DB-99BE-3E06F6ADE241}"/>
              </a:ext>
            </a:extLst>
          </p:cNvPr>
          <p:cNvSpPr>
            <a:spLocks xmlns:a="http://schemas.openxmlformats.org/drawingml/2006/main" noGrp="1"/>
          </p:cNvSpPr>
          <p:nvPr/>
        </p:nvSpPr>
        <p:spPr>
          <a:xfrm xmlns:a="http://schemas.openxmlformats.org/drawingml/2006/main">
            <a:off x="10229850" y="4463058"/>
            <a:ext cx="642550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Ротација се планира пре истека, уместо да се чека </a:t>
            </a:r>
          </a:p>
        </p:txBody>
      </p:sp>
      <p:sp>
        <p:nvSpPr>
          <p:cNvPr id="22" name="text-source-18">
            <a:extLst xmlns:a="http://schemas.openxmlformats.org/drawingml/2006/main">
              <a:ext uri="{FF2B5EF4-FFF2-40B4-BE49-F238E27FC236}">
                <a16:creationId xmlns:a16="http://schemas.microsoft.com/office/drawing/2014/main" id="{260B96B5-36C6-4303-BC38-012086113B2C}"/>
              </a:ext>
            </a:extLst>
          </p:cNvPr>
          <p:cNvSpPr>
            <a:spLocks xmlns:a="http://schemas.openxmlformats.org/drawingml/2006/main" noGrp="1"/>
          </p:cNvSpPr>
          <p:nvPr/>
        </p:nvSpPr>
        <p:spPr>
          <a:xfrm xmlns:a="http://schemas.openxmlformats.org/drawingml/2006/main">
            <a:off x="10229850" y="4809679"/>
            <a:ext cx="194652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прекид рада.</a:t>
            </a:r>
          </a:p>
        </p:txBody>
      </p:sp>
      <p:sp>
        <p:nvSpPr>
          <p:cNvPr id="23" name="text-source-18">
            <a:extLst xmlns:a="http://schemas.openxmlformats.org/drawingml/2006/main">
              <a:ext uri="{FF2B5EF4-FFF2-40B4-BE49-F238E27FC236}">
                <a16:creationId xmlns:a16="http://schemas.microsoft.com/office/drawing/2014/main" id="{D3E78F23-DB55-4306-9AEA-1D189C310E52}"/>
              </a:ext>
            </a:extLst>
          </p:cNvPr>
          <p:cNvSpPr>
            <a:spLocks xmlns:a="http://schemas.openxmlformats.org/drawingml/2006/main" noGrp="1"/>
          </p:cNvSpPr>
          <p:nvPr/>
        </p:nvSpPr>
        <p:spPr>
          <a:xfrm xmlns:a="http://schemas.openxmlformats.org/drawingml/2006/main">
            <a:off x="9201150" y="563254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4" name="text-source-18">
            <a:extLst xmlns:a="http://schemas.openxmlformats.org/drawingml/2006/main">
              <a:ext uri="{FF2B5EF4-FFF2-40B4-BE49-F238E27FC236}">
                <a16:creationId xmlns:a16="http://schemas.microsoft.com/office/drawing/2014/main" id="{35BC0B15-8120-4B12-88C0-80F70FA6DB6E}"/>
              </a:ext>
            </a:extLst>
          </p:cNvPr>
          <p:cNvSpPr>
            <a:spLocks xmlns:a="http://schemas.openxmlformats.org/drawingml/2006/main" noGrp="1"/>
          </p:cNvSpPr>
          <p:nvPr/>
        </p:nvSpPr>
        <p:spPr>
          <a:xfrm xmlns:a="http://schemas.openxmlformats.org/drawingml/2006/main">
            <a:off x="10229850" y="5623024"/>
            <a:ext cx="705549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Тестови проверавају понашање при опозиву или истеку </a:t>
            </a:r>
          </a:p>
        </p:txBody>
      </p:sp>
      <p:sp>
        <p:nvSpPr>
          <p:cNvPr id="25" name="text-source-18">
            <a:extLst xmlns:a="http://schemas.openxmlformats.org/drawingml/2006/main">
              <a:ext uri="{FF2B5EF4-FFF2-40B4-BE49-F238E27FC236}">
                <a16:creationId xmlns:a16="http://schemas.microsoft.com/office/drawing/2014/main" id="{DAEEA1CA-64AD-46B5-B4DA-1B08B7ABCEA1}"/>
              </a:ext>
            </a:extLst>
          </p:cNvPr>
          <p:cNvSpPr>
            <a:spLocks xmlns:a="http://schemas.openxmlformats.org/drawingml/2006/main" noGrp="1"/>
          </p:cNvSpPr>
          <p:nvPr/>
        </p:nvSpPr>
        <p:spPr>
          <a:xfrm xmlns:a="http://schemas.openxmlformats.org/drawingml/2006/main">
            <a:off x="10229850" y="5969645"/>
            <a:ext cx="569178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без приказивања стварних вредности тајне.</a:t>
            </a:r>
          </a:p>
        </p:txBody>
      </p:sp>
      <p:sp>
        <p:nvSpPr>
          <p:cNvPr id="26" name="text-source-18">
            <a:extLst xmlns:a="http://schemas.openxmlformats.org/drawingml/2006/main">
              <a:ext uri="{FF2B5EF4-FFF2-40B4-BE49-F238E27FC236}">
                <a16:creationId xmlns:a16="http://schemas.microsoft.com/office/drawing/2014/main" id="{C1789FFF-694B-4F6E-9F0D-74FE991E5CEB}"/>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7" name="text-source-18">
            <a:extLst xmlns:a="http://schemas.openxmlformats.org/drawingml/2006/main">
              <a:ext uri="{FF2B5EF4-FFF2-40B4-BE49-F238E27FC236}">
                <a16:creationId xmlns:a16="http://schemas.microsoft.com/office/drawing/2014/main" id="{EE16C8F0-5077-4318-9AFA-190041E767C3}"/>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19</a:t>
            </a:r>
          </a:p>
        </p:txBody>
      </p:sp>
    </p:spTree>
    <p:extLst>
      <p:ext uri="{BB962C8B-B14F-4D97-AF65-F5344CB8AC3E}">
        <p14:creationId xmlns:p14="http://schemas.microsoft.com/office/powerpoint/2010/main" val="1458798974"/>
      </p:ext>
    </p:extLst>
  </p:cSld>
</p:sld>
</file>

<file path=ppt/slides/slide20.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6CFDFD8-8155-48E4-871E-DF233A5F5502}"/>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880E9F-DE9E-4BD0-AE9D-8FB672EB1D52}"/>
              </a:ext>
            </a:extLst>
          </p:cNvPr>
          <p:cNvSpPr>
            <a:spLocks xmlns:a="http://schemas.openxmlformats.org/drawingml/2006/main" noGrp="1"/>
          </p:cNvSpPr>
          <p:nvPr/>
        </p:nvSpPr>
        <p:spPr>
          <a:xfrm xmlns:a="http://schemas.openxmlformats.org/drawingml/2006/main">
            <a:off x="1219200" y="7524750"/>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3" name="rounded-banner-accent">
            <a:extLst xmlns:a="http://schemas.openxmlformats.org/drawingml/2006/main">
              <a:ext uri="{FF2B5EF4-FFF2-40B4-BE49-F238E27FC236}">
                <a16:creationId xmlns:a16="http://schemas.microsoft.com/office/drawing/2014/main" id="{B449A048-5E39-475A-BDB8-DB0E835D72C0}"/>
              </a:ext>
            </a:extLst>
          </p:cNvPr>
          <p:cNvSpPr>
            <a:spLocks xmlns:a="http://schemas.openxmlformats.org/drawingml/2006/main" noGrp="1"/>
          </p:cNvSpPr>
          <p:nvPr/>
        </p:nvSpPr>
        <p:spPr>
          <a:xfrm xmlns:a="http://schemas.openxmlformats.org/drawingml/2006/main">
            <a:off x="1219200" y="7524750"/>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9F0AD7-D546-4CCE-813C-5FD3359FDE93}"/>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5D96B20-E213-4E86-9FCD-3A337D8C7529}"/>
              </a:ext>
            </a:extLst>
          </p:cNvPr>
          <p:cNvPicPr>
            <a:picLocks xmlns:a="http://schemas.openxmlformats.org/drawingml/2006/main" noChangeAspect="1"/>
          </p:cNvPicPr>
          <p:nvPr/>
        </p:nvPicPr>
        <p:blipFill>
          <a:blip xmlns:r="http://schemas.openxmlformats.org/officeDocument/2006/relationships" xmlns:a="http://schemas.openxmlformats.org/drawingml/2006/main" r:embed="R8f52d808fd974a92"/>
          <a:stretch xmlns:a="http://schemas.openxmlformats.org/drawingml/2006/main"/>
        </p:blipFill>
        <p:spPr>
          <a:xfrm xmlns:a="http://schemas.openxmlformats.org/drawingml/2006/main">
            <a:off x="1219200" y="3571875"/>
            <a:ext cx="15849600" cy="3429000"/>
          </a:xfrm>
          <a:prstGeom xmlns:a="http://schemas.openxmlformats.org/drawingml/2006/main" prst="rect">
            <a:avLst/>
          </a:prstGeom>
        </p:spPr>
      </p:pic>
      <p:sp>
        <p:nvSpPr>
          <p:cNvPr id="6" name="text-rotacija">
            <a:extLst xmlns:a="http://schemas.openxmlformats.org/drawingml/2006/main">
              <a:ext uri="{FF2B5EF4-FFF2-40B4-BE49-F238E27FC236}">
                <a16:creationId xmlns:a16="http://schemas.microsoft.com/office/drawing/2014/main" id="{496C2931-B967-450A-8FE5-0D1B0BB031C4}"/>
              </a:ext>
            </a:extLst>
          </p:cNvPr>
          <p:cNvSpPr>
            <a:spLocks xmlns:a="http://schemas.openxmlformats.org/drawingml/2006/main" noGrp="1"/>
          </p:cNvSpPr>
          <p:nvPr/>
        </p:nvSpPr>
        <p:spPr>
          <a:xfrm xmlns:a="http://schemas.openxmlformats.org/drawingml/2006/main">
            <a:off x="1537395" y="4562475"/>
            <a:ext cx="3182987"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Сервисни идентитет</a:t>
            </a:r>
          </a:p>
        </p:txBody>
      </p:sp>
      <p:sp>
        <p:nvSpPr>
          <p:cNvPr id="7" name="text-rotacija">
            <a:extLst xmlns:a="http://schemas.openxmlformats.org/drawingml/2006/main">
              <a:ext uri="{FF2B5EF4-FFF2-40B4-BE49-F238E27FC236}">
                <a16:creationId xmlns:a16="http://schemas.microsoft.com/office/drawing/2014/main" id="{DB103B67-2759-41DD-8610-1B9526EE59FF}"/>
              </a:ext>
            </a:extLst>
          </p:cNvPr>
          <p:cNvSpPr>
            <a:spLocks xmlns:a="http://schemas.openxmlformats.org/drawingml/2006/main" noGrp="1"/>
          </p:cNvSpPr>
          <p:nvPr/>
        </p:nvSpPr>
        <p:spPr>
          <a:xfrm xmlns:a="http://schemas.openxmlformats.org/drawingml/2006/main">
            <a:off x="7648426" y="4295775"/>
            <a:ext cx="3333899"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Безбедан извор тајне</a:t>
            </a:r>
          </a:p>
        </p:txBody>
      </p:sp>
      <p:sp>
        <p:nvSpPr>
          <p:cNvPr id="8" name="text-rotacija">
            <a:extLst xmlns:a="http://schemas.openxmlformats.org/drawingml/2006/main">
              <a:ext uri="{FF2B5EF4-FFF2-40B4-BE49-F238E27FC236}">
                <a16:creationId xmlns:a16="http://schemas.microsoft.com/office/drawing/2014/main" id="{D039E152-F662-4631-9310-2A9140BDD95E}"/>
              </a:ext>
            </a:extLst>
          </p:cNvPr>
          <p:cNvSpPr>
            <a:spLocks xmlns:a="http://schemas.openxmlformats.org/drawingml/2006/main" noGrp="1"/>
          </p:cNvSpPr>
          <p:nvPr/>
        </p:nvSpPr>
        <p:spPr>
          <a:xfrm xmlns:a="http://schemas.openxmlformats.org/drawingml/2006/main">
            <a:off x="7926288" y="4800600"/>
            <a:ext cx="277832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3A46A5"/>
                </a:solidFill>
                <a:latin typeface="IBM Plex Sans"/>
                <a:ea typeface="IBM Plex Sans"/>
                <a:cs typeface="IBM Plex Sans"/>
              </a:rPr>
              <a:t>власник · сврха · рок</a:t>
            </a:r>
          </a:p>
        </p:txBody>
      </p:sp>
      <p:sp>
        <p:nvSpPr>
          <p:cNvPr id="9" name="text-rotacija">
            <a:extLst xmlns:a="http://schemas.openxmlformats.org/drawingml/2006/main">
              <a:ext uri="{FF2B5EF4-FFF2-40B4-BE49-F238E27FC236}">
                <a16:creationId xmlns:a16="http://schemas.microsoft.com/office/drawing/2014/main" id="{18E739F0-B740-4557-A041-0816526AA00F}"/>
              </a:ext>
            </a:extLst>
          </p:cNvPr>
          <p:cNvSpPr>
            <a:spLocks xmlns:a="http://schemas.openxmlformats.org/drawingml/2006/main" noGrp="1"/>
          </p:cNvSpPr>
          <p:nvPr/>
        </p:nvSpPr>
        <p:spPr>
          <a:xfrm xmlns:a="http://schemas.openxmlformats.org/drawingml/2006/main">
            <a:off x="14328577" y="4562475"/>
            <a:ext cx="2346722"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250">
                <a:latin typeface="IBM Plex Sans"/>
                <a:ea typeface="IBM Plex Sans"/>
                <a:cs typeface="IBM Plex Sans"/>
              </a:defRPr>
            </a:defPPr>
          </a:lstStyle>
          <a:p xmlns:a="http://schemas.openxmlformats.org/drawingml/2006/main">
            <a:pPr algn="l">
              <a:defRPr sz="2250">
                <a:latin typeface="IBM Plex Sans"/>
                <a:ea typeface="IBM Plex Sans"/>
                <a:cs typeface="IBM Plex Sans"/>
              </a:defRPr>
            </a:pPr>
            <a:r>
              <a:rPr sz="2250" b="1">
                <a:solidFill>
                  <a:srgbClr val="13202D"/>
                </a:solidFill>
                <a:latin typeface="IBM Plex Sans"/>
                <a:ea typeface="IBM Plex Sans"/>
                <a:cs typeface="IBM Plex Sans"/>
              </a:rPr>
              <a:t>Циљни сервис</a:t>
            </a:r>
          </a:p>
        </p:txBody>
      </p:sp>
      <p:sp>
        <p:nvSpPr>
          <p:cNvPr id="10" name="text-rotacija">
            <a:extLst xmlns:a="http://schemas.openxmlformats.org/drawingml/2006/main">
              <a:ext uri="{FF2B5EF4-FFF2-40B4-BE49-F238E27FC236}">
                <a16:creationId xmlns:a16="http://schemas.microsoft.com/office/drawing/2014/main" id="{4A6A3095-C23E-4ABC-9334-A9014BFFFE20}"/>
              </a:ext>
            </a:extLst>
          </p:cNvPr>
          <p:cNvSpPr>
            <a:spLocks xmlns:a="http://schemas.openxmlformats.org/drawingml/2006/main" noGrp="1"/>
          </p:cNvSpPr>
          <p:nvPr/>
        </p:nvSpPr>
        <p:spPr>
          <a:xfrm xmlns:a="http://schemas.openxmlformats.org/drawingml/2006/main">
            <a:off x="6711553" y="6743700"/>
            <a:ext cx="507429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A8520A"/>
                </a:solidFill>
                <a:latin typeface="IBM Plex Sans"/>
                <a:ea typeface="IBM Plex Sans"/>
                <a:cs typeface="IBM Plex Sans"/>
              </a:rPr>
              <a:t>нова верзија → провера → опозив старе</a:t>
            </a:r>
          </a:p>
        </p:txBody>
      </p:sp>
      <p:sp>
        <p:nvSpPr>
          <p:cNvPr id="11" name="text-rotacija">
            <a:extLst xmlns:a="http://schemas.openxmlformats.org/drawingml/2006/main">
              <a:ext uri="{FF2B5EF4-FFF2-40B4-BE49-F238E27FC236}">
                <a16:creationId xmlns:a16="http://schemas.microsoft.com/office/drawing/2014/main" id="{F1B50E3E-0772-4950-B890-931F701A0F44}"/>
              </a:ext>
            </a:extLst>
          </p:cNvPr>
          <p:cNvSpPr>
            <a:spLocks xmlns:a="http://schemas.openxmlformats.org/drawingml/2006/main" noGrp="1"/>
          </p:cNvSpPr>
          <p:nvPr/>
        </p:nvSpPr>
        <p:spPr>
          <a:xfrm xmlns:a="http://schemas.openxmlformats.org/drawingml/2006/main">
            <a:off x="1219200" y="1066800"/>
            <a:ext cx="237366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03 · РОТАЦИЈА</a:t>
            </a:r>
          </a:p>
        </p:txBody>
      </p:sp>
      <p:sp>
        <p:nvSpPr>
          <p:cNvPr id="12" name="heading-rotacija">
            <a:extLst xmlns:a="http://schemas.openxmlformats.org/drawingml/2006/main">
              <a:ext uri="{FF2B5EF4-FFF2-40B4-BE49-F238E27FC236}">
                <a16:creationId xmlns:a16="http://schemas.microsoft.com/office/drawing/2014/main" id="{4CAAA634-546D-4E94-B7BF-D949C302FC85}"/>
              </a:ext>
            </a:extLst>
          </p:cNvPr>
          <p:cNvSpPr>
            <a:spLocks xmlns:a="http://schemas.openxmlformats.org/drawingml/2006/main" noGrp="1"/>
          </p:cNvSpPr>
          <p:nvPr/>
        </p:nvSpPr>
        <p:spPr>
          <a:xfrm xmlns:a="http://schemas.openxmlformats.org/drawingml/2006/main">
            <a:off x="1219200" y="1443930"/>
            <a:ext cx="891495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329"/>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Ротација је контролисан прелаз</a:t>
            </a:r>
          </a:p>
        </p:txBody>
      </p:sp>
      <p:sp>
        <p:nvSpPr>
          <p:cNvPr id="13" name="text-rotacija">
            <a:extLst xmlns:a="http://schemas.openxmlformats.org/drawingml/2006/main">
              <a:ext uri="{FF2B5EF4-FFF2-40B4-BE49-F238E27FC236}">
                <a16:creationId xmlns:a16="http://schemas.microsoft.com/office/drawing/2014/main" id="{6A72A0BD-BC28-475A-88BF-395C3984BE28}"/>
              </a:ext>
            </a:extLst>
          </p:cNvPr>
          <p:cNvSpPr>
            <a:spLocks xmlns:a="http://schemas.openxmlformats.org/drawingml/2006/main" noGrp="1"/>
          </p:cNvSpPr>
          <p:nvPr/>
        </p:nvSpPr>
        <p:spPr>
          <a:xfrm xmlns:a="http://schemas.openxmlformats.org/drawingml/2006/main">
            <a:off x="1219200" y="2444055"/>
            <a:ext cx="1013891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Прелаз се планира пре истека и оставља траг о верзији, не о вредности тајне.</a:t>
            </a:r>
          </a:p>
        </p:txBody>
      </p:sp>
      <p:sp>
        <p:nvSpPr>
          <p:cNvPr id="14" name="text-rotacija">
            <a:extLst xmlns:a="http://schemas.openxmlformats.org/drawingml/2006/main">
              <a:ext uri="{FF2B5EF4-FFF2-40B4-BE49-F238E27FC236}">
                <a16:creationId xmlns:a16="http://schemas.microsoft.com/office/drawing/2014/main" id="{E2C07A55-44C4-4DA9-8EEA-45060576E024}"/>
              </a:ext>
            </a:extLst>
          </p:cNvPr>
          <p:cNvSpPr>
            <a:spLocks xmlns:a="http://schemas.openxmlformats.org/drawingml/2006/main" noGrp="1"/>
          </p:cNvSpPr>
          <p:nvPr/>
        </p:nvSpPr>
        <p:spPr>
          <a:xfrm xmlns:a="http://schemas.openxmlformats.org/drawingml/2006/main">
            <a:off x="1504950" y="7715250"/>
            <a:ext cx="32233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Илустративни поступак</a:t>
            </a:r>
          </a:p>
        </p:txBody>
      </p:sp>
      <p:sp>
        <p:nvSpPr>
          <p:cNvPr id="15" name="text-rotacija">
            <a:extLst xmlns:a="http://schemas.openxmlformats.org/drawingml/2006/main">
              <a:ext uri="{FF2B5EF4-FFF2-40B4-BE49-F238E27FC236}">
                <a16:creationId xmlns:a16="http://schemas.microsoft.com/office/drawing/2014/main" id="{CD3D46AC-D38D-48BF-97A7-FFEDCC5D914A}"/>
              </a:ext>
            </a:extLst>
          </p:cNvPr>
          <p:cNvSpPr>
            <a:spLocks xmlns:a="http://schemas.openxmlformats.org/drawingml/2006/main" noGrp="1"/>
          </p:cNvSpPr>
          <p:nvPr/>
        </p:nvSpPr>
        <p:spPr>
          <a:xfrm xmlns:a="http://schemas.openxmlformats.org/drawingml/2006/main">
            <a:off x="1504950" y="8120955"/>
            <a:ext cx="152638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Издати нову вредност, проверити употребу, затим опозвати стару. Детаљан поступак зависи од врсте тајне и система.</a:t>
            </a:r>
          </a:p>
        </p:txBody>
      </p:sp>
      <p:sp>
        <p:nvSpPr>
          <p:cNvPr id="16" name="text-rotacija">
            <a:extLst xmlns:a="http://schemas.openxmlformats.org/drawingml/2006/main">
              <a:ext uri="{FF2B5EF4-FFF2-40B4-BE49-F238E27FC236}">
                <a16:creationId xmlns:a16="http://schemas.microsoft.com/office/drawing/2014/main" id="{A363A0A7-F738-4899-B782-D7C813DF086F}"/>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7" name="text-rotacija">
            <a:extLst xmlns:a="http://schemas.openxmlformats.org/drawingml/2006/main">
              <a:ext uri="{FF2B5EF4-FFF2-40B4-BE49-F238E27FC236}">
                <a16:creationId xmlns:a16="http://schemas.microsoft.com/office/drawing/2014/main" id="{7B20D55D-2D91-4372-98A1-31E0EE1FAC4B}"/>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20</a:t>
            </a:r>
          </a:p>
        </p:txBody>
      </p:sp>
    </p:spTree>
    <p:extLst>
      <p:ext uri="{BB962C8B-B14F-4D97-AF65-F5344CB8AC3E}">
        <p14:creationId xmlns:p14="http://schemas.microsoft.com/office/powerpoint/2010/main" val="1773981744"/>
      </p:ext>
    </p:extLst>
  </p:cSld>
</p:sld>
</file>

<file path=ppt/slides/slide21.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D0DDE29-46DF-4CAD-85D5-84EC1D54241D}"/>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3F9173-DA5F-44D3-B236-7F9E08DBE3B7}"/>
              </a:ext>
            </a:extLst>
          </p:cNvPr>
          <p:cNvSpPr>
            <a:spLocks xmlns:a="http://schemas.openxmlformats.org/drawingml/2006/main" noGrp="1"/>
          </p:cNvSpPr>
          <p:nvPr/>
        </p:nvSpPr>
        <p:spPr>
          <a:xfrm xmlns:a="http://schemas.openxmlformats.org/drawingml/2006/main">
            <a:off x="9201150" y="3112591"/>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EF9782-FB6A-48B8-B0D3-16CCCD965ACA}"/>
              </a:ext>
            </a:extLst>
          </p:cNvPr>
          <p:cNvSpPr>
            <a:spLocks xmlns:a="http://schemas.openxmlformats.org/drawingml/2006/main" noGrp="1"/>
          </p:cNvSpPr>
          <p:nvPr/>
        </p:nvSpPr>
        <p:spPr>
          <a:xfrm xmlns:a="http://schemas.openxmlformats.org/drawingml/2006/main">
            <a:off x="9201150" y="4089797"/>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71CBB4-47AF-4832-800E-D319A0926DE9}"/>
              </a:ext>
            </a:extLst>
          </p:cNvPr>
          <p:cNvSpPr>
            <a:spLocks xmlns:a="http://schemas.openxmlformats.org/drawingml/2006/main" noGrp="1"/>
          </p:cNvSpPr>
          <p:nvPr/>
        </p:nvSpPr>
        <p:spPr>
          <a:xfrm xmlns:a="http://schemas.openxmlformats.org/drawingml/2006/main">
            <a:off x="9201150" y="5067002"/>
            <a:ext cx="786765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CD93F8-18A1-486A-8F59-F3119D60C103}"/>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6" name="text-source-12">
            <a:extLst xmlns:a="http://schemas.openxmlformats.org/drawingml/2006/main">
              <a:ext uri="{FF2B5EF4-FFF2-40B4-BE49-F238E27FC236}">
                <a16:creationId xmlns:a16="http://schemas.microsoft.com/office/drawing/2014/main" id="{7F84ECEE-1C17-40CF-A0B1-DA935BC829E1}"/>
              </a:ext>
            </a:extLst>
          </p:cNvPr>
          <p:cNvSpPr>
            <a:spLocks xmlns:a="http://schemas.openxmlformats.org/drawingml/2006/main" noGrp="1"/>
          </p:cNvSpPr>
          <p:nvPr/>
        </p:nvSpPr>
        <p:spPr>
          <a:xfrm xmlns:a="http://schemas.openxmlformats.org/drawingml/2006/main">
            <a:off x="1219200" y="1066800"/>
            <a:ext cx="37796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03 · ПРИМЕНА У РАЗВОЈУ</a:t>
            </a:r>
          </a:p>
        </p:txBody>
      </p:sp>
      <p:sp>
        <p:nvSpPr>
          <p:cNvPr id="7" name="heading-source-12">
            <a:extLst xmlns:a="http://schemas.openxmlformats.org/drawingml/2006/main">
              <a:ext uri="{FF2B5EF4-FFF2-40B4-BE49-F238E27FC236}">
                <a16:creationId xmlns:a16="http://schemas.microsoft.com/office/drawing/2014/main" id="{1750EB53-0029-4A83-87D5-31E410F16F18}"/>
              </a:ext>
            </a:extLst>
          </p:cNvPr>
          <p:cNvSpPr>
            <a:spLocks xmlns:a="http://schemas.openxmlformats.org/drawingml/2006/main" noGrp="1"/>
          </p:cNvSpPr>
          <p:nvPr/>
        </p:nvSpPr>
        <p:spPr>
          <a:xfrm xmlns:a="http://schemas.openxmlformats.org/drawingml/2006/main">
            <a:off x="1219200" y="1443930"/>
            <a:ext cx="5300514"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Примена у развоју</a:t>
            </a:r>
          </a:p>
        </p:txBody>
      </p:sp>
      <p:sp>
        <p:nvSpPr>
          <p:cNvPr id="8" name="text-source-12">
            <a:extLst xmlns:a="http://schemas.openxmlformats.org/drawingml/2006/main">
              <a:ext uri="{FF2B5EF4-FFF2-40B4-BE49-F238E27FC236}">
                <a16:creationId xmlns:a16="http://schemas.microsoft.com/office/drawing/2014/main" id="{AFB25631-7461-45C1-AE78-E87EA8E32D02}"/>
              </a:ext>
            </a:extLst>
          </p:cNvPr>
          <p:cNvSpPr>
            <a:spLocks xmlns:a="http://schemas.openxmlformats.org/drawingml/2006/main" noGrp="1"/>
          </p:cNvSpPr>
          <p:nvPr/>
        </p:nvSpPr>
        <p:spPr>
          <a:xfrm xmlns:a="http://schemas.openxmlformats.org/drawingml/2006/main">
            <a:off x="1219200" y="2444055"/>
            <a:ext cx="1157957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Тим примењује тему кроз серверске провере, тестове и ревизионе записе током развоја.</a:t>
            </a:r>
          </a:p>
        </p:txBody>
      </p:sp>
      <p:sp>
        <p:nvSpPr>
          <p:cNvPr id="9" name="text-source-12">
            <a:extLst xmlns:a="http://schemas.openxmlformats.org/drawingml/2006/main">
              <a:ext uri="{FF2B5EF4-FFF2-40B4-BE49-F238E27FC236}">
                <a16:creationId xmlns:a16="http://schemas.microsoft.com/office/drawing/2014/main" id="{3C0B88B1-52E5-40D5-92E2-D80E3A316DE2}"/>
              </a:ext>
            </a:extLst>
          </p:cNvPr>
          <p:cNvSpPr>
            <a:spLocks xmlns:a="http://schemas.openxmlformats.org/drawingml/2006/main" noGrp="1"/>
          </p:cNvSpPr>
          <p:nvPr/>
        </p:nvSpPr>
        <p:spPr>
          <a:xfrm xmlns:a="http://schemas.openxmlformats.org/drawingml/2006/main">
            <a:off x="1219200" y="3112591"/>
            <a:ext cx="2674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РАЗВОЈНИ КОНТЕКСТ</a:t>
            </a:r>
          </a:p>
        </p:txBody>
      </p:sp>
      <p:sp>
        <p:nvSpPr>
          <p:cNvPr id="10" name="text-source-12">
            <a:extLst xmlns:a="http://schemas.openxmlformats.org/drawingml/2006/main">
              <a:ext uri="{FF2B5EF4-FFF2-40B4-BE49-F238E27FC236}">
                <a16:creationId xmlns:a16="http://schemas.microsoft.com/office/drawing/2014/main" id="{DF1DE715-952B-4317-B437-319BED24B28E}"/>
              </a:ext>
            </a:extLst>
          </p:cNvPr>
          <p:cNvSpPr>
            <a:spLocks xmlns:a="http://schemas.openxmlformats.org/drawingml/2006/main" noGrp="1"/>
          </p:cNvSpPr>
          <p:nvPr/>
        </p:nvSpPr>
        <p:spPr>
          <a:xfrm xmlns:a="http://schemas.openxmlformats.org/drawingml/2006/main">
            <a:off x="1219200" y="3613547"/>
            <a:ext cx="419472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1">
                <a:solidFill>
                  <a:srgbClr val="13202D"/>
                </a:solidFill>
                <a:latin typeface="IBM Plex Sans"/>
                <a:ea typeface="IBM Plex Sans"/>
                <a:cs typeface="IBM Plex Sans"/>
              </a:rPr>
              <a:t>Примена принципа у коду</a:t>
            </a:r>
          </a:p>
        </p:txBody>
      </p:sp>
      <p:sp>
        <p:nvSpPr>
          <p:cNvPr id="11" name="text-source-12">
            <a:extLst xmlns:a="http://schemas.openxmlformats.org/drawingml/2006/main">
              <a:ext uri="{FF2B5EF4-FFF2-40B4-BE49-F238E27FC236}">
                <a16:creationId xmlns:a16="http://schemas.microsoft.com/office/drawing/2014/main" id="{FEFB8EFA-29C9-4A66-B2F5-DC4ED042098C}"/>
              </a:ext>
            </a:extLst>
          </p:cNvPr>
          <p:cNvSpPr>
            <a:spLocks xmlns:a="http://schemas.openxmlformats.org/drawingml/2006/main" noGrp="1"/>
          </p:cNvSpPr>
          <p:nvPr/>
        </p:nvSpPr>
        <p:spPr>
          <a:xfrm xmlns:a="http://schemas.openxmlformats.org/drawingml/2006/main">
            <a:off x="1219200" y="4211687"/>
            <a:ext cx="722069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Развојни тим унапред одређује које ситуације мењају ниво </a:t>
            </a:r>
          </a:p>
        </p:txBody>
      </p:sp>
      <p:sp>
        <p:nvSpPr>
          <p:cNvPr id="12" name="text-source-12">
            <a:extLst xmlns:a="http://schemas.openxmlformats.org/drawingml/2006/main">
              <a:ext uri="{FF2B5EF4-FFF2-40B4-BE49-F238E27FC236}">
                <a16:creationId xmlns:a16="http://schemas.microsoft.com/office/drawing/2014/main" id="{8621724A-1511-4F51-9798-3FEA1FF0E2A0}"/>
              </a:ext>
            </a:extLst>
          </p:cNvPr>
          <p:cNvSpPr>
            <a:spLocks xmlns:a="http://schemas.openxmlformats.org/drawingml/2006/main" noGrp="1"/>
          </p:cNvSpPr>
          <p:nvPr/>
        </p:nvSpPr>
        <p:spPr>
          <a:xfrm xmlns:a="http://schemas.openxmlformats.org/drawingml/2006/main">
            <a:off x="1219200" y="4558308"/>
            <a:ext cx="7572821"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поверења: промена привилегије, приступ осетљивом податку </a:t>
            </a:r>
          </a:p>
        </p:txBody>
      </p:sp>
      <p:sp>
        <p:nvSpPr>
          <p:cNvPr id="13" name="text-source-12">
            <a:extLst xmlns:a="http://schemas.openxmlformats.org/drawingml/2006/main">
              <a:ext uri="{FF2B5EF4-FFF2-40B4-BE49-F238E27FC236}">
                <a16:creationId xmlns:a16="http://schemas.microsoft.com/office/drawing/2014/main" id="{0787A1DA-074B-43D5-B0D0-01E91CF17A21}"/>
              </a:ext>
            </a:extLst>
          </p:cNvPr>
          <p:cNvSpPr>
            <a:spLocks xmlns:a="http://schemas.openxmlformats.org/drawingml/2006/main" noGrp="1"/>
          </p:cNvSpPr>
          <p:nvPr/>
        </p:nvSpPr>
        <p:spPr>
          <a:xfrm xmlns:a="http://schemas.openxmlformats.org/drawingml/2006/main">
            <a:off x="1219200" y="4904929"/>
            <a:ext cx="731237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или сумњива пријава. Тајне се референцирају из безбедног </a:t>
            </a:r>
          </a:p>
        </p:txBody>
      </p:sp>
      <p:sp>
        <p:nvSpPr>
          <p:cNvPr id="14" name="text-source-12">
            <a:extLst xmlns:a="http://schemas.openxmlformats.org/drawingml/2006/main">
              <a:ext uri="{FF2B5EF4-FFF2-40B4-BE49-F238E27FC236}">
                <a16:creationId xmlns:a16="http://schemas.microsoft.com/office/drawing/2014/main" id="{4725D4FD-AC50-4918-B161-2DE1EB161247}"/>
              </a:ext>
            </a:extLst>
          </p:cNvPr>
          <p:cNvSpPr>
            <a:spLocks xmlns:a="http://schemas.openxmlformats.org/drawingml/2006/main" noGrp="1"/>
          </p:cNvSpPr>
          <p:nvPr/>
        </p:nvSpPr>
        <p:spPr>
          <a:xfrm xmlns:a="http://schemas.openxmlformats.org/drawingml/2006/main">
            <a:off x="1219200" y="5251549"/>
            <a:ext cx="729198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извора и никада се не преносе кроз код, тестне исписе или </a:t>
            </a:r>
          </a:p>
        </p:txBody>
      </p:sp>
      <p:sp>
        <p:nvSpPr>
          <p:cNvPr id="15" name="text-source-12">
            <a:extLst xmlns:a="http://schemas.openxmlformats.org/drawingml/2006/main">
              <a:ext uri="{FF2B5EF4-FFF2-40B4-BE49-F238E27FC236}">
                <a16:creationId xmlns:a16="http://schemas.microsoft.com/office/drawing/2014/main" id="{1BD3A20F-E59D-4071-B274-F125A7C4FBF5}"/>
              </a:ext>
            </a:extLst>
          </p:cNvPr>
          <p:cNvSpPr>
            <a:spLocks xmlns:a="http://schemas.openxmlformats.org/drawingml/2006/main" noGrp="1"/>
          </p:cNvSpPr>
          <p:nvPr/>
        </p:nvSpPr>
        <p:spPr>
          <a:xfrm xmlns:a="http://schemas.openxmlformats.org/drawingml/2006/main">
            <a:off x="1219200" y="5598170"/>
            <a:ext cx="332690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0">
                <a:solidFill>
                  <a:srgbClr val="44505D"/>
                </a:solidFill>
                <a:latin typeface="IBM Plex Sans"/>
                <a:ea typeface="IBM Plex Sans"/>
                <a:cs typeface="IBM Plex Sans"/>
              </a:rPr>
              <a:t>историју репозиторијума.</a:t>
            </a:r>
          </a:p>
        </p:txBody>
      </p:sp>
      <p:sp>
        <p:nvSpPr>
          <p:cNvPr id="16" name="text-source-12">
            <a:extLst xmlns:a="http://schemas.openxmlformats.org/drawingml/2006/main">
              <a:ext uri="{FF2B5EF4-FFF2-40B4-BE49-F238E27FC236}">
                <a16:creationId xmlns:a16="http://schemas.microsoft.com/office/drawing/2014/main" id="{5CA2946A-19C9-48C8-81C6-9AF77F678DFF}"/>
              </a:ext>
            </a:extLst>
          </p:cNvPr>
          <p:cNvSpPr>
            <a:spLocks xmlns:a="http://schemas.openxmlformats.org/drawingml/2006/main" noGrp="1"/>
          </p:cNvSpPr>
          <p:nvPr/>
        </p:nvSpPr>
        <p:spPr>
          <a:xfrm xmlns:a="http://schemas.openxmlformats.org/drawingml/2006/main">
            <a:off x="920115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7" name="text-source-12">
            <a:extLst xmlns:a="http://schemas.openxmlformats.org/drawingml/2006/main">
              <a:ext uri="{FF2B5EF4-FFF2-40B4-BE49-F238E27FC236}">
                <a16:creationId xmlns:a16="http://schemas.microsoft.com/office/drawing/2014/main" id="{2EAC18EF-6E54-4B95-8E62-0C2B8BCD3F46}"/>
              </a:ext>
            </a:extLst>
          </p:cNvPr>
          <p:cNvSpPr>
            <a:spLocks xmlns:a="http://schemas.openxmlformats.org/drawingml/2006/main" noGrp="1"/>
          </p:cNvSpPr>
          <p:nvPr/>
        </p:nvSpPr>
        <p:spPr>
          <a:xfrm xmlns:a="http://schemas.openxmlformats.org/drawingml/2006/main">
            <a:off x="10229850" y="3303091"/>
            <a:ext cx="481429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Дефинисана одлука и њена граница.</a:t>
            </a:r>
          </a:p>
        </p:txBody>
      </p:sp>
      <p:sp>
        <p:nvSpPr>
          <p:cNvPr id="18" name="text-source-12">
            <a:extLst xmlns:a="http://schemas.openxmlformats.org/drawingml/2006/main">
              <a:ext uri="{FF2B5EF4-FFF2-40B4-BE49-F238E27FC236}">
                <a16:creationId xmlns:a16="http://schemas.microsoft.com/office/drawing/2014/main" id="{625D6AD4-3B9A-4D10-AAD2-9DB0F5EB4CC7}"/>
              </a:ext>
            </a:extLst>
          </p:cNvPr>
          <p:cNvSpPr>
            <a:spLocks xmlns:a="http://schemas.openxmlformats.org/drawingml/2006/main" noGrp="1"/>
          </p:cNvSpPr>
          <p:nvPr/>
        </p:nvSpPr>
        <p:spPr>
          <a:xfrm xmlns:a="http://schemas.openxmlformats.org/drawingml/2006/main">
            <a:off x="9201150" y="4289822"/>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9" name="text-source-12">
            <a:extLst xmlns:a="http://schemas.openxmlformats.org/drawingml/2006/main">
              <a:ext uri="{FF2B5EF4-FFF2-40B4-BE49-F238E27FC236}">
                <a16:creationId xmlns:a16="http://schemas.microsoft.com/office/drawing/2014/main" id="{A946B25E-25EA-4549-9896-D97D4A946D73}"/>
              </a:ext>
            </a:extLst>
          </p:cNvPr>
          <p:cNvSpPr>
            <a:spLocks xmlns:a="http://schemas.openxmlformats.org/drawingml/2006/main" noGrp="1"/>
          </p:cNvSpPr>
          <p:nvPr/>
        </p:nvSpPr>
        <p:spPr>
          <a:xfrm xmlns:a="http://schemas.openxmlformats.org/drawingml/2006/main">
            <a:off x="10229850" y="4280297"/>
            <a:ext cx="480580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Серверска имплементација провере.</a:t>
            </a:r>
          </a:p>
        </p:txBody>
      </p:sp>
      <p:sp>
        <p:nvSpPr>
          <p:cNvPr id="20" name="text-source-12">
            <a:extLst xmlns:a="http://schemas.openxmlformats.org/drawingml/2006/main">
              <a:ext uri="{FF2B5EF4-FFF2-40B4-BE49-F238E27FC236}">
                <a16:creationId xmlns:a16="http://schemas.microsoft.com/office/drawing/2014/main" id="{8E2B25C6-7AE7-4352-941B-7B78C0A345FC}"/>
              </a:ext>
            </a:extLst>
          </p:cNvPr>
          <p:cNvSpPr>
            <a:spLocks xmlns:a="http://schemas.openxmlformats.org/drawingml/2006/main" noGrp="1"/>
          </p:cNvSpPr>
          <p:nvPr/>
        </p:nvSpPr>
        <p:spPr>
          <a:xfrm xmlns:a="http://schemas.openxmlformats.org/drawingml/2006/main">
            <a:off x="9201150" y="5267027"/>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1" name="text-source-12">
            <a:extLst xmlns:a="http://schemas.openxmlformats.org/drawingml/2006/main">
              <a:ext uri="{FF2B5EF4-FFF2-40B4-BE49-F238E27FC236}">
                <a16:creationId xmlns:a16="http://schemas.microsoft.com/office/drawing/2014/main" id="{4CE6453C-1327-4896-9751-7227A72393C4}"/>
              </a:ext>
            </a:extLst>
          </p:cNvPr>
          <p:cNvSpPr>
            <a:spLocks xmlns:a="http://schemas.openxmlformats.org/drawingml/2006/main" noGrp="1"/>
          </p:cNvSpPr>
          <p:nvPr/>
        </p:nvSpPr>
        <p:spPr>
          <a:xfrm xmlns:a="http://schemas.openxmlformats.org/drawingml/2006/main">
            <a:off x="10229850" y="5257502"/>
            <a:ext cx="396775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Позитиван и негативан доказ.</a:t>
            </a:r>
          </a:p>
        </p:txBody>
      </p:sp>
      <p:sp>
        <p:nvSpPr>
          <p:cNvPr id="22" name="text-source-12">
            <a:extLst xmlns:a="http://schemas.openxmlformats.org/drawingml/2006/main">
              <a:ext uri="{FF2B5EF4-FFF2-40B4-BE49-F238E27FC236}">
                <a16:creationId xmlns:a16="http://schemas.microsoft.com/office/drawing/2014/main" id="{3C9D998C-99A5-4F93-A017-FB6E44F5D07B}"/>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3" name="text-source-12">
            <a:extLst xmlns:a="http://schemas.openxmlformats.org/drawingml/2006/main">
              <a:ext uri="{FF2B5EF4-FFF2-40B4-BE49-F238E27FC236}">
                <a16:creationId xmlns:a16="http://schemas.microsoft.com/office/drawing/2014/main" id="{68137F28-F670-413B-87F7-096FF41CB5B5}"/>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21</a:t>
            </a:r>
          </a:p>
        </p:txBody>
      </p:sp>
    </p:spTree>
    <p:extLst>
      <p:ext uri="{BB962C8B-B14F-4D97-AF65-F5344CB8AC3E}">
        <p14:creationId xmlns:p14="http://schemas.microsoft.com/office/powerpoint/2010/main" val="1860356770"/>
      </p:ext>
    </p:extLst>
  </p:cSld>
</p:sld>
</file>

<file path=ppt/slides/slide22.xml><?xml version="1.0" encoding="utf-8"?>
<p:sld xmlns:p="http://schemas.openxmlformats.org/presentationml/2006/main">
  <p:cSld>
    <p:bg>
      <p:bgPr>
        <a:solidFill xmlns:a="http://schemas.openxmlformats.org/drawingml/2006/main">
          <a:srgbClr val="E6E8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A595C69-BC26-4AC9-826B-6E3916C148F3}"/>
              </a:ext>
            </a:extLst>
          </p:cNvPr>
          <p:cNvSpPr>
            <a:spLocks xmlns:a="http://schemas.openxmlformats.org/drawingml/2006/main" noGrp="1"/>
          </p:cNvSpPr>
          <p:nvPr/>
        </p:nvSpPr>
        <p:spPr>
          <a:xfrm xmlns:a="http://schemas.openxmlformats.org/drawingml/2006/main">
            <a:off x="6400800" y="6158657"/>
            <a:ext cx="2266652"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2" name="">
            <a:extLst xmlns:a="http://schemas.openxmlformats.org/drawingml/2006/main">
              <a:ext uri="{FF2B5EF4-FFF2-40B4-BE49-F238E27FC236}">
                <a16:creationId xmlns:a16="http://schemas.microsoft.com/office/drawing/2014/main" id="{50ED4461-F792-4A68-A9F5-CFE718162AF4}"/>
              </a:ext>
            </a:extLst>
          </p:cNvPr>
          <p:cNvSpPr>
            <a:spLocks xmlns:a="http://schemas.openxmlformats.org/drawingml/2006/main" noGrp="1"/>
          </p:cNvSpPr>
          <p:nvPr/>
        </p:nvSpPr>
        <p:spPr>
          <a:xfrm xmlns:a="http://schemas.openxmlformats.org/drawingml/2006/main">
            <a:off x="8781752" y="6158657"/>
            <a:ext cx="1791146"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3" name="">
            <a:extLst xmlns:a="http://schemas.openxmlformats.org/drawingml/2006/main">
              <a:ext uri="{FF2B5EF4-FFF2-40B4-BE49-F238E27FC236}">
                <a16:creationId xmlns:a16="http://schemas.microsoft.com/office/drawing/2014/main" id="{ECCAEC31-5B40-499E-8414-F2C4BAD53684}"/>
              </a:ext>
            </a:extLst>
          </p:cNvPr>
          <p:cNvSpPr>
            <a:spLocks xmlns:a="http://schemas.openxmlformats.org/drawingml/2006/main" noGrp="1"/>
          </p:cNvSpPr>
          <p:nvPr/>
        </p:nvSpPr>
        <p:spPr>
          <a:xfrm xmlns:a="http://schemas.openxmlformats.org/drawingml/2006/main">
            <a:off x="10687199" y="6158657"/>
            <a:ext cx="2070795"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4" name="">
            <a:extLst xmlns:a="http://schemas.openxmlformats.org/drawingml/2006/main">
              <a:ext uri="{FF2B5EF4-FFF2-40B4-BE49-F238E27FC236}">
                <a16:creationId xmlns:a16="http://schemas.microsoft.com/office/drawing/2014/main" id="{F8F30B83-1145-4997-9EBE-7E8B6E85EEAE}"/>
              </a:ext>
            </a:extLst>
          </p:cNvPr>
          <p:cNvSpPr>
            <a:spLocks xmlns:a="http://schemas.openxmlformats.org/drawingml/2006/main" noGrp="1"/>
          </p:cNvSpPr>
          <p:nvPr/>
        </p:nvSpPr>
        <p:spPr>
          <a:xfrm xmlns:a="http://schemas.openxmlformats.org/drawingml/2006/main">
            <a:off x="12872293" y="6158657"/>
            <a:ext cx="1323380" cy="49143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9525">
            <a:solidFill>
              <a:srgbClr val="B5BCD0"/>
            </a:solidFill>
          </a:ln>
        </p:spPr>
      </p:sp>
      <p:sp>
        <p:nvSpPr>
          <p:cNvPr id="5" name="">
            <a:extLst xmlns:a="http://schemas.openxmlformats.org/drawingml/2006/main">
              <a:ext uri="{FF2B5EF4-FFF2-40B4-BE49-F238E27FC236}">
                <a16:creationId xmlns:a16="http://schemas.microsoft.com/office/drawing/2014/main" id="{06709395-8BE8-4A47-BF9C-917EAF199880}"/>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B5BCD0"/>
          </a:solidFill>
          <a:ln xmlns:a="http://schemas.openxmlformats.org/drawingml/2006/main" w="0">
            <a:noFill/>
          </a:ln>
        </p:spPr>
      </p:sp>
      <p:sp>
        <p:nvSpPr>
          <p:cNvPr id="6" name="text-deo4">
            <a:extLst xmlns:a="http://schemas.openxmlformats.org/drawingml/2006/main">
              <a:ext uri="{FF2B5EF4-FFF2-40B4-BE49-F238E27FC236}">
                <a16:creationId xmlns:a16="http://schemas.microsoft.com/office/drawing/2014/main" id="{E4C1E469-2DF5-4BE1-9BF6-D83298A929B3}"/>
              </a:ext>
            </a:extLst>
          </p:cNvPr>
          <p:cNvSpPr>
            <a:spLocks xmlns:a="http://schemas.openxmlformats.org/drawingml/2006/main" noGrp="1"/>
          </p:cNvSpPr>
          <p:nvPr/>
        </p:nvSpPr>
        <p:spPr>
          <a:xfrm xmlns:a="http://schemas.openxmlformats.org/drawingml/2006/main">
            <a:off x="1219200" y="3257550"/>
            <a:ext cx="33909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0">
                <a:latin typeface="IBM Plex Mono"/>
                <a:ea typeface="IBM Plex Mono"/>
                <a:cs typeface="IBM Plex Mono"/>
              </a:defRPr>
            </a:defPPr>
          </a:lstStyle>
          <a:p xmlns:a="http://schemas.openxmlformats.org/drawingml/2006/main">
            <a:pPr algn="l">
              <a:defRPr sz="21000">
                <a:latin typeface="IBM Plex Mono"/>
                <a:ea typeface="IBM Plex Mono"/>
                <a:cs typeface="IBM Plex Mono"/>
              </a:defRPr>
            </a:pPr>
            <a:r>
              <a:rPr sz="21000" b="0">
                <a:solidFill>
                  <a:srgbClr val="3A46A5"/>
                </a:solidFill>
                <a:latin typeface="IBM Plex Mono"/>
                <a:ea typeface="IBM Plex Mono"/>
                <a:cs typeface="IBM Plex Mono"/>
              </a:rPr>
              <a:t>04</a:t>
            </a:r>
          </a:p>
        </p:txBody>
      </p:sp>
      <p:sp>
        <p:nvSpPr>
          <p:cNvPr id="7" name="text-deo4">
            <a:extLst xmlns:a="http://schemas.openxmlformats.org/drawingml/2006/main">
              <a:ext uri="{FF2B5EF4-FFF2-40B4-BE49-F238E27FC236}">
                <a16:creationId xmlns:a16="http://schemas.microsoft.com/office/drawing/2014/main" id="{0147329E-6BFF-4DE0-B9F4-2E213E35453C}"/>
              </a:ext>
            </a:extLst>
          </p:cNvPr>
          <p:cNvSpPr>
            <a:spLocks xmlns:a="http://schemas.openxmlformats.org/drawingml/2006/main" noGrp="1"/>
          </p:cNvSpPr>
          <p:nvPr/>
        </p:nvSpPr>
        <p:spPr>
          <a:xfrm xmlns:a="http://schemas.openxmlformats.org/drawingml/2006/main">
            <a:off x="6400800" y="3331964"/>
            <a:ext cx="206127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ЧЕТВРТИ ДЕО</a:t>
            </a:r>
          </a:p>
        </p:txBody>
      </p:sp>
      <p:sp>
        <p:nvSpPr>
          <p:cNvPr id="8" name="heading-deo4">
            <a:extLst xmlns:a="http://schemas.openxmlformats.org/drawingml/2006/main">
              <a:ext uri="{FF2B5EF4-FFF2-40B4-BE49-F238E27FC236}">
                <a16:creationId xmlns:a16="http://schemas.microsoft.com/office/drawing/2014/main" id="{FF0181AE-2CD7-468F-8AEB-33B20AFFCA04}"/>
              </a:ext>
            </a:extLst>
          </p:cNvPr>
          <p:cNvSpPr>
            <a:spLocks xmlns:a="http://schemas.openxmlformats.org/drawingml/2006/main" noGrp="1"/>
          </p:cNvSpPr>
          <p:nvPr/>
        </p:nvSpPr>
        <p:spPr>
          <a:xfrm xmlns:a="http://schemas.openxmlformats.org/drawingml/2006/main">
            <a:off x="6400800" y="3804345"/>
            <a:ext cx="7446466"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578"/>
          </a:bodyPr>
          <a:lstStyle xmlns:a="http://schemas.openxmlformats.org/drawingml/2006/main">
            <a:defPPr algn="l">
              <a:defRPr sz="7200">
                <a:latin typeface="IBM Plex Sans"/>
                <a:ea typeface="IBM Plex Sans"/>
                <a:cs typeface="IBM Plex Sans"/>
              </a:defRPr>
            </a:defPPr>
          </a:lstStyle>
          <a:p xmlns:a="http://schemas.openxmlformats.org/drawingml/2006/main">
            <a:pPr algn="l">
              <a:defRPr sz="7200">
                <a:latin typeface="IBM Plex Sans"/>
                <a:ea typeface="IBM Plex Sans"/>
                <a:cs typeface="IBM Plex Sans"/>
              </a:defRPr>
            </a:pPr>
            <a:r>
              <a:rPr sz="7200" b="1">
                <a:solidFill>
                  <a:srgbClr val="13202D"/>
                </a:solidFill>
                <a:latin typeface="IBM Plex Sans"/>
                <a:ea typeface="IBM Plex Sans"/>
                <a:cs typeface="IBM Plex Sans"/>
              </a:rPr>
              <a:t>Провера и доказ</a:t>
            </a:r>
          </a:p>
        </p:txBody>
      </p:sp>
      <p:sp>
        <p:nvSpPr>
          <p:cNvPr id="9" name="text-deo4">
            <a:extLst xmlns:a="http://schemas.openxmlformats.org/drawingml/2006/main">
              <a:ext uri="{FF2B5EF4-FFF2-40B4-BE49-F238E27FC236}">
                <a16:creationId xmlns:a16="http://schemas.microsoft.com/office/drawing/2014/main" id="{29DA09D6-453D-4BBF-A2D4-2AB577878EA5}"/>
              </a:ext>
            </a:extLst>
          </p:cNvPr>
          <p:cNvSpPr>
            <a:spLocks xmlns:a="http://schemas.openxmlformats.org/drawingml/2006/main" noGrp="1"/>
          </p:cNvSpPr>
          <p:nvPr/>
        </p:nvSpPr>
        <p:spPr>
          <a:xfrm xmlns:a="http://schemas.openxmlformats.org/drawingml/2006/main">
            <a:off x="6400800" y="5154960"/>
            <a:ext cx="908670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Одбијање, опозив и истек морају бити видљиви у тесту и ревизионом </a:t>
            </a:r>
          </a:p>
        </p:txBody>
      </p:sp>
      <p:sp>
        <p:nvSpPr>
          <p:cNvPr id="10" name="text-deo4">
            <a:extLst xmlns:a="http://schemas.openxmlformats.org/drawingml/2006/main">
              <a:ext uri="{FF2B5EF4-FFF2-40B4-BE49-F238E27FC236}">
                <a16:creationId xmlns:a16="http://schemas.microsoft.com/office/drawing/2014/main" id="{7C04C2AC-A8D9-4C4F-859D-E77895B3C1B4}"/>
              </a:ext>
            </a:extLst>
          </p:cNvPr>
          <p:cNvSpPr>
            <a:spLocks xmlns:a="http://schemas.openxmlformats.org/drawingml/2006/main" noGrp="1"/>
          </p:cNvSpPr>
          <p:nvPr/>
        </p:nvSpPr>
        <p:spPr>
          <a:xfrm xmlns:a="http://schemas.openxmlformats.org/drawingml/2006/main">
            <a:off x="6400800" y="5528221"/>
            <a:ext cx="126623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запису.</a:t>
            </a:r>
          </a:p>
        </p:txBody>
      </p:sp>
      <p:sp>
        <p:nvSpPr>
          <p:cNvPr id="11" name="text-deo4">
            <a:extLst xmlns:a="http://schemas.openxmlformats.org/drawingml/2006/main">
              <a:ext uri="{FF2B5EF4-FFF2-40B4-BE49-F238E27FC236}">
                <a16:creationId xmlns:a16="http://schemas.microsoft.com/office/drawing/2014/main" id="{388DE4F1-3CE1-48EC-B780-CA2673E38133}"/>
              </a:ext>
            </a:extLst>
          </p:cNvPr>
          <p:cNvSpPr>
            <a:spLocks xmlns:a="http://schemas.openxmlformats.org/drawingml/2006/main" noGrp="1"/>
          </p:cNvSpPr>
          <p:nvPr/>
        </p:nvSpPr>
        <p:spPr>
          <a:xfrm xmlns:a="http://schemas.openxmlformats.org/drawingml/2006/main">
            <a:off x="6600825" y="6244382"/>
            <a:ext cx="220950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step-up политика</a:t>
            </a:r>
          </a:p>
        </p:txBody>
      </p:sp>
      <p:sp>
        <p:nvSpPr>
          <p:cNvPr id="12" name="text-deo4">
            <a:extLst xmlns:a="http://schemas.openxmlformats.org/drawingml/2006/main">
              <a:ext uri="{FF2B5EF4-FFF2-40B4-BE49-F238E27FC236}">
                <a16:creationId xmlns:a16="http://schemas.microsoft.com/office/drawing/2014/main" id="{97F948D9-4142-4059-853C-3E4E3A455105}"/>
              </a:ext>
            </a:extLst>
          </p:cNvPr>
          <p:cNvSpPr>
            <a:spLocks xmlns:a="http://schemas.openxmlformats.org/drawingml/2006/main" noGrp="1"/>
          </p:cNvSpPr>
          <p:nvPr/>
        </p:nvSpPr>
        <p:spPr>
          <a:xfrm xmlns:a="http://schemas.openxmlformats.org/drawingml/2006/main">
            <a:off x="8981777" y="6244382"/>
            <a:ext cx="173399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тест опозива</a:t>
            </a:r>
          </a:p>
        </p:txBody>
      </p:sp>
      <p:sp>
        <p:nvSpPr>
          <p:cNvPr id="13" name="text-deo4">
            <a:extLst xmlns:a="http://schemas.openxmlformats.org/drawingml/2006/main">
              <a:ext uri="{FF2B5EF4-FFF2-40B4-BE49-F238E27FC236}">
                <a16:creationId xmlns:a16="http://schemas.microsoft.com/office/drawing/2014/main" id="{7F9A8A12-D962-40DD-893A-B047848D96B0}"/>
              </a:ext>
            </a:extLst>
          </p:cNvPr>
          <p:cNvSpPr>
            <a:spLocks xmlns:a="http://schemas.openxmlformats.org/drawingml/2006/main" noGrp="1"/>
          </p:cNvSpPr>
          <p:nvPr/>
        </p:nvSpPr>
        <p:spPr>
          <a:xfrm xmlns:a="http://schemas.openxmlformats.org/drawingml/2006/main">
            <a:off x="10887224" y="6244382"/>
            <a:ext cx="201364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без тајни у логу</a:t>
            </a:r>
          </a:p>
        </p:txBody>
      </p:sp>
      <p:sp>
        <p:nvSpPr>
          <p:cNvPr id="14" name="text-deo4">
            <a:extLst xmlns:a="http://schemas.openxmlformats.org/drawingml/2006/main">
              <a:ext uri="{FF2B5EF4-FFF2-40B4-BE49-F238E27FC236}">
                <a16:creationId xmlns:a16="http://schemas.microsoft.com/office/drawing/2014/main" id="{FCF37A32-2C16-40EE-9606-482CF3CBFF5E}"/>
              </a:ext>
            </a:extLst>
          </p:cNvPr>
          <p:cNvSpPr>
            <a:spLocks xmlns:a="http://schemas.openxmlformats.org/drawingml/2006/main" noGrp="1"/>
          </p:cNvSpPr>
          <p:nvPr/>
        </p:nvSpPr>
        <p:spPr>
          <a:xfrm xmlns:a="http://schemas.openxmlformats.org/drawingml/2006/main">
            <a:off x="13072318" y="6244382"/>
            <a:ext cx="126623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13202D"/>
                </a:solidFill>
                <a:latin typeface="IBM Plex Sans"/>
                <a:ea typeface="IBM Plex Sans"/>
                <a:cs typeface="IBM Plex Sans"/>
              </a:rPr>
              <a:t>пројекат</a:t>
            </a:r>
          </a:p>
        </p:txBody>
      </p:sp>
      <p:sp>
        <p:nvSpPr>
          <p:cNvPr id="15" name="text-deo4">
            <a:extLst xmlns:a="http://schemas.openxmlformats.org/drawingml/2006/main">
              <a:ext uri="{FF2B5EF4-FFF2-40B4-BE49-F238E27FC236}">
                <a16:creationId xmlns:a16="http://schemas.microsoft.com/office/drawing/2014/main" id="{50B883F8-BE1E-4AB8-9A5E-E5108EC4B921}"/>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6" name="text-deo4">
            <a:extLst xmlns:a="http://schemas.openxmlformats.org/drawingml/2006/main">
              <a:ext uri="{FF2B5EF4-FFF2-40B4-BE49-F238E27FC236}">
                <a16:creationId xmlns:a16="http://schemas.microsoft.com/office/drawing/2014/main" id="{3DF4B8A6-87BF-438C-B154-3A9D3EA38428}"/>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22</a:t>
            </a:r>
          </a:p>
        </p:txBody>
      </p:sp>
    </p:spTree>
    <p:extLst>
      <p:ext uri="{BB962C8B-B14F-4D97-AF65-F5344CB8AC3E}">
        <p14:creationId xmlns:p14="http://schemas.microsoft.com/office/powerpoint/2010/main" val="680759391"/>
      </p:ext>
    </p:extLst>
  </p:cSld>
</p:sld>
</file>

<file path=ppt/slides/slide23.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6F023B88-F1FE-4460-BDB1-724FC09FA730}"/>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BA0DD5-F49C-4E52-B716-45C3F2BD5FC5}"/>
              </a:ext>
            </a:extLst>
          </p:cNvPr>
          <p:cNvSpPr>
            <a:spLocks xmlns:a="http://schemas.openxmlformats.org/drawingml/2006/main" noGrp="1"/>
          </p:cNvSpPr>
          <p:nvPr/>
        </p:nvSpPr>
        <p:spPr>
          <a:xfrm xmlns:a="http://schemas.openxmlformats.org/drawingml/2006/main">
            <a:off x="1219200" y="2434530"/>
            <a:ext cx="10287000" cy="5915918"/>
          </a:xfrm>
          <a:prstGeom xmlns:a="http://schemas.openxmlformats.org/drawingml/2006/main" prst="roundRect">
            <a:avLst>
              <a:gd name="adj" fmla="val 2576"/>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0A126595-2234-4816-9F43-437B31022F4D}"/>
              </a:ext>
            </a:extLst>
          </p:cNvPr>
          <p:cNvSpPr>
            <a:spLocks xmlns:a="http://schemas.openxmlformats.org/drawingml/2006/main" noGrp="1"/>
          </p:cNvSpPr>
          <p:nvPr/>
        </p:nvSpPr>
        <p:spPr>
          <a:xfrm xmlns:a="http://schemas.openxmlformats.org/drawingml/2006/main">
            <a:off x="11811000" y="2434530"/>
            <a:ext cx="5257800" cy="1896963"/>
          </a:xfrm>
          <a:prstGeom xmlns:a="http://schemas.openxmlformats.org/drawingml/2006/main" prst="roundRect">
            <a:avLst>
              <a:gd name="adj" fmla="val 6025"/>
            </a:avLst>
          </a:prstGeom>
          <a:solidFill xmlns:a="http://schemas.openxmlformats.org/drawingml/2006/main">
            <a:srgbClr val="E6E8EE"/>
          </a:solidFill>
          <a:ln xmlns:a="http://schemas.openxmlformats.org/drawingml/2006/main" w="0">
            <a:noFill/>
          </a:ln>
        </p:spPr>
      </p:sp>
      <p:sp>
        <p:nvSpPr>
          <p:cNvPr id="4" name="rounded-banner-accent">
            <a:extLst xmlns:a="http://schemas.openxmlformats.org/drawingml/2006/main">
              <a:ext uri="{FF2B5EF4-FFF2-40B4-BE49-F238E27FC236}">
                <a16:creationId xmlns:a16="http://schemas.microsoft.com/office/drawing/2014/main" id="{6A29B2DD-C32E-4168-A530-BF00A72E4DBE}"/>
              </a:ext>
            </a:extLst>
          </p:cNvPr>
          <p:cNvSpPr>
            <a:spLocks xmlns:a="http://schemas.openxmlformats.org/drawingml/2006/main" noGrp="1"/>
          </p:cNvSpPr>
          <p:nvPr/>
        </p:nvSpPr>
        <p:spPr>
          <a:xfrm xmlns:a="http://schemas.openxmlformats.org/drawingml/2006/main">
            <a:off x="11811000" y="2434530"/>
            <a:ext cx="114300" cy="1896963"/>
          </a:xfrm>
          <a:custGeom xmlns:a="http://schemas.openxmlformats.org/drawingml/2006/main">
            <a:pathLst>
              <a:path w="114300" h="1896963">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782663"/>
                </a:lnTo>
                <a:lnTo>
                  <a:pt x="61" y="1786403"/>
                </a:lnTo>
                <a:lnTo>
                  <a:pt x="245" y="1790139"/>
                </a:lnTo>
                <a:lnTo>
                  <a:pt x="550" y="1793867"/>
                </a:lnTo>
                <a:lnTo>
                  <a:pt x="978" y="1797582"/>
                </a:lnTo>
                <a:lnTo>
                  <a:pt x="1527" y="1801282"/>
                </a:lnTo>
                <a:lnTo>
                  <a:pt x="2196" y="1804962"/>
                </a:lnTo>
                <a:lnTo>
                  <a:pt x="2986" y="1808618"/>
                </a:lnTo>
                <a:lnTo>
                  <a:pt x="3895" y="1812246"/>
                </a:lnTo>
                <a:lnTo>
                  <a:pt x="4922" y="1815843"/>
                </a:lnTo>
                <a:lnTo>
                  <a:pt x="6066" y="1819404"/>
                </a:lnTo>
                <a:lnTo>
                  <a:pt x="7326" y="1822925"/>
                </a:lnTo>
                <a:lnTo>
                  <a:pt x="8701" y="1826404"/>
                </a:lnTo>
                <a:lnTo>
                  <a:pt x="10188" y="1829836"/>
                </a:lnTo>
                <a:lnTo>
                  <a:pt x="11787" y="1833217"/>
                </a:lnTo>
                <a:lnTo>
                  <a:pt x="13496" y="1836544"/>
                </a:lnTo>
                <a:lnTo>
                  <a:pt x="15313" y="1839813"/>
                </a:lnTo>
                <a:lnTo>
                  <a:pt x="17236" y="1843021"/>
                </a:lnTo>
                <a:lnTo>
                  <a:pt x="19263" y="1846165"/>
                </a:lnTo>
                <a:lnTo>
                  <a:pt x="21392" y="1849240"/>
                </a:lnTo>
                <a:lnTo>
                  <a:pt x="23620" y="1852245"/>
                </a:lnTo>
                <a:lnTo>
                  <a:pt x="25945" y="1855174"/>
                </a:lnTo>
                <a:lnTo>
                  <a:pt x="28365" y="1858027"/>
                </a:lnTo>
                <a:lnTo>
                  <a:pt x="30877" y="1860798"/>
                </a:lnTo>
                <a:lnTo>
                  <a:pt x="33478" y="1863486"/>
                </a:lnTo>
                <a:lnTo>
                  <a:pt x="36165" y="1866087"/>
                </a:lnTo>
                <a:lnTo>
                  <a:pt x="38937" y="1868599"/>
                </a:lnTo>
                <a:lnTo>
                  <a:pt x="41789" y="1871018"/>
                </a:lnTo>
                <a:lnTo>
                  <a:pt x="44719" y="1873344"/>
                </a:lnTo>
                <a:lnTo>
                  <a:pt x="47723" y="1875572"/>
                </a:lnTo>
                <a:lnTo>
                  <a:pt x="50798" y="1877700"/>
                </a:lnTo>
                <a:lnTo>
                  <a:pt x="53942" y="1879727"/>
                </a:lnTo>
                <a:lnTo>
                  <a:pt x="57150" y="1881650"/>
                </a:lnTo>
                <a:lnTo>
                  <a:pt x="60419" y="1883467"/>
                </a:lnTo>
                <a:lnTo>
                  <a:pt x="63746" y="1885176"/>
                </a:lnTo>
                <a:lnTo>
                  <a:pt x="67128" y="1886775"/>
                </a:lnTo>
                <a:lnTo>
                  <a:pt x="70559" y="1888263"/>
                </a:lnTo>
                <a:lnTo>
                  <a:pt x="74038" y="1889637"/>
                </a:lnTo>
                <a:lnTo>
                  <a:pt x="77559" y="1890897"/>
                </a:lnTo>
                <a:lnTo>
                  <a:pt x="81120" y="1892042"/>
                </a:lnTo>
                <a:lnTo>
                  <a:pt x="84717" y="1893069"/>
                </a:lnTo>
                <a:lnTo>
                  <a:pt x="88345" y="1893977"/>
                </a:lnTo>
                <a:lnTo>
                  <a:pt x="92001" y="1894767"/>
                </a:lnTo>
                <a:lnTo>
                  <a:pt x="95681" y="1895437"/>
                </a:lnTo>
                <a:lnTo>
                  <a:pt x="99381" y="1895985"/>
                </a:lnTo>
                <a:lnTo>
                  <a:pt x="103097" y="1896413"/>
                </a:lnTo>
                <a:lnTo>
                  <a:pt x="106824" y="1896719"/>
                </a:lnTo>
                <a:lnTo>
                  <a:pt x="110560" y="1896902"/>
                </a:lnTo>
                <a:lnTo>
                  <a:pt x="114300" y="1896963"/>
                </a:lnTo>
                <a:lnTo>
                  <a:pt x="114300" y="1896963"/>
                </a:lnTo>
                <a:lnTo>
                  <a:pt x="112430" y="1896902"/>
                </a:lnTo>
                <a:lnTo>
                  <a:pt x="110562" y="1896719"/>
                </a:lnTo>
                <a:lnTo>
                  <a:pt x="108698" y="1896413"/>
                </a:lnTo>
                <a:lnTo>
                  <a:pt x="106840" y="1895985"/>
                </a:lnTo>
                <a:lnTo>
                  <a:pt x="104991" y="1895437"/>
                </a:lnTo>
                <a:lnTo>
                  <a:pt x="103151" y="1894767"/>
                </a:lnTo>
                <a:lnTo>
                  <a:pt x="101323" y="1893977"/>
                </a:lnTo>
                <a:lnTo>
                  <a:pt x="99508" y="1893069"/>
                </a:lnTo>
                <a:lnTo>
                  <a:pt x="97710" y="1892042"/>
                </a:lnTo>
                <a:lnTo>
                  <a:pt x="95930" y="1890897"/>
                </a:lnTo>
                <a:lnTo>
                  <a:pt x="94169" y="1889637"/>
                </a:lnTo>
                <a:lnTo>
                  <a:pt x="92430" y="1888263"/>
                </a:lnTo>
                <a:lnTo>
                  <a:pt x="90714" y="1886775"/>
                </a:lnTo>
                <a:lnTo>
                  <a:pt x="89023" y="1885176"/>
                </a:lnTo>
                <a:lnTo>
                  <a:pt x="87360" y="1883467"/>
                </a:lnTo>
                <a:lnTo>
                  <a:pt x="85725" y="1881650"/>
                </a:lnTo>
                <a:lnTo>
                  <a:pt x="84121" y="1879727"/>
                </a:lnTo>
                <a:lnTo>
                  <a:pt x="82549" y="1877700"/>
                </a:lnTo>
                <a:lnTo>
                  <a:pt x="81011" y="1875572"/>
                </a:lnTo>
                <a:lnTo>
                  <a:pt x="79509" y="1873344"/>
                </a:lnTo>
                <a:lnTo>
                  <a:pt x="78044" y="1871018"/>
                </a:lnTo>
                <a:lnTo>
                  <a:pt x="76618" y="1868599"/>
                </a:lnTo>
                <a:lnTo>
                  <a:pt x="75233" y="1866087"/>
                </a:lnTo>
                <a:lnTo>
                  <a:pt x="73889" y="1863486"/>
                </a:lnTo>
                <a:lnTo>
                  <a:pt x="72588" y="1860798"/>
                </a:lnTo>
                <a:lnTo>
                  <a:pt x="71332" y="1858027"/>
                </a:lnTo>
                <a:lnTo>
                  <a:pt x="70122" y="1855174"/>
                </a:lnTo>
                <a:lnTo>
                  <a:pt x="68960" y="1852245"/>
                </a:lnTo>
                <a:lnTo>
                  <a:pt x="67846" y="1849240"/>
                </a:lnTo>
                <a:lnTo>
                  <a:pt x="66782" y="1846165"/>
                </a:lnTo>
                <a:lnTo>
                  <a:pt x="65768" y="1843021"/>
                </a:lnTo>
                <a:lnTo>
                  <a:pt x="64807" y="1839813"/>
                </a:lnTo>
                <a:lnTo>
                  <a:pt x="63898" y="1836544"/>
                </a:lnTo>
                <a:lnTo>
                  <a:pt x="63044" y="1833217"/>
                </a:lnTo>
                <a:lnTo>
                  <a:pt x="62244" y="1829836"/>
                </a:lnTo>
                <a:lnTo>
                  <a:pt x="61500" y="1826404"/>
                </a:lnTo>
                <a:lnTo>
                  <a:pt x="60813" y="1822925"/>
                </a:lnTo>
                <a:lnTo>
                  <a:pt x="60183" y="1819404"/>
                </a:lnTo>
                <a:lnTo>
                  <a:pt x="59611" y="1815843"/>
                </a:lnTo>
                <a:lnTo>
                  <a:pt x="59097" y="1812246"/>
                </a:lnTo>
                <a:lnTo>
                  <a:pt x="58643" y="1808618"/>
                </a:lnTo>
                <a:lnTo>
                  <a:pt x="58248" y="1804962"/>
                </a:lnTo>
                <a:lnTo>
                  <a:pt x="57913" y="1801282"/>
                </a:lnTo>
                <a:lnTo>
                  <a:pt x="57639" y="1797582"/>
                </a:lnTo>
                <a:lnTo>
                  <a:pt x="57425" y="1793867"/>
                </a:lnTo>
                <a:lnTo>
                  <a:pt x="57272" y="1790139"/>
                </a:lnTo>
                <a:lnTo>
                  <a:pt x="57181" y="1786403"/>
                </a:lnTo>
                <a:lnTo>
                  <a:pt x="57150" y="1782663"/>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5E3AB6-DAAC-4EDE-8C45-6D41944F5D84}"/>
              </a:ext>
            </a:extLst>
          </p:cNvPr>
          <p:cNvSpPr>
            <a:spLocks xmlns:a="http://schemas.openxmlformats.org/drawingml/2006/main" noGrp="1"/>
          </p:cNvSpPr>
          <p:nvPr/>
        </p:nvSpPr>
        <p:spPr>
          <a:xfrm xmlns:a="http://schemas.openxmlformats.org/drawingml/2006/main">
            <a:off x="11811000" y="4560094"/>
            <a:ext cx="5257800" cy="1896963"/>
          </a:xfrm>
          <a:prstGeom xmlns:a="http://schemas.openxmlformats.org/drawingml/2006/main" prst="roundRect">
            <a:avLst>
              <a:gd name="adj" fmla="val 602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0A3D61EF-356E-4D66-A3FA-A1D0F4EE3375}"/>
              </a:ext>
            </a:extLst>
          </p:cNvPr>
          <p:cNvSpPr>
            <a:spLocks xmlns:a="http://schemas.openxmlformats.org/drawingml/2006/main" noGrp="1"/>
          </p:cNvSpPr>
          <p:nvPr/>
        </p:nvSpPr>
        <p:spPr>
          <a:xfrm xmlns:a="http://schemas.openxmlformats.org/drawingml/2006/main">
            <a:off x="11811000" y="4560094"/>
            <a:ext cx="114300" cy="1896963"/>
          </a:xfrm>
          <a:custGeom xmlns:a="http://schemas.openxmlformats.org/drawingml/2006/main">
            <a:pathLst>
              <a:path w="114300" h="1896963">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782663"/>
                </a:lnTo>
                <a:lnTo>
                  <a:pt x="61" y="1786403"/>
                </a:lnTo>
                <a:lnTo>
                  <a:pt x="245" y="1790139"/>
                </a:lnTo>
                <a:lnTo>
                  <a:pt x="550" y="1793867"/>
                </a:lnTo>
                <a:lnTo>
                  <a:pt x="978" y="1797582"/>
                </a:lnTo>
                <a:lnTo>
                  <a:pt x="1527" y="1801282"/>
                </a:lnTo>
                <a:lnTo>
                  <a:pt x="2196" y="1804962"/>
                </a:lnTo>
                <a:lnTo>
                  <a:pt x="2986" y="1808618"/>
                </a:lnTo>
                <a:lnTo>
                  <a:pt x="3895" y="1812246"/>
                </a:lnTo>
                <a:lnTo>
                  <a:pt x="4922" y="1815843"/>
                </a:lnTo>
                <a:lnTo>
                  <a:pt x="6066" y="1819404"/>
                </a:lnTo>
                <a:lnTo>
                  <a:pt x="7326" y="1822925"/>
                </a:lnTo>
                <a:lnTo>
                  <a:pt x="8701" y="1826404"/>
                </a:lnTo>
                <a:lnTo>
                  <a:pt x="10188" y="1829836"/>
                </a:lnTo>
                <a:lnTo>
                  <a:pt x="11787" y="1833217"/>
                </a:lnTo>
                <a:lnTo>
                  <a:pt x="13496" y="1836544"/>
                </a:lnTo>
                <a:lnTo>
                  <a:pt x="15313" y="1839813"/>
                </a:lnTo>
                <a:lnTo>
                  <a:pt x="17236" y="1843021"/>
                </a:lnTo>
                <a:lnTo>
                  <a:pt x="19263" y="1846165"/>
                </a:lnTo>
                <a:lnTo>
                  <a:pt x="21392" y="1849240"/>
                </a:lnTo>
                <a:lnTo>
                  <a:pt x="23620" y="1852245"/>
                </a:lnTo>
                <a:lnTo>
                  <a:pt x="25945" y="1855174"/>
                </a:lnTo>
                <a:lnTo>
                  <a:pt x="28365" y="1858027"/>
                </a:lnTo>
                <a:lnTo>
                  <a:pt x="30877" y="1860798"/>
                </a:lnTo>
                <a:lnTo>
                  <a:pt x="33478" y="1863486"/>
                </a:lnTo>
                <a:lnTo>
                  <a:pt x="36165" y="1866087"/>
                </a:lnTo>
                <a:lnTo>
                  <a:pt x="38937" y="1868599"/>
                </a:lnTo>
                <a:lnTo>
                  <a:pt x="41789" y="1871018"/>
                </a:lnTo>
                <a:lnTo>
                  <a:pt x="44719" y="1873344"/>
                </a:lnTo>
                <a:lnTo>
                  <a:pt x="47723" y="1875572"/>
                </a:lnTo>
                <a:lnTo>
                  <a:pt x="50798" y="1877700"/>
                </a:lnTo>
                <a:lnTo>
                  <a:pt x="53942" y="1879727"/>
                </a:lnTo>
                <a:lnTo>
                  <a:pt x="57150" y="1881650"/>
                </a:lnTo>
                <a:lnTo>
                  <a:pt x="60419" y="1883467"/>
                </a:lnTo>
                <a:lnTo>
                  <a:pt x="63746" y="1885176"/>
                </a:lnTo>
                <a:lnTo>
                  <a:pt x="67128" y="1886775"/>
                </a:lnTo>
                <a:lnTo>
                  <a:pt x="70559" y="1888263"/>
                </a:lnTo>
                <a:lnTo>
                  <a:pt x="74038" y="1889637"/>
                </a:lnTo>
                <a:lnTo>
                  <a:pt x="77559" y="1890897"/>
                </a:lnTo>
                <a:lnTo>
                  <a:pt x="81120" y="1892042"/>
                </a:lnTo>
                <a:lnTo>
                  <a:pt x="84717" y="1893069"/>
                </a:lnTo>
                <a:lnTo>
                  <a:pt x="88345" y="1893977"/>
                </a:lnTo>
                <a:lnTo>
                  <a:pt x="92001" y="1894767"/>
                </a:lnTo>
                <a:lnTo>
                  <a:pt x="95681" y="1895437"/>
                </a:lnTo>
                <a:lnTo>
                  <a:pt x="99381" y="1895985"/>
                </a:lnTo>
                <a:lnTo>
                  <a:pt x="103097" y="1896413"/>
                </a:lnTo>
                <a:lnTo>
                  <a:pt x="106824" y="1896719"/>
                </a:lnTo>
                <a:lnTo>
                  <a:pt x="110560" y="1896902"/>
                </a:lnTo>
                <a:lnTo>
                  <a:pt x="114300" y="1896963"/>
                </a:lnTo>
                <a:lnTo>
                  <a:pt x="114300" y="1896963"/>
                </a:lnTo>
                <a:lnTo>
                  <a:pt x="112430" y="1896902"/>
                </a:lnTo>
                <a:lnTo>
                  <a:pt x="110562" y="1896719"/>
                </a:lnTo>
                <a:lnTo>
                  <a:pt x="108698" y="1896413"/>
                </a:lnTo>
                <a:lnTo>
                  <a:pt x="106840" y="1895985"/>
                </a:lnTo>
                <a:lnTo>
                  <a:pt x="104991" y="1895437"/>
                </a:lnTo>
                <a:lnTo>
                  <a:pt x="103151" y="1894767"/>
                </a:lnTo>
                <a:lnTo>
                  <a:pt x="101323" y="1893977"/>
                </a:lnTo>
                <a:lnTo>
                  <a:pt x="99508" y="1893069"/>
                </a:lnTo>
                <a:lnTo>
                  <a:pt x="97710" y="1892042"/>
                </a:lnTo>
                <a:lnTo>
                  <a:pt x="95930" y="1890897"/>
                </a:lnTo>
                <a:lnTo>
                  <a:pt x="94169" y="1889637"/>
                </a:lnTo>
                <a:lnTo>
                  <a:pt x="92430" y="1888263"/>
                </a:lnTo>
                <a:lnTo>
                  <a:pt x="90714" y="1886775"/>
                </a:lnTo>
                <a:lnTo>
                  <a:pt x="89023" y="1885176"/>
                </a:lnTo>
                <a:lnTo>
                  <a:pt x="87360" y="1883467"/>
                </a:lnTo>
                <a:lnTo>
                  <a:pt x="85725" y="1881650"/>
                </a:lnTo>
                <a:lnTo>
                  <a:pt x="84121" y="1879727"/>
                </a:lnTo>
                <a:lnTo>
                  <a:pt x="82549" y="1877700"/>
                </a:lnTo>
                <a:lnTo>
                  <a:pt x="81011" y="1875572"/>
                </a:lnTo>
                <a:lnTo>
                  <a:pt x="79509" y="1873344"/>
                </a:lnTo>
                <a:lnTo>
                  <a:pt x="78044" y="1871018"/>
                </a:lnTo>
                <a:lnTo>
                  <a:pt x="76618" y="1868599"/>
                </a:lnTo>
                <a:lnTo>
                  <a:pt x="75233" y="1866087"/>
                </a:lnTo>
                <a:lnTo>
                  <a:pt x="73889" y="1863486"/>
                </a:lnTo>
                <a:lnTo>
                  <a:pt x="72588" y="1860798"/>
                </a:lnTo>
                <a:lnTo>
                  <a:pt x="71332" y="1858027"/>
                </a:lnTo>
                <a:lnTo>
                  <a:pt x="70122" y="1855174"/>
                </a:lnTo>
                <a:lnTo>
                  <a:pt x="68960" y="1852245"/>
                </a:lnTo>
                <a:lnTo>
                  <a:pt x="67846" y="1849240"/>
                </a:lnTo>
                <a:lnTo>
                  <a:pt x="66782" y="1846165"/>
                </a:lnTo>
                <a:lnTo>
                  <a:pt x="65768" y="1843021"/>
                </a:lnTo>
                <a:lnTo>
                  <a:pt x="64807" y="1839813"/>
                </a:lnTo>
                <a:lnTo>
                  <a:pt x="63898" y="1836544"/>
                </a:lnTo>
                <a:lnTo>
                  <a:pt x="63044" y="1833217"/>
                </a:lnTo>
                <a:lnTo>
                  <a:pt x="62244" y="1829836"/>
                </a:lnTo>
                <a:lnTo>
                  <a:pt x="61500" y="1826404"/>
                </a:lnTo>
                <a:lnTo>
                  <a:pt x="60813" y="1822925"/>
                </a:lnTo>
                <a:lnTo>
                  <a:pt x="60183" y="1819404"/>
                </a:lnTo>
                <a:lnTo>
                  <a:pt x="59611" y="1815843"/>
                </a:lnTo>
                <a:lnTo>
                  <a:pt x="59097" y="1812246"/>
                </a:lnTo>
                <a:lnTo>
                  <a:pt x="58643" y="1808618"/>
                </a:lnTo>
                <a:lnTo>
                  <a:pt x="58248" y="1804962"/>
                </a:lnTo>
                <a:lnTo>
                  <a:pt x="57913" y="1801282"/>
                </a:lnTo>
                <a:lnTo>
                  <a:pt x="57639" y="1797582"/>
                </a:lnTo>
                <a:lnTo>
                  <a:pt x="57425" y="1793867"/>
                </a:lnTo>
                <a:lnTo>
                  <a:pt x="57272" y="1790139"/>
                </a:lnTo>
                <a:lnTo>
                  <a:pt x="57181" y="1786403"/>
                </a:lnTo>
                <a:lnTo>
                  <a:pt x="57150" y="1782663"/>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4645A85-C94A-4F00-94F9-DE8CA0D5B09D}"/>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14">
            <a:extLst xmlns:a="http://schemas.openxmlformats.org/drawingml/2006/main">
              <a:ext uri="{FF2B5EF4-FFF2-40B4-BE49-F238E27FC236}">
                <a16:creationId xmlns:a16="http://schemas.microsoft.com/office/drawing/2014/main" id="{B9BA3864-18E0-4261-8A15-D70C2C9D66C4}"/>
              </a:ext>
            </a:extLst>
          </p:cNvPr>
          <p:cNvSpPr>
            <a:spLocks xmlns:a="http://schemas.openxmlformats.org/drawingml/2006/main" noGrp="1"/>
          </p:cNvSpPr>
          <p:nvPr/>
        </p:nvSpPr>
        <p:spPr>
          <a:xfrm xmlns:a="http://schemas.openxmlformats.org/drawingml/2006/main">
            <a:off x="1219200" y="1066800"/>
            <a:ext cx="362337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04 · STEP-UP ПОЛИТИКА</a:t>
            </a:r>
          </a:p>
        </p:txBody>
      </p:sp>
      <p:sp>
        <p:nvSpPr>
          <p:cNvPr id="9" name="heading-source-14">
            <a:extLst xmlns:a="http://schemas.openxmlformats.org/drawingml/2006/main">
              <a:ext uri="{FF2B5EF4-FFF2-40B4-BE49-F238E27FC236}">
                <a16:creationId xmlns:a16="http://schemas.microsoft.com/office/drawing/2014/main" id="{F244BE11-A428-44EB-8A9E-E8FBEBE3E71C}"/>
              </a:ext>
            </a:extLst>
          </p:cNvPr>
          <p:cNvSpPr>
            <a:spLocks xmlns:a="http://schemas.openxmlformats.org/drawingml/2006/main" noGrp="1"/>
          </p:cNvSpPr>
          <p:nvPr/>
        </p:nvSpPr>
        <p:spPr>
          <a:xfrm xmlns:a="http://schemas.openxmlformats.org/drawingml/2006/main">
            <a:off x="1219200" y="1443930"/>
            <a:ext cx="9966127"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079"/>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Step-up не замењује проверу сесије</a:t>
            </a:r>
          </a:p>
        </p:txBody>
      </p:sp>
      <p:sp>
        <p:nvSpPr>
          <p:cNvPr id="10" name="text-source-14">
            <a:extLst xmlns:a="http://schemas.openxmlformats.org/drawingml/2006/main">
              <a:ext uri="{FF2B5EF4-FFF2-40B4-BE49-F238E27FC236}">
                <a16:creationId xmlns:a16="http://schemas.microsoft.com/office/drawing/2014/main" id="{1D71ADE1-7691-494E-AD79-D9F0C59FEEBE}"/>
              </a:ext>
            </a:extLst>
          </p:cNvPr>
          <p:cNvSpPr>
            <a:spLocks xmlns:a="http://schemas.openxmlformats.org/drawingml/2006/main" noGrp="1"/>
          </p:cNvSpPr>
          <p:nvPr/>
        </p:nvSpPr>
        <p:spPr>
          <a:xfrm xmlns:a="http://schemas.openxmlformats.org/drawingml/2006/main">
            <a:off x="1495425" y="2634555"/>
            <a:ext cx="76124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C# · схематски изворни пример, … означава изостављено</a:t>
            </a:r>
          </a:p>
        </p:txBody>
      </p:sp>
      <p:sp>
        <p:nvSpPr>
          <p:cNvPr id="11" name="text-source-14">
            <a:extLst xmlns:a="http://schemas.openxmlformats.org/drawingml/2006/main">
              <a:ext uri="{FF2B5EF4-FFF2-40B4-BE49-F238E27FC236}">
                <a16:creationId xmlns:a16="http://schemas.microsoft.com/office/drawing/2014/main" id="{1DA1BF03-5E10-4BC2-B86E-A524C7F959D8}"/>
              </a:ext>
            </a:extLst>
          </p:cNvPr>
          <p:cNvSpPr>
            <a:spLocks xmlns:a="http://schemas.openxmlformats.org/drawingml/2006/main" noGrp="1"/>
          </p:cNvSpPr>
          <p:nvPr/>
        </p:nvSpPr>
        <p:spPr>
          <a:xfrm xmlns:a="http://schemas.openxmlformats.org/drawingml/2006/main">
            <a:off x="1495425" y="3030736"/>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a:t>
            </a:r>
          </a:p>
        </p:txBody>
      </p:sp>
      <p:sp>
        <p:nvSpPr>
          <p:cNvPr id="12" name="text-source-14">
            <a:extLst xmlns:a="http://schemas.openxmlformats.org/drawingml/2006/main">
              <a:ext uri="{FF2B5EF4-FFF2-40B4-BE49-F238E27FC236}">
                <a16:creationId xmlns:a16="http://schemas.microsoft.com/office/drawing/2014/main" id="{3C3E0432-50AD-4AF0-9101-763993A6ADD3}"/>
              </a:ext>
            </a:extLst>
          </p:cNvPr>
          <p:cNvSpPr>
            <a:spLocks xmlns:a="http://schemas.openxmlformats.org/drawingml/2006/main" noGrp="1"/>
          </p:cNvSpPr>
          <p:nvPr/>
        </p:nvSpPr>
        <p:spPr>
          <a:xfrm xmlns:a="http://schemas.openxmlformats.org/drawingml/2006/main">
            <a:off x="2066925" y="3030736"/>
            <a:ext cx="45949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public</a:t>
            </a:r>
            <a:r>
              <a:rPr sz="1800" b="0">
                <a:solidFill>
                  <a:srgbClr val="13202D"/>
                </a:solidFill>
                <a:latin typeface="IBM Plex Mono"/>
                <a:ea typeface="IBM Plex Mono"/>
                <a:cs typeface="IBM Plex Mono"/>
              </a:rPr>
              <a:t> StepUpDecision Evaluate(</a:t>
            </a:r>
          </a:p>
        </p:txBody>
      </p:sp>
      <p:sp>
        <p:nvSpPr>
          <p:cNvPr id="13" name="text-source-14">
            <a:extLst xmlns:a="http://schemas.openxmlformats.org/drawingml/2006/main">
              <a:ext uri="{FF2B5EF4-FFF2-40B4-BE49-F238E27FC236}">
                <a16:creationId xmlns:a16="http://schemas.microsoft.com/office/drawing/2014/main" id="{F1B2B012-D127-4CD6-9252-8E569570C236}"/>
              </a:ext>
            </a:extLst>
          </p:cNvPr>
          <p:cNvSpPr>
            <a:spLocks xmlns:a="http://schemas.openxmlformats.org/drawingml/2006/main" noGrp="1"/>
          </p:cNvSpPr>
          <p:nvPr/>
        </p:nvSpPr>
        <p:spPr>
          <a:xfrm xmlns:a="http://schemas.openxmlformats.org/drawingml/2006/main">
            <a:off x="1495425" y="3350716"/>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2</a:t>
            </a:r>
          </a:p>
        </p:txBody>
      </p:sp>
      <p:sp>
        <p:nvSpPr>
          <p:cNvPr id="14" name="text-source-14">
            <a:extLst xmlns:a="http://schemas.openxmlformats.org/drawingml/2006/main">
              <a:ext uri="{FF2B5EF4-FFF2-40B4-BE49-F238E27FC236}">
                <a16:creationId xmlns:a16="http://schemas.microsoft.com/office/drawing/2014/main" id="{B171E9E7-020B-44A7-AD04-9C0309CDEA04}"/>
              </a:ext>
            </a:extLst>
          </p:cNvPr>
          <p:cNvSpPr>
            <a:spLocks xmlns:a="http://schemas.openxmlformats.org/drawingml/2006/main" noGrp="1"/>
          </p:cNvSpPr>
          <p:nvPr/>
        </p:nvSpPr>
        <p:spPr>
          <a:xfrm xmlns:a="http://schemas.openxmlformats.org/drawingml/2006/main">
            <a:off x="2066925" y="3350716"/>
            <a:ext cx="7200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AuthSession session, RiskyOperation operation,</a:t>
            </a:r>
          </a:p>
        </p:txBody>
      </p:sp>
      <p:sp>
        <p:nvSpPr>
          <p:cNvPr id="15" name="text-source-14">
            <a:extLst xmlns:a="http://schemas.openxmlformats.org/drawingml/2006/main">
              <a:ext uri="{FF2B5EF4-FFF2-40B4-BE49-F238E27FC236}">
                <a16:creationId xmlns:a16="http://schemas.microsoft.com/office/drawing/2014/main" id="{7358A3F7-EE72-40BA-B9F1-777721E10162}"/>
              </a:ext>
            </a:extLst>
          </p:cNvPr>
          <p:cNvSpPr>
            <a:spLocks xmlns:a="http://schemas.openxmlformats.org/drawingml/2006/main" noGrp="1"/>
          </p:cNvSpPr>
          <p:nvPr/>
        </p:nvSpPr>
        <p:spPr>
          <a:xfrm xmlns:a="http://schemas.openxmlformats.org/drawingml/2006/main">
            <a:off x="1495425" y="367069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3</a:t>
            </a:r>
          </a:p>
        </p:txBody>
      </p:sp>
      <p:sp>
        <p:nvSpPr>
          <p:cNvPr id="16" name="text-source-14">
            <a:extLst xmlns:a="http://schemas.openxmlformats.org/drawingml/2006/main">
              <a:ext uri="{FF2B5EF4-FFF2-40B4-BE49-F238E27FC236}">
                <a16:creationId xmlns:a16="http://schemas.microsoft.com/office/drawing/2014/main" id="{85856207-AA9D-467F-BCE5-8DDB42B2F0DF}"/>
              </a:ext>
            </a:extLst>
          </p:cNvPr>
          <p:cNvSpPr>
            <a:spLocks xmlns:a="http://schemas.openxmlformats.org/drawingml/2006/main" noGrp="1"/>
          </p:cNvSpPr>
          <p:nvPr/>
        </p:nvSpPr>
        <p:spPr>
          <a:xfrm xmlns:a="http://schemas.openxmlformats.org/drawingml/2006/main">
            <a:off x="2066925" y="3670697"/>
            <a:ext cx="34976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DateTimeOffset now)</a:t>
            </a:r>
          </a:p>
        </p:txBody>
      </p:sp>
      <p:sp>
        <p:nvSpPr>
          <p:cNvPr id="17" name="text-source-14">
            <a:extLst xmlns:a="http://schemas.openxmlformats.org/drawingml/2006/main">
              <a:ext uri="{FF2B5EF4-FFF2-40B4-BE49-F238E27FC236}">
                <a16:creationId xmlns:a16="http://schemas.microsoft.com/office/drawing/2014/main" id="{BA4984FB-6DB6-41A0-96CA-72B34385CCD6}"/>
              </a:ext>
            </a:extLst>
          </p:cNvPr>
          <p:cNvSpPr>
            <a:spLocks xmlns:a="http://schemas.openxmlformats.org/drawingml/2006/main" noGrp="1"/>
          </p:cNvSpPr>
          <p:nvPr/>
        </p:nvSpPr>
        <p:spPr>
          <a:xfrm xmlns:a="http://schemas.openxmlformats.org/drawingml/2006/main">
            <a:off x="1495425" y="399067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4</a:t>
            </a:r>
          </a:p>
        </p:txBody>
      </p:sp>
      <p:sp>
        <p:nvSpPr>
          <p:cNvPr id="18" name="text-source-14">
            <a:extLst xmlns:a="http://schemas.openxmlformats.org/drawingml/2006/main">
              <a:ext uri="{FF2B5EF4-FFF2-40B4-BE49-F238E27FC236}">
                <a16:creationId xmlns:a16="http://schemas.microsoft.com/office/drawing/2014/main" id="{4035D020-42B1-46A7-B70D-0B91CC7769D8}"/>
              </a:ext>
            </a:extLst>
          </p:cNvPr>
          <p:cNvSpPr>
            <a:spLocks xmlns:a="http://schemas.openxmlformats.org/drawingml/2006/main" noGrp="1"/>
          </p:cNvSpPr>
          <p:nvPr/>
        </p:nvSpPr>
        <p:spPr>
          <a:xfrm xmlns:a="http://schemas.openxmlformats.org/drawingml/2006/main">
            <a:off x="2066925" y="399067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a:t>
            </a:r>
          </a:p>
        </p:txBody>
      </p:sp>
      <p:sp>
        <p:nvSpPr>
          <p:cNvPr id="19" name="text-source-14">
            <a:extLst xmlns:a="http://schemas.openxmlformats.org/drawingml/2006/main">
              <a:ext uri="{FF2B5EF4-FFF2-40B4-BE49-F238E27FC236}">
                <a16:creationId xmlns:a16="http://schemas.microsoft.com/office/drawing/2014/main" id="{36F32C4C-C338-4916-A188-DC080FE3BB89}"/>
              </a:ext>
            </a:extLst>
          </p:cNvPr>
          <p:cNvSpPr>
            <a:spLocks xmlns:a="http://schemas.openxmlformats.org/drawingml/2006/main" noGrp="1"/>
          </p:cNvSpPr>
          <p:nvPr/>
        </p:nvSpPr>
        <p:spPr>
          <a:xfrm xmlns:a="http://schemas.openxmlformats.org/drawingml/2006/main">
            <a:off x="1495425" y="4310658"/>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5</a:t>
            </a:r>
          </a:p>
        </p:txBody>
      </p:sp>
      <p:sp>
        <p:nvSpPr>
          <p:cNvPr id="20" name="text-source-14">
            <a:extLst xmlns:a="http://schemas.openxmlformats.org/drawingml/2006/main">
              <a:ext uri="{FF2B5EF4-FFF2-40B4-BE49-F238E27FC236}">
                <a16:creationId xmlns:a16="http://schemas.microsoft.com/office/drawing/2014/main" id="{E4198D38-A50C-4117-BF8B-789AA8B40270}"/>
              </a:ext>
            </a:extLst>
          </p:cNvPr>
          <p:cNvSpPr>
            <a:spLocks xmlns:a="http://schemas.openxmlformats.org/drawingml/2006/main" noGrp="1"/>
          </p:cNvSpPr>
          <p:nvPr/>
        </p:nvSpPr>
        <p:spPr>
          <a:xfrm xmlns:a="http://schemas.openxmlformats.org/drawingml/2006/main">
            <a:off x="2066925" y="4310658"/>
            <a:ext cx="363497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if</a:t>
            </a:r>
            <a:r>
              <a:rPr sz="1800" b="0">
                <a:solidFill>
                  <a:srgbClr val="13202D"/>
                </a:solidFill>
                <a:latin typeface="IBM Plex Mono"/>
                <a:ea typeface="IBM Plex Mono"/>
                <a:cs typeface="IBM Plex Mono"/>
              </a:rPr>
              <a:t> (session.Revoked)</a:t>
            </a:r>
          </a:p>
        </p:txBody>
      </p:sp>
      <p:sp>
        <p:nvSpPr>
          <p:cNvPr id="21" name="text-source-14">
            <a:extLst xmlns:a="http://schemas.openxmlformats.org/drawingml/2006/main">
              <a:ext uri="{FF2B5EF4-FFF2-40B4-BE49-F238E27FC236}">
                <a16:creationId xmlns:a16="http://schemas.microsoft.com/office/drawing/2014/main" id="{DD4B7227-6FF4-409B-9505-3072B85E50B7}"/>
              </a:ext>
            </a:extLst>
          </p:cNvPr>
          <p:cNvSpPr>
            <a:spLocks xmlns:a="http://schemas.openxmlformats.org/drawingml/2006/main" noGrp="1"/>
          </p:cNvSpPr>
          <p:nvPr/>
        </p:nvSpPr>
        <p:spPr>
          <a:xfrm xmlns:a="http://schemas.openxmlformats.org/drawingml/2006/main">
            <a:off x="1495425" y="4630638"/>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6</a:t>
            </a:r>
          </a:p>
        </p:txBody>
      </p:sp>
      <p:sp>
        <p:nvSpPr>
          <p:cNvPr id="22" name="text-source-14">
            <a:extLst xmlns:a="http://schemas.openxmlformats.org/drawingml/2006/main">
              <a:ext uri="{FF2B5EF4-FFF2-40B4-BE49-F238E27FC236}">
                <a16:creationId xmlns:a16="http://schemas.microsoft.com/office/drawing/2014/main" id="{158D444E-35D2-43F4-BE41-FB1016EFF725}"/>
              </a:ext>
            </a:extLst>
          </p:cNvPr>
          <p:cNvSpPr>
            <a:spLocks xmlns:a="http://schemas.openxmlformats.org/drawingml/2006/main" noGrp="1"/>
          </p:cNvSpPr>
          <p:nvPr/>
        </p:nvSpPr>
        <p:spPr>
          <a:xfrm xmlns:a="http://schemas.openxmlformats.org/drawingml/2006/main">
            <a:off x="2066925" y="4630638"/>
            <a:ext cx="473243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return</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new</a:t>
            </a:r>
            <a:r>
              <a:rPr sz="1800" b="0">
                <a:solidFill>
                  <a:srgbClr val="13202D"/>
                </a:solidFill>
                <a:latin typeface="IBM Plex Mono"/>
                <a:ea typeface="IBM Plex Mono"/>
                <a:cs typeface="IBM Plex Mono"/>
              </a:rPr>
              <a:t>(</a:t>
            </a:r>
            <a:r>
              <a:rPr sz="1800" b="0">
                <a:solidFill>
                  <a:srgbClr val="3A46A5"/>
                </a:solidFill>
                <a:latin typeface="IBM Plex Mono"/>
                <a:ea typeface="IBM Plex Mono"/>
                <a:cs typeface="IBM Plex Mono"/>
              </a:rPr>
              <a:t>false</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false</a:t>
            </a:r>
            <a:r>
              <a:rPr sz="1800" b="0">
                <a:solidFill>
                  <a:srgbClr val="13202D"/>
                </a:solidFill>
                <a:latin typeface="IBM Plex Mono"/>
                <a:ea typeface="IBM Plex Mono"/>
                <a:cs typeface="IBM Plex Mono"/>
              </a:rPr>
              <a:t>,</a:t>
            </a:r>
          </a:p>
        </p:txBody>
      </p:sp>
      <p:sp>
        <p:nvSpPr>
          <p:cNvPr id="23" name="text-source-14">
            <a:extLst xmlns:a="http://schemas.openxmlformats.org/drawingml/2006/main">
              <a:ext uri="{FF2B5EF4-FFF2-40B4-BE49-F238E27FC236}">
                <a16:creationId xmlns:a16="http://schemas.microsoft.com/office/drawing/2014/main" id="{056D7E0B-ABC8-41AC-A15E-4285A353F214}"/>
              </a:ext>
            </a:extLst>
          </p:cNvPr>
          <p:cNvSpPr>
            <a:spLocks xmlns:a="http://schemas.openxmlformats.org/drawingml/2006/main" noGrp="1"/>
          </p:cNvSpPr>
          <p:nvPr/>
        </p:nvSpPr>
        <p:spPr>
          <a:xfrm xmlns:a="http://schemas.openxmlformats.org/drawingml/2006/main">
            <a:off x="1495425" y="4950619"/>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7</a:t>
            </a:r>
          </a:p>
        </p:txBody>
      </p:sp>
      <p:sp>
        <p:nvSpPr>
          <p:cNvPr id="24" name="text-source-14">
            <a:extLst xmlns:a="http://schemas.openxmlformats.org/drawingml/2006/main">
              <a:ext uri="{FF2B5EF4-FFF2-40B4-BE49-F238E27FC236}">
                <a16:creationId xmlns:a16="http://schemas.microsoft.com/office/drawing/2014/main" id="{68F09788-6D30-4B92-9B39-12BE0F145602}"/>
              </a:ext>
            </a:extLst>
          </p:cNvPr>
          <p:cNvSpPr>
            <a:spLocks xmlns:a="http://schemas.openxmlformats.org/drawingml/2006/main" noGrp="1"/>
          </p:cNvSpPr>
          <p:nvPr/>
        </p:nvSpPr>
        <p:spPr>
          <a:xfrm xmlns:a="http://schemas.openxmlformats.org/drawingml/2006/main">
            <a:off x="2066925" y="4950619"/>
            <a:ext cx="62408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StepUpCodes.SessionRevoked, …);</a:t>
            </a:r>
          </a:p>
        </p:txBody>
      </p:sp>
      <p:sp>
        <p:nvSpPr>
          <p:cNvPr id="25" name="text-source-14">
            <a:extLst xmlns:a="http://schemas.openxmlformats.org/drawingml/2006/main">
              <a:ext uri="{FF2B5EF4-FFF2-40B4-BE49-F238E27FC236}">
                <a16:creationId xmlns:a16="http://schemas.microsoft.com/office/drawing/2014/main" id="{92A55811-B8EB-4235-9C58-41E66F83474A}"/>
              </a:ext>
            </a:extLst>
          </p:cNvPr>
          <p:cNvSpPr>
            <a:spLocks xmlns:a="http://schemas.openxmlformats.org/drawingml/2006/main" noGrp="1"/>
          </p:cNvSpPr>
          <p:nvPr/>
        </p:nvSpPr>
        <p:spPr>
          <a:xfrm xmlns:a="http://schemas.openxmlformats.org/drawingml/2006/main">
            <a:off x="1495425" y="5270599"/>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8</a:t>
            </a:r>
          </a:p>
        </p:txBody>
      </p:sp>
      <p:sp>
        <p:nvSpPr>
          <p:cNvPr id="26" name="text-source-14">
            <a:extLst xmlns:a="http://schemas.openxmlformats.org/drawingml/2006/main">
              <a:ext uri="{FF2B5EF4-FFF2-40B4-BE49-F238E27FC236}">
                <a16:creationId xmlns:a16="http://schemas.microsoft.com/office/drawing/2014/main" id="{36CE0018-EEA4-4A32-86C7-7AB5FC07D103}"/>
              </a:ext>
            </a:extLst>
          </p:cNvPr>
          <p:cNvSpPr>
            <a:spLocks xmlns:a="http://schemas.openxmlformats.org/drawingml/2006/main" noGrp="1"/>
          </p:cNvSpPr>
          <p:nvPr/>
        </p:nvSpPr>
        <p:spPr>
          <a:xfrm xmlns:a="http://schemas.openxmlformats.org/drawingml/2006/main">
            <a:off x="2066925" y="5270599"/>
            <a:ext cx="747548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if</a:t>
            </a:r>
            <a:r>
              <a:rPr sz="1800" b="0">
                <a:solidFill>
                  <a:srgbClr val="13202D"/>
                </a:solidFill>
                <a:latin typeface="IBM Plex Mono"/>
                <a:ea typeface="IBM Plex Mono"/>
                <a:cs typeface="IBM Plex Mono"/>
              </a:rPr>
              <a:t> (session.MfaVerifiedAt is not { } verifiedAt)</a:t>
            </a:r>
          </a:p>
        </p:txBody>
      </p:sp>
      <p:sp>
        <p:nvSpPr>
          <p:cNvPr id="27" name="text-source-14">
            <a:extLst xmlns:a="http://schemas.openxmlformats.org/drawingml/2006/main">
              <a:ext uri="{FF2B5EF4-FFF2-40B4-BE49-F238E27FC236}">
                <a16:creationId xmlns:a16="http://schemas.microsoft.com/office/drawing/2014/main" id="{D39F7B39-0EE5-44DE-B2C5-4DDD8CB8380D}"/>
              </a:ext>
            </a:extLst>
          </p:cNvPr>
          <p:cNvSpPr>
            <a:spLocks xmlns:a="http://schemas.openxmlformats.org/drawingml/2006/main" noGrp="1"/>
          </p:cNvSpPr>
          <p:nvPr/>
        </p:nvSpPr>
        <p:spPr>
          <a:xfrm xmlns:a="http://schemas.openxmlformats.org/drawingml/2006/main">
            <a:off x="1495425" y="5590580"/>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9</a:t>
            </a:r>
          </a:p>
        </p:txBody>
      </p:sp>
      <p:sp>
        <p:nvSpPr>
          <p:cNvPr id="28" name="text-source-14">
            <a:extLst xmlns:a="http://schemas.openxmlformats.org/drawingml/2006/main">
              <a:ext uri="{FF2B5EF4-FFF2-40B4-BE49-F238E27FC236}">
                <a16:creationId xmlns:a16="http://schemas.microsoft.com/office/drawing/2014/main" id="{64A070A1-F3DC-4BA6-8F82-C6FF051E5A8A}"/>
              </a:ext>
            </a:extLst>
          </p:cNvPr>
          <p:cNvSpPr>
            <a:spLocks xmlns:a="http://schemas.openxmlformats.org/drawingml/2006/main" noGrp="1"/>
          </p:cNvSpPr>
          <p:nvPr/>
        </p:nvSpPr>
        <p:spPr>
          <a:xfrm xmlns:a="http://schemas.openxmlformats.org/drawingml/2006/main">
            <a:off x="2066925" y="5590580"/>
            <a:ext cx="459536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return</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new</a:t>
            </a:r>
            <a:r>
              <a:rPr sz="1800" b="0">
                <a:solidFill>
                  <a:srgbClr val="13202D"/>
                </a:solidFill>
                <a:latin typeface="IBM Plex Mono"/>
                <a:ea typeface="IBM Plex Mono"/>
                <a:cs typeface="IBM Plex Mono"/>
              </a:rPr>
              <a:t>(</a:t>
            </a:r>
            <a:r>
              <a:rPr sz="1800" b="0">
                <a:solidFill>
                  <a:srgbClr val="3A46A5"/>
                </a:solidFill>
                <a:latin typeface="IBM Plex Mono"/>
                <a:ea typeface="IBM Plex Mono"/>
                <a:cs typeface="IBM Plex Mono"/>
              </a:rPr>
              <a:t>false</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true</a:t>
            </a:r>
            <a:r>
              <a:rPr sz="1800" b="0">
                <a:solidFill>
                  <a:srgbClr val="13202D"/>
                </a:solidFill>
                <a:latin typeface="IBM Plex Mono"/>
                <a:ea typeface="IBM Plex Mono"/>
                <a:cs typeface="IBM Plex Mono"/>
              </a:rPr>
              <a:t>,</a:t>
            </a:r>
          </a:p>
        </p:txBody>
      </p:sp>
      <p:sp>
        <p:nvSpPr>
          <p:cNvPr id="29" name="text-source-14">
            <a:extLst xmlns:a="http://schemas.openxmlformats.org/drawingml/2006/main">
              <a:ext uri="{FF2B5EF4-FFF2-40B4-BE49-F238E27FC236}">
                <a16:creationId xmlns:a16="http://schemas.microsoft.com/office/drawing/2014/main" id="{DACB89F1-9AAC-4247-8EF4-1A0E234DEC34}"/>
              </a:ext>
            </a:extLst>
          </p:cNvPr>
          <p:cNvSpPr>
            <a:spLocks xmlns:a="http://schemas.openxmlformats.org/drawingml/2006/main" noGrp="1"/>
          </p:cNvSpPr>
          <p:nvPr/>
        </p:nvSpPr>
        <p:spPr>
          <a:xfrm xmlns:a="http://schemas.openxmlformats.org/drawingml/2006/main">
            <a:off x="1495425" y="591056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10</a:t>
            </a:r>
          </a:p>
        </p:txBody>
      </p:sp>
      <p:sp>
        <p:nvSpPr>
          <p:cNvPr id="30" name="text-source-14">
            <a:extLst xmlns:a="http://schemas.openxmlformats.org/drawingml/2006/main">
              <a:ext uri="{FF2B5EF4-FFF2-40B4-BE49-F238E27FC236}">
                <a16:creationId xmlns:a16="http://schemas.microsoft.com/office/drawing/2014/main" id="{3D01C972-D430-4378-93FA-57B4725686DA}"/>
              </a:ext>
            </a:extLst>
          </p:cNvPr>
          <p:cNvSpPr>
            <a:spLocks xmlns:a="http://schemas.openxmlformats.org/drawingml/2006/main" noGrp="1"/>
          </p:cNvSpPr>
          <p:nvPr/>
        </p:nvSpPr>
        <p:spPr>
          <a:xfrm xmlns:a="http://schemas.openxmlformats.org/drawingml/2006/main">
            <a:off x="2066925" y="5910560"/>
            <a:ext cx="582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StepUpCodes.MfaRequired, …);</a:t>
            </a:r>
          </a:p>
        </p:txBody>
      </p:sp>
      <p:sp>
        <p:nvSpPr>
          <p:cNvPr id="31" name="text-source-14">
            <a:extLst xmlns:a="http://schemas.openxmlformats.org/drawingml/2006/main">
              <a:ext uri="{FF2B5EF4-FFF2-40B4-BE49-F238E27FC236}">
                <a16:creationId xmlns:a16="http://schemas.microsoft.com/office/drawing/2014/main" id="{02DC8C4B-23CB-4EC5-B8DF-261AEA7EFB46}"/>
              </a:ext>
            </a:extLst>
          </p:cNvPr>
          <p:cNvSpPr>
            <a:spLocks xmlns:a="http://schemas.openxmlformats.org/drawingml/2006/main" noGrp="1"/>
          </p:cNvSpPr>
          <p:nvPr/>
        </p:nvSpPr>
        <p:spPr>
          <a:xfrm xmlns:a="http://schemas.openxmlformats.org/drawingml/2006/main">
            <a:off x="1495425" y="6230541"/>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11</a:t>
            </a:r>
          </a:p>
        </p:txBody>
      </p:sp>
      <p:sp>
        <p:nvSpPr>
          <p:cNvPr id="32" name="text-source-14">
            <a:extLst xmlns:a="http://schemas.openxmlformats.org/drawingml/2006/main">
              <a:ext uri="{FF2B5EF4-FFF2-40B4-BE49-F238E27FC236}">
                <a16:creationId xmlns:a16="http://schemas.microsoft.com/office/drawing/2014/main" id="{2BE93984-643D-4B60-B4C7-E2F544C126D2}"/>
              </a:ext>
            </a:extLst>
          </p:cNvPr>
          <p:cNvSpPr>
            <a:spLocks xmlns:a="http://schemas.openxmlformats.org/drawingml/2006/main" noGrp="1"/>
          </p:cNvSpPr>
          <p:nvPr/>
        </p:nvSpPr>
        <p:spPr>
          <a:xfrm xmlns:a="http://schemas.openxmlformats.org/drawingml/2006/main">
            <a:off x="2066925" y="6230541"/>
            <a:ext cx="843557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if</a:t>
            </a:r>
            <a:r>
              <a:rPr sz="1800" b="0">
                <a:solidFill>
                  <a:srgbClr val="13202D"/>
                </a:solidFill>
                <a:latin typeface="IBM Plex Mono"/>
                <a:ea typeface="IBM Plex Mono"/>
                <a:cs typeface="IBM Plex Mono"/>
              </a:rPr>
              <a:t> (!IsFresh(verifiedAt, operation.MaximumMfaAge, now))</a:t>
            </a:r>
          </a:p>
        </p:txBody>
      </p:sp>
      <p:sp>
        <p:nvSpPr>
          <p:cNvPr id="33" name="text-source-14">
            <a:extLst xmlns:a="http://schemas.openxmlformats.org/drawingml/2006/main">
              <a:ext uri="{FF2B5EF4-FFF2-40B4-BE49-F238E27FC236}">
                <a16:creationId xmlns:a16="http://schemas.microsoft.com/office/drawing/2014/main" id="{5ABC8E14-3933-4209-9424-ACC687535456}"/>
              </a:ext>
            </a:extLst>
          </p:cNvPr>
          <p:cNvSpPr>
            <a:spLocks xmlns:a="http://schemas.openxmlformats.org/drawingml/2006/main" noGrp="1"/>
          </p:cNvSpPr>
          <p:nvPr/>
        </p:nvSpPr>
        <p:spPr>
          <a:xfrm xmlns:a="http://schemas.openxmlformats.org/drawingml/2006/main">
            <a:off x="1495425" y="6550521"/>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12</a:t>
            </a:r>
          </a:p>
        </p:txBody>
      </p:sp>
      <p:sp>
        <p:nvSpPr>
          <p:cNvPr id="34" name="text-source-14">
            <a:extLst xmlns:a="http://schemas.openxmlformats.org/drawingml/2006/main">
              <a:ext uri="{FF2B5EF4-FFF2-40B4-BE49-F238E27FC236}">
                <a16:creationId xmlns:a16="http://schemas.microsoft.com/office/drawing/2014/main" id="{F1A0F647-28BA-4AC9-9221-398F0CC87271}"/>
              </a:ext>
            </a:extLst>
          </p:cNvPr>
          <p:cNvSpPr>
            <a:spLocks xmlns:a="http://schemas.openxmlformats.org/drawingml/2006/main" noGrp="1"/>
          </p:cNvSpPr>
          <p:nvPr/>
        </p:nvSpPr>
        <p:spPr>
          <a:xfrm xmlns:a="http://schemas.openxmlformats.org/drawingml/2006/main">
            <a:off x="2066925" y="6550521"/>
            <a:ext cx="459536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return</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new</a:t>
            </a:r>
            <a:r>
              <a:rPr sz="1800" b="0">
                <a:solidFill>
                  <a:srgbClr val="13202D"/>
                </a:solidFill>
                <a:latin typeface="IBM Plex Mono"/>
                <a:ea typeface="IBM Plex Mono"/>
                <a:cs typeface="IBM Plex Mono"/>
              </a:rPr>
              <a:t>(</a:t>
            </a:r>
            <a:r>
              <a:rPr sz="1800" b="0">
                <a:solidFill>
                  <a:srgbClr val="3A46A5"/>
                </a:solidFill>
                <a:latin typeface="IBM Plex Mono"/>
                <a:ea typeface="IBM Plex Mono"/>
                <a:cs typeface="IBM Plex Mono"/>
              </a:rPr>
              <a:t>false</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true</a:t>
            </a:r>
            <a:r>
              <a:rPr sz="1800" b="0">
                <a:solidFill>
                  <a:srgbClr val="13202D"/>
                </a:solidFill>
                <a:latin typeface="IBM Plex Mono"/>
                <a:ea typeface="IBM Plex Mono"/>
                <a:cs typeface="IBM Plex Mono"/>
              </a:rPr>
              <a:t>,</a:t>
            </a:r>
          </a:p>
        </p:txBody>
      </p:sp>
      <p:sp>
        <p:nvSpPr>
          <p:cNvPr id="35" name="text-source-14">
            <a:extLst xmlns:a="http://schemas.openxmlformats.org/drawingml/2006/main">
              <a:ext uri="{FF2B5EF4-FFF2-40B4-BE49-F238E27FC236}">
                <a16:creationId xmlns:a16="http://schemas.microsoft.com/office/drawing/2014/main" id="{463047DE-E47F-4B31-B077-CB913118A885}"/>
              </a:ext>
            </a:extLst>
          </p:cNvPr>
          <p:cNvSpPr>
            <a:spLocks xmlns:a="http://schemas.openxmlformats.org/drawingml/2006/main" noGrp="1"/>
          </p:cNvSpPr>
          <p:nvPr/>
        </p:nvSpPr>
        <p:spPr>
          <a:xfrm xmlns:a="http://schemas.openxmlformats.org/drawingml/2006/main">
            <a:off x="1495425" y="6870502"/>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13</a:t>
            </a:r>
          </a:p>
        </p:txBody>
      </p:sp>
      <p:sp>
        <p:nvSpPr>
          <p:cNvPr id="36" name="text-source-14">
            <a:extLst xmlns:a="http://schemas.openxmlformats.org/drawingml/2006/main">
              <a:ext uri="{FF2B5EF4-FFF2-40B4-BE49-F238E27FC236}">
                <a16:creationId xmlns:a16="http://schemas.microsoft.com/office/drawing/2014/main" id="{7E004512-1A5E-4C0A-B3E7-EB7A8FB70E6C}"/>
              </a:ext>
            </a:extLst>
          </p:cNvPr>
          <p:cNvSpPr>
            <a:spLocks xmlns:a="http://schemas.openxmlformats.org/drawingml/2006/main" noGrp="1"/>
          </p:cNvSpPr>
          <p:nvPr/>
        </p:nvSpPr>
        <p:spPr>
          <a:xfrm xmlns:a="http://schemas.openxmlformats.org/drawingml/2006/main">
            <a:off x="2066925" y="6870502"/>
            <a:ext cx="54179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StepUpCodes.MfaStale, …);</a:t>
            </a:r>
          </a:p>
        </p:txBody>
      </p:sp>
      <p:sp>
        <p:nvSpPr>
          <p:cNvPr id="37" name="text-source-14">
            <a:extLst xmlns:a="http://schemas.openxmlformats.org/drawingml/2006/main">
              <a:ext uri="{FF2B5EF4-FFF2-40B4-BE49-F238E27FC236}">
                <a16:creationId xmlns:a16="http://schemas.microsoft.com/office/drawing/2014/main" id="{F1F7EF1C-DA63-4FEF-9A4F-3547510B9425}"/>
              </a:ext>
            </a:extLst>
          </p:cNvPr>
          <p:cNvSpPr>
            <a:spLocks xmlns:a="http://schemas.openxmlformats.org/drawingml/2006/main" noGrp="1"/>
          </p:cNvSpPr>
          <p:nvPr/>
        </p:nvSpPr>
        <p:spPr>
          <a:xfrm xmlns:a="http://schemas.openxmlformats.org/drawingml/2006/main">
            <a:off x="1495425" y="7190482"/>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14</a:t>
            </a:r>
          </a:p>
        </p:txBody>
      </p:sp>
      <p:sp>
        <p:nvSpPr>
          <p:cNvPr id="38" name="text-source-14">
            <a:extLst xmlns:a="http://schemas.openxmlformats.org/drawingml/2006/main">
              <a:ext uri="{FF2B5EF4-FFF2-40B4-BE49-F238E27FC236}">
                <a16:creationId xmlns:a16="http://schemas.microsoft.com/office/drawing/2014/main" id="{72267099-C0FC-4CB9-B052-7D7375E58931}"/>
              </a:ext>
            </a:extLst>
          </p:cNvPr>
          <p:cNvSpPr>
            <a:spLocks xmlns:a="http://schemas.openxmlformats.org/drawingml/2006/main" noGrp="1"/>
          </p:cNvSpPr>
          <p:nvPr/>
        </p:nvSpPr>
        <p:spPr>
          <a:xfrm xmlns:a="http://schemas.openxmlformats.org/drawingml/2006/main">
            <a:off x="2066925" y="7190482"/>
            <a:ext cx="404678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return</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new</a:t>
            </a:r>
            <a:r>
              <a:rPr sz="1800" b="0">
                <a:solidFill>
                  <a:srgbClr val="13202D"/>
                </a:solidFill>
                <a:latin typeface="IBM Plex Mono"/>
                <a:ea typeface="IBM Plex Mono"/>
                <a:cs typeface="IBM Plex Mono"/>
              </a:rPr>
              <a:t>(</a:t>
            </a:r>
            <a:r>
              <a:rPr sz="1800" b="0">
                <a:solidFill>
                  <a:srgbClr val="3A46A5"/>
                </a:solidFill>
                <a:latin typeface="IBM Plex Mono"/>
                <a:ea typeface="IBM Plex Mono"/>
                <a:cs typeface="IBM Plex Mono"/>
              </a:rPr>
              <a:t>true</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false</a:t>
            </a:r>
            <a:r>
              <a:rPr sz="1800" b="0">
                <a:solidFill>
                  <a:srgbClr val="13202D"/>
                </a:solidFill>
                <a:latin typeface="IBM Plex Mono"/>
                <a:ea typeface="IBM Plex Mono"/>
                <a:cs typeface="IBM Plex Mono"/>
              </a:rPr>
              <a:t>,</a:t>
            </a:r>
          </a:p>
        </p:txBody>
      </p:sp>
      <p:sp>
        <p:nvSpPr>
          <p:cNvPr id="39" name="text-source-14">
            <a:extLst xmlns:a="http://schemas.openxmlformats.org/drawingml/2006/main">
              <a:ext uri="{FF2B5EF4-FFF2-40B4-BE49-F238E27FC236}">
                <a16:creationId xmlns:a16="http://schemas.microsoft.com/office/drawing/2014/main" id="{7BE8CC74-98C8-4B75-81DE-7A76A043AC02}"/>
              </a:ext>
            </a:extLst>
          </p:cNvPr>
          <p:cNvSpPr>
            <a:spLocks xmlns:a="http://schemas.openxmlformats.org/drawingml/2006/main" noGrp="1"/>
          </p:cNvSpPr>
          <p:nvPr/>
        </p:nvSpPr>
        <p:spPr>
          <a:xfrm xmlns:a="http://schemas.openxmlformats.org/drawingml/2006/main">
            <a:off x="1495425" y="7510463"/>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15</a:t>
            </a:r>
          </a:p>
        </p:txBody>
      </p:sp>
      <p:sp>
        <p:nvSpPr>
          <p:cNvPr id="40" name="text-source-14">
            <a:extLst xmlns:a="http://schemas.openxmlformats.org/drawingml/2006/main">
              <a:ext uri="{FF2B5EF4-FFF2-40B4-BE49-F238E27FC236}">
                <a16:creationId xmlns:a16="http://schemas.microsoft.com/office/drawing/2014/main" id="{C63239FD-1E69-4549-9BA6-2D846EB383E0}"/>
              </a:ext>
            </a:extLst>
          </p:cNvPr>
          <p:cNvSpPr>
            <a:spLocks xmlns:a="http://schemas.openxmlformats.org/drawingml/2006/main" noGrp="1"/>
          </p:cNvSpPr>
          <p:nvPr/>
        </p:nvSpPr>
        <p:spPr>
          <a:xfrm xmlns:a="http://schemas.openxmlformats.org/drawingml/2006/main">
            <a:off x="2066925" y="7510463"/>
            <a:ext cx="582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StepUpCodes.StepUpSatisfied, …);</a:t>
            </a:r>
          </a:p>
        </p:txBody>
      </p:sp>
      <p:sp>
        <p:nvSpPr>
          <p:cNvPr id="41" name="text-source-14">
            <a:extLst xmlns:a="http://schemas.openxmlformats.org/drawingml/2006/main">
              <a:ext uri="{FF2B5EF4-FFF2-40B4-BE49-F238E27FC236}">
                <a16:creationId xmlns:a16="http://schemas.microsoft.com/office/drawing/2014/main" id="{5AD1BC2D-754C-4FEC-92F1-1D82CBE88EC4}"/>
              </a:ext>
            </a:extLst>
          </p:cNvPr>
          <p:cNvSpPr>
            <a:spLocks xmlns:a="http://schemas.openxmlformats.org/drawingml/2006/main" noGrp="1"/>
          </p:cNvSpPr>
          <p:nvPr/>
        </p:nvSpPr>
        <p:spPr>
          <a:xfrm xmlns:a="http://schemas.openxmlformats.org/drawingml/2006/main">
            <a:off x="1495425" y="7830443"/>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16</a:t>
            </a:r>
          </a:p>
        </p:txBody>
      </p:sp>
      <p:sp>
        <p:nvSpPr>
          <p:cNvPr id="42" name="text-source-14">
            <a:extLst xmlns:a="http://schemas.openxmlformats.org/drawingml/2006/main">
              <a:ext uri="{FF2B5EF4-FFF2-40B4-BE49-F238E27FC236}">
                <a16:creationId xmlns:a16="http://schemas.microsoft.com/office/drawing/2014/main" id="{58B734BE-C376-4233-A79C-7C60B47286F8}"/>
              </a:ext>
            </a:extLst>
          </p:cNvPr>
          <p:cNvSpPr>
            <a:spLocks xmlns:a="http://schemas.openxmlformats.org/drawingml/2006/main" noGrp="1"/>
          </p:cNvSpPr>
          <p:nvPr/>
        </p:nvSpPr>
        <p:spPr>
          <a:xfrm xmlns:a="http://schemas.openxmlformats.org/drawingml/2006/main">
            <a:off x="2066925" y="7830443"/>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a:t>
            </a:r>
          </a:p>
        </p:txBody>
      </p:sp>
      <p:sp>
        <p:nvSpPr>
          <p:cNvPr id="43" name="text-source-14">
            <a:extLst xmlns:a="http://schemas.openxmlformats.org/drawingml/2006/main">
              <a:ext uri="{FF2B5EF4-FFF2-40B4-BE49-F238E27FC236}">
                <a16:creationId xmlns:a16="http://schemas.microsoft.com/office/drawing/2014/main" id="{846BA77B-E99A-424C-BAC7-70E6DEF04AD1}"/>
              </a:ext>
            </a:extLst>
          </p:cNvPr>
          <p:cNvSpPr>
            <a:spLocks xmlns:a="http://schemas.openxmlformats.org/drawingml/2006/main" noGrp="1"/>
          </p:cNvSpPr>
          <p:nvPr/>
        </p:nvSpPr>
        <p:spPr>
          <a:xfrm xmlns:a="http://schemas.openxmlformats.org/drawingml/2006/main">
            <a:off x="12096750" y="2625030"/>
            <a:ext cx="14402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ТУМАЧЕЊЕ</a:t>
            </a:r>
          </a:p>
        </p:txBody>
      </p:sp>
      <p:sp>
        <p:nvSpPr>
          <p:cNvPr id="44" name="text-source-14">
            <a:extLst xmlns:a="http://schemas.openxmlformats.org/drawingml/2006/main">
              <a:ext uri="{FF2B5EF4-FFF2-40B4-BE49-F238E27FC236}">
                <a16:creationId xmlns:a16="http://schemas.microsoft.com/office/drawing/2014/main" id="{E2F1A802-FF06-4810-B215-CC512E68D8A2}"/>
              </a:ext>
            </a:extLst>
          </p:cNvPr>
          <p:cNvSpPr>
            <a:spLocks xmlns:a="http://schemas.openxmlformats.org/drawingml/2006/main" noGrp="1"/>
          </p:cNvSpPr>
          <p:nvPr/>
        </p:nvSpPr>
        <p:spPr>
          <a:xfrm xmlns:a="http://schemas.openxmlformats.org/drawingml/2006/main">
            <a:off x="12096750" y="3030736"/>
            <a:ext cx="420082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Додатна потврда подиже ниво </a:t>
            </a:r>
          </a:p>
        </p:txBody>
      </p:sp>
      <p:sp>
        <p:nvSpPr>
          <p:cNvPr id="45" name="text-source-14">
            <a:extLst xmlns:a="http://schemas.openxmlformats.org/drawingml/2006/main">
              <a:ext uri="{FF2B5EF4-FFF2-40B4-BE49-F238E27FC236}">
                <a16:creationId xmlns:a16="http://schemas.microsoft.com/office/drawing/2014/main" id="{BF4638B7-CD87-4269-8164-F26A44522349}"/>
              </a:ext>
            </a:extLst>
          </p:cNvPr>
          <p:cNvSpPr>
            <a:spLocks xmlns:a="http://schemas.openxmlformats.org/drawingml/2006/main" noGrp="1"/>
          </p:cNvSpPr>
          <p:nvPr/>
        </p:nvSpPr>
        <p:spPr>
          <a:xfrm xmlns:a="http://schemas.openxmlformats.org/drawingml/2006/main">
            <a:off x="12096750" y="3403997"/>
            <a:ext cx="501104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поверења само за ограничену радњу </a:t>
            </a:r>
          </a:p>
        </p:txBody>
      </p:sp>
      <p:sp>
        <p:nvSpPr>
          <p:cNvPr id="46" name="text-source-14">
            <a:extLst xmlns:a="http://schemas.openxmlformats.org/drawingml/2006/main">
              <a:ext uri="{FF2B5EF4-FFF2-40B4-BE49-F238E27FC236}">
                <a16:creationId xmlns:a16="http://schemas.microsoft.com/office/drawing/2014/main" id="{09AA99FE-6E97-446B-8F36-190769ABF2E8}"/>
              </a:ext>
            </a:extLst>
          </p:cNvPr>
          <p:cNvSpPr>
            <a:spLocks xmlns:a="http://schemas.openxmlformats.org/drawingml/2006/main" noGrp="1"/>
          </p:cNvSpPr>
          <p:nvPr/>
        </p:nvSpPr>
        <p:spPr>
          <a:xfrm xmlns:a="http://schemas.openxmlformats.org/drawingml/2006/main">
            <a:off x="12096750" y="3777258"/>
            <a:ext cx="388054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и кратак временски прозор.</a:t>
            </a:r>
          </a:p>
        </p:txBody>
      </p:sp>
      <p:sp>
        <p:nvSpPr>
          <p:cNvPr id="47" name="text-source-14">
            <a:extLst xmlns:a="http://schemas.openxmlformats.org/drawingml/2006/main">
              <a:ext uri="{FF2B5EF4-FFF2-40B4-BE49-F238E27FC236}">
                <a16:creationId xmlns:a16="http://schemas.microsoft.com/office/drawing/2014/main" id="{EEF86018-7A21-4CAC-B86C-6529C9B85AAF}"/>
              </a:ext>
            </a:extLst>
          </p:cNvPr>
          <p:cNvSpPr>
            <a:spLocks xmlns:a="http://schemas.openxmlformats.org/drawingml/2006/main" noGrp="1"/>
          </p:cNvSpPr>
          <p:nvPr/>
        </p:nvSpPr>
        <p:spPr>
          <a:xfrm xmlns:a="http://schemas.openxmlformats.org/drawingml/2006/main">
            <a:off x="12096750" y="4750594"/>
            <a:ext cx="29490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БЕЗБЕДНОСНА ГРАНИЦА</a:t>
            </a:r>
          </a:p>
        </p:txBody>
      </p:sp>
      <p:sp>
        <p:nvSpPr>
          <p:cNvPr id="48" name="text-source-14">
            <a:extLst xmlns:a="http://schemas.openxmlformats.org/drawingml/2006/main">
              <a:ext uri="{FF2B5EF4-FFF2-40B4-BE49-F238E27FC236}">
                <a16:creationId xmlns:a16="http://schemas.microsoft.com/office/drawing/2014/main" id="{B31B20DF-2AF9-454F-BB61-1C8022B91129}"/>
              </a:ext>
            </a:extLst>
          </p:cNvPr>
          <p:cNvSpPr>
            <a:spLocks xmlns:a="http://schemas.openxmlformats.org/drawingml/2006/main" noGrp="1"/>
          </p:cNvSpPr>
          <p:nvPr/>
        </p:nvSpPr>
        <p:spPr>
          <a:xfrm xmlns:a="http://schemas.openxmlformats.org/drawingml/2006/main">
            <a:off x="12096750" y="5156299"/>
            <a:ext cx="466457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Одбијање је експлицитан исход са </a:t>
            </a:r>
          </a:p>
        </p:txBody>
      </p:sp>
      <p:sp>
        <p:nvSpPr>
          <p:cNvPr id="49" name="text-source-14">
            <a:extLst xmlns:a="http://schemas.openxmlformats.org/drawingml/2006/main">
              <a:ext uri="{FF2B5EF4-FFF2-40B4-BE49-F238E27FC236}">
                <a16:creationId xmlns:a16="http://schemas.microsoft.com/office/drawing/2014/main" id="{89796ECB-D775-4D5E-812F-1025ECA8C43C}"/>
              </a:ext>
            </a:extLst>
          </p:cNvPr>
          <p:cNvSpPr>
            <a:spLocks xmlns:a="http://schemas.openxmlformats.org/drawingml/2006/main" noGrp="1"/>
          </p:cNvSpPr>
          <p:nvPr/>
        </p:nvSpPr>
        <p:spPr>
          <a:xfrm xmlns:a="http://schemas.openxmlformats.org/drawingml/2006/main">
            <a:off x="12096750" y="5529560"/>
            <a:ext cx="472380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разлогом који се може тестирати и </a:t>
            </a:r>
          </a:p>
        </p:txBody>
      </p:sp>
      <p:sp>
        <p:nvSpPr>
          <p:cNvPr id="50" name="text-source-14">
            <a:extLst xmlns:a="http://schemas.openxmlformats.org/drawingml/2006/main">
              <a:ext uri="{FF2B5EF4-FFF2-40B4-BE49-F238E27FC236}">
                <a16:creationId xmlns:a16="http://schemas.microsoft.com/office/drawing/2014/main" id="{667882B9-DDC8-4311-B502-CEABAF90E74D}"/>
              </a:ext>
            </a:extLst>
          </p:cNvPr>
          <p:cNvSpPr>
            <a:spLocks xmlns:a="http://schemas.openxmlformats.org/drawingml/2006/main" noGrp="1"/>
          </p:cNvSpPr>
          <p:nvPr/>
        </p:nvSpPr>
        <p:spPr>
          <a:xfrm xmlns:a="http://schemas.openxmlformats.org/drawingml/2006/main">
            <a:off x="12096750" y="5902821"/>
            <a:ext cx="165615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објаснити.</a:t>
            </a:r>
          </a:p>
        </p:txBody>
      </p:sp>
      <p:sp>
        <p:nvSpPr>
          <p:cNvPr id="51" name="text-source-14">
            <a:extLst xmlns:a="http://schemas.openxmlformats.org/drawingml/2006/main">
              <a:ext uri="{FF2B5EF4-FFF2-40B4-BE49-F238E27FC236}">
                <a16:creationId xmlns:a16="http://schemas.microsoft.com/office/drawing/2014/main" id="{CD3FC625-5F1C-40C6-836C-E6F514894203}"/>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52" name="text-source-14">
            <a:extLst xmlns:a="http://schemas.openxmlformats.org/drawingml/2006/main">
              <a:ext uri="{FF2B5EF4-FFF2-40B4-BE49-F238E27FC236}">
                <a16:creationId xmlns:a16="http://schemas.microsoft.com/office/drawing/2014/main" id="{2E54064D-797D-4D55-8309-F8B4A8C5B805}"/>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23</a:t>
            </a:r>
          </a:p>
        </p:txBody>
      </p:sp>
    </p:spTree>
    <p:extLst>
      <p:ext uri="{BB962C8B-B14F-4D97-AF65-F5344CB8AC3E}">
        <p14:creationId xmlns:p14="http://schemas.microsoft.com/office/powerpoint/2010/main" val="2072712570"/>
      </p:ext>
    </p:extLst>
  </p:cSld>
</p:sld>
</file>

<file path=ppt/slides/slide24.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4C3B8DE-8DE9-4F05-8C25-B9E394CF8B5A}"/>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DCBC65-2A82-477C-B430-925E35795162}"/>
              </a:ext>
            </a:extLst>
          </p:cNvPr>
          <p:cNvSpPr>
            <a:spLocks xmlns:a="http://schemas.openxmlformats.org/drawingml/2006/main" noGrp="1"/>
          </p:cNvSpPr>
          <p:nvPr/>
        </p:nvSpPr>
        <p:spPr>
          <a:xfrm xmlns:a="http://schemas.openxmlformats.org/drawingml/2006/main">
            <a:off x="1219200" y="2434530"/>
            <a:ext cx="11049000" cy="5275957"/>
          </a:xfrm>
          <a:prstGeom xmlns:a="http://schemas.openxmlformats.org/drawingml/2006/main" prst="roundRect">
            <a:avLst>
              <a:gd name="adj" fmla="val 2889"/>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5F0DA8D8-7CAD-4742-AF19-37F7CB95693F}"/>
              </a:ext>
            </a:extLst>
          </p:cNvPr>
          <p:cNvSpPr>
            <a:spLocks xmlns:a="http://schemas.openxmlformats.org/drawingml/2006/main" noGrp="1"/>
          </p:cNvSpPr>
          <p:nvPr/>
        </p:nvSpPr>
        <p:spPr>
          <a:xfrm xmlns:a="http://schemas.openxmlformats.org/drawingml/2006/main">
            <a:off x="12573000" y="2434530"/>
            <a:ext cx="4495800" cy="1896963"/>
          </a:xfrm>
          <a:prstGeom xmlns:a="http://schemas.openxmlformats.org/drawingml/2006/main" prst="roundRect">
            <a:avLst>
              <a:gd name="adj" fmla="val 6025"/>
            </a:avLst>
          </a:prstGeom>
          <a:solidFill xmlns:a="http://schemas.openxmlformats.org/drawingml/2006/main">
            <a:srgbClr val="E6E8EE"/>
          </a:solidFill>
          <a:ln xmlns:a="http://schemas.openxmlformats.org/drawingml/2006/main" w="0">
            <a:noFill/>
          </a:ln>
        </p:spPr>
      </p:sp>
      <p:sp>
        <p:nvSpPr>
          <p:cNvPr id="4" name="rounded-banner-accent">
            <a:extLst xmlns:a="http://schemas.openxmlformats.org/drawingml/2006/main">
              <a:ext uri="{FF2B5EF4-FFF2-40B4-BE49-F238E27FC236}">
                <a16:creationId xmlns:a16="http://schemas.microsoft.com/office/drawing/2014/main" id="{B20BA5E6-2707-420D-B8CA-4C175490BCAE}"/>
              </a:ext>
            </a:extLst>
          </p:cNvPr>
          <p:cNvSpPr>
            <a:spLocks xmlns:a="http://schemas.openxmlformats.org/drawingml/2006/main" noGrp="1"/>
          </p:cNvSpPr>
          <p:nvPr/>
        </p:nvSpPr>
        <p:spPr>
          <a:xfrm xmlns:a="http://schemas.openxmlformats.org/drawingml/2006/main">
            <a:off x="12573000" y="2434530"/>
            <a:ext cx="114300" cy="1896963"/>
          </a:xfrm>
          <a:custGeom xmlns:a="http://schemas.openxmlformats.org/drawingml/2006/main">
            <a:pathLst>
              <a:path w="114300" h="1896963">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782663"/>
                </a:lnTo>
                <a:lnTo>
                  <a:pt x="61" y="1786403"/>
                </a:lnTo>
                <a:lnTo>
                  <a:pt x="245" y="1790139"/>
                </a:lnTo>
                <a:lnTo>
                  <a:pt x="550" y="1793867"/>
                </a:lnTo>
                <a:lnTo>
                  <a:pt x="978" y="1797582"/>
                </a:lnTo>
                <a:lnTo>
                  <a:pt x="1527" y="1801282"/>
                </a:lnTo>
                <a:lnTo>
                  <a:pt x="2196" y="1804962"/>
                </a:lnTo>
                <a:lnTo>
                  <a:pt x="2986" y="1808618"/>
                </a:lnTo>
                <a:lnTo>
                  <a:pt x="3895" y="1812246"/>
                </a:lnTo>
                <a:lnTo>
                  <a:pt x="4922" y="1815843"/>
                </a:lnTo>
                <a:lnTo>
                  <a:pt x="6066" y="1819404"/>
                </a:lnTo>
                <a:lnTo>
                  <a:pt x="7326" y="1822925"/>
                </a:lnTo>
                <a:lnTo>
                  <a:pt x="8701" y="1826404"/>
                </a:lnTo>
                <a:lnTo>
                  <a:pt x="10188" y="1829836"/>
                </a:lnTo>
                <a:lnTo>
                  <a:pt x="11787" y="1833217"/>
                </a:lnTo>
                <a:lnTo>
                  <a:pt x="13496" y="1836544"/>
                </a:lnTo>
                <a:lnTo>
                  <a:pt x="15313" y="1839813"/>
                </a:lnTo>
                <a:lnTo>
                  <a:pt x="17236" y="1843021"/>
                </a:lnTo>
                <a:lnTo>
                  <a:pt x="19263" y="1846165"/>
                </a:lnTo>
                <a:lnTo>
                  <a:pt x="21392" y="1849240"/>
                </a:lnTo>
                <a:lnTo>
                  <a:pt x="23620" y="1852245"/>
                </a:lnTo>
                <a:lnTo>
                  <a:pt x="25945" y="1855174"/>
                </a:lnTo>
                <a:lnTo>
                  <a:pt x="28365" y="1858027"/>
                </a:lnTo>
                <a:lnTo>
                  <a:pt x="30877" y="1860798"/>
                </a:lnTo>
                <a:lnTo>
                  <a:pt x="33478" y="1863486"/>
                </a:lnTo>
                <a:lnTo>
                  <a:pt x="36165" y="1866087"/>
                </a:lnTo>
                <a:lnTo>
                  <a:pt x="38937" y="1868599"/>
                </a:lnTo>
                <a:lnTo>
                  <a:pt x="41789" y="1871018"/>
                </a:lnTo>
                <a:lnTo>
                  <a:pt x="44719" y="1873344"/>
                </a:lnTo>
                <a:lnTo>
                  <a:pt x="47723" y="1875572"/>
                </a:lnTo>
                <a:lnTo>
                  <a:pt x="50798" y="1877700"/>
                </a:lnTo>
                <a:lnTo>
                  <a:pt x="53942" y="1879727"/>
                </a:lnTo>
                <a:lnTo>
                  <a:pt x="57150" y="1881650"/>
                </a:lnTo>
                <a:lnTo>
                  <a:pt x="60419" y="1883467"/>
                </a:lnTo>
                <a:lnTo>
                  <a:pt x="63746" y="1885176"/>
                </a:lnTo>
                <a:lnTo>
                  <a:pt x="67128" y="1886775"/>
                </a:lnTo>
                <a:lnTo>
                  <a:pt x="70559" y="1888263"/>
                </a:lnTo>
                <a:lnTo>
                  <a:pt x="74038" y="1889637"/>
                </a:lnTo>
                <a:lnTo>
                  <a:pt x="77559" y="1890897"/>
                </a:lnTo>
                <a:lnTo>
                  <a:pt x="81120" y="1892042"/>
                </a:lnTo>
                <a:lnTo>
                  <a:pt x="84717" y="1893069"/>
                </a:lnTo>
                <a:lnTo>
                  <a:pt x="88345" y="1893977"/>
                </a:lnTo>
                <a:lnTo>
                  <a:pt x="92001" y="1894767"/>
                </a:lnTo>
                <a:lnTo>
                  <a:pt x="95681" y="1895437"/>
                </a:lnTo>
                <a:lnTo>
                  <a:pt x="99381" y="1895985"/>
                </a:lnTo>
                <a:lnTo>
                  <a:pt x="103097" y="1896413"/>
                </a:lnTo>
                <a:lnTo>
                  <a:pt x="106824" y="1896719"/>
                </a:lnTo>
                <a:lnTo>
                  <a:pt x="110560" y="1896902"/>
                </a:lnTo>
                <a:lnTo>
                  <a:pt x="114300" y="1896963"/>
                </a:lnTo>
                <a:lnTo>
                  <a:pt x="114300" y="1896963"/>
                </a:lnTo>
                <a:lnTo>
                  <a:pt x="112430" y="1896902"/>
                </a:lnTo>
                <a:lnTo>
                  <a:pt x="110562" y="1896719"/>
                </a:lnTo>
                <a:lnTo>
                  <a:pt x="108698" y="1896413"/>
                </a:lnTo>
                <a:lnTo>
                  <a:pt x="106840" y="1895985"/>
                </a:lnTo>
                <a:lnTo>
                  <a:pt x="104991" y="1895437"/>
                </a:lnTo>
                <a:lnTo>
                  <a:pt x="103151" y="1894767"/>
                </a:lnTo>
                <a:lnTo>
                  <a:pt x="101323" y="1893977"/>
                </a:lnTo>
                <a:lnTo>
                  <a:pt x="99508" y="1893069"/>
                </a:lnTo>
                <a:lnTo>
                  <a:pt x="97710" y="1892042"/>
                </a:lnTo>
                <a:lnTo>
                  <a:pt x="95930" y="1890897"/>
                </a:lnTo>
                <a:lnTo>
                  <a:pt x="94169" y="1889637"/>
                </a:lnTo>
                <a:lnTo>
                  <a:pt x="92430" y="1888263"/>
                </a:lnTo>
                <a:lnTo>
                  <a:pt x="90714" y="1886775"/>
                </a:lnTo>
                <a:lnTo>
                  <a:pt x="89023" y="1885176"/>
                </a:lnTo>
                <a:lnTo>
                  <a:pt x="87360" y="1883467"/>
                </a:lnTo>
                <a:lnTo>
                  <a:pt x="85725" y="1881650"/>
                </a:lnTo>
                <a:lnTo>
                  <a:pt x="84121" y="1879727"/>
                </a:lnTo>
                <a:lnTo>
                  <a:pt x="82549" y="1877700"/>
                </a:lnTo>
                <a:lnTo>
                  <a:pt x="81011" y="1875572"/>
                </a:lnTo>
                <a:lnTo>
                  <a:pt x="79509" y="1873344"/>
                </a:lnTo>
                <a:lnTo>
                  <a:pt x="78044" y="1871018"/>
                </a:lnTo>
                <a:lnTo>
                  <a:pt x="76618" y="1868599"/>
                </a:lnTo>
                <a:lnTo>
                  <a:pt x="75233" y="1866087"/>
                </a:lnTo>
                <a:lnTo>
                  <a:pt x="73889" y="1863486"/>
                </a:lnTo>
                <a:lnTo>
                  <a:pt x="72588" y="1860798"/>
                </a:lnTo>
                <a:lnTo>
                  <a:pt x="71332" y="1858027"/>
                </a:lnTo>
                <a:lnTo>
                  <a:pt x="70122" y="1855174"/>
                </a:lnTo>
                <a:lnTo>
                  <a:pt x="68960" y="1852245"/>
                </a:lnTo>
                <a:lnTo>
                  <a:pt x="67846" y="1849240"/>
                </a:lnTo>
                <a:lnTo>
                  <a:pt x="66782" y="1846165"/>
                </a:lnTo>
                <a:lnTo>
                  <a:pt x="65768" y="1843021"/>
                </a:lnTo>
                <a:lnTo>
                  <a:pt x="64807" y="1839813"/>
                </a:lnTo>
                <a:lnTo>
                  <a:pt x="63898" y="1836544"/>
                </a:lnTo>
                <a:lnTo>
                  <a:pt x="63044" y="1833217"/>
                </a:lnTo>
                <a:lnTo>
                  <a:pt x="62244" y="1829836"/>
                </a:lnTo>
                <a:lnTo>
                  <a:pt x="61500" y="1826404"/>
                </a:lnTo>
                <a:lnTo>
                  <a:pt x="60813" y="1822925"/>
                </a:lnTo>
                <a:lnTo>
                  <a:pt x="60183" y="1819404"/>
                </a:lnTo>
                <a:lnTo>
                  <a:pt x="59611" y="1815843"/>
                </a:lnTo>
                <a:lnTo>
                  <a:pt x="59097" y="1812246"/>
                </a:lnTo>
                <a:lnTo>
                  <a:pt x="58643" y="1808618"/>
                </a:lnTo>
                <a:lnTo>
                  <a:pt x="58248" y="1804962"/>
                </a:lnTo>
                <a:lnTo>
                  <a:pt x="57913" y="1801282"/>
                </a:lnTo>
                <a:lnTo>
                  <a:pt x="57639" y="1797582"/>
                </a:lnTo>
                <a:lnTo>
                  <a:pt x="57425" y="1793867"/>
                </a:lnTo>
                <a:lnTo>
                  <a:pt x="57272" y="1790139"/>
                </a:lnTo>
                <a:lnTo>
                  <a:pt x="57181" y="1786403"/>
                </a:lnTo>
                <a:lnTo>
                  <a:pt x="57150" y="1782663"/>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542010-2808-4330-AF20-4E47E839AA8C}"/>
              </a:ext>
            </a:extLst>
          </p:cNvPr>
          <p:cNvSpPr>
            <a:spLocks xmlns:a="http://schemas.openxmlformats.org/drawingml/2006/main" noGrp="1"/>
          </p:cNvSpPr>
          <p:nvPr/>
        </p:nvSpPr>
        <p:spPr>
          <a:xfrm xmlns:a="http://schemas.openxmlformats.org/drawingml/2006/main">
            <a:off x="12573000" y="4560094"/>
            <a:ext cx="4495800" cy="1896963"/>
          </a:xfrm>
          <a:prstGeom xmlns:a="http://schemas.openxmlformats.org/drawingml/2006/main" prst="roundRect">
            <a:avLst>
              <a:gd name="adj" fmla="val 602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0A637145-EBFA-42BE-B6A7-FE2F92E4F746}"/>
              </a:ext>
            </a:extLst>
          </p:cNvPr>
          <p:cNvSpPr>
            <a:spLocks xmlns:a="http://schemas.openxmlformats.org/drawingml/2006/main" noGrp="1"/>
          </p:cNvSpPr>
          <p:nvPr/>
        </p:nvSpPr>
        <p:spPr>
          <a:xfrm xmlns:a="http://schemas.openxmlformats.org/drawingml/2006/main">
            <a:off x="12573000" y="4560094"/>
            <a:ext cx="114300" cy="1896963"/>
          </a:xfrm>
          <a:custGeom xmlns:a="http://schemas.openxmlformats.org/drawingml/2006/main">
            <a:pathLst>
              <a:path w="114300" h="1896963">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782663"/>
                </a:lnTo>
                <a:lnTo>
                  <a:pt x="61" y="1786403"/>
                </a:lnTo>
                <a:lnTo>
                  <a:pt x="245" y="1790139"/>
                </a:lnTo>
                <a:lnTo>
                  <a:pt x="550" y="1793867"/>
                </a:lnTo>
                <a:lnTo>
                  <a:pt x="978" y="1797582"/>
                </a:lnTo>
                <a:lnTo>
                  <a:pt x="1527" y="1801282"/>
                </a:lnTo>
                <a:lnTo>
                  <a:pt x="2196" y="1804962"/>
                </a:lnTo>
                <a:lnTo>
                  <a:pt x="2986" y="1808618"/>
                </a:lnTo>
                <a:lnTo>
                  <a:pt x="3895" y="1812246"/>
                </a:lnTo>
                <a:lnTo>
                  <a:pt x="4922" y="1815843"/>
                </a:lnTo>
                <a:lnTo>
                  <a:pt x="6066" y="1819404"/>
                </a:lnTo>
                <a:lnTo>
                  <a:pt x="7326" y="1822925"/>
                </a:lnTo>
                <a:lnTo>
                  <a:pt x="8701" y="1826404"/>
                </a:lnTo>
                <a:lnTo>
                  <a:pt x="10188" y="1829836"/>
                </a:lnTo>
                <a:lnTo>
                  <a:pt x="11787" y="1833217"/>
                </a:lnTo>
                <a:lnTo>
                  <a:pt x="13496" y="1836544"/>
                </a:lnTo>
                <a:lnTo>
                  <a:pt x="15313" y="1839813"/>
                </a:lnTo>
                <a:lnTo>
                  <a:pt x="17236" y="1843021"/>
                </a:lnTo>
                <a:lnTo>
                  <a:pt x="19263" y="1846165"/>
                </a:lnTo>
                <a:lnTo>
                  <a:pt x="21392" y="1849240"/>
                </a:lnTo>
                <a:lnTo>
                  <a:pt x="23620" y="1852245"/>
                </a:lnTo>
                <a:lnTo>
                  <a:pt x="25945" y="1855174"/>
                </a:lnTo>
                <a:lnTo>
                  <a:pt x="28365" y="1858027"/>
                </a:lnTo>
                <a:lnTo>
                  <a:pt x="30877" y="1860798"/>
                </a:lnTo>
                <a:lnTo>
                  <a:pt x="33478" y="1863486"/>
                </a:lnTo>
                <a:lnTo>
                  <a:pt x="36165" y="1866087"/>
                </a:lnTo>
                <a:lnTo>
                  <a:pt x="38937" y="1868599"/>
                </a:lnTo>
                <a:lnTo>
                  <a:pt x="41789" y="1871018"/>
                </a:lnTo>
                <a:lnTo>
                  <a:pt x="44719" y="1873344"/>
                </a:lnTo>
                <a:lnTo>
                  <a:pt x="47723" y="1875572"/>
                </a:lnTo>
                <a:lnTo>
                  <a:pt x="50798" y="1877700"/>
                </a:lnTo>
                <a:lnTo>
                  <a:pt x="53942" y="1879727"/>
                </a:lnTo>
                <a:lnTo>
                  <a:pt x="57150" y="1881650"/>
                </a:lnTo>
                <a:lnTo>
                  <a:pt x="60419" y="1883467"/>
                </a:lnTo>
                <a:lnTo>
                  <a:pt x="63746" y="1885176"/>
                </a:lnTo>
                <a:lnTo>
                  <a:pt x="67128" y="1886775"/>
                </a:lnTo>
                <a:lnTo>
                  <a:pt x="70559" y="1888263"/>
                </a:lnTo>
                <a:lnTo>
                  <a:pt x="74038" y="1889637"/>
                </a:lnTo>
                <a:lnTo>
                  <a:pt x="77559" y="1890897"/>
                </a:lnTo>
                <a:lnTo>
                  <a:pt x="81120" y="1892042"/>
                </a:lnTo>
                <a:lnTo>
                  <a:pt x="84717" y="1893069"/>
                </a:lnTo>
                <a:lnTo>
                  <a:pt x="88345" y="1893977"/>
                </a:lnTo>
                <a:lnTo>
                  <a:pt x="92001" y="1894767"/>
                </a:lnTo>
                <a:lnTo>
                  <a:pt x="95681" y="1895437"/>
                </a:lnTo>
                <a:lnTo>
                  <a:pt x="99381" y="1895985"/>
                </a:lnTo>
                <a:lnTo>
                  <a:pt x="103097" y="1896413"/>
                </a:lnTo>
                <a:lnTo>
                  <a:pt x="106824" y="1896719"/>
                </a:lnTo>
                <a:lnTo>
                  <a:pt x="110560" y="1896902"/>
                </a:lnTo>
                <a:lnTo>
                  <a:pt x="114300" y="1896963"/>
                </a:lnTo>
                <a:lnTo>
                  <a:pt x="114300" y="1896963"/>
                </a:lnTo>
                <a:lnTo>
                  <a:pt x="112430" y="1896902"/>
                </a:lnTo>
                <a:lnTo>
                  <a:pt x="110562" y="1896719"/>
                </a:lnTo>
                <a:lnTo>
                  <a:pt x="108698" y="1896413"/>
                </a:lnTo>
                <a:lnTo>
                  <a:pt x="106840" y="1895985"/>
                </a:lnTo>
                <a:lnTo>
                  <a:pt x="104991" y="1895437"/>
                </a:lnTo>
                <a:lnTo>
                  <a:pt x="103151" y="1894767"/>
                </a:lnTo>
                <a:lnTo>
                  <a:pt x="101323" y="1893977"/>
                </a:lnTo>
                <a:lnTo>
                  <a:pt x="99508" y="1893069"/>
                </a:lnTo>
                <a:lnTo>
                  <a:pt x="97710" y="1892042"/>
                </a:lnTo>
                <a:lnTo>
                  <a:pt x="95930" y="1890897"/>
                </a:lnTo>
                <a:lnTo>
                  <a:pt x="94169" y="1889637"/>
                </a:lnTo>
                <a:lnTo>
                  <a:pt x="92430" y="1888263"/>
                </a:lnTo>
                <a:lnTo>
                  <a:pt x="90714" y="1886775"/>
                </a:lnTo>
                <a:lnTo>
                  <a:pt x="89023" y="1885176"/>
                </a:lnTo>
                <a:lnTo>
                  <a:pt x="87360" y="1883467"/>
                </a:lnTo>
                <a:lnTo>
                  <a:pt x="85725" y="1881650"/>
                </a:lnTo>
                <a:lnTo>
                  <a:pt x="84121" y="1879727"/>
                </a:lnTo>
                <a:lnTo>
                  <a:pt x="82549" y="1877700"/>
                </a:lnTo>
                <a:lnTo>
                  <a:pt x="81011" y="1875572"/>
                </a:lnTo>
                <a:lnTo>
                  <a:pt x="79509" y="1873344"/>
                </a:lnTo>
                <a:lnTo>
                  <a:pt x="78044" y="1871018"/>
                </a:lnTo>
                <a:lnTo>
                  <a:pt x="76618" y="1868599"/>
                </a:lnTo>
                <a:lnTo>
                  <a:pt x="75233" y="1866087"/>
                </a:lnTo>
                <a:lnTo>
                  <a:pt x="73889" y="1863486"/>
                </a:lnTo>
                <a:lnTo>
                  <a:pt x="72588" y="1860798"/>
                </a:lnTo>
                <a:lnTo>
                  <a:pt x="71332" y="1858027"/>
                </a:lnTo>
                <a:lnTo>
                  <a:pt x="70122" y="1855174"/>
                </a:lnTo>
                <a:lnTo>
                  <a:pt x="68960" y="1852245"/>
                </a:lnTo>
                <a:lnTo>
                  <a:pt x="67846" y="1849240"/>
                </a:lnTo>
                <a:lnTo>
                  <a:pt x="66782" y="1846165"/>
                </a:lnTo>
                <a:lnTo>
                  <a:pt x="65768" y="1843021"/>
                </a:lnTo>
                <a:lnTo>
                  <a:pt x="64807" y="1839813"/>
                </a:lnTo>
                <a:lnTo>
                  <a:pt x="63898" y="1836544"/>
                </a:lnTo>
                <a:lnTo>
                  <a:pt x="63044" y="1833217"/>
                </a:lnTo>
                <a:lnTo>
                  <a:pt x="62244" y="1829836"/>
                </a:lnTo>
                <a:lnTo>
                  <a:pt x="61500" y="1826404"/>
                </a:lnTo>
                <a:lnTo>
                  <a:pt x="60813" y="1822925"/>
                </a:lnTo>
                <a:lnTo>
                  <a:pt x="60183" y="1819404"/>
                </a:lnTo>
                <a:lnTo>
                  <a:pt x="59611" y="1815843"/>
                </a:lnTo>
                <a:lnTo>
                  <a:pt x="59097" y="1812246"/>
                </a:lnTo>
                <a:lnTo>
                  <a:pt x="58643" y="1808618"/>
                </a:lnTo>
                <a:lnTo>
                  <a:pt x="58248" y="1804962"/>
                </a:lnTo>
                <a:lnTo>
                  <a:pt x="57913" y="1801282"/>
                </a:lnTo>
                <a:lnTo>
                  <a:pt x="57639" y="1797582"/>
                </a:lnTo>
                <a:lnTo>
                  <a:pt x="57425" y="1793867"/>
                </a:lnTo>
                <a:lnTo>
                  <a:pt x="57272" y="1790139"/>
                </a:lnTo>
                <a:lnTo>
                  <a:pt x="57181" y="1786403"/>
                </a:lnTo>
                <a:lnTo>
                  <a:pt x="57150" y="1782663"/>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2BC0BD4-5B13-4960-991F-1AE1D878F2B3}"/>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15">
            <a:extLst xmlns:a="http://schemas.openxmlformats.org/drawingml/2006/main">
              <a:ext uri="{FF2B5EF4-FFF2-40B4-BE49-F238E27FC236}">
                <a16:creationId xmlns:a16="http://schemas.microsoft.com/office/drawing/2014/main" id="{D7AFD036-CA56-4BA9-B30D-0754DBFAC3CE}"/>
              </a:ext>
            </a:extLst>
          </p:cNvPr>
          <p:cNvSpPr>
            <a:spLocks xmlns:a="http://schemas.openxmlformats.org/drawingml/2006/main" noGrp="1"/>
          </p:cNvSpPr>
          <p:nvPr/>
        </p:nvSpPr>
        <p:spPr>
          <a:xfrm xmlns:a="http://schemas.openxmlformats.org/drawingml/2006/main">
            <a:off x="1219200" y="1066800"/>
            <a:ext cx="299858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04 · ТЕСТ ОПОЗИВА</a:t>
            </a:r>
          </a:p>
        </p:txBody>
      </p:sp>
      <p:sp>
        <p:nvSpPr>
          <p:cNvPr id="9" name="heading-source-15">
            <a:extLst xmlns:a="http://schemas.openxmlformats.org/drawingml/2006/main">
              <a:ext uri="{FF2B5EF4-FFF2-40B4-BE49-F238E27FC236}">
                <a16:creationId xmlns:a16="http://schemas.microsoft.com/office/drawing/2014/main" id="{E7024E2D-C635-40FC-83A5-89445B050149}"/>
              </a:ext>
            </a:extLst>
          </p:cNvPr>
          <p:cNvSpPr>
            <a:spLocks xmlns:a="http://schemas.openxmlformats.org/drawingml/2006/main" noGrp="1"/>
          </p:cNvSpPr>
          <p:nvPr/>
        </p:nvSpPr>
        <p:spPr>
          <a:xfrm xmlns:a="http://schemas.openxmlformats.org/drawingml/2006/main">
            <a:off x="1219200" y="1443930"/>
            <a:ext cx="11756231"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8611"/>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Опозив има предност над старим доказом</a:t>
            </a:r>
          </a:p>
        </p:txBody>
      </p:sp>
      <p:sp>
        <p:nvSpPr>
          <p:cNvPr id="10" name="text-source-15">
            <a:extLst xmlns:a="http://schemas.openxmlformats.org/drawingml/2006/main">
              <a:ext uri="{FF2B5EF4-FFF2-40B4-BE49-F238E27FC236}">
                <a16:creationId xmlns:a16="http://schemas.microsoft.com/office/drawing/2014/main" id="{41D6C48D-B223-486B-8CE5-6EA2DC49F673}"/>
              </a:ext>
            </a:extLst>
          </p:cNvPr>
          <p:cNvSpPr>
            <a:spLocks xmlns:a="http://schemas.openxmlformats.org/drawingml/2006/main" noGrp="1"/>
          </p:cNvSpPr>
          <p:nvPr/>
        </p:nvSpPr>
        <p:spPr>
          <a:xfrm xmlns:a="http://schemas.openxmlformats.org/drawingml/2006/main">
            <a:off x="1495425" y="2634555"/>
            <a:ext cx="29490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C# · изворни пример</a:t>
            </a:r>
          </a:p>
        </p:txBody>
      </p:sp>
      <p:sp>
        <p:nvSpPr>
          <p:cNvPr id="11" name="text-source-15">
            <a:extLst xmlns:a="http://schemas.openxmlformats.org/drawingml/2006/main">
              <a:ext uri="{FF2B5EF4-FFF2-40B4-BE49-F238E27FC236}">
                <a16:creationId xmlns:a16="http://schemas.microsoft.com/office/drawing/2014/main" id="{42FA66D2-4B7A-40D4-928F-67873B8A6889}"/>
              </a:ext>
            </a:extLst>
          </p:cNvPr>
          <p:cNvSpPr>
            <a:spLocks xmlns:a="http://schemas.openxmlformats.org/drawingml/2006/main" noGrp="1"/>
          </p:cNvSpPr>
          <p:nvPr/>
        </p:nvSpPr>
        <p:spPr>
          <a:xfrm xmlns:a="http://schemas.openxmlformats.org/drawingml/2006/main">
            <a:off x="1495425" y="3030736"/>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a:t>
            </a:r>
          </a:p>
        </p:txBody>
      </p:sp>
      <p:sp>
        <p:nvSpPr>
          <p:cNvPr id="12" name="text-source-15">
            <a:extLst xmlns:a="http://schemas.openxmlformats.org/drawingml/2006/main">
              <a:ext uri="{FF2B5EF4-FFF2-40B4-BE49-F238E27FC236}">
                <a16:creationId xmlns:a16="http://schemas.microsoft.com/office/drawing/2014/main" id="{4F160594-0240-4A97-A8E8-D4CC4CFFC3C8}"/>
              </a:ext>
            </a:extLst>
          </p:cNvPr>
          <p:cNvSpPr>
            <a:spLocks xmlns:a="http://schemas.openxmlformats.org/drawingml/2006/main" noGrp="1"/>
          </p:cNvSpPr>
          <p:nvPr/>
        </p:nvSpPr>
        <p:spPr>
          <a:xfrm xmlns:a="http://schemas.openxmlformats.org/drawingml/2006/main">
            <a:off x="2066925" y="3030736"/>
            <a:ext cx="11659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[Test]</a:t>
            </a:r>
          </a:p>
        </p:txBody>
      </p:sp>
      <p:sp>
        <p:nvSpPr>
          <p:cNvPr id="13" name="text-source-15">
            <a:extLst xmlns:a="http://schemas.openxmlformats.org/drawingml/2006/main">
              <a:ext uri="{FF2B5EF4-FFF2-40B4-BE49-F238E27FC236}">
                <a16:creationId xmlns:a16="http://schemas.microsoft.com/office/drawing/2014/main" id="{0D0E5615-EB52-42C4-8ECB-77612B461A69}"/>
              </a:ext>
            </a:extLst>
          </p:cNvPr>
          <p:cNvSpPr>
            <a:spLocks xmlns:a="http://schemas.openxmlformats.org/drawingml/2006/main" noGrp="1"/>
          </p:cNvSpPr>
          <p:nvPr/>
        </p:nvSpPr>
        <p:spPr>
          <a:xfrm xmlns:a="http://schemas.openxmlformats.org/drawingml/2006/main">
            <a:off x="1495425" y="3350716"/>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2</a:t>
            </a:r>
          </a:p>
        </p:txBody>
      </p:sp>
      <p:sp>
        <p:nvSpPr>
          <p:cNvPr id="14" name="text-source-15">
            <a:extLst xmlns:a="http://schemas.openxmlformats.org/drawingml/2006/main">
              <a:ext uri="{FF2B5EF4-FFF2-40B4-BE49-F238E27FC236}">
                <a16:creationId xmlns:a16="http://schemas.microsoft.com/office/drawing/2014/main" id="{7776AC66-51C7-41C9-B5F3-C2D5A5405BF4}"/>
              </a:ext>
            </a:extLst>
          </p:cNvPr>
          <p:cNvSpPr>
            <a:spLocks xmlns:a="http://schemas.openxmlformats.org/drawingml/2006/main" noGrp="1"/>
          </p:cNvSpPr>
          <p:nvPr/>
        </p:nvSpPr>
        <p:spPr>
          <a:xfrm xmlns:a="http://schemas.openxmlformats.org/drawingml/2006/main">
            <a:off x="2066925" y="3350716"/>
            <a:ext cx="18517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public</a:t>
            </a:r>
            <a:r>
              <a:rPr sz="1800" b="0">
                <a:solidFill>
                  <a:srgbClr val="13202D"/>
                </a:solidFill>
                <a:latin typeface="IBM Plex Mono"/>
                <a:ea typeface="IBM Plex Mono"/>
                <a:cs typeface="IBM Plex Mono"/>
              </a:rPr>
              <a:t> void</a:t>
            </a:r>
          </a:p>
        </p:txBody>
      </p:sp>
      <p:sp>
        <p:nvSpPr>
          <p:cNvPr id="15" name="text-source-15">
            <a:extLst xmlns:a="http://schemas.openxmlformats.org/drawingml/2006/main">
              <a:ext uri="{FF2B5EF4-FFF2-40B4-BE49-F238E27FC236}">
                <a16:creationId xmlns:a16="http://schemas.microsoft.com/office/drawing/2014/main" id="{105A076D-EA2B-4660-9523-55620E64E95B}"/>
              </a:ext>
            </a:extLst>
          </p:cNvPr>
          <p:cNvSpPr>
            <a:spLocks xmlns:a="http://schemas.openxmlformats.org/drawingml/2006/main" noGrp="1"/>
          </p:cNvSpPr>
          <p:nvPr/>
        </p:nvSpPr>
        <p:spPr>
          <a:xfrm xmlns:a="http://schemas.openxmlformats.org/drawingml/2006/main">
            <a:off x="1495425" y="367069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3</a:t>
            </a:r>
          </a:p>
        </p:txBody>
      </p:sp>
      <p:sp>
        <p:nvSpPr>
          <p:cNvPr id="16" name="text-source-15">
            <a:extLst xmlns:a="http://schemas.openxmlformats.org/drawingml/2006/main">
              <a:ext uri="{FF2B5EF4-FFF2-40B4-BE49-F238E27FC236}">
                <a16:creationId xmlns:a16="http://schemas.microsoft.com/office/drawing/2014/main" id="{162F6593-A765-44A9-91DE-24CB0B9AE1D2}"/>
              </a:ext>
            </a:extLst>
          </p:cNvPr>
          <p:cNvSpPr>
            <a:spLocks xmlns:a="http://schemas.openxmlformats.org/drawingml/2006/main" noGrp="1"/>
          </p:cNvSpPr>
          <p:nvPr/>
        </p:nvSpPr>
        <p:spPr>
          <a:xfrm xmlns:a="http://schemas.openxmlformats.org/drawingml/2006/main">
            <a:off x="2066925" y="3670697"/>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Evaluate_WhenSessionIsRevoked_DeniesWithoutOfferingMfa()</a:t>
            </a:r>
          </a:p>
        </p:txBody>
      </p:sp>
      <p:sp>
        <p:nvSpPr>
          <p:cNvPr id="17" name="text-source-15">
            <a:extLst xmlns:a="http://schemas.openxmlformats.org/drawingml/2006/main">
              <a:ext uri="{FF2B5EF4-FFF2-40B4-BE49-F238E27FC236}">
                <a16:creationId xmlns:a16="http://schemas.microsoft.com/office/drawing/2014/main" id="{970835AE-D470-4AB3-A845-4F9358B0AFC1}"/>
              </a:ext>
            </a:extLst>
          </p:cNvPr>
          <p:cNvSpPr>
            <a:spLocks xmlns:a="http://schemas.openxmlformats.org/drawingml/2006/main" noGrp="1"/>
          </p:cNvSpPr>
          <p:nvPr/>
        </p:nvSpPr>
        <p:spPr>
          <a:xfrm xmlns:a="http://schemas.openxmlformats.org/drawingml/2006/main">
            <a:off x="1495425" y="399067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4</a:t>
            </a:r>
          </a:p>
        </p:txBody>
      </p:sp>
      <p:sp>
        <p:nvSpPr>
          <p:cNvPr id="18" name="text-source-15">
            <a:extLst xmlns:a="http://schemas.openxmlformats.org/drawingml/2006/main">
              <a:ext uri="{FF2B5EF4-FFF2-40B4-BE49-F238E27FC236}">
                <a16:creationId xmlns:a16="http://schemas.microsoft.com/office/drawing/2014/main" id="{1E5FA8F7-3A26-4618-8F27-215D3C909BCB}"/>
              </a:ext>
            </a:extLst>
          </p:cNvPr>
          <p:cNvSpPr>
            <a:spLocks xmlns:a="http://schemas.openxmlformats.org/drawingml/2006/main" noGrp="1"/>
          </p:cNvSpPr>
          <p:nvPr/>
        </p:nvSpPr>
        <p:spPr>
          <a:xfrm xmlns:a="http://schemas.openxmlformats.org/drawingml/2006/main">
            <a:off x="2066925" y="399067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a:t>
            </a:r>
          </a:p>
        </p:txBody>
      </p:sp>
      <p:sp>
        <p:nvSpPr>
          <p:cNvPr id="19" name="text-source-15">
            <a:extLst xmlns:a="http://schemas.openxmlformats.org/drawingml/2006/main">
              <a:ext uri="{FF2B5EF4-FFF2-40B4-BE49-F238E27FC236}">
                <a16:creationId xmlns:a16="http://schemas.microsoft.com/office/drawing/2014/main" id="{E5689FA1-6A49-478A-86FD-03AFABF12762}"/>
              </a:ext>
            </a:extLst>
          </p:cNvPr>
          <p:cNvSpPr>
            <a:spLocks xmlns:a="http://schemas.openxmlformats.org/drawingml/2006/main" noGrp="1"/>
          </p:cNvSpPr>
          <p:nvPr/>
        </p:nvSpPr>
        <p:spPr>
          <a:xfrm xmlns:a="http://schemas.openxmlformats.org/drawingml/2006/main">
            <a:off x="1495425" y="4310658"/>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5</a:t>
            </a:r>
          </a:p>
        </p:txBody>
      </p:sp>
      <p:sp>
        <p:nvSpPr>
          <p:cNvPr id="20" name="text-source-15">
            <a:extLst xmlns:a="http://schemas.openxmlformats.org/drawingml/2006/main">
              <a:ext uri="{FF2B5EF4-FFF2-40B4-BE49-F238E27FC236}">
                <a16:creationId xmlns:a16="http://schemas.microsoft.com/office/drawing/2014/main" id="{AE647D5B-C64D-4FA6-A8F9-D43699E635CA}"/>
              </a:ext>
            </a:extLst>
          </p:cNvPr>
          <p:cNvSpPr>
            <a:spLocks xmlns:a="http://schemas.openxmlformats.org/drawingml/2006/main" noGrp="1"/>
          </p:cNvSpPr>
          <p:nvPr/>
        </p:nvSpPr>
        <p:spPr>
          <a:xfrm xmlns:a="http://schemas.openxmlformats.org/drawingml/2006/main">
            <a:off x="2066925" y="4310658"/>
            <a:ext cx="528086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var</a:t>
            </a:r>
            <a:r>
              <a:rPr sz="1800" b="0">
                <a:solidFill>
                  <a:srgbClr val="13202D"/>
                </a:solidFill>
                <a:latin typeface="IBM Plex Mono"/>
                <a:ea typeface="IBM Plex Mono"/>
                <a:cs typeface="IBM Plex Mono"/>
              </a:rPr>
              <a:t> decision = _policy.Evaluate(</a:t>
            </a:r>
          </a:p>
        </p:txBody>
      </p:sp>
      <p:sp>
        <p:nvSpPr>
          <p:cNvPr id="21" name="text-source-15">
            <a:extLst xmlns:a="http://schemas.openxmlformats.org/drawingml/2006/main">
              <a:ext uri="{FF2B5EF4-FFF2-40B4-BE49-F238E27FC236}">
                <a16:creationId xmlns:a16="http://schemas.microsoft.com/office/drawing/2014/main" id="{374CEC61-E9E0-4491-A94A-C2173EE8666F}"/>
              </a:ext>
            </a:extLst>
          </p:cNvPr>
          <p:cNvSpPr>
            <a:spLocks xmlns:a="http://schemas.openxmlformats.org/drawingml/2006/main" noGrp="1"/>
          </p:cNvSpPr>
          <p:nvPr/>
        </p:nvSpPr>
        <p:spPr>
          <a:xfrm xmlns:a="http://schemas.openxmlformats.org/drawingml/2006/main">
            <a:off x="1495425" y="4630638"/>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6</a:t>
            </a:r>
          </a:p>
        </p:txBody>
      </p:sp>
      <p:sp>
        <p:nvSpPr>
          <p:cNvPr id="22" name="text-source-15">
            <a:extLst xmlns:a="http://schemas.openxmlformats.org/drawingml/2006/main">
              <a:ext uri="{FF2B5EF4-FFF2-40B4-BE49-F238E27FC236}">
                <a16:creationId xmlns:a16="http://schemas.microsoft.com/office/drawing/2014/main" id="{B4314889-0F4B-49A2-A5E2-BCAFB42689F2}"/>
              </a:ext>
            </a:extLst>
          </p:cNvPr>
          <p:cNvSpPr>
            <a:spLocks xmlns:a="http://schemas.openxmlformats.org/drawingml/2006/main" noGrp="1"/>
          </p:cNvSpPr>
          <p:nvPr/>
        </p:nvSpPr>
        <p:spPr>
          <a:xfrm xmlns:a="http://schemas.openxmlformats.org/drawingml/2006/main">
            <a:off x="2066925" y="4630638"/>
            <a:ext cx="925844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Session(Now.AddMinutes(-1), revoked: </a:t>
            </a:r>
            <a:r>
              <a:rPr sz="1800" b="0">
                <a:solidFill>
                  <a:srgbClr val="3A46A5"/>
                </a:solidFill>
                <a:latin typeface="IBM Plex Mono"/>
                <a:ea typeface="IBM Plex Mono"/>
                <a:cs typeface="IBM Plex Mono"/>
              </a:rPr>
              <a:t>true</a:t>
            </a:r>
            <a:r>
              <a:rPr sz="1800" b="0">
                <a:solidFill>
                  <a:srgbClr val="13202D"/>
                </a:solidFill>
                <a:latin typeface="IBM Plex Mono"/>
                <a:ea typeface="IBM Plex Mono"/>
                <a:cs typeface="IBM Plex Mono"/>
              </a:rPr>
              <a:t>), Export, Now);</a:t>
            </a:r>
          </a:p>
        </p:txBody>
      </p:sp>
      <p:sp>
        <p:nvSpPr>
          <p:cNvPr id="23" name="text-source-15">
            <a:extLst xmlns:a="http://schemas.openxmlformats.org/drawingml/2006/main">
              <a:ext uri="{FF2B5EF4-FFF2-40B4-BE49-F238E27FC236}">
                <a16:creationId xmlns:a16="http://schemas.microsoft.com/office/drawing/2014/main" id="{5DFC0A54-BCFF-4E8B-818E-A5C3AD163364}"/>
              </a:ext>
            </a:extLst>
          </p:cNvPr>
          <p:cNvSpPr>
            <a:spLocks xmlns:a="http://schemas.openxmlformats.org/drawingml/2006/main" noGrp="1"/>
          </p:cNvSpPr>
          <p:nvPr/>
        </p:nvSpPr>
        <p:spPr>
          <a:xfrm xmlns:a="http://schemas.openxmlformats.org/drawingml/2006/main">
            <a:off x="1495425" y="4950619"/>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7</a:t>
            </a:r>
          </a:p>
        </p:txBody>
      </p:sp>
      <p:sp>
        <p:nvSpPr>
          <p:cNvPr id="24" name="text-source-15">
            <a:extLst xmlns:a="http://schemas.openxmlformats.org/drawingml/2006/main">
              <a:ext uri="{FF2B5EF4-FFF2-40B4-BE49-F238E27FC236}">
                <a16:creationId xmlns:a16="http://schemas.microsoft.com/office/drawing/2014/main" id="{48200AE9-3B03-46F8-B80A-847D80CEA50F}"/>
              </a:ext>
            </a:extLst>
          </p:cNvPr>
          <p:cNvSpPr>
            <a:spLocks xmlns:a="http://schemas.openxmlformats.org/drawingml/2006/main" noGrp="1"/>
          </p:cNvSpPr>
          <p:nvPr/>
        </p:nvSpPr>
        <p:spPr>
          <a:xfrm xmlns:a="http://schemas.openxmlformats.org/drawingml/2006/main">
            <a:off x="2066925" y="4950619"/>
            <a:ext cx="56922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using</a:t>
            </a:r>
            <a:r>
              <a:rPr sz="1800" b="0">
                <a:solidFill>
                  <a:srgbClr val="13202D"/>
                </a:solidFill>
                <a:latin typeface="IBM Plex Mono"/>
                <a:ea typeface="IBM Plex Mono"/>
                <a:cs typeface="IBM Plex Mono"/>
              </a:rPr>
              <a:t> (Assert.EnterMultipleScope())</a:t>
            </a:r>
          </a:p>
        </p:txBody>
      </p:sp>
      <p:sp>
        <p:nvSpPr>
          <p:cNvPr id="25" name="text-source-15">
            <a:extLst xmlns:a="http://schemas.openxmlformats.org/drawingml/2006/main">
              <a:ext uri="{FF2B5EF4-FFF2-40B4-BE49-F238E27FC236}">
                <a16:creationId xmlns:a16="http://schemas.microsoft.com/office/drawing/2014/main" id="{29706F12-886F-4A0C-8B74-7C8F7F99F751}"/>
              </a:ext>
            </a:extLst>
          </p:cNvPr>
          <p:cNvSpPr>
            <a:spLocks xmlns:a="http://schemas.openxmlformats.org/drawingml/2006/main" noGrp="1"/>
          </p:cNvSpPr>
          <p:nvPr/>
        </p:nvSpPr>
        <p:spPr>
          <a:xfrm xmlns:a="http://schemas.openxmlformats.org/drawingml/2006/main">
            <a:off x="1495425" y="5270599"/>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8</a:t>
            </a:r>
          </a:p>
        </p:txBody>
      </p:sp>
      <p:sp>
        <p:nvSpPr>
          <p:cNvPr id="26" name="text-source-15">
            <a:extLst xmlns:a="http://schemas.openxmlformats.org/drawingml/2006/main">
              <a:ext uri="{FF2B5EF4-FFF2-40B4-BE49-F238E27FC236}">
                <a16:creationId xmlns:a16="http://schemas.microsoft.com/office/drawing/2014/main" id="{E2375788-B8E0-48AF-A482-2C224E3223F8}"/>
              </a:ext>
            </a:extLst>
          </p:cNvPr>
          <p:cNvSpPr>
            <a:spLocks xmlns:a="http://schemas.openxmlformats.org/drawingml/2006/main" noGrp="1"/>
          </p:cNvSpPr>
          <p:nvPr/>
        </p:nvSpPr>
        <p:spPr>
          <a:xfrm xmlns:a="http://schemas.openxmlformats.org/drawingml/2006/main">
            <a:off x="2066925" y="5270599"/>
            <a:ext cx="1028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p>
        </p:txBody>
      </p:sp>
      <p:sp>
        <p:nvSpPr>
          <p:cNvPr id="27" name="text-source-15">
            <a:extLst xmlns:a="http://schemas.openxmlformats.org/drawingml/2006/main">
              <a:ext uri="{FF2B5EF4-FFF2-40B4-BE49-F238E27FC236}">
                <a16:creationId xmlns:a16="http://schemas.microsoft.com/office/drawing/2014/main" id="{2B1C272C-613C-4F64-B2FE-781C40449532}"/>
              </a:ext>
            </a:extLst>
          </p:cNvPr>
          <p:cNvSpPr>
            <a:spLocks xmlns:a="http://schemas.openxmlformats.org/drawingml/2006/main" noGrp="1"/>
          </p:cNvSpPr>
          <p:nvPr/>
        </p:nvSpPr>
        <p:spPr>
          <a:xfrm xmlns:a="http://schemas.openxmlformats.org/drawingml/2006/main">
            <a:off x="1495425" y="5590580"/>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9</a:t>
            </a:r>
          </a:p>
        </p:txBody>
      </p:sp>
      <p:sp>
        <p:nvSpPr>
          <p:cNvPr id="28" name="text-source-15">
            <a:extLst xmlns:a="http://schemas.openxmlformats.org/drawingml/2006/main">
              <a:ext uri="{FF2B5EF4-FFF2-40B4-BE49-F238E27FC236}">
                <a16:creationId xmlns:a16="http://schemas.microsoft.com/office/drawing/2014/main" id="{4587F9E6-CE48-4D94-BC41-FB8780425192}"/>
              </a:ext>
            </a:extLst>
          </p:cNvPr>
          <p:cNvSpPr>
            <a:spLocks xmlns:a="http://schemas.openxmlformats.org/drawingml/2006/main" noGrp="1"/>
          </p:cNvSpPr>
          <p:nvPr/>
        </p:nvSpPr>
        <p:spPr>
          <a:xfrm xmlns:a="http://schemas.openxmlformats.org/drawingml/2006/main">
            <a:off x="2066925" y="5590580"/>
            <a:ext cx="69266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Assert.That(decision.Allowed, Is.False);</a:t>
            </a:r>
          </a:p>
        </p:txBody>
      </p:sp>
      <p:sp>
        <p:nvSpPr>
          <p:cNvPr id="29" name="text-source-15">
            <a:extLst xmlns:a="http://schemas.openxmlformats.org/drawingml/2006/main">
              <a:ext uri="{FF2B5EF4-FFF2-40B4-BE49-F238E27FC236}">
                <a16:creationId xmlns:a16="http://schemas.microsoft.com/office/drawing/2014/main" id="{2A04F3F5-11CF-4996-A286-F5C75F9BE8DC}"/>
              </a:ext>
            </a:extLst>
          </p:cNvPr>
          <p:cNvSpPr>
            <a:spLocks xmlns:a="http://schemas.openxmlformats.org/drawingml/2006/main" noGrp="1"/>
          </p:cNvSpPr>
          <p:nvPr/>
        </p:nvSpPr>
        <p:spPr>
          <a:xfrm xmlns:a="http://schemas.openxmlformats.org/drawingml/2006/main">
            <a:off x="1495425" y="591056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10</a:t>
            </a:r>
          </a:p>
        </p:txBody>
      </p:sp>
      <p:sp>
        <p:nvSpPr>
          <p:cNvPr id="30" name="text-source-15">
            <a:extLst xmlns:a="http://schemas.openxmlformats.org/drawingml/2006/main">
              <a:ext uri="{FF2B5EF4-FFF2-40B4-BE49-F238E27FC236}">
                <a16:creationId xmlns:a16="http://schemas.microsoft.com/office/drawing/2014/main" id="{ED83567B-8185-4E20-95DD-4326DC35B063}"/>
              </a:ext>
            </a:extLst>
          </p:cNvPr>
          <p:cNvSpPr>
            <a:spLocks xmlns:a="http://schemas.openxmlformats.org/drawingml/2006/main" noGrp="1"/>
          </p:cNvSpPr>
          <p:nvPr/>
        </p:nvSpPr>
        <p:spPr>
          <a:xfrm xmlns:a="http://schemas.openxmlformats.org/drawingml/2006/main">
            <a:off x="2066925" y="5910560"/>
            <a:ext cx="7475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Assert.That(decision.RequiresMfa, Is.False);</a:t>
            </a:r>
          </a:p>
        </p:txBody>
      </p:sp>
      <p:sp>
        <p:nvSpPr>
          <p:cNvPr id="31" name="text-source-15">
            <a:extLst xmlns:a="http://schemas.openxmlformats.org/drawingml/2006/main">
              <a:ext uri="{FF2B5EF4-FFF2-40B4-BE49-F238E27FC236}">
                <a16:creationId xmlns:a16="http://schemas.microsoft.com/office/drawing/2014/main" id="{6E07958D-BF96-45EC-AD7A-A8718E3230D8}"/>
              </a:ext>
            </a:extLst>
          </p:cNvPr>
          <p:cNvSpPr>
            <a:spLocks xmlns:a="http://schemas.openxmlformats.org/drawingml/2006/main" noGrp="1"/>
          </p:cNvSpPr>
          <p:nvPr/>
        </p:nvSpPr>
        <p:spPr>
          <a:xfrm xmlns:a="http://schemas.openxmlformats.org/drawingml/2006/main">
            <a:off x="1495425" y="6230541"/>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11</a:t>
            </a:r>
          </a:p>
        </p:txBody>
      </p:sp>
      <p:sp>
        <p:nvSpPr>
          <p:cNvPr id="32" name="text-source-15">
            <a:extLst xmlns:a="http://schemas.openxmlformats.org/drawingml/2006/main">
              <a:ext uri="{FF2B5EF4-FFF2-40B4-BE49-F238E27FC236}">
                <a16:creationId xmlns:a16="http://schemas.microsoft.com/office/drawing/2014/main" id="{718A8E41-9A6A-4009-861A-BFF920A411AC}"/>
              </a:ext>
            </a:extLst>
          </p:cNvPr>
          <p:cNvSpPr>
            <a:spLocks xmlns:a="http://schemas.openxmlformats.org/drawingml/2006/main" noGrp="1"/>
          </p:cNvSpPr>
          <p:nvPr/>
        </p:nvSpPr>
        <p:spPr>
          <a:xfrm xmlns:a="http://schemas.openxmlformats.org/drawingml/2006/main">
            <a:off x="2066925" y="6230541"/>
            <a:ext cx="50064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Assert.That(decision.Code,</a:t>
            </a:r>
          </a:p>
        </p:txBody>
      </p:sp>
      <p:sp>
        <p:nvSpPr>
          <p:cNvPr id="33" name="text-source-15">
            <a:extLst xmlns:a="http://schemas.openxmlformats.org/drawingml/2006/main">
              <a:ext uri="{FF2B5EF4-FFF2-40B4-BE49-F238E27FC236}">
                <a16:creationId xmlns:a16="http://schemas.microsoft.com/office/drawing/2014/main" id="{6DF66200-A0BB-49EB-ADDA-3928E7A0ECFF}"/>
              </a:ext>
            </a:extLst>
          </p:cNvPr>
          <p:cNvSpPr>
            <a:spLocks xmlns:a="http://schemas.openxmlformats.org/drawingml/2006/main" noGrp="1"/>
          </p:cNvSpPr>
          <p:nvPr/>
        </p:nvSpPr>
        <p:spPr>
          <a:xfrm xmlns:a="http://schemas.openxmlformats.org/drawingml/2006/main">
            <a:off x="1495425" y="6550521"/>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12</a:t>
            </a:r>
          </a:p>
        </p:txBody>
      </p:sp>
      <p:sp>
        <p:nvSpPr>
          <p:cNvPr id="34" name="text-source-15">
            <a:extLst xmlns:a="http://schemas.openxmlformats.org/drawingml/2006/main">
              <a:ext uri="{FF2B5EF4-FFF2-40B4-BE49-F238E27FC236}">
                <a16:creationId xmlns:a16="http://schemas.microsoft.com/office/drawing/2014/main" id="{568956A0-DB0A-40BF-A8F8-8E02536E17DB}"/>
              </a:ext>
            </a:extLst>
          </p:cNvPr>
          <p:cNvSpPr>
            <a:spLocks xmlns:a="http://schemas.openxmlformats.org/drawingml/2006/main" noGrp="1"/>
          </p:cNvSpPr>
          <p:nvPr/>
        </p:nvSpPr>
        <p:spPr>
          <a:xfrm xmlns:a="http://schemas.openxmlformats.org/drawingml/2006/main">
            <a:off x="2066925" y="6550521"/>
            <a:ext cx="7475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Is.EqualTo(StepUpCodes.SessionRevoked));</a:t>
            </a:r>
          </a:p>
        </p:txBody>
      </p:sp>
      <p:sp>
        <p:nvSpPr>
          <p:cNvPr id="35" name="text-source-15">
            <a:extLst xmlns:a="http://schemas.openxmlformats.org/drawingml/2006/main">
              <a:ext uri="{FF2B5EF4-FFF2-40B4-BE49-F238E27FC236}">
                <a16:creationId xmlns:a16="http://schemas.microsoft.com/office/drawing/2014/main" id="{22BC0AA2-E08F-4D42-839B-579333D926AE}"/>
              </a:ext>
            </a:extLst>
          </p:cNvPr>
          <p:cNvSpPr>
            <a:spLocks xmlns:a="http://schemas.openxmlformats.org/drawingml/2006/main" noGrp="1"/>
          </p:cNvSpPr>
          <p:nvPr/>
        </p:nvSpPr>
        <p:spPr>
          <a:xfrm xmlns:a="http://schemas.openxmlformats.org/drawingml/2006/main">
            <a:off x="1495425" y="6870502"/>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13</a:t>
            </a:r>
          </a:p>
        </p:txBody>
      </p:sp>
      <p:sp>
        <p:nvSpPr>
          <p:cNvPr id="36" name="text-source-15">
            <a:extLst xmlns:a="http://schemas.openxmlformats.org/drawingml/2006/main">
              <a:ext uri="{FF2B5EF4-FFF2-40B4-BE49-F238E27FC236}">
                <a16:creationId xmlns:a16="http://schemas.microsoft.com/office/drawing/2014/main" id="{4C43BC96-AC9E-4312-A8FF-7B8A088CC418}"/>
              </a:ext>
            </a:extLst>
          </p:cNvPr>
          <p:cNvSpPr>
            <a:spLocks xmlns:a="http://schemas.openxmlformats.org/drawingml/2006/main" noGrp="1"/>
          </p:cNvSpPr>
          <p:nvPr/>
        </p:nvSpPr>
        <p:spPr>
          <a:xfrm xmlns:a="http://schemas.openxmlformats.org/drawingml/2006/main">
            <a:off x="2066925" y="6870502"/>
            <a:ext cx="1028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p>
        </p:txBody>
      </p:sp>
      <p:sp>
        <p:nvSpPr>
          <p:cNvPr id="37" name="text-source-15">
            <a:extLst xmlns:a="http://schemas.openxmlformats.org/drawingml/2006/main">
              <a:ext uri="{FF2B5EF4-FFF2-40B4-BE49-F238E27FC236}">
                <a16:creationId xmlns:a16="http://schemas.microsoft.com/office/drawing/2014/main" id="{EE0B6D22-AF7D-43C4-9073-51F11F9F7A3D}"/>
              </a:ext>
            </a:extLst>
          </p:cNvPr>
          <p:cNvSpPr>
            <a:spLocks xmlns:a="http://schemas.openxmlformats.org/drawingml/2006/main" noGrp="1"/>
          </p:cNvSpPr>
          <p:nvPr/>
        </p:nvSpPr>
        <p:spPr>
          <a:xfrm xmlns:a="http://schemas.openxmlformats.org/drawingml/2006/main">
            <a:off x="1495425" y="7190482"/>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14</a:t>
            </a:r>
          </a:p>
        </p:txBody>
      </p:sp>
      <p:sp>
        <p:nvSpPr>
          <p:cNvPr id="38" name="text-source-15">
            <a:extLst xmlns:a="http://schemas.openxmlformats.org/drawingml/2006/main">
              <a:ext uri="{FF2B5EF4-FFF2-40B4-BE49-F238E27FC236}">
                <a16:creationId xmlns:a16="http://schemas.microsoft.com/office/drawing/2014/main" id="{67A6FAD7-E927-4A87-BBED-02528DAE8800}"/>
              </a:ext>
            </a:extLst>
          </p:cNvPr>
          <p:cNvSpPr>
            <a:spLocks xmlns:a="http://schemas.openxmlformats.org/drawingml/2006/main" noGrp="1"/>
          </p:cNvSpPr>
          <p:nvPr/>
        </p:nvSpPr>
        <p:spPr>
          <a:xfrm xmlns:a="http://schemas.openxmlformats.org/drawingml/2006/main">
            <a:off x="2066925" y="7190482"/>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a:t>
            </a:r>
          </a:p>
        </p:txBody>
      </p:sp>
      <p:sp>
        <p:nvSpPr>
          <p:cNvPr id="39" name="text-source-15">
            <a:extLst xmlns:a="http://schemas.openxmlformats.org/drawingml/2006/main">
              <a:ext uri="{FF2B5EF4-FFF2-40B4-BE49-F238E27FC236}">
                <a16:creationId xmlns:a16="http://schemas.microsoft.com/office/drawing/2014/main" id="{C518569F-B635-4758-A9E6-2954C1DBD140}"/>
              </a:ext>
            </a:extLst>
          </p:cNvPr>
          <p:cNvSpPr>
            <a:spLocks xmlns:a="http://schemas.openxmlformats.org/drawingml/2006/main" noGrp="1"/>
          </p:cNvSpPr>
          <p:nvPr/>
        </p:nvSpPr>
        <p:spPr>
          <a:xfrm xmlns:a="http://schemas.openxmlformats.org/drawingml/2006/main">
            <a:off x="12858750" y="2625030"/>
            <a:ext cx="1028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ДОКАЗ</a:t>
            </a:r>
          </a:p>
        </p:txBody>
      </p:sp>
      <p:sp>
        <p:nvSpPr>
          <p:cNvPr id="40" name="text-source-15">
            <a:extLst xmlns:a="http://schemas.openxmlformats.org/drawingml/2006/main">
              <a:ext uri="{FF2B5EF4-FFF2-40B4-BE49-F238E27FC236}">
                <a16:creationId xmlns:a16="http://schemas.microsoft.com/office/drawing/2014/main" id="{F073F225-50DC-4EF3-9C5D-D7C64D8D0CAB}"/>
              </a:ext>
            </a:extLst>
          </p:cNvPr>
          <p:cNvSpPr>
            <a:spLocks xmlns:a="http://schemas.openxmlformats.org/drawingml/2006/main" noGrp="1"/>
          </p:cNvSpPr>
          <p:nvPr/>
        </p:nvSpPr>
        <p:spPr>
          <a:xfrm xmlns:a="http://schemas.openxmlformats.org/drawingml/2006/main">
            <a:off x="12858750" y="3030736"/>
            <a:ext cx="386283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Ни MFA потврда стара један </a:t>
            </a:r>
          </a:p>
        </p:txBody>
      </p:sp>
      <p:sp>
        <p:nvSpPr>
          <p:cNvPr id="41" name="text-source-15">
            <a:extLst xmlns:a="http://schemas.openxmlformats.org/drawingml/2006/main">
              <a:ext uri="{FF2B5EF4-FFF2-40B4-BE49-F238E27FC236}">
                <a16:creationId xmlns:a16="http://schemas.microsoft.com/office/drawing/2014/main" id="{B3C2AA03-CC95-4BF0-A8EC-452B587792A9}"/>
              </a:ext>
            </a:extLst>
          </p:cNvPr>
          <p:cNvSpPr>
            <a:spLocks xmlns:a="http://schemas.openxmlformats.org/drawingml/2006/main" noGrp="1"/>
          </p:cNvSpPr>
          <p:nvPr/>
        </p:nvSpPr>
        <p:spPr>
          <a:xfrm xmlns:a="http://schemas.openxmlformats.org/drawingml/2006/main">
            <a:off x="12858750" y="3403997"/>
            <a:ext cx="423043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минут не оживљава сесију која </a:t>
            </a:r>
          </a:p>
        </p:txBody>
      </p:sp>
      <p:sp>
        <p:nvSpPr>
          <p:cNvPr id="42" name="text-source-15">
            <a:extLst xmlns:a="http://schemas.openxmlformats.org/drawingml/2006/main">
              <a:ext uri="{FF2B5EF4-FFF2-40B4-BE49-F238E27FC236}">
                <a16:creationId xmlns:a16="http://schemas.microsoft.com/office/drawing/2014/main" id="{BFA5816A-FF8D-4BE4-B376-35E638CCD5B7}"/>
              </a:ext>
            </a:extLst>
          </p:cNvPr>
          <p:cNvSpPr>
            <a:spLocks xmlns:a="http://schemas.openxmlformats.org/drawingml/2006/main" noGrp="1"/>
          </p:cNvSpPr>
          <p:nvPr/>
        </p:nvSpPr>
        <p:spPr>
          <a:xfrm xmlns:a="http://schemas.openxmlformats.org/drawingml/2006/main">
            <a:off x="12858750" y="3777258"/>
            <a:ext cx="186392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је опозвана.</a:t>
            </a:r>
          </a:p>
        </p:txBody>
      </p:sp>
      <p:sp>
        <p:nvSpPr>
          <p:cNvPr id="43" name="text-source-15">
            <a:extLst xmlns:a="http://schemas.openxmlformats.org/drawingml/2006/main">
              <a:ext uri="{FF2B5EF4-FFF2-40B4-BE49-F238E27FC236}">
                <a16:creationId xmlns:a16="http://schemas.microsoft.com/office/drawing/2014/main" id="{E91F352C-0909-49B6-B23B-C1421CD45D21}"/>
              </a:ext>
            </a:extLst>
          </p:cNvPr>
          <p:cNvSpPr>
            <a:spLocks xmlns:a="http://schemas.openxmlformats.org/drawingml/2006/main" noGrp="1"/>
          </p:cNvSpPr>
          <p:nvPr/>
        </p:nvSpPr>
        <p:spPr>
          <a:xfrm xmlns:a="http://schemas.openxmlformats.org/drawingml/2006/main">
            <a:off x="12858750" y="4750594"/>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ОЧЕКИВАНИ ИСХОД</a:t>
            </a:r>
          </a:p>
        </p:txBody>
      </p:sp>
      <p:sp>
        <p:nvSpPr>
          <p:cNvPr id="44" name="text-source-15">
            <a:extLst xmlns:a="http://schemas.openxmlformats.org/drawingml/2006/main">
              <a:ext uri="{FF2B5EF4-FFF2-40B4-BE49-F238E27FC236}">
                <a16:creationId xmlns:a16="http://schemas.microsoft.com/office/drawing/2014/main" id="{76E9C31F-EE63-4949-9B63-3AD3C8D01C81}"/>
              </a:ext>
            </a:extLst>
          </p:cNvPr>
          <p:cNvSpPr>
            <a:spLocks xmlns:a="http://schemas.openxmlformats.org/drawingml/2006/main" noGrp="1"/>
          </p:cNvSpPr>
          <p:nvPr/>
        </p:nvSpPr>
        <p:spPr>
          <a:xfrm xmlns:a="http://schemas.openxmlformats.org/drawingml/2006/main">
            <a:off x="12858750" y="5156299"/>
            <a:ext cx="427151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Одлука одбија радњу и не нуди </a:t>
            </a:r>
          </a:p>
        </p:txBody>
      </p:sp>
      <p:sp>
        <p:nvSpPr>
          <p:cNvPr id="45" name="text-source-15">
            <a:extLst xmlns:a="http://schemas.openxmlformats.org/drawingml/2006/main">
              <a:ext uri="{FF2B5EF4-FFF2-40B4-BE49-F238E27FC236}">
                <a16:creationId xmlns:a16="http://schemas.microsoft.com/office/drawing/2014/main" id="{7A949CA5-2D37-4F13-8C50-97DD2C995903}"/>
              </a:ext>
            </a:extLst>
          </p:cNvPr>
          <p:cNvSpPr>
            <a:spLocks xmlns:a="http://schemas.openxmlformats.org/drawingml/2006/main" noGrp="1"/>
          </p:cNvSpPr>
          <p:nvPr/>
        </p:nvSpPr>
        <p:spPr>
          <a:xfrm xmlns:a="http://schemas.openxmlformats.org/drawingml/2006/main">
            <a:off x="12858750" y="5529560"/>
            <a:ext cx="3943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нову MFA потврду, јер сесија </a:t>
            </a:r>
          </a:p>
        </p:txBody>
      </p:sp>
      <p:sp>
        <p:nvSpPr>
          <p:cNvPr id="46" name="text-source-15">
            <a:extLst xmlns:a="http://schemas.openxmlformats.org/drawingml/2006/main">
              <a:ext uri="{FF2B5EF4-FFF2-40B4-BE49-F238E27FC236}">
                <a16:creationId xmlns:a16="http://schemas.microsoft.com/office/drawing/2014/main" id="{8A263E8F-4574-4CA4-B7CD-3B7569815BFF}"/>
              </a:ext>
            </a:extLst>
          </p:cNvPr>
          <p:cNvSpPr>
            <a:spLocks xmlns:a="http://schemas.openxmlformats.org/drawingml/2006/main" noGrp="1"/>
          </p:cNvSpPr>
          <p:nvPr/>
        </p:nvSpPr>
        <p:spPr>
          <a:xfrm xmlns:a="http://schemas.openxmlformats.org/drawingml/2006/main">
            <a:off x="12858750" y="5902821"/>
            <a:ext cx="216158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више не важи.</a:t>
            </a:r>
          </a:p>
        </p:txBody>
      </p:sp>
      <p:sp>
        <p:nvSpPr>
          <p:cNvPr id="47" name="text-source-15">
            <a:extLst xmlns:a="http://schemas.openxmlformats.org/drawingml/2006/main">
              <a:ext uri="{FF2B5EF4-FFF2-40B4-BE49-F238E27FC236}">
                <a16:creationId xmlns:a16="http://schemas.microsoft.com/office/drawing/2014/main" id="{FD9CB5D6-A279-49C5-B3BF-0973AD3D8143}"/>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48" name="text-source-15">
            <a:extLst xmlns:a="http://schemas.openxmlformats.org/drawingml/2006/main">
              <a:ext uri="{FF2B5EF4-FFF2-40B4-BE49-F238E27FC236}">
                <a16:creationId xmlns:a16="http://schemas.microsoft.com/office/drawing/2014/main" id="{5CE6913A-0657-45D9-862F-CF7F44A18B03}"/>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24</a:t>
            </a:r>
          </a:p>
        </p:txBody>
      </p:sp>
    </p:spTree>
    <p:extLst>
      <p:ext uri="{BB962C8B-B14F-4D97-AF65-F5344CB8AC3E}">
        <p14:creationId xmlns:p14="http://schemas.microsoft.com/office/powerpoint/2010/main" val="1658365538"/>
      </p:ext>
    </p:extLst>
  </p:cSld>
</p:sld>
</file>

<file path=ppt/slides/slide25.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7FAEE48-EE22-4EC8-AABB-5F044BA76111}"/>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DDBF1D-380F-4191-B080-36D68AC7D3A7}"/>
              </a:ext>
            </a:extLst>
          </p:cNvPr>
          <p:cNvSpPr>
            <a:spLocks xmlns:a="http://schemas.openxmlformats.org/drawingml/2006/main" noGrp="1"/>
          </p:cNvSpPr>
          <p:nvPr/>
        </p:nvSpPr>
        <p:spPr>
          <a:xfrm xmlns:a="http://schemas.openxmlformats.org/drawingml/2006/main">
            <a:off x="1219200" y="3112591"/>
            <a:ext cx="8001000" cy="3356074"/>
          </a:xfrm>
          <a:prstGeom xmlns:a="http://schemas.openxmlformats.org/drawingml/2006/main" prst="roundRect">
            <a:avLst>
              <a:gd name="adj" fmla="val 4541"/>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B8B82184-062E-4D49-A595-A5B092AEAFC7}"/>
              </a:ext>
            </a:extLst>
          </p:cNvPr>
          <p:cNvSpPr>
            <a:spLocks xmlns:a="http://schemas.openxmlformats.org/drawingml/2006/main" noGrp="1"/>
          </p:cNvSpPr>
          <p:nvPr/>
        </p:nvSpPr>
        <p:spPr>
          <a:xfrm xmlns:a="http://schemas.openxmlformats.org/drawingml/2006/main">
            <a:off x="9525000" y="3112591"/>
            <a:ext cx="7543800" cy="1896963"/>
          </a:xfrm>
          <a:prstGeom xmlns:a="http://schemas.openxmlformats.org/drawingml/2006/main" prst="roundRect">
            <a:avLst>
              <a:gd name="adj" fmla="val 6025"/>
            </a:avLst>
          </a:prstGeom>
          <a:solidFill xmlns:a="http://schemas.openxmlformats.org/drawingml/2006/main">
            <a:srgbClr val="E6E8EE"/>
          </a:solidFill>
          <a:ln xmlns:a="http://schemas.openxmlformats.org/drawingml/2006/main" w="0">
            <a:noFill/>
          </a:ln>
        </p:spPr>
      </p:sp>
      <p:sp>
        <p:nvSpPr>
          <p:cNvPr id="4" name="rounded-banner-accent">
            <a:extLst xmlns:a="http://schemas.openxmlformats.org/drawingml/2006/main">
              <a:ext uri="{FF2B5EF4-FFF2-40B4-BE49-F238E27FC236}">
                <a16:creationId xmlns:a16="http://schemas.microsoft.com/office/drawing/2014/main" id="{BFD2C68B-21B1-4901-A2A5-84EEFA673D28}"/>
              </a:ext>
            </a:extLst>
          </p:cNvPr>
          <p:cNvSpPr>
            <a:spLocks xmlns:a="http://schemas.openxmlformats.org/drawingml/2006/main" noGrp="1"/>
          </p:cNvSpPr>
          <p:nvPr/>
        </p:nvSpPr>
        <p:spPr>
          <a:xfrm xmlns:a="http://schemas.openxmlformats.org/drawingml/2006/main">
            <a:off x="9525000" y="3112591"/>
            <a:ext cx="114300" cy="1896963"/>
          </a:xfrm>
          <a:custGeom xmlns:a="http://schemas.openxmlformats.org/drawingml/2006/main">
            <a:pathLst>
              <a:path w="114300" h="1896963">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782663"/>
                </a:lnTo>
                <a:lnTo>
                  <a:pt x="61" y="1786403"/>
                </a:lnTo>
                <a:lnTo>
                  <a:pt x="245" y="1790139"/>
                </a:lnTo>
                <a:lnTo>
                  <a:pt x="550" y="1793867"/>
                </a:lnTo>
                <a:lnTo>
                  <a:pt x="978" y="1797582"/>
                </a:lnTo>
                <a:lnTo>
                  <a:pt x="1527" y="1801282"/>
                </a:lnTo>
                <a:lnTo>
                  <a:pt x="2196" y="1804962"/>
                </a:lnTo>
                <a:lnTo>
                  <a:pt x="2986" y="1808618"/>
                </a:lnTo>
                <a:lnTo>
                  <a:pt x="3895" y="1812246"/>
                </a:lnTo>
                <a:lnTo>
                  <a:pt x="4922" y="1815843"/>
                </a:lnTo>
                <a:lnTo>
                  <a:pt x="6066" y="1819404"/>
                </a:lnTo>
                <a:lnTo>
                  <a:pt x="7326" y="1822925"/>
                </a:lnTo>
                <a:lnTo>
                  <a:pt x="8701" y="1826404"/>
                </a:lnTo>
                <a:lnTo>
                  <a:pt x="10188" y="1829836"/>
                </a:lnTo>
                <a:lnTo>
                  <a:pt x="11787" y="1833217"/>
                </a:lnTo>
                <a:lnTo>
                  <a:pt x="13496" y="1836544"/>
                </a:lnTo>
                <a:lnTo>
                  <a:pt x="15313" y="1839813"/>
                </a:lnTo>
                <a:lnTo>
                  <a:pt x="17236" y="1843021"/>
                </a:lnTo>
                <a:lnTo>
                  <a:pt x="19263" y="1846165"/>
                </a:lnTo>
                <a:lnTo>
                  <a:pt x="21392" y="1849240"/>
                </a:lnTo>
                <a:lnTo>
                  <a:pt x="23620" y="1852245"/>
                </a:lnTo>
                <a:lnTo>
                  <a:pt x="25945" y="1855174"/>
                </a:lnTo>
                <a:lnTo>
                  <a:pt x="28365" y="1858027"/>
                </a:lnTo>
                <a:lnTo>
                  <a:pt x="30877" y="1860798"/>
                </a:lnTo>
                <a:lnTo>
                  <a:pt x="33478" y="1863486"/>
                </a:lnTo>
                <a:lnTo>
                  <a:pt x="36165" y="1866087"/>
                </a:lnTo>
                <a:lnTo>
                  <a:pt x="38937" y="1868599"/>
                </a:lnTo>
                <a:lnTo>
                  <a:pt x="41789" y="1871018"/>
                </a:lnTo>
                <a:lnTo>
                  <a:pt x="44719" y="1873344"/>
                </a:lnTo>
                <a:lnTo>
                  <a:pt x="47723" y="1875572"/>
                </a:lnTo>
                <a:lnTo>
                  <a:pt x="50798" y="1877700"/>
                </a:lnTo>
                <a:lnTo>
                  <a:pt x="53942" y="1879727"/>
                </a:lnTo>
                <a:lnTo>
                  <a:pt x="57150" y="1881650"/>
                </a:lnTo>
                <a:lnTo>
                  <a:pt x="60419" y="1883467"/>
                </a:lnTo>
                <a:lnTo>
                  <a:pt x="63746" y="1885176"/>
                </a:lnTo>
                <a:lnTo>
                  <a:pt x="67128" y="1886775"/>
                </a:lnTo>
                <a:lnTo>
                  <a:pt x="70559" y="1888263"/>
                </a:lnTo>
                <a:lnTo>
                  <a:pt x="74038" y="1889637"/>
                </a:lnTo>
                <a:lnTo>
                  <a:pt x="77559" y="1890897"/>
                </a:lnTo>
                <a:lnTo>
                  <a:pt x="81120" y="1892042"/>
                </a:lnTo>
                <a:lnTo>
                  <a:pt x="84717" y="1893069"/>
                </a:lnTo>
                <a:lnTo>
                  <a:pt x="88345" y="1893977"/>
                </a:lnTo>
                <a:lnTo>
                  <a:pt x="92001" y="1894767"/>
                </a:lnTo>
                <a:lnTo>
                  <a:pt x="95681" y="1895437"/>
                </a:lnTo>
                <a:lnTo>
                  <a:pt x="99381" y="1895985"/>
                </a:lnTo>
                <a:lnTo>
                  <a:pt x="103097" y="1896413"/>
                </a:lnTo>
                <a:lnTo>
                  <a:pt x="106824" y="1896719"/>
                </a:lnTo>
                <a:lnTo>
                  <a:pt x="110560" y="1896902"/>
                </a:lnTo>
                <a:lnTo>
                  <a:pt x="114300" y="1896963"/>
                </a:lnTo>
                <a:lnTo>
                  <a:pt x="114300" y="1896963"/>
                </a:lnTo>
                <a:lnTo>
                  <a:pt x="112430" y="1896902"/>
                </a:lnTo>
                <a:lnTo>
                  <a:pt x="110562" y="1896719"/>
                </a:lnTo>
                <a:lnTo>
                  <a:pt x="108698" y="1896413"/>
                </a:lnTo>
                <a:lnTo>
                  <a:pt x="106840" y="1895985"/>
                </a:lnTo>
                <a:lnTo>
                  <a:pt x="104991" y="1895437"/>
                </a:lnTo>
                <a:lnTo>
                  <a:pt x="103151" y="1894767"/>
                </a:lnTo>
                <a:lnTo>
                  <a:pt x="101323" y="1893977"/>
                </a:lnTo>
                <a:lnTo>
                  <a:pt x="99508" y="1893069"/>
                </a:lnTo>
                <a:lnTo>
                  <a:pt x="97710" y="1892042"/>
                </a:lnTo>
                <a:lnTo>
                  <a:pt x="95930" y="1890897"/>
                </a:lnTo>
                <a:lnTo>
                  <a:pt x="94169" y="1889637"/>
                </a:lnTo>
                <a:lnTo>
                  <a:pt x="92430" y="1888263"/>
                </a:lnTo>
                <a:lnTo>
                  <a:pt x="90714" y="1886775"/>
                </a:lnTo>
                <a:lnTo>
                  <a:pt x="89023" y="1885176"/>
                </a:lnTo>
                <a:lnTo>
                  <a:pt x="87360" y="1883467"/>
                </a:lnTo>
                <a:lnTo>
                  <a:pt x="85725" y="1881650"/>
                </a:lnTo>
                <a:lnTo>
                  <a:pt x="84121" y="1879727"/>
                </a:lnTo>
                <a:lnTo>
                  <a:pt x="82549" y="1877700"/>
                </a:lnTo>
                <a:lnTo>
                  <a:pt x="81011" y="1875572"/>
                </a:lnTo>
                <a:lnTo>
                  <a:pt x="79509" y="1873344"/>
                </a:lnTo>
                <a:lnTo>
                  <a:pt x="78044" y="1871018"/>
                </a:lnTo>
                <a:lnTo>
                  <a:pt x="76618" y="1868599"/>
                </a:lnTo>
                <a:lnTo>
                  <a:pt x="75233" y="1866087"/>
                </a:lnTo>
                <a:lnTo>
                  <a:pt x="73889" y="1863486"/>
                </a:lnTo>
                <a:lnTo>
                  <a:pt x="72588" y="1860798"/>
                </a:lnTo>
                <a:lnTo>
                  <a:pt x="71332" y="1858027"/>
                </a:lnTo>
                <a:lnTo>
                  <a:pt x="70122" y="1855174"/>
                </a:lnTo>
                <a:lnTo>
                  <a:pt x="68960" y="1852245"/>
                </a:lnTo>
                <a:lnTo>
                  <a:pt x="67846" y="1849240"/>
                </a:lnTo>
                <a:lnTo>
                  <a:pt x="66782" y="1846165"/>
                </a:lnTo>
                <a:lnTo>
                  <a:pt x="65768" y="1843021"/>
                </a:lnTo>
                <a:lnTo>
                  <a:pt x="64807" y="1839813"/>
                </a:lnTo>
                <a:lnTo>
                  <a:pt x="63898" y="1836544"/>
                </a:lnTo>
                <a:lnTo>
                  <a:pt x="63044" y="1833217"/>
                </a:lnTo>
                <a:lnTo>
                  <a:pt x="62244" y="1829836"/>
                </a:lnTo>
                <a:lnTo>
                  <a:pt x="61500" y="1826404"/>
                </a:lnTo>
                <a:lnTo>
                  <a:pt x="60813" y="1822925"/>
                </a:lnTo>
                <a:lnTo>
                  <a:pt x="60183" y="1819404"/>
                </a:lnTo>
                <a:lnTo>
                  <a:pt x="59611" y="1815843"/>
                </a:lnTo>
                <a:lnTo>
                  <a:pt x="59097" y="1812246"/>
                </a:lnTo>
                <a:lnTo>
                  <a:pt x="58643" y="1808618"/>
                </a:lnTo>
                <a:lnTo>
                  <a:pt x="58248" y="1804962"/>
                </a:lnTo>
                <a:lnTo>
                  <a:pt x="57913" y="1801282"/>
                </a:lnTo>
                <a:lnTo>
                  <a:pt x="57639" y="1797582"/>
                </a:lnTo>
                <a:lnTo>
                  <a:pt x="57425" y="1793867"/>
                </a:lnTo>
                <a:lnTo>
                  <a:pt x="57272" y="1790139"/>
                </a:lnTo>
                <a:lnTo>
                  <a:pt x="57181" y="1786403"/>
                </a:lnTo>
                <a:lnTo>
                  <a:pt x="57150" y="1782663"/>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B01821-B34B-43B0-AA87-2ED3D848359E}"/>
              </a:ext>
            </a:extLst>
          </p:cNvPr>
          <p:cNvSpPr>
            <a:spLocks xmlns:a="http://schemas.openxmlformats.org/drawingml/2006/main" noGrp="1"/>
          </p:cNvSpPr>
          <p:nvPr/>
        </p:nvSpPr>
        <p:spPr>
          <a:xfrm xmlns:a="http://schemas.openxmlformats.org/drawingml/2006/main">
            <a:off x="9525000" y="5238155"/>
            <a:ext cx="7543800" cy="1896963"/>
          </a:xfrm>
          <a:prstGeom xmlns:a="http://schemas.openxmlformats.org/drawingml/2006/main" prst="roundRect">
            <a:avLst>
              <a:gd name="adj" fmla="val 6025"/>
            </a:avLst>
          </a:prstGeom>
          <a:solidFill xmlns:a="http://schemas.openxmlformats.org/drawingml/2006/main">
            <a:srgbClr val="E6E8EE"/>
          </a:solidFill>
          <a:ln xmlns:a="http://schemas.openxmlformats.org/drawingml/2006/main" w="0">
            <a:noFill/>
          </a:ln>
        </p:spPr>
      </p:sp>
      <p:sp>
        <p:nvSpPr>
          <p:cNvPr id="6" name="rounded-banner-accent">
            <a:extLst xmlns:a="http://schemas.openxmlformats.org/drawingml/2006/main">
              <a:ext uri="{FF2B5EF4-FFF2-40B4-BE49-F238E27FC236}">
                <a16:creationId xmlns:a16="http://schemas.microsoft.com/office/drawing/2014/main" id="{44593085-6121-4296-87AB-0197922BBECB}"/>
              </a:ext>
            </a:extLst>
          </p:cNvPr>
          <p:cNvSpPr>
            <a:spLocks xmlns:a="http://schemas.openxmlformats.org/drawingml/2006/main" noGrp="1"/>
          </p:cNvSpPr>
          <p:nvPr/>
        </p:nvSpPr>
        <p:spPr>
          <a:xfrm xmlns:a="http://schemas.openxmlformats.org/drawingml/2006/main">
            <a:off x="9525000" y="5238155"/>
            <a:ext cx="114300" cy="1896963"/>
          </a:xfrm>
          <a:custGeom xmlns:a="http://schemas.openxmlformats.org/drawingml/2006/main">
            <a:pathLst>
              <a:path w="114300" h="1896963">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782663"/>
                </a:lnTo>
                <a:lnTo>
                  <a:pt x="61" y="1786403"/>
                </a:lnTo>
                <a:lnTo>
                  <a:pt x="245" y="1790139"/>
                </a:lnTo>
                <a:lnTo>
                  <a:pt x="550" y="1793867"/>
                </a:lnTo>
                <a:lnTo>
                  <a:pt x="978" y="1797582"/>
                </a:lnTo>
                <a:lnTo>
                  <a:pt x="1527" y="1801282"/>
                </a:lnTo>
                <a:lnTo>
                  <a:pt x="2196" y="1804962"/>
                </a:lnTo>
                <a:lnTo>
                  <a:pt x="2986" y="1808618"/>
                </a:lnTo>
                <a:lnTo>
                  <a:pt x="3895" y="1812246"/>
                </a:lnTo>
                <a:lnTo>
                  <a:pt x="4922" y="1815843"/>
                </a:lnTo>
                <a:lnTo>
                  <a:pt x="6066" y="1819404"/>
                </a:lnTo>
                <a:lnTo>
                  <a:pt x="7326" y="1822925"/>
                </a:lnTo>
                <a:lnTo>
                  <a:pt x="8701" y="1826404"/>
                </a:lnTo>
                <a:lnTo>
                  <a:pt x="10188" y="1829836"/>
                </a:lnTo>
                <a:lnTo>
                  <a:pt x="11787" y="1833217"/>
                </a:lnTo>
                <a:lnTo>
                  <a:pt x="13496" y="1836544"/>
                </a:lnTo>
                <a:lnTo>
                  <a:pt x="15313" y="1839813"/>
                </a:lnTo>
                <a:lnTo>
                  <a:pt x="17236" y="1843021"/>
                </a:lnTo>
                <a:lnTo>
                  <a:pt x="19263" y="1846165"/>
                </a:lnTo>
                <a:lnTo>
                  <a:pt x="21392" y="1849240"/>
                </a:lnTo>
                <a:lnTo>
                  <a:pt x="23620" y="1852245"/>
                </a:lnTo>
                <a:lnTo>
                  <a:pt x="25945" y="1855174"/>
                </a:lnTo>
                <a:lnTo>
                  <a:pt x="28365" y="1858027"/>
                </a:lnTo>
                <a:lnTo>
                  <a:pt x="30877" y="1860798"/>
                </a:lnTo>
                <a:lnTo>
                  <a:pt x="33478" y="1863486"/>
                </a:lnTo>
                <a:lnTo>
                  <a:pt x="36165" y="1866087"/>
                </a:lnTo>
                <a:lnTo>
                  <a:pt x="38937" y="1868599"/>
                </a:lnTo>
                <a:lnTo>
                  <a:pt x="41789" y="1871018"/>
                </a:lnTo>
                <a:lnTo>
                  <a:pt x="44719" y="1873344"/>
                </a:lnTo>
                <a:lnTo>
                  <a:pt x="47723" y="1875572"/>
                </a:lnTo>
                <a:lnTo>
                  <a:pt x="50798" y="1877700"/>
                </a:lnTo>
                <a:lnTo>
                  <a:pt x="53942" y="1879727"/>
                </a:lnTo>
                <a:lnTo>
                  <a:pt x="57150" y="1881650"/>
                </a:lnTo>
                <a:lnTo>
                  <a:pt x="60419" y="1883467"/>
                </a:lnTo>
                <a:lnTo>
                  <a:pt x="63746" y="1885176"/>
                </a:lnTo>
                <a:lnTo>
                  <a:pt x="67128" y="1886775"/>
                </a:lnTo>
                <a:lnTo>
                  <a:pt x="70559" y="1888263"/>
                </a:lnTo>
                <a:lnTo>
                  <a:pt x="74038" y="1889637"/>
                </a:lnTo>
                <a:lnTo>
                  <a:pt x="77559" y="1890897"/>
                </a:lnTo>
                <a:lnTo>
                  <a:pt x="81120" y="1892042"/>
                </a:lnTo>
                <a:lnTo>
                  <a:pt x="84717" y="1893069"/>
                </a:lnTo>
                <a:lnTo>
                  <a:pt x="88345" y="1893977"/>
                </a:lnTo>
                <a:lnTo>
                  <a:pt x="92001" y="1894767"/>
                </a:lnTo>
                <a:lnTo>
                  <a:pt x="95681" y="1895437"/>
                </a:lnTo>
                <a:lnTo>
                  <a:pt x="99381" y="1895985"/>
                </a:lnTo>
                <a:lnTo>
                  <a:pt x="103097" y="1896413"/>
                </a:lnTo>
                <a:lnTo>
                  <a:pt x="106824" y="1896719"/>
                </a:lnTo>
                <a:lnTo>
                  <a:pt x="110560" y="1896902"/>
                </a:lnTo>
                <a:lnTo>
                  <a:pt x="114300" y="1896963"/>
                </a:lnTo>
                <a:lnTo>
                  <a:pt x="114300" y="1896963"/>
                </a:lnTo>
                <a:lnTo>
                  <a:pt x="112430" y="1896902"/>
                </a:lnTo>
                <a:lnTo>
                  <a:pt x="110562" y="1896719"/>
                </a:lnTo>
                <a:lnTo>
                  <a:pt x="108698" y="1896413"/>
                </a:lnTo>
                <a:lnTo>
                  <a:pt x="106840" y="1895985"/>
                </a:lnTo>
                <a:lnTo>
                  <a:pt x="104991" y="1895437"/>
                </a:lnTo>
                <a:lnTo>
                  <a:pt x="103151" y="1894767"/>
                </a:lnTo>
                <a:lnTo>
                  <a:pt x="101323" y="1893977"/>
                </a:lnTo>
                <a:lnTo>
                  <a:pt x="99508" y="1893069"/>
                </a:lnTo>
                <a:lnTo>
                  <a:pt x="97710" y="1892042"/>
                </a:lnTo>
                <a:lnTo>
                  <a:pt x="95930" y="1890897"/>
                </a:lnTo>
                <a:lnTo>
                  <a:pt x="94169" y="1889637"/>
                </a:lnTo>
                <a:lnTo>
                  <a:pt x="92430" y="1888263"/>
                </a:lnTo>
                <a:lnTo>
                  <a:pt x="90714" y="1886775"/>
                </a:lnTo>
                <a:lnTo>
                  <a:pt x="89023" y="1885176"/>
                </a:lnTo>
                <a:lnTo>
                  <a:pt x="87360" y="1883467"/>
                </a:lnTo>
                <a:lnTo>
                  <a:pt x="85725" y="1881650"/>
                </a:lnTo>
                <a:lnTo>
                  <a:pt x="84121" y="1879727"/>
                </a:lnTo>
                <a:lnTo>
                  <a:pt x="82549" y="1877700"/>
                </a:lnTo>
                <a:lnTo>
                  <a:pt x="81011" y="1875572"/>
                </a:lnTo>
                <a:lnTo>
                  <a:pt x="79509" y="1873344"/>
                </a:lnTo>
                <a:lnTo>
                  <a:pt x="78044" y="1871018"/>
                </a:lnTo>
                <a:lnTo>
                  <a:pt x="76618" y="1868599"/>
                </a:lnTo>
                <a:lnTo>
                  <a:pt x="75233" y="1866087"/>
                </a:lnTo>
                <a:lnTo>
                  <a:pt x="73889" y="1863486"/>
                </a:lnTo>
                <a:lnTo>
                  <a:pt x="72588" y="1860798"/>
                </a:lnTo>
                <a:lnTo>
                  <a:pt x="71332" y="1858027"/>
                </a:lnTo>
                <a:lnTo>
                  <a:pt x="70122" y="1855174"/>
                </a:lnTo>
                <a:lnTo>
                  <a:pt x="68960" y="1852245"/>
                </a:lnTo>
                <a:lnTo>
                  <a:pt x="67846" y="1849240"/>
                </a:lnTo>
                <a:lnTo>
                  <a:pt x="66782" y="1846165"/>
                </a:lnTo>
                <a:lnTo>
                  <a:pt x="65768" y="1843021"/>
                </a:lnTo>
                <a:lnTo>
                  <a:pt x="64807" y="1839813"/>
                </a:lnTo>
                <a:lnTo>
                  <a:pt x="63898" y="1836544"/>
                </a:lnTo>
                <a:lnTo>
                  <a:pt x="63044" y="1833217"/>
                </a:lnTo>
                <a:lnTo>
                  <a:pt x="62244" y="1829836"/>
                </a:lnTo>
                <a:lnTo>
                  <a:pt x="61500" y="1826404"/>
                </a:lnTo>
                <a:lnTo>
                  <a:pt x="60813" y="1822925"/>
                </a:lnTo>
                <a:lnTo>
                  <a:pt x="60183" y="1819404"/>
                </a:lnTo>
                <a:lnTo>
                  <a:pt x="59611" y="1815843"/>
                </a:lnTo>
                <a:lnTo>
                  <a:pt x="59097" y="1812246"/>
                </a:lnTo>
                <a:lnTo>
                  <a:pt x="58643" y="1808618"/>
                </a:lnTo>
                <a:lnTo>
                  <a:pt x="58248" y="1804962"/>
                </a:lnTo>
                <a:lnTo>
                  <a:pt x="57913" y="1801282"/>
                </a:lnTo>
                <a:lnTo>
                  <a:pt x="57639" y="1797582"/>
                </a:lnTo>
                <a:lnTo>
                  <a:pt x="57425" y="1793867"/>
                </a:lnTo>
                <a:lnTo>
                  <a:pt x="57272" y="1790139"/>
                </a:lnTo>
                <a:lnTo>
                  <a:pt x="57181" y="1786403"/>
                </a:lnTo>
                <a:lnTo>
                  <a:pt x="57150" y="1782663"/>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A95A74-1A3F-46B1-8AA4-FEEAEB26D94E}"/>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8" name="text-source-16">
            <a:extLst xmlns:a="http://schemas.openxmlformats.org/drawingml/2006/main">
              <a:ext uri="{FF2B5EF4-FFF2-40B4-BE49-F238E27FC236}">
                <a16:creationId xmlns:a16="http://schemas.microsoft.com/office/drawing/2014/main" id="{3D6840E2-1CA0-4078-888A-904722BE4B57}"/>
              </a:ext>
            </a:extLst>
          </p:cNvPr>
          <p:cNvSpPr>
            <a:spLocks xmlns:a="http://schemas.openxmlformats.org/drawingml/2006/main" noGrp="1"/>
          </p:cNvSpPr>
          <p:nvPr/>
        </p:nvSpPr>
        <p:spPr>
          <a:xfrm xmlns:a="http://schemas.openxmlformats.org/drawingml/2006/main">
            <a:off x="1219200" y="10668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04 · РЕВИЗИОНИ ЗАПИС</a:t>
            </a:r>
          </a:p>
        </p:txBody>
      </p:sp>
      <p:sp>
        <p:nvSpPr>
          <p:cNvPr id="9" name="heading-source-16">
            <a:extLst xmlns:a="http://schemas.openxmlformats.org/drawingml/2006/main">
              <a:ext uri="{FF2B5EF4-FFF2-40B4-BE49-F238E27FC236}">
                <a16:creationId xmlns:a16="http://schemas.microsoft.com/office/drawing/2014/main" id="{5465DC12-FCAC-424B-AF91-57E6B58FB3D1}"/>
              </a:ext>
            </a:extLst>
          </p:cNvPr>
          <p:cNvSpPr>
            <a:spLocks xmlns:a="http://schemas.openxmlformats.org/drawingml/2006/main" noGrp="1"/>
          </p:cNvSpPr>
          <p:nvPr/>
        </p:nvSpPr>
        <p:spPr>
          <a:xfrm xmlns:a="http://schemas.openxmlformats.org/drawingml/2006/main">
            <a:off x="1219200" y="1443930"/>
            <a:ext cx="844168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644"/>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Садржај безбедносног записа</a:t>
            </a:r>
          </a:p>
        </p:txBody>
      </p:sp>
      <p:sp>
        <p:nvSpPr>
          <p:cNvPr id="10" name="text-source-16">
            <a:extLst xmlns:a="http://schemas.openxmlformats.org/drawingml/2006/main">
              <a:ext uri="{FF2B5EF4-FFF2-40B4-BE49-F238E27FC236}">
                <a16:creationId xmlns:a16="http://schemas.microsoft.com/office/drawing/2014/main" id="{104B773F-3F14-4F96-A9C7-C6DFBDFFE6C8}"/>
              </a:ext>
            </a:extLst>
          </p:cNvPr>
          <p:cNvSpPr>
            <a:spLocks xmlns:a="http://schemas.openxmlformats.org/drawingml/2006/main" noGrp="1"/>
          </p:cNvSpPr>
          <p:nvPr/>
        </p:nvSpPr>
        <p:spPr>
          <a:xfrm xmlns:a="http://schemas.openxmlformats.org/drawingml/2006/main">
            <a:off x="1219200" y="2444055"/>
            <a:ext cx="922749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Запис приказује исход и контекст, а вредност тајне остаје изван трага.</a:t>
            </a:r>
          </a:p>
        </p:txBody>
      </p:sp>
      <p:sp>
        <p:nvSpPr>
          <p:cNvPr id="11" name="text-source-16">
            <a:extLst xmlns:a="http://schemas.openxmlformats.org/drawingml/2006/main">
              <a:ext uri="{FF2B5EF4-FFF2-40B4-BE49-F238E27FC236}">
                <a16:creationId xmlns:a16="http://schemas.microsoft.com/office/drawing/2014/main" id="{0D515572-BD98-4550-8FC7-2B6BC13269C8}"/>
              </a:ext>
            </a:extLst>
          </p:cNvPr>
          <p:cNvSpPr>
            <a:spLocks xmlns:a="http://schemas.openxmlformats.org/drawingml/2006/main" noGrp="1"/>
          </p:cNvSpPr>
          <p:nvPr/>
        </p:nvSpPr>
        <p:spPr>
          <a:xfrm xmlns:a="http://schemas.openxmlformats.org/drawingml/2006/main">
            <a:off x="1495425" y="3312616"/>
            <a:ext cx="377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JSON · илустративни запис</a:t>
            </a:r>
          </a:p>
        </p:txBody>
      </p:sp>
      <p:sp>
        <p:nvSpPr>
          <p:cNvPr id="12" name="text-source-16">
            <a:extLst xmlns:a="http://schemas.openxmlformats.org/drawingml/2006/main">
              <a:ext uri="{FF2B5EF4-FFF2-40B4-BE49-F238E27FC236}">
                <a16:creationId xmlns:a16="http://schemas.microsoft.com/office/drawing/2014/main" id="{52C9378A-BA18-4642-9D7A-F7146B7D6953}"/>
              </a:ext>
            </a:extLst>
          </p:cNvPr>
          <p:cNvSpPr>
            <a:spLocks xmlns:a="http://schemas.openxmlformats.org/drawingml/2006/main" noGrp="1"/>
          </p:cNvSpPr>
          <p:nvPr/>
        </p:nvSpPr>
        <p:spPr>
          <a:xfrm xmlns:a="http://schemas.openxmlformats.org/drawingml/2006/main">
            <a:off x="1495425" y="370879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1</a:t>
            </a:r>
          </a:p>
        </p:txBody>
      </p:sp>
      <p:sp>
        <p:nvSpPr>
          <p:cNvPr id="13" name="text-source-16">
            <a:extLst xmlns:a="http://schemas.openxmlformats.org/drawingml/2006/main">
              <a:ext uri="{FF2B5EF4-FFF2-40B4-BE49-F238E27FC236}">
                <a16:creationId xmlns:a16="http://schemas.microsoft.com/office/drawing/2014/main" id="{551625C8-84A0-4E64-B164-8A18976B7100}"/>
              </a:ext>
            </a:extLst>
          </p:cNvPr>
          <p:cNvSpPr>
            <a:spLocks xmlns:a="http://schemas.openxmlformats.org/drawingml/2006/main" noGrp="1"/>
          </p:cNvSpPr>
          <p:nvPr/>
        </p:nvSpPr>
        <p:spPr>
          <a:xfrm xmlns:a="http://schemas.openxmlformats.org/drawingml/2006/main">
            <a:off x="2066925" y="370879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a:t>
            </a:r>
          </a:p>
        </p:txBody>
      </p:sp>
      <p:sp>
        <p:nvSpPr>
          <p:cNvPr id="14" name="text-source-16">
            <a:extLst xmlns:a="http://schemas.openxmlformats.org/drawingml/2006/main">
              <a:ext uri="{FF2B5EF4-FFF2-40B4-BE49-F238E27FC236}">
                <a16:creationId xmlns:a16="http://schemas.microsoft.com/office/drawing/2014/main" id="{0497D84D-4BEA-4FC4-8D55-676FE1C3E76C}"/>
              </a:ext>
            </a:extLst>
          </p:cNvPr>
          <p:cNvSpPr>
            <a:spLocks xmlns:a="http://schemas.openxmlformats.org/drawingml/2006/main" noGrp="1"/>
          </p:cNvSpPr>
          <p:nvPr/>
        </p:nvSpPr>
        <p:spPr>
          <a:xfrm xmlns:a="http://schemas.openxmlformats.org/drawingml/2006/main">
            <a:off x="1495425" y="4028777"/>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2</a:t>
            </a:r>
          </a:p>
        </p:txBody>
      </p:sp>
      <p:sp>
        <p:nvSpPr>
          <p:cNvPr id="15" name="text-source-16">
            <a:extLst xmlns:a="http://schemas.openxmlformats.org/drawingml/2006/main">
              <a:ext uri="{FF2B5EF4-FFF2-40B4-BE49-F238E27FC236}">
                <a16:creationId xmlns:a16="http://schemas.microsoft.com/office/drawing/2014/main" id="{D190DD4B-8F4C-433D-9B5A-D04D9456C8C5}"/>
              </a:ext>
            </a:extLst>
          </p:cNvPr>
          <p:cNvSpPr>
            <a:spLocks xmlns:a="http://schemas.openxmlformats.org/drawingml/2006/main" noGrp="1"/>
          </p:cNvSpPr>
          <p:nvPr/>
        </p:nvSpPr>
        <p:spPr>
          <a:xfrm xmlns:a="http://schemas.openxmlformats.org/drawingml/2006/main">
            <a:off x="2066925" y="4028777"/>
            <a:ext cx="294932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"subject"</a:t>
            </a: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"u-8"</a:t>
            </a:r>
            <a:r>
              <a:rPr sz="1800" b="0">
                <a:solidFill>
                  <a:srgbClr val="13202D"/>
                </a:solidFill>
                <a:latin typeface="IBM Plex Mono"/>
                <a:ea typeface="IBM Plex Mono"/>
                <a:cs typeface="IBM Plex Mono"/>
              </a:rPr>
              <a:t>,</a:t>
            </a:r>
          </a:p>
        </p:txBody>
      </p:sp>
      <p:sp>
        <p:nvSpPr>
          <p:cNvPr id="16" name="text-source-16">
            <a:extLst xmlns:a="http://schemas.openxmlformats.org/drawingml/2006/main">
              <a:ext uri="{FF2B5EF4-FFF2-40B4-BE49-F238E27FC236}">
                <a16:creationId xmlns:a16="http://schemas.microsoft.com/office/drawing/2014/main" id="{ED87F2DA-456C-421E-BC1A-E4608C4CA8C2}"/>
              </a:ext>
            </a:extLst>
          </p:cNvPr>
          <p:cNvSpPr>
            <a:spLocks xmlns:a="http://schemas.openxmlformats.org/drawingml/2006/main" noGrp="1"/>
          </p:cNvSpPr>
          <p:nvPr/>
        </p:nvSpPr>
        <p:spPr>
          <a:xfrm xmlns:a="http://schemas.openxmlformats.org/drawingml/2006/main">
            <a:off x="1495425" y="4348758"/>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3</a:t>
            </a:r>
          </a:p>
        </p:txBody>
      </p:sp>
      <p:sp>
        <p:nvSpPr>
          <p:cNvPr id="17" name="text-source-16">
            <a:extLst xmlns:a="http://schemas.openxmlformats.org/drawingml/2006/main">
              <a:ext uri="{FF2B5EF4-FFF2-40B4-BE49-F238E27FC236}">
                <a16:creationId xmlns:a16="http://schemas.microsoft.com/office/drawing/2014/main" id="{7F01E8E9-7589-45DD-B22F-77B6A3E9C134}"/>
              </a:ext>
            </a:extLst>
          </p:cNvPr>
          <p:cNvSpPr>
            <a:spLocks xmlns:a="http://schemas.openxmlformats.org/drawingml/2006/main" noGrp="1"/>
          </p:cNvSpPr>
          <p:nvPr/>
        </p:nvSpPr>
        <p:spPr>
          <a:xfrm xmlns:a="http://schemas.openxmlformats.org/drawingml/2006/main">
            <a:off x="2066925" y="4348758"/>
            <a:ext cx="445814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"action"</a:t>
            </a: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"payment.approve"</a:t>
            </a:r>
            <a:r>
              <a:rPr sz="1800" b="0">
                <a:solidFill>
                  <a:srgbClr val="13202D"/>
                </a:solidFill>
                <a:latin typeface="IBM Plex Mono"/>
                <a:ea typeface="IBM Plex Mono"/>
                <a:cs typeface="IBM Plex Mono"/>
              </a:rPr>
              <a:t>,</a:t>
            </a:r>
          </a:p>
        </p:txBody>
      </p:sp>
      <p:sp>
        <p:nvSpPr>
          <p:cNvPr id="18" name="text-source-16">
            <a:extLst xmlns:a="http://schemas.openxmlformats.org/drawingml/2006/main">
              <a:ext uri="{FF2B5EF4-FFF2-40B4-BE49-F238E27FC236}">
                <a16:creationId xmlns:a16="http://schemas.microsoft.com/office/drawing/2014/main" id="{95C76246-5BE6-4FE0-93A4-EBAE9795F5FE}"/>
              </a:ext>
            </a:extLst>
          </p:cNvPr>
          <p:cNvSpPr>
            <a:spLocks xmlns:a="http://schemas.openxmlformats.org/drawingml/2006/main" noGrp="1"/>
          </p:cNvSpPr>
          <p:nvPr/>
        </p:nvSpPr>
        <p:spPr>
          <a:xfrm xmlns:a="http://schemas.openxmlformats.org/drawingml/2006/main">
            <a:off x="1495425" y="4668738"/>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4</a:t>
            </a:r>
          </a:p>
        </p:txBody>
      </p:sp>
      <p:sp>
        <p:nvSpPr>
          <p:cNvPr id="19" name="text-source-16">
            <a:extLst xmlns:a="http://schemas.openxmlformats.org/drawingml/2006/main">
              <a:ext uri="{FF2B5EF4-FFF2-40B4-BE49-F238E27FC236}">
                <a16:creationId xmlns:a16="http://schemas.microsoft.com/office/drawing/2014/main" id="{B616A1C4-1285-46E5-978F-C8856F83D6F9}"/>
              </a:ext>
            </a:extLst>
          </p:cNvPr>
          <p:cNvSpPr>
            <a:spLocks xmlns:a="http://schemas.openxmlformats.org/drawingml/2006/main" noGrp="1"/>
          </p:cNvSpPr>
          <p:nvPr/>
        </p:nvSpPr>
        <p:spPr>
          <a:xfrm xmlns:a="http://schemas.openxmlformats.org/drawingml/2006/main">
            <a:off x="2066925" y="4668738"/>
            <a:ext cx="418385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"sessionState"</a:t>
            </a: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"revoked"</a:t>
            </a:r>
            <a:r>
              <a:rPr sz="1800" b="0">
                <a:solidFill>
                  <a:srgbClr val="13202D"/>
                </a:solidFill>
                <a:latin typeface="IBM Plex Mono"/>
                <a:ea typeface="IBM Plex Mono"/>
                <a:cs typeface="IBM Plex Mono"/>
              </a:rPr>
              <a:t>,</a:t>
            </a:r>
          </a:p>
        </p:txBody>
      </p:sp>
      <p:sp>
        <p:nvSpPr>
          <p:cNvPr id="20" name="text-source-16">
            <a:extLst xmlns:a="http://schemas.openxmlformats.org/drawingml/2006/main">
              <a:ext uri="{FF2B5EF4-FFF2-40B4-BE49-F238E27FC236}">
                <a16:creationId xmlns:a16="http://schemas.microsoft.com/office/drawing/2014/main" id="{9F95E17D-F7B9-4437-A579-0400A3ECC003}"/>
              </a:ext>
            </a:extLst>
          </p:cNvPr>
          <p:cNvSpPr>
            <a:spLocks xmlns:a="http://schemas.openxmlformats.org/drawingml/2006/main" noGrp="1"/>
          </p:cNvSpPr>
          <p:nvPr/>
        </p:nvSpPr>
        <p:spPr>
          <a:xfrm xmlns:a="http://schemas.openxmlformats.org/drawingml/2006/main">
            <a:off x="1495425" y="4988719"/>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5</a:t>
            </a:r>
          </a:p>
        </p:txBody>
      </p:sp>
      <p:sp>
        <p:nvSpPr>
          <p:cNvPr id="21" name="text-source-16">
            <a:extLst xmlns:a="http://schemas.openxmlformats.org/drawingml/2006/main">
              <a:ext uri="{FF2B5EF4-FFF2-40B4-BE49-F238E27FC236}">
                <a16:creationId xmlns:a16="http://schemas.microsoft.com/office/drawing/2014/main" id="{CCD80EA1-381A-4FAE-A83D-CA4CF2A48F61}"/>
              </a:ext>
            </a:extLst>
          </p:cNvPr>
          <p:cNvSpPr>
            <a:spLocks xmlns:a="http://schemas.openxmlformats.org/drawingml/2006/main" noGrp="1"/>
          </p:cNvSpPr>
          <p:nvPr/>
        </p:nvSpPr>
        <p:spPr>
          <a:xfrm xmlns:a="http://schemas.openxmlformats.org/drawingml/2006/main">
            <a:off x="2066925" y="4988719"/>
            <a:ext cx="322361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"assurance"</a:t>
            </a: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"mfa"</a:t>
            </a:r>
            <a:r>
              <a:rPr sz="1800" b="0">
                <a:solidFill>
                  <a:srgbClr val="13202D"/>
                </a:solidFill>
                <a:latin typeface="IBM Plex Mono"/>
                <a:ea typeface="IBM Plex Mono"/>
                <a:cs typeface="IBM Plex Mono"/>
              </a:rPr>
              <a:t>,</a:t>
            </a:r>
          </a:p>
        </p:txBody>
      </p:sp>
      <p:sp>
        <p:nvSpPr>
          <p:cNvPr id="22" name="text-source-16">
            <a:extLst xmlns:a="http://schemas.openxmlformats.org/drawingml/2006/main">
              <a:ext uri="{FF2B5EF4-FFF2-40B4-BE49-F238E27FC236}">
                <a16:creationId xmlns:a16="http://schemas.microsoft.com/office/drawing/2014/main" id="{143ACAD7-228E-4035-B148-6164EAF8061C}"/>
              </a:ext>
            </a:extLst>
          </p:cNvPr>
          <p:cNvSpPr>
            <a:spLocks xmlns:a="http://schemas.openxmlformats.org/drawingml/2006/main" noGrp="1"/>
          </p:cNvSpPr>
          <p:nvPr/>
        </p:nvSpPr>
        <p:spPr>
          <a:xfrm xmlns:a="http://schemas.openxmlformats.org/drawingml/2006/main">
            <a:off x="1495425" y="5308699"/>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6</a:t>
            </a:r>
          </a:p>
        </p:txBody>
      </p:sp>
      <p:sp>
        <p:nvSpPr>
          <p:cNvPr id="23" name="text-source-16">
            <a:extLst xmlns:a="http://schemas.openxmlformats.org/drawingml/2006/main">
              <a:ext uri="{FF2B5EF4-FFF2-40B4-BE49-F238E27FC236}">
                <a16:creationId xmlns:a16="http://schemas.microsoft.com/office/drawing/2014/main" id="{42C39846-DAA6-4F19-A999-6422277588A3}"/>
              </a:ext>
            </a:extLst>
          </p:cNvPr>
          <p:cNvSpPr>
            <a:spLocks xmlns:a="http://schemas.openxmlformats.org/drawingml/2006/main" noGrp="1"/>
          </p:cNvSpPr>
          <p:nvPr/>
        </p:nvSpPr>
        <p:spPr>
          <a:xfrm xmlns:a="http://schemas.openxmlformats.org/drawingml/2006/main">
            <a:off x="2066925" y="5308699"/>
            <a:ext cx="336083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"outcome"</a:t>
            </a: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"denied"</a:t>
            </a:r>
            <a:r>
              <a:rPr sz="1800" b="0">
                <a:solidFill>
                  <a:srgbClr val="13202D"/>
                </a:solidFill>
                <a:latin typeface="IBM Plex Mono"/>
                <a:ea typeface="IBM Plex Mono"/>
                <a:cs typeface="IBM Plex Mono"/>
              </a:rPr>
              <a:t>,</a:t>
            </a:r>
          </a:p>
        </p:txBody>
      </p:sp>
      <p:sp>
        <p:nvSpPr>
          <p:cNvPr id="24" name="text-source-16">
            <a:extLst xmlns:a="http://schemas.openxmlformats.org/drawingml/2006/main">
              <a:ext uri="{FF2B5EF4-FFF2-40B4-BE49-F238E27FC236}">
                <a16:creationId xmlns:a16="http://schemas.microsoft.com/office/drawing/2014/main" id="{BD7EEC5B-A90E-4891-B6D5-4A4D4441401F}"/>
              </a:ext>
            </a:extLst>
          </p:cNvPr>
          <p:cNvSpPr>
            <a:spLocks xmlns:a="http://schemas.openxmlformats.org/drawingml/2006/main" noGrp="1"/>
          </p:cNvSpPr>
          <p:nvPr/>
        </p:nvSpPr>
        <p:spPr>
          <a:xfrm xmlns:a="http://schemas.openxmlformats.org/drawingml/2006/main">
            <a:off x="1495425" y="5628680"/>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7</a:t>
            </a:r>
          </a:p>
        </p:txBody>
      </p:sp>
      <p:sp>
        <p:nvSpPr>
          <p:cNvPr id="25" name="text-source-16">
            <a:extLst xmlns:a="http://schemas.openxmlformats.org/drawingml/2006/main">
              <a:ext uri="{FF2B5EF4-FFF2-40B4-BE49-F238E27FC236}">
                <a16:creationId xmlns:a16="http://schemas.microsoft.com/office/drawing/2014/main" id="{AFB9300B-6C72-446F-BB51-C79B3FF5B3CF}"/>
              </a:ext>
            </a:extLst>
          </p:cNvPr>
          <p:cNvSpPr>
            <a:spLocks xmlns:a="http://schemas.openxmlformats.org/drawingml/2006/main" noGrp="1"/>
          </p:cNvSpPr>
          <p:nvPr/>
        </p:nvSpPr>
        <p:spPr>
          <a:xfrm xmlns:a="http://schemas.openxmlformats.org/drawingml/2006/main">
            <a:off x="2066925" y="5628680"/>
            <a:ext cx="418370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  </a:t>
            </a:r>
            <a:r>
              <a:rPr sz="1800" b="0">
                <a:solidFill>
                  <a:srgbClr val="A8520A"/>
                </a:solidFill>
                <a:latin typeface="IBM Plex Mono"/>
                <a:ea typeface="IBM Plex Mono"/>
                <a:cs typeface="IBM Plex Mono"/>
              </a:rPr>
              <a:t>"secretValueLogged"</a:t>
            </a:r>
            <a:r>
              <a:rPr sz="1800" b="0">
                <a:solidFill>
                  <a:srgbClr val="13202D"/>
                </a:solidFill>
                <a:latin typeface="IBM Plex Mono"/>
                <a:ea typeface="IBM Plex Mono"/>
                <a:cs typeface="IBM Plex Mono"/>
              </a:rPr>
              <a:t>: </a:t>
            </a:r>
            <a:r>
              <a:rPr sz="1800" b="0">
                <a:solidFill>
                  <a:srgbClr val="3A46A5"/>
                </a:solidFill>
                <a:latin typeface="IBM Plex Mono"/>
                <a:ea typeface="IBM Plex Mono"/>
                <a:cs typeface="IBM Plex Mono"/>
              </a:rPr>
              <a:t>false</a:t>
            </a:r>
          </a:p>
        </p:txBody>
      </p:sp>
      <p:sp>
        <p:nvSpPr>
          <p:cNvPr id="26" name="text-source-16">
            <a:extLst xmlns:a="http://schemas.openxmlformats.org/drawingml/2006/main">
              <a:ext uri="{FF2B5EF4-FFF2-40B4-BE49-F238E27FC236}">
                <a16:creationId xmlns:a16="http://schemas.microsoft.com/office/drawing/2014/main" id="{EBE98735-BA8A-488C-A133-42AFF177FFB2}"/>
              </a:ext>
            </a:extLst>
          </p:cNvPr>
          <p:cNvSpPr>
            <a:spLocks xmlns:a="http://schemas.openxmlformats.org/drawingml/2006/main" noGrp="1"/>
          </p:cNvSpPr>
          <p:nvPr/>
        </p:nvSpPr>
        <p:spPr>
          <a:xfrm xmlns:a="http://schemas.openxmlformats.org/drawingml/2006/main">
            <a:off x="1495425" y="5948660"/>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8C99A6"/>
                </a:solidFill>
                <a:latin typeface="IBM Plex Mono"/>
                <a:ea typeface="IBM Plex Mono"/>
                <a:cs typeface="IBM Plex Mono"/>
              </a:rPr>
              <a:t>8</a:t>
            </a:r>
          </a:p>
        </p:txBody>
      </p:sp>
      <p:sp>
        <p:nvSpPr>
          <p:cNvPr id="27" name="text-source-16">
            <a:extLst xmlns:a="http://schemas.openxmlformats.org/drawingml/2006/main">
              <a:ext uri="{FF2B5EF4-FFF2-40B4-BE49-F238E27FC236}">
                <a16:creationId xmlns:a16="http://schemas.microsoft.com/office/drawing/2014/main" id="{DD74C4CD-D983-4D0B-9C76-3DE3072792FF}"/>
              </a:ext>
            </a:extLst>
          </p:cNvPr>
          <p:cNvSpPr>
            <a:spLocks xmlns:a="http://schemas.openxmlformats.org/drawingml/2006/main" noGrp="1"/>
          </p:cNvSpPr>
          <p:nvPr/>
        </p:nvSpPr>
        <p:spPr>
          <a:xfrm xmlns:a="http://schemas.openxmlformats.org/drawingml/2006/main">
            <a:off x="2066925" y="5948660"/>
            <a:ext cx="4801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13202D"/>
                </a:solidFill>
                <a:latin typeface="IBM Plex Mono"/>
                <a:ea typeface="IBM Plex Mono"/>
                <a:cs typeface="IBM Plex Mono"/>
              </a:rPr>
              <a:t>}</a:t>
            </a:r>
          </a:p>
        </p:txBody>
      </p:sp>
      <p:sp>
        <p:nvSpPr>
          <p:cNvPr id="28" name="text-source-16">
            <a:extLst xmlns:a="http://schemas.openxmlformats.org/drawingml/2006/main">
              <a:ext uri="{FF2B5EF4-FFF2-40B4-BE49-F238E27FC236}">
                <a16:creationId xmlns:a16="http://schemas.microsoft.com/office/drawing/2014/main" id="{4ED97768-5EA1-4EC9-95C6-176F3C2D5B0A}"/>
              </a:ext>
            </a:extLst>
          </p:cNvPr>
          <p:cNvSpPr>
            <a:spLocks xmlns:a="http://schemas.openxmlformats.org/drawingml/2006/main" noGrp="1"/>
          </p:cNvSpPr>
          <p:nvPr/>
        </p:nvSpPr>
        <p:spPr>
          <a:xfrm xmlns:a="http://schemas.openxmlformats.org/drawingml/2006/main">
            <a:off x="9810750" y="3303091"/>
            <a:ext cx="13031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ДОВОЉНО</a:t>
            </a:r>
          </a:p>
        </p:txBody>
      </p:sp>
      <p:sp>
        <p:nvSpPr>
          <p:cNvPr id="29" name="text-source-16">
            <a:extLst xmlns:a="http://schemas.openxmlformats.org/drawingml/2006/main">
              <a:ext uri="{FF2B5EF4-FFF2-40B4-BE49-F238E27FC236}">
                <a16:creationId xmlns:a16="http://schemas.microsoft.com/office/drawing/2014/main" id="{359FA6AD-2FCC-4EC7-A661-1EC3672C70D8}"/>
              </a:ext>
            </a:extLst>
          </p:cNvPr>
          <p:cNvSpPr>
            <a:spLocks xmlns:a="http://schemas.openxmlformats.org/drawingml/2006/main" noGrp="1"/>
          </p:cNvSpPr>
          <p:nvPr/>
        </p:nvSpPr>
        <p:spPr>
          <a:xfrm xmlns:a="http://schemas.openxmlformats.org/drawingml/2006/main">
            <a:off x="9810750" y="3708797"/>
            <a:ext cx="470594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Актер, радња, циљ, исход и разлог</a:t>
            </a:r>
          </a:p>
        </p:txBody>
      </p:sp>
      <p:sp>
        <p:nvSpPr>
          <p:cNvPr id="30" name="text-source-16">
            <a:extLst xmlns:a="http://schemas.openxmlformats.org/drawingml/2006/main">
              <a:ext uri="{FF2B5EF4-FFF2-40B4-BE49-F238E27FC236}">
                <a16:creationId xmlns:a16="http://schemas.microsoft.com/office/drawing/2014/main" id="{3C1A7CB1-1D84-41BD-940A-D4A3C740555C}"/>
              </a:ext>
            </a:extLst>
          </p:cNvPr>
          <p:cNvSpPr>
            <a:spLocks xmlns:a="http://schemas.openxmlformats.org/drawingml/2006/main" noGrp="1"/>
          </p:cNvSpPr>
          <p:nvPr/>
        </p:nvSpPr>
        <p:spPr>
          <a:xfrm xmlns:a="http://schemas.openxmlformats.org/drawingml/2006/main">
            <a:off x="9810750" y="4082058"/>
            <a:ext cx="665365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Временска ознака и correlation ID повезују траг са </a:t>
            </a:r>
          </a:p>
        </p:txBody>
      </p:sp>
      <p:sp>
        <p:nvSpPr>
          <p:cNvPr id="31" name="text-source-16">
            <a:extLst xmlns:a="http://schemas.openxmlformats.org/drawingml/2006/main">
              <a:ext uri="{FF2B5EF4-FFF2-40B4-BE49-F238E27FC236}">
                <a16:creationId xmlns:a16="http://schemas.microsoft.com/office/drawing/2014/main" id="{F88683D5-77E0-4894-A2E9-3588227DF4D1}"/>
              </a:ext>
            </a:extLst>
          </p:cNvPr>
          <p:cNvSpPr>
            <a:spLocks xmlns:a="http://schemas.openxmlformats.org/drawingml/2006/main" noGrp="1"/>
          </p:cNvSpPr>
          <p:nvPr/>
        </p:nvSpPr>
        <p:spPr>
          <a:xfrm xmlns:a="http://schemas.openxmlformats.org/drawingml/2006/main">
            <a:off x="9810750" y="4455319"/>
            <a:ext cx="218420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остатком тока.</a:t>
            </a:r>
          </a:p>
        </p:txBody>
      </p:sp>
      <p:sp>
        <p:nvSpPr>
          <p:cNvPr id="32" name="text-source-16">
            <a:extLst xmlns:a="http://schemas.openxmlformats.org/drawingml/2006/main">
              <a:ext uri="{FF2B5EF4-FFF2-40B4-BE49-F238E27FC236}">
                <a16:creationId xmlns:a16="http://schemas.microsoft.com/office/drawing/2014/main" id="{B7168EE8-903B-4860-8118-A6DC78AA2A62}"/>
              </a:ext>
            </a:extLst>
          </p:cNvPr>
          <p:cNvSpPr>
            <a:spLocks xmlns:a="http://schemas.openxmlformats.org/drawingml/2006/main" noGrp="1"/>
          </p:cNvSpPr>
          <p:nvPr/>
        </p:nvSpPr>
        <p:spPr>
          <a:xfrm xmlns:a="http://schemas.openxmlformats.org/drawingml/2006/main">
            <a:off x="9810750" y="5428655"/>
            <a:ext cx="281181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НЕ ПРИПАДА У ДОКАЗ</a:t>
            </a:r>
          </a:p>
        </p:txBody>
      </p:sp>
      <p:sp>
        <p:nvSpPr>
          <p:cNvPr id="33" name="text-source-16">
            <a:extLst xmlns:a="http://schemas.openxmlformats.org/drawingml/2006/main">
              <a:ext uri="{FF2B5EF4-FFF2-40B4-BE49-F238E27FC236}">
                <a16:creationId xmlns:a16="http://schemas.microsoft.com/office/drawing/2014/main" id="{7B75DF78-C552-4737-AD4C-955458F74A8A}"/>
              </a:ext>
            </a:extLst>
          </p:cNvPr>
          <p:cNvSpPr>
            <a:spLocks xmlns:a="http://schemas.openxmlformats.org/drawingml/2006/main" noGrp="1"/>
          </p:cNvSpPr>
          <p:nvPr/>
        </p:nvSpPr>
        <p:spPr>
          <a:xfrm xmlns:a="http://schemas.openxmlformats.org/drawingml/2006/main">
            <a:off x="9810750" y="5834360"/>
            <a:ext cx="541883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Лозинка, token, тајна и сувишан садржај</a:t>
            </a:r>
          </a:p>
        </p:txBody>
      </p:sp>
      <p:sp>
        <p:nvSpPr>
          <p:cNvPr id="34" name="text-source-16">
            <a:extLst xmlns:a="http://schemas.openxmlformats.org/drawingml/2006/main">
              <a:ext uri="{FF2B5EF4-FFF2-40B4-BE49-F238E27FC236}">
                <a16:creationId xmlns:a16="http://schemas.microsoft.com/office/drawing/2014/main" id="{985D8385-4534-49E2-A02B-46843D36C7D4}"/>
              </a:ext>
            </a:extLst>
          </p:cNvPr>
          <p:cNvSpPr>
            <a:spLocks xmlns:a="http://schemas.openxmlformats.org/drawingml/2006/main" noGrp="1"/>
          </p:cNvSpPr>
          <p:nvPr/>
        </p:nvSpPr>
        <p:spPr>
          <a:xfrm xmlns:a="http://schemas.openxmlformats.org/drawingml/2006/main">
            <a:off x="9810750" y="6207621"/>
            <a:ext cx="719822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Траг не сме да постане нови извор цурења или збирка </a:t>
            </a:r>
          </a:p>
        </p:txBody>
      </p:sp>
      <p:sp>
        <p:nvSpPr>
          <p:cNvPr id="35" name="text-source-16">
            <a:extLst xmlns:a="http://schemas.openxmlformats.org/drawingml/2006/main">
              <a:ext uri="{FF2B5EF4-FFF2-40B4-BE49-F238E27FC236}">
                <a16:creationId xmlns:a16="http://schemas.microsoft.com/office/drawing/2014/main" id="{7F5F751B-1E52-44F9-9C01-2FC1551FE763}"/>
              </a:ext>
            </a:extLst>
          </p:cNvPr>
          <p:cNvSpPr>
            <a:spLocks xmlns:a="http://schemas.openxmlformats.org/drawingml/2006/main" noGrp="1"/>
          </p:cNvSpPr>
          <p:nvPr/>
        </p:nvSpPr>
        <p:spPr>
          <a:xfrm xmlns:a="http://schemas.openxmlformats.org/drawingml/2006/main">
            <a:off x="9810750" y="6580882"/>
            <a:ext cx="325740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непотребних података.</a:t>
            </a:r>
          </a:p>
        </p:txBody>
      </p:sp>
      <p:sp>
        <p:nvSpPr>
          <p:cNvPr id="36" name="text-source-16">
            <a:extLst xmlns:a="http://schemas.openxmlformats.org/drawingml/2006/main">
              <a:ext uri="{FF2B5EF4-FFF2-40B4-BE49-F238E27FC236}">
                <a16:creationId xmlns:a16="http://schemas.microsoft.com/office/drawing/2014/main" id="{1CEA3BE5-C294-4770-9CE3-9EB5CB0A0C10}"/>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37" name="text-source-16">
            <a:extLst xmlns:a="http://schemas.openxmlformats.org/drawingml/2006/main">
              <a:ext uri="{FF2B5EF4-FFF2-40B4-BE49-F238E27FC236}">
                <a16:creationId xmlns:a16="http://schemas.microsoft.com/office/drawing/2014/main" id="{C4AC3289-255B-4022-894C-8360AE1A6D1E}"/>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25</a:t>
            </a:r>
          </a:p>
        </p:txBody>
      </p:sp>
    </p:spTree>
    <p:extLst>
      <p:ext uri="{BB962C8B-B14F-4D97-AF65-F5344CB8AC3E}">
        <p14:creationId xmlns:p14="http://schemas.microsoft.com/office/powerpoint/2010/main" val="943245122"/>
      </p:ext>
    </p:extLst>
  </p:cSld>
</p:sld>
</file>

<file path=ppt/slides/slide26.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2AF7B65-6DD2-40B0-A9AE-FDDB47BE4DFE}"/>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E6E510-2D46-4AD1-A72C-B9295C757FD0}"/>
              </a:ext>
            </a:extLst>
          </p:cNvPr>
          <p:cNvSpPr>
            <a:spLocks xmlns:a="http://schemas.openxmlformats.org/drawingml/2006/main" noGrp="1"/>
          </p:cNvSpPr>
          <p:nvPr/>
        </p:nvSpPr>
        <p:spPr>
          <a:xfrm xmlns:a="http://schemas.openxmlformats.org/drawingml/2006/main">
            <a:off x="1219200" y="3112591"/>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C64309-D6AA-4AD4-B6B6-666E8823EA1D}"/>
              </a:ext>
            </a:extLst>
          </p:cNvPr>
          <p:cNvSpPr>
            <a:spLocks xmlns:a="http://schemas.openxmlformats.org/drawingml/2006/main" noGrp="1"/>
          </p:cNvSpPr>
          <p:nvPr/>
        </p:nvSpPr>
        <p:spPr>
          <a:xfrm xmlns:a="http://schemas.openxmlformats.org/drawingml/2006/main">
            <a:off x="1219200" y="4245918"/>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2E7BF6-E697-4AED-B385-859D5707D20B}"/>
              </a:ext>
            </a:extLst>
          </p:cNvPr>
          <p:cNvSpPr>
            <a:spLocks xmlns:a="http://schemas.openxmlformats.org/drawingml/2006/main" noGrp="1"/>
          </p:cNvSpPr>
          <p:nvPr/>
        </p:nvSpPr>
        <p:spPr>
          <a:xfrm xmlns:a="http://schemas.openxmlformats.org/drawingml/2006/main">
            <a:off x="1219200" y="5379244"/>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61FB3B-C82A-4E33-9F88-AD73E9B5C278}"/>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6" name="text-source-17">
            <a:extLst xmlns:a="http://schemas.openxmlformats.org/drawingml/2006/main">
              <a:ext uri="{FF2B5EF4-FFF2-40B4-BE49-F238E27FC236}">
                <a16:creationId xmlns:a16="http://schemas.microsoft.com/office/drawing/2014/main" id="{37199D5D-0D42-40A7-9E6A-08BA97D1D935}"/>
              </a:ext>
            </a:extLst>
          </p:cNvPr>
          <p:cNvSpPr>
            <a:spLocks xmlns:a="http://schemas.openxmlformats.org/drawingml/2006/main" noGrp="1"/>
          </p:cNvSpPr>
          <p:nvPr/>
        </p:nvSpPr>
        <p:spPr>
          <a:xfrm xmlns:a="http://schemas.openxmlformats.org/drawingml/2006/main">
            <a:off x="1219200" y="1066800"/>
            <a:ext cx="299858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04 · ЧЕСТЕ ГРЕШКЕ</a:t>
            </a:r>
          </a:p>
        </p:txBody>
      </p:sp>
      <p:sp>
        <p:nvSpPr>
          <p:cNvPr id="7" name="heading-source-17">
            <a:extLst xmlns:a="http://schemas.openxmlformats.org/drawingml/2006/main">
              <a:ext uri="{FF2B5EF4-FFF2-40B4-BE49-F238E27FC236}">
                <a16:creationId xmlns:a16="http://schemas.microsoft.com/office/drawing/2014/main" id="{2C2E9B94-C01D-4355-83AB-FCDB66C96E61}"/>
              </a:ext>
            </a:extLst>
          </p:cNvPr>
          <p:cNvSpPr>
            <a:spLocks xmlns:a="http://schemas.openxmlformats.org/drawingml/2006/main" noGrp="1"/>
          </p:cNvSpPr>
          <p:nvPr/>
        </p:nvSpPr>
        <p:spPr>
          <a:xfrm xmlns:a="http://schemas.openxmlformats.org/drawingml/2006/main">
            <a:off x="1219200" y="1443930"/>
            <a:ext cx="901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534"/>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Честе грешке у имплементацији</a:t>
            </a:r>
          </a:p>
        </p:txBody>
      </p:sp>
      <p:sp>
        <p:nvSpPr>
          <p:cNvPr id="8" name="text-source-17">
            <a:extLst xmlns:a="http://schemas.openxmlformats.org/drawingml/2006/main">
              <a:ext uri="{FF2B5EF4-FFF2-40B4-BE49-F238E27FC236}">
                <a16:creationId xmlns:a16="http://schemas.microsoft.com/office/drawing/2014/main" id="{304569E4-48FD-40CE-930D-07160328A647}"/>
              </a:ext>
            </a:extLst>
          </p:cNvPr>
          <p:cNvSpPr>
            <a:spLocks xmlns:a="http://schemas.openxmlformats.org/drawingml/2006/main" noGrp="1"/>
          </p:cNvSpPr>
          <p:nvPr/>
        </p:nvSpPr>
        <p:spPr>
          <a:xfrm xmlns:a="http://schemas.openxmlformats.org/drawingml/2006/main">
            <a:off x="1219200" y="2444055"/>
            <a:ext cx="920219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Грешке настају када контекст, место одлуке или доказ остану нејасни.</a:t>
            </a:r>
          </a:p>
        </p:txBody>
      </p:sp>
      <p:sp>
        <p:nvSpPr>
          <p:cNvPr id="9" name="text-source-17">
            <a:extLst xmlns:a="http://schemas.openxmlformats.org/drawingml/2006/main">
              <a:ext uri="{FF2B5EF4-FFF2-40B4-BE49-F238E27FC236}">
                <a16:creationId xmlns:a16="http://schemas.microsoft.com/office/drawing/2014/main" id="{4ED0C64D-D4A3-44E2-A502-D1F0FEFB86BE}"/>
              </a:ext>
            </a:extLst>
          </p:cNvPr>
          <p:cNvSpPr>
            <a:spLocks xmlns:a="http://schemas.openxmlformats.org/drawingml/2006/main" noGrp="1"/>
          </p:cNvSpPr>
          <p:nvPr/>
        </p:nvSpPr>
        <p:spPr>
          <a:xfrm xmlns:a="http://schemas.openxmlformats.org/drawingml/2006/main">
            <a:off x="1219200" y="331261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0" name="text-source-17">
            <a:extLst xmlns:a="http://schemas.openxmlformats.org/drawingml/2006/main">
              <a:ext uri="{FF2B5EF4-FFF2-40B4-BE49-F238E27FC236}">
                <a16:creationId xmlns:a16="http://schemas.microsoft.com/office/drawing/2014/main" id="{486F13C1-97FF-4FCE-94F3-CD6E97255746}"/>
              </a:ext>
            </a:extLst>
          </p:cNvPr>
          <p:cNvSpPr>
            <a:spLocks xmlns:a="http://schemas.openxmlformats.org/drawingml/2006/main" noGrp="1"/>
          </p:cNvSpPr>
          <p:nvPr/>
        </p:nvSpPr>
        <p:spPr>
          <a:xfrm xmlns:a="http://schemas.openxmlformats.org/drawingml/2006/main">
            <a:off x="2247900" y="3303091"/>
            <a:ext cx="456336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Token третиран као вечна дозвола.</a:t>
            </a:r>
          </a:p>
        </p:txBody>
      </p:sp>
      <p:sp>
        <p:nvSpPr>
          <p:cNvPr id="11" name="text-source-17">
            <a:extLst xmlns:a="http://schemas.openxmlformats.org/drawingml/2006/main">
              <a:ext uri="{FF2B5EF4-FFF2-40B4-BE49-F238E27FC236}">
                <a16:creationId xmlns:a16="http://schemas.microsoft.com/office/drawing/2014/main" id="{758B1D3B-6CA0-4982-BBA7-4812F1B32D9B}"/>
              </a:ext>
            </a:extLst>
          </p:cNvPr>
          <p:cNvSpPr>
            <a:spLocks xmlns:a="http://schemas.openxmlformats.org/drawingml/2006/main" noGrp="1"/>
          </p:cNvSpPr>
          <p:nvPr/>
        </p:nvSpPr>
        <p:spPr>
          <a:xfrm xmlns:a="http://schemas.openxmlformats.org/drawingml/2006/main">
            <a:off x="2247900" y="3716387"/>
            <a:ext cx="3554611"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Нема јасног власника одлуке.</a:t>
            </a:r>
          </a:p>
        </p:txBody>
      </p:sp>
      <p:sp>
        <p:nvSpPr>
          <p:cNvPr id="12" name="text-source-17">
            <a:extLst xmlns:a="http://schemas.openxmlformats.org/drawingml/2006/main">
              <a:ext uri="{FF2B5EF4-FFF2-40B4-BE49-F238E27FC236}">
                <a16:creationId xmlns:a16="http://schemas.microsoft.com/office/drawing/2014/main" id="{A01CBEBC-4341-493F-9596-429C7D321E40}"/>
              </a:ext>
            </a:extLst>
          </p:cNvPr>
          <p:cNvSpPr>
            <a:spLocks xmlns:a="http://schemas.openxmlformats.org/drawingml/2006/main" noGrp="1"/>
          </p:cNvSpPr>
          <p:nvPr/>
        </p:nvSpPr>
        <p:spPr>
          <a:xfrm xmlns:a="http://schemas.openxmlformats.org/drawingml/2006/main">
            <a:off x="1219200" y="4445943"/>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3" name="text-source-17">
            <a:extLst xmlns:a="http://schemas.openxmlformats.org/drawingml/2006/main">
              <a:ext uri="{FF2B5EF4-FFF2-40B4-BE49-F238E27FC236}">
                <a16:creationId xmlns:a16="http://schemas.microsoft.com/office/drawing/2014/main" id="{B3750BC6-D430-4A1A-9E4C-B6498451D322}"/>
              </a:ext>
            </a:extLst>
          </p:cNvPr>
          <p:cNvSpPr>
            <a:spLocks xmlns:a="http://schemas.openxmlformats.org/drawingml/2006/main" noGrp="1"/>
          </p:cNvSpPr>
          <p:nvPr/>
        </p:nvSpPr>
        <p:spPr>
          <a:xfrm xmlns:a="http://schemas.openxmlformats.org/drawingml/2006/main">
            <a:off x="2247900" y="4436418"/>
            <a:ext cx="724971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Администраторска права додељена без рока и прегледа.</a:t>
            </a:r>
          </a:p>
        </p:txBody>
      </p:sp>
      <p:sp>
        <p:nvSpPr>
          <p:cNvPr id="14" name="text-source-17">
            <a:extLst xmlns:a="http://schemas.openxmlformats.org/drawingml/2006/main">
              <a:ext uri="{FF2B5EF4-FFF2-40B4-BE49-F238E27FC236}">
                <a16:creationId xmlns:a16="http://schemas.microsoft.com/office/drawing/2014/main" id="{30470D08-B32C-42C7-B92E-79FE2428D59E}"/>
              </a:ext>
            </a:extLst>
          </p:cNvPr>
          <p:cNvSpPr>
            <a:spLocks xmlns:a="http://schemas.openxmlformats.org/drawingml/2006/main" noGrp="1"/>
          </p:cNvSpPr>
          <p:nvPr/>
        </p:nvSpPr>
        <p:spPr>
          <a:xfrm xmlns:a="http://schemas.openxmlformats.org/drawingml/2006/main">
            <a:off x="2247900" y="4849713"/>
            <a:ext cx="378157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Не постоји негативан сценарио.</a:t>
            </a:r>
          </a:p>
        </p:txBody>
      </p:sp>
      <p:sp>
        <p:nvSpPr>
          <p:cNvPr id="15" name="text-source-17">
            <a:extLst xmlns:a="http://schemas.openxmlformats.org/drawingml/2006/main">
              <a:ext uri="{FF2B5EF4-FFF2-40B4-BE49-F238E27FC236}">
                <a16:creationId xmlns:a16="http://schemas.microsoft.com/office/drawing/2014/main" id="{FC8FD079-D28C-45A5-92F8-1DABAC86EF8E}"/>
              </a:ext>
            </a:extLst>
          </p:cNvPr>
          <p:cNvSpPr>
            <a:spLocks xmlns:a="http://schemas.openxmlformats.org/drawingml/2006/main" noGrp="1"/>
          </p:cNvSpPr>
          <p:nvPr/>
        </p:nvSpPr>
        <p:spPr>
          <a:xfrm xmlns:a="http://schemas.openxmlformats.org/drawingml/2006/main">
            <a:off x="1219200" y="5579269"/>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16" name="text-source-17">
            <a:extLst xmlns:a="http://schemas.openxmlformats.org/drawingml/2006/main">
              <a:ext uri="{FF2B5EF4-FFF2-40B4-BE49-F238E27FC236}">
                <a16:creationId xmlns:a16="http://schemas.microsoft.com/office/drawing/2014/main" id="{9797057F-FCF5-4523-955C-D0BD02F4B2DA}"/>
              </a:ext>
            </a:extLst>
          </p:cNvPr>
          <p:cNvSpPr>
            <a:spLocks xmlns:a="http://schemas.openxmlformats.org/drawingml/2006/main" noGrp="1"/>
          </p:cNvSpPr>
          <p:nvPr/>
        </p:nvSpPr>
        <p:spPr>
          <a:xfrm xmlns:a="http://schemas.openxmlformats.org/drawingml/2006/main">
            <a:off x="2247900" y="5569744"/>
            <a:ext cx="761672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950">
                <a:latin typeface="IBM Plex Sans"/>
                <a:ea typeface="IBM Plex Sans"/>
                <a:cs typeface="IBM Plex Sans"/>
              </a:defRPr>
            </a:defPPr>
          </a:lstStyle>
          <a:p xmlns:a="http://schemas.openxmlformats.org/drawingml/2006/main">
            <a:pPr algn="l">
              <a:defRPr sz="1950">
                <a:latin typeface="IBM Plex Sans"/>
                <a:ea typeface="IBM Plex Sans"/>
                <a:cs typeface="IBM Plex Sans"/>
              </a:defRPr>
            </a:pPr>
            <a:r>
              <a:rPr sz="1950" b="1">
                <a:solidFill>
                  <a:srgbClr val="13202D"/>
                </a:solidFill>
                <a:latin typeface="IBM Plex Sans"/>
                <a:ea typeface="IBM Plex Sans"/>
                <a:cs typeface="IBM Plex Sans"/>
              </a:rPr>
              <a:t>Једна широка тајна дељена међу више независних сервиса.</a:t>
            </a:r>
          </a:p>
        </p:txBody>
      </p:sp>
      <p:sp>
        <p:nvSpPr>
          <p:cNvPr id="17" name="text-source-17">
            <a:extLst xmlns:a="http://schemas.openxmlformats.org/drawingml/2006/main">
              <a:ext uri="{FF2B5EF4-FFF2-40B4-BE49-F238E27FC236}">
                <a16:creationId xmlns:a16="http://schemas.microsoft.com/office/drawing/2014/main" id="{5294A0C8-DAEA-47C1-BA44-ED89E1D2B48A}"/>
              </a:ext>
            </a:extLst>
          </p:cNvPr>
          <p:cNvSpPr>
            <a:spLocks xmlns:a="http://schemas.openxmlformats.org/drawingml/2006/main" noGrp="1"/>
          </p:cNvSpPr>
          <p:nvPr/>
        </p:nvSpPr>
        <p:spPr>
          <a:xfrm xmlns:a="http://schemas.openxmlformats.org/drawingml/2006/main">
            <a:off x="2247900" y="5983039"/>
            <a:ext cx="394617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Доказ не показује стварни исход.</a:t>
            </a:r>
          </a:p>
        </p:txBody>
      </p:sp>
      <p:sp>
        <p:nvSpPr>
          <p:cNvPr id="18" name="text-source-17">
            <a:extLst xmlns:a="http://schemas.openxmlformats.org/drawingml/2006/main">
              <a:ext uri="{FF2B5EF4-FFF2-40B4-BE49-F238E27FC236}">
                <a16:creationId xmlns:a16="http://schemas.microsoft.com/office/drawing/2014/main" id="{0D1206AE-0F22-4AB8-9F50-FBFE6950A57B}"/>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9" name="text-source-17">
            <a:extLst xmlns:a="http://schemas.openxmlformats.org/drawingml/2006/main">
              <a:ext uri="{FF2B5EF4-FFF2-40B4-BE49-F238E27FC236}">
                <a16:creationId xmlns:a16="http://schemas.microsoft.com/office/drawing/2014/main" id="{272A5049-1486-4D56-96B4-9D023558C967}"/>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26</a:t>
            </a:r>
          </a:p>
        </p:txBody>
      </p:sp>
    </p:spTree>
    <p:extLst>
      <p:ext uri="{BB962C8B-B14F-4D97-AF65-F5344CB8AC3E}">
        <p14:creationId xmlns:p14="http://schemas.microsoft.com/office/powerpoint/2010/main" val="1910853973"/>
      </p:ext>
    </p:extLst>
  </p:cSld>
</p:sld>
</file>

<file path=ppt/slides/slide27.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8B8F8E2-B7F3-453C-B339-B4E6E1D0EB00}"/>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FB9A12-C582-4506-BEDE-A9D964F39877}"/>
              </a:ext>
            </a:extLst>
          </p:cNvPr>
          <p:cNvSpPr>
            <a:spLocks xmlns:a="http://schemas.openxmlformats.org/drawingml/2006/main" noGrp="1"/>
          </p:cNvSpPr>
          <p:nvPr/>
        </p:nvSpPr>
        <p:spPr>
          <a:xfrm xmlns:a="http://schemas.openxmlformats.org/drawingml/2006/main">
            <a:off x="1219200" y="3112591"/>
            <a:ext cx="3476625" cy="2083891"/>
          </a:xfrm>
          <a:prstGeom xmlns:a="http://schemas.openxmlformats.org/drawingml/2006/main" prst="roundRect">
            <a:avLst>
              <a:gd name="adj" fmla="val 7313"/>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87AFE674-7E03-4B36-8F3C-40AAE6E79A69}"/>
              </a:ext>
            </a:extLst>
          </p:cNvPr>
          <p:cNvSpPr>
            <a:spLocks xmlns:a="http://schemas.openxmlformats.org/drawingml/2006/main" noGrp="1"/>
          </p:cNvSpPr>
          <p:nvPr/>
        </p:nvSpPr>
        <p:spPr>
          <a:xfrm xmlns:a="http://schemas.openxmlformats.org/drawingml/2006/main">
            <a:off x="5343525" y="3112591"/>
            <a:ext cx="3476625" cy="2083891"/>
          </a:xfrm>
          <a:prstGeom xmlns:a="http://schemas.openxmlformats.org/drawingml/2006/main" prst="roundRect">
            <a:avLst>
              <a:gd name="adj" fmla="val 7313"/>
            </a:avLst>
          </a:prstGeom>
          <a:solidFill xmlns:a="http://schemas.openxmlformats.org/drawingml/2006/main">
            <a:srgbClr val="FCFCFB"/>
          </a:solidFill>
          <a:ln xmlns:a="http://schemas.openxmlformats.org/drawingml/2006/main" w="9525">
            <a:solidFill>
              <a:srgbClr val="D3DAE1"/>
            </a:solidFill>
          </a:ln>
        </p:spPr>
      </p:sp>
      <p:sp>
        <p:nvSpPr>
          <p:cNvPr id="4" name="">
            <a:extLst xmlns:a="http://schemas.openxmlformats.org/drawingml/2006/main">
              <a:ext uri="{FF2B5EF4-FFF2-40B4-BE49-F238E27FC236}">
                <a16:creationId xmlns:a16="http://schemas.microsoft.com/office/drawing/2014/main" id="{80B11678-8D3C-4AAD-B77B-39AC4215D658}"/>
              </a:ext>
            </a:extLst>
          </p:cNvPr>
          <p:cNvSpPr>
            <a:spLocks xmlns:a="http://schemas.openxmlformats.org/drawingml/2006/main" noGrp="1"/>
          </p:cNvSpPr>
          <p:nvPr/>
        </p:nvSpPr>
        <p:spPr>
          <a:xfrm xmlns:a="http://schemas.openxmlformats.org/drawingml/2006/main">
            <a:off x="9467850" y="3112591"/>
            <a:ext cx="3476625" cy="2083891"/>
          </a:xfrm>
          <a:prstGeom xmlns:a="http://schemas.openxmlformats.org/drawingml/2006/main" prst="roundRect">
            <a:avLst>
              <a:gd name="adj" fmla="val 7313"/>
            </a:avLst>
          </a:prstGeom>
          <a:solidFill xmlns:a="http://schemas.openxmlformats.org/drawingml/2006/main">
            <a:srgbClr val="FCFCFB"/>
          </a:solidFill>
          <a:ln xmlns:a="http://schemas.openxmlformats.org/drawingml/2006/main" w="9525">
            <a:solidFill>
              <a:srgbClr val="D3DAE1"/>
            </a:solidFill>
          </a:ln>
        </p:spPr>
      </p:sp>
      <p:sp>
        <p:nvSpPr>
          <p:cNvPr id="5" name="">
            <a:extLst xmlns:a="http://schemas.openxmlformats.org/drawingml/2006/main">
              <a:ext uri="{FF2B5EF4-FFF2-40B4-BE49-F238E27FC236}">
                <a16:creationId xmlns:a16="http://schemas.microsoft.com/office/drawing/2014/main" id="{F8D76EA9-4DEF-4CEF-8942-CAA2084283E6}"/>
              </a:ext>
            </a:extLst>
          </p:cNvPr>
          <p:cNvSpPr>
            <a:spLocks xmlns:a="http://schemas.openxmlformats.org/drawingml/2006/main" noGrp="1"/>
          </p:cNvSpPr>
          <p:nvPr/>
        </p:nvSpPr>
        <p:spPr>
          <a:xfrm xmlns:a="http://schemas.openxmlformats.org/drawingml/2006/main">
            <a:off x="13592175" y="3112591"/>
            <a:ext cx="3476625" cy="2083891"/>
          </a:xfrm>
          <a:prstGeom xmlns:a="http://schemas.openxmlformats.org/drawingml/2006/main" prst="roundRect">
            <a:avLst>
              <a:gd name="adj" fmla="val 7313"/>
            </a:avLst>
          </a:prstGeom>
          <a:solidFill xmlns:a="http://schemas.openxmlformats.org/drawingml/2006/main">
            <a:srgbClr val="FCFCFB"/>
          </a:solidFill>
          <a:ln xmlns:a="http://schemas.openxmlformats.org/drawingml/2006/main" w="9525">
            <a:solidFill>
              <a:srgbClr val="D3DAE1"/>
            </a:solidFill>
          </a:ln>
        </p:spPr>
      </p:sp>
      <p:sp>
        <p:nvSpPr>
          <p:cNvPr id="6" name="">
            <a:extLst xmlns:a="http://schemas.openxmlformats.org/drawingml/2006/main">
              <a:ext uri="{FF2B5EF4-FFF2-40B4-BE49-F238E27FC236}">
                <a16:creationId xmlns:a16="http://schemas.microsoft.com/office/drawing/2014/main" id="{DEC5B4B4-DC10-4063-B1F0-ED2B4EA437AF}"/>
              </a:ext>
            </a:extLst>
          </p:cNvPr>
          <p:cNvSpPr>
            <a:spLocks xmlns:a="http://schemas.openxmlformats.org/drawingml/2006/main" noGrp="1"/>
          </p:cNvSpPr>
          <p:nvPr/>
        </p:nvSpPr>
        <p:spPr>
          <a:xfrm xmlns:a="http://schemas.openxmlformats.org/drawingml/2006/main">
            <a:off x="1219200" y="5501283"/>
            <a:ext cx="15849600" cy="1523702"/>
          </a:xfrm>
          <a:prstGeom xmlns:a="http://schemas.openxmlformats.org/drawingml/2006/main" prst="roundRect">
            <a:avLst>
              <a:gd name="adj" fmla="val 7501"/>
            </a:avLst>
          </a:prstGeom>
          <a:solidFill xmlns:a="http://schemas.openxmlformats.org/drawingml/2006/main">
            <a:srgbClr val="E6E8EE"/>
          </a:solidFill>
          <a:ln xmlns:a="http://schemas.openxmlformats.org/drawingml/2006/main" w="0">
            <a:noFill/>
          </a:ln>
        </p:spPr>
      </p:sp>
      <p:sp>
        <p:nvSpPr>
          <p:cNvPr id="7" name="rounded-banner-accent">
            <a:extLst xmlns:a="http://schemas.openxmlformats.org/drawingml/2006/main">
              <a:ext uri="{FF2B5EF4-FFF2-40B4-BE49-F238E27FC236}">
                <a16:creationId xmlns:a16="http://schemas.microsoft.com/office/drawing/2014/main" id="{EC3BC371-E58A-43E7-8740-58F713F6F9D3}"/>
              </a:ext>
            </a:extLst>
          </p:cNvPr>
          <p:cNvSpPr>
            <a:spLocks xmlns:a="http://schemas.openxmlformats.org/drawingml/2006/main" noGrp="1"/>
          </p:cNvSpPr>
          <p:nvPr/>
        </p:nvSpPr>
        <p:spPr>
          <a:xfrm xmlns:a="http://schemas.openxmlformats.org/drawingml/2006/main">
            <a:off x="1219200" y="5501283"/>
            <a:ext cx="114300" cy="1523702"/>
          </a:xfrm>
          <a:custGeom xmlns:a="http://schemas.openxmlformats.org/drawingml/2006/main">
            <a:pathLst>
              <a:path w="114300" h="1523702">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409402"/>
                </a:lnTo>
                <a:lnTo>
                  <a:pt x="61" y="1413142"/>
                </a:lnTo>
                <a:lnTo>
                  <a:pt x="245" y="1416878"/>
                </a:lnTo>
                <a:lnTo>
                  <a:pt x="550" y="1420606"/>
                </a:lnTo>
                <a:lnTo>
                  <a:pt x="978" y="1424321"/>
                </a:lnTo>
                <a:lnTo>
                  <a:pt x="1527" y="1428021"/>
                </a:lnTo>
                <a:lnTo>
                  <a:pt x="2196" y="1431701"/>
                </a:lnTo>
                <a:lnTo>
                  <a:pt x="2986" y="1435357"/>
                </a:lnTo>
                <a:lnTo>
                  <a:pt x="3895" y="1438985"/>
                </a:lnTo>
                <a:lnTo>
                  <a:pt x="4922" y="1442582"/>
                </a:lnTo>
                <a:lnTo>
                  <a:pt x="6066" y="1446143"/>
                </a:lnTo>
                <a:lnTo>
                  <a:pt x="7326" y="1449665"/>
                </a:lnTo>
                <a:lnTo>
                  <a:pt x="8701" y="1453143"/>
                </a:lnTo>
                <a:lnTo>
                  <a:pt x="10188" y="1456575"/>
                </a:lnTo>
                <a:lnTo>
                  <a:pt x="11787" y="1459956"/>
                </a:lnTo>
                <a:lnTo>
                  <a:pt x="13496" y="1463283"/>
                </a:lnTo>
                <a:lnTo>
                  <a:pt x="15313" y="1466552"/>
                </a:lnTo>
                <a:lnTo>
                  <a:pt x="17236" y="1469760"/>
                </a:lnTo>
                <a:lnTo>
                  <a:pt x="19263" y="1472904"/>
                </a:lnTo>
                <a:lnTo>
                  <a:pt x="21392" y="1475980"/>
                </a:lnTo>
                <a:lnTo>
                  <a:pt x="23620" y="1478984"/>
                </a:lnTo>
                <a:lnTo>
                  <a:pt x="25945" y="1481913"/>
                </a:lnTo>
                <a:lnTo>
                  <a:pt x="28365" y="1484766"/>
                </a:lnTo>
                <a:lnTo>
                  <a:pt x="30877" y="1487537"/>
                </a:lnTo>
                <a:lnTo>
                  <a:pt x="33478" y="1490225"/>
                </a:lnTo>
                <a:lnTo>
                  <a:pt x="36165" y="1492826"/>
                </a:lnTo>
                <a:lnTo>
                  <a:pt x="38937" y="1495338"/>
                </a:lnTo>
                <a:lnTo>
                  <a:pt x="41789" y="1497757"/>
                </a:lnTo>
                <a:lnTo>
                  <a:pt x="44719" y="1500083"/>
                </a:lnTo>
                <a:lnTo>
                  <a:pt x="47723" y="1502311"/>
                </a:lnTo>
                <a:lnTo>
                  <a:pt x="50798" y="1504439"/>
                </a:lnTo>
                <a:lnTo>
                  <a:pt x="53942" y="1506466"/>
                </a:lnTo>
                <a:lnTo>
                  <a:pt x="57150" y="1508389"/>
                </a:lnTo>
                <a:lnTo>
                  <a:pt x="60419" y="1510206"/>
                </a:lnTo>
                <a:lnTo>
                  <a:pt x="63746" y="1511915"/>
                </a:lnTo>
                <a:lnTo>
                  <a:pt x="67128" y="1513514"/>
                </a:lnTo>
                <a:lnTo>
                  <a:pt x="70559" y="1515002"/>
                </a:lnTo>
                <a:lnTo>
                  <a:pt x="74038" y="1516376"/>
                </a:lnTo>
                <a:lnTo>
                  <a:pt x="77559" y="1517636"/>
                </a:lnTo>
                <a:lnTo>
                  <a:pt x="81120" y="1518781"/>
                </a:lnTo>
                <a:lnTo>
                  <a:pt x="84717" y="1519808"/>
                </a:lnTo>
                <a:lnTo>
                  <a:pt x="88345" y="1520716"/>
                </a:lnTo>
                <a:lnTo>
                  <a:pt x="92001" y="1521506"/>
                </a:lnTo>
                <a:lnTo>
                  <a:pt x="95681" y="1522176"/>
                </a:lnTo>
                <a:lnTo>
                  <a:pt x="99381" y="1522724"/>
                </a:lnTo>
                <a:lnTo>
                  <a:pt x="103097" y="1523152"/>
                </a:lnTo>
                <a:lnTo>
                  <a:pt x="106824" y="1523458"/>
                </a:lnTo>
                <a:lnTo>
                  <a:pt x="110560" y="1523641"/>
                </a:lnTo>
                <a:lnTo>
                  <a:pt x="114300" y="1523702"/>
                </a:lnTo>
                <a:lnTo>
                  <a:pt x="114300" y="1523702"/>
                </a:lnTo>
                <a:lnTo>
                  <a:pt x="112430" y="1523641"/>
                </a:lnTo>
                <a:lnTo>
                  <a:pt x="110562" y="1523458"/>
                </a:lnTo>
                <a:lnTo>
                  <a:pt x="108698" y="1523152"/>
                </a:lnTo>
                <a:lnTo>
                  <a:pt x="106840" y="1522724"/>
                </a:lnTo>
                <a:lnTo>
                  <a:pt x="104991" y="1522176"/>
                </a:lnTo>
                <a:lnTo>
                  <a:pt x="103151" y="1521506"/>
                </a:lnTo>
                <a:lnTo>
                  <a:pt x="101323" y="1520716"/>
                </a:lnTo>
                <a:lnTo>
                  <a:pt x="99508" y="1519808"/>
                </a:lnTo>
                <a:lnTo>
                  <a:pt x="97710" y="1518781"/>
                </a:lnTo>
                <a:lnTo>
                  <a:pt x="95930" y="1517636"/>
                </a:lnTo>
                <a:lnTo>
                  <a:pt x="94169" y="1516376"/>
                </a:lnTo>
                <a:lnTo>
                  <a:pt x="92430" y="1515002"/>
                </a:lnTo>
                <a:lnTo>
                  <a:pt x="90714" y="1513514"/>
                </a:lnTo>
                <a:lnTo>
                  <a:pt x="89023" y="1511915"/>
                </a:lnTo>
                <a:lnTo>
                  <a:pt x="87360" y="1510206"/>
                </a:lnTo>
                <a:lnTo>
                  <a:pt x="85725" y="1508389"/>
                </a:lnTo>
                <a:lnTo>
                  <a:pt x="84121" y="1506466"/>
                </a:lnTo>
                <a:lnTo>
                  <a:pt x="82549" y="1504439"/>
                </a:lnTo>
                <a:lnTo>
                  <a:pt x="81011" y="1502311"/>
                </a:lnTo>
                <a:lnTo>
                  <a:pt x="79509" y="1500083"/>
                </a:lnTo>
                <a:lnTo>
                  <a:pt x="78044" y="1497757"/>
                </a:lnTo>
                <a:lnTo>
                  <a:pt x="76618" y="1495338"/>
                </a:lnTo>
                <a:lnTo>
                  <a:pt x="75233" y="1492826"/>
                </a:lnTo>
                <a:lnTo>
                  <a:pt x="73889" y="1490225"/>
                </a:lnTo>
                <a:lnTo>
                  <a:pt x="72588" y="1487537"/>
                </a:lnTo>
                <a:lnTo>
                  <a:pt x="71332" y="1484766"/>
                </a:lnTo>
                <a:lnTo>
                  <a:pt x="70122" y="1481913"/>
                </a:lnTo>
                <a:lnTo>
                  <a:pt x="68960" y="1478984"/>
                </a:lnTo>
                <a:lnTo>
                  <a:pt x="67846" y="1475980"/>
                </a:lnTo>
                <a:lnTo>
                  <a:pt x="66782" y="1472904"/>
                </a:lnTo>
                <a:lnTo>
                  <a:pt x="65768" y="1469760"/>
                </a:lnTo>
                <a:lnTo>
                  <a:pt x="64807" y="1466552"/>
                </a:lnTo>
                <a:lnTo>
                  <a:pt x="63898" y="1463283"/>
                </a:lnTo>
                <a:lnTo>
                  <a:pt x="63044" y="1459956"/>
                </a:lnTo>
                <a:lnTo>
                  <a:pt x="62244" y="1456575"/>
                </a:lnTo>
                <a:lnTo>
                  <a:pt x="61500" y="1453143"/>
                </a:lnTo>
                <a:lnTo>
                  <a:pt x="60813" y="1449665"/>
                </a:lnTo>
                <a:lnTo>
                  <a:pt x="60183" y="1446143"/>
                </a:lnTo>
                <a:lnTo>
                  <a:pt x="59611" y="1442582"/>
                </a:lnTo>
                <a:lnTo>
                  <a:pt x="59097" y="1438985"/>
                </a:lnTo>
                <a:lnTo>
                  <a:pt x="58643" y="1435357"/>
                </a:lnTo>
                <a:lnTo>
                  <a:pt x="58248" y="1431701"/>
                </a:lnTo>
                <a:lnTo>
                  <a:pt x="57913" y="1428021"/>
                </a:lnTo>
                <a:lnTo>
                  <a:pt x="57639" y="1424321"/>
                </a:lnTo>
                <a:lnTo>
                  <a:pt x="57425" y="1420606"/>
                </a:lnTo>
                <a:lnTo>
                  <a:pt x="57272" y="1416878"/>
                </a:lnTo>
                <a:lnTo>
                  <a:pt x="57181" y="1413142"/>
                </a:lnTo>
                <a:lnTo>
                  <a:pt x="57150" y="1409402"/>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4BC70B-7E2B-4949-A7E6-B0F00C02367A}"/>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324760D7-B093-4A1C-9AFD-B4761C34AD46}"/>
              </a:ext>
            </a:extLst>
          </p:cNvPr>
          <p:cNvPicPr>
            <a:picLocks xmlns:a="http://schemas.openxmlformats.org/drawingml/2006/main" noChangeAspect="1"/>
          </p:cNvPicPr>
          <p:nvPr/>
        </p:nvPicPr>
        <p:blipFill>
          <a:blip xmlns:r="http://schemas.openxmlformats.org/officeDocument/2006/relationships" xmlns:a="http://schemas.openxmlformats.org/drawingml/2006/main" r:embed="R85d077d7cf144ad1"/>
          <a:stretch xmlns:a="http://schemas.openxmlformats.org/drawingml/2006/main"/>
        </p:blipFill>
        <p:spPr>
          <a:xfrm xmlns:a="http://schemas.openxmlformats.org/drawingml/2006/main">
            <a:off x="4886325" y="4059287"/>
            <a:ext cx="266700" cy="1905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586737F-F693-4D02-A0CC-BE36DE5892FE}"/>
              </a:ext>
            </a:extLst>
          </p:cNvPr>
          <p:cNvPicPr>
            <a:picLocks xmlns:a="http://schemas.openxmlformats.org/drawingml/2006/main" noChangeAspect="1"/>
          </p:cNvPicPr>
          <p:nvPr/>
        </p:nvPicPr>
        <p:blipFill>
          <a:blip xmlns:r="http://schemas.openxmlformats.org/officeDocument/2006/relationships" xmlns:a="http://schemas.openxmlformats.org/drawingml/2006/main" r:embed="R33cb83d306b44c43"/>
          <a:stretch xmlns:a="http://schemas.openxmlformats.org/drawingml/2006/main"/>
        </p:blipFill>
        <p:spPr>
          <a:xfrm xmlns:a="http://schemas.openxmlformats.org/drawingml/2006/main">
            <a:off x="9010650" y="4059287"/>
            <a:ext cx="266700" cy="190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CC95605E-AE44-4605-9C74-8AE182C2758B}"/>
              </a:ext>
            </a:extLst>
          </p:cNvPr>
          <p:cNvPicPr>
            <a:picLocks xmlns:a="http://schemas.openxmlformats.org/drawingml/2006/main" noChangeAspect="1"/>
          </p:cNvPicPr>
          <p:nvPr/>
        </p:nvPicPr>
        <p:blipFill>
          <a:blip xmlns:r="http://schemas.openxmlformats.org/officeDocument/2006/relationships" xmlns:a="http://schemas.openxmlformats.org/drawingml/2006/main" r:embed="Rdad8ebf9b7584c93"/>
          <a:stretch xmlns:a="http://schemas.openxmlformats.org/drawingml/2006/main"/>
        </p:blipFill>
        <p:spPr>
          <a:xfrm xmlns:a="http://schemas.openxmlformats.org/drawingml/2006/main">
            <a:off x="13134975" y="4059287"/>
            <a:ext cx="266700" cy="190500"/>
          </a:xfrm>
          <a:prstGeom xmlns:a="http://schemas.openxmlformats.org/drawingml/2006/main" prst="rect">
            <a:avLst/>
          </a:prstGeom>
        </p:spPr>
      </p:pic>
      <p:sp>
        <p:nvSpPr>
          <p:cNvPr id="12" name="text-source-19">
            <a:extLst xmlns:a="http://schemas.openxmlformats.org/drawingml/2006/main">
              <a:ext uri="{FF2B5EF4-FFF2-40B4-BE49-F238E27FC236}">
                <a16:creationId xmlns:a16="http://schemas.microsoft.com/office/drawing/2014/main" id="{38E30A6F-F6D3-440F-A418-022834EAE5EE}"/>
              </a:ext>
            </a:extLst>
          </p:cNvPr>
          <p:cNvSpPr>
            <a:spLocks xmlns:a="http://schemas.openxmlformats.org/drawingml/2006/main" noGrp="1"/>
          </p:cNvSpPr>
          <p:nvPr/>
        </p:nvSpPr>
        <p:spPr>
          <a:xfrm xmlns:a="http://schemas.openxmlformats.org/drawingml/2006/main">
            <a:off x="1219200" y="1066800"/>
            <a:ext cx="40920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04 · ПРИМЕНА НА ПРОЈЕКАТ</a:t>
            </a:r>
          </a:p>
        </p:txBody>
      </p:sp>
      <p:sp>
        <p:nvSpPr>
          <p:cNvPr id="13" name="heading-source-19">
            <a:extLst xmlns:a="http://schemas.openxmlformats.org/drawingml/2006/main">
              <a:ext uri="{FF2B5EF4-FFF2-40B4-BE49-F238E27FC236}">
                <a16:creationId xmlns:a16="http://schemas.microsoft.com/office/drawing/2014/main" id="{03D087F7-78D9-4DBA-B22C-62EFE6E68680}"/>
              </a:ext>
            </a:extLst>
          </p:cNvPr>
          <p:cNvSpPr>
            <a:spLocks xmlns:a="http://schemas.openxmlformats.org/drawingml/2006/main" noGrp="1"/>
          </p:cNvSpPr>
          <p:nvPr/>
        </p:nvSpPr>
        <p:spPr>
          <a:xfrm xmlns:a="http://schemas.openxmlformats.org/drawingml/2006/main">
            <a:off x="1219200" y="1443930"/>
            <a:ext cx="5971877"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Примена на пројекат</a:t>
            </a:r>
          </a:p>
        </p:txBody>
      </p:sp>
      <p:sp>
        <p:nvSpPr>
          <p:cNvPr id="14" name="text-source-19">
            <a:extLst xmlns:a="http://schemas.openxmlformats.org/drawingml/2006/main">
              <a:ext uri="{FF2B5EF4-FFF2-40B4-BE49-F238E27FC236}">
                <a16:creationId xmlns:a16="http://schemas.microsoft.com/office/drawing/2014/main" id="{CA647146-3B1D-4D87-9EEC-13EE4D877D8E}"/>
              </a:ext>
            </a:extLst>
          </p:cNvPr>
          <p:cNvSpPr>
            <a:spLocks xmlns:a="http://schemas.openxmlformats.org/drawingml/2006/main" noGrp="1"/>
          </p:cNvSpPr>
          <p:nvPr/>
        </p:nvSpPr>
        <p:spPr>
          <a:xfrm xmlns:a="http://schemas.openxmlformats.org/drawingml/2006/main">
            <a:off x="1219200" y="2444055"/>
            <a:ext cx="1089421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Анализа једног сценарија обухвата одлуку, имплементацију, тест одбијања и доказ.</a:t>
            </a:r>
          </a:p>
        </p:txBody>
      </p:sp>
      <p:sp>
        <p:nvSpPr>
          <p:cNvPr id="15" name="text-source-19">
            <a:extLst xmlns:a="http://schemas.openxmlformats.org/drawingml/2006/main">
              <a:ext uri="{FF2B5EF4-FFF2-40B4-BE49-F238E27FC236}">
                <a16:creationId xmlns:a16="http://schemas.microsoft.com/office/drawing/2014/main" id="{481195D9-6793-42D4-931D-A9B871573F7F}"/>
              </a:ext>
            </a:extLst>
          </p:cNvPr>
          <p:cNvSpPr>
            <a:spLocks xmlns:a="http://schemas.openxmlformats.org/drawingml/2006/main" noGrp="1"/>
          </p:cNvSpPr>
          <p:nvPr/>
        </p:nvSpPr>
        <p:spPr>
          <a:xfrm xmlns:a="http://schemas.openxmlformats.org/drawingml/2006/main">
            <a:off x="1495425"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6" name="text-source-19">
            <a:extLst xmlns:a="http://schemas.openxmlformats.org/drawingml/2006/main">
              <a:ext uri="{FF2B5EF4-FFF2-40B4-BE49-F238E27FC236}">
                <a16:creationId xmlns:a16="http://schemas.microsoft.com/office/drawing/2014/main" id="{F54EFAD5-2BC3-4384-9F0C-8AC84B349B1F}"/>
              </a:ext>
            </a:extLst>
          </p:cNvPr>
          <p:cNvSpPr>
            <a:spLocks xmlns:a="http://schemas.openxmlformats.org/drawingml/2006/main" noGrp="1"/>
          </p:cNvSpPr>
          <p:nvPr/>
        </p:nvSpPr>
        <p:spPr>
          <a:xfrm xmlns:a="http://schemas.openxmlformats.org/drawingml/2006/main">
            <a:off x="1495425" y="4108847"/>
            <a:ext cx="2502991"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Избор сценарија</a:t>
            </a:r>
          </a:p>
        </p:txBody>
      </p:sp>
      <p:sp>
        <p:nvSpPr>
          <p:cNvPr id="17" name="text-source-19">
            <a:extLst xmlns:a="http://schemas.openxmlformats.org/drawingml/2006/main">
              <a:ext uri="{FF2B5EF4-FFF2-40B4-BE49-F238E27FC236}">
                <a16:creationId xmlns:a16="http://schemas.microsoft.com/office/drawing/2014/main" id="{50E34A13-F183-4641-BA12-A4047442BCB3}"/>
              </a:ext>
            </a:extLst>
          </p:cNvPr>
          <p:cNvSpPr>
            <a:spLocks xmlns:a="http://schemas.openxmlformats.org/drawingml/2006/main" noGrp="1"/>
          </p:cNvSpPr>
          <p:nvPr/>
        </p:nvSpPr>
        <p:spPr>
          <a:xfrm xmlns:a="http://schemas.openxmlformats.org/drawingml/2006/main">
            <a:off x="1495425" y="4600277"/>
            <a:ext cx="259645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једна стварна радња</a:t>
            </a:r>
          </a:p>
        </p:txBody>
      </p:sp>
      <p:sp>
        <p:nvSpPr>
          <p:cNvPr id="18" name="text-source-19">
            <a:extLst xmlns:a="http://schemas.openxmlformats.org/drawingml/2006/main">
              <a:ext uri="{FF2B5EF4-FFF2-40B4-BE49-F238E27FC236}">
                <a16:creationId xmlns:a16="http://schemas.microsoft.com/office/drawing/2014/main" id="{52784FAF-DEB0-4209-8889-428515DE8131}"/>
              </a:ext>
            </a:extLst>
          </p:cNvPr>
          <p:cNvSpPr>
            <a:spLocks xmlns:a="http://schemas.openxmlformats.org/drawingml/2006/main" noGrp="1"/>
          </p:cNvSpPr>
          <p:nvPr/>
        </p:nvSpPr>
        <p:spPr>
          <a:xfrm xmlns:a="http://schemas.openxmlformats.org/drawingml/2006/main">
            <a:off x="5619750"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9" name="text-source-19">
            <a:extLst xmlns:a="http://schemas.openxmlformats.org/drawingml/2006/main">
              <a:ext uri="{FF2B5EF4-FFF2-40B4-BE49-F238E27FC236}">
                <a16:creationId xmlns:a16="http://schemas.microsoft.com/office/drawing/2014/main" id="{F400465F-D4FC-402A-9F2D-15FB145146BA}"/>
              </a:ext>
            </a:extLst>
          </p:cNvPr>
          <p:cNvSpPr>
            <a:spLocks xmlns:a="http://schemas.openxmlformats.org/drawingml/2006/main" noGrp="1"/>
          </p:cNvSpPr>
          <p:nvPr/>
        </p:nvSpPr>
        <p:spPr>
          <a:xfrm xmlns:a="http://schemas.openxmlformats.org/drawingml/2006/main">
            <a:off x="5619750" y="4108847"/>
            <a:ext cx="320888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Дефинисање правила</a:t>
            </a:r>
          </a:p>
        </p:txBody>
      </p:sp>
      <p:sp>
        <p:nvSpPr>
          <p:cNvPr id="20" name="text-source-19">
            <a:extLst xmlns:a="http://schemas.openxmlformats.org/drawingml/2006/main">
              <a:ext uri="{FF2B5EF4-FFF2-40B4-BE49-F238E27FC236}">
                <a16:creationId xmlns:a16="http://schemas.microsoft.com/office/drawing/2014/main" id="{00A4F6C6-97C8-4766-AA4D-A093B65D3D88}"/>
              </a:ext>
            </a:extLst>
          </p:cNvPr>
          <p:cNvSpPr>
            <a:spLocks xmlns:a="http://schemas.openxmlformats.org/drawingml/2006/main" noGrp="1"/>
          </p:cNvSpPr>
          <p:nvPr/>
        </p:nvSpPr>
        <p:spPr>
          <a:xfrm xmlns:a="http://schemas.openxmlformats.org/drawingml/2006/main">
            <a:off x="5619750" y="4600277"/>
            <a:ext cx="207808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улази и граница</a:t>
            </a:r>
          </a:p>
        </p:txBody>
      </p:sp>
      <p:sp>
        <p:nvSpPr>
          <p:cNvPr id="21" name="text-source-19">
            <a:extLst xmlns:a="http://schemas.openxmlformats.org/drawingml/2006/main">
              <a:ext uri="{FF2B5EF4-FFF2-40B4-BE49-F238E27FC236}">
                <a16:creationId xmlns:a16="http://schemas.microsoft.com/office/drawing/2014/main" id="{2853308E-B35D-4048-9A04-55C5A563C499}"/>
              </a:ext>
            </a:extLst>
          </p:cNvPr>
          <p:cNvSpPr>
            <a:spLocks xmlns:a="http://schemas.openxmlformats.org/drawingml/2006/main" noGrp="1"/>
          </p:cNvSpPr>
          <p:nvPr/>
        </p:nvSpPr>
        <p:spPr>
          <a:xfrm xmlns:a="http://schemas.openxmlformats.org/drawingml/2006/main">
            <a:off x="9744075"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2" name="text-source-19">
            <a:extLst xmlns:a="http://schemas.openxmlformats.org/drawingml/2006/main">
              <a:ext uri="{FF2B5EF4-FFF2-40B4-BE49-F238E27FC236}">
                <a16:creationId xmlns:a16="http://schemas.microsoft.com/office/drawing/2014/main" id="{46B958BF-FF57-492B-A11A-BBD24CD7AAA4}"/>
              </a:ext>
            </a:extLst>
          </p:cNvPr>
          <p:cNvSpPr>
            <a:spLocks xmlns:a="http://schemas.openxmlformats.org/drawingml/2006/main" noGrp="1"/>
          </p:cNvSpPr>
          <p:nvPr/>
        </p:nvSpPr>
        <p:spPr>
          <a:xfrm xmlns:a="http://schemas.openxmlformats.org/drawingml/2006/main">
            <a:off x="9744075" y="4108847"/>
            <a:ext cx="218985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Тест одбијања</a:t>
            </a:r>
          </a:p>
        </p:txBody>
      </p:sp>
      <p:sp>
        <p:nvSpPr>
          <p:cNvPr id="23" name="text-source-19">
            <a:extLst xmlns:a="http://schemas.openxmlformats.org/drawingml/2006/main">
              <a:ext uri="{FF2B5EF4-FFF2-40B4-BE49-F238E27FC236}">
                <a16:creationId xmlns:a16="http://schemas.microsoft.com/office/drawing/2014/main" id="{8EC0BC87-D4D4-4F03-9F59-652DA4C18E60}"/>
              </a:ext>
            </a:extLst>
          </p:cNvPr>
          <p:cNvSpPr>
            <a:spLocks xmlns:a="http://schemas.openxmlformats.org/drawingml/2006/main" noGrp="1"/>
          </p:cNvSpPr>
          <p:nvPr/>
        </p:nvSpPr>
        <p:spPr>
          <a:xfrm xmlns:a="http://schemas.openxmlformats.org/drawingml/2006/main">
            <a:off x="9744075" y="4600277"/>
            <a:ext cx="31776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једна чињеница недостаје</a:t>
            </a:r>
          </a:p>
        </p:txBody>
      </p:sp>
      <p:sp>
        <p:nvSpPr>
          <p:cNvPr id="24" name="text-source-19">
            <a:extLst xmlns:a="http://schemas.openxmlformats.org/drawingml/2006/main">
              <a:ext uri="{FF2B5EF4-FFF2-40B4-BE49-F238E27FC236}">
                <a16:creationId xmlns:a16="http://schemas.microsoft.com/office/drawing/2014/main" id="{F7BF61CC-4365-4362-9DB9-8491FDC9ACBA}"/>
              </a:ext>
            </a:extLst>
          </p:cNvPr>
          <p:cNvSpPr>
            <a:spLocks xmlns:a="http://schemas.openxmlformats.org/drawingml/2006/main" noGrp="1"/>
          </p:cNvSpPr>
          <p:nvPr/>
        </p:nvSpPr>
        <p:spPr>
          <a:xfrm xmlns:a="http://schemas.openxmlformats.org/drawingml/2006/main">
            <a:off x="13868400"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04</a:t>
            </a:r>
          </a:p>
        </p:txBody>
      </p:sp>
      <p:sp>
        <p:nvSpPr>
          <p:cNvPr id="25" name="text-source-19">
            <a:extLst xmlns:a="http://schemas.openxmlformats.org/drawingml/2006/main">
              <a:ext uri="{FF2B5EF4-FFF2-40B4-BE49-F238E27FC236}">
                <a16:creationId xmlns:a16="http://schemas.microsoft.com/office/drawing/2014/main" id="{B586737F-6814-4873-AAF4-188A7EE63333}"/>
              </a:ext>
            </a:extLst>
          </p:cNvPr>
          <p:cNvSpPr>
            <a:spLocks xmlns:a="http://schemas.openxmlformats.org/drawingml/2006/main" noGrp="1"/>
          </p:cNvSpPr>
          <p:nvPr/>
        </p:nvSpPr>
        <p:spPr>
          <a:xfrm xmlns:a="http://schemas.openxmlformats.org/drawingml/2006/main">
            <a:off x="13868400" y="4108847"/>
            <a:ext cx="255091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Ревизиони запис</a:t>
            </a:r>
          </a:p>
        </p:txBody>
      </p:sp>
      <p:sp>
        <p:nvSpPr>
          <p:cNvPr id="26" name="text-source-19">
            <a:extLst xmlns:a="http://schemas.openxmlformats.org/drawingml/2006/main">
              <a:ext uri="{FF2B5EF4-FFF2-40B4-BE49-F238E27FC236}">
                <a16:creationId xmlns:a16="http://schemas.microsoft.com/office/drawing/2014/main" id="{0D4613A1-58B2-46C8-B8AF-36B7DC242EDA}"/>
              </a:ext>
            </a:extLst>
          </p:cNvPr>
          <p:cNvSpPr>
            <a:spLocks xmlns:a="http://schemas.openxmlformats.org/drawingml/2006/main" noGrp="1"/>
          </p:cNvSpPr>
          <p:nvPr/>
        </p:nvSpPr>
        <p:spPr>
          <a:xfrm xmlns:a="http://schemas.openxmlformats.org/drawingml/2006/main">
            <a:off x="13868400" y="4600277"/>
            <a:ext cx="193476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исход и разлог</a:t>
            </a:r>
          </a:p>
        </p:txBody>
      </p:sp>
      <p:sp>
        <p:nvSpPr>
          <p:cNvPr id="27" name="text-source-19">
            <a:extLst xmlns:a="http://schemas.openxmlformats.org/drawingml/2006/main">
              <a:ext uri="{FF2B5EF4-FFF2-40B4-BE49-F238E27FC236}">
                <a16:creationId xmlns:a16="http://schemas.microsoft.com/office/drawing/2014/main" id="{16BF1058-B96C-4070-9BDD-E88D12C1E0F8}"/>
              </a:ext>
            </a:extLst>
          </p:cNvPr>
          <p:cNvSpPr>
            <a:spLocks xmlns:a="http://schemas.openxmlformats.org/drawingml/2006/main" noGrp="1"/>
          </p:cNvSpPr>
          <p:nvPr/>
        </p:nvSpPr>
        <p:spPr>
          <a:xfrm xmlns:a="http://schemas.openxmlformats.org/drawingml/2006/main">
            <a:off x="1504950" y="5691783"/>
            <a:ext cx="294902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ПРИМЕНА НА ПРОЈЕКАТ</a:t>
            </a:r>
          </a:p>
        </p:txBody>
      </p:sp>
      <p:sp>
        <p:nvSpPr>
          <p:cNvPr id="28" name="text-source-19">
            <a:extLst xmlns:a="http://schemas.openxmlformats.org/drawingml/2006/main">
              <a:ext uri="{FF2B5EF4-FFF2-40B4-BE49-F238E27FC236}">
                <a16:creationId xmlns:a16="http://schemas.microsoft.com/office/drawing/2014/main" id="{6C997917-5C15-4049-8F51-35DF86B4DD65}"/>
              </a:ext>
            </a:extLst>
          </p:cNvPr>
          <p:cNvSpPr>
            <a:spLocks xmlns:a="http://schemas.openxmlformats.org/drawingml/2006/main" noGrp="1"/>
          </p:cNvSpPr>
          <p:nvPr/>
        </p:nvSpPr>
        <p:spPr>
          <a:xfrm xmlns:a="http://schemas.openxmlformats.org/drawingml/2006/main">
            <a:off x="1504950" y="6097488"/>
            <a:ext cx="1499443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Пројектна примена теме „MFA, сесије, сервиси и тајне“ обухвата једну серверску одлуку, тест одбијања и доказ који </a:t>
            </a:r>
          </a:p>
        </p:txBody>
      </p:sp>
      <p:sp>
        <p:nvSpPr>
          <p:cNvPr id="29" name="text-source-19">
            <a:extLst xmlns:a="http://schemas.openxmlformats.org/drawingml/2006/main">
              <a:ext uri="{FF2B5EF4-FFF2-40B4-BE49-F238E27FC236}">
                <a16:creationId xmlns:a16="http://schemas.microsoft.com/office/drawing/2014/main" id="{976F3181-980E-4618-8091-F831DF20E7F5}"/>
              </a:ext>
            </a:extLst>
          </p:cNvPr>
          <p:cNvSpPr>
            <a:spLocks xmlns:a="http://schemas.openxmlformats.org/drawingml/2006/main" noGrp="1"/>
          </p:cNvSpPr>
          <p:nvPr/>
        </p:nvSpPr>
        <p:spPr>
          <a:xfrm xmlns:a="http://schemas.openxmlformats.org/drawingml/2006/main">
            <a:off x="1504950" y="6470749"/>
            <a:ext cx="454669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други члан тима може да понови.</a:t>
            </a:r>
          </a:p>
        </p:txBody>
      </p:sp>
      <p:sp>
        <p:nvSpPr>
          <p:cNvPr id="30" name="text-source-19">
            <a:extLst xmlns:a="http://schemas.openxmlformats.org/drawingml/2006/main">
              <a:ext uri="{FF2B5EF4-FFF2-40B4-BE49-F238E27FC236}">
                <a16:creationId xmlns:a16="http://schemas.microsoft.com/office/drawing/2014/main" id="{4758D5F3-9E71-46C3-88A4-876122EAAAFD}"/>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31" name="text-source-19">
            <a:extLst xmlns:a="http://schemas.openxmlformats.org/drawingml/2006/main">
              <a:ext uri="{FF2B5EF4-FFF2-40B4-BE49-F238E27FC236}">
                <a16:creationId xmlns:a16="http://schemas.microsoft.com/office/drawing/2014/main" id="{0538E529-65E5-4A7D-A51B-F4A221AA20C5}"/>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27</a:t>
            </a:r>
          </a:p>
        </p:txBody>
      </p:sp>
    </p:spTree>
    <p:extLst>
      <p:ext uri="{BB962C8B-B14F-4D97-AF65-F5344CB8AC3E}">
        <p14:creationId xmlns:p14="http://schemas.microsoft.com/office/powerpoint/2010/main" val="289498289"/>
      </p:ext>
    </p:extLst>
  </p:cSld>
</p:sld>
</file>

<file path=ppt/slides/slide28.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5F5210-1509-46D1-B53E-E8AE2383A1CE}"/>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8B4EC1-EAB8-415A-9D4A-A627AAECD32E}"/>
              </a:ext>
            </a:extLst>
          </p:cNvPr>
          <p:cNvSpPr>
            <a:spLocks xmlns:a="http://schemas.openxmlformats.org/drawingml/2006/main" noGrp="1"/>
          </p:cNvSpPr>
          <p:nvPr/>
        </p:nvSpPr>
        <p:spPr>
          <a:xfrm xmlns:a="http://schemas.openxmlformats.org/drawingml/2006/main">
            <a:off x="1219200" y="6931670"/>
            <a:ext cx="15849600" cy="1150441"/>
          </a:xfrm>
          <a:prstGeom xmlns:a="http://schemas.openxmlformats.org/drawingml/2006/main" prst="roundRect">
            <a:avLst>
              <a:gd name="adj" fmla="val 9935"/>
            </a:avLst>
          </a:prstGeom>
          <a:solidFill xmlns:a="http://schemas.openxmlformats.org/drawingml/2006/main">
            <a:srgbClr val="E6E8EE"/>
          </a:solidFill>
          <a:ln xmlns:a="http://schemas.openxmlformats.org/drawingml/2006/main" w="0">
            <a:noFill/>
          </a:ln>
        </p:spPr>
      </p:sp>
      <p:sp>
        <p:nvSpPr>
          <p:cNvPr id="3" name="rounded-banner-accent">
            <a:extLst xmlns:a="http://schemas.openxmlformats.org/drawingml/2006/main">
              <a:ext uri="{FF2B5EF4-FFF2-40B4-BE49-F238E27FC236}">
                <a16:creationId xmlns:a16="http://schemas.microsoft.com/office/drawing/2014/main" id="{4F7D1934-4C5B-4198-9E0A-575379A0CB45}"/>
              </a:ext>
            </a:extLst>
          </p:cNvPr>
          <p:cNvSpPr>
            <a:spLocks xmlns:a="http://schemas.openxmlformats.org/drawingml/2006/main" noGrp="1"/>
          </p:cNvSpPr>
          <p:nvPr/>
        </p:nvSpPr>
        <p:spPr>
          <a:xfrm xmlns:a="http://schemas.openxmlformats.org/drawingml/2006/main">
            <a:off x="1219200" y="6931670"/>
            <a:ext cx="114300" cy="1150441"/>
          </a:xfrm>
          <a:custGeom xmlns:a="http://schemas.openxmlformats.org/drawingml/2006/main">
            <a:pathLst>
              <a:path w="114300" h="1150441">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036141"/>
                </a:lnTo>
                <a:lnTo>
                  <a:pt x="61" y="1039881"/>
                </a:lnTo>
                <a:lnTo>
                  <a:pt x="245" y="1043617"/>
                </a:lnTo>
                <a:lnTo>
                  <a:pt x="550" y="1047345"/>
                </a:lnTo>
                <a:lnTo>
                  <a:pt x="978" y="1051061"/>
                </a:lnTo>
                <a:lnTo>
                  <a:pt x="1527" y="1054760"/>
                </a:lnTo>
                <a:lnTo>
                  <a:pt x="2196" y="1058440"/>
                </a:lnTo>
                <a:lnTo>
                  <a:pt x="2986" y="1062096"/>
                </a:lnTo>
                <a:lnTo>
                  <a:pt x="3895" y="1065724"/>
                </a:lnTo>
                <a:lnTo>
                  <a:pt x="4922" y="1069321"/>
                </a:lnTo>
                <a:lnTo>
                  <a:pt x="6066" y="1072882"/>
                </a:lnTo>
                <a:lnTo>
                  <a:pt x="7326" y="1076404"/>
                </a:lnTo>
                <a:lnTo>
                  <a:pt x="8701" y="1079882"/>
                </a:lnTo>
                <a:lnTo>
                  <a:pt x="10188" y="1083314"/>
                </a:lnTo>
                <a:lnTo>
                  <a:pt x="11787" y="1086695"/>
                </a:lnTo>
                <a:lnTo>
                  <a:pt x="13496" y="1090022"/>
                </a:lnTo>
                <a:lnTo>
                  <a:pt x="15313" y="1093291"/>
                </a:lnTo>
                <a:lnTo>
                  <a:pt x="17236" y="1096500"/>
                </a:lnTo>
                <a:lnTo>
                  <a:pt x="19263" y="1099643"/>
                </a:lnTo>
                <a:lnTo>
                  <a:pt x="21392" y="1102719"/>
                </a:lnTo>
                <a:lnTo>
                  <a:pt x="23620" y="1105723"/>
                </a:lnTo>
                <a:lnTo>
                  <a:pt x="25945" y="1108653"/>
                </a:lnTo>
                <a:lnTo>
                  <a:pt x="28365" y="1111505"/>
                </a:lnTo>
                <a:lnTo>
                  <a:pt x="30877" y="1114276"/>
                </a:lnTo>
                <a:lnTo>
                  <a:pt x="33478" y="1116964"/>
                </a:lnTo>
                <a:lnTo>
                  <a:pt x="36165" y="1119565"/>
                </a:lnTo>
                <a:lnTo>
                  <a:pt x="38937" y="1122077"/>
                </a:lnTo>
                <a:lnTo>
                  <a:pt x="41789" y="1124497"/>
                </a:lnTo>
                <a:lnTo>
                  <a:pt x="44719" y="1126822"/>
                </a:lnTo>
                <a:lnTo>
                  <a:pt x="47723" y="1129050"/>
                </a:lnTo>
                <a:lnTo>
                  <a:pt x="50798" y="1131178"/>
                </a:lnTo>
                <a:lnTo>
                  <a:pt x="53942" y="1133205"/>
                </a:lnTo>
                <a:lnTo>
                  <a:pt x="57150" y="1135128"/>
                </a:lnTo>
                <a:lnTo>
                  <a:pt x="60419" y="1136945"/>
                </a:lnTo>
                <a:lnTo>
                  <a:pt x="63746" y="1138654"/>
                </a:lnTo>
                <a:lnTo>
                  <a:pt x="67128" y="1140253"/>
                </a:lnTo>
                <a:lnTo>
                  <a:pt x="70559" y="1141741"/>
                </a:lnTo>
                <a:lnTo>
                  <a:pt x="74038" y="1143115"/>
                </a:lnTo>
                <a:lnTo>
                  <a:pt x="77559" y="1144376"/>
                </a:lnTo>
                <a:lnTo>
                  <a:pt x="81120" y="1145520"/>
                </a:lnTo>
                <a:lnTo>
                  <a:pt x="84717" y="1146547"/>
                </a:lnTo>
                <a:lnTo>
                  <a:pt x="88345" y="1147456"/>
                </a:lnTo>
                <a:lnTo>
                  <a:pt x="92001" y="1148245"/>
                </a:lnTo>
                <a:lnTo>
                  <a:pt x="95681" y="1148915"/>
                </a:lnTo>
                <a:lnTo>
                  <a:pt x="99381" y="1149464"/>
                </a:lnTo>
                <a:lnTo>
                  <a:pt x="103097" y="1149891"/>
                </a:lnTo>
                <a:lnTo>
                  <a:pt x="106824" y="1150197"/>
                </a:lnTo>
                <a:lnTo>
                  <a:pt x="110560" y="1150380"/>
                </a:lnTo>
                <a:lnTo>
                  <a:pt x="114300" y="1150441"/>
                </a:lnTo>
                <a:lnTo>
                  <a:pt x="114300" y="1150441"/>
                </a:lnTo>
                <a:lnTo>
                  <a:pt x="112430" y="1150380"/>
                </a:lnTo>
                <a:lnTo>
                  <a:pt x="110562" y="1150197"/>
                </a:lnTo>
                <a:lnTo>
                  <a:pt x="108698" y="1149891"/>
                </a:lnTo>
                <a:lnTo>
                  <a:pt x="106840" y="1149464"/>
                </a:lnTo>
                <a:lnTo>
                  <a:pt x="104991" y="1148915"/>
                </a:lnTo>
                <a:lnTo>
                  <a:pt x="103151" y="1148245"/>
                </a:lnTo>
                <a:lnTo>
                  <a:pt x="101323" y="1147456"/>
                </a:lnTo>
                <a:lnTo>
                  <a:pt x="99508" y="1146547"/>
                </a:lnTo>
                <a:lnTo>
                  <a:pt x="97710" y="1145520"/>
                </a:lnTo>
                <a:lnTo>
                  <a:pt x="95930" y="1144376"/>
                </a:lnTo>
                <a:lnTo>
                  <a:pt x="94169" y="1143115"/>
                </a:lnTo>
                <a:lnTo>
                  <a:pt x="92430" y="1141741"/>
                </a:lnTo>
                <a:lnTo>
                  <a:pt x="90714" y="1140253"/>
                </a:lnTo>
                <a:lnTo>
                  <a:pt x="89023" y="1138654"/>
                </a:lnTo>
                <a:lnTo>
                  <a:pt x="87360" y="1136945"/>
                </a:lnTo>
                <a:lnTo>
                  <a:pt x="85725" y="1135128"/>
                </a:lnTo>
                <a:lnTo>
                  <a:pt x="84121" y="1133205"/>
                </a:lnTo>
                <a:lnTo>
                  <a:pt x="82549" y="1131178"/>
                </a:lnTo>
                <a:lnTo>
                  <a:pt x="81011" y="1129050"/>
                </a:lnTo>
                <a:lnTo>
                  <a:pt x="79509" y="1126822"/>
                </a:lnTo>
                <a:lnTo>
                  <a:pt x="78044" y="1124497"/>
                </a:lnTo>
                <a:lnTo>
                  <a:pt x="76618" y="1122077"/>
                </a:lnTo>
                <a:lnTo>
                  <a:pt x="75233" y="1119565"/>
                </a:lnTo>
                <a:lnTo>
                  <a:pt x="73889" y="1116964"/>
                </a:lnTo>
                <a:lnTo>
                  <a:pt x="72588" y="1114276"/>
                </a:lnTo>
                <a:lnTo>
                  <a:pt x="71332" y="1111505"/>
                </a:lnTo>
                <a:lnTo>
                  <a:pt x="70122" y="1108653"/>
                </a:lnTo>
                <a:lnTo>
                  <a:pt x="68960" y="1105723"/>
                </a:lnTo>
                <a:lnTo>
                  <a:pt x="67846" y="1102719"/>
                </a:lnTo>
                <a:lnTo>
                  <a:pt x="66782" y="1099643"/>
                </a:lnTo>
                <a:lnTo>
                  <a:pt x="65768" y="1096500"/>
                </a:lnTo>
                <a:lnTo>
                  <a:pt x="64807" y="1093291"/>
                </a:lnTo>
                <a:lnTo>
                  <a:pt x="63898" y="1090022"/>
                </a:lnTo>
                <a:lnTo>
                  <a:pt x="63044" y="1086695"/>
                </a:lnTo>
                <a:lnTo>
                  <a:pt x="62244" y="1083314"/>
                </a:lnTo>
                <a:lnTo>
                  <a:pt x="61500" y="1079882"/>
                </a:lnTo>
                <a:lnTo>
                  <a:pt x="60813" y="1076404"/>
                </a:lnTo>
                <a:lnTo>
                  <a:pt x="60183" y="1072882"/>
                </a:lnTo>
                <a:lnTo>
                  <a:pt x="59611" y="1069321"/>
                </a:lnTo>
                <a:lnTo>
                  <a:pt x="59097" y="1065724"/>
                </a:lnTo>
                <a:lnTo>
                  <a:pt x="58643" y="1062096"/>
                </a:lnTo>
                <a:lnTo>
                  <a:pt x="58248" y="1058440"/>
                </a:lnTo>
                <a:lnTo>
                  <a:pt x="57913" y="1054760"/>
                </a:lnTo>
                <a:lnTo>
                  <a:pt x="57639" y="1051061"/>
                </a:lnTo>
                <a:lnTo>
                  <a:pt x="57425" y="1047345"/>
                </a:lnTo>
                <a:lnTo>
                  <a:pt x="57272" y="1043617"/>
                </a:lnTo>
                <a:lnTo>
                  <a:pt x="57181" y="1039881"/>
                </a:lnTo>
                <a:lnTo>
                  <a:pt x="57150" y="1036141"/>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EBA3FC-E5EB-4938-82EB-48FCFB7C95DD}"/>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5" name="text-matrica-testova">
            <a:extLst xmlns:a="http://schemas.openxmlformats.org/drawingml/2006/main">
              <a:ext uri="{FF2B5EF4-FFF2-40B4-BE49-F238E27FC236}">
                <a16:creationId xmlns:a16="http://schemas.microsoft.com/office/drawing/2014/main" id="{FFDAE355-3AE1-4D1A-A3D8-CB6CB0ACD9FD}"/>
              </a:ext>
            </a:extLst>
          </p:cNvPr>
          <p:cNvSpPr>
            <a:spLocks xmlns:a="http://schemas.openxmlformats.org/drawingml/2006/main" noGrp="1"/>
          </p:cNvSpPr>
          <p:nvPr/>
        </p:nvSpPr>
        <p:spPr>
          <a:xfrm xmlns:a="http://schemas.openxmlformats.org/drawingml/2006/main">
            <a:off x="1219200" y="1066800"/>
            <a:ext cx="5341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04 · ПОЗИТИВАН И НЕГАТИВАН ДОКАЗ</a:t>
            </a:r>
          </a:p>
        </p:txBody>
      </p:sp>
      <p:sp>
        <p:nvSpPr>
          <p:cNvPr id="6" name="heading-matrica-testova">
            <a:extLst xmlns:a="http://schemas.openxmlformats.org/drawingml/2006/main">
              <a:ext uri="{FF2B5EF4-FFF2-40B4-BE49-F238E27FC236}">
                <a16:creationId xmlns:a16="http://schemas.microsoft.com/office/drawing/2014/main" id="{396338D7-E5E4-4407-863C-07AE7B230424}"/>
              </a:ext>
            </a:extLst>
          </p:cNvPr>
          <p:cNvSpPr>
            <a:spLocks xmlns:a="http://schemas.openxmlformats.org/drawingml/2006/main" noGrp="1"/>
          </p:cNvSpPr>
          <p:nvPr/>
        </p:nvSpPr>
        <p:spPr>
          <a:xfrm xmlns:a="http://schemas.openxmlformats.org/drawingml/2006/main">
            <a:off x="1219200" y="1443930"/>
            <a:ext cx="7960519"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Минимална матрица одлуке</a:t>
            </a:r>
          </a:p>
        </p:txBody>
      </p:sp>
      <p:sp>
        <p:nvSpPr>
          <p:cNvPr id="7" name="text-matrica-testova">
            <a:extLst xmlns:a="http://schemas.openxmlformats.org/drawingml/2006/main">
              <a:ext uri="{FF2B5EF4-FFF2-40B4-BE49-F238E27FC236}">
                <a16:creationId xmlns:a16="http://schemas.microsoft.com/office/drawing/2014/main" id="{6A98C1A5-3D47-4657-A104-AADA5E5D7C85}"/>
              </a:ext>
            </a:extLst>
          </p:cNvPr>
          <p:cNvSpPr>
            <a:spLocks xmlns:a="http://schemas.openxmlformats.org/drawingml/2006/main" noGrp="1"/>
          </p:cNvSpPr>
          <p:nvPr/>
        </p:nvSpPr>
        <p:spPr>
          <a:xfrm xmlns:a="http://schemas.openxmlformats.org/drawingml/2006/main">
            <a:off x="1219200" y="2444055"/>
            <a:ext cx="984155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Матрица повезује стање сесије и свежину потврде са очекиваном одлуком.</a:t>
            </a:r>
          </a:p>
        </p:txBody>
      </p:sp>
      <p:sp>
        <p:nvSpPr>
          <p:cNvPr id="8" name="text-matrica-testova">
            <a:extLst xmlns:a="http://schemas.openxmlformats.org/drawingml/2006/main">
              <a:ext uri="{FF2B5EF4-FFF2-40B4-BE49-F238E27FC236}">
                <a16:creationId xmlns:a16="http://schemas.microsoft.com/office/drawing/2014/main" id="{1AA5600B-9150-40AD-A82D-E628A3209474}"/>
              </a:ext>
            </a:extLst>
          </p:cNvPr>
          <p:cNvSpPr>
            <a:spLocks xmlns:a="http://schemas.openxmlformats.org/drawingml/2006/main" noGrp="1"/>
          </p:cNvSpPr>
          <p:nvPr/>
        </p:nvSpPr>
        <p:spPr>
          <a:xfrm xmlns:a="http://schemas.openxmlformats.org/drawingml/2006/main">
            <a:off x="1504950" y="7122170"/>
            <a:ext cx="3086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Илустративни тестови</a:t>
            </a:r>
          </a:p>
        </p:txBody>
      </p:sp>
      <p:sp>
        <p:nvSpPr>
          <p:cNvPr id="9" name="text-matrica-testova">
            <a:extLst xmlns:a="http://schemas.openxmlformats.org/drawingml/2006/main">
              <a:ext uri="{FF2B5EF4-FFF2-40B4-BE49-F238E27FC236}">
                <a16:creationId xmlns:a16="http://schemas.microsoft.com/office/drawing/2014/main" id="{FF73DA4C-CE3B-4BA8-9C1D-482A53E4E25C}"/>
              </a:ext>
            </a:extLst>
          </p:cNvPr>
          <p:cNvSpPr>
            <a:spLocks xmlns:a="http://schemas.openxmlformats.org/drawingml/2006/main" noGrp="1"/>
          </p:cNvSpPr>
          <p:nvPr/>
        </p:nvSpPr>
        <p:spPr>
          <a:xfrm xmlns:a="http://schemas.openxmlformats.org/drawingml/2006/main">
            <a:off x="1504950" y="7527875"/>
            <a:ext cx="1519981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Опозив и истек морају се проверити независно од свежине MFA. Праг свежине долази из политике конкретне радње.</a:t>
            </a:r>
          </a:p>
        </p:txBody>
      </p:sp>
      <p:sp>
        <p:nvSpPr>
          <p:cNvPr id="10" name="text-matrica-testova">
            <a:extLst xmlns:a="http://schemas.openxmlformats.org/drawingml/2006/main">
              <a:ext uri="{FF2B5EF4-FFF2-40B4-BE49-F238E27FC236}">
                <a16:creationId xmlns:a16="http://schemas.microsoft.com/office/drawing/2014/main" id="{8FD9C2D6-0779-41E5-BF55-E62889225F69}"/>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11" name="text-matrica-testova">
            <a:extLst xmlns:a="http://schemas.openxmlformats.org/drawingml/2006/main">
              <a:ext uri="{FF2B5EF4-FFF2-40B4-BE49-F238E27FC236}">
                <a16:creationId xmlns:a16="http://schemas.microsoft.com/office/drawing/2014/main" id="{5F98D1F8-D41B-459C-84F4-C5D202130841}"/>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28</a:t>
            </a:r>
          </a:p>
        </p:txBody>
      </p:sp>
      <p:graphicFrame>
        <p:nvGraphicFramePr>
          <p:cNvPr id="12" name="">
            <a:extLst xmlns:a="http://schemas.openxmlformats.org/drawingml/2006/main">
              <a:ext uri="{FF2B5EF4-FFF2-40B4-BE49-F238E27FC236}">
                <a16:creationId xmlns:a16="http://schemas.microsoft.com/office/drawing/2014/main" id="{4EF7EDF7-81BC-4185-9766-11659DD3BF3B}"/>
              </a:ext>
            </a:extLst>
          </p:cNvPr>
          <p:cNvGraphicFramePr/>
          <p:nvPr/>
        </p:nvGraphicFramePr>
        <p:xfrm>
          <a:off xmlns:a="http://schemas.openxmlformats.org/drawingml/2006/main" x="1219200" y="3112591"/>
          <a:ext xmlns:a="http://schemas.openxmlformats.org/drawingml/2006/main" cx="15849600" cy="3514279"/>
        </p:xfrm>
        <a:graphic xmlns:a="http://schemas.openxmlformats.org/drawingml/2006/main">
          <a:graphicData uri="http://schemas.openxmlformats.org/drawingml/2006/table">
            <a:tbl>
              <a:tblPr firstRow="1" bandRow="0"/>
              <a:tblGrid>
                <a:gridCol w="3640931"/>
                <a:gridCol w="6015484"/>
                <a:gridCol w="6174135"/>
              </a:tblGrid>
              <a:tr h="699046">
                <a:tc>
                  <a:txBody>
                    <a:bodyPr>
                      <a:noAutofit/>
                    </a:bodyPr>
                    <a:lstStyle/>
                    <a:p>
                      <a:r>
                        <a:rPr sz="1950" b="1">
                          <a:solidFill>
                            <a:srgbClr val="13202D"/>
                          </a:solidFill>
                          <a:latin typeface="IBM Plex Sans"/>
                          <a:ea typeface="IBM Plex Sans"/>
                          <a:cs typeface="IBM Plex Sans"/>
                        </a:rPr>
                        <a:t>Сесија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E6E8EE"/>
                    </a:solidFill>
                  </a:tcPr>
                </a:tc>
                <a:tc>
                  <a:txBody>
                    <a:bodyPr>
                      <a:noAutofit/>
                    </a:bodyPr>
                    <a:lstStyle/>
                    <a:p>
                      <a:r>
                        <a:rPr sz="1950" b="1">
                          <a:solidFill>
                            <a:srgbClr val="13202D"/>
                          </a:solidFill>
                          <a:latin typeface="IBM Plex Sans"/>
                          <a:ea typeface="IBM Plex Sans"/>
                          <a:cs typeface="IBM Plex Sans"/>
                        </a:rPr>
                        <a:t>MFA потврда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E6E8EE"/>
                    </a:solidFill>
                  </a:tcPr>
                </a:tc>
                <a:tc>
                  <a:txBody>
                    <a:bodyPr>
                      <a:noAutofit/>
                    </a:bodyPr>
                    <a:lstStyle/>
                    <a:p>
                      <a:r>
                        <a:rPr sz="1950" b="1">
                          <a:solidFill>
                            <a:srgbClr val="13202D"/>
                          </a:solidFill>
                          <a:latin typeface="IBM Plex Sans"/>
                          <a:ea typeface="IBM Plex Sans"/>
                          <a:cs typeface="IBM Plex Sans"/>
                        </a:rPr>
                        <a:t>Очекиван исход</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E6E8EE"/>
                    </a:solidFill>
                  </a:tcPr>
                </a:tc>
              </a:tr>
              <a:tr h="699046">
                <a:tc>
                  <a:txBody>
                    <a:bodyPr>
                      <a:noAutofit/>
                    </a:bodyPr>
                    <a:lstStyle/>
                    <a:p>
                      <a:r>
                        <a:rPr sz="1950" b="0">
                          <a:solidFill>
                            <a:srgbClr val="44505D"/>
                          </a:solidFill>
                          <a:latin typeface="IBM Plex Sans"/>
                          <a:ea typeface="IBM Plex Sans"/>
                          <a:cs typeface="IBM Plex Sans"/>
                        </a:rPr>
                        <a:t>Важећа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Свежа, потребно право постоји</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Радња је дозвољена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r h="699046">
                <a:tc>
                  <a:txBody>
                    <a:bodyPr>
                      <a:noAutofit/>
                    </a:bodyPr>
                    <a:lstStyle/>
                    <a:p>
                      <a:r>
                        <a:rPr sz="1950" b="0">
                          <a:solidFill>
                            <a:srgbClr val="44505D"/>
                          </a:solidFill>
                          <a:latin typeface="IBM Plex Sans"/>
                          <a:ea typeface="IBM Plex Sans"/>
                          <a:cs typeface="IBM Plex Sans"/>
                        </a:rPr>
                        <a:t>Важећа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Недостаје или је престара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Тражи се додатна потврда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r h="699046">
                <a:tc>
                  <a:txBody>
                    <a:bodyPr>
                      <a:noAutofit/>
                    </a:bodyPr>
                    <a:lstStyle/>
                    <a:p>
                      <a:r>
                        <a:rPr sz="1950" b="0">
                          <a:solidFill>
                            <a:srgbClr val="44505D"/>
                          </a:solidFill>
                          <a:latin typeface="IBM Plex Sans"/>
                          <a:ea typeface="IBM Plex Sans"/>
                          <a:cs typeface="IBM Plex Sans"/>
                        </a:rPr>
                        <a:t>Опозвана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И свежа потврда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Радња се одбија, без понуде MFA</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r h="699046">
                <a:tc>
                  <a:txBody>
                    <a:bodyPr>
                      <a:noAutofit/>
                    </a:bodyPr>
                    <a:lstStyle/>
                    <a:p>
                      <a:r>
                        <a:rPr sz="1950" b="0">
                          <a:solidFill>
                            <a:srgbClr val="44505D"/>
                          </a:solidFill>
                          <a:latin typeface="IBM Plex Sans"/>
                          <a:ea typeface="IBM Plex Sans"/>
                          <a:cs typeface="IBM Plex Sans"/>
                        </a:rPr>
                        <a:t>Истекла</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Било која старост</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c>
                  <a:txBody>
                    <a:bodyPr>
                      <a:noAutofit/>
                    </a:bodyPr>
                    <a:lstStyle/>
                    <a:p>
                      <a:r>
                        <a:rPr sz="1950" b="0">
                          <a:solidFill>
                            <a:srgbClr val="44505D"/>
                          </a:solidFill>
                          <a:latin typeface="IBM Plex Sans"/>
                          <a:ea typeface="IBM Plex Sans"/>
                          <a:cs typeface="IBM Plex Sans"/>
                        </a:rPr>
                        <a:t>Нова пријава или предвиђен поступак обнове</a:t>
                      </a:r>
                    </a:p>
                  </a:txBody>
                  <a:tcPr marL="228600" marR="228600" marT="171450" marB="171450" anchor="ctr">
                    <a:lnL w="9525">
                      <a:solidFill>
                        <a:srgbClr val="D3DAE1"/>
                      </a:solidFill>
                      <a:prstDash val="solid"/>
                    </a:lnL>
                    <a:lnR w="9525">
                      <a:solidFill>
                        <a:srgbClr val="D3DAE1"/>
                      </a:solidFill>
                      <a:prstDash val="solid"/>
                    </a:lnR>
                    <a:lnT w="9525">
                      <a:solidFill>
                        <a:srgbClr val="D3DAE1"/>
                      </a:solidFill>
                      <a:prstDash val="solid"/>
                    </a:lnT>
                    <a:lnB w="9525">
                      <a:solidFill>
                        <a:srgbClr val="D3DAE1"/>
                      </a:solidFill>
                      <a:prstDash val="solid"/>
                    </a:lnB>
                    <a:solidFill>
                      <a:srgbClr val="FCFCFB"/>
                    </a:solidFill>
                  </a:tcPr>
                </a:tc>
              </a:tr>
            </a:tbl>
          </a:graphicData>
        </a:graphic>
      </p:graphicFrame>
    </p:spTree>
    <p:extLst>
      <p:ext uri="{BB962C8B-B14F-4D97-AF65-F5344CB8AC3E}">
        <p14:creationId xmlns:p14="http://schemas.microsoft.com/office/powerpoint/2010/main" val="1883057696"/>
      </p:ext>
    </p:extLst>
  </p:cSld>
</p:sld>
</file>

<file path=ppt/slides/slide29.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E9DDD6-23F5-44D1-AB49-4860D410D4DD}"/>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3A46A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F4C42C-2BB7-4E46-9493-1A516EAAF3DB}"/>
              </a:ext>
            </a:extLst>
          </p:cNvPr>
          <p:cNvSpPr>
            <a:spLocks xmlns:a="http://schemas.openxmlformats.org/drawingml/2006/main" noGrp="1"/>
          </p:cNvSpPr>
          <p:nvPr/>
        </p:nvSpPr>
        <p:spPr>
          <a:xfrm xmlns:a="http://schemas.openxmlformats.org/drawingml/2006/main">
            <a:off x="1219200" y="3112591"/>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3" name="">
            <a:extLst xmlns:a="http://schemas.openxmlformats.org/drawingml/2006/main">
              <a:ext uri="{FF2B5EF4-FFF2-40B4-BE49-F238E27FC236}">
                <a16:creationId xmlns:a16="http://schemas.microsoft.com/office/drawing/2014/main" id="{4270C58B-DE0D-4128-A744-603C6AA20A17}"/>
              </a:ext>
            </a:extLst>
          </p:cNvPr>
          <p:cNvSpPr>
            <a:spLocks xmlns:a="http://schemas.openxmlformats.org/drawingml/2006/main" noGrp="1"/>
          </p:cNvSpPr>
          <p:nvPr/>
        </p:nvSpPr>
        <p:spPr>
          <a:xfrm xmlns:a="http://schemas.openxmlformats.org/drawingml/2006/main">
            <a:off x="5229225" y="3112591"/>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4" name="">
            <a:extLst xmlns:a="http://schemas.openxmlformats.org/drawingml/2006/main">
              <a:ext uri="{FF2B5EF4-FFF2-40B4-BE49-F238E27FC236}">
                <a16:creationId xmlns:a16="http://schemas.microsoft.com/office/drawing/2014/main" id="{2DCAAACF-EACA-465A-B19C-3C8B9096D765}"/>
              </a:ext>
            </a:extLst>
          </p:cNvPr>
          <p:cNvSpPr>
            <a:spLocks xmlns:a="http://schemas.openxmlformats.org/drawingml/2006/main" noGrp="1"/>
          </p:cNvSpPr>
          <p:nvPr/>
        </p:nvSpPr>
        <p:spPr>
          <a:xfrm xmlns:a="http://schemas.openxmlformats.org/drawingml/2006/main">
            <a:off x="9239250" y="3112591"/>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5" name="">
            <a:extLst xmlns:a="http://schemas.openxmlformats.org/drawingml/2006/main">
              <a:ext uri="{FF2B5EF4-FFF2-40B4-BE49-F238E27FC236}">
                <a16:creationId xmlns:a16="http://schemas.microsoft.com/office/drawing/2014/main" id="{31684BFE-B1B8-4130-9FA3-033CEA9BFCA4}"/>
              </a:ext>
            </a:extLst>
          </p:cNvPr>
          <p:cNvSpPr>
            <a:spLocks xmlns:a="http://schemas.openxmlformats.org/drawingml/2006/main" noGrp="1"/>
          </p:cNvSpPr>
          <p:nvPr/>
        </p:nvSpPr>
        <p:spPr>
          <a:xfrm xmlns:a="http://schemas.openxmlformats.org/drawingml/2006/main">
            <a:off x="13249275" y="3112591"/>
            <a:ext cx="3819525" cy="2403872"/>
          </a:xfrm>
          <a:prstGeom xmlns:a="http://schemas.openxmlformats.org/drawingml/2006/main" prst="roundRect">
            <a:avLst>
              <a:gd name="adj" fmla="val 6340"/>
            </a:avLst>
          </a:prstGeom>
          <a:solidFill xmlns:a="http://schemas.openxmlformats.org/drawingml/2006/main">
            <a:srgbClr val="FCFCFB"/>
          </a:solidFill>
          <a:ln xmlns:a="http://schemas.openxmlformats.org/drawingml/2006/main" w="9525">
            <a:solidFill>
              <a:srgbClr val="D3DAE1"/>
            </a:solidFill>
          </a:ln>
        </p:spPr>
      </p:sp>
      <p:sp>
        <p:nvSpPr>
          <p:cNvPr id="6" name="">
            <a:extLst xmlns:a="http://schemas.openxmlformats.org/drawingml/2006/main">
              <a:ext uri="{FF2B5EF4-FFF2-40B4-BE49-F238E27FC236}">
                <a16:creationId xmlns:a16="http://schemas.microsoft.com/office/drawing/2014/main" id="{FC9C1009-F542-474B-B193-52C497B5F41B}"/>
              </a:ext>
            </a:extLst>
          </p:cNvPr>
          <p:cNvSpPr>
            <a:spLocks xmlns:a="http://schemas.openxmlformats.org/drawingml/2006/main" noGrp="1"/>
          </p:cNvSpPr>
          <p:nvPr/>
        </p:nvSpPr>
        <p:spPr>
          <a:xfrm xmlns:a="http://schemas.openxmlformats.org/drawingml/2006/main">
            <a:off x="1219200" y="5821263"/>
            <a:ext cx="15849600" cy="1523702"/>
          </a:xfrm>
          <a:prstGeom xmlns:a="http://schemas.openxmlformats.org/drawingml/2006/main" prst="roundRect">
            <a:avLst>
              <a:gd name="adj" fmla="val 7501"/>
            </a:avLst>
          </a:prstGeom>
          <a:solidFill xmlns:a="http://schemas.openxmlformats.org/drawingml/2006/main">
            <a:srgbClr val="E6E8EE"/>
          </a:solidFill>
          <a:ln xmlns:a="http://schemas.openxmlformats.org/drawingml/2006/main" w="0">
            <a:noFill/>
          </a:ln>
        </p:spPr>
      </p:sp>
      <p:sp>
        <p:nvSpPr>
          <p:cNvPr id="7" name="rounded-banner-accent">
            <a:extLst xmlns:a="http://schemas.openxmlformats.org/drawingml/2006/main">
              <a:ext uri="{FF2B5EF4-FFF2-40B4-BE49-F238E27FC236}">
                <a16:creationId xmlns:a16="http://schemas.microsoft.com/office/drawing/2014/main" id="{AF335FB3-2D75-45DE-A215-84F7EAC3E8FF}"/>
              </a:ext>
            </a:extLst>
          </p:cNvPr>
          <p:cNvSpPr>
            <a:spLocks xmlns:a="http://schemas.openxmlformats.org/drawingml/2006/main" noGrp="1"/>
          </p:cNvSpPr>
          <p:nvPr/>
        </p:nvSpPr>
        <p:spPr>
          <a:xfrm xmlns:a="http://schemas.openxmlformats.org/drawingml/2006/main">
            <a:off x="1219200" y="5821263"/>
            <a:ext cx="114300" cy="1523702"/>
          </a:xfrm>
          <a:custGeom xmlns:a="http://schemas.openxmlformats.org/drawingml/2006/main">
            <a:pathLst>
              <a:path w="114300" h="1523702">
                <a:moveTo>
                  <a:pt x="114300" y="0"/>
                </a:moveTo>
                <a:lnTo>
                  <a:pt x="110560" y="61"/>
                </a:lnTo>
                <a:lnTo>
                  <a:pt x="106824" y="245"/>
                </a:lnTo>
                <a:lnTo>
                  <a:pt x="103097" y="550"/>
                </a:lnTo>
                <a:lnTo>
                  <a:pt x="99381" y="978"/>
                </a:lnTo>
                <a:lnTo>
                  <a:pt x="95681" y="1527"/>
                </a:lnTo>
                <a:lnTo>
                  <a:pt x="92001" y="2196"/>
                </a:lnTo>
                <a:lnTo>
                  <a:pt x="88345" y="2986"/>
                </a:lnTo>
                <a:lnTo>
                  <a:pt x="84717" y="3895"/>
                </a:lnTo>
                <a:lnTo>
                  <a:pt x="81120" y="4922"/>
                </a:lnTo>
                <a:lnTo>
                  <a:pt x="77559" y="6066"/>
                </a:lnTo>
                <a:lnTo>
                  <a:pt x="74038" y="7326"/>
                </a:lnTo>
                <a:lnTo>
                  <a:pt x="70559" y="8701"/>
                </a:lnTo>
                <a:lnTo>
                  <a:pt x="67128" y="10188"/>
                </a:lnTo>
                <a:lnTo>
                  <a:pt x="63746" y="11787"/>
                </a:lnTo>
                <a:lnTo>
                  <a:pt x="60419" y="13496"/>
                </a:lnTo>
                <a:lnTo>
                  <a:pt x="57150" y="15313"/>
                </a:lnTo>
                <a:lnTo>
                  <a:pt x="53942" y="17236"/>
                </a:lnTo>
                <a:lnTo>
                  <a:pt x="50798" y="19263"/>
                </a:lnTo>
                <a:lnTo>
                  <a:pt x="47723" y="21392"/>
                </a:lnTo>
                <a:lnTo>
                  <a:pt x="44719" y="23620"/>
                </a:lnTo>
                <a:lnTo>
                  <a:pt x="41789" y="25945"/>
                </a:lnTo>
                <a:lnTo>
                  <a:pt x="38937" y="28365"/>
                </a:lnTo>
                <a:lnTo>
                  <a:pt x="36165" y="30877"/>
                </a:lnTo>
                <a:lnTo>
                  <a:pt x="33478" y="33478"/>
                </a:lnTo>
                <a:lnTo>
                  <a:pt x="30877" y="36165"/>
                </a:lnTo>
                <a:lnTo>
                  <a:pt x="28365" y="38937"/>
                </a:lnTo>
                <a:lnTo>
                  <a:pt x="25945" y="41789"/>
                </a:lnTo>
                <a:lnTo>
                  <a:pt x="23620" y="44719"/>
                </a:lnTo>
                <a:lnTo>
                  <a:pt x="21392" y="47723"/>
                </a:lnTo>
                <a:lnTo>
                  <a:pt x="19263" y="50798"/>
                </a:lnTo>
                <a:lnTo>
                  <a:pt x="17236" y="53942"/>
                </a:lnTo>
                <a:lnTo>
                  <a:pt x="15313" y="57150"/>
                </a:lnTo>
                <a:lnTo>
                  <a:pt x="13496" y="60419"/>
                </a:lnTo>
                <a:lnTo>
                  <a:pt x="11787" y="63746"/>
                </a:lnTo>
                <a:lnTo>
                  <a:pt x="10188" y="67128"/>
                </a:lnTo>
                <a:lnTo>
                  <a:pt x="8701" y="70559"/>
                </a:lnTo>
                <a:lnTo>
                  <a:pt x="7326" y="74038"/>
                </a:lnTo>
                <a:lnTo>
                  <a:pt x="6066" y="77559"/>
                </a:lnTo>
                <a:lnTo>
                  <a:pt x="4922" y="81120"/>
                </a:lnTo>
                <a:lnTo>
                  <a:pt x="3895" y="84717"/>
                </a:lnTo>
                <a:lnTo>
                  <a:pt x="2986" y="88345"/>
                </a:lnTo>
                <a:lnTo>
                  <a:pt x="2196" y="92001"/>
                </a:lnTo>
                <a:lnTo>
                  <a:pt x="1527" y="95681"/>
                </a:lnTo>
                <a:lnTo>
                  <a:pt x="978" y="99381"/>
                </a:lnTo>
                <a:lnTo>
                  <a:pt x="550" y="103097"/>
                </a:lnTo>
                <a:lnTo>
                  <a:pt x="245" y="106824"/>
                </a:lnTo>
                <a:lnTo>
                  <a:pt x="61" y="110560"/>
                </a:lnTo>
                <a:lnTo>
                  <a:pt x="0" y="114300"/>
                </a:lnTo>
                <a:lnTo>
                  <a:pt x="0" y="1409402"/>
                </a:lnTo>
                <a:lnTo>
                  <a:pt x="61" y="1413142"/>
                </a:lnTo>
                <a:lnTo>
                  <a:pt x="245" y="1416878"/>
                </a:lnTo>
                <a:lnTo>
                  <a:pt x="550" y="1420606"/>
                </a:lnTo>
                <a:lnTo>
                  <a:pt x="978" y="1424321"/>
                </a:lnTo>
                <a:lnTo>
                  <a:pt x="1527" y="1428021"/>
                </a:lnTo>
                <a:lnTo>
                  <a:pt x="2196" y="1431701"/>
                </a:lnTo>
                <a:lnTo>
                  <a:pt x="2986" y="1435357"/>
                </a:lnTo>
                <a:lnTo>
                  <a:pt x="3895" y="1438985"/>
                </a:lnTo>
                <a:lnTo>
                  <a:pt x="4922" y="1442582"/>
                </a:lnTo>
                <a:lnTo>
                  <a:pt x="6066" y="1446143"/>
                </a:lnTo>
                <a:lnTo>
                  <a:pt x="7326" y="1449665"/>
                </a:lnTo>
                <a:lnTo>
                  <a:pt x="8701" y="1453143"/>
                </a:lnTo>
                <a:lnTo>
                  <a:pt x="10188" y="1456575"/>
                </a:lnTo>
                <a:lnTo>
                  <a:pt x="11787" y="1459956"/>
                </a:lnTo>
                <a:lnTo>
                  <a:pt x="13496" y="1463283"/>
                </a:lnTo>
                <a:lnTo>
                  <a:pt x="15313" y="1466552"/>
                </a:lnTo>
                <a:lnTo>
                  <a:pt x="17236" y="1469760"/>
                </a:lnTo>
                <a:lnTo>
                  <a:pt x="19263" y="1472904"/>
                </a:lnTo>
                <a:lnTo>
                  <a:pt x="21392" y="1475980"/>
                </a:lnTo>
                <a:lnTo>
                  <a:pt x="23620" y="1478984"/>
                </a:lnTo>
                <a:lnTo>
                  <a:pt x="25945" y="1481913"/>
                </a:lnTo>
                <a:lnTo>
                  <a:pt x="28365" y="1484766"/>
                </a:lnTo>
                <a:lnTo>
                  <a:pt x="30877" y="1487537"/>
                </a:lnTo>
                <a:lnTo>
                  <a:pt x="33478" y="1490225"/>
                </a:lnTo>
                <a:lnTo>
                  <a:pt x="36165" y="1492826"/>
                </a:lnTo>
                <a:lnTo>
                  <a:pt x="38937" y="1495338"/>
                </a:lnTo>
                <a:lnTo>
                  <a:pt x="41789" y="1497757"/>
                </a:lnTo>
                <a:lnTo>
                  <a:pt x="44719" y="1500083"/>
                </a:lnTo>
                <a:lnTo>
                  <a:pt x="47723" y="1502311"/>
                </a:lnTo>
                <a:lnTo>
                  <a:pt x="50798" y="1504439"/>
                </a:lnTo>
                <a:lnTo>
                  <a:pt x="53942" y="1506466"/>
                </a:lnTo>
                <a:lnTo>
                  <a:pt x="57150" y="1508389"/>
                </a:lnTo>
                <a:lnTo>
                  <a:pt x="60419" y="1510206"/>
                </a:lnTo>
                <a:lnTo>
                  <a:pt x="63746" y="1511915"/>
                </a:lnTo>
                <a:lnTo>
                  <a:pt x="67128" y="1513514"/>
                </a:lnTo>
                <a:lnTo>
                  <a:pt x="70559" y="1515002"/>
                </a:lnTo>
                <a:lnTo>
                  <a:pt x="74038" y="1516376"/>
                </a:lnTo>
                <a:lnTo>
                  <a:pt x="77559" y="1517636"/>
                </a:lnTo>
                <a:lnTo>
                  <a:pt x="81120" y="1518781"/>
                </a:lnTo>
                <a:lnTo>
                  <a:pt x="84717" y="1519808"/>
                </a:lnTo>
                <a:lnTo>
                  <a:pt x="88345" y="1520716"/>
                </a:lnTo>
                <a:lnTo>
                  <a:pt x="92001" y="1521506"/>
                </a:lnTo>
                <a:lnTo>
                  <a:pt x="95681" y="1522176"/>
                </a:lnTo>
                <a:lnTo>
                  <a:pt x="99381" y="1522724"/>
                </a:lnTo>
                <a:lnTo>
                  <a:pt x="103097" y="1523152"/>
                </a:lnTo>
                <a:lnTo>
                  <a:pt x="106824" y="1523458"/>
                </a:lnTo>
                <a:lnTo>
                  <a:pt x="110560" y="1523641"/>
                </a:lnTo>
                <a:lnTo>
                  <a:pt x="114300" y="1523702"/>
                </a:lnTo>
                <a:lnTo>
                  <a:pt x="114300" y="1523702"/>
                </a:lnTo>
                <a:lnTo>
                  <a:pt x="112430" y="1523641"/>
                </a:lnTo>
                <a:lnTo>
                  <a:pt x="110562" y="1523458"/>
                </a:lnTo>
                <a:lnTo>
                  <a:pt x="108698" y="1523152"/>
                </a:lnTo>
                <a:lnTo>
                  <a:pt x="106840" y="1522724"/>
                </a:lnTo>
                <a:lnTo>
                  <a:pt x="104991" y="1522176"/>
                </a:lnTo>
                <a:lnTo>
                  <a:pt x="103151" y="1521506"/>
                </a:lnTo>
                <a:lnTo>
                  <a:pt x="101323" y="1520716"/>
                </a:lnTo>
                <a:lnTo>
                  <a:pt x="99508" y="1519808"/>
                </a:lnTo>
                <a:lnTo>
                  <a:pt x="97710" y="1518781"/>
                </a:lnTo>
                <a:lnTo>
                  <a:pt x="95930" y="1517636"/>
                </a:lnTo>
                <a:lnTo>
                  <a:pt x="94169" y="1516376"/>
                </a:lnTo>
                <a:lnTo>
                  <a:pt x="92430" y="1515002"/>
                </a:lnTo>
                <a:lnTo>
                  <a:pt x="90714" y="1513514"/>
                </a:lnTo>
                <a:lnTo>
                  <a:pt x="89023" y="1511915"/>
                </a:lnTo>
                <a:lnTo>
                  <a:pt x="87360" y="1510206"/>
                </a:lnTo>
                <a:lnTo>
                  <a:pt x="85725" y="1508389"/>
                </a:lnTo>
                <a:lnTo>
                  <a:pt x="84121" y="1506466"/>
                </a:lnTo>
                <a:lnTo>
                  <a:pt x="82549" y="1504439"/>
                </a:lnTo>
                <a:lnTo>
                  <a:pt x="81011" y="1502311"/>
                </a:lnTo>
                <a:lnTo>
                  <a:pt x="79509" y="1500083"/>
                </a:lnTo>
                <a:lnTo>
                  <a:pt x="78044" y="1497757"/>
                </a:lnTo>
                <a:lnTo>
                  <a:pt x="76618" y="1495338"/>
                </a:lnTo>
                <a:lnTo>
                  <a:pt x="75233" y="1492826"/>
                </a:lnTo>
                <a:lnTo>
                  <a:pt x="73889" y="1490225"/>
                </a:lnTo>
                <a:lnTo>
                  <a:pt x="72588" y="1487537"/>
                </a:lnTo>
                <a:lnTo>
                  <a:pt x="71332" y="1484766"/>
                </a:lnTo>
                <a:lnTo>
                  <a:pt x="70122" y="1481913"/>
                </a:lnTo>
                <a:lnTo>
                  <a:pt x="68960" y="1478984"/>
                </a:lnTo>
                <a:lnTo>
                  <a:pt x="67846" y="1475980"/>
                </a:lnTo>
                <a:lnTo>
                  <a:pt x="66782" y="1472904"/>
                </a:lnTo>
                <a:lnTo>
                  <a:pt x="65768" y="1469760"/>
                </a:lnTo>
                <a:lnTo>
                  <a:pt x="64807" y="1466552"/>
                </a:lnTo>
                <a:lnTo>
                  <a:pt x="63898" y="1463283"/>
                </a:lnTo>
                <a:lnTo>
                  <a:pt x="63044" y="1459956"/>
                </a:lnTo>
                <a:lnTo>
                  <a:pt x="62244" y="1456575"/>
                </a:lnTo>
                <a:lnTo>
                  <a:pt x="61500" y="1453143"/>
                </a:lnTo>
                <a:lnTo>
                  <a:pt x="60813" y="1449665"/>
                </a:lnTo>
                <a:lnTo>
                  <a:pt x="60183" y="1446143"/>
                </a:lnTo>
                <a:lnTo>
                  <a:pt x="59611" y="1442582"/>
                </a:lnTo>
                <a:lnTo>
                  <a:pt x="59097" y="1438985"/>
                </a:lnTo>
                <a:lnTo>
                  <a:pt x="58643" y="1435357"/>
                </a:lnTo>
                <a:lnTo>
                  <a:pt x="58248" y="1431701"/>
                </a:lnTo>
                <a:lnTo>
                  <a:pt x="57913" y="1428021"/>
                </a:lnTo>
                <a:lnTo>
                  <a:pt x="57639" y="1424321"/>
                </a:lnTo>
                <a:lnTo>
                  <a:pt x="57425" y="1420606"/>
                </a:lnTo>
                <a:lnTo>
                  <a:pt x="57272" y="1416878"/>
                </a:lnTo>
                <a:lnTo>
                  <a:pt x="57181" y="1413142"/>
                </a:lnTo>
                <a:lnTo>
                  <a:pt x="57150" y="1409402"/>
                </a:lnTo>
                <a:lnTo>
                  <a:pt x="57150" y="114300"/>
                </a:lnTo>
                <a:lnTo>
                  <a:pt x="57181" y="110560"/>
                </a:lnTo>
                <a:lnTo>
                  <a:pt x="57272" y="106824"/>
                </a:lnTo>
                <a:lnTo>
                  <a:pt x="57425" y="103097"/>
                </a:lnTo>
                <a:lnTo>
                  <a:pt x="57639" y="99381"/>
                </a:lnTo>
                <a:lnTo>
                  <a:pt x="57913" y="95681"/>
                </a:lnTo>
                <a:lnTo>
                  <a:pt x="58248" y="92001"/>
                </a:lnTo>
                <a:lnTo>
                  <a:pt x="58643" y="88345"/>
                </a:lnTo>
                <a:lnTo>
                  <a:pt x="59097" y="84717"/>
                </a:lnTo>
                <a:lnTo>
                  <a:pt x="59611" y="81120"/>
                </a:lnTo>
                <a:lnTo>
                  <a:pt x="60183" y="77559"/>
                </a:lnTo>
                <a:lnTo>
                  <a:pt x="60813" y="74038"/>
                </a:lnTo>
                <a:lnTo>
                  <a:pt x="61500" y="70559"/>
                </a:lnTo>
                <a:lnTo>
                  <a:pt x="62244" y="67128"/>
                </a:lnTo>
                <a:lnTo>
                  <a:pt x="63044" y="63746"/>
                </a:lnTo>
                <a:lnTo>
                  <a:pt x="63898" y="60419"/>
                </a:lnTo>
                <a:lnTo>
                  <a:pt x="64807" y="57150"/>
                </a:lnTo>
                <a:lnTo>
                  <a:pt x="65768" y="53942"/>
                </a:lnTo>
                <a:lnTo>
                  <a:pt x="66782" y="50798"/>
                </a:lnTo>
                <a:lnTo>
                  <a:pt x="67846" y="47723"/>
                </a:lnTo>
                <a:lnTo>
                  <a:pt x="68960" y="44719"/>
                </a:lnTo>
                <a:lnTo>
                  <a:pt x="70122" y="41789"/>
                </a:lnTo>
                <a:lnTo>
                  <a:pt x="71332" y="38937"/>
                </a:lnTo>
                <a:lnTo>
                  <a:pt x="72588" y="36165"/>
                </a:lnTo>
                <a:lnTo>
                  <a:pt x="73889" y="33478"/>
                </a:lnTo>
                <a:lnTo>
                  <a:pt x="75233" y="30877"/>
                </a:lnTo>
                <a:lnTo>
                  <a:pt x="76618" y="28365"/>
                </a:lnTo>
                <a:lnTo>
                  <a:pt x="78044" y="25945"/>
                </a:lnTo>
                <a:lnTo>
                  <a:pt x="79509" y="23620"/>
                </a:lnTo>
                <a:lnTo>
                  <a:pt x="81011" y="21392"/>
                </a:lnTo>
                <a:lnTo>
                  <a:pt x="82549" y="19263"/>
                </a:lnTo>
                <a:lnTo>
                  <a:pt x="84121" y="17236"/>
                </a:lnTo>
                <a:lnTo>
                  <a:pt x="85725" y="15313"/>
                </a:lnTo>
                <a:lnTo>
                  <a:pt x="87360" y="13496"/>
                </a:lnTo>
                <a:lnTo>
                  <a:pt x="89023" y="11787"/>
                </a:lnTo>
                <a:lnTo>
                  <a:pt x="90714" y="10188"/>
                </a:lnTo>
                <a:lnTo>
                  <a:pt x="92430" y="8701"/>
                </a:lnTo>
                <a:lnTo>
                  <a:pt x="94169" y="7326"/>
                </a:lnTo>
                <a:lnTo>
                  <a:pt x="95930" y="6066"/>
                </a:lnTo>
                <a:lnTo>
                  <a:pt x="97710" y="4922"/>
                </a:lnTo>
                <a:lnTo>
                  <a:pt x="99508" y="3895"/>
                </a:lnTo>
                <a:lnTo>
                  <a:pt x="101323" y="2986"/>
                </a:lnTo>
                <a:lnTo>
                  <a:pt x="103151" y="2196"/>
                </a:lnTo>
                <a:lnTo>
                  <a:pt x="104991" y="1527"/>
                </a:lnTo>
                <a:lnTo>
                  <a:pt x="106840" y="978"/>
                </a:lnTo>
                <a:lnTo>
                  <a:pt x="108698" y="550"/>
                </a:lnTo>
                <a:lnTo>
                  <a:pt x="110562" y="245"/>
                </a:lnTo>
                <a:lnTo>
                  <a:pt x="112430" y="61"/>
                </a:lnTo>
                <a:lnTo>
                  <a:pt x="114300" y="0"/>
                </a:lnTo>
                <a:close/>
              </a:path>
            </a:pathLst>
          </a:custGeom>
          <a:solidFill xmlns:a="http://schemas.openxmlformats.org/drawingml/2006/main">
            <a:srgbClr val="3A46A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69032B-283A-497B-B6E2-143606576304}"/>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D3DAE1"/>
          </a:solidFill>
          <a:ln xmlns:a="http://schemas.openxmlformats.org/drawingml/2006/main" w="0">
            <a:noFill/>
          </a:ln>
        </p:spPr>
      </p:sp>
      <p:sp>
        <p:nvSpPr>
          <p:cNvPr id="9" name="text-source-20">
            <a:extLst xmlns:a="http://schemas.openxmlformats.org/drawingml/2006/main">
              <a:ext uri="{FF2B5EF4-FFF2-40B4-BE49-F238E27FC236}">
                <a16:creationId xmlns:a16="http://schemas.microsoft.com/office/drawing/2014/main" id="{B8B79ED4-CC86-4258-8943-76FE337CB56E}"/>
              </a:ext>
            </a:extLst>
          </p:cNvPr>
          <p:cNvSpPr>
            <a:spLocks xmlns:a="http://schemas.openxmlformats.org/drawingml/2006/main" noGrp="1"/>
          </p:cNvSpPr>
          <p:nvPr/>
        </p:nvSpPr>
        <p:spPr>
          <a:xfrm xmlns:a="http://schemas.openxmlformats.org/drawingml/2006/main">
            <a:off x="1219200" y="1066800"/>
            <a:ext cx="393576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04 · ПРОВЕРА РАЗУМЕВАЊА</a:t>
            </a:r>
          </a:p>
        </p:txBody>
      </p:sp>
      <p:sp>
        <p:nvSpPr>
          <p:cNvPr id="10" name="heading-source-20">
            <a:extLst xmlns:a="http://schemas.openxmlformats.org/drawingml/2006/main">
              <a:ext uri="{FF2B5EF4-FFF2-40B4-BE49-F238E27FC236}">
                <a16:creationId xmlns:a16="http://schemas.microsoft.com/office/drawing/2014/main" id="{F86790F7-062E-4CB5-8A2D-C185E5D25C31}"/>
              </a:ext>
            </a:extLst>
          </p:cNvPr>
          <p:cNvSpPr>
            <a:spLocks xmlns:a="http://schemas.openxmlformats.org/drawingml/2006/main" noGrp="1"/>
          </p:cNvSpPr>
          <p:nvPr/>
        </p:nvSpPr>
        <p:spPr>
          <a:xfrm xmlns:a="http://schemas.openxmlformats.org/drawingml/2006/main">
            <a:off x="1219200" y="1443930"/>
            <a:ext cx="6121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13202D"/>
                </a:solidFill>
                <a:latin typeface="IBM Plex Sans"/>
                <a:ea typeface="IBM Plex Sans"/>
                <a:cs typeface="IBM Plex Sans"/>
              </a:rPr>
              <a:t>Провера разумевања</a:t>
            </a:r>
          </a:p>
        </p:txBody>
      </p:sp>
      <p:sp>
        <p:nvSpPr>
          <p:cNvPr id="11" name="text-source-20">
            <a:extLst xmlns:a="http://schemas.openxmlformats.org/drawingml/2006/main">
              <a:ext uri="{FF2B5EF4-FFF2-40B4-BE49-F238E27FC236}">
                <a16:creationId xmlns:a16="http://schemas.microsoft.com/office/drawing/2014/main" id="{827C57C1-06E7-4B64-A583-7A5B149A9286}"/>
              </a:ext>
            </a:extLst>
          </p:cNvPr>
          <p:cNvSpPr>
            <a:spLocks xmlns:a="http://schemas.openxmlformats.org/drawingml/2006/main" noGrp="1"/>
          </p:cNvSpPr>
          <p:nvPr/>
        </p:nvSpPr>
        <p:spPr>
          <a:xfrm xmlns:a="http://schemas.openxmlformats.org/drawingml/2006/main">
            <a:off x="1219200" y="2444055"/>
            <a:ext cx="1387613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Разумевање теме подразумева објашњење одлуке и доказа независно од конкретног технолошког оквира.</a:t>
            </a:r>
          </a:p>
        </p:txBody>
      </p:sp>
      <p:sp>
        <p:nvSpPr>
          <p:cNvPr id="12" name="text-source-20">
            <a:extLst xmlns:a="http://schemas.openxmlformats.org/drawingml/2006/main">
              <a:ext uri="{FF2B5EF4-FFF2-40B4-BE49-F238E27FC236}">
                <a16:creationId xmlns:a16="http://schemas.microsoft.com/office/drawing/2014/main" id="{A4D441F7-5621-41E6-8D30-7C7115D2FE5F}"/>
              </a:ext>
            </a:extLst>
          </p:cNvPr>
          <p:cNvSpPr>
            <a:spLocks xmlns:a="http://schemas.openxmlformats.org/drawingml/2006/main" noGrp="1"/>
          </p:cNvSpPr>
          <p:nvPr/>
        </p:nvSpPr>
        <p:spPr>
          <a:xfrm xmlns:a="http://schemas.openxmlformats.org/drawingml/2006/main">
            <a:off x="1495425"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01</a:t>
            </a:r>
          </a:p>
        </p:txBody>
      </p:sp>
      <p:sp>
        <p:nvSpPr>
          <p:cNvPr id="13" name="text-source-20">
            <a:extLst xmlns:a="http://schemas.openxmlformats.org/drawingml/2006/main">
              <a:ext uri="{FF2B5EF4-FFF2-40B4-BE49-F238E27FC236}">
                <a16:creationId xmlns:a16="http://schemas.microsoft.com/office/drawing/2014/main" id="{62BF3E57-5DF5-4DA3-A92B-C8239E9481DC}"/>
              </a:ext>
            </a:extLst>
          </p:cNvPr>
          <p:cNvSpPr>
            <a:spLocks xmlns:a="http://schemas.openxmlformats.org/drawingml/2006/main" noGrp="1"/>
          </p:cNvSpPr>
          <p:nvPr/>
        </p:nvSpPr>
        <p:spPr>
          <a:xfrm xmlns:a="http://schemas.openxmlformats.org/drawingml/2006/main">
            <a:off x="1495425" y="4108847"/>
            <a:ext cx="137561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Пријава</a:t>
            </a:r>
          </a:p>
        </p:txBody>
      </p:sp>
      <p:sp>
        <p:nvSpPr>
          <p:cNvPr id="14" name="text-source-20">
            <a:extLst xmlns:a="http://schemas.openxmlformats.org/drawingml/2006/main">
              <a:ext uri="{FF2B5EF4-FFF2-40B4-BE49-F238E27FC236}">
                <a16:creationId xmlns:a16="http://schemas.microsoft.com/office/drawing/2014/main" id="{B090112F-19D3-4EA0-86FF-FF089D05A57A}"/>
              </a:ext>
            </a:extLst>
          </p:cNvPr>
          <p:cNvSpPr>
            <a:spLocks xmlns:a="http://schemas.openxmlformats.org/drawingml/2006/main" noGrp="1"/>
          </p:cNvSpPr>
          <p:nvPr/>
        </p:nvSpPr>
        <p:spPr>
          <a:xfrm xmlns:a="http://schemas.openxmlformats.org/drawingml/2006/main">
            <a:off x="1495425" y="4600277"/>
            <a:ext cx="342959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почетна потврда идентитета</a:t>
            </a:r>
          </a:p>
        </p:txBody>
      </p:sp>
      <p:sp>
        <p:nvSpPr>
          <p:cNvPr id="15" name="text-source-20">
            <a:extLst xmlns:a="http://schemas.openxmlformats.org/drawingml/2006/main">
              <a:ext uri="{FF2B5EF4-FFF2-40B4-BE49-F238E27FC236}">
                <a16:creationId xmlns:a16="http://schemas.microsoft.com/office/drawing/2014/main" id="{CD1A5BED-74E8-4972-9E9A-42C24DFCDC90}"/>
              </a:ext>
            </a:extLst>
          </p:cNvPr>
          <p:cNvSpPr>
            <a:spLocks xmlns:a="http://schemas.openxmlformats.org/drawingml/2006/main" noGrp="1"/>
          </p:cNvSpPr>
          <p:nvPr/>
        </p:nvSpPr>
        <p:spPr>
          <a:xfrm xmlns:a="http://schemas.openxmlformats.org/drawingml/2006/main">
            <a:off x="5505450"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02</a:t>
            </a:r>
          </a:p>
        </p:txBody>
      </p:sp>
      <p:sp>
        <p:nvSpPr>
          <p:cNvPr id="16" name="text-source-20">
            <a:extLst xmlns:a="http://schemas.openxmlformats.org/drawingml/2006/main">
              <a:ext uri="{FF2B5EF4-FFF2-40B4-BE49-F238E27FC236}">
                <a16:creationId xmlns:a16="http://schemas.microsoft.com/office/drawing/2014/main" id="{04C62A1F-AFB8-4BDB-88BF-A31DE177E30A}"/>
              </a:ext>
            </a:extLst>
          </p:cNvPr>
          <p:cNvSpPr>
            <a:spLocks xmlns:a="http://schemas.openxmlformats.org/drawingml/2006/main" noGrp="1"/>
          </p:cNvSpPr>
          <p:nvPr/>
        </p:nvSpPr>
        <p:spPr>
          <a:xfrm xmlns:a="http://schemas.openxmlformats.org/drawingml/2006/main">
            <a:off x="5505450" y="4108847"/>
            <a:ext cx="118169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Сесија</a:t>
            </a:r>
          </a:p>
        </p:txBody>
      </p:sp>
      <p:sp>
        <p:nvSpPr>
          <p:cNvPr id="17" name="text-source-20">
            <a:extLst xmlns:a="http://schemas.openxmlformats.org/drawingml/2006/main">
              <a:ext uri="{FF2B5EF4-FFF2-40B4-BE49-F238E27FC236}">
                <a16:creationId xmlns:a16="http://schemas.microsoft.com/office/drawing/2014/main" id="{7312116B-64A3-424F-9611-7BA4C6B9938D}"/>
              </a:ext>
            </a:extLst>
          </p:cNvPr>
          <p:cNvSpPr>
            <a:spLocks xmlns:a="http://schemas.openxmlformats.org/drawingml/2006/main" noGrp="1"/>
          </p:cNvSpPr>
          <p:nvPr/>
        </p:nvSpPr>
        <p:spPr>
          <a:xfrm xmlns:a="http://schemas.openxmlformats.org/drawingml/2006/main">
            <a:off x="5505450" y="4600277"/>
            <a:ext cx="2694831"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привремени контекст </a:t>
            </a:r>
          </a:p>
        </p:txBody>
      </p:sp>
      <p:sp>
        <p:nvSpPr>
          <p:cNvPr id="18" name="text-source-20">
            <a:extLst xmlns:a="http://schemas.openxmlformats.org/drawingml/2006/main">
              <a:ext uri="{FF2B5EF4-FFF2-40B4-BE49-F238E27FC236}">
                <a16:creationId xmlns:a16="http://schemas.microsoft.com/office/drawing/2014/main" id="{6949CB87-2D7B-46CD-8E5E-0CBB3DAEAB1C}"/>
              </a:ext>
            </a:extLst>
          </p:cNvPr>
          <p:cNvSpPr>
            <a:spLocks xmlns:a="http://schemas.openxmlformats.org/drawingml/2006/main" noGrp="1"/>
          </p:cNvSpPr>
          <p:nvPr/>
        </p:nvSpPr>
        <p:spPr>
          <a:xfrm xmlns:a="http://schemas.openxmlformats.org/drawingml/2006/main">
            <a:off x="5505450" y="4920258"/>
            <a:ext cx="133394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приступа</a:t>
            </a:r>
          </a:p>
        </p:txBody>
      </p:sp>
      <p:sp>
        <p:nvSpPr>
          <p:cNvPr id="19" name="text-source-20">
            <a:extLst xmlns:a="http://schemas.openxmlformats.org/drawingml/2006/main">
              <a:ext uri="{FF2B5EF4-FFF2-40B4-BE49-F238E27FC236}">
                <a16:creationId xmlns:a16="http://schemas.microsoft.com/office/drawing/2014/main" id="{14C75C22-620D-47A1-B301-E13D30B6DCF2}"/>
              </a:ext>
            </a:extLst>
          </p:cNvPr>
          <p:cNvSpPr>
            <a:spLocks xmlns:a="http://schemas.openxmlformats.org/drawingml/2006/main" noGrp="1"/>
          </p:cNvSpPr>
          <p:nvPr/>
        </p:nvSpPr>
        <p:spPr>
          <a:xfrm xmlns:a="http://schemas.openxmlformats.org/drawingml/2006/main">
            <a:off x="9515475"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03</a:t>
            </a:r>
          </a:p>
        </p:txBody>
      </p:sp>
      <p:sp>
        <p:nvSpPr>
          <p:cNvPr id="20" name="text-source-20">
            <a:extLst xmlns:a="http://schemas.openxmlformats.org/drawingml/2006/main">
              <a:ext uri="{FF2B5EF4-FFF2-40B4-BE49-F238E27FC236}">
                <a16:creationId xmlns:a16="http://schemas.microsoft.com/office/drawing/2014/main" id="{381FB55E-D932-4551-9862-9F6659684E60}"/>
              </a:ext>
            </a:extLst>
          </p:cNvPr>
          <p:cNvSpPr>
            <a:spLocks xmlns:a="http://schemas.openxmlformats.org/drawingml/2006/main" noGrp="1"/>
          </p:cNvSpPr>
          <p:nvPr/>
        </p:nvSpPr>
        <p:spPr>
          <a:xfrm xmlns:a="http://schemas.openxmlformats.org/drawingml/2006/main">
            <a:off x="9515475" y="4108847"/>
            <a:ext cx="258454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Додатна потврда</a:t>
            </a:r>
          </a:p>
        </p:txBody>
      </p:sp>
      <p:sp>
        <p:nvSpPr>
          <p:cNvPr id="21" name="text-source-20">
            <a:extLst xmlns:a="http://schemas.openxmlformats.org/drawingml/2006/main">
              <a:ext uri="{FF2B5EF4-FFF2-40B4-BE49-F238E27FC236}">
                <a16:creationId xmlns:a16="http://schemas.microsoft.com/office/drawing/2014/main" id="{FBEDFC10-2E87-4BB0-89A1-12861549CFCA}"/>
              </a:ext>
            </a:extLst>
          </p:cNvPr>
          <p:cNvSpPr>
            <a:spLocks xmlns:a="http://schemas.openxmlformats.org/drawingml/2006/main" noGrp="1"/>
          </p:cNvSpPr>
          <p:nvPr/>
        </p:nvSpPr>
        <p:spPr>
          <a:xfrm xmlns:a="http://schemas.openxmlformats.org/drawingml/2006/main">
            <a:off x="9515475" y="4600277"/>
            <a:ext cx="226918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за ризичну радњу</a:t>
            </a:r>
          </a:p>
        </p:txBody>
      </p:sp>
      <p:sp>
        <p:nvSpPr>
          <p:cNvPr id="22" name="text-source-20">
            <a:extLst xmlns:a="http://schemas.openxmlformats.org/drawingml/2006/main">
              <a:ext uri="{FF2B5EF4-FFF2-40B4-BE49-F238E27FC236}">
                <a16:creationId xmlns:a16="http://schemas.microsoft.com/office/drawing/2014/main" id="{176C1413-F74B-4AD8-8706-D71C5092E129}"/>
              </a:ext>
            </a:extLst>
          </p:cNvPr>
          <p:cNvSpPr>
            <a:spLocks xmlns:a="http://schemas.openxmlformats.org/drawingml/2006/main" noGrp="1"/>
          </p:cNvSpPr>
          <p:nvPr/>
        </p:nvSpPr>
        <p:spPr>
          <a:xfrm xmlns:a="http://schemas.openxmlformats.org/drawingml/2006/main">
            <a:off x="13525500" y="3407866"/>
            <a:ext cx="845939"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300">
                <a:latin typeface="IBM Plex Mono"/>
                <a:ea typeface="IBM Plex Mono"/>
                <a:cs typeface="IBM Plex Mono"/>
              </a:defRPr>
            </a:defPPr>
          </a:lstStyle>
          <a:p xmlns:a="http://schemas.openxmlformats.org/drawingml/2006/main">
            <a:pPr algn="l">
              <a:defRPr sz="3300">
                <a:latin typeface="IBM Plex Mono"/>
                <a:ea typeface="IBM Plex Mono"/>
                <a:cs typeface="IBM Plex Mono"/>
              </a:defRPr>
            </a:pPr>
            <a:r>
              <a:rPr sz="3300" b="0">
                <a:solidFill>
                  <a:srgbClr val="3A46A5"/>
                </a:solidFill>
                <a:latin typeface="IBM Plex Mono"/>
                <a:ea typeface="IBM Plex Mono"/>
                <a:cs typeface="IBM Plex Mono"/>
              </a:rPr>
              <a:t>04</a:t>
            </a:r>
          </a:p>
        </p:txBody>
      </p:sp>
      <p:sp>
        <p:nvSpPr>
          <p:cNvPr id="23" name="text-source-20">
            <a:extLst xmlns:a="http://schemas.openxmlformats.org/drawingml/2006/main">
              <a:ext uri="{FF2B5EF4-FFF2-40B4-BE49-F238E27FC236}">
                <a16:creationId xmlns:a16="http://schemas.microsoft.com/office/drawing/2014/main" id="{4B739EBA-ACCF-41B7-ACC5-685372056493}"/>
              </a:ext>
            </a:extLst>
          </p:cNvPr>
          <p:cNvSpPr>
            <a:spLocks xmlns:a="http://schemas.openxmlformats.org/drawingml/2006/main" noGrp="1"/>
          </p:cNvSpPr>
          <p:nvPr/>
        </p:nvSpPr>
        <p:spPr>
          <a:xfrm xmlns:a="http://schemas.openxmlformats.org/drawingml/2006/main">
            <a:off x="13525500" y="4108847"/>
            <a:ext cx="262145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1">
                <a:solidFill>
                  <a:srgbClr val="13202D"/>
                </a:solidFill>
                <a:latin typeface="IBM Plex Sans"/>
                <a:ea typeface="IBM Plex Sans"/>
                <a:cs typeface="IBM Plex Sans"/>
              </a:rPr>
              <a:t>Истек или опозив</a:t>
            </a:r>
          </a:p>
        </p:txBody>
      </p:sp>
      <p:sp>
        <p:nvSpPr>
          <p:cNvPr id="24" name="text-source-20">
            <a:extLst xmlns:a="http://schemas.openxmlformats.org/drawingml/2006/main">
              <a:ext uri="{FF2B5EF4-FFF2-40B4-BE49-F238E27FC236}">
                <a16:creationId xmlns:a16="http://schemas.microsoft.com/office/drawing/2014/main" id="{B75FEECD-DBED-411F-BA4B-658CE3679E01}"/>
              </a:ext>
            </a:extLst>
          </p:cNvPr>
          <p:cNvSpPr>
            <a:spLocks xmlns:a="http://schemas.openxmlformats.org/drawingml/2006/main" noGrp="1"/>
          </p:cNvSpPr>
          <p:nvPr/>
        </p:nvSpPr>
        <p:spPr>
          <a:xfrm xmlns:a="http://schemas.openxmlformats.org/drawingml/2006/main">
            <a:off x="13525500" y="4600277"/>
            <a:ext cx="3086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44505D"/>
                </a:solidFill>
                <a:latin typeface="IBM Plex Sans"/>
                <a:ea typeface="IBM Plex Sans"/>
                <a:cs typeface="IBM Plex Sans"/>
              </a:rPr>
              <a:t>прекид важења приступа</a:t>
            </a:r>
          </a:p>
        </p:txBody>
      </p:sp>
      <p:sp>
        <p:nvSpPr>
          <p:cNvPr id="25" name="text-source-20">
            <a:extLst xmlns:a="http://schemas.openxmlformats.org/drawingml/2006/main">
              <a:ext uri="{FF2B5EF4-FFF2-40B4-BE49-F238E27FC236}">
                <a16:creationId xmlns:a16="http://schemas.microsoft.com/office/drawing/2014/main" id="{1D0333B7-4DF5-45A7-B3E9-DBAE5DCB22DC}"/>
              </a:ext>
            </a:extLst>
          </p:cNvPr>
          <p:cNvSpPr>
            <a:spLocks xmlns:a="http://schemas.openxmlformats.org/drawingml/2006/main" noGrp="1"/>
          </p:cNvSpPr>
          <p:nvPr/>
        </p:nvSpPr>
        <p:spPr>
          <a:xfrm xmlns:a="http://schemas.openxmlformats.org/drawingml/2006/main">
            <a:off x="1504950" y="6011763"/>
            <a:ext cx="26747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3A46A5"/>
                </a:solidFill>
                <a:latin typeface="IBM Plex Mono"/>
                <a:ea typeface="IBM Plex Mono"/>
                <a:cs typeface="IBM Plex Mono"/>
              </a:rPr>
              <a:t>ПИТАЊЕ ЗА ПРОВЕРУ</a:t>
            </a:r>
          </a:p>
        </p:txBody>
      </p:sp>
      <p:sp>
        <p:nvSpPr>
          <p:cNvPr id="26" name="text-source-20">
            <a:extLst xmlns:a="http://schemas.openxmlformats.org/drawingml/2006/main">
              <a:ext uri="{FF2B5EF4-FFF2-40B4-BE49-F238E27FC236}">
                <a16:creationId xmlns:a16="http://schemas.microsoft.com/office/drawing/2014/main" id="{EA5B3EFF-4F10-4B51-82FE-38A2C7419AB1}"/>
              </a:ext>
            </a:extLst>
          </p:cNvPr>
          <p:cNvSpPr>
            <a:spLocks xmlns:a="http://schemas.openxmlformats.org/drawingml/2006/main" noGrp="1"/>
          </p:cNvSpPr>
          <p:nvPr/>
        </p:nvSpPr>
        <p:spPr>
          <a:xfrm xmlns:a="http://schemas.openxmlformats.org/drawingml/2006/main">
            <a:off x="1504950" y="6417469"/>
            <a:ext cx="1365230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Која радња заслужује додатну потврду идентитета и који догађај би требало да опозове постојећу сесију?</a:t>
            </a:r>
          </a:p>
        </p:txBody>
      </p:sp>
      <p:sp>
        <p:nvSpPr>
          <p:cNvPr id="27" name="text-source-20">
            <a:extLst xmlns:a="http://schemas.openxmlformats.org/drawingml/2006/main">
              <a:ext uri="{FF2B5EF4-FFF2-40B4-BE49-F238E27FC236}">
                <a16:creationId xmlns:a16="http://schemas.microsoft.com/office/drawing/2014/main" id="{BD85C787-4AE9-462F-9D9E-12688526F307}"/>
              </a:ext>
            </a:extLst>
          </p:cNvPr>
          <p:cNvSpPr>
            <a:spLocks xmlns:a="http://schemas.openxmlformats.org/drawingml/2006/main" noGrp="1"/>
          </p:cNvSpPr>
          <p:nvPr/>
        </p:nvSpPr>
        <p:spPr>
          <a:xfrm xmlns:a="http://schemas.openxmlformats.org/drawingml/2006/main">
            <a:off x="1504950" y="6790730"/>
            <a:ext cx="11873954"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100">
                <a:latin typeface="IBM Plex Sans"/>
                <a:ea typeface="IBM Plex Sans"/>
                <a:cs typeface="IBM Plex Sans"/>
              </a:defRPr>
            </a:defPPr>
          </a:lstStyle>
          <a:p xmlns:a="http://schemas.openxmlformats.org/drawingml/2006/main">
            <a:pPr algn="l">
              <a:defRPr sz="2100">
                <a:latin typeface="IBM Plex Sans"/>
                <a:ea typeface="IBM Plex Sans"/>
                <a:cs typeface="IBM Plex Sans"/>
              </a:defRPr>
            </a:pPr>
            <a:r>
              <a:rPr sz="2100" b="0">
                <a:solidFill>
                  <a:srgbClr val="44505D"/>
                </a:solidFill>
                <a:latin typeface="IBM Plex Sans"/>
                <a:ea typeface="IBM Plex Sans"/>
                <a:cs typeface="IBM Plex Sans"/>
              </a:rPr>
              <a:t>Пројектна примена: применити исти модел на једну реалну границу у сопственом пројекту.</a:t>
            </a:r>
          </a:p>
        </p:txBody>
      </p:sp>
      <p:sp>
        <p:nvSpPr>
          <p:cNvPr id="28" name="text-source-20">
            <a:extLst xmlns:a="http://schemas.openxmlformats.org/drawingml/2006/main">
              <a:ext uri="{FF2B5EF4-FFF2-40B4-BE49-F238E27FC236}">
                <a16:creationId xmlns:a16="http://schemas.microsoft.com/office/drawing/2014/main" id="{27168062-5ED7-4382-BEBB-C19D942D7D17}"/>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5E6975"/>
                </a:solidFill>
                <a:latin typeface="IBM Plex Sans"/>
                <a:ea typeface="IBM Plex Sans"/>
                <a:cs typeface="IBM Plex Sans"/>
              </a:rPr>
              <a:t>Основе информационе безбедности</a:t>
            </a:r>
          </a:p>
        </p:txBody>
      </p:sp>
      <p:sp>
        <p:nvSpPr>
          <p:cNvPr id="29" name="text-source-20">
            <a:extLst xmlns:a="http://schemas.openxmlformats.org/drawingml/2006/main">
              <a:ext uri="{FF2B5EF4-FFF2-40B4-BE49-F238E27FC236}">
                <a16:creationId xmlns:a16="http://schemas.microsoft.com/office/drawing/2014/main" id="{DADBACEE-C5AD-4ADF-AE0D-58EC5F99E5E1}"/>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5E6975"/>
                </a:solidFill>
                <a:latin typeface="IBM Plex Mono"/>
                <a:ea typeface="IBM Plex Mono"/>
                <a:cs typeface="IBM Plex Mono"/>
              </a:rPr>
              <a:t>29</a:t>
            </a:r>
          </a:p>
        </p:txBody>
      </p:sp>
    </p:spTree>
    <p:extLst>
      <p:ext uri="{BB962C8B-B14F-4D97-AF65-F5344CB8AC3E}">
        <p14:creationId xmlns:p14="http://schemas.microsoft.com/office/powerpoint/2010/main" val="1053667006"/>
      </p:ext>
    </p:extLst>
  </p:cSld>
</p:sld>
</file>

<file path=ppt/slides/slide30.xml><?xml version="1.0" encoding="utf-8"?>
<p:sld xmlns:p="http://schemas.openxmlformats.org/presentationml/2006/main">
  <p:cSld>
    <p:bg>
      <p:bgPr>
        <a:solidFill xmlns:a="http://schemas.openxmlformats.org/drawingml/2006/main">
          <a:srgbClr val="3A46A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F7D899-11E3-4633-8D41-2AED28435BAB}"/>
              </a:ext>
            </a:extLst>
          </p:cNvPr>
          <p:cNvSpPr>
            <a:spLocks xmlns:a="http://schemas.openxmlformats.org/drawingml/2006/main" noGrp="1"/>
          </p:cNvSpPr>
          <p:nvPr/>
        </p:nvSpPr>
        <p:spPr>
          <a:xfrm xmlns:a="http://schemas.openxmlformats.org/drawingml/2006/main">
            <a:off x="1219200" y="685800"/>
            <a:ext cx="685800" cy="57150"/>
          </a:xfrm>
          <a:prstGeom xmlns:a="http://schemas.openxmlformats.org/drawingml/2006/main" prst="roundRect">
            <a:avLst>
              <a:gd name="adj" fmla="val 50000"/>
            </a:avLst>
          </a:prstGeom>
          <a:solidFill xmlns:a="http://schemas.openxmlformats.org/drawingml/2006/main">
            <a:srgbClr val="E3E5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909E81-CC99-4C0E-AC12-FA38199C1BDA}"/>
              </a:ext>
            </a:extLst>
          </p:cNvPr>
          <p:cNvSpPr>
            <a:spLocks xmlns:a="http://schemas.openxmlformats.org/drawingml/2006/main" noGrp="1"/>
          </p:cNvSpPr>
          <p:nvPr/>
        </p:nvSpPr>
        <p:spPr>
          <a:xfrm xmlns:a="http://schemas.openxmlformats.org/drawingml/2006/main">
            <a:off x="1219200" y="9309795"/>
            <a:ext cx="15849600" cy="9525"/>
          </a:xfrm>
          <a:prstGeom xmlns:a="http://schemas.openxmlformats.org/drawingml/2006/main" prst="rect">
            <a:avLst/>
          </a:prstGeom>
          <a:solidFill xmlns:a="http://schemas.openxmlformats.org/drawingml/2006/main">
            <a:srgbClr val="656FB9"/>
          </a:solidFill>
          <a:ln xmlns:a="http://schemas.openxmlformats.org/drawingml/2006/main" w="0">
            <a:noFill/>
          </a:ln>
        </p:spPr>
      </p:sp>
      <p:sp>
        <p:nvSpPr>
          <p:cNvPr id="3" name="text-rezime">
            <a:extLst xmlns:a="http://schemas.openxmlformats.org/drawingml/2006/main">
              <a:ext uri="{FF2B5EF4-FFF2-40B4-BE49-F238E27FC236}">
                <a16:creationId xmlns:a16="http://schemas.microsoft.com/office/drawing/2014/main" id="{8331FF52-5EC0-4238-A289-1019073B00A1}"/>
              </a:ext>
            </a:extLst>
          </p:cNvPr>
          <p:cNvSpPr>
            <a:spLocks xmlns:a="http://schemas.openxmlformats.org/drawingml/2006/main" noGrp="1"/>
          </p:cNvSpPr>
          <p:nvPr/>
        </p:nvSpPr>
        <p:spPr>
          <a:xfrm xmlns:a="http://schemas.openxmlformats.org/drawingml/2006/main">
            <a:off x="1219200" y="1066800"/>
            <a:ext cx="128022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E3E5F2"/>
                </a:solidFill>
                <a:latin typeface="IBM Plex Mono"/>
                <a:ea typeface="IBM Plex Mono"/>
                <a:cs typeface="IBM Plex Mono"/>
              </a:rPr>
              <a:t>РЕЗИМЕ</a:t>
            </a:r>
          </a:p>
        </p:txBody>
      </p:sp>
      <p:sp>
        <p:nvSpPr>
          <p:cNvPr id="4" name="heading-rezime">
            <a:extLst xmlns:a="http://schemas.openxmlformats.org/drawingml/2006/main">
              <a:ext uri="{FF2B5EF4-FFF2-40B4-BE49-F238E27FC236}">
                <a16:creationId xmlns:a16="http://schemas.microsoft.com/office/drawing/2014/main" id="{BD4B4409-D8A3-4A17-A466-5F891E066974}"/>
              </a:ext>
            </a:extLst>
          </p:cNvPr>
          <p:cNvSpPr>
            <a:spLocks xmlns:a="http://schemas.openxmlformats.org/drawingml/2006/main" noGrp="1"/>
          </p:cNvSpPr>
          <p:nvPr/>
        </p:nvSpPr>
        <p:spPr>
          <a:xfrm xmlns:a="http://schemas.openxmlformats.org/drawingml/2006/main">
            <a:off x="1219200" y="1443930"/>
            <a:ext cx="9298037"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9471"/>
          </a:bodyPr>
          <a:lstStyle xmlns:a="http://schemas.openxmlformats.org/drawingml/2006/main">
            <a:defPPr algn="l">
              <a:defRPr sz="4500">
                <a:latin typeface="IBM Plex Sans"/>
                <a:ea typeface="IBM Plex Sans"/>
                <a:cs typeface="IBM Plex Sans"/>
              </a:defRPr>
            </a:defPPr>
          </a:lstStyle>
          <a:p xmlns:a="http://schemas.openxmlformats.org/drawingml/2006/main">
            <a:pPr algn="l">
              <a:defRPr sz="4500">
                <a:latin typeface="IBM Plex Sans"/>
                <a:ea typeface="IBM Plex Sans"/>
                <a:cs typeface="IBM Plex Sans"/>
              </a:defRPr>
            </a:pPr>
            <a:r>
              <a:rPr sz="4500" b="1">
                <a:solidFill>
                  <a:srgbClr val="F6F7F5"/>
                </a:solidFill>
                <a:latin typeface="IBM Plex Sans"/>
                <a:ea typeface="IBM Plex Sans"/>
                <a:cs typeface="IBM Plex Sans"/>
              </a:rPr>
              <a:t>Поверење има рок, опсег и доказ</a:t>
            </a:r>
          </a:p>
        </p:txBody>
      </p:sp>
      <p:sp>
        <p:nvSpPr>
          <p:cNvPr id="5" name="text-rezime">
            <a:extLst xmlns:a="http://schemas.openxmlformats.org/drawingml/2006/main">
              <a:ext uri="{FF2B5EF4-FFF2-40B4-BE49-F238E27FC236}">
                <a16:creationId xmlns:a16="http://schemas.microsoft.com/office/drawing/2014/main" id="{FA7C0BED-F299-444C-BC73-00299CB76C2D}"/>
              </a:ext>
            </a:extLst>
          </p:cNvPr>
          <p:cNvSpPr>
            <a:spLocks xmlns:a="http://schemas.openxmlformats.org/drawingml/2006/main" noGrp="1"/>
          </p:cNvSpPr>
          <p:nvPr/>
        </p:nvSpPr>
        <p:spPr>
          <a:xfrm xmlns:a="http://schemas.openxmlformats.org/drawingml/2006/main">
            <a:off x="1219200" y="2453580"/>
            <a:ext cx="1252433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000">
                <a:latin typeface="IBM Plex Sans"/>
                <a:ea typeface="IBM Plex Sans"/>
                <a:cs typeface="IBM Plex Sans"/>
              </a:defRPr>
            </a:defPPr>
          </a:lstStyle>
          <a:p xmlns:a="http://schemas.openxmlformats.org/drawingml/2006/main">
            <a:pPr algn="l">
              <a:defRPr sz="3000">
                <a:latin typeface="IBM Plex Sans"/>
                <a:ea typeface="IBM Plex Sans"/>
                <a:cs typeface="IBM Plex Sans"/>
              </a:defRPr>
            </a:pPr>
            <a:r>
              <a:rPr sz="3000" b="1">
                <a:solidFill>
                  <a:srgbClr val="F6F7F5"/>
                </a:solidFill>
                <a:latin typeface="IBM Plex Sans"/>
                <a:ea typeface="IBM Plex Sans"/>
                <a:cs typeface="IBM Plex Sans"/>
              </a:rPr>
              <a:t>Пријава → сесија → ризична радња → додатна потврда → опозив</a:t>
            </a:r>
          </a:p>
        </p:txBody>
      </p:sp>
      <p:sp>
        <p:nvSpPr>
          <p:cNvPr id="6" name="text-rezime">
            <a:extLst xmlns:a="http://schemas.openxmlformats.org/drawingml/2006/main">
              <a:ext uri="{FF2B5EF4-FFF2-40B4-BE49-F238E27FC236}">
                <a16:creationId xmlns:a16="http://schemas.microsoft.com/office/drawing/2014/main" id="{D7825BA4-DE5F-4114-A315-19145065D609}"/>
              </a:ext>
            </a:extLst>
          </p:cNvPr>
          <p:cNvSpPr>
            <a:spLocks xmlns:a="http://schemas.openxmlformats.org/drawingml/2006/main" noGrp="1"/>
          </p:cNvSpPr>
          <p:nvPr/>
        </p:nvSpPr>
        <p:spPr>
          <a:xfrm xmlns:a="http://schemas.openxmlformats.org/drawingml/2006/main">
            <a:off x="1219200" y="3444180"/>
            <a:ext cx="14073039"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000">
                <a:latin typeface="IBM Plex Sans"/>
                <a:ea typeface="IBM Plex Sans"/>
                <a:cs typeface="IBM Plex Sans"/>
              </a:defRPr>
            </a:defPPr>
          </a:lstStyle>
          <a:p xmlns:a="http://schemas.openxmlformats.org/drawingml/2006/main">
            <a:pPr algn="l">
              <a:defRPr sz="3000">
                <a:latin typeface="IBM Plex Sans"/>
                <a:ea typeface="IBM Plex Sans"/>
                <a:cs typeface="IBM Plex Sans"/>
              </a:defRPr>
            </a:pPr>
            <a:r>
              <a:rPr sz="3000" b="0">
                <a:solidFill>
                  <a:srgbClr val="E3E5F2"/>
                </a:solidFill>
                <a:latin typeface="IBM Plex Sans"/>
                <a:ea typeface="IBM Plex Sans"/>
                <a:cs typeface="IBM Plex Sans"/>
              </a:rPr>
              <a:t>Сервер проверава важење и контекст приступа. Сервисни идентитет добија </a:t>
            </a:r>
          </a:p>
        </p:txBody>
      </p:sp>
      <p:sp>
        <p:nvSpPr>
          <p:cNvPr id="7" name="text-rezime">
            <a:extLst xmlns:a="http://schemas.openxmlformats.org/drawingml/2006/main">
              <a:ext uri="{FF2B5EF4-FFF2-40B4-BE49-F238E27FC236}">
                <a16:creationId xmlns:a16="http://schemas.microsoft.com/office/drawing/2014/main" id="{55A58472-9AAA-4467-81E4-9A1E5A52437C}"/>
              </a:ext>
            </a:extLst>
          </p:cNvPr>
          <p:cNvSpPr>
            <a:spLocks xmlns:a="http://schemas.openxmlformats.org/drawingml/2006/main" noGrp="1"/>
          </p:cNvSpPr>
          <p:nvPr/>
        </p:nvSpPr>
        <p:spPr>
          <a:xfrm xmlns:a="http://schemas.openxmlformats.org/drawingml/2006/main">
            <a:off x="1219200" y="3977580"/>
            <a:ext cx="12051506"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3000">
                <a:latin typeface="IBM Plex Sans"/>
                <a:ea typeface="IBM Plex Sans"/>
                <a:cs typeface="IBM Plex Sans"/>
              </a:defRPr>
            </a:defPPr>
          </a:lstStyle>
          <a:p xmlns:a="http://schemas.openxmlformats.org/drawingml/2006/main">
            <a:pPr algn="l">
              <a:defRPr sz="3000">
                <a:latin typeface="IBM Plex Sans"/>
                <a:ea typeface="IBM Plex Sans"/>
                <a:cs typeface="IBM Plex Sans"/>
              </a:defRPr>
            </a:pPr>
            <a:r>
              <a:rPr sz="3000" b="0">
                <a:solidFill>
                  <a:srgbClr val="E3E5F2"/>
                </a:solidFill>
                <a:latin typeface="IBM Plex Sans"/>
                <a:ea typeface="IBM Plex Sans"/>
                <a:cs typeface="IBM Plex Sans"/>
              </a:rPr>
              <a:t>само потребан опсег и тајну са управљаним животним циклусом.</a:t>
            </a:r>
          </a:p>
        </p:txBody>
      </p:sp>
      <p:sp>
        <p:nvSpPr>
          <p:cNvPr id="8" name="text-rezime">
            <a:extLst xmlns:a="http://schemas.openxmlformats.org/drawingml/2006/main">
              <a:ext uri="{FF2B5EF4-FFF2-40B4-BE49-F238E27FC236}">
                <a16:creationId xmlns:a16="http://schemas.microsoft.com/office/drawing/2014/main" id="{73F9F74C-547F-463E-B7D9-AEEF50829234}"/>
              </a:ext>
            </a:extLst>
          </p:cNvPr>
          <p:cNvSpPr>
            <a:spLocks xmlns:a="http://schemas.openxmlformats.org/drawingml/2006/main" noGrp="1"/>
          </p:cNvSpPr>
          <p:nvPr/>
        </p:nvSpPr>
        <p:spPr>
          <a:xfrm xmlns:a="http://schemas.openxmlformats.org/drawingml/2006/main">
            <a:off x="1219200" y="4958655"/>
            <a:ext cx="781794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2400">
                <a:latin typeface="IBM Plex Sans"/>
                <a:ea typeface="IBM Plex Sans"/>
                <a:cs typeface="IBM Plex Sans"/>
              </a:defRPr>
            </a:defPPr>
          </a:lstStyle>
          <a:p xmlns:a="http://schemas.openxmlformats.org/drawingml/2006/main">
            <a:pPr algn="l">
              <a:defRPr sz="2400">
                <a:latin typeface="IBM Plex Sans"/>
                <a:ea typeface="IBM Plex Sans"/>
                <a:cs typeface="IBM Plex Sans"/>
              </a:defRPr>
            </a:pPr>
            <a:r>
              <a:rPr sz="2400" b="0">
                <a:solidFill>
                  <a:srgbClr val="E3E5F2"/>
                </a:solidFill>
                <a:latin typeface="IBM Plex Sans"/>
                <a:ea typeface="IBM Plex Sans"/>
                <a:cs typeface="IBM Plex Sans"/>
              </a:rPr>
              <a:t>Тест и запис доказују исход, без објављивања тајне.</a:t>
            </a:r>
          </a:p>
        </p:txBody>
      </p:sp>
      <p:sp>
        <p:nvSpPr>
          <p:cNvPr id="9" name="text-rezime">
            <a:extLst xmlns:a="http://schemas.openxmlformats.org/drawingml/2006/main">
              <a:ext uri="{FF2B5EF4-FFF2-40B4-BE49-F238E27FC236}">
                <a16:creationId xmlns:a16="http://schemas.microsoft.com/office/drawing/2014/main" id="{906201B1-8460-4D48-9C74-F4914A988B6A}"/>
              </a:ext>
            </a:extLst>
          </p:cNvPr>
          <p:cNvSpPr>
            <a:spLocks xmlns:a="http://schemas.openxmlformats.org/drawingml/2006/main" noGrp="1"/>
          </p:cNvSpPr>
          <p:nvPr/>
        </p:nvSpPr>
        <p:spPr>
          <a:xfrm xmlns:a="http://schemas.openxmlformats.org/drawingml/2006/main">
            <a:off x="1219200" y="9471720"/>
            <a:ext cx="426571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Sans"/>
                <a:ea typeface="IBM Plex Sans"/>
                <a:cs typeface="IBM Plex Sans"/>
              </a:defRPr>
            </a:defPPr>
          </a:lstStyle>
          <a:p xmlns:a="http://schemas.openxmlformats.org/drawingml/2006/main">
            <a:pPr algn="l">
              <a:defRPr sz="1800">
                <a:latin typeface="IBM Plex Sans"/>
                <a:ea typeface="IBM Plex Sans"/>
                <a:cs typeface="IBM Plex Sans"/>
              </a:defRPr>
            </a:pPr>
            <a:r>
              <a:rPr sz="1800" b="0">
                <a:solidFill>
                  <a:srgbClr val="E3E5F2"/>
                </a:solidFill>
                <a:latin typeface="IBM Plex Sans"/>
                <a:ea typeface="IBM Plex Sans"/>
                <a:cs typeface="IBM Plex Sans"/>
              </a:rPr>
              <a:t>Основе информационе безбедности</a:t>
            </a:r>
          </a:p>
        </p:txBody>
      </p:sp>
      <p:sp>
        <p:nvSpPr>
          <p:cNvPr id="10" name="text-rezime">
            <a:extLst xmlns:a="http://schemas.openxmlformats.org/drawingml/2006/main">
              <a:ext uri="{FF2B5EF4-FFF2-40B4-BE49-F238E27FC236}">
                <a16:creationId xmlns:a16="http://schemas.microsoft.com/office/drawing/2014/main" id="{995023FA-2017-491B-A268-046A8018F2F9}"/>
              </a:ext>
            </a:extLst>
          </p:cNvPr>
          <p:cNvSpPr>
            <a:spLocks xmlns:a="http://schemas.openxmlformats.org/drawingml/2006/main" noGrp="1"/>
          </p:cNvSpPr>
          <p:nvPr/>
        </p:nvSpPr>
        <p:spPr>
          <a:xfrm xmlns:a="http://schemas.openxmlformats.org/drawingml/2006/main">
            <a:off x="16794361" y="9471720"/>
            <a:ext cx="61733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800">
                <a:latin typeface="IBM Plex Mono"/>
                <a:ea typeface="IBM Plex Mono"/>
                <a:cs typeface="IBM Plex Mono"/>
              </a:defRPr>
            </a:defPPr>
          </a:lstStyle>
          <a:p xmlns:a="http://schemas.openxmlformats.org/drawingml/2006/main">
            <a:pPr algn="l">
              <a:defRPr sz="1800">
                <a:latin typeface="IBM Plex Mono"/>
                <a:ea typeface="IBM Plex Mono"/>
                <a:cs typeface="IBM Plex Mono"/>
              </a:defRPr>
            </a:pPr>
            <a:r>
              <a:rPr sz="1800" b="0">
                <a:solidFill>
                  <a:srgbClr val="E3E5F2"/>
                </a:solidFill>
                <a:latin typeface="IBM Plex Mono"/>
                <a:ea typeface="IBM Plex Mono"/>
                <a:cs typeface="IBM Plex Mono"/>
              </a:rPr>
              <a:t>30</a:t>
            </a:r>
          </a:p>
        </p:txBody>
      </p:sp>
    </p:spTree>
    <p:extLst>
      <p:ext uri="{BB962C8B-B14F-4D97-AF65-F5344CB8AC3E}">
        <p14:creationId xmlns:p14="http://schemas.microsoft.com/office/powerpoint/2010/main" val="1769387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2026-10-09T20:36:54.7020000Z</dcterms:created>
  <dcterms:modified xsi:type="dcterms:W3CDTF">2026-10-09T20:36:54.7020000Z</dcterms:modified>
</coreProperties>
</file>