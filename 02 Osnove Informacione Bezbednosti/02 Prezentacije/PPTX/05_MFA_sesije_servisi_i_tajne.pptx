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6295bd2e69c465d" /><Relationship Type="http://schemas.openxmlformats.org/officeDocument/2006/relationships/extended-properties" Target="/docProps/app.xml" Id="R534ca80397c44b5a" /><Relationship Type="http://schemas.openxmlformats.org/officeDocument/2006/relationships/officeDocument" Target="/ppt/presentation.xml" Id="R244d8f0f752a4b28" /></Relationships>
</file>

<file path=ppt/presentation.xml><?xml version="1.0" encoding="utf-8"?>
<p:presentation xmlns:p="http://schemas.openxmlformats.org/presentationml/2006/main">
  <p:sldMasterIdLst>
    <p:sldMasterId xmlns:r="http://schemas.openxmlformats.org/officeDocument/2006/relationships" id="2147483648" r:id="Rf1ceff2a462844a8"/>
  </p:sldMasterIdLst>
  <p:notesMasterIdLst>
    <p:notesMasterId xmlns:r="http://schemas.openxmlformats.org/officeDocument/2006/relationships" r:id="Rfa7b4802bf6c4f67"/>
  </p:notesMasterIdLst>
  <p:sldIdLst>
    <p:sldId xmlns:r="http://schemas.openxmlformats.org/officeDocument/2006/relationships" id="256" r:id="R1a48c272e7924d6d"/>
    <p:sldId xmlns:r="http://schemas.openxmlformats.org/officeDocument/2006/relationships" id="257" r:id="R5225b9e576674cd4"/>
    <p:sldId xmlns:r="http://schemas.openxmlformats.org/officeDocument/2006/relationships" id="258" r:id="R6c7c7a5de2124d3a"/>
    <p:sldId xmlns:r="http://schemas.openxmlformats.org/officeDocument/2006/relationships" id="259" r:id="R0e7715d9769f4a07"/>
    <p:sldId xmlns:r="http://schemas.openxmlformats.org/officeDocument/2006/relationships" id="260" r:id="R8e0be0cc5d9141b0"/>
    <p:sldId xmlns:r="http://schemas.openxmlformats.org/officeDocument/2006/relationships" id="261" r:id="R6eb0c63257994efd"/>
    <p:sldId xmlns:r="http://schemas.openxmlformats.org/officeDocument/2006/relationships" id="262" r:id="Rff384db658614983"/>
    <p:sldId xmlns:r="http://schemas.openxmlformats.org/officeDocument/2006/relationships" id="263" r:id="R6eab3ee0977f4d18"/>
    <p:sldId xmlns:r="http://schemas.openxmlformats.org/officeDocument/2006/relationships" id="264" r:id="R31fe072253384aaf"/>
    <p:sldId xmlns:r="http://schemas.openxmlformats.org/officeDocument/2006/relationships" id="265" r:id="R3fc0e34b5b294240"/>
    <p:sldId xmlns:r="http://schemas.openxmlformats.org/officeDocument/2006/relationships" id="266" r:id="Rbec2651a2fb042ba"/>
    <p:sldId xmlns:r="http://schemas.openxmlformats.org/officeDocument/2006/relationships" id="267" r:id="R0dcedd0fc5e84475"/>
    <p:sldId xmlns:r="http://schemas.openxmlformats.org/officeDocument/2006/relationships" id="268" r:id="R622d00ff553a491a"/>
    <p:sldId xmlns:r="http://schemas.openxmlformats.org/officeDocument/2006/relationships" id="269" r:id="R2a0068a2debc4add"/>
    <p:sldId xmlns:r="http://schemas.openxmlformats.org/officeDocument/2006/relationships" id="270" r:id="R093569675706457c"/>
    <p:sldId xmlns:r="http://schemas.openxmlformats.org/officeDocument/2006/relationships" id="271" r:id="R01d3dd31baa1460f"/>
    <p:sldId xmlns:r="http://schemas.openxmlformats.org/officeDocument/2006/relationships" id="272" r:id="R2599e765eb0a44f8"/>
    <p:sldId xmlns:r="http://schemas.openxmlformats.org/officeDocument/2006/relationships" id="273" r:id="R741788537f7f4b27"/>
    <p:sldId xmlns:r="http://schemas.openxmlformats.org/officeDocument/2006/relationships" id="274" r:id="R74b6eb6c1a7243c0"/>
    <p:sldId xmlns:r="http://schemas.openxmlformats.org/officeDocument/2006/relationships" id="275" r:id="Rbac067b5c61b447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f81de01f97e249de" /><Relationship Type="http://schemas.openxmlformats.org/officeDocument/2006/relationships/slideMaster" Target="/ppt/slideMasters/slideMaster1.xml" Id="Rf1ceff2a462844a8" /><Relationship Type="http://schemas.openxmlformats.org/officeDocument/2006/relationships/notesMaster" Target="/ppt/notesMasters/notesMaster1.xml" Id="Rfa7b4802bf6c4f67" /><Relationship Type="http://schemas.openxmlformats.org/officeDocument/2006/relationships/presProps" Target="/ppt/presProps.xml" Id="R90a53cd26d814672" /><Relationship Type="http://schemas.openxmlformats.org/officeDocument/2006/relationships/viewProps" Target="/ppt/viewProps.xml" Id="R3989007264ba4f66" /><Relationship Type="http://schemas.openxmlformats.org/officeDocument/2006/relationships/tableStyles" Target="/ppt/tableStyles.xml" Id="R15f2c18895314114" /><Relationship Type="http://schemas.openxmlformats.org/officeDocument/2006/relationships/slide" Target="/ppt/slides/slide1.xml" Id="R1a48c272e7924d6d" /><Relationship Type="http://schemas.openxmlformats.org/officeDocument/2006/relationships/slide" Target="/ppt/slides/slide2.xml" Id="R5225b9e576674cd4" /><Relationship Type="http://schemas.openxmlformats.org/officeDocument/2006/relationships/slide" Target="/ppt/slides/slide3.xml" Id="R6c7c7a5de2124d3a" /><Relationship Type="http://schemas.openxmlformats.org/officeDocument/2006/relationships/slide" Target="/ppt/slides/slide4.xml" Id="R0e7715d9769f4a07" /><Relationship Type="http://schemas.openxmlformats.org/officeDocument/2006/relationships/slide" Target="/ppt/slides/slide5.xml" Id="R8e0be0cc5d9141b0" /><Relationship Type="http://schemas.openxmlformats.org/officeDocument/2006/relationships/slide" Target="/ppt/slides/slide6.xml" Id="R6eb0c63257994efd" /><Relationship Type="http://schemas.openxmlformats.org/officeDocument/2006/relationships/slide" Target="/ppt/slides/slide7.xml" Id="Rff384db658614983" /><Relationship Type="http://schemas.openxmlformats.org/officeDocument/2006/relationships/slide" Target="/ppt/slides/slide8.xml" Id="R6eab3ee0977f4d18" /><Relationship Type="http://schemas.openxmlformats.org/officeDocument/2006/relationships/slide" Target="/ppt/slides/slide9.xml" Id="R31fe072253384aaf" /><Relationship Type="http://schemas.openxmlformats.org/officeDocument/2006/relationships/slide" Target="/ppt/slides/slide10.xml" Id="R3fc0e34b5b294240" /><Relationship Type="http://schemas.openxmlformats.org/officeDocument/2006/relationships/slide" Target="/ppt/slides/slide11.xml" Id="Rbec2651a2fb042ba" /><Relationship Type="http://schemas.openxmlformats.org/officeDocument/2006/relationships/slide" Target="/ppt/slides/slide12.xml" Id="R0dcedd0fc5e84475" /><Relationship Type="http://schemas.openxmlformats.org/officeDocument/2006/relationships/slide" Target="/ppt/slides/slide13.xml" Id="R622d00ff553a491a" /><Relationship Type="http://schemas.openxmlformats.org/officeDocument/2006/relationships/slide" Target="/ppt/slides/slide14.xml" Id="R2a0068a2debc4add" /><Relationship Type="http://schemas.openxmlformats.org/officeDocument/2006/relationships/slide" Target="/ppt/slides/slide15.xml" Id="R093569675706457c" /><Relationship Type="http://schemas.openxmlformats.org/officeDocument/2006/relationships/slide" Target="/ppt/slides/slide16.xml" Id="R01d3dd31baa1460f" /><Relationship Type="http://schemas.openxmlformats.org/officeDocument/2006/relationships/slide" Target="/ppt/slides/slide17.xml" Id="R2599e765eb0a44f8" /><Relationship Type="http://schemas.openxmlformats.org/officeDocument/2006/relationships/slide" Target="/ppt/slides/slide18.xml" Id="R741788537f7f4b27" /><Relationship Type="http://schemas.openxmlformats.org/officeDocument/2006/relationships/slide" Target="/ppt/slides/slide19.xml" Id="R74b6eb6c1a7243c0" /><Relationship Type="http://schemas.openxmlformats.org/officeDocument/2006/relationships/slide" Target="/ppt/slides/slide20.xml" Id="Rbac067b5c61b447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9e9b6f5b724489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a9f12764fde4066" /><Relationship Type="http://schemas.openxmlformats.org/officeDocument/2006/relationships/notesMaster" Target="/ppt/notesMasters/notesMaster1.xml" Id="Reff0ed4ee50741e3" /></Relationships>
</file>

<file path=ppt/notesSlides/_rels/notesSlide2.xml.rels>&#65279;<?xml version="1.0" encoding="utf-8"?><Relationships xmlns="http://schemas.openxmlformats.org/package/2006/relationships"><Relationship Type="http://schemas.openxmlformats.org/officeDocument/2006/relationships/slide" Target="/ppt/slides/slide2.xml" Id="R1cf4c8e98f674268" /><Relationship Type="http://schemas.openxmlformats.org/officeDocument/2006/relationships/notesMaster" Target="/ppt/notesMasters/notesMaster1.xml" Id="R0323835ec1e64833" /></Relationships>
</file>

<file path=ppt/notesSlides/_rels/notesSlide3.xml.rels>&#65279;<?xml version="1.0" encoding="utf-8"?><Relationships xmlns="http://schemas.openxmlformats.org/package/2006/relationships"><Relationship Type="http://schemas.openxmlformats.org/officeDocument/2006/relationships/slide" Target="/ppt/slides/slide3.xml" Id="Re0a859970e344530" /><Relationship Type="http://schemas.openxmlformats.org/officeDocument/2006/relationships/notesMaster" Target="/ppt/notesMasters/notesMaster1.xml" Id="R3510f17635e6483c" /></Relationships>
</file>

<file path=ppt/notesSlides/_rels/notesSlide4.xml.rels>&#65279;<?xml version="1.0" encoding="utf-8"?><Relationships xmlns="http://schemas.openxmlformats.org/package/2006/relationships"><Relationship Type="http://schemas.openxmlformats.org/officeDocument/2006/relationships/slide" Target="/ppt/slides/slide4.xml" Id="R55c2a06e95844168" /><Relationship Type="http://schemas.openxmlformats.org/officeDocument/2006/relationships/notesMaster" Target="/ppt/notesMasters/notesMaster1.xml" Id="R9a2e2d90256947a1" /></Relationships>
</file>

<file path=ppt/notesSlides/_rels/notesSlide5.xml.rels>&#65279;<?xml version="1.0" encoding="utf-8"?><Relationships xmlns="http://schemas.openxmlformats.org/package/2006/relationships"><Relationship Type="http://schemas.openxmlformats.org/officeDocument/2006/relationships/slide" Target="/ppt/slides/slide5.xml" Id="R1c2344d71b53436c" /><Relationship Type="http://schemas.openxmlformats.org/officeDocument/2006/relationships/notesMaster" Target="/ppt/notesMasters/notesMaster1.xml" Id="R8a68c916914045be" /></Relationships>
</file>

<file path=ppt/notesSlides/_rels/notesSlide6.xml.rels>&#65279;<?xml version="1.0" encoding="utf-8"?><Relationships xmlns="http://schemas.openxmlformats.org/package/2006/relationships"><Relationship Type="http://schemas.openxmlformats.org/officeDocument/2006/relationships/slide" Target="/ppt/slides/slide6.xml" Id="R310fb6d324fd40ba" /><Relationship Type="http://schemas.openxmlformats.org/officeDocument/2006/relationships/notesMaster" Target="/ppt/notesMasters/notesMaster1.xml" Id="Rc9e13adda794405c" /></Relationships>
</file>

<file path=ppt/notesSlides/_rels/notesSlide7.xml.rels>&#65279;<?xml version="1.0" encoding="utf-8"?><Relationships xmlns="http://schemas.openxmlformats.org/package/2006/relationships"><Relationship Type="http://schemas.openxmlformats.org/officeDocument/2006/relationships/slide" Target="/ppt/slides/slide7.xml" Id="Rfe7cf56a56b64222" /><Relationship Type="http://schemas.openxmlformats.org/officeDocument/2006/relationships/notesMaster" Target="/ppt/notesMasters/notesMaster1.xml" Id="R6a4921b0d70e4061" /></Relationships>
</file>

<file path=ppt/notesSlides/_rels/notesSlide8.xml.rels>&#65279;<?xml version="1.0" encoding="utf-8"?><Relationships xmlns="http://schemas.openxmlformats.org/package/2006/relationships"><Relationship Type="http://schemas.openxmlformats.org/officeDocument/2006/relationships/slide" Target="/ppt/slides/slide8.xml" Id="R8a60431ed0374809" /><Relationship Type="http://schemas.openxmlformats.org/officeDocument/2006/relationships/notesMaster" Target="/ppt/notesMasters/notesMaster1.xml" Id="Rd92c42cb85944a94" /></Relationships>
</file>

<file path=ppt/notesSlides/_rels/notesSlide9.xml.rels>&#65279;<?xml version="1.0" encoding="utf-8"?><Relationships xmlns="http://schemas.openxmlformats.org/package/2006/relationships"><Relationship Type="http://schemas.openxmlformats.org/officeDocument/2006/relationships/slide" Target="/ppt/slides/slide9.xml" Id="Ra00c884d93df4640" /><Relationship Type="http://schemas.openxmlformats.org/officeDocument/2006/relationships/notesMaster" Target="/ppt/notesMasters/notesMaster1.xml" Id="Rf1c478fa75e7448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ee140b60c9e42a8" /><Relationship Type="http://schemas.openxmlformats.org/officeDocument/2006/relationships/notesMaster" Target="/ppt/notesMasters/notesMaster1.xml" Id="R2a3b56d347bc4cb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82c40a47f104fdf" /><Relationship Type="http://schemas.openxmlformats.org/officeDocument/2006/relationships/notesMaster" Target="/ppt/notesMasters/notesMaster1.xml" Id="R7966328a3eca4c8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3630b56ed5844c0" /><Relationship Type="http://schemas.openxmlformats.org/officeDocument/2006/relationships/notesMaster" Target="/ppt/notesMasters/notesMaster1.xml" Id="R01eac224dc554c3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c9877bfba47482d" /><Relationship Type="http://schemas.openxmlformats.org/officeDocument/2006/relationships/notesMaster" Target="/ppt/notesMasters/notesMaster1.xml" Id="Re907fd26c4b0466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cefeb705a594ca7" /><Relationship Type="http://schemas.openxmlformats.org/officeDocument/2006/relationships/notesMaster" Target="/ppt/notesMasters/notesMaster1.xml" Id="R5a7c20c96c5f4cb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60fa8888220416c" /><Relationship Type="http://schemas.openxmlformats.org/officeDocument/2006/relationships/notesMaster" Target="/ppt/notesMasters/notesMaster1.xml" Id="R0848592cecdf404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34224351dc64874" /><Relationship Type="http://schemas.openxmlformats.org/officeDocument/2006/relationships/notesMaster" Target="/ppt/notesMasters/notesMaster1.xml" Id="R24baaf0b8305496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6be16dce4104de9" /><Relationship Type="http://schemas.openxmlformats.org/officeDocument/2006/relationships/notesMaster" Target="/ppt/notesMasters/notesMaster1.xml" Id="R8c9384af1d7b40a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3fa9e438b3c4ced" /><Relationship Type="http://schemas.openxmlformats.org/officeDocument/2006/relationships/notesMaster" Target="/ppt/notesMasters/notesMaster1.xml" Id="Rc2f80ea03968492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179f607c0bb48c7" /><Relationship Type="http://schemas.openxmlformats.org/officeDocument/2006/relationships/notesMaster" Target="/ppt/notesMasters/notesMaster1.xml" Id="R08fb43b862ea4e2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7990393ba5c4c80" /><Relationship Type="http://schemas.openxmlformats.org/officeDocument/2006/relationships/notesMaster" Target="/ppt/notesMasters/notesMaster1.xml" Id="Rb1a2fffe6c3b48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73d65f32ed84d3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58ccd72889a499d" /><Relationship Type="http://schemas.openxmlformats.org/officeDocument/2006/relationships/slideLayout" Target="/ppt/slideLayouts/slideLayout1.xml" Id="Rba1e548d7bd44c4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a1e548d7bd44c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20c407af68d41cc" /><Relationship Type="http://schemas.openxmlformats.org/officeDocument/2006/relationships/notesSlide" Target="/ppt/notesSlides/notesSlide1.xml" Id="Rac7bcdece4d4457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c071bfa2e6c4b45" /><Relationship Type="http://schemas.openxmlformats.org/officeDocument/2006/relationships/notesSlide" Target="/ppt/notesSlides/notesSlide2.xml" Id="Rf33b8e3d5298478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a6b8d91ceca4ae2" /><Relationship Type="http://schemas.openxmlformats.org/officeDocument/2006/relationships/notesSlide" Target="/ppt/notesSlides/notesSlide3.xml" Id="R1bb86879278940f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fc89ff054e3449e" /><Relationship Type="http://schemas.openxmlformats.org/officeDocument/2006/relationships/notesSlide" Target="/ppt/notesSlides/notesSlide4.xml" Id="Rd7a0888f72b4485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645bafaa7e74de5" /><Relationship Type="http://schemas.openxmlformats.org/officeDocument/2006/relationships/notesSlide" Target="/ppt/notesSlides/notesSlide5.xml" Id="R0e7a5dbe595e481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e8ca236fe774d39" /><Relationship Type="http://schemas.openxmlformats.org/officeDocument/2006/relationships/notesSlide" Target="/ppt/notesSlides/notesSlide6.xml" Id="R8985831561af429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83fcce9887f4464" /><Relationship Type="http://schemas.openxmlformats.org/officeDocument/2006/relationships/notesSlide" Target="/ppt/notesSlides/notesSlide7.xml" Id="R0098dbf2feb7474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3e87e1ee6f248a7" /><Relationship Type="http://schemas.openxmlformats.org/officeDocument/2006/relationships/notesSlide" Target="/ppt/notesSlides/notesSlide8.xml" Id="Rf35a0304c8fa475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39f673bdb2c4874" /><Relationship Type="http://schemas.openxmlformats.org/officeDocument/2006/relationships/notesSlide" Target="/ppt/notesSlides/notesSlide9.xml" Id="Rebe69b6b156d42c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e122344d05343b3" /><Relationship Type="http://schemas.openxmlformats.org/officeDocument/2006/relationships/notesSlide" Target="/ppt/notesSlides/notesSlide10.xml" Id="R2785aa3f78a942a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99ff576caa9492b" /><Relationship Type="http://schemas.openxmlformats.org/officeDocument/2006/relationships/notesSlide" Target="/ppt/notesSlides/notesSlide11.xml" Id="R0f200d8aca2f439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2c457c51abe43c4" /><Relationship Type="http://schemas.openxmlformats.org/officeDocument/2006/relationships/notesSlide" Target="/ppt/notesSlides/notesSlide12.xml" Id="R7bbcf96cfa3645f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1560713d66d4494" /><Relationship Type="http://schemas.openxmlformats.org/officeDocument/2006/relationships/notesSlide" Target="/ppt/notesSlides/notesSlide13.xml" Id="Re05b0babd1f9466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b32481290ab46ed" /><Relationship Type="http://schemas.openxmlformats.org/officeDocument/2006/relationships/notesSlide" Target="/ppt/notesSlides/notesSlide14.xml" Id="Rb9b229c117cb487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895df178d9b4dce" /><Relationship Type="http://schemas.openxmlformats.org/officeDocument/2006/relationships/notesSlide" Target="/ppt/notesSlides/notesSlide15.xml" Id="Ra7e110722e214ed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1b01f0304994990" /><Relationship Type="http://schemas.openxmlformats.org/officeDocument/2006/relationships/notesSlide" Target="/ppt/notesSlides/notesSlide16.xml" Id="R6151e0e3ba4f408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b0f12b29db24f64" /><Relationship Type="http://schemas.openxmlformats.org/officeDocument/2006/relationships/notesSlide" Target="/ppt/notesSlides/notesSlide17.xml" Id="R9df05c0ba5b340c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552089089124d7a" /><Relationship Type="http://schemas.openxmlformats.org/officeDocument/2006/relationships/notesSlide" Target="/ppt/notesSlides/notesSlide18.xml" Id="Re85d8e8afe5d46b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f9ac91833a945da" /><Relationship Type="http://schemas.openxmlformats.org/officeDocument/2006/relationships/notesSlide" Target="/ppt/notesSlides/notesSlide19.xml" Id="Ra2a231ae85b945d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8b1ebb58d1a4633" /><Relationship Type="http://schemas.openxmlformats.org/officeDocument/2006/relationships/notesSlide" Target="/ppt/notesSlides/notesSlide20.xml" Id="R1bbac6de30f747f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082FFEB4-0DA1-442F-8307-A10D1A023186}"/>
              </a:ext>
            </a:extLst>
          </p:cNvPr>
          <p:cNvSpPr>
            <a:spLocks xmlns:a="http://schemas.openxmlformats.org/drawingml/2006/main" noGrp="1"/>
          </p:cNvSpPr>
          <p:nvPr/>
        </p:nvSpPr>
        <p:spPr>
          <a:xfrm xmlns:a="http://schemas.openxmlformats.org/drawingml/2006/main">
            <a:off x="914400" y="590550"/>
            <a:ext cx="781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0000"/>
              </a:lnSpc>
              <a:buNone/>
              <a:defRPr sz="1050" b="1">
                <a:solidFill>
                  <a:srgbClr val="647084"/>
                </a:solidFill>
                <a:latin typeface="Aptos"/>
                <a:ea typeface="Aptos"/>
                <a:cs typeface="Aptos"/>
              </a:defRPr>
            </a:pPr>
            <a:r>
              <a:rPr sz="1050" b="1">
                <a:solidFill>
                  <a:srgbClr val="647084"/>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307FF414-C477-49DA-BF85-E300E2AE14A7}"/>
              </a:ext>
            </a:extLst>
          </p:cNvPr>
          <p:cNvSpPr>
            <a:spLocks xmlns:a="http://schemas.openxmlformats.org/drawingml/2006/main" noGrp="1"/>
          </p:cNvSpPr>
          <p:nvPr/>
        </p:nvSpPr>
        <p:spPr>
          <a:xfrm xmlns:a="http://schemas.openxmlformats.org/drawingml/2006/main">
            <a:off x="914400" y="1009650"/>
            <a:ext cx="10363200" cy="9525"/>
          </a:xfrm>
          <a:prstGeom xmlns:a="http://schemas.openxmlformats.org/drawingml/2006/main" prst="line">
            <a:avLst/>
          </a:prstGeom>
          <a:noFill xmlns:a="http://schemas.openxmlformats.org/drawingml/2006/main"/>
          <a:ln xmlns:a="http://schemas.openxmlformats.org/drawingml/2006/main" w="8573">
            <a:solidFill>
              <a:srgbClr val="8D5560"/>
            </a:solidFill>
            <a:prstDash val="solid"/>
          </a:ln>
        </p:spPr>
      </p:sp>
      <p:sp>
        <p:nvSpPr>
          <p:cNvPr id="3" name="Rounded Rectangle 2">
            <a:extLst xmlns:a="http://schemas.openxmlformats.org/drawingml/2006/main">
              <a:ext uri="{FF2B5EF4-FFF2-40B4-BE49-F238E27FC236}">
                <a16:creationId xmlns:a16="http://schemas.microsoft.com/office/drawing/2014/main" id="{E95D7C6A-BB54-46E0-BAF2-7E7BBB4583C1}"/>
              </a:ext>
            </a:extLst>
          </p:cNvPr>
          <p:cNvSpPr>
            <a:spLocks xmlns:a="http://schemas.openxmlformats.org/drawingml/2006/main" noGrp="1"/>
          </p:cNvSpPr>
          <p:nvPr/>
        </p:nvSpPr>
        <p:spPr>
          <a:xfrm xmlns:a="http://schemas.openxmlformats.org/drawingml/2006/main">
            <a:off x="914400" y="1438275"/>
            <a:ext cx="647700" cy="66675"/>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4" name="Rectangle 3">
            <a:extLst xmlns:a="http://schemas.openxmlformats.org/drawingml/2006/main">
              <a:ext uri="{FF2B5EF4-FFF2-40B4-BE49-F238E27FC236}">
                <a16:creationId xmlns:a16="http://schemas.microsoft.com/office/drawing/2014/main" id="{068DB570-79A1-4C2A-AB57-F3A339535717}"/>
              </a:ext>
            </a:extLst>
          </p:cNvPr>
          <p:cNvSpPr>
            <a:spLocks xmlns:a="http://schemas.openxmlformats.org/drawingml/2006/main" noGrp="1"/>
          </p:cNvSpPr>
          <p:nvPr/>
        </p:nvSpPr>
        <p:spPr>
          <a:xfrm xmlns:a="http://schemas.openxmlformats.org/drawingml/2006/main">
            <a:off x="914400" y="1771650"/>
            <a:ext cx="103632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94000"/>
              </a:lnSpc>
              <a:buNone/>
              <a:defRPr sz="3450" b="1">
                <a:solidFill>
                  <a:srgbClr val="1A202C"/>
                </a:solidFill>
                <a:latin typeface="Aptos Display"/>
                <a:ea typeface="Aptos Display"/>
                <a:cs typeface="Aptos Display"/>
              </a:defRPr>
            </a:pPr>
            <a:r>
              <a:rPr sz="3450" b="1">
                <a:solidFill>
                  <a:srgbClr val="1A202C"/>
                </a:solidFill>
                <a:latin typeface="Aptos Display"/>
                <a:ea typeface="Aptos Display"/>
                <a:cs typeface="Aptos Display"/>
              </a:rPr>
              <a:t>MFA, сесије, сервиси и тајне</a:t>
            </a:r>
          </a:p>
        </p:txBody>
      </p:sp>
      <p:sp>
        <p:nvSpPr>
          <p:cNvPr id="5" name="Rectangle 4">
            <a:extLst xmlns:a="http://schemas.openxmlformats.org/drawingml/2006/main">
              <a:ext uri="{FF2B5EF4-FFF2-40B4-BE49-F238E27FC236}">
                <a16:creationId xmlns:a16="http://schemas.microsoft.com/office/drawing/2014/main" id="{F005D106-CE27-46FB-98C9-6BA428B6977C}"/>
              </a:ext>
            </a:extLst>
          </p:cNvPr>
          <p:cNvSpPr>
            <a:spLocks xmlns:a="http://schemas.openxmlformats.org/drawingml/2006/main" noGrp="1"/>
          </p:cNvSpPr>
          <p:nvPr/>
        </p:nvSpPr>
        <p:spPr>
          <a:xfrm xmlns:a="http://schemas.openxmlformats.org/drawingml/2006/main">
            <a:off x="933450" y="3600450"/>
            <a:ext cx="9620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725" b="0">
                <a:solidFill>
                  <a:srgbClr val="647084"/>
                </a:solidFill>
                <a:latin typeface="Aptos"/>
                <a:ea typeface="Aptos"/>
                <a:cs typeface="Aptos"/>
              </a:defRPr>
            </a:pPr>
            <a:r>
              <a:rPr sz="1725" b="0">
                <a:solidFill>
                  <a:srgbClr val="647084"/>
                </a:solidFill>
                <a:latin typeface="Aptos"/>
                <a:ea typeface="Aptos"/>
                <a:cs typeface="Aptos"/>
              </a:rPr>
              <a:t>Вишефакторска аутентикација, животни циклус сесије и управљање тајнама</a:t>
            </a:r>
          </a:p>
        </p:txBody>
      </p:sp>
      <p:sp>
        <p:nvSpPr>
          <p:cNvPr id="6" name="Straight Connector 5">
            <a:extLst xmlns:a="http://schemas.openxmlformats.org/drawingml/2006/main">
              <a:ext uri="{FF2B5EF4-FFF2-40B4-BE49-F238E27FC236}">
                <a16:creationId xmlns:a16="http://schemas.microsoft.com/office/drawing/2014/main" id="{5CDB1E20-D85A-47BE-A43C-2FEBA2866CCF}"/>
              </a:ext>
            </a:extLst>
          </p:cNvPr>
          <p:cNvSpPr>
            <a:spLocks xmlns:a="http://schemas.openxmlformats.org/drawingml/2006/main" noGrp="1"/>
          </p:cNvSpPr>
          <p:nvPr/>
        </p:nvSpPr>
        <p:spPr>
          <a:xfrm xmlns:a="http://schemas.openxmlformats.org/drawingml/2006/main">
            <a:off x="914400" y="5286375"/>
            <a:ext cx="10363200" cy="9525"/>
          </a:xfrm>
          <a:prstGeom xmlns:a="http://schemas.openxmlformats.org/drawingml/2006/main" prst="line">
            <a:avLst/>
          </a:prstGeom>
          <a:noFill xmlns:a="http://schemas.openxmlformats.org/drawingml/2006/main"/>
          <a:ln xmlns:a="http://schemas.openxmlformats.org/drawingml/2006/main" w="8573">
            <a:solidFill>
              <a:srgbClr val="8D5560"/>
            </a:solidFill>
            <a:prstDash val="solid"/>
          </a:ln>
        </p:spPr>
      </p:sp>
      <p:sp>
        <p:nvSpPr>
          <p:cNvPr id="7" name="Rectangle 6">
            <a:extLst xmlns:a="http://schemas.openxmlformats.org/drawingml/2006/main">
              <a:ext uri="{FF2B5EF4-FFF2-40B4-BE49-F238E27FC236}">
                <a16:creationId xmlns:a16="http://schemas.microsoft.com/office/drawing/2014/main" id="{9A62416F-6C92-4260-A3AC-A2EAC7782872}"/>
              </a:ext>
            </a:extLst>
          </p:cNvPr>
          <p:cNvSpPr>
            <a:spLocks xmlns:a="http://schemas.openxmlformats.org/drawingml/2006/main" noGrp="1"/>
          </p:cNvSpPr>
          <p:nvPr/>
        </p:nvSpPr>
        <p:spPr>
          <a:xfrm xmlns:a="http://schemas.openxmlformats.org/drawingml/2006/main">
            <a:off x="914400" y="558165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a:solidFill>
                  <a:srgbClr val="1A202C"/>
                </a:solidFill>
                <a:latin typeface="Aptos"/>
                <a:ea typeface="Aptos"/>
                <a:cs typeface="Aptos"/>
              </a:defRPr>
            </a:pPr>
            <a:r>
              <a:rPr sz="1125" b="0">
                <a:solidFill>
                  <a:srgbClr val="1A202C"/>
                </a:solidFill>
                <a:latin typeface="Aptos"/>
                <a:ea typeface="Aptos"/>
                <a:cs typeface="Aptos"/>
              </a:rPr>
              <a:t>Факултет техничких наука · Универзитет у Новом Саду</a:t>
            </a:r>
          </a:p>
        </p:txBody>
      </p:sp>
      <p:sp>
        <p:nvSpPr>
          <p:cNvPr id="8" name="Rectangle 7">
            <a:extLst xmlns:a="http://schemas.openxmlformats.org/drawingml/2006/main">
              <a:ext uri="{FF2B5EF4-FFF2-40B4-BE49-F238E27FC236}">
                <a16:creationId xmlns:a16="http://schemas.microsoft.com/office/drawing/2014/main" id="{B6B532CC-9DEF-414C-B26F-DE1B3B5060E1}"/>
              </a:ext>
            </a:extLst>
          </p:cNvPr>
          <p:cNvSpPr>
            <a:spLocks xmlns:a="http://schemas.openxmlformats.org/drawingml/2006/main" noGrp="1"/>
          </p:cNvSpPr>
          <p:nvPr/>
        </p:nvSpPr>
        <p:spPr>
          <a:xfrm xmlns:a="http://schemas.openxmlformats.org/drawingml/2006/main">
            <a:off x="8096250" y="5581650"/>
            <a:ext cx="3181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0">
                <a:solidFill>
                  <a:srgbClr val="647084"/>
                </a:solidFill>
                <a:latin typeface="Aptos"/>
                <a:ea typeface="Aptos"/>
                <a:cs typeface="Aptos"/>
              </a:defRPr>
            </a:pPr>
            <a:r>
              <a:rPr sz="1200" b="0">
                <a:solidFill>
                  <a:srgbClr val="647084"/>
                </a:solidFill>
                <a:latin typeface="Aptos"/>
                <a:ea typeface="Aptos"/>
                <a:cs typeface="Aptos"/>
              </a:rPr>
              <a:t>Академска 2026/27.</a:t>
            </a:r>
          </a:p>
        </p:txBody>
      </p:sp>
    </p:spTree>
    <p:extLst>
      <p:ext uri="{BB962C8B-B14F-4D97-AF65-F5344CB8AC3E}">
        <p14:creationId xmlns:p14="http://schemas.microsoft.com/office/powerpoint/2010/main" val="137530018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79607E6C-7F2F-4379-8F1F-1D24ABF0EB74}"/>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387EB4AD-501D-4BB5-B7FB-B47C9C193DF0}"/>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E793F233-9176-48A8-BE91-738349663DA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a:t>
            </a:r>
          </a:p>
        </p:txBody>
      </p:sp>
      <p:sp>
        <p:nvSpPr>
          <p:cNvPr id="4" name="Rectangle 3">
            <a:extLst xmlns:a="http://schemas.openxmlformats.org/drawingml/2006/main">
              <a:ext uri="{FF2B5EF4-FFF2-40B4-BE49-F238E27FC236}">
                <a16:creationId xmlns:a16="http://schemas.microsoft.com/office/drawing/2014/main" id="{2B4F9907-5CB9-4216-868B-D545796A047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Континуирана провера идентитета</a:t>
            </a:r>
          </a:p>
        </p:txBody>
      </p:sp>
      <p:sp>
        <p:nvSpPr>
          <p:cNvPr id="5" name="Rectangle 4">
            <a:extLst xmlns:a="http://schemas.openxmlformats.org/drawingml/2006/main">
              <a:ext uri="{FF2B5EF4-FFF2-40B4-BE49-F238E27FC236}">
                <a16:creationId xmlns:a16="http://schemas.microsoft.com/office/drawing/2014/main" id="{67829924-B510-424B-AE4C-61F9CBE360F8}"/>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Ризик радње, трајање сесије, врста уређаја и промена привилегија одређују потребан ниво додатне потврде.</a:t>
            </a:r>
          </a:p>
        </p:txBody>
      </p:sp>
      <p:sp>
        <p:nvSpPr>
          <p:cNvPr id="6" name="Rounded Rectangle 5">
            <a:extLst xmlns:a="http://schemas.openxmlformats.org/drawingml/2006/main">
              <a:ext uri="{FF2B5EF4-FFF2-40B4-BE49-F238E27FC236}">
                <a16:creationId xmlns:a16="http://schemas.microsoft.com/office/drawing/2014/main" id="{5880703B-8615-4D8F-BF29-0771741D1198}"/>
              </a:ext>
            </a:extLst>
          </p:cNvPr>
          <p:cNvSpPr>
            <a:spLocks xmlns:a="http://schemas.openxmlformats.org/drawingml/2006/main" noGrp="1"/>
          </p:cNvSpPr>
          <p:nvPr/>
        </p:nvSpPr>
        <p:spPr>
          <a:xfrm xmlns:a="http://schemas.openxmlformats.org/drawingml/2006/main">
            <a:off x="819150" y="2571750"/>
            <a:ext cx="3257550" cy="2228850"/>
          </a:xfrm>
          <a:prstGeom xmlns:a="http://schemas.openxmlformats.org/drawingml/2006/main" prst="roundRect">
            <a:avLst>
              <a:gd name="adj" fmla="val 5983"/>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D96EB243-FFFA-4739-AC4E-248A0689DC10}"/>
              </a:ext>
            </a:extLst>
          </p:cNvPr>
          <p:cNvSpPr>
            <a:spLocks xmlns:a="http://schemas.openxmlformats.org/drawingml/2006/main" noGrp="1"/>
          </p:cNvSpPr>
          <p:nvPr/>
        </p:nvSpPr>
        <p:spPr>
          <a:xfrm xmlns:a="http://schemas.openxmlformats.org/drawingml/2006/main">
            <a:off x="971550"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ПРЕДМЕТ АНАЛИЗЕ</a:t>
            </a:r>
          </a:p>
        </p:txBody>
      </p:sp>
      <p:sp>
        <p:nvSpPr>
          <p:cNvPr id="8" name="Rectangle 7">
            <a:extLst xmlns:a="http://schemas.openxmlformats.org/drawingml/2006/main">
              <a:ext uri="{FF2B5EF4-FFF2-40B4-BE49-F238E27FC236}">
                <a16:creationId xmlns:a16="http://schemas.microsoft.com/office/drawing/2014/main" id="{710CF5B5-6558-4B7D-9C04-92F718D4CC54}"/>
              </a:ext>
            </a:extLst>
          </p:cNvPr>
          <p:cNvSpPr>
            <a:spLocks xmlns:a="http://schemas.openxmlformats.org/drawingml/2006/main" noGrp="1"/>
          </p:cNvSpPr>
          <p:nvPr/>
        </p:nvSpPr>
        <p:spPr>
          <a:xfrm xmlns:a="http://schemas.openxmlformats.org/drawingml/2006/main">
            <a:off x="971550"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Ризик који се анализира</a:t>
            </a:r>
          </a:p>
        </p:txBody>
      </p:sp>
      <p:sp>
        <p:nvSpPr>
          <p:cNvPr id="9" name="Rectangle 8">
            <a:extLst xmlns:a="http://schemas.openxmlformats.org/drawingml/2006/main">
              <a:ext uri="{FF2B5EF4-FFF2-40B4-BE49-F238E27FC236}">
                <a16:creationId xmlns:a16="http://schemas.microsoft.com/office/drawing/2014/main" id="{A658BA8F-C270-4889-BB0F-6ECBAAA434F0}"/>
              </a:ext>
            </a:extLst>
          </p:cNvPr>
          <p:cNvSpPr>
            <a:spLocks xmlns:a="http://schemas.openxmlformats.org/drawingml/2006/main" noGrp="1"/>
          </p:cNvSpPr>
          <p:nvPr/>
        </p:nvSpPr>
        <p:spPr>
          <a:xfrm xmlns:a="http://schemas.openxmlformats.org/drawingml/2006/main">
            <a:off x="971550"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87975"/>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Идентитет није трајно доказан једном пријавом. Ризик радње, трајање сесије, врста уређаја и промена привилегија утичу на то колико је додатна потврда потребна. Оперативна безбедност зато прати приступ и након почетне аутентикације.</a:t>
            </a:r>
          </a:p>
        </p:txBody>
      </p:sp>
      <p:sp>
        <p:nvSpPr>
          <p:cNvPr id="10" name="Rounded Rectangle 9">
            <a:extLst xmlns:a="http://schemas.openxmlformats.org/drawingml/2006/main">
              <a:ext uri="{FF2B5EF4-FFF2-40B4-BE49-F238E27FC236}">
                <a16:creationId xmlns:a16="http://schemas.microsoft.com/office/drawing/2014/main" id="{C225B3E7-3B9B-46BB-A473-B4E91CCA1FA7}"/>
              </a:ext>
            </a:extLst>
          </p:cNvPr>
          <p:cNvSpPr>
            <a:spLocks xmlns:a="http://schemas.openxmlformats.org/drawingml/2006/main" noGrp="1"/>
          </p:cNvSpPr>
          <p:nvPr/>
        </p:nvSpPr>
        <p:spPr>
          <a:xfrm xmlns:a="http://schemas.openxmlformats.org/drawingml/2006/main">
            <a:off x="4467225" y="2571750"/>
            <a:ext cx="3257550" cy="2228850"/>
          </a:xfrm>
          <a:prstGeom xmlns:a="http://schemas.openxmlformats.org/drawingml/2006/main" prst="roundRect">
            <a:avLst>
              <a:gd name="adj" fmla="val 5983"/>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48846AE0-1333-402B-8497-AAA65F40DDA7}"/>
              </a:ext>
            </a:extLst>
          </p:cNvPr>
          <p:cNvSpPr>
            <a:spLocks xmlns:a="http://schemas.openxmlformats.org/drawingml/2006/main" noGrp="1"/>
          </p:cNvSpPr>
          <p:nvPr/>
        </p:nvSpPr>
        <p:spPr>
          <a:xfrm xmlns:a="http://schemas.openxmlformats.org/drawingml/2006/main">
            <a:off x="4619625"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ЗНАЧАЈ</a:t>
            </a:r>
          </a:p>
        </p:txBody>
      </p:sp>
      <p:sp>
        <p:nvSpPr>
          <p:cNvPr id="12" name="Rectangle 11">
            <a:extLst xmlns:a="http://schemas.openxmlformats.org/drawingml/2006/main">
              <a:ext uri="{FF2B5EF4-FFF2-40B4-BE49-F238E27FC236}">
                <a16:creationId xmlns:a16="http://schemas.microsoft.com/office/drawing/2014/main" id="{8CE1DC05-11D2-4121-B350-59C17340965C}"/>
              </a:ext>
            </a:extLst>
          </p:cNvPr>
          <p:cNvSpPr>
            <a:spLocks xmlns:a="http://schemas.openxmlformats.org/drawingml/2006/main" noGrp="1"/>
          </p:cNvSpPr>
          <p:nvPr/>
        </p:nvSpPr>
        <p:spPr>
          <a:xfrm xmlns:a="http://schemas.openxmlformats.org/drawingml/2006/main">
            <a:off x="4619625"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Значај за безбедност система</a:t>
            </a:r>
          </a:p>
        </p:txBody>
      </p:sp>
      <p:sp>
        <p:nvSpPr>
          <p:cNvPr id="13" name="Rectangle 12">
            <a:extLst xmlns:a="http://schemas.openxmlformats.org/drawingml/2006/main">
              <a:ext uri="{FF2B5EF4-FFF2-40B4-BE49-F238E27FC236}">
                <a16:creationId xmlns:a16="http://schemas.microsoft.com/office/drawing/2014/main" id="{3ABC001B-0789-46A1-BEF7-6B28CE071DEC}"/>
              </a:ext>
            </a:extLst>
          </p:cNvPr>
          <p:cNvSpPr>
            <a:spLocks xmlns:a="http://schemas.openxmlformats.org/drawingml/2006/main" noGrp="1"/>
          </p:cNvSpPr>
          <p:nvPr/>
        </p:nvSpPr>
        <p:spPr>
          <a:xfrm xmlns:a="http://schemas.openxmlformats.org/drawingml/2006/main">
            <a:off x="4619625"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2219"/>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Вишефакторска потврда и временски ограничене привилегије смањују последице украденог креденцијала. Управљање тајнама штити везе међу сервисима, где непажња често остане скривена јер нема корисничког екрана.</a:t>
            </a:r>
          </a:p>
        </p:txBody>
      </p:sp>
      <p:sp>
        <p:nvSpPr>
          <p:cNvPr id="14" name="Rounded Rectangle 13">
            <a:extLst xmlns:a="http://schemas.openxmlformats.org/drawingml/2006/main">
              <a:ext uri="{FF2B5EF4-FFF2-40B4-BE49-F238E27FC236}">
                <a16:creationId xmlns:a16="http://schemas.microsoft.com/office/drawing/2014/main" id="{BECB7932-AEE1-4531-B12B-ED59073033BB}"/>
              </a:ext>
            </a:extLst>
          </p:cNvPr>
          <p:cNvSpPr>
            <a:spLocks xmlns:a="http://schemas.openxmlformats.org/drawingml/2006/main" noGrp="1"/>
          </p:cNvSpPr>
          <p:nvPr/>
        </p:nvSpPr>
        <p:spPr>
          <a:xfrm xmlns:a="http://schemas.openxmlformats.org/drawingml/2006/main">
            <a:off x="8115300" y="2571750"/>
            <a:ext cx="3257550" cy="2228850"/>
          </a:xfrm>
          <a:prstGeom xmlns:a="http://schemas.openxmlformats.org/drawingml/2006/main" prst="roundRect">
            <a:avLst>
              <a:gd name="adj" fmla="val 5983"/>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AF8EFB0C-DF26-437D-932E-2CCA18A08591}"/>
              </a:ext>
            </a:extLst>
          </p:cNvPr>
          <p:cNvSpPr>
            <a:spLocks xmlns:a="http://schemas.openxmlformats.org/drawingml/2006/main" noGrp="1"/>
          </p:cNvSpPr>
          <p:nvPr/>
        </p:nvSpPr>
        <p:spPr>
          <a:xfrm xmlns:a="http://schemas.openxmlformats.org/drawingml/2006/main">
            <a:off x="8267700"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КРИТЕРИЈУМ ПРОВЕРЕ</a:t>
            </a:r>
          </a:p>
        </p:txBody>
      </p:sp>
      <p:sp>
        <p:nvSpPr>
          <p:cNvPr id="16" name="Rectangle 15">
            <a:extLst xmlns:a="http://schemas.openxmlformats.org/drawingml/2006/main">
              <a:ext uri="{FF2B5EF4-FFF2-40B4-BE49-F238E27FC236}">
                <a16:creationId xmlns:a16="http://schemas.microsoft.com/office/drawing/2014/main" id="{C0A0541A-7E89-4FEA-BF15-52E4E25C046E}"/>
              </a:ext>
            </a:extLst>
          </p:cNvPr>
          <p:cNvSpPr>
            <a:spLocks xmlns:a="http://schemas.openxmlformats.org/drawingml/2006/main" noGrp="1"/>
          </p:cNvSpPr>
          <p:nvPr/>
        </p:nvSpPr>
        <p:spPr>
          <a:xfrm xmlns:a="http://schemas.openxmlformats.org/drawingml/2006/main">
            <a:off x="8267700"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Проверљив резултат</a:t>
            </a:r>
          </a:p>
        </p:txBody>
      </p:sp>
      <p:sp>
        <p:nvSpPr>
          <p:cNvPr id="17" name="Rectangle 16">
            <a:extLst xmlns:a="http://schemas.openxmlformats.org/drawingml/2006/main">
              <a:ext uri="{FF2B5EF4-FFF2-40B4-BE49-F238E27FC236}">
                <a16:creationId xmlns:a16="http://schemas.microsoft.com/office/drawing/2014/main" id="{F630C273-044E-4A99-B589-79766B95E3AA}"/>
              </a:ext>
            </a:extLst>
          </p:cNvPr>
          <p:cNvSpPr>
            <a:spLocks xmlns:a="http://schemas.openxmlformats.org/drawingml/2006/main" noGrp="1"/>
          </p:cNvSpPr>
          <p:nvPr/>
        </p:nvSpPr>
        <p:spPr>
          <a:xfrm xmlns:a="http://schemas.openxmlformats.org/drawingml/2006/main">
            <a:off x="8267700"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Одлука је јасна, примењује се на серверу и оставља поновљив доказ успешног и одбијеног исхода.</a:t>
            </a:r>
          </a:p>
        </p:txBody>
      </p:sp>
    </p:spTree>
    <p:extLst>
      <p:ext uri="{BB962C8B-B14F-4D97-AF65-F5344CB8AC3E}">
        <p14:creationId xmlns:p14="http://schemas.microsoft.com/office/powerpoint/2010/main" val="91886164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E20E0CE3-8B18-4ACC-9AE8-1B5BF3275B6D}"/>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EC1B38DB-9495-4BE6-ADE8-6707F5836957}"/>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79E39B6A-0167-4D45-A68D-E35E6A496811}"/>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3</a:t>
            </a:r>
          </a:p>
        </p:txBody>
      </p:sp>
      <p:sp>
        <p:nvSpPr>
          <p:cNvPr id="4" name="Rectangle 3">
            <a:extLst xmlns:a="http://schemas.openxmlformats.org/drawingml/2006/main">
              <a:ext uri="{FF2B5EF4-FFF2-40B4-BE49-F238E27FC236}">
                <a16:creationId xmlns:a16="http://schemas.microsoft.com/office/drawing/2014/main" id="{D2EA0458-6802-4DF6-B2DD-292BDE776505}"/>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Основни појмови</a:t>
            </a:r>
          </a:p>
        </p:txBody>
      </p:sp>
      <p:sp>
        <p:nvSpPr>
          <p:cNvPr id="5" name="Rectangle 4">
            <a:extLst xmlns:a="http://schemas.openxmlformats.org/drawingml/2006/main">
              <a:ext uri="{FF2B5EF4-FFF2-40B4-BE49-F238E27FC236}">
                <a16:creationId xmlns:a16="http://schemas.microsoft.com/office/drawing/2014/main" id="{BE47684F-84B2-4288-A90E-42DB207D31A6}"/>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Пријава, сесија, додатна потврда и опозив описују животни циклус приступа.</a:t>
            </a:r>
          </a:p>
        </p:txBody>
      </p:sp>
      <p:sp>
        <p:nvSpPr>
          <p:cNvPr id="6" name="Rounded Rectangle 5">
            <a:extLst xmlns:a="http://schemas.openxmlformats.org/drawingml/2006/main">
              <a:ext uri="{FF2B5EF4-FFF2-40B4-BE49-F238E27FC236}">
                <a16:creationId xmlns:a16="http://schemas.microsoft.com/office/drawing/2014/main" id="{9E7C6089-3612-462B-8A56-4B5E68EFCF3D}"/>
              </a:ext>
            </a:extLst>
          </p:cNvPr>
          <p:cNvSpPr>
            <a:spLocks xmlns:a="http://schemas.openxmlformats.org/drawingml/2006/main" noGrp="1"/>
          </p:cNvSpPr>
          <p:nvPr/>
        </p:nvSpPr>
        <p:spPr>
          <a:xfrm xmlns:a="http://schemas.openxmlformats.org/drawingml/2006/main">
            <a:off x="723900" y="2419350"/>
            <a:ext cx="24717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BC2C9D03-9A1E-41E7-A453-5A0624BB3A09}"/>
              </a:ext>
            </a:extLst>
          </p:cNvPr>
          <p:cNvSpPr>
            <a:spLocks xmlns:a="http://schemas.openxmlformats.org/drawingml/2006/main" noGrp="1"/>
          </p:cNvSpPr>
          <p:nvPr/>
        </p:nvSpPr>
        <p:spPr>
          <a:xfrm xmlns:a="http://schemas.openxmlformats.org/drawingml/2006/main">
            <a:off x="866775"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78317759-C18E-4549-886F-B1AEA58CC635}"/>
              </a:ext>
            </a:extLst>
          </p:cNvPr>
          <p:cNvSpPr>
            <a:spLocks xmlns:a="http://schemas.openxmlformats.org/drawingml/2006/main" noGrp="1"/>
          </p:cNvSpPr>
          <p:nvPr/>
        </p:nvSpPr>
        <p:spPr>
          <a:xfrm xmlns:a="http://schemas.openxmlformats.org/drawingml/2006/main">
            <a:off x="857250"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Пријава</a:t>
            </a:r>
          </a:p>
        </p:txBody>
      </p:sp>
      <p:sp>
        <p:nvSpPr>
          <p:cNvPr id="9" name="Rectangle 8">
            <a:extLst xmlns:a="http://schemas.openxmlformats.org/drawingml/2006/main">
              <a:ext uri="{FF2B5EF4-FFF2-40B4-BE49-F238E27FC236}">
                <a16:creationId xmlns:a16="http://schemas.microsoft.com/office/drawing/2014/main" id="{DD2DBFF6-747F-426F-ABE3-CDFE206644FD}"/>
              </a:ext>
            </a:extLst>
          </p:cNvPr>
          <p:cNvSpPr>
            <a:spLocks xmlns:a="http://schemas.openxmlformats.org/drawingml/2006/main" noGrp="1"/>
          </p:cNvSpPr>
          <p:nvPr/>
        </p:nvSpPr>
        <p:spPr>
          <a:xfrm xmlns:a="http://schemas.openxmlformats.org/drawingml/2006/main">
            <a:off x="866775"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почетна потврда идентитета</a:t>
            </a:r>
          </a:p>
        </p:txBody>
      </p:sp>
      <p:sp>
        <p:nvSpPr>
          <p:cNvPr id="10" name="Rounded Rectangle 9">
            <a:extLst xmlns:a="http://schemas.openxmlformats.org/drawingml/2006/main">
              <a:ext uri="{FF2B5EF4-FFF2-40B4-BE49-F238E27FC236}">
                <a16:creationId xmlns:a16="http://schemas.microsoft.com/office/drawing/2014/main" id="{49F2075A-65C3-4994-A066-0C5CE20C016E}"/>
              </a:ext>
            </a:extLst>
          </p:cNvPr>
          <p:cNvSpPr>
            <a:spLocks xmlns:a="http://schemas.openxmlformats.org/drawingml/2006/main" noGrp="1"/>
          </p:cNvSpPr>
          <p:nvPr/>
        </p:nvSpPr>
        <p:spPr>
          <a:xfrm xmlns:a="http://schemas.openxmlformats.org/drawingml/2006/main">
            <a:off x="3481388" y="2419350"/>
            <a:ext cx="2471738"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32E3CFAB-D2EF-4B62-A160-09E34496026D}"/>
              </a:ext>
            </a:extLst>
          </p:cNvPr>
          <p:cNvSpPr>
            <a:spLocks xmlns:a="http://schemas.openxmlformats.org/drawingml/2006/main" noGrp="1"/>
          </p:cNvSpPr>
          <p:nvPr/>
        </p:nvSpPr>
        <p:spPr>
          <a:xfrm xmlns:a="http://schemas.openxmlformats.org/drawingml/2006/main">
            <a:off x="3624263"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F06DA52E-25D1-4812-A259-946EB9A4D586}"/>
              </a:ext>
            </a:extLst>
          </p:cNvPr>
          <p:cNvSpPr>
            <a:spLocks xmlns:a="http://schemas.openxmlformats.org/drawingml/2006/main" noGrp="1"/>
          </p:cNvSpPr>
          <p:nvPr/>
        </p:nvSpPr>
        <p:spPr>
          <a:xfrm xmlns:a="http://schemas.openxmlformats.org/drawingml/2006/main">
            <a:off x="3614738"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Сесија</a:t>
            </a:r>
          </a:p>
        </p:txBody>
      </p:sp>
      <p:sp>
        <p:nvSpPr>
          <p:cNvPr id="13" name="Rectangle 12">
            <a:extLst xmlns:a="http://schemas.openxmlformats.org/drawingml/2006/main">
              <a:ext uri="{FF2B5EF4-FFF2-40B4-BE49-F238E27FC236}">
                <a16:creationId xmlns:a16="http://schemas.microsoft.com/office/drawing/2014/main" id="{A194318D-F309-493C-80BA-EEFF5539E959}"/>
              </a:ext>
            </a:extLst>
          </p:cNvPr>
          <p:cNvSpPr>
            <a:spLocks xmlns:a="http://schemas.openxmlformats.org/drawingml/2006/main" noGrp="1"/>
          </p:cNvSpPr>
          <p:nvPr/>
        </p:nvSpPr>
        <p:spPr>
          <a:xfrm xmlns:a="http://schemas.openxmlformats.org/drawingml/2006/main">
            <a:off x="3624263"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1685"/>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привремени контекст приступа</a:t>
            </a:r>
          </a:p>
        </p:txBody>
      </p:sp>
      <p:sp>
        <p:nvSpPr>
          <p:cNvPr id="14" name="Rounded Rectangle 13">
            <a:extLst xmlns:a="http://schemas.openxmlformats.org/drawingml/2006/main">
              <a:ext uri="{FF2B5EF4-FFF2-40B4-BE49-F238E27FC236}">
                <a16:creationId xmlns:a16="http://schemas.microsoft.com/office/drawing/2014/main" id="{B91BA9A4-4892-4C3A-B177-1831B82D5C75}"/>
              </a:ext>
            </a:extLst>
          </p:cNvPr>
          <p:cNvSpPr>
            <a:spLocks xmlns:a="http://schemas.openxmlformats.org/drawingml/2006/main" noGrp="1"/>
          </p:cNvSpPr>
          <p:nvPr/>
        </p:nvSpPr>
        <p:spPr>
          <a:xfrm xmlns:a="http://schemas.openxmlformats.org/drawingml/2006/main">
            <a:off x="6238875" y="2419350"/>
            <a:ext cx="2471738" cy="1257300"/>
          </a:xfrm>
          <a:prstGeom xmlns:a="http://schemas.openxmlformats.org/drawingml/2006/main" prst="roundRect">
            <a:avLst>
              <a:gd name="adj" fmla="val 10606"/>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95CF401A-C169-4A9C-9CC2-33D64E63F80E}"/>
              </a:ext>
            </a:extLst>
          </p:cNvPr>
          <p:cNvSpPr>
            <a:spLocks xmlns:a="http://schemas.openxmlformats.org/drawingml/2006/main" noGrp="1"/>
          </p:cNvSpPr>
          <p:nvPr/>
        </p:nvSpPr>
        <p:spPr>
          <a:xfrm xmlns:a="http://schemas.openxmlformats.org/drawingml/2006/main">
            <a:off x="6381750"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062180E4-2101-46CF-8562-387188095F76}"/>
              </a:ext>
            </a:extLst>
          </p:cNvPr>
          <p:cNvSpPr>
            <a:spLocks xmlns:a="http://schemas.openxmlformats.org/drawingml/2006/main" noGrp="1"/>
          </p:cNvSpPr>
          <p:nvPr/>
        </p:nvSpPr>
        <p:spPr>
          <a:xfrm xmlns:a="http://schemas.openxmlformats.org/drawingml/2006/main">
            <a:off x="6372225"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Додатна потврда</a:t>
            </a:r>
          </a:p>
        </p:txBody>
      </p:sp>
      <p:sp>
        <p:nvSpPr>
          <p:cNvPr id="17" name="Rectangle 16">
            <a:extLst xmlns:a="http://schemas.openxmlformats.org/drawingml/2006/main">
              <a:ext uri="{FF2B5EF4-FFF2-40B4-BE49-F238E27FC236}">
                <a16:creationId xmlns:a16="http://schemas.microsoft.com/office/drawing/2014/main" id="{E3414439-9172-4BB4-A6E2-12DEC931ABDF}"/>
              </a:ext>
            </a:extLst>
          </p:cNvPr>
          <p:cNvSpPr>
            <a:spLocks xmlns:a="http://schemas.openxmlformats.org/drawingml/2006/main" noGrp="1"/>
          </p:cNvSpPr>
          <p:nvPr/>
        </p:nvSpPr>
        <p:spPr>
          <a:xfrm xmlns:a="http://schemas.openxmlformats.org/drawingml/2006/main">
            <a:off x="6381750"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за ризичну радњу</a:t>
            </a:r>
          </a:p>
        </p:txBody>
      </p:sp>
      <p:sp>
        <p:nvSpPr>
          <p:cNvPr id="18" name="Rounded Rectangle 17">
            <a:extLst xmlns:a="http://schemas.openxmlformats.org/drawingml/2006/main">
              <a:ext uri="{FF2B5EF4-FFF2-40B4-BE49-F238E27FC236}">
                <a16:creationId xmlns:a16="http://schemas.microsoft.com/office/drawing/2014/main" id="{EBBD0E8F-B7A7-4782-9E6F-ECB748A30EE1}"/>
              </a:ext>
            </a:extLst>
          </p:cNvPr>
          <p:cNvSpPr>
            <a:spLocks xmlns:a="http://schemas.openxmlformats.org/drawingml/2006/main" noGrp="1"/>
          </p:cNvSpPr>
          <p:nvPr/>
        </p:nvSpPr>
        <p:spPr>
          <a:xfrm xmlns:a="http://schemas.openxmlformats.org/drawingml/2006/main">
            <a:off x="8996363" y="2419350"/>
            <a:ext cx="24717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2284364E-068A-43A9-B38D-98EDE86318DB}"/>
              </a:ext>
            </a:extLst>
          </p:cNvPr>
          <p:cNvSpPr>
            <a:spLocks xmlns:a="http://schemas.openxmlformats.org/drawingml/2006/main" noGrp="1"/>
          </p:cNvSpPr>
          <p:nvPr/>
        </p:nvSpPr>
        <p:spPr>
          <a:xfrm xmlns:a="http://schemas.openxmlformats.org/drawingml/2006/main">
            <a:off x="9139238"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71D3880A-679B-4098-8D8F-C181A938C378}"/>
              </a:ext>
            </a:extLst>
          </p:cNvPr>
          <p:cNvSpPr>
            <a:spLocks xmlns:a="http://schemas.openxmlformats.org/drawingml/2006/main" noGrp="1"/>
          </p:cNvSpPr>
          <p:nvPr/>
        </p:nvSpPr>
        <p:spPr>
          <a:xfrm xmlns:a="http://schemas.openxmlformats.org/drawingml/2006/main">
            <a:off x="9129713"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Истек или опозив</a:t>
            </a:r>
          </a:p>
        </p:txBody>
      </p:sp>
      <p:sp>
        <p:nvSpPr>
          <p:cNvPr id="21" name="Rectangle 20">
            <a:extLst xmlns:a="http://schemas.openxmlformats.org/drawingml/2006/main">
              <a:ext uri="{FF2B5EF4-FFF2-40B4-BE49-F238E27FC236}">
                <a16:creationId xmlns:a16="http://schemas.microsoft.com/office/drawing/2014/main" id="{3EA08F9C-86A7-46EA-AE6B-9A05808E8F22}"/>
              </a:ext>
            </a:extLst>
          </p:cNvPr>
          <p:cNvSpPr>
            <a:spLocks xmlns:a="http://schemas.openxmlformats.org/drawingml/2006/main" noGrp="1"/>
          </p:cNvSpPr>
          <p:nvPr/>
        </p:nvSpPr>
        <p:spPr>
          <a:xfrm xmlns:a="http://schemas.openxmlformats.org/drawingml/2006/main">
            <a:off x="9139238"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прекид важења приступа</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195638" y="30480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04800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710613" y="30480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6" name="Rounded Rectangle 25">
            <a:extLst xmlns:a="http://schemas.openxmlformats.org/drawingml/2006/main">
              <a:ext uri="{FF2B5EF4-FFF2-40B4-BE49-F238E27FC236}">
                <a16:creationId xmlns:a16="http://schemas.microsoft.com/office/drawing/2014/main" id="{ED45DA28-A05B-4B5B-9BD5-0A898CF6DEE7}"/>
              </a:ext>
            </a:extLst>
          </p:cNvPr>
          <p:cNvSpPr>
            <a:spLocks xmlns:a="http://schemas.openxmlformats.org/drawingml/2006/main" noGrp="1"/>
          </p:cNvSpPr>
          <p:nvPr/>
        </p:nvSpPr>
        <p:spPr>
          <a:xfrm xmlns:a="http://schemas.openxmlformats.org/drawingml/2006/main">
            <a:off x="1752600" y="4429125"/>
            <a:ext cx="57150" cy="5143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03FC9162-DF55-4285-88A2-1DD7FF6ECEED}"/>
              </a:ext>
            </a:extLst>
          </p:cNvPr>
          <p:cNvSpPr>
            <a:spLocks xmlns:a="http://schemas.openxmlformats.org/drawingml/2006/main" noGrp="1"/>
          </p:cNvSpPr>
          <p:nvPr/>
        </p:nvSpPr>
        <p:spPr>
          <a:xfrm xmlns:a="http://schemas.openxmlformats.org/drawingml/2006/main">
            <a:off x="914400" y="4305300"/>
            <a:ext cx="10363200" cy="800100"/>
          </a:xfrm>
          <a:prstGeom xmlns:a="http://schemas.openxmlformats.org/drawingml/2006/main" prst="roundRect">
            <a:avLst>
              <a:gd name="adj" fmla="val 16667"/>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0B431171-0C22-4E29-B6DE-DCC79E90E9A5}"/>
              </a:ext>
            </a:extLst>
          </p:cNvPr>
          <p:cNvSpPr>
            <a:spLocks xmlns:a="http://schemas.openxmlformats.org/drawingml/2006/main" noGrp="1"/>
          </p:cNvSpPr>
          <p:nvPr/>
        </p:nvSpPr>
        <p:spPr>
          <a:xfrm xmlns:a="http://schemas.openxmlformats.org/drawingml/2006/main">
            <a:off x="1085850" y="4457700"/>
            <a:ext cx="57150" cy="4953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24CB7F95-D1FF-4CF3-98EE-64BA083300D8}"/>
              </a:ext>
            </a:extLst>
          </p:cNvPr>
          <p:cNvSpPr>
            <a:spLocks xmlns:a="http://schemas.openxmlformats.org/drawingml/2006/main" noGrp="1"/>
          </p:cNvSpPr>
          <p:nvPr/>
        </p:nvSpPr>
        <p:spPr>
          <a:xfrm xmlns:a="http://schemas.openxmlformats.org/drawingml/2006/main">
            <a:off x="1333500" y="44100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ЗАКЉУЧАК</a:t>
            </a:r>
          </a:p>
        </p:txBody>
      </p:sp>
      <p:sp>
        <p:nvSpPr>
          <p:cNvPr id="79" name="Rectangle 78">
            <a:extLst xmlns:a="http://schemas.openxmlformats.org/drawingml/2006/main">
              <a:ext uri="{FF2B5EF4-FFF2-40B4-BE49-F238E27FC236}">
                <a16:creationId xmlns:a16="http://schemas.microsoft.com/office/drawing/2014/main" id="{C4FDCB4E-879D-43F6-BEA0-A3519F139156}"/>
              </a:ext>
            </a:extLst>
          </p:cNvPr>
          <p:cNvSpPr>
            <a:spLocks xmlns:a="http://schemas.openxmlformats.org/drawingml/2006/main" noGrp="1"/>
          </p:cNvSpPr>
          <p:nvPr/>
        </p:nvSpPr>
        <p:spPr>
          <a:xfrm xmlns:a="http://schemas.openxmlformats.org/drawingml/2006/main">
            <a:off x="1333500" y="4638675"/>
            <a:ext cx="9639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Поверење се не чува заувек. Систем га обнавља или опозива када се промени ризик.</a:t>
            </a:r>
          </a:p>
        </p:txBody>
      </p:sp>
    </p:spTree>
    <p:extLst>
      <p:ext uri="{BB962C8B-B14F-4D97-AF65-F5344CB8AC3E}">
        <p14:creationId xmlns:p14="http://schemas.microsoft.com/office/powerpoint/2010/main" val="183502824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A750244A-431F-4E7A-AA82-6264A49C1283}"/>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1D4BF382-5245-41F7-B92B-6AEB53DFC078}"/>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9DA50FE9-4E7C-4DD9-8F02-1D3857BFACA0}"/>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4</a:t>
            </a:r>
          </a:p>
        </p:txBody>
      </p:sp>
      <p:sp>
        <p:nvSpPr>
          <p:cNvPr id="4" name="Rectangle 3">
            <a:extLst xmlns:a="http://schemas.openxmlformats.org/drawingml/2006/main">
              <a:ext uri="{FF2B5EF4-FFF2-40B4-BE49-F238E27FC236}">
                <a16:creationId xmlns:a16="http://schemas.microsoft.com/office/drawing/2014/main" id="{BB829B28-5DD4-4C5A-884C-DFB26ECFA3E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Пријава</a:t>
            </a:r>
          </a:p>
        </p:txBody>
      </p:sp>
      <p:sp>
        <p:nvSpPr>
          <p:cNvPr id="5" name="Rectangle 4">
            <a:extLst xmlns:a="http://schemas.openxmlformats.org/drawingml/2006/main">
              <a:ext uri="{FF2B5EF4-FFF2-40B4-BE49-F238E27FC236}">
                <a16:creationId xmlns:a16="http://schemas.microsoft.com/office/drawing/2014/main" id="{53FC5127-9976-452F-B294-757161EF0050}"/>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почетна потврда идентитета</a:t>
            </a:r>
          </a:p>
        </p:txBody>
      </p:sp>
      <p:sp>
        <p:nvSpPr>
          <p:cNvPr id="6" name="Rounded Rectangle 5">
            <a:extLst xmlns:a="http://schemas.openxmlformats.org/drawingml/2006/main">
              <a:ext uri="{FF2B5EF4-FFF2-40B4-BE49-F238E27FC236}">
                <a16:creationId xmlns:a16="http://schemas.microsoft.com/office/drawing/2014/main" id="{2767F7EB-2F2F-4796-8CFB-47E0FC1EA982}"/>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67E5ED6B-F014-4938-9CAD-EB2B8CB9FDD9}"/>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D7BEEAFD-8BCD-4947-8223-0E5B4126D998}"/>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Пријава потврђује идентитет у једном тренутку; не говори шта субјекат сме да ради касније.</a:t>
            </a:r>
          </a:p>
        </p:txBody>
      </p:sp>
      <p:sp>
        <p:nvSpPr>
          <p:cNvPr id="9" name="Rectangle 8">
            <a:extLst xmlns:a="http://schemas.openxmlformats.org/drawingml/2006/main">
              <a:ext uri="{FF2B5EF4-FFF2-40B4-BE49-F238E27FC236}">
                <a16:creationId xmlns:a16="http://schemas.microsoft.com/office/drawing/2014/main" id="{F72BCEF3-6B83-480C-AECA-8EF9E0FC61D6}"/>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4A8885A6-B1E1-4E07-86F7-BE6ED31929C6}"/>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D5B21458-10E6-47BB-81BA-37EFC6684220}"/>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65208FCE-23DC-4DAD-819C-EBA9E18C7342}"/>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Вишефакторска потврда вреди за субјекта који ју је дао и за ограничено време.</a:t>
            </a:r>
          </a:p>
        </p:txBody>
      </p:sp>
      <p:sp>
        <p:nvSpPr>
          <p:cNvPr id="13" name="Rectangle 12">
            <a:extLst xmlns:a="http://schemas.openxmlformats.org/drawingml/2006/main">
              <a:ext uri="{FF2B5EF4-FFF2-40B4-BE49-F238E27FC236}">
                <a16:creationId xmlns:a16="http://schemas.microsoft.com/office/drawing/2014/main" id="{928FED2F-7742-4B11-8362-54A23A6B6A87}"/>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6C9BA3A3-A841-4D25-B939-0365315559E2}"/>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A5AC6DFA-8048-4DEF-964D-AB3A1ED50077}"/>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C0BB79A0-0ECF-4BAE-B04A-5803E2CFAECF}"/>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Систем бележи време и начин потврде, али никада саму лозинку или код.</a:t>
            </a:r>
          </a:p>
        </p:txBody>
      </p:sp>
      <p:sp>
        <p:nvSpPr>
          <p:cNvPr id="17" name="Rectangle 16">
            <a:extLst xmlns:a="http://schemas.openxmlformats.org/drawingml/2006/main">
              <a:ext uri="{FF2B5EF4-FFF2-40B4-BE49-F238E27FC236}">
                <a16:creationId xmlns:a16="http://schemas.microsoft.com/office/drawing/2014/main" id="{E17CBCE1-2A0B-4F8A-AB5C-2A5B0DD7439B}"/>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3A87456B-1C79-4F83-AB44-66CB4AB81A34}"/>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3173750C-4A76-4488-9379-892AC8BEF48B}"/>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430295DE-FE17-49AA-8320-D76558FB4D07}"/>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849D5D74-7E43-466A-8AA6-9F1F8CB37867}"/>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23B7D4D9-16B4-4550-8EA6-69C4C94414C5}"/>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C74A16CE-4466-437D-A0C9-F3503D167B96}"/>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Шта ваш систем зна о кориснику одмах после пријаве, а шта тек треба да провери?</a:t>
            </a:r>
          </a:p>
        </p:txBody>
      </p:sp>
    </p:spTree>
    <p:extLst>
      <p:ext uri="{BB962C8B-B14F-4D97-AF65-F5344CB8AC3E}">
        <p14:creationId xmlns:p14="http://schemas.microsoft.com/office/powerpoint/2010/main" val="7172758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A965FD60-55B8-4B2E-B56C-61DE2F6FD620}"/>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7FBC1723-69AB-4539-BD6C-3B13A56BEDDC}"/>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EB976248-7C12-445C-8093-B3D71717F160}"/>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5</a:t>
            </a:r>
          </a:p>
        </p:txBody>
      </p:sp>
      <p:sp>
        <p:nvSpPr>
          <p:cNvPr id="4" name="Rectangle 3">
            <a:extLst xmlns:a="http://schemas.openxmlformats.org/drawingml/2006/main">
              <a:ext uri="{FF2B5EF4-FFF2-40B4-BE49-F238E27FC236}">
                <a16:creationId xmlns:a16="http://schemas.microsoft.com/office/drawing/2014/main" id="{53104EB2-C59B-4E2E-8614-A784F377B895}"/>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Сесија</a:t>
            </a:r>
          </a:p>
        </p:txBody>
      </p:sp>
      <p:sp>
        <p:nvSpPr>
          <p:cNvPr id="5" name="Rectangle 4">
            <a:extLst xmlns:a="http://schemas.openxmlformats.org/drawingml/2006/main">
              <a:ext uri="{FF2B5EF4-FFF2-40B4-BE49-F238E27FC236}">
                <a16:creationId xmlns:a16="http://schemas.microsoft.com/office/drawing/2014/main" id="{C19B0B5F-21F8-488D-8647-B87B33F34E80}"/>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привремени контекст приступа</a:t>
            </a:r>
          </a:p>
        </p:txBody>
      </p:sp>
      <p:sp>
        <p:nvSpPr>
          <p:cNvPr id="6" name="Rounded Rectangle 5">
            <a:extLst xmlns:a="http://schemas.openxmlformats.org/drawingml/2006/main">
              <a:ext uri="{FF2B5EF4-FFF2-40B4-BE49-F238E27FC236}">
                <a16:creationId xmlns:a16="http://schemas.microsoft.com/office/drawing/2014/main" id="{765FED9C-6C10-4A79-B676-355E1F0FAFFB}"/>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B3CD392E-0EED-4C8F-BFF3-23CCF9930661}"/>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46DEF15E-5534-49B7-AA11-3FBA8182021D}"/>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Сесија је привремени доказ контекста, а не трајна потврда поверења.</a:t>
            </a:r>
          </a:p>
        </p:txBody>
      </p:sp>
      <p:sp>
        <p:nvSpPr>
          <p:cNvPr id="9" name="Rectangle 8">
            <a:extLst xmlns:a="http://schemas.openxmlformats.org/drawingml/2006/main">
              <a:ext uri="{FF2B5EF4-FFF2-40B4-BE49-F238E27FC236}">
                <a16:creationId xmlns:a16="http://schemas.microsoft.com/office/drawing/2014/main" id="{87A75830-836B-4985-99F6-F405656788F9}"/>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C14404D8-890B-4F0C-AD08-EF75155809A3}"/>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8558877E-EE0A-47C3-8A61-8860B27E006B}"/>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DDC72BBB-D74A-4F27-ACC8-94AE6EA6C10A}"/>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Сервер при сваком захтеву проверава да ли сесија и даље важи.</a:t>
            </a:r>
          </a:p>
        </p:txBody>
      </p:sp>
      <p:sp>
        <p:nvSpPr>
          <p:cNvPr id="13" name="Rectangle 12">
            <a:extLst xmlns:a="http://schemas.openxmlformats.org/drawingml/2006/main">
              <a:ext uri="{FF2B5EF4-FFF2-40B4-BE49-F238E27FC236}">
                <a16:creationId xmlns:a16="http://schemas.microsoft.com/office/drawing/2014/main" id="{99607489-557F-4F85-B87A-641E31BC2EF0}"/>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CA317E77-D4F7-4B92-8687-AB8CC039B02D}"/>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284DE8BD-5EFC-49A5-A36D-B5BB15B1B1C1}"/>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C776E2E8-7E78-4B23-AEBB-CC239706DD48}"/>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Запис о сесији чува када је настала, када је потврђена и када је престала да важи.</a:t>
            </a:r>
          </a:p>
        </p:txBody>
      </p:sp>
      <p:sp>
        <p:nvSpPr>
          <p:cNvPr id="17" name="Rectangle 16">
            <a:extLst xmlns:a="http://schemas.openxmlformats.org/drawingml/2006/main">
              <a:ext uri="{FF2B5EF4-FFF2-40B4-BE49-F238E27FC236}">
                <a16:creationId xmlns:a16="http://schemas.microsoft.com/office/drawing/2014/main" id="{76AFE5A2-4BB8-4972-A0A4-16222C462B11}"/>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398925E4-2A7B-4D68-B436-B7A2606066D1}"/>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CD937710-E259-4CAD-AFD3-7A75248A8DED}"/>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3EF68F66-56FE-4C89-B50E-B36062E70C60}"/>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38366EC8-78C1-4DA1-A251-91291EC66740}"/>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7CF05F09-B2D6-4275-9291-EF09701AC6F1}"/>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429C3A30-1D7C-488F-9197-F12B8DCD2353}"/>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Који податак о сесији сервер мора да провери пре сваке осетљиве радње?</a:t>
            </a:r>
          </a:p>
        </p:txBody>
      </p:sp>
    </p:spTree>
    <p:extLst>
      <p:ext uri="{BB962C8B-B14F-4D97-AF65-F5344CB8AC3E}">
        <p14:creationId xmlns:p14="http://schemas.microsoft.com/office/powerpoint/2010/main" val="50619486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6A9C3158-0D45-4DAF-9FCC-0BE4E972FE7D}"/>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8C1D4E96-115F-4C63-9A01-11F98B2CB673}"/>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CA328BF8-CF25-4F1E-A15C-2F7135357B17}"/>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6</a:t>
            </a:r>
          </a:p>
        </p:txBody>
      </p:sp>
      <p:sp>
        <p:nvSpPr>
          <p:cNvPr id="4" name="Rectangle 3">
            <a:extLst xmlns:a="http://schemas.openxmlformats.org/drawingml/2006/main">
              <a:ext uri="{FF2B5EF4-FFF2-40B4-BE49-F238E27FC236}">
                <a16:creationId xmlns:a16="http://schemas.microsoft.com/office/drawing/2014/main" id="{92E6F3B8-C4C3-4D97-8677-BCBD8B4264D7}"/>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Додатна потврда</a:t>
            </a:r>
          </a:p>
        </p:txBody>
      </p:sp>
      <p:sp>
        <p:nvSpPr>
          <p:cNvPr id="5" name="Rectangle 4">
            <a:extLst xmlns:a="http://schemas.openxmlformats.org/drawingml/2006/main">
              <a:ext uri="{FF2B5EF4-FFF2-40B4-BE49-F238E27FC236}">
                <a16:creationId xmlns:a16="http://schemas.microsoft.com/office/drawing/2014/main" id="{545E5071-AA16-4E78-AAF6-F0F33268EF96}"/>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за ризичну радњу</a:t>
            </a:r>
          </a:p>
        </p:txBody>
      </p:sp>
      <p:sp>
        <p:nvSpPr>
          <p:cNvPr id="6" name="Rounded Rectangle 5">
            <a:extLst xmlns:a="http://schemas.openxmlformats.org/drawingml/2006/main">
              <a:ext uri="{FF2B5EF4-FFF2-40B4-BE49-F238E27FC236}">
                <a16:creationId xmlns:a16="http://schemas.microsoft.com/office/drawing/2014/main" id="{828A72ED-8EC1-4C37-AB39-790E4A185420}"/>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FCED9A3A-AF48-4190-BD50-916D7CEA774C}"/>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9F5CB060-CD72-4DEE-B197-AB908C543D28}"/>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Додатну потврду тражи конкретна ризична радња, а не само тип корисника.</a:t>
            </a:r>
          </a:p>
        </p:txBody>
      </p:sp>
      <p:sp>
        <p:nvSpPr>
          <p:cNvPr id="9" name="Rectangle 8">
            <a:extLst xmlns:a="http://schemas.openxmlformats.org/drawingml/2006/main">
              <a:ext uri="{FF2B5EF4-FFF2-40B4-BE49-F238E27FC236}">
                <a16:creationId xmlns:a16="http://schemas.microsoft.com/office/drawing/2014/main" id="{DD6A8352-DA65-4E71-B48E-83175154CE23}"/>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88A7777A-E40B-43BF-A629-7AE52F633271}"/>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2B80460E-5CBF-44CA-8BD1-F2FB3F1A66CA}"/>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3856EF9B-56B4-44CA-8EA0-130FDC773335}"/>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Свака радња одређује колико стара потврда идентитета сме да буде.</a:t>
            </a:r>
          </a:p>
        </p:txBody>
      </p:sp>
      <p:sp>
        <p:nvSpPr>
          <p:cNvPr id="13" name="Rectangle 12">
            <a:extLst xmlns:a="http://schemas.openxmlformats.org/drawingml/2006/main">
              <a:ext uri="{FF2B5EF4-FFF2-40B4-BE49-F238E27FC236}">
                <a16:creationId xmlns:a16="http://schemas.microsoft.com/office/drawing/2014/main" id="{8D9CE632-76C9-4BEA-8402-C1FB37149D0C}"/>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2A00DBB0-FC29-4430-9DBA-BB69ADA31785}"/>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A4B3CC8B-795A-45C0-9DF6-1C45749BFFB8}"/>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3053C002-15B3-449E-9371-85BBC893EC98}"/>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Одлука бележи да ли је тражена нова потврда и из ког разлога.</a:t>
            </a:r>
          </a:p>
        </p:txBody>
      </p:sp>
      <p:sp>
        <p:nvSpPr>
          <p:cNvPr id="17" name="Rectangle 16">
            <a:extLst xmlns:a="http://schemas.openxmlformats.org/drawingml/2006/main">
              <a:ext uri="{FF2B5EF4-FFF2-40B4-BE49-F238E27FC236}">
                <a16:creationId xmlns:a16="http://schemas.microsoft.com/office/drawing/2014/main" id="{2999A37F-2CCA-49A4-9C43-41EAC337C4E3}"/>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363FEA12-6649-4306-85CE-FF89B754F599}"/>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CD1C8C30-4E87-469B-87AB-B5D5AB4EECBD}"/>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936673FE-5220-4079-B6DD-C0CAB1ED4458}"/>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461FD54F-DDAE-41DF-A16C-B4DEED3D8BA6}"/>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3C53D655-26D2-488F-BB5E-6AF742F1267C}"/>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A86CC111-EABD-4873-929B-C23E8718C0A6}"/>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Која радња у вашем систему заслужује додатну потврду и колико свежа она мора бити?</a:t>
            </a:r>
          </a:p>
        </p:txBody>
      </p:sp>
    </p:spTree>
    <p:extLst>
      <p:ext uri="{BB962C8B-B14F-4D97-AF65-F5344CB8AC3E}">
        <p14:creationId xmlns:p14="http://schemas.microsoft.com/office/powerpoint/2010/main" val="33029844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659EEF07-3871-4227-9CF8-617931CAE332}"/>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B21B6EEA-9DC4-437C-90DA-659790547C13}"/>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B9F361B3-06B5-4423-AE2A-8D3D66EF910D}"/>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7</a:t>
            </a:r>
          </a:p>
        </p:txBody>
      </p:sp>
      <p:sp>
        <p:nvSpPr>
          <p:cNvPr id="4" name="Rectangle 3">
            <a:extLst xmlns:a="http://schemas.openxmlformats.org/drawingml/2006/main">
              <a:ext uri="{FF2B5EF4-FFF2-40B4-BE49-F238E27FC236}">
                <a16:creationId xmlns:a16="http://schemas.microsoft.com/office/drawing/2014/main" id="{7912666D-3229-43C0-AE3B-B857052328A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Истек или опозив</a:t>
            </a:r>
          </a:p>
        </p:txBody>
      </p:sp>
      <p:sp>
        <p:nvSpPr>
          <p:cNvPr id="5" name="Rectangle 4">
            <a:extLst xmlns:a="http://schemas.openxmlformats.org/drawingml/2006/main">
              <a:ext uri="{FF2B5EF4-FFF2-40B4-BE49-F238E27FC236}">
                <a16:creationId xmlns:a16="http://schemas.microsoft.com/office/drawing/2014/main" id="{B3D9BC8D-716B-47C9-890A-57D3F34F9AF7}"/>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прекид важења приступа</a:t>
            </a:r>
          </a:p>
        </p:txBody>
      </p:sp>
      <p:sp>
        <p:nvSpPr>
          <p:cNvPr id="6" name="Rounded Rectangle 5">
            <a:extLst xmlns:a="http://schemas.openxmlformats.org/drawingml/2006/main">
              <a:ext uri="{FF2B5EF4-FFF2-40B4-BE49-F238E27FC236}">
                <a16:creationId xmlns:a16="http://schemas.microsoft.com/office/drawing/2014/main" id="{CECC8628-89EE-463C-982E-D0A63FBFE3B3}"/>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8097A794-7EBB-4249-9EB4-F09C6295C98C}"/>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0C1962D6-7125-4E9A-A705-10D7ECB8FC36}"/>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Истек ограничава трајање поверења чак и када нема видљивог инцидента.</a:t>
            </a:r>
          </a:p>
        </p:txBody>
      </p:sp>
      <p:sp>
        <p:nvSpPr>
          <p:cNvPr id="9" name="Rectangle 8">
            <a:extLst xmlns:a="http://schemas.openxmlformats.org/drawingml/2006/main">
              <a:ext uri="{FF2B5EF4-FFF2-40B4-BE49-F238E27FC236}">
                <a16:creationId xmlns:a16="http://schemas.microsoft.com/office/drawing/2014/main" id="{ED9BA055-10E9-4E79-9100-90DACF69CAC1}"/>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EC41DC93-5363-462D-8D49-430DFACBCA54}"/>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711CC393-54F5-4A2E-A7CD-46832E32740A}"/>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02C8E821-1173-44EF-8B97-A042AA1BB8FB}"/>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Опозив има предност над сваким ранијим доказом идентитета.</a:t>
            </a:r>
          </a:p>
        </p:txBody>
      </p:sp>
      <p:sp>
        <p:nvSpPr>
          <p:cNvPr id="13" name="Rectangle 12">
            <a:extLst xmlns:a="http://schemas.openxmlformats.org/drawingml/2006/main">
              <a:ext uri="{FF2B5EF4-FFF2-40B4-BE49-F238E27FC236}">
                <a16:creationId xmlns:a16="http://schemas.microsoft.com/office/drawing/2014/main" id="{DB1EBD1E-8884-4453-AA98-364A0C41655A}"/>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C6A03353-DCFF-4158-AF7F-18E8CD7C3BCC}"/>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EC1038EA-93C7-4355-9D14-DEAE553E9F01}"/>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A34D8256-75D0-4F00-8B75-688CF3718D52}"/>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Опозив и истек остављају траг: ко је прекинуо приступ, када и зашто.</a:t>
            </a:r>
          </a:p>
        </p:txBody>
      </p:sp>
      <p:sp>
        <p:nvSpPr>
          <p:cNvPr id="17" name="Rectangle 16">
            <a:extLst xmlns:a="http://schemas.openxmlformats.org/drawingml/2006/main">
              <a:ext uri="{FF2B5EF4-FFF2-40B4-BE49-F238E27FC236}">
                <a16:creationId xmlns:a16="http://schemas.microsoft.com/office/drawing/2014/main" id="{124E15CF-0C2F-4B64-9C93-0321C90CE7C8}"/>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028BD193-BA55-43B1-9B96-2A67AB5FF9AE}"/>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1E50AF6D-43B0-4D0F-92B3-9C34E484E606}"/>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0CF7A7C8-DBB3-4959-A159-CD88A3EAE7A2}"/>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7FFFF33A-DC57-4DC0-BB59-E5E0100E5650}"/>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F7EBC964-DDE0-4C2B-9B66-15638BD9C60F}"/>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6E196054-AAA5-4C37-8D6B-2382F948A5BA}"/>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Који догађај у вашем систему мора одмах да опозове постојећу сесију?</a:t>
            </a:r>
          </a:p>
        </p:txBody>
      </p:sp>
    </p:spTree>
    <p:extLst>
      <p:ext uri="{BB962C8B-B14F-4D97-AF65-F5344CB8AC3E}">
        <p14:creationId xmlns:p14="http://schemas.microsoft.com/office/powerpoint/2010/main" val="111983298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Rectangle 24">
            <a:extLst xmlns:a="http://schemas.openxmlformats.org/drawingml/2006/main">
              <a:ext uri="{FF2B5EF4-FFF2-40B4-BE49-F238E27FC236}">
                <a16:creationId xmlns:a16="http://schemas.microsoft.com/office/drawing/2014/main" id="{1FA49612-00E2-4578-B4C2-A9D26D49B464}"/>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5B90DC76-738F-4DD5-A23C-B5F3C605F4B7}"/>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70132614-D32F-4094-B4E7-4B1DF9514406}"/>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8</a:t>
            </a:r>
          </a:p>
        </p:txBody>
      </p:sp>
      <p:sp>
        <p:nvSpPr>
          <p:cNvPr id="4" name="Rectangle 3">
            <a:extLst xmlns:a="http://schemas.openxmlformats.org/drawingml/2006/main">
              <a:ext uri="{FF2B5EF4-FFF2-40B4-BE49-F238E27FC236}">
                <a16:creationId xmlns:a16="http://schemas.microsoft.com/office/drawing/2014/main" id="{426ED9E0-B568-42C3-B3F4-94807BD6585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Различите врсте идентитета</a:t>
            </a:r>
          </a:p>
        </p:txBody>
      </p:sp>
      <p:sp>
        <p:nvSpPr>
          <p:cNvPr id="5" name="Rectangle 4">
            <a:extLst xmlns:a="http://schemas.openxmlformats.org/drawingml/2006/main">
              <a:ext uri="{FF2B5EF4-FFF2-40B4-BE49-F238E27FC236}">
                <a16:creationId xmlns:a16="http://schemas.microsoft.com/office/drawing/2014/main" id="{DEAEF5D0-71F9-4A50-9984-7406375212EE}"/>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Поређење приказује функцију сваког елемента и ограничење његове самосталне примене.</a:t>
            </a:r>
          </a:p>
        </p:txBody>
      </p:sp>
      <p:sp>
        <p:nvSpPr>
          <p:cNvPr id="6" name="Rectangle 5">
            <a:extLst xmlns:a="http://schemas.openxmlformats.org/drawingml/2006/main">
              <a:ext uri="{FF2B5EF4-FFF2-40B4-BE49-F238E27FC236}">
                <a16:creationId xmlns:a16="http://schemas.microsoft.com/office/drawing/2014/main" id="{0D1B1166-CE5A-401C-89C3-E2D94661AEF6}"/>
              </a:ext>
            </a:extLst>
          </p:cNvPr>
          <p:cNvSpPr>
            <a:spLocks xmlns:a="http://schemas.openxmlformats.org/drawingml/2006/main" noGrp="1"/>
          </p:cNvSpPr>
          <p:nvPr/>
        </p:nvSpPr>
        <p:spPr>
          <a:xfrm xmlns:a="http://schemas.openxmlformats.org/drawingml/2006/main">
            <a:off x="876300" y="2047875"/>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Идентитет</a:t>
            </a:r>
          </a:p>
        </p:txBody>
      </p:sp>
      <p:sp>
        <p:nvSpPr>
          <p:cNvPr id="7" name="Rectangle 6">
            <a:extLst xmlns:a="http://schemas.openxmlformats.org/drawingml/2006/main">
              <a:ext uri="{FF2B5EF4-FFF2-40B4-BE49-F238E27FC236}">
                <a16:creationId xmlns:a16="http://schemas.microsoft.com/office/drawing/2014/main" id="{725BFCD5-040B-4C58-8C7D-12E4665052EC}"/>
              </a:ext>
            </a:extLst>
          </p:cNvPr>
          <p:cNvSpPr>
            <a:spLocks xmlns:a="http://schemas.openxmlformats.org/drawingml/2006/main" noGrp="1"/>
          </p:cNvSpPr>
          <p:nvPr/>
        </p:nvSpPr>
        <p:spPr>
          <a:xfrm xmlns:a="http://schemas.openxmlformats.org/drawingml/2006/main">
            <a:off x="3638550" y="2047875"/>
            <a:ext cx="3619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Намена</a:t>
            </a:r>
          </a:p>
        </p:txBody>
      </p:sp>
      <p:sp>
        <p:nvSpPr>
          <p:cNvPr id="8" name="Rectangle 7">
            <a:extLst xmlns:a="http://schemas.openxmlformats.org/drawingml/2006/main">
              <a:ext uri="{FF2B5EF4-FFF2-40B4-BE49-F238E27FC236}">
                <a16:creationId xmlns:a16="http://schemas.microsoft.com/office/drawing/2014/main" id="{A7FBFBAD-0D52-488C-88C4-F4E5EE061390}"/>
              </a:ext>
            </a:extLst>
          </p:cNvPr>
          <p:cNvSpPr>
            <a:spLocks xmlns:a="http://schemas.openxmlformats.org/drawingml/2006/main" noGrp="1"/>
          </p:cNvSpPr>
          <p:nvPr/>
        </p:nvSpPr>
        <p:spPr>
          <a:xfrm xmlns:a="http://schemas.openxmlformats.org/drawingml/2006/main">
            <a:off x="7543800" y="2047875"/>
            <a:ext cx="3771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Посебан ризик</a:t>
            </a:r>
          </a:p>
        </p:txBody>
      </p:sp>
      <p:sp>
        <p:nvSpPr>
          <p:cNvPr id="9" name="Rounded Rectangle 8">
            <a:extLst xmlns:a="http://schemas.openxmlformats.org/drawingml/2006/main">
              <a:ext uri="{FF2B5EF4-FFF2-40B4-BE49-F238E27FC236}">
                <a16:creationId xmlns:a16="http://schemas.microsoft.com/office/drawing/2014/main" id="{578E1477-0DE1-4454-8338-8CE6DDD99592}"/>
              </a:ext>
            </a:extLst>
          </p:cNvPr>
          <p:cNvSpPr>
            <a:spLocks xmlns:a="http://schemas.openxmlformats.org/drawingml/2006/main" noGrp="1"/>
          </p:cNvSpPr>
          <p:nvPr/>
        </p:nvSpPr>
        <p:spPr>
          <a:xfrm xmlns:a="http://schemas.openxmlformats.org/drawingml/2006/main">
            <a:off x="800100" y="2362200"/>
            <a:ext cx="10591800" cy="609600"/>
          </a:xfrm>
          <a:prstGeom xmlns:a="http://schemas.openxmlformats.org/drawingml/2006/main" prst="roundRect">
            <a:avLst>
              <a:gd name="adj" fmla="val 17188"/>
            </a:avLst>
          </a:prstGeom>
          <a:solidFill xmlns:a="http://schemas.openxmlformats.org/drawingml/2006/main">
            <a:srgbClr val="F4F6F9"/>
          </a:solidFill>
          <a:ln xmlns:a="http://schemas.openxmlformats.org/drawingml/2006/main" w="9525">
            <a:solidFill>
              <a:srgbClr val="D7DEE8"/>
            </a:solidFill>
            <a:prstDash val="solid"/>
          </a:ln>
        </p:spPr>
      </p:sp>
      <p:sp>
        <p:nvSpPr>
          <p:cNvPr id="10" name="Rectangle 9">
            <a:extLst xmlns:a="http://schemas.openxmlformats.org/drawingml/2006/main">
              <a:ext uri="{FF2B5EF4-FFF2-40B4-BE49-F238E27FC236}">
                <a16:creationId xmlns:a16="http://schemas.microsoft.com/office/drawing/2014/main" id="{AC829531-B147-43A5-ACC2-B3CA3BECF73E}"/>
              </a:ext>
            </a:extLst>
          </p:cNvPr>
          <p:cNvSpPr>
            <a:spLocks xmlns:a="http://schemas.openxmlformats.org/drawingml/2006/main" noGrp="1"/>
          </p:cNvSpPr>
          <p:nvPr/>
        </p:nvSpPr>
        <p:spPr>
          <a:xfrm xmlns:a="http://schemas.openxmlformats.org/drawingml/2006/main">
            <a:off x="952500" y="248602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748092"/>
                </a:solidFill>
                <a:latin typeface="Aptos"/>
                <a:ea typeface="Aptos"/>
                <a:cs typeface="Aptos"/>
              </a:defRPr>
            </a:pPr>
            <a:r>
              <a:rPr sz="1275" b="1">
                <a:solidFill>
                  <a:srgbClr val="748092"/>
                </a:solidFill>
                <a:latin typeface="Aptos"/>
                <a:ea typeface="Aptos"/>
                <a:cs typeface="Aptos"/>
              </a:rPr>
              <a:t>Људски корисник</a:t>
            </a:r>
          </a:p>
        </p:txBody>
      </p:sp>
      <p:sp>
        <p:nvSpPr>
          <p:cNvPr id="11" name="Rectangle 10">
            <a:extLst xmlns:a="http://schemas.openxmlformats.org/drawingml/2006/main">
              <a:ext uri="{FF2B5EF4-FFF2-40B4-BE49-F238E27FC236}">
                <a16:creationId xmlns:a16="http://schemas.microsoft.com/office/drawing/2014/main" id="{79428596-F7F1-43E4-8A66-0BED2C2B4FC8}"/>
              </a:ext>
            </a:extLst>
          </p:cNvPr>
          <p:cNvSpPr>
            <a:spLocks xmlns:a="http://schemas.openxmlformats.org/drawingml/2006/main" noGrp="1"/>
          </p:cNvSpPr>
          <p:nvPr/>
        </p:nvSpPr>
        <p:spPr>
          <a:xfrm xmlns:a="http://schemas.openxmlformats.org/drawingml/2006/main">
            <a:off x="3638550" y="24288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Интерактивне радње и одговорност.</a:t>
            </a:r>
          </a:p>
        </p:txBody>
      </p:sp>
      <p:sp>
        <p:nvSpPr>
          <p:cNvPr id="12" name="Rectangle 11">
            <a:extLst xmlns:a="http://schemas.openxmlformats.org/drawingml/2006/main">
              <a:ext uri="{FF2B5EF4-FFF2-40B4-BE49-F238E27FC236}">
                <a16:creationId xmlns:a16="http://schemas.microsoft.com/office/drawing/2014/main" id="{D9699CA7-DACD-406F-84C3-0A795615D135}"/>
              </a:ext>
            </a:extLst>
          </p:cNvPr>
          <p:cNvSpPr>
            <a:spLocks xmlns:a="http://schemas.openxmlformats.org/drawingml/2006/main" noGrp="1"/>
          </p:cNvSpPr>
          <p:nvPr/>
        </p:nvSpPr>
        <p:spPr>
          <a:xfrm xmlns:a="http://schemas.openxmlformats.org/drawingml/2006/main">
            <a:off x="7543800" y="24288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Крађа креденцијала или преширока улога.</a:t>
            </a:r>
          </a:p>
        </p:txBody>
      </p:sp>
      <p:sp>
        <p:nvSpPr>
          <p:cNvPr id="13" name="Rounded Rectangle 12">
            <a:extLst xmlns:a="http://schemas.openxmlformats.org/drawingml/2006/main">
              <a:ext uri="{FF2B5EF4-FFF2-40B4-BE49-F238E27FC236}">
                <a16:creationId xmlns:a16="http://schemas.microsoft.com/office/drawing/2014/main" id="{750175FD-053A-48A3-8CC5-408FCE563DEB}"/>
              </a:ext>
            </a:extLst>
          </p:cNvPr>
          <p:cNvSpPr>
            <a:spLocks xmlns:a="http://schemas.openxmlformats.org/drawingml/2006/main" noGrp="1"/>
          </p:cNvSpPr>
          <p:nvPr/>
        </p:nvSpPr>
        <p:spPr>
          <a:xfrm xmlns:a="http://schemas.openxmlformats.org/drawingml/2006/main">
            <a:off x="800100" y="3105150"/>
            <a:ext cx="10591800" cy="609600"/>
          </a:xfrm>
          <a:prstGeom xmlns:a="http://schemas.openxmlformats.org/drawingml/2006/main" prst="roundRect">
            <a:avLst>
              <a:gd name="adj" fmla="val 17188"/>
            </a:avLst>
          </a:prstGeom>
          <a:solidFill xmlns:a="http://schemas.openxmlformats.org/drawingml/2006/main">
            <a:srgbClr val="F7EFF1"/>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AF78A3C5-5C13-491A-8E0B-DBA4ADB04715}"/>
              </a:ext>
            </a:extLst>
          </p:cNvPr>
          <p:cNvSpPr>
            <a:spLocks xmlns:a="http://schemas.openxmlformats.org/drawingml/2006/main" noGrp="1"/>
          </p:cNvSpPr>
          <p:nvPr/>
        </p:nvSpPr>
        <p:spPr>
          <a:xfrm xmlns:a="http://schemas.openxmlformats.org/drawingml/2006/main">
            <a:off x="952500" y="322897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2F5EF5"/>
                </a:solidFill>
                <a:latin typeface="Aptos"/>
                <a:ea typeface="Aptos"/>
                <a:cs typeface="Aptos"/>
              </a:defRPr>
            </a:pPr>
            <a:r>
              <a:rPr sz="1275" b="1">
                <a:solidFill>
                  <a:srgbClr val="7A2636"/>
                </a:solidFill>
                <a:latin typeface="Aptos"/>
                <a:ea typeface="Aptos"/>
                <a:cs typeface="Aptos"/>
              </a:rPr>
              <a:t>Сервисни налог</a:t>
            </a:r>
          </a:p>
        </p:txBody>
      </p:sp>
      <p:sp>
        <p:nvSpPr>
          <p:cNvPr id="15" name="Rectangle 14">
            <a:extLst xmlns:a="http://schemas.openxmlformats.org/drawingml/2006/main">
              <a:ext uri="{FF2B5EF4-FFF2-40B4-BE49-F238E27FC236}">
                <a16:creationId xmlns:a16="http://schemas.microsoft.com/office/drawing/2014/main" id="{A7E6D7B0-2A6F-43B6-8CEF-E1188DB732F4}"/>
              </a:ext>
            </a:extLst>
          </p:cNvPr>
          <p:cNvSpPr>
            <a:spLocks xmlns:a="http://schemas.openxmlformats.org/drawingml/2006/main" noGrp="1"/>
          </p:cNvSpPr>
          <p:nvPr/>
        </p:nvSpPr>
        <p:spPr>
          <a:xfrm xmlns:a="http://schemas.openxmlformats.org/drawingml/2006/main">
            <a:off x="3638550" y="31718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Комуникација међу компонентама.</a:t>
            </a:r>
          </a:p>
        </p:txBody>
      </p:sp>
      <p:sp>
        <p:nvSpPr>
          <p:cNvPr id="16" name="Rectangle 15">
            <a:extLst xmlns:a="http://schemas.openxmlformats.org/drawingml/2006/main">
              <a:ext uri="{FF2B5EF4-FFF2-40B4-BE49-F238E27FC236}">
                <a16:creationId xmlns:a16="http://schemas.microsoft.com/office/drawing/2014/main" id="{E573AD47-986C-4933-9AC8-372F140A68D3}"/>
              </a:ext>
            </a:extLst>
          </p:cNvPr>
          <p:cNvSpPr>
            <a:spLocks xmlns:a="http://schemas.openxmlformats.org/drawingml/2006/main" noGrp="1"/>
          </p:cNvSpPr>
          <p:nvPr/>
        </p:nvSpPr>
        <p:spPr>
          <a:xfrm xmlns:a="http://schemas.openxmlformats.org/drawingml/2006/main">
            <a:off x="7543800" y="31718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Тајна без рока или превелик опсег.</a:t>
            </a:r>
          </a:p>
        </p:txBody>
      </p:sp>
      <p:sp>
        <p:nvSpPr>
          <p:cNvPr id="17" name="Rounded Rectangle 16">
            <a:extLst xmlns:a="http://schemas.openxmlformats.org/drawingml/2006/main">
              <a:ext uri="{FF2B5EF4-FFF2-40B4-BE49-F238E27FC236}">
                <a16:creationId xmlns:a16="http://schemas.microsoft.com/office/drawing/2014/main" id="{C49524F1-EF03-4E5A-9795-AC5DA6934696}"/>
              </a:ext>
            </a:extLst>
          </p:cNvPr>
          <p:cNvSpPr>
            <a:spLocks xmlns:a="http://schemas.openxmlformats.org/drawingml/2006/main" noGrp="1"/>
          </p:cNvSpPr>
          <p:nvPr/>
        </p:nvSpPr>
        <p:spPr>
          <a:xfrm xmlns:a="http://schemas.openxmlformats.org/drawingml/2006/main">
            <a:off x="800100" y="3848100"/>
            <a:ext cx="10591800" cy="609600"/>
          </a:xfrm>
          <a:prstGeom xmlns:a="http://schemas.openxmlformats.org/drawingml/2006/main" prst="roundRect">
            <a:avLst>
              <a:gd name="adj" fmla="val 17188"/>
            </a:avLst>
          </a:prstGeom>
          <a:solidFill xmlns:a="http://schemas.openxmlformats.org/drawingml/2006/main">
            <a:srgbClr val="F7F4F5"/>
          </a:solidFill>
          <a:ln xmlns:a="http://schemas.openxmlformats.org/drawingml/2006/main" w="9525">
            <a:solidFill>
              <a:srgbClr val="D7DEE8"/>
            </a:solidFill>
            <a:prstDash val="solid"/>
          </a:ln>
        </p:spPr>
      </p:sp>
      <p:sp>
        <p:nvSpPr>
          <p:cNvPr id="18" name="Rectangle 17">
            <a:extLst xmlns:a="http://schemas.openxmlformats.org/drawingml/2006/main">
              <a:ext uri="{FF2B5EF4-FFF2-40B4-BE49-F238E27FC236}">
                <a16:creationId xmlns:a16="http://schemas.microsoft.com/office/drawing/2014/main" id="{D9B2C4C6-6A8C-487B-B05F-2C48BCE8C20D}"/>
              </a:ext>
            </a:extLst>
          </p:cNvPr>
          <p:cNvSpPr>
            <a:spLocks xmlns:a="http://schemas.openxmlformats.org/drawingml/2006/main" noGrp="1"/>
          </p:cNvSpPr>
          <p:nvPr/>
        </p:nvSpPr>
        <p:spPr>
          <a:xfrm xmlns:a="http://schemas.openxmlformats.org/drawingml/2006/main">
            <a:off x="952500" y="397192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7651D4"/>
                </a:solidFill>
                <a:latin typeface="Aptos"/>
                <a:ea typeface="Aptos"/>
                <a:cs typeface="Aptos"/>
              </a:defRPr>
            </a:pPr>
            <a:r>
              <a:rPr sz="1275" b="1">
                <a:solidFill>
                  <a:srgbClr val="7A2636"/>
                </a:solidFill>
                <a:latin typeface="Aptos"/>
                <a:ea typeface="Aptos"/>
                <a:cs typeface="Aptos"/>
              </a:rPr>
              <a:t>Привремени приступ</a:t>
            </a:r>
          </a:p>
        </p:txBody>
      </p:sp>
      <p:sp>
        <p:nvSpPr>
          <p:cNvPr id="19" name="Rectangle 18">
            <a:extLst xmlns:a="http://schemas.openxmlformats.org/drawingml/2006/main">
              <a:ext uri="{FF2B5EF4-FFF2-40B4-BE49-F238E27FC236}">
                <a16:creationId xmlns:a16="http://schemas.microsoft.com/office/drawing/2014/main" id="{4F11D6DB-57F8-4369-8912-5F155E48E224}"/>
              </a:ext>
            </a:extLst>
          </p:cNvPr>
          <p:cNvSpPr>
            <a:spLocks xmlns:a="http://schemas.openxmlformats.org/drawingml/2006/main" noGrp="1"/>
          </p:cNvSpPr>
          <p:nvPr/>
        </p:nvSpPr>
        <p:spPr>
          <a:xfrm xmlns:a="http://schemas.openxmlformats.org/drawingml/2006/main">
            <a:off x="3638550" y="39147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Кратка ризична интервенција.</a:t>
            </a:r>
          </a:p>
        </p:txBody>
      </p:sp>
      <p:sp>
        <p:nvSpPr>
          <p:cNvPr id="20" name="Rectangle 19">
            <a:extLst xmlns:a="http://schemas.openxmlformats.org/drawingml/2006/main">
              <a:ext uri="{FF2B5EF4-FFF2-40B4-BE49-F238E27FC236}">
                <a16:creationId xmlns:a16="http://schemas.microsoft.com/office/drawing/2014/main" id="{FB7E91F3-A640-445D-B5F2-39768E74A9D7}"/>
              </a:ext>
            </a:extLst>
          </p:cNvPr>
          <p:cNvSpPr>
            <a:spLocks xmlns:a="http://schemas.openxmlformats.org/drawingml/2006/main" noGrp="1"/>
          </p:cNvSpPr>
          <p:nvPr/>
        </p:nvSpPr>
        <p:spPr>
          <a:xfrm xmlns:a="http://schemas.openxmlformats.org/drawingml/2006/main">
            <a:off x="7543800" y="39147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Право остане активно након потребе.</a:t>
            </a:r>
          </a:p>
        </p:txBody>
      </p:sp>
      <p:sp>
        <p:nvSpPr>
          <p:cNvPr id="21" name="Rounded Rectangle 20">
            <a:extLst xmlns:a="http://schemas.openxmlformats.org/drawingml/2006/main">
              <a:ext uri="{FF2B5EF4-FFF2-40B4-BE49-F238E27FC236}">
                <a16:creationId xmlns:a16="http://schemas.microsoft.com/office/drawing/2014/main" id="{531EBD8E-99E5-44A5-96D5-97101F87BFEF}"/>
              </a:ext>
            </a:extLst>
          </p:cNvPr>
          <p:cNvSpPr>
            <a:spLocks xmlns:a="http://schemas.openxmlformats.org/drawingml/2006/main" noGrp="1"/>
          </p:cNvSpPr>
          <p:nvPr/>
        </p:nvSpPr>
        <p:spPr>
          <a:xfrm xmlns:a="http://schemas.openxmlformats.org/drawingml/2006/main">
            <a:off x="800100" y="4591050"/>
            <a:ext cx="10591800" cy="609600"/>
          </a:xfrm>
          <a:prstGeom xmlns:a="http://schemas.openxmlformats.org/drawingml/2006/main" prst="roundRect">
            <a:avLst>
              <a:gd name="adj" fmla="val 17188"/>
            </a:avLst>
          </a:prstGeom>
          <a:solidFill xmlns:a="http://schemas.openxmlformats.org/drawingml/2006/main">
            <a:srgbClr val="EDF8F2"/>
          </a:solidFill>
          <a:ln xmlns:a="http://schemas.openxmlformats.org/drawingml/2006/main" w="9525">
            <a:solidFill>
              <a:srgbClr val="D7DEE8"/>
            </a:solidFill>
            <a:prstDash val="solid"/>
          </a:ln>
        </p:spPr>
      </p:sp>
      <p:sp>
        <p:nvSpPr>
          <p:cNvPr id="22" name="Rectangle 21">
            <a:extLst xmlns:a="http://schemas.openxmlformats.org/drawingml/2006/main">
              <a:ext uri="{FF2B5EF4-FFF2-40B4-BE49-F238E27FC236}">
                <a16:creationId xmlns:a16="http://schemas.microsoft.com/office/drawing/2014/main" id="{676E7BDD-0A31-4D73-B5D3-DF45DB94ABE1}"/>
              </a:ext>
            </a:extLst>
          </p:cNvPr>
          <p:cNvSpPr>
            <a:spLocks xmlns:a="http://schemas.openxmlformats.org/drawingml/2006/main" noGrp="1"/>
          </p:cNvSpPr>
          <p:nvPr/>
        </p:nvSpPr>
        <p:spPr>
          <a:xfrm xmlns:a="http://schemas.openxmlformats.org/drawingml/2006/main">
            <a:off x="952500" y="471487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38A5B"/>
                </a:solidFill>
                <a:latin typeface="Aptos"/>
                <a:ea typeface="Aptos"/>
                <a:cs typeface="Aptos"/>
              </a:defRPr>
            </a:pPr>
            <a:r>
              <a:rPr sz="1275" b="1">
                <a:solidFill>
                  <a:srgbClr val="138A5B"/>
                </a:solidFill>
                <a:latin typeface="Aptos"/>
                <a:ea typeface="Aptos"/>
                <a:cs typeface="Aptos"/>
              </a:rPr>
              <a:t>Администраторски налог</a:t>
            </a:r>
          </a:p>
        </p:txBody>
      </p:sp>
      <p:sp>
        <p:nvSpPr>
          <p:cNvPr id="23" name="Rectangle 22">
            <a:extLst xmlns:a="http://schemas.openxmlformats.org/drawingml/2006/main">
              <a:ext uri="{FF2B5EF4-FFF2-40B4-BE49-F238E27FC236}">
                <a16:creationId xmlns:a16="http://schemas.microsoft.com/office/drawing/2014/main" id="{4F742B0F-A433-40E1-8C78-637343E286F2}"/>
              </a:ext>
            </a:extLst>
          </p:cNvPr>
          <p:cNvSpPr>
            <a:spLocks xmlns:a="http://schemas.openxmlformats.org/drawingml/2006/main" noGrp="1"/>
          </p:cNvSpPr>
          <p:nvPr/>
        </p:nvSpPr>
        <p:spPr>
          <a:xfrm xmlns:a="http://schemas.openxmlformats.org/drawingml/2006/main">
            <a:off x="3638550" y="46577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Измене са великим утицајем.</a:t>
            </a:r>
          </a:p>
        </p:txBody>
      </p:sp>
      <p:sp>
        <p:nvSpPr>
          <p:cNvPr id="24" name="Rectangle 23">
            <a:extLst xmlns:a="http://schemas.openxmlformats.org/drawingml/2006/main">
              <a:ext uri="{FF2B5EF4-FFF2-40B4-BE49-F238E27FC236}">
                <a16:creationId xmlns:a16="http://schemas.microsoft.com/office/drawing/2014/main" id="{4E3A8E12-32CF-4D3C-96CB-E8869940A2B2}"/>
              </a:ext>
            </a:extLst>
          </p:cNvPr>
          <p:cNvSpPr>
            <a:spLocks xmlns:a="http://schemas.openxmlformats.org/drawingml/2006/main" noGrp="1"/>
          </p:cNvSpPr>
          <p:nvPr/>
        </p:nvSpPr>
        <p:spPr>
          <a:xfrm xmlns:a="http://schemas.openxmlformats.org/drawingml/2006/main">
            <a:off x="7543800" y="46577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Недостатак додатне потврде и аудита.</a:t>
            </a:r>
          </a:p>
        </p:txBody>
      </p:sp>
    </p:spTree>
    <p:extLst>
      <p:ext uri="{BB962C8B-B14F-4D97-AF65-F5344CB8AC3E}">
        <p14:creationId xmlns:p14="http://schemas.microsoft.com/office/powerpoint/2010/main" val="73326437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9AE70185-69A8-4BD5-9FD4-E3CCB84249DC}"/>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13269506-5D1E-47A6-BB6E-440F1E5955BD}"/>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4E95BB98-4603-4A11-AD9D-741EEB81C88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9</a:t>
            </a:r>
          </a:p>
        </p:txBody>
      </p:sp>
      <p:sp>
        <p:nvSpPr>
          <p:cNvPr id="4" name="Rectangle 3">
            <a:extLst xmlns:a="http://schemas.openxmlformats.org/drawingml/2006/main">
              <a:ext uri="{FF2B5EF4-FFF2-40B4-BE49-F238E27FC236}">
                <a16:creationId xmlns:a16="http://schemas.microsoft.com/office/drawing/2014/main" id="{C68BE4C7-8FCD-4423-886E-6A058D621645}"/>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Модел животног циклуса поверења</a:t>
            </a:r>
          </a:p>
        </p:txBody>
      </p:sp>
      <p:sp>
        <p:nvSpPr>
          <p:cNvPr id="5" name="Rectangle 4">
            <a:extLst xmlns:a="http://schemas.openxmlformats.org/drawingml/2006/main">
              <a:ext uri="{FF2B5EF4-FFF2-40B4-BE49-F238E27FC236}">
                <a16:creationId xmlns:a16="http://schemas.microsoft.com/office/drawing/2014/main" id="{5E07F500-8288-4BDD-97F3-CBC1F962EA8B}"/>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Поверење се не чува заувек. Систем га обнавља или опозива када се промени ризик.</a:t>
            </a:r>
          </a:p>
        </p:txBody>
      </p:sp>
      <p:sp>
        <p:nvSpPr>
          <p:cNvPr id="6" name="Rounded Rectangle 5">
            <a:extLst xmlns:a="http://schemas.openxmlformats.org/drawingml/2006/main">
              <a:ext uri="{FF2B5EF4-FFF2-40B4-BE49-F238E27FC236}">
                <a16:creationId xmlns:a16="http://schemas.microsoft.com/office/drawing/2014/main" id="{E2D0E638-DD7B-40D9-9911-80F557C011E5}"/>
              </a:ext>
            </a:extLst>
          </p:cNvPr>
          <p:cNvSpPr>
            <a:spLocks xmlns:a="http://schemas.openxmlformats.org/drawingml/2006/main" noGrp="1"/>
          </p:cNvSpPr>
          <p:nvPr/>
        </p:nvSpPr>
        <p:spPr>
          <a:xfrm xmlns:a="http://schemas.openxmlformats.org/drawingml/2006/main">
            <a:off x="742950" y="2571750"/>
            <a:ext cx="2462213"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349D5260-FAAA-49F1-9848-2E22CDE6CE7C}"/>
              </a:ext>
            </a:extLst>
          </p:cNvPr>
          <p:cNvSpPr>
            <a:spLocks xmlns:a="http://schemas.openxmlformats.org/drawingml/2006/main" noGrp="1"/>
          </p:cNvSpPr>
          <p:nvPr/>
        </p:nvSpPr>
        <p:spPr>
          <a:xfrm xmlns:a="http://schemas.openxmlformats.org/drawingml/2006/main">
            <a:off x="885825"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9459713A-30AB-4C09-9F9C-15E44FED8FC0}"/>
              </a:ext>
            </a:extLst>
          </p:cNvPr>
          <p:cNvSpPr>
            <a:spLocks xmlns:a="http://schemas.openxmlformats.org/drawingml/2006/main" noGrp="1"/>
          </p:cNvSpPr>
          <p:nvPr/>
        </p:nvSpPr>
        <p:spPr>
          <a:xfrm xmlns:a="http://schemas.openxmlformats.org/drawingml/2006/main">
            <a:off x="876300"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Почетна пријава</a:t>
            </a:r>
          </a:p>
        </p:txBody>
      </p:sp>
      <p:sp>
        <p:nvSpPr>
          <p:cNvPr id="9" name="Rectangle 8">
            <a:extLst xmlns:a="http://schemas.openxmlformats.org/drawingml/2006/main">
              <a:ext uri="{FF2B5EF4-FFF2-40B4-BE49-F238E27FC236}">
                <a16:creationId xmlns:a16="http://schemas.microsoft.com/office/drawing/2014/main" id="{D7F951D8-F4F5-4D46-A422-42236B6D4CC9}"/>
              </a:ext>
            </a:extLst>
          </p:cNvPr>
          <p:cNvSpPr>
            <a:spLocks xmlns:a="http://schemas.openxmlformats.org/drawingml/2006/main" noGrp="1"/>
          </p:cNvSpPr>
          <p:nvPr/>
        </p:nvSpPr>
        <p:spPr>
          <a:xfrm xmlns:a="http://schemas.openxmlformats.org/drawingml/2006/main">
            <a:off x="885825"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основни ниво поверења</a:t>
            </a:r>
          </a:p>
        </p:txBody>
      </p:sp>
      <p:sp>
        <p:nvSpPr>
          <p:cNvPr id="10" name="Rounded Rectangle 9">
            <a:extLst xmlns:a="http://schemas.openxmlformats.org/drawingml/2006/main">
              <a:ext uri="{FF2B5EF4-FFF2-40B4-BE49-F238E27FC236}">
                <a16:creationId xmlns:a16="http://schemas.microsoft.com/office/drawing/2014/main" id="{D5EF6400-EDA8-48BD-AA77-0F0AE28B1A04}"/>
              </a:ext>
            </a:extLst>
          </p:cNvPr>
          <p:cNvSpPr>
            <a:spLocks xmlns:a="http://schemas.openxmlformats.org/drawingml/2006/main" noGrp="1"/>
          </p:cNvSpPr>
          <p:nvPr/>
        </p:nvSpPr>
        <p:spPr>
          <a:xfrm xmlns:a="http://schemas.openxmlformats.org/drawingml/2006/main">
            <a:off x="3490913" y="2571750"/>
            <a:ext cx="2462213"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9CBC2849-EC22-4B7F-8FF6-AAB392E87876}"/>
              </a:ext>
            </a:extLst>
          </p:cNvPr>
          <p:cNvSpPr>
            <a:spLocks xmlns:a="http://schemas.openxmlformats.org/drawingml/2006/main" noGrp="1"/>
          </p:cNvSpPr>
          <p:nvPr/>
        </p:nvSpPr>
        <p:spPr>
          <a:xfrm xmlns:a="http://schemas.openxmlformats.org/drawingml/2006/main">
            <a:off x="3633788"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A1E363FF-94F0-4157-A868-86702EBBC413}"/>
              </a:ext>
            </a:extLst>
          </p:cNvPr>
          <p:cNvSpPr>
            <a:spLocks xmlns:a="http://schemas.openxmlformats.org/drawingml/2006/main" noGrp="1"/>
          </p:cNvSpPr>
          <p:nvPr/>
        </p:nvSpPr>
        <p:spPr>
          <a:xfrm xmlns:a="http://schemas.openxmlformats.org/drawingml/2006/main">
            <a:off x="3624263"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Активна сесија</a:t>
            </a:r>
          </a:p>
        </p:txBody>
      </p:sp>
      <p:sp>
        <p:nvSpPr>
          <p:cNvPr id="13" name="Rectangle 12">
            <a:extLst xmlns:a="http://schemas.openxmlformats.org/drawingml/2006/main">
              <a:ext uri="{FF2B5EF4-FFF2-40B4-BE49-F238E27FC236}">
                <a16:creationId xmlns:a16="http://schemas.microsoft.com/office/drawing/2014/main" id="{5CCC057A-194D-4F92-B4EB-9C28FB1347A2}"/>
              </a:ext>
            </a:extLst>
          </p:cNvPr>
          <p:cNvSpPr>
            <a:spLocks xmlns:a="http://schemas.openxmlformats.org/drawingml/2006/main" noGrp="1"/>
          </p:cNvSpPr>
          <p:nvPr/>
        </p:nvSpPr>
        <p:spPr>
          <a:xfrm xmlns:a="http://schemas.openxmlformats.org/drawingml/2006/main">
            <a:off x="3633788"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временски ограничена</a:t>
            </a:r>
          </a:p>
        </p:txBody>
      </p:sp>
      <p:sp>
        <p:nvSpPr>
          <p:cNvPr id="14" name="Rounded Rectangle 13">
            <a:extLst xmlns:a="http://schemas.openxmlformats.org/drawingml/2006/main">
              <a:ext uri="{FF2B5EF4-FFF2-40B4-BE49-F238E27FC236}">
                <a16:creationId xmlns:a16="http://schemas.microsoft.com/office/drawing/2014/main" id="{3B71C71D-EAD5-4D03-BFBB-F76EDBB71FCE}"/>
              </a:ext>
            </a:extLst>
          </p:cNvPr>
          <p:cNvSpPr>
            <a:spLocks xmlns:a="http://schemas.openxmlformats.org/drawingml/2006/main" noGrp="1"/>
          </p:cNvSpPr>
          <p:nvPr/>
        </p:nvSpPr>
        <p:spPr>
          <a:xfrm xmlns:a="http://schemas.openxmlformats.org/drawingml/2006/main">
            <a:off x="6238875" y="2571750"/>
            <a:ext cx="2462213" cy="1257300"/>
          </a:xfrm>
          <a:prstGeom xmlns:a="http://schemas.openxmlformats.org/drawingml/2006/main" prst="roundRect">
            <a:avLst>
              <a:gd name="adj" fmla="val 10606"/>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36272A53-75EE-419B-B637-20F2AD6C21D5}"/>
              </a:ext>
            </a:extLst>
          </p:cNvPr>
          <p:cNvSpPr>
            <a:spLocks xmlns:a="http://schemas.openxmlformats.org/drawingml/2006/main" noGrp="1"/>
          </p:cNvSpPr>
          <p:nvPr/>
        </p:nvSpPr>
        <p:spPr>
          <a:xfrm xmlns:a="http://schemas.openxmlformats.org/drawingml/2006/main">
            <a:off x="6381750"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E33B02A4-D6E5-41F2-9B41-1C8952F75554}"/>
              </a:ext>
            </a:extLst>
          </p:cNvPr>
          <p:cNvSpPr>
            <a:spLocks xmlns:a="http://schemas.openxmlformats.org/drawingml/2006/main" noGrp="1"/>
          </p:cNvSpPr>
          <p:nvPr/>
        </p:nvSpPr>
        <p:spPr>
          <a:xfrm xmlns:a="http://schemas.openxmlformats.org/drawingml/2006/main">
            <a:off x="6372225"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Ризична радња</a:t>
            </a:r>
          </a:p>
        </p:txBody>
      </p:sp>
      <p:sp>
        <p:nvSpPr>
          <p:cNvPr id="17" name="Rectangle 16">
            <a:extLst xmlns:a="http://schemas.openxmlformats.org/drawingml/2006/main">
              <a:ext uri="{FF2B5EF4-FFF2-40B4-BE49-F238E27FC236}">
                <a16:creationId xmlns:a16="http://schemas.microsoft.com/office/drawing/2014/main" id="{007C38ED-825B-49DF-9E23-379DDF607326}"/>
              </a:ext>
            </a:extLst>
          </p:cNvPr>
          <p:cNvSpPr>
            <a:spLocks xmlns:a="http://schemas.openxmlformats.org/drawingml/2006/main" noGrp="1"/>
          </p:cNvSpPr>
          <p:nvPr/>
        </p:nvSpPr>
        <p:spPr>
          <a:xfrm xmlns:a="http://schemas.openxmlformats.org/drawingml/2006/main">
            <a:off x="6381750"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step-up или одбијање</a:t>
            </a:r>
          </a:p>
        </p:txBody>
      </p:sp>
      <p:sp>
        <p:nvSpPr>
          <p:cNvPr id="18" name="Rounded Rectangle 17">
            <a:extLst xmlns:a="http://schemas.openxmlformats.org/drawingml/2006/main">
              <a:ext uri="{FF2B5EF4-FFF2-40B4-BE49-F238E27FC236}">
                <a16:creationId xmlns:a16="http://schemas.microsoft.com/office/drawing/2014/main" id="{A52FAF41-DC5C-4106-B43E-2BDEA0F31B69}"/>
              </a:ext>
            </a:extLst>
          </p:cNvPr>
          <p:cNvSpPr>
            <a:spLocks xmlns:a="http://schemas.openxmlformats.org/drawingml/2006/main" noGrp="1"/>
          </p:cNvSpPr>
          <p:nvPr/>
        </p:nvSpPr>
        <p:spPr>
          <a:xfrm xmlns:a="http://schemas.openxmlformats.org/drawingml/2006/main">
            <a:off x="8986838" y="2571750"/>
            <a:ext cx="2462213"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A5950833-F8E9-4348-BD1C-F60BC225BFBF}"/>
              </a:ext>
            </a:extLst>
          </p:cNvPr>
          <p:cNvSpPr>
            <a:spLocks xmlns:a="http://schemas.openxmlformats.org/drawingml/2006/main" noGrp="1"/>
          </p:cNvSpPr>
          <p:nvPr/>
        </p:nvSpPr>
        <p:spPr>
          <a:xfrm xmlns:a="http://schemas.openxmlformats.org/drawingml/2006/main">
            <a:off x="9129713"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02D3850A-F76C-404B-B6B7-F0B5AE57DB15}"/>
              </a:ext>
            </a:extLst>
          </p:cNvPr>
          <p:cNvSpPr>
            <a:spLocks xmlns:a="http://schemas.openxmlformats.org/drawingml/2006/main" noGrp="1"/>
          </p:cNvSpPr>
          <p:nvPr/>
        </p:nvSpPr>
        <p:spPr>
          <a:xfrm xmlns:a="http://schemas.openxmlformats.org/drawingml/2006/main">
            <a:off x="9120188"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Опозив или истек</a:t>
            </a:r>
          </a:p>
        </p:txBody>
      </p:sp>
      <p:sp>
        <p:nvSpPr>
          <p:cNvPr id="21" name="Rectangle 20">
            <a:extLst xmlns:a="http://schemas.openxmlformats.org/drawingml/2006/main">
              <a:ext uri="{FF2B5EF4-FFF2-40B4-BE49-F238E27FC236}">
                <a16:creationId xmlns:a16="http://schemas.microsoft.com/office/drawing/2014/main" id="{0705B3A2-C58B-4499-81C3-FEE226D114A6}"/>
              </a:ext>
            </a:extLst>
          </p:cNvPr>
          <p:cNvSpPr>
            <a:spLocks xmlns:a="http://schemas.openxmlformats.org/drawingml/2006/main" noGrp="1"/>
          </p:cNvSpPr>
          <p:nvPr/>
        </p:nvSpPr>
        <p:spPr>
          <a:xfrm xmlns:a="http://schemas.openxmlformats.org/drawingml/2006/main">
            <a:off x="9129713"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приступ престаје да важи</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205163" y="32004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20040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701088" y="32004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4EEB6E94-6236-44AD-A12A-04EC19C08910}"/>
              </a:ext>
            </a:extLst>
          </p:cNvPr>
          <p:cNvSpPr>
            <a:spLocks xmlns:a="http://schemas.openxmlformats.org/drawingml/2006/main" noGrp="1"/>
          </p:cNvSpPr>
          <p:nvPr/>
        </p:nvSpPr>
        <p:spPr>
          <a:xfrm xmlns:a="http://schemas.openxmlformats.org/drawingml/2006/main">
            <a:off x="1714500" y="4419600"/>
            <a:ext cx="8763000" cy="742950"/>
          </a:xfrm>
          <a:prstGeom xmlns:a="http://schemas.openxmlformats.org/drawingml/2006/main" prst="roundRect">
            <a:avLst>
              <a:gd name="adj" fmla="val 16667"/>
            </a:avLst>
          </a:prstGeom>
          <a:solidFill xmlns:a="http://schemas.openxmlformats.org/drawingml/2006/main">
            <a:srgbClr val="F7EFF1"/>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86E21090-80D7-4BC8-958F-E8FC9C5833E5}"/>
              </a:ext>
            </a:extLst>
          </p:cNvPr>
          <p:cNvSpPr>
            <a:spLocks xmlns:a="http://schemas.openxmlformats.org/drawingml/2006/main" noGrp="1"/>
          </p:cNvSpPr>
          <p:nvPr/>
        </p:nvSpPr>
        <p:spPr>
          <a:xfrm xmlns:a="http://schemas.openxmlformats.org/drawingml/2006/main">
            <a:off x="1847850" y="4562475"/>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A610F7DE-1F52-43B9-8529-BB74F241C01B}"/>
              </a:ext>
            </a:extLst>
          </p:cNvPr>
          <p:cNvSpPr>
            <a:spLocks xmlns:a="http://schemas.openxmlformats.org/drawingml/2006/main" noGrp="1"/>
          </p:cNvSpPr>
          <p:nvPr/>
        </p:nvSpPr>
        <p:spPr>
          <a:xfrm xmlns:a="http://schemas.openxmlformats.org/drawingml/2006/main">
            <a:off x="914400" y="443865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343B534D-9F7B-4DAB-8BC4-C07DA8BF4D48}"/>
              </a:ext>
            </a:extLst>
          </p:cNvPr>
          <p:cNvSpPr>
            <a:spLocks xmlns:a="http://schemas.openxmlformats.org/drawingml/2006/main" noGrp="1"/>
          </p:cNvSpPr>
          <p:nvPr/>
        </p:nvSpPr>
        <p:spPr>
          <a:xfrm xmlns:a="http://schemas.openxmlformats.org/drawingml/2006/main">
            <a:off x="1085850" y="459105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6D8087CD-85BD-480A-8193-C183740D3AB9}"/>
              </a:ext>
            </a:extLst>
          </p:cNvPr>
          <p:cNvSpPr>
            <a:spLocks xmlns:a="http://schemas.openxmlformats.org/drawingml/2006/main" noGrp="1"/>
          </p:cNvSpPr>
          <p:nvPr/>
        </p:nvSpPr>
        <p:spPr>
          <a:xfrm xmlns:a="http://schemas.openxmlformats.org/drawingml/2006/main">
            <a:off x="1333500" y="454342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ЕЛЕМЕНТИ АНАЛИЗЕ</a:t>
            </a:r>
          </a:p>
        </p:txBody>
      </p:sp>
      <p:sp>
        <p:nvSpPr>
          <p:cNvPr id="79" name="Rectangle 78">
            <a:extLst xmlns:a="http://schemas.openxmlformats.org/drawingml/2006/main">
              <a:ext uri="{FF2B5EF4-FFF2-40B4-BE49-F238E27FC236}">
                <a16:creationId xmlns:a16="http://schemas.microsoft.com/office/drawing/2014/main" id="{5959BDB5-797D-4B23-BA85-AC595A54546A}"/>
              </a:ext>
            </a:extLst>
          </p:cNvPr>
          <p:cNvSpPr>
            <a:spLocks xmlns:a="http://schemas.openxmlformats.org/drawingml/2006/main" noGrp="1"/>
          </p:cNvSpPr>
          <p:nvPr/>
        </p:nvSpPr>
        <p:spPr>
          <a:xfrm xmlns:a="http://schemas.openxmlformats.org/drawingml/2006/main">
            <a:off x="1333500" y="477202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Анализа сваког корака обухвата покретача, место одлуке и траг који остаје после исхода.</a:t>
            </a:r>
          </a:p>
        </p:txBody>
      </p:sp>
    </p:spTree>
    <p:extLst>
      <p:ext uri="{BB962C8B-B14F-4D97-AF65-F5344CB8AC3E}">
        <p14:creationId xmlns:p14="http://schemas.microsoft.com/office/powerpoint/2010/main" val="24310292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Rectangle 21">
            <a:extLst xmlns:a="http://schemas.openxmlformats.org/drawingml/2006/main">
              <a:ext uri="{FF2B5EF4-FFF2-40B4-BE49-F238E27FC236}">
                <a16:creationId xmlns:a16="http://schemas.microsoft.com/office/drawing/2014/main" id="{4EC3C21F-A30F-407C-814C-A9046C4E50FD}"/>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426471D5-7450-4BD7-A2EB-865A38B24A78}"/>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ED84FFAE-1CCC-423A-BB82-121F094388CE}"/>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10</a:t>
            </a:r>
          </a:p>
        </p:txBody>
      </p:sp>
      <p:sp>
        <p:nvSpPr>
          <p:cNvPr id="4" name="Rectangle 3">
            <a:extLst xmlns:a="http://schemas.openxmlformats.org/drawingml/2006/main">
              <a:ext uri="{FF2B5EF4-FFF2-40B4-BE49-F238E27FC236}">
                <a16:creationId xmlns:a16="http://schemas.microsoft.com/office/drawing/2014/main" id="{18A09CE0-1D00-417C-A2B7-10ACA7E5BDC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Од тајне до безбедне употребе</a:t>
            </a:r>
          </a:p>
        </p:txBody>
      </p:sp>
      <p:sp>
        <p:nvSpPr>
          <p:cNvPr id="5" name="Rectangle 4">
            <a:extLst xmlns:a="http://schemas.openxmlformats.org/drawingml/2006/main">
              <a:ext uri="{FF2B5EF4-FFF2-40B4-BE49-F238E27FC236}">
                <a16:creationId xmlns:a16="http://schemas.microsoft.com/office/drawing/2014/main" id="{AE27A770-89DF-4DB3-B2C3-2E03E7DDB259}"/>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Процес приказује улазе, место одлуке и доказ који остаје после исхода.</a:t>
            </a:r>
          </a:p>
        </p:txBody>
      </p:sp>
      <p:sp>
        <p:nvSpPr>
          <p:cNvPr id="6" name="Rounded Rectangle 5">
            <a:extLst xmlns:a="http://schemas.openxmlformats.org/drawingml/2006/main">
              <a:ext uri="{FF2B5EF4-FFF2-40B4-BE49-F238E27FC236}">
                <a16:creationId xmlns:a16="http://schemas.microsoft.com/office/drawing/2014/main" id="{217D4AD5-47F1-4B15-A003-C5BFB7EFFB85}"/>
              </a:ext>
            </a:extLst>
          </p:cNvPr>
          <p:cNvSpPr>
            <a:spLocks xmlns:a="http://schemas.openxmlformats.org/drawingml/2006/main" noGrp="1"/>
          </p:cNvSpPr>
          <p:nvPr/>
        </p:nvSpPr>
        <p:spPr>
          <a:xfrm xmlns:a="http://schemas.openxmlformats.org/drawingml/2006/main">
            <a:off x="781050" y="2152650"/>
            <a:ext cx="4572000" cy="2313024"/>
          </a:xfrm>
          <a:prstGeom xmlns:a="http://schemas.openxmlformats.org/drawingml/2006/main" prst="roundRect">
            <a:avLst>
              <a:gd name="adj" fmla="val 4242"/>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5123B001-3365-4FAE-863A-5A5CF44BAC3C}"/>
              </a:ext>
            </a:extLst>
          </p:cNvPr>
          <p:cNvSpPr>
            <a:spLocks xmlns:a="http://schemas.openxmlformats.org/drawingml/2006/main" noGrp="1"/>
          </p:cNvSpPr>
          <p:nvPr/>
        </p:nvSpPr>
        <p:spPr>
          <a:xfrm xmlns:a="http://schemas.openxmlformats.org/drawingml/2006/main">
            <a:off x="933450" y="2276475"/>
            <a:ext cx="426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КОНТЕКСТ</a:t>
            </a:r>
          </a:p>
        </p:txBody>
      </p:sp>
      <p:sp>
        <p:nvSpPr>
          <p:cNvPr id="8" name="Rectangle 7">
            <a:extLst xmlns:a="http://schemas.openxmlformats.org/drawingml/2006/main">
              <a:ext uri="{FF2B5EF4-FFF2-40B4-BE49-F238E27FC236}">
                <a16:creationId xmlns:a16="http://schemas.microsoft.com/office/drawing/2014/main" id="{51CA8F15-D455-4B2D-8C5D-2C84925D3E05}"/>
              </a:ext>
            </a:extLst>
          </p:cNvPr>
          <p:cNvSpPr>
            <a:spLocks xmlns:a="http://schemas.openxmlformats.org/drawingml/2006/main" noGrp="1"/>
          </p:cNvSpPr>
          <p:nvPr/>
        </p:nvSpPr>
        <p:spPr>
          <a:xfrm xmlns:a="http://schemas.openxmlformats.org/drawingml/2006/main">
            <a:off x="933450" y="2524125"/>
            <a:ext cx="426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Од тајне до безбедне употребе</a:t>
            </a:r>
          </a:p>
        </p:txBody>
      </p:sp>
      <p:sp>
        <p:nvSpPr>
          <p:cNvPr id="9" name="Rectangle 8">
            <a:extLst xmlns:a="http://schemas.openxmlformats.org/drawingml/2006/main">
              <a:ext uri="{FF2B5EF4-FFF2-40B4-BE49-F238E27FC236}">
                <a16:creationId xmlns:a16="http://schemas.microsoft.com/office/drawing/2014/main" id="{79027C8D-B5BE-4CDD-A1AE-E40B5809CE41}"/>
              </a:ext>
            </a:extLst>
          </p:cNvPr>
          <p:cNvSpPr>
            <a:spLocks xmlns:a="http://schemas.openxmlformats.org/drawingml/2006/main" noGrp="1"/>
          </p:cNvSpPr>
          <p:nvPr/>
        </p:nvSpPr>
        <p:spPr>
          <a:xfrm xmlns:a="http://schemas.openxmlformats.org/drawingml/2006/main">
            <a:off x="933450" y="3086100"/>
            <a:ext cx="426720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Безбедно управљање тајном почиње пре њеног првог коришћења. Потребно је знати власника, сврху, компоненту која је користи и начин ротације. Сама вредност тајне треба да остане ван кода, екрана и записа који нису за то намењени.</a:t>
            </a:r>
          </a:p>
        </p:txBody>
      </p:sp>
      <p:sp>
        <p:nvSpPr>
          <p:cNvPr id="10" name="Rounded Rectangle 9">
            <a:extLst xmlns:a="http://schemas.openxmlformats.org/drawingml/2006/main">
              <a:ext uri="{FF2B5EF4-FFF2-40B4-BE49-F238E27FC236}">
                <a16:creationId xmlns:a16="http://schemas.microsoft.com/office/drawing/2014/main" id="{24BB808F-3771-41C7-9CC8-9F148F89F2A7}"/>
              </a:ext>
            </a:extLst>
          </p:cNvPr>
          <p:cNvSpPr>
            <a:spLocks xmlns:a="http://schemas.openxmlformats.org/drawingml/2006/main" noGrp="1"/>
          </p:cNvSpPr>
          <p:nvPr/>
        </p:nvSpPr>
        <p:spPr>
          <a:xfrm xmlns:a="http://schemas.openxmlformats.org/drawingml/2006/main">
            <a:off x="5772150" y="2095500"/>
            <a:ext cx="5638800" cy="723900"/>
          </a:xfrm>
          <a:prstGeom xmlns:a="http://schemas.openxmlformats.org/drawingml/2006/main" prst="roundRect">
            <a:avLst>
              <a:gd name="adj" fmla="val 18421"/>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02E7CDC0-C35E-43C9-8122-ADCCA98BD222}"/>
              </a:ext>
            </a:extLst>
          </p:cNvPr>
          <p:cNvSpPr>
            <a:spLocks xmlns:a="http://schemas.openxmlformats.org/drawingml/2006/main" noGrp="1"/>
          </p:cNvSpPr>
          <p:nvPr/>
        </p:nvSpPr>
        <p:spPr>
          <a:xfrm xmlns:a="http://schemas.openxmlformats.org/drawingml/2006/main">
            <a:off x="5924550" y="22193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154905DC-CA7D-4A6E-9AE6-D3EAD28F5BCA}"/>
              </a:ext>
            </a:extLst>
          </p:cNvPr>
          <p:cNvSpPr>
            <a:spLocks xmlns:a="http://schemas.openxmlformats.org/drawingml/2006/main" noGrp="1"/>
          </p:cNvSpPr>
          <p:nvPr/>
        </p:nvSpPr>
        <p:spPr>
          <a:xfrm xmlns:a="http://schemas.openxmlformats.org/drawingml/2006/main">
            <a:off x="5924550" y="24669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Тајна се издаје само идентитету који јој је стварно потребан.</a:t>
            </a:r>
          </a:p>
        </p:txBody>
      </p:sp>
      <p:sp>
        <p:nvSpPr>
          <p:cNvPr id="13" name="Rounded Rectangle 12">
            <a:extLst xmlns:a="http://schemas.openxmlformats.org/drawingml/2006/main">
              <a:ext uri="{FF2B5EF4-FFF2-40B4-BE49-F238E27FC236}">
                <a16:creationId xmlns:a16="http://schemas.microsoft.com/office/drawing/2014/main" id="{7BDF553E-6145-44A5-A64B-FDCB0B32B451}"/>
              </a:ext>
            </a:extLst>
          </p:cNvPr>
          <p:cNvSpPr>
            <a:spLocks xmlns:a="http://schemas.openxmlformats.org/drawingml/2006/main" noGrp="1"/>
          </p:cNvSpPr>
          <p:nvPr/>
        </p:nvSpPr>
        <p:spPr>
          <a:xfrm xmlns:a="http://schemas.openxmlformats.org/drawingml/2006/main">
            <a:off x="5772150" y="2971800"/>
            <a:ext cx="5638800" cy="723900"/>
          </a:xfrm>
          <a:prstGeom xmlns:a="http://schemas.openxmlformats.org/drawingml/2006/main" prst="roundRect">
            <a:avLst>
              <a:gd name="adj" fmla="val 18421"/>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63C5ECC1-6F7F-424C-BFF1-EAADB1926D61}"/>
              </a:ext>
            </a:extLst>
          </p:cNvPr>
          <p:cNvSpPr>
            <a:spLocks xmlns:a="http://schemas.openxmlformats.org/drawingml/2006/main" noGrp="1"/>
          </p:cNvSpPr>
          <p:nvPr/>
        </p:nvSpPr>
        <p:spPr>
          <a:xfrm xmlns:a="http://schemas.openxmlformats.org/drawingml/2006/main">
            <a:off x="5924550" y="30956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78A0D0C0-84C7-4426-807F-0EB658486B5A}"/>
              </a:ext>
            </a:extLst>
          </p:cNvPr>
          <p:cNvSpPr>
            <a:spLocks xmlns:a="http://schemas.openxmlformats.org/drawingml/2006/main" noGrp="1"/>
          </p:cNvSpPr>
          <p:nvPr/>
        </p:nvSpPr>
        <p:spPr>
          <a:xfrm xmlns:a="http://schemas.openxmlformats.org/drawingml/2006/main">
            <a:off x="5924550" y="33432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Систем прати истек и планира ротацију пре прекида рада.</a:t>
            </a:r>
          </a:p>
        </p:txBody>
      </p:sp>
      <p:sp>
        <p:nvSpPr>
          <p:cNvPr id="16" name="Rounded Rectangle 15">
            <a:extLst xmlns:a="http://schemas.openxmlformats.org/drawingml/2006/main">
              <a:ext uri="{FF2B5EF4-FFF2-40B4-BE49-F238E27FC236}">
                <a16:creationId xmlns:a16="http://schemas.microsoft.com/office/drawing/2014/main" id="{5CCFEDF7-E28C-4832-9D2F-1D239A23C98E}"/>
              </a:ext>
            </a:extLst>
          </p:cNvPr>
          <p:cNvSpPr>
            <a:spLocks xmlns:a="http://schemas.openxmlformats.org/drawingml/2006/main" noGrp="1"/>
          </p:cNvSpPr>
          <p:nvPr/>
        </p:nvSpPr>
        <p:spPr>
          <a:xfrm xmlns:a="http://schemas.openxmlformats.org/drawingml/2006/main">
            <a:off x="5772150" y="3848100"/>
            <a:ext cx="5638800" cy="817598"/>
          </a:xfrm>
          <a:prstGeom xmlns:a="http://schemas.openxmlformats.org/drawingml/2006/main" prst="roundRect">
            <a:avLst>
              <a:gd name="adj" fmla="val 18421"/>
            </a:avLst>
          </a:prstGeom>
          <a:solidFill xmlns:a="http://schemas.openxmlformats.org/drawingml/2006/main">
            <a:srgbClr val="F7EFF1"/>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CF68DA78-D5A4-4E94-ADA6-6446D40E13C0}"/>
              </a:ext>
            </a:extLst>
          </p:cNvPr>
          <p:cNvSpPr>
            <a:spLocks xmlns:a="http://schemas.openxmlformats.org/drawingml/2006/main" noGrp="1"/>
          </p:cNvSpPr>
          <p:nvPr/>
        </p:nvSpPr>
        <p:spPr>
          <a:xfrm xmlns:a="http://schemas.openxmlformats.org/drawingml/2006/main">
            <a:off x="5924550" y="39719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205A43B8-92F7-4AB8-B43D-A1CA37DB6A15}"/>
              </a:ext>
            </a:extLst>
          </p:cNvPr>
          <p:cNvSpPr>
            <a:spLocks xmlns:a="http://schemas.openxmlformats.org/drawingml/2006/main" noGrp="1"/>
          </p:cNvSpPr>
          <p:nvPr/>
        </p:nvSpPr>
        <p:spPr>
          <a:xfrm xmlns:a="http://schemas.openxmlformats.org/drawingml/2006/main">
            <a:off x="5924550" y="42195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5316"/>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Логови бележе употребу и неуспех без приказивања вредности тајне.</a:t>
            </a:r>
          </a:p>
        </p:txBody>
      </p:sp>
      <p:sp>
        <p:nvSpPr>
          <p:cNvPr id="19" name="Rounded Rectangle 18">
            <a:extLst xmlns:a="http://schemas.openxmlformats.org/drawingml/2006/main">
              <a:ext uri="{FF2B5EF4-FFF2-40B4-BE49-F238E27FC236}">
                <a16:creationId xmlns:a16="http://schemas.microsoft.com/office/drawing/2014/main" id="{46C32166-23AC-4A6B-BED3-6F11D593B267}"/>
              </a:ext>
            </a:extLst>
          </p:cNvPr>
          <p:cNvSpPr>
            <a:spLocks xmlns:a="http://schemas.openxmlformats.org/drawingml/2006/main" noGrp="1"/>
          </p:cNvSpPr>
          <p:nvPr/>
        </p:nvSpPr>
        <p:spPr>
          <a:xfrm xmlns:a="http://schemas.openxmlformats.org/drawingml/2006/main">
            <a:off x="5772150" y="4830727"/>
            <a:ext cx="5638800" cy="723900"/>
          </a:xfrm>
          <a:prstGeom xmlns:a="http://schemas.openxmlformats.org/drawingml/2006/main" prst="roundRect">
            <a:avLst>
              <a:gd name="adj" fmla="val 18421"/>
            </a:avLst>
          </a:prstGeom>
          <a:solidFill xmlns:a="http://schemas.openxmlformats.org/drawingml/2006/main">
            <a:srgbClr val="EDF8F2"/>
          </a:solidFill>
          <a:ln xmlns:a="http://schemas.openxmlformats.org/drawingml/2006/main" w="9525">
            <a:solidFill>
              <a:srgbClr val="D7DEE8"/>
            </a:solidFill>
            <a:prstDash val="solid"/>
          </a:ln>
        </p:spPr>
      </p:sp>
      <p:sp>
        <p:nvSpPr>
          <p:cNvPr id="20" name="Rectangle 19">
            <a:extLst xmlns:a="http://schemas.openxmlformats.org/drawingml/2006/main">
              <a:ext uri="{FF2B5EF4-FFF2-40B4-BE49-F238E27FC236}">
                <a16:creationId xmlns:a16="http://schemas.microsoft.com/office/drawing/2014/main" id="{6D51C30D-92D2-4903-BA72-89BA10F81C51}"/>
              </a:ext>
            </a:extLst>
          </p:cNvPr>
          <p:cNvSpPr>
            <a:spLocks xmlns:a="http://schemas.openxmlformats.org/drawingml/2006/main" noGrp="1"/>
          </p:cNvSpPr>
          <p:nvPr/>
        </p:nvSpPr>
        <p:spPr>
          <a:xfrm xmlns:a="http://schemas.openxmlformats.org/drawingml/2006/main">
            <a:off x="5924550" y="4954552"/>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1" name="Rectangle 20">
            <a:extLst xmlns:a="http://schemas.openxmlformats.org/drawingml/2006/main">
              <a:ext uri="{FF2B5EF4-FFF2-40B4-BE49-F238E27FC236}">
                <a16:creationId xmlns:a16="http://schemas.microsoft.com/office/drawing/2014/main" id="{8A70E53D-EF92-4D45-9805-7F7148ADF0F3}"/>
              </a:ext>
            </a:extLst>
          </p:cNvPr>
          <p:cNvSpPr>
            <a:spLocks xmlns:a="http://schemas.openxmlformats.org/drawingml/2006/main" noGrp="1"/>
          </p:cNvSpPr>
          <p:nvPr/>
        </p:nvSpPr>
        <p:spPr>
          <a:xfrm xmlns:a="http://schemas.openxmlformats.org/drawingml/2006/main">
            <a:off x="5924550" y="5202202"/>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5316"/>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Опозив ограничава последицу сумње да је тајна компромитована.</a:t>
            </a:r>
          </a:p>
        </p:txBody>
      </p:sp>
    </p:spTree>
    <p:extLst>
      <p:ext uri="{BB962C8B-B14F-4D97-AF65-F5344CB8AC3E}">
        <p14:creationId xmlns:p14="http://schemas.microsoft.com/office/powerpoint/2010/main" val="144677143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CB0817E6-3177-4572-98DF-3B501496ED0F}"/>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16C7A7DC-3218-422F-9208-2136E952146E}"/>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9795EB1F-C9EA-475F-8673-E3B926237264}"/>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11</a:t>
            </a:r>
          </a:p>
        </p:txBody>
      </p:sp>
      <p:sp>
        <p:nvSpPr>
          <p:cNvPr id="4" name="Rectangle 3">
            <a:extLst xmlns:a="http://schemas.openxmlformats.org/drawingml/2006/main">
              <a:ext uri="{FF2B5EF4-FFF2-40B4-BE49-F238E27FC236}">
                <a16:creationId xmlns:a16="http://schemas.microsoft.com/office/drawing/2014/main" id="{B8AF6236-BC75-4F4E-9306-989DDFB7B011}"/>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Приступ има рок и контекст</a:t>
            </a:r>
          </a:p>
        </p:txBody>
      </p:sp>
      <p:sp>
        <p:nvSpPr>
          <p:cNvPr id="5" name="Rectangle 4">
            <a:extLst xmlns:a="http://schemas.openxmlformats.org/drawingml/2006/main">
              <a:ext uri="{FF2B5EF4-FFF2-40B4-BE49-F238E27FC236}">
                <a16:creationId xmlns:a16="http://schemas.microsoft.com/office/drawing/2014/main" id="{3D1BB57F-C910-4A1A-B08B-BC9200D5A6CD}"/>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Наведена правила остају видљива у имплементацији, тестовима и ревизији.</a:t>
            </a:r>
          </a:p>
        </p:txBody>
      </p:sp>
      <p:sp>
        <p:nvSpPr>
          <p:cNvPr id="6" name="Rounded Rectangle 5">
            <a:extLst xmlns:a="http://schemas.openxmlformats.org/drawingml/2006/main">
              <a:ext uri="{FF2B5EF4-FFF2-40B4-BE49-F238E27FC236}">
                <a16:creationId xmlns:a16="http://schemas.microsoft.com/office/drawing/2014/main" id="{BE05B434-3235-4BD6-889A-C70435F618A2}"/>
              </a:ext>
            </a:extLst>
          </p:cNvPr>
          <p:cNvSpPr>
            <a:spLocks xmlns:a="http://schemas.openxmlformats.org/drawingml/2006/main" noGrp="1"/>
          </p:cNvSpPr>
          <p:nvPr/>
        </p:nvSpPr>
        <p:spPr>
          <a:xfrm xmlns:a="http://schemas.openxmlformats.org/drawingml/2006/main">
            <a:off x="819150" y="2400300"/>
            <a:ext cx="3257550" cy="2343150"/>
          </a:xfrm>
          <a:prstGeom xmlns:a="http://schemas.openxmlformats.org/drawingml/2006/main" prst="roundRect">
            <a:avLst>
              <a:gd name="adj" fmla="val 5691"/>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0CFD7527-A9D5-46CF-9EE4-A7D71DAD8228}"/>
              </a:ext>
            </a:extLst>
          </p:cNvPr>
          <p:cNvSpPr>
            <a:spLocks xmlns:a="http://schemas.openxmlformats.org/drawingml/2006/main" noGrp="1"/>
          </p:cNvSpPr>
          <p:nvPr/>
        </p:nvSpPr>
        <p:spPr>
          <a:xfrm xmlns:a="http://schemas.openxmlformats.org/drawingml/2006/main">
            <a:off x="971550"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685655B4-2B10-45C9-842E-88D65990E28E}"/>
              </a:ext>
            </a:extLst>
          </p:cNvPr>
          <p:cNvSpPr>
            <a:spLocks xmlns:a="http://schemas.openxmlformats.org/drawingml/2006/main" noGrp="1"/>
          </p:cNvSpPr>
          <p:nvPr/>
        </p:nvSpPr>
        <p:spPr>
          <a:xfrm xmlns:a="http://schemas.openxmlformats.org/drawingml/2006/main">
            <a:off x="971550"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Сесија може изгубити важност пре планираног истека.</a:t>
            </a:r>
          </a:p>
        </p:txBody>
      </p:sp>
      <p:sp>
        <p:nvSpPr>
          <p:cNvPr id="9" name="Rectangle 8">
            <a:extLst xmlns:a="http://schemas.openxmlformats.org/drawingml/2006/main">
              <a:ext uri="{FF2B5EF4-FFF2-40B4-BE49-F238E27FC236}">
                <a16:creationId xmlns:a16="http://schemas.microsoft.com/office/drawing/2014/main" id="{D3C87950-CD48-4772-B678-74BB37DC4797}"/>
              </a:ext>
            </a:extLst>
          </p:cNvPr>
          <p:cNvSpPr>
            <a:spLocks xmlns:a="http://schemas.openxmlformats.org/drawingml/2006/main" noGrp="1"/>
          </p:cNvSpPr>
          <p:nvPr/>
        </p:nvSpPr>
        <p:spPr>
          <a:xfrm xmlns:a="http://schemas.openxmlformats.org/drawingml/2006/main">
            <a:off x="971550"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Јасно правило</a:t>
            </a:r>
          </a:p>
        </p:txBody>
      </p:sp>
      <p:sp>
        <p:nvSpPr>
          <p:cNvPr id="10" name="Rounded Rectangle 9">
            <a:extLst xmlns:a="http://schemas.openxmlformats.org/drawingml/2006/main">
              <a:ext uri="{FF2B5EF4-FFF2-40B4-BE49-F238E27FC236}">
                <a16:creationId xmlns:a16="http://schemas.microsoft.com/office/drawing/2014/main" id="{2F47DDE1-32C5-4063-A5F4-211ABEB296A4}"/>
              </a:ext>
            </a:extLst>
          </p:cNvPr>
          <p:cNvSpPr>
            <a:spLocks xmlns:a="http://schemas.openxmlformats.org/drawingml/2006/main" noGrp="1"/>
          </p:cNvSpPr>
          <p:nvPr/>
        </p:nvSpPr>
        <p:spPr>
          <a:xfrm xmlns:a="http://schemas.openxmlformats.org/drawingml/2006/main">
            <a:off x="4467225" y="2400300"/>
            <a:ext cx="3257550" cy="2343150"/>
          </a:xfrm>
          <a:prstGeom xmlns:a="http://schemas.openxmlformats.org/drawingml/2006/main" prst="roundRect">
            <a:avLst>
              <a:gd name="adj" fmla="val 5691"/>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C5284263-40DE-4A85-8844-82D847CB3FFB}"/>
              </a:ext>
            </a:extLst>
          </p:cNvPr>
          <p:cNvSpPr>
            <a:spLocks xmlns:a="http://schemas.openxmlformats.org/drawingml/2006/main" noGrp="1"/>
          </p:cNvSpPr>
          <p:nvPr/>
        </p:nvSpPr>
        <p:spPr>
          <a:xfrm xmlns:a="http://schemas.openxmlformats.org/drawingml/2006/main">
            <a:off x="4619625"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ED436743-A5D8-4AAC-A3CB-300F7F8EF956}"/>
              </a:ext>
            </a:extLst>
          </p:cNvPr>
          <p:cNvSpPr>
            <a:spLocks xmlns:a="http://schemas.openxmlformats.org/drawingml/2006/main" noGrp="1"/>
          </p:cNvSpPr>
          <p:nvPr/>
        </p:nvSpPr>
        <p:spPr>
          <a:xfrm xmlns:a="http://schemas.openxmlformats.org/drawingml/2006/main">
            <a:off x="4619625"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Додатна потврда прати ризик радње, не само тип корисника.</a:t>
            </a:r>
          </a:p>
        </p:txBody>
      </p:sp>
      <p:sp>
        <p:nvSpPr>
          <p:cNvPr id="13" name="Rectangle 12">
            <a:extLst xmlns:a="http://schemas.openxmlformats.org/drawingml/2006/main">
              <a:ext uri="{FF2B5EF4-FFF2-40B4-BE49-F238E27FC236}">
                <a16:creationId xmlns:a16="http://schemas.microsoft.com/office/drawing/2014/main" id="{3C5C788B-A33F-4EAC-9FF7-3C28A10500A5}"/>
              </a:ext>
            </a:extLst>
          </p:cNvPr>
          <p:cNvSpPr>
            <a:spLocks xmlns:a="http://schemas.openxmlformats.org/drawingml/2006/main" noGrp="1"/>
          </p:cNvSpPr>
          <p:nvPr/>
        </p:nvSpPr>
        <p:spPr>
          <a:xfrm xmlns:a="http://schemas.openxmlformats.org/drawingml/2006/main">
            <a:off x="4619625"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Проверљива примена</a:t>
            </a:r>
          </a:p>
        </p:txBody>
      </p:sp>
      <p:sp>
        <p:nvSpPr>
          <p:cNvPr id="14" name="Rounded Rectangle 13">
            <a:extLst xmlns:a="http://schemas.openxmlformats.org/drawingml/2006/main">
              <a:ext uri="{FF2B5EF4-FFF2-40B4-BE49-F238E27FC236}">
                <a16:creationId xmlns:a16="http://schemas.microsoft.com/office/drawing/2014/main" id="{6A5F6870-9163-462C-8D53-04DCA87E4C68}"/>
              </a:ext>
            </a:extLst>
          </p:cNvPr>
          <p:cNvSpPr>
            <a:spLocks xmlns:a="http://schemas.openxmlformats.org/drawingml/2006/main" noGrp="1"/>
          </p:cNvSpPr>
          <p:nvPr/>
        </p:nvSpPr>
        <p:spPr>
          <a:xfrm xmlns:a="http://schemas.openxmlformats.org/drawingml/2006/main">
            <a:off x="8115300" y="2400300"/>
            <a:ext cx="3257550" cy="2343150"/>
          </a:xfrm>
          <a:prstGeom xmlns:a="http://schemas.openxmlformats.org/drawingml/2006/main" prst="roundRect">
            <a:avLst>
              <a:gd name="adj" fmla="val 5691"/>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775B4ED3-A1AA-4124-803C-C5EAC808FE6E}"/>
              </a:ext>
            </a:extLst>
          </p:cNvPr>
          <p:cNvSpPr>
            <a:spLocks xmlns:a="http://schemas.openxmlformats.org/drawingml/2006/main" noGrp="1"/>
          </p:cNvSpPr>
          <p:nvPr/>
        </p:nvSpPr>
        <p:spPr>
          <a:xfrm xmlns:a="http://schemas.openxmlformats.org/drawingml/2006/main">
            <a:off x="8267700"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B926ED60-4F46-4114-B9AA-457DBC36F238}"/>
              </a:ext>
            </a:extLst>
          </p:cNvPr>
          <p:cNvSpPr>
            <a:spLocks xmlns:a="http://schemas.openxmlformats.org/drawingml/2006/main" noGrp="1"/>
          </p:cNvSpPr>
          <p:nvPr/>
        </p:nvSpPr>
        <p:spPr>
          <a:xfrm xmlns:a="http://schemas.openxmlformats.org/drawingml/2006/main">
            <a:off x="8267700"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Сервисни идентитет има мали, јасно оправдан опсег, као и људски идентитет.</a:t>
            </a:r>
          </a:p>
        </p:txBody>
      </p:sp>
      <p:sp>
        <p:nvSpPr>
          <p:cNvPr id="17" name="Rectangle 16">
            <a:extLst xmlns:a="http://schemas.openxmlformats.org/drawingml/2006/main">
              <a:ext uri="{FF2B5EF4-FFF2-40B4-BE49-F238E27FC236}">
                <a16:creationId xmlns:a16="http://schemas.microsoft.com/office/drawing/2014/main" id="{189AF4A7-EE19-45A4-A0F5-CD9093A82AC8}"/>
              </a:ext>
            </a:extLst>
          </p:cNvPr>
          <p:cNvSpPr>
            <a:spLocks xmlns:a="http://schemas.openxmlformats.org/drawingml/2006/main" noGrp="1"/>
          </p:cNvSpPr>
          <p:nvPr/>
        </p:nvSpPr>
        <p:spPr>
          <a:xfrm xmlns:a="http://schemas.openxmlformats.org/drawingml/2006/main">
            <a:off x="8267700"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Видљив доказ</a:t>
            </a:r>
          </a:p>
        </p:txBody>
      </p:sp>
    </p:spTree>
    <p:extLst>
      <p:ext uri="{BB962C8B-B14F-4D97-AF65-F5344CB8AC3E}">
        <p14:creationId xmlns:p14="http://schemas.microsoft.com/office/powerpoint/2010/main" val="20122359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9F207137-267F-40EF-8E8E-71FA4A5D0ECE}"/>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ED0BEE18-D6C4-4B07-A1B6-E4F239ACB3A7}"/>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61790812-C4E9-4293-8985-942E889F49EC}"/>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12</a:t>
            </a:r>
          </a:p>
        </p:txBody>
      </p:sp>
      <p:sp>
        <p:nvSpPr>
          <p:cNvPr id="4" name="Rectangle 3">
            <a:extLst xmlns:a="http://schemas.openxmlformats.org/drawingml/2006/main">
              <a:ext uri="{FF2B5EF4-FFF2-40B4-BE49-F238E27FC236}">
                <a16:creationId xmlns:a16="http://schemas.microsoft.com/office/drawing/2014/main" id="{F54912C5-8A60-47DF-A842-BA512810616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Примена у развоју</a:t>
            </a:r>
          </a:p>
        </p:txBody>
      </p:sp>
      <p:sp>
        <p:nvSpPr>
          <p:cNvPr id="5" name="Rectangle 4">
            <a:extLst xmlns:a="http://schemas.openxmlformats.org/drawingml/2006/main">
              <a:ext uri="{FF2B5EF4-FFF2-40B4-BE49-F238E27FC236}">
                <a16:creationId xmlns:a16="http://schemas.microsoft.com/office/drawing/2014/main" id="{B5C10F75-9CB0-4F12-A263-84579BFA512D}"/>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Тим примењује тему кроз серверске провере, тестове и ревизионе записе током развоја.</a:t>
            </a:r>
          </a:p>
        </p:txBody>
      </p:sp>
      <p:sp>
        <p:nvSpPr>
          <p:cNvPr id="6" name="Rounded Rectangle 5">
            <a:extLst xmlns:a="http://schemas.openxmlformats.org/drawingml/2006/main">
              <a:ext uri="{FF2B5EF4-FFF2-40B4-BE49-F238E27FC236}">
                <a16:creationId xmlns:a16="http://schemas.microsoft.com/office/drawing/2014/main" id="{E2365EB8-70FE-4CB3-AB9E-935D18405BBE}"/>
              </a:ext>
            </a:extLst>
          </p:cNvPr>
          <p:cNvSpPr>
            <a:spLocks xmlns:a="http://schemas.openxmlformats.org/drawingml/2006/main" noGrp="1"/>
          </p:cNvSpPr>
          <p:nvPr/>
        </p:nvSpPr>
        <p:spPr>
          <a:xfrm xmlns:a="http://schemas.openxmlformats.org/drawingml/2006/main">
            <a:off x="800100" y="2209800"/>
            <a:ext cx="4810125" cy="2489791"/>
          </a:xfrm>
          <a:prstGeom xmlns:a="http://schemas.openxmlformats.org/drawingml/2006/main" prst="roundRect">
            <a:avLst>
              <a:gd name="adj" fmla="val 4667"/>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C437406F-F372-4984-A812-637723795F0A}"/>
              </a:ext>
            </a:extLst>
          </p:cNvPr>
          <p:cNvSpPr>
            <a:spLocks xmlns:a="http://schemas.openxmlformats.org/drawingml/2006/main" noGrp="1"/>
          </p:cNvSpPr>
          <p:nvPr/>
        </p:nvSpPr>
        <p:spPr>
          <a:xfrm xmlns:a="http://schemas.openxmlformats.org/drawingml/2006/main">
            <a:off x="952500" y="2333625"/>
            <a:ext cx="45053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РАЗВОЈНИ КОНТЕКСТ</a:t>
            </a:r>
          </a:p>
        </p:txBody>
      </p:sp>
      <p:sp>
        <p:nvSpPr>
          <p:cNvPr id="8" name="Rectangle 7">
            <a:extLst xmlns:a="http://schemas.openxmlformats.org/drawingml/2006/main">
              <a:ext uri="{FF2B5EF4-FFF2-40B4-BE49-F238E27FC236}">
                <a16:creationId xmlns:a16="http://schemas.microsoft.com/office/drawing/2014/main" id="{6B555463-DA8B-4497-ABF5-D474C9C2DF94}"/>
              </a:ext>
            </a:extLst>
          </p:cNvPr>
          <p:cNvSpPr>
            <a:spLocks xmlns:a="http://schemas.openxmlformats.org/drawingml/2006/main" noGrp="1"/>
          </p:cNvSpPr>
          <p:nvPr/>
        </p:nvSpPr>
        <p:spPr>
          <a:xfrm xmlns:a="http://schemas.openxmlformats.org/drawingml/2006/main">
            <a:off x="952500" y="2581275"/>
            <a:ext cx="45053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Примена принципа у коду</a:t>
            </a:r>
          </a:p>
        </p:txBody>
      </p:sp>
      <p:sp>
        <p:nvSpPr>
          <p:cNvPr id="9" name="Rectangle 8">
            <a:extLst xmlns:a="http://schemas.openxmlformats.org/drawingml/2006/main">
              <a:ext uri="{FF2B5EF4-FFF2-40B4-BE49-F238E27FC236}">
                <a16:creationId xmlns:a16="http://schemas.microsoft.com/office/drawing/2014/main" id="{40EDECFD-DB79-47B9-9032-7F232CCC7E04}"/>
              </a:ext>
            </a:extLst>
          </p:cNvPr>
          <p:cNvSpPr>
            <a:spLocks xmlns:a="http://schemas.openxmlformats.org/drawingml/2006/main" noGrp="1"/>
          </p:cNvSpPr>
          <p:nvPr/>
        </p:nvSpPr>
        <p:spPr>
          <a:xfrm xmlns:a="http://schemas.openxmlformats.org/drawingml/2006/main">
            <a:off x="952500" y="3124200"/>
            <a:ext cx="4505325" cy="1838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350" b="0">
                <a:solidFill>
                  <a:srgbClr val="657184"/>
                </a:solidFill>
                <a:latin typeface="Aptos"/>
                <a:ea typeface="Aptos"/>
                <a:cs typeface="Aptos"/>
              </a:defRPr>
            </a:pPr>
            <a:r>
              <a:rPr sz="1350" b="0">
                <a:solidFill>
                  <a:srgbClr val="657184"/>
                </a:solidFill>
                <a:latin typeface="Aptos"/>
                <a:ea typeface="Aptos"/>
                <a:cs typeface="Aptos"/>
              </a:rPr>
              <a:t>Развојни тим унапред одређује које ситуације мењају ниво поверења: промена привилегије, приступ осетљивом податку или сумњива пријава. Тајне се референцирају из безбедног извора и никада се не преносе кроз код, тестне исписе или историју репозиторијума.</a:t>
            </a:r>
          </a:p>
        </p:txBody>
      </p:sp>
      <p:sp>
        <p:nvSpPr>
          <p:cNvPr id="10" name="Rounded Rectangle 9">
            <a:extLst xmlns:a="http://schemas.openxmlformats.org/drawingml/2006/main">
              <a:ext uri="{FF2B5EF4-FFF2-40B4-BE49-F238E27FC236}">
                <a16:creationId xmlns:a16="http://schemas.microsoft.com/office/drawing/2014/main" id="{6BD61561-0E7A-477A-8243-50E7DC407904}"/>
              </a:ext>
            </a:extLst>
          </p:cNvPr>
          <p:cNvSpPr>
            <a:spLocks xmlns:a="http://schemas.openxmlformats.org/drawingml/2006/main" noGrp="1"/>
          </p:cNvSpPr>
          <p:nvPr/>
        </p:nvSpPr>
        <p:spPr>
          <a:xfrm xmlns:a="http://schemas.openxmlformats.org/drawingml/2006/main">
            <a:off x="6038850" y="2209800"/>
            <a:ext cx="5353050" cy="819150"/>
          </a:xfrm>
          <a:prstGeom xmlns:a="http://schemas.openxmlformats.org/drawingml/2006/main" prst="roundRect">
            <a:avLst>
              <a:gd name="adj" fmla="val 16279"/>
            </a:avLst>
          </a:prstGeom>
          <a:solidFill xmlns:a="http://schemas.openxmlformats.org/drawingml/2006/main">
            <a:srgbClr val="F4F6F9"/>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D8926BAF-790A-4C4E-93D7-6496F2EA8F14}"/>
              </a:ext>
            </a:extLst>
          </p:cNvPr>
          <p:cNvSpPr>
            <a:spLocks xmlns:a="http://schemas.openxmlformats.org/drawingml/2006/main" noGrp="1"/>
          </p:cNvSpPr>
          <p:nvPr/>
        </p:nvSpPr>
        <p:spPr>
          <a:xfrm xmlns:a="http://schemas.openxmlformats.org/drawingml/2006/main">
            <a:off x="6191250" y="23336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C0569D33-1726-487A-9BE8-F3361406EFC1}"/>
              </a:ext>
            </a:extLst>
          </p:cNvPr>
          <p:cNvSpPr>
            <a:spLocks xmlns:a="http://schemas.openxmlformats.org/drawingml/2006/main" noGrp="1"/>
          </p:cNvSpPr>
          <p:nvPr/>
        </p:nvSpPr>
        <p:spPr>
          <a:xfrm xmlns:a="http://schemas.openxmlformats.org/drawingml/2006/main">
            <a:off x="6191250" y="25812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Дефинисана одлука и њена граница.</a:t>
            </a:r>
          </a:p>
        </p:txBody>
      </p:sp>
      <p:sp>
        <p:nvSpPr>
          <p:cNvPr id="13" name="Rounded Rectangle 12">
            <a:extLst xmlns:a="http://schemas.openxmlformats.org/drawingml/2006/main">
              <a:ext uri="{FF2B5EF4-FFF2-40B4-BE49-F238E27FC236}">
                <a16:creationId xmlns:a16="http://schemas.microsoft.com/office/drawing/2014/main" id="{F95483CD-7003-4E70-AF28-EB5FA8C5FD11}"/>
              </a:ext>
            </a:extLst>
          </p:cNvPr>
          <p:cNvSpPr>
            <a:spLocks xmlns:a="http://schemas.openxmlformats.org/drawingml/2006/main" noGrp="1"/>
          </p:cNvSpPr>
          <p:nvPr/>
        </p:nvSpPr>
        <p:spPr>
          <a:xfrm xmlns:a="http://schemas.openxmlformats.org/drawingml/2006/main">
            <a:off x="6038850" y="3200400"/>
            <a:ext cx="5353050" cy="819150"/>
          </a:xfrm>
          <a:prstGeom xmlns:a="http://schemas.openxmlformats.org/drawingml/2006/main" prst="roundRect">
            <a:avLst>
              <a:gd name="adj" fmla="val 16279"/>
            </a:avLst>
          </a:prstGeom>
          <a:solidFill xmlns:a="http://schemas.openxmlformats.org/drawingml/2006/main">
            <a:srgbClr val="F7F4F5"/>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D90A9C39-D5A7-468B-BCAC-36200D43CA74}"/>
              </a:ext>
            </a:extLst>
          </p:cNvPr>
          <p:cNvSpPr>
            <a:spLocks xmlns:a="http://schemas.openxmlformats.org/drawingml/2006/main" noGrp="1"/>
          </p:cNvSpPr>
          <p:nvPr/>
        </p:nvSpPr>
        <p:spPr>
          <a:xfrm xmlns:a="http://schemas.openxmlformats.org/drawingml/2006/main">
            <a:off x="6191250" y="33242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116E3B98-042F-4064-B24B-5C30A28A0D07}"/>
              </a:ext>
            </a:extLst>
          </p:cNvPr>
          <p:cNvSpPr>
            <a:spLocks xmlns:a="http://schemas.openxmlformats.org/drawingml/2006/main" noGrp="1"/>
          </p:cNvSpPr>
          <p:nvPr/>
        </p:nvSpPr>
        <p:spPr>
          <a:xfrm xmlns:a="http://schemas.openxmlformats.org/drawingml/2006/main">
            <a:off x="6191250" y="35718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Серверска имплементација провере.</a:t>
            </a:r>
          </a:p>
        </p:txBody>
      </p:sp>
      <p:sp>
        <p:nvSpPr>
          <p:cNvPr id="16" name="Rounded Rectangle 15">
            <a:extLst xmlns:a="http://schemas.openxmlformats.org/drawingml/2006/main">
              <a:ext uri="{FF2B5EF4-FFF2-40B4-BE49-F238E27FC236}">
                <a16:creationId xmlns:a16="http://schemas.microsoft.com/office/drawing/2014/main" id="{160EC521-1F62-4A7B-B84A-3E30011CCD0F}"/>
              </a:ext>
            </a:extLst>
          </p:cNvPr>
          <p:cNvSpPr>
            <a:spLocks xmlns:a="http://schemas.openxmlformats.org/drawingml/2006/main" noGrp="1"/>
          </p:cNvSpPr>
          <p:nvPr/>
        </p:nvSpPr>
        <p:spPr>
          <a:xfrm xmlns:a="http://schemas.openxmlformats.org/drawingml/2006/main">
            <a:off x="6038850" y="4191000"/>
            <a:ext cx="5353050" cy="819150"/>
          </a:xfrm>
          <a:prstGeom xmlns:a="http://schemas.openxmlformats.org/drawingml/2006/main" prst="roundRect">
            <a:avLst>
              <a:gd name="adj" fmla="val 16279"/>
            </a:avLst>
          </a:prstGeom>
          <a:solidFill xmlns:a="http://schemas.openxmlformats.org/drawingml/2006/main">
            <a:srgbClr val="EDF8F2"/>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C0E24C8D-E811-4A81-9215-F4167C52F7D3}"/>
              </a:ext>
            </a:extLst>
          </p:cNvPr>
          <p:cNvSpPr>
            <a:spLocks xmlns:a="http://schemas.openxmlformats.org/drawingml/2006/main" noGrp="1"/>
          </p:cNvSpPr>
          <p:nvPr/>
        </p:nvSpPr>
        <p:spPr>
          <a:xfrm xmlns:a="http://schemas.openxmlformats.org/drawingml/2006/main">
            <a:off x="6191250" y="43148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E1211A18-C48D-456A-9456-54466B4B2179}"/>
              </a:ext>
            </a:extLst>
          </p:cNvPr>
          <p:cNvSpPr>
            <a:spLocks xmlns:a="http://schemas.openxmlformats.org/drawingml/2006/main" noGrp="1"/>
          </p:cNvSpPr>
          <p:nvPr/>
        </p:nvSpPr>
        <p:spPr>
          <a:xfrm xmlns:a="http://schemas.openxmlformats.org/drawingml/2006/main">
            <a:off x="6191250" y="45624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Позитиван и негативан доказ.</a:t>
            </a:r>
          </a:p>
        </p:txBody>
      </p:sp>
    </p:spTree>
    <p:extLst>
      <p:ext uri="{BB962C8B-B14F-4D97-AF65-F5344CB8AC3E}">
        <p14:creationId xmlns:p14="http://schemas.microsoft.com/office/powerpoint/2010/main" val="1582457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AF8666B0-7314-44A0-948F-288F12134D6E}"/>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B2AEF999-F629-4A89-B4C7-141AF654B2FC}"/>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39025FFF-8516-40AA-9F8C-EA1423FC1B39}"/>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13</a:t>
            </a:r>
          </a:p>
        </p:txBody>
      </p:sp>
      <p:sp>
        <p:nvSpPr>
          <p:cNvPr id="4" name="Rectangle 3">
            <a:extLst xmlns:a="http://schemas.openxmlformats.org/drawingml/2006/main">
              <a:ext uri="{FF2B5EF4-FFF2-40B4-BE49-F238E27FC236}">
                <a16:creationId xmlns:a16="http://schemas.microsoft.com/office/drawing/2014/main" id="{A38A2FBC-C1D9-4707-B809-599FC662CF4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Случај: сесија после промене привилегије</a:t>
            </a:r>
          </a:p>
        </p:txBody>
      </p:sp>
      <p:sp>
        <p:nvSpPr>
          <p:cNvPr id="5" name="Rectangle 4">
            <a:extLst xmlns:a="http://schemas.openxmlformats.org/drawingml/2006/main">
              <a:ext uri="{FF2B5EF4-FFF2-40B4-BE49-F238E27FC236}">
                <a16:creationId xmlns:a16="http://schemas.microsoft.com/office/drawing/2014/main" id="{314DA63B-20AD-4736-8974-EBFFC2ACC2CC}"/>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Случај повезује опште правило са конкретним контекстом, серверском провером и очекиваним исходом.</a:t>
            </a:r>
          </a:p>
        </p:txBody>
      </p:sp>
      <p:sp>
        <p:nvSpPr>
          <p:cNvPr id="6" name="Rounded Rectangle 5">
            <a:extLst xmlns:a="http://schemas.openxmlformats.org/drawingml/2006/main">
              <a:ext uri="{FF2B5EF4-FFF2-40B4-BE49-F238E27FC236}">
                <a16:creationId xmlns:a16="http://schemas.microsoft.com/office/drawing/2014/main" id="{96CFFB0C-90B8-4192-BD5A-F562F0C59EF0}"/>
              </a:ext>
            </a:extLst>
          </p:cNvPr>
          <p:cNvSpPr>
            <a:spLocks xmlns:a="http://schemas.openxmlformats.org/drawingml/2006/main" noGrp="1"/>
          </p:cNvSpPr>
          <p:nvPr/>
        </p:nvSpPr>
        <p:spPr>
          <a:xfrm xmlns:a="http://schemas.openxmlformats.org/drawingml/2006/main">
            <a:off x="781050" y="2143125"/>
            <a:ext cx="10629900" cy="1619250"/>
          </a:xfrm>
          <a:prstGeom xmlns:a="http://schemas.openxmlformats.org/drawingml/2006/main" prst="roundRect">
            <a:avLst>
              <a:gd name="adj" fmla="val 8235"/>
            </a:avLst>
          </a:prstGeom>
          <a:solidFill xmlns:a="http://schemas.openxmlformats.org/drawingml/2006/main">
            <a:srgbClr val="F4F6F9"/>
          </a:solidFill>
          <a:ln xmlns:a="http://schemas.openxmlformats.org/drawingml/2006/main" w="9525">
            <a:solidFill>
              <a:srgbClr val="D7DEE8"/>
            </a:solidFill>
            <a:prstDash val="solid"/>
          </a:ln>
        </p:spPr>
      </p:sp>
      <p:sp>
        <p:nvSpPr>
          <p:cNvPr id="7" name="Rectangle 6">
            <a:extLst xmlns:a="http://schemas.openxmlformats.org/drawingml/2006/main">
              <a:ext uri="{FF2B5EF4-FFF2-40B4-BE49-F238E27FC236}">
                <a16:creationId xmlns:a16="http://schemas.microsoft.com/office/drawing/2014/main" id="{A8BB0E95-EF0D-4B5E-B347-067CFEB71127}"/>
              </a:ext>
            </a:extLst>
          </p:cNvPr>
          <p:cNvSpPr>
            <a:spLocks xmlns:a="http://schemas.openxmlformats.org/drawingml/2006/main" noGrp="1"/>
          </p:cNvSpPr>
          <p:nvPr/>
        </p:nvSpPr>
        <p:spPr>
          <a:xfrm xmlns:a="http://schemas.openxmlformats.org/drawingml/2006/main">
            <a:off x="933450" y="2266950"/>
            <a:ext cx="10325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СЦЕНАРИО</a:t>
            </a:r>
          </a:p>
        </p:txBody>
      </p:sp>
      <p:sp>
        <p:nvSpPr>
          <p:cNvPr id="8" name="Rectangle 7">
            <a:extLst xmlns:a="http://schemas.openxmlformats.org/drawingml/2006/main">
              <a:ext uri="{FF2B5EF4-FFF2-40B4-BE49-F238E27FC236}">
                <a16:creationId xmlns:a16="http://schemas.microsoft.com/office/drawing/2014/main" id="{1DD3F05E-A243-4AF5-8B29-3E678C75A457}"/>
              </a:ext>
            </a:extLst>
          </p:cNvPr>
          <p:cNvSpPr>
            <a:spLocks xmlns:a="http://schemas.openxmlformats.org/drawingml/2006/main" noGrp="1"/>
          </p:cNvSpPr>
          <p:nvPr/>
        </p:nvSpPr>
        <p:spPr>
          <a:xfrm xmlns:a="http://schemas.openxmlformats.org/drawingml/2006/main">
            <a:off x="933450" y="2514600"/>
            <a:ext cx="10325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Пример: сесија после промене привилегије</a:t>
            </a:r>
          </a:p>
        </p:txBody>
      </p:sp>
      <p:sp>
        <p:nvSpPr>
          <p:cNvPr id="9" name="Rectangle 8">
            <a:extLst xmlns:a="http://schemas.openxmlformats.org/drawingml/2006/main">
              <a:ext uri="{FF2B5EF4-FFF2-40B4-BE49-F238E27FC236}">
                <a16:creationId xmlns:a16="http://schemas.microsoft.com/office/drawing/2014/main" id="{59D1F3B8-3EEE-4D97-B30F-EBBC81B5659F}"/>
              </a:ext>
            </a:extLst>
          </p:cNvPr>
          <p:cNvSpPr>
            <a:spLocks xmlns:a="http://schemas.openxmlformats.org/drawingml/2006/main" noGrp="1"/>
          </p:cNvSpPr>
          <p:nvPr/>
        </p:nvSpPr>
        <p:spPr>
          <a:xfrm xmlns:a="http://schemas.openxmlformats.org/drawingml/2006/main">
            <a:off x="933450" y="2981325"/>
            <a:ext cx="10325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Корисник се пријавио ујутру, а касније током дана добија виши ниво приступа. Ако систем не преиспита постојећу сесију, корисник може извршити ризичну радњу без додатне потврде која би била потребна да се пријављује у том тренутку. Обрнуто, одузета привилегија мора заиста да престане да важи, а не да чека крај дуготрајне сесије.</a:t>
            </a:r>
          </a:p>
        </p:txBody>
      </p:sp>
      <p:sp>
        <p:nvSpPr>
          <p:cNvPr id="10" name="Rounded Rectangle 9">
            <a:extLst xmlns:a="http://schemas.openxmlformats.org/drawingml/2006/main">
              <a:ext uri="{FF2B5EF4-FFF2-40B4-BE49-F238E27FC236}">
                <a16:creationId xmlns:a16="http://schemas.microsoft.com/office/drawing/2014/main" id="{8ABF42BF-8012-4C99-975B-CED13F5F8F70}"/>
              </a:ext>
            </a:extLst>
          </p:cNvPr>
          <p:cNvSpPr>
            <a:spLocks xmlns:a="http://schemas.openxmlformats.org/drawingml/2006/main" noGrp="1"/>
          </p:cNvSpPr>
          <p:nvPr/>
        </p:nvSpPr>
        <p:spPr>
          <a:xfrm xmlns:a="http://schemas.openxmlformats.org/drawingml/2006/main">
            <a:off x="781050" y="4048125"/>
            <a:ext cx="3352800" cy="1352550"/>
          </a:xfrm>
          <a:prstGeom xmlns:a="http://schemas.openxmlformats.org/drawingml/2006/main" prst="roundRect">
            <a:avLst>
              <a:gd name="adj" fmla="val 9859"/>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D5DC3B68-EB8A-4185-A601-C7B4B2C043D4}"/>
              </a:ext>
            </a:extLst>
          </p:cNvPr>
          <p:cNvSpPr>
            <a:spLocks xmlns:a="http://schemas.openxmlformats.org/drawingml/2006/main" noGrp="1"/>
          </p:cNvSpPr>
          <p:nvPr/>
        </p:nvSpPr>
        <p:spPr>
          <a:xfrm xmlns:a="http://schemas.openxmlformats.org/drawingml/2006/main">
            <a:off x="933450"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8834A574-5419-42F9-BD3F-8ECBB800E3CE}"/>
              </a:ext>
            </a:extLst>
          </p:cNvPr>
          <p:cNvSpPr>
            <a:spLocks xmlns:a="http://schemas.openxmlformats.org/drawingml/2006/main" noGrp="1"/>
          </p:cNvSpPr>
          <p:nvPr/>
        </p:nvSpPr>
        <p:spPr>
          <a:xfrm xmlns:a="http://schemas.openxmlformats.org/drawingml/2006/main">
            <a:off x="933450"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Сесија је привремени доказ контекста, не трајна потврда поверења.</a:t>
            </a:r>
          </a:p>
        </p:txBody>
      </p:sp>
      <p:sp>
        <p:nvSpPr>
          <p:cNvPr id="13" name="Rounded Rectangle 12">
            <a:extLst xmlns:a="http://schemas.openxmlformats.org/drawingml/2006/main">
              <a:ext uri="{FF2B5EF4-FFF2-40B4-BE49-F238E27FC236}">
                <a16:creationId xmlns:a16="http://schemas.microsoft.com/office/drawing/2014/main" id="{2658D6EB-DDB2-43D0-B2AE-412D21ADFA2F}"/>
              </a:ext>
            </a:extLst>
          </p:cNvPr>
          <p:cNvSpPr>
            <a:spLocks xmlns:a="http://schemas.openxmlformats.org/drawingml/2006/main" noGrp="1"/>
          </p:cNvSpPr>
          <p:nvPr/>
        </p:nvSpPr>
        <p:spPr>
          <a:xfrm xmlns:a="http://schemas.openxmlformats.org/drawingml/2006/main">
            <a:off x="4391025" y="4048125"/>
            <a:ext cx="3352800" cy="1352550"/>
          </a:xfrm>
          <a:prstGeom xmlns:a="http://schemas.openxmlformats.org/drawingml/2006/main" prst="roundRect">
            <a:avLst>
              <a:gd name="adj" fmla="val 9859"/>
            </a:avLst>
          </a:prstGeom>
          <a:solidFill xmlns:a="http://schemas.openxmlformats.org/drawingml/2006/main">
            <a:srgbClr val="FFF6E9"/>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CB1FD298-890F-496F-95AC-F33B4C274E03}"/>
              </a:ext>
            </a:extLst>
          </p:cNvPr>
          <p:cNvSpPr>
            <a:spLocks xmlns:a="http://schemas.openxmlformats.org/drawingml/2006/main" noGrp="1"/>
          </p:cNvSpPr>
          <p:nvPr/>
        </p:nvSpPr>
        <p:spPr>
          <a:xfrm xmlns:a="http://schemas.openxmlformats.org/drawingml/2006/main">
            <a:off x="4543425"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ACA01015-E263-4ED5-93F6-6588435638B0}"/>
              </a:ext>
            </a:extLst>
          </p:cNvPr>
          <p:cNvSpPr>
            <a:spLocks xmlns:a="http://schemas.openxmlformats.org/drawingml/2006/main" noGrp="1"/>
          </p:cNvSpPr>
          <p:nvPr/>
        </p:nvSpPr>
        <p:spPr>
          <a:xfrm xmlns:a="http://schemas.openxmlformats.org/drawingml/2006/main">
            <a:off x="4543425"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852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Step-up аутентикација има смисла када се ризик радње промени, а не као произвољна препрека за све кориснике.</a:t>
            </a:r>
          </a:p>
        </p:txBody>
      </p:sp>
      <p:sp>
        <p:nvSpPr>
          <p:cNvPr id="16" name="Rounded Rectangle 15">
            <a:extLst xmlns:a="http://schemas.openxmlformats.org/drawingml/2006/main">
              <a:ext uri="{FF2B5EF4-FFF2-40B4-BE49-F238E27FC236}">
                <a16:creationId xmlns:a16="http://schemas.microsoft.com/office/drawing/2014/main" id="{C22D51D6-0109-446A-A3E2-CFCF86D6CB21}"/>
              </a:ext>
            </a:extLst>
          </p:cNvPr>
          <p:cNvSpPr>
            <a:spLocks xmlns:a="http://schemas.openxmlformats.org/drawingml/2006/main" noGrp="1"/>
          </p:cNvSpPr>
          <p:nvPr/>
        </p:nvSpPr>
        <p:spPr>
          <a:xfrm xmlns:a="http://schemas.openxmlformats.org/drawingml/2006/main">
            <a:off x="8001000" y="4048125"/>
            <a:ext cx="3352800" cy="1352550"/>
          </a:xfrm>
          <a:prstGeom xmlns:a="http://schemas.openxmlformats.org/drawingml/2006/main" prst="roundRect">
            <a:avLst>
              <a:gd name="adj" fmla="val 9859"/>
            </a:avLst>
          </a:prstGeom>
          <a:solidFill xmlns:a="http://schemas.openxmlformats.org/drawingml/2006/main">
            <a:srgbClr val="EDF8F2"/>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B56A2683-DAAA-4F66-BFF4-D10C1D9F69F3}"/>
              </a:ext>
            </a:extLst>
          </p:cNvPr>
          <p:cNvSpPr>
            <a:spLocks xmlns:a="http://schemas.openxmlformats.org/drawingml/2006/main" noGrp="1"/>
          </p:cNvSpPr>
          <p:nvPr/>
        </p:nvSpPr>
        <p:spPr>
          <a:xfrm xmlns:a="http://schemas.openxmlformats.org/drawingml/2006/main">
            <a:off x="8153400"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CA573F2C-5BA5-4324-B1D6-099C1C60BD20}"/>
              </a:ext>
            </a:extLst>
          </p:cNvPr>
          <p:cNvSpPr>
            <a:spLocks xmlns:a="http://schemas.openxmlformats.org/drawingml/2006/main" noGrp="1"/>
          </p:cNvSpPr>
          <p:nvPr/>
        </p:nvSpPr>
        <p:spPr>
          <a:xfrm xmlns:a="http://schemas.openxmlformats.org/drawingml/2006/main">
            <a:off x="8153400"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852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Сервисни налог добија исти третман као корисник: најмањи потребан опсег, рок важења и контролисану ротацију тајне.</a:t>
            </a:r>
          </a:p>
        </p:txBody>
      </p:sp>
    </p:spTree>
    <p:extLst>
      <p:ext uri="{BB962C8B-B14F-4D97-AF65-F5344CB8AC3E}">
        <p14:creationId xmlns:p14="http://schemas.microsoft.com/office/powerpoint/2010/main" val="69848838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777B7EF0-D340-4577-BA21-24909DFCC5EF}"/>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2F836305-B7A6-4B07-9C28-EF6FFA1EABD7}"/>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1A619A89-7407-4475-81BA-34A79405D2C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14</a:t>
            </a:r>
          </a:p>
        </p:txBody>
      </p:sp>
      <p:sp>
        <p:nvSpPr>
          <p:cNvPr id="4" name="Rectangle 3">
            <a:extLst xmlns:a="http://schemas.openxmlformats.org/drawingml/2006/main">
              <a:ext uri="{FF2B5EF4-FFF2-40B4-BE49-F238E27FC236}">
                <a16:creationId xmlns:a16="http://schemas.microsoft.com/office/drawing/2014/main" id="{59CC4467-A471-44D0-AB84-A0A665856A3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Step-up не замењује проверу сесије</a:t>
            </a:r>
          </a:p>
        </p:txBody>
      </p:sp>
      <p:sp>
        <p:nvSpPr>
          <p:cNvPr id="5" name="Rectangle 4">
            <a:extLst xmlns:a="http://schemas.openxmlformats.org/drawingml/2006/main">
              <a:ext uri="{FF2B5EF4-FFF2-40B4-BE49-F238E27FC236}">
                <a16:creationId xmlns:a16="http://schemas.microsoft.com/office/drawing/2014/main" id="{A5B1776D-A15C-4C17-873B-921AAD717369}"/>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Додатна потврда идентитета вреди само уз важећу сесију и довољно свежу MFA потврду.</a:t>
            </a:r>
          </a:p>
        </p:txBody>
      </p:sp>
      <p:sp>
        <p:nvSpPr>
          <p:cNvPr id="6" name="Rounded Rectangle 5">
            <a:extLst xmlns:a="http://schemas.openxmlformats.org/drawingml/2006/main">
              <a:ext uri="{FF2B5EF4-FFF2-40B4-BE49-F238E27FC236}">
                <a16:creationId xmlns:a16="http://schemas.microsoft.com/office/drawing/2014/main" id="{0D8D4B0D-9ADA-46AB-8D6F-3592DF577AE1}"/>
              </a:ext>
            </a:extLst>
          </p:cNvPr>
          <p:cNvSpPr>
            <a:spLocks xmlns:a="http://schemas.openxmlformats.org/drawingml/2006/main" noGrp="1"/>
          </p:cNvSpPr>
          <p:nvPr/>
        </p:nvSpPr>
        <p:spPr>
          <a:xfrm xmlns:a="http://schemas.openxmlformats.org/drawingml/2006/main">
            <a:off x="666750" y="2095500"/>
            <a:ext cx="6858000" cy="2482350"/>
          </a:xfrm>
          <a:prstGeom xmlns:a="http://schemas.openxmlformats.org/drawingml/2006/main" prst="roundRect">
            <a:avLst>
              <a:gd name="adj" fmla="val 4049"/>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4DAFA643-C604-4336-AA47-EF24793828EF}"/>
              </a:ext>
            </a:extLst>
          </p:cNvPr>
          <p:cNvSpPr>
            <a:spLocks xmlns:a="http://schemas.openxmlformats.org/drawingml/2006/main" noGrp="1"/>
          </p:cNvSpPr>
          <p:nvPr/>
        </p:nvSpPr>
        <p:spPr>
          <a:xfrm xmlns:a="http://schemas.openxmlformats.org/drawingml/2006/main">
            <a:off x="666750" y="2438400"/>
            <a:ext cx="6858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F7B9AB50-92AE-4662-86FC-ABE64DDEBC8B}"/>
              </a:ext>
            </a:extLst>
          </p:cNvPr>
          <p:cNvSpPr>
            <a:spLocks xmlns:a="http://schemas.openxmlformats.org/drawingml/2006/main" noGrp="1"/>
          </p:cNvSpPr>
          <p:nvPr/>
        </p:nvSpPr>
        <p:spPr>
          <a:xfrm xmlns:a="http://schemas.openxmlformats.org/drawingml/2006/main">
            <a:off x="6972300" y="221456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F5E18037-2EC5-4288-AC0F-666AD4851F39}"/>
              </a:ext>
            </a:extLst>
          </p:cNvPr>
          <p:cNvSpPr>
            <a:spLocks xmlns:a="http://schemas.openxmlformats.org/drawingml/2006/main" noGrp="1"/>
          </p:cNvSpPr>
          <p:nvPr/>
        </p:nvSpPr>
        <p:spPr>
          <a:xfrm xmlns:a="http://schemas.openxmlformats.org/drawingml/2006/main">
            <a:off x="7129463" y="221456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74AB3004-2C49-405B-9A30-A6FF847EACDC}"/>
              </a:ext>
            </a:extLst>
          </p:cNvPr>
          <p:cNvSpPr>
            <a:spLocks xmlns:a="http://schemas.openxmlformats.org/drawingml/2006/main" noGrp="1"/>
          </p:cNvSpPr>
          <p:nvPr/>
        </p:nvSpPr>
        <p:spPr>
          <a:xfrm xmlns:a="http://schemas.openxmlformats.org/drawingml/2006/main">
            <a:off x="7286625" y="221456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F43F7927-18DA-4800-B419-351C7A67A489}"/>
              </a:ext>
            </a:extLst>
          </p:cNvPr>
          <p:cNvSpPr>
            <a:spLocks xmlns:a="http://schemas.openxmlformats.org/drawingml/2006/main" noGrp="1"/>
          </p:cNvSpPr>
          <p:nvPr/>
        </p:nvSpPr>
        <p:spPr>
          <a:xfrm xmlns:a="http://schemas.openxmlformats.org/drawingml/2006/main">
            <a:off x="781050" y="2571750"/>
            <a:ext cx="3048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10</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11</a:t>
            </a:r>
          </a:p>
        </p:txBody>
      </p:sp>
      <p:sp>
        <p:nvSpPr>
          <p:cNvPr id="12" name="Rectangle 11">
            <a:extLst xmlns:a="http://schemas.openxmlformats.org/drawingml/2006/main">
              <a:ext uri="{FF2B5EF4-FFF2-40B4-BE49-F238E27FC236}">
                <a16:creationId xmlns:a16="http://schemas.microsoft.com/office/drawing/2014/main" id="{0E1074D8-00DC-469A-9859-03FCD2B390B5}"/>
              </a:ext>
            </a:extLst>
          </p:cNvPr>
          <p:cNvSpPr>
            <a:spLocks xmlns:a="http://schemas.openxmlformats.org/drawingml/2006/main" noGrp="1"/>
          </p:cNvSpPr>
          <p:nvPr/>
        </p:nvSpPr>
        <p:spPr>
          <a:xfrm xmlns:a="http://schemas.openxmlformats.org/drawingml/2006/main">
            <a:off x="1200150" y="2571750"/>
            <a:ext cx="61531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nSpc>
                <a:spcPts val="1300"/>
              </a:lnSpc>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0">
                <a:solidFill>
                  <a:srgbClr val="7651D4"/>
                </a:solidFill>
              </a:rPr>
              <a:t>StepUpDecision</a:t>
            </a:r>
            <a:r>
              <a:rPr b="0">
                <a:solidFill>
                  <a:srgbClr val="263044"/>
                </a:solidFill>
              </a:rPr>
              <a:t> </a:t>
            </a:r>
            <a:r>
              <a:rPr b="0">
                <a:solidFill>
                  <a:srgbClr val="7651D4"/>
                </a:solidFill>
              </a:rPr>
              <a:t>Evaluate</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0">
                <a:solidFill>
                  <a:srgbClr val="7651D4"/>
                </a:solidFill>
              </a:rPr>
              <a:t>AuthSession</a:t>
            </a:r>
            <a:r>
              <a:rPr b="0">
                <a:solidFill>
                  <a:srgbClr val="263044"/>
                </a:solidFill>
              </a:rPr>
              <a:t> session, </a:t>
            </a:r>
            <a:r>
              <a:rPr b="0">
                <a:solidFill>
                  <a:srgbClr val="7651D4"/>
                </a:solidFill>
              </a:rPr>
              <a:t>RiskyOperation</a:t>
            </a:r>
            <a:r>
              <a:rPr b="0">
                <a:solidFill>
                  <a:srgbClr val="263044"/>
                </a:solidFill>
              </a:rPr>
              <a:t> operation, </a:t>
            </a:r>
            <a:r>
              <a:rPr b="0">
                <a:solidFill>
                  <a:srgbClr val="7651D4"/>
                </a:solidFill>
              </a:rPr>
              <a:t>DateTimeOffset</a:t>
            </a:r>
            <a:r>
              <a:rPr b="0">
                <a:solidFill>
                  <a:srgbClr val="263044"/>
                </a:solidFill>
              </a:rPr>
              <a:t> now)</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(session.</a:t>
            </a:r>
            <a:r>
              <a:rPr b="0">
                <a:solidFill>
                  <a:srgbClr val="7651D4"/>
                </a:solidFill>
              </a:rPr>
              <a:t>Revoked</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1">
                <a:solidFill>
                  <a:srgbClr val="0969C3"/>
                </a:solidFill>
              </a:rPr>
              <a:t>new</a:t>
            </a:r>
            <a:r>
              <a:rPr b="0">
                <a:solidFill>
                  <a:srgbClr val="263044"/>
                </a:solidFill>
              </a:rPr>
              <a:t>(</a:t>
            </a:r>
            <a:r>
              <a:rPr b="1">
                <a:solidFill>
                  <a:srgbClr val="0969C3"/>
                </a:solidFill>
              </a:rPr>
              <a:t>false</a:t>
            </a:r>
            <a:r>
              <a:rPr b="0">
                <a:solidFill>
                  <a:srgbClr val="263044"/>
                </a:solidFill>
              </a:rPr>
              <a:t>, </a:t>
            </a:r>
            <a:r>
              <a:rPr b="1">
                <a:solidFill>
                  <a:srgbClr val="0969C3"/>
                </a:solidFill>
              </a:rPr>
              <a:t>false</a:t>
            </a:r>
            <a:r>
              <a:rPr b="0">
                <a:solidFill>
                  <a:srgbClr val="263044"/>
                </a:solidFill>
              </a:rPr>
              <a:t>, </a:t>
            </a:r>
            <a:r>
              <a:rPr b="0">
                <a:solidFill>
                  <a:srgbClr val="7651D4"/>
                </a:solidFill>
              </a:rPr>
              <a:t>StepUpCodes</a:t>
            </a:r>
            <a:r>
              <a:rPr b="0">
                <a:solidFill>
                  <a:srgbClr val="263044"/>
                </a:solidFill>
              </a:rPr>
              <a:t>.</a:t>
            </a:r>
            <a:r>
              <a:rPr b="0">
                <a:solidFill>
                  <a:srgbClr val="7651D4"/>
                </a:solidFill>
              </a:rPr>
              <a:t>SessionRevoked</a:t>
            </a:r>
            <a:r>
              <a:rPr b="0">
                <a:solidFill>
                  <a:srgbClr val="263044"/>
                </a:solidFill>
              </a:rPr>
              <a:t>, …);</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(session.</a:t>
            </a:r>
            <a:r>
              <a:rPr b="0">
                <a:solidFill>
                  <a:srgbClr val="7651D4"/>
                </a:solidFill>
              </a:rPr>
              <a:t>MfaVerifiedAt</a:t>
            </a:r>
            <a:r>
              <a:rPr b="0">
                <a:solidFill>
                  <a:srgbClr val="263044"/>
                </a:solidFill>
              </a:rPr>
              <a:t> </a:t>
            </a:r>
            <a:r>
              <a:rPr b="1">
                <a:solidFill>
                  <a:srgbClr val="0969C3"/>
                </a:solidFill>
              </a:rPr>
              <a:t>is</a:t>
            </a:r>
            <a:r>
              <a:rPr b="0">
                <a:solidFill>
                  <a:srgbClr val="263044"/>
                </a:solidFill>
              </a:rPr>
              <a:t> </a:t>
            </a:r>
            <a:r>
              <a:rPr b="1">
                <a:solidFill>
                  <a:srgbClr val="0969C3"/>
                </a:solidFill>
              </a:rPr>
              <a:t>not</a:t>
            </a:r>
            <a:r>
              <a:rPr b="0">
                <a:solidFill>
                  <a:srgbClr val="263044"/>
                </a:solidFill>
              </a:rPr>
              <a:t> { } verifiedAt)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1">
                <a:solidFill>
                  <a:srgbClr val="0969C3"/>
                </a:solidFill>
              </a:rPr>
              <a:t>new</a:t>
            </a:r>
            <a:r>
              <a:rPr b="0">
                <a:solidFill>
                  <a:srgbClr val="263044"/>
                </a:solidFill>
              </a:rPr>
              <a:t>(</a:t>
            </a:r>
            <a:r>
              <a:rPr b="1">
                <a:solidFill>
                  <a:srgbClr val="0969C3"/>
                </a:solidFill>
              </a:rPr>
              <a:t>false</a:t>
            </a:r>
            <a:r>
              <a:rPr b="0">
                <a:solidFill>
                  <a:srgbClr val="263044"/>
                </a:solidFill>
              </a:rPr>
              <a:t>, </a:t>
            </a:r>
            <a:r>
              <a:rPr b="1">
                <a:solidFill>
                  <a:srgbClr val="0969C3"/>
                </a:solidFill>
              </a:rPr>
              <a:t>true</a:t>
            </a:r>
            <a:r>
              <a:rPr b="0">
                <a:solidFill>
                  <a:srgbClr val="263044"/>
                </a:solidFill>
              </a:rPr>
              <a:t>, </a:t>
            </a:r>
            <a:r>
              <a:rPr b="0">
                <a:solidFill>
                  <a:srgbClr val="7651D4"/>
                </a:solidFill>
              </a:rPr>
              <a:t>StepUpCodes</a:t>
            </a:r>
            <a:r>
              <a:rPr b="0">
                <a:solidFill>
                  <a:srgbClr val="263044"/>
                </a:solidFill>
              </a:rPr>
              <a:t>.</a:t>
            </a:r>
            <a:r>
              <a:rPr b="0">
                <a:solidFill>
                  <a:srgbClr val="7651D4"/>
                </a:solidFill>
              </a:rPr>
              <a:t>MfaRequired</a:t>
            </a:r>
            <a:r>
              <a:rPr b="0">
                <a:solidFill>
                  <a:srgbClr val="263044"/>
                </a:solidFill>
              </a:rPr>
              <a:t>, …);</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a:t>
            </a:r>
            <a:r>
              <a:rPr b="0">
                <a:solidFill>
                  <a:srgbClr val="7651D4"/>
                </a:solidFill>
              </a:rPr>
              <a:t>IsFresh</a:t>
            </a:r>
            <a:r>
              <a:rPr b="0">
                <a:solidFill>
                  <a:srgbClr val="263044"/>
                </a:solidFill>
              </a:rPr>
              <a:t>(verifiedAt, operation.</a:t>
            </a:r>
            <a:r>
              <a:rPr b="0">
                <a:solidFill>
                  <a:srgbClr val="7651D4"/>
                </a:solidFill>
              </a:rPr>
              <a:t>MaximumMfaAge</a:t>
            </a:r>
            <a:r>
              <a:rPr b="0">
                <a:solidFill>
                  <a:srgbClr val="263044"/>
                </a:solidFill>
              </a:rPr>
              <a:t>, now))</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1">
                <a:solidFill>
                  <a:srgbClr val="0969C3"/>
                </a:solidFill>
              </a:rPr>
              <a:t>new</a:t>
            </a:r>
            <a:r>
              <a:rPr b="0">
                <a:solidFill>
                  <a:srgbClr val="263044"/>
                </a:solidFill>
              </a:rPr>
              <a:t>(</a:t>
            </a:r>
            <a:r>
              <a:rPr b="1">
                <a:solidFill>
                  <a:srgbClr val="0969C3"/>
                </a:solidFill>
              </a:rPr>
              <a:t>false</a:t>
            </a:r>
            <a:r>
              <a:rPr b="0">
                <a:solidFill>
                  <a:srgbClr val="263044"/>
                </a:solidFill>
              </a:rPr>
              <a:t>, </a:t>
            </a:r>
            <a:r>
              <a:rPr b="1">
                <a:solidFill>
                  <a:srgbClr val="0969C3"/>
                </a:solidFill>
              </a:rPr>
              <a:t>true</a:t>
            </a:r>
            <a:r>
              <a:rPr b="0">
                <a:solidFill>
                  <a:srgbClr val="263044"/>
                </a:solidFill>
              </a:rPr>
              <a:t>, </a:t>
            </a:r>
            <a:r>
              <a:rPr b="0">
                <a:solidFill>
                  <a:srgbClr val="7651D4"/>
                </a:solidFill>
              </a:rPr>
              <a:t>StepUpCodes</a:t>
            </a:r>
            <a:r>
              <a:rPr b="0">
                <a:solidFill>
                  <a:srgbClr val="263044"/>
                </a:solidFill>
              </a:rPr>
              <a:t>.</a:t>
            </a:r>
            <a:r>
              <a:rPr b="0">
                <a:solidFill>
                  <a:srgbClr val="7651D4"/>
                </a:solidFill>
              </a:rPr>
              <a:t>MfaStale</a:t>
            </a:r>
            <a:r>
              <a:rPr b="0">
                <a:solidFill>
                  <a:srgbClr val="263044"/>
                </a:solidFill>
              </a:rPr>
              <a:t>, …);</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1">
                <a:solidFill>
                  <a:srgbClr val="0969C3"/>
                </a:solidFill>
              </a:rPr>
              <a:t>new</a:t>
            </a:r>
            <a:r>
              <a:rPr b="0">
                <a:solidFill>
                  <a:srgbClr val="263044"/>
                </a:solidFill>
              </a:rPr>
              <a:t>(</a:t>
            </a:r>
            <a:r>
              <a:rPr b="1">
                <a:solidFill>
                  <a:srgbClr val="0969C3"/>
                </a:solidFill>
              </a:rPr>
              <a:t>true</a:t>
            </a:r>
            <a:r>
              <a:rPr b="0">
                <a:solidFill>
                  <a:srgbClr val="263044"/>
                </a:solidFill>
              </a:rPr>
              <a:t>, </a:t>
            </a:r>
            <a:r>
              <a:rPr b="1">
                <a:solidFill>
                  <a:srgbClr val="0969C3"/>
                </a:solidFill>
              </a:rPr>
              <a:t>false</a:t>
            </a:r>
            <a:r>
              <a:rPr b="0">
                <a:solidFill>
                  <a:srgbClr val="263044"/>
                </a:solidFill>
              </a:rPr>
              <a:t>, </a:t>
            </a:r>
            <a:r>
              <a:rPr b="0">
                <a:solidFill>
                  <a:srgbClr val="7651D4"/>
                </a:solidFill>
              </a:rPr>
              <a:t>StepUpCodes</a:t>
            </a:r>
            <a:r>
              <a:rPr b="0">
                <a:solidFill>
                  <a:srgbClr val="263044"/>
                </a:solidFill>
              </a:rPr>
              <a:t>.</a:t>
            </a:r>
            <a:r>
              <a:rPr b="0">
                <a:solidFill>
                  <a:srgbClr val="7651D4"/>
                </a:solidFill>
              </a:rPr>
              <a:t>StepUpSatisfied</a:t>
            </a:r>
            <a:r>
              <a:rPr b="0">
                <a:solidFill>
                  <a:srgbClr val="263044"/>
                </a:solidFill>
              </a:rPr>
              <a:t>, …);</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1CBBE798-7273-4724-98CF-B3F2B1ED0C61}"/>
              </a:ext>
            </a:extLst>
          </p:cNvPr>
          <p:cNvSpPr>
            <a:spLocks xmlns:a="http://schemas.openxmlformats.org/drawingml/2006/main" noGrp="1"/>
          </p:cNvSpPr>
          <p:nvPr/>
        </p:nvSpPr>
        <p:spPr>
          <a:xfrm xmlns:a="http://schemas.openxmlformats.org/drawingml/2006/main">
            <a:off x="7924800" y="2152650"/>
            <a:ext cx="3600450" cy="1809750"/>
          </a:xfrm>
          <a:prstGeom xmlns:a="http://schemas.openxmlformats.org/drawingml/2006/main" prst="roundRect">
            <a:avLst>
              <a:gd name="adj" fmla="val 7368"/>
            </a:avLst>
          </a:prstGeom>
          <a:solidFill xmlns:a="http://schemas.openxmlformats.org/drawingml/2006/main">
            <a:srgbClr val="F7EFF1"/>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7B64B8BC-10B4-4521-A757-45CAF388A6AB}"/>
              </a:ext>
            </a:extLst>
          </p:cNvPr>
          <p:cNvSpPr>
            <a:spLocks xmlns:a="http://schemas.openxmlformats.org/drawingml/2006/main" noGrp="1"/>
          </p:cNvSpPr>
          <p:nvPr/>
        </p:nvSpPr>
        <p:spPr>
          <a:xfrm xmlns:a="http://schemas.openxmlformats.org/drawingml/2006/main">
            <a:off x="8077200" y="22764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ТУМАЧЕЊЕ</a:t>
            </a:r>
          </a:p>
        </p:txBody>
      </p:sp>
      <p:sp>
        <p:nvSpPr>
          <p:cNvPr id="15" name="Rectangle 14">
            <a:extLst xmlns:a="http://schemas.openxmlformats.org/drawingml/2006/main">
              <a:ext uri="{FF2B5EF4-FFF2-40B4-BE49-F238E27FC236}">
                <a16:creationId xmlns:a16="http://schemas.microsoft.com/office/drawing/2014/main" id="{C9DCDBFC-C1C6-49FD-A5DF-06C924D88D02}"/>
              </a:ext>
            </a:extLst>
          </p:cNvPr>
          <p:cNvSpPr>
            <a:spLocks xmlns:a="http://schemas.openxmlformats.org/drawingml/2006/main" noGrp="1"/>
          </p:cNvSpPr>
          <p:nvPr/>
        </p:nvSpPr>
        <p:spPr>
          <a:xfrm xmlns:a="http://schemas.openxmlformats.org/drawingml/2006/main">
            <a:off x="8077200" y="2524125"/>
            <a:ext cx="32956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Додатна потврда подиже ниво поверења само за ограничену радњу и кратак временски прозор.</a:t>
            </a:r>
          </a:p>
        </p:txBody>
      </p:sp>
      <p:sp>
        <p:nvSpPr>
          <p:cNvPr id="16" name="Rounded Rectangle 15">
            <a:extLst xmlns:a="http://schemas.openxmlformats.org/drawingml/2006/main">
              <a:ext uri="{FF2B5EF4-FFF2-40B4-BE49-F238E27FC236}">
                <a16:creationId xmlns:a16="http://schemas.microsoft.com/office/drawing/2014/main" id="{101EC110-06A9-4494-B095-968AA410770C}"/>
              </a:ext>
            </a:extLst>
          </p:cNvPr>
          <p:cNvSpPr>
            <a:spLocks xmlns:a="http://schemas.openxmlformats.org/drawingml/2006/main" noGrp="1"/>
          </p:cNvSpPr>
          <p:nvPr/>
        </p:nvSpPr>
        <p:spPr>
          <a:xfrm xmlns:a="http://schemas.openxmlformats.org/drawingml/2006/main">
            <a:off x="7924800" y="4248150"/>
            <a:ext cx="3600450" cy="1428750"/>
          </a:xfrm>
          <a:prstGeom xmlns:a="http://schemas.openxmlformats.org/drawingml/2006/main" prst="roundRect">
            <a:avLst>
              <a:gd name="adj" fmla="val 9333"/>
            </a:avLst>
          </a:prstGeom>
          <a:solidFill xmlns:a="http://schemas.openxmlformats.org/drawingml/2006/main">
            <a:srgbClr val="FFF6E9"/>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D57FFFB4-66B4-4E12-87A0-CFE419FFF68A}"/>
              </a:ext>
            </a:extLst>
          </p:cNvPr>
          <p:cNvSpPr>
            <a:spLocks xmlns:a="http://schemas.openxmlformats.org/drawingml/2006/main" noGrp="1"/>
          </p:cNvSpPr>
          <p:nvPr/>
        </p:nvSpPr>
        <p:spPr>
          <a:xfrm xmlns:a="http://schemas.openxmlformats.org/drawingml/2006/main">
            <a:off x="8077200" y="43719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БЕЗБЕДНОСНА ГРАНИЦА</a:t>
            </a:r>
          </a:p>
        </p:txBody>
      </p:sp>
      <p:sp>
        <p:nvSpPr>
          <p:cNvPr id="18" name="Rectangle 17">
            <a:extLst xmlns:a="http://schemas.openxmlformats.org/drawingml/2006/main">
              <a:ext uri="{FF2B5EF4-FFF2-40B4-BE49-F238E27FC236}">
                <a16:creationId xmlns:a16="http://schemas.microsoft.com/office/drawing/2014/main" id="{FAD97ABD-190A-418C-BC7A-16CD6E16C712}"/>
              </a:ext>
            </a:extLst>
          </p:cNvPr>
          <p:cNvSpPr>
            <a:spLocks xmlns:a="http://schemas.openxmlformats.org/drawingml/2006/main" noGrp="1"/>
          </p:cNvSpPr>
          <p:nvPr/>
        </p:nvSpPr>
        <p:spPr>
          <a:xfrm xmlns:a="http://schemas.openxmlformats.org/drawingml/2006/main">
            <a:off x="8077200" y="4619625"/>
            <a:ext cx="3295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Одбијање је експлицитан исход са разлогом који се може тестирати и објаснити.</a:t>
            </a:r>
          </a:p>
        </p:txBody>
      </p:sp>
    </p:spTree>
    <p:extLst>
      <p:ext uri="{BB962C8B-B14F-4D97-AF65-F5344CB8AC3E}">
        <p14:creationId xmlns:p14="http://schemas.microsoft.com/office/powerpoint/2010/main" val="49950064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0EF2E753-B3EC-4FA9-98D3-3DC3366D33D1}"/>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68C5E10B-162C-4855-981B-06F0AB8B46AA}"/>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74A074E4-C960-4F21-B128-21677B212961}"/>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15</a:t>
            </a:r>
          </a:p>
        </p:txBody>
      </p:sp>
      <p:sp>
        <p:nvSpPr>
          <p:cNvPr id="4" name="Rectangle 3">
            <a:extLst xmlns:a="http://schemas.openxmlformats.org/drawingml/2006/main">
              <a:ext uri="{FF2B5EF4-FFF2-40B4-BE49-F238E27FC236}">
                <a16:creationId xmlns:a16="http://schemas.microsoft.com/office/drawing/2014/main" id="{0B2B9F64-19D6-45E0-80F2-D88214BE30FB}"/>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Опозив има предност над старим доказом</a:t>
            </a:r>
          </a:p>
        </p:txBody>
      </p:sp>
      <p:sp>
        <p:nvSpPr>
          <p:cNvPr id="5" name="Rectangle 4">
            <a:extLst xmlns:a="http://schemas.openxmlformats.org/drawingml/2006/main">
              <a:ext uri="{FF2B5EF4-FFF2-40B4-BE49-F238E27FC236}">
                <a16:creationId xmlns:a16="http://schemas.microsoft.com/office/drawing/2014/main" id="{5FBE151A-D01E-457A-8DAA-6FE4D0B14962}"/>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Тест потврђује да опозвана сесија поништава и сасвим свежу MFA потврду.</a:t>
            </a:r>
          </a:p>
        </p:txBody>
      </p:sp>
      <p:sp>
        <p:nvSpPr>
          <p:cNvPr id="6" name="Rounded Rectangle 5">
            <a:extLst xmlns:a="http://schemas.openxmlformats.org/drawingml/2006/main">
              <a:ext uri="{FF2B5EF4-FFF2-40B4-BE49-F238E27FC236}">
                <a16:creationId xmlns:a16="http://schemas.microsoft.com/office/drawing/2014/main" id="{134F8F15-907D-4FEC-9383-1512BB812B0B}"/>
              </a:ext>
            </a:extLst>
          </p:cNvPr>
          <p:cNvSpPr>
            <a:spLocks xmlns:a="http://schemas.openxmlformats.org/drawingml/2006/main" noGrp="1"/>
          </p:cNvSpPr>
          <p:nvPr/>
        </p:nvSpPr>
        <p:spPr>
          <a:xfrm xmlns:a="http://schemas.openxmlformats.org/drawingml/2006/main">
            <a:off x="666750" y="2095500"/>
            <a:ext cx="6858000" cy="2812550"/>
          </a:xfrm>
          <a:prstGeom xmlns:a="http://schemas.openxmlformats.org/drawingml/2006/main" prst="roundRect">
            <a:avLst>
              <a:gd name="adj" fmla="val 4184"/>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676C64B8-87DC-4E3C-A9BE-ADE25B6D8B8A}"/>
              </a:ext>
            </a:extLst>
          </p:cNvPr>
          <p:cNvSpPr>
            <a:spLocks xmlns:a="http://schemas.openxmlformats.org/drawingml/2006/main" noGrp="1"/>
          </p:cNvSpPr>
          <p:nvPr/>
        </p:nvSpPr>
        <p:spPr>
          <a:xfrm xmlns:a="http://schemas.openxmlformats.org/drawingml/2006/main">
            <a:off x="666750" y="2438400"/>
            <a:ext cx="6858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25F20EBD-3258-4F49-8C6F-5F18C4A17846}"/>
              </a:ext>
            </a:extLst>
          </p:cNvPr>
          <p:cNvSpPr>
            <a:spLocks xmlns:a="http://schemas.openxmlformats.org/drawingml/2006/main" noGrp="1"/>
          </p:cNvSpPr>
          <p:nvPr/>
        </p:nvSpPr>
        <p:spPr>
          <a:xfrm xmlns:a="http://schemas.openxmlformats.org/drawingml/2006/main">
            <a:off x="6972300" y="221456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37093661-B0DC-483D-828C-9BE368475390}"/>
              </a:ext>
            </a:extLst>
          </p:cNvPr>
          <p:cNvSpPr>
            <a:spLocks xmlns:a="http://schemas.openxmlformats.org/drawingml/2006/main" noGrp="1"/>
          </p:cNvSpPr>
          <p:nvPr/>
        </p:nvSpPr>
        <p:spPr>
          <a:xfrm xmlns:a="http://schemas.openxmlformats.org/drawingml/2006/main">
            <a:off x="7129463" y="221456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8EDD7A5D-8B33-48F7-A281-94F67B6D02D5}"/>
              </a:ext>
            </a:extLst>
          </p:cNvPr>
          <p:cNvSpPr>
            <a:spLocks xmlns:a="http://schemas.openxmlformats.org/drawingml/2006/main" noGrp="1"/>
          </p:cNvSpPr>
          <p:nvPr/>
        </p:nvSpPr>
        <p:spPr>
          <a:xfrm xmlns:a="http://schemas.openxmlformats.org/drawingml/2006/main">
            <a:off x="7286625" y="221456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0832FBCA-54A3-4385-AD14-4BE1C750F967}"/>
              </a:ext>
            </a:extLst>
          </p:cNvPr>
          <p:cNvSpPr>
            <a:spLocks xmlns:a="http://schemas.openxmlformats.org/drawingml/2006/main" noGrp="1"/>
          </p:cNvSpPr>
          <p:nvPr/>
        </p:nvSpPr>
        <p:spPr>
          <a:xfrm xmlns:a="http://schemas.openxmlformats.org/drawingml/2006/main">
            <a:off x="781050" y="2571750"/>
            <a:ext cx="3048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10</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11</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12</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13</a:t>
            </a:r>
          </a:p>
        </p:txBody>
      </p:sp>
      <p:sp>
        <p:nvSpPr>
          <p:cNvPr id="12" name="Rectangle 11">
            <a:extLst xmlns:a="http://schemas.openxmlformats.org/drawingml/2006/main">
              <a:ext uri="{FF2B5EF4-FFF2-40B4-BE49-F238E27FC236}">
                <a16:creationId xmlns:a16="http://schemas.microsoft.com/office/drawing/2014/main" id="{E0AD5860-9E02-4DAE-989A-A41388D4C84C}"/>
              </a:ext>
            </a:extLst>
          </p:cNvPr>
          <p:cNvSpPr>
            <a:spLocks xmlns:a="http://schemas.openxmlformats.org/drawingml/2006/main" noGrp="1"/>
          </p:cNvSpPr>
          <p:nvPr/>
        </p:nvSpPr>
        <p:spPr>
          <a:xfrm xmlns:a="http://schemas.openxmlformats.org/drawingml/2006/main">
            <a:off x="1200150" y="2571750"/>
            <a:ext cx="61531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a:t>
            </a:r>
            <a:r>
              <a:rPr b="0">
                <a:solidFill>
                  <a:srgbClr val="7651D4"/>
                </a:solidFill>
              </a:rPr>
              <a:t>Test</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1">
                <a:solidFill>
                  <a:srgbClr val="0969C3"/>
                </a:solidFill>
              </a:rPr>
              <a:t>void</a:t>
            </a:r>
            <a:r>
              <a:rPr b="0">
                <a:solidFill>
                  <a:srgbClr val="263044"/>
                </a:solidFill>
              </a:rPr>
              <a:t> </a:t>
            </a:r>
            <a:r>
              <a:rPr b="0">
                <a:solidFill>
                  <a:srgbClr val="7651D4"/>
                </a:solidFill>
              </a:rPr>
              <a:t>Evaluate_WhenSessionIsRevoked_DeniesWithoutOfferingMfa</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decision = _policy.</a:t>
            </a:r>
            <a:r>
              <a:rPr b="0">
                <a:solidFill>
                  <a:srgbClr val="7651D4"/>
                </a:solidFill>
              </a:rPr>
              <a:t>Evaluate</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0">
                <a:solidFill>
                  <a:srgbClr val="7651D4"/>
                </a:solidFill>
              </a:rPr>
              <a:t>Session</a:t>
            </a:r>
            <a:r>
              <a:rPr b="0">
                <a:solidFill>
                  <a:srgbClr val="263044"/>
                </a:solidFill>
              </a:rPr>
              <a:t>(</a:t>
            </a:r>
            <a:r>
              <a:rPr b="0">
                <a:solidFill>
                  <a:srgbClr val="7651D4"/>
                </a:solidFill>
              </a:rPr>
              <a:t>Now</a:t>
            </a:r>
            <a:r>
              <a:rPr b="0">
                <a:solidFill>
                  <a:srgbClr val="263044"/>
                </a:solidFill>
              </a:rPr>
              <a:t>.</a:t>
            </a:r>
            <a:r>
              <a:rPr b="0">
                <a:solidFill>
                  <a:srgbClr val="7651D4"/>
                </a:solidFill>
              </a:rPr>
              <a:t>AddMinutes</a:t>
            </a:r>
            <a:r>
              <a:rPr b="0">
                <a:solidFill>
                  <a:srgbClr val="263044"/>
                </a:solidFill>
              </a:rPr>
              <a:t>(-</a:t>
            </a:r>
            <a:r>
              <a:rPr b="0">
                <a:solidFill>
                  <a:srgbClr val="B86A09"/>
                </a:solidFill>
              </a:rPr>
              <a:t>1</a:t>
            </a:r>
            <a:r>
              <a:rPr b="0">
                <a:solidFill>
                  <a:srgbClr val="263044"/>
                </a:solidFill>
              </a:rPr>
              <a:t>), revoked: </a:t>
            </a:r>
            <a:r>
              <a:rPr b="1">
                <a:solidFill>
                  <a:srgbClr val="0969C3"/>
                </a:solidFill>
              </a:rPr>
              <a:t>true</a:t>
            </a:r>
            <a:r>
              <a:rPr b="0">
                <a:solidFill>
                  <a:srgbClr val="263044"/>
                </a:solidFill>
              </a:rPr>
              <a:t>), </a:t>
            </a:r>
            <a:r>
              <a:rPr b="0">
                <a:solidFill>
                  <a:srgbClr val="7651D4"/>
                </a:solidFill>
              </a:rPr>
              <a:t>Export</a:t>
            </a:r>
            <a:r>
              <a:rPr b="0">
                <a:solidFill>
                  <a:srgbClr val="263044"/>
                </a:solidFill>
              </a:rPr>
              <a:t>, </a:t>
            </a:r>
            <a:r>
              <a:rPr b="0">
                <a:solidFill>
                  <a:srgbClr val="7651D4"/>
                </a:solidFill>
              </a:rPr>
              <a:t>Now</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using</a:t>
            </a:r>
            <a:r>
              <a:rPr b="0">
                <a:solidFill>
                  <a:srgbClr val="263044"/>
                </a:solidFill>
              </a:rPr>
              <a:t> (</a:t>
            </a:r>
            <a:r>
              <a:rPr b="0">
                <a:solidFill>
                  <a:srgbClr val="7651D4"/>
                </a:solidFill>
              </a:rPr>
              <a:t>Assert</a:t>
            </a:r>
            <a:r>
              <a:rPr b="0">
                <a:solidFill>
                  <a:srgbClr val="263044"/>
                </a:solidFill>
              </a:rPr>
              <a:t>.</a:t>
            </a:r>
            <a:r>
              <a:rPr b="0">
                <a:solidFill>
                  <a:srgbClr val="7651D4"/>
                </a:solidFill>
              </a:rPr>
              <a:t>EnterMultipleScope</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0">
                <a:solidFill>
                  <a:srgbClr val="7651D4"/>
                </a:solidFill>
              </a:rPr>
              <a:t>Assert</a:t>
            </a:r>
            <a:r>
              <a:rPr b="0">
                <a:solidFill>
                  <a:srgbClr val="263044"/>
                </a:solidFill>
              </a:rPr>
              <a:t>.</a:t>
            </a:r>
            <a:r>
              <a:rPr b="0">
                <a:solidFill>
                  <a:srgbClr val="7651D4"/>
                </a:solidFill>
              </a:rPr>
              <a:t>That</a:t>
            </a:r>
            <a:r>
              <a:rPr b="0">
                <a:solidFill>
                  <a:srgbClr val="263044"/>
                </a:solidFill>
              </a:rPr>
              <a:t>(decision.</a:t>
            </a:r>
            <a:r>
              <a:rPr b="0">
                <a:solidFill>
                  <a:srgbClr val="7651D4"/>
                </a:solidFill>
              </a:rPr>
              <a:t>Allowed</a:t>
            </a:r>
            <a:r>
              <a:rPr b="0">
                <a:solidFill>
                  <a:srgbClr val="263044"/>
                </a:solidFill>
              </a:rPr>
              <a:t>, </a:t>
            </a:r>
            <a:r>
              <a:rPr b="0">
                <a:solidFill>
                  <a:srgbClr val="7651D4"/>
                </a:solidFill>
              </a:rPr>
              <a:t>Is</a:t>
            </a:r>
            <a:r>
              <a:rPr b="0">
                <a:solidFill>
                  <a:srgbClr val="263044"/>
                </a:solidFill>
              </a:rPr>
              <a:t>.</a:t>
            </a:r>
            <a:r>
              <a:rPr b="0">
                <a:solidFill>
                  <a:srgbClr val="7651D4"/>
                </a:solidFill>
              </a:rPr>
              <a:t>False</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0">
                <a:solidFill>
                  <a:srgbClr val="7651D4"/>
                </a:solidFill>
              </a:rPr>
              <a:t>Assert</a:t>
            </a:r>
            <a:r>
              <a:rPr b="0">
                <a:solidFill>
                  <a:srgbClr val="263044"/>
                </a:solidFill>
              </a:rPr>
              <a:t>.</a:t>
            </a:r>
            <a:r>
              <a:rPr b="0">
                <a:solidFill>
                  <a:srgbClr val="7651D4"/>
                </a:solidFill>
              </a:rPr>
              <a:t>That</a:t>
            </a:r>
            <a:r>
              <a:rPr b="0">
                <a:solidFill>
                  <a:srgbClr val="263044"/>
                </a:solidFill>
              </a:rPr>
              <a:t>(decision.</a:t>
            </a:r>
            <a:r>
              <a:rPr b="0">
                <a:solidFill>
                  <a:srgbClr val="7651D4"/>
                </a:solidFill>
              </a:rPr>
              <a:t>RequiresMfa</a:t>
            </a:r>
            <a:r>
              <a:rPr b="0">
                <a:solidFill>
                  <a:srgbClr val="263044"/>
                </a:solidFill>
              </a:rPr>
              <a:t>, </a:t>
            </a:r>
            <a:r>
              <a:rPr b="0">
                <a:solidFill>
                  <a:srgbClr val="7651D4"/>
                </a:solidFill>
              </a:rPr>
              <a:t>Is</a:t>
            </a:r>
            <a:r>
              <a:rPr b="0">
                <a:solidFill>
                  <a:srgbClr val="263044"/>
                </a:solidFill>
              </a:rPr>
              <a:t>.</a:t>
            </a:r>
            <a:r>
              <a:rPr b="0">
                <a:solidFill>
                  <a:srgbClr val="7651D4"/>
                </a:solidFill>
              </a:rPr>
              <a:t>False</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0">
                <a:solidFill>
                  <a:srgbClr val="7651D4"/>
                </a:solidFill>
              </a:rPr>
              <a:t>Assert</a:t>
            </a:r>
            <a:r>
              <a:rPr b="0">
                <a:solidFill>
                  <a:srgbClr val="263044"/>
                </a:solidFill>
              </a:rPr>
              <a:t>.</a:t>
            </a:r>
            <a:r>
              <a:rPr b="0">
                <a:solidFill>
                  <a:srgbClr val="7651D4"/>
                </a:solidFill>
              </a:rPr>
              <a:t>That</a:t>
            </a:r>
            <a:r>
              <a:rPr b="0">
                <a:solidFill>
                  <a:srgbClr val="263044"/>
                </a:solidFill>
              </a:rPr>
              <a:t>(decision.</a:t>
            </a:r>
            <a:r>
              <a:rPr b="0">
                <a:solidFill>
                  <a:srgbClr val="7651D4"/>
                </a:solidFill>
              </a:rPr>
              <a:t>Code</a:t>
            </a:r>
            <a:r>
              <a:rPr b="0">
                <a:solidFill>
                  <a:srgbClr val="263044"/>
                </a:solidFill>
              </a:rPr>
              <a:t>, </a:t>
            </a:r>
            <a:r>
              <a:rPr b="0">
                <a:solidFill>
                  <a:srgbClr val="7651D4"/>
                </a:solidFill>
              </a:rPr>
              <a:t>Is</a:t>
            </a:r>
            <a:r>
              <a:rPr b="0">
                <a:solidFill>
                  <a:srgbClr val="263044"/>
                </a:solidFill>
              </a:rPr>
              <a:t>.</a:t>
            </a:r>
            <a:r>
              <a:rPr b="0">
                <a:solidFill>
                  <a:srgbClr val="7651D4"/>
                </a:solidFill>
              </a:rPr>
              <a:t>EqualTo</a:t>
            </a:r>
            <a:r>
              <a:rPr b="0">
                <a:solidFill>
                  <a:srgbClr val="263044"/>
                </a:solidFill>
              </a:rPr>
              <a:t>(</a:t>
            </a:r>
            <a:r>
              <a:rPr b="0">
                <a:solidFill>
                  <a:srgbClr val="7651D4"/>
                </a:solidFill>
              </a:rPr>
              <a:t>StepUpCodes</a:t>
            </a:r>
            <a:r>
              <a:rPr b="0">
                <a:solidFill>
                  <a:srgbClr val="263044"/>
                </a:solidFill>
              </a:rPr>
              <a:t>.</a:t>
            </a:r>
            <a:r>
              <a:rPr b="0">
                <a:solidFill>
                  <a:srgbClr val="7651D4"/>
                </a:solidFill>
              </a:rPr>
              <a:t>SessionRevoked</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05A355B1-0EF0-45F2-AC2B-0F76CA8DACDF}"/>
              </a:ext>
            </a:extLst>
          </p:cNvPr>
          <p:cNvSpPr>
            <a:spLocks xmlns:a="http://schemas.openxmlformats.org/drawingml/2006/main" noGrp="1"/>
          </p:cNvSpPr>
          <p:nvPr/>
        </p:nvSpPr>
        <p:spPr>
          <a:xfrm xmlns:a="http://schemas.openxmlformats.org/drawingml/2006/main">
            <a:off x="7924800" y="2152650"/>
            <a:ext cx="3600450" cy="1809750"/>
          </a:xfrm>
          <a:prstGeom xmlns:a="http://schemas.openxmlformats.org/drawingml/2006/main" prst="roundRect">
            <a:avLst>
              <a:gd name="adj" fmla="val 7368"/>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DA9D490F-CE4F-4454-9FE1-D1F52433A1F6}"/>
              </a:ext>
            </a:extLst>
          </p:cNvPr>
          <p:cNvSpPr>
            <a:spLocks xmlns:a="http://schemas.openxmlformats.org/drawingml/2006/main" noGrp="1"/>
          </p:cNvSpPr>
          <p:nvPr/>
        </p:nvSpPr>
        <p:spPr>
          <a:xfrm xmlns:a="http://schemas.openxmlformats.org/drawingml/2006/main">
            <a:off x="8077200" y="22764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ДОКАЗ</a:t>
            </a:r>
          </a:p>
        </p:txBody>
      </p:sp>
      <p:sp>
        <p:nvSpPr>
          <p:cNvPr id="15" name="Rectangle 14">
            <a:extLst xmlns:a="http://schemas.openxmlformats.org/drawingml/2006/main">
              <a:ext uri="{FF2B5EF4-FFF2-40B4-BE49-F238E27FC236}">
                <a16:creationId xmlns:a16="http://schemas.microsoft.com/office/drawing/2014/main" id="{A4CB7022-A3EE-44B6-A9FB-2134DBD1370D}"/>
              </a:ext>
            </a:extLst>
          </p:cNvPr>
          <p:cNvSpPr>
            <a:spLocks xmlns:a="http://schemas.openxmlformats.org/drawingml/2006/main" noGrp="1"/>
          </p:cNvSpPr>
          <p:nvPr/>
        </p:nvSpPr>
        <p:spPr>
          <a:xfrm xmlns:a="http://schemas.openxmlformats.org/drawingml/2006/main">
            <a:off x="8077200" y="2524125"/>
            <a:ext cx="32956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Ни MFA потврда стара један минут не оживљава сесију која је опозвана.</a:t>
            </a:r>
          </a:p>
        </p:txBody>
      </p:sp>
      <p:sp>
        <p:nvSpPr>
          <p:cNvPr id="16" name="Rounded Rectangle 15">
            <a:extLst xmlns:a="http://schemas.openxmlformats.org/drawingml/2006/main">
              <a:ext uri="{FF2B5EF4-FFF2-40B4-BE49-F238E27FC236}">
                <a16:creationId xmlns:a16="http://schemas.microsoft.com/office/drawing/2014/main" id="{911BBC7D-BD6D-462C-8877-5F5BB9553A7A}"/>
              </a:ext>
            </a:extLst>
          </p:cNvPr>
          <p:cNvSpPr>
            <a:spLocks xmlns:a="http://schemas.openxmlformats.org/drawingml/2006/main" noGrp="1"/>
          </p:cNvSpPr>
          <p:nvPr/>
        </p:nvSpPr>
        <p:spPr>
          <a:xfrm xmlns:a="http://schemas.openxmlformats.org/drawingml/2006/main">
            <a:off x="7924800" y="4248150"/>
            <a:ext cx="3600450" cy="1428750"/>
          </a:xfrm>
          <a:prstGeom xmlns:a="http://schemas.openxmlformats.org/drawingml/2006/main" prst="roundRect">
            <a:avLst>
              <a:gd name="adj" fmla="val 9333"/>
            </a:avLst>
          </a:prstGeom>
          <a:solidFill xmlns:a="http://schemas.openxmlformats.org/drawingml/2006/main">
            <a:srgbClr val="F7F4F5"/>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6D11506B-2B98-4E91-BE91-99FA47B329B3}"/>
              </a:ext>
            </a:extLst>
          </p:cNvPr>
          <p:cNvSpPr>
            <a:spLocks xmlns:a="http://schemas.openxmlformats.org/drawingml/2006/main" noGrp="1"/>
          </p:cNvSpPr>
          <p:nvPr/>
        </p:nvSpPr>
        <p:spPr>
          <a:xfrm xmlns:a="http://schemas.openxmlformats.org/drawingml/2006/main">
            <a:off x="8077200" y="43719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ОЧЕКИВАНИ ИСХОД</a:t>
            </a:r>
          </a:p>
        </p:txBody>
      </p:sp>
      <p:sp>
        <p:nvSpPr>
          <p:cNvPr id="18" name="Rectangle 17">
            <a:extLst xmlns:a="http://schemas.openxmlformats.org/drawingml/2006/main">
              <a:ext uri="{FF2B5EF4-FFF2-40B4-BE49-F238E27FC236}">
                <a16:creationId xmlns:a16="http://schemas.microsoft.com/office/drawing/2014/main" id="{1714526B-7D99-40A6-99E7-42B2152115E0}"/>
              </a:ext>
            </a:extLst>
          </p:cNvPr>
          <p:cNvSpPr>
            <a:spLocks xmlns:a="http://schemas.openxmlformats.org/drawingml/2006/main" noGrp="1"/>
          </p:cNvSpPr>
          <p:nvPr/>
        </p:nvSpPr>
        <p:spPr>
          <a:xfrm xmlns:a="http://schemas.openxmlformats.org/drawingml/2006/main">
            <a:off x="8077200" y="4619625"/>
            <a:ext cx="3295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Одлука одбија радњу и не нуди нову MFA потврду, јер сесија више не важи.</a:t>
            </a:r>
          </a:p>
        </p:txBody>
      </p:sp>
    </p:spTree>
    <p:extLst>
      <p:ext uri="{BB962C8B-B14F-4D97-AF65-F5344CB8AC3E}">
        <p14:creationId xmlns:p14="http://schemas.microsoft.com/office/powerpoint/2010/main" val="93920819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4A5052AD-C5FA-437D-A64C-A64013996477}"/>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9B47E582-BC3B-49FC-8D43-EDBC8F175D8D}"/>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D3FD1510-FB92-453B-8560-B55EECA1D339}"/>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16</a:t>
            </a:r>
          </a:p>
        </p:txBody>
      </p:sp>
      <p:sp>
        <p:nvSpPr>
          <p:cNvPr id="4" name="Rectangle 3">
            <a:extLst xmlns:a="http://schemas.openxmlformats.org/drawingml/2006/main">
              <a:ext uri="{FF2B5EF4-FFF2-40B4-BE49-F238E27FC236}">
                <a16:creationId xmlns:a16="http://schemas.microsoft.com/office/drawing/2014/main" id="{CDE8D3BB-71DA-4A82-9316-33103D4FCE8F}"/>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Садржај безбедносног записа</a:t>
            </a:r>
          </a:p>
        </p:txBody>
      </p:sp>
      <p:sp>
        <p:nvSpPr>
          <p:cNvPr id="5" name="Rectangle 4">
            <a:extLst xmlns:a="http://schemas.openxmlformats.org/drawingml/2006/main">
              <a:ext uri="{FF2B5EF4-FFF2-40B4-BE49-F238E27FC236}">
                <a16:creationId xmlns:a16="http://schemas.microsoft.com/office/drawing/2014/main" id="{7304EDAF-271C-49D8-9C9F-FEC6CA65F994}"/>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Запис садржи контекст потребан за реконструкцију одлуке, без тајни и непотребних личних података.</a:t>
            </a:r>
          </a:p>
        </p:txBody>
      </p:sp>
      <p:sp>
        <p:nvSpPr>
          <p:cNvPr id="6" name="Rounded Rectangle 5">
            <a:extLst xmlns:a="http://schemas.openxmlformats.org/drawingml/2006/main">
              <a:ext uri="{FF2B5EF4-FFF2-40B4-BE49-F238E27FC236}">
                <a16:creationId xmlns:a16="http://schemas.microsoft.com/office/drawing/2014/main" id="{0DDB940B-7689-404A-88E3-D55B30804276}"/>
              </a:ext>
            </a:extLst>
          </p:cNvPr>
          <p:cNvSpPr>
            <a:spLocks xmlns:a="http://schemas.openxmlformats.org/drawingml/2006/main" noGrp="1"/>
          </p:cNvSpPr>
          <p:nvPr/>
        </p:nvSpPr>
        <p:spPr>
          <a:xfrm xmlns:a="http://schemas.openxmlformats.org/drawingml/2006/main">
            <a:off x="857250" y="2152650"/>
            <a:ext cx="5334000" cy="2085975"/>
          </a:xfrm>
          <a:prstGeom xmlns:a="http://schemas.openxmlformats.org/drawingml/2006/main" prst="roundRect">
            <a:avLst>
              <a:gd name="adj" fmla="val 4566"/>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22D5732C-8915-4CC7-A449-3A815F09E66C}"/>
              </a:ext>
            </a:extLst>
          </p:cNvPr>
          <p:cNvSpPr>
            <a:spLocks xmlns:a="http://schemas.openxmlformats.org/drawingml/2006/main" noGrp="1"/>
          </p:cNvSpPr>
          <p:nvPr/>
        </p:nvSpPr>
        <p:spPr>
          <a:xfrm xmlns:a="http://schemas.openxmlformats.org/drawingml/2006/main">
            <a:off x="857250" y="2495550"/>
            <a:ext cx="5334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4904EC86-031E-4EBF-B6BB-59FDACAB2CC1}"/>
              </a:ext>
            </a:extLst>
          </p:cNvPr>
          <p:cNvSpPr>
            <a:spLocks xmlns:a="http://schemas.openxmlformats.org/drawingml/2006/main" noGrp="1"/>
          </p:cNvSpPr>
          <p:nvPr/>
        </p:nvSpPr>
        <p:spPr>
          <a:xfrm xmlns:a="http://schemas.openxmlformats.org/drawingml/2006/main">
            <a:off x="5638800" y="227171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C33BF492-A312-478E-BADA-35FD6D239AA8}"/>
              </a:ext>
            </a:extLst>
          </p:cNvPr>
          <p:cNvSpPr>
            <a:spLocks xmlns:a="http://schemas.openxmlformats.org/drawingml/2006/main" noGrp="1"/>
          </p:cNvSpPr>
          <p:nvPr/>
        </p:nvSpPr>
        <p:spPr>
          <a:xfrm xmlns:a="http://schemas.openxmlformats.org/drawingml/2006/main">
            <a:off x="5795963" y="227171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85E458CA-C570-4CAD-AD5D-E1563DC48A0B}"/>
              </a:ext>
            </a:extLst>
          </p:cNvPr>
          <p:cNvSpPr>
            <a:spLocks xmlns:a="http://schemas.openxmlformats.org/drawingml/2006/main" noGrp="1"/>
          </p:cNvSpPr>
          <p:nvPr/>
        </p:nvSpPr>
        <p:spPr>
          <a:xfrm xmlns:a="http://schemas.openxmlformats.org/drawingml/2006/main">
            <a:off x="5953125" y="227171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3F5A76A0-9676-40E5-A87D-DC31A195B8E2}"/>
              </a:ext>
            </a:extLst>
          </p:cNvPr>
          <p:cNvSpPr>
            <a:spLocks xmlns:a="http://schemas.openxmlformats.org/drawingml/2006/main" noGrp="1"/>
          </p:cNvSpPr>
          <p:nvPr/>
        </p:nvSpPr>
        <p:spPr>
          <a:xfrm xmlns:a="http://schemas.openxmlformats.org/drawingml/2006/main">
            <a:off x="971550" y="2628900"/>
            <a:ext cx="30480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1</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2</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3</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4</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5</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6</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7</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8</a:t>
            </a:r>
          </a:p>
        </p:txBody>
      </p:sp>
      <p:sp>
        <p:nvSpPr>
          <p:cNvPr id="12" name="Rectangle 11">
            <a:extLst xmlns:a="http://schemas.openxmlformats.org/drawingml/2006/main">
              <a:ext uri="{FF2B5EF4-FFF2-40B4-BE49-F238E27FC236}">
                <a16:creationId xmlns:a16="http://schemas.microsoft.com/office/drawing/2014/main" id="{8D4CB142-BE17-4DC2-895F-F56D1C1E2C98}"/>
              </a:ext>
            </a:extLst>
          </p:cNvPr>
          <p:cNvSpPr>
            <a:spLocks xmlns:a="http://schemas.openxmlformats.org/drawingml/2006/main" noGrp="1"/>
          </p:cNvSpPr>
          <p:nvPr/>
        </p:nvSpPr>
        <p:spPr>
          <a:xfrm xmlns:a="http://schemas.openxmlformats.org/drawingml/2006/main">
            <a:off x="1390650" y="2628900"/>
            <a:ext cx="462915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"subject"</a:t>
            </a:r>
            <a:r>
              <a:rPr b="0">
                <a:solidFill>
                  <a:srgbClr val="263044"/>
                </a:solidFill>
              </a:rPr>
              <a:t>: </a:t>
            </a:r>
            <a:r>
              <a:rPr b="0">
                <a:solidFill>
                  <a:srgbClr val="B45309"/>
                </a:solidFill>
              </a:rPr>
              <a:t>"u-8"</a:t>
            </a: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"action"</a:t>
            </a:r>
            <a:r>
              <a:rPr b="0">
                <a:solidFill>
                  <a:srgbClr val="263044"/>
                </a:solidFill>
              </a:rPr>
              <a:t>: </a:t>
            </a:r>
            <a:r>
              <a:rPr b="0">
                <a:solidFill>
                  <a:srgbClr val="B45309"/>
                </a:solidFill>
              </a:rPr>
              <a:t>"payment.approve"</a:t>
            </a: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"sessionState"</a:t>
            </a:r>
            <a:r>
              <a:rPr b="0">
                <a:solidFill>
                  <a:srgbClr val="263044"/>
                </a:solidFill>
              </a:rPr>
              <a:t>: </a:t>
            </a:r>
            <a:r>
              <a:rPr b="0">
                <a:solidFill>
                  <a:srgbClr val="B45309"/>
                </a:solidFill>
              </a:rPr>
              <a:t>"revoked"</a:t>
            </a: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"assurance"</a:t>
            </a:r>
            <a:r>
              <a:rPr b="0">
                <a:solidFill>
                  <a:srgbClr val="263044"/>
                </a:solidFill>
              </a:rPr>
              <a:t>: </a:t>
            </a:r>
            <a:r>
              <a:rPr b="0">
                <a:solidFill>
                  <a:srgbClr val="B45309"/>
                </a:solidFill>
              </a:rPr>
              <a:t>"mfa"</a:t>
            </a: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"outcome"</a:t>
            </a:r>
            <a:r>
              <a:rPr b="0">
                <a:solidFill>
                  <a:srgbClr val="263044"/>
                </a:solidFill>
              </a:rPr>
              <a:t>: </a:t>
            </a:r>
            <a:r>
              <a:rPr b="0">
                <a:solidFill>
                  <a:srgbClr val="B45309"/>
                </a:solidFill>
              </a:rPr>
              <a:t>"denied"</a:t>
            </a: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"secretValueLogged"</a:t>
            </a:r>
            <a:r>
              <a:rPr b="0">
                <a:solidFill>
                  <a:srgbClr val="263044"/>
                </a:solidFill>
              </a:rPr>
              <a:t>: </a:t>
            </a:r>
            <a:r>
              <a:rPr b="1">
                <a:solidFill>
                  <a:srgbClr val="0969C3"/>
                </a:solidFill>
              </a:rPr>
              <a:t>false</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0DEADB72-EB38-478F-A1DA-63DD73E6606D}"/>
              </a:ext>
            </a:extLst>
          </p:cNvPr>
          <p:cNvSpPr>
            <a:spLocks xmlns:a="http://schemas.openxmlformats.org/drawingml/2006/main" noGrp="1"/>
          </p:cNvSpPr>
          <p:nvPr/>
        </p:nvSpPr>
        <p:spPr>
          <a:xfrm xmlns:a="http://schemas.openxmlformats.org/drawingml/2006/main">
            <a:off x="6648450" y="2152650"/>
            <a:ext cx="4591050" cy="1352550"/>
          </a:xfrm>
          <a:prstGeom xmlns:a="http://schemas.openxmlformats.org/drawingml/2006/main" prst="roundRect">
            <a:avLst>
              <a:gd name="adj" fmla="val 9859"/>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DCBD157B-4727-49B7-A9C3-00E38A63C80C}"/>
              </a:ext>
            </a:extLst>
          </p:cNvPr>
          <p:cNvSpPr>
            <a:spLocks xmlns:a="http://schemas.openxmlformats.org/drawingml/2006/main" noGrp="1"/>
          </p:cNvSpPr>
          <p:nvPr/>
        </p:nvSpPr>
        <p:spPr>
          <a:xfrm xmlns:a="http://schemas.openxmlformats.org/drawingml/2006/main">
            <a:off x="6800850" y="2276475"/>
            <a:ext cx="428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ДОВОЉНО</a:t>
            </a:r>
          </a:p>
        </p:txBody>
      </p:sp>
      <p:sp>
        <p:nvSpPr>
          <p:cNvPr id="15" name="Rectangle 14">
            <a:extLst xmlns:a="http://schemas.openxmlformats.org/drawingml/2006/main">
              <a:ext uri="{FF2B5EF4-FFF2-40B4-BE49-F238E27FC236}">
                <a16:creationId xmlns:a16="http://schemas.microsoft.com/office/drawing/2014/main" id="{124915A3-8CF4-4417-8AF0-B1B9959DBCFD}"/>
              </a:ext>
            </a:extLst>
          </p:cNvPr>
          <p:cNvSpPr>
            <a:spLocks xmlns:a="http://schemas.openxmlformats.org/drawingml/2006/main" noGrp="1"/>
          </p:cNvSpPr>
          <p:nvPr/>
        </p:nvSpPr>
        <p:spPr>
          <a:xfrm xmlns:a="http://schemas.openxmlformats.org/drawingml/2006/main">
            <a:off x="6800850" y="2524125"/>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425" b="1">
                <a:solidFill>
                  <a:srgbClr val="1A202C"/>
                </a:solidFill>
                <a:latin typeface="Aptos"/>
                <a:ea typeface="Aptos"/>
                <a:cs typeface="Aptos"/>
              </a:defRPr>
            </a:pPr>
            <a:r>
              <a:rPr sz="1425" b="1">
                <a:solidFill>
                  <a:srgbClr val="1A202C"/>
                </a:solidFill>
                <a:latin typeface="Aptos"/>
                <a:ea typeface="Aptos"/>
                <a:cs typeface="Aptos"/>
              </a:rPr>
              <a:t>Актер, радња, циљ, исход и разлог</a:t>
            </a:r>
          </a:p>
        </p:txBody>
      </p:sp>
      <p:sp>
        <p:nvSpPr>
          <p:cNvPr id="16" name="Rectangle 15">
            <a:extLst xmlns:a="http://schemas.openxmlformats.org/drawingml/2006/main">
              <a:ext uri="{FF2B5EF4-FFF2-40B4-BE49-F238E27FC236}">
                <a16:creationId xmlns:a16="http://schemas.microsoft.com/office/drawing/2014/main" id="{F226C5FF-8C07-4826-86F8-4324ADAA9B92}"/>
              </a:ext>
            </a:extLst>
          </p:cNvPr>
          <p:cNvSpPr>
            <a:spLocks xmlns:a="http://schemas.openxmlformats.org/drawingml/2006/main" noGrp="1"/>
          </p:cNvSpPr>
          <p:nvPr/>
        </p:nvSpPr>
        <p:spPr>
          <a:xfrm xmlns:a="http://schemas.openxmlformats.org/drawingml/2006/main">
            <a:off x="6800850" y="2933700"/>
            <a:ext cx="4286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Временска ознака и correlation ID повезују траг са остатком тока.</a:t>
            </a:r>
          </a:p>
        </p:txBody>
      </p:sp>
      <p:sp>
        <p:nvSpPr>
          <p:cNvPr id="17" name="Rounded Rectangle 16">
            <a:extLst xmlns:a="http://schemas.openxmlformats.org/drawingml/2006/main">
              <a:ext uri="{FF2B5EF4-FFF2-40B4-BE49-F238E27FC236}">
                <a16:creationId xmlns:a16="http://schemas.microsoft.com/office/drawing/2014/main" id="{D408DCAC-0B90-4002-BD17-F3DF2997F596}"/>
              </a:ext>
            </a:extLst>
          </p:cNvPr>
          <p:cNvSpPr>
            <a:spLocks xmlns:a="http://schemas.openxmlformats.org/drawingml/2006/main" noGrp="1"/>
          </p:cNvSpPr>
          <p:nvPr/>
        </p:nvSpPr>
        <p:spPr>
          <a:xfrm xmlns:a="http://schemas.openxmlformats.org/drawingml/2006/main">
            <a:off x="6648450" y="3867150"/>
            <a:ext cx="4591050" cy="1428750"/>
          </a:xfrm>
          <a:prstGeom xmlns:a="http://schemas.openxmlformats.org/drawingml/2006/main" prst="roundRect">
            <a:avLst>
              <a:gd name="adj" fmla="val 9333"/>
            </a:avLst>
          </a:prstGeom>
          <a:solidFill xmlns:a="http://schemas.openxmlformats.org/drawingml/2006/main">
            <a:srgbClr val="FFF0F0"/>
          </a:solidFill>
          <a:ln xmlns:a="http://schemas.openxmlformats.org/drawingml/2006/main" w="9525">
            <a:solidFill>
              <a:srgbClr val="D7DEE8"/>
            </a:solidFill>
            <a:prstDash val="solid"/>
          </a:ln>
        </p:spPr>
      </p:sp>
      <p:sp>
        <p:nvSpPr>
          <p:cNvPr id="18" name="Rectangle 17">
            <a:extLst xmlns:a="http://schemas.openxmlformats.org/drawingml/2006/main">
              <a:ext uri="{FF2B5EF4-FFF2-40B4-BE49-F238E27FC236}">
                <a16:creationId xmlns:a16="http://schemas.microsoft.com/office/drawing/2014/main" id="{4D836D48-514E-480E-9890-2EFA1E059405}"/>
              </a:ext>
            </a:extLst>
          </p:cNvPr>
          <p:cNvSpPr>
            <a:spLocks xmlns:a="http://schemas.openxmlformats.org/drawingml/2006/main" noGrp="1"/>
          </p:cNvSpPr>
          <p:nvPr/>
        </p:nvSpPr>
        <p:spPr>
          <a:xfrm xmlns:a="http://schemas.openxmlformats.org/drawingml/2006/main">
            <a:off x="6800850" y="3990975"/>
            <a:ext cx="428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НЕ ПРИПАДА У ДОКАЗ</a:t>
            </a:r>
          </a:p>
        </p:txBody>
      </p:sp>
      <p:sp>
        <p:nvSpPr>
          <p:cNvPr id="19" name="Rectangle 18">
            <a:extLst xmlns:a="http://schemas.openxmlformats.org/drawingml/2006/main">
              <a:ext uri="{FF2B5EF4-FFF2-40B4-BE49-F238E27FC236}">
                <a16:creationId xmlns:a16="http://schemas.microsoft.com/office/drawing/2014/main" id="{53ACC8C6-2700-41D2-A0B7-DFE9F9364023}"/>
              </a:ext>
            </a:extLst>
          </p:cNvPr>
          <p:cNvSpPr>
            <a:spLocks xmlns:a="http://schemas.openxmlformats.org/drawingml/2006/main" noGrp="1"/>
          </p:cNvSpPr>
          <p:nvPr/>
        </p:nvSpPr>
        <p:spPr>
          <a:xfrm xmlns:a="http://schemas.openxmlformats.org/drawingml/2006/main">
            <a:off x="6800850" y="4238625"/>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Лозинка, token, тајна и сувишан садржај</a:t>
            </a:r>
          </a:p>
        </p:txBody>
      </p:sp>
      <p:sp>
        <p:nvSpPr>
          <p:cNvPr id="20" name="Rectangle 19">
            <a:extLst xmlns:a="http://schemas.openxmlformats.org/drawingml/2006/main">
              <a:ext uri="{FF2B5EF4-FFF2-40B4-BE49-F238E27FC236}">
                <a16:creationId xmlns:a16="http://schemas.microsoft.com/office/drawing/2014/main" id="{3AFA6733-55F6-4EED-96BE-296F9891E67A}"/>
              </a:ext>
            </a:extLst>
          </p:cNvPr>
          <p:cNvSpPr>
            <a:spLocks xmlns:a="http://schemas.openxmlformats.org/drawingml/2006/main" noGrp="1"/>
          </p:cNvSpPr>
          <p:nvPr/>
        </p:nvSpPr>
        <p:spPr>
          <a:xfrm xmlns:a="http://schemas.openxmlformats.org/drawingml/2006/main">
            <a:off x="6800850" y="4648200"/>
            <a:ext cx="428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Траг не сме да постане нови извор цурења или збирка непотребних података.</a:t>
            </a:r>
          </a:p>
        </p:txBody>
      </p:sp>
    </p:spTree>
    <p:extLst>
      <p:ext uri="{BB962C8B-B14F-4D97-AF65-F5344CB8AC3E}">
        <p14:creationId xmlns:p14="http://schemas.microsoft.com/office/powerpoint/2010/main" val="87363832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B4247C25-FF98-4FD1-A929-49E455BAA020}"/>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A5437B52-6B82-432E-A17A-476D17A4D846}"/>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E1E7966A-99D5-4AEA-A7D6-96BB0D157AF3}"/>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17</a:t>
            </a:r>
          </a:p>
        </p:txBody>
      </p:sp>
      <p:sp>
        <p:nvSpPr>
          <p:cNvPr id="4" name="Rectangle 3">
            <a:extLst xmlns:a="http://schemas.openxmlformats.org/drawingml/2006/main">
              <a:ext uri="{FF2B5EF4-FFF2-40B4-BE49-F238E27FC236}">
                <a16:creationId xmlns:a16="http://schemas.microsoft.com/office/drawing/2014/main" id="{9E777941-C0D0-40D7-B188-8B2231A97114}"/>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Честе грешке у имплементацији</a:t>
            </a:r>
          </a:p>
        </p:txBody>
      </p:sp>
      <p:sp>
        <p:nvSpPr>
          <p:cNvPr id="5" name="Rectangle 4">
            <a:extLst xmlns:a="http://schemas.openxmlformats.org/drawingml/2006/main">
              <a:ext uri="{FF2B5EF4-FFF2-40B4-BE49-F238E27FC236}">
                <a16:creationId xmlns:a16="http://schemas.microsoft.com/office/drawing/2014/main" id="{8AE503B7-7F67-4B68-94C4-3B22E23E47FD}"/>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Грешке настају када контекст, место одлуке или доказ остану нејасни.</a:t>
            </a:r>
          </a:p>
        </p:txBody>
      </p:sp>
      <p:sp>
        <p:nvSpPr>
          <p:cNvPr id="6" name="Rounded Rectangle 5">
            <a:extLst xmlns:a="http://schemas.openxmlformats.org/drawingml/2006/main">
              <a:ext uri="{FF2B5EF4-FFF2-40B4-BE49-F238E27FC236}">
                <a16:creationId xmlns:a16="http://schemas.microsoft.com/office/drawing/2014/main" id="{C050AF20-5332-4307-A578-342069AE95E8}"/>
              </a:ext>
            </a:extLst>
          </p:cNvPr>
          <p:cNvSpPr>
            <a:spLocks xmlns:a="http://schemas.openxmlformats.org/drawingml/2006/main" noGrp="1"/>
          </p:cNvSpPr>
          <p:nvPr/>
        </p:nvSpPr>
        <p:spPr>
          <a:xfrm xmlns:a="http://schemas.openxmlformats.org/drawingml/2006/main">
            <a:off x="819150" y="2381250"/>
            <a:ext cx="3257550" cy="2381250"/>
          </a:xfrm>
          <a:prstGeom xmlns:a="http://schemas.openxmlformats.org/drawingml/2006/main" prst="roundRect">
            <a:avLst>
              <a:gd name="adj" fmla="val 5600"/>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7AF5D01A-5AA9-4517-B907-EAF475AB3D9F}"/>
              </a:ext>
            </a:extLst>
          </p:cNvPr>
          <p:cNvSpPr>
            <a:spLocks xmlns:a="http://schemas.openxmlformats.org/drawingml/2006/main" noGrp="1"/>
          </p:cNvSpPr>
          <p:nvPr/>
        </p:nvSpPr>
        <p:spPr>
          <a:xfrm xmlns:a="http://schemas.openxmlformats.org/drawingml/2006/main">
            <a:off x="971550"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92D3FC6B-BD1D-49D8-B264-2C2739007750}"/>
              </a:ext>
            </a:extLst>
          </p:cNvPr>
          <p:cNvSpPr>
            <a:spLocks xmlns:a="http://schemas.openxmlformats.org/drawingml/2006/main" noGrp="1"/>
          </p:cNvSpPr>
          <p:nvPr/>
        </p:nvSpPr>
        <p:spPr>
          <a:xfrm xmlns:a="http://schemas.openxmlformats.org/drawingml/2006/main">
            <a:off x="971550"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Token третиран као вечна дозвола.</a:t>
            </a:r>
          </a:p>
        </p:txBody>
      </p:sp>
      <p:sp>
        <p:nvSpPr>
          <p:cNvPr id="9" name="Rectangle 8">
            <a:extLst xmlns:a="http://schemas.openxmlformats.org/drawingml/2006/main">
              <a:ext uri="{FF2B5EF4-FFF2-40B4-BE49-F238E27FC236}">
                <a16:creationId xmlns:a16="http://schemas.microsoft.com/office/drawing/2014/main" id="{D15190D4-9511-4B71-B374-B0EC585DB0E2}"/>
              </a:ext>
            </a:extLst>
          </p:cNvPr>
          <p:cNvSpPr>
            <a:spLocks xmlns:a="http://schemas.openxmlformats.org/drawingml/2006/main" noGrp="1"/>
          </p:cNvSpPr>
          <p:nvPr/>
        </p:nvSpPr>
        <p:spPr>
          <a:xfrm xmlns:a="http://schemas.openxmlformats.org/drawingml/2006/main">
            <a:off x="971550"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Нема јасног власника одлуке.</a:t>
            </a:r>
          </a:p>
        </p:txBody>
      </p:sp>
      <p:sp>
        <p:nvSpPr>
          <p:cNvPr id="10" name="Rounded Rectangle 9">
            <a:extLst xmlns:a="http://schemas.openxmlformats.org/drawingml/2006/main">
              <a:ext uri="{FF2B5EF4-FFF2-40B4-BE49-F238E27FC236}">
                <a16:creationId xmlns:a16="http://schemas.microsoft.com/office/drawing/2014/main" id="{30D1C9A6-299E-4460-8408-3C8DD179A97E}"/>
              </a:ext>
            </a:extLst>
          </p:cNvPr>
          <p:cNvSpPr>
            <a:spLocks xmlns:a="http://schemas.openxmlformats.org/drawingml/2006/main" noGrp="1"/>
          </p:cNvSpPr>
          <p:nvPr/>
        </p:nvSpPr>
        <p:spPr>
          <a:xfrm xmlns:a="http://schemas.openxmlformats.org/drawingml/2006/main">
            <a:off x="4467225" y="2381250"/>
            <a:ext cx="3257550" cy="2381250"/>
          </a:xfrm>
          <a:prstGeom xmlns:a="http://schemas.openxmlformats.org/drawingml/2006/main" prst="roundRect">
            <a:avLst>
              <a:gd name="adj" fmla="val 5600"/>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BDC049F9-0A05-4BBD-B95C-505CA95E39E5}"/>
              </a:ext>
            </a:extLst>
          </p:cNvPr>
          <p:cNvSpPr>
            <a:spLocks xmlns:a="http://schemas.openxmlformats.org/drawingml/2006/main" noGrp="1"/>
          </p:cNvSpPr>
          <p:nvPr/>
        </p:nvSpPr>
        <p:spPr>
          <a:xfrm xmlns:a="http://schemas.openxmlformats.org/drawingml/2006/main">
            <a:off x="4619625"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3B2ED554-679D-4AD7-954B-D553CEF87567}"/>
              </a:ext>
            </a:extLst>
          </p:cNvPr>
          <p:cNvSpPr>
            <a:spLocks xmlns:a="http://schemas.openxmlformats.org/drawingml/2006/main" noGrp="1"/>
          </p:cNvSpPr>
          <p:nvPr/>
        </p:nvSpPr>
        <p:spPr>
          <a:xfrm xmlns:a="http://schemas.openxmlformats.org/drawingml/2006/main">
            <a:off x="4619625"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Администраторска права додељена без рока и прегледа.</a:t>
            </a:r>
          </a:p>
        </p:txBody>
      </p:sp>
      <p:sp>
        <p:nvSpPr>
          <p:cNvPr id="13" name="Rectangle 12">
            <a:extLst xmlns:a="http://schemas.openxmlformats.org/drawingml/2006/main">
              <a:ext uri="{FF2B5EF4-FFF2-40B4-BE49-F238E27FC236}">
                <a16:creationId xmlns:a16="http://schemas.microsoft.com/office/drawing/2014/main" id="{770A8BBF-1D9E-44F0-9BD8-EDEAD571AB73}"/>
              </a:ext>
            </a:extLst>
          </p:cNvPr>
          <p:cNvSpPr>
            <a:spLocks xmlns:a="http://schemas.openxmlformats.org/drawingml/2006/main" noGrp="1"/>
          </p:cNvSpPr>
          <p:nvPr/>
        </p:nvSpPr>
        <p:spPr>
          <a:xfrm xmlns:a="http://schemas.openxmlformats.org/drawingml/2006/main">
            <a:off x="4619625"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 постоји негативан сценарио.</a:t>
            </a:r>
          </a:p>
        </p:txBody>
      </p:sp>
      <p:sp>
        <p:nvSpPr>
          <p:cNvPr id="14" name="Rounded Rectangle 13">
            <a:extLst xmlns:a="http://schemas.openxmlformats.org/drawingml/2006/main">
              <a:ext uri="{FF2B5EF4-FFF2-40B4-BE49-F238E27FC236}">
                <a16:creationId xmlns:a16="http://schemas.microsoft.com/office/drawing/2014/main" id="{9A9DF28F-F60C-4331-86D8-AA9815F4C992}"/>
              </a:ext>
            </a:extLst>
          </p:cNvPr>
          <p:cNvSpPr>
            <a:spLocks xmlns:a="http://schemas.openxmlformats.org/drawingml/2006/main" noGrp="1"/>
          </p:cNvSpPr>
          <p:nvPr/>
        </p:nvSpPr>
        <p:spPr>
          <a:xfrm xmlns:a="http://schemas.openxmlformats.org/drawingml/2006/main">
            <a:off x="8115300" y="2381250"/>
            <a:ext cx="3257550" cy="2381250"/>
          </a:xfrm>
          <a:prstGeom xmlns:a="http://schemas.openxmlformats.org/drawingml/2006/main" prst="roundRect">
            <a:avLst>
              <a:gd name="adj" fmla="val 5600"/>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0BB41FD3-65C4-4BA9-8369-160BBD33D87A}"/>
              </a:ext>
            </a:extLst>
          </p:cNvPr>
          <p:cNvSpPr>
            <a:spLocks xmlns:a="http://schemas.openxmlformats.org/drawingml/2006/main" noGrp="1"/>
          </p:cNvSpPr>
          <p:nvPr/>
        </p:nvSpPr>
        <p:spPr>
          <a:xfrm xmlns:a="http://schemas.openxmlformats.org/drawingml/2006/main">
            <a:off x="8267700"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907D0317-68CD-46C3-B999-EF841A8065BA}"/>
              </a:ext>
            </a:extLst>
          </p:cNvPr>
          <p:cNvSpPr>
            <a:spLocks xmlns:a="http://schemas.openxmlformats.org/drawingml/2006/main" noGrp="1"/>
          </p:cNvSpPr>
          <p:nvPr/>
        </p:nvSpPr>
        <p:spPr>
          <a:xfrm xmlns:a="http://schemas.openxmlformats.org/drawingml/2006/main">
            <a:off x="8267700"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Једна широка тајна дељена међу више независних сервиса.</a:t>
            </a:r>
          </a:p>
        </p:txBody>
      </p:sp>
      <p:sp>
        <p:nvSpPr>
          <p:cNvPr id="17" name="Rectangle 16">
            <a:extLst xmlns:a="http://schemas.openxmlformats.org/drawingml/2006/main">
              <a:ext uri="{FF2B5EF4-FFF2-40B4-BE49-F238E27FC236}">
                <a16:creationId xmlns:a16="http://schemas.microsoft.com/office/drawing/2014/main" id="{8EDAA20C-C954-4923-A3B0-A3902333D303}"/>
              </a:ext>
            </a:extLst>
          </p:cNvPr>
          <p:cNvSpPr>
            <a:spLocks xmlns:a="http://schemas.openxmlformats.org/drawingml/2006/main" noGrp="1"/>
          </p:cNvSpPr>
          <p:nvPr/>
        </p:nvSpPr>
        <p:spPr>
          <a:xfrm xmlns:a="http://schemas.openxmlformats.org/drawingml/2006/main">
            <a:off x="8267700"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Доказ не показује стварни исход.</a:t>
            </a:r>
          </a:p>
        </p:txBody>
      </p:sp>
    </p:spTree>
    <p:extLst>
      <p:ext uri="{BB962C8B-B14F-4D97-AF65-F5344CB8AC3E}">
        <p14:creationId xmlns:p14="http://schemas.microsoft.com/office/powerpoint/2010/main" val="19943756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EE524073-23F9-4B8E-89C4-964229393D76}"/>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8A62068B-5F2B-43F7-AE05-AD6E72496714}"/>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5EE3A7E4-E482-496B-825C-0019B4282006}"/>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18</a:t>
            </a:r>
          </a:p>
        </p:txBody>
      </p:sp>
      <p:sp>
        <p:nvSpPr>
          <p:cNvPr id="4" name="Rectangle 3">
            <a:extLst xmlns:a="http://schemas.openxmlformats.org/drawingml/2006/main">
              <a:ext uri="{FF2B5EF4-FFF2-40B4-BE49-F238E27FC236}">
                <a16:creationId xmlns:a16="http://schemas.microsoft.com/office/drawing/2014/main" id="{A61DC68E-61E3-4E55-B9B7-6487B984BF07}"/>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Управљање тајнама у архитектури</a:t>
            </a:r>
          </a:p>
        </p:txBody>
      </p:sp>
      <p:sp>
        <p:nvSpPr>
          <p:cNvPr id="5" name="Rectangle 4">
            <a:extLst xmlns:a="http://schemas.openxmlformats.org/drawingml/2006/main">
              <a:ext uri="{FF2B5EF4-FFF2-40B4-BE49-F238E27FC236}">
                <a16:creationId xmlns:a16="http://schemas.microsoft.com/office/drawing/2014/main" id="{B90EDA34-266E-4EB7-8CE5-0ED78D7E8338}"/>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Тајне имају власника, ограничен опсег, рок важења и поступак ротације.</a:t>
            </a:r>
          </a:p>
        </p:txBody>
      </p:sp>
      <p:sp>
        <p:nvSpPr>
          <p:cNvPr id="6" name="Rounded Rectangle 5">
            <a:extLst xmlns:a="http://schemas.openxmlformats.org/drawingml/2006/main">
              <a:ext uri="{FF2B5EF4-FFF2-40B4-BE49-F238E27FC236}">
                <a16:creationId xmlns:a16="http://schemas.microsoft.com/office/drawing/2014/main" id="{90098335-023A-4D46-8724-791069AACBE6}"/>
              </a:ext>
            </a:extLst>
          </p:cNvPr>
          <p:cNvSpPr>
            <a:spLocks xmlns:a="http://schemas.openxmlformats.org/drawingml/2006/main" noGrp="1"/>
          </p:cNvSpPr>
          <p:nvPr/>
        </p:nvSpPr>
        <p:spPr>
          <a:xfrm xmlns:a="http://schemas.openxmlformats.org/drawingml/2006/main">
            <a:off x="781050" y="2152650"/>
            <a:ext cx="4476750" cy="3105150"/>
          </a:xfrm>
          <a:prstGeom xmlns:a="http://schemas.openxmlformats.org/drawingml/2006/main" prst="roundRect">
            <a:avLst>
              <a:gd name="adj" fmla="val 4294"/>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6DA8738D-A42B-4887-9EAF-864F385B2AEE}"/>
              </a:ext>
            </a:extLst>
          </p:cNvPr>
          <p:cNvSpPr>
            <a:spLocks xmlns:a="http://schemas.openxmlformats.org/drawingml/2006/main" noGrp="1"/>
          </p:cNvSpPr>
          <p:nvPr/>
        </p:nvSpPr>
        <p:spPr>
          <a:xfrm xmlns:a="http://schemas.openxmlformats.org/drawingml/2006/main">
            <a:off x="933450" y="2276475"/>
            <a:ext cx="417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ОБРАЗЛОЖЕЊЕ</a:t>
            </a:r>
          </a:p>
        </p:txBody>
      </p:sp>
      <p:sp>
        <p:nvSpPr>
          <p:cNvPr id="8" name="Rectangle 7">
            <a:extLst xmlns:a="http://schemas.openxmlformats.org/drawingml/2006/main">
              <a:ext uri="{FF2B5EF4-FFF2-40B4-BE49-F238E27FC236}">
                <a16:creationId xmlns:a16="http://schemas.microsoft.com/office/drawing/2014/main" id="{CC92A32E-7BAD-43B3-A8D9-D85FCE77FB69}"/>
              </a:ext>
            </a:extLst>
          </p:cNvPr>
          <p:cNvSpPr>
            <a:spLocks xmlns:a="http://schemas.openxmlformats.org/drawingml/2006/main" noGrp="1"/>
          </p:cNvSpPr>
          <p:nvPr/>
        </p:nvSpPr>
        <p:spPr>
          <a:xfrm xmlns:a="http://schemas.openxmlformats.org/drawingml/2006/main">
            <a:off x="933450" y="2524125"/>
            <a:ext cx="41719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Тајне као део архитектуре</a:t>
            </a:r>
          </a:p>
        </p:txBody>
      </p:sp>
      <p:sp>
        <p:nvSpPr>
          <p:cNvPr id="9" name="Rectangle 8">
            <a:extLst xmlns:a="http://schemas.openxmlformats.org/drawingml/2006/main">
              <a:ext uri="{FF2B5EF4-FFF2-40B4-BE49-F238E27FC236}">
                <a16:creationId xmlns:a16="http://schemas.microsoft.com/office/drawing/2014/main" id="{86480A5F-CFC6-4A88-AFBC-4C52F179A52D}"/>
              </a:ext>
            </a:extLst>
          </p:cNvPr>
          <p:cNvSpPr>
            <a:spLocks xmlns:a="http://schemas.openxmlformats.org/drawingml/2006/main" noGrp="1"/>
          </p:cNvSpPr>
          <p:nvPr/>
        </p:nvSpPr>
        <p:spPr>
          <a:xfrm xmlns:a="http://schemas.openxmlformats.org/drawingml/2006/main">
            <a:off x="933450" y="3143250"/>
            <a:ext cx="4171950" cy="2009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Тајна није конфигурациона вредност као свака друга. Њено излагање може дати приступ без видљивог корисничког екрана, нарочито између сервиса. Зато развојни процес дефинише одакле тајна долази, ко је користи, када се ротира и како се проверава да није случајно завршила у репозиторијуму или логу.</a:t>
            </a:r>
          </a:p>
        </p:txBody>
      </p:sp>
      <p:sp>
        <p:nvSpPr>
          <p:cNvPr id="10" name="Rounded Rectangle 9">
            <a:extLst xmlns:a="http://schemas.openxmlformats.org/drawingml/2006/main">
              <a:ext uri="{FF2B5EF4-FFF2-40B4-BE49-F238E27FC236}">
                <a16:creationId xmlns:a16="http://schemas.microsoft.com/office/drawing/2014/main" id="{E42BF114-5F3C-4669-9184-594FD779BCF4}"/>
              </a:ext>
            </a:extLst>
          </p:cNvPr>
          <p:cNvSpPr>
            <a:spLocks xmlns:a="http://schemas.openxmlformats.org/drawingml/2006/main" noGrp="1"/>
          </p:cNvSpPr>
          <p:nvPr/>
        </p:nvSpPr>
        <p:spPr>
          <a:xfrm xmlns:a="http://schemas.openxmlformats.org/drawingml/2006/main">
            <a:off x="5676900" y="2152650"/>
            <a:ext cx="5734050" cy="828675"/>
          </a:xfrm>
          <a:prstGeom xmlns:a="http://schemas.openxmlformats.org/drawingml/2006/main" prst="roundRect">
            <a:avLst>
              <a:gd name="adj" fmla="val 16092"/>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4F49068A-59D1-45FF-9033-732AEA99E776}"/>
              </a:ext>
            </a:extLst>
          </p:cNvPr>
          <p:cNvSpPr>
            <a:spLocks xmlns:a="http://schemas.openxmlformats.org/drawingml/2006/main" noGrp="1"/>
          </p:cNvSpPr>
          <p:nvPr/>
        </p:nvSpPr>
        <p:spPr>
          <a:xfrm xmlns:a="http://schemas.openxmlformats.org/drawingml/2006/main">
            <a:off x="5829300" y="2276475"/>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989EC677-FD87-44C9-AF37-6FA0819C5B29}"/>
              </a:ext>
            </a:extLst>
          </p:cNvPr>
          <p:cNvSpPr>
            <a:spLocks xmlns:a="http://schemas.openxmlformats.org/drawingml/2006/main" noGrp="1"/>
          </p:cNvSpPr>
          <p:nvPr/>
        </p:nvSpPr>
        <p:spPr>
          <a:xfrm xmlns:a="http://schemas.openxmlformats.org/drawingml/2006/main">
            <a:off x="5829300" y="2524125"/>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Сваки сервисни идентитет има сврху и најмањи потребан опсег.</a:t>
            </a:r>
          </a:p>
        </p:txBody>
      </p:sp>
      <p:sp>
        <p:nvSpPr>
          <p:cNvPr id="13" name="Rounded Rectangle 12">
            <a:extLst xmlns:a="http://schemas.openxmlformats.org/drawingml/2006/main">
              <a:ext uri="{FF2B5EF4-FFF2-40B4-BE49-F238E27FC236}">
                <a16:creationId xmlns:a16="http://schemas.microsoft.com/office/drawing/2014/main" id="{146DEA64-7841-4F9F-96C3-831E193080ED}"/>
              </a:ext>
            </a:extLst>
          </p:cNvPr>
          <p:cNvSpPr>
            <a:spLocks xmlns:a="http://schemas.openxmlformats.org/drawingml/2006/main" noGrp="1"/>
          </p:cNvSpPr>
          <p:nvPr/>
        </p:nvSpPr>
        <p:spPr>
          <a:xfrm xmlns:a="http://schemas.openxmlformats.org/drawingml/2006/main">
            <a:off x="5676900" y="3152775"/>
            <a:ext cx="5734050" cy="828675"/>
          </a:xfrm>
          <a:prstGeom xmlns:a="http://schemas.openxmlformats.org/drawingml/2006/main" prst="roundRect">
            <a:avLst>
              <a:gd name="adj" fmla="val 16092"/>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4BB887D0-9650-4638-B589-0773750E2926}"/>
              </a:ext>
            </a:extLst>
          </p:cNvPr>
          <p:cNvSpPr>
            <a:spLocks xmlns:a="http://schemas.openxmlformats.org/drawingml/2006/main" noGrp="1"/>
          </p:cNvSpPr>
          <p:nvPr/>
        </p:nvSpPr>
        <p:spPr>
          <a:xfrm xmlns:a="http://schemas.openxmlformats.org/drawingml/2006/main">
            <a:off x="5829300" y="3276600"/>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2F8AD6E1-13D7-4F77-8D57-DD4CE1580812}"/>
              </a:ext>
            </a:extLst>
          </p:cNvPr>
          <p:cNvSpPr>
            <a:spLocks xmlns:a="http://schemas.openxmlformats.org/drawingml/2006/main" noGrp="1"/>
          </p:cNvSpPr>
          <p:nvPr/>
        </p:nvSpPr>
        <p:spPr>
          <a:xfrm xmlns:a="http://schemas.openxmlformats.org/drawingml/2006/main">
            <a:off x="5829300" y="3524250"/>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Ротација се планира пре истека, уместо да се чека прекид рада.</a:t>
            </a:r>
          </a:p>
        </p:txBody>
      </p:sp>
      <p:sp>
        <p:nvSpPr>
          <p:cNvPr id="16" name="Rounded Rectangle 15">
            <a:extLst xmlns:a="http://schemas.openxmlformats.org/drawingml/2006/main">
              <a:ext uri="{FF2B5EF4-FFF2-40B4-BE49-F238E27FC236}">
                <a16:creationId xmlns:a16="http://schemas.microsoft.com/office/drawing/2014/main" id="{A8E072B2-3BC6-49FF-9825-3580A966C307}"/>
              </a:ext>
            </a:extLst>
          </p:cNvPr>
          <p:cNvSpPr>
            <a:spLocks xmlns:a="http://schemas.openxmlformats.org/drawingml/2006/main" noGrp="1"/>
          </p:cNvSpPr>
          <p:nvPr/>
        </p:nvSpPr>
        <p:spPr>
          <a:xfrm xmlns:a="http://schemas.openxmlformats.org/drawingml/2006/main">
            <a:off x="5676900" y="4152900"/>
            <a:ext cx="5734050" cy="828675"/>
          </a:xfrm>
          <a:prstGeom xmlns:a="http://schemas.openxmlformats.org/drawingml/2006/main" prst="roundRect">
            <a:avLst>
              <a:gd name="adj" fmla="val 16092"/>
            </a:avLst>
          </a:prstGeom>
          <a:solidFill xmlns:a="http://schemas.openxmlformats.org/drawingml/2006/main">
            <a:srgbClr val="FFF6E9"/>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B8460DB8-17E8-430A-9A59-1889743749B2}"/>
              </a:ext>
            </a:extLst>
          </p:cNvPr>
          <p:cNvSpPr>
            <a:spLocks xmlns:a="http://schemas.openxmlformats.org/drawingml/2006/main" noGrp="1"/>
          </p:cNvSpPr>
          <p:nvPr/>
        </p:nvSpPr>
        <p:spPr>
          <a:xfrm xmlns:a="http://schemas.openxmlformats.org/drawingml/2006/main">
            <a:off x="5829300" y="4276725"/>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5EF05087-560E-471B-8409-07A639CC8A01}"/>
              </a:ext>
            </a:extLst>
          </p:cNvPr>
          <p:cNvSpPr>
            <a:spLocks xmlns:a="http://schemas.openxmlformats.org/drawingml/2006/main" noGrp="1"/>
          </p:cNvSpPr>
          <p:nvPr/>
        </p:nvSpPr>
        <p:spPr>
          <a:xfrm xmlns:a="http://schemas.openxmlformats.org/drawingml/2006/main">
            <a:off x="5829300" y="4524375"/>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Тестови проверавају понашање при опозиву или истеку без приказивања стварних вредности тајне.</a:t>
            </a:r>
          </a:p>
        </p:txBody>
      </p:sp>
    </p:spTree>
    <p:extLst>
      <p:ext uri="{BB962C8B-B14F-4D97-AF65-F5344CB8AC3E}">
        <p14:creationId xmlns:p14="http://schemas.microsoft.com/office/powerpoint/2010/main" val="15717424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C7B70D96-2063-4B1C-96EA-9EC0C377BF83}"/>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4C0D1622-EAC2-4222-B47E-CD055B4B00CE}"/>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7CC838DE-F722-4DD1-8603-E4BE007DF4B5}"/>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19</a:t>
            </a:r>
          </a:p>
        </p:txBody>
      </p:sp>
      <p:sp>
        <p:nvSpPr>
          <p:cNvPr id="4" name="Rectangle 3">
            <a:extLst xmlns:a="http://schemas.openxmlformats.org/drawingml/2006/main">
              <a:ext uri="{FF2B5EF4-FFF2-40B4-BE49-F238E27FC236}">
                <a16:creationId xmlns:a16="http://schemas.microsoft.com/office/drawing/2014/main" id="{9CECC064-99AF-426D-9382-A30B1280BF55}"/>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Примена на пројекат</a:t>
            </a:r>
          </a:p>
        </p:txBody>
      </p:sp>
      <p:sp>
        <p:nvSpPr>
          <p:cNvPr id="5" name="Rectangle 4">
            <a:extLst xmlns:a="http://schemas.openxmlformats.org/drawingml/2006/main">
              <a:ext uri="{FF2B5EF4-FFF2-40B4-BE49-F238E27FC236}">
                <a16:creationId xmlns:a16="http://schemas.microsoft.com/office/drawing/2014/main" id="{76AF549B-C216-41F7-9699-DA34D8C9FC7E}"/>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Анализа једног сценарија обухвата одлуку, имплементацију, тест одбијања и доказ.</a:t>
            </a:r>
          </a:p>
        </p:txBody>
      </p:sp>
      <p:sp>
        <p:nvSpPr>
          <p:cNvPr id="6" name="Rounded Rectangle 5">
            <a:extLst xmlns:a="http://schemas.openxmlformats.org/drawingml/2006/main">
              <a:ext uri="{FF2B5EF4-FFF2-40B4-BE49-F238E27FC236}">
                <a16:creationId xmlns:a16="http://schemas.microsoft.com/office/drawing/2014/main" id="{6C3D3E3D-C835-4B32-B6E6-40E28CA40F73}"/>
              </a:ext>
            </a:extLst>
          </p:cNvPr>
          <p:cNvSpPr>
            <a:spLocks xmlns:a="http://schemas.openxmlformats.org/drawingml/2006/main" noGrp="1"/>
          </p:cNvSpPr>
          <p:nvPr/>
        </p:nvSpPr>
        <p:spPr>
          <a:xfrm xmlns:a="http://schemas.openxmlformats.org/drawingml/2006/main">
            <a:off x="800100" y="2400300"/>
            <a:ext cx="24336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D9113F39-9FC2-44A2-BF81-0B096437AD1F}"/>
              </a:ext>
            </a:extLst>
          </p:cNvPr>
          <p:cNvSpPr>
            <a:spLocks xmlns:a="http://schemas.openxmlformats.org/drawingml/2006/main" noGrp="1"/>
          </p:cNvSpPr>
          <p:nvPr/>
        </p:nvSpPr>
        <p:spPr>
          <a:xfrm xmlns:a="http://schemas.openxmlformats.org/drawingml/2006/main">
            <a:off x="942975"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27F46229-D385-4EAB-ADB4-2BE4EA843FBE}"/>
              </a:ext>
            </a:extLst>
          </p:cNvPr>
          <p:cNvSpPr>
            <a:spLocks xmlns:a="http://schemas.openxmlformats.org/drawingml/2006/main" noGrp="1"/>
          </p:cNvSpPr>
          <p:nvPr/>
        </p:nvSpPr>
        <p:spPr>
          <a:xfrm xmlns:a="http://schemas.openxmlformats.org/drawingml/2006/main">
            <a:off x="933450"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Избор сценарија</a:t>
            </a:r>
          </a:p>
        </p:txBody>
      </p:sp>
      <p:sp>
        <p:nvSpPr>
          <p:cNvPr id="9" name="Rectangle 8">
            <a:extLst xmlns:a="http://schemas.openxmlformats.org/drawingml/2006/main">
              <a:ext uri="{FF2B5EF4-FFF2-40B4-BE49-F238E27FC236}">
                <a16:creationId xmlns:a16="http://schemas.microsoft.com/office/drawing/2014/main" id="{09F40066-E89A-4797-886D-632E5824F371}"/>
              </a:ext>
            </a:extLst>
          </p:cNvPr>
          <p:cNvSpPr>
            <a:spLocks xmlns:a="http://schemas.openxmlformats.org/drawingml/2006/main" noGrp="1"/>
          </p:cNvSpPr>
          <p:nvPr/>
        </p:nvSpPr>
        <p:spPr>
          <a:xfrm xmlns:a="http://schemas.openxmlformats.org/drawingml/2006/main">
            <a:off x="942975"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стварна радња</a:t>
            </a:r>
          </a:p>
        </p:txBody>
      </p:sp>
      <p:sp>
        <p:nvSpPr>
          <p:cNvPr id="10" name="Rounded Rectangle 9">
            <a:extLst xmlns:a="http://schemas.openxmlformats.org/drawingml/2006/main">
              <a:ext uri="{FF2B5EF4-FFF2-40B4-BE49-F238E27FC236}">
                <a16:creationId xmlns:a16="http://schemas.microsoft.com/office/drawing/2014/main" id="{1F2AB879-AC78-473F-A143-5116198D3C1C}"/>
              </a:ext>
            </a:extLst>
          </p:cNvPr>
          <p:cNvSpPr>
            <a:spLocks xmlns:a="http://schemas.openxmlformats.org/drawingml/2006/main" noGrp="1"/>
          </p:cNvSpPr>
          <p:nvPr/>
        </p:nvSpPr>
        <p:spPr>
          <a:xfrm xmlns:a="http://schemas.openxmlformats.org/drawingml/2006/main">
            <a:off x="3519488" y="2400300"/>
            <a:ext cx="2433638" cy="1257300"/>
          </a:xfrm>
          <a:prstGeom xmlns:a="http://schemas.openxmlformats.org/drawingml/2006/main" prst="roundRect">
            <a:avLst>
              <a:gd name="adj" fmla="val 10606"/>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5D8ADFCE-1567-468B-8C53-57330835D2EA}"/>
              </a:ext>
            </a:extLst>
          </p:cNvPr>
          <p:cNvSpPr>
            <a:spLocks xmlns:a="http://schemas.openxmlformats.org/drawingml/2006/main" noGrp="1"/>
          </p:cNvSpPr>
          <p:nvPr/>
        </p:nvSpPr>
        <p:spPr>
          <a:xfrm xmlns:a="http://schemas.openxmlformats.org/drawingml/2006/main">
            <a:off x="3662363"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A2C77CB9-33BA-402A-B4D9-755AEF97D4DA}"/>
              </a:ext>
            </a:extLst>
          </p:cNvPr>
          <p:cNvSpPr>
            <a:spLocks xmlns:a="http://schemas.openxmlformats.org/drawingml/2006/main" noGrp="1"/>
          </p:cNvSpPr>
          <p:nvPr/>
        </p:nvSpPr>
        <p:spPr>
          <a:xfrm xmlns:a="http://schemas.openxmlformats.org/drawingml/2006/main">
            <a:off x="3652838"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Дефинисање правила</a:t>
            </a:r>
          </a:p>
        </p:txBody>
      </p:sp>
      <p:sp>
        <p:nvSpPr>
          <p:cNvPr id="13" name="Rectangle 12">
            <a:extLst xmlns:a="http://schemas.openxmlformats.org/drawingml/2006/main">
              <a:ext uri="{FF2B5EF4-FFF2-40B4-BE49-F238E27FC236}">
                <a16:creationId xmlns:a16="http://schemas.microsoft.com/office/drawing/2014/main" id="{70AF595B-12C4-474B-83B5-CC6A082321AB}"/>
              </a:ext>
            </a:extLst>
          </p:cNvPr>
          <p:cNvSpPr>
            <a:spLocks xmlns:a="http://schemas.openxmlformats.org/drawingml/2006/main" noGrp="1"/>
          </p:cNvSpPr>
          <p:nvPr/>
        </p:nvSpPr>
        <p:spPr>
          <a:xfrm xmlns:a="http://schemas.openxmlformats.org/drawingml/2006/main">
            <a:off x="3662363"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улази и граница</a:t>
            </a:r>
          </a:p>
        </p:txBody>
      </p:sp>
      <p:sp>
        <p:nvSpPr>
          <p:cNvPr id="14" name="Rounded Rectangle 13">
            <a:extLst xmlns:a="http://schemas.openxmlformats.org/drawingml/2006/main">
              <a:ext uri="{FF2B5EF4-FFF2-40B4-BE49-F238E27FC236}">
                <a16:creationId xmlns:a16="http://schemas.microsoft.com/office/drawing/2014/main" id="{AC923163-EFAA-486B-B0D4-4B1D2FD96D59}"/>
              </a:ext>
            </a:extLst>
          </p:cNvPr>
          <p:cNvSpPr>
            <a:spLocks xmlns:a="http://schemas.openxmlformats.org/drawingml/2006/main" noGrp="1"/>
          </p:cNvSpPr>
          <p:nvPr/>
        </p:nvSpPr>
        <p:spPr>
          <a:xfrm xmlns:a="http://schemas.openxmlformats.org/drawingml/2006/main">
            <a:off x="6238875" y="2400300"/>
            <a:ext cx="2433638" cy="1257300"/>
          </a:xfrm>
          <a:prstGeom xmlns:a="http://schemas.openxmlformats.org/drawingml/2006/main" prst="roundRect">
            <a:avLst>
              <a:gd name="adj" fmla="val 10606"/>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2AF17A69-9AD3-4088-82BE-289D58B5C3E4}"/>
              </a:ext>
            </a:extLst>
          </p:cNvPr>
          <p:cNvSpPr>
            <a:spLocks xmlns:a="http://schemas.openxmlformats.org/drawingml/2006/main" noGrp="1"/>
          </p:cNvSpPr>
          <p:nvPr/>
        </p:nvSpPr>
        <p:spPr>
          <a:xfrm xmlns:a="http://schemas.openxmlformats.org/drawingml/2006/main">
            <a:off x="6381750"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1F7E551B-5EE4-453B-B0E8-B861EBC0C238}"/>
              </a:ext>
            </a:extLst>
          </p:cNvPr>
          <p:cNvSpPr>
            <a:spLocks xmlns:a="http://schemas.openxmlformats.org/drawingml/2006/main" noGrp="1"/>
          </p:cNvSpPr>
          <p:nvPr/>
        </p:nvSpPr>
        <p:spPr>
          <a:xfrm xmlns:a="http://schemas.openxmlformats.org/drawingml/2006/main">
            <a:off x="6372225"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Тест одбијања</a:t>
            </a:r>
          </a:p>
        </p:txBody>
      </p:sp>
      <p:sp>
        <p:nvSpPr>
          <p:cNvPr id="17" name="Rectangle 16">
            <a:extLst xmlns:a="http://schemas.openxmlformats.org/drawingml/2006/main">
              <a:ext uri="{FF2B5EF4-FFF2-40B4-BE49-F238E27FC236}">
                <a16:creationId xmlns:a16="http://schemas.microsoft.com/office/drawing/2014/main" id="{9F04362A-DAB3-49CB-AF3B-4217A240A5B6}"/>
              </a:ext>
            </a:extLst>
          </p:cNvPr>
          <p:cNvSpPr>
            <a:spLocks xmlns:a="http://schemas.openxmlformats.org/drawingml/2006/main" noGrp="1"/>
          </p:cNvSpPr>
          <p:nvPr/>
        </p:nvSpPr>
        <p:spPr>
          <a:xfrm xmlns:a="http://schemas.openxmlformats.org/drawingml/2006/main">
            <a:off x="6381750"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чињеница недостаје</a:t>
            </a:r>
          </a:p>
        </p:txBody>
      </p:sp>
      <p:sp>
        <p:nvSpPr>
          <p:cNvPr id="18" name="Rounded Rectangle 17">
            <a:extLst xmlns:a="http://schemas.openxmlformats.org/drawingml/2006/main">
              <a:ext uri="{FF2B5EF4-FFF2-40B4-BE49-F238E27FC236}">
                <a16:creationId xmlns:a16="http://schemas.microsoft.com/office/drawing/2014/main" id="{2BAB318A-6876-4B2F-9980-A9B7EE9D7735}"/>
              </a:ext>
            </a:extLst>
          </p:cNvPr>
          <p:cNvSpPr>
            <a:spLocks xmlns:a="http://schemas.openxmlformats.org/drawingml/2006/main" noGrp="1"/>
          </p:cNvSpPr>
          <p:nvPr/>
        </p:nvSpPr>
        <p:spPr>
          <a:xfrm xmlns:a="http://schemas.openxmlformats.org/drawingml/2006/main">
            <a:off x="8958263" y="2400300"/>
            <a:ext cx="24336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9417F403-16BB-4EF9-A849-13163D76F5D4}"/>
              </a:ext>
            </a:extLst>
          </p:cNvPr>
          <p:cNvSpPr>
            <a:spLocks xmlns:a="http://schemas.openxmlformats.org/drawingml/2006/main" noGrp="1"/>
          </p:cNvSpPr>
          <p:nvPr/>
        </p:nvSpPr>
        <p:spPr>
          <a:xfrm xmlns:a="http://schemas.openxmlformats.org/drawingml/2006/main">
            <a:off x="9101138"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E5CA923D-E7A0-4E6B-8AD9-C533FB130EC4}"/>
              </a:ext>
            </a:extLst>
          </p:cNvPr>
          <p:cNvSpPr>
            <a:spLocks xmlns:a="http://schemas.openxmlformats.org/drawingml/2006/main" noGrp="1"/>
          </p:cNvSpPr>
          <p:nvPr/>
        </p:nvSpPr>
        <p:spPr>
          <a:xfrm xmlns:a="http://schemas.openxmlformats.org/drawingml/2006/main">
            <a:off x="9091613"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Ревизиони запис</a:t>
            </a:r>
          </a:p>
        </p:txBody>
      </p:sp>
      <p:sp>
        <p:nvSpPr>
          <p:cNvPr id="21" name="Rectangle 20">
            <a:extLst xmlns:a="http://schemas.openxmlformats.org/drawingml/2006/main">
              <a:ext uri="{FF2B5EF4-FFF2-40B4-BE49-F238E27FC236}">
                <a16:creationId xmlns:a16="http://schemas.microsoft.com/office/drawing/2014/main" id="{0DA081E7-B935-43A4-85EB-2122EBC87818}"/>
              </a:ext>
            </a:extLst>
          </p:cNvPr>
          <p:cNvSpPr>
            <a:spLocks xmlns:a="http://schemas.openxmlformats.org/drawingml/2006/main" noGrp="1"/>
          </p:cNvSpPr>
          <p:nvPr/>
        </p:nvSpPr>
        <p:spPr>
          <a:xfrm xmlns:a="http://schemas.openxmlformats.org/drawingml/2006/main">
            <a:off x="9101138"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исход и разлог</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233738" y="30289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02895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672513" y="30289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19754DE0-31AB-4E22-BC6D-C469FC4F61FF}"/>
              </a:ext>
            </a:extLst>
          </p:cNvPr>
          <p:cNvSpPr>
            <a:spLocks xmlns:a="http://schemas.openxmlformats.org/drawingml/2006/main" noGrp="1"/>
          </p:cNvSpPr>
          <p:nvPr/>
        </p:nvSpPr>
        <p:spPr>
          <a:xfrm xmlns:a="http://schemas.openxmlformats.org/drawingml/2006/main">
            <a:off x="1619250" y="4305300"/>
            <a:ext cx="8953500" cy="914400"/>
          </a:xfrm>
          <a:prstGeom xmlns:a="http://schemas.openxmlformats.org/drawingml/2006/main" prst="roundRect">
            <a:avLst>
              <a:gd name="adj" fmla="val 13542"/>
            </a:avLst>
          </a:prstGeom>
          <a:solidFill xmlns:a="http://schemas.openxmlformats.org/drawingml/2006/main">
            <a:srgbClr val="FFF6E9"/>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3E6E5E20-FCAB-4319-B2AB-8E7766CCB2A7}"/>
              </a:ext>
            </a:extLst>
          </p:cNvPr>
          <p:cNvSpPr>
            <a:spLocks xmlns:a="http://schemas.openxmlformats.org/drawingml/2006/main" noGrp="1"/>
          </p:cNvSpPr>
          <p:nvPr/>
        </p:nvSpPr>
        <p:spPr>
          <a:xfrm xmlns:a="http://schemas.openxmlformats.org/drawingml/2006/main">
            <a:off x="1752600" y="4448175"/>
            <a:ext cx="57150" cy="6286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C6320E42-C146-49ED-88C6-FA4EC7AC4FC6}"/>
              </a:ext>
            </a:extLst>
          </p:cNvPr>
          <p:cNvSpPr>
            <a:spLocks xmlns:a="http://schemas.openxmlformats.org/drawingml/2006/main" noGrp="1"/>
          </p:cNvSpPr>
          <p:nvPr/>
        </p:nvSpPr>
        <p:spPr>
          <a:xfrm xmlns:a="http://schemas.openxmlformats.org/drawingml/2006/main">
            <a:off x="914400" y="4267200"/>
            <a:ext cx="10363200" cy="990600"/>
          </a:xfrm>
          <a:prstGeom xmlns:a="http://schemas.openxmlformats.org/drawingml/2006/main" prst="roundRect">
            <a:avLst>
              <a:gd name="adj" fmla="val 13462"/>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D0BEBAD9-0C4E-4E53-B37C-A245F1D66AFD}"/>
              </a:ext>
            </a:extLst>
          </p:cNvPr>
          <p:cNvSpPr>
            <a:spLocks xmlns:a="http://schemas.openxmlformats.org/drawingml/2006/main" noGrp="1"/>
          </p:cNvSpPr>
          <p:nvPr/>
        </p:nvSpPr>
        <p:spPr>
          <a:xfrm xmlns:a="http://schemas.openxmlformats.org/drawingml/2006/main">
            <a:off x="1085850" y="4419600"/>
            <a:ext cx="57150" cy="6858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1DF3D484-4F80-4685-84E0-EAE513384263}"/>
              </a:ext>
            </a:extLst>
          </p:cNvPr>
          <p:cNvSpPr>
            <a:spLocks xmlns:a="http://schemas.openxmlformats.org/drawingml/2006/main" noGrp="1"/>
          </p:cNvSpPr>
          <p:nvPr/>
        </p:nvSpPr>
        <p:spPr>
          <a:xfrm xmlns:a="http://schemas.openxmlformats.org/drawingml/2006/main">
            <a:off x="1333500" y="43719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ПРИМЕНА НА ПРОЈЕКАТ</a:t>
            </a:r>
          </a:p>
        </p:txBody>
      </p:sp>
      <p:sp>
        <p:nvSpPr>
          <p:cNvPr id="79" name="Rectangle 78">
            <a:extLst xmlns:a="http://schemas.openxmlformats.org/drawingml/2006/main">
              <a:ext uri="{FF2B5EF4-FFF2-40B4-BE49-F238E27FC236}">
                <a16:creationId xmlns:a16="http://schemas.microsoft.com/office/drawing/2014/main" id="{3062AACF-7D1C-4B34-B1CA-8097FA70BEE4}"/>
              </a:ext>
            </a:extLst>
          </p:cNvPr>
          <p:cNvSpPr>
            <a:spLocks xmlns:a="http://schemas.openxmlformats.org/drawingml/2006/main" noGrp="1"/>
          </p:cNvSpPr>
          <p:nvPr/>
        </p:nvSpPr>
        <p:spPr>
          <a:xfrm xmlns:a="http://schemas.openxmlformats.org/drawingml/2006/main">
            <a:off x="1333500" y="4600575"/>
            <a:ext cx="9639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Пројектна примена теме „MFA, сесије, сервиси и тајне“ обухвата једну серверску одлуку, тест одбијања и доказ који други члан тима може да понови.</a:t>
            </a:r>
          </a:p>
        </p:txBody>
      </p:sp>
    </p:spTree>
    <p:extLst>
      <p:ext uri="{BB962C8B-B14F-4D97-AF65-F5344CB8AC3E}">
        <p14:creationId xmlns:p14="http://schemas.microsoft.com/office/powerpoint/2010/main" val="5280913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Rectangle 28">
            <a:extLst xmlns:a="http://schemas.openxmlformats.org/drawingml/2006/main">
              <a:ext uri="{FF2B5EF4-FFF2-40B4-BE49-F238E27FC236}">
                <a16:creationId xmlns:a16="http://schemas.microsoft.com/office/drawing/2014/main" id="{223FEDB4-70ED-4B4A-8B0F-F4D8183B08C0}"/>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5D7BA804-D84F-4B78-BB6C-0E8DE7652DD9}"/>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0B73AAE9-0A8A-4E97-88F1-D7CB43B8C5BC}"/>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20</a:t>
            </a:r>
          </a:p>
        </p:txBody>
      </p:sp>
      <p:sp>
        <p:nvSpPr>
          <p:cNvPr id="4" name="Rectangle 3">
            <a:extLst xmlns:a="http://schemas.openxmlformats.org/drawingml/2006/main">
              <a:ext uri="{FF2B5EF4-FFF2-40B4-BE49-F238E27FC236}">
                <a16:creationId xmlns:a16="http://schemas.microsoft.com/office/drawing/2014/main" id="{7139315D-49DC-4D5B-9B04-87A6940EEC8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Провера разумевања</a:t>
            </a:r>
          </a:p>
        </p:txBody>
      </p:sp>
      <p:sp>
        <p:nvSpPr>
          <p:cNvPr id="5" name="Rectangle 4">
            <a:extLst xmlns:a="http://schemas.openxmlformats.org/drawingml/2006/main">
              <a:ext uri="{FF2B5EF4-FFF2-40B4-BE49-F238E27FC236}">
                <a16:creationId xmlns:a16="http://schemas.microsoft.com/office/drawing/2014/main" id="{12C29E1A-F6D4-4BE7-B732-31E99189FAED}"/>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Разумевање теме подразумева објашњење одлуке и доказа независно од конкретног технолошког оквира.</a:t>
            </a:r>
          </a:p>
        </p:txBody>
      </p:sp>
      <p:sp>
        <p:nvSpPr>
          <p:cNvPr id="6" name="Rounded Rectangle 5">
            <a:extLst xmlns:a="http://schemas.openxmlformats.org/drawingml/2006/main">
              <a:ext uri="{FF2B5EF4-FFF2-40B4-BE49-F238E27FC236}">
                <a16:creationId xmlns:a16="http://schemas.microsoft.com/office/drawing/2014/main" id="{34B90FDF-0B11-474E-8C29-DC25304C18B1}"/>
              </a:ext>
            </a:extLst>
          </p:cNvPr>
          <p:cNvSpPr>
            <a:spLocks xmlns:a="http://schemas.openxmlformats.org/drawingml/2006/main" noGrp="1"/>
          </p:cNvSpPr>
          <p:nvPr/>
        </p:nvSpPr>
        <p:spPr>
          <a:xfrm xmlns:a="http://schemas.openxmlformats.org/drawingml/2006/main">
            <a:off x="723900" y="2286000"/>
            <a:ext cx="24717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1325B2FC-3FCE-4F8E-B395-244608D3A011}"/>
              </a:ext>
            </a:extLst>
          </p:cNvPr>
          <p:cNvSpPr>
            <a:spLocks xmlns:a="http://schemas.openxmlformats.org/drawingml/2006/main" noGrp="1"/>
          </p:cNvSpPr>
          <p:nvPr/>
        </p:nvSpPr>
        <p:spPr>
          <a:xfrm xmlns:a="http://schemas.openxmlformats.org/drawingml/2006/main">
            <a:off x="866775"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44A535C1-6F73-4B60-BB64-B27BBE2221C9}"/>
              </a:ext>
            </a:extLst>
          </p:cNvPr>
          <p:cNvSpPr>
            <a:spLocks xmlns:a="http://schemas.openxmlformats.org/drawingml/2006/main" noGrp="1"/>
          </p:cNvSpPr>
          <p:nvPr/>
        </p:nvSpPr>
        <p:spPr>
          <a:xfrm xmlns:a="http://schemas.openxmlformats.org/drawingml/2006/main">
            <a:off x="857250"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Пријава</a:t>
            </a:r>
          </a:p>
        </p:txBody>
      </p:sp>
      <p:sp>
        <p:nvSpPr>
          <p:cNvPr id="9" name="Rectangle 8">
            <a:extLst xmlns:a="http://schemas.openxmlformats.org/drawingml/2006/main">
              <a:ext uri="{FF2B5EF4-FFF2-40B4-BE49-F238E27FC236}">
                <a16:creationId xmlns:a16="http://schemas.microsoft.com/office/drawing/2014/main" id="{DE7E1EC2-1DD7-4A21-B1AF-22A3412050AA}"/>
              </a:ext>
            </a:extLst>
          </p:cNvPr>
          <p:cNvSpPr>
            <a:spLocks xmlns:a="http://schemas.openxmlformats.org/drawingml/2006/main" noGrp="1"/>
          </p:cNvSpPr>
          <p:nvPr/>
        </p:nvSpPr>
        <p:spPr>
          <a:xfrm xmlns:a="http://schemas.openxmlformats.org/drawingml/2006/main">
            <a:off x="866775"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почетна потврда идентитета</a:t>
            </a:r>
          </a:p>
        </p:txBody>
      </p:sp>
      <p:sp>
        <p:nvSpPr>
          <p:cNvPr id="10" name="Rounded Rectangle 9">
            <a:extLst xmlns:a="http://schemas.openxmlformats.org/drawingml/2006/main">
              <a:ext uri="{FF2B5EF4-FFF2-40B4-BE49-F238E27FC236}">
                <a16:creationId xmlns:a16="http://schemas.microsoft.com/office/drawing/2014/main" id="{35F8CB64-F49F-4BF3-BAD7-0986C7F69566}"/>
              </a:ext>
            </a:extLst>
          </p:cNvPr>
          <p:cNvSpPr>
            <a:spLocks xmlns:a="http://schemas.openxmlformats.org/drawingml/2006/main" noGrp="1"/>
          </p:cNvSpPr>
          <p:nvPr/>
        </p:nvSpPr>
        <p:spPr>
          <a:xfrm xmlns:a="http://schemas.openxmlformats.org/drawingml/2006/main">
            <a:off x="3481388" y="2286000"/>
            <a:ext cx="2471738"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B86030AB-A630-403C-9057-E1823510EF1F}"/>
              </a:ext>
            </a:extLst>
          </p:cNvPr>
          <p:cNvSpPr>
            <a:spLocks xmlns:a="http://schemas.openxmlformats.org/drawingml/2006/main" noGrp="1"/>
          </p:cNvSpPr>
          <p:nvPr/>
        </p:nvSpPr>
        <p:spPr>
          <a:xfrm xmlns:a="http://schemas.openxmlformats.org/drawingml/2006/main">
            <a:off x="3624263"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BF3D367D-FC08-4BB9-819B-CD9834506F88}"/>
              </a:ext>
            </a:extLst>
          </p:cNvPr>
          <p:cNvSpPr>
            <a:spLocks xmlns:a="http://schemas.openxmlformats.org/drawingml/2006/main" noGrp="1"/>
          </p:cNvSpPr>
          <p:nvPr/>
        </p:nvSpPr>
        <p:spPr>
          <a:xfrm xmlns:a="http://schemas.openxmlformats.org/drawingml/2006/main">
            <a:off x="3614738"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Сесија</a:t>
            </a:r>
          </a:p>
        </p:txBody>
      </p:sp>
      <p:sp>
        <p:nvSpPr>
          <p:cNvPr id="13" name="Rectangle 12">
            <a:extLst xmlns:a="http://schemas.openxmlformats.org/drawingml/2006/main">
              <a:ext uri="{FF2B5EF4-FFF2-40B4-BE49-F238E27FC236}">
                <a16:creationId xmlns:a16="http://schemas.microsoft.com/office/drawing/2014/main" id="{0A3E5CB9-5D49-425E-9DA7-B58F9580F4AA}"/>
              </a:ext>
            </a:extLst>
          </p:cNvPr>
          <p:cNvSpPr>
            <a:spLocks xmlns:a="http://schemas.openxmlformats.org/drawingml/2006/main" noGrp="1"/>
          </p:cNvSpPr>
          <p:nvPr/>
        </p:nvSpPr>
        <p:spPr>
          <a:xfrm xmlns:a="http://schemas.openxmlformats.org/drawingml/2006/main">
            <a:off x="3624263"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1685"/>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привремени контекст приступа</a:t>
            </a:r>
          </a:p>
        </p:txBody>
      </p:sp>
      <p:sp>
        <p:nvSpPr>
          <p:cNvPr id="14" name="Rounded Rectangle 13">
            <a:extLst xmlns:a="http://schemas.openxmlformats.org/drawingml/2006/main">
              <a:ext uri="{FF2B5EF4-FFF2-40B4-BE49-F238E27FC236}">
                <a16:creationId xmlns:a16="http://schemas.microsoft.com/office/drawing/2014/main" id="{FDB99462-DC7F-4404-8EF8-F99A324D0128}"/>
              </a:ext>
            </a:extLst>
          </p:cNvPr>
          <p:cNvSpPr>
            <a:spLocks xmlns:a="http://schemas.openxmlformats.org/drawingml/2006/main" noGrp="1"/>
          </p:cNvSpPr>
          <p:nvPr/>
        </p:nvSpPr>
        <p:spPr>
          <a:xfrm xmlns:a="http://schemas.openxmlformats.org/drawingml/2006/main">
            <a:off x="6238875" y="2286000"/>
            <a:ext cx="2471738" cy="1257300"/>
          </a:xfrm>
          <a:prstGeom xmlns:a="http://schemas.openxmlformats.org/drawingml/2006/main" prst="roundRect">
            <a:avLst>
              <a:gd name="adj" fmla="val 10606"/>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34408390-8F3F-4246-B3D1-700A1FFB94DA}"/>
              </a:ext>
            </a:extLst>
          </p:cNvPr>
          <p:cNvSpPr>
            <a:spLocks xmlns:a="http://schemas.openxmlformats.org/drawingml/2006/main" noGrp="1"/>
          </p:cNvSpPr>
          <p:nvPr/>
        </p:nvSpPr>
        <p:spPr>
          <a:xfrm xmlns:a="http://schemas.openxmlformats.org/drawingml/2006/main">
            <a:off x="6381750"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1D230603-7E70-48D0-AAC4-8EE7462810C4}"/>
              </a:ext>
            </a:extLst>
          </p:cNvPr>
          <p:cNvSpPr>
            <a:spLocks xmlns:a="http://schemas.openxmlformats.org/drawingml/2006/main" noGrp="1"/>
          </p:cNvSpPr>
          <p:nvPr/>
        </p:nvSpPr>
        <p:spPr>
          <a:xfrm xmlns:a="http://schemas.openxmlformats.org/drawingml/2006/main">
            <a:off x="6372225"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Додатна потврда</a:t>
            </a:r>
          </a:p>
        </p:txBody>
      </p:sp>
      <p:sp>
        <p:nvSpPr>
          <p:cNvPr id="17" name="Rectangle 16">
            <a:extLst xmlns:a="http://schemas.openxmlformats.org/drawingml/2006/main">
              <a:ext uri="{FF2B5EF4-FFF2-40B4-BE49-F238E27FC236}">
                <a16:creationId xmlns:a16="http://schemas.microsoft.com/office/drawing/2014/main" id="{6D7BF5B8-A092-4275-A1E5-36991B1B6EDC}"/>
              </a:ext>
            </a:extLst>
          </p:cNvPr>
          <p:cNvSpPr>
            <a:spLocks xmlns:a="http://schemas.openxmlformats.org/drawingml/2006/main" noGrp="1"/>
          </p:cNvSpPr>
          <p:nvPr/>
        </p:nvSpPr>
        <p:spPr>
          <a:xfrm xmlns:a="http://schemas.openxmlformats.org/drawingml/2006/main">
            <a:off x="6381750"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за ризичну радњу</a:t>
            </a:r>
          </a:p>
        </p:txBody>
      </p:sp>
      <p:sp>
        <p:nvSpPr>
          <p:cNvPr id="18" name="Rounded Rectangle 17">
            <a:extLst xmlns:a="http://schemas.openxmlformats.org/drawingml/2006/main">
              <a:ext uri="{FF2B5EF4-FFF2-40B4-BE49-F238E27FC236}">
                <a16:creationId xmlns:a16="http://schemas.microsoft.com/office/drawing/2014/main" id="{67371333-FE0F-450A-B1D9-7CA604E4EA71}"/>
              </a:ext>
            </a:extLst>
          </p:cNvPr>
          <p:cNvSpPr>
            <a:spLocks xmlns:a="http://schemas.openxmlformats.org/drawingml/2006/main" noGrp="1"/>
          </p:cNvSpPr>
          <p:nvPr/>
        </p:nvSpPr>
        <p:spPr>
          <a:xfrm xmlns:a="http://schemas.openxmlformats.org/drawingml/2006/main">
            <a:off x="8996363" y="2286000"/>
            <a:ext cx="24717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CA30B2EF-0610-4C91-B9AF-4C04391F840A}"/>
              </a:ext>
            </a:extLst>
          </p:cNvPr>
          <p:cNvSpPr>
            <a:spLocks xmlns:a="http://schemas.openxmlformats.org/drawingml/2006/main" noGrp="1"/>
          </p:cNvSpPr>
          <p:nvPr/>
        </p:nvSpPr>
        <p:spPr>
          <a:xfrm xmlns:a="http://schemas.openxmlformats.org/drawingml/2006/main">
            <a:off x="9139238"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93E146FE-64C5-4F65-B72D-8A89156CBB3B}"/>
              </a:ext>
            </a:extLst>
          </p:cNvPr>
          <p:cNvSpPr>
            <a:spLocks xmlns:a="http://schemas.openxmlformats.org/drawingml/2006/main" noGrp="1"/>
          </p:cNvSpPr>
          <p:nvPr/>
        </p:nvSpPr>
        <p:spPr>
          <a:xfrm xmlns:a="http://schemas.openxmlformats.org/drawingml/2006/main">
            <a:off x="9129713"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Истек или опозив</a:t>
            </a:r>
          </a:p>
        </p:txBody>
      </p:sp>
      <p:sp>
        <p:nvSpPr>
          <p:cNvPr id="21" name="Rectangle 20">
            <a:extLst xmlns:a="http://schemas.openxmlformats.org/drawingml/2006/main">
              <a:ext uri="{FF2B5EF4-FFF2-40B4-BE49-F238E27FC236}">
                <a16:creationId xmlns:a16="http://schemas.microsoft.com/office/drawing/2014/main" id="{A6E60685-7DF9-4DC5-AB4F-F0A7C14D287C}"/>
              </a:ext>
            </a:extLst>
          </p:cNvPr>
          <p:cNvSpPr>
            <a:spLocks xmlns:a="http://schemas.openxmlformats.org/drawingml/2006/main" noGrp="1"/>
          </p:cNvSpPr>
          <p:nvPr/>
        </p:nvSpPr>
        <p:spPr>
          <a:xfrm xmlns:a="http://schemas.openxmlformats.org/drawingml/2006/main">
            <a:off x="9139238"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прекид важења приступа</a:t>
            </a:r>
          </a:p>
        </p:txBody>
      </p:sp>
      <p:cxnSp>
        <p:nvCxnSpPr>
          <p:cNvPr id="223" name="Straight Arrow Connector 126"/>
          <p:cNvCxnSpPr>
            <a:stCxn xmlns:a="http://schemas.openxmlformats.org/drawingml/2006/main" id="6" idx="3"/>
            <a:endCxn xmlns:a="http://schemas.openxmlformats.org/drawingml/2006/main" id="10" idx="1"/>
          </p:cNvCxnSpPr>
          <p:nvPr/>
        </p:nvCxnSpPr>
        <p:spPr>
          <a:xfrm xmlns:a="http://schemas.openxmlformats.org/drawingml/2006/main">
            <a:off x="3195638" y="29146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4" name="Straight Arrow Connector 127"/>
          <p:cNvCxnSpPr>
            <a:stCxn xmlns:a="http://schemas.openxmlformats.org/drawingml/2006/main" id="10" idx="3"/>
            <a:endCxn xmlns:a="http://schemas.openxmlformats.org/drawingml/2006/main" id="14" idx="1"/>
          </p:cNvCxnSpPr>
          <p:nvPr/>
        </p:nvCxnSpPr>
        <p:spPr>
          <a:xfrm xmlns:a="http://schemas.openxmlformats.org/drawingml/2006/main">
            <a:off x="5953126" y="291465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5" name="Straight Arrow Connector 128"/>
          <p:cNvCxnSpPr>
            <a:stCxn xmlns:a="http://schemas.openxmlformats.org/drawingml/2006/main" id="14" idx="3"/>
            <a:endCxn xmlns:a="http://schemas.openxmlformats.org/drawingml/2006/main" id="18" idx="1"/>
          </p:cNvCxnSpPr>
          <p:nvPr/>
        </p:nvCxnSpPr>
        <p:spPr>
          <a:xfrm xmlns:a="http://schemas.openxmlformats.org/drawingml/2006/main">
            <a:off x="8710613" y="29146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8FB99EE3-F062-4AA5-8D8F-B8B9BE2ADBAB}"/>
              </a:ext>
            </a:extLst>
          </p:cNvPr>
          <p:cNvSpPr>
            <a:spLocks xmlns:a="http://schemas.openxmlformats.org/drawingml/2006/main" noGrp="1"/>
          </p:cNvSpPr>
          <p:nvPr/>
        </p:nvSpPr>
        <p:spPr>
          <a:xfrm xmlns:a="http://schemas.openxmlformats.org/drawingml/2006/main">
            <a:off x="1428750" y="4114800"/>
            <a:ext cx="9334500" cy="895350"/>
          </a:xfrm>
          <a:prstGeom xmlns:a="http://schemas.openxmlformats.org/drawingml/2006/main" prst="roundRect">
            <a:avLst>
              <a:gd name="adj" fmla="val 13830"/>
            </a:avLst>
          </a:prstGeom>
          <a:solidFill xmlns:a="http://schemas.openxmlformats.org/drawingml/2006/main">
            <a:srgbClr val="F7EFF1"/>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8F554B0D-D01D-417C-A6B4-E93E75B47049}"/>
              </a:ext>
            </a:extLst>
          </p:cNvPr>
          <p:cNvSpPr>
            <a:spLocks xmlns:a="http://schemas.openxmlformats.org/drawingml/2006/main" noGrp="1"/>
          </p:cNvSpPr>
          <p:nvPr/>
        </p:nvSpPr>
        <p:spPr>
          <a:xfrm xmlns:a="http://schemas.openxmlformats.org/drawingml/2006/main">
            <a:off x="1562100" y="4257675"/>
            <a:ext cx="57150" cy="6096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7" name="Rounded Rectangle 76">
            <a:extLst xmlns:a="http://schemas.openxmlformats.org/drawingml/2006/main">
              <a:ext uri="{FF2B5EF4-FFF2-40B4-BE49-F238E27FC236}">
                <a16:creationId xmlns:a16="http://schemas.microsoft.com/office/drawing/2014/main" id="{8D0E39FC-69BD-4A4A-8CA1-5C8F2511ECDC}"/>
              </a:ext>
            </a:extLst>
          </p:cNvPr>
          <p:cNvSpPr>
            <a:spLocks xmlns:a="http://schemas.openxmlformats.org/drawingml/2006/main" noGrp="1"/>
          </p:cNvSpPr>
          <p:nvPr/>
        </p:nvSpPr>
        <p:spPr>
          <a:xfrm xmlns:a="http://schemas.openxmlformats.org/drawingml/2006/main">
            <a:off x="914400" y="4095750"/>
            <a:ext cx="10363200" cy="1333491"/>
          </a:xfrm>
          <a:prstGeom xmlns:a="http://schemas.openxmlformats.org/drawingml/2006/main" prst="roundRect">
            <a:avLst>
              <a:gd name="adj" fmla="val 8046"/>
            </a:avLst>
          </a:prstGeom>
          <a:solidFill xmlns:a="http://schemas.openxmlformats.org/drawingml/2006/main">
            <a:srgbClr val="F7EFF1"/>
          </a:solidFill>
          <a:ln xmlns:a="http://schemas.openxmlformats.org/drawingml/2006/main" w="8573">
            <a:solidFill>
              <a:srgbClr val="DBC7CC"/>
            </a:solidFill>
            <a:prstDash val="solid"/>
          </a:ln>
        </p:spPr>
      </p:sp>
      <p:sp>
        <p:nvSpPr>
          <p:cNvPr id="78" name="Rounded Rectangle 77">
            <a:extLst xmlns:a="http://schemas.openxmlformats.org/drawingml/2006/main">
              <a:ext uri="{FF2B5EF4-FFF2-40B4-BE49-F238E27FC236}">
                <a16:creationId xmlns:a16="http://schemas.microsoft.com/office/drawing/2014/main" id="{BA289F6A-2813-4E5B-A1B6-0A095BEDABCB}"/>
              </a:ext>
            </a:extLst>
          </p:cNvPr>
          <p:cNvSpPr>
            <a:spLocks xmlns:a="http://schemas.openxmlformats.org/drawingml/2006/main" noGrp="1"/>
          </p:cNvSpPr>
          <p:nvPr/>
        </p:nvSpPr>
        <p:spPr>
          <a:xfrm xmlns:a="http://schemas.openxmlformats.org/drawingml/2006/main">
            <a:off x="1085850" y="4248150"/>
            <a:ext cx="45719" cy="938213"/>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9" name="Rectangle 78">
            <a:extLst xmlns:a="http://schemas.openxmlformats.org/drawingml/2006/main">
              <a:ext uri="{FF2B5EF4-FFF2-40B4-BE49-F238E27FC236}">
                <a16:creationId xmlns:a16="http://schemas.microsoft.com/office/drawing/2014/main" id="{9B1083C5-2F9C-4D22-8214-91E598D70B41}"/>
              </a:ext>
            </a:extLst>
          </p:cNvPr>
          <p:cNvSpPr>
            <a:spLocks xmlns:a="http://schemas.openxmlformats.org/drawingml/2006/main" noGrp="1"/>
          </p:cNvSpPr>
          <p:nvPr/>
        </p:nvSpPr>
        <p:spPr>
          <a:xfrm xmlns:a="http://schemas.openxmlformats.org/drawingml/2006/main">
            <a:off x="1333500" y="420052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ПРОВЕРУ</a:t>
            </a:r>
          </a:p>
        </p:txBody>
      </p:sp>
      <p:sp>
        <p:nvSpPr>
          <p:cNvPr id="80" name="Rectangle 79">
            <a:extLst xmlns:a="http://schemas.openxmlformats.org/drawingml/2006/main">
              <a:ext uri="{FF2B5EF4-FFF2-40B4-BE49-F238E27FC236}">
                <a16:creationId xmlns:a16="http://schemas.microsoft.com/office/drawing/2014/main" id="{4F833C71-FA59-4325-BF07-9BF3AB74826F}"/>
              </a:ext>
            </a:extLst>
          </p:cNvPr>
          <p:cNvSpPr>
            <a:spLocks xmlns:a="http://schemas.openxmlformats.org/drawingml/2006/main" noGrp="1"/>
          </p:cNvSpPr>
          <p:nvPr/>
        </p:nvSpPr>
        <p:spPr>
          <a:xfrm xmlns:a="http://schemas.openxmlformats.org/drawingml/2006/main">
            <a:off x="1333500" y="4429125"/>
            <a:ext cx="9639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Која радња заслужује додатну потврду идентитета и који догађај би требало да опозове постојећу сесију?</a:t>
            </a:r>
          </a:p>
        </p:txBody>
      </p:sp>
      <p:sp>
        <p:nvSpPr>
          <p:cNvPr id="81" name="Rectangle 80">
            <a:extLst xmlns:a="http://schemas.openxmlformats.org/drawingml/2006/main">
              <a:ext uri="{FF2B5EF4-FFF2-40B4-BE49-F238E27FC236}">
                <a16:creationId xmlns:a16="http://schemas.microsoft.com/office/drawing/2014/main" id="{07865435-C56B-4D38-8969-9F21ADEB4CA2}"/>
              </a:ext>
            </a:extLst>
          </p:cNvPr>
          <p:cNvSpPr>
            <a:spLocks xmlns:a="http://schemas.openxmlformats.org/drawingml/2006/main" noGrp="1"/>
          </p:cNvSpPr>
          <p:nvPr/>
        </p:nvSpPr>
        <p:spPr>
          <a:xfrm xmlns:a="http://schemas.openxmlformats.org/drawingml/2006/main">
            <a:off x="1314450" y="4900613"/>
            <a:ext cx="9639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275" b="0">
                <a:solidFill>
                  <a:srgbClr val="52637B"/>
                </a:solidFill>
                <a:latin typeface="Aptos"/>
                <a:ea typeface="Aptos"/>
                <a:cs typeface="Aptos"/>
              </a:defRPr>
            </a:pPr>
            <a:r>
              <a:rPr sz="1275" b="0">
                <a:solidFill>
                  <a:srgbClr val="52637B"/>
                </a:solidFill>
                <a:latin typeface="Aptos"/>
                <a:ea typeface="Aptos"/>
                <a:cs typeface="Aptos"/>
              </a:rPr>
              <a:t>Пројектна примена: применити исти модел на једну реалну границу у сопственом пројекту.</a:t>
            </a:r>
          </a:p>
        </p:txBody>
      </p:sp>
    </p:spTree>
    <p:extLst>
      <p:ext uri="{BB962C8B-B14F-4D97-AF65-F5344CB8AC3E}">
        <p14:creationId xmlns:p14="http://schemas.microsoft.com/office/powerpoint/2010/main" val="4167607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2026-09-29T19:08:36.5280000Z</dcterms:created>
  <dcterms:modified xsi:type="dcterms:W3CDTF">2026-09-29T19:08:36.5280000Z</dcterms:modified>
</coreProperties>
</file>