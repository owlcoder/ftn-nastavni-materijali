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288975c3364a7e" /><Relationship Type="http://schemas.openxmlformats.org/officeDocument/2006/relationships/extended-properties" Target="/docProps/app.xml" Id="R5e0aa208ee194b26" /><Relationship Type="http://schemas.openxmlformats.org/officeDocument/2006/relationships/officeDocument" Target="/ppt/presentation.xml" Id="R4b7ebb090a174478" /></Relationships>
</file>

<file path=ppt/presentation.xml><?xml version="1.0" encoding="utf-8"?>
<p:presentation xmlns:p="http://schemas.openxmlformats.org/presentationml/2006/main">
  <p:sldMasterIdLst>
    <p:sldMasterId xmlns:r="http://schemas.openxmlformats.org/officeDocument/2006/relationships" id="2147483648" r:id="R86090e7bf6d3406d"/>
  </p:sldMasterIdLst>
  <p:notesMasterIdLst>
    <p:notesMasterId xmlns:r="http://schemas.openxmlformats.org/officeDocument/2006/relationships" r:id="R6b8280dba9ea45d8"/>
  </p:notesMasterIdLst>
  <p:sldIdLst>
    <p:sldId xmlns:r="http://schemas.openxmlformats.org/officeDocument/2006/relationships" id="256" r:id="R425f654c965745d6"/>
    <p:sldId xmlns:r="http://schemas.openxmlformats.org/officeDocument/2006/relationships" id="257" r:id="Rbadadc8450104934"/>
    <p:sldId xmlns:r="http://schemas.openxmlformats.org/officeDocument/2006/relationships" id="258" r:id="Ra89601febd2b4459"/>
    <p:sldId xmlns:r="http://schemas.openxmlformats.org/officeDocument/2006/relationships" id="259" r:id="R76031cd3f2a54798"/>
    <p:sldId xmlns:r="http://schemas.openxmlformats.org/officeDocument/2006/relationships" id="260" r:id="R16e2c2207fc946a7"/>
    <p:sldId xmlns:r="http://schemas.openxmlformats.org/officeDocument/2006/relationships" id="261" r:id="R4cf1d1897a8643b6"/>
    <p:sldId xmlns:r="http://schemas.openxmlformats.org/officeDocument/2006/relationships" id="262" r:id="R13eccdc40d614ca0"/>
    <p:sldId xmlns:r="http://schemas.openxmlformats.org/officeDocument/2006/relationships" id="263" r:id="Ref446554ccf5437b"/>
    <p:sldId xmlns:r="http://schemas.openxmlformats.org/officeDocument/2006/relationships" id="264" r:id="R4f147b6f0a2c4d02"/>
    <p:sldId xmlns:r="http://schemas.openxmlformats.org/officeDocument/2006/relationships" id="265" r:id="Reb6b31107062478d"/>
    <p:sldId xmlns:r="http://schemas.openxmlformats.org/officeDocument/2006/relationships" id="266" r:id="R9254221782bf43a3"/>
    <p:sldId xmlns:r="http://schemas.openxmlformats.org/officeDocument/2006/relationships" id="267" r:id="R9269230a27ea4a8b"/>
    <p:sldId xmlns:r="http://schemas.openxmlformats.org/officeDocument/2006/relationships" id="268" r:id="R959cf21f8c634f88"/>
    <p:sldId xmlns:r="http://schemas.openxmlformats.org/officeDocument/2006/relationships" id="269" r:id="R4d92508290e84883"/>
    <p:sldId xmlns:r="http://schemas.openxmlformats.org/officeDocument/2006/relationships" id="270" r:id="R5f9d904b1e5c4d74"/>
    <p:sldId xmlns:r="http://schemas.openxmlformats.org/officeDocument/2006/relationships" id="271" r:id="R890bf27b75434f54"/>
    <p:sldId xmlns:r="http://schemas.openxmlformats.org/officeDocument/2006/relationships" id="272" r:id="R455bd662d6e14521"/>
    <p:sldId xmlns:r="http://schemas.openxmlformats.org/officeDocument/2006/relationships" id="273" r:id="R7b424378d0044358"/>
    <p:sldId xmlns:r="http://schemas.openxmlformats.org/officeDocument/2006/relationships" id="274" r:id="R47b15e323de8494a"/>
    <p:sldId xmlns:r="http://schemas.openxmlformats.org/officeDocument/2006/relationships" id="275" r:id="R4af3ddfee5f244f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716b12f6f2314b45" /><Relationship Type="http://schemas.openxmlformats.org/officeDocument/2006/relationships/slideMaster" Target="/ppt/slideMasters/slideMaster1.xml" Id="R86090e7bf6d3406d" /><Relationship Type="http://schemas.openxmlformats.org/officeDocument/2006/relationships/notesMaster" Target="/ppt/notesMasters/notesMaster1.xml" Id="R6b8280dba9ea45d8" /><Relationship Type="http://schemas.openxmlformats.org/officeDocument/2006/relationships/presProps" Target="/ppt/presProps.xml" Id="Rb80c48c1008c45a3" /><Relationship Type="http://schemas.openxmlformats.org/officeDocument/2006/relationships/viewProps" Target="/ppt/viewProps.xml" Id="R3ede50f20e264c44" /><Relationship Type="http://schemas.openxmlformats.org/officeDocument/2006/relationships/tableStyles" Target="/ppt/tableStyles.xml" Id="Ra42bcb890c484328" /><Relationship Type="http://schemas.openxmlformats.org/officeDocument/2006/relationships/slide" Target="/ppt/slides/slide1.xml" Id="R425f654c965745d6" /><Relationship Type="http://schemas.openxmlformats.org/officeDocument/2006/relationships/slide" Target="/ppt/slides/slide2.xml" Id="Rbadadc8450104934" /><Relationship Type="http://schemas.openxmlformats.org/officeDocument/2006/relationships/slide" Target="/ppt/slides/slide3.xml" Id="Ra89601febd2b4459" /><Relationship Type="http://schemas.openxmlformats.org/officeDocument/2006/relationships/slide" Target="/ppt/slides/slide4.xml" Id="R76031cd3f2a54798" /><Relationship Type="http://schemas.openxmlformats.org/officeDocument/2006/relationships/slide" Target="/ppt/slides/slide5.xml" Id="R16e2c2207fc946a7" /><Relationship Type="http://schemas.openxmlformats.org/officeDocument/2006/relationships/slide" Target="/ppt/slides/slide6.xml" Id="R4cf1d1897a8643b6" /><Relationship Type="http://schemas.openxmlformats.org/officeDocument/2006/relationships/slide" Target="/ppt/slides/slide7.xml" Id="R13eccdc40d614ca0" /><Relationship Type="http://schemas.openxmlformats.org/officeDocument/2006/relationships/slide" Target="/ppt/slides/slide8.xml" Id="Ref446554ccf5437b" /><Relationship Type="http://schemas.openxmlformats.org/officeDocument/2006/relationships/slide" Target="/ppt/slides/slide9.xml" Id="R4f147b6f0a2c4d02" /><Relationship Type="http://schemas.openxmlformats.org/officeDocument/2006/relationships/slide" Target="/ppt/slides/slide10.xml" Id="Reb6b31107062478d" /><Relationship Type="http://schemas.openxmlformats.org/officeDocument/2006/relationships/slide" Target="/ppt/slides/slide11.xml" Id="R9254221782bf43a3" /><Relationship Type="http://schemas.openxmlformats.org/officeDocument/2006/relationships/slide" Target="/ppt/slides/slide12.xml" Id="R9269230a27ea4a8b" /><Relationship Type="http://schemas.openxmlformats.org/officeDocument/2006/relationships/slide" Target="/ppt/slides/slide13.xml" Id="R959cf21f8c634f88" /><Relationship Type="http://schemas.openxmlformats.org/officeDocument/2006/relationships/slide" Target="/ppt/slides/slide14.xml" Id="R4d92508290e84883" /><Relationship Type="http://schemas.openxmlformats.org/officeDocument/2006/relationships/slide" Target="/ppt/slides/slide15.xml" Id="R5f9d904b1e5c4d74" /><Relationship Type="http://schemas.openxmlformats.org/officeDocument/2006/relationships/slide" Target="/ppt/slides/slide16.xml" Id="R890bf27b75434f54" /><Relationship Type="http://schemas.openxmlformats.org/officeDocument/2006/relationships/slide" Target="/ppt/slides/slide17.xml" Id="R455bd662d6e14521" /><Relationship Type="http://schemas.openxmlformats.org/officeDocument/2006/relationships/slide" Target="/ppt/slides/slide18.xml" Id="R7b424378d0044358" /><Relationship Type="http://schemas.openxmlformats.org/officeDocument/2006/relationships/slide" Target="/ppt/slides/slide19.xml" Id="R47b15e323de8494a" /><Relationship Type="http://schemas.openxmlformats.org/officeDocument/2006/relationships/slide" Target="/ppt/slides/slide20.xml" Id="R4af3ddfee5f244f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6aad0ed5aa43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114a13953834856" /><Relationship Type="http://schemas.openxmlformats.org/officeDocument/2006/relationships/notesMaster" Target="/ppt/notesMasters/notesMaster1.xml" Id="Rffe93b4d6f4c4f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0bb9ebaa51094410" /><Relationship Type="http://schemas.openxmlformats.org/officeDocument/2006/relationships/notesMaster" Target="/ppt/notesMasters/notesMaster1.xml" Id="R4dea0e4c7351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64b627e977a24fe2" /><Relationship Type="http://schemas.openxmlformats.org/officeDocument/2006/relationships/notesMaster" Target="/ppt/notesMasters/notesMaster1.xml" Id="R4ffdda831af84509" /></Relationships>
</file>

<file path=ppt/notesSlides/_rels/notesSlide4.xml.rels>&#65279;<?xml version="1.0" encoding="utf-8"?><Relationships xmlns="http://schemas.openxmlformats.org/package/2006/relationships"><Relationship Type="http://schemas.openxmlformats.org/officeDocument/2006/relationships/slide" Target="/ppt/slides/slide4.xml" Id="R87e20fcb6d87498b" /><Relationship Type="http://schemas.openxmlformats.org/officeDocument/2006/relationships/notesMaster" Target="/ppt/notesMasters/notesMaster1.xml" Id="Rce9cecb8561c4c86"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dafee89cb64b4b" /><Relationship Type="http://schemas.openxmlformats.org/officeDocument/2006/relationships/notesMaster" Target="/ppt/notesMasters/notesMaster1.xml" Id="Re014321c5f244613" /></Relationships>
</file>

<file path=ppt/notesSlides/_rels/notesSlide6.xml.rels>&#65279;<?xml version="1.0" encoding="utf-8"?><Relationships xmlns="http://schemas.openxmlformats.org/package/2006/relationships"><Relationship Type="http://schemas.openxmlformats.org/officeDocument/2006/relationships/slide" Target="/ppt/slides/slide6.xml" Id="Rd537793339374401" /><Relationship Type="http://schemas.openxmlformats.org/officeDocument/2006/relationships/notesMaster" Target="/ppt/notesMasters/notesMaster1.xml" Id="R2d67f1a9bfbe41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87f49251910d4f6b" /><Relationship Type="http://schemas.openxmlformats.org/officeDocument/2006/relationships/notesMaster" Target="/ppt/notesMasters/notesMaster1.xml" Id="R385fa1a490fe42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5c185a307ef4300" /><Relationship Type="http://schemas.openxmlformats.org/officeDocument/2006/relationships/notesMaster" Target="/ppt/notesMasters/notesMaster1.xml" Id="Rbe80c9628e75422a" /></Relationships>
</file>

<file path=ppt/notesSlides/_rels/notesSlide9.xml.rels>&#65279;<?xml version="1.0" encoding="utf-8"?><Relationships xmlns="http://schemas.openxmlformats.org/package/2006/relationships"><Relationship Type="http://schemas.openxmlformats.org/officeDocument/2006/relationships/slide" Target="/ppt/slides/slide9.xml" Id="Rf69f5825fa204d0f" /><Relationship Type="http://schemas.openxmlformats.org/officeDocument/2006/relationships/notesMaster" Target="/ppt/notesMasters/notesMaster1.xml" Id="R77e49073d5474d0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2be26e1a604419f" /><Relationship Type="http://schemas.openxmlformats.org/officeDocument/2006/relationships/notesMaster" Target="/ppt/notesMasters/notesMaster1.xml" Id="Rfa0dfb44f87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18db7e60ee440c" /><Relationship Type="http://schemas.openxmlformats.org/officeDocument/2006/relationships/notesMaster" Target="/ppt/notesMasters/notesMaster1.xml" Id="R58dbda739edb4e9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aff2630792c47be" /><Relationship Type="http://schemas.openxmlformats.org/officeDocument/2006/relationships/notesMaster" Target="/ppt/notesMasters/notesMaster1.xml" Id="Rbf0345ac0667434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2311eeae24741c8" /><Relationship Type="http://schemas.openxmlformats.org/officeDocument/2006/relationships/notesMaster" Target="/ppt/notesMasters/notesMaster1.xml" Id="Rea77f6944fca4cb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0fe1888d6314ad9" /><Relationship Type="http://schemas.openxmlformats.org/officeDocument/2006/relationships/notesMaster" Target="/ppt/notesMasters/notesMaster1.xml" Id="R6f5e918cd1394ab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f2e4a52fcef4c71" /><Relationship Type="http://schemas.openxmlformats.org/officeDocument/2006/relationships/notesMaster" Target="/ppt/notesMasters/notesMaster1.xml" Id="R359a9a55c2034ef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90d66c71dc34f4c" /><Relationship Type="http://schemas.openxmlformats.org/officeDocument/2006/relationships/notesMaster" Target="/ppt/notesMasters/notesMaster1.xml" Id="R7294972b442b418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d9122ba8b564fb0" /><Relationship Type="http://schemas.openxmlformats.org/officeDocument/2006/relationships/notesMaster" Target="/ppt/notesMasters/notesMaster1.xml" Id="R81266f36b291457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1d9f3b231e7482e" /><Relationship Type="http://schemas.openxmlformats.org/officeDocument/2006/relationships/notesMaster" Target="/ppt/notesMasters/notesMaster1.xml" Id="Rc1515fa08bb942d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b148e993562446a" /><Relationship Type="http://schemas.openxmlformats.org/officeDocument/2006/relationships/notesMaster" Target="/ppt/notesMasters/notesMaster1.xml" Id="Rd1c5b402b31e48af"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7c35c106b094ebc" /><Relationship Type="http://schemas.openxmlformats.org/officeDocument/2006/relationships/notesMaster" Target="/ppt/notesMasters/notesMaster1.xml" Id="R06eb04e4907840a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bed7200a19c4a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1bbc356a0e54de8" /><Relationship Type="http://schemas.openxmlformats.org/officeDocument/2006/relationships/slideLayout" Target="/ppt/slideLayouts/slideLayout1.xml" Id="R511cc21135f249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11cc21135f249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544ab22db54966" /><Relationship Type="http://schemas.openxmlformats.org/officeDocument/2006/relationships/notesSlide" Target="/ppt/notesSlides/notesSlide1.xml" Id="Rf70d8900ff2440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8b8a3c7e404d4a" /><Relationship Type="http://schemas.openxmlformats.org/officeDocument/2006/relationships/notesSlide" Target="/ppt/notesSlides/notesSlide2.xml" Id="R17a60cfe4e4b438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f59d6b5516f4767" /><Relationship Type="http://schemas.openxmlformats.org/officeDocument/2006/relationships/notesSlide" Target="/ppt/notesSlides/notesSlide3.xml" Id="Ra0aa1136c7bd448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1bbcab236534ed1" /><Relationship Type="http://schemas.openxmlformats.org/officeDocument/2006/relationships/notesSlide" Target="/ppt/notesSlides/notesSlide4.xml" Id="R9bfcd6a457c142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6e9557e80714682" /><Relationship Type="http://schemas.openxmlformats.org/officeDocument/2006/relationships/notesSlide" Target="/ppt/notesSlides/notesSlide5.xml" Id="Ra00bb4c08713450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26d1da8e6a44a43" /><Relationship Type="http://schemas.openxmlformats.org/officeDocument/2006/relationships/notesSlide" Target="/ppt/notesSlides/notesSlide6.xml" Id="R827ad1914e6b40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183be8d06d1426f" /><Relationship Type="http://schemas.openxmlformats.org/officeDocument/2006/relationships/notesSlide" Target="/ppt/notesSlides/notesSlide7.xml" Id="Rffe9f66c74d048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8408e769b444283" /><Relationship Type="http://schemas.openxmlformats.org/officeDocument/2006/relationships/notesSlide" Target="/ppt/notesSlides/notesSlide8.xml" Id="R1cfe685003254d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757d8baa1df4662" /><Relationship Type="http://schemas.openxmlformats.org/officeDocument/2006/relationships/notesSlide" Target="/ppt/notesSlides/notesSlide9.xml" Id="Rb3e3ed98e9d5499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0f740104a0c4f52" /><Relationship Type="http://schemas.openxmlformats.org/officeDocument/2006/relationships/notesSlide" Target="/ppt/notesSlides/notesSlide10.xml" Id="Rc5257c3d90a84f3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810d75cb4d1485c" /><Relationship Type="http://schemas.openxmlformats.org/officeDocument/2006/relationships/notesSlide" Target="/ppt/notesSlides/notesSlide11.xml" Id="R56f5b7cfb908430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3a03afc79b34808" /><Relationship Type="http://schemas.openxmlformats.org/officeDocument/2006/relationships/notesSlide" Target="/ppt/notesSlides/notesSlide12.xml" Id="R5dd994233f0f440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480aecd175d84d9c" /><Relationship Type="http://schemas.openxmlformats.org/officeDocument/2006/relationships/notesSlide" Target="/ppt/notesSlides/notesSlide13.xml" Id="R0a8bc4fb0c874cd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25dae3e824948e0" /><Relationship Type="http://schemas.openxmlformats.org/officeDocument/2006/relationships/notesSlide" Target="/ppt/notesSlides/notesSlide14.xml" Id="Rc8e9430d97424f8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028fa36346f4abf" /><Relationship Type="http://schemas.openxmlformats.org/officeDocument/2006/relationships/notesSlide" Target="/ppt/notesSlides/notesSlide15.xml" Id="Rce23cd03b89f46a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f777b29e21444d4" /><Relationship Type="http://schemas.openxmlformats.org/officeDocument/2006/relationships/notesSlide" Target="/ppt/notesSlides/notesSlide16.xml" Id="R3265b84f47f748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6fc6053d7fd46c9" /><Relationship Type="http://schemas.openxmlformats.org/officeDocument/2006/relationships/notesSlide" Target="/ppt/notesSlides/notesSlide17.xml" Id="R8b8cb0c4de71420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f2bec67f1b84840" /><Relationship Type="http://schemas.openxmlformats.org/officeDocument/2006/relationships/notesSlide" Target="/ppt/notesSlides/notesSlide18.xml" Id="Rb748966e51ba4af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999ef88cb324bfb" /><Relationship Type="http://schemas.openxmlformats.org/officeDocument/2006/relationships/notesSlide" Target="/ppt/notesSlides/notesSlide19.xml" Id="R7050ebb1b22c4b3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3b5dae24627477b" /><Relationship Type="http://schemas.openxmlformats.org/officeDocument/2006/relationships/notesSlide" Target="/ppt/notesSlides/notesSlide20.xml" Id="R32f3c30f0504403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DF7D6A04-C2B0-449F-8B8E-B8D22AF08952}"/>
              </a:ext>
            </a:extLst>
          </p:cNvPr>
          <p:cNvSpPr>
            <a:spLocks xmlns:a="http://schemas.openxmlformats.org/drawingml/2006/main" noGrp="1"/>
          </p:cNvSpPr>
          <p:nvPr/>
        </p:nvSpPr>
        <p:spPr>
          <a:xfrm xmlns:a="http://schemas.openxmlformats.org/drawingml/2006/main">
            <a:off x="914400" y="5905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4764A77-7245-46DC-B352-565A247E0303}"/>
              </a:ext>
            </a:extLst>
          </p:cNvPr>
          <p:cNvSpPr>
            <a:spLocks xmlns:a="http://schemas.openxmlformats.org/drawingml/2006/main" noGrp="1"/>
          </p:cNvSpPr>
          <p:nvPr/>
        </p:nvSpPr>
        <p:spPr>
          <a:xfrm xmlns:a="http://schemas.openxmlformats.org/drawingml/2006/main">
            <a:off x="914400" y="1009650"/>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3" name="Rounded Rectangle 2">
            <a:extLst xmlns:a="http://schemas.openxmlformats.org/drawingml/2006/main">
              <a:ext uri="{FF2B5EF4-FFF2-40B4-BE49-F238E27FC236}">
                <a16:creationId xmlns:a16="http://schemas.microsoft.com/office/drawing/2014/main" id="{5BEB596B-6230-48A7-977F-01D8B3218F57}"/>
              </a:ext>
            </a:extLst>
          </p:cNvPr>
          <p:cNvSpPr>
            <a:spLocks xmlns:a="http://schemas.openxmlformats.org/drawingml/2006/main" noGrp="1"/>
          </p:cNvSpPr>
          <p:nvPr/>
        </p:nvSpPr>
        <p:spPr>
          <a:xfrm xmlns:a="http://schemas.openxmlformats.org/drawingml/2006/main">
            <a:off x="914400" y="1438275"/>
            <a:ext cx="647700" cy="66675"/>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4" name="Rectangle 3">
            <a:extLst xmlns:a="http://schemas.openxmlformats.org/drawingml/2006/main">
              <a:ext uri="{FF2B5EF4-FFF2-40B4-BE49-F238E27FC236}">
                <a16:creationId xmlns:a16="http://schemas.microsoft.com/office/drawing/2014/main" id="{A0D2D6A4-469A-41CF-BF84-D2F4CBA5D4B5}"/>
              </a:ext>
            </a:extLst>
          </p:cNvPr>
          <p:cNvSpPr>
            <a:spLocks xmlns:a="http://schemas.openxmlformats.org/drawingml/2006/main" noGrp="1"/>
          </p:cNvSpPr>
          <p:nvPr/>
        </p:nvSpPr>
        <p:spPr>
          <a:xfrm xmlns:a="http://schemas.openxmlformats.org/drawingml/2006/main">
            <a:off x="914400" y="1771650"/>
            <a:ext cx="103632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Политике, конфигурација и безбедносна видљивост</a:t>
            </a:r>
          </a:p>
        </p:txBody>
      </p:sp>
      <p:sp>
        <p:nvSpPr>
          <p:cNvPr id="5" name="Rectangle 4">
            <a:extLst xmlns:a="http://schemas.openxmlformats.org/drawingml/2006/main">
              <a:ext uri="{FF2B5EF4-FFF2-40B4-BE49-F238E27FC236}">
                <a16:creationId xmlns:a16="http://schemas.microsoft.com/office/drawing/2014/main" id="{B0FBDFC9-BA42-42A5-863B-EB126906D954}"/>
              </a:ext>
            </a:extLst>
          </p:cNvPr>
          <p:cNvSpPr>
            <a:spLocks xmlns:a="http://schemas.openxmlformats.org/drawingml/2006/main" noGrp="1"/>
          </p:cNvSpPr>
          <p:nvPr/>
        </p:nvSpPr>
        <p:spPr>
          <a:xfrm xmlns:a="http://schemas.openxmlformats.org/drawingml/2006/main">
            <a:off x="933450" y="3600450"/>
            <a:ext cx="962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Управљање правилима, конфигурацијом и безбедносним записима</a:t>
            </a:r>
          </a:p>
        </p:txBody>
      </p:sp>
      <p:sp>
        <p:nvSpPr>
          <p:cNvPr id="6" name="Straight Connector 5">
            <a:extLst xmlns:a="http://schemas.openxmlformats.org/drawingml/2006/main">
              <a:ext uri="{FF2B5EF4-FFF2-40B4-BE49-F238E27FC236}">
                <a16:creationId xmlns:a16="http://schemas.microsoft.com/office/drawing/2014/main" id="{CC02C7A3-B140-4597-8623-6F4F0F537A7E}"/>
              </a:ext>
            </a:extLst>
          </p:cNvPr>
          <p:cNvSpPr>
            <a:spLocks xmlns:a="http://schemas.openxmlformats.org/drawingml/2006/main" noGrp="1"/>
          </p:cNvSpPr>
          <p:nvPr/>
        </p:nvSpPr>
        <p:spPr>
          <a:xfrm xmlns:a="http://schemas.openxmlformats.org/drawingml/2006/main">
            <a:off x="914400" y="5286375"/>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7" name="Rectangle 6">
            <a:extLst xmlns:a="http://schemas.openxmlformats.org/drawingml/2006/main">
              <a:ext uri="{FF2B5EF4-FFF2-40B4-BE49-F238E27FC236}">
                <a16:creationId xmlns:a16="http://schemas.microsoft.com/office/drawing/2014/main" id="{049EA7C6-BB0C-4C1E-BD34-DF59FD13D992}"/>
              </a:ext>
            </a:extLst>
          </p:cNvPr>
          <p:cNvSpPr>
            <a:spLocks xmlns:a="http://schemas.openxmlformats.org/drawingml/2006/main" noGrp="1"/>
          </p:cNvSpPr>
          <p:nvPr/>
        </p:nvSpPr>
        <p:spPr>
          <a:xfrm xmlns:a="http://schemas.openxmlformats.org/drawingml/2006/main">
            <a:off x="914400" y="5581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A202C"/>
                </a:solidFill>
                <a:latin typeface="Aptos"/>
                <a:ea typeface="Aptos"/>
                <a:cs typeface="Aptos"/>
              </a:defRPr>
            </a:pPr>
            <a:r>
              <a:rPr sz="1125" b="0">
                <a:solidFill>
                  <a:srgbClr val="1A202C"/>
                </a:solidFill>
                <a:latin typeface="Aptos"/>
                <a:ea typeface="Aptos"/>
                <a:cs typeface="Aptos"/>
              </a:rPr>
              <a:t>Факултет техничких наука · Универзитет у Новом Саду</a:t>
            </a:r>
          </a:p>
        </p:txBody>
      </p:sp>
      <p:sp>
        <p:nvSpPr>
          <p:cNvPr id="8" name="Rectangle 7">
            <a:extLst xmlns:a="http://schemas.openxmlformats.org/drawingml/2006/main">
              <a:ext uri="{FF2B5EF4-FFF2-40B4-BE49-F238E27FC236}">
                <a16:creationId xmlns:a16="http://schemas.microsoft.com/office/drawing/2014/main" id="{C3C0B112-5B94-4398-B27D-7126629397BD}"/>
              </a:ext>
            </a:extLst>
          </p:cNvPr>
          <p:cNvSpPr>
            <a:spLocks xmlns:a="http://schemas.openxmlformats.org/drawingml/2006/main" noGrp="1"/>
          </p:cNvSpPr>
          <p:nvPr/>
        </p:nvSpPr>
        <p:spPr>
          <a:xfrm xmlns:a="http://schemas.openxmlformats.org/drawingml/2006/main">
            <a:off x="8096250" y="5581650"/>
            <a:ext cx="3181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18178735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A283791A-F841-45DF-A664-5838C5CB607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6FEA5FF1-DD8E-4649-918D-005E3AD17AD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34C1D10-DD95-4BCE-AD2D-BF66D6ECE9DB}"/>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xmlns:a="http://schemas.openxmlformats.org/drawingml/2006/main">
              <a:ext uri="{FF2B5EF4-FFF2-40B4-BE49-F238E27FC236}">
                <a16:creationId xmlns:a16="http://schemas.microsoft.com/office/drawing/2014/main" id="{2AE7FA46-DE03-40BE-BFF2-CC736801E709}"/>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 конфигурација и доказ</a:t>
            </a:r>
          </a:p>
        </p:txBody>
      </p:sp>
      <p:sp>
        <p:nvSpPr>
          <p:cNvPr id="5" name="Rectangle 4">
            <a:extLst xmlns:a="http://schemas.openxmlformats.org/drawingml/2006/main">
              <a:ext uri="{FF2B5EF4-FFF2-40B4-BE49-F238E27FC236}">
                <a16:creationId xmlns:a16="http://schemas.microsoft.com/office/drawing/2014/main" id="{EBF3FDE1-A5A8-408F-978D-607B2F4AA21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400" b="0">
                <a:solidFill>
                  <a:srgbClr val="657184"/>
                </a:solidFill>
                <a:latin typeface="Aptos"/>
                <a:ea typeface="Aptos"/>
                <a:cs typeface="Aptos"/>
              </a:rPr>
              <a:t>Политика дефинише очекивано понашање, конфигурација одређује вредности у окружењу, а доказ потврђује стварни исход.</a:t>
            </a:r>
          </a:p>
        </p:txBody>
      </p:sp>
      <p:sp>
        <p:nvSpPr>
          <p:cNvPr id="6" name="Rounded Rectangle 5">
            <a:extLst xmlns:a="http://schemas.openxmlformats.org/drawingml/2006/main">
              <a:ext uri="{FF2B5EF4-FFF2-40B4-BE49-F238E27FC236}">
                <a16:creationId xmlns:a16="http://schemas.microsoft.com/office/drawing/2014/main" id="{918C90EC-492C-4394-853D-49296BEF0D6A}"/>
              </a:ext>
            </a:extLst>
          </p:cNvPr>
          <p:cNvSpPr>
            <a:spLocks xmlns:a="http://schemas.openxmlformats.org/drawingml/2006/main" noGrp="1"/>
          </p:cNvSpPr>
          <p:nvPr/>
        </p:nvSpPr>
        <p:spPr>
          <a:xfrm xmlns:a="http://schemas.openxmlformats.org/drawingml/2006/main">
            <a:off x="819150" y="2571750"/>
            <a:ext cx="3257550" cy="3403748"/>
          </a:xfrm>
          <a:prstGeom xmlns:a="http://schemas.openxmlformats.org/drawingml/2006/main" prst="roundRect">
            <a:avLst>
              <a:gd name="adj" fmla="val 5983"/>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3B46BCBA-E868-4A14-9A18-36E778D271CF}"/>
              </a:ext>
            </a:extLst>
          </p:cNvPr>
          <p:cNvSpPr>
            <a:spLocks xmlns:a="http://schemas.openxmlformats.org/drawingml/2006/main" noGrp="1"/>
          </p:cNvSpPr>
          <p:nvPr/>
        </p:nvSpPr>
        <p:spPr>
          <a:xfrm xmlns:a="http://schemas.openxmlformats.org/drawingml/2006/main">
            <a:off x="97155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ПРЕДМЕТ АНАЛИЗЕ</a:t>
            </a:r>
          </a:p>
        </p:txBody>
      </p:sp>
      <p:sp>
        <p:nvSpPr>
          <p:cNvPr id="8" name="Rectangle 7">
            <a:extLst xmlns:a="http://schemas.openxmlformats.org/drawingml/2006/main">
              <a:ext uri="{FF2B5EF4-FFF2-40B4-BE49-F238E27FC236}">
                <a16:creationId xmlns:a16="http://schemas.microsoft.com/office/drawing/2014/main" id="{24DA0552-AC86-4371-9F71-8270F5541D33}"/>
              </a:ext>
            </a:extLst>
          </p:cNvPr>
          <p:cNvSpPr>
            <a:spLocks xmlns:a="http://schemas.openxmlformats.org/drawingml/2006/main" noGrp="1"/>
          </p:cNvSpPr>
          <p:nvPr/>
        </p:nvSpPr>
        <p:spPr>
          <a:xfrm xmlns:a="http://schemas.openxmlformats.org/drawingml/2006/main">
            <a:off x="97155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који се анализира</a:t>
            </a:r>
          </a:p>
        </p:txBody>
      </p:sp>
      <p:sp>
        <p:nvSpPr>
          <p:cNvPr id="9" name="Rectangle 8">
            <a:extLst xmlns:a="http://schemas.openxmlformats.org/drawingml/2006/main">
              <a:ext uri="{FF2B5EF4-FFF2-40B4-BE49-F238E27FC236}">
                <a16:creationId xmlns:a16="http://schemas.microsoft.com/office/drawing/2014/main" id="{CEAA8968-722F-48BC-AC25-F4BA03A8A604}"/>
              </a:ext>
            </a:extLst>
          </p:cNvPr>
          <p:cNvSpPr>
            <a:spLocks xmlns:a="http://schemas.openxmlformats.org/drawingml/2006/main" noGrp="1"/>
          </p:cNvSpPr>
          <p:nvPr/>
        </p:nvSpPr>
        <p:spPr>
          <a:xfrm xmlns:a="http://schemas.openxmlformats.org/drawingml/2006/main">
            <a:off x="97155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400" b="0">
                <a:solidFill>
                  <a:srgbClr val="657184"/>
                </a:solidFill>
                <a:latin typeface="Aptos"/>
                <a:ea typeface="Aptos"/>
                <a:cs typeface="Aptos"/>
              </a:rPr>
              <a:t>Безбедносна</a:t>
            </a:r>
            <a:r>
              <a:rPr sz="1400" b="0">
                <a:solidFill>
                  <a:srgbClr val="657184"/>
                </a:solidFill>
                <a:latin typeface="Aptos"/>
                <a:ea typeface="Aptos"/>
                <a:cs typeface="Aptos"/>
              </a:rPr>
              <a:t> </a:t>
            </a:r>
            <a:r>
              <a:rPr sz="1400" b="0">
                <a:solidFill>
                  <a:srgbClr val="657184"/>
                </a:solidFill>
                <a:latin typeface="Aptos"/>
                <a:ea typeface="Aptos"/>
                <a:cs typeface="Aptos"/>
              </a:rPr>
              <a:t>правила</a:t>
            </a:r>
            <a:r>
              <a:rPr sz="1400" b="0">
                <a:solidFill>
                  <a:srgbClr val="657184"/>
                </a:solidFill>
                <a:latin typeface="Aptos"/>
                <a:ea typeface="Aptos"/>
                <a:cs typeface="Aptos"/>
              </a:rPr>
              <a:t> </a:t>
            </a:r>
            <a:r>
              <a:rPr sz="1400" b="0">
                <a:solidFill>
                  <a:srgbClr val="657184"/>
                </a:solidFill>
                <a:latin typeface="Aptos"/>
                <a:ea typeface="Aptos"/>
                <a:cs typeface="Aptos"/>
              </a:rPr>
              <a:t>постају</a:t>
            </a:r>
            <a:r>
              <a:rPr sz="1400" b="0">
                <a:solidFill>
                  <a:srgbClr val="657184"/>
                </a:solidFill>
                <a:latin typeface="Aptos"/>
                <a:ea typeface="Aptos"/>
                <a:cs typeface="Aptos"/>
              </a:rPr>
              <a:t> </a:t>
            </a:r>
            <a:r>
              <a:rPr sz="1400" b="0">
                <a:solidFill>
                  <a:srgbClr val="657184"/>
                </a:solidFill>
                <a:latin typeface="Aptos"/>
                <a:ea typeface="Aptos"/>
                <a:cs typeface="Aptos"/>
              </a:rPr>
              <a:t>поуздана</a:t>
            </a:r>
            <a:r>
              <a:rPr sz="1400" b="0">
                <a:solidFill>
                  <a:srgbClr val="657184"/>
                </a:solidFill>
                <a:latin typeface="Aptos"/>
                <a:ea typeface="Aptos"/>
                <a:cs typeface="Aptos"/>
              </a:rPr>
              <a:t> </a:t>
            </a:r>
            <a:r>
              <a:rPr sz="1400" b="0">
                <a:solidFill>
                  <a:srgbClr val="657184"/>
                </a:solidFill>
                <a:latin typeface="Aptos"/>
                <a:ea typeface="Aptos"/>
                <a:cs typeface="Aptos"/>
              </a:rPr>
              <a:t>тек</a:t>
            </a:r>
            <a:r>
              <a:rPr sz="1400" b="0">
                <a:solidFill>
                  <a:srgbClr val="657184"/>
                </a:solidFill>
                <a:latin typeface="Aptos"/>
                <a:ea typeface="Aptos"/>
                <a:cs typeface="Aptos"/>
              </a:rPr>
              <a:t> </a:t>
            </a:r>
            <a:r>
              <a:rPr sz="1400" b="0">
                <a:solidFill>
                  <a:srgbClr val="657184"/>
                </a:solidFill>
                <a:latin typeface="Aptos"/>
                <a:ea typeface="Aptos"/>
                <a:cs typeface="Aptos"/>
              </a:rPr>
              <a:t>када</a:t>
            </a:r>
            <a:r>
              <a:rPr sz="1400" b="0">
                <a:solidFill>
                  <a:srgbClr val="657184"/>
                </a:solidFill>
                <a:latin typeface="Aptos"/>
                <a:ea typeface="Aptos"/>
                <a:cs typeface="Aptos"/>
              </a:rPr>
              <a:t> </a:t>
            </a:r>
            <a:r>
              <a:rPr sz="1400" b="0">
                <a:solidFill>
                  <a:srgbClr val="657184"/>
                </a:solidFill>
                <a:latin typeface="Aptos"/>
                <a:ea typeface="Aptos"/>
                <a:cs typeface="Aptos"/>
              </a:rPr>
              <a:t>су</a:t>
            </a:r>
            <a:r>
              <a:rPr sz="1400" b="0">
                <a:solidFill>
                  <a:srgbClr val="657184"/>
                </a:solidFill>
                <a:latin typeface="Aptos"/>
                <a:ea typeface="Aptos"/>
                <a:cs typeface="Aptos"/>
              </a:rPr>
              <a:t> </a:t>
            </a:r>
            <a:r>
              <a:rPr sz="1400" b="0">
                <a:solidFill>
                  <a:srgbClr val="657184"/>
                </a:solidFill>
                <a:latin typeface="Aptos"/>
                <a:ea typeface="Aptos"/>
                <a:cs typeface="Aptos"/>
              </a:rPr>
              <a:t>видљива</a:t>
            </a:r>
            <a:r>
              <a:rPr sz="1400" b="0">
                <a:solidFill>
                  <a:srgbClr val="657184"/>
                </a:solidFill>
                <a:latin typeface="Aptos"/>
                <a:ea typeface="Aptos"/>
                <a:cs typeface="Aptos"/>
              </a:rPr>
              <a:t>, </a:t>
            </a:r>
            <a:r>
              <a:rPr sz="1400" b="0">
                <a:solidFill>
                  <a:srgbClr val="657184"/>
                </a:solidFill>
                <a:latin typeface="Aptos"/>
                <a:ea typeface="Aptos"/>
                <a:cs typeface="Aptos"/>
              </a:rPr>
              <a:t>верзионисана</a:t>
            </a:r>
            <a:r>
              <a:rPr sz="1400" b="0">
                <a:solidFill>
                  <a:srgbClr val="657184"/>
                </a:solidFill>
                <a:latin typeface="Aptos"/>
                <a:ea typeface="Aptos"/>
                <a:cs typeface="Aptos"/>
              </a:rPr>
              <a:t> </a:t>
            </a:r>
            <a:r>
              <a:rPr sz="1400" b="0">
                <a:solidFill>
                  <a:srgbClr val="657184"/>
                </a:solidFill>
                <a:latin typeface="Aptos"/>
                <a:ea typeface="Aptos"/>
                <a:cs typeface="Aptos"/>
              </a:rPr>
              <a:t>и</a:t>
            </a:r>
            <a:r>
              <a:rPr sz="1400" b="0">
                <a:solidFill>
                  <a:srgbClr val="657184"/>
                </a:solidFill>
                <a:latin typeface="Aptos"/>
                <a:ea typeface="Aptos"/>
                <a:cs typeface="Aptos"/>
              </a:rPr>
              <a:t> </a:t>
            </a:r>
            <a:r>
              <a:rPr sz="1400" b="0">
                <a:solidFill>
                  <a:srgbClr val="657184"/>
                </a:solidFill>
                <a:latin typeface="Aptos"/>
                <a:ea typeface="Aptos"/>
                <a:cs typeface="Aptos"/>
              </a:rPr>
              <a:t>проверљива</a:t>
            </a:r>
            <a:r>
              <a:rPr sz="1400" b="0">
                <a:solidFill>
                  <a:srgbClr val="657184"/>
                </a:solidFill>
                <a:latin typeface="Aptos"/>
                <a:ea typeface="Aptos"/>
                <a:cs typeface="Aptos"/>
              </a:rPr>
              <a:t>. </a:t>
            </a:r>
            <a:r>
              <a:rPr sz="1400" b="0">
                <a:solidFill>
                  <a:srgbClr val="657184"/>
                </a:solidFill>
                <a:latin typeface="Aptos"/>
                <a:ea typeface="Aptos"/>
                <a:cs typeface="Aptos"/>
              </a:rPr>
              <a:t>Правило</a:t>
            </a:r>
            <a:r>
              <a:rPr sz="1400" b="0">
                <a:solidFill>
                  <a:srgbClr val="657184"/>
                </a:solidFill>
                <a:latin typeface="Aptos"/>
                <a:ea typeface="Aptos"/>
                <a:cs typeface="Aptos"/>
              </a:rPr>
              <a:t> </a:t>
            </a:r>
            <a:r>
              <a:rPr sz="1400" b="0">
                <a:solidFill>
                  <a:srgbClr val="657184"/>
                </a:solidFill>
                <a:latin typeface="Aptos"/>
                <a:ea typeface="Aptos"/>
                <a:cs typeface="Aptos"/>
              </a:rPr>
              <a:t>расуто</a:t>
            </a:r>
            <a:r>
              <a:rPr sz="1400" b="0">
                <a:solidFill>
                  <a:srgbClr val="657184"/>
                </a:solidFill>
                <a:latin typeface="Aptos"/>
                <a:ea typeface="Aptos"/>
                <a:cs typeface="Aptos"/>
              </a:rPr>
              <a:t> </a:t>
            </a:r>
            <a:r>
              <a:rPr sz="1400" b="0">
                <a:solidFill>
                  <a:srgbClr val="657184"/>
                </a:solidFill>
                <a:latin typeface="Aptos"/>
                <a:ea typeface="Aptos"/>
                <a:cs typeface="Aptos"/>
              </a:rPr>
              <a:t>кроз</a:t>
            </a:r>
            <a:r>
              <a:rPr sz="1400" b="0">
                <a:solidFill>
                  <a:srgbClr val="657184"/>
                </a:solidFill>
                <a:latin typeface="Aptos"/>
                <a:ea typeface="Aptos"/>
                <a:cs typeface="Aptos"/>
              </a:rPr>
              <a:t> </a:t>
            </a:r>
            <a:r>
              <a:rPr sz="1400" b="0">
                <a:solidFill>
                  <a:srgbClr val="657184"/>
                </a:solidFill>
                <a:latin typeface="Aptos"/>
                <a:ea typeface="Aptos"/>
                <a:cs typeface="Aptos"/>
              </a:rPr>
              <a:t>неколико</a:t>
            </a:r>
            <a:r>
              <a:rPr sz="1400" b="0">
                <a:solidFill>
                  <a:srgbClr val="657184"/>
                </a:solidFill>
                <a:latin typeface="Aptos"/>
                <a:ea typeface="Aptos"/>
                <a:cs typeface="Aptos"/>
              </a:rPr>
              <a:t> </a:t>
            </a:r>
            <a:r>
              <a:rPr sz="1400" b="0">
                <a:solidFill>
                  <a:srgbClr val="657184"/>
                </a:solidFill>
                <a:latin typeface="Aptos"/>
                <a:ea typeface="Aptos"/>
                <a:cs typeface="Aptos"/>
              </a:rPr>
              <a:t>метода</a:t>
            </a:r>
            <a:r>
              <a:rPr sz="1400" b="0">
                <a:solidFill>
                  <a:srgbClr val="657184"/>
                </a:solidFill>
                <a:latin typeface="Aptos"/>
                <a:ea typeface="Aptos"/>
                <a:cs typeface="Aptos"/>
              </a:rPr>
              <a:t> </a:t>
            </a:r>
            <a:r>
              <a:rPr sz="1400" b="0">
                <a:solidFill>
                  <a:srgbClr val="657184"/>
                </a:solidFill>
                <a:latin typeface="Aptos"/>
                <a:ea typeface="Aptos"/>
                <a:cs typeface="Aptos"/>
              </a:rPr>
              <a:t>није</a:t>
            </a:r>
            <a:r>
              <a:rPr sz="1400" b="0">
                <a:solidFill>
                  <a:srgbClr val="657184"/>
                </a:solidFill>
                <a:latin typeface="Aptos"/>
                <a:ea typeface="Aptos"/>
                <a:cs typeface="Aptos"/>
              </a:rPr>
              <a:t> </a:t>
            </a:r>
            <a:r>
              <a:rPr sz="1400" b="0">
                <a:solidFill>
                  <a:srgbClr val="657184"/>
                </a:solidFill>
                <a:latin typeface="Aptos"/>
                <a:ea typeface="Aptos"/>
                <a:cs typeface="Aptos"/>
              </a:rPr>
              <a:t>лако</a:t>
            </a:r>
            <a:r>
              <a:rPr sz="1400" b="0">
                <a:solidFill>
                  <a:srgbClr val="657184"/>
                </a:solidFill>
                <a:latin typeface="Aptos"/>
                <a:ea typeface="Aptos"/>
                <a:cs typeface="Aptos"/>
              </a:rPr>
              <a:t> </a:t>
            </a:r>
            <a:r>
              <a:rPr sz="1400" b="0">
                <a:solidFill>
                  <a:srgbClr val="657184"/>
                </a:solidFill>
                <a:latin typeface="Aptos"/>
                <a:ea typeface="Aptos"/>
                <a:cs typeface="Aptos"/>
              </a:rPr>
              <a:t>објаснити</a:t>
            </a:r>
            <a:r>
              <a:rPr sz="1400" b="0">
                <a:solidFill>
                  <a:srgbClr val="657184"/>
                </a:solidFill>
                <a:latin typeface="Aptos"/>
                <a:ea typeface="Aptos"/>
                <a:cs typeface="Aptos"/>
              </a:rPr>
              <a:t>, </a:t>
            </a:r>
            <a:r>
              <a:rPr sz="1400" b="0">
                <a:solidFill>
                  <a:srgbClr val="657184"/>
                </a:solidFill>
                <a:latin typeface="Aptos"/>
                <a:ea typeface="Aptos"/>
                <a:cs typeface="Aptos"/>
              </a:rPr>
              <a:t>прегледати</a:t>
            </a:r>
            <a:r>
              <a:rPr sz="1400" b="0">
                <a:solidFill>
                  <a:srgbClr val="657184"/>
                </a:solidFill>
                <a:latin typeface="Aptos"/>
                <a:ea typeface="Aptos"/>
                <a:cs typeface="Aptos"/>
              </a:rPr>
              <a:t> </a:t>
            </a:r>
            <a:r>
              <a:rPr sz="1400" b="0">
                <a:solidFill>
                  <a:srgbClr val="657184"/>
                </a:solidFill>
                <a:latin typeface="Aptos"/>
                <a:ea typeface="Aptos"/>
                <a:cs typeface="Aptos"/>
              </a:rPr>
              <a:t>нити</a:t>
            </a:r>
            <a:r>
              <a:rPr sz="1400" b="0">
                <a:solidFill>
                  <a:srgbClr val="657184"/>
                </a:solidFill>
                <a:latin typeface="Aptos"/>
                <a:ea typeface="Aptos"/>
                <a:cs typeface="Aptos"/>
              </a:rPr>
              <a:t> </a:t>
            </a:r>
            <a:r>
              <a:rPr sz="1400" b="0">
                <a:solidFill>
                  <a:srgbClr val="657184"/>
                </a:solidFill>
                <a:latin typeface="Aptos"/>
                <a:ea typeface="Aptos"/>
                <a:cs typeface="Aptos"/>
              </a:rPr>
              <a:t>променити</a:t>
            </a:r>
            <a:r>
              <a:rPr sz="1400" b="0">
                <a:solidFill>
                  <a:srgbClr val="657184"/>
                </a:solidFill>
                <a:latin typeface="Aptos"/>
                <a:ea typeface="Aptos"/>
                <a:cs typeface="Aptos"/>
              </a:rPr>
              <a:t> </a:t>
            </a:r>
            <a:r>
              <a:rPr sz="1400" b="0">
                <a:solidFill>
                  <a:srgbClr val="657184"/>
                </a:solidFill>
                <a:latin typeface="Aptos"/>
                <a:ea typeface="Aptos"/>
                <a:cs typeface="Aptos"/>
              </a:rPr>
              <a:t>без</a:t>
            </a:r>
            <a:r>
              <a:rPr sz="1400" b="0">
                <a:solidFill>
                  <a:srgbClr val="657184"/>
                </a:solidFill>
                <a:latin typeface="Aptos"/>
                <a:ea typeface="Aptos"/>
                <a:cs typeface="Aptos"/>
              </a:rPr>
              <a:t> </a:t>
            </a:r>
            <a:r>
              <a:rPr sz="1400" b="0">
                <a:solidFill>
                  <a:srgbClr val="657184"/>
                </a:solidFill>
                <a:latin typeface="Aptos"/>
                <a:ea typeface="Aptos"/>
                <a:cs typeface="Aptos"/>
              </a:rPr>
              <a:t>нежељених</a:t>
            </a:r>
            <a:r>
              <a:rPr sz="1400" b="0">
                <a:solidFill>
                  <a:srgbClr val="657184"/>
                </a:solidFill>
                <a:latin typeface="Aptos"/>
                <a:ea typeface="Aptos"/>
                <a:cs typeface="Aptos"/>
              </a:rPr>
              <a:t> </a:t>
            </a:r>
            <a:r>
              <a:rPr sz="1400" b="0">
                <a:solidFill>
                  <a:srgbClr val="657184"/>
                </a:solidFill>
                <a:latin typeface="Aptos"/>
                <a:ea typeface="Aptos"/>
                <a:cs typeface="Aptos"/>
              </a:rPr>
              <a:t>последица</a:t>
            </a:r>
            <a:r>
              <a:rPr sz="1400" b="0">
                <a:solidFill>
                  <a:srgbClr val="657184"/>
                </a:solidFill>
                <a:latin typeface="Aptos"/>
                <a:ea typeface="Aptos"/>
                <a:cs typeface="Aptos"/>
              </a:rPr>
              <a:t>. </a:t>
            </a:r>
            <a:r>
              <a:rPr sz="1400" b="0">
                <a:solidFill>
                  <a:srgbClr val="657184"/>
                </a:solidFill>
                <a:latin typeface="Aptos"/>
                <a:ea typeface="Aptos"/>
                <a:cs typeface="Aptos"/>
              </a:rPr>
              <a:t>Политика</a:t>
            </a:r>
            <a:r>
              <a:rPr sz="1400" b="0">
                <a:solidFill>
                  <a:srgbClr val="657184"/>
                </a:solidFill>
                <a:latin typeface="Aptos"/>
                <a:ea typeface="Aptos"/>
                <a:cs typeface="Aptos"/>
              </a:rPr>
              <a:t> </a:t>
            </a:r>
            <a:r>
              <a:rPr sz="1400" b="0">
                <a:solidFill>
                  <a:srgbClr val="657184"/>
                </a:solidFill>
                <a:latin typeface="Aptos"/>
                <a:ea typeface="Aptos"/>
                <a:cs typeface="Aptos"/>
              </a:rPr>
              <a:t>зато</a:t>
            </a:r>
            <a:r>
              <a:rPr sz="1400" b="0">
                <a:solidFill>
                  <a:srgbClr val="657184"/>
                </a:solidFill>
                <a:latin typeface="Aptos"/>
                <a:ea typeface="Aptos"/>
                <a:cs typeface="Aptos"/>
              </a:rPr>
              <a:t> </a:t>
            </a:r>
            <a:r>
              <a:rPr sz="1400" b="0">
                <a:solidFill>
                  <a:srgbClr val="657184"/>
                </a:solidFill>
                <a:latin typeface="Aptos"/>
                <a:ea typeface="Aptos"/>
                <a:cs typeface="Aptos"/>
              </a:rPr>
              <a:t>представља</a:t>
            </a:r>
            <a:r>
              <a:rPr sz="1400" b="0">
                <a:solidFill>
                  <a:srgbClr val="657184"/>
                </a:solidFill>
                <a:latin typeface="Aptos"/>
                <a:ea typeface="Aptos"/>
                <a:cs typeface="Aptos"/>
              </a:rPr>
              <a:t> </a:t>
            </a:r>
            <a:r>
              <a:rPr sz="1400" b="0">
                <a:solidFill>
                  <a:srgbClr val="657184"/>
                </a:solidFill>
                <a:latin typeface="Aptos"/>
                <a:ea typeface="Aptos"/>
                <a:cs typeface="Aptos"/>
              </a:rPr>
              <a:t>договорено</a:t>
            </a:r>
            <a:r>
              <a:rPr sz="1400" b="0">
                <a:solidFill>
                  <a:srgbClr val="657184"/>
                </a:solidFill>
                <a:latin typeface="Aptos"/>
                <a:ea typeface="Aptos"/>
                <a:cs typeface="Aptos"/>
              </a:rPr>
              <a:t> </a:t>
            </a:r>
            <a:r>
              <a:rPr sz="1400" b="0">
                <a:solidFill>
                  <a:srgbClr val="657184"/>
                </a:solidFill>
                <a:latin typeface="Aptos"/>
                <a:ea typeface="Aptos"/>
                <a:cs typeface="Aptos"/>
              </a:rPr>
              <a:t>правило</a:t>
            </a:r>
            <a:r>
              <a:rPr sz="1400" b="0">
                <a:solidFill>
                  <a:srgbClr val="657184"/>
                </a:solidFill>
                <a:latin typeface="Aptos"/>
                <a:ea typeface="Aptos"/>
                <a:cs typeface="Aptos"/>
              </a:rPr>
              <a:t>, </a:t>
            </a:r>
            <a:r>
              <a:rPr sz="1400" b="0">
                <a:solidFill>
                  <a:srgbClr val="657184"/>
                </a:solidFill>
                <a:latin typeface="Aptos"/>
                <a:ea typeface="Aptos"/>
                <a:cs typeface="Aptos"/>
              </a:rPr>
              <a:t>а</a:t>
            </a:r>
            <a:r>
              <a:rPr sz="1400" b="0">
                <a:solidFill>
                  <a:srgbClr val="657184"/>
                </a:solidFill>
                <a:latin typeface="Aptos"/>
                <a:ea typeface="Aptos"/>
                <a:cs typeface="Aptos"/>
              </a:rPr>
              <a:t> </a:t>
            </a:r>
            <a:r>
              <a:rPr sz="1400" b="0">
                <a:solidFill>
                  <a:srgbClr val="657184"/>
                </a:solidFill>
                <a:latin typeface="Aptos"/>
                <a:ea typeface="Aptos"/>
                <a:cs typeface="Aptos"/>
              </a:rPr>
              <a:t>конфигурација</a:t>
            </a:r>
            <a:r>
              <a:rPr sz="1400" b="0">
                <a:solidFill>
                  <a:srgbClr val="657184"/>
                </a:solidFill>
                <a:latin typeface="Aptos"/>
                <a:ea typeface="Aptos"/>
                <a:cs typeface="Aptos"/>
              </a:rPr>
              <a:t> </a:t>
            </a:r>
            <a:r>
              <a:rPr sz="1400" b="0">
                <a:solidFill>
                  <a:srgbClr val="657184"/>
                </a:solidFill>
                <a:latin typeface="Aptos"/>
                <a:ea typeface="Aptos"/>
                <a:cs typeface="Aptos"/>
              </a:rPr>
              <a:t>његову</a:t>
            </a:r>
            <a:r>
              <a:rPr sz="1400" b="0">
                <a:solidFill>
                  <a:srgbClr val="657184"/>
                </a:solidFill>
                <a:latin typeface="Aptos"/>
                <a:ea typeface="Aptos"/>
                <a:cs typeface="Aptos"/>
              </a:rPr>
              <a:t> </a:t>
            </a:r>
            <a:r>
              <a:rPr sz="1400" b="0">
                <a:solidFill>
                  <a:srgbClr val="657184"/>
                </a:solidFill>
                <a:latin typeface="Aptos"/>
                <a:ea typeface="Aptos"/>
                <a:cs typeface="Aptos"/>
              </a:rPr>
              <a:t>примену</a:t>
            </a:r>
            <a:r>
              <a:rPr sz="1400" b="0">
                <a:solidFill>
                  <a:srgbClr val="657184"/>
                </a:solidFill>
                <a:latin typeface="Aptos"/>
                <a:ea typeface="Aptos"/>
                <a:cs typeface="Aptos"/>
              </a:rPr>
              <a:t> </a:t>
            </a:r>
            <a:r>
              <a:rPr sz="1400" b="0">
                <a:solidFill>
                  <a:srgbClr val="657184"/>
                </a:solidFill>
                <a:latin typeface="Aptos"/>
                <a:ea typeface="Aptos"/>
                <a:cs typeface="Aptos"/>
              </a:rPr>
              <a:t>у</a:t>
            </a:r>
            <a:r>
              <a:rPr sz="1400" b="0">
                <a:solidFill>
                  <a:srgbClr val="657184"/>
                </a:solidFill>
                <a:latin typeface="Aptos"/>
                <a:ea typeface="Aptos"/>
                <a:cs typeface="Aptos"/>
              </a:rPr>
              <a:t> </a:t>
            </a:r>
            <a:r>
              <a:rPr sz="1400" b="0">
                <a:solidFill>
                  <a:srgbClr val="657184"/>
                </a:solidFill>
                <a:latin typeface="Aptos"/>
                <a:ea typeface="Aptos"/>
                <a:cs typeface="Aptos"/>
              </a:rPr>
              <a:t>конкретном</a:t>
            </a:r>
            <a:r>
              <a:rPr sz="1400" b="0">
                <a:solidFill>
                  <a:srgbClr val="657184"/>
                </a:solidFill>
                <a:latin typeface="Aptos"/>
                <a:ea typeface="Aptos"/>
                <a:cs typeface="Aptos"/>
              </a:rPr>
              <a:t> </a:t>
            </a:r>
            <a:r>
              <a:rPr sz="1400" b="0">
                <a:solidFill>
                  <a:srgbClr val="657184"/>
                </a:solidFill>
                <a:latin typeface="Aptos"/>
                <a:ea typeface="Aptos"/>
                <a:cs typeface="Aptos"/>
              </a:rPr>
              <a:t>окружењу</a:t>
            </a:r>
            <a:r>
              <a:rPr sz="1400" b="0">
                <a:solidFill>
                  <a:srgbClr val="657184"/>
                </a:solidFill>
                <a:latin typeface="Aptos"/>
                <a:ea typeface="Aptos"/>
                <a:cs typeface="Aptos"/>
              </a:rPr>
              <a:t>.</a:t>
            </a:r>
          </a:p>
        </p:txBody>
      </p:sp>
      <p:sp>
        <p:nvSpPr>
          <p:cNvPr id="10" name="Rounded Rectangle 9">
            <a:extLst xmlns:a="http://schemas.openxmlformats.org/drawingml/2006/main">
              <a:ext uri="{FF2B5EF4-FFF2-40B4-BE49-F238E27FC236}">
                <a16:creationId xmlns:a16="http://schemas.microsoft.com/office/drawing/2014/main" id="{832CD039-EC74-4857-9FA5-D25A12B1B854}"/>
              </a:ext>
            </a:extLst>
          </p:cNvPr>
          <p:cNvSpPr>
            <a:spLocks xmlns:a="http://schemas.openxmlformats.org/drawingml/2006/main" noGrp="1"/>
          </p:cNvSpPr>
          <p:nvPr/>
        </p:nvSpPr>
        <p:spPr>
          <a:xfrm xmlns:a="http://schemas.openxmlformats.org/drawingml/2006/main">
            <a:off x="4467225" y="2571750"/>
            <a:ext cx="3257550" cy="3403748"/>
          </a:xfrm>
          <a:prstGeom xmlns:a="http://schemas.openxmlformats.org/drawingml/2006/main" prst="roundRect">
            <a:avLst>
              <a:gd name="adj" fmla="val 5983"/>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7A8CF12D-056B-4A9C-ABA2-B9B51F23157F}"/>
              </a:ext>
            </a:extLst>
          </p:cNvPr>
          <p:cNvSpPr>
            <a:spLocks xmlns:a="http://schemas.openxmlformats.org/drawingml/2006/main" noGrp="1"/>
          </p:cNvSpPr>
          <p:nvPr/>
        </p:nvSpPr>
        <p:spPr>
          <a:xfrm xmlns:a="http://schemas.openxmlformats.org/drawingml/2006/main">
            <a:off x="4619625"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ЗНАЧАЈ</a:t>
            </a:r>
          </a:p>
        </p:txBody>
      </p:sp>
      <p:sp>
        <p:nvSpPr>
          <p:cNvPr id="12" name="Rectangle 11">
            <a:extLst xmlns:a="http://schemas.openxmlformats.org/drawingml/2006/main">
              <a:ext uri="{FF2B5EF4-FFF2-40B4-BE49-F238E27FC236}">
                <a16:creationId xmlns:a16="http://schemas.microsoft.com/office/drawing/2014/main" id="{5085B7B9-1DA9-4A3F-91C8-5F0E1A7AC5CF}"/>
              </a:ext>
            </a:extLst>
          </p:cNvPr>
          <p:cNvSpPr>
            <a:spLocks xmlns:a="http://schemas.openxmlformats.org/drawingml/2006/main" noGrp="1"/>
          </p:cNvSpPr>
          <p:nvPr/>
        </p:nvSpPr>
        <p:spPr>
          <a:xfrm xmlns:a="http://schemas.openxmlformats.org/drawingml/2006/main">
            <a:off x="4619625"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Значај за безбедност система</a:t>
            </a:r>
          </a:p>
        </p:txBody>
      </p:sp>
      <p:sp>
        <p:nvSpPr>
          <p:cNvPr id="13" name="Rectangle 12">
            <a:extLst xmlns:a="http://schemas.openxmlformats.org/drawingml/2006/main">
              <a:ext uri="{FF2B5EF4-FFF2-40B4-BE49-F238E27FC236}">
                <a16:creationId xmlns:a16="http://schemas.microsoft.com/office/drawing/2014/main" id="{4CA75B84-3137-471C-9DCC-65F436D1081D}"/>
              </a:ext>
            </a:extLst>
          </p:cNvPr>
          <p:cNvSpPr>
            <a:spLocks xmlns:a="http://schemas.openxmlformats.org/drawingml/2006/main" noGrp="1"/>
          </p:cNvSpPr>
          <p:nvPr/>
        </p:nvSpPr>
        <p:spPr>
          <a:xfrm xmlns:a="http://schemas.openxmlformats.org/drawingml/2006/main">
            <a:off x="4619625"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400" b="0">
                <a:solidFill>
                  <a:srgbClr val="657184"/>
                </a:solidFill>
                <a:latin typeface="Aptos"/>
                <a:ea typeface="Aptos"/>
                <a:cs typeface="Aptos"/>
              </a:rPr>
              <a:t>Видљивост не служи само реаговању на инцидент. Она омогућава тиму да разуме одлуку система, прати одступање од очекиваног стања и повеже догађаје кроз различите слојеве апликације.</a:t>
            </a:r>
          </a:p>
        </p:txBody>
      </p:sp>
      <p:sp>
        <p:nvSpPr>
          <p:cNvPr id="14" name="Rounded Rectangle 13">
            <a:extLst xmlns:a="http://schemas.openxmlformats.org/drawingml/2006/main">
              <a:ext uri="{FF2B5EF4-FFF2-40B4-BE49-F238E27FC236}">
                <a16:creationId xmlns:a16="http://schemas.microsoft.com/office/drawing/2014/main" id="{E4C6E158-A719-43E7-979A-E1346EBB470D}"/>
              </a:ext>
            </a:extLst>
          </p:cNvPr>
          <p:cNvSpPr>
            <a:spLocks xmlns:a="http://schemas.openxmlformats.org/drawingml/2006/main" noGrp="1"/>
          </p:cNvSpPr>
          <p:nvPr/>
        </p:nvSpPr>
        <p:spPr>
          <a:xfrm xmlns:a="http://schemas.openxmlformats.org/drawingml/2006/main">
            <a:off x="8115300" y="2571750"/>
            <a:ext cx="3257550" cy="3403748"/>
          </a:xfrm>
          <a:prstGeom xmlns:a="http://schemas.openxmlformats.org/drawingml/2006/main" prst="roundRect">
            <a:avLst>
              <a:gd name="adj" fmla="val 5983"/>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D5F7C48-99F8-44FC-BD6C-4B015E99A27C}"/>
              </a:ext>
            </a:extLst>
          </p:cNvPr>
          <p:cNvSpPr>
            <a:spLocks xmlns:a="http://schemas.openxmlformats.org/drawingml/2006/main" noGrp="1"/>
          </p:cNvSpPr>
          <p:nvPr/>
        </p:nvSpPr>
        <p:spPr>
          <a:xfrm xmlns:a="http://schemas.openxmlformats.org/drawingml/2006/main">
            <a:off x="826770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КРИТЕРИЈУМ ПРОВЕРЕ</a:t>
            </a:r>
          </a:p>
        </p:txBody>
      </p:sp>
      <p:sp>
        <p:nvSpPr>
          <p:cNvPr id="16" name="Rectangle 15">
            <a:extLst xmlns:a="http://schemas.openxmlformats.org/drawingml/2006/main">
              <a:ext uri="{FF2B5EF4-FFF2-40B4-BE49-F238E27FC236}">
                <a16:creationId xmlns:a16="http://schemas.microsoft.com/office/drawing/2014/main" id="{BFE9E6CB-7FEF-4168-AEB8-7E2736EE155D}"/>
              </a:ext>
            </a:extLst>
          </p:cNvPr>
          <p:cNvSpPr>
            <a:spLocks xmlns:a="http://schemas.openxmlformats.org/drawingml/2006/main" noGrp="1"/>
          </p:cNvSpPr>
          <p:nvPr/>
        </p:nvSpPr>
        <p:spPr>
          <a:xfrm xmlns:a="http://schemas.openxmlformats.org/drawingml/2006/main">
            <a:off x="826770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Проверљив резултат</a:t>
            </a:r>
          </a:p>
        </p:txBody>
      </p:sp>
      <p:sp>
        <p:nvSpPr>
          <p:cNvPr id="17" name="Rectangle 16">
            <a:extLst xmlns:a="http://schemas.openxmlformats.org/drawingml/2006/main">
              <a:ext uri="{FF2B5EF4-FFF2-40B4-BE49-F238E27FC236}">
                <a16:creationId xmlns:a16="http://schemas.microsoft.com/office/drawing/2014/main" id="{2D144422-02B9-4562-8A7F-95341A970C70}"/>
              </a:ext>
            </a:extLst>
          </p:cNvPr>
          <p:cNvSpPr>
            <a:spLocks xmlns:a="http://schemas.openxmlformats.org/drawingml/2006/main" noGrp="1"/>
          </p:cNvSpPr>
          <p:nvPr/>
        </p:nvSpPr>
        <p:spPr>
          <a:xfrm xmlns:a="http://schemas.openxmlformats.org/drawingml/2006/main">
            <a:off x="826770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40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108669893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12CBCD4F-64F0-4AAE-B904-A3CA85697D0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60EF00A-BFF0-4F3B-B083-4E793D8229D1}"/>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B877F3C-53C7-4CD8-B9F9-E9F18F4F53D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xmlns:a="http://schemas.openxmlformats.org/drawingml/2006/main">
              <a:ext uri="{FF2B5EF4-FFF2-40B4-BE49-F238E27FC236}">
                <a16:creationId xmlns:a16="http://schemas.microsoft.com/office/drawing/2014/main" id="{9D30F9CD-9352-44CB-84B2-8273E051BED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Основни појмови</a:t>
            </a:r>
          </a:p>
        </p:txBody>
      </p:sp>
      <p:sp>
        <p:nvSpPr>
          <p:cNvPr id="5" name="Rectangle 4">
            <a:extLst xmlns:a="http://schemas.openxmlformats.org/drawingml/2006/main">
              <a:ext uri="{FF2B5EF4-FFF2-40B4-BE49-F238E27FC236}">
                <a16:creationId xmlns:a16="http://schemas.microsoft.com/office/drawing/2014/main" id="{58076A4F-9074-4122-9C61-57022441873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Политика, конфигурација, контрола и доказ имају различите улоге у управљању безбедносним правилом.</a:t>
            </a:r>
          </a:p>
        </p:txBody>
      </p:sp>
      <p:sp>
        <p:nvSpPr>
          <p:cNvPr id="6" name="Rounded Rectangle 5">
            <a:extLst xmlns:a="http://schemas.openxmlformats.org/drawingml/2006/main">
              <a:ext uri="{FF2B5EF4-FFF2-40B4-BE49-F238E27FC236}">
                <a16:creationId xmlns:a16="http://schemas.microsoft.com/office/drawing/2014/main" id="{3562995B-8CF5-4128-A948-DF58AA1C262B}"/>
              </a:ext>
            </a:extLst>
          </p:cNvPr>
          <p:cNvSpPr>
            <a:spLocks xmlns:a="http://schemas.openxmlformats.org/drawingml/2006/main" noGrp="1"/>
          </p:cNvSpPr>
          <p:nvPr/>
        </p:nvSpPr>
        <p:spPr>
          <a:xfrm xmlns:a="http://schemas.openxmlformats.org/drawingml/2006/main">
            <a:off x="723900" y="241935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215EEB78-87A1-4728-B157-054059F12430}"/>
              </a:ext>
            </a:extLst>
          </p:cNvPr>
          <p:cNvSpPr>
            <a:spLocks xmlns:a="http://schemas.openxmlformats.org/drawingml/2006/main" noGrp="1"/>
          </p:cNvSpPr>
          <p:nvPr/>
        </p:nvSpPr>
        <p:spPr>
          <a:xfrm xmlns:a="http://schemas.openxmlformats.org/drawingml/2006/main">
            <a:off x="866775"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56610C23-9FA7-470D-89DF-3C382DE253E9}"/>
              </a:ext>
            </a:extLst>
          </p:cNvPr>
          <p:cNvSpPr>
            <a:spLocks xmlns:a="http://schemas.openxmlformats.org/drawingml/2006/main" noGrp="1"/>
          </p:cNvSpPr>
          <p:nvPr/>
        </p:nvSpPr>
        <p:spPr>
          <a:xfrm xmlns:a="http://schemas.openxmlformats.org/drawingml/2006/main">
            <a:off x="857250"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xmlns:a="http://schemas.openxmlformats.org/drawingml/2006/main">
              <a:ext uri="{FF2B5EF4-FFF2-40B4-BE49-F238E27FC236}">
                <a16:creationId xmlns:a16="http://schemas.microsoft.com/office/drawing/2014/main" id="{36318DF3-47E3-4324-8988-A5499D676911}"/>
              </a:ext>
            </a:extLst>
          </p:cNvPr>
          <p:cNvSpPr>
            <a:spLocks xmlns:a="http://schemas.openxmlformats.org/drawingml/2006/main" noGrp="1"/>
          </p:cNvSpPr>
          <p:nvPr/>
        </p:nvSpPr>
        <p:spPr>
          <a:xfrm xmlns:a="http://schemas.openxmlformats.org/drawingml/2006/main">
            <a:off x="866775"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организација очекује</a:t>
            </a:r>
          </a:p>
        </p:txBody>
      </p:sp>
      <p:sp>
        <p:nvSpPr>
          <p:cNvPr id="10" name="Rounded Rectangle 9">
            <a:extLst xmlns:a="http://schemas.openxmlformats.org/drawingml/2006/main">
              <a:ext uri="{FF2B5EF4-FFF2-40B4-BE49-F238E27FC236}">
                <a16:creationId xmlns:a16="http://schemas.microsoft.com/office/drawing/2014/main" id="{411D61AB-E8F1-4AC6-825B-31FBB60659BE}"/>
              </a:ext>
            </a:extLst>
          </p:cNvPr>
          <p:cNvSpPr>
            <a:spLocks xmlns:a="http://schemas.openxmlformats.org/drawingml/2006/main" noGrp="1"/>
          </p:cNvSpPr>
          <p:nvPr/>
        </p:nvSpPr>
        <p:spPr>
          <a:xfrm xmlns:a="http://schemas.openxmlformats.org/drawingml/2006/main">
            <a:off x="3481388" y="241935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DC41124F-CBE9-41C2-AC35-0F5871A16BE9}"/>
              </a:ext>
            </a:extLst>
          </p:cNvPr>
          <p:cNvSpPr>
            <a:spLocks xmlns:a="http://schemas.openxmlformats.org/drawingml/2006/main" noGrp="1"/>
          </p:cNvSpPr>
          <p:nvPr/>
        </p:nvSpPr>
        <p:spPr>
          <a:xfrm xmlns:a="http://schemas.openxmlformats.org/drawingml/2006/main">
            <a:off x="3624263"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6602FB1-C493-45C3-9C17-9A0FF4E6DE2F}"/>
              </a:ext>
            </a:extLst>
          </p:cNvPr>
          <p:cNvSpPr>
            <a:spLocks xmlns:a="http://schemas.openxmlformats.org/drawingml/2006/main" noGrp="1"/>
          </p:cNvSpPr>
          <p:nvPr/>
        </p:nvSpPr>
        <p:spPr>
          <a:xfrm xmlns:a="http://schemas.openxmlformats.org/drawingml/2006/main">
            <a:off x="3614738"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xmlns:a="http://schemas.openxmlformats.org/drawingml/2006/main">
              <a:ext uri="{FF2B5EF4-FFF2-40B4-BE49-F238E27FC236}">
                <a16:creationId xmlns:a16="http://schemas.microsoft.com/office/drawing/2014/main" id="{BF7AC32F-C3A2-4B59-8B03-B99BD56C63EF}"/>
              </a:ext>
            </a:extLst>
          </p:cNvPr>
          <p:cNvSpPr>
            <a:spLocks xmlns:a="http://schemas.openxmlformats.org/drawingml/2006/main" noGrp="1"/>
          </p:cNvSpPr>
          <p:nvPr/>
        </p:nvSpPr>
        <p:spPr>
          <a:xfrm xmlns:a="http://schemas.openxmlformats.org/drawingml/2006/main">
            <a:off x="3624263"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како се правило примењује</a:t>
            </a:r>
          </a:p>
        </p:txBody>
      </p:sp>
      <p:sp>
        <p:nvSpPr>
          <p:cNvPr id="14" name="Rounded Rectangle 13">
            <a:extLst xmlns:a="http://schemas.openxmlformats.org/drawingml/2006/main">
              <a:ext uri="{FF2B5EF4-FFF2-40B4-BE49-F238E27FC236}">
                <a16:creationId xmlns:a16="http://schemas.microsoft.com/office/drawing/2014/main" id="{6ABECE30-38B4-49FA-8712-FFE3E2965100}"/>
              </a:ext>
            </a:extLst>
          </p:cNvPr>
          <p:cNvSpPr>
            <a:spLocks xmlns:a="http://schemas.openxmlformats.org/drawingml/2006/main" noGrp="1"/>
          </p:cNvSpPr>
          <p:nvPr/>
        </p:nvSpPr>
        <p:spPr>
          <a:xfrm xmlns:a="http://schemas.openxmlformats.org/drawingml/2006/main">
            <a:off x="6238875" y="2419350"/>
            <a:ext cx="24717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E9178C4E-8CDD-4AB9-8088-6BD58C83A7EA}"/>
              </a:ext>
            </a:extLst>
          </p:cNvPr>
          <p:cNvSpPr>
            <a:spLocks xmlns:a="http://schemas.openxmlformats.org/drawingml/2006/main" noGrp="1"/>
          </p:cNvSpPr>
          <p:nvPr/>
        </p:nvSpPr>
        <p:spPr>
          <a:xfrm xmlns:a="http://schemas.openxmlformats.org/drawingml/2006/main">
            <a:off x="6381750"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F2FA0BA6-2635-43B8-8DA7-BE7E74207388}"/>
              </a:ext>
            </a:extLst>
          </p:cNvPr>
          <p:cNvSpPr>
            <a:spLocks xmlns:a="http://schemas.openxmlformats.org/drawingml/2006/main" noGrp="1"/>
          </p:cNvSpPr>
          <p:nvPr/>
        </p:nvSpPr>
        <p:spPr>
          <a:xfrm xmlns:a="http://schemas.openxmlformats.org/drawingml/2006/main">
            <a:off x="6372225"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xmlns:a="http://schemas.openxmlformats.org/drawingml/2006/main">
              <a:ext uri="{FF2B5EF4-FFF2-40B4-BE49-F238E27FC236}">
                <a16:creationId xmlns:a16="http://schemas.microsoft.com/office/drawing/2014/main" id="{B5D92E08-0AC8-4859-AAC2-5AE251CE3DC9}"/>
              </a:ext>
            </a:extLst>
          </p:cNvPr>
          <p:cNvSpPr>
            <a:spLocks xmlns:a="http://schemas.openxmlformats.org/drawingml/2006/main" noGrp="1"/>
          </p:cNvSpPr>
          <p:nvPr/>
        </p:nvSpPr>
        <p:spPr>
          <a:xfrm xmlns:a="http://schemas.openxmlformats.org/drawingml/2006/main">
            <a:off x="6381750"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механизам заштите</a:t>
            </a:r>
          </a:p>
        </p:txBody>
      </p:sp>
      <p:sp>
        <p:nvSpPr>
          <p:cNvPr id="18" name="Rounded Rectangle 17">
            <a:extLst xmlns:a="http://schemas.openxmlformats.org/drawingml/2006/main">
              <a:ext uri="{FF2B5EF4-FFF2-40B4-BE49-F238E27FC236}">
                <a16:creationId xmlns:a16="http://schemas.microsoft.com/office/drawing/2014/main" id="{0C276F26-550B-4A11-96BC-28169D5AF090}"/>
              </a:ext>
            </a:extLst>
          </p:cNvPr>
          <p:cNvSpPr>
            <a:spLocks xmlns:a="http://schemas.openxmlformats.org/drawingml/2006/main" noGrp="1"/>
          </p:cNvSpPr>
          <p:nvPr/>
        </p:nvSpPr>
        <p:spPr>
          <a:xfrm xmlns:a="http://schemas.openxmlformats.org/drawingml/2006/main">
            <a:off x="8996363" y="241935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18B3B29-3C9E-4470-A194-9D56F73AD434}"/>
              </a:ext>
            </a:extLst>
          </p:cNvPr>
          <p:cNvSpPr>
            <a:spLocks xmlns:a="http://schemas.openxmlformats.org/drawingml/2006/main" noGrp="1"/>
          </p:cNvSpPr>
          <p:nvPr/>
        </p:nvSpPr>
        <p:spPr>
          <a:xfrm xmlns:a="http://schemas.openxmlformats.org/drawingml/2006/main">
            <a:off x="9139238"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DC12D173-1F79-45A3-B9F4-1C7B9FCFE36A}"/>
              </a:ext>
            </a:extLst>
          </p:cNvPr>
          <p:cNvSpPr>
            <a:spLocks xmlns:a="http://schemas.openxmlformats.org/drawingml/2006/main" noGrp="1"/>
          </p:cNvSpPr>
          <p:nvPr/>
        </p:nvSpPr>
        <p:spPr>
          <a:xfrm xmlns:a="http://schemas.openxmlformats.org/drawingml/2006/main">
            <a:off x="9129713"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xmlns:a="http://schemas.openxmlformats.org/drawingml/2006/main">
              <a:ext uri="{FF2B5EF4-FFF2-40B4-BE49-F238E27FC236}">
                <a16:creationId xmlns:a16="http://schemas.microsoft.com/office/drawing/2014/main" id="{F4FAA62D-4228-4CE4-BE35-1A4C2DD2383C}"/>
              </a:ext>
            </a:extLst>
          </p:cNvPr>
          <p:cNvSpPr>
            <a:spLocks xmlns:a="http://schemas.openxmlformats.org/drawingml/2006/main" noGrp="1"/>
          </p:cNvSpPr>
          <p:nvPr/>
        </p:nvSpPr>
        <p:spPr>
          <a:xfrm xmlns:a="http://schemas.openxmlformats.org/drawingml/2006/main">
            <a:off x="9139238"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лог, метрика или тест</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195638"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480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10613"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E62E4501-1153-421E-AED9-42D42AD267C9}"/>
              </a:ext>
            </a:extLst>
          </p:cNvPr>
          <p:cNvSpPr>
            <a:spLocks xmlns:a="http://schemas.openxmlformats.org/drawingml/2006/main" noGrp="1"/>
          </p:cNvSpPr>
          <p:nvPr/>
        </p:nvSpPr>
        <p:spPr>
          <a:xfrm xmlns:a="http://schemas.openxmlformats.org/drawingml/2006/main">
            <a:off x="1619250" y="4286250"/>
            <a:ext cx="8953500" cy="800100"/>
          </a:xfrm>
          <a:prstGeom xmlns:a="http://schemas.openxmlformats.org/drawingml/2006/main" prst="roundRect">
            <a:avLst>
              <a:gd name="adj" fmla="val 15476"/>
            </a:avLst>
          </a:prstGeom>
          <a:solidFill xmlns:a="http://schemas.openxmlformats.org/drawingml/2006/main">
            <a:srgbClr val="F4F6F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57D08E4C-18AC-46CB-A40D-B881E3B3CFB7}"/>
              </a:ext>
            </a:extLst>
          </p:cNvPr>
          <p:cNvSpPr>
            <a:spLocks xmlns:a="http://schemas.openxmlformats.org/drawingml/2006/main" noGrp="1"/>
          </p:cNvSpPr>
          <p:nvPr/>
        </p:nvSpPr>
        <p:spPr>
          <a:xfrm xmlns:a="http://schemas.openxmlformats.org/drawingml/2006/main">
            <a:off x="1752600" y="4429125"/>
            <a:ext cx="57150" cy="514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741ABEA9-42A3-4C52-84B1-24479D85E22F}"/>
              </a:ext>
            </a:extLst>
          </p:cNvPr>
          <p:cNvSpPr>
            <a:spLocks xmlns:a="http://schemas.openxmlformats.org/drawingml/2006/main" noGrp="1"/>
          </p:cNvSpPr>
          <p:nvPr/>
        </p:nvSpPr>
        <p:spPr>
          <a:xfrm xmlns:a="http://schemas.openxmlformats.org/drawingml/2006/main">
            <a:off x="914400" y="4305300"/>
            <a:ext cx="10363200" cy="80010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34EB9F71-BEB8-460B-853F-BA8B9F61FD3C}"/>
              </a:ext>
            </a:extLst>
          </p:cNvPr>
          <p:cNvSpPr>
            <a:spLocks xmlns:a="http://schemas.openxmlformats.org/drawingml/2006/main" noGrp="1"/>
          </p:cNvSpPr>
          <p:nvPr/>
        </p:nvSpPr>
        <p:spPr>
          <a:xfrm xmlns:a="http://schemas.openxmlformats.org/drawingml/2006/main">
            <a:off x="1085850" y="4457700"/>
            <a:ext cx="57150" cy="4953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A4C72811-C218-4138-A266-9F91397D9A10}"/>
              </a:ext>
            </a:extLst>
          </p:cNvPr>
          <p:cNvSpPr>
            <a:spLocks xmlns:a="http://schemas.openxmlformats.org/drawingml/2006/main" noGrp="1"/>
          </p:cNvSpPr>
          <p:nvPr/>
        </p:nvSpPr>
        <p:spPr>
          <a:xfrm xmlns:a="http://schemas.openxmlformats.org/drawingml/2006/main">
            <a:off x="1333500" y="44100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ЗАКЉУЧАК</a:t>
            </a:r>
          </a:p>
        </p:txBody>
      </p:sp>
      <p:sp>
        <p:nvSpPr>
          <p:cNvPr id="79" name="Rectangle 78">
            <a:extLst xmlns:a="http://schemas.openxmlformats.org/drawingml/2006/main">
              <a:ext uri="{FF2B5EF4-FFF2-40B4-BE49-F238E27FC236}">
                <a16:creationId xmlns:a16="http://schemas.microsoft.com/office/drawing/2014/main" id="{22A5BEE0-97D5-4ADB-B0D6-87EA3696B7AE}"/>
              </a:ext>
            </a:extLst>
          </p:cNvPr>
          <p:cNvSpPr>
            <a:spLocks xmlns:a="http://schemas.openxmlformats.org/drawingml/2006/main" noGrp="1"/>
          </p:cNvSpPr>
          <p:nvPr/>
        </p:nvSpPr>
        <p:spPr>
          <a:xfrm xmlns:a="http://schemas.openxmlformats.org/drawingml/2006/main">
            <a:off x="1333500" y="4638675"/>
            <a:ext cx="963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581"/>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Правило може бити добро написано, а контрола ипак неефективна. Доказ повезује очекивање са реалним понашањем.</a:t>
            </a:r>
          </a:p>
        </p:txBody>
      </p:sp>
    </p:spTree>
    <p:extLst>
      <p:ext uri="{BB962C8B-B14F-4D97-AF65-F5344CB8AC3E}">
        <p14:creationId xmlns:p14="http://schemas.microsoft.com/office/powerpoint/2010/main" val="10947931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60DC17FF-0823-4137-A87F-C805C93FC08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280E540-0597-4A5B-AD2E-00C3542660F2}"/>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9B111D6-2CA6-47D6-8236-533E406A666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xmlns:a="http://schemas.openxmlformats.org/drawingml/2006/main">
              <a:ext uri="{FF2B5EF4-FFF2-40B4-BE49-F238E27FC236}">
                <a16:creationId xmlns:a16="http://schemas.microsoft.com/office/drawing/2014/main" id="{C15C5318-46F2-4116-B2B7-1430D76E3DC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a:t>
            </a:r>
          </a:p>
        </p:txBody>
      </p:sp>
      <p:sp>
        <p:nvSpPr>
          <p:cNvPr id="5" name="Rectangle 4">
            <a:extLst xmlns:a="http://schemas.openxmlformats.org/drawingml/2006/main">
              <a:ext uri="{FF2B5EF4-FFF2-40B4-BE49-F238E27FC236}">
                <a16:creationId xmlns:a16="http://schemas.microsoft.com/office/drawing/2014/main" id="{4D594D83-EDE0-4A83-9D60-AC57AB0CE49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шта организација очекује</a:t>
            </a:r>
          </a:p>
        </p:txBody>
      </p:sp>
      <p:sp>
        <p:nvSpPr>
          <p:cNvPr id="6" name="Rounded Rectangle 5">
            <a:extLst xmlns:a="http://schemas.openxmlformats.org/drawingml/2006/main">
              <a:ext uri="{FF2B5EF4-FFF2-40B4-BE49-F238E27FC236}">
                <a16:creationId xmlns:a16="http://schemas.microsoft.com/office/drawing/2014/main" id="{AE1B752B-D369-478D-89E7-5CBA3FED36E7}"/>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AB50743E-08D6-428A-8D06-F2CB9BEAB135}"/>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44D18D59-2433-4382-9C93-2CDBF15D4EA7}"/>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Политика изражава намеру: шта мора да важи, за кога и од ког датума.</a:t>
            </a:r>
          </a:p>
        </p:txBody>
      </p:sp>
      <p:sp>
        <p:nvSpPr>
          <p:cNvPr id="9" name="Rectangle 8">
            <a:extLst xmlns:a="http://schemas.openxmlformats.org/drawingml/2006/main">
              <a:ext uri="{FF2B5EF4-FFF2-40B4-BE49-F238E27FC236}">
                <a16:creationId xmlns:a16="http://schemas.microsoft.com/office/drawing/2014/main" id="{FA4BAFD6-4ED9-4AA6-82DA-FDCEEFFBC5A2}"/>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A61DE7A4-BD4B-4065-BD92-7C74BB1669D9}"/>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5B64F62-BA13-412E-9804-683DFC7B3D7D}"/>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DFA7BE1D-D01E-4F04-B934-FF1451953BCF}"/>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Објављена верзија политике се не мења накнадно; нова намера постаје нова верзија.</a:t>
            </a:r>
          </a:p>
        </p:txBody>
      </p:sp>
      <p:sp>
        <p:nvSpPr>
          <p:cNvPr id="13" name="Rectangle 12">
            <a:extLst xmlns:a="http://schemas.openxmlformats.org/drawingml/2006/main">
              <a:ext uri="{FF2B5EF4-FFF2-40B4-BE49-F238E27FC236}">
                <a16:creationId xmlns:a16="http://schemas.microsoft.com/office/drawing/2014/main" id="{ACCEB6A6-0C2F-4110-820F-6BCC0043B5F1}"/>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858714CA-5176-4645-9E59-9DA983727DCB}"/>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BF6041D7-9267-4309-AA65-293CDE988488}"/>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345934C4-3F77-4511-88D9-A34B81A30880}"/>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Свака верзија чува разлог и контекст промене, па се стара одлука може објаснити.</a:t>
            </a:r>
          </a:p>
        </p:txBody>
      </p:sp>
      <p:sp>
        <p:nvSpPr>
          <p:cNvPr id="17" name="Rectangle 16">
            <a:extLst xmlns:a="http://schemas.openxmlformats.org/drawingml/2006/main">
              <a:ext uri="{FF2B5EF4-FFF2-40B4-BE49-F238E27FC236}">
                <a16:creationId xmlns:a16="http://schemas.microsoft.com/office/drawing/2014/main" id="{F74D0D18-00B4-4ADA-B464-2D057454332E}"/>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F53CA7F1-267D-4DAD-A5D6-CBBD54EE8F6A}"/>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61030250-F12C-49AF-AA0D-C8BC021E4FA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60CA197D-7647-4FEF-A967-3C4ABB0B78DA}"/>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BF97F736-754B-4168-A636-9290DAC92E99}"/>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09893120-5188-44C3-82DD-5791D78986A5}"/>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74FB84FC-B0B8-4426-A198-415C43B91507}"/>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у вашој целини мора имати власника, верзију и датум важења?</a:t>
            </a:r>
          </a:p>
        </p:txBody>
      </p:sp>
    </p:spTree>
    <p:extLst>
      <p:ext uri="{BB962C8B-B14F-4D97-AF65-F5344CB8AC3E}">
        <p14:creationId xmlns:p14="http://schemas.microsoft.com/office/powerpoint/2010/main" val="170692960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151F8CE7-1B0F-4183-9A99-7023730C3DD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B8DE557E-5110-4468-82C1-11ADC769204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EE6B8CE-2CDB-46BE-A26D-0C57321EE66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xmlns:a="http://schemas.openxmlformats.org/drawingml/2006/main">
              <a:ext uri="{FF2B5EF4-FFF2-40B4-BE49-F238E27FC236}">
                <a16:creationId xmlns:a16="http://schemas.microsoft.com/office/drawing/2014/main" id="{0E541F60-1EA6-4E62-87C9-015CACAB098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Конфигурација</a:t>
            </a:r>
          </a:p>
        </p:txBody>
      </p:sp>
      <p:sp>
        <p:nvSpPr>
          <p:cNvPr id="5" name="Rectangle 4">
            <a:extLst xmlns:a="http://schemas.openxmlformats.org/drawingml/2006/main">
              <a:ext uri="{FF2B5EF4-FFF2-40B4-BE49-F238E27FC236}">
                <a16:creationId xmlns:a16="http://schemas.microsoft.com/office/drawing/2014/main" id="{9770C2C6-5273-4FDC-AF16-2C6D977CEA9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како се правило примењује</a:t>
            </a:r>
          </a:p>
        </p:txBody>
      </p:sp>
      <p:sp>
        <p:nvSpPr>
          <p:cNvPr id="6" name="Rounded Rectangle 5">
            <a:extLst xmlns:a="http://schemas.openxmlformats.org/drawingml/2006/main">
              <a:ext uri="{FF2B5EF4-FFF2-40B4-BE49-F238E27FC236}">
                <a16:creationId xmlns:a16="http://schemas.microsoft.com/office/drawing/2014/main" id="{B652445E-1B21-458E-A923-0300A5C1FCD4}"/>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354E251-EF10-49E6-B452-94D0210A6E66}"/>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8833E9D-4626-4F6F-B605-75BCD95EF05B}"/>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Конфигурациона вредност је конкретно стање система и има власника и очекивану вредност.</a:t>
            </a:r>
          </a:p>
        </p:txBody>
      </p:sp>
      <p:sp>
        <p:nvSpPr>
          <p:cNvPr id="9" name="Rectangle 8">
            <a:extLst xmlns:a="http://schemas.openxmlformats.org/drawingml/2006/main">
              <a:ext uri="{FF2B5EF4-FFF2-40B4-BE49-F238E27FC236}">
                <a16:creationId xmlns:a16="http://schemas.microsoft.com/office/drawing/2014/main" id="{0A78A99B-0BCE-448E-92E8-869D2F8BD479}"/>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C83BEC57-7785-4276-8100-971D06D4998F}"/>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1198E7FC-BFE4-4197-9B31-DB1781EFA7AA}"/>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5D1B0F6A-5D25-412B-B7E9-F982D9D22358}"/>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Референтна конфигурација одређује најмању дозвољену строгост; строже подешавање није одступање.</a:t>
            </a:r>
          </a:p>
        </p:txBody>
      </p:sp>
      <p:sp>
        <p:nvSpPr>
          <p:cNvPr id="13" name="Rectangle 12">
            <a:extLst xmlns:a="http://schemas.openxmlformats.org/drawingml/2006/main">
              <a:ext uri="{FF2B5EF4-FFF2-40B4-BE49-F238E27FC236}">
                <a16:creationId xmlns:a16="http://schemas.microsoft.com/office/drawing/2014/main" id="{285EB529-91CD-4A18-9CAE-6E1FA9F05A7E}"/>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C57A1EEC-1574-47E6-964B-236221D46FAA}"/>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66EF84A4-7490-46D4-BC16-3A599CF4E580}"/>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AD95E59A-93D1-4256-AA63-20A93BEDBE8A}"/>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Свака промена вредности оставља траг: ко ју је променио, када и зашто.</a:t>
            </a:r>
          </a:p>
        </p:txBody>
      </p:sp>
      <p:sp>
        <p:nvSpPr>
          <p:cNvPr id="17" name="Rectangle 16">
            <a:extLst xmlns:a="http://schemas.openxmlformats.org/drawingml/2006/main">
              <a:ext uri="{FF2B5EF4-FFF2-40B4-BE49-F238E27FC236}">
                <a16:creationId xmlns:a16="http://schemas.microsoft.com/office/drawing/2014/main" id="{EEA0923D-E7C1-40F7-8FAC-BD6803BD7A0E}"/>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CBF132B3-4D57-402F-9675-FA3B7F7D41D7}"/>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6B85CF62-EC9D-4E1C-89B9-BA4C25447EB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E8E086D6-E361-4C8F-A808-80E45D7834D7}"/>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66ECC8F2-EA8E-4D34-95D1-ACC186592385}"/>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2F2B146D-839A-4811-BD85-D8C97A665782}"/>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D08C202A-63BC-49A2-B41C-3DBD9545C22C}"/>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Које подешавање у вашем систему тихо слаби заштиту ако се промени?</a:t>
            </a:r>
          </a:p>
        </p:txBody>
      </p:sp>
    </p:spTree>
    <p:extLst>
      <p:ext uri="{BB962C8B-B14F-4D97-AF65-F5344CB8AC3E}">
        <p14:creationId xmlns:p14="http://schemas.microsoft.com/office/powerpoint/2010/main" val="96656569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08C53318-B41D-42AD-8DE8-72E4D73D2C75}"/>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E6D5DFA-3550-46C7-AAC9-230177EC8C2C}"/>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E4D98F0-28AF-4A0A-9702-389FAD7C47FF}"/>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xmlns:a="http://schemas.openxmlformats.org/drawingml/2006/main">
              <a:ext uri="{FF2B5EF4-FFF2-40B4-BE49-F238E27FC236}">
                <a16:creationId xmlns:a16="http://schemas.microsoft.com/office/drawing/2014/main" id="{5FB3B246-8149-425C-8465-B82E939DB7C9}"/>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Контрола</a:t>
            </a:r>
          </a:p>
        </p:txBody>
      </p:sp>
      <p:sp>
        <p:nvSpPr>
          <p:cNvPr id="5" name="Rectangle 4">
            <a:extLst xmlns:a="http://schemas.openxmlformats.org/drawingml/2006/main">
              <a:ext uri="{FF2B5EF4-FFF2-40B4-BE49-F238E27FC236}">
                <a16:creationId xmlns:a16="http://schemas.microsoft.com/office/drawing/2014/main" id="{0032CBF3-EA8D-43B2-BCC1-DEAA8350913A}"/>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механизам заштите</a:t>
            </a:r>
          </a:p>
        </p:txBody>
      </p:sp>
      <p:sp>
        <p:nvSpPr>
          <p:cNvPr id="6" name="Rounded Rectangle 5">
            <a:extLst xmlns:a="http://schemas.openxmlformats.org/drawingml/2006/main">
              <a:ext uri="{FF2B5EF4-FFF2-40B4-BE49-F238E27FC236}">
                <a16:creationId xmlns:a16="http://schemas.microsoft.com/office/drawing/2014/main" id="{0CEF2935-F6D1-43CA-950A-297AD938FA06}"/>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A26C95FB-C242-4EAA-9FC3-4668E9188C1C}"/>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DF5CD1BA-B6B7-498D-ABA0-83B831B2440D}"/>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Контрола пореди стварно стање са референтним и за свако правило даје један јасан исход.</a:t>
            </a:r>
          </a:p>
        </p:txBody>
      </p:sp>
      <p:sp>
        <p:nvSpPr>
          <p:cNvPr id="9" name="Rectangle 8">
            <a:extLst xmlns:a="http://schemas.openxmlformats.org/drawingml/2006/main">
              <a:ext uri="{FF2B5EF4-FFF2-40B4-BE49-F238E27FC236}">
                <a16:creationId xmlns:a16="http://schemas.microsoft.com/office/drawing/2014/main" id="{48C223E2-6CFB-4D4B-A856-3E0ACD7E4C76}"/>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0267C7AF-8AFC-4CCF-A706-C3DD0CC99E77}"/>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11E23200-CDF0-44A5-BE9C-A9D4A25CB982}"/>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9A4DDD43-D0E1-460E-92C4-BC90EFA0043F}"/>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Нова контрола се додаје као нова класа, без измене постојећих провера.</a:t>
            </a:r>
          </a:p>
        </p:txBody>
      </p:sp>
      <p:sp>
        <p:nvSpPr>
          <p:cNvPr id="13" name="Rectangle 12">
            <a:extLst xmlns:a="http://schemas.openxmlformats.org/drawingml/2006/main">
              <a:ext uri="{FF2B5EF4-FFF2-40B4-BE49-F238E27FC236}">
                <a16:creationId xmlns:a16="http://schemas.microsoft.com/office/drawing/2014/main" id="{1C013D64-0779-46B5-BEC5-71671C946B2D}"/>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35E542F9-422F-4581-9D50-D8532A13B3F5}"/>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F9505C1B-43C0-4A71-B448-11507C9058B8}"/>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B45ECF5A-8722-4541-9314-B17A121E727E}"/>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Налаз садржи назив контроле, очекивану вредност и стварну вредност.</a:t>
            </a:r>
          </a:p>
        </p:txBody>
      </p:sp>
      <p:sp>
        <p:nvSpPr>
          <p:cNvPr id="17" name="Rectangle 16">
            <a:extLst xmlns:a="http://schemas.openxmlformats.org/drawingml/2006/main">
              <a:ext uri="{FF2B5EF4-FFF2-40B4-BE49-F238E27FC236}">
                <a16:creationId xmlns:a16="http://schemas.microsoft.com/office/drawing/2014/main" id="{8B0F0344-31EA-45BA-8327-8D4A0E092C0B}"/>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B1D75CFE-A812-4C7A-B849-89CFD9C4BA94}"/>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3E730806-60F2-4B04-BE9E-A85DCE3B33BF}"/>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F4614E0E-4C41-4DFA-9DC8-BCB174B72277}"/>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D34BA625-5F39-4F43-9F5D-06143AEB34B2}"/>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7A861E25-416B-4D8E-ACC7-7AF705017A83}"/>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4AFF87D6-8D54-4584-80F8-737FD8685B14}"/>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контрола у вашој целини проверава да правило заиста важи?</a:t>
            </a:r>
          </a:p>
        </p:txBody>
      </p:sp>
    </p:spTree>
    <p:extLst>
      <p:ext uri="{BB962C8B-B14F-4D97-AF65-F5344CB8AC3E}">
        <p14:creationId xmlns:p14="http://schemas.microsoft.com/office/powerpoint/2010/main" val="127933955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D5A7B1A4-F879-4D6F-B757-8944D518341B}"/>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F89B92A-02F9-47AA-942A-D08D13FA8665}"/>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3D6AFBBB-C633-41F4-AD94-7051F68A8147}"/>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xmlns:a="http://schemas.openxmlformats.org/drawingml/2006/main">
              <a:ext uri="{FF2B5EF4-FFF2-40B4-BE49-F238E27FC236}">
                <a16:creationId xmlns:a16="http://schemas.microsoft.com/office/drawing/2014/main" id="{5E8F0B31-287F-4BF2-89FF-031B10ABBD5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Доказ</a:t>
            </a:r>
          </a:p>
        </p:txBody>
      </p:sp>
      <p:sp>
        <p:nvSpPr>
          <p:cNvPr id="5" name="Rectangle 4">
            <a:extLst xmlns:a="http://schemas.openxmlformats.org/drawingml/2006/main">
              <a:ext uri="{FF2B5EF4-FFF2-40B4-BE49-F238E27FC236}">
                <a16:creationId xmlns:a16="http://schemas.microsoft.com/office/drawing/2014/main" id="{A97313F9-E710-472F-9319-02256E0905A5}"/>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лог, метрика или тест</a:t>
            </a:r>
          </a:p>
        </p:txBody>
      </p:sp>
      <p:sp>
        <p:nvSpPr>
          <p:cNvPr id="6" name="Rounded Rectangle 5">
            <a:extLst xmlns:a="http://schemas.openxmlformats.org/drawingml/2006/main">
              <a:ext uri="{FF2B5EF4-FFF2-40B4-BE49-F238E27FC236}">
                <a16:creationId xmlns:a16="http://schemas.microsoft.com/office/drawing/2014/main" id="{DBC14714-90DA-4860-9B52-3238B6905D1A}"/>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4F8B7284-BB01-4B8B-83E3-E687B139E1BF}"/>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DF0D139C-FEF6-462D-B818-1A1D46F3889A}"/>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Доказ показује стваран исход, а не само да је правило записано.</a:t>
            </a:r>
          </a:p>
        </p:txBody>
      </p:sp>
      <p:sp>
        <p:nvSpPr>
          <p:cNvPr id="9" name="Rectangle 8">
            <a:extLst xmlns:a="http://schemas.openxmlformats.org/drawingml/2006/main">
              <a:ext uri="{FF2B5EF4-FFF2-40B4-BE49-F238E27FC236}">
                <a16:creationId xmlns:a16="http://schemas.microsoft.com/office/drawing/2014/main" id="{ABC24331-F569-4735-954A-3ED9996D3739}"/>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04B0EFF4-3B49-4A9E-91AF-8D6D2AF291E7}"/>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EDE9514A-9AEE-4218-AF18-C321B1DDFD1F}"/>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C371FE79-E33F-438A-A42B-1B3E15E793AB}"/>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Корелациони идентификатор повезује налаз са провером која га је произвела.</a:t>
            </a:r>
          </a:p>
        </p:txBody>
      </p:sp>
      <p:sp>
        <p:nvSpPr>
          <p:cNvPr id="13" name="Rectangle 12">
            <a:extLst xmlns:a="http://schemas.openxmlformats.org/drawingml/2006/main">
              <a:ext uri="{FF2B5EF4-FFF2-40B4-BE49-F238E27FC236}">
                <a16:creationId xmlns:a16="http://schemas.microsoft.com/office/drawing/2014/main" id="{C38ACE22-59DE-4CC7-AF57-ED8EB6551E38}"/>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115C0559-BFCE-4C11-B345-A2538401BB2B}"/>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D51C294-A08F-4D44-B600-BDD73894CB37}"/>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15EDD941-4D7A-49B7-A817-A6FCF0A907B9}"/>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Тест са одступањем и тест без одступања заједно доказују да контрола ради.</a:t>
            </a:r>
          </a:p>
        </p:txBody>
      </p:sp>
      <p:sp>
        <p:nvSpPr>
          <p:cNvPr id="17" name="Rectangle 16">
            <a:extLst xmlns:a="http://schemas.openxmlformats.org/drawingml/2006/main">
              <a:ext uri="{FF2B5EF4-FFF2-40B4-BE49-F238E27FC236}">
                <a16:creationId xmlns:a16="http://schemas.microsoft.com/office/drawing/2014/main" id="{6581779F-4DB6-49EC-ADBD-3756FBCE2C40}"/>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5E16A847-0D78-4AA2-84B0-6F9193F3BA84}"/>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0A678369-F214-4B55-B9D4-0162CB5CE571}"/>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6194EDFF-BD40-4A69-88BF-2438F2F04F10}"/>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3B8E0045-A67D-4610-9580-B9CB8D980464}"/>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7C5E118A-F393-40E0-9744-A5CB22008D46}"/>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94CD2C34-AC1E-47B4-B6BA-567E435F0AF3}"/>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Којим записом бисте показали да је одступање откривено и када?</a:t>
            </a:r>
          </a:p>
        </p:txBody>
      </p:sp>
    </p:spTree>
    <p:extLst>
      <p:ext uri="{BB962C8B-B14F-4D97-AF65-F5344CB8AC3E}">
        <p14:creationId xmlns:p14="http://schemas.microsoft.com/office/powerpoint/2010/main" val="143969951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ectangle 24">
            <a:extLst xmlns:a="http://schemas.openxmlformats.org/drawingml/2006/main">
              <a:ext uri="{FF2B5EF4-FFF2-40B4-BE49-F238E27FC236}">
                <a16:creationId xmlns:a16="http://schemas.microsoft.com/office/drawing/2014/main" id="{D62F73E2-E614-4FAB-BD11-471DF09E54E6}"/>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DF5B4C9F-1E64-4D53-8FEE-C2068F1776B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396EE5ED-6569-4D8E-8FE7-29450BA9AA2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xmlns:a="http://schemas.openxmlformats.org/drawingml/2006/main">
              <a:ext uri="{FF2B5EF4-FFF2-40B4-BE49-F238E27FC236}">
                <a16:creationId xmlns:a16="http://schemas.microsoft.com/office/drawing/2014/main" id="{255F8505-0799-418A-B92B-80D9B16B9A0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 процедура и контрола</a:t>
            </a:r>
          </a:p>
        </p:txBody>
      </p:sp>
      <p:sp>
        <p:nvSpPr>
          <p:cNvPr id="5" name="Rectangle 4">
            <a:extLst xmlns:a="http://schemas.openxmlformats.org/drawingml/2006/main">
              <a:ext uri="{FF2B5EF4-FFF2-40B4-BE49-F238E27FC236}">
                <a16:creationId xmlns:a16="http://schemas.microsoft.com/office/drawing/2014/main" id="{56DB30EF-11A6-48D3-9801-1F4C753AD05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приказује функцију сваког елемента и ограничење његове самосталне примене.</a:t>
            </a:r>
          </a:p>
        </p:txBody>
      </p:sp>
      <p:sp>
        <p:nvSpPr>
          <p:cNvPr id="6" name="Rectangle 5">
            <a:extLst xmlns:a="http://schemas.openxmlformats.org/drawingml/2006/main">
              <a:ext uri="{FF2B5EF4-FFF2-40B4-BE49-F238E27FC236}">
                <a16:creationId xmlns:a16="http://schemas.microsoft.com/office/drawing/2014/main" id="{12D0D40A-0711-4EC1-BB5F-9740E0DF23CE}"/>
              </a:ext>
            </a:extLst>
          </p:cNvPr>
          <p:cNvSpPr>
            <a:spLocks xmlns:a="http://schemas.openxmlformats.org/drawingml/2006/main" noGrp="1"/>
          </p:cNvSpPr>
          <p:nvPr/>
        </p:nvSpPr>
        <p:spPr>
          <a:xfrm xmlns:a="http://schemas.openxmlformats.org/drawingml/2006/main">
            <a:off x="876300" y="204787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Елемент</a:t>
            </a:r>
          </a:p>
        </p:txBody>
      </p:sp>
      <p:sp>
        <p:nvSpPr>
          <p:cNvPr id="7" name="Rectangle 6">
            <a:extLst xmlns:a="http://schemas.openxmlformats.org/drawingml/2006/main">
              <a:ext uri="{FF2B5EF4-FFF2-40B4-BE49-F238E27FC236}">
                <a16:creationId xmlns:a16="http://schemas.microsoft.com/office/drawing/2014/main" id="{7533ACD5-ED50-42E1-8C52-DB2363F5F1F8}"/>
              </a:ext>
            </a:extLst>
          </p:cNvPr>
          <p:cNvSpPr>
            <a:spLocks xmlns:a="http://schemas.openxmlformats.org/drawingml/2006/main" noGrp="1"/>
          </p:cNvSpPr>
          <p:nvPr/>
        </p:nvSpPr>
        <p:spPr>
          <a:xfrm xmlns:a="http://schemas.openxmlformats.org/drawingml/2006/main">
            <a:off x="3638550" y="2047875"/>
            <a:ext cx="3619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Улога</a:t>
            </a:r>
          </a:p>
        </p:txBody>
      </p:sp>
      <p:sp>
        <p:nvSpPr>
          <p:cNvPr id="8" name="Rectangle 7">
            <a:extLst xmlns:a="http://schemas.openxmlformats.org/drawingml/2006/main">
              <a:ext uri="{FF2B5EF4-FFF2-40B4-BE49-F238E27FC236}">
                <a16:creationId xmlns:a16="http://schemas.microsoft.com/office/drawing/2014/main" id="{5A96E28A-DD17-41AE-9D80-2179725FD4A1}"/>
              </a:ext>
            </a:extLst>
          </p:cNvPr>
          <p:cNvSpPr>
            <a:spLocks xmlns:a="http://schemas.openxmlformats.org/drawingml/2006/main" noGrp="1"/>
          </p:cNvSpPr>
          <p:nvPr/>
        </p:nvSpPr>
        <p:spPr>
          <a:xfrm xmlns:a="http://schemas.openxmlformats.org/drawingml/2006/main">
            <a:off x="7543800" y="2047875"/>
            <a:ext cx="3771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Пример доказа</a:t>
            </a:r>
          </a:p>
        </p:txBody>
      </p:sp>
      <p:sp>
        <p:nvSpPr>
          <p:cNvPr id="9" name="Rounded Rectangle 8">
            <a:extLst xmlns:a="http://schemas.openxmlformats.org/drawingml/2006/main">
              <a:ext uri="{FF2B5EF4-FFF2-40B4-BE49-F238E27FC236}">
                <a16:creationId xmlns:a16="http://schemas.microsoft.com/office/drawing/2014/main" id="{61575716-F62D-4A6C-A967-A089E07FFF42}"/>
              </a:ext>
            </a:extLst>
          </p:cNvPr>
          <p:cNvSpPr>
            <a:spLocks xmlns:a="http://schemas.openxmlformats.org/drawingml/2006/main" noGrp="1"/>
          </p:cNvSpPr>
          <p:nvPr/>
        </p:nvSpPr>
        <p:spPr>
          <a:xfrm xmlns:a="http://schemas.openxmlformats.org/drawingml/2006/main">
            <a:off x="800100" y="2362200"/>
            <a:ext cx="10591800" cy="609600"/>
          </a:xfrm>
          <a:prstGeom xmlns:a="http://schemas.openxmlformats.org/drawingml/2006/main" prst="roundRect">
            <a:avLst>
              <a:gd name="adj" fmla="val 17188"/>
            </a:avLst>
          </a:prstGeom>
          <a:solidFill xmlns:a="http://schemas.openxmlformats.org/drawingml/2006/main">
            <a:srgbClr val="F4F6F9"/>
          </a:solidFill>
          <a:ln xmlns:a="http://schemas.openxmlformats.org/drawingml/2006/main" w="9525">
            <a:solidFill>
              <a:srgbClr val="D7DEE8"/>
            </a:solidFill>
            <a:prstDash val="solid"/>
          </a:ln>
        </p:spPr>
      </p:sp>
      <p:sp>
        <p:nvSpPr>
          <p:cNvPr id="10" name="Rectangle 9">
            <a:extLst xmlns:a="http://schemas.openxmlformats.org/drawingml/2006/main">
              <a:ext uri="{FF2B5EF4-FFF2-40B4-BE49-F238E27FC236}">
                <a16:creationId xmlns:a16="http://schemas.microsoft.com/office/drawing/2014/main" id="{0BE83FA9-44E2-4E4D-8DDA-9BD66FC29C36}"/>
              </a:ext>
            </a:extLst>
          </p:cNvPr>
          <p:cNvSpPr>
            <a:spLocks xmlns:a="http://schemas.openxmlformats.org/drawingml/2006/main" noGrp="1"/>
          </p:cNvSpPr>
          <p:nvPr/>
        </p:nvSpPr>
        <p:spPr>
          <a:xfrm xmlns:a="http://schemas.openxmlformats.org/drawingml/2006/main">
            <a:off x="952500" y="24860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Политика</a:t>
            </a:r>
          </a:p>
        </p:txBody>
      </p:sp>
      <p:sp>
        <p:nvSpPr>
          <p:cNvPr id="11" name="Rectangle 10">
            <a:extLst xmlns:a="http://schemas.openxmlformats.org/drawingml/2006/main">
              <a:ext uri="{FF2B5EF4-FFF2-40B4-BE49-F238E27FC236}">
                <a16:creationId xmlns:a16="http://schemas.microsoft.com/office/drawing/2014/main" id="{82F85F71-4C93-484C-A466-5685CEFE3B3E}"/>
              </a:ext>
            </a:extLst>
          </p:cNvPr>
          <p:cNvSpPr>
            <a:spLocks xmlns:a="http://schemas.openxmlformats.org/drawingml/2006/main" noGrp="1"/>
          </p:cNvSpPr>
          <p:nvPr/>
        </p:nvSpPr>
        <p:spPr>
          <a:xfrm xmlns:a="http://schemas.openxmlformats.org/drawingml/2006/main">
            <a:off x="363855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Одређује правило и циљ заштите.</a:t>
            </a:r>
          </a:p>
        </p:txBody>
      </p:sp>
      <p:sp>
        <p:nvSpPr>
          <p:cNvPr id="12" name="Rectangle 11">
            <a:extLst xmlns:a="http://schemas.openxmlformats.org/drawingml/2006/main">
              <a:ext uri="{FF2B5EF4-FFF2-40B4-BE49-F238E27FC236}">
                <a16:creationId xmlns:a16="http://schemas.microsoft.com/office/drawing/2014/main" id="{2AE10BB0-E702-4100-9688-3B6227963240}"/>
              </a:ext>
            </a:extLst>
          </p:cNvPr>
          <p:cNvSpPr>
            <a:spLocks xmlns:a="http://schemas.openxmlformats.org/drawingml/2006/main" noGrp="1"/>
          </p:cNvSpPr>
          <p:nvPr/>
        </p:nvSpPr>
        <p:spPr>
          <a:xfrm xmlns:a="http://schemas.openxmlformats.org/drawingml/2006/main">
            <a:off x="754380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Верзионисан текст са власником.</a:t>
            </a:r>
          </a:p>
        </p:txBody>
      </p:sp>
      <p:sp>
        <p:nvSpPr>
          <p:cNvPr id="13" name="Rounded Rectangle 12">
            <a:extLst xmlns:a="http://schemas.openxmlformats.org/drawingml/2006/main">
              <a:ext uri="{FF2B5EF4-FFF2-40B4-BE49-F238E27FC236}">
                <a16:creationId xmlns:a16="http://schemas.microsoft.com/office/drawing/2014/main" id="{0666D6DA-4CC1-4061-A6DD-D735659117F4}"/>
              </a:ext>
            </a:extLst>
          </p:cNvPr>
          <p:cNvSpPr>
            <a:spLocks xmlns:a="http://schemas.openxmlformats.org/drawingml/2006/main" noGrp="1"/>
          </p:cNvSpPr>
          <p:nvPr/>
        </p:nvSpPr>
        <p:spPr>
          <a:xfrm xmlns:a="http://schemas.openxmlformats.org/drawingml/2006/main">
            <a:off x="800100" y="3105150"/>
            <a:ext cx="10591800" cy="609600"/>
          </a:xfrm>
          <a:prstGeom xmlns:a="http://schemas.openxmlformats.org/drawingml/2006/main" prst="roundRect">
            <a:avLst>
              <a:gd name="adj" fmla="val 1718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2D5EC364-1F4A-4EF3-95DA-0FB36CD7C033}"/>
              </a:ext>
            </a:extLst>
          </p:cNvPr>
          <p:cNvSpPr>
            <a:spLocks xmlns:a="http://schemas.openxmlformats.org/drawingml/2006/main" noGrp="1"/>
          </p:cNvSpPr>
          <p:nvPr/>
        </p:nvSpPr>
        <p:spPr>
          <a:xfrm xmlns:a="http://schemas.openxmlformats.org/drawingml/2006/main">
            <a:off x="952500" y="32289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2F5EF5"/>
                </a:solidFill>
                <a:latin typeface="Aptos"/>
                <a:ea typeface="Aptos"/>
                <a:cs typeface="Aptos"/>
              </a:defRPr>
            </a:pPr>
            <a:r>
              <a:rPr sz="1275" b="1">
                <a:solidFill>
                  <a:srgbClr val="7A2636"/>
                </a:solidFill>
                <a:latin typeface="Aptos"/>
                <a:ea typeface="Aptos"/>
                <a:cs typeface="Aptos"/>
              </a:rPr>
              <a:t>Процедура</a:t>
            </a:r>
          </a:p>
        </p:txBody>
      </p:sp>
      <p:sp>
        <p:nvSpPr>
          <p:cNvPr id="15" name="Rectangle 14">
            <a:extLst xmlns:a="http://schemas.openxmlformats.org/drawingml/2006/main">
              <a:ext uri="{FF2B5EF4-FFF2-40B4-BE49-F238E27FC236}">
                <a16:creationId xmlns:a16="http://schemas.microsoft.com/office/drawing/2014/main" id="{CC301C4A-6DD3-4A31-A61D-EE5C7497EFB2}"/>
              </a:ext>
            </a:extLst>
          </p:cNvPr>
          <p:cNvSpPr>
            <a:spLocks xmlns:a="http://schemas.openxmlformats.org/drawingml/2006/main" noGrp="1"/>
          </p:cNvSpPr>
          <p:nvPr/>
        </p:nvSpPr>
        <p:spPr>
          <a:xfrm xmlns:a="http://schemas.openxmlformats.org/drawingml/2006/main">
            <a:off x="363855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Описује како људи или систем спроводе правило.</a:t>
            </a:r>
          </a:p>
        </p:txBody>
      </p:sp>
      <p:sp>
        <p:nvSpPr>
          <p:cNvPr id="16" name="Rectangle 15">
            <a:extLst xmlns:a="http://schemas.openxmlformats.org/drawingml/2006/main">
              <a:ext uri="{FF2B5EF4-FFF2-40B4-BE49-F238E27FC236}">
                <a16:creationId xmlns:a16="http://schemas.microsoft.com/office/drawing/2014/main" id="{1711EE1B-A49F-4FFA-B7A7-AFF0D6512B12}"/>
              </a:ext>
            </a:extLst>
          </p:cNvPr>
          <p:cNvSpPr>
            <a:spLocks xmlns:a="http://schemas.openxmlformats.org/drawingml/2006/main" noGrp="1"/>
          </p:cNvSpPr>
          <p:nvPr/>
        </p:nvSpPr>
        <p:spPr>
          <a:xfrm xmlns:a="http://schemas.openxmlformats.org/drawingml/2006/main">
            <a:off x="754380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Преглед корака или аутоматизовани ток.</a:t>
            </a:r>
          </a:p>
        </p:txBody>
      </p:sp>
      <p:sp>
        <p:nvSpPr>
          <p:cNvPr id="17" name="Rounded Rectangle 16">
            <a:extLst xmlns:a="http://schemas.openxmlformats.org/drawingml/2006/main">
              <a:ext uri="{FF2B5EF4-FFF2-40B4-BE49-F238E27FC236}">
                <a16:creationId xmlns:a16="http://schemas.microsoft.com/office/drawing/2014/main" id="{8B6773D7-9CC2-47B0-A03A-F07F2B354988}"/>
              </a:ext>
            </a:extLst>
          </p:cNvPr>
          <p:cNvSpPr>
            <a:spLocks xmlns:a="http://schemas.openxmlformats.org/drawingml/2006/main" noGrp="1"/>
          </p:cNvSpPr>
          <p:nvPr/>
        </p:nvSpPr>
        <p:spPr>
          <a:xfrm xmlns:a="http://schemas.openxmlformats.org/drawingml/2006/main">
            <a:off x="800100" y="3848100"/>
            <a:ext cx="10591800" cy="609600"/>
          </a:xfrm>
          <a:prstGeom xmlns:a="http://schemas.openxmlformats.org/drawingml/2006/main" prst="roundRect">
            <a:avLst>
              <a:gd name="adj" fmla="val 17188"/>
            </a:avLst>
          </a:prstGeom>
          <a:solidFill xmlns:a="http://schemas.openxmlformats.org/drawingml/2006/main">
            <a:srgbClr val="F7F4F5"/>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7147B82A-9788-4E73-8EB1-298780306D08}"/>
              </a:ext>
            </a:extLst>
          </p:cNvPr>
          <p:cNvSpPr>
            <a:spLocks xmlns:a="http://schemas.openxmlformats.org/drawingml/2006/main" noGrp="1"/>
          </p:cNvSpPr>
          <p:nvPr/>
        </p:nvSpPr>
        <p:spPr>
          <a:xfrm xmlns:a="http://schemas.openxmlformats.org/drawingml/2006/main">
            <a:off x="952500" y="39719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7651D4"/>
                </a:solidFill>
                <a:latin typeface="Aptos"/>
                <a:ea typeface="Aptos"/>
                <a:cs typeface="Aptos"/>
              </a:defRPr>
            </a:pPr>
            <a:r>
              <a:rPr sz="1275" b="1">
                <a:solidFill>
                  <a:srgbClr val="7A2636"/>
                </a:solidFill>
                <a:latin typeface="Aptos"/>
                <a:ea typeface="Aptos"/>
                <a:cs typeface="Aptos"/>
              </a:rPr>
              <a:t>Контрола</a:t>
            </a:r>
          </a:p>
        </p:txBody>
      </p:sp>
      <p:sp>
        <p:nvSpPr>
          <p:cNvPr id="19" name="Rectangle 18">
            <a:extLst xmlns:a="http://schemas.openxmlformats.org/drawingml/2006/main">
              <a:ext uri="{FF2B5EF4-FFF2-40B4-BE49-F238E27FC236}">
                <a16:creationId xmlns:a16="http://schemas.microsoft.com/office/drawing/2014/main" id="{49F1F589-8CE1-460E-B04F-30F5A7AAADFC}"/>
              </a:ext>
            </a:extLst>
          </p:cNvPr>
          <p:cNvSpPr>
            <a:spLocks xmlns:a="http://schemas.openxmlformats.org/drawingml/2006/main" noGrp="1"/>
          </p:cNvSpPr>
          <p:nvPr/>
        </p:nvSpPr>
        <p:spPr>
          <a:xfrm xmlns:a="http://schemas.openxmlformats.org/drawingml/2006/main">
            <a:off x="363855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Спречава, открива или ограничава ризик.</a:t>
            </a:r>
          </a:p>
        </p:txBody>
      </p:sp>
      <p:sp>
        <p:nvSpPr>
          <p:cNvPr id="20" name="Rectangle 19">
            <a:extLst xmlns:a="http://schemas.openxmlformats.org/drawingml/2006/main">
              <a:ext uri="{FF2B5EF4-FFF2-40B4-BE49-F238E27FC236}">
                <a16:creationId xmlns:a16="http://schemas.microsoft.com/office/drawing/2014/main" id="{9724C60A-0962-4B2D-9B6E-F589045CB9E1}"/>
              </a:ext>
            </a:extLst>
          </p:cNvPr>
          <p:cNvSpPr>
            <a:spLocks xmlns:a="http://schemas.openxmlformats.org/drawingml/2006/main" noGrp="1"/>
          </p:cNvSpPr>
          <p:nvPr/>
        </p:nvSpPr>
        <p:spPr>
          <a:xfrm xmlns:a="http://schemas.openxmlformats.org/drawingml/2006/main">
            <a:off x="754380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Тест, лог или резултат провере.</a:t>
            </a:r>
          </a:p>
        </p:txBody>
      </p:sp>
      <p:sp>
        <p:nvSpPr>
          <p:cNvPr id="21" name="Rounded Rectangle 20">
            <a:extLst xmlns:a="http://schemas.openxmlformats.org/drawingml/2006/main">
              <a:ext uri="{FF2B5EF4-FFF2-40B4-BE49-F238E27FC236}">
                <a16:creationId xmlns:a16="http://schemas.microsoft.com/office/drawing/2014/main" id="{C05095A9-6CD0-4CDF-B54A-6E70DFFB939E}"/>
              </a:ext>
            </a:extLst>
          </p:cNvPr>
          <p:cNvSpPr>
            <a:spLocks xmlns:a="http://schemas.openxmlformats.org/drawingml/2006/main" noGrp="1"/>
          </p:cNvSpPr>
          <p:nvPr/>
        </p:nvSpPr>
        <p:spPr>
          <a:xfrm xmlns:a="http://schemas.openxmlformats.org/drawingml/2006/main">
            <a:off x="800100" y="4591050"/>
            <a:ext cx="10591800" cy="609600"/>
          </a:xfrm>
          <a:prstGeom xmlns:a="http://schemas.openxmlformats.org/drawingml/2006/main" prst="roundRect">
            <a:avLst>
              <a:gd name="adj" fmla="val 17188"/>
            </a:avLst>
          </a:prstGeom>
          <a:solidFill xmlns:a="http://schemas.openxmlformats.org/drawingml/2006/main">
            <a:srgbClr val="EDF8F2"/>
          </a:solidFill>
          <a:ln xmlns:a="http://schemas.openxmlformats.org/drawingml/2006/main" w="9525">
            <a:solidFill>
              <a:srgbClr val="D7DEE8"/>
            </a:solidFill>
            <a:prstDash val="solid"/>
          </a:ln>
        </p:spPr>
      </p:sp>
      <p:sp>
        <p:nvSpPr>
          <p:cNvPr id="22" name="Rectangle 21">
            <a:extLst xmlns:a="http://schemas.openxmlformats.org/drawingml/2006/main">
              <a:ext uri="{FF2B5EF4-FFF2-40B4-BE49-F238E27FC236}">
                <a16:creationId xmlns:a16="http://schemas.microsoft.com/office/drawing/2014/main" id="{532EE6C2-1F7B-4682-9D07-7B2CE2901A88}"/>
              </a:ext>
            </a:extLst>
          </p:cNvPr>
          <p:cNvSpPr>
            <a:spLocks xmlns:a="http://schemas.openxmlformats.org/drawingml/2006/main" noGrp="1"/>
          </p:cNvSpPr>
          <p:nvPr/>
        </p:nvSpPr>
        <p:spPr>
          <a:xfrm xmlns:a="http://schemas.openxmlformats.org/drawingml/2006/main">
            <a:off x="952500" y="47148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Метрика</a:t>
            </a:r>
          </a:p>
        </p:txBody>
      </p:sp>
      <p:sp>
        <p:nvSpPr>
          <p:cNvPr id="23" name="Rectangle 22">
            <a:extLst xmlns:a="http://schemas.openxmlformats.org/drawingml/2006/main">
              <a:ext uri="{FF2B5EF4-FFF2-40B4-BE49-F238E27FC236}">
                <a16:creationId xmlns:a16="http://schemas.microsoft.com/office/drawing/2014/main" id="{B019FBE9-4B53-4545-AF64-27495DE95FCE}"/>
              </a:ext>
            </a:extLst>
          </p:cNvPr>
          <p:cNvSpPr>
            <a:spLocks xmlns:a="http://schemas.openxmlformats.org/drawingml/2006/main" noGrp="1"/>
          </p:cNvSpPr>
          <p:nvPr/>
        </p:nvSpPr>
        <p:spPr>
          <a:xfrm xmlns:a="http://schemas.openxmlformats.org/drawingml/2006/main">
            <a:off x="363855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Показује тренд или одступање.</a:t>
            </a:r>
          </a:p>
        </p:txBody>
      </p:sp>
      <p:sp>
        <p:nvSpPr>
          <p:cNvPr id="24" name="Rectangle 23">
            <a:extLst xmlns:a="http://schemas.openxmlformats.org/drawingml/2006/main">
              <a:ext uri="{FF2B5EF4-FFF2-40B4-BE49-F238E27FC236}">
                <a16:creationId xmlns:a16="http://schemas.microsoft.com/office/drawing/2014/main" id="{7293B485-5612-4BA2-829F-4FC397E618DC}"/>
              </a:ext>
            </a:extLst>
          </p:cNvPr>
          <p:cNvSpPr>
            <a:spLocks xmlns:a="http://schemas.openxmlformats.org/drawingml/2006/main" noGrp="1"/>
          </p:cNvSpPr>
          <p:nvPr/>
        </p:nvSpPr>
        <p:spPr>
          <a:xfrm xmlns:a="http://schemas.openxmlformats.org/drawingml/2006/main">
            <a:off x="754380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Дефинисан праг и извор података.</a:t>
            </a:r>
          </a:p>
        </p:txBody>
      </p:sp>
    </p:spTree>
    <p:extLst>
      <p:ext uri="{BB962C8B-B14F-4D97-AF65-F5344CB8AC3E}">
        <p14:creationId xmlns:p14="http://schemas.microsoft.com/office/powerpoint/2010/main" val="188536136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CA9172AA-7712-4937-BDB6-38B85C08C7A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8E14B6E-6390-431C-BA15-A093BBB017E1}"/>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AA8DE897-6DEC-41D5-95E2-9D5E2A5179C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xmlns:a="http://schemas.openxmlformats.org/drawingml/2006/main">
              <a:ext uri="{FF2B5EF4-FFF2-40B4-BE49-F238E27FC236}">
                <a16:creationId xmlns:a16="http://schemas.microsoft.com/office/drawing/2014/main" id="{5AA491CB-B70B-40F7-B1C0-6B02F58B15DC}"/>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Модел од правила до доказа</a:t>
            </a:r>
          </a:p>
        </p:txBody>
      </p:sp>
      <p:sp>
        <p:nvSpPr>
          <p:cNvPr id="5" name="Rectangle 4">
            <a:extLst xmlns:a="http://schemas.openxmlformats.org/drawingml/2006/main">
              <a:ext uri="{FF2B5EF4-FFF2-40B4-BE49-F238E27FC236}">
                <a16:creationId xmlns:a16="http://schemas.microsoft.com/office/drawing/2014/main" id="{16312DC6-AA6D-4B0B-922B-6A7E8569D8D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5126"/>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Правило може бити добро написано, а контрола ипак неефективна. Доказ повезује очекивање са реалним понашањем.</a:t>
            </a:r>
          </a:p>
        </p:txBody>
      </p:sp>
      <p:sp>
        <p:nvSpPr>
          <p:cNvPr id="6" name="Rounded Rectangle 5">
            <a:extLst xmlns:a="http://schemas.openxmlformats.org/drawingml/2006/main">
              <a:ext uri="{FF2B5EF4-FFF2-40B4-BE49-F238E27FC236}">
                <a16:creationId xmlns:a16="http://schemas.microsoft.com/office/drawing/2014/main" id="{209680FF-5F77-42D7-A720-0B8870C5139C}"/>
              </a:ext>
            </a:extLst>
          </p:cNvPr>
          <p:cNvSpPr>
            <a:spLocks xmlns:a="http://schemas.openxmlformats.org/drawingml/2006/main" noGrp="1"/>
          </p:cNvSpPr>
          <p:nvPr/>
        </p:nvSpPr>
        <p:spPr>
          <a:xfrm xmlns:a="http://schemas.openxmlformats.org/drawingml/2006/main">
            <a:off x="742950" y="2571750"/>
            <a:ext cx="2462213"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B593984-EA08-403F-ACAC-826F5BEF14D8}"/>
              </a:ext>
            </a:extLst>
          </p:cNvPr>
          <p:cNvSpPr>
            <a:spLocks xmlns:a="http://schemas.openxmlformats.org/drawingml/2006/main" noGrp="1"/>
          </p:cNvSpPr>
          <p:nvPr/>
        </p:nvSpPr>
        <p:spPr>
          <a:xfrm xmlns:a="http://schemas.openxmlformats.org/drawingml/2006/main">
            <a:off x="885825"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F7D5803-1D09-484F-9183-A151EBB8B30B}"/>
              </a:ext>
            </a:extLst>
          </p:cNvPr>
          <p:cNvSpPr>
            <a:spLocks xmlns:a="http://schemas.openxmlformats.org/drawingml/2006/main" noGrp="1"/>
          </p:cNvSpPr>
          <p:nvPr/>
        </p:nvSpPr>
        <p:spPr>
          <a:xfrm xmlns:a="http://schemas.openxmlformats.org/drawingml/2006/main">
            <a:off x="876300"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xmlns:a="http://schemas.openxmlformats.org/drawingml/2006/main">
              <a:ext uri="{FF2B5EF4-FFF2-40B4-BE49-F238E27FC236}">
                <a16:creationId xmlns:a16="http://schemas.microsoft.com/office/drawing/2014/main" id="{F098C2BB-7AA5-48E4-9489-A4481B35B608}"/>
              </a:ext>
            </a:extLst>
          </p:cNvPr>
          <p:cNvSpPr>
            <a:spLocks xmlns:a="http://schemas.openxmlformats.org/drawingml/2006/main" noGrp="1"/>
          </p:cNvSpPr>
          <p:nvPr/>
        </p:nvSpPr>
        <p:spPr>
          <a:xfrm xmlns:a="http://schemas.openxmlformats.org/drawingml/2006/main">
            <a:off x="885825"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описана намера и опсег</a:t>
            </a:r>
          </a:p>
        </p:txBody>
      </p:sp>
      <p:sp>
        <p:nvSpPr>
          <p:cNvPr id="10" name="Rounded Rectangle 9">
            <a:extLst xmlns:a="http://schemas.openxmlformats.org/drawingml/2006/main">
              <a:ext uri="{FF2B5EF4-FFF2-40B4-BE49-F238E27FC236}">
                <a16:creationId xmlns:a16="http://schemas.microsoft.com/office/drawing/2014/main" id="{DA88863A-5147-4FD6-B7FF-240319B4C6F8}"/>
              </a:ext>
            </a:extLst>
          </p:cNvPr>
          <p:cNvSpPr>
            <a:spLocks xmlns:a="http://schemas.openxmlformats.org/drawingml/2006/main" noGrp="1"/>
          </p:cNvSpPr>
          <p:nvPr/>
        </p:nvSpPr>
        <p:spPr>
          <a:xfrm xmlns:a="http://schemas.openxmlformats.org/drawingml/2006/main">
            <a:off x="3490913" y="2571750"/>
            <a:ext cx="2462213"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E511D9AF-A1CA-43DE-9821-77DF09B5EA2C}"/>
              </a:ext>
            </a:extLst>
          </p:cNvPr>
          <p:cNvSpPr>
            <a:spLocks xmlns:a="http://schemas.openxmlformats.org/drawingml/2006/main" noGrp="1"/>
          </p:cNvSpPr>
          <p:nvPr/>
        </p:nvSpPr>
        <p:spPr>
          <a:xfrm xmlns:a="http://schemas.openxmlformats.org/drawingml/2006/main">
            <a:off x="3633788"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F304441-35E0-4A19-8E06-DCDFAA126192}"/>
              </a:ext>
            </a:extLst>
          </p:cNvPr>
          <p:cNvSpPr>
            <a:spLocks xmlns:a="http://schemas.openxmlformats.org/drawingml/2006/main" noGrp="1"/>
          </p:cNvSpPr>
          <p:nvPr/>
        </p:nvSpPr>
        <p:spPr>
          <a:xfrm xmlns:a="http://schemas.openxmlformats.org/drawingml/2006/main">
            <a:off x="3624263"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xmlns:a="http://schemas.openxmlformats.org/drawingml/2006/main">
              <a:ext uri="{FF2B5EF4-FFF2-40B4-BE49-F238E27FC236}">
                <a16:creationId xmlns:a16="http://schemas.microsoft.com/office/drawing/2014/main" id="{C5BF782F-8FA7-4D02-962A-DDE04FAD15D6}"/>
              </a:ext>
            </a:extLst>
          </p:cNvPr>
          <p:cNvSpPr>
            <a:spLocks xmlns:a="http://schemas.openxmlformats.org/drawingml/2006/main" noGrp="1"/>
          </p:cNvSpPr>
          <p:nvPr/>
        </p:nvSpPr>
        <p:spPr>
          <a:xfrm xmlns:a="http://schemas.openxmlformats.org/drawingml/2006/main">
            <a:off x="3633788"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362"/>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важеће вредности и прагови</a:t>
            </a:r>
          </a:p>
        </p:txBody>
      </p:sp>
      <p:sp>
        <p:nvSpPr>
          <p:cNvPr id="14" name="Rounded Rectangle 13">
            <a:extLst xmlns:a="http://schemas.openxmlformats.org/drawingml/2006/main">
              <a:ext uri="{FF2B5EF4-FFF2-40B4-BE49-F238E27FC236}">
                <a16:creationId xmlns:a16="http://schemas.microsoft.com/office/drawing/2014/main" id="{42DE820C-D666-4FB5-B1E8-2666ECC373C1}"/>
              </a:ext>
            </a:extLst>
          </p:cNvPr>
          <p:cNvSpPr>
            <a:spLocks xmlns:a="http://schemas.openxmlformats.org/drawingml/2006/main" noGrp="1"/>
          </p:cNvSpPr>
          <p:nvPr/>
        </p:nvSpPr>
        <p:spPr>
          <a:xfrm xmlns:a="http://schemas.openxmlformats.org/drawingml/2006/main">
            <a:off x="6238875" y="2571750"/>
            <a:ext cx="2462213"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FD1DB90-4EC8-48CE-A73B-BA1039C28922}"/>
              </a:ext>
            </a:extLst>
          </p:cNvPr>
          <p:cNvSpPr>
            <a:spLocks xmlns:a="http://schemas.openxmlformats.org/drawingml/2006/main" noGrp="1"/>
          </p:cNvSpPr>
          <p:nvPr/>
        </p:nvSpPr>
        <p:spPr>
          <a:xfrm xmlns:a="http://schemas.openxmlformats.org/drawingml/2006/main">
            <a:off x="6381750"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B979841D-5B4F-43DB-A84F-B4B355BA3C75}"/>
              </a:ext>
            </a:extLst>
          </p:cNvPr>
          <p:cNvSpPr>
            <a:spLocks xmlns:a="http://schemas.openxmlformats.org/drawingml/2006/main" noGrp="1"/>
          </p:cNvSpPr>
          <p:nvPr/>
        </p:nvSpPr>
        <p:spPr>
          <a:xfrm xmlns:a="http://schemas.openxmlformats.org/drawingml/2006/main">
            <a:off x="6372225"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xmlns:a="http://schemas.openxmlformats.org/drawingml/2006/main">
              <a:ext uri="{FF2B5EF4-FFF2-40B4-BE49-F238E27FC236}">
                <a16:creationId xmlns:a16="http://schemas.microsoft.com/office/drawing/2014/main" id="{85827283-F0E6-45B9-9D91-72CCF9BEA924}"/>
              </a:ext>
            </a:extLst>
          </p:cNvPr>
          <p:cNvSpPr>
            <a:spLocks xmlns:a="http://schemas.openxmlformats.org/drawingml/2006/main" noGrp="1"/>
          </p:cNvSpPr>
          <p:nvPr/>
        </p:nvSpPr>
        <p:spPr>
          <a:xfrm xmlns:a="http://schemas.openxmlformats.org/drawingml/2006/main">
            <a:off x="6381750"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спроводи одлуку</a:t>
            </a:r>
          </a:p>
        </p:txBody>
      </p:sp>
      <p:sp>
        <p:nvSpPr>
          <p:cNvPr id="18" name="Rounded Rectangle 17">
            <a:extLst xmlns:a="http://schemas.openxmlformats.org/drawingml/2006/main">
              <a:ext uri="{FF2B5EF4-FFF2-40B4-BE49-F238E27FC236}">
                <a16:creationId xmlns:a16="http://schemas.microsoft.com/office/drawing/2014/main" id="{106335C4-89B2-49E8-96E1-5EF6E162B6E0}"/>
              </a:ext>
            </a:extLst>
          </p:cNvPr>
          <p:cNvSpPr>
            <a:spLocks xmlns:a="http://schemas.openxmlformats.org/drawingml/2006/main" noGrp="1"/>
          </p:cNvSpPr>
          <p:nvPr/>
        </p:nvSpPr>
        <p:spPr>
          <a:xfrm xmlns:a="http://schemas.openxmlformats.org/drawingml/2006/main">
            <a:off x="8986838" y="2571750"/>
            <a:ext cx="2462213"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335338E-2557-4C5F-A2D7-EC45F14002E3}"/>
              </a:ext>
            </a:extLst>
          </p:cNvPr>
          <p:cNvSpPr>
            <a:spLocks xmlns:a="http://schemas.openxmlformats.org/drawingml/2006/main" noGrp="1"/>
          </p:cNvSpPr>
          <p:nvPr/>
        </p:nvSpPr>
        <p:spPr>
          <a:xfrm xmlns:a="http://schemas.openxmlformats.org/drawingml/2006/main">
            <a:off x="9129713"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B90843DB-5B25-482F-80F4-712B37F0A46A}"/>
              </a:ext>
            </a:extLst>
          </p:cNvPr>
          <p:cNvSpPr>
            <a:spLocks xmlns:a="http://schemas.openxmlformats.org/drawingml/2006/main" noGrp="1"/>
          </p:cNvSpPr>
          <p:nvPr/>
        </p:nvSpPr>
        <p:spPr>
          <a:xfrm xmlns:a="http://schemas.openxmlformats.org/drawingml/2006/main">
            <a:off x="9120188"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xmlns:a="http://schemas.openxmlformats.org/drawingml/2006/main">
              <a:ext uri="{FF2B5EF4-FFF2-40B4-BE49-F238E27FC236}">
                <a16:creationId xmlns:a16="http://schemas.microsoft.com/office/drawing/2014/main" id="{63F5A87B-77DA-400F-803A-5D31DCFA866D}"/>
              </a:ext>
            </a:extLst>
          </p:cNvPr>
          <p:cNvSpPr>
            <a:spLocks xmlns:a="http://schemas.openxmlformats.org/drawingml/2006/main" noGrp="1"/>
          </p:cNvSpPr>
          <p:nvPr/>
        </p:nvSpPr>
        <p:spPr>
          <a:xfrm xmlns:a="http://schemas.openxmlformats.org/drawingml/2006/main">
            <a:off x="9129713"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показује стварни исход</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05163"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2004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01088"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0344B343-D77C-4DD0-9590-5F2B633036A4}"/>
              </a:ext>
            </a:extLst>
          </p:cNvPr>
          <p:cNvSpPr>
            <a:spLocks xmlns:a="http://schemas.openxmlformats.org/drawingml/2006/main" noGrp="1"/>
          </p:cNvSpPr>
          <p:nvPr/>
        </p:nvSpPr>
        <p:spPr>
          <a:xfrm xmlns:a="http://schemas.openxmlformats.org/drawingml/2006/main">
            <a:off x="1714500" y="4419600"/>
            <a:ext cx="8763000" cy="74295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B5A35519-74F3-4D60-8838-4A39C67094FC}"/>
              </a:ext>
            </a:extLst>
          </p:cNvPr>
          <p:cNvSpPr>
            <a:spLocks xmlns:a="http://schemas.openxmlformats.org/drawingml/2006/main" noGrp="1"/>
          </p:cNvSpPr>
          <p:nvPr/>
        </p:nvSpPr>
        <p:spPr>
          <a:xfrm xmlns:a="http://schemas.openxmlformats.org/drawingml/2006/main">
            <a:off x="1847850" y="4562475"/>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97CBBFDA-3479-493A-94B5-F42E515F709C}"/>
              </a:ext>
            </a:extLst>
          </p:cNvPr>
          <p:cNvSpPr>
            <a:spLocks xmlns:a="http://schemas.openxmlformats.org/drawingml/2006/main" noGrp="1"/>
          </p:cNvSpPr>
          <p:nvPr/>
        </p:nvSpPr>
        <p:spPr>
          <a:xfrm xmlns:a="http://schemas.openxmlformats.org/drawingml/2006/main">
            <a:off x="914400" y="443865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13028C9F-4F9F-45C2-8883-702ECA96D9D2}"/>
              </a:ext>
            </a:extLst>
          </p:cNvPr>
          <p:cNvSpPr>
            <a:spLocks xmlns:a="http://schemas.openxmlformats.org/drawingml/2006/main" noGrp="1"/>
          </p:cNvSpPr>
          <p:nvPr/>
        </p:nvSpPr>
        <p:spPr>
          <a:xfrm xmlns:a="http://schemas.openxmlformats.org/drawingml/2006/main">
            <a:off x="1085850" y="459105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664CEBA1-99A0-4234-9BCC-27E73DB5E767}"/>
              </a:ext>
            </a:extLst>
          </p:cNvPr>
          <p:cNvSpPr>
            <a:spLocks xmlns:a="http://schemas.openxmlformats.org/drawingml/2006/main" noGrp="1"/>
          </p:cNvSpPr>
          <p:nvPr/>
        </p:nvSpPr>
        <p:spPr>
          <a:xfrm xmlns:a="http://schemas.openxmlformats.org/drawingml/2006/main">
            <a:off x="1333500" y="45434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ЕЛЕМЕНТИ АНАЛИЗЕ</a:t>
            </a:r>
          </a:p>
        </p:txBody>
      </p:sp>
      <p:sp>
        <p:nvSpPr>
          <p:cNvPr id="79" name="Rectangle 78">
            <a:extLst xmlns:a="http://schemas.openxmlformats.org/drawingml/2006/main">
              <a:ext uri="{FF2B5EF4-FFF2-40B4-BE49-F238E27FC236}">
                <a16:creationId xmlns:a16="http://schemas.microsoft.com/office/drawing/2014/main" id="{26F2F907-5136-4C71-B5E0-560917BFA849}"/>
              </a:ext>
            </a:extLst>
          </p:cNvPr>
          <p:cNvSpPr>
            <a:spLocks xmlns:a="http://schemas.openxmlformats.org/drawingml/2006/main" noGrp="1"/>
          </p:cNvSpPr>
          <p:nvPr/>
        </p:nvSpPr>
        <p:spPr>
          <a:xfrm xmlns:a="http://schemas.openxmlformats.org/drawingml/2006/main">
            <a:off x="1333500" y="477202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Анализа сваког корака обухвата покретача, место одлуке и траг који остаје после исхода.</a:t>
            </a:r>
          </a:p>
        </p:txBody>
      </p:sp>
    </p:spTree>
    <p:extLst>
      <p:ext uri="{BB962C8B-B14F-4D97-AF65-F5344CB8AC3E}">
        <p14:creationId xmlns:p14="http://schemas.microsoft.com/office/powerpoint/2010/main" val="1587459829"/>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419C463B-0138-49E7-9EE1-09BC1CB4EEF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6A15C1C6-02D9-4119-AF78-A5CD8DAF8BE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D8B40E3-2B88-4021-9396-3F7A1AEB37B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xmlns:a="http://schemas.openxmlformats.org/drawingml/2006/main">
              <a:ext uri="{FF2B5EF4-FFF2-40B4-BE49-F238E27FC236}">
                <a16:creationId xmlns:a16="http://schemas.microsoft.com/office/drawing/2014/main" id="{E6EE1D44-768C-4D9A-BFE4-6F530D852BC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Како се бира безбедносна метрика</a:t>
            </a:r>
          </a:p>
        </p:txBody>
      </p:sp>
      <p:sp>
        <p:nvSpPr>
          <p:cNvPr id="5" name="Rectangle 4">
            <a:extLst xmlns:a="http://schemas.openxmlformats.org/drawingml/2006/main">
              <a:ext uri="{FF2B5EF4-FFF2-40B4-BE49-F238E27FC236}">
                <a16:creationId xmlns:a16="http://schemas.microsoft.com/office/drawing/2014/main" id="{5970E532-8526-428D-A90D-D5B254F49A1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Процес приказује улазе, место одлуке и доказ који остаје после исхода.</a:t>
            </a:r>
          </a:p>
        </p:txBody>
      </p:sp>
      <p:sp>
        <p:nvSpPr>
          <p:cNvPr id="6" name="Rounded Rectangle 5">
            <a:extLst xmlns:a="http://schemas.openxmlformats.org/drawingml/2006/main">
              <a:ext uri="{FF2B5EF4-FFF2-40B4-BE49-F238E27FC236}">
                <a16:creationId xmlns:a16="http://schemas.microsoft.com/office/drawing/2014/main" id="{84C8A7EA-4A7A-42C7-8253-588519A3658A}"/>
              </a:ext>
            </a:extLst>
          </p:cNvPr>
          <p:cNvSpPr>
            <a:spLocks xmlns:a="http://schemas.openxmlformats.org/drawingml/2006/main" noGrp="1"/>
          </p:cNvSpPr>
          <p:nvPr/>
        </p:nvSpPr>
        <p:spPr>
          <a:xfrm xmlns:a="http://schemas.openxmlformats.org/drawingml/2006/main">
            <a:off x="781050" y="2152650"/>
            <a:ext cx="4572000" cy="2066925"/>
          </a:xfrm>
          <a:prstGeom xmlns:a="http://schemas.openxmlformats.org/drawingml/2006/main" prst="roundRect">
            <a:avLst>
              <a:gd name="adj" fmla="val 4242"/>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1233CC2-B4A4-4E2C-AC50-EC8E00D75DC7}"/>
              </a:ext>
            </a:extLst>
          </p:cNvPr>
          <p:cNvSpPr>
            <a:spLocks xmlns:a="http://schemas.openxmlformats.org/drawingml/2006/main" noGrp="1"/>
          </p:cNvSpPr>
          <p:nvPr/>
        </p:nvSpPr>
        <p:spPr>
          <a:xfrm xmlns:a="http://schemas.openxmlformats.org/drawingml/2006/main">
            <a:off x="933450" y="2276475"/>
            <a:ext cx="426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xmlns:a="http://schemas.openxmlformats.org/drawingml/2006/main">
              <a:ext uri="{FF2B5EF4-FFF2-40B4-BE49-F238E27FC236}">
                <a16:creationId xmlns:a16="http://schemas.microsoft.com/office/drawing/2014/main" id="{AD1E093A-72B2-42C7-B7EC-5F8F6ADCDDC8}"/>
              </a:ext>
            </a:extLst>
          </p:cNvPr>
          <p:cNvSpPr>
            <a:spLocks xmlns:a="http://schemas.openxmlformats.org/drawingml/2006/main" noGrp="1"/>
          </p:cNvSpPr>
          <p:nvPr/>
        </p:nvSpPr>
        <p:spPr>
          <a:xfrm xmlns:a="http://schemas.openxmlformats.org/drawingml/2006/main">
            <a:off x="933450" y="2524125"/>
            <a:ext cx="426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Како се бира безбедносна метрика</a:t>
            </a:r>
          </a:p>
        </p:txBody>
      </p:sp>
      <p:sp>
        <p:nvSpPr>
          <p:cNvPr id="9" name="Rectangle 8">
            <a:extLst xmlns:a="http://schemas.openxmlformats.org/drawingml/2006/main">
              <a:ext uri="{FF2B5EF4-FFF2-40B4-BE49-F238E27FC236}">
                <a16:creationId xmlns:a16="http://schemas.microsoft.com/office/drawing/2014/main" id="{8BE615A8-6455-4360-A7A3-22B48B3845A5}"/>
              </a:ext>
            </a:extLst>
          </p:cNvPr>
          <p:cNvSpPr>
            <a:spLocks xmlns:a="http://schemas.openxmlformats.org/drawingml/2006/main" noGrp="1"/>
          </p:cNvSpPr>
          <p:nvPr/>
        </p:nvSpPr>
        <p:spPr>
          <a:xfrm xmlns:a="http://schemas.openxmlformats.org/drawingml/2006/main">
            <a:off x="933450" y="3086100"/>
            <a:ext cx="42672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Избор метрике почиње питањем које оператер или власник система треба да реши. Након тога се одређују извор, период посматрања и праг за покретање активности.</a:t>
            </a:r>
          </a:p>
        </p:txBody>
      </p:sp>
      <p:sp>
        <p:nvSpPr>
          <p:cNvPr id="10" name="Rounded Rectangle 9">
            <a:extLst xmlns:a="http://schemas.openxmlformats.org/drawingml/2006/main">
              <a:ext uri="{FF2B5EF4-FFF2-40B4-BE49-F238E27FC236}">
                <a16:creationId xmlns:a16="http://schemas.microsoft.com/office/drawing/2014/main" id="{967727CC-98C3-4612-A68C-928E6F33EA99}"/>
              </a:ext>
            </a:extLst>
          </p:cNvPr>
          <p:cNvSpPr>
            <a:spLocks xmlns:a="http://schemas.openxmlformats.org/drawingml/2006/main" noGrp="1"/>
          </p:cNvSpPr>
          <p:nvPr/>
        </p:nvSpPr>
        <p:spPr>
          <a:xfrm xmlns:a="http://schemas.openxmlformats.org/drawingml/2006/main">
            <a:off x="5772150" y="20955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3D85C469-74E5-4627-83A5-048A780C2F35}"/>
              </a:ext>
            </a:extLst>
          </p:cNvPr>
          <p:cNvSpPr>
            <a:spLocks xmlns:a="http://schemas.openxmlformats.org/drawingml/2006/main" noGrp="1"/>
          </p:cNvSpPr>
          <p:nvPr/>
        </p:nvSpPr>
        <p:spPr>
          <a:xfrm xmlns:a="http://schemas.openxmlformats.org/drawingml/2006/main">
            <a:off x="5924550" y="22193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87E92571-E6E1-4AEF-AADE-C3FB715A52BB}"/>
              </a:ext>
            </a:extLst>
          </p:cNvPr>
          <p:cNvSpPr>
            <a:spLocks xmlns:a="http://schemas.openxmlformats.org/drawingml/2006/main" noGrp="1"/>
          </p:cNvSpPr>
          <p:nvPr/>
        </p:nvSpPr>
        <p:spPr>
          <a:xfrm xmlns:a="http://schemas.openxmlformats.org/drawingml/2006/main">
            <a:off x="5924550" y="24669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Које понашање желимо да разумемо или ограничимо?</a:t>
            </a:r>
          </a:p>
        </p:txBody>
      </p:sp>
      <p:sp>
        <p:nvSpPr>
          <p:cNvPr id="13" name="Rounded Rectangle 12">
            <a:extLst xmlns:a="http://schemas.openxmlformats.org/drawingml/2006/main">
              <a:ext uri="{FF2B5EF4-FFF2-40B4-BE49-F238E27FC236}">
                <a16:creationId xmlns:a16="http://schemas.microsoft.com/office/drawing/2014/main" id="{2097A878-719B-4B0F-AD0C-4F67D7C662F1}"/>
              </a:ext>
            </a:extLst>
          </p:cNvPr>
          <p:cNvSpPr>
            <a:spLocks xmlns:a="http://schemas.openxmlformats.org/drawingml/2006/main" noGrp="1"/>
          </p:cNvSpPr>
          <p:nvPr/>
        </p:nvSpPr>
        <p:spPr>
          <a:xfrm xmlns:a="http://schemas.openxmlformats.org/drawingml/2006/main">
            <a:off x="5772150" y="2971800"/>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91E76AD-37DA-4171-A66B-8DC56CA0B883}"/>
              </a:ext>
            </a:extLst>
          </p:cNvPr>
          <p:cNvSpPr>
            <a:spLocks xmlns:a="http://schemas.openxmlformats.org/drawingml/2006/main" noGrp="1"/>
          </p:cNvSpPr>
          <p:nvPr/>
        </p:nvSpPr>
        <p:spPr>
          <a:xfrm xmlns:a="http://schemas.openxmlformats.org/drawingml/2006/main">
            <a:off x="5924550" y="30956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125DB939-CC09-4C1C-A4C4-8BF4D2A298BB}"/>
              </a:ext>
            </a:extLst>
          </p:cNvPr>
          <p:cNvSpPr>
            <a:spLocks xmlns:a="http://schemas.openxmlformats.org/drawingml/2006/main" noGrp="1"/>
          </p:cNvSpPr>
          <p:nvPr/>
        </p:nvSpPr>
        <p:spPr>
          <a:xfrm xmlns:a="http://schemas.openxmlformats.org/drawingml/2006/main">
            <a:off x="5924550" y="33432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Који догађаји поуздано представљају то понашање?</a:t>
            </a:r>
          </a:p>
        </p:txBody>
      </p:sp>
      <p:sp>
        <p:nvSpPr>
          <p:cNvPr id="16" name="Rounded Rectangle 15">
            <a:extLst xmlns:a="http://schemas.openxmlformats.org/drawingml/2006/main">
              <a:ext uri="{FF2B5EF4-FFF2-40B4-BE49-F238E27FC236}">
                <a16:creationId xmlns:a16="http://schemas.microsoft.com/office/drawing/2014/main" id="{53E59189-EC63-484C-96BB-5A399F162509}"/>
              </a:ext>
            </a:extLst>
          </p:cNvPr>
          <p:cNvSpPr>
            <a:spLocks xmlns:a="http://schemas.openxmlformats.org/drawingml/2006/main" noGrp="1"/>
          </p:cNvSpPr>
          <p:nvPr/>
        </p:nvSpPr>
        <p:spPr>
          <a:xfrm xmlns:a="http://schemas.openxmlformats.org/drawingml/2006/main">
            <a:off x="5772150" y="38481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F2390447-784D-4557-9479-B0C059D84C1D}"/>
              </a:ext>
            </a:extLst>
          </p:cNvPr>
          <p:cNvSpPr>
            <a:spLocks xmlns:a="http://schemas.openxmlformats.org/drawingml/2006/main" noGrp="1"/>
          </p:cNvSpPr>
          <p:nvPr/>
        </p:nvSpPr>
        <p:spPr>
          <a:xfrm xmlns:a="http://schemas.openxmlformats.org/drawingml/2006/main">
            <a:off x="5924550" y="39719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9456A8CD-8ACE-4303-B7CE-C637D9F3231A}"/>
              </a:ext>
            </a:extLst>
          </p:cNvPr>
          <p:cNvSpPr>
            <a:spLocks xmlns:a="http://schemas.openxmlformats.org/drawingml/2006/main" noGrp="1"/>
          </p:cNvSpPr>
          <p:nvPr/>
        </p:nvSpPr>
        <p:spPr>
          <a:xfrm xmlns:a="http://schemas.openxmlformats.org/drawingml/2006/main">
            <a:off x="5924550" y="4219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Ко је власник прага и шта ради када се праг пређе?</a:t>
            </a:r>
          </a:p>
        </p:txBody>
      </p:sp>
      <p:sp>
        <p:nvSpPr>
          <p:cNvPr id="19" name="Rounded Rectangle 18">
            <a:extLst xmlns:a="http://schemas.openxmlformats.org/drawingml/2006/main">
              <a:ext uri="{FF2B5EF4-FFF2-40B4-BE49-F238E27FC236}">
                <a16:creationId xmlns:a16="http://schemas.microsoft.com/office/drawing/2014/main" id="{2A7D016B-25CA-49D4-B8A3-4938D592CBA8}"/>
              </a:ext>
            </a:extLst>
          </p:cNvPr>
          <p:cNvSpPr>
            <a:spLocks xmlns:a="http://schemas.openxmlformats.org/drawingml/2006/main" noGrp="1"/>
          </p:cNvSpPr>
          <p:nvPr/>
        </p:nvSpPr>
        <p:spPr>
          <a:xfrm xmlns:a="http://schemas.openxmlformats.org/drawingml/2006/main">
            <a:off x="5772150" y="4724400"/>
            <a:ext cx="5638800" cy="8763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20" name="Rectangle 19">
            <a:extLst xmlns:a="http://schemas.openxmlformats.org/drawingml/2006/main">
              <a:ext uri="{FF2B5EF4-FFF2-40B4-BE49-F238E27FC236}">
                <a16:creationId xmlns:a16="http://schemas.microsoft.com/office/drawing/2014/main" id="{4AD519ED-7DA1-4ECF-9E43-CA8CBF1D6B0C}"/>
              </a:ext>
            </a:extLst>
          </p:cNvPr>
          <p:cNvSpPr>
            <a:spLocks xmlns:a="http://schemas.openxmlformats.org/drawingml/2006/main" noGrp="1"/>
          </p:cNvSpPr>
          <p:nvPr/>
        </p:nvSpPr>
        <p:spPr>
          <a:xfrm xmlns:a="http://schemas.openxmlformats.org/drawingml/2006/main">
            <a:off x="5924550" y="48482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xmlns:a="http://schemas.openxmlformats.org/drawingml/2006/main">
              <a:ext uri="{FF2B5EF4-FFF2-40B4-BE49-F238E27FC236}">
                <a16:creationId xmlns:a16="http://schemas.microsoft.com/office/drawing/2014/main" id="{703F5CF7-E069-4427-BF39-E6B082D221E0}"/>
              </a:ext>
            </a:extLst>
          </p:cNvPr>
          <p:cNvSpPr>
            <a:spLocks xmlns:a="http://schemas.openxmlformats.org/drawingml/2006/main" noGrp="1"/>
          </p:cNvSpPr>
          <p:nvPr/>
        </p:nvSpPr>
        <p:spPr>
          <a:xfrm xmlns:a="http://schemas.openxmlformats.org/drawingml/2006/main">
            <a:off x="5924550" y="50958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Како</a:t>
            </a:r>
            <a:r>
              <a:rPr sz="1350" b="1">
                <a:solidFill>
                  <a:srgbClr val="1A202C"/>
                </a:solidFill>
                <a:latin typeface="Aptos"/>
                <a:ea typeface="Aptos"/>
                <a:cs typeface="Aptos"/>
              </a:rPr>
              <a:t> </a:t>
            </a:r>
            <a:r>
              <a:rPr sz="1350" b="1">
                <a:solidFill>
                  <a:srgbClr val="1A202C"/>
                </a:solidFill>
                <a:latin typeface="Aptos"/>
                <a:ea typeface="Aptos"/>
                <a:cs typeface="Aptos"/>
              </a:rPr>
              <a:t>разликујемо</a:t>
            </a:r>
            <a:r>
              <a:rPr sz="1350" b="1">
                <a:solidFill>
                  <a:srgbClr val="1A202C"/>
                </a:solidFill>
                <a:latin typeface="Aptos"/>
                <a:ea typeface="Aptos"/>
                <a:cs typeface="Aptos"/>
              </a:rPr>
              <a:t> </a:t>
            </a:r>
            <a:r>
              <a:rPr sz="1350" b="1">
                <a:solidFill>
                  <a:srgbClr val="1A202C"/>
                </a:solidFill>
                <a:latin typeface="Aptos"/>
                <a:ea typeface="Aptos"/>
                <a:cs typeface="Aptos"/>
              </a:rPr>
              <a:t>нормалну</a:t>
            </a:r>
            <a:r>
              <a:rPr sz="1350" b="1">
                <a:solidFill>
                  <a:srgbClr val="1A202C"/>
                </a:solidFill>
                <a:latin typeface="Aptos"/>
                <a:ea typeface="Aptos"/>
                <a:cs typeface="Aptos"/>
              </a:rPr>
              <a:t> </a:t>
            </a:r>
            <a:r>
              <a:rPr sz="1350" b="1">
                <a:solidFill>
                  <a:srgbClr val="1A202C"/>
                </a:solidFill>
                <a:latin typeface="Aptos"/>
                <a:ea typeface="Aptos"/>
                <a:cs typeface="Aptos"/>
              </a:rPr>
              <a:t>промену</a:t>
            </a:r>
            <a:r>
              <a:rPr sz="1350" b="1">
                <a:solidFill>
                  <a:srgbClr val="1A202C"/>
                </a:solidFill>
                <a:latin typeface="Aptos"/>
                <a:ea typeface="Aptos"/>
                <a:cs typeface="Aptos"/>
              </a:rPr>
              <a:t> </a:t>
            </a:r>
            <a:r>
              <a:rPr sz="1350" b="1">
                <a:solidFill>
                  <a:srgbClr val="1A202C"/>
                </a:solidFill>
                <a:latin typeface="Aptos"/>
                <a:ea typeface="Aptos"/>
                <a:cs typeface="Aptos"/>
              </a:rPr>
              <a:t>рада</a:t>
            </a:r>
            <a:r>
              <a:rPr sz="1350" b="1">
                <a:solidFill>
                  <a:srgbClr val="1A202C"/>
                </a:solidFill>
                <a:latin typeface="Aptos"/>
                <a:ea typeface="Aptos"/>
                <a:cs typeface="Aptos"/>
              </a:rPr>
              <a:t> </a:t>
            </a:r>
            <a:r>
              <a:rPr sz="1350" b="1">
                <a:solidFill>
                  <a:srgbClr val="1A202C"/>
                </a:solidFill>
                <a:latin typeface="Aptos"/>
                <a:ea typeface="Aptos"/>
                <a:cs typeface="Aptos"/>
              </a:rPr>
              <a:t>од</a:t>
            </a:r>
            <a:r>
              <a:rPr sz="1350" b="1">
                <a:solidFill>
                  <a:srgbClr val="1A202C"/>
                </a:solidFill>
                <a:latin typeface="Aptos"/>
                <a:ea typeface="Aptos"/>
                <a:cs typeface="Aptos"/>
              </a:rPr>
              <a:t> </a:t>
            </a:r>
            <a:r>
              <a:rPr sz="1350" b="1">
                <a:solidFill>
                  <a:srgbClr val="1A202C"/>
                </a:solidFill>
                <a:latin typeface="Aptos"/>
                <a:ea typeface="Aptos"/>
                <a:cs typeface="Aptos"/>
              </a:rPr>
              <a:t>безбедносног</a:t>
            </a:r>
            <a:r>
              <a:rPr sz="1350" b="1">
                <a:solidFill>
                  <a:srgbClr val="1A202C"/>
                </a:solidFill>
                <a:latin typeface="Aptos"/>
                <a:ea typeface="Aptos"/>
                <a:cs typeface="Aptos"/>
              </a:rPr>
              <a:t> </a:t>
            </a:r>
            <a:r>
              <a:rPr sz="1350" b="1">
                <a:solidFill>
                  <a:srgbClr val="1A202C"/>
                </a:solidFill>
                <a:latin typeface="Aptos"/>
                <a:ea typeface="Aptos"/>
                <a:cs typeface="Aptos"/>
              </a:rPr>
              <a:t>одступања</a:t>
            </a:r>
            <a:r>
              <a:rPr sz="1350" b="1">
                <a:solidFill>
                  <a:srgbClr val="1A202C"/>
                </a:solidFill>
                <a:latin typeface="Aptos"/>
                <a:ea typeface="Aptos"/>
                <a:cs typeface="Aptos"/>
              </a:rPr>
              <a:t>?</a:t>
            </a:r>
          </a:p>
        </p:txBody>
      </p:sp>
    </p:spTree>
    <p:extLst>
      <p:ext uri="{BB962C8B-B14F-4D97-AF65-F5344CB8AC3E}">
        <p14:creationId xmlns:p14="http://schemas.microsoft.com/office/powerpoint/2010/main" val="75150643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B585CECE-DB0E-449A-8652-18CF00E3CCF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EE9FCA4-7028-4DE3-BB30-A20417513BC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AC7DF9A-2D6B-44BF-9DC7-83DA453F8ECA}"/>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xmlns:a="http://schemas.openxmlformats.org/drawingml/2006/main">
              <a:ext uri="{FF2B5EF4-FFF2-40B4-BE49-F238E27FC236}">
                <a16:creationId xmlns:a16="http://schemas.microsoft.com/office/drawing/2014/main" id="{EBC81911-E130-4504-A7BA-CCBAA89D78D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Правило без доказа је само намера</a:t>
            </a:r>
          </a:p>
        </p:txBody>
      </p:sp>
      <p:sp>
        <p:nvSpPr>
          <p:cNvPr id="5" name="Rectangle 4">
            <a:extLst xmlns:a="http://schemas.openxmlformats.org/drawingml/2006/main">
              <a:ext uri="{FF2B5EF4-FFF2-40B4-BE49-F238E27FC236}">
                <a16:creationId xmlns:a16="http://schemas.microsoft.com/office/drawing/2014/main" id="{F430D5BC-E7C1-4DA0-BE6F-0C20E5488ACC}"/>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Наведена правила остају видљива у имплементацији, тестовима и ревизији.</a:t>
            </a:r>
          </a:p>
        </p:txBody>
      </p:sp>
      <p:sp>
        <p:nvSpPr>
          <p:cNvPr id="6" name="Rounded Rectangle 5">
            <a:extLst xmlns:a="http://schemas.openxmlformats.org/drawingml/2006/main">
              <a:ext uri="{FF2B5EF4-FFF2-40B4-BE49-F238E27FC236}">
                <a16:creationId xmlns:a16="http://schemas.microsoft.com/office/drawing/2014/main" id="{46B91624-8E97-4936-B6DA-24926782E134}"/>
              </a:ext>
            </a:extLst>
          </p:cNvPr>
          <p:cNvSpPr>
            <a:spLocks xmlns:a="http://schemas.openxmlformats.org/drawingml/2006/main" noGrp="1"/>
          </p:cNvSpPr>
          <p:nvPr/>
        </p:nvSpPr>
        <p:spPr>
          <a:xfrm xmlns:a="http://schemas.openxmlformats.org/drawingml/2006/main">
            <a:off x="819150" y="2400300"/>
            <a:ext cx="3257550" cy="2343150"/>
          </a:xfrm>
          <a:prstGeom xmlns:a="http://schemas.openxmlformats.org/drawingml/2006/main" prst="roundRect">
            <a:avLst>
              <a:gd name="adj" fmla="val 5691"/>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F4653117-29DF-4A55-B499-F4FA2A635998}"/>
              </a:ext>
            </a:extLst>
          </p:cNvPr>
          <p:cNvSpPr>
            <a:spLocks xmlns:a="http://schemas.openxmlformats.org/drawingml/2006/main" noGrp="1"/>
          </p:cNvSpPr>
          <p:nvPr/>
        </p:nvSpPr>
        <p:spPr>
          <a:xfrm xmlns:a="http://schemas.openxmlformats.org/drawingml/2006/main">
            <a:off x="97155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5F97695C-225F-484B-A8EF-1F92612C614C}"/>
              </a:ext>
            </a:extLst>
          </p:cNvPr>
          <p:cNvSpPr>
            <a:spLocks xmlns:a="http://schemas.openxmlformats.org/drawingml/2006/main" noGrp="1"/>
          </p:cNvSpPr>
          <p:nvPr/>
        </p:nvSpPr>
        <p:spPr>
          <a:xfrm xmlns:a="http://schemas.openxmlformats.org/drawingml/2006/main">
            <a:off x="97155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Нова верзија политике чува разлог и контекст у коме је претходна одлука била исправна.</a:t>
            </a:r>
          </a:p>
        </p:txBody>
      </p:sp>
      <p:sp>
        <p:nvSpPr>
          <p:cNvPr id="9" name="Rectangle 8">
            <a:extLst xmlns:a="http://schemas.openxmlformats.org/drawingml/2006/main">
              <a:ext uri="{FF2B5EF4-FFF2-40B4-BE49-F238E27FC236}">
                <a16:creationId xmlns:a16="http://schemas.microsoft.com/office/drawing/2014/main" id="{1BBFA8B2-2652-424F-8DB6-676D52F06A91}"/>
              </a:ext>
            </a:extLst>
          </p:cNvPr>
          <p:cNvSpPr>
            <a:spLocks xmlns:a="http://schemas.openxmlformats.org/drawingml/2006/main" noGrp="1"/>
          </p:cNvSpPr>
          <p:nvPr/>
        </p:nvSpPr>
        <p:spPr>
          <a:xfrm xmlns:a="http://schemas.openxmlformats.org/drawingml/2006/main">
            <a:off x="97155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xmlns:a="http://schemas.openxmlformats.org/drawingml/2006/main">
              <a:ext uri="{FF2B5EF4-FFF2-40B4-BE49-F238E27FC236}">
                <a16:creationId xmlns:a16="http://schemas.microsoft.com/office/drawing/2014/main" id="{2D9C6035-E2FA-46F8-97FB-D5B970AD9C8F}"/>
              </a:ext>
            </a:extLst>
          </p:cNvPr>
          <p:cNvSpPr>
            <a:spLocks xmlns:a="http://schemas.openxmlformats.org/drawingml/2006/main" noGrp="1"/>
          </p:cNvSpPr>
          <p:nvPr/>
        </p:nvSpPr>
        <p:spPr>
          <a:xfrm xmlns:a="http://schemas.openxmlformats.org/drawingml/2006/main">
            <a:off x="4467225" y="2400300"/>
            <a:ext cx="3257550" cy="2343150"/>
          </a:xfrm>
          <a:prstGeom xmlns:a="http://schemas.openxmlformats.org/drawingml/2006/main" prst="roundRect">
            <a:avLst>
              <a:gd name="adj" fmla="val 5691"/>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1A43174D-4955-415A-833C-C87CAC5B88BA}"/>
              </a:ext>
            </a:extLst>
          </p:cNvPr>
          <p:cNvSpPr>
            <a:spLocks xmlns:a="http://schemas.openxmlformats.org/drawingml/2006/main" noGrp="1"/>
          </p:cNvSpPr>
          <p:nvPr/>
        </p:nvSpPr>
        <p:spPr>
          <a:xfrm xmlns:a="http://schemas.openxmlformats.org/drawingml/2006/main">
            <a:off x="4619625"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B5FFC9A7-41D5-4CC6-86BB-BD0870B62120}"/>
              </a:ext>
            </a:extLst>
          </p:cNvPr>
          <p:cNvSpPr>
            <a:spLocks xmlns:a="http://schemas.openxmlformats.org/drawingml/2006/main" noGrp="1"/>
          </p:cNvSpPr>
          <p:nvPr/>
        </p:nvSpPr>
        <p:spPr>
          <a:xfrm xmlns:a="http://schemas.openxmlformats.org/drawingml/2006/main">
            <a:off x="4619625"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Конфигурациона вредност има власника, значење и очекивани опсег.</a:t>
            </a:r>
          </a:p>
        </p:txBody>
      </p:sp>
      <p:sp>
        <p:nvSpPr>
          <p:cNvPr id="13" name="Rectangle 12">
            <a:extLst xmlns:a="http://schemas.openxmlformats.org/drawingml/2006/main">
              <a:ext uri="{FF2B5EF4-FFF2-40B4-BE49-F238E27FC236}">
                <a16:creationId xmlns:a16="http://schemas.microsoft.com/office/drawing/2014/main" id="{227D9A3B-A3AF-472A-A467-D4BA536156B7}"/>
              </a:ext>
            </a:extLst>
          </p:cNvPr>
          <p:cNvSpPr>
            <a:spLocks xmlns:a="http://schemas.openxmlformats.org/drawingml/2006/main" noGrp="1"/>
          </p:cNvSpPr>
          <p:nvPr/>
        </p:nvSpPr>
        <p:spPr>
          <a:xfrm xmlns:a="http://schemas.openxmlformats.org/drawingml/2006/main">
            <a:off x="4619625"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xmlns:a="http://schemas.openxmlformats.org/drawingml/2006/main">
              <a:ext uri="{FF2B5EF4-FFF2-40B4-BE49-F238E27FC236}">
                <a16:creationId xmlns:a16="http://schemas.microsoft.com/office/drawing/2014/main" id="{54AFF823-93D9-400F-A08E-85E1DEC2958D}"/>
              </a:ext>
            </a:extLst>
          </p:cNvPr>
          <p:cNvSpPr>
            <a:spLocks xmlns:a="http://schemas.openxmlformats.org/drawingml/2006/main" noGrp="1"/>
          </p:cNvSpPr>
          <p:nvPr/>
        </p:nvSpPr>
        <p:spPr>
          <a:xfrm xmlns:a="http://schemas.openxmlformats.org/drawingml/2006/main">
            <a:off x="8115300" y="2400300"/>
            <a:ext cx="3257550" cy="2343150"/>
          </a:xfrm>
          <a:prstGeom xmlns:a="http://schemas.openxmlformats.org/drawingml/2006/main" prst="roundRect">
            <a:avLst>
              <a:gd name="adj" fmla="val 5691"/>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BEA9A1A-4699-4E68-8D74-FDD53C14C3F1}"/>
              </a:ext>
            </a:extLst>
          </p:cNvPr>
          <p:cNvSpPr>
            <a:spLocks xmlns:a="http://schemas.openxmlformats.org/drawingml/2006/main" noGrp="1"/>
          </p:cNvSpPr>
          <p:nvPr/>
        </p:nvSpPr>
        <p:spPr>
          <a:xfrm xmlns:a="http://schemas.openxmlformats.org/drawingml/2006/main">
            <a:off x="826770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494718CA-F084-467B-885D-A5FB5A41DB01}"/>
              </a:ext>
            </a:extLst>
          </p:cNvPr>
          <p:cNvSpPr>
            <a:spLocks xmlns:a="http://schemas.openxmlformats.org/drawingml/2006/main" noGrp="1"/>
          </p:cNvSpPr>
          <p:nvPr/>
        </p:nvSpPr>
        <p:spPr>
          <a:xfrm xmlns:a="http://schemas.openxmlformats.org/drawingml/2006/main">
            <a:off x="826770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Корелациони идентификатор повезује један безбедносни ток кроз слојеве система.</a:t>
            </a:r>
          </a:p>
        </p:txBody>
      </p:sp>
      <p:sp>
        <p:nvSpPr>
          <p:cNvPr id="17" name="Rectangle 16">
            <a:extLst xmlns:a="http://schemas.openxmlformats.org/drawingml/2006/main">
              <a:ext uri="{FF2B5EF4-FFF2-40B4-BE49-F238E27FC236}">
                <a16:creationId xmlns:a16="http://schemas.microsoft.com/office/drawing/2014/main" id="{3959E280-CFE6-481F-8156-86280165D985}"/>
              </a:ext>
            </a:extLst>
          </p:cNvPr>
          <p:cNvSpPr>
            <a:spLocks xmlns:a="http://schemas.openxmlformats.org/drawingml/2006/main" noGrp="1"/>
          </p:cNvSpPr>
          <p:nvPr/>
        </p:nvSpPr>
        <p:spPr>
          <a:xfrm xmlns:a="http://schemas.openxmlformats.org/drawingml/2006/main">
            <a:off x="826770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145314157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73ACEB00-96A1-4741-86CE-E676E9BCF46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F1FF2C23-AC3B-4E0A-BDC7-8E3D32A7657E}"/>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481932E-0EC3-4078-A574-6767EA9620A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xmlns:a="http://schemas.openxmlformats.org/drawingml/2006/main">
              <a:ext uri="{FF2B5EF4-FFF2-40B4-BE49-F238E27FC236}">
                <a16:creationId xmlns:a16="http://schemas.microsoft.com/office/drawing/2014/main" id="{486E0D4A-01A9-47F1-9669-BAEF6EAC28D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у развоју</a:t>
            </a:r>
          </a:p>
        </p:txBody>
      </p:sp>
      <p:sp>
        <p:nvSpPr>
          <p:cNvPr id="5" name="Rectangle 4">
            <a:extLst xmlns:a="http://schemas.openxmlformats.org/drawingml/2006/main">
              <a:ext uri="{FF2B5EF4-FFF2-40B4-BE49-F238E27FC236}">
                <a16:creationId xmlns:a16="http://schemas.microsoft.com/office/drawing/2014/main" id="{1ED7C457-B269-4067-969D-30B7DD9AFCE7}"/>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Тим примењује тему кроз серверске провере, тестове и ревизионе записе током развоја.</a:t>
            </a:r>
          </a:p>
        </p:txBody>
      </p:sp>
      <p:sp>
        <p:nvSpPr>
          <p:cNvPr id="6" name="Rounded Rectangle 5">
            <a:extLst xmlns:a="http://schemas.openxmlformats.org/drawingml/2006/main">
              <a:ext uri="{FF2B5EF4-FFF2-40B4-BE49-F238E27FC236}">
                <a16:creationId xmlns:a16="http://schemas.microsoft.com/office/drawing/2014/main" id="{8D797362-A373-41CA-9295-4A851DC902E6}"/>
              </a:ext>
            </a:extLst>
          </p:cNvPr>
          <p:cNvSpPr>
            <a:spLocks xmlns:a="http://schemas.openxmlformats.org/drawingml/2006/main" noGrp="1"/>
          </p:cNvSpPr>
          <p:nvPr/>
        </p:nvSpPr>
        <p:spPr>
          <a:xfrm xmlns:a="http://schemas.openxmlformats.org/drawingml/2006/main">
            <a:off x="800100" y="2209800"/>
            <a:ext cx="4810125" cy="2857500"/>
          </a:xfrm>
          <a:prstGeom xmlns:a="http://schemas.openxmlformats.org/drawingml/2006/main" prst="roundRect">
            <a:avLst>
              <a:gd name="adj" fmla="val 4667"/>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29FD0B7-C8F6-4C0A-A407-BDD6B0F778D5}"/>
              </a:ext>
            </a:extLst>
          </p:cNvPr>
          <p:cNvSpPr>
            <a:spLocks xmlns:a="http://schemas.openxmlformats.org/drawingml/2006/main" noGrp="1"/>
          </p:cNvSpPr>
          <p:nvPr/>
        </p:nvSpPr>
        <p:spPr>
          <a:xfrm xmlns:a="http://schemas.openxmlformats.org/drawingml/2006/main">
            <a:off x="952500" y="2333625"/>
            <a:ext cx="45053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РАЗВОЈНИ КОНТЕКСТ</a:t>
            </a:r>
          </a:p>
        </p:txBody>
      </p:sp>
      <p:sp>
        <p:nvSpPr>
          <p:cNvPr id="8" name="Rectangle 7">
            <a:extLst xmlns:a="http://schemas.openxmlformats.org/drawingml/2006/main">
              <a:ext uri="{FF2B5EF4-FFF2-40B4-BE49-F238E27FC236}">
                <a16:creationId xmlns:a16="http://schemas.microsoft.com/office/drawing/2014/main" id="{9682AF65-0788-44D2-9BFE-BBB576D52D61}"/>
              </a:ext>
            </a:extLst>
          </p:cNvPr>
          <p:cNvSpPr>
            <a:spLocks xmlns:a="http://schemas.openxmlformats.org/drawingml/2006/main" noGrp="1"/>
          </p:cNvSpPr>
          <p:nvPr/>
        </p:nvSpPr>
        <p:spPr>
          <a:xfrm xmlns:a="http://schemas.openxmlformats.org/drawingml/2006/main">
            <a:off x="952500" y="2581275"/>
            <a:ext cx="45053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Примена принципа у коду</a:t>
            </a:r>
          </a:p>
        </p:txBody>
      </p:sp>
      <p:sp>
        <p:nvSpPr>
          <p:cNvPr id="9" name="Rectangle 8">
            <a:extLst xmlns:a="http://schemas.openxmlformats.org/drawingml/2006/main">
              <a:ext uri="{FF2B5EF4-FFF2-40B4-BE49-F238E27FC236}">
                <a16:creationId xmlns:a16="http://schemas.microsoft.com/office/drawing/2014/main" id="{62CF8D13-DC96-47C9-9F3A-F9BD9994DC3A}"/>
              </a:ext>
            </a:extLst>
          </p:cNvPr>
          <p:cNvSpPr>
            <a:spLocks xmlns:a="http://schemas.openxmlformats.org/drawingml/2006/main" noGrp="1"/>
          </p:cNvSpPr>
          <p:nvPr/>
        </p:nvSpPr>
        <p:spPr>
          <a:xfrm xmlns:a="http://schemas.openxmlformats.org/drawingml/2006/main">
            <a:off x="952500" y="3124200"/>
            <a:ext cx="4505325"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Тим бира кључне одлуке које може да објасни на основу лога и теста. Избор обухвата догађаје чији би нејасан исход отежао истрагу, преглед приступа или корекцију конфигурације.</a:t>
            </a:r>
          </a:p>
        </p:txBody>
      </p:sp>
      <p:sp>
        <p:nvSpPr>
          <p:cNvPr id="10" name="Rounded Rectangle 9">
            <a:extLst xmlns:a="http://schemas.openxmlformats.org/drawingml/2006/main">
              <a:ext uri="{FF2B5EF4-FFF2-40B4-BE49-F238E27FC236}">
                <a16:creationId xmlns:a16="http://schemas.microsoft.com/office/drawing/2014/main" id="{30EBFB47-7EF2-4F61-BD0C-9DB2B8348EFF}"/>
              </a:ext>
            </a:extLst>
          </p:cNvPr>
          <p:cNvSpPr>
            <a:spLocks xmlns:a="http://schemas.openxmlformats.org/drawingml/2006/main" noGrp="1"/>
          </p:cNvSpPr>
          <p:nvPr/>
        </p:nvSpPr>
        <p:spPr>
          <a:xfrm xmlns:a="http://schemas.openxmlformats.org/drawingml/2006/main">
            <a:off x="6038850" y="2209800"/>
            <a:ext cx="5353050" cy="819150"/>
          </a:xfrm>
          <a:prstGeom xmlns:a="http://schemas.openxmlformats.org/drawingml/2006/main" prst="roundRect">
            <a:avLst>
              <a:gd name="adj" fmla="val 16279"/>
            </a:avLst>
          </a:prstGeom>
          <a:solidFill xmlns:a="http://schemas.openxmlformats.org/drawingml/2006/main">
            <a:srgbClr val="F4F6F9"/>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7A851307-5ED4-4225-B094-9C21D3BC9140}"/>
              </a:ext>
            </a:extLst>
          </p:cNvPr>
          <p:cNvSpPr>
            <a:spLocks xmlns:a="http://schemas.openxmlformats.org/drawingml/2006/main" noGrp="1"/>
          </p:cNvSpPr>
          <p:nvPr/>
        </p:nvSpPr>
        <p:spPr>
          <a:xfrm xmlns:a="http://schemas.openxmlformats.org/drawingml/2006/main">
            <a:off x="6191250" y="23336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EF995F7D-0FB5-485F-B0F4-9AFBB1E46AB0}"/>
              </a:ext>
            </a:extLst>
          </p:cNvPr>
          <p:cNvSpPr>
            <a:spLocks xmlns:a="http://schemas.openxmlformats.org/drawingml/2006/main" noGrp="1"/>
          </p:cNvSpPr>
          <p:nvPr/>
        </p:nvSpPr>
        <p:spPr>
          <a:xfrm xmlns:a="http://schemas.openxmlformats.org/drawingml/2006/main">
            <a:off x="6191250" y="25812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Дефинисана одлука и њена граница.</a:t>
            </a:r>
          </a:p>
        </p:txBody>
      </p:sp>
      <p:sp>
        <p:nvSpPr>
          <p:cNvPr id="13" name="Rounded Rectangle 12">
            <a:extLst xmlns:a="http://schemas.openxmlformats.org/drawingml/2006/main">
              <a:ext uri="{FF2B5EF4-FFF2-40B4-BE49-F238E27FC236}">
                <a16:creationId xmlns:a16="http://schemas.microsoft.com/office/drawing/2014/main" id="{259AF8FF-8ABE-4FBB-8489-621F87B2A8A0}"/>
              </a:ext>
            </a:extLst>
          </p:cNvPr>
          <p:cNvSpPr>
            <a:spLocks xmlns:a="http://schemas.openxmlformats.org/drawingml/2006/main" noGrp="1"/>
          </p:cNvSpPr>
          <p:nvPr/>
        </p:nvSpPr>
        <p:spPr>
          <a:xfrm xmlns:a="http://schemas.openxmlformats.org/drawingml/2006/main">
            <a:off x="6038850" y="3200400"/>
            <a:ext cx="5353050" cy="819150"/>
          </a:xfrm>
          <a:prstGeom xmlns:a="http://schemas.openxmlformats.org/drawingml/2006/main" prst="roundRect">
            <a:avLst>
              <a:gd name="adj" fmla="val 16279"/>
            </a:avLst>
          </a:prstGeom>
          <a:solidFill xmlns:a="http://schemas.openxmlformats.org/drawingml/2006/main">
            <a:srgbClr val="F7F4F5"/>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30986E4D-C992-4B23-A62A-85D5B338A6B9}"/>
              </a:ext>
            </a:extLst>
          </p:cNvPr>
          <p:cNvSpPr>
            <a:spLocks xmlns:a="http://schemas.openxmlformats.org/drawingml/2006/main" noGrp="1"/>
          </p:cNvSpPr>
          <p:nvPr/>
        </p:nvSpPr>
        <p:spPr>
          <a:xfrm xmlns:a="http://schemas.openxmlformats.org/drawingml/2006/main">
            <a:off x="6191250" y="33242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39DD3CB9-77C3-45CF-A302-DCFDD822CBEC}"/>
              </a:ext>
            </a:extLst>
          </p:cNvPr>
          <p:cNvSpPr>
            <a:spLocks xmlns:a="http://schemas.openxmlformats.org/drawingml/2006/main" noGrp="1"/>
          </p:cNvSpPr>
          <p:nvPr/>
        </p:nvSpPr>
        <p:spPr>
          <a:xfrm xmlns:a="http://schemas.openxmlformats.org/drawingml/2006/main">
            <a:off x="6191250" y="35718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Серверска имплементација провере.</a:t>
            </a:r>
          </a:p>
        </p:txBody>
      </p:sp>
      <p:sp>
        <p:nvSpPr>
          <p:cNvPr id="16" name="Rounded Rectangle 15">
            <a:extLst xmlns:a="http://schemas.openxmlformats.org/drawingml/2006/main">
              <a:ext uri="{FF2B5EF4-FFF2-40B4-BE49-F238E27FC236}">
                <a16:creationId xmlns:a16="http://schemas.microsoft.com/office/drawing/2014/main" id="{726979B7-46AE-4C3B-969C-CD3D93ADF51C}"/>
              </a:ext>
            </a:extLst>
          </p:cNvPr>
          <p:cNvSpPr>
            <a:spLocks xmlns:a="http://schemas.openxmlformats.org/drawingml/2006/main" noGrp="1"/>
          </p:cNvSpPr>
          <p:nvPr/>
        </p:nvSpPr>
        <p:spPr>
          <a:xfrm xmlns:a="http://schemas.openxmlformats.org/drawingml/2006/main">
            <a:off x="6038850" y="4191000"/>
            <a:ext cx="5353050" cy="819150"/>
          </a:xfrm>
          <a:prstGeom xmlns:a="http://schemas.openxmlformats.org/drawingml/2006/main" prst="roundRect">
            <a:avLst>
              <a:gd name="adj" fmla="val 1627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2FAABB67-30C3-497D-ACB4-2836EE7FA61E}"/>
              </a:ext>
            </a:extLst>
          </p:cNvPr>
          <p:cNvSpPr>
            <a:spLocks xmlns:a="http://schemas.openxmlformats.org/drawingml/2006/main" noGrp="1"/>
          </p:cNvSpPr>
          <p:nvPr/>
        </p:nvSpPr>
        <p:spPr>
          <a:xfrm xmlns:a="http://schemas.openxmlformats.org/drawingml/2006/main">
            <a:off x="6191250" y="43148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EBAE9540-096D-4382-9577-99446401191E}"/>
              </a:ext>
            </a:extLst>
          </p:cNvPr>
          <p:cNvSpPr>
            <a:spLocks xmlns:a="http://schemas.openxmlformats.org/drawingml/2006/main" noGrp="1"/>
          </p:cNvSpPr>
          <p:nvPr/>
        </p:nvSpPr>
        <p:spPr>
          <a:xfrm xmlns:a="http://schemas.openxmlformats.org/drawingml/2006/main">
            <a:off x="6191250" y="45624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Позитиван и негативан доказ.</a:t>
            </a:r>
          </a:p>
        </p:txBody>
      </p:sp>
    </p:spTree>
    <p:extLst>
      <p:ext uri="{BB962C8B-B14F-4D97-AF65-F5344CB8AC3E}">
        <p14:creationId xmlns:p14="http://schemas.microsoft.com/office/powerpoint/2010/main" val="62098911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5D7BFD26-09E3-4CEF-9142-19DF9B05F83A}"/>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A818B86-CC0C-4767-9D9A-4E22FA276524}"/>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42712690-4E3F-4B55-9ABD-25140F719D1B}"/>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xmlns:a="http://schemas.openxmlformats.org/drawingml/2006/main">
              <a:ext uri="{FF2B5EF4-FFF2-40B4-BE49-F238E27FC236}">
                <a16:creationId xmlns:a16="http://schemas.microsoft.com/office/drawing/2014/main" id="{82950E26-C035-4172-A70F-763D5BF6E84A}"/>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Случај: промена правила без губитка историје</a:t>
            </a:r>
          </a:p>
        </p:txBody>
      </p:sp>
      <p:sp>
        <p:nvSpPr>
          <p:cNvPr id="5" name="Rectangle 4">
            <a:extLst xmlns:a="http://schemas.openxmlformats.org/drawingml/2006/main">
              <a:ext uri="{FF2B5EF4-FFF2-40B4-BE49-F238E27FC236}">
                <a16:creationId xmlns:a16="http://schemas.microsoft.com/office/drawing/2014/main" id="{C3342A51-A700-4DDE-813B-3D1620BC767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Случај повезује опште правило са конкретним контекстом, серверском провером и очекиваним исходом.</a:t>
            </a:r>
          </a:p>
        </p:txBody>
      </p:sp>
      <p:sp>
        <p:nvSpPr>
          <p:cNvPr id="6" name="Rounded Rectangle 5">
            <a:extLst xmlns:a="http://schemas.openxmlformats.org/drawingml/2006/main">
              <a:ext uri="{FF2B5EF4-FFF2-40B4-BE49-F238E27FC236}">
                <a16:creationId xmlns:a16="http://schemas.microsoft.com/office/drawing/2014/main" id="{B6DF51A2-1B26-4AC9-B076-89AD681548C6}"/>
              </a:ext>
            </a:extLst>
          </p:cNvPr>
          <p:cNvSpPr>
            <a:spLocks xmlns:a="http://schemas.openxmlformats.org/drawingml/2006/main" noGrp="1"/>
          </p:cNvSpPr>
          <p:nvPr/>
        </p:nvSpPr>
        <p:spPr>
          <a:xfrm xmlns:a="http://schemas.openxmlformats.org/drawingml/2006/main">
            <a:off x="781050" y="2143125"/>
            <a:ext cx="10629900" cy="1619250"/>
          </a:xfrm>
          <a:prstGeom xmlns:a="http://schemas.openxmlformats.org/drawingml/2006/main" prst="roundRect">
            <a:avLst>
              <a:gd name="adj" fmla="val 8235"/>
            </a:avLst>
          </a:prstGeom>
          <a:solidFill xmlns:a="http://schemas.openxmlformats.org/drawingml/2006/main">
            <a:srgbClr val="F4F6F9"/>
          </a:solidFill>
          <a:ln xmlns:a="http://schemas.openxmlformats.org/drawingml/2006/main" w="9525">
            <a:solidFill>
              <a:srgbClr val="D7DEE8"/>
            </a:solidFill>
            <a:prstDash val="solid"/>
          </a:ln>
        </p:spPr>
      </p:sp>
      <p:sp>
        <p:nvSpPr>
          <p:cNvPr id="7" name="Rectangle 6">
            <a:extLst xmlns:a="http://schemas.openxmlformats.org/drawingml/2006/main">
              <a:ext uri="{FF2B5EF4-FFF2-40B4-BE49-F238E27FC236}">
                <a16:creationId xmlns:a16="http://schemas.microsoft.com/office/drawing/2014/main" id="{F907B334-BB63-4550-B3C7-C6384C24E8F7}"/>
              </a:ext>
            </a:extLst>
          </p:cNvPr>
          <p:cNvSpPr>
            <a:spLocks xmlns:a="http://schemas.openxmlformats.org/drawingml/2006/main" noGrp="1"/>
          </p:cNvSpPr>
          <p:nvPr/>
        </p:nvSpPr>
        <p:spPr>
          <a:xfrm xmlns:a="http://schemas.openxmlformats.org/drawingml/2006/main">
            <a:off x="933450" y="2266950"/>
            <a:ext cx="10325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xmlns:a="http://schemas.openxmlformats.org/drawingml/2006/main">
              <a:ext uri="{FF2B5EF4-FFF2-40B4-BE49-F238E27FC236}">
                <a16:creationId xmlns:a16="http://schemas.microsoft.com/office/drawing/2014/main" id="{1E1AA7CC-4233-4C1A-82DE-B9CA2D05303F}"/>
              </a:ext>
            </a:extLst>
          </p:cNvPr>
          <p:cNvSpPr>
            <a:spLocks xmlns:a="http://schemas.openxmlformats.org/drawingml/2006/main" noGrp="1"/>
          </p:cNvSpPr>
          <p:nvPr/>
        </p:nvSpPr>
        <p:spPr>
          <a:xfrm xmlns:a="http://schemas.openxmlformats.org/drawingml/2006/main">
            <a:off x="933450" y="2514600"/>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промена правила без губитка историје</a:t>
            </a:r>
          </a:p>
        </p:txBody>
      </p:sp>
      <p:sp>
        <p:nvSpPr>
          <p:cNvPr id="9" name="Rectangle 8">
            <a:extLst xmlns:a="http://schemas.openxmlformats.org/drawingml/2006/main">
              <a:ext uri="{FF2B5EF4-FFF2-40B4-BE49-F238E27FC236}">
                <a16:creationId xmlns:a16="http://schemas.microsoft.com/office/drawing/2014/main" id="{29D9EDA4-6CB1-4F79-AA9B-3ECE8B42A248}"/>
              </a:ext>
            </a:extLst>
          </p:cNvPr>
          <p:cNvSpPr>
            <a:spLocks xmlns:a="http://schemas.openxmlformats.org/drawingml/2006/main" noGrp="1"/>
          </p:cNvSpPr>
          <p:nvPr/>
        </p:nvSpPr>
        <p:spPr>
          <a:xfrm xmlns:a="http://schemas.openxmlformats.org/drawingml/2006/main">
            <a:off x="933450" y="2981325"/>
            <a:ext cx="10325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Тим пооштрава правило за приступ административном интерфејсу. Ако старо правило само препише новим, касније не може да објасни зашто је ранији приступ био дозвољен нити да реконструише које је очекивање тада важило. Верзионисање очувава смисао историјских одлука и омогућава њихову накнадну реконструкцију.</a:t>
            </a:r>
          </a:p>
        </p:txBody>
      </p:sp>
      <p:sp>
        <p:nvSpPr>
          <p:cNvPr id="10" name="Rounded Rectangle 9">
            <a:extLst xmlns:a="http://schemas.openxmlformats.org/drawingml/2006/main">
              <a:ext uri="{FF2B5EF4-FFF2-40B4-BE49-F238E27FC236}">
                <a16:creationId xmlns:a16="http://schemas.microsoft.com/office/drawing/2014/main" id="{8E753EB7-3E75-4D1A-BBF9-57FF7D82936F}"/>
              </a:ext>
            </a:extLst>
          </p:cNvPr>
          <p:cNvSpPr>
            <a:spLocks xmlns:a="http://schemas.openxmlformats.org/drawingml/2006/main" noGrp="1"/>
          </p:cNvSpPr>
          <p:nvPr/>
        </p:nvSpPr>
        <p:spPr>
          <a:xfrm xmlns:a="http://schemas.openxmlformats.org/drawingml/2006/main">
            <a:off x="781050" y="4048125"/>
            <a:ext cx="3352800" cy="1352550"/>
          </a:xfrm>
          <a:prstGeom xmlns:a="http://schemas.openxmlformats.org/drawingml/2006/main" prst="roundRect">
            <a:avLst>
              <a:gd name="adj" fmla="val 9859"/>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17B8F1E2-030A-4945-BFF3-463510783D4B}"/>
              </a:ext>
            </a:extLst>
          </p:cNvPr>
          <p:cNvSpPr>
            <a:spLocks xmlns:a="http://schemas.openxmlformats.org/drawingml/2006/main" noGrp="1"/>
          </p:cNvSpPr>
          <p:nvPr/>
        </p:nvSpPr>
        <p:spPr>
          <a:xfrm xmlns:a="http://schemas.openxmlformats.org/drawingml/2006/main">
            <a:off x="93345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E3879685-EAAE-48AB-A8EB-DC5194C063B3}"/>
              </a:ext>
            </a:extLst>
          </p:cNvPr>
          <p:cNvSpPr>
            <a:spLocks xmlns:a="http://schemas.openxmlformats.org/drawingml/2006/main" noGrp="1"/>
          </p:cNvSpPr>
          <p:nvPr/>
        </p:nvSpPr>
        <p:spPr>
          <a:xfrm xmlns:a="http://schemas.openxmlformats.org/drawingml/2006/main">
            <a:off x="93345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Политика описује намеру и важење, док конфигурација чува вредности којима се та намера примењује у окружењу.</a:t>
            </a:r>
          </a:p>
        </p:txBody>
      </p:sp>
      <p:sp>
        <p:nvSpPr>
          <p:cNvPr id="13" name="Rounded Rectangle 12">
            <a:extLst xmlns:a="http://schemas.openxmlformats.org/drawingml/2006/main">
              <a:ext uri="{FF2B5EF4-FFF2-40B4-BE49-F238E27FC236}">
                <a16:creationId xmlns:a16="http://schemas.microsoft.com/office/drawing/2014/main" id="{F0EB8801-31E6-42D9-A2AD-C1629C6FF2ED}"/>
              </a:ext>
            </a:extLst>
          </p:cNvPr>
          <p:cNvSpPr>
            <a:spLocks xmlns:a="http://schemas.openxmlformats.org/drawingml/2006/main" noGrp="1"/>
          </p:cNvSpPr>
          <p:nvPr/>
        </p:nvSpPr>
        <p:spPr>
          <a:xfrm xmlns:a="http://schemas.openxmlformats.org/drawingml/2006/main">
            <a:off x="4391025" y="4048125"/>
            <a:ext cx="3352800" cy="1352550"/>
          </a:xfrm>
          <a:prstGeom xmlns:a="http://schemas.openxmlformats.org/drawingml/2006/main" prst="roundRect">
            <a:avLst>
              <a:gd name="adj" fmla="val 9859"/>
            </a:avLst>
          </a:prstGeom>
          <a:solidFill xmlns:a="http://schemas.openxmlformats.org/drawingml/2006/main">
            <a:srgbClr val="FFF6E9"/>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5CF21B7-B603-4B2C-AE47-074C98EADC4C}"/>
              </a:ext>
            </a:extLst>
          </p:cNvPr>
          <p:cNvSpPr>
            <a:spLocks xmlns:a="http://schemas.openxmlformats.org/drawingml/2006/main" noGrp="1"/>
          </p:cNvSpPr>
          <p:nvPr/>
        </p:nvSpPr>
        <p:spPr>
          <a:xfrm xmlns:a="http://schemas.openxmlformats.org/drawingml/2006/main">
            <a:off x="4543425"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EBB79170-B0A4-4B18-9152-2A914E089CA7}"/>
              </a:ext>
            </a:extLst>
          </p:cNvPr>
          <p:cNvSpPr>
            <a:spLocks xmlns:a="http://schemas.openxmlformats.org/drawingml/2006/main" noGrp="1"/>
          </p:cNvSpPr>
          <p:nvPr/>
        </p:nvSpPr>
        <p:spPr>
          <a:xfrm xmlns:a="http://schemas.openxmlformats.org/drawingml/2006/main">
            <a:off x="4543425"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Свака промена која утиче на одлуку има власника, датум и јасан разлог.</a:t>
            </a:r>
          </a:p>
        </p:txBody>
      </p:sp>
      <p:sp>
        <p:nvSpPr>
          <p:cNvPr id="16" name="Rounded Rectangle 15">
            <a:extLst xmlns:a="http://schemas.openxmlformats.org/drawingml/2006/main">
              <a:ext uri="{FF2B5EF4-FFF2-40B4-BE49-F238E27FC236}">
                <a16:creationId xmlns:a16="http://schemas.microsoft.com/office/drawing/2014/main" id="{00FF123D-8A16-4376-9049-AD9E90E52146}"/>
              </a:ext>
            </a:extLst>
          </p:cNvPr>
          <p:cNvSpPr>
            <a:spLocks xmlns:a="http://schemas.openxmlformats.org/drawingml/2006/main" noGrp="1"/>
          </p:cNvSpPr>
          <p:nvPr/>
        </p:nvSpPr>
        <p:spPr>
          <a:xfrm xmlns:a="http://schemas.openxmlformats.org/drawingml/2006/main">
            <a:off x="8001000" y="4048125"/>
            <a:ext cx="335280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1C745BEE-3C25-4135-8A4A-5F6F487CDC54}"/>
              </a:ext>
            </a:extLst>
          </p:cNvPr>
          <p:cNvSpPr>
            <a:spLocks xmlns:a="http://schemas.openxmlformats.org/drawingml/2006/main" noGrp="1"/>
          </p:cNvSpPr>
          <p:nvPr/>
        </p:nvSpPr>
        <p:spPr>
          <a:xfrm xmlns:a="http://schemas.openxmlformats.org/drawingml/2006/main">
            <a:off x="815340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9E1F3BCA-91CD-4D48-BAFA-F9B9F1C784A7}"/>
              </a:ext>
            </a:extLst>
          </p:cNvPr>
          <p:cNvSpPr>
            <a:spLocks xmlns:a="http://schemas.openxmlformats.org/drawingml/2006/main" noGrp="1"/>
          </p:cNvSpPr>
          <p:nvPr/>
        </p:nvSpPr>
        <p:spPr>
          <a:xfrm xmlns:a="http://schemas.openxmlformats.org/drawingml/2006/main">
            <a:off x="815340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Лог, метрика или тест дају доказ да систем ради према активном правилу, а не само да је правило записано.</a:t>
            </a:r>
          </a:p>
        </p:txBody>
      </p:sp>
    </p:spTree>
    <p:extLst>
      <p:ext uri="{BB962C8B-B14F-4D97-AF65-F5344CB8AC3E}">
        <p14:creationId xmlns:p14="http://schemas.microsoft.com/office/powerpoint/2010/main" val="130403340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8A9BF6A0-658F-4339-85DE-778B10EFE526}"/>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AB86501-69C7-4D46-98E9-1EE56E96744F}"/>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C7625CE4-01BC-46EF-8C28-C91A57555CC5}"/>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xmlns:a="http://schemas.openxmlformats.org/drawingml/2006/main">
              <a:ext uri="{FF2B5EF4-FFF2-40B4-BE49-F238E27FC236}">
                <a16:creationId xmlns:a16="http://schemas.microsoft.com/office/drawing/2014/main" id="{619C1003-BFD5-49FE-B70C-5947CBF31A0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Политика, конфигурација и контрола имају различите улоге</a:t>
            </a:r>
          </a:p>
        </p:txBody>
      </p:sp>
      <p:sp>
        <p:nvSpPr>
          <p:cNvPr id="5" name="Rectangle 4">
            <a:extLst xmlns:a="http://schemas.openxmlformats.org/drawingml/2006/main">
              <a:ext uri="{FF2B5EF4-FFF2-40B4-BE49-F238E27FC236}">
                <a16:creationId xmlns:a16="http://schemas.microsoft.com/office/drawing/2014/main" id="{AE7373C4-4F9F-432E-B6E2-BA1F51E699A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Референтна вредност је правило, тренутна вредност је стање, а контрола их пореди.</a:t>
            </a:r>
          </a:p>
        </p:txBody>
      </p:sp>
      <p:sp>
        <p:nvSpPr>
          <p:cNvPr id="6" name="Rounded Rectangle 5">
            <a:extLst xmlns:a="http://schemas.openxmlformats.org/drawingml/2006/main">
              <a:ext uri="{FF2B5EF4-FFF2-40B4-BE49-F238E27FC236}">
                <a16:creationId xmlns:a16="http://schemas.microsoft.com/office/drawing/2014/main" id="{8ECC46D5-DC1D-4A2F-9385-111DF3381DED}"/>
              </a:ext>
            </a:extLst>
          </p:cNvPr>
          <p:cNvSpPr>
            <a:spLocks xmlns:a="http://schemas.openxmlformats.org/drawingml/2006/main" noGrp="1"/>
          </p:cNvSpPr>
          <p:nvPr/>
        </p:nvSpPr>
        <p:spPr>
          <a:xfrm xmlns:a="http://schemas.openxmlformats.org/drawingml/2006/main">
            <a:off x="666750" y="2095500"/>
            <a:ext cx="6858000" cy="2812550"/>
          </a:xfrm>
          <a:prstGeom xmlns:a="http://schemas.openxmlformats.org/drawingml/2006/main" prst="roundRect">
            <a:avLst>
              <a:gd name="adj" fmla="val 4673"/>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C9AEBF98-5A4B-4167-91AC-495E90BB1096}"/>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EB210FEB-B3A4-48D2-A5AB-C3B98E501C2E}"/>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2B1F8D26-078A-41EA-B737-6A23D12A4A37}"/>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913D9F09-444C-493C-B34A-1700429F05BA}"/>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E226F36A-8F12-4493-B19F-7AC09DA96144}"/>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11</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12</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13</a:t>
            </a:r>
          </a:p>
        </p:txBody>
      </p:sp>
      <p:sp>
        <p:nvSpPr>
          <p:cNvPr id="12" name="Rectangle 11">
            <a:extLst xmlns:a="http://schemas.openxmlformats.org/drawingml/2006/main">
              <a:ext uri="{FF2B5EF4-FFF2-40B4-BE49-F238E27FC236}">
                <a16:creationId xmlns:a16="http://schemas.microsoft.com/office/drawing/2014/main" id="{E905558A-FFF1-45F6-A82B-FB1FB2D427C5}"/>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sealed</a:t>
            </a:r>
            <a:r>
              <a:rPr b="0">
                <a:solidFill>
                  <a:srgbClr val="263044"/>
                </a:solidFill>
              </a:rPr>
              <a:t> </a:t>
            </a:r>
            <a:r>
              <a:rPr b="1">
                <a:solidFill>
                  <a:srgbClr val="0969C3"/>
                </a:solidFill>
              </a:rPr>
              <a:t>class</a:t>
            </a:r>
            <a:r>
              <a:rPr b="0">
                <a:solidFill>
                  <a:srgbClr val="263044"/>
                </a:solidFill>
              </a:rPr>
              <a:t> </a:t>
            </a:r>
            <a:r>
              <a:rPr b="0">
                <a:solidFill>
                  <a:srgbClr val="7651D4"/>
                </a:solidFill>
              </a:rPr>
              <a:t>MinimumPasswordLengthControl</a:t>
            </a:r>
            <a:r>
              <a:rPr b="0">
                <a:solidFill>
                  <a:srgbClr val="263044"/>
                </a:solidFill>
              </a:rPr>
              <a:t> : </a:t>
            </a:r>
            <a:r>
              <a:rPr b="0">
                <a:solidFill>
                  <a:srgbClr val="7651D4"/>
                </a:solidFill>
              </a:rPr>
              <a:t>IConfigurationControl</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public</a:t>
            </a:r>
            <a:r>
              <a:rPr b="0">
                <a:solidFill>
                  <a:srgbClr val="263044"/>
                </a:solidFill>
              </a:rPr>
              <a:t> </a:t>
            </a:r>
            <a:r>
              <a:rPr b="1">
                <a:solidFill>
                  <a:srgbClr val="0969C3"/>
                </a:solidFill>
              </a:rPr>
              <a:t>const</a:t>
            </a:r>
            <a:r>
              <a:rPr b="0">
                <a:solidFill>
                  <a:srgbClr val="263044"/>
                </a:solidFill>
              </a:rPr>
              <a:t> </a:t>
            </a:r>
            <a:r>
              <a:rPr b="1">
                <a:solidFill>
                  <a:srgbClr val="0969C3"/>
                </a:solidFill>
              </a:rPr>
              <a:t>string</a:t>
            </a:r>
            <a:r>
              <a:rPr b="0">
                <a:solidFill>
                  <a:srgbClr val="263044"/>
                </a:solidFill>
              </a:rPr>
              <a:t> </a:t>
            </a:r>
            <a:r>
              <a:rPr b="0">
                <a:solidFill>
                  <a:srgbClr val="7651D4"/>
                </a:solidFill>
              </a:rPr>
              <a:t>Name</a:t>
            </a:r>
            <a:r>
              <a:rPr b="0">
                <a:solidFill>
                  <a:srgbClr val="263044"/>
                </a:solidFill>
              </a:rPr>
              <a:t> = </a:t>
            </a:r>
            <a:r>
              <a:rPr b="0">
                <a:solidFill>
                  <a:srgbClr val="B45309"/>
                </a:solidFill>
              </a:rPr>
              <a:t>"password.minLength"</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public</a:t>
            </a:r>
            <a:r>
              <a:rPr b="0">
                <a:solidFill>
                  <a:srgbClr val="263044"/>
                </a:solidFill>
              </a:rPr>
              <a:t> </a:t>
            </a:r>
            <a:r>
              <a:rPr b="0">
                <a:solidFill>
                  <a:srgbClr val="7651D4"/>
                </a:solidFill>
              </a:rPr>
              <a:t>ConfigurationFinding</a:t>
            </a:r>
            <a:r>
              <a:rPr b="0">
                <a:solidFill>
                  <a:srgbClr val="263044"/>
                </a:solidFill>
              </a:rPr>
              <a:t>? </a:t>
            </a:r>
            <a:r>
              <a:rPr b="0">
                <a:solidFill>
                  <a:srgbClr val="7651D4"/>
                </a:solidFill>
              </a:rPr>
              <a:t>Check</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SecurityBaseline</a:t>
            </a:r>
            <a:r>
              <a:rPr b="0">
                <a:solidFill>
                  <a:srgbClr val="263044"/>
                </a:solidFill>
              </a:rPr>
              <a:t> baseline, </a:t>
            </a:r>
            <a:r>
              <a:rPr b="0">
                <a:solidFill>
                  <a:srgbClr val="7651D4"/>
                </a:solidFill>
              </a:rPr>
              <a:t>SecurityConfiguration</a:t>
            </a:r>
            <a:r>
              <a:rPr b="0">
                <a:solidFill>
                  <a:srgbClr val="263044"/>
                </a:solidFill>
              </a:rPr>
              <a:t> current) =&gt;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current.</a:t>
            </a:r>
            <a:r>
              <a:rPr b="0">
                <a:solidFill>
                  <a:srgbClr val="7651D4"/>
                </a:solidFill>
              </a:rPr>
              <a:t>MinimumPasswordLength</a:t>
            </a:r>
            <a:r>
              <a:rPr b="0">
                <a:solidFill>
                  <a:srgbClr val="263044"/>
                </a:solidFill>
              </a:rPr>
              <a:t> &lt; baseline.</a:t>
            </a:r>
            <a:r>
              <a:rPr b="0">
                <a:solidFill>
                  <a:srgbClr val="7651D4"/>
                </a:solidFill>
              </a:rPr>
              <a:t>MinimumPasswordLength</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 </a:t>
            </a:r>
            <a:r>
              <a:rPr b="1">
                <a:solidFill>
                  <a:srgbClr val="0969C3"/>
                </a:solidFill>
              </a:rPr>
              <a:t>new</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Name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baseline.</a:t>
            </a:r>
            <a:r>
              <a:rPr b="0">
                <a:solidFill>
                  <a:srgbClr val="7651D4"/>
                </a:solidFill>
              </a:rPr>
              <a:t>MinimumPasswordLength</a:t>
            </a:r>
            <a:r>
              <a:rPr b="0">
                <a:solidFill>
                  <a:srgbClr val="263044"/>
                </a:solidFill>
              </a:rPr>
              <a:t>.</a:t>
            </a:r>
            <a:r>
              <a:rPr b="0">
                <a:solidFill>
                  <a:srgbClr val="7651D4"/>
                </a:solidFill>
              </a:rPr>
              <a:t>ToString</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current.</a:t>
            </a:r>
            <a:r>
              <a:rPr b="0">
                <a:solidFill>
                  <a:srgbClr val="7651D4"/>
                </a:solidFill>
              </a:rPr>
              <a:t>MinimumPasswordLength</a:t>
            </a:r>
            <a:r>
              <a:rPr b="0">
                <a:solidFill>
                  <a:srgbClr val="263044"/>
                </a:solidFill>
              </a:rPr>
              <a:t>.</a:t>
            </a:r>
            <a:r>
              <a:rPr b="0">
                <a:solidFill>
                  <a:srgbClr val="7651D4"/>
                </a:solidFill>
              </a:rPr>
              <a:t>ToString</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 </a:t>
            </a:r>
            <a:r>
              <a:rPr b="1">
                <a:solidFill>
                  <a:srgbClr val="0969C3"/>
                </a:solidFill>
              </a:rPr>
              <a:t>null</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3779AFDA-55C0-4B08-9935-D56E55C42E4E}"/>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986950D1-04B0-4E53-A8DA-0C6CE08185DE}"/>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ТУМАЧЕЊЕ</a:t>
            </a:r>
          </a:p>
        </p:txBody>
      </p:sp>
      <p:sp>
        <p:nvSpPr>
          <p:cNvPr id="15" name="Rectangle 14">
            <a:extLst xmlns:a="http://schemas.openxmlformats.org/drawingml/2006/main">
              <a:ext uri="{FF2B5EF4-FFF2-40B4-BE49-F238E27FC236}">
                <a16:creationId xmlns:a16="http://schemas.microsoft.com/office/drawing/2014/main" id="{F410F776-AF41-4B9C-90E9-577DF3DB8AE4}"/>
              </a:ext>
            </a:extLst>
          </p:cNvPr>
          <p:cNvSpPr>
            <a:spLocks xmlns:a="http://schemas.openxmlformats.org/drawingml/2006/main" noGrp="1"/>
          </p:cNvSpPr>
          <p:nvPr/>
        </p:nvSpPr>
        <p:spPr>
          <a:xfrm xmlns:a="http://schemas.openxmlformats.org/drawingml/2006/main">
            <a:off x="8077200" y="2524125"/>
            <a:ext cx="32956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Политика изражава намеру, конфигурација конкретно стање, а контрола производи експлицитан исход.</a:t>
            </a:r>
          </a:p>
        </p:txBody>
      </p:sp>
      <p:sp>
        <p:nvSpPr>
          <p:cNvPr id="16" name="Rounded Rectangle 15">
            <a:extLst xmlns:a="http://schemas.openxmlformats.org/drawingml/2006/main">
              <a:ext uri="{FF2B5EF4-FFF2-40B4-BE49-F238E27FC236}">
                <a16:creationId xmlns:a16="http://schemas.microsoft.com/office/drawing/2014/main" id="{5136C94B-F4A1-4609-BA76-D9D60C585B92}"/>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95F1661A-E67F-416E-989C-32194FA9E0DB}"/>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БЕЗБЕДНОСНА ГРАНИЦА</a:t>
            </a:r>
          </a:p>
        </p:txBody>
      </p:sp>
      <p:sp>
        <p:nvSpPr>
          <p:cNvPr id="18" name="Rectangle 17">
            <a:extLst xmlns:a="http://schemas.openxmlformats.org/drawingml/2006/main">
              <a:ext uri="{FF2B5EF4-FFF2-40B4-BE49-F238E27FC236}">
                <a16:creationId xmlns:a16="http://schemas.microsoft.com/office/drawing/2014/main" id="{030E39FA-7362-4299-82D3-E59175ED9B4A}"/>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Одступање је експлицитан налаз са очекиваном и стварном вредношћу.</a:t>
            </a:r>
          </a:p>
        </p:txBody>
      </p:sp>
    </p:spTree>
    <p:extLst>
      <p:ext uri="{BB962C8B-B14F-4D97-AF65-F5344CB8AC3E}">
        <p14:creationId xmlns:p14="http://schemas.microsoft.com/office/powerpoint/2010/main" val="20877276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694028C2-1DA0-4229-AC1B-894EE71C7672}"/>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BB6EF5D5-0544-4DBA-8F8E-9DA04CB2A469}"/>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62B1C3EF-A4B5-4DB5-B275-A1D484F08CBD}"/>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xmlns:a="http://schemas.openxmlformats.org/drawingml/2006/main">
              <a:ext uri="{FF2B5EF4-FFF2-40B4-BE49-F238E27FC236}">
                <a16:creationId xmlns:a16="http://schemas.microsoft.com/office/drawing/2014/main" id="{D73BAC9F-6C89-4DC8-9C7C-8A3D6C410640}"/>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Drift мора бити видљив и проверљив</a:t>
            </a:r>
          </a:p>
        </p:txBody>
      </p:sp>
      <p:sp>
        <p:nvSpPr>
          <p:cNvPr id="5" name="Rectangle 4">
            <a:extLst xmlns:a="http://schemas.openxmlformats.org/drawingml/2006/main">
              <a:ext uri="{FF2B5EF4-FFF2-40B4-BE49-F238E27FC236}">
                <a16:creationId xmlns:a16="http://schemas.microsoft.com/office/drawing/2014/main" id="{916F824F-2E9A-471D-BF9A-5CE4D38F7F0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Тест проверава да одступање конфигурације производи видљив и поновљив исход.</a:t>
            </a:r>
          </a:p>
        </p:txBody>
      </p:sp>
      <p:sp>
        <p:nvSpPr>
          <p:cNvPr id="6" name="Rounded Rectangle 5">
            <a:extLst xmlns:a="http://schemas.openxmlformats.org/drawingml/2006/main">
              <a:ext uri="{FF2B5EF4-FFF2-40B4-BE49-F238E27FC236}">
                <a16:creationId xmlns:a16="http://schemas.microsoft.com/office/drawing/2014/main" id="{B2340762-20F7-472D-AA78-CBE27B9AB92D}"/>
              </a:ext>
            </a:extLst>
          </p:cNvPr>
          <p:cNvSpPr>
            <a:spLocks xmlns:a="http://schemas.openxmlformats.org/drawingml/2006/main" noGrp="1"/>
          </p:cNvSpPr>
          <p:nvPr/>
        </p:nvSpPr>
        <p:spPr>
          <a:xfrm xmlns:a="http://schemas.openxmlformats.org/drawingml/2006/main">
            <a:off x="666750" y="2095500"/>
            <a:ext cx="6858000" cy="2317250"/>
          </a:xfrm>
          <a:prstGeom xmlns:a="http://schemas.openxmlformats.org/drawingml/2006/main" prst="roundRect">
            <a:avLst>
              <a:gd name="adj" fmla="val 3831"/>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0D39F3E0-85BD-45DE-857D-A5B38AEB3163}"/>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8B7235B9-B076-4721-A90B-CA6AE70C76FE}"/>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EAC06C18-7D1E-4DC2-9B9D-6281C36AAD35}"/>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88D7EA51-8251-42FA-B1BD-ECFD4C7E0F6D}"/>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6C5E8EE4-AFFD-4F44-8A72-2F2FC914238E}"/>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ts val="13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p:txBody>
      </p:sp>
      <p:sp>
        <p:nvSpPr>
          <p:cNvPr id="12" name="Rectangle 11">
            <a:extLst xmlns:a="http://schemas.openxmlformats.org/drawingml/2006/main">
              <a:ext uri="{FF2B5EF4-FFF2-40B4-BE49-F238E27FC236}">
                <a16:creationId xmlns:a16="http://schemas.microsoft.com/office/drawing/2014/main" id="{A89EF430-4A2F-43A8-A0E8-8196FAC0E436}"/>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r>
              <a:rPr b="0">
                <a:solidFill>
                  <a:srgbClr val="7651D4"/>
                </a:solidFill>
              </a:rPr>
              <a:t>Test</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MinimumPasswordLength_WhenShorterThanBaseline_ReportsFinding</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finding = </a:t>
            </a:r>
            <a:r>
              <a:rPr b="1">
                <a:solidFill>
                  <a:srgbClr val="0969C3"/>
                </a:solidFill>
              </a:rPr>
              <a:t>new</a:t>
            </a:r>
            <a:r>
              <a:rPr b="0">
                <a:solidFill>
                  <a:srgbClr val="263044"/>
                </a:solidFill>
              </a:rPr>
              <a:t> </a:t>
            </a:r>
            <a:r>
              <a:rPr b="0">
                <a:solidFill>
                  <a:srgbClr val="7651D4"/>
                </a:solidFill>
              </a:rPr>
              <a:t>MinimumPasswordLengthControl</a:t>
            </a:r>
            <a:r>
              <a:rPr b="0">
                <a:solidFill>
                  <a:srgbClr val="263044"/>
                </a:solidFill>
              </a:rPr>
              <a:t>().</a:t>
            </a:r>
            <a:r>
              <a:rPr b="0">
                <a:solidFill>
                  <a:srgbClr val="7651D4"/>
                </a:solidFill>
              </a:rPr>
              <a:t>Check</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Baseline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1">
                <a:solidFill>
                  <a:srgbClr val="0969C3"/>
                </a:solidFill>
              </a:rPr>
              <a:t>new</a:t>
            </a:r>
            <a:r>
              <a:rPr b="0">
                <a:solidFill>
                  <a:srgbClr val="263044"/>
                </a:solidFill>
              </a:rPr>
              <a:t> </a:t>
            </a:r>
            <a:r>
              <a:rPr b="0">
                <a:solidFill>
                  <a:srgbClr val="7651D4"/>
                </a:solidFill>
              </a:rPr>
              <a:t>SecurityConfiguration</a:t>
            </a:r>
            <a:r>
              <a:rPr b="0">
                <a:solidFill>
                  <a:srgbClr val="263044"/>
                </a:solidFill>
              </a:rPr>
              <a:t>(</a:t>
            </a:r>
            <a:r>
              <a:rPr b="0">
                <a:solidFill>
                  <a:srgbClr val="B86A09"/>
                </a:solidFill>
              </a:rPr>
              <a:t>10</a:t>
            </a:r>
            <a:r>
              <a:rPr b="0">
                <a:solidFill>
                  <a:srgbClr val="263044"/>
                </a:solidFill>
              </a:rPr>
              <a:t>, </a:t>
            </a:r>
            <a:r>
              <a:rPr b="1">
                <a:solidFill>
                  <a:srgbClr val="0969C3"/>
                </a:solidFill>
              </a:rPr>
              <a:t>true</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Assert</a:t>
            </a:r>
            <a:r>
              <a:rPr b="0">
                <a:solidFill>
                  <a:srgbClr val="263044"/>
                </a:solidFill>
              </a:rPr>
              <a:t>.</a:t>
            </a:r>
            <a:r>
              <a:rPr b="0">
                <a:solidFill>
                  <a:srgbClr val="7651D4"/>
                </a:solidFill>
              </a:rPr>
              <a:t>That</a:t>
            </a:r>
            <a:r>
              <a:rPr b="0">
                <a:solidFill>
                  <a:srgbClr val="263044"/>
                </a:solidFill>
              </a:rPr>
              <a:t>(finding, </a:t>
            </a:r>
            <a:r>
              <a:rPr b="0">
                <a:solidFill>
                  <a:srgbClr val="7651D4"/>
                </a:solidFill>
              </a:rPr>
              <a:t>Is</a:t>
            </a:r>
            <a:r>
              <a:rPr b="0">
                <a:solidFill>
                  <a:srgbClr val="263044"/>
                </a:solidFill>
              </a:rPr>
              <a:t>.</a:t>
            </a:r>
            <a:r>
              <a:rPr b="0">
                <a:solidFill>
                  <a:srgbClr val="7651D4"/>
                </a:solidFill>
              </a:rPr>
              <a:t>EqualTo</a:t>
            </a:r>
            <a:r>
              <a:rPr b="0">
                <a:solidFill>
                  <a:srgbClr val="263044"/>
                </a:solidFill>
              </a:rPr>
              <a:t>(</a:t>
            </a:r>
            <a:r>
              <a:rPr b="1">
                <a:solidFill>
                  <a:srgbClr val="0969C3"/>
                </a:solidFill>
              </a:rPr>
              <a:t>new</a:t>
            </a:r>
            <a:r>
              <a:rPr b="0">
                <a:solidFill>
                  <a:srgbClr val="263044"/>
                </a:solidFill>
              </a:rPr>
              <a:t> </a:t>
            </a:r>
            <a:r>
              <a:rPr b="0">
                <a:solidFill>
                  <a:srgbClr val="7651D4"/>
                </a:solidFill>
              </a:rPr>
              <a:t>ConfigurationFinding</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        </a:t>
            </a:r>
            <a:r>
              <a:rPr b="0">
                <a:solidFill>
                  <a:srgbClr val="7651D4"/>
                </a:solidFill>
              </a:rPr>
              <a:t>MinimumPasswordLengthControl</a:t>
            </a:r>
            <a:r>
              <a:rPr b="0">
                <a:solidFill>
                  <a:srgbClr val="263044"/>
                </a:solidFill>
              </a:rPr>
              <a:t>.</a:t>
            </a:r>
            <a:r>
              <a:rPr b="0">
                <a:solidFill>
                  <a:srgbClr val="7651D4"/>
                </a:solidFill>
              </a:rPr>
              <a:t>Name</a:t>
            </a:r>
            <a:r>
              <a:rPr b="0">
                <a:solidFill>
                  <a:srgbClr val="263044"/>
                </a:solidFill>
              </a:rPr>
              <a:t>, </a:t>
            </a:r>
            <a:r>
              <a:rPr b="0">
                <a:solidFill>
                  <a:srgbClr val="B45309"/>
                </a:solidFill>
              </a:rPr>
              <a:t>"14"</a:t>
            </a:r>
            <a:r>
              <a:rPr b="0">
                <a:solidFill>
                  <a:srgbClr val="263044"/>
                </a:solidFill>
              </a:rPr>
              <a:t>, </a:t>
            </a:r>
            <a:r>
              <a:rPr b="0">
                <a:solidFill>
                  <a:srgbClr val="B45309"/>
                </a:solidFill>
              </a:rPr>
              <a:t>"10"</a:t>
            </a:r>
            <a:r>
              <a:rPr b="0">
                <a:solidFill>
                  <a:srgbClr val="263044"/>
                </a:solidFill>
              </a:rPr>
              <a:t>)));</a:t>
            </a:r>
          </a:p>
          <a:p xmlns:a="http://schemas.openxmlformats.org/drawingml/2006/main">
            <a:pPr>
              <a:lnSpc>
                <a:spcPts val="1300"/>
              </a:lnSpc>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6BF8A700-C4A4-4226-AE8B-46857542193B}"/>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0E6264E-FE64-4DD5-A9EC-EC5DA8DB2D32}"/>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xmlns:a="http://schemas.openxmlformats.org/drawingml/2006/main">
              <a:ext uri="{FF2B5EF4-FFF2-40B4-BE49-F238E27FC236}">
                <a16:creationId xmlns:a16="http://schemas.microsoft.com/office/drawing/2014/main" id="{5D401BFC-1403-4B52-A9E7-6D656C96BFFF}"/>
              </a:ext>
            </a:extLst>
          </p:cNvPr>
          <p:cNvSpPr>
            <a:spLocks xmlns:a="http://schemas.openxmlformats.org/drawingml/2006/main" noGrp="1"/>
          </p:cNvSpPr>
          <p:nvPr/>
        </p:nvSpPr>
        <p:spPr>
          <a:xfrm xmlns:a="http://schemas.openxmlformats.org/drawingml/2006/main">
            <a:off x="8077200" y="2524125"/>
            <a:ext cx="32956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Тест проверава назив контроле, очекивану и стварну вредност одступања.</a:t>
            </a:r>
          </a:p>
        </p:txBody>
      </p:sp>
      <p:sp>
        <p:nvSpPr>
          <p:cNvPr id="16" name="Rounded Rectangle 15">
            <a:extLst xmlns:a="http://schemas.openxmlformats.org/drawingml/2006/main">
              <a:ext uri="{FF2B5EF4-FFF2-40B4-BE49-F238E27FC236}">
                <a16:creationId xmlns:a16="http://schemas.microsoft.com/office/drawing/2014/main" id="{5ACBEF02-F2BC-4804-A945-75B2FDBDCFCD}"/>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7F4F5"/>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2B8853E4-7FFC-4291-B023-985B7382079B}"/>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ОЧЕКИВАНИ ИСХОД</a:t>
            </a:r>
          </a:p>
        </p:txBody>
      </p:sp>
      <p:sp>
        <p:nvSpPr>
          <p:cNvPr id="18" name="Rectangle 17">
            <a:extLst xmlns:a="http://schemas.openxmlformats.org/drawingml/2006/main">
              <a:ext uri="{FF2B5EF4-FFF2-40B4-BE49-F238E27FC236}">
                <a16:creationId xmlns:a16="http://schemas.microsoft.com/office/drawing/2014/main" id="{E9448E46-BD66-4615-BB6C-7E8089B1B854}"/>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 мења једну вредност конфигурације и очекује један јасан налаз.</a:t>
            </a:r>
          </a:p>
        </p:txBody>
      </p:sp>
    </p:spTree>
    <p:extLst>
      <p:ext uri="{BB962C8B-B14F-4D97-AF65-F5344CB8AC3E}">
        <p14:creationId xmlns:p14="http://schemas.microsoft.com/office/powerpoint/2010/main" val="197206387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57CCDEEE-152C-46A5-B44D-6DFDEF54BE59}"/>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DB0FFE4-EA96-4377-9BB9-B03B2FC2E1BC}"/>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6E118C9-4EA9-49B4-84B6-AAD5210EFF75}"/>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xmlns:a="http://schemas.openxmlformats.org/drawingml/2006/main">
              <a:ext uri="{FF2B5EF4-FFF2-40B4-BE49-F238E27FC236}">
                <a16:creationId xmlns:a16="http://schemas.microsoft.com/office/drawing/2014/main" id="{67B5615B-1411-4E62-BBE9-AC86AB8B5AD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Садржај безбедносног записа</a:t>
            </a:r>
          </a:p>
        </p:txBody>
      </p:sp>
      <p:sp>
        <p:nvSpPr>
          <p:cNvPr id="5" name="Rectangle 4">
            <a:extLst xmlns:a="http://schemas.openxmlformats.org/drawingml/2006/main">
              <a:ext uri="{FF2B5EF4-FFF2-40B4-BE49-F238E27FC236}">
                <a16:creationId xmlns:a16="http://schemas.microsoft.com/office/drawing/2014/main" id="{3BDB1292-8D71-46A1-B70D-F475ECD31BEF}"/>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Запис садржи контекст потребан за реконструкцију одлуке, без тајни и непотребних личних података.</a:t>
            </a:r>
          </a:p>
        </p:txBody>
      </p:sp>
      <p:sp>
        <p:nvSpPr>
          <p:cNvPr id="6" name="Rounded Rectangle 5">
            <a:extLst xmlns:a="http://schemas.openxmlformats.org/drawingml/2006/main">
              <a:ext uri="{FF2B5EF4-FFF2-40B4-BE49-F238E27FC236}">
                <a16:creationId xmlns:a16="http://schemas.microsoft.com/office/drawing/2014/main" id="{D78D789C-459F-41AF-A4F0-B7B5EE1B4DB4}"/>
              </a:ext>
            </a:extLst>
          </p:cNvPr>
          <p:cNvSpPr>
            <a:spLocks xmlns:a="http://schemas.openxmlformats.org/drawingml/2006/main" noGrp="1"/>
          </p:cNvSpPr>
          <p:nvPr/>
        </p:nvSpPr>
        <p:spPr>
          <a:xfrm xmlns:a="http://schemas.openxmlformats.org/drawingml/2006/main">
            <a:off x="857250" y="2152650"/>
            <a:ext cx="5334000" cy="3143250"/>
          </a:xfrm>
          <a:prstGeom xmlns:a="http://schemas.openxmlformats.org/drawingml/2006/main" prst="roundRect">
            <a:avLst>
              <a:gd name="adj" fmla="val 3030"/>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2C4E965B-EE31-4E62-A2D6-5C1A93260292}"/>
              </a:ext>
            </a:extLst>
          </p:cNvPr>
          <p:cNvSpPr>
            <a:spLocks xmlns:a="http://schemas.openxmlformats.org/drawingml/2006/main" noGrp="1"/>
          </p:cNvSpPr>
          <p:nvPr/>
        </p:nvSpPr>
        <p:spPr>
          <a:xfrm xmlns:a="http://schemas.openxmlformats.org/drawingml/2006/main">
            <a:off x="857250" y="2495550"/>
            <a:ext cx="5334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61F11A1C-5FA4-40B0-A881-3E5298EF94F8}"/>
              </a:ext>
            </a:extLst>
          </p:cNvPr>
          <p:cNvSpPr>
            <a:spLocks xmlns:a="http://schemas.openxmlformats.org/drawingml/2006/main" noGrp="1"/>
          </p:cNvSpPr>
          <p:nvPr/>
        </p:nvSpPr>
        <p:spPr>
          <a:xfrm xmlns:a="http://schemas.openxmlformats.org/drawingml/2006/main">
            <a:off x="5638800" y="227171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7ACEB41D-464B-47F8-A2C5-A11ECB0CE32C}"/>
              </a:ext>
            </a:extLst>
          </p:cNvPr>
          <p:cNvSpPr>
            <a:spLocks xmlns:a="http://schemas.openxmlformats.org/drawingml/2006/main" noGrp="1"/>
          </p:cNvSpPr>
          <p:nvPr/>
        </p:nvSpPr>
        <p:spPr>
          <a:xfrm xmlns:a="http://schemas.openxmlformats.org/drawingml/2006/main">
            <a:off x="5795963" y="227171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74D46BD8-222E-4321-92FC-1AD77C9CCB70}"/>
              </a:ext>
            </a:extLst>
          </p:cNvPr>
          <p:cNvSpPr>
            <a:spLocks xmlns:a="http://schemas.openxmlformats.org/drawingml/2006/main" noGrp="1"/>
          </p:cNvSpPr>
          <p:nvPr/>
        </p:nvSpPr>
        <p:spPr>
          <a:xfrm xmlns:a="http://schemas.openxmlformats.org/drawingml/2006/main">
            <a:off x="5953125" y="227171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CF2CD09E-C0F4-4BFE-BE33-0413562E7AEA}"/>
              </a:ext>
            </a:extLst>
          </p:cNvPr>
          <p:cNvSpPr>
            <a:spLocks xmlns:a="http://schemas.openxmlformats.org/drawingml/2006/main" noGrp="1"/>
          </p:cNvSpPr>
          <p:nvPr/>
        </p:nvSpPr>
        <p:spPr>
          <a:xfrm xmlns:a="http://schemas.openxmlformats.org/drawingml/2006/main">
            <a:off x="971550" y="2628900"/>
            <a:ext cx="3048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xmlns:a="http://schemas.openxmlformats.org/drawingml/2006/main">
            <a:pPr algn="r">
              <a:lnSpc>
                <a:spcPts val="13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xmlns:a="http://schemas.openxmlformats.org/drawingml/2006/main">
              <a:ext uri="{FF2B5EF4-FFF2-40B4-BE49-F238E27FC236}">
                <a16:creationId xmlns:a16="http://schemas.microsoft.com/office/drawing/2014/main" id="{5F056B0C-AAA3-44EB-AE98-449F41AFFB4A}"/>
              </a:ext>
            </a:extLst>
          </p:cNvPr>
          <p:cNvSpPr>
            <a:spLocks xmlns:a="http://schemas.openxmlformats.org/drawingml/2006/main" noGrp="1"/>
          </p:cNvSpPr>
          <p:nvPr/>
        </p:nvSpPr>
        <p:spPr>
          <a:xfrm xmlns:a="http://schemas.openxmlformats.org/drawingml/2006/main">
            <a:off x="1390650" y="2628900"/>
            <a:ext cx="462915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"policyId"</a:t>
            </a:r>
            <a:r>
              <a:rPr b="0">
                <a:solidFill>
                  <a:srgbClr val="263044"/>
                </a:solidFill>
              </a:rPr>
              <a:t>: </a:t>
            </a:r>
            <a:r>
              <a:rPr b="0">
                <a:solidFill>
                  <a:srgbClr val="B45309"/>
                </a:solidFill>
              </a:rPr>
              <a:t>"data-export"</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"version"</a:t>
            </a:r>
            <a:r>
              <a:rPr b="0">
                <a:solidFill>
                  <a:srgbClr val="263044"/>
                </a:solidFill>
              </a:rPr>
              <a:t>: </a:t>
            </a:r>
            <a:r>
              <a:rPr b="0">
                <a:solidFill>
                  <a:srgbClr val="B86A09"/>
                </a:solidFill>
              </a:rPr>
              <a:t>4</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"validFrom"</a:t>
            </a:r>
            <a:r>
              <a:rPr b="0">
                <a:solidFill>
                  <a:srgbClr val="263044"/>
                </a:solidFill>
              </a:rPr>
              <a:t>: </a:t>
            </a:r>
            <a:r>
              <a:rPr b="0">
                <a:solidFill>
                  <a:srgbClr val="B45309"/>
                </a:solidFill>
              </a:rPr>
              <a:t>"2026-10-01"</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"baseline"</a:t>
            </a:r>
            <a:r>
              <a:rPr b="0">
                <a:solidFill>
                  <a:srgbClr val="263044"/>
                </a:solidFill>
              </a:rPr>
              <a:t>: </a:t>
            </a:r>
            <a:r>
              <a:rPr b="0">
                <a:solidFill>
                  <a:srgbClr val="B45309"/>
                </a:solidFill>
              </a:rPr>
              <a:t>"api-v4"</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"decision"</a:t>
            </a:r>
            <a:r>
              <a:rPr b="0">
                <a:solidFill>
                  <a:srgbClr val="263044"/>
                </a:solidFill>
              </a:rPr>
              <a:t>: </a:t>
            </a:r>
            <a:r>
              <a:rPr b="0">
                <a:solidFill>
                  <a:srgbClr val="B45309"/>
                </a:solidFill>
              </a:rPr>
              <a:t>"denied"</a:t>
            </a:r>
            <a:r>
              <a:rPr b="0">
                <a:solidFill>
                  <a:srgbClr val="263044"/>
                </a:solidFill>
              </a:rPr>
              <a: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  </a:t>
            </a:r>
            <a:r>
              <a:rPr b="0">
                <a:solidFill>
                  <a:srgbClr val="B45309"/>
                </a:solidFill>
              </a:rPr>
              <a:t>"reason"</a:t>
            </a:r>
            <a:r>
              <a:rPr b="0">
                <a:solidFill>
                  <a:srgbClr val="263044"/>
                </a:solidFill>
              </a:rPr>
              <a:t>: </a:t>
            </a:r>
            <a:r>
              <a:rPr b="0">
                <a:solidFill>
                  <a:srgbClr val="B45309"/>
                </a:solidFill>
              </a:rPr>
              <a:t>"configuration_drift"</a:t>
            </a:r>
          </a:p>
          <a:p xmlns:a="http://schemas.openxmlformats.org/drawingml/2006/main">
            <a:pPr>
              <a:lnSpc>
                <a:spcPts val="1300"/>
              </a:lnSpc>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72F0D944-BF9D-41D9-A5CD-BA7469E7BF24}"/>
              </a:ext>
            </a:extLst>
          </p:cNvPr>
          <p:cNvSpPr>
            <a:spLocks xmlns:a="http://schemas.openxmlformats.org/drawingml/2006/main" noGrp="1"/>
          </p:cNvSpPr>
          <p:nvPr/>
        </p:nvSpPr>
        <p:spPr>
          <a:xfrm xmlns:a="http://schemas.openxmlformats.org/drawingml/2006/main">
            <a:off x="6648450" y="2152650"/>
            <a:ext cx="459105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E3700E6E-40A6-44AC-B46C-833F657739A3}"/>
              </a:ext>
            </a:extLst>
          </p:cNvPr>
          <p:cNvSpPr>
            <a:spLocks xmlns:a="http://schemas.openxmlformats.org/drawingml/2006/main" noGrp="1"/>
          </p:cNvSpPr>
          <p:nvPr/>
        </p:nvSpPr>
        <p:spPr>
          <a:xfrm xmlns:a="http://schemas.openxmlformats.org/drawingml/2006/main">
            <a:off x="6800850" y="22764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xmlns:a="http://schemas.openxmlformats.org/drawingml/2006/main">
              <a:ext uri="{FF2B5EF4-FFF2-40B4-BE49-F238E27FC236}">
                <a16:creationId xmlns:a16="http://schemas.microsoft.com/office/drawing/2014/main" id="{86A98582-06D7-4A52-A9C3-202E82FAA446}"/>
              </a:ext>
            </a:extLst>
          </p:cNvPr>
          <p:cNvSpPr>
            <a:spLocks xmlns:a="http://schemas.openxmlformats.org/drawingml/2006/main" noGrp="1"/>
          </p:cNvSpPr>
          <p:nvPr/>
        </p:nvSpPr>
        <p:spPr>
          <a:xfrm xmlns:a="http://schemas.openxmlformats.org/drawingml/2006/main">
            <a:off x="6800850" y="25241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xmlns:a="http://schemas.openxmlformats.org/drawingml/2006/main">
              <a:ext uri="{FF2B5EF4-FFF2-40B4-BE49-F238E27FC236}">
                <a16:creationId xmlns:a16="http://schemas.microsoft.com/office/drawing/2014/main" id="{50ECC50E-AD70-4C8F-952C-248F629AF080}"/>
              </a:ext>
            </a:extLst>
          </p:cNvPr>
          <p:cNvSpPr>
            <a:spLocks xmlns:a="http://schemas.openxmlformats.org/drawingml/2006/main" noGrp="1"/>
          </p:cNvSpPr>
          <p:nvPr/>
        </p:nvSpPr>
        <p:spPr>
          <a:xfrm xmlns:a="http://schemas.openxmlformats.org/drawingml/2006/main">
            <a:off x="6800850" y="2933700"/>
            <a:ext cx="4286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xmlns:a="http://schemas.openxmlformats.org/drawingml/2006/main">
              <a:ext uri="{FF2B5EF4-FFF2-40B4-BE49-F238E27FC236}">
                <a16:creationId xmlns:a16="http://schemas.microsoft.com/office/drawing/2014/main" id="{1C040AAC-234C-4E9A-BF2B-5D6A6A8D5C98}"/>
              </a:ext>
            </a:extLst>
          </p:cNvPr>
          <p:cNvSpPr>
            <a:spLocks xmlns:a="http://schemas.openxmlformats.org/drawingml/2006/main" noGrp="1"/>
          </p:cNvSpPr>
          <p:nvPr/>
        </p:nvSpPr>
        <p:spPr>
          <a:xfrm xmlns:a="http://schemas.openxmlformats.org/drawingml/2006/main">
            <a:off x="6648450" y="3867150"/>
            <a:ext cx="4591050" cy="1428750"/>
          </a:xfrm>
          <a:prstGeom xmlns:a="http://schemas.openxmlformats.org/drawingml/2006/main" prst="roundRect">
            <a:avLst>
              <a:gd name="adj" fmla="val 9333"/>
            </a:avLst>
          </a:prstGeom>
          <a:solidFill xmlns:a="http://schemas.openxmlformats.org/drawingml/2006/main">
            <a:srgbClr val="FFF0F0"/>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348FBF02-D673-4A8B-B80E-550C9FA0CAFC}"/>
              </a:ext>
            </a:extLst>
          </p:cNvPr>
          <p:cNvSpPr>
            <a:spLocks xmlns:a="http://schemas.openxmlformats.org/drawingml/2006/main" noGrp="1"/>
          </p:cNvSpPr>
          <p:nvPr/>
        </p:nvSpPr>
        <p:spPr>
          <a:xfrm xmlns:a="http://schemas.openxmlformats.org/drawingml/2006/main">
            <a:off x="6800850" y="39909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xmlns:a="http://schemas.openxmlformats.org/drawingml/2006/main">
              <a:ext uri="{FF2B5EF4-FFF2-40B4-BE49-F238E27FC236}">
                <a16:creationId xmlns:a16="http://schemas.microsoft.com/office/drawing/2014/main" id="{364E359E-FBEE-4DBA-8322-DD02194E9556}"/>
              </a:ext>
            </a:extLst>
          </p:cNvPr>
          <p:cNvSpPr>
            <a:spLocks xmlns:a="http://schemas.openxmlformats.org/drawingml/2006/main" noGrp="1"/>
          </p:cNvSpPr>
          <p:nvPr/>
        </p:nvSpPr>
        <p:spPr>
          <a:xfrm xmlns:a="http://schemas.openxmlformats.org/drawingml/2006/main">
            <a:off x="6800850" y="42386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xmlns:a="http://schemas.openxmlformats.org/drawingml/2006/main">
              <a:ext uri="{FF2B5EF4-FFF2-40B4-BE49-F238E27FC236}">
                <a16:creationId xmlns:a16="http://schemas.microsoft.com/office/drawing/2014/main" id="{07CEC5D9-644F-4475-A46B-63BE1C73C599}"/>
              </a:ext>
            </a:extLst>
          </p:cNvPr>
          <p:cNvSpPr>
            <a:spLocks xmlns:a="http://schemas.openxmlformats.org/drawingml/2006/main" noGrp="1"/>
          </p:cNvSpPr>
          <p:nvPr/>
        </p:nvSpPr>
        <p:spPr>
          <a:xfrm xmlns:a="http://schemas.openxmlformats.org/drawingml/2006/main">
            <a:off x="6800850" y="4648200"/>
            <a:ext cx="428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6162224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D107ECE1-7731-4B6B-A068-FA09352AA2E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A0C50FB1-4557-44D4-8F28-AD88D265D234}"/>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68B6353-4455-4D77-82B3-0F1D1A89EF5A}"/>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xmlns:a="http://schemas.openxmlformats.org/drawingml/2006/main">
              <a:ext uri="{FF2B5EF4-FFF2-40B4-BE49-F238E27FC236}">
                <a16:creationId xmlns:a16="http://schemas.microsoft.com/office/drawing/2014/main" id="{AB090FC5-2EF0-4E3B-9E2A-9D381F4AB1C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Честе грешке у имплементацији</a:t>
            </a:r>
          </a:p>
        </p:txBody>
      </p:sp>
      <p:sp>
        <p:nvSpPr>
          <p:cNvPr id="5" name="Rectangle 4">
            <a:extLst xmlns:a="http://schemas.openxmlformats.org/drawingml/2006/main">
              <a:ext uri="{FF2B5EF4-FFF2-40B4-BE49-F238E27FC236}">
                <a16:creationId xmlns:a16="http://schemas.microsoft.com/office/drawing/2014/main" id="{6A68928E-D3B2-4264-9E2D-397FB3833A5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Грешке настају када контекст, место одлуке или доказ остану нејасни.</a:t>
            </a:r>
          </a:p>
        </p:txBody>
      </p:sp>
      <p:sp>
        <p:nvSpPr>
          <p:cNvPr id="6" name="Rounded Rectangle 5">
            <a:extLst xmlns:a="http://schemas.openxmlformats.org/drawingml/2006/main">
              <a:ext uri="{FF2B5EF4-FFF2-40B4-BE49-F238E27FC236}">
                <a16:creationId xmlns:a16="http://schemas.microsoft.com/office/drawing/2014/main" id="{813EB9D2-66B4-45F5-8E2B-496659059B5B}"/>
              </a:ext>
            </a:extLst>
          </p:cNvPr>
          <p:cNvSpPr>
            <a:spLocks xmlns:a="http://schemas.openxmlformats.org/drawingml/2006/main" noGrp="1"/>
          </p:cNvSpPr>
          <p:nvPr/>
        </p:nvSpPr>
        <p:spPr>
          <a:xfrm xmlns:a="http://schemas.openxmlformats.org/drawingml/2006/main">
            <a:off x="819150" y="2381250"/>
            <a:ext cx="3257550" cy="2381250"/>
          </a:xfrm>
          <a:prstGeom xmlns:a="http://schemas.openxmlformats.org/drawingml/2006/main" prst="roundRect">
            <a:avLst>
              <a:gd name="adj" fmla="val 5600"/>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FDE7924-AD7C-4F00-A635-E30DAED1A2D6}"/>
              </a:ext>
            </a:extLst>
          </p:cNvPr>
          <p:cNvSpPr>
            <a:spLocks xmlns:a="http://schemas.openxmlformats.org/drawingml/2006/main" noGrp="1"/>
          </p:cNvSpPr>
          <p:nvPr/>
        </p:nvSpPr>
        <p:spPr>
          <a:xfrm xmlns:a="http://schemas.openxmlformats.org/drawingml/2006/main">
            <a:off x="97155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D274EE6D-3061-4927-80E8-C9D62BB5F339}"/>
              </a:ext>
            </a:extLst>
          </p:cNvPr>
          <p:cNvSpPr>
            <a:spLocks xmlns:a="http://schemas.openxmlformats.org/drawingml/2006/main" noGrp="1"/>
          </p:cNvSpPr>
          <p:nvPr/>
        </p:nvSpPr>
        <p:spPr>
          <a:xfrm xmlns:a="http://schemas.openxmlformats.org/drawingml/2006/main">
            <a:off x="97155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Уређивање објављене политике на месту без историје.</a:t>
            </a:r>
          </a:p>
        </p:txBody>
      </p:sp>
      <p:sp>
        <p:nvSpPr>
          <p:cNvPr id="9" name="Rectangle 8">
            <a:extLst xmlns:a="http://schemas.openxmlformats.org/drawingml/2006/main">
              <a:ext uri="{FF2B5EF4-FFF2-40B4-BE49-F238E27FC236}">
                <a16:creationId xmlns:a16="http://schemas.microsoft.com/office/drawing/2014/main" id="{A6A71F7A-00F4-4AFD-8322-6032014AC5DA}"/>
              </a:ext>
            </a:extLst>
          </p:cNvPr>
          <p:cNvSpPr>
            <a:spLocks xmlns:a="http://schemas.openxmlformats.org/drawingml/2006/main" noGrp="1"/>
          </p:cNvSpPr>
          <p:nvPr/>
        </p:nvSpPr>
        <p:spPr>
          <a:xfrm xmlns:a="http://schemas.openxmlformats.org/drawingml/2006/main">
            <a:off x="97155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xmlns:a="http://schemas.openxmlformats.org/drawingml/2006/main">
              <a:ext uri="{FF2B5EF4-FFF2-40B4-BE49-F238E27FC236}">
                <a16:creationId xmlns:a16="http://schemas.microsoft.com/office/drawing/2014/main" id="{3B68FEE0-141E-4AFE-A9A8-CD975FD75FEA}"/>
              </a:ext>
            </a:extLst>
          </p:cNvPr>
          <p:cNvSpPr>
            <a:spLocks xmlns:a="http://schemas.openxmlformats.org/drawingml/2006/main" noGrp="1"/>
          </p:cNvSpPr>
          <p:nvPr/>
        </p:nvSpPr>
        <p:spPr>
          <a:xfrm xmlns:a="http://schemas.openxmlformats.org/drawingml/2006/main">
            <a:off x="4467225" y="2381250"/>
            <a:ext cx="3257550" cy="2381250"/>
          </a:xfrm>
          <a:prstGeom xmlns:a="http://schemas.openxmlformats.org/drawingml/2006/main" prst="roundRect">
            <a:avLst>
              <a:gd name="adj" fmla="val 5600"/>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04D0DC0D-B0E7-426A-A835-46705217DBD6}"/>
              </a:ext>
            </a:extLst>
          </p:cNvPr>
          <p:cNvSpPr>
            <a:spLocks xmlns:a="http://schemas.openxmlformats.org/drawingml/2006/main" noGrp="1"/>
          </p:cNvSpPr>
          <p:nvPr/>
        </p:nvSpPr>
        <p:spPr>
          <a:xfrm xmlns:a="http://schemas.openxmlformats.org/drawingml/2006/main">
            <a:off x="4619625"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0CA150A-EA48-449C-9A7F-A24B4F2A12AD}"/>
              </a:ext>
            </a:extLst>
          </p:cNvPr>
          <p:cNvSpPr>
            <a:spLocks xmlns:a="http://schemas.openxmlformats.org/drawingml/2006/main" noGrp="1"/>
          </p:cNvSpPr>
          <p:nvPr/>
        </p:nvSpPr>
        <p:spPr>
          <a:xfrm xmlns:a="http://schemas.openxmlformats.org/drawingml/2006/main">
            <a:off x="4619625"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Тајне у конфигурационим датотекама или логовима.</a:t>
            </a:r>
          </a:p>
        </p:txBody>
      </p:sp>
      <p:sp>
        <p:nvSpPr>
          <p:cNvPr id="13" name="Rectangle 12">
            <a:extLst xmlns:a="http://schemas.openxmlformats.org/drawingml/2006/main">
              <a:ext uri="{FF2B5EF4-FFF2-40B4-BE49-F238E27FC236}">
                <a16:creationId xmlns:a16="http://schemas.microsoft.com/office/drawing/2014/main" id="{F5D78CD7-E22F-4B92-BBBC-7388DD8DF1DE}"/>
              </a:ext>
            </a:extLst>
          </p:cNvPr>
          <p:cNvSpPr>
            <a:spLocks xmlns:a="http://schemas.openxmlformats.org/drawingml/2006/main" noGrp="1"/>
          </p:cNvSpPr>
          <p:nvPr/>
        </p:nvSpPr>
        <p:spPr>
          <a:xfrm xmlns:a="http://schemas.openxmlformats.org/drawingml/2006/main">
            <a:off x="4619625"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xmlns:a="http://schemas.openxmlformats.org/drawingml/2006/main">
              <a:ext uri="{FF2B5EF4-FFF2-40B4-BE49-F238E27FC236}">
                <a16:creationId xmlns:a16="http://schemas.microsoft.com/office/drawing/2014/main" id="{95EE9FE4-9E87-4C8D-8BF1-0F03290DF080}"/>
              </a:ext>
            </a:extLst>
          </p:cNvPr>
          <p:cNvSpPr>
            <a:spLocks xmlns:a="http://schemas.openxmlformats.org/drawingml/2006/main" noGrp="1"/>
          </p:cNvSpPr>
          <p:nvPr/>
        </p:nvSpPr>
        <p:spPr>
          <a:xfrm xmlns:a="http://schemas.openxmlformats.org/drawingml/2006/main">
            <a:off x="8115300" y="2381250"/>
            <a:ext cx="3257550" cy="2381250"/>
          </a:xfrm>
          <a:prstGeom xmlns:a="http://schemas.openxmlformats.org/drawingml/2006/main" prst="roundRect">
            <a:avLst>
              <a:gd name="adj" fmla="val 5600"/>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809035F-F450-497E-877C-1C47BF598FF0}"/>
              </a:ext>
            </a:extLst>
          </p:cNvPr>
          <p:cNvSpPr>
            <a:spLocks xmlns:a="http://schemas.openxmlformats.org/drawingml/2006/main" noGrp="1"/>
          </p:cNvSpPr>
          <p:nvPr/>
        </p:nvSpPr>
        <p:spPr>
          <a:xfrm xmlns:a="http://schemas.openxmlformats.org/drawingml/2006/main">
            <a:off x="826770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E3F8FAF2-5861-470E-BE1B-89AA8A40DBB5}"/>
              </a:ext>
            </a:extLst>
          </p:cNvPr>
          <p:cNvSpPr>
            <a:spLocks xmlns:a="http://schemas.openxmlformats.org/drawingml/2006/main" noGrp="1"/>
          </p:cNvSpPr>
          <p:nvPr/>
        </p:nvSpPr>
        <p:spPr>
          <a:xfrm xmlns:a="http://schemas.openxmlformats.org/drawingml/2006/main">
            <a:off x="826770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Метрика без јасног питања на које треба да одговори.</a:t>
            </a:r>
          </a:p>
        </p:txBody>
      </p:sp>
      <p:sp>
        <p:nvSpPr>
          <p:cNvPr id="17" name="Rectangle 16">
            <a:extLst xmlns:a="http://schemas.openxmlformats.org/drawingml/2006/main">
              <a:ext uri="{FF2B5EF4-FFF2-40B4-BE49-F238E27FC236}">
                <a16:creationId xmlns:a16="http://schemas.microsoft.com/office/drawing/2014/main" id="{C1F38A7E-F239-4F46-BDF2-DA8A9D5E45AE}"/>
              </a:ext>
            </a:extLst>
          </p:cNvPr>
          <p:cNvSpPr>
            <a:spLocks xmlns:a="http://schemas.openxmlformats.org/drawingml/2006/main" noGrp="1"/>
          </p:cNvSpPr>
          <p:nvPr/>
        </p:nvSpPr>
        <p:spPr>
          <a:xfrm xmlns:a="http://schemas.openxmlformats.org/drawingml/2006/main">
            <a:off x="826770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205876568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012EF13D-8D67-4A64-AC2C-820FD042F03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14A517D-E414-4D0B-9463-124BFF217BA6}"/>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82C3CA65-7A03-43F1-8607-B4ABC8BD339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xmlns:a="http://schemas.openxmlformats.org/drawingml/2006/main">
              <a:ext uri="{FF2B5EF4-FFF2-40B4-BE49-F238E27FC236}">
                <a16:creationId xmlns:a16="http://schemas.microsoft.com/office/drawing/2014/main" id="{50F18967-7A93-43E1-A4F0-B6D3F9795D9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Критеријуми безбедносне видљивости</a:t>
            </a:r>
          </a:p>
        </p:txBody>
      </p:sp>
      <p:sp>
        <p:nvSpPr>
          <p:cNvPr id="5" name="Rectangle 4">
            <a:extLst xmlns:a="http://schemas.openxmlformats.org/drawingml/2006/main">
              <a:ext uri="{FF2B5EF4-FFF2-40B4-BE49-F238E27FC236}">
                <a16:creationId xmlns:a16="http://schemas.microsoft.com/office/drawing/2014/main" id="{A1B3238F-83F6-4F62-82BD-918F5B3BC45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Доказ треба да буде актуелан, поновљив и разумљив другом члану тима.</a:t>
            </a:r>
          </a:p>
        </p:txBody>
      </p:sp>
      <p:sp>
        <p:nvSpPr>
          <p:cNvPr id="6" name="Rounded Rectangle 5">
            <a:extLst xmlns:a="http://schemas.openxmlformats.org/drawingml/2006/main">
              <a:ext uri="{FF2B5EF4-FFF2-40B4-BE49-F238E27FC236}">
                <a16:creationId xmlns:a16="http://schemas.microsoft.com/office/drawing/2014/main" id="{33F76B53-1721-4BBE-8BAE-86CA8B00E9A5}"/>
              </a:ext>
            </a:extLst>
          </p:cNvPr>
          <p:cNvSpPr>
            <a:spLocks xmlns:a="http://schemas.openxmlformats.org/drawingml/2006/main" noGrp="1"/>
          </p:cNvSpPr>
          <p:nvPr/>
        </p:nvSpPr>
        <p:spPr>
          <a:xfrm xmlns:a="http://schemas.openxmlformats.org/drawingml/2006/main">
            <a:off x="781050" y="2152650"/>
            <a:ext cx="4476750" cy="2568206"/>
          </a:xfrm>
          <a:prstGeom xmlns:a="http://schemas.openxmlformats.org/drawingml/2006/main" prst="roundRect">
            <a:avLst>
              <a:gd name="adj" fmla="val 4294"/>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4DE0795C-6B15-4A45-A46E-A5882800DEC3}"/>
              </a:ext>
            </a:extLst>
          </p:cNvPr>
          <p:cNvSpPr>
            <a:spLocks xmlns:a="http://schemas.openxmlformats.org/drawingml/2006/main" noGrp="1"/>
          </p:cNvSpPr>
          <p:nvPr/>
        </p:nvSpPr>
        <p:spPr>
          <a:xfrm xmlns:a="http://schemas.openxmlformats.org/drawingml/2006/main">
            <a:off x="933450" y="2276475"/>
            <a:ext cx="417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xmlns:a="http://schemas.openxmlformats.org/drawingml/2006/main">
              <a:ext uri="{FF2B5EF4-FFF2-40B4-BE49-F238E27FC236}">
                <a16:creationId xmlns:a16="http://schemas.microsoft.com/office/drawing/2014/main" id="{D9C48FFA-B7BE-4D8B-B795-DFF171A2DD15}"/>
              </a:ext>
            </a:extLst>
          </p:cNvPr>
          <p:cNvSpPr>
            <a:spLocks xmlns:a="http://schemas.openxmlformats.org/drawingml/2006/main" noGrp="1"/>
          </p:cNvSpPr>
          <p:nvPr/>
        </p:nvSpPr>
        <p:spPr>
          <a:xfrm xmlns:a="http://schemas.openxmlformats.org/drawingml/2006/main">
            <a:off x="933450" y="2524125"/>
            <a:ext cx="4171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Видљивост као способност тима</a:t>
            </a:r>
          </a:p>
        </p:txBody>
      </p:sp>
      <p:sp>
        <p:nvSpPr>
          <p:cNvPr id="9" name="Rectangle 8">
            <a:extLst xmlns:a="http://schemas.openxmlformats.org/drawingml/2006/main">
              <a:ext uri="{FF2B5EF4-FFF2-40B4-BE49-F238E27FC236}">
                <a16:creationId xmlns:a16="http://schemas.microsoft.com/office/drawing/2014/main" id="{808A9918-D17A-489F-B564-4F80B0340F2A}"/>
              </a:ext>
            </a:extLst>
          </p:cNvPr>
          <p:cNvSpPr>
            <a:spLocks xmlns:a="http://schemas.openxmlformats.org/drawingml/2006/main" noGrp="1"/>
          </p:cNvSpPr>
          <p:nvPr/>
        </p:nvSpPr>
        <p:spPr>
          <a:xfrm xmlns:a="http://schemas.openxmlformats.org/drawingml/2006/main">
            <a:off x="933450" y="3143250"/>
            <a:ext cx="4171950"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Обсервабилитy не значи чување сваког детаља заувек. Значи да се за важну одлуку може пронаћи довољно контекста: где је настала, кроз које слојеве је прошла и зашто је завршила успехом или одбијањем. Корелациони идентификатор даје заједничку нит том објашњењу.</a:t>
            </a:r>
          </a:p>
        </p:txBody>
      </p:sp>
      <p:sp>
        <p:nvSpPr>
          <p:cNvPr id="10" name="Rounded Rectangle 9">
            <a:extLst xmlns:a="http://schemas.openxmlformats.org/drawingml/2006/main">
              <a:ext uri="{FF2B5EF4-FFF2-40B4-BE49-F238E27FC236}">
                <a16:creationId xmlns:a16="http://schemas.microsoft.com/office/drawing/2014/main" id="{0544320E-97CB-4B46-8AE2-F01D17EA4917}"/>
              </a:ext>
            </a:extLst>
          </p:cNvPr>
          <p:cNvSpPr>
            <a:spLocks xmlns:a="http://schemas.openxmlformats.org/drawingml/2006/main" noGrp="1"/>
          </p:cNvSpPr>
          <p:nvPr/>
        </p:nvSpPr>
        <p:spPr>
          <a:xfrm xmlns:a="http://schemas.openxmlformats.org/drawingml/2006/main">
            <a:off x="5676900" y="2152650"/>
            <a:ext cx="5734050" cy="828675"/>
          </a:xfrm>
          <a:prstGeom xmlns:a="http://schemas.openxmlformats.org/drawingml/2006/main" prst="roundRect">
            <a:avLst>
              <a:gd name="adj" fmla="val 16092"/>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7B820F95-CED4-41A5-A42E-292F32A967F0}"/>
              </a:ext>
            </a:extLst>
          </p:cNvPr>
          <p:cNvSpPr>
            <a:spLocks xmlns:a="http://schemas.openxmlformats.org/drawingml/2006/main" noGrp="1"/>
          </p:cNvSpPr>
          <p:nvPr/>
        </p:nvSpPr>
        <p:spPr>
          <a:xfrm xmlns:a="http://schemas.openxmlformats.org/drawingml/2006/main">
            <a:off x="5829300" y="227647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67753EEE-0C88-4F84-B06B-894A68F6E82C}"/>
              </a:ext>
            </a:extLst>
          </p:cNvPr>
          <p:cNvSpPr>
            <a:spLocks xmlns:a="http://schemas.openxmlformats.org/drawingml/2006/main" noGrp="1"/>
          </p:cNvSpPr>
          <p:nvPr/>
        </p:nvSpPr>
        <p:spPr>
          <a:xfrm xmlns:a="http://schemas.openxmlformats.org/drawingml/2006/main">
            <a:off x="5829300" y="252412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Логови разликују технички траг од безбедносно значајног ревизиони записа.</a:t>
            </a:r>
          </a:p>
        </p:txBody>
      </p:sp>
      <p:sp>
        <p:nvSpPr>
          <p:cNvPr id="13" name="Rounded Rectangle 12">
            <a:extLst xmlns:a="http://schemas.openxmlformats.org/drawingml/2006/main">
              <a:ext uri="{FF2B5EF4-FFF2-40B4-BE49-F238E27FC236}">
                <a16:creationId xmlns:a16="http://schemas.microsoft.com/office/drawing/2014/main" id="{5E6A646A-3451-4DE3-AA41-684A6F728FC6}"/>
              </a:ext>
            </a:extLst>
          </p:cNvPr>
          <p:cNvSpPr>
            <a:spLocks xmlns:a="http://schemas.openxmlformats.org/drawingml/2006/main" noGrp="1"/>
          </p:cNvSpPr>
          <p:nvPr/>
        </p:nvSpPr>
        <p:spPr>
          <a:xfrm xmlns:a="http://schemas.openxmlformats.org/drawingml/2006/main">
            <a:off x="5676900" y="3152775"/>
            <a:ext cx="5734050" cy="828675"/>
          </a:xfrm>
          <a:prstGeom xmlns:a="http://schemas.openxmlformats.org/drawingml/2006/main" prst="roundRect">
            <a:avLst>
              <a:gd name="adj" fmla="val 16092"/>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5F6840E6-44F6-4D86-AFCD-88271ACF6B7E}"/>
              </a:ext>
            </a:extLst>
          </p:cNvPr>
          <p:cNvSpPr>
            <a:spLocks xmlns:a="http://schemas.openxmlformats.org/drawingml/2006/main" noGrp="1"/>
          </p:cNvSpPr>
          <p:nvPr/>
        </p:nvSpPr>
        <p:spPr>
          <a:xfrm xmlns:a="http://schemas.openxmlformats.org/drawingml/2006/main">
            <a:off x="5829300" y="3276600"/>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50246BAA-3D6B-4B0E-91BF-0ACF2B85110E}"/>
              </a:ext>
            </a:extLst>
          </p:cNvPr>
          <p:cNvSpPr>
            <a:spLocks xmlns:a="http://schemas.openxmlformats.org/drawingml/2006/main" noGrp="1"/>
          </p:cNvSpPr>
          <p:nvPr/>
        </p:nvSpPr>
        <p:spPr>
          <a:xfrm xmlns:a="http://schemas.openxmlformats.org/drawingml/2006/main">
            <a:off x="5829300" y="3524250"/>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Метрика има име, власника и јасно питање које помаже да се одговори.</a:t>
            </a:r>
          </a:p>
        </p:txBody>
      </p:sp>
      <p:sp>
        <p:nvSpPr>
          <p:cNvPr id="16" name="Rounded Rectangle 15">
            <a:extLst xmlns:a="http://schemas.openxmlformats.org/drawingml/2006/main">
              <a:ext uri="{FF2B5EF4-FFF2-40B4-BE49-F238E27FC236}">
                <a16:creationId xmlns:a16="http://schemas.microsoft.com/office/drawing/2014/main" id="{13709296-29BA-438F-8397-05FFA5458D01}"/>
              </a:ext>
            </a:extLst>
          </p:cNvPr>
          <p:cNvSpPr>
            <a:spLocks xmlns:a="http://schemas.openxmlformats.org/drawingml/2006/main" noGrp="1"/>
          </p:cNvSpPr>
          <p:nvPr/>
        </p:nvSpPr>
        <p:spPr>
          <a:xfrm xmlns:a="http://schemas.openxmlformats.org/drawingml/2006/main">
            <a:off x="5676900" y="4152900"/>
            <a:ext cx="5734050" cy="828675"/>
          </a:xfrm>
          <a:prstGeom xmlns:a="http://schemas.openxmlformats.org/drawingml/2006/main" prst="roundRect">
            <a:avLst>
              <a:gd name="adj" fmla="val 16092"/>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2967B5CE-E097-490D-9F86-2BCCBBCF44CD}"/>
              </a:ext>
            </a:extLst>
          </p:cNvPr>
          <p:cNvSpPr>
            <a:spLocks xmlns:a="http://schemas.openxmlformats.org/drawingml/2006/main" noGrp="1"/>
          </p:cNvSpPr>
          <p:nvPr/>
        </p:nvSpPr>
        <p:spPr>
          <a:xfrm xmlns:a="http://schemas.openxmlformats.org/drawingml/2006/main">
            <a:off x="5829300" y="427672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3EFDB5EC-4ED4-408E-AF0F-C3EAB33E2D79}"/>
              </a:ext>
            </a:extLst>
          </p:cNvPr>
          <p:cNvSpPr>
            <a:spLocks xmlns:a="http://schemas.openxmlformats.org/drawingml/2006/main" noGrp="1"/>
          </p:cNvSpPr>
          <p:nvPr/>
        </p:nvSpPr>
        <p:spPr>
          <a:xfrm xmlns:a="http://schemas.openxmlformats.org/drawingml/2006/main">
            <a:off x="5829300" y="452437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Тајне, токени и непотребни лични подаци не припадају ни логу ни метричкој ознаци.</a:t>
            </a:r>
          </a:p>
        </p:txBody>
      </p:sp>
    </p:spTree>
    <p:extLst>
      <p:ext uri="{BB962C8B-B14F-4D97-AF65-F5344CB8AC3E}">
        <p14:creationId xmlns:p14="http://schemas.microsoft.com/office/powerpoint/2010/main" val="6425766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E58F46F9-93A3-43CC-AA0D-AC88C3E5398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80906AC-8E02-4584-9A3B-899D8257AEB8}"/>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D581FF0-C654-4F27-A8DA-19DACDFA482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xmlns:a="http://schemas.openxmlformats.org/drawingml/2006/main">
              <a:ext uri="{FF2B5EF4-FFF2-40B4-BE49-F238E27FC236}">
                <a16:creationId xmlns:a16="http://schemas.microsoft.com/office/drawing/2014/main" id="{544112BB-70B0-4C15-AF89-7F7447F3856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на пројекат</a:t>
            </a:r>
          </a:p>
        </p:txBody>
      </p:sp>
      <p:sp>
        <p:nvSpPr>
          <p:cNvPr id="5" name="Rectangle 4">
            <a:extLst xmlns:a="http://schemas.openxmlformats.org/drawingml/2006/main">
              <a:ext uri="{FF2B5EF4-FFF2-40B4-BE49-F238E27FC236}">
                <a16:creationId xmlns:a16="http://schemas.microsoft.com/office/drawing/2014/main" id="{D4439361-BF3B-4E65-8D9F-AC26EB0504C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Анализа једног сценарија обухвата одлуку, имплементацију, тест одбијања и доказ.</a:t>
            </a:r>
          </a:p>
        </p:txBody>
      </p:sp>
      <p:sp>
        <p:nvSpPr>
          <p:cNvPr id="6" name="Rounded Rectangle 5">
            <a:extLst xmlns:a="http://schemas.openxmlformats.org/drawingml/2006/main">
              <a:ext uri="{FF2B5EF4-FFF2-40B4-BE49-F238E27FC236}">
                <a16:creationId xmlns:a16="http://schemas.microsoft.com/office/drawing/2014/main" id="{40154130-AC11-4856-8C94-5BBCB29F38FA}"/>
              </a:ext>
            </a:extLst>
          </p:cNvPr>
          <p:cNvSpPr>
            <a:spLocks xmlns:a="http://schemas.openxmlformats.org/drawingml/2006/main" noGrp="1"/>
          </p:cNvSpPr>
          <p:nvPr/>
        </p:nvSpPr>
        <p:spPr>
          <a:xfrm xmlns:a="http://schemas.openxmlformats.org/drawingml/2006/main">
            <a:off x="800100" y="2400300"/>
            <a:ext cx="24336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6C456C24-6725-4169-8D06-71578FE591ED}"/>
              </a:ext>
            </a:extLst>
          </p:cNvPr>
          <p:cNvSpPr>
            <a:spLocks xmlns:a="http://schemas.openxmlformats.org/drawingml/2006/main" noGrp="1"/>
          </p:cNvSpPr>
          <p:nvPr/>
        </p:nvSpPr>
        <p:spPr>
          <a:xfrm xmlns:a="http://schemas.openxmlformats.org/drawingml/2006/main">
            <a:off x="942975"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C72C987F-64D4-4889-AFD3-04F7AA393898}"/>
              </a:ext>
            </a:extLst>
          </p:cNvPr>
          <p:cNvSpPr>
            <a:spLocks xmlns:a="http://schemas.openxmlformats.org/drawingml/2006/main" noGrp="1"/>
          </p:cNvSpPr>
          <p:nvPr/>
        </p:nvSpPr>
        <p:spPr>
          <a:xfrm xmlns:a="http://schemas.openxmlformats.org/drawingml/2006/main">
            <a:off x="933450"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Избор сценарија</a:t>
            </a:r>
          </a:p>
        </p:txBody>
      </p:sp>
      <p:sp>
        <p:nvSpPr>
          <p:cNvPr id="9" name="Rectangle 8">
            <a:extLst xmlns:a="http://schemas.openxmlformats.org/drawingml/2006/main">
              <a:ext uri="{FF2B5EF4-FFF2-40B4-BE49-F238E27FC236}">
                <a16:creationId xmlns:a16="http://schemas.microsoft.com/office/drawing/2014/main" id="{B3679985-3C10-4CC6-BDDE-C40D55BCEC7B}"/>
              </a:ext>
            </a:extLst>
          </p:cNvPr>
          <p:cNvSpPr>
            <a:spLocks xmlns:a="http://schemas.openxmlformats.org/drawingml/2006/main" noGrp="1"/>
          </p:cNvSpPr>
          <p:nvPr/>
        </p:nvSpPr>
        <p:spPr>
          <a:xfrm xmlns:a="http://schemas.openxmlformats.org/drawingml/2006/main">
            <a:off x="942975"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xmlns:a="http://schemas.openxmlformats.org/drawingml/2006/main">
              <a:ext uri="{FF2B5EF4-FFF2-40B4-BE49-F238E27FC236}">
                <a16:creationId xmlns:a16="http://schemas.microsoft.com/office/drawing/2014/main" id="{036A5922-58D8-47D0-AD29-514029ADBBAB}"/>
              </a:ext>
            </a:extLst>
          </p:cNvPr>
          <p:cNvSpPr>
            <a:spLocks xmlns:a="http://schemas.openxmlformats.org/drawingml/2006/main" noGrp="1"/>
          </p:cNvSpPr>
          <p:nvPr/>
        </p:nvSpPr>
        <p:spPr>
          <a:xfrm xmlns:a="http://schemas.openxmlformats.org/drawingml/2006/main">
            <a:off x="3519488" y="2400300"/>
            <a:ext cx="24336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80A8E866-7E3F-4966-BBA1-3C0311B0309E}"/>
              </a:ext>
            </a:extLst>
          </p:cNvPr>
          <p:cNvSpPr>
            <a:spLocks xmlns:a="http://schemas.openxmlformats.org/drawingml/2006/main" noGrp="1"/>
          </p:cNvSpPr>
          <p:nvPr/>
        </p:nvSpPr>
        <p:spPr>
          <a:xfrm xmlns:a="http://schemas.openxmlformats.org/drawingml/2006/main">
            <a:off x="3662363"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6E320C8C-B9A0-471A-8A18-183FD4AEECD9}"/>
              </a:ext>
            </a:extLst>
          </p:cNvPr>
          <p:cNvSpPr>
            <a:spLocks xmlns:a="http://schemas.openxmlformats.org/drawingml/2006/main" noGrp="1"/>
          </p:cNvSpPr>
          <p:nvPr/>
        </p:nvSpPr>
        <p:spPr>
          <a:xfrm xmlns:a="http://schemas.openxmlformats.org/drawingml/2006/main">
            <a:off x="3652838"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Дефинисање правила</a:t>
            </a:r>
          </a:p>
        </p:txBody>
      </p:sp>
      <p:sp>
        <p:nvSpPr>
          <p:cNvPr id="13" name="Rectangle 12">
            <a:extLst xmlns:a="http://schemas.openxmlformats.org/drawingml/2006/main">
              <a:ext uri="{FF2B5EF4-FFF2-40B4-BE49-F238E27FC236}">
                <a16:creationId xmlns:a16="http://schemas.microsoft.com/office/drawing/2014/main" id="{4B821FE8-6BB6-4273-B971-A32F5DF1AE0D}"/>
              </a:ext>
            </a:extLst>
          </p:cNvPr>
          <p:cNvSpPr>
            <a:spLocks xmlns:a="http://schemas.openxmlformats.org/drawingml/2006/main" noGrp="1"/>
          </p:cNvSpPr>
          <p:nvPr/>
        </p:nvSpPr>
        <p:spPr>
          <a:xfrm xmlns:a="http://schemas.openxmlformats.org/drawingml/2006/main">
            <a:off x="3662363"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xmlns:a="http://schemas.openxmlformats.org/drawingml/2006/main">
              <a:ext uri="{FF2B5EF4-FFF2-40B4-BE49-F238E27FC236}">
                <a16:creationId xmlns:a16="http://schemas.microsoft.com/office/drawing/2014/main" id="{99CB9D90-1D11-43AD-BCA9-55919B23ABD3}"/>
              </a:ext>
            </a:extLst>
          </p:cNvPr>
          <p:cNvSpPr>
            <a:spLocks xmlns:a="http://schemas.openxmlformats.org/drawingml/2006/main" noGrp="1"/>
          </p:cNvSpPr>
          <p:nvPr/>
        </p:nvSpPr>
        <p:spPr>
          <a:xfrm xmlns:a="http://schemas.openxmlformats.org/drawingml/2006/main">
            <a:off x="6238875" y="2400300"/>
            <a:ext cx="24336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54B880D0-0203-4B3E-A24E-DD606F5C6E07}"/>
              </a:ext>
            </a:extLst>
          </p:cNvPr>
          <p:cNvSpPr>
            <a:spLocks xmlns:a="http://schemas.openxmlformats.org/drawingml/2006/main" noGrp="1"/>
          </p:cNvSpPr>
          <p:nvPr/>
        </p:nvSpPr>
        <p:spPr>
          <a:xfrm xmlns:a="http://schemas.openxmlformats.org/drawingml/2006/main">
            <a:off x="6381750"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6940A665-D485-4FC9-856D-21C2D6996633}"/>
              </a:ext>
            </a:extLst>
          </p:cNvPr>
          <p:cNvSpPr>
            <a:spLocks xmlns:a="http://schemas.openxmlformats.org/drawingml/2006/main" noGrp="1"/>
          </p:cNvSpPr>
          <p:nvPr/>
        </p:nvSpPr>
        <p:spPr>
          <a:xfrm xmlns:a="http://schemas.openxmlformats.org/drawingml/2006/main">
            <a:off x="6372225"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Тест одбијања</a:t>
            </a:r>
          </a:p>
        </p:txBody>
      </p:sp>
      <p:sp>
        <p:nvSpPr>
          <p:cNvPr id="17" name="Rectangle 16">
            <a:extLst xmlns:a="http://schemas.openxmlformats.org/drawingml/2006/main">
              <a:ext uri="{FF2B5EF4-FFF2-40B4-BE49-F238E27FC236}">
                <a16:creationId xmlns:a16="http://schemas.microsoft.com/office/drawing/2014/main" id="{F4B51FA0-5D14-4570-BFEC-68DAD39ECBF3}"/>
              </a:ext>
            </a:extLst>
          </p:cNvPr>
          <p:cNvSpPr>
            <a:spLocks xmlns:a="http://schemas.openxmlformats.org/drawingml/2006/main" noGrp="1"/>
          </p:cNvSpPr>
          <p:nvPr/>
        </p:nvSpPr>
        <p:spPr>
          <a:xfrm xmlns:a="http://schemas.openxmlformats.org/drawingml/2006/main">
            <a:off x="6381750"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xmlns:a="http://schemas.openxmlformats.org/drawingml/2006/main">
              <a:ext uri="{FF2B5EF4-FFF2-40B4-BE49-F238E27FC236}">
                <a16:creationId xmlns:a16="http://schemas.microsoft.com/office/drawing/2014/main" id="{7AF81329-31D1-4FFC-8A85-5835D52C3049}"/>
              </a:ext>
            </a:extLst>
          </p:cNvPr>
          <p:cNvSpPr>
            <a:spLocks xmlns:a="http://schemas.openxmlformats.org/drawingml/2006/main" noGrp="1"/>
          </p:cNvSpPr>
          <p:nvPr/>
        </p:nvSpPr>
        <p:spPr>
          <a:xfrm xmlns:a="http://schemas.openxmlformats.org/drawingml/2006/main">
            <a:off x="8958263" y="2400300"/>
            <a:ext cx="24336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4F680DF8-606A-47F9-9E59-C20EB84A4D65}"/>
              </a:ext>
            </a:extLst>
          </p:cNvPr>
          <p:cNvSpPr>
            <a:spLocks xmlns:a="http://schemas.openxmlformats.org/drawingml/2006/main" noGrp="1"/>
          </p:cNvSpPr>
          <p:nvPr/>
        </p:nvSpPr>
        <p:spPr>
          <a:xfrm xmlns:a="http://schemas.openxmlformats.org/drawingml/2006/main">
            <a:off x="9101138"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197A7645-8507-4694-9729-BC1020079655}"/>
              </a:ext>
            </a:extLst>
          </p:cNvPr>
          <p:cNvSpPr>
            <a:spLocks xmlns:a="http://schemas.openxmlformats.org/drawingml/2006/main" noGrp="1"/>
          </p:cNvSpPr>
          <p:nvPr/>
        </p:nvSpPr>
        <p:spPr>
          <a:xfrm xmlns:a="http://schemas.openxmlformats.org/drawingml/2006/main">
            <a:off x="9091613"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Ревизиони запис</a:t>
            </a:r>
          </a:p>
        </p:txBody>
      </p:sp>
      <p:sp>
        <p:nvSpPr>
          <p:cNvPr id="21" name="Rectangle 20">
            <a:extLst xmlns:a="http://schemas.openxmlformats.org/drawingml/2006/main">
              <a:ext uri="{FF2B5EF4-FFF2-40B4-BE49-F238E27FC236}">
                <a16:creationId xmlns:a16="http://schemas.microsoft.com/office/drawing/2014/main" id="{CBE103E2-B630-4C3E-AD89-B6DF5C580A95}"/>
              </a:ext>
            </a:extLst>
          </p:cNvPr>
          <p:cNvSpPr>
            <a:spLocks xmlns:a="http://schemas.openxmlformats.org/drawingml/2006/main" noGrp="1"/>
          </p:cNvSpPr>
          <p:nvPr/>
        </p:nvSpPr>
        <p:spPr>
          <a:xfrm xmlns:a="http://schemas.openxmlformats.org/drawingml/2006/main">
            <a:off x="9101138"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33738"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289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672513"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B1FFA01C-35B8-4DAA-96DD-B9BAA59DFFB7}"/>
              </a:ext>
            </a:extLst>
          </p:cNvPr>
          <p:cNvSpPr>
            <a:spLocks xmlns:a="http://schemas.openxmlformats.org/drawingml/2006/main" noGrp="1"/>
          </p:cNvSpPr>
          <p:nvPr/>
        </p:nvSpPr>
        <p:spPr>
          <a:xfrm xmlns:a="http://schemas.openxmlformats.org/drawingml/2006/main">
            <a:off x="1619250" y="4305300"/>
            <a:ext cx="8953500" cy="914400"/>
          </a:xfrm>
          <a:prstGeom xmlns:a="http://schemas.openxmlformats.org/drawingml/2006/main" prst="roundRect">
            <a:avLst>
              <a:gd name="adj" fmla="val 13542"/>
            </a:avLst>
          </a:prstGeom>
          <a:solidFill xmlns:a="http://schemas.openxmlformats.org/drawingml/2006/main">
            <a:srgbClr val="FFF6E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CCE2E90F-9675-42C6-9F60-D8812B8E7B06}"/>
              </a:ext>
            </a:extLst>
          </p:cNvPr>
          <p:cNvSpPr>
            <a:spLocks xmlns:a="http://schemas.openxmlformats.org/drawingml/2006/main" noGrp="1"/>
          </p:cNvSpPr>
          <p:nvPr/>
        </p:nvSpPr>
        <p:spPr>
          <a:xfrm xmlns:a="http://schemas.openxmlformats.org/drawingml/2006/main">
            <a:off x="1752600" y="4448175"/>
            <a:ext cx="57150" cy="6286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06E4FCDC-57CE-4FF6-B2DB-272B459F3B1B}"/>
              </a:ext>
            </a:extLst>
          </p:cNvPr>
          <p:cNvSpPr>
            <a:spLocks xmlns:a="http://schemas.openxmlformats.org/drawingml/2006/main" noGrp="1"/>
          </p:cNvSpPr>
          <p:nvPr/>
        </p:nvSpPr>
        <p:spPr>
          <a:xfrm xmlns:a="http://schemas.openxmlformats.org/drawingml/2006/main">
            <a:off x="914400" y="4267200"/>
            <a:ext cx="10363200" cy="990600"/>
          </a:xfrm>
          <a:prstGeom xmlns:a="http://schemas.openxmlformats.org/drawingml/2006/main" prst="roundRect">
            <a:avLst>
              <a:gd name="adj" fmla="val 13462"/>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E62DFD92-FEC7-4A4A-B875-4FFC850A42CB}"/>
              </a:ext>
            </a:extLst>
          </p:cNvPr>
          <p:cNvSpPr>
            <a:spLocks xmlns:a="http://schemas.openxmlformats.org/drawingml/2006/main" noGrp="1"/>
          </p:cNvSpPr>
          <p:nvPr/>
        </p:nvSpPr>
        <p:spPr>
          <a:xfrm xmlns:a="http://schemas.openxmlformats.org/drawingml/2006/main">
            <a:off x="1085850" y="4419600"/>
            <a:ext cx="57150" cy="6858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264A264D-76E1-4293-BA2A-56E1715CE66C}"/>
              </a:ext>
            </a:extLst>
          </p:cNvPr>
          <p:cNvSpPr>
            <a:spLocks xmlns:a="http://schemas.openxmlformats.org/drawingml/2006/main" noGrp="1"/>
          </p:cNvSpPr>
          <p:nvPr/>
        </p:nvSpPr>
        <p:spPr>
          <a:xfrm xmlns:a="http://schemas.openxmlformats.org/drawingml/2006/main">
            <a:off x="1333500" y="43719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ПРИМЕНА НА ПРОЈЕКАТ</a:t>
            </a:r>
          </a:p>
        </p:txBody>
      </p:sp>
      <p:sp>
        <p:nvSpPr>
          <p:cNvPr id="79" name="Rectangle 78">
            <a:extLst xmlns:a="http://schemas.openxmlformats.org/drawingml/2006/main">
              <a:ext uri="{FF2B5EF4-FFF2-40B4-BE49-F238E27FC236}">
                <a16:creationId xmlns:a16="http://schemas.microsoft.com/office/drawing/2014/main" id="{E7A9205E-6145-475D-BACE-1FED6188287A}"/>
              </a:ext>
            </a:extLst>
          </p:cNvPr>
          <p:cNvSpPr>
            <a:spLocks xmlns:a="http://schemas.openxmlformats.org/drawingml/2006/main" noGrp="1"/>
          </p:cNvSpPr>
          <p:nvPr/>
        </p:nvSpPr>
        <p:spPr>
          <a:xfrm xmlns:a="http://schemas.openxmlformats.org/drawingml/2006/main">
            <a:off x="1333500" y="4600575"/>
            <a:ext cx="9639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Пројектна примена теме „Политике, конфигурација и безбедносна видљивост“ обухвата једну серверску одлуку, тест одбијања и доказ који други члан тима може да понови.</a:t>
            </a:r>
          </a:p>
        </p:txBody>
      </p:sp>
    </p:spTree>
    <p:extLst>
      <p:ext uri="{BB962C8B-B14F-4D97-AF65-F5344CB8AC3E}">
        <p14:creationId xmlns:p14="http://schemas.microsoft.com/office/powerpoint/2010/main" val="1924348763"/>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Rectangle 28">
            <a:extLst xmlns:a="http://schemas.openxmlformats.org/drawingml/2006/main">
              <a:ext uri="{FF2B5EF4-FFF2-40B4-BE49-F238E27FC236}">
                <a16:creationId xmlns:a16="http://schemas.microsoft.com/office/drawing/2014/main" id="{D7EF47A9-3E6E-486D-B76A-04A75693BD7E}"/>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D1F4C65-2CA4-4885-BBB2-636D5408F011}"/>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9E17A3F-6770-4E9F-A150-465D9FC57CF3}"/>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xmlns:a="http://schemas.openxmlformats.org/drawingml/2006/main">
              <a:ext uri="{FF2B5EF4-FFF2-40B4-BE49-F238E27FC236}">
                <a16:creationId xmlns:a16="http://schemas.microsoft.com/office/drawing/2014/main" id="{488A6EEC-FD92-4529-B726-858C0ECC58E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xmlns:a="http://schemas.openxmlformats.org/drawingml/2006/main">
              <a:ext uri="{FF2B5EF4-FFF2-40B4-BE49-F238E27FC236}">
                <a16:creationId xmlns:a16="http://schemas.microsoft.com/office/drawing/2014/main" id="{BCE4C710-91B9-49E9-A8ED-631DA2581283}"/>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Разумевање теме подразумева објашњење одлуке и доказа независно од конкретног технолошког оквира.</a:t>
            </a:r>
          </a:p>
        </p:txBody>
      </p:sp>
      <p:sp>
        <p:nvSpPr>
          <p:cNvPr id="6" name="Rounded Rectangle 5">
            <a:extLst xmlns:a="http://schemas.openxmlformats.org/drawingml/2006/main">
              <a:ext uri="{FF2B5EF4-FFF2-40B4-BE49-F238E27FC236}">
                <a16:creationId xmlns:a16="http://schemas.microsoft.com/office/drawing/2014/main" id="{41D75E13-85E6-4426-A25A-3000EEAAD3D4}"/>
              </a:ext>
            </a:extLst>
          </p:cNvPr>
          <p:cNvSpPr>
            <a:spLocks xmlns:a="http://schemas.openxmlformats.org/drawingml/2006/main" noGrp="1"/>
          </p:cNvSpPr>
          <p:nvPr/>
        </p:nvSpPr>
        <p:spPr>
          <a:xfrm xmlns:a="http://schemas.openxmlformats.org/drawingml/2006/main">
            <a:off x="723900" y="228600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605E1BBA-AF85-4DEC-A3CB-00B91E0F236D}"/>
              </a:ext>
            </a:extLst>
          </p:cNvPr>
          <p:cNvSpPr>
            <a:spLocks xmlns:a="http://schemas.openxmlformats.org/drawingml/2006/main" noGrp="1"/>
          </p:cNvSpPr>
          <p:nvPr/>
        </p:nvSpPr>
        <p:spPr>
          <a:xfrm xmlns:a="http://schemas.openxmlformats.org/drawingml/2006/main">
            <a:off x="866775"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568E7D1-721B-4BED-93BE-17475C92BBC1}"/>
              </a:ext>
            </a:extLst>
          </p:cNvPr>
          <p:cNvSpPr>
            <a:spLocks xmlns:a="http://schemas.openxmlformats.org/drawingml/2006/main" noGrp="1"/>
          </p:cNvSpPr>
          <p:nvPr/>
        </p:nvSpPr>
        <p:spPr>
          <a:xfrm xmlns:a="http://schemas.openxmlformats.org/drawingml/2006/main">
            <a:off x="857250"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Политика</a:t>
            </a:r>
          </a:p>
        </p:txBody>
      </p:sp>
      <p:sp>
        <p:nvSpPr>
          <p:cNvPr id="9" name="Rectangle 8">
            <a:extLst xmlns:a="http://schemas.openxmlformats.org/drawingml/2006/main">
              <a:ext uri="{FF2B5EF4-FFF2-40B4-BE49-F238E27FC236}">
                <a16:creationId xmlns:a16="http://schemas.microsoft.com/office/drawing/2014/main" id="{FC97CF97-866C-4C06-A862-A11BE1610CB5}"/>
              </a:ext>
            </a:extLst>
          </p:cNvPr>
          <p:cNvSpPr>
            <a:spLocks xmlns:a="http://schemas.openxmlformats.org/drawingml/2006/main" noGrp="1"/>
          </p:cNvSpPr>
          <p:nvPr/>
        </p:nvSpPr>
        <p:spPr>
          <a:xfrm xmlns:a="http://schemas.openxmlformats.org/drawingml/2006/main">
            <a:off x="866775"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шта организација очекује</a:t>
            </a:r>
          </a:p>
        </p:txBody>
      </p:sp>
      <p:sp>
        <p:nvSpPr>
          <p:cNvPr id="10" name="Rounded Rectangle 9">
            <a:extLst xmlns:a="http://schemas.openxmlformats.org/drawingml/2006/main">
              <a:ext uri="{FF2B5EF4-FFF2-40B4-BE49-F238E27FC236}">
                <a16:creationId xmlns:a16="http://schemas.microsoft.com/office/drawing/2014/main" id="{F4254622-2C91-4723-837A-318A3F35C157}"/>
              </a:ext>
            </a:extLst>
          </p:cNvPr>
          <p:cNvSpPr>
            <a:spLocks xmlns:a="http://schemas.openxmlformats.org/drawingml/2006/main" noGrp="1"/>
          </p:cNvSpPr>
          <p:nvPr/>
        </p:nvSpPr>
        <p:spPr>
          <a:xfrm xmlns:a="http://schemas.openxmlformats.org/drawingml/2006/main">
            <a:off x="3481388" y="228600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6144924D-B667-461A-BF55-39EE774D9D74}"/>
              </a:ext>
            </a:extLst>
          </p:cNvPr>
          <p:cNvSpPr>
            <a:spLocks xmlns:a="http://schemas.openxmlformats.org/drawingml/2006/main" noGrp="1"/>
          </p:cNvSpPr>
          <p:nvPr/>
        </p:nvSpPr>
        <p:spPr>
          <a:xfrm xmlns:a="http://schemas.openxmlformats.org/drawingml/2006/main">
            <a:off x="3624263"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17C1D372-DB1D-47DD-9846-8793F054E656}"/>
              </a:ext>
            </a:extLst>
          </p:cNvPr>
          <p:cNvSpPr>
            <a:spLocks xmlns:a="http://schemas.openxmlformats.org/drawingml/2006/main" noGrp="1"/>
          </p:cNvSpPr>
          <p:nvPr/>
        </p:nvSpPr>
        <p:spPr>
          <a:xfrm xmlns:a="http://schemas.openxmlformats.org/drawingml/2006/main">
            <a:off x="3614738"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Конфигурација</a:t>
            </a:r>
          </a:p>
        </p:txBody>
      </p:sp>
      <p:sp>
        <p:nvSpPr>
          <p:cNvPr id="13" name="Rectangle 12">
            <a:extLst xmlns:a="http://schemas.openxmlformats.org/drawingml/2006/main">
              <a:ext uri="{FF2B5EF4-FFF2-40B4-BE49-F238E27FC236}">
                <a16:creationId xmlns:a16="http://schemas.microsoft.com/office/drawing/2014/main" id="{3ACE8CEB-1D86-43E1-8117-3903A900E198}"/>
              </a:ext>
            </a:extLst>
          </p:cNvPr>
          <p:cNvSpPr>
            <a:spLocks xmlns:a="http://schemas.openxmlformats.org/drawingml/2006/main" noGrp="1"/>
          </p:cNvSpPr>
          <p:nvPr/>
        </p:nvSpPr>
        <p:spPr>
          <a:xfrm xmlns:a="http://schemas.openxmlformats.org/drawingml/2006/main">
            <a:off x="3624263"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како се правило примењује</a:t>
            </a:r>
          </a:p>
        </p:txBody>
      </p:sp>
      <p:sp>
        <p:nvSpPr>
          <p:cNvPr id="14" name="Rounded Rectangle 13">
            <a:extLst xmlns:a="http://schemas.openxmlformats.org/drawingml/2006/main">
              <a:ext uri="{FF2B5EF4-FFF2-40B4-BE49-F238E27FC236}">
                <a16:creationId xmlns:a16="http://schemas.microsoft.com/office/drawing/2014/main" id="{3DCD986B-62F4-4803-9F3A-D7FA4A73387F}"/>
              </a:ext>
            </a:extLst>
          </p:cNvPr>
          <p:cNvSpPr>
            <a:spLocks xmlns:a="http://schemas.openxmlformats.org/drawingml/2006/main" noGrp="1"/>
          </p:cNvSpPr>
          <p:nvPr/>
        </p:nvSpPr>
        <p:spPr>
          <a:xfrm xmlns:a="http://schemas.openxmlformats.org/drawingml/2006/main">
            <a:off x="6238875" y="2286000"/>
            <a:ext cx="24717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D40C7D09-6D06-46F3-8D02-8BAF24E5F9AF}"/>
              </a:ext>
            </a:extLst>
          </p:cNvPr>
          <p:cNvSpPr>
            <a:spLocks xmlns:a="http://schemas.openxmlformats.org/drawingml/2006/main" noGrp="1"/>
          </p:cNvSpPr>
          <p:nvPr/>
        </p:nvSpPr>
        <p:spPr>
          <a:xfrm xmlns:a="http://schemas.openxmlformats.org/drawingml/2006/main">
            <a:off x="6381750"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5BCDC01C-DB80-4AF8-BB64-501DFA6E78C7}"/>
              </a:ext>
            </a:extLst>
          </p:cNvPr>
          <p:cNvSpPr>
            <a:spLocks xmlns:a="http://schemas.openxmlformats.org/drawingml/2006/main" noGrp="1"/>
          </p:cNvSpPr>
          <p:nvPr/>
        </p:nvSpPr>
        <p:spPr>
          <a:xfrm xmlns:a="http://schemas.openxmlformats.org/drawingml/2006/main">
            <a:off x="6372225"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Контрола</a:t>
            </a:r>
          </a:p>
        </p:txBody>
      </p:sp>
      <p:sp>
        <p:nvSpPr>
          <p:cNvPr id="17" name="Rectangle 16">
            <a:extLst xmlns:a="http://schemas.openxmlformats.org/drawingml/2006/main">
              <a:ext uri="{FF2B5EF4-FFF2-40B4-BE49-F238E27FC236}">
                <a16:creationId xmlns:a16="http://schemas.microsoft.com/office/drawing/2014/main" id="{DE04796F-8931-41EB-A461-E106BABDCEBA}"/>
              </a:ext>
            </a:extLst>
          </p:cNvPr>
          <p:cNvSpPr>
            <a:spLocks xmlns:a="http://schemas.openxmlformats.org/drawingml/2006/main" noGrp="1"/>
          </p:cNvSpPr>
          <p:nvPr/>
        </p:nvSpPr>
        <p:spPr>
          <a:xfrm xmlns:a="http://schemas.openxmlformats.org/drawingml/2006/main">
            <a:off x="6381750"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механизам заштите</a:t>
            </a:r>
          </a:p>
        </p:txBody>
      </p:sp>
      <p:sp>
        <p:nvSpPr>
          <p:cNvPr id="18" name="Rounded Rectangle 17">
            <a:extLst xmlns:a="http://schemas.openxmlformats.org/drawingml/2006/main">
              <a:ext uri="{FF2B5EF4-FFF2-40B4-BE49-F238E27FC236}">
                <a16:creationId xmlns:a16="http://schemas.microsoft.com/office/drawing/2014/main" id="{3D27B755-7C53-4E28-955E-9F792422C602}"/>
              </a:ext>
            </a:extLst>
          </p:cNvPr>
          <p:cNvSpPr>
            <a:spLocks xmlns:a="http://schemas.openxmlformats.org/drawingml/2006/main" noGrp="1"/>
          </p:cNvSpPr>
          <p:nvPr/>
        </p:nvSpPr>
        <p:spPr>
          <a:xfrm xmlns:a="http://schemas.openxmlformats.org/drawingml/2006/main">
            <a:off x="8996363" y="228600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9C9CDD8-07DF-49FD-8085-90C7995DFF0F}"/>
              </a:ext>
            </a:extLst>
          </p:cNvPr>
          <p:cNvSpPr>
            <a:spLocks xmlns:a="http://schemas.openxmlformats.org/drawingml/2006/main" noGrp="1"/>
          </p:cNvSpPr>
          <p:nvPr/>
        </p:nvSpPr>
        <p:spPr>
          <a:xfrm xmlns:a="http://schemas.openxmlformats.org/drawingml/2006/main">
            <a:off x="9139238"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0CBBA68B-8D29-429D-B100-7951512BA71C}"/>
              </a:ext>
            </a:extLst>
          </p:cNvPr>
          <p:cNvSpPr>
            <a:spLocks xmlns:a="http://schemas.openxmlformats.org/drawingml/2006/main" noGrp="1"/>
          </p:cNvSpPr>
          <p:nvPr/>
        </p:nvSpPr>
        <p:spPr>
          <a:xfrm xmlns:a="http://schemas.openxmlformats.org/drawingml/2006/main">
            <a:off x="9129713"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Доказ</a:t>
            </a:r>
          </a:p>
        </p:txBody>
      </p:sp>
      <p:sp>
        <p:nvSpPr>
          <p:cNvPr id="21" name="Rectangle 20">
            <a:extLst xmlns:a="http://schemas.openxmlformats.org/drawingml/2006/main">
              <a:ext uri="{FF2B5EF4-FFF2-40B4-BE49-F238E27FC236}">
                <a16:creationId xmlns:a16="http://schemas.microsoft.com/office/drawing/2014/main" id="{3ABD0A37-A807-4EAA-A593-E06A4D1EBD78}"/>
              </a:ext>
            </a:extLst>
          </p:cNvPr>
          <p:cNvSpPr>
            <a:spLocks xmlns:a="http://schemas.openxmlformats.org/drawingml/2006/main" noGrp="1"/>
          </p:cNvSpPr>
          <p:nvPr/>
        </p:nvSpPr>
        <p:spPr>
          <a:xfrm xmlns:a="http://schemas.openxmlformats.org/drawingml/2006/main">
            <a:off x="9139238"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лог, метрика или тест</a:t>
            </a:r>
          </a:p>
        </p:txBody>
      </p:sp>
      <p:cxnSp>
        <p:nvCxnSpPr>
          <p:cNvPr id="223" name="Straight Arrow Connector 126"/>
          <p:cNvCxnSpPr>
            <a:stCxn xmlns:a="http://schemas.openxmlformats.org/drawingml/2006/main" id="6" idx="3"/>
            <a:endCxn xmlns:a="http://schemas.openxmlformats.org/drawingml/2006/main" id="10" idx="1"/>
          </p:cNvCxnSpPr>
          <p:nvPr/>
        </p:nvCxnSpPr>
        <p:spPr>
          <a:xfrm xmlns:a="http://schemas.openxmlformats.org/drawingml/2006/main">
            <a:off x="3195638"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4" name="Straight Arrow Connector 127"/>
          <p:cNvCxnSpPr>
            <a:stCxn xmlns:a="http://schemas.openxmlformats.org/drawingml/2006/main" id="10" idx="3"/>
            <a:endCxn xmlns:a="http://schemas.openxmlformats.org/drawingml/2006/main" id="14" idx="1"/>
          </p:cNvCxnSpPr>
          <p:nvPr/>
        </p:nvCxnSpPr>
        <p:spPr>
          <a:xfrm xmlns:a="http://schemas.openxmlformats.org/drawingml/2006/main">
            <a:off x="5953126" y="29146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5" name="Straight Arrow Connector 128"/>
          <p:cNvCxnSpPr>
            <a:stCxn xmlns:a="http://schemas.openxmlformats.org/drawingml/2006/main" id="14" idx="3"/>
            <a:endCxn xmlns:a="http://schemas.openxmlformats.org/drawingml/2006/main" id="18" idx="1"/>
          </p:cNvCxnSpPr>
          <p:nvPr/>
        </p:nvCxnSpPr>
        <p:spPr>
          <a:xfrm xmlns:a="http://schemas.openxmlformats.org/drawingml/2006/main">
            <a:off x="8710613"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6C33B10D-CA58-461A-8C7D-1D0CF7CE1CB5}"/>
              </a:ext>
            </a:extLst>
          </p:cNvPr>
          <p:cNvSpPr>
            <a:spLocks xmlns:a="http://schemas.openxmlformats.org/drawingml/2006/main" noGrp="1"/>
          </p:cNvSpPr>
          <p:nvPr/>
        </p:nvSpPr>
        <p:spPr>
          <a:xfrm xmlns:a="http://schemas.openxmlformats.org/drawingml/2006/main">
            <a:off x="1428750" y="4114800"/>
            <a:ext cx="9334500" cy="895350"/>
          </a:xfrm>
          <a:prstGeom xmlns:a="http://schemas.openxmlformats.org/drawingml/2006/main" prst="roundRect">
            <a:avLst>
              <a:gd name="adj" fmla="val 13830"/>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EEA2A5B4-6DA6-4251-B819-CC5FCC9BF6AB}"/>
              </a:ext>
            </a:extLst>
          </p:cNvPr>
          <p:cNvSpPr>
            <a:spLocks xmlns:a="http://schemas.openxmlformats.org/drawingml/2006/main" noGrp="1"/>
          </p:cNvSpPr>
          <p:nvPr/>
        </p:nvSpPr>
        <p:spPr>
          <a:xfrm xmlns:a="http://schemas.openxmlformats.org/drawingml/2006/main">
            <a:off x="1562100" y="4257675"/>
            <a:ext cx="57150" cy="6096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7" name="Rounded Rectangle 76">
            <a:extLst xmlns:a="http://schemas.openxmlformats.org/drawingml/2006/main">
              <a:ext uri="{FF2B5EF4-FFF2-40B4-BE49-F238E27FC236}">
                <a16:creationId xmlns:a16="http://schemas.microsoft.com/office/drawing/2014/main" id="{AF927FCD-32A1-4742-AF50-CA371530C75C}"/>
              </a:ext>
            </a:extLst>
          </p:cNvPr>
          <p:cNvSpPr>
            <a:spLocks xmlns:a="http://schemas.openxmlformats.org/drawingml/2006/main" noGrp="1"/>
          </p:cNvSpPr>
          <p:nvPr/>
        </p:nvSpPr>
        <p:spPr>
          <a:xfrm xmlns:a="http://schemas.openxmlformats.org/drawingml/2006/main">
            <a:off x="914400" y="4095750"/>
            <a:ext cx="10363200" cy="1257297"/>
          </a:xfrm>
          <a:prstGeom xmlns:a="http://schemas.openxmlformats.org/drawingml/2006/main" prst="roundRect">
            <a:avLst>
              <a:gd name="adj" fmla="val 8046"/>
            </a:avLst>
          </a:prstGeom>
          <a:solidFill xmlns:a="http://schemas.openxmlformats.org/drawingml/2006/main">
            <a:srgbClr val="F7EFF1"/>
          </a:solidFill>
          <a:ln xmlns:a="http://schemas.openxmlformats.org/drawingml/2006/main" w="8573">
            <a:solidFill>
              <a:srgbClr val="DBC7CC"/>
            </a:solidFill>
            <a:prstDash val="solid"/>
          </a:ln>
        </p:spPr>
      </p:sp>
      <p:sp>
        <p:nvSpPr>
          <p:cNvPr id="78" name="Rounded Rectangle 77">
            <a:extLst xmlns:a="http://schemas.openxmlformats.org/drawingml/2006/main">
              <a:ext uri="{FF2B5EF4-FFF2-40B4-BE49-F238E27FC236}">
                <a16:creationId xmlns:a16="http://schemas.microsoft.com/office/drawing/2014/main" id="{37A8B731-DFC7-4AFF-9389-2EDC0536DA8E}"/>
              </a:ext>
            </a:extLst>
          </p:cNvPr>
          <p:cNvSpPr>
            <a:spLocks xmlns:a="http://schemas.openxmlformats.org/drawingml/2006/main" noGrp="1"/>
          </p:cNvSpPr>
          <p:nvPr/>
        </p:nvSpPr>
        <p:spPr>
          <a:xfrm xmlns:a="http://schemas.openxmlformats.org/drawingml/2006/main">
            <a:off x="1085850" y="4248150"/>
            <a:ext cx="57150" cy="895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9" name="Rectangle 78">
            <a:extLst xmlns:a="http://schemas.openxmlformats.org/drawingml/2006/main">
              <a:ext uri="{FF2B5EF4-FFF2-40B4-BE49-F238E27FC236}">
                <a16:creationId xmlns:a16="http://schemas.microsoft.com/office/drawing/2014/main" id="{9AD5965D-ADCE-4F6B-BF95-299DD3B40493}"/>
              </a:ext>
            </a:extLst>
          </p:cNvPr>
          <p:cNvSpPr>
            <a:spLocks xmlns:a="http://schemas.openxmlformats.org/drawingml/2006/main" noGrp="1"/>
          </p:cNvSpPr>
          <p:nvPr/>
        </p:nvSpPr>
        <p:spPr>
          <a:xfrm xmlns:a="http://schemas.openxmlformats.org/drawingml/2006/main">
            <a:off x="1333500" y="42005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ПРОВЕРУ</a:t>
            </a:r>
          </a:p>
        </p:txBody>
      </p:sp>
      <p:sp>
        <p:nvSpPr>
          <p:cNvPr id="80" name="Rectangle 79">
            <a:extLst xmlns:a="http://schemas.openxmlformats.org/drawingml/2006/main">
              <a:ext uri="{FF2B5EF4-FFF2-40B4-BE49-F238E27FC236}">
                <a16:creationId xmlns:a16="http://schemas.microsoft.com/office/drawing/2014/main" id="{B91932C5-DEAE-47E4-AAB1-C425DEB2571B}"/>
              </a:ext>
            </a:extLst>
          </p:cNvPr>
          <p:cNvSpPr>
            <a:spLocks xmlns:a="http://schemas.openxmlformats.org/drawingml/2006/main" noGrp="1"/>
          </p:cNvSpPr>
          <p:nvPr/>
        </p:nvSpPr>
        <p:spPr>
          <a:xfrm xmlns:a="http://schemas.openxmlformats.org/drawingml/2006/main">
            <a:off x="1333500" y="4429125"/>
            <a:ext cx="9639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0354"/>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Које безбедносно правило би требало да буде засебан, читљив артефакт у вашој целини и који доказ показује да ради?</a:t>
            </a:r>
          </a:p>
        </p:txBody>
      </p:sp>
      <p:sp>
        <p:nvSpPr>
          <p:cNvPr id="81" name="Rectangle 80">
            <a:extLst xmlns:a="http://schemas.openxmlformats.org/drawingml/2006/main">
              <a:ext uri="{FF2B5EF4-FFF2-40B4-BE49-F238E27FC236}">
                <a16:creationId xmlns:a16="http://schemas.microsoft.com/office/drawing/2014/main" id="{BCD8444D-D9DB-4158-8088-C522B8AFF193}"/>
              </a:ext>
            </a:extLst>
          </p:cNvPr>
          <p:cNvSpPr>
            <a:spLocks xmlns:a="http://schemas.openxmlformats.org/drawingml/2006/main" noGrp="1"/>
          </p:cNvSpPr>
          <p:nvPr/>
        </p:nvSpPr>
        <p:spPr>
          <a:xfrm xmlns:a="http://schemas.openxmlformats.org/drawingml/2006/main">
            <a:off x="1314450" y="4905375"/>
            <a:ext cx="963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275" b="0">
                <a:solidFill>
                  <a:srgbClr val="52637B"/>
                </a:solidFill>
                <a:latin typeface="Aptos"/>
                <a:ea typeface="Aptos"/>
                <a:cs typeface="Aptos"/>
              </a:defRPr>
            </a:pPr>
            <a:r>
              <a:rPr sz="1275" b="0">
                <a:solidFill>
                  <a:srgbClr val="52637B"/>
                </a:solidFill>
                <a:latin typeface="Aptos"/>
                <a:ea typeface="Aptos"/>
                <a:cs typeface="Aptos"/>
              </a:rPr>
              <a:t>Пројектна примена: применити исти модел на једну реалну границу у сопственом пројекту.</a:t>
            </a:r>
          </a:p>
        </p:txBody>
      </p:sp>
    </p:spTree>
    <p:extLst>
      <p:ext uri="{BB962C8B-B14F-4D97-AF65-F5344CB8AC3E}">
        <p14:creationId xmlns:p14="http://schemas.microsoft.com/office/powerpoint/2010/main" val="199956077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2026-09-29T19:08:32.1990000Z</dcterms:created>
  <dcterms:modified xsi:type="dcterms:W3CDTF">2026-09-29T19:08:32.1990000Z</dcterms:modified>
</coreProperties>
</file>