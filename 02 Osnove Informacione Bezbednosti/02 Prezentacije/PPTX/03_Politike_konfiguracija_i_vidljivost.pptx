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2bc2df7894241" /><Relationship Type="http://schemas.openxmlformats.org/officeDocument/2006/relationships/extended-properties" Target="/docProps/app.xml" Id="R29b03053d899448f" /><Relationship Type="http://schemas.openxmlformats.org/officeDocument/2006/relationships/officeDocument" Target="/ppt/presentation.xml" Id="Rdf6c02aba100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9623e07084fc2"/>
  </p:sldMasterIdLst>
  <p:notesMasterIdLst>
    <p:notesMasterId xmlns:r="http://schemas.openxmlformats.org/officeDocument/2006/relationships" r:id="R1c489e041b3448f3"/>
  </p:notesMasterIdLst>
  <p:sldIdLst>
    <p:sldId xmlns:r="http://schemas.openxmlformats.org/officeDocument/2006/relationships" id="256" r:id="R031ff3ef892c49e7"/>
    <p:sldId xmlns:r="http://schemas.openxmlformats.org/officeDocument/2006/relationships" id="257" r:id="Rf61a08a4a1984df8"/>
    <p:sldId xmlns:r="http://schemas.openxmlformats.org/officeDocument/2006/relationships" id="258" r:id="R1f392373ba0c4b01"/>
    <p:sldId xmlns:r="http://schemas.openxmlformats.org/officeDocument/2006/relationships" id="259" r:id="R4a5b45835b34459f"/>
    <p:sldId xmlns:r="http://schemas.openxmlformats.org/officeDocument/2006/relationships" id="260" r:id="R4597200f9a354e3e"/>
    <p:sldId xmlns:r="http://schemas.openxmlformats.org/officeDocument/2006/relationships" id="261" r:id="Rc623a920612749b0"/>
    <p:sldId xmlns:r="http://schemas.openxmlformats.org/officeDocument/2006/relationships" id="262" r:id="R4bbb07e41025481e"/>
    <p:sldId xmlns:r="http://schemas.openxmlformats.org/officeDocument/2006/relationships" id="263" r:id="Rca0ea1c188c44bef"/>
    <p:sldId xmlns:r="http://schemas.openxmlformats.org/officeDocument/2006/relationships" id="264" r:id="R73dd323747c34317"/>
    <p:sldId xmlns:r="http://schemas.openxmlformats.org/officeDocument/2006/relationships" id="265" r:id="R720f5c6488f844b1"/>
    <p:sldId xmlns:r="http://schemas.openxmlformats.org/officeDocument/2006/relationships" id="266" r:id="Rcadb03f9bc994afe"/>
    <p:sldId xmlns:r="http://schemas.openxmlformats.org/officeDocument/2006/relationships" id="267" r:id="Rf3b2416c9ab44d6f"/>
    <p:sldId xmlns:r="http://schemas.openxmlformats.org/officeDocument/2006/relationships" id="268" r:id="R20805fe18bd54922"/>
    <p:sldId xmlns:r="http://schemas.openxmlformats.org/officeDocument/2006/relationships" id="269" r:id="R484baff04aaf488d"/>
    <p:sldId xmlns:r="http://schemas.openxmlformats.org/officeDocument/2006/relationships" id="270" r:id="Re39b584cf3ee4f7b"/>
    <p:sldId xmlns:r="http://schemas.openxmlformats.org/officeDocument/2006/relationships" id="271" r:id="R5a430cc3f3e44ad9"/>
    <p:sldId xmlns:r="http://schemas.openxmlformats.org/officeDocument/2006/relationships" id="272" r:id="R4aa6d50aedbb4dbb"/>
    <p:sldId xmlns:r="http://schemas.openxmlformats.org/officeDocument/2006/relationships" id="273" r:id="R60043841ef974396"/>
    <p:sldId xmlns:r="http://schemas.openxmlformats.org/officeDocument/2006/relationships" id="274" r:id="R9ebcbd19a8b847dd"/>
    <p:sldId xmlns:r="http://schemas.openxmlformats.org/officeDocument/2006/relationships" id="275" r:id="R110e18a5e5bf4202"/>
    <p:sldId xmlns:r="http://schemas.openxmlformats.org/officeDocument/2006/relationships" id="276" r:id="Re84d7ae5c01e41c2"/>
    <p:sldId xmlns:r="http://schemas.openxmlformats.org/officeDocument/2006/relationships" id="277" r:id="R3fedda95dfe14fb5"/>
    <p:sldId xmlns:r="http://schemas.openxmlformats.org/officeDocument/2006/relationships" id="278" r:id="R8ee495b18ad9469d"/>
    <p:sldId xmlns:r="http://schemas.openxmlformats.org/officeDocument/2006/relationships" id="279" r:id="R11bd499bd0c34158"/>
    <p:sldId xmlns:r="http://schemas.openxmlformats.org/officeDocument/2006/relationships" id="280" r:id="R580885d9baa74442"/>
    <p:sldId xmlns:r="http://schemas.openxmlformats.org/officeDocument/2006/relationships" id="281" r:id="R805e24cbd8364ff4"/>
    <p:sldId xmlns:r="http://schemas.openxmlformats.org/officeDocument/2006/relationships" id="282" r:id="Re11d656c0ad04307"/>
    <p:sldId xmlns:r="http://schemas.openxmlformats.org/officeDocument/2006/relationships" id="283" r:id="Rfc26aac0710e467f"/>
    <p:sldId xmlns:r="http://schemas.openxmlformats.org/officeDocument/2006/relationships" id="284" r:id="R52959d31b507410d"/>
    <p:sldId xmlns:r="http://schemas.openxmlformats.org/officeDocument/2006/relationships" id="285" r:id="R7bf0e03175a542b1"/>
    <p:sldId xmlns:r="http://schemas.openxmlformats.org/officeDocument/2006/relationships" id="286" r:id="Rfc92bc0fb07a40b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0e73db9dde4547" /><Relationship Type="http://schemas.openxmlformats.org/officeDocument/2006/relationships/slideMaster" Target="/ppt/slideMasters/slideMaster1.xml" Id="Rc9f9623e07084fc2" /><Relationship Type="http://schemas.openxmlformats.org/officeDocument/2006/relationships/notesMaster" Target="/ppt/notesMasters/notesMaster1.xml" Id="R1c489e041b3448f3" /><Relationship Type="http://schemas.openxmlformats.org/officeDocument/2006/relationships/presProps" Target="/ppt/presProps.xml" Id="R24deaa2839954c7c" /><Relationship Type="http://schemas.openxmlformats.org/officeDocument/2006/relationships/tableStyles" Target="/ppt/tableStyles.xml" Id="R5d4b727c1ff64159" /><Relationship Type="http://schemas.openxmlformats.org/officeDocument/2006/relationships/slide" Target="/ppt/slides/slide1.xml" Id="R031ff3ef892c49e7" /><Relationship Type="http://schemas.openxmlformats.org/officeDocument/2006/relationships/slide" Target="/ppt/slides/slide2.xml" Id="Rf61a08a4a1984df8" /><Relationship Type="http://schemas.openxmlformats.org/officeDocument/2006/relationships/slide" Target="/ppt/slides/slide3.xml" Id="R1f392373ba0c4b01" /><Relationship Type="http://schemas.openxmlformats.org/officeDocument/2006/relationships/slide" Target="/ppt/slides/slide4.xml" Id="R4a5b45835b34459f" /><Relationship Type="http://schemas.openxmlformats.org/officeDocument/2006/relationships/slide" Target="/ppt/slides/slide5.xml" Id="R4597200f9a354e3e" /><Relationship Type="http://schemas.openxmlformats.org/officeDocument/2006/relationships/slide" Target="/ppt/slides/slide6.xml" Id="Rc623a920612749b0" /><Relationship Type="http://schemas.openxmlformats.org/officeDocument/2006/relationships/slide" Target="/ppt/slides/slide7.xml" Id="R4bbb07e41025481e" /><Relationship Type="http://schemas.openxmlformats.org/officeDocument/2006/relationships/slide" Target="/ppt/slides/slide8.xml" Id="Rca0ea1c188c44bef" /><Relationship Type="http://schemas.openxmlformats.org/officeDocument/2006/relationships/slide" Target="/ppt/slides/slide9.xml" Id="R73dd323747c34317" /><Relationship Type="http://schemas.openxmlformats.org/officeDocument/2006/relationships/slide" Target="/ppt/slides/slide10.xml" Id="R720f5c6488f844b1" /><Relationship Type="http://schemas.openxmlformats.org/officeDocument/2006/relationships/slide" Target="/ppt/slides/slide11.xml" Id="Rcadb03f9bc994afe" /><Relationship Type="http://schemas.openxmlformats.org/officeDocument/2006/relationships/slide" Target="/ppt/slides/slide12.xml" Id="Rf3b2416c9ab44d6f" /><Relationship Type="http://schemas.openxmlformats.org/officeDocument/2006/relationships/slide" Target="/ppt/slides/slide13.xml" Id="R20805fe18bd54922" /><Relationship Type="http://schemas.openxmlformats.org/officeDocument/2006/relationships/slide" Target="/ppt/slides/slide14.xml" Id="R484baff04aaf488d" /><Relationship Type="http://schemas.openxmlformats.org/officeDocument/2006/relationships/slide" Target="/ppt/slides/slide15.xml" Id="Re39b584cf3ee4f7b" /><Relationship Type="http://schemas.openxmlformats.org/officeDocument/2006/relationships/slide" Target="/ppt/slides/slide16.xml" Id="R5a430cc3f3e44ad9" /><Relationship Type="http://schemas.openxmlformats.org/officeDocument/2006/relationships/slide" Target="/ppt/slides/slide17.xml" Id="R4aa6d50aedbb4dbb" /><Relationship Type="http://schemas.openxmlformats.org/officeDocument/2006/relationships/slide" Target="/ppt/slides/slide18.xml" Id="R60043841ef974396" /><Relationship Type="http://schemas.openxmlformats.org/officeDocument/2006/relationships/slide" Target="/ppt/slides/slide19.xml" Id="R9ebcbd19a8b847dd" /><Relationship Type="http://schemas.openxmlformats.org/officeDocument/2006/relationships/slide" Target="/ppt/slides/slide20.xml" Id="R110e18a5e5bf4202" /><Relationship Type="http://schemas.openxmlformats.org/officeDocument/2006/relationships/slide" Target="/ppt/slides/slide21.xml" Id="Re84d7ae5c01e41c2" /><Relationship Type="http://schemas.openxmlformats.org/officeDocument/2006/relationships/slide" Target="/ppt/slides/slide22.xml" Id="R3fedda95dfe14fb5" /><Relationship Type="http://schemas.openxmlformats.org/officeDocument/2006/relationships/slide" Target="/ppt/slides/slide23.xml" Id="R8ee495b18ad9469d" /><Relationship Type="http://schemas.openxmlformats.org/officeDocument/2006/relationships/slide" Target="/ppt/slides/slide24.xml" Id="R11bd499bd0c34158" /><Relationship Type="http://schemas.openxmlformats.org/officeDocument/2006/relationships/slide" Target="/ppt/slides/slide25.xml" Id="R580885d9baa74442" /><Relationship Type="http://schemas.openxmlformats.org/officeDocument/2006/relationships/slide" Target="/ppt/slides/slide26.xml" Id="R805e24cbd8364ff4" /><Relationship Type="http://schemas.openxmlformats.org/officeDocument/2006/relationships/slide" Target="/ppt/slides/slide27.xml" Id="Re11d656c0ad04307" /><Relationship Type="http://schemas.openxmlformats.org/officeDocument/2006/relationships/slide" Target="/ppt/slides/slide28.xml" Id="Rfc26aac0710e467f" /><Relationship Type="http://schemas.openxmlformats.org/officeDocument/2006/relationships/slide" Target="/ppt/slides/slide29.xml" Id="R52959d31b507410d" /><Relationship Type="http://schemas.openxmlformats.org/officeDocument/2006/relationships/slide" Target="/ppt/slides/slide30.xml" Id="R7bf0e03175a542b1" /><Relationship Type="http://schemas.openxmlformats.org/officeDocument/2006/relationships/slide" Target="/ppt/slides/slide31.xml" Id="Rfc92bc0fb07a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5842393f1b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838ea09b441d4" /><Relationship Type="http://schemas.openxmlformats.org/officeDocument/2006/relationships/notesMaster" Target="/ppt/notesMasters/notesMaster1.xml" Id="R1dec2acea2b6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0f75f571b843ec" /><Relationship Type="http://schemas.openxmlformats.org/officeDocument/2006/relationships/notesMaster" Target="/ppt/notesMasters/notesMaster1.xml" Id="R85a3be33a3ba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a468f149f48b5" /><Relationship Type="http://schemas.openxmlformats.org/officeDocument/2006/relationships/notesMaster" Target="/ppt/notesMasters/notesMaster1.xml" Id="R640cfae7aa6f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2184ffb42c4a5b" /><Relationship Type="http://schemas.openxmlformats.org/officeDocument/2006/relationships/notesMaster" Target="/ppt/notesMasters/notesMaster1.xml" Id="Rbab8c8c510d044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6ca701a9b244c6" /><Relationship Type="http://schemas.openxmlformats.org/officeDocument/2006/relationships/notesMaster" Target="/ppt/notesMasters/notesMaster1.xml" Id="Re21b7d17a25043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7358144711499f" /><Relationship Type="http://schemas.openxmlformats.org/officeDocument/2006/relationships/notesMaster" Target="/ppt/notesMasters/notesMaster1.xml" Id="R1f5bc4976b5d4f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376a57a9eb41f8" /><Relationship Type="http://schemas.openxmlformats.org/officeDocument/2006/relationships/notesMaster" Target="/ppt/notesMasters/notesMaster1.xml" Id="Rc1cac2d85f1d43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c6b491072f48d6" /><Relationship Type="http://schemas.openxmlformats.org/officeDocument/2006/relationships/notesMaster" Target="/ppt/notesMasters/notesMaster1.xml" Id="R714bc4a4b27b42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ff8f748754cec" /><Relationship Type="http://schemas.openxmlformats.org/officeDocument/2006/relationships/notesMaster" Target="/ppt/notesMasters/notesMaster1.xml" Id="R6ed1f82f0ef34c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abcec11cda4a46" /><Relationship Type="http://schemas.openxmlformats.org/officeDocument/2006/relationships/notesMaster" Target="/ppt/notesMasters/notesMaster1.xml" Id="Rdecbddb75036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5db15868104ecd" /><Relationship Type="http://schemas.openxmlformats.org/officeDocument/2006/relationships/notesMaster" Target="/ppt/notesMasters/notesMaster1.xml" Id="Raa09c0e51a224b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98f5c231954dd7" /><Relationship Type="http://schemas.openxmlformats.org/officeDocument/2006/relationships/notesMaster" Target="/ppt/notesMasters/notesMaster1.xml" Id="R5cd1deebb5e54e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04c47161aa48ac" /><Relationship Type="http://schemas.openxmlformats.org/officeDocument/2006/relationships/notesMaster" Target="/ppt/notesMasters/notesMaster1.xml" Id="R0defd278e4f849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03aa71194743d0" /><Relationship Type="http://schemas.openxmlformats.org/officeDocument/2006/relationships/notesMaster" Target="/ppt/notesMasters/notesMaster1.xml" Id="R1d510a03699b4a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d3099ac6e14400" /><Relationship Type="http://schemas.openxmlformats.org/officeDocument/2006/relationships/notesMaster" Target="/ppt/notesMasters/notesMaster1.xml" Id="Rcb2ed57ab30a4a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ad6bed8b2e4a59" /><Relationship Type="http://schemas.openxmlformats.org/officeDocument/2006/relationships/notesMaster" Target="/ppt/notesMasters/notesMaster1.xml" Id="R74f41489edfb41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405555a40443b8" /><Relationship Type="http://schemas.openxmlformats.org/officeDocument/2006/relationships/notesMaster" Target="/ppt/notesMasters/notesMaster1.xml" Id="R088740dcb68545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14eb0afdc84a01" /><Relationship Type="http://schemas.openxmlformats.org/officeDocument/2006/relationships/notesMaster" Target="/ppt/notesMasters/notesMaster1.xml" Id="R2f499194ac5c4b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f56a5680ce4681" /><Relationship Type="http://schemas.openxmlformats.org/officeDocument/2006/relationships/notesMaster" Target="/ppt/notesMasters/notesMaster1.xml" Id="R7ee0476f5e624c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c249318ff74142" /><Relationship Type="http://schemas.openxmlformats.org/officeDocument/2006/relationships/notesMaster" Target="/ppt/notesMasters/notesMaster1.xml" Id="Rc1d93ce47ef345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3e966e97674436" /><Relationship Type="http://schemas.openxmlformats.org/officeDocument/2006/relationships/notesMaster" Target="/ppt/notesMasters/notesMaster1.xml" Id="R0fc6c8e71bb14a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dc0fd22d6949e2" /><Relationship Type="http://schemas.openxmlformats.org/officeDocument/2006/relationships/notesMaster" Target="/ppt/notesMasters/notesMaster1.xml" Id="R1e122aac3ee840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d5977364144ca0" /><Relationship Type="http://schemas.openxmlformats.org/officeDocument/2006/relationships/notesMaster" Target="/ppt/notesMasters/notesMaster1.xml" Id="Rd79e3b4117ea48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c7fcf3f6db49dd" /><Relationship Type="http://schemas.openxmlformats.org/officeDocument/2006/relationships/notesMaster" Target="/ppt/notesMasters/notesMaster1.xml" Id="R465420dbfdac4d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6cb52d657e4979" /><Relationship Type="http://schemas.openxmlformats.org/officeDocument/2006/relationships/notesMaster" Target="/ppt/notesMasters/notesMaster1.xml" Id="Rca0989ff39084c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58af87799e147d3" /><Relationship Type="http://schemas.openxmlformats.org/officeDocument/2006/relationships/notesMaster" Target="/ppt/notesMasters/notesMaster1.xml" Id="Rf39f3e5be64d44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6bddf5c95443af" /><Relationship Type="http://schemas.openxmlformats.org/officeDocument/2006/relationships/notesMaster" Target="/ppt/notesMasters/notesMaster1.xml" Id="R4ad01f155e0b44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f959467f614d3c" /><Relationship Type="http://schemas.openxmlformats.org/officeDocument/2006/relationships/notesMaster" Target="/ppt/notesMasters/notesMaster1.xml" Id="R11c31caf931b46b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09d69e03b04561" /><Relationship Type="http://schemas.openxmlformats.org/officeDocument/2006/relationships/notesMaster" Target="/ppt/notesMasters/notesMaster1.xml" Id="Rbf6e5883cc7f43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e02ba7c77364274" /><Relationship Type="http://schemas.openxmlformats.org/officeDocument/2006/relationships/notesMaster" Target="/ppt/notesMasters/notesMaster1.xml" Id="R2ed26bd5ef324f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c0a2e6a3d44a8f" /><Relationship Type="http://schemas.openxmlformats.org/officeDocument/2006/relationships/notesMaster" Target="/ppt/notesMasters/notesMaster1.xml" Id="Rbcd6afdba9a3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Академска 2026/27.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Презентација је организована у четири тематске целине. Опсези слајдова су наведени у садржају.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Политика описује намеру, конфигурација њену примену, контрола механизам заштите, а доказ стварни исход.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Историја политике и јасна безбедносна метрика омогућавају да одлука остане објашњива и после промене система.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Временска линија је наставна допуна достављеног случаја промене правила, без увођења стварних датума.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Слајд проширује четири питања из оригиналног слајда о избору безбедносне метрике.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Контрола пореди референтно и стварно стање. Тест потврђује налаз, а запис омогућава његово објашњење.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Код је распоређен на два слајда, без промене семантике. Нумерација је узастопна.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Бројеви 14 и 10 су вредности наставног теста. Не представљају општу препоруку политике лозинки.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Критеријуми потпуности, честе грешке и примена на један стварни пројектни сценарио.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Резиме повезује одлуку, имплементацију и доказ. Сви примери су наставни, додати примери не уводе нова правила предмета.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6af797132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676fdece9e4cbc" /><Relationship Type="http://schemas.openxmlformats.org/officeDocument/2006/relationships/slideLayout" Target="/ppt/slideLayouts/slideLayout1.xml" Id="R2f04cf4ea7ca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4cf4ea7ca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2379e63b24583" /><Relationship Type="http://schemas.openxmlformats.org/officeDocument/2006/relationships/image" Target="/ppt/media/image.png" Id="Ra237ccde1fe64677" /><Relationship Type="http://schemas.openxmlformats.org/officeDocument/2006/relationships/notesSlide" Target="/ppt/notesSlides/notesSlide1.xml" Id="R1aeb7770727d4f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c5d8ce7242fb" /><Relationship Type="http://schemas.openxmlformats.org/officeDocument/2006/relationships/notesSlide" Target="/ppt/notesSlides/notesSlide2.xml" Id="R3bf052bc30ec42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73b7733804f82" /><Relationship Type="http://schemas.openxmlformats.org/officeDocument/2006/relationships/notesSlide" Target="/ppt/notesSlides/notesSlide3.xml" Id="Rc1662d970fc340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5f937a8dd422d" /><Relationship Type="http://schemas.openxmlformats.org/officeDocument/2006/relationships/image" Target="/ppt/media/image2.png" Id="R3a14863cff5a42da" /><Relationship Type="http://schemas.openxmlformats.org/officeDocument/2006/relationships/image" Target="/ppt/media/image3.png" Id="R48bad075b8b6446e" /><Relationship Type="http://schemas.openxmlformats.org/officeDocument/2006/relationships/image" Target="/ppt/media/image4.png" Id="R08b106157bb74b1b" /><Relationship Type="http://schemas.openxmlformats.org/officeDocument/2006/relationships/notesSlide" Target="/ppt/notesSlides/notesSlide4.xml" Id="Rb99188050d1743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52302eaca415d" /><Relationship Type="http://schemas.openxmlformats.org/officeDocument/2006/relationships/notesSlide" Target="/ppt/notesSlides/notesSlide5.xml" Id="Rbf4a526b365644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d49e3a1d64e9c" /><Relationship Type="http://schemas.openxmlformats.org/officeDocument/2006/relationships/notesSlide" Target="/ppt/notesSlides/notesSlide6.xml" Id="R052ad27db8434b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b9f03160c44b8" /><Relationship Type="http://schemas.openxmlformats.org/officeDocument/2006/relationships/notesSlide" Target="/ppt/notesSlides/notesSlide7.xml" Id="Ref63d7f7624f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5d84816b84eab" /><Relationship Type="http://schemas.openxmlformats.org/officeDocument/2006/relationships/notesSlide" Target="/ppt/notesSlides/notesSlide8.xml" Id="Reae5996ee69049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eecb3c7834172" /><Relationship Type="http://schemas.openxmlformats.org/officeDocument/2006/relationships/notesSlide" Target="/ppt/notesSlides/notesSlide9.xml" Id="R4c7ee47df37c43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8d5e74a074618" /><Relationship Type="http://schemas.openxmlformats.org/officeDocument/2006/relationships/notesSlide" Target="/ppt/notesSlides/notesSlide10.xml" Id="Ra537f8be5c5d46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b16d17d154111" /><Relationship Type="http://schemas.openxmlformats.org/officeDocument/2006/relationships/notesSlide" Target="/ppt/notesSlides/notesSlide11.xml" Id="R14340f9c514a4d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7146ad94a4272" /><Relationship Type="http://schemas.openxmlformats.org/officeDocument/2006/relationships/image" Target="/ppt/media/image5.png" Id="R17b7bbd7f06a4bc1" /><Relationship Type="http://schemas.openxmlformats.org/officeDocument/2006/relationships/notesSlide" Target="/ppt/notesSlides/notesSlide12.xml" Id="R2e2583effd4d43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5278f32d94260" /><Relationship Type="http://schemas.openxmlformats.org/officeDocument/2006/relationships/notesSlide" Target="/ppt/notesSlides/notesSlide13.xml" Id="Rb494dabf84954d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0d9a5877a49ab" /><Relationship Type="http://schemas.openxmlformats.org/officeDocument/2006/relationships/notesSlide" Target="/ppt/notesSlides/notesSlide14.xml" Id="R08e1f1f082a042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6bfc241c648d8" /><Relationship Type="http://schemas.openxmlformats.org/officeDocument/2006/relationships/image" Target="/ppt/media/image6.png" Id="Rffada3e39dbe4ef3" /><Relationship Type="http://schemas.openxmlformats.org/officeDocument/2006/relationships/notesSlide" Target="/ppt/notesSlides/notesSlide15.xml" Id="R083fc794033a49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95c4139c24f25" /><Relationship Type="http://schemas.openxmlformats.org/officeDocument/2006/relationships/notesSlide" Target="/ppt/notesSlides/notesSlide16.xml" Id="Rc1cde3fd8a9f45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ac1377abd4b91" /><Relationship Type="http://schemas.openxmlformats.org/officeDocument/2006/relationships/image" Target="/ppt/media/image7.png" Id="R984bb0e832dd4da4" /><Relationship Type="http://schemas.openxmlformats.org/officeDocument/2006/relationships/notesSlide" Target="/ppt/notesSlides/notesSlide17.xml" Id="R1368ac0ce66d4a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7678c5c2d440a" /><Relationship Type="http://schemas.openxmlformats.org/officeDocument/2006/relationships/notesSlide" Target="/ppt/notesSlides/notesSlide18.xml" Id="R618a43c3bcec4a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4907f05d4cb1" /><Relationship Type="http://schemas.openxmlformats.org/officeDocument/2006/relationships/notesSlide" Target="/ppt/notesSlides/notesSlide19.xml" Id="R9529aa8f52b14f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42ba1bcf4a3a" /><Relationship Type="http://schemas.openxmlformats.org/officeDocument/2006/relationships/notesSlide" Target="/ppt/notesSlides/notesSlide20.xml" Id="R89c09f176a1d4b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5996373f406a" /><Relationship Type="http://schemas.openxmlformats.org/officeDocument/2006/relationships/notesSlide" Target="/ppt/notesSlides/notesSlide21.xml" Id="R030e561be02c45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69bf16f53443b" /><Relationship Type="http://schemas.openxmlformats.org/officeDocument/2006/relationships/notesSlide" Target="/ppt/notesSlides/notesSlide22.xml" Id="R897bd69b345646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b504bd08342cb" /><Relationship Type="http://schemas.openxmlformats.org/officeDocument/2006/relationships/notesSlide" Target="/ppt/notesSlides/notesSlide23.xml" Id="R6e801def7cfc41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ee4b372184ebe" /><Relationship Type="http://schemas.openxmlformats.org/officeDocument/2006/relationships/notesSlide" Target="/ppt/notesSlides/notesSlide24.xml" Id="Rfdbcc926e26f4a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2007fc9d44a3" /><Relationship Type="http://schemas.openxmlformats.org/officeDocument/2006/relationships/image" Target="/ppt/media/image8.png" Id="R25be1e274c0e45c1" /><Relationship Type="http://schemas.openxmlformats.org/officeDocument/2006/relationships/notesSlide" Target="/ppt/notesSlides/notesSlide25.xml" Id="Rfde425c3886a41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26a35c094743" /><Relationship Type="http://schemas.openxmlformats.org/officeDocument/2006/relationships/notesSlide" Target="/ppt/notesSlides/notesSlide26.xml" Id="R7cedbdf9f45c49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fa0e87a904083" /><Relationship Type="http://schemas.openxmlformats.org/officeDocument/2006/relationships/notesSlide" Target="/ppt/notesSlides/notesSlide27.xml" Id="R1e6749a310ee4f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187b739045fb" /><Relationship Type="http://schemas.openxmlformats.org/officeDocument/2006/relationships/notesSlide" Target="/ppt/notesSlides/notesSlide28.xml" Id="Rafeac72d05484cf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884199de4f6b" /><Relationship Type="http://schemas.openxmlformats.org/officeDocument/2006/relationships/image" Target="/ppt/media/image9.png" Id="R45b0bdfc49b445a8" /><Relationship Type="http://schemas.openxmlformats.org/officeDocument/2006/relationships/image" Target="/ppt/media/image10.png" Id="R8540b8cdd1e54765" /><Relationship Type="http://schemas.openxmlformats.org/officeDocument/2006/relationships/image" Target="/ppt/media/image11.png" Id="R4f349e3b4f1c495d" /><Relationship Type="http://schemas.openxmlformats.org/officeDocument/2006/relationships/notesSlide" Target="/ppt/notesSlides/notesSlide29.xml" Id="Ra5e67ab5fc224f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e6e9f2a7e4974" /><Relationship Type="http://schemas.openxmlformats.org/officeDocument/2006/relationships/notesSlide" Target="/ppt/notesSlides/notesSlide30.xml" Id="R3e78c3b2e78f4f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597fe7c74b6b" /><Relationship Type="http://schemas.openxmlformats.org/officeDocument/2006/relationships/notesSlide" Target="/ppt/notesSlides/notesSlide31.xml" Id="R4290d903e05f44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C895D-480F-40EB-AB2B-A8058FA7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060234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7ccde1fe64677"/>
          <a:stretch xmlns:a="http://schemas.openxmlformats.org/drawingml/2006/main"/>
        </p:blipFill>
        <p:spPr>
          <a:xfrm xmlns:a="http://schemas.openxmlformats.org/drawingml/2006/main">
            <a:off x="11353800" y="1809750"/>
            <a:ext cx="5715000" cy="5715000"/>
          </a:xfrm>
          <a:prstGeom xmlns:a="http://schemas.openxmlformats.org/drawingml/2006/main" prst="rect">
            <a:avLst/>
          </a:prstGeom>
        </p:spPr>
      </p:pic>
      <p:sp>
        <p:nvSpPr>
          <p:cNvPr id="3" name="text-cover">
            <a:extLst xmlns:a="http://schemas.openxmlformats.org/drawingml/2006/main">
              <a:ext uri="{FF2B5EF4-FFF2-40B4-BE49-F238E27FC236}">
                <a16:creationId xmlns:a16="http://schemas.microsoft.com/office/drawing/2014/main" id="{56D9CF0C-560E-4E68-85BC-AA3943DD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19200"/>
            <a:ext cx="5341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ПРИМЕЊЕНО СОФТВЕРСКО ИНЖЕЊЕРСТВО</a:t>
            </a:r>
          </a:p>
        </p:txBody>
      </p:sp>
      <p:sp>
        <p:nvSpPr>
          <p:cNvPr id="4" name="text-cover">
            <a:extLst xmlns:a="http://schemas.openxmlformats.org/drawingml/2006/main">
              <a:ext uri="{FF2B5EF4-FFF2-40B4-BE49-F238E27FC236}">
                <a16:creationId xmlns:a16="http://schemas.microsoft.com/office/drawing/2014/main" id="{D534F3F4-69FC-4588-BDCC-1AA155F5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39180"/>
            <a:ext cx="51854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ОСНОВЕ ИНФОРМАЦИОНЕ БЕЗБЕДНОСТИ</a:t>
            </a:r>
          </a:p>
        </p:txBody>
      </p:sp>
      <p:sp>
        <p:nvSpPr>
          <p:cNvPr id="5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26257D60-631E-4E8B-982A-CC24771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1561"/>
            <a:ext cx="453196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Политике, </a:t>
            </a:r>
          </a:p>
        </p:txBody>
      </p:sp>
      <p:sp>
        <p:nvSpPr>
          <p:cNvPr id="6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4246552F-4F0F-4E05-BA8C-8A49197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31616"/>
            <a:ext cx="7215783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08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 и </a:t>
            </a:r>
          </a:p>
        </p:txBody>
      </p:sp>
      <p:sp>
        <p:nvSpPr>
          <p:cNvPr id="7" name="heading-cover">
            <a:extLst xmlns:a="http://schemas.openxmlformats.org/drawingml/2006/main">
              <a:ext uri="{FF2B5EF4-FFF2-40B4-BE49-F238E27FC236}">
                <a16:creationId xmlns:a16="http://schemas.microsoft.com/office/drawing/2014/main" id="{3ED9866E-256E-40DF-935A-0792E39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1672"/>
            <a:ext cx="10377934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289"/>
          </a:bodyPr>
          <a:lstStyle xmlns:a="http://schemas.openxmlformats.org/drawingml/2006/main"/>
          <a:p xmlns:a="http://schemas.openxmlformats.org/drawingml/2006/main">
            <a:pPr algn="l">
              <a:defRPr sz="6900">
                <a:latin typeface="IBM Plex Sans"/>
                <a:ea typeface="IBM Plex Sans"/>
                <a:cs typeface="IBM Plex Sans"/>
              </a:defRPr>
            </a:pPr>
            <a:r>
              <a:rPr sz="69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безбедносна видљивост</a:t>
            </a:r>
          </a:p>
        </p:txBody>
      </p:sp>
      <p:sp>
        <p:nvSpPr>
          <p:cNvPr id="8" name="text-cover">
            <a:extLst xmlns:a="http://schemas.openxmlformats.org/drawingml/2006/main">
              <a:ext uri="{FF2B5EF4-FFF2-40B4-BE49-F238E27FC236}">
                <a16:creationId xmlns:a16="http://schemas.microsoft.com/office/drawing/2014/main" id="{2FDF9BFF-3EEE-4E21-BA64-5D94B81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252"/>
            <a:ext cx="862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Управљање правилима, конфигурацијом и безбедносним </a:t>
            </a:r>
          </a:p>
        </p:txBody>
      </p:sp>
      <p:sp>
        <p:nvSpPr>
          <p:cNvPr id="9" name="text-cover">
            <a:extLst xmlns:a="http://schemas.openxmlformats.org/drawingml/2006/main">
              <a:ext uri="{FF2B5EF4-FFF2-40B4-BE49-F238E27FC236}">
                <a16:creationId xmlns:a16="http://schemas.microsoft.com/office/drawing/2014/main" id="{582D6A8C-62AE-4EF1-99FA-D0BC009A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8943"/>
            <a:ext cx="17182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записима</a:t>
            </a:r>
          </a:p>
        </p:txBody>
      </p:sp>
      <p:sp>
        <p:nvSpPr>
          <p:cNvPr id="10" name="text-cover">
            <a:extLst xmlns:a="http://schemas.openxmlformats.org/drawingml/2006/main">
              <a:ext uri="{FF2B5EF4-FFF2-40B4-BE49-F238E27FC236}">
                <a16:creationId xmlns:a16="http://schemas.microsoft.com/office/drawing/2014/main" id="{89D96805-A00D-47A6-B9D4-6A99A892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307884"/>
            <a:ext cx="74617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Факултет техничких наука · Универзитет у Новом Саду</a:t>
            </a:r>
          </a:p>
        </p:txBody>
      </p:sp>
      <p:sp>
        <p:nvSpPr>
          <p:cNvPr id="11" name="text-cover">
            <a:extLst xmlns:a="http://schemas.openxmlformats.org/drawingml/2006/main">
              <a:ext uri="{FF2B5EF4-FFF2-40B4-BE49-F238E27FC236}">
                <a16:creationId xmlns:a16="http://schemas.microsoft.com/office/drawing/2014/main" id="{232BAE8A-2F82-4C8C-B3B6-01A4B938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47820"/>
            <a:ext cx="13543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Нови Сад</a:t>
            </a:r>
          </a:p>
        </p:txBody>
      </p:sp>
    </p:spTree>
    <p:extLst>
      <p:ext uri="{BB962C8B-B14F-4D97-AF65-F5344CB8AC3E}">
        <p14:creationId xmlns:p14="http://schemas.microsoft.com/office/powerpoint/2010/main" val="1067472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CD477-10FC-452D-8E41-9B9361EF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98D14-7320-456B-877D-39D14817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3A17-AD9C-4AA4-B31C-79FF3554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434530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75F99-8671-45D9-9010-8311B48F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4530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162A8-B6DF-451C-8EC5-28302D9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434530"/>
            <a:ext cx="38195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BAC85-DD58-4D3C-AE14-459485D0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202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D6606F9D-5214-4FD5-8FED-54B9BDC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202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5D07-3FAC-4941-AB6B-3F3478F1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490A39CA-353A-419C-8CBF-0E861A83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4364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ПРЕГЛЕД</a:t>
            </a:r>
          </a:p>
        </p:txBody>
      </p:sp>
      <p:sp>
        <p:nvSpPr>
          <p:cNvPr id="10" name="heading-sadrzaj">
            <a:extLst xmlns:a="http://schemas.openxmlformats.org/drawingml/2006/main">
              <a:ext uri="{FF2B5EF4-FFF2-40B4-BE49-F238E27FC236}">
                <a16:creationId xmlns:a16="http://schemas.microsoft.com/office/drawing/2014/main" id="{A79908E8-CF02-4A34-9244-2623C04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36463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презентације</a:t>
            </a:r>
          </a:p>
        </p:txBody>
      </p:sp>
      <p:sp>
        <p:nvSpPr>
          <p:cNvPr id="1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4912ED1-107A-4C8F-B4D3-83324CAA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FF59EFE-E7AE-48A0-900B-014000D5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30786"/>
            <a:ext cx="29587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и контрола</a:t>
            </a:r>
          </a:p>
        </p:txBody>
      </p:sp>
      <p:sp>
        <p:nvSpPr>
          <p:cNvPr id="1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B479AE5-AC5D-4AE8-9C2C-396AF0AA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22216"/>
            <a:ext cx="316959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Политика, конфигурација, </a:t>
            </a:r>
          </a:p>
        </p:txBody>
      </p:sp>
      <p:sp>
        <p:nvSpPr>
          <p:cNvPr id="1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2E14787-07CB-45B5-834E-66770333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42197"/>
            <a:ext cx="30786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и доказ · 05–10</a:t>
            </a:r>
          </a:p>
        </p:txBody>
      </p:sp>
      <p:sp>
        <p:nvSpPr>
          <p:cNvPr id="1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4DD040F-DAAF-4DEA-B3C2-1D9E0C16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D4385BB-A07B-4A60-84D8-E400AC8B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30786"/>
            <a:ext cx="27292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Важење и мерење</a:t>
            </a:r>
          </a:p>
        </p:txBody>
      </p:sp>
      <p:sp>
        <p:nvSpPr>
          <p:cNvPr id="1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FF17BB5-A7F3-425D-B335-B99719F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2216"/>
            <a:ext cx="295170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Ток до доказа, верзије и </a:t>
            </a:r>
          </a:p>
        </p:txBody>
      </p:sp>
      <p:sp>
        <p:nvSpPr>
          <p:cNvPr id="1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6A148584-EEE4-4DA8-AAA9-0B910050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2197"/>
            <a:ext cx="35636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безбедносне метрике · 11–18</a:t>
            </a:r>
          </a:p>
        </p:txBody>
      </p:sp>
      <p:sp>
        <p:nvSpPr>
          <p:cNvPr id="1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FE9384E-3FF5-42C5-B6DC-9250CD6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0A15D48C-ED35-48EF-B396-65E9E281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30786"/>
            <a:ext cx="25195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Имплементација</a:t>
            </a:r>
          </a:p>
        </p:txBody>
      </p:sp>
      <p:sp>
        <p:nvSpPr>
          <p:cNvPr id="21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DC4D599-0F23-4B87-9E67-31793830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22216"/>
            <a:ext cx="3018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Откривање drift-а, тест и </a:t>
            </a:r>
          </a:p>
        </p:txBody>
      </p:sp>
      <p:sp>
        <p:nvSpPr>
          <p:cNvPr id="22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3302B270-236F-4D4C-9DC7-8235BB3B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2197"/>
            <a:ext cx="3284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безбедносни запис · 19–25</a:t>
            </a:r>
          </a:p>
        </p:txBody>
      </p:sp>
      <p:sp>
        <p:nvSpPr>
          <p:cNvPr id="23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DC884646-44DF-4847-BA43-32C1632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29805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4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262651A9-D04B-4080-8249-A4846878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30786"/>
            <a:ext cx="28676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и примена</a:t>
            </a:r>
          </a:p>
        </p:txBody>
      </p:sp>
      <p:sp>
        <p:nvSpPr>
          <p:cNvPr id="25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709E02C8-B726-48C2-908C-753E6473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22216"/>
            <a:ext cx="26335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Грешке, видљивост и </a:t>
            </a:r>
          </a:p>
        </p:txBody>
      </p:sp>
      <p:sp>
        <p:nvSpPr>
          <p:cNvPr id="26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C77B1D26-64AB-48E5-83A6-3941C9F2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42197"/>
            <a:ext cx="21318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пројекат · 26–31</a:t>
            </a:r>
          </a:p>
        </p:txBody>
      </p:sp>
      <p:sp>
        <p:nvSpPr>
          <p:cNvPr id="27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8F6C306-753D-4BC2-82BE-40D51EEA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33702"/>
            <a:ext cx="891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28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EF2A2235-A6B2-4D21-A255-73C2F549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9408"/>
            <a:ext cx="84242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Разлика између очекиваног правила и стварног исхода (03–04).</a:t>
            </a:r>
          </a:p>
        </p:txBody>
      </p:sp>
      <p:sp>
        <p:nvSpPr>
          <p:cNvPr id="29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FA7AE136-FDBF-45C6-86BF-02AAD4E8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0" name="text-sadrzaj">
            <a:extLst xmlns:a="http://schemas.openxmlformats.org/drawingml/2006/main">
              <a:ext uri="{FF2B5EF4-FFF2-40B4-BE49-F238E27FC236}">
                <a16:creationId xmlns:a16="http://schemas.microsoft.com/office/drawing/2014/main" id="{177B8FA4-E595-4474-891F-83FD610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2733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03515-FF68-48B1-B172-367BE1E6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49113-3650-4588-8226-3D83C325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772400" cy="3424684"/>
          </a:xfrm>
          <a:prstGeom xmlns:a="http://schemas.openxmlformats.org/drawingml/2006/main" prst="roundRect">
            <a:avLst>
              <a:gd name="adj" fmla="val 445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3AFB-3EF8-4657-9F93-D0BC444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12591"/>
            <a:ext cx="7772400" cy="2464743"/>
          </a:xfrm>
          <a:prstGeom xmlns:a="http://schemas.openxmlformats.org/drawingml/2006/main" prst="roundRect">
            <a:avLst>
              <a:gd name="adj" fmla="val 618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C5D74-393E-4ECC-8723-8033412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42075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5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9487C95B-AFF4-45FF-928A-0E18425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42075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689B1-214D-4761-91A2-73D708D1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1962FAC-10D4-41E5-872D-70CCFD0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8" name="heading-source-02">
            <a:extLst xmlns:a="http://schemas.openxmlformats.org/drawingml/2006/main">
              <a:ext uri="{FF2B5EF4-FFF2-40B4-BE49-F238E27FC236}">
                <a16:creationId xmlns:a16="http://schemas.microsoft.com/office/drawing/2014/main" id="{C988C05C-DD3A-4ACD-A7A2-F29C402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46026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7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Политика, конфигурација и доказ</a:t>
            </a:r>
          </a:p>
        </p:txBody>
      </p:sp>
      <p:sp>
        <p:nvSpPr>
          <p:cNvPr id="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24107EA9-DBC0-434A-8A1C-009B1455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61615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 дефинише очекивано понашање, конфигурација одређује вредности у окружењу, а доказ потврђује стварни исход.</a:t>
            </a:r>
          </a:p>
        </p:txBody>
      </p:sp>
      <p:sp>
        <p:nvSpPr>
          <p:cNvPr id="1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8001E0CB-6F92-4459-97D1-CB6D6BF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ПРЕДМЕТ АНАЛИЗЕ</a:t>
            </a:r>
          </a:p>
        </p:txBody>
      </p:sp>
      <p:sp>
        <p:nvSpPr>
          <p:cNvPr id="1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F8AF0E0D-6863-47EF-A427-2102C92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3097"/>
            <a:ext cx="398502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Ризик који се анализира</a:t>
            </a:r>
          </a:p>
        </p:txBody>
      </p:sp>
      <p:sp>
        <p:nvSpPr>
          <p:cNvPr id="1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44F7160-0458-467F-9765-5E86936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1168"/>
            <a:ext cx="69270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Безбедносна правила постају поуздана тек када су видљива, </a:t>
            </a:r>
          </a:p>
        </p:txBody>
      </p:sp>
      <p:sp>
        <p:nvSpPr>
          <p:cNvPr id="1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51884940-A94A-4E13-B422-765A5D07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1148"/>
            <a:ext cx="690339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верзионисана и проверљива. Правило расуто кроз неколико </a:t>
            </a:r>
          </a:p>
        </p:txBody>
      </p:sp>
      <p:sp>
        <p:nvSpPr>
          <p:cNvPr id="1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3D9715D5-6D8F-42DA-825D-CF38ED2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1129"/>
            <a:ext cx="687199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метода није лако објаснити, прегледати нити променити без </a:t>
            </a:r>
          </a:p>
        </p:txBody>
      </p:sp>
      <p:sp>
        <p:nvSpPr>
          <p:cNvPr id="1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CB67257B-B062-48F2-8946-3ACA8AB2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1109"/>
            <a:ext cx="71479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нежељених последица. Политика зато представља договорено </a:t>
            </a:r>
          </a:p>
        </p:txBody>
      </p:sp>
      <p:sp>
        <p:nvSpPr>
          <p:cNvPr id="1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070477CA-371B-4753-A5D3-8A1D988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1089"/>
            <a:ext cx="6485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правило, а конфигурација његову примену у конкретном </a:t>
            </a:r>
          </a:p>
        </p:txBody>
      </p:sp>
      <p:sp>
        <p:nvSpPr>
          <p:cNvPr id="17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E6ACA6E6-305E-44CF-A416-E47B4AFA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1070"/>
            <a:ext cx="1501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окружењу.</a:t>
            </a:r>
          </a:p>
        </p:txBody>
      </p:sp>
      <p:sp>
        <p:nvSpPr>
          <p:cNvPr id="18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ED42288-E808-4889-B02E-E047585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88816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ЗНАЧАЈ</a:t>
            </a:r>
          </a:p>
        </p:txBody>
      </p:sp>
      <p:sp>
        <p:nvSpPr>
          <p:cNvPr id="19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7B51A21A-A2A6-4ED4-9BAF-C68581F1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23097"/>
            <a:ext cx="475491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Значај за безбедност система</a:t>
            </a:r>
          </a:p>
        </p:txBody>
      </p:sp>
      <p:sp>
        <p:nvSpPr>
          <p:cNvPr id="20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687DC218-978E-4764-B685-72EB188B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41168"/>
            <a:ext cx="75103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Видљивост не служи само реаговању на инцидент. Она омогућава </a:t>
            </a:r>
          </a:p>
        </p:txBody>
      </p:sp>
      <p:sp>
        <p:nvSpPr>
          <p:cNvPr id="21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155EDD04-1066-4F2D-9BC5-1123261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61148"/>
            <a:ext cx="730954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тиму да разуме одлуку система, прати одступање од очекиваног </a:t>
            </a:r>
          </a:p>
        </p:txBody>
      </p:sp>
      <p:sp>
        <p:nvSpPr>
          <p:cNvPr id="22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45BBF816-F3FC-4AE9-9537-3D3DDAC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81129"/>
            <a:ext cx="69389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стања и повеже догађаје кроз различите слојеве апликације.</a:t>
            </a:r>
          </a:p>
        </p:txBody>
      </p:sp>
      <p:sp>
        <p:nvSpPr>
          <p:cNvPr id="23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30D1014F-8C75-482E-B521-9A9FA96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032575"/>
            <a:ext cx="56922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КРИТЕРИЈУМ ПРОВЕРЕ · Проверљив резултат</a:t>
            </a:r>
          </a:p>
        </p:txBody>
      </p:sp>
      <p:sp>
        <p:nvSpPr>
          <p:cNvPr id="24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A00D407B-7C5B-4D77-B3C1-3B840EB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438281"/>
            <a:ext cx="127850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  <p:sp>
        <p:nvSpPr>
          <p:cNvPr id="25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7657F34B-9775-407B-845D-E7D5733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source-02">
            <a:extLst xmlns:a="http://schemas.openxmlformats.org/drawingml/2006/main">
              <a:ext uri="{FF2B5EF4-FFF2-40B4-BE49-F238E27FC236}">
                <a16:creationId xmlns:a16="http://schemas.microsoft.com/office/drawing/2014/main" id="{73E48BCB-3458-4069-BC64-0A05B0CA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8379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7A90DC-BC29-4DAF-9C2C-C5DA8DA3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96041-F746-4D6F-8AD5-DF66591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7850-343A-45B6-82EC-E952BAA1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AF117-E91B-4A8B-BF83-6904CDDE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1FDF8-8336-488A-A5A9-2D3716C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403872"/>
          </a:xfrm>
          <a:prstGeom xmlns:a="http://schemas.openxmlformats.org/drawingml/2006/main" prst="roundRect">
            <a:avLst>
              <a:gd name="adj" fmla="val 634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55581-950A-46B2-ABD6-D14E714D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061299C2-C9CD-4B0A-9CD8-E7E8510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1263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A823-5D4A-4045-ABC8-23A1C9FA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4863cff5a42da"/>
          <a:stretch xmlns:a="http://schemas.openxmlformats.org/drawingml/2006/main"/>
        </p:blipFill>
        <p:spPr>
          <a:xfrm xmlns:a="http://schemas.openxmlformats.org/drawingml/2006/main">
            <a:off x="4886325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ad075b8b6446e"/>
          <a:stretch xmlns:a="http://schemas.openxmlformats.org/drawingml/2006/main"/>
        </p:blipFill>
        <p:spPr>
          <a:xfrm xmlns:a="http://schemas.openxmlformats.org/drawingml/2006/main">
            <a:off x="9010650" y="421927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106157bb74b1b"/>
          <a:stretch xmlns:a="http://schemas.openxmlformats.org/drawingml/2006/main"/>
        </p:blipFill>
        <p:spPr>
          <a:xfrm xmlns:a="http://schemas.openxmlformats.org/drawingml/2006/main">
            <a:off x="13134975" y="421927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B0626774-AE46-4908-B4AC-63F4612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67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УВОД</a:t>
            </a:r>
          </a:p>
        </p:txBody>
      </p:sp>
      <p:sp>
        <p:nvSpPr>
          <p:cNvPr id="13" name="heading-source-03">
            <a:extLst xmlns:a="http://schemas.openxmlformats.org/drawingml/2006/main">
              <a:ext uri="{FF2B5EF4-FFF2-40B4-BE49-F238E27FC236}">
                <a16:creationId xmlns:a16="http://schemas.microsoft.com/office/drawing/2014/main" id="{1FB073FB-5A83-45A2-9BD8-2A7379C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9400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Основни појмови</a:t>
            </a:r>
          </a:p>
        </p:txBody>
      </p:sp>
      <p:sp>
        <p:nvSpPr>
          <p:cNvPr id="1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E2F372F3-5137-4E81-8A05-2A33034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7124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Политика, конфигурација, контрола и доказ имају различите улоге у управљању безбедносним правилом.</a:t>
            </a:r>
          </a:p>
        </p:txBody>
      </p:sp>
      <p:sp>
        <p:nvSpPr>
          <p:cNvPr id="1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1FD26251-D678-4FE8-9B91-C401090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8273B47E-F512-4EED-BBB9-EE928B0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914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DF16E3E5-3F14-4951-BCE0-D88E1C9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30930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организација очекује</a:t>
            </a:r>
          </a:p>
        </p:txBody>
      </p:sp>
      <p:sp>
        <p:nvSpPr>
          <p:cNvPr id="1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02D5C87-492D-4D5D-853C-8620142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A34F829-4477-48A6-AE7D-F318CE5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23215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2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6E763999-EF95-4D29-92C9-8A0FD222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09044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се правило </a:t>
            </a:r>
          </a:p>
        </p:txBody>
      </p:sp>
      <p:sp>
        <p:nvSpPr>
          <p:cNvPr id="2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2EA799C-103C-427F-AFF7-A01DA946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20258"/>
            <a:ext cx="150718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примењује</a:t>
            </a:r>
          </a:p>
        </p:txBody>
      </p:sp>
      <p:sp>
        <p:nvSpPr>
          <p:cNvPr id="22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0B0BB07-D81D-49BB-8F36-1325476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3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7F5F52B0-86B7-4B5D-BE5F-2D226510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24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622D7BB-78BE-4728-8E3C-1DCBA1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247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механизам заштите</a:t>
            </a:r>
          </a:p>
        </p:txBody>
      </p:sp>
      <p:sp>
        <p:nvSpPr>
          <p:cNvPr id="25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68A41988-2AF8-40FA-922D-75EF5DD5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6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20BD4748-39E0-4AC1-9241-C48B12CD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114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27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C549E5CB-38C6-4D98-A45B-CA0A7A85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26778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лог, метрика или тест</a:t>
            </a:r>
          </a:p>
        </p:txBody>
      </p:sp>
      <p:sp>
        <p:nvSpPr>
          <p:cNvPr id="28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3193BC31-6DC2-46B6-BC47-F2C6BC88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11763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ЗАКЉУЧАК</a:t>
            </a:r>
          </a:p>
        </p:txBody>
      </p:sp>
      <p:sp>
        <p:nvSpPr>
          <p:cNvPr id="29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49918C6C-5EEB-424E-BA29-85841AD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17469"/>
            <a:ext cx="154602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може бити добро написано, а контрола ипак неефективна. Доказ повезује очекивање са реалним понашањем.</a:t>
            </a:r>
          </a:p>
        </p:txBody>
      </p:sp>
      <p:sp>
        <p:nvSpPr>
          <p:cNvPr id="30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02F6FB3-558D-40C7-A729-EB16AF22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03">
            <a:extLst xmlns:a="http://schemas.openxmlformats.org/drawingml/2006/main">
              <a:ext uri="{FF2B5EF4-FFF2-40B4-BE49-F238E27FC236}">
                <a16:creationId xmlns:a16="http://schemas.microsoft.com/office/drawing/2014/main" id="{F4A14E0A-5CC6-4726-8AF8-2F93C63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4193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FE56F-A9B0-4893-BF58-104E4E2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43708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38C5-DD7A-4124-84F1-F17DB5E6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184" y="6158657"/>
            <a:ext cx="203507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12B6E-4BAB-4F22-A3B6-70B7134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560" y="6158657"/>
            <a:ext cx="142696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EB3F-699B-4C35-B2A4-D63E130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824" y="6158657"/>
            <a:ext cx="1052959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3C2A4-2385-4AAD-9F8E-DB910B2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CF"/>
          </a:solidFill>
          <a:ln xmlns:a="http://schemas.openxmlformats.org/drawingml/2006/main" w="0">
            <a:noFill/>
          </a:ln>
        </p:spPr>
      </p:sp>
      <p:sp>
        <p:nvSpPr>
          <p:cNvPr id="6" name="text-deo1">
            <a:extLst xmlns:a="http://schemas.openxmlformats.org/drawingml/2006/main">
              <a:ext uri="{FF2B5EF4-FFF2-40B4-BE49-F238E27FC236}">
                <a16:creationId xmlns:a16="http://schemas.microsoft.com/office/drawing/2014/main" id="{8F6D4589-056B-4C68-81F3-6B759039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7" name="text-deo1">
            <a:extLst xmlns:a="http://schemas.openxmlformats.org/drawingml/2006/main">
              <a:ext uri="{FF2B5EF4-FFF2-40B4-BE49-F238E27FC236}">
                <a16:creationId xmlns:a16="http://schemas.microsoft.com/office/drawing/2014/main" id="{B26E953F-809A-4D8B-B19F-B48A155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5926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ПРВИ ДЕО</a:t>
            </a:r>
          </a:p>
        </p:txBody>
      </p:sp>
      <p:sp>
        <p:nvSpPr>
          <p:cNvPr id="8" name="heading-deo1">
            <a:extLst xmlns:a="http://schemas.openxmlformats.org/drawingml/2006/main">
              <a:ext uri="{FF2B5EF4-FFF2-40B4-BE49-F238E27FC236}">
                <a16:creationId xmlns:a16="http://schemas.microsoft.com/office/drawing/2014/main" id="{33113C5B-54A7-4779-B182-74EDF09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968532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865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и контрола</a:t>
            </a:r>
          </a:p>
        </p:txBody>
      </p:sp>
      <p:sp>
        <p:nvSpPr>
          <p:cNvPr id="9" name="text-deo1">
            <a:extLst xmlns:a="http://schemas.openxmlformats.org/drawingml/2006/main">
              <a:ext uri="{FF2B5EF4-FFF2-40B4-BE49-F238E27FC236}">
                <a16:creationId xmlns:a16="http://schemas.microsoft.com/office/drawing/2014/main" id="{1FA41182-9060-43B8-B4CA-6897A7C5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7266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 описује намеру, конфигурација њену примену, контрола </a:t>
            </a:r>
          </a:p>
        </p:txBody>
      </p:sp>
      <p:sp>
        <p:nvSpPr>
          <p:cNvPr id="10" name="text-deo1">
            <a:extLst xmlns:a="http://schemas.openxmlformats.org/drawingml/2006/main">
              <a:ext uri="{FF2B5EF4-FFF2-40B4-BE49-F238E27FC236}">
                <a16:creationId xmlns:a16="http://schemas.microsoft.com/office/drawing/2014/main" id="{FC34624D-A38B-4B23-A451-117A1AA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584076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механизам заштите, а доказ стварни исход.</a:t>
            </a:r>
          </a:p>
        </p:txBody>
      </p:sp>
      <p:sp>
        <p:nvSpPr>
          <p:cNvPr id="11" name="text-deo1">
            <a:extLst xmlns:a="http://schemas.openxmlformats.org/drawingml/2006/main">
              <a:ext uri="{FF2B5EF4-FFF2-40B4-BE49-F238E27FC236}">
                <a16:creationId xmlns:a16="http://schemas.microsoft.com/office/drawing/2014/main" id="{C9ACD69F-1827-413C-88ED-9DCEA92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37993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2" name="text-deo1">
            <a:extLst xmlns:a="http://schemas.openxmlformats.org/drawingml/2006/main">
              <a:ext uri="{FF2B5EF4-FFF2-40B4-BE49-F238E27FC236}">
                <a16:creationId xmlns:a16="http://schemas.microsoft.com/office/drawing/2014/main" id="{793F9656-2B48-4DA3-AEA6-3858351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209" y="6244382"/>
            <a:ext cx="197792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13" name="text-deo1">
            <a:extLst xmlns:a="http://schemas.openxmlformats.org/drawingml/2006/main">
              <a:ext uri="{FF2B5EF4-FFF2-40B4-BE49-F238E27FC236}">
                <a16:creationId xmlns:a16="http://schemas.microsoft.com/office/drawing/2014/main" id="{139DBD71-1EA0-419D-8988-1F8404E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585" y="6244382"/>
            <a:ext cx="13698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4" name="text-deo1">
            <a:extLst xmlns:a="http://schemas.openxmlformats.org/drawingml/2006/main">
              <a:ext uri="{FF2B5EF4-FFF2-40B4-BE49-F238E27FC236}">
                <a16:creationId xmlns:a16="http://schemas.microsoft.com/office/drawing/2014/main" id="{7593722D-E0D2-4658-BCDE-D500A28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849" y="6244382"/>
            <a:ext cx="99580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5" name="text-deo1">
            <a:extLst xmlns:a="http://schemas.openxmlformats.org/drawingml/2006/main">
              <a:ext uri="{FF2B5EF4-FFF2-40B4-BE49-F238E27FC236}">
                <a16:creationId xmlns:a16="http://schemas.microsoft.com/office/drawing/2014/main" id="{7AE9CBF8-216E-46CB-8DB5-EACB8EE3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1">
            <a:extLst xmlns:a="http://schemas.openxmlformats.org/drawingml/2006/main">
              <a:ext uri="{FF2B5EF4-FFF2-40B4-BE49-F238E27FC236}">
                <a16:creationId xmlns:a16="http://schemas.microsoft.com/office/drawing/2014/main" id="{1FC7A97B-9E00-45FC-B9D7-67658350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6571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D06E2-F143-4744-B547-29416AF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F90B0-F196-4096-8671-48C8C373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591FF-E6EF-4A81-B444-FD8F5B9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5E4F5-C95F-467A-8001-F72D6063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C1554-3024-497C-AF5B-426B00B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4856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555C32F-C6BB-4279-9253-346A89D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4856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671CD-6D27-463C-AA22-F5080701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9E6931C-B77C-4E86-BA1A-3E74FC13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9" name="heading-source-04">
            <a:extLst xmlns:a="http://schemas.openxmlformats.org/drawingml/2006/main">
              <a:ext uri="{FF2B5EF4-FFF2-40B4-BE49-F238E27FC236}">
                <a16:creationId xmlns:a16="http://schemas.microsoft.com/office/drawing/2014/main" id="{86020564-4231-46D8-8A2A-8FCFEF2D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94203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14FBB868-0428-4B41-B024-7333051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5513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организација очекује</a:t>
            </a:r>
          </a:p>
        </p:txBody>
      </p:sp>
      <p:sp>
        <p:nvSpPr>
          <p:cNvPr id="1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8294971D-D5E6-4B2C-9AA1-983245AD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B984759-D016-4A1D-926A-BA9FDA6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45577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 изражава намеру: </a:t>
            </a:r>
          </a:p>
        </p:txBody>
      </p:sp>
      <p:sp>
        <p:nvSpPr>
          <p:cNvPr id="1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7BCAD91-45EC-4697-882D-FB6C6AD8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492531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шта мора да важи, за кога и од </a:t>
            </a:r>
          </a:p>
        </p:txBody>
      </p:sp>
      <p:sp>
        <p:nvSpPr>
          <p:cNvPr id="1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1E4846B-B2B2-4380-B84F-617E698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204594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ког датума.</a:t>
            </a:r>
          </a:p>
        </p:txBody>
      </p:sp>
      <p:sp>
        <p:nvSpPr>
          <p:cNvPr id="1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E03687F-F5AA-4F06-AEE7-8336B183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86834"/>
            <a:ext cx="41951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</a:t>
            </a:r>
          </a:p>
        </p:txBody>
      </p:sp>
      <p:sp>
        <p:nvSpPr>
          <p:cNvPr id="1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1B4461F-2542-4EC2-81E6-F985C48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60095"/>
            <a:ext cx="13433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одлуку?</a:t>
            </a:r>
          </a:p>
        </p:txBody>
      </p:sp>
      <p:sp>
        <p:nvSpPr>
          <p:cNvPr id="1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10A1346-D00B-4535-83A6-B8280FC7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9FAA6FA7-3157-43DC-AC51-D4BF36F0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60161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Објављена верзија политике </a:t>
            </a:r>
          </a:p>
        </p:txBody>
      </p:sp>
      <p:sp>
        <p:nvSpPr>
          <p:cNvPr id="1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CD96244-C47A-4A4A-A058-367ACA2C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436200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се не мења накнадно, нова </a:t>
            </a:r>
          </a:p>
        </p:txBody>
      </p:sp>
      <p:sp>
        <p:nvSpPr>
          <p:cNvPr id="2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05D95095-B720-4B20-81D0-5EA44E85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840188"/>
            <a:ext cx="46507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намера постаје нова верзија.</a:t>
            </a:r>
          </a:p>
        </p:txBody>
      </p:sp>
      <p:sp>
        <p:nvSpPr>
          <p:cNvPr id="2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3D34FE1-FE37-4F9C-8884-6F593C28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386834"/>
            <a:ext cx="43995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</a:t>
            </a:r>
          </a:p>
        </p:txBody>
      </p:sp>
      <p:sp>
        <p:nvSpPr>
          <p:cNvPr id="2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4ECBAB3-2A8C-47F5-A8A9-A66D40E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760095"/>
            <a:ext cx="1598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видљива?</a:t>
            </a:r>
          </a:p>
        </p:txBody>
      </p:sp>
      <p:sp>
        <p:nvSpPr>
          <p:cNvPr id="23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A982AAD1-FED3-4D86-B7A9-48F21C1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260AA77-F5A3-4B00-AB90-A71336E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4498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Свака верзија чува разлог и </a:t>
            </a:r>
          </a:p>
        </p:txBody>
      </p:sp>
      <p:sp>
        <p:nvSpPr>
          <p:cNvPr id="25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52A02FAE-6E8A-4058-BF62-403D3E16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482634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 промене, па се стара </a:t>
            </a:r>
          </a:p>
        </p:txBody>
      </p:sp>
      <p:sp>
        <p:nvSpPr>
          <p:cNvPr id="26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0F5CA6B7-5FCD-4E4E-8C98-237EA7F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840188"/>
            <a:ext cx="389483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одлука може објаснити.</a:t>
            </a:r>
          </a:p>
        </p:txBody>
      </p:sp>
      <p:sp>
        <p:nvSpPr>
          <p:cNvPr id="27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90155A6F-490D-4A29-9D07-14A850A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386834"/>
            <a:ext cx="43871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</a:t>
            </a:r>
          </a:p>
        </p:txBody>
      </p:sp>
      <p:sp>
        <p:nvSpPr>
          <p:cNvPr id="28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9F03FF33-058D-4CB8-B256-BA12AFF4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760095"/>
            <a:ext cx="13415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исхода?</a:t>
            </a:r>
          </a:p>
        </p:txBody>
      </p:sp>
      <p:sp>
        <p:nvSpPr>
          <p:cNvPr id="29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3E131335-8BC7-4D2F-926C-CF7CE02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95356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30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6491106B-BDC7-4479-B15F-867CC9B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01061"/>
            <a:ext cx="117094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безбедносно правило у вашој целини мора имати власника, верзију и датум важења?</a:t>
            </a:r>
          </a:p>
        </p:txBody>
      </p:sp>
      <p:sp>
        <p:nvSpPr>
          <p:cNvPr id="31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FEFA6E27-7767-4C84-8B6D-11203583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04">
            <a:extLst xmlns:a="http://schemas.openxmlformats.org/drawingml/2006/main">
              <a:ext uri="{FF2B5EF4-FFF2-40B4-BE49-F238E27FC236}">
                <a16:creationId xmlns:a16="http://schemas.microsoft.com/office/drawing/2014/main" id="{E2C38490-1889-44E4-9133-CC64A940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9387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F1C7A-A6DC-4591-AB0F-AAD8B442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6D64-05DF-4BAB-8B88-79787D7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E2CF2-E636-4B65-8B97-F1733BDA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92BFE-954C-4BC7-99EC-A8B6D9C7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17B92-CDDF-4832-8B67-2468FB55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70527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260ED9D8-22C6-43D3-8EA0-3356C31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70527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BA082-0956-4147-B91A-CFC7AB59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ABD3B96D-F2A1-43B9-A5F4-5E2F7597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9" name="heading-source-05">
            <a:extLst xmlns:a="http://schemas.openxmlformats.org/drawingml/2006/main">
              <a:ext uri="{FF2B5EF4-FFF2-40B4-BE49-F238E27FC236}">
                <a16:creationId xmlns:a16="http://schemas.microsoft.com/office/drawing/2014/main" id="{93C07A6E-36F1-4CD7-8D61-6127AD04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445903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1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B0C0F451-92F0-42C1-AC8E-7CF1A2A2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8028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се правило примењује</a:t>
            </a:r>
          </a:p>
        </p:txBody>
      </p:sp>
      <p:sp>
        <p:nvSpPr>
          <p:cNvPr id="1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A4125509-1592-4D9A-A1D3-7AFF42B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145BB07-3584-4227-8753-ED817024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465891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Конфигурациона вредност је </a:t>
            </a:r>
          </a:p>
        </p:txBody>
      </p:sp>
      <p:sp>
        <p:nvSpPr>
          <p:cNvPr id="1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C4FFC31D-8C87-417E-A49B-40330451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44139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конкретно стање система и </a:t>
            </a:r>
          </a:p>
        </p:txBody>
      </p:sp>
      <p:sp>
        <p:nvSpPr>
          <p:cNvPr id="1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F206DA3-3FB1-4246-BF7B-BEB70A31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427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има власника и очекивану </a:t>
            </a:r>
          </a:p>
        </p:txBody>
      </p:sp>
      <p:sp>
        <p:nvSpPr>
          <p:cNvPr id="1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D3225E00-DA4C-42E0-98A3-1490EE46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05859"/>
            <a:ext cx="181882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вредност.</a:t>
            </a:r>
          </a:p>
        </p:txBody>
      </p:sp>
      <p:sp>
        <p:nvSpPr>
          <p:cNvPr id="1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4385903-79F3-46DF-A680-02DD508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52505"/>
            <a:ext cx="41951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</a:t>
            </a:r>
          </a:p>
        </p:txBody>
      </p:sp>
      <p:sp>
        <p:nvSpPr>
          <p:cNvPr id="1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9B1DB95-CCD9-4775-B227-09BCE25F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125766"/>
            <a:ext cx="13433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одлуку?</a:t>
            </a:r>
          </a:p>
        </p:txBody>
      </p:sp>
      <p:sp>
        <p:nvSpPr>
          <p:cNvPr id="1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2E9EB5F-9D7D-4C4B-9B71-AACFC01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17B4C72D-E26E-491C-8F2F-1446D9E9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4596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Референтна конфигурација </a:t>
            </a:r>
          </a:p>
        </p:txBody>
      </p:sp>
      <p:sp>
        <p:nvSpPr>
          <p:cNvPr id="2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6776FEF8-11FE-47AD-B216-76ED111E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46781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одређује најмању дозвољену </a:t>
            </a:r>
          </a:p>
        </p:txBody>
      </p:sp>
      <p:sp>
        <p:nvSpPr>
          <p:cNvPr id="2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74896266-E781-443B-821F-276701C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840188"/>
            <a:ext cx="484033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строгост, строже подешавање </a:t>
            </a:r>
          </a:p>
        </p:txBody>
      </p:sp>
      <p:sp>
        <p:nvSpPr>
          <p:cNvPr id="2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0291E4F4-912F-48F7-89B3-90F6BDF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205859"/>
            <a:ext cx="27457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није одступање.</a:t>
            </a:r>
          </a:p>
        </p:txBody>
      </p:sp>
      <p:sp>
        <p:nvSpPr>
          <p:cNvPr id="2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513E1BA7-3612-4DDD-8BA6-66AE2D5A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752505"/>
            <a:ext cx="43995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</a:t>
            </a:r>
          </a:p>
        </p:txBody>
      </p:sp>
      <p:sp>
        <p:nvSpPr>
          <p:cNvPr id="2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F92D2EC-5E0D-4F68-8CCD-BFCD1FD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6125766"/>
            <a:ext cx="1598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видљива?</a:t>
            </a:r>
          </a:p>
        </p:txBody>
      </p:sp>
      <p:sp>
        <p:nvSpPr>
          <p:cNvPr id="25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A11359C-16EB-4FA6-AA6F-D0BBE0F8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6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952C82A2-12E8-4496-B3F6-13246D6B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42173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Свака промена вредности </a:t>
            </a:r>
          </a:p>
        </p:txBody>
      </p:sp>
      <p:sp>
        <p:nvSpPr>
          <p:cNvPr id="27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AC5E94F0-8599-498B-8936-DF6A0F78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345370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оставља траг: ко ју је </a:t>
            </a:r>
          </a:p>
        </p:txBody>
      </p:sp>
      <p:sp>
        <p:nvSpPr>
          <p:cNvPr id="28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81FC5C0-4005-46A2-B6E4-B53F536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840188"/>
            <a:ext cx="400094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променио, када и зашто.</a:t>
            </a:r>
          </a:p>
        </p:txBody>
      </p:sp>
      <p:sp>
        <p:nvSpPr>
          <p:cNvPr id="29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8EF5E41-D758-45CB-9126-44BFD057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386834"/>
            <a:ext cx="43871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</a:t>
            </a:r>
          </a:p>
        </p:txBody>
      </p:sp>
      <p:sp>
        <p:nvSpPr>
          <p:cNvPr id="30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4BE8F575-D3F1-4B1B-9EC9-892A7456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760095"/>
            <a:ext cx="13415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исхода?</a:t>
            </a:r>
          </a:p>
        </p:txBody>
      </p:sp>
      <p:sp>
        <p:nvSpPr>
          <p:cNvPr id="31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E2982212-EEB6-48C5-9162-31959A42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61027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32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8DB336A9-82A8-491C-9442-D26AA9C2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66732"/>
            <a:ext cx="938138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подешавање у вашем систему тихо слаби заштиту ако се промени?</a:t>
            </a:r>
          </a:p>
        </p:txBody>
      </p:sp>
      <p:sp>
        <p:nvSpPr>
          <p:cNvPr id="33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30AB1EC7-3F1B-4396-988F-3A0AC23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4" name="text-source-05">
            <a:extLst xmlns:a="http://schemas.openxmlformats.org/drawingml/2006/main">
              <a:ext uri="{FF2B5EF4-FFF2-40B4-BE49-F238E27FC236}">
                <a16:creationId xmlns:a16="http://schemas.microsoft.com/office/drawing/2014/main" id="{AA78835E-C268-4B48-AF16-5313D1C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6279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3E956-2A38-4E6F-A71B-2A8B71A4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D28E-0FFA-4708-8348-2D5DCB3A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DD5B-EC65-45D0-B877-2431023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D0BEE-6A2B-43AB-9D57-5D2CC5A9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653135"/>
          </a:xfrm>
          <a:prstGeom xmlns:a="http://schemas.openxmlformats.org/drawingml/2006/main" prst="roundRect">
            <a:avLst>
              <a:gd name="adj" fmla="val 4172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AC779-E2CE-4E02-8E54-92573DD9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70527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CA3763FF-A3D6-4FCD-8B1D-07AE6B2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70527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BE2C7-E5EF-48B5-A905-ED8E2C92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CD4F254-9150-4E22-AAD5-D1502940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9" name="heading-source-06">
            <a:extLst xmlns:a="http://schemas.openxmlformats.org/drawingml/2006/main">
              <a:ext uri="{FF2B5EF4-FFF2-40B4-BE49-F238E27FC236}">
                <a16:creationId xmlns:a16="http://schemas.microsoft.com/office/drawing/2014/main" id="{7196EE71-1144-46AC-ACAD-4E8768C4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90884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6602797-7E1A-41C6-94A6-125A6569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28246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механизам заштите</a:t>
            </a:r>
          </a:p>
        </p:txBody>
      </p:sp>
      <p:sp>
        <p:nvSpPr>
          <p:cNvPr id="1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0AAFDAC-96DB-4503-A99C-98F532E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AF07DC96-AD36-46A3-B9D1-1DD7CD52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41694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пореди стварно </a:t>
            </a:r>
          </a:p>
        </p:txBody>
      </p:sp>
      <p:sp>
        <p:nvSpPr>
          <p:cNvPr id="1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E453483-409D-43E2-8A9D-095BBB0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44148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стање са референтним и за </a:t>
            </a:r>
          </a:p>
        </p:txBody>
      </p:sp>
      <p:sp>
        <p:nvSpPr>
          <p:cNvPr id="1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2534FF5-1570-49AC-9335-8758081F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490760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свако правило даје један јасан </a:t>
            </a:r>
          </a:p>
        </p:txBody>
      </p:sp>
      <p:sp>
        <p:nvSpPr>
          <p:cNvPr id="1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9AC2437C-B6DC-4C42-B589-9A6E8B0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05859"/>
            <a:ext cx="130090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исход.</a:t>
            </a:r>
          </a:p>
        </p:txBody>
      </p:sp>
      <p:sp>
        <p:nvSpPr>
          <p:cNvPr id="1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ECDA05E-3974-4927-A26B-1030B15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52505"/>
            <a:ext cx="41951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</a:t>
            </a:r>
          </a:p>
        </p:txBody>
      </p:sp>
      <p:sp>
        <p:nvSpPr>
          <p:cNvPr id="1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CA3BA77-38FA-48AB-BC79-C80EEABA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125766"/>
            <a:ext cx="13433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одлуку?</a:t>
            </a:r>
          </a:p>
        </p:txBody>
      </p:sp>
      <p:sp>
        <p:nvSpPr>
          <p:cNvPr id="1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9C68CEAE-7125-4BC4-A427-6F0766FE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A5BB866-A8E9-4833-A5DA-8258758B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56961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контрола се додаје као </a:t>
            </a:r>
          </a:p>
        </p:txBody>
      </p:sp>
      <p:sp>
        <p:nvSpPr>
          <p:cNvPr id="2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5C72944-3D93-4910-A8E8-1AA90607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37927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класа, без измене </a:t>
            </a:r>
          </a:p>
        </p:txBody>
      </p:sp>
      <p:sp>
        <p:nvSpPr>
          <p:cNvPr id="2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009D323F-B8DE-4472-A722-75A54A5C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840188"/>
            <a:ext cx="334863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постојећих провера.</a:t>
            </a:r>
          </a:p>
        </p:txBody>
      </p:sp>
      <p:sp>
        <p:nvSpPr>
          <p:cNvPr id="2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8D09D92B-33B1-4B25-8054-E2BFCEE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386834"/>
            <a:ext cx="43995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</a:t>
            </a:r>
          </a:p>
        </p:txBody>
      </p:sp>
      <p:sp>
        <p:nvSpPr>
          <p:cNvPr id="2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07F80D3-5EEA-466C-BEAB-B13E45B8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760095"/>
            <a:ext cx="1598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видљива?</a:t>
            </a:r>
          </a:p>
        </p:txBody>
      </p:sp>
      <p:sp>
        <p:nvSpPr>
          <p:cNvPr id="24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2B71CCB2-4AC6-4082-82D2-8ACD8403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5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C57003F-B352-47AA-B162-066674A2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34053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Налаз садржи назив </a:t>
            </a:r>
          </a:p>
        </p:txBody>
      </p:sp>
      <p:sp>
        <p:nvSpPr>
          <p:cNvPr id="26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FF6076BA-07CE-476A-97E4-30FE924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490701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контроле, очекивану вредност </a:t>
            </a:r>
          </a:p>
        </p:txBody>
      </p:sp>
      <p:sp>
        <p:nvSpPr>
          <p:cNvPr id="27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D87D24CA-CFD3-4195-B174-2345D8B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840188"/>
            <a:ext cx="332482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 стварну вредност.</a:t>
            </a:r>
          </a:p>
        </p:txBody>
      </p:sp>
      <p:sp>
        <p:nvSpPr>
          <p:cNvPr id="28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4B187712-6261-4DE4-896C-CA323C0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386834"/>
            <a:ext cx="43871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</a:t>
            </a:r>
          </a:p>
        </p:txBody>
      </p:sp>
      <p:sp>
        <p:nvSpPr>
          <p:cNvPr id="29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F5DD385-DBAE-4CF4-8B4B-6FEEA22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760095"/>
            <a:ext cx="13415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исхода?</a:t>
            </a:r>
          </a:p>
        </p:txBody>
      </p:sp>
      <p:sp>
        <p:nvSpPr>
          <p:cNvPr id="30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F3F9474-F132-4B30-B092-2A293806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61027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31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C7B8CCDB-A2BF-43A8-BD6C-8F26640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66732"/>
            <a:ext cx="869498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Која контрола у вашој целини проверава да правило заиста важи?</a:t>
            </a:r>
          </a:p>
        </p:txBody>
      </p:sp>
      <p:sp>
        <p:nvSpPr>
          <p:cNvPr id="32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BAABA09A-B5C7-4B7B-9C5F-ACECE35E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3" name="text-source-06">
            <a:extLst xmlns:a="http://schemas.openxmlformats.org/drawingml/2006/main">
              <a:ext uri="{FF2B5EF4-FFF2-40B4-BE49-F238E27FC236}">
                <a16:creationId xmlns:a16="http://schemas.microsoft.com/office/drawing/2014/main" id="{17CE82ED-0A83-4C0A-97C6-37E67000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4706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3CD1B-0DA6-4C52-AD9F-F0F3807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E8465-C322-4A77-96A4-536F5251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53D2E-66F5-4B12-8911-913E151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DBB0-77F1-4C8D-B051-88FE16F5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287464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58624-D9D3-48E6-94D3-A629C99C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4856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B7157E67-CDE8-4FD6-85BA-424994B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4856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6E90-139A-487F-B0C6-C769EB99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A9B5D3D2-6CA2-46DD-9E6B-1951E6E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ПОЈМОВИ</a:t>
            </a:r>
          </a:p>
        </p:txBody>
      </p:sp>
      <p:sp>
        <p:nvSpPr>
          <p:cNvPr id="9" name="heading-source-07">
            <a:extLst xmlns:a="http://schemas.openxmlformats.org/drawingml/2006/main">
              <a:ext uri="{FF2B5EF4-FFF2-40B4-BE49-F238E27FC236}">
                <a16:creationId xmlns:a16="http://schemas.microsoft.com/office/drawing/2014/main" id="{9EA39633-2166-4EBA-B080-F820637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00590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CA92404-E55D-4CA7-93D8-8087E21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3067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лог, метрика или тест</a:t>
            </a:r>
          </a:p>
        </p:txBody>
      </p:sp>
      <p:sp>
        <p:nvSpPr>
          <p:cNvPr id="1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86FDA11-10F3-4ED0-8561-E3862DE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951E62BC-2A97-46F7-8F24-11BEE30D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488364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 показује стваран исход, </a:t>
            </a:r>
          </a:p>
        </p:txBody>
      </p:sp>
      <p:sp>
        <p:nvSpPr>
          <p:cNvPr id="1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54EF4444-6067-4B61-901D-704DF400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380880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 не само да је правило </a:t>
            </a:r>
          </a:p>
        </p:txBody>
      </p:sp>
      <p:sp>
        <p:nvSpPr>
          <p:cNvPr id="1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706B0A7-5348-4F4E-AC24-2734535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18103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записано.</a:t>
            </a:r>
          </a:p>
        </p:txBody>
      </p:sp>
      <p:sp>
        <p:nvSpPr>
          <p:cNvPr id="1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609745B-CB8D-4D2C-8470-7C7DD95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86834"/>
            <a:ext cx="41951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улаз покреће ову </a:t>
            </a:r>
          </a:p>
        </p:txBody>
      </p:sp>
      <p:sp>
        <p:nvSpPr>
          <p:cNvPr id="1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2ECA122F-EEB4-4CA1-9B6F-726A1BA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60095"/>
            <a:ext cx="13433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одлуку?</a:t>
            </a:r>
          </a:p>
        </p:txBody>
      </p:sp>
      <p:sp>
        <p:nvSpPr>
          <p:cNvPr id="1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CAFA7DEA-FE96-4E75-965B-7D82F918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6555831C-3B85-452D-9672-8379A64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735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Корелациони идентификатор </a:t>
            </a:r>
          </a:p>
        </p:txBody>
      </p:sp>
      <p:sp>
        <p:nvSpPr>
          <p:cNvPr id="19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49B262BE-806A-4A3A-B436-DF7D2D3A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447064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повезује налаз са провером </a:t>
            </a:r>
          </a:p>
        </p:txBody>
      </p:sp>
      <p:sp>
        <p:nvSpPr>
          <p:cNvPr id="2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B2763856-8FF1-4023-BCDF-4FBD89B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840188"/>
            <a:ext cx="33788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која га је произвела.</a:t>
            </a:r>
          </a:p>
        </p:txBody>
      </p:sp>
      <p:sp>
        <p:nvSpPr>
          <p:cNvPr id="2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48A1D2B2-E3A0-431C-A065-1C33B24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386834"/>
            <a:ext cx="43995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која граница мора бити </a:t>
            </a:r>
          </a:p>
        </p:txBody>
      </p:sp>
      <p:sp>
        <p:nvSpPr>
          <p:cNvPr id="2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04061939-0D19-4F70-B212-A6D5056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760095"/>
            <a:ext cx="1598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видљива?</a:t>
            </a:r>
          </a:p>
        </p:txBody>
      </p:sp>
      <p:sp>
        <p:nvSpPr>
          <p:cNvPr id="23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EA962AA7-155F-43E5-BC57-CD575FD6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7F545586-0365-4080-BF47-82A6ABA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48052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са одступањем и тест без </a:t>
            </a:r>
          </a:p>
        </p:txBody>
      </p:sp>
      <p:sp>
        <p:nvSpPr>
          <p:cNvPr id="25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C3B0BC8F-0883-4652-82FC-644F21EC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494541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одступања заједно доказују да </a:t>
            </a:r>
          </a:p>
        </p:txBody>
      </p:sp>
      <p:sp>
        <p:nvSpPr>
          <p:cNvPr id="26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39350A8B-D154-4CEA-89D5-0F821E51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840188"/>
            <a:ext cx="262324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ради.</a:t>
            </a:r>
          </a:p>
        </p:txBody>
      </p:sp>
      <p:sp>
        <p:nvSpPr>
          <p:cNvPr id="27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418DBB20-17ED-43FD-8ECD-19445C7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386834"/>
            <a:ext cx="43871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Питање: који доказ остаје после </a:t>
            </a:r>
          </a:p>
        </p:txBody>
      </p:sp>
      <p:sp>
        <p:nvSpPr>
          <p:cNvPr id="28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CE26F701-9F1C-46B2-9853-35097736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760095"/>
            <a:ext cx="13415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исхода?</a:t>
            </a:r>
          </a:p>
        </p:txBody>
      </p:sp>
      <p:sp>
        <p:nvSpPr>
          <p:cNvPr id="29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5EABC9C0-569D-42F4-8249-662CBD3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95356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ПИТАЊЕ ЗА АНАЛИЗУ</a:t>
            </a:r>
          </a:p>
        </p:txBody>
      </p:sp>
      <p:sp>
        <p:nvSpPr>
          <p:cNvPr id="30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D777E2B2-4CC5-4B0E-910B-FAFF4777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01061"/>
            <a:ext cx="866700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Којим записом бисте показали да је одступање откривено и када?</a:t>
            </a:r>
          </a:p>
        </p:txBody>
      </p:sp>
      <p:sp>
        <p:nvSpPr>
          <p:cNvPr id="31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1046D3BF-9DE6-40FB-98DB-CE97404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source-07">
            <a:extLst xmlns:a="http://schemas.openxmlformats.org/drawingml/2006/main">
              <a:ext uri="{FF2B5EF4-FFF2-40B4-BE49-F238E27FC236}">
                <a16:creationId xmlns:a16="http://schemas.microsoft.com/office/drawing/2014/main" id="{87BB83C4-E57D-4B3A-855E-501538E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4403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075A5-B648-43EC-A3C0-D7B5161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DD8A-DB9C-4DA4-B1CE-7F3DC12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3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17CBD48E-1A3A-44BB-964C-52D6014D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 · РАЗЛИКЕ</a:t>
            </a:r>
          </a:p>
        </p:txBody>
      </p:sp>
      <p:sp>
        <p:nvSpPr>
          <p:cNvPr id="4" name="heading-source-08">
            <a:extLst xmlns:a="http://schemas.openxmlformats.org/drawingml/2006/main">
              <a:ext uri="{FF2B5EF4-FFF2-40B4-BE49-F238E27FC236}">
                <a16:creationId xmlns:a16="http://schemas.microsoft.com/office/drawing/2014/main" id="{DF648FBC-661C-4ECC-9829-1AACD445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240589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25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Политика, процедура и контрола</a:t>
            </a:r>
          </a:p>
        </p:txBody>
      </p:sp>
      <p:sp>
        <p:nvSpPr>
          <p:cNvPr id="5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7132BFF8-9550-47E4-A165-BE406653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8755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11948B84-B7F8-45E0-A6F4-9E120137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7" name="text-source-08">
            <a:extLst xmlns:a="http://schemas.openxmlformats.org/drawingml/2006/main">
              <a:ext uri="{FF2B5EF4-FFF2-40B4-BE49-F238E27FC236}">
                <a16:creationId xmlns:a16="http://schemas.microsoft.com/office/drawing/2014/main" id="{5F723D80-F098-43A3-93D5-04D88CD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219200" y="3112591"/>
          <a:ext xmlns:a="http://schemas.openxmlformats.org/drawingml/2006/main" cx="15849600" cy="4394002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82578"/>
                <a:gridCol w="5698927"/>
                <a:gridCol w="6649045"/>
              </a:tblGrid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Улога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Пример доказа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Политика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Одређује правило и циљ заштите.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Верзионисан текст са власником.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989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Процедура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Описује како људи или систем спроводе правило.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Преглед корака или аутоматизовани ток.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1098947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Контрола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Спречава, открива или ограничава ризик.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Тест, лог или резултат провере.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7256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Метрика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Показује тренд или одступање.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Дефинисан праг и извор података.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633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56D9E-7AD6-4727-A890-5DEBD82C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23869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0E222-E3C9-4CE3-A9A4-3EE163F7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796" y="6158657"/>
            <a:ext cx="130968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5767E-A82A-467F-904A-9F7A89E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784" y="6158657"/>
            <a:ext cx="1328738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A0F23-F8D5-42DF-91AE-74574426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21" y="6158657"/>
            <a:ext cx="1633835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94097-2ABA-418D-A557-D6F68B5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CF"/>
          </a:solidFill>
          <a:ln xmlns:a="http://schemas.openxmlformats.org/drawingml/2006/main" w="0">
            <a:noFill/>
          </a:ln>
        </p:spPr>
      </p:sp>
      <p:sp>
        <p:nvSpPr>
          <p:cNvPr id="6" name="text-deo2">
            <a:extLst xmlns:a="http://schemas.openxmlformats.org/drawingml/2006/main">
              <a:ext uri="{FF2B5EF4-FFF2-40B4-BE49-F238E27FC236}">
                <a16:creationId xmlns:a16="http://schemas.microsoft.com/office/drawing/2014/main" id="{54ED1BD2-AB46-4285-BF7D-ABB73042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7" name="text-deo2">
            <a:extLst xmlns:a="http://schemas.openxmlformats.org/drawingml/2006/main">
              <a:ext uri="{FF2B5EF4-FFF2-40B4-BE49-F238E27FC236}">
                <a16:creationId xmlns:a16="http://schemas.microsoft.com/office/drawing/2014/main" id="{AA7CB530-1E02-4F9C-B139-2179C1F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ДРУГИ ДЕО</a:t>
            </a:r>
          </a:p>
        </p:txBody>
      </p:sp>
      <p:sp>
        <p:nvSpPr>
          <p:cNvPr id="8" name="heading-deo2">
            <a:extLst xmlns:a="http://schemas.openxmlformats.org/drawingml/2006/main">
              <a:ext uri="{FF2B5EF4-FFF2-40B4-BE49-F238E27FC236}">
                <a16:creationId xmlns:a16="http://schemas.microsoft.com/office/drawing/2014/main" id="{97FCFC72-0F83-464E-A468-8DE5EA16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238381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Важење и мерење</a:t>
            </a:r>
          </a:p>
        </p:txBody>
      </p:sp>
      <p:sp>
        <p:nvSpPr>
          <p:cNvPr id="9" name="text-deo2">
            <a:extLst xmlns:a="http://schemas.openxmlformats.org/drawingml/2006/main">
              <a:ext uri="{FF2B5EF4-FFF2-40B4-BE49-F238E27FC236}">
                <a16:creationId xmlns:a16="http://schemas.microsoft.com/office/drawing/2014/main" id="{676D9534-49DA-4C1C-9ADB-F49E5910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32140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Историја политике и јасна безбедносна метрика омогућавају да одлука </a:t>
            </a:r>
          </a:p>
        </p:txBody>
      </p:sp>
      <p:sp>
        <p:nvSpPr>
          <p:cNvPr id="10" name="text-deo2">
            <a:extLst xmlns:a="http://schemas.openxmlformats.org/drawingml/2006/main">
              <a:ext uri="{FF2B5EF4-FFF2-40B4-BE49-F238E27FC236}">
                <a16:creationId xmlns:a16="http://schemas.microsoft.com/office/drawing/2014/main" id="{C9279B2A-BA41-418E-B1E2-2F058FBD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59799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остане објашњива и после промене система.</a:t>
            </a:r>
          </a:p>
        </p:txBody>
      </p:sp>
      <p:sp>
        <p:nvSpPr>
          <p:cNvPr id="11" name="text-deo2">
            <a:extLst xmlns:a="http://schemas.openxmlformats.org/drawingml/2006/main">
              <a:ext uri="{FF2B5EF4-FFF2-40B4-BE49-F238E27FC236}">
                <a16:creationId xmlns:a16="http://schemas.microsoft.com/office/drawing/2014/main" id="{88DEF105-18DC-4CDB-9625-6C91525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18154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Верзије</a:t>
            </a:r>
          </a:p>
        </p:txBody>
      </p:sp>
      <p:sp>
        <p:nvSpPr>
          <p:cNvPr id="12" name="text-deo2">
            <a:extLst xmlns:a="http://schemas.openxmlformats.org/drawingml/2006/main">
              <a:ext uri="{FF2B5EF4-FFF2-40B4-BE49-F238E27FC236}">
                <a16:creationId xmlns:a16="http://schemas.microsoft.com/office/drawing/2014/main" id="{4F4FD013-85DD-446F-8209-0D0F7FC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821" y="6244382"/>
            <a:ext cx="125253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Власник</a:t>
            </a:r>
          </a:p>
        </p:txBody>
      </p:sp>
      <p:sp>
        <p:nvSpPr>
          <p:cNvPr id="13" name="text-deo2">
            <a:extLst xmlns:a="http://schemas.openxmlformats.org/drawingml/2006/main">
              <a:ext uri="{FF2B5EF4-FFF2-40B4-BE49-F238E27FC236}">
                <a16:creationId xmlns:a16="http://schemas.microsoft.com/office/drawing/2014/main" id="{E2101A2E-60AE-4479-8554-111250B1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809" y="6244382"/>
            <a:ext cx="127158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Метрика</a:t>
            </a:r>
          </a:p>
        </p:txBody>
      </p:sp>
      <p:sp>
        <p:nvSpPr>
          <p:cNvPr id="14" name="text-deo2">
            <a:extLst xmlns:a="http://schemas.openxmlformats.org/drawingml/2006/main">
              <a:ext uri="{FF2B5EF4-FFF2-40B4-BE49-F238E27FC236}">
                <a16:creationId xmlns:a16="http://schemas.microsoft.com/office/drawing/2014/main" id="{0AA9F301-988C-4912-847E-4F70AD6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846" y="6244382"/>
            <a:ext cx="15766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Корелација</a:t>
            </a:r>
          </a:p>
        </p:txBody>
      </p:sp>
      <p:sp>
        <p:nvSpPr>
          <p:cNvPr id="15" name="text-deo2">
            <a:extLst xmlns:a="http://schemas.openxmlformats.org/drawingml/2006/main">
              <a:ext uri="{FF2B5EF4-FFF2-40B4-BE49-F238E27FC236}">
                <a16:creationId xmlns:a16="http://schemas.microsoft.com/office/drawing/2014/main" id="{D3A4E753-A2B7-452A-B70E-5657D49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2">
            <a:extLst xmlns:a="http://schemas.openxmlformats.org/drawingml/2006/main">
              <a:ext uri="{FF2B5EF4-FFF2-40B4-BE49-F238E27FC236}">
                <a16:creationId xmlns:a16="http://schemas.microsoft.com/office/drawing/2014/main" id="{062E51A9-C596-4295-8F24-42BEC27D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0022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2387E-8C79-4AED-AE8C-2CA726B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08314-EF26-4A3F-807C-D745EE58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5849600" cy="1097161"/>
          </a:xfrm>
          <a:prstGeom xmlns:a="http://schemas.openxmlformats.org/drawingml/2006/main" prst="roundRect">
            <a:avLst>
              <a:gd name="adj" fmla="val 10418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A37EB59-B86E-4538-BBA5-F808A25C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14300" cy="1097161"/>
          </a:xfrm>
          <a:custGeom xmlns:a="http://schemas.openxmlformats.org/drawingml/2006/main">
            <a:pathLst>
              <a:path w="114300" h="10971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82861"/>
                </a:lnTo>
                <a:lnTo>
                  <a:pt x="61" y="986601"/>
                </a:lnTo>
                <a:lnTo>
                  <a:pt x="245" y="990337"/>
                </a:lnTo>
                <a:lnTo>
                  <a:pt x="550" y="994064"/>
                </a:lnTo>
                <a:lnTo>
                  <a:pt x="978" y="997780"/>
                </a:lnTo>
                <a:lnTo>
                  <a:pt x="1527" y="1001480"/>
                </a:lnTo>
                <a:lnTo>
                  <a:pt x="2196" y="1005160"/>
                </a:lnTo>
                <a:lnTo>
                  <a:pt x="2986" y="1008816"/>
                </a:lnTo>
                <a:lnTo>
                  <a:pt x="3895" y="1012444"/>
                </a:lnTo>
                <a:lnTo>
                  <a:pt x="4922" y="1016040"/>
                </a:lnTo>
                <a:lnTo>
                  <a:pt x="6066" y="1019601"/>
                </a:lnTo>
                <a:lnTo>
                  <a:pt x="7326" y="1023123"/>
                </a:lnTo>
                <a:lnTo>
                  <a:pt x="8701" y="1026602"/>
                </a:lnTo>
                <a:lnTo>
                  <a:pt x="10188" y="1030033"/>
                </a:lnTo>
                <a:lnTo>
                  <a:pt x="11787" y="1033415"/>
                </a:lnTo>
                <a:lnTo>
                  <a:pt x="13496" y="1036742"/>
                </a:lnTo>
                <a:lnTo>
                  <a:pt x="15313" y="1040011"/>
                </a:lnTo>
                <a:lnTo>
                  <a:pt x="17236" y="1043219"/>
                </a:lnTo>
                <a:lnTo>
                  <a:pt x="19263" y="1046363"/>
                </a:lnTo>
                <a:lnTo>
                  <a:pt x="21392" y="1049438"/>
                </a:lnTo>
                <a:lnTo>
                  <a:pt x="23620" y="1052442"/>
                </a:lnTo>
                <a:lnTo>
                  <a:pt x="25945" y="1055372"/>
                </a:lnTo>
                <a:lnTo>
                  <a:pt x="28365" y="1058224"/>
                </a:lnTo>
                <a:lnTo>
                  <a:pt x="30877" y="1060996"/>
                </a:lnTo>
                <a:lnTo>
                  <a:pt x="33478" y="1063683"/>
                </a:lnTo>
                <a:lnTo>
                  <a:pt x="36165" y="1066284"/>
                </a:lnTo>
                <a:lnTo>
                  <a:pt x="38937" y="1068796"/>
                </a:lnTo>
                <a:lnTo>
                  <a:pt x="41789" y="1071216"/>
                </a:lnTo>
                <a:lnTo>
                  <a:pt x="44719" y="1073541"/>
                </a:lnTo>
                <a:lnTo>
                  <a:pt x="47723" y="1075769"/>
                </a:lnTo>
                <a:lnTo>
                  <a:pt x="50798" y="1077898"/>
                </a:lnTo>
                <a:lnTo>
                  <a:pt x="53942" y="1079925"/>
                </a:lnTo>
                <a:lnTo>
                  <a:pt x="57150" y="1081848"/>
                </a:lnTo>
                <a:lnTo>
                  <a:pt x="60419" y="1083665"/>
                </a:lnTo>
                <a:lnTo>
                  <a:pt x="63746" y="1085373"/>
                </a:lnTo>
                <a:lnTo>
                  <a:pt x="67128" y="1086973"/>
                </a:lnTo>
                <a:lnTo>
                  <a:pt x="70559" y="1088460"/>
                </a:lnTo>
                <a:lnTo>
                  <a:pt x="74038" y="1089835"/>
                </a:lnTo>
                <a:lnTo>
                  <a:pt x="77559" y="1091095"/>
                </a:lnTo>
                <a:lnTo>
                  <a:pt x="81120" y="1092239"/>
                </a:lnTo>
                <a:lnTo>
                  <a:pt x="84717" y="1093266"/>
                </a:lnTo>
                <a:lnTo>
                  <a:pt x="88345" y="1094175"/>
                </a:lnTo>
                <a:lnTo>
                  <a:pt x="92001" y="1094965"/>
                </a:lnTo>
                <a:lnTo>
                  <a:pt x="95681" y="1095634"/>
                </a:lnTo>
                <a:lnTo>
                  <a:pt x="99381" y="1096183"/>
                </a:lnTo>
                <a:lnTo>
                  <a:pt x="103097" y="1096611"/>
                </a:lnTo>
                <a:lnTo>
                  <a:pt x="106824" y="1096916"/>
                </a:lnTo>
                <a:lnTo>
                  <a:pt x="110560" y="1097100"/>
                </a:lnTo>
                <a:lnTo>
                  <a:pt x="114300" y="1097161"/>
                </a:lnTo>
                <a:lnTo>
                  <a:pt x="114300" y="1097161"/>
                </a:lnTo>
                <a:lnTo>
                  <a:pt x="112430" y="1097100"/>
                </a:lnTo>
                <a:lnTo>
                  <a:pt x="110562" y="1096916"/>
                </a:lnTo>
                <a:lnTo>
                  <a:pt x="108698" y="1096611"/>
                </a:lnTo>
                <a:lnTo>
                  <a:pt x="106840" y="1096183"/>
                </a:lnTo>
                <a:lnTo>
                  <a:pt x="104991" y="1095634"/>
                </a:lnTo>
                <a:lnTo>
                  <a:pt x="103151" y="1094965"/>
                </a:lnTo>
                <a:lnTo>
                  <a:pt x="101323" y="1094175"/>
                </a:lnTo>
                <a:lnTo>
                  <a:pt x="99508" y="1093266"/>
                </a:lnTo>
                <a:lnTo>
                  <a:pt x="97710" y="1092239"/>
                </a:lnTo>
                <a:lnTo>
                  <a:pt x="95930" y="1091095"/>
                </a:lnTo>
                <a:lnTo>
                  <a:pt x="94169" y="1089835"/>
                </a:lnTo>
                <a:lnTo>
                  <a:pt x="92430" y="1088460"/>
                </a:lnTo>
                <a:lnTo>
                  <a:pt x="90714" y="1086973"/>
                </a:lnTo>
                <a:lnTo>
                  <a:pt x="89023" y="1085373"/>
                </a:lnTo>
                <a:lnTo>
                  <a:pt x="87360" y="1083665"/>
                </a:lnTo>
                <a:lnTo>
                  <a:pt x="85725" y="1081848"/>
                </a:lnTo>
                <a:lnTo>
                  <a:pt x="84121" y="1079925"/>
                </a:lnTo>
                <a:lnTo>
                  <a:pt x="82549" y="1077898"/>
                </a:lnTo>
                <a:lnTo>
                  <a:pt x="81011" y="1075769"/>
                </a:lnTo>
                <a:lnTo>
                  <a:pt x="79509" y="1073541"/>
                </a:lnTo>
                <a:lnTo>
                  <a:pt x="78044" y="1071216"/>
                </a:lnTo>
                <a:lnTo>
                  <a:pt x="76618" y="1068796"/>
                </a:lnTo>
                <a:lnTo>
                  <a:pt x="75233" y="1066284"/>
                </a:lnTo>
                <a:lnTo>
                  <a:pt x="73889" y="1063683"/>
                </a:lnTo>
                <a:lnTo>
                  <a:pt x="72588" y="1060996"/>
                </a:lnTo>
                <a:lnTo>
                  <a:pt x="71332" y="1058224"/>
                </a:lnTo>
                <a:lnTo>
                  <a:pt x="70122" y="1055372"/>
                </a:lnTo>
                <a:lnTo>
                  <a:pt x="68960" y="1052442"/>
                </a:lnTo>
                <a:lnTo>
                  <a:pt x="67846" y="1049438"/>
                </a:lnTo>
                <a:lnTo>
                  <a:pt x="66782" y="1046363"/>
                </a:lnTo>
                <a:lnTo>
                  <a:pt x="65768" y="1043219"/>
                </a:lnTo>
                <a:lnTo>
                  <a:pt x="64807" y="1040011"/>
                </a:lnTo>
                <a:lnTo>
                  <a:pt x="63898" y="1036742"/>
                </a:lnTo>
                <a:lnTo>
                  <a:pt x="63044" y="1033415"/>
                </a:lnTo>
                <a:lnTo>
                  <a:pt x="62244" y="1030033"/>
                </a:lnTo>
                <a:lnTo>
                  <a:pt x="61500" y="1026602"/>
                </a:lnTo>
                <a:lnTo>
                  <a:pt x="60813" y="1023123"/>
                </a:lnTo>
                <a:lnTo>
                  <a:pt x="60183" y="1019601"/>
                </a:lnTo>
                <a:lnTo>
                  <a:pt x="59611" y="1016040"/>
                </a:lnTo>
                <a:lnTo>
                  <a:pt x="59097" y="1012444"/>
                </a:lnTo>
                <a:lnTo>
                  <a:pt x="58643" y="1008816"/>
                </a:lnTo>
                <a:lnTo>
                  <a:pt x="58248" y="1005160"/>
                </a:lnTo>
                <a:lnTo>
                  <a:pt x="57913" y="1001480"/>
                </a:lnTo>
                <a:lnTo>
                  <a:pt x="57639" y="997780"/>
                </a:lnTo>
                <a:lnTo>
                  <a:pt x="57425" y="994064"/>
                </a:lnTo>
                <a:lnTo>
                  <a:pt x="57272" y="990337"/>
                </a:lnTo>
                <a:lnTo>
                  <a:pt x="57181" y="986601"/>
                </a:lnTo>
                <a:lnTo>
                  <a:pt x="57150" y="9828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91572-ED45-4B3A-9E9B-FCC9067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7bbd7f06a4bc1"/>
          <a:stretch xmlns:a="http://schemas.openxmlformats.org/drawingml/2006/main"/>
        </p:blipFill>
        <p:spPr>
          <a:xfrm xmlns:a="http://schemas.openxmlformats.org/drawingml/2006/main">
            <a:off x="1219200" y="3352800"/>
            <a:ext cx="1584960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D74993E5-C667-4CC9-816B-B9B6C7C7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1547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ТОК ДО ДОКАЗА</a:t>
            </a:r>
          </a:p>
        </p:txBody>
      </p:sp>
      <p:sp>
        <p:nvSpPr>
          <p:cNvPr id="7" name="heading-source-09">
            <a:extLst xmlns:a="http://schemas.openxmlformats.org/drawingml/2006/main">
              <a:ext uri="{FF2B5EF4-FFF2-40B4-BE49-F238E27FC236}">
                <a16:creationId xmlns:a16="http://schemas.microsoft.com/office/drawing/2014/main" id="{BB425DAA-531C-489D-96A0-2520F18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094613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79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Модел од правила до доказа</a:t>
            </a:r>
          </a:p>
        </p:txBody>
      </p:sp>
      <p:sp>
        <p:nvSpPr>
          <p:cNvPr id="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8F40069-020F-4DF1-B64E-7E7A523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546026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Правило може бити добро написано, а контрола ипак неефективна. Доказ повезује очекивање са реалним понашањем.</a:t>
            </a:r>
          </a:p>
        </p:txBody>
      </p:sp>
      <p:sp>
        <p:nvSpPr>
          <p:cNvPr id="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36C2465-28FB-4D4B-8E40-3905956A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Sans"/>
                <a:ea typeface="IBM Plex Sans"/>
                <a:cs typeface="IBM Plex Sans"/>
              </a:defRPr>
            </a:pPr>
            <a:r>
              <a:rPr sz="33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01</a:t>
            </a:r>
          </a:p>
        </p:txBody>
      </p:sp>
      <p:sp>
        <p:nvSpPr>
          <p:cNvPr id="1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516CEE0-334F-4229-87F3-D485308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0125"/>
            <a:ext cx="168056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41F6BF10-B947-4C37-9175-4E06FA39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291956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описана намера и опсег</a:t>
            </a:r>
          </a:p>
        </p:txBody>
      </p:sp>
      <p:sp>
        <p:nvSpPr>
          <p:cNvPr id="1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277330B-B958-4B81-9653-63EA76E8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Sans"/>
                <a:ea typeface="IBM Plex Sans"/>
                <a:cs typeface="IBM Plex Sans"/>
              </a:defRPr>
            </a:pPr>
            <a:r>
              <a:rPr sz="33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02</a:t>
            </a:r>
          </a:p>
        </p:txBody>
      </p:sp>
      <p:sp>
        <p:nvSpPr>
          <p:cNvPr id="1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71EC9704-1607-4C4F-8C66-0B05A34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0125"/>
            <a:ext cx="246295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1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05AAF091-9B42-461A-B9BA-0BDC810F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0"/>
            <a:ext cx="25297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важеће вредности и </a:t>
            </a:r>
          </a:p>
        </p:txBody>
      </p:sp>
      <p:sp>
        <p:nvSpPr>
          <p:cNvPr id="1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AD4122FC-8E4E-49C3-B532-529693E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53980"/>
            <a:ext cx="121369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прагови</a:t>
            </a:r>
          </a:p>
        </p:txBody>
      </p:sp>
      <p:sp>
        <p:nvSpPr>
          <p:cNvPr id="16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9093865F-BB6A-404C-BF14-972996D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7195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Sans"/>
                <a:ea typeface="IBM Plex Sans"/>
                <a:cs typeface="IBM Plex Sans"/>
              </a:defRPr>
            </a:pPr>
            <a:r>
              <a:rPr sz="33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03</a:t>
            </a:r>
          </a:p>
        </p:txBody>
      </p:sp>
      <p:sp>
        <p:nvSpPr>
          <p:cNvPr id="17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CD523A4-63BF-4FDB-BF6D-5EB8660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0125"/>
            <a:ext cx="166404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8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48FAF12-F837-4E49-80CE-7B035C22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34000"/>
            <a:ext cx="217795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спроводи одлуку</a:t>
            </a:r>
          </a:p>
        </p:txBody>
      </p:sp>
      <p:sp>
        <p:nvSpPr>
          <p:cNvPr id="19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11EE602E-339C-484B-86C3-728FB90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7195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Sans"/>
                <a:ea typeface="IBM Plex Sans"/>
                <a:cs typeface="IBM Plex Sans"/>
              </a:defRPr>
            </a:pPr>
            <a:r>
              <a:rPr sz="33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04</a:t>
            </a:r>
          </a:p>
        </p:txBody>
      </p:sp>
      <p:sp>
        <p:nvSpPr>
          <p:cNvPr id="20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0DDAFFA-0533-449B-A30A-F5807AF3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810125"/>
            <a:ext cx="119821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21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53B12D47-7464-487A-A1CE-F36814CC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334000"/>
            <a:ext cx="286330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показује стварни исход</a:t>
            </a:r>
          </a:p>
        </p:txBody>
      </p:sp>
      <p:sp>
        <p:nvSpPr>
          <p:cNvPr id="22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87CB4218-FA52-4507-8FFB-A7190BD4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24750"/>
            <a:ext cx="25375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ЕЛЕМЕНТИ АНАЛИЗЕ</a:t>
            </a:r>
          </a:p>
        </p:txBody>
      </p:sp>
      <p:sp>
        <p:nvSpPr>
          <p:cNvPr id="23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F1A29ADC-F5B5-41C4-8431-6E2C1230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20930"/>
            <a:ext cx="1000660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  <p:sp>
        <p:nvSpPr>
          <p:cNvPr id="24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C79F7E58-4BA4-407F-8599-90C1426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5" name="text-source-09">
            <a:extLst xmlns:a="http://schemas.openxmlformats.org/drawingml/2006/main">
              <a:ext uri="{FF2B5EF4-FFF2-40B4-BE49-F238E27FC236}">
                <a16:creationId xmlns:a16="http://schemas.microsoft.com/office/drawing/2014/main" id="{B731A6BD-E487-4532-B6E3-BA70CC0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0802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DFEFD5-F900-4A06-9B23-5C127116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2B74D-F8B9-4557-9F5A-87293B6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7315200" cy="2997845"/>
          </a:xfrm>
          <a:prstGeom xmlns:a="http://schemas.openxmlformats.org/drawingml/2006/main" prst="roundRect">
            <a:avLst>
              <a:gd name="adj" fmla="val 508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F93C2-25BF-40EE-A012-1D2ED7A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29683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F49C-DFC6-4A2F-AF84-99E9B0E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46799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CBA3B-CC8F-40AF-8810-604434A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63916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0CA7F-B7CE-4561-AD40-68F7548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127653"/>
            <a:ext cx="822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D6E67-F727-4414-8FA1-77C9602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A923940C-AC4A-4737-8EC3-0E37C947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МЕТРИКА</a:t>
            </a:r>
          </a:p>
        </p:txBody>
      </p:sp>
      <p:sp>
        <p:nvSpPr>
          <p:cNvPr id="9" name="heading-source-10">
            <a:extLst xmlns:a="http://schemas.openxmlformats.org/drawingml/2006/main">
              <a:ext uri="{FF2B5EF4-FFF2-40B4-BE49-F238E27FC236}">
                <a16:creationId xmlns:a16="http://schemas.microsoft.com/office/drawing/2014/main" id="{E7F4501B-8E7A-4C9E-B096-7EE4DEF0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7765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4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бира безбедносна метрика</a:t>
            </a:r>
          </a:p>
        </p:txBody>
      </p:sp>
      <p:sp>
        <p:nvSpPr>
          <p:cNvPr id="1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7F445C4-6FA9-4004-812B-E4C24FE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36649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1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083F5D89-D807-4CF1-8C4B-19B25251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КОНТЕКСТ</a:t>
            </a:r>
          </a:p>
        </p:txBody>
      </p:sp>
      <p:sp>
        <p:nvSpPr>
          <p:cNvPr id="1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1F2BCCDB-808B-4559-8716-F56C785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3097"/>
            <a:ext cx="553670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Како се бира безбедносна метрика</a:t>
            </a:r>
          </a:p>
        </p:txBody>
      </p:sp>
      <p:sp>
        <p:nvSpPr>
          <p:cNvPr id="1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3C7A9C41-9BED-4625-95FA-D5397CED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50693"/>
            <a:ext cx="67846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Избор метрике почиње питањем које оператер или </a:t>
            </a:r>
          </a:p>
        </p:txBody>
      </p:sp>
      <p:sp>
        <p:nvSpPr>
          <p:cNvPr id="1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88FB1AF-61A1-4AFC-B351-B9725D3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23954"/>
            <a:ext cx="61924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власник система треба да реши. Након тога се </a:t>
            </a:r>
          </a:p>
        </p:txBody>
      </p:sp>
      <p:sp>
        <p:nvSpPr>
          <p:cNvPr id="1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CCF4C608-4868-4F12-9772-C681C77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97214"/>
            <a:ext cx="609108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одређују извор, период посматрања и праг за </a:t>
            </a:r>
          </a:p>
        </p:txBody>
      </p:sp>
      <p:sp>
        <p:nvSpPr>
          <p:cNvPr id="1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BAABC0A-9F19-4D97-86D7-611AFC8D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70475"/>
            <a:ext cx="330279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покретање активности.</a:t>
            </a:r>
          </a:p>
        </p:txBody>
      </p:sp>
      <p:sp>
        <p:nvSpPr>
          <p:cNvPr id="1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BDA9BC2-271F-4493-A003-0BAD143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7841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497900E-914C-4D42-8E63-EEC8785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8316"/>
            <a:ext cx="163963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Понашање</a:t>
            </a:r>
          </a:p>
        </p:txBody>
      </p:sp>
      <p:sp>
        <p:nvSpPr>
          <p:cNvPr id="1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89B6F70-C2E7-416C-AC75-AC0C65B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21137"/>
            <a:ext cx="671125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понашање желимо да разумемо или ограничимо?</a:t>
            </a:r>
          </a:p>
        </p:txBody>
      </p:sp>
      <p:sp>
        <p:nvSpPr>
          <p:cNvPr id="2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EA2317D4-E9FD-43CB-84BD-DBE064B7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24958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B81BA986-1B8D-4EC2-999E-BD77132F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15433"/>
            <a:ext cx="107974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Извор</a:t>
            </a:r>
          </a:p>
        </p:txBody>
      </p:sp>
      <p:sp>
        <p:nvSpPr>
          <p:cNvPr id="22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7690BAA3-EC3E-4B56-AEB6-1D975D85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38254"/>
            <a:ext cx="642952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Који догађаји поуздано представљају то понашање?</a:t>
            </a:r>
          </a:p>
        </p:txBody>
      </p:sp>
      <p:sp>
        <p:nvSpPr>
          <p:cNvPr id="23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DCD8C404-7AE6-49E7-858F-6154250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42074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3748B17-272D-4B09-BD3D-4099739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32549"/>
            <a:ext cx="16027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Активност</a:t>
            </a:r>
          </a:p>
        </p:txBody>
      </p:sp>
      <p:sp>
        <p:nvSpPr>
          <p:cNvPr id="25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F98C0DC-10CD-467E-8642-FCC646A6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55370"/>
            <a:ext cx="635362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 је власник прага и шта ради када се праг пређе?</a:t>
            </a:r>
          </a:p>
        </p:txBody>
      </p:sp>
      <p:sp>
        <p:nvSpPr>
          <p:cNvPr id="26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8A083FEF-8C9D-4979-9669-1775B39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859191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7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4BC9B077-51AE-4B4B-B2F5-E6F89D0D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849666"/>
            <a:ext cx="154930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Тумачење</a:t>
            </a:r>
          </a:p>
        </p:txBody>
      </p:sp>
      <p:sp>
        <p:nvSpPr>
          <p:cNvPr id="28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029D06A-381E-40C4-8F44-B6A275E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272486"/>
            <a:ext cx="73302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разликујемо нормалну промену рада од безбедносног </a:t>
            </a:r>
          </a:p>
        </p:txBody>
      </p:sp>
      <p:sp>
        <p:nvSpPr>
          <p:cNvPr id="29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6171C53C-C3D8-4604-9F26-70E11F9E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619107"/>
            <a:ext cx="172789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одступања?</a:t>
            </a:r>
          </a:p>
        </p:txBody>
      </p:sp>
      <p:sp>
        <p:nvSpPr>
          <p:cNvPr id="30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939825A0-BD16-4EC1-8A05-3268282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10">
            <a:extLst xmlns:a="http://schemas.openxmlformats.org/drawingml/2006/main">
              <a:ext uri="{FF2B5EF4-FFF2-40B4-BE49-F238E27FC236}">
                <a16:creationId xmlns:a16="http://schemas.microsoft.com/office/drawing/2014/main" id="{22870740-C98F-481E-82BF-262C63B3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05057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7BBC4-F0B5-4A13-9050-48F186D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F03D9-8936-44A6-A521-6EFDE83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3279874"/>
          </a:xfrm>
          <a:prstGeom xmlns:a="http://schemas.openxmlformats.org/drawingml/2006/main" prst="roundRect">
            <a:avLst>
              <a:gd name="adj" fmla="val 46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65CEC-BCAD-47BA-B253-E66964CD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3279874"/>
          </a:xfrm>
          <a:prstGeom xmlns:a="http://schemas.openxmlformats.org/drawingml/2006/main" prst="roundRect">
            <a:avLst>
              <a:gd name="adj" fmla="val 46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0CE35-8849-4BE1-8A1D-65105857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3279874"/>
          </a:xfrm>
          <a:prstGeom xmlns:a="http://schemas.openxmlformats.org/drawingml/2006/main" prst="roundRect">
            <a:avLst>
              <a:gd name="adj" fmla="val 464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D6D38-C26A-45CA-8E8D-444C5275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731F3DE0-C4B9-42C9-A78A-96EB0E4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ПРАВИЛА</a:t>
            </a:r>
          </a:p>
        </p:txBody>
      </p:sp>
      <p:sp>
        <p:nvSpPr>
          <p:cNvPr id="7" name="heading-source-11">
            <a:extLst xmlns:a="http://schemas.openxmlformats.org/drawingml/2006/main">
              <a:ext uri="{FF2B5EF4-FFF2-40B4-BE49-F238E27FC236}">
                <a16:creationId xmlns:a16="http://schemas.microsoft.com/office/drawing/2014/main" id="{B164C752-1671-4489-91E3-D289BED4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86700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1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Правило без доказа је само намера</a:t>
            </a:r>
          </a:p>
        </p:txBody>
      </p:sp>
      <p:sp>
        <p:nvSpPr>
          <p:cNvPr id="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3163CBBF-0290-4272-B9DD-65F9491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9548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B0615FC-4997-4E81-A9D0-A2C562A5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C8690AE-4A45-4E7F-993C-4FFCABC8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448463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Нова верзија политике чува </a:t>
            </a:r>
          </a:p>
        </p:txBody>
      </p:sp>
      <p:sp>
        <p:nvSpPr>
          <p:cNvPr id="1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B9EFCF06-2842-4190-B1D3-1670756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435724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разлог и контекст у коме је </a:t>
            </a:r>
          </a:p>
        </p:txBody>
      </p:sp>
      <p:sp>
        <p:nvSpPr>
          <p:cNvPr id="1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4827BCE8-791D-4C7B-A74C-903B3E63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381044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претходна одлука била </a:t>
            </a:r>
          </a:p>
        </p:txBody>
      </p:sp>
      <p:sp>
        <p:nvSpPr>
          <p:cNvPr id="1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A18976B9-3F52-4155-A04C-34C32AE3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05859"/>
            <a:ext cx="183683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исправна.</a:t>
            </a:r>
          </a:p>
        </p:txBody>
      </p:sp>
      <p:sp>
        <p:nvSpPr>
          <p:cNvPr id="1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C66E5C9-1555-4490-BD20-EDB5631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752505"/>
            <a:ext cx="21803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Јасно правило</a:t>
            </a:r>
          </a:p>
        </p:txBody>
      </p:sp>
      <p:sp>
        <p:nvSpPr>
          <p:cNvPr id="1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D255B574-2139-4AEA-9DFB-0039C8F2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1B05820D-537E-4694-9A4B-85AD29C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33313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Конфигурациона вредност </a:t>
            </a:r>
          </a:p>
        </p:txBody>
      </p:sp>
      <p:sp>
        <p:nvSpPr>
          <p:cNvPr id="17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F5E4B241-FBD7-4EA6-993F-2CEDFC9C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408473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има власника, значење и </a:t>
            </a:r>
          </a:p>
        </p:txBody>
      </p:sp>
      <p:sp>
        <p:nvSpPr>
          <p:cNvPr id="18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43F7731C-87BE-4FCE-AC4E-4C7023C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840188"/>
            <a:ext cx="290482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очекивани опсег.</a:t>
            </a:r>
          </a:p>
        </p:txBody>
      </p:sp>
      <p:sp>
        <p:nvSpPr>
          <p:cNvPr id="19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E713FF9F-5B6F-4301-AC98-9F41B819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386834"/>
            <a:ext cx="31011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Проверљива примена</a:t>
            </a:r>
          </a:p>
        </p:txBody>
      </p:sp>
      <p:sp>
        <p:nvSpPr>
          <p:cNvPr id="20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DD6BD51-9561-45B4-818D-DF51D69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1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B1ED87DA-1D56-4EED-96E7-CAE17DB0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47354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Корелациони идентификатор </a:t>
            </a:r>
          </a:p>
        </p:txBody>
      </p:sp>
      <p:sp>
        <p:nvSpPr>
          <p:cNvPr id="22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D1FD7CF-2B09-45A2-A0EC-1E2186D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447764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повезује један безбедносни </a:t>
            </a:r>
          </a:p>
        </p:txBody>
      </p:sp>
      <p:sp>
        <p:nvSpPr>
          <p:cNvPr id="23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54E3C131-3DBC-45C8-BB60-C30477E1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840188"/>
            <a:ext cx="414471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ток кроз слојеве система.</a:t>
            </a:r>
          </a:p>
        </p:txBody>
      </p:sp>
      <p:sp>
        <p:nvSpPr>
          <p:cNvPr id="24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23277E06-AEA8-4B5F-AC6A-C5E037D9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386834"/>
            <a:ext cx="21466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Видљив доказ</a:t>
            </a:r>
          </a:p>
        </p:txBody>
      </p:sp>
      <p:sp>
        <p:nvSpPr>
          <p:cNvPr id="25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F5D935C9-2F16-4F2A-9A8C-C296AD6F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6" name="text-source-11">
            <a:extLst xmlns:a="http://schemas.openxmlformats.org/drawingml/2006/main">
              <a:ext uri="{FF2B5EF4-FFF2-40B4-BE49-F238E27FC236}">
                <a16:creationId xmlns:a16="http://schemas.microsoft.com/office/drawing/2014/main" id="{89B8C8B7-13C9-4220-A6B3-6D33782B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8992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ADFD3-4A35-487A-8980-88BE56E8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D64E9-C5DE-4395-9144-84ECC9BE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5849600" cy="2464743"/>
          </a:xfrm>
          <a:prstGeom xmlns:a="http://schemas.openxmlformats.org/drawingml/2006/main" prst="roundRect">
            <a:avLst>
              <a:gd name="adj" fmla="val 618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D650D-89C3-4499-8A39-9247ADB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da3e39dbe4ef3"/>
          <a:stretch xmlns:a="http://schemas.openxmlformats.org/drawingml/2006/main"/>
        </p:blipFill>
        <p:spPr>
          <a:xfrm xmlns:a="http://schemas.openxmlformats.org/drawingml/2006/main">
            <a:off x="1219200" y="5791200"/>
            <a:ext cx="1584960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text-case">
            <a:extLst xmlns:a="http://schemas.openxmlformats.org/drawingml/2006/main">
              <a:ext uri="{FF2B5EF4-FFF2-40B4-BE49-F238E27FC236}">
                <a16:creationId xmlns:a16="http://schemas.microsoft.com/office/drawing/2014/main" id="{1810B16D-8B8E-4B61-8C25-0D1BE4D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СЛУЧАЈ</a:t>
            </a:r>
          </a:p>
        </p:txBody>
      </p:sp>
      <p:sp>
        <p:nvSpPr>
          <p:cNvPr id="6" name="heading-case">
            <a:extLst xmlns:a="http://schemas.openxmlformats.org/drawingml/2006/main">
              <a:ext uri="{FF2B5EF4-FFF2-40B4-BE49-F238E27FC236}">
                <a16:creationId xmlns:a16="http://schemas.microsoft.com/office/drawing/2014/main" id="{E6332727-3059-4CD9-B53C-DAB8229F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8117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11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Случај: промена правила без губитка историје</a:t>
            </a:r>
          </a:p>
        </p:txBody>
      </p:sp>
      <p:sp>
        <p:nvSpPr>
          <p:cNvPr id="7" name="text-case">
            <a:extLst xmlns:a="http://schemas.openxmlformats.org/drawingml/2006/main">
              <a:ext uri="{FF2B5EF4-FFF2-40B4-BE49-F238E27FC236}">
                <a16:creationId xmlns:a16="http://schemas.microsoft.com/office/drawing/2014/main" id="{0DE945C1-549B-4494-90DB-E2C375E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6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8" name="text-case">
            <a:extLst xmlns:a="http://schemas.openxmlformats.org/drawingml/2006/main">
              <a:ext uri="{FF2B5EF4-FFF2-40B4-BE49-F238E27FC236}">
                <a16:creationId xmlns:a16="http://schemas.microsoft.com/office/drawing/2014/main" id="{A6853A70-F382-4B54-AF9E-FF65978C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СЦЕНАРИО</a:t>
            </a:r>
          </a:p>
        </p:txBody>
      </p:sp>
      <p:sp>
        <p:nvSpPr>
          <p:cNvPr id="9" name="text-case">
            <a:extLst xmlns:a="http://schemas.openxmlformats.org/drawingml/2006/main">
              <a:ext uri="{FF2B5EF4-FFF2-40B4-BE49-F238E27FC236}">
                <a16:creationId xmlns:a16="http://schemas.microsoft.com/office/drawing/2014/main" id="{82702996-5897-4CEA-92F8-4BF052F2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3097"/>
            <a:ext cx="740583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Пример: промена правила без губитка историје</a:t>
            </a:r>
          </a:p>
        </p:txBody>
      </p:sp>
      <p:sp>
        <p:nvSpPr>
          <p:cNvPr id="10" name="text-case">
            <a:extLst xmlns:a="http://schemas.openxmlformats.org/drawingml/2006/main">
              <a:ext uri="{FF2B5EF4-FFF2-40B4-BE49-F238E27FC236}">
                <a16:creationId xmlns:a16="http://schemas.microsoft.com/office/drawing/2014/main" id="{50AEC2D5-8877-44FF-BFC8-919BB02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1168"/>
            <a:ext cx="1510248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пооштрава правило за приступ административном интерфејсу. Ако старо правило само препише новим, касније не може да објасни </a:t>
            </a:r>
          </a:p>
        </p:txBody>
      </p:sp>
      <p:sp>
        <p:nvSpPr>
          <p:cNvPr id="11" name="text-case">
            <a:extLst xmlns:a="http://schemas.openxmlformats.org/drawingml/2006/main">
              <a:ext uri="{FF2B5EF4-FFF2-40B4-BE49-F238E27FC236}">
                <a16:creationId xmlns:a16="http://schemas.microsoft.com/office/drawing/2014/main" id="{D2EB8A3D-F8D5-4B29-9849-A8096FD1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1148"/>
            <a:ext cx="151937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зашто је ранији приступ био дозвољен нити да реконструише које је очекивање тада важило. Верзионисање очувава смисао историјских </a:t>
            </a:r>
          </a:p>
        </p:txBody>
      </p:sp>
      <p:sp>
        <p:nvSpPr>
          <p:cNvPr id="12" name="text-case">
            <a:extLst xmlns:a="http://schemas.openxmlformats.org/drawingml/2006/main">
              <a:ext uri="{FF2B5EF4-FFF2-40B4-BE49-F238E27FC236}">
                <a16:creationId xmlns:a16="http://schemas.microsoft.com/office/drawing/2014/main" id="{3D0B32A9-FF27-4385-B79F-FF033BB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1129"/>
            <a:ext cx="62095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одлука и омогућава њихову накнадну реконструкцију.</a:t>
            </a:r>
          </a:p>
        </p:txBody>
      </p:sp>
      <p:sp>
        <p:nvSpPr>
          <p:cNvPr id="13" name="text-case">
            <a:extLst xmlns:a="http://schemas.openxmlformats.org/drawingml/2006/main">
              <a:ext uri="{FF2B5EF4-FFF2-40B4-BE49-F238E27FC236}">
                <a16:creationId xmlns:a16="http://schemas.microsoft.com/office/drawing/2014/main" id="{3B050848-14AE-49E2-9003-20718476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846" y="6191250"/>
            <a:ext cx="296421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Објављена верзија</a:t>
            </a:r>
          </a:p>
        </p:txBody>
      </p:sp>
      <p:sp>
        <p:nvSpPr>
          <p:cNvPr id="14" name="text-case">
            <a:extLst xmlns:a="http://schemas.openxmlformats.org/drawingml/2006/main">
              <a:ext uri="{FF2B5EF4-FFF2-40B4-BE49-F238E27FC236}">
                <a16:creationId xmlns:a16="http://schemas.microsoft.com/office/drawing/2014/main" id="{BAE1D456-0F78-4B7E-A9DC-974FAEA8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134" y="6657975"/>
            <a:ext cx="235163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чува своје важење</a:t>
            </a:r>
          </a:p>
        </p:txBody>
      </p:sp>
      <p:sp>
        <p:nvSpPr>
          <p:cNvPr id="15" name="text-case">
            <a:extLst xmlns:a="http://schemas.openxmlformats.org/drawingml/2006/main">
              <a:ext uri="{FF2B5EF4-FFF2-40B4-BE49-F238E27FC236}">
                <a16:creationId xmlns:a16="http://schemas.microsoft.com/office/drawing/2014/main" id="{22E647E8-6BA2-40FF-BEBE-AFFAF57D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102" y="6191250"/>
            <a:ext cx="212749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Нова намера</a:t>
            </a:r>
          </a:p>
        </p:txBody>
      </p:sp>
      <p:sp>
        <p:nvSpPr>
          <p:cNvPr id="16" name="text-case">
            <a:extLst xmlns:a="http://schemas.openxmlformats.org/drawingml/2006/main">
              <a:ext uri="{FF2B5EF4-FFF2-40B4-BE49-F238E27FC236}">
                <a16:creationId xmlns:a16="http://schemas.microsoft.com/office/drawing/2014/main" id="{BD0BDEC3-CEC0-45B7-892F-D16BC8F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0370" y="6657975"/>
            <a:ext cx="269096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нова верзија + разлог</a:t>
            </a:r>
          </a:p>
        </p:txBody>
      </p:sp>
      <p:sp>
        <p:nvSpPr>
          <p:cNvPr id="17" name="text-case">
            <a:extLst xmlns:a="http://schemas.openxmlformats.org/drawingml/2006/main">
              <a:ext uri="{FF2B5EF4-FFF2-40B4-BE49-F238E27FC236}">
                <a16:creationId xmlns:a16="http://schemas.microsoft.com/office/drawing/2014/main" id="{537843D7-F00B-4843-A0CF-E186EC5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709" y="6191250"/>
            <a:ext cx="2942183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Историјска одлука</a:t>
            </a:r>
          </a:p>
        </p:txBody>
      </p:sp>
      <p:sp>
        <p:nvSpPr>
          <p:cNvPr id="18" name="text-case">
            <a:extLst xmlns:a="http://schemas.openxmlformats.org/drawingml/2006/main">
              <a:ext uri="{FF2B5EF4-FFF2-40B4-BE49-F238E27FC236}">
                <a16:creationId xmlns:a16="http://schemas.microsoft.com/office/drawing/2014/main" id="{288E1C2F-A5D4-4717-B4E3-DAB1268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989" y="6657975"/>
            <a:ext cx="31277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реконструише се из трага</a:t>
            </a:r>
          </a:p>
        </p:txBody>
      </p:sp>
      <p:sp>
        <p:nvSpPr>
          <p:cNvPr id="19" name="text-case">
            <a:extLst xmlns:a="http://schemas.openxmlformats.org/drawingml/2006/main">
              <a:ext uri="{FF2B5EF4-FFF2-40B4-BE49-F238E27FC236}">
                <a16:creationId xmlns:a16="http://schemas.microsoft.com/office/drawing/2014/main" id="{2A0023C9-9C21-4C95-81E8-4B21ABC1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case">
            <a:extLst xmlns:a="http://schemas.openxmlformats.org/drawingml/2006/main">
              <a:ext uri="{FF2B5EF4-FFF2-40B4-BE49-F238E27FC236}">
                <a16:creationId xmlns:a16="http://schemas.microsoft.com/office/drawing/2014/main" id="{ED9B36A6-1D80-4DC9-845B-E3DAF9D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560586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22710-5187-4B4B-82C2-05E5AA1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C48CD-C0A8-4C24-ACF6-5C1D3889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7752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BEF7D-53C6-4CEE-85FE-B5469713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01158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0891D-9686-473B-88F4-0D9C96E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440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531C7-B8A7-4727-8BB2-9ADEC73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E1875F99-36B3-4BE3-BC31-D2E95706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46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АНАЛИЗА СЛУЧАЈА</a:t>
            </a:r>
          </a:p>
        </p:txBody>
      </p:sp>
      <p:sp>
        <p:nvSpPr>
          <p:cNvPr id="7" name="heading-case-analysis">
            <a:extLst xmlns:a="http://schemas.openxmlformats.org/drawingml/2006/main">
              <a:ext uri="{FF2B5EF4-FFF2-40B4-BE49-F238E27FC236}">
                <a16:creationId xmlns:a16="http://schemas.microsoft.com/office/drawing/2014/main" id="{A2DD23A1-3B6C-4FB6-AEA8-0F8DA538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40489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41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Три питања за серверску границу</a:t>
            </a:r>
          </a:p>
        </p:txBody>
      </p:sp>
      <p:sp>
        <p:nvSpPr>
          <p:cNvPr id="8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7E8969E1-9D3C-4C49-B61D-34C58BE8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2978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9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543E57D0-71F2-44D7-8E99-95C193AF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0255"/>
            <a:ext cx="15254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Контекст</a:t>
            </a:r>
          </a:p>
        </p:txBody>
      </p:sp>
      <p:sp>
        <p:nvSpPr>
          <p:cNvPr id="10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0CF1FA87-0664-4B9E-9673-DF94800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0255"/>
            <a:ext cx="106306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 описује намеру и важење, док конфигурација чува вредности којима се </a:t>
            </a:r>
          </a:p>
        </p:txBody>
      </p:sp>
      <p:sp>
        <p:nvSpPr>
          <p:cNvPr id="11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DEC36CCA-2C86-4630-A94D-357FEE7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3516"/>
            <a:ext cx="463063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 намера примењује у окружењу.</a:t>
            </a:r>
          </a:p>
        </p:txBody>
      </p:sp>
      <p:sp>
        <p:nvSpPr>
          <p:cNvPr id="12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560A2134-CE96-4C81-AA29-034ED99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43027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3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D9791182-7B6B-4B9B-BBC5-88674F0A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502"/>
            <a:ext cx="13927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Обухват</a:t>
            </a:r>
          </a:p>
        </p:txBody>
      </p:sp>
      <p:sp>
        <p:nvSpPr>
          <p:cNvPr id="14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F8ACD2B7-0EB1-4739-84F8-C62398C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502"/>
            <a:ext cx="9439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Свака промена која утиче на одлуку има власника, датум и јасан разлог.</a:t>
            </a:r>
          </a:p>
        </p:txBody>
      </p:sp>
      <p:sp>
        <p:nvSpPr>
          <p:cNvPr id="15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F2A12FCF-DFD8-4C95-908E-C0216EF8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6433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6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23B20393-09F2-41B9-97CA-7F8CC8E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86908"/>
            <a:ext cx="114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17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D04DE8BB-325D-4A08-9293-89022C74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86908"/>
            <a:ext cx="103117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Лог, метрика или тест дају доказ да систем ради према активном правилу, а не </a:t>
            </a:r>
          </a:p>
        </p:txBody>
      </p:sp>
      <p:sp>
        <p:nvSpPr>
          <p:cNvPr id="18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188F63CB-4C81-418D-A149-0A323A6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60169"/>
            <a:ext cx="401627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само да је правило записано.</a:t>
            </a:r>
          </a:p>
        </p:txBody>
      </p:sp>
      <p:sp>
        <p:nvSpPr>
          <p:cNvPr id="19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515B26A0-B680-4E78-83BC-1E20AFF4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0" name="text-case-analysis">
            <a:extLst xmlns:a="http://schemas.openxmlformats.org/drawingml/2006/main">
              <a:ext uri="{FF2B5EF4-FFF2-40B4-BE49-F238E27FC236}">
                <a16:creationId xmlns:a16="http://schemas.microsoft.com/office/drawing/2014/main" id="{95D9094F-17A1-4B42-AF41-C482202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840265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08E3F-B32F-4875-8F0B-0F83E08C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B71F8-E30F-4505-9E20-350BE8D3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5849600" cy="1097161"/>
          </a:xfrm>
          <a:prstGeom xmlns:a="http://schemas.openxmlformats.org/drawingml/2006/main" prst="roundRect">
            <a:avLst>
              <a:gd name="adj" fmla="val 10418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7FCD505-5C9A-4480-9204-2EA592DC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14300" cy="1097161"/>
          </a:xfrm>
          <a:custGeom xmlns:a="http://schemas.openxmlformats.org/drawingml/2006/main">
            <a:pathLst>
              <a:path w="114300" h="10971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82861"/>
                </a:lnTo>
                <a:lnTo>
                  <a:pt x="61" y="986601"/>
                </a:lnTo>
                <a:lnTo>
                  <a:pt x="245" y="990337"/>
                </a:lnTo>
                <a:lnTo>
                  <a:pt x="550" y="994064"/>
                </a:lnTo>
                <a:lnTo>
                  <a:pt x="978" y="997780"/>
                </a:lnTo>
                <a:lnTo>
                  <a:pt x="1527" y="1001480"/>
                </a:lnTo>
                <a:lnTo>
                  <a:pt x="2196" y="1005160"/>
                </a:lnTo>
                <a:lnTo>
                  <a:pt x="2986" y="1008816"/>
                </a:lnTo>
                <a:lnTo>
                  <a:pt x="3895" y="1012444"/>
                </a:lnTo>
                <a:lnTo>
                  <a:pt x="4922" y="1016040"/>
                </a:lnTo>
                <a:lnTo>
                  <a:pt x="6066" y="1019601"/>
                </a:lnTo>
                <a:lnTo>
                  <a:pt x="7326" y="1023123"/>
                </a:lnTo>
                <a:lnTo>
                  <a:pt x="8701" y="1026602"/>
                </a:lnTo>
                <a:lnTo>
                  <a:pt x="10188" y="1030033"/>
                </a:lnTo>
                <a:lnTo>
                  <a:pt x="11787" y="1033415"/>
                </a:lnTo>
                <a:lnTo>
                  <a:pt x="13496" y="1036742"/>
                </a:lnTo>
                <a:lnTo>
                  <a:pt x="15313" y="1040011"/>
                </a:lnTo>
                <a:lnTo>
                  <a:pt x="17236" y="1043219"/>
                </a:lnTo>
                <a:lnTo>
                  <a:pt x="19263" y="1046363"/>
                </a:lnTo>
                <a:lnTo>
                  <a:pt x="21392" y="1049438"/>
                </a:lnTo>
                <a:lnTo>
                  <a:pt x="23620" y="1052442"/>
                </a:lnTo>
                <a:lnTo>
                  <a:pt x="25945" y="1055372"/>
                </a:lnTo>
                <a:lnTo>
                  <a:pt x="28365" y="1058224"/>
                </a:lnTo>
                <a:lnTo>
                  <a:pt x="30877" y="1060996"/>
                </a:lnTo>
                <a:lnTo>
                  <a:pt x="33478" y="1063683"/>
                </a:lnTo>
                <a:lnTo>
                  <a:pt x="36165" y="1066284"/>
                </a:lnTo>
                <a:lnTo>
                  <a:pt x="38937" y="1068796"/>
                </a:lnTo>
                <a:lnTo>
                  <a:pt x="41789" y="1071216"/>
                </a:lnTo>
                <a:lnTo>
                  <a:pt x="44719" y="1073541"/>
                </a:lnTo>
                <a:lnTo>
                  <a:pt x="47723" y="1075769"/>
                </a:lnTo>
                <a:lnTo>
                  <a:pt x="50798" y="1077898"/>
                </a:lnTo>
                <a:lnTo>
                  <a:pt x="53942" y="1079925"/>
                </a:lnTo>
                <a:lnTo>
                  <a:pt x="57150" y="1081848"/>
                </a:lnTo>
                <a:lnTo>
                  <a:pt x="60419" y="1083665"/>
                </a:lnTo>
                <a:lnTo>
                  <a:pt x="63746" y="1085373"/>
                </a:lnTo>
                <a:lnTo>
                  <a:pt x="67128" y="1086973"/>
                </a:lnTo>
                <a:lnTo>
                  <a:pt x="70559" y="1088460"/>
                </a:lnTo>
                <a:lnTo>
                  <a:pt x="74038" y="1089835"/>
                </a:lnTo>
                <a:lnTo>
                  <a:pt x="77559" y="1091095"/>
                </a:lnTo>
                <a:lnTo>
                  <a:pt x="81120" y="1092239"/>
                </a:lnTo>
                <a:lnTo>
                  <a:pt x="84717" y="1093266"/>
                </a:lnTo>
                <a:lnTo>
                  <a:pt x="88345" y="1094175"/>
                </a:lnTo>
                <a:lnTo>
                  <a:pt x="92001" y="1094965"/>
                </a:lnTo>
                <a:lnTo>
                  <a:pt x="95681" y="1095634"/>
                </a:lnTo>
                <a:lnTo>
                  <a:pt x="99381" y="1096183"/>
                </a:lnTo>
                <a:lnTo>
                  <a:pt x="103097" y="1096611"/>
                </a:lnTo>
                <a:lnTo>
                  <a:pt x="106824" y="1096916"/>
                </a:lnTo>
                <a:lnTo>
                  <a:pt x="110560" y="1097100"/>
                </a:lnTo>
                <a:lnTo>
                  <a:pt x="114300" y="1097161"/>
                </a:lnTo>
                <a:lnTo>
                  <a:pt x="114300" y="1097161"/>
                </a:lnTo>
                <a:lnTo>
                  <a:pt x="112430" y="1097100"/>
                </a:lnTo>
                <a:lnTo>
                  <a:pt x="110562" y="1096916"/>
                </a:lnTo>
                <a:lnTo>
                  <a:pt x="108698" y="1096611"/>
                </a:lnTo>
                <a:lnTo>
                  <a:pt x="106840" y="1096183"/>
                </a:lnTo>
                <a:lnTo>
                  <a:pt x="104991" y="1095634"/>
                </a:lnTo>
                <a:lnTo>
                  <a:pt x="103151" y="1094965"/>
                </a:lnTo>
                <a:lnTo>
                  <a:pt x="101323" y="1094175"/>
                </a:lnTo>
                <a:lnTo>
                  <a:pt x="99508" y="1093266"/>
                </a:lnTo>
                <a:lnTo>
                  <a:pt x="97710" y="1092239"/>
                </a:lnTo>
                <a:lnTo>
                  <a:pt x="95930" y="1091095"/>
                </a:lnTo>
                <a:lnTo>
                  <a:pt x="94169" y="1089835"/>
                </a:lnTo>
                <a:lnTo>
                  <a:pt x="92430" y="1088460"/>
                </a:lnTo>
                <a:lnTo>
                  <a:pt x="90714" y="1086973"/>
                </a:lnTo>
                <a:lnTo>
                  <a:pt x="89023" y="1085373"/>
                </a:lnTo>
                <a:lnTo>
                  <a:pt x="87360" y="1083665"/>
                </a:lnTo>
                <a:lnTo>
                  <a:pt x="85725" y="1081848"/>
                </a:lnTo>
                <a:lnTo>
                  <a:pt x="84121" y="1079925"/>
                </a:lnTo>
                <a:lnTo>
                  <a:pt x="82549" y="1077898"/>
                </a:lnTo>
                <a:lnTo>
                  <a:pt x="81011" y="1075769"/>
                </a:lnTo>
                <a:lnTo>
                  <a:pt x="79509" y="1073541"/>
                </a:lnTo>
                <a:lnTo>
                  <a:pt x="78044" y="1071216"/>
                </a:lnTo>
                <a:lnTo>
                  <a:pt x="76618" y="1068796"/>
                </a:lnTo>
                <a:lnTo>
                  <a:pt x="75233" y="1066284"/>
                </a:lnTo>
                <a:lnTo>
                  <a:pt x="73889" y="1063683"/>
                </a:lnTo>
                <a:lnTo>
                  <a:pt x="72588" y="1060996"/>
                </a:lnTo>
                <a:lnTo>
                  <a:pt x="71332" y="1058224"/>
                </a:lnTo>
                <a:lnTo>
                  <a:pt x="70122" y="1055372"/>
                </a:lnTo>
                <a:lnTo>
                  <a:pt x="68960" y="1052442"/>
                </a:lnTo>
                <a:lnTo>
                  <a:pt x="67846" y="1049438"/>
                </a:lnTo>
                <a:lnTo>
                  <a:pt x="66782" y="1046363"/>
                </a:lnTo>
                <a:lnTo>
                  <a:pt x="65768" y="1043219"/>
                </a:lnTo>
                <a:lnTo>
                  <a:pt x="64807" y="1040011"/>
                </a:lnTo>
                <a:lnTo>
                  <a:pt x="63898" y="1036742"/>
                </a:lnTo>
                <a:lnTo>
                  <a:pt x="63044" y="1033415"/>
                </a:lnTo>
                <a:lnTo>
                  <a:pt x="62244" y="1030033"/>
                </a:lnTo>
                <a:lnTo>
                  <a:pt x="61500" y="1026602"/>
                </a:lnTo>
                <a:lnTo>
                  <a:pt x="60813" y="1023123"/>
                </a:lnTo>
                <a:lnTo>
                  <a:pt x="60183" y="1019601"/>
                </a:lnTo>
                <a:lnTo>
                  <a:pt x="59611" y="1016040"/>
                </a:lnTo>
                <a:lnTo>
                  <a:pt x="59097" y="1012444"/>
                </a:lnTo>
                <a:lnTo>
                  <a:pt x="58643" y="1008816"/>
                </a:lnTo>
                <a:lnTo>
                  <a:pt x="58248" y="1005160"/>
                </a:lnTo>
                <a:lnTo>
                  <a:pt x="57913" y="1001480"/>
                </a:lnTo>
                <a:lnTo>
                  <a:pt x="57639" y="997780"/>
                </a:lnTo>
                <a:lnTo>
                  <a:pt x="57425" y="994064"/>
                </a:lnTo>
                <a:lnTo>
                  <a:pt x="57272" y="990337"/>
                </a:lnTo>
                <a:lnTo>
                  <a:pt x="57181" y="986601"/>
                </a:lnTo>
                <a:lnTo>
                  <a:pt x="57150" y="9828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9BDEC-C000-4573-A50C-CF5E2EF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bb0e832dd4da4"/>
          <a:stretch xmlns:a="http://schemas.openxmlformats.org/drawingml/2006/main"/>
        </p:blipFill>
        <p:spPr>
          <a:xfrm xmlns:a="http://schemas.openxmlformats.org/drawingml/2006/main">
            <a:off x="1219200" y="3352800"/>
            <a:ext cx="158496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0735EB8E-9E63-41D8-95CD-A85542C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99858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ВЕРЗИОНИСАЊЕ</a:t>
            </a:r>
          </a:p>
        </p:txBody>
      </p:sp>
      <p:sp>
        <p:nvSpPr>
          <p:cNvPr id="7" name="heading-policy-timeline">
            <a:extLst xmlns:a="http://schemas.openxmlformats.org/drawingml/2006/main">
              <a:ext uri="{FF2B5EF4-FFF2-40B4-BE49-F238E27FC236}">
                <a16:creationId xmlns:a16="http://schemas.microsoft.com/office/drawing/2014/main" id="{C041051A-1C9F-470C-BB6B-FE65F8D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39296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84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Верзија објашњава одлуку у времену</a:t>
            </a:r>
          </a:p>
        </p:txBody>
      </p:sp>
      <p:sp>
        <p:nvSpPr>
          <p:cNvPr id="8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2FAB5E92-FF99-41E6-B972-A0A665B3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64942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Измена намере ствара нову верзију, а претходна задржава своје важење.</a:t>
            </a:r>
          </a:p>
        </p:txBody>
      </p:sp>
      <p:sp>
        <p:nvSpPr>
          <p:cNvPr id="9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FEDB64D2-24FF-4C6D-8F9C-5BDAD55D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702" y="3829050"/>
            <a:ext cx="165794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Верзија n</a:t>
            </a:r>
          </a:p>
        </p:txBody>
      </p:sp>
      <p:sp>
        <p:nvSpPr>
          <p:cNvPr id="10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98DA2F3C-18CC-4896-8D3B-7781CF8D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073" y="4295775"/>
            <a:ext cx="314905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важила у тренутку одлуке</a:t>
            </a:r>
          </a:p>
        </p:txBody>
      </p:sp>
      <p:sp>
        <p:nvSpPr>
          <p:cNvPr id="11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64BC73FB-639D-40DD-BF11-BC99B0E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884" y="3829050"/>
            <a:ext cx="286613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Нова верзија n + 1</a:t>
            </a:r>
          </a:p>
        </p:txBody>
      </p:sp>
      <p:sp>
        <p:nvSpPr>
          <p:cNvPr id="12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0DD065CC-8A34-4F72-ABE3-C7C1027A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70" y="4295775"/>
            <a:ext cx="28625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разлог + датум важења</a:t>
            </a:r>
          </a:p>
        </p:txBody>
      </p:sp>
      <p:sp>
        <p:nvSpPr>
          <p:cNvPr id="13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828FE761-2B6B-4FC1-8A95-9C522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520" y="3829050"/>
            <a:ext cx="2633811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Каснији преглед</a:t>
            </a:r>
          </a:p>
        </p:txBody>
      </p:sp>
      <p:sp>
        <p:nvSpPr>
          <p:cNvPr id="14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8F40BCCE-380F-4DAE-8E85-8FF0A7E8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759" y="4295775"/>
            <a:ext cx="346948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користи историјски контекст</a:t>
            </a:r>
          </a:p>
        </p:txBody>
      </p:sp>
      <p:sp>
        <p:nvSpPr>
          <p:cNvPr id="15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1AD62EF1-5886-4A23-9320-3F82F92A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613" y="6724650"/>
            <a:ext cx="7032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Историја се чува, објављена верзија се не преписује</a:t>
            </a:r>
          </a:p>
        </p:txBody>
      </p:sp>
      <p:sp>
        <p:nvSpPr>
          <p:cNvPr id="16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BF309267-BB63-4545-81BD-C1BEC3F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247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17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E34CF8D4-9D01-467D-A6F6-3EA297A9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20930"/>
            <a:ext cx="1113174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 треба да повеже одлуку са политиком и верзијом која је важила у тренутку њеног доношења.</a:t>
            </a:r>
          </a:p>
        </p:txBody>
      </p:sp>
      <p:sp>
        <p:nvSpPr>
          <p:cNvPr id="18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8A3A83C7-30A5-4D97-88B7-F61BA57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9" name="text-policy-timeline">
            <a:extLst xmlns:a="http://schemas.openxmlformats.org/drawingml/2006/main">
              <a:ext uri="{FF2B5EF4-FFF2-40B4-BE49-F238E27FC236}">
                <a16:creationId xmlns:a16="http://schemas.microsoft.com/office/drawing/2014/main" id="{6F9BA4E8-4DCF-42CC-B9BC-28DFDC4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132887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BB832-A738-49A3-AADE-A2629891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F9626-6406-45F3-AD19-05CB2E7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53609"/>
            <a:ext cx="15849600" cy="1150441"/>
          </a:xfrm>
          <a:prstGeom xmlns:a="http://schemas.openxmlformats.org/drawingml/2006/main" prst="roundRect">
            <a:avLst>
              <a:gd name="adj" fmla="val 99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A0FF0372-A363-4F43-99A5-A11555A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53609"/>
            <a:ext cx="114300" cy="1150441"/>
          </a:xfrm>
          <a:custGeom xmlns:a="http://schemas.openxmlformats.org/drawingml/2006/main">
            <a:pathLst>
              <a:path w="114300" h="115044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036141"/>
                </a:lnTo>
                <a:lnTo>
                  <a:pt x="61" y="1039881"/>
                </a:lnTo>
                <a:lnTo>
                  <a:pt x="245" y="1043617"/>
                </a:lnTo>
                <a:lnTo>
                  <a:pt x="550" y="1047345"/>
                </a:lnTo>
                <a:lnTo>
                  <a:pt x="978" y="1051061"/>
                </a:lnTo>
                <a:lnTo>
                  <a:pt x="1527" y="1054760"/>
                </a:lnTo>
                <a:lnTo>
                  <a:pt x="2196" y="1058440"/>
                </a:lnTo>
                <a:lnTo>
                  <a:pt x="2986" y="1062096"/>
                </a:lnTo>
                <a:lnTo>
                  <a:pt x="3895" y="1065724"/>
                </a:lnTo>
                <a:lnTo>
                  <a:pt x="4922" y="1069321"/>
                </a:lnTo>
                <a:lnTo>
                  <a:pt x="6066" y="1072882"/>
                </a:lnTo>
                <a:lnTo>
                  <a:pt x="7326" y="1076404"/>
                </a:lnTo>
                <a:lnTo>
                  <a:pt x="8701" y="1079882"/>
                </a:lnTo>
                <a:lnTo>
                  <a:pt x="10188" y="1083314"/>
                </a:lnTo>
                <a:lnTo>
                  <a:pt x="11787" y="1086695"/>
                </a:lnTo>
                <a:lnTo>
                  <a:pt x="13496" y="1090022"/>
                </a:lnTo>
                <a:lnTo>
                  <a:pt x="15313" y="1093291"/>
                </a:lnTo>
                <a:lnTo>
                  <a:pt x="17236" y="1096500"/>
                </a:lnTo>
                <a:lnTo>
                  <a:pt x="19263" y="1099643"/>
                </a:lnTo>
                <a:lnTo>
                  <a:pt x="21392" y="1102719"/>
                </a:lnTo>
                <a:lnTo>
                  <a:pt x="23620" y="1105723"/>
                </a:lnTo>
                <a:lnTo>
                  <a:pt x="25945" y="1108653"/>
                </a:lnTo>
                <a:lnTo>
                  <a:pt x="28365" y="1111505"/>
                </a:lnTo>
                <a:lnTo>
                  <a:pt x="30877" y="1114276"/>
                </a:lnTo>
                <a:lnTo>
                  <a:pt x="33478" y="1116964"/>
                </a:lnTo>
                <a:lnTo>
                  <a:pt x="36165" y="1119565"/>
                </a:lnTo>
                <a:lnTo>
                  <a:pt x="38937" y="1122077"/>
                </a:lnTo>
                <a:lnTo>
                  <a:pt x="41789" y="1124497"/>
                </a:lnTo>
                <a:lnTo>
                  <a:pt x="44719" y="1126822"/>
                </a:lnTo>
                <a:lnTo>
                  <a:pt x="47723" y="1129050"/>
                </a:lnTo>
                <a:lnTo>
                  <a:pt x="50798" y="1131178"/>
                </a:lnTo>
                <a:lnTo>
                  <a:pt x="53942" y="1133205"/>
                </a:lnTo>
                <a:lnTo>
                  <a:pt x="57150" y="1135128"/>
                </a:lnTo>
                <a:lnTo>
                  <a:pt x="60419" y="1136945"/>
                </a:lnTo>
                <a:lnTo>
                  <a:pt x="63746" y="1138654"/>
                </a:lnTo>
                <a:lnTo>
                  <a:pt x="67128" y="1140253"/>
                </a:lnTo>
                <a:lnTo>
                  <a:pt x="70559" y="1141741"/>
                </a:lnTo>
                <a:lnTo>
                  <a:pt x="74038" y="1143115"/>
                </a:lnTo>
                <a:lnTo>
                  <a:pt x="77559" y="1144376"/>
                </a:lnTo>
                <a:lnTo>
                  <a:pt x="81120" y="1145520"/>
                </a:lnTo>
                <a:lnTo>
                  <a:pt x="84717" y="1146547"/>
                </a:lnTo>
                <a:lnTo>
                  <a:pt x="88345" y="1147456"/>
                </a:lnTo>
                <a:lnTo>
                  <a:pt x="92001" y="1148245"/>
                </a:lnTo>
                <a:lnTo>
                  <a:pt x="95681" y="1148915"/>
                </a:lnTo>
                <a:lnTo>
                  <a:pt x="99381" y="1149464"/>
                </a:lnTo>
                <a:lnTo>
                  <a:pt x="103097" y="1149891"/>
                </a:lnTo>
                <a:lnTo>
                  <a:pt x="106824" y="1150197"/>
                </a:lnTo>
                <a:lnTo>
                  <a:pt x="110560" y="1150380"/>
                </a:lnTo>
                <a:lnTo>
                  <a:pt x="114300" y="1150441"/>
                </a:lnTo>
                <a:lnTo>
                  <a:pt x="114300" y="1150441"/>
                </a:lnTo>
                <a:lnTo>
                  <a:pt x="112430" y="1150380"/>
                </a:lnTo>
                <a:lnTo>
                  <a:pt x="110562" y="1150197"/>
                </a:lnTo>
                <a:lnTo>
                  <a:pt x="108698" y="1149891"/>
                </a:lnTo>
                <a:lnTo>
                  <a:pt x="106840" y="1149464"/>
                </a:lnTo>
                <a:lnTo>
                  <a:pt x="104991" y="1148915"/>
                </a:lnTo>
                <a:lnTo>
                  <a:pt x="103151" y="1148245"/>
                </a:lnTo>
                <a:lnTo>
                  <a:pt x="101323" y="1147456"/>
                </a:lnTo>
                <a:lnTo>
                  <a:pt x="99508" y="1146547"/>
                </a:lnTo>
                <a:lnTo>
                  <a:pt x="97710" y="1145520"/>
                </a:lnTo>
                <a:lnTo>
                  <a:pt x="95930" y="1144376"/>
                </a:lnTo>
                <a:lnTo>
                  <a:pt x="94169" y="1143115"/>
                </a:lnTo>
                <a:lnTo>
                  <a:pt x="92430" y="1141741"/>
                </a:lnTo>
                <a:lnTo>
                  <a:pt x="90714" y="1140253"/>
                </a:lnTo>
                <a:lnTo>
                  <a:pt x="89023" y="1138654"/>
                </a:lnTo>
                <a:lnTo>
                  <a:pt x="87360" y="1136945"/>
                </a:lnTo>
                <a:lnTo>
                  <a:pt x="85725" y="1135128"/>
                </a:lnTo>
                <a:lnTo>
                  <a:pt x="84121" y="1133205"/>
                </a:lnTo>
                <a:lnTo>
                  <a:pt x="82549" y="1131178"/>
                </a:lnTo>
                <a:lnTo>
                  <a:pt x="81011" y="1129050"/>
                </a:lnTo>
                <a:lnTo>
                  <a:pt x="79509" y="1126822"/>
                </a:lnTo>
                <a:lnTo>
                  <a:pt x="78044" y="1124497"/>
                </a:lnTo>
                <a:lnTo>
                  <a:pt x="76618" y="1122077"/>
                </a:lnTo>
                <a:lnTo>
                  <a:pt x="75233" y="1119565"/>
                </a:lnTo>
                <a:lnTo>
                  <a:pt x="73889" y="1116964"/>
                </a:lnTo>
                <a:lnTo>
                  <a:pt x="72588" y="1114276"/>
                </a:lnTo>
                <a:lnTo>
                  <a:pt x="71332" y="1111505"/>
                </a:lnTo>
                <a:lnTo>
                  <a:pt x="70122" y="1108653"/>
                </a:lnTo>
                <a:lnTo>
                  <a:pt x="68960" y="1105723"/>
                </a:lnTo>
                <a:lnTo>
                  <a:pt x="67846" y="1102719"/>
                </a:lnTo>
                <a:lnTo>
                  <a:pt x="66782" y="1099643"/>
                </a:lnTo>
                <a:lnTo>
                  <a:pt x="65768" y="1096500"/>
                </a:lnTo>
                <a:lnTo>
                  <a:pt x="64807" y="1093291"/>
                </a:lnTo>
                <a:lnTo>
                  <a:pt x="63898" y="1090022"/>
                </a:lnTo>
                <a:lnTo>
                  <a:pt x="63044" y="1086695"/>
                </a:lnTo>
                <a:lnTo>
                  <a:pt x="62244" y="1083314"/>
                </a:lnTo>
                <a:lnTo>
                  <a:pt x="61500" y="1079882"/>
                </a:lnTo>
                <a:lnTo>
                  <a:pt x="60813" y="1076404"/>
                </a:lnTo>
                <a:lnTo>
                  <a:pt x="60183" y="1072882"/>
                </a:lnTo>
                <a:lnTo>
                  <a:pt x="59611" y="1069321"/>
                </a:lnTo>
                <a:lnTo>
                  <a:pt x="59097" y="1065724"/>
                </a:lnTo>
                <a:lnTo>
                  <a:pt x="58643" y="1062096"/>
                </a:lnTo>
                <a:lnTo>
                  <a:pt x="58248" y="1058440"/>
                </a:lnTo>
                <a:lnTo>
                  <a:pt x="57913" y="1054760"/>
                </a:lnTo>
                <a:lnTo>
                  <a:pt x="57639" y="1051061"/>
                </a:lnTo>
                <a:lnTo>
                  <a:pt x="57425" y="1047345"/>
                </a:lnTo>
                <a:lnTo>
                  <a:pt x="57272" y="1043617"/>
                </a:lnTo>
                <a:lnTo>
                  <a:pt x="57181" y="1039881"/>
                </a:lnTo>
                <a:lnTo>
                  <a:pt x="57150" y="103614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0C361-1F5B-4B5E-8303-1961100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5" name="text-metric-definition">
            <a:extLst xmlns:a="http://schemas.openxmlformats.org/drawingml/2006/main">
              <a:ext uri="{FF2B5EF4-FFF2-40B4-BE49-F238E27FC236}">
                <a16:creationId xmlns:a16="http://schemas.microsoft.com/office/drawing/2014/main" id="{D30D1D7E-7A07-4137-A040-6B3D0AEF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 · МЕТРИКА</a:t>
            </a:r>
          </a:p>
        </p:txBody>
      </p:sp>
      <p:sp>
        <p:nvSpPr>
          <p:cNvPr id="6" name="heading-metric-definition">
            <a:extLst xmlns:a="http://schemas.openxmlformats.org/drawingml/2006/main">
              <a:ext uri="{FF2B5EF4-FFF2-40B4-BE49-F238E27FC236}">
                <a16:creationId xmlns:a16="http://schemas.microsoft.com/office/drawing/2014/main" id="{6C3AD025-7F09-4F3D-89DA-53D42B7D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268849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48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Метрика почиње питањем, завршава радњом</a:t>
            </a:r>
          </a:p>
        </p:txBody>
      </p:sp>
      <p:sp>
        <p:nvSpPr>
          <p:cNvPr id="7" name="text-metric-definition">
            <a:extLst xmlns:a="http://schemas.openxmlformats.org/drawingml/2006/main">
              <a:ext uri="{FF2B5EF4-FFF2-40B4-BE49-F238E27FC236}">
                <a16:creationId xmlns:a16="http://schemas.microsoft.com/office/drawing/2014/main" id="{B6E2EE22-5F40-4FE4-96EC-0157076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44109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Напомена</a:t>
            </a:r>
          </a:p>
        </p:txBody>
      </p:sp>
      <p:sp>
        <p:nvSpPr>
          <p:cNvPr id="8" name="text-metric-definition">
            <a:extLst xmlns:a="http://schemas.openxmlformats.org/drawingml/2006/main">
              <a:ext uri="{FF2B5EF4-FFF2-40B4-BE49-F238E27FC236}">
                <a16:creationId xmlns:a16="http://schemas.microsoft.com/office/drawing/2014/main" id="{84FDAEEE-6241-475E-9F08-B3C0A1D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849814"/>
            <a:ext cx="1232743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Праг је договорена вредност конкретног система. Илустрација не прописује универзалан праг.</a:t>
            </a:r>
          </a:p>
        </p:txBody>
      </p:sp>
      <p:sp>
        <p:nvSpPr>
          <p:cNvPr id="9" name="text-metric-definition">
            <a:extLst xmlns:a="http://schemas.openxmlformats.org/drawingml/2006/main">
              <a:ext uri="{FF2B5EF4-FFF2-40B4-BE49-F238E27FC236}">
                <a16:creationId xmlns:a16="http://schemas.microsoft.com/office/drawing/2014/main" id="{7A65D573-19EC-421F-9F47-7E57EBD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0" name="text-metric-definition">
            <a:extLst xmlns:a="http://schemas.openxmlformats.org/drawingml/2006/main">
              <a:ext uri="{FF2B5EF4-FFF2-40B4-BE49-F238E27FC236}">
                <a16:creationId xmlns:a16="http://schemas.microsoft.com/office/drawing/2014/main" id="{D92B4CD6-9BE7-41E5-B688-5DF75DE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1219200" y="2434530"/>
          <a:ext xmlns:a="http://schemas.openxmlformats.org/drawingml/2006/main" cx="15849600" cy="351427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99284"/>
                <a:gridCol w="6648748"/>
                <a:gridCol w="5382518"/>
              </a:tblGrid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Елемент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Илустративни пример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3202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Зашто је потребан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EAE7EE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Питање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Да ли конфигурација одступа од референтне?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Јасна сврха мерења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Извор и период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Налази контрола у једном периоду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Поновљива мера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Власник и праг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Тим дефинише праг и очекивани опсег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Одговорност за тумачење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  <a:tr h="6990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Активност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Проверити узрок и кориговати одступање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4505D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Одступање води ка поступку</a:t>
                      </a:r>
                    </a:p>
                  </a:txBody>
                  <a:tcPr marL="228600" marR="228600" marT="171450" marB="171450" anchor="ctr">
                    <a:lnL w="9525">
                      <a:solidFill>
                        <a:srgbClr val="D3DAE1"/>
                      </a:solidFill>
                      <a:prstDash val="solid"/>
                    </a:lnL>
                    <a:lnR w="9525">
                      <a:solidFill>
                        <a:srgbClr val="D3DAE1"/>
                      </a:solidFill>
                      <a:prstDash val="solid"/>
                    </a:lnR>
                    <a:lnT w="9525">
                      <a:solidFill>
                        <a:srgbClr val="D3DAE1"/>
                      </a:solidFill>
                      <a:prstDash val="solid"/>
                    </a:lnT>
                    <a:lnB w="9525">
                      <a:solidFill>
                        <a:srgbClr val="D3DAE1"/>
                      </a:solidFill>
                      <a:prstDash val="solid"/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490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C485B-77FC-4123-8BC5-63E2B06A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28304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FBF78-109C-461D-A1A4-B25451A1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147" y="6158657"/>
            <a:ext cx="848916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52B04-FA8E-406E-916C-3CFAE22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363" y="6158657"/>
            <a:ext cx="865287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E54F7-E8E7-47DC-8519-06AF502F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950" y="6158657"/>
            <a:ext cx="2237184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17225-FF95-4F2D-8CD7-C248734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CF"/>
          </a:solidFill>
          <a:ln xmlns:a="http://schemas.openxmlformats.org/drawingml/2006/main" w="0">
            <a:noFill/>
          </a:ln>
        </p:spPr>
      </p:sp>
      <p:sp>
        <p:nvSpPr>
          <p:cNvPr id="6" name="text-deo3">
            <a:extLst xmlns:a="http://schemas.openxmlformats.org/drawingml/2006/main">
              <a:ext uri="{FF2B5EF4-FFF2-40B4-BE49-F238E27FC236}">
                <a16:creationId xmlns:a16="http://schemas.microsoft.com/office/drawing/2014/main" id="{BECA1777-AD72-4A8F-9431-E3949605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7" name="text-deo3">
            <a:extLst xmlns:a="http://schemas.openxmlformats.org/drawingml/2006/main">
              <a:ext uri="{FF2B5EF4-FFF2-40B4-BE49-F238E27FC236}">
                <a16:creationId xmlns:a16="http://schemas.microsoft.com/office/drawing/2014/main" id="{BB12F2F0-7105-490D-B012-CCC83667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ТРЕЋИ ДЕО</a:t>
            </a:r>
          </a:p>
        </p:txBody>
      </p:sp>
      <p:sp>
        <p:nvSpPr>
          <p:cNvPr id="8" name="heading-deo3">
            <a:extLst xmlns:a="http://schemas.openxmlformats.org/drawingml/2006/main">
              <a:ext uri="{FF2B5EF4-FFF2-40B4-BE49-F238E27FC236}">
                <a16:creationId xmlns:a16="http://schemas.microsoft.com/office/drawing/2014/main" id="{0A67E0DD-DF9C-42EE-8651-24B6BF2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25758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313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Видљива примена</a:t>
            </a:r>
          </a:p>
        </p:txBody>
      </p:sp>
      <p:sp>
        <p:nvSpPr>
          <p:cNvPr id="9" name="text-deo3">
            <a:extLst xmlns:a="http://schemas.openxmlformats.org/drawingml/2006/main">
              <a:ext uri="{FF2B5EF4-FFF2-40B4-BE49-F238E27FC236}">
                <a16:creationId xmlns:a16="http://schemas.microsoft.com/office/drawing/2014/main" id="{B1BADAE4-95F4-44A2-ACEF-6C7AD81A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92849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пореди референтно и стварно стање. Тест потврђује налаз, а </a:t>
            </a:r>
          </a:p>
        </p:txBody>
      </p:sp>
      <p:sp>
        <p:nvSpPr>
          <p:cNvPr id="10" name="text-deo3">
            <a:extLst xmlns:a="http://schemas.openxmlformats.org/drawingml/2006/main">
              <a:ext uri="{FF2B5EF4-FFF2-40B4-BE49-F238E27FC236}">
                <a16:creationId xmlns:a16="http://schemas.microsoft.com/office/drawing/2014/main" id="{DB57066B-7FBE-4D5D-B59D-2DCBC10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502890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 омогућава његово објашњење.</a:t>
            </a:r>
          </a:p>
        </p:txBody>
      </p:sp>
      <p:sp>
        <p:nvSpPr>
          <p:cNvPr id="11" name="text-deo3">
            <a:extLst xmlns:a="http://schemas.openxmlformats.org/drawingml/2006/main">
              <a:ext uri="{FF2B5EF4-FFF2-40B4-BE49-F238E27FC236}">
                <a16:creationId xmlns:a16="http://schemas.microsoft.com/office/drawing/2014/main" id="{F39B4329-A14A-4565-A8FB-A5C4C80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22589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Baseline</a:t>
            </a:r>
          </a:p>
        </p:txBody>
      </p:sp>
      <p:sp>
        <p:nvSpPr>
          <p:cNvPr id="12" name="text-deo3">
            <a:extLst xmlns:a="http://schemas.openxmlformats.org/drawingml/2006/main">
              <a:ext uri="{FF2B5EF4-FFF2-40B4-BE49-F238E27FC236}">
                <a16:creationId xmlns:a16="http://schemas.microsoft.com/office/drawing/2014/main" id="{B19EFF9D-51D0-4D85-9C66-CB0A134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172" y="6244382"/>
            <a:ext cx="7917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Drift</a:t>
            </a:r>
          </a:p>
        </p:txBody>
      </p:sp>
      <p:sp>
        <p:nvSpPr>
          <p:cNvPr id="13" name="text-deo3">
            <a:extLst xmlns:a="http://schemas.openxmlformats.org/drawingml/2006/main">
              <a:ext uri="{FF2B5EF4-FFF2-40B4-BE49-F238E27FC236}">
                <a16:creationId xmlns:a16="http://schemas.microsoft.com/office/drawing/2014/main" id="{7F9FB35D-6779-475A-8EC2-37ACBED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388" y="6244382"/>
            <a:ext cx="8081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</a:t>
            </a:r>
          </a:p>
        </p:txBody>
      </p:sp>
      <p:sp>
        <p:nvSpPr>
          <p:cNvPr id="14" name="text-deo3">
            <a:extLst xmlns:a="http://schemas.openxmlformats.org/drawingml/2006/main">
              <a:ext uri="{FF2B5EF4-FFF2-40B4-BE49-F238E27FC236}">
                <a16:creationId xmlns:a16="http://schemas.microsoft.com/office/drawing/2014/main" id="{4E7AC9D0-1B9B-4E7B-90AC-1CC1722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75" y="6244382"/>
            <a:ext cx="218003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15" name="text-deo3">
            <a:extLst xmlns:a="http://schemas.openxmlformats.org/drawingml/2006/main">
              <a:ext uri="{FF2B5EF4-FFF2-40B4-BE49-F238E27FC236}">
                <a16:creationId xmlns:a16="http://schemas.microsoft.com/office/drawing/2014/main" id="{44575849-DF48-4464-A044-D600CC2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6" name="text-deo3">
            <a:extLst xmlns:a="http://schemas.openxmlformats.org/drawingml/2006/main">
              <a:ext uri="{FF2B5EF4-FFF2-40B4-BE49-F238E27FC236}">
                <a16:creationId xmlns:a16="http://schemas.microsoft.com/office/drawing/2014/main" id="{23830AE8-C458-4B36-94D4-121E069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04401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5D2FF-6B6B-4F07-86C4-B93C14F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71418-C24C-4F2B-AD9B-52A2430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8839200" cy="2624584"/>
          </a:xfrm>
          <a:prstGeom xmlns:a="http://schemas.openxmlformats.org/drawingml/2006/main" prst="roundRect">
            <a:avLst>
              <a:gd name="adj" fmla="val 5807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85B0A-B2C6-4C4C-8A8A-A9D00657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93641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844D1-6921-444A-BD95-67946A4D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74716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5B620-1D6E-4A3E-8BEB-AE0693A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55791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0BF7B-E07E-4A50-AF64-52ED8BC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AE2D90D-C914-4D0C-8C98-42B8AB7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РАЗВОЈ</a:t>
            </a:r>
          </a:p>
        </p:txBody>
      </p:sp>
      <p:sp>
        <p:nvSpPr>
          <p:cNvPr id="8" name="heading-source-12">
            <a:extLst xmlns:a="http://schemas.openxmlformats.org/drawingml/2006/main">
              <a:ext uri="{FF2B5EF4-FFF2-40B4-BE49-F238E27FC236}">
                <a16:creationId xmlns:a16="http://schemas.microsoft.com/office/drawing/2014/main" id="{44F4A16D-C8C5-4057-B8EB-E584976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30051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у развоју</a:t>
            </a:r>
          </a:p>
        </p:txBody>
      </p:sp>
      <p:sp>
        <p:nvSpPr>
          <p:cNvPr id="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847E34A-1504-4315-926F-624C917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15795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1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7B470D8F-1896-497E-AABD-8464FCC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РАЗВОЈНИ КОНТЕКСТ</a:t>
            </a:r>
          </a:p>
        </p:txBody>
      </p:sp>
      <p:sp>
        <p:nvSpPr>
          <p:cNvPr id="1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AC3B8B2-C48F-49F1-9B4A-BB2F319A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3097"/>
            <a:ext cx="4194721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принципа у коду</a:t>
            </a:r>
          </a:p>
        </p:txBody>
      </p:sp>
      <p:sp>
        <p:nvSpPr>
          <p:cNvPr id="1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CE1611D-25EA-460F-AEF8-E647BA5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50693"/>
            <a:ext cx="82626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Тим бира кључне одлуке које може да објасни на основу лога и </a:t>
            </a:r>
          </a:p>
        </p:txBody>
      </p:sp>
      <p:sp>
        <p:nvSpPr>
          <p:cNvPr id="13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15804FCE-1283-42F7-B88F-52CDD2E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23954"/>
            <a:ext cx="796304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теста. Избор обухвата догађаје чији би нејасан исход отежао </a:t>
            </a:r>
          </a:p>
        </p:txBody>
      </p:sp>
      <p:sp>
        <p:nvSpPr>
          <p:cNvPr id="14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0F7D6D1-35B0-4E65-B905-F82EEA6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97214"/>
            <a:ext cx="754811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истрагу, преглед приступа или корекцију конфигурације.</a:t>
            </a:r>
          </a:p>
        </p:txBody>
      </p:sp>
      <p:sp>
        <p:nvSpPr>
          <p:cNvPr id="15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7A5511A-FA78-4609-8BEE-81667B86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7841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BCD56D6F-EE68-4D31-A6FB-5F88B75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8316"/>
            <a:ext cx="49857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Дефинисана одлука и њена граница.</a:t>
            </a:r>
          </a:p>
        </p:txBody>
      </p:sp>
      <p:sp>
        <p:nvSpPr>
          <p:cNvPr id="17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093146A-FDA4-4082-9801-8477957E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88916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8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49F19A86-192A-4061-AFB3-CF14006F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79391"/>
            <a:ext cx="500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Серверска имплементација провере.</a:t>
            </a:r>
          </a:p>
        </p:txBody>
      </p:sp>
      <p:sp>
        <p:nvSpPr>
          <p:cNvPr id="19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C3DF2B9F-FA86-4E1F-8063-17107AA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69991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0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22F1AE8E-C1CD-4EF9-8609-5E53ABD4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60466"/>
            <a:ext cx="41240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Позитиван и негативан доказ.</a:t>
            </a:r>
          </a:p>
        </p:txBody>
      </p:sp>
      <p:sp>
        <p:nvSpPr>
          <p:cNvPr id="21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3BCF414B-CAFC-4AE4-8ED9-3C078149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2" name="text-source-12">
            <a:extLst xmlns:a="http://schemas.openxmlformats.org/drawingml/2006/main">
              <a:ext uri="{FF2B5EF4-FFF2-40B4-BE49-F238E27FC236}">
                <a16:creationId xmlns:a16="http://schemas.microsoft.com/office/drawing/2014/main" id="{0CAFA691-0806-4A23-B394-073C88B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35618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D0DF1-21A8-4509-B7CB-8DB4C4E6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26065-09C1-40C0-AAF6-9E38F84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41241"/>
            <a:ext cx="11811000" cy="3036094"/>
          </a:xfrm>
          <a:prstGeom xmlns:a="http://schemas.openxmlformats.org/drawingml/2006/main" prst="roundRect">
            <a:avLst>
              <a:gd name="adj" fmla="val 502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4785B-B982-4663-8B8C-48A4CB2D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741241"/>
            <a:ext cx="3733800" cy="264348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9BB07FAC-C0FE-49C2-9A43-255F8B1F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741241"/>
            <a:ext cx="114300" cy="2643485"/>
          </a:xfrm>
          <a:custGeom xmlns:a="http://schemas.openxmlformats.org/drawingml/2006/main">
            <a:pathLst>
              <a:path w="114300" h="2643485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529185"/>
                </a:lnTo>
                <a:lnTo>
                  <a:pt x="61" y="2532925"/>
                </a:lnTo>
                <a:lnTo>
                  <a:pt x="245" y="2536661"/>
                </a:lnTo>
                <a:lnTo>
                  <a:pt x="550" y="2540389"/>
                </a:lnTo>
                <a:lnTo>
                  <a:pt x="978" y="2544104"/>
                </a:lnTo>
                <a:lnTo>
                  <a:pt x="1527" y="2547804"/>
                </a:lnTo>
                <a:lnTo>
                  <a:pt x="2196" y="2551484"/>
                </a:lnTo>
                <a:lnTo>
                  <a:pt x="2986" y="2555140"/>
                </a:lnTo>
                <a:lnTo>
                  <a:pt x="3895" y="2558768"/>
                </a:lnTo>
                <a:lnTo>
                  <a:pt x="4922" y="2562365"/>
                </a:lnTo>
                <a:lnTo>
                  <a:pt x="6066" y="2565926"/>
                </a:lnTo>
                <a:lnTo>
                  <a:pt x="7326" y="2569447"/>
                </a:lnTo>
                <a:lnTo>
                  <a:pt x="8701" y="2572926"/>
                </a:lnTo>
                <a:lnTo>
                  <a:pt x="10188" y="2576358"/>
                </a:lnTo>
                <a:lnTo>
                  <a:pt x="11787" y="2579739"/>
                </a:lnTo>
                <a:lnTo>
                  <a:pt x="13496" y="2583066"/>
                </a:lnTo>
                <a:lnTo>
                  <a:pt x="15313" y="2586335"/>
                </a:lnTo>
                <a:lnTo>
                  <a:pt x="17236" y="2589543"/>
                </a:lnTo>
                <a:lnTo>
                  <a:pt x="19263" y="2592687"/>
                </a:lnTo>
                <a:lnTo>
                  <a:pt x="21392" y="2595762"/>
                </a:lnTo>
                <a:lnTo>
                  <a:pt x="23620" y="2598767"/>
                </a:lnTo>
                <a:lnTo>
                  <a:pt x="25945" y="2601696"/>
                </a:lnTo>
                <a:lnTo>
                  <a:pt x="28365" y="2604548"/>
                </a:lnTo>
                <a:lnTo>
                  <a:pt x="30877" y="2607320"/>
                </a:lnTo>
                <a:lnTo>
                  <a:pt x="33478" y="2610007"/>
                </a:lnTo>
                <a:lnTo>
                  <a:pt x="36165" y="2612609"/>
                </a:lnTo>
                <a:lnTo>
                  <a:pt x="38937" y="2615120"/>
                </a:lnTo>
                <a:lnTo>
                  <a:pt x="41789" y="2617540"/>
                </a:lnTo>
                <a:lnTo>
                  <a:pt x="44719" y="2619865"/>
                </a:lnTo>
                <a:lnTo>
                  <a:pt x="47723" y="2622094"/>
                </a:lnTo>
                <a:lnTo>
                  <a:pt x="50798" y="2624222"/>
                </a:lnTo>
                <a:lnTo>
                  <a:pt x="53942" y="2626249"/>
                </a:lnTo>
                <a:lnTo>
                  <a:pt x="57150" y="2628172"/>
                </a:lnTo>
                <a:lnTo>
                  <a:pt x="60419" y="2629989"/>
                </a:lnTo>
                <a:lnTo>
                  <a:pt x="63746" y="2631698"/>
                </a:lnTo>
                <a:lnTo>
                  <a:pt x="67128" y="2633297"/>
                </a:lnTo>
                <a:lnTo>
                  <a:pt x="70559" y="2634785"/>
                </a:lnTo>
                <a:lnTo>
                  <a:pt x="74038" y="2636159"/>
                </a:lnTo>
                <a:lnTo>
                  <a:pt x="77559" y="2637419"/>
                </a:lnTo>
                <a:lnTo>
                  <a:pt x="81120" y="2638563"/>
                </a:lnTo>
                <a:lnTo>
                  <a:pt x="84717" y="2639590"/>
                </a:lnTo>
                <a:lnTo>
                  <a:pt x="88345" y="2640499"/>
                </a:lnTo>
                <a:lnTo>
                  <a:pt x="92001" y="2641289"/>
                </a:lnTo>
                <a:lnTo>
                  <a:pt x="95681" y="2641958"/>
                </a:lnTo>
                <a:lnTo>
                  <a:pt x="99381" y="2642507"/>
                </a:lnTo>
                <a:lnTo>
                  <a:pt x="103097" y="2642935"/>
                </a:lnTo>
                <a:lnTo>
                  <a:pt x="106824" y="2643240"/>
                </a:lnTo>
                <a:lnTo>
                  <a:pt x="110560" y="2643424"/>
                </a:lnTo>
                <a:lnTo>
                  <a:pt x="114300" y="2643485"/>
                </a:lnTo>
                <a:lnTo>
                  <a:pt x="114300" y="2643485"/>
                </a:lnTo>
                <a:lnTo>
                  <a:pt x="112430" y="2643424"/>
                </a:lnTo>
                <a:lnTo>
                  <a:pt x="110562" y="2643240"/>
                </a:lnTo>
                <a:lnTo>
                  <a:pt x="108698" y="2642935"/>
                </a:lnTo>
                <a:lnTo>
                  <a:pt x="106840" y="2642507"/>
                </a:lnTo>
                <a:lnTo>
                  <a:pt x="104991" y="2641958"/>
                </a:lnTo>
                <a:lnTo>
                  <a:pt x="103151" y="2641289"/>
                </a:lnTo>
                <a:lnTo>
                  <a:pt x="101323" y="2640499"/>
                </a:lnTo>
                <a:lnTo>
                  <a:pt x="99508" y="2639590"/>
                </a:lnTo>
                <a:lnTo>
                  <a:pt x="97710" y="2638563"/>
                </a:lnTo>
                <a:lnTo>
                  <a:pt x="95930" y="2637419"/>
                </a:lnTo>
                <a:lnTo>
                  <a:pt x="94169" y="2636159"/>
                </a:lnTo>
                <a:lnTo>
                  <a:pt x="92430" y="2634785"/>
                </a:lnTo>
                <a:lnTo>
                  <a:pt x="90714" y="2633297"/>
                </a:lnTo>
                <a:lnTo>
                  <a:pt x="89023" y="2631698"/>
                </a:lnTo>
                <a:lnTo>
                  <a:pt x="87360" y="2629989"/>
                </a:lnTo>
                <a:lnTo>
                  <a:pt x="85725" y="2628172"/>
                </a:lnTo>
                <a:lnTo>
                  <a:pt x="84121" y="2626249"/>
                </a:lnTo>
                <a:lnTo>
                  <a:pt x="82549" y="2624222"/>
                </a:lnTo>
                <a:lnTo>
                  <a:pt x="81011" y="2622094"/>
                </a:lnTo>
                <a:lnTo>
                  <a:pt x="79509" y="2619865"/>
                </a:lnTo>
                <a:lnTo>
                  <a:pt x="78044" y="2617540"/>
                </a:lnTo>
                <a:lnTo>
                  <a:pt x="76618" y="2615120"/>
                </a:lnTo>
                <a:lnTo>
                  <a:pt x="75233" y="2612609"/>
                </a:lnTo>
                <a:lnTo>
                  <a:pt x="73889" y="2610007"/>
                </a:lnTo>
                <a:lnTo>
                  <a:pt x="72588" y="2607320"/>
                </a:lnTo>
                <a:lnTo>
                  <a:pt x="71332" y="2604548"/>
                </a:lnTo>
                <a:lnTo>
                  <a:pt x="70122" y="2601696"/>
                </a:lnTo>
                <a:lnTo>
                  <a:pt x="68960" y="2598767"/>
                </a:lnTo>
                <a:lnTo>
                  <a:pt x="67846" y="2595762"/>
                </a:lnTo>
                <a:lnTo>
                  <a:pt x="66782" y="2592687"/>
                </a:lnTo>
                <a:lnTo>
                  <a:pt x="65768" y="2589543"/>
                </a:lnTo>
                <a:lnTo>
                  <a:pt x="64807" y="2586335"/>
                </a:lnTo>
                <a:lnTo>
                  <a:pt x="63898" y="2583066"/>
                </a:lnTo>
                <a:lnTo>
                  <a:pt x="63044" y="2579739"/>
                </a:lnTo>
                <a:lnTo>
                  <a:pt x="62244" y="2576358"/>
                </a:lnTo>
                <a:lnTo>
                  <a:pt x="61500" y="2572926"/>
                </a:lnTo>
                <a:lnTo>
                  <a:pt x="60813" y="2569447"/>
                </a:lnTo>
                <a:lnTo>
                  <a:pt x="60183" y="2565926"/>
                </a:lnTo>
                <a:lnTo>
                  <a:pt x="59611" y="2562365"/>
                </a:lnTo>
                <a:lnTo>
                  <a:pt x="59097" y="2558768"/>
                </a:lnTo>
                <a:lnTo>
                  <a:pt x="58643" y="2555140"/>
                </a:lnTo>
                <a:lnTo>
                  <a:pt x="58248" y="2551484"/>
                </a:lnTo>
                <a:lnTo>
                  <a:pt x="57913" y="2547804"/>
                </a:lnTo>
                <a:lnTo>
                  <a:pt x="57639" y="2544104"/>
                </a:lnTo>
                <a:lnTo>
                  <a:pt x="57425" y="2540389"/>
                </a:lnTo>
                <a:lnTo>
                  <a:pt x="57272" y="2536661"/>
                </a:lnTo>
                <a:lnTo>
                  <a:pt x="57181" y="2532925"/>
                </a:lnTo>
                <a:lnTo>
                  <a:pt x="57150" y="2529185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39C1D-A9B7-4253-9F34-F612C5B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11E7A237-1786-4653-9CE0-9B55748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33109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ИМПЛЕМЕНТАЦИЈА</a:t>
            </a:r>
          </a:p>
        </p:txBody>
      </p:sp>
      <p:sp>
        <p:nvSpPr>
          <p:cNvPr id="7" name="heading-policy-code">
            <a:extLst xmlns:a="http://schemas.openxmlformats.org/drawingml/2006/main">
              <a:ext uri="{FF2B5EF4-FFF2-40B4-BE49-F238E27FC236}">
                <a16:creationId xmlns:a16="http://schemas.microsoft.com/office/drawing/2014/main" id="{B7726E31-9765-4D69-96FE-8D070BA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495142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767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Политика, конфигурација и контрола имају различите </a:t>
            </a:r>
          </a:p>
        </p:txBody>
      </p:sp>
      <p:sp>
        <p:nvSpPr>
          <p:cNvPr id="8" name="heading-policy-code">
            <a:extLst xmlns:a="http://schemas.openxmlformats.org/drawingml/2006/main">
              <a:ext uri="{FF2B5EF4-FFF2-40B4-BE49-F238E27FC236}">
                <a16:creationId xmlns:a16="http://schemas.microsoft.com/office/drawing/2014/main" id="{2E9DD742-62EA-4001-B830-EABD3CF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2580"/>
            <a:ext cx="181094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улоге</a:t>
            </a:r>
          </a:p>
        </p:txBody>
      </p:sp>
      <p:sp>
        <p:nvSpPr>
          <p:cNvPr id="9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39F0FF41-84DA-449A-9A39-A6C75B07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72705"/>
            <a:ext cx="110568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Референтна вредност је правило, тренутна вредност је стање, а контрола их пореди.</a:t>
            </a:r>
          </a:p>
        </p:txBody>
      </p:sp>
      <p:sp>
        <p:nvSpPr>
          <p:cNvPr id="10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8CDAD8C0-DA3D-43BE-9754-49214718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41266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1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314B83B0-F11F-45F4-AEBE-FC2F4BC3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3744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2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10909F5F-AB18-4FAF-AD27-D3F945E4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37447"/>
            <a:ext cx="69267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sealed class MinimumPasswordLengthControl</a:t>
            </a:r>
          </a:p>
        </p:txBody>
      </p:sp>
      <p:sp>
        <p:nvSpPr>
          <p:cNvPr id="13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8E2402A5-F979-4A45-81F3-F0E9A55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5742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4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4BE214FC-FD23-49E3-B796-2AA6A27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57427"/>
            <a:ext cx="4046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: IConfigurationControl</a:t>
            </a:r>
          </a:p>
        </p:txBody>
      </p:sp>
      <p:sp>
        <p:nvSpPr>
          <p:cNvPr id="15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16267A8F-8382-4E56-B4CB-D6CEEB2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7740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6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BFBC516D-40A0-4DDB-81D4-57F9928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7740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7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EE8687C6-78A6-47BD-9BC0-44C76AD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9738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8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423E2FBC-A197-4A0C-8C7E-9CBA80ED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97388"/>
            <a:ext cx="74756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const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string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Name =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"password.minLength"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;</a:t>
            </a:r>
          </a:p>
        </p:txBody>
      </p:sp>
      <p:sp>
        <p:nvSpPr>
          <p:cNvPr id="19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DA115123-1670-41A3-9362-98888418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1736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0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D7C8541B-A0B6-46C2-B698-26E2E90C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17369"/>
            <a:ext cx="56923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ConfigurationFinding? Check(</a:t>
            </a:r>
          </a:p>
        </p:txBody>
      </p:sp>
      <p:sp>
        <p:nvSpPr>
          <p:cNvPr id="21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A648E428-302B-4555-AFB5-B607860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3734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2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DC30D173-534A-4BEB-B728-86440E0E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37349"/>
            <a:ext cx="9669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SecurityBaseline baseline, SecurityConfiguration current) =&gt;</a:t>
            </a:r>
          </a:p>
        </p:txBody>
      </p:sp>
      <p:sp>
        <p:nvSpPr>
          <p:cNvPr id="23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4394F6E2-DE3E-445E-8126-371635E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5733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4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A3BBF847-C631-4A33-A140-082297F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57330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current.MinimumPasswordLength &lt; baseline.MinimumPasswordLength</a:t>
            </a:r>
          </a:p>
        </p:txBody>
      </p:sp>
      <p:sp>
        <p:nvSpPr>
          <p:cNvPr id="25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19FC0F6F-BBE9-4645-B5BE-FEBAD0B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931741"/>
            <a:ext cx="1440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ТУМАЧЕЊЕ</a:t>
            </a:r>
          </a:p>
        </p:txBody>
      </p:sp>
      <p:sp>
        <p:nvSpPr>
          <p:cNvPr id="26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E48D2932-FE84-4341-AD9C-BF65EE5E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37447"/>
            <a:ext cx="28381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Политика изражава </a:t>
            </a:r>
          </a:p>
        </p:txBody>
      </p:sp>
      <p:sp>
        <p:nvSpPr>
          <p:cNvPr id="27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15F213DA-8CE1-44E3-9EBB-0B8160EC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710708"/>
            <a:ext cx="32761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намеру, конфигурација </a:t>
            </a:r>
          </a:p>
        </p:txBody>
      </p:sp>
      <p:sp>
        <p:nvSpPr>
          <p:cNvPr id="28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ED137648-13D5-4630-A16F-9E7F9E2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083969"/>
            <a:ext cx="277713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конкретно стање, а </a:t>
            </a:r>
          </a:p>
        </p:txBody>
      </p:sp>
      <p:sp>
        <p:nvSpPr>
          <p:cNvPr id="29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4C9EA090-CDAD-4207-BEC2-16F2CB7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457230"/>
            <a:ext cx="29374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контрола производи </a:t>
            </a:r>
          </a:p>
        </p:txBody>
      </p:sp>
      <p:sp>
        <p:nvSpPr>
          <p:cNvPr id="30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4A365E85-7DBB-4E9B-AC44-C2A0359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830491"/>
            <a:ext cx="28292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експлицитан исход.</a:t>
            </a:r>
          </a:p>
        </p:txBody>
      </p:sp>
      <p:sp>
        <p:nvSpPr>
          <p:cNvPr id="31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3E7EB8D3-C693-4AB0-99EC-1DAEC91C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2" name="text-policy-code">
            <a:extLst xmlns:a="http://schemas.openxmlformats.org/drawingml/2006/main">
              <a:ext uri="{FF2B5EF4-FFF2-40B4-BE49-F238E27FC236}">
                <a16:creationId xmlns:a16="http://schemas.microsoft.com/office/drawing/2014/main" id="{71B7C26F-D9B9-4BDD-A5A1-CA7F4D0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125377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0370B-382F-48DC-B39E-60302C8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4034C-B6DB-4778-878F-BA5B458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4530"/>
            <a:ext cx="11811000" cy="2716113"/>
          </a:xfrm>
          <a:prstGeom xmlns:a="http://schemas.openxmlformats.org/drawingml/2006/main" prst="roundRect">
            <a:avLst>
              <a:gd name="adj" fmla="val 561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E759-8D43-494D-82D7-9B553006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4530"/>
            <a:ext cx="3733800" cy="2270224"/>
          </a:xfrm>
          <a:prstGeom xmlns:a="http://schemas.openxmlformats.org/drawingml/2006/main" prst="roundRect">
            <a:avLst>
              <a:gd name="adj" fmla="val 50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54C27BF-126B-4210-A482-9F1727D8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4530"/>
            <a:ext cx="114300" cy="2270224"/>
          </a:xfrm>
          <a:custGeom xmlns:a="http://schemas.openxmlformats.org/drawingml/2006/main">
            <a:pathLst>
              <a:path w="114300" h="2270224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155924"/>
                </a:lnTo>
                <a:lnTo>
                  <a:pt x="61" y="2159664"/>
                </a:lnTo>
                <a:lnTo>
                  <a:pt x="245" y="2163400"/>
                </a:lnTo>
                <a:lnTo>
                  <a:pt x="550" y="2167128"/>
                </a:lnTo>
                <a:lnTo>
                  <a:pt x="978" y="2170843"/>
                </a:lnTo>
                <a:lnTo>
                  <a:pt x="1527" y="2174543"/>
                </a:lnTo>
                <a:lnTo>
                  <a:pt x="2196" y="2178223"/>
                </a:lnTo>
                <a:lnTo>
                  <a:pt x="2986" y="2181879"/>
                </a:lnTo>
                <a:lnTo>
                  <a:pt x="3895" y="2185507"/>
                </a:lnTo>
                <a:lnTo>
                  <a:pt x="4922" y="2189104"/>
                </a:lnTo>
                <a:lnTo>
                  <a:pt x="6066" y="2192665"/>
                </a:lnTo>
                <a:lnTo>
                  <a:pt x="7326" y="2196186"/>
                </a:lnTo>
                <a:lnTo>
                  <a:pt x="8701" y="2199665"/>
                </a:lnTo>
                <a:lnTo>
                  <a:pt x="10188" y="2203097"/>
                </a:lnTo>
                <a:lnTo>
                  <a:pt x="11787" y="2206478"/>
                </a:lnTo>
                <a:lnTo>
                  <a:pt x="13496" y="2209805"/>
                </a:lnTo>
                <a:lnTo>
                  <a:pt x="15313" y="2213074"/>
                </a:lnTo>
                <a:lnTo>
                  <a:pt x="17236" y="2216282"/>
                </a:lnTo>
                <a:lnTo>
                  <a:pt x="19263" y="2219426"/>
                </a:lnTo>
                <a:lnTo>
                  <a:pt x="21392" y="2222501"/>
                </a:lnTo>
                <a:lnTo>
                  <a:pt x="23620" y="2225506"/>
                </a:lnTo>
                <a:lnTo>
                  <a:pt x="25945" y="2228435"/>
                </a:lnTo>
                <a:lnTo>
                  <a:pt x="28365" y="2231287"/>
                </a:lnTo>
                <a:lnTo>
                  <a:pt x="30877" y="2234059"/>
                </a:lnTo>
                <a:lnTo>
                  <a:pt x="33478" y="2236747"/>
                </a:lnTo>
                <a:lnTo>
                  <a:pt x="36165" y="2239348"/>
                </a:lnTo>
                <a:lnTo>
                  <a:pt x="38937" y="2241860"/>
                </a:lnTo>
                <a:lnTo>
                  <a:pt x="41789" y="2244279"/>
                </a:lnTo>
                <a:lnTo>
                  <a:pt x="44719" y="2246605"/>
                </a:lnTo>
                <a:lnTo>
                  <a:pt x="47723" y="2248833"/>
                </a:lnTo>
                <a:lnTo>
                  <a:pt x="50798" y="2250961"/>
                </a:lnTo>
                <a:lnTo>
                  <a:pt x="53942" y="2252988"/>
                </a:lnTo>
                <a:lnTo>
                  <a:pt x="57150" y="2254911"/>
                </a:lnTo>
                <a:lnTo>
                  <a:pt x="60419" y="2256728"/>
                </a:lnTo>
                <a:lnTo>
                  <a:pt x="63746" y="2258437"/>
                </a:lnTo>
                <a:lnTo>
                  <a:pt x="67128" y="2260036"/>
                </a:lnTo>
                <a:lnTo>
                  <a:pt x="70559" y="2261524"/>
                </a:lnTo>
                <a:lnTo>
                  <a:pt x="74038" y="2262898"/>
                </a:lnTo>
                <a:lnTo>
                  <a:pt x="77559" y="2264158"/>
                </a:lnTo>
                <a:lnTo>
                  <a:pt x="81120" y="2265302"/>
                </a:lnTo>
                <a:lnTo>
                  <a:pt x="84717" y="2266330"/>
                </a:lnTo>
                <a:lnTo>
                  <a:pt x="88345" y="2267238"/>
                </a:lnTo>
                <a:lnTo>
                  <a:pt x="92001" y="2268028"/>
                </a:lnTo>
                <a:lnTo>
                  <a:pt x="95681" y="2268698"/>
                </a:lnTo>
                <a:lnTo>
                  <a:pt x="99381" y="2269246"/>
                </a:lnTo>
                <a:lnTo>
                  <a:pt x="103097" y="2269674"/>
                </a:lnTo>
                <a:lnTo>
                  <a:pt x="106824" y="2269979"/>
                </a:lnTo>
                <a:lnTo>
                  <a:pt x="110560" y="2270163"/>
                </a:lnTo>
                <a:lnTo>
                  <a:pt x="114300" y="2270224"/>
                </a:lnTo>
                <a:lnTo>
                  <a:pt x="114300" y="2270224"/>
                </a:lnTo>
                <a:lnTo>
                  <a:pt x="112430" y="2270163"/>
                </a:lnTo>
                <a:lnTo>
                  <a:pt x="110562" y="2269979"/>
                </a:lnTo>
                <a:lnTo>
                  <a:pt x="108698" y="2269674"/>
                </a:lnTo>
                <a:lnTo>
                  <a:pt x="106840" y="2269246"/>
                </a:lnTo>
                <a:lnTo>
                  <a:pt x="104991" y="2268698"/>
                </a:lnTo>
                <a:lnTo>
                  <a:pt x="103151" y="2268028"/>
                </a:lnTo>
                <a:lnTo>
                  <a:pt x="101323" y="2267238"/>
                </a:lnTo>
                <a:lnTo>
                  <a:pt x="99508" y="2266330"/>
                </a:lnTo>
                <a:lnTo>
                  <a:pt x="97710" y="2265302"/>
                </a:lnTo>
                <a:lnTo>
                  <a:pt x="95930" y="2264158"/>
                </a:lnTo>
                <a:lnTo>
                  <a:pt x="94169" y="2262898"/>
                </a:lnTo>
                <a:lnTo>
                  <a:pt x="92430" y="2261524"/>
                </a:lnTo>
                <a:lnTo>
                  <a:pt x="90714" y="2260036"/>
                </a:lnTo>
                <a:lnTo>
                  <a:pt x="89023" y="2258437"/>
                </a:lnTo>
                <a:lnTo>
                  <a:pt x="87360" y="2256728"/>
                </a:lnTo>
                <a:lnTo>
                  <a:pt x="85725" y="2254911"/>
                </a:lnTo>
                <a:lnTo>
                  <a:pt x="84121" y="2252988"/>
                </a:lnTo>
                <a:lnTo>
                  <a:pt x="82549" y="2250961"/>
                </a:lnTo>
                <a:lnTo>
                  <a:pt x="81011" y="2248833"/>
                </a:lnTo>
                <a:lnTo>
                  <a:pt x="79509" y="2246605"/>
                </a:lnTo>
                <a:lnTo>
                  <a:pt x="78044" y="2244279"/>
                </a:lnTo>
                <a:lnTo>
                  <a:pt x="76618" y="2241860"/>
                </a:lnTo>
                <a:lnTo>
                  <a:pt x="75233" y="2239348"/>
                </a:lnTo>
                <a:lnTo>
                  <a:pt x="73889" y="2236747"/>
                </a:lnTo>
                <a:lnTo>
                  <a:pt x="72588" y="2234059"/>
                </a:lnTo>
                <a:lnTo>
                  <a:pt x="71332" y="2231287"/>
                </a:lnTo>
                <a:lnTo>
                  <a:pt x="70122" y="2228435"/>
                </a:lnTo>
                <a:lnTo>
                  <a:pt x="68960" y="2225506"/>
                </a:lnTo>
                <a:lnTo>
                  <a:pt x="67846" y="2222501"/>
                </a:lnTo>
                <a:lnTo>
                  <a:pt x="66782" y="2219426"/>
                </a:lnTo>
                <a:lnTo>
                  <a:pt x="65768" y="2216282"/>
                </a:lnTo>
                <a:lnTo>
                  <a:pt x="64807" y="2213074"/>
                </a:lnTo>
                <a:lnTo>
                  <a:pt x="63898" y="2209805"/>
                </a:lnTo>
                <a:lnTo>
                  <a:pt x="63044" y="2206478"/>
                </a:lnTo>
                <a:lnTo>
                  <a:pt x="62244" y="2203097"/>
                </a:lnTo>
                <a:lnTo>
                  <a:pt x="61500" y="2199665"/>
                </a:lnTo>
                <a:lnTo>
                  <a:pt x="60813" y="2196186"/>
                </a:lnTo>
                <a:lnTo>
                  <a:pt x="60183" y="2192665"/>
                </a:lnTo>
                <a:lnTo>
                  <a:pt x="59611" y="2189104"/>
                </a:lnTo>
                <a:lnTo>
                  <a:pt x="59097" y="2185507"/>
                </a:lnTo>
                <a:lnTo>
                  <a:pt x="58643" y="2181879"/>
                </a:lnTo>
                <a:lnTo>
                  <a:pt x="58248" y="2178223"/>
                </a:lnTo>
                <a:lnTo>
                  <a:pt x="57913" y="2174543"/>
                </a:lnTo>
                <a:lnTo>
                  <a:pt x="57639" y="2170843"/>
                </a:lnTo>
                <a:lnTo>
                  <a:pt x="57425" y="2167128"/>
                </a:lnTo>
                <a:lnTo>
                  <a:pt x="57272" y="2163400"/>
                </a:lnTo>
                <a:lnTo>
                  <a:pt x="57181" y="2159664"/>
                </a:lnTo>
                <a:lnTo>
                  <a:pt x="57150" y="2155924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F3E85-F452-4562-82C0-935C9BDA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B3927468-30A2-4300-AEBE-08E42EE7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ИМПЛЕМЕНТАЦИЈА · НАСТАВАК</a:t>
            </a:r>
          </a:p>
        </p:txBody>
      </p:sp>
      <p:sp>
        <p:nvSpPr>
          <p:cNvPr id="7" name="heading-policy-code-next">
            <a:extLst xmlns:a="http://schemas.openxmlformats.org/drawingml/2006/main">
              <a:ext uri="{FF2B5EF4-FFF2-40B4-BE49-F238E27FC236}">
                <a16:creationId xmlns:a16="http://schemas.microsoft.com/office/drawing/2014/main" id="{C9C547A1-43DB-44BF-A0A0-B9A03B56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954816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92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 враћа експлицитан исход</a:t>
            </a:r>
          </a:p>
        </p:txBody>
      </p:sp>
      <p:sp>
        <p:nvSpPr>
          <p:cNvPr id="8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D7952C18-DCCC-4AED-B225-4EEEBFB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34555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9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778D033B-45B5-49DF-AB8D-4B82E1D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3073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10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74BFE344-3112-4A4F-BC76-FDD37B05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0736"/>
            <a:ext cx="281195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?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(</a:t>
            </a:r>
          </a:p>
        </p:txBody>
      </p:sp>
      <p:sp>
        <p:nvSpPr>
          <p:cNvPr id="11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CA7CCE27-00E2-422C-B502-035DBD99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0716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12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80C0EE6C-68F5-4A51-8946-6ADC9B7E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50716"/>
            <a:ext cx="3223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    Name,</a:t>
            </a:r>
          </a:p>
        </p:txBody>
      </p:sp>
      <p:sp>
        <p:nvSpPr>
          <p:cNvPr id="13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12AF3469-D4C5-4B2C-A372-FE91B7A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70697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14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9C3DCC7D-D669-4E31-9AB1-F54B8977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0697"/>
            <a:ext cx="8298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    baseline.MinimumPasswordLength.ToString(),</a:t>
            </a:r>
          </a:p>
        </p:txBody>
      </p:sp>
      <p:sp>
        <p:nvSpPr>
          <p:cNvPr id="15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5E1EB3DE-62AB-4F76-9A96-03CBE377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90677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16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4599F421-0FAC-45C3-BCAB-E883CA7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90677"/>
            <a:ext cx="8161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    current.MinimumPasswordLength.ToString())</a:t>
            </a:r>
          </a:p>
        </p:txBody>
      </p:sp>
      <p:sp>
        <p:nvSpPr>
          <p:cNvPr id="17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CA7D5666-28ED-405D-8A43-75F08007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10658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18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1E832E08-D47A-4664-BA0F-0A2A101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10658"/>
            <a:ext cx="29491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    :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null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;</a:t>
            </a:r>
          </a:p>
        </p:txBody>
      </p:sp>
      <p:sp>
        <p:nvSpPr>
          <p:cNvPr id="19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B612C823-7B55-4747-B186-017EA7E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30638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20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9699A3A3-CB2D-451A-9333-544D42C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306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1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E95CD908-3192-4EEA-9734-D71A93D8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625030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БЕЗБЕДНОСНА ГРАНИЦА</a:t>
            </a:r>
          </a:p>
        </p:txBody>
      </p:sp>
      <p:sp>
        <p:nvSpPr>
          <p:cNvPr id="22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881C50D5-19EA-47D4-8922-67CC33CA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030736"/>
            <a:ext cx="20245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Одступање је </a:t>
            </a:r>
          </a:p>
        </p:txBody>
      </p:sp>
      <p:sp>
        <p:nvSpPr>
          <p:cNvPr id="23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D5CD0FA8-44A9-4594-8565-066C00B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403997"/>
            <a:ext cx="30959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експлицитан налаз са </a:t>
            </a:r>
          </a:p>
        </p:txBody>
      </p:sp>
      <p:sp>
        <p:nvSpPr>
          <p:cNvPr id="24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3A5A7F69-7264-46C4-98F7-A6896A9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777258"/>
            <a:ext cx="33475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очекиваном и стварном </a:t>
            </a:r>
          </a:p>
        </p:txBody>
      </p:sp>
      <p:sp>
        <p:nvSpPr>
          <p:cNvPr id="25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E58EBE8E-2193-4AEE-8DC4-8C4E455C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150519"/>
            <a:ext cx="182612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вредношћу.</a:t>
            </a:r>
          </a:p>
        </p:txBody>
      </p:sp>
      <p:sp>
        <p:nvSpPr>
          <p:cNvPr id="26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945F85B0-6AF7-44EB-87B1-FFDF8BC1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policy-code-next">
            <a:extLst xmlns:a="http://schemas.openxmlformats.org/drawingml/2006/main">
              <a:ext uri="{FF2B5EF4-FFF2-40B4-BE49-F238E27FC236}">
                <a16:creationId xmlns:a16="http://schemas.microsoft.com/office/drawing/2014/main" id="{8FFE913B-BFAC-423B-8630-CF827FBF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34573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0832EF-25E8-4988-BD52-2437C83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037FB-7367-48C7-BA0B-5C5DEF1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11811000" cy="3996035"/>
          </a:xfrm>
          <a:prstGeom xmlns:a="http://schemas.openxmlformats.org/drawingml/2006/main" prst="roundRect">
            <a:avLst>
              <a:gd name="adj" fmla="val 3814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59181-C4F2-4B57-9054-2A1870A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112591"/>
            <a:ext cx="3733800" cy="2270224"/>
          </a:xfrm>
          <a:prstGeom xmlns:a="http://schemas.openxmlformats.org/drawingml/2006/main" prst="roundRect">
            <a:avLst>
              <a:gd name="adj" fmla="val 50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40D230F5-CDE1-448E-B283-5494732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112591"/>
            <a:ext cx="114300" cy="2270224"/>
          </a:xfrm>
          <a:custGeom xmlns:a="http://schemas.openxmlformats.org/drawingml/2006/main">
            <a:pathLst>
              <a:path w="114300" h="2270224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155924"/>
                </a:lnTo>
                <a:lnTo>
                  <a:pt x="61" y="2159664"/>
                </a:lnTo>
                <a:lnTo>
                  <a:pt x="245" y="2163400"/>
                </a:lnTo>
                <a:lnTo>
                  <a:pt x="550" y="2167128"/>
                </a:lnTo>
                <a:lnTo>
                  <a:pt x="978" y="2170843"/>
                </a:lnTo>
                <a:lnTo>
                  <a:pt x="1527" y="2174543"/>
                </a:lnTo>
                <a:lnTo>
                  <a:pt x="2196" y="2178223"/>
                </a:lnTo>
                <a:lnTo>
                  <a:pt x="2986" y="2181879"/>
                </a:lnTo>
                <a:lnTo>
                  <a:pt x="3895" y="2185507"/>
                </a:lnTo>
                <a:lnTo>
                  <a:pt x="4922" y="2189104"/>
                </a:lnTo>
                <a:lnTo>
                  <a:pt x="6066" y="2192665"/>
                </a:lnTo>
                <a:lnTo>
                  <a:pt x="7326" y="2196186"/>
                </a:lnTo>
                <a:lnTo>
                  <a:pt x="8701" y="2199665"/>
                </a:lnTo>
                <a:lnTo>
                  <a:pt x="10188" y="2203097"/>
                </a:lnTo>
                <a:lnTo>
                  <a:pt x="11787" y="2206478"/>
                </a:lnTo>
                <a:lnTo>
                  <a:pt x="13496" y="2209805"/>
                </a:lnTo>
                <a:lnTo>
                  <a:pt x="15313" y="2213074"/>
                </a:lnTo>
                <a:lnTo>
                  <a:pt x="17236" y="2216282"/>
                </a:lnTo>
                <a:lnTo>
                  <a:pt x="19263" y="2219426"/>
                </a:lnTo>
                <a:lnTo>
                  <a:pt x="21392" y="2222501"/>
                </a:lnTo>
                <a:lnTo>
                  <a:pt x="23620" y="2225506"/>
                </a:lnTo>
                <a:lnTo>
                  <a:pt x="25945" y="2228435"/>
                </a:lnTo>
                <a:lnTo>
                  <a:pt x="28365" y="2231287"/>
                </a:lnTo>
                <a:lnTo>
                  <a:pt x="30877" y="2234059"/>
                </a:lnTo>
                <a:lnTo>
                  <a:pt x="33478" y="2236747"/>
                </a:lnTo>
                <a:lnTo>
                  <a:pt x="36165" y="2239348"/>
                </a:lnTo>
                <a:lnTo>
                  <a:pt x="38937" y="2241860"/>
                </a:lnTo>
                <a:lnTo>
                  <a:pt x="41789" y="2244279"/>
                </a:lnTo>
                <a:lnTo>
                  <a:pt x="44719" y="2246605"/>
                </a:lnTo>
                <a:lnTo>
                  <a:pt x="47723" y="2248833"/>
                </a:lnTo>
                <a:lnTo>
                  <a:pt x="50798" y="2250961"/>
                </a:lnTo>
                <a:lnTo>
                  <a:pt x="53942" y="2252988"/>
                </a:lnTo>
                <a:lnTo>
                  <a:pt x="57150" y="2254911"/>
                </a:lnTo>
                <a:lnTo>
                  <a:pt x="60419" y="2256728"/>
                </a:lnTo>
                <a:lnTo>
                  <a:pt x="63746" y="2258437"/>
                </a:lnTo>
                <a:lnTo>
                  <a:pt x="67128" y="2260036"/>
                </a:lnTo>
                <a:lnTo>
                  <a:pt x="70559" y="2261524"/>
                </a:lnTo>
                <a:lnTo>
                  <a:pt x="74038" y="2262898"/>
                </a:lnTo>
                <a:lnTo>
                  <a:pt x="77559" y="2264158"/>
                </a:lnTo>
                <a:lnTo>
                  <a:pt x="81120" y="2265302"/>
                </a:lnTo>
                <a:lnTo>
                  <a:pt x="84717" y="2266330"/>
                </a:lnTo>
                <a:lnTo>
                  <a:pt x="88345" y="2267238"/>
                </a:lnTo>
                <a:lnTo>
                  <a:pt x="92001" y="2268028"/>
                </a:lnTo>
                <a:lnTo>
                  <a:pt x="95681" y="2268698"/>
                </a:lnTo>
                <a:lnTo>
                  <a:pt x="99381" y="2269246"/>
                </a:lnTo>
                <a:lnTo>
                  <a:pt x="103097" y="2269674"/>
                </a:lnTo>
                <a:lnTo>
                  <a:pt x="106824" y="2269979"/>
                </a:lnTo>
                <a:lnTo>
                  <a:pt x="110560" y="2270163"/>
                </a:lnTo>
                <a:lnTo>
                  <a:pt x="114300" y="2270224"/>
                </a:lnTo>
                <a:lnTo>
                  <a:pt x="114300" y="2270224"/>
                </a:lnTo>
                <a:lnTo>
                  <a:pt x="112430" y="2270163"/>
                </a:lnTo>
                <a:lnTo>
                  <a:pt x="110562" y="2269979"/>
                </a:lnTo>
                <a:lnTo>
                  <a:pt x="108698" y="2269674"/>
                </a:lnTo>
                <a:lnTo>
                  <a:pt x="106840" y="2269246"/>
                </a:lnTo>
                <a:lnTo>
                  <a:pt x="104991" y="2268698"/>
                </a:lnTo>
                <a:lnTo>
                  <a:pt x="103151" y="2268028"/>
                </a:lnTo>
                <a:lnTo>
                  <a:pt x="101323" y="2267238"/>
                </a:lnTo>
                <a:lnTo>
                  <a:pt x="99508" y="2266330"/>
                </a:lnTo>
                <a:lnTo>
                  <a:pt x="97710" y="2265302"/>
                </a:lnTo>
                <a:lnTo>
                  <a:pt x="95930" y="2264158"/>
                </a:lnTo>
                <a:lnTo>
                  <a:pt x="94169" y="2262898"/>
                </a:lnTo>
                <a:lnTo>
                  <a:pt x="92430" y="2261524"/>
                </a:lnTo>
                <a:lnTo>
                  <a:pt x="90714" y="2260036"/>
                </a:lnTo>
                <a:lnTo>
                  <a:pt x="89023" y="2258437"/>
                </a:lnTo>
                <a:lnTo>
                  <a:pt x="87360" y="2256728"/>
                </a:lnTo>
                <a:lnTo>
                  <a:pt x="85725" y="2254911"/>
                </a:lnTo>
                <a:lnTo>
                  <a:pt x="84121" y="2252988"/>
                </a:lnTo>
                <a:lnTo>
                  <a:pt x="82549" y="2250961"/>
                </a:lnTo>
                <a:lnTo>
                  <a:pt x="81011" y="2248833"/>
                </a:lnTo>
                <a:lnTo>
                  <a:pt x="79509" y="2246605"/>
                </a:lnTo>
                <a:lnTo>
                  <a:pt x="78044" y="2244279"/>
                </a:lnTo>
                <a:lnTo>
                  <a:pt x="76618" y="2241860"/>
                </a:lnTo>
                <a:lnTo>
                  <a:pt x="75233" y="2239348"/>
                </a:lnTo>
                <a:lnTo>
                  <a:pt x="73889" y="2236747"/>
                </a:lnTo>
                <a:lnTo>
                  <a:pt x="72588" y="2234059"/>
                </a:lnTo>
                <a:lnTo>
                  <a:pt x="71332" y="2231287"/>
                </a:lnTo>
                <a:lnTo>
                  <a:pt x="70122" y="2228435"/>
                </a:lnTo>
                <a:lnTo>
                  <a:pt x="68960" y="2225506"/>
                </a:lnTo>
                <a:lnTo>
                  <a:pt x="67846" y="2222501"/>
                </a:lnTo>
                <a:lnTo>
                  <a:pt x="66782" y="2219426"/>
                </a:lnTo>
                <a:lnTo>
                  <a:pt x="65768" y="2216282"/>
                </a:lnTo>
                <a:lnTo>
                  <a:pt x="64807" y="2213074"/>
                </a:lnTo>
                <a:lnTo>
                  <a:pt x="63898" y="2209805"/>
                </a:lnTo>
                <a:lnTo>
                  <a:pt x="63044" y="2206478"/>
                </a:lnTo>
                <a:lnTo>
                  <a:pt x="62244" y="2203097"/>
                </a:lnTo>
                <a:lnTo>
                  <a:pt x="61500" y="2199665"/>
                </a:lnTo>
                <a:lnTo>
                  <a:pt x="60813" y="2196186"/>
                </a:lnTo>
                <a:lnTo>
                  <a:pt x="60183" y="2192665"/>
                </a:lnTo>
                <a:lnTo>
                  <a:pt x="59611" y="2189104"/>
                </a:lnTo>
                <a:lnTo>
                  <a:pt x="59097" y="2185507"/>
                </a:lnTo>
                <a:lnTo>
                  <a:pt x="58643" y="2181879"/>
                </a:lnTo>
                <a:lnTo>
                  <a:pt x="58248" y="2178223"/>
                </a:lnTo>
                <a:lnTo>
                  <a:pt x="57913" y="2174543"/>
                </a:lnTo>
                <a:lnTo>
                  <a:pt x="57639" y="2170843"/>
                </a:lnTo>
                <a:lnTo>
                  <a:pt x="57425" y="2167128"/>
                </a:lnTo>
                <a:lnTo>
                  <a:pt x="57272" y="2163400"/>
                </a:lnTo>
                <a:lnTo>
                  <a:pt x="57181" y="2159664"/>
                </a:lnTo>
                <a:lnTo>
                  <a:pt x="57150" y="2155924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38C52-8E8E-40AC-B0E3-23ED5403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611416"/>
            <a:ext cx="3733800" cy="2270224"/>
          </a:xfrm>
          <a:prstGeom xmlns:a="http://schemas.openxmlformats.org/drawingml/2006/main" prst="roundRect">
            <a:avLst>
              <a:gd name="adj" fmla="val 503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ECF76001-71B2-4A6D-BC1A-7855343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611416"/>
            <a:ext cx="114300" cy="2270224"/>
          </a:xfrm>
          <a:custGeom xmlns:a="http://schemas.openxmlformats.org/drawingml/2006/main">
            <a:pathLst>
              <a:path w="114300" h="2270224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2155924"/>
                </a:lnTo>
                <a:lnTo>
                  <a:pt x="61" y="2159664"/>
                </a:lnTo>
                <a:lnTo>
                  <a:pt x="245" y="2163400"/>
                </a:lnTo>
                <a:lnTo>
                  <a:pt x="550" y="2167128"/>
                </a:lnTo>
                <a:lnTo>
                  <a:pt x="978" y="2170843"/>
                </a:lnTo>
                <a:lnTo>
                  <a:pt x="1527" y="2174543"/>
                </a:lnTo>
                <a:lnTo>
                  <a:pt x="2196" y="2178223"/>
                </a:lnTo>
                <a:lnTo>
                  <a:pt x="2986" y="2181879"/>
                </a:lnTo>
                <a:lnTo>
                  <a:pt x="3895" y="2185507"/>
                </a:lnTo>
                <a:lnTo>
                  <a:pt x="4922" y="2189104"/>
                </a:lnTo>
                <a:lnTo>
                  <a:pt x="6066" y="2192665"/>
                </a:lnTo>
                <a:lnTo>
                  <a:pt x="7326" y="2196186"/>
                </a:lnTo>
                <a:lnTo>
                  <a:pt x="8701" y="2199665"/>
                </a:lnTo>
                <a:lnTo>
                  <a:pt x="10188" y="2203097"/>
                </a:lnTo>
                <a:lnTo>
                  <a:pt x="11787" y="2206478"/>
                </a:lnTo>
                <a:lnTo>
                  <a:pt x="13496" y="2209805"/>
                </a:lnTo>
                <a:lnTo>
                  <a:pt x="15313" y="2213074"/>
                </a:lnTo>
                <a:lnTo>
                  <a:pt x="17236" y="2216282"/>
                </a:lnTo>
                <a:lnTo>
                  <a:pt x="19263" y="2219426"/>
                </a:lnTo>
                <a:lnTo>
                  <a:pt x="21392" y="2222501"/>
                </a:lnTo>
                <a:lnTo>
                  <a:pt x="23620" y="2225506"/>
                </a:lnTo>
                <a:lnTo>
                  <a:pt x="25945" y="2228435"/>
                </a:lnTo>
                <a:lnTo>
                  <a:pt x="28365" y="2231287"/>
                </a:lnTo>
                <a:lnTo>
                  <a:pt x="30877" y="2234059"/>
                </a:lnTo>
                <a:lnTo>
                  <a:pt x="33478" y="2236747"/>
                </a:lnTo>
                <a:lnTo>
                  <a:pt x="36165" y="2239348"/>
                </a:lnTo>
                <a:lnTo>
                  <a:pt x="38937" y="2241860"/>
                </a:lnTo>
                <a:lnTo>
                  <a:pt x="41789" y="2244279"/>
                </a:lnTo>
                <a:lnTo>
                  <a:pt x="44719" y="2246605"/>
                </a:lnTo>
                <a:lnTo>
                  <a:pt x="47723" y="2248833"/>
                </a:lnTo>
                <a:lnTo>
                  <a:pt x="50798" y="2250961"/>
                </a:lnTo>
                <a:lnTo>
                  <a:pt x="53942" y="2252988"/>
                </a:lnTo>
                <a:lnTo>
                  <a:pt x="57150" y="2254911"/>
                </a:lnTo>
                <a:lnTo>
                  <a:pt x="60419" y="2256728"/>
                </a:lnTo>
                <a:lnTo>
                  <a:pt x="63746" y="2258437"/>
                </a:lnTo>
                <a:lnTo>
                  <a:pt x="67128" y="2260036"/>
                </a:lnTo>
                <a:lnTo>
                  <a:pt x="70559" y="2261524"/>
                </a:lnTo>
                <a:lnTo>
                  <a:pt x="74038" y="2262898"/>
                </a:lnTo>
                <a:lnTo>
                  <a:pt x="77559" y="2264158"/>
                </a:lnTo>
                <a:lnTo>
                  <a:pt x="81120" y="2265302"/>
                </a:lnTo>
                <a:lnTo>
                  <a:pt x="84717" y="2266330"/>
                </a:lnTo>
                <a:lnTo>
                  <a:pt x="88345" y="2267238"/>
                </a:lnTo>
                <a:lnTo>
                  <a:pt x="92001" y="2268028"/>
                </a:lnTo>
                <a:lnTo>
                  <a:pt x="95681" y="2268698"/>
                </a:lnTo>
                <a:lnTo>
                  <a:pt x="99381" y="2269246"/>
                </a:lnTo>
                <a:lnTo>
                  <a:pt x="103097" y="2269674"/>
                </a:lnTo>
                <a:lnTo>
                  <a:pt x="106824" y="2269979"/>
                </a:lnTo>
                <a:lnTo>
                  <a:pt x="110560" y="2270163"/>
                </a:lnTo>
                <a:lnTo>
                  <a:pt x="114300" y="2270224"/>
                </a:lnTo>
                <a:lnTo>
                  <a:pt x="114300" y="2270224"/>
                </a:lnTo>
                <a:lnTo>
                  <a:pt x="112430" y="2270163"/>
                </a:lnTo>
                <a:lnTo>
                  <a:pt x="110562" y="2269979"/>
                </a:lnTo>
                <a:lnTo>
                  <a:pt x="108698" y="2269674"/>
                </a:lnTo>
                <a:lnTo>
                  <a:pt x="106840" y="2269246"/>
                </a:lnTo>
                <a:lnTo>
                  <a:pt x="104991" y="2268698"/>
                </a:lnTo>
                <a:lnTo>
                  <a:pt x="103151" y="2268028"/>
                </a:lnTo>
                <a:lnTo>
                  <a:pt x="101323" y="2267238"/>
                </a:lnTo>
                <a:lnTo>
                  <a:pt x="99508" y="2266330"/>
                </a:lnTo>
                <a:lnTo>
                  <a:pt x="97710" y="2265302"/>
                </a:lnTo>
                <a:lnTo>
                  <a:pt x="95930" y="2264158"/>
                </a:lnTo>
                <a:lnTo>
                  <a:pt x="94169" y="2262898"/>
                </a:lnTo>
                <a:lnTo>
                  <a:pt x="92430" y="2261524"/>
                </a:lnTo>
                <a:lnTo>
                  <a:pt x="90714" y="2260036"/>
                </a:lnTo>
                <a:lnTo>
                  <a:pt x="89023" y="2258437"/>
                </a:lnTo>
                <a:lnTo>
                  <a:pt x="87360" y="2256728"/>
                </a:lnTo>
                <a:lnTo>
                  <a:pt x="85725" y="2254911"/>
                </a:lnTo>
                <a:lnTo>
                  <a:pt x="84121" y="2252988"/>
                </a:lnTo>
                <a:lnTo>
                  <a:pt x="82549" y="2250961"/>
                </a:lnTo>
                <a:lnTo>
                  <a:pt x="81011" y="2248833"/>
                </a:lnTo>
                <a:lnTo>
                  <a:pt x="79509" y="2246605"/>
                </a:lnTo>
                <a:lnTo>
                  <a:pt x="78044" y="2244279"/>
                </a:lnTo>
                <a:lnTo>
                  <a:pt x="76618" y="2241860"/>
                </a:lnTo>
                <a:lnTo>
                  <a:pt x="75233" y="2239348"/>
                </a:lnTo>
                <a:lnTo>
                  <a:pt x="73889" y="2236747"/>
                </a:lnTo>
                <a:lnTo>
                  <a:pt x="72588" y="2234059"/>
                </a:lnTo>
                <a:lnTo>
                  <a:pt x="71332" y="2231287"/>
                </a:lnTo>
                <a:lnTo>
                  <a:pt x="70122" y="2228435"/>
                </a:lnTo>
                <a:lnTo>
                  <a:pt x="68960" y="2225506"/>
                </a:lnTo>
                <a:lnTo>
                  <a:pt x="67846" y="2222501"/>
                </a:lnTo>
                <a:lnTo>
                  <a:pt x="66782" y="2219426"/>
                </a:lnTo>
                <a:lnTo>
                  <a:pt x="65768" y="2216282"/>
                </a:lnTo>
                <a:lnTo>
                  <a:pt x="64807" y="2213074"/>
                </a:lnTo>
                <a:lnTo>
                  <a:pt x="63898" y="2209805"/>
                </a:lnTo>
                <a:lnTo>
                  <a:pt x="63044" y="2206478"/>
                </a:lnTo>
                <a:lnTo>
                  <a:pt x="62244" y="2203097"/>
                </a:lnTo>
                <a:lnTo>
                  <a:pt x="61500" y="2199665"/>
                </a:lnTo>
                <a:lnTo>
                  <a:pt x="60813" y="2196186"/>
                </a:lnTo>
                <a:lnTo>
                  <a:pt x="60183" y="2192665"/>
                </a:lnTo>
                <a:lnTo>
                  <a:pt x="59611" y="2189104"/>
                </a:lnTo>
                <a:lnTo>
                  <a:pt x="59097" y="2185507"/>
                </a:lnTo>
                <a:lnTo>
                  <a:pt x="58643" y="2181879"/>
                </a:lnTo>
                <a:lnTo>
                  <a:pt x="58248" y="2178223"/>
                </a:lnTo>
                <a:lnTo>
                  <a:pt x="57913" y="2174543"/>
                </a:lnTo>
                <a:lnTo>
                  <a:pt x="57639" y="2170843"/>
                </a:lnTo>
                <a:lnTo>
                  <a:pt x="57425" y="2167128"/>
                </a:lnTo>
                <a:lnTo>
                  <a:pt x="57272" y="2163400"/>
                </a:lnTo>
                <a:lnTo>
                  <a:pt x="57181" y="2159664"/>
                </a:lnTo>
                <a:lnTo>
                  <a:pt x="57150" y="2155924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4E2F-529B-409F-827B-A88F42B3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D6A936F-7F0C-4782-8A54-D256EB5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74887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ТЕСТ</a:t>
            </a:r>
          </a:p>
        </p:txBody>
      </p:sp>
      <p:sp>
        <p:nvSpPr>
          <p:cNvPr id="9" name="heading-negative-test">
            <a:extLst xmlns:a="http://schemas.openxmlformats.org/drawingml/2006/main">
              <a:ext uri="{FF2B5EF4-FFF2-40B4-BE49-F238E27FC236}">
                <a16:creationId xmlns:a16="http://schemas.microsoft.com/office/drawing/2014/main" id="{71BE2EE3-5E00-4FFF-AAF7-0EF18FA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25753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917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Drift мора бити видљив и проверљив</a:t>
            </a:r>
          </a:p>
        </p:txBody>
      </p:sp>
      <p:sp>
        <p:nvSpPr>
          <p:cNvPr id="10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A390501A-C755-420A-BEAF-FA383A5D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9272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проверава да одступање конфигурације производи видљив и поновљив исход.</a:t>
            </a:r>
          </a:p>
        </p:txBody>
      </p:sp>
      <p:sp>
        <p:nvSpPr>
          <p:cNvPr id="11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F618FA6-6570-4B53-B9F0-F1D9A33C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36348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C# · илустративни пример</a:t>
            </a:r>
          </a:p>
        </p:txBody>
      </p:sp>
      <p:sp>
        <p:nvSpPr>
          <p:cNvPr id="12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C56BA8AA-E5F6-4C60-A815-6B369C71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3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1CF907E4-70AF-4D17-86A4-7BFA819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11659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[Test]</a:t>
            </a:r>
          </a:p>
        </p:txBody>
      </p:sp>
      <p:sp>
        <p:nvSpPr>
          <p:cNvPr id="14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D341B616-9E0F-474C-9E51-6DB0686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622B573A-509E-4AB8-92B5-E845EAF2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public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void</a:t>
            </a:r>
          </a:p>
        </p:txBody>
      </p:sp>
      <p:sp>
        <p:nvSpPr>
          <p:cNvPr id="16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5A508CCC-79C3-49B9-BF17-DEFAA3C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8258DB67-5E52-4D4E-8FAA-4D9E423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88469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MinimumPasswordLength_WhenShorterThanBaseline_ReportsFinding()</a:t>
            </a:r>
          </a:p>
        </p:txBody>
      </p:sp>
      <p:sp>
        <p:nvSpPr>
          <p:cNvPr id="18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4782ED38-1AAA-4C48-803B-5B17D445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69B85CC5-4E6B-4B90-A8A0-D1A63A4D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20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30078DDA-8CFC-4E2B-94C1-AA76EDD4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A67D2BE6-B5A0-4037-AE46-773BF74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843557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var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finding =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MinimumPasswordLengthControl().Check(</a:t>
            </a:r>
          </a:p>
        </p:txBody>
      </p:sp>
      <p:sp>
        <p:nvSpPr>
          <p:cNvPr id="22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E74AE24D-6E07-4368-9FB9-1A7512C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86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3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977A755C-4E13-42B8-AC12-E784374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8699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Baseline,</a:t>
            </a:r>
          </a:p>
        </p:txBody>
      </p:sp>
      <p:sp>
        <p:nvSpPr>
          <p:cNvPr id="24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DEB27E33-A6DD-4E12-A7F2-48F0FDF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86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5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BABCE187-B4BA-43CF-AB99-EE36C116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28680"/>
            <a:ext cx="65153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SecurityConfiguration(10, 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true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));</a:t>
            </a:r>
          </a:p>
        </p:txBody>
      </p:sp>
      <p:sp>
        <p:nvSpPr>
          <p:cNvPr id="26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3C82C640-FAE0-4433-97B1-0E950CF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7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8A656EE-708F-43CC-88CF-FD308265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8660"/>
            <a:ext cx="87098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Assert.That(finding, Is.EqualTo(</a:t>
            </a: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new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ConfigurationFinding(</a:t>
            </a:r>
          </a:p>
        </p:txBody>
      </p:sp>
      <p:sp>
        <p:nvSpPr>
          <p:cNvPr id="28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361B4874-275A-4656-A7F5-C8608BF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268641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9</a:t>
            </a:r>
          </a:p>
        </p:txBody>
      </p:sp>
      <p:sp>
        <p:nvSpPr>
          <p:cNvPr id="29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368FC31B-2240-4FBF-998F-1550463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268641"/>
            <a:ext cx="816143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      MinimumPasswordLengthControl.Name,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"14"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"10"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)));</a:t>
            </a:r>
          </a:p>
        </p:txBody>
      </p:sp>
      <p:sp>
        <p:nvSpPr>
          <p:cNvPr id="30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D74A6CFD-63E2-4282-94A4-AC54BAD2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588621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31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8AEF707-C25D-48CF-B3EB-BBD20F6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588621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32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A1DDF1DA-EE08-4F75-B42C-2198E18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303091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ДОКАЗ</a:t>
            </a:r>
          </a:p>
        </p:txBody>
      </p:sp>
      <p:sp>
        <p:nvSpPr>
          <p:cNvPr id="33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16A2A68D-2431-4CB1-A614-AB595E31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708797"/>
            <a:ext cx="3089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проверава назив </a:t>
            </a:r>
          </a:p>
        </p:txBody>
      </p:sp>
      <p:sp>
        <p:nvSpPr>
          <p:cNvPr id="34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E5BCF279-509F-4EA0-A005-B5D04DE1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82058"/>
            <a:ext cx="319534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контроле, очекивану и </a:t>
            </a:r>
          </a:p>
        </p:txBody>
      </p:sp>
      <p:sp>
        <p:nvSpPr>
          <p:cNvPr id="35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7EDC0D0E-585D-4CB9-9AC1-4C0BE5F9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455319"/>
            <a:ext cx="257785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стварну вредност </a:t>
            </a:r>
          </a:p>
        </p:txBody>
      </p:sp>
      <p:sp>
        <p:nvSpPr>
          <p:cNvPr id="36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C52A100F-E40A-4B66-B561-5BEC678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828580"/>
            <a:ext cx="177968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одступања.</a:t>
            </a:r>
          </a:p>
        </p:txBody>
      </p:sp>
      <p:sp>
        <p:nvSpPr>
          <p:cNvPr id="37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E94B8497-9186-4AAB-8931-26D8A0E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801916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ОЧЕКИВАНИ ИСХОД</a:t>
            </a:r>
          </a:p>
        </p:txBody>
      </p:sp>
      <p:sp>
        <p:nvSpPr>
          <p:cNvPr id="38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421449D1-1685-4F25-B3B7-750A5327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207621"/>
            <a:ext cx="23700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Тест мења једну </a:t>
            </a:r>
          </a:p>
        </p:txBody>
      </p:sp>
      <p:sp>
        <p:nvSpPr>
          <p:cNvPr id="39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384B4BCC-D7BD-4B2F-9D54-CE97F154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580882"/>
            <a:ext cx="346635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вредност конфигурације </a:t>
            </a:r>
          </a:p>
        </p:txBody>
      </p:sp>
      <p:sp>
        <p:nvSpPr>
          <p:cNvPr id="40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40730692-0FF3-4F56-B57A-78D8F72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954143"/>
            <a:ext cx="293474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 очекује један јасан </a:t>
            </a:r>
          </a:p>
        </p:txBody>
      </p:sp>
      <p:sp>
        <p:nvSpPr>
          <p:cNvPr id="41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3B03031-05F0-4C9E-B365-1DE364B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327404"/>
            <a:ext cx="11441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налаз.</a:t>
            </a:r>
          </a:p>
        </p:txBody>
      </p:sp>
      <p:sp>
        <p:nvSpPr>
          <p:cNvPr id="42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051908D9-E494-4B28-A546-9C4D9A3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43" name="text-negative-test">
            <a:extLst xmlns:a="http://schemas.openxmlformats.org/drawingml/2006/main">
              <a:ext uri="{FF2B5EF4-FFF2-40B4-BE49-F238E27FC236}">
                <a16:creationId xmlns:a16="http://schemas.microsoft.com/office/drawing/2014/main" id="{AAA08D43-5110-4F2F-AF6B-A7B50C5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84610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EE9054-0B85-4C10-89A4-A0E85C4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F3926-25C7-4121-83D5-5FED233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9525000" cy="3356074"/>
          </a:xfrm>
          <a:prstGeom xmlns:a="http://schemas.openxmlformats.org/drawingml/2006/main" prst="roundRect">
            <a:avLst>
              <a:gd name="adj" fmla="val 454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7F878-E959-42E3-82D1-16406C48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12591"/>
            <a:ext cx="6019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4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3BA7A1E7-48F5-433B-ACF3-71F19B1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12591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B6191-A4FE-4648-9148-5DDC3DC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155"/>
            <a:ext cx="6019800" cy="1896963"/>
          </a:xfrm>
          <a:prstGeom xmlns:a="http://schemas.openxmlformats.org/drawingml/2006/main" prst="roundRect">
            <a:avLst>
              <a:gd name="adj" fmla="val 6025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6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F45BFE18-3D4C-4B5F-A6B1-5CF5762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238155"/>
            <a:ext cx="114300" cy="1896963"/>
          </a:xfrm>
          <a:custGeom xmlns:a="http://schemas.openxmlformats.org/drawingml/2006/main">
            <a:pathLst>
              <a:path w="114300" h="1896963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782663"/>
                </a:lnTo>
                <a:lnTo>
                  <a:pt x="61" y="1786403"/>
                </a:lnTo>
                <a:lnTo>
                  <a:pt x="245" y="1790139"/>
                </a:lnTo>
                <a:lnTo>
                  <a:pt x="550" y="1793867"/>
                </a:lnTo>
                <a:lnTo>
                  <a:pt x="978" y="1797582"/>
                </a:lnTo>
                <a:lnTo>
                  <a:pt x="1527" y="1801282"/>
                </a:lnTo>
                <a:lnTo>
                  <a:pt x="2196" y="1804962"/>
                </a:lnTo>
                <a:lnTo>
                  <a:pt x="2986" y="1808618"/>
                </a:lnTo>
                <a:lnTo>
                  <a:pt x="3895" y="1812246"/>
                </a:lnTo>
                <a:lnTo>
                  <a:pt x="4922" y="1815843"/>
                </a:lnTo>
                <a:lnTo>
                  <a:pt x="6066" y="1819404"/>
                </a:lnTo>
                <a:lnTo>
                  <a:pt x="7326" y="1822925"/>
                </a:lnTo>
                <a:lnTo>
                  <a:pt x="8701" y="1826404"/>
                </a:lnTo>
                <a:lnTo>
                  <a:pt x="10188" y="1829836"/>
                </a:lnTo>
                <a:lnTo>
                  <a:pt x="11787" y="1833217"/>
                </a:lnTo>
                <a:lnTo>
                  <a:pt x="13496" y="1836544"/>
                </a:lnTo>
                <a:lnTo>
                  <a:pt x="15313" y="1839813"/>
                </a:lnTo>
                <a:lnTo>
                  <a:pt x="17236" y="1843021"/>
                </a:lnTo>
                <a:lnTo>
                  <a:pt x="19263" y="1846165"/>
                </a:lnTo>
                <a:lnTo>
                  <a:pt x="21392" y="1849240"/>
                </a:lnTo>
                <a:lnTo>
                  <a:pt x="23620" y="1852245"/>
                </a:lnTo>
                <a:lnTo>
                  <a:pt x="25945" y="1855174"/>
                </a:lnTo>
                <a:lnTo>
                  <a:pt x="28365" y="1858027"/>
                </a:lnTo>
                <a:lnTo>
                  <a:pt x="30877" y="1860798"/>
                </a:lnTo>
                <a:lnTo>
                  <a:pt x="33478" y="1863486"/>
                </a:lnTo>
                <a:lnTo>
                  <a:pt x="36165" y="1866087"/>
                </a:lnTo>
                <a:lnTo>
                  <a:pt x="38937" y="1868599"/>
                </a:lnTo>
                <a:lnTo>
                  <a:pt x="41789" y="1871018"/>
                </a:lnTo>
                <a:lnTo>
                  <a:pt x="44719" y="1873344"/>
                </a:lnTo>
                <a:lnTo>
                  <a:pt x="47723" y="1875572"/>
                </a:lnTo>
                <a:lnTo>
                  <a:pt x="50798" y="1877700"/>
                </a:lnTo>
                <a:lnTo>
                  <a:pt x="53942" y="1879727"/>
                </a:lnTo>
                <a:lnTo>
                  <a:pt x="57150" y="1881650"/>
                </a:lnTo>
                <a:lnTo>
                  <a:pt x="60419" y="1883467"/>
                </a:lnTo>
                <a:lnTo>
                  <a:pt x="63746" y="1885176"/>
                </a:lnTo>
                <a:lnTo>
                  <a:pt x="67128" y="1886775"/>
                </a:lnTo>
                <a:lnTo>
                  <a:pt x="70559" y="1888263"/>
                </a:lnTo>
                <a:lnTo>
                  <a:pt x="74038" y="1889637"/>
                </a:lnTo>
                <a:lnTo>
                  <a:pt x="77559" y="1890897"/>
                </a:lnTo>
                <a:lnTo>
                  <a:pt x="81120" y="1892042"/>
                </a:lnTo>
                <a:lnTo>
                  <a:pt x="84717" y="1893069"/>
                </a:lnTo>
                <a:lnTo>
                  <a:pt x="88345" y="1893977"/>
                </a:lnTo>
                <a:lnTo>
                  <a:pt x="92001" y="1894767"/>
                </a:lnTo>
                <a:lnTo>
                  <a:pt x="95681" y="1895437"/>
                </a:lnTo>
                <a:lnTo>
                  <a:pt x="99381" y="1895985"/>
                </a:lnTo>
                <a:lnTo>
                  <a:pt x="103097" y="1896413"/>
                </a:lnTo>
                <a:lnTo>
                  <a:pt x="106824" y="1896719"/>
                </a:lnTo>
                <a:lnTo>
                  <a:pt x="110560" y="1896902"/>
                </a:lnTo>
                <a:lnTo>
                  <a:pt x="114300" y="1896963"/>
                </a:lnTo>
                <a:lnTo>
                  <a:pt x="114300" y="1896963"/>
                </a:lnTo>
                <a:lnTo>
                  <a:pt x="112430" y="1896902"/>
                </a:lnTo>
                <a:lnTo>
                  <a:pt x="110562" y="1896719"/>
                </a:lnTo>
                <a:lnTo>
                  <a:pt x="108698" y="1896413"/>
                </a:lnTo>
                <a:lnTo>
                  <a:pt x="106840" y="1895985"/>
                </a:lnTo>
                <a:lnTo>
                  <a:pt x="104991" y="1895437"/>
                </a:lnTo>
                <a:lnTo>
                  <a:pt x="103151" y="1894767"/>
                </a:lnTo>
                <a:lnTo>
                  <a:pt x="101323" y="1893977"/>
                </a:lnTo>
                <a:lnTo>
                  <a:pt x="99508" y="1893069"/>
                </a:lnTo>
                <a:lnTo>
                  <a:pt x="97710" y="1892042"/>
                </a:lnTo>
                <a:lnTo>
                  <a:pt x="95930" y="1890897"/>
                </a:lnTo>
                <a:lnTo>
                  <a:pt x="94169" y="1889637"/>
                </a:lnTo>
                <a:lnTo>
                  <a:pt x="92430" y="1888263"/>
                </a:lnTo>
                <a:lnTo>
                  <a:pt x="90714" y="1886775"/>
                </a:lnTo>
                <a:lnTo>
                  <a:pt x="89023" y="1885176"/>
                </a:lnTo>
                <a:lnTo>
                  <a:pt x="87360" y="1883467"/>
                </a:lnTo>
                <a:lnTo>
                  <a:pt x="85725" y="1881650"/>
                </a:lnTo>
                <a:lnTo>
                  <a:pt x="84121" y="1879727"/>
                </a:lnTo>
                <a:lnTo>
                  <a:pt x="82549" y="1877700"/>
                </a:lnTo>
                <a:lnTo>
                  <a:pt x="81011" y="1875572"/>
                </a:lnTo>
                <a:lnTo>
                  <a:pt x="79509" y="1873344"/>
                </a:lnTo>
                <a:lnTo>
                  <a:pt x="78044" y="1871018"/>
                </a:lnTo>
                <a:lnTo>
                  <a:pt x="76618" y="1868599"/>
                </a:lnTo>
                <a:lnTo>
                  <a:pt x="75233" y="1866087"/>
                </a:lnTo>
                <a:lnTo>
                  <a:pt x="73889" y="1863486"/>
                </a:lnTo>
                <a:lnTo>
                  <a:pt x="72588" y="1860798"/>
                </a:lnTo>
                <a:lnTo>
                  <a:pt x="71332" y="1858027"/>
                </a:lnTo>
                <a:lnTo>
                  <a:pt x="70122" y="1855174"/>
                </a:lnTo>
                <a:lnTo>
                  <a:pt x="68960" y="1852245"/>
                </a:lnTo>
                <a:lnTo>
                  <a:pt x="67846" y="1849240"/>
                </a:lnTo>
                <a:lnTo>
                  <a:pt x="66782" y="1846165"/>
                </a:lnTo>
                <a:lnTo>
                  <a:pt x="65768" y="1843021"/>
                </a:lnTo>
                <a:lnTo>
                  <a:pt x="64807" y="1839813"/>
                </a:lnTo>
                <a:lnTo>
                  <a:pt x="63898" y="1836544"/>
                </a:lnTo>
                <a:lnTo>
                  <a:pt x="63044" y="1833217"/>
                </a:lnTo>
                <a:lnTo>
                  <a:pt x="62244" y="1829836"/>
                </a:lnTo>
                <a:lnTo>
                  <a:pt x="61500" y="1826404"/>
                </a:lnTo>
                <a:lnTo>
                  <a:pt x="60813" y="1822925"/>
                </a:lnTo>
                <a:lnTo>
                  <a:pt x="60183" y="1819404"/>
                </a:lnTo>
                <a:lnTo>
                  <a:pt x="59611" y="1815843"/>
                </a:lnTo>
                <a:lnTo>
                  <a:pt x="59097" y="1812246"/>
                </a:lnTo>
                <a:lnTo>
                  <a:pt x="58643" y="1808618"/>
                </a:lnTo>
                <a:lnTo>
                  <a:pt x="58248" y="1804962"/>
                </a:lnTo>
                <a:lnTo>
                  <a:pt x="57913" y="1801282"/>
                </a:lnTo>
                <a:lnTo>
                  <a:pt x="57639" y="1797582"/>
                </a:lnTo>
                <a:lnTo>
                  <a:pt x="57425" y="1793867"/>
                </a:lnTo>
                <a:lnTo>
                  <a:pt x="57272" y="1790139"/>
                </a:lnTo>
                <a:lnTo>
                  <a:pt x="57181" y="1786403"/>
                </a:lnTo>
                <a:lnTo>
                  <a:pt x="57150" y="1782663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0EAED-897D-499B-BB3D-F6F704C5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8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D0F882BD-F07D-4E93-BD25-BCC32E8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ДОКАЗ</a:t>
            </a:r>
          </a:p>
        </p:txBody>
      </p:sp>
      <p:sp>
        <p:nvSpPr>
          <p:cNvPr id="9" name="heading-audit-record">
            <a:extLst xmlns:a="http://schemas.openxmlformats.org/drawingml/2006/main">
              <a:ext uri="{FF2B5EF4-FFF2-40B4-BE49-F238E27FC236}">
                <a16:creationId xmlns:a16="http://schemas.microsoft.com/office/drawing/2014/main" id="{49F9BC72-9E88-4F5E-BAA5-8B6D6F84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844168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64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Садржај безбедносног записа</a:t>
            </a:r>
          </a:p>
        </p:txBody>
      </p:sp>
      <p:sp>
        <p:nvSpPr>
          <p:cNvPr id="10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53A32263-63D8-4185-B968-93F1394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26936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11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48D145AE-205C-4E68-B1BC-BE1B163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12616"/>
            <a:ext cx="48692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JSON · пример безбедносног записа</a:t>
            </a:r>
          </a:p>
        </p:txBody>
      </p:sp>
      <p:sp>
        <p:nvSpPr>
          <p:cNvPr id="12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9A795A47-F2A3-41D4-9991-983855E3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1</a:t>
            </a:r>
          </a:p>
        </p:txBody>
      </p:sp>
      <p:sp>
        <p:nvSpPr>
          <p:cNvPr id="13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6105A773-248F-43B4-9CF0-EBE2257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0879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{</a:t>
            </a:r>
          </a:p>
        </p:txBody>
      </p:sp>
      <p:sp>
        <p:nvSpPr>
          <p:cNvPr id="14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88F5D26B-3E74-49A2-9A77-D2352D80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28777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2</a:t>
            </a:r>
          </a:p>
        </p:txBody>
      </p:sp>
      <p:sp>
        <p:nvSpPr>
          <p:cNvPr id="15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C249F743-4D55-4F27-A0F5-D02A1D9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8777"/>
            <a:ext cx="41837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"policyId"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"data-export"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16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FA80B71A-68B8-4835-A651-7C2C55E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4875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3</a:t>
            </a:r>
          </a:p>
        </p:txBody>
      </p:sp>
      <p:sp>
        <p:nvSpPr>
          <p:cNvPr id="17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C572D4E9-B556-443B-8350-B78762BC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48758"/>
            <a:ext cx="24005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"version"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4,</a:t>
            </a:r>
          </a:p>
        </p:txBody>
      </p:sp>
      <p:sp>
        <p:nvSpPr>
          <p:cNvPr id="18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AFA3DA04-0DD5-4616-95E0-B8643A4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68738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4</a:t>
            </a:r>
          </a:p>
        </p:txBody>
      </p:sp>
      <p:sp>
        <p:nvSpPr>
          <p:cNvPr id="19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9BB20018-F186-4896-B331-D26F4437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68738"/>
            <a:ext cx="41838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"validFrom"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"2026-10-01"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0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1A92C1D0-6952-4C37-907D-1134E36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98871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5</a:t>
            </a:r>
          </a:p>
        </p:txBody>
      </p:sp>
      <p:sp>
        <p:nvSpPr>
          <p:cNvPr id="21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30A9CAF0-D779-4893-B2BF-7836DAEA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88719"/>
            <a:ext cx="34979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"baseline"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"api-v4"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2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255D7CCF-6BC6-456D-B790-9FBDAB9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08699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6</a:t>
            </a:r>
          </a:p>
        </p:txBody>
      </p:sp>
      <p:sp>
        <p:nvSpPr>
          <p:cNvPr id="23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E4FA6DDA-3A5B-4800-BE5D-D6502F3F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8699"/>
            <a:ext cx="34979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"decision"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"denied"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,</a:t>
            </a:r>
          </a:p>
        </p:txBody>
      </p:sp>
      <p:sp>
        <p:nvSpPr>
          <p:cNvPr id="24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18061F74-5454-4B0A-8C78-5CBD9ADB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62868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7</a:t>
            </a:r>
          </a:p>
        </p:txBody>
      </p:sp>
      <p:sp>
        <p:nvSpPr>
          <p:cNvPr id="25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1A1866B4-8447-4156-9AEF-4453778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28680"/>
            <a:ext cx="4869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 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"reason"</a:t>
            </a: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: </a:t>
            </a:r>
            <a:r>
              <a:rPr sz="1800" b="0">
                <a:solidFill>
                  <a:srgbClr val="A8520A"/>
                </a:solidFill>
                <a:latin typeface="IBM Plex Mono"/>
                <a:ea typeface="IBM Plex Mono"/>
                <a:cs typeface="IBM Plex Mono"/>
              </a:rPr>
              <a:t>"configuration_drift"</a:t>
            </a:r>
          </a:p>
        </p:txBody>
      </p:sp>
      <p:sp>
        <p:nvSpPr>
          <p:cNvPr id="26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6E287894-C6B2-4B5D-9D7C-E4291C5C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8C99A6"/>
                </a:solidFill>
                <a:latin typeface="IBM Plex Mono"/>
                <a:ea typeface="IBM Plex Mono"/>
                <a:cs typeface="IBM Plex Mono"/>
              </a:rPr>
              <a:t>8</a:t>
            </a:r>
          </a:p>
        </p:txBody>
      </p:sp>
      <p:sp>
        <p:nvSpPr>
          <p:cNvPr id="27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79428C42-88A5-4412-ADC8-62B32E0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48660"/>
            <a:ext cx="4801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13202D"/>
                </a:solidFill>
                <a:latin typeface="IBM Plex Mono"/>
                <a:ea typeface="IBM Plex Mono"/>
                <a:cs typeface="IBM Plex Mono"/>
              </a:rPr>
              <a:t>}</a:t>
            </a:r>
          </a:p>
        </p:txBody>
      </p:sp>
      <p:sp>
        <p:nvSpPr>
          <p:cNvPr id="28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7DA73C88-D6B7-4B76-B908-0C2940C5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03091"/>
            <a:ext cx="13031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ДОВОЉНО</a:t>
            </a:r>
          </a:p>
        </p:txBody>
      </p:sp>
      <p:sp>
        <p:nvSpPr>
          <p:cNvPr id="29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C7EC599A-5A91-4AD9-B204-C3B83621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08797"/>
            <a:ext cx="47059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Актер, радња, циљ, исход и разлог</a:t>
            </a:r>
          </a:p>
        </p:txBody>
      </p:sp>
      <p:sp>
        <p:nvSpPr>
          <p:cNvPr id="30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0E0291A3-682D-44D4-B408-8297896C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82058"/>
            <a:ext cx="571217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Временска ознака и correlation ID повезују </a:t>
            </a:r>
          </a:p>
        </p:txBody>
      </p:sp>
      <p:sp>
        <p:nvSpPr>
          <p:cNvPr id="31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5016D8CE-36FC-41DE-8044-0164506C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55319"/>
            <a:ext cx="312568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са остатком тока.</a:t>
            </a:r>
          </a:p>
        </p:txBody>
      </p:sp>
      <p:sp>
        <p:nvSpPr>
          <p:cNvPr id="32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808A5773-AECF-421C-930F-483BB1FA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8655"/>
            <a:ext cx="281181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НЕ ПРИПАДА У ДОКАЗ</a:t>
            </a:r>
          </a:p>
        </p:txBody>
      </p:sp>
      <p:sp>
        <p:nvSpPr>
          <p:cNvPr id="33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9D4D0F3C-93EF-4E21-AA63-372E99E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34360"/>
            <a:ext cx="54188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Лозинка, token, тајна и сувишан садржај</a:t>
            </a:r>
          </a:p>
        </p:txBody>
      </p:sp>
      <p:sp>
        <p:nvSpPr>
          <p:cNvPr id="34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2DEBCD03-FFF0-4886-A22F-BA6A465F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07621"/>
            <a:ext cx="572601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Траг не сме да постане нови извор цурења </a:t>
            </a:r>
          </a:p>
        </p:txBody>
      </p:sp>
      <p:sp>
        <p:nvSpPr>
          <p:cNvPr id="35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B7E7370E-0D29-4F53-9F18-ED8DE17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0882"/>
            <a:ext cx="472960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или збирка непотребних података.</a:t>
            </a:r>
          </a:p>
        </p:txBody>
      </p:sp>
      <p:sp>
        <p:nvSpPr>
          <p:cNvPr id="36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0E2395A9-74F7-44CD-B83F-58BD1E3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7" name="text-audit-record">
            <a:extLst xmlns:a="http://schemas.openxmlformats.org/drawingml/2006/main">
              <a:ext uri="{FF2B5EF4-FFF2-40B4-BE49-F238E27FC236}">
                <a16:creationId xmlns:a16="http://schemas.microsoft.com/office/drawing/2014/main" id="{87830A5F-0479-4C74-8238-A3EB9ED1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657548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E1CFA-B317-4645-824A-7013052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8CE70-B249-4CF1-8EEF-80649955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5849600" cy="1097161"/>
          </a:xfrm>
          <a:prstGeom xmlns:a="http://schemas.openxmlformats.org/drawingml/2006/main" prst="roundRect">
            <a:avLst>
              <a:gd name="adj" fmla="val 10418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3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89D322C2-A82C-49F9-B2B1-2E1381D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114300" cy="1097161"/>
          </a:xfrm>
          <a:custGeom xmlns:a="http://schemas.openxmlformats.org/drawingml/2006/main">
            <a:pathLst>
              <a:path w="114300" h="1097161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982861"/>
                </a:lnTo>
                <a:lnTo>
                  <a:pt x="61" y="986601"/>
                </a:lnTo>
                <a:lnTo>
                  <a:pt x="245" y="990337"/>
                </a:lnTo>
                <a:lnTo>
                  <a:pt x="550" y="994064"/>
                </a:lnTo>
                <a:lnTo>
                  <a:pt x="978" y="997780"/>
                </a:lnTo>
                <a:lnTo>
                  <a:pt x="1527" y="1001480"/>
                </a:lnTo>
                <a:lnTo>
                  <a:pt x="2196" y="1005160"/>
                </a:lnTo>
                <a:lnTo>
                  <a:pt x="2986" y="1008816"/>
                </a:lnTo>
                <a:lnTo>
                  <a:pt x="3895" y="1012444"/>
                </a:lnTo>
                <a:lnTo>
                  <a:pt x="4922" y="1016040"/>
                </a:lnTo>
                <a:lnTo>
                  <a:pt x="6066" y="1019601"/>
                </a:lnTo>
                <a:lnTo>
                  <a:pt x="7326" y="1023123"/>
                </a:lnTo>
                <a:lnTo>
                  <a:pt x="8701" y="1026602"/>
                </a:lnTo>
                <a:lnTo>
                  <a:pt x="10188" y="1030033"/>
                </a:lnTo>
                <a:lnTo>
                  <a:pt x="11787" y="1033415"/>
                </a:lnTo>
                <a:lnTo>
                  <a:pt x="13496" y="1036742"/>
                </a:lnTo>
                <a:lnTo>
                  <a:pt x="15313" y="1040011"/>
                </a:lnTo>
                <a:lnTo>
                  <a:pt x="17236" y="1043219"/>
                </a:lnTo>
                <a:lnTo>
                  <a:pt x="19263" y="1046363"/>
                </a:lnTo>
                <a:lnTo>
                  <a:pt x="21392" y="1049438"/>
                </a:lnTo>
                <a:lnTo>
                  <a:pt x="23620" y="1052442"/>
                </a:lnTo>
                <a:lnTo>
                  <a:pt x="25945" y="1055372"/>
                </a:lnTo>
                <a:lnTo>
                  <a:pt x="28365" y="1058224"/>
                </a:lnTo>
                <a:lnTo>
                  <a:pt x="30877" y="1060996"/>
                </a:lnTo>
                <a:lnTo>
                  <a:pt x="33478" y="1063683"/>
                </a:lnTo>
                <a:lnTo>
                  <a:pt x="36165" y="1066284"/>
                </a:lnTo>
                <a:lnTo>
                  <a:pt x="38937" y="1068796"/>
                </a:lnTo>
                <a:lnTo>
                  <a:pt x="41789" y="1071216"/>
                </a:lnTo>
                <a:lnTo>
                  <a:pt x="44719" y="1073541"/>
                </a:lnTo>
                <a:lnTo>
                  <a:pt x="47723" y="1075769"/>
                </a:lnTo>
                <a:lnTo>
                  <a:pt x="50798" y="1077898"/>
                </a:lnTo>
                <a:lnTo>
                  <a:pt x="53942" y="1079925"/>
                </a:lnTo>
                <a:lnTo>
                  <a:pt x="57150" y="1081848"/>
                </a:lnTo>
                <a:lnTo>
                  <a:pt x="60419" y="1083665"/>
                </a:lnTo>
                <a:lnTo>
                  <a:pt x="63746" y="1085373"/>
                </a:lnTo>
                <a:lnTo>
                  <a:pt x="67128" y="1086973"/>
                </a:lnTo>
                <a:lnTo>
                  <a:pt x="70559" y="1088460"/>
                </a:lnTo>
                <a:lnTo>
                  <a:pt x="74038" y="1089835"/>
                </a:lnTo>
                <a:lnTo>
                  <a:pt x="77559" y="1091095"/>
                </a:lnTo>
                <a:lnTo>
                  <a:pt x="81120" y="1092239"/>
                </a:lnTo>
                <a:lnTo>
                  <a:pt x="84717" y="1093266"/>
                </a:lnTo>
                <a:lnTo>
                  <a:pt x="88345" y="1094175"/>
                </a:lnTo>
                <a:lnTo>
                  <a:pt x="92001" y="1094965"/>
                </a:lnTo>
                <a:lnTo>
                  <a:pt x="95681" y="1095634"/>
                </a:lnTo>
                <a:lnTo>
                  <a:pt x="99381" y="1096183"/>
                </a:lnTo>
                <a:lnTo>
                  <a:pt x="103097" y="1096611"/>
                </a:lnTo>
                <a:lnTo>
                  <a:pt x="106824" y="1096916"/>
                </a:lnTo>
                <a:lnTo>
                  <a:pt x="110560" y="1097100"/>
                </a:lnTo>
                <a:lnTo>
                  <a:pt x="114300" y="1097161"/>
                </a:lnTo>
                <a:lnTo>
                  <a:pt x="114300" y="1097161"/>
                </a:lnTo>
                <a:lnTo>
                  <a:pt x="112430" y="1097100"/>
                </a:lnTo>
                <a:lnTo>
                  <a:pt x="110562" y="1096916"/>
                </a:lnTo>
                <a:lnTo>
                  <a:pt x="108698" y="1096611"/>
                </a:lnTo>
                <a:lnTo>
                  <a:pt x="106840" y="1096183"/>
                </a:lnTo>
                <a:lnTo>
                  <a:pt x="104991" y="1095634"/>
                </a:lnTo>
                <a:lnTo>
                  <a:pt x="103151" y="1094965"/>
                </a:lnTo>
                <a:lnTo>
                  <a:pt x="101323" y="1094175"/>
                </a:lnTo>
                <a:lnTo>
                  <a:pt x="99508" y="1093266"/>
                </a:lnTo>
                <a:lnTo>
                  <a:pt x="97710" y="1092239"/>
                </a:lnTo>
                <a:lnTo>
                  <a:pt x="95930" y="1091095"/>
                </a:lnTo>
                <a:lnTo>
                  <a:pt x="94169" y="1089835"/>
                </a:lnTo>
                <a:lnTo>
                  <a:pt x="92430" y="1088460"/>
                </a:lnTo>
                <a:lnTo>
                  <a:pt x="90714" y="1086973"/>
                </a:lnTo>
                <a:lnTo>
                  <a:pt x="89023" y="1085373"/>
                </a:lnTo>
                <a:lnTo>
                  <a:pt x="87360" y="1083665"/>
                </a:lnTo>
                <a:lnTo>
                  <a:pt x="85725" y="1081848"/>
                </a:lnTo>
                <a:lnTo>
                  <a:pt x="84121" y="1079925"/>
                </a:lnTo>
                <a:lnTo>
                  <a:pt x="82549" y="1077898"/>
                </a:lnTo>
                <a:lnTo>
                  <a:pt x="81011" y="1075769"/>
                </a:lnTo>
                <a:lnTo>
                  <a:pt x="79509" y="1073541"/>
                </a:lnTo>
                <a:lnTo>
                  <a:pt x="78044" y="1071216"/>
                </a:lnTo>
                <a:lnTo>
                  <a:pt x="76618" y="1068796"/>
                </a:lnTo>
                <a:lnTo>
                  <a:pt x="75233" y="1066284"/>
                </a:lnTo>
                <a:lnTo>
                  <a:pt x="73889" y="1063683"/>
                </a:lnTo>
                <a:lnTo>
                  <a:pt x="72588" y="1060996"/>
                </a:lnTo>
                <a:lnTo>
                  <a:pt x="71332" y="1058224"/>
                </a:lnTo>
                <a:lnTo>
                  <a:pt x="70122" y="1055372"/>
                </a:lnTo>
                <a:lnTo>
                  <a:pt x="68960" y="1052442"/>
                </a:lnTo>
                <a:lnTo>
                  <a:pt x="67846" y="1049438"/>
                </a:lnTo>
                <a:lnTo>
                  <a:pt x="66782" y="1046363"/>
                </a:lnTo>
                <a:lnTo>
                  <a:pt x="65768" y="1043219"/>
                </a:lnTo>
                <a:lnTo>
                  <a:pt x="64807" y="1040011"/>
                </a:lnTo>
                <a:lnTo>
                  <a:pt x="63898" y="1036742"/>
                </a:lnTo>
                <a:lnTo>
                  <a:pt x="63044" y="1033415"/>
                </a:lnTo>
                <a:lnTo>
                  <a:pt x="62244" y="1030033"/>
                </a:lnTo>
                <a:lnTo>
                  <a:pt x="61500" y="1026602"/>
                </a:lnTo>
                <a:lnTo>
                  <a:pt x="60813" y="1023123"/>
                </a:lnTo>
                <a:lnTo>
                  <a:pt x="60183" y="1019601"/>
                </a:lnTo>
                <a:lnTo>
                  <a:pt x="59611" y="1016040"/>
                </a:lnTo>
                <a:lnTo>
                  <a:pt x="59097" y="1012444"/>
                </a:lnTo>
                <a:lnTo>
                  <a:pt x="58643" y="1008816"/>
                </a:lnTo>
                <a:lnTo>
                  <a:pt x="58248" y="1005160"/>
                </a:lnTo>
                <a:lnTo>
                  <a:pt x="57913" y="1001480"/>
                </a:lnTo>
                <a:lnTo>
                  <a:pt x="57639" y="997780"/>
                </a:lnTo>
                <a:lnTo>
                  <a:pt x="57425" y="994064"/>
                </a:lnTo>
                <a:lnTo>
                  <a:pt x="57272" y="990337"/>
                </a:lnTo>
                <a:lnTo>
                  <a:pt x="57181" y="986601"/>
                </a:lnTo>
                <a:lnTo>
                  <a:pt x="57150" y="982861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6D276-CF34-4528-8ACB-97541AC7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e1e274c0e45c1"/>
          <a:stretch xmlns:a="http://schemas.openxmlformats.org/drawingml/2006/main"/>
        </p:blipFill>
        <p:spPr>
          <a:xfrm xmlns:a="http://schemas.openxmlformats.org/drawingml/2006/main">
            <a:off x="1219200" y="3352800"/>
            <a:ext cx="158496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9EE8C0D6-62B6-4F4B-B7B1-F0E8AF7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092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 · ОТКРИВАЊЕ ОДСТУПАЊА</a:t>
            </a:r>
          </a:p>
        </p:txBody>
      </p:sp>
      <p:sp>
        <p:nvSpPr>
          <p:cNvPr id="7" name="heading-drift-diagram">
            <a:extLst xmlns:a="http://schemas.openxmlformats.org/drawingml/2006/main">
              <a:ext uri="{FF2B5EF4-FFF2-40B4-BE49-F238E27FC236}">
                <a16:creationId xmlns:a16="http://schemas.microsoft.com/office/drawing/2014/main" id="{F62FEB95-4EBE-4897-9B2E-85C0DC2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053191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Drift је разлика која има објашњење</a:t>
            </a:r>
          </a:p>
        </p:txBody>
      </p:sp>
      <p:sp>
        <p:nvSpPr>
          <p:cNvPr id="8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8CD81370-F565-4823-8A45-1D01996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91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Приказ прати достављени наставни тест за MinimumPasswordLengthControl.</a:t>
            </a:r>
          </a:p>
        </p:txBody>
      </p:sp>
      <p:sp>
        <p:nvSpPr>
          <p:cNvPr id="9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2539D067-0888-4752-903C-A0671E7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620" y="4314825"/>
            <a:ext cx="3237309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Очекивано / стварно</a:t>
            </a:r>
          </a:p>
        </p:txBody>
      </p:sp>
      <p:sp>
        <p:nvSpPr>
          <p:cNvPr id="10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D06AC8C2-95DD-4C0C-AF8F-6244EA46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854" y="5000625"/>
            <a:ext cx="2064841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>
                <a:latin typeface="IBM Plex Sans"/>
                <a:ea typeface="IBM Plex Sans"/>
                <a:cs typeface="IBM Plex Sans"/>
              </a:defRPr>
            </a:pPr>
            <a:r>
              <a:rPr sz="42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14 / 10</a:t>
            </a:r>
          </a:p>
        </p:txBody>
      </p:sp>
      <p:sp>
        <p:nvSpPr>
          <p:cNvPr id="11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883CB136-7BF0-4B24-B3E6-1D19D85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352" y="4314825"/>
            <a:ext cx="166404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2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392B35E5-4875-4DF8-BE1E-6EC8F0D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79" y="5038725"/>
            <a:ext cx="179814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Sans"/>
                <a:ea typeface="IBM Plex Sans"/>
                <a:cs typeface="IBM Plex Sans"/>
              </a:defRPr>
            </a:pPr>
            <a:r>
              <a:rPr sz="3300" b="0">
                <a:solidFill>
                  <a:srgbClr val="6B3FA0"/>
                </a:solidFill>
                <a:latin typeface="IBM Plex Sans"/>
                <a:ea typeface="IBM Plex Sans"/>
                <a:cs typeface="IBM Plex Sans"/>
              </a:rPr>
              <a:t>10 &lt; 14</a:t>
            </a:r>
          </a:p>
        </p:txBody>
      </p:sp>
      <p:sp>
        <p:nvSpPr>
          <p:cNvPr id="13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FEA6377A-DFFF-41B5-A358-E1F2E01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727" y="4314825"/>
            <a:ext cx="303564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A8520A"/>
                </a:solidFill>
                <a:latin typeface="IBM Plex Sans"/>
                <a:ea typeface="IBM Plex Sans"/>
                <a:cs typeface="IBM Plex Sans"/>
              </a:rPr>
              <a:t>Експлицитан налаз</a:t>
            </a:r>
          </a:p>
        </p:txBody>
      </p:sp>
      <p:sp>
        <p:nvSpPr>
          <p:cNvPr id="14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1AFA1EBC-3D80-4C28-9275-CEA5EAD8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5771" y="5133975"/>
            <a:ext cx="204370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име + 14 + 10</a:t>
            </a:r>
          </a:p>
        </p:txBody>
      </p:sp>
      <p:sp>
        <p:nvSpPr>
          <p:cNvPr id="15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BC09E87F-B7BB-49EA-A13F-136083A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524750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Тестови у оба смера</a:t>
            </a:r>
          </a:p>
        </p:txBody>
      </p:sp>
      <p:sp>
        <p:nvSpPr>
          <p:cNvPr id="16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32A39C71-7FB8-4784-8DCD-62761DE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20930"/>
            <a:ext cx="1452830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Поред одступања, провери и стање без одступања. Тако се разликује исправна контрола од механизма који увек пријављује налаз.</a:t>
            </a:r>
          </a:p>
        </p:txBody>
      </p:sp>
      <p:sp>
        <p:nvSpPr>
          <p:cNvPr id="17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2B095137-A962-4BC9-8373-2F65DB3A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8" name="text-drift-diagram">
            <a:extLst xmlns:a="http://schemas.openxmlformats.org/drawingml/2006/main">
              <a:ext uri="{FF2B5EF4-FFF2-40B4-BE49-F238E27FC236}">
                <a16:creationId xmlns:a16="http://schemas.microsoft.com/office/drawing/2014/main" id="{6D591A2D-87DE-441A-B53E-D2E1F10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0457649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AE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EB8BC-B463-43EE-A8DD-A6201886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58657"/>
            <a:ext cx="1188541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A54B1-D600-4ECB-857D-D3DAF7A7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641" y="6158657"/>
            <a:ext cx="1780580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41DFD-30DE-43C2-A141-7F0C14BA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521" y="6158657"/>
            <a:ext cx="1350913" cy="49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BDBAC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C6054-008A-4C7C-9A22-95C14128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ACF"/>
          </a:solidFill>
          <a:ln xmlns:a="http://schemas.openxmlformats.org/drawingml/2006/main" w="0">
            <a:noFill/>
          </a:ln>
        </p:spPr>
      </p:sp>
      <p:sp>
        <p:nvSpPr>
          <p:cNvPr id="5" name="text-deo4">
            <a:extLst xmlns:a="http://schemas.openxmlformats.org/drawingml/2006/main">
              <a:ext uri="{FF2B5EF4-FFF2-40B4-BE49-F238E27FC236}">
                <a16:creationId xmlns:a16="http://schemas.microsoft.com/office/drawing/2014/main" id="{93C3C6CD-26EB-4B5A-911A-5B63B34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33909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0">
                <a:latin typeface="IBM Plex Mono"/>
                <a:ea typeface="IBM Plex Mono"/>
                <a:cs typeface="IBM Plex Mono"/>
              </a:defRPr>
            </a:pPr>
            <a:r>
              <a:rPr sz="21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6" name="text-deo4">
            <a:extLst xmlns:a="http://schemas.openxmlformats.org/drawingml/2006/main">
              <a:ext uri="{FF2B5EF4-FFF2-40B4-BE49-F238E27FC236}">
                <a16:creationId xmlns:a16="http://schemas.microsoft.com/office/drawing/2014/main" id="{94E40428-336B-4BD8-8578-0BA5DDCC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1964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ЧЕТВРТИ ДЕО</a:t>
            </a:r>
          </a:p>
        </p:txBody>
      </p:sp>
      <p:sp>
        <p:nvSpPr>
          <p:cNvPr id="7" name="heading-deo4">
            <a:extLst xmlns:a="http://schemas.openxmlformats.org/drawingml/2006/main">
              <a:ext uri="{FF2B5EF4-FFF2-40B4-BE49-F238E27FC236}">
                <a16:creationId xmlns:a16="http://schemas.microsoft.com/office/drawing/2014/main" id="{6A11F61C-FE78-451E-9E81-6F7CE6F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04345"/>
            <a:ext cx="8674894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137"/>
          </a:bodyPr>
          <a:lstStyle xmlns:a="http://schemas.openxmlformats.org/drawingml/2006/main"/>
          <a:p xmlns:a="http://schemas.openxmlformats.org/drawingml/2006/main">
            <a:pPr algn="l">
              <a:defRPr sz="7200">
                <a:latin typeface="IBM Plex Sans"/>
                <a:ea typeface="IBM Plex Sans"/>
                <a:cs typeface="IBM Plex Sans"/>
              </a:defRPr>
            </a:pPr>
            <a:r>
              <a:rPr sz="72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и примена</a:t>
            </a:r>
          </a:p>
        </p:txBody>
      </p:sp>
      <p:sp>
        <p:nvSpPr>
          <p:cNvPr id="8" name="text-deo4">
            <a:extLst xmlns:a="http://schemas.openxmlformats.org/drawingml/2006/main">
              <a:ext uri="{FF2B5EF4-FFF2-40B4-BE49-F238E27FC236}">
                <a16:creationId xmlns:a16="http://schemas.microsoft.com/office/drawing/2014/main" id="{1E237A7D-8CF6-46C8-B3C5-2A9980C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54960"/>
            <a:ext cx="881955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Критеријуми потпуности, честе грешке и примена на један стварни </a:t>
            </a:r>
          </a:p>
        </p:txBody>
      </p:sp>
      <p:sp>
        <p:nvSpPr>
          <p:cNvPr id="9" name="text-deo4">
            <a:extLst xmlns:a="http://schemas.openxmlformats.org/drawingml/2006/main">
              <a:ext uri="{FF2B5EF4-FFF2-40B4-BE49-F238E27FC236}">
                <a16:creationId xmlns:a16="http://schemas.microsoft.com/office/drawing/2014/main" id="{BFA5BB45-1C62-4DF5-B2B8-D5D3440B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28221"/>
            <a:ext cx="293533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пројектни сценарио.</a:t>
            </a:r>
          </a:p>
        </p:txBody>
      </p:sp>
      <p:sp>
        <p:nvSpPr>
          <p:cNvPr id="10" name="text-deo4">
            <a:extLst xmlns:a="http://schemas.openxmlformats.org/drawingml/2006/main">
              <a:ext uri="{FF2B5EF4-FFF2-40B4-BE49-F238E27FC236}">
                <a16:creationId xmlns:a16="http://schemas.microsoft.com/office/drawing/2014/main" id="{3C08DADE-5CA7-438E-A440-01874310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244382"/>
            <a:ext cx="11313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Грешке</a:t>
            </a:r>
          </a:p>
        </p:txBody>
      </p:sp>
      <p:sp>
        <p:nvSpPr>
          <p:cNvPr id="11" name="text-deo4">
            <a:extLst xmlns:a="http://schemas.openxmlformats.org/drawingml/2006/main">
              <a:ext uri="{FF2B5EF4-FFF2-40B4-BE49-F238E27FC236}">
                <a16:creationId xmlns:a16="http://schemas.microsoft.com/office/drawing/2014/main" id="{685B45F3-8975-4BEA-9DF7-BDBCC7A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666" y="6244382"/>
            <a:ext cx="172343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Критеријуми</a:t>
            </a:r>
          </a:p>
        </p:txBody>
      </p:sp>
      <p:sp>
        <p:nvSpPr>
          <p:cNvPr id="12" name="text-deo4">
            <a:extLst xmlns:a="http://schemas.openxmlformats.org/drawingml/2006/main">
              <a:ext uri="{FF2B5EF4-FFF2-40B4-BE49-F238E27FC236}">
                <a16:creationId xmlns:a16="http://schemas.microsoft.com/office/drawing/2014/main" id="{D5BBA46A-C644-465C-8AA3-94231F7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546" y="6244382"/>
            <a:ext cx="12937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Пројекат</a:t>
            </a:r>
          </a:p>
        </p:txBody>
      </p:sp>
      <p:sp>
        <p:nvSpPr>
          <p:cNvPr id="13" name="text-deo4">
            <a:extLst xmlns:a="http://schemas.openxmlformats.org/drawingml/2006/main">
              <a:ext uri="{FF2B5EF4-FFF2-40B4-BE49-F238E27FC236}">
                <a16:creationId xmlns:a16="http://schemas.microsoft.com/office/drawing/2014/main" id="{C8EA3FF9-1DE3-4D2D-9860-EF377ABE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4" name="text-deo4">
            <a:extLst xmlns:a="http://schemas.openxmlformats.org/drawingml/2006/main">
              <a:ext uri="{FF2B5EF4-FFF2-40B4-BE49-F238E27FC236}">
                <a16:creationId xmlns:a16="http://schemas.microsoft.com/office/drawing/2014/main" id="{E428CA30-E76F-4B98-ACBF-0A41045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456312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5B0D2-2332-40B0-A3E1-AF2F44F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34BF-EF09-4E8F-8A04-D5145889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5156150" cy="2914204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C76B2-9F33-4A7F-92EB-366F316B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850" y="3112591"/>
            <a:ext cx="5156299" cy="2914204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8D978-963D-462E-8F95-41A98DDF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50" y="3112591"/>
            <a:ext cx="5156150" cy="2914204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24F30-BDA4-42CF-8A20-1AC7B5D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371AE1C-7D07-4315-ACAA-A42A9577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0612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ГРЕШКЕ</a:t>
            </a:r>
          </a:p>
        </p:txBody>
      </p:sp>
      <p:sp>
        <p:nvSpPr>
          <p:cNvPr id="7" name="heading-source-17">
            <a:extLst xmlns:a="http://schemas.openxmlformats.org/drawingml/2006/main">
              <a:ext uri="{FF2B5EF4-FFF2-40B4-BE49-F238E27FC236}">
                <a16:creationId xmlns:a16="http://schemas.microsoft.com/office/drawing/2014/main" id="{BEAA768B-527E-4DD5-AA36-EF09F06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901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534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Честе грешке у имплементацији</a:t>
            </a:r>
          </a:p>
        </p:txBody>
      </p:sp>
      <p:sp>
        <p:nvSpPr>
          <p:cNvPr id="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85FA7B8D-AC25-4A05-B995-4E97818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2021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CCF983B5-25BF-4ABA-8586-0BE322A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6276AA58-DA71-428A-80E4-E67BE56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36369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Уређивање објављене </a:t>
            </a:r>
          </a:p>
        </p:txBody>
      </p:sp>
      <p:sp>
        <p:nvSpPr>
          <p:cNvPr id="1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2062BB3-13C9-4AD0-B0BF-A221B46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74518"/>
            <a:ext cx="3665637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политике на месту без </a:t>
            </a:r>
          </a:p>
        </p:txBody>
      </p:sp>
      <p:sp>
        <p:nvSpPr>
          <p:cNvPr id="1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ED3E4E16-C19C-4956-ABB2-00B57D8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840188"/>
            <a:ext cx="171583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историје.</a:t>
            </a:r>
          </a:p>
        </p:txBody>
      </p:sp>
      <p:sp>
        <p:nvSpPr>
          <p:cNvPr id="1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888FDE1-D6EF-4769-87F0-4598A4F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86834"/>
            <a:ext cx="40897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Нема јасног власника одлуке.</a:t>
            </a:r>
          </a:p>
        </p:txBody>
      </p:sp>
      <p:sp>
        <p:nvSpPr>
          <p:cNvPr id="14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13EBAFE4-D348-40D9-8C61-427064F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5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7CCC1909-23F2-46C7-B67A-4251715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108847"/>
            <a:ext cx="414903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Тајне у конфигурационим </a:t>
            </a:r>
          </a:p>
        </p:txBody>
      </p:sp>
      <p:sp>
        <p:nvSpPr>
          <p:cNvPr id="16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0551D9D1-5D81-4148-8AEE-58A7E0DD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4474518"/>
            <a:ext cx="425663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датотекама или логовима.</a:t>
            </a:r>
          </a:p>
        </p:txBody>
      </p:sp>
      <p:sp>
        <p:nvSpPr>
          <p:cNvPr id="17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1373B93-4C1E-4964-8745-EC402B7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075" y="5021163"/>
            <a:ext cx="435471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Не постоји негативан сценарио.</a:t>
            </a:r>
          </a:p>
        </p:txBody>
      </p:sp>
      <p:sp>
        <p:nvSpPr>
          <p:cNvPr id="18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2BEEAA5D-A653-46CD-868F-0330EDC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5B5BC76F-763E-48B2-B1A4-42440E8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108847"/>
            <a:ext cx="477574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Метрика без јасног питања на </a:t>
            </a:r>
          </a:p>
        </p:txBody>
      </p:sp>
      <p:sp>
        <p:nvSpPr>
          <p:cNvPr id="20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C2800B88-C9ED-4A34-B193-8B1824ED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4474518"/>
            <a:ext cx="383872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које треба да одговори.</a:t>
            </a:r>
          </a:p>
        </p:txBody>
      </p:sp>
      <p:sp>
        <p:nvSpPr>
          <p:cNvPr id="21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B3725BB1-3A05-4F16-A7A1-1A125D4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75" y="5021163"/>
            <a:ext cx="454669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не показује стварни исход.</a:t>
            </a:r>
          </a:p>
        </p:txBody>
      </p:sp>
      <p:sp>
        <p:nvSpPr>
          <p:cNvPr id="22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99EAC60E-270D-4E99-81DD-FBD129CD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3" name="text-source-17">
            <a:extLst xmlns:a="http://schemas.openxmlformats.org/drawingml/2006/main">
              <a:ext uri="{FF2B5EF4-FFF2-40B4-BE49-F238E27FC236}">
                <a16:creationId xmlns:a16="http://schemas.microsoft.com/office/drawing/2014/main" id="{6A78F650-DD84-41C8-B7B3-8A4756D0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390007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BED4A-C322-4FBF-BCE3-E3754BF5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10214-CA5E-4E21-AF9D-709B4AB1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8839200" cy="3371106"/>
          </a:xfrm>
          <a:prstGeom xmlns:a="http://schemas.openxmlformats.org/drawingml/2006/main" prst="roundRect">
            <a:avLst>
              <a:gd name="adj" fmla="val 4521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FEB14-934F-4BA0-86D5-D9822B5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06763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0500A-0190-4DAB-B7E9-7DBCCD3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00960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0963C-B72C-4A63-928E-57EEF31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495157"/>
            <a:ext cx="670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82B84-5842-4CC8-9ACA-6EF4E92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B748E1E-EB02-4FB9-A1C0-BA67119D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842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КРИТЕРИЈУМИ</a:t>
            </a:r>
          </a:p>
        </p:txBody>
      </p:sp>
      <p:sp>
        <p:nvSpPr>
          <p:cNvPr id="8" name="heading-source-18">
            <a:extLst xmlns:a="http://schemas.openxmlformats.org/drawingml/2006/main">
              <a:ext uri="{FF2B5EF4-FFF2-40B4-BE49-F238E27FC236}">
                <a16:creationId xmlns:a16="http://schemas.microsoft.com/office/drawing/2014/main" id="{483B1368-1681-489D-BFC8-B42F925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1087025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99089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Критеријуми безбедносне видљивости</a:t>
            </a:r>
          </a:p>
        </p:txBody>
      </p:sp>
      <p:sp>
        <p:nvSpPr>
          <p:cNvPr id="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0B3B32D-5B39-4F65-A43C-A5BBDB63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955744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Доказ треба да буде актуелан, поновљив и разумљив другом члану тима.</a:t>
            </a:r>
          </a:p>
        </p:txBody>
      </p:sp>
      <p:sp>
        <p:nvSpPr>
          <p:cNvPr id="1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2988F09-61FF-486F-BA13-976CBB8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88816"/>
            <a:ext cx="1851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ОБРАЗЛОЖЕЊЕ</a:t>
            </a:r>
          </a:p>
        </p:txBody>
      </p:sp>
      <p:sp>
        <p:nvSpPr>
          <p:cNvPr id="1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D3DF9FF-0889-4C45-8039-AD086A60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23097"/>
            <a:ext cx="5143202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latin typeface="IBM Plex Sans"/>
                <a:ea typeface="IBM Plex Sans"/>
                <a:cs typeface="IBM Plex Sans"/>
              </a:defRPr>
            </a:pPr>
            <a:r>
              <a:rPr sz="24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Видљивост као способност тима</a:t>
            </a:r>
          </a:p>
        </p:txBody>
      </p:sp>
      <p:sp>
        <p:nvSpPr>
          <p:cNvPr id="1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E204A4E-FCF1-4732-8897-F7CD22C4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50693"/>
            <a:ext cx="847382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Безбедносна видљивост не значи чување сваког детаља заувек. </a:t>
            </a:r>
          </a:p>
        </p:txBody>
      </p:sp>
      <p:sp>
        <p:nvSpPr>
          <p:cNvPr id="1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410C21A-0D7F-4818-94F0-CDF9EFE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23954"/>
            <a:ext cx="838482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Значи да се за важну одлуку може пронаћи довољно контекста: </a:t>
            </a:r>
          </a:p>
        </p:txBody>
      </p:sp>
      <p:sp>
        <p:nvSpPr>
          <p:cNvPr id="1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0013776-49C7-4CC3-A557-0D6C450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097214"/>
            <a:ext cx="830475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где је настала, кроз које слојеве је прошла и зашто је завршила </a:t>
            </a:r>
          </a:p>
        </p:txBody>
      </p:sp>
      <p:sp>
        <p:nvSpPr>
          <p:cNvPr id="1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DE46665E-7D64-4EA8-A894-ABDA678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470475"/>
            <a:ext cx="777329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успехом или одбијањем. Корелациони идентификатор даје </a:t>
            </a:r>
          </a:p>
        </p:txBody>
      </p:sp>
      <p:sp>
        <p:nvSpPr>
          <p:cNvPr id="1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AA1B833-639A-44E6-A75D-22D26EA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843736"/>
            <a:ext cx="432539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заједничку нит том објашњењу.</a:t>
            </a:r>
          </a:p>
        </p:txBody>
      </p:sp>
      <p:sp>
        <p:nvSpPr>
          <p:cNvPr id="1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08760066-1887-49A9-8341-E9CF914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7841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8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E165BE85-5A7E-4158-AD41-0778CC00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8316"/>
            <a:ext cx="471740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Логови разликују технички траг од </a:t>
            </a:r>
          </a:p>
        </p:txBody>
      </p:sp>
      <p:sp>
        <p:nvSpPr>
          <p:cNvPr id="19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7BA0089A-BB18-4C2A-A13B-BB8C99FF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71577"/>
            <a:ext cx="57717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безбедносно значајног ревизионог записа.</a:t>
            </a:r>
          </a:p>
        </p:txBody>
      </p:sp>
      <p:sp>
        <p:nvSpPr>
          <p:cNvPr id="20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335EDCA-BE52-4BEE-BCEE-5CC3EE6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402038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21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0A2A97C-C82A-413B-944A-0E6B46C8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2513"/>
            <a:ext cx="577408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Метрика има име, власника и јасно питање </a:t>
            </a:r>
          </a:p>
        </p:txBody>
      </p:sp>
      <p:sp>
        <p:nvSpPr>
          <p:cNvPr id="22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1D080F66-38A2-40A6-A59E-BFE92C9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5774"/>
            <a:ext cx="390852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помаже да се одговори.</a:t>
            </a:r>
          </a:p>
        </p:txBody>
      </p:sp>
      <p:sp>
        <p:nvSpPr>
          <p:cNvPr id="23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A1ACCD1B-D6D6-4CFB-B381-2F60FEFE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59623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>
                <a:latin typeface="IBM Plex Mono"/>
                <a:ea typeface="IBM Plex Mono"/>
                <a:cs typeface="IBM Plex Mono"/>
              </a:defRPr>
            </a:pPr>
            <a:r>
              <a:rPr sz="30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4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F014AEE8-7C5D-46F0-A510-9D9EE6A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86710"/>
            <a:ext cx="595267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Тајне, токени и непотребни лични подаци не </a:t>
            </a:r>
          </a:p>
        </p:txBody>
      </p:sp>
      <p:sp>
        <p:nvSpPr>
          <p:cNvPr id="25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67C028C8-B50E-4B89-A9C5-6C361DD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59971"/>
            <a:ext cx="53411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припадају ни логу ни метричкој ознаци.</a:t>
            </a:r>
          </a:p>
        </p:txBody>
      </p:sp>
      <p:sp>
        <p:nvSpPr>
          <p:cNvPr id="26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B35ABB48-9989-4F7F-9FBB-CF7549D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7" name="text-source-18">
            <a:extLst xmlns:a="http://schemas.openxmlformats.org/drawingml/2006/main">
              <a:ext uri="{FF2B5EF4-FFF2-40B4-BE49-F238E27FC236}">
                <a16:creationId xmlns:a16="http://schemas.microsoft.com/office/drawing/2014/main" id="{50551808-4AD4-4EA9-86E3-F00ED11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14397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58EE7-4AE9-4FE9-B006-C4CB6F4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545FF-CD1D-460A-9894-3409EF5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2B2FE-F7AC-4D68-B90B-A97E11F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F651F-A4C3-462C-A40C-8EC3875C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EC9B2-FA64-4AD2-8455-B09F285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112591"/>
            <a:ext cx="34766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915A3-95AC-4619-B56B-EA49D1C8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5BAA596E-12E6-41AC-A335-3822920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49B31-4A6C-41E5-BCDC-D5F5CE13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bdfc49b445a8"/>
          <a:stretch xmlns:a="http://schemas.openxmlformats.org/drawingml/2006/main"/>
        </p:blipFill>
        <p:spPr>
          <a:xfrm xmlns:a="http://schemas.openxmlformats.org/drawingml/2006/main">
            <a:off x="4886325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0b8cdd1e54765"/>
          <a:stretch xmlns:a="http://schemas.openxmlformats.org/drawingml/2006/main"/>
        </p:blipFill>
        <p:spPr>
          <a:xfrm xmlns:a="http://schemas.openxmlformats.org/drawingml/2006/main">
            <a:off x="9010650" y="4059287"/>
            <a:ext cx="266700" cy="19050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9e3b4f1c495d"/>
          <a:stretch xmlns:a="http://schemas.openxmlformats.org/drawingml/2006/main"/>
        </p:blipFill>
        <p:spPr>
          <a:xfrm xmlns:a="http://schemas.openxmlformats.org/drawingml/2006/main">
            <a:off x="13134975" y="4059287"/>
            <a:ext cx="266700" cy="190500"/>
          </a:xfrm>
          <a:prstGeom xmlns:a="http://schemas.openxmlformats.org/drawingml/2006/main" prst="rect">
            <a:avLst/>
          </a:prstGeom>
        </p:spPr>
      </p:pic>
      <p:sp>
        <p:nvSpPr>
          <p:cNvPr id="1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3DF83F33-CF38-44DF-9040-528A8AE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3736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ПРОЈЕКАТ</a:t>
            </a:r>
          </a:p>
        </p:txBody>
      </p:sp>
      <p:sp>
        <p:nvSpPr>
          <p:cNvPr id="13" name="heading-source-19">
            <a:extLst xmlns:a="http://schemas.openxmlformats.org/drawingml/2006/main">
              <a:ext uri="{FF2B5EF4-FFF2-40B4-BE49-F238E27FC236}">
                <a16:creationId xmlns:a16="http://schemas.microsoft.com/office/drawing/2014/main" id="{080A5949-0D99-4853-9980-AAAB4B2E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5971877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Примена на пројекат</a:t>
            </a:r>
          </a:p>
        </p:txBody>
      </p:sp>
      <p:sp>
        <p:nvSpPr>
          <p:cNvPr id="1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F1F200B1-4070-498C-942B-87CC8694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08942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1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93390292-BAFA-4EB1-BBD2-1D618F73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0E90E8C-597C-48CB-AC53-A3DCAFB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250299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Избор сценарија</a:t>
            </a:r>
          </a:p>
        </p:txBody>
      </p:sp>
      <p:sp>
        <p:nvSpPr>
          <p:cNvPr id="1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601123D6-2E12-431A-8FF0-D2A7A44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259645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стварна радња</a:t>
            </a:r>
          </a:p>
        </p:txBody>
      </p:sp>
      <p:sp>
        <p:nvSpPr>
          <p:cNvPr id="1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B1494E44-676B-4520-848E-283CAA0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4638953-E902-42B5-8B70-850EEF8B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08847"/>
            <a:ext cx="320888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Дефинисање правила</a:t>
            </a:r>
          </a:p>
        </p:txBody>
      </p:sp>
      <p:sp>
        <p:nvSpPr>
          <p:cNvPr id="2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1BCB9525-08B2-4F93-9AFE-A7D2108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277"/>
            <a:ext cx="20780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улази и граница</a:t>
            </a:r>
          </a:p>
        </p:txBody>
      </p:sp>
      <p:sp>
        <p:nvSpPr>
          <p:cNvPr id="2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63399541-D3EA-4DEC-B114-06E8B20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22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7149A21-D2E7-4C87-BE91-6C46F5F2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108847"/>
            <a:ext cx="218985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Тест одбијања</a:t>
            </a:r>
          </a:p>
        </p:txBody>
      </p:sp>
      <p:sp>
        <p:nvSpPr>
          <p:cNvPr id="23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EEDBC5EA-FDC7-4D07-AA05-69FABB5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00277"/>
            <a:ext cx="31776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једна чињеница недостаје</a:t>
            </a:r>
          </a:p>
        </p:txBody>
      </p:sp>
      <p:sp>
        <p:nvSpPr>
          <p:cNvPr id="24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816291D6-0C07-47B5-ADE9-878BB74F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5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42E6E80-2471-4BB4-BCE9-6D4EEDCF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108847"/>
            <a:ext cx="25509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Ревизиони запис</a:t>
            </a:r>
          </a:p>
        </p:txBody>
      </p:sp>
      <p:sp>
        <p:nvSpPr>
          <p:cNvPr id="26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44AEE425-1D9C-41AE-9D25-2D36D8D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600277"/>
            <a:ext cx="193476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исход и разлог</a:t>
            </a:r>
          </a:p>
        </p:txBody>
      </p:sp>
      <p:sp>
        <p:nvSpPr>
          <p:cNvPr id="27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C0A81B9E-4243-45F2-AA9B-545681C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9490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ПРИМЕНА НА ПРОЈЕКАТ</a:t>
            </a:r>
          </a:p>
        </p:txBody>
      </p:sp>
      <p:sp>
        <p:nvSpPr>
          <p:cNvPr id="28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3682EE0-7CD2-4193-BB6B-786AF06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521975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 теме „Политике, конфигурација и безбедносна видљивост“ обухвата једну серверску одлуку, тест </a:t>
            </a:r>
          </a:p>
        </p:txBody>
      </p:sp>
      <p:sp>
        <p:nvSpPr>
          <p:cNvPr id="29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D60AEAED-35D9-49A6-A6BA-953FC28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738738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одбијања и доказ који други члан тима може да понови.</a:t>
            </a:r>
          </a:p>
        </p:txBody>
      </p:sp>
      <p:sp>
        <p:nvSpPr>
          <p:cNvPr id="30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0D10CF5F-56FB-4A99-8927-6B069AD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31" name="text-source-19">
            <a:extLst xmlns:a="http://schemas.openxmlformats.org/drawingml/2006/main">
              <a:ext uri="{FF2B5EF4-FFF2-40B4-BE49-F238E27FC236}">
                <a16:creationId xmlns:a16="http://schemas.microsoft.com/office/drawing/2014/main" id="{5A81E81E-A93A-4C32-8D0B-8C0F630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471163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D2C3A-F8AE-472B-938D-B067E6B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0625-B2C5-4B54-A578-FDA5E6A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8B5D5-1F5F-4E30-8103-D714BC5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593A9-5886-4A08-A10D-5FC8A526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09238-D88F-4222-B261-D41B42ED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3112591"/>
            <a:ext cx="3819525" cy="2083891"/>
          </a:xfrm>
          <a:prstGeom xmlns:a="http://schemas.openxmlformats.org/drawingml/2006/main" prst="roundRect">
            <a:avLst>
              <a:gd name="adj" fmla="val 7313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D3DA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934C3-0C90-4A3A-B8D5-A6B9B05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5849600" cy="1523702"/>
          </a:xfrm>
          <a:prstGeom xmlns:a="http://schemas.openxmlformats.org/drawingml/2006/main" prst="roundRect">
            <a:avLst>
              <a:gd name="adj" fmla="val 7501"/>
            </a:avLst>
          </a:prstGeom>
          <a:solidFill xmlns:a="http://schemas.openxmlformats.org/drawingml/2006/main">
            <a:srgbClr val="EAE7EE"/>
          </a:solidFill>
          <a:ln xmlns:a="http://schemas.openxmlformats.org/drawingml/2006/main" w="0">
            <a:noFill/>
          </a:ln>
        </p:spPr>
      </p:sp>
      <p:sp>
        <p:nvSpPr>
          <p:cNvPr id="7" name="rounded-banner-accent">
            <a:extLst xmlns:a="http://schemas.openxmlformats.org/drawingml/2006/main">
              <a:ext uri="{FF2B5EF4-FFF2-40B4-BE49-F238E27FC236}">
                <a16:creationId xmlns:a16="http://schemas.microsoft.com/office/drawing/2014/main" id="{901517A2-2289-4C40-9712-B0C848C2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1283"/>
            <a:ext cx="114300" cy="1523702"/>
          </a:xfrm>
          <a:custGeom xmlns:a="http://schemas.openxmlformats.org/drawingml/2006/main">
            <a:pathLst>
              <a:path w="114300" h="1523702">
                <a:moveTo>
                  <a:pt x="114300" y="0"/>
                </a:moveTo>
                <a:lnTo>
                  <a:pt x="110560" y="61"/>
                </a:lnTo>
                <a:lnTo>
                  <a:pt x="106824" y="245"/>
                </a:lnTo>
                <a:lnTo>
                  <a:pt x="103097" y="550"/>
                </a:lnTo>
                <a:lnTo>
                  <a:pt x="99381" y="978"/>
                </a:lnTo>
                <a:lnTo>
                  <a:pt x="95681" y="1527"/>
                </a:lnTo>
                <a:lnTo>
                  <a:pt x="92001" y="2196"/>
                </a:lnTo>
                <a:lnTo>
                  <a:pt x="88345" y="2986"/>
                </a:lnTo>
                <a:lnTo>
                  <a:pt x="84717" y="3895"/>
                </a:lnTo>
                <a:lnTo>
                  <a:pt x="81120" y="4922"/>
                </a:lnTo>
                <a:lnTo>
                  <a:pt x="77559" y="6066"/>
                </a:lnTo>
                <a:lnTo>
                  <a:pt x="74038" y="7326"/>
                </a:lnTo>
                <a:lnTo>
                  <a:pt x="70559" y="8701"/>
                </a:lnTo>
                <a:lnTo>
                  <a:pt x="67128" y="10188"/>
                </a:lnTo>
                <a:lnTo>
                  <a:pt x="63746" y="11787"/>
                </a:lnTo>
                <a:lnTo>
                  <a:pt x="60419" y="13496"/>
                </a:lnTo>
                <a:lnTo>
                  <a:pt x="57150" y="15313"/>
                </a:lnTo>
                <a:lnTo>
                  <a:pt x="53942" y="17236"/>
                </a:lnTo>
                <a:lnTo>
                  <a:pt x="50798" y="19263"/>
                </a:lnTo>
                <a:lnTo>
                  <a:pt x="47723" y="21392"/>
                </a:lnTo>
                <a:lnTo>
                  <a:pt x="44719" y="23620"/>
                </a:lnTo>
                <a:lnTo>
                  <a:pt x="41789" y="25945"/>
                </a:lnTo>
                <a:lnTo>
                  <a:pt x="38937" y="28365"/>
                </a:lnTo>
                <a:lnTo>
                  <a:pt x="36165" y="30877"/>
                </a:lnTo>
                <a:lnTo>
                  <a:pt x="33478" y="33478"/>
                </a:lnTo>
                <a:lnTo>
                  <a:pt x="30877" y="36165"/>
                </a:lnTo>
                <a:lnTo>
                  <a:pt x="28365" y="38937"/>
                </a:lnTo>
                <a:lnTo>
                  <a:pt x="25945" y="41789"/>
                </a:lnTo>
                <a:lnTo>
                  <a:pt x="23620" y="44719"/>
                </a:lnTo>
                <a:lnTo>
                  <a:pt x="21392" y="47723"/>
                </a:lnTo>
                <a:lnTo>
                  <a:pt x="19263" y="50798"/>
                </a:lnTo>
                <a:lnTo>
                  <a:pt x="17236" y="53942"/>
                </a:lnTo>
                <a:lnTo>
                  <a:pt x="15313" y="57150"/>
                </a:lnTo>
                <a:lnTo>
                  <a:pt x="13496" y="60419"/>
                </a:lnTo>
                <a:lnTo>
                  <a:pt x="11787" y="63746"/>
                </a:lnTo>
                <a:lnTo>
                  <a:pt x="10188" y="67128"/>
                </a:lnTo>
                <a:lnTo>
                  <a:pt x="8701" y="70559"/>
                </a:lnTo>
                <a:lnTo>
                  <a:pt x="7326" y="74038"/>
                </a:lnTo>
                <a:lnTo>
                  <a:pt x="6066" y="77559"/>
                </a:lnTo>
                <a:lnTo>
                  <a:pt x="4922" y="81120"/>
                </a:lnTo>
                <a:lnTo>
                  <a:pt x="3895" y="84717"/>
                </a:lnTo>
                <a:lnTo>
                  <a:pt x="2986" y="88345"/>
                </a:lnTo>
                <a:lnTo>
                  <a:pt x="2196" y="92001"/>
                </a:lnTo>
                <a:lnTo>
                  <a:pt x="1527" y="95681"/>
                </a:lnTo>
                <a:lnTo>
                  <a:pt x="978" y="99381"/>
                </a:lnTo>
                <a:lnTo>
                  <a:pt x="550" y="103097"/>
                </a:lnTo>
                <a:lnTo>
                  <a:pt x="245" y="106824"/>
                </a:lnTo>
                <a:lnTo>
                  <a:pt x="61" y="110560"/>
                </a:lnTo>
                <a:lnTo>
                  <a:pt x="0" y="114300"/>
                </a:lnTo>
                <a:lnTo>
                  <a:pt x="0" y="1409402"/>
                </a:lnTo>
                <a:lnTo>
                  <a:pt x="61" y="1413142"/>
                </a:lnTo>
                <a:lnTo>
                  <a:pt x="245" y="1416878"/>
                </a:lnTo>
                <a:lnTo>
                  <a:pt x="550" y="1420606"/>
                </a:lnTo>
                <a:lnTo>
                  <a:pt x="978" y="1424321"/>
                </a:lnTo>
                <a:lnTo>
                  <a:pt x="1527" y="1428021"/>
                </a:lnTo>
                <a:lnTo>
                  <a:pt x="2196" y="1431701"/>
                </a:lnTo>
                <a:lnTo>
                  <a:pt x="2986" y="1435357"/>
                </a:lnTo>
                <a:lnTo>
                  <a:pt x="3895" y="1438985"/>
                </a:lnTo>
                <a:lnTo>
                  <a:pt x="4922" y="1442582"/>
                </a:lnTo>
                <a:lnTo>
                  <a:pt x="6066" y="1446143"/>
                </a:lnTo>
                <a:lnTo>
                  <a:pt x="7326" y="1449665"/>
                </a:lnTo>
                <a:lnTo>
                  <a:pt x="8701" y="1453143"/>
                </a:lnTo>
                <a:lnTo>
                  <a:pt x="10188" y="1456575"/>
                </a:lnTo>
                <a:lnTo>
                  <a:pt x="11787" y="1459956"/>
                </a:lnTo>
                <a:lnTo>
                  <a:pt x="13496" y="1463283"/>
                </a:lnTo>
                <a:lnTo>
                  <a:pt x="15313" y="1466552"/>
                </a:lnTo>
                <a:lnTo>
                  <a:pt x="17236" y="1469760"/>
                </a:lnTo>
                <a:lnTo>
                  <a:pt x="19263" y="1472904"/>
                </a:lnTo>
                <a:lnTo>
                  <a:pt x="21392" y="1475980"/>
                </a:lnTo>
                <a:lnTo>
                  <a:pt x="23620" y="1478984"/>
                </a:lnTo>
                <a:lnTo>
                  <a:pt x="25945" y="1481913"/>
                </a:lnTo>
                <a:lnTo>
                  <a:pt x="28365" y="1484766"/>
                </a:lnTo>
                <a:lnTo>
                  <a:pt x="30877" y="1487537"/>
                </a:lnTo>
                <a:lnTo>
                  <a:pt x="33478" y="1490225"/>
                </a:lnTo>
                <a:lnTo>
                  <a:pt x="36165" y="1492826"/>
                </a:lnTo>
                <a:lnTo>
                  <a:pt x="38937" y="1495338"/>
                </a:lnTo>
                <a:lnTo>
                  <a:pt x="41789" y="1497757"/>
                </a:lnTo>
                <a:lnTo>
                  <a:pt x="44719" y="1500083"/>
                </a:lnTo>
                <a:lnTo>
                  <a:pt x="47723" y="1502311"/>
                </a:lnTo>
                <a:lnTo>
                  <a:pt x="50798" y="1504439"/>
                </a:lnTo>
                <a:lnTo>
                  <a:pt x="53942" y="1506466"/>
                </a:lnTo>
                <a:lnTo>
                  <a:pt x="57150" y="1508389"/>
                </a:lnTo>
                <a:lnTo>
                  <a:pt x="60419" y="1510206"/>
                </a:lnTo>
                <a:lnTo>
                  <a:pt x="63746" y="1511915"/>
                </a:lnTo>
                <a:lnTo>
                  <a:pt x="67128" y="1513514"/>
                </a:lnTo>
                <a:lnTo>
                  <a:pt x="70559" y="1515002"/>
                </a:lnTo>
                <a:lnTo>
                  <a:pt x="74038" y="1516376"/>
                </a:lnTo>
                <a:lnTo>
                  <a:pt x="77559" y="1517636"/>
                </a:lnTo>
                <a:lnTo>
                  <a:pt x="81120" y="1518781"/>
                </a:lnTo>
                <a:lnTo>
                  <a:pt x="84717" y="1519808"/>
                </a:lnTo>
                <a:lnTo>
                  <a:pt x="88345" y="1520716"/>
                </a:lnTo>
                <a:lnTo>
                  <a:pt x="92001" y="1521506"/>
                </a:lnTo>
                <a:lnTo>
                  <a:pt x="95681" y="1522176"/>
                </a:lnTo>
                <a:lnTo>
                  <a:pt x="99381" y="1522724"/>
                </a:lnTo>
                <a:lnTo>
                  <a:pt x="103097" y="1523152"/>
                </a:lnTo>
                <a:lnTo>
                  <a:pt x="106824" y="1523458"/>
                </a:lnTo>
                <a:lnTo>
                  <a:pt x="110560" y="1523641"/>
                </a:lnTo>
                <a:lnTo>
                  <a:pt x="114300" y="1523702"/>
                </a:lnTo>
                <a:lnTo>
                  <a:pt x="114300" y="1523702"/>
                </a:lnTo>
                <a:lnTo>
                  <a:pt x="112430" y="1523641"/>
                </a:lnTo>
                <a:lnTo>
                  <a:pt x="110562" y="1523458"/>
                </a:lnTo>
                <a:lnTo>
                  <a:pt x="108698" y="1523152"/>
                </a:lnTo>
                <a:lnTo>
                  <a:pt x="106840" y="1522724"/>
                </a:lnTo>
                <a:lnTo>
                  <a:pt x="104991" y="1522176"/>
                </a:lnTo>
                <a:lnTo>
                  <a:pt x="103151" y="1521506"/>
                </a:lnTo>
                <a:lnTo>
                  <a:pt x="101323" y="1520716"/>
                </a:lnTo>
                <a:lnTo>
                  <a:pt x="99508" y="1519808"/>
                </a:lnTo>
                <a:lnTo>
                  <a:pt x="97710" y="1518781"/>
                </a:lnTo>
                <a:lnTo>
                  <a:pt x="95930" y="1517636"/>
                </a:lnTo>
                <a:lnTo>
                  <a:pt x="94169" y="1516376"/>
                </a:lnTo>
                <a:lnTo>
                  <a:pt x="92430" y="1515002"/>
                </a:lnTo>
                <a:lnTo>
                  <a:pt x="90714" y="1513514"/>
                </a:lnTo>
                <a:lnTo>
                  <a:pt x="89023" y="1511915"/>
                </a:lnTo>
                <a:lnTo>
                  <a:pt x="87360" y="1510206"/>
                </a:lnTo>
                <a:lnTo>
                  <a:pt x="85725" y="1508389"/>
                </a:lnTo>
                <a:lnTo>
                  <a:pt x="84121" y="1506466"/>
                </a:lnTo>
                <a:lnTo>
                  <a:pt x="82549" y="1504439"/>
                </a:lnTo>
                <a:lnTo>
                  <a:pt x="81011" y="1502311"/>
                </a:lnTo>
                <a:lnTo>
                  <a:pt x="79509" y="1500083"/>
                </a:lnTo>
                <a:lnTo>
                  <a:pt x="78044" y="1497757"/>
                </a:lnTo>
                <a:lnTo>
                  <a:pt x="76618" y="1495338"/>
                </a:lnTo>
                <a:lnTo>
                  <a:pt x="75233" y="1492826"/>
                </a:lnTo>
                <a:lnTo>
                  <a:pt x="73889" y="1490225"/>
                </a:lnTo>
                <a:lnTo>
                  <a:pt x="72588" y="1487537"/>
                </a:lnTo>
                <a:lnTo>
                  <a:pt x="71332" y="1484766"/>
                </a:lnTo>
                <a:lnTo>
                  <a:pt x="70122" y="1481913"/>
                </a:lnTo>
                <a:lnTo>
                  <a:pt x="68960" y="1478984"/>
                </a:lnTo>
                <a:lnTo>
                  <a:pt x="67846" y="1475980"/>
                </a:lnTo>
                <a:lnTo>
                  <a:pt x="66782" y="1472904"/>
                </a:lnTo>
                <a:lnTo>
                  <a:pt x="65768" y="1469760"/>
                </a:lnTo>
                <a:lnTo>
                  <a:pt x="64807" y="1466552"/>
                </a:lnTo>
                <a:lnTo>
                  <a:pt x="63898" y="1463283"/>
                </a:lnTo>
                <a:lnTo>
                  <a:pt x="63044" y="1459956"/>
                </a:lnTo>
                <a:lnTo>
                  <a:pt x="62244" y="1456575"/>
                </a:lnTo>
                <a:lnTo>
                  <a:pt x="61500" y="1453143"/>
                </a:lnTo>
                <a:lnTo>
                  <a:pt x="60813" y="1449665"/>
                </a:lnTo>
                <a:lnTo>
                  <a:pt x="60183" y="1446143"/>
                </a:lnTo>
                <a:lnTo>
                  <a:pt x="59611" y="1442582"/>
                </a:lnTo>
                <a:lnTo>
                  <a:pt x="59097" y="1438985"/>
                </a:lnTo>
                <a:lnTo>
                  <a:pt x="58643" y="1435357"/>
                </a:lnTo>
                <a:lnTo>
                  <a:pt x="58248" y="1431701"/>
                </a:lnTo>
                <a:lnTo>
                  <a:pt x="57913" y="1428021"/>
                </a:lnTo>
                <a:lnTo>
                  <a:pt x="57639" y="1424321"/>
                </a:lnTo>
                <a:lnTo>
                  <a:pt x="57425" y="1420606"/>
                </a:lnTo>
                <a:lnTo>
                  <a:pt x="57272" y="1416878"/>
                </a:lnTo>
                <a:lnTo>
                  <a:pt x="57181" y="1413142"/>
                </a:lnTo>
                <a:lnTo>
                  <a:pt x="57150" y="1409402"/>
                </a:lnTo>
                <a:lnTo>
                  <a:pt x="57150" y="114300"/>
                </a:lnTo>
                <a:lnTo>
                  <a:pt x="57181" y="110560"/>
                </a:lnTo>
                <a:lnTo>
                  <a:pt x="57272" y="106824"/>
                </a:lnTo>
                <a:lnTo>
                  <a:pt x="57425" y="103097"/>
                </a:lnTo>
                <a:lnTo>
                  <a:pt x="57639" y="99381"/>
                </a:lnTo>
                <a:lnTo>
                  <a:pt x="57913" y="95681"/>
                </a:lnTo>
                <a:lnTo>
                  <a:pt x="58248" y="92001"/>
                </a:lnTo>
                <a:lnTo>
                  <a:pt x="58643" y="88345"/>
                </a:lnTo>
                <a:lnTo>
                  <a:pt x="59097" y="84717"/>
                </a:lnTo>
                <a:lnTo>
                  <a:pt x="59611" y="81120"/>
                </a:lnTo>
                <a:lnTo>
                  <a:pt x="60183" y="77559"/>
                </a:lnTo>
                <a:lnTo>
                  <a:pt x="60813" y="74038"/>
                </a:lnTo>
                <a:lnTo>
                  <a:pt x="61500" y="70559"/>
                </a:lnTo>
                <a:lnTo>
                  <a:pt x="62244" y="67128"/>
                </a:lnTo>
                <a:lnTo>
                  <a:pt x="63044" y="63746"/>
                </a:lnTo>
                <a:lnTo>
                  <a:pt x="63898" y="60419"/>
                </a:lnTo>
                <a:lnTo>
                  <a:pt x="64807" y="57150"/>
                </a:lnTo>
                <a:lnTo>
                  <a:pt x="65768" y="53942"/>
                </a:lnTo>
                <a:lnTo>
                  <a:pt x="66782" y="50798"/>
                </a:lnTo>
                <a:lnTo>
                  <a:pt x="67846" y="47723"/>
                </a:lnTo>
                <a:lnTo>
                  <a:pt x="68960" y="44719"/>
                </a:lnTo>
                <a:lnTo>
                  <a:pt x="70122" y="41789"/>
                </a:lnTo>
                <a:lnTo>
                  <a:pt x="71332" y="38937"/>
                </a:lnTo>
                <a:lnTo>
                  <a:pt x="72588" y="36165"/>
                </a:lnTo>
                <a:lnTo>
                  <a:pt x="73889" y="33478"/>
                </a:lnTo>
                <a:lnTo>
                  <a:pt x="75233" y="30877"/>
                </a:lnTo>
                <a:lnTo>
                  <a:pt x="76618" y="28365"/>
                </a:lnTo>
                <a:lnTo>
                  <a:pt x="78044" y="25945"/>
                </a:lnTo>
                <a:lnTo>
                  <a:pt x="79509" y="23620"/>
                </a:lnTo>
                <a:lnTo>
                  <a:pt x="81011" y="21392"/>
                </a:lnTo>
                <a:lnTo>
                  <a:pt x="82549" y="19263"/>
                </a:lnTo>
                <a:lnTo>
                  <a:pt x="84121" y="17236"/>
                </a:lnTo>
                <a:lnTo>
                  <a:pt x="85725" y="15313"/>
                </a:lnTo>
                <a:lnTo>
                  <a:pt x="87360" y="13496"/>
                </a:lnTo>
                <a:lnTo>
                  <a:pt x="89023" y="11787"/>
                </a:lnTo>
                <a:lnTo>
                  <a:pt x="90714" y="10188"/>
                </a:lnTo>
                <a:lnTo>
                  <a:pt x="92430" y="8701"/>
                </a:lnTo>
                <a:lnTo>
                  <a:pt x="94169" y="7326"/>
                </a:lnTo>
                <a:lnTo>
                  <a:pt x="95930" y="6066"/>
                </a:lnTo>
                <a:lnTo>
                  <a:pt x="97710" y="4922"/>
                </a:lnTo>
                <a:lnTo>
                  <a:pt x="99508" y="3895"/>
                </a:lnTo>
                <a:lnTo>
                  <a:pt x="101323" y="2986"/>
                </a:lnTo>
                <a:lnTo>
                  <a:pt x="103151" y="2196"/>
                </a:lnTo>
                <a:lnTo>
                  <a:pt x="104991" y="1527"/>
                </a:lnTo>
                <a:lnTo>
                  <a:pt x="106840" y="978"/>
                </a:lnTo>
                <a:lnTo>
                  <a:pt x="108698" y="550"/>
                </a:lnTo>
                <a:lnTo>
                  <a:pt x="110562" y="245"/>
                </a:lnTo>
                <a:lnTo>
                  <a:pt x="112430" y="61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BF8F3-B237-4420-92F4-3E733C4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AE1"/>
          </a:solidFill>
          <a:ln xmlns:a="http://schemas.openxmlformats.org/drawingml/2006/main" w="0">
            <a:noFill/>
          </a:ln>
        </p:spPr>
      </p:sp>
      <p:sp>
        <p:nvSpPr>
          <p:cNvPr id="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AB60289-381C-4945-9D5A-0DDFE72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22175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 · ПРОВЕРА</a:t>
            </a:r>
          </a:p>
        </p:txBody>
      </p:sp>
      <p:sp>
        <p:nvSpPr>
          <p:cNvPr id="10" name="heading-source-20">
            <a:extLst xmlns:a="http://schemas.openxmlformats.org/drawingml/2006/main">
              <a:ext uri="{FF2B5EF4-FFF2-40B4-BE49-F238E27FC236}">
                <a16:creationId xmlns:a16="http://schemas.microsoft.com/office/drawing/2014/main" id="{8AAAADC3-243D-4C8E-9FE6-2BFD1B7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6121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Провера разумевања</a:t>
            </a:r>
          </a:p>
        </p:txBody>
      </p:sp>
      <p:sp>
        <p:nvSpPr>
          <p:cNvPr id="1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2F5C463-03CC-4D1B-801F-14269E8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4055"/>
            <a:ext cx="1387613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1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6969A232-48D1-4A66-88AA-E819B65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1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41A7EC9-DC43-4A3F-BBA5-BF1C20D9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08847"/>
            <a:ext cx="1591419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Политика</a:t>
            </a:r>
          </a:p>
        </p:txBody>
      </p:sp>
      <p:sp>
        <p:nvSpPr>
          <p:cNvPr id="1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836F554-9541-4EA4-A318-E5697B2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00277"/>
            <a:ext cx="309309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шта организација очекује</a:t>
            </a:r>
          </a:p>
        </p:txBody>
      </p:sp>
      <p:sp>
        <p:nvSpPr>
          <p:cNvPr id="1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7E49A41D-B494-4ADF-A691-AFC2DDA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424B595-665D-4FEE-844B-AE57DA02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08847"/>
            <a:ext cx="232157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Конфигурација</a:t>
            </a:r>
          </a:p>
        </p:txBody>
      </p:sp>
      <p:sp>
        <p:nvSpPr>
          <p:cNvPr id="1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4A539601-9B33-4F92-886E-1386157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00277"/>
            <a:ext cx="330859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како се правило примењује</a:t>
            </a:r>
          </a:p>
        </p:txBody>
      </p:sp>
      <p:sp>
        <p:nvSpPr>
          <p:cNvPr id="1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53D9E365-7312-4F1F-A70F-1B8C4096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9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6314C833-A780-48AB-9E77-A4310E74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08847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20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D52188E-391A-4CEF-95C8-B9CFC5D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600277"/>
            <a:ext cx="247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механизам заштите</a:t>
            </a:r>
          </a:p>
        </p:txBody>
      </p:sp>
      <p:sp>
        <p:nvSpPr>
          <p:cNvPr id="21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3DD6809E-4E31-47FA-A6FD-F7D60170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0786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22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3732AC9-13B2-46C2-ACB2-89DBBB4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108847"/>
            <a:ext cx="114121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13202D"/>
                </a:solidFill>
                <a:latin typeface="IBM Plex Sans"/>
                <a:ea typeface="IBM Plex Sans"/>
                <a:cs typeface="IBM Plex Sans"/>
              </a:rPr>
              <a:t>Доказ</a:t>
            </a:r>
          </a:p>
        </p:txBody>
      </p:sp>
      <p:sp>
        <p:nvSpPr>
          <p:cNvPr id="23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658C40B9-5A48-4D3A-8D33-0403149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600277"/>
            <a:ext cx="267786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лог, метрика или тест</a:t>
            </a:r>
          </a:p>
        </p:txBody>
      </p:sp>
      <p:sp>
        <p:nvSpPr>
          <p:cNvPr id="24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A94A499-A9EA-427B-8645-7AC06985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1783"/>
            <a:ext cx="26747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6B3FA0"/>
                </a:solidFill>
                <a:latin typeface="IBM Plex Mono"/>
                <a:ea typeface="IBM Plex Mono"/>
                <a:cs typeface="IBM Plex Mono"/>
              </a:rPr>
              <a:t>ПИТАЊЕ ЗА ПРОВЕРУ</a:t>
            </a:r>
          </a:p>
        </p:txBody>
      </p:sp>
      <p:sp>
        <p:nvSpPr>
          <p:cNvPr id="25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041161AD-1BF2-4508-91DE-2A35A396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97488"/>
            <a:ext cx="15402223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Које безбедносно правило би требало да буде засебан, читљив артефакт у вашој целини и који доказ показује да ради?</a:t>
            </a:r>
          </a:p>
        </p:txBody>
      </p:sp>
      <p:sp>
        <p:nvSpPr>
          <p:cNvPr id="26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94BEEE22-168F-4775-B33C-2F2FB52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0749"/>
            <a:ext cx="1187395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44505D"/>
                </a:solidFill>
                <a:latin typeface="IBM Plex Sans"/>
                <a:ea typeface="IBM Plex Sans"/>
                <a:cs typeface="IBM Plex San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  <p:sp>
        <p:nvSpPr>
          <p:cNvPr id="27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8EE0888D-B796-495E-BC4F-F3379478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E6975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28" name="text-source-20">
            <a:extLst xmlns:a="http://schemas.openxmlformats.org/drawingml/2006/main">
              <a:ext uri="{FF2B5EF4-FFF2-40B4-BE49-F238E27FC236}">
                <a16:creationId xmlns:a16="http://schemas.microsoft.com/office/drawing/2014/main" id="{EB2EF5FE-81EC-4657-B317-A185CBE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5E6975"/>
                </a:solidFill>
                <a:latin typeface="IBM Plex Mono"/>
                <a:ea typeface="IBM Plex Mono"/>
                <a:cs typeface="IBM Plex Mon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279469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6B3F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8C423-9590-403A-98A9-DD0353AB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E4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2FA14-CB8C-4D2F-A32D-6A1CD4C0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7911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AA638-6290-4E4C-ADC3-29BBD890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1316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19FF0-4D5E-4D74-B028-C309ED55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4722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A8AD8-6409-4DDA-9E06-4057298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09795"/>
            <a:ext cx="1584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9B5"/>
          </a:solidFill>
          <a:ln xmlns:a="http://schemas.openxmlformats.org/drawingml/2006/main" w="0">
            <a:noFill/>
          </a:ln>
        </p:spPr>
      </p:sp>
      <p:sp>
        <p:nvSpPr>
          <p:cNvPr id="6" name="text-rezime">
            <a:extLst xmlns:a="http://schemas.openxmlformats.org/drawingml/2006/main">
              <a:ext uri="{FF2B5EF4-FFF2-40B4-BE49-F238E27FC236}">
                <a16:creationId xmlns:a16="http://schemas.microsoft.com/office/drawing/2014/main" id="{1E6E954A-663D-4043-B6B7-684FD0B0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AE4F2"/>
                </a:solidFill>
                <a:latin typeface="IBM Plex Mono"/>
                <a:ea typeface="IBM Plex Mono"/>
                <a:cs typeface="IBM Plex Mono"/>
              </a:rPr>
              <a:t>ШТА ТРЕБА ПОНЕТИ СА ВЕЖБЕ</a:t>
            </a:r>
          </a:p>
        </p:txBody>
      </p:sp>
      <p:sp>
        <p:nvSpPr>
          <p:cNvPr id="7" name="heading-rezime">
            <a:extLst xmlns:a="http://schemas.openxmlformats.org/drawingml/2006/main">
              <a:ext uri="{FF2B5EF4-FFF2-40B4-BE49-F238E27FC236}">
                <a16:creationId xmlns:a16="http://schemas.microsoft.com/office/drawing/2014/main" id="{82A475BA-1203-441E-80F0-695B79F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3930"/>
            <a:ext cx="2332434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>
                <a:latin typeface="IBM Plex Sans"/>
                <a:ea typeface="IBM Plex Sans"/>
                <a:cs typeface="IBM Plex Sans"/>
              </a:defRPr>
            </a:pPr>
            <a:r>
              <a:rPr sz="45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Резиме</a:t>
            </a:r>
          </a:p>
        </p:txBody>
      </p:sp>
      <p:sp>
        <p:nvSpPr>
          <p:cNvPr id="8" name="text-rezime">
            <a:extLst xmlns:a="http://schemas.openxmlformats.org/drawingml/2006/main">
              <a:ext uri="{FF2B5EF4-FFF2-40B4-BE49-F238E27FC236}">
                <a16:creationId xmlns:a16="http://schemas.microsoft.com/office/drawing/2014/main" id="{D639A2D4-01E1-480E-8C24-5AF0182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29780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EAE4F2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  <p:sp>
        <p:nvSpPr>
          <p:cNvPr id="9" name="text-rezime">
            <a:extLst xmlns:a="http://schemas.openxmlformats.org/drawingml/2006/main">
              <a:ext uri="{FF2B5EF4-FFF2-40B4-BE49-F238E27FC236}">
                <a16:creationId xmlns:a16="http://schemas.microsoft.com/office/drawing/2014/main" id="{8E9138C3-3B4F-46D8-B4B2-35269E6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0255"/>
            <a:ext cx="2413397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Намера и стање</a:t>
            </a:r>
          </a:p>
        </p:txBody>
      </p:sp>
      <p:sp>
        <p:nvSpPr>
          <p:cNvPr id="10" name="text-rezime">
            <a:extLst xmlns:a="http://schemas.openxmlformats.org/drawingml/2006/main">
              <a:ext uri="{FF2B5EF4-FFF2-40B4-BE49-F238E27FC236}">
                <a16:creationId xmlns:a16="http://schemas.microsoft.com/office/drawing/2014/main" id="{93FBB552-EA00-4E25-B9B6-FD784AC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0255"/>
            <a:ext cx="892686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EAE4F2"/>
                </a:solidFill>
                <a:latin typeface="IBM Plex Sans"/>
                <a:ea typeface="IBM Plex Sans"/>
                <a:cs typeface="IBM Plex Sans"/>
              </a:rPr>
              <a:t>Политика и конфигурација имају власника, значење и историју.</a:t>
            </a:r>
          </a:p>
        </p:txBody>
      </p:sp>
      <p:sp>
        <p:nvSpPr>
          <p:cNvPr id="11" name="text-rezime">
            <a:extLst xmlns:a="http://schemas.openxmlformats.org/drawingml/2006/main">
              <a:ext uri="{FF2B5EF4-FFF2-40B4-BE49-F238E27FC236}">
                <a16:creationId xmlns:a16="http://schemas.microsoft.com/office/drawing/2014/main" id="{12AD925B-6D9B-47C5-AD75-8A97FD9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3186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EAE4F2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2" name="text-rezime">
            <a:extLst xmlns:a="http://schemas.openxmlformats.org/drawingml/2006/main">
              <a:ext uri="{FF2B5EF4-FFF2-40B4-BE49-F238E27FC236}">
                <a16:creationId xmlns:a16="http://schemas.microsoft.com/office/drawing/2014/main" id="{33B5ED8D-DF5A-41D0-8169-D60D489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3661"/>
            <a:ext cx="1575941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Контрола</a:t>
            </a:r>
          </a:p>
        </p:txBody>
      </p:sp>
      <p:sp>
        <p:nvSpPr>
          <p:cNvPr id="13" name="text-rezime">
            <a:extLst xmlns:a="http://schemas.openxmlformats.org/drawingml/2006/main">
              <a:ext uri="{FF2B5EF4-FFF2-40B4-BE49-F238E27FC236}">
                <a16:creationId xmlns:a16="http://schemas.microsoft.com/office/drawing/2014/main" id="{BD17CC7B-8F0C-4E5A-8B05-393E2B8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3661"/>
            <a:ext cx="808255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EAE4F2"/>
                </a:solidFill>
                <a:latin typeface="IBM Plex Sans"/>
                <a:ea typeface="IBM Plex Sans"/>
                <a:cs typeface="IBM Plex Sans"/>
              </a:rPr>
              <a:t>Поређење очекиваног и стварног производи јасан исход.</a:t>
            </a:r>
          </a:p>
        </p:txBody>
      </p:sp>
      <p:sp>
        <p:nvSpPr>
          <p:cNvPr id="14" name="text-rezime">
            <a:extLst xmlns:a="http://schemas.openxmlformats.org/drawingml/2006/main">
              <a:ext uri="{FF2B5EF4-FFF2-40B4-BE49-F238E27FC236}">
                <a16:creationId xmlns:a16="http://schemas.microsoft.com/office/drawing/2014/main" id="{493A4774-3B89-470E-B979-3A11CD6A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36591"/>
            <a:ext cx="84593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>
                <a:latin typeface="IBM Plex Mono"/>
                <a:ea typeface="IBM Plex Mono"/>
                <a:cs typeface="IBM Plex Mono"/>
              </a:defRPr>
            </a:pPr>
            <a:r>
              <a:rPr sz="3300" b="0">
                <a:solidFill>
                  <a:srgbClr val="EAE4F2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5" name="text-rezime">
            <a:extLst xmlns:a="http://schemas.openxmlformats.org/drawingml/2006/main">
              <a:ext uri="{FF2B5EF4-FFF2-40B4-BE49-F238E27FC236}">
                <a16:creationId xmlns:a16="http://schemas.microsoft.com/office/drawing/2014/main" id="{549D2754-D35B-4EC7-BA4E-C59543B4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7066"/>
            <a:ext cx="18122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F6F7F5"/>
                </a:solidFill>
                <a:latin typeface="IBM Plex Sans"/>
                <a:ea typeface="IBM Plex Sans"/>
                <a:cs typeface="IBM Plex Sans"/>
              </a:rPr>
              <a:t>Видљивост</a:t>
            </a:r>
          </a:p>
        </p:txBody>
      </p:sp>
      <p:sp>
        <p:nvSpPr>
          <p:cNvPr id="16" name="text-rezime">
            <a:extLst xmlns:a="http://schemas.openxmlformats.org/drawingml/2006/main">
              <a:ext uri="{FF2B5EF4-FFF2-40B4-BE49-F238E27FC236}">
                <a16:creationId xmlns:a16="http://schemas.microsoft.com/office/drawing/2014/main" id="{60BCBB8F-A518-4785-9B1F-8B3544B3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7066"/>
            <a:ext cx="8855422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EAE4F2"/>
                </a:solidFill>
                <a:latin typeface="IBM Plex Sans"/>
                <a:ea typeface="IBM Plex Sans"/>
                <a:cs typeface="IBM Plex Sans"/>
              </a:rPr>
              <a:t>Лог, метрика и тест повезују правило са стварним понашањем.</a:t>
            </a:r>
          </a:p>
        </p:txBody>
      </p:sp>
      <p:sp>
        <p:nvSpPr>
          <p:cNvPr id="17" name="text-rezime">
            <a:extLst xmlns:a="http://schemas.openxmlformats.org/drawingml/2006/main">
              <a:ext uri="{FF2B5EF4-FFF2-40B4-BE49-F238E27FC236}">
                <a16:creationId xmlns:a16="http://schemas.microsoft.com/office/drawing/2014/main" id="{C91CFC40-30A6-479B-A355-AEFAF94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71720"/>
            <a:ext cx="426571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EAE4F2"/>
                </a:solidFill>
                <a:latin typeface="IBM Plex Sans"/>
                <a:ea typeface="IBM Plex Sans"/>
                <a:cs typeface="IBM Plex Sans"/>
              </a:rPr>
              <a:t>Основе информационе безбедности</a:t>
            </a:r>
          </a:p>
        </p:txBody>
      </p:sp>
      <p:sp>
        <p:nvSpPr>
          <p:cNvPr id="18" name="text-rezime">
            <a:extLst xmlns:a="http://schemas.openxmlformats.org/drawingml/2006/main">
              <a:ext uri="{FF2B5EF4-FFF2-40B4-BE49-F238E27FC236}">
                <a16:creationId xmlns:a16="http://schemas.microsoft.com/office/drawing/2014/main" id="{F7B5C2E2-96D8-49E5-AF2C-35FEBBEB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361" y="9471720"/>
            <a:ext cx="61733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latin typeface="IBM Plex Mono"/>
                <a:ea typeface="IBM Plex Mono"/>
                <a:cs typeface="IBM Plex Mono"/>
              </a:defRPr>
            </a:pPr>
            <a:r>
              <a:rPr sz="1800" b="0">
                <a:solidFill>
                  <a:srgbClr val="EAE4F2"/>
                </a:solidFill>
                <a:latin typeface="IBM Plex Mono"/>
                <a:ea typeface="IBM Plex Mono"/>
                <a:cs typeface="IBM Plex Mon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90062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2026-10-09T17:43:42.3260000Z</dcterms:created>
  <dcterms:modified xsi:type="dcterms:W3CDTF">2026-10-09T17:43:42.3260000Z</dcterms:modified>
</coreProperties>
</file>