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7D6A04-C2B0-449F-8B8E-B8D22AF08952}"/>
              </a:ext>
            </a:extLst>
          </p:cNvPr>
          <p:cNvSpPr>
            <a:spLocks noGrp="1"/>
          </p:cNvSpPr>
          <p:nvPr/>
        </p:nvSpPr>
        <p:spPr>
          <a:xfrm>
            <a:off x="914400" y="590550"/>
            <a:ext cx="7810500" cy="228600"/>
          </a:xfrm>
          <a:prstGeom prst="rect">
            <a:avLst/>
          </a:prstGeom>
          <a:noFill/>
          <a:ln w="0">
            <a:noFill/>
          </a:ln>
        </p:spPr>
        <p:txBody>
          <a:bodyPr wrap="square" lIns="0" tIns="0" rIns="0" bIns="0" anchor="t">
            <a:normAutofit/>
          </a:bodyPr>
          <a:lstStyle/>
          <a:p>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54764A77-7245-46DC-B352-565A247E0303}"/>
              </a:ext>
            </a:extLst>
          </p:cNvPr>
          <p:cNvSpPr>
            <a:spLocks noGrp="1"/>
          </p:cNvSpPr>
          <p:nvPr/>
        </p:nvSpPr>
        <p:spPr>
          <a:xfrm>
            <a:off x="914400" y="1009650"/>
            <a:ext cx="10363200" cy="9525"/>
          </a:xfrm>
          <a:prstGeom prst="line">
            <a:avLst/>
          </a:prstGeom>
          <a:noFill/>
          <a:ln w="8573">
            <a:solidFill>
              <a:srgbClr val="7F8B9B"/>
            </a:solidFill>
            <a:prstDash val="solid"/>
          </a:ln>
        </p:spPr>
      </p:sp>
      <p:sp>
        <p:nvSpPr>
          <p:cNvPr id="3" name="Rounded Rectangle 2">
            <a:extLst>
              <a:ext uri="{FF2B5EF4-FFF2-40B4-BE49-F238E27FC236}">
                <a16:creationId xmlns:a16="http://schemas.microsoft.com/office/drawing/2014/main" id="{5BEB596B-6230-48A7-977F-01D8B3218F57}"/>
              </a:ext>
            </a:extLst>
          </p:cNvPr>
          <p:cNvSpPr>
            <a:spLocks noGrp="1"/>
          </p:cNvSpPr>
          <p:nvPr/>
        </p:nvSpPr>
        <p:spPr>
          <a:xfrm>
            <a:off x="914400" y="1438275"/>
            <a:ext cx="647700" cy="66675"/>
          </a:xfrm>
          <a:prstGeom prst="roundRect">
            <a:avLst>
              <a:gd name="adj" fmla="val 50000"/>
            </a:avLst>
          </a:prstGeom>
          <a:solidFill>
            <a:srgbClr val="315CF4"/>
          </a:solidFill>
          <a:ln w="0">
            <a:noFill/>
          </a:ln>
        </p:spPr>
      </p:sp>
      <p:sp>
        <p:nvSpPr>
          <p:cNvPr id="4" name="Rectangle 3">
            <a:extLst>
              <a:ext uri="{FF2B5EF4-FFF2-40B4-BE49-F238E27FC236}">
                <a16:creationId xmlns:a16="http://schemas.microsoft.com/office/drawing/2014/main" id="{A0D2D6A4-469A-41CF-BF84-D2F4CBA5D4B5}"/>
              </a:ext>
            </a:extLst>
          </p:cNvPr>
          <p:cNvSpPr>
            <a:spLocks noGrp="1"/>
          </p:cNvSpPr>
          <p:nvPr/>
        </p:nvSpPr>
        <p:spPr>
          <a:xfrm>
            <a:off x="914400" y="1771650"/>
            <a:ext cx="10363200" cy="1562100"/>
          </a:xfrm>
          <a:prstGeom prst="rect">
            <a:avLst/>
          </a:prstGeom>
          <a:noFill/>
          <a:ln w="0">
            <a:noFill/>
          </a:ln>
        </p:spPr>
        <p:txBody>
          <a:bodyPr wrap="square" lIns="0" tIns="0" rIns="0" bIns="0" anchor="ctr">
            <a:normAutofit/>
          </a:bodyPr>
          <a:lstStyle/>
          <a:p>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Политике, конфигурација и безбедносна видљивост</a:t>
            </a:r>
          </a:p>
        </p:txBody>
      </p:sp>
      <p:sp>
        <p:nvSpPr>
          <p:cNvPr id="5" name="Rectangle 4">
            <a:extLst>
              <a:ext uri="{FF2B5EF4-FFF2-40B4-BE49-F238E27FC236}">
                <a16:creationId xmlns:a16="http://schemas.microsoft.com/office/drawing/2014/main" id="{B0FBDFC9-BA42-42A5-863B-EB126906D954}"/>
              </a:ext>
            </a:extLst>
          </p:cNvPr>
          <p:cNvSpPr>
            <a:spLocks noGrp="1"/>
          </p:cNvSpPr>
          <p:nvPr/>
        </p:nvSpPr>
        <p:spPr>
          <a:xfrm>
            <a:off x="933450" y="3600450"/>
            <a:ext cx="9620250" cy="723900"/>
          </a:xfrm>
          <a:prstGeom prst="rect">
            <a:avLst/>
          </a:prstGeom>
          <a:noFill/>
          <a:ln w="0">
            <a:noFill/>
          </a:ln>
        </p:spPr>
        <p:txBody>
          <a:bodyPr wrap="square" lIns="0" tIns="0" rIns="0" bIns="0" anchor="ctr">
            <a:normAutofit/>
          </a:bodyPr>
          <a:lstStyle/>
          <a:p>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Експлицитна правила, контролисане промене и проверљив доказ</a:t>
            </a:r>
          </a:p>
        </p:txBody>
      </p:sp>
      <p:sp>
        <p:nvSpPr>
          <p:cNvPr id="6" name="Straight Connector 5">
            <a:extLst>
              <a:ext uri="{FF2B5EF4-FFF2-40B4-BE49-F238E27FC236}">
                <a16:creationId xmlns:a16="http://schemas.microsoft.com/office/drawing/2014/main" id="{CC02C7A3-B140-4597-8623-6F4F0F537A7E}"/>
              </a:ext>
            </a:extLst>
          </p:cNvPr>
          <p:cNvSpPr>
            <a:spLocks noGrp="1"/>
          </p:cNvSpPr>
          <p:nvPr/>
        </p:nvSpPr>
        <p:spPr>
          <a:xfrm>
            <a:off x="914400" y="5286375"/>
            <a:ext cx="10363200" cy="9525"/>
          </a:xfrm>
          <a:prstGeom prst="line">
            <a:avLst/>
          </a:prstGeom>
          <a:noFill/>
          <a:ln w="9525">
            <a:solidFill>
              <a:srgbClr val="CBD5E1"/>
            </a:solidFill>
            <a:prstDash val="solid"/>
          </a:ln>
        </p:spPr>
      </p:sp>
      <p:sp>
        <p:nvSpPr>
          <p:cNvPr id="7" name="Rectangle 6">
            <a:extLst>
              <a:ext uri="{FF2B5EF4-FFF2-40B4-BE49-F238E27FC236}">
                <a16:creationId xmlns:a16="http://schemas.microsoft.com/office/drawing/2014/main" id="{049EA7C6-BB0C-4C1E-BD34-DF59FD13D992}"/>
              </a:ext>
            </a:extLst>
          </p:cNvPr>
          <p:cNvSpPr>
            <a:spLocks noGrp="1"/>
          </p:cNvSpPr>
          <p:nvPr/>
        </p:nvSpPr>
        <p:spPr>
          <a:xfrm>
            <a:off x="914400" y="5581650"/>
            <a:ext cx="4000500" cy="247650"/>
          </a:xfrm>
          <a:prstGeom prst="rect">
            <a:avLst/>
          </a:prstGeom>
          <a:noFill/>
          <a:ln w="0">
            <a:noFill/>
          </a:ln>
        </p:spPr>
        <p:txBody>
          <a:bodyPr wrap="square" lIns="0" tIns="0" rIns="0" bIns="0" anchor="t">
            <a:normAutofit/>
          </a:bodyPr>
          <a:lstStyle/>
          <a:p>
            <a:pPr algn="l">
              <a:lnSpc>
                <a:spcPct val="100000"/>
              </a:lnSpc>
              <a:buNone/>
              <a:defRPr sz="1200" b="1">
                <a:solidFill>
                  <a:srgbClr val="1A202C"/>
                </a:solidFill>
                <a:latin typeface="Aptos"/>
                <a:ea typeface="Aptos"/>
                <a:cs typeface="Aptos"/>
              </a:defRPr>
            </a:pPr>
            <a:r>
              <a:rPr sz="1200" b="1">
                <a:solidFill>
                  <a:srgbClr val="1A202C"/>
                </a:solidFill>
                <a:latin typeface="Aptos"/>
                <a:ea typeface="Aptos"/>
                <a:cs typeface="Aptos"/>
              </a:rPr>
              <a:t>ОИБ · 5. семестар</a:t>
            </a:r>
          </a:p>
        </p:txBody>
      </p:sp>
      <p:sp>
        <p:nvSpPr>
          <p:cNvPr id="8" name="Rectangle 7">
            <a:extLst>
              <a:ext uri="{FF2B5EF4-FFF2-40B4-BE49-F238E27FC236}">
                <a16:creationId xmlns:a16="http://schemas.microsoft.com/office/drawing/2014/main" id="{C3C0B112-5B94-4398-B27D-7126629397BD}"/>
              </a:ext>
            </a:extLst>
          </p:cNvPr>
          <p:cNvSpPr>
            <a:spLocks noGrp="1"/>
          </p:cNvSpPr>
          <p:nvPr/>
        </p:nvSpPr>
        <p:spPr>
          <a:xfrm>
            <a:off x="8096250" y="5581650"/>
            <a:ext cx="3181350" cy="247650"/>
          </a:xfrm>
          <a:prstGeom prst="rect">
            <a:avLst/>
          </a:prstGeom>
          <a:noFill/>
          <a:ln w="0">
            <a:noFill/>
          </a:ln>
        </p:spPr>
        <p:txBody>
          <a:bodyPr wrap="square" lIns="0" tIns="0" rIns="0" bIns="0" anchor="t">
            <a:normAutofit/>
          </a:bodyPr>
          <a:lstStyle/>
          <a:p>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1817873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283791A-F841-45DF-A664-5838C5CB6073}"/>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6FEA5FF1-DD8E-4649-918D-005E3AD17AD0}"/>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934C1D10-DD95-4BCE-AD2D-BF66D6ECE9DB}"/>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a:ext uri="{FF2B5EF4-FFF2-40B4-BE49-F238E27FC236}">
                <a16:creationId xmlns:a16="http://schemas.microsoft.com/office/drawing/2014/main" id="{2AE7FA46-DE03-40BE-BFF2-CC736801E709}"/>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Проблем који решавамо</a:t>
            </a:r>
          </a:p>
        </p:txBody>
      </p:sp>
      <p:sp>
        <p:nvSpPr>
          <p:cNvPr id="5" name="Rectangle 4">
            <a:extLst>
              <a:ext uri="{FF2B5EF4-FFF2-40B4-BE49-F238E27FC236}">
                <a16:creationId xmlns:a16="http://schemas.microsoft.com/office/drawing/2014/main" id="{EBF3FDE1-A5A8-408F-978D-607B2F4AA216}"/>
              </a:ext>
            </a:extLst>
          </p:cNvPr>
          <p:cNvSpPr>
            <a:spLocks noGrp="1"/>
          </p:cNvSpPr>
          <p:nvPr/>
        </p:nvSpPr>
        <p:spPr>
          <a:xfrm>
            <a:off x="685800" y="1428750"/>
            <a:ext cx="10820400" cy="457200"/>
          </a:xfrm>
          <a:prstGeom prst="rect">
            <a:avLst/>
          </a:prstGeom>
          <a:noFill/>
          <a:ln w="0">
            <a:noFill/>
          </a:ln>
        </p:spPr>
        <p:txBody>
          <a:bodyPr wrap="square" lIns="0" tIns="0" rIns="0" bIns="0" anchor="t">
            <a:noAutofit/>
          </a:bodyPr>
          <a:lstStyle/>
          <a:p>
            <a:pPr algn="l">
              <a:lnSpc>
                <a:spcPct val="102000"/>
              </a:lnSpc>
              <a:buNone/>
              <a:defRPr sz="1575" b="0">
                <a:solidFill>
                  <a:srgbClr val="657184"/>
                </a:solidFill>
                <a:latin typeface="Aptos"/>
                <a:ea typeface="Aptos"/>
                <a:cs typeface="Aptos"/>
              </a:defRPr>
            </a:pPr>
            <a:r>
              <a:rPr sz="1400" b="0" dirty="0" err="1">
                <a:solidFill>
                  <a:srgbClr val="657184"/>
                </a:solidFill>
                <a:latin typeface="Aptos"/>
                <a:ea typeface="Aptos"/>
                <a:cs typeface="Aptos"/>
              </a:rPr>
              <a:t>Безбедносна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правила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постају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поуздана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тек</a:t>
            </a:r>
            <a:r>
              <a:rPr sz="1400" b="0" dirty="0">
                <a:solidFill>
                  <a:srgbClr val="657184"/>
                </a:solidFill>
                <a:latin typeface="Aptos"/>
                <a:ea typeface="Aptos"/>
                <a:cs typeface="Aptos"/>
              </a:rPr>
              <a:t> </a:t>
            </a:r>
            <a:r>
              <a:rPr sz="1400" b="0" dirty="0" err="1">
                <a:solidFill>
                  <a:srgbClr val="657184"/>
                </a:solidFill>
                <a:latin typeface="Aptos"/>
                <a:ea typeface="Aptos"/>
                <a:cs typeface="Aptos"/>
              </a:rPr>
              <a:t>када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су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видљива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верзионисана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проверљива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Правило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расуто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кроз</a:t>
            </a:r>
            <a:r>
              <a:rPr sz="1400" b="0" dirty="0">
                <a:solidFill>
                  <a:srgbClr val="657184"/>
                </a:solidFill>
                <a:latin typeface="Aptos"/>
                <a:ea typeface="Aptos"/>
                <a:cs typeface="Aptos"/>
              </a:rPr>
              <a:t> </a:t>
            </a:r>
            <a:r>
              <a:rPr sz="1400" b="0" dirty="0" err="1">
                <a:solidFill>
                  <a:srgbClr val="657184"/>
                </a:solidFill>
                <a:latin typeface="Aptos"/>
                <a:ea typeface="Aptos"/>
                <a:cs typeface="Aptos"/>
              </a:rPr>
              <a:t>неколико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метода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није</a:t>
            </a:r>
            <a:r>
              <a:rPr sz="1400" b="0" dirty="0">
                <a:solidFill>
                  <a:srgbClr val="657184"/>
                </a:solidFill>
                <a:latin typeface="Aptos"/>
                <a:ea typeface="Aptos"/>
                <a:cs typeface="Aptos"/>
              </a:rPr>
              <a:t> </a:t>
            </a:r>
            <a:r>
              <a:rPr sz="1400" b="0" dirty="0" err="1">
                <a:solidFill>
                  <a:srgbClr val="657184"/>
                </a:solidFill>
                <a:latin typeface="Aptos"/>
                <a:ea typeface="Aptos"/>
                <a:cs typeface="Aptos"/>
              </a:rPr>
              <a:t>лако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објаснити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прегледати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нити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променити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без</a:t>
            </a:r>
            <a:r>
              <a:rPr sz="1400" b="0" dirty="0">
                <a:solidFill>
                  <a:srgbClr val="657184"/>
                </a:solidFill>
                <a:latin typeface="Aptos"/>
                <a:ea typeface="Aptos"/>
                <a:cs typeface="Aptos"/>
              </a:rPr>
              <a:t> </a:t>
            </a:r>
            <a:r>
              <a:rPr sz="1400" b="0" dirty="0" err="1">
                <a:solidFill>
                  <a:srgbClr val="657184"/>
                </a:solidFill>
                <a:latin typeface="Aptos"/>
                <a:ea typeface="Aptos"/>
                <a:cs typeface="Aptos"/>
              </a:rPr>
              <a:t>нежељених</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последица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Политика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зато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представља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договорено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правило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конфигурација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његову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примену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конкретном</a:t>
            </a:r>
            <a:r>
              <a:rPr sz="1400" b="0" dirty="0">
                <a:solidFill>
                  <a:srgbClr val="657184"/>
                </a:solidFill>
                <a:latin typeface="Aptos"/>
                <a:ea typeface="Aptos"/>
                <a:cs typeface="Aptos"/>
              </a:rPr>
              <a:t> </a:t>
            </a:r>
            <a:r>
              <a:rPr sz="1400" b="0" dirty="0" err="1">
                <a:solidFill>
                  <a:srgbClr val="657184"/>
                </a:solidFill>
                <a:latin typeface="Aptos"/>
                <a:ea typeface="Aptos"/>
                <a:cs typeface="Aptos"/>
              </a:rPr>
              <a:t>окружењу</a:t>
            </a:r>
            <a:r>
              <a:rPr sz="1400" b="0" dirty="0">
                <a:solidFill>
                  <a:srgbClr val="657184"/>
                </a:solidFill>
                <a:latin typeface="Aptos"/>
                <a:ea typeface="Aptos"/>
                <a:cs typeface="Aptos"/>
              </a:rPr>
              <a:t>.</a:t>
            </a:r>
          </a:p>
        </p:txBody>
      </p:sp>
      <p:sp>
        <p:nvSpPr>
          <p:cNvPr id="6" name="Rounded Rectangle 5">
            <a:extLst>
              <a:ext uri="{FF2B5EF4-FFF2-40B4-BE49-F238E27FC236}">
                <a16:creationId xmlns:a16="http://schemas.microsoft.com/office/drawing/2014/main" id="{918C90EC-492C-4394-853D-49296BEF0D6A}"/>
              </a:ext>
            </a:extLst>
          </p:cNvPr>
          <p:cNvSpPr>
            <a:spLocks noGrp="1"/>
          </p:cNvSpPr>
          <p:nvPr/>
        </p:nvSpPr>
        <p:spPr>
          <a:xfrm>
            <a:off x="819150" y="2571750"/>
            <a:ext cx="3257550" cy="3403748"/>
          </a:xfrm>
          <a:prstGeom prst="roundRect">
            <a:avLst>
              <a:gd name="adj" fmla="val 5983"/>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3B46BCBA-E868-4A14-9A18-36E778D271CF}"/>
              </a:ext>
            </a:extLst>
          </p:cNvPr>
          <p:cNvSpPr>
            <a:spLocks noGrp="1"/>
          </p:cNvSpPr>
          <p:nvPr/>
        </p:nvSpPr>
        <p:spPr>
          <a:xfrm>
            <a:off x="971550"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ПРОБЛЕМ</a:t>
            </a:r>
          </a:p>
        </p:txBody>
      </p:sp>
      <p:sp>
        <p:nvSpPr>
          <p:cNvPr id="8" name="Rectangle 7">
            <a:extLst>
              <a:ext uri="{FF2B5EF4-FFF2-40B4-BE49-F238E27FC236}">
                <a16:creationId xmlns:a16="http://schemas.microsoft.com/office/drawing/2014/main" id="{24DA0552-AC86-4371-9F71-8270F5541D33}"/>
              </a:ext>
            </a:extLst>
          </p:cNvPr>
          <p:cNvSpPr>
            <a:spLocks noGrp="1"/>
          </p:cNvSpPr>
          <p:nvPr/>
        </p:nvSpPr>
        <p:spPr>
          <a:xfrm>
            <a:off x="971550"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Шта може поћи по злу</a:t>
            </a:r>
          </a:p>
        </p:txBody>
      </p:sp>
      <p:sp>
        <p:nvSpPr>
          <p:cNvPr id="9" name="Rectangle 8">
            <a:extLst>
              <a:ext uri="{FF2B5EF4-FFF2-40B4-BE49-F238E27FC236}">
                <a16:creationId xmlns:a16="http://schemas.microsoft.com/office/drawing/2014/main" id="{CEAA8968-722F-48BC-AC25-F4BA03A8A604}"/>
              </a:ext>
            </a:extLst>
          </p:cNvPr>
          <p:cNvSpPr>
            <a:spLocks noGrp="1"/>
          </p:cNvSpPr>
          <p:nvPr/>
        </p:nvSpPr>
        <p:spPr>
          <a:xfrm>
            <a:off x="971550" y="3352800"/>
            <a:ext cx="2952750" cy="1343025"/>
          </a:xfrm>
          <a:prstGeom prst="rect">
            <a:avLst/>
          </a:prstGeom>
          <a:noFill/>
          <a:ln w="0">
            <a:noFill/>
          </a:ln>
        </p:spPr>
        <p:txBody>
          <a:bodyPr wrap="square" lIns="0" tIns="0" rIns="0" bIns="0" anchor="t">
            <a:noAutofit/>
          </a:bodyPr>
          <a:lstStyle/>
          <a:p>
            <a:pPr algn="l">
              <a:lnSpc>
                <a:spcPct val="106000"/>
              </a:lnSpc>
              <a:buNone/>
              <a:defRPr sz="1200" b="0">
                <a:solidFill>
                  <a:srgbClr val="657184"/>
                </a:solidFill>
                <a:latin typeface="Aptos"/>
                <a:ea typeface="Aptos"/>
                <a:cs typeface="Aptos"/>
              </a:defRPr>
            </a:pPr>
            <a:r>
              <a:rPr sz="1400" b="0" dirty="0" err="1">
                <a:solidFill>
                  <a:srgbClr val="657184"/>
                </a:solidFill>
                <a:latin typeface="Aptos"/>
                <a:ea typeface="Aptos"/>
                <a:cs typeface="Aptos"/>
              </a:rPr>
              <a:t>Безбедносна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правила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постају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поуздана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тек</a:t>
            </a:r>
            <a:r>
              <a:rPr sz="1400" b="0" dirty="0">
                <a:solidFill>
                  <a:srgbClr val="657184"/>
                </a:solidFill>
                <a:latin typeface="Aptos"/>
                <a:ea typeface="Aptos"/>
                <a:cs typeface="Aptos"/>
              </a:rPr>
              <a:t> </a:t>
            </a:r>
            <a:r>
              <a:rPr sz="1400" b="0" dirty="0" err="1">
                <a:solidFill>
                  <a:srgbClr val="657184"/>
                </a:solidFill>
                <a:latin typeface="Aptos"/>
                <a:ea typeface="Aptos"/>
                <a:cs typeface="Aptos"/>
              </a:rPr>
              <a:t>када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су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видљива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верзионисана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проверљива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Правило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расуто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кроз</a:t>
            </a:r>
            <a:r>
              <a:rPr sz="1400" b="0" dirty="0">
                <a:solidFill>
                  <a:srgbClr val="657184"/>
                </a:solidFill>
                <a:latin typeface="Aptos"/>
                <a:ea typeface="Aptos"/>
                <a:cs typeface="Aptos"/>
              </a:rPr>
              <a:t> </a:t>
            </a:r>
            <a:r>
              <a:rPr sz="1400" b="0" dirty="0" err="1">
                <a:solidFill>
                  <a:srgbClr val="657184"/>
                </a:solidFill>
                <a:latin typeface="Aptos"/>
                <a:ea typeface="Aptos"/>
                <a:cs typeface="Aptos"/>
              </a:rPr>
              <a:t>неколико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метода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није</a:t>
            </a:r>
            <a:r>
              <a:rPr sz="1400" b="0" dirty="0">
                <a:solidFill>
                  <a:srgbClr val="657184"/>
                </a:solidFill>
                <a:latin typeface="Aptos"/>
                <a:ea typeface="Aptos"/>
                <a:cs typeface="Aptos"/>
              </a:rPr>
              <a:t> </a:t>
            </a:r>
            <a:r>
              <a:rPr sz="1400" b="0" dirty="0" err="1">
                <a:solidFill>
                  <a:srgbClr val="657184"/>
                </a:solidFill>
                <a:latin typeface="Aptos"/>
                <a:ea typeface="Aptos"/>
                <a:cs typeface="Aptos"/>
              </a:rPr>
              <a:t>лако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објаснити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прегледати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нити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променити</a:t>
            </a:r>
            <a:r>
              <a:rPr sz="1400" b="0" dirty="0">
                <a:solidFill>
                  <a:srgbClr val="657184"/>
                </a:solidFill>
                <a:latin typeface="Aptos"/>
                <a:ea typeface="Aptos"/>
                <a:cs typeface="Aptos"/>
              </a:rPr>
              <a:t> </a:t>
            </a:r>
            <a:r>
              <a:rPr sz="1400" b="0" dirty="0" err="1">
                <a:solidFill>
                  <a:srgbClr val="657184"/>
                </a:solidFill>
                <a:latin typeface="Aptos"/>
                <a:ea typeface="Aptos"/>
                <a:cs typeface="Aptos"/>
              </a:rPr>
              <a:t>без</a:t>
            </a:r>
            <a:r>
              <a:rPr sz="1400" b="0" dirty="0">
                <a:solidFill>
                  <a:srgbClr val="657184"/>
                </a:solidFill>
                <a:latin typeface="Aptos"/>
                <a:ea typeface="Aptos"/>
                <a:cs typeface="Aptos"/>
              </a:rPr>
              <a:t> </a:t>
            </a:r>
            <a:r>
              <a:rPr sz="1400" b="0" dirty="0" err="1">
                <a:solidFill>
                  <a:srgbClr val="657184"/>
                </a:solidFill>
                <a:latin typeface="Aptos"/>
                <a:ea typeface="Aptos"/>
                <a:cs typeface="Aptos"/>
              </a:rPr>
              <a:t>нежељених</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последица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Политика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зато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представља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договорено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правило</a:t>
            </a:r>
            <a:r>
              <a:rPr sz="1400" b="0" dirty="0">
                <a:solidFill>
                  <a:srgbClr val="657184"/>
                </a:solidFill>
                <a:latin typeface="Aptos"/>
                <a:ea typeface="Aptos"/>
                <a:cs typeface="Aptos"/>
              </a:rPr>
              <a:t>, </a:t>
            </a:r>
            <a:r>
              <a:rPr sz="1400" b="0" dirty="0" err="1">
                <a:solidFill>
                  <a:srgbClr val="657184"/>
                </a:solidFill>
                <a:latin typeface="Aptos"/>
                <a:ea typeface="Aptos"/>
                <a:cs typeface="Aptos"/>
              </a:rPr>
              <a:t>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конфигурација</a:t>
            </a:r>
            <a:r>
              <a:rPr sz="1400" b="0" dirty="0">
                <a:solidFill>
                  <a:srgbClr val="657184"/>
                </a:solidFill>
                <a:latin typeface="Aptos"/>
                <a:ea typeface="Aptos"/>
                <a:cs typeface="Aptos"/>
              </a:rPr>
              <a:t> </a:t>
            </a:r>
            <a:r>
              <a:rPr sz="1400" b="0" dirty="0" err="1">
                <a:solidFill>
                  <a:srgbClr val="657184"/>
                </a:solidFill>
                <a:latin typeface="Aptos"/>
                <a:ea typeface="Aptos"/>
                <a:cs typeface="Aptos"/>
              </a:rPr>
              <a:t>његову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примену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у</a:t>
            </a:r>
            <a:r>
              <a:rPr sz="1400" b="0" dirty="0">
                <a:solidFill>
                  <a:srgbClr val="657184"/>
                </a:solidFill>
                <a:latin typeface="Aptos"/>
                <a:ea typeface="Aptos"/>
                <a:cs typeface="Aptos"/>
              </a:rPr>
              <a:t> </a:t>
            </a:r>
            <a:r>
              <a:rPr sz="1400" b="0" dirty="0" err="1">
                <a:solidFill>
                  <a:srgbClr val="657184"/>
                </a:solidFill>
                <a:latin typeface="Aptos"/>
                <a:ea typeface="Aptos"/>
                <a:cs typeface="Aptos"/>
              </a:rPr>
              <a:t>конкретном</a:t>
            </a:r>
            <a:r>
              <a:rPr sz="1400" b="0" dirty="0">
                <a:solidFill>
                  <a:srgbClr val="657184"/>
                </a:solidFill>
                <a:latin typeface="Aptos"/>
                <a:ea typeface="Aptos"/>
                <a:cs typeface="Aptos"/>
              </a:rPr>
              <a:t> </a:t>
            </a:r>
            <a:r>
              <a:rPr sz="1400" b="0" dirty="0" err="1">
                <a:solidFill>
                  <a:srgbClr val="657184"/>
                </a:solidFill>
                <a:latin typeface="Aptos"/>
                <a:ea typeface="Aptos"/>
                <a:cs typeface="Aptos"/>
              </a:rPr>
              <a:t>окружењу</a:t>
            </a:r>
            <a:r>
              <a:rPr sz="1400" b="0" dirty="0">
                <a:solidFill>
                  <a:srgbClr val="657184"/>
                </a:solidFill>
                <a:latin typeface="Aptos"/>
                <a:ea typeface="Aptos"/>
                <a:cs typeface="Aptos"/>
              </a:rPr>
              <a:t>.</a:t>
            </a:r>
          </a:p>
        </p:txBody>
      </p:sp>
      <p:sp>
        <p:nvSpPr>
          <p:cNvPr id="10" name="Rounded Rectangle 9">
            <a:extLst>
              <a:ext uri="{FF2B5EF4-FFF2-40B4-BE49-F238E27FC236}">
                <a16:creationId xmlns:a16="http://schemas.microsoft.com/office/drawing/2014/main" id="{832CD039-EC74-4857-9FA5-D25A12B1B854}"/>
              </a:ext>
            </a:extLst>
          </p:cNvPr>
          <p:cNvSpPr>
            <a:spLocks noGrp="1"/>
          </p:cNvSpPr>
          <p:nvPr/>
        </p:nvSpPr>
        <p:spPr>
          <a:xfrm>
            <a:off x="4467225" y="2571750"/>
            <a:ext cx="3257550" cy="3403748"/>
          </a:xfrm>
          <a:prstGeom prst="roundRect">
            <a:avLst>
              <a:gd name="adj" fmla="val 5983"/>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7A8CF12D-056B-4A9C-ABA2-B9B51F23157F}"/>
              </a:ext>
            </a:extLst>
          </p:cNvPr>
          <p:cNvSpPr>
            <a:spLocks noGrp="1"/>
          </p:cNvSpPr>
          <p:nvPr/>
        </p:nvSpPr>
        <p:spPr>
          <a:xfrm>
            <a:off x="4619625"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ЗАШТО</a:t>
            </a:r>
          </a:p>
        </p:txBody>
      </p:sp>
      <p:sp>
        <p:nvSpPr>
          <p:cNvPr id="12" name="Rectangle 11">
            <a:extLst>
              <a:ext uri="{FF2B5EF4-FFF2-40B4-BE49-F238E27FC236}">
                <a16:creationId xmlns:a16="http://schemas.microsoft.com/office/drawing/2014/main" id="{5085B7B9-1DA9-4A3F-91C8-5F0E1A7AC5CF}"/>
              </a:ext>
            </a:extLst>
          </p:cNvPr>
          <p:cNvSpPr>
            <a:spLocks noGrp="1"/>
          </p:cNvSpPr>
          <p:nvPr/>
        </p:nvSpPr>
        <p:spPr>
          <a:xfrm>
            <a:off x="4619625"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Зашто је тема важна</a:t>
            </a:r>
          </a:p>
        </p:txBody>
      </p:sp>
      <p:sp>
        <p:nvSpPr>
          <p:cNvPr id="13" name="Rectangle 12">
            <a:extLst>
              <a:ext uri="{FF2B5EF4-FFF2-40B4-BE49-F238E27FC236}">
                <a16:creationId xmlns:a16="http://schemas.microsoft.com/office/drawing/2014/main" id="{4CA75B84-3137-471C-9DCC-65F436D1081D}"/>
              </a:ext>
            </a:extLst>
          </p:cNvPr>
          <p:cNvSpPr>
            <a:spLocks noGrp="1"/>
          </p:cNvSpPr>
          <p:nvPr/>
        </p:nvSpPr>
        <p:spPr>
          <a:xfrm>
            <a:off x="4619625" y="3352800"/>
            <a:ext cx="2952750" cy="1343025"/>
          </a:xfrm>
          <a:prstGeom prst="rect">
            <a:avLst/>
          </a:prstGeom>
          <a:noFill/>
          <a:ln w="0">
            <a:noFill/>
          </a:ln>
        </p:spPr>
        <p:txBody>
          <a:bodyPr wrap="square" lIns="0" tIns="0" rIns="0" bIns="0" anchor="t">
            <a:noAutofit/>
          </a:bodyPr>
          <a:lstStyle/>
          <a:p>
            <a:pPr algn="l">
              <a:lnSpc>
                <a:spcPct val="106000"/>
              </a:lnSpc>
              <a:buNone/>
              <a:defRPr sz="1200" b="0">
                <a:solidFill>
                  <a:srgbClr val="657184"/>
                </a:solidFill>
                <a:latin typeface="Aptos"/>
                <a:ea typeface="Aptos"/>
                <a:cs typeface="Aptos"/>
              </a:defRPr>
            </a:pPr>
            <a:r>
              <a:rPr sz="1400" b="0">
                <a:solidFill>
                  <a:srgbClr val="657184"/>
                </a:solidFill>
                <a:latin typeface="Aptos"/>
                <a:ea typeface="Aptos"/>
                <a:cs typeface="Aptos"/>
              </a:rPr>
              <a:t>Видљивост не служи само реаговању на инцидент. Она омогућава тиму да разуме одлуку система, прати одступање од очекиваног стања и повеже догађаје кроз различите слојеве апликације.</a:t>
            </a:r>
          </a:p>
        </p:txBody>
      </p:sp>
      <p:sp>
        <p:nvSpPr>
          <p:cNvPr id="14" name="Rounded Rectangle 13">
            <a:extLst>
              <a:ext uri="{FF2B5EF4-FFF2-40B4-BE49-F238E27FC236}">
                <a16:creationId xmlns:a16="http://schemas.microsoft.com/office/drawing/2014/main" id="{E4C6E158-A719-43E7-979A-E1346EBB470D}"/>
              </a:ext>
            </a:extLst>
          </p:cNvPr>
          <p:cNvSpPr>
            <a:spLocks noGrp="1"/>
          </p:cNvSpPr>
          <p:nvPr/>
        </p:nvSpPr>
        <p:spPr>
          <a:xfrm>
            <a:off x="8115300" y="2571750"/>
            <a:ext cx="3257550" cy="3403748"/>
          </a:xfrm>
          <a:prstGeom prst="roundRect">
            <a:avLst>
              <a:gd name="adj" fmla="val 5983"/>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7D5F7C48-99F8-44FC-BD6C-4B015E99A27C}"/>
              </a:ext>
            </a:extLst>
          </p:cNvPr>
          <p:cNvSpPr>
            <a:spLocks noGrp="1"/>
          </p:cNvSpPr>
          <p:nvPr/>
        </p:nvSpPr>
        <p:spPr>
          <a:xfrm>
            <a:off x="8267700"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ИСХОД</a:t>
            </a:r>
          </a:p>
        </p:txBody>
      </p:sp>
      <p:sp>
        <p:nvSpPr>
          <p:cNvPr id="16" name="Rectangle 15">
            <a:extLst>
              <a:ext uri="{FF2B5EF4-FFF2-40B4-BE49-F238E27FC236}">
                <a16:creationId xmlns:a16="http://schemas.microsoft.com/office/drawing/2014/main" id="{BFE9E6CB-7FEF-4168-AEB8-7E2736EE155D}"/>
              </a:ext>
            </a:extLst>
          </p:cNvPr>
          <p:cNvSpPr>
            <a:spLocks noGrp="1"/>
          </p:cNvSpPr>
          <p:nvPr/>
        </p:nvSpPr>
        <p:spPr>
          <a:xfrm>
            <a:off x="8267700"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Шта треба доказати</a:t>
            </a:r>
          </a:p>
        </p:txBody>
      </p:sp>
      <p:sp>
        <p:nvSpPr>
          <p:cNvPr id="17" name="Rectangle 16">
            <a:extLst>
              <a:ext uri="{FF2B5EF4-FFF2-40B4-BE49-F238E27FC236}">
                <a16:creationId xmlns:a16="http://schemas.microsoft.com/office/drawing/2014/main" id="{2D144422-02B9-4562-8A7F-95341A970C70}"/>
              </a:ext>
            </a:extLst>
          </p:cNvPr>
          <p:cNvSpPr>
            <a:spLocks noGrp="1"/>
          </p:cNvSpPr>
          <p:nvPr/>
        </p:nvSpPr>
        <p:spPr>
          <a:xfrm>
            <a:off x="8267700" y="3352800"/>
            <a:ext cx="2952750" cy="13430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40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10866989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12CBCD4F-64F0-4AAE-B904-A3CA85697D0C}"/>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D60EF00A-BFF0-4F3B-B083-4E793D8229D1}"/>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8B877F3C-53C7-4CD8-B9F9-E9F18F4F53D0}"/>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a:ext uri="{FF2B5EF4-FFF2-40B4-BE49-F238E27FC236}">
                <a16:creationId xmlns:a16="http://schemas.microsoft.com/office/drawing/2014/main" id="{9D30F9CD-9352-44CB-84B2-8273E051BED1}"/>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Четири појма граде једну одлуку</a:t>
            </a:r>
          </a:p>
        </p:txBody>
      </p:sp>
      <p:sp>
        <p:nvSpPr>
          <p:cNvPr id="5" name="Rectangle 4">
            <a:extLst>
              <a:ext uri="{FF2B5EF4-FFF2-40B4-BE49-F238E27FC236}">
                <a16:creationId xmlns:a16="http://schemas.microsoft.com/office/drawing/2014/main" id="{58076A4F-9074-4122-9C61-570224418738}"/>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Сваки елемент одговара на друго питање и оставља другачији доказ.</a:t>
            </a:r>
          </a:p>
        </p:txBody>
      </p:sp>
      <p:sp>
        <p:nvSpPr>
          <p:cNvPr id="6" name="Rounded Rectangle 5">
            <a:extLst>
              <a:ext uri="{FF2B5EF4-FFF2-40B4-BE49-F238E27FC236}">
                <a16:creationId xmlns:a16="http://schemas.microsoft.com/office/drawing/2014/main" id="{3562995B-8CF5-4128-A948-DF58AA1C262B}"/>
              </a:ext>
            </a:extLst>
          </p:cNvPr>
          <p:cNvSpPr>
            <a:spLocks noGrp="1"/>
          </p:cNvSpPr>
          <p:nvPr/>
        </p:nvSpPr>
        <p:spPr>
          <a:xfrm>
            <a:off x="723900" y="2419350"/>
            <a:ext cx="24717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215EEB78-87A1-4728-B157-054059F12430}"/>
              </a:ext>
            </a:extLst>
          </p:cNvPr>
          <p:cNvSpPr>
            <a:spLocks noGrp="1"/>
          </p:cNvSpPr>
          <p:nvPr/>
        </p:nvSpPr>
        <p:spPr>
          <a:xfrm>
            <a:off x="866775"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56610C23-9FA7-470D-89DF-3C382DE253E9}"/>
              </a:ext>
            </a:extLst>
          </p:cNvPr>
          <p:cNvSpPr>
            <a:spLocks noGrp="1"/>
          </p:cNvSpPr>
          <p:nvPr/>
        </p:nvSpPr>
        <p:spPr>
          <a:xfrm>
            <a:off x="857250"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a:ext uri="{FF2B5EF4-FFF2-40B4-BE49-F238E27FC236}">
                <a16:creationId xmlns:a16="http://schemas.microsoft.com/office/drawing/2014/main" id="{36318DF3-47E3-4324-8988-A5499D676911}"/>
              </a:ext>
            </a:extLst>
          </p:cNvPr>
          <p:cNvSpPr>
            <a:spLocks noGrp="1"/>
          </p:cNvSpPr>
          <p:nvPr/>
        </p:nvSpPr>
        <p:spPr>
          <a:xfrm>
            <a:off x="866775"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организација очекује</a:t>
            </a:r>
          </a:p>
        </p:txBody>
      </p:sp>
      <p:sp>
        <p:nvSpPr>
          <p:cNvPr id="10" name="Rounded Rectangle 9">
            <a:extLst>
              <a:ext uri="{FF2B5EF4-FFF2-40B4-BE49-F238E27FC236}">
                <a16:creationId xmlns:a16="http://schemas.microsoft.com/office/drawing/2014/main" id="{411D61AB-E8F1-4AC6-825B-31FBB60659BE}"/>
              </a:ext>
            </a:extLst>
          </p:cNvPr>
          <p:cNvSpPr>
            <a:spLocks noGrp="1"/>
          </p:cNvSpPr>
          <p:nvPr/>
        </p:nvSpPr>
        <p:spPr>
          <a:xfrm>
            <a:off x="3481388" y="2419350"/>
            <a:ext cx="2471738"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DC41124F-CBE9-41C2-AC35-0F5871A16BE9}"/>
              </a:ext>
            </a:extLst>
          </p:cNvPr>
          <p:cNvSpPr>
            <a:spLocks noGrp="1"/>
          </p:cNvSpPr>
          <p:nvPr/>
        </p:nvSpPr>
        <p:spPr>
          <a:xfrm>
            <a:off x="3624263"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16602FB1-C493-45C3-9C17-9A0FF4E6DE2F}"/>
              </a:ext>
            </a:extLst>
          </p:cNvPr>
          <p:cNvSpPr>
            <a:spLocks noGrp="1"/>
          </p:cNvSpPr>
          <p:nvPr/>
        </p:nvSpPr>
        <p:spPr>
          <a:xfrm>
            <a:off x="3614738"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a:ext uri="{FF2B5EF4-FFF2-40B4-BE49-F238E27FC236}">
                <a16:creationId xmlns:a16="http://schemas.microsoft.com/office/drawing/2014/main" id="{BF7AC32F-C3A2-4B59-8B03-B99BD56C63EF}"/>
              </a:ext>
            </a:extLst>
          </p:cNvPr>
          <p:cNvSpPr>
            <a:spLocks noGrp="1"/>
          </p:cNvSpPr>
          <p:nvPr/>
        </p:nvSpPr>
        <p:spPr>
          <a:xfrm>
            <a:off x="3624263"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како се правило примењује</a:t>
            </a:r>
          </a:p>
        </p:txBody>
      </p:sp>
      <p:sp>
        <p:nvSpPr>
          <p:cNvPr id="14" name="Rounded Rectangle 13">
            <a:extLst>
              <a:ext uri="{FF2B5EF4-FFF2-40B4-BE49-F238E27FC236}">
                <a16:creationId xmlns:a16="http://schemas.microsoft.com/office/drawing/2014/main" id="{6ABECE30-38B4-49FA-8712-FFE3E2965100}"/>
              </a:ext>
            </a:extLst>
          </p:cNvPr>
          <p:cNvSpPr>
            <a:spLocks noGrp="1"/>
          </p:cNvSpPr>
          <p:nvPr/>
        </p:nvSpPr>
        <p:spPr>
          <a:xfrm>
            <a:off x="6238875" y="2419350"/>
            <a:ext cx="2471738" cy="1257300"/>
          </a:xfrm>
          <a:prstGeom prst="roundRect">
            <a:avLst>
              <a:gd name="adj" fmla="val 10606"/>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E9178C4E-8CDD-4AB9-8088-6BD58C83A7EA}"/>
              </a:ext>
            </a:extLst>
          </p:cNvPr>
          <p:cNvSpPr>
            <a:spLocks noGrp="1"/>
          </p:cNvSpPr>
          <p:nvPr/>
        </p:nvSpPr>
        <p:spPr>
          <a:xfrm>
            <a:off x="6381750"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03</a:t>
            </a:r>
          </a:p>
        </p:txBody>
      </p:sp>
      <p:sp>
        <p:nvSpPr>
          <p:cNvPr id="16" name="Rectangle 15">
            <a:extLst>
              <a:ext uri="{FF2B5EF4-FFF2-40B4-BE49-F238E27FC236}">
                <a16:creationId xmlns:a16="http://schemas.microsoft.com/office/drawing/2014/main" id="{F2FA0BA6-2635-43B8-8DA7-BE7E74207388}"/>
              </a:ext>
            </a:extLst>
          </p:cNvPr>
          <p:cNvSpPr>
            <a:spLocks noGrp="1"/>
          </p:cNvSpPr>
          <p:nvPr/>
        </p:nvSpPr>
        <p:spPr>
          <a:xfrm>
            <a:off x="6372225"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a:ext uri="{FF2B5EF4-FFF2-40B4-BE49-F238E27FC236}">
                <a16:creationId xmlns:a16="http://schemas.microsoft.com/office/drawing/2014/main" id="{B5D92E08-0AC8-4859-AAC2-5AE251CE3DC9}"/>
              </a:ext>
            </a:extLst>
          </p:cNvPr>
          <p:cNvSpPr>
            <a:spLocks noGrp="1"/>
          </p:cNvSpPr>
          <p:nvPr/>
        </p:nvSpPr>
        <p:spPr>
          <a:xfrm>
            <a:off x="6381750"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механизам заштите</a:t>
            </a:r>
          </a:p>
        </p:txBody>
      </p:sp>
      <p:sp>
        <p:nvSpPr>
          <p:cNvPr id="18" name="Rounded Rectangle 17">
            <a:extLst>
              <a:ext uri="{FF2B5EF4-FFF2-40B4-BE49-F238E27FC236}">
                <a16:creationId xmlns:a16="http://schemas.microsoft.com/office/drawing/2014/main" id="{0C276F26-550B-4A11-96BC-28169D5AF090}"/>
              </a:ext>
            </a:extLst>
          </p:cNvPr>
          <p:cNvSpPr>
            <a:spLocks noGrp="1"/>
          </p:cNvSpPr>
          <p:nvPr/>
        </p:nvSpPr>
        <p:spPr>
          <a:xfrm>
            <a:off x="8996363" y="2419350"/>
            <a:ext cx="24717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218B3B29-3C9E-4470-A194-9D56F73AD434}"/>
              </a:ext>
            </a:extLst>
          </p:cNvPr>
          <p:cNvSpPr>
            <a:spLocks noGrp="1"/>
          </p:cNvSpPr>
          <p:nvPr/>
        </p:nvSpPr>
        <p:spPr>
          <a:xfrm>
            <a:off x="9139238"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DC12D173-1F79-45A3-B9F4-1C7B9FCFE36A}"/>
              </a:ext>
            </a:extLst>
          </p:cNvPr>
          <p:cNvSpPr>
            <a:spLocks noGrp="1"/>
          </p:cNvSpPr>
          <p:nvPr/>
        </p:nvSpPr>
        <p:spPr>
          <a:xfrm>
            <a:off x="9129713"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a:ext uri="{FF2B5EF4-FFF2-40B4-BE49-F238E27FC236}">
                <a16:creationId xmlns:a16="http://schemas.microsoft.com/office/drawing/2014/main" id="{F4FAA62D-4228-4CE4-BE35-1A4C2DD2383C}"/>
              </a:ext>
            </a:extLst>
          </p:cNvPr>
          <p:cNvSpPr>
            <a:spLocks noGrp="1"/>
          </p:cNvSpPr>
          <p:nvPr/>
        </p:nvSpPr>
        <p:spPr>
          <a:xfrm>
            <a:off x="9139238"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лог, метрика или тест</a:t>
            </a:r>
          </a:p>
        </p:txBody>
      </p:sp>
      <p:cxnSp>
        <p:nvCxnSpPr>
          <p:cNvPr id="125" name="Straight Arrow Connector 124"/>
          <p:cNvCxnSpPr>
            <a:stCxn id="6" idx="3"/>
            <a:endCxn id="10" idx="1"/>
          </p:cNvCxnSpPr>
          <p:nvPr/>
        </p:nvCxnSpPr>
        <p:spPr>
          <a:xfrm>
            <a:off x="3195638" y="304800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04800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710613" y="304800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E62E4501-1153-421E-AED9-42D42AD267C9}"/>
              </a:ext>
            </a:extLst>
          </p:cNvPr>
          <p:cNvSpPr>
            <a:spLocks noGrp="1"/>
          </p:cNvSpPr>
          <p:nvPr/>
        </p:nvSpPr>
        <p:spPr>
          <a:xfrm>
            <a:off x="1619250" y="4286250"/>
            <a:ext cx="8953500" cy="800100"/>
          </a:xfrm>
          <a:prstGeom prst="roundRect">
            <a:avLst>
              <a:gd name="adj" fmla="val 15476"/>
            </a:avLst>
          </a:prstGeom>
          <a:solidFill>
            <a:srgbClr val="F4F6F9"/>
          </a:solidFill>
          <a:ln w="9525">
            <a:solidFill>
              <a:srgbClr val="D7DEE8"/>
            </a:solidFill>
            <a:prstDash val="solid"/>
          </a:ln>
        </p:spPr>
      </p:sp>
      <p:sp>
        <p:nvSpPr>
          <p:cNvPr id="26" name="Rounded Rectangle 25">
            <a:extLst>
              <a:ext uri="{FF2B5EF4-FFF2-40B4-BE49-F238E27FC236}">
                <a16:creationId xmlns:a16="http://schemas.microsoft.com/office/drawing/2014/main" id="{57D08E4C-18AC-46CB-A40D-B881E3B3CFB7}"/>
              </a:ext>
            </a:extLst>
          </p:cNvPr>
          <p:cNvSpPr>
            <a:spLocks noGrp="1"/>
          </p:cNvSpPr>
          <p:nvPr/>
        </p:nvSpPr>
        <p:spPr>
          <a:xfrm>
            <a:off x="1752600" y="4429125"/>
            <a:ext cx="57150" cy="514350"/>
          </a:xfrm>
          <a:prstGeom prst="roundRect">
            <a:avLst>
              <a:gd name="adj" fmla="val 50000"/>
            </a:avLst>
          </a:prstGeom>
          <a:solidFill>
            <a:srgbClr val="748092"/>
          </a:solidFill>
          <a:ln w="0">
            <a:noFill/>
          </a:ln>
        </p:spPr>
      </p:sp>
      <p:sp>
        <p:nvSpPr>
          <p:cNvPr id="76" name="Rounded Rectangle 75">
            <a:extLst>
              <a:ext uri="{FF2B5EF4-FFF2-40B4-BE49-F238E27FC236}">
                <a16:creationId xmlns:a16="http://schemas.microsoft.com/office/drawing/2014/main" id="{741ABEA9-42A3-4C52-84B1-24479D85E22F}"/>
              </a:ext>
            </a:extLst>
          </p:cNvPr>
          <p:cNvSpPr>
            <a:spLocks noGrp="1"/>
          </p:cNvSpPr>
          <p:nvPr/>
        </p:nvSpPr>
        <p:spPr>
          <a:xfrm>
            <a:off x="914400" y="4305300"/>
            <a:ext cx="10363200" cy="800100"/>
          </a:xfrm>
          <a:prstGeom prst="roundRect">
            <a:avLst>
              <a:gd name="adj" fmla="val 16667"/>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34EB9F71-BEB8-460B-853F-BA8B9F61FD3C}"/>
              </a:ext>
            </a:extLst>
          </p:cNvPr>
          <p:cNvSpPr>
            <a:spLocks noGrp="1"/>
          </p:cNvSpPr>
          <p:nvPr/>
        </p:nvSpPr>
        <p:spPr>
          <a:xfrm>
            <a:off x="1085850" y="4457700"/>
            <a:ext cx="57150" cy="49530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A4C72811-C218-4138-A266-9F91397D9A10}"/>
              </a:ext>
            </a:extLst>
          </p:cNvPr>
          <p:cNvSpPr>
            <a:spLocks noGrp="1"/>
          </p:cNvSpPr>
          <p:nvPr/>
        </p:nvSpPr>
        <p:spPr>
          <a:xfrm>
            <a:off x="1333500" y="44100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КЉУЧНА ПОРУКА</a:t>
            </a:r>
          </a:p>
        </p:txBody>
      </p:sp>
      <p:sp>
        <p:nvSpPr>
          <p:cNvPr id="79" name="Rectangle 78">
            <a:extLst>
              <a:ext uri="{FF2B5EF4-FFF2-40B4-BE49-F238E27FC236}">
                <a16:creationId xmlns:a16="http://schemas.microsoft.com/office/drawing/2014/main" id="{22A5BEE0-97D5-4ADB-B0D6-87EA3696B7AE}"/>
              </a:ext>
            </a:extLst>
          </p:cNvPr>
          <p:cNvSpPr>
            <a:spLocks noGrp="1"/>
          </p:cNvSpPr>
          <p:nvPr/>
        </p:nvSpPr>
        <p:spPr>
          <a:xfrm>
            <a:off x="1333500" y="4638675"/>
            <a:ext cx="9639300" cy="361950"/>
          </a:xfrm>
          <a:prstGeom prst="rect">
            <a:avLst/>
          </a:prstGeom>
          <a:noFill/>
          <a:ln w="0">
            <a:noFill/>
          </a:ln>
        </p:spPr>
        <p:txBody>
          <a:bodyPr wrap="square" lIns="0" tIns="0" rIns="0" bIns="0" anchor="ctr">
            <a:normAutofit fontScale="90581"/>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Правило може бити добро написано, а контрола ипак неефективна. Доказ повезује очекивање са реалним понашањем.</a:t>
            </a:r>
          </a:p>
        </p:txBody>
      </p:sp>
    </p:spTree>
    <p:extLst>
      <p:ext uri="{BB962C8B-B14F-4D97-AF65-F5344CB8AC3E}">
        <p14:creationId xmlns:p14="http://schemas.microsoft.com/office/powerpoint/2010/main" val="10947931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0DC17FF-0823-4137-A87F-C805C93FC08C}"/>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9280E540-0597-4A5B-AD2E-00C3542660F2}"/>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09B111D6-2CA6-47D6-8236-533E406A6660}"/>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a:ext uri="{FF2B5EF4-FFF2-40B4-BE49-F238E27FC236}">
                <a16:creationId xmlns:a16="http://schemas.microsoft.com/office/drawing/2014/main" id="{C15C5318-46F2-4116-B2B7-1430D76E3DCC}"/>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a:t>
            </a:r>
          </a:p>
        </p:txBody>
      </p:sp>
      <p:sp>
        <p:nvSpPr>
          <p:cNvPr id="5" name="Rectangle 4">
            <a:extLst>
              <a:ext uri="{FF2B5EF4-FFF2-40B4-BE49-F238E27FC236}">
                <a16:creationId xmlns:a16="http://schemas.microsoft.com/office/drawing/2014/main" id="{4D594D83-EDE0-4A83-9D60-AC57AB0CE49A}"/>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шта организација очекује</a:t>
            </a:r>
          </a:p>
        </p:txBody>
      </p:sp>
      <p:sp>
        <p:nvSpPr>
          <p:cNvPr id="6" name="Rounded Rectangle 5">
            <a:extLst>
              <a:ext uri="{FF2B5EF4-FFF2-40B4-BE49-F238E27FC236}">
                <a16:creationId xmlns:a16="http://schemas.microsoft.com/office/drawing/2014/main" id="{AE1B752B-D369-478D-89E7-5CBA3FED36E7}"/>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AB50743E-08D6-428A-8D06-F2CB9BEAB135}"/>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44D18D59-2433-4382-9C93-2CDBF15D4EA7}"/>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Нова верзија политике не брише разлог због ког је стара одлука некада била исправна.</a:t>
            </a:r>
          </a:p>
        </p:txBody>
      </p:sp>
      <p:sp>
        <p:nvSpPr>
          <p:cNvPr id="9" name="Rectangle 8">
            <a:extLst>
              <a:ext uri="{FF2B5EF4-FFF2-40B4-BE49-F238E27FC236}">
                <a16:creationId xmlns:a16="http://schemas.microsoft.com/office/drawing/2014/main" id="{FA4BAFD6-4ED9-4AA6-82DA-FDCEEFFBC5A2}"/>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A61DE7A4-BD4B-4065-BD92-7C74BB1669D9}"/>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65B64F62-BA13-412E-9804-683DFC7B3D7D}"/>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DFA7BE1D-D01E-4F04-B934-FF1451953BCF}"/>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Политика описује намеру и важење, док конфигурација чува вредности којима се та намера примењује у окружењу.</a:t>
            </a:r>
          </a:p>
        </p:txBody>
      </p:sp>
      <p:sp>
        <p:nvSpPr>
          <p:cNvPr id="13" name="Rectangle 12">
            <a:extLst>
              <a:ext uri="{FF2B5EF4-FFF2-40B4-BE49-F238E27FC236}">
                <a16:creationId xmlns:a16="http://schemas.microsoft.com/office/drawing/2014/main" id="{ACCEB6A6-0C2F-4110-820F-6BCC0043B5F1}"/>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858714CA-5176-4645-9E59-9DA983727DCB}"/>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BF6041D7-9267-4309-AA65-293CDE988488}"/>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345934C4-3F77-4511-88D9-A34B81A30880}"/>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Конфликт политика решава се унапред договореним правилом, често рестриктивнијом одлуком.</a:t>
            </a:r>
          </a:p>
        </p:txBody>
      </p:sp>
      <p:sp>
        <p:nvSpPr>
          <p:cNvPr id="17" name="Rectangle 16">
            <a:extLst>
              <a:ext uri="{FF2B5EF4-FFF2-40B4-BE49-F238E27FC236}">
                <a16:creationId xmlns:a16="http://schemas.microsoft.com/office/drawing/2014/main" id="{F74D0D18-00B4-4ADA-B464-2D057454332E}"/>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F53CA7F1-267D-4DAD-A5D6-CBBD54EE8F6A}"/>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61030250-F12C-49AF-AA0D-C8BC021E4FA6}"/>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60CA197D-7647-4FEF-A967-3C4ABB0B78DA}"/>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BF97F736-754B-4168-A636-9290DAC92E99}"/>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09893120-5188-44C3-82DD-5791D78986A5}"/>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74FB84FC-B0B8-4426-A198-415C43B91507}"/>
              </a:ext>
            </a:extLst>
          </p:cNvPr>
          <p:cNvSpPr>
            <a:spLocks noGrp="1"/>
          </p:cNvSpPr>
          <p:nvPr/>
        </p:nvSpPr>
        <p:spPr>
          <a:xfrm>
            <a:off x="1333500" y="5095875"/>
            <a:ext cx="9639300" cy="342900"/>
          </a:xfrm>
          <a:prstGeom prst="rect">
            <a:avLst/>
          </a:prstGeom>
          <a:noFill/>
          <a:ln w="0">
            <a:noFill/>
          </a:ln>
        </p:spPr>
        <p:txBody>
          <a:bodyPr wrap="square" lIns="0" tIns="0" rIns="0" bIns="0" anchor="ctr">
            <a:normAutofit fontScale="90354"/>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Tree>
    <p:extLst>
      <p:ext uri="{BB962C8B-B14F-4D97-AF65-F5344CB8AC3E}">
        <p14:creationId xmlns:p14="http://schemas.microsoft.com/office/powerpoint/2010/main" val="17069296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151F8CE7-1B0F-4183-9A99-7023730C3DDD}"/>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B8DE557E-5110-4468-82C1-11ADC769204D}"/>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5EE6B8CE-2CDB-46BE-A26D-0C57321EE661}"/>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a:ext uri="{FF2B5EF4-FFF2-40B4-BE49-F238E27FC236}">
                <a16:creationId xmlns:a16="http://schemas.microsoft.com/office/drawing/2014/main" id="{0E541F60-1EA6-4E62-87C9-015CACAB0985}"/>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Конфигурација</a:t>
            </a:r>
          </a:p>
        </p:txBody>
      </p:sp>
      <p:sp>
        <p:nvSpPr>
          <p:cNvPr id="5" name="Rectangle 4">
            <a:extLst>
              <a:ext uri="{FF2B5EF4-FFF2-40B4-BE49-F238E27FC236}">
                <a16:creationId xmlns:a16="http://schemas.microsoft.com/office/drawing/2014/main" id="{9770C2C6-5273-4FDC-AF16-2C6D977CEA9D}"/>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како се правило примењује</a:t>
            </a:r>
          </a:p>
        </p:txBody>
      </p:sp>
      <p:sp>
        <p:nvSpPr>
          <p:cNvPr id="6" name="Rounded Rectangle 5">
            <a:extLst>
              <a:ext uri="{FF2B5EF4-FFF2-40B4-BE49-F238E27FC236}">
                <a16:creationId xmlns:a16="http://schemas.microsoft.com/office/drawing/2014/main" id="{B652445E-1B21-458E-A923-0300A5C1FCD4}"/>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D354E251-EF10-49E6-B452-94D0210A6E66}"/>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28833E9D-4626-4F6F-B605-75BCD95EF05B}"/>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Конфигурациона вредност има власника, значење и очекивани опсег.</a:t>
            </a:r>
          </a:p>
        </p:txBody>
      </p:sp>
      <p:sp>
        <p:nvSpPr>
          <p:cNvPr id="9" name="Rectangle 8">
            <a:extLst>
              <a:ext uri="{FF2B5EF4-FFF2-40B4-BE49-F238E27FC236}">
                <a16:creationId xmlns:a16="http://schemas.microsoft.com/office/drawing/2014/main" id="{0A78A99B-0BCE-448E-92E8-869D2F8BD479}"/>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C83BEC57-7785-4276-8100-971D06D4998F}"/>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1198E7FC-BFE4-4197-9B31-DB1781EFA7AA}"/>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5D1B0F6A-5D25-412B-B7E9-F982D9D22358}"/>
              </a:ext>
            </a:extLst>
          </p:cNvPr>
          <p:cNvSpPr>
            <a:spLocks noGrp="1"/>
          </p:cNvSpPr>
          <p:nvPr/>
        </p:nvSpPr>
        <p:spPr>
          <a:xfrm>
            <a:off x="461010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Свака промена која утиче на одлуку има власника, датум и јасан разлог.</a:t>
            </a:r>
          </a:p>
        </p:txBody>
      </p:sp>
      <p:sp>
        <p:nvSpPr>
          <p:cNvPr id="13" name="Rectangle 12">
            <a:extLst>
              <a:ext uri="{FF2B5EF4-FFF2-40B4-BE49-F238E27FC236}">
                <a16:creationId xmlns:a16="http://schemas.microsoft.com/office/drawing/2014/main" id="{285EB529-91CD-4A18-9CAE-6E1FA9F05A7E}"/>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C57A1EEC-1574-47E6-964B-236221D46FAA}"/>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66EF84A4-7490-46D4-BC16-3A599CF4E580}"/>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AD95E59A-93D1-4256-AA63-20A93BEDBE8A}"/>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Конфигурација не мења смисао политике без видљивог процеса одобравања.</a:t>
            </a:r>
          </a:p>
        </p:txBody>
      </p:sp>
      <p:sp>
        <p:nvSpPr>
          <p:cNvPr id="17" name="Rectangle 16">
            <a:extLst>
              <a:ext uri="{FF2B5EF4-FFF2-40B4-BE49-F238E27FC236}">
                <a16:creationId xmlns:a16="http://schemas.microsoft.com/office/drawing/2014/main" id="{EEA0923D-E7C1-40F7-8FAC-BD6803BD7A0E}"/>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CBF132B3-4D57-402F-9675-FA3B7F7D41D7}"/>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6B85CF62-EC9D-4E1C-89B9-BA4C25447EB6}"/>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E8E086D6-E361-4C8F-A808-80E45D7834D7}"/>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66ECC8F2-EA8E-4D34-95D1-ACC186592385}"/>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2F2B146D-839A-4811-BD85-D8C97A665782}"/>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D08C202A-63BC-49A2-B41C-3DBD9545C22C}"/>
              </a:ext>
            </a:extLst>
          </p:cNvPr>
          <p:cNvSpPr>
            <a:spLocks noGrp="1"/>
          </p:cNvSpPr>
          <p:nvPr/>
        </p:nvSpPr>
        <p:spPr>
          <a:xfrm>
            <a:off x="1333500" y="5095875"/>
            <a:ext cx="9639300" cy="342900"/>
          </a:xfrm>
          <a:prstGeom prst="rect">
            <a:avLst/>
          </a:prstGeom>
          <a:noFill/>
          <a:ln w="0">
            <a:noFill/>
          </a:ln>
        </p:spPr>
        <p:txBody>
          <a:bodyPr wrap="square" lIns="0" tIns="0" rIns="0" bIns="0" anchor="ctr">
            <a:normAutofit fontScale="90354"/>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Tree>
    <p:extLst>
      <p:ext uri="{BB962C8B-B14F-4D97-AF65-F5344CB8AC3E}">
        <p14:creationId xmlns:p14="http://schemas.microsoft.com/office/powerpoint/2010/main" val="966565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8C53318-B41D-42AD-8DE8-72E4D73D2C75}"/>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2E6D5DFA-3550-46C7-AAC9-230177EC8C2C}"/>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0E4D98F0-28AF-4A0A-9702-389FAD7C47FF}"/>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a:ext uri="{FF2B5EF4-FFF2-40B4-BE49-F238E27FC236}">
                <a16:creationId xmlns:a16="http://schemas.microsoft.com/office/drawing/2014/main" id="{5FB3B246-8149-425C-8465-B82E939DB7C9}"/>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Контрола</a:t>
            </a:r>
          </a:p>
        </p:txBody>
      </p:sp>
      <p:sp>
        <p:nvSpPr>
          <p:cNvPr id="5" name="Rectangle 4">
            <a:extLst>
              <a:ext uri="{FF2B5EF4-FFF2-40B4-BE49-F238E27FC236}">
                <a16:creationId xmlns:a16="http://schemas.microsoft.com/office/drawing/2014/main" id="{0032CBF3-EA8D-43B2-BCC1-DEAA8350913A}"/>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механизам заштите</a:t>
            </a:r>
          </a:p>
        </p:txBody>
      </p:sp>
      <p:sp>
        <p:nvSpPr>
          <p:cNvPr id="6" name="Rounded Rectangle 5">
            <a:extLst>
              <a:ext uri="{FF2B5EF4-FFF2-40B4-BE49-F238E27FC236}">
                <a16:creationId xmlns:a16="http://schemas.microsoft.com/office/drawing/2014/main" id="{0CEF2935-F6D1-43CA-950A-297AD938FA06}"/>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A26C95FB-C242-4EAA-9FC3-4668E9188C1C}"/>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DF5CD1BA-B6B7-498D-ABA0-83B831B2440D}"/>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Корелациони идентификатор повезује један безбедносни ток кроз слојеве система.</a:t>
            </a:r>
          </a:p>
        </p:txBody>
      </p:sp>
      <p:sp>
        <p:nvSpPr>
          <p:cNvPr id="9" name="Rectangle 8">
            <a:extLst>
              <a:ext uri="{FF2B5EF4-FFF2-40B4-BE49-F238E27FC236}">
                <a16:creationId xmlns:a16="http://schemas.microsoft.com/office/drawing/2014/main" id="{48C223E2-6CFB-4D4B-A856-3E0ACD7E4C76}"/>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0267C7AF-8AFC-4CCF-A706-C3DD0CC99E77}"/>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11E23200-CDF0-44A5-BE9C-A9D4A25CB982}"/>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9A4DDD43-D0E1-460E-92C4-BC90EFA0043F}"/>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Лог, метрика или тест дају доказ да систем ради према активном правилу, а не само да је правило записано.</a:t>
            </a:r>
          </a:p>
        </p:txBody>
      </p:sp>
      <p:sp>
        <p:nvSpPr>
          <p:cNvPr id="13" name="Rectangle 12">
            <a:extLst>
              <a:ext uri="{FF2B5EF4-FFF2-40B4-BE49-F238E27FC236}">
                <a16:creationId xmlns:a16="http://schemas.microsoft.com/office/drawing/2014/main" id="{1C013D64-0779-46B5-BEC5-71671C946B2D}"/>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35E542F9-422F-4581-9D50-D8532A13B3F5}"/>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F9505C1B-43C0-4A71-B448-11507C9058B8}"/>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B45ECF5A-8722-4541-9314-B17A121E727E}"/>
              </a:ext>
            </a:extLst>
          </p:cNvPr>
          <p:cNvSpPr>
            <a:spLocks noGrp="1"/>
          </p:cNvSpPr>
          <p:nvPr/>
        </p:nvSpPr>
        <p:spPr>
          <a:xfrm>
            <a:off x="817245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Безбедносна контрола има власника и очекивани доказ, иначе нико не прати да ли је престала да ради.</a:t>
            </a:r>
          </a:p>
        </p:txBody>
      </p:sp>
      <p:sp>
        <p:nvSpPr>
          <p:cNvPr id="17" name="Rectangle 16">
            <a:extLst>
              <a:ext uri="{FF2B5EF4-FFF2-40B4-BE49-F238E27FC236}">
                <a16:creationId xmlns:a16="http://schemas.microsoft.com/office/drawing/2014/main" id="{8B0F0344-31EA-45BA-8327-8D4A0E092C0B}"/>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B1D75CFE-A812-4C7A-B849-89CFD9C4BA94}"/>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3E730806-60F2-4B04-BE9E-A85DCE3B33BF}"/>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F4614E0E-4C41-4DFA-9DC8-BCB174B72277}"/>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D34BA625-5F39-4F43-9F5D-06143AEB34B2}"/>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7A861E25-416B-4D8E-ACC7-7AF705017A83}"/>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4AFF87D6-8D54-4584-80F8-737FD8685B14}"/>
              </a:ext>
            </a:extLst>
          </p:cNvPr>
          <p:cNvSpPr>
            <a:spLocks noGrp="1"/>
          </p:cNvSpPr>
          <p:nvPr/>
        </p:nvSpPr>
        <p:spPr>
          <a:xfrm>
            <a:off x="1333500" y="5095875"/>
            <a:ext cx="9639300" cy="342900"/>
          </a:xfrm>
          <a:prstGeom prst="rect">
            <a:avLst/>
          </a:prstGeom>
          <a:noFill/>
          <a:ln w="0">
            <a:noFill/>
          </a:ln>
        </p:spPr>
        <p:txBody>
          <a:bodyPr wrap="square" lIns="0" tIns="0" rIns="0" bIns="0" anchor="ctr">
            <a:normAutofit fontScale="90354"/>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Tree>
    <p:extLst>
      <p:ext uri="{BB962C8B-B14F-4D97-AF65-F5344CB8AC3E}">
        <p14:creationId xmlns:p14="http://schemas.microsoft.com/office/powerpoint/2010/main" val="12793395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5A7B1A4-F879-4D6F-B757-8944D518341B}"/>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4F89B92A-02F9-47AA-942A-D08D13FA8665}"/>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3D6AFBBB-C633-41F4-AD94-7051F68A8147}"/>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a:ext uri="{FF2B5EF4-FFF2-40B4-BE49-F238E27FC236}">
                <a16:creationId xmlns:a16="http://schemas.microsoft.com/office/drawing/2014/main" id="{5E8F0B31-287F-4BF2-89FF-031B10ABBD5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Доказ</a:t>
            </a:r>
          </a:p>
        </p:txBody>
      </p:sp>
      <p:sp>
        <p:nvSpPr>
          <p:cNvPr id="5" name="Rectangle 4">
            <a:extLst>
              <a:ext uri="{FF2B5EF4-FFF2-40B4-BE49-F238E27FC236}">
                <a16:creationId xmlns:a16="http://schemas.microsoft.com/office/drawing/2014/main" id="{A97313F9-E710-472F-9319-02256E0905A5}"/>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лог, метрика или тест</a:t>
            </a:r>
          </a:p>
        </p:txBody>
      </p:sp>
      <p:sp>
        <p:nvSpPr>
          <p:cNvPr id="6" name="Rounded Rectangle 5">
            <a:extLst>
              <a:ext uri="{FF2B5EF4-FFF2-40B4-BE49-F238E27FC236}">
                <a16:creationId xmlns:a16="http://schemas.microsoft.com/office/drawing/2014/main" id="{DBC14714-90DA-4860-9B52-3238B6905D1A}"/>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4F8B7284-BB01-4B8B-83E3-E687B139E1BF}"/>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DF0D139C-FEF6-462D-B818-1A1D46F3889A}"/>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Конфликт политика решава се унапред договореним правилом, често рестриктивнијом одлуком.</a:t>
            </a:r>
          </a:p>
        </p:txBody>
      </p:sp>
      <p:sp>
        <p:nvSpPr>
          <p:cNvPr id="9" name="Rectangle 8">
            <a:extLst>
              <a:ext uri="{FF2B5EF4-FFF2-40B4-BE49-F238E27FC236}">
                <a16:creationId xmlns:a16="http://schemas.microsoft.com/office/drawing/2014/main" id="{ABC24331-F569-4735-954A-3ED9996D3739}"/>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04B0EFF4-3B49-4A9E-91AF-8D6D2AF291E7}"/>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EDE9514A-9AEE-4218-AF18-C321B1DDFD1F}"/>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C371FE79-E33F-438A-A42B-1B3E15E793AB}"/>
              </a:ext>
            </a:extLst>
          </p:cNvPr>
          <p:cNvSpPr>
            <a:spLocks noGrp="1"/>
          </p:cNvSpPr>
          <p:nvPr/>
        </p:nvSpPr>
        <p:spPr>
          <a:xfrm>
            <a:off x="461010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Конфигурација не мења смисао политике без видљивог процеса одобравања.</a:t>
            </a:r>
          </a:p>
        </p:txBody>
      </p:sp>
      <p:sp>
        <p:nvSpPr>
          <p:cNvPr id="13" name="Rectangle 12">
            <a:extLst>
              <a:ext uri="{FF2B5EF4-FFF2-40B4-BE49-F238E27FC236}">
                <a16:creationId xmlns:a16="http://schemas.microsoft.com/office/drawing/2014/main" id="{C38ACE22-59DE-4CC7-AF57-ED8EB6551E38}"/>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115C0559-BFCE-4C11-B345-A2538401BB2B}"/>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AD51C294-A08F-4D44-B600-BDD73894CB37}"/>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15EDD941-4D7A-49B7-A817-A6FCF0A907B9}"/>
              </a:ext>
            </a:extLst>
          </p:cNvPr>
          <p:cNvSpPr>
            <a:spLocks noGrp="1"/>
          </p:cNvSpPr>
          <p:nvPr/>
        </p:nvSpPr>
        <p:spPr>
          <a:xfrm>
            <a:off x="817245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Безбедносна контрола има власника и очекивани доказ, иначе нико не прати да ли је престала да ради.</a:t>
            </a:r>
          </a:p>
        </p:txBody>
      </p:sp>
      <p:sp>
        <p:nvSpPr>
          <p:cNvPr id="17" name="Rectangle 16">
            <a:extLst>
              <a:ext uri="{FF2B5EF4-FFF2-40B4-BE49-F238E27FC236}">
                <a16:creationId xmlns:a16="http://schemas.microsoft.com/office/drawing/2014/main" id="{6581779F-4DB6-49EC-ADBD-3756FBCE2C40}"/>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5E16A847-0D78-4AA2-84B0-6F9193F3BA84}"/>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0A678369-F214-4B55-B9D4-0162CB5CE571}"/>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6194EDFF-BD40-4A69-88BF-2438F2F04F10}"/>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3B8E0045-A67D-4610-9580-B9CB8D980464}"/>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7C5E118A-F393-40E0-9744-A5CB22008D46}"/>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94CD2C34-AC1E-47B4-B6BA-567E435F0AF3}"/>
              </a:ext>
            </a:extLst>
          </p:cNvPr>
          <p:cNvSpPr>
            <a:spLocks noGrp="1"/>
          </p:cNvSpPr>
          <p:nvPr/>
        </p:nvSpPr>
        <p:spPr>
          <a:xfrm>
            <a:off x="1333500" y="5095875"/>
            <a:ext cx="9639300" cy="342900"/>
          </a:xfrm>
          <a:prstGeom prst="rect">
            <a:avLst/>
          </a:prstGeom>
          <a:noFill/>
          <a:ln w="0">
            <a:noFill/>
          </a:ln>
        </p:spPr>
        <p:txBody>
          <a:bodyPr wrap="square" lIns="0" tIns="0" rIns="0" bIns="0" anchor="ctr">
            <a:normAutofit fontScale="90354"/>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Tree>
    <p:extLst>
      <p:ext uri="{BB962C8B-B14F-4D97-AF65-F5344CB8AC3E}">
        <p14:creationId xmlns:p14="http://schemas.microsoft.com/office/powerpoint/2010/main" val="1439699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D62F73E2-E614-4FAB-BD11-471DF09E54E6}"/>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DF5B4C9F-1E64-4D53-8FEE-C2068F1776B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396EE5ED-6569-4D8E-8FE7-29450BA9AA21}"/>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a:ext uri="{FF2B5EF4-FFF2-40B4-BE49-F238E27FC236}">
                <a16:creationId xmlns:a16="http://schemas.microsoft.com/office/drawing/2014/main" id="{255F8505-0799-418A-B92B-80D9B16B9A0B}"/>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 процедура и контрола</a:t>
            </a:r>
          </a:p>
        </p:txBody>
      </p:sp>
      <p:sp>
        <p:nvSpPr>
          <p:cNvPr id="5" name="Rectangle 4">
            <a:extLst>
              <a:ext uri="{FF2B5EF4-FFF2-40B4-BE49-F238E27FC236}">
                <a16:creationId xmlns:a16="http://schemas.microsoft.com/office/drawing/2014/main" id="{56DB30EF-11A6-48D3-9801-1F4C753AD059}"/>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служи да се разлике виде без тешке табеле и ситног текста.</a:t>
            </a:r>
          </a:p>
        </p:txBody>
      </p:sp>
      <p:sp>
        <p:nvSpPr>
          <p:cNvPr id="6" name="Rectangle 5">
            <a:extLst>
              <a:ext uri="{FF2B5EF4-FFF2-40B4-BE49-F238E27FC236}">
                <a16:creationId xmlns:a16="http://schemas.microsoft.com/office/drawing/2014/main" id="{12D0D40A-0711-4EC1-BB5F-9740E0DF23CE}"/>
              </a:ext>
            </a:extLst>
          </p:cNvPr>
          <p:cNvSpPr>
            <a:spLocks noGrp="1"/>
          </p:cNvSpPr>
          <p:nvPr/>
        </p:nvSpPr>
        <p:spPr>
          <a:xfrm>
            <a:off x="876300" y="2047875"/>
            <a:ext cx="24765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Елемент</a:t>
            </a:r>
          </a:p>
        </p:txBody>
      </p:sp>
      <p:sp>
        <p:nvSpPr>
          <p:cNvPr id="7" name="Rectangle 6">
            <a:extLst>
              <a:ext uri="{FF2B5EF4-FFF2-40B4-BE49-F238E27FC236}">
                <a16:creationId xmlns:a16="http://schemas.microsoft.com/office/drawing/2014/main" id="{7533ACD5-ED50-42E1-8C52-DB2363F5F1F8}"/>
              </a:ext>
            </a:extLst>
          </p:cNvPr>
          <p:cNvSpPr>
            <a:spLocks noGrp="1"/>
          </p:cNvSpPr>
          <p:nvPr/>
        </p:nvSpPr>
        <p:spPr>
          <a:xfrm>
            <a:off x="3638550" y="2047875"/>
            <a:ext cx="36195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Улога</a:t>
            </a:r>
          </a:p>
        </p:txBody>
      </p:sp>
      <p:sp>
        <p:nvSpPr>
          <p:cNvPr id="8" name="Rectangle 7">
            <a:extLst>
              <a:ext uri="{FF2B5EF4-FFF2-40B4-BE49-F238E27FC236}">
                <a16:creationId xmlns:a16="http://schemas.microsoft.com/office/drawing/2014/main" id="{5A96E28A-DD17-41AE-9D80-2179725FD4A1}"/>
              </a:ext>
            </a:extLst>
          </p:cNvPr>
          <p:cNvSpPr>
            <a:spLocks noGrp="1"/>
          </p:cNvSpPr>
          <p:nvPr/>
        </p:nvSpPr>
        <p:spPr>
          <a:xfrm>
            <a:off x="7543800" y="2047875"/>
            <a:ext cx="37719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Пример доказа</a:t>
            </a:r>
          </a:p>
        </p:txBody>
      </p:sp>
      <p:sp>
        <p:nvSpPr>
          <p:cNvPr id="9" name="Rounded Rectangle 8">
            <a:extLst>
              <a:ext uri="{FF2B5EF4-FFF2-40B4-BE49-F238E27FC236}">
                <a16:creationId xmlns:a16="http://schemas.microsoft.com/office/drawing/2014/main" id="{61575716-F62D-4A6C-A967-A089E07FFF42}"/>
              </a:ext>
            </a:extLst>
          </p:cNvPr>
          <p:cNvSpPr>
            <a:spLocks noGrp="1"/>
          </p:cNvSpPr>
          <p:nvPr/>
        </p:nvSpPr>
        <p:spPr>
          <a:xfrm>
            <a:off x="800100" y="2362200"/>
            <a:ext cx="10591800" cy="609600"/>
          </a:xfrm>
          <a:prstGeom prst="roundRect">
            <a:avLst>
              <a:gd name="adj" fmla="val 17188"/>
            </a:avLst>
          </a:prstGeom>
          <a:solidFill>
            <a:srgbClr val="F4F6F9"/>
          </a:solidFill>
          <a:ln w="9525">
            <a:solidFill>
              <a:srgbClr val="D7DEE8"/>
            </a:solidFill>
            <a:prstDash val="solid"/>
          </a:ln>
        </p:spPr>
      </p:sp>
      <p:sp>
        <p:nvSpPr>
          <p:cNvPr id="10" name="Rectangle 9">
            <a:extLst>
              <a:ext uri="{FF2B5EF4-FFF2-40B4-BE49-F238E27FC236}">
                <a16:creationId xmlns:a16="http://schemas.microsoft.com/office/drawing/2014/main" id="{0BE83FA9-44E2-4E4D-8DDA-9BD66FC29C36}"/>
              </a:ext>
            </a:extLst>
          </p:cNvPr>
          <p:cNvSpPr>
            <a:spLocks noGrp="1"/>
          </p:cNvSpPr>
          <p:nvPr/>
        </p:nvSpPr>
        <p:spPr>
          <a:xfrm>
            <a:off x="952500" y="248602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Политика</a:t>
            </a:r>
          </a:p>
        </p:txBody>
      </p:sp>
      <p:sp>
        <p:nvSpPr>
          <p:cNvPr id="11" name="Rectangle 10">
            <a:extLst>
              <a:ext uri="{FF2B5EF4-FFF2-40B4-BE49-F238E27FC236}">
                <a16:creationId xmlns:a16="http://schemas.microsoft.com/office/drawing/2014/main" id="{82F85F71-4C93-484C-A466-5685CEFE3B3E}"/>
              </a:ext>
            </a:extLst>
          </p:cNvPr>
          <p:cNvSpPr>
            <a:spLocks noGrp="1"/>
          </p:cNvSpPr>
          <p:nvPr/>
        </p:nvSpPr>
        <p:spPr>
          <a:xfrm>
            <a:off x="3638550" y="24288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Одређује правило и циљ заштите.</a:t>
            </a:r>
          </a:p>
        </p:txBody>
      </p:sp>
      <p:sp>
        <p:nvSpPr>
          <p:cNvPr id="12" name="Rectangle 11">
            <a:extLst>
              <a:ext uri="{FF2B5EF4-FFF2-40B4-BE49-F238E27FC236}">
                <a16:creationId xmlns:a16="http://schemas.microsoft.com/office/drawing/2014/main" id="{2AE10BB0-E702-4100-9688-3B6227963240}"/>
              </a:ext>
            </a:extLst>
          </p:cNvPr>
          <p:cNvSpPr>
            <a:spLocks noGrp="1"/>
          </p:cNvSpPr>
          <p:nvPr/>
        </p:nvSpPr>
        <p:spPr>
          <a:xfrm>
            <a:off x="7543800" y="24288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Верзионисан текст са власником.</a:t>
            </a:r>
          </a:p>
        </p:txBody>
      </p:sp>
      <p:sp>
        <p:nvSpPr>
          <p:cNvPr id="13" name="Rounded Rectangle 12">
            <a:extLst>
              <a:ext uri="{FF2B5EF4-FFF2-40B4-BE49-F238E27FC236}">
                <a16:creationId xmlns:a16="http://schemas.microsoft.com/office/drawing/2014/main" id="{0666D6DA-4CC1-4061-A6DD-D735659117F4}"/>
              </a:ext>
            </a:extLst>
          </p:cNvPr>
          <p:cNvSpPr>
            <a:spLocks noGrp="1"/>
          </p:cNvSpPr>
          <p:nvPr/>
        </p:nvSpPr>
        <p:spPr>
          <a:xfrm>
            <a:off x="800100" y="3105150"/>
            <a:ext cx="10591800" cy="609600"/>
          </a:xfrm>
          <a:prstGeom prst="roundRect">
            <a:avLst>
              <a:gd name="adj" fmla="val 17188"/>
            </a:avLst>
          </a:prstGeom>
          <a:solidFill>
            <a:srgbClr val="EEF3FF"/>
          </a:solidFill>
          <a:ln w="9525">
            <a:solidFill>
              <a:srgbClr val="D7DEE8"/>
            </a:solidFill>
            <a:prstDash val="solid"/>
          </a:ln>
        </p:spPr>
      </p:sp>
      <p:sp>
        <p:nvSpPr>
          <p:cNvPr id="14" name="Rectangle 13">
            <a:extLst>
              <a:ext uri="{FF2B5EF4-FFF2-40B4-BE49-F238E27FC236}">
                <a16:creationId xmlns:a16="http://schemas.microsoft.com/office/drawing/2014/main" id="{2D5EC364-1F4A-4EF3-95DA-0FB36CD7C033}"/>
              </a:ext>
            </a:extLst>
          </p:cNvPr>
          <p:cNvSpPr>
            <a:spLocks noGrp="1"/>
          </p:cNvSpPr>
          <p:nvPr/>
        </p:nvSpPr>
        <p:spPr>
          <a:xfrm>
            <a:off x="952500" y="322897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2F5EF5"/>
                </a:solidFill>
                <a:latin typeface="Aptos"/>
                <a:ea typeface="Aptos"/>
                <a:cs typeface="Aptos"/>
              </a:defRPr>
            </a:pPr>
            <a:r>
              <a:rPr sz="1275" b="1">
                <a:solidFill>
                  <a:srgbClr val="2F5EF5"/>
                </a:solidFill>
                <a:latin typeface="Aptos"/>
                <a:ea typeface="Aptos"/>
                <a:cs typeface="Aptos"/>
              </a:rPr>
              <a:t>Процедура</a:t>
            </a:r>
          </a:p>
        </p:txBody>
      </p:sp>
      <p:sp>
        <p:nvSpPr>
          <p:cNvPr id="15" name="Rectangle 14">
            <a:extLst>
              <a:ext uri="{FF2B5EF4-FFF2-40B4-BE49-F238E27FC236}">
                <a16:creationId xmlns:a16="http://schemas.microsoft.com/office/drawing/2014/main" id="{CC301C4A-6DD3-4A31-A61D-EE5C7497EFB2}"/>
              </a:ext>
            </a:extLst>
          </p:cNvPr>
          <p:cNvSpPr>
            <a:spLocks noGrp="1"/>
          </p:cNvSpPr>
          <p:nvPr/>
        </p:nvSpPr>
        <p:spPr>
          <a:xfrm>
            <a:off x="3638550" y="31718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Описује како људи или систем спроводе правило.</a:t>
            </a:r>
          </a:p>
        </p:txBody>
      </p:sp>
      <p:sp>
        <p:nvSpPr>
          <p:cNvPr id="16" name="Rectangle 15">
            <a:extLst>
              <a:ext uri="{FF2B5EF4-FFF2-40B4-BE49-F238E27FC236}">
                <a16:creationId xmlns:a16="http://schemas.microsoft.com/office/drawing/2014/main" id="{1711EE1B-A49F-4FFA-B7A7-AFF0D6512B12}"/>
              </a:ext>
            </a:extLst>
          </p:cNvPr>
          <p:cNvSpPr>
            <a:spLocks noGrp="1"/>
          </p:cNvSpPr>
          <p:nvPr/>
        </p:nvSpPr>
        <p:spPr>
          <a:xfrm>
            <a:off x="7543800" y="31718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Преглед корака или аутоматизовани ток.</a:t>
            </a:r>
          </a:p>
        </p:txBody>
      </p:sp>
      <p:sp>
        <p:nvSpPr>
          <p:cNvPr id="17" name="Rounded Rectangle 16">
            <a:extLst>
              <a:ext uri="{FF2B5EF4-FFF2-40B4-BE49-F238E27FC236}">
                <a16:creationId xmlns:a16="http://schemas.microsoft.com/office/drawing/2014/main" id="{8B6773D7-9CC2-47B0-A03A-F07F2B354988}"/>
              </a:ext>
            </a:extLst>
          </p:cNvPr>
          <p:cNvSpPr>
            <a:spLocks noGrp="1"/>
          </p:cNvSpPr>
          <p:nvPr/>
        </p:nvSpPr>
        <p:spPr>
          <a:xfrm>
            <a:off x="800100" y="3848100"/>
            <a:ext cx="10591800" cy="609600"/>
          </a:xfrm>
          <a:prstGeom prst="roundRect">
            <a:avLst>
              <a:gd name="adj" fmla="val 17188"/>
            </a:avLst>
          </a:prstGeom>
          <a:solidFill>
            <a:srgbClr val="F5F0FF"/>
          </a:solidFill>
          <a:ln w="9525">
            <a:solidFill>
              <a:srgbClr val="D7DEE8"/>
            </a:solidFill>
            <a:prstDash val="solid"/>
          </a:ln>
        </p:spPr>
      </p:sp>
      <p:sp>
        <p:nvSpPr>
          <p:cNvPr id="18" name="Rectangle 17">
            <a:extLst>
              <a:ext uri="{FF2B5EF4-FFF2-40B4-BE49-F238E27FC236}">
                <a16:creationId xmlns:a16="http://schemas.microsoft.com/office/drawing/2014/main" id="{7147B82A-9788-4E73-8EB1-298780306D08}"/>
              </a:ext>
            </a:extLst>
          </p:cNvPr>
          <p:cNvSpPr>
            <a:spLocks noGrp="1"/>
          </p:cNvSpPr>
          <p:nvPr/>
        </p:nvSpPr>
        <p:spPr>
          <a:xfrm>
            <a:off x="952500" y="397192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7651D4"/>
                </a:solidFill>
                <a:latin typeface="Aptos"/>
                <a:ea typeface="Aptos"/>
                <a:cs typeface="Aptos"/>
              </a:defRPr>
            </a:pPr>
            <a:r>
              <a:rPr sz="1275" b="1">
                <a:solidFill>
                  <a:srgbClr val="7651D4"/>
                </a:solidFill>
                <a:latin typeface="Aptos"/>
                <a:ea typeface="Aptos"/>
                <a:cs typeface="Aptos"/>
              </a:rPr>
              <a:t>Контрола</a:t>
            </a:r>
          </a:p>
        </p:txBody>
      </p:sp>
      <p:sp>
        <p:nvSpPr>
          <p:cNvPr id="19" name="Rectangle 18">
            <a:extLst>
              <a:ext uri="{FF2B5EF4-FFF2-40B4-BE49-F238E27FC236}">
                <a16:creationId xmlns:a16="http://schemas.microsoft.com/office/drawing/2014/main" id="{49F1F589-8CE1-460E-B04F-30F5A7AAADFC}"/>
              </a:ext>
            </a:extLst>
          </p:cNvPr>
          <p:cNvSpPr>
            <a:spLocks noGrp="1"/>
          </p:cNvSpPr>
          <p:nvPr/>
        </p:nvSpPr>
        <p:spPr>
          <a:xfrm>
            <a:off x="3638550" y="39147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Спречава, открива или ограничава ризик.</a:t>
            </a:r>
          </a:p>
        </p:txBody>
      </p:sp>
      <p:sp>
        <p:nvSpPr>
          <p:cNvPr id="20" name="Rectangle 19">
            <a:extLst>
              <a:ext uri="{FF2B5EF4-FFF2-40B4-BE49-F238E27FC236}">
                <a16:creationId xmlns:a16="http://schemas.microsoft.com/office/drawing/2014/main" id="{9724C60A-0962-4B2D-9B6E-F589045CB9E1}"/>
              </a:ext>
            </a:extLst>
          </p:cNvPr>
          <p:cNvSpPr>
            <a:spLocks noGrp="1"/>
          </p:cNvSpPr>
          <p:nvPr/>
        </p:nvSpPr>
        <p:spPr>
          <a:xfrm>
            <a:off x="7543800" y="39147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Тест, лог или резултат провере.</a:t>
            </a:r>
          </a:p>
        </p:txBody>
      </p:sp>
      <p:sp>
        <p:nvSpPr>
          <p:cNvPr id="21" name="Rounded Rectangle 20">
            <a:extLst>
              <a:ext uri="{FF2B5EF4-FFF2-40B4-BE49-F238E27FC236}">
                <a16:creationId xmlns:a16="http://schemas.microsoft.com/office/drawing/2014/main" id="{C05095A9-6CD0-4CDF-B54A-6E70DFFB939E}"/>
              </a:ext>
            </a:extLst>
          </p:cNvPr>
          <p:cNvSpPr>
            <a:spLocks noGrp="1"/>
          </p:cNvSpPr>
          <p:nvPr/>
        </p:nvSpPr>
        <p:spPr>
          <a:xfrm>
            <a:off x="800100" y="4591050"/>
            <a:ext cx="10591800" cy="609600"/>
          </a:xfrm>
          <a:prstGeom prst="roundRect">
            <a:avLst>
              <a:gd name="adj" fmla="val 17188"/>
            </a:avLst>
          </a:prstGeom>
          <a:solidFill>
            <a:srgbClr val="EDF8F2"/>
          </a:solidFill>
          <a:ln w="9525">
            <a:solidFill>
              <a:srgbClr val="D7DEE8"/>
            </a:solidFill>
            <a:prstDash val="solid"/>
          </a:ln>
        </p:spPr>
      </p:sp>
      <p:sp>
        <p:nvSpPr>
          <p:cNvPr id="22" name="Rectangle 21">
            <a:extLst>
              <a:ext uri="{FF2B5EF4-FFF2-40B4-BE49-F238E27FC236}">
                <a16:creationId xmlns:a16="http://schemas.microsoft.com/office/drawing/2014/main" id="{532EE6C2-1F7B-4682-9D07-7B2CE2901A88}"/>
              </a:ext>
            </a:extLst>
          </p:cNvPr>
          <p:cNvSpPr>
            <a:spLocks noGrp="1"/>
          </p:cNvSpPr>
          <p:nvPr/>
        </p:nvSpPr>
        <p:spPr>
          <a:xfrm>
            <a:off x="952500" y="471487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Метрика</a:t>
            </a:r>
          </a:p>
        </p:txBody>
      </p:sp>
      <p:sp>
        <p:nvSpPr>
          <p:cNvPr id="23" name="Rectangle 22">
            <a:extLst>
              <a:ext uri="{FF2B5EF4-FFF2-40B4-BE49-F238E27FC236}">
                <a16:creationId xmlns:a16="http://schemas.microsoft.com/office/drawing/2014/main" id="{B019FBE9-4B53-4545-AF64-27495DE95FCE}"/>
              </a:ext>
            </a:extLst>
          </p:cNvPr>
          <p:cNvSpPr>
            <a:spLocks noGrp="1"/>
          </p:cNvSpPr>
          <p:nvPr/>
        </p:nvSpPr>
        <p:spPr>
          <a:xfrm>
            <a:off x="3638550" y="46577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Показује тренд или одступање.</a:t>
            </a:r>
          </a:p>
        </p:txBody>
      </p:sp>
      <p:sp>
        <p:nvSpPr>
          <p:cNvPr id="24" name="Rectangle 23">
            <a:extLst>
              <a:ext uri="{FF2B5EF4-FFF2-40B4-BE49-F238E27FC236}">
                <a16:creationId xmlns:a16="http://schemas.microsoft.com/office/drawing/2014/main" id="{7293B485-5612-4BA2-829F-4FC397E618DC}"/>
              </a:ext>
            </a:extLst>
          </p:cNvPr>
          <p:cNvSpPr>
            <a:spLocks noGrp="1"/>
          </p:cNvSpPr>
          <p:nvPr/>
        </p:nvSpPr>
        <p:spPr>
          <a:xfrm>
            <a:off x="7543800" y="46577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Дефинисан праг и извор података.</a:t>
            </a:r>
          </a:p>
        </p:txBody>
      </p:sp>
    </p:spTree>
    <p:extLst>
      <p:ext uri="{BB962C8B-B14F-4D97-AF65-F5344CB8AC3E}">
        <p14:creationId xmlns:p14="http://schemas.microsoft.com/office/powerpoint/2010/main" val="18853613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CA9172AA-7712-4937-BDB6-38B85C08C7A3}"/>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8E14B6E-6390-431C-BA15-A093BBB017E1}"/>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AA8DE897-6DEC-41D5-95E2-9D5E2A5179C2}"/>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a:ext uri="{FF2B5EF4-FFF2-40B4-BE49-F238E27FC236}">
                <a16:creationId xmlns:a16="http://schemas.microsoft.com/office/drawing/2014/main" id="{5AA491CB-B70B-40F7-B1C0-6B02F58B15DC}"/>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Шема од правила до доказа</a:t>
            </a:r>
          </a:p>
        </p:txBody>
      </p:sp>
      <p:sp>
        <p:nvSpPr>
          <p:cNvPr id="5" name="Rectangle 4">
            <a:extLst>
              <a:ext uri="{FF2B5EF4-FFF2-40B4-BE49-F238E27FC236}">
                <a16:creationId xmlns:a16="http://schemas.microsoft.com/office/drawing/2014/main" id="{16312DC6-AA6D-4B0B-922B-6A7E8569D8DB}"/>
              </a:ext>
            </a:extLst>
          </p:cNvPr>
          <p:cNvSpPr>
            <a:spLocks noGrp="1"/>
          </p:cNvSpPr>
          <p:nvPr/>
        </p:nvSpPr>
        <p:spPr>
          <a:xfrm>
            <a:off x="685800" y="1428750"/>
            <a:ext cx="10820400" cy="457200"/>
          </a:xfrm>
          <a:prstGeom prst="rect">
            <a:avLst/>
          </a:prstGeom>
          <a:noFill/>
          <a:ln w="0">
            <a:noFill/>
          </a:ln>
        </p:spPr>
        <p:txBody>
          <a:bodyPr wrap="square" lIns="0" tIns="0" rIns="0" bIns="0" anchor="t">
            <a:normAutofit fontScale="95126"/>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Правило може бити добро написано, а контрола ипак неефективна. Доказ повезује очекивање са реалним понашањем.</a:t>
            </a:r>
          </a:p>
        </p:txBody>
      </p:sp>
      <p:sp>
        <p:nvSpPr>
          <p:cNvPr id="6" name="Rounded Rectangle 5">
            <a:extLst>
              <a:ext uri="{FF2B5EF4-FFF2-40B4-BE49-F238E27FC236}">
                <a16:creationId xmlns:a16="http://schemas.microsoft.com/office/drawing/2014/main" id="{209680FF-5F77-42D7-A720-0B8870C5139C}"/>
              </a:ext>
            </a:extLst>
          </p:cNvPr>
          <p:cNvSpPr>
            <a:spLocks noGrp="1"/>
          </p:cNvSpPr>
          <p:nvPr/>
        </p:nvSpPr>
        <p:spPr>
          <a:xfrm>
            <a:off x="742950" y="2571750"/>
            <a:ext cx="2462213"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7B593984-EA08-403F-ACAC-826F5BEF14D8}"/>
              </a:ext>
            </a:extLst>
          </p:cNvPr>
          <p:cNvSpPr>
            <a:spLocks noGrp="1"/>
          </p:cNvSpPr>
          <p:nvPr/>
        </p:nvSpPr>
        <p:spPr>
          <a:xfrm>
            <a:off x="885825"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2F7D5803-1D09-484F-9183-A151EBB8B30B}"/>
              </a:ext>
            </a:extLst>
          </p:cNvPr>
          <p:cNvSpPr>
            <a:spLocks noGrp="1"/>
          </p:cNvSpPr>
          <p:nvPr/>
        </p:nvSpPr>
        <p:spPr>
          <a:xfrm>
            <a:off x="876300"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a:ext uri="{FF2B5EF4-FFF2-40B4-BE49-F238E27FC236}">
                <a16:creationId xmlns:a16="http://schemas.microsoft.com/office/drawing/2014/main" id="{F098C2BB-7AA5-48E4-9489-A4481B35B608}"/>
              </a:ext>
            </a:extLst>
          </p:cNvPr>
          <p:cNvSpPr>
            <a:spLocks noGrp="1"/>
          </p:cNvSpPr>
          <p:nvPr/>
        </p:nvSpPr>
        <p:spPr>
          <a:xfrm>
            <a:off x="885825"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описана намера и опсег</a:t>
            </a:r>
          </a:p>
        </p:txBody>
      </p:sp>
      <p:sp>
        <p:nvSpPr>
          <p:cNvPr id="10" name="Rounded Rectangle 9">
            <a:extLst>
              <a:ext uri="{FF2B5EF4-FFF2-40B4-BE49-F238E27FC236}">
                <a16:creationId xmlns:a16="http://schemas.microsoft.com/office/drawing/2014/main" id="{DA88863A-5147-4FD6-B7FF-240319B4C6F8}"/>
              </a:ext>
            </a:extLst>
          </p:cNvPr>
          <p:cNvSpPr>
            <a:spLocks noGrp="1"/>
          </p:cNvSpPr>
          <p:nvPr/>
        </p:nvSpPr>
        <p:spPr>
          <a:xfrm>
            <a:off x="3490913" y="2571750"/>
            <a:ext cx="2462213"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E511D9AF-A1CA-43DE-9821-77DF09B5EA2C}"/>
              </a:ext>
            </a:extLst>
          </p:cNvPr>
          <p:cNvSpPr>
            <a:spLocks noGrp="1"/>
          </p:cNvSpPr>
          <p:nvPr/>
        </p:nvSpPr>
        <p:spPr>
          <a:xfrm>
            <a:off x="3633788"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FF304441-35E0-4A19-8E06-DCDFAA126192}"/>
              </a:ext>
            </a:extLst>
          </p:cNvPr>
          <p:cNvSpPr>
            <a:spLocks noGrp="1"/>
          </p:cNvSpPr>
          <p:nvPr/>
        </p:nvSpPr>
        <p:spPr>
          <a:xfrm>
            <a:off x="3624263"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a:ext uri="{FF2B5EF4-FFF2-40B4-BE49-F238E27FC236}">
                <a16:creationId xmlns:a16="http://schemas.microsoft.com/office/drawing/2014/main" id="{C5BF782F-8FA7-4D02-962A-DDE04FAD15D6}"/>
              </a:ext>
            </a:extLst>
          </p:cNvPr>
          <p:cNvSpPr>
            <a:spLocks noGrp="1"/>
          </p:cNvSpPr>
          <p:nvPr/>
        </p:nvSpPr>
        <p:spPr>
          <a:xfrm>
            <a:off x="3633788" y="3362325"/>
            <a:ext cx="2176463" cy="323850"/>
          </a:xfrm>
          <a:prstGeom prst="rect">
            <a:avLst/>
          </a:prstGeom>
          <a:noFill/>
          <a:ln w="0">
            <a:noFill/>
          </a:ln>
        </p:spPr>
        <p:txBody>
          <a:bodyPr wrap="square" lIns="0" tIns="0" rIns="0" bIns="0" anchor="ctr">
            <a:normAutofit fontScale="98362"/>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важеће вредности и прагови</a:t>
            </a:r>
          </a:p>
        </p:txBody>
      </p:sp>
      <p:sp>
        <p:nvSpPr>
          <p:cNvPr id="14" name="Rounded Rectangle 13">
            <a:extLst>
              <a:ext uri="{FF2B5EF4-FFF2-40B4-BE49-F238E27FC236}">
                <a16:creationId xmlns:a16="http://schemas.microsoft.com/office/drawing/2014/main" id="{42DE820C-D666-4FB5-B1E8-2666ECC373C1}"/>
              </a:ext>
            </a:extLst>
          </p:cNvPr>
          <p:cNvSpPr>
            <a:spLocks noGrp="1"/>
          </p:cNvSpPr>
          <p:nvPr/>
        </p:nvSpPr>
        <p:spPr>
          <a:xfrm>
            <a:off x="6238875" y="2571750"/>
            <a:ext cx="2462213" cy="1257300"/>
          </a:xfrm>
          <a:prstGeom prst="roundRect">
            <a:avLst>
              <a:gd name="adj" fmla="val 10606"/>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7FD1DB90-4EC8-48CE-A73B-BA1039C28922}"/>
              </a:ext>
            </a:extLst>
          </p:cNvPr>
          <p:cNvSpPr>
            <a:spLocks noGrp="1"/>
          </p:cNvSpPr>
          <p:nvPr/>
        </p:nvSpPr>
        <p:spPr>
          <a:xfrm>
            <a:off x="6381750"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03</a:t>
            </a:r>
          </a:p>
        </p:txBody>
      </p:sp>
      <p:sp>
        <p:nvSpPr>
          <p:cNvPr id="16" name="Rectangle 15">
            <a:extLst>
              <a:ext uri="{FF2B5EF4-FFF2-40B4-BE49-F238E27FC236}">
                <a16:creationId xmlns:a16="http://schemas.microsoft.com/office/drawing/2014/main" id="{B979841D-5B4F-43DB-A84F-B4B355BA3C75}"/>
              </a:ext>
            </a:extLst>
          </p:cNvPr>
          <p:cNvSpPr>
            <a:spLocks noGrp="1"/>
          </p:cNvSpPr>
          <p:nvPr/>
        </p:nvSpPr>
        <p:spPr>
          <a:xfrm>
            <a:off x="6372225"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a:ext uri="{FF2B5EF4-FFF2-40B4-BE49-F238E27FC236}">
                <a16:creationId xmlns:a16="http://schemas.microsoft.com/office/drawing/2014/main" id="{85827283-F0E6-45B9-9D91-72CCF9BEA924}"/>
              </a:ext>
            </a:extLst>
          </p:cNvPr>
          <p:cNvSpPr>
            <a:spLocks noGrp="1"/>
          </p:cNvSpPr>
          <p:nvPr/>
        </p:nvSpPr>
        <p:spPr>
          <a:xfrm>
            <a:off x="6381750"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спроводи одлуку</a:t>
            </a:r>
          </a:p>
        </p:txBody>
      </p:sp>
      <p:sp>
        <p:nvSpPr>
          <p:cNvPr id="18" name="Rounded Rectangle 17">
            <a:extLst>
              <a:ext uri="{FF2B5EF4-FFF2-40B4-BE49-F238E27FC236}">
                <a16:creationId xmlns:a16="http://schemas.microsoft.com/office/drawing/2014/main" id="{106335C4-89B2-49E8-96E1-5EF6E162B6E0}"/>
              </a:ext>
            </a:extLst>
          </p:cNvPr>
          <p:cNvSpPr>
            <a:spLocks noGrp="1"/>
          </p:cNvSpPr>
          <p:nvPr/>
        </p:nvSpPr>
        <p:spPr>
          <a:xfrm>
            <a:off x="8986838" y="2571750"/>
            <a:ext cx="2462213"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2335338E-2557-4C5F-A2D7-EC45F14002E3}"/>
              </a:ext>
            </a:extLst>
          </p:cNvPr>
          <p:cNvSpPr>
            <a:spLocks noGrp="1"/>
          </p:cNvSpPr>
          <p:nvPr/>
        </p:nvSpPr>
        <p:spPr>
          <a:xfrm>
            <a:off x="9129713"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B90843DB-5B25-482F-80F4-712B37F0A46A}"/>
              </a:ext>
            </a:extLst>
          </p:cNvPr>
          <p:cNvSpPr>
            <a:spLocks noGrp="1"/>
          </p:cNvSpPr>
          <p:nvPr/>
        </p:nvSpPr>
        <p:spPr>
          <a:xfrm>
            <a:off x="9120188"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a:ext uri="{FF2B5EF4-FFF2-40B4-BE49-F238E27FC236}">
                <a16:creationId xmlns:a16="http://schemas.microsoft.com/office/drawing/2014/main" id="{63F5A87B-77DA-400F-803A-5D31DCFA866D}"/>
              </a:ext>
            </a:extLst>
          </p:cNvPr>
          <p:cNvSpPr>
            <a:spLocks noGrp="1"/>
          </p:cNvSpPr>
          <p:nvPr/>
        </p:nvSpPr>
        <p:spPr>
          <a:xfrm>
            <a:off x="9129713"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показује стварни исход</a:t>
            </a:r>
          </a:p>
        </p:txBody>
      </p:sp>
      <p:cxnSp>
        <p:nvCxnSpPr>
          <p:cNvPr id="125" name="Straight Arrow Connector 124"/>
          <p:cNvCxnSpPr>
            <a:stCxn id="6" idx="3"/>
            <a:endCxn id="10" idx="1"/>
          </p:cNvCxnSpPr>
          <p:nvPr/>
        </p:nvCxnSpPr>
        <p:spPr>
          <a:xfrm>
            <a:off x="3205163" y="320040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20040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701088" y="320040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0344B343-D77C-4DD0-9590-5F2B633036A4}"/>
              </a:ext>
            </a:extLst>
          </p:cNvPr>
          <p:cNvSpPr>
            <a:spLocks noGrp="1"/>
          </p:cNvSpPr>
          <p:nvPr/>
        </p:nvSpPr>
        <p:spPr>
          <a:xfrm>
            <a:off x="1714500" y="4419600"/>
            <a:ext cx="8763000" cy="742950"/>
          </a:xfrm>
          <a:prstGeom prst="roundRect">
            <a:avLst>
              <a:gd name="adj" fmla="val 16667"/>
            </a:avLst>
          </a:prstGeom>
          <a:solidFill>
            <a:srgbClr val="EEF3FF"/>
          </a:solidFill>
          <a:ln w="9525">
            <a:solidFill>
              <a:srgbClr val="D7DEE8"/>
            </a:solidFill>
            <a:prstDash val="solid"/>
          </a:ln>
        </p:spPr>
      </p:sp>
      <p:sp>
        <p:nvSpPr>
          <p:cNvPr id="26" name="Rounded Rectangle 25">
            <a:extLst>
              <a:ext uri="{FF2B5EF4-FFF2-40B4-BE49-F238E27FC236}">
                <a16:creationId xmlns:a16="http://schemas.microsoft.com/office/drawing/2014/main" id="{B5A35519-74F3-4D60-8838-4A39C67094FC}"/>
              </a:ext>
            </a:extLst>
          </p:cNvPr>
          <p:cNvSpPr>
            <a:spLocks noGrp="1"/>
          </p:cNvSpPr>
          <p:nvPr/>
        </p:nvSpPr>
        <p:spPr>
          <a:xfrm>
            <a:off x="1847850" y="4562475"/>
            <a:ext cx="57150" cy="457200"/>
          </a:xfrm>
          <a:prstGeom prst="roundRect">
            <a:avLst>
              <a:gd name="adj" fmla="val 50000"/>
            </a:avLst>
          </a:prstGeom>
          <a:solidFill>
            <a:srgbClr val="2F5EF5"/>
          </a:solidFill>
          <a:ln w="0">
            <a:noFill/>
          </a:ln>
        </p:spPr>
      </p:sp>
      <p:sp>
        <p:nvSpPr>
          <p:cNvPr id="76" name="Rounded Rectangle 75">
            <a:extLst>
              <a:ext uri="{FF2B5EF4-FFF2-40B4-BE49-F238E27FC236}">
                <a16:creationId xmlns:a16="http://schemas.microsoft.com/office/drawing/2014/main" id="{97CBBFDA-3479-493A-94B5-F42E515F709C}"/>
              </a:ext>
            </a:extLst>
          </p:cNvPr>
          <p:cNvSpPr>
            <a:spLocks noGrp="1"/>
          </p:cNvSpPr>
          <p:nvPr/>
        </p:nvSpPr>
        <p:spPr>
          <a:xfrm>
            <a:off x="914400" y="4438650"/>
            <a:ext cx="10363200" cy="781050"/>
          </a:xfrm>
          <a:prstGeom prst="roundRect">
            <a:avLst>
              <a:gd name="adj" fmla="val 17073"/>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13028C9F-4F9F-45C2-8883-702ECA96D9D2}"/>
              </a:ext>
            </a:extLst>
          </p:cNvPr>
          <p:cNvSpPr>
            <a:spLocks noGrp="1"/>
          </p:cNvSpPr>
          <p:nvPr/>
        </p:nvSpPr>
        <p:spPr>
          <a:xfrm>
            <a:off x="1085850" y="4591050"/>
            <a:ext cx="57150" cy="47625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664CEBA1-99A0-4234-9BCC-27E73DB5E767}"/>
              </a:ext>
            </a:extLst>
          </p:cNvPr>
          <p:cNvSpPr>
            <a:spLocks noGrp="1"/>
          </p:cNvSpPr>
          <p:nvPr/>
        </p:nvSpPr>
        <p:spPr>
          <a:xfrm>
            <a:off x="1333500" y="454342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ЗАДАТАК</a:t>
            </a:r>
          </a:p>
        </p:txBody>
      </p:sp>
      <p:sp>
        <p:nvSpPr>
          <p:cNvPr id="79" name="Rectangle 78">
            <a:extLst>
              <a:ext uri="{FF2B5EF4-FFF2-40B4-BE49-F238E27FC236}">
                <a16:creationId xmlns:a16="http://schemas.microsoft.com/office/drawing/2014/main" id="{26F2F907-5136-4C71-B5E0-560917BFA849}"/>
              </a:ext>
            </a:extLst>
          </p:cNvPr>
          <p:cNvSpPr>
            <a:spLocks noGrp="1"/>
          </p:cNvSpPr>
          <p:nvPr/>
        </p:nvSpPr>
        <p:spPr>
          <a:xfrm>
            <a:off x="1333500" y="477202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За сваки корак наведите ко га покреће, ко доноси одлуку и који траг остаје.</a:t>
            </a:r>
          </a:p>
        </p:txBody>
      </p:sp>
    </p:spTree>
    <p:extLst>
      <p:ext uri="{BB962C8B-B14F-4D97-AF65-F5344CB8AC3E}">
        <p14:creationId xmlns:p14="http://schemas.microsoft.com/office/powerpoint/2010/main" val="1587459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419C463B-0138-49E7-9EE1-09BC1CB4EEF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6A15C1C6-02D9-4119-AF78-A5CD8DAF8BEF}"/>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DD8B40E3-2B88-4021-9396-3F7A1AEB37B6}"/>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a:ext uri="{FF2B5EF4-FFF2-40B4-BE49-F238E27FC236}">
                <a16:creationId xmlns:a16="http://schemas.microsoft.com/office/drawing/2014/main" id="{E6EE1D44-768C-4D9A-BFE4-6F530D852BCD}"/>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Како се бира безбедносна метрика</a:t>
            </a:r>
          </a:p>
        </p:txBody>
      </p:sp>
      <p:sp>
        <p:nvSpPr>
          <p:cNvPr id="5" name="Rectangle 4">
            <a:extLst>
              <a:ext uri="{FF2B5EF4-FFF2-40B4-BE49-F238E27FC236}">
                <a16:creationId xmlns:a16="http://schemas.microsoft.com/office/drawing/2014/main" id="{5970E532-8526-428D-A90D-D5B254F49A16}"/>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Од описа проблема до одлуке која може да се провери.</a:t>
            </a:r>
          </a:p>
        </p:txBody>
      </p:sp>
      <p:sp>
        <p:nvSpPr>
          <p:cNvPr id="6" name="Rounded Rectangle 5">
            <a:extLst>
              <a:ext uri="{FF2B5EF4-FFF2-40B4-BE49-F238E27FC236}">
                <a16:creationId xmlns:a16="http://schemas.microsoft.com/office/drawing/2014/main" id="{84C8A7EA-4A7A-42C7-8253-588519A3658A}"/>
              </a:ext>
            </a:extLst>
          </p:cNvPr>
          <p:cNvSpPr>
            <a:spLocks noGrp="1"/>
          </p:cNvSpPr>
          <p:nvPr/>
        </p:nvSpPr>
        <p:spPr>
          <a:xfrm>
            <a:off x="781050" y="2152650"/>
            <a:ext cx="4572000" cy="2066925"/>
          </a:xfrm>
          <a:prstGeom prst="roundRect">
            <a:avLst>
              <a:gd name="adj" fmla="val 4242"/>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D1233CC2-B4A4-4E2C-AC50-EC8E00D75DC7}"/>
              </a:ext>
            </a:extLst>
          </p:cNvPr>
          <p:cNvSpPr>
            <a:spLocks noGrp="1"/>
          </p:cNvSpPr>
          <p:nvPr/>
        </p:nvSpPr>
        <p:spPr>
          <a:xfrm>
            <a:off x="933450" y="2276475"/>
            <a:ext cx="426720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a:ext uri="{FF2B5EF4-FFF2-40B4-BE49-F238E27FC236}">
                <a16:creationId xmlns:a16="http://schemas.microsoft.com/office/drawing/2014/main" id="{AD1E093A-72B2-42C7-B7EC-5F8F6ADCDDC8}"/>
              </a:ext>
            </a:extLst>
          </p:cNvPr>
          <p:cNvSpPr>
            <a:spLocks noGrp="1"/>
          </p:cNvSpPr>
          <p:nvPr/>
        </p:nvSpPr>
        <p:spPr>
          <a:xfrm>
            <a:off x="933450" y="2524125"/>
            <a:ext cx="4267200" cy="495300"/>
          </a:xfrm>
          <a:prstGeom prst="rect">
            <a:avLst/>
          </a:prstGeom>
          <a:noFill/>
          <a:ln w="0">
            <a:noFill/>
          </a:ln>
        </p:spPr>
        <p:txBody>
          <a:bodyPr wrap="square" lIns="0" tIns="0" rIns="0" bIns="0" anchor="ctr">
            <a:normAutofit/>
          </a:bodyPr>
          <a:lstStyle/>
          <a:p>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Како се бира безбедносна метрика</a:t>
            </a:r>
          </a:p>
        </p:txBody>
      </p:sp>
      <p:sp>
        <p:nvSpPr>
          <p:cNvPr id="9" name="Rectangle 8">
            <a:extLst>
              <a:ext uri="{FF2B5EF4-FFF2-40B4-BE49-F238E27FC236}">
                <a16:creationId xmlns:a16="http://schemas.microsoft.com/office/drawing/2014/main" id="{8BE615A8-6455-4360-A7A3-22B48B3845A5}"/>
              </a:ext>
            </a:extLst>
          </p:cNvPr>
          <p:cNvSpPr>
            <a:spLocks noGrp="1"/>
          </p:cNvSpPr>
          <p:nvPr/>
        </p:nvSpPr>
        <p:spPr>
          <a:xfrm>
            <a:off x="933450" y="3086100"/>
            <a:ext cx="4267200" cy="210502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Метрика је корисна само ако води ка одлуци. Зато се не почиње бројем, већ питањем које оператер или власник система мора да реши. Затим се бира извор, период посматрања и праг при коме је потребна акција.</a:t>
            </a:r>
          </a:p>
        </p:txBody>
      </p:sp>
      <p:sp>
        <p:nvSpPr>
          <p:cNvPr id="10" name="Rounded Rectangle 9">
            <a:extLst>
              <a:ext uri="{FF2B5EF4-FFF2-40B4-BE49-F238E27FC236}">
                <a16:creationId xmlns:a16="http://schemas.microsoft.com/office/drawing/2014/main" id="{967727CC-98C3-4612-A68C-928E6F33EA99}"/>
              </a:ext>
            </a:extLst>
          </p:cNvPr>
          <p:cNvSpPr>
            <a:spLocks noGrp="1"/>
          </p:cNvSpPr>
          <p:nvPr/>
        </p:nvSpPr>
        <p:spPr>
          <a:xfrm>
            <a:off x="5772150" y="2095500"/>
            <a:ext cx="5638800" cy="723900"/>
          </a:xfrm>
          <a:prstGeom prst="roundRect">
            <a:avLst>
              <a:gd name="adj" fmla="val 18421"/>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3D85C469-74E5-4627-83A5-048A780C2F35}"/>
              </a:ext>
            </a:extLst>
          </p:cNvPr>
          <p:cNvSpPr>
            <a:spLocks noGrp="1"/>
          </p:cNvSpPr>
          <p:nvPr/>
        </p:nvSpPr>
        <p:spPr>
          <a:xfrm>
            <a:off x="5924550" y="22193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87E92571-E6E1-4AEF-AADE-C3FB715A52BB}"/>
              </a:ext>
            </a:extLst>
          </p:cNvPr>
          <p:cNvSpPr>
            <a:spLocks noGrp="1"/>
          </p:cNvSpPr>
          <p:nvPr/>
        </p:nvSpPr>
        <p:spPr>
          <a:xfrm>
            <a:off x="5924550" y="2466975"/>
            <a:ext cx="5334000" cy="400050"/>
          </a:xfrm>
          <a:prstGeom prst="rect">
            <a:avLst/>
          </a:prstGeom>
          <a:noFill/>
          <a:ln w="0">
            <a:noFill/>
          </a:ln>
        </p:spPr>
        <p:txBody>
          <a:bodyPr wrap="square" lIns="0" tIns="0" rIns="0" bIns="0" anchor="ctr">
            <a:normAutofit/>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Које понашање желимо да разумемо или ограничимо?</a:t>
            </a:r>
          </a:p>
        </p:txBody>
      </p:sp>
      <p:sp>
        <p:nvSpPr>
          <p:cNvPr id="13" name="Rounded Rectangle 12">
            <a:extLst>
              <a:ext uri="{FF2B5EF4-FFF2-40B4-BE49-F238E27FC236}">
                <a16:creationId xmlns:a16="http://schemas.microsoft.com/office/drawing/2014/main" id="{2097A878-719B-4B0F-AD0C-4F67D7C662F1}"/>
              </a:ext>
            </a:extLst>
          </p:cNvPr>
          <p:cNvSpPr>
            <a:spLocks noGrp="1"/>
          </p:cNvSpPr>
          <p:nvPr/>
        </p:nvSpPr>
        <p:spPr>
          <a:xfrm>
            <a:off x="5772150" y="2971800"/>
            <a:ext cx="5638800" cy="723900"/>
          </a:xfrm>
          <a:prstGeom prst="roundRect">
            <a:avLst>
              <a:gd name="adj" fmla="val 18421"/>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C91E76AD-37DA-4171-A66B-8DC56CA0B883}"/>
              </a:ext>
            </a:extLst>
          </p:cNvPr>
          <p:cNvSpPr>
            <a:spLocks noGrp="1"/>
          </p:cNvSpPr>
          <p:nvPr/>
        </p:nvSpPr>
        <p:spPr>
          <a:xfrm>
            <a:off x="5924550" y="30956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a:ext uri="{FF2B5EF4-FFF2-40B4-BE49-F238E27FC236}">
                <a16:creationId xmlns:a16="http://schemas.microsoft.com/office/drawing/2014/main" id="{125DB939-CC09-4C1C-A4C4-8BF4D2A298BB}"/>
              </a:ext>
            </a:extLst>
          </p:cNvPr>
          <p:cNvSpPr>
            <a:spLocks noGrp="1"/>
          </p:cNvSpPr>
          <p:nvPr/>
        </p:nvSpPr>
        <p:spPr>
          <a:xfrm>
            <a:off x="5924550" y="3343275"/>
            <a:ext cx="5334000" cy="400050"/>
          </a:xfrm>
          <a:prstGeom prst="rect">
            <a:avLst/>
          </a:prstGeom>
          <a:noFill/>
          <a:ln w="0">
            <a:noFill/>
          </a:ln>
        </p:spPr>
        <p:txBody>
          <a:bodyPr wrap="square" lIns="0" tIns="0" rIns="0" bIns="0" anchor="ctr">
            <a:normAutofit/>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Који догађаји поуздано представљају то понашање?</a:t>
            </a:r>
          </a:p>
        </p:txBody>
      </p:sp>
      <p:sp>
        <p:nvSpPr>
          <p:cNvPr id="16" name="Rounded Rectangle 15">
            <a:extLst>
              <a:ext uri="{FF2B5EF4-FFF2-40B4-BE49-F238E27FC236}">
                <a16:creationId xmlns:a16="http://schemas.microsoft.com/office/drawing/2014/main" id="{53E59189-EC63-484C-96BB-5A399F162509}"/>
              </a:ext>
            </a:extLst>
          </p:cNvPr>
          <p:cNvSpPr>
            <a:spLocks noGrp="1"/>
          </p:cNvSpPr>
          <p:nvPr/>
        </p:nvSpPr>
        <p:spPr>
          <a:xfrm>
            <a:off x="5772150" y="3848100"/>
            <a:ext cx="5638800" cy="723900"/>
          </a:xfrm>
          <a:prstGeom prst="roundRect">
            <a:avLst>
              <a:gd name="adj" fmla="val 18421"/>
            </a:avLst>
          </a:prstGeom>
          <a:solidFill>
            <a:srgbClr val="EEF3FF"/>
          </a:solidFill>
          <a:ln w="9525">
            <a:solidFill>
              <a:srgbClr val="D7DEE8"/>
            </a:solidFill>
            <a:prstDash val="solid"/>
          </a:ln>
        </p:spPr>
      </p:sp>
      <p:sp>
        <p:nvSpPr>
          <p:cNvPr id="17" name="Rectangle 16">
            <a:extLst>
              <a:ext uri="{FF2B5EF4-FFF2-40B4-BE49-F238E27FC236}">
                <a16:creationId xmlns:a16="http://schemas.microsoft.com/office/drawing/2014/main" id="{F2390447-784D-4557-9479-B0C059D84C1D}"/>
              </a:ext>
            </a:extLst>
          </p:cNvPr>
          <p:cNvSpPr>
            <a:spLocks noGrp="1"/>
          </p:cNvSpPr>
          <p:nvPr/>
        </p:nvSpPr>
        <p:spPr>
          <a:xfrm>
            <a:off x="5924550" y="39719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03</a:t>
            </a:r>
          </a:p>
        </p:txBody>
      </p:sp>
      <p:sp>
        <p:nvSpPr>
          <p:cNvPr id="18" name="Rectangle 17">
            <a:extLst>
              <a:ext uri="{FF2B5EF4-FFF2-40B4-BE49-F238E27FC236}">
                <a16:creationId xmlns:a16="http://schemas.microsoft.com/office/drawing/2014/main" id="{9456A8CD-8ACE-4303-B7CE-C637D9F3231A}"/>
              </a:ext>
            </a:extLst>
          </p:cNvPr>
          <p:cNvSpPr>
            <a:spLocks noGrp="1"/>
          </p:cNvSpPr>
          <p:nvPr/>
        </p:nvSpPr>
        <p:spPr>
          <a:xfrm>
            <a:off x="5924550" y="4219575"/>
            <a:ext cx="5334000" cy="400050"/>
          </a:xfrm>
          <a:prstGeom prst="rect">
            <a:avLst/>
          </a:prstGeom>
          <a:noFill/>
          <a:ln w="0">
            <a:noFill/>
          </a:ln>
        </p:spPr>
        <p:txBody>
          <a:bodyPr wrap="square" lIns="0" tIns="0" rIns="0" bIns="0" anchor="ctr">
            <a:normAutofit/>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 је власник прага и шта ради када се праг пређе?</a:t>
            </a:r>
          </a:p>
        </p:txBody>
      </p:sp>
      <p:sp>
        <p:nvSpPr>
          <p:cNvPr id="19" name="Rounded Rectangle 18">
            <a:extLst>
              <a:ext uri="{FF2B5EF4-FFF2-40B4-BE49-F238E27FC236}">
                <a16:creationId xmlns:a16="http://schemas.microsoft.com/office/drawing/2014/main" id="{2A7D016B-25CA-49D4-B8A3-4938D592CBA8}"/>
              </a:ext>
            </a:extLst>
          </p:cNvPr>
          <p:cNvSpPr>
            <a:spLocks noGrp="1"/>
          </p:cNvSpPr>
          <p:nvPr/>
        </p:nvSpPr>
        <p:spPr>
          <a:xfrm>
            <a:off x="5772150" y="4724400"/>
            <a:ext cx="5638800" cy="876300"/>
          </a:xfrm>
          <a:prstGeom prst="roundRect">
            <a:avLst>
              <a:gd name="adj" fmla="val 18421"/>
            </a:avLst>
          </a:prstGeom>
          <a:solidFill>
            <a:srgbClr val="EDF8F2"/>
          </a:solidFill>
          <a:ln w="9525">
            <a:solidFill>
              <a:srgbClr val="D7DEE8"/>
            </a:solidFill>
            <a:prstDash val="solid"/>
          </a:ln>
        </p:spPr>
      </p:sp>
      <p:sp>
        <p:nvSpPr>
          <p:cNvPr id="20" name="Rectangle 19">
            <a:extLst>
              <a:ext uri="{FF2B5EF4-FFF2-40B4-BE49-F238E27FC236}">
                <a16:creationId xmlns:a16="http://schemas.microsoft.com/office/drawing/2014/main" id="{4AD519ED-7DA1-4ECF-9E43-CA8CBF1D6B0C}"/>
              </a:ext>
            </a:extLst>
          </p:cNvPr>
          <p:cNvSpPr>
            <a:spLocks noGrp="1"/>
          </p:cNvSpPr>
          <p:nvPr/>
        </p:nvSpPr>
        <p:spPr>
          <a:xfrm>
            <a:off x="5924550" y="48482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a:ext uri="{FF2B5EF4-FFF2-40B4-BE49-F238E27FC236}">
                <a16:creationId xmlns:a16="http://schemas.microsoft.com/office/drawing/2014/main" id="{703F5CF7-E069-4427-BF39-E6B082D221E0}"/>
              </a:ext>
            </a:extLst>
          </p:cNvPr>
          <p:cNvSpPr>
            <a:spLocks noGrp="1"/>
          </p:cNvSpPr>
          <p:nvPr/>
        </p:nvSpPr>
        <p:spPr>
          <a:xfrm>
            <a:off x="5924550" y="5095875"/>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dirty="0" err="1">
                <a:solidFill>
                  <a:srgbClr val="1A202C"/>
                </a:solidFill>
                <a:latin typeface="Aptos"/>
                <a:ea typeface="Aptos"/>
                <a:cs typeface="Aptos"/>
              </a:rPr>
              <a:t>Како</a:t>
            </a:r>
            <a:r>
              <a:rPr sz="1350" b="1" dirty="0">
                <a:solidFill>
                  <a:srgbClr val="1A202C"/>
                </a:solidFill>
                <a:latin typeface="Aptos"/>
                <a:ea typeface="Aptos"/>
                <a:cs typeface="Aptos"/>
              </a:rPr>
              <a:t> </a:t>
            </a:r>
            <a:r>
              <a:rPr sz="1350" b="1" dirty="0" err="1">
                <a:solidFill>
                  <a:srgbClr val="1A202C"/>
                </a:solidFill>
                <a:latin typeface="Aptos"/>
                <a:ea typeface="Aptos"/>
                <a:cs typeface="Aptos"/>
              </a:rPr>
              <a:t>разликујемо</a:t>
            </a:r>
            <a:r>
              <a:rPr sz="1350" b="1" dirty="0">
                <a:solidFill>
                  <a:srgbClr val="1A202C"/>
                </a:solidFill>
                <a:latin typeface="Aptos"/>
                <a:ea typeface="Aptos"/>
                <a:cs typeface="Aptos"/>
              </a:rPr>
              <a:t> </a:t>
            </a:r>
            <a:r>
              <a:rPr sz="1350" b="1" dirty="0" err="1">
                <a:solidFill>
                  <a:srgbClr val="1A202C"/>
                </a:solidFill>
                <a:latin typeface="Aptos"/>
                <a:ea typeface="Aptos"/>
                <a:cs typeface="Aptos"/>
              </a:rPr>
              <a:t>нормалну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промену</a:t>
            </a:r>
            <a:r>
              <a:rPr sz="1350" b="1" dirty="0">
                <a:solidFill>
                  <a:srgbClr val="1A202C"/>
                </a:solidFill>
                <a:latin typeface="Aptos"/>
                <a:ea typeface="Aptos"/>
                <a:cs typeface="Aptos"/>
              </a:rPr>
              <a:t> </a:t>
            </a:r>
            <a:r>
              <a:rPr sz="1350" b="1" dirty="0" err="1">
                <a:solidFill>
                  <a:srgbClr val="1A202C"/>
                </a:solidFill>
                <a:latin typeface="Aptos"/>
                <a:ea typeface="Aptos"/>
                <a:cs typeface="Aptos"/>
              </a:rPr>
              <a:t>рада</a:t>
            </a:r>
            <a:r>
              <a:rPr sz="1350" b="1" dirty="0">
                <a:solidFill>
                  <a:srgbClr val="1A202C"/>
                </a:solidFill>
                <a:latin typeface="Aptos"/>
                <a:ea typeface="Aptos"/>
                <a:cs typeface="Aptos"/>
              </a:rPr>
              <a:t> </a:t>
            </a:r>
            <a:r>
              <a:rPr sz="1350" b="1" dirty="0" err="1">
                <a:solidFill>
                  <a:srgbClr val="1A202C"/>
                </a:solidFill>
                <a:latin typeface="Aptos"/>
                <a:ea typeface="Aptos"/>
                <a:cs typeface="Aptos"/>
              </a:rPr>
              <a:t>од</a:t>
            </a:r>
            <a:r>
              <a:rPr sz="1350" b="1" dirty="0">
                <a:solidFill>
                  <a:srgbClr val="1A202C"/>
                </a:solidFill>
                <a:latin typeface="Aptos"/>
                <a:ea typeface="Aptos"/>
                <a:cs typeface="Aptos"/>
              </a:rPr>
              <a:t> </a:t>
            </a:r>
            <a:r>
              <a:rPr sz="1350" b="1" dirty="0" err="1">
                <a:solidFill>
                  <a:srgbClr val="1A202C"/>
                </a:solidFill>
                <a:latin typeface="Aptos"/>
                <a:ea typeface="Aptos"/>
                <a:cs typeface="Aptos"/>
              </a:rPr>
              <a:t>безбедносног</a:t>
            </a:r>
            <a:r>
              <a:rPr sz="1350" b="1" dirty="0">
                <a:solidFill>
                  <a:srgbClr val="1A202C"/>
                </a:solidFill>
                <a:latin typeface="Aptos"/>
                <a:ea typeface="Aptos"/>
                <a:cs typeface="Aptos"/>
              </a:rPr>
              <a:t> </a:t>
            </a:r>
            <a:r>
              <a:rPr sz="1350" b="1" dirty="0" err="1">
                <a:solidFill>
                  <a:srgbClr val="1A202C"/>
                </a:solidFill>
                <a:latin typeface="Aptos"/>
                <a:ea typeface="Aptos"/>
                <a:cs typeface="Aptos"/>
              </a:rPr>
              <a:t>одступања</a:t>
            </a:r>
            <a:r>
              <a:rPr sz="1350" b="1" dirty="0">
                <a:solidFill>
                  <a:srgbClr val="1A202C"/>
                </a:solidFill>
                <a:latin typeface="Aptos"/>
                <a:ea typeface="Aptos"/>
                <a:cs typeface="Aptos"/>
              </a:rPr>
              <a:t>?</a:t>
            </a:r>
          </a:p>
        </p:txBody>
      </p:sp>
    </p:spTree>
    <p:extLst>
      <p:ext uri="{BB962C8B-B14F-4D97-AF65-F5344CB8AC3E}">
        <p14:creationId xmlns:p14="http://schemas.microsoft.com/office/powerpoint/2010/main" val="7515064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B585CECE-DB0E-449A-8652-18CF00E3CCF4}"/>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2EE9FCA4-7028-4DE3-BB30-A20417513BC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DAC7DF9A-2D6B-44BF-9DC7-83DA453F8ECA}"/>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a:ext uri="{FF2B5EF4-FFF2-40B4-BE49-F238E27FC236}">
                <a16:creationId xmlns:a16="http://schemas.microsoft.com/office/drawing/2014/main" id="{EBC81911-E130-4504-A7BA-CCBAA89D78DD}"/>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Правило без доказа је само намера</a:t>
            </a:r>
          </a:p>
        </p:txBody>
      </p:sp>
      <p:sp>
        <p:nvSpPr>
          <p:cNvPr id="5" name="Rectangle 4">
            <a:extLst>
              <a:ext uri="{FF2B5EF4-FFF2-40B4-BE49-F238E27FC236}">
                <a16:creationId xmlns:a16="http://schemas.microsoft.com/office/drawing/2014/main" id="{F430D5BC-E7C1-4DA0-BE6F-0C20E5488ACC}"/>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Три правила која треба да остану видљива у имплементацији и ревизији.</a:t>
            </a:r>
          </a:p>
        </p:txBody>
      </p:sp>
      <p:sp>
        <p:nvSpPr>
          <p:cNvPr id="6" name="Rounded Rectangle 5">
            <a:extLst>
              <a:ext uri="{FF2B5EF4-FFF2-40B4-BE49-F238E27FC236}">
                <a16:creationId xmlns:a16="http://schemas.microsoft.com/office/drawing/2014/main" id="{46B91624-8E97-4936-B6DA-24926782E134}"/>
              </a:ext>
            </a:extLst>
          </p:cNvPr>
          <p:cNvSpPr>
            <a:spLocks noGrp="1"/>
          </p:cNvSpPr>
          <p:nvPr/>
        </p:nvSpPr>
        <p:spPr>
          <a:xfrm>
            <a:off x="819150" y="2400300"/>
            <a:ext cx="3257550" cy="2343150"/>
          </a:xfrm>
          <a:prstGeom prst="roundRect">
            <a:avLst>
              <a:gd name="adj" fmla="val 5691"/>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F4653117-29DF-4A55-B499-F4FA2A635998}"/>
              </a:ext>
            </a:extLst>
          </p:cNvPr>
          <p:cNvSpPr>
            <a:spLocks noGrp="1"/>
          </p:cNvSpPr>
          <p:nvPr/>
        </p:nvSpPr>
        <p:spPr>
          <a:xfrm>
            <a:off x="971550"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8" name="Rectangle 7">
            <a:extLst>
              <a:ext uri="{FF2B5EF4-FFF2-40B4-BE49-F238E27FC236}">
                <a16:creationId xmlns:a16="http://schemas.microsoft.com/office/drawing/2014/main" id="{5F97695C-225F-484B-A8EF-1F92612C614C}"/>
              </a:ext>
            </a:extLst>
          </p:cNvPr>
          <p:cNvSpPr>
            <a:spLocks noGrp="1"/>
          </p:cNvSpPr>
          <p:nvPr/>
        </p:nvSpPr>
        <p:spPr>
          <a:xfrm>
            <a:off x="971550"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Нова верзија политике не брише разлог због ког је стара одлука некада била исправна.</a:t>
            </a:r>
          </a:p>
        </p:txBody>
      </p:sp>
      <p:sp>
        <p:nvSpPr>
          <p:cNvPr id="9" name="Rectangle 8">
            <a:extLst>
              <a:ext uri="{FF2B5EF4-FFF2-40B4-BE49-F238E27FC236}">
                <a16:creationId xmlns:a16="http://schemas.microsoft.com/office/drawing/2014/main" id="{1BBFA8B2-2652-424F-8DB6-676D52F06A91}"/>
              </a:ext>
            </a:extLst>
          </p:cNvPr>
          <p:cNvSpPr>
            <a:spLocks noGrp="1"/>
          </p:cNvSpPr>
          <p:nvPr/>
        </p:nvSpPr>
        <p:spPr>
          <a:xfrm>
            <a:off x="971550"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a:ext uri="{FF2B5EF4-FFF2-40B4-BE49-F238E27FC236}">
                <a16:creationId xmlns:a16="http://schemas.microsoft.com/office/drawing/2014/main" id="{2D9C6035-E2FA-46F8-97FB-D5B970AD9C8F}"/>
              </a:ext>
            </a:extLst>
          </p:cNvPr>
          <p:cNvSpPr>
            <a:spLocks noGrp="1"/>
          </p:cNvSpPr>
          <p:nvPr/>
        </p:nvSpPr>
        <p:spPr>
          <a:xfrm>
            <a:off x="4467225" y="2400300"/>
            <a:ext cx="3257550" cy="2343150"/>
          </a:xfrm>
          <a:prstGeom prst="roundRect">
            <a:avLst>
              <a:gd name="adj" fmla="val 5691"/>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1A43174D-4955-415A-833C-C87CAC5B88BA}"/>
              </a:ext>
            </a:extLst>
          </p:cNvPr>
          <p:cNvSpPr>
            <a:spLocks noGrp="1"/>
          </p:cNvSpPr>
          <p:nvPr/>
        </p:nvSpPr>
        <p:spPr>
          <a:xfrm>
            <a:off x="4619625"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02</a:t>
            </a:r>
          </a:p>
        </p:txBody>
      </p:sp>
      <p:sp>
        <p:nvSpPr>
          <p:cNvPr id="12" name="Rectangle 11">
            <a:extLst>
              <a:ext uri="{FF2B5EF4-FFF2-40B4-BE49-F238E27FC236}">
                <a16:creationId xmlns:a16="http://schemas.microsoft.com/office/drawing/2014/main" id="{B5FFC9A7-41D5-4CC6-86BB-BD0870B62120}"/>
              </a:ext>
            </a:extLst>
          </p:cNvPr>
          <p:cNvSpPr>
            <a:spLocks noGrp="1"/>
          </p:cNvSpPr>
          <p:nvPr/>
        </p:nvSpPr>
        <p:spPr>
          <a:xfrm>
            <a:off x="4619625"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Конфигурациона вредност има власника, значење и очекивани опсег.</a:t>
            </a:r>
          </a:p>
        </p:txBody>
      </p:sp>
      <p:sp>
        <p:nvSpPr>
          <p:cNvPr id="13" name="Rectangle 12">
            <a:extLst>
              <a:ext uri="{FF2B5EF4-FFF2-40B4-BE49-F238E27FC236}">
                <a16:creationId xmlns:a16="http://schemas.microsoft.com/office/drawing/2014/main" id="{227D9A3B-A3AF-472A-A467-D4BA536156B7}"/>
              </a:ext>
            </a:extLst>
          </p:cNvPr>
          <p:cNvSpPr>
            <a:spLocks noGrp="1"/>
          </p:cNvSpPr>
          <p:nvPr/>
        </p:nvSpPr>
        <p:spPr>
          <a:xfrm>
            <a:off x="4619625"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a:ext uri="{FF2B5EF4-FFF2-40B4-BE49-F238E27FC236}">
                <a16:creationId xmlns:a16="http://schemas.microsoft.com/office/drawing/2014/main" id="{54AFF823-93D9-400F-A08E-85E1DEC2958D}"/>
              </a:ext>
            </a:extLst>
          </p:cNvPr>
          <p:cNvSpPr>
            <a:spLocks noGrp="1"/>
          </p:cNvSpPr>
          <p:nvPr/>
        </p:nvSpPr>
        <p:spPr>
          <a:xfrm>
            <a:off x="8115300" y="2400300"/>
            <a:ext cx="3257550" cy="2343150"/>
          </a:xfrm>
          <a:prstGeom prst="roundRect">
            <a:avLst>
              <a:gd name="adj" fmla="val 5691"/>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7BEA9A1A-4699-4E68-8D74-FDD53C14C3F1}"/>
              </a:ext>
            </a:extLst>
          </p:cNvPr>
          <p:cNvSpPr>
            <a:spLocks noGrp="1"/>
          </p:cNvSpPr>
          <p:nvPr/>
        </p:nvSpPr>
        <p:spPr>
          <a:xfrm>
            <a:off x="8267700"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494718CA-F084-467B-885D-A5FB5A41DB01}"/>
              </a:ext>
            </a:extLst>
          </p:cNvPr>
          <p:cNvSpPr>
            <a:spLocks noGrp="1"/>
          </p:cNvSpPr>
          <p:nvPr/>
        </p:nvSpPr>
        <p:spPr>
          <a:xfrm>
            <a:off x="8267700"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Корелациони идентификатор повезује један безбедносни ток кроз слојеве система.</a:t>
            </a:r>
          </a:p>
        </p:txBody>
      </p:sp>
      <p:sp>
        <p:nvSpPr>
          <p:cNvPr id="17" name="Rectangle 16">
            <a:extLst>
              <a:ext uri="{FF2B5EF4-FFF2-40B4-BE49-F238E27FC236}">
                <a16:creationId xmlns:a16="http://schemas.microsoft.com/office/drawing/2014/main" id="{3959E280-CFE6-481F-8156-86280165D985}"/>
              </a:ext>
            </a:extLst>
          </p:cNvPr>
          <p:cNvSpPr>
            <a:spLocks noGrp="1"/>
          </p:cNvSpPr>
          <p:nvPr/>
        </p:nvSpPr>
        <p:spPr>
          <a:xfrm>
            <a:off x="8267700"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14531415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73ACEB00-96A1-4741-86CE-E676E9BCF46C}"/>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F1FF2C23-AC3B-4E0A-BDC7-8E3D32A7657E}"/>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1481932E-0EC3-4078-A574-6767EA9620AE}"/>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a:ext uri="{FF2B5EF4-FFF2-40B4-BE49-F238E27FC236}">
                <a16:creationId xmlns:a16="http://schemas.microsoft.com/office/drawing/2014/main" id="{486E0D4A-01A9-47F1-9669-BAEF6EAC28DD}"/>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Како се ова тема види у развоју</a:t>
            </a:r>
          </a:p>
        </p:txBody>
      </p:sp>
      <p:sp>
        <p:nvSpPr>
          <p:cNvPr id="5" name="Rectangle 4">
            <a:extLst>
              <a:ext uri="{FF2B5EF4-FFF2-40B4-BE49-F238E27FC236}">
                <a16:creationId xmlns:a16="http://schemas.microsoft.com/office/drawing/2014/main" id="{1ED7C457-B269-4067-969D-30B7DD9AFCE7}"/>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Тема се види у малим одлукама током развоја, не само у завршној документацији.</a:t>
            </a:r>
          </a:p>
        </p:txBody>
      </p:sp>
      <p:sp>
        <p:nvSpPr>
          <p:cNvPr id="6" name="Rounded Rectangle 5">
            <a:extLst>
              <a:ext uri="{FF2B5EF4-FFF2-40B4-BE49-F238E27FC236}">
                <a16:creationId xmlns:a16="http://schemas.microsoft.com/office/drawing/2014/main" id="{8D797362-A373-41CA-9295-4A851DC902E6}"/>
              </a:ext>
            </a:extLst>
          </p:cNvPr>
          <p:cNvSpPr>
            <a:spLocks noGrp="1"/>
          </p:cNvSpPr>
          <p:nvPr/>
        </p:nvSpPr>
        <p:spPr>
          <a:xfrm>
            <a:off x="800100" y="2209800"/>
            <a:ext cx="4810125" cy="2857500"/>
          </a:xfrm>
          <a:prstGeom prst="roundRect">
            <a:avLst>
              <a:gd name="adj" fmla="val 4667"/>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029FD0B7-C8F6-4C0A-A407-BDD6B0F778D5}"/>
              </a:ext>
            </a:extLst>
          </p:cNvPr>
          <p:cNvSpPr>
            <a:spLocks noGrp="1"/>
          </p:cNvSpPr>
          <p:nvPr/>
        </p:nvSpPr>
        <p:spPr>
          <a:xfrm>
            <a:off x="952500" y="2333625"/>
            <a:ext cx="4505325"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РАЗВОЈНИ КОНТЕКСТ</a:t>
            </a:r>
          </a:p>
        </p:txBody>
      </p:sp>
      <p:sp>
        <p:nvSpPr>
          <p:cNvPr id="8" name="Rectangle 7">
            <a:extLst>
              <a:ext uri="{FF2B5EF4-FFF2-40B4-BE49-F238E27FC236}">
                <a16:creationId xmlns:a16="http://schemas.microsoft.com/office/drawing/2014/main" id="{9682AF65-0788-44D2-9BFE-BBB576D52D61}"/>
              </a:ext>
            </a:extLst>
          </p:cNvPr>
          <p:cNvSpPr>
            <a:spLocks noGrp="1"/>
          </p:cNvSpPr>
          <p:nvPr/>
        </p:nvSpPr>
        <p:spPr>
          <a:xfrm>
            <a:off x="952500" y="2581275"/>
            <a:ext cx="4505325" cy="476250"/>
          </a:xfrm>
          <a:prstGeom prst="rect">
            <a:avLst/>
          </a:prstGeom>
          <a:noFill/>
          <a:ln w="0">
            <a:noFill/>
          </a:ln>
        </p:spPr>
        <p:txBody>
          <a:bodyPr wrap="square" lIns="0" tIns="0" rIns="0" bIns="0" anchor="ctr">
            <a:normAutofit/>
          </a:bodyPr>
          <a:lstStyle/>
          <a:p>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Од принципа до радног кода</a:t>
            </a:r>
          </a:p>
        </p:txBody>
      </p:sp>
      <p:sp>
        <p:nvSpPr>
          <p:cNvPr id="9" name="Rectangle 8">
            <a:extLst>
              <a:ext uri="{FF2B5EF4-FFF2-40B4-BE49-F238E27FC236}">
                <a16:creationId xmlns:a16="http://schemas.microsoft.com/office/drawing/2014/main" id="{62CF8D13-DC96-47C9-9F3A-F9BD9994DC3A}"/>
              </a:ext>
            </a:extLst>
          </p:cNvPr>
          <p:cNvSpPr>
            <a:spLocks noGrp="1"/>
          </p:cNvSpPr>
          <p:nvPr/>
        </p:nvSpPr>
        <p:spPr>
          <a:xfrm>
            <a:off x="952500" y="3124200"/>
            <a:ext cx="4505325" cy="1838325"/>
          </a:xfrm>
          <a:prstGeom prst="rect">
            <a:avLst/>
          </a:prstGeom>
          <a:noFill/>
          <a:ln w="0">
            <a:noFill/>
          </a:ln>
        </p:spPr>
        <p:txBody>
          <a:bodyPr wrap="square" lIns="0" tIns="0" rIns="0" bIns="0" anchor="t">
            <a:normAutofit/>
          </a:bodyPr>
          <a:lstStyle/>
          <a:p>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Тим бира неколико кључних одлука које мора моћи да објасни из лога и теста. То нису сви догађаји система, већ они чији би нејасан исход отежао истрагу, преглед приступа или корекцију конфигурације.</a:t>
            </a:r>
          </a:p>
        </p:txBody>
      </p:sp>
      <p:sp>
        <p:nvSpPr>
          <p:cNvPr id="10" name="Rounded Rectangle 9">
            <a:extLst>
              <a:ext uri="{FF2B5EF4-FFF2-40B4-BE49-F238E27FC236}">
                <a16:creationId xmlns:a16="http://schemas.microsoft.com/office/drawing/2014/main" id="{30EBFB47-7EF2-4F61-BD0C-9DB2B8348EFF}"/>
              </a:ext>
            </a:extLst>
          </p:cNvPr>
          <p:cNvSpPr>
            <a:spLocks noGrp="1"/>
          </p:cNvSpPr>
          <p:nvPr/>
        </p:nvSpPr>
        <p:spPr>
          <a:xfrm>
            <a:off x="6038850" y="2209800"/>
            <a:ext cx="5353050" cy="819150"/>
          </a:xfrm>
          <a:prstGeom prst="roundRect">
            <a:avLst>
              <a:gd name="adj" fmla="val 16279"/>
            </a:avLst>
          </a:prstGeom>
          <a:solidFill>
            <a:srgbClr val="F4F6F9"/>
          </a:solidFill>
          <a:ln w="9525">
            <a:solidFill>
              <a:srgbClr val="D7DEE8"/>
            </a:solidFill>
            <a:prstDash val="solid"/>
          </a:ln>
        </p:spPr>
      </p:sp>
      <p:sp>
        <p:nvSpPr>
          <p:cNvPr id="11" name="Rectangle 10">
            <a:extLst>
              <a:ext uri="{FF2B5EF4-FFF2-40B4-BE49-F238E27FC236}">
                <a16:creationId xmlns:a16="http://schemas.microsoft.com/office/drawing/2014/main" id="{7A851307-5ED4-4225-B094-9C21D3BC9140}"/>
              </a:ext>
            </a:extLst>
          </p:cNvPr>
          <p:cNvSpPr>
            <a:spLocks noGrp="1"/>
          </p:cNvSpPr>
          <p:nvPr/>
        </p:nvSpPr>
        <p:spPr>
          <a:xfrm>
            <a:off x="6191250" y="23336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a:ext uri="{FF2B5EF4-FFF2-40B4-BE49-F238E27FC236}">
                <a16:creationId xmlns:a16="http://schemas.microsoft.com/office/drawing/2014/main" id="{EF995F7D-0FB5-485F-B0F4-9AFBB1E46AB0}"/>
              </a:ext>
            </a:extLst>
          </p:cNvPr>
          <p:cNvSpPr>
            <a:spLocks noGrp="1"/>
          </p:cNvSpPr>
          <p:nvPr/>
        </p:nvSpPr>
        <p:spPr>
          <a:xfrm>
            <a:off x="6191250" y="25812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Именуј одлуку и њену границу.</a:t>
            </a:r>
          </a:p>
        </p:txBody>
      </p:sp>
      <p:sp>
        <p:nvSpPr>
          <p:cNvPr id="13" name="Rounded Rectangle 12">
            <a:extLst>
              <a:ext uri="{FF2B5EF4-FFF2-40B4-BE49-F238E27FC236}">
                <a16:creationId xmlns:a16="http://schemas.microsoft.com/office/drawing/2014/main" id="{259AF8FF-8ABE-4FBB-8489-621F87B2A8A0}"/>
              </a:ext>
            </a:extLst>
          </p:cNvPr>
          <p:cNvSpPr>
            <a:spLocks noGrp="1"/>
          </p:cNvSpPr>
          <p:nvPr/>
        </p:nvSpPr>
        <p:spPr>
          <a:xfrm>
            <a:off x="6038850" y="3200400"/>
            <a:ext cx="5353050" cy="819150"/>
          </a:xfrm>
          <a:prstGeom prst="roundRect">
            <a:avLst>
              <a:gd name="adj" fmla="val 16279"/>
            </a:avLst>
          </a:prstGeom>
          <a:solidFill>
            <a:srgbClr val="F5F0FF"/>
          </a:solidFill>
          <a:ln w="9525">
            <a:solidFill>
              <a:srgbClr val="D7DEE8"/>
            </a:solidFill>
            <a:prstDash val="solid"/>
          </a:ln>
        </p:spPr>
      </p:sp>
      <p:sp>
        <p:nvSpPr>
          <p:cNvPr id="14" name="Rectangle 13">
            <a:extLst>
              <a:ext uri="{FF2B5EF4-FFF2-40B4-BE49-F238E27FC236}">
                <a16:creationId xmlns:a16="http://schemas.microsoft.com/office/drawing/2014/main" id="{30986E4D-C992-4B23-A62A-85D5B338A6B9}"/>
              </a:ext>
            </a:extLst>
          </p:cNvPr>
          <p:cNvSpPr>
            <a:spLocks noGrp="1"/>
          </p:cNvSpPr>
          <p:nvPr/>
        </p:nvSpPr>
        <p:spPr>
          <a:xfrm>
            <a:off x="6191250" y="33242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02</a:t>
            </a:r>
          </a:p>
        </p:txBody>
      </p:sp>
      <p:sp>
        <p:nvSpPr>
          <p:cNvPr id="15" name="Rectangle 14">
            <a:extLst>
              <a:ext uri="{FF2B5EF4-FFF2-40B4-BE49-F238E27FC236}">
                <a16:creationId xmlns:a16="http://schemas.microsoft.com/office/drawing/2014/main" id="{39DD3CB9-77C3-45CF-A302-DCFDD822CBEC}"/>
              </a:ext>
            </a:extLst>
          </p:cNvPr>
          <p:cNvSpPr>
            <a:spLocks noGrp="1"/>
          </p:cNvSpPr>
          <p:nvPr/>
        </p:nvSpPr>
        <p:spPr>
          <a:xfrm>
            <a:off x="6191250" y="35718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Имплементирај проверу на серверу.</a:t>
            </a:r>
          </a:p>
        </p:txBody>
      </p:sp>
      <p:sp>
        <p:nvSpPr>
          <p:cNvPr id="16" name="Rounded Rectangle 15">
            <a:extLst>
              <a:ext uri="{FF2B5EF4-FFF2-40B4-BE49-F238E27FC236}">
                <a16:creationId xmlns:a16="http://schemas.microsoft.com/office/drawing/2014/main" id="{726979B7-46AE-4C3B-969C-CD3D93ADF51C}"/>
              </a:ext>
            </a:extLst>
          </p:cNvPr>
          <p:cNvSpPr>
            <a:spLocks noGrp="1"/>
          </p:cNvSpPr>
          <p:nvPr/>
        </p:nvSpPr>
        <p:spPr>
          <a:xfrm>
            <a:off x="6038850" y="4191000"/>
            <a:ext cx="5353050" cy="819150"/>
          </a:xfrm>
          <a:prstGeom prst="roundRect">
            <a:avLst>
              <a:gd name="adj" fmla="val 16279"/>
            </a:avLst>
          </a:prstGeom>
          <a:solidFill>
            <a:srgbClr val="EDF8F2"/>
          </a:solidFill>
          <a:ln w="9525">
            <a:solidFill>
              <a:srgbClr val="D7DEE8"/>
            </a:solidFill>
            <a:prstDash val="solid"/>
          </a:ln>
        </p:spPr>
      </p:sp>
      <p:sp>
        <p:nvSpPr>
          <p:cNvPr id="17" name="Rectangle 16">
            <a:extLst>
              <a:ext uri="{FF2B5EF4-FFF2-40B4-BE49-F238E27FC236}">
                <a16:creationId xmlns:a16="http://schemas.microsoft.com/office/drawing/2014/main" id="{2FAABB67-30C3-497D-ACB4-2836EE7FA61E}"/>
              </a:ext>
            </a:extLst>
          </p:cNvPr>
          <p:cNvSpPr>
            <a:spLocks noGrp="1"/>
          </p:cNvSpPr>
          <p:nvPr/>
        </p:nvSpPr>
        <p:spPr>
          <a:xfrm>
            <a:off x="6191250" y="43148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a:ext uri="{FF2B5EF4-FFF2-40B4-BE49-F238E27FC236}">
                <a16:creationId xmlns:a16="http://schemas.microsoft.com/office/drawing/2014/main" id="{EBAE9540-096D-4382-9577-99446401191E}"/>
              </a:ext>
            </a:extLst>
          </p:cNvPr>
          <p:cNvSpPr>
            <a:spLocks noGrp="1"/>
          </p:cNvSpPr>
          <p:nvPr/>
        </p:nvSpPr>
        <p:spPr>
          <a:xfrm>
            <a:off x="6191250" y="45624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Додај позитиван и негативан доказ.</a:t>
            </a:r>
          </a:p>
        </p:txBody>
      </p:sp>
    </p:spTree>
    <p:extLst>
      <p:ext uri="{BB962C8B-B14F-4D97-AF65-F5344CB8AC3E}">
        <p14:creationId xmlns:p14="http://schemas.microsoft.com/office/powerpoint/2010/main" val="6209891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D7BFD26-09E3-4CEF-9142-19DF9B05F83A}"/>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1A818B86-CC0C-4767-9D9A-4E22FA276524}"/>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42712690-4E3F-4B55-9ABD-25140F719D1B}"/>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a:ext uri="{FF2B5EF4-FFF2-40B4-BE49-F238E27FC236}">
                <a16:creationId xmlns:a16="http://schemas.microsoft.com/office/drawing/2014/main" id="{82950E26-C035-4172-A70F-763D5BF6E84A}"/>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Пример: промена правила без губитка историје</a:t>
            </a:r>
          </a:p>
        </p:txBody>
      </p:sp>
      <p:sp>
        <p:nvSpPr>
          <p:cNvPr id="5" name="Rectangle 4">
            <a:extLst>
              <a:ext uri="{FF2B5EF4-FFF2-40B4-BE49-F238E27FC236}">
                <a16:creationId xmlns:a16="http://schemas.microsoft.com/office/drawing/2014/main" id="{C3342A51-A700-4DDE-813B-3D1620BC7670}"/>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Конкретан случај показује где опште правило постаје стварна одлука система.</a:t>
            </a:r>
          </a:p>
        </p:txBody>
      </p:sp>
      <p:sp>
        <p:nvSpPr>
          <p:cNvPr id="6" name="Rounded Rectangle 5">
            <a:extLst>
              <a:ext uri="{FF2B5EF4-FFF2-40B4-BE49-F238E27FC236}">
                <a16:creationId xmlns:a16="http://schemas.microsoft.com/office/drawing/2014/main" id="{B6DF51A2-1B26-4AC9-B076-89AD681548C6}"/>
              </a:ext>
            </a:extLst>
          </p:cNvPr>
          <p:cNvSpPr>
            <a:spLocks noGrp="1"/>
          </p:cNvSpPr>
          <p:nvPr/>
        </p:nvSpPr>
        <p:spPr>
          <a:xfrm>
            <a:off x="781050" y="2143125"/>
            <a:ext cx="10629900" cy="1619250"/>
          </a:xfrm>
          <a:prstGeom prst="roundRect">
            <a:avLst>
              <a:gd name="adj" fmla="val 8235"/>
            </a:avLst>
          </a:prstGeom>
          <a:solidFill>
            <a:srgbClr val="F4F6F9"/>
          </a:solidFill>
          <a:ln w="9525">
            <a:solidFill>
              <a:srgbClr val="D7DEE8"/>
            </a:solidFill>
            <a:prstDash val="solid"/>
          </a:ln>
        </p:spPr>
      </p:sp>
      <p:sp>
        <p:nvSpPr>
          <p:cNvPr id="7" name="Rectangle 6">
            <a:extLst>
              <a:ext uri="{FF2B5EF4-FFF2-40B4-BE49-F238E27FC236}">
                <a16:creationId xmlns:a16="http://schemas.microsoft.com/office/drawing/2014/main" id="{F907B334-BB63-4550-B3C7-C6384C24E8F7}"/>
              </a:ext>
            </a:extLst>
          </p:cNvPr>
          <p:cNvSpPr>
            <a:spLocks noGrp="1"/>
          </p:cNvSpPr>
          <p:nvPr/>
        </p:nvSpPr>
        <p:spPr>
          <a:xfrm>
            <a:off x="933450" y="2266950"/>
            <a:ext cx="1032510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a:ext uri="{FF2B5EF4-FFF2-40B4-BE49-F238E27FC236}">
                <a16:creationId xmlns:a16="http://schemas.microsoft.com/office/drawing/2014/main" id="{1E1AA7CC-4233-4C1A-82DE-B9CA2D05303F}"/>
              </a:ext>
            </a:extLst>
          </p:cNvPr>
          <p:cNvSpPr>
            <a:spLocks noGrp="1"/>
          </p:cNvSpPr>
          <p:nvPr/>
        </p:nvSpPr>
        <p:spPr>
          <a:xfrm>
            <a:off x="933450" y="2514600"/>
            <a:ext cx="10325100" cy="400050"/>
          </a:xfrm>
          <a:prstGeom prst="rect">
            <a:avLst/>
          </a:prstGeom>
          <a:noFill/>
          <a:ln w="0">
            <a:noFill/>
          </a:ln>
        </p:spPr>
        <p:txBody>
          <a:bodyPr wrap="square" lIns="0" tIns="0" rIns="0" bIns="0" anchor="ctr">
            <a:normAutofit/>
          </a:bodyPr>
          <a:lstStyle/>
          <a:p>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промена правила без губитка историје</a:t>
            </a:r>
          </a:p>
        </p:txBody>
      </p:sp>
      <p:sp>
        <p:nvSpPr>
          <p:cNvPr id="9" name="Rectangle 8">
            <a:extLst>
              <a:ext uri="{FF2B5EF4-FFF2-40B4-BE49-F238E27FC236}">
                <a16:creationId xmlns:a16="http://schemas.microsoft.com/office/drawing/2014/main" id="{29D9EDA4-6CB1-4F79-AA9B-3ECE8B42A248}"/>
              </a:ext>
            </a:extLst>
          </p:cNvPr>
          <p:cNvSpPr>
            <a:spLocks noGrp="1"/>
          </p:cNvSpPr>
          <p:nvPr/>
        </p:nvSpPr>
        <p:spPr>
          <a:xfrm>
            <a:off x="933450" y="2981325"/>
            <a:ext cx="10325100" cy="67627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Тим пооштрава правило за приступ административном интерфејсу. Ако старо правило само препише новим, касније не може да објасни зашто је ранији приступ био дозвољен нити да реконструише које је очекивање тада важило. Верзионисање не служи бирократији, већ очувању смисла историјских одлука.</a:t>
            </a:r>
          </a:p>
        </p:txBody>
      </p:sp>
      <p:sp>
        <p:nvSpPr>
          <p:cNvPr id="10" name="Rounded Rectangle 9">
            <a:extLst>
              <a:ext uri="{FF2B5EF4-FFF2-40B4-BE49-F238E27FC236}">
                <a16:creationId xmlns:a16="http://schemas.microsoft.com/office/drawing/2014/main" id="{8E753EB7-3E75-4D1A-BBF9-57FF7D82936F}"/>
              </a:ext>
            </a:extLst>
          </p:cNvPr>
          <p:cNvSpPr>
            <a:spLocks noGrp="1"/>
          </p:cNvSpPr>
          <p:nvPr/>
        </p:nvSpPr>
        <p:spPr>
          <a:xfrm>
            <a:off x="781050" y="4048125"/>
            <a:ext cx="3352800" cy="1352550"/>
          </a:xfrm>
          <a:prstGeom prst="roundRect">
            <a:avLst>
              <a:gd name="adj" fmla="val 9859"/>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17B8F1E2-030A-4945-BFF3-463510783D4B}"/>
              </a:ext>
            </a:extLst>
          </p:cNvPr>
          <p:cNvSpPr>
            <a:spLocks noGrp="1"/>
          </p:cNvSpPr>
          <p:nvPr/>
        </p:nvSpPr>
        <p:spPr>
          <a:xfrm>
            <a:off x="933450"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E3879685-EAAE-48AB-A8EB-DC5194C063B3}"/>
              </a:ext>
            </a:extLst>
          </p:cNvPr>
          <p:cNvSpPr>
            <a:spLocks noGrp="1"/>
          </p:cNvSpPr>
          <p:nvPr/>
        </p:nvSpPr>
        <p:spPr>
          <a:xfrm>
            <a:off x="933450" y="4419600"/>
            <a:ext cx="3048000" cy="781050"/>
          </a:xfrm>
          <a:prstGeom prst="rect">
            <a:avLst/>
          </a:prstGeom>
          <a:noFill/>
          <a:ln w="0">
            <a:noFill/>
          </a:ln>
        </p:spPr>
        <p:txBody>
          <a:bodyPr wrap="square" lIns="0" tIns="0" rIns="0" bIns="0" anchor="ctr">
            <a:normAutofit fontScale="98520"/>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Политика описује намеру и важење, док конфигурација чува вредности којима се та намера примењује у окружењу.</a:t>
            </a:r>
          </a:p>
        </p:txBody>
      </p:sp>
      <p:sp>
        <p:nvSpPr>
          <p:cNvPr id="13" name="Rounded Rectangle 12">
            <a:extLst>
              <a:ext uri="{FF2B5EF4-FFF2-40B4-BE49-F238E27FC236}">
                <a16:creationId xmlns:a16="http://schemas.microsoft.com/office/drawing/2014/main" id="{F0EB8801-31E6-42D9-A2AD-C1629C6FF2ED}"/>
              </a:ext>
            </a:extLst>
          </p:cNvPr>
          <p:cNvSpPr>
            <a:spLocks noGrp="1"/>
          </p:cNvSpPr>
          <p:nvPr/>
        </p:nvSpPr>
        <p:spPr>
          <a:xfrm>
            <a:off x="4391025" y="4048125"/>
            <a:ext cx="3352800" cy="1352550"/>
          </a:xfrm>
          <a:prstGeom prst="roundRect">
            <a:avLst>
              <a:gd name="adj" fmla="val 9859"/>
            </a:avLst>
          </a:prstGeom>
          <a:solidFill>
            <a:srgbClr val="FFF6E9"/>
          </a:solidFill>
          <a:ln w="9525">
            <a:solidFill>
              <a:srgbClr val="D7DEE8"/>
            </a:solidFill>
            <a:prstDash val="solid"/>
          </a:ln>
        </p:spPr>
      </p:sp>
      <p:sp>
        <p:nvSpPr>
          <p:cNvPr id="14" name="Rectangle 13">
            <a:extLst>
              <a:ext uri="{FF2B5EF4-FFF2-40B4-BE49-F238E27FC236}">
                <a16:creationId xmlns:a16="http://schemas.microsoft.com/office/drawing/2014/main" id="{45CF21B7-B603-4B2C-AE47-074C98EADC4C}"/>
              </a:ext>
            </a:extLst>
          </p:cNvPr>
          <p:cNvSpPr>
            <a:spLocks noGrp="1"/>
          </p:cNvSpPr>
          <p:nvPr/>
        </p:nvSpPr>
        <p:spPr>
          <a:xfrm>
            <a:off x="4543425"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a:ext uri="{FF2B5EF4-FFF2-40B4-BE49-F238E27FC236}">
                <a16:creationId xmlns:a16="http://schemas.microsoft.com/office/drawing/2014/main" id="{EBB79170-B0A4-4B18-9152-2A914E089CA7}"/>
              </a:ext>
            </a:extLst>
          </p:cNvPr>
          <p:cNvSpPr>
            <a:spLocks noGrp="1"/>
          </p:cNvSpPr>
          <p:nvPr/>
        </p:nvSpPr>
        <p:spPr>
          <a:xfrm>
            <a:off x="4543425" y="4419600"/>
            <a:ext cx="3048000" cy="7810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Свака промена која утиче на одлуку има власника, датум и јасан разлог.</a:t>
            </a:r>
          </a:p>
        </p:txBody>
      </p:sp>
      <p:sp>
        <p:nvSpPr>
          <p:cNvPr id="16" name="Rounded Rectangle 15">
            <a:extLst>
              <a:ext uri="{FF2B5EF4-FFF2-40B4-BE49-F238E27FC236}">
                <a16:creationId xmlns:a16="http://schemas.microsoft.com/office/drawing/2014/main" id="{00FF123D-8A16-4376-9049-AD9E90E52146}"/>
              </a:ext>
            </a:extLst>
          </p:cNvPr>
          <p:cNvSpPr>
            <a:spLocks noGrp="1"/>
          </p:cNvSpPr>
          <p:nvPr/>
        </p:nvSpPr>
        <p:spPr>
          <a:xfrm>
            <a:off x="8001000" y="4048125"/>
            <a:ext cx="3352800" cy="1352550"/>
          </a:xfrm>
          <a:prstGeom prst="roundRect">
            <a:avLst>
              <a:gd name="adj" fmla="val 9859"/>
            </a:avLst>
          </a:prstGeom>
          <a:solidFill>
            <a:srgbClr val="EDF8F2"/>
          </a:solidFill>
          <a:ln w="9525">
            <a:solidFill>
              <a:srgbClr val="D7DEE8"/>
            </a:solidFill>
            <a:prstDash val="solid"/>
          </a:ln>
        </p:spPr>
      </p:sp>
      <p:sp>
        <p:nvSpPr>
          <p:cNvPr id="17" name="Rectangle 16">
            <a:extLst>
              <a:ext uri="{FF2B5EF4-FFF2-40B4-BE49-F238E27FC236}">
                <a16:creationId xmlns:a16="http://schemas.microsoft.com/office/drawing/2014/main" id="{1C745BEE-3C25-4135-8A4A-5F6F487CDC54}"/>
              </a:ext>
            </a:extLst>
          </p:cNvPr>
          <p:cNvSpPr>
            <a:spLocks noGrp="1"/>
          </p:cNvSpPr>
          <p:nvPr/>
        </p:nvSpPr>
        <p:spPr>
          <a:xfrm>
            <a:off x="8153400"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a:ext uri="{FF2B5EF4-FFF2-40B4-BE49-F238E27FC236}">
                <a16:creationId xmlns:a16="http://schemas.microsoft.com/office/drawing/2014/main" id="{9E1F3BCA-91CD-4D48-BAFA-F9B9F1C784A7}"/>
              </a:ext>
            </a:extLst>
          </p:cNvPr>
          <p:cNvSpPr>
            <a:spLocks noGrp="1"/>
          </p:cNvSpPr>
          <p:nvPr/>
        </p:nvSpPr>
        <p:spPr>
          <a:xfrm>
            <a:off x="8153400" y="4419600"/>
            <a:ext cx="3048000" cy="781050"/>
          </a:xfrm>
          <a:prstGeom prst="rect">
            <a:avLst/>
          </a:prstGeom>
          <a:noFill/>
          <a:ln w="0">
            <a:noFill/>
          </a:ln>
        </p:spPr>
        <p:txBody>
          <a:bodyPr wrap="square" lIns="0" tIns="0" rIns="0" bIns="0" anchor="ctr">
            <a:normAutofit fontScale="98520"/>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Лог, метрика или тест дају доказ да систем ради према активном правилу, а не само да је правило записано.</a:t>
            </a:r>
          </a:p>
        </p:txBody>
      </p:sp>
    </p:spTree>
    <p:extLst>
      <p:ext uri="{BB962C8B-B14F-4D97-AF65-F5344CB8AC3E}">
        <p14:creationId xmlns:p14="http://schemas.microsoft.com/office/powerpoint/2010/main" val="13040334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8A9BF6A0-658F-4339-85DE-778B10EFE526}"/>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2AB86501-69C7-4D46-98E9-1EE56E96744F}"/>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C7625CE4-01BC-46EF-8C28-C91A57555CC5}"/>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a:ext uri="{FF2B5EF4-FFF2-40B4-BE49-F238E27FC236}">
                <a16:creationId xmlns:a16="http://schemas.microsoft.com/office/drawing/2014/main" id="{619C1003-BFD5-49FE-B70C-5947CBF31A05}"/>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 конфигурација и контрола имају различите улоге</a:t>
            </a:r>
          </a:p>
        </p:txBody>
      </p:sp>
      <p:sp>
        <p:nvSpPr>
          <p:cNvPr id="5" name="Rectangle 4">
            <a:extLst>
              <a:ext uri="{FF2B5EF4-FFF2-40B4-BE49-F238E27FC236}">
                <a16:creationId xmlns:a16="http://schemas.microsoft.com/office/drawing/2014/main" id="{AE7373C4-4F9F-432E-B6E2-BA1F51E699AB}"/>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Код почиње од исте леве ивице као наслов прозора и остаје читљив на пројектору.</a:t>
            </a:r>
          </a:p>
        </p:txBody>
      </p:sp>
      <p:sp>
        <p:nvSpPr>
          <p:cNvPr id="6" name="Rounded Rectangle 5">
            <a:extLst>
              <a:ext uri="{FF2B5EF4-FFF2-40B4-BE49-F238E27FC236}">
                <a16:creationId xmlns:a16="http://schemas.microsoft.com/office/drawing/2014/main" id="{8ECC46D5-DC1D-4A2F-9385-111DF3381DED}"/>
              </a:ext>
            </a:extLst>
          </p:cNvPr>
          <p:cNvSpPr>
            <a:spLocks noGrp="1"/>
          </p:cNvSpPr>
          <p:nvPr/>
        </p:nvSpPr>
        <p:spPr>
          <a:xfrm>
            <a:off x="666750" y="2095500"/>
            <a:ext cx="6858000" cy="2038350"/>
          </a:xfrm>
          <a:prstGeom prst="roundRect">
            <a:avLst>
              <a:gd name="adj" fmla="val 4712"/>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C9AEBF98-5A4B-4167-91AC-495E90BB1096}"/>
              </a:ext>
            </a:extLst>
          </p:cNvPr>
          <p:cNvSpPr>
            <a:spLocks noGrp="1"/>
          </p:cNvSpPr>
          <p:nvPr/>
        </p:nvSpPr>
        <p:spPr>
          <a:xfrm>
            <a:off x="666750" y="2438400"/>
            <a:ext cx="6858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EB210FEB-B3A4-48D2-A5AB-C3B98E501C2E}"/>
              </a:ext>
            </a:extLst>
          </p:cNvPr>
          <p:cNvSpPr>
            <a:spLocks noGrp="1"/>
          </p:cNvSpPr>
          <p:nvPr/>
        </p:nvSpPr>
        <p:spPr>
          <a:xfrm>
            <a:off x="6838950" y="221932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2B1F8D26-078A-41EA-B737-6A23D12A4A37}"/>
              </a:ext>
            </a:extLst>
          </p:cNvPr>
          <p:cNvSpPr>
            <a:spLocks noGrp="1"/>
          </p:cNvSpPr>
          <p:nvPr/>
        </p:nvSpPr>
        <p:spPr>
          <a:xfrm>
            <a:off x="7010400" y="221932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913D9F09-444C-493C-B34A-1700429F05BA}"/>
              </a:ext>
            </a:extLst>
          </p:cNvPr>
          <p:cNvSpPr>
            <a:spLocks noGrp="1"/>
          </p:cNvSpPr>
          <p:nvPr/>
        </p:nvSpPr>
        <p:spPr>
          <a:xfrm>
            <a:off x="7181850" y="221932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E226F36A-8F12-4493-B19F-7AC09DA96144}"/>
              </a:ext>
            </a:extLst>
          </p:cNvPr>
          <p:cNvSpPr>
            <a:spLocks noGrp="1"/>
          </p:cNvSpPr>
          <p:nvPr/>
        </p:nvSpPr>
        <p:spPr>
          <a:xfrm>
            <a:off x="781050" y="2571750"/>
            <a:ext cx="304800" cy="3028950"/>
          </a:xfrm>
          <a:prstGeom prst="rect">
            <a:avLst/>
          </a:prstGeom>
          <a:noFill/>
          <a:ln w="0">
            <a:noFill/>
          </a:ln>
        </p:spPr>
        <p:txBody>
          <a:bodyPr wrap="square" lIns="0" tIns="0" rIns="0" bIns="0" anchor="t">
            <a:normAutofit/>
          </a:bodyPr>
          <a:lstStyle/>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p:txBody>
      </p:sp>
      <p:sp>
        <p:nvSpPr>
          <p:cNvPr id="12" name="Rectangle 11">
            <a:extLst>
              <a:ext uri="{FF2B5EF4-FFF2-40B4-BE49-F238E27FC236}">
                <a16:creationId xmlns:a16="http://schemas.microsoft.com/office/drawing/2014/main" id="{E905558A-FFF1-45F6-A82B-FB1FB2D427C5}"/>
              </a:ext>
            </a:extLst>
          </p:cNvPr>
          <p:cNvSpPr>
            <a:spLocks noGrp="1"/>
          </p:cNvSpPr>
          <p:nvPr/>
        </p:nvSpPr>
        <p:spPr>
          <a:xfrm>
            <a:off x="1200150" y="2571750"/>
            <a:ext cx="6153150" cy="3028950"/>
          </a:xfrm>
          <a:prstGeom prst="rect">
            <a:avLst/>
          </a:prstGeom>
          <a:noFill/>
          <a:ln w="0">
            <a:noFill/>
          </a:ln>
        </p:spPr>
        <p:txBody>
          <a:bodyPr wrap="square" lIns="0" tIns="0" rIns="0" bIns="0" anchor="t">
            <a:normAutofit/>
          </a:bodyPr>
          <a:lstStyle/>
          <a:p>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Decision</a:t>
            </a:r>
            <a:r>
              <a:rPr b="0">
                <a:solidFill>
                  <a:srgbClr val="263044"/>
                </a:solidFill>
              </a:rPr>
              <a:t> </a:t>
            </a:r>
            <a:r>
              <a:rPr b="0">
                <a:solidFill>
                  <a:srgbClr val="7651D4"/>
                </a:solidFill>
              </a:rPr>
              <a:t>Evaluate</a:t>
            </a:r>
            <a:r>
              <a:rPr b="0">
                <a:solidFill>
                  <a:srgbClr val="263044"/>
                </a:solidFill>
              </a:rPr>
              <a:t>(</a:t>
            </a:r>
            <a:r>
              <a:rPr b="0">
                <a:solidFill>
                  <a:srgbClr val="7651D4"/>
                </a:solidFill>
              </a:rPr>
              <a:t>RequestContext</a:t>
            </a:r>
            <a:r>
              <a:rPr b="0">
                <a:solidFill>
                  <a:srgbClr val="263044"/>
                </a:solidFill>
              </a:rPr>
              <a:t> ctx, </a:t>
            </a:r>
            <a:r>
              <a:rPr b="0">
                <a:solidFill>
                  <a:srgbClr val="7651D4"/>
                </a:solidFill>
              </a:rPr>
              <a:t>Policy</a:t>
            </a:r>
            <a:r>
              <a:rPr b="0">
                <a:solidFill>
                  <a:srgbClr val="263044"/>
                </a:solidFill>
              </a:rPr>
              <a:t> policy)</a:t>
            </a:r>
          </a:p>
          <a:p>
            <a:pPr>
              <a:buNone/>
              <a:defRPr sz="1050">
                <a:solidFill>
                  <a:srgbClr val="263044"/>
                </a:solidFill>
                <a:latin typeface="Consolas"/>
                <a:ea typeface="Consolas"/>
                <a:cs typeface="Consolas"/>
              </a:defRPr>
            </a:pP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(!policy.</a:t>
            </a:r>
            <a:r>
              <a:rPr b="0">
                <a:solidFill>
                  <a:srgbClr val="7651D4"/>
                </a:solidFill>
              </a:rPr>
              <a:t>IsActiveAt</a:t>
            </a:r>
            <a:r>
              <a:rPr b="0">
                <a:solidFill>
                  <a:srgbClr val="263044"/>
                </a:solidFill>
              </a:rPr>
              <a:t>(ctx.</a:t>
            </a:r>
            <a:r>
              <a:rPr b="0">
                <a:solidFill>
                  <a:srgbClr val="7651D4"/>
                </a:solidFill>
              </a:rPr>
              <a:t>Now</a:t>
            </a: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"inactive"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(!policy.</a:t>
            </a:r>
            <a:r>
              <a:rPr b="0">
                <a:solidFill>
                  <a:srgbClr val="7651D4"/>
                </a:solidFill>
              </a:rPr>
              <a:t>AppliesTo</a:t>
            </a:r>
            <a:r>
              <a:rPr b="0">
                <a:solidFill>
                  <a:srgbClr val="263044"/>
                </a:solidFill>
              </a:rPr>
              <a:t>(ctx.</a:t>
            </a:r>
            <a:r>
              <a:rPr b="0">
                <a:solidFill>
                  <a:srgbClr val="7651D4"/>
                </a:solidFill>
              </a:rPr>
              <a:t>AssetType</a:t>
            </a: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NotApplicable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(ctx.</a:t>
            </a:r>
            <a:r>
              <a:rPr b="0">
                <a:solidFill>
                  <a:srgbClr val="7651D4"/>
                </a:solidFill>
              </a:rPr>
              <a:t>Config</a:t>
            </a:r>
            <a:r>
              <a:rPr b="0">
                <a:solidFill>
                  <a:srgbClr val="263044"/>
                </a:solidFill>
              </a:rPr>
              <a:t>.</a:t>
            </a:r>
            <a:r>
              <a:rPr b="0">
                <a:solidFill>
                  <a:srgbClr val="7651D4"/>
                </a:solidFill>
              </a:rPr>
              <a:t>Version</a:t>
            </a:r>
            <a:r>
              <a:rPr b="0">
                <a:solidFill>
                  <a:srgbClr val="263044"/>
                </a:solidFill>
              </a:rPr>
              <a:t> != policy.</a:t>
            </a:r>
            <a:r>
              <a:rPr b="0">
                <a:solidFill>
                  <a:srgbClr val="7651D4"/>
                </a:solidFill>
              </a:rPr>
              <a:t>RequiredBaseline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"configuration_drift"</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policy.</a:t>
            </a:r>
            <a:r>
              <a:rPr b="0">
                <a:solidFill>
                  <a:srgbClr val="7651D4"/>
                </a:solidFill>
              </a:rPr>
              <a:t>Rule</a:t>
            </a:r>
            <a:r>
              <a:rPr b="0">
                <a:solidFill>
                  <a:srgbClr val="263044"/>
                </a:solidFill>
              </a:rPr>
              <a:t>(ctx) ? </a:t>
            </a:r>
            <a:r>
              <a:rPr b="0">
                <a:solidFill>
                  <a:srgbClr val="7651D4"/>
                </a:solidFill>
              </a:rPr>
              <a:t>Decision</a:t>
            </a:r>
            <a:r>
              <a:rPr b="0">
                <a:solidFill>
                  <a:srgbClr val="263044"/>
                </a:solidFill>
              </a:rPr>
              <a:t>.</a:t>
            </a:r>
            <a:r>
              <a:rPr b="0">
                <a:solidFill>
                  <a:srgbClr val="7651D4"/>
                </a:solidFill>
              </a:rPr>
              <a:t>Allow</a:t>
            </a:r>
            <a:r>
              <a:rPr b="0">
                <a:solidFill>
                  <a:srgbClr val="263044"/>
                </a:solidFill>
              </a:rPr>
              <a:t>() :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"rule"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3779AFDA-55C0-4B08-9935-D56E55C42E4E}"/>
              </a:ext>
            </a:extLst>
          </p:cNvPr>
          <p:cNvSpPr>
            <a:spLocks noGrp="1"/>
          </p:cNvSpPr>
          <p:nvPr/>
        </p:nvSpPr>
        <p:spPr>
          <a:xfrm>
            <a:off x="7924800" y="2152650"/>
            <a:ext cx="3600450" cy="1809750"/>
          </a:xfrm>
          <a:prstGeom prst="roundRect">
            <a:avLst>
              <a:gd name="adj" fmla="val 7368"/>
            </a:avLst>
          </a:prstGeom>
          <a:solidFill>
            <a:srgbClr val="EEF3FF"/>
          </a:solidFill>
          <a:ln w="9525">
            <a:solidFill>
              <a:srgbClr val="D7DEE8"/>
            </a:solidFill>
            <a:prstDash val="solid"/>
          </a:ln>
        </p:spPr>
      </p:sp>
      <p:sp>
        <p:nvSpPr>
          <p:cNvPr id="14" name="Rectangle 13">
            <a:extLst>
              <a:ext uri="{FF2B5EF4-FFF2-40B4-BE49-F238E27FC236}">
                <a16:creationId xmlns:a16="http://schemas.microsoft.com/office/drawing/2014/main" id="{986950D1-04B0-4E53-A8DA-0C6CE08185DE}"/>
              </a:ext>
            </a:extLst>
          </p:cNvPr>
          <p:cNvSpPr>
            <a:spLocks noGrp="1"/>
          </p:cNvSpPr>
          <p:nvPr/>
        </p:nvSpPr>
        <p:spPr>
          <a:xfrm>
            <a:off x="8077200" y="22764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ШТА ЈЕ ВАЖНО</a:t>
            </a:r>
          </a:p>
        </p:txBody>
      </p:sp>
      <p:sp>
        <p:nvSpPr>
          <p:cNvPr id="15" name="Rectangle 14">
            <a:extLst>
              <a:ext uri="{FF2B5EF4-FFF2-40B4-BE49-F238E27FC236}">
                <a16:creationId xmlns:a16="http://schemas.microsoft.com/office/drawing/2014/main" id="{F410F776-AF41-4B9C-90E9-577DF3DB8AE4}"/>
              </a:ext>
            </a:extLst>
          </p:cNvPr>
          <p:cNvSpPr>
            <a:spLocks noGrp="1"/>
          </p:cNvSpPr>
          <p:nvPr/>
        </p:nvSpPr>
        <p:spPr>
          <a:xfrm>
            <a:off x="8077200" y="2524125"/>
            <a:ext cx="3295650" cy="9906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Политика изражава намеру, конфигурација конкретно стање, а контрола производи експлицитан исход.</a:t>
            </a:r>
          </a:p>
        </p:txBody>
      </p:sp>
      <p:sp>
        <p:nvSpPr>
          <p:cNvPr id="16" name="Rounded Rectangle 15">
            <a:extLst>
              <a:ext uri="{FF2B5EF4-FFF2-40B4-BE49-F238E27FC236}">
                <a16:creationId xmlns:a16="http://schemas.microsoft.com/office/drawing/2014/main" id="{5136C94B-F4A1-4609-BA76-D9D60C585B92}"/>
              </a:ext>
            </a:extLst>
          </p:cNvPr>
          <p:cNvSpPr>
            <a:spLocks noGrp="1"/>
          </p:cNvSpPr>
          <p:nvPr/>
        </p:nvSpPr>
        <p:spPr>
          <a:xfrm>
            <a:off x="7924800" y="4248150"/>
            <a:ext cx="3600450" cy="1428750"/>
          </a:xfrm>
          <a:prstGeom prst="roundRect">
            <a:avLst>
              <a:gd name="adj" fmla="val 9333"/>
            </a:avLst>
          </a:prstGeom>
          <a:solidFill>
            <a:srgbClr val="FFF6E9"/>
          </a:solidFill>
          <a:ln w="9525">
            <a:solidFill>
              <a:srgbClr val="D7DEE8"/>
            </a:solidFill>
            <a:prstDash val="solid"/>
          </a:ln>
        </p:spPr>
      </p:sp>
      <p:sp>
        <p:nvSpPr>
          <p:cNvPr id="17" name="Rectangle 16">
            <a:extLst>
              <a:ext uri="{FF2B5EF4-FFF2-40B4-BE49-F238E27FC236}">
                <a16:creationId xmlns:a16="http://schemas.microsoft.com/office/drawing/2014/main" id="{95F1661A-E67F-416E-989C-32194FA9E0DB}"/>
              </a:ext>
            </a:extLst>
          </p:cNvPr>
          <p:cNvSpPr>
            <a:spLocks noGrp="1"/>
          </p:cNvSpPr>
          <p:nvPr/>
        </p:nvSpPr>
        <p:spPr>
          <a:xfrm>
            <a:off x="8077200" y="43719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ГРАНИЦА</a:t>
            </a:r>
          </a:p>
        </p:txBody>
      </p:sp>
      <p:sp>
        <p:nvSpPr>
          <p:cNvPr id="18" name="Rectangle 17">
            <a:extLst>
              <a:ext uri="{FF2B5EF4-FFF2-40B4-BE49-F238E27FC236}">
                <a16:creationId xmlns:a16="http://schemas.microsoft.com/office/drawing/2014/main" id="{030E39FA-7362-4299-82D3-E59175ED9B4A}"/>
              </a:ext>
            </a:extLst>
          </p:cNvPr>
          <p:cNvSpPr>
            <a:spLocks noGrp="1"/>
          </p:cNvSpPr>
          <p:nvPr/>
        </p:nvSpPr>
        <p:spPr>
          <a:xfrm>
            <a:off x="8077200" y="4619625"/>
            <a:ext cx="3295650" cy="83820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2087727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694028C2-1DA0-4229-AC1B-894EE71C7672}"/>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BB6EF5D5-0544-4DBA-8F8E-9DA04CB2A469}"/>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62B1C3EF-A4B5-4DB5-B275-A1D484F08CBD}"/>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a:ext uri="{FF2B5EF4-FFF2-40B4-BE49-F238E27FC236}">
                <a16:creationId xmlns:a16="http://schemas.microsoft.com/office/drawing/2014/main" id="{D73BAC9F-6C89-4DC8-9C7C-8A3D6C410640}"/>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Drift мора бити видљив и проверљив</a:t>
            </a:r>
          </a:p>
        </p:txBody>
      </p:sp>
      <p:sp>
        <p:nvSpPr>
          <p:cNvPr id="5" name="Rectangle 4">
            <a:extLst>
              <a:ext uri="{FF2B5EF4-FFF2-40B4-BE49-F238E27FC236}">
                <a16:creationId xmlns:a16="http://schemas.microsoft.com/office/drawing/2014/main" id="{916F824F-2E9A-471D-BF9A-5CE4D38F7F08}"/>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Негативан тест није споредан случај — он описује где право престаје.</a:t>
            </a:r>
          </a:p>
        </p:txBody>
      </p:sp>
      <p:sp>
        <p:nvSpPr>
          <p:cNvPr id="6" name="Rounded Rectangle 5">
            <a:extLst>
              <a:ext uri="{FF2B5EF4-FFF2-40B4-BE49-F238E27FC236}">
                <a16:creationId xmlns:a16="http://schemas.microsoft.com/office/drawing/2014/main" id="{B2340762-20F7-472D-AA78-CBE27B9AB92D}"/>
              </a:ext>
            </a:extLst>
          </p:cNvPr>
          <p:cNvSpPr>
            <a:spLocks noGrp="1"/>
          </p:cNvSpPr>
          <p:nvPr/>
        </p:nvSpPr>
        <p:spPr>
          <a:xfrm>
            <a:off x="666750" y="2095500"/>
            <a:ext cx="6858000" cy="2486025"/>
          </a:xfrm>
          <a:prstGeom prst="roundRect">
            <a:avLst>
              <a:gd name="adj" fmla="val 4712"/>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0D39F3E0-85BD-45DE-857D-A5B38AEB3163}"/>
              </a:ext>
            </a:extLst>
          </p:cNvPr>
          <p:cNvSpPr>
            <a:spLocks noGrp="1"/>
          </p:cNvSpPr>
          <p:nvPr/>
        </p:nvSpPr>
        <p:spPr>
          <a:xfrm>
            <a:off x="666750" y="2438400"/>
            <a:ext cx="6858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8B7235B9-B076-4721-A90B-CA6AE70C76FE}"/>
              </a:ext>
            </a:extLst>
          </p:cNvPr>
          <p:cNvSpPr>
            <a:spLocks noGrp="1"/>
          </p:cNvSpPr>
          <p:nvPr/>
        </p:nvSpPr>
        <p:spPr>
          <a:xfrm>
            <a:off x="6838950" y="221932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EAC06C18-7D1E-4DC2-9B9D-6281C36AAD35}"/>
              </a:ext>
            </a:extLst>
          </p:cNvPr>
          <p:cNvSpPr>
            <a:spLocks noGrp="1"/>
          </p:cNvSpPr>
          <p:nvPr/>
        </p:nvSpPr>
        <p:spPr>
          <a:xfrm>
            <a:off x="7010400" y="221932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88D7EA51-8251-42FA-B1BD-ECFD4C7E0F6D}"/>
              </a:ext>
            </a:extLst>
          </p:cNvPr>
          <p:cNvSpPr>
            <a:spLocks noGrp="1"/>
          </p:cNvSpPr>
          <p:nvPr/>
        </p:nvSpPr>
        <p:spPr>
          <a:xfrm>
            <a:off x="7181850" y="221932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6C5E8EE4-AFFD-4F44-8A72-2F2FC914238E}"/>
              </a:ext>
            </a:extLst>
          </p:cNvPr>
          <p:cNvSpPr>
            <a:spLocks noGrp="1"/>
          </p:cNvSpPr>
          <p:nvPr/>
        </p:nvSpPr>
        <p:spPr>
          <a:xfrm>
            <a:off x="781050" y="2571750"/>
            <a:ext cx="304800" cy="3028950"/>
          </a:xfrm>
          <a:prstGeom prst="rect">
            <a:avLst/>
          </a:prstGeom>
          <a:noFill/>
          <a:ln w="0">
            <a:noFill/>
          </a:ln>
        </p:spPr>
        <p:txBody>
          <a:bodyPr wrap="square" lIns="0" tIns="0" rIns="0" bIns="0" anchor="t">
            <a:normAutofit/>
          </a:bodyPr>
          <a:lstStyle/>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11</a:t>
            </a:r>
          </a:p>
        </p:txBody>
      </p:sp>
      <p:sp>
        <p:nvSpPr>
          <p:cNvPr id="12" name="Rectangle 11">
            <a:extLst>
              <a:ext uri="{FF2B5EF4-FFF2-40B4-BE49-F238E27FC236}">
                <a16:creationId xmlns:a16="http://schemas.microsoft.com/office/drawing/2014/main" id="{A89EF430-4A2F-43A8-A0E8-8196FAC0E436}"/>
              </a:ext>
            </a:extLst>
          </p:cNvPr>
          <p:cNvSpPr>
            <a:spLocks noGrp="1"/>
          </p:cNvSpPr>
          <p:nvPr/>
        </p:nvSpPr>
        <p:spPr>
          <a:xfrm>
            <a:off x="1200150" y="2571750"/>
            <a:ext cx="6153150" cy="3028950"/>
          </a:xfrm>
          <a:prstGeom prst="rect">
            <a:avLst/>
          </a:prstGeom>
          <a:noFill/>
          <a:ln w="0">
            <a:noFill/>
          </a:ln>
        </p:spPr>
        <p:txBody>
          <a:bodyPr wrap="square" lIns="0" tIns="0" rIns="0" bIns="0" anchor="t">
            <a:normAutofit/>
          </a:bodyPr>
          <a:lstStyle/>
          <a:p>
            <a:pPr>
              <a:buNone/>
              <a:defRPr sz="1050">
                <a:solidFill>
                  <a:srgbClr val="263044"/>
                </a:solidFill>
                <a:latin typeface="Consolas"/>
                <a:ea typeface="Consolas"/>
                <a:cs typeface="Consolas"/>
              </a:defRPr>
            </a:pPr>
            <a:r>
              <a:rPr b="0">
                <a:solidFill>
                  <a:srgbClr val="263044"/>
                </a:solidFill>
              </a:rPr>
              <a:t>[</a:t>
            </a:r>
            <a:r>
              <a:rPr b="0">
                <a:solidFill>
                  <a:srgbClr val="7651D4"/>
                </a:solidFill>
              </a:rPr>
              <a:t>Fact</a:t>
            </a:r>
            <a:r>
              <a:rPr b="0">
                <a:solidFill>
                  <a:srgbClr val="263044"/>
                </a:solidFill>
              </a:rPr>
              <a:t>]</a:t>
            </a:r>
          </a:p>
          <a:p>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Drift_from_required_baseline_is_visible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ctx = </a:t>
            </a:r>
            <a:r>
              <a:rPr b="0">
                <a:solidFill>
                  <a:srgbClr val="7651D4"/>
                </a:solidFill>
              </a:rPr>
              <a:t>Context</a:t>
            </a:r>
            <a:r>
              <a:rPr b="0">
                <a:solidFill>
                  <a:srgbClr val="263044"/>
                </a:solidFill>
              </a:rPr>
              <a:t>.</a:t>
            </a:r>
            <a:r>
              <a:rPr b="0">
                <a:solidFill>
                  <a:srgbClr val="7651D4"/>
                </a:solidFill>
              </a:rPr>
              <a:t>WithBaseline</a:t>
            </a:r>
            <a:r>
              <a:rPr b="0">
                <a:solidFill>
                  <a:srgbClr val="263044"/>
                </a:solidFill>
              </a:rPr>
              <a:t>(</a:t>
            </a:r>
            <a:r>
              <a:rPr b="0">
                <a:solidFill>
                  <a:srgbClr val="B45309"/>
                </a:solidFill>
              </a:rPr>
              <a:t>"api-v3"</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policy = </a:t>
            </a:r>
            <a:r>
              <a:rPr b="0">
                <a:solidFill>
                  <a:srgbClr val="7651D4"/>
                </a:solidFill>
              </a:rPr>
              <a:t>Policy</a:t>
            </a:r>
            <a:r>
              <a:rPr b="0">
                <a:solidFill>
                  <a:srgbClr val="263044"/>
                </a:solidFill>
              </a:rPr>
              <a:t>.</a:t>
            </a:r>
            <a:r>
              <a:rPr b="0">
                <a:solidFill>
                  <a:srgbClr val="7651D4"/>
                </a:solidFill>
              </a:rPr>
              <a:t>RequiresBaseline</a:t>
            </a:r>
            <a:r>
              <a:rPr b="0">
                <a:solidFill>
                  <a:srgbClr val="263044"/>
                </a:solidFill>
              </a:rPr>
              <a:t>(</a:t>
            </a:r>
            <a:r>
              <a:rPr b="0">
                <a:solidFill>
                  <a:srgbClr val="B45309"/>
                </a:solidFill>
              </a:rPr>
              <a:t>"api-v4"</a:t>
            </a:r>
            <a:r>
              <a:rPr b="0">
                <a:solidFill>
                  <a:srgbClr val="263044"/>
                </a:solidFill>
              </a:rPr>
              <a:t>);</a:t>
            </a:r>
          </a:p>
          <a:p>
            <a:pPr>
              <a:buNone/>
              <a:defRPr sz="1050">
                <a:solidFill>
                  <a:srgbClr val="263044"/>
                </a:solidFill>
                <a:latin typeface="Consolas"/>
                <a:ea typeface="Consolas"/>
                <a:cs typeface="Consolas"/>
              </a:defRPr>
            </a:pPr>
            <a:endParaRPr b="0">
              <a:solidFill>
                <a:srgbClr val="263044"/>
              </a:solidFill>
            </a:endParaRP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result = evaluator.</a:t>
            </a:r>
            <a:r>
              <a:rPr b="0">
                <a:solidFill>
                  <a:srgbClr val="7651D4"/>
                </a:solidFill>
              </a:rPr>
              <a:t>Evaluate</a:t>
            </a:r>
            <a:r>
              <a:rPr b="0">
                <a:solidFill>
                  <a:srgbClr val="263044"/>
                </a:solidFill>
              </a:rPr>
              <a:t>(ctx, policy);</a:t>
            </a:r>
          </a:p>
          <a:p>
            <a:pPr>
              <a:buNone/>
              <a:defRPr sz="1050">
                <a:solidFill>
                  <a:srgbClr val="263044"/>
                </a:solidFill>
                <a:latin typeface="Consolas"/>
                <a:ea typeface="Consolas"/>
                <a:cs typeface="Consolas"/>
              </a:defRPr>
            </a:pPr>
            <a:endParaRPr b="0">
              <a:solidFill>
                <a:srgbClr val="263044"/>
              </a:solidFill>
            </a:endParaRPr>
          </a:p>
          <a:p>
            <a:pPr>
              <a:buNone/>
              <a:defRPr sz="1050">
                <a:solidFill>
                  <a:srgbClr val="263044"/>
                </a:solidFill>
                <a:latin typeface="Consolas"/>
                <a:ea typeface="Consolas"/>
                <a:cs typeface="Consolas"/>
              </a:defRPr>
            </a:pPr>
            <a:r>
              <a:rPr b="0">
                <a:solidFill>
                  <a:srgbClr val="263044"/>
                </a:solidFill>
              </a:rPr>
              <a:t>    result.</a:t>
            </a:r>
            <a:r>
              <a:rPr b="0">
                <a:solidFill>
                  <a:srgbClr val="7651D4"/>
                </a:solidFill>
              </a:rPr>
              <a:t>Reason</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45309"/>
                </a:solidFill>
              </a:rPr>
              <a:t>"configuration_drift"</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metrics.</a:t>
            </a:r>
            <a:r>
              <a:rPr b="0">
                <a:solidFill>
                  <a:srgbClr val="7651D4"/>
                </a:solidFill>
              </a:rPr>
              <a:t>DriftDetected</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86A09"/>
                </a:solidFill>
              </a:rPr>
              <a:t>1</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6BF8A700-C4A4-4226-AE8B-46857542193B}"/>
              </a:ext>
            </a:extLst>
          </p:cNvPr>
          <p:cNvSpPr>
            <a:spLocks noGrp="1"/>
          </p:cNvSpPr>
          <p:nvPr/>
        </p:nvSpPr>
        <p:spPr>
          <a:xfrm>
            <a:off x="7924800" y="2152650"/>
            <a:ext cx="3600450" cy="1809750"/>
          </a:xfrm>
          <a:prstGeom prst="roundRect">
            <a:avLst>
              <a:gd name="adj" fmla="val 7368"/>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40E6264E-FE64-4DD5-A9EC-EC5DA8DB2D32}"/>
              </a:ext>
            </a:extLst>
          </p:cNvPr>
          <p:cNvSpPr>
            <a:spLocks noGrp="1"/>
          </p:cNvSpPr>
          <p:nvPr/>
        </p:nvSpPr>
        <p:spPr>
          <a:xfrm>
            <a:off x="8077200" y="22764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a:ext uri="{FF2B5EF4-FFF2-40B4-BE49-F238E27FC236}">
                <a16:creationId xmlns:a16="http://schemas.microsoft.com/office/drawing/2014/main" id="{5D401BFC-1403-4B52-A9E7-6D656C96BFFF}"/>
              </a:ext>
            </a:extLst>
          </p:cNvPr>
          <p:cNvSpPr>
            <a:spLocks noGrp="1"/>
          </p:cNvSpPr>
          <p:nvPr/>
        </p:nvSpPr>
        <p:spPr>
          <a:xfrm>
            <a:off x="8077200" y="2524125"/>
            <a:ext cx="3295650" cy="10287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Тест не проверава само вредност, већ и разлог одбијања и сигнал који ће неко приметити.</a:t>
            </a:r>
          </a:p>
        </p:txBody>
      </p:sp>
      <p:sp>
        <p:nvSpPr>
          <p:cNvPr id="16" name="Rounded Rectangle 15">
            <a:extLst>
              <a:ext uri="{FF2B5EF4-FFF2-40B4-BE49-F238E27FC236}">
                <a16:creationId xmlns:a16="http://schemas.microsoft.com/office/drawing/2014/main" id="{5ACBEF02-F2BC-4804-A945-75B2FDBDCFCD}"/>
              </a:ext>
            </a:extLst>
          </p:cNvPr>
          <p:cNvSpPr>
            <a:spLocks noGrp="1"/>
          </p:cNvSpPr>
          <p:nvPr/>
        </p:nvSpPr>
        <p:spPr>
          <a:xfrm>
            <a:off x="7924800" y="4248150"/>
            <a:ext cx="3600450" cy="1428750"/>
          </a:xfrm>
          <a:prstGeom prst="roundRect">
            <a:avLst>
              <a:gd name="adj" fmla="val 9333"/>
            </a:avLst>
          </a:prstGeom>
          <a:solidFill>
            <a:srgbClr val="F5F0FF"/>
          </a:solidFill>
          <a:ln w="9525">
            <a:solidFill>
              <a:srgbClr val="D7DEE8"/>
            </a:solidFill>
            <a:prstDash val="solid"/>
          </a:ln>
        </p:spPr>
      </p:sp>
      <p:sp>
        <p:nvSpPr>
          <p:cNvPr id="17" name="Rectangle 16">
            <a:extLst>
              <a:ext uri="{FF2B5EF4-FFF2-40B4-BE49-F238E27FC236}">
                <a16:creationId xmlns:a16="http://schemas.microsoft.com/office/drawing/2014/main" id="{2B8853E4-7FFC-4291-B023-985B7382079B}"/>
              </a:ext>
            </a:extLst>
          </p:cNvPr>
          <p:cNvSpPr>
            <a:spLocks noGrp="1"/>
          </p:cNvSpPr>
          <p:nvPr/>
        </p:nvSpPr>
        <p:spPr>
          <a:xfrm>
            <a:off x="8077200" y="43719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ПРОВЕРА</a:t>
            </a:r>
          </a:p>
        </p:txBody>
      </p:sp>
      <p:sp>
        <p:nvSpPr>
          <p:cNvPr id="18" name="Rectangle 17">
            <a:extLst>
              <a:ext uri="{FF2B5EF4-FFF2-40B4-BE49-F238E27FC236}">
                <a16:creationId xmlns:a16="http://schemas.microsoft.com/office/drawing/2014/main" id="{E9448E46-BD66-4615-BB6C-7E8089B1B854}"/>
              </a:ext>
            </a:extLst>
          </p:cNvPr>
          <p:cNvSpPr>
            <a:spLocks noGrp="1"/>
          </p:cNvSpPr>
          <p:nvPr/>
        </p:nvSpPr>
        <p:spPr>
          <a:xfrm>
            <a:off x="8077200" y="4619625"/>
            <a:ext cx="3295650" cy="83820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Промените једну чињеницу и очекујте јасан, стабилан разлог одбијања.</a:t>
            </a:r>
          </a:p>
        </p:txBody>
      </p:sp>
    </p:spTree>
    <p:extLst>
      <p:ext uri="{BB962C8B-B14F-4D97-AF65-F5344CB8AC3E}">
        <p14:creationId xmlns:p14="http://schemas.microsoft.com/office/powerpoint/2010/main" val="1972063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57CCDEEE-152C-46A5-B44D-6DFDEF54BE59}"/>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3DB0FFE4-EA96-4377-9BB9-B03B2FC2E1BC}"/>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E6E118C9-4EA9-49B4-84B6-AAD5210EFF75}"/>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a:ext uri="{FF2B5EF4-FFF2-40B4-BE49-F238E27FC236}">
                <a16:creationId xmlns:a16="http://schemas.microsoft.com/office/drawing/2014/main" id="{67B5615B-1411-4E62-BBE9-AC86AB8B5ADD}"/>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Доказ мора да одговори шта се догодило</a:t>
            </a:r>
          </a:p>
        </p:txBody>
      </p:sp>
      <p:sp>
        <p:nvSpPr>
          <p:cNvPr id="5" name="Rectangle 4">
            <a:extLst>
              <a:ext uri="{FF2B5EF4-FFF2-40B4-BE49-F238E27FC236}">
                <a16:creationId xmlns:a16="http://schemas.microsoft.com/office/drawing/2014/main" id="{3BDB1292-8D71-46A1-B70D-F475ECD31BEF}"/>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Чува се довољно контекста за реконструкцију, али не и тајне или непотребни лични подаци.</a:t>
            </a:r>
          </a:p>
        </p:txBody>
      </p:sp>
      <p:sp>
        <p:nvSpPr>
          <p:cNvPr id="6" name="Rounded Rectangle 5">
            <a:extLst>
              <a:ext uri="{FF2B5EF4-FFF2-40B4-BE49-F238E27FC236}">
                <a16:creationId xmlns:a16="http://schemas.microsoft.com/office/drawing/2014/main" id="{D78D789C-459F-41AF-A4F0-B7B5EE1B4DB4}"/>
              </a:ext>
            </a:extLst>
          </p:cNvPr>
          <p:cNvSpPr>
            <a:spLocks noGrp="1"/>
          </p:cNvSpPr>
          <p:nvPr/>
        </p:nvSpPr>
        <p:spPr>
          <a:xfrm>
            <a:off x="857250" y="2152650"/>
            <a:ext cx="5334000" cy="3143250"/>
          </a:xfrm>
          <a:prstGeom prst="roundRect">
            <a:avLst>
              <a:gd name="adj" fmla="val 5455"/>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2C4E965B-EE31-4E62-A2D6-5C1A93260292}"/>
              </a:ext>
            </a:extLst>
          </p:cNvPr>
          <p:cNvSpPr>
            <a:spLocks noGrp="1"/>
          </p:cNvSpPr>
          <p:nvPr/>
        </p:nvSpPr>
        <p:spPr>
          <a:xfrm>
            <a:off x="857250" y="2495550"/>
            <a:ext cx="5334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61F11A1C-5FA4-40B0-A881-3E5298EF94F8}"/>
              </a:ext>
            </a:extLst>
          </p:cNvPr>
          <p:cNvSpPr>
            <a:spLocks noGrp="1"/>
          </p:cNvSpPr>
          <p:nvPr/>
        </p:nvSpPr>
        <p:spPr>
          <a:xfrm>
            <a:off x="5505450" y="227647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7ACEB41D-464B-47F8-A2C5-A11ECB0CE32C}"/>
              </a:ext>
            </a:extLst>
          </p:cNvPr>
          <p:cNvSpPr>
            <a:spLocks noGrp="1"/>
          </p:cNvSpPr>
          <p:nvPr/>
        </p:nvSpPr>
        <p:spPr>
          <a:xfrm>
            <a:off x="5676900" y="227647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74D46BD8-222E-4321-92FC-1AD77C9CCB70}"/>
              </a:ext>
            </a:extLst>
          </p:cNvPr>
          <p:cNvSpPr>
            <a:spLocks noGrp="1"/>
          </p:cNvSpPr>
          <p:nvPr/>
        </p:nvSpPr>
        <p:spPr>
          <a:xfrm>
            <a:off x="5848350" y="227647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CF2CD09E-C0F4-4BFE-BE33-0413562E7AEA}"/>
              </a:ext>
            </a:extLst>
          </p:cNvPr>
          <p:cNvSpPr>
            <a:spLocks noGrp="1"/>
          </p:cNvSpPr>
          <p:nvPr/>
        </p:nvSpPr>
        <p:spPr>
          <a:xfrm>
            <a:off x="971550" y="2628900"/>
            <a:ext cx="304800" cy="2533650"/>
          </a:xfrm>
          <a:prstGeom prst="rect">
            <a:avLst/>
          </a:prstGeom>
          <a:noFill/>
          <a:ln w="0">
            <a:noFill/>
          </a:ln>
        </p:spPr>
        <p:txBody>
          <a:bodyPr wrap="square" lIns="0" tIns="0" rIns="0" bIns="0" anchor="t">
            <a:normAutofit/>
          </a:bodyPr>
          <a:lstStyle/>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a:ext uri="{FF2B5EF4-FFF2-40B4-BE49-F238E27FC236}">
                <a16:creationId xmlns:a16="http://schemas.microsoft.com/office/drawing/2014/main" id="{5F056B0C-AAA3-44EB-AE98-449F41AFFB4A}"/>
              </a:ext>
            </a:extLst>
          </p:cNvPr>
          <p:cNvSpPr>
            <a:spLocks noGrp="1"/>
          </p:cNvSpPr>
          <p:nvPr/>
        </p:nvSpPr>
        <p:spPr>
          <a:xfrm>
            <a:off x="1390650" y="2628900"/>
            <a:ext cx="4629150" cy="2533650"/>
          </a:xfrm>
          <a:prstGeom prst="rect">
            <a:avLst/>
          </a:prstGeom>
          <a:noFill/>
          <a:ln w="0">
            <a:noFill/>
          </a:ln>
        </p:spPr>
        <p:txBody>
          <a:bodyPr wrap="square" lIns="0" tIns="0" rIns="0" bIns="0" anchor="t">
            <a:normAutofit/>
          </a:bodyPr>
          <a:lstStyle/>
          <a:p>
            <a:pPr>
              <a:buNone/>
              <a:defRPr sz="1125">
                <a:solidFill>
                  <a:srgbClr val="263044"/>
                </a:solidFill>
                <a:latin typeface="Consolas"/>
                <a:ea typeface="Consolas"/>
                <a:cs typeface="Consolas"/>
              </a:defRPr>
            </a:pP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"policyId"</a:t>
            </a:r>
            <a:r>
              <a:rPr b="0">
                <a:solidFill>
                  <a:srgbClr val="263044"/>
                </a:solidFill>
              </a:rPr>
              <a:t>: </a:t>
            </a:r>
            <a:r>
              <a:rPr b="0">
                <a:solidFill>
                  <a:srgbClr val="B45309"/>
                </a:solidFill>
              </a:rPr>
              <a:t>"data-export"</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"version"</a:t>
            </a:r>
            <a:r>
              <a:rPr b="0">
                <a:solidFill>
                  <a:srgbClr val="263044"/>
                </a:solidFill>
              </a:rPr>
              <a:t>: </a:t>
            </a:r>
            <a:r>
              <a:rPr b="0">
                <a:solidFill>
                  <a:srgbClr val="B86A09"/>
                </a:solidFill>
              </a:rPr>
              <a:t>4</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"validFrom"</a:t>
            </a:r>
            <a:r>
              <a:rPr b="0">
                <a:solidFill>
                  <a:srgbClr val="263044"/>
                </a:solidFill>
              </a:rPr>
              <a:t>: </a:t>
            </a:r>
            <a:r>
              <a:rPr b="0">
                <a:solidFill>
                  <a:srgbClr val="B45309"/>
                </a:solidFill>
              </a:rPr>
              <a:t>"2026-10-01"</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"baseline"</a:t>
            </a:r>
            <a:r>
              <a:rPr b="0">
                <a:solidFill>
                  <a:srgbClr val="263044"/>
                </a:solidFill>
              </a:rPr>
              <a:t>: </a:t>
            </a:r>
            <a:r>
              <a:rPr b="0">
                <a:solidFill>
                  <a:srgbClr val="B45309"/>
                </a:solidFill>
              </a:rPr>
              <a:t>"api-v4"</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"decision"</a:t>
            </a:r>
            <a:r>
              <a:rPr b="0">
                <a:solidFill>
                  <a:srgbClr val="263044"/>
                </a:solidFill>
              </a:rPr>
              <a:t>: </a:t>
            </a:r>
            <a:r>
              <a:rPr b="0">
                <a:solidFill>
                  <a:srgbClr val="B45309"/>
                </a:solidFill>
              </a:rPr>
              <a:t>"denied"</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"reason"</a:t>
            </a:r>
            <a:r>
              <a:rPr b="0">
                <a:solidFill>
                  <a:srgbClr val="263044"/>
                </a:solidFill>
              </a:rPr>
              <a:t>: </a:t>
            </a:r>
            <a:r>
              <a:rPr b="0">
                <a:solidFill>
                  <a:srgbClr val="B45309"/>
                </a:solidFill>
              </a:rPr>
              <a:t>"configuration_drift"</a:t>
            </a:r>
          </a:p>
          <a:p>
            <a:pPr>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72F0D944-BF9D-41D9-A5CD-BA7469E7BF24}"/>
              </a:ext>
            </a:extLst>
          </p:cNvPr>
          <p:cNvSpPr>
            <a:spLocks noGrp="1"/>
          </p:cNvSpPr>
          <p:nvPr/>
        </p:nvSpPr>
        <p:spPr>
          <a:xfrm>
            <a:off x="6648450" y="2152650"/>
            <a:ext cx="4591050" cy="1352550"/>
          </a:xfrm>
          <a:prstGeom prst="roundRect">
            <a:avLst>
              <a:gd name="adj" fmla="val 9859"/>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E3700E6E-40A6-44AC-B46C-833F657739A3}"/>
              </a:ext>
            </a:extLst>
          </p:cNvPr>
          <p:cNvSpPr>
            <a:spLocks noGrp="1"/>
          </p:cNvSpPr>
          <p:nvPr/>
        </p:nvSpPr>
        <p:spPr>
          <a:xfrm>
            <a:off x="6800850" y="2276475"/>
            <a:ext cx="4286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a:ext uri="{FF2B5EF4-FFF2-40B4-BE49-F238E27FC236}">
                <a16:creationId xmlns:a16="http://schemas.microsoft.com/office/drawing/2014/main" id="{86A98582-06D7-4A52-A9C3-202E82FAA446}"/>
              </a:ext>
            </a:extLst>
          </p:cNvPr>
          <p:cNvSpPr>
            <a:spLocks noGrp="1"/>
          </p:cNvSpPr>
          <p:nvPr/>
        </p:nvSpPr>
        <p:spPr>
          <a:xfrm>
            <a:off x="6800850" y="2524125"/>
            <a:ext cx="4286250" cy="342900"/>
          </a:xfrm>
          <a:prstGeom prst="rect">
            <a:avLst/>
          </a:prstGeom>
          <a:noFill/>
          <a:ln w="0">
            <a:noFill/>
          </a:ln>
        </p:spPr>
        <p:txBody>
          <a:bodyPr wrap="square" lIns="0" tIns="0" rIns="0" bIns="0" anchor="ctr">
            <a:normAutofit/>
          </a:bodyPr>
          <a:lstStyle/>
          <a:p>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a:ext uri="{FF2B5EF4-FFF2-40B4-BE49-F238E27FC236}">
                <a16:creationId xmlns:a16="http://schemas.microsoft.com/office/drawing/2014/main" id="{50ECC50E-AD70-4C8F-952C-248F629AF080}"/>
              </a:ext>
            </a:extLst>
          </p:cNvPr>
          <p:cNvSpPr>
            <a:spLocks noGrp="1"/>
          </p:cNvSpPr>
          <p:nvPr/>
        </p:nvSpPr>
        <p:spPr>
          <a:xfrm>
            <a:off x="6800850" y="2933700"/>
            <a:ext cx="4286250" cy="4667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a:ext uri="{FF2B5EF4-FFF2-40B4-BE49-F238E27FC236}">
                <a16:creationId xmlns:a16="http://schemas.microsoft.com/office/drawing/2014/main" id="{1C040AAC-234C-4E9A-BF2B-5D6A6A8D5C98}"/>
              </a:ext>
            </a:extLst>
          </p:cNvPr>
          <p:cNvSpPr>
            <a:spLocks noGrp="1"/>
          </p:cNvSpPr>
          <p:nvPr/>
        </p:nvSpPr>
        <p:spPr>
          <a:xfrm>
            <a:off x="6648450" y="3867150"/>
            <a:ext cx="4591050" cy="1428750"/>
          </a:xfrm>
          <a:prstGeom prst="roundRect">
            <a:avLst>
              <a:gd name="adj" fmla="val 9333"/>
            </a:avLst>
          </a:prstGeom>
          <a:solidFill>
            <a:srgbClr val="FFF0F0"/>
          </a:solidFill>
          <a:ln w="9525">
            <a:solidFill>
              <a:srgbClr val="D7DEE8"/>
            </a:solidFill>
            <a:prstDash val="solid"/>
          </a:ln>
        </p:spPr>
      </p:sp>
      <p:sp>
        <p:nvSpPr>
          <p:cNvPr id="18" name="Rectangle 17">
            <a:extLst>
              <a:ext uri="{FF2B5EF4-FFF2-40B4-BE49-F238E27FC236}">
                <a16:creationId xmlns:a16="http://schemas.microsoft.com/office/drawing/2014/main" id="{348FBF02-D673-4A8B-B80E-550C9FA0CAFC}"/>
              </a:ext>
            </a:extLst>
          </p:cNvPr>
          <p:cNvSpPr>
            <a:spLocks noGrp="1"/>
          </p:cNvSpPr>
          <p:nvPr/>
        </p:nvSpPr>
        <p:spPr>
          <a:xfrm>
            <a:off x="6800850" y="3990975"/>
            <a:ext cx="42862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a:ext uri="{FF2B5EF4-FFF2-40B4-BE49-F238E27FC236}">
                <a16:creationId xmlns:a16="http://schemas.microsoft.com/office/drawing/2014/main" id="{364E359E-FBEE-4DBA-8322-DD02194E9556}"/>
              </a:ext>
            </a:extLst>
          </p:cNvPr>
          <p:cNvSpPr>
            <a:spLocks noGrp="1"/>
          </p:cNvSpPr>
          <p:nvPr/>
        </p:nvSpPr>
        <p:spPr>
          <a:xfrm>
            <a:off x="6800850" y="4238625"/>
            <a:ext cx="4286250" cy="3429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a:ext uri="{FF2B5EF4-FFF2-40B4-BE49-F238E27FC236}">
                <a16:creationId xmlns:a16="http://schemas.microsoft.com/office/drawing/2014/main" id="{07CEC5D9-644F-4475-A46B-63BE1C73C599}"/>
              </a:ext>
            </a:extLst>
          </p:cNvPr>
          <p:cNvSpPr>
            <a:spLocks noGrp="1"/>
          </p:cNvSpPr>
          <p:nvPr/>
        </p:nvSpPr>
        <p:spPr>
          <a:xfrm>
            <a:off x="6800850" y="4648200"/>
            <a:ext cx="4286250" cy="5429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6162224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107ECE1-7731-4B6B-A068-FA09352AA2E4}"/>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A0C50FB1-4557-44D4-8F28-AD88D265D234}"/>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568B6353-4455-4D77-82B3-0F1D1A89EF5A}"/>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a:ext uri="{FF2B5EF4-FFF2-40B4-BE49-F238E27FC236}">
                <a16:creationId xmlns:a16="http://schemas.microsoft.com/office/drawing/2014/main" id="{AB090FC5-2EF0-4E3B-9E2A-9D381F4AB1C4}"/>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Три грешке које треба препознати одмах</a:t>
            </a:r>
          </a:p>
        </p:txBody>
      </p:sp>
      <p:sp>
        <p:nvSpPr>
          <p:cNvPr id="5" name="Rectangle 4">
            <a:extLst>
              <a:ext uri="{FF2B5EF4-FFF2-40B4-BE49-F238E27FC236}">
                <a16:creationId xmlns:a16="http://schemas.microsoft.com/office/drawing/2014/main" id="{6A68928E-D3B2-4264-9E2D-397FB3833A5B}"/>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Свака делује практично у првој итерацији, али касније постаје скривена безбедносна граница.</a:t>
            </a:r>
          </a:p>
        </p:txBody>
      </p:sp>
      <p:sp>
        <p:nvSpPr>
          <p:cNvPr id="6" name="Rounded Rectangle 5">
            <a:extLst>
              <a:ext uri="{FF2B5EF4-FFF2-40B4-BE49-F238E27FC236}">
                <a16:creationId xmlns:a16="http://schemas.microsoft.com/office/drawing/2014/main" id="{813EB9D2-66B4-45F5-8E2B-496659059B5B}"/>
              </a:ext>
            </a:extLst>
          </p:cNvPr>
          <p:cNvSpPr>
            <a:spLocks noGrp="1"/>
          </p:cNvSpPr>
          <p:nvPr/>
        </p:nvSpPr>
        <p:spPr>
          <a:xfrm>
            <a:off x="819150" y="2381250"/>
            <a:ext cx="3257550" cy="2381250"/>
          </a:xfrm>
          <a:prstGeom prst="roundRect">
            <a:avLst>
              <a:gd name="adj" fmla="val 5600"/>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7FDE7924-AD7C-4F00-A635-E30DAED1A2D6}"/>
              </a:ext>
            </a:extLst>
          </p:cNvPr>
          <p:cNvSpPr>
            <a:spLocks noGrp="1"/>
          </p:cNvSpPr>
          <p:nvPr/>
        </p:nvSpPr>
        <p:spPr>
          <a:xfrm>
            <a:off x="971550"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a:ext uri="{FF2B5EF4-FFF2-40B4-BE49-F238E27FC236}">
                <a16:creationId xmlns:a16="http://schemas.microsoft.com/office/drawing/2014/main" id="{D274EE6D-3061-4927-80E8-C9D62BB5F339}"/>
              </a:ext>
            </a:extLst>
          </p:cNvPr>
          <p:cNvSpPr>
            <a:spLocks noGrp="1"/>
          </p:cNvSpPr>
          <p:nvPr/>
        </p:nvSpPr>
        <p:spPr>
          <a:xfrm>
            <a:off x="971550"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Уређивање објављене политике на месту без историје.</a:t>
            </a:r>
          </a:p>
        </p:txBody>
      </p:sp>
      <p:sp>
        <p:nvSpPr>
          <p:cNvPr id="9" name="Rectangle 8">
            <a:extLst>
              <a:ext uri="{FF2B5EF4-FFF2-40B4-BE49-F238E27FC236}">
                <a16:creationId xmlns:a16="http://schemas.microsoft.com/office/drawing/2014/main" id="{A6A71F7A-00F4-4AFD-8322-6032014AC5DA}"/>
              </a:ext>
            </a:extLst>
          </p:cNvPr>
          <p:cNvSpPr>
            <a:spLocks noGrp="1"/>
          </p:cNvSpPr>
          <p:nvPr/>
        </p:nvSpPr>
        <p:spPr>
          <a:xfrm>
            <a:off x="971550"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a:ext uri="{FF2B5EF4-FFF2-40B4-BE49-F238E27FC236}">
                <a16:creationId xmlns:a16="http://schemas.microsoft.com/office/drawing/2014/main" id="{3B68FEE0-141E-4AFE-A9A8-CD975FD75FEA}"/>
              </a:ext>
            </a:extLst>
          </p:cNvPr>
          <p:cNvSpPr>
            <a:spLocks noGrp="1"/>
          </p:cNvSpPr>
          <p:nvPr/>
        </p:nvSpPr>
        <p:spPr>
          <a:xfrm>
            <a:off x="4467225" y="2381250"/>
            <a:ext cx="3257550" cy="2381250"/>
          </a:xfrm>
          <a:prstGeom prst="roundRect">
            <a:avLst>
              <a:gd name="adj" fmla="val 5600"/>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04D0DC0D-B0E7-426A-A835-46705217DBD6}"/>
              </a:ext>
            </a:extLst>
          </p:cNvPr>
          <p:cNvSpPr>
            <a:spLocks noGrp="1"/>
          </p:cNvSpPr>
          <p:nvPr/>
        </p:nvSpPr>
        <p:spPr>
          <a:xfrm>
            <a:off x="4619625"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a:ext uri="{FF2B5EF4-FFF2-40B4-BE49-F238E27FC236}">
                <a16:creationId xmlns:a16="http://schemas.microsoft.com/office/drawing/2014/main" id="{F0CA150A-EA48-449C-9A7F-A24B4F2A12AD}"/>
              </a:ext>
            </a:extLst>
          </p:cNvPr>
          <p:cNvSpPr>
            <a:spLocks noGrp="1"/>
          </p:cNvSpPr>
          <p:nvPr/>
        </p:nvSpPr>
        <p:spPr>
          <a:xfrm>
            <a:off x="4619625"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Тајне у конфигурационим датотекама или логовима.</a:t>
            </a:r>
          </a:p>
        </p:txBody>
      </p:sp>
      <p:sp>
        <p:nvSpPr>
          <p:cNvPr id="13" name="Rectangle 12">
            <a:extLst>
              <a:ext uri="{FF2B5EF4-FFF2-40B4-BE49-F238E27FC236}">
                <a16:creationId xmlns:a16="http://schemas.microsoft.com/office/drawing/2014/main" id="{F5D78CD7-E22F-4B92-BBBC-7388DD8DF1DE}"/>
              </a:ext>
            </a:extLst>
          </p:cNvPr>
          <p:cNvSpPr>
            <a:spLocks noGrp="1"/>
          </p:cNvSpPr>
          <p:nvPr/>
        </p:nvSpPr>
        <p:spPr>
          <a:xfrm>
            <a:off x="4619625"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a:ext uri="{FF2B5EF4-FFF2-40B4-BE49-F238E27FC236}">
                <a16:creationId xmlns:a16="http://schemas.microsoft.com/office/drawing/2014/main" id="{95EE9FE4-9E87-4C8D-8BF1-0F03290DF080}"/>
              </a:ext>
            </a:extLst>
          </p:cNvPr>
          <p:cNvSpPr>
            <a:spLocks noGrp="1"/>
          </p:cNvSpPr>
          <p:nvPr/>
        </p:nvSpPr>
        <p:spPr>
          <a:xfrm>
            <a:off x="8115300" y="2381250"/>
            <a:ext cx="3257550" cy="2381250"/>
          </a:xfrm>
          <a:prstGeom prst="roundRect">
            <a:avLst>
              <a:gd name="adj" fmla="val 5600"/>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2809035F-F450-497E-877C-1C47BF598FF0}"/>
              </a:ext>
            </a:extLst>
          </p:cNvPr>
          <p:cNvSpPr>
            <a:spLocks noGrp="1"/>
          </p:cNvSpPr>
          <p:nvPr/>
        </p:nvSpPr>
        <p:spPr>
          <a:xfrm>
            <a:off x="8267700"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03</a:t>
            </a:r>
          </a:p>
        </p:txBody>
      </p:sp>
      <p:sp>
        <p:nvSpPr>
          <p:cNvPr id="16" name="Rectangle 15">
            <a:extLst>
              <a:ext uri="{FF2B5EF4-FFF2-40B4-BE49-F238E27FC236}">
                <a16:creationId xmlns:a16="http://schemas.microsoft.com/office/drawing/2014/main" id="{E3F8FAF2-5861-470E-BE1B-89AA8A40DBB5}"/>
              </a:ext>
            </a:extLst>
          </p:cNvPr>
          <p:cNvSpPr>
            <a:spLocks noGrp="1"/>
          </p:cNvSpPr>
          <p:nvPr/>
        </p:nvSpPr>
        <p:spPr>
          <a:xfrm>
            <a:off x="8267700"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Метрика без јасног питања на које треба да одговори.</a:t>
            </a:r>
          </a:p>
        </p:txBody>
      </p:sp>
      <p:sp>
        <p:nvSpPr>
          <p:cNvPr id="17" name="Rectangle 16">
            <a:extLst>
              <a:ext uri="{FF2B5EF4-FFF2-40B4-BE49-F238E27FC236}">
                <a16:creationId xmlns:a16="http://schemas.microsoft.com/office/drawing/2014/main" id="{C1F38A7E-F239-4F46-BDF2-DA8A9D5E45AE}"/>
              </a:ext>
            </a:extLst>
          </p:cNvPr>
          <p:cNvSpPr>
            <a:spLocks noGrp="1"/>
          </p:cNvSpPr>
          <p:nvPr/>
        </p:nvSpPr>
        <p:spPr>
          <a:xfrm>
            <a:off x="8267700"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2058765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012EF13D-8D67-4A64-AC2C-820FD042F033}"/>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214A517D-E414-4D0B-9463-124BFF217BA6}"/>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82C3CA65-7A03-43F1-8607-B4ABC8BD3394}"/>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a:ext uri="{FF2B5EF4-FFF2-40B4-BE49-F238E27FC236}">
                <a16:creationId xmlns:a16="http://schemas.microsoft.com/office/drawing/2014/main" id="{50F18967-7A93-43E1-A4F0-B6D3F9795D94}"/>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Видљивост као способност тима</a:t>
            </a:r>
          </a:p>
        </p:txBody>
      </p:sp>
      <p:sp>
        <p:nvSpPr>
          <p:cNvPr id="5" name="Rectangle 4">
            <a:extLst>
              <a:ext uri="{FF2B5EF4-FFF2-40B4-BE49-F238E27FC236}">
                <a16:creationId xmlns:a16="http://schemas.microsoft.com/office/drawing/2014/main" id="{A1B3238F-83F6-4F62-82BD-918F5B3BC459}"/>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Добар доказ је свеж, поновљив и довољно јасан да га други члан тима протумачи.</a:t>
            </a:r>
          </a:p>
        </p:txBody>
      </p:sp>
      <p:sp>
        <p:nvSpPr>
          <p:cNvPr id="6" name="Rounded Rectangle 5">
            <a:extLst>
              <a:ext uri="{FF2B5EF4-FFF2-40B4-BE49-F238E27FC236}">
                <a16:creationId xmlns:a16="http://schemas.microsoft.com/office/drawing/2014/main" id="{33F76B53-1721-4BBE-8BAE-86CA8B00E9A5}"/>
              </a:ext>
            </a:extLst>
          </p:cNvPr>
          <p:cNvSpPr>
            <a:spLocks noGrp="1"/>
          </p:cNvSpPr>
          <p:nvPr/>
        </p:nvSpPr>
        <p:spPr>
          <a:xfrm>
            <a:off x="781050" y="2152650"/>
            <a:ext cx="4476750" cy="2568206"/>
          </a:xfrm>
          <a:prstGeom prst="roundRect">
            <a:avLst>
              <a:gd name="adj" fmla="val 4294"/>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4DE0795C-6B15-4A45-A46E-A5882800DEC3}"/>
              </a:ext>
            </a:extLst>
          </p:cNvPr>
          <p:cNvSpPr>
            <a:spLocks noGrp="1"/>
          </p:cNvSpPr>
          <p:nvPr/>
        </p:nvSpPr>
        <p:spPr>
          <a:xfrm>
            <a:off x="933450" y="2276475"/>
            <a:ext cx="41719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a:ext uri="{FF2B5EF4-FFF2-40B4-BE49-F238E27FC236}">
                <a16:creationId xmlns:a16="http://schemas.microsoft.com/office/drawing/2014/main" id="{D9C48FFA-B7BE-4D8B-B795-DFF171A2DD15}"/>
              </a:ext>
            </a:extLst>
          </p:cNvPr>
          <p:cNvSpPr>
            <a:spLocks noGrp="1"/>
          </p:cNvSpPr>
          <p:nvPr/>
        </p:nvSpPr>
        <p:spPr>
          <a:xfrm>
            <a:off x="933450" y="2524125"/>
            <a:ext cx="4171950" cy="552450"/>
          </a:xfrm>
          <a:prstGeom prst="rect">
            <a:avLst/>
          </a:prstGeom>
          <a:noFill/>
          <a:ln w="0">
            <a:noFill/>
          </a:ln>
        </p:spPr>
        <p:txBody>
          <a:bodyPr wrap="square" lIns="0" tIns="0" rIns="0" bIns="0" anchor="ctr">
            <a:normAutofit/>
          </a:bodyPr>
          <a:lstStyle/>
          <a:p>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Видљивост као способност тима</a:t>
            </a:r>
          </a:p>
        </p:txBody>
      </p:sp>
      <p:sp>
        <p:nvSpPr>
          <p:cNvPr id="9" name="Rectangle 8">
            <a:extLst>
              <a:ext uri="{FF2B5EF4-FFF2-40B4-BE49-F238E27FC236}">
                <a16:creationId xmlns:a16="http://schemas.microsoft.com/office/drawing/2014/main" id="{808A9918-D17A-489F-B564-4F80B0340F2A}"/>
              </a:ext>
            </a:extLst>
          </p:cNvPr>
          <p:cNvSpPr>
            <a:spLocks noGrp="1"/>
          </p:cNvSpPr>
          <p:nvPr/>
        </p:nvSpPr>
        <p:spPr>
          <a:xfrm>
            <a:off x="933450" y="3143250"/>
            <a:ext cx="4171950" cy="200977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Обсервабилитy не значи чување сваког детаља заувек. Значи да се за важну одлуку може пронаћи довољно контекста: где је настала, кроз које слојеве је прошла и зашто је завршила успехом или одбијањем. Корелациони идентификатор даје заједничку нит том објашњењу.</a:t>
            </a:r>
          </a:p>
        </p:txBody>
      </p:sp>
      <p:sp>
        <p:nvSpPr>
          <p:cNvPr id="10" name="Rounded Rectangle 9">
            <a:extLst>
              <a:ext uri="{FF2B5EF4-FFF2-40B4-BE49-F238E27FC236}">
                <a16:creationId xmlns:a16="http://schemas.microsoft.com/office/drawing/2014/main" id="{0544320E-97CB-4B46-8AE2-F01D17EA4917}"/>
              </a:ext>
            </a:extLst>
          </p:cNvPr>
          <p:cNvSpPr>
            <a:spLocks noGrp="1"/>
          </p:cNvSpPr>
          <p:nvPr/>
        </p:nvSpPr>
        <p:spPr>
          <a:xfrm>
            <a:off x="5676900" y="2152650"/>
            <a:ext cx="5734050" cy="828675"/>
          </a:xfrm>
          <a:prstGeom prst="roundRect">
            <a:avLst>
              <a:gd name="adj" fmla="val 16092"/>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7B820F95-CED4-41A5-A42E-292F32A967F0}"/>
              </a:ext>
            </a:extLst>
          </p:cNvPr>
          <p:cNvSpPr>
            <a:spLocks noGrp="1"/>
          </p:cNvSpPr>
          <p:nvPr/>
        </p:nvSpPr>
        <p:spPr>
          <a:xfrm>
            <a:off x="5829300" y="2276475"/>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67753EEE-0C88-4F84-B06B-894A68F6E82C}"/>
              </a:ext>
            </a:extLst>
          </p:cNvPr>
          <p:cNvSpPr>
            <a:spLocks noGrp="1"/>
          </p:cNvSpPr>
          <p:nvPr/>
        </p:nvSpPr>
        <p:spPr>
          <a:xfrm>
            <a:off x="5829300" y="2524125"/>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Логови разликују технички траг од безбедносно значајног audit записа.</a:t>
            </a:r>
          </a:p>
        </p:txBody>
      </p:sp>
      <p:sp>
        <p:nvSpPr>
          <p:cNvPr id="13" name="Rounded Rectangle 12">
            <a:extLst>
              <a:ext uri="{FF2B5EF4-FFF2-40B4-BE49-F238E27FC236}">
                <a16:creationId xmlns:a16="http://schemas.microsoft.com/office/drawing/2014/main" id="{5E6A646A-3451-4DE3-AA41-684A6F728FC6}"/>
              </a:ext>
            </a:extLst>
          </p:cNvPr>
          <p:cNvSpPr>
            <a:spLocks noGrp="1"/>
          </p:cNvSpPr>
          <p:nvPr/>
        </p:nvSpPr>
        <p:spPr>
          <a:xfrm>
            <a:off x="5676900" y="3152775"/>
            <a:ext cx="5734050" cy="828675"/>
          </a:xfrm>
          <a:prstGeom prst="roundRect">
            <a:avLst>
              <a:gd name="adj" fmla="val 16092"/>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5F6840E6-44F6-4D86-AFCD-88271ACF6B7E}"/>
              </a:ext>
            </a:extLst>
          </p:cNvPr>
          <p:cNvSpPr>
            <a:spLocks noGrp="1"/>
          </p:cNvSpPr>
          <p:nvPr/>
        </p:nvSpPr>
        <p:spPr>
          <a:xfrm>
            <a:off x="5829300" y="3276600"/>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a:ext uri="{FF2B5EF4-FFF2-40B4-BE49-F238E27FC236}">
                <a16:creationId xmlns:a16="http://schemas.microsoft.com/office/drawing/2014/main" id="{50246BAA-3D6B-4B0E-91BF-0ACF2B85110E}"/>
              </a:ext>
            </a:extLst>
          </p:cNvPr>
          <p:cNvSpPr>
            <a:spLocks noGrp="1"/>
          </p:cNvSpPr>
          <p:nvPr/>
        </p:nvSpPr>
        <p:spPr>
          <a:xfrm>
            <a:off x="5829300" y="3524250"/>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Метрика има име, власника и јасно питање које помаже да се одговори.</a:t>
            </a:r>
          </a:p>
        </p:txBody>
      </p:sp>
      <p:sp>
        <p:nvSpPr>
          <p:cNvPr id="16" name="Rounded Rectangle 15">
            <a:extLst>
              <a:ext uri="{FF2B5EF4-FFF2-40B4-BE49-F238E27FC236}">
                <a16:creationId xmlns:a16="http://schemas.microsoft.com/office/drawing/2014/main" id="{13709296-29BA-438F-8397-05FFA5458D01}"/>
              </a:ext>
            </a:extLst>
          </p:cNvPr>
          <p:cNvSpPr>
            <a:spLocks noGrp="1"/>
          </p:cNvSpPr>
          <p:nvPr/>
        </p:nvSpPr>
        <p:spPr>
          <a:xfrm>
            <a:off x="5676900" y="4152900"/>
            <a:ext cx="5734050" cy="828675"/>
          </a:xfrm>
          <a:prstGeom prst="roundRect">
            <a:avLst>
              <a:gd name="adj" fmla="val 16092"/>
            </a:avLst>
          </a:prstGeom>
          <a:solidFill>
            <a:srgbClr val="FFF6E9"/>
          </a:solidFill>
          <a:ln w="9525">
            <a:solidFill>
              <a:srgbClr val="D7DEE8"/>
            </a:solidFill>
            <a:prstDash val="solid"/>
          </a:ln>
        </p:spPr>
      </p:sp>
      <p:sp>
        <p:nvSpPr>
          <p:cNvPr id="17" name="Rectangle 16">
            <a:extLst>
              <a:ext uri="{FF2B5EF4-FFF2-40B4-BE49-F238E27FC236}">
                <a16:creationId xmlns:a16="http://schemas.microsoft.com/office/drawing/2014/main" id="{2967B5CE-E097-490D-9F86-2BCCBBCF44CD}"/>
              </a:ext>
            </a:extLst>
          </p:cNvPr>
          <p:cNvSpPr>
            <a:spLocks noGrp="1"/>
          </p:cNvSpPr>
          <p:nvPr/>
        </p:nvSpPr>
        <p:spPr>
          <a:xfrm>
            <a:off x="5829300" y="4276725"/>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a:ext uri="{FF2B5EF4-FFF2-40B4-BE49-F238E27FC236}">
                <a16:creationId xmlns:a16="http://schemas.microsoft.com/office/drawing/2014/main" id="{3EFDB5EC-4ED4-408E-AF0F-C3EAB33E2D79}"/>
              </a:ext>
            </a:extLst>
          </p:cNvPr>
          <p:cNvSpPr>
            <a:spLocks noGrp="1"/>
          </p:cNvSpPr>
          <p:nvPr/>
        </p:nvSpPr>
        <p:spPr>
          <a:xfrm>
            <a:off x="5829300" y="4524375"/>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Тајне, токени и непотребни лични подаци не припадају ни логу ни метричкој ознаци.</a:t>
            </a:r>
          </a:p>
        </p:txBody>
      </p:sp>
    </p:spTree>
    <p:extLst>
      <p:ext uri="{BB962C8B-B14F-4D97-AF65-F5344CB8AC3E}">
        <p14:creationId xmlns:p14="http://schemas.microsoft.com/office/powerpoint/2010/main" val="642576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E58F46F9-93A3-43CC-AA0D-AC88C3E53981}"/>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980906AC-8E02-4584-9A3B-899D8257AEB8}"/>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DD581FF0-C654-4F27-A8DA-19DACDFA4820}"/>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a:ext uri="{FF2B5EF4-FFF2-40B4-BE49-F238E27FC236}">
                <a16:creationId xmlns:a16="http://schemas.microsoft.com/office/drawing/2014/main" id="{544112BB-70B0-4C15-AF89-7F7447F3856B}"/>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Мини вежба за пројекат</a:t>
            </a:r>
          </a:p>
        </p:txBody>
      </p:sp>
      <p:sp>
        <p:nvSpPr>
          <p:cNvPr id="5" name="Rectangle 4">
            <a:extLst>
              <a:ext uri="{FF2B5EF4-FFF2-40B4-BE49-F238E27FC236}">
                <a16:creationId xmlns:a16="http://schemas.microsoft.com/office/drawing/2014/main" id="{D4439361-BF3B-4E65-8D9F-AC26EB0504CE}"/>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 једном сценарију повежите одлуку, имплементацију, негативни тест и доказ.</a:t>
            </a:r>
          </a:p>
        </p:txBody>
      </p:sp>
      <p:sp>
        <p:nvSpPr>
          <p:cNvPr id="6" name="Rounded Rectangle 5">
            <a:extLst>
              <a:ext uri="{FF2B5EF4-FFF2-40B4-BE49-F238E27FC236}">
                <a16:creationId xmlns:a16="http://schemas.microsoft.com/office/drawing/2014/main" id="{40154130-AC11-4856-8C94-5BBCB29F38FA}"/>
              </a:ext>
            </a:extLst>
          </p:cNvPr>
          <p:cNvSpPr>
            <a:spLocks noGrp="1"/>
          </p:cNvSpPr>
          <p:nvPr/>
        </p:nvSpPr>
        <p:spPr>
          <a:xfrm>
            <a:off x="800100" y="2400300"/>
            <a:ext cx="24336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6C456C24-6725-4169-8D06-71578FE591ED}"/>
              </a:ext>
            </a:extLst>
          </p:cNvPr>
          <p:cNvSpPr>
            <a:spLocks noGrp="1"/>
          </p:cNvSpPr>
          <p:nvPr/>
        </p:nvSpPr>
        <p:spPr>
          <a:xfrm>
            <a:off x="942975"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C72C987F-64D4-4889-AFD3-04F7AA393898}"/>
              </a:ext>
            </a:extLst>
          </p:cNvPr>
          <p:cNvSpPr>
            <a:spLocks noGrp="1"/>
          </p:cNvSpPr>
          <p:nvPr/>
        </p:nvSpPr>
        <p:spPr>
          <a:xfrm>
            <a:off x="933450"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Изаберите сценарио</a:t>
            </a:r>
          </a:p>
        </p:txBody>
      </p:sp>
      <p:sp>
        <p:nvSpPr>
          <p:cNvPr id="9" name="Rectangle 8">
            <a:extLst>
              <a:ext uri="{FF2B5EF4-FFF2-40B4-BE49-F238E27FC236}">
                <a16:creationId xmlns:a16="http://schemas.microsoft.com/office/drawing/2014/main" id="{B3679985-3C10-4CC6-BDDE-C40D55BCEC7B}"/>
              </a:ext>
            </a:extLst>
          </p:cNvPr>
          <p:cNvSpPr>
            <a:spLocks noGrp="1"/>
          </p:cNvSpPr>
          <p:nvPr/>
        </p:nvSpPr>
        <p:spPr>
          <a:xfrm>
            <a:off x="942975"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a:ext uri="{FF2B5EF4-FFF2-40B4-BE49-F238E27FC236}">
                <a16:creationId xmlns:a16="http://schemas.microsoft.com/office/drawing/2014/main" id="{036A5922-58D8-47D0-AD29-514029ADBBAB}"/>
              </a:ext>
            </a:extLst>
          </p:cNvPr>
          <p:cNvSpPr>
            <a:spLocks noGrp="1"/>
          </p:cNvSpPr>
          <p:nvPr/>
        </p:nvSpPr>
        <p:spPr>
          <a:xfrm>
            <a:off x="3519488" y="2400300"/>
            <a:ext cx="2433638" cy="1257300"/>
          </a:xfrm>
          <a:prstGeom prst="roundRect">
            <a:avLst>
              <a:gd name="adj" fmla="val 10606"/>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80A8E866-7E3F-4966-BBA1-3C0311B0309E}"/>
              </a:ext>
            </a:extLst>
          </p:cNvPr>
          <p:cNvSpPr>
            <a:spLocks noGrp="1"/>
          </p:cNvSpPr>
          <p:nvPr/>
        </p:nvSpPr>
        <p:spPr>
          <a:xfrm>
            <a:off x="3662363"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6E320C8C-B9A0-471A-8A18-183FD4AEECD9}"/>
              </a:ext>
            </a:extLst>
          </p:cNvPr>
          <p:cNvSpPr>
            <a:spLocks noGrp="1"/>
          </p:cNvSpPr>
          <p:nvPr/>
        </p:nvSpPr>
        <p:spPr>
          <a:xfrm>
            <a:off x="3652838"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Именујте правило</a:t>
            </a:r>
          </a:p>
        </p:txBody>
      </p:sp>
      <p:sp>
        <p:nvSpPr>
          <p:cNvPr id="13" name="Rectangle 12">
            <a:extLst>
              <a:ext uri="{FF2B5EF4-FFF2-40B4-BE49-F238E27FC236}">
                <a16:creationId xmlns:a16="http://schemas.microsoft.com/office/drawing/2014/main" id="{4B821FE8-6BB6-4273-B971-A32F5DF1AE0D}"/>
              </a:ext>
            </a:extLst>
          </p:cNvPr>
          <p:cNvSpPr>
            <a:spLocks noGrp="1"/>
          </p:cNvSpPr>
          <p:nvPr/>
        </p:nvSpPr>
        <p:spPr>
          <a:xfrm>
            <a:off x="3662363"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a:ext uri="{FF2B5EF4-FFF2-40B4-BE49-F238E27FC236}">
                <a16:creationId xmlns:a16="http://schemas.microsoft.com/office/drawing/2014/main" id="{99CB9D90-1D11-43AD-BCA9-55919B23ABD3}"/>
              </a:ext>
            </a:extLst>
          </p:cNvPr>
          <p:cNvSpPr>
            <a:spLocks noGrp="1"/>
          </p:cNvSpPr>
          <p:nvPr/>
        </p:nvSpPr>
        <p:spPr>
          <a:xfrm>
            <a:off x="6238875" y="2400300"/>
            <a:ext cx="2433638" cy="1257300"/>
          </a:xfrm>
          <a:prstGeom prst="roundRect">
            <a:avLst>
              <a:gd name="adj" fmla="val 10606"/>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54B880D0-0203-4B3E-A24E-DD606F5C6E07}"/>
              </a:ext>
            </a:extLst>
          </p:cNvPr>
          <p:cNvSpPr>
            <a:spLocks noGrp="1"/>
          </p:cNvSpPr>
          <p:nvPr/>
        </p:nvSpPr>
        <p:spPr>
          <a:xfrm>
            <a:off x="6381750"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a:ext uri="{FF2B5EF4-FFF2-40B4-BE49-F238E27FC236}">
                <a16:creationId xmlns:a16="http://schemas.microsoft.com/office/drawing/2014/main" id="{6940A665-D485-4FC9-856D-21C2D6996633}"/>
              </a:ext>
            </a:extLst>
          </p:cNvPr>
          <p:cNvSpPr>
            <a:spLocks noGrp="1"/>
          </p:cNvSpPr>
          <p:nvPr/>
        </p:nvSpPr>
        <p:spPr>
          <a:xfrm>
            <a:off x="6372225"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Напишите денy тест</a:t>
            </a:r>
          </a:p>
        </p:txBody>
      </p:sp>
      <p:sp>
        <p:nvSpPr>
          <p:cNvPr id="17" name="Rectangle 16">
            <a:extLst>
              <a:ext uri="{FF2B5EF4-FFF2-40B4-BE49-F238E27FC236}">
                <a16:creationId xmlns:a16="http://schemas.microsoft.com/office/drawing/2014/main" id="{F4B51FA0-5D14-4570-BFEC-68DAD39ECBF3}"/>
              </a:ext>
            </a:extLst>
          </p:cNvPr>
          <p:cNvSpPr>
            <a:spLocks noGrp="1"/>
          </p:cNvSpPr>
          <p:nvPr/>
        </p:nvSpPr>
        <p:spPr>
          <a:xfrm>
            <a:off x="6381750"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a:ext uri="{FF2B5EF4-FFF2-40B4-BE49-F238E27FC236}">
                <a16:creationId xmlns:a16="http://schemas.microsoft.com/office/drawing/2014/main" id="{7AF81329-31D1-4FFC-8A85-5835D52C3049}"/>
              </a:ext>
            </a:extLst>
          </p:cNvPr>
          <p:cNvSpPr>
            <a:spLocks noGrp="1"/>
          </p:cNvSpPr>
          <p:nvPr/>
        </p:nvSpPr>
        <p:spPr>
          <a:xfrm>
            <a:off x="8958263" y="2400300"/>
            <a:ext cx="24336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4F680DF8-606A-47F9-9E59-C20EB84A4D65}"/>
              </a:ext>
            </a:extLst>
          </p:cNvPr>
          <p:cNvSpPr>
            <a:spLocks noGrp="1"/>
          </p:cNvSpPr>
          <p:nvPr/>
        </p:nvSpPr>
        <p:spPr>
          <a:xfrm>
            <a:off x="9101138"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197A7645-8507-4694-9729-BC1020079655}"/>
              </a:ext>
            </a:extLst>
          </p:cNvPr>
          <p:cNvSpPr>
            <a:spLocks noGrp="1"/>
          </p:cNvSpPr>
          <p:nvPr/>
        </p:nvSpPr>
        <p:spPr>
          <a:xfrm>
            <a:off x="9091613"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Сачувајте доказ</a:t>
            </a:r>
          </a:p>
        </p:txBody>
      </p:sp>
      <p:sp>
        <p:nvSpPr>
          <p:cNvPr id="21" name="Rectangle 20">
            <a:extLst>
              <a:ext uri="{FF2B5EF4-FFF2-40B4-BE49-F238E27FC236}">
                <a16:creationId xmlns:a16="http://schemas.microsoft.com/office/drawing/2014/main" id="{CBE103E2-B630-4C3E-AD89-B6DF5C580A95}"/>
              </a:ext>
            </a:extLst>
          </p:cNvPr>
          <p:cNvSpPr>
            <a:spLocks noGrp="1"/>
          </p:cNvSpPr>
          <p:nvPr/>
        </p:nvSpPr>
        <p:spPr>
          <a:xfrm>
            <a:off x="9101138"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125" name="Straight Arrow Connector 124"/>
          <p:cNvCxnSpPr>
            <a:stCxn id="6" idx="3"/>
            <a:endCxn id="10" idx="1"/>
          </p:cNvCxnSpPr>
          <p:nvPr/>
        </p:nvCxnSpPr>
        <p:spPr>
          <a:xfrm>
            <a:off x="3233738" y="302895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02895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672513" y="302895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B1FFA01C-35B8-4DAA-96DD-B9BAA59DFFB7}"/>
              </a:ext>
            </a:extLst>
          </p:cNvPr>
          <p:cNvSpPr>
            <a:spLocks noGrp="1"/>
          </p:cNvSpPr>
          <p:nvPr/>
        </p:nvSpPr>
        <p:spPr>
          <a:xfrm>
            <a:off x="1619250" y="4305300"/>
            <a:ext cx="8953500" cy="914400"/>
          </a:xfrm>
          <a:prstGeom prst="roundRect">
            <a:avLst>
              <a:gd name="adj" fmla="val 13542"/>
            </a:avLst>
          </a:prstGeom>
          <a:solidFill>
            <a:srgbClr val="FFF6E9"/>
          </a:solidFill>
          <a:ln w="9525">
            <a:solidFill>
              <a:srgbClr val="D7DEE8"/>
            </a:solidFill>
            <a:prstDash val="solid"/>
          </a:ln>
        </p:spPr>
      </p:sp>
      <p:sp>
        <p:nvSpPr>
          <p:cNvPr id="26" name="Rounded Rectangle 25">
            <a:extLst>
              <a:ext uri="{FF2B5EF4-FFF2-40B4-BE49-F238E27FC236}">
                <a16:creationId xmlns:a16="http://schemas.microsoft.com/office/drawing/2014/main" id="{CCE2E90F-9675-42C6-9F60-D8812B8E7B06}"/>
              </a:ext>
            </a:extLst>
          </p:cNvPr>
          <p:cNvSpPr>
            <a:spLocks noGrp="1"/>
          </p:cNvSpPr>
          <p:nvPr/>
        </p:nvSpPr>
        <p:spPr>
          <a:xfrm>
            <a:off x="1752600" y="4448175"/>
            <a:ext cx="57150" cy="628650"/>
          </a:xfrm>
          <a:prstGeom prst="roundRect">
            <a:avLst>
              <a:gd name="adj" fmla="val 50000"/>
            </a:avLst>
          </a:prstGeom>
          <a:solidFill>
            <a:srgbClr val="B86A09"/>
          </a:solidFill>
          <a:ln w="0">
            <a:noFill/>
          </a:ln>
        </p:spPr>
      </p:sp>
      <p:sp>
        <p:nvSpPr>
          <p:cNvPr id="76" name="Rounded Rectangle 75">
            <a:extLst>
              <a:ext uri="{FF2B5EF4-FFF2-40B4-BE49-F238E27FC236}">
                <a16:creationId xmlns:a16="http://schemas.microsoft.com/office/drawing/2014/main" id="{06E4FCDC-57CE-4FF6-B2DB-272B459F3B1B}"/>
              </a:ext>
            </a:extLst>
          </p:cNvPr>
          <p:cNvSpPr>
            <a:spLocks noGrp="1"/>
          </p:cNvSpPr>
          <p:nvPr/>
        </p:nvSpPr>
        <p:spPr>
          <a:xfrm>
            <a:off x="914400" y="4267200"/>
            <a:ext cx="10363200" cy="990600"/>
          </a:xfrm>
          <a:prstGeom prst="roundRect">
            <a:avLst>
              <a:gd name="adj" fmla="val 13462"/>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E62DFD92-FEC7-4A4A-B875-4FFC850A42CB}"/>
              </a:ext>
            </a:extLst>
          </p:cNvPr>
          <p:cNvSpPr>
            <a:spLocks noGrp="1"/>
          </p:cNvSpPr>
          <p:nvPr/>
        </p:nvSpPr>
        <p:spPr>
          <a:xfrm>
            <a:off x="1085850" y="4419600"/>
            <a:ext cx="57150" cy="68580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264A264D-76E1-4293-BA2A-56E1715CE66C}"/>
              </a:ext>
            </a:extLst>
          </p:cNvPr>
          <p:cNvSpPr>
            <a:spLocks noGrp="1"/>
          </p:cNvSpPr>
          <p:nvPr/>
        </p:nvSpPr>
        <p:spPr>
          <a:xfrm>
            <a:off x="1333500" y="43719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ЗАДАТАК ЗА ПРОЈЕКАТ</a:t>
            </a:r>
          </a:p>
        </p:txBody>
      </p:sp>
      <p:sp>
        <p:nvSpPr>
          <p:cNvPr id="79" name="Rectangle 78">
            <a:extLst>
              <a:ext uri="{FF2B5EF4-FFF2-40B4-BE49-F238E27FC236}">
                <a16:creationId xmlns:a16="http://schemas.microsoft.com/office/drawing/2014/main" id="{E7A9205E-6145-475D-BACE-1FED6188287A}"/>
              </a:ext>
            </a:extLst>
          </p:cNvPr>
          <p:cNvSpPr>
            <a:spLocks noGrp="1"/>
          </p:cNvSpPr>
          <p:nvPr/>
        </p:nvSpPr>
        <p:spPr>
          <a:xfrm>
            <a:off x="1333500" y="4600575"/>
            <a:ext cx="9639300" cy="55245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Примените тему „Политике, конфигурација и безбедносна видљивост“ на додељену пројектну целину и припремите доказ који други члан тима може да понови.</a:t>
            </a:r>
          </a:p>
        </p:txBody>
      </p:sp>
    </p:spTree>
    <p:extLst>
      <p:ext uri="{BB962C8B-B14F-4D97-AF65-F5344CB8AC3E}">
        <p14:creationId xmlns:p14="http://schemas.microsoft.com/office/powerpoint/2010/main" val="19243487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D7EF47A9-3E6E-486D-B76A-04A75693BD7E}"/>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3D1F4C65-2CA4-4885-BBB2-636D5408F011}"/>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09E17A3F-6770-4E9F-A150-465D9FC57CF3}"/>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a:ext uri="{FF2B5EF4-FFF2-40B4-BE49-F238E27FC236}">
                <a16:creationId xmlns:a16="http://schemas.microsoft.com/office/drawing/2014/main" id="{488A6EEC-FD92-4529-B726-858C0ECC58E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a:ext uri="{FF2B5EF4-FFF2-40B4-BE49-F238E27FC236}">
                <a16:creationId xmlns:a16="http://schemas.microsoft.com/office/drawing/2014/main" id="{BCE4C710-91B9-49E9-A8ED-631DA2581283}"/>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Тема је савладана када одлуку можете да објасните без ослањања на назив framework-а.</a:t>
            </a:r>
          </a:p>
        </p:txBody>
      </p:sp>
      <p:sp>
        <p:nvSpPr>
          <p:cNvPr id="6" name="Rounded Rectangle 5">
            <a:extLst>
              <a:ext uri="{FF2B5EF4-FFF2-40B4-BE49-F238E27FC236}">
                <a16:creationId xmlns:a16="http://schemas.microsoft.com/office/drawing/2014/main" id="{41D75E13-85E6-4426-A25A-3000EEAAD3D4}"/>
              </a:ext>
            </a:extLst>
          </p:cNvPr>
          <p:cNvSpPr>
            <a:spLocks noGrp="1"/>
          </p:cNvSpPr>
          <p:nvPr/>
        </p:nvSpPr>
        <p:spPr>
          <a:xfrm>
            <a:off x="723900" y="2286000"/>
            <a:ext cx="24717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605E1BBA-AF85-4DEC-A3CB-00B91E0F236D}"/>
              </a:ext>
            </a:extLst>
          </p:cNvPr>
          <p:cNvSpPr>
            <a:spLocks noGrp="1"/>
          </p:cNvSpPr>
          <p:nvPr/>
        </p:nvSpPr>
        <p:spPr>
          <a:xfrm>
            <a:off x="866775"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2568E7D1-721B-4BED-93BE-17475C92BBC1}"/>
              </a:ext>
            </a:extLst>
          </p:cNvPr>
          <p:cNvSpPr>
            <a:spLocks noGrp="1"/>
          </p:cNvSpPr>
          <p:nvPr/>
        </p:nvSpPr>
        <p:spPr>
          <a:xfrm>
            <a:off x="857250"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a:ext uri="{FF2B5EF4-FFF2-40B4-BE49-F238E27FC236}">
                <a16:creationId xmlns:a16="http://schemas.microsoft.com/office/drawing/2014/main" id="{FC97CF97-866C-4C06-A862-A11BE1610CB5}"/>
              </a:ext>
            </a:extLst>
          </p:cNvPr>
          <p:cNvSpPr>
            <a:spLocks noGrp="1"/>
          </p:cNvSpPr>
          <p:nvPr/>
        </p:nvSpPr>
        <p:spPr>
          <a:xfrm>
            <a:off x="866775"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организација очекује</a:t>
            </a:r>
          </a:p>
        </p:txBody>
      </p:sp>
      <p:sp>
        <p:nvSpPr>
          <p:cNvPr id="10" name="Rounded Rectangle 9">
            <a:extLst>
              <a:ext uri="{FF2B5EF4-FFF2-40B4-BE49-F238E27FC236}">
                <a16:creationId xmlns:a16="http://schemas.microsoft.com/office/drawing/2014/main" id="{F4254622-2C91-4723-837A-318A3F35C157}"/>
              </a:ext>
            </a:extLst>
          </p:cNvPr>
          <p:cNvSpPr>
            <a:spLocks noGrp="1"/>
          </p:cNvSpPr>
          <p:nvPr/>
        </p:nvSpPr>
        <p:spPr>
          <a:xfrm>
            <a:off x="3481388" y="2286000"/>
            <a:ext cx="2471738"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6144924D-B667-461A-BF55-39EE774D9D74}"/>
              </a:ext>
            </a:extLst>
          </p:cNvPr>
          <p:cNvSpPr>
            <a:spLocks noGrp="1"/>
          </p:cNvSpPr>
          <p:nvPr/>
        </p:nvSpPr>
        <p:spPr>
          <a:xfrm>
            <a:off x="3624263"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17C1D372-DB1D-47DD-9846-8793F054E656}"/>
              </a:ext>
            </a:extLst>
          </p:cNvPr>
          <p:cNvSpPr>
            <a:spLocks noGrp="1"/>
          </p:cNvSpPr>
          <p:nvPr/>
        </p:nvSpPr>
        <p:spPr>
          <a:xfrm>
            <a:off x="3614738"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a:ext uri="{FF2B5EF4-FFF2-40B4-BE49-F238E27FC236}">
                <a16:creationId xmlns:a16="http://schemas.microsoft.com/office/drawing/2014/main" id="{3ACE8CEB-1D86-43E1-8117-3903A900E198}"/>
              </a:ext>
            </a:extLst>
          </p:cNvPr>
          <p:cNvSpPr>
            <a:spLocks noGrp="1"/>
          </p:cNvSpPr>
          <p:nvPr/>
        </p:nvSpPr>
        <p:spPr>
          <a:xfrm>
            <a:off x="3624263"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како се правило примењује</a:t>
            </a:r>
          </a:p>
        </p:txBody>
      </p:sp>
      <p:sp>
        <p:nvSpPr>
          <p:cNvPr id="14" name="Rounded Rectangle 13">
            <a:extLst>
              <a:ext uri="{FF2B5EF4-FFF2-40B4-BE49-F238E27FC236}">
                <a16:creationId xmlns:a16="http://schemas.microsoft.com/office/drawing/2014/main" id="{3DCD986B-62F4-4803-9F3A-D7FA4A73387F}"/>
              </a:ext>
            </a:extLst>
          </p:cNvPr>
          <p:cNvSpPr>
            <a:spLocks noGrp="1"/>
          </p:cNvSpPr>
          <p:nvPr/>
        </p:nvSpPr>
        <p:spPr>
          <a:xfrm>
            <a:off x="6238875" y="2286000"/>
            <a:ext cx="2471738" cy="1257300"/>
          </a:xfrm>
          <a:prstGeom prst="roundRect">
            <a:avLst>
              <a:gd name="adj" fmla="val 10606"/>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D40C7D09-6D06-46F3-8D02-8BAF24E5F9AF}"/>
              </a:ext>
            </a:extLst>
          </p:cNvPr>
          <p:cNvSpPr>
            <a:spLocks noGrp="1"/>
          </p:cNvSpPr>
          <p:nvPr/>
        </p:nvSpPr>
        <p:spPr>
          <a:xfrm>
            <a:off x="6381750"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03</a:t>
            </a:r>
          </a:p>
        </p:txBody>
      </p:sp>
      <p:sp>
        <p:nvSpPr>
          <p:cNvPr id="16" name="Rectangle 15">
            <a:extLst>
              <a:ext uri="{FF2B5EF4-FFF2-40B4-BE49-F238E27FC236}">
                <a16:creationId xmlns:a16="http://schemas.microsoft.com/office/drawing/2014/main" id="{5BCDC01C-DB80-4AF8-BB64-501DFA6E78C7}"/>
              </a:ext>
            </a:extLst>
          </p:cNvPr>
          <p:cNvSpPr>
            <a:spLocks noGrp="1"/>
          </p:cNvSpPr>
          <p:nvPr/>
        </p:nvSpPr>
        <p:spPr>
          <a:xfrm>
            <a:off x="6372225"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a:ext uri="{FF2B5EF4-FFF2-40B4-BE49-F238E27FC236}">
                <a16:creationId xmlns:a16="http://schemas.microsoft.com/office/drawing/2014/main" id="{DE04796F-8931-41EB-A461-E106BABDCEBA}"/>
              </a:ext>
            </a:extLst>
          </p:cNvPr>
          <p:cNvSpPr>
            <a:spLocks noGrp="1"/>
          </p:cNvSpPr>
          <p:nvPr/>
        </p:nvSpPr>
        <p:spPr>
          <a:xfrm>
            <a:off x="6381750"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механизам заштите</a:t>
            </a:r>
          </a:p>
        </p:txBody>
      </p:sp>
      <p:sp>
        <p:nvSpPr>
          <p:cNvPr id="18" name="Rounded Rectangle 17">
            <a:extLst>
              <a:ext uri="{FF2B5EF4-FFF2-40B4-BE49-F238E27FC236}">
                <a16:creationId xmlns:a16="http://schemas.microsoft.com/office/drawing/2014/main" id="{3D27B755-7C53-4E28-955E-9F792422C602}"/>
              </a:ext>
            </a:extLst>
          </p:cNvPr>
          <p:cNvSpPr>
            <a:spLocks noGrp="1"/>
          </p:cNvSpPr>
          <p:nvPr/>
        </p:nvSpPr>
        <p:spPr>
          <a:xfrm>
            <a:off x="8996363" y="2286000"/>
            <a:ext cx="24717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29C9CDD8-07DF-49FD-8085-90C7995DFF0F}"/>
              </a:ext>
            </a:extLst>
          </p:cNvPr>
          <p:cNvSpPr>
            <a:spLocks noGrp="1"/>
          </p:cNvSpPr>
          <p:nvPr/>
        </p:nvSpPr>
        <p:spPr>
          <a:xfrm>
            <a:off x="9139238"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0CBBA68B-8D29-429D-B100-7951512BA71C}"/>
              </a:ext>
            </a:extLst>
          </p:cNvPr>
          <p:cNvSpPr>
            <a:spLocks noGrp="1"/>
          </p:cNvSpPr>
          <p:nvPr/>
        </p:nvSpPr>
        <p:spPr>
          <a:xfrm>
            <a:off x="9129713"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a:ext uri="{FF2B5EF4-FFF2-40B4-BE49-F238E27FC236}">
                <a16:creationId xmlns:a16="http://schemas.microsoft.com/office/drawing/2014/main" id="{3ABD0A37-A807-4EAA-A593-E06A4D1EBD78}"/>
              </a:ext>
            </a:extLst>
          </p:cNvPr>
          <p:cNvSpPr>
            <a:spLocks noGrp="1"/>
          </p:cNvSpPr>
          <p:nvPr/>
        </p:nvSpPr>
        <p:spPr>
          <a:xfrm>
            <a:off x="9139238"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лог, метрика или тест</a:t>
            </a:r>
          </a:p>
        </p:txBody>
      </p:sp>
      <p:cxnSp>
        <p:nvCxnSpPr>
          <p:cNvPr id="127" name="Straight Arrow Connector 126"/>
          <p:cNvCxnSpPr>
            <a:stCxn id="6" idx="3"/>
            <a:endCxn id="10" idx="1"/>
          </p:cNvCxnSpPr>
          <p:nvPr/>
        </p:nvCxnSpPr>
        <p:spPr>
          <a:xfrm>
            <a:off x="3195638" y="2914650"/>
            <a:ext cx="285750" cy="0"/>
          </a:xfrm>
          <a:prstGeom prst="straightConnector1">
            <a:avLst/>
          </a:prstGeom>
          <a:ln w="13335">
            <a:solidFill>
              <a:srgbClr val="748092"/>
            </a:solidFill>
            <a:prstDash val="solid"/>
            <a:tailEnd type="arrow" w="sm" len="sm"/>
          </a:ln>
        </p:spPr>
      </p:cxnSp>
      <p:cxnSp>
        <p:nvCxnSpPr>
          <p:cNvPr id="128" name="Straight Arrow Connector 127"/>
          <p:cNvCxnSpPr>
            <a:stCxn id="10" idx="3"/>
            <a:endCxn id="14" idx="1"/>
          </p:cNvCxnSpPr>
          <p:nvPr/>
        </p:nvCxnSpPr>
        <p:spPr>
          <a:xfrm>
            <a:off x="5953126" y="2914650"/>
            <a:ext cx="285749" cy="0"/>
          </a:xfrm>
          <a:prstGeom prst="straightConnector1">
            <a:avLst/>
          </a:prstGeom>
          <a:ln w="13335">
            <a:solidFill>
              <a:srgbClr val="748092"/>
            </a:solidFill>
            <a:prstDash val="solid"/>
            <a:tailEnd type="arrow" w="sm" len="sm"/>
          </a:ln>
        </p:spPr>
      </p:cxnSp>
      <p:cxnSp>
        <p:nvCxnSpPr>
          <p:cNvPr id="129" name="Straight Arrow Connector 128"/>
          <p:cNvCxnSpPr>
            <a:stCxn id="14" idx="3"/>
            <a:endCxn id="18" idx="1"/>
          </p:cNvCxnSpPr>
          <p:nvPr/>
        </p:nvCxnSpPr>
        <p:spPr>
          <a:xfrm>
            <a:off x="8710613" y="291465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6C33B10D-CA58-461A-8C7D-1D0CF7CE1CB5}"/>
              </a:ext>
            </a:extLst>
          </p:cNvPr>
          <p:cNvSpPr>
            <a:spLocks noGrp="1"/>
          </p:cNvSpPr>
          <p:nvPr/>
        </p:nvSpPr>
        <p:spPr>
          <a:xfrm>
            <a:off x="1428750" y="4114800"/>
            <a:ext cx="9334500" cy="895350"/>
          </a:xfrm>
          <a:prstGeom prst="roundRect">
            <a:avLst>
              <a:gd name="adj" fmla="val 13830"/>
            </a:avLst>
          </a:prstGeom>
          <a:solidFill>
            <a:srgbClr val="EEF3FF"/>
          </a:solidFill>
          <a:ln w="9525">
            <a:solidFill>
              <a:srgbClr val="D7DEE8"/>
            </a:solidFill>
            <a:prstDash val="solid"/>
          </a:ln>
        </p:spPr>
      </p:sp>
      <p:sp>
        <p:nvSpPr>
          <p:cNvPr id="26" name="Rounded Rectangle 25">
            <a:extLst>
              <a:ext uri="{FF2B5EF4-FFF2-40B4-BE49-F238E27FC236}">
                <a16:creationId xmlns:a16="http://schemas.microsoft.com/office/drawing/2014/main" id="{EEA2A5B4-6DA6-4251-B819-CC5FCC9BF6AB}"/>
              </a:ext>
            </a:extLst>
          </p:cNvPr>
          <p:cNvSpPr>
            <a:spLocks noGrp="1"/>
          </p:cNvSpPr>
          <p:nvPr/>
        </p:nvSpPr>
        <p:spPr>
          <a:xfrm>
            <a:off x="1562100" y="4257675"/>
            <a:ext cx="57150" cy="609600"/>
          </a:xfrm>
          <a:prstGeom prst="roundRect">
            <a:avLst>
              <a:gd name="adj" fmla="val 50000"/>
            </a:avLst>
          </a:prstGeom>
          <a:solidFill>
            <a:srgbClr val="2F5EF5"/>
          </a:solidFill>
          <a:ln w="0">
            <a:noFill/>
          </a:ln>
        </p:spPr>
      </p:sp>
      <p:sp>
        <p:nvSpPr>
          <p:cNvPr id="77" name="Rounded Rectangle 76">
            <a:extLst>
              <a:ext uri="{FF2B5EF4-FFF2-40B4-BE49-F238E27FC236}">
                <a16:creationId xmlns:a16="http://schemas.microsoft.com/office/drawing/2014/main" id="{AF927FCD-32A1-4742-AF50-CA371530C75C}"/>
              </a:ext>
            </a:extLst>
          </p:cNvPr>
          <p:cNvSpPr>
            <a:spLocks noGrp="1"/>
          </p:cNvSpPr>
          <p:nvPr/>
        </p:nvSpPr>
        <p:spPr>
          <a:xfrm>
            <a:off x="914400" y="4095750"/>
            <a:ext cx="10363200" cy="1257297"/>
          </a:xfrm>
          <a:prstGeom prst="roundRect">
            <a:avLst>
              <a:gd name="adj" fmla="val 8046"/>
            </a:avLst>
          </a:prstGeom>
          <a:solidFill>
            <a:srgbClr val="EEF3FF"/>
          </a:solidFill>
          <a:ln w="8573">
            <a:solidFill>
              <a:srgbClr val="CAD7F2"/>
            </a:solidFill>
            <a:prstDash val="solid"/>
          </a:ln>
        </p:spPr>
      </p:sp>
      <p:sp>
        <p:nvSpPr>
          <p:cNvPr id="78" name="Rounded Rectangle 77">
            <a:extLst>
              <a:ext uri="{FF2B5EF4-FFF2-40B4-BE49-F238E27FC236}">
                <a16:creationId xmlns:a16="http://schemas.microsoft.com/office/drawing/2014/main" id="{37A8B731-DFC7-4AFF-9389-2EDC0536DA8E}"/>
              </a:ext>
            </a:extLst>
          </p:cNvPr>
          <p:cNvSpPr>
            <a:spLocks noGrp="1"/>
          </p:cNvSpPr>
          <p:nvPr/>
        </p:nvSpPr>
        <p:spPr>
          <a:xfrm>
            <a:off x="1085850" y="4248150"/>
            <a:ext cx="57150" cy="895350"/>
          </a:xfrm>
          <a:prstGeom prst="roundRect">
            <a:avLst>
              <a:gd name="adj" fmla="val 50000"/>
            </a:avLst>
          </a:prstGeom>
          <a:solidFill>
            <a:srgbClr val="2F5EF5"/>
          </a:solidFill>
          <a:ln w="0">
            <a:noFill/>
          </a:ln>
        </p:spPr>
      </p:sp>
      <p:sp>
        <p:nvSpPr>
          <p:cNvPr id="79" name="Rectangle 78">
            <a:extLst>
              <a:ext uri="{FF2B5EF4-FFF2-40B4-BE49-F238E27FC236}">
                <a16:creationId xmlns:a16="http://schemas.microsoft.com/office/drawing/2014/main" id="{9AD5965D-ADCE-4F6B-BF95-299DD3B40493}"/>
              </a:ext>
            </a:extLst>
          </p:cNvPr>
          <p:cNvSpPr>
            <a:spLocks noGrp="1"/>
          </p:cNvSpPr>
          <p:nvPr/>
        </p:nvSpPr>
        <p:spPr>
          <a:xfrm>
            <a:off x="1333500" y="420052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 ЗАВРШЕТАК</a:t>
            </a:r>
          </a:p>
        </p:txBody>
      </p:sp>
      <p:sp>
        <p:nvSpPr>
          <p:cNvPr id="80" name="Rectangle 79">
            <a:extLst>
              <a:ext uri="{FF2B5EF4-FFF2-40B4-BE49-F238E27FC236}">
                <a16:creationId xmlns:a16="http://schemas.microsoft.com/office/drawing/2014/main" id="{B91932C5-DEAE-47E4-AAB1-C425DEB2571B}"/>
              </a:ext>
            </a:extLst>
          </p:cNvPr>
          <p:cNvSpPr>
            <a:spLocks noGrp="1"/>
          </p:cNvSpPr>
          <p:nvPr/>
        </p:nvSpPr>
        <p:spPr>
          <a:xfrm>
            <a:off x="1333500" y="4429125"/>
            <a:ext cx="9639300" cy="371475"/>
          </a:xfrm>
          <a:prstGeom prst="rect">
            <a:avLst/>
          </a:prstGeom>
          <a:noFill/>
          <a:ln w="0">
            <a:noFill/>
          </a:ln>
        </p:spPr>
        <p:txBody>
          <a:bodyPr wrap="square" lIns="0" tIns="0" rIns="0" bIns="0" anchor="ctr">
            <a:normAutofit fontScale="90354"/>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
        <p:nvSpPr>
          <p:cNvPr id="81" name="Rectangle 80">
            <a:extLst>
              <a:ext uri="{FF2B5EF4-FFF2-40B4-BE49-F238E27FC236}">
                <a16:creationId xmlns:a16="http://schemas.microsoft.com/office/drawing/2014/main" id="{BCD8444D-D9DB-4158-8088-C522B8AFF193}"/>
              </a:ext>
            </a:extLst>
          </p:cNvPr>
          <p:cNvSpPr>
            <a:spLocks noGrp="1"/>
          </p:cNvSpPr>
          <p:nvPr/>
        </p:nvSpPr>
        <p:spPr>
          <a:xfrm>
            <a:off x="1314450" y="4905375"/>
            <a:ext cx="9639300" cy="285750"/>
          </a:xfrm>
          <a:prstGeom prst="rect">
            <a:avLst/>
          </a:prstGeom>
          <a:noFill/>
          <a:ln w="0">
            <a:noFill/>
          </a:ln>
        </p:spPr>
        <p:txBody>
          <a:bodyPr wrap="square" lIns="0" tIns="0" rIns="0" bIns="0" anchor="ctr">
            <a:normAutofit/>
          </a:bodyPr>
          <a:lstStyle/>
          <a:p>
            <a:pPr>
              <a:buNone/>
              <a:defRPr sz="1275" b="0">
                <a:solidFill>
                  <a:srgbClr val="52637B"/>
                </a:solidFill>
                <a:latin typeface="Aptos"/>
                <a:ea typeface="Aptos"/>
                <a:cs typeface="Aptos"/>
              </a:defRPr>
            </a:pPr>
            <a:r>
              <a:rPr sz="1275" b="0" dirty="0" err="1">
                <a:solidFill>
                  <a:srgbClr val="52637B"/>
                </a:solidFill>
                <a:latin typeface="Aptos"/>
                <a:ea typeface="Aptos"/>
                <a:cs typeface="Aptos"/>
              </a:rPr>
              <a:t>Следећи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корак</a:t>
            </a:r>
            <a:r>
              <a:rPr sz="1275" b="0" dirty="0">
                <a:solidFill>
                  <a:srgbClr val="52637B"/>
                </a:solidFill>
                <a:latin typeface="Aptos"/>
                <a:ea typeface="Aptos"/>
                <a:cs typeface="Aptos"/>
              </a:rPr>
              <a:t>: </a:t>
            </a:r>
            <a:r>
              <a:rPr sz="1275" b="0" dirty="0" err="1">
                <a:solidFill>
                  <a:srgbClr val="52637B"/>
                </a:solidFill>
                <a:latin typeface="Aptos"/>
                <a:ea typeface="Aptos"/>
                <a:cs typeface="Aptos"/>
              </a:rPr>
              <a:t>применити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исти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модел</a:t>
            </a:r>
            <a:r>
              <a:rPr sz="1275" b="0" dirty="0">
                <a:solidFill>
                  <a:srgbClr val="52637B"/>
                </a:solidFill>
                <a:latin typeface="Aptos"/>
                <a:ea typeface="Aptos"/>
                <a:cs typeface="Aptos"/>
              </a:rPr>
              <a:t> </a:t>
            </a:r>
            <a:r>
              <a:rPr sz="1275" b="0" dirty="0" err="1">
                <a:solidFill>
                  <a:srgbClr val="52637B"/>
                </a:solidFill>
                <a:latin typeface="Aptos"/>
                <a:ea typeface="Aptos"/>
                <a:cs typeface="Aptos"/>
              </a:rPr>
              <a:t>на</a:t>
            </a:r>
            <a:r>
              <a:rPr sz="1275" b="0" dirty="0">
                <a:solidFill>
                  <a:srgbClr val="52637B"/>
                </a:solidFill>
                <a:latin typeface="Aptos"/>
                <a:ea typeface="Aptos"/>
                <a:cs typeface="Aptos"/>
              </a:rPr>
              <a:t> </a:t>
            </a:r>
            <a:r>
              <a:rPr sz="1275" b="0" dirty="0" err="1">
                <a:solidFill>
                  <a:srgbClr val="52637B"/>
                </a:solidFill>
                <a:latin typeface="Aptos"/>
                <a:ea typeface="Aptos"/>
                <a:cs typeface="Aptos"/>
              </a:rPr>
              <a:t>једну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реалну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границу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сопственом</a:t>
            </a:r>
            <a:r>
              <a:rPr sz="1275" b="0" dirty="0">
                <a:solidFill>
                  <a:srgbClr val="52637B"/>
                </a:solidFill>
                <a:latin typeface="Aptos"/>
                <a:ea typeface="Aptos"/>
                <a:cs typeface="Aptos"/>
              </a:rPr>
              <a:t> </a:t>
            </a:r>
            <a:r>
              <a:rPr sz="1275" b="0" dirty="0" err="1">
                <a:solidFill>
                  <a:srgbClr val="52637B"/>
                </a:solidFill>
                <a:latin typeface="Aptos"/>
                <a:ea typeface="Aptos"/>
                <a:cs typeface="Aptos"/>
              </a:rPr>
              <a:t>пројекту</a:t>
            </a:r>
            <a:r>
              <a:rPr sz="1275" b="0" dirty="0">
                <a:solidFill>
                  <a:srgbClr val="52637B"/>
                </a:solidFill>
                <a:latin typeface="Aptos"/>
                <a:ea typeface="Aptos"/>
                <a:cs typeface="Aptos"/>
              </a:rPr>
              <a:t>.</a:t>
            </a:r>
          </a:p>
        </p:txBody>
      </p:sp>
    </p:spTree>
    <p:extLst>
      <p:ext uri="{BB962C8B-B14F-4D97-AF65-F5344CB8AC3E}">
        <p14:creationId xmlns:p14="http://schemas.microsoft.com/office/powerpoint/2010/main" val="199956077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2144</Words>
  <Application>Microsoft Macintosh PowerPoint</Application>
  <DocSecurity>0</DocSecurity>
  <PresentationFormat>Widescreen</PresentationFormat>
  <Paragraphs>350</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Calibri</vt:lpstr>
      <vt:lpstr>Consolas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Jovanović Danijel</cp:lastModifiedBy>
  <cp:revision>2</cp:revision>
  <dcterms:created xsi:type="dcterms:W3CDTF">2026-09-29T08:52:47Z</dcterms:created>
  <dcterms:modified xsi:type="dcterms:W3CDTF">2026-09-29T09:14:51Z</dcterms:modified>
</cp:coreProperties>
</file>