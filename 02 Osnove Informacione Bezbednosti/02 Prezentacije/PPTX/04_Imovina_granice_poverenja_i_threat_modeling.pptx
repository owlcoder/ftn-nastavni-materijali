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18392b839c42c4" /><Relationship Type="http://schemas.openxmlformats.org/officeDocument/2006/relationships/extended-properties" Target="/docProps/app.xml" Id="R0e20f6e223d84502" /><Relationship Type="http://schemas.openxmlformats.org/officeDocument/2006/relationships/officeDocument" Target="/ppt/presentation.xml" Id="R6b31af50fb3b40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b48686e0d048a7"/>
  </p:sldMasterIdLst>
  <p:notesMasterIdLst>
    <p:notesMasterId xmlns:r="http://schemas.openxmlformats.org/officeDocument/2006/relationships" r:id="R19a859640536458c"/>
  </p:notesMasterIdLst>
  <p:sldIdLst>
    <p:sldId xmlns:r="http://schemas.openxmlformats.org/officeDocument/2006/relationships" id="256" r:id="R2cc36f49a5c1473d"/>
    <p:sldId xmlns:r="http://schemas.openxmlformats.org/officeDocument/2006/relationships" id="257" r:id="R9291243e3b414ffd"/>
    <p:sldId xmlns:r="http://schemas.openxmlformats.org/officeDocument/2006/relationships" id="258" r:id="R090b26231e564278"/>
    <p:sldId xmlns:r="http://schemas.openxmlformats.org/officeDocument/2006/relationships" id="259" r:id="R49b4907f627a4802"/>
    <p:sldId xmlns:r="http://schemas.openxmlformats.org/officeDocument/2006/relationships" id="260" r:id="R17c858215cfd4528"/>
    <p:sldId xmlns:r="http://schemas.openxmlformats.org/officeDocument/2006/relationships" id="261" r:id="R59bf0ed711d944c1"/>
    <p:sldId xmlns:r="http://schemas.openxmlformats.org/officeDocument/2006/relationships" id="262" r:id="R00282bfa1a06461e"/>
    <p:sldId xmlns:r="http://schemas.openxmlformats.org/officeDocument/2006/relationships" id="263" r:id="Rc1e0da25bf7345ea"/>
    <p:sldId xmlns:r="http://schemas.openxmlformats.org/officeDocument/2006/relationships" id="264" r:id="Rc8765220bc804f5a"/>
    <p:sldId xmlns:r="http://schemas.openxmlformats.org/officeDocument/2006/relationships" id="265" r:id="Rf3575a8e3ef846db"/>
    <p:sldId xmlns:r="http://schemas.openxmlformats.org/officeDocument/2006/relationships" id="266" r:id="R42d8ee32d61a4694"/>
    <p:sldId xmlns:r="http://schemas.openxmlformats.org/officeDocument/2006/relationships" id="267" r:id="R475b5128b20a4080"/>
    <p:sldId xmlns:r="http://schemas.openxmlformats.org/officeDocument/2006/relationships" id="268" r:id="R9fade02341d346c0"/>
    <p:sldId xmlns:r="http://schemas.openxmlformats.org/officeDocument/2006/relationships" id="269" r:id="Rcb7317931ce14c1a"/>
    <p:sldId xmlns:r="http://schemas.openxmlformats.org/officeDocument/2006/relationships" id="270" r:id="Ra08984e59c4f4d2f"/>
    <p:sldId xmlns:r="http://schemas.openxmlformats.org/officeDocument/2006/relationships" id="271" r:id="R20e9023627614445"/>
    <p:sldId xmlns:r="http://schemas.openxmlformats.org/officeDocument/2006/relationships" id="272" r:id="R04bf58cd992740a6"/>
    <p:sldId xmlns:r="http://schemas.openxmlformats.org/officeDocument/2006/relationships" id="273" r:id="Rf8a6611d26fb4f62"/>
    <p:sldId xmlns:r="http://schemas.openxmlformats.org/officeDocument/2006/relationships" id="274" r:id="R294d723fe0bf4664"/>
    <p:sldId xmlns:r="http://schemas.openxmlformats.org/officeDocument/2006/relationships" id="275" r:id="R7e41888499004c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f9e1dd108d497c" /><Relationship Type="http://schemas.openxmlformats.org/officeDocument/2006/relationships/slideMaster" Target="/ppt/slideMasters/slideMaster1.xml" Id="Rf2b48686e0d048a7" /><Relationship Type="http://schemas.openxmlformats.org/officeDocument/2006/relationships/notesMaster" Target="/ppt/notesMasters/notesMaster1.xml" Id="R19a859640536458c" /><Relationship Type="http://schemas.openxmlformats.org/officeDocument/2006/relationships/presProps" Target="/ppt/presProps.xml" Id="Rf3d6e5c9eaad4e6a" /><Relationship Type="http://schemas.openxmlformats.org/officeDocument/2006/relationships/viewProps" Target="/ppt/viewProps.xml" Id="R619ee1e602794c1e" /><Relationship Type="http://schemas.openxmlformats.org/officeDocument/2006/relationships/tableStyles" Target="/ppt/tableStyles.xml" Id="R3b737df816e444ee" /><Relationship Type="http://schemas.openxmlformats.org/officeDocument/2006/relationships/slide" Target="/ppt/slides/slide1.xml" Id="R2cc36f49a5c1473d" /><Relationship Type="http://schemas.openxmlformats.org/officeDocument/2006/relationships/slide" Target="/ppt/slides/slide2.xml" Id="R9291243e3b414ffd" /><Relationship Type="http://schemas.openxmlformats.org/officeDocument/2006/relationships/slide" Target="/ppt/slides/slide3.xml" Id="R090b26231e564278" /><Relationship Type="http://schemas.openxmlformats.org/officeDocument/2006/relationships/slide" Target="/ppt/slides/slide4.xml" Id="R49b4907f627a4802" /><Relationship Type="http://schemas.openxmlformats.org/officeDocument/2006/relationships/slide" Target="/ppt/slides/slide5.xml" Id="R17c858215cfd4528" /><Relationship Type="http://schemas.openxmlformats.org/officeDocument/2006/relationships/slide" Target="/ppt/slides/slide6.xml" Id="R59bf0ed711d944c1" /><Relationship Type="http://schemas.openxmlformats.org/officeDocument/2006/relationships/slide" Target="/ppt/slides/slide7.xml" Id="R00282bfa1a06461e" /><Relationship Type="http://schemas.openxmlformats.org/officeDocument/2006/relationships/slide" Target="/ppt/slides/slide8.xml" Id="Rc1e0da25bf7345ea" /><Relationship Type="http://schemas.openxmlformats.org/officeDocument/2006/relationships/slide" Target="/ppt/slides/slide9.xml" Id="Rc8765220bc804f5a" /><Relationship Type="http://schemas.openxmlformats.org/officeDocument/2006/relationships/slide" Target="/ppt/slides/slide10.xml" Id="Rf3575a8e3ef846db" /><Relationship Type="http://schemas.openxmlformats.org/officeDocument/2006/relationships/slide" Target="/ppt/slides/slide11.xml" Id="R42d8ee32d61a4694" /><Relationship Type="http://schemas.openxmlformats.org/officeDocument/2006/relationships/slide" Target="/ppt/slides/slide12.xml" Id="R475b5128b20a4080" /><Relationship Type="http://schemas.openxmlformats.org/officeDocument/2006/relationships/slide" Target="/ppt/slides/slide13.xml" Id="R9fade02341d346c0" /><Relationship Type="http://schemas.openxmlformats.org/officeDocument/2006/relationships/slide" Target="/ppt/slides/slide14.xml" Id="Rcb7317931ce14c1a" /><Relationship Type="http://schemas.openxmlformats.org/officeDocument/2006/relationships/slide" Target="/ppt/slides/slide15.xml" Id="Ra08984e59c4f4d2f" /><Relationship Type="http://schemas.openxmlformats.org/officeDocument/2006/relationships/slide" Target="/ppt/slides/slide16.xml" Id="R20e9023627614445" /><Relationship Type="http://schemas.openxmlformats.org/officeDocument/2006/relationships/slide" Target="/ppt/slides/slide17.xml" Id="R04bf58cd992740a6" /><Relationship Type="http://schemas.openxmlformats.org/officeDocument/2006/relationships/slide" Target="/ppt/slides/slide18.xml" Id="Rf8a6611d26fb4f62" /><Relationship Type="http://schemas.openxmlformats.org/officeDocument/2006/relationships/slide" Target="/ppt/slides/slide19.xml" Id="R294d723fe0bf4664" /><Relationship Type="http://schemas.openxmlformats.org/officeDocument/2006/relationships/slide" Target="/ppt/slides/slide20.xml" Id="R7e41888499004c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19fb2b16ac46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565d0a5d784046" /><Relationship Type="http://schemas.openxmlformats.org/officeDocument/2006/relationships/notesMaster" Target="/ppt/notesMasters/notesMaster1.xml" Id="R9d0e549c155c46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1a3b6e8d1b4e87" /><Relationship Type="http://schemas.openxmlformats.org/officeDocument/2006/relationships/notesMaster" Target="/ppt/notesMasters/notesMaster1.xml" Id="R68c2664afc3d4c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d411051a3e482e" /><Relationship Type="http://schemas.openxmlformats.org/officeDocument/2006/relationships/notesMaster" Target="/ppt/notesMasters/notesMaster1.xml" Id="R31a5b75e8fff47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cf1c8f430b47f7" /><Relationship Type="http://schemas.openxmlformats.org/officeDocument/2006/relationships/notesMaster" Target="/ppt/notesMasters/notesMaster1.xml" Id="Rd96a1977d82a4d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71d5a69353430e" /><Relationship Type="http://schemas.openxmlformats.org/officeDocument/2006/relationships/notesMaster" Target="/ppt/notesMasters/notesMaster1.xml" Id="Rcf623a48d2344b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e1a9b0521c49c8" /><Relationship Type="http://schemas.openxmlformats.org/officeDocument/2006/relationships/notesMaster" Target="/ppt/notesMasters/notesMaster1.xml" Id="Rf8703283981e4e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968de4d89248b8" /><Relationship Type="http://schemas.openxmlformats.org/officeDocument/2006/relationships/notesMaster" Target="/ppt/notesMasters/notesMaster1.xml" Id="R89411cf8dc4846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31109949ba41ef" /><Relationship Type="http://schemas.openxmlformats.org/officeDocument/2006/relationships/notesMaster" Target="/ppt/notesMasters/notesMaster1.xml" Id="R88e1b12c77fb4a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6e0934a248416e" /><Relationship Type="http://schemas.openxmlformats.org/officeDocument/2006/relationships/notesMaster" Target="/ppt/notesMasters/notesMaster1.xml" Id="Rca4ffe70494349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fbf803ec544b98" /><Relationship Type="http://schemas.openxmlformats.org/officeDocument/2006/relationships/notesMaster" Target="/ppt/notesMasters/notesMaster1.xml" Id="R6d0e4778d64140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b3f7ecf2b74c7b" /><Relationship Type="http://schemas.openxmlformats.org/officeDocument/2006/relationships/notesMaster" Target="/ppt/notesMasters/notesMaster1.xml" Id="Rdc744f7ef76746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3bf0a30fb242c4" /><Relationship Type="http://schemas.openxmlformats.org/officeDocument/2006/relationships/notesMaster" Target="/ppt/notesMasters/notesMaster1.xml" Id="R6cc5ac0320524e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9e4357ce9f47d2" /><Relationship Type="http://schemas.openxmlformats.org/officeDocument/2006/relationships/notesMaster" Target="/ppt/notesMasters/notesMaster1.xml" Id="R9bbec7ee66e141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62c5449d604161" /><Relationship Type="http://schemas.openxmlformats.org/officeDocument/2006/relationships/notesMaster" Target="/ppt/notesMasters/notesMaster1.xml" Id="R43be9ec04b764f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457ac754ce94a20" /><Relationship Type="http://schemas.openxmlformats.org/officeDocument/2006/relationships/notesMaster" Target="/ppt/notesMasters/notesMaster1.xml" Id="R89004dbd77574d4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72ac1dbb2f547ab" /><Relationship Type="http://schemas.openxmlformats.org/officeDocument/2006/relationships/notesMaster" Target="/ppt/notesMasters/notesMaster1.xml" Id="Rfe156342bf514fe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f52b8157a5e48c8" /><Relationship Type="http://schemas.openxmlformats.org/officeDocument/2006/relationships/notesMaster" Target="/ppt/notesMasters/notesMaster1.xml" Id="R4c09d2753cc64e0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e339e75403b4926" /><Relationship Type="http://schemas.openxmlformats.org/officeDocument/2006/relationships/notesMaster" Target="/ppt/notesMasters/notesMaster1.xml" Id="Rba47d61d0444489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3a932295d3d4d3f" /><Relationship Type="http://schemas.openxmlformats.org/officeDocument/2006/relationships/notesMaster" Target="/ppt/notesMasters/notesMaster1.xml" Id="R7a21417fb694410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c92ef5271c048c8" /><Relationship Type="http://schemas.openxmlformats.org/officeDocument/2006/relationships/notesMaster" Target="/ppt/notesMasters/notesMaster1.xml" Id="R2d864ab0495243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186933132448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b7a0d7d13f44c5" /><Relationship Type="http://schemas.openxmlformats.org/officeDocument/2006/relationships/slideLayout" Target="/ppt/slideLayouts/slideLayout1.xml" Id="R9cd962b00d2b4e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d962b00d2b4e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01ea4860d4bdb" /><Relationship Type="http://schemas.openxmlformats.org/officeDocument/2006/relationships/notesSlide" Target="/ppt/notesSlides/notesSlide1.xml" Id="R873264e55fe24d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f94419b8b4270" /><Relationship Type="http://schemas.openxmlformats.org/officeDocument/2006/relationships/notesSlide" Target="/ppt/notesSlides/notesSlide2.xml" Id="Rf1b42bd520fd4b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215fb2cc84ba3" /><Relationship Type="http://schemas.openxmlformats.org/officeDocument/2006/relationships/notesSlide" Target="/ppt/notesSlides/notesSlide3.xml" Id="Rac77e58726ff46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57102ddf34ee6" /><Relationship Type="http://schemas.openxmlformats.org/officeDocument/2006/relationships/notesSlide" Target="/ppt/notesSlides/notesSlide4.xml" Id="Re946a230057c41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257ee3af747c6" /><Relationship Type="http://schemas.openxmlformats.org/officeDocument/2006/relationships/notesSlide" Target="/ppt/notesSlides/notesSlide5.xml" Id="Ra74422b5c0ef44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d8dab2cfe4662" /><Relationship Type="http://schemas.openxmlformats.org/officeDocument/2006/relationships/notesSlide" Target="/ppt/notesSlides/notesSlide6.xml" Id="R1fd9d30a43b04e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1194f2767489a" /><Relationship Type="http://schemas.openxmlformats.org/officeDocument/2006/relationships/notesSlide" Target="/ppt/notesSlides/notesSlide7.xml" Id="Re1affbbf352c48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541cae84d439a" /><Relationship Type="http://schemas.openxmlformats.org/officeDocument/2006/relationships/notesSlide" Target="/ppt/notesSlides/notesSlide8.xml" Id="R98623f82b7de45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e7b9db7044328" /><Relationship Type="http://schemas.openxmlformats.org/officeDocument/2006/relationships/notesSlide" Target="/ppt/notesSlides/notesSlide9.xml" Id="R10382eff99994b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57857be804d67" /><Relationship Type="http://schemas.openxmlformats.org/officeDocument/2006/relationships/notesSlide" Target="/ppt/notesSlides/notesSlide10.xml" Id="Rd86facdaca1940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948d0cdcc44b2" /><Relationship Type="http://schemas.openxmlformats.org/officeDocument/2006/relationships/notesSlide" Target="/ppt/notesSlides/notesSlide11.xml" Id="Ra02b58327e6945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309af9c4247d8" /><Relationship Type="http://schemas.openxmlformats.org/officeDocument/2006/relationships/notesSlide" Target="/ppt/notesSlides/notesSlide12.xml" Id="R095568303f5b4d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49a3aa1ec48bb" /><Relationship Type="http://schemas.openxmlformats.org/officeDocument/2006/relationships/notesSlide" Target="/ppt/notesSlides/notesSlide13.xml" Id="R73f260019fc347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960a728e24ed3" /><Relationship Type="http://schemas.openxmlformats.org/officeDocument/2006/relationships/notesSlide" Target="/ppt/notesSlides/notesSlide14.xml" Id="Rf611af06494a46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ec86c3dbd4a9f" /><Relationship Type="http://schemas.openxmlformats.org/officeDocument/2006/relationships/notesSlide" Target="/ppt/notesSlides/notesSlide15.xml" Id="R8f948065c0c049a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5849846e84afc" /><Relationship Type="http://schemas.openxmlformats.org/officeDocument/2006/relationships/notesSlide" Target="/ppt/notesSlides/notesSlide16.xml" Id="R63f275f4d7404d6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2872df1e2494d" /><Relationship Type="http://schemas.openxmlformats.org/officeDocument/2006/relationships/notesSlide" Target="/ppt/notesSlides/notesSlide17.xml" Id="R830cd223b84946a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ed15aea0a47f9" /><Relationship Type="http://schemas.openxmlformats.org/officeDocument/2006/relationships/notesSlide" Target="/ppt/notesSlides/notesSlide18.xml" Id="R51ced5ab4d8645d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976f26e81428e" /><Relationship Type="http://schemas.openxmlformats.org/officeDocument/2006/relationships/notesSlide" Target="/ppt/notesSlides/notesSlide19.xml" Id="Rc3752855b70944e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4c40a34274022" /><Relationship Type="http://schemas.openxmlformats.org/officeDocument/2006/relationships/notesSlide" Target="/ppt/notesSlides/notesSlide20.xml" Id="R9b427cb75d4244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438E154-6145-4E5A-B373-5AC49BAA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5448BDFC-CE1E-4B98-9566-3BD7C294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10363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8D5560"/>
            </a:solidFill>
            <a:prstDash val="solid"/>
          </a:ln>
        </p:spPr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CDD03305-B22B-4DC6-A77D-1D8C7C86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38275"/>
            <a:ext cx="6477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5E25CD1-9FDA-451C-AB74-608119F1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103632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4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Имовина, границе поверења и threat modeling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30EFE5B-D964-46DA-9B12-82A59168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Идентификација имовине, токова података и граница поверења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ED5FB5BB-78D8-461F-AC65-6547D5FE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10363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8D5560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376D0CB-C851-4748-9008-29C10E04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Факултет техничких наука · Универзитет у Новом Саду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CA555B5-2B0F-4A4D-9617-A16BBE03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81650"/>
            <a:ext cx="3181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Академска 2026/27.</a:t>
            </a:r>
          </a:p>
        </p:txBody>
      </p:sp>
    </p:spTree>
    <p:extLst>
      <p:ext uri="{BB962C8B-B14F-4D97-AF65-F5344CB8AC3E}">
        <p14:creationId xmlns:p14="http://schemas.microsoft.com/office/powerpoint/2010/main" val="3912611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4A75551-47AC-42DD-894B-51B9A560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1D1F72F9-8475-4B29-9389-7867DD8E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F905508-6F3D-46D0-AB87-3B6A6B81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03F4210-5265-4EA6-ACD1-5AB6BC72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Имовина и границе поверења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C99276E-9939-4C1C-B512-E4AB1907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Анализа претњи полази од вредне имовине, токова података, граница поверења и последица могућег нарушавања.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8F61B67-E835-4CD3-9A74-5FB48C5B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3257550" cy="2228850"/>
          </a:xfrm>
          <a:prstGeom xmlns:a="http://schemas.openxmlformats.org/drawingml/2006/main" prst="roundRect">
            <a:avLst>
              <a:gd name="adj" fmla="val 598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E4C89A1-CCD0-4856-9004-8B7D227D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955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C347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34747"/>
                </a:solidFill>
                <a:latin typeface="Aptos"/>
                <a:ea typeface="Aptos"/>
                <a:cs typeface="Aptos"/>
              </a:rPr>
              <a:t>ПРЕДМЕТ АНАЛИЗЕ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50CAC0A-BCB5-49C2-AC35-F15DBEE7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432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Ризик који се анализира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67C9843-D798-4005-BB13-58C173F9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29527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Безбедносна одлука полази од вредне имовине, тока података и граница поверења. На тој основи тим идентификује релевантну претњу и бира контролу примерену конкретном ризику.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85E2777-5735-470F-827B-F9AB4524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571750"/>
            <a:ext cx="3257550" cy="2228850"/>
          </a:xfrm>
          <a:prstGeom xmlns:a="http://schemas.openxmlformats.org/drawingml/2006/main" prst="roundRect">
            <a:avLst>
              <a:gd name="adj" fmla="val 5983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42C5CA4-247A-480D-8869-00F1F6FA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955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ЗНАЧАЈ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B8D97C7-BD1C-48B6-8A57-D6797D8B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432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Значај за безбедност система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6576FD5-FE32-460A-AC91-C3FFABCA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52800"/>
            <a:ext cx="29527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Моделовање претњи повезује техничку структуру система са пословним последицама и омогућава рану проверу безбедносних претпоставки.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D549F01-570D-4502-8F1D-DCB16F21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71750"/>
            <a:ext cx="3257550" cy="2228850"/>
          </a:xfrm>
          <a:prstGeom xmlns:a="http://schemas.openxmlformats.org/drawingml/2006/main" prst="roundRect">
            <a:avLst>
              <a:gd name="adj" fmla="val 5983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3DBEFDF-FC2F-47F4-BA5E-3A0E5C45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955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КРИТЕРИЈУМ ПРОВЕРЕ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AF513EF-E129-40E9-8C21-B308DB2A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432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Проверљив резултат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9586325-2FCB-4CB8-88A8-E9698B1D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52800"/>
            <a:ext cx="29527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Одлука је јасна, примењује се на серверу и оставља поновљив доказ успешног и одбијеног исхода.</a:t>
            </a:r>
          </a:p>
        </p:txBody>
      </p:sp>
    </p:spTree>
    <p:extLst>
      <p:ext uri="{BB962C8B-B14F-4D97-AF65-F5344CB8AC3E}">
        <p14:creationId xmlns:p14="http://schemas.microsoft.com/office/powerpoint/2010/main" val="16466145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A06B96FA-D316-4DD4-A254-327F0945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6EE3C1E7-4278-4218-9072-D8D6D9E2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D653FF3-2E68-48F6-B439-AB6EF3AC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75F685-09F0-4BD7-A50D-916F84DC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Основни појмови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C60D702-1895-4315-BE31-D602D054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Имовина, ток података, граница поверења и претња одређују обим анализе и избор контроле.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460D200-DCE9-42E0-9637-958F2294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24717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FB7807A-465F-42EB-8354-B710D1F6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533650"/>
            <a:ext cx="21859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55229E5-0E6F-4B3A-AFA2-14FDB468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22050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Имовина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FFB0F43-7D9D-4911-B4E5-43C3317E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09925"/>
            <a:ext cx="21859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вредан податак или сервис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2903863-C437-4082-8720-ED091DC3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2419350"/>
            <a:ext cx="24717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DF8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9565FB7-2109-401E-9F83-E4B7F195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2533650"/>
            <a:ext cx="21859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684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849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2F39EE5-6741-4F1F-BAC9-7784728D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2819400"/>
            <a:ext cx="22050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Ток података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525D397-4742-4507-A89A-7FA3E7D7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3209925"/>
            <a:ext cx="21859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кретање информације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A33753B-0900-4C5A-8DA7-11010DA1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19350"/>
            <a:ext cx="24717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DCB0F77-931A-43C2-82FF-DE3BBB95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21859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1D9261B-8A56-4203-B7D8-0932C030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819400"/>
            <a:ext cx="22050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Граница поверења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8C15F42-A428-44E3-8C0D-C94730D0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9925"/>
            <a:ext cx="21859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промена претпоставки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D3CDD68B-1013-497C-8585-9714B281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2419350"/>
            <a:ext cx="24717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0F818C2-34D0-4945-A6B3-36E1A2A2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533650"/>
            <a:ext cx="21859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D0E251E-F2EC-46C5-8358-B82EFBC6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2819400"/>
            <a:ext cx="22050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Претња и контрола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BA70F7E-BDA8-48AF-9642-30F32B93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209925"/>
            <a:ext cx="21859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ризик и одговор</a:t>
            </a:r>
          </a:p>
        </p:txBody>
      </p:sp>
      <p:cxnSp>
        <p:nvCxnSpPr>
          <p:cNvPr id="221" name="Straight Arrow Connector 124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95638" y="30480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22" name="Straight Arrow Connector 125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53126" y="3048000"/>
            <a:ext cx="285749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23" name="Straight Arrow Connector 126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10613" y="30480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1C1C4040-0AAA-489F-A26E-94EE81F1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29125"/>
            <a:ext cx="571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76" name="Rounded Rectangle 75">
            <a:extLst xmlns:a="http://schemas.openxmlformats.org/drawingml/2006/main">
              <a:ext uri="{FF2B5EF4-FFF2-40B4-BE49-F238E27FC236}">
                <a16:creationId xmlns:a16="http://schemas.microsoft.com/office/drawing/2014/main" id="{8560F7A7-990E-447A-90A4-8260606D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1036320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55C7F82E-28B9-4E76-BC3F-E12DC3B7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78" name="Rectangle 77">
            <a:extLst xmlns:a="http://schemas.openxmlformats.org/drawingml/2006/main">
              <a:ext uri="{FF2B5EF4-FFF2-40B4-BE49-F238E27FC236}">
                <a16:creationId xmlns:a16="http://schemas.microsoft.com/office/drawing/2014/main" id="{F5114102-0CAD-44E2-9E8A-9E54D464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0075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854D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ЗАКЉУЧАК</a:t>
            </a:r>
          </a:p>
        </p:txBody>
      </p:sp>
      <p:sp>
        <p:nvSpPr>
          <p:cNvPr id="79" name="Rectangle 78">
            <a:extLst xmlns:a="http://schemas.openxmlformats.org/drawingml/2006/main">
              <a:ext uri="{FF2B5EF4-FFF2-40B4-BE49-F238E27FC236}">
                <a16:creationId xmlns:a16="http://schemas.microsoft.com/office/drawing/2014/main" id="{7176B895-D353-488C-A8C3-092A7FE1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38675"/>
            <a:ext cx="963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Претња добија смисао тек када се веже за конкретну имовину, ток и последицу.</a:t>
            </a:r>
          </a:p>
        </p:txBody>
      </p:sp>
    </p:spTree>
    <p:extLst>
      <p:ext uri="{BB962C8B-B14F-4D97-AF65-F5344CB8AC3E}">
        <p14:creationId xmlns:p14="http://schemas.microsoft.com/office/powerpoint/2010/main" val="9163429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10E9D19-F874-46F7-A142-42F0945A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3AC22596-1E35-42DB-A026-2655AB49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2184DC6-8B31-4EA9-872D-88CB5258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24BB56E-A996-4BD0-B471-4F7F0C72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Имовина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53FB74B-6872-47D1-AAED-AE0D8F38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вредан податак или сервис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9DF6294-22A9-4C97-B094-F5BE1733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81573D6-B3F9-46C2-86D0-8B0D619C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4F52921-1E60-400D-834F-9B8E0DE6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Имовина има власника, значај и животни циклус.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DEF3699-04AB-46A7-8B16-41B4CE37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који улаз покреће ову одлуку?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3FE369F-9ECE-4318-8E26-008A6291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11D65DE-8357-4855-A31F-0684E2DD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C29744C-74A0-4745-BA52-55041585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Имовина обухвата базу података, налоге, кључеве, сервисне идентитете, конфигурацију и пословне записе.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5BB5A41-C45E-40B3-BCCC-66F8E9B7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која граница мора бити видљива?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0065901-2558-441B-8E89-A070C0D5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02FE7D1-C1FF-4786-9D76-3D7C2311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20CC111-BAB4-4E69-8592-92787198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Критичност имовине одређује колико брзо се реагује и колико је доказа потребно.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03CE371-6249-4CD6-9F03-B07A2F85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који доказ остаје после исхода?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DAD2FB0-6E95-49D5-8FC7-8F877F0C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52975"/>
            <a:ext cx="8991600" cy="7429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782D494-9842-477D-9864-2A8952A2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95850"/>
            <a:ext cx="571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D15E0DA-62DC-40F7-8CE0-A0D8610D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03632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47B89CAC-0A96-458C-9DEA-643B5D1E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14900"/>
            <a:ext cx="571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C38F8880-DD3D-4D58-81A8-CC51573D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67275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854D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ПИТАЊЕ ЗА АНАЛИЗУ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3AB9F4F-D4AA-4556-9C3B-B02DE717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963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Који ток осетљивог податка прелази границу поверења и на ком месту се претпоставка мења?</a:t>
            </a:r>
          </a:p>
        </p:txBody>
      </p:sp>
    </p:spTree>
    <p:extLst>
      <p:ext uri="{BB962C8B-B14F-4D97-AF65-F5344CB8AC3E}">
        <p14:creationId xmlns:p14="http://schemas.microsoft.com/office/powerpoint/2010/main" val="629976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18C4CC2-C80C-419D-AE9C-4BAB1DF5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B7B3C0EE-FC07-4D3C-A430-7320AB25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69F7C27-25CE-41F2-8D3E-23C5B080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7862CF8-8A03-48BC-B22B-5F5FFB90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Ток података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55A112-AFB3-4357-9D58-09EEC76B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кретање информације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92D8E37-EB1C-447F-ABE1-78CCE8CA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B3500B-C031-4298-9211-072C4DC3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5865A02-1151-4D78-8963-A28E2B24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Интеграција спољне компоненте не представља основ за доделу поверења.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BAC9E4C-7219-4065-883D-80077AC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који улаз покреће ову одлуку?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DDBDF16-F9A0-4FB2-A42D-2C4B7BD1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7DB28DE-6AB1-47C4-8FBD-7F4F659B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8E27151-8F87-460F-B91C-305FB48B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1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Граница поверења може бити API позив, ред порука, административни интерфејс или извоз у датотеку.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DAD9A4B-9120-45EF-A1C6-58DF6E88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која граница мора бити видљива?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1CFF6E3-18FC-41D6-B905-918C5B35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34B146B-F738-4D44-BB64-4D8B9069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5D1DE3E-2DDE-4897-BB16-5D7F669E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Ток података открива места на којима информација може бити измењена, изгубљена или погрешно изложена.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FBF93F6-F491-4F77-9E07-FEBBD383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који доказ остаје после исхода?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FDC0A8C6-E200-4345-980F-A9256A5C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52975"/>
            <a:ext cx="8991600" cy="7429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5370814-0A6E-433B-BEBC-8EF94850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95850"/>
            <a:ext cx="571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6E47795-B286-4D49-8189-537D3A04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03632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2B19701F-F348-480A-AA1E-50FF0C36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14900"/>
            <a:ext cx="571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456F6B3-1830-4491-A112-B05165EE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67275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854D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ПИТАЊЕ ЗА АНАЛИЗУ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F02F80F-7CB2-42D1-BFA5-AB58D1C4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963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Који ток осетљивог податка прелази границу поверења и на ком месту се претпоставка мења?</a:t>
            </a:r>
          </a:p>
        </p:txBody>
      </p:sp>
    </p:spTree>
    <p:extLst>
      <p:ext uri="{BB962C8B-B14F-4D97-AF65-F5344CB8AC3E}">
        <p14:creationId xmlns:p14="http://schemas.microsoft.com/office/powerpoint/2010/main" val="630948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0B949FFD-F3B4-45E2-8782-2B717E51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6ABC0991-3441-400C-9AA0-BC3F5321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E4C543B-9FE0-42F5-8BB5-95DD7C7E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2D11C2D-3AC0-4EBC-99C3-28E42005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Граница поверења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2EF04B8-6EF6-458F-B10C-61B00E15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промена претпоставки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7618632-EF21-4D40-80BC-1AA12109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343FA4C-5F74-43DE-B9B0-833B0C51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EBEA036-C96D-43AE-A166-6BEF7FB4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Претња постаје корисна када води до захтева, контроле и начина провере.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73B08C7-82F2-4091-A8E9-21566E59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који улаз покреће ову одлуку?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8914F9A-39E8-42D0-B7DE-6B8062C0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0F4C8E6-18B1-4C1B-B484-3A253216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D8F0FF8-9E69-4BB8-BCD0-0E4118D5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Модел претњи обухвата ограничен број реалних сценарија, одговарајуће контроле и начине њихове провере.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15C436F-1D84-4E45-A60B-9E2F5DB0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која граница мора бити видљива?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6D3B74A-B08A-44A1-B6C6-AF87C95E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6226EC3-07D7-4174-9A77-E460ACEB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0E23D5F-D55D-4FEA-A34C-F8AAD64D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Претња добија приоритет према утицају, вероватноћи и реалним постојећим контролама.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A5596FF-1A89-4A53-98CC-CC0B47A6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који доказ остаје после исхода?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601416E3-7453-429B-AFE2-4F267049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52975"/>
            <a:ext cx="8991600" cy="7429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2D8B7E7C-305A-4AAF-87DC-71B831FE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95850"/>
            <a:ext cx="571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F7F1C4ED-4CCE-4237-B419-0383E681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03632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8D5AFCCD-6FC4-43AB-9137-579E0575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14900"/>
            <a:ext cx="571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C5CA5F9-B54A-4474-9E5D-27E2CCCC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67275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854D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ПИТАЊЕ ЗА АНАЛИЗУ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07992A2-56BB-4F64-B972-E5CEF2FE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963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Који ток осетљивог податка прелази границу поверења и на ком месту се претпоставка мења?</a:t>
            </a:r>
          </a:p>
        </p:txBody>
      </p:sp>
    </p:spTree>
    <p:extLst>
      <p:ext uri="{BB962C8B-B14F-4D97-AF65-F5344CB8AC3E}">
        <p14:creationId xmlns:p14="http://schemas.microsoft.com/office/powerpoint/2010/main" val="21061235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0045D0C5-8622-4DF2-9A25-CB630713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58BA142C-174F-4835-974F-89DCE548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AC487BA-7738-4A92-A26D-75469F45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56C3559-ADEC-413B-94D4-810BBCAA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Претња и контрола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FF9CBFC-4A69-465F-BD23-ECECB0FE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ризик и одговор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030D493-4974-47B1-ADDF-970C9B04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310B509-CCA3-4C12-88B4-A6F81A6C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BCEC275-465A-438A-822A-2A06C51E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Критичност имовине одређује колико брзо се реагује и колико је доказа потребно.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0D89E90-F1E8-4C39-B71E-D6EC4D25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који улаз покреће ову одлуку?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B6F5D9A-E162-49BE-A63E-BD3E9A03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B9C7114-486B-425D-B12A-77EF5760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7FF5EA7-12BA-4BF5-BB46-AF52739F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Ток података открива места на којима информација може бити измењена, изгубљена или погрешно изложена.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9452B4B-9DB6-4832-A932-FD5E9DB1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која граница мора бити видљива?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8BE39FA-ECE2-4782-855A-36105C14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7A47228-5BD4-406C-A0AE-FB0A2A8D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135F944-1907-479C-BE4E-453F765B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Претња добија приоритет према утицају, вероватноћи и реалним постојећим контролама.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FB9D63F-FBAF-4937-B0C1-B47F3099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који доказ остаје после исхода?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B69E0DEF-6439-4E89-8833-CC65B6A1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52975"/>
            <a:ext cx="8991600" cy="7429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00F918B-A39C-4DDF-87F2-8F6B5EA5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95850"/>
            <a:ext cx="571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2ADBDF1C-822E-484F-8C0D-19187289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03632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F849A07B-D82F-494E-8AC3-9988E5B6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14900"/>
            <a:ext cx="571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8DA5A11-F142-4448-9AB8-64D1EA6E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67275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854D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ПИТАЊЕ ЗА АНАЛИЗУ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E0D6046-D93B-4D9F-A87A-D44EAD54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963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Који ток осетљивог податка прелази границу поверења и на ком месту се претпоставка мења?</a:t>
            </a:r>
          </a:p>
        </p:txBody>
      </p:sp>
    </p:spTree>
    <p:extLst>
      <p:ext uri="{BB962C8B-B14F-4D97-AF65-F5344CB8AC3E}">
        <p14:creationId xmlns:p14="http://schemas.microsoft.com/office/powerpoint/2010/main" val="1140968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ECEA337-34A2-421E-A78B-0B315320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E8DA0542-F641-440C-8FD9-0FD69416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58448C-1092-4B01-A7A7-E7D68472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C0BAA7A-50BE-4FF8-B283-73DB7FF4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Имовина, рањивост и претња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800D1E7-E569-442D-9EE1-717CD56B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Поређење приказује функцију сваког елемента и ограничење његове самосталне примене.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6D10779-3F2D-4723-BC0B-975EE359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184"/>
                </a:solidFill>
                <a:latin typeface="Aptos"/>
                <a:ea typeface="Aptos"/>
                <a:cs typeface="Aptos"/>
              </a:rPr>
              <a:t>Појам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28CD2F2-8779-4E65-BB65-C8DEECF4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478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184"/>
                </a:solidFill>
                <a:latin typeface="Aptos"/>
                <a:ea typeface="Aptos"/>
                <a:cs typeface="Aptos"/>
              </a:rPr>
              <a:t>Значење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6B3DF80-8D29-44F3-9D1B-4B923CE2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4787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 за анализу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84C69B6-58E0-465E-BD04-1F48B161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0591800" cy="6096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A379FBE-1CC1-42F9-B432-5DF89E11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Имовина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4842B23-D1DE-467A-8322-438597D0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288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Оно чија вредност захтева заштиту.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8325113-AB77-4D13-8970-C184F3BC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288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Шта губимо ако је угрожена?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1E738DDD-0E70-43CB-8B64-A47F5BE4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6096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88026C7-7973-416F-A562-55341414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Рањивост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12F9C6B-A6D7-4535-BC7A-265B83F5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7182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Слабост коју је могуће искористити.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58C6111-5480-4552-9132-C4582EE7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7182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Где систем нема довољну заштиту?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EB0FAE5A-9114-4606-896B-37F8602F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10591800" cy="6096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1295287-6562-4381-B123-99C82805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7651D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Претња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7C2E692-41AC-42D1-9C0F-A07DAC7B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147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Могући узрок нежељеног исхода.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B291632-3D23-4FEE-9FEA-36CC1B66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147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Ко или шта може активирати слабост?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C0A6C18D-D604-4ABD-B283-465F2B93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10591800" cy="6096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1B1E80E-40FB-48A9-8968-6E055927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Ризик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8FA89B7-2988-49FE-A7AA-706C798D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5772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Комбинација вероватноће и последице.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28CF91B-A8B6-4857-8FC9-AAFD24AF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5772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Шта прво треба умањити?</a:t>
            </a:r>
          </a:p>
        </p:txBody>
      </p:sp>
    </p:spTree>
    <p:extLst>
      <p:ext uri="{BB962C8B-B14F-4D97-AF65-F5344CB8AC3E}">
        <p14:creationId xmlns:p14="http://schemas.microsoft.com/office/powerpoint/2010/main" val="990310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64223066-3CAB-4FB4-9D36-F911BB1E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FA312205-96A3-48F9-B1F3-2BCABF3C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4E804E8-1A2A-43BA-8AAD-9150BDF9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E22B35A-7458-452E-8154-2EC43017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Модел threat модела</a:t>
            </a:r>
            <a:endParaRPr sz="2550" b="1">
              <a:solidFill>
                <a:srgbClr val="1A202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5AE2EFC-C09A-4E3D-97D0-30213CD6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Претња добија смисао тек када се веже за конкретну имовину, ток и последицу.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BCD605F-E57E-4571-BDDD-D78D044E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462213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55589F1-BA3B-4307-AD0F-B33421AF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86050"/>
            <a:ext cx="2176463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D1E6DCB-85AA-4339-8C22-32FEDF17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21955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Имовина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DE1ADDD-C323-436D-A0B1-D697F914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62325"/>
            <a:ext cx="21764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шта штитимо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E357AFB-A650-4C0D-9DDA-3382CF4E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571750"/>
            <a:ext cx="2462213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DF8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7C25B4B-7BC0-4BAC-97CD-E26BB719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686050"/>
            <a:ext cx="2176463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684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849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BCB337A-0E7E-48C7-9C67-BC9B6D71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2971800"/>
            <a:ext cx="21955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Ток и граница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E6025FE-EF7A-411D-8375-B31E9486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3362325"/>
            <a:ext cx="21764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где се мења поверење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6B5F1C6-4439-499C-8AEE-1E1584D0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71750"/>
            <a:ext cx="2462213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5E378C0-67E5-4404-A654-BEE08428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2176463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0679666-0611-47DB-B9B7-33FC5195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971800"/>
            <a:ext cx="21955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Сценарио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6231FA0-961E-418C-985F-4473241E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62325"/>
            <a:ext cx="21764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шта може поћи по злу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F57ECD41-FD13-4665-A482-E20291B1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838" y="2571750"/>
            <a:ext cx="2462213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EE64AC9-DA39-4C11-8791-D861A40B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2686050"/>
            <a:ext cx="2176463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75C252B-1719-43D1-B730-BF1DE114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2971800"/>
            <a:ext cx="21955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Контрола и доказ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5011087-650E-4A6E-AB9D-95B341B2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3362325"/>
            <a:ext cx="21764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како умањујемо ризик</a:t>
            </a:r>
          </a:p>
        </p:txBody>
      </p:sp>
      <p:cxnSp>
        <p:nvCxnSpPr>
          <p:cNvPr id="221" name="Straight Arrow Connector 124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05163" y="3200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22" name="Straight Arrow Connector 125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53126" y="3200400"/>
            <a:ext cx="285749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23" name="Straight Arrow Connector 126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01088" y="3200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5C857043-709B-488D-A3B3-08746FFD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19600"/>
            <a:ext cx="8763000" cy="7429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35477D1E-9744-4BEB-8040-3C82EF00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62475"/>
            <a:ext cx="571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76" name="Rounded Rectangle 75">
            <a:extLst xmlns:a="http://schemas.openxmlformats.org/drawingml/2006/main">
              <a:ext uri="{FF2B5EF4-FFF2-40B4-BE49-F238E27FC236}">
                <a16:creationId xmlns:a16="http://schemas.microsoft.com/office/drawing/2014/main" id="{F541DD9F-7428-4443-9107-D946A08E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103632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2D0D965E-01A2-4066-869D-1F2959AA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571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78" name="Rectangle 77">
            <a:extLst xmlns:a="http://schemas.openxmlformats.org/drawingml/2006/main">
              <a:ext uri="{FF2B5EF4-FFF2-40B4-BE49-F238E27FC236}">
                <a16:creationId xmlns:a16="http://schemas.microsoft.com/office/drawing/2014/main" id="{53A9B990-94C2-4B44-AE62-849B3F6B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43425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854D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ЕЛЕМЕНТИ АНАЛИЗЕ</a:t>
            </a:r>
          </a:p>
        </p:txBody>
      </p:sp>
      <p:sp>
        <p:nvSpPr>
          <p:cNvPr id="79" name="Rectangle 78">
            <a:extLst xmlns:a="http://schemas.openxmlformats.org/drawingml/2006/main">
              <a:ext uri="{FF2B5EF4-FFF2-40B4-BE49-F238E27FC236}">
                <a16:creationId xmlns:a16="http://schemas.microsoft.com/office/drawing/2014/main" id="{F7E24B9F-859F-4243-AC4A-942121B3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72025"/>
            <a:ext cx="963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Анализа сваког корака обухвата покретача, место одлуке и траг који остаје после исхода.</a:t>
            </a:r>
          </a:p>
        </p:txBody>
      </p:sp>
    </p:spTree>
    <p:extLst>
      <p:ext uri="{BB962C8B-B14F-4D97-AF65-F5344CB8AC3E}">
        <p14:creationId xmlns:p14="http://schemas.microsoft.com/office/powerpoint/2010/main" val="7508862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87B81B7-C607-403C-A133-3F606816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E0915FB8-062A-44A0-B9F9-46D7CA40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C165E30-DF3B-4FBF-B27B-71014F59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42EC4A7-33A9-43C9-8D4E-7AB6CE76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Читање архитектонске скице кроз безбедност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8AE9E26-2398-4371-AEC0-1F904880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Процес приказује улазе, место одлуке и доказ који остаје после исхода.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519843C-077E-491B-8C28-9D1F7831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4572000" cy="2291759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67B8455-282A-48D7-B88B-0AF71AC1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76475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КОНТЕКСТ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87961EF-00E0-4C25-B29E-E0E33B18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24125"/>
            <a:ext cx="426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65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Читање архитектонске скице кроз безбедност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49D2D07-54C0-4C5B-AFE2-ACB8E5C7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42672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Архитектонска скица добија безбедносну вредност када се преко компоненти уцртају подаци, идентитети и границе поверења. Није потребно цртати сваку класу. Довољно је показати делове кроз које пролази вредна информација и одлуке које мењају њен статус.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499E99D-0CC9-4527-8AC3-FA0D903F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95500"/>
            <a:ext cx="56388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61D1F28-CCFE-4F57-8B12-3CC810C9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193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2478357-4FBD-4017-9A4D-B2DCB2CD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669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Означити улазе које контролише корисник или спољашњи сервис.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73A6521-17D5-4D26-8F5F-2505D904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71800"/>
            <a:ext cx="56388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281D28F-4CB8-403A-A6EE-89BD53E4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956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A7F2819-EB7F-433E-B770-CFB47FCB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432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Означити место где се идентитет или дозвола поново проверавају.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F63D9A0-5DE1-47E9-AB02-7EBB8B9D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48100"/>
            <a:ext cx="5638800" cy="8191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CB4E754-26EC-42A0-BA98-C8C49F3E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9719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C383141-7E9F-49EC-AAB6-45BAD92E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195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Означити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складишта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,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кључеве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интеграције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које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мењају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последицу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инцидента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6DA7740-7CF1-4A17-BB0D-CC377FD1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09464"/>
            <a:ext cx="5638800" cy="8763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7ABAA64-7788-4740-8E0D-5183D7C4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933289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907216F-7F3A-41CD-ADB9-50DFD60E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180939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Уз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сваку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границу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записати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једну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реалну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претпоставку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која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може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бити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погрешна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79191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78A7107-F221-44CB-90F0-D19F2536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900A40EB-D36B-41DA-A870-BF335FAE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D5ED7E9-36F1-45D0-8FF5-EB4CFA74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E8FF4B9-5CC0-4F67-86EA-799239A7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Модел пре контроле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50F1BCA-FC41-42E8-B39E-8D9E1E6F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Наведена правила остају видљива у имплементацији, тестовима и ревизији.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534ACF8-2A47-41E9-B82B-0367D4DB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257550" cy="2343150"/>
          </a:xfrm>
          <a:prstGeom xmlns:a="http://schemas.openxmlformats.org/drawingml/2006/main" prst="roundRect">
            <a:avLst>
              <a:gd name="adj" fmla="val 5691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3E1DFE0-C06F-42E3-B6F3-D2AEF33A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24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B3DF48E-FF80-4275-A858-1268E5FC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7177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Имовина има власника, значај и животни циклус.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A3B1A95-49F0-4B5D-8B39-D917CD81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295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Јасно правило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59077BC-94D2-4A45-B667-687E65E4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00300"/>
            <a:ext cx="3257550" cy="2343150"/>
          </a:xfrm>
          <a:prstGeom xmlns:a="http://schemas.openxmlformats.org/drawingml/2006/main" prst="roundRect">
            <a:avLst>
              <a:gd name="adj" fmla="val 5691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F5CACD7-A194-4CF9-BE49-21530708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24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651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82AD802-2B48-4904-823C-160E4D33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7177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Интеграција спољне компоненте не представља основ за доделу поверења.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98441AB-0B9D-4AA7-A887-E5296DFB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81450"/>
            <a:ext cx="295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Проверљива примена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4D3E6B6-F5B4-46C7-8D8C-11AAD4AE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3257550" cy="2343150"/>
          </a:xfrm>
          <a:prstGeom xmlns:a="http://schemas.openxmlformats.org/drawingml/2006/main" prst="roundRect">
            <a:avLst>
              <a:gd name="adj" fmla="val 5691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220B039-0454-45D6-997C-F67FC1CD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24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F071067-ABD3-40BB-8F0F-B7783F21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7177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Претња постаје корисна када води до захтева, контроле и начина провере.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D13B6D2-4239-4BD7-B6AD-89F248A8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81450"/>
            <a:ext cx="295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Видљив доказ</a:t>
            </a:r>
          </a:p>
        </p:txBody>
      </p:sp>
    </p:spTree>
    <p:extLst>
      <p:ext uri="{BB962C8B-B14F-4D97-AF65-F5344CB8AC3E}">
        <p14:creationId xmlns:p14="http://schemas.microsoft.com/office/powerpoint/2010/main" val="2695538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EBAA430-967D-416D-A2F3-F4640058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57D40449-4D2D-4ADA-AD29-0B91B2A0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49D63E7-C99D-4FCE-AB89-CC10DA16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F9CC480-B7FB-4F98-A0A5-38512638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Примена у развоју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435A14C-C7EF-4EEA-989F-BDBDCCB8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Тим примењује тему кроз серверске провере, тестове и ревизионе записе током развоја.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999F263-0AA9-43F8-A31E-A2C75BF0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4810125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519275C-F476-48C8-84C2-516D6ACE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50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РАЗВОЈНИ КОНТЕКСТ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511AFD6-AD7B-4FD6-9940-7A9114A9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81275"/>
            <a:ext cx="4505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Примена принципа у коду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E4BBDA3-5082-4B5F-ABE4-B0AB4EDA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450532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Архитектурни цртеж постаје радни алат када уз сваку важну границу наведе податке, актере и претпоставке. Тим затим бира мали број реалних мисусе сценарија и проверава их тестом или прегледом дизајна.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DBBC660-D0E1-4FAA-8CC0-911A4708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09800"/>
            <a:ext cx="53530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5795641-E635-471F-AFB0-4205E24A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A7321D0-EFE2-48C8-8189-F139778F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812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Дефинисана одлука и њена граница.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D3FC5F1-EA23-421A-B1DF-08FDFE05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00400"/>
            <a:ext cx="53530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B1A525B-9284-4DB2-A0CC-BC97A0F3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24225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651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54E055E-2C0E-4619-8F2F-D11D259D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718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Серверска имплементација провере.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9BAEA0C-E3CD-4E8E-8ECF-EC1BE1CD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91000"/>
            <a:ext cx="53530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408D0E3-4C6A-4A23-9E5E-95791BCB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14825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3201EFF-BBF1-4272-B852-3B0AA6C9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624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Позитиван и негативан доказ.</a:t>
            </a:r>
          </a:p>
        </p:txBody>
      </p:sp>
    </p:spTree>
    <p:extLst>
      <p:ext uri="{BB962C8B-B14F-4D97-AF65-F5344CB8AC3E}">
        <p14:creationId xmlns:p14="http://schemas.microsoft.com/office/powerpoint/2010/main" val="5262492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95738F5-58CE-4E05-BBDA-9D2461CD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E24123CF-EC05-4A45-A4E7-64CC2AF3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773FE28-5B41-4D55-8FE0-C8730A71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97A1734-89AD-4732-8330-A016B5FF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Случај: извоз из интерног система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244B6B1-3095-4DFE-A1C3-B1ACE2CC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Случај повезује опште правило са конкретним контекстом, серверском провером и очекиваним исходом.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A6C78E6-D654-4842-BFD5-532F4E15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106299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7CF99BD-1E77-4CEC-9731-E46EC9F8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1032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СЦЕНАРИО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0CCEF2A-1CFB-4FAD-AB92-1041A4B4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1032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Пример: извоз из интерног система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2730250-D3E4-4509-ADEC-29F31FF8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81325"/>
            <a:ext cx="103251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Интерни сервис припрема извоз осетљивих података за други систем. Тим га доживљава као безбедан јер је сервис „унутра“, али сам прелазак података у други систем мења претпоставке. Потребно је знати који податак путује, ко прима податак, шта може поћи по злу и како систем спречава или бар открива нежељен исход.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0F53561-4711-4F59-8DA2-D31464A1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8125"/>
            <a:ext cx="335280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85C1123-C393-4CF5-9078-DC8E8877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B8FB71F-6B3A-4F9A-85F5-FE93E588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5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Имовина обухвата базу података, налоге, кључеве, сервисне идентитете, конфигурацију и пословне записе.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BD0A67A-982F-4063-B70B-F7B8F8E6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048125"/>
            <a:ext cx="335280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9998DCD-8837-4E59-A824-870D1A73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719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D11BF49-763F-49D8-9157-CA345402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4196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Граница поверења може бити API позив, ред порука, административни интерфејс или извоз у датотеку.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69AFEC29-67E1-47C4-8B60-6CF02A39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35280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D4FD123-85D3-425D-A25F-1855A552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719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78E5BD7-6FD4-4EE4-8D39-ECF04FA1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196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8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Модел претњи обухвата ограничен број реалних сценарија, одговарајуће контроле и начине њихове провере.</a:t>
            </a:r>
          </a:p>
        </p:txBody>
      </p:sp>
    </p:spTree>
    <p:extLst>
      <p:ext uri="{BB962C8B-B14F-4D97-AF65-F5344CB8AC3E}">
        <p14:creationId xmlns:p14="http://schemas.microsoft.com/office/powerpoint/2010/main" val="4823757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094B20E7-6E1E-44B9-92D2-2EE650B8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7189C038-93A7-41A6-A8BF-DDB1C617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1B2FC42-E410-4362-B10F-7B92DEB5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8C9A33A-05A5-4CF7-B675-E6014A01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Граница поверења тражи експлицитну проверу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D5B4A47-9BCA-46D1-85AB-8B1254A6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Провера границе поверења претходи обради података који стижу из спољног контекста.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5426302-C4A8-445E-9022-0A0C3B97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6858000" cy="21336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CDABB70A-5BED-4419-B77F-74EBEC6A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68580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84089A44-C138-4353-BA77-65C85550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145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A60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9C0BB3C4-C1DE-49C6-817D-06737740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463" y="22145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D42"/>
          </a:solidFill>
          <a:ln xmlns:a="http://schemas.openxmlformats.org/drawingml/2006/main" w="0">
            <a:noFill/>
          </a:ln>
        </p:spPr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16B877EF-8DF5-4212-9DE6-8280D5BD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145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C466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E1980CB-67E7-4D40-8FB9-4B4F7152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3048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1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2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3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4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5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6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7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8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3B1BF7C-4DF6-4EE9-AF4C-A1968940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615315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1">
                <a:solidFill>
                  <a:srgbClr val="0969C3"/>
                </a:solidFill>
              </a:rPr>
              <a:t>public</a:t>
            </a:r>
            <a:r>
              <a:rPr b="0">
                <a:solidFill>
                  <a:srgbClr val="263044"/>
                </a:solidFill>
              </a:rPr>
              <a:t> </a:t>
            </a:r>
            <a:r>
              <a:rPr b="0">
                <a:solidFill>
                  <a:srgbClr val="7651D4"/>
                </a:solidFill>
              </a:rPr>
              <a:t>Result</a:t>
            </a:r>
            <a:r>
              <a:rPr b="0">
                <a:solidFill>
                  <a:srgbClr val="263044"/>
                </a:solidFill>
              </a:rPr>
              <a:t>&lt;</a:t>
            </a:r>
            <a:r>
              <a:rPr b="0">
                <a:solidFill>
                  <a:srgbClr val="7651D4"/>
                </a:solidFill>
              </a:rPr>
              <a:t>Payment</a:t>
            </a:r>
            <a:r>
              <a:rPr b="0">
                <a:solidFill>
                  <a:srgbClr val="263044"/>
                </a:solidFill>
              </a:rPr>
              <a:t>&gt; </a:t>
            </a:r>
            <a:r>
              <a:rPr b="0">
                <a:solidFill>
                  <a:srgbClr val="7651D4"/>
                </a:solidFill>
              </a:rPr>
              <a:t>Create</a:t>
            </a:r>
            <a:r>
              <a:rPr b="0">
                <a:solidFill>
                  <a:srgbClr val="263044"/>
                </a:solidFill>
              </a:rPr>
              <a:t>(</a:t>
            </a:r>
            <a:r>
              <a:rPr b="0">
                <a:solidFill>
                  <a:srgbClr val="7651D4"/>
                </a:solidFill>
              </a:rPr>
              <a:t>ExternalRequest</a:t>
            </a:r>
            <a:r>
              <a:rPr b="0">
                <a:solidFill>
                  <a:srgbClr val="263044"/>
                </a:solidFill>
              </a:rPr>
              <a:t> input)</a:t>
            </a:r>
          </a:p>
          <a:p xmlns:a="http://schemas.openxmlformats.org/drawingml/2006/main">
            <a:pPr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{</a:t>
            </a:r>
          </a:p>
          <a:p xmlns:a="http://schemas.openxmlformats.org/drawingml/2006/main">
            <a:pPr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</a:t>
            </a:r>
            <a:r>
              <a:rPr b="1">
                <a:solidFill>
                  <a:srgbClr val="0969C3"/>
                </a:solidFill>
              </a:rPr>
              <a:t>var</a:t>
            </a:r>
            <a:r>
              <a:rPr b="0">
                <a:solidFill>
                  <a:srgbClr val="263044"/>
                </a:solidFill>
              </a:rPr>
              <a:t> command = validator.</a:t>
            </a:r>
            <a:r>
              <a:rPr b="0">
                <a:solidFill>
                  <a:srgbClr val="7651D4"/>
                </a:solidFill>
              </a:rPr>
              <a:t>ParseAndValidate</a:t>
            </a:r>
            <a:r>
              <a:rPr b="0">
                <a:solidFill>
                  <a:srgbClr val="263044"/>
                </a:solidFill>
              </a:rPr>
              <a:t>(input);</a:t>
            </a:r>
          </a:p>
          <a:p xmlns:a="http://schemas.openxmlformats.org/drawingml/2006/main">
            <a:pPr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</a:t>
            </a:r>
            <a:r>
              <a:rPr b="1">
                <a:solidFill>
                  <a:srgbClr val="0969C3"/>
                </a:solidFill>
              </a:rPr>
              <a:t>if</a:t>
            </a:r>
            <a:r>
              <a:rPr b="0">
                <a:solidFill>
                  <a:srgbClr val="263044"/>
                </a:solidFill>
              </a:rPr>
              <a:t> (!trustPolicy.</a:t>
            </a:r>
            <a:r>
              <a:rPr b="0">
                <a:solidFill>
                  <a:srgbClr val="7651D4"/>
                </a:solidFill>
              </a:rPr>
              <a:t>Accepts</a:t>
            </a:r>
            <a:r>
              <a:rPr b="0">
                <a:solidFill>
                  <a:srgbClr val="263044"/>
                </a:solidFill>
              </a:rPr>
              <a:t>(command.</a:t>
            </a:r>
            <a:r>
              <a:rPr b="0">
                <a:solidFill>
                  <a:srgbClr val="7651D4"/>
                </a:solidFill>
              </a:rPr>
              <a:t>Source</a:t>
            </a:r>
            <a:r>
              <a:rPr b="0">
                <a:solidFill>
                  <a:srgbClr val="263044"/>
                </a:solidFill>
              </a:rPr>
              <a:t>, command.</a:t>
            </a:r>
            <a:r>
              <a:rPr b="0">
                <a:solidFill>
                  <a:srgbClr val="7651D4"/>
                </a:solidFill>
              </a:rPr>
              <a:t>Signature</a:t>
            </a:r>
            <a:r>
              <a:rPr b="0">
                <a:solidFill>
                  <a:srgbClr val="263044"/>
                </a:solidFill>
              </a:rPr>
              <a:t>))</a:t>
            </a:r>
          </a:p>
          <a:p xmlns:a="http://schemas.openxmlformats.org/drawingml/2006/main">
            <a:pPr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    </a:t>
            </a:r>
            <a:r>
              <a:rPr b="1">
                <a:solidFill>
                  <a:srgbClr val="0969C3"/>
                </a:solidFill>
              </a:rPr>
              <a:t>return</a:t>
            </a:r>
            <a:r>
              <a:rPr b="0">
                <a:solidFill>
                  <a:srgbClr val="263044"/>
                </a:solidFill>
              </a:rPr>
              <a:t> </a:t>
            </a:r>
            <a:r>
              <a:rPr b="0">
                <a:solidFill>
                  <a:srgbClr val="7651D4"/>
                </a:solidFill>
              </a:rPr>
              <a:t>Result</a:t>
            </a:r>
            <a:r>
              <a:rPr b="0">
                <a:solidFill>
                  <a:srgbClr val="263044"/>
                </a:solidFill>
              </a:rPr>
              <a:t>.</a:t>
            </a:r>
            <a:r>
              <a:rPr b="0">
                <a:solidFill>
                  <a:srgbClr val="7651D4"/>
                </a:solidFill>
              </a:rPr>
              <a:t>Deny</a:t>
            </a:r>
            <a:r>
              <a:rPr b="0">
                <a:solidFill>
                  <a:srgbClr val="263044"/>
                </a:solidFill>
              </a:rPr>
              <a:t>(</a:t>
            </a:r>
            <a:r>
              <a:rPr b="0">
                <a:solidFill>
                  <a:srgbClr val="B45309"/>
                </a:solidFill>
              </a:rPr>
              <a:t>"untrusted_source"</a:t>
            </a:r>
            <a:r>
              <a:rPr b="0">
                <a:solidFill>
                  <a:srgbClr val="263044"/>
                </a:solidFill>
              </a:rPr>
              <a:t>);</a:t>
            </a:r>
          </a:p>
          <a:p xmlns:a="http://schemas.openxmlformats.org/drawingml/2006/main">
            <a:pPr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</a:t>
            </a:r>
            <a:r>
              <a:rPr b="1">
                <a:solidFill>
                  <a:srgbClr val="0969C3"/>
                </a:solidFill>
              </a:rPr>
              <a:t>if</a:t>
            </a:r>
            <a:r>
              <a:rPr b="0">
                <a:solidFill>
                  <a:srgbClr val="263044"/>
                </a:solidFill>
              </a:rPr>
              <a:t> (command.</a:t>
            </a:r>
            <a:r>
              <a:rPr b="0">
                <a:solidFill>
                  <a:srgbClr val="7651D4"/>
                </a:solidFill>
              </a:rPr>
              <a:t>Amount</a:t>
            </a:r>
            <a:r>
              <a:rPr b="0">
                <a:solidFill>
                  <a:srgbClr val="263044"/>
                </a:solidFill>
              </a:rPr>
              <a:t> &gt; limits.</a:t>
            </a:r>
            <a:r>
              <a:rPr b="0">
                <a:solidFill>
                  <a:srgbClr val="7651D4"/>
                </a:solidFill>
              </a:rPr>
              <a:t>For</a:t>
            </a:r>
            <a:r>
              <a:rPr b="0">
                <a:solidFill>
                  <a:srgbClr val="263044"/>
                </a:solidFill>
              </a:rPr>
              <a:t>(command.</a:t>
            </a:r>
            <a:r>
              <a:rPr b="0">
                <a:solidFill>
                  <a:srgbClr val="7651D4"/>
                </a:solidFill>
              </a:rPr>
              <a:t>AccountId</a:t>
            </a:r>
            <a:r>
              <a:rPr b="0">
                <a:solidFill>
                  <a:srgbClr val="263044"/>
                </a:solidFill>
              </a:rPr>
              <a:t>))</a:t>
            </a:r>
          </a:p>
          <a:p xmlns:a="http://schemas.openxmlformats.org/drawingml/2006/main">
            <a:pPr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    </a:t>
            </a:r>
            <a:r>
              <a:rPr b="1">
                <a:solidFill>
                  <a:srgbClr val="0969C3"/>
                </a:solidFill>
              </a:rPr>
              <a:t>return</a:t>
            </a:r>
            <a:r>
              <a:rPr b="0">
                <a:solidFill>
                  <a:srgbClr val="263044"/>
                </a:solidFill>
              </a:rPr>
              <a:t> </a:t>
            </a:r>
            <a:r>
              <a:rPr b="0">
                <a:solidFill>
                  <a:srgbClr val="7651D4"/>
                </a:solidFill>
              </a:rPr>
              <a:t>Result</a:t>
            </a:r>
            <a:r>
              <a:rPr b="0">
                <a:solidFill>
                  <a:srgbClr val="263044"/>
                </a:solidFill>
              </a:rPr>
              <a:t>.</a:t>
            </a:r>
            <a:r>
              <a:rPr b="0">
                <a:solidFill>
                  <a:srgbClr val="7651D4"/>
                </a:solidFill>
              </a:rPr>
              <a:t>Deny</a:t>
            </a:r>
            <a:r>
              <a:rPr b="0">
                <a:solidFill>
                  <a:srgbClr val="263044"/>
                </a:solidFill>
              </a:rPr>
              <a:t>(</a:t>
            </a:r>
            <a:r>
              <a:rPr b="0">
                <a:solidFill>
                  <a:srgbClr val="B45309"/>
                </a:solidFill>
              </a:rPr>
              <a:t>"limit_exceeded"</a:t>
            </a:r>
            <a:r>
              <a:rPr b="0">
                <a:solidFill>
                  <a:srgbClr val="263044"/>
                </a:solidFill>
              </a:rPr>
              <a:t>);</a:t>
            </a:r>
          </a:p>
          <a:p xmlns:a="http://schemas.openxmlformats.org/drawingml/2006/main">
            <a:pPr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</a:t>
            </a:r>
            <a:r>
              <a:rPr b="1">
                <a:solidFill>
                  <a:srgbClr val="0969C3"/>
                </a:solidFill>
              </a:rPr>
              <a:t>return</a:t>
            </a:r>
            <a:r>
              <a:rPr b="0">
                <a:solidFill>
                  <a:srgbClr val="263044"/>
                </a:solidFill>
              </a:rPr>
              <a:t> payments.</a:t>
            </a:r>
            <a:r>
              <a:rPr b="0">
                <a:solidFill>
                  <a:srgbClr val="7651D4"/>
                </a:solidFill>
              </a:rPr>
              <a:t>Create</a:t>
            </a:r>
            <a:r>
              <a:rPr b="0">
                <a:solidFill>
                  <a:srgbClr val="263044"/>
                </a:solidFill>
              </a:rPr>
              <a:t>(command);</a:t>
            </a:r>
          </a:p>
          <a:p xmlns:a="http://schemas.openxmlformats.org/drawingml/2006/main">
            <a:pPr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}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3181268D-1496-4405-BF16-D474F6CC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52650"/>
            <a:ext cx="360045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0CB74F1-6A6D-4A08-BFFA-00F33F1F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76475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ТУМАЧЕЊЕ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E7A14F7-A213-41D8-949B-09793444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3295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Спољни улаз се прво валидира и доказује, па тек онда сме да покрене пословну промену.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5F7AE7D7-6DBF-4E6C-B322-5776B8C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48150"/>
            <a:ext cx="36004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6F7B31F3-976A-4DBD-A7E5-B626A736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71975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БЕЗБЕДНОСНА ГРАНИЦА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7CB8D8D-9905-4D38-B5D8-A8827EAC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19625"/>
            <a:ext cx="3295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Одбијање је експлицитан исход са разлогом који се може тестирати и објаснити.</a:t>
            </a:r>
          </a:p>
        </p:txBody>
      </p:sp>
    </p:spTree>
    <p:extLst>
      <p:ext uri="{BB962C8B-B14F-4D97-AF65-F5344CB8AC3E}">
        <p14:creationId xmlns:p14="http://schemas.microsoft.com/office/powerpoint/2010/main" val="4470761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FA6C869-88A6-4B47-9DC2-1698D275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75419BD5-867D-4C49-BD3F-B159264F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43FD64C-C72E-4BFE-A98D-4BA912CA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4544B1E-7344-4BCE-AC32-BD3E5414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Тест доказује да претња не стиже до имовине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3EA4160-BC58-4964-B505-388166CB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Тест показује да спољни улаз не прелази границу поверења без предвиђене провере.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DD05321-1387-4C5A-BADC-8F29C9F1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6858000" cy="2257425"/>
          </a:xfrm>
          <a:prstGeom xmlns:a="http://schemas.openxmlformats.org/drawingml/2006/main" prst="roundRect">
            <a:avLst>
              <a:gd name="adj" fmla="val 4219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64961F1A-03D6-48C3-BF36-E4F0A35B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68580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55DE5E9-FA2C-42C8-B6C6-91C35CB7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145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A60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9D28C7E7-366C-4144-91D3-DD8D6DB4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463" y="22145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D42"/>
          </a:solidFill>
          <a:ln xmlns:a="http://schemas.openxmlformats.org/drawingml/2006/main" w="0">
            <a:noFill/>
          </a:ln>
        </p:spPr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4AECB9D1-30F8-4EA1-B51A-9B515C18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145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C466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53B712A-C5FB-4619-99A2-78A5E58F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3048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1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2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3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4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5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6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7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8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9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6A11A29-46ED-4C0D-9BDC-F1283C11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615315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[</a:t>
            </a:r>
            <a:r>
              <a:rPr b="0">
                <a:solidFill>
                  <a:srgbClr val="7651D4"/>
                </a:solidFill>
              </a:rPr>
              <a:t>Fact</a:t>
            </a:r>
            <a:r>
              <a:rPr b="0">
                <a:solidFill>
                  <a:srgbClr val="263044"/>
                </a:solidFill>
              </a:rPr>
              <a:t>]</a:t>
            </a:r>
          </a:p>
          <a:p xmlns:a="http://schemas.openxmlformats.org/drawingml/2006/main">
            <a:pPr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1">
                <a:solidFill>
                  <a:srgbClr val="0969C3"/>
                </a:solidFill>
              </a:rPr>
              <a:t>public</a:t>
            </a:r>
            <a:r>
              <a:rPr b="0">
                <a:solidFill>
                  <a:srgbClr val="263044"/>
                </a:solidFill>
              </a:rPr>
              <a:t> </a:t>
            </a:r>
            <a:r>
              <a:rPr b="1">
                <a:solidFill>
                  <a:srgbClr val="0969C3"/>
                </a:solidFill>
              </a:rPr>
              <a:t>void</a:t>
            </a:r>
            <a:r>
              <a:rPr b="0">
                <a:solidFill>
                  <a:srgbClr val="263044"/>
                </a:solidFill>
              </a:rPr>
              <a:t> </a:t>
            </a:r>
            <a:r>
              <a:rPr b="0">
                <a:solidFill>
                  <a:srgbClr val="7651D4"/>
                </a:solidFill>
              </a:rPr>
              <a:t>Untrusted_input_stops_at_the_boundary</a:t>
            </a:r>
            <a:r>
              <a:rPr b="0">
                <a:solidFill>
                  <a:srgbClr val="263044"/>
                </a:solidFill>
              </a:rPr>
              <a:t>()</a:t>
            </a:r>
          </a:p>
          <a:p xmlns:a="http://schemas.openxmlformats.org/drawingml/2006/main">
            <a:pPr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{</a:t>
            </a:r>
          </a:p>
          <a:p xmlns:a="http://schemas.openxmlformats.org/drawingml/2006/main">
            <a:pPr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</a:t>
            </a:r>
            <a:r>
              <a:rPr b="1">
                <a:solidFill>
                  <a:srgbClr val="0969C3"/>
                </a:solidFill>
              </a:rPr>
              <a:t>var</a:t>
            </a:r>
            <a:r>
              <a:rPr b="0">
                <a:solidFill>
                  <a:srgbClr val="263044"/>
                </a:solidFill>
              </a:rPr>
              <a:t> request = </a:t>
            </a:r>
            <a:r>
              <a:rPr b="0">
                <a:solidFill>
                  <a:srgbClr val="7651D4"/>
                </a:solidFill>
              </a:rPr>
              <a:t>ExternalRequest</a:t>
            </a:r>
            <a:r>
              <a:rPr b="0">
                <a:solidFill>
                  <a:srgbClr val="263044"/>
                </a:solidFill>
              </a:rPr>
              <a:t>.</a:t>
            </a:r>
            <a:r>
              <a:rPr b="0">
                <a:solidFill>
                  <a:srgbClr val="7651D4"/>
                </a:solidFill>
              </a:rPr>
              <a:t>WithInvalidSignature</a:t>
            </a:r>
            <a:r>
              <a:rPr b="0">
                <a:solidFill>
                  <a:srgbClr val="263044"/>
                </a:solidFill>
              </a:rPr>
              <a:t>();</a:t>
            </a:r>
          </a:p>
          <a:p xmlns:a="http://schemas.openxmlformats.org/drawingml/2006/main">
            <a:pPr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endParaRPr b="0">
              <a:solidFill>
                <a:srgbClr val="263044"/>
              </a:solidFill>
            </a:endParaRPr>
          </a:p>
          <a:p xmlns:a="http://schemas.openxmlformats.org/drawingml/2006/main">
            <a:pPr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</a:t>
            </a:r>
            <a:r>
              <a:rPr b="1">
                <a:solidFill>
                  <a:srgbClr val="0969C3"/>
                </a:solidFill>
              </a:rPr>
              <a:t>var</a:t>
            </a:r>
            <a:r>
              <a:rPr b="0">
                <a:solidFill>
                  <a:srgbClr val="263044"/>
                </a:solidFill>
              </a:rPr>
              <a:t> result = service.</a:t>
            </a:r>
            <a:r>
              <a:rPr b="0">
                <a:solidFill>
                  <a:srgbClr val="7651D4"/>
                </a:solidFill>
              </a:rPr>
              <a:t>Create</a:t>
            </a:r>
            <a:r>
              <a:rPr b="0">
                <a:solidFill>
                  <a:srgbClr val="263044"/>
                </a:solidFill>
              </a:rPr>
              <a:t>(request);</a:t>
            </a:r>
          </a:p>
          <a:p xmlns:a="http://schemas.openxmlformats.org/drawingml/2006/main">
            <a:pPr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endParaRPr b="0">
              <a:solidFill>
                <a:srgbClr val="263044"/>
              </a:solidFill>
            </a:endParaRPr>
          </a:p>
          <a:p xmlns:a="http://schemas.openxmlformats.org/drawingml/2006/main">
            <a:pPr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result.</a:t>
            </a:r>
            <a:r>
              <a:rPr b="0">
                <a:solidFill>
                  <a:srgbClr val="7651D4"/>
                </a:solidFill>
              </a:rPr>
              <a:t>Reason</a:t>
            </a:r>
            <a:r>
              <a:rPr b="0">
                <a:solidFill>
                  <a:srgbClr val="263044"/>
                </a:solidFill>
              </a:rPr>
              <a:t>.</a:t>
            </a:r>
            <a:r>
              <a:rPr b="0">
                <a:solidFill>
                  <a:srgbClr val="7651D4"/>
                </a:solidFill>
              </a:rPr>
              <a:t>Should</a:t>
            </a:r>
            <a:r>
              <a:rPr b="0">
                <a:solidFill>
                  <a:srgbClr val="263044"/>
                </a:solidFill>
              </a:rPr>
              <a:t>().</a:t>
            </a:r>
            <a:r>
              <a:rPr b="0">
                <a:solidFill>
                  <a:srgbClr val="7651D4"/>
                </a:solidFill>
              </a:rPr>
              <a:t>Be</a:t>
            </a:r>
            <a:r>
              <a:rPr b="0">
                <a:solidFill>
                  <a:srgbClr val="263044"/>
                </a:solidFill>
              </a:rPr>
              <a:t>(</a:t>
            </a:r>
            <a:r>
              <a:rPr b="0">
                <a:solidFill>
                  <a:srgbClr val="B45309"/>
                </a:solidFill>
              </a:rPr>
              <a:t>"untrusted_source"</a:t>
            </a:r>
            <a:r>
              <a:rPr b="0">
                <a:solidFill>
                  <a:srgbClr val="263044"/>
                </a:solidFill>
              </a:rPr>
              <a:t>);</a:t>
            </a:r>
          </a:p>
          <a:p xmlns:a="http://schemas.openxmlformats.org/drawingml/2006/main">
            <a:pPr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repository.</a:t>
            </a:r>
            <a:r>
              <a:rPr b="0">
                <a:solidFill>
                  <a:srgbClr val="7651D4"/>
                </a:solidFill>
              </a:rPr>
              <a:t>Writes</a:t>
            </a:r>
            <a:r>
              <a:rPr b="0">
                <a:solidFill>
                  <a:srgbClr val="263044"/>
                </a:solidFill>
              </a:rPr>
              <a:t>.</a:t>
            </a:r>
            <a:r>
              <a:rPr b="0">
                <a:solidFill>
                  <a:srgbClr val="7651D4"/>
                </a:solidFill>
              </a:rPr>
              <a:t>Should</a:t>
            </a:r>
            <a:r>
              <a:rPr b="0">
                <a:solidFill>
                  <a:srgbClr val="263044"/>
                </a:solidFill>
              </a:rPr>
              <a:t>().</a:t>
            </a:r>
            <a:r>
              <a:rPr b="0">
                <a:solidFill>
                  <a:srgbClr val="7651D4"/>
                </a:solidFill>
              </a:rPr>
              <a:t>Be</a:t>
            </a:r>
            <a:r>
              <a:rPr b="0">
                <a:solidFill>
                  <a:srgbClr val="263044"/>
                </a:solidFill>
              </a:rPr>
              <a:t>(</a:t>
            </a:r>
            <a:r>
              <a:rPr b="0">
                <a:solidFill>
                  <a:srgbClr val="B86A09"/>
                </a:solidFill>
              </a:rPr>
              <a:t>0</a:t>
            </a:r>
            <a:r>
              <a:rPr b="0">
                <a:solidFill>
                  <a:srgbClr val="263044"/>
                </a:solidFill>
              </a:rPr>
              <a:t>);</a:t>
            </a:r>
          </a:p>
          <a:p xmlns:a="http://schemas.openxmlformats.org/drawingml/2006/main">
            <a:pPr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}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171DDB81-97B1-4255-9A1C-4B59AA16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52650"/>
            <a:ext cx="360045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174A69E-C920-41EC-BAC8-107A61D3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76475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ДОКАЗ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E15CE66-BD47-4228-A53B-BD6920A6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3295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Очекивани исход обухвата одбијање захтева и одсуство уписа у заштићено стање.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AE0C28C7-19D5-4E0A-89DF-CE4C0632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48150"/>
            <a:ext cx="36004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07C76A6-FF71-41DE-9716-3C4B6B59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71975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651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ОЧЕКИВАНИ ИСХОД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EF0470E-7939-43E2-A065-34586609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19625"/>
            <a:ext cx="3295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Тест мења једну чињеницу и очекује јасан, стабилан разлог одбијања.</a:t>
            </a:r>
          </a:p>
        </p:txBody>
      </p:sp>
    </p:spTree>
    <p:extLst>
      <p:ext uri="{BB962C8B-B14F-4D97-AF65-F5344CB8AC3E}">
        <p14:creationId xmlns:p14="http://schemas.microsoft.com/office/powerpoint/2010/main" val="5904382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A2F731F-B30F-40FD-A377-783D3283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8F340FFC-FC3A-4BF3-B132-24AB6D4A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D990AAE-824B-4AFF-8A4E-A9472C0B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0AFC7BE-2410-442C-A910-D0070B5E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Садржај безбедносног записа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94F3293-F4A2-4C0C-85E0-22D469C6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Запис садржи контекст потребан за реконструкцију одлуке, без тајни и непотребних личних података.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80875F0-0F67-4FC9-B988-C2662FA9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5334000" cy="2028825"/>
          </a:xfrm>
          <a:prstGeom xmlns:a="http://schemas.openxmlformats.org/drawingml/2006/main" prst="roundRect">
            <a:avLst>
              <a:gd name="adj" fmla="val 4695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0E4248E1-2FFE-4DF6-8A59-493BBEDB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53340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2365A11B-11CC-490B-A84F-A1725A7A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717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A60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BEC181BC-CD60-4583-B827-22B8749F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963" y="22717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D42"/>
          </a:solidFill>
          <a:ln xmlns:a="http://schemas.openxmlformats.org/drawingml/2006/main" w="0">
            <a:noFill/>
          </a:ln>
        </p:spPr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D062F735-705F-4380-B7D4-FD46528E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717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C466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4D29D5C-1AED-40AF-A61E-ED09C86F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3048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1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2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3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4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5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6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7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3B17345-01D4-4374-B5EC-9580F00B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28900"/>
            <a:ext cx="46291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{</a:t>
            </a:r>
          </a:p>
          <a:p xmlns:a="http://schemas.openxmlformats.org/drawingml/2006/main">
            <a:pPr>
              <a:buNone/>
              <a:defRPr sz="1125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</a:t>
            </a:r>
            <a:r>
              <a:rPr b="0">
                <a:solidFill>
                  <a:srgbClr val="B45309"/>
                </a:solidFill>
              </a:rPr>
              <a:t>"asset"</a:t>
            </a:r>
            <a:r>
              <a:rPr b="0">
                <a:solidFill>
                  <a:srgbClr val="263044"/>
                </a:solidFill>
              </a:rPr>
              <a:t>: </a:t>
            </a:r>
            <a:r>
              <a:rPr b="0">
                <a:solidFill>
                  <a:srgbClr val="B45309"/>
                </a:solidFill>
              </a:rPr>
              <a:t>"payment-ledger"</a:t>
            </a:r>
            <a:r>
              <a:rPr b="0">
                <a:solidFill>
                  <a:srgbClr val="263044"/>
                </a:solidFill>
              </a:rPr>
              <a:t>,</a:t>
            </a:r>
          </a:p>
          <a:p xmlns:a="http://schemas.openxmlformats.org/drawingml/2006/main">
            <a:pPr>
              <a:buNone/>
              <a:defRPr sz="1125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</a:t>
            </a:r>
            <a:r>
              <a:rPr b="0">
                <a:solidFill>
                  <a:srgbClr val="B45309"/>
                </a:solidFill>
              </a:rPr>
              <a:t>"trustBoundary"</a:t>
            </a:r>
            <a:r>
              <a:rPr b="0">
                <a:solidFill>
                  <a:srgbClr val="263044"/>
                </a:solidFill>
              </a:rPr>
              <a:t>: </a:t>
            </a:r>
            <a:r>
              <a:rPr b="0">
                <a:solidFill>
                  <a:srgbClr val="B45309"/>
                </a:solidFill>
              </a:rPr>
              <a:t>"public-api"</a:t>
            </a:r>
            <a:r>
              <a:rPr b="0">
                <a:solidFill>
                  <a:srgbClr val="263044"/>
                </a:solidFill>
              </a:rPr>
              <a:t>,</a:t>
            </a:r>
          </a:p>
          <a:p xmlns:a="http://schemas.openxmlformats.org/drawingml/2006/main">
            <a:pPr>
              <a:buNone/>
              <a:defRPr sz="1125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</a:t>
            </a:r>
            <a:r>
              <a:rPr b="0">
                <a:solidFill>
                  <a:srgbClr val="B45309"/>
                </a:solidFill>
              </a:rPr>
              <a:t>"threat"</a:t>
            </a:r>
            <a:r>
              <a:rPr b="0">
                <a:solidFill>
                  <a:srgbClr val="263044"/>
                </a:solidFill>
              </a:rPr>
              <a:t>: </a:t>
            </a:r>
            <a:r>
              <a:rPr b="0">
                <a:solidFill>
                  <a:srgbClr val="B45309"/>
                </a:solidFill>
              </a:rPr>
              <a:t>"forged-command"</a:t>
            </a:r>
            <a:r>
              <a:rPr b="0">
                <a:solidFill>
                  <a:srgbClr val="263044"/>
                </a:solidFill>
              </a:rPr>
              <a:t>,</a:t>
            </a:r>
          </a:p>
          <a:p xmlns:a="http://schemas.openxmlformats.org/drawingml/2006/main">
            <a:pPr>
              <a:buNone/>
              <a:defRPr sz="1125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</a:t>
            </a:r>
            <a:r>
              <a:rPr b="0">
                <a:solidFill>
                  <a:srgbClr val="B45309"/>
                </a:solidFill>
              </a:rPr>
              <a:t>"control"</a:t>
            </a:r>
            <a:r>
              <a:rPr b="0">
                <a:solidFill>
                  <a:srgbClr val="263044"/>
                </a:solidFill>
              </a:rPr>
              <a:t>: </a:t>
            </a:r>
            <a:r>
              <a:rPr b="0">
                <a:solidFill>
                  <a:srgbClr val="B45309"/>
                </a:solidFill>
              </a:rPr>
              <a:t>"signature-validation"</a:t>
            </a:r>
            <a:r>
              <a:rPr b="0">
                <a:solidFill>
                  <a:srgbClr val="263044"/>
                </a:solidFill>
              </a:rPr>
              <a:t>,</a:t>
            </a:r>
          </a:p>
          <a:p xmlns:a="http://schemas.openxmlformats.org/drawingml/2006/main">
            <a:pPr>
              <a:buNone/>
              <a:defRPr sz="1125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</a:t>
            </a:r>
            <a:r>
              <a:rPr b="0">
                <a:solidFill>
                  <a:srgbClr val="B45309"/>
                </a:solidFill>
              </a:rPr>
              <a:t>"test"</a:t>
            </a:r>
            <a:r>
              <a:rPr b="0">
                <a:solidFill>
                  <a:srgbClr val="263044"/>
                </a:solidFill>
              </a:rPr>
              <a:t>: </a:t>
            </a:r>
            <a:r>
              <a:rPr b="0">
                <a:solidFill>
                  <a:srgbClr val="B45309"/>
                </a:solidFill>
              </a:rPr>
              <a:t>"reject-invalid-signature"</a:t>
            </a:r>
            <a:r>
              <a:rPr b="0">
                <a:solidFill>
                  <a:srgbClr val="263044"/>
                </a:solidFill>
              </a:rPr>
              <a:t>,</a:t>
            </a:r>
          </a:p>
          <a:p xmlns:a="http://schemas.openxmlformats.org/drawingml/2006/main">
            <a:pPr>
              <a:buNone/>
              <a:defRPr sz="1125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</a:t>
            </a:r>
            <a:r>
              <a:rPr b="0">
                <a:solidFill>
                  <a:srgbClr val="B45309"/>
                </a:solidFill>
              </a:rPr>
              <a:t>"residualRisk"</a:t>
            </a:r>
            <a:r>
              <a:rPr b="0">
                <a:solidFill>
                  <a:srgbClr val="263044"/>
                </a:solidFill>
              </a:rPr>
              <a:t>: </a:t>
            </a:r>
            <a:r>
              <a:rPr b="0">
                <a:solidFill>
                  <a:srgbClr val="B45309"/>
                </a:solidFill>
              </a:rPr>
              <a:t>"stolen-valid-key"</a:t>
            </a:r>
          </a:p>
          <a:p xmlns:a="http://schemas.openxmlformats.org/drawingml/2006/main">
            <a:pPr>
              <a:buNone/>
              <a:defRPr sz="1125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}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B124AA0-B5EF-4661-9B89-ECCAE7F0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52650"/>
            <a:ext cx="45910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D66697-FF62-499C-A6DC-31EA806E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764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ДОВОЉНО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91E58B9-D90F-4443-B89F-C79C734E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241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Актер, радња, циљ, исход и разлог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95EF2FB-AE1A-4B71-93F6-07AFA6AE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33700"/>
            <a:ext cx="428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Временска ознака и correlation ID повезују траг са остатком тока.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88823828-3CB9-42F7-A5FA-32795AC3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67150"/>
            <a:ext cx="45910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65B338D-53A3-49ED-833C-88766006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909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C347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34747"/>
                </a:solidFill>
                <a:latin typeface="Aptos"/>
                <a:ea typeface="Aptos"/>
                <a:cs typeface="Aptos"/>
              </a:rPr>
              <a:t>НЕ ПРИПАДА У ДОКАЗ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4633D62-DF65-45B2-A577-6DA4F467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86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Лозинка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,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токен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,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тајна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сувишан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садржај</a:t>
            </a:r>
            <a:endParaRPr sz="1350" b="1">
              <a:solidFill>
                <a:srgbClr val="1A20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86BFEAE-038A-4014-B42B-3A814C64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48200"/>
            <a:ext cx="428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Траг не сме да постане нови извор цурења или збирка непотребних података.</a:t>
            </a:r>
          </a:p>
        </p:txBody>
      </p:sp>
    </p:spTree>
    <p:extLst>
      <p:ext uri="{BB962C8B-B14F-4D97-AF65-F5344CB8AC3E}">
        <p14:creationId xmlns:p14="http://schemas.microsoft.com/office/powerpoint/2010/main" val="21076061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37A7AA0-DF48-41C3-BCD0-5131C25D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751F8A4A-AA86-4C62-A908-2D4A06D5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676BF8A-20D7-4463-B38E-6EC479E2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E50B9E8-E78B-4024-BE61-CA54F52D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Честе грешке у имплементацији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303060A-D605-4434-8D9C-42858DA3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Грешке настају када контекст, место одлуке или доказ остану нејасни.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7968FBA-2BB2-4B77-9705-EC2D2450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325755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2FEC79A-C93D-494A-8457-8D261BE3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C347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3474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C507EA-5F56-4CA8-AF2D-2EBB3B69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295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Инвентар који постоји само ради евиденције, без власништва и значаја.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6DF031D-3B09-4FE0-BCC7-71078756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Нема јасног власника одлуке.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4C57849-F291-4EF8-AB8E-AF78B4A8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381250"/>
            <a:ext cx="325755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379CAD2-358E-4F43-9F67-8DB269A3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D654379-5F4B-43BC-AD7D-2ACBB8C4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52725"/>
            <a:ext cx="295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Општи каталог претњи који није повезан са стварним системом.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653CBE1-2573-456D-8C21-F5ACC759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38600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Не постоји негативан сценарио.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F030F45-2B84-4CB4-A03B-DCAB565A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325755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9BBEFA4-3191-40DE-BD4E-DDCBFD6E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050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651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CAF5DF8-CCEB-4FF8-B7AC-1094C10A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52725"/>
            <a:ext cx="295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Контрола изабрана пре разумевања ризика који треба да смањи.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BE4ECBA-5501-445A-AFF7-BC7C6C22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38600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Доказ не показује стварни исход.</a:t>
            </a:r>
          </a:p>
        </p:txBody>
      </p:sp>
    </p:spTree>
    <p:extLst>
      <p:ext uri="{BB962C8B-B14F-4D97-AF65-F5344CB8AC3E}">
        <p14:creationId xmlns:p14="http://schemas.microsoft.com/office/powerpoint/2010/main" val="15258187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1C8E762-2F51-44B8-AC5F-6B31E89B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08223DD0-F843-4BE9-9930-A90BBA3F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D59C6AA-A2D4-4F4E-AFFA-D5CE2EF3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BCAC43A-9AF7-40EE-B9B3-36840DD5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Одржавање модела претњи</a:t>
            </a:r>
            <a:endParaRPr sz="2550" b="1">
              <a:solidFill>
                <a:srgbClr val="1A202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FBE0340-9967-4A75-8305-75091C80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Модел се ажурира када се промене имовина, ток података, граница поверења или претпоставке система.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A935A60-4CDD-4B1C-BB7D-7070D3BB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4476750" cy="2314575"/>
          </a:xfrm>
          <a:prstGeom xmlns:a="http://schemas.openxmlformats.org/drawingml/2006/main" prst="roundRect">
            <a:avLst>
              <a:gd name="adj" fmla="val 4294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6C12746-9FFA-4725-BB42-A0D72044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76475"/>
            <a:ext cx="417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ОБРАЗЛОЖЕЊЕ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3843487-E1EB-42F7-BE4A-DF4ABC21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2412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Одржавање модела претњи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B030080-1E15-43E9-A52B-00C9A09C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4171950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Модел претњи ажурира се када систем добије нови улаз, интеграцију, начин чувања података или привилеговану радњу. Значајна архитектонска промена захтева поновну проверу постојећих претпоставки.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D20E0EE-F08C-465A-9888-36205AB4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52650"/>
            <a:ext cx="5734050" cy="828675"/>
          </a:xfrm>
          <a:prstGeom xmlns:a="http://schemas.openxmlformats.org/drawingml/2006/main" prst="roundRect">
            <a:avLst>
              <a:gd name="adj" fmla="val 16092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7BCE613-65BC-4AC0-AE6A-5A4EDDFB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76475"/>
            <a:ext cx="542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A4831A1-F248-4B06-BE61-AAECFC26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24125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Дијаграм се ажурира када ток података или граница поверења стварно промени понашање система.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1D5E9E9A-EA95-4FE2-8B1E-B54ED717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52775"/>
            <a:ext cx="5734050" cy="828675"/>
          </a:xfrm>
          <a:prstGeom xmlns:a="http://schemas.openxmlformats.org/drawingml/2006/main" prst="roundRect">
            <a:avLst>
              <a:gd name="adj" fmla="val 16092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0357B98-6EB2-403A-AAEA-9441D6C2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76600"/>
            <a:ext cx="542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F85D4B1-20D5-4CD2-B97D-D29E1F32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24250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За одабрани сценарио постоји веза до контроле, теста или прегледа који га проверава.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2799DB8-CB0F-4B50-8141-386CB52B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52900"/>
            <a:ext cx="5734050" cy="828675"/>
          </a:xfrm>
          <a:prstGeom xmlns:a="http://schemas.openxmlformats.org/drawingml/2006/main" prst="roundRect">
            <a:avLst>
              <a:gd name="adj" fmla="val 16092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76CD7B3-E1DC-46ED-AD7E-14800E83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76725"/>
            <a:ext cx="542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23256AD-6642-4A46-8FCA-97E71522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524375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Преостали ризик бележи се јасно, заједно са прихваћеним ограничењима контроле.</a:t>
            </a:r>
          </a:p>
        </p:txBody>
      </p:sp>
    </p:spTree>
    <p:extLst>
      <p:ext uri="{BB962C8B-B14F-4D97-AF65-F5344CB8AC3E}">
        <p14:creationId xmlns:p14="http://schemas.microsoft.com/office/powerpoint/2010/main" val="7412155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59C8397-544D-4448-B404-C00489F6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A22A439E-F7E9-46E9-9CE2-10A33A4B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28BB7DA-155E-4944-9BD7-394D813B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1E293F6-1363-49CA-8F05-D58D7F9B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Примена на пројекат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52FAEE9-B944-406D-94A6-AA6769DC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Анализа једног сценарија обухвата одлуку, имплементацију, тест одбијања и доказ.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8528E44-B418-45F8-A88C-DA6C8A1D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4336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3C3677C-18C1-4CFA-A965-6DC7F412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14600"/>
            <a:ext cx="21478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82EBE9C-3E79-407E-8571-A2726998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21669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Избор сценарија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EF312AC-1347-43E4-93EB-3B25D72E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90875"/>
            <a:ext cx="21478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једна стварна радња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1756EC0-4AAF-4690-86F4-8A69185E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2400300"/>
            <a:ext cx="24336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0311B58-509F-4409-B568-DCC87402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2514600"/>
            <a:ext cx="21478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A062823-403D-41B5-938C-6FAA357A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800350"/>
            <a:ext cx="21669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Дефинисање правила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E439D29-83CC-4908-9E64-623D6412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3190875"/>
            <a:ext cx="21478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улази и граница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D9EDD0E-2A3B-454F-8CEA-89E0A6FB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00300"/>
            <a:ext cx="24336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45C7862-8AF1-479E-B7F9-069FA611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14600"/>
            <a:ext cx="21478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C347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3474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6DA7584-BBC0-4A94-B38C-2863796D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800350"/>
            <a:ext cx="21669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Тест одбијања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889F40A-9BA5-48EF-A9CC-FCDC9D69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90875"/>
            <a:ext cx="21478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једна чињеница недостаје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A6FB1937-37AA-48C2-AE04-247F3B07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2400300"/>
            <a:ext cx="24336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D56D1BE-ED2B-4F15-94A4-F58CDDFD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514600"/>
            <a:ext cx="21478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5940256-EB17-4A8B-BDD9-BB0B866C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800350"/>
            <a:ext cx="21669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Ревизиони запис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D0BAF4E-5B08-4127-A61B-B5B2D81A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3190875"/>
            <a:ext cx="21478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исход и разлог</a:t>
            </a:r>
          </a:p>
        </p:txBody>
      </p:sp>
      <p:cxnSp>
        <p:nvCxnSpPr>
          <p:cNvPr id="221" name="Straight Arrow Connector 124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33738" y="30289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22" name="Straight Arrow Connector 125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53126" y="3028950"/>
            <a:ext cx="285749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23" name="Straight Arrow Connector 126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672513" y="30289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47EA9EB5-AF9E-42C9-A4A6-54C80D8B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05300"/>
            <a:ext cx="8953500" cy="914400"/>
          </a:xfrm>
          <a:prstGeom xmlns:a="http://schemas.openxmlformats.org/drawingml/2006/main" prst="roundRect">
            <a:avLst>
              <a:gd name="adj" fmla="val 13542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019F0573-6B0C-4C9A-A1A0-AB80AC54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48175"/>
            <a:ext cx="571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76" name="Rounded Rectangle 75">
            <a:extLst xmlns:a="http://schemas.openxmlformats.org/drawingml/2006/main">
              <a:ext uri="{FF2B5EF4-FFF2-40B4-BE49-F238E27FC236}">
                <a16:creationId xmlns:a16="http://schemas.microsoft.com/office/drawing/2014/main" id="{E78D4A8B-F7C9-4CC5-9C6A-FE570BCB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5B9A9A1E-27A4-423E-B857-25FB5DE4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78" name="Rectangle 77">
            <a:extLst xmlns:a="http://schemas.openxmlformats.org/drawingml/2006/main">
              <a:ext uri="{FF2B5EF4-FFF2-40B4-BE49-F238E27FC236}">
                <a16:creationId xmlns:a16="http://schemas.microsoft.com/office/drawing/2014/main" id="{73FF7C9C-3D9F-4395-9FBA-A331B19E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71975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854D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ПРИМЕНА НА ПРОЈЕКАТ</a:t>
            </a:r>
          </a:p>
        </p:txBody>
      </p:sp>
      <p:sp>
        <p:nvSpPr>
          <p:cNvPr id="79" name="Rectangle 78">
            <a:extLst xmlns:a="http://schemas.openxmlformats.org/drawingml/2006/main">
              <a:ext uri="{FF2B5EF4-FFF2-40B4-BE49-F238E27FC236}">
                <a16:creationId xmlns:a16="http://schemas.microsoft.com/office/drawing/2014/main" id="{2E4E1E8C-BE57-4DFE-B8C9-74272CA2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00575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Пројектна примена теме „Имовина, границе поверења и threat modeling“ обухвата једну серверску одлуку, тест одбијања и доказ који други члан тима може да понови.</a:t>
            </a:r>
          </a:p>
        </p:txBody>
      </p:sp>
    </p:spTree>
    <p:extLst>
      <p:ext uri="{BB962C8B-B14F-4D97-AF65-F5344CB8AC3E}">
        <p14:creationId xmlns:p14="http://schemas.microsoft.com/office/powerpoint/2010/main" val="14992827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6A3DD8E0-EC79-4168-BE28-3074BDFB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701987EC-E50F-4427-AF41-9AB76BDD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0583075-68C7-4719-9D1F-8582760E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BF83094-885E-4610-9B97-7F4ECCB9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Провера разумевања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65DD88D-FA23-4D15-B3AD-FF1C5748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Разумевање теме подразумева објашњење одлуке и доказа независно од конкретног технолошког оквира.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01EBB39-B51C-478B-841F-8A368A1C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24717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CBF5046-70A5-4184-8D33-9A9FE6E4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00300"/>
            <a:ext cx="21859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69955E5-DD1E-4F6F-A3EC-28610A53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2050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Имовина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CB5FA85-4B43-4D9E-AC17-96EBB8A7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76575"/>
            <a:ext cx="21859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вредан податак или сервис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3DAB913-81EB-4EDD-BB4C-ECE58F08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2286000"/>
            <a:ext cx="24717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DF8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16CBB26-235C-483B-8F01-2FF0E012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2400300"/>
            <a:ext cx="21859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684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849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22A1A5B-0D6E-4BCF-A1A6-3D75F384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2686050"/>
            <a:ext cx="22050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Ток података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322C8F4-B558-4268-BF18-6B90319A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3076575"/>
            <a:ext cx="21859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кретање информације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72A81DE-FB49-440D-9CB4-A7E4AE71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86000"/>
            <a:ext cx="24717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2A9DF83-2483-46F7-BD3A-AA0F0D06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21859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C5EAF38-2422-41B5-84F3-F896C688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686050"/>
            <a:ext cx="22050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Граница поверења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8329160-AAE2-4AB7-8921-F612D894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76575"/>
            <a:ext cx="21859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промена претпоставки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ABA14744-C10D-434C-881D-6EEEF3BA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2286000"/>
            <a:ext cx="24717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8F3DAED-F576-49BF-A6DD-DF6BEAC6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400300"/>
            <a:ext cx="21859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BDBF44F-7F46-4488-A9FE-950558AC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2686050"/>
            <a:ext cx="22050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Претња и контрола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B0847BD-7A7D-485F-8C3B-80A59BFF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076575"/>
            <a:ext cx="21859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ризик и одговор</a:t>
            </a:r>
          </a:p>
        </p:txBody>
      </p:sp>
      <p:cxnSp>
        <p:nvCxnSpPr>
          <p:cNvPr id="223" name="Straight Arrow Connector 126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95638" y="29146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24" name="Straight Arrow Connector 127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53126" y="2914650"/>
            <a:ext cx="285749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25" name="Straight Arrow Connector 128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10613" y="29146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714D7F6E-1C58-4F26-914D-78E63E03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9334500" cy="895350"/>
          </a:xfrm>
          <a:prstGeom xmlns:a="http://schemas.openxmlformats.org/drawingml/2006/main" prst="roundRect">
            <a:avLst>
              <a:gd name="adj" fmla="val 13830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24937E4B-65EB-42E7-B816-7F18069E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57675"/>
            <a:ext cx="571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FDBA7599-128E-4B30-85C5-8B092418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0363200" cy="1257294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78" name="Rounded Rectangle 77">
            <a:extLst xmlns:a="http://schemas.openxmlformats.org/drawingml/2006/main">
              <a:ext uri="{FF2B5EF4-FFF2-40B4-BE49-F238E27FC236}">
                <a16:creationId xmlns:a16="http://schemas.microsoft.com/office/drawing/2014/main" id="{A3D69368-8583-40D4-B176-02F3E3A0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48150"/>
            <a:ext cx="57150" cy="942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79" name="Rectangle 78">
            <a:extLst xmlns:a="http://schemas.openxmlformats.org/drawingml/2006/main">
              <a:ext uri="{FF2B5EF4-FFF2-40B4-BE49-F238E27FC236}">
                <a16:creationId xmlns:a16="http://schemas.microsoft.com/office/drawing/2014/main" id="{1D2261EE-6E97-419D-AA2B-B993E4BE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00525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854D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ПИТАЊЕ ЗА ПРОВЕРУ</a:t>
            </a:r>
          </a:p>
        </p:txBody>
      </p:sp>
      <p:sp>
        <p:nvSpPr>
          <p:cNvPr id="80" name="Rectangle 79">
            <a:extLst xmlns:a="http://schemas.openxmlformats.org/drawingml/2006/main">
              <a:ext uri="{FF2B5EF4-FFF2-40B4-BE49-F238E27FC236}">
                <a16:creationId xmlns:a16="http://schemas.microsoft.com/office/drawing/2014/main" id="{0C7CF497-A779-43F3-89D9-001F3691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29125"/>
            <a:ext cx="963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Који ток осетљивог податка прелази границу поверења и на ком месту се претпоставка мења?</a:t>
            </a:r>
          </a:p>
        </p:txBody>
      </p:sp>
      <p:sp>
        <p:nvSpPr>
          <p:cNvPr id="81" name="Rectangle 80">
            <a:extLst xmlns:a="http://schemas.openxmlformats.org/drawingml/2006/main">
              <a:ext uri="{FF2B5EF4-FFF2-40B4-BE49-F238E27FC236}">
                <a16:creationId xmlns:a16="http://schemas.microsoft.com/office/drawing/2014/main" id="{64851BE0-5B32-4439-ACFE-DDDDF7AD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05375"/>
            <a:ext cx="963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3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7B"/>
                </a:solidFill>
                <a:latin typeface="Aptos"/>
                <a:ea typeface="Aptos"/>
                <a:cs typeface="Aptos"/>
              </a:rPr>
              <a:t>Пројектна примена: применити исти модел на једну реалну границу у сопственом пројекту.</a:t>
            </a:r>
          </a:p>
        </p:txBody>
      </p:sp>
    </p:spTree>
    <p:extLst>
      <p:ext uri="{BB962C8B-B14F-4D97-AF65-F5344CB8AC3E}">
        <p14:creationId xmlns:p14="http://schemas.microsoft.com/office/powerpoint/2010/main" val="1753261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2026-09-29T19:08:34.3940000Z</dcterms:created>
  <dcterms:modified xsi:type="dcterms:W3CDTF">2026-09-29T19:08:34.3940000Z</dcterms:modified>
</coreProperties>
</file>