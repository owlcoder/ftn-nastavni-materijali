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38E154-6145-4E5A-B373-5AC49BAAD6DD}"/>
              </a:ext>
            </a:extLst>
          </p:cNvPr>
          <p:cNvSpPr>
            <a:spLocks noGrp="1"/>
          </p:cNvSpPr>
          <p:nvPr/>
        </p:nvSpPr>
        <p:spPr>
          <a:xfrm>
            <a:off x="914400" y="590550"/>
            <a:ext cx="7810500" cy="228600"/>
          </a:xfrm>
          <a:prstGeom prst="rect">
            <a:avLst/>
          </a:prstGeom>
          <a:noFill/>
          <a:ln w="0">
            <a:noFill/>
          </a:ln>
        </p:spPr>
        <p:txBody>
          <a:bodyPr wrap="square" lIns="0" tIns="0" rIns="0" bIns="0" anchor="t">
            <a:normAutofit/>
          </a:bodyPr>
          <a:lstStyle/>
          <a:p>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448BDFC-CE1E-4B98-9566-3BD7C294A9F7}"/>
              </a:ext>
            </a:extLst>
          </p:cNvPr>
          <p:cNvSpPr>
            <a:spLocks noGrp="1"/>
          </p:cNvSpPr>
          <p:nvPr/>
        </p:nvSpPr>
        <p:spPr>
          <a:xfrm>
            <a:off x="914400" y="1009650"/>
            <a:ext cx="10363200" cy="9525"/>
          </a:xfrm>
          <a:prstGeom prst="line">
            <a:avLst/>
          </a:prstGeom>
          <a:noFill/>
          <a:ln w="8573">
            <a:solidFill>
              <a:srgbClr val="7F8B9B"/>
            </a:solidFill>
            <a:prstDash val="solid"/>
          </a:ln>
        </p:spPr>
      </p:sp>
      <p:sp>
        <p:nvSpPr>
          <p:cNvPr id="3" name="Rounded Rectangle 2">
            <a:extLst>
              <a:ext uri="{FF2B5EF4-FFF2-40B4-BE49-F238E27FC236}">
                <a16:creationId xmlns:a16="http://schemas.microsoft.com/office/drawing/2014/main" id="{CDD03305-B22B-4DC6-A77D-1D8C7C861B0E}"/>
              </a:ext>
            </a:extLst>
          </p:cNvPr>
          <p:cNvSpPr>
            <a:spLocks noGrp="1"/>
          </p:cNvSpPr>
          <p:nvPr/>
        </p:nvSpPr>
        <p:spPr>
          <a:xfrm>
            <a:off x="914400" y="1438275"/>
            <a:ext cx="647700" cy="66675"/>
          </a:xfrm>
          <a:prstGeom prst="roundRect">
            <a:avLst>
              <a:gd name="adj" fmla="val 50000"/>
            </a:avLst>
          </a:prstGeom>
          <a:solidFill>
            <a:srgbClr val="315CF4"/>
          </a:solidFill>
          <a:ln w="0">
            <a:noFill/>
          </a:ln>
        </p:spPr>
      </p:sp>
      <p:sp>
        <p:nvSpPr>
          <p:cNvPr id="4" name="Rectangle 3">
            <a:extLst>
              <a:ext uri="{FF2B5EF4-FFF2-40B4-BE49-F238E27FC236}">
                <a16:creationId xmlns:a16="http://schemas.microsoft.com/office/drawing/2014/main" id="{25E25CD1-9FDA-451C-AB74-608119F1DBC2}"/>
              </a:ext>
            </a:extLst>
          </p:cNvPr>
          <p:cNvSpPr>
            <a:spLocks noGrp="1"/>
          </p:cNvSpPr>
          <p:nvPr/>
        </p:nvSpPr>
        <p:spPr>
          <a:xfrm>
            <a:off x="914400" y="1771650"/>
            <a:ext cx="10363200" cy="1562100"/>
          </a:xfrm>
          <a:prstGeom prst="rect">
            <a:avLst/>
          </a:prstGeom>
          <a:noFill/>
          <a:ln w="0">
            <a:noFill/>
          </a:ln>
        </p:spPr>
        <p:txBody>
          <a:bodyPr wrap="square" lIns="0" tIns="0" rIns="0" bIns="0" anchor="ctr">
            <a:normAutofit/>
          </a:bodyPr>
          <a:lstStyle/>
          <a:p>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Имовина, границе поверења и threat modeling</a:t>
            </a:r>
          </a:p>
        </p:txBody>
      </p:sp>
      <p:sp>
        <p:nvSpPr>
          <p:cNvPr id="5" name="Rectangle 4">
            <a:extLst>
              <a:ext uri="{FF2B5EF4-FFF2-40B4-BE49-F238E27FC236}">
                <a16:creationId xmlns:a16="http://schemas.microsoft.com/office/drawing/2014/main" id="{430EFE5B-D964-46DA-9B12-82A5916860D1}"/>
              </a:ext>
            </a:extLst>
          </p:cNvPr>
          <p:cNvSpPr>
            <a:spLocks noGrp="1"/>
          </p:cNvSpPr>
          <p:nvPr/>
        </p:nvSpPr>
        <p:spPr>
          <a:xfrm>
            <a:off x="933450" y="3600450"/>
            <a:ext cx="9620250" cy="723900"/>
          </a:xfrm>
          <a:prstGeom prst="rect">
            <a:avLst/>
          </a:prstGeom>
          <a:noFill/>
          <a:ln w="0">
            <a:noFill/>
          </a:ln>
        </p:spPr>
        <p:txBody>
          <a:bodyPr wrap="square" lIns="0" tIns="0" rIns="0" bIns="0" anchor="ctr">
            <a:normAutofit/>
          </a:bodyPr>
          <a:lstStyle/>
          <a:p>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Прво разумемо шта штитимо, затим бирамо контроле</a:t>
            </a:r>
          </a:p>
        </p:txBody>
      </p:sp>
      <p:sp>
        <p:nvSpPr>
          <p:cNvPr id="6" name="Straight Connector 5">
            <a:extLst>
              <a:ext uri="{FF2B5EF4-FFF2-40B4-BE49-F238E27FC236}">
                <a16:creationId xmlns:a16="http://schemas.microsoft.com/office/drawing/2014/main" id="{ED5FB5BB-78D8-461F-AC65-6547D5FE19F8}"/>
              </a:ext>
            </a:extLst>
          </p:cNvPr>
          <p:cNvSpPr>
            <a:spLocks noGrp="1"/>
          </p:cNvSpPr>
          <p:nvPr/>
        </p:nvSpPr>
        <p:spPr>
          <a:xfrm>
            <a:off x="914400" y="5286375"/>
            <a:ext cx="10363200" cy="9525"/>
          </a:xfrm>
          <a:prstGeom prst="line">
            <a:avLst/>
          </a:prstGeom>
          <a:noFill/>
          <a:ln w="9525">
            <a:solidFill>
              <a:srgbClr val="CBD5E1"/>
            </a:solidFill>
            <a:prstDash val="solid"/>
          </a:ln>
        </p:spPr>
      </p:sp>
      <p:sp>
        <p:nvSpPr>
          <p:cNvPr id="7" name="Rectangle 6">
            <a:extLst>
              <a:ext uri="{FF2B5EF4-FFF2-40B4-BE49-F238E27FC236}">
                <a16:creationId xmlns:a16="http://schemas.microsoft.com/office/drawing/2014/main" id="{3376D0CB-C851-4748-9008-29C10E0452AD}"/>
              </a:ext>
            </a:extLst>
          </p:cNvPr>
          <p:cNvSpPr>
            <a:spLocks noGrp="1"/>
          </p:cNvSpPr>
          <p:nvPr/>
        </p:nvSpPr>
        <p:spPr>
          <a:xfrm>
            <a:off x="914400" y="5581650"/>
            <a:ext cx="4000500" cy="247650"/>
          </a:xfrm>
          <a:prstGeom prst="rect">
            <a:avLst/>
          </a:prstGeom>
          <a:noFill/>
          <a:ln w="0">
            <a:noFill/>
          </a:ln>
        </p:spPr>
        <p:txBody>
          <a:bodyPr wrap="square" lIns="0" tIns="0" rIns="0" bIns="0" anchor="t">
            <a:normAutofit/>
          </a:bodyPr>
          <a:lstStyle/>
          <a:p>
            <a:pPr algn="l">
              <a:lnSpc>
                <a:spcPct val="100000"/>
              </a:lnSpc>
              <a:buNone/>
              <a:defRPr sz="1200" b="1">
                <a:solidFill>
                  <a:srgbClr val="1A202C"/>
                </a:solidFill>
                <a:latin typeface="Aptos"/>
                <a:ea typeface="Aptos"/>
                <a:cs typeface="Aptos"/>
              </a:defRPr>
            </a:pPr>
            <a:r>
              <a:rPr sz="1200" b="1">
                <a:solidFill>
                  <a:srgbClr val="1A202C"/>
                </a:solidFill>
                <a:latin typeface="Aptos"/>
                <a:ea typeface="Aptos"/>
                <a:cs typeface="Aptos"/>
              </a:rPr>
              <a:t>ОИБ · 5. семестар</a:t>
            </a:r>
          </a:p>
        </p:txBody>
      </p:sp>
      <p:sp>
        <p:nvSpPr>
          <p:cNvPr id="8" name="Rectangle 7">
            <a:extLst>
              <a:ext uri="{FF2B5EF4-FFF2-40B4-BE49-F238E27FC236}">
                <a16:creationId xmlns:a16="http://schemas.microsoft.com/office/drawing/2014/main" id="{CCA555B5-2B0F-4A4D-9617-A16BBE03AC12}"/>
              </a:ext>
            </a:extLst>
          </p:cNvPr>
          <p:cNvSpPr>
            <a:spLocks noGrp="1"/>
          </p:cNvSpPr>
          <p:nvPr/>
        </p:nvSpPr>
        <p:spPr>
          <a:xfrm>
            <a:off x="8096250" y="5581650"/>
            <a:ext cx="3181350" cy="247650"/>
          </a:xfrm>
          <a:prstGeom prst="rect">
            <a:avLst/>
          </a:prstGeom>
          <a:noFill/>
          <a:ln w="0">
            <a:noFill/>
          </a:ln>
        </p:spPr>
        <p:txBody>
          <a:bodyPr wrap="square" lIns="0" tIns="0" rIns="0" bIns="0" anchor="t">
            <a:normAutofit/>
          </a:bodyPr>
          <a:lstStyle/>
          <a:p>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3912611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F4A75551-47AC-42DD-894B-51B9A56059C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D1F72F9-8475-4B29-9389-7867DD8E139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9F905508-6F3D-46D0-AB87-3B6A6B81D017}"/>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a:ext uri="{FF2B5EF4-FFF2-40B4-BE49-F238E27FC236}">
                <a16:creationId xmlns:a16="http://schemas.microsoft.com/office/drawing/2014/main" id="{B03F4210-5265-4EA6-ACD1-5AB6BC724B6F}"/>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Проблем који решавамо</a:t>
            </a:r>
          </a:p>
        </p:txBody>
      </p:sp>
      <p:sp>
        <p:nvSpPr>
          <p:cNvPr id="5" name="Rectangle 4">
            <a:extLst>
              <a:ext uri="{FF2B5EF4-FFF2-40B4-BE49-F238E27FC236}">
                <a16:creationId xmlns:a16="http://schemas.microsoft.com/office/drawing/2014/main" id="{7C99276E-9939-4C1C-B512-E4AB1907B2F3}"/>
              </a:ext>
            </a:extLst>
          </p:cNvPr>
          <p:cNvSpPr>
            <a:spLocks noGrp="1"/>
          </p:cNvSpPr>
          <p:nvPr/>
        </p:nvSpPr>
        <p:spPr>
          <a:xfrm>
            <a:off x="685800" y="1428750"/>
            <a:ext cx="10820400" cy="457200"/>
          </a:xfrm>
          <a:prstGeom prst="rect">
            <a:avLst/>
          </a:prstGeom>
          <a:noFill/>
          <a:ln w="0">
            <a:noFill/>
          </a:ln>
        </p:spPr>
        <p:txBody>
          <a:bodyPr wrap="square" lIns="0" tIns="0" rIns="0" bIns="0" anchor="t">
            <a:normAutofit fontScale="93371"/>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Добра безбедносна одлука не полази од листе познатих решења, већ од вредне имовине, тока података и граница поверења. Тек тада тим може да препозна шта би могло поћи по злу и која контрола има смисла за конкретан ризик.</a:t>
            </a:r>
          </a:p>
        </p:txBody>
      </p:sp>
      <p:sp>
        <p:nvSpPr>
          <p:cNvPr id="6" name="Rounded Rectangle 5">
            <a:extLst>
              <a:ext uri="{FF2B5EF4-FFF2-40B4-BE49-F238E27FC236}">
                <a16:creationId xmlns:a16="http://schemas.microsoft.com/office/drawing/2014/main" id="{28F61B67-E835-4CD3-9A74-5FB48C5B88E8}"/>
              </a:ext>
            </a:extLst>
          </p:cNvPr>
          <p:cNvSpPr>
            <a:spLocks noGrp="1"/>
          </p:cNvSpPr>
          <p:nvPr/>
        </p:nvSpPr>
        <p:spPr>
          <a:xfrm>
            <a:off x="819150" y="2571750"/>
            <a:ext cx="3257550" cy="2228850"/>
          </a:xfrm>
          <a:prstGeom prst="roundRect">
            <a:avLst>
              <a:gd name="adj" fmla="val 5983"/>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E4C89A1-CCD0-4856-9004-8B7D227D41FF}"/>
              </a:ext>
            </a:extLst>
          </p:cNvPr>
          <p:cNvSpPr>
            <a:spLocks noGrp="1"/>
          </p:cNvSpPr>
          <p:nvPr/>
        </p:nvSpPr>
        <p:spPr>
          <a:xfrm>
            <a:off x="97155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ПРОБЛЕМ</a:t>
            </a:r>
          </a:p>
        </p:txBody>
      </p:sp>
      <p:sp>
        <p:nvSpPr>
          <p:cNvPr id="8" name="Rectangle 7">
            <a:extLst>
              <a:ext uri="{FF2B5EF4-FFF2-40B4-BE49-F238E27FC236}">
                <a16:creationId xmlns:a16="http://schemas.microsoft.com/office/drawing/2014/main" id="{750CAC0A-BCB5-49C2-AC35-F15DBEE7F258}"/>
              </a:ext>
            </a:extLst>
          </p:cNvPr>
          <p:cNvSpPr>
            <a:spLocks noGrp="1"/>
          </p:cNvSpPr>
          <p:nvPr/>
        </p:nvSpPr>
        <p:spPr>
          <a:xfrm>
            <a:off x="97155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може поћи по злу</a:t>
            </a:r>
          </a:p>
        </p:txBody>
      </p:sp>
      <p:sp>
        <p:nvSpPr>
          <p:cNvPr id="9" name="Rectangle 8">
            <a:extLst>
              <a:ext uri="{FF2B5EF4-FFF2-40B4-BE49-F238E27FC236}">
                <a16:creationId xmlns:a16="http://schemas.microsoft.com/office/drawing/2014/main" id="{667C9843-D798-4005-BB13-58C173F902E5}"/>
              </a:ext>
            </a:extLst>
          </p:cNvPr>
          <p:cNvSpPr>
            <a:spLocks noGrp="1"/>
          </p:cNvSpPr>
          <p:nvPr/>
        </p:nvSpPr>
        <p:spPr>
          <a:xfrm>
            <a:off x="971550" y="3352800"/>
            <a:ext cx="2952750" cy="1343025"/>
          </a:xfrm>
          <a:prstGeom prst="rect">
            <a:avLst/>
          </a:prstGeom>
          <a:noFill/>
          <a:ln w="0">
            <a:noFill/>
          </a:ln>
        </p:spPr>
        <p:txBody>
          <a:bodyPr wrap="square" lIns="0" tIns="0" rIns="0" bIns="0" anchor="t">
            <a:normAutofit fontScale="87975"/>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Добра безбедносна одлука не полази од листе познатих решења, већ од вредне имовине, тока података и граница поверења. Тек тада тим може да препозна шта би могло поћи по злу и која контрола има смисла за конкретан ризик.</a:t>
            </a:r>
          </a:p>
        </p:txBody>
      </p:sp>
      <p:sp>
        <p:nvSpPr>
          <p:cNvPr id="10" name="Rounded Rectangle 9">
            <a:extLst>
              <a:ext uri="{FF2B5EF4-FFF2-40B4-BE49-F238E27FC236}">
                <a16:creationId xmlns:a16="http://schemas.microsoft.com/office/drawing/2014/main" id="{185E2777-5735-470F-827B-F9AB4524B70C}"/>
              </a:ext>
            </a:extLst>
          </p:cNvPr>
          <p:cNvSpPr>
            <a:spLocks noGrp="1"/>
          </p:cNvSpPr>
          <p:nvPr/>
        </p:nvSpPr>
        <p:spPr>
          <a:xfrm>
            <a:off x="4467225" y="2571750"/>
            <a:ext cx="3257550" cy="2228850"/>
          </a:xfrm>
          <a:prstGeom prst="roundRect">
            <a:avLst>
              <a:gd name="adj" fmla="val 5983"/>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042C5CA4-247A-480D-8869-00F1F6FAB6F6}"/>
              </a:ext>
            </a:extLst>
          </p:cNvPr>
          <p:cNvSpPr>
            <a:spLocks noGrp="1"/>
          </p:cNvSpPr>
          <p:nvPr/>
        </p:nvSpPr>
        <p:spPr>
          <a:xfrm>
            <a:off x="4619625"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ЗАШТО</a:t>
            </a:r>
          </a:p>
        </p:txBody>
      </p:sp>
      <p:sp>
        <p:nvSpPr>
          <p:cNvPr id="12" name="Rectangle 11">
            <a:extLst>
              <a:ext uri="{FF2B5EF4-FFF2-40B4-BE49-F238E27FC236}">
                <a16:creationId xmlns:a16="http://schemas.microsoft.com/office/drawing/2014/main" id="{BB8D97C7-BD1C-48B6-8A57-D6797D8BE0BD}"/>
              </a:ext>
            </a:extLst>
          </p:cNvPr>
          <p:cNvSpPr>
            <a:spLocks noGrp="1"/>
          </p:cNvSpPr>
          <p:nvPr/>
        </p:nvSpPr>
        <p:spPr>
          <a:xfrm>
            <a:off x="4619625"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Зашто је тема важна</a:t>
            </a:r>
          </a:p>
        </p:txBody>
      </p:sp>
      <p:sp>
        <p:nvSpPr>
          <p:cNvPr id="13" name="Rectangle 12">
            <a:extLst>
              <a:ext uri="{FF2B5EF4-FFF2-40B4-BE49-F238E27FC236}">
                <a16:creationId xmlns:a16="http://schemas.microsoft.com/office/drawing/2014/main" id="{76576FD5-FE32-460A-AC91-C3FFABCA88D9}"/>
              </a:ext>
            </a:extLst>
          </p:cNvPr>
          <p:cNvSpPr>
            <a:spLocks noGrp="1"/>
          </p:cNvSpPr>
          <p:nvPr/>
        </p:nvSpPr>
        <p:spPr>
          <a:xfrm>
            <a:off x="4619625" y="3352800"/>
            <a:ext cx="2952750" cy="13430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Threat modeling повезује техничку структуру система са пословним последицама. Помаже тиму да раније уочи погрешне претпоставке, уместо да безбедност додаје након што се архитектура већ учврсти.</a:t>
            </a:r>
          </a:p>
        </p:txBody>
      </p:sp>
      <p:sp>
        <p:nvSpPr>
          <p:cNvPr id="14" name="Rounded Rectangle 13">
            <a:extLst>
              <a:ext uri="{FF2B5EF4-FFF2-40B4-BE49-F238E27FC236}">
                <a16:creationId xmlns:a16="http://schemas.microsoft.com/office/drawing/2014/main" id="{ED549F01-570D-4502-8F1D-DCB16F2160A8}"/>
              </a:ext>
            </a:extLst>
          </p:cNvPr>
          <p:cNvSpPr>
            <a:spLocks noGrp="1"/>
          </p:cNvSpPr>
          <p:nvPr/>
        </p:nvSpPr>
        <p:spPr>
          <a:xfrm>
            <a:off x="8115300" y="2571750"/>
            <a:ext cx="3257550" cy="2228850"/>
          </a:xfrm>
          <a:prstGeom prst="roundRect">
            <a:avLst>
              <a:gd name="adj" fmla="val 5983"/>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3DBEFDF-FC2F-47F4-BA5E-3A0E5C45CE68}"/>
              </a:ext>
            </a:extLst>
          </p:cNvPr>
          <p:cNvSpPr>
            <a:spLocks noGrp="1"/>
          </p:cNvSpPr>
          <p:nvPr/>
        </p:nvSpPr>
        <p:spPr>
          <a:xfrm>
            <a:off x="826770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ИСХОД</a:t>
            </a:r>
          </a:p>
        </p:txBody>
      </p:sp>
      <p:sp>
        <p:nvSpPr>
          <p:cNvPr id="16" name="Rectangle 15">
            <a:extLst>
              <a:ext uri="{FF2B5EF4-FFF2-40B4-BE49-F238E27FC236}">
                <a16:creationId xmlns:a16="http://schemas.microsoft.com/office/drawing/2014/main" id="{DAF513EF-E129-40E9-8C21-B308DB2AAB6C}"/>
              </a:ext>
            </a:extLst>
          </p:cNvPr>
          <p:cNvSpPr>
            <a:spLocks noGrp="1"/>
          </p:cNvSpPr>
          <p:nvPr/>
        </p:nvSpPr>
        <p:spPr>
          <a:xfrm>
            <a:off x="826770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треба доказати</a:t>
            </a:r>
          </a:p>
        </p:txBody>
      </p:sp>
      <p:sp>
        <p:nvSpPr>
          <p:cNvPr id="17" name="Rectangle 16">
            <a:extLst>
              <a:ext uri="{FF2B5EF4-FFF2-40B4-BE49-F238E27FC236}">
                <a16:creationId xmlns:a16="http://schemas.microsoft.com/office/drawing/2014/main" id="{A9586325-2FCB-4CB8-88A8-E9698B1D9E72}"/>
              </a:ext>
            </a:extLst>
          </p:cNvPr>
          <p:cNvSpPr>
            <a:spLocks noGrp="1"/>
          </p:cNvSpPr>
          <p:nvPr/>
        </p:nvSpPr>
        <p:spPr>
          <a:xfrm>
            <a:off x="8267700" y="3352800"/>
            <a:ext cx="2952750" cy="13430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646614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A06B96FA-D316-4DD4-A254-327F0945D649}"/>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6EE3C1E7-4278-4218-9072-D8D6D9E25545}"/>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6D653FF3-2E68-48F6-B439-AB6EF3ACB1B6}"/>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a:ext uri="{FF2B5EF4-FFF2-40B4-BE49-F238E27FC236}">
                <a16:creationId xmlns:a16="http://schemas.microsoft.com/office/drawing/2014/main" id="{FA75F685-09F0-4BD7-A50D-916F84DCCF5F}"/>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Четири појма граде једну одлуку</a:t>
            </a:r>
          </a:p>
        </p:txBody>
      </p:sp>
      <p:sp>
        <p:nvSpPr>
          <p:cNvPr id="5" name="Rectangle 4">
            <a:extLst>
              <a:ext uri="{FF2B5EF4-FFF2-40B4-BE49-F238E27FC236}">
                <a16:creationId xmlns:a16="http://schemas.microsoft.com/office/drawing/2014/main" id="{AC60D702-1895-4315-BE31-D602D054284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Сваки елемент одговара на друго питање и оставља другачији доказ.</a:t>
            </a:r>
          </a:p>
        </p:txBody>
      </p:sp>
      <p:sp>
        <p:nvSpPr>
          <p:cNvPr id="6" name="Rounded Rectangle 5">
            <a:extLst>
              <a:ext uri="{FF2B5EF4-FFF2-40B4-BE49-F238E27FC236}">
                <a16:creationId xmlns:a16="http://schemas.microsoft.com/office/drawing/2014/main" id="{D460D200-DCE9-42E0-9637-958F22946CC1}"/>
              </a:ext>
            </a:extLst>
          </p:cNvPr>
          <p:cNvSpPr>
            <a:spLocks noGrp="1"/>
          </p:cNvSpPr>
          <p:nvPr/>
        </p:nvSpPr>
        <p:spPr>
          <a:xfrm>
            <a:off x="723900" y="241935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9FB7807A-465F-42EB-8354-B710D1F67372}"/>
              </a:ext>
            </a:extLst>
          </p:cNvPr>
          <p:cNvSpPr>
            <a:spLocks noGrp="1"/>
          </p:cNvSpPr>
          <p:nvPr/>
        </p:nvSpPr>
        <p:spPr>
          <a:xfrm>
            <a:off x="866775"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955229E5-0E6F-4B3A-AFA2-14FDB4682698}"/>
              </a:ext>
            </a:extLst>
          </p:cNvPr>
          <p:cNvSpPr>
            <a:spLocks noGrp="1"/>
          </p:cNvSpPr>
          <p:nvPr/>
        </p:nvSpPr>
        <p:spPr>
          <a:xfrm>
            <a:off x="857250"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Имовина</a:t>
            </a:r>
          </a:p>
        </p:txBody>
      </p:sp>
      <p:sp>
        <p:nvSpPr>
          <p:cNvPr id="9" name="Rectangle 8">
            <a:extLst>
              <a:ext uri="{FF2B5EF4-FFF2-40B4-BE49-F238E27FC236}">
                <a16:creationId xmlns:a16="http://schemas.microsoft.com/office/drawing/2014/main" id="{1FFB0F43-7D9D-4911-B4E5-43C3317EA869}"/>
              </a:ext>
            </a:extLst>
          </p:cNvPr>
          <p:cNvSpPr>
            <a:spLocks noGrp="1"/>
          </p:cNvSpPr>
          <p:nvPr/>
        </p:nvSpPr>
        <p:spPr>
          <a:xfrm>
            <a:off x="866775"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вредан податак или сервис</a:t>
            </a:r>
          </a:p>
        </p:txBody>
      </p:sp>
      <p:sp>
        <p:nvSpPr>
          <p:cNvPr id="10" name="Rounded Rectangle 9">
            <a:extLst>
              <a:ext uri="{FF2B5EF4-FFF2-40B4-BE49-F238E27FC236}">
                <a16:creationId xmlns:a16="http://schemas.microsoft.com/office/drawing/2014/main" id="{82903863-C437-4082-8720-ED091DC37FAC}"/>
              </a:ext>
            </a:extLst>
          </p:cNvPr>
          <p:cNvSpPr>
            <a:spLocks noGrp="1"/>
          </p:cNvSpPr>
          <p:nvPr/>
        </p:nvSpPr>
        <p:spPr>
          <a:xfrm>
            <a:off x="3481388" y="241935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99565FB7-2109-401E-9F83-E4B7F19556A3}"/>
              </a:ext>
            </a:extLst>
          </p:cNvPr>
          <p:cNvSpPr>
            <a:spLocks noGrp="1"/>
          </p:cNvSpPr>
          <p:nvPr/>
        </p:nvSpPr>
        <p:spPr>
          <a:xfrm>
            <a:off x="3624263"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72F39EE5-6741-4F1F-BAC9-7784728D7B86}"/>
              </a:ext>
            </a:extLst>
          </p:cNvPr>
          <p:cNvSpPr>
            <a:spLocks noGrp="1"/>
          </p:cNvSpPr>
          <p:nvPr/>
        </p:nvSpPr>
        <p:spPr>
          <a:xfrm>
            <a:off x="3614738"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Ток података</a:t>
            </a:r>
          </a:p>
        </p:txBody>
      </p:sp>
      <p:sp>
        <p:nvSpPr>
          <p:cNvPr id="13" name="Rectangle 12">
            <a:extLst>
              <a:ext uri="{FF2B5EF4-FFF2-40B4-BE49-F238E27FC236}">
                <a16:creationId xmlns:a16="http://schemas.microsoft.com/office/drawing/2014/main" id="{F525D397-4742-4507-A89A-7FA3E7D7246A}"/>
              </a:ext>
            </a:extLst>
          </p:cNvPr>
          <p:cNvSpPr>
            <a:spLocks noGrp="1"/>
          </p:cNvSpPr>
          <p:nvPr/>
        </p:nvSpPr>
        <p:spPr>
          <a:xfrm>
            <a:off x="3624263"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кретање информације</a:t>
            </a:r>
          </a:p>
        </p:txBody>
      </p:sp>
      <p:sp>
        <p:nvSpPr>
          <p:cNvPr id="14" name="Rounded Rectangle 13">
            <a:extLst>
              <a:ext uri="{FF2B5EF4-FFF2-40B4-BE49-F238E27FC236}">
                <a16:creationId xmlns:a16="http://schemas.microsoft.com/office/drawing/2014/main" id="{9A33753B-0900-4C5A-8DA7-11010DA12057}"/>
              </a:ext>
            </a:extLst>
          </p:cNvPr>
          <p:cNvSpPr>
            <a:spLocks noGrp="1"/>
          </p:cNvSpPr>
          <p:nvPr/>
        </p:nvSpPr>
        <p:spPr>
          <a:xfrm>
            <a:off x="6238875" y="2419350"/>
            <a:ext cx="2471738"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DDCB0F77-931A-43C2-82FF-DE3BBB95D342}"/>
              </a:ext>
            </a:extLst>
          </p:cNvPr>
          <p:cNvSpPr>
            <a:spLocks noGrp="1"/>
          </p:cNvSpPr>
          <p:nvPr/>
        </p:nvSpPr>
        <p:spPr>
          <a:xfrm>
            <a:off x="6381750"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a:ext uri="{FF2B5EF4-FFF2-40B4-BE49-F238E27FC236}">
                <a16:creationId xmlns:a16="http://schemas.microsoft.com/office/drawing/2014/main" id="{21D9261B-8A56-4203-B7D8-0932C030008D}"/>
              </a:ext>
            </a:extLst>
          </p:cNvPr>
          <p:cNvSpPr>
            <a:spLocks noGrp="1"/>
          </p:cNvSpPr>
          <p:nvPr/>
        </p:nvSpPr>
        <p:spPr>
          <a:xfrm>
            <a:off x="6372225"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Граница поверења</a:t>
            </a:r>
          </a:p>
        </p:txBody>
      </p:sp>
      <p:sp>
        <p:nvSpPr>
          <p:cNvPr id="17" name="Rectangle 16">
            <a:extLst>
              <a:ext uri="{FF2B5EF4-FFF2-40B4-BE49-F238E27FC236}">
                <a16:creationId xmlns:a16="http://schemas.microsoft.com/office/drawing/2014/main" id="{B8C15F42-A428-44E3-8C0D-C94730D09C3B}"/>
              </a:ext>
            </a:extLst>
          </p:cNvPr>
          <p:cNvSpPr>
            <a:spLocks noGrp="1"/>
          </p:cNvSpPr>
          <p:nvPr/>
        </p:nvSpPr>
        <p:spPr>
          <a:xfrm>
            <a:off x="6381750"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промена претпоставки</a:t>
            </a:r>
          </a:p>
        </p:txBody>
      </p:sp>
      <p:sp>
        <p:nvSpPr>
          <p:cNvPr id="18" name="Rounded Rectangle 17">
            <a:extLst>
              <a:ext uri="{FF2B5EF4-FFF2-40B4-BE49-F238E27FC236}">
                <a16:creationId xmlns:a16="http://schemas.microsoft.com/office/drawing/2014/main" id="{D3CDD68B-1013-497C-8585-9714B281E6F6}"/>
              </a:ext>
            </a:extLst>
          </p:cNvPr>
          <p:cNvSpPr>
            <a:spLocks noGrp="1"/>
          </p:cNvSpPr>
          <p:nvPr/>
        </p:nvSpPr>
        <p:spPr>
          <a:xfrm>
            <a:off x="8996363" y="241935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40F818C2-34D0-4945-A6B3-36E1A2A2FF6A}"/>
              </a:ext>
            </a:extLst>
          </p:cNvPr>
          <p:cNvSpPr>
            <a:spLocks noGrp="1"/>
          </p:cNvSpPr>
          <p:nvPr/>
        </p:nvSpPr>
        <p:spPr>
          <a:xfrm>
            <a:off x="9139238"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BD0E251E-F2EC-46C5-8358-B82EFBC6772E}"/>
              </a:ext>
            </a:extLst>
          </p:cNvPr>
          <p:cNvSpPr>
            <a:spLocks noGrp="1"/>
          </p:cNvSpPr>
          <p:nvPr/>
        </p:nvSpPr>
        <p:spPr>
          <a:xfrm>
            <a:off x="9129713"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Претња и контрола</a:t>
            </a:r>
          </a:p>
        </p:txBody>
      </p:sp>
      <p:sp>
        <p:nvSpPr>
          <p:cNvPr id="21" name="Rectangle 20">
            <a:extLst>
              <a:ext uri="{FF2B5EF4-FFF2-40B4-BE49-F238E27FC236}">
                <a16:creationId xmlns:a16="http://schemas.microsoft.com/office/drawing/2014/main" id="{9BA70F7E-BDA8-48AF-9642-30F32B931B3C}"/>
              </a:ext>
            </a:extLst>
          </p:cNvPr>
          <p:cNvSpPr>
            <a:spLocks noGrp="1"/>
          </p:cNvSpPr>
          <p:nvPr/>
        </p:nvSpPr>
        <p:spPr>
          <a:xfrm>
            <a:off x="9139238"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ризик и одговор</a:t>
            </a:r>
          </a:p>
        </p:txBody>
      </p:sp>
      <p:cxnSp>
        <p:nvCxnSpPr>
          <p:cNvPr id="125" name="Straight Arrow Connector 124"/>
          <p:cNvCxnSpPr>
            <a:stCxn id="6" idx="3"/>
            <a:endCxn id="10" idx="1"/>
          </p:cNvCxnSpPr>
          <p:nvPr/>
        </p:nvCxnSpPr>
        <p:spPr>
          <a:xfrm>
            <a:off x="3195638" y="30480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480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10613" y="3048000"/>
            <a:ext cx="285750" cy="0"/>
          </a:xfrm>
          <a:prstGeom prst="straightConnector1">
            <a:avLst/>
          </a:prstGeom>
          <a:ln w="13335">
            <a:solidFill>
              <a:srgbClr val="748092"/>
            </a:solidFill>
            <a:prstDash val="solid"/>
            <a:tailEnd type="arrow" w="sm" len="sm"/>
          </a:ln>
        </p:spPr>
      </p:cxnSp>
      <p:sp>
        <p:nvSpPr>
          <p:cNvPr id="26" name="Rounded Rectangle 25">
            <a:extLst>
              <a:ext uri="{FF2B5EF4-FFF2-40B4-BE49-F238E27FC236}">
                <a16:creationId xmlns:a16="http://schemas.microsoft.com/office/drawing/2014/main" id="{1C1C4040-0AAA-489F-A26E-94EE81F1380F}"/>
              </a:ext>
            </a:extLst>
          </p:cNvPr>
          <p:cNvSpPr>
            <a:spLocks noGrp="1"/>
          </p:cNvSpPr>
          <p:nvPr/>
        </p:nvSpPr>
        <p:spPr>
          <a:xfrm>
            <a:off x="1752600" y="4429125"/>
            <a:ext cx="57150" cy="514350"/>
          </a:xfrm>
          <a:prstGeom prst="roundRect">
            <a:avLst>
              <a:gd name="adj" fmla="val 50000"/>
            </a:avLst>
          </a:prstGeom>
          <a:solidFill>
            <a:srgbClr val="748092"/>
          </a:solidFill>
          <a:ln w="0">
            <a:noFill/>
          </a:ln>
        </p:spPr>
      </p:sp>
      <p:sp>
        <p:nvSpPr>
          <p:cNvPr id="76" name="Rounded Rectangle 75">
            <a:extLst>
              <a:ext uri="{FF2B5EF4-FFF2-40B4-BE49-F238E27FC236}">
                <a16:creationId xmlns:a16="http://schemas.microsoft.com/office/drawing/2014/main" id="{8560F7A7-990E-447A-90A4-8260606DD0AB}"/>
              </a:ext>
            </a:extLst>
          </p:cNvPr>
          <p:cNvSpPr>
            <a:spLocks noGrp="1"/>
          </p:cNvSpPr>
          <p:nvPr/>
        </p:nvSpPr>
        <p:spPr>
          <a:xfrm>
            <a:off x="914400" y="4305300"/>
            <a:ext cx="10363200" cy="800100"/>
          </a:xfrm>
          <a:prstGeom prst="roundRect">
            <a:avLst>
              <a:gd name="adj" fmla="val 16667"/>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55C7F82E-28B9-4E76-BC3F-E12DC3B70CDA}"/>
              </a:ext>
            </a:extLst>
          </p:cNvPr>
          <p:cNvSpPr>
            <a:spLocks noGrp="1"/>
          </p:cNvSpPr>
          <p:nvPr/>
        </p:nvSpPr>
        <p:spPr>
          <a:xfrm>
            <a:off x="1085850" y="4457700"/>
            <a:ext cx="57150" cy="4953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F5114102-0CAD-44E2-9E8A-9E54D4648EFE}"/>
              </a:ext>
            </a:extLst>
          </p:cNvPr>
          <p:cNvSpPr>
            <a:spLocks noGrp="1"/>
          </p:cNvSpPr>
          <p:nvPr/>
        </p:nvSpPr>
        <p:spPr>
          <a:xfrm>
            <a:off x="1333500" y="44100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КЉУЧНА ПОРУКА</a:t>
            </a:r>
          </a:p>
        </p:txBody>
      </p:sp>
      <p:sp>
        <p:nvSpPr>
          <p:cNvPr id="79" name="Rectangle 78">
            <a:extLst>
              <a:ext uri="{FF2B5EF4-FFF2-40B4-BE49-F238E27FC236}">
                <a16:creationId xmlns:a16="http://schemas.microsoft.com/office/drawing/2014/main" id="{7176B895-D353-488C-A8C3-092A7FE1C544}"/>
              </a:ext>
            </a:extLst>
          </p:cNvPr>
          <p:cNvSpPr>
            <a:spLocks noGrp="1"/>
          </p:cNvSpPr>
          <p:nvPr/>
        </p:nvSpPr>
        <p:spPr>
          <a:xfrm>
            <a:off x="1333500" y="4638675"/>
            <a:ext cx="9639300" cy="3619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Претња добија смисао тек када се веже за конкретну имовину, ток и последицу.</a:t>
            </a:r>
          </a:p>
        </p:txBody>
      </p:sp>
    </p:spTree>
    <p:extLst>
      <p:ext uri="{BB962C8B-B14F-4D97-AF65-F5344CB8AC3E}">
        <p14:creationId xmlns:p14="http://schemas.microsoft.com/office/powerpoint/2010/main" val="9163429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10E9D19-F874-46F7-A142-42F0945A701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3AC22596-1E35-42DB-A026-2655AB49CA24}"/>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2184DC6-8B31-4EA9-872D-88CB5258559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a:ext uri="{FF2B5EF4-FFF2-40B4-BE49-F238E27FC236}">
                <a16:creationId xmlns:a16="http://schemas.microsoft.com/office/drawing/2014/main" id="{C24BB56E-A996-4BD0-B471-4F7F0C7298D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Имовина</a:t>
            </a:r>
          </a:p>
        </p:txBody>
      </p:sp>
      <p:sp>
        <p:nvSpPr>
          <p:cNvPr id="5" name="Rectangle 4">
            <a:extLst>
              <a:ext uri="{FF2B5EF4-FFF2-40B4-BE49-F238E27FC236}">
                <a16:creationId xmlns:a16="http://schemas.microsoft.com/office/drawing/2014/main" id="{753FB74B-6872-47D1-AAED-AE0D8F38E0D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вредан податак или сервис</a:t>
            </a:r>
          </a:p>
        </p:txBody>
      </p:sp>
      <p:sp>
        <p:nvSpPr>
          <p:cNvPr id="6" name="Rounded Rectangle 5">
            <a:extLst>
              <a:ext uri="{FF2B5EF4-FFF2-40B4-BE49-F238E27FC236}">
                <a16:creationId xmlns:a16="http://schemas.microsoft.com/office/drawing/2014/main" id="{C9DF6294-22A9-4C97-B094-F5BE1733F6AB}"/>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381573D6-B3F9-46C2-86D0-8B0D619C4AC7}"/>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94F52921-1E60-400D-834F-9B8E0DE6B1CF}"/>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Имовина има власника, значај и животни циклус.</a:t>
            </a:r>
          </a:p>
        </p:txBody>
      </p:sp>
      <p:sp>
        <p:nvSpPr>
          <p:cNvPr id="9" name="Rectangle 8">
            <a:extLst>
              <a:ext uri="{FF2B5EF4-FFF2-40B4-BE49-F238E27FC236}">
                <a16:creationId xmlns:a16="http://schemas.microsoft.com/office/drawing/2014/main" id="{0DEF3699-04AB-46A7-8B16-41B4CE37C25B}"/>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D3FE369F-9ECE-4318-8E26-008A62911656}"/>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811D65DE-8357-4855-A31F-0684E2DDED34}"/>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EC29744C-74A0-4745-BA52-55041585CC96}"/>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Имовина се не своди на базу података: укључује налоге, кључеве, сервисне идентитете, конфигурацију и пословне записе.</a:t>
            </a:r>
          </a:p>
        </p:txBody>
      </p:sp>
      <p:sp>
        <p:nvSpPr>
          <p:cNvPr id="13" name="Rectangle 12">
            <a:extLst>
              <a:ext uri="{FF2B5EF4-FFF2-40B4-BE49-F238E27FC236}">
                <a16:creationId xmlns:a16="http://schemas.microsoft.com/office/drawing/2014/main" id="{A5BB5A41-C45E-40B3-BCCC-66F8E9B7D939}"/>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A0065901-2558-441B-8E89-A070C0D5D57E}"/>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102FE7D1-C1FF-4786-9D76-3D7C2311AF4A}"/>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C20CC111-BAB4-4E69-8592-92787198D282}"/>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Критичност имовине одређује колико брзо се реагује и колико је доказа потребно.</a:t>
            </a:r>
          </a:p>
        </p:txBody>
      </p:sp>
      <p:sp>
        <p:nvSpPr>
          <p:cNvPr id="17" name="Rectangle 16">
            <a:extLst>
              <a:ext uri="{FF2B5EF4-FFF2-40B4-BE49-F238E27FC236}">
                <a16:creationId xmlns:a16="http://schemas.microsoft.com/office/drawing/2014/main" id="{B03CE371-6249-4CD6-9F03-B07A2F85B5DB}"/>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7DAD2FB0-6E95-49D5-8FC7-8F877F0C18C9}"/>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8782D494-9842-477D-9864-2A8952A2A8B2}"/>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CD15E0DA-62DC-40F7-8CE0-A0D8610D5244}"/>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47B89CAC-0A96-458C-9DEA-643B5D1E4E72}"/>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C38F8880-DD3D-4D58-81A8-CC51573D52B6}"/>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73AB9F4F-D4AA-4556-9C3B-B02DE7172143}"/>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Нацртајте један ток осетљивог податка и означите место на коме се претпоставка о поверењу мења.</a:t>
            </a:r>
          </a:p>
        </p:txBody>
      </p:sp>
    </p:spTree>
    <p:extLst>
      <p:ext uri="{BB962C8B-B14F-4D97-AF65-F5344CB8AC3E}">
        <p14:creationId xmlns:p14="http://schemas.microsoft.com/office/powerpoint/2010/main" val="62997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118C4CC2-C80C-419D-AE9C-4BAB1DF5B91B}"/>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B7B3C0EE-FC07-4D3C-A430-7320AB25EAFB}"/>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269F7C27-25CE-41F2-8D3E-23C5B080A53B}"/>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a:ext uri="{FF2B5EF4-FFF2-40B4-BE49-F238E27FC236}">
                <a16:creationId xmlns:a16="http://schemas.microsoft.com/office/drawing/2014/main" id="{E7862CF8-8A03-48BC-B22B-5F5FFB90B90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Ток података</a:t>
            </a:r>
          </a:p>
        </p:txBody>
      </p:sp>
      <p:sp>
        <p:nvSpPr>
          <p:cNvPr id="5" name="Rectangle 4">
            <a:extLst>
              <a:ext uri="{FF2B5EF4-FFF2-40B4-BE49-F238E27FC236}">
                <a16:creationId xmlns:a16="http://schemas.microsoft.com/office/drawing/2014/main" id="{9955A112-AFB3-4357-9D58-09EEC76B9C3E}"/>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кретање информације</a:t>
            </a:r>
          </a:p>
        </p:txBody>
      </p:sp>
      <p:sp>
        <p:nvSpPr>
          <p:cNvPr id="6" name="Rounded Rectangle 5">
            <a:extLst>
              <a:ext uri="{FF2B5EF4-FFF2-40B4-BE49-F238E27FC236}">
                <a16:creationId xmlns:a16="http://schemas.microsoft.com/office/drawing/2014/main" id="{592D8E37-EB1C-447F-ABE1-78CCE8CA6386}"/>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E5B3500B-C031-4298-9211-072C4DC39C1B}"/>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C5865A02-1151-4D78-8963-A28E2B24053A}"/>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Спољна компонента не добија поверење само зато што је интегрисана.</a:t>
            </a:r>
          </a:p>
        </p:txBody>
      </p:sp>
      <p:sp>
        <p:nvSpPr>
          <p:cNvPr id="9" name="Rectangle 8">
            <a:extLst>
              <a:ext uri="{FF2B5EF4-FFF2-40B4-BE49-F238E27FC236}">
                <a16:creationId xmlns:a16="http://schemas.microsoft.com/office/drawing/2014/main" id="{6BAC9E4C-7219-4065-883D-80077ACABFA0}"/>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6DDBDF16-F9A0-4FB2-A42D-2C4B7BD1CEC9}"/>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27DB28DE-6AB1-47C4-8FBD-7F4F659B4875}"/>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68E27151-8F87-460F-B91C-305FB48B649C}"/>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164"/>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Граница поверења може бити API позив, ред порука, административни интерфејс или извоз у датотеку.</a:t>
            </a:r>
          </a:p>
        </p:txBody>
      </p:sp>
      <p:sp>
        <p:nvSpPr>
          <p:cNvPr id="13" name="Rectangle 12">
            <a:extLst>
              <a:ext uri="{FF2B5EF4-FFF2-40B4-BE49-F238E27FC236}">
                <a16:creationId xmlns:a16="http://schemas.microsoft.com/office/drawing/2014/main" id="{5DAD9A4B-9120-45EF-A1C6-58DF6E88CCCA}"/>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31CFF6E3-18FC-41D6-B905-918C5B3576ED}"/>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34B146B-F738-4D44-BB64-4D8B9069B75C}"/>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A5D1DE3E-2DDE-4897-BB16-5D7F669E98B0}"/>
              </a:ext>
            </a:extLst>
          </p:cNvPr>
          <p:cNvSpPr>
            <a:spLocks noGrp="1"/>
          </p:cNvSpPr>
          <p:nvPr/>
        </p:nvSpPr>
        <p:spPr>
          <a:xfrm>
            <a:off x="817245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Ток података открива места на којима информација може бити измењена, изгубљена или погрешно изложена.</a:t>
            </a:r>
          </a:p>
        </p:txBody>
      </p:sp>
      <p:sp>
        <p:nvSpPr>
          <p:cNvPr id="17" name="Rectangle 16">
            <a:extLst>
              <a:ext uri="{FF2B5EF4-FFF2-40B4-BE49-F238E27FC236}">
                <a16:creationId xmlns:a16="http://schemas.microsoft.com/office/drawing/2014/main" id="{8FBF93F6-F491-4F77-9E07-FEBBD383A072}"/>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FDC0A8C6-E200-4345-980F-A9256A5CA683}"/>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45370814-0A6E-433B-BEBC-8EF9485086BA}"/>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C6E47795-B286-4D49-8189-537D3A0480A2}"/>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2B19701F-F348-480A-AA1E-50FF0C36C2BE}"/>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E456F6B3-1830-4491-A112-B05165EE7447}"/>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BF02F80F-7CB2-42D1-BFA5-AB58D1C4059D}"/>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Нацртајте један ток осетљивог податка и означите место на коме се претпоставка о поверењу мења.</a:t>
            </a:r>
          </a:p>
        </p:txBody>
      </p:sp>
    </p:spTree>
    <p:extLst>
      <p:ext uri="{BB962C8B-B14F-4D97-AF65-F5344CB8AC3E}">
        <p14:creationId xmlns:p14="http://schemas.microsoft.com/office/powerpoint/2010/main" val="630948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949FFD-F3B4-45E2-8782-2B717E511A9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6ABC0991-3441-400C-9AA0-BC3F5321886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E4C543B-9FE0-42F5-8BB5-95DD7C7EACDC}"/>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a:ext uri="{FF2B5EF4-FFF2-40B4-BE49-F238E27FC236}">
                <a16:creationId xmlns:a16="http://schemas.microsoft.com/office/drawing/2014/main" id="{02D11C2D-3AC0-4EBC-99C3-28E42005D5D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Граница поверења</a:t>
            </a:r>
          </a:p>
        </p:txBody>
      </p:sp>
      <p:sp>
        <p:nvSpPr>
          <p:cNvPr id="5" name="Rectangle 4">
            <a:extLst>
              <a:ext uri="{FF2B5EF4-FFF2-40B4-BE49-F238E27FC236}">
                <a16:creationId xmlns:a16="http://schemas.microsoft.com/office/drawing/2014/main" id="{B2EF04B8-6EF6-458F-B10C-61B00E1543C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промена претпоставки</a:t>
            </a:r>
          </a:p>
        </p:txBody>
      </p:sp>
      <p:sp>
        <p:nvSpPr>
          <p:cNvPr id="6" name="Rounded Rectangle 5">
            <a:extLst>
              <a:ext uri="{FF2B5EF4-FFF2-40B4-BE49-F238E27FC236}">
                <a16:creationId xmlns:a16="http://schemas.microsoft.com/office/drawing/2014/main" id="{37618632-EF21-4D40-80BC-1AA121091664}"/>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A343FA4C-5F74-43DE-B9B0-833B0C51AB54}"/>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7EBEA036-C96D-43AE-A166-6BEF7FB4D661}"/>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Претња постаје корисна када води до захтева, контроле и начина провере.</a:t>
            </a:r>
          </a:p>
        </p:txBody>
      </p:sp>
      <p:sp>
        <p:nvSpPr>
          <p:cNvPr id="9" name="Rectangle 8">
            <a:extLst>
              <a:ext uri="{FF2B5EF4-FFF2-40B4-BE49-F238E27FC236}">
                <a16:creationId xmlns:a16="http://schemas.microsoft.com/office/drawing/2014/main" id="{573B08C7-82F2-4091-A8E9-21566E59AF09}"/>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F8914F9A-39E8-42D0-B7DE-6B8062C0BC90}"/>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50F4C8E6-18B1-4C1B-B484-3A2532166C2A}"/>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CD8F0FF8-9E69-4BB8-BCD0-0E4118D54B2D}"/>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6258"/>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Добар тхреат модел бира неколико реалних сценарија и уз сваки наводи контролу и начин провере.</a:t>
            </a:r>
          </a:p>
        </p:txBody>
      </p:sp>
      <p:sp>
        <p:nvSpPr>
          <p:cNvPr id="13" name="Rectangle 12">
            <a:extLst>
              <a:ext uri="{FF2B5EF4-FFF2-40B4-BE49-F238E27FC236}">
                <a16:creationId xmlns:a16="http://schemas.microsoft.com/office/drawing/2014/main" id="{215C436F-1D84-4E45-A60B-9E2F5DB0D1B9}"/>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76D3B74A-B08A-44A1-B6C6-AF87C95EF4B6}"/>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B6226EC3-07D7-4174-9A77-E460ACEB7B89}"/>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40E23D5F-D55D-4FEA-A34C-F8AAD64DBBCA}"/>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Претња добија приоритет према утицају, вероватноћи и реалним постојећим контролама.</a:t>
            </a:r>
          </a:p>
        </p:txBody>
      </p:sp>
      <p:sp>
        <p:nvSpPr>
          <p:cNvPr id="17" name="Rectangle 16">
            <a:extLst>
              <a:ext uri="{FF2B5EF4-FFF2-40B4-BE49-F238E27FC236}">
                <a16:creationId xmlns:a16="http://schemas.microsoft.com/office/drawing/2014/main" id="{FA5596FF-1A89-4A53-98CC-CC0B47A6115E}"/>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601416E3-7453-429B-AFE2-4F267049471B}"/>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2D8B7E7C-305A-4AAF-87DC-71B831FE3F2E}"/>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F7F1C4ED-4CCE-4237-B419-0383E6812772}"/>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8D5AFCCD-6FC4-43AB-9137-579E0575C637}"/>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9C5CA5F9-B54A-4474-9E5D-27E2CCCCE104}"/>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607992A2-56BB-4F64-B972-E5CEF2FE6BE6}"/>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Нацртајте један ток осетљивог податка и означите место на коме се претпоставка о поверењу мења.</a:t>
            </a:r>
          </a:p>
        </p:txBody>
      </p:sp>
    </p:spTree>
    <p:extLst>
      <p:ext uri="{BB962C8B-B14F-4D97-AF65-F5344CB8AC3E}">
        <p14:creationId xmlns:p14="http://schemas.microsoft.com/office/powerpoint/2010/main" val="21061235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045D0C5-8622-4DF2-9A25-CB630713BAA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8BA142C-174F-4835-974F-89DCE548F46F}"/>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4AC487BA-7738-4A92-A26D-75469F45B90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a:ext uri="{FF2B5EF4-FFF2-40B4-BE49-F238E27FC236}">
                <a16:creationId xmlns:a16="http://schemas.microsoft.com/office/drawing/2014/main" id="{856C3559-ADEC-413B-94D4-810BBCAAB2DE}"/>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Претња и контрола</a:t>
            </a:r>
          </a:p>
        </p:txBody>
      </p:sp>
      <p:sp>
        <p:nvSpPr>
          <p:cNvPr id="5" name="Rectangle 4">
            <a:extLst>
              <a:ext uri="{FF2B5EF4-FFF2-40B4-BE49-F238E27FC236}">
                <a16:creationId xmlns:a16="http://schemas.microsoft.com/office/drawing/2014/main" id="{BFF9CBFC-4A69-465F-BD23-ECECB0FE7352}"/>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ризик и одговор</a:t>
            </a:r>
          </a:p>
        </p:txBody>
      </p:sp>
      <p:sp>
        <p:nvSpPr>
          <p:cNvPr id="6" name="Rounded Rectangle 5">
            <a:extLst>
              <a:ext uri="{FF2B5EF4-FFF2-40B4-BE49-F238E27FC236}">
                <a16:creationId xmlns:a16="http://schemas.microsoft.com/office/drawing/2014/main" id="{B030D493-4974-47B1-ADDF-970C9B046BBA}"/>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6310B509-CCA3-4C12-88B4-A6F81A6C82C4}"/>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EBCEC275-465A-438A-822A-2A06C51EFC3A}"/>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Критичност имовине одређује колико брзо се реагује и колико је доказа потребно.</a:t>
            </a:r>
          </a:p>
        </p:txBody>
      </p:sp>
      <p:sp>
        <p:nvSpPr>
          <p:cNvPr id="9" name="Rectangle 8">
            <a:extLst>
              <a:ext uri="{FF2B5EF4-FFF2-40B4-BE49-F238E27FC236}">
                <a16:creationId xmlns:a16="http://schemas.microsoft.com/office/drawing/2014/main" id="{70D89E90-F1E8-4C39-B71E-D6EC4D25B93E}"/>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5B6F5D9A-E162-49BE-A63E-BD3E9A038DAD}"/>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DB9C7114-486B-425D-B12A-77EF5760184E}"/>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E7FF5EA7-12BA-4BF5-BB46-AF52739F4C3E}"/>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Ток података открива места на којима информација може бити измењена, изгубљена или погрешно изложена.</a:t>
            </a:r>
          </a:p>
        </p:txBody>
      </p:sp>
      <p:sp>
        <p:nvSpPr>
          <p:cNvPr id="13" name="Rectangle 12">
            <a:extLst>
              <a:ext uri="{FF2B5EF4-FFF2-40B4-BE49-F238E27FC236}">
                <a16:creationId xmlns:a16="http://schemas.microsoft.com/office/drawing/2014/main" id="{29452B4B-9DB6-4832-A932-FD5E9DB12967}"/>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B8BE39FA-ECE2-4782-855A-36105C14C374}"/>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7A47228-5BD4-406C-A0AE-FB0A2A8D4C9E}"/>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7135F944-1907-479C-BE4E-453F765BE35C}"/>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Претња добија приоритет према утицају, вероватноћи и реалним постојећим контролама.</a:t>
            </a:r>
          </a:p>
        </p:txBody>
      </p:sp>
      <p:sp>
        <p:nvSpPr>
          <p:cNvPr id="17" name="Rectangle 16">
            <a:extLst>
              <a:ext uri="{FF2B5EF4-FFF2-40B4-BE49-F238E27FC236}">
                <a16:creationId xmlns:a16="http://schemas.microsoft.com/office/drawing/2014/main" id="{EFB9D63F-FBAF-4937-B0C1-B47F3099F550}"/>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B69E0DEF-6439-4E89-8833-CC65B6A147C2}"/>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B00F918B-A39C-4DDF-87F2-8F6B5EA5D5A7}"/>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2ADBDF1C-822E-484F-8C0D-191872899D52}"/>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F849A07B-D82F-494E-8AC3-9988E5B6F2C0}"/>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88DA5A11-F142-4448-9AB8-64D1EA6E13F0}"/>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EE0D6046-D93B-4D9F-A87A-D44EAD5480B8}"/>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Нацртајте један ток осетљивог податка и означите место на коме се претпоставка о поверењу мења.</a:t>
            </a:r>
          </a:p>
        </p:txBody>
      </p:sp>
    </p:spTree>
    <p:extLst>
      <p:ext uri="{BB962C8B-B14F-4D97-AF65-F5344CB8AC3E}">
        <p14:creationId xmlns:p14="http://schemas.microsoft.com/office/powerpoint/2010/main" val="114096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AECEA337-34A2-421E-A78B-0B315320BB1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8DA0542-F641-440C-8FD9-0FD694167F02}"/>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B558448C-1092-4B01-A7A7-E7D684727E0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a:ext uri="{FF2B5EF4-FFF2-40B4-BE49-F238E27FC236}">
                <a16:creationId xmlns:a16="http://schemas.microsoft.com/office/drawing/2014/main" id="{6C0BAA7A-50BE-4FF8-B283-73DB7FF47370}"/>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Имовина, рањивост и претња</a:t>
            </a:r>
          </a:p>
        </p:txBody>
      </p:sp>
      <p:sp>
        <p:nvSpPr>
          <p:cNvPr id="5" name="Rectangle 4">
            <a:extLst>
              <a:ext uri="{FF2B5EF4-FFF2-40B4-BE49-F238E27FC236}">
                <a16:creationId xmlns:a16="http://schemas.microsoft.com/office/drawing/2014/main" id="{E800D1E7-E569-442D-9EE1-717CD56B218F}"/>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служи да се разлике виде без тешке табеле и ситног текста.</a:t>
            </a:r>
          </a:p>
        </p:txBody>
      </p:sp>
      <p:sp>
        <p:nvSpPr>
          <p:cNvPr id="6" name="Rectangle 5">
            <a:extLst>
              <a:ext uri="{FF2B5EF4-FFF2-40B4-BE49-F238E27FC236}">
                <a16:creationId xmlns:a16="http://schemas.microsoft.com/office/drawing/2014/main" id="{06D10779-3F2D-4723-BC0B-975EE35918EA}"/>
              </a:ext>
            </a:extLst>
          </p:cNvPr>
          <p:cNvSpPr>
            <a:spLocks noGrp="1"/>
          </p:cNvSpPr>
          <p:nvPr/>
        </p:nvSpPr>
        <p:spPr>
          <a:xfrm>
            <a:off x="876300" y="2047875"/>
            <a:ext cx="2476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Појам</a:t>
            </a:r>
          </a:p>
        </p:txBody>
      </p:sp>
      <p:sp>
        <p:nvSpPr>
          <p:cNvPr id="7" name="Rectangle 6">
            <a:extLst>
              <a:ext uri="{FF2B5EF4-FFF2-40B4-BE49-F238E27FC236}">
                <a16:creationId xmlns:a16="http://schemas.microsoft.com/office/drawing/2014/main" id="{E28CD2F2-8779-4E65-BB65-C8DEECF49E5F}"/>
              </a:ext>
            </a:extLst>
          </p:cNvPr>
          <p:cNvSpPr>
            <a:spLocks noGrp="1"/>
          </p:cNvSpPr>
          <p:nvPr/>
        </p:nvSpPr>
        <p:spPr>
          <a:xfrm>
            <a:off x="3638550" y="2047875"/>
            <a:ext cx="3619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Значење</a:t>
            </a:r>
          </a:p>
        </p:txBody>
      </p:sp>
      <p:sp>
        <p:nvSpPr>
          <p:cNvPr id="8" name="Rectangle 7">
            <a:extLst>
              <a:ext uri="{FF2B5EF4-FFF2-40B4-BE49-F238E27FC236}">
                <a16:creationId xmlns:a16="http://schemas.microsoft.com/office/drawing/2014/main" id="{06B3DF80-8D29-44F3-9D1B-4B923CE2C05A}"/>
              </a:ext>
            </a:extLst>
          </p:cNvPr>
          <p:cNvSpPr>
            <a:spLocks noGrp="1"/>
          </p:cNvSpPr>
          <p:nvPr/>
        </p:nvSpPr>
        <p:spPr>
          <a:xfrm>
            <a:off x="7543800" y="2047875"/>
            <a:ext cx="37719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Питање за анализу</a:t>
            </a:r>
          </a:p>
        </p:txBody>
      </p:sp>
      <p:sp>
        <p:nvSpPr>
          <p:cNvPr id="9" name="Rounded Rectangle 8">
            <a:extLst>
              <a:ext uri="{FF2B5EF4-FFF2-40B4-BE49-F238E27FC236}">
                <a16:creationId xmlns:a16="http://schemas.microsoft.com/office/drawing/2014/main" id="{C84C69B6-58E0-465E-BD04-1F48B161A11B}"/>
              </a:ext>
            </a:extLst>
          </p:cNvPr>
          <p:cNvSpPr>
            <a:spLocks noGrp="1"/>
          </p:cNvSpPr>
          <p:nvPr/>
        </p:nvSpPr>
        <p:spPr>
          <a:xfrm>
            <a:off x="800100" y="2362200"/>
            <a:ext cx="10591800" cy="609600"/>
          </a:xfrm>
          <a:prstGeom prst="roundRect">
            <a:avLst>
              <a:gd name="adj" fmla="val 17188"/>
            </a:avLst>
          </a:prstGeom>
          <a:solidFill>
            <a:srgbClr val="F4F6F9"/>
          </a:solidFill>
          <a:ln w="9525">
            <a:solidFill>
              <a:srgbClr val="D7DEE8"/>
            </a:solidFill>
            <a:prstDash val="solid"/>
          </a:ln>
        </p:spPr>
      </p:sp>
      <p:sp>
        <p:nvSpPr>
          <p:cNvPr id="10" name="Rectangle 9">
            <a:extLst>
              <a:ext uri="{FF2B5EF4-FFF2-40B4-BE49-F238E27FC236}">
                <a16:creationId xmlns:a16="http://schemas.microsoft.com/office/drawing/2014/main" id="{8A379FBE-1CC1-42F9-B432-5DF89E11754D}"/>
              </a:ext>
            </a:extLst>
          </p:cNvPr>
          <p:cNvSpPr>
            <a:spLocks noGrp="1"/>
          </p:cNvSpPr>
          <p:nvPr/>
        </p:nvSpPr>
        <p:spPr>
          <a:xfrm>
            <a:off x="952500" y="24860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Имовина</a:t>
            </a:r>
          </a:p>
        </p:txBody>
      </p:sp>
      <p:sp>
        <p:nvSpPr>
          <p:cNvPr id="11" name="Rectangle 10">
            <a:extLst>
              <a:ext uri="{FF2B5EF4-FFF2-40B4-BE49-F238E27FC236}">
                <a16:creationId xmlns:a16="http://schemas.microsoft.com/office/drawing/2014/main" id="{04842B23-D1DE-467A-8322-438597D0364E}"/>
              </a:ext>
            </a:extLst>
          </p:cNvPr>
          <p:cNvSpPr>
            <a:spLocks noGrp="1"/>
          </p:cNvSpPr>
          <p:nvPr/>
        </p:nvSpPr>
        <p:spPr>
          <a:xfrm>
            <a:off x="363855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Оно чија вредност захтева заштиту.</a:t>
            </a:r>
          </a:p>
        </p:txBody>
      </p:sp>
      <p:sp>
        <p:nvSpPr>
          <p:cNvPr id="12" name="Rectangle 11">
            <a:extLst>
              <a:ext uri="{FF2B5EF4-FFF2-40B4-BE49-F238E27FC236}">
                <a16:creationId xmlns:a16="http://schemas.microsoft.com/office/drawing/2014/main" id="{38325113-AB77-4D13-8970-C184F3BCA6E3}"/>
              </a:ext>
            </a:extLst>
          </p:cNvPr>
          <p:cNvSpPr>
            <a:spLocks noGrp="1"/>
          </p:cNvSpPr>
          <p:nvPr/>
        </p:nvSpPr>
        <p:spPr>
          <a:xfrm>
            <a:off x="754380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губимо ако је угрожена?</a:t>
            </a:r>
          </a:p>
        </p:txBody>
      </p:sp>
      <p:sp>
        <p:nvSpPr>
          <p:cNvPr id="13" name="Rounded Rectangle 12">
            <a:extLst>
              <a:ext uri="{FF2B5EF4-FFF2-40B4-BE49-F238E27FC236}">
                <a16:creationId xmlns:a16="http://schemas.microsoft.com/office/drawing/2014/main" id="{1E738DDD-0E70-43CB-8B64-A47F5BE44D58}"/>
              </a:ext>
            </a:extLst>
          </p:cNvPr>
          <p:cNvSpPr>
            <a:spLocks noGrp="1"/>
          </p:cNvSpPr>
          <p:nvPr/>
        </p:nvSpPr>
        <p:spPr>
          <a:xfrm>
            <a:off x="800100" y="3105150"/>
            <a:ext cx="10591800" cy="609600"/>
          </a:xfrm>
          <a:prstGeom prst="roundRect">
            <a:avLst>
              <a:gd name="adj" fmla="val 1718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E88026C7-7973-416F-A562-55341414B857}"/>
              </a:ext>
            </a:extLst>
          </p:cNvPr>
          <p:cNvSpPr>
            <a:spLocks noGrp="1"/>
          </p:cNvSpPr>
          <p:nvPr/>
        </p:nvSpPr>
        <p:spPr>
          <a:xfrm>
            <a:off x="952500" y="32289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2F5EF5"/>
                </a:solidFill>
                <a:latin typeface="Aptos"/>
                <a:ea typeface="Aptos"/>
                <a:cs typeface="Aptos"/>
              </a:defRPr>
            </a:pPr>
            <a:r>
              <a:rPr sz="1275" b="1">
                <a:solidFill>
                  <a:srgbClr val="2F5EF5"/>
                </a:solidFill>
                <a:latin typeface="Aptos"/>
                <a:ea typeface="Aptos"/>
                <a:cs typeface="Aptos"/>
              </a:rPr>
              <a:t>Рањивост</a:t>
            </a:r>
          </a:p>
        </p:txBody>
      </p:sp>
      <p:sp>
        <p:nvSpPr>
          <p:cNvPr id="15" name="Rectangle 14">
            <a:extLst>
              <a:ext uri="{FF2B5EF4-FFF2-40B4-BE49-F238E27FC236}">
                <a16:creationId xmlns:a16="http://schemas.microsoft.com/office/drawing/2014/main" id="{712F9C6B-A6D7-4535-BC7A-265B83F59971}"/>
              </a:ext>
            </a:extLst>
          </p:cNvPr>
          <p:cNvSpPr>
            <a:spLocks noGrp="1"/>
          </p:cNvSpPr>
          <p:nvPr/>
        </p:nvSpPr>
        <p:spPr>
          <a:xfrm>
            <a:off x="363855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Слабост коју је могуће искористити.</a:t>
            </a:r>
          </a:p>
        </p:txBody>
      </p:sp>
      <p:sp>
        <p:nvSpPr>
          <p:cNvPr id="16" name="Rectangle 15">
            <a:extLst>
              <a:ext uri="{FF2B5EF4-FFF2-40B4-BE49-F238E27FC236}">
                <a16:creationId xmlns:a16="http://schemas.microsoft.com/office/drawing/2014/main" id="{F58C6111-5480-4552-9132-C4582EE77CBC}"/>
              </a:ext>
            </a:extLst>
          </p:cNvPr>
          <p:cNvSpPr>
            <a:spLocks noGrp="1"/>
          </p:cNvSpPr>
          <p:nvPr/>
        </p:nvSpPr>
        <p:spPr>
          <a:xfrm>
            <a:off x="754380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Где систем нема довољну заштиту?</a:t>
            </a:r>
          </a:p>
        </p:txBody>
      </p:sp>
      <p:sp>
        <p:nvSpPr>
          <p:cNvPr id="17" name="Rounded Rectangle 16">
            <a:extLst>
              <a:ext uri="{FF2B5EF4-FFF2-40B4-BE49-F238E27FC236}">
                <a16:creationId xmlns:a16="http://schemas.microsoft.com/office/drawing/2014/main" id="{EB0FAE5A-9114-4606-896B-37F8602F4FBF}"/>
              </a:ext>
            </a:extLst>
          </p:cNvPr>
          <p:cNvSpPr>
            <a:spLocks noGrp="1"/>
          </p:cNvSpPr>
          <p:nvPr/>
        </p:nvSpPr>
        <p:spPr>
          <a:xfrm>
            <a:off x="800100" y="3848100"/>
            <a:ext cx="10591800" cy="609600"/>
          </a:xfrm>
          <a:prstGeom prst="roundRect">
            <a:avLst>
              <a:gd name="adj" fmla="val 17188"/>
            </a:avLst>
          </a:prstGeom>
          <a:solidFill>
            <a:srgbClr val="F5F0FF"/>
          </a:solidFill>
          <a:ln w="9525">
            <a:solidFill>
              <a:srgbClr val="D7DEE8"/>
            </a:solidFill>
            <a:prstDash val="solid"/>
          </a:ln>
        </p:spPr>
      </p:sp>
      <p:sp>
        <p:nvSpPr>
          <p:cNvPr id="18" name="Rectangle 17">
            <a:extLst>
              <a:ext uri="{FF2B5EF4-FFF2-40B4-BE49-F238E27FC236}">
                <a16:creationId xmlns:a16="http://schemas.microsoft.com/office/drawing/2014/main" id="{61295287-6562-4381-B123-99C828057B63}"/>
              </a:ext>
            </a:extLst>
          </p:cNvPr>
          <p:cNvSpPr>
            <a:spLocks noGrp="1"/>
          </p:cNvSpPr>
          <p:nvPr/>
        </p:nvSpPr>
        <p:spPr>
          <a:xfrm>
            <a:off x="952500" y="39719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651D4"/>
                </a:solidFill>
                <a:latin typeface="Aptos"/>
                <a:ea typeface="Aptos"/>
                <a:cs typeface="Aptos"/>
              </a:defRPr>
            </a:pPr>
            <a:r>
              <a:rPr sz="1275" b="1">
                <a:solidFill>
                  <a:srgbClr val="7651D4"/>
                </a:solidFill>
                <a:latin typeface="Aptos"/>
                <a:ea typeface="Aptos"/>
                <a:cs typeface="Aptos"/>
              </a:rPr>
              <a:t>Претња</a:t>
            </a:r>
          </a:p>
        </p:txBody>
      </p:sp>
      <p:sp>
        <p:nvSpPr>
          <p:cNvPr id="19" name="Rectangle 18">
            <a:extLst>
              <a:ext uri="{FF2B5EF4-FFF2-40B4-BE49-F238E27FC236}">
                <a16:creationId xmlns:a16="http://schemas.microsoft.com/office/drawing/2014/main" id="{F7C2E692-41AC-42D1-9C0F-A07DAC7BF4FB}"/>
              </a:ext>
            </a:extLst>
          </p:cNvPr>
          <p:cNvSpPr>
            <a:spLocks noGrp="1"/>
          </p:cNvSpPr>
          <p:nvPr/>
        </p:nvSpPr>
        <p:spPr>
          <a:xfrm>
            <a:off x="363855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Могући узрок нежељеног исхода.</a:t>
            </a:r>
          </a:p>
        </p:txBody>
      </p:sp>
      <p:sp>
        <p:nvSpPr>
          <p:cNvPr id="20" name="Rectangle 19">
            <a:extLst>
              <a:ext uri="{FF2B5EF4-FFF2-40B4-BE49-F238E27FC236}">
                <a16:creationId xmlns:a16="http://schemas.microsoft.com/office/drawing/2014/main" id="{3B291632-3D23-4FEE-9FEA-36CC1B66935A}"/>
              </a:ext>
            </a:extLst>
          </p:cNvPr>
          <p:cNvSpPr>
            <a:spLocks noGrp="1"/>
          </p:cNvSpPr>
          <p:nvPr/>
        </p:nvSpPr>
        <p:spPr>
          <a:xfrm>
            <a:off x="754380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 или шта може активирати слабост?</a:t>
            </a:r>
          </a:p>
        </p:txBody>
      </p:sp>
      <p:sp>
        <p:nvSpPr>
          <p:cNvPr id="21" name="Rounded Rectangle 20">
            <a:extLst>
              <a:ext uri="{FF2B5EF4-FFF2-40B4-BE49-F238E27FC236}">
                <a16:creationId xmlns:a16="http://schemas.microsoft.com/office/drawing/2014/main" id="{C0A6C18D-D604-4ABD-B283-465F2B934571}"/>
              </a:ext>
            </a:extLst>
          </p:cNvPr>
          <p:cNvSpPr>
            <a:spLocks noGrp="1"/>
          </p:cNvSpPr>
          <p:nvPr/>
        </p:nvSpPr>
        <p:spPr>
          <a:xfrm>
            <a:off x="800100" y="4591050"/>
            <a:ext cx="10591800" cy="609600"/>
          </a:xfrm>
          <a:prstGeom prst="roundRect">
            <a:avLst>
              <a:gd name="adj" fmla="val 17188"/>
            </a:avLst>
          </a:prstGeom>
          <a:solidFill>
            <a:srgbClr val="EDF8F2"/>
          </a:solidFill>
          <a:ln w="9525">
            <a:solidFill>
              <a:srgbClr val="D7DEE8"/>
            </a:solidFill>
            <a:prstDash val="solid"/>
          </a:ln>
        </p:spPr>
      </p:sp>
      <p:sp>
        <p:nvSpPr>
          <p:cNvPr id="22" name="Rectangle 21">
            <a:extLst>
              <a:ext uri="{FF2B5EF4-FFF2-40B4-BE49-F238E27FC236}">
                <a16:creationId xmlns:a16="http://schemas.microsoft.com/office/drawing/2014/main" id="{21B1E80E-40FB-48A9-8968-6E055927717D}"/>
              </a:ext>
            </a:extLst>
          </p:cNvPr>
          <p:cNvSpPr>
            <a:spLocks noGrp="1"/>
          </p:cNvSpPr>
          <p:nvPr/>
        </p:nvSpPr>
        <p:spPr>
          <a:xfrm>
            <a:off x="952500" y="47148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Ризик</a:t>
            </a:r>
          </a:p>
        </p:txBody>
      </p:sp>
      <p:sp>
        <p:nvSpPr>
          <p:cNvPr id="23" name="Rectangle 22">
            <a:extLst>
              <a:ext uri="{FF2B5EF4-FFF2-40B4-BE49-F238E27FC236}">
                <a16:creationId xmlns:a16="http://schemas.microsoft.com/office/drawing/2014/main" id="{88FA89B7-2988-49FE-A7AA-706C798D5FEE}"/>
              </a:ext>
            </a:extLst>
          </p:cNvPr>
          <p:cNvSpPr>
            <a:spLocks noGrp="1"/>
          </p:cNvSpPr>
          <p:nvPr/>
        </p:nvSpPr>
        <p:spPr>
          <a:xfrm>
            <a:off x="363855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Комбинација вероватноће и последице.</a:t>
            </a:r>
          </a:p>
        </p:txBody>
      </p:sp>
      <p:sp>
        <p:nvSpPr>
          <p:cNvPr id="24" name="Rectangle 23">
            <a:extLst>
              <a:ext uri="{FF2B5EF4-FFF2-40B4-BE49-F238E27FC236}">
                <a16:creationId xmlns:a16="http://schemas.microsoft.com/office/drawing/2014/main" id="{828CF91B-A8B6-4857-8FC9-AAFD24AF7103}"/>
              </a:ext>
            </a:extLst>
          </p:cNvPr>
          <p:cNvSpPr>
            <a:spLocks noGrp="1"/>
          </p:cNvSpPr>
          <p:nvPr/>
        </p:nvSpPr>
        <p:spPr>
          <a:xfrm>
            <a:off x="754380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прво треба умањити?</a:t>
            </a:r>
          </a:p>
        </p:txBody>
      </p:sp>
    </p:spTree>
    <p:extLst>
      <p:ext uri="{BB962C8B-B14F-4D97-AF65-F5344CB8AC3E}">
        <p14:creationId xmlns:p14="http://schemas.microsoft.com/office/powerpoint/2010/main" val="99031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64223066-3CAB-4FB4-9D36-F911BB1ED20A}"/>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FA312205-96A3-48F9-B1F3-2BCABF3C5F9E}"/>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44E804E8-1A2A-43BA-8AAD-9150BDF96A2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a:ext uri="{FF2B5EF4-FFF2-40B4-BE49-F238E27FC236}">
                <a16:creationId xmlns:a16="http://schemas.microsoft.com/office/drawing/2014/main" id="{7E22B35A-7458-452E-8154-2EC430176CAC}"/>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dirty="0" err="1">
                <a:solidFill>
                  <a:srgbClr val="1A202C"/>
                </a:solidFill>
                <a:latin typeface="Aptos Display"/>
                <a:ea typeface="Aptos Display"/>
                <a:cs typeface="Aptos Display"/>
              </a:rPr>
              <a:t>Шема</a:t>
            </a:r>
            <a:r>
              <a:rPr sz="2550" b="1" dirty="0">
                <a:solidFill>
                  <a:srgbClr val="1A202C"/>
                </a:solidFill>
                <a:latin typeface="Aptos Display"/>
                <a:ea typeface="Aptos Display"/>
                <a:cs typeface="Aptos Display"/>
              </a:rPr>
              <a:t> </a:t>
            </a:r>
            <a:r>
              <a:rPr lang="en-US" sz="2550" b="1" dirty="0">
                <a:solidFill>
                  <a:srgbClr val="1A202C"/>
                </a:solidFill>
                <a:latin typeface="Aptos Display"/>
                <a:ea typeface="Aptos Display"/>
                <a:cs typeface="Aptos Display"/>
              </a:rPr>
              <a:t>threat</a:t>
            </a:r>
            <a:r>
              <a:rPr sz="2550" b="1" dirty="0">
                <a:solidFill>
                  <a:srgbClr val="1A202C"/>
                </a:solidFill>
                <a:latin typeface="Aptos Display"/>
                <a:ea typeface="Aptos Display"/>
                <a:cs typeface="Aptos Display"/>
              </a:rPr>
              <a:t> </a:t>
            </a:r>
            <a:r>
              <a:rPr sz="2550" b="1" dirty="0" err="1">
                <a:solidFill>
                  <a:srgbClr val="1A202C"/>
                </a:solidFill>
                <a:latin typeface="Aptos Display"/>
                <a:ea typeface="Aptos Display"/>
                <a:cs typeface="Aptos Display"/>
              </a:rPr>
              <a:t>модела</a:t>
            </a:r>
            <a:endParaRPr sz="2550" b="1" dirty="0">
              <a:solidFill>
                <a:srgbClr val="1A202C"/>
              </a:solidFill>
              <a:latin typeface="Aptos Display"/>
              <a:ea typeface="Aptos Display"/>
              <a:cs typeface="Aptos Display"/>
            </a:endParaRPr>
          </a:p>
        </p:txBody>
      </p:sp>
      <p:sp>
        <p:nvSpPr>
          <p:cNvPr id="5" name="Rectangle 4">
            <a:extLst>
              <a:ext uri="{FF2B5EF4-FFF2-40B4-BE49-F238E27FC236}">
                <a16:creationId xmlns:a16="http://schemas.microsoft.com/office/drawing/2014/main" id="{45AE2EFC-C09A-4E3D-97D0-30213CD6CA62}"/>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Претња добија смисао тек када се веже за конкретну имовину, ток и последицу.</a:t>
            </a:r>
          </a:p>
        </p:txBody>
      </p:sp>
      <p:sp>
        <p:nvSpPr>
          <p:cNvPr id="6" name="Rounded Rectangle 5">
            <a:extLst>
              <a:ext uri="{FF2B5EF4-FFF2-40B4-BE49-F238E27FC236}">
                <a16:creationId xmlns:a16="http://schemas.microsoft.com/office/drawing/2014/main" id="{FBCD605F-E57E-4571-BDDD-D78D044EB6E4}"/>
              </a:ext>
            </a:extLst>
          </p:cNvPr>
          <p:cNvSpPr>
            <a:spLocks noGrp="1"/>
          </p:cNvSpPr>
          <p:nvPr/>
        </p:nvSpPr>
        <p:spPr>
          <a:xfrm>
            <a:off x="742950" y="2571750"/>
            <a:ext cx="2462213"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55589F1-BA3B-4307-AD0F-B33421AF804C}"/>
              </a:ext>
            </a:extLst>
          </p:cNvPr>
          <p:cNvSpPr>
            <a:spLocks noGrp="1"/>
          </p:cNvSpPr>
          <p:nvPr/>
        </p:nvSpPr>
        <p:spPr>
          <a:xfrm>
            <a:off x="885825"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AD1E6DCB-85AA-4339-8C22-32FEDF175DF3}"/>
              </a:ext>
            </a:extLst>
          </p:cNvPr>
          <p:cNvSpPr>
            <a:spLocks noGrp="1"/>
          </p:cNvSpPr>
          <p:nvPr/>
        </p:nvSpPr>
        <p:spPr>
          <a:xfrm>
            <a:off x="876300"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Имовина</a:t>
            </a:r>
          </a:p>
        </p:txBody>
      </p:sp>
      <p:sp>
        <p:nvSpPr>
          <p:cNvPr id="9" name="Rectangle 8">
            <a:extLst>
              <a:ext uri="{FF2B5EF4-FFF2-40B4-BE49-F238E27FC236}">
                <a16:creationId xmlns:a16="http://schemas.microsoft.com/office/drawing/2014/main" id="{8DE1ADDD-C323-436D-A0B1-D697F914D870}"/>
              </a:ext>
            </a:extLst>
          </p:cNvPr>
          <p:cNvSpPr>
            <a:spLocks noGrp="1"/>
          </p:cNvSpPr>
          <p:nvPr/>
        </p:nvSpPr>
        <p:spPr>
          <a:xfrm>
            <a:off x="885825"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штитимо</a:t>
            </a:r>
          </a:p>
        </p:txBody>
      </p:sp>
      <p:sp>
        <p:nvSpPr>
          <p:cNvPr id="10" name="Rounded Rectangle 9">
            <a:extLst>
              <a:ext uri="{FF2B5EF4-FFF2-40B4-BE49-F238E27FC236}">
                <a16:creationId xmlns:a16="http://schemas.microsoft.com/office/drawing/2014/main" id="{3E357AFB-A650-4C0D-9DDA-3382CF4EA4B8}"/>
              </a:ext>
            </a:extLst>
          </p:cNvPr>
          <p:cNvSpPr>
            <a:spLocks noGrp="1"/>
          </p:cNvSpPr>
          <p:nvPr/>
        </p:nvSpPr>
        <p:spPr>
          <a:xfrm>
            <a:off x="3490913" y="2571750"/>
            <a:ext cx="2462213"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47C25B4B-7BC0-4BAC-97CD-E26BB719C7F6}"/>
              </a:ext>
            </a:extLst>
          </p:cNvPr>
          <p:cNvSpPr>
            <a:spLocks noGrp="1"/>
          </p:cNvSpPr>
          <p:nvPr/>
        </p:nvSpPr>
        <p:spPr>
          <a:xfrm>
            <a:off x="3633788"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EBCB337A-0E7E-48C7-9C67-BC9B6D7181DA}"/>
              </a:ext>
            </a:extLst>
          </p:cNvPr>
          <p:cNvSpPr>
            <a:spLocks noGrp="1"/>
          </p:cNvSpPr>
          <p:nvPr/>
        </p:nvSpPr>
        <p:spPr>
          <a:xfrm>
            <a:off x="3624263"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Ток и граница</a:t>
            </a:r>
          </a:p>
        </p:txBody>
      </p:sp>
      <p:sp>
        <p:nvSpPr>
          <p:cNvPr id="13" name="Rectangle 12">
            <a:extLst>
              <a:ext uri="{FF2B5EF4-FFF2-40B4-BE49-F238E27FC236}">
                <a16:creationId xmlns:a16="http://schemas.microsoft.com/office/drawing/2014/main" id="{CE6025FE-EF7A-411D-8375-B31E9486DA7F}"/>
              </a:ext>
            </a:extLst>
          </p:cNvPr>
          <p:cNvSpPr>
            <a:spLocks noGrp="1"/>
          </p:cNvSpPr>
          <p:nvPr/>
        </p:nvSpPr>
        <p:spPr>
          <a:xfrm>
            <a:off x="3633788"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где се мења поверење</a:t>
            </a:r>
          </a:p>
        </p:txBody>
      </p:sp>
      <p:sp>
        <p:nvSpPr>
          <p:cNvPr id="14" name="Rounded Rectangle 13">
            <a:extLst>
              <a:ext uri="{FF2B5EF4-FFF2-40B4-BE49-F238E27FC236}">
                <a16:creationId xmlns:a16="http://schemas.microsoft.com/office/drawing/2014/main" id="{A6B5F1C6-4439-499C-8AEE-1E1584D08A40}"/>
              </a:ext>
            </a:extLst>
          </p:cNvPr>
          <p:cNvSpPr>
            <a:spLocks noGrp="1"/>
          </p:cNvSpPr>
          <p:nvPr/>
        </p:nvSpPr>
        <p:spPr>
          <a:xfrm>
            <a:off x="6238875" y="2571750"/>
            <a:ext cx="2462213"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5E378C0-67E5-4404-A654-BEE08428771D}"/>
              </a:ext>
            </a:extLst>
          </p:cNvPr>
          <p:cNvSpPr>
            <a:spLocks noGrp="1"/>
          </p:cNvSpPr>
          <p:nvPr/>
        </p:nvSpPr>
        <p:spPr>
          <a:xfrm>
            <a:off x="6381750"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a:ext uri="{FF2B5EF4-FFF2-40B4-BE49-F238E27FC236}">
                <a16:creationId xmlns:a16="http://schemas.microsoft.com/office/drawing/2014/main" id="{60679666-0611-47DB-B9B7-33FC51954944}"/>
              </a:ext>
            </a:extLst>
          </p:cNvPr>
          <p:cNvSpPr>
            <a:spLocks noGrp="1"/>
          </p:cNvSpPr>
          <p:nvPr/>
        </p:nvSpPr>
        <p:spPr>
          <a:xfrm>
            <a:off x="6372225"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Сценарио</a:t>
            </a:r>
          </a:p>
        </p:txBody>
      </p:sp>
      <p:sp>
        <p:nvSpPr>
          <p:cNvPr id="17" name="Rectangle 16">
            <a:extLst>
              <a:ext uri="{FF2B5EF4-FFF2-40B4-BE49-F238E27FC236}">
                <a16:creationId xmlns:a16="http://schemas.microsoft.com/office/drawing/2014/main" id="{46231FA0-961E-418C-985F-4473241EE513}"/>
              </a:ext>
            </a:extLst>
          </p:cNvPr>
          <p:cNvSpPr>
            <a:spLocks noGrp="1"/>
          </p:cNvSpPr>
          <p:nvPr/>
        </p:nvSpPr>
        <p:spPr>
          <a:xfrm>
            <a:off x="6381750"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може поћи по злу</a:t>
            </a:r>
          </a:p>
        </p:txBody>
      </p:sp>
      <p:sp>
        <p:nvSpPr>
          <p:cNvPr id="18" name="Rounded Rectangle 17">
            <a:extLst>
              <a:ext uri="{FF2B5EF4-FFF2-40B4-BE49-F238E27FC236}">
                <a16:creationId xmlns:a16="http://schemas.microsoft.com/office/drawing/2014/main" id="{F57ECD41-FD13-4665-A482-E20291B19929}"/>
              </a:ext>
            </a:extLst>
          </p:cNvPr>
          <p:cNvSpPr>
            <a:spLocks noGrp="1"/>
          </p:cNvSpPr>
          <p:nvPr/>
        </p:nvSpPr>
        <p:spPr>
          <a:xfrm>
            <a:off x="8986838" y="2571750"/>
            <a:ext cx="2462213"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CEE64AC9-DA39-4C11-8791-D861A40B4070}"/>
              </a:ext>
            </a:extLst>
          </p:cNvPr>
          <p:cNvSpPr>
            <a:spLocks noGrp="1"/>
          </p:cNvSpPr>
          <p:nvPr/>
        </p:nvSpPr>
        <p:spPr>
          <a:xfrm>
            <a:off x="9129713"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575C252B-1719-43D1-B730-BF1DE1142828}"/>
              </a:ext>
            </a:extLst>
          </p:cNvPr>
          <p:cNvSpPr>
            <a:spLocks noGrp="1"/>
          </p:cNvSpPr>
          <p:nvPr/>
        </p:nvSpPr>
        <p:spPr>
          <a:xfrm>
            <a:off x="9120188"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 и доказ</a:t>
            </a:r>
          </a:p>
        </p:txBody>
      </p:sp>
      <p:sp>
        <p:nvSpPr>
          <p:cNvPr id="21" name="Rectangle 20">
            <a:extLst>
              <a:ext uri="{FF2B5EF4-FFF2-40B4-BE49-F238E27FC236}">
                <a16:creationId xmlns:a16="http://schemas.microsoft.com/office/drawing/2014/main" id="{B5011087-650E-4A6E-AB9D-95B341B2DD04}"/>
              </a:ext>
            </a:extLst>
          </p:cNvPr>
          <p:cNvSpPr>
            <a:spLocks noGrp="1"/>
          </p:cNvSpPr>
          <p:nvPr/>
        </p:nvSpPr>
        <p:spPr>
          <a:xfrm>
            <a:off x="9129713"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умањујемо ризик</a:t>
            </a:r>
          </a:p>
        </p:txBody>
      </p:sp>
      <p:cxnSp>
        <p:nvCxnSpPr>
          <p:cNvPr id="125" name="Straight Arrow Connector 124"/>
          <p:cNvCxnSpPr>
            <a:stCxn id="6" idx="3"/>
            <a:endCxn id="10" idx="1"/>
          </p:cNvCxnSpPr>
          <p:nvPr/>
        </p:nvCxnSpPr>
        <p:spPr>
          <a:xfrm>
            <a:off x="3205163" y="32004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2004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01088" y="32004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5C857043-709B-488D-A3B3-08746FFD7ABC}"/>
              </a:ext>
            </a:extLst>
          </p:cNvPr>
          <p:cNvSpPr>
            <a:spLocks noGrp="1"/>
          </p:cNvSpPr>
          <p:nvPr/>
        </p:nvSpPr>
        <p:spPr>
          <a:xfrm>
            <a:off x="1714500" y="4419600"/>
            <a:ext cx="8763000" cy="742950"/>
          </a:xfrm>
          <a:prstGeom prst="roundRect">
            <a:avLst>
              <a:gd name="adj" fmla="val 16667"/>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35477D1E-9744-4BEB-8040-3C82EF006463}"/>
              </a:ext>
            </a:extLst>
          </p:cNvPr>
          <p:cNvSpPr>
            <a:spLocks noGrp="1"/>
          </p:cNvSpPr>
          <p:nvPr/>
        </p:nvSpPr>
        <p:spPr>
          <a:xfrm>
            <a:off x="1847850" y="4562475"/>
            <a:ext cx="57150" cy="457200"/>
          </a:xfrm>
          <a:prstGeom prst="roundRect">
            <a:avLst>
              <a:gd name="adj" fmla="val 50000"/>
            </a:avLst>
          </a:prstGeom>
          <a:solidFill>
            <a:srgbClr val="2F5EF5"/>
          </a:solidFill>
          <a:ln w="0">
            <a:noFill/>
          </a:ln>
        </p:spPr>
      </p:sp>
      <p:sp>
        <p:nvSpPr>
          <p:cNvPr id="76" name="Rounded Rectangle 75">
            <a:extLst>
              <a:ext uri="{FF2B5EF4-FFF2-40B4-BE49-F238E27FC236}">
                <a16:creationId xmlns:a16="http://schemas.microsoft.com/office/drawing/2014/main" id="{F541DD9F-7428-4443-9107-D946A08EF57B}"/>
              </a:ext>
            </a:extLst>
          </p:cNvPr>
          <p:cNvSpPr>
            <a:spLocks noGrp="1"/>
          </p:cNvSpPr>
          <p:nvPr/>
        </p:nvSpPr>
        <p:spPr>
          <a:xfrm>
            <a:off x="914400" y="4438650"/>
            <a:ext cx="10363200" cy="781050"/>
          </a:xfrm>
          <a:prstGeom prst="roundRect">
            <a:avLst>
              <a:gd name="adj" fmla="val 17073"/>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2D0D965E-01A2-4066-869D-1F2959AA8AD7}"/>
              </a:ext>
            </a:extLst>
          </p:cNvPr>
          <p:cNvSpPr>
            <a:spLocks noGrp="1"/>
          </p:cNvSpPr>
          <p:nvPr/>
        </p:nvSpPr>
        <p:spPr>
          <a:xfrm>
            <a:off x="1085850" y="4591050"/>
            <a:ext cx="57150" cy="47625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53A9B990-94C2-4B44-AE62-849B3F6B128E}"/>
              </a:ext>
            </a:extLst>
          </p:cNvPr>
          <p:cNvSpPr>
            <a:spLocks noGrp="1"/>
          </p:cNvSpPr>
          <p:nvPr/>
        </p:nvSpPr>
        <p:spPr>
          <a:xfrm>
            <a:off x="1333500" y="45434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a:t>
            </a:r>
          </a:p>
        </p:txBody>
      </p:sp>
      <p:sp>
        <p:nvSpPr>
          <p:cNvPr id="79" name="Rectangle 78">
            <a:extLst>
              <a:ext uri="{FF2B5EF4-FFF2-40B4-BE49-F238E27FC236}">
                <a16:creationId xmlns:a16="http://schemas.microsoft.com/office/drawing/2014/main" id="{F7E24B9F-859F-4243-AC4A-942121B3E252}"/>
              </a:ext>
            </a:extLst>
          </p:cNvPr>
          <p:cNvSpPr>
            <a:spLocks noGrp="1"/>
          </p:cNvSpPr>
          <p:nvPr/>
        </p:nvSpPr>
        <p:spPr>
          <a:xfrm>
            <a:off x="1333500" y="477202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За сваки корак наведите ко га покреће, ко доноси одлуку и који траг остаје.</a:t>
            </a:r>
          </a:p>
        </p:txBody>
      </p:sp>
    </p:spTree>
    <p:extLst>
      <p:ext uri="{BB962C8B-B14F-4D97-AF65-F5344CB8AC3E}">
        <p14:creationId xmlns:p14="http://schemas.microsoft.com/office/powerpoint/2010/main" val="7508862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B87B81B7-C607-403C-A133-3F606816D6A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0915FB8-062A-44A0-B9F9-46D7CA4048DA}"/>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C165E30-DF3B-4FBF-B27B-71014F5909D8}"/>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a:ext uri="{FF2B5EF4-FFF2-40B4-BE49-F238E27FC236}">
                <a16:creationId xmlns:a16="http://schemas.microsoft.com/office/drawing/2014/main" id="{842EC4A7-33A9-43C9-8D4E-7AB6CE769C89}"/>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Читање архитектонске скице кроз безбедност</a:t>
            </a:r>
          </a:p>
        </p:txBody>
      </p:sp>
      <p:sp>
        <p:nvSpPr>
          <p:cNvPr id="5" name="Rectangle 4">
            <a:extLst>
              <a:ext uri="{FF2B5EF4-FFF2-40B4-BE49-F238E27FC236}">
                <a16:creationId xmlns:a16="http://schemas.microsoft.com/office/drawing/2014/main" id="{48AE9E26-2398-4371-AEC0-1F904880D87F}"/>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 описа проблема до одлуке која може да се провери.</a:t>
            </a:r>
          </a:p>
        </p:txBody>
      </p:sp>
      <p:sp>
        <p:nvSpPr>
          <p:cNvPr id="6" name="Rounded Rectangle 5">
            <a:extLst>
              <a:ext uri="{FF2B5EF4-FFF2-40B4-BE49-F238E27FC236}">
                <a16:creationId xmlns:a16="http://schemas.microsoft.com/office/drawing/2014/main" id="{0519843C-077E-491B-8C28-9D1F7831F6EA}"/>
              </a:ext>
            </a:extLst>
          </p:cNvPr>
          <p:cNvSpPr>
            <a:spLocks noGrp="1"/>
          </p:cNvSpPr>
          <p:nvPr/>
        </p:nvSpPr>
        <p:spPr>
          <a:xfrm>
            <a:off x="781050" y="2152650"/>
            <a:ext cx="4572000" cy="2291759"/>
          </a:xfrm>
          <a:prstGeom prst="roundRect">
            <a:avLst>
              <a:gd name="adj" fmla="val 4242"/>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67B8455-282A-48D7-B88B-0AF71AC1F90B}"/>
              </a:ext>
            </a:extLst>
          </p:cNvPr>
          <p:cNvSpPr>
            <a:spLocks noGrp="1"/>
          </p:cNvSpPr>
          <p:nvPr/>
        </p:nvSpPr>
        <p:spPr>
          <a:xfrm>
            <a:off x="933450" y="2276475"/>
            <a:ext cx="42672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a:ext uri="{FF2B5EF4-FFF2-40B4-BE49-F238E27FC236}">
                <a16:creationId xmlns:a16="http://schemas.microsoft.com/office/drawing/2014/main" id="{587961EF-00E0-4C25-B29E-E0E33B185B3E}"/>
              </a:ext>
            </a:extLst>
          </p:cNvPr>
          <p:cNvSpPr>
            <a:spLocks noGrp="1"/>
          </p:cNvSpPr>
          <p:nvPr/>
        </p:nvSpPr>
        <p:spPr>
          <a:xfrm>
            <a:off x="933450" y="2524125"/>
            <a:ext cx="4267200" cy="495300"/>
          </a:xfrm>
          <a:prstGeom prst="rect">
            <a:avLst/>
          </a:prstGeom>
          <a:noFill/>
          <a:ln w="0">
            <a:noFill/>
          </a:ln>
        </p:spPr>
        <p:txBody>
          <a:bodyPr wrap="square" lIns="0" tIns="0" rIns="0" bIns="0" anchor="ctr">
            <a:normAutofit fontScale="96554"/>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Читање архитектонске скице кроз безбедност</a:t>
            </a:r>
          </a:p>
        </p:txBody>
      </p:sp>
      <p:sp>
        <p:nvSpPr>
          <p:cNvPr id="9" name="Rectangle 8">
            <a:extLst>
              <a:ext uri="{FF2B5EF4-FFF2-40B4-BE49-F238E27FC236}">
                <a16:creationId xmlns:a16="http://schemas.microsoft.com/office/drawing/2014/main" id="{449D2D07-54C0-4C5B-AFE2-ACB8E5C7BB18}"/>
              </a:ext>
            </a:extLst>
          </p:cNvPr>
          <p:cNvSpPr>
            <a:spLocks noGrp="1"/>
          </p:cNvSpPr>
          <p:nvPr/>
        </p:nvSpPr>
        <p:spPr>
          <a:xfrm>
            <a:off x="933450" y="3086100"/>
            <a:ext cx="4267200" cy="210502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Архитектонска скица добија безбедносну вредност када се преко компоненти уцртају подаци, идентитети и границе поверења. Није потребно цртати сваку класу. Довољно је показати делове кроз које пролази вредна информација и одлуке које мењају њен статус.</a:t>
            </a:r>
          </a:p>
        </p:txBody>
      </p:sp>
      <p:sp>
        <p:nvSpPr>
          <p:cNvPr id="10" name="Rounded Rectangle 9">
            <a:extLst>
              <a:ext uri="{FF2B5EF4-FFF2-40B4-BE49-F238E27FC236}">
                <a16:creationId xmlns:a16="http://schemas.microsoft.com/office/drawing/2014/main" id="{F499E99D-0CC9-4527-8AC3-FA0D903F324D}"/>
              </a:ext>
            </a:extLst>
          </p:cNvPr>
          <p:cNvSpPr>
            <a:spLocks noGrp="1"/>
          </p:cNvSpPr>
          <p:nvPr/>
        </p:nvSpPr>
        <p:spPr>
          <a:xfrm>
            <a:off x="5772150" y="2095500"/>
            <a:ext cx="5638800" cy="723900"/>
          </a:xfrm>
          <a:prstGeom prst="roundRect">
            <a:avLst>
              <a:gd name="adj" fmla="val 18421"/>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661D1F28-CCFE-4F57-8B12-3CC810C9337F}"/>
              </a:ext>
            </a:extLst>
          </p:cNvPr>
          <p:cNvSpPr>
            <a:spLocks noGrp="1"/>
          </p:cNvSpPr>
          <p:nvPr/>
        </p:nvSpPr>
        <p:spPr>
          <a:xfrm>
            <a:off x="5924550" y="22193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32478357-4FBD-4017-9A4D-B2DCB2CD7D89}"/>
              </a:ext>
            </a:extLst>
          </p:cNvPr>
          <p:cNvSpPr>
            <a:spLocks noGrp="1"/>
          </p:cNvSpPr>
          <p:nvPr/>
        </p:nvSpPr>
        <p:spPr>
          <a:xfrm>
            <a:off x="5924550" y="24669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Означити улазе које контролише корисник или спољашњи сервис.</a:t>
            </a:r>
          </a:p>
        </p:txBody>
      </p:sp>
      <p:sp>
        <p:nvSpPr>
          <p:cNvPr id="13" name="Rounded Rectangle 12">
            <a:extLst>
              <a:ext uri="{FF2B5EF4-FFF2-40B4-BE49-F238E27FC236}">
                <a16:creationId xmlns:a16="http://schemas.microsoft.com/office/drawing/2014/main" id="{473A6521-17D5-4D26-8F5F-2505D9046B4D}"/>
              </a:ext>
            </a:extLst>
          </p:cNvPr>
          <p:cNvSpPr>
            <a:spLocks noGrp="1"/>
          </p:cNvSpPr>
          <p:nvPr/>
        </p:nvSpPr>
        <p:spPr>
          <a:xfrm>
            <a:off x="5772150" y="2971800"/>
            <a:ext cx="5638800" cy="723900"/>
          </a:xfrm>
          <a:prstGeom prst="roundRect">
            <a:avLst>
              <a:gd name="adj" fmla="val 18421"/>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4281D28F-4CB8-403A-A6EE-89BD53E43C0E}"/>
              </a:ext>
            </a:extLst>
          </p:cNvPr>
          <p:cNvSpPr>
            <a:spLocks noGrp="1"/>
          </p:cNvSpPr>
          <p:nvPr/>
        </p:nvSpPr>
        <p:spPr>
          <a:xfrm>
            <a:off x="5924550" y="30956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6A7F2819-EB7F-433E-B770-CFB47FCB0DA4}"/>
              </a:ext>
            </a:extLst>
          </p:cNvPr>
          <p:cNvSpPr>
            <a:spLocks noGrp="1"/>
          </p:cNvSpPr>
          <p:nvPr/>
        </p:nvSpPr>
        <p:spPr>
          <a:xfrm>
            <a:off x="5924550" y="33432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Означити место где се идентитет или дозвола поново проверавају.</a:t>
            </a:r>
          </a:p>
        </p:txBody>
      </p:sp>
      <p:sp>
        <p:nvSpPr>
          <p:cNvPr id="16" name="Rounded Rectangle 15">
            <a:extLst>
              <a:ext uri="{FF2B5EF4-FFF2-40B4-BE49-F238E27FC236}">
                <a16:creationId xmlns:a16="http://schemas.microsoft.com/office/drawing/2014/main" id="{0F63D9A0-5DE1-47E9-AB02-7EBB8B9DABB4}"/>
              </a:ext>
            </a:extLst>
          </p:cNvPr>
          <p:cNvSpPr>
            <a:spLocks noGrp="1"/>
          </p:cNvSpPr>
          <p:nvPr/>
        </p:nvSpPr>
        <p:spPr>
          <a:xfrm>
            <a:off x="5772150" y="3848100"/>
            <a:ext cx="5638800" cy="819150"/>
          </a:xfrm>
          <a:prstGeom prst="roundRect">
            <a:avLst>
              <a:gd name="adj" fmla="val 18421"/>
            </a:avLst>
          </a:prstGeom>
          <a:solidFill>
            <a:srgbClr val="EEF3FF"/>
          </a:solidFill>
          <a:ln w="9525">
            <a:solidFill>
              <a:srgbClr val="D7DEE8"/>
            </a:solidFill>
            <a:prstDash val="solid"/>
          </a:ln>
        </p:spPr>
      </p:sp>
      <p:sp>
        <p:nvSpPr>
          <p:cNvPr id="17" name="Rectangle 16">
            <a:extLst>
              <a:ext uri="{FF2B5EF4-FFF2-40B4-BE49-F238E27FC236}">
                <a16:creationId xmlns:a16="http://schemas.microsoft.com/office/drawing/2014/main" id="{7CB4E754-26EC-42A0-BA98-C8C49F3E29C4}"/>
              </a:ext>
            </a:extLst>
          </p:cNvPr>
          <p:cNvSpPr>
            <a:spLocks noGrp="1"/>
          </p:cNvSpPr>
          <p:nvPr/>
        </p:nvSpPr>
        <p:spPr>
          <a:xfrm>
            <a:off x="5924550" y="39719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8" name="Rectangle 17">
            <a:extLst>
              <a:ext uri="{FF2B5EF4-FFF2-40B4-BE49-F238E27FC236}">
                <a16:creationId xmlns:a16="http://schemas.microsoft.com/office/drawing/2014/main" id="{7C383141-7E9F-49EC-AAB6-45BAD92EBD01}"/>
              </a:ext>
            </a:extLst>
          </p:cNvPr>
          <p:cNvSpPr>
            <a:spLocks noGrp="1"/>
          </p:cNvSpPr>
          <p:nvPr/>
        </p:nvSpPr>
        <p:spPr>
          <a:xfrm>
            <a:off x="5924550" y="42195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dirty="0" err="1">
                <a:solidFill>
                  <a:srgbClr val="1A202C"/>
                </a:solidFill>
                <a:latin typeface="Aptos"/>
                <a:ea typeface="Aptos"/>
                <a:cs typeface="Aptos"/>
              </a:rPr>
              <a:t>Означити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складишта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кључеве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интеграције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које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мењају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последицу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инцидента</a:t>
            </a:r>
            <a:r>
              <a:rPr sz="1350" b="1" dirty="0">
                <a:solidFill>
                  <a:srgbClr val="1A202C"/>
                </a:solidFill>
                <a:latin typeface="Aptos"/>
                <a:ea typeface="Aptos"/>
                <a:cs typeface="Aptos"/>
              </a:rPr>
              <a:t>.</a:t>
            </a:r>
          </a:p>
        </p:txBody>
      </p:sp>
      <p:sp>
        <p:nvSpPr>
          <p:cNvPr id="19" name="Rounded Rectangle 18">
            <a:extLst>
              <a:ext uri="{FF2B5EF4-FFF2-40B4-BE49-F238E27FC236}">
                <a16:creationId xmlns:a16="http://schemas.microsoft.com/office/drawing/2014/main" id="{B6DA7740-7CF1-4A17-BB0D-CC377FD1DA1A}"/>
              </a:ext>
            </a:extLst>
          </p:cNvPr>
          <p:cNvSpPr>
            <a:spLocks noGrp="1"/>
          </p:cNvSpPr>
          <p:nvPr/>
        </p:nvSpPr>
        <p:spPr>
          <a:xfrm>
            <a:off x="5772150" y="4809464"/>
            <a:ext cx="5638800" cy="876300"/>
          </a:xfrm>
          <a:prstGeom prst="roundRect">
            <a:avLst>
              <a:gd name="adj" fmla="val 18421"/>
            </a:avLst>
          </a:prstGeom>
          <a:solidFill>
            <a:srgbClr val="EDF8F2"/>
          </a:solidFill>
          <a:ln w="9525">
            <a:solidFill>
              <a:srgbClr val="D7DEE8"/>
            </a:solidFill>
            <a:prstDash val="solid"/>
          </a:ln>
        </p:spPr>
      </p:sp>
      <p:sp>
        <p:nvSpPr>
          <p:cNvPr id="20" name="Rectangle 19">
            <a:extLst>
              <a:ext uri="{FF2B5EF4-FFF2-40B4-BE49-F238E27FC236}">
                <a16:creationId xmlns:a16="http://schemas.microsoft.com/office/drawing/2014/main" id="{07ABAA64-7788-4740-8E0D-5183D7C43775}"/>
              </a:ext>
            </a:extLst>
          </p:cNvPr>
          <p:cNvSpPr>
            <a:spLocks noGrp="1"/>
          </p:cNvSpPr>
          <p:nvPr/>
        </p:nvSpPr>
        <p:spPr>
          <a:xfrm>
            <a:off x="5924550" y="4933289"/>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a:ext uri="{FF2B5EF4-FFF2-40B4-BE49-F238E27FC236}">
                <a16:creationId xmlns:a16="http://schemas.microsoft.com/office/drawing/2014/main" id="{3907216F-7F3A-41CD-ADB9-50DFD60ED0AD}"/>
              </a:ext>
            </a:extLst>
          </p:cNvPr>
          <p:cNvSpPr>
            <a:spLocks noGrp="1"/>
          </p:cNvSpPr>
          <p:nvPr/>
        </p:nvSpPr>
        <p:spPr>
          <a:xfrm>
            <a:off x="5924550" y="5180939"/>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dirty="0" err="1">
                <a:solidFill>
                  <a:srgbClr val="1A202C"/>
                </a:solidFill>
                <a:latin typeface="Aptos"/>
                <a:ea typeface="Aptos"/>
                <a:cs typeface="Aptos"/>
              </a:rPr>
              <a:t>Уз</a:t>
            </a:r>
            <a:r>
              <a:rPr sz="1350" b="1" dirty="0">
                <a:solidFill>
                  <a:srgbClr val="1A202C"/>
                </a:solidFill>
                <a:latin typeface="Aptos"/>
                <a:ea typeface="Aptos"/>
                <a:cs typeface="Aptos"/>
              </a:rPr>
              <a:t> </a:t>
            </a:r>
            <a:r>
              <a:rPr sz="1350" b="1" dirty="0" err="1">
                <a:solidFill>
                  <a:srgbClr val="1A202C"/>
                </a:solidFill>
                <a:latin typeface="Aptos"/>
                <a:ea typeface="Aptos"/>
                <a:cs typeface="Aptos"/>
              </a:rPr>
              <a:t>сваку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границу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записати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једну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реалну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претпоставку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која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може</a:t>
            </a:r>
            <a:r>
              <a:rPr sz="1350" b="1" dirty="0">
                <a:solidFill>
                  <a:srgbClr val="1A202C"/>
                </a:solidFill>
                <a:latin typeface="Aptos"/>
                <a:ea typeface="Aptos"/>
                <a:cs typeface="Aptos"/>
              </a:rPr>
              <a:t> </a:t>
            </a:r>
            <a:r>
              <a:rPr sz="1350" b="1" dirty="0" err="1">
                <a:solidFill>
                  <a:srgbClr val="1A202C"/>
                </a:solidFill>
                <a:latin typeface="Aptos"/>
                <a:ea typeface="Aptos"/>
                <a:cs typeface="Aptos"/>
              </a:rPr>
              <a:t>бити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погрешна</a:t>
            </a:r>
            <a:r>
              <a:rPr sz="1350" b="1" dirty="0">
                <a:solidFill>
                  <a:srgbClr val="1A202C"/>
                </a:solidFill>
                <a:latin typeface="Aptos"/>
                <a:ea typeface="Aptos"/>
                <a:cs typeface="Aptos"/>
              </a:rPr>
              <a:t>.</a:t>
            </a:r>
          </a:p>
        </p:txBody>
      </p:sp>
    </p:spTree>
    <p:extLst>
      <p:ext uri="{BB962C8B-B14F-4D97-AF65-F5344CB8AC3E}">
        <p14:creationId xmlns:p14="http://schemas.microsoft.com/office/powerpoint/2010/main" val="19779191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78A7107-F221-44CB-90F0-D19F2536332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900A40EB-D36B-41DA-A870-BF335FAE3BF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D5ED7E9-36F1-45D0-8FF5-EB4CFA740D8B}"/>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a:ext uri="{FF2B5EF4-FFF2-40B4-BE49-F238E27FC236}">
                <a16:creationId xmlns:a16="http://schemas.microsoft.com/office/drawing/2014/main" id="{BE8FF4B9-5CC0-4F67-86EA-799239A78C9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пре контроле</a:t>
            </a:r>
          </a:p>
        </p:txBody>
      </p:sp>
      <p:sp>
        <p:nvSpPr>
          <p:cNvPr id="5" name="Rectangle 4">
            <a:extLst>
              <a:ext uri="{FF2B5EF4-FFF2-40B4-BE49-F238E27FC236}">
                <a16:creationId xmlns:a16="http://schemas.microsoft.com/office/drawing/2014/main" id="{450F1BCA-FC41-42E8-B39E-8D9E1E6FEDCA}"/>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Три правила која треба да остану видљива у имплементацији и ревизији.</a:t>
            </a:r>
          </a:p>
        </p:txBody>
      </p:sp>
      <p:sp>
        <p:nvSpPr>
          <p:cNvPr id="6" name="Rounded Rectangle 5">
            <a:extLst>
              <a:ext uri="{FF2B5EF4-FFF2-40B4-BE49-F238E27FC236}">
                <a16:creationId xmlns:a16="http://schemas.microsoft.com/office/drawing/2014/main" id="{9534ACF8-2A47-41E9-B82B-0367D4DBC04E}"/>
              </a:ext>
            </a:extLst>
          </p:cNvPr>
          <p:cNvSpPr>
            <a:spLocks noGrp="1"/>
          </p:cNvSpPr>
          <p:nvPr/>
        </p:nvSpPr>
        <p:spPr>
          <a:xfrm>
            <a:off x="819150" y="2400300"/>
            <a:ext cx="3257550" cy="2343150"/>
          </a:xfrm>
          <a:prstGeom prst="roundRect">
            <a:avLst>
              <a:gd name="adj" fmla="val 5691"/>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3E1DFE0-C06F-42E3-B6F3-D2AEF33A1680}"/>
              </a:ext>
            </a:extLst>
          </p:cNvPr>
          <p:cNvSpPr>
            <a:spLocks noGrp="1"/>
          </p:cNvSpPr>
          <p:nvPr/>
        </p:nvSpPr>
        <p:spPr>
          <a:xfrm>
            <a:off x="97155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8" name="Rectangle 7">
            <a:extLst>
              <a:ext uri="{FF2B5EF4-FFF2-40B4-BE49-F238E27FC236}">
                <a16:creationId xmlns:a16="http://schemas.microsoft.com/office/drawing/2014/main" id="{6B3DF48E-FF80-4275-A858-1268E5FCE807}"/>
              </a:ext>
            </a:extLst>
          </p:cNvPr>
          <p:cNvSpPr>
            <a:spLocks noGrp="1"/>
          </p:cNvSpPr>
          <p:nvPr/>
        </p:nvSpPr>
        <p:spPr>
          <a:xfrm>
            <a:off x="97155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Имовина има власника, значај и животни циклус.</a:t>
            </a:r>
          </a:p>
        </p:txBody>
      </p:sp>
      <p:sp>
        <p:nvSpPr>
          <p:cNvPr id="9" name="Rectangle 8">
            <a:extLst>
              <a:ext uri="{FF2B5EF4-FFF2-40B4-BE49-F238E27FC236}">
                <a16:creationId xmlns:a16="http://schemas.microsoft.com/office/drawing/2014/main" id="{8A3B1A95-49F0-4B5D-8B39-D917CD81DE40}"/>
              </a:ext>
            </a:extLst>
          </p:cNvPr>
          <p:cNvSpPr>
            <a:spLocks noGrp="1"/>
          </p:cNvSpPr>
          <p:nvPr/>
        </p:nvSpPr>
        <p:spPr>
          <a:xfrm>
            <a:off x="97155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a:ext uri="{FF2B5EF4-FFF2-40B4-BE49-F238E27FC236}">
                <a16:creationId xmlns:a16="http://schemas.microsoft.com/office/drawing/2014/main" id="{859077BC-94D2-4A45-B667-687E65E4E81D}"/>
              </a:ext>
            </a:extLst>
          </p:cNvPr>
          <p:cNvSpPr>
            <a:spLocks noGrp="1"/>
          </p:cNvSpPr>
          <p:nvPr/>
        </p:nvSpPr>
        <p:spPr>
          <a:xfrm>
            <a:off x="4467225" y="2400300"/>
            <a:ext cx="3257550" cy="2343150"/>
          </a:xfrm>
          <a:prstGeom prst="roundRect">
            <a:avLst>
              <a:gd name="adj" fmla="val 5691"/>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9F5CACD7-A194-4CF9-BE49-2153070865D2}"/>
              </a:ext>
            </a:extLst>
          </p:cNvPr>
          <p:cNvSpPr>
            <a:spLocks noGrp="1"/>
          </p:cNvSpPr>
          <p:nvPr/>
        </p:nvSpPr>
        <p:spPr>
          <a:xfrm>
            <a:off x="4619625"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2" name="Rectangle 11">
            <a:extLst>
              <a:ext uri="{FF2B5EF4-FFF2-40B4-BE49-F238E27FC236}">
                <a16:creationId xmlns:a16="http://schemas.microsoft.com/office/drawing/2014/main" id="{682AD802-2B48-4904-823C-160E4D33EB5A}"/>
              </a:ext>
            </a:extLst>
          </p:cNvPr>
          <p:cNvSpPr>
            <a:spLocks noGrp="1"/>
          </p:cNvSpPr>
          <p:nvPr/>
        </p:nvSpPr>
        <p:spPr>
          <a:xfrm>
            <a:off x="4619625"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Спољна компонента не добија поверење само зато што је интегрисана.</a:t>
            </a:r>
          </a:p>
        </p:txBody>
      </p:sp>
      <p:sp>
        <p:nvSpPr>
          <p:cNvPr id="13" name="Rectangle 12">
            <a:extLst>
              <a:ext uri="{FF2B5EF4-FFF2-40B4-BE49-F238E27FC236}">
                <a16:creationId xmlns:a16="http://schemas.microsoft.com/office/drawing/2014/main" id="{598441AB-0B9D-4AA7-A887-E5296DFBD739}"/>
              </a:ext>
            </a:extLst>
          </p:cNvPr>
          <p:cNvSpPr>
            <a:spLocks noGrp="1"/>
          </p:cNvSpPr>
          <p:nvPr/>
        </p:nvSpPr>
        <p:spPr>
          <a:xfrm>
            <a:off x="4619625"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a:ext uri="{FF2B5EF4-FFF2-40B4-BE49-F238E27FC236}">
                <a16:creationId xmlns:a16="http://schemas.microsoft.com/office/drawing/2014/main" id="{44D3E6B6-F5B4-46C7-8D8C-11AAD4AE1171}"/>
              </a:ext>
            </a:extLst>
          </p:cNvPr>
          <p:cNvSpPr>
            <a:spLocks noGrp="1"/>
          </p:cNvSpPr>
          <p:nvPr/>
        </p:nvSpPr>
        <p:spPr>
          <a:xfrm>
            <a:off x="8115300" y="2400300"/>
            <a:ext cx="3257550" cy="2343150"/>
          </a:xfrm>
          <a:prstGeom prst="roundRect">
            <a:avLst>
              <a:gd name="adj" fmla="val 5691"/>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3220B039-0454-45D6-997C-F67FC1CD0E36}"/>
              </a:ext>
            </a:extLst>
          </p:cNvPr>
          <p:cNvSpPr>
            <a:spLocks noGrp="1"/>
          </p:cNvSpPr>
          <p:nvPr/>
        </p:nvSpPr>
        <p:spPr>
          <a:xfrm>
            <a:off x="826770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9F071067-ABD3-40BB-8F0F-B7783F2162DA}"/>
              </a:ext>
            </a:extLst>
          </p:cNvPr>
          <p:cNvSpPr>
            <a:spLocks noGrp="1"/>
          </p:cNvSpPr>
          <p:nvPr/>
        </p:nvSpPr>
        <p:spPr>
          <a:xfrm>
            <a:off x="826770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Претња постаје корисна када води до захтева, контроле и начина провере.</a:t>
            </a:r>
          </a:p>
        </p:txBody>
      </p:sp>
      <p:sp>
        <p:nvSpPr>
          <p:cNvPr id="17" name="Rectangle 16">
            <a:extLst>
              <a:ext uri="{FF2B5EF4-FFF2-40B4-BE49-F238E27FC236}">
                <a16:creationId xmlns:a16="http://schemas.microsoft.com/office/drawing/2014/main" id="{4D13B6D2-4239-4BD7-B6AD-89F248A81F36}"/>
              </a:ext>
            </a:extLst>
          </p:cNvPr>
          <p:cNvSpPr>
            <a:spLocks noGrp="1"/>
          </p:cNvSpPr>
          <p:nvPr/>
        </p:nvSpPr>
        <p:spPr>
          <a:xfrm>
            <a:off x="826770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2695538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EBAA430-967D-416D-A2F3-F4640058F99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7D40449-4D2D-4ADA-AD29-0B91B2A0E943}"/>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49D63E7-C99D-4FCE-AB89-CC10DA16DF57}"/>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a:ext uri="{FF2B5EF4-FFF2-40B4-BE49-F238E27FC236}">
                <a16:creationId xmlns:a16="http://schemas.microsoft.com/office/drawing/2014/main" id="{5F9CC480-B7FB-4F98-A0A5-385126384E8A}"/>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ова тема види у развоју</a:t>
            </a:r>
          </a:p>
        </p:txBody>
      </p:sp>
      <p:sp>
        <p:nvSpPr>
          <p:cNvPr id="5" name="Rectangle 4">
            <a:extLst>
              <a:ext uri="{FF2B5EF4-FFF2-40B4-BE49-F238E27FC236}">
                <a16:creationId xmlns:a16="http://schemas.microsoft.com/office/drawing/2014/main" id="{F435A14C-C7EF-4EEA-989F-BDBDCCB8C19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се види у малим одлукама током развоја, не само у завршној документацији.</a:t>
            </a:r>
          </a:p>
        </p:txBody>
      </p:sp>
      <p:sp>
        <p:nvSpPr>
          <p:cNvPr id="6" name="Rounded Rectangle 5">
            <a:extLst>
              <a:ext uri="{FF2B5EF4-FFF2-40B4-BE49-F238E27FC236}">
                <a16:creationId xmlns:a16="http://schemas.microsoft.com/office/drawing/2014/main" id="{E999F263-0AA9-43F8-A31E-A2C75BF0BFD1}"/>
              </a:ext>
            </a:extLst>
          </p:cNvPr>
          <p:cNvSpPr>
            <a:spLocks noGrp="1"/>
          </p:cNvSpPr>
          <p:nvPr/>
        </p:nvSpPr>
        <p:spPr>
          <a:xfrm>
            <a:off x="800100" y="2209800"/>
            <a:ext cx="4810125" cy="2857500"/>
          </a:xfrm>
          <a:prstGeom prst="roundRect">
            <a:avLst>
              <a:gd name="adj" fmla="val 4667"/>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F519275C-F476-48C8-84C2-516D6ACE60BD}"/>
              </a:ext>
            </a:extLst>
          </p:cNvPr>
          <p:cNvSpPr>
            <a:spLocks noGrp="1"/>
          </p:cNvSpPr>
          <p:nvPr/>
        </p:nvSpPr>
        <p:spPr>
          <a:xfrm>
            <a:off x="952500" y="2333625"/>
            <a:ext cx="4505325"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РАЗВОЈНИ КОНТЕКСТ</a:t>
            </a:r>
          </a:p>
        </p:txBody>
      </p:sp>
      <p:sp>
        <p:nvSpPr>
          <p:cNvPr id="8" name="Rectangle 7">
            <a:extLst>
              <a:ext uri="{FF2B5EF4-FFF2-40B4-BE49-F238E27FC236}">
                <a16:creationId xmlns:a16="http://schemas.microsoft.com/office/drawing/2014/main" id="{5511AFD6-AD7B-4FD6-9940-7A9114A90A48}"/>
              </a:ext>
            </a:extLst>
          </p:cNvPr>
          <p:cNvSpPr>
            <a:spLocks noGrp="1"/>
          </p:cNvSpPr>
          <p:nvPr/>
        </p:nvSpPr>
        <p:spPr>
          <a:xfrm>
            <a:off x="952500" y="2581275"/>
            <a:ext cx="4505325" cy="4762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Од принципа до радног кода</a:t>
            </a:r>
          </a:p>
        </p:txBody>
      </p:sp>
      <p:sp>
        <p:nvSpPr>
          <p:cNvPr id="9" name="Rectangle 8">
            <a:extLst>
              <a:ext uri="{FF2B5EF4-FFF2-40B4-BE49-F238E27FC236}">
                <a16:creationId xmlns:a16="http://schemas.microsoft.com/office/drawing/2014/main" id="{9E4BBDA3-5082-4B5F-ABE4-B0AB4EDA3578}"/>
              </a:ext>
            </a:extLst>
          </p:cNvPr>
          <p:cNvSpPr>
            <a:spLocks noGrp="1"/>
          </p:cNvSpPr>
          <p:nvPr/>
        </p:nvSpPr>
        <p:spPr>
          <a:xfrm>
            <a:off x="952500" y="3124200"/>
            <a:ext cx="4505325" cy="1838325"/>
          </a:xfrm>
          <a:prstGeom prst="rect">
            <a:avLst/>
          </a:prstGeom>
          <a:noFill/>
          <a:ln w="0">
            <a:noFill/>
          </a:ln>
        </p:spPr>
        <p:txBody>
          <a:bodyPr wrap="square" lIns="0" tIns="0" rIns="0" bIns="0" anchor="t">
            <a:normAutofit/>
          </a:bodyPr>
          <a:lstStyle/>
          <a:p>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Архитектурни цртеж постаје радни алат када уз сваку важну границу наведе податке, актере и претпоставке. Тим затим бира мали број реалних мисусе сценарија и проверава их тестом или прегледом дизајна.</a:t>
            </a:r>
          </a:p>
        </p:txBody>
      </p:sp>
      <p:sp>
        <p:nvSpPr>
          <p:cNvPr id="10" name="Rounded Rectangle 9">
            <a:extLst>
              <a:ext uri="{FF2B5EF4-FFF2-40B4-BE49-F238E27FC236}">
                <a16:creationId xmlns:a16="http://schemas.microsoft.com/office/drawing/2014/main" id="{7DBBC660-D0E1-4FAA-8CC0-911A47081990}"/>
              </a:ext>
            </a:extLst>
          </p:cNvPr>
          <p:cNvSpPr>
            <a:spLocks noGrp="1"/>
          </p:cNvSpPr>
          <p:nvPr/>
        </p:nvSpPr>
        <p:spPr>
          <a:xfrm>
            <a:off x="6038850" y="2209800"/>
            <a:ext cx="5353050" cy="819150"/>
          </a:xfrm>
          <a:prstGeom prst="roundRect">
            <a:avLst>
              <a:gd name="adj" fmla="val 16279"/>
            </a:avLst>
          </a:prstGeom>
          <a:solidFill>
            <a:srgbClr val="F4F6F9"/>
          </a:solidFill>
          <a:ln w="9525">
            <a:solidFill>
              <a:srgbClr val="D7DEE8"/>
            </a:solidFill>
            <a:prstDash val="solid"/>
          </a:ln>
        </p:spPr>
      </p:sp>
      <p:sp>
        <p:nvSpPr>
          <p:cNvPr id="11" name="Rectangle 10">
            <a:extLst>
              <a:ext uri="{FF2B5EF4-FFF2-40B4-BE49-F238E27FC236}">
                <a16:creationId xmlns:a16="http://schemas.microsoft.com/office/drawing/2014/main" id="{45795641-E635-471F-AFB0-4205E24A9D07}"/>
              </a:ext>
            </a:extLst>
          </p:cNvPr>
          <p:cNvSpPr>
            <a:spLocks noGrp="1"/>
          </p:cNvSpPr>
          <p:nvPr/>
        </p:nvSpPr>
        <p:spPr>
          <a:xfrm>
            <a:off x="6191250" y="23336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a:ext uri="{FF2B5EF4-FFF2-40B4-BE49-F238E27FC236}">
                <a16:creationId xmlns:a16="http://schemas.microsoft.com/office/drawing/2014/main" id="{AA7321D0-EFE2-48C8-8189-F139778F850F}"/>
              </a:ext>
            </a:extLst>
          </p:cNvPr>
          <p:cNvSpPr>
            <a:spLocks noGrp="1"/>
          </p:cNvSpPr>
          <p:nvPr/>
        </p:nvSpPr>
        <p:spPr>
          <a:xfrm>
            <a:off x="6191250" y="25812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Именуј одлуку и њену границу.</a:t>
            </a:r>
          </a:p>
        </p:txBody>
      </p:sp>
      <p:sp>
        <p:nvSpPr>
          <p:cNvPr id="13" name="Rounded Rectangle 12">
            <a:extLst>
              <a:ext uri="{FF2B5EF4-FFF2-40B4-BE49-F238E27FC236}">
                <a16:creationId xmlns:a16="http://schemas.microsoft.com/office/drawing/2014/main" id="{2D3FC5F1-EA23-421A-B1DF-08FDFE0540E7}"/>
              </a:ext>
            </a:extLst>
          </p:cNvPr>
          <p:cNvSpPr>
            <a:spLocks noGrp="1"/>
          </p:cNvSpPr>
          <p:nvPr/>
        </p:nvSpPr>
        <p:spPr>
          <a:xfrm>
            <a:off x="6038850" y="3200400"/>
            <a:ext cx="5353050" cy="819150"/>
          </a:xfrm>
          <a:prstGeom prst="roundRect">
            <a:avLst>
              <a:gd name="adj" fmla="val 16279"/>
            </a:avLst>
          </a:prstGeom>
          <a:solidFill>
            <a:srgbClr val="F5F0FF"/>
          </a:solidFill>
          <a:ln w="9525">
            <a:solidFill>
              <a:srgbClr val="D7DEE8"/>
            </a:solidFill>
            <a:prstDash val="solid"/>
          </a:ln>
        </p:spPr>
      </p:sp>
      <p:sp>
        <p:nvSpPr>
          <p:cNvPr id="14" name="Rectangle 13">
            <a:extLst>
              <a:ext uri="{FF2B5EF4-FFF2-40B4-BE49-F238E27FC236}">
                <a16:creationId xmlns:a16="http://schemas.microsoft.com/office/drawing/2014/main" id="{CB1A525B-9284-4DB2-A0CC-BC97A0F3BB6F}"/>
              </a:ext>
            </a:extLst>
          </p:cNvPr>
          <p:cNvSpPr>
            <a:spLocks noGrp="1"/>
          </p:cNvSpPr>
          <p:nvPr/>
        </p:nvSpPr>
        <p:spPr>
          <a:xfrm>
            <a:off x="6191250" y="33242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5" name="Rectangle 14">
            <a:extLst>
              <a:ext uri="{FF2B5EF4-FFF2-40B4-BE49-F238E27FC236}">
                <a16:creationId xmlns:a16="http://schemas.microsoft.com/office/drawing/2014/main" id="{154E055E-2C0E-4619-8F2F-D11D259D033E}"/>
              </a:ext>
            </a:extLst>
          </p:cNvPr>
          <p:cNvSpPr>
            <a:spLocks noGrp="1"/>
          </p:cNvSpPr>
          <p:nvPr/>
        </p:nvSpPr>
        <p:spPr>
          <a:xfrm>
            <a:off x="6191250" y="35718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Имплементирај проверу на серверу.</a:t>
            </a:r>
          </a:p>
        </p:txBody>
      </p:sp>
      <p:sp>
        <p:nvSpPr>
          <p:cNvPr id="16" name="Rounded Rectangle 15">
            <a:extLst>
              <a:ext uri="{FF2B5EF4-FFF2-40B4-BE49-F238E27FC236}">
                <a16:creationId xmlns:a16="http://schemas.microsoft.com/office/drawing/2014/main" id="{09BAEA0C-E3CD-4E8E-8ECF-EC1BE1CD75B6}"/>
              </a:ext>
            </a:extLst>
          </p:cNvPr>
          <p:cNvSpPr>
            <a:spLocks noGrp="1"/>
          </p:cNvSpPr>
          <p:nvPr/>
        </p:nvSpPr>
        <p:spPr>
          <a:xfrm>
            <a:off x="6038850" y="4191000"/>
            <a:ext cx="5353050" cy="819150"/>
          </a:xfrm>
          <a:prstGeom prst="roundRect">
            <a:avLst>
              <a:gd name="adj" fmla="val 1627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9408D0E3-4C6A-4A23-9E5E-95791BCB65E9}"/>
              </a:ext>
            </a:extLst>
          </p:cNvPr>
          <p:cNvSpPr>
            <a:spLocks noGrp="1"/>
          </p:cNvSpPr>
          <p:nvPr/>
        </p:nvSpPr>
        <p:spPr>
          <a:xfrm>
            <a:off x="6191250" y="43148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63201EFF-BBF1-4272-B852-3B0AA6C96E69}"/>
              </a:ext>
            </a:extLst>
          </p:cNvPr>
          <p:cNvSpPr>
            <a:spLocks noGrp="1"/>
          </p:cNvSpPr>
          <p:nvPr/>
        </p:nvSpPr>
        <p:spPr>
          <a:xfrm>
            <a:off x="6191250" y="45624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Додај позитиван и негативан доказ.</a:t>
            </a:r>
          </a:p>
        </p:txBody>
      </p:sp>
    </p:spTree>
    <p:extLst>
      <p:ext uri="{BB962C8B-B14F-4D97-AF65-F5344CB8AC3E}">
        <p14:creationId xmlns:p14="http://schemas.microsoft.com/office/powerpoint/2010/main" val="526249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195738F5-58CE-4E05-BBDA-9D2461CD0C4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24123CF-EC05-4A45-A4E7-64CC2AF3A4B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F773FE28-5B41-4D55-8FE0-C8730A71083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a:ext uri="{FF2B5EF4-FFF2-40B4-BE49-F238E27FC236}">
                <a16:creationId xmlns:a16="http://schemas.microsoft.com/office/drawing/2014/main" id="{A97A1734-89AD-4732-8330-A016B5FF9390}"/>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Пример: извоз из интерног система</a:t>
            </a:r>
          </a:p>
        </p:txBody>
      </p:sp>
      <p:sp>
        <p:nvSpPr>
          <p:cNvPr id="5" name="Rectangle 4">
            <a:extLst>
              <a:ext uri="{FF2B5EF4-FFF2-40B4-BE49-F238E27FC236}">
                <a16:creationId xmlns:a16="http://schemas.microsoft.com/office/drawing/2014/main" id="{F244B6B1-3095-4DFE-A1C3-B1ACE2CC48F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Конкретан случај показује где опште правило постаје стварна одлука система.</a:t>
            </a:r>
          </a:p>
        </p:txBody>
      </p:sp>
      <p:sp>
        <p:nvSpPr>
          <p:cNvPr id="6" name="Rounded Rectangle 5">
            <a:extLst>
              <a:ext uri="{FF2B5EF4-FFF2-40B4-BE49-F238E27FC236}">
                <a16:creationId xmlns:a16="http://schemas.microsoft.com/office/drawing/2014/main" id="{1A6C78E6-D654-4842-BFD5-532F4E15BB3B}"/>
              </a:ext>
            </a:extLst>
          </p:cNvPr>
          <p:cNvSpPr>
            <a:spLocks noGrp="1"/>
          </p:cNvSpPr>
          <p:nvPr/>
        </p:nvSpPr>
        <p:spPr>
          <a:xfrm>
            <a:off x="781050" y="2143125"/>
            <a:ext cx="10629900" cy="1619250"/>
          </a:xfrm>
          <a:prstGeom prst="roundRect">
            <a:avLst>
              <a:gd name="adj" fmla="val 8235"/>
            </a:avLst>
          </a:prstGeom>
          <a:solidFill>
            <a:srgbClr val="F4F6F9"/>
          </a:solidFill>
          <a:ln w="9525">
            <a:solidFill>
              <a:srgbClr val="D7DEE8"/>
            </a:solidFill>
            <a:prstDash val="solid"/>
          </a:ln>
        </p:spPr>
      </p:sp>
      <p:sp>
        <p:nvSpPr>
          <p:cNvPr id="7" name="Rectangle 6">
            <a:extLst>
              <a:ext uri="{FF2B5EF4-FFF2-40B4-BE49-F238E27FC236}">
                <a16:creationId xmlns:a16="http://schemas.microsoft.com/office/drawing/2014/main" id="{37CF99BD-1E77-4CEC-9731-E46EC9F8FA1D}"/>
              </a:ext>
            </a:extLst>
          </p:cNvPr>
          <p:cNvSpPr>
            <a:spLocks noGrp="1"/>
          </p:cNvSpPr>
          <p:nvPr/>
        </p:nvSpPr>
        <p:spPr>
          <a:xfrm>
            <a:off x="933450" y="2266950"/>
            <a:ext cx="103251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a:ext uri="{FF2B5EF4-FFF2-40B4-BE49-F238E27FC236}">
                <a16:creationId xmlns:a16="http://schemas.microsoft.com/office/drawing/2014/main" id="{10CCEF2A-1CFB-4FAD-AB92-1041A4B4D8B1}"/>
              </a:ext>
            </a:extLst>
          </p:cNvPr>
          <p:cNvSpPr>
            <a:spLocks noGrp="1"/>
          </p:cNvSpPr>
          <p:nvPr/>
        </p:nvSpPr>
        <p:spPr>
          <a:xfrm>
            <a:off x="933450" y="2514600"/>
            <a:ext cx="10325100" cy="4000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извоз из интерног система</a:t>
            </a:r>
          </a:p>
        </p:txBody>
      </p:sp>
      <p:sp>
        <p:nvSpPr>
          <p:cNvPr id="9" name="Rectangle 8">
            <a:extLst>
              <a:ext uri="{FF2B5EF4-FFF2-40B4-BE49-F238E27FC236}">
                <a16:creationId xmlns:a16="http://schemas.microsoft.com/office/drawing/2014/main" id="{22730250-D3E4-4509-ADEC-29F31FF88453}"/>
              </a:ext>
            </a:extLst>
          </p:cNvPr>
          <p:cNvSpPr>
            <a:spLocks noGrp="1"/>
          </p:cNvSpPr>
          <p:nvPr/>
        </p:nvSpPr>
        <p:spPr>
          <a:xfrm>
            <a:off x="933450" y="2981325"/>
            <a:ext cx="10325100" cy="6762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Интерни сервис припрема извоз осетљивих података за други систем. Тим га доживљава као безбедан јер је сервис „унутра“, али сам прелазак података у други систем мења претпоставке. Потребно је знати који податак путује, ко прима податак, шта може поћи по злу и како систем спречава или бар открива нежељен исход.</a:t>
            </a:r>
          </a:p>
        </p:txBody>
      </p:sp>
      <p:sp>
        <p:nvSpPr>
          <p:cNvPr id="10" name="Rounded Rectangle 9">
            <a:extLst>
              <a:ext uri="{FF2B5EF4-FFF2-40B4-BE49-F238E27FC236}">
                <a16:creationId xmlns:a16="http://schemas.microsoft.com/office/drawing/2014/main" id="{C0F53561-4711-4F59-8DA2-D31464A12AC0}"/>
              </a:ext>
            </a:extLst>
          </p:cNvPr>
          <p:cNvSpPr>
            <a:spLocks noGrp="1"/>
          </p:cNvSpPr>
          <p:nvPr/>
        </p:nvSpPr>
        <p:spPr>
          <a:xfrm>
            <a:off x="781050" y="4048125"/>
            <a:ext cx="3352800" cy="1352550"/>
          </a:xfrm>
          <a:prstGeom prst="roundRect">
            <a:avLst>
              <a:gd name="adj" fmla="val 9859"/>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B85C1123-C393-4CF5-9078-DC8E8877F9B9}"/>
              </a:ext>
            </a:extLst>
          </p:cNvPr>
          <p:cNvSpPr>
            <a:spLocks noGrp="1"/>
          </p:cNvSpPr>
          <p:nvPr/>
        </p:nvSpPr>
        <p:spPr>
          <a:xfrm>
            <a:off x="93345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3B8FB71F-6B3A-4F9A-85F5-FE93E5889595}"/>
              </a:ext>
            </a:extLst>
          </p:cNvPr>
          <p:cNvSpPr>
            <a:spLocks noGrp="1"/>
          </p:cNvSpPr>
          <p:nvPr/>
        </p:nvSpPr>
        <p:spPr>
          <a:xfrm>
            <a:off x="933450"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Имовина се не своди на базу података: укључује налоге, кључеве, сервисне идентитете, конфигурацију и пословне записе.</a:t>
            </a:r>
          </a:p>
        </p:txBody>
      </p:sp>
      <p:sp>
        <p:nvSpPr>
          <p:cNvPr id="13" name="Rounded Rectangle 12">
            <a:extLst>
              <a:ext uri="{FF2B5EF4-FFF2-40B4-BE49-F238E27FC236}">
                <a16:creationId xmlns:a16="http://schemas.microsoft.com/office/drawing/2014/main" id="{CBD0A67A-982F-4063-B70B-F7B8F8E6B06D}"/>
              </a:ext>
            </a:extLst>
          </p:cNvPr>
          <p:cNvSpPr>
            <a:spLocks noGrp="1"/>
          </p:cNvSpPr>
          <p:nvPr/>
        </p:nvSpPr>
        <p:spPr>
          <a:xfrm>
            <a:off x="4391025" y="4048125"/>
            <a:ext cx="3352800" cy="1352550"/>
          </a:xfrm>
          <a:prstGeom prst="roundRect">
            <a:avLst>
              <a:gd name="adj" fmla="val 9859"/>
            </a:avLst>
          </a:prstGeom>
          <a:solidFill>
            <a:srgbClr val="FFF6E9"/>
          </a:solidFill>
          <a:ln w="9525">
            <a:solidFill>
              <a:srgbClr val="D7DEE8"/>
            </a:solidFill>
            <a:prstDash val="solid"/>
          </a:ln>
        </p:spPr>
      </p:sp>
      <p:sp>
        <p:nvSpPr>
          <p:cNvPr id="14" name="Rectangle 13">
            <a:extLst>
              <a:ext uri="{FF2B5EF4-FFF2-40B4-BE49-F238E27FC236}">
                <a16:creationId xmlns:a16="http://schemas.microsoft.com/office/drawing/2014/main" id="{09998DCD-8837-4E59-A824-870D1A732018}"/>
              </a:ext>
            </a:extLst>
          </p:cNvPr>
          <p:cNvSpPr>
            <a:spLocks noGrp="1"/>
          </p:cNvSpPr>
          <p:nvPr/>
        </p:nvSpPr>
        <p:spPr>
          <a:xfrm>
            <a:off x="4543425"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a:ext uri="{FF2B5EF4-FFF2-40B4-BE49-F238E27FC236}">
                <a16:creationId xmlns:a16="http://schemas.microsoft.com/office/drawing/2014/main" id="{8D11BF49-763F-49D8-9157-CA345402DCBE}"/>
              </a:ext>
            </a:extLst>
          </p:cNvPr>
          <p:cNvSpPr>
            <a:spLocks noGrp="1"/>
          </p:cNvSpPr>
          <p:nvPr/>
        </p:nvSpPr>
        <p:spPr>
          <a:xfrm>
            <a:off x="4543425"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Граница поверења може бити API позив, ред порука, административни интерфејс или извоз у датотеку.</a:t>
            </a:r>
          </a:p>
        </p:txBody>
      </p:sp>
      <p:sp>
        <p:nvSpPr>
          <p:cNvPr id="16" name="Rounded Rectangle 15">
            <a:extLst>
              <a:ext uri="{FF2B5EF4-FFF2-40B4-BE49-F238E27FC236}">
                <a16:creationId xmlns:a16="http://schemas.microsoft.com/office/drawing/2014/main" id="{69AFEC29-67E1-47C4-8B60-6CF02A39AF84}"/>
              </a:ext>
            </a:extLst>
          </p:cNvPr>
          <p:cNvSpPr>
            <a:spLocks noGrp="1"/>
          </p:cNvSpPr>
          <p:nvPr/>
        </p:nvSpPr>
        <p:spPr>
          <a:xfrm>
            <a:off x="8001000" y="4048125"/>
            <a:ext cx="3352800" cy="1352550"/>
          </a:xfrm>
          <a:prstGeom prst="roundRect">
            <a:avLst>
              <a:gd name="adj" fmla="val 985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0D4FD123-85D3-425D-A25F-1855A55290D9}"/>
              </a:ext>
            </a:extLst>
          </p:cNvPr>
          <p:cNvSpPr>
            <a:spLocks noGrp="1"/>
          </p:cNvSpPr>
          <p:nvPr/>
        </p:nvSpPr>
        <p:spPr>
          <a:xfrm>
            <a:off x="815340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878E5BD7-6FD4-4EE4-8D39-ECF04FA1E53F}"/>
              </a:ext>
            </a:extLst>
          </p:cNvPr>
          <p:cNvSpPr>
            <a:spLocks noGrp="1"/>
          </p:cNvSpPr>
          <p:nvPr/>
        </p:nvSpPr>
        <p:spPr>
          <a:xfrm>
            <a:off x="8153400"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Добар тхреат модел бира неколико реалних сценарија и уз сваки наводи контролу и начин провере.</a:t>
            </a:r>
          </a:p>
        </p:txBody>
      </p:sp>
    </p:spTree>
    <p:extLst>
      <p:ext uri="{BB962C8B-B14F-4D97-AF65-F5344CB8AC3E}">
        <p14:creationId xmlns:p14="http://schemas.microsoft.com/office/powerpoint/2010/main" val="482375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094B20E7-6E1E-44B9-92D2-2EE650B8A859}"/>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189C038-93A7-41A6-A8BF-DDB1C617C48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1B2FC42-E410-4362-B10F-7B92DEB56EE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a:ext uri="{FF2B5EF4-FFF2-40B4-BE49-F238E27FC236}">
                <a16:creationId xmlns:a16="http://schemas.microsoft.com/office/drawing/2014/main" id="{08C9A33A-05A5-4CF7-B675-E6014A015B6E}"/>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Граница поверења тражи експлицитну проверу</a:t>
            </a:r>
          </a:p>
        </p:txBody>
      </p:sp>
      <p:sp>
        <p:nvSpPr>
          <p:cNvPr id="5" name="Rectangle 4">
            <a:extLst>
              <a:ext uri="{FF2B5EF4-FFF2-40B4-BE49-F238E27FC236}">
                <a16:creationId xmlns:a16="http://schemas.microsoft.com/office/drawing/2014/main" id="{1D5B4A47-9BCA-46D1-85AB-8B1254A682AB}"/>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Код почиње од исте леве ивице као наслов прозора и остаје читљив на пројектору.</a:t>
            </a:r>
          </a:p>
        </p:txBody>
      </p:sp>
      <p:sp>
        <p:nvSpPr>
          <p:cNvPr id="6" name="Rounded Rectangle 5">
            <a:extLst>
              <a:ext uri="{FF2B5EF4-FFF2-40B4-BE49-F238E27FC236}">
                <a16:creationId xmlns:a16="http://schemas.microsoft.com/office/drawing/2014/main" id="{A5426302-C4A8-445E-9022-0A0C3B97B04E}"/>
              </a:ext>
            </a:extLst>
          </p:cNvPr>
          <p:cNvSpPr>
            <a:spLocks noGrp="1"/>
          </p:cNvSpPr>
          <p:nvPr/>
        </p:nvSpPr>
        <p:spPr>
          <a:xfrm>
            <a:off x="666750" y="2095500"/>
            <a:ext cx="6858000" cy="2133600"/>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CDABB70A-5BED-4419-B77F-74EBEC6A2C18}"/>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84089A44-C138-4353-BA77-65C855506317}"/>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9C0BB3C4-C1DE-49C6-817D-067377404D53}"/>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16B877EF-8DF5-4212-9DE6-8280D5BDA40F}"/>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9E1980CB-67E7-4D40-8FB9-4B4F7152A37F}"/>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p:txBody>
      </p:sp>
      <p:sp>
        <p:nvSpPr>
          <p:cNvPr id="12" name="Rectangle 11">
            <a:extLst>
              <a:ext uri="{FF2B5EF4-FFF2-40B4-BE49-F238E27FC236}">
                <a16:creationId xmlns:a16="http://schemas.microsoft.com/office/drawing/2014/main" id="{43B1BF7C-4DF6-4EE9-AF4C-A1968940AAF8}"/>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Result</a:t>
            </a:r>
            <a:r>
              <a:rPr b="0">
                <a:solidFill>
                  <a:srgbClr val="263044"/>
                </a:solidFill>
              </a:rPr>
              <a:t>&lt;</a:t>
            </a:r>
            <a:r>
              <a:rPr b="0">
                <a:solidFill>
                  <a:srgbClr val="7651D4"/>
                </a:solidFill>
              </a:rPr>
              <a:t>Payment</a:t>
            </a:r>
            <a:r>
              <a:rPr b="0">
                <a:solidFill>
                  <a:srgbClr val="263044"/>
                </a:solidFill>
              </a:rPr>
              <a:t>&gt; </a:t>
            </a:r>
            <a:r>
              <a:rPr b="0">
                <a:solidFill>
                  <a:srgbClr val="7651D4"/>
                </a:solidFill>
              </a:rPr>
              <a:t>Create</a:t>
            </a:r>
            <a:r>
              <a:rPr b="0">
                <a:solidFill>
                  <a:srgbClr val="263044"/>
                </a:solidFill>
              </a:rPr>
              <a:t>(</a:t>
            </a:r>
            <a:r>
              <a:rPr b="0">
                <a:solidFill>
                  <a:srgbClr val="7651D4"/>
                </a:solidFill>
              </a:rPr>
              <a:t>ExternalRequest</a:t>
            </a:r>
            <a:r>
              <a:rPr b="0">
                <a:solidFill>
                  <a:srgbClr val="263044"/>
                </a:solidFill>
              </a:rPr>
              <a:t> input)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command = validator.</a:t>
            </a:r>
            <a:r>
              <a:rPr b="0">
                <a:solidFill>
                  <a:srgbClr val="7651D4"/>
                </a:solidFill>
              </a:rPr>
              <a:t>ParseAndValidate</a:t>
            </a:r>
            <a:r>
              <a:rPr b="0">
                <a:solidFill>
                  <a:srgbClr val="263044"/>
                </a:solidFill>
              </a:rPr>
              <a:t>(input);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(!trustPolicy.</a:t>
            </a:r>
            <a:r>
              <a:rPr b="0">
                <a:solidFill>
                  <a:srgbClr val="7651D4"/>
                </a:solidFill>
              </a:rPr>
              <a:t>Accepts</a:t>
            </a:r>
            <a:r>
              <a:rPr b="0">
                <a:solidFill>
                  <a:srgbClr val="263044"/>
                </a:solidFill>
              </a:rPr>
              <a:t>(command.</a:t>
            </a:r>
            <a:r>
              <a:rPr b="0">
                <a:solidFill>
                  <a:srgbClr val="7651D4"/>
                </a:solidFill>
              </a:rPr>
              <a:t>Source</a:t>
            </a:r>
            <a:r>
              <a:rPr b="0">
                <a:solidFill>
                  <a:srgbClr val="263044"/>
                </a:solidFill>
              </a:rPr>
              <a:t>, command.</a:t>
            </a:r>
            <a:r>
              <a:rPr b="0">
                <a:solidFill>
                  <a:srgbClr val="7651D4"/>
                </a:solidFill>
              </a:rPr>
              <a:t>Signature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"untrusted_source"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(command.</a:t>
            </a:r>
            <a:r>
              <a:rPr b="0">
                <a:solidFill>
                  <a:srgbClr val="7651D4"/>
                </a:solidFill>
              </a:rPr>
              <a:t>Amount</a:t>
            </a:r>
            <a:r>
              <a:rPr b="0">
                <a:solidFill>
                  <a:srgbClr val="263044"/>
                </a:solidFill>
              </a:rPr>
              <a:t> &gt; limits.</a:t>
            </a:r>
            <a:r>
              <a:rPr b="0">
                <a:solidFill>
                  <a:srgbClr val="7651D4"/>
                </a:solidFill>
              </a:rPr>
              <a:t>For</a:t>
            </a:r>
            <a:r>
              <a:rPr b="0">
                <a:solidFill>
                  <a:srgbClr val="263044"/>
                </a:solidFill>
              </a:rPr>
              <a:t>(command.</a:t>
            </a:r>
            <a:r>
              <a:rPr b="0">
                <a:solidFill>
                  <a:srgbClr val="7651D4"/>
                </a:solidFill>
              </a:rPr>
              <a:t>AccountId</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"limit_exceeded"</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payments.</a:t>
            </a:r>
            <a:r>
              <a:rPr b="0">
                <a:solidFill>
                  <a:srgbClr val="7651D4"/>
                </a:solidFill>
              </a:rPr>
              <a:t>Create</a:t>
            </a:r>
            <a:r>
              <a:rPr b="0">
                <a:solidFill>
                  <a:srgbClr val="263044"/>
                </a:solidFill>
              </a:rPr>
              <a:t>(command);</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3181268D-1496-4405-BF16-D474F6CC397D}"/>
              </a:ext>
            </a:extLst>
          </p:cNvPr>
          <p:cNvSpPr>
            <a:spLocks noGrp="1"/>
          </p:cNvSpPr>
          <p:nvPr/>
        </p:nvSpPr>
        <p:spPr>
          <a:xfrm>
            <a:off x="7924800" y="2152650"/>
            <a:ext cx="3600450" cy="1809750"/>
          </a:xfrm>
          <a:prstGeom prst="roundRect">
            <a:avLst>
              <a:gd name="adj" fmla="val 736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A0CB74F1-6A6D-4A08-BFFA-00F33F1F2B3B}"/>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ШТА ЈЕ ВАЖНО</a:t>
            </a:r>
          </a:p>
        </p:txBody>
      </p:sp>
      <p:sp>
        <p:nvSpPr>
          <p:cNvPr id="15" name="Rectangle 14">
            <a:extLst>
              <a:ext uri="{FF2B5EF4-FFF2-40B4-BE49-F238E27FC236}">
                <a16:creationId xmlns:a16="http://schemas.microsoft.com/office/drawing/2014/main" id="{1E7A14F7-A213-41D8-949B-0979344489BE}"/>
              </a:ext>
            </a:extLst>
          </p:cNvPr>
          <p:cNvSpPr>
            <a:spLocks noGrp="1"/>
          </p:cNvSpPr>
          <p:nvPr/>
        </p:nvSpPr>
        <p:spPr>
          <a:xfrm>
            <a:off x="8077200" y="2524125"/>
            <a:ext cx="3295650" cy="9906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Спољни улаз се прво валидира и доказује, па тек онда сме да покрене пословну промену.</a:t>
            </a:r>
          </a:p>
        </p:txBody>
      </p:sp>
      <p:sp>
        <p:nvSpPr>
          <p:cNvPr id="16" name="Rounded Rectangle 15">
            <a:extLst>
              <a:ext uri="{FF2B5EF4-FFF2-40B4-BE49-F238E27FC236}">
                <a16:creationId xmlns:a16="http://schemas.microsoft.com/office/drawing/2014/main" id="{5F7AE7D7-6DBF-4E6C-B322-5776B8C800A3}"/>
              </a:ext>
            </a:extLst>
          </p:cNvPr>
          <p:cNvSpPr>
            <a:spLocks noGrp="1"/>
          </p:cNvSpPr>
          <p:nvPr/>
        </p:nvSpPr>
        <p:spPr>
          <a:xfrm>
            <a:off x="7924800" y="4248150"/>
            <a:ext cx="3600450" cy="1428750"/>
          </a:xfrm>
          <a:prstGeom prst="roundRect">
            <a:avLst>
              <a:gd name="adj" fmla="val 9333"/>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6F7B31F3-976A-4DBD-A7E5-B626A73653FD}"/>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ГРАНИЦА</a:t>
            </a:r>
          </a:p>
        </p:txBody>
      </p:sp>
      <p:sp>
        <p:nvSpPr>
          <p:cNvPr id="18" name="Rectangle 17">
            <a:extLst>
              <a:ext uri="{FF2B5EF4-FFF2-40B4-BE49-F238E27FC236}">
                <a16:creationId xmlns:a16="http://schemas.microsoft.com/office/drawing/2014/main" id="{37CB8D8D-9905-4D38-B5D8-A8827EAC344B}"/>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4470761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FA6C869-88A6-4B47-9DC2-1698D275494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5419BD5-867D-4C49-BD3F-B159264F4A2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43FD64C-C72E-4BFE-A98D-4BA912CAB148}"/>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a:ext uri="{FF2B5EF4-FFF2-40B4-BE49-F238E27FC236}">
                <a16:creationId xmlns:a16="http://schemas.microsoft.com/office/drawing/2014/main" id="{44544B1E-7344-4BCE-AC32-BD3E54140DBC}"/>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Тест доказује да претња не стиже до имовине</a:t>
            </a:r>
          </a:p>
        </p:txBody>
      </p:sp>
      <p:sp>
        <p:nvSpPr>
          <p:cNvPr id="5" name="Rectangle 4">
            <a:extLst>
              <a:ext uri="{FF2B5EF4-FFF2-40B4-BE49-F238E27FC236}">
                <a16:creationId xmlns:a16="http://schemas.microsoft.com/office/drawing/2014/main" id="{53EA4160-BC58-4964-B505-388166CB72E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Негативан тест није споредан случај — он описује где право престаје.</a:t>
            </a:r>
          </a:p>
        </p:txBody>
      </p:sp>
      <p:sp>
        <p:nvSpPr>
          <p:cNvPr id="6" name="Rounded Rectangle 5">
            <a:extLst>
              <a:ext uri="{FF2B5EF4-FFF2-40B4-BE49-F238E27FC236}">
                <a16:creationId xmlns:a16="http://schemas.microsoft.com/office/drawing/2014/main" id="{6DD05321-1387-4C5A-BADC-8F29C9F14D2D}"/>
              </a:ext>
            </a:extLst>
          </p:cNvPr>
          <p:cNvSpPr>
            <a:spLocks noGrp="1"/>
          </p:cNvSpPr>
          <p:nvPr/>
        </p:nvSpPr>
        <p:spPr>
          <a:xfrm>
            <a:off x="666750" y="2095500"/>
            <a:ext cx="6858000" cy="2257425"/>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64961F1A-03D6-48C3-BF36-E4F0A35B8378}"/>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055DE5E9-FA2C-42C8-B6C6-91C35CB732A6}"/>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9D28C7E7-366C-4144-91D3-DD8D6DB4B425}"/>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4AECB9D1-30F8-4EA1-B51A-9B515C18CD07}"/>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A53B712A-C5FB-4619-99A2-78A5E58FE68E}"/>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a:ext uri="{FF2B5EF4-FFF2-40B4-BE49-F238E27FC236}">
                <a16:creationId xmlns:a16="http://schemas.microsoft.com/office/drawing/2014/main" id="{B6A11A29-46ED-4C0D-9BDC-F1283C1190CA}"/>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Untrusted_input_stops_at_the_boundary</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request = </a:t>
            </a:r>
            <a:r>
              <a:rPr b="0">
                <a:solidFill>
                  <a:srgbClr val="7651D4"/>
                </a:solidFill>
              </a:rPr>
              <a:t>ExternalRequest</a:t>
            </a:r>
            <a:r>
              <a:rPr b="0">
                <a:solidFill>
                  <a:srgbClr val="263044"/>
                </a:solidFill>
              </a:rPr>
              <a:t>.</a:t>
            </a:r>
            <a:r>
              <a:rPr b="0">
                <a:solidFill>
                  <a:srgbClr val="7651D4"/>
                </a:solidFill>
              </a:rPr>
              <a:t>WithInvalidSignature</a:t>
            </a:r>
            <a:r>
              <a:rPr b="0">
                <a:solidFill>
                  <a:srgbClr val="263044"/>
                </a:solidFill>
              </a:rPr>
              <a: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service.</a:t>
            </a:r>
            <a:r>
              <a:rPr b="0">
                <a:solidFill>
                  <a:srgbClr val="7651D4"/>
                </a:solidFill>
              </a:rPr>
              <a:t>Create</a:t>
            </a:r>
            <a:r>
              <a:rPr b="0">
                <a:solidFill>
                  <a:srgbClr val="263044"/>
                </a:solidFill>
              </a:rPr>
              <a:t>(request);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"untrusted_source"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repository.</a:t>
            </a:r>
            <a:r>
              <a:rPr b="0">
                <a:solidFill>
                  <a:srgbClr val="7651D4"/>
                </a:solidFill>
              </a:rPr>
              <a:t>Writes</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86A09"/>
                </a:solidFill>
              </a:rPr>
              <a:t>0</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171DDB81-97B1-4255-9A1C-4B59AA160CE2}"/>
              </a:ext>
            </a:extLst>
          </p:cNvPr>
          <p:cNvSpPr>
            <a:spLocks noGrp="1"/>
          </p:cNvSpPr>
          <p:nvPr/>
        </p:nvSpPr>
        <p:spPr>
          <a:xfrm>
            <a:off x="7924800" y="2152650"/>
            <a:ext cx="3600450" cy="1809750"/>
          </a:xfrm>
          <a:prstGeom prst="roundRect">
            <a:avLst>
              <a:gd name="adj" fmla="val 7368"/>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D174A69E-C920-41EC-BAC8-107A61D37059}"/>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a:ext uri="{FF2B5EF4-FFF2-40B4-BE49-F238E27FC236}">
                <a16:creationId xmlns:a16="http://schemas.microsoft.com/office/drawing/2014/main" id="{2E15CE66-BD47-4228-A53B-BD6920A6B66B}"/>
              </a:ext>
            </a:extLst>
          </p:cNvPr>
          <p:cNvSpPr>
            <a:spLocks noGrp="1"/>
          </p:cNvSpPr>
          <p:nvPr/>
        </p:nvSpPr>
        <p:spPr>
          <a:xfrm>
            <a:off x="8077200" y="2524125"/>
            <a:ext cx="3295650" cy="10287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Очекивање није само одбијање, већ и да није направљен ниједан упис у заштићено стање.</a:t>
            </a:r>
          </a:p>
        </p:txBody>
      </p:sp>
      <p:sp>
        <p:nvSpPr>
          <p:cNvPr id="16" name="Rounded Rectangle 15">
            <a:extLst>
              <a:ext uri="{FF2B5EF4-FFF2-40B4-BE49-F238E27FC236}">
                <a16:creationId xmlns:a16="http://schemas.microsoft.com/office/drawing/2014/main" id="{AE0C28C7-19D5-4E0A-89DF-CE4C06323CFD}"/>
              </a:ext>
            </a:extLst>
          </p:cNvPr>
          <p:cNvSpPr>
            <a:spLocks noGrp="1"/>
          </p:cNvSpPr>
          <p:nvPr/>
        </p:nvSpPr>
        <p:spPr>
          <a:xfrm>
            <a:off x="7924800" y="4248150"/>
            <a:ext cx="3600450" cy="1428750"/>
          </a:xfrm>
          <a:prstGeom prst="roundRect">
            <a:avLst>
              <a:gd name="adj" fmla="val 9333"/>
            </a:avLst>
          </a:prstGeom>
          <a:solidFill>
            <a:srgbClr val="F5F0FF"/>
          </a:solidFill>
          <a:ln w="9525">
            <a:solidFill>
              <a:srgbClr val="D7DEE8"/>
            </a:solidFill>
            <a:prstDash val="solid"/>
          </a:ln>
        </p:spPr>
      </p:sp>
      <p:sp>
        <p:nvSpPr>
          <p:cNvPr id="17" name="Rectangle 16">
            <a:extLst>
              <a:ext uri="{FF2B5EF4-FFF2-40B4-BE49-F238E27FC236}">
                <a16:creationId xmlns:a16="http://schemas.microsoft.com/office/drawing/2014/main" id="{707C76A6-FF71-41DE-9716-3C4B6B597BAC}"/>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ПРОВЕРА</a:t>
            </a:r>
          </a:p>
        </p:txBody>
      </p:sp>
      <p:sp>
        <p:nvSpPr>
          <p:cNvPr id="18" name="Rectangle 17">
            <a:extLst>
              <a:ext uri="{FF2B5EF4-FFF2-40B4-BE49-F238E27FC236}">
                <a16:creationId xmlns:a16="http://schemas.microsoft.com/office/drawing/2014/main" id="{5EF0470E-7939-43E2-A065-34586609D8D1}"/>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Промените једну чињеницу и очекујте јасан, стабилан разлог одбијања.</a:t>
            </a:r>
          </a:p>
        </p:txBody>
      </p:sp>
    </p:spTree>
    <p:extLst>
      <p:ext uri="{BB962C8B-B14F-4D97-AF65-F5344CB8AC3E}">
        <p14:creationId xmlns:p14="http://schemas.microsoft.com/office/powerpoint/2010/main" val="590438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A2F731F-B30F-40FD-A377-783D328341B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F340FFC-FC3A-4BF3-B132-24AB6D4A1B3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D990AAE-824B-4AFF-8A4E-A9472C0B997C}"/>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a:ext uri="{FF2B5EF4-FFF2-40B4-BE49-F238E27FC236}">
                <a16:creationId xmlns:a16="http://schemas.microsoft.com/office/drawing/2014/main" id="{80AFC7BE-2410-442C-A910-D0070B5EEF40}"/>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 мора да одговори шта се догодило</a:t>
            </a:r>
          </a:p>
        </p:txBody>
      </p:sp>
      <p:sp>
        <p:nvSpPr>
          <p:cNvPr id="5" name="Rectangle 4">
            <a:extLst>
              <a:ext uri="{FF2B5EF4-FFF2-40B4-BE49-F238E27FC236}">
                <a16:creationId xmlns:a16="http://schemas.microsoft.com/office/drawing/2014/main" id="{F94F3293-F4A2-4C0C-85E0-22D469C6B19C}"/>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Чува се довољно контекста за реконструкцију, али не и тајне или непотребни лични подаци.</a:t>
            </a:r>
          </a:p>
        </p:txBody>
      </p:sp>
      <p:sp>
        <p:nvSpPr>
          <p:cNvPr id="6" name="Rounded Rectangle 5">
            <a:extLst>
              <a:ext uri="{FF2B5EF4-FFF2-40B4-BE49-F238E27FC236}">
                <a16:creationId xmlns:a16="http://schemas.microsoft.com/office/drawing/2014/main" id="{A80875F0-0F67-4FC9-B988-C2662FA9942B}"/>
              </a:ext>
            </a:extLst>
          </p:cNvPr>
          <p:cNvSpPr>
            <a:spLocks noGrp="1"/>
          </p:cNvSpPr>
          <p:nvPr/>
        </p:nvSpPr>
        <p:spPr>
          <a:xfrm>
            <a:off x="857250" y="2152650"/>
            <a:ext cx="5334000" cy="2028825"/>
          </a:xfrm>
          <a:prstGeom prst="roundRect">
            <a:avLst>
              <a:gd name="adj" fmla="val 5455"/>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0E4248E1-2FFE-4DF6-8A59-493BBEDB7986}"/>
              </a:ext>
            </a:extLst>
          </p:cNvPr>
          <p:cNvSpPr>
            <a:spLocks noGrp="1"/>
          </p:cNvSpPr>
          <p:nvPr/>
        </p:nvSpPr>
        <p:spPr>
          <a:xfrm>
            <a:off x="857250" y="2495550"/>
            <a:ext cx="5334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2365A11B-11CC-490B-A84F-A1725A7AFDAE}"/>
              </a:ext>
            </a:extLst>
          </p:cNvPr>
          <p:cNvSpPr>
            <a:spLocks noGrp="1"/>
          </p:cNvSpPr>
          <p:nvPr/>
        </p:nvSpPr>
        <p:spPr>
          <a:xfrm>
            <a:off x="5505450" y="227647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BEC181BC-CD60-4583-B827-22B8749F4F39}"/>
              </a:ext>
            </a:extLst>
          </p:cNvPr>
          <p:cNvSpPr>
            <a:spLocks noGrp="1"/>
          </p:cNvSpPr>
          <p:nvPr/>
        </p:nvSpPr>
        <p:spPr>
          <a:xfrm>
            <a:off x="5676900" y="227647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D062F735-705F-4380-B7D4-FD46528E0A44}"/>
              </a:ext>
            </a:extLst>
          </p:cNvPr>
          <p:cNvSpPr>
            <a:spLocks noGrp="1"/>
          </p:cNvSpPr>
          <p:nvPr/>
        </p:nvSpPr>
        <p:spPr>
          <a:xfrm>
            <a:off x="5848350" y="227647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64D29D5C-1AED-40AF-A61E-ED09C86FB56C}"/>
              </a:ext>
            </a:extLst>
          </p:cNvPr>
          <p:cNvSpPr>
            <a:spLocks noGrp="1"/>
          </p:cNvSpPr>
          <p:nvPr/>
        </p:nvSpPr>
        <p:spPr>
          <a:xfrm>
            <a:off x="971550" y="2628900"/>
            <a:ext cx="304800" cy="2533650"/>
          </a:xfrm>
          <a:prstGeom prst="rect">
            <a:avLst/>
          </a:prstGeom>
          <a:noFill/>
          <a:ln w="0">
            <a:noFill/>
          </a:ln>
        </p:spPr>
        <p:txBody>
          <a:bodyPr wrap="square" lIns="0" tIns="0" rIns="0" bIns="0" anchor="t">
            <a:normAutofit/>
          </a:bodyPr>
          <a:lstStyle/>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a:ext uri="{FF2B5EF4-FFF2-40B4-BE49-F238E27FC236}">
                <a16:creationId xmlns:a16="http://schemas.microsoft.com/office/drawing/2014/main" id="{A3B17345-01D4-4374-B5EC-9580F00B6D62}"/>
              </a:ext>
            </a:extLst>
          </p:cNvPr>
          <p:cNvSpPr>
            <a:spLocks noGrp="1"/>
          </p:cNvSpPr>
          <p:nvPr/>
        </p:nvSpPr>
        <p:spPr>
          <a:xfrm>
            <a:off x="1390650" y="2628900"/>
            <a:ext cx="4629150" cy="2533650"/>
          </a:xfrm>
          <a:prstGeom prst="rect">
            <a:avLst/>
          </a:prstGeom>
          <a:noFill/>
          <a:ln w="0">
            <a:noFill/>
          </a:ln>
        </p:spPr>
        <p:txBody>
          <a:bodyPr wrap="square" lIns="0" tIns="0" rIns="0" bIns="0" anchor="t">
            <a:normAutofit/>
          </a:bodyPr>
          <a:lstStyle/>
          <a:p>
            <a:pPr>
              <a:buNone/>
              <a:defRPr sz="1125">
                <a:solidFill>
                  <a:srgbClr val="263044"/>
                </a:solidFill>
                <a:latin typeface="Consolas"/>
                <a:ea typeface="Consolas"/>
                <a:cs typeface="Consolas"/>
              </a:defRPr>
            </a:pP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"asset"</a:t>
            </a:r>
            <a:r>
              <a:rPr b="0">
                <a:solidFill>
                  <a:srgbClr val="263044"/>
                </a:solidFill>
              </a:rPr>
              <a:t>: </a:t>
            </a:r>
            <a:r>
              <a:rPr b="0">
                <a:solidFill>
                  <a:srgbClr val="B45309"/>
                </a:solidFill>
              </a:rPr>
              <a:t>"payment-ledger"</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"trustBoundary"</a:t>
            </a:r>
            <a:r>
              <a:rPr b="0">
                <a:solidFill>
                  <a:srgbClr val="263044"/>
                </a:solidFill>
              </a:rPr>
              <a:t>: </a:t>
            </a:r>
            <a:r>
              <a:rPr b="0">
                <a:solidFill>
                  <a:srgbClr val="B45309"/>
                </a:solidFill>
              </a:rPr>
              <a:t>"public-api"</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"threat"</a:t>
            </a:r>
            <a:r>
              <a:rPr b="0">
                <a:solidFill>
                  <a:srgbClr val="263044"/>
                </a:solidFill>
              </a:rPr>
              <a:t>: </a:t>
            </a:r>
            <a:r>
              <a:rPr b="0">
                <a:solidFill>
                  <a:srgbClr val="B45309"/>
                </a:solidFill>
              </a:rPr>
              <a:t>"forged-command"</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"control"</a:t>
            </a:r>
            <a:r>
              <a:rPr b="0">
                <a:solidFill>
                  <a:srgbClr val="263044"/>
                </a:solidFill>
              </a:rPr>
              <a:t>: </a:t>
            </a:r>
            <a:r>
              <a:rPr b="0">
                <a:solidFill>
                  <a:srgbClr val="B45309"/>
                </a:solidFill>
              </a:rPr>
              <a:t>"signature-validation"</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"test"</a:t>
            </a:r>
            <a:r>
              <a:rPr b="0">
                <a:solidFill>
                  <a:srgbClr val="263044"/>
                </a:solidFill>
              </a:rPr>
              <a:t>: </a:t>
            </a:r>
            <a:r>
              <a:rPr b="0">
                <a:solidFill>
                  <a:srgbClr val="B45309"/>
                </a:solidFill>
              </a:rPr>
              <a:t>"reject-invalid-signature"</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"residualRisk"</a:t>
            </a:r>
            <a:r>
              <a:rPr b="0">
                <a:solidFill>
                  <a:srgbClr val="263044"/>
                </a:solidFill>
              </a:rPr>
              <a:t>: </a:t>
            </a:r>
            <a:r>
              <a:rPr b="0">
                <a:solidFill>
                  <a:srgbClr val="B45309"/>
                </a:solidFill>
              </a:rPr>
              <a:t>"stolen-valid-key"</a:t>
            </a:r>
          </a:p>
          <a:p>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2B124AA0-B5EF-4661-9B89-ECCAE7F06BFE}"/>
              </a:ext>
            </a:extLst>
          </p:cNvPr>
          <p:cNvSpPr>
            <a:spLocks noGrp="1"/>
          </p:cNvSpPr>
          <p:nvPr/>
        </p:nvSpPr>
        <p:spPr>
          <a:xfrm>
            <a:off x="6648450" y="2152650"/>
            <a:ext cx="4591050" cy="1352550"/>
          </a:xfrm>
          <a:prstGeom prst="roundRect">
            <a:avLst>
              <a:gd name="adj" fmla="val 9859"/>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23D66697-FF62-499C-A6DC-31EA806E1D0D}"/>
              </a:ext>
            </a:extLst>
          </p:cNvPr>
          <p:cNvSpPr>
            <a:spLocks noGrp="1"/>
          </p:cNvSpPr>
          <p:nvPr/>
        </p:nvSpPr>
        <p:spPr>
          <a:xfrm>
            <a:off x="6800850" y="22764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a:ext uri="{FF2B5EF4-FFF2-40B4-BE49-F238E27FC236}">
                <a16:creationId xmlns:a16="http://schemas.microsoft.com/office/drawing/2014/main" id="{B91E58B9-D90F-4443-B89F-C79C734E3490}"/>
              </a:ext>
            </a:extLst>
          </p:cNvPr>
          <p:cNvSpPr>
            <a:spLocks noGrp="1"/>
          </p:cNvSpPr>
          <p:nvPr/>
        </p:nvSpPr>
        <p:spPr>
          <a:xfrm>
            <a:off x="6800850" y="2524125"/>
            <a:ext cx="4286250" cy="342900"/>
          </a:xfrm>
          <a:prstGeom prst="rect">
            <a:avLst/>
          </a:prstGeom>
          <a:noFill/>
          <a:ln w="0">
            <a:noFill/>
          </a:ln>
        </p:spPr>
        <p:txBody>
          <a:bodyPr wrap="square" lIns="0" tIns="0" rIns="0" bIns="0" anchor="ctr">
            <a:normAutofit/>
          </a:bodyPr>
          <a:lstStyle/>
          <a:p>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a:ext uri="{FF2B5EF4-FFF2-40B4-BE49-F238E27FC236}">
                <a16:creationId xmlns:a16="http://schemas.microsoft.com/office/drawing/2014/main" id="{295EF2FB-AE1A-4B71-93F6-07AFA6AE7B1D}"/>
              </a:ext>
            </a:extLst>
          </p:cNvPr>
          <p:cNvSpPr>
            <a:spLocks noGrp="1"/>
          </p:cNvSpPr>
          <p:nvPr/>
        </p:nvSpPr>
        <p:spPr>
          <a:xfrm>
            <a:off x="6800850" y="2933700"/>
            <a:ext cx="4286250" cy="4667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a:ext uri="{FF2B5EF4-FFF2-40B4-BE49-F238E27FC236}">
                <a16:creationId xmlns:a16="http://schemas.microsoft.com/office/drawing/2014/main" id="{88823828-3CB9-42F7-A5FA-32795AC3931A}"/>
              </a:ext>
            </a:extLst>
          </p:cNvPr>
          <p:cNvSpPr>
            <a:spLocks noGrp="1"/>
          </p:cNvSpPr>
          <p:nvPr/>
        </p:nvSpPr>
        <p:spPr>
          <a:xfrm>
            <a:off x="6648450" y="3867150"/>
            <a:ext cx="4591050" cy="1428750"/>
          </a:xfrm>
          <a:prstGeom prst="roundRect">
            <a:avLst>
              <a:gd name="adj" fmla="val 9333"/>
            </a:avLst>
          </a:prstGeom>
          <a:solidFill>
            <a:srgbClr val="FFF0F0"/>
          </a:solidFill>
          <a:ln w="9525">
            <a:solidFill>
              <a:srgbClr val="D7DEE8"/>
            </a:solidFill>
            <a:prstDash val="solid"/>
          </a:ln>
        </p:spPr>
      </p:sp>
      <p:sp>
        <p:nvSpPr>
          <p:cNvPr id="18" name="Rectangle 17">
            <a:extLst>
              <a:ext uri="{FF2B5EF4-FFF2-40B4-BE49-F238E27FC236}">
                <a16:creationId xmlns:a16="http://schemas.microsoft.com/office/drawing/2014/main" id="{665B338D-53A3-49ED-833C-88766006C742}"/>
              </a:ext>
            </a:extLst>
          </p:cNvPr>
          <p:cNvSpPr>
            <a:spLocks noGrp="1"/>
          </p:cNvSpPr>
          <p:nvPr/>
        </p:nvSpPr>
        <p:spPr>
          <a:xfrm>
            <a:off x="6800850" y="39909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a:ext uri="{FF2B5EF4-FFF2-40B4-BE49-F238E27FC236}">
                <a16:creationId xmlns:a16="http://schemas.microsoft.com/office/drawing/2014/main" id="{E4633D62-DF65-45B2-A577-6DA4F467FCCE}"/>
              </a:ext>
            </a:extLst>
          </p:cNvPr>
          <p:cNvSpPr>
            <a:spLocks noGrp="1"/>
          </p:cNvSpPr>
          <p:nvPr/>
        </p:nvSpPr>
        <p:spPr>
          <a:xfrm>
            <a:off x="6800850" y="4238625"/>
            <a:ext cx="4286250" cy="3429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dirty="0" err="1">
                <a:solidFill>
                  <a:srgbClr val="1A202C"/>
                </a:solidFill>
                <a:latin typeface="Aptos"/>
                <a:ea typeface="Aptos"/>
                <a:cs typeface="Aptos"/>
              </a:rPr>
              <a:t>Лозинка</a:t>
            </a:r>
            <a:r>
              <a:rPr sz="1350" b="1" dirty="0">
                <a:solidFill>
                  <a:srgbClr val="1A202C"/>
                </a:solidFill>
                <a:latin typeface="Aptos"/>
                <a:ea typeface="Aptos"/>
                <a:cs typeface="Aptos"/>
              </a:rPr>
              <a:t>, </a:t>
            </a:r>
            <a:r>
              <a:rPr lang="sr-Cyrl-RS" sz="1350" b="1" dirty="0">
                <a:solidFill>
                  <a:srgbClr val="1A202C"/>
                </a:solidFill>
                <a:latin typeface="Aptos"/>
                <a:ea typeface="Aptos"/>
                <a:cs typeface="Aptos"/>
              </a:rPr>
              <a:t>токен</a:t>
            </a:r>
            <a:r>
              <a:rPr sz="1350" b="1" dirty="0">
                <a:solidFill>
                  <a:srgbClr val="1A202C"/>
                </a:solidFill>
                <a:latin typeface="Aptos"/>
                <a:ea typeface="Aptos"/>
                <a:cs typeface="Aptos"/>
              </a:rPr>
              <a:t>, </a:t>
            </a:r>
            <a:r>
              <a:rPr sz="1350" b="1" dirty="0" err="1">
                <a:solidFill>
                  <a:srgbClr val="1A202C"/>
                </a:solidFill>
                <a:latin typeface="Aptos"/>
                <a:ea typeface="Aptos"/>
                <a:cs typeface="Aptos"/>
              </a:rPr>
              <a:t>тајна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и</a:t>
            </a:r>
            <a:r>
              <a:rPr sz="1350" b="1" dirty="0">
                <a:solidFill>
                  <a:srgbClr val="1A202C"/>
                </a:solidFill>
                <a:latin typeface="Aptos"/>
                <a:ea typeface="Aptos"/>
                <a:cs typeface="Aptos"/>
              </a:rPr>
              <a:t> </a:t>
            </a:r>
            <a:r>
              <a:rPr sz="1350" b="1" dirty="0" err="1">
                <a:solidFill>
                  <a:srgbClr val="1A202C"/>
                </a:solidFill>
                <a:latin typeface="Aptos"/>
                <a:ea typeface="Aptos"/>
                <a:cs typeface="Aptos"/>
              </a:rPr>
              <a:t>сувишан</a:t>
            </a:r>
            <a:r>
              <a:rPr sz="1350" b="1" dirty="0">
                <a:solidFill>
                  <a:srgbClr val="1A202C"/>
                </a:solidFill>
                <a:latin typeface="Aptos"/>
                <a:ea typeface="Aptos"/>
                <a:cs typeface="Aptos"/>
              </a:rPr>
              <a:t> </a:t>
            </a:r>
            <a:r>
              <a:rPr sz="1350" b="1" dirty="0" err="1">
                <a:solidFill>
                  <a:srgbClr val="1A202C"/>
                </a:solidFill>
                <a:latin typeface="Aptos"/>
                <a:ea typeface="Aptos"/>
                <a:cs typeface="Aptos"/>
              </a:rPr>
              <a:t>садржај</a:t>
            </a:r>
            <a:endParaRPr sz="1350" b="1" dirty="0">
              <a:solidFill>
                <a:srgbClr val="1A202C"/>
              </a:solidFill>
              <a:latin typeface="Aptos"/>
              <a:ea typeface="Aptos"/>
              <a:cs typeface="Aptos"/>
            </a:endParaRPr>
          </a:p>
        </p:txBody>
      </p:sp>
      <p:sp>
        <p:nvSpPr>
          <p:cNvPr id="20" name="Rectangle 19">
            <a:extLst>
              <a:ext uri="{FF2B5EF4-FFF2-40B4-BE49-F238E27FC236}">
                <a16:creationId xmlns:a16="http://schemas.microsoft.com/office/drawing/2014/main" id="{286BFEAE-038A-4014-B42B-3A814C64BC15}"/>
              </a:ext>
            </a:extLst>
          </p:cNvPr>
          <p:cNvSpPr>
            <a:spLocks noGrp="1"/>
          </p:cNvSpPr>
          <p:nvPr/>
        </p:nvSpPr>
        <p:spPr>
          <a:xfrm>
            <a:off x="6800850" y="4648200"/>
            <a:ext cx="4286250" cy="5429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21076061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E37A7AA0-DF48-41C3-BCD0-5131C25DE048}"/>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51F8A4A-AA86-4C62-A908-2D4A06D5ED53}"/>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676BF8A-20D7-4463-B38E-6EC479E2735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a:ext uri="{FF2B5EF4-FFF2-40B4-BE49-F238E27FC236}">
                <a16:creationId xmlns:a16="http://schemas.microsoft.com/office/drawing/2014/main" id="{6E50B9E8-E78B-4024-BE61-CA54F52D2EB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Три грешке које треба препознати одмах</a:t>
            </a:r>
          </a:p>
        </p:txBody>
      </p:sp>
      <p:sp>
        <p:nvSpPr>
          <p:cNvPr id="5" name="Rectangle 4">
            <a:extLst>
              <a:ext uri="{FF2B5EF4-FFF2-40B4-BE49-F238E27FC236}">
                <a16:creationId xmlns:a16="http://schemas.microsoft.com/office/drawing/2014/main" id="{D303060A-D605-4434-8D9C-42858DA3A3B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Свака делује практично у првој итерацији, али касније постаје скривена безбедносна граница.</a:t>
            </a:r>
          </a:p>
        </p:txBody>
      </p:sp>
      <p:sp>
        <p:nvSpPr>
          <p:cNvPr id="6" name="Rounded Rectangle 5">
            <a:extLst>
              <a:ext uri="{FF2B5EF4-FFF2-40B4-BE49-F238E27FC236}">
                <a16:creationId xmlns:a16="http://schemas.microsoft.com/office/drawing/2014/main" id="{57968FBA-2BB2-4B77-9705-EC2D2450C315}"/>
              </a:ext>
            </a:extLst>
          </p:cNvPr>
          <p:cNvSpPr>
            <a:spLocks noGrp="1"/>
          </p:cNvSpPr>
          <p:nvPr/>
        </p:nvSpPr>
        <p:spPr>
          <a:xfrm>
            <a:off x="819150" y="2381250"/>
            <a:ext cx="3257550" cy="2381250"/>
          </a:xfrm>
          <a:prstGeom prst="roundRect">
            <a:avLst>
              <a:gd name="adj" fmla="val 5600"/>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82FEC79A-C93D-494A-8457-8D261BE37B69}"/>
              </a:ext>
            </a:extLst>
          </p:cNvPr>
          <p:cNvSpPr>
            <a:spLocks noGrp="1"/>
          </p:cNvSpPr>
          <p:nvPr/>
        </p:nvSpPr>
        <p:spPr>
          <a:xfrm>
            <a:off x="97155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a:ext uri="{FF2B5EF4-FFF2-40B4-BE49-F238E27FC236}">
                <a16:creationId xmlns:a16="http://schemas.microsoft.com/office/drawing/2014/main" id="{02C507EA-5F56-4CA8-AF2D-2EBB3B6919C4}"/>
              </a:ext>
            </a:extLst>
          </p:cNvPr>
          <p:cNvSpPr>
            <a:spLocks noGrp="1"/>
          </p:cNvSpPr>
          <p:nvPr/>
        </p:nvSpPr>
        <p:spPr>
          <a:xfrm>
            <a:off x="97155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Инвентар који постоји само ради евиденције, без власништва и значаја.</a:t>
            </a:r>
          </a:p>
        </p:txBody>
      </p:sp>
      <p:sp>
        <p:nvSpPr>
          <p:cNvPr id="9" name="Rectangle 8">
            <a:extLst>
              <a:ext uri="{FF2B5EF4-FFF2-40B4-BE49-F238E27FC236}">
                <a16:creationId xmlns:a16="http://schemas.microsoft.com/office/drawing/2014/main" id="{B6DF031D-3B09-4FE0-BCC7-71078756F8CE}"/>
              </a:ext>
            </a:extLst>
          </p:cNvPr>
          <p:cNvSpPr>
            <a:spLocks noGrp="1"/>
          </p:cNvSpPr>
          <p:nvPr/>
        </p:nvSpPr>
        <p:spPr>
          <a:xfrm>
            <a:off x="97155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a:ext uri="{FF2B5EF4-FFF2-40B4-BE49-F238E27FC236}">
                <a16:creationId xmlns:a16="http://schemas.microsoft.com/office/drawing/2014/main" id="{64C57849-F291-4EF8-AB8E-AF78B4A8030D}"/>
              </a:ext>
            </a:extLst>
          </p:cNvPr>
          <p:cNvSpPr>
            <a:spLocks noGrp="1"/>
          </p:cNvSpPr>
          <p:nvPr/>
        </p:nvSpPr>
        <p:spPr>
          <a:xfrm>
            <a:off x="4467225" y="2381250"/>
            <a:ext cx="3257550" cy="2381250"/>
          </a:xfrm>
          <a:prstGeom prst="roundRect">
            <a:avLst>
              <a:gd name="adj" fmla="val 5600"/>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6379CAD2-358E-4F43-9F67-8DB269A3FE0E}"/>
              </a:ext>
            </a:extLst>
          </p:cNvPr>
          <p:cNvSpPr>
            <a:spLocks noGrp="1"/>
          </p:cNvSpPr>
          <p:nvPr/>
        </p:nvSpPr>
        <p:spPr>
          <a:xfrm>
            <a:off x="4619625"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5D654379-5F4B-43BC-AD7D-2ACBB8C45DEC}"/>
              </a:ext>
            </a:extLst>
          </p:cNvPr>
          <p:cNvSpPr>
            <a:spLocks noGrp="1"/>
          </p:cNvSpPr>
          <p:nvPr/>
        </p:nvSpPr>
        <p:spPr>
          <a:xfrm>
            <a:off x="4619625"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Општи каталог претњи који није повезан са стварним системом.</a:t>
            </a:r>
          </a:p>
        </p:txBody>
      </p:sp>
      <p:sp>
        <p:nvSpPr>
          <p:cNvPr id="13" name="Rectangle 12">
            <a:extLst>
              <a:ext uri="{FF2B5EF4-FFF2-40B4-BE49-F238E27FC236}">
                <a16:creationId xmlns:a16="http://schemas.microsoft.com/office/drawing/2014/main" id="{C653CBE1-2573-456D-8C21-F5ACC759865E}"/>
              </a:ext>
            </a:extLst>
          </p:cNvPr>
          <p:cNvSpPr>
            <a:spLocks noGrp="1"/>
          </p:cNvSpPr>
          <p:nvPr/>
        </p:nvSpPr>
        <p:spPr>
          <a:xfrm>
            <a:off x="4619625"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a:ext uri="{FF2B5EF4-FFF2-40B4-BE49-F238E27FC236}">
                <a16:creationId xmlns:a16="http://schemas.microsoft.com/office/drawing/2014/main" id="{7F030F45-2B84-4CB4-A03B-DCAB565AF62C}"/>
              </a:ext>
            </a:extLst>
          </p:cNvPr>
          <p:cNvSpPr>
            <a:spLocks noGrp="1"/>
          </p:cNvSpPr>
          <p:nvPr/>
        </p:nvSpPr>
        <p:spPr>
          <a:xfrm>
            <a:off x="8115300" y="2381250"/>
            <a:ext cx="3257550" cy="2381250"/>
          </a:xfrm>
          <a:prstGeom prst="roundRect">
            <a:avLst>
              <a:gd name="adj" fmla="val 5600"/>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09BBEFA4-3191-40DE-BD4E-DDCBFD6E5F74}"/>
              </a:ext>
            </a:extLst>
          </p:cNvPr>
          <p:cNvSpPr>
            <a:spLocks noGrp="1"/>
          </p:cNvSpPr>
          <p:nvPr/>
        </p:nvSpPr>
        <p:spPr>
          <a:xfrm>
            <a:off x="826770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9CAF5DF8-CCEB-4FF8-B7AC-1094C10A6CED}"/>
              </a:ext>
            </a:extLst>
          </p:cNvPr>
          <p:cNvSpPr>
            <a:spLocks noGrp="1"/>
          </p:cNvSpPr>
          <p:nvPr/>
        </p:nvSpPr>
        <p:spPr>
          <a:xfrm>
            <a:off x="826770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Контрола изабрана пре разумевања ризика који треба да смањи.</a:t>
            </a:r>
          </a:p>
        </p:txBody>
      </p:sp>
      <p:sp>
        <p:nvSpPr>
          <p:cNvPr id="17" name="Rectangle 16">
            <a:extLst>
              <a:ext uri="{FF2B5EF4-FFF2-40B4-BE49-F238E27FC236}">
                <a16:creationId xmlns:a16="http://schemas.microsoft.com/office/drawing/2014/main" id="{ABE4ECBA-5501-445A-AFF7-BC7C6C22E0A9}"/>
              </a:ext>
            </a:extLst>
          </p:cNvPr>
          <p:cNvSpPr>
            <a:spLocks noGrp="1"/>
          </p:cNvSpPr>
          <p:nvPr/>
        </p:nvSpPr>
        <p:spPr>
          <a:xfrm>
            <a:off x="826770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525818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1C8E762-2F51-44B8-AC5F-6B31E89B2E65}"/>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08223DD0-F843-4BE9-9930-A90BBA3F298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D59C6AA-A2D4-4F4E-AFFA-D5CE2EF311B3}"/>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a:ext uri="{FF2B5EF4-FFF2-40B4-BE49-F238E27FC236}">
                <a16:creationId xmlns:a16="http://schemas.microsoft.com/office/drawing/2014/main" id="{7BCAC43A-9AF7-40EE-B9B3-36840DD5CE2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dirty="0" err="1">
                <a:solidFill>
                  <a:srgbClr val="1A202C"/>
                </a:solidFill>
                <a:latin typeface="Aptos Display"/>
                <a:ea typeface="Aptos Display"/>
                <a:cs typeface="Aptos Display"/>
              </a:rPr>
              <a:t>Како</a:t>
            </a:r>
            <a:r>
              <a:rPr sz="2550" b="1" dirty="0">
                <a:solidFill>
                  <a:srgbClr val="1A202C"/>
                </a:solidFill>
                <a:latin typeface="Aptos Display"/>
                <a:ea typeface="Aptos Display"/>
                <a:cs typeface="Aptos Display"/>
              </a:rPr>
              <a:t> </a:t>
            </a:r>
            <a:r>
              <a:rPr lang="sr-Latn-RS" sz="2550" b="1" dirty="0" err="1">
                <a:solidFill>
                  <a:srgbClr val="1A202C"/>
                </a:solidFill>
                <a:latin typeface="Aptos Display"/>
                <a:ea typeface="Aptos Display"/>
                <a:cs typeface="Aptos Display"/>
              </a:rPr>
              <a:t>threat</a:t>
            </a:r>
            <a:r>
              <a:rPr sz="2550" b="1" dirty="0">
                <a:solidFill>
                  <a:srgbClr val="1A202C"/>
                </a:solidFill>
                <a:latin typeface="Aptos Display"/>
                <a:ea typeface="Aptos Display"/>
                <a:cs typeface="Aptos Display"/>
              </a:rPr>
              <a:t> </a:t>
            </a:r>
            <a:r>
              <a:rPr sz="2550" b="1" dirty="0" err="1">
                <a:solidFill>
                  <a:srgbClr val="1A202C"/>
                </a:solidFill>
                <a:latin typeface="Aptos Display"/>
                <a:ea typeface="Aptos Display"/>
                <a:cs typeface="Aptos Display"/>
              </a:rPr>
              <a:t>модел</a:t>
            </a:r>
            <a:r>
              <a:rPr sz="2550" b="1" dirty="0">
                <a:solidFill>
                  <a:srgbClr val="1A202C"/>
                </a:solidFill>
                <a:latin typeface="Aptos Display"/>
                <a:ea typeface="Aptos Display"/>
                <a:cs typeface="Aptos Display"/>
              </a:rPr>
              <a:t> </a:t>
            </a:r>
            <a:r>
              <a:rPr sz="2550" b="1" dirty="0" err="1">
                <a:solidFill>
                  <a:srgbClr val="1A202C"/>
                </a:solidFill>
                <a:latin typeface="Aptos Display"/>
                <a:ea typeface="Aptos Display"/>
                <a:cs typeface="Aptos Display"/>
              </a:rPr>
              <a:t>остаје</a:t>
            </a:r>
            <a:r>
              <a:rPr sz="2550" b="1" dirty="0">
                <a:solidFill>
                  <a:srgbClr val="1A202C"/>
                </a:solidFill>
                <a:latin typeface="Aptos Display"/>
                <a:ea typeface="Aptos Display"/>
                <a:cs typeface="Aptos Display"/>
              </a:rPr>
              <a:t> </a:t>
            </a:r>
            <a:r>
              <a:rPr lang="sr-Cyrl-RS" sz="2550" b="1" dirty="0">
                <a:solidFill>
                  <a:srgbClr val="1A202C"/>
                </a:solidFill>
                <a:latin typeface="Aptos Display"/>
                <a:ea typeface="Aptos Display"/>
                <a:cs typeface="Aptos Display"/>
              </a:rPr>
              <a:t>користан</a:t>
            </a:r>
            <a:r>
              <a:rPr sz="2550" b="1" dirty="0">
                <a:solidFill>
                  <a:srgbClr val="1A202C"/>
                </a:solidFill>
                <a:latin typeface="Aptos Display"/>
                <a:ea typeface="Aptos Display"/>
                <a:cs typeface="Aptos Display"/>
              </a:rPr>
              <a:t> </a:t>
            </a:r>
            <a:r>
              <a:rPr sz="2550" b="1" dirty="0" err="1">
                <a:solidFill>
                  <a:srgbClr val="1A202C"/>
                </a:solidFill>
                <a:latin typeface="Aptos Display"/>
                <a:ea typeface="Aptos Display"/>
                <a:cs typeface="Aptos Display"/>
              </a:rPr>
              <a:t>документ</a:t>
            </a:r>
            <a:endParaRPr sz="2550" b="1" dirty="0">
              <a:solidFill>
                <a:srgbClr val="1A202C"/>
              </a:solidFill>
              <a:latin typeface="Aptos Display"/>
              <a:ea typeface="Aptos Display"/>
              <a:cs typeface="Aptos Display"/>
            </a:endParaRPr>
          </a:p>
        </p:txBody>
      </p:sp>
      <p:sp>
        <p:nvSpPr>
          <p:cNvPr id="5" name="Rectangle 4">
            <a:extLst>
              <a:ext uri="{FF2B5EF4-FFF2-40B4-BE49-F238E27FC236}">
                <a16:creationId xmlns:a16="http://schemas.microsoft.com/office/drawing/2014/main" id="{AFBE0340-9967-4A75-8305-75091C806DB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Добар доказ је свеж, поновљив и довољно јасан да га други члан тима протумачи.</a:t>
            </a:r>
          </a:p>
        </p:txBody>
      </p:sp>
      <p:sp>
        <p:nvSpPr>
          <p:cNvPr id="6" name="Rounded Rectangle 5">
            <a:extLst>
              <a:ext uri="{FF2B5EF4-FFF2-40B4-BE49-F238E27FC236}">
                <a16:creationId xmlns:a16="http://schemas.microsoft.com/office/drawing/2014/main" id="{AA935A60-4CDD-4B1C-BB7D-7070D3BB49A9}"/>
              </a:ext>
            </a:extLst>
          </p:cNvPr>
          <p:cNvSpPr>
            <a:spLocks noGrp="1"/>
          </p:cNvSpPr>
          <p:nvPr/>
        </p:nvSpPr>
        <p:spPr>
          <a:xfrm>
            <a:off x="781050" y="2152650"/>
            <a:ext cx="4476750" cy="2314575"/>
          </a:xfrm>
          <a:prstGeom prst="roundRect">
            <a:avLst>
              <a:gd name="adj" fmla="val 4294"/>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C6C12746-9FFA-4725-BB42-A0D72044A269}"/>
              </a:ext>
            </a:extLst>
          </p:cNvPr>
          <p:cNvSpPr>
            <a:spLocks noGrp="1"/>
          </p:cNvSpPr>
          <p:nvPr/>
        </p:nvSpPr>
        <p:spPr>
          <a:xfrm>
            <a:off x="933450" y="2276475"/>
            <a:ext cx="41719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a:ext uri="{FF2B5EF4-FFF2-40B4-BE49-F238E27FC236}">
                <a16:creationId xmlns:a16="http://schemas.microsoft.com/office/drawing/2014/main" id="{33843487-E1EB-42F7-BE4A-DF4ABC21FD14}"/>
              </a:ext>
            </a:extLst>
          </p:cNvPr>
          <p:cNvSpPr>
            <a:spLocks noGrp="1"/>
          </p:cNvSpPr>
          <p:nvPr/>
        </p:nvSpPr>
        <p:spPr>
          <a:xfrm>
            <a:off x="933450" y="2524125"/>
            <a:ext cx="4171950" cy="55245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Како тхреат модел остаје жив документ</a:t>
            </a:r>
          </a:p>
        </p:txBody>
      </p:sp>
      <p:sp>
        <p:nvSpPr>
          <p:cNvPr id="9" name="Rectangle 8">
            <a:extLst>
              <a:ext uri="{FF2B5EF4-FFF2-40B4-BE49-F238E27FC236}">
                <a16:creationId xmlns:a16="http://schemas.microsoft.com/office/drawing/2014/main" id="{BB030080-1E15-43E9-A52B-00C9A09C33C9}"/>
              </a:ext>
            </a:extLst>
          </p:cNvPr>
          <p:cNvSpPr>
            <a:spLocks noGrp="1"/>
          </p:cNvSpPr>
          <p:nvPr/>
        </p:nvSpPr>
        <p:spPr>
          <a:xfrm>
            <a:off x="933450" y="3143250"/>
            <a:ext cx="4171950" cy="20097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Модел претњи није документ који се напише једном на почетку семестра. Мења се када се дода нови улаз, интеграција, начин чувања података или привилегована радња. Свака већа архитектонска промена је прилика да се провери да ли су старе претпоставке и даље тачне.</a:t>
            </a:r>
          </a:p>
        </p:txBody>
      </p:sp>
      <p:sp>
        <p:nvSpPr>
          <p:cNvPr id="10" name="Rounded Rectangle 9">
            <a:extLst>
              <a:ext uri="{FF2B5EF4-FFF2-40B4-BE49-F238E27FC236}">
                <a16:creationId xmlns:a16="http://schemas.microsoft.com/office/drawing/2014/main" id="{ED20E0EE-F08C-465A-9888-36205AB45D95}"/>
              </a:ext>
            </a:extLst>
          </p:cNvPr>
          <p:cNvSpPr>
            <a:spLocks noGrp="1"/>
          </p:cNvSpPr>
          <p:nvPr/>
        </p:nvSpPr>
        <p:spPr>
          <a:xfrm>
            <a:off x="5676900" y="2152650"/>
            <a:ext cx="5734050" cy="828675"/>
          </a:xfrm>
          <a:prstGeom prst="roundRect">
            <a:avLst>
              <a:gd name="adj" fmla="val 16092"/>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47BCE613-65BC-4AC0-AE6A-5A4EDDFB2C38}"/>
              </a:ext>
            </a:extLst>
          </p:cNvPr>
          <p:cNvSpPr>
            <a:spLocks noGrp="1"/>
          </p:cNvSpPr>
          <p:nvPr/>
        </p:nvSpPr>
        <p:spPr>
          <a:xfrm>
            <a:off x="5829300" y="227647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8A4831A1-F248-4B06-BE61-AAECFC2603A8}"/>
              </a:ext>
            </a:extLst>
          </p:cNvPr>
          <p:cNvSpPr>
            <a:spLocks noGrp="1"/>
          </p:cNvSpPr>
          <p:nvPr/>
        </p:nvSpPr>
        <p:spPr>
          <a:xfrm>
            <a:off x="5829300" y="252412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Дијаграм се ажурира када ток података или граница поверења стварно промени понашање система.</a:t>
            </a:r>
          </a:p>
        </p:txBody>
      </p:sp>
      <p:sp>
        <p:nvSpPr>
          <p:cNvPr id="13" name="Rounded Rectangle 12">
            <a:extLst>
              <a:ext uri="{FF2B5EF4-FFF2-40B4-BE49-F238E27FC236}">
                <a16:creationId xmlns:a16="http://schemas.microsoft.com/office/drawing/2014/main" id="{1D5E9E9A-EA95-4FE2-8B1E-B54ED7173AE7}"/>
              </a:ext>
            </a:extLst>
          </p:cNvPr>
          <p:cNvSpPr>
            <a:spLocks noGrp="1"/>
          </p:cNvSpPr>
          <p:nvPr/>
        </p:nvSpPr>
        <p:spPr>
          <a:xfrm>
            <a:off x="5676900" y="3152775"/>
            <a:ext cx="5734050" cy="828675"/>
          </a:xfrm>
          <a:prstGeom prst="roundRect">
            <a:avLst>
              <a:gd name="adj" fmla="val 16092"/>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C0357B98-6EB2-403A-AAEA-9441D6C22F00}"/>
              </a:ext>
            </a:extLst>
          </p:cNvPr>
          <p:cNvSpPr>
            <a:spLocks noGrp="1"/>
          </p:cNvSpPr>
          <p:nvPr/>
        </p:nvSpPr>
        <p:spPr>
          <a:xfrm>
            <a:off x="5829300" y="3276600"/>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EF85D4B1-20D5-4CD2-B97D-D29E1F32B4DE}"/>
              </a:ext>
            </a:extLst>
          </p:cNvPr>
          <p:cNvSpPr>
            <a:spLocks noGrp="1"/>
          </p:cNvSpPr>
          <p:nvPr/>
        </p:nvSpPr>
        <p:spPr>
          <a:xfrm>
            <a:off x="5829300" y="3524250"/>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За одабрани сценарио постоји веза до контроле, теста или прегледа који га проверава.</a:t>
            </a:r>
          </a:p>
        </p:txBody>
      </p:sp>
      <p:sp>
        <p:nvSpPr>
          <p:cNvPr id="16" name="Rounded Rectangle 15">
            <a:extLst>
              <a:ext uri="{FF2B5EF4-FFF2-40B4-BE49-F238E27FC236}">
                <a16:creationId xmlns:a16="http://schemas.microsoft.com/office/drawing/2014/main" id="{82799DB8-CB0F-4B50-8141-386CB52BB183}"/>
              </a:ext>
            </a:extLst>
          </p:cNvPr>
          <p:cNvSpPr>
            <a:spLocks noGrp="1"/>
          </p:cNvSpPr>
          <p:nvPr/>
        </p:nvSpPr>
        <p:spPr>
          <a:xfrm>
            <a:off x="5676900" y="4152900"/>
            <a:ext cx="5734050" cy="828675"/>
          </a:xfrm>
          <a:prstGeom prst="roundRect">
            <a:avLst>
              <a:gd name="adj" fmla="val 16092"/>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576CD7B3-E1DC-46ED-AD7E-14800E834EF9}"/>
              </a:ext>
            </a:extLst>
          </p:cNvPr>
          <p:cNvSpPr>
            <a:spLocks noGrp="1"/>
          </p:cNvSpPr>
          <p:nvPr/>
        </p:nvSpPr>
        <p:spPr>
          <a:xfrm>
            <a:off x="5829300" y="427672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a:ext uri="{FF2B5EF4-FFF2-40B4-BE49-F238E27FC236}">
                <a16:creationId xmlns:a16="http://schemas.microsoft.com/office/drawing/2014/main" id="{623256AD-6642-4A46-8FCA-97E715223EDE}"/>
              </a:ext>
            </a:extLst>
          </p:cNvPr>
          <p:cNvSpPr>
            <a:spLocks noGrp="1"/>
          </p:cNvSpPr>
          <p:nvPr/>
        </p:nvSpPr>
        <p:spPr>
          <a:xfrm>
            <a:off x="5829300" y="452437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Преостали ризик се записује јасно, уместо да се претвара да ниједна претња више не постоји.</a:t>
            </a:r>
          </a:p>
        </p:txBody>
      </p:sp>
    </p:spTree>
    <p:extLst>
      <p:ext uri="{BB962C8B-B14F-4D97-AF65-F5344CB8AC3E}">
        <p14:creationId xmlns:p14="http://schemas.microsoft.com/office/powerpoint/2010/main" val="7412155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059C8397-544D-4448-B404-C00489F6F86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A22A439E-F7E9-46E9-9CE2-10A33A4B1F0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A28BB7DA-155E-4944-9BD7-394D813B424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a:ext uri="{FF2B5EF4-FFF2-40B4-BE49-F238E27FC236}">
                <a16:creationId xmlns:a16="http://schemas.microsoft.com/office/drawing/2014/main" id="{71E293F6-1363-49CA-8F05-D58D7F9B60EF}"/>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Мини вежба за пројекат</a:t>
            </a:r>
          </a:p>
        </p:txBody>
      </p:sp>
      <p:sp>
        <p:nvSpPr>
          <p:cNvPr id="5" name="Rectangle 4">
            <a:extLst>
              <a:ext uri="{FF2B5EF4-FFF2-40B4-BE49-F238E27FC236}">
                <a16:creationId xmlns:a16="http://schemas.microsoft.com/office/drawing/2014/main" id="{952FAEE9-B944-406D-94A6-AA6769DC206C}"/>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 једном сценарију повежите одлуку, имплементацију, негативни тест и доказ.</a:t>
            </a:r>
          </a:p>
        </p:txBody>
      </p:sp>
      <p:sp>
        <p:nvSpPr>
          <p:cNvPr id="6" name="Rounded Rectangle 5">
            <a:extLst>
              <a:ext uri="{FF2B5EF4-FFF2-40B4-BE49-F238E27FC236}">
                <a16:creationId xmlns:a16="http://schemas.microsoft.com/office/drawing/2014/main" id="{58528E44-B418-45F8-A88C-DA6C8A1DA600}"/>
              </a:ext>
            </a:extLst>
          </p:cNvPr>
          <p:cNvSpPr>
            <a:spLocks noGrp="1"/>
          </p:cNvSpPr>
          <p:nvPr/>
        </p:nvSpPr>
        <p:spPr>
          <a:xfrm>
            <a:off x="800100" y="2400300"/>
            <a:ext cx="24336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B3C3677C-18C1-4CFA-A965-6DC7F412C805}"/>
              </a:ext>
            </a:extLst>
          </p:cNvPr>
          <p:cNvSpPr>
            <a:spLocks noGrp="1"/>
          </p:cNvSpPr>
          <p:nvPr/>
        </p:nvSpPr>
        <p:spPr>
          <a:xfrm>
            <a:off x="942975"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B82EBE9C-3E79-407E-8571-A27269982550}"/>
              </a:ext>
            </a:extLst>
          </p:cNvPr>
          <p:cNvSpPr>
            <a:spLocks noGrp="1"/>
          </p:cNvSpPr>
          <p:nvPr/>
        </p:nvSpPr>
        <p:spPr>
          <a:xfrm>
            <a:off x="933450"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Изаберите сценарио</a:t>
            </a:r>
          </a:p>
        </p:txBody>
      </p:sp>
      <p:sp>
        <p:nvSpPr>
          <p:cNvPr id="9" name="Rectangle 8">
            <a:extLst>
              <a:ext uri="{FF2B5EF4-FFF2-40B4-BE49-F238E27FC236}">
                <a16:creationId xmlns:a16="http://schemas.microsoft.com/office/drawing/2014/main" id="{0EF312AC-1347-43E4-93EB-3B25D72EE957}"/>
              </a:ext>
            </a:extLst>
          </p:cNvPr>
          <p:cNvSpPr>
            <a:spLocks noGrp="1"/>
          </p:cNvSpPr>
          <p:nvPr/>
        </p:nvSpPr>
        <p:spPr>
          <a:xfrm>
            <a:off x="942975"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a:ext uri="{FF2B5EF4-FFF2-40B4-BE49-F238E27FC236}">
                <a16:creationId xmlns:a16="http://schemas.microsoft.com/office/drawing/2014/main" id="{91756EC0-4AAF-4690-86F4-8A69185EE65F}"/>
              </a:ext>
            </a:extLst>
          </p:cNvPr>
          <p:cNvSpPr>
            <a:spLocks noGrp="1"/>
          </p:cNvSpPr>
          <p:nvPr/>
        </p:nvSpPr>
        <p:spPr>
          <a:xfrm>
            <a:off x="3519488" y="2400300"/>
            <a:ext cx="24336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90311B58-509F-4409-B568-DCC87402D533}"/>
              </a:ext>
            </a:extLst>
          </p:cNvPr>
          <p:cNvSpPr>
            <a:spLocks noGrp="1"/>
          </p:cNvSpPr>
          <p:nvPr/>
        </p:nvSpPr>
        <p:spPr>
          <a:xfrm>
            <a:off x="3662363"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2A062823-403D-41B5-938C-6FAA357A933A}"/>
              </a:ext>
            </a:extLst>
          </p:cNvPr>
          <p:cNvSpPr>
            <a:spLocks noGrp="1"/>
          </p:cNvSpPr>
          <p:nvPr/>
        </p:nvSpPr>
        <p:spPr>
          <a:xfrm>
            <a:off x="3652838"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Именујте правило</a:t>
            </a:r>
          </a:p>
        </p:txBody>
      </p:sp>
      <p:sp>
        <p:nvSpPr>
          <p:cNvPr id="13" name="Rectangle 12">
            <a:extLst>
              <a:ext uri="{FF2B5EF4-FFF2-40B4-BE49-F238E27FC236}">
                <a16:creationId xmlns:a16="http://schemas.microsoft.com/office/drawing/2014/main" id="{6E439D29-83CC-4908-9E64-623D64127732}"/>
              </a:ext>
            </a:extLst>
          </p:cNvPr>
          <p:cNvSpPr>
            <a:spLocks noGrp="1"/>
          </p:cNvSpPr>
          <p:nvPr/>
        </p:nvSpPr>
        <p:spPr>
          <a:xfrm>
            <a:off x="3662363"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a:ext uri="{FF2B5EF4-FFF2-40B4-BE49-F238E27FC236}">
                <a16:creationId xmlns:a16="http://schemas.microsoft.com/office/drawing/2014/main" id="{9D9EDD0E-2A3B-454F-8CEA-89E0A6FB5A7D}"/>
              </a:ext>
            </a:extLst>
          </p:cNvPr>
          <p:cNvSpPr>
            <a:spLocks noGrp="1"/>
          </p:cNvSpPr>
          <p:nvPr/>
        </p:nvSpPr>
        <p:spPr>
          <a:xfrm>
            <a:off x="6238875" y="2400300"/>
            <a:ext cx="24336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045C7862-8AF1-479E-B7F9-069FA611E36F}"/>
              </a:ext>
            </a:extLst>
          </p:cNvPr>
          <p:cNvSpPr>
            <a:spLocks noGrp="1"/>
          </p:cNvSpPr>
          <p:nvPr/>
        </p:nvSpPr>
        <p:spPr>
          <a:xfrm>
            <a:off x="6381750"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B6DA7584-BBC0-4A94-B38C-2863796D5B25}"/>
              </a:ext>
            </a:extLst>
          </p:cNvPr>
          <p:cNvSpPr>
            <a:spLocks noGrp="1"/>
          </p:cNvSpPr>
          <p:nvPr/>
        </p:nvSpPr>
        <p:spPr>
          <a:xfrm>
            <a:off x="6372225"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Напишите денy тест</a:t>
            </a:r>
          </a:p>
        </p:txBody>
      </p:sp>
      <p:sp>
        <p:nvSpPr>
          <p:cNvPr id="17" name="Rectangle 16">
            <a:extLst>
              <a:ext uri="{FF2B5EF4-FFF2-40B4-BE49-F238E27FC236}">
                <a16:creationId xmlns:a16="http://schemas.microsoft.com/office/drawing/2014/main" id="{F889F40A-9BA5-48EF-A9CC-FCDC9D69693F}"/>
              </a:ext>
            </a:extLst>
          </p:cNvPr>
          <p:cNvSpPr>
            <a:spLocks noGrp="1"/>
          </p:cNvSpPr>
          <p:nvPr/>
        </p:nvSpPr>
        <p:spPr>
          <a:xfrm>
            <a:off x="6381750"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a:ext uri="{FF2B5EF4-FFF2-40B4-BE49-F238E27FC236}">
                <a16:creationId xmlns:a16="http://schemas.microsoft.com/office/drawing/2014/main" id="{A6FB1937-37AA-48C2-AE04-247F3B0700DC}"/>
              </a:ext>
            </a:extLst>
          </p:cNvPr>
          <p:cNvSpPr>
            <a:spLocks noGrp="1"/>
          </p:cNvSpPr>
          <p:nvPr/>
        </p:nvSpPr>
        <p:spPr>
          <a:xfrm>
            <a:off x="8958263" y="2400300"/>
            <a:ext cx="24336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3D56D1BE-ED2B-4F15-94A4-F58CDDFDCABB}"/>
              </a:ext>
            </a:extLst>
          </p:cNvPr>
          <p:cNvSpPr>
            <a:spLocks noGrp="1"/>
          </p:cNvSpPr>
          <p:nvPr/>
        </p:nvSpPr>
        <p:spPr>
          <a:xfrm>
            <a:off x="9101138"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E5940256-EB17-4A8B-BDD9-BB0B866C51DE}"/>
              </a:ext>
            </a:extLst>
          </p:cNvPr>
          <p:cNvSpPr>
            <a:spLocks noGrp="1"/>
          </p:cNvSpPr>
          <p:nvPr/>
        </p:nvSpPr>
        <p:spPr>
          <a:xfrm>
            <a:off x="9091613"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Сачувајте доказ</a:t>
            </a:r>
          </a:p>
        </p:txBody>
      </p:sp>
      <p:sp>
        <p:nvSpPr>
          <p:cNvPr id="21" name="Rectangle 20">
            <a:extLst>
              <a:ext uri="{FF2B5EF4-FFF2-40B4-BE49-F238E27FC236}">
                <a16:creationId xmlns:a16="http://schemas.microsoft.com/office/drawing/2014/main" id="{2D0BAF4E-5B08-4127-A61B-B5B2D81AC474}"/>
              </a:ext>
            </a:extLst>
          </p:cNvPr>
          <p:cNvSpPr>
            <a:spLocks noGrp="1"/>
          </p:cNvSpPr>
          <p:nvPr/>
        </p:nvSpPr>
        <p:spPr>
          <a:xfrm>
            <a:off x="9101138"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125" name="Straight Arrow Connector 124"/>
          <p:cNvCxnSpPr>
            <a:stCxn id="6" idx="3"/>
            <a:endCxn id="10" idx="1"/>
          </p:cNvCxnSpPr>
          <p:nvPr/>
        </p:nvCxnSpPr>
        <p:spPr>
          <a:xfrm>
            <a:off x="3233738" y="302895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2895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672513" y="30289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47EA9EB5-AF9E-42C9-A4A6-54C80D8BDD4B}"/>
              </a:ext>
            </a:extLst>
          </p:cNvPr>
          <p:cNvSpPr>
            <a:spLocks noGrp="1"/>
          </p:cNvSpPr>
          <p:nvPr/>
        </p:nvSpPr>
        <p:spPr>
          <a:xfrm>
            <a:off x="1619250" y="4305300"/>
            <a:ext cx="8953500" cy="914400"/>
          </a:xfrm>
          <a:prstGeom prst="roundRect">
            <a:avLst>
              <a:gd name="adj" fmla="val 13542"/>
            </a:avLst>
          </a:prstGeom>
          <a:solidFill>
            <a:srgbClr val="FFF6E9"/>
          </a:solidFill>
          <a:ln w="9525">
            <a:solidFill>
              <a:srgbClr val="D7DEE8"/>
            </a:solidFill>
            <a:prstDash val="solid"/>
          </a:ln>
        </p:spPr>
      </p:sp>
      <p:sp>
        <p:nvSpPr>
          <p:cNvPr id="26" name="Rounded Rectangle 25">
            <a:extLst>
              <a:ext uri="{FF2B5EF4-FFF2-40B4-BE49-F238E27FC236}">
                <a16:creationId xmlns:a16="http://schemas.microsoft.com/office/drawing/2014/main" id="{019F0573-6B0C-4C9A-A1A0-AB80AC544D1E}"/>
              </a:ext>
            </a:extLst>
          </p:cNvPr>
          <p:cNvSpPr>
            <a:spLocks noGrp="1"/>
          </p:cNvSpPr>
          <p:nvPr/>
        </p:nvSpPr>
        <p:spPr>
          <a:xfrm>
            <a:off x="1752600" y="4448175"/>
            <a:ext cx="57150" cy="628650"/>
          </a:xfrm>
          <a:prstGeom prst="roundRect">
            <a:avLst>
              <a:gd name="adj" fmla="val 50000"/>
            </a:avLst>
          </a:prstGeom>
          <a:solidFill>
            <a:srgbClr val="B86A09"/>
          </a:solidFill>
          <a:ln w="0">
            <a:noFill/>
          </a:ln>
        </p:spPr>
      </p:sp>
      <p:sp>
        <p:nvSpPr>
          <p:cNvPr id="76" name="Rounded Rectangle 75">
            <a:extLst>
              <a:ext uri="{FF2B5EF4-FFF2-40B4-BE49-F238E27FC236}">
                <a16:creationId xmlns:a16="http://schemas.microsoft.com/office/drawing/2014/main" id="{E78D4A8B-F7C9-4CC5-9C6A-FE570BCBDFE8}"/>
              </a:ext>
            </a:extLst>
          </p:cNvPr>
          <p:cNvSpPr>
            <a:spLocks noGrp="1"/>
          </p:cNvSpPr>
          <p:nvPr/>
        </p:nvSpPr>
        <p:spPr>
          <a:xfrm>
            <a:off x="914400" y="4267200"/>
            <a:ext cx="10363200" cy="990600"/>
          </a:xfrm>
          <a:prstGeom prst="roundRect">
            <a:avLst>
              <a:gd name="adj" fmla="val 13462"/>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5B9A9A1E-27A4-423E-B857-25FB5DE4EAA9}"/>
              </a:ext>
            </a:extLst>
          </p:cNvPr>
          <p:cNvSpPr>
            <a:spLocks noGrp="1"/>
          </p:cNvSpPr>
          <p:nvPr/>
        </p:nvSpPr>
        <p:spPr>
          <a:xfrm>
            <a:off x="1085850" y="4419600"/>
            <a:ext cx="57150" cy="6858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73FF7C9C-3D9F-4395-9FBA-A331B19E17A2}"/>
              </a:ext>
            </a:extLst>
          </p:cNvPr>
          <p:cNvSpPr>
            <a:spLocks noGrp="1"/>
          </p:cNvSpPr>
          <p:nvPr/>
        </p:nvSpPr>
        <p:spPr>
          <a:xfrm>
            <a:off x="1333500" y="43719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 ЗА ПРОЈЕКАТ</a:t>
            </a:r>
          </a:p>
        </p:txBody>
      </p:sp>
      <p:sp>
        <p:nvSpPr>
          <p:cNvPr id="79" name="Rectangle 78">
            <a:extLst>
              <a:ext uri="{FF2B5EF4-FFF2-40B4-BE49-F238E27FC236}">
                <a16:creationId xmlns:a16="http://schemas.microsoft.com/office/drawing/2014/main" id="{2E4E1E8C-BE57-4DFE-B8C9-74272CA2CC0E}"/>
              </a:ext>
            </a:extLst>
          </p:cNvPr>
          <p:cNvSpPr>
            <a:spLocks noGrp="1"/>
          </p:cNvSpPr>
          <p:nvPr/>
        </p:nvSpPr>
        <p:spPr>
          <a:xfrm>
            <a:off x="1333500" y="4600575"/>
            <a:ext cx="9639300" cy="5524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Примените тему „Имовина, границе поверења и threat modeling“ на додељену пројектну целину и припремите доказ који други члан тима може да понови.</a:t>
            </a:r>
          </a:p>
        </p:txBody>
      </p:sp>
    </p:spTree>
    <p:extLst>
      <p:ext uri="{BB962C8B-B14F-4D97-AF65-F5344CB8AC3E}">
        <p14:creationId xmlns:p14="http://schemas.microsoft.com/office/powerpoint/2010/main" val="1499282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A3DD8E0-EC79-4168-BE28-3074BDFB8BA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01987EC-E50F-4427-AF41-9AB76BDDC9B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F0583075-68C7-4719-9D1F-8582760EE4C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a:ext uri="{FF2B5EF4-FFF2-40B4-BE49-F238E27FC236}">
                <a16:creationId xmlns:a16="http://schemas.microsoft.com/office/drawing/2014/main" id="{8BF83094-885E-4610-9B97-7F4ECCB913D0}"/>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a:ext uri="{FF2B5EF4-FFF2-40B4-BE49-F238E27FC236}">
                <a16:creationId xmlns:a16="http://schemas.microsoft.com/office/drawing/2014/main" id="{565DD88D-FA23-4D15-B3AD-FF1C57480BB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је савладана када одлуку можете да објасните без ослањања на назив framework-а.</a:t>
            </a:r>
          </a:p>
        </p:txBody>
      </p:sp>
      <p:sp>
        <p:nvSpPr>
          <p:cNvPr id="6" name="Rounded Rectangle 5">
            <a:extLst>
              <a:ext uri="{FF2B5EF4-FFF2-40B4-BE49-F238E27FC236}">
                <a16:creationId xmlns:a16="http://schemas.microsoft.com/office/drawing/2014/main" id="{501EBB39-B51C-478B-841F-8A368A1C62F3}"/>
              </a:ext>
            </a:extLst>
          </p:cNvPr>
          <p:cNvSpPr>
            <a:spLocks noGrp="1"/>
          </p:cNvSpPr>
          <p:nvPr/>
        </p:nvSpPr>
        <p:spPr>
          <a:xfrm>
            <a:off x="723900" y="228600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CBF5046-70A5-4184-8D33-9A9FE6E411C6}"/>
              </a:ext>
            </a:extLst>
          </p:cNvPr>
          <p:cNvSpPr>
            <a:spLocks noGrp="1"/>
          </p:cNvSpPr>
          <p:nvPr/>
        </p:nvSpPr>
        <p:spPr>
          <a:xfrm>
            <a:off x="866775"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669955E5-DD1E-4F6F-A3EC-28610A532E83}"/>
              </a:ext>
            </a:extLst>
          </p:cNvPr>
          <p:cNvSpPr>
            <a:spLocks noGrp="1"/>
          </p:cNvSpPr>
          <p:nvPr/>
        </p:nvSpPr>
        <p:spPr>
          <a:xfrm>
            <a:off x="857250"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Имовина</a:t>
            </a:r>
          </a:p>
        </p:txBody>
      </p:sp>
      <p:sp>
        <p:nvSpPr>
          <p:cNvPr id="9" name="Rectangle 8">
            <a:extLst>
              <a:ext uri="{FF2B5EF4-FFF2-40B4-BE49-F238E27FC236}">
                <a16:creationId xmlns:a16="http://schemas.microsoft.com/office/drawing/2014/main" id="{1CB5FA85-4B43-4D9E-AC17-96EBB8A7A2DC}"/>
              </a:ext>
            </a:extLst>
          </p:cNvPr>
          <p:cNvSpPr>
            <a:spLocks noGrp="1"/>
          </p:cNvSpPr>
          <p:nvPr/>
        </p:nvSpPr>
        <p:spPr>
          <a:xfrm>
            <a:off x="866775"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вредан податак или сервис</a:t>
            </a:r>
          </a:p>
        </p:txBody>
      </p:sp>
      <p:sp>
        <p:nvSpPr>
          <p:cNvPr id="10" name="Rounded Rectangle 9">
            <a:extLst>
              <a:ext uri="{FF2B5EF4-FFF2-40B4-BE49-F238E27FC236}">
                <a16:creationId xmlns:a16="http://schemas.microsoft.com/office/drawing/2014/main" id="{E3DAB913-81EB-4EDD-BB4C-ECE58F085870}"/>
              </a:ext>
            </a:extLst>
          </p:cNvPr>
          <p:cNvSpPr>
            <a:spLocks noGrp="1"/>
          </p:cNvSpPr>
          <p:nvPr/>
        </p:nvSpPr>
        <p:spPr>
          <a:xfrm>
            <a:off x="3481388" y="228600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E16CBB26-235C-483B-8F01-2FF0E0126E42}"/>
              </a:ext>
            </a:extLst>
          </p:cNvPr>
          <p:cNvSpPr>
            <a:spLocks noGrp="1"/>
          </p:cNvSpPr>
          <p:nvPr/>
        </p:nvSpPr>
        <p:spPr>
          <a:xfrm>
            <a:off x="3624263"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522A1A5B-0D6E-4BCF-A1A6-3D75F3847B69}"/>
              </a:ext>
            </a:extLst>
          </p:cNvPr>
          <p:cNvSpPr>
            <a:spLocks noGrp="1"/>
          </p:cNvSpPr>
          <p:nvPr/>
        </p:nvSpPr>
        <p:spPr>
          <a:xfrm>
            <a:off x="3614738"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Ток података</a:t>
            </a:r>
          </a:p>
        </p:txBody>
      </p:sp>
      <p:sp>
        <p:nvSpPr>
          <p:cNvPr id="13" name="Rectangle 12">
            <a:extLst>
              <a:ext uri="{FF2B5EF4-FFF2-40B4-BE49-F238E27FC236}">
                <a16:creationId xmlns:a16="http://schemas.microsoft.com/office/drawing/2014/main" id="{1322C8F4-B558-4268-BF18-6B90319A1995}"/>
              </a:ext>
            </a:extLst>
          </p:cNvPr>
          <p:cNvSpPr>
            <a:spLocks noGrp="1"/>
          </p:cNvSpPr>
          <p:nvPr/>
        </p:nvSpPr>
        <p:spPr>
          <a:xfrm>
            <a:off x="3624263"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кретање информације</a:t>
            </a:r>
          </a:p>
        </p:txBody>
      </p:sp>
      <p:sp>
        <p:nvSpPr>
          <p:cNvPr id="14" name="Rounded Rectangle 13">
            <a:extLst>
              <a:ext uri="{FF2B5EF4-FFF2-40B4-BE49-F238E27FC236}">
                <a16:creationId xmlns:a16="http://schemas.microsoft.com/office/drawing/2014/main" id="{272A81DE-FB49-440D-9CB4-A7E4AE71018C}"/>
              </a:ext>
            </a:extLst>
          </p:cNvPr>
          <p:cNvSpPr>
            <a:spLocks noGrp="1"/>
          </p:cNvSpPr>
          <p:nvPr/>
        </p:nvSpPr>
        <p:spPr>
          <a:xfrm>
            <a:off x="6238875" y="2286000"/>
            <a:ext cx="2471738" cy="1257300"/>
          </a:xfrm>
          <a:prstGeom prst="roundRect">
            <a:avLst>
              <a:gd name="adj" fmla="val 10606"/>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2A9DF83-2483-46F7-BD3A-AA0F0D06ED06}"/>
              </a:ext>
            </a:extLst>
          </p:cNvPr>
          <p:cNvSpPr>
            <a:spLocks noGrp="1"/>
          </p:cNvSpPr>
          <p:nvPr/>
        </p:nvSpPr>
        <p:spPr>
          <a:xfrm>
            <a:off x="6381750"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a:ext uri="{FF2B5EF4-FFF2-40B4-BE49-F238E27FC236}">
                <a16:creationId xmlns:a16="http://schemas.microsoft.com/office/drawing/2014/main" id="{6C5EAF38-2422-41B5-84F3-F896C6882253}"/>
              </a:ext>
            </a:extLst>
          </p:cNvPr>
          <p:cNvSpPr>
            <a:spLocks noGrp="1"/>
          </p:cNvSpPr>
          <p:nvPr/>
        </p:nvSpPr>
        <p:spPr>
          <a:xfrm>
            <a:off x="6372225"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Граница поверења</a:t>
            </a:r>
          </a:p>
        </p:txBody>
      </p:sp>
      <p:sp>
        <p:nvSpPr>
          <p:cNvPr id="17" name="Rectangle 16">
            <a:extLst>
              <a:ext uri="{FF2B5EF4-FFF2-40B4-BE49-F238E27FC236}">
                <a16:creationId xmlns:a16="http://schemas.microsoft.com/office/drawing/2014/main" id="{F8329160-AAE2-4AB7-8921-F612D8947064}"/>
              </a:ext>
            </a:extLst>
          </p:cNvPr>
          <p:cNvSpPr>
            <a:spLocks noGrp="1"/>
          </p:cNvSpPr>
          <p:nvPr/>
        </p:nvSpPr>
        <p:spPr>
          <a:xfrm>
            <a:off x="6381750"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промена претпоставки</a:t>
            </a:r>
          </a:p>
        </p:txBody>
      </p:sp>
      <p:sp>
        <p:nvSpPr>
          <p:cNvPr id="18" name="Rounded Rectangle 17">
            <a:extLst>
              <a:ext uri="{FF2B5EF4-FFF2-40B4-BE49-F238E27FC236}">
                <a16:creationId xmlns:a16="http://schemas.microsoft.com/office/drawing/2014/main" id="{ABA14744-C10D-434C-881D-6EEEF3BAE1CE}"/>
              </a:ext>
            </a:extLst>
          </p:cNvPr>
          <p:cNvSpPr>
            <a:spLocks noGrp="1"/>
          </p:cNvSpPr>
          <p:nvPr/>
        </p:nvSpPr>
        <p:spPr>
          <a:xfrm>
            <a:off x="8996363" y="228600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18F3DAED-F576-49BF-A6DD-DF6BEAC69E00}"/>
              </a:ext>
            </a:extLst>
          </p:cNvPr>
          <p:cNvSpPr>
            <a:spLocks noGrp="1"/>
          </p:cNvSpPr>
          <p:nvPr/>
        </p:nvSpPr>
        <p:spPr>
          <a:xfrm>
            <a:off x="9139238"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BBDBF44F-7F46-4488-A9FE-950558AC7BB6}"/>
              </a:ext>
            </a:extLst>
          </p:cNvPr>
          <p:cNvSpPr>
            <a:spLocks noGrp="1"/>
          </p:cNvSpPr>
          <p:nvPr/>
        </p:nvSpPr>
        <p:spPr>
          <a:xfrm>
            <a:off x="9129713"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Претња и контрола</a:t>
            </a:r>
          </a:p>
        </p:txBody>
      </p:sp>
      <p:sp>
        <p:nvSpPr>
          <p:cNvPr id="21" name="Rectangle 20">
            <a:extLst>
              <a:ext uri="{FF2B5EF4-FFF2-40B4-BE49-F238E27FC236}">
                <a16:creationId xmlns:a16="http://schemas.microsoft.com/office/drawing/2014/main" id="{4B0847BD-7A7D-485F-8C3B-80A59BFFE053}"/>
              </a:ext>
            </a:extLst>
          </p:cNvPr>
          <p:cNvSpPr>
            <a:spLocks noGrp="1"/>
          </p:cNvSpPr>
          <p:nvPr/>
        </p:nvSpPr>
        <p:spPr>
          <a:xfrm>
            <a:off x="9139238"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ризик и одговор</a:t>
            </a:r>
          </a:p>
        </p:txBody>
      </p:sp>
      <p:cxnSp>
        <p:nvCxnSpPr>
          <p:cNvPr id="127" name="Straight Arrow Connector 126"/>
          <p:cNvCxnSpPr>
            <a:stCxn id="6" idx="3"/>
            <a:endCxn id="10" idx="1"/>
          </p:cNvCxnSpPr>
          <p:nvPr/>
        </p:nvCxnSpPr>
        <p:spPr>
          <a:xfrm>
            <a:off x="3195638" y="2914650"/>
            <a:ext cx="285750" cy="0"/>
          </a:xfrm>
          <a:prstGeom prst="straightConnector1">
            <a:avLst/>
          </a:prstGeom>
          <a:ln w="13335">
            <a:solidFill>
              <a:srgbClr val="748092"/>
            </a:solidFill>
            <a:prstDash val="solid"/>
            <a:tailEnd type="arrow" w="sm" len="sm"/>
          </a:ln>
        </p:spPr>
      </p:cxnSp>
      <p:cxnSp>
        <p:nvCxnSpPr>
          <p:cNvPr id="128" name="Straight Arrow Connector 127"/>
          <p:cNvCxnSpPr>
            <a:stCxn id="10" idx="3"/>
            <a:endCxn id="14" idx="1"/>
          </p:cNvCxnSpPr>
          <p:nvPr/>
        </p:nvCxnSpPr>
        <p:spPr>
          <a:xfrm>
            <a:off x="5953126" y="2914650"/>
            <a:ext cx="285749" cy="0"/>
          </a:xfrm>
          <a:prstGeom prst="straightConnector1">
            <a:avLst/>
          </a:prstGeom>
          <a:ln w="13335">
            <a:solidFill>
              <a:srgbClr val="748092"/>
            </a:solidFill>
            <a:prstDash val="solid"/>
            <a:tailEnd type="arrow" w="sm" len="sm"/>
          </a:ln>
        </p:spPr>
      </p:cxnSp>
      <p:cxnSp>
        <p:nvCxnSpPr>
          <p:cNvPr id="129" name="Straight Arrow Connector 128"/>
          <p:cNvCxnSpPr>
            <a:stCxn id="14" idx="3"/>
            <a:endCxn id="18" idx="1"/>
          </p:cNvCxnSpPr>
          <p:nvPr/>
        </p:nvCxnSpPr>
        <p:spPr>
          <a:xfrm>
            <a:off x="8710613" y="29146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714D7F6E-1C58-4F26-914D-78E63E038594}"/>
              </a:ext>
            </a:extLst>
          </p:cNvPr>
          <p:cNvSpPr>
            <a:spLocks noGrp="1"/>
          </p:cNvSpPr>
          <p:nvPr/>
        </p:nvSpPr>
        <p:spPr>
          <a:xfrm>
            <a:off x="1428750" y="4114800"/>
            <a:ext cx="9334500" cy="895350"/>
          </a:xfrm>
          <a:prstGeom prst="roundRect">
            <a:avLst>
              <a:gd name="adj" fmla="val 13830"/>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24937E4B-65EB-42E7-B816-7F18069E0758}"/>
              </a:ext>
            </a:extLst>
          </p:cNvPr>
          <p:cNvSpPr>
            <a:spLocks noGrp="1"/>
          </p:cNvSpPr>
          <p:nvPr/>
        </p:nvSpPr>
        <p:spPr>
          <a:xfrm>
            <a:off x="1562100" y="4257675"/>
            <a:ext cx="57150" cy="609600"/>
          </a:xfrm>
          <a:prstGeom prst="roundRect">
            <a:avLst>
              <a:gd name="adj" fmla="val 50000"/>
            </a:avLst>
          </a:prstGeom>
          <a:solidFill>
            <a:srgbClr val="2F5EF5"/>
          </a:solidFill>
          <a:ln w="0">
            <a:noFill/>
          </a:ln>
        </p:spPr>
      </p:sp>
      <p:sp>
        <p:nvSpPr>
          <p:cNvPr id="77" name="Rounded Rectangle 76">
            <a:extLst>
              <a:ext uri="{FF2B5EF4-FFF2-40B4-BE49-F238E27FC236}">
                <a16:creationId xmlns:a16="http://schemas.microsoft.com/office/drawing/2014/main" id="{FDBA7599-128E-4B30-85C5-8B092418F980}"/>
              </a:ext>
            </a:extLst>
          </p:cNvPr>
          <p:cNvSpPr>
            <a:spLocks noGrp="1"/>
          </p:cNvSpPr>
          <p:nvPr/>
        </p:nvSpPr>
        <p:spPr>
          <a:xfrm>
            <a:off x="914400" y="4095750"/>
            <a:ext cx="10363200" cy="1257294"/>
          </a:xfrm>
          <a:prstGeom prst="roundRect">
            <a:avLst>
              <a:gd name="adj" fmla="val 8046"/>
            </a:avLst>
          </a:prstGeom>
          <a:solidFill>
            <a:srgbClr val="EEF3FF"/>
          </a:solidFill>
          <a:ln w="8573">
            <a:solidFill>
              <a:srgbClr val="CAD7F2"/>
            </a:solidFill>
            <a:prstDash val="solid"/>
          </a:ln>
        </p:spPr>
      </p:sp>
      <p:sp>
        <p:nvSpPr>
          <p:cNvPr id="78" name="Rounded Rectangle 77">
            <a:extLst>
              <a:ext uri="{FF2B5EF4-FFF2-40B4-BE49-F238E27FC236}">
                <a16:creationId xmlns:a16="http://schemas.microsoft.com/office/drawing/2014/main" id="{A3D69368-8583-40D4-B176-02F3E3A0996B}"/>
              </a:ext>
            </a:extLst>
          </p:cNvPr>
          <p:cNvSpPr>
            <a:spLocks noGrp="1"/>
          </p:cNvSpPr>
          <p:nvPr/>
        </p:nvSpPr>
        <p:spPr>
          <a:xfrm>
            <a:off x="1085850" y="4248150"/>
            <a:ext cx="57150" cy="942975"/>
          </a:xfrm>
          <a:prstGeom prst="roundRect">
            <a:avLst>
              <a:gd name="adj" fmla="val 50000"/>
            </a:avLst>
          </a:prstGeom>
          <a:solidFill>
            <a:srgbClr val="2F5EF5"/>
          </a:solidFill>
          <a:ln w="0">
            <a:noFill/>
          </a:ln>
        </p:spPr>
      </p:sp>
      <p:sp>
        <p:nvSpPr>
          <p:cNvPr id="79" name="Rectangle 78">
            <a:extLst>
              <a:ext uri="{FF2B5EF4-FFF2-40B4-BE49-F238E27FC236}">
                <a16:creationId xmlns:a16="http://schemas.microsoft.com/office/drawing/2014/main" id="{1D2261EE-6E97-419D-AA2B-B993E4BE4C0E}"/>
              </a:ext>
            </a:extLst>
          </p:cNvPr>
          <p:cNvSpPr>
            <a:spLocks noGrp="1"/>
          </p:cNvSpPr>
          <p:nvPr/>
        </p:nvSpPr>
        <p:spPr>
          <a:xfrm>
            <a:off x="1333500" y="42005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 ЗАВРШЕТАК</a:t>
            </a:r>
          </a:p>
        </p:txBody>
      </p:sp>
      <p:sp>
        <p:nvSpPr>
          <p:cNvPr id="80" name="Rectangle 79">
            <a:extLst>
              <a:ext uri="{FF2B5EF4-FFF2-40B4-BE49-F238E27FC236}">
                <a16:creationId xmlns:a16="http://schemas.microsoft.com/office/drawing/2014/main" id="{0C7CF497-A779-43F3-89D9-001F36914A32}"/>
              </a:ext>
            </a:extLst>
          </p:cNvPr>
          <p:cNvSpPr>
            <a:spLocks noGrp="1"/>
          </p:cNvSpPr>
          <p:nvPr/>
        </p:nvSpPr>
        <p:spPr>
          <a:xfrm>
            <a:off x="1333500" y="4429125"/>
            <a:ext cx="9639300" cy="371475"/>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Нацртајте један ток осетљивог податка и означите место на коме се претпоставка о поверењу мења.</a:t>
            </a:r>
          </a:p>
        </p:txBody>
      </p:sp>
      <p:sp>
        <p:nvSpPr>
          <p:cNvPr id="81" name="Rectangle 80">
            <a:extLst>
              <a:ext uri="{FF2B5EF4-FFF2-40B4-BE49-F238E27FC236}">
                <a16:creationId xmlns:a16="http://schemas.microsoft.com/office/drawing/2014/main" id="{64851BE0-5B32-4439-ACFE-DDDDF7AD9362}"/>
              </a:ext>
            </a:extLst>
          </p:cNvPr>
          <p:cNvSpPr>
            <a:spLocks noGrp="1"/>
          </p:cNvSpPr>
          <p:nvPr/>
        </p:nvSpPr>
        <p:spPr>
          <a:xfrm>
            <a:off x="1314450" y="4905375"/>
            <a:ext cx="9639300" cy="285750"/>
          </a:xfrm>
          <a:prstGeom prst="rect">
            <a:avLst/>
          </a:prstGeom>
          <a:noFill/>
          <a:ln w="0">
            <a:noFill/>
          </a:ln>
        </p:spPr>
        <p:txBody>
          <a:bodyPr wrap="square" lIns="0" tIns="0" rIns="0" bIns="0" anchor="ctr">
            <a:normAutofit/>
          </a:bodyPr>
          <a:lstStyle/>
          <a:p>
            <a:pPr>
              <a:buNone/>
              <a:defRPr sz="1275" b="0">
                <a:solidFill>
                  <a:srgbClr val="52637B"/>
                </a:solidFill>
                <a:latin typeface="Aptos"/>
                <a:ea typeface="Aptos"/>
                <a:cs typeface="Aptos"/>
              </a:defRPr>
            </a:pPr>
            <a:r>
              <a:rPr sz="1275" b="0" dirty="0" err="1">
                <a:solidFill>
                  <a:srgbClr val="52637B"/>
                </a:solidFill>
                <a:latin typeface="Aptos"/>
                <a:ea typeface="Aptos"/>
                <a:cs typeface="Aptos"/>
              </a:rPr>
              <a:t>Следећи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корак</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применити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исти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модел</a:t>
            </a:r>
            <a:r>
              <a:rPr sz="1275" b="0" dirty="0">
                <a:solidFill>
                  <a:srgbClr val="52637B"/>
                </a:solidFill>
                <a:latin typeface="Aptos"/>
                <a:ea typeface="Aptos"/>
                <a:cs typeface="Aptos"/>
              </a:rPr>
              <a:t> </a:t>
            </a:r>
            <a:r>
              <a:rPr sz="1275" b="0" dirty="0" err="1">
                <a:solidFill>
                  <a:srgbClr val="52637B"/>
                </a:solidFill>
                <a:latin typeface="Aptos"/>
                <a:ea typeface="Aptos"/>
                <a:cs typeface="Aptos"/>
              </a:rPr>
              <a:t>на</a:t>
            </a:r>
            <a:r>
              <a:rPr sz="1275" b="0" dirty="0">
                <a:solidFill>
                  <a:srgbClr val="52637B"/>
                </a:solidFill>
                <a:latin typeface="Aptos"/>
                <a:ea typeface="Aptos"/>
                <a:cs typeface="Aptos"/>
              </a:rPr>
              <a:t> </a:t>
            </a:r>
            <a:r>
              <a:rPr sz="1275" b="0" dirty="0" err="1">
                <a:solidFill>
                  <a:srgbClr val="52637B"/>
                </a:solidFill>
                <a:latin typeface="Aptos"/>
                <a:ea typeface="Aptos"/>
                <a:cs typeface="Aptos"/>
              </a:rPr>
              <a:t>једну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реалну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границу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сопственом</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пројекту</a:t>
            </a:r>
            <a:r>
              <a:rPr sz="1275" b="0" dirty="0">
                <a:solidFill>
                  <a:srgbClr val="52637B"/>
                </a:solidFill>
                <a:latin typeface="Aptos"/>
                <a:ea typeface="Aptos"/>
                <a:cs typeface="Aptos"/>
              </a:rPr>
              <a:t>.</a:t>
            </a:r>
          </a:p>
        </p:txBody>
      </p:sp>
    </p:spTree>
    <p:extLst>
      <p:ext uri="{BB962C8B-B14F-4D97-AF65-F5344CB8AC3E}">
        <p14:creationId xmlns:p14="http://schemas.microsoft.com/office/powerpoint/2010/main" val="175326137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2117</Words>
  <Application>Microsoft Macintosh PowerPoint</Application>
  <DocSecurity>0</DocSecurity>
  <PresentationFormat>Widescreen</PresentationFormat>
  <Paragraphs>350</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Calibri</vt:lpstr>
      <vt:lpstr>Consolas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Jovanović Danijel</cp:lastModifiedBy>
  <cp:revision>7</cp:revision>
  <dcterms:created xsi:type="dcterms:W3CDTF">2026-09-29T08:52:49Z</dcterms:created>
  <dcterms:modified xsi:type="dcterms:W3CDTF">2026-09-29T09:17:09Z</dcterms:modified>
</cp:coreProperties>
</file>