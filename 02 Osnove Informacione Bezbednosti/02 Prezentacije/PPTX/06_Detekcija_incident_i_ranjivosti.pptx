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6fa95d7f694bae" /><Relationship Type="http://schemas.openxmlformats.org/officeDocument/2006/relationships/extended-properties" Target="/docProps/app.xml" Id="R866113328d6641ef" /><Relationship Type="http://schemas.openxmlformats.org/officeDocument/2006/relationships/officeDocument" Target="/ppt/presentation.xml" Id="R625e0cf2c4f64dab" /></Relationships>
</file>

<file path=ppt/presentation.xml><?xml version="1.0" encoding="utf-8"?>
<p:presentation xmlns:p="http://schemas.openxmlformats.org/presentationml/2006/main">
  <p:sldMasterIdLst>
    <p:sldMasterId xmlns:r="http://schemas.openxmlformats.org/officeDocument/2006/relationships" id="2147483648" r:id="Ree7388a83c154dac"/>
  </p:sldMasterIdLst>
  <p:notesMasterIdLst>
    <p:notesMasterId xmlns:r="http://schemas.openxmlformats.org/officeDocument/2006/relationships" r:id="R81a28be020c049ab"/>
  </p:notesMasterIdLst>
  <p:sldIdLst>
    <p:sldId xmlns:r="http://schemas.openxmlformats.org/officeDocument/2006/relationships" id="256" r:id="Re0de17750c1c4beb"/>
    <p:sldId xmlns:r="http://schemas.openxmlformats.org/officeDocument/2006/relationships" id="257" r:id="Rb8b129bb57b24813"/>
    <p:sldId xmlns:r="http://schemas.openxmlformats.org/officeDocument/2006/relationships" id="258" r:id="R97add9965d48460a"/>
    <p:sldId xmlns:r="http://schemas.openxmlformats.org/officeDocument/2006/relationships" id="259" r:id="R1a855e52d6984e49"/>
    <p:sldId xmlns:r="http://schemas.openxmlformats.org/officeDocument/2006/relationships" id="260" r:id="R420b1d396d484879"/>
    <p:sldId xmlns:r="http://schemas.openxmlformats.org/officeDocument/2006/relationships" id="261" r:id="R2fa1fbcb4dc94747"/>
    <p:sldId xmlns:r="http://schemas.openxmlformats.org/officeDocument/2006/relationships" id="262" r:id="R9b0c4de5d21d4023"/>
    <p:sldId xmlns:r="http://schemas.openxmlformats.org/officeDocument/2006/relationships" id="263" r:id="Re96c3459d6c14bb8"/>
    <p:sldId xmlns:r="http://schemas.openxmlformats.org/officeDocument/2006/relationships" id="264" r:id="R761f4496c72d4eee"/>
    <p:sldId xmlns:r="http://schemas.openxmlformats.org/officeDocument/2006/relationships" id="265" r:id="Rcc43021b3cae4a19"/>
    <p:sldId xmlns:r="http://schemas.openxmlformats.org/officeDocument/2006/relationships" id="266" r:id="Re7725b78dd2947dc"/>
    <p:sldId xmlns:r="http://schemas.openxmlformats.org/officeDocument/2006/relationships" id="267" r:id="R38f2735ec73b4005"/>
    <p:sldId xmlns:r="http://schemas.openxmlformats.org/officeDocument/2006/relationships" id="268" r:id="Rbbda0ae7d0044b62"/>
    <p:sldId xmlns:r="http://schemas.openxmlformats.org/officeDocument/2006/relationships" id="269" r:id="Rbf8cf6e161694b93"/>
    <p:sldId xmlns:r="http://schemas.openxmlformats.org/officeDocument/2006/relationships" id="270" r:id="Rcbac04d9c1614d53"/>
    <p:sldId xmlns:r="http://schemas.openxmlformats.org/officeDocument/2006/relationships" id="271" r:id="R66fd0f10076040b2"/>
    <p:sldId xmlns:r="http://schemas.openxmlformats.org/officeDocument/2006/relationships" id="272" r:id="R29c418eca0ea4eb1"/>
    <p:sldId xmlns:r="http://schemas.openxmlformats.org/officeDocument/2006/relationships" id="273" r:id="R0e0d9da68c2248f7"/>
    <p:sldId xmlns:r="http://schemas.openxmlformats.org/officeDocument/2006/relationships" id="274" r:id="R0550a15b0ba34d93"/>
    <p:sldId xmlns:r="http://schemas.openxmlformats.org/officeDocument/2006/relationships" id="275" r:id="R068ef85f13cc48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a8b2426e003455c" /><Relationship Type="http://schemas.openxmlformats.org/officeDocument/2006/relationships/slideMaster" Target="/ppt/slideMasters/slideMaster1.xml" Id="Ree7388a83c154dac" /><Relationship Type="http://schemas.openxmlformats.org/officeDocument/2006/relationships/notesMaster" Target="/ppt/notesMasters/notesMaster1.xml" Id="R81a28be020c049ab" /><Relationship Type="http://schemas.openxmlformats.org/officeDocument/2006/relationships/presProps" Target="/ppt/presProps.xml" Id="R3041a5058e4045dc" /><Relationship Type="http://schemas.openxmlformats.org/officeDocument/2006/relationships/viewProps" Target="/ppt/viewProps.xml" Id="R82459ed0e7d04dcb" /><Relationship Type="http://schemas.openxmlformats.org/officeDocument/2006/relationships/tableStyles" Target="/ppt/tableStyles.xml" Id="Re9a7212b5dbc4386" /><Relationship Type="http://schemas.openxmlformats.org/officeDocument/2006/relationships/slide" Target="/ppt/slides/slide1.xml" Id="Re0de17750c1c4beb" /><Relationship Type="http://schemas.openxmlformats.org/officeDocument/2006/relationships/slide" Target="/ppt/slides/slide2.xml" Id="Rb8b129bb57b24813" /><Relationship Type="http://schemas.openxmlformats.org/officeDocument/2006/relationships/slide" Target="/ppt/slides/slide3.xml" Id="R97add9965d48460a" /><Relationship Type="http://schemas.openxmlformats.org/officeDocument/2006/relationships/slide" Target="/ppt/slides/slide4.xml" Id="R1a855e52d6984e49" /><Relationship Type="http://schemas.openxmlformats.org/officeDocument/2006/relationships/slide" Target="/ppt/slides/slide5.xml" Id="R420b1d396d484879" /><Relationship Type="http://schemas.openxmlformats.org/officeDocument/2006/relationships/slide" Target="/ppt/slides/slide6.xml" Id="R2fa1fbcb4dc94747" /><Relationship Type="http://schemas.openxmlformats.org/officeDocument/2006/relationships/slide" Target="/ppt/slides/slide7.xml" Id="R9b0c4de5d21d4023" /><Relationship Type="http://schemas.openxmlformats.org/officeDocument/2006/relationships/slide" Target="/ppt/slides/slide8.xml" Id="Re96c3459d6c14bb8" /><Relationship Type="http://schemas.openxmlformats.org/officeDocument/2006/relationships/slide" Target="/ppt/slides/slide9.xml" Id="R761f4496c72d4eee" /><Relationship Type="http://schemas.openxmlformats.org/officeDocument/2006/relationships/slide" Target="/ppt/slides/slide10.xml" Id="Rcc43021b3cae4a19" /><Relationship Type="http://schemas.openxmlformats.org/officeDocument/2006/relationships/slide" Target="/ppt/slides/slide11.xml" Id="Re7725b78dd2947dc" /><Relationship Type="http://schemas.openxmlformats.org/officeDocument/2006/relationships/slide" Target="/ppt/slides/slide12.xml" Id="R38f2735ec73b4005" /><Relationship Type="http://schemas.openxmlformats.org/officeDocument/2006/relationships/slide" Target="/ppt/slides/slide13.xml" Id="Rbbda0ae7d0044b62" /><Relationship Type="http://schemas.openxmlformats.org/officeDocument/2006/relationships/slide" Target="/ppt/slides/slide14.xml" Id="Rbf8cf6e161694b93" /><Relationship Type="http://schemas.openxmlformats.org/officeDocument/2006/relationships/slide" Target="/ppt/slides/slide15.xml" Id="Rcbac04d9c1614d53" /><Relationship Type="http://schemas.openxmlformats.org/officeDocument/2006/relationships/slide" Target="/ppt/slides/slide16.xml" Id="R66fd0f10076040b2" /><Relationship Type="http://schemas.openxmlformats.org/officeDocument/2006/relationships/slide" Target="/ppt/slides/slide17.xml" Id="R29c418eca0ea4eb1" /><Relationship Type="http://schemas.openxmlformats.org/officeDocument/2006/relationships/slide" Target="/ppt/slides/slide18.xml" Id="R0e0d9da68c2248f7" /><Relationship Type="http://schemas.openxmlformats.org/officeDocument/2006/relationships/slide" Target="/ppt/slides/slide19.xml" Id="R0550a15b0ba34d93" /><Relationship Type="http://schemas.openxmlformats.org/officeDocument/2006/relationships/slide" Target="/ppt/slides/slide20.xml" Id="R068ef85f13cc48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e24990bac142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9050" dist="9525" dir="5400000">
              <a:srgbClr val="000000">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856dc7b1c1434e" /><Relationship Type="http://schemas.openxmlformats.org/officeDocument/2006/relationships/notesMaster" Target="/ppt/notesMasters/notesMaster1.xml" Id="R67940b1ad5df41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f0b16fca704ac2" /><Relationship Type="http://schemas.openxmlformats.org/officeDocument/2006/relationships/notesMaster" Target="/ppt/notesMasters/notesMaster1.xml" Id="Rc8fc8bc4a93b49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24042db08b4cc0" /><Relationship Type="http://schemas.openxmlformats.org/officeDocument/2006/relationships/notesMaster" Target="/ppt/notesMasters/notesMaster1.xml" Id="Rbfce65c6347a41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603227ce8748c2" /><Relationship Type="http://schemas.openxmlformats.org/officeDocument/2006/relationships/notesMaster" Target="/ppt/notesMasters/notesMaster1.xml" Id="Re2e1931682d441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de58634ad84522" /><Relationship Type="http://schemas.openxmlformats.org/officeDocument/2006/relationships/notesMaster" Target="/ppt/notesMasters/notesMaster1.xml" Id="Rdd86c17999e349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1472d292024a79" /><Relationship Type="http://schemas.openxmlformats.org/officeDocument/2006/relationships/notesMaster" Target="/ppt/notesMasters/notesMaster1.xml" Id="R01f4327b6df24c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aaf55321c34397" /><Relationship Type="http://schemas.openxmlformats.org/officeDocument/2006/relationships/notesMaster" Target="/ppt/notesMasters/notesMaster1.xml" Id="R6bf4a12bd9e148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cbf6851b9348aa" /><Relationship Type="http://schemas.openxmlformats.org/officeDocument/2006/relationships/notesMaster" Target="/ppt/notesMasters/notesMaster1.xml" Id="R9d4657d8b7714f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714900f6494c11" /><Relationship Type="http://schemas.openxmlformats.org/officeDocument/2006/relationships/notesMaster" Target="/ppt/notesMasters/notesMaster1.xml" Id="R1ecde7b6fe0e49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613858f4154426" /><Relationship Type="http://schemas.openxmlformats.org/officeDocument/2006/relationships/notesMaster" Target="/ppt/notesMasters/notesMaster1.xml" Id="R6bb91a1d858543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0e52d3f9274620" /><Relationship Type="http://schemas.openxmlformats.org/officeDocument/2006/relationships/notesMaster" Target="/ppt/notesMasters/notesMaster1.xml" Id="R20f457dd50ff4f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cd36e2469946eb" /><Relationship Type="http://schemas.openxmlformats.org/officeDocument/2006/relationships/notesMaster" Target="/ppt/notesMasters/notesMaster1.xml" Id="R038af91459674a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23fc60bcae44e4" /><Relationship Type="http://schemas.openxmlformats.org/officeDocument/2006/relationships/notesMaster" Target="/ppt/notesMasters/notesMaster1.xml" Id="R4e3c611885624f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effcf0537c447d" /><Relationship Type="http://schemas.openxmlformats.org/officeDocument/2006/relationships/notesMaster" Target="/ppt/notesMasters/notesMaster1.xml" Id="Rbaf0c15271c347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a96c613c354503" /><Relationship Type="http://schemas.openxmlformats.org/officeDocument/2006/relationships/notesMaster" Target="/ppt/notesMasters/notesMaster1.xml" Id="R78b8a84ecf6148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3d6d8b4f8544ff" /><Relationship Type="http://schemas.openxmlformats.org/officeDocument/2006/relationships/notesMaster" Target="/ppt/notesMasters/notesMaster1.xml" Id="R8c63b0ad739740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8ce32aaa9546b9" /><Relationship Type="http://schemas.openxmlformats.org/officeDocument/2006/relationships/notesMaster" Target="/ppt/notesMasters/notesMaster1.xml" Id="Rea2e812ebb8945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c77a4735a84369" /><Relationship Type="http://schemas.openxmlformats.org/officeDocument/2006/relationships/notesMaster" Target="/ppt/notesMasters/notesMaster1.xml" Id="Rbd56618229b44e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3a31ab45724e82" /><Relationship Type="http://schemas.openxmlformats.org/officeDocument/2006/relationships/notesMaster" Target="/ppt/notesMasters/notesMaster1.xml" Id="R07d4952beacf41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85369da1e24ef6" /><Relationship Type="http://schemas.openxmlformats.org/officeDocument/2006/relationships/notesMaster" Target="/ppt/notesMasters/notesMaster1.xml" Id="Rb6b0d0f0660a43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Извор: oibThematicExercises.ts и oibThematicPresentations.ts.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0da96f4d9048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1f24ee1ea43c6" /><Relationship Type="http://schemas.openxmlformats.org/officeDocument/2006/relationships/slideLayout" Target="/ppt/slideLayouts/slideLayout1.xml" Id="Ra5add15a3e1347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add15a3e1347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9050" dist="9525" dir="5400000">
              <a:srgbClr val="000000">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c20aebb142460f" /><Relationship Type="http://schemas.openxmlformats.org/officeDocument/2006/relationships/notesSlide" Target="/ppt/notesSlides/notesSlide1.xml" Id="R929d15d62331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6f55cdb9d84afd" /><Relationship Type="http://schemas.openxmlformats.org/officeDocument/2006/relationships/notesSlide" Target="/ppt/notesSlides/notesSlide2.xml" Id="R96472257aa3e49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293be7e59d4929" /><Relationship Type="http://schemas.openxmlformats.org/officeDocument/2006/relationships/notesSlide" Target="/ppt/notesSlides/notesSlide3.xml" Id="R8b9dd87f92b748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1c9f56a1a7443a" /><Relationship Type="http://schemas.openxmlformats.org/officeDocument/2006/relationships/notesSlide" Target="/ppt/notesSlides/notesSlide4.xml" Id="Rb764b4ae9b5846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b8fb838b3d4ea1" /><Relationship Type="http://schemas.openxmlformats.org/officeDocument/2006/relationships/notesSlide" Target="/ppt/notesSlides/notesSlide5.xml" Id="Rc164bb2ed03d49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28f182039d4619" /><Relationship Type="http://schemas.openxmlformats.org/officeDocument/2006/relationships/notesSlide" Target="/ppt/notesSlides/notesSlide6.xml" Id="R2a5ea94314a848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f42507c465447a" /><Relationship Type="http://schemas.openxmlformats.org/officeDocument/2006/relationships/notesSlide" Target="/ppt/notesSlides/notesSlide7.xml" Id="Ra6b8c054642445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dbda4d2d444e4b" /><Relationship Type="http://schemas.openxmlformats.org/officeDocument/2006/relationships/notesSlide" Target="/ppt/notesSlides/notesSlide8.xml" Id="R055a8d5da1e74b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f4fae506fe47b4" /><Relationship Type="http://schemas.openxmlformats.org/officeDocument/2006/relationships/notesSlide" Target="/ppt/notesSlides/notesSlide9.xml" Id="R5b8a1bb4d20341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815f634dda447a" /><Relationship Type="http://schemas.openxmlformats.org/officeDocument/2006/relationships/notesSlide" Target="/ppt/notesSlides/notesSlide10.xml" Id="R4208572f1eae44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2677344c6345cf" /><Relationship Type="http://schemas.openxmlformats.org/officeDocument/2006/relationships/notesSlide" Target="/ppt/notesSlides/notesSlide11.xml" Id="R60abf27c319e42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7606117ebd4a15" /><Relationship Type="http://schemas.openxmlformats.org/officeDocument/2006/relationships/notesSlide" Target="/ppt/notesSlides/notesSlide12.xml" Id="Rd520c39f8b6841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dff96c3f45419a" /><Relationship Type="http://schemas.openxmlformats.org/officeDocument/2006/relationships/notesSlide" Target="/ppt/notesSlides/notesSlide13.xml" Id="R1ea79936f6364a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ad08c5288574b84" /><Relationship Type="http://schemas.openxmlformats.org/officeDocument/2006/relationships/notesSlide" Target="/ppt/notesSlides/notesSlide14.xml" Id="Rd8f58a683d0f4c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333f7c22fb4da3" /><Relationship Type="http://schemas.openxmlformats.org/officeDocument/2006/relationships/notesSlide" Target="/ppt/notesSlides/notesSlide15.xml" Id="R99244a71aeef47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99af1eaadc43db" /><Relationship Type="http://schemas.openxmlformats.org/officeDocument/2006/relationships/notesSlide" Target="/ppt/notesSlides/notesSlide16.xml" Id="Rfe0d2e8eee194a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d1fd1388493468b" /><Relationship Type="http://schemas.openxmlformats.org/officeDocument/2006/relationships/notesSlide" Target="/ppt/notesSlides/notesSlide17.xml" Id="R8daecf9d39d94c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3d4ad567d974185" /><Relationship Type="http://schemas.openxmlformats.org/officeDocument/2006/relationships/notesSlide" Target="/ppt/notesSlides/notesSlide18.xml" Id="R8fd58ee00dbb4f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94d311b508c4099" /><Relationship Type="http://schemas.openxmlformats.org/officeDocument/2006/relationships/notesSlide" Target="/ppt/notesSlides/notesSlide19.xml" Id="Racb57b1e0f6943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a83f821e6c84d54" /><Relationship Type="http://schemas.openxmlformats.org/officeDocument/2006/relationships/notesSlide" Target="/ppt/notesSlides/notesSlide20.xml" Id="Rb51f48d5e3f044c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4456BB3-0CBC-4E38-B3B9-813BD8D9FCDA}"/>
              </a:ext>
            </a:extLst>
          </p:cNvPr>
          <p:cNvSpPr>
            <a:spLocks xmlns:a="http://schemas.openxmlformats.org/drawingml/2006/main" noGrp="1"/>
          </p:cNvSpPr>
          <p:nvPr/>
        </p:nvSpPr>
        <p:spPr>
          <a:xfrm xmlns:a="http://schemas.openxmlformats.org/drawingml/2006/main">
            <a:off x="914400" y="590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050" b="1">
                <a:solidFill>
                  <a:srgbClr val="647084"/>
                </a:solidFill>
                <a:latin typeface="Aptos"/>
                <a:ea typeface="Aptos"/>
                <a:cs typeface="Aptos"/>
              </a:defRPr>
            </a:pPr>
            <a:r>
              <a:rPr sz="1050" b="1">
                <a:solidFill>
                  <a:srgbClr val="647084"/>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8EBF0446-876B-40E3-8715-1F11E7595BCA}"/>
              </a:ext>
            </a:extLst>
          </p:cNvPr>
          <p:cNvSpPr>
            <a:spLocks xmlns:a="http://schemas.openxmlformats.org/drawingml/2006/main" noGrp="1"/>
          </p:cNvSpPr>
          <p:nvPr/>
        </p:nvSpPr>
        <p:spPr>
          <a:xfrm xmlns:a="http://schemas.openxmlformats.org/drawingml/2006/main">
            <a:off x="914400" y="1009650"/>
            <a:ext cx="10363200" cy="9525"/>
          </a:xfrm>
          <a:prstGeom xmlns:a="http://schemas.openxmlformats.org/drawingml/2006/main" prst="line">
            <a:avLst/>
          </a:prstGeom>
          <a:noFill xmlns:a="http://schemas.openxmlformats.org/drawingml/2006/main"/>
          <a:ln xmlns:a="http://schemas.openxmlformats.org/drawingml/2006/main" w="8573">
            <a:solidFill>
              <a:srgbClr val="8D5560"/>
            </a:solidFill>
            <a:prstDash val="solid"/>
          </a:ln>
        </p:spPr>
      </p:sp>
      <p:sp>
        <p:nvSpPr>
          <p:cNvPr id="3" name="Rounded Rectangle 2">
            <a:extLst xmlns:a="http://schemas.openxmlformats.org/drawingml/2006/main">
              <a:ext uri="{FF2B5EF4-FFF2-40B4-BE49-F238E27FC236}">
                <a16:creationId xmlns:a16="http://schemas.microsoft.com/office/drawing/2014/main" id="{0124BEE4-668D-4CD9-A448-B8978A74DDC9}"/>
              </a:ext>
            </a:extLst>
          </p:cNvPr>
          <p:cNvSpPr>
            <a:spLocks xmlns:a="http://schemas.openxmlformats.org/drawingml/2006/main" noGrp="1"/>
          </p:cNvSpPr>
          <p:nvPr/>
        </p:nvSpPr>
        <p:spPr>
          <a:xfrm xmlns:a="http://schemas.openxmlformats.org/drawingml/2006/main">
            <a:off x="914400" y="1438275"/>
            <a:ext cx="647700" cy="66675"/>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4" name="Rectangle 3">
            <a:extLst xmlns:a="http://schemas.openxmlformats.org/drawingml/2006/main">
              <a:ext uri="{FF2B5EF4-FFF2-40B4-BE49-F238E27FC236}">
                <a16:creationId xmlns:a16="http://schemas.microsoft.com/office/drawing/2014/main" id="{E088D311-F6ED-4560-A59A-6D9011269A75}"/>
              </a:ext>
            </a:extLst>
          </p:cNvPr>
          <p:cNvSpPr>
            <a:spLocks xmlns:a="http://schemas.openxmlformats.org/drawingml/2006/main" noGrp="1"/>
          </p:cNvSpPr>
          <p:nvPr/>
        </p:nvSpPr>
        <p:spPr>
          <a:xfrm xmlns:a="http://schemas.openxmlformats.org/drawingml/2006/main">
            <a:off x="914400" y="1771650"/>
            <a:ext cx="103632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94000"/>
              </a:lnSpc>
              <a:buNone/>
              <a:defRPr sz="3450" b="1">
                <a:solidFill>
                  <a:srgbClr val="1A202C"/>
                </a:solidFill>
                <a:latin typeface="Aptos Display"/>
                <a:ea typeface="Aptos Display"/>
                <a:cs typeface="Aptos Display"/>
              </a:defRPr>
            </a:pPr>
            <a:r>
              <a:rPr sz="3450" b="1">
                <a:solidFill>
                  <a:srgbClr val="1A202C"/>
                </a:solidFill>
                <a:latin typeface="Aptos Display"/>
                <a:ea typeface="Aptos Display"/>
                <a:cs typeface="Aptos Display"/>
              </a:rPr>
              <a:t>Детекција, инцидент и рањивости</a:t>
            </a:r>
          </a:p>
        </p:txBody>
      </p:sp>
      <p:sp>
        <p:nvSpPr>
          <p:cNvPr id="5" name="Rectangle 4">
            <a:extLst xmlns:a="http://schemas.openxmlformats.org/drawingml/2006/main">
              <a:ext uri="{FF2B5EF4-FFF2-40B4-BE49-F238E27FC236}">
                <a16:creationId xmlns:a16="http://schemas.microsoft.com/office/drawing/2014/main" id="{AB2CD0DF-035A-4FBB-B718-A0E82338F713}"/>
              </a:ext>
            </a:extLst>
          </p:cNvPr>
          <p:cNvSpPr>
            <a:spLocks xmlns:a="http://schemas.openxmlformats.org/drawingml/2006/main" noGrp="1"/>
          </p:cNvSpPr>
          <p:nvPr/>
        </p:nvSpPr>
        <p:spPr>
          <a:xfrm xmlns:a="http://schemas.openxmlformats.org/drawingml/2006/main">
            <a:off x="933450" y="3600450"/>
            <a:ext cx="962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4000"/>
              </a:lnSpc>
              <a:buNone/>
              <a:defRPr sz="1725" b="0">
                <a:solidFill>
                  <a:srgbClr val="647084"/>
                </a:solidFill>
                <a:latin typeface="Aptos"/>
                <a:ea typeface="Aptos"/>
                <a:cs typeface="Aptos"/>
              </a:defRPr>
            </a:pPr>
            <a:r>
              <a:rPr sz="1725" b="0">
                <a:solidFill>
                  <a:srgbClr val="647084"/>
                </a:solidFill>
                <a:latin typeface="Aptos"/>
                <a:ea typeface="Aptos"/>
                <a:cs typeface="Aptos"/>
              </a:rPr>
              <a:t>Детекција догађаја, поступање у инциденту и управљање рањивостима</a:t>
            </a:r>
          </a:p>
        </p:txBody>
      </p:sp>
      <p:sp>
        <p:nvSpPr>
          <p:cNvPr id="6" name="Straight Connector 5">
            <a:extLst xmlns:a="http://schemas.openxmlformats.org/drawingml/2006/main">
              <a:ext uri="{FF2B5EF4-FFF2-40B4-BE49-F238E27FC236}">
                <a16:creationId xmlns:a16="http://schemas.microsoft.com/office/drawing/2014/main" id="{8D4D1B07-045A-4C5A-9F19-7B25A10821BE}"/>
              </a:ext>
            </a:extLst>
          </p:cNvPr>
          <p:cNvSpPr>
            <a:spLocks xmlns:a="http://schemas.openxmlformats.org/drawingml/2006/main" noGrp="1"/>
          </p:cNvSpPr>
          <p:nvPr/>
        </p:nvSpPr>
        <p:spPr>
          <a:xfrm xmlns:a="http://schemas.openxmlformats.org/drawingml/2006/main">
            <a:off x="914400" y="5286375"/>
            <a:ext cx="10363200" cy="9525"/>
          </a:xfrm>
          <a:prstGeom xmlns:a="http://schemas.openxmlformats.org/drawingml/2006/main" prst="line">
            <a:avLst/>
          </a:prstGeom>
          <a:noFill xmlns:a="http://schemas.openxmlformats.org/drawingml/2006/main"/>
          <a:ln xmlns:a="http://schemas.openxmlformats.org/drawingml/2006/main" w="8573">
            <a:solidFill>
              <a:srgbClr val="8D5560"/>
            </a:solidFill>
            <a:prstDash val="solid"/>
          </a:ln>
        </p:spPr>
      </p:sp>
      <p:sp>
        <p:nvSpPr>
          <p:cNvPr id="7" name="Rectangle 6">
            <a:extLst xmlns:a="http://schemas.openxmlformats.org/drawingml/2006/main">
              <a:ext uri="{FF2B5EF4-FFF2-40B4-BE49-F238E27FC236}">
                <a16:creationId xmlns:a16="http://schemas.microsoft.com/office/drawing/2014/main" id="{88CE4FD7-B562-4401-B1BE-E7C2663DCAAD}"/>
              </a:ext>
            </a:extLst>
          </p:cNvPr>
          <p:cNvSpPr>
            <a:spLocks xmlns:a="http://schemas.openxmlformats.org/drawingml/2006/main" noGrp="1"/>
          </p:cNvSpPr>
          <p:nvPr/>
        </p:nvSpPr>
        <p:spPr>
          <a:xfrm xmlns:a="http://schemas.openxmlformats.org/drawingml/2006/main">
            <a:off x="914400" y="55816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1A202C"/>
                </a:solidFill>
                <a:latin typeface="Aptos"/>
                <a:ea typeface="Aptos"/>
                <a:cs typeface="Aptos"/>
              </a:defRPr>
            </a:pPr>
            <a:r>
              <a:rPr sz="1125" b="0">
                <a:solidFill>
                  <a:srgbClr val="1A202C"/>
                </a:solidFill>
                <a:latin typeface="Aptos"/>
                <a:ea typeface="Aptos"/>
                <a:cs typeface="Aptos"/>
              </a:rPr>
              <a:t>Факултет техничких наука · Универзитет у Новом Саду</a:t>
            </a:r>
          </a:p>
        </p:txBody>
      </p:sp>
      <p:sp>
        <p:nvSpPr>
          <p:cNvPr id="8" name="Rectangle 7">
            <a:extLst xmlns:a="http://schemas.openxmlformats.org/drawingml/2006/main">
              <a:ext uri="{FF2B5EF4-FFF2-40B4-BE49-F238E27FC236}">
                <a16:creationId xmlns:a16="http://schemas.microsoft.com/office/drawing/2014/main" id="{946FBCE8-11BA-4A20-B946-E3FE403AFCB5}"/>
              </a:ext>
            </a:extLst>
          </p:cNvPr>
          <p:cNvSpPr>
            <a:spLocks xmlns:a="http://schemas.openxmlformats.org/drawingml/2006/main" noGrp="1"/>
          </p:cNvSpPr>
          <p:nvPr/>
        </p:nvSpPr>
        <p:spPr>
          <a:xfrm xmlns:a="http://schemas.openxmlformats.org/drawingml/2006/main">
            <a:off x="8096250" y="558165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0">
                <a:solidFill>
                  <a:srgbClr val="647084"/>
                </a:solidFill>
                <a:latin typeface="Aptos"/>
                <a:ea typeface="Aptos"/>
                <a:cs typeface="Aptos"/>
              </a:defRPr>
            </a:pPr>
            <a:r>
              <a:rPr sz="1200" b="0">
                <a:solidFill>
                  <a:srgbClr val="647084"/>
                </a:solidFill>
                <a:latin typeface="Aptos"/>
                <a:ea typeface="Aptos"/>
                <a:cs typeface="Aptos"/>
              </a:rPr>
              <a:t>Академска 2026/27.</a:t>
            </a:r>
          </a:p>
        </p:txBody>
      </p:sp>
    </p:spTree>
    <p:extLst>
      <p:ext uri="{BB962C8B-B14F-4D97-AF65-F5344CB8AC3E}">
        <p14:creationId xmlns:p14="http://schemas.microsoft.com/office/powerpoint/2010/main" val="16327862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E38A8370-5038-45BB-B228-D602B7CA0ADB}"/>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037D3E5C-4A1C-4CFA-8EA7-D7F2275F10D6}"/>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10565160-A928-49F8-AC2B-7098EC29CB42}"/>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2</a:t>
            </a:r>
          </a:p>
        </p:txBody>
      </p:sp>
      <p:sp>
        <p:nvSpPr>
          <p:cNvPr id="4" name="Rectangle 3">
            <a:extLst xmlns:a="http://schemas.openxmlformats.org/drawingml/2006/main">
              <a:ext uri="{FF2B5EF4-FFF2-40B4-BE49-F238E27FC236}">
                <a16:creationId xmlns:a16="http://schemas.microsoft.com/office/drawing/2014/main" id="{96BBC174-2C53-48F1-BF55-DAC9AC32C274}"/>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Од безбедносног сигнала до инцидента</a:t>
            </a:r>
          </a:p>
        </p:txBody>
      </p:sp>
      <p:sp>
        <p:nvSpPr>
          <p:cNvPr id="5" name="Rectangle 4">
            <a:extLst xmlns:a="http://schemas.openxmlformats.org/drawingml/2006/main">
              <a:ext uri="{FF2B5EF4-FFF2-40B4-BE49-F238E27FC236}">
                <a16:creationId xmlns:a16="http://schemas.microsoft.com/office/drawing/2014/main" id="{B0966A4C-0697-465D-8AF2-83E17B4C5BCA}"/>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Систем ставља сигнал у контекст, процењује утицај и тек затим одређује потребан ниво реакције.</a:t>
            </a:r>
          </a:p>
        </p:txBody>
      </p:sp>
      <p:sp>
        <p:nvSpPr>
          <p:cNvPr id="6" name="Rounded Rectangle 5">
            <a:extLst xmlns:a="http://schemas.openxmlformats.org/drawingml/2006/main">
              <a:ext uri="{FF2B5EF4-FFF2-40B4-BE49-F238E27FC236}">
                <a16:creationId xmlns:a16="http://schemas.microsoft.com/office/drawing/2014/main" id="{FBE1FF1C-A01F-4FFA-99BB-D6FF8A0DEE0A}"/>
              </a:ext>
            </a:extLst>
          </p:cNvPr>
          <p:cNvSpPr>
            <a:spLocks xmlns:a="http://schemas.openxmlformats.org/drawingml/2006/main" noGrp="1"/>
          </p:cNvSpPr>
          <p:nvPr/>
        </p:nvSpPr>
        <p:spPr>
          <a:xfrm xmlns:a="http://schemas.openxmlformats.org/drawingml/2006/main">
            <a:off x="819150" y="2571750"/>
            <a:ext cx="3257550" cy="2228850"/>
          </a:xfrm>
          <a:prstGeom xmlns:a="http://schemas.openxmlformats.org/drawingml/2006/main" prst="roundRect">
            <a:avLst>
              <a:gd name="adj" fmla="val 5983"/>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11111B27-4FAE-403C-A0CF-6D6219B866B9}"/>
              </a:ext>
            </a:extLst>
          </p:cNvPr>
          <p:cNvSpPr>
            <a:spLocks xmlns:a="http://schemas.openxmlformats.org/drawingml/2006/main" noGrp="1"/>
          </p:cNvSpPr>
          <p:nvPr/>
        </p:nvSpPr>
        <p:spPr>
          <a:xfrm xmlns:a="http://schemas.openxmlformats.org/drawingml/2006/main">
            <a:off x="971550" y="26955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ПРЕДМЕТ АНАЛИЗЕ</a:t>
            </a:r>
          </a:p>
        </p:txBody>
      </p:sp>
      <p:sp>
        <p:nvSpPr>
          <p:cNvPr id="8" name="Rectangle 7">
            <a:extLst xmlns:a="http://schemas.openxmlformats.org/drawingml/2006/main">
              <a:ext uri="{FF2B5EF4-FFF2-40B4-BE49-F238E27FC236}">
                <a16:creationId xmlns:a16="http://schemas.microsoft.com/office/drawing/2014/main" id="{A1FC8AE1-69D5-4FCB-86FD-4518BA317EF3}"/>
              </a:ext>
            </a:extLst>
          </p:cNvPr>
          <p:cNvSpPr>
            <a:spLocks xmlns:a="http://schemas.openxmlformats.org/drawingml/2006/main" noGrp="1"/>
          </p:cNvSpPr>
          <p:nvPr/>
        </p:nvSpPr>
        <p:spPr>
          <a:xfrm xmlns:a="http://schemas.openxmlformats.org/drawingml/2006/main">
            <a:off x="971550" y="29432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Ризик који се анализира</a:t>
            </a:r>
          </a:p>
        </p:txBody>
      </p:sp>
      <p:sp>
        <p:nvSpPr>
          <p:cNvPr id="9" name="Rectangle 8">
            <a:extLst xmlns:a="http://schemas.openxmlformats.org/drawingml/2006/main">
              <a:ext uri="{FF2B5EF4-FFF2-40B4-BE49-F238E27FC236}">
                <a16:creationId xmlns:a16="http://schemas.microsoft.com/office/drawing/2014/main" id="{1D366C55-2AFE-4144-BA57-46EE36302490}"/>
              </a:ext>
            </a:extLst>
          </p:cNvPr>
          <p:cNvSpPr>
            <a:spLocks xmlns:a="http://schemas.openxmlformats.org/drawingml/2006/main" noGrp="1"/>
          </p:cNvSpPr>
          <p:nvPr/>
        </p:nvSpPr>
        <p:spPr>
          <a:xfrm xmlns:a="http://schemas.openxmlformats.org/drawingml/2006/main">
            <a:off x="971550" y="3352800"/>
            <a:ext cx="2952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5"/>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Безбедносни догађај није аутоматски инцидент. Систем најпре препознаје сигнал, затим га ставља у контекст и тек онда одређује да ли је потребна реакција. Такав ток спречава и игнорисање проблема и непотребно алармирање због сваког одступања.</a:t>
            </a:r>
          </a:p>
        </p:txBody>
      </p:sp>
      <p:sp>
        <p:nvSpPr>
          <p:cNvPr id="10" name="Rounded Rectangle 9">
            <a:extLst xmlns:a="http://schemas.openxmlformats.org/drawingml/2006/main">
              <a:ext uri="{FF2B5EF4-FFF2-40B4-BE49-F238E27FC236}">
                <a16:creationId xmlns:a16="http://schemas.microsoft.com/office/drawing/2014/main" id="{F14D9C72-1A3D-4A13-B31C-D768862C56DC}"/>
              </a:ext>
            </a:extLst>
          </p:cNvPr>
          <p:cNvSpPr>
            <a:spLocks xmlns:a="http://schemas.openxmlformats.org/drawingml/2006/main" noGrp="1"/>
          </p:cNvSpPr>
          <p:nvPr/>
        </p:nvSpPr>
        <p:spPr>
          <a:xfrm xmlns:a="http://schemas.openxmlformats.org/drawingml/2006/main">
            <a:off x="4467225" y="2571750"/>
            <a:ext cx="3257550" cy="2228850"/>
          </a:xfrm>
          <a:prstGeom xmlns:a="http://schemas.openxmlformats.org/drawingml/2006/main" prst="roundRect">
            <a:avLst>
              <a:gd name="adj" fmla="val 5983"/>
            </a:avLst>
          </a:prstGeom>
          <a:solidFill xmlns:a="http://schemas.openxmlformats.org/drawingml/2006/main">
            <a:srgbClr val="FFF6E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4DF5E1E9-EAFA-481C-A0D5-BC61DFFC5BF6}"/>
              </a:ext>
            </a:extLst>
          </p:cNvPr>
          <p:cNvSpPr>
            <a:spLocks xmlns:a="http://schemas.openxmlformats.org/drawingml/2006/main" noGrp="1"/>
          </p:cNvSpPr>
          <p:nvPr/>
        </p:nvSpPr>
        <p:spPr>
          <a:xfrm xmlns:a="http://schemas.openxmlformats.org/drawingml/2006/main">
            <a:off x="4619625" y="26955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ЗНАЧАЈ</a:t>
            </a:r>
          </a:p>
        </p:txBody>
      </p:sp>
      <p:sp>
        <p:nvSpPr>
          <p:cNvPr id="12" name="Rectangle 11">
            <a:extLst xmlns:a="http://schemas.openxmlformats.org/drawingml/2006/main">
              <a:ext uri="{FF2B5EF4-FFF2-40B4-BE49-F238E27FC236}">
                <a16:creationId xmlns:a16="http://schemas.microsoft.com/office/drawing/2014/main" id="{650A4C74-5AFA-4E94-AFFB-6D2C25A1CD93}"/>
              </a:ext>
            </a:extLst>
          </p:cNvPr>
          <p:cNvSpPr>
            <a:spLocks xmlns:a="http://schemas.openxmlformats.org/drawingml/2006/main" noGrp="1"/>
          </p:cNvSpPr>
          <p:nvPr/>
        </p:nvSpPr>
        <p:spPr>
          <a:xfrm xmlns:a="http://schemas.openxmlformats.org/drawingml/2006/main">
            <a:off x="4619625" y="29432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Значај за безбедност система</a:t>
            </a:r>
          </a:p>
        </p:txBody>
      </p:sp>
      <p:sp>
        <p:nvSpPr>
          <p:cNvPr id="13" name="Rectangle 12">
            <a:extLst xmlns:a="http://schemas.openxmlformats.org/drawingml/2006/main">
              <a:ext uri="{FF2B5EF4-FFF2-40B4-BE49-F238E27FC236}">
                <a16:creationId xmlns:a16="http://schemas.microsoft.com/office/drawing/2014/main" id="{DA25FC6F-F01B-4BC8-94FE-313179E8B580}"/>
              </a:ext>
            </a:extLst>
          </p:cNvPr>
          <p:cNvSpPr>
            <a:spLocks xmlns:a="http://schemas.openxmlformats.org/drawingml/2006/main" noGrp="1"/>
          </p:cNvSpPr>
          <p:nvPr/>
        </p:nvSpPr>
        <p:spPr>
          <a:xfrm xmlns:a="http://schemas.openxmlformats.org/drawingml/2006/main">
            <a:off x="4619625" y="3352800"/>
            <a:ext cx="2952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19"/>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Управљање инцидентом даје структуру тренутку када је најлакше изгубити контекст. Рањивост постаје решив проблем када је повезана са имовином, приоритетом, власником и доказом да је корекција проверена.</a:t>
            </a:r>
          </a:p>
        </p:txBody>
      </p:sp>
      <p:sp>
        <p:nvSpPr>
          <p:cNvPr id="14" name="Rounded Rectangle 13">
            <a:extLst xmlns:a="http://schemas.openxmlformats.org/drawingml/2006/main">
              <a:ext uri="{FF2B5EF4-FFF2-40B4-BE49-F238E27FC236}">
                <a16:creationId xmlns:a16="http://schemas.microsoft.com/office/drawing/2014/main" id="{0E5C4A5E-6FEF-43AB-926E-FBECAA5F3F30}"/>
              </a:ext>
            </a:extLst>
          </p:cNvPr>
          <p:cNvSpPr>
            <a:spLocks xmlns:a="http://schemas.openxmlformats.org/drawingml/2006/main" noGrp="1"/>
          </p:cNvSpPr>
          <p:nvPr/>
        </p:nvSpPr>
        <p:spPr>
          <a:xfrm xmlns:a="http://schemas.openxmlformats.org/drawingml/2006/main">
            <a:off x="8115300" y="2571750"/>
            <a:ext cx="3257550" cy="2228850"/>
          </a:xfrm>
          <a:prstGeom xmlns:a="http://schemas.openxmlformats.org/drawingml/2006/main" prst="roundRect">
            <a:avLst>
              <a:gd name="adj" fmla="val 5983"/>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275431F0-5F04-40F6-816A-0C9F03377F5B}"/>
              </a:ext>
            </a:extLst>
          </p:cNvPr>
          <p:cNvSpPr>
            <a:spLocks xmlns:a="http://schemas.openxmlformats.org/drawingml/2006/main" noGrp="1"/>
          </p:cNvSpPr>
          <p:nvPr/>
        </p:nvSpPr>
        <p:spPr>
          <a:xfrm xmlns:a="http://schemas.openxmlformats.org/drawingml/2006/main">
            <a:off x="8267700" y="26955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КРИТЕРИЈУМ ПРОВЕРЕ</a:t>
            </a:r>
          </a:p>
        </p:txBody>
      </p:sp>
      <p:sp>
        <p:nvSpPr>
          <p:cNvPr id="16" name="Rectangle 15">
            <a:extLst xmlns:a="http://schemas.openxmlformats.org/drawingml/2006/main">
              <a:ext uri="{FF2B5EF4-FFF2-40B4-BE49-F238E27FC236}">
                <a16:creationId xmlns:a16="http://schemas.microsoft.com/office/drawing/2014/main" id="{78241F78-26FC-4288-8092-CD0F9DE47A2B}"/>
              </a:ext>
            </a:extLst>
          </p:cNvPr>
          <p:cNvSpPr>
            <a:spLocks xmlns:a="http://schemas.openxmlformats.org/drawingml/2006/main" noGrp="1"/>
          </p:cNvSpPr>
          <p:nvPr/>
        </p:nvSpPr>
        <p:spPr>
          <a:xfrm xmlns:a="http://schemas.openxmlformats.org/drawingml/2006/main">
            <a:off x="8267700" y="29432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Проверљив резултат</a:t>
            </a:r>
          </a:p>
        </p:txBody>
      </p:sp>
      <p:sp>
        <p:nvSpPr>
          <p:cNvPr id="17" name="Rectangle 16">
            <a:extLst xmlns:a="http://schemas.openxmlformats.org/drawingml/2006/main">
              <a:ext uri="{FF2B5EF4-FFF2-40B4-BE49-F238E27FC236}">
                <a16:creationId xmlns:a16="http://schemas.microsoft.com/office/drawing/2014/main" id="{ED8CF00C-3196-4D92-A576-743A67C8A0C5}"/>
              </a:ext>
            </a:extLst>
          </p:cNvPr>
          <p:cNvSpPr>
            <a:spLocks xmlns:a="http://schemas.openxmlformats.org/drawingml/2006/main" noGrp="1"/>
          </p:cNvSpPr>
          <p:nvPr/>
        </p:nvSpPr>
        <p:spPr>
          <a:xfrm xmlns:a="http://schemas.openxmlformats.org/drawingml/2006/main">
            <a:off x="8267700" y="3352800"/>
            <a:ext cx="2952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Одлука је јасна, примењује се на серверу и оставља поновљив доказ успешног и одбијеног исхода.</a:t>
            </a:r>
          </a:p>
        </p:txBody>
      </p:sp>
    </p:spTree>
    <p:extLst>
      <p:ext uri="{BB962C8B-B14F-4D97-AF65-F5344CB8AC3E}">
        <p14:creationId xmlns:p14="http://schemas.microsoft.com/office/powerpoint/2010/main" val="16542024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Rectangle 27">
            <a:extLst xmlns:a="http://schemas.openxmlformats.org/drawingml/2006/main">
              <a:ext uri="{FF2B5EF4-FFF2-40B4-BE49-F238E27FC236}">
                <a16:creationId xmlns:a16="http://schemas.microsoft.com/office/drawing/2014/main" id="{E52087B7-030A-4B86-81ED-C889AD0F3870}"/>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70D8A320-4B0E-406A-8949-97B8F3E8492F}"/>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7318C5DA-0B6B-40CF-9361-D65CBA7CE213}"/>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3</a:t>
            </a:r>
          </a:p>
        </p:txBody>
      </p:sp>
      <p:sp>
        <p:nvSpPr>
          <p:cNvPr id="4" name="Rectangle 3">
            <a:extLst xmlns:a="http://schemas.openxmlformats.org/drawingml/2006/main">
              <a:ext uri="{FF2B5EF4-FFF2-40B4-BE49-F238E27FC236}">
                <a16:creationId xmlns:a16="http://schemas.microsoft.com/office/drawing/2014/main" id="{8D4D6591-9167-4F95-8041-A6E127E43297}"/>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Основни појмови</a:t>
            </a:r>
          </a:p>
        </p:txBody>
      </p:sp>
      <p:sp>
        <p:nvSpPr>
          <p:cNvPr id="5" name="Rectangle 4">
            <a:extLst xmlns:a="http://schemas.openxmlformats.org/drawingml/2006/main">
              <a:ext uri="{FF2B5EF4-FFF2-40B4-BE49-F238E27FC236}">
                <a16:creationId xmlns:a16="http://schemas.microsoft.com/office/drawing/2014/main" id="{D30199A7-5828-42B3-A993-39515C18FBC9}"/>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Сигнал, triage, инцидент и учење представљају различите фазе поступања у безбедносном догађају.</a:t>
            </a:r>
          </a:p>
        </p:txBody>
      </p:sp>
      <p:sp>
        <p:nvSpPr>
          <p:cNvPr id="6" name="Rounded Rectangle 5">
            <a:extLst xmlns:a="http://schemas.openxmlformats.org/drawingml/2006/main">
              <a:ext uri="{FF2B5EF4-FFF2-40B4-BE49-F238E27FC236}">
                <a16:creationId xmlns:a16="http://schemas.microsoft.com/office/drawing/2014/main" id="{18BEF625-8B6D-47AF-A8BE-890050FCCB34}"/>
              </a:ext>
            </a:extLst>
          </p:cNvPr>
          <p:cNvSpPr>
            <a:spLocks xmlns:a="http://schemas.openxmlformats.org/drawingml/2006/main" noGrp="1"/>
          </p:cNvSpPr>
          <p:nvPr/>
        </p:nvSpPr>
        <p:spPr>
          <a:xfrm xmlns:a="http://schemas.openxmlformats.org/drawingml/2006/main">
            <a:off x="723900" y="2419350"/>
            <a:ext cx="2471738" cy="1257300"/>
          </a:xfrm>
          <a:prstGeom xmlns:a="http://schemas.openxmlformats.org/drawingml/2006/main" prst="roundRect">
            <a:avLst>
              <a:gd name="adj" fmla="val 10606"/>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DA0C30F4-F7FE-4F85-ADCE-A95F8D5C70F5}"/>
              </a:ext>
            </a:extLst>
          </p:cNvPr>
          <p:cNvSpPr>
            <a:spLocks xmlns:a="http://schemas.openxmlformats.org/drawingml/2006/main" noGrp="1"/>
          </p:cNvSpPr>
          <p:nvPr/>
        </p:nvSpPr>
        <p:spPr>
          <a:xfrm xmlns:a="http://schemas.openxmlformats.org/drawingml/2006/main">
            <a:off x="866775" y="253365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E4FA1AE2-1399-4C17-8D0E-3533A3EACA9C}"/>
              </a:ext>
            </a:extLst>
          </p:cNvPr>
          <p:cNvSpPr>
            <a:spLocks xmlns:a="http://schemas.openxmlformats.org/drawingml/2006/main" noGrp="1"/>
          </p:cNvSpPr>
          <p:nvPr/>
        </p:nvSpPr>
        <p:spPr>
          <a:xfrm xmlns:a="http://schemas.openxmlformats.org/drawingml/2006/main">
            <a:off x="857250" y="281940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Сигнал</a:t>
            </a:r>
          </a:p>
        </p:txBody>
      </p:sp>
      <p:sp>
        <p:nvSpPr>
          <p:cNvPr id="9" name="Rectangle 8">
            <a:extLst xmlns:a="http://schemas.openxmlformats.org/drawingml/2006/main">
              <a:ext uri="{FF2B5EF4-FFF2-40B4-BE49-F238E27FC236}">
                <a16:creationId xmlns:a16="http://schemas.microsoft.com/office/drawing/2014/main" id="{561C3FF1-1977-4AB0-9263-E8F1B1D17083}"/>
              </a:ext>
            </a:extLst>
          </p:cNvPr>
          <p:cNvSpPr>
            <a:spLocks xmlns:a="http://schemas.openxmlformats.org/drawingml/2006/main" noGrp="1"/>
          </p:cNvSpPr>
          <p:nvPr/>
        </p:nvSpPr>
        <p:spPr>
          <a:xfrm xmlns:a="http://schemas.openxmlformats.org/drawingml/2006/main">
            <a:off x="866775" y="320992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уочено одступање</a:t>
            </a:r>
          </a:p>
        </p:txBody>
      </p:sp>
      <p:sp>
        <p:nvSpPr>
          <p:cNvPr id="10" name="Rounded Rectangle 9">
            <a:extLst xmlns:a="http://schemas.openxmlformats.org/drawingml/2006/main">
              <a:ext uri="{FF2B5EF4-FFF2-40B4-BE49-F238E27FC236}">
                <a16:creationId xmlns:a16="http://schemas.microsoft.com/office/drawing/2014/main" id="{74061374-9471-4A53-B286-16B28EA1A049}"/>
              </a:ext>
            </a:extLst>
          </p:cNvPr>
          <p:cNvSpPr>
            <a:spLocks xmlns:a="http://schemas.openxmlformats.org/drawingml/2006/main" noGrp="1"/>
          </p:cNvSpPr>
          <p:nvPr/>
        </p:nvSpPr>
        <p:spPr>
          <a:xfrm xmlns:a="http://schemas.openxmlformats.org/drawingml/2006/main">
            <a:off x="3481388" y="2419350"/>
            <a:ext cx="2471738" cy="1257300"/>
          </a:xfrm>
          <a:prstGeom xmlns:a="http://schemas.openxmlformats.org/drawingml/2006/main" prst="roundRect">
            <a:avLst>
              <a:gd name="adj" fmla="val 10606"/>
            </a:avLst>
          </a:prstGeom>
          <a:solidFill xmlns:a="http://schemas.openxmlformats.org/drawingml/2006/main">
            <a:srgbClr val="FFF6E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00768F5D-40CE-4A7F-A6FD-ECEDD0060382}"/>
              </a:ext>
            </a:extLst>
          </p:cNvPr>
          <p:cNvSpPr>
            <a:spLocks xmlns:a="http://schemas.openxmlformats.org/drawingml/2006/main" noGrp="1"/>
          </p:cNvSpPr>
          <p:nvPr/>
        </p:nvSpPr>
        <p:spPr>
          <a:xfrm xmlns:a="http://schemas.openxmlformats.org/drawingml/2006/main">
            <a:off x="3624263" y="253365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23A4ED6E-7BF3-422C-9413-B9D0760322B1}"/>
              </a:ext>
            </a:extLst>
          </p:cNvPr>
          <p:cNvSpPr>
            <a:spLocks xmlns:a="http://schemas.openxmlformats.org/drawingml/2006/main" noGrp="1"/>
          </p:cNvSpPr>
          <p:nvPr/>
        </p:nvSpPr>
        <p:spPr>
          <a:xfrm xmlns:a="http://schemas.openxmlformats.org/drawingml/2006/main">
            <a:off x="3614738" y="281940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Triage</a:t>
            </a:r>
          </a:p>
        </p:txBody>
      </p:sp>
      <p:sp>
        <p:nvSpPr>
          <p:cNvPr id="13" name="Rectangle 12">
            <a:extLst xmlns:a="http://schemas.openxmlformats.org/drawingml/2006/main">
              <a:ext uri="{FF2B5EF4-FFF2-40B4-BE49-F238E27FC236}">
                <a16:creationId xmlns:a16="http://schemas.microsoft.com/office/drawing/2014/main" id="{5A9BF2CD-5316-4145-ADAB-E94044B10FB6}"/>
              </a:ext>
            </a:extLst>
          </p:cNvPr>
          <p:cNvSpPr>
            <a:spLocks xmlns:a="http://schemas.openxmlformats.org/drawingml/2006/main" noGrp="1"/>
          </p:cNvSpPr>
          <p:nvPr/>
        </p:nvSpPr>
        <p:spPr>
          <a:xfrm xmlns:a="http://schemas.openxmlformats.org/drawingml/2006/main">
            <a:off x="3624263" y="320992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провера контекста и утицаја</a:t>
            </a:r>
          </a:p>
        </p:txBody>
      </p:sp>
      <p:sp>
        <p:nvSpPr>
          <p:cNvPr id="14" name="Rounded Rectangle 13">
            <a:extLst xmlns:a="http://schemas.openxmlformats.org/drawingml/2006/main">
              <a:ext uri="{FF2B5EF4-FFF2-40B4-BE49-F238E27FC236}">
                <a16:creationId xmlns:a16="http://schemas.microsoft.com/office/drawing/2014/main" id="{83C264F0-3268-47AE-BCDD-20D7B7823CD5}"/>
              </a:ext>
            </a:extLst>
          </p:cNvPr>
          <p:cNvSpPr>
            <a:spLocks xmlns:a="http://schemas.openxmlformats.org/drawingml/2006/main" noGrp="1"/>
          </p:cNvSpPr>
          <p:nvPr/>
        </p:nvSpPr>
        <p:spPr>
          <a:xfrm xmlns:a="http://schemas.openxmlformats.org/drawingml/2006/main">
            <a:off x="6238875" y="2419350"/>
            <a:ext cx="2471738" cy="1257300"/>
          </a:xfrm>
          <a:prstGeom xmlns:a="http://schemas.openxmlformats.org/drawingml/2006/main" prst="roundRect">
            <a:avLst>
              <a:gd name="adj" fmla="val 10606"/>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E1194678-B997-4524-B141-BC11F1CB0A52}"/>
              </a:ext>
            </a:extLst>
          </p:cNvPr>
          <p:cNvSpPr>
            <a:spLocks xmlns:a="http://schemas.openxmlformats.org/drawingml/2006/main" noGrp="1"/>
          </p:cNvSpPr>
          <p:nvPr/>
        </p:nvSpPr>
        <p:spPr>
          <a:xfrm xmlns:a="http://schemas.openxmlformats.org/drawingml/2006/main">
            <a:off x="6381750" y="253365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6B3F3FF1-8C71-4828-820A-CFBA9B736A1A}"/>
              </a:ext>
            </a:extLst>
          </p:cNvPr>
          <p:cNvSpPr>
            <a:spLocks xmlns:a="http://schemas.openxmlformats.org/drawingml/2006/main" noGrp="1"/>
          </p:cNvSpPr>
          <p:nvPr/>
        </p:nvSpPr>
        <p:spPr>
          <a:xfrm xmlns:a="http://schemas.openxmlformats.org/drawingml/2006/main">
            <a:off x="6372225" y="281940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Инцидент</a:t>
            </a:r>
          </a:p>
        </p:txBody>
      </p:sp>
      <p:sp>
        <p:nvSpPr>
          <p:cNvPr id="17" name="Rectangle 16">
            <a:extLst xmlns:a="http://schemas.openxmlformats.org/drawingml/2006/main">
              <a:ext uri="{FF2B5EF4-FFF2-40B4-BE49-F238E27FC236}">
                <a16:creationId xmlns:a16="http://schemas.microsoft.com/office/drawing/2014/main" id="{DCBDC94F-6A1D-40B7-AE5E-61E34881DD9E}"/>
              </a:ext>
            </a:extLst>
          </p:cNvPr>
          <p:cNvSpPr>
            <a:spLocks xmlns:a="http://schemas.openxmlformats.org/drawingml/2006/main" noGrp="1"/>
          </p:cNvSpPr>
          <p:nvPr/>
        </p:nvSpPr>
        <p:spPr>
          <a:xfrm xmlns:a="http://schemas.openxmlformats.org/drawingml/2006/main">
            <a:off x="6381750" y="320992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координисана реакција</a:t>
            </a:r>
          </a:p>
        </p:txBody>
      </p:sp>
      <p:sp>
        <p:nvSpPr>
          <p:cNvPr id="18" name="Rounded Rectangle 17">
            <a:extLst xmlns:a="http://schemas.openxmlformats.org/drawingml/2006/main">
              <a:ext uri="{FF2B5EF4-FFF2-40B4-BE49-F238E27FC236}">
                <a16:creationId xmlns:a16="http://schemas.microsoft.com/office/drawing/2014/main" id="{3709DF61-CA26-4B5C-990A-BB6661774D95}"/>
              </a:ext>
            </a:extLst>
          </p:cNvPr>
          <p:cNvSpPr>
            <a:spLocks xmlns:a="http://schemas.openxmlformats.org/drawingml/2006/main" noGrp="1"/>
          </p:cNvSpPr>
          <p:nvPr/>
        </p:nvSpPr>
        <p:spPr>
          <a:xfrm xmlns:a="http://schemas.openxmlformats.org/drawingml/2006/main">
            <a:off x="8996363" y="2419350"/>
            <a:ext cx="2471738" cy="1257300"/>
          </a:xfrm>
          <a:prstGeom xmlns:a="http://schemas.openxmlformats.org/drawingml/2006/main" prst="roundRect">
            <a:avLst>
              <a:gd name="adj" fmla="val 10606"/>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angle 18">
            <a:extLst xmlns:a="http://schemas.openxmlformats.org/drawingml/2006/main">
              <a:ext uri="{FF2B5EF4-FFF2-40B4-BE49-F238E27FC236}">
                <a16:creationId xmlns:a16="http://schemas.microsoft.com/office/drawing/2014/main" id="{B29B025D-A3F2-4C67-AFC8-A608F25DCDF7}"/>
              </a:ext>
            </a:extLst>
          </p:cNvPr>
          <p:cNvSpPr>
            <a:spLocks xmlns:a="http://schemas.openxmlformats.org/drawingml/2006/main" noGrp="1"/>
          </p:cNvSpPr>
          <p:nvPr/>
        </p:nvSpPr>
        <p:spPr>
          <a:xfrm xmlns:a="http://schemas.openxmlformats.org/drawingml/2006/main">
            <a:off x="9139238" y="253365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xmlns:a="http://schemas.openxmlformats.org/drawingml/2006/main">
              <a:ext uri="{FF2B5EF4-FFF2-40B4-BE49-F238E27FC236}">
                <a16:creationId xmlns:a16="http://schemas.microsoft.com/office/drawing/2014/main" id="{5FBE65DB-AECF-4F51-BC10-543797B81A3A}"/>
              </a:ext>
            </a:extLst>
          </p:cNvPr>
          <p:cNvSpPr>
            <a:spLocks xmlns:a="http://schemas.openxmlformats.org/drawingml/2006/main" noGrp="1"/>
          </p:cNvSpPr>
          <p:nvPr/>
        </p:nvSpPr>
        <p:spPr>
          <a:xfrm xmlns:a="http://schemas.openxmlformats.org/drawingml/2006/main">
            <a:off x="9129713" y="281940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Учење</a:t>
            </a:r>
          </a:p>
        </p:txBody>
      </p:sp>
      <p:sp>
        <p:nvSpPr>
          <p:cNvPr id="21" name="Rectangle 20">
            <a:extLst xmlns:a="http://schemas.openxmlformats.org/drawingml/2006/main">
              <a:ext uri="{FF2B5EF4-FFF2-40B4-BE49-F238E27FC236}">
                <a16:creationId xmlns:a16="http://schemas.microsoft.com/office/drawing/2014/main" id="{7F00C206-33A0-4F9C-85F7-26EA3FC80EFF}"/>
              </a:ext>
            </a:extLst>
          </p:cNvPr>
          <p:cNvSpPr>
            <a:spLocks xmlns:a="http://schemas.openxmlformats.org/drawingml/2006/main" noGrp="1"/>
          </p:cNvSpPr>
          <p:nvPr/>
        </p:nvSpPr>
        <p:spPr>
          <a:xfrm xmlns:a="http://schemas.openxmlformats.org/drawingml/2006/main">
            <a:off x="9139238" y="320992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корекција и превенција</a:t>
            </a:r>
          </a:p>
        </p:txBody>
      </p:sp>
      <p:cxnSp>
        <p:nvCxnSpPr>
          <p:cNvPr id="221" name="Straight Arrow Connector 124"/>
          <p:cNvCxnSpPr>
            <a:stCxn xmlns:a="http://schemas.openxmlformats.org/drawingml/2006/main" id="6" idx="3"/>
            <a:endCxn xmlns:a="http://schemas.openxmlformats.org/drawingml/2006/main" id="10" idx="1"/>
          </p:cNvCxnSpPr>
          <p:nvPr/>
        </p:nvCxnSpPr>
        <p:spPr>
          <a:xfrm xmlns:a="http://schemas.openxmlformats.org/drawingml/2006/main">
            <a:off x="3195638" y="304800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2" name="Straight Arrow Connector 125"/>
          <p:cNvCxnSpPr>
            <a:stCxn xmlns:a="http://schemas.openxmlformats.org/drawingml/2006/main" id="10" idx="3"/>
            <a:endCxn xmlns:a="http://schemas.openxmlformats.org/drawingml/2006/main" id="14" idx="1"/>
          </p:cNvCxnSpPr>
          <p:nvPr/>
        </p:nvCxnSpPr>
        <p:spPr>
          <a:xfrm xmlns:a="http://schemas.openxmlformats.org/drawingml/2006/main">
            <a:off x="5953126" y="3048000"/>
            <a:ext cx="285749"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3" name="Straight Arrow Connector 126"/>
          <p:cNvCxnSpPr>
            <a:stCxn xmlns:a="http://schemas.openxmlformats.org/drawingml/2006/main" id="14" idx="3"/>
            <a:endCxn xmlns:a="http://schemas.openxmlformats.org/drawingml/2006/main" id="18" idx="1"/>
          </p:cNvCxnSpPr>
          <p:nvPr/>
        </p:nvCxnSpPr>
        <p:spPr>
          <a:xfrm xmlns:a="http://schemas.openxmlformats.org/drawingml/2006/main">
            <a:off x="8710613" y="304800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sp>
        <p:nvSpPr>
          <p:cNvPr id="25" name="Rounded Rectangle 24">
            <a:extLst xmlns:a="http://schemas.openxmlformats.org/drawingml/2006/main">
              <a:ext uri="{FF2B5EF4-FFF2-40B4-BE49-F238E27FC236}">
                <a16:creationId xmlns:a16="http://schemas.microsoft.com/office/drawing/2014/main" id="{F9AD5A1F-51C4-4A16-A245-B792F1FCE05C}"/>
              </a:ext>
            </a:extLst>
          </p:cNvPr>
          <p:cNvSpPr>
            <a:spLocks xmlns:a="http://schemas.openxmlformats.org/drawingml/2006/main" noGrp="1"/>
          </p:cNvSpPr>
          <p:nvPr/>
        </p:nvSpPr>
        <p:spPr>
          <a:xfrm xmlns:a="http://schemas.openxmlformats.org/drawingml/2006/main">
            <a:off x="1619250" y="4286250"/>
            <a:ext cx="8953500" cy="800100"/>
          </a:xfrm>
          <a:prstGeom xmlns:a="http://schemas.openxmlformats.org/drawingml/2006/main" prst="roundRect">
            <a:avLst>
              <a:gd name="adj" fmla="val 15476"/>
            </a:avLst>
          </a:prstGeom>
          <a:solidFill xmlns:a="http://schemas.openxmlformats.org/drawingml/2006/main">
            <a:srgbClr val="F4F6F9"/>
          </a:solidFill>
          <a:ln xmlns:a="http://schemas.openxmlformats.org/drawingml/2006/main" w="9525">
            <a:solidFill>
              <a:srgbClr val="D7DEE8"/>
            </a:solidFill>
            <a:prstDash val="solid"/>
          </a:ln>
        </p:spPr>
      </p:sp>
      <p:sp>
        <p:nvSpPr>
          <p:cNvPr id="26" name="Rounded Rectangle 25">
            <a:extLst xmlns:a="http://schemas.openxmlformats.org/drawingml/2006/main">
              <a:ext uri="{FF2B5EF4-FFF2-40B4-BE49-F238E27FC236}">
                <a16:creationId xmlns:a16="http://schemas.microsoft.com/office/drawing/2014/main" id="{0BAF6E79-7151-416F-A6A8-65C41C0736FE}"/>
              </a:ext>
            </a:extLst>
          </p:cNvPr>
          <p:cNvSpPr>
            <a:spLocks xmlns:a="http://schemas.openxmlformats.org/drawingml/2006/main" noGrp="1"/>
          </p:cNvSpPr>
          <p:nvPr/>
        </p:nvSpPr>
        <p:spPr>
          <a:xfrm xmlns:a="http://schemas.openxmlformats.org/drawingml/2006/main">
            <a:off x="1752600" y="4429125"/>
            <a:ext cx="57150" cy="5143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6" name="Rounded Rectangle 75">
            <a:extLst xmlns:a="http://schemas.openxmlformats.org/drawingml/2006/main">
              <a:ext uri="{FF2B5EF4-FFF2-40B4-BE49-F238E27FC236}">
                <a16:creationId xmlns:a16="http://schemas.microsoft.com/office/drawing/2014/main" id="{0F4EE33F-C271-47CA-B165-C3B73756C078}"/>
              </a:ext>
            </a:extLst>
          </p:cNvPr>
          <p:cNvSpPr>
            <a:spLocks xmlns:a="http://schemas.openxmlformats.org/drawingml/2006/main" noGrp="1"/>
          </p:cNvSpPr>
          <p:nvPr/>
        </p:nvSpPr>
        <p:spPr>
          <a:xfrm xmlns:a="http://schemas.openxmlformats.org/drawingml/2006/main">
            <a:off x="914400" y="4305300"/>
            <a:ext cx="10363200" cy="800100"/>
          </a:xfrm>
          <a:prstGeom xmlns:a="http://schemas.openxmlformats.org/drawingml/2006/main" prst="roundRect">
            <a:avLst>
              <a:gd name="adj" fmla="val 16667"/>
            </a:avLst>
          </a:prstGeom>
          <a:solidFill xmlns:a="http://schemas.openxmlformats.org/drawingml/2006/main">
            <a:srgbClr val="F7EFF1"/>
          </a:solidFill>
          <a:ln xmlns:a="http://schemas.openxmlformats.org/drawingml/2006/main" w="8573">
            <a:solidFill>
              <a:srgbClr val="DBC7CC"/>
            </a:solidFill>
            <a:prstDash val="solid"/>
          </a:ln>
        </p:spPr>
      </p:sp>
      <p:sp>
        <p:nvSpPr>
          <p:cNvPr id="77" name="Rounded Rectangle 76">
            <a:extLst xmlns:a="http://schemas.openxmlformats.org/drawingml/2006/main">
              <a:ext uri="{FF2B5EF4-FFF2-40B4-BE49-F238E27FC236}">
                <a16:creationId xmlns:a16="http://schemas.microsoft.com/office/drawing/2014/main" id="{E48C6208-E406-43E8-8CED-77E057A90D34}"/>
              </a:ext>
            </a:extLst>
          </p:cNvPr>
          <p:cNvSpPr>
            <a:spLocks xmlns:a="http://schemas.openxmlformats.org/drawingml/2006/main" noGrp="1"/>
          </p:cNvSpPr>
          <p:nvPr/>
        </p:nvSpPr>
        <p:spPr>
          <a:xfrm xmlns:a="http://schemas.openxmlformats.org/drawingml/2006/main">
            <a:off x="1085850" y="4457700"/>
            <a:ext cx="57150" cy="4953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8" name="Rectangle 77">
            <a:extLst xmlns:a="http://schemas.openxmlformats.org/drawingml/2006/main">
              <a:ext uri="{FF2B5EF4-FFF2-40B4-BE49-F238E27FC236}">
                <a16:creationId xmlns:a16="http://schemas.microsoft.com/office/drawing/2014/main" id="{8A943BD6-2E8C-419E-BBA8-8EDBC8F1BA37}"/>
              </a:ext>
            </a:extLst>
          </p:cNvPr>
          <p:cNvSpPr>
            <a:spLocks xmlns:a="http://schemas.openxmlformats.org/drawingml/2006/main" noGrp="1"/>
          </p:cNvSpPr>
          <p:nvPr/>
        </p:nvSpPr>
        <p:spPr>
          <a:xfrm xmlns:a="http://schemas.openxmlformats.org/drawingml/2006/main">
            <a:off x="1333500" y="44100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ЗАКЉУЧАК</a:t>
            </a:r>
          </a:p>
        </p:txBody>
      </p:sp>
      <p:sp>
        <p:nvSpPr>
          <p:cNvPr id="79" name="Rectangle 78">
            <a:extLst xmlns:a="http://schemas.openxmlformats.org/drawingml/2006/main">
              <a:ext uri="{FF2B5EF4-FFF2-40B4-BE49-F238E27FC236}">
                <a16:creationId xmlns:a16="http://schemas.microsoft.com/office/drawing/2014/main" id="{8CA449BC-FF9E-4265-8D37-C4A268280A73}"/>
              </a:ext>
            </a:extLst>
          </p:cNvPr>
          <p:cNvSpPr>
            <a:spLocks xmlns:a="http://schemas.openxmlformats.org/drawingml/2006/main" noGrp="1"/>
          </p:cNvSpPr>
          <p:nvPr/>
        </p:nvSpPr>
        <p:spPr>
          <a:xfrm xmlns:a="http://schemas.openxmlformats.org/drawingml/2006/main">
            <a:off x="1333500" y="4638675"/>
            <a:ext cx="963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5555"/>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Значајни сигнали пролазе процену контекста и утицаја пре отварања инцидента. Исход анализе остаје доступан за наредне одлуке.</a:t>
            </a:r>
          </a:p>
        </p:txBody>
      </p:sp>
    </p:spTree>
    <p:extLst>
      <p:ext uri="{BB962C8B-B14F-4D97-AF65-F5344CB8AC3E}">
        <p14:creationId xmlns:p14="http://schemas.microsoft.com/office/powerpoint/2010/main" val="19549516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D90F5FA7-BE4B-4E07-A0A2-DED2D4F919EA}"/>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E05E145B-9F6F-41EF-9EBC-72B937C114DB}"/>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6A73CC74-1F8E-4A74-9291-E0BBCA2A1084}"/>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4</a:t>
            </a:r>
          </a:p>
        </p:txBody>
      </p:sp>
      <p:sp>
        <p:nvSpPr>
          <p:cNvPr id="4" name="Rectangle 3">
            <a:extLst xmlns:a="http://schemas.openxmlformats.org/drawingml/2006/main">
              <a:ext uri="{FF2B5EF4-FFF2-40B4-BE49-F238E27FC236}">
                <a16:creationId xmlns:a16="http://schemas.microsoft.com/office/drawing/2014/main" id="{3E82C2FE-6AD0-4EBE-9A1F-9DEF3528764E}"/>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Сигнал</a:t>
            </a:r>
          </a:p>
        </p:txBody>
      </p:sp>
      <p:sp>
        <p:nvSpPr>
          <p:cNvPr id="5" name="Rectangle 4">
            <a:extLst xmlns:a="http://schemas.openxmlformats.org/drawingml/2006/main">
              <a:ext uri="{FF2B5EF4-FFF2-40B4-BE49-F238E27FC236}">
                <a16:creationId xmlns:a16="http://schemas.microsoft.com/office/drawing/2014/main" id="{E073F4F8-CC30-4039-9154-6B080CD4E193}"/>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уочено одступање</a:t>
            </a:r>
          </a:p>
        </p:txBody>
      </p:sp>
      <p:sp>
        <p:nvSpPr>
          <p:cNvPr id="6" name="Rounded Rectangle 5">
            <a:extLst xmlns:a="http://schemas.openxmlformats.org/drawingml/2006/main">
              <a:ext uri="{FF2B5EF4-FFF2-40B4-BE49-F238E27FC236}">
                <a16:creationId xmlns:a16="http://schemas.microsoft.com/office/drawing/2014/main" id="{9E18F851-265D-443F-8995-949DA46AA81B}"/>
              </a:ext>
            </a:extLst>
          </p:cNvPr>
          <p:cNvSpPr>
            <a:spLocks xmlns:a="http://schemas.openxmlformats.org/drawingml/2006/main" noGrp="1"/>
          </p:cNvSpPr>
          <p:nvPr/>
        </p:nvSpPr>
        <p:spPr>
          <a:xfrm xmlns:a="http://schemas.openxmlformats.org/drawingml/2006/main">
            <a:off x="895350" y="2428875"/>
            <a:ext cx="3257550" cy="1952625"/>
          </a:xfrm>
          <a:prstGeom xmlns:a="http://schemas.openxmlformats.org/drawingml/2006/main" prst="roundRect">
            <a:avLst>
              <a:gd name="adj" fmla="val 6829"/>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7015D255-F8AE-4451-AF24-9BA32F1F91D1}"/>
              </a:ext>
            </a:extLst>
          </p:cNvPr>
          <p:cNvSpPr>
            <a:spLocks xmlns:a="http://schemas.openxmlformats.org/drawingml/2006/main" noGrp="1"/>
          </p:cNvSpPr>
          <p:nvPr/>
        </p:nvSpPr>
        <p:spPr>
          <a:xfrm xmlns:a="http://schemas.openxmlformats.org/drawingml/2006/main">
            <a:off x="10477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1B948181-1FEB-453B-B73D-AE78A82714C2}"/>
              </a:ext>
            </a:extLst>
          </p:cNvPr>
          <p:cNvSpPr>
            <a:spLocks xmlns:a="http://schemas.openxmlformats.org/drawingml/2006/main" noGrp="1"/>
          </p:cNvSpPr>
          <p:nvPr/>
        </p:nvSpPr>
        <p:spPr>
          <a:xfrm xmlns:a="http://schemas.openxmlformats.org/drawingml/2006/main">
            <a:off x="10477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Сигнал настаје када догађаји пређу праг унутар одређеног временског прозора.</a:t>
            </a:r>
          </a:p>
        </p:txBody>
      </p:sp>
      <p:sp>
        <p:nvSpPr>
          <p:cNvPr id="9" name="Rectangle 8">
            <a:extLst xmlns:a="http://schemas.openxmlformats.org/drawingml/2006/main">
              <a:ext uri="{FF2B5EF4-FFF2-40B4-BE49-F238E27FC236}">
                <a16:creationId xmlns:a16="http://schemas.microsoft.com/office/drawing/2014/main" id="{20D13C15-BC2D-42C0-B612-3BF92B730736}"/>
              </a:ext>
            </a:extLst>
          </p:cNvPr>
          <p:cNvSpPr>
            <a:spLocks xmlns:a="http://schemas.openxmlformats.org/drawingml/2006/main" noGrp="1"/>
          </p:cNvSpPr>
          <p:nvPr/>
        </p:nvSpPr>
        <p:spPr>
          <a:xfrm xmlns:a="http://schemas.openxmlformats.org/drawingml/2006/main">
            <a:off x="10477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xmlns:a="http://schemas.openxmlformats.org/drawingml/2006/main">
              <a:ext uri="{FF2B5EF4-FFF2-40B4-BE49-F238E27FC236}">
                <a16:creationId xmlns:a16="http://schemas.microsoft.com/office/drawing/2014/main" id="{31D0C935-BA31-413B-A388-7D61DB9BC5BF}"/>
              </a:ext>
            </a:extLst>
          </p:cNvPr>
          <p:cNvSpPr>
            <a:spLocks xmlns:a="http://schemas.openxmlformats.org/drawingml/2006/main" noGrp="1"/>
          </p:cNvSpPr>
          <p:nvPr/>
        </p:nvSpPr>
        <p:spPr>
          <a:xfrm xmlns:a="http://schemas.openxmlformats.org/drawingml/2006/main">
            <a:off x="4457700" y="2428875"/>
            <a:ext cx="3257550" cy="1952625"/>
          </a:xfrm>
          <a:prstGeom xmlns:a="http://schemas.openxmlformats.org/drawingml/2006/main" prst="roundRect">
            <a:avLst>
              <a:gd name="adj" fmla="val 6829"/>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DD2D9FAB-1F40-4263-B06E-AD52C4F3CC28}"/>
              </a:ext>
            </a:extLst>
          </p:cNvPr>
          <p:cNvSpPr>
            <a:spLocks xmlns:a="http://schemas.openxmlformats.org/drawingml/2006/main" noGrp="1"/>
          </p:cNvSpPr>
          <p:nvPr/>
        </p:nvSpPr>
        <p:spPr>
          <a:xfrm xmlns:a="http://schemas.openxmlformats.org/drawingml/2006/main">
            <a:off x="461010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034A7B28-7CE0-4691-91EE-446D8421AE71}"/>
              </a:ext>
            </a:extLst>
          </p:cNvPr>
          <p:cNvSpPr>
            <a:spLocks xmlns:a="http://schemas.openxmlformats.org/drawingml/2006/main" noGrp="1"/>
          </p:cNvSpPr>
          <p:nvPr/>
        </p:nvSpPr>
        <p:spPr>
          <a:xfrm xmlns:a="http://schemas.openxmlformats.org/drawingml/2006/main">
            <a:off x="461010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997"/>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Појединачан неуспео покушај није сигнал, а успешне пријаве се не броје.</a:t>
            </a:r>
          </a:p>
        </p:txBody>
      </p:sp>
      <p:sp>
        <p:nvSpPr>
          <p:cNvPr id="13" name="Rectangle 12">
            <a:extLst xmlns:a="http://schemas.openxmlformats.org/drawingml/2006/main">
              <a:ext uri="{FF2B5EF4-FFF2-40B4-BE49-F238E27FC236}">
                <a16:creationId xmlns:a16="http://schemas.microsoft.com/office/drawing/2014/main" id="{4E66097E-9C33-4194-AC97-DEC90E724325}"/>
              </a:ext>
            </a:extLst>
          </p:cNvPr>
          <p:cNvSpPr>
            <a:spLocks xmlns:a="http://schemas.openxmlformats.org/drawingml/2006/main" noGrp="1"/>
          </p:cNvSpPr>
          <p:nvPr/>
        </p:nvSpPr>
        <p:spPr>
          <a:xfrm xmlns:a="http://schemas.openxmlformats.org/drawingml/2006/main">
            <a:off x="461010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xmlns:a="http://schemas.openxmlformats.org/drawingml/2006/main">
              <a:ext uri="{FF2B5EF4-FFF2-40B4-BE49-F238E27FC236}">
                <a16:creationId xmlns:a16="http://schemas.microsoft.com/office/drawing/2014/main" id="{F7C147EC-02F9-4CEF-985C-0A84C5D1F3B6}"/>
              </a:ext>
            </a:extLst>
          </p:cNvPr>
          <p:cNvSpPr>
            <a:spLocks xmlns:a="http://schemas.openxmlformats.org/drawingml/2006/main" noGrp="1"/>
          </p:cNvSpPr>
          <p:nvPr/>
        </p:nvSpPr>
        <p:spPr>
          <a:xfrm xmlns:a="http://schemas.openxmlformats.org/drawingml/2006/main">
            <a:off x="8020050" y="2428875"/>
            <a:ext cx="3257550" cy="1952625"/>
          </a:xfrm>
          <a:prstGeom xmlns:a="http://schemas.openxmlformats.org/drawingml/2006/main" prst="roundRect">
            <a:avLst>
              <a:gd name="adj" fmla="val 6829"/>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161D0870-14B4-4FC1-8475-148EC7DB5327}"/>
              </a:ext>
            </a:extLst>
          </p:cNvPr>
          <p:cNvSpPr>
            <a:spLocks xmlns:a="http://schemas.openxmlformats.org/drawingml/2006/main" noGrp="1"/>
          </p:cNvSpPr>
          <p:nvPr/>
        </p:nvSpPr>
        <p:spPr>
          <a:xfrm xmlns:a="http://schemas.openxmlformats.org/drawingml/2006/main">
            <a:off x="81724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1B7604C7-5E06-43E9-8328-A444739B8EC5}"/>
              </a:ext>
            </a:extLst>
          </p:cNvPr>
          <p:cNvSpPr>
            <a:spLocks xmlns:a="http://schemas.openxmlformats.org/drawingml/2006/main" noGrp="1"/>
          </p:cNvSpPr>
          <p:nvPr/>
        </p:nvSpPr>
        <p:spPr>
          <a:xfrm xmlns:a="http://schemas.openxmlformats.org/drawingml/2006/main">
            <a:off x="81724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Сигнал носи контекст: назив правила, субјекта, изворну адресу и број покушаја.</a:t>
            </a:r>
          </a:p>
        </p:txBody>
      </p:sp>
      <p:sp>
        <p:nvSpPr>
          <p:cNvPr id="17" name="Rectangle 16">
            <a:extLst xmlns:a="http://schemas.openxmlformats.org/drawingml/2006/main">
              <a:ext uri="{FF2B5EF4-FFF2-40B4-BE49-F238E27FC236}">
                <a16:creationId xmlns:a16="http://schemas.microsoft.com/office/drawing/2014/main" id="{CB170EFF-236E-48EB-A300-1680B8164658}"/>
              </a:ext>
            </a:extLst>
          </p:cNvPr>
          <p:cNvSpPr>
            <a:spLocks xmlns:a="http://schemas.openxmlformats.org/drawingml/2006/main" noGrp="1"/>
          </p:cNvSpPr>
          <p:nvPr/>
        </p:nvSpPr>
        <p:spPr>
          <a:xfrm xmlns:a="http://schemas.openxmlformats.org/drawingml/2006/main">
            <a:off x="81724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xmlns:a="http://schemas.openxmlformats.org/drawingml/2006/main">
              <a:ext uri="{FF2B5EF4-FFF2-40B4-BE49-F238E27FC236}">
                <a16:creationId xmlns:a16="http://schemas.microsoft.com/office/drawing/2014/main" id="{2294280B-22D0-4F67-8202-A2F1F7E712B0}"/>
              </a:ext>
            </a:extLst>
          </p:cNvPr>
          <p:cNvSpPr>
            <a:spLocks xmlns:a="http://schemas.openxmlformats.org/drawingml/2006/main" noGrp="1"/>
          </p:cNvSpPr>
          <p:nvPr/>
        </p:nvSpPr>
        <p:spPr>
          <a:xfrm xmlns:a="http://schemas.openxmlformats.org/drawingml/2006/main">
            <a:off x="1600200" y="4752975"/>
            <a:ext cx="8991600" cy="742950"/>
          </a:xfrm>
          <a:prstGeom xmlns:a="http://schemas.openxmlformats.org/drawingml/2006/main" prst="roundRect">
            <a:avLst>
              <a:gd name="adj" fmla="val 16667"/>
            </a:avLst>
          </a:prstGeom>
          <a:solidFill xmlns:a="http://schemas.openxmlformats.org/drawingml/2006/main">
            <a:srgbClr val="FFF6E9"/>
          </a:solidFill>
          <a:ln xmlns:a="http://schemas.openxmlformats.org/drawingml/2006/main" w="9525">
            <a:solidFill>
              <a:srgbClr val="D7DEE8"/>
            </a:solidFill>
            <a:prstDash val="solid"/>
          </a:ln>
        </p:spPr>
      </p:sp>
      <p:sp>
        <p:nvSpPr>
          <p:cNvPr id="19" name="Rounded Rectangle 18">
            <a:extLst xmlns:a="http://schemas.openxmlformats.org/drawingml/2006/main">
              <a:ext uri="{FF2B5EF4-FFF2-40B4-BE49-F238E27FC236}">
                <a16:creationId xmlns:a16="http://schemas.microsoft.com/office/drawing/2014/main" id="{E79F866D-99D3-40FF-BF6E-D576CBD01A1E}"/>
              </a:ext>
            </a:extLst>
          </p:cNvPr>
          <p:cNvSpPr>
            <a:spLocks xmlns:a="http://schemas.openxmlformats.org/drawingml/2006/main" noGrp="1"/>
          </p:cNvSpPr>
          <p:nvPr/>
        </p:nvSpPr>
        <p:spPr>
          <a:xfrm xmlns:a="http://schemas.openxmlformats.org/drawingml/2006/main">
            <a:off x="1733550" y="4895850"/>
            <a:ext cx="57150" cy="4572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2" name="Rounded Rectangle 21">
            <a:extLst xmlns:a="http://schemas.openxmlformats.org/drawingml/2006/main">
              <a:ext uri="{FF2B5EF4-FFF2-40B4-BE49-F238E27FC236}">
                <a16:creationId xmlns:a16="http://schemas.microsoft.com/office/drawing/2014/main" id="{86A9A5D4-C63C-4E2A-8378-0542FF6CB20A}"/>
              </a:ext>
            </a:extLst>
          </p:cNvPr>
          <p:cNvSpPr>
            <a:spLocks xmlns:a="http://schemas.openxmlformats.org/drawingml/2006/main" noGrp="1"/>
          </p:cNvSpPr>
          <p:nvPr/>
        </p:nvSpPr>
        <p:spPr>
          <a:xfrm xmlns:a="http://schemas.openxmlformats.org/drawingml/2006/main">
            <a:off x="914400" y="4762500"/>
            <a:ext cx="10363200" cy="781050"/>
          </a:xfrm>
          <a:prstGeom xmlns:a="http://schemas.openxmlformats.org/drawingml/2006/main" prst="roundRect">
            <a:avLst>
              <a:gd name="adj" fmla="val 17073"/>
            </a:avLst>
          </a:prstGeom>
          <a:solidFill xmlns:a="http://schemas.openxmlformats.org/drawingml/2006/main">
            <a:srgbClr val="F7EFF1"/>
          </a:solidFill>
          <a:ln xmlns:a="http://schemas.openxmlformats.org/drawingml/2006/main" w="8573">
            <a:solidFill>
              <a:srgbClr val="DBC7CC"/>
            </a:solidFill>
            <a:prstDash val="solid"/>
          </a:ln>
        </p:spPr>
      </p:sp>
      <p:sp>
        <p:nvSpPr>
          <p:cNvPr id="23" name="Rounded Rectangle 22">
            <a:extLst xmlns:a="http://schemas.openxmlformats.org/drawingml/2006/main">
              <a:ext uri="{FF2B5EF4-FFF2-40B4-BE49-F238E27FC236}">
                <a16:creationId xmlns:a16="http://schemas.microsoft.com/office/drawing/2014/main" id="{97E43DD2-66F5-4580-8491-44A889BBB690}"/>
              </a:ext>
            </a:extLst>
          </p:cNvPr>
          <p:cNvSpPr>
            <a:spLocks xmlns:a="http://schemas.openxmlformats.org/drawingml/2006/main" noGrp="1"/>
          </p:cNvSpPr>
          <p:nvPr/>
        </p:nvSpPr>
        <p:spPr>
          <a:xfrm xmlns:a="http://schemas.openxmlformats.org/drawingml/2006/main">
            <a:off x="1085850" y="4914900"/>
            <a:ext cx="57150" cy="4762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4" name="Rectangle 23">
            <a:extLst xmlns:a="http://schemas.openxmlformats.org/drawingml/2006/main">
              <a:ext uri="{FF2B5EF4-FFF2-40B4-BE49-F238E27FC236}">
                <a16:creationId xmlns:a16="http://schemas.microsoft.com/office/drawing/2014/main" id="{B10402F9-97A2-43C9-B567-56491EEF7C97}"/>
              </a:ext>
            </a:extLst>
          </p:cNvPr>
          <p:cNvSpPr>
            <a:spLocks xmlns:a="http://schemas.openxmlformats.org/drawingml/2006/main" noGrp="1"/>
          </p:cNvSpPr>
          <p:nvPr/>
        </p:nvSpPr>
        <p:spPr>
          <a:xfrm xmlns:a="http://schemas.openxmlformats.org/drawingml/2006/main">
            <a:off x="1333500" y="48672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ПИТАЊЕ ЗА АНАЛИЗУ</a:t>
            </a:r>
          </a:p>
        </p:txBody>
      </p:sp>
      <p:sp>
        <p:nvSpPr>
          <p:cNvPr id="25" name="Rectangle 24">
            <a:extLst xmlns:a="http://schemas.openxmlformats.org/drawingml/2006/main">
              <a:ext uri="{FF2B5EF4-FFF2-40B4-BE49-F238E27FC236}">
                <a16:creationId xmlns:a16="http://schemas.microsoft.com/office/drawing/2014/main" id="{D00757E3-B63C-4509-82A0-8DE6D8145E70}"/>
              </a:ext>
            </a:extLst>
          </p:cNvPr>
          <p:cNvSpPr>
            <a:spLocks xmlns:a="http://schemas.openxmlformats.org/drawingml/2006/main" noGrp="1"/>
          </p:cNvSpPr>
          <p:nvPr/>
        </p:nvSpPr>
        <p:spPr>
          <a:xfrm xmlns:a="http://schemas.openxmlformats.org/drawingml/2006/main">
            <a:off x="1333500" y="5095875"/>
            <a:ext cx="963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926"/>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Који праг и који временски прозор раздвајају уобичајену грешку од сигнала у вашем систему?</a:t>
            </a:r>
          </a:p>
        </p:txBody>
      </p:sp>
    </p:spTree>
    <p:extLst>
      <p:ext uri="{BB962C8B-B14F-4D97-AF65-F5344CB8AC3E}">
        <p14:creationId xmlns:p14="http://schemas.microsoft.com/office/powerpoint/2010/main" val="7447793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72156319-6C39-4E81-882B-D5C56945FD52}"/>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406575BD-B289-4686-9EE1-52E598D898CD}"/>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AA9BC0EF-3EB5-4618-B734-510F4EA7C93D}"/>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5</a:t>
            </a:r>
          </a:p>
        </p:txBody>
      </p:sp>
      <p:sp>
        <p:nvSpPr>
          <p:cNvPr id="4" name="Rectangle 3">
            <a:extLst xmlns:a="http://schemas.openxmlformats.org/drawingml/2006/main">
              <a:ext uri="{FF2B5EF4-FFF2-40B4-BE49-F238E27FC236}">
                <a16:creationId xmlns:a16="http://schemas.microsoft.com/office/drawing/2014/main" id="{6B38E52B-AD07-4E81-9A1D-227913750DA7}"/>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Triage</a:t>
            </a:r>
          </a:p>
        </p:txBody>
      </p:sp>
      <p:sp>
        <p:nvSpPr>
          <p:cNvPr id="5" name="Rectangle 4">
            <a:extLst xmlns:a="http://schemas.openxmlformats.org/drawingml/2006/main">
              <a:ext uri="{FF2B5EF4-FFF2-40B4-BE49-F238E27FC236}">
                <a16:creationId xmlns:a16="http://schemas.microsoft.com/office/drawing/2014/main" id="{AEDA20C2-EDA9-4E35-AEB5-5874176E20A3}"/>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провера контекста и утицаја</a:t>
            </a:r>
          </a:p>
        </p:txBody>
      </p:sp>
      <p:sp>
        <p:nvSpPr>
          <p:cNvPr id="6" name="Rounded Rectangle 5">
            <a:extLst xmlns:a="http://schemas.openxmlformats.org/drawingml/2006/main">
              <a:ext uri="{FF2B5EF4-FFF2-40B4-BE49-F238E27FC236}">
                <a16:creationId xmlns:a16="http://schemas.microsoft.com/office/drawing/2014/main" id="{F1A3DD90-823B-4B98-8970-E1C178539D16}"/>
              </a:ext>
            </a:extLst>
          </p:cNvPr>
          <p:cNvSpPr>
            <a:spLocks xmlns:a="http://schemas.openxmlformats.org/drawingml/2006/main" noGrp="1"/>
          </p:cNvSpPr>
          <p:nvPr/>
        </p:nvSpPr>
        <p:spPr>
          <a:xfrm xmlns:a="http://schemas.openxmlformats.org/drawingml/2006/main">
            <a:off x="895350" y="2428875"/>
            <a:ext cx="3257550" cy="1952625"/>
          </a:xfrm>
          <a:prstGeom xmlns:a="http://schemas.openxmlformats.org/drawingml/2006/main" prst="roundRect">
            <a:avLst>
              <a:gd name="adj" fmla="val 6829"/>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1C7D44CE-9373-4ABB-B346-E040B4A090E7}"/>
              </a:ext>
            </a:extLst>
          </p:cNvPr>
          <p:cNvSpPr>
            <a:spLocks xmlns:a="http://schemas.openxmlformats.org/drawingml/2006/main" noGrp="1"/>
          </p:cNvSpPr>
          <p:nvPr/>
        </p:nvSpPr>
        <p:spPr>
          <a:xfrm xmlns:a="http://schemas.openxmlformats.org/drawingml/2006/main">
            <a:off x="10477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8594BA92-9AE9-4AD6-98F7-DDECD9BC73C9}"/>
              </a:ext>
            </a:extLst>
          </p:cNvPr>
          <p:cNvSpPr>
            <a:spLocks xmlns:a="http://schemas.openxmlformats.org/drawingml/2006/main" noGrp="1"/>
          </p:cNvSpPr>
          <p:nvPr/>
        </p:nvSpPr>
        <p:spPr>
          <a:xfrm xmlns:a="http://schemas.openxmlformats.org/drawingml/2006/main">
            <a:off x="10477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Triage додаје сигналу контекст: коју имовину погађа и колики је могући утицај.</a:t>
            </a:r>
          </a:p>
        </p:txBody>
      </p:sp>
      <p:sp>
        <p:nvSpPr>
          <p:cNvPr id="9" name="Rectangle 8">
            <a:extLst xmlns:a="http://schemas.openxmlformats.org/drawingml/2006/main">
              <a:ext uri="{FF2B5EF4-FFF2-40B4-BE49-F238E27FC236}">
                <a16:creationId xmlns:a16="http://schemas.microsoft.com/office/drawing/2014/main" id="{FA0B80EA-741C-4814-A772-2A9EF37B3234}"/>
              </a:ext>
            </a:extLst>
          </p:cNvPr>
          <p:cNvSpPr>
            <a:spLocks xmlns:a="http://schemas.openxmlformats.org/drawingml/2006/main" noGrp="1"/>
          </p:cNvSpPr>
          <p:nvPr/>
        </p:nvSpPr>
        <p:spPr>
          <a:xfrm xmlns:a="http://schemas.openxmlformats.org/drawingml/2006/main">
            <a:off x="10477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xmlns:a="http://schemas.openxmlformats.org/drawingml/2006/main">
              <a:ext uri="{FF2B5EF4-FFF2-40B4-BE49-F238E27FC236}">
                <a16:creationId xmlns:a16="http://schemas.microsoft.com/office/drawing/2014/main" id="{E5370F02-67AD-44FA-A3ED-EF6D820156CB}"/>
              </a:ext>
            </a:extLst>
          </p:cNvPr>
          <p:cNvSpPr>
            <a:spLocks xmlns:a="http://schemas.openxmlformats.org/drawingml/2006/main" noGrp="1"/>
          </p:cNvSpPr>
          <p:nvPr/>
        </p:nvSpPr>
        <p:spPr>
          <a:xfrm xmlns:a="http://schemas.openxmlformats.org/drawingml/2006/main">
            <a:off x="4457700" y="2428875"/>
            <a:ext cx="3257550" cy="1952625"/>
          </a:xfrm>
          <a:prstGeom xmlns:a="http://schemas.openxmlformats.org/drawingml/2006/main" prst="roundRect">
            <a:avLst>
              <a:gd name="adj" fmla="val 6829"/>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CF107F58-1905-4DA5-A540-0F5A882D2CCD}"/>
              </a:ext>
            </a:extLst>
          </p:cNvPr>
          <p:cNvSpPr>
            <a:spLocks xmlns:a="http://schemas.openxmlformats.org/drawingml/2006/main" noGrp="1"/>
          </p:cNvSpPr>
          <p:nvPr/>
        </p:nvSpPr>
        <p:spPr>
          <a:xfrm xmlns:a="http://schemas.openxmlformats.org/drawingml/2006/main">
            <a:off x="461010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41A99BA6-9DFE-4520-B2EA-B3054BD75C44}"/>
              </a:ext>
            </a:extLst>
          </p:cNvPr>
          <p:cNvSpPr>
            <a:spLocks xmlns:a="http://schemas.openxmlformats.org/drawingml/2006/main" noGrp="1"/>
          </p:cNvSpPr>
          <p:nvPr/>
        </p:nvSpPr>
        <p:spPr>
          <a:xfrm xmlns:a="http://schemas.openxmlformats.org/drawingml/2006/main">
            <a:off x="461010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Озбиљност се одређује правилом, а не утиском особе која је на дужности.</a:t>
            </a:r>
          </a:p>
        </p:txBody>
      </p:sp>
      <p:sp>
        <p:nvSpPr>
          <p:cNvPr id="13" name="Rectangle 12">
            <a:extLst xmlns:a="http://schemas.openxmlformats.org/drawingml/2006/main">
              <a:ext uri="{FF2B5EF4-FFF2-40B4-BE49-F238E27FC236}">
                <a16:creationId xmlns:a16="http://schemas.microsoft.com/office/drawing/2014/main" id="{5E6870C9-A8A6-4504-8BEC-BE00FE74FFEC}"/>
              </a:ext>
            </a:extLst>
          </p:cNvPr>
          <p:cNvSpPr>
            <a:spLocks xmlns:a="http://schemas.openxmlformats.org/drawingml/2006/main" noGrp="1"/>
          </p:cNvSpPr>
          <p:nvPr/>
        </p:nvSpPr>
        <p:spPr>
          <a:xfrm xmlns:a="http://schemas.openxmlformats.org/drawingml/2006/main">
            <a:off x="461010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xmlns:a="http://schemas.openxmlformats.org/drawingml/2006/main">
              <a:ext uri="{FF2B5EF4-FFF2-40B4-BE49-F238E27FC236}">
                <a16:creationId xmlns:a16="http://schemas.microsoft.com/office/drawing/2014/main" id="{3B96CFFC-A2A3-4A1F-9FFB-5F3BDA611C05}"/>
              </a:ext>
            </a:extLst>
          </p:cNvPr>
          <p:cNvSpPr>
            <a:spLocks xmlns:a="http://schemas.openxmlformats.org/drawingml/2006/main" noGrp="1"/>
          </p:cNvSpPr>
          <p:nvPr/>
        </p:nvSpPr>
        <p:spPr>
          <a:xfrm xmlns:a="http://schemas.openxmlformats.org/drawingml/2006/main">
            <a:off x="8020050" y="2428875"/>
            <a:ext cx="3257550" cy="1952625"/>
          </a:xfrm>
          <a:prstGeom xmlns:a="http://schemas.openxmlformats.org/drawingml/2006/main" prst="roundRect">
            <a:avLst>
              <a:gd name="adj" fmla="val 6829"/>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281D9D42-250A-4DFA-8715-C81516C38E16}"/>
              </a:ext>
            </a:extLst>
          </p:cNvPr>
          <p:cNvSpPr>
            <a:spLocks xmlns:a="http://schemas.openxmlformats.org/drawingml/2006/main" noGrp="1"/>
          </p:cNvSpPr>
          <p:nvPr/>
        </p:nvSpPr>
        <p:spPr>
          <a:xfrm xmlns:a="http://schemas.openxmlformats.org/drawingml/2006/main">
            <a:off x="81724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EEC9B429-D324-462F-873E-A5BF571D7DB3}"/>
              </a:ext>
            </a:extLst>
          </p:cNvPr>
          <p:cNvSpPr>
            <a:spLocks xmlns:a="http://schemas.openxmlformats.org/drawingml/2006/main" noGrp="1"/>
          </p:cNvSpPr>
          <p:nvPr/>
        </p:nvSpPr>
        <p:spPr>
          <a:xfrm xmlns:a="http://schemas.openxmlformats.org/drawingml/2006/main">
            <a:off x="81724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Одлука се образлаже, укључујући и разлог због ког је упозорење затворено.</a:t>
            </a:r>
          </a:p>
        </p:txBody>
      </p:sp>
      <p:sp>
        <p:nvSpPr>
          <p:cNvPr id="17" name="Rectangle 16">
            <a:extLst xmlns:a="http://schemas.openxmlformats.org/drawingml/2006/main">
              <a:ext uri="{FF2B5EF4-FFF2-40B4-BE49-F238E27FC236}">
                <a16:creationId xmlns:a16="http://schemas.microsoft.com/office/drawing/2014/main" id="{34A58330-ECFB-4A2A-A342-F6A1A21EEB29}"/>
              </a:ext>
            </a:extLst>
          </p:cNvPr>
          <p:cNvSpPr>
            <a:spLocks xmlns:a="http://schemas.openxmlformats.org/drawingml/2006/main" noGrp="1"/>
          </p:cNvSpPr>
          <p:nvPr/>
        </p:nvSpPr>
        <p:spPr>
          <a:xfrm xmlns:a="http://schemas.openxmlformats.org/drawingml/2006/main">
            <a:off x="81724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xmlns:a="http://schemas.openxmlformats.org/drawingml/2006/main">
              <a:ext uri="{FF2B5EF4-FFF2-40B4-BE49-F238E27FC236}">
                <a16:creationId xmlns:a16="http://schemas.microsoft.com/office/drawing/2014/main" id="{5BF1FC4B-FE63-494C-8C62-60CBB584A7DE}"/>
              </a:ext>
            </a:extLst>
          </p:cNvPr>
          <p:cNvSpPr>
            <a:spLocks xmlns:a="http://schemas.openxmlformats.org/drawingml/2006/main" noGrp="1"/>
          </p:cNvSpPr>
          <p:nvPr/>
        </p:nvSpPr>
        <p:spPr>
          <a:xfrm xmlns:a="http://schemas.openxmlformats.org/drawingml/2006/main">
            <a:off x="1600200" y="4752975"/>
            <a:ext cx="8991600" cy="742950"/>
          </a:xfrm>
          <a:prstGeom xmlns:a="http://schemas.openxmlformats.org/drawingml/2006/main" prst="roundRect">
            <a:avLst>
              <a:gd name="adj" fmla="val 16667"/>
            </a:avLst>
          </a:prstGeom>
          <a:solidFill xmlns:a="http://schemas.openxmlformats.org/drawingml/2006/main">
            <a:srgbClr val="FFF6E9"/>
          </a:solidFill>
          <a:ln xmlns:a="http://schemas.openxmlformats.org/drawingml/2006/main" w="9525">
            <a:solidFill>
              <a:srgbClr val="D7DEE8"/>
            </a:solidFill>
            <a:prstDash val="solid"/>
          </a:ln>
        </p:spPr>
      </p:sp>
      <p:sp>
        <p:nvSpPr>
          <p:cNvPr id="19" name="Rounded Rectangle 18">
            <a:extLst xmlns:a="http://schemas.openxmlformats.org/drawingml/2006/main">
              <a:ext uri="{FF2B5EF4-FFF2-40B4-BE49-F238E27FC236}">
                <a16:creationId xmlns:a16="http://schemas.microsoft.com/office/drawing/2014/main" id="{FC880E68-818C-436B-B91D-6D0E1C1952D9}"/>
              </a:ext>
            </a:extLst>
          </p:cNvPr>
          <p:cNvSpPr>
            <a:spLocks xmlns:a="http://schemas.openxmlformats.org/drawingml/2006/main" noGrp="1"/>
          </p:cNvSpPr>
          <p:nvPr/>
        </p:nvSpPr>
        <p:spPr>
          <a:xfrm xmlns:a="http://schemas.openxmlformats.org/drawingml/2006/main">
            <a:off x="1733550" y="4895850"/>
            <a:ext cx="57150" cy="4572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2" name="Rounded Rectangle 21">
            <a:extLst xmlns:a="http://schemas.openxmlformats.org/drawingml/2006/main">
              <a:ext uri="{FF2B5EF4-FFF2-40B4-BE49-F238E27FC236}">
                <a16:creationId xmlns:a16="http://schemas.microsoft.com/office/drawing/2014/main" id="{7818A9FE-2434-4EA0-8B6A-5F88111EE4A2}"/>
              </a:ext>
            </a:extLst>
          </p:cNvPr>
          <p:cNvSpPr>
            <a:spLocks xmlns:a="http://schemas.openxmlformats.org/drawingml/2006/main" noGrp="1"/>
          </p:cNvSpPr>
          <p:nvPr/>
        </p:nvSpPr>
        <p:spPr>
          <a:xfrm xmlns:a="http://schemas.openxmlformats.org/drawingml/2006/main">
            <a:off x="914400" y="4762500"/>
            <a:ext cx="10363200" cy="781050"/>
          </a:xfrm>
          <a:prstGeom xmlns:a="http://schemas.openxmlformats.org/drawingml/2006/main" prst="roundRect">
            <a:avLst>
              <a:gd name="adj" fmla="val 17073"/>
            </a:avLst>
          </a:prstGeom>
          <a:solidFill xmlns:a="http://schemas.openxmlformats.org/drawingml/2006/main">
            <a:srgbClr val="F7EFF1"/>
          </a:solidFill>
          <a:ln xmlns:a="http://schemas.openxmlformats.org/drawingml/2006/main" w="8573">
            <a:solidFill>
              <a:srgbClr val="DBC7CC"/>
            </a:solidFill>
            <a:prstDash val="solid"/>
          </a:ln>
        </p:spPr>
      </p:sp>
      <p:sp>
        <p:nvSpPr>
          <p:cNvPr id="23" name="Rounded Rectangle 22">
            <a:extLst xmlns:a="http://schemas.openxmlformats.org/drawingml/2006/main">
              <a:ext uri="{FF2B5EF4-FFF2-40B4-BE49-F238E27FC236}">
                <a16:creationId xmlns:a16="http://schemas.microsoft.com/office/drawing/2014/main" id="{E9731D8C-3B11-4DD7-8FEB-475C56A31A1F}"/>
              </a:ext>
            </a:extLst>
          </p:cNvPr>
          <p:cNvSpPr>
            <a:spLocks xmlns:a="http://schemas.openxmlformats.org/drawingml/2006/main" noGrp="1"/>
          </p:cNvSpPr>
          <p:nvPr/>
        </p:nvSpPr>
        <p:spPr>
          <a:xfrm xmlns:a="http://schemas.openxmlformats.org/drawingml/2006/main">
            <a:off x="1085850" y="4914900"/>
            <a:ext cx="57150" cy="4762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4" name="Rectangle 23">
            <a:extLst xmlns:a="http://schemas.openxmlformats.org/drawingml/2006/main">
              <a:ext uri="{FF2B5EF4-FFF2-40B4-BE49-F238E27FC236}">
                <a16:creationId xmlns:a16="http://schemas.microsoft.com/office/drawing/2014/main" id="{2E909C39-E1BB-40CB-AE55-BA25E4A1A55E}"/>
              </a:ext>
            </a:extLst>
          </p:cNvPr>
          <p:cNvSpPr>
            <a:spLocks xmlns:a="http://schemas.openxmlformats.org/drawingml/2006/main" noGrp="1"/>
          </p:cNvSpPr>
          <p:nvPr/>
        </p:nvSpPr>
        <p:spPr>
          <a:xfrm xmlns:a="http://schemas.openxmlformats.org/drawingml/2006/main">
            <a:off x="1333500" y="48672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ПИТАЊЕ ЗА АНАЛИЗУ</a:t>
            </a:r>
          </a:p>
        </p:txBody>
      </p:sp>
      <p:sp>
        <p:nvSpPr>
          <p:cNvPr id="25" name="Rectangle 24">
            <a:extLst xmlns:a="http://schemas.openxmlformats.org/drawingml/2006/main">
              <a:ext uri="{FF2B5EF4-FFF2-40B4-BE49-F238E27FC236}">
                <a16:creationId xmlns:a16="http://schemas.microsoft.com/office/drawing/2014/main" id="{41B4F4C2-E998-4A2A-B62D-52EDF365CFCF}"/>
              </a:ext>
            </a:extLst>
          </p:cNvPr>
          <p:cNvSpPr>
            <a:spLocks xmlns:a="http://schemas.openxmlformats.org/drawingml/2006/main" noGrp="1"/>
          </p:cNvSpPr>
          <p:nvPr/>
        </p:nvSpPr>
        <p:spPr>
          <a:xfrm xmlns:a="http://schemas.openxmlformats.org/drawingml/2006/main">
            <a:off x="1333500" y="5095875"/>
            <a:ext cx="963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926"/>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Који податак о имовини мења озбиљност истог сигнала?</a:t>
            </a:r>
          </a:p>
        </p:txBody>
      </p:sp>
    </p:spTree>
    <p:extLst>
      <p:ext uri="{BB962C8B-B14F-4D97-AF65-F5344CB8AC3E}">
        <p14:creationId xmlns:p14="http://schemas.microsoft.com/office/powerpoint/2010/main" val="2813597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FB9E8EAC-0187-4187-89D8-018B66E3DE03}"/>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E35DF22C-8C00-40DE-B661-8B5CC3605454}"/>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98549134-B2A1-4C32-AD4D-32FF3680D02E}"/>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6</a:t>
            </a:r>
          </a:p>
        </p:txBody>
      </p:sp>
      <p:sp>
        <p:nvSpPr>
          <p:cNvPr id="4" name="Rectangle 3">
            <a:extLst xmlns:a="http://schemas.openxmlformats.org/drawingml/2006/main">
              <a:ext uri="{FF2B5EF4-FFF2-40B4-BE49-F238E27FC236}">
                <a16:creationId xmlns:a16="http://schemas.microsoft.com/office/drawing/2014/main" id="{04A096F6-4079-417A-B2A1-836362DA63CE}"/>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Инцидент</a:t>
            </a:r>
          </a:p>
        </p:txBody>
      </p:sp>
      <p:sp>
        <p:nvSpPr>
          <p:cNvPr id="5" name="Rectangle 4">
            <a:extLst xmlns:a="http://schemas.openxmlformats.org/drawingml/2006/main">
              <a:ext uri="{FF2B5EF4-FFF2-40B4-BE49-F238E27FC236}">
                <a16:creationId xmlns:a16="http://schemas.microsoft.com/office/drawing/2014/main" id="{E33B71C1-EF5D-4F17-AF90-42D0C3C417E6}"/>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координисана реакција</a:t>
            </a:r>
          </a:p>
        </p:txBody>
      </p:sp>
      <p:sp>
        <p:nvSpPr>
          <p:cNvPr id="6" name="Rounded Rectangle 5">
            <a:extLst xmlns:a="http://schemas.openxmlformats.org/drawingml/2006/main">
              <a:ext uri="{FF2B5EF4-FFF2-40B4-BE49-F238E27FC236}">
                <a16:creationId xmlns:a16="http://schemas.microsoft.com/office/drawing/2014/main" id="{1C798477-159A-4FF8-8ACE-7E14FCC0E71E}"/>
              </a:ext>
            </a:extLst>
          </p:cNvPr>
          <p:cNvSpPr>
            <a:spLocks xmlns:a="http://schemas.openxmlformats.org/drawingml/2006/main" noGrp="1"/>
          </p:cNvSpPr>
          <p:nvPr/>
        </p:nvSpPr>
        <p:spPr>
          <a:xfrm xmlns:a="http://schemas.openxmlformats.org/drawingml/2006/main">
            <a:off x="895350" y="2428875"/>
            <a:ext cx="3257550" cy="1952625"/>
          </a:xfrm>
          <a:prstGeom xmlns:a="http://schemas.openxmlformats.org/drawingml/2006/main" prst="roundRect">
            <a:avLst>
              <a:gd name="adj" fmla="val 6829"/>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58F755D2-B6BB-45B1-B62E-3429842A9996}"/>
              </a:ext>
            </a:extLst>
          </p:cNvPr>
          <p:cNvSpPr>
            <a:spLocks xmlns:a="http://schemas.openxmlformats.org/drawingml/2006/main" noGrp="1"/>
          </p:cNvSpPr>
          <p:nvPr/>
        </p:nvSpPr>
        <p:spPr>
          <a:xfrm xmlns:a="http://schemas.openxmlformats.org/drawingml/2006/main">
            <a:off x="10477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5D2B7313-CFA2-4988-84EF-A4F575FAAB04}"/>
              </a:ext>
            </a:extLst>
          </p:cNvPr>
          <p:cNvSpPr>
            <a:spLocks xmlns:a="http://schemas.openxmlformats.org/drawingml/2006/main" noGrp="1"/>
          </p:cNvSpPr>
          <p:nvPr/>
        </p:nvSpPr>
        <p:spPr>
          <a:xfrm xmlns:a="http://schemas.openxmlformats.org/drawingml/2006/main">
            <a:off x="10477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Инцидент настаје из сигнала који је прошао triage и има власника реакције.</a:t>
            </a:r>
          </a:p>
        </p:txBody>
      </p:sp>
      <p:sp>
        <p:nvSpPr>
          <p:cNvPr id="9" name="Rectangle 8">
            <a:extLst xmlns:a="http://schemas.openxmlformats.org/drawingml/2006/main">
              <a:ext uri="{FF2B5EF4-FFF2-40B4-BE49-F238E27FC236}">
                <a16:creationId xmlns:a16="http://schemas.microsoft.com/office/drawing/2014/main" id="{1CAEC4B5-02C9-4CED-912A-CDBEA2B5735F}"/>
              </a:ext>
            </a:extLst>
          </p:cNvPr>
          <p:cNvSpPr>
            <a:spLocks xmlns:a="http://schemas.openxmlformats.org/drawingml/2006/main" noGrp="1"/>
          </p:cNvSpPr>
          <p:nvPr/>
        </p:nvSpPr>
        <p:spPr>
          <a:xfrm xmlns:a="http://schemas.openxmlformats.org/drawingml/2006/main">
            <a:off x="10477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xmlns:a="http://schemas.openxmlformats.org/drawingml/2006/main">
              <a:ext uri="{FF2B5EF4-FFF2-40B4-BE49-F238E27FC236}">
                <a16:creationId xmlns:a16="http://schemas.microsoft.com/office/drawing/2014/main" id="{5FE431AE-73B0-4FD7-814F-846F6F7FF12A}"/>
              </a:ext>
            </a:extLst>
          </p:cNvPr>
          <p:cNvSpPr>
            <a:spLocks xmlns:a="http://schemas.openxmlformats.org/drawingml/2006/main" noGrp="1"/>
          </p:cNvSpPr>
          <p:nvPr/>
        </p:nvSpPr>
        <p:spPr>
          <a:xfrm xmlns:a="http://schemas.openxmlformats.org/drawingml/2006/main">
            <a:off x="4457700" y="2428875"/>
            <a:ext cx="3257550" cy="1952625"/>
          </a:xfrm>
          <a:prstGeom xmlns:a="http://schemas.openxmlformats.org/drawingml/2006/main" prst="roundRect">
            <a:avLst>
              <a:gd name="adj" fmla="val 6829"/>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50152395-6849-4478-8524-3AF418F0AD75}"/>
              </a:ext>
            </a:extLst>
          </p:cNvPr>
          <p:cNvSpPr>
            <a:spLocks xmlns:a="http://schemas.openxmlformats.org/drawingml/2006/main" noGrp="1"/>
          </p:cNvSpPr>
          <p:nvPr/>
        </p:nvSpPr>
        <p:spPr>
          <a:xfrm xmlns:a="http://schemas.openxmlformats.org/drawingml/2006/main">
            <a:off x="461010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E05D37B9-F405-45A2-A4ED-C8D98E43AF86}"/>
              </a:ext>
            </a:extLst>
          </p:cNvPr>
          <p:cNvSpPr>
            <a:spLocks xmlns:a="http://schemas.openxmlformats.org/drawingml/2006/main" noGrp="1"/>
          </p:cNvSpPr>
          <p:nvPr/>
        </p:nvSpPr>
        <p:spPr>
          <a:xfrm xmlns:a="http://schemas.openxmlformats.org/drawingml/2006/main">
            <a:off x="461010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046"/>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Поновљени сигнал се придружује постојећем инциденту уместо да отвара нови.</a:t>
            </a:r>
          </a:p>
        </p:txBody>
      </p:sp>
      <p:sp>
        <p:nvSpPr>
          <p:cNvPr id="13" name="Rectangle 12">
            <a:extLst xmlns:a="http://schemas.openxmlformats.org/drawingml/2006/main">
              <a:ext uri="{FF2B5EF4-FFF2-40B4-BE49-F238E27FC236}">
                <a16:creationId xmlns:a16="http://schemas.microsoft.com/office/drawing/2014/main" id="{EF35D4E0-EF5D-4E44-8E8E-7F895C30FC3F}"/>
              </a:ext>
            </a:extLst>
          </p:cNvPr>
          <p:cNvSpPr>
            <a:spLocks xmlns:a="http://schemas.openxmlformats.org/drawingml/2006/main" noGrp="1"/>
          </p:cNvSpPr>
          <p:nvPr/>
        </p:nvSpPr>
        <p:spPr>
          <a:xfrm xmlns:a="http://schemas.openxmlformats.org/drawingml/2006/main">
            <a:off x="461010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xmlns:a="http://schemas.openxmlformats.org/drawingml/2006/main">
              <a:ext uri="{FF2B5EF4-FFF2-40B4-BE49-F238E27FC236}">
                <a16:creationId xmlns:a16="http://schemas.microsoft.com/office/drawing/2014/main" id="{5DAB11FA-1366-452B-A1C9-3816025963D1}"/>
              </a:ext>
            </a:extLst>
          </p:cNvPr>
          <p:cNvSpPr>
            <a:spLocks xmlns:a="http://schemas.openxmlformats.org/drawingml/2006/main" noGrp="1"/>
          </p:cNvSpPr>
          <p:nvPr/>
        </p:nvSpPr>
        <p:spPr>
          <a:xfrm xmlns:a="http://schemas.openxmlformats.org/drawingml/2006/main">
            <a:off x="8020050" y="2428875"/>
            <a:ext cx="3257550" cy="1952625"/>
          </a:xfrm>
          <a:prstGeom xmlns:a="http://schemas.openxmlformats.org/drawingml/2006/main" prst="roundRect">
            <a:avLst>
              <a:gd name="adj" fmla="val 6829"/>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77BE5E95-E7E6-4A55-930F-E91021EBE2AE}"/>
              </a:ext>
            </a:extLst>
          </p:cNvPr>
          <p:cNvSpPr>
            <a:spLocks xmlns:a="http://schemas.openxmlformats.org/drawingml/2006/main" noGrp="1"/>
          </p:cNvSpPr>
          <p:nvPr/>
        </p:nvSpPr>
        <p:spPr>
          <a:xfrm xmlns:a="http://schemas.openxmlformats.org/drawingml/2006/main">
            <a:off x="81724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5887D28B-8873-4045-97E3-B6D8A926A6A0}"/>
              </a:ext>
            </a:extLst>
          </p:cNvPr>
          <p:cNvSpPr>
            <a:spLocks xmlns:a="http://schemas.openxmlformats.org/drawingml/2006/main" noGrp="1"/>
          </p:cNvSpPr>
          <p:nvPr/>
        </p:nvSpPr>
        <p:spPr>
          <a:xfrm xmlns:a="http://schemas.openxmlformats.org/drawingml/2006/main">
            <a:off x="81724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Временска линија инцидента чува сигнале, одлуке и предузете радње.</a:t>
            </a:r>
          </a:p>
        </p:txBody>
      </p:sp>
      <p:sp>
        <p:nvSpPr>
          <p:cNvPr id="17" name="Rectangle 16">
            <a:extLst xmlns:a="http://schemas.openxmlformats.org/drawingml/2006/main">
              <a:ext uri="{FF2B5EF4-FFF2-40B4-BE49-F238E27FC236}">
                <a16:creationId xmlns:a16="http://schemas.microsoft.com/office/drawing/2014/main" id="{3DF8EB43-D46F-41D2-A0EC-2A7CD86FD524}"/>
              </a:ext>
            </a:extLst>
          </p:cNvPr>
          <p:cNvSpPr>
            <a:spLocks xmlns:a="http://schemas.openxmlformats.org/drawingml/2006/main" noGrp="1"/>
          </p:cNvSpPr>
          <p:nvPr/>
        </p:nvSpPr>
        <p:spPr>
          <a:xfrm xmlns:a="http://schemas.openxmlformats.org/drawingml/2006/main">
            <a:off x="81724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xmlns:a="http://schemas.openxmlformats.org/drawingml/2006/main">
              <a:ext uri="{FF2B5EF4-FFF2-40B4-BE49-F238E27FC236}">
                <a16:creationId xmlns:a16="http://schemas.microsoft.com/office/drawing/2014/main" id="{3084A3DA-6143-4F5C-95D0-8548BEE1D982}"/>
              </a:ext>
            </a:extLst>
          </p:cNvPr>
          <p:cNvSpPr>
            <a:spLocks xmlns:a="http://schemas.openxmlformats.org/drawingml/2006/main" noGrp="1"/>
          </p:cNvSpPr>
          <p:nvPr/>
        </p:nvSpPr>
        <p:spPr>
          <a:xfrm xmlns:a="http://schemas.openxmlformats.org/drawingml/2006/main">
            <a:off x="1600200" y="4752975"/>
            <a:ext cx="8991600" cy="742950"/>
          </a:xfrm>
          <a:prstGeom xmlns:a="http://schemas.openxmlformats.org/drawingml/2006/main" prst="roundRect">
            <a:avLst>
              <a:gd name="adj" fmla="val 16667"/>
            </a:avLst>
          </a:prstGeom>
          <a:solidFill xmlns:a="http://schemas.openxmlformats.org/drawingml/2006/main">
            <a:srgbClr val="FFF6E9"/>
          </a:solidFill>
          <a:ln xmlns:a="http://schemas.openxmlformats.org/drawingml/2006/main" w="9525">
            <a:solidFill>
              <a:srgbClr val="D7DEE8"/>
            </a:solidFill>
            <a:prstDash val="solid"/>
          </a:ln>
        </p:spPr>
      </p:sp>
      <p:sp>
        <p:nvSpPr>
          <p:cNvPr id="19" name="Rounded Rectangle 18">
            <a:extLst xmlns:a="http://schemas.openxmlformats.org/drawingml/2006/main">
              <a:ext uri="{FF2B5EF4-FFF2-40B4-BE49-F238E27FC236}">
                <a16:creationId xmlns:a16="http://schemas.microsoft.com/office/drawing/2014/main" id="{C098BAC8-FDD7-41B6-9B13-D058CD5BB2D6}"/>
              </a:ext>
            </a:extLst>
          </p:cNvPr>
          <p:cNvSpPr>
            <a:spLocks xmlns:a="http://schemas.openxmlformats.org/drawingml/2006/main" noGrp="1"/>
          </p:cNvSpPr>
          <p:nvPr/>
        </p:nvSpPr>
        <p:spPr>
          <a:xfrm xmlns:a="http://schemas.openxmlformats.org/drawingml/2006/main">
            <a:off x="1733550" y="4895850"/>
            <a:ext cx="57150" cy="4572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2" name="Rounded Rectangle 21">
            <a:extLst xmlns:a="http://schemas.openxmlformats.org/drawingml/2006/main">
              <a:ext uri="{FF2B5EF4-FFF2-40B4-BE49-F238E27FC236}">
                <a16:creationId xmlns:a16="http://schemas.microsoft.com/office/drawing/2014/main" id="{A54E96AE-0798-478B-B11A-31305540EAB5}"/>
              </a:ext>
            </a:extLst>
          </p:cNvPr>
          <p:cNvSpPr>
            <a:spLocks xmlns:a="http://schemas.openxmlformats.org/drawingml/2006/main" noGrp="1"/>
          </p:cNvSpPr>
          <p:nvPr/>
        </p:nvSpPr>
        <p:spPr>
          <a:xfrm xmlns:a="http://schemas.openxmlformats.org/drawingml/2006/main">
            <a:off x="914400" y="4762500"/>
            <a:ext cx="10363200" cy="781050"/>
          </a:xfrm>
          <a:prstGeom xmlns:a="http://schemas.openxmlformats.org/drawingml/2006/main" prst="roundRect">
            <a:avLst>
              <a:gd name="adj" fmla="val 17073"/>
            </a:avLst>
          </a:prstGeom>
          <a:solidFill xmlns:a="http://schemas.openxmlformats.org/drawingml/2006/main">
            <a:srgbClr val="F7EFF1"/>
          </a:solidFill>
          <a:ln xmlns:a="http://schemas.openxmlformats.org/drawingml/2006/main" w="8573">
            <a:solidFill>
              <a:srgbClr val="DBC7CC"/>
            </a:solidFill>
            <a:prstDash val="solid"/>
          </a:ln>
        </p:spPr>
      </p:sp>
      <p:sp>
        <p:nvSpPr>
          <p:cNvPr id="23" name="Rounded Rectangle 22">
            <a:extLst xmlns:a="http://schemas.openxmlformats.org/drawingml/2006/main">
              <a:ext uri="{FF2B5EF4-FFF2-40B4-BE49-F238E27FC236}">
                <a16:creationId xmlns:a16="http://schemas.microsoft.com/office/drawing/2014/main" id="{891EF960-77D8-4C6C-85E4-031489D0F432}"/>
              </a:ext>
            </a:extLst>
          </p:cNvPr>
          <p:cNvSpPr>
            <a:spLocks xmlns:a="http://schemas.openxmlformats.org/drawingml/2006/main" noGrp="1"/>
          </p:cNvSpPr>
          <p:nvPr/>
        </p:nvSpPr>
        <p:spPr>
          <a:xfrm xmlns:a="http://schemas.openxmlformats.org/drawingml/2006/main">
            <a:off x="1085850" y="4914900"/>
            <a:ext cx="57150" cy="4762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4" name="Rectangle 23">
            <a:extLst xmlns:a="http://schemas.openxmlformats.org/drawingml/2006/main">
              <a:ext uri="{FF2B5EF4-FFF2-40B4-BE49-F238E27FC236}">
                <a16:creationId xmlns:a16="http://schemas.microsoft.com/office/drawing/2014/main" id="{6796BD68-B519-4548-924C-C76B356B501C}"/>
              </a:ext>
            </a:extLst>
          </p:cNvPr>
          <p:cNvSpPr>
            <a:spLocks xmlns:a="http://schemas.openxmlformats.org/drawingml/2006/main" noGrp="1"/>
          </p:cNvSpPr>
          <p:nvPr/>
        </p:nvSpPr>
        <p:spPr>
          <a:xfrm xmlns:a="http://schemas.openxmlformats.org/drawingml/2006/main">
            <a:off x="1333500" y="48672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ПИТАЊЕ ЗА АНАЛИЗУ</a:t>
            </a:r>
          </a:p>
        </p:txBody>
      </p:sp>
      <p:sp>
        <p:nvSpPr>
          <p:cNvPr id="25" name="Rectangle 24">
            <a:extLst xmlns:a="http://schemas.openxmlformats.org/drawingml/2006/main">
              <a:ext uri="{FF2B5EF4-FFF2-40B4-BE49-F238E27FC236}">
                <a16:creationId xmlns:a16="http://schemas.microsoft.com/office/drawing/2014/main" id="{3A7B4C7F-AEBE-4916-97D2-D3DB8040D0A3}"/>
              </a:ext>
            </a:extLst>
          </p:cNvPr>
          <p:cNvSpPr>
            <a:spLocks xmlns:a="http://schemas.openxmlformats.org/drawingml/2006/main" noGrp="1"/>
          </p:cNvSpPr>
          <p:nvPr/>
        </p:nvSpPr>
        <p:spPr>
          <a:xfrm xmlns:a="http://schemas.openxmlformats.org/drawingml/2006/main">
            <a:off x="1333500" y="5095875"/>
            <a:ext cx="963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926"/>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Ко у вашој целини преузима инцидент и по ком запису се види шта је урађено?</a:t>
            </a:r>
          </a:p>
        </p:txBody>
      </p:sp>
    </p:spTree>
    <p:extLst>
      <p:ext uri="{BB962C8B-B14F-4D97-AF65-F5344CB8AC3E}">
        <p14:creationId xmlns:p14="http://schemas.microsoft.com/office/powerpoint/2010/main" val="18346960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8191E99B-0CD3-4EBA-AB4D-699D6AC228D8}"/>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8D260B9D-974A-4290-AE35-FC1C90FCF3B1}"/>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8EA4A19D-DEAC-4C25-A8C2-7C2C7503E9D4}"/>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7</a:t>
            </a:r>
          </a:p>
        </p:txBody>
      </p:sp>
      <p:sp>
        <p:nvSpPr>
          <p:cNvPr id="4" name="Rectangle 3">
            <a:extLst xmlns:a="http://schemas.openxmlformats.org/drawingml/2006/main">
              <a:ext uri="{FF2B5EF4-FFF2-40B4-BE49-F238E27FC236}">
                <a16:creationId xmlns:a16="http://schemas.microsoft.com/office/drawing/2014/main" id="{11FB22FA-6BAA-4C50-A4F2-03B26ECA5E46}"/>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Учење</a:t>
            </a:r>
          </a:p>
        </p:txBody>
      </p:sp>
      <p:sp>
        <p:nvSpPr>
          <p:cNvPr id="5" name="Rectangle 4">
            <a:extLst xmlns:a="http://schemas.openxmlformats.org/drawingml/2006/main">
              <a:ext uri="{FF2B5EF4-FFF2-40B4-BE49-F238E27FC236}">
                <a16:creationId xmlns:a16="http://schemas.microsoft.com/office/drawing/2014/main" id="{0CCEB861-3AE1-4D6F-8D15-E4E8130871EA}"/>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корекција и превенција</a:t>
            </a:r>
          </a:p>
        </p:txBody>
      </p:sp>
      <p:sp>
        <p:nvSpPr>
          <p:cNvPr id="6" name="Rounded Rectangle 5">
            <a:extLst xmlns:a="http://schemas.openxmlformats.org/drawingml/2006/main">
              <a:ext uri="{FF2B5EF4-FFF2-40B4-BE49-F238E27FC236}">
                <a16:creationId xmlns:a16="http://schemas.microsoft.com/office/drawing/2014/main" id="{45CF2301-C8BA-4FAB-A5DB-732809E3FF54}"/>
              </a:ext>
            </a:extLst>
          </p:cNvPr>
          <p:cNvSpPr>
            <a:spLocks xmlns:a="http://schemas.openxmlformats.org/drawingml/2006/main" noGrp="1"/>
          </p:cNvSpPr>
          <p:nvPr/>
        </p:nvSpPr>
        <p:spPr>
          <a:xfrm xmlns:a="http://schemas.openxmlformats.org/drawingml/2006/main">
            <a:off x="895350" y="2428875"/>
            <a:ext cx="3257550" cy="1952625"/>
          </a:xfrm>
          <a:prstGeom xmlns:a="http://schemas.openxmlformats.org/drawingml/2006/main" prst="roundRect">
            <a:avLst>
              <a:gd name="adj" fmla="val 6829"/>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99A8CC07-AD68-4637-9282-8D57A98EB60A}"/>
              </a:ext>
            </a:extLst>
          </p:cNvPr>
          <p:cNvSpPr>
            <a:spLocks xmlns:a="http://schemas.openxmlformats.org/drawingml/2006/main" noGrp="1"/>
          </p:cNvSpPr>
          <p:nvPr/>
        </p:nvSpPr>
        <p:spPr>
          <a:xfrm xmlns:a="http://schemas.openxmlformats.org/drawingml/2006/main">
            <a:off x="10477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A173996E-D374-4A0B-9809-58633E49318B}"/>
              </a:ext>
            </a:extLst>
          </p:cNvPr>
          <p:cNvSpPr>
            <a:spLocks xmlns:a="http://schemas.openxmlformats.org/drawingml/2006/main" noGrp="1"/>
          </p:cNvSpPr>
          <p:nvPr/>
        </p:nvSpPr>
        <p:spPr>
          <a:xfrm xmlns:a="http://schemas.openxmlformats.org/drawingml/2006/main">
            <a:off x="10477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Постинцидентна анализа одваја чињенице од претпоставки насталих под притиском.</a:t>
            </a:r>
          </a:p>
        </p:txBody>
      </p:sp>
      <p:sp>
        <p:nvSpPr>
          <p:cNvPr id="9" name="Rectangle 8">
            <a:extLst xmlns:a="http://schemas.openxmlformats.org/drawingml/2006/main">
              <a:ext uri="{FF2B5EF4-FFF2-40B4-BE49-F238E27FC236}">
                <a16:creationId xmlns:a16="http://schemas.microsoft.com/office/drawing/2014/main" id="{C924FF50-7E5B-495A-8E8F-EF86D32DA410}"/>
              </a:ext>
            </a:extLst>
          </p:cNvPr>
          <p:cNvSpPr>
            <a:spLocks xmlns:a="http://schemas.openxmlformats.org/drawingml/2006/main" noGrp="1"/>
          </p:cNvSpPr>
          <p:nvPr/>
        </p:nvSpPr>
        <p:spPr>
          <a:xfrm xmlns:a="http://schemas.openxmlformats.org/drawingml/2006/main">
            <a:off x="10477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улаз покреће ову одлуку?</a:t>
            </a:r>
          </a:p>
        </p:txBody>
      </p:sp>
      <p:sp>
        <p:nvSpPr>
          <p:cNvPr id="10" name="Rounded Rectangle 9">
            <a:extLst xmlns:a="http://schemas.openxmlformats.org/drawingml/2006/main">
              <a:ext uri="{FF2B5EF4-FFF2-40B4-BE49-F238E27FC236}">
                <a16:creationId xmlns:a16="http://schemas.microsoft.com/office/drawing/2014/main" id="{8C4AC4DF-B1FF-4FAA-AF3C-93AE95CF6793}"/>
              </a:ext>
            </a:extLst>
          </p:cNvPr>
          <p:cNvSpPr>
            <a:spLocks xmlns:a="http://schemas.openxmlformats.org/drawingml/2006/main" noGrp="1"/>
          </p:cNvSpPr>
          <p:nvPr/>
        </p:nvSpPr>
        <p:spPr>
          <a:xfrm xmlns:a="http://schemas.openxmlformats.org/drawingml/2006/main">
            <a:off x="4457700" y="2428875"/>
            <a:ext cx="3257550" cy="1952625"/>
          </a:xfrm>
          <a:prstGeom xmlns:a="http://schemas.openxmlformats.org/drawingml/2006/main" prst="roundRect">
            <a:avLst>
              <a:gd name="adj" fmla="val 6829"/>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3278FD8A-EFF1-421C-91E1-0E30D9640456}"/>
              </a:ext>
            </a:extLst>
          </p:cNvPr>
          <p:cNvSpPr>
            <a:spLocks xmlns:a="http://schemas.openxmlformats.org/drawingml/2006/main" noGrp="1"/>
          </p:cNvSpPr>
          <p:nvPr/>
        </p:nvSpPr>
        <p:spPr>
          <a:xfrm xmlns:a="http://schemas.openxmlformats.org/drawingml/2006/main">
            <a:off x="461010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364D35FE-C5BB-4C3D-8750-D57382035E6B}"/>
              </a:ext>
            </a:extLst>
          </p:cNvPr>
          <p:cNvSpPr>
            <a:spLocks xmlns:a="http://schemas.openxmlformats.org/drawingml/2006/main" noGrp="1"/>
          </p:cNvSpPr>
          <p:nvPr/>
        </p:nvSpPr>
        <p:spPr>
          <a:xfrm xmlns:a="http://schemas.openxmlformats.org/drawingml/2006/main">
            <a:off x="461010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Корективна акција има власника и проверљив завршетак.</a:t>
            </a:r>
          </a:p>
        </p:txBody>
      </p:sp>
      <p:sp>
        <p:nvSpPr>
          <p:cNvPr id="13" name="Rectangle 12">
            <a:extLst xmlns:a="http://schemas.openxmlformats.org/drawingml/2006/main">
              <a:ext uri="{FF2B5EF4-FFF2-40B4-BE49-F238E27FC236}">
                <a16:creationId xmlns:a16="http://schemas.microsoft.com/office/drawing/2014/main" id="{CDCC3299-6125-4157-8F84-DF71D94687A6}"/>
              </a:ext>
            </a:extLst>
          </p:cNvPr>
          <p:cNvSpPr>
            <a:spLocks xmlns:a="http://schemas.openxmlformats.org/drawingml/2006/main" noGrp="1"/>
          </p:cNvSpPr>
          <p:nvPr/>
        </p:nvSpPr>
        <p:spPr>
          <a:xfrm xmlns:a="http://schemas.openxmlformats.org/drawingml/2006/main">
            <a:off x="461010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која граница мора бити видљива?</a:t>
            </a:r>
          </a:p>
        </p:txBody>
      </p:sp>
      <p:sp>
        <p:nvSpPr>
          <p:cNvPr id="14" name="Rounded Rectangle 13">
            <a:extLst xmlns:a="http://schemas.openxmlformats.org/drawingml/2006/main">
              <a:ext uri="{FF2B5EF4-FFF2-40B4-BE49-F238E27FC236}">
                <a16:creationId xmlns:a16="http://schemas.microsoft.com/office/drawing/2014/main" id="{97575B9E-AC3B-44D7-B662-8586F98C8583}"/>
              </a:ext>
            </a:extLst>
          </p:cNvPr>
          <p:cNvSpPr>
            <a:spLocks xmlns:a="http://schemas.openxmlformats.org/drawingml/2006/main" noGrp="1"/>
          </p:cNvSpPr>
          <p:nvPr/>
        </p:nvSpPr>
        <p:spPr>
          <a:xfrm xmlns:a="http://schemas.openxmlformats.org/drawingml/2006/main">
            <a:off x="8020050" y="2428875"/>
            <a:ext cx="3257550" cy="1952625"/>
          </a:xfrm>
          <a:prstGeom xmlns:a="http://schemas.openxmlformats.org/drawingml/2006/main" prst="roundRect">
            <a:avLst>
              <a:gd name="adj" fmla="val 6829"/>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F61BF564-CAFE-4A39-8B42-2A0375FC5C8F}"/>
              </a:ext>
            </a:extLst>
          </p:cNvPr>
          <p:cNvSpPr>
            <a:spLocks xmlns:a="http://schemas.openxmlformats.org/drawingml/2006/main" noGrp="1"/>
          </p:cNvSpPr>
          <p:nvPr/>
        </p:nvSpPr>
        <p:spPr>
          <a:xfrm xmlns:a="http://schemas.openxmlformats.org/drawingml/2006/main">
            <a:off x="8172450" y="25527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801AF9D9-1300-4B02-AB56-68043012F418}"/>
              </a:ext>
            </a:extLst>
          </p:cNvPr>
          <p:cNvSpPr>
            <a:spLocks xmlns:a="http://schemas.openxmlformats.org/drawingml/2006/main" noGrp="1"/>
          </p:cNvSpPr>
          <p:nvPr/>
        </p:nvSpPr>
        <p:spPr>
          <a:xfrm xmlns:a="http://schemas.openxmlformats.org/drawingml/2006/main">
            <a:off x="8172450" y="2800350"/>
            <a:ext cx="295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Сценарио инцидента постаје тест, да се исто знање не изгуби.</a:t>
            </a:r>
          </a:p>
        </p:txBody>
      </p:sp>
      <p:sp>
        <p:nvSpPr>
          <p:cNvPr id="17" name="Rectangle 16">
            <a:extLst xmlns:a="http://schemas.openxmlformats.org/drawingml/2006/main">
              <a:ext uri="{FF2B5EF4-FFF2-40B4-BE49-F238E27FC236}">
                <a16:creationId xmlns:a16="http://schemas.microsoft.com/office/drawing/2014/main" id="{55827DEA-7308-45CE-B31C-9BB6AC10C72F}"/>
              </a:ext>
            </a:extLst>
          </p:cNvPr>
          <p:cNvSpPr>
            <a:spLocks xmlns:a="http://schemas.openxmlformats.org/drawingml/2006/main" noGrp="1"/>
          </p:cNvSpPr>
          <p:nvPr/>
        </p:nvSpPr>
        <p:spPr>
          <a:xfrm xmlns:a="http://schemas.openxmlformats.org/drawingml/2006/main">
            <a:off x="8172450" y="36480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125" b="0">
                <a:solidFill>
                  <a:srgbClr val="657184"/>
                </a:solidFill>
                <a:latin typeface="Aptos"/>
                <a:ea typeface="Aptos"/>
                <a:cs typeface="Aptos"/>
              </a:defRPr>
            </a:pPr>
            <a:r>
              <a:rPr sz="1275" b="0">
                <a:solidFill>
                  <a:srgbClr val="657184"/>
                </a:solidFill>
                <a:latin typeface="Aptos"/>
                <a:ea typeface="Aptos"/>
                <a:cs typeface="Aptos"/>
              </a:rPr>
              <a:t>Питање: који доказ остаје после исхода?</a:t>
            </a:r>
          </a:p>
        </p:txBody>
      </p:sp>
      <p:sp>
        <p:nvSpPr>
          <p:cNvPr id="18" name="Rounded Rectangle 17">
            <a:extLst xmlns:a="http://schemas.openxmlformats.org/drawingml/2006/main">
              <a:ext uri="{FF2B5EF4-FFF2-40B4-BE49-F238E27FC236}">
                <a16:creationId xmlns:a16="http://schemas.microsoft.com/office/drawing/2014/main" id="{215191BC-D9B1-4B1E-945E-11EF00F3DEB4}"/>
              </a:ext>
            </a:extLst>
          </p:cNvPr>
          <p:cNvSpPr>
            <a:spLocks xmlns:a="http://schemas.openxmlformats.org/drawingml/2006/main" noGrp="1"/>
          </p:cNvSpPr>
          <p:nvPr/>
        </p:nvSpPr>
        <p:spPr>
          <a:xfrm xmlns:a="http://schemas.openxmlformats.org/drawingml/2006/main">
            <a:off x="1600200" y="4752975"/>
            <a:ext cx="8991600" cy="742950"/>
          </a:xfrm>
          <a:prstGeom xmlns:a="http://schemas.openxmlformats.org/drawingml/2006/main" prst="roundRect">
            <a:avLst>
              <a:gd name="adj" fmla="val 16667"/>
            </a:avLst>
          </a:prstGeom>
          <a:solidFill xmlns:a="http://schemas.openxmlformats.org/drawingml/2006/main">
            <a:srgbClr val="FFF6E9"/>
          </a:solidFill>
          <a:ln xmlns:a="http://schemas.openxmlformats.org/drawingml/2006/main" w="9525">
            <a:solidFill>
              <a:srgbClr val="D7DEE8"/>
            </a:solidFill>
            <a:prstDash val="solid"/>
          </a:ln>
        </p:spPr>
      </p:sp>
      <p:sp>
        <p:nvSpPr>
          <p:cNvPr id="19" name="Rounded Rectangle 18">
            <a:extLst xmlns:a="http://schemas.openxmlformats.org/drawingml/2006/main">
              <a:ext uri="{FF2B5EF4-FFF2-40B4-BE49-F238E27FC236}">
                <a16:creationId xmlns:a16="http://schemas.microsoft.com/office/drawing/2014/main" id="{4DABDD17-2B09-44C9-83DD-ABA93FFEEFC3}"/>
              </a:ext>
            </a:extLst>
          </p:cNvPr>
          <p:cNvSpPr>
            <a:spLocks xmlns:a="http://schemas.openxmlformats.org/drawingml/2006/main" noGrp="1"/>
          </p:cNvSpPr>
          <p:nvPr/>
        </p:nvSpPr>
        <p:spPr>
          <a:xfrm xmlns:a="http://schemas.openxmlformats.org/drawingml/2006/main">
            <a:off x="1733550" y="4895850"/>
            <a:ext cx="57150" cy="4572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2" name="Rounded Rectangle 21">
            <a:extLst xmlns:a="http://schemas.openxmlformats.org/drawingml/2006/main">
              <a:ext uri="{FF2B5EF4-FFF2-40B4-BE49-F238E27FC236}">
                <a16:creationId xmlns:a16="http://schemas.microsoft.com/office/drawing/2014/main" id="{8BA8BBB4-6443-4B92-8834-F6C6167FAB49}"/>
              </a:ext>
            </a:extLst>
          </p:cNvPr>
          <p:cNvSpPr>
            <a:spLocks xmlns:a="http://schemas.openxmlformats.org/drawingml/2006/main" noGrp="1"/>
          </p:cNvSpPr>
          <p:nvPr/>
        </p:nvSpPr>
        <p:spPr>
          <a:xfrm xmlns:a="http://schemas.openxmlformats.org/drawingml/2006/main">
            <a:off x="914400" y="4762500"/>
            <a:ext cx="10363200" cy="781050"/>
          </a:xfrm>
          <a:prstGeom xmlns:a="http://schemas.openxmlformats.org/drawingml/2006/main" prst="roundRect">
            <a:avLst>
              <a:gd name="adj" fmla="val 17073"/>
            </a:avLst>
          </a:prstGeom>
          <a:solidFill xmlns:a="http://schemas.openxmlformats.org/drawingml/2006/main">
            <a:srgbClr val="F7EFF1"/>
          </a:solidFill>
          <a:ln xmlns:a="http://schemas.openxmlformats.org/drawingml/2006/main" w="8573">
            <a:solidFill>
              <a:srgbClr val="DBC7CC"/>
            </a:solidFill>
            <a:prstDash val="solid"/>
          </a:ln>
        </p:spPr>
      </p:sp>
      <p:sp>
        <p:nvSpPr>
          <p:cNvPr id="23" name="Rounded Rectangle 22">
            <a:extLst xmlns:a="http://schemas.openxmlformats.org/drawingml/2006/main">
              <a:ext uri="{FF2B5EF4-FFF2-40B4-BE49-F238E27FC236}">
                <a16:creationId xmlns:a16="http://schemas.microsoft.com/office/drawing/2014/main" id="{95D10FB4-1690-4F4D-96B0-E60C483A37A4}"/>
              </a:ext>
            </a:extLst>
          </p:cNvPr>
          <p:cNvSpPr>
            <a:spLocks xmlns:a="http://schemas.openxmlformats.org/drawingml/2006/main" noGrp="1"/>
          </p:cNvSpPr>
          <p:nvPr/>
        </p:nvSpPr>
        <p:spPr>
          <a:xfrm xmlns:a="http://schemas.openxmlformats.org/drawingml/2006/main">
            <a:off x="1085850" y="4914900"/>
            <a:ext cx="57150" cy="4762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24" name="Rectangle 23">
            <a:extLst xmlns:a="http://schemas.openxmlformats.org/drawingml/2006/main">
              <a:ext uri="{FF2B5EF4-FFF2-40B4-BE49-F238E27FC236}">
                <a16:creationId xmlns:a16="http://schemas.microsoft.com/office/drawing/2014/main" id="{37C6861D-CDE3-446C-A4A9-7679103DEF10}"/>
              </a:ext>
            </a:extLst>
          </p:cNvPr>
          <p:cNvSpPr>
            <a:spLocks xmlns:a="http://schemas.openxmlformats.org/drawingml/2006/main" noGrp="1"/>
          </p:cNvSpPr>
          <p:nvPr/>
        </p:nvSpPr>
        <p:spPr>
          <a:xfrm xmlns:a="http://schemas.openxmlformats.org/drawingml/2006/main">
            <a:off x="1333500" y="48672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ПИТАЊЕ ЗА АНАЛИЗУ</a:t>
            </a:r>
          </a:p>
        </p:txBody>
      </p:sp>
      <p:sp>
        <p:nvSpPr>
          <p:cNvPr id="25" name="Rectangle 24">
            <a:extLst xmlns:a="http://schemas.openxmlformats.org/drawingml/2006/main">
              <a:ext uri="{FF2B5EF4-FFF2-40B4-BE49-F238E27FC236}">
                <a16:creationId xmlns:a16="http://schemas.microsoft.com/office/drawing/2014/main" id="{1110BC45-7F68-46FF-84A8-7F016B78A91F}"/>
              </a:ext>
            </a:extLst>
          </p:cNvPr>
          <p:cNvSpPr>
            <a:spLocks xmlns:a="http://schemas.openxmlformats.org/drawingml/2006/main" noGrp="1"/>
          </p:cNvSpPr>
          <p:nvPr/>
        </p:nvSpPr>
        <p:spPr>
          <a:xfrm xmlns:a="http://schemas.openxmlformats.org/drawingml/2006/main">
            <a:off x="1333500" y="5095875"/>
            <a:ext cx="963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926"/>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Који тест бисте додали после инцидента да се исти пропуст не понови?</a:t>
            </a:r>
          </a:p>
        </p:txBody>
      </p:sp>
    </p:spTree>
    <p:extLst>
      <p:ext uri="{BB962C8B-B14F-4D97-AF65-F5344CB8AC3E}">
        <p14:creationId xmlns:p14="http://schemas.microsoft.com/office/powerpoint/2010/main" val="4579714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A020059-FC32-49A7-9D56-B35F611BB914}"/>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4C225B6D-5A65-4501-BB55-4820EBC42C9D}"/>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FD7B4803-0AD3-4B56-B756-56BBDEA5DF74}"/>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8</a:t>
            </a:r>
          </a:p>
        </p:txBody>
      </p:sp>
      <p:sp>
        <p:nvSpPr>
          <p:cNvPr id="4" name="Rectangle 3">
            <a:extLst xmlns:a="http://schemas.openxmlformats.org/drawingml/2006/main">
              <a:ext uri="{FF2B5EF4-FFF2-40B4-BE49-F238E27FC236}">
                <a16:creationId xmlns:a16="http://schemas.microsoft.com/office/drawing/2014/main" id="{CBDD2572-5430-47EF-AC60-CA4FF2D0C9F7}"/>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Сигнал, alert и инцидент</a:t>
            </a:r>
          </a:p>
        </p:txBody>
      </p:sp>
      <p:sp>
        <p:nvSpPr>
          <p:cNvPr id="5" name="Rectangle 4">
            <a:extLst xmlns:a="http://schemas.openxmlformats.org/drawingml/2006/main">
              <a:ext uri="{FF2B5EF4-FFF2-40B4-BE49-F238E27FC236}">
                <a16:creationId xmlns:a16="http://schemas.microsoft.com/office/drawing/2014/main" id="{72F69B3F-6EE5-48DB-8772-F2925CB4D8BB}"/>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Поређење приказује функцију сваког елемента и ограничење његове самосталне примене.</a:t>
            </a:r>
          </a:p>
        </p:txBody>
      </p:sp>
      <p:sp>
        <p:nvSpPr>
          <p:cNvPr id="6" name="Rectangle 5">
            <a:extLst xmlns:a="http://schemas.openxmlformats.org/drawingml/2006/main">
              <a:ext uri="{FF2B5EF4-FFF2-40B4-BE49-F238E27FC236}">
                <a16:creationId xmlns:a16="http://schemas.microsoft.com/office/drawing/2014/main" id="{6DBF8883-98A5-44B5-957D-6D2F31F4A1AE}"/>
              </a:ext>
            </a:extLst>
          </p:cNvPr>
          <p:cNvSpPr>
            <a:spLocks xmlns:a="http://schemas.openxmlformats.org/drawingml/2006/main" noGrp="1"/>
          </p:cNvSpPr>
          <p:nvPr/>
        </p:nvSpPr>
        <p:spPr>
          <a:xfrm xmlns:a="http://schemas.openxmlformats.org/drawingml/2006/main">
            <a:off x="876300" y="20478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Стање</a:t>
            </a:r>
          </a:p>
        </p:txBody>
      </p:sp>
      <p:sp>
        <p:nvSpPr>
          <p:cNvPr id="7" name="Rectangle 6">
            <a:extLst xmlns:a="http://schemas.openxmlformats.org/drawingml/2006/main">
              <a:ext uri="{FF2B5EF4-FFF2-40B4-BE49-F238E27FC236}">
                <a16:creationId xmlns:a16="http://schemas.microsoft.com/office/drawing/2014/main" id="{95FD7AB4-D163-46A1-8091-4A48CBCC6A03}"/>
              </a:ext>
            </a:extLst>
          </p:cNvPr>
          <p:cNvSpPr>
            <a:spLocks xmlns:a="http://schemas.openxmlformats.org/drawingml/2006/main" noGrp="1"/>
          </p:cNvSpPr>
          <p:nvPr/>
        </p:nvSpPr>
        <p:spPr>
          <a:xfrm xmlns:a="http://schemas.openxmlformats.org/drawingml/2006/main">
            <a:off x="3638550" y="2047875"/>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Шта представља</a:t>
            </a:r>
          </a:p>
        </p:txBody>
      </p:sp>
      <p:sp>
        <p:nvSpPr>
          <p:cNvPr id="8" name="Rectangle 7">
            <a:extLst xmlns:a="http://schemas.openxmlformats.org/drawingml/2006/main">
              <a:ext uri="{FF2B5EF4-FFF2-40B4-BE49-F238E27FC236}">
                <a16:creationId xmlns:a16="http://schemas.microsoft.com/office/drawing/2014/main" id="{08538C13-F7DD-4508-9450-447CC0BB7E0A}"/>
              </a:ext>
            </a:extLst>
          </p:cNvPr>
          <p:cNvSpPr>
            <a:spLocks xmlns:a="http://schemas.openxmlformats.org/drawingml/2006/main" noGrp="1"/>
          </p:cNvSpPr>
          <p:nvPr/>
        </p:nvSpPr>
        <p:spPr>
          <a:xfrm xmlns:a="http://schemas.openxmlformats.org/drawingml/2006/main">
            <a:off x="7543800" y="2047875"/>
            <a:ext cx="3771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1050" b="1">
                <a:solidFill>
                  <a:srgbClr val="657184"/>
                </a:solidFill>
                <a:latin typeface="Aptos"/>
                <a:ea typeface="Aptos"/>
                <a:cs typeface="Aptos"/>
              </a:defRPr>
            </a:pPr>
            <a:r>
              <a:rPr sz="1275" b="1">
                <a:solidFill>
                  <a:srgbClr val="657184"/>
                </a:solidFill>
                <a:latin typeface="Aptos"/>
                <a:ea typeface="Aptos"/>
                <a:cs typeface="Aptos"/>
              </a:rPr>
              <a:t>Потребна реакција</a:t>
            </a:r>
          </a:p>
        </p:txBody>
      </p:sp>
      <p:sp>
        <p:nvSpPr>
          <p:cNvPr id="9" name="Rounded Rectangle 8">
            <a:extLst xmlns:a="http://schemas.openxmlformats.org/drawingml/2006/main">
              <a:ext uri="{FF2B5EF4-FFF2-40B4-BE49-F238E27FC236}">
                <a16:creationId xmlns:a16="http://schemas.microsoft.com/office/drawing/2014/main" id="{DDEF9A30-3703-4C58-8E14-65AC8660B1FF}"/>
              </a:ext>
            </a:extLst>
          </p:cNvPr>
          <p:cNvSpPr>
            <a:spLocks xmlns:a="http://schemas.openxmlformats.org/drawingml/2006/main" noGrp="1"/>
          </p:cNvSpPr>
          <p:nvPr/>
        </p:nvSpPr>
        <p:spPr>
          <a:xfrm xmlns:a="http://schemas.openxmlformats.org/drawingml/2006/main">
            <a:off x="800100" y="2362200"/>
            <a:ext cx="10591800" cy="609600"/>
          </a:xfrm>
          <a:prstGeom xmlns:a="http://schemas.openxmlformats.org/drawingml/2006/main" prst="roundRect">
            <a:avLst>
              <a:gd name="adj" fmla="val 17188"/>
            </a:avLst>
          </a:prstGeom>
          <a:solidFill xmlns:a="http://schemas.openxmlformats.org/drawingml/2006/main">
            <a:srgbClr val="F4F6F9"/>
          </a:solidFill>
          <a:ln xmlns:a="http://schemas.openxmlformats.org/drawingml/2006/main" w="9525">
            <a:solidFill>
              <a:srgbClr val="D7DEE8"/>
            </a:solidFill>
            <a:prstDash val="solid"/>
          </a:ln>
        </p:spPr>
      </p:sp>
      <p:sp>
        <p:nvSpPr>
          <p:cNvPr id="10" name="Rectangle 9">
            <a:extLst xmlns:a="http://schemas.openxmlformats.org/drawingml/2006/main">
              <a:ext uri="{FF2B5EF4-FFF2-40B4-BE49-F238E27FC236}">
                <a16:creationId xmlns:a16="http://schemas.microsoft.com/office/drawing/2014/main" id="{D2417480-2D44-40A0-BAB4-96AC25450085}"/>
              </a:ext>
            </a:extLst>
          </p:cNvPr>
          <p:cNvSpPr>
            <a:spLocks xmlns:a="http://schemas.openxmlformats.org/drawingml/2006/main" noGrp="1"/>
          </p:cNvSpPr>
          <p:nvPr/>
        </p:nvSpPr>
        <p:spPr>
          <a:xfrm xmlns:a="http://schemas.openxmlformats.org/drawingml/2006/main">
            <a:off x="952500" y="2486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748092"/>
                </a:solidFill>
                <a:latin typeface="Aptos"/>
                <a:ea typeface="Aptos"/>
                <a:cs typeface="Aptos"/>
              </a:defRPr>
            </a:pPr>
            <a:r>
              <a:rPr sz="1275" b="1">
                <a:solidFill>
                  <a:srgbClr val="748092"/>
                </a:solidFill>
                <a:latin typeface="Aptos"/>
                <a:ea typeface="Aptos"/>
                <a:cs typeface="Aptos"/>
              </a:rPr>
              <a:t>Сигнал</a:t>
            </a:r>
          </a:p>
        </p:txBody>
      </p:sp>
      <p:sp>
        <p:nvSpPr>
          <p:cNvPr id="11" name="Rectangle 10">
            <a:extLst xmlns:a="http://schemas.openxmlformats.org/drawingml/2006/main">
              <a:ext uri="{FF2B5EF4-FFF2-40B4-BE49-F238E27FC236}">
                <a16:creationId xmlns:a16="http://schemas.microsoft.com/office/drawing/2014/main" id="{AA9A18DF-BA08-48E7-8B08-06D226C611A4}"/>
              </a:ext>
            </a:extLst>
          </p:cNvPr>
          <p:cNvSpPr>
            <a:spLocks xmlns:a="http://schemas.openxmlformats.org/drawingml/2006/main" noGrp="1"/>
          </p:cNvSpPr>
          <p:nvPr/>
        </p:nvSpPr>
        <p:spPr>
          <a:xfrm xmlns:a="http://schemas.openxmlformats.org/drawingml/2006/main">
            <a:off x="3638550" y="24288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Сиров догађај или одступање.</a:t>
            </a:r>
          </a:p>
        </p:txBody>
      </p:sp>
      <p:sp>
        <p:nvSpPr>
          <p:cNvPr id="12" name="Rectangle 11">
            <a:extLst xmlns:a="http://schemas.openxmlformats.org/drawingml/2006/main">
              <a:ext uri="{FF2B5EF4-FFF2-40B4-BE49-F238E27FC236}">
                <a16:creationId xmlns:a16="http://schemas.microsoft.com/office/drawing/2014/main" id="{611B5D09-529B-425F-88F1-86CF286D561C}"/>
              </a:ext>
            </a:extLst>
          </p:cNvPr>
          <p:cNvSpPr>
            <a:spLocks xmlns:a="http://schemas.openxmlformats.org/drawingml/2006/main" noGrp="1"/>
          </p:cNvSpPr>
          <p:nvPr/>
        </p:nvSpPr>
        <p:spPr>
          <a:xfrm xmlns:a="http://schemas.openxmlformats.org/drawingml/2006/main">
            <a:off x="7543800" y="24288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Сачувати контекст и проверити правило.</a:t>
            </a:r>
          </a:p>
        </p:txBody>
      </p:sp>
      <p:sp>
        <p:nvSpPr>
          <p:cNvPr id="13" name="Rounded Rectangle 12">
            <a:extLst xmlns:a="http://schemas.openxmlformats.org/drawingml/2006/main">
              <a:ext uri="{FF2B5EF4-FFF2-40B4-BE49-F238E27FC236}">
                <a16:creationId xmlns:a16="http://schemas.microsoft.com/office/drawing/2014/main" id="{E2E2806D-03D6-4641-8F00-D5F82C89D95A}"/>
              </a:ext>
            </a:extLst>
          </p:cNvPr>
          <p:cNvSpPr>
            <a:spLocks xmlns:a="http://schemas.openxmlformats.org/drawingml/2006/main" noGrp="1"/>
          </p:cNvSpPr>
          <p:nvPr/>
        </p:nvSpPr>
        <p:spPr>
          <a:xfrm xmlns:a="http://schemas.openxmlformats.org/drawingml/2006/main">
            <a:off x="800100" y="3105150"/>
            <a:ext cx="10591800" cy="609600"/>
          </a:xfrm>
          <a:prstGeom xmlns:a="http://schemas.openxmlformats.org/drawingml/2006/main" prst="roundRect">
            <a:avLst>
              <a:gd name="adj" fmla="val 17188"/>
            </a:avLst>
          </a:prstGeom>
          <a:solidFill xmlns:a="http://schemas.openxmlformats.org/drawingml/2006/main">
            <a:srgbClr val="F7EFF1"/>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189DB630-BE9F-4E16-B796-B88B3436C170}"/>
              </a:ext>
            </a:extLst>
          </p:cNvPr>
          <p:cNvSpPr>
            <a:spLocks xmlns:a="http://schemas.openxmlformats.org/drawingml/2006/main" noGrp="1"/>
          </p:cNvSpPr>
          <p:nvPr/>
        </p:nvSpPr>
        <p:spPr>
          <a:xfrm xmlns:a="http://schemas.openxmlformats.org/drawingml/2006/main">
            <a:off x="952500" y="322897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a:solidFill>
                  <a:srgbClr val="2F5EF5"/>
                </a:solidFill>
                <a:latin typeface="Aptos"/>
                <a:ea typeface="Aptos"/>
                <a:cs typeface="Aptos"/>
              </a:defRPr>
            </a:pPr>
            <a:r>
              <a:rPr sz="1275" b="1">
                <a:solidFill>
                  <a:srgbClr val="7A2636"/>
                </a:solidFill>
                <a:latin typeface="Aptos"/>
                <a:ea typeface="Aptos"/>
                <a:cs typeface="Aptos"/>
              </a:rPr>
              <a:t>Alert</a:t>
            </a:r>
          </a:p>
        </p:txBody>
      </p:sp>
      <p:sp>
        <p:nvSpPr>
          <p:cNvPr id="15" name="Rectangle 14">
            <a:extLst xmlns:a="http://schemas.openxmlformats.org/drawingml/2006/main">
              <a:ext uri="{FF2B5EF4-FFF2-40B4-BE49-F238E27FC236}">
                <a16:creationId xmlns:a16="http://schemas.microsoft.com/office/drawing/2014/main" id="{86667BBB-692D-4E03-8899-74ABA541DD78}"/>
              </a:ext>
            </a:extLst>
          </p:cNvPr>
          <p:cNvSpPr>
            <a:spLocks xmlns:a="http://schemas.openxmlformats.org/drawingml/2006/main" noGrp="1"/>
          </p:cNvSpPr>
          <p:nvPr/>
        </p:nvSpPr>
        <p:spPr>
          <a:xfrm xmlns:a="http://schemas.openxmlformats.org/drawingml/2006/main">
            <a:off x="3638550" y="31718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Сигнал који је прешао дефинисан праг.</a:t>
            </a:r>
          </a:p>
        </p:txBody>
      </p:sp>
      <p:sp>
        <p:nvSpPr>
          <p:cNvPr id="16" name="Rectangle 15">
            <a:extLst xmlns:a="http://schemas.openxmlformats.org/drawingml/2006/main">
              <a:ext uri="{FF2B5EF4-FFF2-40B4-BE49-F238E27FC236}">
                <a16:creationId xmlns:a16="http://schemas.microsoft.com/office/drawing/2014/main" id="{70D34015-B8E5-4A95-BF6E-557A9C901C08}"/>
              </a:ext>
            </a:extLst>
          </p:cNvPr>
          <p:cNvSpPr>
            <a:spLocks xmlns:a="http://schemas.openxmlformats.org/drawingml/2006/main" noGrp="1"/>
          </p:cNvSpPr>
          <p:nvPr/>
        </p:nvSpPr>
        <p:spPr>
          <a:xfrm xmlns:a="http://schemas.openxmlformats.org/drawingml/2006/main">
            <a:off x="7543800" y="31718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Triage и процена приоритета.</a:t>
            </a:r>
          </a:p>
        </p:txBody>
      </p:sp>
      <p:sp>
        <p:nvSpPr>
          <p:cNvPr id="17" name="Rounded Rectangle 16">
            <a:extLst xmlns:a="http://schemas.openxmlformats.org/drawingml/2006/main">
              <a:ext uri="{FF2B5EF4-FFF2-40B4-BE49-F238E27FC236}">
                <a16:creationId xmlns:a16="http://schemas.microsoft.com/office/drawing/2014/main" id="{BEA42558-B1E1-45BD-807F-824A4781D712}"/>
              </a:ext>
            </a:extLst>
          </p:cNvPr>
          <p:cNvSpPr>
            <a:spLocks xmlns:a="http://schemas.openxmlformats.org/drawingml/2006/main" noGrp="1"/>
          </p:cNvSpPr>
          <p:nvPr/>
        </p:nvSpPr>
        <p:spPr>
          <a:xfrm xmlns:a="http://schemas.openxmlformats.org/drawingml/2006/main">
            <a:off x="800100" y="3848100"/>
            <a:ext cx="10591800" cy="609600"/>
          </a:xfrm>
          <a:prstGeom xmlns:a="http://schemas.openxmlformats.org/drawingml/2006/main" prst="roundRect">
            <a:avLst>
              <a:gd name="adj" fmla="val 17188"/>
            </a:avLst>
          </a:prstGeom>
          <a:solidFill xmlns:a="http://schemas.openxmlformats.org/drawingml/2006/main">
            <a:srgbClr val="F7F4F5"/>
          </a:solidFill>
          <a:ln xmlns:a="http://schemas.openxmlformats.org/drawingml/2006/main" w="9525">
            <a:solidFill>
              <a:srgbClr val="D7DEE8"/>
            </a:solidFill>
            <a:prstDash val="solid"/>
          </a:ln>
        </p:spPr>
      </p:sp>
      <p:sp>
        <p:nvSpPr>
          <p:cNvPr id="18" name="Rectangle 17">
            <a:extLst xmlns:a="http://schemas.openxmlformats.org/drawingml/2006/main">
              <a:ext uri="{FF2B5EF4-FFF2-40B4-BE49-F238E27FC236}">
                <a16:creationId xmlns:a16="http://schemas.microsoft.com/office/drawing/2014/main" id="{07472A25-E88D-43D8-B7EB-4A74265BE102}"/>
              </a:ext>
            </a:extLst>
          </p:cNvPr>
          <p:cNvSpPr>
            <a:spLocks xmlns:a="http://schemas.openxmlformats.org/drawingml/2006/main" noGrp="1"/>
          </p:cNvSpPr>
          <p:nvPr/>
        </p:nvSpPr>
        <p:spPr>
          <a:xfrm xmlns:a="http://schemas.openxmlformats.org/drawingml/2006/main">
            <a:off x="952500" y="39719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a:solidFill>
                  <a:srgbClr val="7651D4"/>
                </a:solidFill>
                <a:latin typeface="Aptos"/>
                <a:ea typeface="Aptos"/>
                <a:cs typeface="Aptos"/>
              </a:defRPr>
            </a:pPr>
            <a:r>
              <a:rPr sz="1275" b="1">
                <a:solidFill>
                  <a:srgbClr val="7A2636"/>
                </a:solidFill>
                <a:latin typeface="Aptos"/>
                <a:ea typeface="Aptos"/>
                <a:cs typeface="Aptos"/>
              </a:rPr>
              <a:t>Инцидент</a:t>
            </a:r>
          </a:p>
        </p:txBody>
      </p:sp>
      <p:sp>
        <p:nvSpPr>
          <p:cNvPr id="19" name="Rectangle 18">
            <a:extLst xmlns:a="http://schemas.openxmlformats.org/drawingml/2006/main">
              <a:ext uri="{FF2B5EF4-FFF2-40B4-BE49-F238E27FC236}">
                <a16:creationId xmlns:a16="http://schemas.microsoft.com/office/drawing/2014/main" id="{9464F885-FA17-4F21-ABF3-9672B8E13691}"/>
              </a:ext>
            </a:extLst>
          </p:cNvPr>
          <p:cNvSpPr>
            <a:spLocks xmlns:a="http://schemas.openxmlformats.org/drawingml/2006/main" noGrp="1"/>
          </p:cNvSpPr>
          <p:nvPr/>
        </p:nvSpPr>
        <p:spPr>
          <a:xfrm xmlns:a="http://schemas.openxmlformats.org/drawingml/2006/main">
            <a:off x="3638550" y="39147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Потврђен или вероватан безбедносни утицај.</a:t>
            </a:r>
          </a:p>
        </p:txBody>
      </p:sp>
      <p:sp>
        <p:nvSpPr>
          <p:cNvPr id="20" name="Rectangle 19">
            <a:extLst xmlns:a="http://schemas.openxmlformats.org/drawingml/2006/main">
              <a:ext uri="{FF2B5EF4-FFF2-40B4-BE49-F238E27FC236}">
                <a16:creationId xmlns:a16="http://schemas.microsoft.com/office/drawing/2014/main" id="{A7824BCE-4E7B-42AE-9228-ED506833FD30}"/>
              </a:ext>
            </a:extLst>
          </p:cNvPr>
          <p:cNvSpPr>
            <a:spLocks xmlns:a="http://schemas.openxmlformats.org/drawingml/2006/main" noGrp="1"/>
          </p:cNvSpPr>
          <p:nvPr/>
        </p:nvSpPr>
        <p:spPr>
          <a:xfrm xmlns:a="http://schemas.openxmlformats.org/drawingml/2006/main">
            <a:off x="7543800" y="39147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Координисана реакција и следљив ток.</a:t>
            </a:r>
          </a:p>
        </p:txBody>
      </p:sp>
      <p:sp>
        <p:nvSpPr>
          <p:cNvPr id="21" name="Rounded Rectangle 20">
            <a:extLst xmlns:a="http://schemas.openxmlformats.org/drawingml/2006/main">
              <a:ext uri="{FF2B5EF4-FFF2-40B4-BE49-F238E27FC236}">
                <a16:creationId xmlns:a16="http://schemas.microsoft.com/office/drawing/2014/main" id="{5FF90A1B-CA8E-4546-AC8D-6494990BB281}"/>
              </a:ext>
            </a:extLst>
          </p:cNvPr>
          <p:cNvSpPr>
            <a:spLocks xmlns:a="http://schemas.openxmlformats.org/drawingml/2006/main" noGrp="1"/>
          </p:cNvSpPr>
          <p:nvPr/>
        </p:nvSpPr>
        <p:spPr>
          <a:xfrm xmlns:a="http://schemas.openxmlformats.org/drawingml/2006/main">
            <a:off x="800100" y="4591050"/>
            <a:ext cx="10591800" cy="609600"/>
          </a:xfrm>
          <a:prstGeom xmlns:a="http://schemas.openxmlformats.org/drawingml/2006/main" prst="roundRect">
            <a:avLst>
              <a:gd name="adj" fmla="val 17188"/>
            </a:avLst>
          </a:prstGeom>
          <a:solidFill xmlns:a="http://schemas.openxmlformats.org/drawingml/2006/main">
            <a:srgbClr val="EDF8F2"/>
          </a:solidFill>
          <a:ln xmlns:a="http://schemas.openxmlformats.org/drawingml/2006/main" w="9525">
            <a:solidFill>
              <a:srgbClr val="D7DEE8"/>
            </a:solidFill>
            <a:prstDash val="solid"/>
          </a:ln>
        </p:spPr>
      </p:sp>
      <p:sp>
        <p:nvSpPr>
          <p:cNvPr id="22" name="Rectangle 21">
            <a:extLst xmlns:a="http://schemas.openxmlformats.org/drawingml/2006/main">
              <a:ext uri="{FF2B5EF4-FFF2-40B4-BE49-F238E27FC236}">
                <a16:creationId xmlns:a16="http://schemas.microsoft.com/office/drawing/2014/main" id="{5C9373AA-5868-405E-A669-DA1FC388B927}"/>
              </a:ext>
            </a:extLst>
          </p:cNvPr>
          <p:cNvSpPr>
            <a:spLocks xmlns:a="http://schemas.openxmlformats.org/drawingml/2006/main" noGrp="1"/>
          </p:cNvSpPr>
          <p:nvPr/>
        </p:nvSpPr>
        <p:spPr>
          <a:xfrm xmlns:a="http://schemas.openxmlformats.org/drawingml/2006/main">
            <a:off x="952500" y="471487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38A5B"/>
                </a:solidFill>
                <a:latin typeface="Aptos"/>
                <a:ea typeface="Aptos"/>
                <a:cs typeface="Aptos"/>
              </a:defRPr>
            </a:pPr>
            <a:r>
              <a:rPr sz="1275" b="1">
                <a:solidFill>
                  <a:srgbClr val="138A5B"/>
                </a:solidFill>
                <a:latin typeface="Aptos"/>
                <a:ea typeface="Aptos"/>
                <a:cs typeface="Aptos"/>
              </a:rPr>
              <a:t>Налаз рањивости</a:t>
            </a:r>
          </a:p>
        </p:txBody>
      </p:sp>
      <p:sp>
        <p:nvSpPr>
          <p:cNvPr id="23" name="Rectangle 22">
            <a:extLst xmlns:a="http://schemas.openxmlformats.org/drawingml/2006/main">
              <a:ext uri="{FF2B5EF4-FFF2-40B4-BE49-F238E27FC236}">
                <a16:creationId xmlns:a16="http://schemas.microsoft.com/office/drawing/2014/main" id="{1089405F-F6AD-45F4-B377-C31C74057019}"/>
              </a:ext>
            </a:extLst>
          </p:cNvPr>
          <p:cNvSpPr>
            <a:spLocks xmlns:a="http://schemas.openxmlformats.org/drawingml/2006/main" noGrp="1"/>
          </p:cNvSpPr>
          <p:nvPr/>
        </p:nvSpPr>
        <p:spPr>
          <a:xfrm xmlns:a="http://schemas.openxmlformats.org/drawingml/2006/main">
            <a:off x="3638550" y="46577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1A202C"/>
                </a:solidFill>
                <a:latin typeface="Aptos"/>
                <a:ea typeface="Aptos"/>
                <a:cs typeface="Aptos"/>
              </a:defRPr>
            </a:pPr>
            <a:r>
              <a:rPr sz="1275" b="0">
                <a:solidFill>
                  <a:srgbClr val="1A202C"/>
                </a:solidFill>
                <a:latin typeface="Aptos"/>
                <a:ea typeface="Aptos"/>
                <a:cs typeface="Aptos"/>
              </a:rPr>
              <a:t>Потенцијална изложеност коју треба проценити.</a:t>
            </a:r>
          </a:p>
        </p:txBody>
      </p:sp>
      <p:sp>
        <p:nvSpPr>
          <p:cNvPr id="24" name="Rectangle 23">
            <a:extLst xmlns:a="http://schemas.openxmlformats.org/drawingml/2006/main">
              <a:ext uri="{FF2B5EF4-FFF2-40B4-BE49-F238E27FC236}">
                <a16:creationId xmlns:a16="http://schemas.microsoft.com/office/drawing/2014/main" id="{4F2FD2B8-58A6-40D3-8F2D-9B543D35E8E6}"/>
              </a:ext>
            </a:extLst>
          </p:cNvPr>
          <p:cNvSpPr>
            <a:spLocks xmlns:a="http://schemas.openxmlformats.org/drawingml/2006/main" noGrp="1"/>
          </p:cNvSpPr>
          <p:nvPr/>
        </p:nvSpPr>
        <p:spPr>
          <a:xfrm xmlns:a="http://schemas.openxmlformats.org/drawingml/2006/main">
            <a:off x="7543800" y="46577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Власник, рок и доказ корекције.</a:t>
            </a:r>
          </a:p>
        </p:txBody>
      </p:sp>
    </p:spTree>
    <p:extLst>
      <p:ext uri="{BB962C8B-B14F-4D97-AF65-F5344CB8AC3E}">
        <p14:creationId xmlns:p14="http://schemas.microsoft.com/office/powerpoint/2010/main" val="14595077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Rectangle 27">
            <a:extLst xmlns:a="http://schemas.openxmlformats.org/drawingml/2006/main">
              <a:ext uri="{FF2B5EF4-FFF2-40B4-BE49-F238E27FC236}">
                <a16:creationId xmlns:a16="http://schemas.microsoft.com/office/drawing/2014/main" id="{06FC7E76-BBB2-4609-B6EF-1BB61EA1F697}"/>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5C692D5F-43E9-4D14-9AB2-9E7045CFCAE2}"/>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03C2D9A3-C723-47D4-9192-B9821662C1EF}"/>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9</a:t>
            </a:r>
          </a:p>
        </p:txBody>
      </p:sp>
      <p:sp>
        <p:nvSpPr>
          <p:cNvPr id="4" name="Rectangle 3">
            <a:extLst xmlns:a="http://schemas.openxmlformats.org/drawingml/2006/main">
              <a:ext uri="{FF2B5EF4-FFF2-40B4-BE49-F238E27FC236}">
                <a16:creationId xmlns:a16="http://schemas.microsoft.com/office/drawing/2014/main" id="{F76A1528-A0E9-47D8-957C-2D2736E97585}"/>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Модел одговора на безбедносни догађај</a:t>
            </a:r>
          </a:p>
        </p:txBody>
      </p:sp>
      <p:sp>
        <p:nvSpPr>
          <p:cNvPr id="5" name="Rectangle 4">
            <a:extLst xmlns:a="http://schemas.openxmlformats.org/drawingml/2006/main">
              <a:ext uri="{FF2B5EF4-FFF2-40B4-BE49-F238E27FC236}">
                <a16:creationId xmlns:a16="http://schemas.microsoft.com/office/drawing/2014/main" id="{D01EC252-AC54-4CC6-B845-6BE3BDCF4E14}"/>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Значајни сигнали пролазе процену контекста и утицаја пре отварања инцидента. Исход анализе остаје доступан за наредне одлуке.</a:t>
            </a:r>
          </a:p>
        </p:txBody>
      </p:sp>
      <p:sp>
        <p:nvSpPr>
          <p:cNvPr id="6" name="Rounded Rectangle 5">
            <a:extLst xmlns:a="http://schemas.openxmlformats.org/drawingml/2006/main">
              <a:ext uri="{FF2B5EF4-FFF2-40B4-BE49-F238E27FC236}">
                <a16:creationId xmlns:a16="http://schemas.microsoft.com/office/drawing/2014/main" id="{EA33911C-4209-4036-9AB3-6A71283B6CA1}"/>
              </a:ext>
            </a:extLst>
          </p:cNvPr>
          <p:cNvSpPr>
            <a:spLocks xmlns:a="http://schemas.openxmlformats.org/drawingml/2006/main" noGrp="1"/>
          </p:cNvSpPr>
          <p:nvPr/>
        </p:nvSpPr>
        <p:spPr>
          <a:xfrm xmlns:a="http://schemas.openxmlformats.org/drawingml/2006/main">
            <a:off x="742950" y="2571750"/>
            <a:ext cx="2462213" cy="1257300"/>
          </a:xfrm>
          <a:prstGeom xmlns:a="http://schemas.openxmlformats.org/drawingml/2006/main" prst="roundRect">
            <a:avLst>
              <a:gd name="adj" fmla="val 10606"/>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12F577AC-F76E-4CD2-9B0B-365F92DE926E}"/>
              </a:ext>
            </a:extLst>
          </p:cNvPr>
          <p:cNvSpPr>
            <a:spLocks xmlns:a="http://schemas.openxmlformats.org/drawingml/2006/main" noGrp="1"/>
          </p:cNvSpPr>
          <p:nvPr/>
        </p:nvSpPr>
        <p:spPr>
          <a:xfrm xmlns:a="http://schemas.openxmlformats.org/drawingml/2006/main">
            <a:off x="885825" y="2686050"/>
            <a:ext cx="2176463"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A27DF54D-7B31-4343-A87C-381F44CB4005}"/>
              </a:ext>
            </a:extLst>
          </p:cNvPr>
          <p:cNvSpPr>
            <a:spLocks xmlns:a="http://schemas.openxmlformats.org/drawingml/2006/main" noGrp="1"/>
          </p:cNvSpPr>
          <p:nvPr/>
        </p:nvSpPr>
        <p:spPr>
          <a:xfrm xmlns:a="http://schemas.openxmlformats.org/drawingml/2006/main">
            <a:off x="876300" y="2971800"/>
            <a:ext cx="21955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Догађај</a:t>
            </a:r>
          </a:p>
        </p:txBody>
      </p:sp>
      <p:sp>
        <p:nvSpPr>
          <p:cNvPr id="9" name="Rectangle 8">
            <a:extLst xmlns:a="http://schemas.openxmlformats.org/drawingml/2006/main">
              <a:ext uri="{FF2B5EF4-FFF2-40B4-BE49-F238E27FC236}">
                <a16:creationId xmlns:a16="http://schemas.microsoft.com/office/drawing/2014/main" id="{A88BCE3C-BE23-4AF8-8690-8F137DDBDACB}"/>
              </a:ext>
            </a:extLst>
          </p:cNvPr>
          <p:cNvSpPr>
            <a:spLocks xmlns:a="http://schemas.openxmlformats.org/drawingml/2006/main" noGrp="1"/>
          </p:cNvSpPr>
          <p:nvPr/>
        </p:nvSpPr>
        <p:spPr>
          <a:xfrm xmlns:a="http://schemas.openxmlformats.org/drawingml/2006/main">
            <a:off x="885825" y="3362325"/>
            <a:ext cx="217646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сигнал из система</a:t>
            </a:r>
          </a:p>
        </p:txBody>
      </p:sp>
      <p:sp>
        <p:nvSpPr>
          <p:cNvPr id="10" name="Rounded Rectangle 9">
            <a:extLst xmlns:a="http://schemas.openxmlformats.org/drawingml/2006/main">
              <a:ext uri="{FF2B5EF4-FFF2-40B4-BE49-F238E27FC236}">
                <a16:creationId xmlns:a16="http://schemas.microsoft.com/office/drawing/2014/main" id="{0FDDF8EA-81D8-4813-A7B5-650AB13AFBD7}"/>
              </a:ext>
            </a:extLst>
          </p:cNvPr>
          <p:cNvSpPr>
            <a:spLocks xmlns:a="http://schemas.openxmlformats.org/drawingml/2006/main" noGrp="1"/>
          </p:cNvSpPr>
          <p:nvPr/>
        </p:nvSpPr>
        <p:spPr>
          <a:xfrm xmlns:a="http://schemas.openxmlformats.org/drawingml/2006/main">
            <a:off x="3490913" y="2571750"/>
            <a:ext cx="2462213" cy="1257300"/>
          </a:xfrm>
          <a:prstGeom xmlns:a="http://schemas.openxmlformats.org/drawingml/2006/main" prst="roundRect">
            <a:avLst>
              <a:gd name="adj" fmla="val 10606"/>
            </a:avLst>
          </a:prstGeom>
          <a:solidFill xmlns:a="http://schemas.openxmlformats.org/drawingml/2006/main">
            <a:srgbClr val="FFF6E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7EF5F85C-91A3-4B94-B67A-83C74C81BA60}"/>
              </a:ext>
            </a:extLst>
          </p:cNvPr>
          <p:cNvSpPr>
            <a:spLocks xmlns:a="http://schemas.openxmlformats.org/drawingml/2006/main" noGrp="1"/>
          </p:cNvSpPr>
          <p:nvPr/>
        </p:nvSpPr>
        <p:spPr>
          <a:xfrm xmlns:a="http://schemas.openxmlformats.org/drawingml/2006/main">
            <a:off x="3633788" y="2686050"/>
            <a:ext cx="2176463"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B55EF53E-9BB7-4505-B3AC-C49806FB6370}"/>
              </a:ext>
            </a:extLst>
          </p:cNvPr>
          <p:cNvSpPr>
            <a:spLocks xmlns:a="http://schemas.openxmlformats.org/drawingml/2006/main" noGrp="1"/>
          </p:cNvSpPr>
          <p:nvPr/>
        </p:nvSpPr>
        <p:spPr>
          <a:xfrm xmlns:a="http://schemas.openxmlformats.org/drawingml/2006/main">
            <a:off x="3624263" y="2971800"/>
            <a:ext cx="21955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Triage</a:t>
            </a:r>
          </a:p>
        </p:txBody>
      </p:sp>
      <p:sp>
        <p:nvSpPr>
          <p:cNvPr id="13" name="Rectangle 12">
            <a:extLst xmlns:a="http://schemas.openxmlformats.org/drawingml/2006/main">
              <a:ext uri="{FF2B5EF4-FFF2-40B4-BE49-F238E27FC236}">
                <a16:creationId xmlns:a16="http://schemas.microsoft.com/office/drawing/2014/main" id="{790F8A62-02D8-4347-B4E0-23C1B39C543B}"/>
              </a:ext>
            </a:extLst>
          </p:cNvPr>
          <p:cNvSpPr>
            <a:spLocks xmlns:a="http://schemas.openxmlformats.org/drawingml/2006/main" noGrp="1"/>
          </p:cNvSpPr>
          <p:nvPr/>
        </p:nvSpPr>
        <p:spPr>
          <a:xfrm xmlns:a="http://schemas.openxmlformats.org/drawingml/2006/main">
            <a:off x="3633788" y="3362325"/>
            <a:ext cx="217646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контекст и приоритет</a:t>
            </a:r>
          </a:p>
        </p:txBody>
      </p:sp>
      <p:sp>
        <p:nvSpPr>
          <p:cNvPr id="14" name="Rounded Rectangle 13">
            <a:extLst xmlns:a="http://schemas.openxmlformats.org/drawingml/2006/main">
              <a:ext uri="{FF2B5EF4-FFF2-40B4-BE49-F238E27FC236}">
                <a16:creationId xmlns:a16="http://schemas.microsoft.com/office/drawing/2014/main" id="{6218CE0A-21B5-4CCE-B3A2-245901892308}"/>
              </a:ext>
            </a:extLst>
          </p:cNvPr>
          <p:cNvSpPr>
            <a:spLocks xmlns:a="http://schemas.openxmlformats.org/drawingml/2006/main" noGrp="1"/>
          </p:cNvSpPr>
          <p:nvPr/>
        </p:nvSpPr>
        <p:spPr>
          <a:xfrm xmlns:a="http://schemas.openxmlformats.org/drawingml/2006/main">
            <a:off x="6238875" y="2571750"/>
            <a:ext cx="2462213" cy="1257300"/>
          </a:xfrm>
          <a:prstGeom xmlns:a="http://schemas.openxmlformats.org/drawingml/2006/main" prst="roundRect">
            <a:avLst>
              <a:gd name="adj" fmla="val 10606"/>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A1005D7A-13BE-4478-A4F4-CEC0EA7C9D91}"/>
              </a:ext>
            </a:extLst>
          </p:cNvPr>
          <p:cNvSpPr>
            <a:spLocks xmlns:a="http://schemas.openxmlformats.org/drawingml/2006/main" noGrp="1"/>
          </p:cNvSpPr>
          <p:nvPr/>
        </p:nvSpPr>
        <p:spPr>
          <a:xfrm xmlns:a="http://schemas.openxmlformats.org/drawingml/2006/main">
            <a:off x="6381750" y="2686050"/>
            <a:ext cx="2176463"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AB66DDD0-544D-48A2-9EAD-7632AD714B0D}"/>
              </a:ext>
            </a:extLst>
          </p:cNvPr>
          <p:cNvSpPr>
            <a:spLocks xmlns:a="http://schemas.openxmlformats.org/drawingml/2006/main" noGrp="1"/>
          </p:cNvSpPr>
          <p:nvPr/>
        </p:nvSpPr>
        <p:spPr>
          <a:xfrm xmlns:a="http://schemas.openxmlformats.org/drawingml/2006/main">
            <a:off x="6372225" y="2971800"/>
            <a:ext cx="21955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Реакција</a:t>
            </a:r>
          </a:p>
        </p:txBody>
      </p:sp>
      <p:sp>
        <p:nvSpPr>
          <p:cNvPr id="17" name="Rectangle 16">
            <a:extLst xmlns:a="http://schemas.openxmlformats.org/drawingml/2006/main">
              <a:ext uri="{FF2B5EF4-FFF2-40B4-BE49-F238E27FC236}">
                <a16:creationId xmlns:a16="http://schemas.microsoft.com/office/drawing/2014/main" id="{057FCBEF-5BDD-43EA-8656-C14048B77368}"/>
              </a:ext>
            </a:extLst>
          </p:cNvPr>
          <p:cNvSpPr>
            <a:spLocks xmlns:a="http://schemas.openxmlformats.org/drawingml/2006/main" noGrp="1"/>
          </p:cNvSpPr>
          <p:nvPr/>
        </p:nvSpPr>
        <p:spPr>
          <a:xfrm xmlns:a="http://schemas.openxmlformats.org/drawingml/2006/main">
            <a:off x="6381750" y="3362325"/>
            <a:ext cx="217646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699"/>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инцидент или контролисано затварање</a:t>
            </a:r>
          </a:p>
        </p:txBody>
      </p:sp>
      <p:sp>
        <p:nvSpPr>
          <p:cNvPr id="18" name="Rounded Rectangle 17">
            <a:extLst xmlns:a="http://schemas.openxmlformats.org/drawingml/2006/main">
              <a:ext uri="{FF2B5EF4-FFF2-40B4-BE49-F238E27FC236}">
                <a16:creationId xmlns:a16="http://schemas.microsoft.com/office/drawing/2014/main" id="{F37C771A-5211-4DD2-B1F0-7815C9E5B9F3}"/>
              </a:ext>
            </a:extLst>
          </p:cNvPr>
          <p:cNvSpPr>
            <a:spLocks xmlns:a="http://schemas.openxmlformats.org/drawingml/2006/main" noGrp="1"/>
          </p:cNvSpPr>
          <p:nvPr/>
        </p:nvSpPr>
        <p:spPr>
          <a:xfrm xmlns:a="http://schemas.openxmlformats.org/drawingml/2006/main">
            <a:off x="8986838" y="2571750"/>
            <a:ext cx="2462213" cy="1257300"/>
          </a:xfrm>
          <a:prstGeom xmlns:a="http://schemas.openxmlformats.org/drawingml/2006/main" prst="roundRect">
            <a:avLst>
              <a:gd name="adj" fmla="val 10606"/>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angle 18">
            <a:extLst xmlns:a="http://schemas.openxmlformats.org/drawingml/2006/main">
              <a:ext uri="{FF2B5EF4-FFF2-40B4-BE49-F238E27FC236}">
                <a16:creationId xmlns:a16="http://schemas.microsoft.com/office/drawing/2014/main" id="{C98A5897-56D8-4BC2-9082-003D0E48C40E}"/>
              </a:ext>
            </a:extLst>
          </p:cNvPr>
          <p:cNvSpPr>
            <a:spLocks xmlns:a="http://schemas.openxmlformats.org/drawingml/2006/main" noGrp="1"/>
          </p:cNvSpPr>
          <p:nvPr/>
        </p:nvSpPr>
        <p:spPr>
          <a:xfrm xmlns:a="http://schemas.openxmlformats.org/drawingml/2006/main">
            <a:off x="9129713" y="2686050"/>
            <a:ext cx="2176463"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xmlns:a="http://schemas.openxmlformats.org/drawingml/2006/main">
              <a:ext uri="{FF2B5EF4-FFF2-40B4-BE49-F238E27FC236}">
                <a16:creationId xmlns:a16="http://schemas.microsoft.com/office/drawing/2014/main" id="{0068E7A6-B591-4595-986F-CFDBC297B0FE}"/>
              </a:ext>
            </a:extLst>
          </p:cNvPr>
          <p:cNvSpPr>
            <a:spLocks xmlns:a="http://schemas.openxmlformats.org/drawingml/2006/main" noGrp="1"/>
          </p:cNvSpPr>
          <p:nvPr/>
        </p:nvSpPr>
        <p:spPr>
          <a:xfrm xmlns:a="http://schemas.openxmlformats.org/drawingml/2006/main">
            <a:off x="9120188" y="2971800"/>
            <a:ext cx="21955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Побољшање</a:t>
            </a:r>
          </a:p>
        </p:txBody>
      </p:sp>
      <p:sp>
        <p:nvSpPr>
          <p:cNvPr id="21" name="Rectangle 20">
            <a:extLst xmlns:a="http://schemas.openxmlformats.org/drawingml/2006/main">
              <a:ext uri="{FF2B5EF4-FFF2-40B4-BE49-F238E27FC236}">
                <a16:creationId xmlns:a16="http://schemas.microsoft.com/office/drawing/2014/main" id="{DE56FA70-3F71-4BA7-9020-38C0899B6ABC}"/>
              </a:ext>
            </a:extLst>
          </p:cNvPr>
          <p:cNvSpPr>
            <a:spLocks xmlns:a="http://schemas.openxmlformats.org/drawingml/2006/main" noGrp="1"/>
          </p:cNvSpPr>
          <p:nvPr/>
        </p:nvSpPr>
        <p:spPr>
          <a:xfrm xmlns:a="http://schemas.openxmlformats.org/drawingml/2006/main">
            <a:off x="9129713" y="3362325"/>
            <a:ext cx="217646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нови доказ и мањи ризик</a:t>
            </a:r>
          </a:p>
        </p:txBody>
      </p:sp>
      <p:cxnSp>
        <p:nvCxnSpPr>
          <p:cNvPr id="221" name="Straight Arrow Connector 124"/>
          <p:cNvCxnSpPr>
            <a:stCxn xmlns:a="http://schemas.openxmlformats.org/drawingml/2006/main" id="6" idx="3"/>
            <a:endCxn xmlns:a="http://schemas.openxmlformats.org/drawingml/2006/main" id="10" idx="1"/>
          </p:cNvCxnSpPr>
          <p:nvPr/>
        </p:nvCxnSpPr>
        <p:spPr>
          <a:xfrm xmlns:a="http://schemas.openxmlformats.org/drawingml/2006/main">
            <a:off x="3205163" y="320040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2" name="Straight Arrow Connector 125"/>
          <p:cNvCxnSpPr>
            <a:stCxn xmlns:a="http://schemas.openxmlformats.org/drawingml/2006/main" id="10" idx="3"/>
            <a:endCxn xmlns:a="http://schemas.openxmlformats.org/drawingml/2006/main" id="14" idx="1"/>
          </p:cNvCxnSpPr>
          <p:nvPr/>
        </p:nvCxnSpPr>
        <p:spPr>
          <a:xfrm xmlns:a="http://schemas.openxmlformats.org/drawingml/2006/main">
            <a:off x="5953126" y="3200400"/>
            <a:ext cx="285749"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3" name="Straight Arrow Connector 126"/>
          <p:cNvCxnSpPr>
            <a:stCxn xmlns:a="http://schemas.openxmlformats.org/drawingml/2006/main" id="14" idx="3"/>
            <a:endCxn xmlns:a="http://schemas.openxmlformats.org/drawingml/2006/main" id="18" idx="1"/>
          </p:cNvCxnSpPr>
          <p:nvPr/>
        </p:nvCxnSpPr>
        <p:spPr>
          <a:xfrm xmlns:a="http://schemas.openxmlformats.org/drawingml/2006/main">
            <a:off x="8701088" y="320040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sp>
        <p:nvSpPr>
          <p:cNvPr id="25" name="Rounded Rectangle 24">
            <a:extLst xmlns:a="http://schemas.openxmlformats.org/drawingml/2006/main">
              <a:ext uri="{FF2B5EF4-FFF2-40B4-BE49-F238E27FC236}">
                <a16:creationId xmlns:a16="http://schemas.microsoft.com/office/drawing/2014/main" id="{A709A4AC-90E7-43D6-B24E-637713CFAAD3}"/>
              </a:ext>
            </a:extLst>
          </p:cNvPr>
          <p:cNvSpPr>
            <a:spLocks xmlns:a="http://schemas.openxmlformats.org/drawingml/2006/main" noGrp="1"/>
          </p:cNvSpPr>
          <p:nvPr/>
        </p:nvSpPr>
        <p:spPr>
          <a:xfrm xmlns:a="http://schemas.openxmlformats.org/drawingml/2006/main">
            <a:off x="1714500" y="4419600"/>
            <a:ext cx="8763000" cy="742950"/>
          </a:xfrm>
          <a:prstGeom xmlns:a="http://schemas.openxmlformats.org/drawingml/2006/main" prst="roundRect">
            <a:avLst>
              <a:gd name="adj" fmla="val 16667"/>
            </a:avLst>
          </a:prstGeom>
          <a:solidFill xmlns:a="http://schemas.openxmlformats.org/drawingml/2006/main">
            <a:srgbClr val="F7EFF1"/>
          </a:solidFill>
          <a:ln xmlns:a="http://schemas.openxmlformats.org/drawingml/2006/main" w="9525">
            <a:solidFill>
              <a:srgbClr val="D7DEE8"/>
            </a:solidFill>
            <a:prstDash val="solid"/>
          </a:ln>
        </p:spPr>
      </p:sp>
      <p:sp>
        <p:nvSpPr>
          <p:cNvPr id="26" name="Rounded Rectangle 25">
            <a:extLst xmlns:a="http://schemas.openxmlformats.org/drawingml/2006/main">
              <a:ext uri="{FF2B5EF4-FFF2-40B4-BE49-F238E27FC236}">
                <a16:creationId xmlns:a16="http://schemas.microsoft.com/office/drawing/2014/main" id="{B5243A4A-85DB-4A0E-A9CD-9FC3D05C90C6}"/>
              </a:ext>
            </a:extLst>
          </p:cNvPr>
          <p:cNvSpPr>
            <a:spLocks xmlns:a="http://schemas.openxmlformats.org/drawingml/2006/main" noGrp="1"/>
          </p:cNvSpPr>
          <p:nvPr/>
        </p:nvSpPr>
        <p:spPr>
          <a:xfrm xmlns:a="http://schemas.openxmlformats.org/drawingml/2006/main">
            <a:off x="1847850" y="4562475"/>
            <a:ext cx="57150" cy="4572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6" name="Rounded Rectangle 75">
            <a:extLst xmlns:a="http://schemas.openxmlformats.org/drawingml/2006/main">
              <a:ext uri="{FF2B5EF4-FFF2-40B4-BE49-F238E27FC236}">
                <a16:creationId xmlns:a16="http://schemas.microsoft.com/office/drawing/2014/main" id="{8832E9D0-6303-4948-9BAD-0947B607720C}"/>
              </a:ext>
            </a:extLst>
          </p:cNvPr>
          <p:cNvSpPr>
            <a:spLocks xmlns:a="http://schemas.openxmlformats.org/drawingml/2006/main" noGrp="1"/>
          </p:cNvSpPr>
          <p:nvPr/>
        </p:nvSpPr>
        <p:spPr>
          <a:xfrm xmlns:a="http://schemas.openxmlformats.org/drawingml/2006/main">
            <a:off x="914400" y="4438650"/>
            <a:ext cx="10363200" cy="781050"/>
          </a:xfrm>
          <a:prstGeom xmlns:a="http://schemas.openxmlformats.org/drawingml/2006/main" prst="roundRect">
            <a:avLst>
              <a:gd name="adj" fmla="val 17073"/>
            </a:avLst>
          </a:prstGeom>
          <a:solidFill xmlns:a="http://schemas.openxmlformats.org/drawingml/2006/main">
            <a:srgbClr val="F7EFF1"/>
          </a:solidFill>
          <a:ln xmlns:a="http://schemas.openxmlformats.org/drawingml/2006/main" w="8573">
            <a:solidFill>
              <a:srgbClr val="DBC7CC"/>
            </a:solidFill>
            <a:prstDash val="solid"/>
          </a:ln>
        </p:spPr>
      </p:sp>
      <p:sp>
        <p:nvSpPr>
          <p:cNvPr id="77" name="Rounded Rectangle 76">
            <a:extLst xmlns:a="http://schemas.openxmlformats.org/drawingml/2006/main">
              <a:ext uri="{FF2B5EF4-FFF2-40B4-BE49-F238E27FC236}">
                <a16:creationId xmlns:a16="http://schemas.microsoft.com/office/drawing/2014/main" id="{FA062311-6DD6-4B89-A68A-CAEB0D3E175A}"/>
              </a:ext>
            </a:extLst>
          </p:cNvPr>
          <p:cNvSpPr>
            <a:spLocks xmlns:a="http://schemas.openxmlformats.org/drawingml/2006/main" noGrp="1"/>
          </p:cNvSpPr>
          <p:nvPr/>
        </p:nvSpPr>
        <p:spPr>
          <a:xfrm xmlns:a="http://schemas.openxmlformats.org/drawingml/2006/main">
            <a:off x="1085850" y="4591050"/>
            <a:ext cx="57150" cy="4762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8" name="Rectangle 77">
            <a:extLst xmlns:a="http://schemas.openxmlformats.org/drawingml/2006/main">
              <a:ext uri="{FF2B5EF4-FFF2-40B4-BE49-F238E27FC236}">
                <a16:creationId xmlns:a16="http://schemas.microsoft.com/office/drawing/2014/main" id="{BF1F09ED-F087-4076-B988-3DE1596363D9}"/>
              </a:ext>
            </a:extLst>
          </p:cNvPr>
          <p:cNvSpPr>
            <a:spLocks xmlns:a="http://schemas.openxmlformats.org/drawingml/2006/main" noGrp="1"/>
          </p:cNvSpPr>
          <p:nvPr/>
        </p:nvSpPr>
        <p:spPr>
          <a:xfrm xmlns:a="http://schemas.openxmlformats.org/drawingml/2006/main">
            <a:off x="1333500" y="454342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ЕЛЕМЕНТИ АНАЛИЗЕ</a:t>
            </a:r>
          </a:p>
        </p:txBody>
      </p:sp>
      <p:sp>
        <p:nvSpPr>
          <p:cNvPr id="79" name="Rectangle 78">
            <a:extLst xmlns:a="http://schemas.openxmlformats.org/drawingml/2006/main">
              <a:ext uri="{FF2B5EF4-FFF2-40B4-BE49-F238E27FC236}">
                <a16:creationId xmlns:a16="http://schemas.microsoft.com/office/drawing/2014/main" id="{28B37C32-5DAB-436D-B00D-A73D2C54A13E}"/>
              </a:ext>
            </a:extLst>
          </p:cNvPr>
          <p:cNvSpPr>
            <a:spLocks xmlns:a="http://schemas.openxmlformats.org/drawingml/2006/main" noGrp="1"/>
          </p:cNvSpPr>
          <p:nvPr/>
        </p:nvSpPr>
        <p:spPr>
          <a:xfrm xmlns:a="http://schemas.openxmlformats.org/drawingml/2006/main">
            <a:off x="1333500" y="4772025"/>
            <a:ext cx="963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Анализа сваког корака обухвата покретача, место одлуке и траг који остаје после исхода.</a:t>
            </a:r>
          </a:p>
        </p:txBody>
      </p:sp>
    </p:spTree>
    <p:extLst>
      <p:ext uri="{BB962C8B-B14F-4D97-AF65-F5344CB8AC3E}">
        <p14:creationId xmlns:p14="http://schemas.microsoft.com/office/powerpoint/2010/main" val="13857080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5752C65C-14A7-401E-90BD-BA0E7D0DF8FD}"/>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8DCEC499-E220-474C-A408-0E726287EB1A}"/>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157171D1-6A20-4135-B4A2-3E19AE038FDE}"/>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10</a:t>
            </a:r>
          </a:p>
        </p:txBody>
      </p:sp>
      <p:sp>
        <p:nvSpPr>
          <p:cNvPr id="4" name="Rectangle 3">
            <a:extLst xmlns:a="http://schemas.openxmlformats.org/drawingml/2006/main">
              <a:ext uri="{FF2B5EF4-FFF2-40B4-BE49-F238E27FC236}">
                <a16:creationId xmlns:a16="http://schemas.microsoft.com/office/drawing/2014/main" id="{0E99B20C-1164-4F40-93FC-E4CFCA55CE33}"/>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Ток управљања рањивошћу</a:t>
            </a:r>
          </a:p>
        </p:txBody>
      </p:sp>
      <p:sp>
        <p:nvSpPr>
          <p:cNvPr id="5" name="Rectangle 4">
            <a:extLst xmlns:a="http://schemas.openxmlformats.org/drawingml/2006/main">
              <a:ext uri="{FF2B5EF4-FFF2-40B4-BE49-F238E27FC236}">
                <a16:creationId xmlns:a16="http://schemas.microsoft.com/office/drawing/2014/main" id="{22BDE41D-3988-4087-A911-04644387F8D6}"/>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Процес приказује улазе, место одлуке и доказ који остаје после исхода.</a:t>
            </a:r>
          </a:p>
        </p:txBody>
      </p:sp>
      <p:sp>
        <p:nvSpPr>
          <p:cNvPr id="6" name="Rounded Rectangle 5">
            <a:extLst xmlns:a="http://schemas.openxmlformats.org/drawingml/2006/main">
              <a:ext uri="{FF2B5EF4-FFF2-40B4-BE49-F238E27FC236}">
                <a16:creationId xmlns:a16="http://schemas.microsoft.com/office/drawing/2014/main" id="{DBBF012F-EDAC-4014-BDA9-A5DDB69A8769}"/>
              </a:ext>
            </a:extLst>
          </p:cNvPr>
          <p:cNvSpPr>
            <a:spLocks xmlns:a="http://schemas.openxmlformats.org/drawingml/2006/main" noGrp="1"/>
          </p:cNvSpPr>
          <p:nvPr/>
        </p:nvSpPr>
        <p:spPr>
          <a:xfrm xmlns:a="http://schemas.openxmlformats.org/drawingml/2006/main">
            <a:off x="781050" y="2152650"/>
            <a:ext cx="4572000" cy="2249229"/>
          </a:xfrm>
          <a:prstGeom xmlns:a="http://schemas.openxmlformats.org/drawingml/2006/main" prst="roundRect">
            <a:avLst>
              <a:gd name="adj" fmla="val 4242"/>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D37CF439-55E8-407A-AC5F-E2E7DD45726B}"/>
              </a:ext>
            </a:extLst>
          </p:cNvPr>
          <p:cNvSpPr>
            <a:spLocks xmlns:a="http://schemas.openxmlformats.org/drawingml/2006/main" noGrp="1"/>
          </p:cNvSpPr>
          <p:nvPr/>
        </p:nvSpPr>
        <p:spPr>
          <a:xfrm xmlns:a="http://schemas.openxmlformats.org/drawingml/2006/main">
            <a:off x="933450" y="2276475"/>
            <a:ext cx="426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КОНТЕКСТ</a:t>
            </a:r>
          </a:p>
        </p:txBody>
      </p:sp>
      <p:sp>
        <p:nvSpPr>
          <p:cNvPr id="8" name="Rectangle 7">
            <a:extLst xmlns:a="http://schemas.openxmlformats.org/drawingml/2006/main">
              <a:ext uri="{FF2B5EF4-FFF2-40B4-BE49-F238E27FC236}">
                <a16:creationId xmlns:a16="http://schemas.microsoft.com/office/drawing/2014/main" id="{555BC77B-931C-484F-A4EF-950B65F6FAD0}"/>
              </a:ext>
            </a:extLst>
          </p:cNvPr>
          <p:cNvSpPr>
            <a:spLocks xmlns:a="http://schemas.openxmlformats.org/drawingml/2006/main" noGrp="1"/>
          </p:cNvSpPr>
          <p:nvPr/>
        </p:nvSpPr>
        <p:spPr>
          <a:xfrm xmlns:a="http://schemas.openxmlformats.org/drawingml/2006/main">
            <a:off x="933450" y="2524125"/>
            <a:ext cx="426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650" b="1">
                <a:solidFill>
                  <a:srgbClr val="1A202C"/>
                </a:solidFill>
                <a:latin typeface="Aptos"/>
                <a:ea typeface="Aptos"/>
                <a:cs typeface="Aptos"/>
              </a:defRPr>
            </a:pPr>
            <a:r>
              <a:rPr sz="1650" b="1">
                <a:solidFill>
                  <a:srgbClr val="1A202C"/>
                </a:solidFill>
                <a:latin typeface="Aptos"/>
                <a:ea typeface="Aptos"/>
                <a:cs typeface="Aptos"/>
              </a:rPr>
              <a:t>Ток управљања рањивошћу</a:t>
            </a:r>
          </a:p>
        </p:txBody>
      </p:sp>
      <p:sp>
        <p:nvSpPr>
          <p:cNvPr id="9" name="Rectangle 8">
            <a:extLst xmlns:a="http://schemas.openxmlformats.org/drawingml/2006/main">
              <a:ext uri="{FF2B5EF4-FFF2-40B4-BE49-F238E27FC236}">
                <a16:creationId xmlns:a16="http://schemas.microsoft.com/office/drawing/2014/main" id="{5E4B814F-536F-494C-84DA-E9E33D0DAADB}"/>
              </a:ext>
            </a:extLst>
          </p:cNvPr>
          <p:cNvSpPr>
            <a:spLocks xmlns:a="http://schemas.openxmlformats.org/drawingml/2006/main" noGrp="1"/>
          </p:cNvSpPr>
          <p:nvPr/>
        </p:nvSpPr>
        <p:spPr>
          <a:xfrm xmlns:a="http://schemas.openxmlformats.org/drawingml/2006/main">
            <a:off x="933450" y="3086100"/>
            <a:ext cx="42672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Налаз постаје користан тек када се повеже са стварном имовином и њеном изложеношћу. Исти технички проблем нема исти приоритет на изолованом развојном рачунару и на јавно доступној услузи која обрађује осетљиве податке.</a:t>
            </a:r>
          </a:p>
        </p:txBody>
      </p:sp>
      <p:sp>
        <p:nvSpPr>
          <p:cNvPr id="10" name="Rounded Rectangle 9">
            <a:extLst xmlns:a="http://schemas.openxmlformats.org/drawingml/2006/main">
              <a:ext uri="{FF2B5EF4-FFF2-40B4-BE49-F238E27FC236}">
                <a16:creationId xmlns:a16="http://schemas.microsoft.com/office/drawing/2014/main" id="{BCD7E0D9-2181-435E-A82B-3B3D2C096CD3}"/>
              </a:ext>
            </a:extLst>
          </p:cNvPr>
          <p:cNvSpPr>
            <a:spLocks xmlns:a="http://schemas.openxmlformats.org/drawingml/2006/main" noGrp="1"/>
          </p:cNvSpPr>
          <p:nvPr/>
        </p:nvSpPr>
        <p:spPr>
          <a:xfrm xmlns:a="http://schemas.openxmlformats.org/drawingml/2006/main">
            <a:off x="5772150" y="2095500"/>
            <a:ext cx="5638800" cy="723900"/>
          </a:xfrm>
          <a:prstGeom xmlns:a="http://schemas.openxmlformats.org/drawingml/2006/main" prst="roundRect">
            <a:avLst>
              <a:gd name="adj" fmla="val 18421"/>
            </a:avLst>
          </a:prstGeom>
          <a:solidFill xmlns:a="http://schemas.openxmlformats.org/drawingml/2006/main">
            <a:srgbClr val="F7EFF1"/>
          </a:solidFill>
          <a:ln xmlns:a="http://schemas.openxmlformats.org/drawingml/2006/main" w="9525">
            <a:solidFill>
              <a:srgbClr val="D7DEE8"/>
            </a:solidFill>
            <a:prstDash val="solid"/>
          </a:ln>
        </p:spPr>
      </p:sp>
      <p:sp>
        <p:nvSpPr>
          <p:cNvPr id="11" name="Rectangle 10">
            <a:extLst xmlns:a="http://schemas.openxmlformats.org/drawingml/2006/main">
              <a:ext uri="{FF2B5EF4-FFF2-40B4-BE49-F238E27FC236}">
                <a16:creationId xmlns:a16="http://schemas.microsoft.com/office/drawing/2014/main" id="{F7C5FE21-88C4-4741-B060-D2F98EA8B3CC}"/>
              </a:ext>
            </a:extLst>
          </p:cNvPr>
          <p:cNvSpPr>
            <a:spLocks xmlns:a="http://schemas.openxmlformats.org/drawingml/2006/main" noGrp="1"/>
          </p:cNvSpPr>
          <p:nvPr/>
        </p:nvSpPr>
        <p:spPr>
          <a:xfrm xmlns:a="http://schemas.openxmlformats.org/drawingml/2006/main">
            <a:off x="5924550" y="2219325"/>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01</a:t>
            </a:r>
          </a:p>
        </p:txBody>
      </p:sp>
      <p:sp>
        <p:nvSpPr>
          <p:cNvPr id="12" name="Rectangle 11">
            <a:extLst xmlns:a="http://schemas.openxmlformats.org/drawingml/2006/main">
              <a:ext uri="{FF2B5EF4-FFF2-40B4-BE49-F238E27FC236}">
                <a16:creationId xmlns:a16="http://schemas.microsoft.com/office/drawing/2014/main" id="{0F732340-7E8D-427E-8873-B37B56B31EB0}"/>
              </a:ext>
            </a:extLst>
          </p:cNvPr>
          <p:cNvSpPr>
            <a:spLocks xmlns:a="http://schemas.openxmlformats.org/drawingml/2006/main" noGrp="1"/>
          </p:cNvSpPr>
          <p:nvPr/>
        </p:nvSpPr>
        <p:spPr>
          <a:xfrm xmlns:a="http://schemas.openxmlformats.org/drawingml/2006/main">
            <a:off x="5924550" y="24669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Потврдити да се налаз односи на стварну компоненту и активну верзију.</a:t>
            </a:r>
          </a:p>
        </p:txBody>
      </p:sp>
      <p:sp>
        <p:nvSpPr>
          <p:cNvPr id="13" name="Rounded Rectangle 12">
            <a:extLst xmlns:a="http://schemas.openxmlformats.org/drawingml/2006/main">
              <a:ext uri="{FF2B5EF4-FFF2-40B4-BE49-F238E27FC236}">
                <a16:creationId xmlns:a16="http://schemas.microsoft.com/office/drawing/2014/main" id="{365C1010-762A-4D05-B96C-71EF02F60BCD}"/>
              </a:ext>
            </a:extLst>
          </p:cNvPr>
          <p:cNvSpPr>
            <a:spLocks xmlns:a="http://schemas.openxmlformats.org/drawingml/2006/main" noGrp="1"/>
          </p:cNvSpPr>
          <p:nvPr/>
        </p:nvSpPr>
        <p:spPr>
          <a:xfrm xmlns:a="http://schemas.openxmlformats.org/drawingml/2006/main">
            <a:off x="5772150" y="2971799"/>
            <a:ext cx="5638800" cy="830227"/>
          </a:xfrm>
          <a:prstGeom xmlns:a="http://schemas.openxmlformats.org/drawingml/2006/main" prst="roundRect">
            <a:avLst>
              <a:gd name="adj" fmla="val 18421"/>
            </a:avLst>
          </a:prstGeom>
          <a:solidFill xmlns:a="http://schemas.openxmlformats.org/drawingml/2006/main">
            <a:srgbClr val="EDF8F2"/>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7CCF19CA-8F18-47BF-B935-EA5226EA288E}"/>
              </a:ext>
            </a:extLst>
          </p:cNvPr>
          <p:cNvSpPr>
            <a:spLocks xmlns:a="http://schemas.openxmlformats.org/drawingml/2006/main" noGrp="1"/>
          </p:cNvSpPr>
          <p:nvPr/>
        </p:nvSpPr>
        <p:spPr>
          <a:xfrm xmlns:a="http://schemas.openxmlformats.org/drawingml/2006/main">
            <a:off x="5924550" y="3095625"/>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02</a:t>
            </a:r>
          </a:p>
        </p:txBody>
      </p:sp>
      <p:sp>
        <p:nvSpPr>
          <p:cNvPr id="15" name="Rectangle 14">
            <a:extLst xmlns:a="http://schemas.openxmlformats.org/drawingml/2006/main">
              <a:ext uri="{FF2B5EF4-FFF2-40B4-BE49-F238E27FC236}">
                <a16:creationId xmlns:a16="http://schemas.microsoft.com/office/drawing/2014/main" id="{3FB31199-B51F-43F0-B032-54F64A85BBB0}"/>
              </a:ext>
            </a:extLst>
          </p:cNvPr>
          <p:cNvSpPr>
            <a:spLocks xmlns:a="http://schemas.openxmlformats.org/drawingml/2006/main" noGrp="1"/>
          </p:cNvSpPr>
          <p:nvPr/>
        </p:nvSpPr>
        <p:spPr>
          <a:xfrm xmlns:a="http://schemas.openxmlformats.org/drawingml/2006/main">
            <a:off x="5924550" y="33432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Процени утицај у контексту доступности, података и граница поверења.</a:t>
            </a:r>
          </a:p>
        </p:txBody>
      </p:sp>
      <p:sp>
        <p:nvSpPr>
          <p:cNvPr id="16" name="Rounded Rectangle 15">
            <a:extLst xmlns:a="http://schemas.openxmlformats.org/drawingml/2006/main">
              <a:ext uri="{FF2B5EF4-FFF2-40B4-BE49-F238E27FC236}">
                <a16:creationId xmlns:a16="http://schemas.microsoft.com/office/drawing/2014/main" id="{C4BB2AD7-7C36-4805-BDC5-4102AF511291}"/>
              </a:ext>
            </a:extLst>
          </p:cNvPr>
          <p:cNvSpPr>
            <a:spLocks xmlns:a="http://schemas.openxmlformats.org/drawingml/2006/main" noGrp="1"/>
          </p:cNvSpPr>
          <p:nvPr/>
        </p:nvSpPr>
        <p:spPr>
          <a:xfrm xmlns:a="http://schemas.openxmlformats.org/drawingml/2006/main">
            <a:off x="5772150" y="3954426"/>
            <a:ext cx="5638800" cy="870764"/>
          </a:xfrm>
          <a:prstGeom xmlns:a="http://schemas.openxmlformats.org/drawingml/2006/main" prst="roundRect">
            <a:avLst>
              <a:gd name="adj" fmla="val 18421"/>
            </a:avLst>
          </a:prstGeom>
          <a:solidFill xmlns:a="http://schemas.openxmlformats.org/drawingml/2006/main">
            <a:srgbClr val="F7EFF1"/>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A93758B0-8D2B-4E30-ABE9-E3ACC834A190}"/>
              </a:ext>
            </a:extLst>
          </p:cNvPr>
          <p:cNvSpPr>
            <a:spLocks xmlns:a="http://schemas.openxmlformats.org/drawingml/2006/main" noGrp="1"/>
          </p:cNvSpPr>
          <p:nvPr/>
        </p:nvSpPr>
        <p:spPr>
          <a:xfrm xmlns:a="http://schemas.openxmlformats.org/drawingml/2006/main">
            <a:off x="5924550" y="4078252"/>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03</a:t>
            </a:r>
          </a:p>
        </p:txBody>
      </p:sp>
      <p:sp>
        <p:nvSpPr>
          <p:cNvPr id="18" name="Rectangle 17">
            <a:extLst xmlns:a="http://schemas.openxmlformats.org/drawingml/2006/main">
              <a:ext uri="{FF2B5EF4-FFF2-40B4-BE49-F238E27FC236}">
                <a16:creationId xmlns:a16="http://schemas.microsoft.com/office/drawing/2014/main" id="{FD03835D-DB85-4C7F-8A4C-64376DD3D902}"/>
              </a:ext>
            </a:extLst>
          </p:cNvPr>
          <p:cNvSpPr>
            <a:spLocks xmlns:a="http://schemas.openxmlformats.org/drawingml/2006/main" noGrp="1"/>
          </p:cNvSpPr>
          <p:nvPr/>
        </p:nvSpPr>
        <p:spPr>
          <a:xfrm xmlns:a="http://schemas.openxmlformats.org/drawingml/2006/main">
            <a:off x="5924550" y="4325902"/>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Одредити</a:t>
            </a:r>
            <a:r>
              <a:rPr sz="1350" b="1">
                <a:solidFill>
                  <a:srgbClr val="1A202C"/>
                </a:solidFill>
                <a:latin typeface="Aptos"/>
                <a:ea typeface="Aptos"/>
                <a:cs typeface="Aptos"/>
              </a:rPr>
              <a:t> </a:t>
            </a:r>
            <a:r>
              <a:rPr sz="1350" b="1">
                <a:solidFill>
                  <a:srgbClr val="1A202C"/>
                </a:solidFill>
                <a:latin typeface="Aptos"/>
                <a:ea typeface="Aptos"/>
                <a:cs typeface="Aptos"/>
              </a:rPr>
              <a:t>корекцију</a:t>
            </a:r>
            <a:r>
              <a:rPr sz="1350" b="1">
                <a:solidFill>
                  <a:srgbClr val="1A202C"/>
                </a:solidFill>
                <a:latin typeface="Aptos"/>
                <a:ea typeface="Aptos"/>
                <a:cs typeface="Aptos"/>
              </a:rPr>
              <a:t>, </a:t>
            </a:r>
            <a:r>
              <a:rPr sz="1350" b="1">
                <a:solidFill>
                  <a:srgbClr val="1A202C"/>
                </a:solidFill>
                <a:latin typeface="Aptos"/>
                <a:ea typeface="Aptos"/>
                <a:cs typeface="Aptos"/>
              </a:rPr>
              <a:t>компензациону</a:t>
            </a:r>
            <a:r>
              <a:rPr sz="1350" b="1">
                <a:solidFill>
                  <a:srgbClr val="1A202C"/>
                </a:solidFill>
                <a:latin typeface="Aptos"/>
                <a:ea typeface="Aptos"/>
                <a:cs typeface="Aptos"/>
              </a:rPr>
              <a:t> </a:t>
            </a:r>
            <a:r>
              <a:rPr sz="1350" b="1">
                <a:solidFill>
                  <a:srgbClr val="1A202C"/>
                </a:solidFill>
                <a:latin typeface="Aptos"/>
                <a:ea typeface="Aptos"/>
                <a:cs typeface="Aptos"/>
              </a:rPr>
              <a:t>контролу</a:t>
            </a:r>
            <a:r>
              <a:rPr sz="1350" b="1">
                <a:solidFill>
                  <a:srgbClr val="1A202C"/>
                </a:solidFill>
                <a:latin typeface="Aptos"/>
                <a:ea typeface="Aptos"/>
                <a:cs typeface="Aptos"/>
              </a:rPr>
              <a:t> </a:t>
            </a:r>
            <a:r>
              <a:rPr sz="1350" b="1">
                <a:solidFill>
                  <a:srgbClr val="1A202C"/>
                </a:solidFill>
                <a:latin typeface="Aptos"/>
                <a:ea typeface="Aptos"/>
                <a:cs typeface="Aptos"/>
              </a:rPr>
              <a:t>или</a:t>
            </a:r>
            <a:r>
              <a:rPr sz="1350" b="1">
                <a:solidFill>
                  <a:srgbClr val="1A202C"/>
                </a:solidFill>
                <a:latin typeface="Aptos"/>
                <a:ea typeface="Aptos"/>
                <a:cs typeface="Aptos"/>
              </a:rPr>
              <a:t> </a:t>
            </a:r>
            <a:r>
              <a:rPr sz="1350" b="1">
                <a:solidFill>
                  <a:srgbClr val="1A202C"/>
                </a:solidFill>
                <a:latin typeface="Aptos"/>
                <a:ea typeface="Aptos"/>
                <a:cs typeface="Aptos"/>
              </a:rPr>
              <a:t>образложено</a:t>
            </a:r>
            <a:r>
              <a:rPr sz="1350" b="1">
                <a:solidFill>
                  <a:srgbClr val="1A202C"/>
                </a:solidFill>
                <a:latin typeface="Aptos"/>
                <a:ea typeface="Aptos"/>
                <a:cs typeface="Aptos"/>
              </a:rPr>
              <a:t> </a:t>
            </a:r>
            <a:r>
              <a:rPr sz="1350" b="1">
                <a:solidFill>
                  <a:srgbClr val="1A202C"/>
                </a:solidFill>
                <a:latin typeface="Aptos"/>
                <a:ea typeface="Aptos"/>
                <a:cs typeface="Aptos"/>
              </a:rPr>
              <a:t>прихватање</a:t>
            </a:r>
            <a:r>
              <a:rPr sz="1350" b="1">
                <a:solidFill>
                  <a:srgbClr val="1A202C"/>
                </a:solidFill>
                <a:latin typeface="Aptos"/>
                <a:ea typeface="Aptos"/>
                <a:cs typeface="Aptos"/>
              </a:rPr>
              <a:t> </a:t>
            </a:r>
            <a:r>
              <a:rPr sz="1350" b="1">
                <a:solidFill>
                  <a:srgbClr val="1A202C"/>
                </a:solidFill>
                <a:latin typeface="Aptos"/>
                <a:ea typeface="Aptos"/>
                <a:cs typeface="Aptos"/>
              </a:rPr>
              <a:t>ризика</a:t>
            </a:r>
            <a:r>
              <a:rPr sz="1350" b="1">
                <a:solidFill>
                  <a:srgbClr val="1A202C"/>
                </a:solidFill>
                <a:latin typeface="Aptos"/>
                <a:ea typeface="Aptos"/>
                <a:cs typeface="Aptos"/>
              </a:rPr>
              <a:t>.</a:t>
            </a:r>
          </a:p>
        </p:txBody>
      </p:sp>
      <p:sp>
        <p:nvSpPr>
          <p:cNvPr id="19" name="Rounded Rectangle 18">
            <a:extLst xmlns:a="http://schemas.openxmlformats.org/drawingml/2006/main">
              <a:ext uri="{FF2B5EF4-FFF2-40B4-BE49-F238E27FC236}">
                <a16:creationId xmlns:a16="http://schemas.microsoft.com/office/drawing/2014/main" id="{90F7E523-43C2-483E-94B0-33F75FDCD909}"/>
              </a:ext>
            </a:extLst>
          </p:cNvPr>
          <p:cNvSpPr>
            <a:spLocks xmlns:a="http://schemas.openxmlformats.org/drawingml/2006/main" noGrp="1"/>
          </p:cNvSpPr>
          <p:nvPr/>
        </p:nvSpPr>
        <p:spPr>
          <a:xfrm xmlns:a="http://schemas.openxmlformats.org/drawingml/2006/main">
            <a:off x="5772150" y="4979586"/>
            <a:ext cx="5638800" cy="910855"/>
          </a:xfrm>
          <a:prstGeom xmlns:a="http://schemas.openxmlformats.org/drawingml/2006/main" prst="roundRect">
            <a:avLst>
              <a:gd name="adj" fmla="val 18421"/>
            </a:avLst>
          </a:prstGeom>
          <a:solidFill xmlns:a="http://schemas.openxmlformats.org/drawingml/2006/main">
            <a:srgbClr val="EDF8F2"/>
          </a:solidFill>
          <a:ln xmlns:a="http://schemas.openxmlformats.org/drawingml/2006/main" w="9525">
            <a:solidFill>
              <a:srgbClr val="D7DEE8"/>
            </a:solidFill>
            <a:prstDash val="solid"/>
          </a:ln>
        </p:spPr>
      </p:sp>
      <p:sp>
        <p:nvSpPr>
          <p:cNvPr id="20" name="Rectangle 19">
            <a:extLst xmlns:a="http://schemas.openxmlformats.org/drawingml/2006/main">
              <a:ext uri="{FF2B5EF4-FFF2-40B4-BE49-F238E27FC236}">
                <a16:creationId xmlns:a16="http://schemas.microsoft.com/office/drawing/2014/main" id="{07561778-2507-4981-B34F-C0169E10B121}"/>
              </a:ext>
            </a:extLst>
          </p:cNvPr>
          <p:cNvSpPr>
            <a:spLocks xmlns:a="http://schemas.openxmlformats.org/drawingml/2006/main" noGrp="1"/>
          </p:cNvSpPr>
          <p:nvPr/>
        </p:nvSpPr>
        <p:spPr>
          <a:xfrm xmlns:a="http://schemas.openxmlformats.org/drawingml/2006/main">
            <a:off x="5924550" y="5103412"/>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1" name="Rectangle 20">
            <a:extLst xmlns:a="http://schemas.openxmlformats.org/drawingml/2006/main">
              <a:ext uri="{FF2B5EF4-FFF2-40B4-BE49-F238E27FC236}">
                <a16:creationId xmlns:a16="http://schemas.microsoft.com/office/drawing/2014/main" id="{04442FCB-B114-491A-9BF4-AE0852382034}"/>
              </a:ext>
            </a:extLst>
          </p:cNvPr>
          <p:cNvSpPr>
            <a:spLocks xmlns:a="http://schemas.openxmlformats.org/drawingml/2006/main" noGrp="1"/>
          </p:cNvSpPr>
          <p:nvPr/>
        </p:nvSpPr>
        <p:spPr>
          <a:xfrm xmlns:a="http://schemas.openxmlformats.org/drawingml/2006/main">
            <a:off x="5924550" y="5351062"/>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1200" b="1">
                <a:solidFill>
                  <a:srgbClr val="1A202C"/>
                </a:solidFill>
                <a:latin typeface="Aptos"/>
                <a:ea typeface="Aptos"/>
                <a:cs typeface="Aptos"/>
              </a:defRPr>
            </a:pPr>
            <a:r>
              <a:rPr sz="1350" b="1">
                <a:solidFill>
                  <a:srgbClr val="1A202C"/>
                </a:solidFill>
                <a:latin typeface="Aptos"/>
                <a:ea typeface="Aptos"/>
                <a:cs typeface="Aptos"/>
              </a:rPr>
              <a:t>Затворити</a:t>
            </a:r>
            <a:r>
              <a:rPr sz="1350" b="1">
                <a:solidFill>
                  <a:srgbClr val="1A202C"/>
                </a:solidFill>
                <a:latin typeface="Aptos"/>
                <a:ea typeface="Aptos"/>
                <a:cs typeface="Aptos"/>
              </a:rPr>
              <a:t> </a:t>
            </a:r>
            <a:r>
              <a:rPr sz="1350" b="1">
                <a:solidFill>
                  <a:srgbClr val="1A202C"/>
                </a:solidFill>
                <a:latin typeface="Aptos"/>
                <a:ea typeface="Aptos"/>
                <a:cs typeface="Aptos"/>
              </a:rPr>
              <a:t>налаз</a:t>
            </a:r>
            <a:r>
              <a:rPr sz="1350" b="1">
                <a:solidFill>
                  <a:srgbClr val="1A202C"/>
                </a:solidFill>
                <a:latin typeface="Aptos"/>
                <a:ea typeface="Aptos"/>
                <a:cs typeface="Aptos"/>
              </a:rPr>
              <a:t> </a:t>
            </a:r>
            <a:r>
              <a:rPr sz="1350" b="1">
                <a:solidFill>
                  <a:srgbClr val="1A202C"/>
                </a:solidFill>
                <a:latin typeface="Aptos"/>
                <a:ea typeface="Aptos"/>
                <a:cs typeface="Aptos"/>
              </a:rPr>
              <a:t>тек</a:t>
            </a:r>
            <a:r>
              <a:rPr sz="1350" b="1">
                <a:solidFill>
                  <a:srgbClr val="1A202C"/>
                </a:solidFill>
                <a:latin typeface="Aptos"/>
                <a:ea typeface="Aptos"/>
                <a:cs typeface="Aptos"/>
              </a:rPr>
              <a:t> </a:t>
            </a:r>
            <a:r>
              <a:rPr sz="1350" b="1">
                <a:solidFill>
                  <a:srgbClr val="1A202C"/>
                </a:solidFill>
                <a:latin typeface="Aptos"/>
                <a:ea typeface="Aptos"/>
                <a:cs typeface="Aptos"/>
              </a:rPr>
              <a:t>када</a:t>
            </a:r>
            <a:r>
              <a:rPr sz="1350" b="1">
                <a:solidFill>
                  <a:srgbClr val="1A202C"/>
                </a:solidFill>
                <a:latin typeface="Aptos"/>
                <a:ea typeface="Aptos"/>
                <a:cs typeface="Aptos"/>
              </a:rPr>
              <a:t> </a:t>
            </a:r>
            <a:r>
              <a:rPr sz="1350" b="1">
                <a:solidFill>
                  <a:srgbClr val="1A202C"/>
                </a:solidFill>
                <a:latin typeface="Aptos"/>
                <a:ea typeface="Aptos"/>
                <a:cs typeface="Aptos"/>
              </a:rPr>
              <a:t>постоји</a:t>
            </a:r>
            <a:r>
              <a:rPr sz="1350" b="1">
                <a:solidFill>
                  <a:srgbClr val="1A202C"/>
                </a:solidFill>
                <a:latin typeface="Aptos"/>
                <a:ea typeface="Aptos"/>
                <a:cs typeface="Aptos"/>
              </a:rPr>
              <a:t> </a:t>
            </a:r>
            <a:r>
              <a:rPr sz="1350" b="1">
                <a:solidFill>
                  <a:srgbClr val="1A202C"/>
                </a:solidFill>
                <a:latin typeface="Aptos"/>
                <a:ea typeface="Aptos"/>
                <a:cs typeface="Aptos"/>
              </a:rPr>
              <a:t>доказ</a:t>
            </a:r>
            <a:r>
              <a:rPr sz="1350" b="1">
                <a:solidFill>
                  <a:srgbClr val="1A202C"/>
                </a:solidFill>
                <a:latin typeface="Aptos"/>
                <a:ea typeface="Aptos"/>
                <a:cs typeface="Aptos"/>
              </a:rPr>
              <a:t> </a:t>
            </a:r>
            <a:r>
              <a:rPr sz="1350" b="1">
                <a:solidFill>
                  <a:srgbClr val="1A202C"/>
                </a:solidFill>
                <a:latin typeface="Aptos"/>
                <a:ea typeface="Aptos"/>
                <a:cs typeface="Aptos"/>
              </a:rPr>
              <a:t>да</a:t>
            </a:r>
            <a:r>
              <a:rPr sz="1350" b="1">
                <a:solidFill>
                  <a:srgbClr val="1A202C"/>
                </a:solidFill>
                <a:latin typeface="Aptos"/>
                <a:ea typeface="Aptos"/>
                <a:cs typeface="Aptos"/>
              </a:rPr>
              <a:t> </a:t>
            </a:r>
            <a:r>
              <a:rPr sz="1350" b="1">
                <a:solidFill>
                  <a:srgbClr val="1A202C"/>
                </a:solidFill>
                <a:latin typeface="Aptos"/>
                <a:ea typeface="Aptos"/>
                <a:cs typeface="Aptos"/>
              </a:rPr>
              <a:t>је</a:t>
            </a:r>
            <a:r>
              <a:rPr sz="1350" b="1">
                <a:solidFill>
                  <a:srgbClr val="1A202C"/>
                </a:solidFill>
                <a:latin typeface="Aptos"/>
                <a:ea typeface="Aptos"/>
                <a:cs typeface="Aptos"/>
              </a:rPr>
              <a:t> </a:t>
            </a:r>
            <a:r>
              <a:rPr sz="1350" b="1">
                <a:solidFill>
                  <a:srgbClr val="1A202C"/>
                </a:solidFill>
                <a:latin typeface="Aptos"/>
                <a:ea typeface="Aptos"/>
                <a:cs typeface="Aptos"/>
              </a:rPr>
              <a:t>изложеност</a:t>
            </a:r>
            <a:r>
              <a:rPr sz="1350" b="1">
                <a:solidFill>
                  <a:srgbClr val="1A202C"/>
                </a:solidFill>
                <a:latin typeface="Aptos"/>
                <a:ea typeface="Aptos"/>
                <a:cs typeface="Aptos"/>
              </a:rPr>
              <a:t> </a:t>
            </a:r>
            <a:r>
              <a:rPr sz="1350" b="1">
                <a:solidFill>
                  <a:srgbClr val="1A202C"/>
                </a:solidFill>
                <a:latin typeface="Aptos"/>
                <a:ea typeface="Aptos"/>
                <a:cs typeface="Aptos"/>
              </a:rPr>
              <a:t>проверено</a:t>
            </a:r>
            <a:r>
              <a:rPr sz="1350" b="1">
                <a:solidFill>
                  <a:srgbClr val="1A202C"/>
                </a:solidFill>
                <a:latin typeface="Aptos"/>
                <a:ea typeface="Aptos"/>
                <a:cs typeface="Aptos"/>
              </a:rPr>
              <a:t> </a:t>
            </a:r>
            <a:r>
              <a:rPr sz="1350" b="1">
                <a:solidFill>
                  <a:srgbClr val="1A202C"/>
                </a:solidFill>
                <a:latin typeface="Aptos"/>
                <a:ea typeface="Aptos"/>
                <a:cs typeface="Aptos"/>
              </a:rPr>
              <a:t>смањена</a:t>
            </a:r>
            <a:r>
              <a:rPr sz="1350" b="1">
                <a:solidFill>
                  <a:srgbClr val="1A202C"/>
                </a:solidFill>
                <a:latin typeface="Aptos"/>
                <a:ea typeface="Aptos"/>
                <a:cs typeface="Aptos"/>
              </a:rPr>
              <a:t>.</a:t>
            </a:r>
          </a:p>
        </p:txBody>
      </p:sp>
    </p:spTree>
    <p:extLst>
      <p:ext uri="{BB962C8B-B14F-4D97-AF65-F5344CB8AC3E}">
        <p14:creationId xmlns:p14="http://schemas.microsoft.com/office/powerpoint/2010/main" val="6554586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42731258-B72B-422C-8C72-B2E26399CC25}"/>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5967512E-8111-4E40-962A-4BDED95421D5}"/>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5A87C600-1F8C-4D9F-BC23-0974AC94F1A4}"/>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11</a:t>
            </a:r>
          </a:p>
        </p:txBody>
      </p:sp>
      <p:sp>
        <p:nvSpPr>
          <p:cNvPr id="4" name="Rectangle 3">
            <a:extLst xmlns:a="http://schemas.openxmlformats.org/drawingml/2006/main">
              <a:ext uri="{FF2B5EF4-FFF2-40B4-BE49-F238E27FC236}">
                <a16:creationId xmlns:a16="http://schemas.microsoft.com/office/drawing/2014/main" id="{87F98702-81FD-4BE3-93EE-E4E192B9E677}"/>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Сигнал тражи контекст</a:t>
            </a:r>
          </a:p>
        </p:txBody>
      </p:sp>
      <p:sp>
        <p:nvSpPr>
          <p:cNvPr id="5" name="Rectangle 4">
            <a:extLst xmlns:a="http://schemas.openxmlformats.org/drawingml/2006/main">
              <a:ext uri="{FF2B5EF4-FFF2-40B4-BE49-F238E27FC236}">
                <a16:creationId xmlns:a16="http://schemas.microsoft.com/office/drawing/2014/main" id="{404DF458-2693-4A4B-A98B-29697D1A0DC3}"/>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Наведена правила остају видљива у имплементацији, тестовима и ревизији.</a:t>
            </a:r>
          </a:p>
        </p:txBody>
      </p:sp>
      <p:sp>
        <p:nvSpPr>
          <p:cNvPr id="6" name="Rounded Rectangle 5">
            <a:extLst xmlns:a="http://schemas.openxmlformats.org/drawingml/2006/main">
              <a:ext uri="{FF2B5EF4-FFF2-40B4-BE49-F238E27FC236}">
                <a16:creationId xmlns:a16="http://schemas.microsoft.com/office/drawing/2014/main" id="{0458227E-2539-40DC-8219-89AB41AF6DC2}"/>
              </a:ext>
            </a:extLst>
          </p:cNvPr>
          <p:cNvSpPr>
            <a:spLocks xmlns:a="http://schemas.openxmlformats.org/drawingml/2006/main" noGrp="1"/>
          </p:cNvSpPr>
          <p:nvPr/>
        </p:nvSpPr>
        <p:spPr>
          <a:xfrm xmlns:a="http://schemas.openxmlformats.org/drawingml/2006/main">
            <a:off x="819150" y="2400300"/>
            <a:ext cx="3257550" cy="2343150"/>
          </a:xfrm>
          <a:prstGeom xmlns:a="http://schemas.openxmlformats.org/drawingml/2006/main" prst="roundRect">
            <a:avLst>
              <a:gd name="adj" fmla="val 5691"/>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1AC40C5F-2350-4B7A-854C-29CC0E37AF5A}"/>
              </a:ext>
            </a:extLst>
          </p:cNvPr>
          <p:cNvSpPr>
            <a:spLocks xmlns:a="http://schemas.openxmlformats.org/drawingml/2006/main" noGrp="1"/>
          </p:cNvSpPr>
          <p:nvPr/>
        </p:nvSpPr>
        <p:spPr>
          <a:xfrm xmlns:a="http://schemas.openxmlformats.org/drawingml/2006/main">
            <a:off x="971550" y="252412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873BE11D-78FB-4774-8AF3-F05C6306A2F0}"/>
              </a:ext>
            </a:extLst>
          </p:cNvPr>
          <p:cNvSpPr>
            <a:spLocks xmlns:a="http://schemas.openxmlformats.org/drawingml/2006/main" noGrp="1"/>
          </p:cNvSpPr>
          <p:nvPr/>
        </p:nvSpPr>
        <p:spPr>
          <a:xfrm xmlns:a="http://schemas.openxmlformats.org/drawingml/2006/main">
            <a:off x="971550" y="27717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Праг детекције треба да има смисао и разлог, не само произвољну бројку.</a:t>
            </a:r>
          </a:p>
        </p:txBody>
      </p:sp>
      <p:sp>
        <p:nvSpPr>
          <p:cNvPr id="9" name="Rectangle 8">
            <a:extLst xmlns:a="http://schemas.openxmlformats.org/drawingml/2006/main">
              <a:ext uri="{FF2B5EF4-FFF2-40B4-BE49-F238E27FC236}">
                <a16:creationId xmlns:a16="http://schemas.microsoft.com/office/drawing/2014/main" id="{76724959-5F28-470A-A1EA-1D30D69C5999}"/>
              </a:ext>
            </a:extLst>
          </p:cNvPr>
          <p:cNvSpPr>
            <a:spLocks xmlns:a="http://schemas.openxmlformats.org/drawingml/2006/main" noGrp="1"/>
          </p:cNvSpPr>
          <p:nvPr/>
        </p:nvSpPr>
        <p:spPr>
          <a:xfrm xmlns:a="http://schemas.openxmlformats.org/drawingml/2006/main">
            <a:off x="971550" y="3981450"/>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Јасно правило</a:t>
            </a:r>
          </a:p>
        </p:txBody>
      </p:sp>
      <p:sp>
        <p:nvSpPr>
          <p:cNvPr id="10" name="Rounded Rectangle 9">
            <a:extLst xmlns:a="http://schemas.openxmlformats.org/drawingml/2006/main">
              <a:ext uri="{FF2B5EF4-FFF2-40B4-BE49-F238E27FC236}">
                <a16:creationId xmlns:a16="http://schemas.microsoft.com/office/drawing/2014/main" id="{DD24F0F8-79A1-4056-B8B0-FF6D0BD0F5EB}"/>
              </a:ext>
            </a:extLst>
          </p:cNvPr>
          <p:cNvSpPr>
            <a:spLocks xmlns:a="http://schemas.openxmlformats.org/drawingml/2006/main" noGrp="1"/>
          </p:cNvSpPr>
          <p:nvPr/>
        </p:nvSpPr>
        <p:spPr>
          <a:xfrm xmlns:a="http://schemas.openxmlformats.org/drawingml/2006/main">
            <a:off x="4467225" y="2400300"/>
            <a:ext cx="3257550" cy="2343150"/>
          </a:xfrm>
          <a:prstGeom xmlns:a="http://schemas.openxmlformats.org/drawingml/2006/main" prst="roundRect">
            <a:avLst>
              <a:gd name="adj" fmla="val 5691"/>
            </a:avLst>
          </a:prstGeom>
          <a:solidFill xmlns:a="http://schemas.openxmlformats.org/drawingml/2006/main">
            <a:srgbClr val="F7F4F5"/>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B297EDA9-E61B-4607-A6F5-3203C44E891A}"/>
              </a:ext>
            </a:extLst>
          </p:cNvPr>
          <p:cNvSpPr>
            <a:spLocks xmlns:a="http://schemas.openxmlformats.org/drawingml/2006/main" noGrp="1"/>
          </p:cNvSpPr>
          <p:nvPr/>
        </p:nvSpPr>
        <p:spPr>
          <a:xfrm xmlns:a="http://schemas.openxmlformats.org/drawingml/2006/main">
            <a:off x="4619625" y="252412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651D4"/>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26E59437-FFC9-406B-BD44-98DB54529F7C}"/>
              </a:ext>
            </a:extLst>
          </p:cNvPr>
          <p:cNvSpPr>
            <a:spLocks xmlns:a="http://schemas.openxmlformats.org/drawingml/2006/main" noGrp="1"/>
          </p:cNvSpPr>
          <p:nvPr/>
        </p:nvSpPr>
        <p:spPr>
          <a:xfrm xmlns:a="http://schemas.openxmlformats.org/drawingml/2006/main">
            <a:off x="4619625" y="27717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Затварање упозорења чува образложење, јер је то знање за следећи сличан случај.</a:t>
            </a:r>
          </a:p>
        </p:txBody>
      </p:sp>
      <p:sp>
        <p:nvSpPr>
          <p:cNvPr id="13" name="Rectangle 12">
            <a:extLst xmlns:a="http://schemas.openxmlformats.org/drawingml/2006/main">
              <a:ext uri="{FF2B5EF4-FFF2-40B4-BE49-F238E27FC236}">
                <a16:creationId xmlns:a16="http://schemas.microsoft.com/office/drawing/2014/main" id="{21CC250F-D23B-432C-A26B-5F016CA453E7}"/>
              </a:ext>
            </a:extLst>
          </p:cNvPr>
          <p:cNvSpPr>
            <a:spLocks xmlns:a="http://schemas.openxmlformats.org/drawingml/2006/main" noGrp="1"/>
          </p:cNvSpPr>
          <p:nvPr/>
        </p:nvSpPr>
        <p:spPr>
          <a:xfrm xmlns:a="http://schemas.openxmlformats.org/drawingml/2006/main">
            <a:off x="4619625" y="3981450"/>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Проверљива примена</a:t>
            </a:r>
          </a:p>
        </p:txBody>
      </p:sp>
      <p:sp>
        <p:nvSpPr>
          <p:cNvPr id="14" name="Rounded Rectangle 13">
            <a:extLst xmlns:a="http://schemas.openxmlformats.org/drawingml/2006/main">
              <a:ext uri="{FF2B5EF4-FFF2-40B4-BE49-F238E27FC236}">
                <a16:creationId xmlns:a16="http://schemas.microsoft.com/office/drawing/2014/main" id="{33030A78-0048-4332-846C-473FDEF525EC}"/>
              </a:ext>
            </a:extLst>
          </p:cNvPr>
          <p:cNvSpPr>
            <a:spLocks xmlns:a="http://schemas.openxmlformats.org/drawingml/2006/main" noGrp="1"/>
          </p:cNvSpPr>
          <p:nvPr/>
        </p:nvSpPr>
        <p:spPr>
          <a:xfrm xmlns:a="http://schemas.openxmlformats.org/drawingml/2006/main">
            <a:off x="8115300" y="2400300"/>
            <a:ext cx="3257550" cy="2343150"/>
          </a:xfrm>
          <a:prstGeom xmlns:a="http://schemas.openxmlformats.org/drawingml/2006/main" prst="roundRect">
            <a:avLst>
              <a:gd name="adj" fmla="val 5691"/>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95AC9FE2-CB79-497E-B85A-CE584EA41152}"/>
              </a:ext>
            </a:extLst>
          </p:cNvPr>
          <p:cNvSpPr>
            <a:spLocks xmlns:a="http://schemas.openxmlformats.org/drawingml/2006/main" noGrp="1"/>
          </p:cNvSpPr>
          <p:nvPr/>
        </p:nvSpPr>
        <p:spPr>
          <a:xfrm xmlns:a="http://schemas.openxmlformats.org/drawingml/2006/main">
            <a:off x="8267700" y="252412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028607CA-F9F2-4187-B25E-D7BF4F914A5B}"/>
              </a:ext>
            </a:extLst>
          </p:cNvPr>
          <p:cNvSpPr>
            <a:spLocks xmlns:a="http://schemas.openxmlformats.org/drawingml/2006/main" noGrp="1"/>
          </p:cNvSpPr>
          <p:nvPr/>
        </p:nvSpPr>
        <p:spPr>
          <a:xfrm xmlns:a="http://schemas.openxmlformats.org/drawingml/2006/main">
            <a:off x="8267700" y="2771775"/>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Рањивост се сматра решеном након провере да је ризик смањен на прихватљив ниво.</a:t>
            </a:r>
          </a:p>
        </p:txBody>
      </p:sp>
      <p:sp>
        <p:nvSpPr>
          <p:cNvPr id="17" name="Rectangle 16">
            <a:extLst xmlns:a="http://schemas.openxmlformats.org/drawingml/2006/main">
              <a:ext uri="{FF2B5EF4-FFF2-40B4-BE49-F238E27FC236}">
                <a16:creationId xmlns:a16="http://schemas.microsoft.com/office/drawing/2014/main" id="{74F036E5-A5FD-4B30-A674-F4DBF0893836}"/>
              </a:ext>
            </a:extLst>
          </p:cNvPr>
          <p:cNvSpPr>
            <a:spLocks xmlns:a="http://schemas.openxmlformats.org/drawingml/2006/main" noGrp="1"/>
          </p:cNvSpPr>
          <p:nvPr/>
        </p:nvSpPr>
        <p:spPr>
          <a:xfrm xmlns:a="http://schemas.openxmlformats.org/drawingml/2006/main">
            <a:off x="8267700" y="3981450"/>
            <a:ext cx="295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Видљив доказ</a:t>
            </a:r>
          </a:p>
        </p:txBody>
      </p:sp>
    </p:spTree>
    <p:extLst>
      <p:ext uri="{BB962C8B-B14F-4D97-AF65-F5344CB8AC3E}">
        <p14:creationId xmlns:p14="http://schemas.microsoft.com/office/powerpoint/2010/main" val="10218412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F2B3E7D4-57E6-42F1-8312-44B2E22DCF4C}"/>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489F6E89-4FDB-4CA3-A016-49902B6E772B}"/>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2D961283-6134-49CB-A9C1-F404B0B87E18}"/>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12</a:t>
            </a:r>
          </a:p>
        </p:txBody>
      </p:sp>
      <p:sp>
        <p:nvSpPr>
          <p:cNvPr id="4" name="Rectangle 3">
            <a:extLst xmlns:a="http://schemas.openxmlformats.org/drawingml/2006/main">
              <a:ext uri="{FF2B5EF4-FFF2-40B4-BE49-F238E27FC236}">
                <a16:creationId xmlns:a16="http://schemas.microsoft.com/office/drawing/2014/main" id="{871A843B-D6C5-480A-85D6-A5248420542A}"/>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Примена у развоју</a:t>
            </a:r>
          </a:p>
        </p:txBody>
      </p:sp>
      <p:sp>
        <p:nvSpPr>
          <p:cNvPr id="5" name="Rectangle 4">
            <a:extLst xmlns:a="http://schemas.openxmlformats.org/drawingml/2006/main">
              <a:ext uri="{FF2B5EF4-FFF2-40B4-BE49-F238E27FC236}">
                <a16:creationId xmlns:a16="http://schemas.microsoft.com/office/drawing/2014/main" id="{8D7065DF-5C9D-4E81-94B9-102155FC3A01}"/>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Тим примењује тему кроз серверске провере, тестове и ревизионе записе током развоја.</a:t>
            </a:r>
          </a:p>
        </p:txBody>
      </p:sp>
      <p:sp>
        <p:nvSpPr>
          <p:cNvPr id="6" name="Rounded Rectangle 5">
            <a:extLst xmlns:a="http://schemas.openxmlformats.org/drawingml/2006/main">
              <a:ext uri="{FF2B5EF4-FFF2-40B4-BE49-F238E27FC236}">
                <a16:creationId xmlns:a16="http://schemas.microsoft.com/office/drawing/2014/main" id="{CB586EC6-3460-496C-B8D9-C2BEEB1CEAC4}"/>
              </a:ext>
            </a:extLst>
          </p:cNvPr>
          <p:cNvSpPr>
            <a:spLocks xmlns:a="http://schemas.openxmlformats.org/drawingml/2006/main" noGrp="1"/>
          </p:cNvSpPr>
          <p:nvPr/>
        </p:nvSpPr>
        <p:spPr>
          <a:xfrm xmlns:a="http://schemas.openxmlformats.org/drawingml/2006/main">
            <a:off x="800100" y="2209800"/>
            <a:ext cx="4810125" cy="2857500"/>
          </a:xfrm>
          <a:prstGeom xmlns:a="http://schemas.openxmlformats.org/drawingml/2006/main" prst="roundRect">
            <a:avLst>
              <a:gd name="adj" fmla="val 4667"/>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0B69D1B1-B566-4BCA-9B93-C752ADEF797C}"/>
              </a:ext>
            </a:extLst>
          </p:cNvPr>
          <p:cNvSpPr>
            <a:spLocks xmlns:a="http://schemas.openxmlformats.org/drawingml/2006/main" noGrp="1"/>
          </p:cNvSpPr>
          <p:nvPr/>
        </p:nvSpPr>
        <p:spPr>
          <a:xfrm xmlns:a="http://schemas.openxmlformats.org/drawingml/2006/main">
            <a:off x="952500" y="2333625"/>
            <a:ext cx="45053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РАЗВОЈНИ КОНТЕКСТ</a:t>
            </a:r>
          </a:p>
        </p:txBody>
      </p:sp>
      <p:sp>
        <p:nvSpPr>
          <p:cNvPr id="8" name="Rectangle 7">
            <a:extLst xmlns:a="http://schemas.openxmlformats.org/drawingml/2006/main">
              <a:ext uri="{FF2B5EF4-FFF2-40B4-BE49-F238E27FC236}">
                <a16:creationId xmlns:a16="http://schemas.microsoft.com/office/drawing/2014/main" id="{CA0171EC-B17B-45F5-AC42-F926111C528E}"/>
              </a:ext>
            </a:extLst>
          </p:cNvPr>
          <p:cNvSpPr>
            <a:spLocks xmlns:a="http://schemas.openxmlformats.org/drawingml/2006/main" noGrp="1"/>
          </p:cNvSpPr>
          <p:nvPr/>
        </p:nvSpPr>
        <p:spPr>
          <a:xfrm xmlns:a="http://schemas.openxmlformats.org/drawingml/2006/main">
            <a:off x="952500" y="2581275"/>
            <a:ext cx="4505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725" b="1">
                <a:solidFill>
                  <a:srgbClr val="1A202C"/>
                </a:solidFill>
                <a:latin typeface="Aptos"/>
                <a:ea typeface="Aptos"/>
                <a:cs typeface="Aptos"/>
              </a:defRPr>
            </a:pPr>
            <a:r>
              <a:rPr sz="1725" b="1">
                <a:solidFill>
                  <a:srgbClr val="1A202C"/>
                </a:solidFill>
                <a:latin typeface="Aptos"/>
                <a:ea typeface="Aptos"/>
                <a:cs typeface="Aptos"/>
              </a:rPr>
              <a:t>Примена принципа у коду</a:t>
            </a:r>
          </a:p>
        </p:txBody>
      </p:sp>
      <p:sp>
        <p:nvSpPr>
          <p:cNvPr id="9" name="Rectangle 8">
            <a:extLst xmlns:a="http://schemas.openxmlformats.org/drawingml/2006/main">
              <a:ext uri="{FF2B5EF4-FFF2-40B4-BE49-F238E27FC236}">
                <a16:creationId xmlns:a16="http://schemas.microsoft.com/office/drawing/2014/main" id="{5BC7B48E-BCC5-420C-97C9-279635799F2B}"/>
              </a:ext>
            </a:extLst>
          </p:cNvPr>
          <p:cNvSpPr>
            <a:spLocks xmlns:a="http://schemas.openxmlformats.org/drawingml/2006/main" noGrp="1"/>
          </p:cNvSpPr>
          <p:nvPr/>
        </p:nvSpPr>
        <p:spPr>
          <a:xfrm xmlns:a="http://schemas.openxmlformats.org/drawingml/2006/main">
            <a:off x="952500" y="3124200"/>
            <a:ext cx="45053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350" b="0">
                <a:solidFill>
                  <a:srgbClr val="657184"/>
                </a:solidFill>
                <a:latin typeface="Aptos"/>
                <a:ea typeface="Aptos"/>
                <a:cs typeface="Aptos"/>
              </a:defRPr>
            </a:pPr>
            <a:r>
              <a:rPr sz="1350" b="0">
                <a:solidFill>
                  <a:srgbClr val="657184"/>
                </a:solidFill>
                <a:latin typeface="Aptos"/>
                <a:ea typeface="Aptos"/>
                <a:cs typeface="Aptos"/>
              </a:rPr>
              <a:t>Тим бира мали број сигнала који су разумљиви оператеру. За сваки описује нормално понашање, разлог активирања, одговорну особу и безбедан начин провере. Тако се детекција дизајнира као производна могућност, а не као споредни лог.</a:t>
            </a:r>
          </a:p>
        </p:txBody>
      </p:sp>
      <p:sp>
        <p:nvSpPr>
          <p:cNvPr id="10" name="Rounded Rectangle 9">
            <a:extLst xmlns:a="http://schemas.openxmlformats.org/drawingml/2006/main">
              <a:ext uri="{FF2B5EF4-FFF2-40B4-BE49-F238E27FC236}">
                <a16:creationId xmlns:a16="http://schemas.microsoft.com/office/drawing/2014/main" id="{F8D90DFB-D898-42AC-853B-CF7AB1AB271B}"/>
              </a:ext>
            </a:extLst>
          </p:cNvPr>
          <p:cNvSpPr>
            <a:spLocks xmlns:a="http://schemas.openxmlformats.org/drawingml/2006/main" noGrp="1"/>
          </p:cNvSpPr>
          <p:nvPr/>
        </p:nvSpPr>
        <p:spPr>
          <a:xfrm xmlns:a="http://schemas.openxmlformats.org/drawingml/2006/main">
            <a:off x="6038850" y="2209800"/>
            <a:ext cx="5353050" cy="819150"/>
          </a:xfrm>
          <a:prstGeom xmlns:a="http://schemas.openxmlformats.org/drawingml/2006/main" prst="roundRect">
            <a:avLst>
              <a:gd name="adj" fmla="val 16279"/>
            </a:avLst>
          </a:prstGeom>
          <a:solidFill xmlns:a="http://schemas.openxmlformats.org/drawingml/2006/main">
            <a:srgbClr val="F4F6F9"/>
          </a:solidFill>
          <a:ln xmlns:a="http://schemas.openxmlformats.org/drawingml/2006/main" w="9525">
            <a:solidFill>
              <a:srgbClr val="D7DEE8"/>
            </a:solidFill>
            <a:prstDash val="solid"/>
          </a:ln>
        </p:spPr>
      </p:sp>
      <p:sp>
        <p:nvSpPr>
          <p:cNvPr id="11" name="Rectangle 10">
            <a:extLst xmlns:a="http://schemas.openxmlformats.org/drawingml/2006/main">
              <a:ext uri="{FF2B5EF4-FFF2-40B4-BE49-F238E27FC236}">
                <a16:creationId xmlns:a16="http://schemas.microsoft.com/office/drawing/2014/main" id="{66FA92A5-B1C6-4790-8B9B-3055C971D765}"/>
              </a:ext>
            </a:extLst>
          </p:cNvPr>
          <p:cNvSpPr>
            <a:spLocks xmlns:a="http://schemas.openxmlformats.org/drawingml/2006/main" noGrp="1"/>
          </p:cNvSpPr>
          <p:nvPr/>
        </p:nvSpPr>
        <p:spPr>
          <a:xfrm xmlns:a="http://schemas.openxmlformats.org/drawingml/2006/main">
            <a:off x="6191250" y="2333625"/>
            <a:ext cx="504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12" name="Rectangle 11">
            <a:extLst xmlns:a="http://schemas.openxmlformats.org/drawingml/2006/main">
              <a:ext uri="{FF2B5EF4-FFF2-40B4-BE49-F238E27FC236}">
                <a16:creationId xmlns:a16="http://schemas.microsoft.com/office/drawing/2014/main" id="{1BD54ED4-8FD1-4DF5-B337-E336688E7963}"/>
              </a:ext>
            </a:extLst>
          </p:cNvPr>
          <p:cNvSpPr>
            <a:spLocks xmlns:a="http://schemas.openxmlformats.org/drawingml/2006/main" noGrp="1"/>
          </p:cNvSpPr>
          <p:nvPr/>
        </p:nvSpPr>
        <p:spPr>
          <a:xfrm xmlns:a="http://schemas.openxmlformats.org/drawingml/2006/main">
            <a:off x="6191250" y="25812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Дефинисана одлука и њена граница.</a:t>
            </a:r>
          </a:p>
        </p:txBody>
      </p:sp>
      <p:sp>
        <p:nvSpPr>
          <p:cNvPr id="13" name="Rounded Rectangle 12">
            <a:extLst xmlns:a="http://schemas.openxmlformats.org/drawingml/2006/main">
              <a:ext uri="{FF2B5EF4-FFF2-40B4-BE49-F238E27FC236}">
                <a16:creationId xmlns:a16="http://schemas.microsoft.com/office/drawing/2014/main" id="{E8B15B90-1953-4800-B590-F0C8D0CB93D7}"/>
              </a:ext>
            </a:extLst>
          </p:cNvPr>
          <p:cNvSpPr>
            <a:spLocks xmlns:a="http://schemas.openxmlformats.org/drawingml/2006/main" noGrp="1"/>
          </p:cNvSpPr>
          <p:nvPr/>
        </p:nvSpPr>
        <p:spPr>
          <a:xfrm xmlns:a="http://schemas.openxmlformats.org/drawingml/2006/main">
            <a:off x="6038850" y="3200400"/>
            <a:ext cx="5353050" cy="819150"/>
          </a:xfrm>
          <a:prstGeom xmlns:a="http://schemas.openxmlformats.org/drawingml/2006/main" prst="roundRect">
            <a:avLst>
              <a:gd name="adj" fmla="val 16279"/>
            </a:avLst>
          </a:prstGeom>
          <a:solidFill xmlns:a="http://schemas.openxmlformats.org/drawingml/2006/main">
            <a:srgbClr val="F7F4F5"/>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844D125E-3A68-4E17-BD7B-E570273F4267}"/>
              </a:ext>
            </a:extLst>
          </p:cNvPr>
          <p:cNvSpPr>
            <a:spLocks xmlns:a="http://schemas.openxmlformats.org/drawingml/2006/main" noGrp="1"/>
          </p:cNvSpPr>
          <p:nvPr/>
        </p:nvSpPr>
        <p:spPr>
          <a:xfrm xmlns:a="http://schemas.openxmlformats.org/drawingml/2006/main">
            <a:off x="6191250" y="3324225"/>
            <a:ext cx="504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651D4"/>
                </a:solidFill>
                <a:latin typeface="Aptos"/>
                <a:ea typeface="Aptos"/>
                <a:cs typeface="Aptos"/>
              </a:defRPr>
            </a:pPr>
            <a:r>
              <a:rPr sz="1200" b="1">
                <a:solidFill>
                  <a:srgbClr val="7A2636"/>
                </a:solidFill>
                <a:latin typeface="Aptos"/>
                <a:ea typeface="Aptos"/>
                <a:cs typeface="Aptos"/>
              </a:rPr>
              <a:t>02</a:t>
            </a:r>
          </a:p>
        </p:txBody>
      </p:sp>
      <p:sp>
        <p:nvSpPr>
          <p:cNvPr id="15" name="Rectangle 14">
            <a:extLst xmlns:a="http://schemas.openxmlformats.org/drawingml/2006/main">
              <a:ext uri="{FF2B5EF4-FFF2-40B4-BE49-F238E27FC236}">
                <a16:creationId xmlns:a16="http://schemas.microsoft.com/office/drawing/2014/main" id="{C1E83E3D-7ED3-4B6F-9B21-CF3501EC0015}"/>
              </a:ext>
            </a:extLst>
          </p:cNvPr>
          <p:cNvSpPr>
            <a:spLocks xmlns:a="http://schemas.openxmlformats.org/drawingml/2006/main" noGrp="1"/>
          </p:cNvSpPr>
          <p:nvPr/>
        </p:nvSpPr>
        <p:spPr>
          <a:xfrm xmlns:a="http://schemas.openxmlformats.org/drawingml/2006/main">
            <a:off x="6191250" y="35718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Серверска имплементација провере.</a:t>
            </a:r>
          </a:p>
        </p:txBody>
      </p:sp>
      <p:sp>
        <p:nvSpPr>
          <p:cNvPr id="16" name="Rounded Rectangle 15">
            <a:extLst xmlns:a="http://schemas.openxmlformats.org/drawingml/2006/main">
              <a:ext uri="{FF2B5EF4-FFF2-40B4-BE49-F238E27FC236}">
                <a16:creationId xmlns:a16="http://schemas.microsoft.com/office/drawing/2014/main" id="{237E90D1-3A2B-4D8E-B2EC-9B1B6D510E57}"/>
              </a:ext>
            </a:extLst>
          </p:cNvPr>
          <p:cNvSpPr>
            <a:spLocks xmlns:a="http://schemas.openxmlformats.org/drawingml/2006/main" noGrp="1"/>
          </p:cNvSpPr>
          <p:nvPr/>
        </p:nvSpPr>
        <p:spPr>
          <a:xfrm xmlns:a="http://schemas.openxmlformats.org/drawingml/2006/main">
            <a:off x="6038850" y="4191000"/>
            <a:ext cx="5353050" cy="819150"/>
          </a:xfrm>
          <a:prstGeom xmlns:a="http://schemas.openxmlformats.org/drawingml/2006/main" prst="roundRect">
            <a:avLst>
              <a:gd name="adj" fmla="val 16279"/>
            </a:avLst>
          </a:prstGeom>
          <a:solidFill xmlns:a="http://schemas.openxmlformats.org/drawingml/2006/main">
            <a:srgbClr val="EDF8F2"/>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D15C4687-377A-41E3-8996-CCCA870F3C17}"/>
              </a:ext>
            </a:extLst>
          </p:cNvPr>
          <p:cNvSpPr>
            <a:spLocks xmlns:a="http://schemas.openxmlformats.org/drawingml/2006/main" noGrp="1"/>
          </p:cNvSpPr>
          <p:nvPr/>
        </p:nvSpPr>
        <p:spPr>
          <a:xfrm xmlns:a="http://schemas.openxmlformats.org/drawingml/2006/main">
            <a:off x="6191250" y="4314825"/>
            <a:ext cx="504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8" name="Rectangle 17">
            <a:extLst xmlns:a="http://schemas.openxmlformats.org/drawingml/2006/main">
              <a:ext uri="{FF2B5EF4-FFF2-40B4-BE49-F238E27FC236}">
                <a16:creationId xmlns:a16="http://schemas.microsoft.com/office/drawing/2014/main" id="{CE2CF53C-1169-4C19-820C-2650EA519EBD}"/>
              </a:ext>
            </a:extLst>
          </p:cNvPr>
          <p:cNvSpPr>
            <a:spLocks xmlns:a="http://schemas.openxmlformats.org/drawingml/2006/main" noGrp="1"/>
          </p:cNvSpPr>
          <p:nvPr/>
        </p:nvSpPr>
        <p:spPr>
          <a:xfrm xmlns:a="http://schemas.openxmlformats.org/drawingml/2006/main">
            <a:off x="6191250" y="45624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Позитиван и негативан доказ.</a:t>
            </a:r>
          </a:p>
        </p:txBody>
      </p:sp>
    </p:spTree>
    <p:extLst>
      <p:ext uri="{BB962C8B-B14F-4D97-AF65-F5344CB8AC3E}">
        <p14:creationId xmlns:p14="http://schemas.microsoft.com/office/powerpoint/2010/main" val="3873377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69FEC50A-2129-41FC-BB85-CF24BFB33375}"/>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DD80F698-0497-44DF-AC16-D629957471B7}"/>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89D4C8CD-972D-4840-9660-F74F7ED96992}"/>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13</a:t>
            </a:r>
          </a:p>
        </p:txBody>
      </p:sp>
      <p:sp>
        <p:nvSpPr>
          <p:cNvPr id="4" name="Rectangle 3">
            <a:extLst xmlns:a="http://schemas.openxmlformats.org/drawingml/2006/main">
              <a:ext uri="{FF2B5EF4-FFF2-40B4-BE49-F238E27FC236}">
                <a16:creationId xmlns:a16="http://schemas.microsoft.com/office/drawing/2014/main" id="{5B7A9E0E-5ED1-4340-B206-9F3317CCA8F8}"/>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Случај: више неуспелих пријава</a:t>
            </a:r>
          </a:p>
        </p:txBody>
      </p:sp>
      <p:sp>
        <p:nvSpPr>
          <p:cNvPr id="5" name="Rectangle 4">
            <a:extLst xmlns:a="http://schemas.openxmlformats.org/drawingml/2006/main">
              <a:ext uri="{FF2B5EF4-FFF2-40B4-BE49-F238E27FC236}">
                <a16:creationId xmlns:a16="http://schemas.microsoft.com/office/drawing/2014/main" id="{DBA77933-86ED-4A47-9FCC-611B151AA9B3}"/>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Случај повезује опште правило са конкретним контекстом, серверском провером и очекиваним исходом.</a:t>
            </a:r>
          </a:p>
        </p:txBody>
      </p:sp>
      <p:sp>
        <p:nvSpPr>
          <p:cNvPr id="6" name="Rounded Rectangle 5">
            <a:extLst xmlns:a="http://schemas.openxmlformats.org/drawingml/2006/main">
              <a:ext uri="{FF2B5EF4-FFF2-40B4-BE49-F238E27FC236}">
                <a16:creationId xmlns:a16="http://schemas.microsoft.com/office/drawing/2014/main" id="{ECB59A89-F241-4EFD-8C0F-5AF5B88D049C}"/>
              </a:ext>
            </a:extLst>
          </p:cNvPr>
          <p:cNvSpPr>
            <a:spLocks xmlns:a="http://schemas.openxmlformats.org/drawingml/2006/main" noGrp="1"/>
          </p:cNvSpPr>
          <p:nvPr/>
        </p:nvSpPr>
        <p:spPr>
          <a:xfrm xmlns:a="http://schemas.openxmlformats.org/drawingml/2006/main">
            <a:off x="781050" y="2143125"/>
            <a:ext cx="10629900" cy="1619250"/>
          </a:xfrm>
          <a:prstGeom xmlns:a="http://schemas.openxmlformats.org/drawingml/2006/main" prst="roundRect">
            <a:avLst>
              <a:gd name="adj" fmla="val 8235"/>
            </a:avLst>
          </a:prstGeom>
          <a:solidFill xmlns:a="http://schemas.openxmlformats.org/drawingml/2006/main">
            <a:srgbClr val="F4F6F9"/>
          </a:solidFill>
          <a:ln xmlns:a="http://schemas.openxmlformats.org/drawingml/2006/main" w="9525">
            <a:solidFill>
              <a:srgbClr val="D7DEE8"/>
            </a:solidFill>
            <a:prstDash val="solid"/>
          </a:ln>
        </p:spPr>
      </p:sp>
      <p:sp>
        <p:nvSpPr>
          <p:cNvPr id="7" name="Rectangle 6">
            <a:extLst xmlns:a="http://schemas.openxmlformats.org/drawingml/2006/main">
              <a:ext uri="{FF2B5EF4-FFF2-40B4-BE49-F238E27FC236}">
                <a16:creationId xmlns:a16="http://schemas.microsoft.com/office/drawing/2014/main" id="{59A97139-DFFD-4330-B9AF-A0AD5EA36E34}"/>
              </a:ext>
            </a:extLst>
          </p:cNvPr>
          <p:cNvSpPr>
            <a:spLocks xmlns:a="http://schemas.openxmlformats.org/drawingml/2006/main" noGrp="1"/>
          </p:cNvSpPr>
          <p:nvPr/>
        </p:nvSpPr>
        <p:spPr>
          <a:xfrm xmlns:a="http://schemas.openxmlformats.org/drawingml/2006/main">
            <a:off x="933450" y="2266950"/>
            <a:ext cx="10325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СЦЕНАРИО</a:t>
            </a:r>
          </a:p>
        </p:txBody>
      </p:sp>
      <p:sp>
        <p:nvSpPr>
          <p:cNvPr id="8" name="Rectangle 7">
            <a:extLst xmlns:a="http://schemas.openxmlformats.org/drawingml/2006/main">
              <a:ext uri="{FF2B5EF4-FFF2-40B4-BE49-F238E27FC236}">
                <a16:creationId xmlns:a16="http://schemas.microsoft.com/office/drawing/2014/main" id="{80D372C8-0FD1-4AC2-AFE1-07AF7456A2F5}"/>
              </a:ext>
            </a:extLst>
          </p:cNvPr>
          <p:cNvSpPr>
            <a:spLocks xmlns:a="http://schemas.openxmlformats.org/drawingml/2006/main" noGrp="1"/>
          </p:cNvSpPr>
          <p:nvPr/>
        </p:nvSpPr>
        <p:spPr>
          <a:xfrm xmlns:a="http://schemas.openxmlformats.org/drawingml/2006/main">
            <a:off x="933450" y="2514600"/>
            <a:ext cx="1032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725" b="1">
                <a:solidFill>
                  <a:srgbClr val="1A202C"/>
                </a:solidFill>
                <a:latin typeface="Aptos"/>
                <a:ea typeface="Aptos"/>
                <a:cs typeface="Aptos"/>
              </a:defRPr>
            </a:pPr>
            <a:r>
              <a:rPr sz="1725" b="1">
                <a:solidFill>
                  <a:srgbClr val="1A202C"/>
                </a:solidFill>
                <a:latin typeface="Aptos"/>
                <a:ea typeface="Aptos"/>
                <a:cs typeface="Aptos"/>
              </a:rPr>
              <a:t>Пример: више неуспелих пријава</a:t>
            </a:r>
          </a:p>
        </p:txBody>
      </p:sp>
      <p:sp>
        <p:nvSpPr>
          <p:cNvPr id="9" name="Rectangle 8">
            <a:extLst xmlns:a="http://schemas.openxmlformats.org/drawingml/2006/main">
              <a:ext uri="{FF2B5EF4-FFF2-40B4-BE49-F238E27FC236}">
                <a16:creationId xmlns:a16="http://schemas.microsoft.com/office/drawing/2014/main" id="{18B2AA8C-17BB-47F8-8D7E-ED94AE81F55C}"/>
              </a:ext>
            </a:extLst>
          </p:cNvPr>
          <p:cNvSpPr>
            <a:spLocks xmlns:a="http://schemas.openxmlformats.org/drawingml/2006/main" noGrp="1"/>
          </p:cNvSpPr>
          <p:nvPr/>
        </p:nvSpPr>
        <p:spPr>
          <a:xfrm xmlns:a="http://schemas.openxmlformats.org/drawingml/2006/main">
            <a:off x="933450" y="2981325"/>
            <a:ext cx="103251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Низ неуспелих пријава може значити погрешно запамћену лозинку, проблем интеграције или покушај злоупотребе. Сам број неуспеха зато није довољан за закључак. Triage додаје контекст: да ли су покушаји дошли са истог извора, да ли се односе на осетљиве налоге и да ли се образац наставља након упозорења.</a:t>
            </a:r>
          </a:p>
        </p:txBody>
      </p:sp>
      <p:sp>
        <p:nvSpPr>
          <p:cNvPr id="10" name="Rounded Rectangle 9">
            <a:extLst xmlns:a="http://schemas.openxmlformats.org/drawingml/2006/main">
              <a:ext uri="{FF2B5EF4-FFF2-40B4-BE49-F238E27FC236}">
                <a16:creationId xmlns:a16="http://schemas.microsoft.com/office/drawing/2014/main" id="{2D763E46-DBFC-4D08-8676-45A3AF777252}"/>
              </a:ext>
            </a:extLst>
          </p:cNvPr>
          <p:cNvSpPr>
            <a:spLocks xmlns:a="http://schemas.openxmlformats.org/drawingml/2006/main" noGrp="1"/>
          </p:cNvSpPr>
          <p:nvPr/>
        </p:nvSpPr>
        <p:spPr>
          <a:xfrm xmlns:a="http://schemas.openxmlformats.org/drawingml/2006/main">
            <a:off x="781050" y="4048125"/>
            <a:ext cx="3352800" cy="1352550"/>
          </a:xfrm>
          <a:prstGeom xmlns:a="http://schemas.openxmlformats.org/drawingml/2006/main" prst="roundRect">
            <a:avLst>
              <a:gd name="adj" fmla="val 9859"/>
            </a:avLst>
          </a:prstGeom>
          <a:solidFill xmlns:a="http://schemas.openxmlformats.org/drawingml/2006/main">
            <a:srgbClr val="F7EFF1"/>
          </a:solidFill>
          <a:ln xmlns:a="http://schemas.openxmlformats.org/drawingml/2006/main" w="9525">
            <a:solidFill>
              <a:srgbClr val="D7DEE8"/>
            </a:solidFill>
            <a:prstDash val="solid"/>
          </a:ln>
        </p:spPr>
      </p:sp>
      <p:sp>
        <p:nvSpPr>
          <p:cNvPr id="11" name="Rectangle 10">
            <a:extLst xmlns:a="http://schemas.openxmlformats.org/drawingml/2006/main">
              <a:ext uri="{FF2B5EF4-FFF2-40B4-BE49-F238E27FC236}">
                <a16:creationId xmlns:a16="http://schemas.microsoft.com/office/drawing/2014/main" id="{252198DC-8C0D-4462-A177-6224D2B69EA6}"/>
              </a:ext>
            </a:extLst>
          </p:cNvPr>
          <p:cNvSpPr>
            <a:spLocks xmlns:a="http://schemas.openxmlformats.org/drawingml/2006/main" noGrp="1"/>
          </p:cNvSpPr>
          <p:nvPr/>
        </p:nvSpPr>
        <p:spPr>
          <a:xfrm xmlns:a="http://schemas.openxmlformats.org/drawingml/2006/main">
            <a:off x="933450" y="41719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01</a:t>
            </a:r>
          </a:p>
        </p:txBody>
      </p:sp>
      <p:sp>
        <p:nvSpPr>
          <p:cNvPr id="12" name="Rectangle 11">
            <a:extLst xmlns:a="http://schemas.openxmlformats.org/drawingml/2006/main">
              <a:ext uri="{FF2B5EF4-FFF2-40B4-BE49-F238E27FC236}">
                <a16:creationId xmlns:a16="http://schemas.microsoft.com/office/drawing/2014/main" id="{5F0680D5-5B32-4B12-A0D3-039940F55ACA}"/>
              </a:ext>
            </a:extLst>
          </p:cNvPr>
          <p:cNvSpPr>
            <a:spLocks xmlns:a="http://schemas.openxmlformats.org/drawingml/2006/main" noGrp="1"/>
          </p:cNvSpPr>
          <p:nvPr/>
        </p:nvSpPr>
        <p:spPr>
          <a:xfrm xmlns:a="http://schemas.openxmlformats.org/drawingml/2006/main">
            <a:off x="933450" y="441960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Детекција треба да опише образац који је вредан пажње, а не да сваку грешку прогласи инцидентом.</a:t>
            </a:r>
          </a:p>
        </p:txBody>
      </p:sp>
      <p:sp>
        <p:nvSpPr>
          <p:cNvPr id="13" name="Rounded Rectangle 12">
            <a:extLst xmlns:a="http://schemas.openxmlformats.org/drawingml/2006/main">
              <a:ext uri="{FF2B5EF4-FFF2-40B4-BE49-F238E27FC236}">
                <a16:creationId xmlns:a16="http://schemas.microsoft.com/office/drawing/2014/main" id="{6DE7EEC0-83B4-4508-B5D8-4E5EF9F75D21}"/>
              </a:ext>
            </a:extLst>
          </p:cNvPr>
          <p:cNvSpPr>
            <a:spLocks xmlns:a="http://schemas.openxmlformats.org/drawingml/2006/main" noGrp="1"/>
          </p:cNvSpPr>
          <p:nvPr/>
        </p:nvSpPr>
        <p:spPr>
          <a:xfrm xmlns:a="http://schemas.openxmlformats.org/drawingml/2006/main">
            <a:off x="4391025" y="4048125"/>
            <a:ext cx="3352800" cy="1352550"/>
          </a:xfrm>
          <a:prstGeom xmlns:a="http://schemas.openxmlformats.org/drawingml/2006/main" prst="roundRect">
            <a:avLst>
              <a:gd name="adj" fmla="val 9859"/>
            </a:avLst>
          </a:prstGeom>
          <a:solidFill xmlns:a="http://schemas.openxmlformats.org/drawingml/2006/main">
            <a:srgbClr val="FFF6E9"/>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60306B6E-CE2B-4DED-A7E2-213CA17DE8B6}"/>
              </a:ext>
            </a:extLst>
          </p:cNvPr>
          <p:cNvSpPr>
            <a:spLocks xmlns:a="http://schemas.openxmlformats.org/drawingml/2006/main" noGrp="1"/>
          </p:cNvSpPr>
          <p:nvPr/>
        </p:nvSpPr>
        <p:spPr>
          <a:xfrm xmlns:a="http://schemas.openxmlformats.org/drawingml/2006/main">
            <a:off x="4543425" y="41719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5" name="Rectangle 14">
            <a:extLst xmlns:a="http://schemas.openxmlformats.org/drawingml/2006/main">
              <a:ext uri="{FF2B5EF4-FFF2-40B4-BE49-F238E27FC236}">
                <a16:creationId xmlns:a16="http://schemas.microsoft.com/office/drawing/2014/main" id="{0CF09F39-0A80-4F95-9500-1902B0E26DE1}"/>
              </a:ext>
            </a:extLst>
          </p:cNvPr>
          <p:cNvSpPr>
            <a:spLocks xmlns:a="http://schemas.openxmlformats.org/drawingml/2006/main" noGrp="1"/>
          </p:cNvSpPr>
          <p:nvPr/>
        </p:nvSpPr>
        <p:spPr>
          <a:xfrm xmlns:a="http://schemas.openxmlformats.org/drawingml/2006/main">
            <a:off x="4543425" y="441960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Triage чува одлуку и образложење, укључујући разлог због ког је упозорење затворено.</a:t>
            </a:r>
          </a:p>
        </p:txBody>
      </p:sp>
      <p:sp>
        <p:nvSpPr>
          <p:cNvPr id="16" name="Rounded Rectangle 15">
            <a:extLst xmlns:a="http://schemas.openxmlformats.org/drawingml/2006/main">
              <a:ext uri="{FF2B5EF4-FFF2-40B4-BE49-F238E27FC236}">
                <a16:creationId xmlns:a16="http://schemas.microsoft.com/office/drawing/2014/main" id="{8F695BC1-280C-4220-B53F-E91BD82AB8AB}"/>
              </a:ext>
            </a:extLst>
          </p:cNvPr>
          <p:cNvSpPr>
            <a:spLocks xmlns:a="http://schemas.openxmlformats.org/drawingml/2006/main" noGrp="1"/>
          </p:cNvSpPr>
          <p:nvPr/>
        </p:nvSpPr>
        <p:spPr>
          <a:xfrm xmlns:a="http://schemas.openxmlformats.org/drawingml/2006/main">
            <a:off x="8001000" y="4048125"/>
            <a:ext cx="3352800" cy="1352550"/>
          </a:xfrm>
          <a:prstGeom xmlns:a="http://schemas.openxmlformats.org/drawingml/2006/main" prst="roundRect">
            <a:avLst>
              <a:gd name="adj" fmla="val 9859"/>
            </a:avLst>
          </a:prstGeom>
          <a:solidFill xmlns:a="http://schemas.openxmlformats.org/drawingml/2006/main">
            <a:srgbClr val="EDF8F2"/>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E560EC49-57CB-49B3-B00E-B033A4390092}"/>
              </a:ext>
            </a:extLst>
          </p:cNvPr>
          <p:cNvSpPr>
            <a:spLocks xmlns:a="http://schemas.openxmlformats.org/drawingml/2006/main" noGrp="1"/>
          </p:cNvSpPr>
          <p:nvPr/>
        </p:nvSpPr>
        <p:spPr>
          <a:xfrm xmlns:a="http://schemas.openxmlformats.org/drawingml/2006/main">
            <a:off x="8153400" y="41719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03</a:t>
            </a:r>
          </a:p>
        </p:txBody>
      </p:sp>
      <p:sp>
        <p:nvSpPr>
          <p:cNvPr id="18" name="Rectangle 17">
            <a:extLst xmlns:a="http://schemas.openxmlformats.org/drawingml/2006/main">
              <a:ext uri="{FF2B5EF4-FFF2-40B4-BE49-F238E27FC236}">
                <a16:creationId xmlns:a16="http://schemas.microsoft.com/office/drawing/2014/main" id="{F4B0AECF-8893-49A2-A05D-75F158B04635}"/>
              </a:ext>
            </a:extLst>
          </p:cNvPr>
          <p:cNvSpPr>
            <a:spLocks xmlns:a="http://schemas.openxmlformats.org/drawingml/2006/main" noGrp="1"/>
          </p:cNvSpPr>
          <p:nvPr/>
        </p:nvSpPr>
        <p:spPr>
          <a:xfrm xmlns:a="http://schemas.openxmlformats.org/drawingml/2006/main">
            <a:off x="8153400" y="441960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20"/>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Затварање рањивости тражи доказ да је изложеност уклоњена или прихваћена уз видљив преостали ризик.</a:t>
            </a:r>
          </a:p>
        </p:txBody>
      </p:sp>
    </p:spTree>
    <p:extLst>
      <p:ext uri="{BB962C8B-B14F-4D97-AF65-F5344CB8AC3E}">
        <p14:creationId xmlns:p14="http://schemas.microsoft.com/office/powerpoint/2010/main" val="10782973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A5224326-DDB8-4814-872C-5FACFE29B629}"/>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1C085AD4-2810-48F4-AFE9-FC076A4F15E6}"/>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E6E9C65E-74C5-404D-A6B5-2FE51012D184}"/>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14</a:t>
            </a:r>
          </a:p>
        </p:txBody>
      </p:sp>
      <p:sp>
        <p:nvSpPr>
          <p:cNvPr id="4" name="Rectangle 3">
            <a:extLst xmlns:a="http://schemas.openxmlformats.org/drawingml/2006/main">
              <a:ext uri="{FF2B5EF4-FFF2-40B4-BE49-F238E27FC236}">
                <a16:creationId xmlns:a16="http://schemas.microsoft.com/office/drawing/2014/main" id="{56D06B14-EC95-4107-8BD7-50344F02BD46}"/>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Правило детекције додаје контекст сигналу</a:t>
            </a:r>
          </a:p>
        </p:txBody>
      </p:sp>
      <p:sp>
        <p:nvSpPr>
          <p:cNvPr id="5" name="Rectangle 4">
            <a:extLst xmlns:a="http://schemas.openxmlformats.org/drawingml/2006/main">
              <a:ext uri="{FF2B5EF4-FFF2-40B4-BE49-F238E27FC236}">
                <a16:creationId xmlns:a16="http://schemas.microsoft.com/office/drawing/2014/main" id="{DA11D819-C04F-4404-8660-7FBA1906B7B7}"/>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Правило броји неуспеле пријаве по субјекту и адреси унутар временског прозора.</a:t>
            </a:r>
          </a:p>
        </p:txBody>
      </p:sp>
      <p:sp>
        <p:nvSpPr>
          <p:cNvPr id="6" name="Rounded Rectangle 5">
            <a:extLst xmlns:a="http://schemas.openxmlformats.org/drawingml/2006/main">
              <a:ext uri="{FF2B5EF4-FFF2-40B4-BE49-F238E27FC236}">
                <a16:creationId xmlns:a16="http://schemas.microsoft.com/office/drawing/2014/main" id="{8D1ABE50-0BB2-4751-A75F-F92784EB9515}"/>
              </a:ext>
            </a:extLst>
          </p:cNvPr>
          <p:cNvSpPr>
            <a:spLocks xmlns:a="http://schemas.openxmlformats.org/drawingml/2006/main" noGrp="1"/>
          </p:cNvSpPr>
          <p:nvPr/>
        </p:nvSpPr>
        <p:spPr>
          <a:xfrm xmlns:a="http://schemas.openxmlformats.org/drawingml/2006/main">
            <a:off x="666750" y="2095500"/>
            <a:ext cx="6858000" cy="2482350"/>
          </a:xfrm>
          <a:prstGeom xmlns:a="http://schemas.openxmlformats.org/drawingml/2006/main" prst="roundRect">
            <a:avLst>
              <a:gd name="adj" fmla="val 4425"/>
            </a:avLst>
          </a:prstGeom>
          <a:solidFill xmlns:a="http://schemas.openxmlformats.org/drawingml/2006/main">
            <a:srgbClr val="F4F6F7"/>
          </a:solidFill>
          <a:ln xmlns:a="http://schemas.openxmlformats.org/drawingml/2006/main" w="9525">
            <a:solidFill>
              <a:srgbClr val="CCD6DE"/>
            </a:solidFill>
            <a:prstDash val="soli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ajor"/>
        </p:style>
      </p:sp>
      <p:sp>
        <p:nvSpPr>
          <p:cNvPr id="7" name="Straight Connector 6">
            <a:extLst xmlns:a="http://schemas.openxmlformats.org/drawingml/2006/main">
              <a:ext uri="{FF2B5EF4-FFF2-40B4-BE49-F238E27FC236}">
                <a16:creationId xmlns:a16="http://schemas.microsoft.com/office/drawing/2014/main" id="{4D9E7D0F-F3A2-4137-994C-238C7990C0CF}"/>
              </a:ext>
            </a:extLst>
          </p:cNvPr>
          <p:cNvSpPr>
            <a:spLocks xmlns:a="http://schemas.openxmlformats.org/drawingml/2006/main" noGrp="1"/>
          </p:cNvSpPr>
          <p:nvPr/>
        </p:nvSpPr>
        <p:spPr>
          <a:xfrm xmlns:a="http://schemas.openxmlformats.org/drawingml/2006/main">
            <a:off x="666750" y="2438400"/>
            <a:ext cx="6858000" cy="9525"/>
          </a:xfrm>
          <a:prstGeom xmlns:a="http://schemas.openxmlformats.org/drawingml/2006/main" prst="line">
            <a:avLst/>
          </a:prstGeom>
          <a:solidFill xmlns:a="http://schemas.openxmlformats.org/drawingml/2006/main">
            <a:srgbClr val="AFBEC9"/>
          </a:solidFill>
          <a:ln xmlns:a="http://schemas.openxmlformats.org/drawingml/2006/main" w="9525">
            <a:solidFill>
              <a:srgbClr val="AFBEC9"/>
            </a:solidFill>
            <a:prstDash val="solid"/>
          </a:ln>
        </p:spPr>
      </p:sp>
      <p:sp>
        <p:nvSpPr>
          <p:cNvPr id="8" name="Oval 7">
            <a:extLst xmlns:a="http://schemas.openxmlformats.org/drawingml/2006/main">
              <a:ext uri="{FF2B5EF4-FFF2-40B4-BE49-F238E27FC236}">
                <a16:creationId xmlns:a16="http://schemas.microsoft.com/office/drawing/2014/main" id="{1ACC8B3B-8697-4E78-B4D3-7850FDA6D869}"/>
              </a:ext>
            </a:extLst>
          </p:cNvPr>
          <p:cNvSpPr>
            <a:spLocks xmlns:a="http://schemas.openxmlformats.org/drawingml/2006/main" noGrp="1"/>
          </p:cNvSpPr>
          <p:nvPr/>
        </p:nvSpPr>
        <p:spPr>
          <a:xfrm xmlns:a="http://schemas.openxmlformats.org/drawingml/2006/main">
            <a:off x="6972300" y="2214563"/>
            <a:ext cx="85725" cy="85725"/>
          </a:xfrm>
          <a:prstGeom xmlns:a="http://schemas.openxmlformats.org/drawingml/2006/main" prst="ellipse">
            <a:avLst/>
          </a:prstGeom>
          <a:solidFill xmlns:a="http://schemas.openxmlformats.org/drawingml/2006/main">
            <a:srgbClr val="EF6A60"/>
          </a:solidFill>
          <a:ln xmlns:a="http://schemas.openxmlformats.org/drawingml/2006/main" w="0">
            <a:noFill/>
          </a:ln>
        </p:spPr>
      </p:sp>
      <p:sp>
        <p:nvSpPr>
          <p:cNvPr id="9" name="Oval 8">
            <a:extLst xmlns:a="http://schemas.openxmlformats.org/drawingml/2006/main">
              <a:ext uri="{FF2B5EF4-FFF2-40B4-BE49-F238E27FC236}">
                <a16:creationId xmlns:a16="http://schemas.microsoft.com/office/drawing/2014/main" id="{9F285679-5EE2-4AB9-A29C-831168441F64}"/>
              </a:ext>
            </a:extLst>
          </p:cNvPr>
          <p:cNvSpPr>
            <a:spLocks xmlns:a="http://schemas.openxmlformats.org/drawingml/2006/main" noGrp="1"/>
          </p:cNvSpPr>
          <p:nvPr/>
        </p:nvSpPr>
        <p:spPr>
          <a:xfrm xmlns:a="http://schemas.openxmlformats.org/drawingml/2006/main">
            <a:off x="7129463" y="2214563"/>
            <a:ext cx="85725" cy="85725"/>
          </a:xfrm>
          <a:prstGeom xmlns:a="http://schemas.openxmlformats.org/drawingml/2006/main" prst="ellipse">
            <a:avLst/>
          </a:prstGeom>
          <a:solidFill xmlns:a="http://schemas.openxmlformats.org/drawingml/2006/main">
            <a:srgbClr val="F2BD42"/>
          </a:solidFill>
          <a:ln xmlns:a="http://schemas.openxmlformats.org/drawingml/2006/main" w="0">
            <a:noFill/>
          </a:ln>
        </p:spPr>
      </p:sp>
      <p:sp>
        <p:nvSpPr>
          <p:cNvPr id="10" name="Oval 9">
            <a:extLst xmlns:a="http://schemas.openxmlformats.org/drawingml/2006/main">
              <a:ext uri="{FF2B5EF4-FFF2-40B4-BE49-F238E27FC236}">
                <a16:creationId xmlns:a16="http://schemas.microsoft.com/office/drawing/2014/main" id="{2C87E559-52AB-4F71-B411-B5B720B86658}"/>
              </a:ext>
            </a:extLst>
          </p:cNvPr>
          <p:cNvSpPr>
            <a:spLocks xmlns:a="http://schemas.openxmlformats.org/drawingml/2006/main" noGrp="1"/>
          </p:cNvSpPr>
          <p:nvPr/>
        </p:nvSpPr>
        <p:spPr>
          <a:xfrm xmlns:a="http://schemas.openxmlformats.org/drawingml/2006/main">
            <a:off x="7286625" y="2214563"/>
            <a:ext cx="85725" cy="85725"/>
          </a:xfrm>
          <a:prstGeom xmlns:a="http://schemas.openxmlformats.org/drawingml/2006/main" prst="ellipse">
            <a:avLst/>
          </a:prstGeom>
          <a:solidFill xmlns:a="http://schemas.openxmlformats.org/drawingml/2006/main">
            <a:srgbClr val="65C466"/>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233D5125-5EA3-49DC-B85B-5921414768F2}"/>
              </a:ext>
            </a:extLst>
          </p:cNvPr>
          <p:cNvSpPr>
            <a:spLocks xmlns:a="http://schemas.openxmlformats.org/drawingml/2006/main" noGrp="1"/>
          </p:cNvSpPr>
          <p:nvPr/>
        </p:nvSpPr>
        <p:spPr>
          <a:xfrm xmlns:a="http://schemas.openxmlformats.org/drawingml/2006/main">
            <a:off x="781050" y="2571750"/>
            <a:ext cx="3048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2</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3</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4</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5</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6</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7</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8</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9</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10</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11</a:t>
            </a:r>
          </a:p>
        </p:txBody>
      </p:sp>
      <p:sp>
        <p:nvSpPr>
          <p:cNvPr id="12" name="Rectangle 11">
            <a:extLst xmlns:a="http://schemas.openxmlformats.org/drawingml/2006/main">
              <a:ext uri="{FF2B5EF4-FFF2-40B4-BE49-F238E27FC236}">
                <a16:creationId xmlns:a16="http://schemas.microsoft.com/office/drawing/2014/main" id="{227AA43F-CF97-47F6-A0FD-CACEC1B8BDF2}"/>
              </a:ext>
            </a:extLst>
          </p:cNvPr>
          <p:cNvSpPr>
            <a:spLocks xmlns:a="http://schemas.openxmlformats.org/drawingml/2006/main" noGrp="1"/>
          </p:cNvSpPr>
          <p:nvPr/>
        </p:nvSpPr>
        <p:spPr>
          <a:xfrm xmlns:a="http://schemas.openxmlformats.org/drawingml/2006/main">
            <a:off x="1200150" y="2571750"/>
            <a:ext cx="615315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nSpc>
                <a:spcPts val="1300"/>
              </a:lnSpc>
              <a:buNone/>
              <a:defRPr sz="1050">
                <a:solidFill>
                  <a:srgbClr val="263044"/>
                </a:solidFill>
                <a:latin typeface="Consolas"/>
                <a:ea typeface="Consolas"/>
                <a:cs typeface="Consolas"/>
              </a:defRPr>
            </a:pPr>
            <a:r>
              <a:rPr b="1">
                <a:solidFill>
                  <a:srgbClr val="0969C3"/>
                </a:solidFill>
              </a:rPr>
              <a:t>public</a:t>
            </a:r>
            <a:r>
              <a:rPr b="0">
                <a:solidFill>
                  <a:srgbClr val="263044"/>
                </a:solidFill>
              </a:rPr>
              <a:t> </a:t>
            </a:r>
            <a:r>
              <a:rPr b="0">
                <a:solidFill>
                  <a:srgbClr val="7651D4"/>
                </a:solidFill>
              </a:rPr>
              <a:t>IReadOnlyList</a:t>
            </a:r>
            <a:r>
              <a:rPr b="0">
                <a:solidFill>
                  <a:srgbClr val="263044"/>
                </a:solidFill>
              </a:rPr>
              <a:t>&lt;</a:t>
            </a:r>
            <a:r>
              <a:rPr b="0">
                <a:solidFill>
                  <a:srgbClr val="7651D4"/>
                </a:solidFill>
              </a:rPr>
              <a:t>SecuritySignal</a:t>
            </a:r>
            <a:r>
              <a:rPr b="0">
                <a:solidFill>
                  <a:srgbClr val="263044"/>
                </a:solidFill>
              </a:rPr>
              <a:t>&gt; </a:t>
            </a:r>
            <a:r>
              <a:rPr b="0">
                <a:solidFill>
                  <a:srgbClr val="7651D4"/>
                </a:solidFill>
              </a:rPr>
              <a:t>Detect</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IReadOnlyCollection</a:t>
            </a:r>
            <a:r>
              <a:rPr b="0">
                <a:solidFill>
                  <a:srgbClr val="263044"/>
                </a:solidFill>
              </a:rPr>
              <a:t>&lt;</a:t>
            </a:r>
            <a:r>
              <a:rPr b="0">
                <a:solidFill>
                  <a:srgbClr val="7651D4"/>
                </a:solidFill>
              </a:rPr>
              <a:t>LoginAttempt</a:t>
            </a:r>
            <a:r>
              <a:rPr b="0">
                <a:solidFill>
                  <a:srgbClr val="263044"/>
                </a:solidFill>
              </a:rPr>
              <a:t>&gt; attempts, </a:t>
            </a:r>
            <a:r>
              <a:rPr b="0">
                <a:solidFill>
                  <a:srgbClr val="7651D4"/>
                </a:solidFill>
              </a:rPr>
              <a:t>DateTimeOffset</a:t>
            </a:r>
            <a:r>
              <a:rPr b="0">
                <a:solidFill>
                  <a:srgbClr val="263044"/>
                </a:solidFill>
              </a:rPr>
              <a:t> now)</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1">
                <a:solidFill>
                  <a:srgbClr val="0969C3"/>
                </a:solidFill>
              </a:rPr>
              <a:t>return</a:t>
            </a:r>
            <a:r>
              <a:rPr b="0">
                <a:solidFill>
                  <a:srgbClr val="263044"/>
                </a:solidFill>
              </a:rPr>
              <a:t> attempts</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Where</a:t>
            </a:r>
            <a:r>
              <a:rPr b="0">
                <a:solidFill>
                  <a:srgbClr val="263044"/>
                </a:solidFill>
              </a:rPr>
              <a:t>(attempt =&gt; !attempt.</a:t>
            </a:r>
            <a:r>
              <a:rPr b="0">
                <a:solidFill>
                  <a:srgbClr val="7651D4"/>
                </a:solidFill>
              </a:rPr>
              <a:t>Succeeded</a:t>
            </a:r>
            <a:r>
              <a:rPr b="0">
                <a:solidFill>
                  <a:srgbClr val="263044"/>
                </a:solidFill>
              </a:rPr>
              <a:t> &amp;&amp; </a:t>
            </a:r>
            <a:r>
              <a:rPr b="0">
                <a:solidFill>
                  <a:srgbClr val="7651D4"/>
                </a:solidFill>
              </a:rPr>
              <a:t>IsInsideWindow</a:t>
            </a:r>
            <a:r>
              <a:rPr b="0">
                <a:solidFill>
                  <a:srgbClr val="263044"/>
                </a:solidFill>
              </a:rPr>
              <a:t>(attempt, now))</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GroupBy</a:t>
            </a:r>
            <a:r>
              <a:rPr b="0">
                <a:solidFill>
                  <a:srgbClr val="263044"/>
                </a:solidFill>
              </a:rPr>
              <a:t>(attempt =&gt; (attempt.</a:t>
            </a:r>
            <a:r>
              <a:rPr b="0">
                <a:solidFill>
                  <a:srgbClr val="7651D4"/>
                </a:solidFill>
              </a:rPr>
              <a:t>SubjectId</a:t>
            </a:r>
            <a:r>
              <a:rPr b="0">
                <a:solidFill>
                  <a:srgbClr val="263044"/>
                </a:solidFill>
              </a:rPr>
              <a:t>, attempt.</a:t>
            </a:r>
            <a:r>
              <a:rPr b="0">
                <a:solidFill>
                  <a:srgbClr val="7651D4"/>
                </a:solidFill>
              </a:rPr>
              <a:t>SourceIp</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Where</a:t>
            </a:r>
            <a:r>
              <a:rPr b="0">
                <a:solidFill>
                  <a:srgbClr val="263044"/>
                </a:solidFill>
              </a:rPr>
              <a:t>(group =&gt; group.</a:t>
            </a:r>
            <a:r>
              <a:rPr b="0">
                <a:solidFill>
                  <a:srgbClr val="7651D4"/>
                </a:solidFill>
              </a:rPr>
              <a:t>Count</a:t>
            </a:r>
            <a:r>
              <a:rPr b="0">
                <a:solidFill>
                  <a:srgbClr val="263044"/>
                </a:solidFill>
              </a:rPr>
              <a:t>() &gt;= _threshold)</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Select</a:t>
            </a:r>
            <a:r>
              <a:rPr b="0">
                <a:solidFill>
                  <a:srgbClr val="263044"/>
                </a:solidFill>
              </a:rPr>
              <a:t>(group =&gt; </a:t>
            </a:r>
            <a:r>
              <a:rPr b="1">
                <a:solidFill>
                  <a:srgbClr val="0969C3"/>
                </a:solidFill>
              </a:rPr>
              <a:t>new</a:t>
            </a:r>
            <a:r>
              <a:rPr b="0">
                <a:solidFill>
                  <a:srgbClr val="263044"/>
                </a:solidFill>
              </a:rPr>
              <a:t> </a:t>
            </a:r>
            <a:r>
              <a:rPr b="0">
                <a:solidFill>
                  <a:srgbClr val="7651D4"/>
                </a:solidFill>
              </a:rPr>
              <a:t>SecuritySignal</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Name</a:t>
            </a:r>
            <a:r>
              <a:rPr b="0">
                <a:solidFill>
                  <a:srgbClr val="263044"/>
                </a:solidFill>
              </a:rPr>
              <a:t>, group.</a:t>
            </a:r>
            <a:r>
              <a:rPr b="0">
                <a:solidFill>
                  <a:srgbClr val="7651D4"/>
                </a:solidFill>
              </a:rPr>
              <a:t>Key</a:t>
            </a:r>
            <a:r>
              <a:rPr b="0">
                <a:solidFill>
                  <a:srgbClr val="263044"/>
                </a:solidFill>
              </a:rPr>
              <a:t>.</a:t>
            </a:r>
            <a:r>
              <a:rPr b="0">
                <a:solidFill>
                  <a:srgbClr val="7651D4"/>
                </a:solidFill>
              </a:rPr>
              <a:t>SubjectId</a:t>
            </a:r>
            <a:r>
              <a:rPr b="0">
                <a:solidFill>
                  <a:srgbClr val="263044"/>
                </a:solidFill>
              </a:rPr>
              <a:t>, group.</a:t>
            </a:r>
            <a:r>
              <a:rPr b="0">
                <a:solidFill>
                  <a:srgbClr val="7651D4"/>
                </a:solidFill>
              </a:rPr>
              <a:t>Key</a:t>
            </a:r>
            <a:r>
              <a:rPr b="0">
                <a:solidFill>
                  <a:srgbClr val="263044"/>
                </a:solidFill>
              </a:rPr>
              <a:t>.</a:t>
            </a:r>
            <a:r>
              <a:rPr b="0">
                <a:solidFill>
                  <a:srgbClr val="7651D4"/>
                </a:solidFill>
              </a:rPr>
              <a:t>SourceIp</a:t>
            </a:r>
            <a:r>
              <a:rPr b="0">
                <a:solidFill>
                  <a:srgbClr val="263044"/>
                </a:solidFill>
              </a:rPr>
              <a:t>, group.</a:t>
            </a:r>
            <a:r>
              <a:rPr b="0">
                <a:solidFill>
                  <a:srgbClr val="7651D4"/>
                </a:solidFill>
              </a:rPr>
              <a:t>Count</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ToArray</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a:t>
            </a:r>
          </a:p>
        </p:txBody>
      </p:sp>
      <p:sp>
        <p:nvSpPr>
          <p:cNvPr id="13" name="Rounded Rectangle 12">
            <a:extLst xmlns:a="http://schemas.openxmlformats.org/drawingml/2006/main">
              <a:ext uri="{FF2B5EF4-FFF2-40B4-BE49-F238E27FC236}">
                <a16:creationId xmlns:a16="http://schemas.microsoft.com/office/drawing/2014/main" id="{7C660942-AC74-4F50-907B-16F796A9BAD3}"/>
              </a:ext>
            </a:extLst>
          </p:cNvPr>
          <p:cNvSpPr>
            <a:spLocks xmlns:a="http://schemas.openxmlformats.org/drawingml/2006/main" noGrp="1"/>
          </p:cNvSpPr>
          <p:nvPr/>
        </p:nvSpPr>
        <p:spPr>
          <a:xfrm xmlns:a="http://schemas.openxmlformats.org/drawingml/2006/main">
            <a:off x="7924800" y="2152650"/>
            <a:ext cx="3600450" cy="1809750"/>
          </a:xfrm>
          <a:prstGeom xmlns:a="http://schemas.openxmlformats.org/drawingml/2006/main" prst="roundRect">
            <a:avLst>
              <a:gd name="adj" fmla="val 7368"/>
            </a:avLst>
          </a:prstGeom>
          <a:solidFill xmlns:a="http://schemas.openxmlformats.org/drawingml/2006/main">
            <a:srgbClr val="F7EFF1"/>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8DF0015A-D99E-4BF2-89A9-99736F67BAE5}"/>
              </a:ext>
            </a:extLst>
          </p:cNvPr>
          <p:cNvSpPr>
            <a:spLocks xmlns:a="http://schemas.openxmlformats.org/drawingml/2006/main" noGrp="1"/>
          </p:cNvSpPr>
          <p:nvPr/>
        </p:nvSpPr>
        <p:spPr>
          <a:xfrm xmlns:a="http://schemas.openxmlformats.org/drawingml/2006/main">
            <a:off x="8077200" y="2276475"/>
            <a:ext cx="3295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ТУМАЧЕЊЕ</a:t>
            </a:r>
          </a:p>
        </p:txBody>
      </p:sp>
      <p:sp>
        <p:nvSpPr>
          <p:cNvPr id="15" name="Rectangle 14">
            <a:extLst xmlns:a="http://schemas.openxmlformats.org/drawingml/2006/main">
              <a:ext uri="{FF2B5EF4-FFF2-40B4-BE49-F238E27FC236}">
                <a16:creationId xmlns:a16="http://schemas.microsoft.com/office/drawing/2014/main" id="{09F5D753-43E6-44DB-86A9-DF9A677929CA}"/>
              </a:ext>
            </a:extLst>
          </p:cNvPr>
          <p:cNvSpPr>
            <a:spLocks xmlns:a="http://schemas.openxmlformats.org/drawingml/2006/main" noGrp="1"/>
          </p:cNvSpPr>
          <p:nvPr/>
        </p:nvSpPr>
        <p:spPr>
          <a:xfrm xmlns:a="http://schemas.openxmlformats.org/drawingml/2006/main">
            <a:off x="8077200" y="2524125"/>
            <a:ext cx="32956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Праг и временски прозор спречавају да свака неуспела пријава постане сигнал.</a:t>
            </a:r>
          </a:p>
        </p:txBody>
      </p:sp>
      <p:sp>
        <p:nvSpPr>
          <p:cNvPr id="16" name="Rounded Rectangle 15">
            <a:extLst xmlns:a="http://schemas.openxmlformats.org/drawingml/2006/main">
              <a:ext uri="{FF2B5EF4-FFF2-40B4-BE49-F238E27FC236}">
                <a16:creationId xmlns:a16="http://schemas.microsoft.com/office/drawing/2014/main" id="{2CADAD7A-0755-4103-836F-8EF64579E603}"/>
              </a:ext>
            </a:extLst>
          </p:cNvPr>
          <p:cNvSpPr>
            <a:spLocks xmlns:a="http://schemas.openxmlformats.org/drawingml/2006/main" noGrp="1"/>
          </p:cNvSpPr>
          <p:nvPr/>
        </p:nvSpPr>
        <p:spPr>
          <a:xfrm xmlns:a="http://schemas.openxmlformats.org/drawingml/2006/main">
            <a:off x="7924800" y="4248150"/>
            <a:ext cx="3600450" cy="1428750"/>
          </a:xfrm>
          <a:prstGeom xmlns:a="http://schemas.openxmlformats.org/drawingml/2006/main" prst="roundRect">
            <a:avLst>
              <a:gd name="adj" fmla="val 9333"/>
            </a:avLst>
          </a:prstGeom>
          <a:solidFill xmlns:a="http://schemas.openxmlformats.org/drawingml/2006/main">
            <a:srgbClr val="FFF6E9"/>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38BE568B-16D6-4053-8A52-E947586DFBD5}"/>
              </a:ext>
            </a:extLst>
          </p:cNvPr>
          <p:cNvSpPr>
            <a:spLocks xmlns:a="http://schemas.openxmlformats.org/drawingml/2006/main" noGrp="1"/>
          </p:cNvSpPr>
          <p:nvPr/>
        </p:nvSpPr>
        <p:spPr>
          <a:xfrm xmlns:a="http://schemas.openxmlformats.org/drawingml/2006/main">
            <a:off x="8077200" y="4371975"/>
            <a:ext cx="3295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БЕЗБЕДНОСНА ГРАНИЦА</a:t>
            </a:r>
          </a:p>
        </p:txBody>
      </p:sp>
      <p:sp>
        <p:nvSpPr>
          <p:cNvPr id="18" name="Rectangle 17">
            <a:extLst xmlns:a="http://schemas.openxmlformats.org/drawingml/2006/main">
              <a:ext uri="{FF2B5EF4-FFF2-40B4-BE49-F238E27FC236}">
                <a16:creationId xmlns:a16="http://schemas.microsoft.com/office/drawing/2014/main" id="{B681E8AC-3D94-4975-A108-6FEB729BDF60}"/>
              </a:ext>
            </a:extLst>
          </p:cNvPr>
          <p:cNvSpPr>
            <a:spLocks xmlns:a="http://schemas.openxmlformats.org/drawingml/2006/main" noGrp="1"/>
          </p:cNvSpPr>
          <p:nvPr/>
        </p:nvSpPr>
        <p:spPr>
          <a:xfrm xmlns:a="http://schemas.openxmlformats.org/drawingml/2006/main">
            <a:off x="8077200" y="4619625"/>
            <a:ext cx="329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Сигнал носи субјекта, адресу и број покушаја, па се може проверити и објаснити.</a:t>
            </a:r>
          </a:p>
        </p:txBody>
      </p:sp>
    </p:spTree>
    <p:extLst>
      <p:ext uri="{BB962C8B-B14F-4D97-AF65-F5344CB8AC3E}">
        <p14:creationId xmlns:p14="http://schemas.microsoft.com/office/powerpoint/2010/main" val="16878349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C117725A-5674-47AA-BDFE-A75459094BE4}"/>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9DACF71B-B3AB-4A4A-B13C-D9E3A6329DA2}"/>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468C2EC2-D739-45B0-808C-9C659CF63F78}"/>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15</a:t>
            </a:r>
          </a:p>
        </p:txBody>
      </p:sp>
      <p:sp>
        <p:nvSpPr>
          <p:cNvPr id="4" name="Rectangle 3">
            <a:extLst xmlns:a="http://schemas.openxmlformats.org/drawingml/2006/main">
              <a:ext uri="{FF2B5EF4-FFF2-40B4-BE49-F238E27FC236}">
                <a16:creationId xmlns:a16="http://schemas.microsoft.com/office/drawing/2014/main" id="{85213AAD-ED42-4CD4-BB58-9ADD5B8D1EC7}"/>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Испод прага нема сигнала</a:t>
            </a:r>
          </a:p>
        </p:txBody>
      </p:sp>
      <p:sp>
        <p:nvSpPr>
          <p:cNvPr id="5" name="Rectangle 4">
            <a:extLst xmlns:a="http://schemas.openxmlformats.org/drawingml/2006/main">
              <a:ext uri="{FF2B5EF4-FFF2-40B4-BE49-F238E27FC236}">
                <a16:creationId xmlns:a16="http://schemas.microsoft.com/office/drawing/2014/main" id="{53C323A7-1AF1-40CB-A8DA-2D3114510354}"/>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Тест потврђује да два неуспела покушаја не производе сигнал када је праг три.</a:t>
            </a:r>
          </a:p>
        </p:txBody>
      </p:sp>
      <p:sp>
        <p:nvSpPr>
          <p:cNvPr id="6" name="Rounded Rectangle 5">
            <a:extLst xmlns:a="http://schemas.openxmlformats.org/drawingml/2006/main">
              <a:ext uri="{FF2B5EF4-FFF2-40B4-BE49-F238E27FC236}">
                <a16:creationId xmlns:a16="http://schemas.microsoft.com/office/drawing/2014/main" id="{6082263D-0BC5-4870-AE01-E665DE7A3022}"/>
              </a:ext>
            </a:extLst>
          </p:cNvPr>
          <p:cNvSpPr>
            <a:spLocks xmlns:a="http://schemas.openxmlformats.org/drawingml/2006/main" noGrp="1"/>
          </p:cNvSpPr>
          <p:nvPr/>
        </p:nvSpPr>
        <p:spPr>
          <a:xfrm xmlns:a="http://schemas.openxmlformats.org/drawingml/2006/main">
            <a:off x="666750" y="2095500"/>
            <a:ext cx="6858000" cy="1987050"/>
          </a:xfrm>
          <a:prstGeom xmlns:a="http://schemas.openxmlformats.org/drawingml/2006/main" prst="roundRect">
            <a:avLst>
              <a:gd name="adj" fmla="val 4082"/>
            </a:avLst>
          </a:prstGeom>
          <a:solidFill xmlns:a="http://schemas.openxmlformats.org/drawingml/2006/main">
            <a:srgbClr val="F4F6F7"/>
          </a:solidFill>
          <a:ln xmlns:a="http://schemas.openxmlformats.org/drawingml/2006/main" w="9525">
            <a:solidFill>
              <a:srgbClr val="CCD6DE"/>
            </a:solidFill>
            <a:prstDash val="soli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ajor"/>
        </p:style>
      </p:sp>
      <p:sp>
        <p:nvSpPr>
          <p:cNvPr id="7" name="Straight Connector 6">
            <a:extLst xmlns:a="http://schemas.openxmlformats.org/drawingml/2006/main">
              <a:ext uri="{FF2B5EF4-FFF2-40B4-BE49-F238E27FC236}">
                <a16:creationId xmlns:a16="http://schemas.microsoft.com/office/drawing/2014/main" id="{477719C9-33AB-4BB6-B66D-4E61489A6F84}"/>
              </a:ext>
            </a:extLst>
          </p:cNvPr>
          <p:cNvSpPr>
            <a:spLocks xmlns:a="http://schemas.openxmlformats.org/drawingml/2006/main" noGrp="1"/>
          </p:cNvSpPr>
          <p:nvPr/>
        </p:nvSpPr>
        <p:spPr>
          <a:xfrm xmlns:a="http://schemas.openxmlformats.org/drawingml/2006/main">
            <a:off x="666750" y="2438400"/>
            <a:ext cx="6858000" cy="9525"/>
          </a:xfrm>
          <a:prstGeom xmlns:a="http://schemas.openxmlformats.org/drawingml/2006/main" prst="line">
            <a:avLst/>
          </a:prstGeom>
          <a:solidFill xmlns:a="http://schemas.openxmlformats.org/drawingml/2006/main">
            <a:srgbClr val="AFBEC9"/>
          </a:solidFill>
          <a:ln xmlns:a="http://schemas.openxmlformats.org/drawingml/2006/main" w="9525">
            <a:solidFill>
              <a:srgbClr val="AFBEC9"/>
            </a:solidFill>
            <a:prstDash val="solid"/>
          </a:ln>
        </p:spPr>
      </p:sp>
      <p:sp>
        <p:nvSpPr>
          <p:cNvPr id="8" name="Oval 7">
            <a:extLst xmlns:a="http://schemas.openxmlformats.org/drawingml/2006/main">
              <a:ext uri="{FF2B5EF4-FFF2-40B4-BE49-F238E27FC236}">
                <a16:creationId xmlns:a16="http://schemas.microsoft.com/office/drawing/2014/main" id="{811D6B27-6F88-4276-B9FE-8F18850A9C41}"/>
              </a:ext>
            </a:extLst>
          </p:cNvPr>
          <p:cNvSpPr>
            <a:spLocks xmlns:a="http://schemas.openxmlformats.org/drawingml/2006/main" noGrp="1"/>
          </p:cNvSpPr>
          <p:nvPr/>
        </p:nvSpPr>
        <p:spPr>
          <a:xfrm xmlns:a="http://schemas.openxmlformats.org/drawingml/2006/main">
            <a:off x="6972300" y="2214563"/>
            <a:ext cx="85725" cy="85725"/>
          </a:xfrm>
          <a:prstGeom xmlns:a="http://schemas.openxmlformats.org/drawingml/2006/main" prst="ellipse">
            <a:avLst/>
          </a:prstGeom>
          <a:solidFill xmlns:a="http://schemas.openxmlformats.org/drawingml/2006/main">
            <a:srgbClr val="EF6A60"/>
          </a:solidFill>
          <a:ln xmlns:a="http://schemas.openxmlformats.org/drawingml/2006/main" w="0">
            <a:noFill/>
          </a:ln>
        </p:spPr>
      </p:sp>
      <p:sp>
        <p:nvSpPr>
          <p:cNvPr id="9" name="Oval 8">
            <a:extLst xmlns:a="http://schemas.openxmlformats.org/drawingml/2006/main">
              <a:ext uri="{FF2B5EF4-FFF2-40B4-BE49-F238E27FC236}">
                <a16:creationId xmlns:a16="http://schemas.microsoft.com/office/drawing/2014/main" id="{942E7E48-BCB9-40FA-A6F3-8A09A791008E}"/>
              </a:ext>
            </a:extLst>
          </p:cNvPr>
          <p:cNvSpPr>
            <a:spLocks xmlns:a="http://schemas.openxmlformats.org/drawingml/2006/main" noGrp="1"/>
          </p:cNvSpPr>
          <p:nvPr/>
        </p:nvSpPr>
        <p:spPr>
          <a:xfrm xmlns:a="http://schemas.openxmlformats.org/drawingml/2006/main">
            <a:off x="7129463" y="2214563"/>
            <a:ext cx="85725" cy="85725"/>
          </a:xfrm>
          <a:prstGeom xmlns:a="http://schemas.openxmlformats.org/drawingml/2006/main" prst="ellipse">
            <a:avLst/>
          </a:prstGeom>
          <a:solidFill xmlns:a="http://schemas.openxmlformats.org/drawingml/2006/main">
            <a:srgbClr val="F2BD42"/>
          </a:solidFill>
          <a:ln xmlns:a="http://schemas.openxmlformats.org/drawingml/2006/main" w="0">
            <a:noFill/>
          </a:ln>
        </p:spPr>
      </p:sp>
      <p:sp>
        <p:nvSpPr>
          <p:cNvPr id="10" name="Oval 9">
            <a:extLst xmlns:a="http://schemas.openxmlformats.org/drawingml/2006/main">
              <a:ext uri="{FF2B5EF4-FFF2-40B4-BE49-F238E27FC236}">
                <a16:creationId xmlns:a16="http://schemas.microsoft.com/office/drawing/2014/main" id="{6FCCA5BB-ABF6-4FB7-8BA5-C675A9AB49A2}"/>
              </a:ext>
            </a:extLst>
          </p:cNvPr>
          <p:cNvSpPr>
            <a:spLocks xmlns:a="http://schemas.openxmlformats.org/drawingml/2006/main" noGrp="1"/>
          </p:cNvSpPr>
          <p:nvPr/>
        </p:nvSpPr>
        <p:spPr>
          <a:xfrm xmlns:a="http://schemas.openxmlformats.org/drawingml/2006/main">
            <a:off x="7286625" y="2214563"/>
            <a:ext cx="85725" cy="85725"/>
          </a:xfrm>
          <a:prstGeom xmlns:a="http://schemas.openxmlformats.org/drawingml/2006/main" prst="ellipse">
            <a:avLst/>
          </a:prstGeom>
          <a:solidFill xmlns:a="http://schemas.openxmlformats.org/drawingml/2006/main">
            <a:srgbClr val="65C466"/>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9B211C09-02E4-42E5-93C4-AF9BB044AF19}"/>
              </a:ext>
            </a:extLst>
          </p:cNvPr>
          <p:cNvSpPr>
            <a:spLocks xmlns:a="http://schemas.openxmlformats.org/drawingml/2006/main" noGrp="1"/>
          </p:cNvSpPr>
          <p:nvPr/>
        </p:nvSpPr>
        <p:spPr>
          <a:xfrm xmlns:a="http://schemas.openxmlformats.org/drawingml/2006/main">
            <a:off x="781050" y="2571750"/>
            <a:ext cx="3048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1</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2</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3</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4</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5</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6</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7</a:t>
            </a:r>
          </a:p>
          <a:p xmlns:a="http://schemas.openxmlformats.org/drawingml/2006/main">
            <a:pPr algn="r">
              <a:lnSpc>
                <a:spcPts val="1300"/>
              </a:lnSpc>
              <a:buNone/>
              <a:defRPr sz="975" b="0">
                <a:solidFill>
                  <a:srgbClr val="8792A6"/>
                </a:solidFill>
                <a:latin typeface="Consolas"/>
                <a:ea typeface="Consolas"/>
                <a:cs typeface="Consolas"/>
              </a:defRPr>
            </a:pPr>
            <a:r>
              <a:rPr sz="975" b="0">
                <a:solidFill>
                  <a:srgbClr val="8792A6"/>
                </a:solidFill>
                <a:latin typeface="Consolas"/>
                <a:ea typeface="Consolas"/>
                <a:cs typeface="Consolas"/>
              </a:rPr>
              <a:t>8</a:t>
            </a:r>
          </a:p>
        </p:txBody>
      </p:sp>
      <p:sp>
        <p:nvSpPr>
          <p:cNvPr id="12" name="Rectangle 11">
            <a:extLst xmlns:a="http://schemas.openxmlformats.org/drawingml/2006/main">
              <a:ext uri="{FF2B5EF4-FFF2-40B4-BE49-F238E27FC236}">
                <a16:creationId xmlns:a16="http://schemas.microsoft.com/office/drawing/2014/main" id="{C1B45064-61A7-493D-9D7C-ED0BD82E45A3}"/>
              </a:ext>
            </a:extLst>
          </p:cNvPr>
          <p:cNvSpPr>
            <a:spLocks xmlns:a="http://schemas.openxmlformats.org/drawingml/2006/main" noGrp="1"/>
          </p:cNvSpPr>
          <p:nvPr/>
        </p:nvSpPr>
        <p:spPr>
          <a:xfrm xmlns:a="http://schemas.openxmlformats.org/drawingml/2006/main">
            <a:off x="1200150" y="2571750"/>
            <a:ext cx="615315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a:t>
            </a:r>
            <a:r>
              <a:rPr b="0">
                <a:solidFill>
                  <a:srgbClr val="7651D4"/>
                </a:solidFill>
              </a:rPr>
              <a:t>Test</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1">
                <a:solidFill>
                  <a:srgbClr val="0969C3"/>
                </a:solidFill>
              </a:rPr>
              <a:t>public</a:t>
            </a:r>
            <a:r>
              <a:rPr b="0">
                <a:solidFill>
                  <a:srgbClr val="263044"/>
                </a:solidFill>
              </a:rPr>
              <a:t> </a:t>
            </a:r>
            <a:r>
              <a:rPr b="1">
                <a:solidFill>
                  <a:srgbClr val="0969C3"/>
                </a:solidFill>
              </a:rPr>
              <a:t>void</a:t>
            </a:r>
            <a:r>
              <a:rPr b="0">
                <a:solidFill>
                  <a:srgbClr val="263044"/>
                </a:solidFill>
              </a:rPr>
              <a:t> </a:t>
            </a:r>
            <a:r>
              <a:rPr b="0">
                <a:solidFill>
                  <a:srgbClr val="7651D4"/>
                </a:solidFill>
              </a:rPr>
              <a:t>Detect_WhenFailuresAreBelowThreshold_RaisesNothing</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1">
                <a:solidFill>
                  <a:srgbClr val="0969C3"/>
                </a:solidFill>
              </a:rPr>
              <a:t>var</a:t>
            </a:r>
            <a:r>
              <a:rPr b="0">
                <a:solidFill>
                  <a:srgbClr val="263044"/>
                </a:solidFill>
              </a:rPr>
              <a:t> signals = _rule.</a:t>
            </a:r>
            <a:r>
              <a:rPr b="0">
                <a:solidFill>
                  <a:srgbClr val="7651D4"/>
                </a:solidFill>
              </a:rPr>
              <a:t>Detect</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Attempts</a:t>
            </a:r>
            <a:r>
              <a:rPr b="0">
                <a:solidFill>
                  <a:srgbClr val="263044"/>
                </a:solidFill>
              </a:rPr>
              <a:t>.</a:t>
            </a:r>
            <a:r>
              <a:rPr b="0">
                <a:solidFill>
                  <a:srgbClr val="7651D4"/>
                </a:solidFill>
              </a:rPr>
              <a:t>Failures</a:t>
            </a:r>
            <a:r>
              <a:rPr b="0">
                <a:solidFill>
                  <a:srgbClr val="263044"/>
                </a:solidFill>
              </a:rPr>
              <a:t>(</a:t>
            </a:r>
            <a:r>
              <a:rPr b="0">
                <a:solidFill>
                  <a:srgbClr val="B45309"/>
                </a:solidFill>
              </a:rPr>
              <a:t>"ana"</a:t>
            </a:r>
            <a:r>
              <a:rPr b="0">
                <a:solidFill>
                  <a:srgbClr val="263044"/>
                </a:solidFill>
              </a:rPr>
              <a:t>, </a:t>
            </a:r>
            <a:r>
              <a:rPr b="0">
                <a:solidFill>
                  <a:srgbClr val="B45309"/>
                </a:solidFill>
              </a:rPr>
              <a:t>"203.0.113.10"</a:t>
            </a:r>
            <a:r>
              <a:rPr b="0">
                <a:solidFill>
                  <a:srgbClr val="263044"/>
                </a:solidFill>
              </a:rPr>
              <a:t>, </a:t>
            </a:r>
            <a:r>
              <a:rPr b="0">
                <a:solidFill>
                  <a:srgbClr val="B86A09"/>
                </a:solidFill>
              </a:rPr>
              <a:t>2</a:t>
            </a:r>
            <a:r>
              <a:rPr b="0">
                <a:solidFill>
                  <a:srgbClr val="263044"/>
                </a:solidFill>
              </a:rPr>
              <a:t>, </a:t>
            </a:r>
            <a:r>
              <a:rPr b="0">
                <a:solidFill>
                  <a:srgbClr val="7651D4"/>
                </a:solidFill>
              </a:rPr>
              <a:t>Now</a:t>
            </a:r>
            <a:r>
              <a:rPr b="0">
                <a:solidFill>
                  <a:srgbClr val="263044"/>
                </a:solidFill>
              </a:rPr>
              <a:t>), </a:t>
            </a:r>
            <a:r>
              <a:rPr b="0">
                <a:solidFill>
                  <a:srgbClr val="7651D4"/>
                </a:solidFill>
              </a:rPr>
              <a:t>Now</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    </a:t>
            </a:r>
            <a:r>
              <a:rPr b="0">
                <a:solidFill>
                  <a:srgbClr val="7651D4"/>
                </a:solidFill>
              </a:rPr>
              <a:t>Assert</a:t>
            </a:r>
            <a:r>
              <a:rPr b="0">
                <a:solidFill>
                  <a:srgbClr val="263044"/>
                </a:solidFill>
              </a:rPr>
              <a:t>.</a:t>
            </a:r>
            <a:r>
              <a:rPr b="0">
                <a:solidFill>
                  <a:srgbClr val="7651D4"/>
                </a:solidFill>
              </a:rPr>
              <a:t>That</a:t>
            </a:r>
            <a:r>
              <a:rPr b="0">
                <a:solidFill>
                  <a:srgbClr val="263044"/>
                </a:solidFill>
              </a:rPr>
              <a:t>(signals, </a:t>
            </a:r>
            <a:r>
              <a:rPr b="0">
                <a:solidFill>
                  <a:srgbClr val="7651D4"/>
                </a:solidFill>
              </a:rPr>
              <a:t>Is</a:t>
            </a:r>
            <a:r>
              <a:rPr b="0">
                <a:solidFill>
                  <a:srgbClr val="263044"/>
                </a:solidFill>
              </a:rPr>
              <a:t>.</a:t>
            </a:r>
            <a:r>
              <a:rPr b="0">
                <a:solidFill>
                  <a:srgbClr val="7651D4"/>
                </a:solidFill>
              </a:rPr>
              <a:t>Empty</a:t>
            </a:r>
            <a:r>
              <a:rPr b="0">
                <a:solidFill>
                  <a:srgbClr val="263044"/>
                </a:solidFill>
              </a:rPr>
              <a:t>);</a:t>
            </a:r>
          </a:p>
          <a:p xmlns:a="http://schemas.openxmlformats.org/drawingml/2006/main">
            <a:pPr>
              <a:lnSpc>
                <a:spcPts val="1300"/>
              </a:lnSpc>
              <a:buNone/>
              <a:defRPr sz="1050">
                <a:solidFill>
                  <a:srgbClr val="263044"/>
                </a:solidFill>
                <a:latin typeface="Consolas"/>
                <a:ea typeface="Consolas"/>
                <a:cs typeface="Consolas"/>
              </a:defRPr>
            </a:pPr>
            <a:r>
              <a:rPr b="0">
                <a:solidFill>
                  <a:srgbClr val="263044"/>
                </a:solidFill>
              </a:rPr>
              <a:t>}</a:t>
            </a:r>
          </a:p>
        </p:txBody>
      </p:sp>
      <p:sp>
        <p:nvSpPr>
          <p:cNvPr id="13" name="Rounded Rectangle 12">
            <a:extLst xmlns:a="http://schemas.openxmlformats.org/drawingml/2006/main">
              <a:ext uri="{FF2B5EF4-FFF2-40B4-BE49-F238E27FC236}">
                <a16:creationId xmlns:a16="http://schemas.microsoft.com/office/drawing/2014/main" id="{681DDCFD-FE79-4F01-904B-B3BDC1596360}"/>
              </a:ext>
            </a:extLst>
          </p:cNvPr>
          <p:cNvSpPr>
            <a:spLocks xmlns:a="http://schemas.openxmlformats.org/drawingml/2006/main" noGrp="1"/>
          </p:cNvSpPr>
          <p:nvPr/>
        </p:nvSpPr>
        <p:spPr>
          <a:xfrm xmlns:a="http://schemas.openxmlformats.org/drawingml/2006/main">
            <a:off x="7924800" y="2152650"/>
            <a:ext cx="3600450" cy="1809750"/>
          </a:xfrm>
          <a:prstGeom xmlns:a="http://schemas.openxmlformats.org/drawingml/2006/main" prst="roundRect">
            <a:avLst>
              <a:gd name="adj" fmla="val 7368"/>
            </a:avLst>
          </a:prstGeom>
          <a:solidFill xmlns:a="http://schemas.openxmlformats.org/drawingml/2006/main">
            <a:srgbClr val="EDF8F2"/>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98BFC203-A13D-4CD8-A408-33C48BBFE9D6}"/>
              </a:ext>
            </a:extLst>
          </p:cNvPr>
          <p:cNvSpPr>
            <a:spLocks xmlns:a="http://schemas.openxmlformats.org/drawingml/2006/main" noGrp="1"/>
          </p:cNvSpPr>
          <p:nvPr/>
        </p:nvSpPr>
        <p:spPr>
          <a:xfrm xmlns:a="http://schemas.openxmlformats.org/drawingml/2006/main">
            <a:off x="8077200" y="2276475"/>
            <a:ext cx="3295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ДОКАЗ</a:t>
            </a:r>
          </a:p>
        </p:txBody>
      </p:sp>
      <p:sp>
        <p:nvSpPr>
          <p:cNvPr id="15" name="Rectangle 14">
            <a:extLst xmlns:a="http://schemas.openxmlformats.org/drawingml/2006/main">
              <a:ext uri="{FF2B5EF4-FFF2-40B4-BE49-F238E27FC236}">
                <a16:creationId xmlns:a16="http://schemas.microsoft.com/office/drawing/2014/main" id="{94A85A0C-C662-47DE-9F49-163ED670EB0F}"/>
              </a:ext>
            </a:extLst>
          </p:cNvPr>
          <p:cNvSpPr>
            <a:spLocks xmlns:a="http://schemas.openxmlformats.org/drawingml/2006/main" noGrp="1"/>
          </p:cNvSpPr>
          <p:nvPr/>
        </p:nvSpPr>
        <p:spPr>
          <a:xfrm xmlns:a="http://schemas.openxmlformats.org/drawingml/2006/main">
            <a:off x="8077200" y="2524125"/>
            <a:ext cx="3295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Негативан сценарио проверава да правило не подиже узбуну пре прага.</a:t>
            </a:r>
          </a:p>
        </p:txBody>
      </p:sp>
      <p:sp>
        <p:nvSpPr>
          <p:cNvPr id="16" name="Rounded Rectangle 15">
            <a:extLst xmlns:a="http://schemas.openxmlformats.org/drawingml/2006/main">
              <a:ext uri="{FF2B5EF4-FFF2-40B4-BE49-F238E27FC236}">
                <a16:creationId xmlns:a16="http://schemas.microsoft.com/office/drawing/2014/main" id="{D2EA095D-05B7-4D73-AB3D-C44787A80F66}"/>
              </a:ext>
            </a:extLst>
          </p:cNvPr>
          <p:cNvSpPr>
            <a:spLocks xmlns:a="http://schemas.openxmlformats.org/drawingml/2006/main" noGrp="1"/>
          </p:cNvSpPr>
          <p:nvPr/>
        </p:nvSpPr>
        <p:spPr>
          <a:xfrm xmlns:a="http://schemas.openxmlformats.org/drawingml/2006/main">
            <a:off x="7924800" y="4248150"/>
            <a:ext cx="3600450" cy="1428750"/>
          </a:xfrm>
          <a:prstGeom xmlns:a="http://schemas.openxmlformats.org/drawingml/2006/main" prst="roundRect">
            <a:avLst>
              <a:gd name="adj" fmla="val 9333"/>
            </a:avLst>
          </a:prstGeom>
          <a:solidFill xmlns:a="http://schemas.openxmlformats.org/drawingml/2006/main">
            <a:srgbClr val="F7F4F5"/>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3DB22125-FB32-42B4-9BDE-F93C9E731C0E}"/>
              </a:ext>
            </a:extLst>
          </p:cNvPr>
          <p:cNvSpPr>
            <a:spLocks xmlns:a="http://schemas.openxmlformats.org/drawingml/2006/main" noGrp="1"/>
          </p:cNvSpPr>
          <p:nvPr/>
        </p:nvSpPr>
        <p:spPr>
          <a:xfrm xmlns:a="http://schemas.openxmlformats.org/drawingml/2006/main">
            <a:off x="8077200" y="4371975"/>
            <a:ext cx="3295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651D4"/>
                </a:solidFill>
                <a:latin typeface="Aptos"/>
                <a:ea typeface="Aptos"/>
                <a:cs typeface="Aptos"/>
              </a:defRPr>
            </a:pPr>
            <a:r>
              <a:rPr sz="1200" b="1">
                <a:solidFill>
                  <a:srgbClr val="7A2636"/>
                </a:solidFill>
                <a:latin typeface="Aptos"/>
                <a:ea typeface="Aptos"/>
                <a:cs typeface="Aptos"/>
              </a:rPr>
              <a:t>ОЧЕКИВАНИ ИСХОД</a:t>
            </a:r>
          </a:p>
        </p:txBody>
      </p:sp>
      <p:sp>
        <p:nvSpPr>
          <p:cNvPr id="18" name="Rectangle 17">
            <a:extLst xmlns:a="http://schemas.openxmlformats.org/drawingml/2006/main">
              <a:ext uri="{FF2B5EF4-FFF2-40B4-BE49-F238E27FC236}">
                <a16:creationId xmlns:a16="http://schemas.microsoft.com/office/drawing/2014/main" id="{A3176393-86AB-4FAA-ACDE-8371725C81DF}"/>
              </a:ext>
            </a:extLst>
          </p:cNvPr>
          <p:cNvSpPr>
            <a:spLocks xmlns:a="http://schemas.openxmlformats.org/drawingml/2006/main" noGrp="1"/>
          </p:cNvSpPr>
          <p:nvPr/>
        </p:nvSpPr>
        <p:spPr>
          <a:xfrm xmlns:a="http://schemas.openxmlformats.org/drawingml/2006/main">
            <a:off x="8077200" y="4619625"/>
            <a:ext cx="329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Тест мења само број покушаја и очекује празну листу сигнала.</a:t>
            </a:r>
          </a:p>
        </p:txBody>
      </p:sp>
    </p:spTree>
    <p:extLst>
      <p:ext uri="{BB962C8B-B14F-4D97-AF65-F5344CB8AC3E}">
        <p14:creationId xmlns:p14="http://schemas.microsoft.com/office/powerpoint/2010/main" val="13222530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8798B91A-4356-4C12-BD24-5DFF447065F5}"/>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E4DC5866-D20E-401E-9FA9-9FFDC25391A5}"/>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5E2A542F-BD4D-4F17-9BF7-E015A70106D9}"/>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16</a:t>
            </a:r>
          </a:p>
        </p:txBody>
      </p:sp>
      <p:sp>
        <p:nvSpPr>
          <p:cNvPr id="4" name="Rectangle 3">
            <a:extLst xmlns:a="http://schemas.openxmlformats.org/drawingml/2006/main">
              <a:ext uri="{FF2B5EF4-FFF2-40B4-BE49-F238E27FC236}">
                <a16:creationId xmlns:a16="http://schemas.microsoft.com/office/drawing/2014/main" id="{F140D1E1-BFD2-4537-9934-350A039020E9}"/>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Садржај безбедносног записа</a:t>
            </a:r>
          </a:p>
        </p:txBody>
      </p:sp>
      <p:sp>
        <p:nvSpPr>
          <p:cNvPr id="5" name="Rectangle 4">
            <a:extLst xmlns:a="http://schemas.openxmlformats.org/drawingml/2006/main">
              <a:ext uri="{FF2B5EF4-FFF2-40B4-BE49-F238E27FC236}">
                <a16:creationId xmlns:a16="http://schemas.microsoft.com/office/drawing/2014/main" id="{0982EA11-AA43-4890-94D4-26EAD39DE0E5}"/>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Запис садржи контекст потребан за реконструкцију одлуке, без тајни и непотребних личних података.</a:t>
            </a:r>
          </a:p>
        </p:txBody>
      </p:sp>
      <p:sp>
        <p:nvSpPr>
          <p:cNvPr id="6" name="Rounded Rectangle 5">
            <a:extLst xmlns:a="http://schemas.openxmlformats.org/drawingml/2006/main">
              <a:ext uri="{FF2B5EF4-FFF2-40B4-BE49-F238E27FC236}">
                <a16:creationId xmlns:a16="http://schemas.microsoft.com/office/drawing/2014/main" id="{EC7C42B3-858D-446C-929D-BDF43B4402F6}"/>
              </a:ext>
            </a:extLst>
          </p:cNvPr>
          <p:cNvSpPr>
            <a:spLocks xmlns:a="http://schemas.openxmlformats.org/drawingml/2006/main" noGrp="1"/>
          </p:cNvSpPr>
          <p:nvPr/>
        </p:nvSpPr>
        <p:spPr>
          <a:xfrm xmlns:a="http://schemas.openxmlformats.org/drawingml/2006/main">
            <a:off x="857250" y="2152650"/>
            <a:ext cx="5334000" cy="2085975"/>
          </a:xfrm>
          <a:prstGeom xmlns:a="http://schemas.openxmlformats.org/drawingml/2006/main" prst="roundRect">
            <a:avLst>
              <a:gd name="adj" fmla="val 4566"/>
            </a:avLst>
          </a:prstGeom>
          <a:solidFill xmlns:a="http://schemas.openxmlformats.org/drawingml/2006/main">
            <a:srgbClr val="F4F6F7"/>
          </a:solidFill>
          <a:ln xmlns:a="http://schemas.openxmlformats.org/drawingml/2006/main" w="9525">
            <a:solidFill>
              <a:srgbClr val="CCD6DE"/>
            </a:solidFill>
            <a:prstDash val="soli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ajor"/>
        </p:style>
      </p:sp>
      <p:sp>
        <p:nvSpPr>
          <p:cNvPr id="7" name="Straight Connector 6">
            <a:extLst xmlns:a="http://schemas.openxmlformats.org/drawingml/2006/main">
              <a:ext uri="{FF2B5EF4-FFF2-40B4-BE49-F238E27FC236}">
                <a16:creationId xmlns:a16="http://schemas.microsoft.com/office/drawing/2014/main" id="{21BA07E4-E6FC-4E46-9BB8-4EC54AB14146}"/>
              </a:ext>
            </a:extLst>
          </p:cNvPr>
          <p:cNvSpPr>
            <a:spLocks xmlns:a="http://schemas.openxmlformats.org/drawingml/2006/main" noGrp="1"/>
          </p:cNvSpPr>
          <p:nvPr/>
        </p:nvSpPr>
        <p:spPr>
          <a:xfrm xmlns:a="http://schemas.openxmlformats.org/drawingml/2006/main">
            <a:off x="857250" y="2495550"/>
            <a:ext cx="5334000" cy="9525"/>
          </a:xfrm>
          <a:prstGeom xmlns:a="http://schemas.openxmlformats.org/drawingml/2006/main" prst="line">
            <a:avLst/>
          </a:prstGeom>
          <a:solidFill xmlns:a="http://schemas.openxmlformats.org/drawingml/2006/main">
            <a:srgbClr val="AFBEC9"/>
          </a:solidFill>
          <a:ln xmlns:a="http://schemas.openxmlformats.org/drawingml/2006/main" w="9525">
            <a:solidFill>
              <a:srgbClr val="AFBEC9"/>
            </a:solidFill>
            <a:prstDash val="solid"/>
          </a:ln>
        </p:spPr>
      </p:sp>
      <p:sp>
        <p:nvSpPr>
          <p:cNvPr id="8" name="Oval 7">
            <a:extLst xmlns:a="http://schemas.openxmlformats.org/drawingml/2006/main">
              <a:ext uri="{FF2B5EF4-FFF2-40B4-BE49-F238E27FC236}">
                <a16:creationId xmlns:a16="http://schemas.microsoft.com/office/drawing/2014/main" id="{39E76A02-F826-4700-9B56-26CCDB19811B}"/>
              </a:ext>
            </a:extLst>
          </p:cNvPr>
          <p:cNvSpPr>
            <a:spLocks xmlns:a="http://schemas.openxmlformats.org/drawingml/2006/main" noGrp="1"/>
          </p:cNvSpPr>
          <p:nvPr/>
        </p:nvSpPr>
        <p:spPr>
          <a:xfrm xmlns:a="http://schemas.openxmlformats.org/drawingml/2006/main">
            <a:off x="5638800" y="2271713"/>
            <a:ext cx="85725" cy="85725"/>
          </a:xfrm>
          <a:prstGeom xmlns:a="http://schemas.openxmlformats.org/drawingml/2006/main" prst="ellipse">
            <a:avLst/>
          </a:prstGeom>
          <a:solidFill xmlns:a="http://schemas.openxmlformats.org/drawingml/2006/main">
            <a:srgbClr val="EF6A60"/>
          </a:solidFill>
          <a:ln xmlns:a="http://schemas.openxmlformats.org/drawingml/2006/main" w="0">
            <a:noFill/>
          </a:ln>
        </p:spPr>
      </p:sp>
      <p:sp>
        <p:nvSpPr>
          <p:cNvPr id="9" name="Oval 8">
            <a:extLst xmlns:a="http://schemas.openxmlformats.org/drawingml/2006/main">
              <a:ext uri="{FF2B5EF4-FFF2-40B4-BE49-F238E27FC236}">
                <a16:creationId xmlns:a16="http://schemas.microsoft.com/office/drawing/2014/main" id="{92D66805-F0C5-41BE-AB2A-4725C4C89283}"/>
              </a:ext>
            </a:extLst>
          </p:cNvPr>
          <p:cNvSpPr>
            <a:spLocks xmlns:a="http://schemas.openxmlformats.org/drawingml/2006/main" noGrp="1"/>
          </p:cNvSpPr>
          <p:nvPr/>
        </p:nvSpPr>
        <p:spPr>
          <a:xfrm xmlns:a="http://schemas.openxmlformats.org/drawingml/2006/main">
            <a:off x="5795963" y="2271713"/>
            <a:ext cx="85725" cy="85725"/>
          </a:xfrm>
          <a:prstGeom xmlns:a="http://schemas.openxmlformats.org/drawingml/2006/main" prst="ellipse">
            <a:avLst/>
          </a:prstGeom>
          <a:solidFill xmlns:a="http://schemas.openxmlformats.org/drawingml/2006/main">
            <a:srgbClr val="F2BD42"/>
          </a:solidFill>
          <a:ln xmlns:a="http://schemas.openxmlformats.org/drawingml/2006/main" w="0">
            <a:noFill/>
          </a:ln>
        </p:spPr>
      </p:sp>
      <p:sp>
        <p:nvSpPr>
          <p:cNvPr id="10" name="Oval 9">
            <a:extLst xmlns:a="http://schemas.openxmlformats.org/drawingml/2006/main">
              <a:ext uri="{FF2B5EF4-FFF2-40B4-BE49-F238E27FC236}">
                <a16:creationId xmlns:a16="http://schemas.microsoft.com/office/drawing/2014/main" id="{FAC45417-88C6-4501-B618-5F9470CB9FFD}"/>
              </a:ext>
            </a:extLst>
          </p:cNvPr>
          <p:cNvSpPr>
            <a:spLocks xmlns:a="http://schemas.openxmlformats.org/drawingml/2006/main" noGrp="1"/>
          </p:cNvSpPr>
          <p:nvPr/>
        </p:nvSpPr>
        <p:spPr>
          <a:xfrm xmlns:a="http://schemas.openxmlformats.org/drawingml/2006/main">
            <a:off x="5953125" y="2271713"/>
            <a:ext cx="85725" cy="85725"/>
          </a:xfrm>
          <a:prstGeom xmlns:a="http://schemas.openxmlformats.org/drawingml/2006/main" prst="ellipse">
            <a:avLst/>
          </a:prstGeom>
          <a:solidFill xmlns:a="http://schemas.openxmlformats.org/drawingml/2006/main">
            <a:srgbClr val="65C466"/>
          </a:solidFill>
          <a:ln xmlns:a="http://schemas.openxmlformats.org/drawingml/2006/main" w="0">
            <a:noFill/>
          </a:ln>
        </p:spPr>
      </p:sp>
      <p:sp>
        <p:nvSpPr>
          <p:cNvPr id="11" name="Rectangle 10">
            <a:extLst xmlns:a="http://schemas.openxmlformats.org/drawingml/2006/main">
              <a:ext uri="{FF2B5EF4-FFF2-40B4-BE49-F238E27FC236}">
                <a16:creationId xmlns:a16="http://schemas.microsoft.com/office/drawing/2014/main" id="{887D7018-58C1-48FF-BD49-3EC17C32F85B}"/>
              </a:ext>
            </a:extLst>
          </p:cNvPr>
          <p:cNvSpPr>
            <a:spLocks xmlns:a="http://schemas.openxmlformats.org/drawingml/2006/main" noGrp="1"/>
          </p:cNvSpPr>
          <p:nvPr/>
        </p:nvSpPr>
        <p:spPr>
          <a:xfrm xmlns:a="http://schemas.openxmlformats.org/drawingml/2006/main">
            <a:off x="971550" y="2628900"/>
            <a:ext cx="30480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1</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2</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3</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4</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5</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6</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7</a:t>
            </a:r>
          </a:p>
          <a:p xmlns:a="http://schemas.openxmlformats.org/drawingml/2006/main">
            <a:pPr algn="r">
              <a:lnSpc>
                <a:spcPts val="1300"/>
              </a:lnSpc>
              <a:buNone/>
              <a:defRPr sz="1050" b="0">
                <a:solidFill>
                  <a:srgbClr val="8792A6"/>
                </a:solidFill>
                <a:latin typeface="Consolas"/>
                <a:ea typeface="Consolas"/>
                <a:cs typeface="Consolas"/>
              </a:defRPr>
            </a:pPr>
            <a:r>
              <a:rPr sz="1050" b="0">
                <a:solidFill>
                  <a:srgbClr val="8792A6"/>
                </a:solidFill>
                <a:latin typeface="Consolas"/>
                <a:ea typeface="Consolas"/>
                <a:cs typeface="Consolas"/>
              </a:rPr>
              <a:t>8</a:t>
            </a:r>
          </a:p>
        </p:txBody>
      </p:sp>
      <p:sp>
        <p:nvSpPr>
          <p:cNvPr id="12" name="Rectangle 11">
            <a:extLst xmlns:a="http://schemas.openxmlformats.org/drawingml/2006/main">
              <a:ext uri="{FF2B5EF4-FFF2-40B4-BE49-F238E27FC236}">
                <a16:creationId xmlns:a16="http://schemas.microsoft.com/office/drawing/2014/main" id="{4281D5A9-7DC0-42A4-B8A2-723499440E1E}"/>
              </a:ext>
            </a:extLst>
          </p:cNvPr>
          <p:cNvSpPr>
            <a:spLocks xmlns:a="http://schemas.openxmlformats.org/drawingml/2006/main" noGrp="1"/>
          </p:cNvSpPr>
          <p:nvPr/>
        </p:nvSpPr>
        <p:spPr>
          <a:xfrm xmlns:a="http://schemas.openxmlformats.org/drawingml/2006/main">
            <a:off x="1390650" y="2628900"/>
            <a:ext cx="462915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"signal"</a:t>
            </a:r>
            <a:r>
              <a:rPr b="0">
                <a:solidFill>
                  <a:srgbClr val="263044"/>
                </a:solidFill>
              </a:rPr>
              <a:t>: </a:t>
            </a:r>
            <a:r>
              <a:rPr b="0">
                <a:solidFill>
                  <a:srgbClr val="B45309"/>
                </a:solidFill>
              </a:rPr>
              <a:t>"login_failure_spike"</a:t>
            </a: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"asset"</a:t>
            </a:r>
            <a:r>
              <a:rPr b="0">
                <a:solidFill>
                  <a:srgbClr val="263044"/>
                </a:solidFill>
              </a:rPr>
              <a:t>: </a:t>
            </a:r>
            <a:r>
              <a:rPr b="0">
                <a:solidFill>
                  <a:srgbClr val="B45309"/>
                </a:solidFill>
              </a:rPr>
              <a:t>"admin-portal"</a:t>
            </a: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"severity"</a:t>
            </a:r>
            <a:r>
              <a:rPr b="0">
                <a:solidFill>
                  <a:srgbClr val="263044"/>
                </a:solidFill>
              </a:rPr>
              <a:t>: </a:t>
            </a:r>
            <a:r>
              <a:rPr b="0">
                <a:solidFill>
                  <a:srgbClr val="B45309"/>
                </a:solidFill>
              </a:rPr>
              <a:t>"high"</a:t>
            </a: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"owner"</a:t>
            </a:r>
            <a:r>
              <a:rPr b="0">
                <a:solidFill>
                  <a:srgbClr val="263044"/>
                </a:solidFill>
              </a:rPr>
              <a:t>: </a:t>
            </a:r>
            <a:r>
              <a:rPr b="0">
                <a:solidFill>
                  <a:srgbClr val="B45309"/>
                </a:solidFill>
              </a:rPr>
              <a:t>"security-on-call"</a:t>
            </a: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"status"</a:t>
            </a:r>
            <a:r>
              <a:rPr b="0">
                <a:solidFill>
                  <a:srgbClr val="263044"/>
                </a:solidFill>
              </a:rPr>
              <a:t>: </a:t>
            </a:r>
            <a:r>
              <a:rPr b="0">
                <a:solidFill>
                  <a:srgbClr val="B45309"/>
                </a:solidFill>
              </a:rPr>
              <a:t>"investigating"</a:t>
            </a:r>
            <a:r>
              <a:rPr b="0">
                <a:solidFill>
                  <a:srgbClr val="263044"/>
                </a:solidFill>
              </a:rPr>
              <a:t>,</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  </a:t>
            </a:r>
            <a:r>
              <a:rPr b="0">
                <a:solidFill>
                  <a:srgbClr val="B45309"/>
                </a:solidFill>
              </a:rPr>
              <a:t>"correlationId"</a:t>
            </a:r>
            <a:r>
              <a:rPr b="0">
                <a:solidFill>
                  <a:srgbClr val="263044"/>
                </a:solidFill>
              </a:rPr>
              <a:t>: </a:t>
            </a:r>
            <a:r>
              <a:rPr b="0">
                <a:solidFill>
                  <a:srgbClr val="B45309"/>
                </a:solidFill>
              </a:rPr>
              <a:t>"inc-2026-041"</a:t>
            </a:r>
          </a:p>
          <a:p xmlns:a="http://schemas.openxmlformats.org/drawingml/2006/main">
            <a:pPr>
              <a:lnSpc>
                <a:spcPts val="1300"/>
              </a:lnSpc>
              <a:buNone/>
              <a:defRPr sz="1125">
                <a:solidFill>
                  <a:srgbClr val="263044"/>
                </a:solidFill>
                <a:latin typeface="Consolas"/>
                <a:ea typeface="Consolas"/>
                <a:cs typeface="Consolas"/>
              </a:defRPr>
            </a:pPr>
            <a:r>
              <a:rPr b="0">
                <a:solidFill>
                  <a:srgbClr val="263044"/>
                </a:solidFill>
              </a:rPr>
              <a:t>}</a:t>
            </a:r>
          </a:p>
        </p:txBody>
      </p:sp>
      <p:sp>
        <p:nvSpPr>
          <p:cNvPr id="13" name="Rounded Rectangle 12">
            <a:extLst xmlns:a="http://schemas.openxmlformats.org/drawingml/2006/main">
              <a:ext uri="{FF2B5EF4-FFF2-40B4-BE49-F238E27FC236}">
                <a16:creationId xmlns:a16="http://schemas.microsoft.com/office/drawing/2014/main" id="{3AD6D43D-F7BA-44E5-8083-3D8E26A5A589}"/>
              </a:ext>
            </a:extLst>
          </p:cNvPr>
          <p:cNvSpPr>
            <a:spLocks xmlns:a="http://schemas.openxmlformats.org/drawingml/2006/main" noGrp="1"/>
          </p:cNvSpPr>
          <p:nvPr/>
        </p:nvSpPr>
        <p:spPr>
          <a:xfrm xmlns:a="http://schemas.openxmlformats.org/drawingml/2006/main">
            <a:off x="6648450" y="2152650"/>
            <a:ext cx="4591050" cy="1352550"/>
          </a:xfrm>
          <a:prstGeom xmlns:a="http://schemas.openxmlformats.org/drawingml/2006/main" prst="roundRect">
            <a:avLst>
              <a:gd name="adj" fmla="val 9859"/>
            </a:avLst>
          </a:prstGeom>
          <a:solidFill xmlns:a="http://schemas.openxmlformats.org/drawingml/2006/main">
            <a:srgbClr val="EDF8F2"/>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586F48E8-FBBA-404C-B265-FB0B079F5EAD}"/>
              </a:ext>
            </a:extLst>
          </p:cNvPr>
          <p:cNvSpPr>
            <a:spLocks xmlns:a="http://schemas.openxmlformats.org/drawingml/2006/main" noGrp="1"/>
          </p:cNvSpPr>
          <p:nvPr/>
        </p:nvSpPr>
        <p:spPr>
          <a:xfrm xmlns:a="http://schemas.openxmlformats.org/drawingml/2006/main">
            <a:off x="6800850" y="2276475"/>
            <a:ext cx="428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ДОВОЉНО</a:t>
            </a:r>
          </a:p>
        </p:txBody>
      </p:sp>
      <p:sp>
        <p:nvSpPr>
          <p:cNvPr id="15" name="Rectangle 14">
            <a:extLst xmlns:a="http://schemas.openxmlformats.org/drawingml/2006/main">
              <a:ext uri="{FF2B5EF4-FFF2-40B4-BE49-F238E27FC236}">
                <a16:creationId xmlns:a16="http://schemas.microsoft.com/office/drawing/2014/main" id="{D54F7099-4D11-40A7-ABCD-A48472634867}"/>
              </a:ext>
            </a:extLst>
          </p:cNvPr>
          <p:cNvSpPr>
            <a:spLocks xmlns:a="http://schemas.openxmlformats.org/drawingml/2006/main" noGrp="1"/>
          </p:cNvSpPr>
          <p:nvPr/>
        </p:nvSpPr>
        <p:spPr>
          <a:xfrm xmlns:a="http://schemas.openxmlformats.org/drawingml/2006/main">
            <a:off x="6800850" y="252412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425" b="1">
                <a:solidFill>
                  <a:srgbClr val="1A202C"/>
                </a:solidFill>
                <a:latin typeface="Aptos"/>
                <a:ea typeface="Aptos"/>
                <a:cs typeface="Aptos"/>
              </a:defRPr>
            </a:pPr>
            <a:r>
              <a:rPr sz="1425" b="1">
                <a:solidFill>
                  <a:srgbClr val="1A202C"/>
                </a:solidFill>
                <a:latin typeface="Aptos"/>
                <a:ea typeface="Aptos"/>
                <a:cs typeface="Aptos"/>
              </a:rPr>
              <a:t>Актер, радња, циљ, исход и разлог</a:t>
            </a:r>
          </a:p>
        </p:txBody>
      </p:sp>
      <p:sp>
        <p:nvSpPr>
          <p:cNvPr id="16" name="Rectangle 15">
            <a:extLst xmlns:a="http://schemas.openxmlformats.org/drawingml/2006/main">
              <a:ext uri="{FF2B5EF4-FFF2-40B4-BE49-F238E27FC236}">
                <a16:creationId xmlns:a16="http://schemas.microsoft.com/office/drawing/2014/main" id="{710C993A-3476-4108-9194-4667FA56EEF1}"/>
              </a:ext>
            </a:extLst>
          </p:cNvPr>
          <p:cNvSpPr>
            <a:spLocks xmlns:a="http://schemas.openxmlformats.org/drawingml/2006/main" noGrp="1"/>
          </p:cNvSpPr>
          <p:nvPr/>
        </p:nvSpPr>
        <p:spPr>
          <a:xfrm xmlns:a="http://schemas.openxmlformats.org/drawingml/2006/main">
            <a:off x="6800850" y="293370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Временска ознака и correlation ID повезују траг са остатком тока.</a:t>
            </a:r>
          </a:p>
        </p:txBody>
      </p:sp>
      <p:sp>
        <p:nvSpPr>
          <p:cNvPr id="17" name="Rounded Rectangle 16">
            <a:extLst xmlns:a="http://schemas.openxmlformats.org/drawingml/2006/main">
              <a:ext uri="{FF2B5EF4-FFF2-40B4-BE49-F238E27FC236}">
                <a16:creationId xmlns:a16="http://schemas.microsoft.com/office/drawing/2014/main" id="{05B38C35-91F2-4CC2-9DD7-4B8BA33DB2A0}"/>
              </a:ext>
            </a:extLst>
          </p:cNvPr>
          <p:cNvSpPr>
            <a:spLocks xmlns:a="http://schemas.openxmlformats.org/drawingml/2006/main" noGrp="1"/>
          </p:cNvSpPr>
          <p:nvPr/>
        </p:nvSpPr>
        <p:spPr>
          <a:xfrm xmlns:a="http://schemas.openxmlformats.org/drawingml/2006/main">
            <a:off x="6648450" y="3867150"/>
            <a:ext cx="4591050" cy="1428750"/>
          </a:xfrm>
          <a:prstGeom xmlns:a="http://schemas.openxmlformats.org/drawingml/2006/main" prst="roundRect">
            <a:avLst>
              <a:gd name="adj" fmla="val 9333"/>
            </a:avLst>
          </a:prstGeom>
          <a:solidFill xmlns:a="http://schemas.openxmlformats.org/drawingml/2006/main">
            <a:srgbClr val="FFF0F0"/>
          </a:solidFill>
          <a:ln xmlns:a="http://schemas.openxmlformats.org/drawingml/2006/main" w="9525">
            <a:solidFill>
              <a:srgbClr val="D7DEE8"/>
            </a:solidFill>
            <a:prstDash val="solid"/>
          </a:ln>
        </p:spPr>
      </p:sp>
      <p:sp>
        <p:nvSpPr>
          <p:cNvPr id="18" name="Rectangle 17">
            <a:extLst xmlns:a="http://schemas.openxmlformats.org/drawingml/2006/main">
              <a:ext uri="{FF2B5EF4-FFF2-40B4-BE49-F238E27FC236}">
                <a16:creationId xmlns:a16="http://schemas.microsoft.com/office/drawing/2014/main" id="{B0226510-CF8F-474E-83A1-01FE00968B04}"/>
              </a:ext>
            </a:extLst>
          </p:cNvPr>
          <p:cNvSpPr>
            <a:spLocks xmlns:a="http://schemas.openxmlformats.org/drawingml/2006/main" noGrp="1"/>
          </p:cNvSpPr>
          <p:nvPr/>
        </p:nvSpPr>
        <p:spPr>
          <a:xfrm xmlns:a="http://schemas.openxmlformats.org/drawingml/2006/main">
            <a:off x="6800850" y="3990975"/>
            <a:ext cx="428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НЕ ПРИПАДА У ДОКАЗ</a:t>
            </a:r>
          </a:p>
        </p:txBody>
      </p:sp>
      <p:sp>
        <p:nvSpPr>
          <p:cNvPr id="19" name="Rectangle 18">
            <a:extLst xmlns:a="http://schemas.openxmlformats.org/drawingml/2006/main">
              <a:ext uri="{FF2B5EF4-FFF2-40B4-BE49-F238E27FC236}">
                <a16:creationId xmlns:a16="http://schemas.microsoft.com/office/drawing/2014/main" id="{42B80916-335C-4B84-A483-5809E8C1940A}"/>
              </a:ext>
            </a:extLst>
          </p:cNvPr>
          <p:cNvSpPr>
            <a:spLocks xmlns:a="http://schemas.openxmlformats.org/drawingml/2006/main" noGrp="1"/>
          </p:cNvSpPr>
          <p:nvPr/>
        </p:nvSpPr>
        <p:spPr>
          <a:xfrm xmlns:a="http://schemas.openxmlformats.org/drawingml/2006/main">
            <a:off x="6800850" y="423862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350" b="1">
                <a:solidFill>
                  <a:srgbClr val="1A202C"/>
                </a:solidFill>
                <a:latin typeface="Aptos"/>
                <a:ea typeface="Aptos"/>
                <a:cs typeface="Aptos"/>
              </a:defRPr>
            </a:pPr>
            <a:r>
              <a:rPr sz="1350" b="1">
                <a:solidFill>
                  <a:srgbClr val="1A202C"/>
                </a:solidFill>
                <a:latin typeface="Aptos"/>
                <a:ea typeface="Aptos"/>
                <a:cs typeface="Aptos"/>
              </a:rPr>
              <a:t>Лозинка, token, тајна и сувишан садржај</a:t>
            </a:r>
          </a:p>
        </p:txBody>
      </p:sp>
      <p:sp>
        <p:nvSpPr>
          <p:cNvPr id="20" name="Rectangle 19">
            <a:extLst xmlns:a="http://schemas.openxmlformats.org/drawingml/2006/main">
              <a:ext uri="{FF2B5EF4-FFF2-40B4-BE49-F238E27FC236}">
                <a16:creationId xmlns:a16="http://schemas.microsoft.com/office/drawing/2014/main" id="{7D473B31-2255-415A-9A6D-803BC543B545}"/>
              </a:ext>
            </a:extLst>
          </p:cNvPr>
          <p:cNvSpPr>
            <a:spLocks xmlns:a="http://schemas.openxmlformats.org/drawingml/2006/main" noGrp="1"/>
          </p:cNvSpPr>
          <p:nvPr/>
        </p:nvSpPr>
        <p:spPr>
          <a:xfrm xmlns:a="http://schemas.openxmlformats.org/drawingml/2006/main">
            <a:off x="6800850" y="4648200"/>
            <a:ext cx="4286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Траг не сме да постане нови извор цурења или збирка непотребних података.</a:t>
            </a:r>
          </a:p>
        </p:txBody>
      </p:sp>
    </p:spTree>
    <p:extLst>
      <p:ext uri="{BB962C8B-B14F-4D97-AF65-F5344CB8AC3E}">
        <p14:creationId xmlns:p14="http://schemas.microsoft.com/office/powerpoint/2010/main" val="4078924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5535BDE-5E35-4941-AEB3-57ECD62295EA}"/>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73EDCB2E-B9E6-4DA3-B129-3296B4F40135}"/>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C4CD5921-FA65-4178-9F7D-43223D5AB1F1}"/>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17</a:t>
            </a:r>
          </a:p>
        </p:txBody>
      </p:sp>
      <p:sp>
        <p:nvSpPr>
          <p:cNvPr id="4" name="Rectangle 3">
            <a:extLst xmlns:a="http://schemas.openxmlformats.org/drawingml/2006/main">
              <a:ext uri="{FF2B5EF4-FFF2-40B4-BE49-F238E27FC236}">
                <a16:creationId xmlns:a16="http://schemas.microsoft.com/office/drawing/2014/main" id="{14B22A9C-23DF-48A1-8194-FEC1A1F78263}"/>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Честе грешке у имплементацији</a:t>
            </a:r>
          </a:p>
        </p:txBody>
      </p:sp>
      <p:sp>
        <p:nvSpPr>
          <p:cNvPr id="5" name="Rectangle 4">
            <a:extLst xmlns:a="http://schemas.openxmlformats.org/drawingml/2006/main">
              <a:ext uri="{FF2B5EF4-FFF2-40B4-BE49-F238E27FC236}">
                <a16:creationId xmlns:a16="http://schemas.microsoft.com/office/drawing/2014/main" id="{1209FD8F-ADA0-4256-8C7F-AF06A2DCA59E}"/>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Грешке настају када контекст, место одлуке или доказ остану нејасни.</a:t>
            </a:r>
          </a:p>
        </p:txBody>
      </p:sp>
      <p:sp>
        <p:nvSpPr>
          <p:cNvPr id="6" name="Rounded Rectangle 5">
            <a:extLst xmlns:a="http://schemas.openxmlformats.org/drawingml/2006/main">
              <a:ext uri="{FF2B5EF4-FFF2-40B4-BE49-F238E27FC236}">
                <a16:creationId xmlns:a16="http://schemas.microsoft.com/office/drawing/2014/main" id="{ECA9883E-7D8F-41DF-A7D7-B1B7D59228C0}"/>
              </a:ext>
            </a:extLst>
          </p:cNvPr>
          <p:cNvSpPr>
            <a:spLocks xmlns:a="http://schemas.openxmlformats.org/drawingml/2006/main" noGrp="1"/>
          </p:cNvSpPr>
          <p:nvPr/>
        </p:nvSpPr>
        <p:spPr>
          <a:xfrm xmlns:a="http://schemas.openxmlformats.org/drawingml/2006/main">
            <a:off x="819150" y="2381250"/>
            <a:ext cx="3257550" cy="2381250"/>
          </a:xfrm>
          <a:prstGeom xmlns:a="http://schemas.openxmlformats.org/drawingml/2006/main" prst="roundRect">
            <a:avLst>
              <a:gd name="adj" fmla="val 5600"/>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2D5AA207-EECE-4975-B102-2A94249AA021}"/>
              </a:ext>
            </a:extLst>
          </p:cNvPr>
          <p:cNvSpPr>
            <a:spLocks xmlns:a="http://schemas.openxmlformats.org/drawingml/2006/main" noGrp="1"/>
          </p:cNvSpPr>
          <p:nvPr/>
        </p:nvSpPr>
        <p:spPr>
          <a:xfrm xmlns:a="http://schemas.openxmlformats.org/drawingml/2006/main">
            <a:off x="971550" y="25050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3CA6C909-4D4C-432A-99FF-467BEC9C389A}"/>
              </a:ext>
            </a:extLst>
          </p:cNvPr>
          <p:cNvSpPr>
            <a:spLocks xmlns:a="http://schemas.openxmlformats.org/drawingml/2006/main" noGrp="1"/>
          </p:cNvSpPr>
          <p:nvPr/>
        </p:nvSpPr>
        <p:spPr>
          <a:xfrm xmlns:a="http://schemas.openxmlformats.org/drawingml/2006/main">
            <a:off x="971550" y="2752725"/>
            <a:ext cx="295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Упозорење без власника и правила за triage.</a:t>
            </a:r>
          </a:p>
        </p:txBody>
      </p:sp>
      <p:sp>
        <p:nvSpPr>
          <p:cNvPr id="9" name="Rectangle 8">
            <a:extLst xmlns:a="http://schemas.openxmlformats.org/drawingml/2006/main">
              <a:ext uri="{FF2B5EF4-FFF2-40B4-BE49-F238E27FC236}">
                <a16:creationId xmlns:a16="http://schemas.microsoft.com/office/drawing/2014/main" id="{DBBB8351-BFC5-4D3D-B098-BACE663CB695}"/>
              </a:ext>
            </a:extLst>
          </p:cNvPr>
          <p:cNvSpPr>
            <a:spLocks xmlns:a="http://schemas.openxmlformats.org/drawingml/2006/main" noGrp="1"/>
          </p:cNvSpPr>
          <p:nvPr/>
        </p:nvSpPr>
        <p:spPr>
          <a:xfrm xmlns:a="http://schemas.openxmlformats.org/drawingml/2006/main">
            <a:off x="971550" y="40386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Нема јасног власника одлуке.</a:t>
            </a:r>
          </a:p>
        </p:txBody>
      </p:sp>
      <p:sp>
        <p:nvSpPr>
          <p:cNvPr id="10" name="Rounded Rectangle 9">
            <a:extLst xmlns:a="http://schemas.openxmlformats.org/drawingml/2006/main">
              <a:ext uri="{FF2B5EF4-FFF2-40B4-BE49-F238E27FC236}">
                <a16:creationId xmlns:a16="http://schemas.microsoft.com/office/drawing/2014/main" id="{0304553E-A6FF-4268-814A-E733433E9F00}"/>
              </a:ext>
            </a:extLst>
          </p:cNvPr>
          <p:cNvSpPr>
            <a:spLocks xmlns:a="http://schemas.openxmlformats.org/drawingml/2006/main" noGrp="1"/>
          </p:cNvSpPr>
          <p:nvPr/>
        </p:nvSpPr>
        <p:spPr>
          <a:xfrm xmlns:a="http://schemas.openxmlformats.org/drawingml/2006/main">
            <a:off x="4467225" y="2381250"/>
            <a:ext cx="3257550" cy="2381250"/>
          </a:xfrm>
          <a:prstGeom xmlns:a="http://schemas.openxmlformats.org/drawingml/2006/main" prst="roundRect">
            <a:avLst>
              <a:gd name="adj" fmla="val 5600"/>
            </a:avLst>
          </a:prstGeom>
          <a:solidFill xmlns:a="http://schemas.openxmlformats.org/drawingml/2006/main">
            <a:srgbClr val="FFF6E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6148FF0F-3583-4104-BF3F-3DC5DE3E6BC9}"/>
              </a:ext>
            </a:extLst>
          </p:cNvPr>
          <p:cNvSpPr>
            <a:spLocks xmlns:a="http://schemas.openxmlformats.org/drawingml/2006/main" noGrp="1"/>
          </p:cNvSpPr>
          <p:nvPr/>
        </p:nvSpPr>
        <p:spPr>
          <a:xfrm xmlns:a="http://schemas.openxmlformats.org/drawingml/2006/main">
            <a:off x="4619625" y="25050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C77760C4-4626-47B1-A6AE-F95BA6A5047C}"/>
              </a:ext>
            </a:extLst>
          </p:cNvPr>
          <p:cNvSpPr>
            <a:spLocks xmlns:a="http://schemas.openxmlformats.org/drawingml/2006/main" noGrp="1"/>
          </p:cNvSpPr>
          <p:nvPr/>
        </p:nvSpPr>
        <p:spPr>
          <a:xfrm xmlns:a="http://schemas.openxmlformats.org/drawingml/2006/main">
            <a:off x="4619625" y="2752725"/>
            <a:ext cx="295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Аутоматско затварање без доказа о решавању узрока.</a:t>
            </a:r>
          </a:p>
        </p:txBody>
      </p:sp>
      <p:sp>
        <p:nvSpPr>
          <p:cNvPr id="13" name="Rectangle 12">
            <a:extLst xmlns:a="http://schemas.openxmlformats.org/drawingml/2006/main">
              <a:ext uri="{FF2B5EF4-FFF2-40B4-BE49-F238E27FC236}">
                <a16:creationId xmlns:a16="http://schemas.microsoft.com/office/drawing/2014/main" id="{89EAE0EE-2FEA-4EB4-ADFB-19E442DC0ABD}"/>
              </a:ext>
            </a:extLst>
          </p:cNvPr>
          <p:cNvSpPr>
            <a:spLocks xmlns:a="http://schemas.openxmlformats.org/drawingml/2006/main" noGrp="1"/>
          </p:cNvSpPr>
          <p:nvPr/>
        </p:nvSpPr>
        <p:spPr>
          <a:xfrm xmlns:a="http://schemas.openxmlformats.org/drawingml/2006/main">
            <a:off x="4619625" y="40386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Не постоји негативан сценарио.</a:t>
            </a:r>
          </a:p>
        </p:txBody>
      </p:sp>
      <p:sp>
        <p:nvSpPr>
          <p:cNvPr id="14" name="Rounded Rectangle 13">
            <a:extLst xmlns:a="http://schemas.openxmlformats.org/drawingml/2006/main">
              <a:ext uri="{FF2B5EF4-FFF2-40B4-BE49-F238E27FC236}">
                <a16:creationId xmlns:a16="http://schemas.microsoft.com/office/drawing/2014/main" id="{F8489FE2-A236-4B0E-8B82-4BF15E2A32C3}"/>
              </a:ext>
            </a:extLst>
          </p:cNvPr>
          <p:cNvSpPr>
            <a:spLocks xmlns:a="http://schemas.openxmlformats.org/drawingml/2006/main" noGrp="1"/>
          </p:cNvSpPr>
          <p:nvPr/>
        </p:nvSpPr>
        <p:spPr>
          <a:xfrm xmlns:a="http://schemas.openxmlformats.org/drawingml/2006/main">
            <a:off x="8115300" y="2381250"/>
            <a:ext cx="3257550" cy="2381250"/>
          </a:xfrm>
          <a:prstGeom xmlns:a="http://schemas.openxmlformats.org/drawingml/2006/main" prst="roundRect">
            <a:avLst>
              <a:gd name="adj" fmla="val 5600"/>
            </a:avLst>
          </a:prstGeom>
          <a:solidFill xmlns:a="http://schemas.openxmlformats.org/drawingml/2006/main">
            <a:srgbClr val="F7F4F5"/>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A67083DA-72E6-4227-9129-03FFC21D731D}"/>
              </a:ext>
            </a:extLst>
          </p:cNvPr>
          <p:cNvSpPr>
            <a:spLocks xmlns:a="http://schemas.openxmlformats.org/drawingml/2006/main" noGrp="1"/>
          </p:cNvSpPr>
          <p:nvPr/>
        </p:nvSpPr>
        <p:spPr>
          <a:xfrm xmlns:a="http://schemas.openxmlformats.org/drawingml/2006/main">
            <a:off x="8267700" y="2505075"/>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651D4"/>
                </a:solidFill>
                <a:latin typeface="Aptos"/>
                <a:ea typeface="Aptos"/>
                <a:cs typeface="Aptos"/>
              </a:defRPr>
            </a:pPr>
            <a:r>
              <a:rPr sz="1200" b="1">
                <a:solidFill>
                  <a:srgbClr val="7A2636"/>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6A1B7511-48CB-4F97-8C59-572262D38996}"/>
              </a:ext>
            </a:extLst>
          </p:cNvPr>
          <p:cNvSpPr>
            <a:spLocks xmlns:a="http://schemas.openxmlformats.org/drawingml/2006/main" noGrp="1"/>
          </p:cNvSpPr>
          <p:nvPr/>
        </p:nvSpPr>
        <p:spPr>
          <a:xfrm xmlns:a="http://schemas.openxmlformats.org/drawingml/2006/main">
            <a:off x="8267700" y="2752725"/>
            <a:ext cx="295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575" b="1">
                <a:solidFill>
                  <a:srgbClr val="1A202C"/>
                </a:solidFill>
                <a:latin typeface="Aptos"/>
                <a:ea typeface="Aptos"/>
                <a:cs typeface="Aptos"/>
              </a:defRPr>
            </a:pPr>
            <a:r>
              <a:rPr sz="1575" b="1">
                <a:solidFill>
                  <a:srgbClr val="1A202C"/>
                </a:solidFill>
                <a:latin typeface="Aptos"/>
                <a:ea typeface="Aptos"/>
                <a:cs typeface="Aptos"/>
              </a:rPr>
              <a:t>Скенирање зависности без одлуке како се налаз процењује и прати.</a:t>
            </a:r>
          </a:p>
        </p:txBody>
      </p:sp>
      <p:sp>
        <p:nvSpPr>
          <p:cNvPr id="17" name="Rectangle 16">
            <a:extLst xmlns:a="http://schemas.openxmlformats.org/drawingml/2006/main">
              <a:ext uri="{FF2B5EF4-FFF2-40B4-BE49-F238E27FC236}">
                <a16:creationId xmlns:a16="http://schemas.microsoft.com/office/drawing/2014/main" id="{F0955981-6F2A-4B4A-8070-9A85B798DD77}"/>
              </a:ext>
            </a:extLst>
          </p:cNvPr>
          <p:cNvSpPr>
            <a:spLocks xmlns:a="http://schemas.openxmlformats.org/drawingml/2006/main" noGrp="1"/>
          </p:cNvSpPr>
          <p:nvPr/>
        </p:nvSpPr>
        <p:spPr>
          <a:xfrm xmlns:a="http://schemas.openxmlformats.org/drawingml/2006/main">
            <a:off x="8267700" y="40386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00" b="0">
                <a:solidFill>
                  <a:srgbClr val="657184"/>
                </a:solidFill>
                <a:latin typeface="Aptos"/>
                <a:ea typeface="Aptos"/>
                <a:cs typeface="Aptos"/>
              </a:defRPr>
            </a:pPr>
            <a:r>
              <a:rPr sz="1350" b="0">
                <a:solidFill>
                  <a:srgbClr val="657184"/>
                </a:solidFill>
                <a:latin typeface="Aptos"/>
                <a:ea typeface="Aptos"/>
                <a:cs typeface="Aptos"/>
              </a:rPr>
              <a:t>Доказ не показује стварни исход.</a:t>
            </a:r>
          </a:p>
        </p:txBody>
      </p:sp>
    </p:spTree>
    <p:extLst>
      <p:ext uri="{BB962C8B-B14F-4D97-AF65-F5344CB8AC3E}">
        <p14:creationId xmlns:p14="http://schemas.microsoft.com/office/powerpoint/2010/main" val="1947978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CEA2A8F9-8554-4CEC-8850-DD04EC1ACFFF}"/>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F1004F2A-86AB-4F80-985E-0908C297BEDA}"/>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DE6C8CCD-06FD-4899-867C-57BB390E0891}"/>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18</a:t>
            </a:r>
          </a:p>
        </p:txBody>
      </p:sp>
      <p:sp>
        <p:nvSpPr>
          <p:cNvPr id="4" name="Rectangle 3">
            <a:extLst xmlns:a="http://schemas.openxmlformats.org/drawingml/2006/main">
              <a:ext uri="{FF2B5EF4-FFF2-40B4-BE49-F238E27FC236}">
                <a16:creationId xmlns:a16="http://schemas.microsoft.com/office/drawing/2014/main" id="{EF5CB47E-4CE1-4BFB-8B38-B7380554AD6B}"/>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Постинцидентна анализа</a:t>
            </a:r>
          </a:p>
        </p:txBody>
      </p:sp>
      <p:sp>
        <p:nvSpPr>
          <p:cNvPr id="5" name="Rectangle 4">
            <a:extLst xmlns:a="http://schemas.openxmlformats.org/drawingml/2006/main">
              <a:ext uri="{FF2B5EF4-FFF2-40B4-BE49-F238E27FC236}">
                <a16:creationId xmlns:a16="http://schemas.microsoft.com/office/drawing/2014/main" id="{FAC3C90F-9FF9-4851-9FF8-509BDABDE046}"/>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Анализа повезује узрок, реакцију, пропуст контроле и конкретну корективну меру.</a:t>
            </a:r>
          </a:p>
        </p:txBody>
      </p:sp>
      <p:sp>
        <p:nvSpPr>
          <p:cNvPr id="6" name="Rounded Rectangle 5">
            <a:extLst xmlns:a="http://schemas.openxmlformats.org/drawingml/2006/main">
              <a:ext uri="{FF2B5EF4-FFF2-40B4-BE49-F238E27FC236}">
                <a16:creationId xmlns:a16="http://schemas.microsoft.com/office/drawing/2014/main" id="{2D341EE8-F129-45C9-AD3C-F8B3F845E136}"/>
              </a:ext>
            </a:extLst>
          </p:cNvPr>
          <p:cNvSpPr>
            <a:spLocks xmlns:a="http://schemas.openxmlformats.org/drawingml/2006/main" noGrp="1"/>
          </p:cNvSpPr>
          <p:nvPr/>
        </p:nvSpPr>
        <p:spPr>
          <a:xfrm xmlns:a="http://schemas.openxmlformats.org/drawingml/2006/main">
            <a:off x="781050" y="2152650"/>
            <a:ext cx="4476750" cy="2451248"/>
          </a:xfrm>
          <a:prstGeom xmlns:a="http://schemas.openxmlformats.org/drawingml/2006/main" prst="roundRect">
            <a:avLst>
              <a:gd name="adj" fmla="val 4294"/>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BEBAF9B3-9715-4FFF-B538-A8BAFA8672FD}"/>
              </a:ext>
            </a:extLst>
          </p:cNvPr>
          <p:cNvSpPr>
            <a:spLocks xmlns:a="http://schemas.openxmlformats.org/drawingml/2006/main" noGrp="1"/>
          </p:cNvSpPr>
          <p:nvPr/>
        </p:nvSpPr>
        <p:spPr>
          <a:xfrm xmlns:a="http://schemas.openxmlformats.org/drawingml/2006/main">
            <a:off x="933450" y="2276475"/>
            <a:ext cx="417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ОБРАЗЛОЖЕЊЕ</a:t>
            </a:r>
          </a:p>
        </p:txBody>
      </p:sp>
      <p:sp>
        <p:nvSpPr>
          <p:cNvPr id="8" name="Rectangle 7">
            <a:extLst xmlns:a="http://schemas.openxmlformats.org/drawingml/2006/main">
              <a:ext uri="{FF2B5EF4-FFF2-40B4-BE49-F238E27FC236}">
                <a16:creationId xmlns:a16="http://schemas.microsoft.com/office/drawing/2014/main" id="{19F33320-C78D-4DD5-AB11-E0C5A89CCDCC}"/>
              </a:ext>
            </a:extLst>
          </p:cNvPr>
          <p:cNvSpPr>
            <a:spLocks xmlns:a="http://schemas.openxmlformats.org/drawingml/2006/main" noGrp="1"/>
          </p:cNvSpPr>
          <p:nvPr/>
        </p:nvSpPr>
        <p:spPr>
          <a:xfrm xmlns:a="http://schemas.openxmlformats.org/drawingml/2006/main">
            <a:off x="933450" y="2524125"/>
            <a:ext cx="4171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650" b="1">
                <a:solidFill>
                  <a:srgbClr val="1A202C"/>
                </a:solidFill>
                <a:latin typeface="Aptos"/>
                <a:ea typeface="Aptos"/>
                <a:cs typeface="Aptos"/>
              </a:defRPr>
            </a:pPr>
            <a:r>
              <a:rPr sz="1650" b="1">
                <a:solidFill>
                  <a:srgbClr val="1A202C"/>
                </a:solidFill>
                <a:latin typeface="Aptos"/>
                <a:ea typeface="Aptos"/>
                <a:cs typeface="Aptos"/>
              </a:rPr>
              <a:t>Учење након догађаја</a:t>
            </a:r>
          </a:p>
        </p:txBody>
      </p:sp>
      <p:sp>
        <p:nvSpPr>
          <p:cNvPr id="9" name="Rectangle 8">
            <a:extLst xmlns:a="http://schemas.openxmlformats.org/drawingml/2006/main">
              <a:ext uri="{FF2B5EF4-FFF2-40B4-BE49-F238E27FC236}">
                <a16:creationId xmlns:a16="http://schemas.microsoft.com/office/drawing/2014/main" id="{4162AFBA-BB76-40D5-BCE0-BE1D9CC53C52}"/>
              </a:ext>
            </a:extLst>
          </p:cNvPr>
          <p:cNvSpPr>
            <a:spLocks xmlns:a="http://schemas.openxmlformats.org/drawingml/2006/main" noGrp="1"/>
          </p:cNvSpPr>
          <p:nvPr/>
        </p:nvSpPr>
        <p:spPr>
          <a:xfrm xmlns:a="http://schemas.openxmlformats.org/drawingml/2006/main">
            <a:off x="933450" y="3143250"/>
            <a:ext cx="4171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6000"/>
              </a:lnSpc>
              <a:buNone/>
              <a:defRPr sz="1275" b="0">
                <a:solidFill>
                  <a:srgbClr val="657184"/>
                </a:solidFill>
                <a:latin typeface="Aptos"/>
                <a:ea typeface="Aptos"/>
                <a:cs typeface="Aptos"/>
              </a:defRPr>
            </a:pPr>
            <a:r>
              <a:rPr sz="1275" b="0">
                <a:solidFill>
                  <a:srgbClr val="657184"/>
                </a:solidFill>
                <a:latin typeface="Aptos"/>
                <a:ea typeface="Aptos"/>
                <a:cs typeface="Aptos"/>
              </a:rPr>
              <a:t>Добар пост-инцидент преглед није потрага за особом која је погрешила. Његов циљ је да пронађе где су недостајали сигнал, заштитна провера, јасна одговорност или припрема за опоравак. Резултат треба да мења систем или процес на начин који се може проверити.</a:t>
            </a:r>
          </a:p>
        </p:txBody>
      </p:sp>
      <p:sp>
        <p:nvSpPr>
          <p:cNvPr id="10" name="Rounded Rectangle 9">
            <a:extLst xmlns:a="http://schemas.openxmlformats.org/drawingml/2006/main">
              <a:ext uri="{FF2B5EF4-FFF2-40B4-BE49-F238E27FC236}">
                <a16:creationId xmlns:a16="http://schemas.microsoft.com/office/drawing/2014/main" id="{1DD8087C-787C-420F-9935-5D63E161C089}"/>
              </a:ext>
            </a:extLst>
          </p:cNvPr>
          <p:cNvSpPr>
            <a:spLocks xmlns:a="http://schemas.openxmlformats.org/drawingml/2006/main" noGrp="1"/>
          </p:cNvSpPr>
          <p:nvPr/>
        </p:nvSpPr>
        <p:spPr>
          <a:xfrm xmlns:a="http://schemas.openxmlformats.org/drawingml/2006/main">
            <a:off x="5676900" y="2152650"/>
            <a:ext cx="5734050" cy="828675"/>
          </a:xfrm>
          <a:prstGeom xmlns:a="http://schemas.openxmlformats.org/drawingml/2006/main" prst="roundRect">
            <a:avLst>
              <a:gd name="adj" fmla="val 16092"/>
            </a:avLst>
          </a:prstGeom>
          <a:solidFill xmlns:a="http://schemas.openxmlformats.org/drawingml/2006/main">
            <a:srgbClr val="F7EFF1"/>
          </a:solidFill>
          <a:ln xmlns:a="http://schemas.openxmlformats.org/drawingml/2006/main" w="9525">
            <a:solidFill>
              <a:srgbClr val="D7DEE8"/>
            </a:solidFill>
            <a:prstDash val="solid"/>
          </a:ln>
        </p:spPr>
      </p:sp>
      <p:sp>
        <p:nvSpPr>
          <p:cNvPr id="11" name="Rectangle 10">
            <a:extLst xmlns:a="http://schemas.openxmlformats.org/drawingml/2006/main">
              <a:ext uri="{FF2B5EF4-FFF2-40B4-BE49-F238E27FC236}">
                <a16:creationId xmlns:a16="http://schemas.microsoft.com/office/drawing/2014/main" id="{290DB7D5-D3DB-4657-A92E-AE599DB70F74}"/>
              </a:ext>
            </a:extLst>
          </p:cNvPr>
          <p:cNvSpPr>
            <a:spLocks xmlns:a="http://schemas.openxmlformats.org/drawingml/2006/main" noGrp="1"/>
          </p:cNvSpPr>
          <p:nvPr/>
        </p:nvSpPr>
        <p:spPr>
          <a:xfrm xmlns:a="http://schemas.openxmlformats.org/drawingml/2006/main">
            <a:off x="5829300" y="227647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01</a:t>
            </a:r>
          </a:p>
        </p:txBody>
      </p:sp>
      <p:sp>
        <p:nvSpPr>
          <p:cNvPr id="12" name="Rectangle 11">
            <a:extLst xmlns:a="http://schemas.openxmlformats.org/drawingml/2006/main">
              <a:ext uri="{FF2B5EF4-FFF2-40B4-BE49-F238E27FC236}">
                <a16:creationId xmlns:a16="http://schemas.microsoft.com/office/drawing/2014/main" id="{FEB39224-D4C5-4215-88C1-236482A12C07}"/>
              </a:ext>
            </a:extLst>
          </p:cNvPr>
          <p:cNvSpPr>
            <a:spLocks xmlns:a="http://schemas.openxmlformats.org/drawingml/2006/main" noGrp="1"/>
          </p:cNvSpPr>
          <p:nvPr/>
        </p:nvSpPr>
        <p:spPr>
          <a:xfrm xmlns:a="http://schemas.openxmlformats.org/drawingml/2006/main">
            <a:off x="5829300" y="252412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Хронологија одваја чињенице од претпоставки насталих под притиском.</a:t>
            </a:r>
          </a:p>
        </p:txBody>
      </p:sp>
      <p:sp>
        <p:nvSpPr>
          <p:cNvPr id="13" name="Rounded Rectangle 12">
            <a:extLst xmlns:a="http://schemas.openxmlformats.org/drawingml/2006/main">
              <a:ext uri="{FF2B5EF4-FFF2-40B4-BE49-F238E27FC236}">
                <a16:creationId xmlns:a16="http://schemas.microsoft.com/office/drawing/2014/main" id="{0815E157-28AA-4B04-AB76-BD86CC9C4882}"/>
              </a:ext>
            </a:extLst>
          </p:cNvPr>
          <p:cNvSpPr>
            <a:spLocks xmlns:a="http://schemas.openxmlformats.org/drawingml/2006/main" noGrp="1"/>
          </p:cNvSpPr>
          <p:nvPr/>
        </p:nvSpPr>
        <p:spPr>
          <a:xfrm xmlns:a="http://schemas.openxmlformats.org/drawingml/2006/main">
            <a:off x="5676900" y="3152775"/>
            <a:ext cx="5734050" cy="828675"/>
          </a:xfrm>
          <a:prstGeom xmlns:a="http://schemas.openxmlformats.org/drawingml/2006/main" prst="roundRect">
            <a:avLst>
              <a:gd name="adj" fmla="val 16092"/>
            </a:avLst>
          </a:prstGeom>
          <a:solidFill xmlns:a="http://schemas.openxmlformats.org/drawingml/2006/main">
            <a:srgbClr val="EDF8F2"/>
          </a:solidFill>
          <a:ln xmlns:a="http://schemas.openxmlformats.org/drawingml/2006/main" w="9525">
            <a:solidFill>
              <a:srgbClr val="D7DEE8"/>
            </a:solidFill>
            <a:prstDash val="solid"/>
          </a:ln>
        </p:spPr>
      </p:sp>
      <p:sp>
        <p:nvSpPr>
          <p:cNvPr id="14" name="Rectangle 13">
            <a:extLst xmlns:a="http://schemas.openxmlformats.org/drawingml/2006/main">
              <a:ext uri="{FF2B5EF4-FFF2-40B4-BE49-F238E27FC236}">
                <a16:creationId xmlns:a16="http://schemas.microsoft.com/office/drawing/2014/main" id="{C572D018-6E72-4A20-B695-A6C54C8D63C1}"/>
              </a:ext>
            </a:extLst>
          </p:cNvPr>
          <p:cNvSpPr>
            <a:spLocks xmlns:a="http://schemas.openxmlformats.org/drawingml/2006/main" noGrp="1"/>
          </p:cNvSpPr>
          <p:nvPr/>
        </p:nvSpPr>
        <p:spPr>
          <a:xfrm xmlns:a="http://schemas.openxmlformats.org/drawingml/2006/main">
            <a:off x="5829300" y="3276600"/>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02</a:t>
            </a:r>
          </a:p>
        </p:txBody>
      </p:sp>
      <p:sp>
        <p:nvSpPr>
          <p:cNvPr id="15" name="Rectangle 14">
            <a:extLst xmlns:a="http://schemas.openxmlformats.org/drawingml/2006/main">
              <a:ext uri="{FF2B5EF4-FFF2-40B4-BE49-F238E27FC236}">
                <a16:creationId xmlns:a16="http://schemas.microsoft.com/office/drawing/2014/main" id="{85D0AC8C-54E7-4050-88A4-A2DB559FA517}"/>
              </a:ext>
            </a:extLst>
          </p:cNvPr>
          <p:cNvSpPr>
            <a:spLocks xmlns:a="http://schemas.openxmlformats.org/drawingml/2006/main" noGrp="1"/>
          </p:cNvSpPr>
          <p:nvPr/>
        </p:nvSpPr>
        <p:spPr>
          <a:xfrm xmlns:a="http://schemas.openxmlformats.org/drawingml/2006/main">
            <a:off x="5829300" y="3524250"/>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Акције након инцидента имају власника и проверљив завршетак.</a:t>
            </a:r>
          </a:p>
        </p:txBody>
      </p:sp>
      <p:sp>
        <p:nvSpPr>
          <p:cNvPr id="16" name="Rounded Rectangle 15">
            <a:extLst xmlns:a="http://schemas.openxmlformats.org/drawingml/2006/main">
              <a:ext uri="{FF2B5EF4-FFF2-40B4-BE49-F238E27FC236}">
                <a16:creationId xmlns:a16="http://schemas.microsoft.com/office/drawing/2014/main" id="{2938F451-EA0F-4E61-8704-D5794245B8A2}"/>
              </a:ext>
            </a:extLst>
          </p:cNvPr>
          <p:cNvSpPr>
            <a:spLocks xmlns:a="http://schemas.openxmlformats.org/drawingml/2006/main" noGrp="1"/>
          </p:cNvSpPr>
          <p:nvPr/>
        </p:nvSpPr>
        <p:spPr>
          <a:xfrm xmlns:a="http://schemas.openxmlformats.org/drawingml/2006/main">
            <a:off x="5676900" y="4152900"/>
            <a:ext cx="5734050" cy="828675"/>
          </a:xfrm>
          <a:prstGeom xmlns:a="http://schemas.openxmlformats.org/drawingml/2006/main" prst="roundRect">
            <a:avLst>
              <a:gd name="adj" fmla="val 16092"/>
            </a:avLst>
          </a:prstGeom>
          <a:solidFill xmlns:a="http://schemas.openxmlformats.org/drawingml/2006/main">
            <a:srgbClr val="FFF6E9"/>
          </a:solidFill>
          <a:ln xmlns:a="http://schemas.openxmlformats.org/drawingml/2006/main" w="9525">
            <a:solidFill>
              <a:srgbClr val="D7DEE8"/>
            </a:solidFill>
            <a:prstDash val="solid"/>
          </a:ln>
        </p:spPr>
      </p:sp>
      <p:sp>
        <p:nvSpPr>
          <p:cNvPr id="17" name="Rectangle 16">
            <a:extLst xmlns:a="http://schemas.openxmlformats.org/drawingml/2006/main">
              <a:ext uri="{FF2B5EF4-FFF2-40B4-BE49-F238E27FC236}">
                <a16:creationId xmlns:a16="http://schemas.microsoft.com/office/drawing/2014/main" id="{875EDD5D-37C4-4F84-996B-383433DCFA22}"/>
              </a:ext>
            </a:extLst>
          </p:cNvPr>
          <p:cNvSpPr>
            <a:spLocks xmlns:a="http://schemas.openxmlformats.org/drawingml/2006/main" noGrp="1"/>
          </p:cNvSpPr>
          <p:nvPr/>
        </p:nvSpPr>
        <p:spPr>
          <a:xfrm xmlns:a="http://schemas.openxmlformats.org/drawingml/2006/main">
            <a:off x="5829300" y="4276725"/>
            <a:ext cx="542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03</a:t>
            </a:r>
          </a:p>
        </p:txBody>
      </p:sp>
      <p:sp>
        <p:nvSpPr>
          <p:cNvPr id="18" name="Rectangle 17">
            <a:extLst xmlns:a="http://schemas.openxmlformats.org/drawingml/2006/main">
              <a:ext uri="{FF2B5EF4-FFF2-40B4-BE49-F238E27FC236}">
                <a16:creationId xmlns:a16="http://schemas.microsoft.com/office/drawing/2014/main" id="{06989B13-C35F-4878-B617-30758C80A9D2}"/>
              </a:ext>
            </a:extLst>
          </p:cNvPr>
          <p:cNvSpPr>
            <a:spLocks xmlns:a="http://schemas.openxmlformats.org/drawingml/2006/main" noGrp="1"/>
          </p:cNvSpPr>
          <p:nvPr/>
        </p:nvSpPr>
        <p:spPr>
          <a:xfrm xmlns:a="http://schemas.openxmlformats.org/drawingml/2006/main">
            <a:off x="5829300" y="452437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l">
              <a:lnSpc>
                <a:spcPct val="102000"/>
              </a:lnSpc>
              <a:buNone/>
              <a:defRPr sz="1275" b="1">
                <a:solidFill>
                  <a:srgbClr val="1A202C"/>
                </a:solidFill>
                <a:latin typeface="Aptos"/>
                <a:ea typeface="Aptos"/>
                <a:cs typeface="Aptos"/>
              </a:defRPr>
            </a:pPr>
            <a:r>
              <a:rPr sz="1275" b="1">
                <a:solidFill>
                  <a:srgbClr val="1A202C"/>
                </a:solidFill>
                <a:latin typeface="Aptos"/>
                <a:ea typeface="Aptos"/>
                <a:cs typeface="Aptos"/>
              </a:rPr>
              <a:t>Нови сценарио се додаје у тестове или оперативне вежбе, како се исто знање не би изгубило.</a:t>
            </a:r>
          </a:p>
        </p:txBody>
      </p:sp>
    </p:spTree>
    <p:extLst>
      <p:ext uri="{BB962C8B-B14F-4D97-AF65-F5344CB8AC3E}">
        <p14:creationId xmlns:p14="http://schemas.microsoft.com/office/powerpoint/2010/main" val="14308563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Rectangle 27">
            <a:extLst xmlns:a="http://schemas.openxmlformats.org/drawingml/2006/main">
              <a:ext uri="{FF2B5EF4-FFF2-40B4-BE49-F238E27FC236}">
                <a16:creationId xmlns:a16="http://schemas.microsoft.com/office/drawing/2014/main" id="{7505D135-F20C-405A-A4DD-F1499E6E5E87}"/>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7C9DE607-A44B-4C60-B495-7D2FC54C76A7}"/>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3195687C-43E5-40D5-AC66-E8BA8EABEC5E}"/>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19</a:t>
            </a:r>
          </a:p>
        </p:txBody>
      </p:sp>
      <p:sp>
        <p:nvSpPr>
          <p:cNvPr id="4" name="Rectangle 3">
            <a:extLst xmlns:a="http://schemas.openxmlformats.org/drawingml/2006/main">
              <a:ext uri="{FF2B5EF4-FFF2-40B4-BE49-F238E27FC236}">
                <a16:creationId xmlns:a16="http://schemas.microsoft.com/office/drawing/2014/main" id="{1D5D6DFF-F074-4E38-8EEE-6328479614F1}"/>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Примена на пројекат</a:t>
            </a:r>
          </a:p>
        </p:txBody>
      </p:sp>
      <p:sp>
        <p:nvSpPr>
          <p:cNvPr id="5" name="Rectangle 4">
            <a:extLst xmlns:a="http://schemas.openxmlformats.org/drawingml/2006/main">
              <a:ext uri="{FF2B5EF4-FFF2-40B4-BE49-F238E27FC236}">
                <a16:creationId xmlns:a16="http://schemas.microsoft.com/office/drawing/2014/main" id="{1AD4C337-C72E-4826-A3D0-80F0AF563CA8}"/>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Анализа једног сценарија обухвата одлуку, имплементацију, тест одбијања и доказ.</a:t>
            </a:r>
          </a:p>
        </p:txBody>
      </p:sp>
      <p:sp>
        <p:nvSpPr>
          <p:cNvPr id="6" name="Rounded Rectangle 5">
            <a:extLst xmlns:a="http://schemas.openxmlformats.org/drawingml/2006/main">
              <a:ext uri="{FF2B5EF4-FFF2-40B4-BE49-F238E27FC236}">
                <a16:creationId xmlns:a16="http://schemas.microsoft.com/office/drawing/2014/main" id="{BD0C2A1E-A320-482D-8944-D7F84EBD3C81}"/>
              </a:ext>
            </a:extLst>
          </p:cNvPr>
          <p:cNvSpPr>
            <a:spLocks xmlns:a="http://schemas.openxmlformats.org/drawingml/2006/main" noGrp="1"/>
          </p:cNvSpPr>
          <p:nvPr/>
        </p:nvSpPr>
        <p:spPr>
          <a:xfrm xmlns:a="http://schemas.openxmlformats.org/drawingml/2006/main">
            <a:off x="800100" y="2400300"/>
            <a:ext cx="2433638" cy="1257300"/>
          </a:xfrm>
          <a:prstGeom xmlns:a="http://schemas.openxmlformats.org/drawingml/2006/main" prst="roundRect">
            <a:avLst>
              <a:gd name="adj" fmla="val 10606"/>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4B1EF409-99AE-4C90-B0FE-F1209764D730}"/>
              </a:ext>
            </a:extLst>
          </p:cNvPr>
          <p:cNvSpPr>
            <a:spLocks xmlns:a="http://schemas.openxmlformats.org/drawingml/2006/main" noGrp="1"/>
          </p:cNvSpPr>
          <p:nvPr/>
        </p:nvSpPr>
        <p:spPr>
          <a:xfrm xmlns:a="http://schemas.openxmlformats.org/drawingml/2006/main">
            <a:off x="942975" y="2514600"/>
            <a:ext cx="21478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2B7ADAAC-E6CB-4571-953E-5FC3E7CE4A63}"/>
              </a:ext>
            </a:extLst>
          </p:cNvPr>
          <p:cNvSpPr>
            <a:spLocks xmlns:a="http://schemas.openxmlformats.org/drawingml/2006/main" noGrp="1"/>
          </p:cNvSpPr>
          <p:nvPr/>
        </p:nvSpPr>
        <p:spPr>
          <a:xfrm xmlns:a="http://schemas.openxmlformats.org/drawingml/2006/main">
            <a:off x="933450" y="2800350"/>
            <a:ext cx="21669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Избор сценарија</a:t>
            </a:r>
          </a:p>
        </p:txBody>
      </p:sp>
      <p:sp>
        <p:nvSpPr>
          <p:cNvPr id="9" name="Rectangle 8">
            <a:extLst xmlns:a="http://schemas.openxmlformats.org/drawingml/2006/main">
              <a:ext uri="{FF2B5EF4-FFF2-40B4-BE49-F238E27FC236}">
                <a16:creationId xmlns:a16="http://schemas.microsoft.com/office/drawing/2014/main" id="{60FAF039-18D6-45A5-A528-8EAC2E81EF59}"/>
              </a:ext>
            </a:extLst>
          </p:cNvPr>
          <p:cNvSpPr>
            <a:spLocks xmlns:a="http://schemas.openxmlformats.org/drawingml/2006/main" noGrp="1"/>
          </p:cNvSpPr>
          <p:nvPr/>
        </p:nvSpPr>
        <p:spPr>
          <a:xfrm xmlns:a="http://schemas.openxmlformats.org/drawingml/2006/main">
            <a:off x="942975" y="3190875"/>
            <a:ext cx="21478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једна стварна радња</a:t>
            </a:r>
          </a:p>
        </p:txBody>
      </p:sp>
      <p:sp>
        <p:nvSpPr>
          <p:cNvPr id="10" name="Rounded Rectangle 9">
            <a:extLst xmlns:a="http://schemas.openxmlformats.org/drawingml/2006/main">
              <a:ext uri="{FF2B5EF4-FFF2-40B4-BE49-F238E27FC236}">
                <a16:creationId xmlns:a16="http://schemas.microsoft.com/office/drawing/2014/main" id="{156398F7-F4F2-418D-9D56-FAE589B75360}"/>
              </a:ext>
            </a:extLst>
          </p:cNvPr>
          <p:cNvSpPr>
            <a:spLocks xmlns:a="http://schemas.openxmlformats.org/drawingml/2006/main" noGrp="1"/>
          </p:cNvSpPr>
          <p:nvPr/>
        </p:nvSpPr>
        <p:spPr>
          <a:xfrm xmlns:a="http://schemas.openxmlformats.org/drawingml/2006/main">
            <a:off x="3519488" y="2400300"/>
            <a:ext cx="2433638" cy="1257300"/>
          </a:xfrm>
          <a:prstGeom xmlns:a="http://schemas.openxmlformats.org/drawingml/2006/main" prst="roundRect">
            <a:avLst>
              <a:gd name="adj" fmla="val 10606"/>
            </a:avLst>
          </a:prstGeom>
          <a:solidFill xmlns:a="http://schemas.openxmlformats.org/drawingml/2006/main">
            <a:srgbClr val="F7EFF1"/>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37D4D675-25EA-488A-B7A3-F416157C6C7C}"/>
              </a:ext>
            </a:extLst>
          </p:cNvPr>
          <p:cNvSpPr>
            <a:spLocks xmlns:a="http://schemas.openxmlformats.org/drawingml/2006/main" noGrp="1"/>
          </p:cNvSpPr>
          <p:nvPr/>
        </p:nvSpPr>
        <p:spPr>
          <a:xfrm xmlns:a="http://schemas.openxmlformats.org/drawingml/2006/main">
            <a:off x="3662363" y="2514600"/>
            <a:ext cx="21478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2F5EF5"/>
                </a:solidFill>
                <a:latin typeface="Aptos"/>
                <a:ea typeface="Aptos"/>
                <a:cs typeface="Aptos"/>
              </a:defRPr>
            </a:pPr>
            <a:r>
              <a:rPr sz="1200" b="1">
                <a:solidFill>
                  <a:srgbClr val="7A2636"/>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F0A92B26-8127-4F3F-979D-17ED59262448}"/>
              </a:ext>
            </a:extLst>
          </p:cNvPr>
          <p:cNvSpPr>
            <a:spLocks xmlns:a="http://schemas.openxmlformats.org/drawingml/2006/main" noGrp="1"/>
          </p:cNvSpPr>
          <p:nvPr/>
        </p:nvSpPr>
        <p:spPr>
          <a:xfrm xmlns:a="http://schemas.openxmlformats.org/drawingml/2006/main">
            <a:off x="3652838" y="2800350"/>
            <a:ext cx="21669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Дефинисање правила</a:t>
            </a:r>
          </a:p>
        </p:txBody>
      </p:sp>
      <p:sp>
        <p:nvSpPr>
          <p:cNvPr id="13" name="Rectangle 12">
            <a:extLst xmlns:a="http://schemas.openxmlformats.org/drawingml/2006/main">
              <a:ext uri="{FF2B5EF4-FFF2-40B4-BE49-F238E27FC236}">
                <a16:creationId xmlns:a16="http://schemas.microsoft.com/office/drawing/2014/main" id="{29594599-32E8-4390-84AF-75D3B497883B}"/>
              </a:ext>
            </a:extLst>
          </p:cNvPr>
          <p:cNvSpPr>
            <a:spLocks xmlns:a="http://schemas.openxmlformats.org/drawingml/2006/main" noGrp="1"/>
          </p:cNvSpPr>
          <p:nvPr/>
        </p:nvSpPr>
        <p:spPr>
          <a:xfrm xmlns:a="http://schemas.openxmlformats.org/drawingml/2006/main">
            <a:off x="3662363" y="3190875"/>
            <a:ext cx="21478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улази и граница</a:t>
            </a:r>
          </a:p>
        </p:txBody>
      </p:sp>
      <p:sp>
        <p:nvSpPr>
          <p:cNvPr id="14" name="Rounded Rectangle 13">
            <a:extLst xmlns:a="http://schemas.openxmlformats.org/drawingml/2006/main">
              <a:ext uri="{FF2B5EF4-FFF2-40B4-BE49-F238E27FC236}">
                <a16:creationId xmlns:a16="http://schemas.microsoft.com/office/drawing/2014/main" id="{2D36DB01-8C75-44EC-B0A4-BF4E1ED11431}"/>
              </a:ext>
            </a:extLst>
          </p:cNvPr>
          <p:cNvSpPr>
            <a:spLocks xmlns:a="http://schemas.openxmlformats.org/drawingml/2006/main" noGrp="1"/>
          </p:cNvSpPr>
          <p:nvPr/>
        </p:nvSpPr>
        <p:spPr>
          <a:xfrm xmlns:a="http://schemas.openxmlformats.org/drawingml/2006/main">
            <a:off x="6238875" y="2400300"/>
            <a:ext cx="2433638" cy="1257300"/>
          </a:xfrm>
          <a:prstGeom xmlns:a="http://schemas.openxmlformats.org/drawingml/2006/main" prst="roundRect">
            <a:avLst>
              <a:gd name="adj" fmla="val 10606"/>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E0B5D8EA-8110-456B-A0F4-171BE700CC48}"/>
              </a:ext>
            </a:extLst>
          </p:cNvPr>
          <p:cNvSpPr>
            <a:spLocks xmlns:a="http://schemas.openxmlformats.org/drawingml/2006/main" noGrp="1"/>
          </p:cNvSpPr>
          <p:nvPr/>
        </p:nvSpPr>
        <p:spPr>
          <a:xfrm xmlns:a="http://schemas.openxmlformats.org/drawingml/2006/main">
            <a:off x="6381750" y="2514600"/>
            <a:ext cx="21478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835DAAD6-2E25-4DDF-9686-E3926B3B78E3}"/>
              </a:ext>
            </a:extLst>
          </p:cNvPr>
          <p:cNvSpPr>
            <a:spLocks xmlns:a="http://schemas.openxmlformats.org/drawingml/2006/main" noGrp="1"/>
          </p:cNvSpPr>
          <p:nvPr/>
        </p:nvSpPr>
        <p:spPr>
          <a:xfrm xmlns:a="http://schemas.openxmlformats.org/drawingml/2006/main">
            <a:off x="6372225" y="2800350"/>
            <a:ext cx="21669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Тест одбијања</a:t>
            </a:r>
          </a:p>
        </p:txBody>
      </p:sp>
      <p:sp>
        <p:nvSpPr>
          <p:cNvPr id="17" name="Rectangle 16">
            <a:extLst xmlns:a="http://schemas.openxmlformats.org/drawingml/2006/main">
              <a:ext uri="{FF2B5EF4-FFF2-40B4-BE49-F238E27FC236}">
                <a16:creationId xmlns:a16="http://schemas.microsoft.com/office/drawing/2014/main" id="{351014FC-5027-47AE-8853-23814FD93CF5}"/>
              </a:ext>
            </a:extLst>
          </p:cNvPr>
          <p:cNvSpPr>
            <a:spLocks xmlns:a="http://schemas.openxmlformats.org/drawingml/2006/main" noGrp="1"/>
          </p:cNvSpPr>
          <p:nvPr/>
        </p:nvSpPr>
        <p:spPr>
          <a:xfrm xmlns:a="http://schemas.openxmlformats.org/drawingml/2006/main">
            <a:off x="6381750" y="3190875"/>
            <a:ext cx="21478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једна чињеница недостаје</a:t>
            </a:r>
          </a:p>
        </p:txBody>
      </p:sp>
      <p:sp>
        <p:nvSpPr>
          <p:cNvPr id="18" name="Rounded Rectangle 17">
            <a:extLst xmlns:a="http://schemas.openxmlformats.org/drawingml/2006/main">
              <a:ext uri="{FF2B5EF4-FFF2-40B4-BE49-F238E27FC236}">
                <a16:creationId xmlns:a16="http://schemas.microsoft.com/office/drawing/2014/main" id="{26B1F840-5EB2-4F39-8032-7030BF971397}"/>
              </a:ext>
            </a:extLst>
          </p:cNvPr>
          <p:cNvSpPr>
            <a:spLocks xmlns:a="http://schemas.openxmlformats.org/drawingml/2006/main" noGrp="1"/>
          </p:cNvSpPr>
          <p:nvPr/>
        </p:nvSpPr>
        <p:spPr>
          <a:xfrm xmlns:a="http://schemas.openxmlformats.org/drawingml/2006/main">
            <a:off x="8958263" y="2400300"/>
            <a:ext cx="2433638" cy="1257300"/>
          </a:xfrm>
          <a:prstGeom xmlns:a="http://schemas.openxmlformats.org/drawingml/2006/main" prst="roundRect">
            <a:avLst>
              <a:gd name="adj" fmla="val 10606"/>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angle 18">
            <a:extLst xmlns:a="http://schemas.openxmlformats.org/drawingml/2006/main">
              <a:ext uri="{FF2B5EF4-FFF2-40B4-BE49-F238E27FC236}">
                <a16:creationId xmlns:a16="http://schemas.microsoft.com/office/drawing/2014/main" id="{F2D33395-F6BC-45DD-BAFF-5274ADFED447}"/>
              </a:ext>
            </a:extLst>
          </p:cNvPr>
          <p:cNvSpPr>
            <a:spLocks xmlns:a="http://schemas.openxmlformats.org/drawingml/2006/main" noGrp="1"/>
          </p:cNvSpPr>
          <p:nvPr/>
        </p:nvSpPr>
        <p:spPr>
          <a:xfrm xmlns:a="http://schemas.openxmlformats.org/drawingml/2006/main">
            <a:off x="9101138" y="2514600"/>
            <a:ext cx="21478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xmlns:a="http://schemas.openxmlformats.org/drawingml/2006/main">
              <a:ext uri="{FF2B5EF4-FFF2-40B4-BE49-F238E27FC236}">
                <a16:creationId xmlns:a16="http://schemas.microsoft.com/office/drawing/2014/main" id="{2E47C1ED-F9CD-4836-A43A-0925521D2E59}"/>
              </a:ext>
            </a:extLst>
          </p:cNvPr>
          <p:cNvSpPr>
            <a:spLocks xmlns:a="http://schemas.openxmlformats.org/drawingml/2006/main" noGrp="1"/>
          </p:cNvSpPr>
          <p:nvPr/>
        </p:nvSpPr>
        <p:spPr>
          <a:xfrm xmlns:a="http://schemas.openxmlformats.org/drawingml/2006/main">
            <a:off x="9091613" y="2800350"/>
            <a:ext cx="21669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Ревизиони запис</a:t>
            </a:r>
          </a:p>
        </p:txBody>
      </p:sp>
      <p:sp>
        <p:nvSpPr>
          <p:cNvPr id="21" name="Rectangle 20">
            <a:extLst xmlns:a="http://schemas.openxmlformats.org/drawingml/2006/main">
              <a:ext uri="{FF2B5EF4-FFF2-40B4-BE49-F238E27FC236}">
                <a16:creationId xmlns:a16="http://schemas.microsoft.com/office/drawing/2014/main" id="{AF124482-3294-4A48-AA2C-476E615D9C5F}"/>
              </a:ext>
            </a:extLst>
          </p:cNvPr>
          <p:cNvSpPr>
            <a:spLocks xmlns:a="http://schemas.openxmlformats.org/drawingml/2006/main" noGrp="1"/>
          </p:cNvSpPr>
          <p:nvPr/>
        </p:nvSpPr>
        <p:spPr>
          <a:xfrm xmlns:a="http://schemas.openxmlformats.org/drawingml/2006/main">
            <a:off x="9101138" y="3190875"/>
            <a:ext cx="21478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исход и разлог</a:t>
            </a:r>
          </a:p>
        </p:txBody>
      </p:sp>
      <p:cxnSp>
        <p:nvCxnSpPr>
          <p:cNvPr id="221" name="Straight Arrow Connector 124"/>
          <p:cNvCxnSpPr>
            <a:stCxn xmlns:a="http://schemas.openxmlformats.org/drawingml/2006/main" id="6" idx="3"/>
            <a:endCxn xmlns:a="http://schemas.openxmlformats.org/drawingml/2006/main" id="10" idx="1"/>
          </p:cNvCxnSpPr>
          <p:nvPr/>
        </p:nvCxnSpPr>
        <p:spPr>
          <a:xfrm xmlns:a="http://schemas.openxmlformats.org/drawingml/2006/main">
            <a:off x="3233738" y="302895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2" name="Straight Arrow Connector 125"/>
          <p:cNvCxnSpPr>
            <a:stCxn xmlns:a="http://schemas.openxmlformats.org/drawingml/2006/main" id="10" idx="3"/>
            <a:endCxn xmlns:a="http://schemas.openxmlformats.org/drawingml/2006/main" id="14" idx="1"/>
          </p:cNvCxnSpPr>
          <p:nvPr/>
        </p:nvCxnSpPr>
        <p:spPr>
          <a:xfrm xmlns:a="http://schemas.openxmlformats.org/drawingml/2006/main">
            <a:off x="5953126" y="3028950"/>
            <a:ext cx="285749"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3" name="Straight Arrow Connector 126"/>
          <p:cNvCxnSpPr>
            <a:stCxn xmlns:a="http://schemas.openxmlformats.org/drawingml/2006/main" id="14" idx="3"/>
            <a:endCxn xmlns:a="http://schemas.openxmlformats.org/drawingml/2006/main" id="18" idx="1"/>
          </p:cNvCxnSpPr>
          <p:nvPr/>
        </p:nvCxnSpPr>
        <p:spPr>
          <a:xfrm xmlns:a="http://schemas.openxmlformats.org/drawingml/2006/main">
            <a:off x="8672513" y="302895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sp>
        <p:nvSpPr>
          <p:cNvPr id="25" name="Rounded Rectangle 24">
            <a:extLst xmlns:a="http://schemas.openxmlformats.org/drawingml/2006/main">
              <a:ext uri="{FF2B5EF4-FFF2-40B4-BE49-F238E27FC236}">
                <a16:creationId xmlns:a16="http://schemas.microsoft.com/office/drawing/2014/main" id="{20DA08E7-4A08-4FE8-BC90-71C85C619D90}"/>
              </a:ext>
            </a:extLst>
          </p:cNvPr>
          <p:cNvSpPr>
            <a:spLocks xmlns:a="http://schemas.openxmlformats.org/drawingml/2006/main" noGrp="1"/>
          </p:cNvSpPr>
          <p:nvPr/>
        </p:nvSpPr>
        <p:spPr>
          <a:xfrm xmlns:a="http://schemas.openxmlformats.org/drawingml/2006/main">
            <a:off x="1619250" y="4305300"/>
            <a:ext cx="8953500" cy="914400"/>
          </a:xfrm>
          <a:prstGeom xmlns:a="http://schemas.openxmlformats.org/drawingml/2006/main" prst="roundRect">
            <a:avLst>
              <a:gd name="adj" fmla="val 13542"/>
            </a:avLst>
          </a:prstGeom>
          <a:solidFill xmlns:a="http://schemas.openxmlformats.org/drawingml/2006/main">
            <a:srgbClr val="FFF6E9"/>
          </a:solidFill>
          <a:ln xmlns:a="http://schemas.openxmlformats.org/drawingml/2006/main" w="9525">
            <a:solidFill>
              <a:srgbClr val="D7DEE8"/>
            </a:solidFill>
            <a:prstDash val="solid"/>
          </a:ln>
        </p:spPr>
      </p:sp>
      <p:sp>
        <p:nvSpPr>
          <p:cNvPr id="26" name="Rounded Rectangle 25">
            <a:extLst xmlns:a="http://schemas.openxmlformats.org/drawingml/2006/main">
              <a:ext uri="{FF2B5EF4-FFF2-40B4-BE49-F238E27FC236}">
                <a16:creationId xmlns:a16="http://schemas.microsoft.com/office/drawing/2014/main" id="{DB9E5956-FB91-49A8-BB15-C891F9E4C952}"/>
              </a:ext>
            </a:extLst>
          </p:cNvPr>
          <p:cNvSpPr>
            <a:spLocks xmlns:a="http://schemas.openxmlformats.org/drawingml/2006/main" noGrp="1"/>
          </p:cNvSpPr>
          <p:nvPr/>
        </p:nvSpPr>
        <p:spPr>
          <a:xfrm xmlns:a="http://schemas.openxmlformats.org/drawingml/2006/main">
            <a:off x="1752600" y="4448175"/>
            <a:ext cx="57150" cy="62865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6" name="Rounded Rectangle 75">
            <a:extLst xmlns:a="http://schemas.openxmlformats.org/drawingml/2006/main">
              <a:ext uri="{FF2B5EF4-FFF2-40B4-BE49-F238E27FC236}">
                <a16:creationId xmlns:a16="http://schemas.microsoft.com/office/drawing/2014/main" id="{F031271E-579E-40A3-9183-6A2374C9816A}"/>
              </a:ext>
            </a:extLst>
          </p:cNvPr>
          <p:cNvSpPr>
            <a:spLocks xmlns:a="http://schemas.openxmlformats.org/drawingml/2006/main" noGrp="1"/>
          </p:cNvSpPr>
          <p:nvPr/>
        </p:nvSpPr>
        <p:spPr>
          <a:xfrm xmlns:a="http://schemas.openxmlformats.org/drawingml/2006/main">
            <a:off x="914400" y="4267200"/>
            <a:ext cx="10363200" cy="990600"/>
          </a:xfrm>
          <a:prstGeom xmlns:a="http://schemas.openxmlformats.org/drawingml/2006/main" prst="roundRect">
            <a:avLst>
              <a:gd name="adj" fmla="val 13462"/>
            </a:avLst>
          </a:prstGeom>
          <a:solidFill xmlns:a="http://schemas.openxmlformats.org/drawingml/2006/main">
            <a:srgbClr val="F7EFF1"/>
          </a:solidFill>
          <a:ln xmlns:a="http://schemas.openxmlformats.org/drawingml/2006/main" w="8573">
            <a:solidFill>
              <a:srgbClr val="DBC7CC"/>
            </a:solidFill>
            <a:prstDash val="solid"/>
          </a:ln>
        </p:spPr>
      </p:sp>
      <p:sp>
        <p:nvSpPr>
          <p:cNvPr id="77" name="Rounded Rectangle 76">
            <a:extLst xmlns:a="http://schemas.openxmlformats.org/drawingml/2006/main">
              <a:ext uri="{FF2B5EF4-FFF2-40B4-BE49-F238E27FC236}">
                <a16:creationId xmlns:a16="http://schemas.microsoft.com/office/drawing/2014/main" id="{7007D06A-73C9-476B-8E2A-1F788DA76747}"/>
              </a:ext>
            </a:extLst>
          </p:cNvPr>
          <p:cNvSpPr>
            <a:spLocks xmlns:a="http://schemas.openxmlformats.org/drawingml/2006/main" noGrp="1"/>
          </p:cNvSpPr>
          <p:nvPr/>
        </p:nvSpPr>
        <p:spPr>
          <a:xfrm xmlns:a="http://schemas.openxmlformats.org/drawingml/2006/main">
            <a:off x="1085850" y="4419600"/>
            <a:ext cx="57150" cy="6858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8" name="Rectangle 77">
            <a:extLst xmlns:a="http://schemas.openxmlformats.org/drawingml/2006/main">
              <a:ext uri="{FF2B5EF4-FFF2-40B4-BE49-F238E27FC236}">
                <a16:creationId xmlns:a16="http://schemas.microsoft.com/office/drawing/2014/main" id="{4CE7946B-C68B-446C-BCCF-9E97A131ACF3}"/>
              </a:ext>
            </a:extLst>
          </p:cNvPr>
          <p:cNvSpPr>
            <a:spLocks xmlns:a="http://schemas.openxmlformats.org/drawingml/2006/main" noGrp="1"/>
          </p:cNvSpPr>
          <p:nvPr/>
        </p:nvSpPr>
        <p:spPr>
          <a:xfrm xmlns:a="http://schemas.openxmlformats.org/drawingml/2006/main">
            <a:off x="1333500" y="437197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ПРИМЕНА НА ПРОЈЕКАТ</a:t>
            </a:r>
          </a:p>
        </p:txBody>
      </p:sp>
      <p:sp>
        <p:nvSpPr>
          <p:cNvPr id="79" name="Rectangle 78">
            <a:extLst xmlns:a="http://schemas.openxmlformats.org/drawingml/2006/main">
              <a:ext uri="{FF2B5EF4-FFF2-40B4-BE49-F238E27FC236}">
                <a16:creationId xmlns:a16="http://schemas.microsoft.com/office/drawing/2014/main" id="{C70FA961-CAC9-42A8-917D-D90F66CD17F4}"/>
              </a:ext>
            </a:extLst>
          </p:cNvPr>
          <p:cNvSpPr>
            <a:spLocks xmlns:a="http://schemas.openxmlformats.org/drawingml/2006/main" noGrp="1"/>
          </p:cNvSpPr>
          <p:nvPr/>
        </p:nvSpPr>
        <p:spPr>
          <a:xfrm xmlns:a="http://schemas.openxmlformats.org/drawingml/2006/main">
            <a:off x="1333500" y="4600575"/>
            <a:ext cx="963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Пројектна примена теме „Детекција, инцидент и рањивости“ обухвата једну серверску одлуку, тест одбијања и доказ који други члан тима може да понови.</a:t>
            </a:r>
          </a:p>
        </p:txBody>
      </p:sp>
    </p:spTree>
    <p:extLst>
      <p:ext uri="{BB962C8B-B14F-4D97-AF65-F5344CB8AC3E}">
        <p14:creationId xmlns:p14="http://schemas.microsoft.com/office/powerpoint/2010/main" val="6700899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A3906C58-12AF-4538-8C43-8E584611B6A7}"/>
              </a:ext>
            </a:extLst>
          </p:cNvPr>
          <p:cNvSpPr>
            <a:spLocks xmlns:a="http://schemas.openxmlformats.org/drawingml/2006/main" noGrp="1"/>
          </p:cNvSpPr>
          <p:nvPr/>
        </p:nvSpPr>
        <p:spPr>
          <a:xfrm xmlns:a="http://schemas.openxmlformats.org/drawingml/2006/main">
            <a:off x="495300" y="238125"/>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57184"/>
                </a:solidFill>
                <a:latin typeface="Aptos"/>
                <a:ea typeface="Aptos"/>
                <a:cs typeface="Aptos"/>
              </a:defRPr>
            </a:pPr>
            <a:r>
              <a:rPr sz="825" b="0">
                <a:solidFill>
                  <a:srgbClr val="5E6B7D"/>
                </a:solidFill>
                <a:latin typeface="Aptos"/>
                <a:ea typeface="Aptos"/>
                <a:cs typeface="Aptos"/>
              </a:rPr>
              <a:t>Основе информационе безбедности</a:t>
            </a:r>
          </a:p>
        </p:txBody>
      </p:sp>
      <p:sp>
        <p:nvSpPr>
          <p:cNvPr id="2" name="Straight Connector 1">
            <a:extLst xmlns:a="http://schemas.openxmlformats.org/drawingml/2006/main">
              <a:ext uri="{FF2B5EF4-FFF2-40B4-BE49-F238E27FC236}">
                <a16:creationId xmlns:a16="http://schemas.microsoft.com/office/drawing/2014/main" id="{DBAF683B-47DA-4F64-8CE9-BA2311B9E64D}"/>
              </a:ext>
            </a:extLst>
          </p:cNvPr>
          <p:cNvSpPr>
            <a:spLocks xmlns:a="http://schemas.openxmlformats.org/drawingml/2006/main" noGrp="1"/>
          </p:cNvSpPr>
          <p:nvPr/>
        </p:nvSpPr>
        <p:spPr>
          <a:xfrm xmlns:a="http://schemas.openxmlformats.org/drawingml/2006/main">
            <a:off x="495300" y="476250"/>
            <a:ext cx="11201400" cy="9525"/>
          </a:xfrm>
          <a:prstGeom xmlns:a="http://schemas.openxmlformats.org/drawingml/2006/main" prst="line">
            <a:avLst/>
          </a:prstGeom>
          <a:solidFill xmlns:a="http://schemas.openxmlformats.org/drawingml/2006/main">
            <a:srgbClr val="8D5560"/>
          </a:solidFill>
          <a:ln xmlns:a="http://schemas.openxmlformats.org/drawingml/2006/main" w="7144">
            <a:solidFill>
              <a:srgbClr val="8D5560"/>
            </a:solidFill>
            <a:prstDash val="solid"/>
          </a:ln>
        </p:spPr>
      </p:sp>
      <p:sp>
        <p:nvSpPr>
          <p:cNvPr id="3" name="Rectangle 2">
            <a:extLst xmlns:a="http://schemas.openxmlformats.org/drawingml/2006/main">
              <a:ext uri="{FF2B5EF4-FFF2-40B4-BE49-F238E27FC236}">
                <a16:creationId xmlns:a16="http://schemas.microsoft.com/office/drawing/2014/main" id="{366FD9DA-2895-4284-AEE9-B59479BCADC2}"/>
              </a:ext>
            </a:extLst>
          </p:cNvPr>
          <p:cNvSpPr>
            <a:spLocks xmlns:a="http://schemas.openxmlformats.org/drawingml/2006/main" noGrp="1"/>
          </p:cNvSpPr>
          <p:nvPr/>
        </p:nvSpPr>
        <p:spPr>
          <a:xfrm xmlns:a="http://schemas.openxmlformats.org/drawingml/2006/main">
            <a:off x="11372850" y="64770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102000"/>
              </a:lnSpc>
              <a:buNone/>
              <a:defRPr sz="975" b="0">
                <a:solidFill>
                  <a:srgbClr val="1A202C"/>
                </a:solidFill>
                <a:latin typeface="Aptos"/>
                <a:ea typeface="Aptos"/>
                <a:cs typeface="Aptos"/>
              </a:defRPr>
            </a:pPr>
            <a:r>
              <a:rPr sz="975" b="0">
                <a:solidFill>
                  <a:srgbClr val="1A202C"/>
                </a:solidFill>
                <a:latin typeface="Aptos"/>
                <a:ea typeface="Aptos"/>
                <a:cs typeface="Aptos"/>
              </a:rPr>
              <a:t>20</a:t>
            </a:r>
          </a:p>
        </p:txBody>
      </p:sp>
      <p:sp>
        <p:nvSpPr>
          <p:cNvPr id="4" name="Rectangle 3">
            <a:extLst xmlns:a="http://schemas.openxmlformats.org/drawingml/2006/main">
              <a:ext uri="{FF2B5EF4-FFF2-40B4-BE49-F238E27FC236}">
                <a16:creationId xmlns:a16="http://schemas.microsoft.com/office/drawing/2014/main" id="{34145FA0-0FEB-475E-988A-65C0D43E096C}"/>
              </a:ext>
            </a:extLst>
          </p:cNvPr>
          <p:cNvSpPr>
            <a:spLocks xmlns:a="http://schemas.openxmlformats.org/drawingml/2006/main" noGrp="1"/>
          </p:cNvSpPr>
          <p:nvPr/>
        </p:nvSpPr>
        <p:spPr>
          <a:xfrm xmlns:a="http://schemas.openxmlformats.org/drawingml/2006/main">
            <a:off x="685800" y="7810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2000"/>
              </a:lnSpc>
              <a:buNone/>
              <a:defRPr sz="2550" b="1">
                <a:solidFill>
                  <a:srgbClr val="1A202C"/>
                </a:solidFill>
                <a:latin typeface="Aptos Display"/>
                <a:ea typeface="Aptos Display"/>
                <a:cs typeface="Aptos Display"/>
              </a:defRPr>
            </a:pPr>
            <a:r>
              <a:rPr sz="2550" b="1">
                <a:solidFill>
                  <a:srgbClr val="1A202C"/>
                </a:solidFill>
                <a:latin typeface="Aptos Display"/>
                <a:ea typeface="Aptos Display"/>
                <a:cs typeface="Aptos Display"/>
              </a:rPr>
              <a:t>Провера разумевања</a:t>
            </a:r>
          </a:p>
        </p:txBody>
      </p:sp>
      <p:sp>
        <p:nvSpPr>
          <p:cNvPr id="5" name="Rectangle 4">
            <a:extLst xmlns:a="http://schemas.openxmlformats.org/drawingml/2006/main">
              <a:ext uri="{FF2B5EF4-FFF2-40B4-BE49-F238E27FC236}">
                <a16:creationId xmlns:a16="http://schemas.microsoft.com/office/drawing/2014/main" id="{E8E1E906-82B8-4740-B961-8CCA8FECAAAD}"/>
              </a:ext>
            </a:extLst>
          </p:cNvPr>
          <p:cNvSpPr>
            <a:spLocks xmlns:a="http://schemas.openxmlformats.org/drawingml/2006/main" noGrp="1"/>
          </p:cNvSpPr>
          <p:nvPr/>
        </p:nvSpPr>
        <p:spPr>
          <a:xfrm xmlns:a="http://schemas.openxmlformats.org/drawingml/2006/main">
            <a:off x="685800" y="142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0">
                <a:solidFill>
                  <a:srgbClr val="657184"/>
                </a:solidFill>
                <a:latin typeface="Aptos"/>
                <a:ea typeface="Aptos"/>
                <a:cs typeface="Aptos"/>
              </a:defRPr>
            </a:pPr>
            <a:r>
              <a:rPr sz="1575" b="0">
                <a:solidFill>
                  <a:srgbClr val="657184"/>
                </a:solidFill>
                <a:latin typeface="Aptos"/>
                <a:ea typeface="Aptos"/>
                <a:cs typeface="Aptos"/>
              </a:rPr>
              <a:t>Разумевање теме подразумева објашњење одлуке и доказа независно од конкретног технолошког оквира.</a:t>
            </a:r>
          </a:p>
        </p:txBody>
      </p:sp>
      <p:sp>
        <p:nvSpPr>
          <p:cNvPr id="6" name="Rounded Rectangle 5">
            <a:extLst xmlns:a="http://schemas.openxmlformats.org/drawingml/2006/main">
              <a:ext uri="{FF2B5EF4-FFF2-40B4-BE49-F238E27FC236}">
                <a16:creationId xmlns:a16="http://schemas.microsoft.com/office/drawing/2014/main" id="{40C216CA-5BED-41B8-8E03-7DAB910B5384}"/>
              </a:ext>
            </a:extLst>
          </p:cNvPr>
          <p:cNvSpPr>
            <a:spLocks xmlns:a="http://schemas.openxmlformats.org/drawingml/2006/main" noGrp="1"/>
          </p:cNvSpPr>
          <p:nvPr/>
        </p:nvSpPr>
        <p:spPr>
          <a:xfrm xmlns:a="http://schemas.openxmlformats.org/drawingml/2006/main">
            <a:off x="723900" y="2286000"/>
            <a:ext cx="2471738" cy="1257300"/>
          </a:xfrm>
          <a:prstGeom xmlns:a="http://schemas.openxmlformats.org/drawingml/2006/main" prst="roundRect">
            <a:avLst>
              <a:gd name="adj" fmla="val 10606"/>
            </a:avLst>
          </a:prstGeom>
          <a:solidFill xmlns:a="http://schemas.openxmlformats.org/drawingml/2006/main">
            <a:srgbClr val="F4F6F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angle 6">
            <a:extLst xmlns:a="http://schemas.openxmlformats.org/drawingml/2006/main">
              <a:ext uri="{FF2B5EF4-FFF2-40B4-BE49-F238E27FC236}">
                <a16:creationId xmlns:a16="http://schemas.microsoft.com/office/drawing/2014/main" id="{C8683B2C-3AA5-475E-B2DE-86A6134E3810}"/>
              </a:ext>
            </a:extLst>
          </p:cNvPr>
          <p:cNvSpPr>
            <a:spLocks xmlns:a="http://schemas.openxmlformats.org/drawingml/2006/main" noGrp="1"/>
          </p:cNvSpPr>
          <p:nvPr/>
        </p:nvSpPr>
        <p:spPr>
          <a:xfrm xmlns:a="http://schemas.openxmlformats.org/drawingml/2006/main">
            <a:off x="866775" y="240030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748092"/>
                </a:solidFill>
                <a:latin typeface="Aptos"/>
                <a:ea typeface="Aptos"/>
                <a:cs typeface="Aptos"/>
              </a:defRPr>
            </a:pPr>
            <a:r>
              <a:rPr sz="1200" b="1">
                <a:solidFill>
                  <a:srgbClr val="748092"/>
                </a:solidFill>
                <a:latin typeface="Aptos"/>
                <a:ea typeface="Aptos"/>
                <a:cs typeface="Aptos"/>
              </a:rPr>
              <a:t>01</a:t>
            </a:r>
          </a:p>
        </p:txBody>
      </p:sp>
      <p:sp>
        <p:nvSpPr>
          <p:cNvPr id="8" name="Rectangle 7">
            <a:extLst xmlns:a="http://schemas.openxmlformats.org/drawingml/2006/main">
              <a:ext uri="{FF2B5EF4-FFF2-40B4-BE49-F238E27FC236}">
                <a16:creationId xmlns:a16="http://schemas.microsoft.com/office/drawing/2014/main" id="{351B38C8-4B0D-4E62-961A-37D1027752F6}"/>
              </a:ext>
            </a:extLst>
          </p:cNvPr>
          <p:cNvSpPr>
            <a:spLocks xmlns:a="http://schemas.openxmlformats.org/drawingml/2006/main" noGrp="1"/>
          </p:cNvSpPr>
          <p:nvPr/>
        </p:nvSpPr>
        <p:spPr>
          <a:xfrm xmlns:a="http://schemas.openxmlformats.org/drawingml/2006/main">
            <a:off x="857250" y="268605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Сигнал</a:t>
            </a:r>
          </a:p>
        </p:txBody>
      </p:sp>
      <p:sp>
        <p:nvSpPr>
          <p:cNvPr id="9" name="Rectangle 8">
            <a:extLst xmlns:a="http://schemas.openxmlformats.org/drawingml/2006/main">
              <a:ext uri="{FF2B5EF4-FFF2-40B4-BE49-F238E27FC236}">
                <a16:creationId xmlns:a16="http://schemas.microsoft.com/office/drawing/2014/main" id="{925D4237-5726-45BE-9465-B4FE616A364D}"/>
              </a:ext>
            </a:extLst>
          </p:cNvPr>
          <p:cNvSpPr>
            <a:spLocks xmlns:a="http://schemas.openxmlformats.org/drawingml/2006/main" noGrp="1"/>
          </p:cNvSpPr>
          <p:nvPr/>
        </p:nvSpPr>
        <p:spPr>
          <a:xfrm xmlns:a="http://schemas.openxmlformats.org/drawingml/2006/main">
            <a:off x="866775" y="307657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уочено одступање</a:t>
            </a:r>
          </a:p>
        </p:txBody>
      </p:sp>
      <p:sp>
        <p:nvSpPr>
          <p:cNvPr id="10" name="Rounded Rectangle 9">
            <a:extLst xmlns:a="http://schemas.openxmlformats.org/drawingml/2006/main">
              <a:ext uri="{FF2B5EF4-FFF2-40B4-BE49-F238E27FC236}">
                <a16:creationId xmlns:a16="http://schemas.microsoft.com/office/drawing/2014/main" id="{EDC6FDE3-416B-4C0A-B484-B9D350928BAF}"/>
              </a:ext>
            </a:extLst>
          </p:cNvPr>
          <p:cNvSpPr>
            <a:spLocks xmlns:a="http://schemas.openxmlformats.org/drawingml/2006/main" noGrp="1"/>
          </p:cNvSpPr>
          <p:nvPr/>
        </p:nvSpPr>
        <p:spPr>
          <a:xfrm xmlns:a="http://schemas.openxmlformats.org/drawingml/2006/main">
            <a:off x="3481388" y="2286000"/>
            <a:ext cx="2471738" cy="1257300"/>
          </a:xfrm>
          <a:prstGeom xmlns:a="http://schemas.openxmlformats.org/drawingml/2006/main" prst="roundRect">
            <a:avLst>
              <a:gd name="adj" fmla="val 10606"/>
            </a:avLst>
          </a:prstGeom>
          <a:solidFill xmlns:a="http://schemas.openxmlformats.org/drawingml/2006/main">
            <a:srgbClr val="FFF6E9"/>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angle 10">
            <a:extLst xmlns:a="http://schemas.openxmlformats.org/drawingml/2006/main">
              <a:ext uri="{FF2B5EF4-FFF2-40B4-BE49-F238E27FC236}">
                <a16:creationId xmlns:a16="http://schemas.microsoft.com/office/drawing/2014/main" id="{9F5735AE-0D8C-40EF-BB70-D944F9E7C8D6}"/>
              </a:ext>
            </a:extLst>
          </p:cNvPr>
          <p:cNvSpPr>
            <a:spLocks xmlns:a="http://schemas.openxmlformats.org/drawingml/2006/main" noGrp="1"/>
          </p:cNvSpPr>
          <p:nvPr/>
        </p:nvSpPr>
        <p:spPr>
          <a:xfrm xmlns:a="http://schemas.openxmlformats.org/drawingml/2006/main">
            <a:off x="3624263" y="240030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B86A09"/>
                </a:solidFill>
                <a:latin typeface="Aptos"/>
                <a:ea typeface="Aptos"/>
                <a:cs typeface="Aptos"/>
              </a:defRPr>
            </a:pPr>
            <a:r>
              <a:rPr sz="1200" b="1">
                <a:solidFill>
                  <a:srgbClr val="B86A09"/>
                </a:solidFill>
                <a:latin typeface="Aptos"/>
                <a:ea typeface="Aptos"/>
                <a:cs typeface="Aptos"/>
              </a:rPr>
              <a:t>02</a:t>
            </a:r>
          </a:p>
        </p:txBody>
      </p:sp>
      <p:sp>
        <p:nvSpPr>
          <p:cNvPr id="12" name="Rectangle 11">
            <a:extLst xmlns:a="http://schemas.openxmlformats.org/drawingml/2006/main">
              <a:ext uri="{FF2B5EF4-FFF2-40B4-BE49-F238E27FC236}">
                <a16:creationId xmlns:a16="http://schemas.microsoft.com/office/drawing/2014/main" id="{E06A800F-5372-4B44-9AE0-0A66C18A1E66}"/>
              </a:ext>
            </a:extLst>
          </p:cNvPr>
          <p:cNvSpPr>
            <a:spLocks xmlns:a="http://schemas.openxmlformats.org/drawingml/2006/main" noGrp="1"/>
          </p:cNvSpPr>
          <p:nvPr/>
        </p:nvSpPr>
        <p:spPr>
          <a:xfrm xmlns:a="http://schemas.openxmlformats.org/drawingml/2006/main">
            <a:off x="3614738" y="268605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Triage</a:t>
            </a:r>
          </a:p>
        </p:txBody>
      </p:sp>
      <p:sp>
        <p:nvSpPr>
          <p:cNvPr id="13" name="Rectangle 12">
            <a:extLst xmlns:a="http://schemas.openxmlformats.org/drawingml/2006/main">
              <a:ext uri="{FF2B5EF4-FFF2-40B4-BE49-F238E27FC236}">
                <a16:creationId xmlns:a16="http://schemas.microsoft.com/office/drawing/2014/main" id="{1F24FF87-0F9D-4B66-95B5-2FC0B5DECCF9}"/>
              </a:ext>
            </a:extLst>
          </p:cNvPr>
          <p:cNvSpPr>
            <a:spLocks xmlns:a="http://schemas.openxmlformats.org/drawingml/2006/main" noGrp="1"/>
          </p:cNvSpPr>
          <p:nvPr/>
        </p:nvSpPr>
        <p:spPr>
          <a:xfrm xmlns:a="http://schemas.openxmlformats.org/drawingml/2006/main">
            <a:off x="3624263" y="307657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провера контекста и утицаја</a:t>
            </a:r>
          </a:p>
        </p:txBody>
      </p:sp>
      <p:sp>
        <p:nvSpPr>
          <p:cNvPr id="14" name="Rounded Rectangle 13">
            <a:extLst xmlns:a="http://schemas.openxmlformats.org/drawingml/2006/main">
              <a:ext uri="{FF2B5EF4-FFF2-40B4-BE49-F238E27FC236}">
                <a16:creationId xmlns:a16="http://schemas.microsoft.com/office/drawing/2014/main" id="{F3258C95-169B-4EBF-8BA9-E5F8294E0897}"/>
              </a:ext>
            </a:extLst>
          </p:cNvPr>
          <p:cNvSpPr>
            <a:spLocks xmlns:a="http://schemas.openxmlformats.org/drawingml/2006/main" noGrp="1"/>
          </p:cNvSpPr>
          <p:nvPr/>
        </p:nvSpPr>
        <p:spPr>
          <a:xfrm xmlns:a="http://schemas.openxmlformats.org/drawingml/2006/main">
            <a:off x="6238875" y="2286000"/>
            <a:ext cx="2471738" cy="1257300"/>
          </a:xfrm>
          <a:prstGeom xmlns:a="http://schemas.openxmlformats.org/drawingml/2006/main" prst="roundRect">
            <a:avLst>
              <a:gd name="adj" fmla="val 10606"/>
            </a:avLst>
          </a:prstGeom>
          <a:solidFill xmlns:a="http://schemas.openxmlformats.org/drawingml/2006/main">
            <a:srgbClr val="FFF0F0"/>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angle 14">
            <a:extLst xmlns:a="http://schemas.openxmlformats.org/drawingml/2006/main">
              <a:ext uri="{FF2B5EF4-FFF2-40B4-BE49-F238E27FC236}">
                <a16:creationId xmlns:a16="http://schemas.microsoft.com/office/drawing/2014/main" id="{33696572-1110-4932-85EE-465EF599F6E6}"/>
              </a:ext>
            </a:extLst>
          </p:cNvPr>
          <p:cNvSpPr>
            <a:spLocks xmlns:a="http://schemas.openxmlformats.org/drawingml/2006/main" noGrp="1"/>
          </p:cNvSpPr>
          <p:nvPr/>
        </p:nvSpPr>
        <p:spPr>
          <a:xfrm xmlns:a="http://schemas.openxmlformats.org/drawingml/2006/main">
            <a:off x="6381750" y="240030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C34747"/>
                </a:solidFill>
                <a:latin typeface="Aptos"/>
                <a:ea typeface="Aptos"/>
                <a:cs typeface="Aptos"/>
              </a:defRPr>
            </a:pPr>
            <a:r>
              <a:rPr sz="1200" b="1">
                <a:solidFill>
                  <a:srgbClr val="C34747"/>
                </a:solidFill>
                <a:latin typeface="Aptos"/>
                <a:ea typeface="Aptos"/>
                <a:cs typeface="Aptos"/>
              </a:rPr>
              <a:t>03</a:t>
            </a:r>
          </a:p>
        </p:txBody>
      </p:sp>
      <p:sp>
        <p:nvSpPr>
          <p:cNvPr id="16" name="Rectangle 15">
            <a:extLst xmlns:a="http://schemas.openxmlformats.org/drawingml/2006/main">
              <a:ext uri="{FF2B5EF4-FFF2-40B4-BE49-F238E27FC236}">
                <a16:creationId xmlns:a16="http://schemas.microsoft.com/office/drawing/2014/main" id="{E57F965E-155D-4A09-8167-E4350D9B4F08}"/>
              </a:ext>
            </a:extLst>
          </p:cNvPr>
          <p:cNvSpPr>
            <a:spLocks xmlns:a="http://schemas.openxmlformats.org/drawingml/2006/main" noGrp="1"/>
          </p:cNvSpPr>
          <p:nvPr/>
        </p:nvSpPr>
        <p:spPr>
          <a:xfrm xmlns:a="http://schemas.openxmlformats.org/drawingml/2006/main">
            <a:off x="6372225" y="268605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Инцидент</a:t>
            </a:r>
          </a:p>
        </p:txBody>
      </p:sp>
      <p:sp>
        <p:nvSpPr>
          <p:cNvPr id="17" name="Rectangle 16">
            <a:extLst xmlns:a="http://schemas.openxmlformats.org/drawingml/2006/main">
              <a:ext uri="{FF2B5EF4-FFF2-40B4-BE49-F238E27FC236}">
                <a16:creationId xmlns:a16="http://schemas.microsoft.com/office/drawing/2014/main" id="{C97A3AC0-87ED-4746-B7FB-336396B1612E}"/>
              </a:ext>
            </a:extLst>
          </p:cNvPr>
          <p:cNvSpPr>
            <a:spLocks xmlns:a="http://schemas.openxmlformats.org/drawingml/2006/main" noGrp="1"/>
          </p:cNvSpPr>
          <p:nvPr/>
        </p:nvSpPr>
        <p:spPr>
          <a:xfrm xmlns:a="http://schemas.openxmlformats.org/drawingml/2006/main">
            <a:off x="6381750" y="307657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координисана реакција</a:t>
            </a:r>
          </a:p>
        </p:txBody>
      </p:sp>
      <p:sp>
        <p:nvSpPr>
          <p:cNvPr id="18" name="Rounded Rectangle 17">
            <a:extLst xmlns:a="http://schemas.openxmlformats.org/drawingml/2006/main">
              <a:ext uri="{FF2B5EF4-FFF2-40B4-BE49-F238E27FC236}">
                <a16:creationId xmlns:a16="http://schemas.microsoft.com/office/drawing/2014/main" id="{21D7D0CF-BBFA-4B33-AB20-C0605C01AB38}"/>
              </a:ext>
            </a:extLst>
          </p:cNvPr>
          <p:cNvSpPr>
            <a:spLocks xmlns:a="http://schemas.openxmlformats.org/drawingml/2006/main" noGrp="1"/>
          </p:cNvSpPr>
          <p:nvPr/>
        </p:nvSpPr>
        <p:spPr>
          <a:xfrm xmlns:a="http://schemas.openxmlformats.org/drawingml/2006/main">
            <a:off x="8996363" y="2286000"/>
            <a:ext cx="2471738" cy="1257300"/>
          </a:xfrm>
          <a:prstGeom xmlns:a="http://schemas.openxmlformats.org/drawingml/2006/main" prst="roundRect">
            <a:avLst>
              <a:gd name="adj" fmla="val 10606"/>
            </a:avLst>
          </a:prstGeom>
          <a:solidFill xmlns:a="http://schemas.openxmlformats.org/drawingml/2006/main">
            <a:srgbClr val="EDF8F2"/>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angle 18">
            <a:extLst xmlns:a="http://schemas.openxmlformats.org/drawingml/2006/main">
              <a:ext uri="{FF2B5EF4-FFF2-40B4-BE49-F238E27FC236}">
                <a16:creationId xmlns:a16="http://schemas.microsoft.com/office/drawing/2014/main" id="{2FF44A43-27F5-4847-B1C6-511560615CE7}"/>
              </a:ext>
            </a:extLst>
          </p:cNvPr>
          <p:cNvSpPr>
            <a:spLocks xmlns:a="http://schemas.openxmlformats.org/drawingml/2006/main" noGrp="1"/>
          </p:cNvSpPr>
          <p:nvPr/>
        </p:nvSpPr>
        <p:spPr>
          <a:xfrm xmlns:a="http://schemas.openxmlformats.org/drawingml/2006/main">
            <a:off x="9139238" y="2400300"/>
            <a:ext cx="2185988"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18"/>
          </a:bodyPr>
          <a:lstStyle xmlns:a="http://schemas.openxmlformats.org/drawingml/2006/main"/>
          <a:p xmlns:a="http://schemas.openxmlformats.org/drawingml/2006/main">
            <a:pPr algn="l">
              <a:lnSpc>
                <a:spcPct val="102000"/>
              </a:lnSpc>
              <a:buNone/>
              <a:defRPr sz="975" b="1">
                <a:solidFill>
                  <a:srgbClr val="138A5B"/>
                </a:solidFill>
                <a:latin typeface="Aptos"/>
                <a:ea typeface="Aptos"/>
                <a:cs typeface="Aptos"/>
              </a:defRPr>
            </a:pPr>
            <a:r>
              <a:rPr sz="1200" b="1">
                <a:solidFill>
                  <a:srgbClr val="138A5B"/>
                </a:solidFill>
                <a:latin typeface="Aptos"/>
                <a:ea typeface="Aptos"/>
                <a:cs typeface="Aptos"/>
              </a:rPr>
              <a:t>04</a:t>
            </a:r>
          </a:p>
        </p:txBody>
      </p:sp>
      <p:sp>
        <p:nvSpPr>
          <p:cNvPr id="20" name="Rectangle 19">
            <a:extLst xmlns:a="http://schemas.openxmlformats.org/drawingml/2006/main">
              <a:ext uri="{FF2B5EF4-FFF2-40B4-BE49-F238E27FC236}">
                <a16:creationId xmlns:a16="http://schemas.microsoft.com/office/drawing/2014/main" id="{6B2B876D-1DFF-4ECF-8B59-CF8997FF6B69}"/>
              </a:ext>
            </a:extLst>
          </p:cNvPr>
          <p:cNvSpPr>
            <a:spLocks xmlns:a="http://schemas.openxmlformats.org/drawingml/2006/main" noGrp="1"/>
          </p:cNvSpPr>
          <p:nvPr/>
        </p:nvSpPr>
        <p:spPr>
          <a:xfrm xmlns:a="http://schemas.openxmlformats.org/drawingml/2006/main">
            <a:off x="9129713" y="2686050"/>
            <a:ext cx="220503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500" b="1">
                <a:solidFill>
                  <a:srgbClr val="1A202C"/>
                </a:solidFill>
                <a:latin typeface="Aptos"/>
                <a:ea typeface="Aptos"/>
                <a:cs typeface="Aptos"/>
              </a:defRPr>
            </a:pPr>
            <a:r>
              <a:rPr sz="1500" b="1">
                <a:solidFill>
                  <a:srgbClr val="1A202C"/>
                </a:solidFill>
                <a:latin typeface="Aptos"/>
                <a:ea typeface="Aptos"/>
                <a:cs typeface="Aptos"/>
              </a:rPr>
              <a:t>Учење</a:t>
            </a:r>
          </a:p>
        </p:txBody>
      </p:sp>
      <p:sp>
        <p:nvSpPr>
          <p:cNvPr id="21" name="Rectangle 20">
            <a:extLst xmlns:a="http://schemas.openxmlformats.org/drawingml/2006/main">
              <a:ext uri="{FF2B5EF4-FFF2-40B4-BE49-F238E27FC236}">
                <a16:creationId xmlns:a16="http://schemas.microsoft.com/office/drawing/2014/main" id="{A75022A4-06D8-4E30-A838-7555938B1A69}"/>
              </a:ext>
            </a:extLst>
          </p:cNvPr>
          <p:cNvSpPr>
            <a:spLocks xmlns:a="http://schemas.openxmlformats.org/drawingml/2006/main" noGrp="1"/>
          </p:cNvSpPr>
          <p:nvPr/>
        </p:nvSpPr>
        <p:spPr>
          <a:xfrm xmlns:a="http://schemas.openxmlformats.org/drawingml/2006/main">
            <a:off x="9139238" y="3076575"/>
            <a:ext cx="2185988"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102000"/>
              </a:lnSpc>
              <a:buNone/>
              <a:defRPr sz="1125" b="0">
                <a:solidFill>
                  <a:srgbClr val="657184"/>
                </a:solidFill>
                <a:latin typeface="Aptos"/>
                <a:ea typeface="Aptos"/>
                <a:cs typeface="Aptos"/>
              </a:defRPr>
            </a:pPr>
            <a:r>
              <a:rPr sz="1275" b="0">
                <a:solidFill>
                  <a:srgbClr val="657184"/>
                </a:solidFill>
                <a:latin typeface="Aptos"/>
                <a:ea typeface="Aptos"/>
                <a:cs typeface="Aptos"/>
              </a:rPr>
              <a:t>корекција и превенција</a:t>
            </a:r>
          </a:p>
        </p:txBody>
      </p:sp>
      <p:cxnSp>
        <p:nvCxnSpPr>
          <p:cNvPr id="223" name="Straight Arrow Connector 126"/>
          <p:cNvCxnSpPr>
            <a:stCxn xmlns:a="http://schemas.openxmlformats.org/drawingml/2006/main" id="6" idx="3"/>
            <a:endCxn xmlns:a="http://schemas.openxmlformats.org/drawingml/2006/main" id="10" idx="1"/>
          </p:cNvCxnSpPr>
          <p:nvPr/>
        </p:nvCxnSpPr>
        <p:spPr>
          <a:xfrm xmlns:a="http://schemas.openxmlformats.org/drawingml/2006/main">
            <a:off x="3195638" y="291465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4" name="Straight Arrow Connector 127"/>
          <p:cNvCxnSpPr>
            <a:stCxn xmlns:a="http://schemas.openxmlformats.org/drawingml/2006/main" id="10" idx="3"/>
            <a:endCxn xmlns:a="http://schemas.openxmlformats.org/drawingml/2006/main" id="14" idx="1"/>
          </p:cNvCxnSpPr>
          <p:nvPr/>
        </p:nvCxnSpPr>
        <p:spPr>
          <a:xfrm xmlns:a="http://schemas.openxmlformats.org/drawingml/2006/main">
            <a:off x="5953126" y="2914650"/>
            <a:ext cx="285749"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cxnSp>
        <p:nvCxnSpPr>
          <p:cNvPr id="225" name="Straight Arrow Connector 128"/>
          <p:cNvCxnSpPr>
            <a:stCxn xmlns:a="http://schemas.openxmlformats.org/drawingml/2006/main" id="14" idx="3"/>
            <a:endCxn xmlns:a="http://schemas.openxmlformats.org/drawingml/2006/main" id="18" idx="1"/>
          </p:cNvCxnSpPr>
          <p:nvPr/>
        </p:nvCxnSpPr>
        <p:spPr>
          <a:xfrm xmlns:a="http://schemas.openxmlformats.org/drawingml/2006/main">
            <a:off x="8710613" y="2914650"/>
            <a:ext cx="285750" cy="0"/>
          </a:xfrm>
          <a:prstGeom xmlns:a="http://schemas.openxmlformats.org/drawingml/2006/main" prst="straightConnector1">
            <a:avLst/>
          </a:prstGeom>
          <a:ln xmlns:a="http://schemas.openxmlformats.org/drawingml/2006/main" w="13335">
            <a:solidFill>
              <a:srgbClr val="748092"/>
            </a:solidFill>
            <a:prstDash val="solid"/>
            <a:tailEnd type="arrow" w="sm" len="sm"/>
          </a:ln>
        </p:spPr>
      </p:cxnSp>
      <p:sp>
        <p:nvSpPr>
          <p:cNvPr id="25" name="Rounded Rectangle 24">
            <a:extLst xmlns:a="http://schemas.openxmlformats.org/drawingml/2006/main">
              <a:ext uri="{FF2B5EF4-FFF2-40B4-BE49-F238E27FC236}">
                <a16:creationId xmlns:a16="http://schemas.microsoft.com/office/drawing/2014/main" id="{3BE4FEA1-7A0D-473B-B041-0F2A6EBE9285}"/>
              </a:ext>
            </a:extLst>
          </p:cNvPr>
          <p:cNvSpPr>
            <a:spLocks xmlns:a="http://schemas.openxmlformats.org/drawingml/2006/main" noGrp="1"/>
          </p:cNvSpPr>
          <p:nvPr/>
        </p:nvSpPr>
        <p:spPr>
          <a:xfrm xmlns:a="http://schemas.openxmlformats.org/drawingml/2006/main">
            <a:off x="1428750" y="4114800"/>
            <a:ext cx="9334500" cy="895350"/>
          </a:xfrm>
          <a:prstGeom xmlns:a="http://schemas.openxmlformats.org/drawingml/2006/main" prst="roundRect">
            <a:avLst>
              <a:gd name="adj" fmla="val 13830"/>
            </a:avLst>
          </a:prstGeom>
          <a:solidFill xmlns:a="http://schemas.openxmlformats.org/drawingml/2006/main">
            <a:srgbClr val="F7EFF1"/>
          </a:solidFill>
          <a:ln xmlns:a="http://schemas.openxmlformats.org/drawingml/2006/main" w="9525">
            <a:solidFill>
              <a:srgbClr val="D7DEE8"/>
            </a:solidFill>
            <a:prstDash val="solid"/>
          </a:ln>
        </p:spPr>
      </p:sp>
      <p:sp>
        <p:nvSpPr>
          <p:cNvPr id="26" name="Rounded Rectangle 25">
            <a:extLst xmlns:a="http://schemas.openxmlformats.org/drawingml/2006/main">
              <a:ext uri="{FF2B5EF4-FFF2-40B4-BE49-F238E27FC236}">
                <a16:creationId xmlns:a16="http://schemas.microsoft.com/office/drawing/2014/main" id="{D890B9AE-232D-44C8-9BD8-9C5BCC70CFED}"/>
              </a:ext>
            </a:extLst>
          </p:cNvPr>
          <p:cNvSpPr>
            <a:spLocks xmlns:a="http://schemas.openxmlformats.org/drawingml/2006/main" noGrp="1"/>
          </p:cNvSpPr>
          <p:nvPr/>
        </p:nvSpPr>
        <p:spPr>
          <a:xfrm xmlns:a="http://schemas.openxmlformats.org/drawingml/2006/main">
            <a:off x="1562100" y="4257675"/>
            <a:ext cx="57150" cy="609600"/>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7" name="Rounded Rectangle 76">
            <a:extLst xmlns:a="http://schemas.openxmlformats.org/drawingml/2006/main">
              <a:ext uri="{FF2B5EF4-FFF2-40B4-BE49-F238E27FC236}">
                <a16:creationId xmlns:a16="http://schemas.microsoft.com/office/drawing/2014/main" id="{0527BF81-8948-436B-B5CB-6E83F869B658}"/>
              </a:ext>
            </a:extLst>
          </p:cNvPr>
          <p:cNvSpPr>
            <a:spLocks xmlns:a="http://schemas.openxmlformats.org/drawingml/2006/main" noGrp="1"/>
          </p:cNvSpPr>
          <p:nvPr/>
        </p:nvSpPr>
        <p:spPr>
          <a:xfrm xmlns:a="http://schemas.openxmlformats.org/drawingml/2006/main">
            <a:off x="914400" y="4095750"/>
            <a:ext cx="10363200" cy="1257289"/>
          </a:xfrm>
          <a:prstGeom xmlns:a="http://schemas.openxmlformats.org/drawingml/2006/main" prst="roundRect">
            <a:avLst>
              <a:gd name="adj" fmla="val 8046"/>
            </a:avLst>
          </a:prstGeom>
          <a:solidFill xmlns:a="http://schemas.openxmlformats.org/drawingml/2006/main">
            <a:srgbClr val="F7EFF1"/>
          </a:solidFill>
          <a:ln xmlns:a="http://schemas.openxmlformats.org/drawingml/2006/main" w="8573">
            <a:solidFill>
              <a:srgbClr val="DBC7CC"/>
            </a:solidFill>
            <a:prstDash val="solid"/>
          </a:ln>
        </p:spPr>
      </p:sp>
      <p:sp>
        <p:nvSpPr>
          <p:cNvPr id="78" name="Rounded Rectangle 77">
            <a:extLst xmlns:a="http://schemas.openxmlformats.org/drawingml/2006/main">
              <a:ext uri="{FF2B5EF4-FFF2-40B4-BE49-F238E27FC236}">
                <a16:creationId xmlns:a16="http://schemas.microsoft.com/office/drawing/2014/main" id="{94977927-6A3C-41C0-A381-688660FA69C4}"/>
              </a:ext>
            </a:extLst>
          </p:cNvPr>
          <p:cNvSpPr>
            <a:spLocks xmlns:a="http://schemas.openxmlformats.org/drawingml/2006/main" noGrp="1"/>
          </p:cNvSpPr>
          <p:nvPr/>
        </p:nvSpPr>
        <p:spPr>
          <a:xfrm xmlns:a="http://schemas.openxmlformats.org/drawingml/2006/main">
            <a:off x="1085850" y="4248150"/>
            <a:ext cx="45719" cy="942975"/>
          </a:xfrm>
          <a:prstGeom xmlns:a="http://schemas.openxmlformats.org/drawingml/2006/main" prst="roundRect">
            <a:avLst>
              <a:gd name="adj" fmla="val 50000"/>
            </a:avLst>
          </a:prstGeom>
          <a:solidFill xmlns:a="http://schemas.openxmlformats.org/drawingml/2006/main">
            <a:srgbClr val="7A2636"/>
          </a:solidFill>
          <a:ln xmlns:a="http://schemas.openxmlformats.org/drawingml/2006/main" w="0">
            <a:noFill/>
          </a:ln>
        </p:spPr>
      </p:sp>
      <p:sp>
        <p:nvSpPr>
          <p:cNvPr id="79" name="Rectangle 78">
            <a:extLst xmlns:a="http://schemas.openxmlformats.org/drawingml/2006/main">
              <a:ext uri="{FF2B5EF4-FFF2-40B4-BE49-F238E27FC236}">
                <a16:creationId xmlns:a16="http://schemas.microsoft.com/office/drawing/2014/main" id="{6EC846B4-B0C3-4599-83D3-79C5F6EC2F91}"/>
              </a:ext>
            </a:extLst>
          </p:cNvPr>
          <p:cNvSpPr>
            <a:spLocks xmlns:a="http://schemas.openxmlformats.org/drawingml/2006/main" noGrp="1"/>
          </p:cNvSpPr>
          <p:nvPr/>
        </p:nvSpPr>
        <p:spPr>
          <a:xfrm xmlns:a="http://schemas.openxmlformats.org/drawingml/2006/main">
            <a:off x="1333500" y="4200525"/>
            <a:ext cx="9639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013" b="1">
                <a:solidFill>
                  <a:srgbClr val="2854D7"/>
                </a:solidFill>
                <a:latin typeface="Aptos"/>
                <a:ea typeface="Aptos"/>
                <a:cs typeface="Aptos"/>
              </a:defRPr>
            </a:pPr>
            <a:r>
              <a:rPr sz="1200" b="1">
                <a:solidFill>
                  <a:srgbClr val="7A2636"/>
                </a:solidFill>
                <a:latin typeface="Aptos"/>
                <a:ea typeface="Aptos"/>
                <a:cs typeface="Aptos"/>
              </a:rPr>
              <a:t>ПИТАЊЕ ЗА ПРОВЕРУ</a:t>
            </a:r>
          </a:p>
        </p:txBody>
      </p:sp>
      <p:sp>
        <p:nvSpPr>
          <p:cNvPr id="80" name="Rectangle 79">
            <a:extLst xmlns:a="http://schemas.openxmlformats.org/drawingml/2006/main">
              <a:ext uri="{FF2B5EF4-FFF2-40B4-BE49-F238E27FC236}">
                <a16:creationId xmlns:a16="http://schemas.microsoft.com/office/drawing/2014/main" id="{D1C57A71-879B-47A8-95AD-71983CBA8380}"/>
              </a:ext>
            </a:extLst>
          </p:cNvPr>
          <p:cNvSpPr>
            <a:spLocks xmlns:a="http://schemas.openxmlformats.org/drawingml/2006/main" noGrp="1"/>
          </p:cNvSpPr>
          <p:nvPr/>
        </p:nvSpPr>
        <p:spPr>
          <a:xfrm xmlns:a="http://schemas.openxmlformats.org/drawingml/2006/main">
            <a:off x="1333500" y="4429125"/>
            <a:ext cx="963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926"/>
          </a:bodyPr>
          <a:lstStyle xmlns:a="http://schemas.openxmlformats.org/drawingml/2006/main"/>
          <a:p xmlns:a="http://schemas.openxmlformats.org/drawingml/2006/main">
            <a:pPr>
              <a:buNone/>
              <a:defRPr sz="1388" b="1">
                <a:solidFill>
                  <a:srgbClr val="1B2432"/>
                </a:solidFill>
                <a:latin typeface="Aptos"/>
                <a:ea typeface="Aptos"/>
                <a:cs typeface="Aptos"/>
              </a:defRPr>
            </a:pPr>
            <a:r>
              <a:rPr sz="1388" b="1">
                <a:solidFill>
                  <a:srgbClr val="1B2432"/>
                </a:solidFill>
                <a:latin typeface="Aptos"/>
                <a:ea typeface="Aptos"/>
                <a:cs typeface="Aptos"/>
              </a:rPr>
              <a:t>Који догађај би у вашем систему био користан сигнал, али не и довољан доказ инцидента? Који контекст недостаје?</a:t>
            </a:r>
          </a:p>
        </p:txBody>
      </p:sp>
      <p:sp>
        <p:nvSpPr>
          <p:cNvPr id="81" name="Rectangle 80">
            <a:extLst xmlns:a="http://schemas.openxmlformats.org/drawingml/2006/main">
              <a:ext uri="{FF2B5EF4-FFF2-40B4-BE49-F238E27FC236}">
                <a16:creationId xmlns:a16="http://schemas.microsoft.com/office/drawing/2014/main" id="{71C74C65-E3B4-4421-8F2A-9D45CCD3D640}"/>
              </a:ext>
            </a:extLst>
          </p:cNvPr>
          <p:cNvSpPr>
            <a:spLocks xmlns:a="http://schemas.openxmlformats.org/drawingml/2006/main" noGrp="1"/>
          </p:cNvSpPr>
          <p:nvPr/>
        </p:nvSpPr>
        <p:spPr>
          <a:xfrm xmlns:a="http://schemas.openxmlformats.org/drawingml/2006/main">
            <a:off x="1314450" y="4905375"/>
            <a:ext cx="963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0">
                <a:solidFill>
                  <a:srgbClr val="52637B"/>
                </a:solidFill>
                <a:latin typeface="Aptos"/>
                <a:ea typeface="Aptos"/>
                <a:cs typeface="Aptos"/>
              </a:defRPr>
            </a:pPr>
            <a:r>
              <a:rPr sz="1275" b="0">
                <a:solidFill>
                  <a:srgbClr val="52637B"/>
                </a:solidFill>
                <a:latin typeface="Aptos"/>
                <a:ea typeface="Aptos"/>
                <a:cs typeface="Aptos"/>
              </a:rPr>
              <a:t>Пројектна примена: применити исти модел на једну реалну границу у сопственом пројекту.</a:t>
            </a:r>
          </a:p>
        </p:txBody>
      </p:sp>
    </p:spTree>
    <p:extLst>
      <p:ext uri="{BB962C8B-B14F-4D97-AF65-F5344CB8AC3E}">
        <p14:creationId xmlns:p14="http://schemas.microsoft.com/office/powerpoint/2010/main" val="1054039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9050" dist="9525" dir="5400000">
              <a:srgbClr val="000000">
                <a:alpha val="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2026-09-29T19:08:38.6500000Z</dcterms:created>
  <dcterms:modified xsi:type="dcterms:W3CDTF">2026-09-29T19:08:38.6500000Z</dcterms:modified>
</coreProperties>
</file>