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6fa95d7f694bae" /><Relationship Type="http://schemas.openxmlformats.org/officeDocument/2006/relationships/extended-properties" Target="/docProps/app.xml" Id="R866113328d6641ef" /><Relationship Type="http://schemas.openxmlformats.org/officeDocument/2006/relationships/officeDocument" Target="/ppt/presentation.xml" Id="R625e0cf2c4f64dab" /></Relationships>
</file>

<file path=ppt/presentation.xml><?xml version="1.0" encoding="utf-8"?>
<p:presentation xmlns:p="http://schemas.openxmlformats.org/presentationml/2006/main">
  <p:sldMasterIdLst>
    <p:sldMasterId xmlns:r="http://schemas.openxmlformats.org/officeDocument/2006/relationships" id="2147483648" r:id="Ree7388a83c154dac"/>
  </p:sldMasterIdLst>
  <p:notesMasterIdLst>
    <p:notesMasterId xmlns:r="http://schemas.openxmlformats.org/officeDocument/2006/relationships" r:id="R81a28be020c049ab"/>
  </p:notesMasterIdLst>
  <p:sldIdLst>
    <p:sldId xmlns:r="http://schemas.openxmlformats.org/officeDocument/2006/relationships" id="256" r:id="Re0de17750c1c4beb"/>
    <p:sldId xmlns:r="http://schemas.openxmlformats.org/officeDocument/2006/relationships" id="257" r:id="Rb8b129bb57b24813"/>
    <p:sldId xmlns:r="http://schemas.openxmlformats.org/officeDocument/2006/relationships" id="258" r:id="R97add9965d48460a"/>
    <p:sldId xmlns:r="http://schemas.openxmlformats.org/officeDocument/2006/relationships" id="259" r:id="R1a855e52d6984e49"/>
    <p:sldId xmlns:r="http://schemas.openxmlformats.org/officeDocument/2006/relationships" id="260" r:id="R420b1d396d484879"/>
    <p:sldId xmlns:r="http://schemas.openxmlformats.org/officeDocument/2006/relationships" id="261" r:id="R2fa1fbcb4dc94747"/>
    <p:sldId xmlns:r="http://schemas.openxmlformats.org/officeDocument/2006/relationships" id="262" r:id="R9b0c4de5d21d4023"/>
    <p:sldId xmlns:r="http://schemas.openxmlformats.org/officeDocument/2006/relationships" id="263" r:id="Re96c3459d6c14bb8"/>
    <p:sldId xmlns:r="http://schemas.openxmlformats.org/officeDocument/2006/relationships" id="264" r:id="R761f4496c72d4eee"/>
    <p:sldId xmlns:r="http://schemas.openxmlformats.org/officeDocument/2006/relationships" id="265" r:id="Rcc43021b3cae4a19"/>
    <p:sldId xmlns:r="http://schemas.openxmlformats.org/officeDocument/2006/relationships" id="266" r:id="Re7725b78dd2947dc"/>
    <p:sldId xmlns:r="http://schemas.openxmlformats.org/officeDocument/2006/relationships" id="267" r:id="R38f2735ec73b4005"/>
    <p:sldId xmlns:r="http://schemas.openxmlformats.org/officeDocument/2006/relationships" id="268" r:id="Rbbda0ae7d0044b62"/>
    <p:sldId xmlns:r="http://schemas.openxmlformats.org/officeDocument/2006/relationships" id="269" r:id="Rbf8cf6e161694b93"/>
    <p:sldId xmlns:r="http://schemas.openxmlformats.org/officeDocument/2006/relationships" id="270" r:id="Rcbac04d9c1614d53"/>
    <p:sldId xmlns:r="http://schemas.openxmlformats.org/officeDocument/2006/relationships" id="271" r:id="R66fd0f10076040b2"/>
    <p:sldId xmlns:r="http://schemas.openxmlformats.org/officeDocument/2006/relationships" id="272" r:id="R29c418eca0ea4eb1"/>
    <p:sldId xmlns:r="http://schemas.openxmlformats.org/officeDocument/2006/relationships" id="273" r:id="R0e0d9da68c2248f7"/>
    <p:sldId xmlns:r="http://schemas.openxmlformats.org/officeDocument/2006/relationships" id="274" r:id="R0550a15b0ba34d93"/>
    <p:sldId xmlns:r="http://schemas.openxmlformats.org/officeDocument/2006/relationships" id="275" r:id="R068ef85f13cc489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aa8b2426e003455c" /><Relationship Type="http://schemas.openxmlformats.org/officeDocument/2006/relationships/slideMaster" Target="/ppt/slideMasters/slideMaster1.xml" Id="Ree7388a83c154dac" /><Relationship Type="http://schemas.openxmlformats.org/officeDocument/2006/relationships/notesMaster" Target="/ppt/notesMasters/notesMaster1.xml" Id="R81a28be020c049ab" /><Relationship Type="http://schemas.openxmlformats.org/officeDocument/2006/relationships/presProps" Target="/ppt/presProps.xml" Id="R3041a5058e4045dc" /><Relationship Type="http://schemas.openxmlformats.org/officeDocument/2006/relationships/viewProps" Target="/ppt/viewProps.xml" Id="R82459ed0e7d04dcb" /><Relationship Type="http://schemas.openxmlformats.org/officeDocument/2006/relationships/tableStyles" Target="/ppt/tableStyles.xml" Id="Re9a7212b5dbc4386" /><Relationship Type="http://schemas.openxmlformats.org/officeDocument/2006/relationships/slide" Target="/ppt/slides/slide1.xml" Id="Re0de17750c1c4beb" /><Relationship Type="http://schemas.openxmlformats.org/officeDocument/2006/relationships/slide" Target="/ppt/slides/slide2.xml" Id="Rb8b129bb57b24813" /><Relationship Type="http://schemas.openxmlformats.org/officeDocument/2006/relationships/slide" Target="/ppt/slides/slide3.xml" Id="R97add9965d48460a" /><Relationship Type="http://schemas.openxmlformats.org/officeDocument/2006/relationships/slide" Target="/ppt/slides/slide4.xml" Id="R1a855e52d6984e49" /><Relationship Type="http://schemas.openxmlformats.org/officeDocument/2006/relationships/slide" Target="/ppt/slides/slide5.xml" Id="R420b1d396d484879" /><Relationship Type="http://schemas.openxmlformats.org/officeDocument/2006/relationships/slide" Target="/ppt/slides/slide6.xml" Id="R2fa1fbcb4dc94747" /><Relationship Type="http://schemas.openxmlformats.org/officeDocument/2006/relationships/slide" Target="/ppt/slides/slide7.xml" Id="R9b0c4de5d21d4023" /><Relationship Type="http://schemas.openxmlformats.org/officeDocument/2006/relationships/slide" Target="/ppt/slides/slide8.xml" Id="Re96c3459d6c14bb8" /><Relationship Type="http://schemas.openxmlformats.org/officeDocument/2006/relationships/slide" Target="/ppt/slides/slide9.xml" Id="R761f4496c72d4eee" /><Relationship Type="http://schemas.openxmlformats.org/officeDocument/2006/relationships/slide" Target="/ppt/slides/slide10.xml" Id="Rcc43021b3cae4a19" /><Relationship Type="http://schemas.openxmlformats.org/officeDocument/2006/relationships/slide" Target="/ppt/slides/slide11.xml" Id="Re7725b78dd2947dc" /><Relationship Type="http://schemas.openxmlformats.org/officeDocument/2006/relationships/slide" Target="/ppt/slides/slide12.xml" Id="R38f2735ec73b4005" /><Relationship Type="http://schemas.openxmlformats.org/officeDocument/2006/relationships/slide" Target="/ppt/slides/slide13.xml" Id="Rbbda0ae7d0044b62" /><Relationship Type="http://schemas.openxmlformats.org/officeDocument/2006/relationships/slide" Target="/ppt/slides/slide14.xml" Id="Rbf8cf6e161694b93" /><Relationship Type="http://schemas.openxmlformats.org/officeDocument/2006/relationships/slide" Target="/ppt/slides/slide15.xml" Id="Rcbac04d9c1614d53" /><Relationship Type="http://schemas.openxmlformats.org/officeDocument/2006/relationships/slide" Target="/ppt/slides/slide16.xml" Id="R66fd0f10076040b2" /><Relationship Type="http://schemas.openxmlformats.org/officeDocument/2006/relationships/slide" Target="/ppt/slides/slide17.xml" Id="R29c418eca0ea4eb1" /><Relationship Type="http://schemas.openxmlformats.org/officeDocument/2006/relationships/slide" Target="/ppt/slides/slide18.xml" Id="R0e0d9da68c2248f7" /><Relationship Type="http://schemas.openxmlformats.org/officeDocument/2006/relationships/slide" Target="/ppt/slides/slide19.xml" Id="R0550a15b0ba34d93" /><Relationship Type="http://schemas.openxmlformats.org/officeDocument/2006/relationships/slide" Target="/ppt/slides/slide20.xml" Id="R068ef85f13cc489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e24990bac142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856dc7b1c1434e" /><Relationship Type="http://schemas.openxmlformats.org/officeDocument/2006/relationships/notesMaster" Target="/ppt/notesMasters/notesMaster1.xml" Id="R67940b1ad5df41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f0b16fca704ac2" /><Relationship Type="http://schemas.openxmlformats.org/officeDocument/2006/relationships/notesMaster" Target="/ppt/notesMasters/notesMaster1.xml" Id="Rc8fc8bc4a93b49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24042db08b4cc0" /><Relationship Type="http://schemas.openxmlformats.org/officeDocument/2006/relationships/notesMaster" Target="/ppt/notesMasters/notesMaster1.xml" Id="Rbfce65c6347a41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603227ce8748c2" /><Relationship Type="http://schemas.openxmlformats.org/officeDocument/2006/relationships/notesMaster" Target="/ppt/notesMasters/notesMaster1.xml" Id="Re2e1931682d441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fde58634ad84522" /><Relationship Type="http://schemas.openxmlformats.org/officeDocument/2006/relationships/notesMaster" Target="/ppt/notesMasters/notesMaster1.xml" Id="Rdd86c17999e349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1472d292024a79" /><Relationship Type="http://schemas.openxmlformats.org/officeDocument/2006/relationships/notesMaster" Target="/ppt/notesMasters/notesMaster1.xml" Id="R01f4327b6df24c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aaf55321c34397" /><Relationship Type="http://schemas.openxmlformats.org/officeDocument/2006/relationships/notesMaster" Target="/ppt/notesMasters/notesMaster1.xml" Id="R6bf4a12bd9e148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cbf6851b9348aa" /><Relationship Type="http://schemas.openxmlformats.org/officeDocument/2006/relationships/notesMaster" Target="/ppt/notesMasters/notesMaster1.xml" Id="R9d4657d8b7714f52"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714900f6494c11" /><Relationship Type="http://schemas.openxmlformats.org/officeDocument/2006/relationships/notesMaster" Target="/ppt/notesMasters/notesMaster1.xml" Id="R1ecde7b6fe0e49d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613858f4154426" /><Relationship Type="http://schemas.openxmlformats.org/officeDocument/2006/relationships/notesMaster" Target="/ppt/notesMasters/notesMaster1.xml" Id="R6bb91a1d858543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0e52d3f9274620" /><Relationship Type="http://schemas.openxmlformats.org/officeDocument/2006/relationships/notesMaster" Target="/ppt/notesMasters/notesMaster1.xml" Id="R20f457dd50ff4f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cd36e2469946eb" /><Relationship Type="http://schemas.openxmlformats.org/officeDocument/2006/relationships/notesMaster" Target="/ppt/notesMasters/notesMaster1.xml" Id="R038af91459674a1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23fc60bcae44e4" /><Relationship Type="http://schemas.openxmlformats.org/officeDocument/2006/relationships/notesMaster" Target="/ppt/notesMasters/notesMaster1.xml" Id="R4e3c611885624f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effcf0537c447d" /><Relationship Type="http://schemas.openxmlformats.org/officeDocument/2006/relationships/notesMaster" Target="/ppt/notesMasters/notesMaster1.xml" Id="Rbaf0c15271c347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8a96c613c354503" /><Relationship Type="http://schemas.openxmlformats.org/officeDocument/2006/relationships/notesMaster" Target="/ppt/notesMasters/notesMaster1.xml" Id="R78b8a84ecf61485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c3d6d8b4f8544ff" /><Relationship Type="http://schemas.openxmlformats.org/officeDocument/2006/relationships/notesMaster" Target="/ppt/notesMasters/notesMaster1.xml" Id="R8c63b0ad739740b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58ce32aaa9546b9" /><Relationship Type="http://schemas.openxmlformats.org/officeDocument/2006/relationships/notesMaster" Target="/ppt/notesMasters/notesMaster1.xml" Id="Rea2e812ebb8945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5c77a4735a84369" /><Relationship Type="http://schemas.openxmlformats.org/officeDocument/2006/relationships/notesMaster" Target="/ppt/notesMasters/notesMaster1.xml" Id="Rbd56618229b44e7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53a31ab45724e82" /><Relationship Type="http://schemas.openxmlformats.org/officeDocument/2006/relationships/notesMaster" Target="/ppt/notesMasters/notesMaster1.xml" Id="R07d4952beacf413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485369da1e24ef6" /><Relationship Type="http://schemas.openxmlformats.org/officeDocument/2006/relationships/notesMaster" Target="/ppt/notesMasters/notesMaster1.xml" Id="Rb6b0d0f0660a43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0da96f4d9048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81f24ee1ea43c6" /><Relationship Type="http://schemas.openxmlformats.org/officeDocument/2006/relationships/slideLayout" Target="/ppt/slideLayouts/slideLayout1.xml" Id="Ra5add15a3e1347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add15a3e1347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c20aebb142460f" /><Relationship Type="http://schemas.openxmlformats.org/officeDocument/2006/relationships/notesSlide" Target="/ppt/notesSlides/notesSlide1.xml" Id="R929d15d6233147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6f55cdb9d84afd" /><Relationship Type="http://schemas.openxmlformats.org/officeDocument/2006/relationships/notesSlide" Target="/ppt/notesSlides/notesSlide2.xml" Id="R96472257aa3e49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293be7e59d4929" /><Relationship Type="http://schemas.openxmlformats.org/officeDocument/2006/relationships/notesSlide" Target="/ppt/notesSlides/notesSlide3.xml" Id="R8b9dd87f92b748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1c9f56a1a7443a" /><Relationship Type="http://schemas.openxmlformats.org/officeDocument/2006/relationships/notesSlide" Target="/ppt/notesSlides/notesSlide4.xml" Id="Rb764b4ae9b5846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7b8fb838b3d4ea1" /><Relationship Type="http://schemas.openxmlformats.org/officeDocument/2006/relationships/notesSlide" Target="/ppt/notesSlides/notesSlide5.xml" Id="Rc164bb2ed03d49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28f182039d4619" /><Relationship Type="http://schemas.openxmlformats.org/officeDocument/2006/relationships/notesSlide" Target="/ppt/notesSlides/notesSlide6.xml" Id="R2a5ea94314a848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f42507c465447a" /><Relationship Type="http://schemas.openxmlformats.org/officeDocument/2006/relationships/notesSlide" Target="/ppt/notesSlides/notesSlide7.xml" Id="Ra6b8c054642445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dbda4d2d444e4b" /><Relationship Type="http://schemas.openxmlformats.org/officeDocument/2006/relationships/notesSlide" Target="/ppt/notesSlides/notesSlide8.xml" Id="R055a8d5da1e74b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f4fae506fe47b4" /><Relationship Type="http://schemas.openxmlformats.org/officeDocument/2006/relationships/notesSlide" Target="/ppt/notesSlides/notesSlide9.xml" Id="R5b8a1bb4d203418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c815f634dda447a" /><Relationship Type="http://schemas.openxmlformats.org/officeDocument/2006/relationships/notesSlide" Target="/ppt/notesSlides/notesSlide10.xml" Id="R4208572f1eae44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e2677344c6345cf" /><Relationship Type="http://schemas.openxmlformats.org/officeDocument/2006/relationships/notesSlide" Target="/ppt/notesSlides/notesSlide11.xml" Id="R60abf27c319e426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97606117ebd4a15" /><Relationship Type="http://schemas.openxmlformats.org/officeDocument/2006/relationships/notesSlide" Target="/ppt/notesSlides/notesSlide12.xml" Id="Rd520c39f8b6841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1dff96c3f45419a" /><Relationship Type="http://schemas.openxmlformats.org/officeDocument/2006/relationships/notesSlide" Target="/ppt/notesSlides/notesSlide13.xml" Id="R1ea79936f6364a1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ad08c5288574b84" /><Relationship Type="http://schemas.openxmlformats.org/officeDocument/2006/relationships/notesSlide" Target="/ppt/notesSlides/notesSlide14.xml" Id="Rd8f58a683d0f4c8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2333f7c22fb4da3" /><Relationship Type="http://schemas.openxmlformats.org/officeDocument/2006/relationships/notesSlide" Target="/ppt/notesSlides/notesSlide15.xml" Id="R99244a71aeef47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999af1eaadc43db" /><Relationship Type="http://schemas.openxmlformats.org/officeDocument/2006/relationships/notesSlide" Target="/ppt/notesSlides/notesSlide16.xml" Id="Rfe0d2e8eee194ab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d1fd1388493468b" /><Relationship Type="http://schemas.openxmlformats.org/officeDocument/2006/relationships/notesSlide" Target="/ppt/notesSlides/notesSlide17.xml" Id="R8daecf9d39d94c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3d4ad567d974185" /><Relationship Type="http://schemas.openxmlformats.org/officeDocument/2006/relationships/notesSlide" Target="/ppt/notesSlides/notesSlide18.xml" Id="R8fd58ee00dbb4f2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94d311b508c4099" /><Relationship Type="http://schemas.openxmlformats.org/officeDocument/2006/relationships/notesSlide" Target="/ppt/notesSlides/notesSlide19.xml" Id="Racb57b1e0f6943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a83f821e6c84d54" /><Relationship Type="http://schemas.openxmlformats.org/officeDocument/2006/relationships/notesSlide" Target="/ppt/notesSlides/notesSlide20.xml" Id="Rb51f48d5e3f044c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E4456BB3-0CBC-4E38-B3B9-813BD8D9FCDA}"/>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EBF0446-876B-40E3-8715-1F11E7595BCA}"/>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0124BEE4-668D-4CD9-A448-B8978A74DDC9}"/>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E088D311-F6ED-4560-A59A-6D9011269A75}"/>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Детекција, инцидент и рањивости</a:t>
            </a:r>
          </a:p>
        </p:txBody>
      </p:sp>
      <p:sp>
        <p:nvSpPr>
          <p:cNvPr id="5" name="Rectangle 4">
            <a:extLst xmlns:a="http://schemas.openxmlformats.org/drawingml/2006/main">
              <a:ext uri="{FF2B5EF4-FFF2-40B4-BE49-F238E27FC236}">
                <a16:creationId xmlns:a16="http://schemas.microsoft.com/office/drawing/2014/main" id="{AB2CD0DF-035A-4FBB-B718-A0E82338F713}"/>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Детекција догађаја, поступање у инциденту и управљање рањивостима</a:t>
            </a:r>
          </a:p>
        </p:txBody>
      </p:sp>
      <p:sp>
        <p:nvSpPr>
          <p:cNvPr id="6" name="Straight Connector 5">
            <a:extLst xmlns:a="http://schemas.openxmlformats.org/drawingml/2006/main">
              <a:ext uri="{FF2B5EF4-FFF2-40B4-BE49-F238E27FC236}">
                <a16:creationId xmlns:a16="http://schemas.microsoft.com/office/drawing/2014/main" id="{8D4D1B07-045A-4C5A-9F19-7B25A10821BE}"/>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88CE4FD7-B562-4401-B1BE-E7C2663DCAAD}"/>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946FBCE8-11BA-4A20-B946-E3FE403AFCB5}"/>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6327862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E38A8370-5038-45BB-B228-D602B7CA0ADB}"/>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037D3E5C-4A1C-4CFA-8EA7-D7F2275F10D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0565160-A928-49F8-AC2B-7098EC29CB4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96BBC174-2C53-48F1-BF55-DAC9AC32C27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безбедносног сигнала до инцидента</a:t>
            </a:r>
          </a:p>
        </p:txBody>
      </p:sp>
      <p:sp>
        <p:nvSpPr>
          <p:cNvPr id="5" name="Rectangle 4">
            <a:extLst xmlns:a="http://schemas.openxmlformats.org/drawingml/2006/main">
              <a:ext uri="{FF2B5EF4-FFF2-40B4-BE49-F238E27FC236}">
                <a16:creationId xmlns:a16="http://schemas.microsoft.com/office/drawing/2014/main" id="{B0966A4C-0697-465D-8AF2-83E17B4C5BC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Систем ставља сигнал у контекст, процењује утицај и тек затим одређује потребан ниво реакције.</a:t>
            </a:r>
          </a:p>
        </p:txBody>
      </p:sp>
      <p:sp>
        <p:nvSpPr>
          <p:cNvPr id="6" name="Rounded Rectangle 5">
            <a:extLst xmlns:a="http://schemas.openxmlformats.org/drawingml/2006/main">
              <a:ext uri="{FF2B5EF4-FFF2-40B4-BE49-F238E27FC236}">
                <a16:creationId xmlns:a16="http://schemas.microsoft.com/office/drawing/2014/main" id="{FBE1FF1C-A01F-4FFA-99BB-D6FF8A0DEE0A}"/>
              </a:ext>
            </a:extLst>
          </p:cNvPr>
          <p:cNvSpPr>
            <a:spLocks xmlns:a="http://schemas.openxmlformats.org/drawingml/2006/main" noGrp="1"/>
          </p:cNvSpPr>
          <p:nvPr/>
        </p:nvSpPr>
        <p:spPr>
          <a:xfrm xmlns:a="http://schemas.openxmlformats.org/drawingml/2006/main">
            <a:off x="819150" y="2571750"/>
            <a:ext cx="3257550" cy="2228850"/>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1111B27-4FAE-403C-A0CF-6D6219B866B9}"/>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A1FC8AE1-69D5-4FCB-86FD-4518BA317EF3}"/>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1D366C55-2AFE-4144-BA57-46EE36302490}"/>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7975"/>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Безбедносни догађај није аутоматски инцидент. Систем најпре препознаје сигнал, затим га ставља у контекст и тек онда одређује да ли је потребна реакција. Такав ток спречава и игнорисање проблема и непотребно алармирање због сваког одступања.</a:t>
            </a:r>
          </a:p>
        </p:txBody>
      </p:sp>
      <p:sp>
        <p:nvSpPr>
          <p:cNvPr id="10" name="Rounded Rectangle 9">
            <a:extLst xmlns:a="http://schemas.openxmlformats.org/drawingml/2006/main">
              <a:ext uri="{FF2B5EF4-FFF2-40B4-BE49-F238E27FC236}">
                <a16:creationId xmlns:a16="http://schemas.microsoft.com/office/drawing/2014/main" id="{F14D9C72-1A3D-4A13-B31C-D768862C56DC}"/>
              </a:ext>
            </a:extLst>
          </p:cNvPr>
          <p:cNvSpPr>
            <a:spLocks xmlns:a="http://schemas.openxmlformats.org/drawingml/2006/main" noGrp="1"/>
          </p:cNvSpPr>
          <p:nvPr/>
        </p:nvSpPr>
        <p:spPr>
          <a:xfrm xmlns:a="http://schemas.openxmlformats.org/drawingml/2006/main">
            <a:off x="4467225" y="2571750"/>
            <a:ext cx="3257550" cy="2228850"/>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4DF5E1E9-EAFA-481C-A0D5-BC61DFFC5BF6}"/>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650A4C74-5AFA-4E94-AFFB-6D2C25A1CD93}"/>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DA25FC6F-F01B-4BC8-94FE-313179E8B580}"/>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319"/>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Управљање инцидентом даје структуру тренутку када је најлакше изгубити контекст. Рањивост постаје решив проблем када је повезана са имовином, приоритетом, власником и доказом да је корекција проверена.</a:t>
            </a:r>
          </a:p>
        </p:txBody>
      </p:sp>
      <p:sp>
        <p:nvSpPr>
          <p:cNvPr id="14" name="Rounded Rectangle 13">
            <a:extLst xmlns:a="http://schemas.openxmlformats.org/drawingml/2006/main">
              <a:ext uri="{FF2B5EF4-FFF2-40B4-BE49-F238E27FC236}">
                <a16:creationId xmlns:a16="http://schemas.microsoft.com/office/drawing/2014/main" id="{0E5C4A5E-6FEF-43AB-926E-FBECAA5F3F30}"/>
              </a:ext>
            </a:extLst>
          </p:cNvPr>
          <p:cNvSpPr>
            <a:spLocks xmlns:a="http://schemas.openxmlformats.org/drawingml/2006/main" noGrp="1"/>
          </p:cNvSpPr>
          <p:nvPr/>
        </p:nvSpPr>
        <p:spPr>
          <a:xfrm xmlns:a="http://schemas.openxmlformats.org/drawingml/2006/main">
            <a:off x="8115300" y="2571750"/>
            <a:ext cx="3257550" cy="2228850"/>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75431F0-5F04-40F6-816A-0C9F03377F5B}"/>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78241F78-26FC-4288-8092-CD0F9DE47A2B}"/>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ED8CF00C-3196-4D92-A576-743A67C8A0C5}"/>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6542024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52087B7-030A-4B86-81ED-C889AD0F387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0D8A320-4B0E-406A-8949-97B8F3E8492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318C5DA-0B6B-40CF-9361-D65CBA7CE21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8D4D6591-9167-4F95-8041-A6E127E4329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D30199A7-5828-42B3-A993-39515C18FBC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Сигнал, triage, инцидент и учење представљају различите фазе поступања у безбедносном догађају.</a:t>
            </a:r>
          </a:p>
        </p:txBody>
      </p:sp>
      <p:sp>
        <p:nvSpPr>
          <p:cNvPr id="6" name="Rounded Rectangle 5">
            <a:extLst xmlns:a="http://schemas.openxmlformats.org/drawingml/2006/main">
              <a:ext uri="{FF2B5EF4-FFF2-40B4-BE49-F238E27FC236}">
                <a16:creationId xmlns:a16="http://schemas.microsoft.com/office/drawing/2014/main" id="{18BEF625-8B6D-47AF-A8BE-890050FCCB34}"/>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A0C30F4-F7FE-4F85-ADCE-A95F8D5C70F5}"/>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E4FA1AE2-1399-4C17-8D0E-3533A3EACA9C}"/>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Сигнал</a:t>
            </a:r>
          </a:p>
        </p:txBody>
      </p:sp>
      <p:sp>
        <p:nvSpPr>
          <p:cNvPr id="9" name="Rectangle 8">
            <a:extLst xmlns:a="http://schemas.openxmlformats.org/drawingml/2006/main">
              <a:ext uri="{FF2B5EF4-FFF2-40B4-BE49-F238E27FC236}">
                <a16:creationId xmlns:a16="http://schemas.microsoft.com/office/drawing/2014/main" id="{561C3FF1-1977-4AB0-9263-E8F1B1D17083}"/>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уочено одступање</a:t>
            </a:r>
          </a:p>
        </p:txBody>
      </p:sp>
      <p:sp>
        <p:nvSpPr>
          <p:cNvPr id="10" name="Rounded Rectangle 9">
            <a:extLst xmlns:a="http://schemas.openxmlformats.org/drawingml/2006/main">
              <a:ext uri="{FF2B5EF4-FFF2-40B4-BE49-F238E27FC236}">
                <a16:creationId xmlns:a16="http://schemas.microsoft.com/office/drawing/2014/main" id="{74061374-9471-4A53-B286-16B28EA1A049}"/>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00768F5D-40CE-4A7F-A6FD-ECEDD0060382}"/>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23A4ED6E-7BF3-422C-9413-B9D0760322B1}"/>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xmlns:a="http://schemas.openxmlformats.org/drawingml/2006/main">
              <a:ext uri="{FF2B5EF4-FFF2-40B4-BE49-F238E27FC236}">
                <a16:creationId xmlns:a16="http://schemas.microsoft.com/office/drawing/2014/main" id="{5A9BF2CD-5316-4145-ADAB-E94044B10FB6}"/>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провера контекста и утицаја</a:t>
            </a:r>
          </a:p>
        </p:txBody>
      </p:sp>
      <p:sp>
        <p:nvSpPr>
          <p:cNvPr id="14" name="Rounded Rectangle 13">
            <a:extLst xmlns:a="http://schemas.openxmlformats.org/drawingml/2006/main">
              <a:ext uri="{FF2B5EF4-FFF2-40B4-BE49-F238E27FC236}">
                <a16:creationId xmlns:a16="http://schemas.microsoft.com/office/drawing/2014/main" id="{83C264F0-3268-47AE-BCDD-20D7B7823CD5}"/>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1194678-B997-4524-B141-BC11F1CB0A52}"/>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B3F3FF1-8C71-4828-820A-CFBA9B736A1A}"/>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Инцидент</a:t>
            </a:r>
          </a:p>
        </p:txBody>
      </p:sp>
      <p:sp>
        <p:nvSpPr>
          <p:cNvPr id="17" name="Rectangle 16">
            <a:extLst xmlns:a="http://schemas.openxmlformats.org/drawingml/2006/main">
              <a:ext uri="{FF2B5EF4-FFF2-40B4-BE49-F238E27FC236}">
                <a16:creationId xmlns:a16="http://schemas.microsoft.com/office/drawing/2014/main" id="{DCBDC94F-6A1D-40B7-AE5E-61E34881DD9E}"/>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a:t>
            </a:r>
          </a:p>
        </p:txBody>
      </p:sp>
      <p:sp>
        <p:nvSpPr>
          <p:cNvPr id="18" name="Rounded Rectangle 17">
            <a:extLst xmlns:a="http://schemas.openxmlformats.org/drawingml/2006/main">
              <a:ext uri="{FF2B5EF4-FFF2-40B4-BE49-F238E27FC236}">
                <a16:creationId xmlns:a16="http://schemas.microsoft.com/office/drawing/2014/main" id="{3709DF61-CA26-4B5C-990A-BB6661774D95}"/>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B29B025D-A3F2-4C67-AFC8-A608F25DCDF7}"/>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5FBE65DB-AECF-4F51-BC10-543797B81A3A}"/>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Учење</a:t>
            </a:r>
          </a:p>
        </p:txBody>
      </p:sp>
      <p:sp>
        <p:nvSpPr>
          <p:cNvPr id="21" name="Rectangle 20">
            <a:extLst xmlns:a="http://schemas.openxmlformats.org/drawingml/2006/main">
              <a:ext uri="{FF2B5EF4-FFF2-40B4-BE49-F238E27FC236}">
                <a16:creationId xmlns:a16="http://schemas.microsoft.com/office/drawing/2014/main" id="{7F00C206-33A0-4F9C-85F7-26EA3FC80EFF}"/>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корекција и превенција</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F9AD5A1F-51C4-4A16-A245-B792F1FCE05C}"/>
              </a:ext>
            </a:extLst>
          </p:cNvPr>
          <p:cNvSpPr>
            <a:spLocks xmlns:a="http://schemas.openxmlformats.org/drawingml/2006/main" noGrp="1"/>
          </p:cNvSpPr>
          <p:nvPr/>
        </p:nvSpPr>
        <p:spPr>
          <a:xfrm xmlns:a="http://schemas.openxmlformats.org/drawingml/2006/main">
            <a:off x="1619250" y="4286250"/>
            <a:ext cx="8953500" cy="800100"/>
          </a:xfrm>
          <a:prstGeom xmlns:a="http://schemas.openxmlformats.org/drawingml/2006/main" prst="roundRect">
            <a:avLst>
              <a:gd name="adj" fmla="val 15476"/>
            </a:avLst>
          </a:prstGeom>
          <a:solidFill xmlns:a="http://schemas.openxmlformats.org/drawingml/2006/main">
            <a:srgbClr val="F4F6F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0BAF6E79-7151-416F-A6A8-65C41C0736FE}"/>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0F4EE33F-C271-47CA-B165-C3B73756C078}"/>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E48C6208-E406-43E8-8CED-77E057A90D34}"/>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8A943BD6-2E8C-419E-BBA8-8EDBC8F1BA37}"/>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8CA449BC-FF9E-4265-8D37-C4A268280A73}"/>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5555"/>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Значајни сигнали пролазе процену контекста и утицаја пре отварања инцидента. Исход анализе остаје доступан за наредне одлуке.</a:t>
            </a:r>
          </a:p>
        </p:txBody>
      </p:sp>
    </p:spTree>
    <p:extLst>
      <p:ext uri="{BB962C8B-B14F-4D97-AF65-F5344CB8AC3E}">
        <p14:creationId xmlns:p14="http://schemas.microsoft.com/office/powerpoint/2010/main" val="19549516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D90F5FA7-BE4B-4E07-A0A2-DED2D4F919E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05E145B-9F6F-41EF-9EBC-72B937C114D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6A73CC74-1F8E-4A74-9291-E0BBCA2A108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3E82C2FE-6AD0-4EBE-9A1F-9DEF3528764E}"/>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a:t>
            </a:r>
          </a:p>
        </p:txBody>
      </p:sp>
      <p:sp>
        <p:nvSpPr>
          <p:cNvPr id="5" name="Rectangle 4">
            <a:extLst xmlns:a="http://schemas.openxmlformats.org/drawingml/2006/main">
              <a:ext uri="{FF2B5EF4-FFF2-40B4-BE49-F238E27FC236}">
                <a16:creationId xmlns:a16="http://schemas.microsoft.com/office/drawing/2014/main" id="{E073F4F8-CC30-4039-9154-6B080CD4E19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уочено одступање</a:t>
            </a:r>
          </a:p>
        </p:txBody>
      </p:sp>
      <p:sp>
        <p:nvSpPr>
          <p:cNvPr id="6" name="Rounded Rectangle 5">
            <a:extLst xmlns:a="http://schemas.openxmlformats.org/drawingml/2006/main">
              <a:ext uri="{FF2B5EF4-FFF2-40B4-BE49-F238E27FC236}">
                <a16:creationId xmlns:a16="http://schemas.microsoft.com/office/drawing/2014/main" id="{9E18F851-265D-443F-8995-949DA46AA81B}"/>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015D255-F8AE-4451-AF24-9BA32F1F91D1}"/>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1B948181-1FEB-453B-B73D-AE78A82714C2}"/>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детекције треба да има смисао и разлог, не само произвољну бројку.</a:t>
            </a:r>
          </a:p>
        </p:txBody>
      </p:sp>
      <p:sp>
        <p:nvSpPr>
          <p:cNvPr id="9" name="Rectangle 8">
            <a:extLst xmlns:a="http://schemas.openxmlformats.org/drawingml/2006/main">
              <a:ext uri="{FF2B5EF4-FFF2-40B4-BE49-F238E27FC236}">
                <a16:creationId xmlns:a16="http://schemas.microsoft.com/office/drawing/2014/main" id="{20D13C15-BC2D-42C0-B612-3BF92B730736}"/>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31D0C935-BA31-413B-A388-7D61DB9BC5BF}"/>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DD2D9FAB-1F40-4263-B06E-AD52C4F3CC28}"/>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034A7B28-7CE0-4691-91EE-446D8421AE71}"/>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997"/>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Детекција треба да опише образац који је вредан пажње, а не да сваку грешку прогласи инцидентом.</a:t>
            </a:r>
          </a:p>
        </p:txBody>
      </p:sp>
      <p:sp>
        <p:nvSpPr>
          <p:cNvPr id="13" name="Rectangle 12">
            <a:extLst xmlns:a="http://schemas.openxmlformats.org/drawingml/2006/main">
              <a:ext uri="{FF2B5EF4-FFF2-40B4-BE49-F238E27FC236}">
                <a16:creationId xmlns:a16="http://schemas.microsoft.com/office/drawing/2014/main" id="{4E66097E-9C33-4194-AC97-DEC90E724325}"/>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F7C147EC-02F9-4CEF-985C-0A84C5D1F3B6}"/>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161D0870-14B4-4FC1-8475-148EC7DB5327}"/>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B7604C7-5E06-43E9-8328-A444739B8EC5}"/>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се бира према нормалном понашању система, а не према случајном броју.</a:t>
            </a:r>
          </a:p>
        </p:txBody>
      </p:sp>
      <p:sp>
        <p:nvSpPr>
          <p:cNvPr id="17" name="Rectangle 16">
            <a:extLst xmlns:a="http://schemas.openxmlformats.org/drawingml/2006/main">
              <a:ext uri="{FF2B5EF4-FFF2-40B4-BE49-F238E27FC236}">
                <a16:creationId xmlns:a16="http://schemas.microsoft.com/office/drawing/2014/main" id="{CB170EFF-236E-48EB-A300-1680B8164658}"/>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2294280B-22D0-4F67-8202-A2F1F7E712B0}"/>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E79F866D-99D3-40FF-BF6E-D576CBD01A1E}"/>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6A9A5D4-C63C-4E2A-8378-0542FF6CB20A}"/>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97E43DD2-66F5-4580-8491-44A889BBB690}"/>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B10402F9-97A2-43C9-B567-56491EEF7C97}"/>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D00757E3-B63C-4509-82A0-8DE6D8145E70}"/>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2926"/>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744779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72156319-6C39-4E81-882B-D5C56945FD5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06575BD-B289-4686-9EE1-52E598D898C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A9BC0EF-3EB5-4618-B734-510F4EA7C93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6B38E52B-AD07-4E81-9A1D-227913750DA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Triage</a:t>
            </a:r>
          </a:p>
        </p:txBody>
      </p:sp>
      <p:sp>
        <p:nvSpPr>
          <p:cNvPr id="5" name="Rectangle 4">
            <a:extLst xmlns:a="http://schemas.openxmlformats.org/drawingml/2006/main">
              <a:ext uri="{FF2B5EF4-FFF2-40B4-BE49-F238E27FC236}">
                <a16:creationId xmlns:a16="http://schemas.microsoft.com/office/drawing/2014/main" id="{AEDA20C2-EDA9-4E35-AEB5-5874176E20A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провера контекста и утицаја</a:t>
            </a:r>
          </a:p>
        </p:txBody>
      </p:sp>
      <p:sp>
        <p:nvSpPr>
          <p:cNvPr id="6" name="Rounded Rectangle 5">
            <a:extLst xmlns:a="http://schemas.openxmlformats.org/drawingml/2006/main">
              <a:ext uri="{FF2B5EF4-FFF2-40B4-BE49-F238E27FC236}">
                <a16:creationId xmlns:a16="http://schemas.microsoft.com/office/drawing/2014/main" id="{F1A3DD90-823B-4B98-8970-E1C178539D16}"/>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C7D44CE-9373-4ABB-B346-E040B4A090E7}"/>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8594BA92-9AE9-4AD6-98F7-DDECD9BC73C9}"/>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Затварање упозорења чува образложење, јер је то знање за следећи сличан случај.</a:t>
            </a:r>
          </a:p>
        </p:txBody>
      </p:sp>
      <p:sp>
        <p:nvSpPr>
          <p:cNvPr id="9" name="Rectangle 8">
            <a:extLst xmlns:a="http://schemas.openxmlformats.org/drawingml/2006/main">
              <a:ext uri="{FF2B5EF4-FFF2-40B4-BE49-F238E27FC236}">
                <a16:creationId xmlns:a16="http://schemas.microsoft.com/office/drawing/2014/main" id="{FA0B80EA-741C-4814-A772-2A9EF37B3234}"/>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E5370F02-67AD-44FA-A3ED-EF6D820156CB}"/>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CF107F58-1905-4DA5-A540-0F5A882D2CCD}"/>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41A99BA6-9DFE-4520-B2EA-B3054BD75C44}"/>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Triage чува одлуку и образложење, укључујући разлог због ког је упозорење затворено.</a:t>
            </a:r>
          </a:p>
        </p:txBody>
      </p:sp>
      <p:sp>
        <p:nvSpPr>
          <p:cNvPr id="13" name="Rectangle 12">
            <a:extLst xmlns:a="http://schemas.openxmlformats.org/drawingml/2006/main">
              <a:ext uri="{FF2B5EF4-FFF2-40B4-BE49-F238E27FC236}">
                <a16:creationId xmlns:a16="http://schemas.microsoft.com/office/drawing/2014/main" id="{5E6870C9-A8A6-4504-8BEC-BE00FE74FFEC}"/>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3B96CFFC-A2A3-4A1F-9FFB-5F3BDA611C05}"/>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81D9D42-250A-4DFA-8715-C81516C38E16}"/>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EC9B429-D324-462F-873E-A5BF571D7DB3}"/>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Упозорење има озбиљност, власника и рок до ког се мора погледати.</a:t>
            </a:r>
          </a:p>
        </p:txBody>
      </p:sp>
      <p:sp>
        <p:nvSpPr>
          <p:cNvPr id="17" name="Rectangle 16">
            <a:extLst xmlns:a="http://schemas.openxmlformats.org/drawingml/2006/main">
              <a:ext uri="{FF2B5EF4-FFF2-40B4-BE49-F238E27FC236}">
                <a16:creationId xmlns:a16="http://schemas.microsoft.com/office/drawing/2014/main" id="{34A58330-ECFB-4A2A-A342-F6A1A21EEB29}"/>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5BF1FC4B-FE63-494C-8C62-60CBB584A7DE}"/>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FC880E68-818C-436B-B91D-6D0E1C1952D9}"/>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7818A9FE-2434-4EA0-8B6A-5F88111EE4A2}"/>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E9731D8C-3B11-4DD7-8FEB-475C56A31A1F}"/>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2E909C39-E1BB-40CB-AE55-BA25E4A1A55E}"/>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41B4F4C2-E998-4A2A-B62D-52EDF365CFCF}"/>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2926"/>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2813597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FB9E8EAC-0187-4187-89D8-018B66E3DE0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35DF22C-8C00-40DE-B661-8B5CC360545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8549134-B2A1-4C32-AD4D-32FF3680D02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04A096F6-4079-417A-B2A1-836362DA63CE}"/>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Инцидент</a:t>
            </a:r>
          </a:p>
        </p:txBody>
      </p:sp>
      <p:sp>
        <p:nvSpPr>
          <p:cNvPr id="5" name="Rectangle 4">
            <a:extLst xmlns:a="http://schemas.openxmlformats.org/drawingml/2006/main">
              <a:ext uri="{FF2B5EF4-FFF2-40B4-BE49-F238E27FC236}">
                <a16:creationId xmlns:a16="http://schemas.microsoft.com/office/drawing/2014/main" id="{E33B71C1-EF5D-4F17-AF90-42D0C3C417E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координисана реакција</a:t>
            </a:r>
          </a:p>
        </p:txBody>
      </p:sp>
      <p:sp>
        <p:nvSpPr>
          <p:cNvPr id="6" name="Rounded Rectangle 5">
            <a:extLst xmlns:a="http://schemas.openxmlformats.org/drawingml/2006/main">
              <a:ext uri="{FF2B5EF4-FFF2-40B4-BE49-F238E27FC236}">
                <a16:creationId xmlns:a16="http://schemas.microsoft.com/office/drawing/2014/main" id="{1C798477-159A-4FF8-8ACE-7E14FCC0E71E}"/>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58F755D2-B6BB-45B1-B62E-3429842A9996}"/>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5D2B7313-CFA2-4988-84EF-A4F575FAAB04}"/>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Рањивост се сматра решеном након провере да је ризик смањен на прихватљив ниво.</a:t>
            </a:r>
          </a:p>
        </p:txBody>
      </p:sp>
      <p:sp>
        <p:nvSpPr>
          <p:cNvPr id="9" name="Rectangle 8">
            <a:extLst xmlns:a="http://schemas.openxmlformats.org/drawingml/2006/main">
              <a:ext uri="{FF2B5EF4-FFF2-40B4-BE49-F238E27FC236}">
                <a16:creationId xmlns:a16="http://schemas.microsoft.com/office/drawing/2014/main" id="{1CAEC4B5-02C9-4CED-912A-CDBEA2B5735F}"/>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5FE431AE-73B0-4FD7-814F-846F6F7FF12A}"/>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50152395-6849-4478-8524-3AF418F0AD75}"/>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E05D37B9-F405-45A2-A4ED-C8D98E43AF86}"/>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Затварање рањивости тражи доказ да је изложеност уклоњена или прихваћена уз видљив преостали ризик.</a:t>
            </a:r>
          </a:p>
        </p:txBody>
      </p:sp>
      <p:sp>
        <p:nvSpPr>
          <p:cNvPr id="13" name="Rectangle 12">
            <a:extLst xmlns:a="http://schemas.openxmlformats.org/drawingml/2006/main">
              <a:ext uri="{FF2B5EF4-FFF2-40B4-BE49-F238E27FC236}">
                <a16:creationId xmlns:a16="http://schemas.microsoft.com/office/drawing/2014/main" id="{EF35D4E0-EF5D-4E44-8E8E-7F895C30FC3F}"/>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5DAB11FA-1366-452B-A1C9-3816025963D1}"/>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7BE5E95-E7E6-4A55-930F-E91021EBE2AE}"/>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5887D28B-8873-4045-97E3-B6D8A926A6A0}"/>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Инцидент се отвара када контекст покаже стварни утицај или вероватну злоупотребу.</a:t>
            </a:r>
          </a:p>
        </p:txBody>
      </p:sp>
      <p:sp>
        <p:nvSpPr>
          <p:cNvPr id="17" name="Rectangle 16">
            <a:extLst xmlns:a="http://schemas.openxmlformats.org/drawingml/2006/main">
              <a:ext uri="{FF2B5EF4-FFF2-40B4-BE49-F238E27FC236}">
                <a16:creationId xmlns:a16="http://schemas.microsoft.com/office/drawing/2014/main" id="{3DF8EB43-D46F-41D2-A0EC-2A7CD86FD524}"/>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084A3DA-6143-4F5C-95D0-8548BEE1D982}"/>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C098BAC8-FDD7-41B6-9B13-D058CD5BB2D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A54E96AE-0798-478B-B11A-31305540EAB5}"/>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891EF960-77D8-4C6C-85E4-031489D0F432}"/>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6796BD68-B519-4548-924C-C76B356B501C}"/>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3A7B4C7F-AEBE-4916-97D2-D3DB8040D0A3}"/>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2926"/>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183469609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8191E99B-0CD3-4EBA-AB4D-699D6AC228D8}"/>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D260B9D-974A-4290-AE35-FC1C90FCF3B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EA4A19D-DEAC-4C25-A8C2-7C2C7503E9D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11FB22FA-6BAA-4C50-A4F2-03B26ECA5E4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Учење</a:t>
            </a:r>
          </a:p>
        </p:txBody>
      </p:sp>
      <p:sp>
        <p:nvSpPr>
          <p:cNvPr id="5" name="Rectangle 4">
            <a:extLst xmlns:a="http://schemas.openxmlformats.org/drawingml/2006/main">
              <a:ext uri="{FF2B5EF4-FFF2-40B4-BE49-F238E27FC236}">
                <a16:creationId xmlns:a16="http://schemas.microsoft.com/office/drawing/2014/main" id="{0CCEB861-3AE1-4D6F-8D15-E4E8130871E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корекција и превенција</a:t>
            </a:r>
          </a:p>
        </p:txBody>
      </p:sp>
      <p:sp>
        <p:nvSpPr>
          <p:cNvPr id="6" name="Rounded Rectangle 5">
            <a:extLst xmlns:a="http://schemas.openxmlformats.org/drawingml/2006/main">
              <a:ext uri="{FF2B5EF4-FFF2-40B4-BE49-F238E27FC236}">
                <a16:creationId xmlns:a16="http://schemas.microsoft.com/office/drawing/2014/main" id="{45CF2301-C8BA-4FAB-A5DB-732809E3FF54}"/>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99A8CC07-AD68-4637-9282-8D57A98EB60A}"/>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173996E-D374-4A0B-9809-58633E49318B}"/>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се бира према нормалном понашању система, а не према случајном броју.</a:t>
            </a:r>
          </a:p>
        </p:txBody>
      </p:sp>
      <p:sp>
        <p:nvSpPr>
          <p:cNvPr id="9" name="Rectangle 8">
            <a:extLst xmlns:a="http://schemas.openxmlformats.org/drawingml/2006/main">
              <a:ext uri="{FF2B5EF4-FFF2-40B4-BE49-F238E27FC236}">
                <a16:creationId xmlns:a16="http://schemas.microsoft.com/office/drawing/2014/main" id="{C924FF50-7E5B-495A-8E8F-EF86D32DA410}"/>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8C4AC4DF-B1FF-4FAA-AF3C-93AE95CF6793}"/>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278FD8A-EFF1-421C-91E1-0E30D9640456}"/>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364D35FE-C5BB-4C3D-8750-D57382035E6B}"/>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Упозорење има озбиљност, власника и рок до ког се мора погледати.</a:t>
            </a:r>
          </a:p>
        </p:txBody>
      </p:sp>
      <p:sp>
        <p:nvSpPr>
          <p:cNvPr id="13" name="Rectangle 12">
            <a:extLst xmlns:a="http://schemas.openxmlformats.org/drawingml/2006/main">
              <a:ext uri="{FF2B5EF4-FFF2-40B4-BE49-F238E27FC236}">
                <a16:creationId xmlns:a16="http://schemas.microsoft.com/office/drawing/2014/main" id="{CDCC3299-6125-4157-8F84-DF71D94687A6}"/>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97575B9E-AC3B-44D7-B662-8586F98C8583}"/>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F61BF564-CAFE-4A39-8B42-2A0375FC5C8F}"/>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01AF9D9-1300-4B02-AB56-68043012F418}"/>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Инцидент се отвара када контекст покаже стварни утицај или вероватну злоупотребу.</a:t>
            </a:r>
          </a:p>
        </p:txBody>
      </p:sp>
      <p:sp>
        <p:nvSpPr>
          <p:cNvPr id="17" name="Rectangle 16">
            <a:extLst xmlns:a="http://schemas.openxmlformats.org/drawingml/2006/main">
              <a:ext uri="{FF2B5EF4-FFF2-40B4-BE49-F238E27FC236}">
                <a16:creationId xmlns:a16="http://schemas.microsoft.com/office/drawing/2014/main" id="{55827DEA-7308-45CE-B31C-9BB6AC10C72F}"/>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215191BC-D9B1-4B1E-945E-11EF00F3DEB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4DABDD17-2B09-44C9-83DD-ABA93FFEEFC3}"/>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BA8BBB4-6443-4B92-8834-F6C6167FAB49}"/>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95D10FB4-1690-4F4D-96B0-E60C483A37A4}"/>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37C6861D-CDE3-446C-A4A9-7679103DEF10}"/>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1110BC45-7F68-46FF-84A8-7F016B78A91F}"/>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2926"/>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4579714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5A020059-FC32-49A7-9D56-B35F611BB91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C225B6D-5A65-4501-BB55-4820EBC42C9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FD7B4803-0AD3-4B56-B756-56BBDEA5DF7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CBDD2572-5430-47EF-AC60-CA4FF2D0C9F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 alert и инцидент</a:t>
            </a:r>
          </a:p>
        </p:txBody>
      </p:sp>
      <p:sp>
        <p:nvSpPr>
          <p:cNvPr id="5" name="Rectangle 4">
            <a:extLst xmlns:a="http://schemas.openxmlformats.org/drawingml/2006/main">
              <a:ext uri="{FF2B5EF4-FFF2-40B4-BE49-F238E27FC236}">
                <a16:creationId xmlns:a16="http://schemas.microsoft.com/office/drawing/2014/main" id="{72F69B3F-6EE5-48DB-8772-F2925CB4D8B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6DBF8883-98A5-44B5-957D-6D2F31F4A1AE}"/>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Стање</a:t>
            </a:r>
          </a:p>
        </p:txBody>
      </p:sp>
      <p:sp>
        <p:nvSpPr>
          <p:cNvPr id="7" name="Rectangle 6">
            <a:extLst xmlns:a="http://schemas.openxmlformats.org/drawingml/2006/main">
              <a:ext uri="{FF2B5EF4-FFF2-40B4-BE49-F238E27FC236}">
                <a16:creationId xmlns:a16="http://schemas.microsoft.com/office/drawing/2014/main" id="{95FD7AB4-D163-46A1-8091-4A48CBCC6A03}"/>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Шта представља</a:t>
            </a:r>
          </a:p>
        </p:txBody>
      </p:sp>
      <p:sp>
        <p:nvSpPr>
          <p:cNvPr id="8" name="Rectangle 7">
            <a:extLst xmlns:a="http://schemas.openxmlformats.org/drawingml/2006/main">
              <a:ext uri="{FF2B5EF4-FFF2-40B4-BE49-F238E27FC236}">
                <a16:creationId xmlns:a16="http://schemas.microsoft.com/office/drawing/2014/main" id="{08538C13-F7DD-4508-9450-447CC0BB7E0A}"/>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Потребна реакција</a:t>
            </a:r>
          </a:p>
        </p:txBody>
      </p:sp>
      <p:sp>
        <p:nvSpPr>
          <p:cNvPr id="9" name="Rounded Rectangle 8">
            <a:extLst xmlns:a="http://schemas.openxmlformats.org/drawingml/2006/main">
              <a:ext uri="{FF2B5EF4-FFF2-40B4-BE49-F238E27FC236}">
                <a16:creationId xmlns:a16="http://schemas.microsoft.com/office/drawing/2014/main" id="{DDEF9A30-3703-4C58-8E14-65AC8660B1FF}"/>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D2417480-2D44-40A0-BAB4-96AC25450085}"/>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Сигнал</a:t>
            </a:r>
          </a:p>
        </p:txBody>
      </p:sp>
      <p:sp>
        <p:nvSpPr>
          <p:cNvPr id="11" name="Rectangle 10">
            <a:extLst xmlns:a="http://schemas.openxmlformats.org/drawingml/2006/main">
              <a:ext uri="{FF2B5EF4-FFF2-40B4-BE49-F238E27FC236}">
                <a16:creationId xmlns:a16="http://schemas.microsoft.com/office/drawing/2014/main" id="{AA9A18DF-BA08-48E7-8B08-06D226C611A4}"/>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Сиров догађај или одступање.</a:t>
            </a:r>
          </a:p>
        </p:txBody>
      </p:sp>
      <p:sp>
        <p:nvSpPr>
          <p:cNvPr id="12" name="Rectangle 11">
            <a:extLst xmlns:a="http://schemas.openxmlformats.org/drawingml/2006/main">
              <a:ext uri="{FF2B5EF4-FFF2-40B4-BE49-F238E27FC236}">
                <a16:creationId xmlns:a16="http://schemas.microsoft.com/office/drawing/2014/main" id="{611B5D09-529B-425F-88F1-86CF286D561C}"/>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Сачувати контекст и проверити правило.</a:t>
            </a:r>
          </a:p>
        </p:txBody>
      </p:sp>
      <p:sp>
        <p:nvSpPr>
          <p:cNvPr id="13" name="Rounded Rectangle 12">
            <a:extLst xmlns:a="http://schemas.openxmlformats.org/drawingml/2006/main">
              <a:ext uri="{FF2B5EF4-FFF2-40B4-BE49-F238E27FC236}">
                <a16:creationId xmlns:a16="http://schemas.microsoft.com/office/drawing/2014/main" id="{E2E2806D-03D6-4641-8F00-D5F82C89D95A}"/>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189DB630-BE9F-4E16-B796-B88B3436C170}"/>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Alert</a:t>
            </a:r>
          </a:p>
        </p:txBody>
      </p:sp>
      <p:sp>
        <p:nvSpPr>
          <p:cNvPr id="15" name="Rectangle 14">
            <a:extLst xmlns:a="http://schemas.openxmlformats.org/drawingml/2006/main">
              <a:ext uri="{FF2B5EF4-FFF2-40B4-BE49-F238E27FC236}">
                <a16:creationId xmlns:a16="http://schemas.microsoft.com/office/drawing/2014/main" id="{86667BBB-692D-4E03-8899-74ABA541DD78}"/>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Сигнал који је прешао дефинисан праг.</a:t>
            </a:r>
          </a:p>
        </p:txBody>
      </p:sp>
      <p:sp>
        <p:nvSpPr>
          <p:cNvPr id="16" name="Rectangle 15">
            <a:extLst xmlns:a="http://schemas.openxmlformats.org/drawingml/2006/main">
              <a:ext uri="{FF2B5EF4-FFF2-40B4-BE49-F238E27FC236}">
                <a16:creationId xmlns:a16="http://schemas.microsoft.com/office/drawing/2014/main" id="{70D34015-B8E5-4A95-BF6E-557A9C901C08}"/>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Triage и процена приоритета.</a:t>
            </a:r>
          </a:p>
        </p:txBody>
      </p:sp>
      <p:sp>
        <p:nvSpPr>
          <p:cNvPr id="17" name="Rounded Rectangle 16">
            <a:extLst xmlns:a="http://schemas.openxmlformats.org/drawingml/2006/main">
              <a:ext uri="{FF2B5EF4-FFF2-40B4-BE49-F238E27FC236}">
                <a16:creationId xmlns:a16="http://schemas.microsoft.com/office/drawing/2014/main" id="{BEA42558-B1E1-45BD-807F-824A4781D712}"/>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07472A25-E88D-43D8-B7EB-4A74265BE102}"/>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Инцидент</a:t>
            </a:r>
          </a:p>
        </p:txBody>
      </p:sp>
      <p:sp>
        <p:nvSpPr>
          <p:cNvPr id="19" name="Rectangle 18">
            <a:extLst xmlns:a="http://schemas.openxmlformats.org/drawingml/2006/main">
              <a:ext uri="{FF2B5EF4-FFF2-40B4-BE49-F238E27FC236}">
                <a16:creationId xmlns:a16="http://schemas.microsoft.com/office/drawing/2014/main" id="{9464F885-FA17-4F21-ABF3-9672B8E13691}"/>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Потврђен или вероватан безбедносни утицај.</a:t>
            </a:r>
          </a:p>
        </p:txBody>
      </p:sp>
      <p:sp>
        <p:nvSpPr>
          <p:cNvPr id="20" name="Rectangle 19">
            <a:extLst xmlns:a="http://schemas.openxmlformats.org/drawingml/2006/main">
              <a:ext uri="{FF2B5EF4-FFF2-40B4-BE49-F238E27FC236}">
                <a16:creationId xmlns:a16="http://schemas.microsoft.com/office/drawing/2014/main" id="{A7824BCE-4E7B-42AE-9228-ED506833FD30}"/>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 и следљив ток.</a:t>
            </a:r>
          </a:p>
        </p:txBody>
      </p:sp>
      <p:sp>
        <p:nvSpPr>
          <p:cNvPr id="21" name="Rounded Rectangle 20">
            <a:extLst xmlns:a="http://schemas.openxmlformats.org/drawingml/2006/main">
              <a:ext uri="{FF2B5EF4-FFF2-40B4-BE49-F238E27FC236}">
                <a16:creationId xmlns:a16="http://schemas.microsoft.com/office/drawing/2014/main" id="{5FF90A1B-CA8E-4546-AC8D-6494990BB281}"/>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5C9373AA-5868-405E-A669-DA1FC388B927}"/>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Налаз рањивости</a:t>
            </a:r>
          </a:p>
        </p:txBody>
      </p:sp>
      <p:sp>
        <p:nvSpPr>
          <p:cNvPr id="23" name="Rectangle 22">
            <a:extLst xmlns:a="http://schemas.openxmlformats.org/drawingml/2006/main">
              <a:ext uri="{FF2B5EF4-FFF2-40B4-BE49-F238E27FC236}">
                <a16:creationId xmlns:a16="http://schemas.microsoft.com/office/drawing/2014/main" id="{1089405F-F6AD-45F4-B377-C31C74057019}"/>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Потенцијална изложеност коју треба проценити.</a:t>
            </a:r>
          </a:p>
        </p:txBody>
      </p:sp>
      <p:sp>
        <p:nvSpPr>
          <p:cNvPr id="24" name="Rectangle 23">
            <a:extLst xmlns:a="http://schemas.openxmlformats.org/drawingml/2006/main">
              <a:ext uri="{FF2B5EF4-FFF2-40B4-BE49-F238E27FC236}">
                <a16:creationId xmlns:a16="http://schemas.microsoft.com/office/drawing/2014/main" id="{4F2FD2B8-58A6-40D3-8F2D-9B543D35E8E6}"/>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Власник, рок и доказ корекције.</a:t>
            </a:r>
          </a:p>
        </p:txBody>
      </p:sp>
    </p:spTree>
    <p:extLst>
      <p:ext uri="{BB962C8B-B14F-4D97-AF65-F5344CB8AC3E}">
        <p14:creationId xmlns:p14="http://schemas.microsoft.com/office/powerpoint/2010/main" val="14595077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06FC7E76-BBB2-4609-B6EF-1BB61EA1F697}"/>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C692D5F-43E9-4D14-9AB2-9E7045CFCAE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3C2D9A3-C723-47D4-9192-B9821662C1EF}"/>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F76A1528-A0E9-47D8-957C-2D2736E9758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одговора на безбедносни догађај</a:t>
            </a:r>
          </a:p>
        </p:txBody>
      </p:sp>
      <p:sp>
        <p:nvSpPr>
          <p:cNvPr id="5" name="Rectangle 4">
            <a:extLst xmlns:a="http://schemas.openxmlformats.org/drawingml/2006/main">
              <a:ext uri="{FF2B5EF4-FFF2-40B4-BE49-F238E27FC236}">
                <a16:creationId xmlns:a16="http://schemas.microsoft.com/office/drawing/2014/main" id="{D01EC252-AC54-4CC6-B845-6BE3BDCF4E14}"/>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371"/>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Значајни сигнали пролазе процену контекста и утицаја пре отварања инцидента. Исход анализе остаје доступан за наредне одлуке.</a:t>
            </a:r>
          </a:p>
        </p:txBody>
      </p:sp>
      <p:sp>
        <p:nvSpPr>
          <p:cNvPr id="6" name="Rounded Rectangle 5">
            <a:extLst xmlns:a="http://schemas.openxmlformats.org/drawingml/2006/main">
              <a:ext uri="{FF2B5EF4-FFF2-40B4-BE49-F238E27FC236}">
                <a16:creationId xmlns:a16="http://schemas.microsoft.com/office/drawing/2014/main" id="{EA33911C-4209-4036-9AB3-6A71283B6CA1}"/>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2F577AC-F76E-4CD2-9B0B-365F92DE926E}"/>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27DF54D-7B31-4343-A87C-381F44CB4005}"/>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Догађај</a:t>
            </a:r>
          </a:p>
        </p:txBody>
      </p:sp>
      <p:sp>
        <p:nvSpPr>
          <p:cNvPr id="9" name="Rectangle 8">
            <a:extLst xmlns:a="http://schemas.openxmlformats.org/drawingml/2006/main">
              <a:ext uri="{FF2B5EF4-FFF2-40B4-BE49-F238E27FC236}">
                <a16:creationId xmlns:a16="http://schemas.microsoft.com/office/drawing/2014/main" id="{A88BCE3C-BE23-4AF8-8690-8F137DDBDACB}"/>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сигнал из система</a:t>
            </a:r>
          </a:p>
        </p:txBody>
      </p:sp>
      <p:sp>
        <p:nvSpPr>
          <p:cNvPr id="10" name="Rounded Rectangle 9">
            <a:extLst xmlns:a="http://schemas.openxmlformats.org/drawingml/2006/main">
              <a:ext uri="{FF2B5EF4-FFF2-40B4-BE49-F238E27FC236}">
                <a16:creationId xmlns:a16="http://schemas.microsoft.com/office/drawing/2014/main" id="{0FDDF8EA-81D8-4813-A7B5-650AB13AFBD7}"/>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EF5F85C-91A3-4B94-B67A-83C74C81BA60}"/>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B55EF53E-9BB7-4505-B3AC-C49806FB6370}"/>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xmlns:a="http://schemas.openxmlformats.org/drawingml/2006/main">
              <a:ext uri="{FF2B5EF4-FFF2-40B4-BE49-F238E27FC236}">
                <a16:creationId xmlns:a16="http://schemas.microsoft.com/office/drawing/2014/main" id="{790F8A62-02D8-4347-B4E0-23C1B39C543B}"/>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и приоритет</a:t>
            </a:r>
          </a:p>
        </p:txBody>
      </p:sp>
      <p:sp>
        <p:nvSpPr>
          <p:cNvPr id="14" name="Rounded Rectangle 13">
            <a:extLst xmlns:a="http://schemas.openxmlformats.org/drawingml/2006/main">
              <a:ext uri="{FF2B5EF4-FFF2-40B4-BE49-F238E27FC236}">
                <a16:creationId xmlns:a16="http://schemas.microsoft.com/office/drawing/2014/main" id="{6218CE0A-21B5-4CCE-B3A2-245901892308}"/>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1005D7A-13BE-4478-A4F4-CEC0EA7C9D91}"/>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AB66DDD0-544D-48A2-9EAD-7632AD714B0D}"/>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Реакција</a:t>
            </a:r>
          </a:p>
        </p:txBody>
      </p:sp>
      <p:sp>
        <p:nvSpPr>
          <p:cNvPr id="17" name="Rectangle 16">
            <a:extLst xmlns:a="http://schemas.openxmlformats.org/drawingml/2006/main">
              <a:ext uri="{FF2B5EF4-FFF2-40B4-BE49-F238E27FC236}">
                <a16:creationId xmlns:a16="http://schemas.microsoft.com/office/drawing/2014/main" id="{057FCBEF-5BDD-43EA-8656-C14048B77368}"/>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1699"/>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инцидент или контролисано затварање</a:t>
            </a:r>
          </a:p>
        </p:txBody>
      </p:sp>
      <p:sp>
        <p:nvSpPr>
          <p:cNvPr id="18" name="Rounded Rectangle 17">
            <a:extLst xmlns:a="http://schemas.openxmlformats.org/drawingml/2006/main">
              <a:ext uri="{FF2B5EF4-FFF2-40B4-BE49-F238E27FC236}">
                <a16:creationId xmlns:a16="http://schemas.microsoft.com/office/drawing/2014/main" id="{F37C771A-5211-4DD2-B1F0-7815C9E5B9F3}"/>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C98A5897-56D8-4BC2-9082-003D0E48C40E}"/>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0068E7A6-B591-4595-986F-CFDBC297B0FE}"/>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Побољшање</a:t>
            </a:r>
          </a:p>
        </p:txBody>
      </p:sp>
      <p:sp>
        <p:nvSpPr>
          <p:cNvPr id="21" name="Rectangle 20">
            <a:extLst xmlns:a="http://schemas.openxmlformats.org/drawingml/2006/main">
              <a:ext uri="{FF2B5EF4-FFF2-40B4-BE49-F238E27FC236}">
                <a16:creationId xmlns:a16="http://schemas.microsoft.com/office/drawing/2014/main" id="{DE56FA70-3F71-4BA7-9020-38C0899B6ABC}"/>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нови доказ и мањи ризик</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A709A4AC-90E7-43D6-B24E-637713CFAAD3}"/>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B5243A4A-85DB-4A0E-A9CD-9FC3D05C90C6}"/>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8832E9D0-6303-4948-9BAD-0947B607720C}"/>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FA062311-6DD6-4B89-A68A-CAEB0D3E175A}"/>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BF1F09ED-F087-4076-B988-3DE1596363D9}"/>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28B37C32-5DAB-436D-B00D-A73D2C54A13E}"/>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13857080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5752C65C-14A7-401E-90BD-BA0E7D0DF8F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DCEC499-E220-474C-A408-0E726287EB1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57171D1-6A20-4135-B4A2-3E19AE038FD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0E99B20C-1164-4F40-93FC-E4CFCA55CE33}"/>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Ток управљања рањивошћу</a:t>
            </a:r>
          </a:p>
        </p:txBody>
      </p:sp>
      <p:sp>
        <p:nvSpPr>
          <p:cNvPr id="5" name="Rectangle 4">
            <a:extLst xmlns:a="http://schemas.openxmlformats.org/drawingml/2006/main">
              <a:ext uri="{FF2B5EF4-FFF2-40B4-BE49-F238E27FC236}">
                <a16:creationId xmlns:a16="http://schemas.microsoft.com/office/drawing/2014/main" id="{22BDE41D-3988-4087-A911-04644387F8D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DBBF012F-EDAC-4014-BDA9-A5DDB69A8769}"/>
              </a:ext>
            </a:extLst>
          </p:cNvPr>
          <p:cNvSpPr>
            <a:spLocks xmlns:a="http://schemas.openxmlformats.org/drawingml/2006/main" noGrp="1"/>
          </p:cNvSpPr>
          <p:nvPr/>
        </p:nvSpPr>
        <p:spPr>
          <a:xfrm xmlns:a="http://schemas.openxmlformats.org/drawingml/2006/main">
            <a:off x="781050" y="2152650"/>
            <a:ext cx="4572000" cy="2249229"/>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37CF439-55E8-407A-AC5F-E2E7DD45726B}"/>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555BC77B-931C-484F-A4EF-950B65F6FAD0}"/>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Ток управљања рањивошћу</a:t>
            </a:r>
          </a:p>
        </p:txBody>
      </p:sp>
      <p:sp>
        <p:nvSpPr>
          <p:cNvPr id="9" name="Rectangle 8">
            <a:extLst xmlns:a="http://schemas.openxmlformats.org/drawingml/2006/main">
              <a:ext uri="{FF2B5EF4-FFF2-40B4-BE49-F238E27FC236}">
                <a16:creationId xmlns:a16="http://schemas.microsoft.com/office/drawing/2014/main" id="{5E4B814F-536F-494C-84DA-E9E33D0DAADB}"/>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Налаз постаје користан тек када се повеже са стварном имовином и њеном изложеношћу. Исти технички проблем нема исти приоритет на изолованом развојном рачунару и на јавно доступној услузи која обрађује осетљиве податке.</a:t>
            </a:r>
          </a:p>
        </p:txBody>
      </p:sp>
      <p:sp>
        <p:nvSpPr>
          <p:cNvPr id="10" name="Rounded Rectangle 9">
            <a:extLst xmlns:a="http://schemas.openxmlformats.org/drawingml/2006/main">
              <a:ext uri="{FF2B5EF4-FFF2-40B4-BE49-F238E27FC236}">
                <a16:creationId xmlns:a16="http://schemas.microsoft.com/office/drawing/2014/main" id="{BCD7E0D9-2181-435E-A82B-3B3D2C096CD3}"/>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F7C5FE21-88C4-4741-B060-D2F98EA8B3CC}"/>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0F732340-7E8D-427E-8873-B37B56B31EB0}"/>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Потврдити да се налаз односи на стварну компоненту и активну верзију.</a:t>
            </a:r>
          </a:p>
        </p:txBody>
      </p:sp>
      <p:sp>
        <p:nvSpPr>
          <p:cNvPr id="13" name="Rounded Rectangle 12">
            <a:extLst xmlns:a="http://schemas.openxmlformats.org/drawingml/2006/main">
              <a:ext uri="{FF2B5EF4-FFF2-40B4-BE49-F238E27FC236}">
                <a16:creationId xmlns:a16="http://schemas.microsoft.com/office/drawing/2014/main" id="{365C1010-762A-4D05-B96C-71EF02F60BCD}"/>
              </a:ext>
            </a:extLst>
          </p:cNvPr>
          <p:cNvSpPr>
            <a:spLocks xmlns:a="http://schemas.openxmlformats.org/drawingml/2006/main" noGrp="1"/>
          </p:cNvSpPr>
          <p:nvPr/>
        </p:nvSpPr>
        <p:spPr>
          <a:xfrm xmlns:a="http://schemas.openxmlformats.org/drawingml/2006/main">
            <a:off x="5772150" y="2971799"/>
            <a:ext cx="5638800" cy="830227"/>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7CCF19CA-8F18-47BF-B935-EA5226EA288E}"/>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3FB31199-B51F-43F0-B032-54F64A85BBB0}"/>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Процени утицај у контексту доступности, података и граница поверења.</a:t>
            </a:r>
          </a:p>
        </p:txBody>
      </p:sp>
      <p:sp>
        <p:nvSpPr>
          <p:cNvPr id="16" name="Rounded Rectangle 15">
            <a:extLst xmlns:a="http://schemas.openxmlformats.org/drawingml/2006/main">
              <a:ext uri="{FF2B5EF4-FFF2-40B4-BE49-F238E27FC236}">
                <a16:creationId xmlns:a16="http://schemas.microsoft.com/office/drawing/2014/main" id="{C4BB2AD7-7C36-4805-BDC5-4102AF511291}"/>
              </a:ext>
            </a:extLst>
          </p:cNvPr>
          <p:cNvSpPr>
            <a:spLocks xmlns:a="http://schemas.openxmlformats.org/drawingml/2006/main" noGrp="1"/>
          </p:cNvSpPr>
          <p:nvPr/>
        </p:nvSpPr>
        <p:spPr>
          <a:xfrm xmlns:a="http://schemas.openxmlformats.org/drawingml/2006/main">
            <a:off x="5772150" y="3954426"/>
            <a:ext cx="5638800" cy="870764"/>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A93758B0-8D2B-4E30-ABE9-E3ACC834A190}"/>
              </a:ext>
            </a:extLst>
          </p:cNvPr>
          <p:cNvSpPr>
            <a:spLocks xmlns:a="http://schemas.openxmlformats.org/drawingml/2006/main" noGrp="1"/>
          </p:cNvSpPr>
          <p:nvPr/>
        </p:nvSpPr>
        <p:spPr>
          <a:xfrm xmlns:a="http://schemas.openxmlformats.org/drawingml/2006/main">
            <a:off x="5924550" y="4078252"/>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FD03835D-DB85-4C7F-8A4C-64376DD3D902}"/>
              </a:ext>
            </a:extLst>
          </p:cNvPr>
          <p:cNvSpPr>
            <a:spLocks xmlns:a="http://schemas.openxmlformats.org/drawingml/2006/main" noGrp="1"/>
          </p:cNvSpPr>
          <p:nvPr/>
        </p:nvSpPr>
        <p:spPr>
          <a:xfrm xmlns:a="http://schemas.openxmlformats.org/drawingml/2006/main">
            <a:off x="5924550" y="4325902"/>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Одредити</a:t>
            </a:r>
            <a:r>
              <a:rPr sz="1350" b="1">
                <a:solidFill>
                  <a:srgbClr val="1A202C"/>
                </a:solidFill>
                <a:latin typeface="Aptos"/>
                <a:ea typeface="Aptos"/>
                <a:cs typeface="Aptos"/>
              </a:rPr>
              <a:t> </a:t>
            </a:r>
            <a:r>
              <a:rPr sz="1350" b="1">
                <a:solidFill>
                  <a:srgbClr val="1A202C"/>
                </a:solidFill>
                <a:latin typeface="Aptos"/>
                <a:ea typeface="Aptos"/>
                <a:cs typeface="Aptos"/>
              </a:rPr>
              <a:t>корекцију</a:t>
            </a:r>
            <a:r>
              <a:rPr sz="1350" b="1">
                <a:solidFill>
                  <a:srgbClr val="1A202C"/>
                </a:solidFill>
                <a:latin typeface="Aptos"/>
                <a:ea typeface="Aptos"/>
                <a:cs typeface="Aptos"/>
              </a:rPr>
              <a:t>, </a:t>
            </a:r>
            <a:r>
              <a:rPr sz="1350" b="1">
                <a:solidFill>
                  <a:srgbClr val="1A202C"/>
                </a:solidFill>
                <a:latin typeface="Aptos"/>
                <a:ea typeface="Aptos"/>
                <a:cs typeface="Aptos"/>
              </a:rPr>
              <a:t>компензациону</a:t>
            </a:r>
            <a:r>
              <a:rPr sz="1350" b="1">
                <a:solidFill>
                  <a:srgbClr val="1A202C"/>
                </a:solidFill>
                <a:latin typeface="Aptos"/>
                <a:ea typeface="Aptos"/>
                <a:cs typeface="Aptos"/>
              </a:rPr>
              <a:t> </a:t>
            </a:r>
            <a:r>
              <a:rPr sz="1350" b="1">
                <a:solidFill>
                  <a:srgbClr val="1A202C"/>
                </a:solidFill>
                <a:latin typeface="Aptos"/>
                <a:ea typeface="Aptos"/>
                <a:cs typeface="Aptos"/>
              </a:rPr>
              <a:t>контролу</a:t>
            </a:r>
            <a:r>
              <a:rPr sz="1350" b="1">
                <a:solidFill>
                  <a:srgbClr val="1A202C"/>
                </a:solidFill>
                <a:latin typeface="Aptos"/>
                <a:ea typeface="Aptos"/>
                <a:cs typeface="Aptos"/>
              </a:rPr>
              <a:t> </a:t>
            </a:r>
            <a:r>
              <a:rPr sz="1350" b="1">
                <a:solidFill>
                  <a:srgbClr val="1A202C"/>
                </a:solidFill>
                <a:latin typeface="Aptos"/>
                <a:ea typeface="Aptos"/>
                <a:cs typeface="Aptos"/>
              </a:rPr>
              <a:t>или</a:t>
            </a:r>
            <a:r>
              <a:rPr sz="1350" b="1">
                <a:solidFill>
                  <a:srgbClr val="1A202C"/>
                </a:solidFill>
                <a:latin typeface="Aptos"/>
                <a:ea typeface="Aptos"/>
                <a:cs typeface="Aptos"/>
              </a:rPr>
              <a:t> </a:t>
            </a:r>
            <a:r>
              <a:rPr sz="1350" b="1">
                <a:solidFill>
                  <a:srgbClr val="1A202C"/>
                </a:solidFill>
                <a:latin typeface="Aptos"/>
                <a:ea typeface="Aptos"/>
                <a:cs typeface="Aptos"/>
              </a:rPr>
              <a:t>образложено</a:t>
            </a:r>
            <a:r>
              <a:rPr sz="1350" b="1">
                <a:solidFill>
                  <a:srgbClr val="1A202C"/>
                </a:solidFill>
                <a:latin typeface="Aptos"/>
                <a:ea typeface="Aptos"/>
                <a:cs typeface="Aptos"/>
              </a:rPr>
              <a:t> </a:t>
            </a:r>
            <a:r>
              <a:rPr sz="1350" b="1">
                <a:solidFill>
                  <a:srgbClr val="1A202C"/>
                </a:solidFill>
                <a:latin typeface="Aptos"/>
                <a:ea typeface="Aptos"/>
                <a:cs typeface="Aptos"/>
              </a:rPr>
              <a:t>прихватање</a:t>
            </a:r>
            <a:r>
              <a:rPr sz="1350" b="1">
                <a:solidFill>
                  <a:srgbClr val="1A202C"/>
                </a:solidFill>
                <a:latin typeface="Aptos"/>
                <a:ea typeface="Aptos"/>
                <a:cs typeface="Aptos"/>
              </a:rPr>
              <a:t> </a:t>
            </a:r>
            <a:r>
              <a:rPr sz="1350" b="1">
                <a:solidFill>
                  <a:srgbClr val="1A202C"/>
                </a:solidFill>
                <a:latin typeface="Aptos"/>
                <a:ea typeface="Aptos"/>
                <a:cs typeface="Aptos"/>
              </a:rPr>
              <a:t>ризика</a:t>
            </a:r>
            <a:r>
              <a:rPr sz="1350" b="1">
                <a:solidFill>
                  <a:srgbClr val="1A202C"/>
                </a:solidFill>
                <a:latin typeface="Aptos"/>
                <a:ea typeface="Aptos"/>
                <a:cs typeface="Aptos"/>
              </a:rPr>
              <a:t>.</a:t>
            </a:r>
          </a:p>
        </p:txBody>
      </p:sp>
      <p:sp>
        <p:nvSpPr>
          <p:cNvPr id="19" name="Rounded Rectangle 18">
            <a:extLst xmlns:a="http://schemas.openxmlformats.org/drawingml/2006/main">
              <a:ext uri="{FF2B5EF4-FFF2-40B4-BE49-F238E27FC236}">
                <a16:creationId xmlns:a16="http://schemas.microsoft.com/office/drawing/2014/main" id="{90F7E523-43C2-483E-94B0-33F75FDCD909}"/>
              </a:ext>
            </a:extLst>
          </p:cNvPr>
          <p:cNvSpPr>
            <a:spLocks xmlns:a="http://schemas.openxmlformats.org/drawingml/2006/main" noGrp="1"/>
          </p:cNvSpPr>
          <p:nvPr/>
        </p:nvSpPr>
        <p:spPr>
          <a:xfrm xmlns:a="http://schemas.openxmlformats.org/drawingml/2006/main">
            <a:off x="5772150" y="4979586"/>
            <a:ext cx="5638800" cy="910855"/>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07561778-2507-4981-B34F-C0169E10B121}"/>
              </a:ext>
            </a:extLst>
          </p:cNvPr>
          <p:cNvSpPr>
            <a:spLocks xmlns:a="http://schemas.openxmlformats.org/drawingml/2006/main" noGrp="1"/>
          </p:cNvSpPr>
          <p:nvPr/>
        </p:nvSpPr>
        <p:spPr>
          <a:xfrm xmlns:a="http://schemas.openxmlformats.org/drawingml/2006/main">
            <a:off x="5924550" y="5103412"/>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04442FCB-B114-491A-9BF4-AE0852382034}"/>
              </a:ext>
            </a:extLst>
          </p:cNvPr>
          <p:cNvSpPr>
            <a:spLocks xmlns:a="http://schemas.openxmlformats.org/drawingml/2006/main" noGrp="1"/>
          </p:cNvSpPr>
          <p:nvPr/>
        </p:nvSpPr>
        <p:spPr>
          <a:xfrm xmlns:a="http://schemas.openxmlformats.org/drawingml/2006/main">
            <a:off x="5924550" y="5351062"/>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Затворити</a:t>
            </a:r>
            <a:r>
              <a:rPr sz="1350" b="1">
                <a:solidFill>
                  <a:srgbClr val="1A202C"/>
                </a:solidFill>
                <a:latin typeface="Aptos"/>
                <a:ea typeface="Aptos"/>
                <a:cs typeface="Aptos"/>
              </a:rPr>
              <a:t> </a:t>
            </a:r>
            <a:r>
              <a:rPr sz="1350" b="1">
                <a:solidFill>
                  <a:srgbClr val="1A202C"/>
                </a:solidFill>
                <a:latin typeface="Aptos"/>
                <a:ea typeface="Aptos"/>
                <a:cs typeface="Aptos"/>
              </a:rPr>
              <a:t>налаз</a:t>
            </a:r>
            <a:r>
              <a:rPr sz="1350" b="1">
                <a:solidFill>
                  <a:srgbClr val="1A202C"/>
                </a:solidFill>
                <a:latin typeface="Aptos"/>
                <a:ea typeface="Aptos"/>
                <a:cs typeface="Aptos"/>
              </a:rPr>
              <a:t> </a:t>
            </a:r>
            <a:r>
              <a:rPr sz="1350" b="1">
                <a:solidFill>
                  <a:srgbClr val="1A202C"/>
                </a:solidFill>
                <a:latin typeface="Aptos"/>
                <a:ea typeface="Aptos"/>
                <a:cs typeface="Aptos"/>
              </a:rPr>
              <a:t>тек</a:t>
            </a:r>
            <a:r>
              <a:rPr sz="1350" b="1">
                <a:solidFill>
                  <a:srgbClr val="1A202C"/>
                </a:solidFill>
                <a:latin typeface="Aptos"/>
                <a:ea typeface="Aptos"/>
                <a:cs typeface="Aptos"/>
              </a:rPr>
              <a:t> </a:t>
            </a:r>
            <a:r>
              <a:rPr sz="1350" b="1">
                <a:solidFill>
                  <a:srgbClr val="1A202C"/>
                </a:solidFill>
                <a:latin typeface="Aptos"/>
                <a:ea typeface="Aptos"/>
                <a:cs typeface="Aptos"/>
              </a:rPr>
              <a:t>када</a:t>
            </a:r>
            <a:r>
              <a:rPr sz="1350" b="1">
                <a:solidFill>
                  <a:srgbClr val="1A202C"/>
                </a:solidFill>
                <a:latin typeface="Aptos"/>
                <a:ea typeface="Aptos"/>
                <a:cs typeface="Aptos"/>
              </a:rPr>
              <a:t> </a:t>
            </a:r>
            <a:r>
              <a:rPr sz="1350" b="1">
                <a:solidFill>
                  <a:srgbClr val="1A202C"/>
                </a:solidFill>
                <a:latin typeface="Aptos"/>
                <a:ea typeface="Aptos"/>
                <a:cs typeface="Aptos"/>
              </a:rPr>
              <a:t>постоји</a:t>
            </a:r>
            <a:r>
              <a:rPr sz="1350" b="1">
                <a:solidFill>
                  <a:srgbClr val="1A202C"/>
                </a:solidFill>
                <a:latin typeface="Aptos"/>
                <a:ea typeface="Aptos"/>
                <a:cs typeface="Aptos"/>
              </a:rPr>
              <a:t> </a:t>
            </a:r>
            <a:r>
              <a:rPr sz="1350" b="1">
                <a:solidFill>
                  <a:srgbClr val="1A202C"/>
                </a:solidFill>
                <a:latin typeface="Aptos"/>
                <a:ea typeface="Aptos"/>
                <a:cs typeface="Aptos"/>
              </a:rPr>
              <a:t>доказ</a:t>
            </a:r>
            <a:r>
              <a:rPr sz="1350" b="1">
                <a:solidFill>
                  <a:srgbClr val="1A202C"/>
                </a:solidFill>
                <a:latin typeface="Aptos"/>
                <a:ea typeface="Aptos"/>
                <a:cs typeface="Aptos"/>
              </a:rPr>
              <a:t> </a:t>
            </a:r>
            <a:r>
              <a:rPr sz="1350" b="1">
                <a:solidFill>
                  <a:srgbClr val="1A202C"/>
                </a:solidFill>
                <a:latin typeface="Aptos"/>
                <a:ea typeface="Aptos"/>
                <a:cs typeface="Aptos"/>
              </a:rPr>
              <a:t>да</a:t>
            </a:r>
            <a:r>
              <a:rPr sz="1350" b="1">
                <a:solidFill>
                  <a:srgbClr val="1A202C"/>
                </a:solidFill>
                <a:latin typeface="Aptos"/>
                <a:ea typeface="Aptos"/>
                <a:cs typeface="Aptos"/>
              </a:rPr>
              <a:t> </a:t>
            </a:r>
            <a:r>
              <a:rPr sz="1350" b="1">
                <a:solidFill>
                  <a:srgbClr val="1A202C"/>
                </a:solidFill>
                <a:latin typeface="Aptos"/>
                <a:ea typeface="Aptos"/>
                <a:cs typeface="Aptos"/>
              </a:rPr>
              <a:t>је</a:t>
            </a:r>
            <a:r>
              <a:rPr sz="1350" b="1">
                <a:solidFill>
                  <a:srgbClr val="1A202C"/>
                </a:solidFill>
                <a:latin typeface="Aptos"/>
                <a:ea typeface="Aptos"/>
                <a:cs typeface="Aptos"/>
              </a:rPr>
              <a:t> </a:t>
            </a:r>
            <a:r>
              <a:rPr sz="1350" b="1">
                <a:solidFill>
                  <a:srgbClr val="1A202C"/>
                </a:solidFill>
                <a:latin typeface="Aptos"/>
                <a:ea typeface="Aptos"/>
                <a:cs typeface="Aptos"/>
              </a:rPr>
              <a:t>изложеност</a:t>
            </a:r>
            <a:r>
              <a:rPr sz="1350" b="1">
                <a:solidFill>
                  <a:srgbClr val="1A202C"/>
                </a:solidFill>
                <a:latin typeface="Aptos"/>
                <a:ea typeface="Aptos"/>
                <a:cs typeface="Aptos"/>
              </a:rPr>
              <a:t> </a:t>
            </a:r>
            <a:r>
              <a:rPr sz="1350" b="1">
                <a:solidFill>
                  <a:srgbClr val="1A202C"/>
                </a:solidFill>
                <a:latin typeface="Aptos"/>
                <a:ea typeface="Aptos"/>
                <a:cs typeface="Aptos"/>
              </a:rPr>
              <a:t>проверено</a:t>
            </a:r>
            <a:r>
              <a:rPr sz="1350" b="1">
                <a:solidFill>
                  <a:srgbClr val="1A202C"/>
                </a:solidFill>
                <a:latin typeface="Aptos"/>
                <a:ea typeface="Aptos"/>
                <a:cs typeface="Aptos"/>
              </a:rPr>
              <a:t> </a:t>
            </a:r>
            <a:r>
              <a:rPr sz="1350" b="1">
                <a:solidFill>
                  <a:srgbClr val="1A202C"/>
                </a:solidFill>
                <a:latin typeface="Aptos"/>
                <a:ea typeface="Aptos"/>
                <a:cs typeface="Aptos"/>
              </a:rPr>
              <a:t>смањена</a:t>
            </a:r>
            <a:r>
              <a:rPr sz="1350" b="1">
                <a:solidFill>
                  <a:srgbClr val="1A202C"/>
                </a:solidFill>
                <a:latin typeface="Aptos"/>
                <a:ea typeface="Aptos"/>
                <a:cs typeface="Aptos"/>
              </a:rPr>
              <a:t>.</a:t>
            </a:r>
          </a:p>
        </p:txBody>
      </p:sp>
    </p:spTree>
    <p:extLst>
      <p:ext uri="{BB962C8B-B14F-4D97-AF65-F5344CB8AC3E}">
        <p14:creationId xmlns:p14="http://schemas.microsoft.com/office/powerpoint/2010/main" val="6554586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42731258-B72B-422C-8C72-B2E26399CC2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967512E-8111-4E40-962A-4BDED95421D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A87C600-1F8C-4D9F-BC23-0974AC94F1A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87F98702-81FD-4BE3-93EE-E4E192B9E67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 тражи контекст</a:t>
            </a:r>
          </a:p>
        </p:txBody>
      </p:sp>
      <p:sp>
        <p:nvSpPr>
          <p:cNvPr id="5" name="Rectangle 4">
            <a:extLst xmlns:a="http://schemas.openxmlformats.org/drawingml/2006/main">
              <a:ext uri="{FF2B5EF4-FFF2-40B4-BE49-F238E27FC236}">
                <a16:creationId xmlns:a16="http://schemas.microsoft.com/office/drawing/2014/main" id="{404DF458-2693-4A4B-A98B-29697D1A0DC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0458227E-2539-40DC-8219-89AB41AF6DC2}"/>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AC40C5F-2350-4B7A-854C-29CC0E37AF5A}"/>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873BE11D-78FB-4774-8AF3-F05C6306A2F0}"/>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Праг детекције треба да има смисао и разлог, не само произвољну бројку.</a:t>
            </a:r>
          </a:p>
        </p:txBody>
      </p:sp>
      <p:sp>
        <p:nvSpPr>
          <p:cNvPr id="9" name="Rectangle 8">
            <a:extLst xmlns:a="http://schemas.openxmlformats.org/drawingml/2006/main">
              <a:ext uri="{FF2B5EF4-FFF2-40B4-BE49-F238E27FC236}">
                <a16:creationId xmlns:a16="http://schemas.microsoft.com/office/drawing/2014/main" id="{76724959-5F28-470A-A1EA-1D30D69C5999}"/>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DD24F0F8-79A1-4056-B8B0-FF6D0BD0F5EB}"/>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297EDA9-E61B-4607-A6F5-3203C44E891A}"/>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26E59437-FFC9-406B-BD44-98DB54529F7C}"/>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Затварање упозорења чува образложење, јер је то знање за следећи сличан случај.</a:t>
            </a:r>
          </a:p>
        </p:txBody>
      </p:sp>
      <p:sp>
        <p:nvSpPr>
          <p:cNvPr id="13" name="Rectangle 12">
            <a:extLst xmlns:a="http://schemas.openxmlformats.org/drawingml/2006/main">
              <a:ext uri="{FF2B5EF4-FFF2-40B4-BE49-F238E27FC236}">
                <a16:creationId xmlns:a16="http://schemas.microsoft.com/office/drawing/2014/main" id="{21CC250F-D23B-432C-A26B-5F016CA453E7}"/>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33030A78-0048-4332-846C-473FDEF525EC}"/>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5AC9FE2-CB79-497E-B85A-CE584EA41152}"/>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028607CA-F9F2-4187-B25E-D7BF4F914A5B}"/>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Рањивост се сматра решеном након провере да је ризик смањен на прихватљив ниво.</a:t>
            </a:r>
          </a:p>
        </p:txBody>
      </p:sp>
      <p:sp>
        <p:nvSpPr>
          <p:cNvPr id="17" name="Rectangle 16">
            <a:extLst xmlns:a="http://schemas.openxmlformats.org/drawingml/2006/main">
              <a:ext uri="{FF2B5EF4-FFF2-40B4-BE49-F238E27FC236}">
                <a16:creationId xmlns:a16="http://schemas.microsoft.com/office/drawing/2014/main" id="{74F036E5-A5FD-4B30-A674-F4DBF0893836}"/>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102184129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F2B3E7D4-57E6-42F1-8312-44B2E22DCF4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89F6E89-4FDB-4CA3-A016-49902B6E772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2D961283-6134-49CB-A9C1-F404B0B87E18}"/>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871A843B-D6C5-480A-85D6-A5248420542A}"/>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8D7065DF-5C9D-4E81-94B9-102155FC3A01}"/>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CB586EC6-3460-496C-B8D9-C2BEEB1CEAC4}"/>
              </a:ext>
            </a:extLst>
          </p:cNvPr>
          <p:cNvSpPr>
            <a:spLocks xmlns:a="http://schemas.openxmlformats.org/drawingml/2006/main" noGrp="1"/>
          </p:cNvSpPr>
          <p:nvPr/>
        </p:nvSpPr>
        <p:spPr>
          <a:xfrm xmlns:a="http://schemas.openxmlformats.org/drawingml/2006/main">
            <a:off x="800100" y="2209800"/>
            <a:ext cx="4810125" cy="2857500"/>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B69D1B1-B566-4BCA-9B93-C752ADEF797C}"/>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CA0171EC-B17B-45F5-AC42-F926111C528E}"/>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5BC7B48E-BCC5-420C-97C9-279635799F2B}"/>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бира мали број сигнала који су разумљиви оператеру. За сваки описује нормално понашање, разлог активирања, одговорну особу и безбедан начин провере. Тако се детекција дизајнира као производна могућност, а не као споредни лог.</a:t>
            </a:r>
          </a:p>
        </p:txBody>
      </p:sp>
      <p:sp>
        <p:nvSpPr>
          <p:cNvPr id="10" name="Rounded Rectangle 9">
            <a:extLst xmlns:a="http://schemas.openxmlformats.org/drawingml/2006/main">
              <a:ext uri="{FF2B5EF4-FFF2-40B4-BE49-F238E27FC236}">
                <a16:creationId xmlns:a16="http://schemas.microsoft.com/office/drawing/2014/main" id="{F8D90DFB-D898-42AC-853B-CF7AB1AB271B}"/>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66FA92A5-B1C6-4790-8B9B-3055C971D765}"/>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1BD54ED4-8FD1-4DF5-B337-E336688E7963}"/>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E8B15B90-1953-4800-B590-F0C8D0CB93D7}"/>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844D125E-3A68-4E17-BD7B-E570273F4267}"/>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C1E83E3D-7ED3-4B6F-9B21-CF3501EC0015}"/>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237E90D1-3A2B-4D8E-B2EC-9B1B6D510E57}"/>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D15C4687-377A-41E3-8996-CCCA870F3C17}"/>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CE2CF53C-1169-4C19-820C-2650EA519EBD}"/>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38733775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69FEC50A-2129-41FC-BB85-CF24BFB3337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D80F698-0497-44DF-AC16-D629957471B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9D4C8CD-972D-4840-9660-F74F7ED9699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5B7A9E0E-5ED1-4340-B206-9F3317CCA8F8}"/>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више неуспелих пријава</a:t>
            </a:r>
          </a:p>
        </p:txBody>
      </p:sp>
      <p:sp>
        <p:nvSpPr>
          <p:cNvPr id="5" name="Rectangle 4">
            <a:extLst xmlns:a="http://schemas.openxmlformats.org/drawingml/2006/main">
              <a:ext uri="{FF2B5EF4-FFF2-40B4-BE49-F238E27FC236}">
                <a16:creationId xmlns:a16="http://schemas.microsoft.com/office/drawing/2014/main" id="{DBA77933-86ED-4A47-9FCC-611B151AA9B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ECB59A89-F241-4EFD-8C0F-5AF5B88D049C}"/>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59A97139-DFFD-4330-B9AF-A0AD5EA36E34}"/>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80D372C8-0FD1-4AC2-AFE1-07AF7456A2F5}"/>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више неуспелих пријава</a:t>
            </a:r>
          </a:p>
        </p:txBody>
      </p:sp>
      <p:sp>
        <p:nvSpPr>
          <p:cNvPr id="9" name="Rectangle 8">
            <a:extLst xmlns:a="http://schemas.openxmlformats.org/drawingml/2006/main">
              <a:ext uri="{FF2B5EF4-FFF2-40B4-BE49-F238E27FC236}">
                <a16:creationId xmlns:a16="http://schemas.microsoft.com/office/drawing/2014/main" id="{18B2AA8C-17BB-47F8-8D7E-ED94AE81F55C}"/>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Низ неуспелих пријава може значити погрешно запамћену лозинку, проблем интеграције или покушај злоупотребе. Сам број неуспеха зато није довољан за закључак. Triage додаје контекст: да ли су покушаји дошли са истог извора, да ли се односе на осетљиве налоге и да ли се образац наставља након упозорења.</a:t>
            </a:r>
          </a:p>
        </p:txBody>
      </p:sp>
      <p:sp>
        <p:nvSpPr>
          <p:cNvPr id="10" name="Rounded Rectangle 9">
            <a:extLst xmlns:a="http://schemas.openxmlformats.org/drawingml/2006/main">
              <a:ext uri="{FF2B5EF4-FFF2-40B4-BE49-F238E27FC236}">
                <a16:creationId xmlns:a16="http://schemas.microsoft.com/office/drawing/2014/main" id="{2D763E46-DBFC-4D08-8676-45A3AF777252}"/>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252198DC-8C0D-4462-A177-6224D2B69EA6}"/>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5F0680D5-5B32-4B12-A0D3-039940F55ACA}"/>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Детекција треба да опише образац који је вредан пажње, а не да сваку грешку прогласи инцидентом.</a:t>
            </a:r>
          </a:p>
        </p:txBody>
      </p:sp>
      <p:sp>
        <p:nvSpPr>
          <p:cNvPr id="13" name="Rounded Rectangle 12">
            <a:extLst xmlns:a="http://schemas.openxmlformats.org/drawingml/2006/main">
              <a:ext uri="{FF2B5EF4-FFF2-40B4-BE49-F238E27FC236}">
                <a16:creationId xmlns:a16="http://schemas.microsoft.com/office/drawing/2014/main" id="{6DE7EEC0-83B4-4508-B5D8-4E5EF9F75D21}"/>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60306B6E-CE2B-4DED-A7E2-213CA17DE8B6}"/>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0CF09F39-0A80-4F95-9500-1902B0E26DE1}"/>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Triage чува одлуку и образложење, укључујући разлог због ког је упозорење затворено.</a:t>
            </a:r>
          </a:p>
        </p:txBody>
      </p:sp>
      <p:sp>
        <p:nvSpPr>
          <p:cNvPr id="16" name="Rounded Rectangle 15">
            <a:extLst xmlns:a="http://schemas.openxmlformats.org/drawingml/2006/main">
              <a:ext uri="{FF2B5EF4-FFF2-40B4-BE49-F238E27FC236}">
                <a16:creationId xmlns:a16="http://schemas.microsoft.com/office/drawing/2014/main" id="{8F695BC1-280C-4220-B53F-E91BD82AB8AB}"/>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E560EC49-57CB-49B3-B00E-B033A4390092}"/>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F4B0AECF-8893-49A2-A05D-75F158B04635}"/>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Затварање рањивости тражи доказ да је изложеност уклоњена или прихваћена уз видљив преостали ризик.</a:t>
            </a:r>
          </a:p>
        </p:txBody>
      </p:sp>
    </p:spTree>
    <p:extLst>
      <p:ext uri="{BB962C8B-B14F-4D97-AF65-F5344CB8AC3E}">
        <p14:creationId xmlns:p14="http://schemas.microsoft.com/office/powerpoint/2010/main" val="10782973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A5224326-DDB8-4814-872C-5FACFE29B629}"/>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C085AD4-2810-48F4-AFE9-FC076A4F15E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6E9C65E-74C5-404D-A6B5-2FE51012D18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56D06B14-EC95-4107-8BD7-50344F02BD4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Triage додаје контекст пре отварања инцидента</a:t>
            </a:r>
          </a:p>
        </p:txBody>
      </p:sp>
      <p:sp>
        <p:nvSpPr>
          <p:cNvPr id="5" name="Rectangle 4">
            <a:extLst xmlns:a="http://schemas.openxmlformats.org/drawingml/2006/main">
              <a:ext uri="{FF2B5EF4-FFF2-40B4-BE49-F238E27FC236}">
                <a16:creationId xmlns:a16="http://schemas.microsoft.com/office/drawing/2014/main" id="{DA11D819-C04F-4404-8660-7FBA1906B7B7}"/>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Triage обједињује релевантне сигнале и процењује контекст пре отварања инцидента.</a:t>
            </a:r>
          </a:p>
        </p:txBody>
      </p:sp>
      <p:sp>
        <p:nvSpPr>
          <p:cNvPr id="6" name="Rounded Rectangle 5">
            <a:extLst xmlns:a="http://schemas.openxmlformats.org/drawingml/2006/main">
              <a:ext uri="{FF2B5EF4-FFF2-40B4-BE49-F238E27FC236}">
                <a16:creationId xmlns:a16="http://schemas.microsoft.com/office/drawing/2014/main" id="{8D1ABE50-0BB2-4751-A75F-F92784EB9515}"/>
              </a:ext>
            </a:extLst>
          </p:cNvPr>
          <p:cNvSpPr>
            <a:spLocks xmlns:a="http://schemas.openxmlformats.org/drawingml/2006/main" noGrp="1"/>
          </p:cNvSpPr>
          <p:nvPr/>
        </p:nvSpPr>
        <p:spPr>
          <a:xfrm xmlns:a="http://schemas.openxmlformats.org/drawingml/2006/main">
            <a:off x="666750" y="2095500"/>
            <a:ext cx="6858000" cy="2152650"/>
          </a:xfrm>
          <a:prstGeom xmlns:a="http://schemas.openxmlformats.org/drawingml/2006/main" prst="roundRect">
            <a:avLst>
              <a:gd name="adj" fmla="val 4425"/>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4D9E7D0F-F3A2-4137-994C-238C7990C0CF}"/>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1ACC8B3B-8697-4E78-B4D3-7850FDA6D869}"/>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F285679-5EE2-4AB9-A29C-831168441F64}"/>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2C87E559-52AB-4F71-B411-B5B720B86658}"/>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233D5125-5EA3-49DC-B85B-5921414768F2}"/>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p:txBody>
      </p:sp>
      <p:sp>
        <p:nvSpPr>
          <p:cNvPr id="12" name="Rectangle 11">
            <a:extLst xmlns:a="http://schemas.openxmlformats.org/drawingml/2006/main">
              <a:ext uri="{FF2B5EF4-FFF2-40B4-BE49-F238E27FC236}">
                <a16:creationId xmlns:a16="http://schemas.microsoft.com/office/drawing/2014/main" id="{227AA43F-CF97-47F6-A0FD-CACEC1B8BDF2}"/>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TriageResult</a:t>
            </a:r>
            <a:r>
              <a:rPr b="0">
                <a:solidFill>
                  <a:srgbClr val="263044"/>
                </a:solidFill>
              </a:rPr>
              <a:t> </a:t>
            </a:r>
            <a:r>
              <a:rPr b="0">
                <a:solidFill>
                  <a:srgbClr val="7651D4"/>
                </a:solidFill>
              </a:rPr>
              <a:t>Triage</a:t>
            </a:r>
            <a:r>
              <a:rPr b="0">
                <a:solidFill>
                  <a:srgbClr val="263044"/>
                </a:solidFill>
              </a:rPr>
              <a:t>(</a:t>
            </a:r>
            <a:r>
              <a:rPr b="0">
                <a:solidFill>
                  <a:srgbClr val="7651D4"/>
                </a:solidFill>
              </a:rPr>
              <a:t>Alert</a:t>
            </a:r>
            <a:r>
              <a:rPr b="0">
                <a:solidFill>
                  <a:srgbClr val="263044"/>
                </a:solidFill>
              </a:rPr>
              <a:t> alert, </a:t>
            </a:r>
            <a:r>
              <a:rPr b="0">
                <a:solidFill>
                  <a:srgbClr val="7651D4"/>
                </a:solidFill>
              </a:rPr>
              <a:t>Asset</a:t>
            </a:r>
            <a:r>
              <a:rPr b="0">
                <a:solidFill>
                  <a:srgbClr val="263044"/>
                </a:solidFill>
              </a:rPr>
              <a:t> asset)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(alerts.</a:t>
            </a:r>
            <a:r>
              <a:rPr b="0">
                <a:solidFill>
                  <a:srgbClr val="7651D4"/>
                </a:solidFill>
              </a:rPr>
              <a:t>IsDuplicate</a:t>
            </a:r>
            <a:r>
              <a:rPr b="0">
                <a:solidFill>
                  <a:srgbClr val="263044"/>
                </a:solidFill>
              </a:rPr>
              <a:t>(alert.</a:t>
            </a:r>
            <a:r>
              <a:rPr b="0">
                <a:solidFill>
                  <a:srgbClr val="7651D4"/>
                </a:solidFill>
              </a:rPr>
              <a:t>Fingerprint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TriageResult</a:t>
            </a:r>
            <a:r>
              <a:rPr b="0">
                <a:solidFill>
                  <a:srgbClr val="263044"/>
                </a:solidFill>
              </a:rPr>
              <a:t>.</a:t>
            </a:r>
            <a:r>
              <a:rPr b="0">
                <a:solidFill>
                  <a:srgbClr val="7651D4"/>
                </a:solidFill>
              </a:rPr>
              <a:t>MergeWithExisting</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severity = risk.</a:t>
            </a:r>
            <a:r>
              <a:rPr b="0">
                <a:solidFill>
                  <a:srgbClr val="7651D4"/>
                </a:solidFill>
              </a:rPr>
              <a:t>Score</a:t>
            </a:r>
            <a:r>
              <a:rPr b="0">
                <a:solidFill>
                  <a:srgbClr val="263044"/>
                </a:solidFill>
              </a:rPr>
              <a:t>(alert.</a:t>
            </a:r>
            <a:r>
              <a:rPr b="0">
                <a:solidFill>
                  <a:srgbClr val="7651D4"/>
                </a:solidFill>
              </a:rPr>
              <a:t>Signal</a:t>
            </a:r>
            <a:r>
              <a:rPr b="0">
                <a:solidFill>
                  <a:srgbClr val="263044"/>
                </a:solidFill>
              </a:rPr>
              <a:t>, asset.</a:t>
            </a:r>
            <a:r>
              <a:rPr b="0">
                <a:solidFill>
                  <a:srgbClr val="7651D4"/>
                </a:solidFill>
              </a:rPr>
              <a:t>Criticality</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(severity &lt; </a:t>
            </a:r>
            <a:r>
              <a:rPr b="0">
                <a:solidFill>
                  <a:srgbClr val="7651D4"/>
                </a:solidFill>
              </a:rPr>
              <a:t>Threshold</a:t>
            </a:r>
            <a:r>
              <a:rPr b="0">
                <a:solidFill>
                  <a:srgbClr val="263044"/>
                </a:solidFill>
              </a:rPr>
              <a:t>.</a:t>
            </a:r>
            <a:r>
              <a:rPr b="0">
                <a:solidFill>
                  <a:srgbClr val="7651D4"/>
                </a:solidFill>
              </a:rPr>
              <a:t>Medium</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TriageResult</a:t>
            </a:r>
            <a:r>
              <a:rPr b="0">
                <a:solidFill>
                  <a:srgbClr val="263044"/>
                </a:solidFill>
              </a:rPr>
              <a:t>.</a:t>
            </a:r>
            <a:r>
              <a:rPr b="0">
                <a:solidFill>
                  <a:srgbClr val="7651D4"/>
                </a:solidFill>
              </a:rPr>
              <a:t>Close</a:t>
            </a:r>
            <a:r>
              <a:rPr b="0">
                <a:solidFill>
                  <a:srgbClr val="263044"/>
                </a:solidFill>
              </a:rPr>
              <a:t>(</a:t>
            </a:r>
            <a:r>
              <a:rPr b="0">
                <a:solidFill>
                  <a:srgbClr val="B45309"/>
                </a:solidFill>
              </a:rPr>
              <a:t>"below_threshold"</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incidents.</a:t>
            </a:r>
            <a:r>
              <a:rPr b="0">
                <a:solidFill>
                  <a:srgbClr val="7651D4"/>
                </a:solidFill>
              </a:rPr>
              <a:t>Open</a:t>
            </a:r>
            <a:r>
              <a:rPr b="0">
                <a:solidFill>
                  <a:srgbClr val="263044"/>
                </a:solidFill>
              </a:rPr>
              <a:t>(alert, asset, severity);</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7C660942-AC74-4F50-907B-16F796A9BAD3}"/>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8DF0015A-D99E-4BF2-89A9-99736F67BAE5}"/>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09F5D753-43E6-44DB-86A9-DF9A677929CA}"/>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Дупликати, критичност имовине и праг реакције спречавају да сваки сигнал постане нови инцидент.</a:t>
            </a:r>
          </a:p>
        </p:txBody>
      </p:sp>
      <p:sp>
        <p:nvSpPr>
          <p:cNvPr id="16" name="Rounded Rectangle 15">
            <a:extLst xmlns:a="http://schemas.openxmlformats.org/drawingml/2006/main">
              <a:ext uri="{FF2B5EF4-FFF2-40B4-BE49-F238E27FC236}">
                <a16:creationId xmlns:a16="http://schemas.microsoft.com/office/drawing/2014/main" id="{2CADAD7A-0755-4103-836F-8EF64579E603}"/>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38BE568B-16D6-4053-8A52-E947586DFBD5}"/>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B681E8AC-3D94-4975-A108-6FEB729BDF60}"/>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16878349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C117725A-5674-47AA-BDFE-A75459094BE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DACF71B-B3AB-4A4A-B13C-D9E3A6329DA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468C2EC2-D739-45B0-808C-9C659CF63F78}"/>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85213AAD-ED42-4CD4-BB58-9ADD5B8D1EC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Поновљени alert не сме да умножи рад</a:t>
            </a:r>
          </a:p>
        </p:txBody>
      </p:sp>
      <p:sp>
        <p:nvSpPr>
          <p:cNvPr id="5" name="Rectangle 4">
            <a:extLst xmlns:a="http://schemas.openxmlformats.org/drawingml/2006/main">
              <a:ext uri="{FF2B5EF4-FFF2-40B4-BE49-F238E27FC236}">
                <a16:creationId xmlns:a16="http://schemas.microsoft.com/office/drawing/2014/main" id="{53C323A7-1AF1-40CB-A8DA-2D3114510354}"/>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потврђује идемпотентну обраду поновљеног сигнала и спречава дуплирање инцидента.</a:t>
            </a:r>
          </a:p>
        </p:txBody>
      </p:sp>
      <p:sp>
        <p:nvSpPr>
          <p:cNvPr id="6" name="Rounded Rectangle 5">
            <a:extLst xmlns:a="http://schemas.openxmlformats.org/drawingml/2006/main">
              <a:ext uri="{FF2B5EF4-FFF2-40B4-BE49-F238E27FC236}">
                <a16:creationId xmlns:a16="http://schemas.microsoft.com/office/drawing/2014/main" id="{6082263D-0BC5-4870-AE01-E665DE7A3022}"/>
              </a:ext>
            </a:extLst>
          </p:cNvPr>
          <p:cNvSpPr>
            <a:spLocks xmlns:a="http://schemas.openxmlformats.org/drawingml/2006/main" noGrp="1"/>
          </p:cNvSpPr>
          <p:nvPr/>
        </p:nvSpPr>
        <p:spPr>
          <a:xfrm xmlns:a="http://schemas.openxmlformats.org/drawingml/2006/main">
            <a:off x="666750" y="2095500"/>
            <a:ext cx="6858000" cy="2333625"/>
          </a:xfrm>
          <a:prstGeom xmlns:a="http://schemas.openxmlformats.org/drawingml/2006/main" prst="roundRect">
            <a:avLst>
              <a:gd name="adj" fmla="val 4082"/>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477719C9-33AB-4BB6-B66D-4E61489A6F84}"/>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811D6B27-6F88-4276-B9FE-8F18850A9C41}"/>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42E7E48-BCB9-40FA-A6F3-8A09A791008E}"/>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6FCCA5BB-ABF6-4FB7-8BA5-C675A9AB49A2}"/>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9B211C09-02E4-42E5-93C4-AF9BB044AF19}"/>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xmlns:a="http://schemas.openxmlformats.org/drawingml/2006/main">
              <a:ext uri="{FF2B5EF4-FFF2-40B4-BE49-F238E27FC236}">
                <a16:creationId xmlns:a16="http://schemas.microsoft.com/office/drawing/2014/main" id="{C1B45064-61A7-493D-9D7C-ED0BD82E45A3}"/>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Duplicate_alert_does_not_create_second_incident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alerts.</a:t>
            </a:r>
            <a:r>
              <a:rPr b="0">
                <a:solidFill>
                  <a:srgbClr val="7651D4"/>
                </a:solidFill>
              </a:rPr>
              <a:t>Store</a:t>
            </a:r>
            <a:r>
              <a:rPr b="0">
                <a:solidFill>
                  <a:srgbClr val="263044"/>
                </a:solidFill>
              </a:rPr>
              <a:t>(</a:t>
            </a:r>
            <a:r>
              <a:rPr b="0">
                <a:solidFill>
                  <a:srgbClr val="7651D4"/>
                </a:solidFill>
              </a:rPr>
              <a:t>Alert</a:t>
            </a:r>
            <a:r>
              <a:rPr b="0">
                <a:solidFill>
                  <a:srgbClr val="263044"/>
                </a:solidFill>
              </a:rPr>
              <a:t>.</a:t>
            </a:r>
            <a:r>
              <a:rPr b="0">
                <a:solidFill>
                  <a:srgbClr val="7651D4"/>
                </a:solidFill>
              </a:rPr>
              <a:t>WithFingerprint</a:t>
            </a:r>
            <a:r>
              <a:rPr b="0">
                <a:solidFill>
                  <a:srgbClr val="263044"/>
                </a:solidFill>
              </a:rPr>
              <a:t>(</a:t>
            </a:r>
            <a:r>
              <a:rPr b="0">
                <a:solidFill>
                  <a:srgbClr val="B45309"/>
                </a:solidFill>
              </a:rPr>
              <a:t>"login-spike:u-3"</a:t>
            </a:r>
            <a:r>
              <a:rPr b="0">
                <a:solidFill>
                  <a:srgbClr val="263044"/>
                </a:solidFill>
              </a:rPr>
              <a:t>));</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triage.</a:t>
            </a:r>
            <a:r>
              <a:rPr b="0">
                <a:solidFill>
                  <a:srgbClr val="7651D4"/>
                </a:solidFill>
              </a:rPr>
              <a:t>Handle</a:t>
            </a:r>
            <a:r>
              <a:rPr b="0">
                <a:solidFill>
                  <a:srgbClr val="263044"/>
                </a:solidFill>
              </a:rPr>
              <a:t>(</a:t>
            </a:r>
            <a:r>
              <a:rPr b="0">
                <a:solidFill>
                  <a:srgbClr val="7651D4"/>
                </a:solidFill>
              </a:rPr>
              <a:t>Alert</a:t>
            </a:r>
            <a:r>
              <a:rPr b="0">
                <a:solidFill>
                  <a:srgbClr val="263044"/>
                </a:solidFill>
              </a:rPr>
              <a:t>.</a:t>
            </a:r>
            <a:r>
              <a:rPr b="0">
                <a:solidFill>
                  <a:srgbClr val="7651D4"/>
                </a:solidFill>
              </a:rPr>
              <a:t>WithFingerprint</a:t>
            </a:r>
            <a:r>
              <a:rPr b="0">
                <a:solidFill>
                  <a:srgbClr val="263044"/>
                </a:solidFill>
              </a:rPr>
              <a:t>(</a:t>
            </a:r>
            <a:r>
              <a:rPr b="0">
                <a:solidFill>
                  <a:srgbClr val="B45309"/>
                </a:solidFill>
              </a:rPr>
              <a:t>"login-spike:u-3"</a:t>
            </a:r>
            <a:r>
              <a:rPr b="0">
                <a:solidFill>
                  <a:srgbClr val="263044"/>
                </a:solidFill>
              </a:rPr>
              <a:t>));</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Action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"merge"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incidents.</a:t>
            </a:r>
            <a:r>
              <a:rPr b="0">
                <a:solidFill>
                  <a:srgbClr val="7651D4"/>
                </a:solidFill>
              </a:rPr>
              <a:t>Created</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86A09"/>
                </a:solidFill>
              </a:rPr>
              <a:t>0</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681DDCFD-FE79-4F01-904B-B3BDC1596360}"/>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98BFC203-A13D-4CD8-A408-33C48BBFE9D6}"/>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94A85A0C-C662-47DE-9F49-163ED670EB0F}"/>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Негативан сценарио проверава идемпотентност и чува једну временску линију догађаја.</a:t>
            </a:r>
          </a:p>
        </p:txBody>
      </p:sp>
      <p:sp>
        <p:nvSpPr>
          <p:cNvPr id="16" name="Rounded Rectangle 15">
            <a:extLst xmlns:a="http://schemas.openxmlformats.org/drawingml/2006/main">
              <a:ext uri="{FF2B5EF4-FFF2-40B4-BE49-F238E27FC236}">
                <a16:creationId xmlns:a16="http://schemas.microsoft.com/office/drawing/2014/main" id="{D2EA095D-05B7-4D73-AB3D-C44787A80F66}"/>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3DB22125-FB32-42B4-9BDE-F93C9E731C0E}"/>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A3176393-86AB-4FAA-ACDE-8371725C81DF}"/>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чињеницу и очекује јасан, стабилан разлог одбијања.</a:t>
            </a:r>
          </a:p>
        </p:txBody>
      </p:sp>
    </p:spTree>
    <p:extLst>
      <p:ext uri="{BB962C8B-B14F-4D97-AF65-F5344CB8AC3E}">
        <p14:creationId xmlns:p14="http://schemas.microsoft.com/office/powerpoint/2010/main" val="13222530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8798B91A-4356-4C12-BD24-5DFF447065F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4DC5866-D20E-401E-9FA9-9FFDC25391A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E2A542F-BD4D-4F17-9BF7-E015A70106D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F140D1E1-BFD2-4537-9934-350A039020E9}"/>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0982EA11-AA43-4890-94D4-26EAD39DE0E5}"/>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EC7C42B3-858D-446C-929D-BDF43B4402F6}"/>
              </a:ext>
            </a:extLst>
          </p:cNvPr>
          <p:cNvSpPr>
            <a:spLocks xmlns:a="http://schemas.openxmlformats.org/drawingml/2006/main" noGrp="1"/>
          </p:cNvSpPr>
          <p:nvPr/>
        </p:nvSpPr>
        <p:spPr>
          <a:xfrm xmlns:a="http://schemas.openxmlformats.org/drawingml/2006/main">
            <a:off x="857250" y="2152650"/>
            <a:ext cx="5334000" cy="2085975"/>
          </a:xfrm>
          <a:prstGeom xmlns:a="http://schemas.openxmlformats.org/drawingml/2006/main" prst="roundRect">
            <a:avLst>
              <a:gd name="adj" fmla="val 4566"/>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21BA07E4-E6FC-4E46-9BB8-4EC54AB14146}"/>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39E76A02-F826-4700-9B56-26CCDB19811B}"/>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2D66805-F0C5-41BE-AB2A-4725C4C89283}"/>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FAC45417-88C6-4501-B618-5F9470CB9FFD}"/>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887D7018-58C1-48FF-BD49-3EC17C32F85B}"/>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4281D5A9-7DC0-42A4-B8A2-723499440E1E}"/>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125">
                <a:solidFill>
                  <a:srgbClr val="263044"/>
                </a:solidFill>
                <a:latin typeface="Consolas"/>
                <a:ea typeface="Consolas"/>
                <a:cs typeface="Consolas"/>
              </a:defRPr>
            </a:pP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"signal"</a:t>
            </a:r>
            <a:r>
              <a:rPr b="0">
                <a:solidFill>
                  <a:srgbClr val="263044"/>
                </a:solidFill>
              </a:rPr>
              <a:t>: </a:t>
            </a:r>
            <a:r>
              <a:rPr b="0">
                <a:solidFill>
                  <a:srgbClr val="B45309"/>
                </a:solidFill>
              </a:rPr>
              <a:t>"login_failure_spike"</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"asset"</a:t>
            </a:r>
            <a:r>
              <a:rPr b="0">
                <a:solidFill>
                  <a:srgbClr val="263044"/>
                </a:solidFill>
              </a:rPr>
              <a:t>: </a:t>
            </a:r>
            <a:r>
              <a:rPr b="0">
                <a:solidFill>
                  <a:srgbClr val="B45309"/>
                </a:solidFill>
              </a:rPr>
              <a:t>"admin-portal"</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"severity"</a:t>
            </a:r>
            <a:r>
              <a:rPr b="0">
                <a:solidFill>
                  <a:srgbClr val="263044"/>
                </a:solidFill>
              </a:rPr>
              <a:t>: </a:t>
            </a:r>
            <a:r>
              <a:rPr b="0">
                <a:solidFill>
                  <a:srgbClr val="B45309"/>
                </a:solidFill>
              </a:rPr>
              <a:t>"high"</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"owner"</a:t>
            </a:r>
            <a:r>
              <a:rPr b="0">
                <a:solidFill>
                  <a:srgbClr val="263044"/>
                </a:solidFill>
              </a:rPr>
              <a:t>: </a:t>
            </a:r>
            <a:r>
              <a:rPr b="0">
                <a:solidFill>
                  <a:srgbClr val="B45309"/>
                </a:solidFill>
              </a:rPr>
              <a:t>"security-on-call"</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"status"</a:t>
            </a:r>
            <a:r>
              <a:rPr b="0">
                <a:solidFill>
                  <a:srgbClr val="263044"/>
                </a:solidFill>
              </a:rPr>
              <a:t>: </a:t>
            </a:r>
            <a:r>
              <a:rPr b="0">
                <a:solidFill>
                  <a:srgbClr val="B45309"/>
                </a:solidFill>
              </a:rPr>
              <a:t>"investigating"</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"correlationId"</a:t>
            </a:r>
            <a:r>
              <a:rPr b="0">
                <a:solidFill>
                  <a:srgbClr val="263044"/>
                </a:solidFill>
              </a:rPr>
              <a:t>: </a:t>
            </a:r>
            <a:r>
              <a:rPr b="0">
                <a:solidFill>
                  <a:srgbClr val="B45309"/>
                </a:solidFill>
              </a:rPr>
              <a:t>"inc-2026-041"</a:t>
            </a:r>
          </a:p>
          <a:p xmlns:a="http://schemas.openxmlformats.org/drawingml/2006/main">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3AD6D43D-F7BA-44E5-8083-3D8E26A5A589}"/>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586F48E8-FBBA-404C-B265-FB0B079F5EAD}"/>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D54F7099-4D11-40A7-ABCD-A48472634867}"/>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710C993A-3476-4108-9194-4667FA56EEF1}"/>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05B38C35-91F2-4CC2-9DD7-4B8BA33DB2A0}"/>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B0226510-CF8F-474E-83A1-01FE00968B04}"/>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42B80916-335C-4B84-A483-5809E8C1940A}"/>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7D473B31-2255-415A-9A6D-803BC543B545}"/>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40789249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15535BDE-5E35-4941-AEB3-57ECD62295E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3EDCB2E-B9E6-4DA3-B129-3296B4F4013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C4CD5921-FA65-4178-9F7D-43223D5AB1F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14B22A9C-23DF-48A1-8194-FEC1A1F78263}"/>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1209FD8F-ADA0-4256-8C7F-AF06A2DCA59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ECA9883E-7D8F-41DF-A7D7-B1B7D59228C0}"/>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D5AA207-EECE-4975-B102-2A94249AA021}"/>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3CA6C909-4D4C-432A-99FF-467BEC9C389A}"/>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Упозорење без власника и правила за triage.</a:t>
            </a:r>
          </a:p>
        </p:txBody>
      </p:sp>
      <p:sp>
        <p:nvSpPr>
          <p:cNvPr id="9" name="Rectangle 8">
            <a:extLst xmlns:a="http://schemas.openxmlformats.org/drawingml/2006/main">
              <a:ext uri="{FF2B5EF4-FFF2-40B4-BE49-F238E27FC236}">
                <a16:creationId xmlns:a16="http://schemas.microsoft.com/office/drawing/2014/main" id="{DBBB8351-BFC5-4D3D-B098-BACE663CB695}"/>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0304553E-A6FF-4268-814A-E733433E9F00}"/>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148FF0F-3583-4104-BF3F-3DC5DE3E6BC9}"/>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C77760C4-4626-47B1-A6AE-F95BA6A5047C}"/>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Аутоматско затварање без доказа о решавању узрока.</a:t>
            </a:r>
          </a:p>
        </p:txBody>
      </p:sp>
      <p:sp>
        <p:nvSpPr>
          <p:cNvPr id="13" name="Rectangle 12">
            <a:extLst xmlns:a="http://schemas.openxmlformats.org/drawingml/2006/main">
              <a:ext uri="{FF2B5EF4-FFF2-40B4-BE49-F238E27FC236}">
                <a16:creationId xmlns:a16="http://schemas.microsoft.com/office/drawing/2014/main" id="{89EAE0EE-2FEA-4EB4-ADFB-19E442DC0ABD}"/>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F8489FE2-A236-4B0E-8B82-4BF15E2A32C3}"/>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67083DA-72E6-4227-9129-03FFC21D731D}"/>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A1B7511-48CB-4F97-8C59-572262D38996}"/>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Скенирање зависности без одлуке како се налаз процењује и прати.</a:t>
            </a:r>
          </a:p>
        </p:txBody>
      </p:sp>
      <p:sp>
        <p:nvSpPr>
          <p:cNvPr id="17" name="Rectangle 16">
            <a:extLst xmlns:a="http://schemas.openxmlformats.org/drawingml/2006/main">
              <a:ext uri="{FF2B5EF4-FFF2-40B4-BE49-F238E27FC236}">
                <a16:creationId xmlns:a16="http://schemas.microsoft.com/office/drawing/2014/main" id="{F0955981-6F2A-4B4A-8070-9A85B798DD77}"/>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947978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CEA2A8F9-8554-4CEC-8850-DD04EC1ACFF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F1004F2A-86AB-4F80-985E-0908C297BED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E6C8CCD-06FD-4899-867C-57BB390E089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EF5CB47E-4CE1-4BFB-8B38-B7380554AD6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Постинцидентна анализа</a:t>
            </a:r>
          </a:p>
        </p:txBody>
      </p:sp>
      <p:sp>
        <p:nvSpPr>
          <p:cNvPr id="5" name="Rectangle 4">
            <a:extLst xmlns:a="http://schemas.openxmlformats.org/drawingml/2006/main">
              <a:ext uri="{FF2B5EF4-FFF2-40B4-BE49-F238E27FC236}">
                <a16:creationId xmlns:a16="http://schemas.microsoft.com/office/drawing/2014/main" id="{FAC3C90F-9FF9-4851-9FF8-509BDABDE04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повезује узрок, реакцију, пропуст контроле и конкретну корективну меру.</a:t>
            </a:r>
          </a:p>
        </p:txBody>
      </p:sp>
      <p:sp>
        <p:nvSpPr>
          <p:cNvPr id="6" name="Rounded Rectangle 5">
            <a:extLst xmlns:a="http://schemas.openxmlformats.org/drawingml/2006/main">
              <a:ext uri="{FF2B5EF4-FFF2-40B4-BE49-F238E27FC236}">
                <a16:creationId xmlns:a16="http://schemas.microsoft.com/office/drawing/2014/main" id="{2D341EE8-F129-45C9-AD3C-F8B3F845E136}"/>
              </a:ext>
            </a:extLst>
          </p:cNvPr>
          <p:cNvSpPr>
            <a:spLocks xmlns:a="http://schemas.openxmlformats.org/drawingml/2006/main" noGrp="1"/>
          </p:cNvSpPr>
          <p:nvPr/>
        </p:nvSpPr>
        <p:spPr>
          <a:xfrm xmlns:a="http://schemas.openxmlformats.org/drawingml/2006/main">
            <a:off x="781050" y="2152650"/>
            <a:ext cx="4476750" cy="2451248"/>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EBAF9B3-9715-4FFF-B538-A8BAFA8672FD}"/>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19F33320-C78D-4DD5-AB11-E0C5A89CCDCC}"/>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Учење након догађаја</a:t>
            </a:r>
          </a:p>
        </p:txBody>
      </p:sp>
      <p:sp>
        <p:nvSpPr>
          <p:cNvPr id="9" name="Rectangle 8">
            <a:extLst xmlns:a="http://schemas.openxmlformats.org/drawingml/2006/main">
              <a:ext uri="{FF2B5EF4-FFF2-40B4-BE49-F238E27FC236}">
                <a16:creationId xmlns:a16="http://schemas.microsoft.com/office/drawing/2014/main" id="{4162AFBA-BB76-40D5-BCE0-BE1D9CC53C52}"/>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Добар пост-инцидент преглед није потрага за особом која је погрешила. Његов циљ је да пронађе где су недостајали сигнал, заштитна провера, јасна одговорност или припрема за опоравак. Резултат треба да мења систем или процес на начин који се може проверити.</a:t>
            </a:r>
          </a:p>
        </p:txBody>
      </p:sp>
      <p:sp>
        <p:nvSpPr>
          <p:cNvPr id="10" name="Rounded Rectangle 9">
            <a:extLst xmlns:a="http://schemas.openxmlformats.org/drawingml/2006/main">
              <a:ext uri="{FF2B5EF4-FFF2-40B4-BE49-F238E27FC236}">
                <a16:creationId xmlns:a16="http://schemas.microsoft.com/office/drawing/2014/main" id="{1DD8087C-787C-420F-9935-5D63E161C089}"/>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290DB7D5-D3DB-4657-A92E-AE599DB70F74}"/>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FEB39224-D4C5-4215-88C1-236482A12C07}"/>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Хронологија одваја чињенице од претпоставки насталих под притиском.</a:t>
            </a:r>
          </a:p>
        </p:txBody>
      </p:sp>
      <p:sp>
        <p:nvSpPr>
          <p:cNvPr id="13" name="Rounded Rectangle 12">
            <a:extLst xmlns:a="http://schemas.openxmlformats.org/drawingml/2006/main">
              <a:ext uri="{FF2B5EF4-FFF2-40B4-BE49-F238E27FC236}">
                <a16:creationId xmlns:a16="http://schemas.microsoft.com/office/drawing/2014/main" id="{0815E157-28AA-4B04-AB76-BD86CC9C4882}"/>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572D018-6E72-4A20-B695-A6C54C8D63C1}"/>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85D0AC8C-54E7-4050-88A4-A2DB559FA517}"/>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Акције након инцидента имају власника и проверљив завршетак.</a:t>
            </a:r>
          </a:p>
        </p:txBody>
      </p:sp>
      <p:sp>
        <p:nvSpPr>
          <p:cNvPr id="16" name="Rounded Rectangle 15">
            <a:extLst xmlns:a="http://schemas.openxmlformats.org/drawingml/2006/main">
              <a:ext uri="{FF2B5EF4-FFF2-40B4-BE49-F238E27FC236}">
                <a16:creationId xmlns:a16="http://schemas.microsoft.com/office/drawing/2014/main" id="{2938F451-EA0F-4E61-8704-D5794245B8A2}"/>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875EDD5D-37C4-4F84-996B-383433DCFA22}"/>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06989B13-C35F-4878-B617-30758C80A9D2}"/>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Нови сценарио се додаје у тестове или оперативне вежбе, како се исто знање не би изгубило.</a:t>
            </a:r>
          </a:p>
        </p:txBody>
      </p:sp>
    </p:spTree>
    <p:extLst>
      <p:ext uri="{BB962C8B-B14F-4D97-AF65-F5344CB8AC3E}">
        <p14:creationId xmlns:p14="http://schemas.microsoft.com/office/powerpoint/2010/main" val="143085633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7505D135-F20C-405A-A4DD-F1499E6E5E87}"/>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C9DE607-A44B-4C60-B495-7D2FC54C76A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195687C-43E5-40D5-AC66-E8BA8EABEC5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1D5D6DFF-F074-4E38-8EEE-6328479614F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1AD4C337-C72E-4826-A3D0-80F0AF563CA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BD0C2A1E-A320-482D-8944-D7F84EBD3C81}"/>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4B1EF409-99AE-4C90-B0FE-F1209764D730}"/>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B7ADAAC-E6CB-4571-953E-5FC3E7CE4A63}"/>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60FAF039-18D6-45A5-A528-8EAC2E81EF59}"/>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156398F7-F4F2-418D-9D56-FAE589B75360}"/>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7D4D675-25EA-488A-B7A3-F416157C6C7C}"/>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0A92B26-8127-4F3F-979D-17ED59262448}"/>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29594599-32E8-4390-84AF-75D3B497883B}"/>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2D36DB01-8C75-44EC-B0A4-BF4E1ED11431}"/>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0B5D8EA-8110-456B-A0F4-171BE700CC48}"/>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35DAAD6-2E25-4DDF-9686-E3926B3B78E3}"/>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351014FC-5027-47AE-8853-23814FD93CF5}"/>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26B1F840-5EB2-4F39-8032-7030BF971397}"/>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F2D33395-F6BC-45DD-BAFF-5274ADFED447}"/>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2E47C1ED-F9CD-4836-A43A-0925521D2E59}"/>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AF124482-3294-4A48-AA2C-476E615D9C5F}"/>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20DA08E7-4A08-4FE8-BC90-71C85C619D90}"/>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DB9E5956-FB91-49A8-BB15-C891F9E4C952}"/>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F031271E-579E-40A3-9183-6A2374C9816A}"/>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7007D06A-73C9-476B-8E2A-1F788DA76747}"/>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4CE7946B-C68B-446C-BCCF-9E97A131ACF3}"/>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C70FA961-CAC9-42A8-917D-D90F66CD17F4}"/>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„Детекција, инцидент и рањивости“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6700899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A3906C58-12AF-4538-8C43-8E584611B6A7}"/>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BAF683B-47DA-4F64-8CE9-BA2311B9E64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66FD9DA-2895-4284-AEE9-B59479BCADC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34145FA0-0FEB-475E-988A-65C0D43E096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E8E1E906-82B8-4740-B961-8CCA8FECAAA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40C216CA-5BED-41B8-8E03-7DAB910B5384}"/>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C8683B2C-3AA5-475E-B2DE-86A6134E3810}"/>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351B38C8-4B0D-4E62-961A-37D1027752F6}"/>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Сигнал</a:t>
            </a:r>
          </a:p>
        </p:txBody>
      </p:sp>
      <p:sp>
        <p:nvSpPr>
          <p:cNvPr id="9" name="Rectangle 8">
            <a:extLst xmlns:a="http://schemas.openxmlformats.org/drawingml/2006/main">
              <a:ext uri="{FF2B5EF4-FFF2-40B4-BE49-F238E27FC236}">
                <a16:creationId xmlns:a16="http://schemas.microsoft.com/office/drawing/2014/main" id="{925D4237-5726-45BE-9465-B4FE616A364D}"/>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уочено одступање</a:t>
            </a:r>
          </a:p>
        </p:txBody>
      </p:sp>
      <p:sp>
        <p:nvSpPr>
          <p:cNvPr id="10" name="Rounded Rectangle 9">
            <a:extLst xmlns:a="http://schemas.openxmlformats.org/drawingml/2006/main">
              <a:ext uri="{FF2B5EF4-FFF2-40B4-BE49-F238E27FC236}">
                <a16:creationId xmlns:a16="http://schemas.microsoft.com/office/drawing/2014/main" id="{EDC6FDE3-416B-4C0A-B484-B9D350928BAF}"/>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9F5735AE-0D8C-40EF-BB70-D944F9E7C8D6}"/>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E06A800F-5372-4B44-9AE0-0A66C18A1E66}"/>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xmlns:a="http://schemas.openxmlformats.org/drawingml/2006/main">
              <a:ext uri="{FF2B5EF4-FFF2-40B4-BE49-F238E27FC236}">
                <a16:creationId xmlns:a16="http://schemas.microsoft.com/office/drawing/2014/main" id="{1F24FF87-0F9D-4B66-95B5-2FC0B5DECCF9}"/>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провера контекста и утицаја</a:t>
            </a:r>
          </a:p>
        </p:txBody>
      </p:sp>
      <p:sp>
        <p:nvSpPr>
          <p:cNvPr id="14" name="Rounded Rectangle 13">
            <a:extLst xmlns:a="http://schemas.openxmlformats.org/drawingml/2006/main">
              <a:ext uri="{FF2B5EF4-FFF2-40B4-BE49-F238E27FC236}">
                <a16:creationId xmlns:a16="http://schemas.microsoft.com/office/drawing/2014/main" id="{F3258C95-169B-4EBF-8BA9-E5F8294E0897}"/>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33696572-1110-4932-85EE-465EF599F6E6}"/>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57F965E-155D-4A09-8167-E4350D9B4F08}"/>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Инцидент</a:t>
            </a:r>
          </a:p>
        </p:txBody>
      </p:sp>
      <p:sp>
        <p:nvSpPr>
          <p:cNvPr id="17" name="Rectangle 16">
            <a:extLst xmlns:a="http://schemas.openxmlformats.org/drawingml/2006/main">
              <a:ext uri="{FF2B5EF4-FFF2-40B4-BE49-F238E27FC236}">
                <a16:creationId xmlns:a16="http://schemas.microsoft.com/office/drawing/2014/main" id="{C97A3AC0-87ED-4746-B7FB-336396B1612E}"/>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a:t>
            </a:r>
          </a:p>
        </p:txBody>
      </p:sp>
      <p:sp>
        <p:nvSpPr>
          <p:cNvPr id="18" name="Rounded Rectangle 17">
            <a:extLst xmlns:a="http://schemas.openxmlformats.org/drawingml/2006/main">
              <a:ext uri="{FF2B5EF4-FFF2-40B4-BE49-F238E27FC236}">
                <a16:creationId xmlns:a16="http://schemas.microsoft.com/office/drawing/2014/main" id="{21D7D0CF-BBFA-4B33-AB20-C0605C01AB38}"/>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FF44A43-27F5-4847-B1C6-511560615CE7}"/>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6B2B876D-1DFF-4ECF-8B59-CF8997FF6B69}"/>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Учење</a:t>
            </a:r>
          </a:p>
        </p:txBody>
      </p:sp>
      <p:sp>
        <p:nvSpPr>
          <p:cNvPr id="21" name="Rectangle 20">
            <a:extLst xmlns:a="http://schemas.openxmlformats.org/drawingml/2006/main">
              <a:ext uri="{FF2B5EF4-FFF2-40B4-BE49-F238E27FC236}">
                <a16:creationId xmlns:a16="http://schemas.microsoft.com/office/drawing/2014/main" id="{A75022A4-06D8-4E30-A838-7555938B1A69}"/>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корекција и превенција</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3BE4FEA1-7A0D-473B-B041-0F2A6EBE9285}"/>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D890B9AE-232D-44C8-9BD8-9C5BCC70CFED}"/>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0527BF81-8948-436B-B5CB-6E83F869B658}"/>
              </a:ext>
            </a:extLst>
          </p:cNvPr>
          <p:cNvSpPr>
            <a:spLocks xmlns:a="http://schemas.openxmlformats.org/drawingml/2006/main" noGrp="1"/>
          </p:cNvSpPr>
          <p:nvPr/>
        </p:nvSpPr>
        <p:spPr>
          <a:xfrm xmlns:a="http://schemas.openxmlformats.org/drawingml/2006/main">
            <a:off x="914400" y="4095750"/>
            <a:ext cx="10363200" cy="1257289"/>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94977927-6A3C-41C0-A381-688660FA69C4}"/>
              </a:ext>
            </a:extLst>
          </p:cNvPr>
          <p:cNvSpPr>
            <a:spLocks xmlns:a="http://schemas.openxmlformats.org/drawingml/2006/main" noGrp="1"/>
          </p:cNvSpPr>
          <p:nvPr/>
        </p:nvSpPr>
        <p:spPr>
          <a:xfrm xmlns:a="http://schemas.openxmlformats.org/drawingml/2006/main">
            <a:off x="1085850" y="4248150"/>
            <a:ext cx="45719" cy="9429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6EC846B4-B0C3-4599-83D3-79C5F6EC2F91}"/>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D1C57A71-879B-47A8-95AD-71983CBA8380}"/>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2926"/>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
        <p:nvSpPr>
          <p:cNvPr id="81" name="Rectangle 80">
            <a:extLst xmlns:a="http://schemas.openxmlformats.org/drawingml/2006/main">
              <a:ext uri="{FF2B5EF4-FFF2-40B4-BE49-F238E27FC236}">
                <a16:creationId xmlns:a16="http://schemas.microsoft.com/office/drawing/2014/main" id="{71C74C65-E3B4-4421-8F2A-9D45CCD3D640}"/>
              </a:ext>
            </a:extLst>
          </p:cNvPr>
          <p:cNvSpPr>
            <a:spLocks xmlns:a="http://schemas.openxmlformats.org/drawingml/2006/main" noGrp="1"/>
          </p:cNvSpPr>
          <p:nvPr/>
        </p:nvSpPr>
        <p:spPr>
          <a:xfrm xmlns:a="http://schemas.openxmlformats.org/drawingml/2006/main">
            <a:off x="1314450" y="490537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10540394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2026-09-29T19:08:38.6500000Z</dcterms:created>
  <dcterms:modified xsi:type="dcterms:W3CDTF">2026-09-29T19:08:38.6500000Z</dcterms:modified>
</coreProperties>
</file>