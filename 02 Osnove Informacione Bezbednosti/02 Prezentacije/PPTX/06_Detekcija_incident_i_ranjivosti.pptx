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4456BB3-0CBC-4E38-B3B9-813BD8D9FCDA}"/>
              </a:ext>
            </a:extLst>
          </p:cNvPr>
          <p:cNvSpPr>
            <a:spLocks noGrp="1"/>
          </p:cNvSpPr>
          <p:nvPr/>
        </p:nvSpPr>
        <p:spPr>
          <a:xfrm>
            <a:off x="914400" y="590550"/>
            <a:ext cx="7810500" cy="228600"/>
          </a:xfrm>
          <a:prstGeom prst="rect">
            <a:avLst/>
          </a:prstGeom>
          <a:noFill/>
          <a:ln w="0">
            <a:noFill/>
          </a:ln>
        </p:spPr>
        <p:txBody>
          <a:bodyPr wrap="square" lIns="0" tIns="0" rIns="0" bIns="0" anchor="t">
            <a:normAutofit/>
          </a:bodyPr>
          <a:lstStyle/>
          <a:p>
            <a:pPr algn="l">
              <a:lnSpc>
                <a:spcPct val="100000"/>
              </a:lnSpc>
              <a:buNone/>
              <a:defRPr sz="1050" b="1">
                <a:solidFill>
                  <a:srgbClr val="647084"/>
                </a:solidFill>
                <a:latin typeface="Aptos"/>
                <a:ea typeface="Aptos"/>
                <a:cs typeface="Aptos"/>
              </a:defRPr>
            </a:pPr>
            <a:r>
              <a:rPr sz="1050" b="1">
                <a:solidFill>
                  <a:srgbClr val="6470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8EBF0446-876B-40E3-8715-1F11E7595BCA}"/>
              </a:ext>
            </a:extLst>
          </p:cNvPr>
          <p:cNvSpPr>
            <a:spLocks noGrp="1"/>
          </p:cNvSpPr>
          <p:nvPr/>
        </p:nvSpPr>
        <p:spPr>
          <a:xfrm>
            <a:off x="914400" y="1009650"/>
            <a:ext cx="10363200" cy="9525"/>
          </a:xfrm>
          <a:prstGeom prst="line">
            <a:avLst/>
          </a:prstGeom>
          <a:noFill/>
          <a:ln w="8573">
            <a:solidFill>
              <a:srgbClr val="7F8B9B"/>
            </a:solidFill>
            <a:prstDash val="solid"/>
          </a:ln>
        </p:spPr>
      </p:sp>
      <p:sp>
        <p:nvSpPr>
          <p:cNvPr id="3" name="Rounded Rectangle 2">
            <a:extLst>
              <a:ext uri="{FF2B5EF4-FFF2-40B4-BE49-F238E27FC236}">
                <a16:creationId xmlns:a16="http://schemas.microsoft.com/office/drawing/2014/main" id="{0124BEE4-668D-4CD9-A448-B8978A74DDC9}"/>
              </a:ext>
            </a:extLst>
          </p:cNvPr>
          <p:cNvSpPr>
            <a:spLocks noGrp="1"/>
          </p:cNvSpPr>
          <p:nvPr/>
        </p:nvSpPr>
        <p:spPr>
          <a:xfrm>
            <a:off x="914400" y="1438275"/>
            <a:ext cx="647700" cy="66675"/>
          </a:xfrm>
          <a:prstGeom prst="roundRect">
            <a:avLst>
              <a:gd name="adj" fmla="val 50000"/>
            </a:avLst>
          </a:prstGeom>
          <a:solidFill>
            <a:srgbClr val="315CF4"/>
          </a:solidFill>
          <a:ln w="0">
            <a:noFill/>
          </a:ln>
        </p:spPr>
      </p:sp>
      <p:sp>
        <p:nvSpPr>
          <p:cNvPr id="4" name="Rectangle 3">
            <a:extLst>
              <a:ext uri="{FF2B5EF4-FFF2-40B4-BE49-F238E27FC236}">
                <a16:creationId xmlns:a16="http://schemas.microsoft.com/office/drawing/2014/main" id="{E088D311-F6ED-4560-A59A-6D9011269A75}"/>
              </a:ext>
            </a:extLst>
          </p:cNvPr>
          <p:cNvSpPr>
            <a:spLocks noGrp="1"/>
          </p:cNvSpPr>
          <p:nvPr/>
        </p:nvSpPr>
        <p:spPr>
          <a:xfrm>
            <a:off x="914400" y="1771650"/>
            <a:ext cx="10363200" cy="1562100"/>
          </a:xfrm>
          <a:prstGeom prst="rect">
            <a:avLst/>
          </a:prstGeom>
          <a:noFill/>
          <a:ln w="0">
            <a:noFill/>
          </a:ln>
        </p:spPr>
        <p:txBody>
          <a:bodyPr wrap="square" lIns="0" tIns="0" rIns="0" bIns="0" anchor="ctr">
            <a:normAutofit/>
          </a:bodyPr>
          <a:lstStyle/>
          <a:p>
            <a:pPr algn="l">
              <a:lnSpc>
                <a:spcPct val="94000"/>
              </a:lnSpc>
              <a:buNone/>
              <a:defRPr sz="3450" b="1">
                <a:solidFill>
                  <a:srgbClr val="1A202C"/>
                </a:solidFill>
                <a:latin typeface="Aptos Display"/>
                <a:ea typeface="Aptos Display"/>
                <a:cs typeface="Aptos Display"/>
              </a:defRPr>
            </a:pPr>
            <a:r>
              <a:rPr sz="3450" b="1">
                <a:solidFill>
                  <a:srgbClr val="1A202C"/>
                </a:solidFill>
                <a:latin typeface="Aptos Display"/>
                <a:ea typeface="Aptos Display"/>
                <a:cs typeface="Aptos Display"/>
              </a:rPr>
              <a:t>Детекција, инцидент и рањивости</a:t>
            </a:r>
          </a:p>
        </p:txBody>
      </p:sp>
      <p:sp>
        <p:nvSpPr>
          <p:cNvPr id="5" name="Rectangle 4">
            <a:extLst>
              <a:ext uri="{FF2B5EF4-FFF2-40B4-BE49-F238E27FC236}">
                <a16:creationId xmlns:a16="http://schemas.microsoft.com/office/drawing/2014/main" id="{AB2CD0DF-035A-4FBB-B718-A0E82338F713}"/>
              </a:ext>
            </a:extLst>
          </p:cNvPr>
          <p:cNvSpPr>
            <a:spLocks noGrp="1"/>
          </p:cNvSpPr>
          <p:nvPr/>
        </p:nvSpPr>
        <p:spPr>
          <a:xfrm>
            <a:off x="933450" y="3600450"/>
            <a:ext cx="9620250" cy="723900"/>
          </a:xfrm>
          <a:prstGeom prst="rect">
            <a:avLst/>
          </a:prstGeom>
          <a:noFill/>
          <a:ln w="0">
            <a:noFill/>
          </a:ln>
        </p:spPr>
        <p:txBody>
          <a:bodyPr wrap="square" lIns="0" tIns="0" rIns="0" bIns="0" anchor="ctr">
            <a:normAutofit/>
          </a:bodyPr>
          <a:lstStyle/>
          <a:p>
            <a:pPr algn="l">
              <a:lnSpc>
                <a:spcPct val="104000"/>
              </a:lnSpc>
              <a:buNone/>
              <a:defRPr sz="1725" b="0">
                <a:solidFill>
                  <a:srgbClr val="647084"/>
                </a:solidFill>
                <a:latin typeface="Aptos"/>
                <a:ea typeface="Aptos"/>
                <a:cs typeface="Aptos"/>
              </a:defRPr>
            </a:pPr>
            <a:r>
              <a:rPr sz="1725" b="0">
                <a:solidFill>
                  <a:srgbClr val="647084"/>
                </a:solidFill>
                <a:latin typeface="Aptos"/>
                <a:ea typeface="Aptos"/>
                <a:cs typeface="Aptos"/>
              </a:rPr>
              <a:t>Од безбедносног сигнала до проверљиве и одмерене реакције</a:t>
            </a:r>
          </a:p>
        </p:txBody>
      </p:sp>
      <p:sp>
        <p:nvSpPr>
          <p:cNvPr id="6" name="Straight Connector 5">
            <a:extLst>
              <a:ext uri="{FF2B5EF4-FFF2-40B4-BE49-F238E27FC236}">
                <a16:creationId xmlns:a16="http://schemas.microsoft.com/office/drawing/2014/main" id="{8D4D1B07-045A-4C5A-9F19-7B25A10821BE}"/>
              </a:ext>
            </a:extLst>
          </p:cNvPr>
          <p:cNvSpPr>
            <a:spLocks noGrp="1"/>
          </p:cNvSpPr>
          <p:nvPr/>
        </p:nvSpPr>
        <p:spPr>
          <a:xfrm>
            <a:off x="914400" y="5286375"/>
            <a:ext cx="10363200" cy="9525"/>
          </a:xfrm>
          <a:prstGeom prst="line">
            <a:avLst/>
          </a:prstGeom>
          <a:noFill/>
          <a:ln w="9525">
            <a:solidFill>
              <a:srgbClr val="CBD5E1"/>
            </a:solidFill>
            <a:prstDash val="solid"/>
          </a:ln>
        </p:spPr>
      </p:sp>
      <p:sp>
        <p:nvSpPr>
          <p:cNvPr id="7" name="Rectangle 6">
            <a:extLst>
              <a:ext uri="{FF2B5EF4-FFF2-40B4-BE49-F238E27FC236}">
                <a16:creationId xmlns:a16="http://schemas.microsoft.com/office/drawing/2014/main" id="{88CE4FD7-B562-4401-B1BE-E7C2663DCAAD}"/>
              </a:ext>
            </a:extLst>
          </p:cNvPr>
          <p:cNvSpPr>
            <a:spLocks noGrp="1"/>
          </p:cNvSpPr>
          <p:nvPr/>
        </p:nvSpPr>
        <p:spPr>
          <a:xfrm>
            <a:off x="914400" y="5581650"/>
            <a:ext cx="4000500" cy="247650"/>
          </a:xfrm>
          <a:prstGeom prst="rect">
            <a:avLst/>
          </a:prstGeom>
          <a:noFill/>
          <a:ln w="0">
            <a:noFill/>
          </a:ln>
        </p:spPr>
        <p:txBody>
          <a:bodyPr wrap="square" lIns="0" tIns="0" rIns="0" bIns="0" anchor="t">
            <a:normAutofit/>
          </a:bodyPr>
          <a:lstStyle/>
          <a:p>
            <a:pPr algn="l">
              <a:lnSpc>
                <a:spcPct val="100000"/>
              </a:lnSpc>
              <a:buNone/>
              <a:defRPr sz="1200" b="1">
                <a:solidFill>
                  <a:srgbClr val="1A202C"/>
                </a:solidFill>
                <a:latin typeface="Aptos"/>
                <a:ea typeface="Aptos"/>
                <a:cs typeface="Aptos"/>
              </a:defRPr>
            </a:pPr>
            <a:r>
              <a:rPr sz="1200" b="1">
                <a:solidFill>
                  <a:srgbClr val="1A202C"/>
                </a:solidFill>
                <a:latin typeface="Aptos"/>
                <a:ea typeface="Aptos"/>
                <a:cs typeface="Aptos"/>
              </a:rPr>
              <a:t>ОИБ · 5. семестар</a:t>
            </a:r>
          </a:p>
        </p:txBody>
      </p:sp>
      <p:sp>
        <p:nvSpPr>
          <p:cNvPr id="8" name="Rectangle 7">
            <a:extLst>
              <a:ext uri="{FF2B5EF4-FFF2-40B4-BE49-F238E27FC236}">
                <a16:creationId xmlns:a16="http://schemas.microsoft.com/office/drawing/2014/main" id="{946FBCE8-11BA-4A20-B946-E3FE403AFCB5}"/>
              </a:ext>
            </a:extLst>
          </p:cNvPr>
          <p:cNvSpPr>
            <a:spLocks noGrp="1"/>
          </p:cNvSpPr>
          <p:nvPr/>
        </p:nvSpPr>
        <p:spPr>
          <a:xfrm>
            <a:off x="8096250" y="5581650"/>
            <a:ext cx="3181350" cy="247650"/>
          </a:xfrm>
          <a:prstGeom prst="rect">
            <a:avLst/>
          </a:prstGeom>
          <a:noFill/>
          <a:ln w="0">
            <a:noFill/>
          </a:ln>
        </p:spPr>
        <p:txBody>
          <a:bodyPr wrap="square" lIns="0" tIns="0" rIns="0" bIns="0" anchor="t">
            <a:normAutofit/>
          </a:bodyPr>
          <a:lstStyle/>
          <a:p>
            <a:pPr algn="r">
              <a:lnSpc>
                <a:spcPct val="100000"/>
              </a:lnSpc>
              <a:buNone/>
              <a:defRPr sz="1200" b="0">
                <a:solidFill>
                  <a:srgbClr val="647084"/>
                </a:solidFill>
                <a:latin typeface="Aptos"/>
                <a:ea typeface="Aptos"/>
                <a:cs typeface="Aptos"/>
              </a:defRPr>
            </a:pPr>
            <a:r>
              <a:rPr sz="1200" b="0">
                <a:solidFill>
                  <a:srgbClr val="647084"/>
                </a:solidFill>
                <a:latin typeface="Aptos"/>
                <a:ea typeface="Aptos"/>
                <a:cs typeface="Aptos"/>
              </a:rPr>
              <a:t>Академска 2026/27</a:t>
            </a:r>
          </a:p>
        </p:txBody>
      </p:sp>
    </p:spTree>
    <p:extLst>
      <p:ext uri="{BB962C8B-B14F-4D97-AF65-F5344CB8AC3E}">
        <p14:creationId xmlns:p14="http://schemas.microsoft.com/office/powerpoint/2010/main" val="16327862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E38A8370-5038-45BB-B228-D602B7CA0ADB}"/>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037D3E5C-4A1C-4CFA-8EA7-D7F2275F10D6}"/>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10565160-A928-49F8-AC2B-7098EC29CB42}"/>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a:t>
            </a:r>
          </a:p>
        </p:txBody>
      </p:sp>
      <p:sp>
        <p:nvSpPr>
          <p:cNvPr id="4" name="Rectangle 3">
            <a:extLst>
              <a:ext uri="{FF2B5EF4-FFF2-40B4-BE49-F238E27FC236}">
                <a16:creationId xmlns:a16="http://schemas.microsoft.com/office/drawing/2014/main" id="{96BBC174-2C53-48F1-BF55-DAC9AC32C274}"/>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Проблем који решавамо</a:t>
            </a:r>
          </a:p>
        </p:txBody>
      </p:sp>
      <p:sp>
        <p:nvSpPr>
          <p:cNvPr id="5" name="Rectangle 4">
            <a:extLst>
              <a:ext uri="{FF2B5EF4-FFF2-40B4-BE49-F238E27FC236}">
                <a16:creationId xmlns:a16="http://schemas.microsoft.com/office/drawing/2014/main" id="{B0966A4C-0697-465D-8AF2-83E17B4C5BCA}"/>
              </a:ext>
            </a:extLst>
          </p:cNvPr>
          <p:cNvSpPr>
            <a:spLocks noGrp="1"/>
          </p:cNvSpPr>
          <p:nvPr/>
        </p:nvSpPr>
        <p:spPr>
          <a:xfrm>
            <a:off x="685800" y="1428750"/>
            <a:ext cx="10820400" cy="457200"/>
          </a:xfrm>
          <a:prstGeom prst="rect">
            <a:avLst/>
          </a:prstGeom>
          <a:noFill/>
          <a:ln w="0">
            <a:noFill/>
          </a:ln>
        </p:spPr>
        <p:txBody>
          <a:bodyPr wrap="square" lIns="0" tIns="0" rIns="0" bIns="0" anchor="t">
            <a:normAutofit fontScale="87436"/>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Безбедносни догађај није аутоматски инцидент. Систем најпре препознаје сигнал, затим га ставља у контекст и тек онда одређује да ли је потребна реакција. Такав ток спречава и игнорисање проблема и непотребно алармирање због сваког одступања.</a:t>
            </a:r>
          </a:p>
        </p:txBody>
      </p:sp>
      <p:sp>
        <p:nvSpPr>
          <p:cNvPr id="6" name="Rounded Rectangle 5">
            <a:extLst>
              <a:ext uri="{FF2B5EF4-FFF2-40B4-BE49-F238E27FC236}">
                <a16:creationId xmlns:a16="http://schemas.microsoft.com/office/drawing/2014/main" id="{FBE1FF1C-A01F-4FFA-99BB-D6FF8A0DEE0A}"/>
              </a:ext>
            </a:extLst>
          </p:cNvPr>
          <p:cNvSpPr>
            <a:spLocks noGrp="1"/>
          </p:cNvSpPr>
          <p:nvPr/>
        </p:nvSpPr>
        <p:spPr>
          <a:xfrm>
            <a:off x="819150" y="2571750"/>
            <a:ext cx="3257550" cy="2228850"/>
          </a:xfrm>
          <a:prstGeom prst="roundRect">
            <a:avLst>
              <a:gd name="adj" fmla="val 5983"/>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11111B27-4FAE-403C-A0CF-6D6219B866B9}"/>
              </a:ext>
            </a:extLst>
          </p:cNvPr>
          <p:cNvSpPr>
            <a:spLocks noGrp="1"/>
          </p:cNvSpPr>
          <p:nvPr/>
        </p:nvSpPr>
        <p:spPr>
          <a:xfrm>
            <a:off x="971550"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ПРОБЛЕМ</a:t>
            </a:r>
          </a:p>
        </p:txBody>
      </p:sp>
      <p:sp>
        <p:nvSpPr>
          <p:cNvPr id="8" name="Rectangle 7">
            <a:extLst>
              <a:ext uri="{FF2B5EF4-FFF2-40B4-BE49-F238E27FC236}">
                <a16:creationId xmlns:a16="http://schemas.microsoft.com/office/drawing/2014/main" id="{A1FC8AE1-69D5-4FCB-86FD-4518BA317EF3}"/>
              </a:ext>
            </a:extLst>
          </p:cNvPr>
          <p:cNvSpPr>
            <a:spLocks noGrp="1"/>
          </p:cNvSpPr>
          <p:nvPr/>
        </p:nvSpPr>
        <p:spPr>
          <a:xfrm>
            <a:off x="971550"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Шта може поћи по злу</a:t>
            </a:r>
          </a:p>
        </p:txBody>
      </p:sp>
      <p:sp>
        <p:nvSpPr>
          <p:cNvPr id="9" name="Rectangle 8">
            <a:extLst>
              <a:ext uri="{FF2B5EF4-FFF2-40B4-BE49-F238E27FC236}">
                <a16:creationId xmlns:a16="http://schemas.microsoft.com/office/drawing/2014/main" id="{1D366C55-2AFE-4144-BA57-46EE36302490}"/>
              </a:ext>
            </a:extLst>
          </p:cNvPr>
          <p:cNvSpPr>
            <a:spLocks noGrp="1"/>
          </p:cNvSpPr>
          <p:nvPr/>
        </p:nvSpPr>
        <p:spPr>
          <a:xfrm>
            <a:off x="971550" y="3352800"/>
            <a:ext cx="2952750" cy="1343025"/>
          </a:xfrm>
          <a:prstGeom prst="rect">
            <a:avLst/>
          </a:prstGeom>
          <a:noFill/>
          <a:ln w="0">
            <a:noFill/>
          </a:ln>
        </p:spPr>
        <p:txBody>
          <a:bodyPr wrap="square" lIns="0" tIns="0" rIns="0" bIns="0" anchor="t">
            <a:normAutofit fontScale="87975"/>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Безбедносни догађај није аутоматски инцидент. Систем најпре препознаје сигнал, затим га ставља у контекст и тек онда одређује да ли је потребна реакција. Такав ток спречава и игнорисање проблема и непотребно алармирање због сваког одступања.</a:t>
            </a:r>
          </a:p>
        </p:txBody>
      </p:sp>
      <p:sp>
        <p:nvSpPr>
          <p:cNvPr id="10" name="Rounded Rectangle 9">
            <a:extLst>
              <a:ext uri="{FF2B5EF4-FFF2-40B4-BE49-F238E27FC236}">
                <a16:creationId xmlns:a16="http://schemas.microsoft.com/office/drawing/2014/main" id="{F14D9C72-1A3D-4A13-B31C-D768862C56DC}"/>
              </a:ext>
            </a:extLst>
          </p:cNvPr>
          <p:cNvSpPr>
            <a:spLocks noGrp="1"/>
          </p:cNvSpPr>
          <p:nvPr/>
        </p:nvSpPr>
        <p:spPr>
          <a:xfrm>
            <a:off x="4467225" y="2571750"/>
            <a:ext cx="3257550" cy="2228850"/>
          </a:xfrm>
          <a:prstGeom prst="roundRect">
            <a:avLst>
              <a:gd name="adj" fmla="val 5983"/>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4DF5E1E9-EAFA-481C-A0D5-BC61DFFC5BF6}"/>
              </a:ext>
            </a:extLst>
          </p:cNvPr>
          <p:cNvSpPr>
            <a:spLocks noGrp="1"/>
          </p:cNvSpPr>
          <p:nvPr/>
        </p:nvSpPr>
        <p:spPr>
          <a:xfrm>
            <a:off x="4619625"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ЗАШТО</a:t>
            </a:r>
          </a:p>
        </p:txBody>
      </p:sp>
      <p:sp>
        <p:nvSpPr>
          <p:cNvPr id="12" name="Rectangle 11">
            <a:extLst>
              <a:ext uri="{FF2B5EF4-FFF2-40B4-BE49-F238E27FC236}">
                <a16:creationId xmlns:a16="http://schemas.microsoft.com/office/drawing/2014/main" id="{650A4C74-5AFA-4E94-AFFB-6D2C25A1CD93}"/>
              </a:ext>
            </a:extLst>
          </p:cNvPr>
          <p:cNvSpPr>
            <a:spLocks noGrp="1"/>
          </p:cNvSpPr>
          <p:nvPr/>
        </p:nvSpPr>
        <p:spPr>
          <a:xfrm>
            <a:off x="4619625"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Зашто је тема важна</a:t>
            </a:r>
          </a:p>
        </p:txBody>
      </p:sp>
      <p:sp>
        <p:nvSpPr>
          <p:cNvPr id="13" name="Rectangle 12">
            <a:extLst>
              <a:ext uri="{FF2B5EF4-FFF2-40B4-BE49-F238E27FC236}">
                <a16:creationId xmlns:a16="http://schemas.microsoft.com/office/drawing/2014/main" id="{DA25FC6F-F01B-4BC8-94FE-313179E8B580}"/>
              </a:ext>
            </a:extLst>
          </p:cNvPr>
          <p:cNvSpPr>
            <a:spLocks noGrp="1"/>
          </p:cNvSpPr>
          <p:nvPr/>
        </p:nvSpPr>
        <p:spPr>
          <a:xfrm>
            <a:off x="4619625" y="3352800"/>
            <a:ext cx="2952750" cy="1343025"/>
          </a:xfrm>
          <a:prstGeom prst="rect">
            <a:avLst/>
          </a:prstGeom>
          <a:noFill/>
          <a:ln w="0">
            <a:noFill/>
          </a:ln>
        </p:spPr>
        <p:txBody>
          <a:bodyPr wrap="square" lIns="0" tIns="0" rIns="0" bIns="0" anchor="t">
            <a:normAutofit fontScale="97319"/>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Управљање инцидентом даје структуру тренутку када је најлакше изгубити контекст. Рањивост постаје решив проблем када је повезана са имовином, приоритетом, власником и доказом да је корекција проверена.</a:t>
            </a:r>
          </a:p>
        </p:txBody>
      </p:sp>
      <p:sp>
        <p:nvSpPr>
          <p:cNvPr id="14" name="Rounded Rectangle 13">
            <a:extLst>
              <a:ext uri="{FF2B5EF4-FFF2-40B4-BE49-F238E27FC236}">
                <a16:creationId xmlns:a16="http://schemas.microsoft.com/office/drawing/2014/main" id="{0E5C4A5E-6FEF-43AB-926E-FBECAA5F3F30}"/>
              </a:ext>
            </a:extLst>
          </p:cNvPr>
          <p:cNvSpPr>
            <a:spLocks noGrp="1"/>
          </p:cNvSpPr>
          <p:nvPr/>
        </p:nvSpPr>
        <p:spPr>
          <a:xfrm>
            <a:off x="8115300" y="2571750"/>
            <a:ext cx="3257550" cy="2228850"/>
          </a:xfrm>
          <a:prstGeom prst="roundRect">
            <a:avLst>
              <a:gd name="adj" fmla="val 5983"/>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275431F0-5F04-40F6-816A-0C9F03377F5B}"/>
              </a:ext>
            </a:extLst>
          </p:cNvPr>
          <p:cNvSpPr>
            <a:spLocks noGrp="1"/>
          </p:cNvSpPr>
          <p:nvPr/>
        </p:nvSpPr>
        <p:spPr>
          <a:xfrm>
            <a:off x="8267700"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ИСХОД</a:t>
            </a:r>
          </a:p>
        </p:txBody>
      </p:sp>
      <p:sp>
        <p:nvSpPr>
          <p:cNvPr id="16" name="Rectangle 15">
            <a:extLst>
              <a:ext uri="{FF2B5EF4-FFF2-40B4-BE49-F238E27FC236}">
                <a16:creationId xmlns:a16="http://schemas.microsoft.com/office/drawing/2014/main" id="{78241F78-26FC-4288-8092-CD0F9DE47A2B}"/>
              </a:ext>
            </a:extLst>
          </p:cNvPr>
          <p:cNvSpPr>
            <a:spLocks noGrp="1"/>
          </p:cNvSpPr>
          <p:nvPr/>
        </p:nvSpPr>
        <p:spPr>
          <a:xfrm>
            <a:off x="8267700"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Шта треба доказати</a:t>
            </a:r>
          </a:p>
        </p:txBody>
      </p:sp>
      <p:sp>
        <p:nvSpPr>
          <p:cNvPr id="17" name="Rectangle 16">
            <a:extLst>
              <a:ext uri="{FF2B5EF4-FFF2-40B4-BE49-F238E27FC236}">
                <a16:creationId xmlns:a16="http://schemas.microsoft.com/office/drawing/2014/main" id="{ED8CF00C-3196-4D92-A576-743A67C8A0C5}"/>
              </a:ext>
            </a:extLst>
          </p:cNvPr>
          <p:cNvSpPr>
            <a:spLocks noGrp="1"/>
          </p:cNvSpPr>
          <p:nvPr/>
        </p:nvSpPr>
        <p:spPr>
          <a:xfrm>
            <a:off x="8267700" y="3352800"/>
            <a:ext cx="2952750" cy="13430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Одлука је јасна, примењује се на серверу и оставља поновљив доказ успешног и одбијеног исхода.</a:t>
            </a:r>
          </a:p>
        </p:txBody>
      </p:sp>
    </p:spTree>
    <p:extLst>
      <p:ext uri="{BB962C8B-B14F-4D97-AF65-F5344CB8AC3E}">
        <p14:creationId xmlns:p14="http://schemas.microsoft.com/office/powerpoint/2010/main" val="16542024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E52087B7-030A-4B86-81ED-C889AD0F3870}"/>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70D8A320-4B0E-406A-8949-97B8F3E8492F}"/>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7318C5DA-0B6B-40CF-9361-D65CBA7CE213}"/>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3</a:t>
            </a:r>
          </a:p>
        </p:txBody>
      </p:sp>
      <p:sp>
        <p:nvSpPr>
          <p:cNvPr id="4" name="Rectangle 3">
            <a:extLst>
              <a:ext uri="{FF2B5EF4-FFF2-40B4-BE49-F238E27FC236}">
                <a16:creationId xmlns:a16="http://schemas.microsoft.com/office/drawing/2014/main" id="{8D4D6591-9167-4F95-8041-A6E127E43297}"/>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Четири појма граде једну одлуку</a:t>
            </a:r>
          </a:p>
        </p:txBody>
      </p:sp>
      <p:sp>
        <p:nvSpPr>
          <p:cNvPr id="5" name="Rectangle 4">
            <a:extLst>
              <a:ext uri="{FF2B5EF4-FFF2-40B4-BE49-F238E27FC236}">
                <a16:creationId xmlns:a16="http://schemas.microsoft.com/office/drawing/2014/main" id="{D30199A7-5828-42B3-A993-39515C18FBC9}"/>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Сваки елемент одговара на друго питање и оставља другачији доказ.</a:t>
            </a:r>
          </a:p>
        </p:txBody>
      </p:sp>
      <p:sp>
        <p:nvSpPr>
          <p:cNvPr id="6" name="Rounded Rectangle 5">
            <a:extLst>
              <a:ext uri="{FF2B5EF4-FFF2-40B4-BE49-F238E27FC236}">
                <a16:creationId xmlns:a16="http://schemas.microsoft.com/office/drawing/2014/main" id="{18BEF625-8B6D-47AF-A8BE-890050FCCB34}"/>
              </a:ext>
            </a:extLst>
          </p:cNvPr>
          <p:cNvSpPr>
            <a:spLocks noGrp="1"/>
          </p:cNvSpPr>
          <p:nvPr/>
        </p:nvSpPr>
        <p:spPr>
          <a:xfrm>
            <a:off x="723900" y="2419350"/>
            <a:ext cx="24717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DA0C30F4-F7FE-4F85-ADCE-A95F8D5C70F5}"/>
              </a:ext>
            </a:extLst>
          </p:cNvPr>
          <p:cNvSpPr>
            <a:spLocks noGrp="1"/>
          </p:cNvSpPr>
          <p:nvPr/>
        </p:nvSpPr>
        <p:spPr>
          <a:xfrm>
            <a:off x="866775"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E4FA1AE2-1399-4C17-8D0E-3533A3EACA9C}"/>
              </a:ext>
            </a:extLst>
          </p:cNvPr>
          <p:cNvSpPr>
            <a:spLocks noGrp="1"/>
          </p:cNvSpPr>
          <p:nvPr/>
        </p:nvSpPr>
        <p:spPr>
          <a:xfrm>
            <a:off x="857250"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Сигнал</a:t>
            </a:r>
          </a:p>
        </p:txBody>
      </p:sp>
      <p:sp>
        <p:nvSpPr>
          <p:cNvPr id="9" name="Rectangle 8">
            <a:extLst>
              <a:ext uri="{FF2B5EF4-FFF2-40B4-BE49-F238E27FC236}">
                <a16:creationId xmlns:a16="http://schemas.microsoft.com/office/drawing/2014/main" id="{561C3FF1-1977-4AB0-9263-E8F1B1D17083}"/>
              </a:ext>
            </a:extLst>
          </p:cNvPr>
          <p:cNvSpPr>
            <a:spLocks noGrp="1"/>
          </p:cNvSpPr>
          <p:nvPr/>
        </p:nvSpPr>
        <p:spPr>
          <a:xfrm>
            <a:off x="866775"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уочено одступање</a:t>
            </a:r>
          </a:p>
        </p:txBody>
      </p:sp>
      <p:sp>
        <p:nvSpPr>
          <p:cNvPr id="10" name="Rounded Rectangle 9">
            <a:extLst>
              <a:ext uri="{FF2B5EF4-FFF2-40B4-BE49-F238E27FC236}">
                <a16:creationId xmlns:a16="http://schemas.microsoft.com/office/drawing/2014/main" id="{74061374-9471-4A53-B286-16B28EA1A049}"/>
              </a:ext>
            </a:extLst>
          </p:cNvPr>
          <p:cNvSpPr>
            <a:spLocks noGrp="1"/>
          </p:cNvSpPr>
          <p:nvPr/>
        </p:nvSpPr>
        <p:spPr>
          <a:xfrm>
            <a:off x="3481388" y="2419350"/>
            <a:ext cx="2471738" cy="1257300"/>
          </a:xfrm>
          <a:prstGeom prst="roundRect">
            <a:avLst>
              <a:gd name="adj" fmla="val 10606"/>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00768F5D-40CE-4A7F-A6FD-ECEDD0060382}"/>
              </a:ext>
            </a:extLst>
          </p:cNvPr>
          <p:cNvSpPr>
            <a:spLocks noGrp="1"/>
          </p:cNvSpPr>
          <p:nvPr/>
        </p:nvSpPr>
        <p:spPr>
          <a:xfrm>
            <a:off x="3624263"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a:ext uri="{FF2B5EF4-FFF2-40B4-BE49-F238E27FC236}">
                <a16:creationId xmlns:a16="http://schemas.microsoft.com/office/drawing/2014/main" id="{23A4ED6E-7BF3-422C-9413-B9D0760322B1}"/>
              </a:ext>
            </a:extLst>
          </p:cNvPr>
          <p:cNvSpPr>
            <a:spLocks noGrp="1"/>
          </p:cNvSpPr>
          <p:nvPr/>
        </p:nvSpPr>
        <p:spPr>
          <a:xfrm>
            <a:off x="3614738"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Triage</a:t>
            </a:r>
          </a:p>
        </p:txBody>
      </p:sp>
      <p:sp>
        <p:nvSpPr>
          <p:cNvPr id="13" name="Rectangle 12">
            <a:extLst>
              <a:ext uri="{FF2B5EF4-FFF2-40B4-BE49-F238E27FC236}">
                <a16:creationId xmlns:a16="http://schemas.microsoft.com/office/drawing/2014/main" id="{5A9BF2CD-5316-4145-ADAB-E94044B10FB6}"/>
              </a:ext>
            </a:extLst>
          </p:cNvPr>
          <p:cNvSpPr>
            <a:spLocks noGrp="1"/>
          </p:cNvSpPr>
          <p:nvPr/>
        </p:nvSpPr>
        <p:spPr>
          <a:xfrm>
            <a:off x="3624263"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провера контекста и утицаја</a:t>
            </a:r>
          </a:p>
        </p:txBody>
      </p:sp>
      <p:sp>
        <p:nvSpPr>
          <p:cNvPr id="14" name="Rounded Rectangle 13">
            <a:extLst>
              <a:ext uri="{FF2B5EF4-FFF2-40B4-BE49-F238E27FC236}">
                <a16:creationId xmlns:a16="http://schemas.microsoft.com/office/drawing/2014/main" id="{83C264F0-3268-47AE-BCDD-20D7B7823CD5}"/>
              </a:ext>
            </a:extLst>
          </p:cNvPr>
          <p:cNvSpPr>
            <a:spLocks noGrp="1"/>
          </p:cNvSpPr>
          <p:nvPr/>
        </p:nvSpPr>
        <p:spPr>
          <a:xfrm>
            <a:off x="6238875" y="2419350"/>
            <a:ext cx="2471738" cy="1257300"/>
          </a:xfrm>
          <a:prstGeom prst="roundRect">
            <a:avLst>
              <a:gd name="adj" fmla="val 10606"/>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E1194678-B997-4524-B141-BC11F1CB0A52}"/>
              </a:ext>
            </a:extLst>
          </p:cNvPr>
          <p:cNvSpPr>
            <a:spLocks noGrp="1"/>
          </p:cNvSpPr>
          <p:nvPr/>
        </p:nvSpPr>
        <p:spPr>
          <a:xfrm>
            <a:off x="6381750"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a:ext uri="{FF2B5EF4-FFF2-40B4-BE49-F238E27FC236}">
                <a16:creationId xmlns:a16="http://schemas.microsoft.com/office/drawing/2014/main" id="{6B3F3FF1-8C71-4828-820A-CFBA9B736A1A}"/>
              </a:ext>
            </a:extLst>
          </p:cNvPr>
          <p:cNvSpPr>
            <a:spLocks noGrp="1"/>
          </p:cNvSpPr>
          <p:nvPr/>
        </p:nvSpPr>
        <p:spPr>
          <a:xfrm>
            <a:off x="6372225"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Инцидент</a:t>
            </a:r>
          </a:p>
        </p:txBody>
      </p:sp>
      <p:sp>
        <p:nvSpPr>
          <p:cNvPr id="17" name="Rectangle 16">
            <a:extLst>
              <a:ext uri="{FF2B5EF4-FFF2-40B4-BE49-F238E27FC236}">
                <a16:creationId xmlns:a16="http://schemas.microsoft.com/office/drawing/2014/main" id="{DCBDC94F-6A1D-40B7-AE5E-61E34881DD9E}"/>
              </a:ext>
            </a:extLst>
          </p:cNvPr>
          <p:cNvSpPr>
            <a:spLocks noGrp="1"/>
          </p:cNvSpPr>
          <p:nvPr/>
        </p:nvSpPr>
        <p:spPr>
          <a:xfrm>
            <a:off x="6381750"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координисана реакција</a:t>
            </a:r>
          </a:p>
        </p:txBody>
      </p:sp>
      <p:sp>
        <p:nvSpPr>
          <p:cNvPr id="18" name="Rounded Rectangle 17">
            <a:extLst>
              <a:ext uri="{FF2B5EF4-FFF2-40B4-BE49-F238E27FC236}">
                <a16:creationId xmlns:a16="http://schemas.microsoft.com/office/drawing/2014/main" id="{3709DF61-CA26-4B5C-990A-BB6661774D95}"/>
              </a:ext>
            </a:extLst>
          </p:cNvPr>
          <p:cNvSpPr>
            <a:spLocks noGrp="1"/>
          </p:cNvSpPr>
          <p:nvPr/>
        </p:nvSpPr>
        <p:spPr>
          <a:xfrm>
            <a:off x="8996363" y="2419350"/>
            <a:ext cx="24717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B29B025D-A3F2-4C67-AFC8-A608F25DCDF7}"/>
              </a:ext>
            </a:extLst>
          </p:cNvPr>
          <p:cNvSpPr>
            <a:spLocks noGrp="1"/>
          </p:cNvSpPr>
          <p:nvPr/>
        </p:nvSpPr>
        <p:spPr>
          <a:xfrm>
            <a:off x="9139238"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5FBE65DB-AECF-4F51-BC10-543797B81A3A}"/>
              </a:ext>
            </a:extLst>
          </p:cNvPr>
          <p:cNvSpPr>
            <a:spLocks noGrp="1"/>
          </p:cNvSpPr>
          <p:nvPr/>
        </p:nvSpPr>
        <p:spPr>
          <a:xfrm>
            <a:off x="9129713"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Учење</a:t>
            </a:r>
          </a:p>
        </p:txBody>
      </p:sp>
      <p:sp>
        <p:nvSpPr>
          <p:cNvPr id="21" name="Rectangle 20">
            <a:extLst>
              <a:ext uri="{FF2B5EF4-FFF2-40B4-BE49-F238E27FC236}">
                <a16:creationId xmlns:a16="http://schemas.microsoft.com/office/drawing/2014/main" id="{7F00C206-33A0-4F9C-85F7-26EA3FC80EFF}"/>
              </a:ext>
            </a:extLst>
          </p:cNvPr>
          <p:cNvSpPr>
            <a:spLocks noGrp="1"/>
          </p:cNvSpPr>
          <p:nvPr/>
        </p:nvSpPr>
        <p:spPr>
          <a:xfrm>
            <a:off x="9139238"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корекција и превенција</a:t>
            </a:r>
          </a:p>
        </p:txBody>
      </p:sp>
      <p:cxnSp>
        <p:nvCxnSpPr>
          <p:cNvPr id="125" name="Straight Arrow Connector 124"/>
          <p:cNvCxnSpPr>
            <a:stCxn id="6" idx="3"/>
            <a:endCxn id="10" idx="1"/>
          </p:cNvCxnSpPr>
          <p:nvPr/>
        </p:nvCxnSpPr>
        <p:spPr>
          <a:xfrm>
            <a:off x="3195638" y="304800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04800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710613" y="304800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F9AD5A1F-51C4-4A16-A245-B792F1FCE05C}"/>
              </a:ext>
            </a:extLst>
          </p:cNvPr>
          <p:cNvSpPr>
            <a:spLocks noGrp="1"/>
          </p:cNvSpPr>
          <p:nvPr/>
        </p:nvSpPr>
        <p:spPr>
          <a:xfrm>
            <a:off x="1619250" y="4286250"/>
            <a:ext cx="8953500" cy="800100"/>
          </a:xfrm>
          <a:prstGeom prst="roundRect">
            <a:avLst>
              <a:gd name="adj" fmla="val 15476"/>
            </a:avLst>
          </a:prstGeom>
          <a:solidFill>
            <a:srgbClr val="F4F6F9"/>
          </a:solidFill>
          <a:ln w="9525">
            <a:solidFill>
              <a:srgbClr val="D7DEE8"/>
            </a:solidFill>
            <a:prstDash val="solid"/>
          </a:ln>
        </p:spPr>
      </p:sp>
      <p:sp>
        <p:nvSpPr>
          <p:cNvPr id="26" name="Rounded Rectangle 25">
            <a:extLst>
              <a:ext uri="{FF2B5EF4-FFF2-40B4-BE49-F238E27FC236}">
                <a16:creationId xmlns:a16="http://schemas.microsoft.com/office/drawing/2014/main" id="{0BAF6E79-7151-416F-A6A8-65C41C0736FE}"/>
              </a:ext>
            </a:extLst>
          </p:cNvPr>
          <p:cNvSpPr>
            <a:spLocks noGrp="1"/>
          </p:cNvSpPr>
          <p:nvPr/>
        </p:nvSpPr>
        <p:spPr>
          <a:xfrm>
            <a:off x="1752600" y="4429125"/>
            <a:ext cx="57150" cy="514350"/>
          </a:xfrm>
          <a:prstGeom prst="roundRect">
            <a:avLst>
              <a:gd name="adj" fmla="val 50000"/>
            </a:avLst>
          </a:prstGeom>
          <a:solidFill>
            <a:srgbClr val="748092"/>
          </a:solidFill>
          <a:ln w="0">
            <a:noFill/>
          </a:ln>
        </p:spPr>
      </p:sp>
      <p:sp>
        <p:nvSpPr>
          <p:cNvPr id="76" name="Rounded Rectangle 75">
            <a:extLst>
              <a:ext uri="{FF2B5EF4-FFF2-40B4-BE49-F238E27FC236}">
                <a16:creationId xmlns:a16="http://schemas.microsoft.com/office/drawing/2014/main" id="{0F4EE33F-C271-47CA-B165-C3B73756C078}"/>
              </a:ext>
            </a:extLst>
          </p:cNvPr>
          <p:cNvSpPr>
            <a:spLocks noGrp="1"/>
          </p:cNvSpPr>
          <p:nvPr/>
        </p:nvSpPr>
        <p:spPr>
          <a:xfrm>
            <a:off x="914400" y="4305300"/>
            <a:ext cx="10363200" cy="800100"/>
          </a:xfrm>
          <a:prstGeom prst="roundRect">
            <a:avLst>
              <a:gd name="adj" fmla="val 16667"/>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E48C6208-E406-43E8-8CED-77E057A90D34}"/>
              </a:ext>
            </a:extLst>
          </p:cNvPr>
          <p:cNvSpPr>
            <a:spLocks noGrp="1"/>
          </p:cNvSpPr>
          <p:nvPr/>
        </p:nvSpPr>
        <p:spPr>
          <a:xfrm>
            <a:off x="1085850" y="4457700"/>
            <a:ext cx="57150" cy="49530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8A943BD6-2E8C-419E-BBA8-8EDBC8F1BA37}"/>
              </a:ext>
            </a:extLst>
          </p:cNvPr>
          <p:cNvSpPr>
            <a:spLocks noGrp="1"/>
          </p:cNvSpPr>
          <p:nvPr/>
        </p:nvSpPr>
        <p:spPr>
          <a:xfrm>
            <a:off x="1333500" y="44100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КЉУЧНА ПОРУКА</a:t>
            </a:r>
          </a:p>
        </p:txBody>
      </p:sp>
      <p:sp>
        <p:nvSpPr>
          <p:cNvPr id="79" name="Rectangle 78">
            <a:extLst>
              <a:ext uri="{FF2B5EF4-FFF2-40B4-BE49-F238E27FC236}">
                <a16:creationId xmlns:a16="http://schemas.microsoft.com/office/drawing/2014/main" id="{8CA449BC-FF9E-4265-8D37-C4A268280A73}"/>
              </a:ext>
            </a:extLst>
          </p:cNvPr>
          <p:cNvSpPr>
            <a:spLocks noGrp="1"/>
          </p:cNvSpPr>
          <p:nvPr/>
        </p:nvSpPr>
        <p:spPr>
          <a:xfrm>
            <a:off x="1333500" y="4638675"/>
            <a:ext cx="9639300" cy="36195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Није сваки сигнал инцидент, али сваки значајан исход оставља знање корисно за следећу одлуку.</a:t>
            </a:r>
          </a:p>
        </p:txBody>
      </p:sp>
    </p:spTree>
    <p:extLst>
      <p:ext uri="{BB962C8B-B14F-4D97-AF65-F5344CB8AC3E}">
        <p14:creationId xmlns:p14="http://schemas.microsoft.com/office/powerpoint/2010/main" val="19549516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90F5FA7-BE4B-4E07-A0A2-DED2D4F919EA}"/>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E05E145B-9F6F-41EF-9EBC-72B937C114DB}"/>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6A73CC74-1F8E-4A74-9291-E0BBCA2A1084}"/>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4</a:t>
            </a:r>
          </a:p>
        </p:txBody>
      </p:sp>
      <p:sp>
        <p:nvSpPr>
          <p:cNvPr id="4" name="Rectangle 3">
            <a:extLst>
              <a:ext uri="{FF2B5EF4-FFF2-40B4-BE49-F238E27FC236}">
                <a16:creationId xmlns:a16="http://schemas.microsoft.com/office/drawing/2014/main" id="{3E82C2FE-6AD0-4EBE-9A1F-9DEF3528764E}"/>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Сигнал</a:t>
            </a:r>
          </a:p>
        </p:txBody>
      </p:sp>
      <p:sp>
        <p:nvSpPr>
          <p:cNvPr id="5" name="Rectangle 4">
            <a:extLst>
              <a:ext uri="{FF2B5EF4-FFF2-40B4-BE49-F238E27FC236}">
                <a16:creationId xmlns:a16="http://schemas.microsoft.com/office/drawing/2014/main" id="{E073F4F8-CC30-4039-9154-6B080CD4E193}"/>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уочено одступање</a:t>
            </a:r>
          </a:p>
        </p:txBody>
      </p:sp>
      <p:sp>
        <p:nvSpPr>
          <p:cNvPr id="6" name="Rounded Rectangle 5">
            <a:extLst>
              <a:ext uri="{FF2B5EF4-FFF2-40B4-BE49-F238E27FC236}">
                <a16:creationId xmlns:a16="http://schemas.microsoft.com/office/drawing/2014/main" id="{9E18F851-265D-443F-8995-949DA46AA81B}"/>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7015D255-F8AE-4451-AF24-9BA32F1F91D1}"/>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1B948181-1FEB-453B-B73D-AE78A82714C2}"/>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Праг детекције треба да има смисао и разлог, не само произвољну бројку.</a:t>
            </a:r>
          </a:p>
        </p:txBody>
      </p:sp>
      <p:sp>
        <p:nvSpPr>
          <p:cNvPr id="9" name="Rectangle 8">
            <a:extLst>
              <a:ext uri="{FF2B5EF4-FFF2-40B4-BE49-F238E27FC236}">
                <a16:creationId xmlns:a16="http://schemas.microsoft.com/office/drawing/2014/main" id="{20D13C15-BC2D-42C0-B612-3BF92B730736}"/>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31D0C935-BA31-413B-A388-7D61DB9BC5BF}"/>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DD2D9FAB-1F40-4263-B06E-AD52C4F3CC28}"/>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034A7B28-7CE0-4691-91EE-446D8421AE71}"/>
              </a:ext>
            </a:extLst>
          </p:cNvPr>
          <p:cNvSpPr>
            <a:spLocks noGrp="1"/>
          </p:cNvSpPr>
          <p:nvPr/>
        </p:nvSpPr>
        <p:spPr>
          <a:xfrm>
            <a:off x="4610100" y="2800350"/>
            <a:ext cx="2952750" cy="781050"/>
          </a:xfrm>
          <a:prstGeom prst="rect">
            <a:avLst/>
          </a:prstGeom>
          <a:noFill/>
          <a:ln w="0">
            <a:noFill/>
          </a:ln>
        </p:spPr>
        <p:txBody>
          <a:bodyPr wrap="square" lIns="0" tIns="0" rIns="0" bIns="0" anchor="ctr">
            <a:normAutofit fontScale="95997"/>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Детекција треба да опише образац који је вредан пажње, а не да сваку грешку прогласи инцидентом.</a:t>
            </a:r>
          </a:p>
        </p:txBody>
      </p:sp>
      <p:sp>
        <p:nvSpPr>
          <p:cNvPr id="13" name="Rectangle 12">
            <a:extLst>
              <a:ext uri="{FF2B5EF4-FFF2-40B4-BE49-F238E27FC236}">
                <a16:creationId xmlns:a16="http://schemas.microsoft.com/office/drawing/2014/main" id="{4E66097E-9C33-4194-AC97-DEC90E724325}"/>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F7C147EC-02F9-4CEF-985C-0A84C5D1F3B6}"/>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161D0870-14B4-4FC1-8475-148EC7DB5327}"/>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1B7604C7-5E06-43E9-8328-A444739B8EC5}"/>
              </a:ext>
            </a:extLst>
          </p:cNvPr>
          <p:cNvSpPr>
            <a:spLocks noGrp="1"/>
          </p:cNvSpPr>
          <p:nvPr/>
        </p:nvSpPr>
        <p:spPr>
          <a:xfrm>
            <a:off x="81724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Праг се бира према нормалном понашању система, а не према случајном броју.</a:t>
            </a:r>
          </a:p>
        </p:txBody>
      </p:sp>
      <p:sp>
        <p:nvSpPr>
          <p:cNvPr id="17" name="Rectangle 16">
            <a:extLst>
              <a:ext uri="{FF2B5EF4-FFF2-40B4-BE49-F238E27FC236}">
                <a16:creationId xmlns:a16="http://schemas.microsoft.com/office/drawing/2014/main" id="{CB170EFF-236E-48EB-A300-1680B8164658}"/>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2294280B-22D0-4F67-8202-A2F1F7E712B0}"/>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E79F866D-99D3-40FF-BF6E-D576CBD01A1E}"/>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86A9A5D4-C63C-4E2A-8378-0542FF6CB20A}"/>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97E43DD2-66F5-4580-8491-44A889BBB690}"/>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B10402F9-97A2-43C9-B567-56491EEF7C97}"/>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D00757E3-B63C-4509-82A0-8DE6D8145E70}"/>
              </a:ext>
            </a:extLst>
          </p:cNvPr>
          <p:cNvSpPr>
            <a:spLocks noGrp="1"/>
          </p:cNvSpPr>
          <p:nvPr/>
        </p:nvSpPr>
        <p:spPr>
          <a:xfrm>
            <a:off x="1333500" y="5095875"/>
            <a:ext cx="9639300" cy="342900"/>
          </a:xfrm>
          <a:prstGeom prst="rect">
            <a:avLst/>
          </a:prstGeom>
          <a:noFill/>
          <a:ln w="0">
            <a:noFill/>
          </a:ln>
        </p:spPr>
        <p:txBody>
          <a:bodyPr wrap="square" lIns="0" tIns="0" rIns="0" bIns="0" anchor="ctr">
            <a:normAutofit fontScale="92926"/>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Који догађај би у вашем систему био користан сигнал, али не и довољан доказ инцидента? Који контекст недостаје?</a:t>
            </a:r>
          </a:p>
        </p:txBody>
      </p:sp>
    </p:spTree>
    <p:extLst>
      <p:ext uri="{BB962C8B-B14F-4D97-AF65-F5344CB8AC3E}">
        <p14:creationId xmlns:p14="http://schemas.microsoft.com/office/powerpoint/2010/main" val="7447793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72156319-6C39-4E81-882B-D5C56945FD52}"/>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406575BD-B289-4686-9EE1-52E598D898CD}"/>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AA9BC0EF-3EB5-4618-B734-510F4EA7C93D}"/>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5</a:t>
            </a:r>
          </a:p>
        </p:txBody>
      </p:sp>
      <p:sp>
        <p:nvSpPr>
          <p:cNvPr id="4" name="Rectangle 3">
            <a:extLst>
              <a:ext uri="{FF2B5EF4-FFF2-40B4-BE49-F238E27FC236}">
                <a16:creationId xmlns:a16="http://schemas.microsoft.com/office/drawing/2014/main" id="{6B38E52B-AD07-4E81-9A1D-227913750DA7}"/>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Triage</a:t>
            </a:r>
          </a:p>
        </p:txBody>
      </p:sp>
      <p:sp>
        <p:nvSpPr>
          <p:cNvPr id="5" name="Rectangle 4">
            <a:extLst>
              <a:ext uri="{FF2B5EF4-FFF2-40B4-BE49-F238E27FC236}">
                <a16:creationId xmlns:a16="http://schemas.microsoft.com/office/drawing/2014/main" id="{AEDA20C2-EDA9-4E35-AEB5-5874176E20A3}"/>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провера контекста и утицаја</a:t>
            </a:r>
          </a:p>
        </p:txBody>
      </p:sp>
      <p:sp>
        <p:nvSpPr>
          <p:cNvPr id="6" name="Rounded Rectangle 5">
            <a:extLst>
              <a:ext uri="{FF2B5EF4-FFF2-40B4-BE49-F238E27FC236}">
                <a16:creationId xmlns:a16="http://schemas.microsoft.com/office/drawing/2014/main" id="{F1A3DD90-823B-4B98-8970-E1C178539D16}"/>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1C7D44CE-9373-4ABB-B346-E040B4A090E7}"/>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8594BA92-9AE9-4AD6-98F7-DDECD9BC73C9}"/>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Затварање упозорења чува образложење, јер је то знање за следећи сличан случај.</a:t>
            </a:r>
          </a:p>
        </p:txBody>
      </p:sp>
      <p:sp>
        <p:nvSpPr>
          <p:cNvPr id="9" name="Rectangle 8">
            <a:extLst>
              <a:ext uri="{FF2B5EF4-FFF2-40B4-BE49-F238E27FC236}">
                <a16:creationId xmlns:a16="http://schemas.microsoft.com/office/drawing/2014/main" id="{FA0B80EA-741C-4814-A772-2A9EF37B3234}"/>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E5370F02-67AD-44FA-A3ED-EF6D820156CB}"/>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CF107F58-1905-4DA5-A540-0F5A882D2CCD}"/>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41A99BA6-9DFE-4520-B2EA-B3054BD75C44}"/>
              </a:ext>
            </a:extLst>
          </p:cNvPr>
          <p:cNvSpPr>
            <a:spLocks noGrp="1"/>
          </p:cNvSpPr>
          <p:nvPr/>
        </p:nvSpPr>
        <p:spPr>
          <a:xfrm>
            <a:off x="461010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Triage чува одлуку и образложење, укључујући разлог због ког је упозорење затворено.</a:t>
            </a:r>
          </a:p>
        </p:txBody>
      </p:sp>
      <p:sp>
        <p:nvSpPr>
          <p:cNvPr id="13" name="Rectangle 12">
            <a:extLst>
              <a:ext uri="{FF2B5EF4-FFF2-40B4-BE49-F238E27FC236}">
                <a16:creationId xmlns:a16="http://schemas.microsoft.com/office/drawing/2014/main" id="{5E6870C9-A8A6-4504-8BEC-BE00FE74FFEC}"/>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3B96CFFC-A2A3-4A1F-9FFB-5F3BDA611C05}"/>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281D9D42-250A-4DFA-8715-C81516C38E16}"/>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EEC9B429-D324-462F-873E-A5BF571D7DB3}"/>
              </a:ext>
            </a:extLst>
          </p:cNvPr>
          <p:cNvSpPr>
            <a:spLocks noGrp="1"/>
          </p:cNvSpPr>
          <p:nvPr/>
        </p:nvSpPr>
        <p:spPr>
          <a:xfrm>
            <a:off x="81724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Упозорење има озбиљност, власника и рок до ког се мора погледати.</a:t>
            </a:r>
          </a:p>
        </p:txBody>
      </p:sp>
      <p:sp>
        <p:nvSpPr>
          <p:cNvPr id="17" name="Rectangle 16">
            <a:extLst>
              <a:ext uri="{FF2B5EF4-FFF2-40B4-BE49-F238E27FC236}">
                <a16:creationId xmlns:a16="http://schemas.microsoft.com/office/drawing/2014/main" id="{34A58330-ECFB-4A2A-A342-F6A1A21EEB29}"/>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5BF1FC4B-FE63-494C-8C62-60CBB584A7DE}"/>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FC880E68-818C-436B-B91D-6D0E1C1952D9}"/>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7818A9FE-2434-4EA0-8B6A-5F88111EE4A2}"/>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E9731D8C-3B11-4DD7-8FEB-475C56A31A1F}"/>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2E909C39-E1BB-40CB-AE55-BA25E4A1A55E}"/>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41B4F4C2-E998-4A2A-B62D-52EDF365CFCF}"/>
              </a:ext>
            </a:extLst>
          </p:cNvPr>
          <p:cNvSpPr>
            <a:spLocks noGrp="1"/>
          </p:cNvSpPr>
          <p:nvPr/>
        </p:nvSpPr>
        <p:spPr>
          <a:xfrm>
            <a:off x="1333500" y="5095875"/>
            <a:ext cx="9639300" cy="342900"/>
          </a:xfrm>
          <a:prstGeom prst="rect">
            <a:avLst/>
          </a:prstGeom>
          <a:noFill/>
          <a:ln w="0">
            <a:noFill/>
          </a:ln>
        </p:spPr>
        <p:txBody>
          <a:bodyPr wrap="square" lIns="0" tIns="0" rIns="0" bIns="0" anchor="ctr">
            <a:normAutofit fontScale="92926"/>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Који догађај би у вашем систему био користан сигнал, али не и довољан доказ инцидента? Који контекст недостаје?</a:t>
            </a:r>
          </a:p>
        </p:txBody>
      </p:sp>
    </p:spTree>
    <p:extLst>
      <p:ext uri="{BB962C8B-B14F-4D97-AF65-F5344CB8AC3E}">
        <p14:creationId xmlns:p14="http://schemas.microsoft.com/office/powerpoint/2010/main" val="2813597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FB9E8EAC-0187-4187-89D8-018B66E3DE03}"/>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E35DF22C-8C00-40DE-B661-8B5CC3605454}"/>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98549134-B2A1-4C32-AD4D-32FF3680D02E}"/>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6</a:t>
            </a:r>
          </a:p>
        </p:txBody>
      </p:sp>
      <p:sp>
        <p:nvSpPr>
          <p:cNvPr id="4" name="Rectangle 3">
            <a:extLst>
              <a:ext uri="{FF2B5EF4-FFF2-40B4-BE49-F238E27FC236}">
                <a16:creationId xmlns:a16="http://schemas.microsoft.com/office/drawing/2014/main" id="{04A096F6-4079-417A-B2A1-836362DA63CE}"/>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Инцидент</a:t>
            </a:r>
          </a:p>
        </p:txBody>
      </p:sp>
      <p:sp>
        <p:nvSpPr>
          <p:cNvPr id="5" name="Rectangle 4">
            <a:extLst>
              <a:ext uri="{FF2B5EF4-FFF2-40B4-BE49-F238E27FC236}">
                <a16:creationId xmlns:a16="http://schemas.microsoft.com/office/drawing/2014/main" id="{E33B71C1-EF5D-4F17-AF90-42D0C3C417E6}"/>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координисана реакција</a:t>
            </a:r>
          </a:p>
        </p:txBody>
      </p:sp>
      <p:sp>
        <p:nvSpPr>
          <p:cNvPr id="6" name="Rounded Rectangle 5">
            <a:extLst>
              <a:ext uri="{FF2B5EF4-FFF2-40B4-BE49-F238E27FC236}">
                <a16:creationId xmlns:a16="http://schemas.microsoft.com/office/drawing/2014/main" id="{1C798477-159A-4FF8-8ACE-7E14FCC0E71E}"/>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58F755D2-B6BB-45B1-B62E-3429842A9996}"/>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5D2B7313-CFA2-4988-84EF-A4F575FAAB04}"/>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Рањивост није решена променом статуса, већ провером да је ризик заиста смањен.</a:t>
            </a:r>
          </a:p>
        </p:txBody>
      </p:sp>
      <p:sp>
        <p:nvSpPr>
          <p:cNvPr id="9" name="Rectangle 8">
            <a:extLst>
              <a:ext uri="{FF2B5EF4-FFF2-40B4-BE49-F238E27FC236}">
                <a16:creationId xmlns:a16="http://schemas.microsoft.com/office/drawing/2014/main" id="{1CAEC4B5-02C9-4CED-912A-CDBEA2B5735F}"/>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5FE431AE-73B0-4FD7-814F-846F6F7FF12A}"/>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50152395-6849-4478-8524-3AF418F0AD75}"/>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E05D37B9-F405-45A2-A4ED-C8D98E43AF86}"/>
              </a:ext>
            </a:extLst>
          </p:cNvPr>
          <p:cNvSpPr>
            <a:spLocks noGrp="1"/>
          </p:cNvSpPr>
          <p:nvPr/>
        </p:nvSpPr>
        <p:spPr>
          <a:xfrm>
            <a:off x="461010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Затварање рањивости тражи доказ да је изложеност уклоњена или прихваћена уз видљив преостали ризик.</a:t>
            </a:r>
          </a:p>
        </p:txBody>
      </p:sp>
      <p:sp>
        <p:nvSpPr>
          <p:cNvPr id="13" name="Rectangle 12">
            <a:extLst>
              <a:ext uri="{FF2B5EF4-FFF2-40B4-BE49-F238E27FC236}">
                <a16:creationId xmlns:a16="http://schemas.microsoft.com/office/drawing/2014/main" id="{EF35D4E0-EF5D-4E44-8E8E-7F895C30FC3F}"/>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5DAB11FA-1366-452B-A1C9-3816025963D1}"/>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77BE5E95-E7E6-4A55-930F-E91021EBE2AE}"/>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5887D28B-8873-4045-97E3-B6D8A926A6A0}"/>
              </a:ext>
            </a:extLst>
          </p:cNvPr>
          <p:cNvSpPr>
            <a:spLocks noGrp="1"/>
          </p:cNvSpPr>
          <p:nvPr/>
        </p:nvSpPr>
        <p:spPr>
          <a:xfrm>
            <a:off x="81724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Инцидент се отвара када контекст покаже стварни утицај или вероватну злоупотребу.</a:t>
            </a:r>
          </a:p>
        </p:txBody>
      </p:sp>
      <p:sp>
        <p:nvSpPr>
          <p:cNvPr id="17" name="Rectangle 16">
            <a:extLst>
              <a:ext uri="{FF2B5EF4-FFF2-40B4-BE49-F238E27FC236}">
                <a16:creationId xmlns:a16="http://schemas.microsoft.com/office/drawing/2014/main" id="{3DF8EB43-D46F-41D2-A0EC-2A7CD86FD524}"/>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3084A3DA-6143-4F5C-95D0-8548BEE1D982}"/>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C098BAC8-FDD7-41B6-9B13-D058CD5BB2D6}"/>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A54E96AE-0798-478B-B11A-31305540EAB5}"/>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891EF960-77D8-4C6C-85E4-031489D0F432}"/>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6796BD68-B519-4548-924C-C76B356B501C}"/>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3A7B4C7F-AEBE-4916-97D2-D3DB8040D0A3}"/>
              </a:ext>
            </a:extLst>
          </p:cNvPr>
          <p:cNvSpPr>
            <a:spLocks noGrp="1"/>
          </p:cNvSpPr>
          <p:nvPr/>
        </p:nvSpPr>
        <p:spPr>
          <a:xfrm>
            <a:off x="1333500" y="5095875"/>
            <a:ext cx="9639300" cy="342900"/>
          </a:xfrm>
          <a:prstGeom prst="rect">
            <a:avLst/>
          </a:prstGeom>
          <a:noFill/>
          <a:ln w="0">
            <a:noFill/>
          </a:ln>
        </p:spPr>
        <p:txBody>
          <a:bodyPr wrap="square" lIns="0" tIns="0" rIns="0" bIns="0" anchor="ctr">
            <a:normAutofit fontScale="92926"/>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Који догађај би у вашем систему био користан сигнал, али не и довољан доказ инцидента? Који контекст недостаје?</a:t>
            </a:r>
          </a:p>
        </p:txBody>
      </p:sp>
    </p:spTree>
    <p:extLst>
      <p:ext uri="{BB962C8B-B14F-4D97-AF65-F5344CB8AC3E}">
        <p14:creationId xmlns:p14="http://schemas.microsoft.com/office/powerpoint/2010/main" val="18346960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8191E99B-0CD3-4EBA-AB4D-699D6AC228D8}"/>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8D260B9D-974A-4290-AE35-FC1C90FCF3B1}"/>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8EA4A19D-DEAC-4C25-A8C2-7C2C7503E9D4}"/>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7</a:t>
            </a:r>
          </a:p>
        </p:txBody>
      </p:sp>
      <p:sp>
        <p:nvSpPr>
          <p:cNvPr id="4" name="Rectangle 3">
            <a:extLst>
              <a:ext uri="{FF2B5EF4-FFF2-40B4-BE49-F238E27FC236}">
                <a16:creationId xmlns:a16="http://schemas.microsoft.com/office/drawing/2014/main" id="{11FB22FA-6BAA-4C50-A4F2-03B26ECA5E46}"/>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Учење</a:t>
            </a:r>
          </a:p>
        </p:txBody>
      </p:sp>
      <p:sp>
        <p:nvSpPr>
          <p:cNvPr id="5" name="Rectangle 4">
            <a:extLst>
              <a:ext uri="{FF2B5EF4-FFF2-40B4-BE49-F238E27FC236}">
                <a16:creationId xmlns:a16="http://schemas.microsoft.com/office/drawing/2014/main" id="{0CCEB861-3AE1-4D6F-8D15-E4E8130871EA}"/>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корекција и превенција</a:t>
            </a:r>
          </a:p>
        </p:txBody>
      </p:sp>
      <p:sp>
        <p:nvSpPr>
          <p:cNvPr id="6" name="Rounded Rectangle 5">
            <a:extLst>
              <a:ext uri="{FF2B5EF4-FFF2-40B4-BE49-F238E27FC236}">
                <a16:creationId xmlns:a16="http://schemas.microsoft.com/office/drawing/2014/main" id="{45CF2301-C8BA-4FAB-A5DB-732809E3FF54}"/>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99A8CC07-AD68-4637-9282-8D57A98EB60A}"/>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A173996E-D374-4A0B-9809-58633E49318B}"/>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Праг се бира према нормалном понашању система, а не према случајном броју.</a:t>
            </a:r>
          </a:p>
        </p:txBody>
      </p:sp>
      <p:sp>
        <p:nvSpPr>
          <p:cNvPr id="9" name="Rectangle 8">
            <a:extLst>
              <a:ext uri="{FF2B5EF4-FFF2-40B4-BE49-F238E27FC236}">
                <a16:creationId xmlns:a16="http://schemas.microsoft.com/office/drawing/2014/main" id="{C924FF50-7E5B-495A-8E8F-EF86D32DA410}"/>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8C4AC4DF-B1FF-4FAA-AF3C-93AE95CF6793}"/>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3278FD8A-EFF1-421C-91E1-0E30D9640456}"/>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364D35FE-C5BB-4C3D-8750-D57382035E6B}"/>
              </a:ext>
            </a:extLst>
          </p:cNvPr>
          <p:cNvSpPr>
            <a:spLocks noGrp="1"/>
          </p:cNvSpPr>
          <p:nvPr/>
        </p:nvSpPr>
        <p:spPr>
          <a:xfrm>
            <a:off x="461010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Упозорење има озбиљност, власника и рок до ког се мора погледати.</a:t>
            </a:r>
          </a:p>
        </p:txBody>
      </p:sp>
      <p:sp>
        <p:nvSpPr>
          <p:cNvPr id="13" name="Rectangle 12">
            <a:extLst>
              <a:ext uri="{FF2B5EF4-FFF2-40B4-BE49-F238E27FC236}">
                <a16:creationId xmlns:a16="http://schemas.microsoft.com/office/drawing/2014/main" id="{CDCC3299-6125-4157-8F84-DF71D94687A6}"/>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97575B9E-AC3B-44D7-B662-8586F98C8583}"/>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F61BF564-CAFE-4A39-8B42-2A0375FC5C8F}"/>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801AF9D9-1300-4B02-AB56-68043012F418}"/>
              </a:ext>
            </a:extLst>
          </p:cNvPr>
          <p:cNvSpPr>
            <a:spLocks noGrp="1"/>
          </p:cNvSpPr>
          <p:nvPr/>
        </p:nvSpPr>
        <p:spPr>
          <a:xfrm>
            <a:off x="81724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Инцидент се отвара када контекст покаже стварни утицај или вероватну злоупотребу.</a:t>
            </a:r>
          </a:p>
        </p:txBody>
      </p:sp>
      <p:sp>
        <p:nvSpPr>
          <p:cNvPr id="17" name="Rectangle 16">
            <a:extLst>
              <a:ext uri="{FF2B5EF4-FFF2-40B4-BE49-F238E27FC236}">
                <a16:creationId xmlns:a16="http://schemas.microsoft.com/office/drawing/2014/main" id="{55827DEA-7308-45CE-B31C-9BB6AC10C72F}"/>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215191BC-D9B1-4B1E-945E-11EF00F3DEB4}"/>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4DABDD17-2B09-44C9-83DD-ABA93FFEEFC3}"/>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8BA8BBB4-6443-4B92-8834-F6C6167FAB49}"/>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95D10FB4-1690-4F4D-96B0-E60C483A37A4}"/>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37C6861D-CDE3-446C-A4A9-7679103DEF10}"/>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1110BC45-7F68-46FF-84A8-7F016B78A91F}"/>
              </a:ext>
            </a:extLst>
          </p:cNvPr>
          <p:cNvSpPr>
            <a:spLocks noGrp="1"/>
          </p:cNvSpPr>
          <p:nvPr/>
        </p:nvSpPr>
        <p:spPr>
          <a:xfrm>
            <a:off x="1333500" y="5095875"/>
            <a:ext cx="9639300" cy="342900"/>
          </a:xfrm>
          <a:prstGeom prst="rect">
            <a:avLst/>
          </a:prstGeom>
          <a:noFill/>
          <a:ln w="0">
            <a:noFill/>
          </a:ln>
        </p:spPr>
        <p:txBody>
          <a:bodyPr wrap="square" lIns="0" tIns="0" rIns="0" bIns="0" anchor="ctr">
            <a:normAutofit fontScale="92926"/>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Који догађај би у вашем систему био користан сигнал, али не и довољан доказ инцидента? Који контекст недостаје?</a:t>
            </a:r>
          </a:p>
        </p:txBody>
      </p:sp>
    </p:spTree>
    <p:extLst>
      <p:ext uri="{BB962C8B-B14F-4D97-AF65-F5344CB8AC3E}">
        <p14:creationId xmlns:p14="http://schemas.microsoft.com/office/powerpoint/2010/main" val="4579714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5A020059-FC32-49A7-9D56-B35F611BB914}"/>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4C225B6D-5A65-4501-BB55-4820EBC42C9D}"/>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FD7B4803-0AD3-4B56-B756-56BBDEA5DF74}"/>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8</a:t>
            </a:r>
          </a:p>
        </p:txBody>
      </p:sp>
      <p:sp>
        <p:nvSpPr>
          <p:cNvPr id="4" name="Rectangle 3">
            <a:extLst>
              <a:ext uri="{FF2B5EF4-FFF2-40B4-BE49-F238E27FC236}">
                <a16:creationId xmlns:a16="http://schemas.microsoft.com/office/drawing/2014/main" id="{CBDD2572-5430-47EF-AC60-CA4FF2D0C9F7}"/>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Сигнал, alert и инцидент</a:t>
            </a:r>
          </a:p>
        </p:txBody>
      </p:sp>
      <p:sp>
        <p:nvSpPr>
          <p:cNvPr id="5" name="Rectangle 4">
            <a:extLst>
              <a:ext uri="{FF2B5EF4-FFF2-40B4-BE49-F238E27FC236}">
                <a16:creationId xmlns:a16="http://schemas.microsoft.com/office/drawing/2014/main" id="{72F69B3F-6EE5-48DB-8772-F2925CB4D8BB}"/>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Поређење служи да се разлике виде без тешке табеле и ситног текста.</a:t>
            </a:r>
          </a:p>
        </p:txBody>
      </p:sp>
      <p:sp>
        <p:nvSpPr>
          <p:cNvPr id="6" name="Rectangle 5">
            <a:extLst>
              <a:ext uri="{FF2B5EF4-FFF2-40B4-BE49-F238E27FC236}">
                <a16:creationId xmlns:a16="http://schemas.microsoft.com/office/drawing/2014/main" id="{6DBF8883-98A5-44B5-957D-6D2F31F4A1AE}"/>
              </a:ext>
            </a:extLst>
          </p:cNvPr>
          <p:cNvSpPr>
            <a:spLocks noGrp="1"/>
          </p:cNvSpPr>
          <p:nvPr/>
        </p:nvSpPr>
        <p:spPr>
          <a:xfrm>
            <a:off x="876300" y="2047875"/>
            <a:ext cx="24765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Стање</a:t>
            </a:r>
          </a:p>
        </p:txBody>
      </p:sp>
      <p:sp>
        <p:nvSpPr>
          <p:cNvPr id="7" name="Rectangle 6">
            <a:extLst>
              <a:ext uri="{FF2B5EF4-FFF2-40B4-BE49-F238E27FC236}">
                <a16:creationId xmlns:a16="http://schemas.microsoft.com/office/drawing/2014/main" id="{95FD7AB4-D163-46A1-8091-4A48CBCC6A03}"/>
              </a:ext>
            </a:extLst>
          </p:cNvPr>
          <p:cNvSpPr>
            <a:spLocks noGrp="1"/>
          </p:cNvSpPr>
          <p:nvPr/>
        </p:nvSpPr>
        <p:spPr>
          <a:xfrm>
            <a:off x="3638550" y="2047875"/>
            <a:ext cx="36195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Шта представља</a:t>
            </a:r>
          </a:p>
        </p:txBody>
      </p:sp>
      <p:sp>
        <p:nvSpPr>
          <p:cNvPr id="8" name="Rectangle 7">
            <a:extLst>
              <a:ext uri="{FF2B5EF4-FFF2-40B4-BE49-F238E27FC236}">
                <a16:creationId xmlns:a16="http://schemas.microsoft.com/office/drawing/2014/main" id="{08538C13-F7DD-4508-9450-447CC0BB7E0A}"/>
              </a:ext>
            </a:extLst>
          </p:cNvPr>
          <p:cNvSpPr>
            <a:spLocks noGrp="1"/>
          </p:cNvSpPr>
          <p:nvPr/>
        </p:nvSpPr>
        <p:spPr>
          <a:xfrm>
            <a:off x="7543800" y="2047875"/>
            <a:ext cx="37719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Потребна реакција</a:t>
            </a:r>
          </a:p>
        </p:txBody>
      </p:sp>
      <p:sp>
        <p:nvSpPr>
          <p:cNvPr id="9" name="Rounded Rectangle 8">
            <a:extLst>
              <a:ext uri="{FF2B5EF4-FFF2-40B4-BE49-F238E27FC236}">
                <a16:creationId xmlns:a16="http://schemas.microsoft.com/office/drawing/2014/main" id="{DDEF9A30-3703-4C58-8E14-65AC8660B1FF}"/>
              </a:ext>
            </a:extLst>
          </p:cNvPr>
          <p:cNvSpPr>
            <a:spLocks noGrp="1"/>
          </p:cNvSpPr>
          <p:nvPr/>
        </p:nvSpPr>
        <p:spPr>
          <a:xfrm>
            <a:off x="800100" y="2362200"/>
            <a:ext cx="10591800" cy="609600"/>
          </a:xfrm>
          <a:prstGeom prst="roundRect">
            <a:avLst>
              <a:gd name="adj" fmla="val 17188"/>
            </a:avLst>
          </a:prstGeom>
          <a:solidFill>
            <a:srgbClr val="F4F6F9"/>
          </a:solidFill>
          <a:ln w="9525">
            <a:solidFill>
              <a:srgbClr val="D7DEE8"/>
            </a:solidFill>
            <a:prstDash val="solid"/>
          </a:ln>
        </p:spPr>
      </p:sp>
      <p:sp>
        <p:nvSpPr>
          <p:cNvPr id="10" name="Rectangle 9">
            <a:extLst>
              <a:ext uri="{FF2B5EF4-FFF2-40B4-BE49-F238E27FC236}">
                <a16:creationId xmlns:a16="http://schemas.microsoft.com/office/drawing/2014/main" id="{D2417480-2D44-40A0-BAB4-96AC25450085}"/>
              </a:ext>
            </a:extLst>
          </p:cNvPr>
          <p:cNvSpPr>
            <a:spLocks noGrp="1"/>
          </p:cNvSpPr>
          <p:nvPr/>
        </p:nvSpPr>
        <p:spPr>
          <a:xfrm>
            <a:off x="952500" y="248602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748092"/>
                </a:solidFill>
                <a:latin typeface="Aptos"/>
                <a:ea typeface="Aptos"/>
                <a:cs typeface="Aptos"/>
              </a:defRPr>
            </a:pPr>
            <a:r>
              <a:rPr sz="1275" b="1">
                <a:solidFill>
                  <a:srgbClr val="748092"/>
                </a:solidFill>
                <a:latin typeface="Aptos"/>
                <a:ea typeface="Aptos"/>
                <a:cs typeface="Aptos"/>
              </a:rPr>
              <a:t>Сигнал</a:t>
            </a:r>
          </a:p>
        </p:txBody>
      </p:sp>
      <p:sp>
        <p:nvSpPr>
          <p:cNvPr id="11" name="Rectangle 10">
            <a:extLst>
              <a:ext uri="{FF2B5EF4-FFF2-40B4-BE49-F238E27FC236}">
                <a16:creationId xmlns:a16="http://schemas.microsoft.com/office/drawing/2014/main" id="{AA9A18DF-BA08-48E7-8B08-06D226C611A4}"/>
              </a:ext>
            </a:extLst>
          </p:cNvPr>
          <p:cNvSpPr>
            <a:spLocks noGrp="1"/>
          </p:cNvSpPr>
          <p:nvPr/>
        </p:nvSpPr>
        <p:spPr>
          <a:xfrm>
            <a:off x="3638550" y="24288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Сиров догађај или одступање.</a:t>
            </a:r>
          </a:p>
        </p:txBody>
      </p:sp>
      <p:sp>
        <p:nvSpPr>
          <p:cNvPr id="12" name="Rectangle 11">
            <a:extLst>
              <a:ext uri="{FF2B5EF4-FFF2-40B4-BE49-F238E27FC236}">
                <a16:creationId xmlns:a16="http://schemas.microsoft.com/office/drawing/2014/main" id="{611B5D09-529B-425F-88F1-86CF286D561C}"/>
              </a:ext>
            </a:extLst>
          </p:cNvPr>
          <p:cNvSpPr>
            <a:spLocks noGrp="1"/>
          </p:cNvSpPr>
          <p:nvPr/>
        </p:nvSpPr>
        <p:spPr>
          <a:xfrm>
            <a:off x="7543800" y="24288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Сачувати контекст и проверити правило.</a:t>
            </a:r>
          </a:p>
        </p:txBody>
      </p:sp>
      <p:sp>
        <p:nvSpPr>
          <p:cNvPr id="13" name="Rounded Rectangle 12">
            <a:extLst>
              <a:ext uri="{FF2B5EF4-FFF2-40B4-BE49-F238E27FC236}">
                <a16:creationId xmlns:a16="http://schemas.microsoft.com/office/drawing/2014/main" id="{E2E2806D-03D6-4641-8F00-D5F82C89D95A}"/>
              </a:ext>
            </a:extLst>
          </p:cNvPr>
          <p:cNvSpPr>
            <a:spLocks noGrp="1"/>
          </p:cNvSpPr>
          <p:nvPr/>
        </p:nvSpPr>
        <p:spPr>
          <a:xfrm>
            <a:off x="800100" y="3105150"/>
            <a:ext cx="10591800" cy="609600"/>
          </a:xfrm>
          <a:prstGeom prst="roundRect">
            <a:avLst>
              <a:gd name="adj" fmla="val 17188"/>
            </a:avLst>
          </a:prstGeom>
          <a:solidFill>
            <a:srgbClr val="EEF3FF"/>
          </a:solidFill>
          <a:ln w="9525">
            <a:solidFill>
              <a:srgbClr val="D7DEE8"/>
            </a:solidFill>
            <a:prstDash val="solid"/>
          </a:ln>
        </p:spPr>
      </p:sp>
      <p:sp>
        <p:nvSpPr>
          <p:cNvPr id="14" name="Rectangle 13">
            <a:extLst>
              <a:ext uri="{FF2B5EF4-FFF2-40B4-BE49-F238E27FC236}">
                <a16:creationId xmlns:a16="http://schemas.microsoft.com/office/drawing/2014/main" id="{189DB630-BE9F-4E16-B796-B88B3436C170}"/>
              </a:ext>
            </a:extLst>
          </p:cNvPr>
          <p:cNvSpPr>
            <a:spLocks noGrp="1"/>
          </p:cNvSpPr>
          <p:nvPr/>
        </p:nvSpPr>
        <p:spPr>
          <a:xfrm>
            <a:off x="952500" y="322897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2F5EF5"/>
                </a:solidFill>
                <a:latin typeface="Aptos"/>
                <a:ea typeface="Aptos"/>
                <a:cs typeface="Aptos"/>
              </a:defRPr>
            </a:pPr>
            <a:r>
              <a:rPr sz="1275" b="1">
                <a:solidFill>
                  <a:srgbClr val="2F5EF5"/>
                </a:solidFill>
                <a:latin typeface="Aptos"/>
                <a:ea typeface="Aptos"/>
                <a:cs typeface="Aptos"/>
              </a:rPr>
              <a:t>Alert</a:t>
            </a:r>
          </a:p>
        </p:txBody>
      </p:sp>
      <p:sp>
        <p:nvSpPr>
          <p:cNvPr id="15" name="Rectangle 14">
            <a:extLst>
              <a:ext uri="{FF2B5EF4-FFF2-40B4-BE49-F238E27FC236}">
                <a16:creationId xmlns:a16="http://schemas.microsoft.com/office/drawing/2014/main" id="{86667BBB-692D-4E03-8899-74ABA541DD78}"/>
              </a:ext>
            </a:extLst>
          </p:cNvPr>
          <p:cNvSpPr>
            <a:spLocks noGrp="1"/>
          </p:cNvSpPr>
          <p:nvPr/>
        </p:nvSpPr>
        <p:spPr>
          <a:xfrm>
            <a:off x="3638550" y="31718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Сигнал који је прешао дефинисан праг.</a:t>
            </a:r>
          </a:p>
        </p:txBody>
      </p:sp>
      <p:sp>
        <p:nvSpPr>
          <p:cNvPr id="16" name="Rectangle 15">
            <a:extLst>
              <a:ext uri="{FF2B5EF4-FFF2-40B4-BE49-F238E27FC236}">
                <a16:creationId xmlns:a16="http://schemas.microsoft.com/office/drawing/2014/main" id="{70D34015-B8E5-4A95-BF6E-557A9C901C08}"/>
              </a:ext>
            </a:extLst>
          </p:cNvPr>
          <p:cNvSpPr>
            <a:spLocks noGrp="1"/>
          </p:cNvSpPr>
          <p:nvPr/>
        </p:nvSpPr>
        <p:spPr>
          <a:xfrm>
            <a:off x="7543800" y="31718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Triage и процена приоритета.</a:t>
            </a:r>
          </a:p>
        </p:txBody>
      </p:sp>
      <p:sp>
        <p:nvSpPr>
          <p:cNvPr id="17" name="Rounded Rectangle 16">
            <a:extLst>
              <a:ext uri="{FF2B5EF4-FFF2-40B4-BE49-F238E27FC236}">
                <a16:creationId xmlns:a16="http://schemas.microsoft.com/office/drawing/2014/main" id="{BEA42558-B1E1-45BD-807F-824A4781D712}"/>
              </a:ext>
            </a:extLst>
          </p:cNvPr>
          <p:cNvSpPr>
            <a:spLocks noGrp="1"/>
          </p:cNvSpPr>
          <p:nvPr/>
        </p:nvSpPr>
        <p:spPr>
          <a:xfrm>
            <a:off x="800100" y="3848100"/>
            <a:ext cx="10591800" cy="609600"/>
          </a:xfrm>
          <a:prstGeom prst="roundRect">
            <a:avLst>
              <a:gd name="adj" fmla="val 17188"/>
            </a:avLst>
          </a:prstGeom>
          <a:solidFill>
            <a:srgbClr val="F5F0FF"/>
          </a:solidFill>
          <a:ln w="9525">
            <a:solidFill>
              <a:srgbClr val="D7DEE8"/>
            </a:solidFill>
            <a:prstDash val="solid"/>
          </a:ln>
        </p:spPr>
      </p:sp>
      <p:sp>
        <p:nvSpPr>
          <p:cNvPr id="18" name="Rectangle 17">
            <a:extLst>
              <a:ext uri="{FF2B5EF4-FFF2-40B4-BE49-F238E27FC236}">
                <a16:creationId xmlns:a16="http://schemas.microsoft.com/office/drawing/2014/main" id="{07472A25-E88D-43D8-B7EB-4A74265BE102}"/>
              </a:ext>
            </a:extLst>
          </p:cNvPr>
          <p:cNvSpPr>
            <a:spLocks noGrp="1"/>
          </p:cNvSpPr>
          <p:nvPr/>
        </p:nvSpPr>
        <p:spPr>
          <a:xfrm>
            <a:off x="952500" y="397192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7651D4"/>
                </a:solidFill>
                <a:latin typeface="Aptos"/>
                <a:ea typeface="Aptos"/>
                <a:cs typeface="Aptos"/>
              </a:defRPr>
            </a:pPr>
            <a:r>
              <a:rPr sz="1275" b="1">
                <a:solidFill>
                  <a:srgbClr val="7651D4"/>
                </a:solidFill>
                <a:latin typeface="Aptos"/>
                <a:ea typeface="Aptos"/>
                <a:cs typeface="Aptos"/>
              </a:rPr>
              <a:t>Инцидент</a:t>
            </a:r>
          </a:p>
        </p:txBody>
      </p:sp>
      <p:sp>
        <p:nvSpPr>
          <p:cNvPr id="19" name="Rectangle 18">
            <a:extLst>
              <a:ext uri="{FF2B5EF4-FFF2-40B4-BE49-F238E27FC236}">
                <a16:creationId xmlns:a16="http://schemas.microsoft.com/office/drawing/2014/main" id="{9464F885-FA17-4F21-ABF3-9672B8E13691}"/>
              </a:ext>
            </a:extLst>
          </p:cNvPr>
          <p:cNvSpPr>
            <a:spLocks noGrp="1"/>
          </p:cNvSpPr>
          <p:nvPr/>
        </p:nvSpPr>
        <p:spPr>
          <a:xfrm>
            <a:off x="3638550" y="39147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Потврђен или вероватан безбедносни утицај.</a:t>
            </a:r>
          </a:p>
        </p:txBody>
      </p:sp>
      <p:sp>
        <p:nvSpPr>
          <p:cNvPr id="20" name="Rectangle 19">
            <a:extLst>
              <a:ext uri="{FF2B5EF4-FFF2-40B4-BE49-F238E27FC236}">
                <a16:creationId xmlns:a16="http://schemas.microsoft.com/office/drawing/2014/main" id="{A7824BCE-4E7B-42AE-9228-ED506833FD30}"/>
              </a:ext>
            </a:extLst>
          </p:cNvPr>
          <p:cNvSpPr>
            <a:spLocks noGrp="1"/>
          </p:cNvSpPr>
          <p:nvPr/>
        </p:nvSpPr>
        <p:spPr>
          <a:xfrm>
            <a:off x="7543800" y="39147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Координисана реакција и следљив ток.</a:t>
            </a:r>
          </a:p>
        </p:txBody>
      </p:sp>
      <p:sp>
        <p:nvSpPr>
          <p:cNvPr id="21" name="Rounded Rectangle 20">
            <a:extLst>
              <a:ext uri="{FF2B5EF4-FFF2-40B4-BE49-F238E27FC236}">
                <a16:creationId xmlns:a16="http://schemas.microsoft.com/office/drawing/2014/main" id="{5FF90A1B-CA8E-4546-AC8D-6494990BB281}"/>
              </a:ext>
            </a:extLst>
          </p:cNvPr>
          <p:cNvSpPr>
            <a:spLocks noGrp="1"/>
          </p:cNvSpPr>
          <p:nvPr/>
        </p:nvSpPr>
        <p:spPr>
          <a:xfrm>
            <a:off x="800100" y="4591050"/>
            <a:ext cx="10591800" cy="609600"/>
          </a:xfrm>
          <a:prstGeom prst="roundRect">
            <a:avLst>
              <a:gd name="adj" fmla="val 17188"/>
            </a:avLst>
          </a:prstGeom>
          <a:solidFill>
            <a:srgbClr val="EDF8F2"/>
          </a:solidFill>
          <a:ln w="9525">
            <a:solidFill>
              <a:srgbClr val="D7DEE8"/>
            </a:solidFill>
            <a:prstDash val="solid"/>
          </a:ln>
        </p:spPr>
      </p:sp>
      <p:sp>
        <p:nvSpPr>
          <p:cNvPr id="22" name="Rectangle 21">
            <a:extLst>
              <a:ext uri="{FF2B5EF4-FFF2-40B4-BE49-F238E27FC236}">
                <a16:creationId xmlns:a16="http://schemas.microsoft.com/office/drawing/2014/main" id="{5C9373AA-5868-405E-A669-DA1FC388B927}"/>
              </a:ext>
            </a:extLst>
          </p:cNvPr>
          <p:cNvSpPr>
            <a:spLocks noGrp="1"/>
          </p:cNvSpPr>
          <p:nvPr/>
        </p:nvSpPr>
        <p:spPr>
          <a:xfrm>
            <a:off x="952500" y="471487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138A5B"/>
                </a:solidFill>
                <a:latin typeface="Aptos"/>
                <a:ea typeface="Aptos"/>
                <a:cs typeface="Aptos"/>
              </a:defRPr>
            </a:pPr>
            <a:r>
              <a:rPr sz="1275" b="1">
                <a:solidFill>
                  <a:srgbClr val="138A5B"/>
                </a:solidFill>
                <a:latin typeface="Aptos"/>
                <a:ea typeface="Aptos"/>
                <a:cs typeface="Aptos"/>
              </a:rPr>
              <a:t>Налаз рањивости</a:t>
            </a:r>
          </a:p>
        </p:txBody>
      </p:sp>
      <p:sp>
        <p:nvSpPr>
          <p:cNvPr id="23" name="Rectangle 22">
            <a:extLst>
              <a:ext uri="{FF2B5EF4-FFF2-40B4-BE49-F238E27FC236}">
                <a16:creationId xmlns:a16="http://schemas.microsoft.com/office/drawing/2014/main" id="{1089405F-F6AD-45F4-B377-C31C74057019}"/>
              </a:ext>
            </a:extLst>
          </p:cNvPr>
          <p:cNvSpPr>
            <a:spLocks noGrp="1"/>
          </p:cNvSpPr>
          <p:nvPr/>
        </p:nvSpPr>
        <p:spPr>
          <a:xfrm>
            <a:off x="3638550" y="46577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Потенцијална изложеност коју треба проценити.</a:t>
            </a:r>
          </a:p>
        </p:txBody>
      </p:sp>
      <p:sp>
        <p:nvSpPr>
          <p:cNvPr id="24" name="Rectangle 23">
            <a:extLst>
              <a:ext uri="{FF2B5EF4-FFF2-40B4-BE49-F238E27FC236}">
                <a16:creationId xmlns:a16="http://schemas.microsoft.com/office/drawing/2014/main" id="{4F2FD2B8-58A6-40D3-8F2D-9B543D35E8E6}"/>
              </a:ext>
            </a:extLst>
          </p:cNvPr>
          <p:cNvSpPr>
            <a:spLocks noGrp="1"/>
          </p:cNvSpPr>
          <p:nvPr/>
        </p:nvSpPr>
        <p:spPr>
          <a:xfrm>
            <a:off x="7543800" y="46577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Власник, рок и доказ корекције.</a:t>
            </a:r>
          </a:p>
        </p:txBody>
      </p:sp>
    </p:spTree>
    <p:extLst>
      <p:ext uri="{BB962C8B-B14F-4D97-AF65-F5344CB8AC3E}">
        <p14:creationId xmlns:p14="http://schemas.microsoft.com/office/powerpoint/2010/main" val="14595077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06FC7E76-BBB2-4609-B6EF-1BB61EA1F697}"/>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5C692D5F-43E9-4D14-9AB2-9E7045CFCAE2}"/>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03C2D9A3-C723-47D4-9192-B9821662C1EF}"/>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9</a:t>
            </a:r>
          </a:p>
        </p:txBody>
      </p:sp>
      <p:sp>
        <p:nvSpPr>
          <p:cNvPr id="4" name="Rectangle 3">
            <a:extLst>
              <a:ext uri="{FF2B5EF4-FFF2-40B4-BE49-F238E27FC236}">
                <a16:creationId xmlns:a16="http://schemas.microsoft.com/office/drawing/2014/main" id="{F76A1528-A0E9-47D8-957C-2D2736E97585}"/>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Шема одговора на безбедносни догађај</a:t>
            </a:r>
          </a:p>
        </p:txBody>
      </p:sp>
      <p:sp>
        <p:nvSpPr>
          <p:cNvPr id="5" name="Rectangle 4">
            <a:extLst>
              <a:ext uri="{FF2B5EF4-FFF2-40B4-BE49-F238E27FC236}">
                <a16:creationId xmlns:a16="http://schemas.microsoft.com/office/drawing/2014/main" id="{D01EC252-AC54-4CC6-B845-6BE3BDCF4E14}"/>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Није сваки сигнал инцидент, али сваки значајан исход оставља знање корисно за следећу одлуку.</a:t>
            </a:r>
          </a:p>
        </p:txBody>
      </p:sp>
      <p:sp>
        <p:nvSpPr>
          <p:cNvPr id="6" name="Rounded Rectangle 5">
            <a:extLst>
              <a:ext uri="{FF2B5EF4-FFF2-40B4-BE49-F238E27FC236}">
                <a16:creationId xmlns:a16="http://schemas.microsoft.com/office/drawing/2014/main" id="{EA33911C-4209-4036-9AB3-6A71283B6CA1}"/>
              </a:ext>
            </a:extLst>
          </p:cNvPr>
          <p:cNvSpPr>
            <a:spLocks noGrp="1"/>
          </p:cNvSpPr>
          <p:nvPr/>
        </p:nvSpPr>
        <p:spPr>
          <a:xfrm>
            <a:off x="742950" y="2571750"/>
            <a:ext cx="2462213"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12F577AC-F76E-4CD2-9B0B-365F92DE926E}"/>
              </a:ext>
            </a:extLst>
          </p:cNvPr>
          <p:cNvSpPr>
            <a:spLocks noGrp="1"/>
          </p:cNvSpPr>
          <p:nvPr/>
        </p:nvSpPr>
        <p:spPr>
          <a:xfrm>
            <a:off x="885825"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A27DF54D-7B31-4343-A87C-381F44CB4005}"/>
              </a:ext>
            </a:extLst>
          </p:cNvPr>
          <p:cNvSpPr>
            <a:spLocks noGrp="1"/>
          </p:cNvSpPr>
          <p:nvPr/>
        </p:nvSpPr>
        <p:spPr>
          <a:xfrm>
            <a:off x="876300"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Догађај</a:t>
            </a:r>
          </a:p>
        </p:txBody>
      </p:sp>
      <p:sp>
        <p:nvSpPr>
          <p:cNvPr id="9" name="Rectangle 8">
            <a:extLst>
              <a:ext uri="{FF2B5EF4-FFF2-40B4-BE49-F238E27FC236}">
                <a16:creationId xmlns:a16="http://schemas.microsoft.com/office/drawing/2014/main" id="{A88BCE3C-BE23-4AF8-8690-8F137DDBDACB}"/>
              </a:ext>
            </a:extLst>
          </p:cNvPr>
          <p:cNvSpPr>
            <a:spLocks noGrp="1"/>
          </p:cNvSpPr>
          <p:nvPr/>
        </p:nvSpPr>
        <p:spPr>
          <a:xfrm>
            <a:off x="885825"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сигнал из система</a:t>
            </a:r>
          </a:p>
        </p:txBody>
      </p:sp>
      <p:sp>
        <p:nvSpPr>
          <p:cNvPr id="10" name="Rounded Rectangle 9">
            <a:extLst>
              <a:ext uri="{FF2B5EF4-FFF2-40B4-BE49-F238E27FC236}">
                <a16:creationId xmlns:a16="http://schemas.microsoft.com/office/drawing/2014/main" id="{0FDDF8EA-81D8-4813-A7B5-650AB13AFBD7}"/>
              </a:ext>
            </a:extLst>
          </p:cNvPr>
          <p:cNvSpPr>
            <a:spLocks noGrp="1"/>
          </p:cNvSpPr>
          <p:nvPr/>
        </p:nvSpPr>
        <p:spPr>
          <a:xfrm>
            <a:off x="3490913" y="2571750"/>
            <a:ext cx="2462213" cy="1257300"/>
          </a:xfrm>
          <a:prstGeom prst="roundRect">
            <a:avLst>
              <a:gd name="adj" fmla="val 10606"/>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7EF5F85C-91A3-4B94-B67A-83C74C81BA60}"/>
              </a:ext>
            </a:extLst>
          </p:cNvPr>
          <p:cNvSpPr>
            <a:spLocks noGrp="1"/>
          </p:cNvSpPr>
          <p:nvPr/>
        </p:nvSpPr>
        <p:spPr>
          <a:xfrm>
            <a:off x="3633788"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a:ext uri="{FF2B5EF4-FFF2-40B4-BE49-F238E27FC236}">
                <a16:creationId xmlns:a16="http://schemas.microsoft.com/office/drawing/2014/main" id="{B55EF53E-9BB7-4505-B3AC-C49806FB6370}"/>
              </a:ext>
            </a:extLst>
          </p:cNvPr>
          <p:cNvSpPr>
            <a:spLocks noGrp="1"/>
          </p:cNvSpPr>
          <p:nvPr/>
        </p:nvSpPr>
        <p:spPr>
          <a:xfrm>
            <a:off x="3624263"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Triage</a:t>
            </a:r>
          </a:p>
        </p:txBody>
      </p:sp>
      <p:sp>
        <p:nvSpPr>
          <p:cNvPr id="13" name="Rectangle 12">
            <a:extLst>
              <a:ext uri="{FF2B5EF4-FFF2-40B4-BE49-F238E27FC236}">
                <a16:creationId xmlns:a16="http://schemas.microsoft.com/office/drawing/2014/main" id="{790F8A62-02D8-4347-B4E0-23C1B39C543B}"/>
              </a:ext>
            </a:extLst>
          </p:cNvPr>
          <p:cNvSpPr>
            <a:spLocks noGrp="1"/>
          </p:cNvSpPr>
          <p:nvPr/>
        </p:nvSpPr>
        <p:spPr>
          <a:xfrm>
            <a:off x="3633788"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контекст и приоритет</a:t>
            </a:r>
          </a:p>
        </p:txBody>
      </p:sp>
      <p:sp>
        <p:nvSpPr>
          <p:cNvPr id="14" name="Rounded Rectangle 13">
            <a:extLst>
              <a:ext uri="{FF2B5EF4-FFF2-40B4-BE49-F238E27FC236}">
                <a16:creationId xmlns:a16="http://schemas.microsoft.com/office/drawing/2014/main" id="{6218CE0A-21B5-4CCE-B3A2-245901892308}"/>
              </a:ext>
            </a:extLst>
          </p:cNvPr>
          <p:cNvSpPr>
            <a:spLocks noGrp="1"/>
          </p:cNvSpPr>
          <p:nvPr/>
        </p:nvSpPr>
        <p:spPr>
          <a:xfrm>
            <a:off x="6238875" y="2571750"/>
            <a:ext cx="2462213" cy="1257300"/>
          </a:xfrm>
          <a:prstGeom prst="roundRect">
            <a:avLst>
              <a:gd name="adj" fmla="val 10606"/>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A1005D7A-13BE-4478-A4F4-CEC0EA7C9D91}"/>
              </a:ext>
            </a:extLst>
          </p:cNvPr>
          <p:cNvSpPr>
            <a:spLocks noGrp="1"/>
          </p:cNvSpPr>
          <p:nvPr/>
        </p:nvSpPr>
        <p:spPr>
          <a:xfrm>
            <a:off x="6381750"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a:ext uri="{FF2B5EF4-FFF2-40B4-BE49-F238E27FC236}">
                <a16:creationId xmlns:a16="http://schemas.microsoft.com/office/drawing/2014/main" id="{AB66DDD0-544D-48A2-9EAD-7632AD714B0D}"/>
              </a:ext>
            </a:extLst>
          </p:cNvPr>
          <p:cNvSpPr>
            <a:spLocks noGrp="1"/>
          </p:cNvSpPr>
          <p:nvPr/>
        </p:nvSpPr>
        <p:spPr>
          <a:xfrm>
            <a:off x="6372225"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Реакција</a:t>
            </a:r>
          </a:p>
        </p:txBody>
      </p:sp>
      <p:sp>
        <p:nvSpPr>
          <p:cNvPr id="17" name="Rectangle 16">
            <a:extLst>
              <a:ext uri="{FF2B5EF4-FFF2-40B4-BE49-F238E27FC236}">
                <a16:creationId xmlns:a16="http://schemas.microsoft.com/office/drawing/2014/main" id="{057FCBEF-5BDD-43EA-8656-C14048B77368}"/>
              </a:ext>
            </a:extLst>
          </p:cNvPr>
          <p:cNvSpPr>
            <a:spLocks noGrp="1"/>
          </p:cNvSpPr>
          <p:nvPr/>
        </p:nvSpPr>
        <p:spPr>
          <a:xfrm>
            <a:off x="6381750" y="3362325"/>
            <a:ext cx="2176463" cy="323850"/>
          </a:xfrm>
          <a:prstGeom prst="rect">
            <a:avLst/>
          </a:prstGeom>
          <a:noFill/>
          <a:ln w="0">
            <a:noFill/>
          </a:ln>
        </p:spPr>
        <p:txBody>
          <a:bodyPr wrap="square" lIns="0" tIns="0" rIns="0" bIns="0" anchor="ctr">
            <a:normAutofit fontScale="81699"/>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инцидент или контролисано затварање</a:t>
            </a:r>
          </a:p>
        </p:txBody>
      </p:sp>
      <p:sp>
        <p:nvSpPr>
          <p:cNvPr id="18" name="Rounded Rectangle 17">
            <a:extLst>
              <a:ext uri="{FF2B5EF4-FFF2-40B4-BE49-F238E27FC236}">
                <a16:creationId xmlns:a16="http://schemas.microsoft.com/office/drawing/2014/main" id="{F37C771A-5211-4DD2-B1F0-7815C9E5B9F3}"/>
              </a:ext>
            </a:extLst>
          </p:cNvPr>
          <p:cNvSpPr>
            <a:spLocks noGrp="1"/>
          </p:cNvSpPr>
          <p:nvPr/>
        </p:nvSpPr>
        <p:spPr>
          <a:xfrm>
            <a:off x="8986838" y="2571750"/>
            <a:ext cx="2462213"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C98A5897-56D8-4BC2-9082-003D0E48C40E}"/>
              </a:ext>
            </a:extLst>
          </p:cNvPr>
          <p:cNvSpPr>
            <a:spLocks noGrp="1"/>
          </p:cNvSpPr>
          <p:nvPr/>
        </p:nvSpPr>
        <p:spPr>
          <a:xfrm>
            <a:off x="9129713"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0068E7A6-B591-4595-986F-CFDBC297B0FE}"/>
              </a:ext>
            </a:extLst>
          </p:cNvPr>
          <p:cNvSpPr>
            <a:spLocks noGrp="1"/>
          </p:cNvSpPr>
          <p:nvPr/>
        </p:nvSpPr>
        <p:spPr>
          <a:xfrm>
            <a:off x="9120188"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Побољшање</a:t>
            </a:r>
          </a:p>
        </p:txBody>
      </p:sp>
      <p:sp>
        <p:nvSpPr>
          <p:cNvPr id="21" name="Rectangle 20">
            <a:extLst>
              <a:ext uri="{FF2B5EF4-FFF2-40B4-BE49-F238E27FC236}">
                <a16:creationId xmlns:a16="http://schemas.microsoft.com/office/drawing/2014/main" id="{DE56FA70-3F71-4BA7-9020-38C0899B6ABC}"/>
              </a:ext>
            </a:extLst>
          </p:cNvPr>
          <p:cNvSpPr>
            <a:spLocks noGrp="1"/>
          </p:cNvSpPr>
          <p:nvPr/>
        </p:nvSpPr>
        <p:spPr>
          <a:xfrm>
            <a:off x="9129713"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нови доказ и мањи ризик</a:t>
            </a:r>
          </a:p>
        </p:txBody>
      </p:sp>
      <p:cxnSp>
        <p:nvCxnSpPr>
          <p:cNvPr id="125" name="Straight Arrow Connector 124"/>
          <p:cNvCxnSpPr>
            <a:stCxn id="6" idx="3"/>
            <a:endCxn id="10" idx="1"/>
          </p:cNvCxnSpPr>
          <p:nvPr/>
        </p:nvCxnSpPr>
        <p:spPr>
          <a:xfrm>
            <a:off x="3205163" y="320040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20040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701088" y="320040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A709A4AC-90E7-43D6-B24E-637713CFAAD3}"/>
              </a:ext>
            </a:extLst>
          </p:cNvPr>
          <p:cNvSpPr>
            <a:spLocks noGrp="1"/>
          </p:cNvSpPr>
          <p:nvPr/>
        </p:nvSpPr>
        <p:spPr>
          <a:xfrm>
            <a:off x="1714500" y="4419600"/>
            <a:ext cx="8763000" cy="742950"/>
          </a:xfrm>
          <a:prstGeom prst="roundRect">
            <a:avLst>
              <a:gd name="adj" fmla="val 16667"/>
            </a:avLst>
          </a:prstGeom>
          <a:solidFill>
            <a:srgbClr val="EEF3FF"/>
          </a:solidFill>
          <a:ln w="9525">
            <a:solidFill>
              <a:srgbClr val="D7DEE8"/>
            </a:solidFill>
            <a:prstDash val="solid"/>
          </a:ln>
        </p:spPr>
      </p:sp>
      <p:sp>
        <p:nvSpPr>
          <p:cNvPr id="26" name="Rounded Rectangle 25">
            <a:extLst>
              <a:ext uri="{FF2B5EF4-FFF2-40B4-BE49-F238E27FC236}">
                <a16:creationId xmlns:a16="http://schemas.microsoft.com/office/drawing/2014/main" id="{B5243A4A-85DB-4A0E-A9CD-9FC3D05C90C6}"/>
              </a:ext>
            </a:extLst>
          </p:cNvPr>
          <p:cNvSpPr>
            <a:spLocks noGrp="1"/>
          </p:cNvSpPr>
          <p:nvPr/>
        </p:nvSpPr>
        <p:spPr>
          <a:xfrm>
            <a:off x="1847850" y="4562475"/>
            <a:ext cx="57150" cy="457200"/>
          </a:xfrm>
          <a:prstGeom prst="roundRect">
            <a:avLst>
              <a:gd name="adj" fmla="val 50000"/>
            </a:avLst>
          </a:prstGeom>
          <a:solidFill>
            <a:srgbClr val="2F5EF5"/>
          </a:solidFill>
          <a:ln w="0">
            <a:noFill/>
          </a:ln>
        </p:spPr>
      </p:sp>
      <p:sp>
        <p:nvSpPr>
          <p:cNvPr id="76" name="Rounded Rectangle 75">
            <a:extLst>
              <a:ext uri="{FF2B5EF4-FFF2-40B4-BE49-F238E27FC236}">
                <a16:creationId xmlns:a16="http://schemas.microsoft.com/office/drawing/2014/main" id="{8832E9D0-6303-4948-9BAD-0947B607720C}"/>
              </a:ext>
            </a:extLst>
          </p:cNvPr>
          <p:cNvSpPr>
            <a:spLocks noGrp="1"/>
          </p:cNvSpPr>
          <p:nvPr/>
        </p:nvSpPr>
        <p:spPr>
          <a:xfrm>
            <a:off x="914400" y="4438650"/>
            <a:ext cx="10363200" cy="781050"/>
          </a:xfrm>
          <a:prstGeom prst="roundRect">
            <a:avLst>
              <a:gd name="adj" fmla="val 17073"/>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FA062311-6DD6-4B89-A68A-CAEB0D3E175A}"/>
              </a:ext>
            </a:extLst>
          </p:cNvPr>
          <p:cNvSpPr>
            <a:spLocks noGrp="1"/>
          </p:cNvSpPr>
          <p:nvPr/>
        </p:nvSpPr>
        <p:spPr>
          <a:xfrm>
            <a:off x="1085850" y="4591050"/>
            <a:ext cx="57150" cy="47625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BF1F09ED-F087-4076-B988-3DE1596363D9}"/>
              </a:ext>
            </a:extLst>
          </p:cNvPr>
          <p:cNvSpPr>
            <a:spLocks noGrp="1"/>
          </p:cNvSpPr>
          <p:nvPr/>
        </p:nvSpPr>
        <p:spPr>
          <a:xfrm>
            <a:off x="1333500" y="454342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ЗАДАТАК</a:t>
            </a:r>
          </a:p>
        </p:txBody>
      </p:sp>
      <p:sp>
        <p:nvSpPr>
          <p:cNvPr id="79" name="Rectangle 78">
            <a:extLst>
              <a:ext uri="{FF2B5EF4-FFF2-40B4-BE49-F238E27FC236}">
                <a16:creationId xmlns:a16="http://schemas.microsoft.com/office/drawing/2014/main" id="{28B37C32-5DAB-436D-B00D-A73D2C54A13E}"/>
              </a:ext>
            </a:extLst>
          </p:cNvPr>
          <p:cNvSpPr>
            <a:spLocks noGrp="1"/>
          </p:cNvSpPr>
          <p:nvPr/>
        </p:nvSpPr>
        <p:spPr>
          <a:xfrm>
            <a:off x="1333500" y="477202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За сваки корак наведите ко га покреће, ко доноси одлуку и који траг остаје.</a:t>
            </a:r>
          </a:p>
        </p:txBody>
      </p:sp>
    </p:spTree>
    <p:extLst>
      <p:ext uri="{BB962C8B-B14F-4D97-AF65-F5344CB8AC3E}">
        <p14:creationId xmlns:p14="http://schemas.microsoft.com/office/powerpoint/2010/main" val="13857080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752C65C-14A7-401E-90BD-BA0E7D0DF8FD}"/>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8DCEC499-E220-474C-A408-0E726287EB1A}"/>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157171D1-6A20-4135-B4A2-3E19AE038FDE}"/>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10</a:t>
            </a:r>
          </a:p>
        </p:txBody>
      </p:sp>
      <p:sp>
        <p:nvSpPr>
          <p:cNvPr id="4" name="Rectangle 3">
            <a:extLst>
              <a:ext uri="{FF2B5EF4-FFF2-40B4-BE49-F238E27FC236}">
                <a16:creationId xmlns:a16="http://schemas.microsoft.com/office/drawing/2014/main" id="{0E99B20C-1164-4F40-93FC-E4CFCA55CE33}"/>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Ток управљања рањивошћу</a:t>
            </a:r>
          </a:p>
        </p:txBody>
      </p:sp>
      <p:sp>
        <p:nvSpPr>
          <p:cNvPr id="5" name="Rectangle 4">
            <a:extLst>
              <a:ext uri="{FF2B5EF4-FFF2-40B4-BE49-F238E27FC236}">
                <a16:creationId xmlns:a16="http://schemas.microsoft.com/office/drawing/2014/main" id="{22BDE41D-3988-4087-A911-04644387F8D6}"/>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Од описа проблема до одлуке која може да се провери.</a:t>
            </a:r>
          </a:p>
        </p:txBody>
      </p:sp>
      <p:sp>
        <p:nvSpPr>
          <p:cNvPr id="6" name="Rounded Rectangle 5">
            <a:extLst>
              <a:ext uri="{FF2B5EF4-FFF2-40B4-BE49-F238E27FC236}">
                <a16:creationId xmlns:a16="http://schemas.microsoft.com/office/drawing/2014/main" id="{DBBF012F-EDAC-4014-BDA9-A5DDB69A8769}"/>
              </a:ext>
            </a:extLst>
          </p:cNvPr>
          <p:cNvSpPr>
            <a:spLocks noGrp="1"/>
          </p:cNvSpPr>
          <p:nvPr/>
        </p:nvSpPr>
        <p:spPr>
          <a:xfrm>
            <a:off x="781050" y="2152650"/>
            <a:ext cx="4572000" cy="2249229"/>
          </a:xfrm>
          <a:prstGeom prst="roundRect">
            <a:avLst>
              <a:gd name="adj" fmla="val 4242"/>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D37CF439-55E8-407A-AC5F-E2E7DD45726B}"/>
              </a:ext>
            </a:extLst>
          </p:cNvPr>
          <p:cNvSpPr>
            <a:spLocks noGrp="1"/>
          </p:cNvSpPr>
          <p:nvPr/>
        </p:nvSpPr>
        <p:spPr>
          <a:xfrm>
            <a:off x="933450" y="2276475"/>
            <a:ext cx="426720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КОНТЕКСТ</a:t>
            </a:r>
          </a:p>
        </p:txBody>
      </p:sp>
      <p:sp>
        <p:nvSpPr>
          <p:cNvPr id="8" name="Rectangle 7">
            <a:extLst>
              <a:ext uri="{FF2B5EF4-FFF2-40B4-BE49-F238E27FC236}">
                <a16:creationId xmlns:a16="http://schemas.microsoft.com/office/drawing/2014/main" id="{555BC77B-931C-484F-A4EF-950B65F6FAD0}"/>
              </a:ext>
            </a:extLst>
          </p:cNvPr>
          <p:cNvSpPr>
            <a:spLocks noGrp="1"/>
          </p:cNvSpPr>
          <p:nvPr/>
        </p:nvSpPr>
        <p:spPr>
          <a:xfrm>
            <a:off x="933450" y="2524125"/>
            <a:ext cx="4267200" cy="495300"/>
          </a:xfrm>
          <a:prstGeom prst="rect">
            <a:avLst/>
          </a:prstGeom>
          <a:noFill/>
          <a:ln w="0">
            <a:noFill/>
          </a:ln>
        </p:spPr>
        <p:txBody>
          <a:bodyPr wrap="square" lIns="0" tIns="0" rIns="0" bIns="0" anchor="ctr">
            <a:normAutofit/>
          </a:bodyPr>
          <a:lstStyle/>
          <a:p>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Ток управљања рањивошћу</a:t>
            </a:r>
          </a:p>
        </p:txBody>
      </p:sp>
      <p:sp>
        <p:nvSpPr>
          <p:cNvPr id="9" name="Rectangle 8">
            <a:extLst>
              <a:ext uri="{FF2B5EF4-FFF2-40B4-BE49-F238E27FC236}">
                <a16:creationId xmlns:a16="http://schemas.microsoft.com/office/drawing/2014/main" id="{5E4B814F-536F-494C-84DA-E9E33D0DAADB}"/>
              </a:ext>
            </a:extLst>
          </p:cNvPr>
          <p:cNvSpPr>
            <a:spLocks noGrp="1"/>
          </p:cNvSpPr>
          <p:nvPr/>
        </p:nvSpPr>
        <p:spPr>
          <a:xfrm>
            <a:off x="933450" y="3086100"/>
            <a:ext cx="4267200" cy="210502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Налаз постаје користан тек када се повеже са стварном имовином и њеном изложеношћу. Исти технички проблем нема исти приоритет на изолованом развојном рачунару и на јавно доступној услузи која обрађује осетљиве податке.</a:t>
            </a:r>
          </a:p>
        </p:txBody>
      </p:sp>
      <p:sp>
        <p:nvSpPr>
          <p:cNvPr id="10" name="Rounded Rectangle 9">
            <a:extLst>
              <a:ext uri="{FF2B5EF4-FFF2-40B4-BE49-F238E27FC236}">
                <a16:creationId xmlns:a16="http://schemas.microsoft.com/office/drawing/2014/main" id="{BCD7E0D9-2181-435E-A82B-3B3D2C096CD3}"/>
              </a:ext>
            </a:extLst>
          </p:cNvPr>
          <p:cNvSpPr>
            <a:spLocks noGrp="1"/>
          </p:cNvSpPr>
          <p:nvPr/>
        </p:nvSpPr>
        <p:spPr>
          <a:xfrm>
            <a:off x="5772150" y="2095500"/>
            <a:ext cx="5638800" cy="723900"/>
          </a:xfrm>
          <a:prstGeom prst="roundRect">
            <a:avLst>
              <a:gd name="adj" fmla="val 18421"/>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F7C5FE21-88C4-4741-B060-D2F98EA8B3CC}"/>
              </a:ext>
            </a:extLst>
          </p:cNvPr>
          <p:cNvSpPr>
            <a:spLocks noGrp="1"/>
          </p:cNvSpPr>
          <p:nvPr/>
        </p:nvSpPr>
        <p:spPr>
          <a:xfrm>
            <a:off x="5924550" y="22193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0F732340-7E8D-427E-8873-B37B56B31EB0}"/>
              </a:ext>
            </a:extLst>
          </p:cNvPr>
          <p:cNvSpPr>
            <a:spLocks noGrp="1"/>
          </p:cNvSpPr>
          <p:nvPr/>
        </p:nvSpPr>
        <p:spPr>
          <a:xfrm>
            <a:off x="5924550" y="2466975"/>
            <a:ext cx="5334000" cy="400050"/>
          </a:xfrm>
          <a:prstGeom prst="rect">
            <a:avLst/>
          </a:prstGeom>
          <a:noFill/>
          <a:ln w="0">
            <a:noFill/>
          </a:ln>
        </p:spPr>
        <p:txBody>
          <a:bodyPr wrap="square" lIns="0" tIns="0" rIns="0" bIns="0" anchor="ctr">
            <a:normAutofit fontScale="95316"/>
          </a:bodyPr>
          <a:lstStyle/>
          <a:p>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Потврдити да се налаз односи на стварну компоненту и активну верзију.</a:t>
            </a:r>
          </a:p>
        </p:txBody>
      </p:sp>
      <p:sp>
        <p:nvSpPr>
          <p:cNvPr id="13" name="Rounded Rectangle 12">
            <a:extLst>
              <a:ext uri="{FF2B5EF4-FFF2-40B4-BE49-F238E27FC236}">
                <a16:creationId xmlns:a16="http://schemas.microsoft.com/office/drawing/2014/main" id="{365C1010-762A-4D05-B96C-71EF02F60BCD}"/>
              </a:ext>
            </a:extLst>
          </p:cNvPr>
          <p:cNvSpPr>
            <a:spLocks noGrp="1"/>
          </p:cNvSpPr>
          <p:nvPr/>
        </p:nvSpPr>
        <p:spPr>
          <a:xfrm>
            <a:off x="5772150" y="2971799"/>
            <a:ext cx="5638800" cy="830227"/>
          </a:xfrm>
          <a:prstGeom prst="roundRect">
            <a:avLst>
              <a:gd name="adj" fmla="val 18421"/>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7CCF19CA-8F18-47BF-B935-EA5226EA288E}"/>
              </a:ext>
            </a:extLst>
          </p:cNvPr>
          <p:cNvSpPr>
            <a:spLocks noGrp="1"/>
          </p:cNvSpPr>
          <p:nvPr/>
        </p:nvSpPr>
        <p:spPr>
          <a:xfrm>
            <a:off x="5924550" y="30956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a:ext uri="{FF2B5EF4-FFF2-40B4-BE49-F238E27FC236}">
                <a16:creationId xmlns:a16="http://schemas.microsoft.com/office/drawing/2014/main" id="{3FB31199-B51F-43F0-B032-54F64A85BBB0}"/>
              </a:ext>
            </a:extLst>
          </p:cNvPr>
          <p:cNvSpPr>
            <a:spLocks noGrp="1"/>
          </p:cNvSpPr>
          <p:nvPr/>
        </p:nvSpPr>
        <p:spPr>
          <a:xfrm>
            <a:off x="5924550" y="3343275"/>
            <a:ext cx="5334000" cy="400050"/>
          </a:xfrm>
          <a:prstGeom prst="rect">
            <a:avLst/>
          </a:prstGeom>
          <a:noFill/>
          <a:ln w="0">
            <a:noFill/>
          </a:ln>
        </p:spPr>
        <p:txBody>
          <a:bodyPr wrap="square" lIns="0" tIns="0" rIns="0" bIns="0" anchor="ctr">
            <a:normAutofit fontScale="95316"/>
          </a:bodyPr>
          <a:lstStyle/>
          <a:p>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Процени утицај у контексту доступности, података и граница поверења.</a:t>
            </a:r>
          </a:p>
        </p:txBody>
      </p:sp>
      <p:sp>
        <p:nvSpPr>
          <p:cNvPr id="16" name="Rounded Rectangle 15">
            <a:extLst>
              <a:ext uri="{FF2B5EF4-FFF2-40B4-BE49-F238E27FC236}">
                <a16:creationId xmlns:a16="http://schemas.microsoft.com/office/drawing/2014/main" id="{C4BB2AD7-7C36-4805-BDC5-4102AF511291}"/>
              </a:ext>
            </a:extLst>
          </p:cNvPr>
          <p:cNvSpPr>
            <a:spLocks noGrp="1"/>
          </p:cNvSpPr>
          <p:nvPr/>
        </p:nvSpPr>
        <p:spPr>
          <a:xfrm>
            <a:off x="5772150" y="3954426"/>
            <a:ext cx="5638800" cy="870764"/>
          </a:xfrm>
          <a:prstGeom prst="roundRect">
            <a:avLst>
              <a:gd name="adj" fmla="val 18421"/>
            </a:avLst>
          </a:prstGeom>
          <a:solidFill>
            <a:srgbClr val="EEF3FF"/>
          </a:solidFill>
          <a:ln w="9525">
            <a:solidFill>
              <a:srgbClr val="D7DEE8"/>
            </a:solidFill>
            <a:prstDash val="solid"/>
          </a:ln>
        </p:spPr>
      </p:sp>
      <p:sp>
        <p:nvSpPr>
          <p:cNvPr id="17" name="Rectangle 16">
            <a:extLst>
              <a:ext uri="{FF2B5EF4-FFF2-40B4-BE49-F238E27FC236}">
                <a16:creationId xmlns:a16="http://schemas.microsoft.com/office/drawing/2014/main" id="{A93758B0-8D2B-4E30-ABE9-E3ACC834A190}"/>
              </a:ext>
            </a:extLst>
          </p:cNvPr>
          <p:cNvSpPr>
            <a:spLocks noGrp="1"/>
          </p:cNvSpPr>
          <p:nvPr/>
        </p:nvSpPr>
        <p:spPr>
          <a:xfrm>
            <a:off x="5924550" y="4078252"/>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03</a:t>
            </a:r>
          </a:p>
        </p:txBody>
      </p:sp>
      <p:sp>
        <p:nvSpPr>
          <p:cNvPr id="18" name="Rectangle 17">
            <a:extLst>
              <a:ext uri="{FF2B5EF4-FFF2-40B4-BE49-F238E27FC236}">
                <a16:creationId xmlns:a16="http://schemas.microsoft.com/office/drawing/2014/main" id="{FD03835D-DB85-4C7F-8A4C-64376DD3D902}"/>
              </a:ext>
            </a:extLst>
          </p:cNvPr>
          <p:cNvSpPr>
            <a:spLocks noGrp="1"/>
          </p:cNvSpPr>
          <p:nvPr/>
        </p:nvSpPr>
        <p:spPr>
          <a:xfrm>
            <a:off x="5924550" y="4325902"/>
            <a:ext cx="5334000" cy="400050"/>
          </a:xfrm>
          <a:prstGeom prst="rect">
            <a:avLst/>
          </a:prstGeom>
          <a:noFill/>
          <a:ln w="0">
            <a:noFill/>
          </a:ln>
        </p:spPr>
        <p:txBody>
          <a:bodyPr wrap="square" lIns="0" tIns="0" rIns="0" bIns="0" anchor="ctr">
            <a:normAutofit fontScale="95316"/>
          </a:bodyPr>
          <a:lstStyle/>
          <a:p>
            <a:pPr algn="l">
              <a:lnSpc>
                <a:spcPct val="102000"/>
              </a:lnSpc>
              <a:buNone/>
              <a:defRPr sz="1200" b="1">
                <a:solidFill>
                  <a:srgbClr val="1A202C"/>
                </a:solidFill>
                <a:latin typeface="Aptos"/>
                <a:ea typeface="Aptos"/>
                <a:cs typeface="Aptos"/>
              </a:defRPr>
            </a:pPr>
            <a:r>
              <a:rPr sz="1350" b="1" dirty="0" err="1">
                <a:solidFill>
                  <a:srgbClr val="1A202C"/>
                </a:solidFill>
                <a:latin typeface="Aptos"/>
                <a:ea typeface="Aptos"/>
                <a:cs typeface="Aptos"/>
              </a:rPr>
              <a:t>Одредити</a:t>
            </a:r>
            <a:r>
              <a:rPr sz="1350" b="1" dirty="0">
                <a:solidFill>
                  <a:srgbClr val="1A202C"/>
                </a:solidFill>
                <a:latin typeface="Aptos"/>
                <a:ea typeface="Aptos"/>
                <a:cs typeface="Aptos"/>
              </a:rPr>
              <a:t> </a:t>
            </a:r>
            <a:r>
              <a:rPr sz="1350" b="1" dirty="0" err="1">
                <a:solidFill>
                  <a:srgbClr val="1A202C"/>
                </a:solidFill>
                <a:latin typeface="Aptos"/>
                <a:ea typeface="Aptos"/>
                <a:cs typeface="Aptos"/>
              </a:rPr>
              <a:t>корекцију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компензациону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контролу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или</a:t>
            </a:r>
            <a:r>
              <a:rPr sz="1350" b="1" dirty="0">
                <a:solidFill>
                  <a:srgbClr val="1A202C"/>
                </a:solidFill>
                <a:latin typeface="Aptos"/>
                <a:ea typeface="Aptos"/>
                <a:cs typeface="Aptos"/>
              </a:rPr>
              <a:t> </a:t>
            </a:r>
            <a:r>
              <a:rPr sz="1350" b="1" dirty="0" err="1">
                <a:solidFill>
                  <a:srgbClr val="1A202C"/>
                </a:solidFill>
                <a:latin typeface="Aptos"/>
                <a:ea typeface="Aptos"/>
                <a:cs typeface="Aptos"/>
              </a:rPr>
              <a:t>образложено</a:t>
            </a:r>
            <a:r>
              <a:rPr sz="1350" b="1" dirty="0">
                <a:solidFill>
                  <a:srgbClr val="1A202C"/>
                </a:solidFill>
                <a:latin typeface="Aptos"/>
                <a:ea typeface="Aptos"/>
                <a:cs typeface="Aptos"/>
              </a:rPr>
              <a:t> </a:t>
            </a:r>
            <a:r>
              <a:rPr sz="1350" b="1" dirty="0" err="1">
                <a:solidFill>
                  <a:srgbClr val="1A202C"/>
                </a:solidFill>
                <a:latin typeface="Aptos"/>
                <a:ea typeface="Aptos"/>
                <a:cs typeface="Aptos"/>
              </a:rPr>
              <a:t>прихватање</a:t>
            </a:r>
            <a:r>
              <a:rPr sz="1350" b="1" dirty="0">
                <a:solidFill>
                  <a:srgbClr val="1A202C"/>
                </a:solidFill>
                <a:latin typeface="Aptos"/>
                <a:ea typeface="Aptos"/>
                <a:cs typeface="Aptos"/>
              </a:rPr>
              <a:t> </a:t>
            </a:r>
            <a:r>
              <a:rPr sz="1350" b="1" dirty="0" err="1">
                <a:solidFill>
                  <a:srgbClr val="1A202C"/>
                </a:solidFill>
                <a:latin typeface="Aptos"/>
                <a:ea typeface="Aptos"/>
                <a:cs typeface="Aptos"/>
              </a:rPr>
              <a:t>ризика</a:t>
            </a:r>
            <a:r>
              <a:rPr sz="1350" b="1" dirty="0">
                <a:solidFill>
                  <a:srgbClr val="1A202C"/>
                </a:solidFill>
                <a:latin typeface="Aptos"/>
                <a:ea typeface="Aptos"/>
                <a:cs typeface="Aptos"/>
              </a:rPr>
              <a:t>.</a:t>
            </a:r>
          </a:p>
        </p:txBody>
      </p:sp>
      <p:sp>
        <p:nvSpPr>
          <p:cNvPr id="19" name="Rounded Rectangle 18">
            <a:extLst>
              <a:ext uri="{FF2B5EF4-FFF2-40B4-BE49-F238E27FC236}">
                <a16:creationId xmlns:a16="http://schemas.microsoft.com/office/drawing/2014/main" id="{90F7E523-43C2-483E-94B0-33F75FDCD909}"/>
              </a:ext>
            </a:extLst>
          </p:cNvPr>
          <p:cNvSpPr>
            <a:spLocks noGrp="1"/>
          </p:cNvSpPr>
          <p:nvPr/>
        </p:nvSpPr>
        <p:spPr>
          <a:xfrm>
            <a:off x="5772150" y="4979586"/>
            <a:ext cx="5638800" cy="910855"/>
          </a:xfrm>
          <a:prstGeom prst="roundRect">
            <a:avLst>
              <a:gd name="adj" fmla="val 18421"/>
            </a:avLst>
          </a:prstGeom>
          <a:solidFill>
            <a:srgbClr val="EDF8F2"/>
          </a:solidFill>
          <a:ln w="9525">
            <a:solidFill>
              <a:srgbClr val="D7DEE8"/>
            </a:solidFill>
            <a:prstDash val="solid"/>
          </a:ln>
        </p:spPr>
      </p:sp>
      <p:sp>
        <p:nvSpPr>
          <p:cNvPr id="20" name="Rectangle 19">
            <a:extLst>
              <a:ext uri="{FF2B5EF4-FFF2-40B4-BE49-F238E27FC236}">
                <a16:creationId xmlns:a16="http://schemas.microsoft.com/office/drawing/2014/main" id="{07561778-2507-4981-B34F-C0169E10B121}"/>
              </a:ext>
            </a:extLst>
          </p:cNvPr>
          <p:cNvSpPr>
            <a:spLocks noGrp="1"/>
          </p:cNvSpPr>
          <p:nvPr/>
        </p:nvSpPr>
        <p:spPr>
          <a:xfrm>
            <a:off x="5924550" y="5103412"/>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1" name="Rectangle 20">
            <a:extLst>
              <a:ext uri="{FF2B5EF4-FFF2-40B4-BE49-F238E27FC236}">
                <a16:creationId xmlns:a16="http://schemas.microsoft.com/office/drawing/2014/main" id="{04442FCB-B114-491A-9BF4-AE0852382034}"/>
              </a:ext>
            </a:extLst>
          </p:cNvPr>
          <p:cNvSpPr>
            <a:spLocks noGrp="1"/>
          </p:cNvSpPr>
          <p:nvPr/>
        </p:nvSpPr>
        <p:spPr>
          <a:xfrm>
            <a:off x="5924550" y="5351062"/>
            <a:ext cx="5334000" cy="400050"/>
          </a:xfrm>
          <a:prstGeom prst="rect">
            <a:avLst/>
          </a:prstGeom>
          <a:noFill/>
          <a:ln w="0">
            <a:noFill/>
          </a:ln>
        </p:spPr>
        <p:txBody>
          <a:bodyPr wrap="square" lIns="0" tIns="0" rIns="0" bIns="0" anchor="ctr">
            <a:normAutofit fontScale="95316"/>
          </a:bodyPr>
          <a:lstStyle/>
          <a:p>
            <a:pPr algn="l">
              <a:lnSpc>
                <a:spcPct val="102000"/>
              </a:lnSpc>
              <a:buNone/>
              <a:defRPr sz="1200" b="1">
                <a:solidFill>
                  <a:srgbClr val="1A202C"/>
                </a:solidFill>
                <a:latin typeface="Aptos"/>
                <a:ea typeface="Aptos"/>
                <a:cs typeface="Aptos"/>
              </a:defRPr>
            </a:pPr>
            <a:r>
              <a:rPr sz="1350" b="1" dirty="0" err="1">
                <a:solidFill>
                  <a:srgbClr val="1A202C"/>
                </a:solidFill>
                <a:latin typeface="Aptos"/>
                <a:ea typeface="Aptos"/>
                <a:cs typeface="Aptos"/>
              </a:rPr>
              <a:t>Затворити</a:t>
            </a:r>
            <a:r>
              <a:rPr sz="1350" b="1" dirty="0">
                <a:solidFill>
                  <a:srgbClr val="1A202C"/>
                </a:solidFill>
                <a:latin typeface="Aptos"/>
                <a:ea typeface="Aptos"/>
                <a:cs typeface="Aptos"/>
              </a:rPr>
              <a:t> </a:t>
            </a:r>
            <a:r>
              <a:rPr sz="1350" b="1" dirty="0" err="1">
                <a:solidFill>
                  <a:srgbClr val="1A202C"/>
                </a:solidFill>
                <a:latin typeface="Aptos"/>
                <a:ea typeface="Aptos"/>
                <a:cs typeface="Aptos"/>
              </a:rPr>
              <a:t>налаз</a:t>
            </a:r>
            <a:r>
              <a:rPr sz="1350" b="1" dirty="0">
                <a:solidFill>
                  <a:srgbClr val="1A202C"/>
                </a:solidFill>
                <a:latin typeface="Aptos"/>
                <a:ea typeface="Aptos"/>
                <a:cs typeface="Aptos"/>
              </a:rPr>
              <a:t> </a:t>
            </a:r>
            <a:r>
              <a:rPr sz="1350" b="1" dirty="0" err="1">
                <a:solidFill>
                  <a:srgbClr val="1A202C"/>
                </a:solidFill>
                <a:latin typeface="Aptos"/>
                <a:ea typeface="Aptos"/>
                <a:cs typeface="Aptos"/>
              </a:rPr>
              <a:t>тек</a:t>
            </a:r>
            <a:r>
              <a:rPr sz="1350" b="1" dirty="0">
                <a:solidFill>
                  <a:srgbClr val="1A202C"/>
                </a:solidFill>
                <a:latin typeface="Aptos"/>
                <a:ea typeface="Aptos"/>
                <a:cs typeface="Aptos"/>
              </a:rPr>
              <a:t> </a:t>
            </a:r>
            <a:r>
              <a:rPr sz="1350" b="1" dirty="0" err="1">
                <a:solidFill>
                  <a:srgbClr val="1A202C"/>
                </a:solidFill>
                <a:latin typeface="Aptos"/>
                <a:ea typeface="Aptos"/>
                <a:cs typeface="Aptos"/>
              </a:rPr>
              <a:t>када</a:t>
            </a:r>
            <a:r>
              <a:rPr sz="1350" b="1" dirty="0">
                <a:solidFill>
                  <a:srgbClr val="1A202C"/>
                </a:solidFill>
                <a:latin typeface="Aptos"/>
                <a:ea typeface="Aptos"/>
                <a:cs typeface="Aptos"/>
              </a:rPr>
              <a:t> </a:t>
            </a:r>
            <a:r>
              <a:rPr sz="1350" b="1" dirty="0" err="1">
                <a:solidFill>
                  <a:srgbClr val="1A202C"/>
                </a:solidFill>
                <a:latin typeface="Aptos"/>
                <a:ea typeface="Aptos"/>
                <a:cs typeface="Aptos"/>
              </a:rPr>
              <a:t>постоји</a:t>
            </a:r>
            <a:r>
              <a:rPr sz="1350" b="1" dirty="0">
                <a:solidFill>
                  <a:srgbClr val="1A202C"/>
                </a:solidFill>
                <a:latin typeface="Aptos"/>
                <a:ea typeface="Aptos"/>
                <a:cs typeface="Aptos"/>
              </a:rPr>
              <a:t> </a:t>
            </a:r>
            <a:r>
              <a:rPr sz="1350" b="1" dirty="0" err="1">
                <a:solidFill>
                  <a:srgbClr val="1A202C"/>
                </a:solidFill>
                <a:latin typeface="Aptos"/>
                <a:ea typeface="Aptos"/>
                <a:cs typeface="Aptos"/>
              </a:rPr>
              <a:t>доказ</a:t>
            </a:r>
            <a:r>
              <a:rPr sz="1350" b="1" dirty="0">
                <a:solidFill>
                  <a:srgbClr val="1A202C"/>
                </a:solidFill>
                <a:latin typeface="Aptos"/>
                <a:ea typeface="Aptos"/>
                <a:cs typeface="Aptos"/>
              </a:rPr>
              <a:t> </a:t>
            </a:r>
            <a:r>
              <a:rPr sz="1350" b="1" dirty="0" err="1">
                <a:solidFill>
                  <a:srgbClr val="1A202C"/>
                </a:solidFill>
                <a:latin typeface="Aptos"/>
                <a:ea typeface="Aptos"/>
                <a:cs typeface="Aptos"/>
              </a:rPr>
              <a:t>да</a:t>
            </a:r>
            <a:r>
              <a:rPr sz="1350" b="1" dirty="0">
                <a:solidFill>
                  <a:srgbClr val="1A202C"/>
                </a:solidFill>
                <a:latin typeface="Aptos"/>
                <a:ea typeface="Aptos"/>
                <a:cs typeface="Aptos"/>
              </a:rPr>
              <a:t> </a:t>
            </a:r>
            <a:r>
              <a:rPr sz="1350" b="1" dirty="0" err="1">
                <a:solidFill>
                  <a:srgbClr val="1A202C"/>
                </a:solidFill>
                <a:latin typeface="Aptos"/>
                <a:ea typeface="Aptos"/>
                <a:cs typeface="Aptos"/>
              </a:rPr>
              <a:t>је</a:t>
            </a:r>
            <a:r>
              <a:rPr sz="1350" b="1" dirty="0">
                <a:solidFill>
                  <a:srgbClr val="1A202C"/>
                </a:solidFill>
                <a:latin typeface="Aptos"/>
                <a:ea typeface="Aptos"/>
                <a:cs typeface="Aptos"/>
              </a:rPr>
              <a:t> </a:t>
            </a:r>
            <a:r>
              <a:rPr sz="1350" b="1" dirty="0" err="1">
                <a:solidFill>
                  <a:srgbClr val="1A202C"/>
                </a:solidFill>
                <a:latin typeface="Aptos"/>
                <a:ea typeface="Aptos"/>
                <a:cs typeface="Aptos"/>
              </a:rPr>
              <a:t>изложеност</a:t>
            </a:r>
            <a:r>
              <a:rPr sz="1350" b="1" dirty="0">
                <a:solidFill>
                  <a:srgbClr val="1A202C"/>
                </a:solidFill>
                <a:latin typeface="Aptos"/>
                <a:ea typeface="Aptos"/>
                <a:cs typeface="Aptos"/>
              </a:rPr>
              <a:t> </a:t>
            </a:r>
            <a:r>
              <a:rPr sz="1350" b="1" dirty="0" err="1">
                <a:solidFill>
                  <a:srgbClr val="1A202C"/>
                </a:solidFill>
                <a:latin typeface="Aptos"/>
                <a:ea typeface="Aptos"/>
                <a:cs typeface="Aptos"/>
              </a:rPr>
              <a:t>проверено</a:t>
            </a:r>
            <a:r>
              <a:rPr sz="1350" b="1" dirty="0">
                <a:solidFill>
                  <a:srgbClr val="1A202C"/>
                </a:solidFill>
                <a:latin typeface="Aptos"/>
                <a:ea typeface="Aptos"/>
                <a:cs typeface="Aptos"/>
              </a:rPr>
              <a:t> </a:t>
            </a:r>
            <a:r>
              <a:rPr sz="1350" b="1" dirty="0" err="1">
                <a:solidFill>
                  <a:srgbClr val="1A202C"/>
                </a:solidFill>
                <a:latin typeface="Aptos"/>
                <a:ea typeface="Aptos"/>
                <a:cs typeface="Aptos"/>
              </a:rPr>
              <a:t>смањена</a:t>
            </a:r>
            <a:r>
              <a:rPr sz="1350" b="1" dirty="0">
                <a:solidFill>
                  <a:srgbClr val="1A202C"/>
                </a:solidFill>
                <a:latin typeface="Aptos"/>
                <a:ea typeface="Aptos"/>
                <a:cs typeface="Aptos"/>
              </a:rPr>
              <a:t>.</a:t>
            </a:r>
          </a:p>
        </p:txBody>
      </p:sp>
    </p:spTree>
    <p:extLst>
      <p:ext uri="{BB962C8B-B14F-4D97-AF65-F5344CB8AC3E}">
        <p14:creationId xmlns:p14="http://schemas.microsoft.com/office/powerpoint/2010/main" val="6554586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42731258-B72B-422C-8C72-B2E26399CC25}"/>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5967512E-8111-4E40-962A-4BDED95421D5}"/>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5A87C600-1F8C-4D9F-BC23-0974AC94F1A4}"/>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11</a:t>
            </a:r>
          </a:p>
        </p:txBody>
      </p:sp>
      <p:sp>
        <p:nvSpPr>
          <p:cNvPr id="4" name="Rectangle 3">
            <a:extLst>
              <a:ext uri="{FF2B5EF4-FFF2-40B4-BE49-F238E27FC236}">
                <a16:creationId xmlns:a16="http://schemas.microsoft.com/office/drawing/2014/main" id="{87F98702-81FD-4BE3-93EE-E4E192B9E677}"/>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Сигнал тражи контекст</a:t>
            </a:r>
          </a:p>
        </p:txBody>
      </p:sp>
      <p:sp>
        <p:nvSpPr>
          <p:cNvPr id="5" name="Rectangle 4">
            <a:extLst>
              <a:ext uri="{FF2B5EF4-FFF2-40B4-BE49-F238E27FC236}">
                <a16:creationId xmlns:a16="http://schemas.microsoft.com/office/drawing/2014/main" id="{404DF458-2693-4A4B-A98B-29697D1A0DC3}"/>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Три правила која треба да остану видљива у имплементацији и ревизији.</a:t>
            </a:r>
          </a:p>
        </p:txBody>
      </p:sp>
      <p:sp>
        <p:nvSpPr>
          <p:cNvPr id="6" name="Rounded Rectangle 5">
            <a:extLst>
              <a:ext uri="{FF2B5EF4-FFF2-40B4-BE49-F238E27FC236}">
                <a16:creationId xmlns:a16="http://schemas.microsoft.com/office/drawing/2014/main" id="{0458227E-2539-40DC-8219-89AB41AF6DC2}"/>
              </a:ext>
            </a:extLst>
          </p:cNvPr>
          <p:cNvSpPr>
            <a:spLocks noGrp="1"/>
          </p:cNvSpPr>
          <p:nvPr/>
        </p:nvSpPr>
        <p:spPr>
          <a:xfrm>
            <a:off x="819150" y="2400300"/>
            <a:ext cx="3257550" cy="2343150"/>
          </a:xfrm>
          <a:prstGeom prst="roundRect">
            <a:avLst>
              <a:gd name="adj" fmla="val 5691"/>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1AC40C5F-2350-4B7A-854C-29CC0E37AF5A}"/>
              </a:ext>
            </a:extLst>
          </p:cNvPr>
          <p:cNvSpPr>
            <a:spLocks noGrp="1"/>
          </p:cNvSpPr>
          <p:nvPr/>
        </p:nvSpPr>
        <p:spPr>
          <a:xfrm>
            <a:off x="971550"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8" name="Rectangle 7">
            <a:extLst>
              <a:ext uri="{FF2B5EF4-FFF2-40B4-BE49-F238E27FC236}">
                <a16:creationId xmlns:a16="http://schemas.microsoft.com/office/drawing/2014/main" id="{873BE11D-78FB-4774-8AF3-F05C6306A2F0}"/>
              </a:ext>
            </a:extLst>
          </p:cNvPr>
          <p:cNvSpPr>
            <a:spLocks noGrp="1"/>
          </p:cNvSpPr>
          <p:nvPr/>
        </p:nvSpPr>
        <p:spPr>
          <a:xfrm>
            <a:off x="971550"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Праг детекције треба да има смисао и разлог, не само произвољну бројку.</a:t>
            </a:r>
          </a:p>
        </p:txBody>
      </p:sp>
      <p:sp>
        <p:nvSpPr>
          <p:cNvPr id="9" name="Rectangle 8">
            <a:extLst>
              <a:ext uri="{FF2B5EF4-FFF2-40B4-BE49-F238E27FC236}">
                <a16:creationId xmlns:a16="http://schemas.microsoft.com/office/drawing/2014/main" id="{76724959-5F28-470A-A1EA-1D30D69C5999}"/>
              </a:ext>
            </a:extLst>
          </p:cNvPr>
          <p:cNvSpPr>
            <a:spLocks noGrp="1"/>
          </p:cNvSpPr>
          <p:nvPr/>
        </p:nvSpPr>
        <p:spPr>
          <a:xfrm>
            <a:off x="971550"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Јасно правило</a:t>
            </a:r>
          </a:p>
        </p:txBody>
      </p:sp>
      <p:sp>
        <p:nvSpPr>
          <p:cNvPr id="10" name="Rounded Rectangle 9">
            <a:extLst>
              <a:ext uri="{FF2B5EF4-FFF2-40B4-BE49-F238E27FC236}">
                <a16:creationId xmlns:a16="http://schemas.microsoft.com/office/drawing/2014/main" id="{DD24F0F8-79A1-4056-B8B0-FF6D0BD0F5EB}"/>
              </a:ext>
            </a:extLst>
          </p:cNvPr>
          <p:cNvSpPr>
            <a:spLocks noGrp="1"/>
          </p:cNvSpPr>
          <p:nvPr/>
        </p:nvSpPr>
        <p:spPr>
          <a:xfrm>
            <a:off x="4467225" y="2400300"/>
            <a:ext cx="3257550" cy="2343150"/>
          </a:xfrm>
          <a:prstGeom prst="roundRect">
            <a:avLst>
              <a:gd name="adj" fmla="val 5691"/>
            </a:avLst>
          </a:prstGeom>
          <a:solidFill>
            <a:srgbClr val="F5F0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B297EDA9-E61B-4607-A6F5-3203C44E891A}"/>
              </a:ext>
            </a:extLst>
          </p:cNvPr>
          <p:cNvSpPr>
            <a:spLocks noGrp="1"/>
          </p:cNvSpPr>
          <p:nvPr/>
        </p:nvSpPr>
        <p:spPr>
          <a:xfrm>
            <a:off x="4619625"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02</a:t>
            </a:r>
          </a:p>
        </p:txBody>
      </p:sp>
      <p:sp>
        <p:nvSpPr>
          <p:cNvPr id="12" name="Rectangle 11">
            <a:extLst>
              <a:ext uri="{FF2B5EF4-FFF2-40B4-BE49-F238E27FC236}">
                <a16:creationId xmlns:a16="http://schemas.microsoft.com/office/drawing/2014/main" id="{26E59437-FFC9-406B-BD44-98DB54529F7C}"/>
              </a:ext>
            </a:extLst>
          </p:cNvPr>
          <p:cNvSpPr>
            <a:spLocks noGrp="1"/>
          </p:cNvSpPr>
          <p:nvPr/>
        </p:nvSpPr>
        <p:spPr>
          <a:xfrm>
            <a:off x="4619625"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Затварање упозорења чува образложење, јер је то знање за следећи сличан случај.</a:t>
            </a:r>
          </a:p>
        </p:txBody>
      </p:sp>
      <p:sp>
        <p:nvSpPr>
          <p:cNvPr id="13" name="Rectangle 12">
            <a:extLst>
              <a:ext uri="{FF2B5EF4-FFF2-40B4-BE49-F238E27FC236}">
                <a16:creationId xmlns:a16="http://schemas.microsoft.com/office/drawing/2014/main" id="{21CC250F-D23B-432C-A26B-5F016CA453E7}"/>
              </a:ext>
            </a:extLst>
          </p:cNvPr>
          <p:cNvSpPr>
            <a:spLocks noGrp="1"/>
          </p:cNvSpPr>
          <p:nvPr/>
        </p:nvSpPr>
        <p:spPr>
          <a:xfrm>
            <a:off x="4619625"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Проверљива примена</a:t>
            </a:r>
          </a:p>
        </p:txBody>
      </p:sp>
      <p:sp>
        <p:nvSpPr>
          <p:cNvPr id="14" name="Rounded Rectangle 13">
            <a:extLst>
              <a:ext uri="{FF2B5EF4-FFF2-40B4-BE49-F238E27FC236}">
                <a16:creationId xmlns:a16="http://schemas.microsoft.com/office/drawing/2014/main" id="{33030A78-0048-4332-846C-473FDEF525EC}"/>
              </a:ext>
            </a:extLst>
          </p:cNvPr>
          <p:cNvSpPr>
            <a:spLocks noGrp="1"/>
          </p:cNvSpPr>
          <p:nvPr/>
        </p:nvSpPr>
        <p:spPr>
          <a:xfrm>
            <a:off x="8115300" y="2400300"/>
            <a:ext cx="3257550" cy="2343150"/>
          </a:xfrm>
          <a:prstGeom prst="roundRect">
            <a:avLst>
              <a:gd name="adj" fmla="val 5691"/>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95AC9FE2-CB79-497E-B85A-CE584EA41152}"/>
              </a:ext>
            </a:extLst>
          </p:cNvPr>
          <p:cNvSpPr>
            <a:spLocks noGrp="1"/>
          </p:cNvSpPr>
          <p:nvPr/>
        </p:nvSpPr>
        <p:spPr>
          <a:xfrm>
            <a:off x="8267700"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028607CA-F9F2-4187-B25E-D7BF4F914A5B}"/>
              </a:ext>
            </a:extLst>
          </p:cNvPr>
          <p:cNvSpPr>
            <a:spLocks noGrp="1"/>
          </p:cNvSpPr>
          <p:nvPr/>
        </p:nvSpPr>
        <p:spPr>
          <a:xfrm>
            <a:off x="8267700"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Рањивост није решена променом статуса, већ провером да је ризик заиста смањен.</a:t>
            </a:r>
          </a:p>
        </p:txBody>
      </p:sp>
      <p:sp>
        <p:nvSpPr>
          <p:cNvPr id="17" name="Rectangle 16">
            <a:extLst>
              <a:ext uri="{FF2B5EF4-FFF2-40B4-BE49-F238E27FC236}">
                <a16:creationId xmlns:a16="http://schemas.microsoft.com/office/drawing/2014/main" id="{74F036E5-A5FD-4B30-A674-F4DBF0893836}"/>
              </a:ext>
            </a:extLst>
          </p:cNvPr>
          <p:cNvSpPr>
            <a:spLocks noGrp="1"/>
          </p:cNvSpPr>
          <p:nvPr/>
        </p:nvSpPr>
        <p:spPr>
          <a:xfrm>
            <a:off x="8267700"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Видљив доказ</a:t>
            </a:r>
          </a:p>
        </p:txBody>
      </p:sp>
    </p:spTree>
    <p:extLst>
      <p:ext uri="{BB962C8B-B14F-4D97-AF65-F5344CB8AC3E}">
        <p14:creationId xmlns:p14="http://schemas.microsoft.com/office/powerpoint/2010/main" val="10218412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F2B3E7D4-57E6-42F1-8312-44B2E22DCF4C}"/>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489F6E89-4FDB-4CA3-A016-49902B6E772B}"/>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2D961283-6134-49CB-A9C1-F404B0B87E18}"/>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12</a:t>
            </a:r>
          </a:p>
        </p:txBody>
      </p:sp>
      <p:sp>
        <p:nvSpPr>
          <p:cNvPr id="4" name="Rectangle 3">
            <a:extLst>
              <a:ext uri="{FF2B5EF4-FFF2-40B4-BE49-F238E27FC236}">
                <a16:creationId xmlns:a16="http://schemas.microsoft.com/office/drawing/2014/main" id="{871A843B-D6C5-480A-85D6-A5248420542A}"/>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Како се ова тема види у развоју</a:t>
            </a:r>
          </a:p>
        </p:txBody>
      </p:sp>
      <p:sp>
        <p:nvSpPr>
          <p:cNvPr id="5" name="Rectangle 4">
            <a:extLst>
              <a:ext uri="{FF2B5EF4-FFF2-40B4-BE49-F238E27FC236}">
                <a16:creationId xmlns:a16="http://schemas.microsoft.com/office/drawing/2014/main" id="{8D7065DF-5C9D-4E81-94B9-102155FC3A01}"/>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Тема се види у малим одлукама током развоја, не само у завршној документацији.</a:t>
            </a:r>
          </a:p>
        </p:txBody>
      </p:sp>
      <p:sp>
        <p:nvSpPr>
          <p:cNvPr id="6" name="Rounded Rectangle 5">
            <a:extLst>
              <a:ext uri="{FF2B5EF4-FFF2-40B4-BE49-F238E27FC236}">
                <a16:creationId xmlns:a16="http://schemas.microsoft.com/office/drawing/2014/main" id="{CB586EC6-3460-496C-B8D9-C2BEEB1CEAC4}"/>
              </a:ext>
            </a:extLst>
          </p:cNvPr>
          <p:cNvSpPr>
            <a:spLocks noGrp="1"/>
          </p:cNvSpPr>
          <p:nvPr/>
        </p:nvSpPr>
        <p:spPr>
          <a:xfrm>
            <a:off x="800100" y="2209800"/>
            <a:ext cx="4810125" cy="2857500"/>
          </a:xfrm>
          <a:prstGeom prst="roundRect">
            <a:avLst>
              <a:gd name="adj" fmla="val 4667"/>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0B69D1B1-B566-4BCA-9B93-C752ADEF797C}"/>
              </a:ext>
            </a:extLst>
          </p:cNvPr>
          <p:cNvSpPr>
            <a:spLocks noGrp="1"/>
          </p:cNvSpPr>
          <p:nvPr/>
        </p:nvSpPr>
        <p:spPr>
          <a:xfrm>
            <a:off x="952500" y="2333625"/>
            <a:ext cx="4505325"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РАЗВОЈНИ КОНТЕКСТ</a:t>
            </a:r>
          </a:p>
        </p:txBody>
      </p:sp>
      <p:sp>
        <p:nvSpPr>
          <p:cNvPr id="8" name="Rectangle 7">
            <a:extLst>
              <a:ext uri="{FF2B5EF4-FFF2-40B4-BE49-F238E27FC236}">
                <a16:creationId xmlns:a16="http://schemas.microsoft.com/office/drawing/2014/main" id="{CA0171EC-B17B-45F5-AC42-F926111C528E}"/>
              </a:ext>
            </a:extLst>
          </p:cNvPr>
          <p:cNvSpPr>
            <a:spLocks noGrp="1"/>
          </p:cNvSpPr>
          <p:nvPr/>
        </p:nvSpPr>
        <p:spPr>
          <a:xfrm>
            <a:off x="952500" y="2581275"/>
            <a:ext cx="4505325" cy="476250"/>
          </a:xfrm>
          <a:prstGeom prst="rect">
            <a:avLst/>
          </a:prstGeom>
          <a:noFill/>
          <a:ln w="0">
            <a:noFill/>
          </a:ln>
        </p:spPr>
        <p:txBody>
          <a:bodyPr wrap="square" lIns="0" tIns="0" rIns="0" bIns="0" anchor="ctr">
            <a:normAutofit/>
          </a:bodyPr>
          <a:lstStyle/>
          <a:p>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Од принципа до радног кода</a:t>
            </a:r>
          </a:p>
        </p:txBody>
      </p:sp>
      <p:sp>
        <p:nvSpPr>
          <p:cNvPr id="9" name="Rectangle 8">
            <a:extLst>
              <a:ext uri="{FF2B5EF4-FFF2-40B4-BE49-F238E27FC236}">
                <a16:creationId xmlns:a16="http://schemas.microsoft.com/office/drawing/2014/main" id="{5BC7B48E-BCC5-420C-97C9-279635799F2B}"/>
              </a:ext>
            </a:extLst>
          </p:cNvPr>
          <p:cNvSpPr>
            <a:spLocks noGrp="1"/>
          </p:cNvSpPr>
          <p:nvPr/>
        </p:nvSpPr>
        <p:spPr>
          <a:xfrm>
            <a:off x="952500" y="3124200"/>
            <a:ext cx="4505325" cy="1838325"/>
          </a:xfrm>
          <a:prstGeom prst="rect">
            <a:avLst/>
          </a:prstGeom>
          <a:noFill/>
          <a:ln w="0">
            <a:noFill/>
          </a:ln>
        </p:spPr>
        <p:txBody>
          <a:bodyPr wrap="square" lIns="0" tIns="0" rIns="0" bIns="0" anchor="t">
            <a:normAutofit/>
          </a:bodyPr>
          <a:lstStyle/>
          <a:p>
            <a:pPr algn="l">
              <a:lnSpc>
                <a:spcPct val="106000"/>
              </a:lnSpc>
              <a:buNone/>
              <a:defRPr sz="1350" b="0">
                <a:solidFill>
                  <a:srgbClr val="657184"/>
                </a:solidFill>
                <a:latin typeface="Aptos"/>
                <a:ea typeface="Aptos"/>
                <a:cs typeface="Aptos"/>
              </a:defRPr>
            </a:pPr>
            <a:r>
              <a:rPr sz="1350" b="0">
                <a:solidFill>
                  <a:srgbClr val="657184"/>
                </a:solidFill>
                <a:latin typeface="Aptos"/>
                <a:ea typeface="Aptos"/>
                <a:cs typeface="Aptos"/>
              </a:rPr>
              <a:t>Тим бира мали број сигнала који су разумљиви оператеру. За сваки описује нормално понашање, разлог активирања, одговорну особу и безбедан начин провере. Тако се детекција дизајнира као производна могућност, а не као споредни лог.</a:t>
            </a:r>
          </a:p>
        </p:txBody>
      </p:sp>
      <p:sp>
        <p:nvSpPr>
          <p:cNvPr id="10" name="Rounded Rectangle 9">
            <a:extLst>
              <a:ext uri="{FF2B5EF4-FFF2-40B4-BE49-F238E27FC236}">
                <a16:creationId xmlns:a16="http://schemas.microsoft.com/office/drawing/2014/main" id="{F8D90DFB-D898-42AC-853B-CF7AB1AB271B}"/>
              </a:ext>
            </a:extLst>
          </p:cNvPr>
          <p:cNvSpPr>
            <a:spLocks noGrp="1"/>
          </p:cNvSpPr>
          <p:nvPr/>
        </p:nvSpPr>
        <p:spPr>
          <a:xfrm>
            <a:off x="6038850" y="2209800"/>
            <a:ext cx="5353050" cy="819150"/>
          </a:xfrm>
          <a:prstGeom prst="roundRect">
            <a:avLst>
              <a:gd name="adj" fmla="val 16279"/>
            </a:avLst>
          </a:prstGeom>
          <a:solidFill>
            <a:srgbClr val="F4F6F9"/>
          </a:solidFill>
          <a:ln w="9525">
            <a:solidFill>
              <a:srgbClr val="D7DEE8"/>
            </a:solidFill>
            <a:prstDash val="solid"/>
          </a:ln>
        </p:spPr>
      </p:sp>
      <p:sp>
        <p:nvSpPr>
          <p:cNvPr id="11" name="Rectangle 10">
            <a:extLst>
              <a:ext uri="{FF2B5EF4-FFF2-40B4-BE49-F238E27FC236}">
                <a16:creationId xmlns:a16="http://schemas.microsoft.com/office/drawing/2014/main" id="{66FA92A5-B1C6-4790-8B9B-3055C971D765}"/>
              </a:ext>
            </a:extLst>
          </p:cNvPr>
          <p:cNvSpPr>
            <a:spLocks noGrp="1"/>
          </p:cNvSpPr>
          <p:nvPr/>
        </p:nvSpPr>
        <p:spPr>
          <a:xfrm>
            <a:off x="6191250" y="23336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12" name="Rectangle 11">
            <a:extLst>
              <a:ext uri="{FF2B5EF4-FFF2-40B4-BE49-F238E27FC236}">
                <a16:creationId xmlns:a16="http://schemas.microsoft.com/office/drawing/2014/main" id="{1BD54ED4-8FD1-4DF5-B337-E336688E7963}"/>
              </a:ext>
            </a:extLst>
          </p:cNvPr>
          <p:cNvSpPr>
            <a:spLocks noGrp="1"/>
          </p:cNvSpPr>
          <p:nvPr/>
        </p:nvSpPr>
        <p:spPr>
          <a:xfrm>
            <a:off x="6191250" y="25812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Именуј одлуку и њену границу.</a:t>
            </a:r>
          </a:p>
        </p:txBody>
      </p:sp>
      <p:sp>
        <p:nvSpPr>
          <p:cNvPr id="13" name="Rounded Rectangle 12">
            <a:extLst>
              <a:ext uri="{FF2B5EF4-FFF2-40B4-BE49-F238E27FC236}">
                <a16:creationId xmlns:a16="http://schemas.microsoft.com/office/drawing/2014/main" id="{E8B15B90-1953-4800-B590-F0C8D0CB93D7}"/>
              </a:ext>
            </a:extLst>
          </p:cNvPr>
          <p:cNvSpPr>
            <a:spLocks noGrp="1"/>
          </p:cNvSpPr>
          <p:nvPr/>
        </p:nvSpPr>
        <p:spPr>
          <a:xfrm>
            <a:off x="6038850" y="3200400"/>
            <a:ext cx="5353050" cy="819150"/>
          </a:xfrm>
          <a:prstGeom prst="roundRect">
            <a:avLst>
              <a:gd name="adj" fmla="val 16279"/>
            </a:avLst>
          </a:prstGeom>
          <a:solidFill>
            <a:srgbClr val="F5F0FF"/>
          </a:solidFill>
          <a:ln w="9525">
            <a:solidFill>
              <a:srgbClr val="D7DEE8"/>
            </a:solidFill>
            <a:prstDash val="solid"/>
          </a:ln>
        </p:spPr>
      </p:sp>
      <p:sp>
        <p:nvSpPr>
          <p:cNvPr id="14" name="Rectangle 13">
            <a:extLst>
              <a:ext uri="{FF2B5EF4-FFF2-40B4-BE49-F238E27FC236}">
                <a16:creationId xmlns:a16="http://schemas.microsoft.com/office/drawing/2014/main" id="{844D125E-3A68-4E17-BD7B-E570273F4267}"/>
              </a:ext>
            </a:extLst>
          </p:cNvPr>
          <p:cNvSpPr>
            <a:spLocks noGrp="1"/>
          </p:cNvSpPr>
          <p:nvPr/>
        </p:nvSpPr>
        <p:spPr>
          <a:xfrm>
            <a:off x="6191250" y="33242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02</a:t>
            </a:r>
          </a:p>
        </p:txBody>
      </p:sp>
      <p:sp>
        <p:nvSpPr>
          <p:cNvPr id="15" name="Rectangle 14">
            <a:extLst>
              <a:ext uri="{FF2B5EF4-FFF2-40B4-BE49-F238E27FC236}">
                <a16:creationId xmlns:a16="http://schemas.microsoft.com/office/drawing/2014/main" id="{C1E83E3D-7ED3-4B6F-9B21-CF3501EC0015}"/>
              </a:ext>
            </a:extLst>
          </p:cNvPr>
          <p:cNvSpPr>
            <a:spLocks noGrp="1"/>
          </p:cNvSpPr>
          <p:nvPr/>
        </p:nvSpPr>
        <p:spPr>
          <a:xfrm>
            <a:off x="6191250" y="35718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Имплементирај проверу на серверу.</a:t>
            </a:r>
          </a:p>
        </p:txBody>
      </p:sp>
      <p:sp>
        <p:nvSpPr>
          <p:cNvPr id="16" name="Rounded Rectangle 15">
            <a:extLst>
              <a:ext uri="{FF2B5EF4-FFF2-40B4-BE49-F238E27FC236}">
                <a16:creationId xmlns:a16="http://schemas.microsoft.com/office/drawing/2014/main" id="{237E90D1-3A2B-4D8E-B2EC-9B1B6D510E57}"/>
              </a:ext>
            </a:extLst>
          </p:cNvPr>
          <p:cNvSpPr>
            <a:spLocks noGrp="1"/>
          </p:cNvSpPr>
          <p:nvPr/>
        </p:nvSpPr>
        <p:spPr>
          <a:xfrm>
            <a:off x="6038850" y="4191000"/>
            <a:ext cx="5353050" cy="819150"/>
          </a:xfrm>
          <a:prstGeom prst="roundRect">
            <a:avLst>
              <a:gd name="adj" fmla="val 16279"/>
            </a:avLst>
          </a:prstGeom>
          <a:solidFill>
            <a:srgbClr val="EDF8F2"/>
          </a:solidFill>
          <a:ln w="9525">
            <a:solidFill>
              <a:srgbClr val="D7DEE8"/>
            </a:solidFill>
            <a:prstDash val="solid"/>
          </a:ln>
        </p:spPr>
      </p:sp>
      <p:sp>
        <p:nvSpPr>
          <p:cNvPr id="17" name="Rectangle 16">
            <a:extLst>
              <a:ext uri="{FF2B5EF4-FFF2-40B4-BE49-F238E27FC236}">
                <a16:creationId xmlns:a16="http://schemas.microsoft.com/office/drawing/2014/main" id="{D15C4687-377A-41E3-8996-CCCA870F3C17}"/>
              </a:ext>
            </a:extLst>
          </p:cNvPr>
          <p:cNvSpPr>
            <a:spLocks noGrp="1"/>
          </p:cNvSpPr>
          <p:nvPr/>
        </p:nvSpPr>
        <p:spPr>
          <a:xfrm>
            <a:off x="6191250" y="43148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a:ext uri="{FF2B5EF4-FFF2-40B4-BE49-F238E27FC236}">
                <a16:creationId xmlns:a16="http://schemas.microsoft.com/office/drawing/2014/main" id="{CE2CF53C-1169-4C19-820C-2650EA519EBD}"/>
              </a:ext>
            </a:extLst>
          </p:cNvPr>
          <p:cNvSpPr>
            <a:spLocks noGrp="1"/>
          </p:cNvSpPr>
          <p:nvPr/>
        </p:nvSpPr>
        <p:spPr>
          <a:xfrm>
            <a:off x="6191250" y="45624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Додај позитиван и негативан доказ.</a:t>
            </a:r>
          </a:p>
        </p:txBody>
      </p:sp>
    </p:spTree>
    <p:extLst>
      <p:ext uri="{BB962C8B-B14F-4D97-AF65-F5344CB8AC3E}">
        <p14:creationId xmlns:p14="http://schemas.microsoft.com/office/powerpoint/2010/main" val="3873377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69FEC50A-2129-41FC-BB85-CF24BFB33375}"/>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DD80F698-0497-44DF-AC16-D629957471B7}"/>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89D4C8CD-972D-4840-9660-F74F7ED96992}"/>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13</a:t>
            </a:r>
          </a:p>
        </p:txBody>
      </p:sp>
      <p:sp>
        <p:nvSpPr>
          <p:cNvPr id="4" name="Rectangle 3">
            <a:extLst>
              <a:ext uri="{FF2B5EF4-FFF2-40B4-BE49-F238E27FC236}">
                <a16:creationId xmlns:a16="http://schemas.microsoft.com/office/drawing/2014/main" id="{5B7A9E0E-5ED1-4340-B206-9F3317CCA8F8}"/>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Пример: више неуспелих пријава</a:t>
            </a:r>
          </a:p>
        </p:txBody>
      </p:sp>
      <p:sp>
        <p:nvSpPr>
          <p:cNvPr id="5" name="Rectangle 4">
            <a:extLst>
              <a:ext uri="{FF2B5EF4-FFF2-40B4-BE49-F238E27FC236}">
                <a16:creationId xmlns:a16="http://schemas.microsoft.com/office/drawing/2014/main" id="{DBA77933-86ED-4A47-9FCC-611B151AA9B3}"/>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Конкретан случај показује где опште правило постаје стварна одлука система.</a:t>
            </a:r>
          </a:p>
        </p:txBody>
      </p:sp>
      <p:sp>
        <p:nvSpPr>
          <p:cNvPr id="6" name="Rounded Rectangle 5">
            <a:extLst>
              <a:ext uri="{FF2B5EF4-FFF2-40B4-BE49-F238E27FC236}">
                <a16:creationId xmlns:a16="http://schemas.microsoft.com/office/drawing/2014/main" id="{ECB59A89-F241-4EFD-8C0F-5AF5B88D049C}"/>
              </a:ext>
            </a:extLst>
          </p:cNvPr>
          <p:cNvSpPr>
            <a:spLocks noGrp="1"/>
          </p:cNvSpPr>
          <p:nvPr/>
        </p:nvSpPr>
        <p:spPr>
          <a:xfrm>
            <a:off x="781050" y="2143125"/>
            <a:ext cx="10629900" cy="1619250"/>
          </a:xfrm>
          <a:prstGeom prst="roundRect">
            <a:avLst>
              <a:gd name="adj" fmla="val 8235"/>
            </a:avLst>
          </a:prstGeom>
          <a:solidFill>
            <a:srgbClr val="F4F6F9"/>
          </a:solidFill>
          <a:ln w="9525">
            <a:solidFill>
              <a:srgbClr val="D7DEE8"/>
            </a:solidFill>
            <a:prstDash val="solid"/>
          </a:ln>
        </p:spPr>
      </p:sp>
      <p:sp>
        <p:nvSpPr>
          <p:cNvPr id="7" name="Rectangle 6">
            <a:extLst>
              <a:ext uri="{FF2B5EF4-FFF2-40B4-BE49-F238E27FC236}">
                <a16:creationId xmlns:a16="http://schemas.microsoft.com/office/drawing/2014/main" id="{59A97139-DFFD-4330-B9AF-A0AD5EA36E34}"/>
              </a:ext>
            </a:extLst>
          </p:cNvPr>
          <p:cNvSpPr>
            <a:spLocks noGrp="1"/>
          </p:cNvSpPr>
          <p:nvPr/>
        </p:nvSpPr>
        <p:spPr>
          <a:xfrm>
            <a:off x="933450" y="2266950"/>
            <a:ext cx="1032510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СЦЕНАРИО</a:t>
            </a:r>
          </a:p>
        </p:txBody>
      </p:sp>
      <p:sp>
        <p:nvSpPr>
          <p:cNvPr id="8" name="Rectangle 7">
            <a:extLst>
              <a:ext uri="{FF2B5EF4-FFF2-40B4-BE49-F238E27FC236}">
                <a16:creationId xmlns:a16="http://schemas.microsoft.com/office/drawing/2014/main" id="{80D372C8-0FD1-4AC2-AFE1-07AF7456A2F5}"/>
              </a:ext>
            </a:extLst>
          </p:cNvPr>
          <p:cNvSpPr>
            <a:spLocks noGrp="1"/>
          </p:cNvSpPr>
          <p:nvPr/>
        </p:nvSpPr>
        <p:spPr>
          <a:xfrm>
            <a:off x="933450" y="2514600"/>
            <a:ext cx="10325100" cy="400050"/>
          </a:xfrm>
          <a:prstGeom prst="rect">
            <a:avLst/>
          </a:prstGeom>
          <a:noFill/>
          <a:ln w="0">
            <a:noFill/>
          </a:ln>
        </p:spPr>
        <p:txBody>
          <a:bodyPr wrap="square" lIns="0" tIns="0" rIns="0" bIns="0" anchor="ctr">
            <a:normAutofit/>
          </a:bodyPr>
          <a:lstStyle/>
          <a:p>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Пример: више неуспелих пријава</a:t>
            </a:r>
          </a:p>
        </p:txBody>
      </p:sp>
      <p:sp>
        <p:nvSpPr>
          <p:cNvPr id="9" name="Rectangle 8">
            <a:extLst>
              <a:ext uri="{FF2B5EF4-FFF2-40B4-BE49-F238E27FC236}">
                <a16:creationId xmlns:a16="http://schemas.microsoft.com/office/drawing/2014/main" id="{18B2AA8C-17BB-47F8-8D7E-ED94AE81F55C}"/>
              </a:ext>
            </a:extLst>
          </p:cNvPr>
          <p:cNvSpPr>
            <a:spLocks noGrp="1"/>
          </p:cNvSpPr>
          <p:nvPr/>
        </p:nvSpPr>
        <p:spPr>
          <a:xfrm>
            <a:off x="933450" y="2981325"/>
            <a:ext cx="10325100" cy="67627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Низ неуспелих пријава може значити погрешно запамћену лозинку, проблем интеграције или покушај злоупотребе. Сам број неуспеха зато није довољан за закључак. Triage додаје контекст: да ли су покушаји дошли са истог извора, да ли се односе на осетљиве налоге и да ли се образац наставља након упозорења.</a:t>
            </a:r>
          </a:p>
        </p:txBody>
      </p:sp>
      <p:sp>
        <p:nvSpPr>
          <p:cNvPr id="10" name="Rounded Rectangle 9">
            <a:extLst>
              <a:ext uri="{FF2B5EF4-FFF2-40B4-BE49-F238E27FC236}">
                <a16:creationId xmlns:a16="http://schemas.microsoft.com/office/drawing/2014/main" id="{2D763E46-DBFC-4D08-8676-45A3AF777252}"/>
              </a:ext>
            </a:extLst>
          </p:cNvPr>
          <p:cNvSpPr>
            <a:spLocks noGrp="1"/>
          </p:cNvSpPr>
          <p:nvPr/>
        </p:nvSpPr>
        <p:spPr>
          <a:xfrm>
            <a:off x="781050" y="4048125"/>
            <a:ext cx="3352800" cy="1352550"/>
          </a:xfrm>
          <a:prstGeom prst="roundRect">
            <a:avLst>
              <a:gd name="adj" fmla="val 9859"/>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252198DC-8C0D-4462-A177-6224D2B69EA6}"/>
              </a:ext>
            </a:extLst>
          </p:cNvPr>
          <p:cNvSpPr>
            <a:spLocks noGrp="1"/>
          </p:cNvSpPr>
          <p:nvPr/>
        </p:nvSpPr>
        <p:spPr>
          <a:xfrm>
            <a:off x="933450"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5F0680D5-5B32-4B12-A0D3-039940F55ACA}"/>
              </a:ext>
            </a:extLst>
          </p:cNvPr>
          <p:cNvSpPr>
            <a:spLocks noGrp="1"/>
          </p:cNvSpPr>
          <p:nvPr/>
        </p:nvSpPr>
        <p:spPr>
          <a:xfrm>
            <a:off x="933450" y="4419600"/>
            <a:ext cx="3048000" cy="7810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Детекција треба да опише образац који је вредан пажње, а не да сваку грешку прогласи инцидентом.</a:t>
            </a:r>
          </a:p>
        </p:txBody>
      </p:sp>
      <p:sp>
        <p:nvSpPr>
          <p:cNvPr id="13" name="Rounded Rectangle 12">
            <a:extLst>
              <a:ext uri="{FF2B5EF4-FFF2-40B4-BE49-F238E27FC236}">
                <a16:creationId xmlns:a16="http://schemas.microsoft.com/office/drawing/2014/main" id="{6DE7EEC0-83B4-4508-B5D8-4E5EF9F75D21}"/>
              </a:ext>
            </a:extLst>
          </p:cNvPr>
          <p:cNvSpPr>
            <a:spLocks noGrp="1"/>
          </p:cNvSpPr>
          <p:nvPr/>
        </p:nvSpPr>
        <p:spPr>
          <a:xfrm>
            <a:off x="4391025" y="4048125"/>
            <a:ext cx="3352800" cy="1352550"/>
          </a:xfrm>
          <a:prstGeom prst="roundRect">
            <a:avLst>
              <a:gd name="adj" fmla="val 9859"/>
            </a:avLst>
          </a:prstGeom>
          <a:solidFill>
            <a:srgbClr val="FFF6E9"/>
          </a:solidFill>
          <a:ln w="9525">
            <a:solidFill>
              <a:srgbClr val="D7DEE8"/>
            </a:solidFill>
            <a:prstDash val="solid"/>
          </a:ln>
        </p:spPr>
      </p:sp>
      <p:sp>
        <p:nvSpPr>
          <p:cNvPr id="14" name="Rectangle 13">
            <a:extLst>
              <a:ext uri="{FF2B5EF4-FFF2-40B4-BE49-F238E27FC236}">
                <a16:creationId xmlns:a16="http://schemas.microsoft.com/office/drawing/2014/main" id="{60306B6E-CE2B-4DED-A7E2-213CA17DE8B6}"/>
              </a:ext>
            </a:extLst>
          </p:cNvPr>
          <p:cNvSpPr>
            <a:spLocks noGrp="1"/>
          </p:cNvSpPr>
          <p:nvPr/>
        </p:nvSpPr>
        <p:spPr>
          <a:xfrm>
            <a:off x="4543425"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5" name="Rectangle 14">
            <a:extLst>
              <a:ext uri="{FF2B5EF4-FFF2-40B4-BE49-F238E27FC236}">
                <a16:creationId xmlns:a16="http://schemas.microsoft.com/office/drawing/2014/main" id="{0CF09F39-0A80-4F95-9500-1902B0E26DE1}"/>
              </a:ext>
            </a:extLst>
          </p:cNvPr>
          <p:cNvSpPr>
            <a:spLocks noGrp="1"/>
          </p:cNvSpPr>
          <p:nvPr/>
        </p:nvSpPr>
        <p:spPr>
          <a:xfrm>
            <a:off x="4543425" y="4419600"/>
            <a:ext cx="3048000" cy="7810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Triage чува одлуку и образложење, укључујући разлог због ког је упозорење затворено.</a:t>
            </a:r>
          </a:p>
        </p:txBody>
      </p:sp>
      <p:sp>
        <p:nvSpPr>
          <p:cNvPr id="16" name="Rounded Rectangle 15">
            <a:extLst>
              <a:ext uri="{FF2B5EF4-FFF2-40B4-BE49-F238E27FC236}">
                <a16:creationId xmlns:a16="http://schemas.microsoft.com/office/drawing/2014/main" id="{8F695BC1-280C-4220-B53F-E91BD82AB8AB}"/>
              </a:ext>
            </a:extLst>
          </p:cNvPr>
          <p:cNvSpPr>
            <a:spLocks noGrp="1"/>
          </p:cNvSpPr>
          <p:nvPr/>
        </p:nvSpPr>
        <p:spPr>
          <a:xfrm>
            <a:off x="8001000" y="4048125"/>
            <a:ext cx="3352800" cy="1352550"/>
          </a:xfrm>
          <a:prstGeom prst="roundRect">
            <a:avLst>
              <a:gd name="adj" fmla="val 9859"/>
            </a:avLst>
          </a:prstGeom>
          <a:solidFill>
            <a:srgbClr val="EDF8F2"/>
          </a:solidFill>
          <a:ln w="9525">
            <a:solidFill>
              <a:srgbClr val="D7DEE8"/>
            </a:solidFill>
            <a:prstDash val="solid"/>
          </a:ln>
        </p:spPr>
      </p:sp>
      <p:sp>
        <p:nvSpPr>
          <p:cNvPr id="17" name="Rectangle 16">
            <a:extLst>
              <a:ext uri="{FF2B5EF4-FFF2-40B4-BE49-F238E27FC236}">
                <a16:creationId xmlns:a16="http://schemas.microsoft.com/office/drawing/2014/main" id="{E560EC49-57CB-49B3-B00E-B033A4390092}"/>
              </a:ext>
            </a:extLst>
          </p:cNvPr>
          <p:cNvSpPr>
            <a:spLocks noGrp="1"/>
          </p:cNvSpPr>
          <p:nvPr/>
        </p:nvSpPr>
        <p:spPr>
          <a:xfrm>
            <a:off x="8153400"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a:ext uri="{FF2B5EF4-FFF2-40B4-BE49-F238E27FC236}">
                <a16:creationId xmlns:a16="http://schemas.microsoft.com/office/drawing/2014/main" id="{F4B0AECF-8893-49A2-A05D-75F158B04635}"/>
              </a:ext>
            </a:extLst>
          </p:cNvPr>
          <p:cNvSpPr>
            <a:spLocks noGrp="1"/>
          </p:cNvSpPr>
          <p:nvPr/>
        </p:nvSpPr>
        <p:spPr>
          <a:xfrm>
            <a:off x="8153400" y="4419600"/>
            <a:ext cx="3048000" cy="781050"/>
          </a:xfrm>
          <a:prstGeom prst="rect">
            <a:avLst/>
          </a:prstGeom>
          <a:noFill/>
          <a:ln w="0">
            <a:noFill/>
          </a:ln>
        </p:spPr>
        <p:txBody>
          <a:bodyPr wrap="square" lIns="0" tIns="0" rIns="0" bIns="0" anchor="ctr">
            <a:normAutofit fontScale="98520"/>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Затварање рањивости тражи доказ да је изложеност уклоњена или прихваћена уз видљив преостали ризик.</a:t>
            </a:r>
          </a:p>
        </p:txBody>
      </p:sp>
    </p:spTree>
    <p:extLst>
      <p:ext uri="{BB962C8B-B14F-4D97-AF65-F5344CB8AC3E}">
        <p14:creationId xmlns:p14="http://schemas.microsoft.com/office/powerpoint/2010/main" val="1078297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A5224326-DDB8-4814-872C-5FACFE29B629}"/>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1C085AD4-2810-48F4-AFE9-FC076A4F15E6}"/>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E6E9C65E-74C5-404D-A6B5-2FE51012D184}"/>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14</a:t>
            </a:r>
          </a:p>
        </p:txBody>
      </p:sp>
      <p:sp>
        <p:nvSpPr>
          <p:cNvPr id="4" name="Rectangle 3">
            <a:extLst>
              <a:ext uri="{FF2B5EF4-FFF2-40B4-BE49-F238E27FC236}">
                <a16:creationId xmlns:a16="http://schemas.microsoft.com/office/drawing/2014/main" id="{56D06B14-EC95-4107-8BD7-50344F02BD46}"/>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Triage додаје контекст пре отварања инцидента</a:t>
            </a:r>
          </a:p>
        </p:txBody>
      </p:sp>
      <p:sp>
        <p:nvSpPr>
          <p:cNvPr id="5" name="Rectangle 4">
            <a:extLst>
              <a:ext uri="{FF2B5EF4-FFF2-40B4-BE49-F238E27FC236}">
                <a16:creationId xmlns:a16="http://schemas.microsoft.com/office/drawing/2014/main" id="{DA11D819-C04F-4404-8660-7FBA1906B7B7}"/>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Код почиње од исте леве ивице као наслов прозора и остаје читљив на пројектору.</a:t>
            </a:r>
          </a:p>
        </p:txBody>
      </p:sp>
      <p:sp>
        <p:nvSpPr>
          <p:cNvPr id="6" name="Rounded Rectangle 5">
            <a:extLst>
              <a:ext uri="{FF2B5EF4-FFF2-40B4-BE49-F238E27FC236}">
                <a16:creationId xmlns:a16="http://schemas.microsoft.com/office/drawing/2014/main" id="{8D1ABE50-0BB2-4751-A75F-F92784EB9515}"/>
              </a:ext>
            </a:extLst>
          </p:cNvPr>
          <p:cNvSpPr>
            <a:spLocks noGrp="1"/>
          </p:cNvSpPr>
          <p:nvPr/>
        </p:nvSpPr>
        <p:spPr>
          <a:xfrm>
            <a:off x="666750" y="2095500"/>
            <a:ext cx="6858000" cy="2152650"/>
          </a:xfrm>
          <a:prstGeom prst="roundRect">
            <a:avLst>
              <a:gd name="adj" fmla="val 4712"/>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4D9E7D0F-F3A2-4137-994C-238C7990C0CF}"/>
              </a:ext>
            </a:extLst>
          </p:cNvPr>
          <p:cNvSpPr>
            <a:spLocks noGrp="1"/>
          </p:cNvSpPr>
          <p:nvPr/>
        </p:nvSpPr>
        <p:spPr>
          <a:xfrm>
            <a:off x="666750" y="2438400"/>
            <a:ext cx="6858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1ACC8B3B-8697-4E78-B4D3-7850FDA6D869}"/>
              </a:ext>
            </a:extLst>
          </p:cNvPr>
          <p:cNvSpPr>
            <a:spLocks noGrp="1"/>
          </p:cNvSpPr>
          <p:nvPr/>
        </p:nvSpPr>
        <p:spPr>
          <a:xfrm>
            <a:off x="6838950" y="221932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9F285679-5EE2-4AB9-A29C-831168441F64}"/>
              </a:ext>
            </a:extLst>
          </p:cNvPr>
          <p:cNvSpPr>
            <a:spLocks noGrp="1"/>
          </p:cNvSpPr>
          <p:nvPr/>
        </p:nvSpPr>
        <p:spPr>
          <a:xfrm>
            <a:off x="7010400" y="221932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2C87E559-52AB-4F71-B411-B5B720B86658}"/>
              </a:ext>
            </a:extLst>
          </p:cNvPr>
          <p:cNvSpPr>
            <a:spLocks noGrp="1"/>
          </p:cNvSpPr>
          <p:nvPr/>
        </p:nvSpPr>
        <p:spPr>
          <a:xfrm>
            <a:off x="7181850" y="221932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233D5125-5EA3-49DC-B85B-5921414768F2}"/>
              </a:ext>
            </a:extLst>
          </p:cNvPr>
          <p:cNvSpPr>
            <a:spLocks noGrp="1"/>
          </p:cNvSpPr>
          <p:nvPr/>
        </p:nvSpPr>
        <p:spPr>
          <a:xfrm>
            <a:off x="781050" y="2571750"/>
            <a:ext cx="304800" cy="3028950"/>
          </a:xfrm>
          <a:prstGeom prst="rect">
            <a:avLst/>
          </a:prstGeom>
          <a:noFill/>
          <a:ln w="0">
            <a:noFill/>
          </a:ln>
        </p:spPr>
        <p:txBody>
          <a:bodyPr wrap="square" lIns="0" tIns="0" rIns="0" bIns="0" anchor="t">
            <a:normAutofit/>
          </a:bodyPr>
          <a:lstStyle/>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p:txBody>
      </p:sp>
      <p:sp>
        <p:nvSpPr>
          <p:cNvPr id="12" name="Rectangle 11">
            <a:extLst>
              <a:ext uri="{FF2B5EF4-FFF2-40B4-BE49-F238E27FC236}">
                <a16:creationId xmlns:a16="http://schemas.microsoft.com/office/drawing/2014/main" id="{227AA43F-CF97-47F6-A0FD-CACEC1B8BDF2}"/>
              </a:ext>
            </a:extLst>
          </p:cNvPr>
          <p:cNvSpPr>
            <a:spLocks noGrp="1"/>
          </p:cNvSpPr>
          <p:nvPr/>
        </p:nvSpPr>
        <p:spPr>
          <a:xfrm>
            <a:off x="1200150" y="2571750"/>
            <a:ext cx="6153150" cy="3028950"/>
          </a:xfrm>
          <a:prstGeom prst="rect">
            <a:avLst/>
          </a:prstGeom>
          <a:noFill/>
          <a:ln w="0">
            <a:noFill/>
          </a:ln>
        </p:spPr>
        <p:txBody>
          <a:bodyPr wrap="square" lIns="0" tIns="0" rIns="0" bIns="0" anchor="t">
            <a:normAutofit/>
          </a:bodyPr>
          <a:lstStyle/>
          <a:p>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0">
                <a:solidFill>
                  <a:srgbClr val="7651D4"/>
                </a:solidFill>
              </a:rPr>
              <a:t>TriageResult</a:t>
            </a:r>
            <a:r>
              <a:rPr b="0">
                <a:solidFill>
                  <a:srgbClr val="263044"/>
                </a:solidFill>
              </a:rPr>
              <a:t> </a:t>
            </a:r>
            <a:r>
              <a:rPr b="0">
                <a:solidFill>
                  <a:srgbClr val="7651D4"/>
                </a:solidFill>
              </a:rPr>
              <a:t>Triage</a:t>
            </a:r>
            <a:r>
              <a:rPr b="0">
                <a:solidFill>
                  <a:srgbClr val="263044"/>
                </a:solidFill>
              </a:rPr>
              <a:t>(</a:t>
            </a:r>
            <a:r>
              <a:rPr b="0">
                <a:solidFill>
                  <a:srgbClr val="7651D4"/>
                </a:solidFill>
              </a:rPr>
              <a:t>Alert</a:t>
            </a:r>
            <a:r>
              <a:rPr b="0">
                <a:solidFill>
                  <a:srgbClr val="263044"/>
                </a:solidFill>
              </a:rPr>
              <a:t> alert, </a:t>
            </a:r>
            <a:r>
              <a:rPr b="0">
                <a:solidFill>
                  <a:srgbClr val="7651D4"/>
                </a:solidFill>
              </a:rPr>
              <a:t>Asset</a:t>
            </a:r>
            <a:r>
              <a:rPr b="0">
                <a:solidFill>
                  <a:srgbClr val="263044"/>
                </a:solidFill>
              </a:rPr>
              <a:t> asset)</a:t>
            </a:r>
          </a:p>
          <a:p>
            <a:pPr>
              <a:buNone/>
              <a:defRPr sz="1050">
                <a:solidFill>
                  <a:srgbClr val="263044"/>
                </a:solidFill>
                <a:latin typeface="Consolas"/>
                <a:ea typeface="Consolas"/>
                <a:cs typeface="Consolas"/>
              </a:defRPr>
            </a:pP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(alerts.</a:t>
            </a:r>
            <a:r>
              <a:rPr b="0">
                <a:solidFill>
                  <a:srgbClr val="7651D4"/>
                </a:solidFill>
              </a:rPr>
              <a:t>IsDuplicate</a:t>
            </a:r>
            <a:r>
              <a:rPr b="0">
                <a:solidFill>
                  <a:srgbClr val="263044"/>
                </a:solidFill>
              </a:rPr>
              <a:t>(alert.</a:t>
            </a:r>
            <a:r>
              <a:rPr b="0">
                <a:solidFill>
                  <a:srgbClr val="7651D4"/>
                </a:solidFill>
              </a:rPr>
              <a:t>Fingerprint</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TriageResult</a:t>
            </a:r>
            <a:r>
              <a:rPr b="0">
                <a:solidFill>
                  <a:srgbClr val="263044"/>
                </a:solidFill>
              </a:rPr>
              <a:t>.</a:t>
            </a:r>
            <a:r>
              <a:rPr b="0">
                <a:solidFill>
                  <a:srgbClr val="7651D4"/>
                </a:solidFill>
              </a:rPr>
              <a:t>MergeWithExisting</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severity = risk.</a:t>
            </a:r>
            <a:r>
              <a:rPr b="0">
                <a:solidFill>
                  <a:srgbClr val="7651D4"/>
                </a:solidFill>
              </a:rPr>
              <a:t>Score</a:t>
            </a:r>
            <a:r>
              <a:rPr b="0">
                <a:solidFill>
                  <a:srgbClr val="263044"/>
                </a:solidFill>
              </a:rPr>
              <a:t>(alert.</a:t>
            </a:r>
            <a:r>
              <a:rPr b="0">
                <a:solidFill>
                  <a:srgbClr val="7651D4"/>
                </a:solidFill>
              </a:rPr>
              <a:t>Signal</a:t>
            </a:r>
            <a:r>
              <a:rPr b="0">
                <a:solidFill>
                  <a:srgbClr val="263044"/>
                </a:solidFill>
              </a:rPr>
              <a:t>, asset.</a:t>
            </a:r>
            <a:r>
              <a:rPr b="0">
                <a:solidFill>
                  <a:srgbClr val="7651D4"/>
                </a:solidFill>
              </a:rPr>
              <a:t>Criticality</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(severity &lt; </a:t>
            </a:r>
            <a:r>
              <a:rPr b="0">
                <a:solidFill>
                  <a:srgbClr val="7651D4"/>
                </a:solidFill>
              </a:rPr>
              <a:t>Threshold</a:t>
            </a:r>
            <a:r>
              <a:rPr b="0">
                <a:solidFill>
                  <a:srgbClr val="263044"/>
                </a:solidFill>
              </a:rPr>
              <a:t>.</a:t>
            </a:r>
            <a:r>
              <a:rPr b="0">
                <a:solidFill>
                  <a:srgbClr val="7651D4"/>
                </a:solidFill>
              </a:rPr>
              <a:t>Medium</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TriageResult</a:t>
            </a:r>
            <a:r>
              <a:rPr b="0">
                <a:solidFill>
                  <a:srgbClr val="263044"/>
                </a:solidFill>
              </a:rPr>
              <a:t>.</a:t>
            </a:r>
            <a:r>
              <a:rPr b="0">
                <a:solidFill>
                  <a:srgbClr val="7651D4"/>
                </a:solidFill>
              </a:rPr>
              <a:t>Close</a:t>
            </a:r>
            <a:r>
              <a:rPr b="0">
                <a:solidFill>
                  <a:srgbClr val="263044"/>
                </a:solidFill>
              </a:rPr>
              <a:t>(</a:t>
            </a:r>
            <a:r>
              <a:rPr b="0">
                <a:solidFill>
                  <a:srgbClr val="B45309"/>
                </a:solidFill>
              </a:rPr>
              <a:t>"below_threshold"</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incidents.</a:t>
            </a:r>
            <a:r>
              <a:rPr b="0">
                <a:solidFill>
                  <a:srgbClr val="7651D4"/>
                </a:solidFill>
              </a:rPr>
              <a:t>Open</a:t>
            </a:r>
            <a:r>
              <a:rPr b="0">
                <a:solidFill>
                  <a:srgbClr val="263044"/>
                </a:solidFill>
              </a:rPr>
              <a:t>(alert, asset, severity);</a:t>
            </a:r>
          </a:p>
          <a:p>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7C660942-AC74-4F50-907B-16F796A9BAD3}"/>
              </a:ext>
            </a:extLst>
          </p:cNvPr>
          <p:cNvSpPr>
            <a:spLocks noGrp="1"/>
          </p:cNvSpPr>
          <p:nvPr/>
        </p:nvSpPr>
        <p:spPr>
          <a:xfrm>
            <a:off x="7924800" y="2152650"/>
            <a:ext cx="3600450" cy="1809750"/>
          </a:xfrm>
          <a:prstGeom prst="roundRect">
            <a:avLst>
              <a:gd name="adj" fmla="val 7368"/>
            </a:avLst>
          </a:prstGeom>
          <a:solidFill>
            <a:srgbClr val="EEF3FF"/>
          </a:solidFill>
          <a:ln w="9525">
            <a:solidFill>
              <a:srgbClr val="D7DEE8"/>
            </a:solidFill>
            <a:prstDash val="solid"/>
          </a:ln>
        </p:spPr>
      </p:sp>
      <p:sp>
        <p:nvSpPr>
          <p:cNvPr id="14" name="Rectangle 13">
            <a:extLst>
              <a:ext uri="{FF2B5EF4-FFF2-40B4-BE49-F238E27FC236}">
                <a16:creationId xmlns:a16="http://schemas.microsoft.com/office/drawing/2014/main" id="{8DF0015A-D99E-4BF2-89A9-99736F67BAE5}"/>
              </a:ext>
            </a:extLst>
          </p:cNvPr>
          <p:cNvSpPr>
            <a:spLocks noGrp="1"/>
          </p:cNvSpPr>
          <p:nvPr/>
        </p:nvSpPr>
        <p:spPr>
          <a:xfrm>
            <a:off x="8077200" y="22764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ШТА ЈЕ ВАЖНО</a:t>
            </a:r>
          </a:p>
        </p:txBody>
      </p:sp>
      <p:sp>
        <p:nvSpPr>
          <p:cNvPr id="15" name="Rectangle 14">
            <a:extLst>
              <a:ext uri="{FF2B5EF4-FFF2-40B4-BE49-F238E27FC236}">
                <a16:creationId xmlns:a16="http://schemas.microsoft.com/office/drawing/2014/main" id="{09F5D753-43E6-44DB-86A9-DF9A677929CA}"/>
              </a:ext>
            </a:extLst>
          </p:cNvPr>
          <p:cNvSpPr>
            <a:spLocks noGrp="1"/>
          </p:cNvSpPr>
          <p:nvPr/>
        </p:nvSpPr>
        <p:spPr>
          <a:xfrm>
            <a:off x="8077200" y="2524125"/>
            <a:ext cx="3295650" cy="9906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Дупликати, критичност имовине и праг реакције спречавају да сваки сигнал постане нови инцидент.</a:t>
            </a:r>
          </a:p>
        </p:txBody>
      </p:sp>
      <p:sp>
        <p:nvSpPr>
          <p:cNvPr id="16" name="Rounded Rectangle 15">
            <a:extLst>
              <a:ext uri="{FF2B5EF4-FFF2-40B4-BE49-F238E27FC236}">
                <a16:creationId xmlns:a16="http://schemas.microsoft.com/office/drawing/2014/main" id="{2CADAD7A-0755-4103-836F-8EF64579E603}"/>
              </a:ext>
            </a:extLst>
          </p:cNvPr>
          <p:cNvSpPr>
            <a:spLocks noGrp="1"/>
          </p:cNvSpPr>
          <p:nvPr/>
        </p:nvSpPr>
        <p:spPr>
          <a:xfrm>
            <a:off x="7924800" y="4248150"/>
            <a:ext cx="3600450" cy="1428750"/>
          </a:xfrm>
          <a:prstGeom prst="roundRect">
            <a:avLst>
              <a:gd name="adj" fmla="val 9333"/>
            </a:avLst>
          </a:prstGeom>
          <a:solidFill>
            <a:srgbClr val="FFF6E9"/>
          </a:solidFill>
          <a:ln w="9525">
            <a:solidFill>
              <a:srgbClr val="D7DEE8"/>
            </a:solidFill>
            <a:prstDash val="solid"/>
          </a:ln>
        </p:spPr>
      </p:sp>
      <p:sp>
        <p:nvSpPr>
          <p:cNvPr id="17" name="Rectangle 16">
            <a:extLst>
              <a:ext uri="{FF2B5EF4-FFF2-40B4-BE49-F238E27FC236}">
                <a16:creationId xmlns:a16="http://schemas.microsoft.com/office/drawing/2014/main" id="{38BE568B-16D6-4053-8A52-E947586DFBD5}"/>
              </a:ext>
            </a:extLst>
          </p:cNvPr>
          <p:cNvSpPr>
            <a:spLocks noGrp="1"/>
          </p:cNvSpPr>
          <p:nvPr/>
        </p:nvSpPr>
        <p:spPr>
          <a:xfrm>
            <a:off x="8077200" y="43719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ГРАНИЦА</a:t>
            </a:r>
          </a:p>
        </p:txBody>
      </p:sp>
      <p:sp>
        <p:nvSpPr>
          <p:cNvPr id="18" name="Rectangle 17">
            <a:extLst>
              <a:ext uri="{FF2B5EF4-FFF2-40B4-BE49-F238E27FC236}">
                <a16:creationId xmlns:a16="http://schemas.microsoft.com/office/drawing/2014/main" id="{B681E8AC-3D94-4975-A108-6FEB729BDF60}"/>
              </a:ext>
            </a:extLst>
          </p:cNvPr>
          <p:cNvSpPr>
            <a:spLocks noGrp="1"/>
          </p:cNvSpPr>
          <p:nvPr/>
        </p:nvSpPr>
        <p:spPr>
          <a:xfrm>
            <a:off x="8077200" y="4619625"/>
            <a:ext cx="3295650" cy="83820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Одбијање је експлицитан исход са разлогом који се може тестирати и објаснити.</a:t>
            </a:r>
          </a:p>
        </p:txBody>
      </p:sp>
    </p:spTree>
    <p:extLst>
      <p:ext uri="{BB962C8B-B14F-4D97-AF65-F5344CB8AC3E}">
        <p14:creationId xmlns:p14="http://schemas.microsoft.com/office/powerpoint/2010/main" val="16878349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C117725A-5674-47AA-BDFE-A75459094BE4}"/>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9DACF71B-B3AB-4A4A-B13C-D9E3A6329DA2}"/>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468C2EC2-D739-45B0-808C-9C659CF63F78}"/>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15</a:t>
            </a:r>
          </a:p>
        </p:txBody>
      </p:sp>
      <p:sp>
        <p:nvSpPr>
          <p:cNvPr id="4" name="Rectangle 3">
            <a:extLst>
              <a:ext uri="{FF2B5EF4-FFF2-40B4-BE49-F238E27FC236}">
                <a16:creationId xmlns:a16="http://schemas.microsoft.com/office/drawing/2014/main" id="{85213AAD-ED42-4CD4-BB58-9ADD5B8D1EC7}"/>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Поновљени alert не сме да умножи рад</a:t>
            </a:r>
          </a:p>
        </p:txBody>
      </p:sp>
      <p:sp>
        <p:nvSpPr>
          <p:cNvPr id="5" name="Rectangle 4">
            <a:extLst>
              <a:ext uri="{FF2B5EF4-FFF2-40B4-BE49-F238E27FC236}">
                <a16:creationId xmlns:a16="http://schemas.microsoft.com/office/drawing/2014/main" id="{53C323A7-1AF1-40CB-A8DA-2D3114510354}"/>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Негативан тест није споредан случај — он описује где право престаје.</a:t>
            </a:r>
          </a:p>
        </p:txBody>
      </p:sp>
      <p:sp>
        <p:nvSpPr>
          <p:cNvPr id="6" name="Rounded Rectangle 5">
            <a:extLst>
              <a:ext uri="{FF2B5EF4-FFF2-40B4-BE49-F238E27FC236}">
                <a16:creationId xmlns:a16="http://schemas.microsoft.com/office/drawing/2014/main" id="{6082263D-0BC5-4870-AE01-E665DE7A3022}"/>
              </a:ext>
            </a:extLst>
          </p:cNvPr>
          <p:cNvSpPr>
            <a:spLocks noGrp="1"/>
          </p:cNvSpPr>
          <p:nvPr/>
        </p:nvSpPr>
        <p:spPr>
          <a:xfrm>
            <a:off x="666750" y="2095500"/>
            <a:ext cx="6858000" cy="2333625"/>
          </a:xfrm>
          <a:prstGeom prst="roundRect">
            <a:avLst>
              <a:gd name="adj" fmla="val 4712"/>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477719C9-33AB-4BB6-B66D-4E61489A6F84}"/>
              </a:ext>
            </a:extLst>
          </p:cNvPr>
          <p:cNvSpPr>
            <a:spLocks noGrp="1"/>
          </p:cNvSpPr>
          <p:nvPr/>
        </p:nvSpPr>
        <p:spPr>
          <a:xfrm>
            <a:off x="666750" y="2438400"/>
            <a:ext cx="6858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811D6B27-6F88-4276-B9FE-8F18850A9C41}"/>
              </a:ext>
            </a:extLst>
          </p:cNvPr>
          <p:cNvSpPr>
            <a:spLocks noGrp="1"/>
          </p:cNvSpPr>
          <p:nvPr/>
        </p:nvSpPr>
        <p:spPr>
          <a:xfrm>
            <a:off x="6838950" y="221932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942E7E48-BCB9-40FA-A6F3-8A09A791008E}"/>
              </a:ext>
            </a:extLst>
          </p:cNvPr>
          <p:cNvSpPr>
            <a:spLocks noGrp="1"/>
          </p:cNvSpPr>
          <p:nvPr/>
        </p:nvSpPr>
        <p:spPr>
          <a:xfrm>
            <a:off x="7010400" y="221932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6FCCA5BB-ABF6-4FB7-8BA5-C675A9AB49A2}"/>
              </a:ext>
            </a:extLst>
          </p:cNvPr>
          <p:cNvSpPr>
            <a:spLocks noGrp="1"/>
          </p:cNvSpPr>
          <p:nvPr/>
        </p:nvSpPr>
        <p:spPr>
          <a:xfrm>
            <a:off x="7181850" y="221932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9B211C09-02E4-42E5-93C4-AF9BB044AF19}"/>
              </a:ext>
            </a:extLst>
          </p:cNvPr>
          <p:cNvSpPr>
            <a:spLocks noGrp="1"/>
          </p:cNvSpPr>
          <p:nvPr/>
        </p:nvSpPr>
        <p:spPr>
          <a:xfrm>
            <a:off x="781050" y="2571750"/>
            <a:ext cx="304800" cy="3028950"/>
          </a:xfrm>
          <a:prstGeom prst="rect">
            <a:avLst/>
          </a:prstGeom>
          <a:noFill/>
          <a:ln w="0">
            <a:noFill/>
          </a:ln>
        </p:spPr>
        <p:txBody>
          <a:bodyPr wrap="square" lIns="0" tIns="0" rIns="0" bIns="0" anchor="t">
            <a:normAutofit/>
          </a:bodyPr>
          <a:lstStyle/>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p:txBody>
      </p:sp>
      <p:sp>
        <p:nvSpPr>
          <p:cNvPr id="12" name="Rectangle 11">
            <a:extLst>
              <a:ext uri="{FF2B5EF4-FFF2-40B4-BE49-F238E27FC236}">
                <a16:creationId xmlns:a16="http://schemas.microsoft.com/office/drawing/2014/main" id="{C1B45064-61A7-493D-9D7C-ED0BD82E45A3}"/>
              </a:ext>
            </a:extLst>
          </p:cNvPr>
          <p:cNvSpPr>
            <a:spLocks noGrp="1"/>
          </p:cNvSpPr>
          <p:nvPr/>
        </p:nvSpPr>
        <p:spPr>
          <a:xfrm>
            <a:off x="1200150" y="2571750"/>
            <a:ext cx="6153150" cy="3028950"/>
          </a:xfrm>
          <a:prstGeom prst="rect">
            <a:avLst/>
          </a:prstGeom>
          <a:noFill/>
          <a:ln w="0">
            <a:noFill/>
          </a:ln>
        </p:spPr>
        <p:txBody>
          <a:bodyPr wrap="square" lIns="0" tIns="0" rIns="0" bIns="0" anchor="t">
            <a:normAutofit/>
          </a:bodyPr>
          <a:lstStyle/>
          <a:p>
            <a:pPr>
              <a:buNone/>
              <a:defRPr sz="1050">
                <a:solidFill>
                  <a:srgbClr val="263044"/>
                </a:solidFill>
                <a:latin typeface="Consolas"/>
                <a:ea typeface="Consolas"/>
                <a:cs typeface="Consolas"/>
              </a:defRPr>
            </a:pPr>
            <a:r>
              <a:rPr b="0">
                <a:solidFill>
                  <a:srgbClr val="263044"/>
                </a:solidFill>
              </a:rPr>
              <a:t>[</a:t>
            </a:r>
            <a:r>
              <a:rPr b="0">
                <a:solidFill>
                  <a:srgbClr val="7651D4"/>
                </a:solidFill>
              </a:rPr>
              <a:t>Fact</a:t>
            </a:r>
            <a:r>
              <a:rPr b="0">
                <a:solidFill>
                  <a:srgbClr val="263044"/>
                </a:solidFill>
              </a:rPr>
              <a:t>]</a:t>
            </a:r>
          </a:p>
          <a:p>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void</a:t>
            </a:r>
            <a:r>
              <a:rPr b="0">
                <a:solidFill>
                  <a:srgbClr val="263044"/>
                </a:solidFill>
              </a:rPr>
              <a:t> </a:t>
            </a:r>
            <a:r>
              <a:rPr b="0">
                <a:solidFill>
                  <a:srgbClr val="7651D4"/>
                </a:solidFill>
              </a:rPr>
              <a:t>Duplicate_alert_does_not_create_second_incident</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alerts.</a:t>
            </a:r>
            <a:r>
              <a:rPr b="0">
                <a:solidFill>
                  <a:srgbClr val="7651D4"/>
                </a:solidFill>
              </a:rPr>
              <a:t>Store</a:t>
            </a:r>
            <a:r>
              <a:rPr b="0">
                <a:solidFill>
                  <a:srgbClr val="263044"/>
                </a:solidFill>
              </a:rPr>
              <a:t>(</a:t>
            </a:r>
            <a:r>
              <a:rPr b="0">
                <a:solidFill>
                  <a:srgbClr val="7651D4"/>
                </a:solidFill>
              </a:rPr>
              <a:t>Alert</a:t>
            </a:r>
            <a:r>
              <a:rPr b="0">
                <a:solidFill>
                  <a:srgbClr val="263044"/>
                </a:solidFill>
              </a:rPr>
              <a:t>.</a:t>
            </a:r>
            <a:r>
              <a:rPr b="0">
                <a:solidFill>
                  <a:srgbClr val="7651D4"/>
                </a:solidFill>
              </a:rPr>
              <a:t>WithFingerprint</a:t>
            </a:r>
            <a:r>
              <a:rPr b="0">
                <a:solidFill>
                  <a:srgbClr val="263044"/>
                </a:solidFill>
              </a:rPr>
              <a:t>(</a:t>
            </a:r>
            <a:r>
              <a:rPr b="0">
                <a:solidFill>
                  <a:srgbClr val="B45309"/>
                </a:solidFill>
              </a:rPr>
              <a:t>"login-spike:u-3"</a:t>
            </a:r>
            <a:r>
              <a:rPr b="0">
                <a:solidFill>
                  <a:srgbClr val="263044"/>
                </a:solidFill>
              </a:rPr>
              <a:t>));</a:t>
            </a:r>
          </a:p>
          <a:p>
            <a:pPr>
              <a:buNone/>
              <a:defRPr sz="1050">
                <a:solidFill>
                  <a:srgbClr val="263044"/>
                </a:solidFill>
                <a:latin typeface="Consolas"/>
                <a:ea typeface="Consolas"/>
                <a:cs typeface="Consolas"/>
              </a:defRPr>
            </a:pPr>
            <a:endParaRPr b="0">
              <a:solidFill>
                <a:srgbClr val="263044"/>
              </a:solidFill>
            </a:endParaRP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result = triage.</a:t>
            </a:r>
            <a:r>
              <a:rPr b="0">
                <a:solidFill>
                  <a:srgbClr val="7651D4"/>
                </a:solidFill>
              </a:rPr>
              <a:t>Handle</a:t>
            </a:r>
            <a:r>
              <a:rPr b="0">
                <a:solidFill>
                  <a:srgbClr val="263044"/>
                </a:solidFill>
              </a:rPr>
              <a:t>(</a:t>
            </a:r>
            <a:r>
              <a:rPr b="0">
                <a:solidFill>
                  <a:srgbClr val="7651D4"/>
                </a:solidFill>
              </a:rPr>
              <a:t>Alert</a:t>
            </a:r>
            <a:r>
              <a:rPr b="0">
                <a:solidFill>
                  <a:srgbClr val="263044"/>
                </a:solidFill>
              </a:rPr>
              <a:t>.</a:t>
            </a:r>
            <a:r>
              <a:rPr b="0">
                <a:solidFill>
                  <a:srgbClr val="7651D4"/>
                </a:solidFill>
              </a:rPr>
              <a:t>WithFingerprint</a:t>
            </a:r>
            <a:r>
              <a:rPr b="0">
                <a:solidFill>
                  <a:srgbClr val="263044"/>
                </a:solidFill>
              </a:rPr>
              <a:t>(</a:t>
            </a:r>
            <a:r>
              <a:rPr b="0">
                <a:solidFill>
                  <a:srgbClr val="B45309"/>
                </a:solidFill>
              </a:rPr>
              <a:t>"login-spike:u-3"</a:t>
            </a:r>
            <a:r>
              <a:rPr b="0">
                <a:solidFill>
                  <a:srgbClr val="263044"/>
                </a:solidFill>
              </a:rPr>
              <a:t>));</a:t>
            </a:r>
          </a:p>
          <a:p>
            <a:pPr>
              <a:buNone/>
              <a:defRPr sz="1050">
                <a:solidFill>
                  <a:srgbClr val="263044"/>
                </a:solidFill>
                <a:latin typeface="Consolas"/>
                <a:ea typeface="Consolas"/>
                <a:cs typeface="Consolas"/>
              </a:defRPr>
            </a:pPr>
            <a:endParaRPr b="0">
              <a:solidFill>
                <a:srgbClr val="263044"/>
              </a:solidFill>
            </a:endParaRPr>
          </a:p>
          <a:p>
            <a:pPr>
              <a:buNone/>
              <a:defRPr sz="1050">
                <a:solidFill>
                  <a:srgbClr val="263044"/>
                </a:solidFill>
                <a:latin typeface="Consolas"/>
                <a:ea typeface="Consolas"/>
                <a:cs typeface="Consolas"/>
              </a:defRPr>
            </a:pPr>
            <a:r>
              <a:rPr b="0">
                <a:solidFill>
                  <a:srgbClr val="263044"/>
                </a:solidFill>
              </a:rPr>
              <a:t>    result.</a:t>
            </a:r>
            <a:r>
              <a:rPr b="0">
                <a:solidFill>
                  <a:srgbClr val="7651D4"/>
                </a:solidFill>
              </a:rPr>
              <a:t>Action</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45309"/>
                </a:solidFill>
              </a:rPr>
              <a:t>"merge"</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incidents.</a:t>
            </a:r>
            <a:r>
              <a:rPr b="0">
                <a:solidFill>
                  <a:srgbClr val="7651D4"/>
                </a:solidFill>
              </a:rPr>
              <a:t>Created</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86A09"/>
                </a:solidFill>
              </a:rPr>
              <a:t>0</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681DDCFD-FE79-4F01-904B-B3BDC1596360}"/>
              </a:ext>
            </a:extLst>
          </p:cNvPr>
          <p:cNvSpPr>
            <a:spLocks noGrp="1"/>
          </p:cNvSpPr>
          <p:nvPr/>
        </p:nvSpPr>
        <p:spPr>
          <a:xfrm>
            <a:off x="7924800" y="2152650"/>
            <a:ext cx="3600450" cy="1809750"/>
          </a:xfrm>
          <a:prstGeom prst="roundRect">
            <a:avLst>
              <a:gd name="adj" fmla="val 7368"/>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98BFC203-A13D-4CD8-A408-33C48BBFE9D6}"/>
              </a:ext>
            </a:extLst>
          </p:cNvPr>
          <p:cNvSpPr>
            <a:spLocks noGrp="1"/>
          </p:cNvSpPr>
          <p:nvPr/>
        </p:nvSpPr>
        <p:spPr>
          <a:xfrm>
            <a:off x="8077200" y="22764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ДОКАЗ</a:t>
            </a:r>
          </a:p>
        </p:txBody>
      </p:sp>
      <p:sp>
        <p:nvSpPr>
          <p:cNvPr id="15" name="Rectangle 14">
            <a:extLst>
              <a:ext uri="{FF2B5EF4-FFF2-40B4-BE49-F238E27FC236}">
                <a16:creationId xmlns:a16="http://schemas.microsoft.com/office/drawing/2014/main" id="{94A85A0C-C662-47DE-9F49-163ED670EB0F}"/>
              </a:ext>
            </a:extLst>
          </p:cNvPr>
          <p:cNvSpPr>
            <a:spLocks noGrp="1"/>
          </p:cNvSpPr>
          <p:nvPr/>
        </p:nvSpPr>
        <p:spPr>
          <a:xfrm>
            <a:off x="8077200" y="2524125"/>
            <a:ext cx="3295650" cy="10287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Негативан сценарио проверава идемпотентност и чува једну временску линију догађаја.</a:t>
            </a:r>
          </a:p>
        </p:txBody>
      </p:sp>
      <p:sp>
        <p:nvSpPr>
          <p:cNvPr id="16" name="Rounded Rectangle 15">
            <a:extLst>
              <a:ext uri="{FF2B5EF4-FFF2-40B4-BE49-F238E27FC236}">
                <a16:creationId xmlns:a16="http://schemas.microsoft.com/office/drawing/2014/main" id="{D2EA095D-05B7-4D73-AB3D-C44787A80F66}"/>
              </a:ext>
            </a:extLst>
          </p:cNvPr>
          <p:cNvSpPr>
            <a:spLocks noGrp="1"/>
          </p:cNvSpPr>
          <p:nvPr/>
        </p:nvSpPr>
        <p:spPr>
          <a:xfrm>
            <a:off x="7924800" y="4248150"/>
            <a:ext cx="3600450" cy="1428750"/>
          </a:xfrm>
          <a:prstGeom prst="roundRect">
            <a:avLst>
              <a:gd name="adj" fmla="val 9333"/>
            </a:avLst>
          </a:prstGeom>
          <a:solidFill>
            <a:srgbClr val="F5F0FF"/>
          </a:solidFill>
          <a:ln w="9525">
            <a:solidFill>
              <a:srgbClr val="D7DEE8"/>
            </a:solidFill>
            <a:prstDash val="solid"/>
          </a:ln>
        </p:spPr>
      </p:sp>
      <p:sp>
        <p:nvSpPr>
          <p:cNvPr id="17" name="Rectangle 16">
            <a:extLst>
              <a:ext uri="{FF2B5EF4-FFF2-40B4-BE49-F238E27FC236}">
                <a16:creationId xmlns:a16="http://schemas.microsoft.com/office/drawing/2014/main" id="{3DB22125-FB32-42B4-9BDE-F93C9E731C0E}"/>
              </a:ext>
            </a:extLst>
          </p:cNvPr>
          <p:cNvSpPr>
            <a:spLocks noGrp="1"/>
          </p:cNvSpPr>
          <p:nvPr/>
        </p:nvSpPr>
        <p:spPr>
          <a:xfrm>
            <a:off x="8077200" y="43719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ПРОВЕРА</a:t>
            </a:r>
          </a:p>
        </p:txBody>
      </p:sp>
      <p:sp>
        <p:nvSpPr>
          <p:cNvPr id="18" name="Rectangle 17">
            <a:extLst>
              <a:ext uri="{FF2B5EF4-FFF2-40B4-BE49-F238E27FC236}">
                <a16:creationId xmlns:a16="http://schemas.microsoft.com/office/drawing/2014/main" id="{A3176393-86AB-4FAA-ACDE-8371725C81DF}"/>
              </a:ext>
            </a:extLst>
          </p:cNvPr>
          <p:cNvSpPr>
            <a:spLocks noGrp="1"/>
          </p:cNvSpPr>
          <p:nvPr/>
        </p:nvSpPr>
        <p:spPr>
          <a:xfrm>
            <a:off x="8077200" y="4619625"/>
            <a:ext cx="3295650" cy="83820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Промените једну чињеницу и очекујте јасан, стабилан разлог одбијања.</a:t>
            </a:r>
          </a:p>
        </p:txBody>
      </p:sp>
    </p:spTree>
    <p:extLst>
      <p:ext uri="{BB962C8B-B14F-4D97-AF65-F5344CB8AC3E}">
        <p14:creationId xmlns:p14="http://schemas.microsoft.com/office/powerpoint/2010/main" val="13222530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8798B91A-4356-4C12-BD24-5DFF447065F5}"/>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E4DC5866-D20E-401E-9FA9-9FFDC25391A5}"/>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5E2A542F-BD4D-4F17-9BF7-E015A70106D9}"/>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16</a:t>
            </a:r>
          </a:p>
        </p:txBody>
      </p:sp>
      <p:sp>
        <p:nvSpPr>
          <p:cNvPr id="4" name="Rectangle 3">
            <a:extLst>
              <a:ext uri="{FF2B5EF4-FFF2-40B4-BE49-F238E27FC236}">
                <a16:creationId xmlns:a16="http://schemas.microsoft.com/office/drawing/2014/main" id="{F140D1E1-BFD2-4537-9934-350A039020E9}"/>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Доказ мора да одговори шта се догодило</a:t>
            </a:r>
          </a:p>
        </p:txBody>
      </p:sp>
      <p:sp>
        <p:nvSpPr>
          <p:cNvPr id="5" name="Rectangle 4">
            <a:extLst>
              <a:ext uri="{FF2B5EF4-FFF2-40B4-BE49-F238E27FC236}">
                <a16:creationId xmlns:a16="http://schemas.microsoft.com/office/drawing/2014/main" id="{0982EA11-AA43-4890-94D4-26EAD39DE0E5}"/>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Чува се довољно контекста за реконструкцију, али не и тајне или непотребни лични подаци.</a:t>
            </a:r>
          </a:p>
        </p:txBody>
      </p:sp>
      <p:sp>
        <p:nvSpPr>
          <p:cNvPr id="6" name="Rounded Rectangle 5">
            <a:extLst>
              <a:ext uri="{FF2B5EF4-FFF2-40B4-BE49-F238E27FC236}">
                <a16:creationId xmlns:a16="http://schemas.microsoft.com/office/drawing/2014/main" id="{EC7C42B3-858D-446C-929D-BDF43B4402F6}"/>
              </a:ext>
            </a:extLst>
          </p:cNvPr>
          <p:cNvSpPr>
            <a:spLocks noGrp="1"/>
          </p:cNvSpPr>
          <p:nvPr/>
        </p:nvSpPr>
        <p:spPr>
          <a:xfrm>
            <a:off x="857250" y="2152650"/>
            <a:ext cx="5334000" cy="2085975"/>
          </a:xfrm>
          <a:prstGeom prst="roundRect">
            <a:avLst>
              <a:gd name="adj" fmla="val 5455"/>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21BA07E4-E6FC-4E46-9BB8-4EC54AB14146}"/>
              </a:ext>
            </a:extLst>
          </p:cNvPr>
          <p:cNvSpPr>
            <a:spLocks noGrp="1"/>
          </p:cNvSpPr>
          <p:nvPr/>
        </p:nvSpPr>
        <p:spPr>
          <a:xfrm>
            <a:off x="857250" y="2495550"/>
            <a:ext cx="5334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39E76A02-F826-4700-9B56-26CCDB19811B}"/>
              </a:ext>
            </a:extLst>
          </p:cNvPr>
          <p:cNvSpPr>
            <a:spLocks noGrp="1"/>
          </p:cNvSpPr>
          <p:nvPr/>
        </p:nvSpPr>
        <p:spPr>
          <a:xfrm>
            <a:off x="5505450" y="227647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92D66805-F0C5-41BE-AB2A-4725C4C89283}"/>
              </a:ext>
            </a:extLst>
          </p:cNvPr>
          <p:cNvSpPr>
            <a:spLocks noGrp="1"/>
          </p:cNvSpPr>
          <p:nvPr/>
        </p:nvSpPr>
        <p:spPr>
          <a:xfrm>
            <a:off x="5676900" y="227647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FAC45417-88C6-4501-B618-5F9470CB9FFD}"/>
              </a:ext>
            </a:extLst>
          </p:cNvPr>
          <p:cNvSpPr>
            <a:spLocks noGrp="1"/>
          </p:cNvSpPr>
          <p:nvPr/>
        </p:nvSpPr>
        <p:spPr>
          <a:xfrm>
            <a:off x="5848350" y="227647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887D7018-58C1-48FF-BD49-3EC17C32F85B}"/>
              </a:ext>
            </a:extLst>
          </p:cNvPr>
          <p:cNvSpPr>
            <a:spLocks noGrp="1"/>
          </p:cNvSpPr>
          <p:nvPr/>
        </p:nvSpPr>
        <p:spPr>
          <a:xfrm>
            <a:off x="971550" y="2628900"/>
            <a:ext cx="304800" cy="2533650"/>
          </a:xfrm>
          <a:prstGeom prst="rect">
            <a:avLst/>
          </a:prstGeom>
          <a:noFill/>
          <a:ln w="0">
            <a:noFill/>
          </a:ln>
        </p:spPr>
        <p:txBody>
          <a:bodyPr wrap="square" lIns="0" tIns="0" rIns="0" bIns="0" anchor="t">
            <a:normAutofit/>
          </a:bodyPr>
          <a:lstStyle/>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1</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2</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3</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4</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5</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6</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7</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8</a:t>
            </a:r>
          </a:p>
        </p:txBody>
      </p:sp>
      <p:sp>
        <p:nvSpPr>
          <p:cNvPr id="12" name="Rectangle 11">
            <a:extLst>
              <a:ext uri="{FF2B5EF4-FFF2-40B4-BE49-F238E27FC236}">
                <a16:creationId xmlns:a16="http://schemas.microsoft.com/office/drawing/2014/main" id="{4281D5A9-7DC0-42A4-B8A2-723499440E1E}"/>
              </a:ext>
            </a:extLst>
          </p:cNvPr>
          <p:cNvSpPr>
            <a:spLocks noGrp="1"/>
          </p:cNvSpPr>
          <p:nvPr/>
        </p:nvSpPr>
        <p:spPr>
          <a:xfrm>
            <a:off x="1390650" y="2628900"/>
            <a:ext cx="4629150" cy="2533650"/>
          </a:xfrm>
          <a:prstGeom prst="rect">
            <a:avLst/>
          </a:prstGeom>
          <a:noFill/>
          <a:ln w="0">
            <a:noFill/>
          </a:ln>
        </p:spPr>
        <p:txBody>
          <a:bodyPr wrap="square" lIns="0" tIns="0" rIns="0" bIns="0" anchor="t">
            <a:normAutofit/>
          </a:bodyPr>
          <a:lstStyle/>
          <a:p>
            <a:pPr>
              <a:buNone/>
              <a:defRPr sz="1125">
                <a:solidFill>
                  <a:srgbClr val="263044"/>
                </a:solidFill>
                <a:latin typeface="Consolas"/>
                <a:ea typeface="Consolas"/>
                <a:cs typeface="Consolas"/>
              </a:defRPr>
            </a:pP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"signal"</a:t>
            </a:r>
            <a:r>
              <a:rPr b="0">
                <a:solidFill>
                  <a:srgbClr val="263044"/>
                </a:solidFill>
              </a:rPr>
              <a:t>: </a:t>
            </a:r>
            <a:r>
              <a:rPr b="0">
                <a:solidFill>
                  <a:srgbClr val="B45309"/>
                </a:solidFill>
              </a:rPr>
              <a:t>"login_failure_spike"</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"asset"</a:t>
            </a:r>
            <a:r>
              <a:rPr b="0">
                <a:solidFill>
                  <a:srgbClr val="263044"/>
                </a:solidFill>
              </a:rPr>
              <a:t>: </a:t>
            </a:r>
            <a:r>
              <a:rPr b="0">
                <a:solidFill>
                  <a:srgbClr val="B45309"/>
                </a:solidFill>
              </a:rPr>
              <a:t>"admin-portal"</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"severity"</a:t>
            </a:r>
            <a:r>
              <a:rPr b="0">
                <a:solidFill>
                  <a:srgbClr val="263044"/>
                </a:solidFill>
              </a:rPr>
              <a:t>: </a:t>
            </a:r>
            <a:r>
              <a:rPr b="0">
                <a:solidFill>
                  <a:srgbClr val="B45309"/>
                </a:solidFill>
              </a:rPr>
              <a:t>"high"</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"owner"</a:t>
            </a:r>
            <a:r>
              <a:rPr b="0">
                <a:solidFill>
                  <a:srgbClr val="263044"/>
                </a:solidFill>
              </a:rPr>
              <a:t>: </a:t>
            </a:r>
            <a:r>
              <a:rPr b="0">
                <a:solidFill>
                  <a:srgbClr val="B45309"/>
                </a:solidFill>
              </a:rPr>
              <a:t>"security-on-call"</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"status"</a:t>
            </a:r>
            <a:r>
              <a:rPr b="0">
                <a:solidFill>
                  <a:srgbClr val="263044"/>
                </a:solidFill>
              </a:rPr>
              <a:t>: </a:t>
            </a:r>
            <a:r>
              <a:rPr b="0">
                <a:solidFill>
                  <a:srgbClr val="B45309"/>
                </a:solidFill>
              </a:rPr>
              <a:t>"investigating"</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"correlationId"</a:t>
            </a:r>
            <a:r>
              <a:rPr b="0">
                <a:solidFill>
                  <a:srgbClr val="263044"/>
                </a:solidFill>
              </a:rPr>
              <a:t>: </a:t>
            </a:r>
            <a:r>
              <a:rPr b="0">
                <a:solidFill>
                  <a:srgbClr val="B45309"/>
                </a:solidFill>
              </a:rPr>
              <a:t>"inc-2026-041"</a:t>
            </a:r>
          </a:p>
          <a:p>
            <a:pPr>
              <a:buNone/>
              <a:defRPr sz="1125">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3AD6D43D-F7BA-44E5-8083-3D8E26A5A589}"/>
              </a:ext>
            </a:extLst>
          </p:cNvPr>
          <p:cNvSpPr>
            <a:spLocks noGrp="1"/>
          </p:cNvSpPr>
          <p:nvPr/>
        </p:nvSpPr>
        <p:spPr>
          <a:xfrm>
            <a:off x="6648450" y="2152650"/>
            <a:ext cx="4591050" cy="1352550"/>
          </a:xfrm>
          <a:prstGeom prst="roundRect">
            <a:avLst>
              <a:gd name="adj" fmla="val 9859"/>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586F48E8-FBBA-404C-B265-FB0B079F5EAD}"/>
              </a:ext>
            </a:extLst>
          </p:cNvPr>
          <p:cNvSpPr>
            <a:spLocks noGrp="1"/>
          </p:cNvSpPr>
          <p:nvPr/>
        </p:nvSpPr>
        <p:spPr>
          <a:xfrm>
            <a:off x="6800850" y="2276475"/>
            <a:ext cx="4286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ДОВОЉНО</a:t>
            </a:r>
          </a:p>
        </p:txBody>
      </p:sp>
      <p:sp>
        <p:nvSpPr>
          <p:cNvPr id="15" name="Rectangle 14">
            <a:extLst>
              <a:ext uri="{FF2B5EF4-FFF2-40B4-BE49-F238E27FC236}">
                <a16:creationId xmlns:a16="http://schemas.microsoft.com/office/drawing/2014/main" id="{D54F7099-4D11-40A7-ABCD-A48472634867}"/>
              </a:ext>
            </a:extLst>
          </p:cNvPr>
          <p:cNvSpPr>
            <a:spLocks noGrp="1"/>
          </p:cNvSpPr>
          <p:nvPr/>
        </p:nvSpPr>
        <p:spPr>
          <a:xfrm>
            <a:off x="6800850" y="2524125"/>
            <a:ext cx="4286250" cy="342900"/>
          </a:xfrm>
          <a:prstGeom prst="rect">
            <a:avLst/>
          </a:prstGeom>
          <a:noFill/>
          <a:ln w="0">
            <a:noFill/>
          </a:ln>
        </p:spPr>
        <p:txBody>
          <a:bodyPr wrap="square" lIns="0" tIns="0" rIns="0" bIns="0" anchor="ctr">
            <a:normAutofit/>
          </a:bodyPr>
          <a:lstStyle/>
          <a:p>
            <a:pPr algn="l">
              <a:lnSpc>
                <a:spcPct val="102000"/>
              </a:lnSpc>
              <a:buNone/>
              <a:defRPr sz="1425" b="1">
                <a:solidFill>
                  <a:srgbClr val="1A202C"/>
                </a:solidFill>
                <a:latin typeface="Aptos"/>
                <a:ea typeface="Aptos"/>
                <a:cs typeface="Aptos"/>
              </a:defRPr>
            </a:pPr>
            <a:r>
              <a:rPr sz="1425" b="1">
                <a:solidFill>
                  <a:srgbClr val="1A202C"/>
                </a:solidFill>
                <a:latin typeface="Aptos"/>
                <a:ea typeface="Aptos"/>
                <a:cs typeface="Aptos"/>
              </a:rPr>
              <a:t>Актер, радња, циљ, исход и разлог</a:t>
            </a:r>
          </a:p>
        </p:txBody>
      </p:sp>
      <p:sp>
        <p:nvSpPr>
          <p:cNvPr id="16" name="Rectangle 15">
            <a:extLst>
              <a:ext uri="{FF2B5EF4-FFF2-40B4-BE49-F238E27FC236}">
                <a16:creationId xmlns:a16="http://schemas.microsoft.com/office/drawing/2014/main" id="{710C993A-3476-4108-9194-4667FA56EEF1}"/>
              </a:ext>
            </a:extLst>
          </p:cNvPr>
          <p:cNvSpPr>
            <a:spLocks noGrp="1"/>
          </p:cNvSpPr>
          <p:nvPr/>
        </p:nvSpPr>
        <p:spPr>
          <a:xfrm>
            <a:off x="6800850" y="2933700"/>
            <a:ext cx="4286250" cy="4667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Временска ознака и correlation ID повезују траг са остатком тока.</a:t>
            </a:r>
          </a:p>
        </p:txBody>
      </p:sp>
      <p:sp>
        <p:nvSpPr>
          <p:cNvPr id="17" name="Rounded Rectangle 16">
            <a:extLst>
              <a:ext uri="{FF2B5EF4-FFF2-40B4-BE49-F238E27FC236}">
                <a16:creationId xmlns:a16="http://schemas.microsoft.com/office/drawing/2014/main" id="{05B38C35-91F2-4CC2-9DD7-4B8BA33DB2A0}"/>
              </a:ext>
            </a:extLst>
          </p:cNvPr>
          <p:cNvSpPr>
            <a:spLocks noGrp="1"/>
          </p:cNvSpPr>
          <p:nvPr/>
        </p:nvSpPr>
        <p:spPr>
          <a:xfrm>
            <a:off x="6648450" y="3867150"/>
            <a:ext cx="4591050" cy="1428750"/>
          </a:xfrm>
          <a:prstGeom prst="roundRect">
            <a:avLst>
              <a:gd name="adj" fmla="val 9333"/>
            </a:avLst>
          </a:prstGeom>
          <a:solidFill>
            <a:srgbClr val="FFF0F0"/>
          </a:solidFill>
          <a:ln w="9525">
            <a:solidFill>
              <a:srgbClr val="D7DEE8"/>
            </a:solidFill>
            <a:prstDash val="solid"/>
          </a:ln>
        </p:spPr>
      </p:sp>
      <p:sp>
        <p:nvSpPr>
          <p:cNvPr id="18" name="Rectangle 17">
            <a:extLst>
              <a:ext uri="{FF2B5EF4-FFF2-40B4-BE49-F238E27FC236}">
                <a16:creationId xmlns:a16="http://schemas.microsoft.com/office/drawing/2014/main" id="{B0226510-CF8F-474E-83A1-01FE00968B04}"/>
              </a:ext>
            </a:extLst>
          </p:cNvPr>
          <p:cNvSpPr>
            <a:spLocks noGrp="1"/>
          </p:cNvSpPr>
          <p:nvPr/>
        </p:nvSpPr>
        <p:spPr>
          <a:xfrm>
            <a:off x="6800850" y="3990975"/>
            <a:ext cx="42862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НЕ ПРИПАДА У ДОКАЗ</a:t>
            </a:r>
          </a:p>
        </p:txBody>
      </p:sp>
      <p:sp>
        <p:nvSpPr>
          <p:cNvPr id="19" name="Rectangle 18">
            <a:extLst>
              <a:ext uri="{FF2B5EF4-FFF2-40B4-BE49-F238E27FC236}">
                <a16:creationId xmlns:a16="http://schemas.microsoft.com/office/drawing/2014/main" id="{42B80916-335C-4B84-A483-5809E8C1940A}"/>
              </a:ext>
            </a:extLst>
          </p:cNvPr>
          <p:cNvSpPr>
            <a:spLocks noGrp="1"/>
          </p:cNvSpPr>
          <p:nvPr/>
        </p:nvSpPr>
        <p:spPr>
          <a:xfrm>
            <a:off x="6800850" y="4238625"/>
            <a:ext cx="4286250" cy="3429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Лозинка, token, тајна и сувишан садржај</a:t>
            </a:r>
          </a:p>
        </p:txBody>
      </p:sp>
      <p:sp>
        <p:nvSpPr>
          <p:cNvPr id="20" name="Rectangle 19">
            <a:extLst>
              <a:ext uri="{FF2B5EF4-FFF2-40B4-BE49-F238E27FC236}">
                <a16:creationId xmlns:a16="http://schemas.microsoft.com/office/drawing/2014/main" id="{7D473B31-2255-415A-9A6D-803BC543B545}"/>
              </a:ext>
            </a:extLst>
          </p:cNvPr>
          <p:cNvSpPr>
            <a:spLocks noGrp="1"/>
          </p:cNvSpPr>
          <p:nvPr/>
        </p:nvSpPr>
        <p:spPr>
          <a:xfrm>
            <a:off x="6800850" y="4648200"/>
            <a:ext cx="4286250" cy="5429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Траг не сме да постане нови извор цурења или збирка непотребних података.</a:t>
            </a:r>
          </a:p>
        </p:txBody>
      </p:sp>
    </p:spTree>
    <p:extLst>
      <p:ext uri="{BB962C8B-B14F-4D97-AF65-F5344CB8AC3E}">
        <p14:creationId xmlns:p14="http://schemas.microsoft.com/office/powerpoint/2010/main" val="4078924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15535BDE-5E35-4941-AEB3-57ECD62295EA}"/>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73EDCB2E-B9E6-4DA3-B129-3296B4F40135}"/>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C4CD5921-FA65-4178-9F7D-43223D5AB1F1}"/>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17</a:t>
            </a:r>
          </a:p>
        </p:txBody>
      </p:sp>
      <p:sp>
        <p:nvSpPr>
          <p:cNvPr id="4" name="Rectangle 3">
            <a:extLst>
              <a:ext uri="{FF2B5EF4-FFF2-40B4-BE49-F238E27FC236}">
                <a16:creationId xmlns:a16="http://schemas.microsoft.com/office/drawing/2014/main" id="{14B22A9C-23DF-48A1-8194-FEC1A1F78263}"/>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Три грешке које треба препознати одмах</a:t>
            </a:r>
          </a:p>
        </p:txBody>
      </p:sp>
      <p:sp>
        <p:nvSpPr>
          <p:cNvPr id="5" name="Rectangle 4">
            <a:extLst>
              <a:ext uri="{FF2B5EF4-FFF2-40B4-BE49-F238E27FC236}">
                <a16:creationId xmlns:a16="http://schemas.microsoft.com/office/drawing/2014/main" id="{1209FD8F-ADA0-4256-8C7F-AF06A2DCA59E}"/>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Свака делује практично у првој итерацији, али касније постаје скривена безбедносна граница.</a:t>
            </a:r>
          </a:p>
        </p:txBody>
      </p:sp>
      <p:sp>
        <p:nvSpPr>
          <p:cNvPr id="6" name="Rounded Rectangle 5">
            <a:extLst>
              <a:ext uri="{FF2B5EF4-FFF2-40B4-BE49-F238E27FC236}">
                <a16:creationId xmlns:a16="http://schemas.microsoft.com/office/drawing/2014/main" id="{ECA9883E-7D8F-41DF-A7D7-B1B7D59228C0}"/>
              </a:ext>
            </a:extLst>
          </p:cNvPr>
          <p:cNvSpPr>
            <a:spLocks noGrp="1"/>
          </p:cNvSpPr>
          <p:nvPr/>
        </p:nvSpPr>
        <p:spPr>
          <a:xfrm>
            <a:off x="819150" y="2381250"/>
            <a:ext cx="3257550" cy="2381250"/>
          </a:xfrm>
          <a:prstGeom prst="roundRect">
            <a:avLst>
              <a:gd name="adj" fmla="val 5600"/>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2D5AA207-EECE-4975-B102-2A94249AA021}"/>
              </a:ext>
            </a:extLst>
          </p:cNvPr>
          <p:cNvSpPr>
            <a:spLocks noGrp="1"/>
          </p:cNvSpPr>
          <p:nvPr/>
        </p:nvSpPr>
        <p:spPr>
          <a:xfrm>
            <a:off x="971550"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01</a:t>
            </a:r>
          </a:p>
        </p:txBody>
      </p:sp>
      <p:sp>
        <p:nvSpPr>
          <p:cNvPr id="8" name="Rectangle 7">
            <a:extLst>
              <a:ext uri="{FF2B5EF4-FFF2-40B4-BE49-F238E27FC236}">
                <a16:creationId xmlns:a16="http://schemas.microsoft.com/office/drawing/2014/main" id="{3CA6C909-4D4C-432A-99FF-467BEC9C389A}"/>
              </a:ext>
            </a:extLst>
          </p:cNvPr>
          <p:cNvSpPr>
            <a:spLocks noGrp="1"/>
          </p:cNvSpPr>
          <p:nvPr/>
        </p:nvSpPr>
        <p:spPr>
          <a:xfrm>
            <a:off x="971550"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Упозорење без власника и правила за triage.</a:t>
            </a:r>
          </a:p>
        </p:txBody>
      </p:sp>
      <p:sp>
        <p:nvSpPr>
          <p:cNvPr id="9" name="Rectangle 8">
            <a:extLst>
              <a:ext uri="{FF2B5EF4-FFF2-40B4-BE49-F238E27FC236}">
                <a16:creationId xmlns:a16="http://schemas.microsoft.com/office/drawing/2014/main" id="{DBBB8351-BFC5-4D3D-B098-BACE663CB695}"/>
              </a:ext>
            </a:extLst>
          </p:cNvPr>
          <p:cNvSpPr>
            <a:spLocks noGrp="1"/>
          </p:cNvSpPr>
          <p:nvPr/>
        </p:nvSpPr>
        <p:spPr>
          <a:xfrm>
            <a:off x="971550"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Нема јасног власника одлуке.</a:t>
            </a:r>
          </a:p>
        </p:txBody>
      </p:sp>
      <p:sp>
        <p:nvSpPr>
          <p:cNvPr id="10" name="Rounded Rectangle 9">
            <a:extLst>
              <a:ext uri="{FF2B5EF4-FFF2-40B4-BE49-F238E27FC236}">
                <a16:creationId xmlns:a16="http://schemas.microsoft.com/office/drawing/2014/main" id="{0304553E-A6FF-4268-814A-E733433E9F00}"/>
              </a:ext>
            </a:extLst>
          </p:cNvPr>
          <p:cNvSpPr>
            <a:spLocks noGrp="1"/>
          </p:cNvSpPr>
          <p:nvPr/>
        </p:nvSpPr>
        <p:spPr>
          <a:xfrm>
            <a:off x="4467225" y="2381250"/>
            <a:ext cx="3257550" cy="2381250"/>
          </a:xfrm>
          <a:prstGeom prst="roundRect">
            <a:avLst>
              <a:gd name="adj" fmla="val 5600"/>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6148FF0F-3583-4104-BF3F-3DC5DE3E6BC9}"/>
              </a:ext>
            </a:extLst>
          </p:cNvPr>
          <p:cNvSpPr>
            <a:spLocks noGrp="1"/>
          </p:cNvSpPr>
          <p:nvPr/>
        </p:nvSpPr>
        <p:spPr>
          <a:xfrm>
            <a:off x="4619625"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a:ext uri="{FF2B5EF4-FFF2-40B4-BE49-F238E27FC236}">
                <a16:creationId xmlns:a16="http://schemas.microsoft.com/office/drawing/2014/main" id="{C77760C4-4626-47B1-A6AE-F95BA6A5047C}"/>
              </a:ext>
            </a:extLst>
          </p:cNvPr>
          <p:cNvSpPr>
            <a:spLocks noGrp="1"/>
          </p:cNvSpPr>
          <p:nvPr/>
        </p:nvSpPr>
        <p:spPr>
          <a:xfrm>
            <a:off x="4619625"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Аутоматско затварање без доказа о решавању узрока.</a:t>
            </a:r>
          </a:p>
        </p:txBody>
      </p:sp>
      <p:sp>
        <p:nvSpPr>
          <p:cNvPr id="13" name="Rectangle 12">
            <a:extLst>
              <a:ext uri="{FF2B5EF4-FFF2-40B4-BE49-F238E27FC236}">
                <a16:creationId xmlns:a16="http://schemas.microsoft.com/office/drawing/2014/main" id="{89EAE0EE-2FEA-4EB4-ADFB-19E442DC0ABD}"/>
              </a:ext>
            </a:extLst>
          </p:cNvPr>
          <p:cNvSpPr>
            <a:spLocks noGrp="1"/>
          </p:cNvSpPr>
          <p:nvPr/>
        </p:nvSpPr>
        <p:spPr>
          <a:xfrm>
            <a:off x="4619625"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 постоји негативан сценарио.</a:t>
            </a:r>
          </a:p>
        </p:txBody>
      </p:sp>
      <p:sp>
        <p:nvSpPr>
          <p:cNvPr id="14" name="Rounded Rectangle 13">
            <a:extLst>
              <a:ext uri="{FF2B5EF4-FFF2-40B4-BE49-F238E27FC236}">
                <a16:creationId xmlns:a16="http://schemas.microsoft.com/office/drawing/2014/main" id="{F8489FE2-A236-4B0E-8B82-4BF15E2A32C3}"/>
              </a:ext>
            </a:extLst>
          </p:cNvPr>
          <p:cNvSpPr>
            <a:spLocks noGrp="1"/>
          </p:cNvSpPr>
          <p:nvPr/>
        </p:nvSpPr>
        <p:spPr>
          <a:xfrm>
            <a:off x="8115300" y="2381250"/>
            <a:ext cx="3257550" cy="2381250"/>
          </a:xfrm>
          <a:prstGeom prst="roundRect">
            <a:avLst>
              <a:gd name="adj" fmla="val 5600"/>
            </a:avLst>
          </a:prstGeom>
          <a:solidFill>
            <a:srgbClr val="F5F0FF"/>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A67083DA-72E6-4227-9129-03FFC21D731D}"/>
              </a:ext>
            </a:extLst>
          </p:cNvPr>
          <p:cNvSpPr>
            <a:spLocks noGrp="1"/>
          </p:cNvSpPr>
          <p:nvPr/>
        </p:nvSpPr>
        <p:spPr>
          <a:xfrm>
            <a:off x="8267700"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03</a:t>
            </a:r>
          </a:p>
        </p:txBody>
      </p:sp>
      <p:sp>
        <p:nvSpPr>
          <p:cNvPr id="16" name="Rectangle 15">
            <a:extLst>
              <a:ext uri="{FF2B5EF4-FFF2-40B4-BE49-F238E27FC236}">
                <a16:creationId xmlns:a16="http://schemas.microsoft.com/office/drawing/2014/main" id="{6A1B7511-48CB-4F97-8C59-572262D38996}"/>
              </a:ext>
            </a:extLst>
          </p:cNvPr>
          <p:cNvSpPr>
            <a:spLocks noGrp="1"/>
          </p:cNvSpPr>
          <p:nvPr/>
        </p:nvSpPr>
        <p:spPr>
          <a:xfrm>
            <a:off x="8267700"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Скенирање зависности без одлуке како се налаз процењује и прати.</a:t>
            </a:r>
          </a:p>
        </p:txBody>
      </p:sp>
      <p:sp>
        <p:nvSpPr>
          <p:cNvPr id="17" name="Rectangle 16">
            <a:extLst>
              <a:ext uri="{FF2B5EF4-FFF2-40B4-BE49-F238E27FC236}">
                <a16:creationId xmlns:a16="http://schemas.microsoft.com/office/drawing/2014/main" id="{F0955981-6F2A-4B4A-8070-9A85B798DD77}"/>
              </a:ext>
            </a:extLst>
          </p:cNvPr>
          <p:cNvSpPr>
            <a:spLocks noGrp="1"/>
          </p:cNvSpPr>
          <p:nvPr/>
        </p:nvSpPr>
        <p:spPr>
          <a:xfrm>
            <a:off x="8267700"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Доказ не показује стварни исход.</a:t>
            </a:r>
          </a:p>
        </p:txBody>
      </p:sp>
    </p:spTree>
    <p:extLst>
      <p:ext uri="{BB962C8B-B14F-4D97-AF65-F5344CB8AC3E}">
        <p14:creationId xmlns:p14="http://schemas.microsoft.com/office/powerpoint/2010/main" val="1947978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CEA2A8F9-8554-4CEC-8850-DD04EC1ACFFF}"/>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F1004F2A-86AB-4F80-985E-0908C297BEDA}"/>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DE6C8CCD-06FD-4899-867C-57BB390E0891}"/>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18</a:t>
            </a:r>
          </a:p>
        </p:txBody>
      </p:sp>
      <p:sp>
        <p:nvSpPr>
          <p:cNvPr id="4" name="Rectangle 3">
            <a:extLst>
              <a:ext uri="{FF2B5EF4-FFF2-40B4-BE49-F238E27FC236}">
                <a16:creationId xmlns:a16="http://schemas.microsoft.com/office/drawing/2014/main" id="{EF5CB47E-4CE1-4BFB-8B38-B7380554AD6B}"/>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Учење након догађаја</a:t>
            </a:r>
          </a:p>
        </p:txBody>
      </p:sp>
      <p:sp>
        <p:nvSpPr>
          <p:cNvPr id="5" name="Rectangle 4">
            <a:extLst>
              <a:ext uri="{FF2B5EF4-FFF2-40B4-BE49-F238E27FC236}">
                <a16:creationId xmlns:a16="http://schemas.microsoft.com/office/drawing/2014/main" id="{FAC3C90F-9FF9-4851-9FF8-509BDABDE046}"/>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Добар доказ је свеж, поновљив и довољно јасан да га други члан тима протумачи.</a:t>
            </a:r>
          </a:p>
        </p:txBody>
      </p:sp>
      <p:sp>
        <p:nvSpPr>
          <p:cNvPr id="6" name="Rounded Rectangle 5">
            <a:extLst>
              <a:ext uri="{FF2B5EF4-FFF2-40B4-BE49-F238E27FC236}">
                <a16:creationId xmlns:a16="http://schemas.microsoft.com/office/drawing/2014/main" id="{2D341EE8-F129-45C9-AD3C-F8B3F845E136}"/>
              </a:ext>
            </a:extLst>
          </p:cNvPr>
          <p:cNvSpPr>
            <a:spLocks noGrp="1"/>
          </p:cNvSpPr>
          <p:nvPr/>
        </p:nvSpPr>
        <p:spPr>
          <a:xfrm>
            <a:off x="781050" y="2152650"/>
            <a:ext cx="4476750" cy="2451248"/>
          </a:xfrm>
          <a:prstGeom prst="roundRect">
            <a:avLst>
              <a:gd name="adj" fmla="val 4294"/>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BEBAF9B3-9715-4FFF-B538-A8BAFA8672FD}"/>
              </a:ext>
            </a:extLst>
          </p:cNvPr>
          <p:cNvSpPr>
            <a:spLocks noGrp="1"/>
          </p:cNvSpPr>
          <p:nvPr/>
        </p:nvSpPr>
        <p:spPr>
          <a:xfrm>
            <a:off x="933450" y="2276475"/>
            <a:ext cx="41719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ОБРАЗЛОЖЕЊЕ</a:t>
            </a:r>
          </a:p>
        </p:txBody>
      </p:sp>
      <p:sp>
        <p:nvSpPr>
          <p:cNvPr id="8" name="Rectangle 7">
            <a:extLst>
              <a:ext uri="{FF2B5EF4-FFF2-40B4-BE49-F238E27FC236}">
                <a16:creationId xmlns:a16="http://schemas.microsoft.com/office/drawing/2014/main" id="{19F33320-C78D-4DD5-AB11-E0C5A89CCDCC}"/>
              </a:ext>
            </a:extLst>
          </p:cNvPr>
          <p:cNvSpPr>
            <a:spLocks noGrp="1"/>
          </p:cNvSpPr>
          <p:nvPr/>
        </p:nvSpPr>
        <p:spPr>
          <a:xfrm>
            <a:off x="933450" y="2524125"/>
            <a:ext cx="4171950" cy="552450"/>
          </a:xfrm>
          <a:prstGeom prst="rect">
            <a:avLst/>
          </a:prstGeom>
          <a:noFill/>
          <a:ln w="0">
            <a:noFill/>
          </a:ln>
        </p:spPr>
        <p:txBody>
          <a:bodyPr wrap="square" lIns="0" tIns="0" rIns="0" bIns="0" anchor="ctr">
            <a:normAutofit/>
          </a:bodyPr>
          <a:lstStyle/>
          <a:p>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Учење након догађаја</a:t>
            </a:r>
          </a:p>
        </p:txBody>
      </p:sp>
      <p:sp>
        <p:nvSpPr>
          <p:cNvPr id="9" name="Rectangle 8">
            <a:extLst>
              <a:ext uri="{FF2B5EF4-FFF2-40B4-BE49-F238E27FC236}">
                <a16:creationId xmlns:a16="http://schemas.microsoft.com/office/drawing/2014/main" id="{4162AFBA-BB76-40D5-BCE0-BE1D9CC53C52}"/>
              </a:ext>
            </a:extLst>
          </p:cNvPr>
          <p:cNvSpPr>
            <a:spLocks noGrp="1"/>
          </p:cNvSpPr>
          <p:nvPr/>
        </p:nvSpPr>
        <p:spPr>
          <a:xfrm>
            <a:off x="933450" y="3143250"/>
            <a:ext cx="4171950" cy="200977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Добар пост-инцидент преглед није потрага за особом која је погрешила. Његов циљ је да пронађе где су недостајали сигнал, заштитна провера, јасна одговорност или припрема за опоравак. Резултат треба да мења систем или процес на начин који се може проверити.</a:t>
            </a:r>
          </a:p>
        </p:txBody>
      </p:sp>
      <p:sp>
        <p:nvSpPr>
          <p:cNvPr id="10" name="Rounded Rectangle 9">
            <a:extLst>
              <a:ext uri="{FF2B5EF4-FFF2-40B4-BE49-F238E27FC236}">
                <a16:creationId xmlns:a16="http://schemas.microsoft.com/office/drawing/2014/main" id="{1DD8087C-787C-420F-9935-5D63E161C089}"/>
              </a:ext>
            </a:extLst>
          </p:cNvPr>
          <p:cNvSpPr>
            <a:spLocks noGrp="1"/>
          </p:cNvSpPr>
          <p:nvPr/>
        </p:nvSpPr>
        <p:spPr>
          <a:xfrm>
            <a:off x="5676900" y="2152650"/>
            <a:ext cx="5734050" cy="828675"/>
          </a:xfrm>
          <a:prstGeom prst="roundRect">
            <a:avLst>
              <a:gd name="adj" fmla="val 16092"/>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290DB7D5-D3DB-4657-A92E-AE599DB70F74}"/>
              </a:ext>
            </a:extLst>
          </p:cNvPr>
          <p:cNvSpPr>
            <a:spLocks noGrp="1"/>
          </p:cNvSpPr>
          <p:nvPr/>
        </p:nvSpPr>
        <p:spPr>
          <a:xfrm>
            <a:off x="5829300" y="2276475"/>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FEB39224-D4C5-4215-88C1-236482A12C07}"/>
              </a:ext>
            </a:extLst>
          </p:cNvPr>
          <p:cNvSpPr>
            <a:spLocks noGrp="1"/>
          </p:cNvSpPr>
          <p:nvPr/>
        </p:nvSpPr>
        <p:spPr>
          <a:xfrm>
            <a:off x="5829300" y="2524125"/>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Хронологија одваја чињенице од претпоставки насталих под притиском.</a:t>
            </a:r>
          </a:p>
        </p:txBody>
      </p:sp>
      <p:sp>
        <p:nvSpPr>
          <p:cNvPr id="13" name="Rounded Rectangle 12">
            <a:extLst>
              <a:ext uri="{FF2B5EF4-FFF2-40B4-BE49-F238E27FC236}">
                <a16:creationId xmlns:a16="http://schemas.microsoft.com/office/drawing/2014/main" id="{0815E157-28AA-4B04-AB76-BD86CC9C4882}"/>
              </a:ext>
            </a:extLst>
          </p:cNvPr>
          <p:cNvSpPr>
            <a:spLocks noGrp="1"/>
          </p:cNvSpPr>
          <p:nvPr/>
        </p:nvSpPr>
        <p:spPr>
          <a:xfrm>
            <a:off x="5676900" y="3152775"/>
            <a:ext cx="5734050" cy="828675"/>
          </a:xfrm>
          <a:prstGeom prst="roundRect">
            <a:avLst>
              <a:gd name="adj" fmla="val 16092"/>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C572D018-6E72-4A20-B695-A6C54C8D63C1}"/>
              </a:ext>
            </a:extLst>
          </p:cNvPr>
          <p:cNvSpPr>
            <a:spLocks noGrp="1"/>
          </p:cNvSpPr>
          <p:nvPr/>
        </p:nvSpPr>
        <p:spPr>
          <a:xfrm>
            <a:off x="5829300" y="3276600"/>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a:ext uri="{FF2B5EF4-FFF2-40B4-BE49-F238E27FC236}">
                <a16:creationId xmlns:a16="http://schemas.microsoft.com/office/drawing/2014/main" id="{85D0AC8C-54E7-4050-88A4-A2DB559FA517}"/>
              </a:ext>
            </a:extLst>
          </p:cNvPr>
          <p:cNvSpPr>
            <a:spLocks noGrp="1"/>
          </p:cNvSpPr>
          <p:nvPr/>
        </p:nvSpPr>
        <p:spPr>
          <a:xfrm>
            <a:off x="5829300" y="3524250"/>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Акције након инцидента имају власника и проверљив завршетак.</a:t>
            </a:r>
          </a:p>
        </p:txBody>
      </p:sp>
      <p:sp>
        <p:nvSpPr>
          <p:cNvPr id="16" name="Rounded Rectangle 15">
            <a:extLst>
              <a:ext uri="{FF2B5EF4-FFF2-40B4-BE49-F238E27FC236}">
                <a16:creationId xmlns:a16="http://schemas.microsoft.com/office/drawing/2014/main" id="{2938F451-EA0F-4E61-8704-D5794245B8A2}"/>
              </a:ext>
            </a:extLst>
          </p:cNvPr>
          <p:cNvSpPr>
            <a:spLocks noGrp="1"/>
          </p:cNvSpPr>
          <p:nvPr/>
        </p:nvSpPr>
        <p:spPr>
          <a:xfrm>
            <a:off x="5676900" y="4152900"/>
            <a:ext cx="5734050" cy="828675"/>
          </a:xfrm>
          <a:prstGeom prst="roundRect">
            <a:avLst>
              <a:gd name="adj" fmla="val 16092"/>
            </a:avLst>
          </a:prstGeom>
          <a:solidFill>
            <a:srgbClr val="FFF6E9"/>
          </a:solidFill>
          <a:ln w="9525">
            <a:solidFill>
              <a:srgbClr val="D7DEE8"/>
            </a:solidFill>
            <a:prstDash val="solid"/>
          </a:ln>
        </p:spPr>
      </p:sp>
      <p:sp>
        <p:nvSpPr>
          <p:cNvPr id="17" name="Rectangle 16">
            <a:extLst>
              <a:ext uri="{FF2B5EF4-FFF2-40B4-BE49-F238E27FC236}">
                <a16:creationId xmlns:a16="http://schemas.microsoft.com/office/drawing/2014/main" id="{875EDD5D-37C4-4F84-996B-383433DCFA22}"/>
              </a:ext>
            </a:extLst>
          </p:cNvPr>
          <p:cNvSpPr>
            <a:spLocks noGrp="1"/>
          </p:cNvSpPr>
          <p:nvPr/>
        </p:nvSpPr>
        <p:spPr>
          <a:xfrm>
            <a:off x="5829300" y="4276725"/>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8" name="Rectangle 17">
            <a:extLst>
              <a:ext uri="{FF2B5EF4-FFF2-40B4-BE49-F238E27FC236}">
                <a16:creationId xmlns:a16="http://schemas.microsoft.com/office/drawing/2014/main" id="{06989B13-C35F-4878-B617-30758C80A9D2}"/>
              </a:ext>
            </a:extLst>
          </p:cNvPr>
          <p:cNvSpPr>
            <a:spLocks noGrp="1"/>
          </p:cNvSpPr>
          <p:nvPr/>
        </p:nvSpPr>
        <p:spPr>
          <a:xfrm>
            <a:off x="5829300" y="4524375"/>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Нови сценарио се додаје у тестове или оперативне вежбе, како се исто знање не би изгубило.</a:t>
            </a:r>
          </a:p>
        </p:txBody>
      </p:sp>
    </p:spTree>
    <p:extLst>
      <p:ext uri="{BB962C8B-B14F-4D97-AF65-F5344CB8AC3E}">
        <p14:creationId xmlns:p14="http://schemas.microsoft.com/office/powerpoint/2010/main" val="14308563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7505D135-F20C-405A-A4DD-F1499E6E5E87}"/>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7C9DE607-A44B-4C60-B495-7D2FC54C76A7}"/>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3195687C-43E5-40D5-AC66-E8BA8EABEC5E}"/>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19</a:t>
            </a:r>
          </a:p>
        </p:txBody>
      </p:sp>
      <p:sp>
        <p:nvSpPr>
          <p:cNvPr id="4" name="Rectangle 3">
            <a:extLst>
              <a:ext uri="{FF2B5EF4-FFF2-40B4-BE49-F238E27FC236}">
                <a16:creationId xmlns:a16="http://schemas.microsoft.com/office/drawing/2014/main" id="{1D5D6DFF-F074-4E38-8EEE-6328479614F1}"/>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Мини вежба за пројекат</a:t>
            </a:r>
          </a:p>
        </p:txBody>
      </p:sp>
      <p:sp>
        <p:nvSpPr>
          <p:cNvPr id="5" name="Rectangle 4">
            <a:extLst>
              <a:ext uri="{FF2B5EF4-FFF2-40B4-BE49-F238E27FC236}">
                <a16:creationId xmlns:a16="http://schemas.microsoft.com/office/drawing/2014/main" id="{1AD4C337-C72E-4826-A3D0-80F0AF563CA8}"/>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На једном сценарију повежите одлуку, имплементацију, негативни тест и доказ.</a:t>
            </a:r>
          </a:p>
        </p:txBody>
      </p:sp>
      <p:sp>
        <p:nvSpPr>
          <p:cNvPr id="6" name="Rounded Rectangle 5">
            <a:extLst>
              <a:ext uri="{FF2B5EF4-FFF2-40B4-BE49-F238E27FC236}">
                <a16:creationId xmlns:a16="http://schemas.microsoft.com/office/drawing/2014/main" id="{BD0C2A1E-A320-482D-8944-D7F84EBD3C81}"/>
              </a:ext>
            </a:extLst>
          </p:cNvPr>
          <p:cNvSpPr>
            <a:spLocks noGrp="1"/>
          </p:cNvSpPr>
          <p:nvPr/>
        </p:nvSpPr>
        <p:spPr>
          <a:xfrm>
            <a:off x="800100" y="2400300"/>
            <a:ext cx="24336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4B1EF409-99AE-4C90-B0FE-F1209764D730}"/>
              </a:ext>
            </a:extLst>
          </p:cNvPr>
          <p:cNvSpPr>
            <a:spLocks noGrp="1"/>
          </p:cNvSpPr>
          <p:nvPr/>
        </p:nvSpPr>
        <p:spPr>
          <a:xfrm>
            <a:off x="942975"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2B7ADAAC-E6CB-4571-953E-5FC3E7CE4A63}"/>
              </a:ext>
            </a:extLst>
          </p:cNvPr>
          <p:cNvSpPr>
            <a:spLocks noGrp="1"/>
          </p:cNvSpPr>
          <p:nvPr/>
        </p:nvSpPr>
        <p:spPr>
          <a:xfrm>
            <a:off x="933450"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Изаберите сценарио</a:t>
            </a:r>
          </a:p>
        </p:txBody>
      </p:sp>
      <p:sp>
        <p:nvSpPr>
          <p:cNvPr id="9" name="Rectangle 8">
            <a:extLst>
              <a:ext uri="{FF2B5EF4-FFF2-40B4-BE49-F238E27FC236}">
                <a16:creationId xmlns:a16="http://schemas.microsoft.com/office/drawing/2014/main" id="{60FAF039-18D6-45A5-A528-8EAC2E81EF59}"/>
              </a:ext>
            </a:extLst>
          </p:cNvPr>
          <p:cNvSpPr>
            <a:spLocks noGrp="1"/>
          </p:cNvSpPr>
          <p:nvPr/>
        </p:nvSpPr>
        <p:spPr>
          <a:xfrm>
            <a:off x="942975"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стварна радња</a:t>
            </a:r>
          </a:p>
        </p:txBody>
      </p:sp>
      <p:sp>
        <p:nvSpPr>
          <p:cNvPr id="10" name="Rounded Rectangle 9">
            <a:extLst>
              <a:ext uri="{FF2B5EF4-FFF2-40B4-BE49-F238E27FC236}">
                <a16:creationId xmlns:a16="http://schemas.microsoft.com/office/drawing/2014/main" id="{156398F7-F4F2-418D-9D56-FAE589B75360}"/>
              </a:ext>
            </a:extLst>
          </p:cNvPr>
          <p:cNvSpPr>
            <a:spLocks noGrp="1"/>
          </p:cNvSpPr>
          <p:nvPr/>
        </p:nvSpPr>
        <p:spPr>
          <a:xfrm>
            <a:off x="3519488" y="2400300"/>
            <a:ext cx="2433638" cy="1257300"/>
          </a:xfrm>
          <a:prstGeom prst="roundRect">
            <a:avLst>
              <a:gd name="adj" fmla="val 10606"/>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37D4D675-25EA-488A-B7A3-F416157C6C7C}"/>
              </a:ext>
            </a:extLst>
          </p:cNvPr>
          <p:cNvSpPr>
            <a:spLocks noGrp="1"/>
          </p:cNvSpPr>
          <p:nvPr/>
        </p:nvSpPr>
        <p:spPr>
          <a:xfrm>
            <a:off x="3662363"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F0A92B26-8127-4F3F-979D-17ED59262448}"/>
              </a:ext>
            </a:extLst>
          </p:cNvPr>
          <p:cNvSpPr>
            <a:spLocks noGrp="1"/>
          </p:cNvSpPr>
          <p:nvPr/>
        </p:nvSpPr>
        <p:spPr>
          <a:xfrm>
            <a:off x="3652838"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Именујте правило</a:t>
            </a:r>
          </a:p>
        </p:txBody>
      </p:sp>
      <p:sp>
        <p:nvSpPr>
          <p:cNvPr id="13" name="Rectangle 12">
            <a:extLst>
              <a:ext uri="{FF2B5EF4-FFF2-40B4-BE49-F238E27FC236}">
                <a16:creationId xmlns:a16="http://schemas.microsoft.com/office/drawing/2014/main" id="{29594599-32E8-4390-84AF-75D3B497883B}"/>
              </a:ext>
            </a:extLst>
          </p:cNvPr>
          <p:cNvSpPr>
            <a:spLocks noGrp="1"/>
          </p:cNvSpPr>
          <p:nvPr/>
        </p:nvSpPr>
        <p:spPr>
          <a:xfrm>
            <a:off x="3662363"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улази и граница</a:t>
            </a:r>
          </a:p>
        </p:txBody>
      </p:sp>
      <p:sp>
        <p:nvSpPr>
          <p:cNvPr id="14" name="Rounded Rectangle 13">
            <a:extLst>
              <a:ext uri="{FF2B5EF4-FFF2-40B4-BE49-F238E27FC236}">
                <a16:creationId xmlns:a16="http://schemas.microsoft.com/office/drawing/2014/main" id="{2D36DB01-8C75-44EC-B0A4-BF4E1ED11431}"/>
              </a:ext>
            </a:extLst>
          </p:cNvPr>
          <p:cNvSpPr>
            <a:spLocks noGrp="1"/>
          </p:cNvSpPr>
          <p:nvPr/>
        </p:nvSpPr>
        <p:spPr>
          <a:xfrm>
            <a:off x="6238875" y="2400300"/>
            <a:ext cx="2433638" cy="1257300"/>
          </a:xfrm>
          <a:prstGeom prst="roundRect">
            <a:avLst>
              <a:gd name="adj" fmla="val 10606"/>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E0B5D8EA-8110-456B-A0F4-171BE700CC48}"/>
              </a:ext>
            </a:extLst>
          </p:cNvPr>
          <p:cNvSpPr>
            <a:spLocks noGrp="1"/>
          </p:cNvSpPr>
          <p:nvPr/>
        </p:nvSpPr>
        <p:spPr>
          <a:xfrm>
            <a:off x="6381750"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a:ext uri="{FF2B5EF4-FFF2-40B4-BE49-F238E27FC236}">
                <a16:creationId xmlns:a16="http://schemas.microsoft.com/office/drawing/2014/main" id="{835DAAD6-2E25-4DDF-9686-E3926B3B78E3}"/>
              </a:ext>
            </a:extLst>
          </p:cNvPr>
          <p:cNvSpPr>
            <a:spLocks noGrp="1"/>
          </p:cNvSpPr>
          <p:nvPr/>
        </p:nvSpPr>
        <p:spPr>
          <a:xfrm>
            <a:off x="6372225"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Напишите денy тест</a:t>
            </a:r>
          </a:p>
        </p:txBody>
      </p:sp>
      <p:sp>
        <p:nvSpPr>
          <p:cNvPr id="17" name="Rectangle 16">
            <a:extLst>
              <a:ext uri="{FF2B5EF4-FFF2-40B4-BE49-F238E27FC236}">
                <a16:creationId xmlns:a16="http://schemas.microsoft.com/office/drawing/2014/main" id="{351014FC-5027-47AE-8853-23814FD93CF5}"/>
              </a:ext>
            </a:extLst>
          </p:cNvPr>
          <p:cNvSpPr>
            <a:spLocks noGrp="1"/>
          </p:cNvSpPr>
          <p:nvPr/>
        </p:nvSpPr>
        <p:spPr>
          <a:xfrm>
            <a:off x="6381750"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чињеница недостаје</a:t>
            </a:r>
          </a:p>
        </p:txBody>
      </p:sp>
      <p:sp>
        <p:nvSpPr>
          <p:cNvPr id="18" name="Rounded Rectangle 17">
            <a:extLst>
              <a:ext uri="{FF2B5EF4-FFF2-40B4-BE49-F238E27FC236}">
                <a16:creationId xmlns:a16="http://schemas.microsoft.com/office/drawing/2014/main" id="{26B1F840-5EB2-4F39-8032-7030BF971397}"/>
              </a:ext>
            </a:extLst>
          </p:cNvPr>
          <p:cNvSpPr>
            <a:spLocks noGrp="1"/>
          </p:cNvSpPr>
          <p:nvPr/>
        </p:nvSpPr>
        <p:spPr>
          <a:xfrm>
            <a:off x="8958263" y="2400300"/>
            <a:ext cx="24336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F2D33395-F6BC-45DD-BAFF-5274ADFED447}"/>
              </a:ext>
            </a:extLst>
          </p:cNvPr>
          <p:cNvSpPr>
            <a:spLocks noGrp="1"/>
          </p:cNvSpPr>
          <p:nvPr/>
        </p:nvSpPr>
        <p:spPr>
          <a:xfrm>
            <a:off x="9101138"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2E47C1ED-F9CD-4836-A43A-0925521D2E59}"/>
              </a:ext>
            </a:extLst>
          </p:cNvPr>
          <p:cNvSpPr>
            <a:spLocks noGrp="1"/>
          </p:cNvSpPr>
          <p:nvPr/>
        </p:nvSpPr>
        <p:spPr>
          <a:xfrm>
            <a:off x="9091613"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Сачувајте доказ</a:t>
            </a:r>
          </a:p>
        </p:txBody>
      </p:sp>
      <p:sp>
        <p:nvSpPr>
          <p:cNvPr id="21" name="Rectangle 20">
            <a:extLst>
              <a:ext uri="{FF2B5EF4-FFF2-40B4-BE49-F238E27FC236}">
                <a16:creationId xmlns:a16="http://schemas.microsoft.com/office/drawing/2014/main" id="{AF124482-3294-4A48-AA2C-476E615D9C5F}"/>
              </a:ext>
            </a:extLst>
          </p:cNvPr>
          <p:cNvSpPr>
            <a:spLocks noGrp="1"/>
          </p:cNvSpPr>
          <p:nvPr/>
        </p:nvSpPr>
        <p:spPr>
          <a:xfrm>
            <a:off x="9101138"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исход и разлог</a:t>
            </a:r>
          </a:p>
        </p:txBody>
      </p:sp>
      <p:cxnSp>
        <p:nvCxnSpPr>
          <p:cNvPr id="125" name="Straight Arrow Connector 124"/>
          <p:cNvCxnSpPr>
            <a:stCxn id="6" idx="3"/>
            <a:endCxn id="10" idx="1"/>
          </p:cNvCxnSpPr>
          <p:nvPr/>
        </p:nvCxnSpPr>
        <p:spPr>
          <a:xfrm>
            <a:off x="3233738" y="302895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02895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672513" y="302895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20DA08E7-4A08-4FE8-BC90-71C85C619D90}"/>
              </a:ext>
            </a:extLst>
          </p:cNvPr>
          <p:cNvSpPr>
            <a:spLocks noGrp="1"/>
          </p:cNvSpPr>
          <p:nvPr/>
        </p:nvSpPr>
        <p:spPr>
          <a:xfrm>
            <a:off x="1619250" y="4305300"/>
            <a:ext cx="8953500" cy="914400"/>
          </a:xfrm>
          <a:prstGeom prst="roundRect">
            <a:avLst>
              <a:gd name="adj" fmla="val 13542"/>
            </a:avLst>
          </a:prstGeom>
          <a:solidFill>
            <a:srgbClr val="FFF6E9"/>
          </a:solidFill>
          <a:ln w="9525">
            <a:solidFill>
              <a:srgbClr val="D7DEE8"/>
            </a:solidFill>
            <a:prstDash val="solid"/>
          </a:ln>
        </p:spPr>
      </p:sp>
      <p:sp>
        <p:nvSpPr>
          <p:cNvPr id="26" name="Rounded Rectangle 25">
            <a:extLst>
              <a:ext uri="{FF2B5EF4-FFF2-40B4-BE49-F238E27FC236}">
                <a16:creationId xmlns:a16="http://schemas.microsoft.com/office/drawing/2014/main" id="{DB9E5956-FB91-49A8-BB15-C891F9E4C952}"/>
              </a:ext>
            </a:extLst>
          </p:cNvPr>
          <p:cNvSpPr>
            <a:spLocks noGrp="1"/>
          </p:cNvSpPr>
          <p:nvPr/>
        </p:nvSpPr>
        <p:spPr>
          <a:xfrm>
            <a:off x="1752600" y="4448175"/>
            <a:ext cx="57150" cy="628650"/>
          </a:xfrm>
          <a:prstGeom prst="roundRect">
            <a:avLst>
              <a:gd name="adj" fmla="val 50000"/>
            </a:avLst>
          </a:prstGeom>
          <a:solidFill>
            <a:srgbClr val="B86A09"/>
          </a:solidFill>
          <a:ln w="0">
            <a:noFill/>
          </a:ln>
        </p:spPr>
      </p:sp>
      <p:sp>
        <p:nvSpPr>
          <p:cNvPr id="76" name="Rounded Rectangle 75">
            <a:extLst>
              <a:ext uri="{FF2B5EF4-FFF2-40B4-BE49-F238E27FC236}">
                <a16:creationId xmlns:a16="http://schemas.microsoft.com/office/drawing/2014/main" id="{F031271E-579E-40A3-9183-6A2374C9816A}"/>
              </a:ext>
            </a:extLst>
          </p:cNvPr>
          <p:cNvSpPr>
            <a:spLocks noGrp="1"/>
          </p:cNvSpPr>
          <p:nvPr/>
        </p:nvSpPr>
        <p:spPr>
          <a:xfrm>
            <a:off x="914400" y="4267200"/>
            <a:ext cx="10363200" cy="990600"/>
          </a:xfrm>
          <a:prstGeom prst="roundRect">
            <a:avLst>
              <a:gd name="adj" fmla="val 13462"/>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7007D06A-73C9-476B-8E2A-1F788DA76747}"/>
              </a:ext>
            </a:extLst>
          </p:cNvPr>
          <p:cNvSpPr>
            <a:spLocks noGrp="1"/>
          </p:cNvSpPr>
          <p:nvPr/>
        </p:nvSpPr>
        <p:spPr>
          <a:xfrm>
            <a:off x="1085850" y="4419600"/>
            <a:ext cx="57150" cy="68580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4CE7946B-C68B-446C-BCCF-9E97A131ACF3}"/>
              </a:ext>
            </a:extLst>
          </p:cNvPr>
          <p:cNvSpPr>
            <a:spLocks noGrp="1"/>
          </p:cNvSpPr>
          <p:nvPr/>
        </p:nvSpPr>
        <p:spPr>
          <a:xfrm>
            <a:off x="1333500" y="43719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ЗАДАТАК ЗА ПРОЈЕКАТ</a:t>
            </a:r>
          </a:p>
        </p:txBody>
      </p:sp>
      <p:sp>
        <p:nvSpPr>
          <p:cNvPr id="79" name="Rectangle 78">
            <a:extLst>
              <a:ext uri="{FF2B5EF4-FFF2-40B4-BE49-F238E27FC236}">
                <a16:creationId xmlns:a16="http://schemas.microsoft.com/office/drawing/2014/main" id="{C70FA961-CAC9-42A8-917D-D90F66CD17F4}"/>
              </a:ext>
            </a:extLst>
          </p:cNvPr>
          <p:cNvSpPr>
            <a:spLocks noGrp="1"/>
          </p:cNvSpPr>
          <p:nvPr/>
        </p:nvSpPr>
        <p:spPr>
          <a:xfrm>
            <a:off x="1333500" y="4600575"/>
            <a:ext cx="9639300" cy="55245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Примените тему „Детекција, инцидент и рањивости“ на додељену пројектну целину и припремите доказ који други члан тима може да понови.</a:t>
            </a:r>
          </a:p>
        </p:txBody>
      </p:sp>
    </p:spTree>
    <p:extLst>
      <p:ext uri="{BB962C8B-B14F-4D97-AF65-F5344CB8AC3E}">
        <p14:creationId xmlns:p14="http://schemas.microsoft.com/office/powerpoint/2010/main" val="6700899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A3906C58-12AF-4538-8C43-8E584611B6A7}"/>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DBAF683B-47DA-4F64-8CE9-BA2311B9E64D}"/>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366FD9DA-2895-4284-AEE9-B59479BCADC2}"/>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20</a:t>
            </a:r>
          </a:p>
        </p:txBody>
      </p:sp>
      <p:sp>
        <p:nvSpPr>
          <p:cNvPr id="4" name="Rectangle 3">
            <a:extLst>
              <a:ext uri="{FF2B5EF4-FFF2-40B4-BE49-F238E27FC236}">
                <a16:creationId xmlns:a16="http://schemas.microsoft.com/office/drawing/2014/main" id="{34145FA0-0FEB-475E-988A-65C0D43E096C}"/>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Провера разумевања</a:t>
            </a:r>
          </a:p>
        </p:txBody>
      </p:sp>
      <p:sp>
        <p:nvSpPr>
          <p:cNvPr id="5" name="Rectangle 4">
            <a:extLst>
              <a:ext uri="{FF2B5EF4-FFF2-40B4-BE49-F238E27FC236}">
                <a16:creationId xmlns:a16="http://schemas.microsoft.com/office/drawing/2014/main" id="{E8E1E906-82B8-4740-B961-8CCA8FECAAAD}"/>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Тема је савладана када одлуку можете да објасните без ослањања на назив framework-а.</a:t>
            </a:r>
          </a:p>
        </p:txBody>
      </p:sp>
      <p:sp>
        <p:nvSpPr>
          <p:cNvPr id="6" name="Rounded Rectangle 5">
            <a:extLst>
              <a:ext uri="{FF2B5EF4-FFF2-40B4-BE49-F238E27FC236}">
                <a16:creationId xmlns:a16="http://schemas.microsoft.com/office/drawing/2014/main" id="{40C216CA-5BED-41B8-8E03-7DAB910B5384}"/>
              </a:ext>
            </a:extLst>
          </p:cNvPr>
          <p:cNvSpPr>
            <a:spLocks noGrp="1"/>
          </p:cNvSpPr>
          <p:nvPr/>
        </p:nvSpPr>
        <p:spPr>
          <a:xfrm>
            <a:off x="723900" y="2286000"/>
            <a:ext cx="24717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C8683B2C-3AA5-475E-B2DE-86A6134E3810}"/>
              </a:ext>
            </a:extLst>
          </p:cNvPr>
          <p:cNvSpPr>
            <a:spLocks noGrp="1"/>
          </p:cNvSpPr>
          <p:nvPr/>
        </p:nvSpPr>
        <p:spPr>
          <a:xfrm>
            <a:off x="866775"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351B38C8-4B0D-4E62-961A-37D1027752F6}"/>
              </a:ext>
            </a:extLst>
          </p:cNvPr>
          <p:cNvSpPr>
            <a:spLocks noGrp="1"/>
          </p:cNvSpPr>
          <p:nvPr/>
        </p:nvSpPr>
        <p:spPr>
          <a:xfrm>
            <a:off x="857250"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Сигнал</a:t>
            </a:r>
          </a:p>
        </p:txBody>
      </p:sp>
      <p:sp>
        <p:nvSpPr>
          <p:cNvPr id="9" name="Rectangle 8">
            <a:extLst>
              <a:ext uri="{FF2B5EF4-FFF2-40B4-BE49-F238E27FC236}">
                <a16:creationId xmlns:a16="http://schemas.microsoft.com/office/drawing/2014/main" id="{925D4237-5726-45BE-9465-B4FE616A364D}"/>
              </a:ext>
            </a:extLst>
          </p:cNvPr>
          <p:cNvSpPr>
            <a:spLocks noGrp="1"/>
          </p:cNvSpPr>
          <p:nvPr/>
        </p:nvSpPr>
        <p:spPr>
          <a:xfrm>
            <a:off x="866775"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уочено одступање</a:t>
            </a:r>
          </a:p>
        </p:txBody>
      </p:sp>
      <p:sp>
        <p:nvSpPr>
          <p:cNvPr id="10" name="Rounded Rectangle 9">
            <a:extLst>
              <a:ext uri="{FF2B5EF4-FFF2-40B4-BE49-F238E27FC236}">
                <a16:creationId xmlns:a16="http://schemas.microsoft.com/office/drawing/2014/main" id="{EDC6FDE3-416B-4C0A-B484-B9D350928BAF}"/>
              </a:ext>
            </a:extLst>
          </p:cNvPr>
          <p:cNvSpPr>
            <a:spLocks noGrp="1"/>
          </p:cNvSpPr>
          <p:nvPr/>
        </p:nvSpPr>
        <p:spPr>
          <a:xfrm>
            <a:off x="3481388" y="2286000"/>
            <a:ext cx="2471738" cy="1257300"/>
          </a:xfrm>
          <a:prstGeom prst="roundRect">
            <a:avLst>
              <a:gd name="adj" fmla="val 10606"/>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9F5735AE-0D8C-40EF-BB70-D944F9E7C8D6}"/>
              </a:ext>
            </a:extLst>
          </p:cNvPr>
          <p:cNvSpPr>
            <a:spLocks noGrp="1"/>
          </p:cNvSpPr>
          <p:nvPr/>
        </p:nvSpPr>
        <p:spPr>
          <a:xfrm>
            <a:off x="3624263"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a:ext uri="{FF2B5EF4-FFF2-40B4-BE49-F238E27FC236}">
                <a16:creationId xmlns:a16="http://schemas.microsoft.com/office/drawing/2014/main" id="{E06A800F-5372-4B44-9AE0-0A66C18A1E66}"/>
              </a:ext>
            </a:extLst>
          </p:cNvPr>
          <p:cNvSpPr>
            <a:spLocks noGrp="1"/>
          </p:cNvSpPr>
          <p:nvPr/>
        </p:nvSpPr>
        <p:spPr>
          <a:xfrm>
            <a:off x="3614738"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Triage</a:t>
            </a:r>
          </a:p>
        </p:txBody>
      </p:sp>
      <p:sp>
        <p:nvSpPr>
          <p:cNvPr id="13" name="Rectangle 12">
            <a:extLst>
              <a:ext uri="{FF2B5EF4-FFF2-40B4-BE49-F238E27FC236}">
                <a16:creationId xmlns:a16="http://schemas.microsoft.com/office/drawing/2014/main" id="{1F24FF87-0F9D-4B66-95B5-2FC0B5DECCF9}"/>
              </a:ext>
            </a:extLst>
          </p:cNvPr>
          <p:cNvSpPr>
            <a:spLocks noGrp="1"/>
          </p:cNvSpPr>
          <p:nvPr/>
        </p:nvSpPr>
        <p:spPr>
          <a:xfrm>
            <a:off x="3624263"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провера контекста и утицаја</a:t>
            </a:r>
          </a:p>
        </p:txBody>
      </p:sp>
      <p:sp>
        <p:nvSpPr>
          <p:cNvPr id="14" name="Rounded Rectangle 13">
            <a:extLst>
              <a:ext uri="{FF2B5EF4-FFF2-40B4-BE49-F238E27FC236}">
                <a16:creationId xmlns:a16="http://schemas.microsoft.com/office/drawing/2014/main" id="{F3258C95-169B-4EBF-8BA9-E5F8294E0897}"/>
              </a:ext>
            </a:extLst>
          </p:cNvPr>
          <p:cNvSpPr>
            <a:spLocks noGrp="1"/>
          </p:cNvSpPr>
          <p:nvPr/>
        </p:nvSpPr>
        <p:spPr>
          <a:xfrm>
            <a:off x="6238875" y="2286000"/>
            <a:ext cx="2471738" cy="1257300"/>
          </a:xfrm>
          <a:prstGeom prst="roundRect">
            <a:avLst>
              <a:gd name="adj" fmla="val 10606"/>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33696572-1110-4932-85EE-465EF599F6E6}"/>
              </a:ext>
            </a:extLst>
          </p:cNvPr>
          <p:cNvSpPr>
            <a:spLocks noGrp="1"/>
          </p:cNvSpPr>
          <p:nvPr/>
        </p:nvSpPr>
        <p:spPr>
          <a:xfrm>
            <a:off x="6381750"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a:ext uri="{FF2B5EF4-FFF2-40B4-BE49-F238E27FC236}">
                <a16:creationId xmlns:a16="http://schemas.microsoft.com/office/drawing/2014/main" id="{E57F965E-155D-4A09-8167-E4350D9B4F08}"/>
              </a:ext>
            </a:extLst>
          </p:cNvPr>
          <p:cNvSpPr>
            <a:spLocks noGrp="1"/>
          </p:cNvSpPr>
          <p:nvPr/>
        </p:nvSpPr>
        <p:spPr>
          <a:xfrm>
            <a:off x="6372225"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Инцидент</a:t>
            </a:r>
          </a:p>
        </p:txBody>
      </p:sp>
      <p:sp>
        <p:nvSpPr>
          <p:cNvPr id="17" name="Rectangle 16">
            <a:extLst>
              <a:ext uri="{FF2B5EF4-FFF2-40B4-BE49-F238E27FC236}">
                <a16:creationId xmlns:a16="http://schemas.microsoft.com/office/drawing/2014/main" id="{C97A3AC0-87ED-4746-B7FB-336396B1612E}"/>
              </a:ext>
            </a:extLst>
          </p:cNvPr>
          <p:cNvSpPr>
            <a:spLocks noGrp="1"/>
          </p:cNvSpPr>
          <p:nvPr/>
        </p:nvSpPr>
        <p:spPr>
          <a:xfrm>
            <a:off x="6381750"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координисана реакција</a:t>
            </a:r>
          </a:p>
        </p:txBody>
      </p:sp>
      <p:sp>
        <p:nvSpPr>
          <p:cNvPr id="18" name="Rounded Rectangle 17">
            <a:extLst>
              <a:ext uri="{FF2B5EF4-FFF2-40B4-BE49-F238E27FC236}">
                <a16:creationId xmlns:a16="http://schemas.microsoft.com/office/drawing/2014/main" id="{21D7D0CF-BBFA-4B33-AB20-C0605C01AB38}"/>
              </a:ext>
            </a:extLst>
          </p:cNvPr>
          <p:cNvSpPr>
            <a:spLocks noGrp="1"/>
          </p:cNvSpPr>
          <p:nvPr/>
        </p:nvSpPr>
        <p:spPr>
          <a:xfrm>
            <a:off x="8996363" y="2286000"/>
            <a:ext cx="24717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2FF44A43-27F5-4847-B1C6-511560615CE7}"/>
              </a:ext>
            </a:extLst>
          </p:cNvPr>
          <p:cNvSpPr>
            <a:spLocks noGrp="1"/>
          </p:cNvSpPr>
          <p:nvPr/>
        </p:nvSpPr>
        <p:spPr>
          <a:xfrm>
            <a:off x="9139238"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6B2B876D-1DFF-4ECF-8B59-CF8997FF6B69}"/>
              </a:ext>
            </a:extLst>
          </p:cNvPr>
          <p:cNvSpPr>
            <a:spLocks noGrp="1"/>
          </p:cNvSpPr>
          <p:nvPr/>
        </p:nvSpPr>
        <p:spPr>
          <a:xfrm>
            <a:off x="9129713"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Учење</a:t>
            </a:r>
          </a:p>
        </p:txBody>
      </p:sp>
      <p:sp>
        <p:nvSpPr>
          <p:cNvPr id="21" name="Rectangle 20">
            <a:extLst>
              <a:ext uri="{FF2B5EF4-FFF2-40B4-BE49-F238E27FC236}">
                <a16:creationId xmlns:a16="http://schemas.microsoft.com/office/drawing/2014/main" id="{A75022A4-06D8-4E30-A838-7555938B1A69}"/>
              </a:ext>
            </a:extLst>
          </p:cNvPr>
          <p:cNvSpPr>
            <a:spLocks noGrp="1"/>
          </p:cNvSpPr>
          <p:nvPr/>
        </p:nvSpPr>
        <p:spPr>
          <a:xfrm>
            <a:off x="9139238"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корекција и превенција</a:t>
            </a:r>
          </a:p>
        </p:txBody>
      </p:sp>
      <p:cxnSp>
        <p:nvCxnSpPr>
          <p:cNvPr id="127" name="Straight Arrow Connector 126"/>
          <p:cNvCxnSpPr>
            <a:stCxn id="6" idx="3"/>
            <a:endCxn id="10" idx="1"/>
          </p:cNvCxnSpPr>
          <p:nvPr/>
        </p:nvCxnSpPr>
        <p:spPr>
          <a:xfrm>
            <a:off x="3195638" y="2914650"/>
            <a:ext cx="285750" cy="0"/>
          </a:xfrm>
          <a:prstGeom prst="straightConnector1">
            <a:avLst/>
          </a:prstGeom>
          <a:ln w="13335">
            <a:solidFill>
              <a:srgbClr val="748092"/>
            </a:solidFill>
            <a:prstDash val="solid"/>
            <a:tailEnd type="arrow" w="sm" len="sm"/>
          </a:ln>
        </p:spPr>
      </p:cxnSp>
      <p:cxnSp>
        <p:nvCxnSpPr>
          <p:cNvPr id="128" name="Straight Arrow Connector 127"/>
          <p:cNvCxnSpPr>
            <a:stCxn id="10" idx="3"/>
            <a:endCxn id="14" idx="1"/>
          </p:cNvCxnSpPr>
          <p:nvPr/>
        </p:nvCxnSpPr>
        <p:spPr>
          <a:xfrm>
            <a:off x="5953126" y="2914650"/>
            <a:ext cx="285749" cy="0"/>
          </a:xfrm>
          <a:prstGeom prst="straightConnector1">
            <a:avLst/>
          </a:prstGeom>
          <a:ln w="13335">
            <a:solidFill>
              <a:srgbClr val="748092"/>
            </a:solidFill>
            <a:prstDash val="solid"/>
            <a:tailEnd type="arrow" w="sm" len="sm"/>
          </a:ln>
        </p:spPr>
      </p:cxnSp>
      <p:cxnSp>
        <p:nvCxnSpPr>
          <p:cNvPr id="129" name="Straight Arrow Connector 128"/>
          <p:cNvCxnSpPr>
            <a:stCxn id="14" idx="3"/>
            <a:endCxn id="18" idx="1"/>
          </p:cNvCxnSpPr>
          <p:nvPr/>
        </p:nvCxnSpPr>
        <p:spPr>
          <a:xfrm>
            <a:off x="8710613" y="291465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3BE4FEA1-7A0D-473B-B041-0F2A6EBE9285}"/>
              </a:ext>
            </a:extLst>
          </p:cNvPr>
          <p:cNvSpPr>
            <a:spLocks noGrp="1"/>
          </p:cNvSpPr>
          <p:nvPr/>
        </p:nvSpPr>
        <p:spPr>
          <a:xfrm>
            <a:off x="1428750" y="4114800"/>
            <a:ext cx="9334500" cy="895350"/>
          </a:xfrm>
          <a:prstGeom prst="roundRect">
            <a:avLst>
              <a:gd name="adj" fmla="val 13830"/>
            </a:avLst>
          </a:prstGeom>
          <a:solidFill>
            <a:srgbClr val="EEF3FF"/>
          </a:solidFill>
          <a:ln w="9525">
            <a:solidFill>
              <a:srgbClr val="D7DEE8"/>
            </a:solidFill>
            <a:prstDash val="solid"/>
          </a:ln>
        </p:spPr>
      </p:sp>
      <p:sp>
        <p:nvSpPr>
          <p:cNvPr id="26" name="Rounded Rectangle 25">
            <a:extLst>
              <a:ext uri="{FF2B5EF4-FFF2-40B4-BE49-F238E27FC236}">
                <a16:creationId xmlns:a16="http://schemas.microsoft.com/office/drawing/2014/main" id="{D890B9AE-232D-44C8-9BD8-9C5BCC70CFED}"/>
              </a:ext>
            </a:extLst>
          </p:cNvPr>
          <p:cNvSpPr>
            <a:spLocks noGrp="1"/>
          </p:cNvSpPr>
          <p:nvPr/>
        </p:nvSpPr>
        <p:spPr>
          <a:xfrm>
            <a:off x="1562100" y="4257675"/>
            <a:ext cx="57150" cy="609600"/>
          </a:xfrm>
          <a:prstGeom prst="roundRect">
            <a:avLst>
              <a:gd name="adj" fmla="val 50000"/>
            </a:avLst>
          </a:prstGeom>
          <a:solidFill>
            <a:srgbClr val="2F5EF5"/>
          </a:solidFill>
          <a:ln w="0">
            <a:noFill/>
          </a:ln>
        </p:spPr>
      </p:sp>
      <p:sp>
        <p:nvSpPr>
          <p:cNvPr id="77" name="Rounded Rectangle 76">
            <a:extLst>
              <a:ext uri="{FF2B5EF4-FFF2-40B4-BE49-F238E27FC236}">
                <a16:creationId xmlns:a16="http://schemas.microsoft.com/office/drawing/2014/main" id="{0527BF81-8948-436B-B5CB-6E83F869B658}"/>
              </a:ext>
            </a:extLst>
          </p:cNvPr>
          <p:cNvSpPr>
            <a:spLocks noGrp="1"/>
          </p:cNvSpPr>
          <p:nvPr/>
        </p:nvSpPr>
        <p:spPr>
          <a:xfrm>
            <a:off x="914400" y="4095750"/>
            <a:ext cx="10363200" cy="1257289"/>
          </a:xfrm>
          <a:prstGeom prst="roundRect">
            <a:avLst>
              <a:gd name="adj" fmla="val 8046"/>
            </a:avLst>
          </a:prstGeom>
          <a:solidFill>
            <a:srgbClr val="EEF3FF"/>
          </a:solidFill>
          <a:ln w="8573">
            <a:solidFill>
              <a:srgbClr val="CAD7F2"/>
            </a:solidFill>
            <a:prstDash val="solid"/>
          </a:ln>
        </p:spPr>
      </p:sp>
      <p:sp>
        <p:nvSpPr>
          <p:cNvPr id="78" name="Rounded Rectangle 77">
            <a:extLst>
              <a:ext uri="{FF2B5EF4-FFF2-40B4-BE49-F238E27FC236}">
                <a16:creationId xmlns:a16="http://schemas.microsoft.com/office/drawing/2014/main" id="{94977927-6A3C-41C0-A381-688660FA69C4}"/>
              </a:ext>
            </a:extLst>
          </p:cNvPr>
          <p:cNvSpPr>
            <a:spLocks noGrp="1"/>
          </p:cNvSpPr>
          <p:nvPr/>
        </p:nvSpPr>
        <p:spPr>
          <a:xfrm>
            <a:off x="1085850" y="4248150"/>
            <a:ext cx="45719" cy="942975"/>
          </a:xfrm>
          <a:prstGeom prst="roundRect">
            <a:avLst>
              <a:gd name="adj" fmla="val 50000"/>
            </a:avLst>
          </a:prstGeom>
          <a:solidFill>
            <a:srgbClr val="2F5EF5"/>
          </a:solidFill>
          <a:ln w="0">
            <a:noFill/>
          </a:ln>
        </p:spPr>
      </p:sp>
      <p:sp>
        <p:nvSpPr>
          <p:cNvPr id="79" name="Rectangle 78">
            <a:extLst>
              <a:ext uri="{FF2B5EF4-FFF2-40B4-BE49-F238E27FC236}">
                <a16:creationId xmlns:a16="http://schemas.microsoft.com/office/drawing/2014/main" id="{6EC846B4-B0C3-4599-83D3-79C5F6EC2F91}"/>
              </a:ext>
            </a:extLst>
          </p:cNvPr>
          <p:cNvSpPr>
            <a:spLocks noGrp="1"/>
          </p:cNvSpPr>
          <p:nvPr/>
        </p:nvSpPr>
        <p:spPr>
          <a:xfrm>
            <a:off x="1333500" y="420052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 ЗАВРШЕТАК</a:t>
            </a:r>
          </a:p>
        </p:txBody>
      </p:sp>
      <p:sp>
        <p:nvSpPr>
          <p:cNvPr id="80" name="Rectangle 79">
            <a:extLst>
              <a:ext uri="{FF2B5EF4-FFF2-40B4-BE49-F238E27FC236}">
                <a16:creationId xmlns:a16="http://schemas.microsoft.com/office/drawing/2014/main" id="{D1C57A71-879B-47A8-95AD-71983CBA8380}"/>
              </a:ext>
            </a:extLst>
          </p:cNvPr>
          <p:cNvSpPr>
            <a:spLocks noGrp="1"/>
          </p:cNvSpPr>
          <p:nvPr/>
        </p:nvSpPr>
        <p:spPr>
          <a:xfrm>
            <a:off x="1333500" y="4429125"/>
            <a:ext cx="9639300" cy="371475"/>
          </a:xfrm>
          <a:prstGeom prst="rect">
            <a:avLst/>
          </a:prstGeom>
          <a:noFill/>
          <a:ln w="0">
            <a:noFill/>
          </a:ln>
        </p:spPr>
        <p:txBody>
          <a:bodyPr wrap="square" lIns="0" tIns="0" rIns="0" bIns="0" anchor="ctr">
            <a:normAutofit fontScale="92926"/>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Који догађај би у вашем систему био користан сигнал, али не и довољан доказ инцидента? Који контекст недостаје?</a:t>
            </a:r>
          </a:p>
        </p:txBody>
      </p:sp>
      <p:sp>
        <p:nvSpPr>
          <p:cNvPr id="81" name="Rectangle 80">
            <a:extLst>
              <a:ext uri="{FF2B5EF4-FFF2-40B4-BE49-F238E27FC236}">
                <a16:creationId xmlns:a16="http://schemas.microsoft.com/office/drawing/2014/main" id="{71C74C65-E3B4-4421-8F2A-9D45CCD3D640}"/>
              </a:ext>
            </a:extLst>
          </p:cNvPr>
          <p:cNvSpPr>
            <a:spLocks noGrp="1"/>
          </p:cNvSpPr>
          <p:nvPr/>
        </p:nvSpPr>
        <p:spPr>
          <a:xfrm>
            <a:off x="1314450" y="4905375"/>
            <a:ext cx="9639300" cy="285750"/>
          </a:xfrm>
          <a:prstGeom prst="rect">
            <a:avLst/>
          </a:prstGeom>
          <a:noFill/>
          <a:ln w="0">
            <a:noFill/>
          </a:ln>
        </p:spPr>
        <p:txBody>
          <a:bodyPr wrap="square" lIns="0" tIns="0" rIns="0" bIns="0" anchor="ctr">
            <a:normAutofit/>
          </a:bodyPr>
          <a:lstStyle/>
          <a:p>
            <a:pPr>
              <a:buNone/>
              <a:defRPr sz="1275" b="0">
                <a:solidFill>
                  <a:srgbClr val="52637B"/>
                </a:solidFill>
                <a:latin typeface="Aptos"/>
                <a:ea typeface="Aptos"/>
                <a:cs typeface="Aptos"/>
              </a:defRPr>
            </a:pPr>
            <a:r>
              <a:rPr sz="1275" b="0" dirty="0" err="1">
                <a:solidFill>
                  <a:srgbClr val="52637B"/>
                </a:solidFill>
                <a:latin typeface="Aptos"/>
                <a:ea typeface="Aptos"/>
                <a:cs typeface="Aptos"/>
              </a:rPr>
              <a:t>Следећи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корак</a:t>
            </a:r>
            <a:r>
              <a:rPr sz="1275" b="0" dirty="0">
                <a:solidFill>
                  <a:srgbClr val="52637B"/>
                </a:solidFill>
                <a:latin typeface="Aptos"/>
                <a:ea typeface="Aptos"/>
                <a:cs typeface="Aptos"/>
              </a:rPr>
              <a:t>: </a:t>
            </a:r>
            <a:r>
              <a:rPr sz="1275" b="0" dirty="0" err="1">
                <a:solidFill>
                  <a:srgbClr val="52637B"/>
                </a:solidFill>
                <a:latin typeface="Aptos"/>
                <a:ea typeface="Aptos"/>
                <a:cs typeface="Aptos"/>
              </a:rPr>
              <a:t>применити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исти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модел</a:t>
            </a:r>
            <a:r>
              <a:rPr sz="1275" b="0" dirty="0">
                <a:solidFill>
                  <a:srgbClr val="52637B"/>
                </a:solidFill>
                <a:latin typeface="Aptos"/>
                <a:ea typeface="Aptos"/>
                <a:cs typeface="Aptos"/>
              </a:rPr>
              <a:t> </a:t>
            </a:r>
            <a:r>
              <a:rPr sz="1275" b="0" dirty="0" err="1">
                <a:solidFill>
                  <a:srgbClr val="52637B"/>
                </a:solidFill>
                <a:latin typeface="Aptos"/>
                <a:ea typeface="Aptos"/>
                <a:cs typeface="Aptos"/>
              </a:rPr>
              <a:t>на</a:t>
            </a:r>
            <a:r>
              <a:rPr sz="1275" b="0" dirty="0">
                <a:solidFill>
                  <a:srgbClr val="52637B"/>
                </a:solidFill>
                <a:latin typeface="Aptos"/>
                <a:ea typeface="Aptos"/>
                <a:cs typeface="Aptos"/>
              </a:rPr>
              <a:t> </a:t>
            </a:r>
            <a:r>
              <a:rPr sz="1275" b="0" dirty="0" err="1">
                <a:solidFill>
                  <a:srgbClr val="52637B"/>
                </a:solidFill>
                <a:latin typeface="Aptos"/>
                <a:ea typeface="Aptos"/>
                <a:cs typeface="Aptos"/>
              </a:rPr>
              <a:t>једну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реалну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границу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сопственом</a:t>
            </a:r>
            <a:r>
              <a:rPr sz="1275" b="0" dirty="0">
                <a:solidFill>
                  <a:srgbClr val="52637B"/>
                </a:solidFill>
                <a:latin typeface="Aptos"/>
                <a:ea typeface="Aptos"/>
                <a:cs typeface="Aptos"/>
              </a:rPr>
              <a:t> </a:t>
            </a:r>
            <a:r>
              <a:rPr sz="1275" b="0" dirty="0" err="1">
                <a:solidFill>
                  <a:srgbClr val="52637B"/>
                </a:solidFill>
                <a:latin typeface="Aptos"/>
                <a:ea typeface="Aptos"/>
                <a:cs typeface="Aptos"/>
              </a:rPr>
              <a:t>пројекту</a:t>
            </a:r>
            <a:r>
              <a:rPr sz="1275" b="0" dirty="0">
                <a:solidFill>
                  <a:srgbClr val="52637B"/>
                </a:solidFill>
                <a:latin typeface="Aptos"/>
                <a:ea typeface="Aptos"/>
                <a:cs typeface="Aptos"/>
              </a:rPr>
              <a:t>.</a:t>
            </a:r>
          </a:p>
        </p:txBody>
      </p:sp>
    </p:spTree>
    <p:extLst>
      <p:ext uri="{BB962C8B-B14F-4D97-AF65-F5344CB8AC3E}">
        <p14:creationId xmlns:p14="http://schemas.microsoft.com/office/powerpoint/2010/main" val="105403944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2102</Words>
  <Application>Microsoft Macintosh PowerPoint</Application>
  <DocSecurity>0</DocSecurity>
  <PresentationFormat>Widescreen</PresentationFormat>
  <Paragraphs>350</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Calibri</vt:lpstr>
      <vt:lpstr>Consolas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Jovanović Danijel</cp:lastModifiedBy>
  <cp:revision>1</cp:revision>
  <dcterms:created xsi:type="dcterms:W3CDTF">2026-09-29T08:52:54Z</dcterms:created>
  <dcterms:modified xsi:type="dcterms:W3CDTF">2026-09-29T09:21:02Z</dcterms:modified>
</cp:coreProperties>
</file>