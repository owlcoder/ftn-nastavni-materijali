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49ddb95594bbd" /><Relationship Type="http://schemas.openxmlformats.org/officeDocument/2006/relationships/extended-properties" Target="/docProps/app.xml" Id="Rca412a83182d4ff6" /><Relationship Type="http://schemas.openxmlformats.org/officeDocument/2006/relationships/officeDocument" Target="/ppt/presentation.xml" Id="R877d7c23195b4c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64bcb9a8e44b1"/>
  </p:sldMasterIdLst>
  <p:notesMasterIdLst>
    <p:notesMasterId xmlns:r="http://schemas.openxmlformats.org/officeDocument/2006/relationships" r:id="R9b2dfbc968a54502"/>
  </p:notesMasterIdLst>
  <p:sldIdLst>
    <p:sldId xmlns:r="http://schemas.openxmlformats.org/officeDocument/2006/relationships" id="256" r:id="R0509dc1c3ae043bc"/>
    <p:sldId xmlns:r="http://schemas.openxmlformats.org/officeDocument/2006/relationships" id="257" r:id="Ra088c258524d4518"/>
    <p:sldId xmlns:r="http://schemas.openxmlformats.org/officeDocument/2006/relationships" id="258" r:id="R9a090b87d0b34050"/>
    <p:sldId xmlns:r="http://schemas.openxmlformats.org/officeDocument/2006/relationships" id="259" r:id="Rdca74eb0863e4c58"/>
    <p:sldId xmlns:r="http://schemas.openxmlformats.org/officeDocument/2006/relationships" id="260" r:id="Rbc276ee21dc043cf"/>
    <p:sldId xmlns:r="http://schemas.openxmlformats.org/officeDocument/2006/relationships" id="261" r:id="Rd1dac7fd022943ae"/>
    <p:sldId xmlns:r="http://schemas.openxmlformats.org/officeDocument/2006/relationships" id="262" r:id="R2f1de67b155b4cd8"/>
    <p:sldId xmlns:r="http://schemas.openxmlformats.org/officeDocument/2006/relationships" id="263" r:id="R023e1cac617640f9"/>
    <p:sldId xmlns:r="http://schemas.openxmlformats.org/officeDocument/2006/relationships" id="264" r:id="R23d59d3c693943bc"/>
    <p:sldId xmlns:r="http://schemas.openxmlformats.org/officeDocument/2006/relationships" id="265" r:id="R45b3f80d498245c7"/>
    <p:sldId xmlns:r="http://schemas.openxmlformats.org/officeDocument/2006/relationships" id="266" r:id="R6e4752a53d264ac9"/>
    <p:sldId xmlns:r="http://schemas.openxmlformats.org/officeDocument/2006/relationships" id="267" r:id="R01d3be826ec24e97"/>
    <p:sldId xmlns:r="http://schemas.openxmlformats.org/officeDocument/2006/relationships" id="268" r:id="Re804c1c112c34c78"/>
    <p:sldId xmlns:r="http://schemas.openxmlformats.org/officeDocument/2006/relationships" id="269" r:id="R7eed0e2909104223"/>
    <p:sldId xmlns:r="http://schemas.openxmlformats.org/officeDocument/2006/relationships" id="270" r:id="Rc98e57076415406d"/>
    <p:sldId xmlns:r="http://schemas.openxmlformats.org/officeDocument/2006/relationships" id="271" r:id="R05e29e6b756047ea"/>
    <p:sldId xmlns:r="http://schemas.openxmlformats.org/officeDocument/2006/relationships" id="272" r:id="Rd5f2db4b17bf4840"/>
    <p:sldId xmlns:r="http://schemas.openxmlformats.org/officeDocument/2006/relationships" id="273" r:id="Rb1116aa51ae14a56"/>
    <p:sldId xmlns:r="http://schemas.openxmlformats.org/officeDocument/2006/relationships" id="274" r:id="R8cd804fd8e024c25"/>
    <p:sldId xmlns:r="http://schemas.openxmlformats.org/officeDocument/2006/relationships" id="275" r:id="Rc3966107cb5341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4d2e9c0774fb0" /><Relationship Type="http://schemas.openxmlformats.org/officeDocument/2006/relationships/slideMaster" Target="/ppt/slideMasters/slideMaster1.xml" Id="R55864bcb9a8e44b1" /><Relationship Type="http://schemas.openxmlformats.org/officeDocument/2006/relationships/notesMaster" Target="/ppt/notesMasters/notesMaster1.xml" Id="R9b2dfbc968a54502" /><Relationship Type="http://schemas.openxmlformats.org/officeDocument/2006/relationships/presProps" Target="/ppt/presProps.xml" Id="Rbec697a342894358" /><Relationship Type="http://schemas.openxmlformats.org/officeDocument/2006/relationships/viewProps" Target="/ppt/viewProps.xml" Id="R3a9704fcbfb94986" /><Relationship Type="http://schemas.openxmlformats.org/officeDocument/2006/relationships/tableStyles" Target="/ppt/tableStyles.xml" Id="R9550b97145bf480b" /><Relationship Type="http://schemas.openxmlformats.org/officeDocument/2006/relationships/slide" Target="/ppt/slides/slide1.xml" Id="R0509dc1c3ae043bc" /><Relationship Type="http://schemas.openxmlformats.org/officeDocument/2006/relationships/slide" Target="/ppt/slides/slide2.xml" Id="Ra088c258524d4518" /><Relationship Type="http://schemas.openxmlformats.org/officeDocument/2006/relationships/slide" Target="/ppt/slides/slide3.xml" Id="R9a090b87d0b34050" /><Relationship Type="http://schemas.openxmlformats.org/officeDocument/2006/relationships/slide" Target="/ppt/slides/slide4.xml" Id="Rdca74eb0863e4c58" /><Relationship Type="http://schemas.openxmlformats.org/officeDocument/2006/relationships/slide" Target="/ppt/slides/slide5.xml" Id="Rbc276ee21dc043cf" /><Relationship Type="http://schemas.openxmlformats.org/officeDocument/2006/relationships/slide" Target="/ppt/slides/slide6.xml" Id="Rd1dac7fd022943ae" /><Relationship Type="http://schemas.openxmlformats.org/officeDocument/2006/relationships/slide" Target="/ppt/slides/slide7.xml" Id="R2f1de67b155b4cd8" /><Relationship Type="http://schemas.openxmlformats.org/officeDocument/2006/relationships/slide" Target="/ppt/slides/slide8.xml" Id="R023e1cac617640f9" /><Relationship Type="http://schemas.openxmlformats.org/officeDocument/2006/relationships/slide" Target="/ppt/slides/slide9.xml" Id="R23d59d3c693943bc" /><Relationship Type="http://schemas.openxmlformats.org/officeDocument/2006/relationships/slide" Target="/ppt/slides/slide10.xml" Id="R45b3f80d498245c7" /><Relationship Type="http://schemas.openxmlformats.org/officeDocument/2006/relationships/slide" Target="/ppt/slides/slide11.xml" Id="R6e4752a53d264ac9" /><Relationship Type="http://schemas.openxmlformats.org/officeDocument/2006/relationships/slide" Target="/ppt/slides/slide12.xml" Id="R01d3be826ec24e97" /><Relationship Type="http://schemas.openxmlformats.org/officeDocument/2006/relationships/slide" Target="/ppt/slides/slide13.xml" Id="Re804c1c112c34c78" /><Relationship Type="http://schemas.openxmlformats.org/officeDocument/2006/relationships/slide" Target="/ppt/slides/slide14.xml" Id="R7eed0e2909104223" /><Relationship Type="http://schemas.openxmlformats.org/officeDocument/2006/relationships/slide" Target="/ppt/slides/slide15.xml" Id="Rc98e57076415406d" /><Relationship Type="http://schemas.openxmlformats.org/officeDocument/2006/relationships/slide" Target="/ppt/slides/slide16.xml" Id="R05e29e6b756047ea" /><Relationship Type="http://schemas.openxmlformats.org/officeDocument/2006/relationships/slide" Target="/ppt/slides/slide17.xml" Id="Rd5f2db4b17bf4840" /><Relationship Type="http://schemas.openxmlformats.org/officeDocument/2006/relationships/slide" Target="/ppt/slides/slide18.xml" Id="Rb1116aa51ae14a56" /><Relationship Type="http://schemas.openxmlformats.org/officeDocument/2006/relationships/slide" Target="/ppt/slides/slide19.xml" Id="R8cd804fd8e024c25" /><Relationship Type="http://schemas.openxmlformats.org/officeDocument/2006/relationships/slide" Target="/ppt/slides/slide20.xml" Id="Rc3966107cb53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9fdd53803d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ecead245e94349" /><Relationship Type="http://schemas.openxmlformats.org/officeDocument/2006/relationships/notesMaster" Target="/ppt/notesMasters/notesMaster1.xml" Id="R696bf380565f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0b2a0a17c143ad" /><Relationship Type="http://schemas.openxmlformats.org/officeDocument/2006/relationships/notesMaster" Target="/ppt/notesMasters/notesMaster1.xml" Id="R05cac1830c6d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66e841f13c4cf8" /><Relationship Type="http://schemas.openxmlformats.org/officeDocument/2006/relationships/notesMaster" Target="/ppt/notesMasters/notesMaster1.xml" Id="Rbb47893167cb48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9c3bf0eaf44109" /><Relationship Type="http://schemas.openxmlformats.org/officeDocument/2006/relationships/notesMaster" Target="/ppt/notesMasters/notesMaster1.xml" Id="R1bda92f0e924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771a921dd468b" /><Relationship Type="http://schemas.openxmlformats.org/officeDocument/2006/relationships/notesMaster" Target="/ppt/notesMasters/notesMaster1.xml" Id="R561641ddae1748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c2c596a71949dc" /><Relationship Type="http://schemas.openxmlformats.org/officeDocument/2006/relationships/notesMaster" Target="/ppt/notesMasters/notesMaster1.xml" Id="R941befd645bd4f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e95df79c94488f" /><Relationship Type="http://schemas.openxmlformats.org/officeDocument/2006/relationships/notesMaster" Target="/ppt/notesMasters/notesMaster1.xml" Id="Rb00fa3bec74346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65a9c977e04e0d" /><Relationship Type="http://schemas.openxmlformats.org/officeDocument/2006/relationships/notesMaster" Target="/ppt/notesMasters/notesMaster1.xml" Id="R7eab714545d945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b98d2e1508407e" /><Relationship Type="http://schemas.openxmlformats.org/officeDocument/2006/relationships/notesMaster" Target="/ppt/notesMasters/notesMaster1.xml" Id="R2b61df4c875c41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dafe7883294d54" /><Relationship Type="http://schemas.openxmlformats.org/officeDocument/2006/relationships/notesMaster" Target="/ppt/notesMasters/notesMaster1.xml" Id="R12d66c5c16f741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16faa6ee0f4734" /><Relationship Type="http://schemas.openxmlformats.org/officeDocument/2006/relationships/notesMaster" Target="/ppt/notesMasters/notesMaster1.xml" Id="R31da016d21234d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60b57c25554452" /><Relationship Type="http://schemas.openxmlformats.org/officeDocument/2006/relationships/notesMaster" Target="/ppt/notesMasters/notesMaster1.xml" Id="R88173e1f6d1e4a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b7d090cc1846f5" /><Relationship Type="http://schemas.openxmlformats.org/officeDocument/2006/relationships/notesMaster" Target="/ppt/notesMasters/notesMaster1.xml" Id="R3711651c197e4c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bb03fa6ad645e8" /><Relationship Type="http://schemas.openxmlformats.org/officeDocument/2006/relationships/notesMaster" Target="/ppt/notesMasters/notesMaster1.xml" Id="R28baf3a68fae41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05d1367e2d47e4" /><Relationship Type="http://schemas.openxmlformats.org/officeDocument/2006/relationships/notesMaster" Target="/ppt/notesMasters/notesMaster1.xml" Id="Rbdbd8a2d0c3247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b241e446ee4e18" /><Relationship Type="http://schemas.openxmlformats.org/officeDocument/2006/relationships/notesMaster" Target="/ppt/notesMasters/notesMaster1.xml" Id="R7d28f1ccce7740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0569ad89a74007" /><Relationship Type="http://schemas.openxmlformats.org/officeDocument/2006/relationships/notesMaster" Target="/ppt/notesMasters/notesMaster1.xml" Id="R0651a400032e42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b33c1359bb4dea" /><Relationship Type="http://schemas.openxmlformats.org/officeDocument/2006/relationships/notesMaster" Target="/ppt/notesMasters/notesMaster1.xml" Id="Rd14b8300b6eb42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280d3bea4848b5" /><Relationship Type="http://schemas.openxmlformats.org/officeDocument/2006/relationships/notesMaster" Target="/ppt/notesMasters/notesMaster1.xml" Id="R77031612c2fd45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96d34c5e0043b8" /><Relationship Type="http://schemas.openxmlformats.org/officeDocument/2006/relationships/notesMaster" Target="/ppt/notesMasters/notesMaster1.xml" Id="R1e7f1e18a293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OIB_Pravila_Polaganja.pdf; oibPracticum.ts.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oibPracticum.ts — сажетак практикума.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табела структуре полагања.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 — коначна оцена.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OIB_Pravila_Polaganja.pdf, одељак 3; oibCheckpoints.ts.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одељци 4–6.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oibPracticum.ts — Како користити практикум.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oibPracticum.ts — циљеви и сажетак практикума.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одељци 1, 2 и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oibCheckpoints.ts.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одељци 4 и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oibPracticum.ts и oibCheckpoints.ts.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2559bfd81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c4b62ffef24cd6" /><Relationship Type="http://schemas.openxmlformats.org/officeDocument/2006/relationships/slideLayout" Target="/ppt/slideLayouts/slideLayout1.xml" Id="R045d13e3684e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d13e3684e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69f2e4e764e8a" /><Relationship Type="http://schemas.openxmlformats.org/officeDocument/2006/relationships/notesSlide" Target="/ppt/notesSlides/notesSlide1.xml" Id="R52da4f5ebdc6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66cb4fba04a22" /><Relationship Type="http://schemas.openxmlformats.org/officeDocument/2006/relationships/notesSlide" Target="/ppt/notesSlides/notesSlide2.xml" Id="Rc33f1c95a0a0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03534cf94412f" /><Relationship Type="http://schemas.openxmlformats.org/officeDocument/2006/relationships/notesSlide" Target="/ppt/notesSlides/notesSlide3.xml" Id="Re6e5aa73876249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be60bb6954926" /><Relationship Type="http://schemas.openxmlformats.org/officeDocument/2006/relationships/notesSlide" Target="/ppt/notesSlides/notesSlide4.xml" Id="Rc4e820f810e7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68de620074908" /><Relationship Type="http://schemas.openxmlformats.org/officeDocument/2006/relationships/notesSlide" Target="/ppt/notesSlides/notesSlide5.xml" Id="Rff827f12475849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84c07b7564535" /><Relationship Type="http://schemas.openxmlformats.org/officeDocument/2006/relationships/notesSlide" Target="/ppt/notesSlides/notesSlide6.xml" Id="R8ae4c5aab44c46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91ef3cada4bdd" /><Relationship Type="http://schemas.openxmlformats.org/officeDocument/2006/relationships/notesSlide" Target="/ppt/notesSlides/notesSlide7.xml" Id="R65d195cc47d9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40b5fe3364586" /><Relationship Type="http://schemas.openxmlformats.org/officeDocument/2006/relationships/notesSlide" Target="/ppt/notesSlides/notesSlide8.xml" Id="Re0a9378e7b0c47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e4758b03b47b0" /><Relationship Type="http://schemas.openxmlformats.org/officeDocument/2006/relationships/notesSlide" Target="/ppt/notesSlides/notesSlide9.xml" Id="R80e8079ab55a4c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4b5ccffda485d" /><Relationship Type="http://schemas.openxmlformats.org/officeDocument/2006/relationships/notesSlide" Target="/ppt/notesSlides/notesSlide10.xml" Id="R6d5bd906e0ca48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6d6c5da274fd0" /><Relationship Type="http://schemas.openxmlformats.org/officeDocument/2006/relationships/notesSlide" Target="/ppt/notesSlides/notesSlide11.xml" Id="R7fa987cdcb7a42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00ba2253f44d8" /><Relationship Type="http://schemas.openxmlformats.org/officeDocument/2006/relationships/notesSlide" Target="/ppt/notesSlides/notesSlide12.xml" Id="R7cc6b62e79fd40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47748e6c84374" /><Relationship Type="http://schemas.openxmlformats.org/officeDocument/2006/relationships/notesSlide" Target="/ppt/notesSlides/notesSlide13.xml" Id="R75c675b38d4d4f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08b544f914879" /><Relationship Type="http://schemas.openxmlformats.org/officeDocument/2006/relationships/notesSlide" Target="/ppt/notesSlides/notesSlide14.xml" Id="R618fd04106584c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5ed4027334c9e" /><Relationship Type="http://schemas.openxmlformats.org/officeDocument/2006/relationships/notesSlide" Target="/ppt/notesSlides/notesSlide15.xml" Id="R56fb7ef6dfea48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902d7c01647d3" /><Relationship Type="http://schemas.openxmlformats.org/officeDocument/2006/relationships/notesSlide" Target="/ppt/notesSlides/notesSlide16.xml" Id="Recf3fec5f4854a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a0234dfdb47bc" /><Relationship Type="http://schemas.openxmlformats.org/officeDocument/2006/relationships/notesSlide" Target="/ppt/notesSlides/notesSlide17.xml" Id="R3bb5ffa0ce784c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f9161524941a8" /><Relationship Type="http://schemas.openxmlformats.org/officeDocument/2006/relationships/notesSlide" Target="/ppt/notesSlides/notesSlide18.xml" Id="Rf99fc3f1751042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714533c0c4b4f" /><Relationship Type="http://schemas.openxmlformats.org/officeDocument/2006/relationships/notesSlide" Target="/ppt/notesSlides/notesSlide19.xml" Id="R7f8db833a3f04f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bf60f0c0f4a0f" /><Relationship Type="http://schemas.openxmlformats.org/officeDocument/2006/relationships/notesSlide" Target="/ppt/notesSlides/notesSlide20.xml" Id="R222f78e2c292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BC2FD40-ECBB-43A4-8948-00D0462F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5AFF620-7FD6-4F66-A3A7-3F616DD8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B75447A-F58D-4F9D-A89E-55CE5BC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31F3B8-119A-4A72-A90B-59AC256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10363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Основ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н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е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информаци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ј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е</a:t>
            </a:r>
            <a:r>
              <a:rPr sz="39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 о предмету</a:t>
            </a:r>
            <a:endParaRPr sz="3900" b="1">
              <a:solidFill>
                <a:srgbClr val="1A202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FBC222-B084-4798-8609-E0DF700A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Организација наставе, начини полагања и пројектне обавезе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09416DF2-7F49-4E4D-AB38-E0E03449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06E7103-25B4-4618-B7AD-C628C8AA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70C57BD-83A5-4956-9637-A8A1D5E3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2026/27.</a:t>
            </a:r>
          </a:p>
        </p:txBody>
      </p:sp>
    </p:spTree>
    <p:extLst>
      <p:ext uri="{BB962C8B-B14F-4D97-AF65-F5344CB8AC3E}">
        <p14:creationId xmlns:p14="http://schemas.microsoft.com/office/powerpoint/2010/main" val="1952545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061E3A5-1BBC-4FE5-AB66-A565F4BC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18BF27E-B09F-46A1-B518-11A068E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21CDD3D-B204-4F7E-BE84-FA41B19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E58470-463C-4CE7-BF2F-95E3609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Безбедносни захтев, контрола и доказ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9DBEDE-F9B0-4509-AD1F-75635C24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Анализа полази од имовине и претње, а завршава се провером изабране контроле.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FADCCF6-3DC4-4BCC-99FB-BF8C9EB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71B726-FCF9-4886-AB7F-F2112FF7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865BA5-605D-4FCF-989A-E25BA08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9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B280E9-D276-4580-9004-9A12A7B4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0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има вредност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2EDED5F-7BDA-4383-8505-FE9DA987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447925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EC7D90-A144-48A9-BB81-6664D5E3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2562225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8BD1CA3-4BED-4A1E-88DC-C7367640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2809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8A3DAFA-01D7-4DE7-A836-028E81B7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3190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7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може поћи по злу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7FF30C0-C860-4C98-8BB2-A6728ECE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447925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DCE770B-08F8-4331-8CE6-BBB68CA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562225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813C0F-E57B-434C-B666-131968F1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809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Захтев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3ACF7F6-71B0-4099-A081-569F1FB1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3190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86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које понашање тражимо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CB69B60-DF29-43E9-8FC0-58A8569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447925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65EB382-CB25-4F3F-AB38-D34B596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2562225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0FA8E74-A806-446E-97CA-BBB759D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2809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F628BF7-57C1-4E99-B65E-ADCD6AB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190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како ограничавамо ризик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B5131F35-107F-4B59-B213-AF451774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447925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640CE87-4C3C-4853-88F6-268DFF64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562225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EC34BFC-FA28-4B49-A4AA-A47DEC2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809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241DF44-72E1-49B2-A929-CD5FE88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190875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тест, лог или демонстрација</a:t>
            </a:r>
          </a:p>
        </p:txBody>
      </p:sp>
      <p:cxnSp>
        <p:nvCxnSpPr>
          <p:cNvPr id="351" name="Straight Arrow Connector 11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652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2" name="Straight Arrow Connector 11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5394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3" name="Straight Arrow Connector 11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7136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4" name="Straight Arrow Connector 117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8878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E717178-F71E-4904-94F8-962C74E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03632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5B5FC52-7C49-489F-B94A-62AD0A98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71975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4E92CD9-D9A7-4695-9D80-663DD0A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РАДНИ МОДЕЛ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11A948F-5BEE-4D7B-A2E4-135A95E8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963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Исти модел важи за идентитет, приступ подацима, политике, MFA, инциденте и процену ризика.</a:t>
            </a:r>
          </a:p>
        </p:txBody>
      </p:sp>
    </p:spTree>
    <p:extLst>
      <p:ext uri="{BB962C8B-B14F-4D97-AF65-F5344CB8AC3E}">
        <p14:creationId xmlns:p14="http://schemas.microsoft.com/office/powerpoint/2010/main" val="944072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46EE255-B7D3-4FE8-AB69-0EE3ABC3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1F45D53-F350-48FE-AC1D-FC6DFA5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18AF30C-540E-4A85-BD29-508C9D1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FE5947-EBE7-4C19-8D5E-0D6C7E9E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Начини полагања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9C09D0-2763-45F8-8739-BC9B47AD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Оба начина завршавају се усменим испитом. Разликују се по обиму пројекта и обавези полагања елиминационог теста.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DD864A5-D2B2-41A5-8A91-EA9C399C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10150" cy="2743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7D987A-545C-418D-9A38-262D6795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РЕДОВАН НАЧИН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490085-07E1-4497-B305-5B342283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30 + 20 + 40 бодова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22A82E-6E15-401D-B63E-624CD1B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4705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Тимски пројекат: до 30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Елиминациони тест: 20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Усмени испит: до 40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Додатни бодови: до 5 + до 5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CA7EEDE-8146-41D3-B0BA-C5DF2791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38375"/>
            <a:ext cx="5010150" cy="2743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E282403-A898-4C7F-B909-5FA6DF67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СУПЕР ПРОЈЕКАТ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E876F49-3E4D-42C8-86D3-70737B4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60 + 40 бодова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CC28BD2-2E1C-412B-B98B-A4F89181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705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Практични део дипломског рада: до 60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Елиминациони тест: ослобођен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Усмени испит: до 40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Највише 12 студената по генерацији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E5E65C-1AD7-485A-9DE2-65FBDAA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 позитивну оцену важе сва три услова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32B3897-568F-4B60-899F-E05A45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3219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8CD1CFA-118B-40C2-ACA0-339A390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49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F5EF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A2636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47C3B3-E02B-44D3-A7D5-C02EFD7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38825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МАКСИМУМ БОДОВА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ED6CF22-05AD-46BE-832B-565C1C4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467350"/>
            <a:ext cx="3219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E9D4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56320DA-7F16-4C75-BD1C-EBD8FA9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5149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B86A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86A09"/>
                </a:solidFill>
                <a:latin typeface="Aptos Display"/>
                <a:ea typeface="Aptos Display"/>
                <a:cs typeface="Aptos Display"/>
              </a:rPr>
              <a:t>51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7206501-9C52-4D8F-BFCE-A24D79E8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838825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МИНИМУМ ЗА ПРОЛАЗ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396BC86-D959-46C1-BC7B-FB6AD6E4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219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FE3E33B-8274-4346-BE29-436DF23A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38A5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38A5B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1CB43BA-22A8-47A0-A3ED-7D7DF97B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38825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СВЕ КОМПОНЕНТЕ</a:t>
            </a:r>
          </a:p>
        </p:txBody>
      </p:sp>
    </p:spTree>
    <p:extLst>
      <p:ext uri="{BB962C8B-B14F-4D97-AF65-F5344CB8AC3E}">
        <p14:creationId xmlns:p14="http://schemas.microsoft.com/office/powerpoint/2010/main" val="1026424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4A0029B-4ACF-49CA-B6AD-3A4D786E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C6E3150-698F-4887-A2F3-8A64C85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9A45AD-B6E0-45C1-BC4A-48C22BA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E245BF3-1B50-481A-B043-72DDC51A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Структура бодовања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E48B38-5A3A-43AF-BD3C-8383DD65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Бодови се сабирају до максимума од 100. Додатни бодови не замењују обавезне компоненте.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E06886D-184D-440C-8EB9-C2A6D813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Начин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F4C8EC0-D116-4525-BC5F-267A31A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240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Пројекат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B3B8B5-8D6F-4CBF-99F8-EF4F7972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24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E83D30A-6BA2-4D43-BAAD-50DEFCD2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240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Додатно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B80012-6E8F-4A1B-9279-4C7DA9E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24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Усмени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50F8800-EF75-4BAE-A98B-EAC913C1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24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Укупно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CC6AB25-A607-4F0A-B308-55FE3EE6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0363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73A910-6BAA-4F6B-887A-351207C5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Редован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BEF8E45-2417-4BC3-963A-DB78876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908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C67A5FA-0859-4393-BD68-3729212B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4970B09-D2FB-4E27-88A3-CD0D3C9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 5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6CB90BA-6168-4807-812F-05D3AC1F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40 + до 5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AC3A5BC-1BF2-4D6A-9B6C-11C015E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934595A-904E-4DD2-87E7-D16915D6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363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C53E1B8-2C70-47A0-91EA-6B991E5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Супер пројекат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7F7726B-D63B-4CD3-9271-8A7D95A5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15ACBD0-13C9-43F0-8BD9-00459E9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29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ослобођен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FA2559F-03CA-403C-8D66-7348C7CB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 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9808A0A-C529-4445-8F98-502EE488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40 + до 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0802939-42E1-4217-A81A-C3999688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2B3C89A-CE6A-40BE-860F-60F35D6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9144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6444D35-7549-4F0F-9E46-59887EB1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19625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УСЛОВ БОДОВАЊА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7D09420-7F3E-4419-AF35-CCE863F9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Коначни збир не може прећи 100 бодова. Позитивна оцена захтева најмање 51 бод и све обавезне компоненте.</a:t>
            </a:r>
          </a:p>
        </p:txBody>
      </p:sp>
    </p:spTree>
    <p:extLst>
      <p:ext uri="{BB962C8B-B14F-4D97-AF65-F5344CB8AC3E}">
        <p14:creationId xmlns:p14="http://schemas.microsoft.com/office/powerpoint/2010/main" val="1265686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7EC0818-C3E9-471E-AF0B-4D8F5D10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376DC29F-5C12-4731-8A5C-2D95B736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DD6011-9693-44F9-A05D-4C898DE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A04591-414B-44E6-AAEB-7F23CC9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Формирање коначне оцене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4DAE645-D5FA-4CF6-88CC-E552B90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Оцена се утврђује на основу укупног броја бодова након испуњења свих обавезних компоненти.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4DC6686-32BB-4AEA-B7BA-54CDDBA1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943100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B657D93-B282-411F-8EE8-55A40E2C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130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51–60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E72E0E-B0F9-4C2D-82C3-05951D7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7FB07A-9CE4-4AB3-86CA-9204CB3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оцена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EF250CD-BA5C-4437-BD03-8581972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943100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0D3AAE4-6022-4122-8459-9B283EA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8130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61–70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B4787BB-897A-4222-98BC-79A1C3AE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718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1D15DE5-828A-4B1B-961C-C14A95B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385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оцена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07E5DF1-5DD8-4816-8B32-DCEE61B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943100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766B5F9-4FA9-4725-947F-D3B7BBD9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8130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71–80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0CEE8CA-6FF6-4ECC-9E13-5D42F7B2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718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EC7ECA9-C252-43F0-AF08-B37B23C6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385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оцена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736C763-47DA-4313-A07E-60718BE6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943100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A371819-27AB-485A-A579-F22CB979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8130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81–90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BABDF12-1FFA-4F18-A911-2F8C2E0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718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F3AD1D-3525-45E8-A267-993872DC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оцена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BE1BD47D-FD60-4A71-8C45-60EF9ED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943100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0334F9E-2E11-4287-9660-9E67615D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8130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91–100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6707C5B-F58E-4601-B161-EA67F133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718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596051-2FEF-42E1-A898-A6015186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385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оцена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F7EBF-08EF-4B96-B8B5-4AA6A694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632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2EE03-24C0-4DA0-9D90-26405DA0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C2C98-F564-4052-AF11-528D1FF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УСЛОВ ЗА ОЦЕНУ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297BA-AC3D-4AE9-A137-F6C72E8C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963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Прво се испуњавају обавезе изабраног начина полагања. тек затим укупан број бодова одређује оцену.</a:t>
            </a:r>
          </a:p>
        </p:txBody>
      </p:sp>
    </p:spTree>
    <p:extLst>
      <p:ext uri="{BB962C8B-B14F-4D97-AF65-F5344CB8AC3E}">
        <p14:creationId xmlns:p14="http://schemas.microsoft.com/office/powerpoint/2010/main" val="1238421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C565DE1-B28B-4D9F-8F87-22A704B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FB691FB-98B6-4F04-86EC-0873E4C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22274E-4817-427C-BBEB-C75FB161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490DD03-D4C2-40F0-83AF-3169BA4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Организација пројектног рада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55D0BB-1139-4C42-96EC-4E60882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Редован пројекат развија се у систему SCUTUM и наставља рад претходних генерација.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70FBEB0-8E7C-4273-8CD1-42034125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35280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71D502-990A-47F7-8BFE-6FCCA5F0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ТИМ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6C75679-E663-4612-BFF8-1B04E520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6–10 студената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E7DD654-1327-49BC-A601-0CF532DA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04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Јасне одговорности, заједнички Git ток и способност да сваки члан образложи сопствени допринос.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DD9BB7A-08C3-4F98-B181-878774C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35280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9F702C2-E43E-4150-AA4E-BBF6F46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14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КВАЛИТЕТ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988A137-51BB-42BC-9145-DAE5EB8F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Преглед и тестови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5F0BE5E-B29E-4E28-A521-C0D6EFD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04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Безбедносне и архитектонске одлуке морају бити видљиве у коду, тестовима и трагу промене.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DC7D14C-E7DE-4667-A0A8-C3F6B4B8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35280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A7F9909-B91D-4DAD-B4CA-EDBCC95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ОДБРАНА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D5B3736-AAA2-4031-A300-9B58738B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622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 разумевања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0CB6831-F0CD-4EA9-958F-24571A84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04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Демонстрација решења није довољна без објашњења механизма, ограничења и индивидуалног рада.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549F9-E911-4B34-8CD7-4E4950B5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3632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1E926-9994-4819-B36B-48CF1AD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53025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C8606-5122-4961-8164-4BF33B87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ВАЖНО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6F19A-0094-4736-AFD1-AA0E6C3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63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Супер пројекат је практични део дипломског рада, непосредно повезан са информационом безбедношћу. тема и обим се утврђују пре почетка.</a:t>
            </a:r>
          </a:p>
        </p:txBody>
      </p:sp>
    </p:spTree>
    <p:extLst>
      <p:ext uri="{BB962C8B-B14F-4D97-AF65-F5344CB8AC3E}">
        <p14:creationId xmlns:p14="http://schemas.microsoft.com/office/powerpoint/2010/main" val="2010118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E9B4E9F-C50D-42DF-9640-E947496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452AD5D-37C7-4CBC-A2BB-72C3AEA0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00A53A-2824-45A0-B596-47B03390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8F1929-E0E5-4A58-94FB-941D9AFC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Контролне тачке пројекта</a:t>
            </a:r>
            <a:endParaRPr sz="2550" b="1">
              <a:solidFill>
                <a:srgbClr val="1A202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CF91CA5-28BB-4BD9-A8A2-479F02C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Контролне тачке одржавају се сваке друге рачунарске вежбе и проверавају унапред дефинисан напредак.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B0D96D2-7434-48B3-8B47-B0A62791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4098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766329-54E7-4CA6-B98D-63FE3209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14600"/>
            <a:ext cx="2124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C8F5A67-506A-4506-9BA2-1036A6FF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62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53F3E0-390A-4202-8B8F-B5D69350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43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64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идентитет, улоге и ауторизација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48113B0-F016-4B18-B88E-3AB572B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24098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41036BE-48D9-4F93-8798-C18B666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2124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591D6C-14E6-421B-8633-E9484DE0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62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1F11D3F-0628-42B1-98EB-51F8BF7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политике, класификација и baseline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DD80B5C-5B18-46BB-BFB2-656F6E51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24098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8C47DA-7B66-4E30-9248-128BCE9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14600"/>
            <a:ext cx="2124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A9DBA66-DA33-4ABE-A26C-C10AC10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62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0A3D36F-5D1A-41BA-A1CE-60E058A1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тестирање и manual-core-baseline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8C6B54A-5D64-4B89-8248-5FF4E374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00300"/>
            <a:ext cx="24098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7010F38-A6E0-4BAE-8EF0-F9BA0F29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124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5F3768F-32EA-42F8-9856-BF7B112F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P4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D8AAB56-4B23-4121-BD85-EDF814F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оперативна безбедност и одбрана</a:t>
            </a:r>
          </a:p>
        </p:txBody>
      </p:sp>
      <p:cxnSp>
        <p:nvCxnSpPr>
          <p:cNvPr id="290" name="Straight Arrow Connector 97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86125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91" name="Straight Arrow Connector 98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6265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92" name="Straight Arrow Connector 99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39175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A6715B6-183C-4398-A4FF-F3FC83D8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88773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1CACA"/>
            </a:solidFill>
            <a:prstDash val="solid"/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B5AAC81-28B0-4B5E-9761-4349AF7A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C347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34747"/>
                </a:solidFill>
                <a:latin typeface="Aptos Display"/>
                <a:ea typeface="Aptos Display"/>
                <a:cs typeface="Aptos Display"/>
              </a:rPr>
              <a:t>ДО 5 БОДОВА МАЊЕ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478C320-FDC3-4C4A-BB5F-0DA6DB9B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05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34747"/>
                </a:solidFill>
                <a:latin typeface="Aptos"/>
                <a:ea typeface="Aptos"/>
                <a:cs typeface="Aptos"/>
              </a:rPr>
              <a:t>ако контролна тачка није испуњена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B9B3BD0-FABE-4629-89E8-98F005BF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67225"/>
            <a:ext cx="5200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Испуњена контролна тачка не носи умањење. Циљ је да тим рано уочи кашњење и покаже проверљив напредак.</a:t>
            </a:r>
          </a:p>
        </p:txBody>
      </p:sp>
    </p:spTree>
    <p:extLst>
      <p:ext uri="{BB962C8B-B14F-4D97-AF65-F5344CB8AC3E}">
        <p14:creationId xmlns:p14="http://schemas.microsoft.com/office/powerpoint/2010/main" val="497767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B6B3CF7-A55B-4046-9422-7DB6419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BD58E35D-2B9E-4B6E-AB4F-108BE15F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B1828B-9C1C-4797-91E9-A7838C5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B09319-6684-4EED-875C-70E5CD9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Компоненте испита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07D89F-6B5B-4197-9ED3-4138E57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Одбрана пројекта, елиминациони тест и усмени испит проверавају различите аспекте знања и индивидуалног доприноса.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915099A-3A3B-4DA9-A9FB-95CEE3A6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33909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ED64C1-7F3B-4FCF-8B6F-1376DBC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ОДБРАНА ПРОЈЕКТА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718C0D9-096B-41DB-95CC-A9B85F22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2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Демонстрација + разумевање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57CF6B-4027-4CF7-A36E-61A6D21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30861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Предрок: прва недеља децембра, уз олакшани усмени.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Редовни термин: пред крај зимског семестра.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Проверавају се механизми, тестови и архитектонске одлуке.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5D0A74B-6EA5-4B58-9D91-7A3568E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81225"/>
            <a:ext cx="33909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12019F6-8F91-47A4-8276-DD48401E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ЕЛИМИНАЦИОНИ ТЕСТ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01B00A1-A5AA-4FF6-A892-323F0EA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20 </a:t>
            </a:r>
            <a:r>
              <a:rPr sz="19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бодова</a:t>
            </a:r>
            <a:endParaRPr sz="195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C2B3708-E66A-4EC2-A0BC-1739BC3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30861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Обавезан у редовном начину.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Питања су отвореног типа.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Два редовна термина и један поправни у летњем семестру.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7A25A2-30B8-4832-8101-D347DD7A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3909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81DB0D-C788-404E-9AAA-C773C10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УСМЕНИ ИСПИТ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7F843A8-DD15-4DE6-AFA6-32CBE0EB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 40 бодова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BCCFBC-E007-4812-AEF0-FE4DFFEE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30861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Обавезан у оба начина.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Повезује концепте са пројектом.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Студент образлаже безбедносне и архитектонске одлуке.</a:t>
            </a:r>
          </a:p>
        </p:txBody>
      </p:sp>
    </p:spTree>
    <p:extLst>
      <p:ext uri="{BB962C8B-B14F-4D97-AF65-F5344CB8AC3E}">
        <p14:creationId xmlns:p14="http://schemas.microsoft.com/office/powerpoint/2010/main" val="636308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232C7D7-61C2-4DBA-8C1A-2A6A23A6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BFCC98D8-2F11-454D-8B66-B036AD4F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0314BD-3245-48AB-B23B-2222F5A4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AB69E6D-4A8C-47FE-8DB8-198C36C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Теме рачунарских вежби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CF84165-42C9-48C5-877B-203B1F26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Осам вежби обухвата контролу приступа, оперативну безбедност, процену ризика и проверу ефективности контрола.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6374C1-935A-4700-B448-A5A48809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10E1BC-E15A-4D50-88E9-BDD9309F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4BF6FE-5FA2-424E-9520-30A454B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Идентитет, аутентикација и RBAC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59D655-4F33-412D-BAEA-4023134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48D8C1-C1DA-4A15-944A-F9E9BAF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027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AD983EB-DA4A-4922-BC55-D5C37649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Ауторизација над ресурсом и класификација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6D53A58-3A14-4821-8E96-EAE594B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F20965A-1DE6-4D9C-B1D2-32B28FC0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5DA7F18-B0EB-4266-A7DC-B8126491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Политике, конфигурација и видљивост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445E31-9F24-4E9C-AC36-9287B47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C05A4B2-9C53-4687-AF81-C5A3376C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E736C15-1DFF-409B-909F-A560917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Имовина, границе поверења и threat modeling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CD138FE-3214-4A58-AC88-476F1DF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EB3FC2A-65B2-40F3-A178-4B98609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0E40CE3-469C-43D8-BC13-4594AC7C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MFA, сесије, сервиси и тајне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2EEFE98-CD8F-44E4-B5D8-F088F78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2A5B3CD-71FC-4D50-B5FC-39FADAFD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9097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09A55-2C5D-4F78-B18D-3A130FB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Детекција, инцидент и рањивости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186ECF8-4EDB-46FA-80B3-A76AFA73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9065CFE-D485-4FFE-9481-C903A93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F1E75D3-3E7C-4321-A446-5619911E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Атрибути, ризик и преглед приступа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E2AD236-D0E8-4015-ADB3-438333F0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50863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7D1D4F-8FD4-4F2D-900D-C99762C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19686E2-D7EC-48D2-8E34-CA4309F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339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Корелација, ефективност и учење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DB79A-6AD6-4ACF-9A1F-BF19B3A9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0363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92770-B4EC-4CFC-B3C5-1825C032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72150"/>
            <a:ext cx="57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F8964-3CCE-40F9-A16E-12AF9FC8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ДОДАТНО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0C984-9E7B-4E13-9011-B29D3A63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781675"/>
            <a:ext cx="8296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Agile/Scrum, Git и тимски рад за потребе израде пројекта.</a:t>
            </a:r>
          </a:p>
        </p:txBody>
      </p:sp>
    </p:spTree>
    <p:extLst>
      <p:ext uri="{BB962C8B-B14F-4D97-AF65-F5344CB8AC3E}">
        <p14:creationId xmlns:p14="http://schemas.microsoft.com/office/powerpoint/2010/main" val="1530775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C181A31-6228-415E-A895-ECC7F82E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CB81B63-F306-4D85-AA47-89CB52E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4D547B-4923-4A3B-A743-F3FAA7D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AC43DD-7619-485B-BDA8-C64EFC8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Обавезе студената и правила безбедног рада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B81F6A-3100-464F-B802-00733F26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Правила присуства, академског интегритета и контролисаног тестирања примењују се током целог семестра.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CC93D94-6F99-4F5D-B831-26C68D72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FCD7F6-5560-4843-9E41-4B2B011C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ПРИСУСТВО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C28AE4-6EDE-4CDF-9BCA-A3AC258F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Највише 2 неоправдана изостанка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32390C-5235-40F4-B40C-98CB956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0289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Са више од два неоправдана изостанка студент губи право на полагање пројекта.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CC1AA61-1639-4623-8D01-C959EBBD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3EA512-BDF1-4717-B702-01229E1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ИНТЕГРИТЕТ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27AA10-A7E0-463F-98F3-066ABBF1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812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0 бодова за плагијат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381B5D-2D0B-4975-AC0C-93D424AF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24200"/>
            <a:ext cx="30289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Исто важи за преузимање туђег решења и лажно представљање индивидуалног доприноса.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C2632D7-90D3-4277-898C-7D58D744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333750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581B600-13C9-4357-B028-55E0042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БЕЗБЕДНО ОКРУЖЕЊЕ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FD7472E-362E-4DFB-9C6F-D8912626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81275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Само сопствени тестни системи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2E7BCB2-280A-428C-AE4D-BEA3D50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0289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Негативни и злоупотребни сценарији изводе се дефанзивно и искључиво у контролисаном окружењу.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8FB4A-B2BD-4B93-8801-02C8AFB4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03632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C7018-EB02-4151-937D-DAADFA7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2922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4FA80-F1A2-4199-A780-9C6B9E3E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ЗВАНИЧНИ КАНАЛИ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210D8-1CCE-4872-BBA9-1151A56B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963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Организациона обавештења, термини и измене објављују се путем званичних канала предмета.</a:t>
            </a:r>
          </a:p>
        </p:txBody>
      </p:sp>
    </p:spTree>
    <p:extLst>
      <p:ext uri="{BB962C8B-B14F-4D97-AF65-F5344CB8AC3E}">
        <p14:creationId xmlns:p14="http://schemas.microsoft.com/office/powerpoint/2010/main" val="17262894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5A3CF97-FDC6-4B1D-944E-A001FAB9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A56BA4B-1C7F-4A21-9DE2-D7703465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33C6E5-4E04-44E6-B623-D122654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CA7829-2595-4DB4-8E5E-4AC82F8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Прелазна правила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868B95-2A52-4A9E-ABDD-05A439D5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Раније генерације примењују актуелни режим полагања уз признавање претходно испуњених обавеза.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3173629-0B45-45A4-A6DC-46311895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3667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СТАТУС СТУДЕНТА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FFF03C4-24B0-4F59-BD43-80C62F0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478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ОБАВЕЗА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2CAB2E-16C0-4B40-BFEB-AE230CE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43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C44A9D-8BEF-4071-ADE1-41EC6FB2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Нема потпис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B6BD902-972E-4FF7-A323-29A8D57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615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Поново похађа предмет и све обавезе реализује по актуелним правилима.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0601B4C-2F63-41FD-A1C7-9F237FC0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43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F59D78F-EAC3-44FC-8328-17E561A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Има потпис, без положених предиспитних обавеза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CE727F-4B19-4688-9D12-03FB9693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76600"/>
            <a:ext cx="615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Предиспитне и испитне обавезе реализује по актуелним правилима.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89C0074-C010-44D4-B3AA-C40F7D8B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043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AC09E9-DCB6-40FC-829E-8487632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Признате предиспитне обавезе, без теста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0A4311F-2D9F-4B4A-97ED-1483B3A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95750"/>
            <a:ext cx="615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Полаже елиминациони тест по актуелним правилима.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5DC4DB1-6ECA-4071-A0B8-5B31AA3F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043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AC46D6-7D9A-425D-A3A8-30B4709C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Признате предиспитне обавезе и тест, без усменог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3A9F3B3-5B3E-48A0-9CEF-8CCD5387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14900"/>
            <a:ext cx="615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Полаже усмени. Бодови са усменог множе се коефицијентом 0,5.</a:t>
            </a:r>
          </a:p>
        </p:txBody>
      </p:sp>
    </p:spTree>
    <p:extLst>
      <p:ext uri="{BB962C8B-B14F-4D97-AF65-F5344CB8AC3E}">
        <p14:creationId xmlns:p14="http://schemas.microsoft.com/office/powerpoint/2010/main" val="650661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199672A-71F7-46E3-9478-9134A089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81C8C226-9F83-4256-8DFB-5C76B5B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3D0807-2F0C-44E6-B207-25AA0DE8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81EDC7-8BBD-49E9-9E7B-3675E5A4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Рад са практикумом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6064090-04B1-40A2-983E-7146EF2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Практикум служи за разумевање принципа и њихову примену на додељену пројектну целину.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2EA2032-0295-420B-8929-29C639B9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26FAB8B-0544-40F9-B40C-0500F1C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47925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118DBCE-C039-4875-A777-4B6F9FA3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95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 вежбе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3AB8E24-EE8A-4553-BD2D-DCD8003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76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1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анализа теме и претпоставки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91743AB-55B0-47D2-AABA-D6BED2AE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33625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39CBA93-16FF-4E79-AE12-95D23293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47925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BA4BE3A-EFE7-4299-97F6-14FE8F6A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95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Током вежбе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D156A33-27FB-4480-87D9-20891EC7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76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повезивање појма и последице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01418BD-AB10-4A57-BA5E-DC98BBE8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0EC6AA4-D0BF-4655-B56F-DA87A5AC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47925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707E40D-FB44-48CC-96AA-FE981C40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95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После вежбе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EC09EC-111F-4981-A726-5C9E72C4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76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1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примена принципа на пројекат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F2BF0DC-3C6C-48D5-BA9A-9223465A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33625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0313279-84FA-4351-8688-3AA07DC8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47925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BCCA60D-37F7-44EB-BDC3-95A14E9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Пред одбрану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518FE19-ADF1-4F03-AA4F-9BB0CC3C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7657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приказ контроле и доказа</a:t>
            </a:r>
          </a:p>
        </p:txBody>
      </p:sp>
      <p:cxnSp>
        <p:nvCxnSpPr>
          <p:cNvPr id="289" name="Straight Arrow Connector 96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48025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90" name="Straight Arrow Connector 97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62650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91" name="Straight Arrow Connector 98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77275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9C123BC-BF20-47A7-85FB-0AAC61A8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38625"/>
            <a:ext cx="90678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E78FF86-F0EC-4C3C-878B-A3D12DF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00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Добар одговор има четири дела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9036AB8-BF31-4F98-820B-5AA74A7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Проблем који решавамо, изабрана контрола, њено ограничење, тест, ревизиони траг или демонстрација која доказује понашање.</a:t>
            </a:r>
          </a:p>
        </p:txBody>
      </p:sp>
    </p:spTree>
    <p:extLst>
      <p:ext uri="{BB962C8B-B14F-4D97-AF65-F5344CB8AC3E}">
        <p14:creationId xmlns:p14="http://schemas.microsoft.com/office/powerpoint/2010/main" val="644543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B14683C-08DF-4B04-A87E-79984B27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0D70A279-A32C-4878-A328-4F49B30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55F3E9-6B8F-4BE7-99A1-ACAA28C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02F33DF-B630-43A0-BE75-CA39A97F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Исходи предмета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E742E7-24E2-4721-98F7-899752B4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Студент повезује безбедносни проблем са одговарајућом контролом и проверљивим доказом њеног рада.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7E9DF67-AA56-44B2-B6EE-8BC2F76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116112D-CDB6-45E3-B694-5717A81E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АНАЛИЗА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54D3DA2-E61A-4573-A322-53A7D13D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 и претпоставке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1EDA4B0-3635-4CEB-A352-343DDA3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30289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Препознаје шта систем штити, где се мења поверење и која претпоставка може бити погрешна.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3813A09-AADC-418F-8BC3-EE14A361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B9A0EFC-B203-480E-8471-2B335D5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2269C0-542E-4314-90B5-9DBE2162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812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Правило и контрола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E2F097A-0B87-48A0-A960-C0FD529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71800"/>
            <a:ext cx="30289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Формулише јасну безбедносну одлуку и примењује је на серверској граници система.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6014A29-8954-4987-97B2-834A8DF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3337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B4027E-B2BE-417C-8199-6929BDF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122E414-4DD3-4471-9D73-39633F9D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812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и ревизиони траг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9B28FCE-98F8-49C1-B50A-7EE19F2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30289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Показује и дозвољен и одбијен исход, па уме да објасни ограничење контроле.</a:t>
            </a:r>
          </a:p>
        </p:txBody>
      </p:sp>
    </p:spTree>
    <p:extLst>
      <p:ext uri="{BB962C8B-B14F-4D97-AF65-F5344CB8AC3E}">
        <p14:creationId xmlns:p14="http://schemas.microsoft.com/office/powerpoint/2010/main" val="1349796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150D703-B983-406B-9C31-4DD0A435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DA55BB5D-C914-4337-B2E1-DFD68901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14135C-E7D3-4CBA-8A58-51F345BD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46605E-8850-474F-B984-155E3FB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Захтеви редовног пројекта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847450-175A-460F-8F3F-E5E5D1E8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Тим развија део заједничког система SCUTUM и оставља решење које наредна генерација може да настави.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0DBC6DC-FB50-406E-9965-ABE83768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F6C691-966A-410C-9EB2-3C60C410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44217FE-D588-4DAC-B10E-7EB7524E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Backlog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1F4601A-9CBD-48D8-BBD3-EF11426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проверљив безбедносни захтев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1F69BC9-31E7-41B0-8EAB-DBC592D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654E1C-E49F-497B-A536-D50A396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83CB734-5121-4A96-AC4E-11E7049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Имплементација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5B7F5C-A11F-4E00-A1A2-FB6B642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мала, прегледива промена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A40C2D5-14B4-4539-9C18-133ECD0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584ECE2-686E-4BC6-970B-AD449A28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328C2A-D2BE-4651-9F7A-64AFE5A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5E55D02-248A-42E4-84ED-0983EB86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објашњена одлука и ризик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8B469E4-D8C7-490C-8F11-73A6C744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C69920D-60B3-4405-A7FD-5D754390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8B4A026-65B9-444A-807E-D0DECA3B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DD314EC-935F-422E-A365-4EAA356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успешан и негативан исход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2B96C2B-1B8A-4978-B272-DF312AA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6EBD40B-0AE6-486D-A473-09FE0E9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400CBF5-399B-47A6-87A5-70268CC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Одбрана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F8AE4F2-FB65-41AB-9E54-CBA4E438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индивидуално разумевање</a:t>
            </a:r>
          </a:p>
        </p:txBody>
      </p:sp>
      <p:cxnSp>
        <p:nvCxnSpPr>
          <p:cNvPr id="350" name="Straight Arrow Connector 113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652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1" name="Straight Arrow Connector 114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5394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2" name="Straight Arrow Connector 115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7136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3" name="Straight Arrow Connector 116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8878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6C48111-C021-445B-A4B1-C8C55B98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3632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E1CFE91-FF39-40BC-A7BD-69C9FD4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05325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90FB40B-4435-4C0D-BD32-842BB1E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ОБАВЕЗНО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DD1D3ED-16BA-4332-A59E-9903174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963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Сваки члан мора да покаже сопствени допринос и да објасни зашто је изабрана контрола примерена ризику.</a:t>
            </a:r>
          </a:p>
        </p:txBody>
      </p:sp>
    </p:spTree>
    <p:extLst>
      <p:ext uri="{BB962C8B-B14F-4D97-AF65-F5344CB8AC3E}">
        <p14:creationId xmlns:p14="http://schemas.microsoft.com/office/powerpoint/2010/main" val="11308266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59157DF-7CF8-4AAC-9839-9724569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00A6FEB1-156E-43AC-8A68-995BDB8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6625874-2488-4473-BE88-9DFCC38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AB86D8-8A06-41E9-BC33-F9BB4E7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Супер пројекат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C8DBBD2-7F91-4A3D-9803-3901812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Супер пројекат представља практични део дипломског рада непосредно повезан са информационом безбедношћу.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88CA7BA-99C2-4C09-862D-D4F476C7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304800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F9FDF3-D1C4-4BA5-B828-4C3ED439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ОБИМ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8122FC-08BD-465F-9436-A1440CE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 60 бодова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6CF7CA-0D18-4F01-BC27-CB5F412E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7432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Пројекат замењује редован пројекат и ослобађа студента елиминационог теста.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19A527C-7727-4ED7-A3C8-B5AB4BBF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304800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A254A9-CB53-4516-B0FC-AAA4C26C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КАПАЦИТЕТ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292B1E4-19EC-4430-9583-99DB3320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384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 12 студената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C6B2C75-13A6-4ECC-9DF6-D3E13A24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27432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Број места је ограничен, па се тема и очекивани резултат договарају пре почетка рада.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540DE5F-12A6-4D98-8710-CDD2C5BD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04800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6EE856C-A742-442E-A117-942C374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ОДБРАНА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DE00F37-A45B-439B-A8CB-077DA1F8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Усмени је обавезан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459E231-7C84-4F83-804E-EC75E6F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27432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Студент повезује дипломски рад са концептима предмета и образлаже безбедносне одлуке.</a:t>
            </a:r>
          </a:p>
        </p:txBody>
      </p:sp>
    </p:spTree>
    <p:extLst>
      <p:ext uri="{BB962C8B-B14F-4D97-AF65-F5344CB8AC3E}">
        <p14:creationId xmlns:p14="http://schemas.microsoft.com/office/powerpoint/2010/main" val="12065281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F9E95B0-3AB0-4DA3-8E8A-889A595C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FA332100-57C4-4E45-87A3-A84D11A0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323621-6B01-42D3-A5FD-7B6AC0E4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67087E-D843-4447-A6AB-F4E9FAC8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Садржај контролних тачака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C4003-476A-454D-A140-EF3BDCC1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Свака контролна тачка утврђује конкретан обим имплементације, тестова и доказа који тим представља.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0E5DD20-CD61-431F-BC6D-C3EE3D59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0863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5D1AF06-8BF4-4FD2-B513-9D7F313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4ACAB5C-D766-4805-8DBD-D918210C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Идентитет, RBAC и одбијен приступ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F2A7672-D4E9-4964-893E-0769441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478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После вежби 1–2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A21D8D2-B3CC-44F2-B36A-5297896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50863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77A5EF-ABAC-42C8-8E60-61101D7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647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ECC4D68-11CE-479B-92EE-ED16733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Политике, класификација и baseline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D4D661-7556-4E55-9B48-D9E6E1B0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478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После вежби 3–4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0AC9405-F01E-4A45-BE29-D28E8312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0863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0F2C5C9-5165-4934-A11D-8C89FB6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4D24F1F-76AD-42CB-9725-6B21C19C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Тестови и стабилно ручно језгро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15552A7-EB3B-47AC-A59C-DA5CF6E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78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После вежби 5–6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B72615D-A254-4F7C-BFDD-3D2A0E1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50863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CD23AA3-BECB-4FA2-8B81-044E7CDD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95725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P4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1952DC7-218F-4478-88FB-5D5E448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Оперативна безбедност и завршна одбрана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6D5EA82-60D0-492E-A01D-3B373C4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78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После вежби 7–8</a:t>
            </a:r>
          </a:p>
        </p:txBody>
      </p:sp>
    </p:spTree>
    <p:extLst>
      <p:ext uri="{BB962C8B-B14F-4D97-AF65-F5344CB8AC3E}">
        <p14:creationId xmlns:p14="http://schemas.microsoft.com/office/powerpoint/2010/main" val="7487084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CB5A04B-895D-4A66-95BA-18ECFE9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0406898-01FF-4B3B-ADFB-93C97A76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3257BE-60D8-4B29-AFF7-710C768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FFC5A5-ADD2-49E5-88B0-5FBF5EBA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Елиминациони тест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1BBAEC-6515-40A2-B982-2BA8CE0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 проверава основне појмове и градиво предмета кроз самостално формулисане одговоре.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7FE4FEB-DDD9-4334-B921-6EF6A8DF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143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1089BDB-F456-4E16-A333-B641EC5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83EC760-3E46-4E64-97CD-D216276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20 </a:t>
            </a:r>
            <a:r>
              <a:rPr sz="20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бодова</a:t>
            </a:r>
            <a:endParaRPr sz="2025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A13ADC3-62C5-4143-B89E-D6C2C16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8384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Питања су отвореног типа. Нема понуђених одговора типа a, b, c или d.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D85CC84-CD46-4399-84D3-CE9D2DE1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DBC00D1-7037-4D37-97DC-345AE62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907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ТЕРМИНИ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105E8D-155A-48FD-83F9-4A695D1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38425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2 редовна + 1 поправни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DF5DB5-8C69-4F7A-A7C6-2762D764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81350"/>
            <a:ext cx="28384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Термини су пре предрока, пре редовног термина и у летњем семестру.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171D6D0-B2F7-4E82-929C-DCCD921B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143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4CE3F08-8A01-4186-AFA3-7AFC5EC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ПРИПРЕМА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6DC61EA-DC33-4243-9176-CF3A0FBD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38425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Одговор својим речима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BCFCD93-F39B-4870-AC3B-89448A35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28384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Питања се не објављују унапред. Практикум служи за систематично разумевање тема.</a:t>
            </a:r>
          </a:p>
        </p:txBody>
      </p:sp>
    </p:spTree>
    <p:extLst>
      <p:ext uri="{BB962C8B-B14F-4D97-AF65-F5344CB8AC3E}">
        <p14:creationId xmlns:p14="http://schemas.microsoft.com/office/powerpoint/2010/main" val="2019162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313C145-488D-470A-9FA0-6ABA813D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D7C03200-282D-433B-A6EE-0E6BB6CA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0A8BBF-B806-4CE9-A0C5-3AD8A23C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296F00-6766-4003-BE93-BB26A53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Усмени испит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C1F899-9D63-45A8-859B-72B5C7A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Студент повезује концепте предмета са безбедносним и архитектонским одлукама примењеним на пројекту.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D2B9FE1-9B16-4F55-A084-5FA6BF91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A66143-2939-4E37-B47F-5F601BC3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B82064A-A748-4F25-81C8-FFE8CE4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Концепт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671472-B454-4985-886A-BE81DA64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јасна дефиниција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D0F126E-9E85-4277-B8CE-AAF937E0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4B0C94-0050-4A9B-92A7-153EC361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7C24ED-72DE-4CC2-B50D-98EE48AE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Проблем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5CA32B2-5E4C-4C0C-AA06-B694BCD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ризик у конкретном систему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CA3E3B-8E76-4AA0-9EEB-630A301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5A5DBA4-CFA5-480F-B2BA-3DF7AEFE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8AECB10-6DBD-42E5-A670-F20ABF6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0D1EDB-49E4-47C8-BE73-95437B4A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изабрана контрола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230B8F1-8A94-4A85-AAD7-4C351125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B525086-A57B-4121-84BA-C2B8076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C884DB2-2C41-4B82-A9A1-4180BC44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Ограничење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924130B-DE22-4388-881B-2FCB34C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61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контрола не покрива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680E486-DB4E-4CA0-ADDF-489B6349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400300"/>
            <a:ext cx="195072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4EB707-6C05-4E28-A0F0-B63563E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514600"/>
            <a:ext cx="1664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950CCE6-5571-4D37-BAD3-261B510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762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287D359-65D8-4271-A331-32B93D33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143250"/>
            <a:ext cx="166497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тест, лог или демонстрација</a:t>
            </a:r>
          </a:p>
        </p:txBody>
      </p:sp>
      <p:cxnSp>
        <p:nvCxnSpPr>
          <p:cNvPr id="353" name="Straight Arrow Connector 115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652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4" name="Straight Arrow Connector 116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5394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5" name="Straight Arrow Connector 117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7136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356" name="Straight Arrow Connector 118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8878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12D96EE-049E-49DF-A6D1-25753749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8C84F1C-34CD-4718-B1B0-E828CE6E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0F73E9B-52E1-4143-856B-F40B2D6C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УСМЕНИ ИСПИТ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630FC67-89D8-4DBC-A3DB-E3640B30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963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ДО 40 БОДОВА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2AF45D0-9F11-4651-B0FE-9BC35A8C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963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7B"/>
                </a:solidFill>
                <a:latin typeface="Aptos"/>
                <a:ea typeface="Aptos"/>
                <a:cs typeface="Aptos"/>
              </a:rPr>
              <a:t>Обавезан је у оба начина полагања.</a:t>
            </a:r>
          </a:p>
        </p:txBody>
      </p:sp>
    </p:spTree>
    <p:extLst>
      <p:ext uri="{BB962C8B-B14F-4D97-AF65-F5344CB8AC3E}">
        <p14:creationId xmlns:p14="http://schemas.microsoft.com/office/powerpoint/2010/main" val="988901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F47CA17-03BA-4458-A951-BBC4ED29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3E95EA87-D53A-48E4-96A6-26B6778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84356-92EA-4BEC-92E1-9891B55D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185B9D-7C9C-411C-9B58-BA46422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Канали и материјали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4BEBCC1-7941-442E-9B57-40BC3A50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Термини, измене и организациона обавештења важе након објављивања путем званичних канала предмета.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62D1868-0842-4CE5-B8EF-277861AF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457200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990A1C4-8FA7-45FB-A67A-D006A65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МАТЕРИЈАЛИ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8F6E458-72E2-465E-88CF-CCFF19F6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9557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Практикум и презентације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47707EC-2897-42A1-A321-A5FE561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42672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Јединствени материјали за рачунарске вежбе доступни су на ftn-nastavni-portal.vercel.app/#oib.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D8A6474-039E-4174-9C73-9B60E48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57200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94B7E41-AC3A-4698-BCE3-F7B3E75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ОРГАНИЗАЦИЈА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7B7AC4E-8353-4FDB-B928-EF41198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9557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Званична обавештења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6CC920-2881-4850-A37A-96F65ED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2672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Тачан датум одбране, сатница, термини теста и евентуалне измене објављују се званичним каналима.</a:t>
            </a:r>
          </a:p>
        </p:txBody>
      </p:sp>
    </p:spTree>
    <p:extLst>
      <p:ext uri="{BB962C8B-B14F-4D97-AF65-F5344CB8AC3E}">
        <p14:creationId xmlns:p14="http://schemas.microsoft.com/office/powerpoint/2010/main" val="4459555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B45597D-102E-4E2B-9F95-AB149BF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BB0E57F-C93C-4C6D-B2A3-0ED5228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B868A1E-164B-42EF-8F5D-7892F7C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DC28DB-9EDB-47BF-A827-DB75EA86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Организација рада на почетку семестра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4B7CF33-757F-41FF-9D20-2C947DB1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Тим на почетку семестра дефинише одговорности, репозиторијум, границу пројектне целине и почетни backlog.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44F58EE-00CB-45BE-9207-81518DE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C374ECF-4136-432C-A2AF-5C93C04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95550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AE9571D-2729-4EB5-9F64-440E3232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Тим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D399BBB-1629-4FFC-B25D-794FDB2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24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улоге и одговорности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4B47F01-5188-493D-86FB-ED379330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81250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FB3F5E9-9ECE-42A7-A0B8-0E36BD50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95550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5D2F018-A562-44FD-9BD6-96C64D2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Репозиторијум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F5C5158-4F3B-4DAA-93DB-CCB3ED87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24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0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README и договорен Git ток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84C48B3-1627-4BBA-9706-E74CFA73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6412E68-C10B-447A-B652-2D58E88E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95550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4FF101-B64B-4D8E-BB5B-FD5BB99F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Пројектна целина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F7BF2E-9187-46DA-9DF6-007B82B5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24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јасна граница рада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4CD71B7-7EB8-4CD8-8DF1-091D349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81250"/>
            <a:ext cx="2447925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C6DAB72-98F7-47FF-91D6-1DCF529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162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3BB7A6B-1E37-4D1D-A28E-1ED312A2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Први backlog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17D1D24-5D63-4ED0-B8C7-CFBAFC8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проверљиви безбедносни захтеви</a:t>
            </a:r>
          </a:p>
        </p:txBody>
      </p:sp>
      <p:cxnSp>
        <p:nvCxnSpPr>
          <p:cNvPr id="289" name="Straight Arrow Connector 96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48025" y="29718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90" name="Straight Arrow Connector 97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62650" y="29718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91" name="Straight Arrow Connector 98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77275" y="29718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7A12BCE-34DF-4664-9FDF-E27CED4D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57675"/>
            <a:ext cx="8839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742E057-52A5-4102-9856-B6CA4AE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29125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Следећа тема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704698F-6369-49E5-A3FF-E6560384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81550"/>
            <a:ext cx="853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Идентитет, аутентикација и RBAC: прва серверска одлука о томе ко сме да изврши конкретну радњу.</a:t>
            </a:r>
          </a:p>
        </p:txBody>
      </p:sp>
    </p:spTree>
    <p:extLst>
      <p:ext uri="{BB962C8B-B14F-4D97-AF65-F5344CB8AC3E}">
        <p14:creationId xmlns:p14="http://schemas.microsoft.com/office/powerpoint/2010/main" val="1035216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2026-09-29T19:08:25.0860000Z</dcterms:created>
  <dcterms:modified xsi:type="dcterms:W3CDTF">2026-09-29T19:08:25.0860000Z</dcterms:modified>
</coreProperties>
</file>