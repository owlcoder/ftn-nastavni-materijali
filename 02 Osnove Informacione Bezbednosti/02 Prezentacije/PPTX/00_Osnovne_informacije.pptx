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5d066a257984651" /><Relationship Type="http://schemas.openxmlformats.org/officeDocument/2006/relationships/extended-properties" Target="/docProps/app.xml" Id="R302ab5aa595e4988" /><Relationship Type="http://schemas.openxmlformats.org/officeDocument/2006/relationships/officeDocument" Target="/ppt/presentation.xml" Id="R97ed6e80b3424b2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fc467e6bae9490b"/>
  </p:sldMasterIdLst>
  <p:notesMasterIdLst>
    <p:notesMasterId xmlns:r="http://schemas.openxmlformats.org/officeDocument/2006/relationships" r:id="R21960c57327e46a3"/>
  </p:notesMasterIdLst>
  <p:sldIdLst>
    <p:sldId xmlns:r="http://schemas.openxmlformats.org/officeDocument/2006/relationships" id="256" r:id="R1f5b821058044fcd"/>
    <p:sldId xmlns:r="http://schemas.openxmlformats.org/officeDocument/2006/relationships" id="257" r:id="R302797cb87854d87"/>
    <p:sldId xmlns:r="http://schemas.openxmlformats.org/officeDocument/2006/relationships" id="258" r:id="Rad4cac010a6e4110"/>
    <p:sldId xmlns:r="http://schemas.openxmlformats.org/officeDocument/2006/relationships" id="259" r:id="R734c51ea648d4e47"/>
    <p:sldId xmlns:r="http://schemas.openxmlformats.org/officeDocument/2006/relationships" id="260" r:id="Ra65fa925cf814cb3"/>
    <p:sldId xmlns:r="http://schemas.openxmlformats.org/officeDocument/2006/relationships" id="261" r:id="R6d21dd63f40547fc"/>
    <p:sldId xmlns:r="http://schemas.openxmlformats.org/officeDocument/2006/relationships" id="262" r:id="R45a9cc8851e4461a"/>
    <p:sldId xmlns:r="http://schemas.openxmlformats.org/officeDocument/2006/relationships" id="263" r:id="Rd365d9cb44a64a46"/>
    <p:sldId xmlns:r="http://schemas.openxmlformats.org/officeDocument/2006/relationships" id="264" r:id="R0956b9ff039d4650"/>
    <p:sldId xmlns:r="http://schemas.openxmlformats.org/officeDocument/2006/relationships" id="265" r:id="R886f71d6991e4911"/>
    <p:sldId xmlns:r="http://schemas.openxmlformats.org/officeDocument/2006/relationships" id="266" r:id="R4836ddf2edc94659"/>
    <p:sldId xmlns:r="http://schemas.openxmlformats.org/officeDocument/2006/relationships" id="267" r:id="Reefac2b93c1c4feb"/>
    <p:sldId xmlns:r="http://schemas.openxmlformats.org/officeDocument/2006/relationships" id="268" r:id="R87197549a67940d9"/>
    <p:sldId xmlns:r="http://schemas.openxmlformats.org/officeDocument/2006/relationships" id="269" r:id="Rcb938c5c7fca45ac"/>
    <p:sldId xmlns:r="http://schemas.openxmlformats.org/officeDocument/2006/relationships" id="270" r:id="R87ad8f4401c0431c"/>
    <p:sldId xmlns:r="http://schemas.openxmlformats.org/officeDocument/2006/relationships" id="271" r:id="R6763c524477841f3"/>
    <p:sldId xmlns:r="http://schemas.openxmlformats.org/officeDocument/2006/relationships" id="272" r:id="R968e7cacbd054962"/>
    <p:sldId xmlns:r="http://schemas.openxmlformats.org/officeDocument/2006/relationships" id="273" r:id="R37ff372089b74089"/>
    <p:sldId xmlns:r="http://schemas.openxmlformats.org/officeDocument/2006/relationships" id="274" r:id="Rebf1112d7be04a02"/>
    <p:sldId xmlns:r="http://schemas.openxmlformats.org/officeDocument/2006/relationships" id="275" r:id="R4a1626f2ae304cf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fba54ccd923484d" /><Relationship Type="http://schemas.openxmlformats.org/officeDocument/2006/relationships/slideMaster" Target="/ppt/slideMasters/slideMaster1.xml" Id="R5fc467e6bae9490b" /><Relationship Type="http://schemas.openxmlformats.org/officeDocument/2006/relationships/notesMaster" Target="/ppt/notesMasters/notesMaster1.xml" Id="R21960c57327e46a3" /><Relationship Type="http://schemas.openxmlformats.org/officeDocument/2006/relationships/presProps" Target="/ppt/presProps.xml" Id="Rccf0b371c8c5474a" /><Relationship Type="http://schemas.openxmlformats.org/officeDocument/2006/relationships/viewProps" Target="/ppt/viewProps.xml" Id="R9002862eb9a64f64" /><Relationship Type="http://schemas.openxmlformats.org/officeDocument/2006/relationships/tableStyles" Target="/ppt/tableStyles.xml" Id="R8e22cf42255e4a77" /><Relationship Type="http://schemas.openxmlformats.org/officeDocument/2006/relationships/slide" Target="/ppt/slides/slide1.xml" Id="R1f5b821058044fcd" /><Relationship Type="http://schemas.openxmlformats.org/officeDocument/2006/relationships/slide" Target="/ppt/slides/slide2.xml" Id="R302797cb87854d87" /><Relationship Type="http://schemas.openxmlformats.org/officeDocument/2006/relationships/slide" Target="/ppt/slides/slide3.xml" Id="Rad4cac010a6e4110" /><Relationship Type="http://schemas.openxmlformats.org/officeDocument/2006/relationships/slide" Target="/ppt/slides/slide4.xml" Id="R734c51ea648d4e47" /><Relationship Type="http://schemas.openxmlformats.org/officeDocument/2006/relationships/slide" Target="/ppt/slides/slide5.xml" Id="Ra65fa925cf814cb3" /><Relationship Type="http://schemas.openxmlformats.org/officeDocument/2006/relationships/slide" Target="/ppt/slides/slide6.xml" Id="R6d21dd63f40547fc" /><Relationship Type="http://schemas.openxmlformats.org/officeDocument/2006/relationships/slide" Target="/ppt/slides/slide7.xml" Id="R45a9cc8851e4461a" /><Relationship Type="http://schemas.openxmlformats.org/officeDocument/2006/relationships/slide" Target="/ppt/slides/slide8.xml" Id="Rd365d9cb44a64a46" /><Relationship Type="http://schemas.openxmlformats.org/officeDocument/2006/relationships/slide" Target="/ppt/slides/slide9.xml" Id="R0956b9ff039d4650" /><Relationship Type="http://schemas.openxmlformats.org/officeDocument/2006/relationships/slide" Target="/ppt/slides/slide10.xml" Id="R886f71d6991e4911" /><Relationship Type="http://schemas.openxmlformats.org/officeDocument/2006/relationships/slide" Target="/ppt/slides/slide11.xml" Id="R4836ddf2edc94659" /><Relationship Type="http://schemas.openxmlformats.org/officeDocument/2006/relationships/slide" Target="/ppt/slides/slide12.xml" Id="Reefac2b93c1c4feb" /><Relationship Type="http://schemas.openxmlformats.org/officeDocument/2006/relationships/slide" Target="/ppt/slides/slide13.xml" Id="R87197549a67940d9" /><Relationship Type="http://schemas.openxmlformats.org/officeDocument/2006/relationships/slide" Target="/ppt/slides/slide14.xml" Id="Rcb938c5c7fca45ac" /><Relationship Type="http://schemas.openxmlformats.org/officeDocument/2006/relationships/slide" Target="/ppt/slides/slide15.xml" Id="R87ad8f4401c0431c" /><Relationship Type="http://schemas.openxmlformats.org/officeDocument/2006/relationships/slide" Target="/ppt/slides/slide16.xml" Id="R6763c524477841f3" /><Relationship Type="http://schemas.openxmlformats.org/officeDocument/2006/relationships/slide" Target="/ppt/slides/slide17.xml" Id="R968e7cacbd054962" /><Relationship Type="http://schemas.openxmlformats.org/officeDocument/2006/relationships/slide" Target="/ppt/slides/slide18.xml" Id="R37ff372089b74089" /><Relationship Type="http://schemas.openxmlformats.org/officeDocument/2006/relationships/slide" Target="/ppt/slides/slide19.xml" Id="Rebf1112d7be04a02" /><Relationship Type="http://schemas.openxmlformats.org/officeDocument/2006/relationships/slide" Target="/ppt/slides/slide20.xml" Id="R4a1626f2ae304cf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3213af1544a45c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448d74b26af458f" /><Relationship Type="http://schemas.openxmlformats.org/officeDocument/2006/relationships/notesMaster" Target="/ppt/notesMasters/notesMaster1.xml" Id="Rf59de7915a6b43d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97407e000fa4173" /><Relationship Type="http://schemas.openxmlformats.org/officeDocument/2006/relationships/notesMaster" Target="/ppt/notesMasters/notesMaster1.xml" Id="Rdc0d908e0c9845d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85c41e638064294" /><Relationship Type="http://schemas.openxmlformats.org/officeDocument/2006/relationships/notesMaster" Target="/ppt/notesMasters/notesMaster1.xml" Id="R3c16083f8e594a4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f6e690c27914fa2" /><Relationship Type="http://schemas.openxmlformats.org/officeDocument/2006/relationships/notesMaster" Target="/ppt/notesMasters/notesMaster1.xml" Id="Re347d94f27d5405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bda1aea41d14437" /><Relationship Type="http://schemas.openxmlformats.org/officeDocument/2006/relationships/notesMaster" Target="/ppt/notesMasters/notesMaster1.xml" Id="R8d1fd7550b3d46b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451abe1c3ef4ed5" /><Relationship Type="http://schemas.openxmlformats.org/officeDocument/2006/relationships/notesMaster" Target="/ppt/notesMasters/notesMaster1.xml" Id="R49df8d57fda9443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c67d3edb5cf4fd4" /><Relationship Type="http://schemas.openxmlformats.org/officeDocument/2006/relationships/notesMaster" Target="/ppt/notesMasters/notesMaster1.xml" Id="R64c3b2206fae41a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33c90ee89b640fb" /><Relationship Type="http://schemas.openxmlformats.org/officeDocument/2006/relationships/notesMaster" Target="/ppt/notesMasters/notesMaster1.xml" Id="R4f667d5fd753461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e1c31eb12e0449d" /><Relationship Type="http://schemas.openxmlformats.org/officeDocument/2006/relationships/notesMaster" Target="/ppt/notesMasters/notesMaster1.xml" Id="R8f1808089dc3458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c357a6a283e4ba2" /><Relationship Type="http://schemas.openxmlformats.org/officeDocument/2006/relationships/notesMaster" Target="/ppt/notesMasters/notesMaster1.xml" Id="Redb7ea525c36432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5dabfde1a334388" /><Relationship Type="http://schemas.openxmlformats.org/officeDocument/2006/relationships/notesMaster" Target="/ppt/notesMasters/notesMaster1.xml" Id="R2e55a8f33c17489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3e0268ea3304590" /><Relationship Type="http://schemas.openxmlformats.org/officeDocument/2006/relationships/notesMaster" Target="/ppt/notesMasters/notesMaster1.xml" Id="R6dc34686aa9c440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4820ce2dd1146d1" /><Relationship Type="http://schemas.openxmlformats.org/officeDocument/2006/relationships/notesMaster" Target="/ppt/notesMasters/notesMaster1.xml" Id="Rc1a840813d614bb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db22db83ce7488d" /><Relationship Type="http://schemas.openxmlformats.org/officeDocument/2006/relationships/notesMaster" Target="/ppt/notesMasters/notesMaster1.xml" Id="R732af079bc1f417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65ec8e65cb44c98" /><Relationship Type="http://schemas.openxmlformats.org/officeDocument/2006/relationships/notesMaster" Target="/ppt/notesMasters/notesMaster1.xml" Id="Rcdd258bf0454438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3f120c40e754da4" /><Relationship Type="http://schemas.openxmlformats.org/officeDocument/2006/relationships/notesMaster" Target="/ppt/notesMasters/notesMaster1.xml" Id="R84885b4b71de4c1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cb457dc70b24f0e" /><Relationship Type="http://schemas.openxmlformats.org/officeDocument/2006/relationships/notesMaster" Target="/ppt/notesMasters/notesMaster1.xml" Id="R173456277a674cd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94029537099410f" /><Relationship Type="http://schemas.openxmlformats.org/officeDocument/2006/relationships/notesMaster" Target="/ppt/notesMasters/notesMaster1.xml" Id="R97ba4ea3c0b1470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72440ea8030411e" /><Relationship Type="http://schemas.openxmlformats.org/officeDocument/2006/relationships/notesMaster" Target="/ppt/notesMasters/notesMaster1.xml" Id="Rb6217268ee32400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eef3ebda03fa4a41" /><Relationship Type="http://schemas.openxmlformats.org/officeDocument/2006/relationships/notesMaster" Target="/ppt/notesMasters/notesMaster1.xml" Id="R2186877974104ea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Извори: OIB_Pravila_Polaganja.pdf; oibPracticum.ts.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oibPracticum.ts — сажетак практикума.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OIB_Pravila_Polaganja.pdf, одељак 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OIB_Pravila_Polaganja.pdf, табела структуре полагања.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OIB_Pravila_Polaganja.pdf — коначна оцена.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OIB_Pravila_Polaganja.pdf, одељак 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Извори: OIB_Pravila_Polaganja.pdf, одељак 3; oibCheckpoints.ts.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OIB_Pravila_Polaganja.pdf, одељци 4–6.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OIB_Pravila_Polaganja.pdf, одељак 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OIB_Pravila_Polaganja.pdf, одељак 9.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OIB_Pravila_Polaganja.pdf, одељак 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oibPracticum.ts — Како користити практикум.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oibPracticum.ts — циљеви и сажетак практикума.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OIB_Pravila_Polaganja.pdf, одељак 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OIB_Pravila_Polaganja.pdf, одељци 1, 2 и 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oibCheckpoints.ts.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OIB_Pravila_Polaganja.pdf, одељак 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OIB_Pravila_Polaganja.pdf, одељак 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OIB_Pravila_Polaganja.pdf, одељци 4 и 9.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Извори: oibPracticum.ts и oibCheckpoints.ts.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092102ded94e8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95a7a7449074e0e" /><Relationship Type="http://schemas.openxmlformats.org/officeDocument/2006/relationships/slideLayout" Target="/ppt/slideLayouts/slideLayout1.xml" Id="Rf8797d342fa947c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8797d342fa947c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676df954294847" /><Relationship Type="http://schemas.openxmlformats.org/officeDocument/2006/relationships/notesSlide" Target="/ppt/notesSlides/notesSlide1.xml" Id="R71ef303cf1f649b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79b34cd14b4528" /><Relationship Type="http://schemas.openxmlformats.org/officeDocument/2006/relationships/notesSlide" Target="/ppt/notesSlides/notesSlide2.xml" Id="R46e821a3e0414f4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189e4d19b14073" /><Relationship Type="http://schemas.openxmlformats.org/officeDocument/2006/relationships/notesSlide" Target="/ppt/notesSlides/notesSlide3.xml" Id="Rb8fc378f1a2c453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da2d6f93b74629" /><Relationship Type="http://schemas.openxmlformats.org/officeDocument/2006/relationships/notesSlide" Target="/ppt/notesSlides/notesSlide4.xml" Id="R0a5c69a33a5e40f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cc555c955848a7" /><Relationship Type="http://schemas.openxmlformats.org/officeDocument/2006/relationships/notesSlide" Target="/ppt/notesSlides/notesSlide5.xml" Id="R6698c51e2a2947e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2f0777632649e8" /><Relationship Type="http://schemas.openxmlformats.org/officeDocument/2006/relationships/notesSlide" Target="/ppt/notesSlides/notesSlide6.xml" Id="R87599a6ac2e344e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0d46ce8df848d9" /><Relationship Type="http://schemas.openxmlformats.org/officeDocument/2006/relationships/notesSlide" Target="/ppt/notesSlides/notesSlide7.xml" Id="Re2163e7dff2d455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e9d5ac48084f88" /><Relationship Type="http://schemas.openxmlformats.org/officeDocument/2006/relationships/notesSlide" Target="/ppt/notesSlides/notesSlide8.xml" Id="Rb78d591881a2417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f312f45ba94fd7" /><Relationship Type="http://schemas.openxmlformats.org/officeDocument/2006/relationships/notesSlide" Target="/ppt/notesSlides/notesSlide9.xml" Id="R8ea924c519b7465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9683d48c614c59" /><Relationship Type="http://schemas.openxmlformats.org/officeDocument/2006/relationships/notesSlide" Target="/ppt/notesSlides/notesSlide10.xml" Id="R6029db2e8cef491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e81fb505834418" /><Relationship Type="http://schemas.openxmlformats.org/officeDocument/2006/relationships/notesSlide" Target="/ppt/notesSlides/notesSlide11.xml" Id="R5d1a790fc7874b7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31a247a03946d7" /><Relationship Type="http://schemas.openxmlformats.org/officeDocument/2006/relationships/notesSlide" Target="/ppt/notesSlides/notesSlide12.xml" Id="Ra94e832a06a54a8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6ff9bdf27e4a76" /><Relationship Type="http://schemas.openxmlformats.org/officeDocument/2006/relationships/notesSlide" Target="/ppt/notesSlides/notesSlide13.xml" Id="Rc5667ec5677a447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37b3e6ff83496e" /><Relationship Type="http://schemas.openxmlformats.org/officeDocument/2006/relationships/notesSlide" Target="/ppt/notesSlides/notesSlide14.xml" Id="R44705911c4b145c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12b113496f4a35" /><Relationship Type="http://schemas.openxmlformats.org/officeDocument/2006/relationships/notesSlide" Target="/ppt/notesSlides/notesSlide15.xml" Id="Rad898ea13422457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1ed8c3a5374dc8" /><Relationship Type="http://schemas.openxmlformats.org/officeDocument/2006/relationships/notesSlide" Target="/ppt/notesSlides/notesSlide16.xml" Id="Re0e9756cf20b43d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cfd70c928a4d63" /><Relationship Type="http://schemas.openxmlformats.org/officeDocument/2006/relationships/notesSlide" Target="/ppt/notesSlides/notesSlide17.xml" Id="R1c99e932edd3474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99e796668641f5" /><Relationship Type="http://schemas.openxmlformats.org/officeDocument/2006/relationships/notesSlide" Target="/ppt/notesSlides/notesSlide18.xml" Id="R72863bde8a054899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562b411a724720" /><Relationship Type="http://schemas.openxmlformats.org/officeDocument/2006/relationships/notesSlide" Target="/ppt/notesSlides/notesSlide19.xml" Id="Re0067239c44542ea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f322b112bd49a7" /><Relationship Type="http://schemas.openxmlformats.org/officeDocument/2006/relationships/notesSlide" Target="/ppt/notesSlides/notesSlide20.xml" Id="R2b1dcfbfabe0404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8BC2FD40-ECBB-43A4-8948-00D0462F6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781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470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95AFF620-7FD6-4F66-A3A7-3F616DD84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09650"/>
            <a:ext cx="10363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573">
            <a:solidFill>
              <a:srgbClr val="7F8B9B"/>
            </a:solidFill>
            <a:prstDash val="solid"/>
          </a:ln>
        </p:spPr>
      </p:sp>
      <p:sp>
        <p:nvSpPr>
          <p:cNvPr id="3" name="Rounded Rectangle 2">
            <a:extLst xmlns:a="http://schemas.openxmlformats.org/drawingml/2006/main">
              <a:ext uri="{FF2B5EF4-FFF2-40B4-BE49-F238E27FC236}">
                <a16:creationId xmlns:a16="http://schemas.microsoft.com/office/drawing/2014/main" id="{AB75447A-F58D-4F9D-A89E-55CE5BC9A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38275"/>
            <a:ext cx="6477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5CF4"/>
          </a:solidFill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331F3B8-119A-4A72-A90B-59AC256C0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71650"/>
            <a:ext cx="103632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9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Основ</a:t>
            </a:r>
            <a:r>
              <a:rPr sz="39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н</a:t>
            </a:r>
            <a:r>
              <a:rPr sz="39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е</a:t>
            </a:r>
            <a:r>
              <a:rPr sz="39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39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информаци</a:t>
            </a:r>
            <a:r>
              <a:rPr sz="39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ј</a:t>
            </a:r>
            <a:r>
              <a:rPr sz="39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е</a:t>
            </a:r>
            <a:r>
              <a:rPr sz="39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 о предмету</a:t>
            </a:r>
            <a:endParaRPr sz="3900" b="1">
              <a:solidFill>
                <a:srgbClr val="1A202C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FFBC222-B084-4798-8609-E0DF700AF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33750"/>
            <a:ext cx="9620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Начин рада, правила полагања и ток практичних вежби</a:t>
            </a:r>
          </a:p>
        </p:txBody>
      </p:sp>
      <p:sp>
        <p:nvSpPr>
          <p:cNvPr id="6" name="Straight Connector 5">
            <a:extLst xmlns:a="http://schemas.openxmlformats.org/drawingml/2006/main">
              <a:ext uri="{FF2B5EF4-FFF2-40B4-BE49-F238E27FC236}">
                <a16:creationId xmlns:a16="http://schemas.microsoft.com/office/drawing/2014/main" id="{09416DF2-7F49-4E4D-AB38-E0E03449C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86375"/>
            <a:ext cx="10363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B06E7103-25B4-4618-B7AD-C628C8AA4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816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ОИБ · 5. семестар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70C57BD-83A5-4956-9637-A8A1D5E38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581650"/>
            <a:ext cx="3181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Академска 2026/27</a:t>
            </a:r>
          </a:p>
        </p:txBody>
      </p:sp>
    </p:spTree>
    <p:extLst>
      <p:ext uri="{BB962C8B-B14F-4D97-AF65-F5344CB8AC3E}">
        <p14:creationId xmlns:p14="http://schemas.microsoft.com/office/powerpoint/2010/main" val="195254560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B061E3A5-1BBC-4FE5-AB66-A565F4BC1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218BF27E-B09F-46A1-B518-11A068E99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21CDD3D-B204-4F7E-BE84-FA41B1924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CE58470-463C-4CE7-BF2F-95E36090A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Безбедност се гради као доказив ланац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69DBEDE-F9B0-4509-AD1F-75635C24B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Не полазимо од алата, већ од онога што штитимо и начина на који проверавамо одлуку.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BFADCCF6-3DC4-4BCC-99FB-BF8C9EBDB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47925"/>
            <a:ext cx="1950720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671B726-FCF9-4886-AB7F-F2112FF73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562225"/>
            <a:ext cx="1664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54865BA5-605D-4FCF-989A-E25BA08C6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809875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Имовина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4EB280E9-D276-4580-9004-9A12A7B41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3190875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шта има вредност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F2EDED5F-7BDA-4383-8505-FE9DA9874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3220" y="2447925"/>
            <a:ext cx="1950720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66EC7D90-A144-48A9-BB81-6664D5E35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6095" y="2562225"/>
            <a:ext cx="1664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F8BD1CA3-4BED-4A1E-88DC-C7367640C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6095" y="2809875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Претња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18A3DAFA-01D7-4DE7-A836-028E81B77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6095" y="3190875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876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шта може поћи по злу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B7FF30C0-C860-4C98-8BB2-A6728ECE3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2447925"/>
            <a:ext cx="1950720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3DCE770B-08F8-4331-8CE6-BBB68CA6A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3515" y="2562225"/>
            <a:ext cx="1664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DA813C0F-E57B-434C-B666-131968F15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3515" y="2809875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Захтев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E3ACF7F6-71B0-4099-A081-569F1FB1F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3515" y="3190875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8861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које понашање тражимо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1CB69B60-DF29-43E9-8FC0-58A8569C0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8060" y="2447925"/>
            <a:ext cx="1950720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5F0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E65EB382-CB25-4F3F-AB38-D34B59628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0935" y="2562225"/>
            <a:ext cx="1664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7651D4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10FA8E74-A806-446E-97CA-BBB759DE3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0935" y="2809875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Контрола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1F628BF7-57C1-4E99-B65E-ADCD6ABE8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0935" y="3190875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8480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како ограничавамо ризик</a:t>
            </a:r>
          </a:p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B5131F35-107F-4B59-B213-AF4517745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5480" y="2447925"/>
            <a:ext cx="1950720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5640CE87-4C3C-4853-88F6-268DFF644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8355" y="2562225"/>
            <a:ext cx="1664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7EC34BFC-FA28-4B49-A4AA-A47DEC2FD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8355" y="2809875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Доказ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5241DF44-72E1-49B2-A929-CD5FE8895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8355" y="3190875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тест, лог или демонстрација</a:t>
            </a:r>
          </a:p>
        </p:txBody>
      </p:sp>
      <p:cxnSp>
        <p:nvCxnSpPr>
          <p:cNvPr id="235" name="Straight Arrow Connector 114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2636520" y="30384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236" name="Straight Arrow Connector 115"/>
          <p:cNvCxnSpPr>
            <a:stCxn xmlns:a="http://schemas.openxmlformats.org/drawingml/2006/main" id="10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4853940" y="30384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237" name="Straight Arrow Connector 116"/>
          <p:cNvCxnSpPr>
            <a:stCxn xmlns:a="http://schemas.openxmlformats.org/drawingml/2006/main" id="14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7071360" y="30384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238" name="Straight Arrow Connector 117"/>
          <p:cNvCxnSpPr>
            <a:stCxn xmlns:a="http://schemas.openxmlformats.org/drawingml/2006/main" id="18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9288780" y="30384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sp>
        <p:nvSpPr>
          <p:cNvPr id="206" name="">
            <a:extLst xmlns:a="http://schemas.openxmlformats.org/drawingml/2006/main">
              <a:ext uri="{FF2B5EF4-FFF2-40B4-BE49-F238E27FC236}">
                <a16:creationId xmlns:a16="http://schemas.microsoft.com/office/drawing/2014/main" id="{9E717178-F71E-4904-94F8-962C74EE3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29100"/>
            <a:ext cx="10363200" cy="876300"/>
          </a:xfrm>
          <a:prstGeom xmlns:a="http://schemas.openxmlformats.org/drawingml/2006/main" prst="roundRect">
            <a:avLst>
              <a:gd name="adj" fmla="val 15217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8573">
            <a:solidFill>
              <a:srgbClr val="CAD7F2"/>
            </a:solidFill>
            <a:prstDash val="solid"/>
          </a:ln>
        </p:spPr>
      </p:sp>
      <p:sp>
        <p:nvSpPr>
          <p:cNvPr id="207" name="">
            <a:extLst xmlns:a="http://schemas.openxmlformats.org/drawingml/2006/main">
              <a:ext uri="{FF2B5EF4-FFF2-40B4-BE49-F238E27FC236}">
                <a16:creationId xmlns:a16="http://schemas.microsoft.com/office/drawing/2014/main" id="{75B5FC52-7C49-489F-B94A-62AD0A986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71975"/>
            <a:ext cx="5715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5EF5"/>
          </a:solidFill>
          <a:ln xmlns:a="http://schemas.openxmlformats.org/drawingml/2006/main" w="0">
            <a:noFill/>
          </a:ln>
        </p:spPr>
      </p:sp>
      <p:sp>
        <p:nvSpPr>
          <p:cNvPr id="208" name="">
            <a:extLst xmlns:a="http://schemas.openxmlformats.org/drawingml/2006/main">
              <a:ext uri="{FF2B5EF4-FFF2-40B4-BE49-F238E27FC236}">
                <a16:creationId xmlns:a16="http://schemas.microsoft.com/office/drawing/2014/main" id="{C4E92CD9-D9A7-4695-9D80-663DD0A65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24350"/>
            <a:ext cx="963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РАДНИ МОДЕЛ</a:t>
            </a:r>
          </a:p>
        </p:txBody>
      </p:sp>
      <p:sp>
        <p:nvSpPr>
          <p:cNvPr id="209" name="">
            <a:extLst xmlns:a="http://schemas.openxmlformats.org/drawingml/2006/main">
              <a:ext uri="{FF2B5EF4-FFF2-40B4-BE49-F238E27FC236}">
                <a16:creationId xmlns:a16="http://schemas.microsoft.com/office/drawing/2014/main" id="{C11A948F-5BEE-4D7B-A2E4-135A95E80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552950"/>
            <a:ext cx="96393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Исти модел важи за идентитет, приступ подацима, политике, MFA, инциденте и процену ризика.</a:t>
            </a:r>
          </a:p>
        </p:txBody>
      </p:sp>
    </p:spTree>
    <p:extLst>
      <p:ext uri="{BB962C8B-B14F-4D97-AF65-F5344CB8AC3E}">
        <p14:creationId xmlns:p14="http://schemas.microsoft.com/office/powerpoint/2010/main" val="94407239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046EE255-B7D3-4FE8-AB69-0EE3ABC32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21F45D53-F350-48FE-AC1D-FC6DFA56F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18AF30C-540E-4A85-BD29-508C9D193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DFE5947-EBE7-4C19-8D5E-0D6C7E9E6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Два начина полагања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F9C09D0-2763-45F8-8739-BC9B47AD3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Оба пута завршавају се усменим испитом; разлика је у обиму пројекта и елиминационом тесту.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7DD864A5-D2B2-41A5-8A91-EA9C399C8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38375"/>
            <a:ext cx="5010150" cy="2743200"/>
          </a:xfrm>
          <a:prstGeom xmlns:a="http://schemas.openxmlformats.org/drawingml/2006/main" prst="roundRect">
            <a:avLst>
              <a:gd name="adj" fmla="val 4861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057D987A-545C-418D-9A38-262D67953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62200"/>
            <a:ext cx="470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РЕДОВАН НАЧИН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99490085-07E1-4497-B305-5B3422832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09850"/>
            <a:ext cx="47053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30 + 20 + 40 бодова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2422A82E-6E15-401D-B63E-624CD1B57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05150"/>
            <a:ext cx="4705350" cy="1771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Тимски пројекат: до 30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Елиминациони тест: 20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Усмени испит: до 40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Додатни бодови: до 5 + до 5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2CA7EEDE-8146-41D3-B0BA-C5DF2791E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238375"/>
            <a:ext cx="5010150" cy="2743200"/>
          </a:xfrm>
          <a:prstGeom xmlns:a="http://schemas.openxmlformats.org/drawingml/2006/main" prst="roundRect">
            <a:avLst>
              <a:gd name="adj" fmla="val 4861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9E282403-A898-4C7F-B909-5FA6DF676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362200"/>
            <a:ext cx="470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СУПЕР ПРОЈЕКАТ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EE876F49-3E4D-42C8-86D3-70737B400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609850"/>
            <a:ext cx="47053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60 + 40 бодова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9CC28BD2-2E1C-412B-B98B-A4F891818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105150"/>
            <a:ext cx="4705350" cy="1771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Практични део дипломског рада: до 60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Елиминациони тест: ослобођен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Усмени испит: до 40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Највише 12 студената по генерацији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9EE5E65C-1AD7-485A-9DE2-65FBDAA09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81600"/>
            <a:ext cx="10439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За позитивну оцену важе сва три услова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232B3897-568F-4B60-899F-E05A4586C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67350"/>
            <a:ext cx="32194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C8CD1CFA-118B-40C2-ACA0-339A390A6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514975"/>
            <a:ext cx="2838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444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2F5EF5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2F5EF5"/>
                </a:solidFill>
                <a:latin typeface="Aptos Display"/>
                <a:ea typeface="Aptos Display"/>
                <a:cs typeface="Aptos Display"/>
              </a:rPr>
              <a:t>100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8247C3B3-E02B-44D3-A7D5-C02EFD7FD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838825"/>
            <a:ext cx="2838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МАКСИМУМ БОДОВА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0ED6CF22-05AD-46BE-832B-565C1C410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5467350"/>
            <a:ext cx="32194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E9D4A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D56320DA-7F16-4C75-BD1C-EBD8FA9C0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514975"/>
            <a:ext cx="2838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444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B86A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86A09"/>
                </a:solidFill>
                <a:latin typeface="Aptos Display"/>
                <a:ea typeface="Aptos Display"/>
                <a:cs typeface="Aptos Display"/>
              </a:rPr>
              <a:t>51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C7206501-9C52-4D8F-BFCE-A24D79E83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838825"/>
            <a:ext cx="2838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МИНИМУМ ЗА ПРОЛАЗ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B396BC86-D959-46C1-BC7B-FB6AD6E46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467350"/>
            <a:ext cx="32194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2FE3E33B-8274-4346-BE29-436DF23AE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514975"/>
            <a:ext cx="2838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770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75" b="1">
                <a:solidFill>
                  <a:srgbClr val="138A5B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38A5B"/>
                </a:solidFill>
                <a:latin typeface="Aptos Display"/>
                <a:ea typeface="Aptos Display"/>
                <a:cs typeface="Aptos Display"/>
              </a:rPr>
              <a:t>✓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91CB43BA-22A8-47A0-A3ED-7D7DF97BE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838825"/>
            <a:ext cx="2838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СВЕ КОМПОНЕНТЕ</a:t>
            </a:r>
          </a:p>
        </p:txBody>
      </p:sp>
    </p:spTree>
    <p:extLst>
      <p:ext uri="{BB962C8B-B14F-4D97-AF65-F5344CB8AC3E}">
        <p14:creationId xmlns:p14="http://schemas.microsoft.com/office/powerpoint/2010/main" val="102642480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94A0029B-4ACF-49CA-B6AD-3A4D786EA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6C6E3150-698F-4887-A2F3-8A64C8508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F9A45AD-B6E0-45C1-BC4A-48C22BA17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E245BF3-1B50-481A-B043-72DDC51A9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Структура бодовања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DE48B38-5A3A-43AF-BD3C-8383DD65D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Бодови се сабирају до максимума 100; додатни бодови не замењују обавезне компоненте.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FE06886D-184D-440C-8EB9-C2A6D8138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124075"/>
            <a:ext cx="204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657184"/>
                </a:solidFill>
                <a:latin typeface="Aptos"/>
                <a:ea typeface="Aptos"/>
                <a:cs typeface="Aptos"/>
              </a:rPr>
              <a:t>Начин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8F4C8EC0-D116-4525-BC5F-267A31A6C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2124075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Пројекат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F7B3B8B5-8D6F-4CBF-99F8-EF4F79721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12407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657184"/>
                </a:solidFill>
                <a:latin typeface="Aptos"/>
                <a:ea typeface="Aptos"/>
                <a:cs typeface="Aptos"/>
              </a:rPr>
              <a:t>Тест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DE83D30A-6BA2-4D43-BAAD-50DEFCD2F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124075"/>
            <a:ext cx="1571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657184"/>
                </a:solidFill>
                <a:latin typeface="Aptos"/>
                <a:ea typeface="Aptos"/>
                <a:cs typeface="Aptos"/>
              </a:rPr>
              <a:t>Додатно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B7B80012-6E8F-4A1B-9279-4C7DA9E47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12407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657184"/>
                </a:solidFill>
                <a:latin typeface="Aptos"/>
                <a:ea typeface="Aptos"/>
                <a:cs typeface="Aptos"/>
              </a:rPr>
              <a:t>Усмени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550F8800-EF75-4BAE-A98B-EAC913C1F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124075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657184"/>
                </a:solidFill>
                <a:latin typeface="Aptos"/>
                <a:ea typeface="Aptos"/>
                <a:cs typeface="Aptos"/>
              </a:rPr>
              <a:t>Укупно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3CC6AB25-A607-4F0A-B308-55FE3EE69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38400"/>
            <a:ext cx="103632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AB73A910-6BAA-4F6B-887A-351207C51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90800"/>
            <a:ext cx="2047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Редован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EBEF8E45-2417-4BC3-963A-DB78876E3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2590800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EC67A5FA-0859-4393-BD68-3729212B6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59080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74970B09-D2FB-4E27-88A3-CD0D3C985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1571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до 5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E6CB90BA-6168-4807-812F-05D3AC1F4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59080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40 + до 5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DAC3A5BC-1BF2-4D6A-9B6C-11C015E08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590800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100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A934595A-904E-4DD2-87E7-D16915D6E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76600"/>
            <a:ext cx="103632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6C53E1B8-2C70-47A0-91EA-6B991E547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29000"/>
            <a:ext cx="2047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Супер пројекат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47F7726B-D63B-4CD3-9271-8A7D95A59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3429000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60</a:t>
            </a: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A15ACBD0-13C9-43F0-8BD9-00459E9F4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42900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ослобођен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6FA2559F-03CA-403C-8D66-7348C7CB9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429000"/>
            <a:ext cx="1571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до 5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69808A0A-C529-4445-8F98-502EE488B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42900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40 + до 5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70802939-42E1-4217-A81A-C3999688B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429000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100</a:t>
            </a: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A2B3C89A-CE6A-40BE-860F-60F35D6E1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448175"/>
            <a:ext cx="914400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26444D35-7549-4F0F-9E46-59887EB12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619625"/>
            <a:ext cx="883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Кључно правило</a:t>
            </a:r>
          </a:p>
        </p:txBody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C7D09420-7F3E-4419-AF35-CCE863F95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953000"/>
            <a:ext cx="8839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734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Коначни збир не може прећи 100 бодова. Позитивна оцена захтева најмање 51 бод и све обавезне компоненте.</a:t>
            </a:r>
          </a:p>
        </p:txBody>
      </p:sp>
    </p:spTree>
    <p:extLst>
      <p:ext uri="{BB962C8B-B14F-4D97-AF65-F5344CB8AC3E}">
        <p14:creationId xmlns:p14="http://schemas.microsoft.com/office/powerpoint/2010/main" val="126568617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67EC0818-C3E9-471E-AF0B-4D8F5D100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376DC29F-5C12-4731-8A5C-2D95B7362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EBDD6011-9693-44F9-A05D-4C898DE55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2A04591-414B-44E6-AAEB-7F23CC900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Коначна оцена зависи од укупног збира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4DAE645-D5FA-4CF6-88CC-E552B9094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Распон је једноставан: сваких десет бодова подиже оцену за један ниво.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34DC6686-32BB-4AEA-B7BA-54CDDBA1A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71750"/>
            <a:ext cx="1943100" cy="1695450"/>
          </a:xfrm>
          <a:prstGeom xmlns:a="http://schemas.openxmlformats.org/drawingml/2006/main" prst="roundRect">
            <a:avLst>
              <a:gd name="adj" fmla="val 8427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AB657D93-B282-411F-8EE8-55A40E2C8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781300"/>
            <a:ext cx="16573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51–60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BDE72E0E-B0F9-4C2D-82C3-05951D733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171825"/>
            <a:ext cx="16573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6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6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ED7FB07A-9CE4-4AB3-86CA-9204CB3C7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838575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оцена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EEF250CD-BA5C-4437-BD03-858197244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571750"/>
            <a:ext cx="1943100" cy="1695450"/>
          </a:xfrm>
          <a:prstGeom xmlns:a="http://schemas.openxmlformats.org/drawingml/2006/main" prst="roundRect">
            <a:avLst>
              <a:gd name="adj" fmla="val 8427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C0D3AAE4-6022-4122-8459-9B283EA7C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781300"/>
            <a:ext cx="16573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61–70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BB4787BB-897A-4222-98BC-79A1C3AE4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171825"/>
            <a:ext cx="16573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6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7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C1D15DE5-828A-4B1B-961C-C14A95B76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838575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оцена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007E5DF1-5DD8-4816-8B32-DCEE61B9E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571750"/>
            <a:ext cx="1943100" cy="1695450"/>
          </a:xfrm>
          <a:prstGeom xmlns:a="http://schemas.openxmlformats.org/drawingml/2006/main" prst="roundRect">
            <a:avLst>
              <a:gd name="adj" fmla="val 8427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8766B5F9-4FA9-4725-947F-D3B7BBD98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781300"/>
            <a:ext cx="16573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71–80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F0CEE8CA-6FF6-4ECC-9E13-5D42F7B28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171825"/>
            <a:ext cx="16573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6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8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9EC7ECA9-C252-43F0-AF08-B37B23C63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838575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оцена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3736C763-47DA-4313-A07E-60718BE64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571750"/>
            <a:ext cx="1943100" cy="1695450"/>
          </a:xfrm>
          <a:prstGeom xmlns:a="http://schemas.openxmlformats.org/drawingml/2006/main" prst="roundRect">
            <a:avLst>
              <a:gd name="adj" fmla="val 8427"/>
            </a:avLst>
          </a:prstGeom>
          <a:solidFill xmlns:a="http://schemas.openxmlformats.org/drawingml/2006/main">
            <a:srgbClr val="F5F0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1A371819-27AB-485A-A579-F22CB9795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781300"/>
            <a:ext cx="16573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651D4"/>
                </a:solidFill>
                <a:latin typeface="Aptos"/>
                <a:ea typeface="Aptos"/>
                <a:cs typeface="Aptos"/>
              </a:rPr>
              <a:t>81–90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ABABDF12-1FFA-4F18-A911-2F8C2E097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171825"/>
            <a:ext cx="16573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6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9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27F3AD1D-3525-45E8-A267-993872DC8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838575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оцена</a:t>
            </a:r>
          </a:p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BE1BD47D-FD60-4A71-8C45-60EF9EDED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571750"/>
            <a:ext cx="1943100" cy="1695450"/>
          </a:xfrm>
          <a:prstGeom xmlns:a="http://schemas.openxmlformats.org/drawingml/2006/main" prst="roundRect">
            <a:avLst>
              <a:gd name="adj" fmla="val 8427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00334F9E-2E11-4287-9660-9E67615D0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2781300"/>
            <a:ext cx="16573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91–100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86707C5B-F58E-4601-B161-EA67F1332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3171825"/>
            <a:ext cx="16573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6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10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61596051-2FEF-42E1-A898-A6015186B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3838575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оцена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A9F7EBF-08EF-4B96-B8B5-4AA6A694A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29150"/>
            <a:ext cx="10363200" cy="8382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8573">
            <a:solidFill>
              <a:srgbClr val="CAD7F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752EE03-24C0-4DA0-9D90-26405DA0C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772025"/>
            <a:ext cx="5715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5EF5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DCC2C98-F564-4052-AF11-528D1FF56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724400"/>
            <a:ext cx="963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УСЛОВ ЗА ОЦЕНУ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94297BA-AC3D-4AE9-A137-F6C72E8CA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953000"/>
            <a:ext cx="9639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Прво се испуњавају обавезе изабраног начина полагања; тек затим укупан број бодова одређује оцену.</a:t>
            </a:r>
          </a:p>
        </p:txBody>
      </p:sp>
    </p:spTree>
    <p:extLst>
      <p:ext uri="{BB962C8B-B14F-4D97-AF65-F5344CB8AC3E}">
        <p14:creationId xmlns:p14="http://schemas.microsoft.com/office/powerpoint/2010/main" val="123842188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2C565DE1-B28B-4D9F-8F87-22A704BA4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EFB691FB-98B6-4F04-86EC-0873E4C91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622274E-4817-427C-BBEB-C75FB1616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490DD03-D4C2-40F0-83AF-3169BA4BE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Пројекат је континуиран рад, не изолована апликација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A55D0BB-1139-4C42-96EC-4E608825A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Редован пројекат се развија у систему SCUTUM и наставља рад претходних генерација.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970FBEB0-8E7C-4273-8CD1-42034125D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3352800" cy="2619375"/>
          </a:xfrm>
          <a:prstGeom xmlns:a="http://schemas.openxmlformats.org/drawingml/2006/main" prst="roundRect">
            <a:avLst>
              <a:gd name="adj" fmla="val 5091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6371D502-990A-47F7-8BFE-6FCCA5F0D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14575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ТИМ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F6C75679-E663-4612-BFF8-1B04E5201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62225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6–10 студената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0E7DD654-1327-49BC-A601-0CF532DA8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52750"/>
            <a:ext cx="30480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Јасне одговорности, заједнички Git ток и способност да сваки члан образложи сопствени допринос.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1DD9BB7A-08C3-4F98-B181-878774CCA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190750"/>
            <a:ext cx="3352800" cy="2619375"/>
          </a:xfrm>
          <a:prstGeom xmlns:a="http://schemas.openxmlformats.org/drawingml/2006/main" prst="roundRect">
            <a:avLst>
              <a:gd name="adj" fmla="val 5091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A9F702C2-E43E-4150-AA4E-BBF6F46BB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314575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КВАЛИТЕТ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0988A137-51BB-42BC-9145-DAE5EB8F3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562225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Преглед и тестови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F5F0BE5E-B29E-4E28-A521-C0D6EFD8B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952750"/>
            <a:ext cx="30480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Безбедносне и архитектонске одлуке морају бити видљиве у коду, тестовима и трагу промене.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3DC7D14C-E7DE-4667-A0A8-C3F6B4B82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190750"/>
            <a:ext cx="3352800" cy="2619375"/>
          </a:xfrm>
          <a:prstGeom xmlns:a="http://schemas.openxmlformats.org/drawingml/2006/main" prst="roundRect">
            <a:avLst>
              <a:gd name="adj" fmla="val 5091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0A7F9909-B91D-4DAD-B4CA-EDBCC95D0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314575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ОДБРАНА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1D5B3736-AAA2-4031-A300-9B58738BD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62225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Доказ разумевања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20CB6831-F0CD-4EA9-958F-24571A841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952750"/>
            <a:ext cx="30480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Демонстрација решења није довољна без објашњења механизма, ограничења и индивидуалног рада.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1F549F9-E911-4B34-8CD7-4E4950B57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10150"/>
            <a:ext cx="10363200" cy="9334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8573">
            <a:solidFill>
              <a:srgbClr val="CAD7F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11E926-9994-4819-B36B-48CF1AD75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53025"/>
            <a:ext cx="57150" cy="647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5EF5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8C8606-5122-4961-8164-4BF33B875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105400"/>
            <a:ext cx="963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ВАЖНО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26F19A-0094-4736-AFD1-AA0E6C315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334000"/>
            <a:ext cx="96393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Супер пројекат је практични део дипломског рада, непосредно повезан са информационом безбедношћу; тема и обим се утврђују пре почетка.</a:t>
            </a:r>
          </a:p>
        </p:txBody>
      </p:sp>
    </p:spTree>
    <p:extLst>
      <p:ext uri="{BB962C8B-B14F-4D97-AF65-F5344CB8AC3E}">
        <p14:creationId xmlns:p14="http://schemas.microsoft.com/office/powerpoint/2010/main" val="201011888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FE9B4E9F-C50D-42DF-9640-E94749656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7452AD5D-37C7-4CBC-A2BB-72C3AEA0C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900A53A-2824-45A0-B596-47B033905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F8F1929-E0E5-4A58-94FB-941D9AFCC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Контролне</a:t>
            </a: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тачке</a:t>
            </a: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држе</a:t>
            </a: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пројекат</a:t>
            </a: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у континуитету</a:t>
            </a:r>
            <a:endParaRPr sz="2550" b="1">
              <a:solidFill>
                <a:srgbClr val="1A202C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CF91CA5-28BB-4BD9-A8A2-479F02CD9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Одржавају се сваке друге рачунарске вежбе и проверавају унапред дефинисан напредак.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0B0D96D2-7434-48B3-8B47-B0A62791C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00300"/>
            <a:ext cx="2409825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C766329-54E7-4CA6-B98D-63FE32093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" y="2514600"/>
            <a:ext cx="21240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1C8F5A67-506A-4506-9BA2-1036A6FF5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" y="2762250"/>
            <a:ext cx="21240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P1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3E53F3E0-390A-4202-8B8F-B5D693500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" y="3143250"/>
            <a:ext cx="21240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8643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идентитет, улоге и ауторизација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48113B0-F016-4B18-B88E-3AB572BE0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400300"/>
            <a:ext cx="2409825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5F0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441036BE-48D9-4F93-8798-C18B6661B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514600"/>
            <a:ext cx="21240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7651D4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86591D6C-14E6-421B-8633-E9484DE0C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762250"/>
            <a:ext cx="21240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P2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B1F11D3F-0628-42B1-98EB-51F8BF754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143250"/>
            <a:ext cx="21240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политике, класификација и baseline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8DD80B5C-5B18-46BB-BFB2-656F6E515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400300"/>
            <a:ext cx="2409825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2F8C47DA-7B66-4E30-9248-128BCE96C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2514600"/>
            <a:ext cx="21240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FA9DBA66-DA33-4ABE-A26C-C10AC109F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2762250"/>
            <a:ext cx="21240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P3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30A3D36F-5D1A-41BA-A1CE-60E058A1C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3143250"/>
            <a:ext cx="21240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тестирање и manual-core-baseline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88C6B54A-5D64-4B89-8248-5FF4E3746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400300"/>
            <a:ext cx="2409825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E7010F38-A6E0-4BAE-8EF0-F9BA0F299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514600"/>
            <a:ext cx="21240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45F3768F-32EA-42F8-9856-BF7B112F8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762250"/>
            <a:ext cx="21240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P4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AD8AAB56-4B23-4121-BD85-EDF814F2B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143250"/>
            <a:ext cx="21240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оперативна безбедност и одбрана</a:t>
            </a:r>
          </a:p>
        </p:txBody>
      </p:sp>
      <p:cxnSp>
        <p:nvCxnSpPr>
          <p:cNvPr id="194" name="Straight Arrow Connector 97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286125" y="299085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195" name="Straight Arrow Connector 98"/>
          <p:cNvCxnSpPr>
            <a:stCxn xmlns:a="http://schemas.openxmlformats.org/drawingml/2006/main" id="10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5962650" y="299085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196" name="Straight Arrow Connector 99"/>
          <p:cNvCxnSpPr>
            <a:stCxn xmlns:a="http://schemas.openxmlformats.org/drawingml/2006/main" id="14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8639175" y="299085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sp>
        <p:nvSpPr>
          <p:cNvPr id="25" name="Rounded Rectangle 24">
            <a:extLst xmlns:a="http://schemas.openxmlformats.org/drawingml/2006/main">
              <a:ext uri="{FF2B5EF4-FFF2-40B4-BE49-F238E27FC236}">
                <a16:creationId xmlns:a16="http://schemas.microsoft.com/office/drawing/2014/main" id="{0A6715B6-183C-4398-A4FF-F3FC83D87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248150"/>
            <a:ext cx="8877300" cy="1066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0F0"/>
          </a:solidFill>
          <a:ln xmlns:a="http://schemas.openxmlformats.org/drawingml/2006/main" w="9525">
            <a:solidFill>
              <a:srgbClr val="F1CACA"/>
            </a:solidFill>
            <a:prstDash val="solid"/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9B5AAC81-28B0-4B5E-9761-4349AF7A6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4577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C34747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C34747"/>
                </a:solidFill>
                <a:latin typeface="Aptos Display"/>
                <a:ea typeface="Aptos Display"/>
                <a:cs typeface="Aptos Display"/>
              </a:rPr>
              <a:t>ДО 5 БОДОВА МАЊЕ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7478C320-FDC3-4C4A-BB5F-0DA6DB9B1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9053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C3474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C34747"/>
                </a:solidFill>
                <a:latin typeface="Aptos"/>
                <a:ea typeface="Aptos"/>
                <a:cs typeface="Aptos"/>
              </a:rPr>
              <a:t>ако контролна тачка није испуњена</a:t>
            </a:r>
          </a:p>
        </p:txBody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FB9B3BD0-FABE-4629-89E8-98F005BF0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467225"/>
            <a:ext cx="52006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Испуњена контролна тачка не носи умањење. Циљ је да тим рано уочи кашњење и покаже проверљив напредак.</a:t>
            </a:r>
          </a:p>
        </p:txBody>
      </p:sp>
    </p:spTree>
    <p:extLst>
      <p:ext uri="{BB962C8B-B14F-4D97-AF65-F5344CB8AC3E}">
        <p14:creationId xmlns:p14="http://schemas.microsoft.com/office/powerpoint/2010/main" val="49776775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FB6B3CF7-A55B-4046-9422-7DB64197A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BD58E35D-2B9E-4B6E-AB4F-108BE15FD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EB1828B-9C1C-4797-91E9-A7838C566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8B09319-6684-4EED-875C-70E5CD9F1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Одбрана, елиминациони тест и усмени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307D89F-6B5B-4197-9ED3-4138E570D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Свака компонента проверава други слој знања: резултат, основне појмове и способност образлагања.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9915099A-3A3B-4DA9-A9FB-95CEE3A6D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81225"/>
            <a:ext cx="3390900" cy="2952750"/>
          </a:xfrm>
          <a:prstGeom xmlns:a="http://schemas.openxmlformats.org/drawingml/2006/main" prst="roundRect">
            <a:avLst>
              <a:gd name="adj" fmla="val 4516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DFED64C1-7F3B-4FCF-8B6F-1376DBC55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05050"/>
            <a:ext cx="3086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ОДБРАНА ПРОЈЕКТА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718C0D9-096B-41DB-95CC-A9B85F221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52700"/>
            <a:ext cx="3086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423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Демонстрација + разумевање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8157CF6B-4027-4CF7-A36E-61A6D216A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14675"/>
            <a:ext cx="3086100" cy="1914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Предрок: прва недеља децембра, уз олакшани усмени.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Редовни термин: пред крај зимског семестра.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Проверавају се механизми, тестови и архитектонске одлуке.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C5D0A74B-6EA5-4B58-9D91-7A3568E91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181225"/>
            <a:ext cx="3390900" cy="2952750"/>
          </a:xfrm>
          <a:prstGeom xmlns:a="http://schemas.openxmlformats.org/drawingml/2006/main" prst="roundRect">
            <a:avLst>
              <a:gd name="adj" fmla="val 4516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A12019F6-8F91-47A4-8276-DD48401E4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305050"/>
            <a:ext cx="3086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ЕЛИМИНАЦИОНИ ТЕСТ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601B00A1-A5AA-4FF6-A892-323F0EADE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552700"/>
            <a:ext cx="3086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20 </a:t>
            </a:r>
            <a:r>
              <a:rPr sz="19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бодова</a:t>
            </a:r>
            <a:endParaRPr sz="1950" b="1">
              <a:solidFill>
                <a:srgbClr val="1A20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AC2B3708-E66A-4EC2-A0BC-1739BC319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076575"/>
            <a:ext cx="30861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Обавезан у редовном начину.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Питања су отвореног типа.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Два редовна термина и један поправни у летњем семестру.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E77A25A2-30B8-4832-8101-D347DD7AA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181225"/>
            <a:ext cx="3390900" cy="2952750"/>
          </a:xfrm>
          <a:prstGeom xmlns:a="http://schemas.openxmlformats.org/drawingml/2006/main" prst="roundRect">
            <a:avLst>
              <a:gd name="adj" fmla="val 4516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3581DB0D-C788-404E-9AAA-C773C10FE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305050"/>
            <a:ext cx="3086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УСМЕНИ ИСПИТ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B7F843A8-DD15-4DE6-AFA6-32CBE0EB5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52700"/>
            <a:ext cx="3086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До 40 бодова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B9BCCFBC-E007-4812-AEF0-FE4DFFEE4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76575"/>
            <a:ext cx="30861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Обавезан у оба начина.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Повезује концепте са пројектом.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Студент образлаже безбедносне и архитектонске одлуке.</a:t>
            </a:r>
          </a:p>
        </p:txBody>
      </p:sp>
    </p:spTree>
    <p:extLst>
      <p:ext uri="{BB962C8B-B14F-4D97-AF65-F5344CB8AC3E}">
        <p14:creationId xmlns:p14="http://schemas.microsoft.com/office/powerpoint/2010/main" val="63630838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D232C7D7-61C2-4DBA-8C1A-2A6A23A60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BFCC98D8-2F11-454D-8B66-B036AD4F9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70314BD-3245-48AB-B23B-2222F5A4E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AB69E6D-4A8C-47FE-8DB8-198C36C36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Осам вежби прати природан ток безбедносног размишљања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CF84165-42C9-48C5-877B-203B1F269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Од идентитета и приступа до оперативне реакције, ризика и мерења ефективности.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D66374C1-935A-4700-B448-A5A488099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76450"/>
            <a:ext cx="5086350" cy="742950"/>
          </a:xfrm>
          <a:prstGeom xmlns:a="http://schemas.openxmlformats.org/drawingml/2006/main" prst="roundRect">
            <a:avLst>
              <a:gd name="adj" fmla="val 17949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D010E1BC-E15A-4D50-88E9-BDD9309FB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00275"/>
            <a:ext cx="4781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8E4BF6FE-5FA2-424E-9520-30A454BC7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47925"/>
            <a:ext cx="4781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Идентитет, аутентикација и RBAC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0B59D655-4F33-412D-BAEA-402313427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76450"/>
            <a:ext cx="5086350" cy="742950"/>
          </a:xfrm>
          <a:prstGeom xmlns:a="http://schemas.openxmlformats.org/drawingml/2006/main" prst="roundRect">
            <a:avLst>
              <a:gd name="adj" fmla="val 17949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F948D8C1-C1DA-4A15-944A-F9E9BAF79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200275"/>
            <a:ext cx="4781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AD983EB-DA4A-4922-BC55-D5C376495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447925"/>
            <a:ext cx="4781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Ауторизација над ресурсом и класификација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66D53A58-3A14-4821-8E96-EAE594B56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71800"/>
            <a:ext cx="5086350" cy="742950"/>
          </a:xfrm>
          <a:prstGeom xmlns:a="http://schemas.openxmlformats.org/drawingml/2006/main" prst="roundRect">
            <a:avLst>
              <a:gd name="adj" fmla="val 17949"/>
            </a:avLst>
          </a:prstGeom>
          <a:solidFill xmlns:a="http://schemas.openxmlformats.org/drawingml/2006/main">
            <a:srgbClr val="F5F0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2F20965A-1DE6-4D9C-B1D2-32B28FC0A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95625"/>
            <a:ext cx="4781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651D4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F5DA7F18-B0EB-4266-A7DC-B81264916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43275"/>
            <a:ext cx="4781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Политике, конфигурација и видљивост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17445E31-9F24-4E9C-AC36-9287B477F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971800"/>
            <a:ext cx="5086350" cy="742950"/>
          </a:xfrm>
          <a:prstGeom xmlns:a="http://schemas.openxmlformats.org/drawingml/2006/main" prst="roundRect">
            <a:avLst>
              <a:gd name="adj" fmla="val 17949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1C05A4B2-9C53-4687-AF81-C5A3376C8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095625"/>
            <a:ext cx="4781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2E736C15-1DFF-409B-909F-A56091774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343275"/>
            <a:ext cx="4781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Имовина, границе поверења и threat modeling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9CD138FE-3214-4A58-AC88-476F1DF70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67150"/>
            <a:ext cx="5086350" cy="742950"/>
          </a:xfrm>
          <a:prstGeom xmlns:a="http://schemas.openxmlformats.org/drawingml/2006/main" prst="roundRect">
            <a:avLst>
              <a:gd name="adj" fmla="val 17949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8EB3FC2A-65B2-40F3-A178-4B9860983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90975"/>
            <a:ext cx="4781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A0E40CE3-469C-43D8-BC13-4594AC7C8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38625"/>
            <a:ext cx="4781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MFA, сесије, сервиси и тајне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22EEFE98-CD8F-44E4-B5D8-F088F78A8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867150"/>
            <a:ext cx="5086350" cy="742950"/>
          </a:xfrm>
          <a:prstGeom xmlns:a="http://schemas.openxmlformats.org/drawingml/2006/main" prst="roundRect">
            <a:avLst>
              <a:gd name="adj" fmla="val 17949"/>
            </a:avLst>
          </a:prstGeom>
          <a:solidFill xmlns:a="http://schemas.openxmlformats.org/drawingml/2006/main">
            <a:srgbClr val="FFF0F0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62A5B3CD-71FC-4D50-B5FC-39FADAFD3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990975"/>
            <a:ext cx="4781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C3474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C34747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7A709A55-2C5D-4F78-B18D-3A130FB66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238625"/>
            <a:ext cx="4781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Детекција, инцидент и рањивости</a:t>
            </a:r>
          </a:p>
        </p:txBody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3186ECF8-4EDB-46FA-80B3-A76AFA73A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62500"/>
            <a:ext cx="5086350" cy="742950"/>
          </a:xfrm>
          <a:prstGeom xmlns:a="http://schemas.openxmlformats.org/drawingml/2006/main" prst="roundRect">
            <a:avLst>
              <a:gd name="adj" fmla="val 17949"/>
            </a:avLst>
          </a:prstGeom>
          <a:solidFill xmlns:a="http://schemas.openxmlformats.org/drawingml/2006/main">
            <a:srgbClr val="F5F0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E9065CFE-D485-4FFE-9481-C903A9358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886325"/>
            <a:ext cx="4781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651D4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9F1E75D3-3E7C-4321-A446-5619911ED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133975"/>
            <a:ext cx="4781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Атрибути, ризик и преглед приступа</a:t>
            </a:r>
          </a:p>
        </p:txBody>
      </p:sp>
      <p:sp>
        <p:nvSpPr>
          <p:cNvPr id="27" name="Rounded Rectangle 26">
            <a:extLst xmlns:a="http://schemas.openxmlformats.org/drawingml/2006/main">
              <a:ext uri="{FF2B5EF4-FFF2-40B4-BE49-F238E27FC236}">
                <a16:creationId xmlns:a16="http://schemas.microsoft.com/office/drawing/2014/main" id="{4E2AD236-D0E8-4015-ADB3-438333F02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762500"/>
            <a:ext cx="5086350" cy="742950"/>
          </a:xfrm>
          <a:prstGeom xmlns:a="http://schemas.openxmlformats.org/drawingml/2006/main" prst="roundRect">
            <a:avLst>
              <a:gd name="adj" fmla="val 17949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047D1D4F-8FD4-4F2D-900D-C99762C3C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886325"/>
            <a:ext cx="4781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519686E2-D7EC-48D2-8E34-CA4309FE4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5133975"/>
            <a:ext cx="4781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Корелација, ефективност и учење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C9DB79A-6AD6-4ACF-9A1F-BF19B3A9F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57850"/>
            <a:ext cx="103632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8573">
            <a:solidFill>
              <a:srgbClr val="CAD7F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E192770-B4EC-4CFC-B3C5-1825C0320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772150"/>
            <a:ext cx="571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5EF5"/>
          </a:solidFill>
          <a:ln xmlns:a="http://schemas.openxmlformats.org/drawingml/2006/main" w="0">
            <a:noFill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7EF8964-3CCE-40F9-A16E-12AF9FC80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819775"/>
            <a:ext cx="1285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854D7"/>
                </a:solidFill>
                <a:latin typeface="Aptos"/>
                <a:ea typeface="Aptos"/>
                <a:cs typeface="Aptos"/>
              </a:rPr>
              <a:t>ДОДАТНО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D10C984-9E7B-4E13-9011-B29D3A63D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5781675"/>
            <a:ext cx="82962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Agile/Scrum, Git и тимски рад за потребе израде пројекта.</a:t>
            </a:r>
          </a:p>
        </p:txBody>
      </p:sp>
    </p:spTree>
    <p:extLst>
      <p:ext uri="{BB962C8B-B14F-4D97-AF65-F5344CB8AC3E}">
        <p14:creationId xmlns:p14="http://schemas.microsoft.com/office/powerpoint/2010/main" val="153077549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9C181A31-6228-415E-A895-ECC7F82EA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6CB81B63-F306-4D85-AA47-89CB52EFB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94D547B-4923-4A3B-A743-F3FAA7D07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AAC43DD-7619-485B-BDA8-C64EFC865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Присуство, интегритет и безбедан рад су обавезни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4B81F6A-3100-464F-B802-00733F26C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Правила</a:t>
            </a: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штите</a:t>
            </a: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и</a:t>
            </a: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квалитет</a:t>
            </a: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наставе</a:t>
            </a: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и</a:t>
            </a: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системе</a:t>
            </a: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ван</a:t>
            </a: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контролисаног</a:t>
            </a: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окружења</a:t>
            </a: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5CC93D94-6F99-4F5D-B831-26C68D721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09800"/>
            <a:ext cx="3333750" cy="2667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D7FCD7F6-5560-4843-9E41-4B2B011C6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33625"/>
            <a:ext cx="3028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ПРИСУСТВО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9DC28AE4-6EDE-4CDF-9BCA-A3AC258F3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81275"/>
            <a:ext cx="3028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Највише 2 неоправдана изостанка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9B32390C-5235-40F4-B40C-98CB956B7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38500"/>
            <a:ext cx="3028950" cy="1533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Са више од два неоправдана изостанка студент губи право на полагање пројекта.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7CC1AA61-1639-4623-8D01-C959EBBDC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209800"/>
            <a:ext cx="3333750" cy="2667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0F0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243EA512-BDF1-4717-B702-01229E1E8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2333625"/>
            <a:ext cx="3028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C3474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C34747"/>
                </a:solidFill>
                <a:latin typeface="Aptos"/>
                <a:ea typeface="Aptos"/>
                <a:cs typeface="Aptos"/>
              </a:rPr>
              <a:t>ИНТЕГРИТЕТ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C427AA10-A7E0-463F-98F3-066ABBF1B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2581275"/>
            <a:ext cx="3028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0 бодова за плагијат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6A381B5D-2D0B-4975-AC0C-93D424AF8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124200"/>
            <a:ext cx="3028950" cy="1647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Исто важи за преузимање туђег решења и лажно представљање индивидуалног доприноса.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4C2632D7-90D3-4277-898C-7D58D7442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209800"/>
            <a:ext cx="3333750" cy="2667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E581B600-13C9-4357-B028-55E00427A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333625"/>
            <a:ext cx="3028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БЕЗБЕДНО ОКРУЖЕЊЕ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3FD7472E-362E-4DFB-9C6F-D89126261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581275"/>
            <a:ext cx="3028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Само сопствени тестни системи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02E7BCB2-280A-428C-AE4D-BEA3D5003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38500"/>
            <a:ext cx="3028950" cy="1533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Негативни и злоупотребни сценарији изводе се дефанзивно и искључиво у контролисаном окружењу.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3C8FB4A-B2BD-4B93-8801-02C8AFB44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86350"/>
            <a:ext cx="10363200" cy="8001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8573">
            <a:solidFill>
              <a:srgbClr val="CAD7F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4C7018-EB02-4151-937D-DAADFA776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229225"/>
            <a:ext cx="571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5EF5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064FA80-F1A2-4199-A780-9C6B9E3E5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181600"/>
            <a:ext cx="963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ЗВАНИЧНИ КАНАЛИ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B210D8-1CCE-4872-BBA9-1151A56BF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410200"/>
            <a:ext cx="96393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Организациона обавештења, термини и измене објављују се путем званичних канала предмета.</a:t>
            </a:r>
          </a:p>
        </p:txBody>
      </p:sp>
    </p:spTree>
    <p:extLst>
      <p:ext uri="{BB962C8B-B14F-4D97-AF65-F5344CB8AC3E}">
        <p14:creationId xmlns:p14="http://schemas.microsoft.com/office/powerpoint/2010/main" val="172628945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B5A3CF97-FDC6-4B1D-944E-A001FAB9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6A56BA4B-1C7F-4A21-9DE2-D7703465F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D33C6E5-4E04-44E6-B623-D1226548B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6CA7829-2595-4DB4-8E5E-4AC82F8B7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Прелазна правила зависе од признатих обавеза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C868B95-2A52-4A9E-ABDD-05A439D5C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За раније генерације примењује се актуелни режим, уз конкретна признавања која студент већ има.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D3173629-0B45-45A4-A6DC-463118952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47875"/>
            <a:ext cx="3667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657184"/>
                </a:solidFill>
                <a:latin typeface="Aptos"/>
                <a:ea typeface="Aptos"/>
                <a:cs typeface="Aptos"/>
              </a:rPr>
              <a:t>СТАТУС СТУДЕНТА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EFFF03C4-24B0-4F59-BD43-80C62F051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047875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657184"/>
                </a:solidFill>
                <a:latin typeface="Aptos"/>
                <a:ea typeface="Aptos"/>
                <a:cs typeface="Aptos"/>
              </a:rPr>
              <a:t>ОБАВЕЗА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72CAB2E-16C0-4B40-BFEB-AE230CE6E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43150"/>
            <a:ext cx="104394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23C44A9D-8BEF-4071-ADE1-41EC6FB20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57450"/>
            <a:ext cx="3619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Нема потпис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5B6BD902-972E-4FF7-A323-29A8D578B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457450"/>
            <a:ext cx="6153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Поново похађа предмет и све обавезе реализује по актуелним правилима.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0601B4C-2F63-41FD-A1C7-9F237FC0B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104394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3F59D78F-EAC3-44FC-8328-17E561A39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276600"/>
            <a:ext cx="3619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Има потпис, без положених предиспитних обавеза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8BCE727F-4B19-4688-9D12-03FB96935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276600"/>
            <a:ext cx="6153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Предиспитне и испитне обавезе реализује по актуелним правилима.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F89C0074-C010-44D4-B3AA-C40F7D8B3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104394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1CAC09E9-DCB6-40FC-829E-848763229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095750"/>
            <a:ext cx="3619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Признате предиспитне обавезе, без теста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00A4311F-2D9F-4B4A-97ED-1483B3A9C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095750"/>
            <a:ext cx="6153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Полаже елиминациони тест по актуелним правилима.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65DC4DB1-6ECA-4071-A0B8-5B31AA3F7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00600"/>
            <a:ext cx="104394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DDAC46D6-7D9A-425D-A3A8-30B4709C2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914900"/>
            <a:ext cx="3619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Признате предиспитне обавезе и тест, без усменог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63A9F3B3-5B3E-48A0-9CEF-8CCD5387B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914900"/>
            <a:ext cx="6153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Полаже усмени. Бодови са усменог множе се коефицијентом 0,5.</a:t>
            </a:r>
          </a:p>
        </p:txBody>
      </p:sp>
    </p:spTree>
    <p:extLst>
      <p:ext uri="{BB962C8B-B14F-4D97-AF65-F5344CB8AC3E}">
        <p14:creationId xmlns:p14="http://schemas.microsoft.com/office/powerpoint/2010/main" val="65066117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8199672A-71F7-46E3-9478-9134A0891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81C8C226-9F83-4256-8DFB-5C76B5BCC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923D0807-2F0C-44E6-B207-25AA0DE8F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181EDC7-8BBD-49E9-9E7B-3675E5A4D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Како користити практикум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6064090-04B1-40A2-983E-7146EF2FF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Циљ није памћење једног примера, већ способност да се принцип пренесе на додељену пројектну целину.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32EA2032-0295-420B-8929-29C639B9B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33625"/>
            <a:ext cx="2447925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26FAB8B-0544-40F9-B40C-0500F1C72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2447925"/>
            <a:ext cx="21621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8118DBCE-C039-4875-A777-4B6F9FA38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2695575"/>
            <a:ext cx="2162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Пре вежбе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33AB8E24-EE8A-4553-BD2D-DCD80032F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076575"/>
            <a:ext cx="2162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прочитај тему и издвој претпоставке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191743AB-55B0-47D2-AABA-D6BED2AE4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2333625"/>
            <a:ext cx="2447925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739CBA93-16FF-4E79-AE12-95D23293D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447925"/>
            <a:ext cx="21621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2BA4BE3A-EFE7-4299-97F6-14FE8F6AE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695575"/>
            <a:ext cx="2162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Током вежбе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BD156A33-27FB-4480-87D9-20891EC72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076575"/>
            <a:ext cx="2162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704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повежи појам са последицом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701418BD-AB10-4A57-BA5E-DC98BBE88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333625"/>
            <a:ext cx="2447925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5F0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C0EC6AA4-D0BF-4655-B56F-DA87A5ACE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2447925"/>
            <a:ext cx="21621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7651D4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A707E40D-FB44-48CC-96AA-FE981C400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2695575"/>
            <a:ext cx="2162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После вежбе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35EC09EC-111F-4981-A726-5C9E72C4F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3076575"/>
            <a:ext cx="2162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579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примени принцип на пројекат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BF2BF0DC-3C6C-48D5-BA9A-9223465A0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2333625"/>
            <a:ext cx="2447925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30313279-84FA-4351-8688-3AA07DC8E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447925"/>
            <a:ext cx="21621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ABCCA60D-37F7-44EB-BDC3-95A14E90C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695575"/>
            <a:ext cx="2162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Пред одбрану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5518FE19-ADF1-4F03-AA4F-9BB0CC3CB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076575"/>
            <a:ext cx="2162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покажи контролу и доказ</a:t>
            </a:r>
          </a:p>
        </p:txBody>
      </p:sp>
      <p:cxnSp>
        <p:nvCxnSpPr>
          <p:cNvPr id="193" name="Straight Arrow Connector 96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248025" y="29241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194" name="Straight Arrow Connector 97"/>
          <p:cNvCxnSpPr>
            <a:stCxn xmlns:a="http://schemas.openxmlformats.org/drawingml/2006/main" id="10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5962650" y="29241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195" name="Straight Arrow Connector 98"/>
          <p:cNvCxnSpPr>
            <a:stCxn xmlns:a="http://schemas.openxmlformats.org/drawingml/2006/main" id="14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8677275" y="29241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sp>
        <p:nvSpPr>
          <p:cNvPr id="25" name="Rounded Rectangle 24">
            <a:extLst xmlns:a="http://schemas.openxmlformats.org/drawingml/2006/main">
              <a:ext uri="{FF2B5EF4-FFF2-40B4-BE49-F238E27FC236}">
                <a16:creationId xmlns:a16="http://schemas.microsoft.com/office/drawing/2014/main" id="{19C123BC-BF20-47A7-85FB-0AAC61A85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238625"/>
            <a:ext cx="9067800" cy="1162050"/>
          </a:xfrm>
          <a:prstGeom xmlns:a="http://schemas.openxmlformats.org/drawingml/2006/main" prst="roundRect">
            <a:avLst>
              <a:gd name="adj" fmla="val 11475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8E78FF86-F0EC-4C3C-878B-A3D12DF2B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Добар одговор има четири дела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89036AB8-BF31-4F98-820B-5AA74A7C3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62500"/>
            <a:ext cx="8763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Проблем који решавамо · изабрана контрола · њено ограничење · тест, audit траг или демонстрација која доказује понашање.</a:t>
            </a:r>
          </a:p>
        </p:txBody>
      </p:sp>
    </p:spTree>
    <p:extLst>
      <p:ext uri="{BB962C8B-B14F-4D97-AF65-F5344CB8AC3E}">
        <p14:creationId xmlns:p14="http://schemas.microsoft.com/office/powerpoint/2010/main" val="64454343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5B14683C-08DF-4B04-A87E-79984B27A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0D70A279-A32C-4878-A328-4F49B3041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355F3E9-6B8F-4BE7-99A1-ACAA28C50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02F33DF-B630-43A0-BE75-CA39A97FC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Исходи предмета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5E742E7-24E2-4721-98F7-899752B4B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На крају предмета студент повезује безбедносни проблем са контролом и проверљивим доказом.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C7E9DF67-AA56-44B2-B6EE-8BC2F764E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09800"/>
            <a:ext cx="3333750" cy="2571750"/>
          </a:xfrm>
          <a:prstGeom xmlns:a="http://schemas.openxmlformats.org/drawingml/2006/main" prst="roundRect">
            <a:avLst>
              <a:gd name="adj" fmla="val 5185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4116112D-CDB6-45E3-B694-5717A81E4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33625"/>
            <a:ext cx="3028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АНАЛИЗА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654D3DA2-E61A-4573-A322-53A7D13D0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81275"/>
            <a:ext cx="3028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Имовина и претпоставке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31EDA4B0-3635-4CEB-A352-343DDA388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71800"/>
            <a:ext cx="3028950" cy="1704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Препознаје шта систем штити, где се мења поверење и која претпоставка може бити погрешна.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93813A09-AADC-418F-8BC3-EE14A3619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209800"/>
            <a:ext cx="3333750" cy="2571750"/>
          </a:xfrm>
          <a:prstGeom xmlns:a="http://schemas.openxmlformats.org/drawingml/2006/main" prst="roundRect">
            <a:avLst>
              <a:gd name="adj" fmla="val 5185"/>
            </a:avLst>
          </a:prstGeom>
          <a:solidFill xmlns:a="http://schemas.openxmlformats.org/drawingml/2006/main">
            <a:srgbClr val="F5F0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CB9A0EFC-B203-480E-8471-2B335D547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2333625"/>
            <a:ext cx="3028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651D4"/>
                </a:solidFill>
                <a:latin typeface="Aptos"/>
                <a:ea typeface="Aptos"/>
                <a:cs typeface="Aptos"/>
              </a:rPr>
              <a:t>ОДЛУКА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F32269C0-542E-4314-90B5-9DBE21626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2581275"/>
            <a:ext cx="3028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Правило и контрола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6E2F097A-0B87-48A0-A960-C0FD529BF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2971800"/>
            <a:ext cx="3028950" cy="1704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Формулише јасну безбедносну одлуку и примењује је на серверској граници система.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C6014A29-8954-4987-97B2-834A8DF2E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209800"/>
            <a:ext cx="3333750" cy="2571750"/>
          </a:xfrm>
          <a:prstGeom xmlns:a="http://schemas.openxmlformats.org/drawingml/2006/main" prst="roundRect">
            <a:avLst>
              <a:gd name="adj" fmla="val 5185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A0B4027E-B2BE-417C-8199-6929BDF91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333625"/>
            <a:ext cx="3028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ДОКАЗ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5122E414-4DD3-4471-9D73-39633F9D1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581275"/>
            <a:ext cx="3028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Тест и audit траг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F9B28FCE-98F8-49C1-B50A-7EE19F221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971800"/>
            <a:ext cx="3028950" cy="1704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Показује и дозвољен и одбијен исход, па уме да објасни ограничење контроле.</a:t>
            </a:r>
          </a:p>
        </p:txBody>
      </p:sp>
    </p:spTree>
    <p:extLst>
      <p:ext uri="{BB962C8B-B14F-4D97-AF65-F5344CB8AC3E}">
        <p14:creationId xmlns:p14="http://schemas.microsoft.com/office/powerpoint/2010/main" val="134979651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5150D703-B983-406B-9C31-4DD0A4352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DA55BB5D-C914-4337-B2E1-DFD68901B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814135C-E7D3-4CBA-8A58-51F345BDC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446605E-8850-474F-B984-155E3FB86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Шта се очекује од редовног пројекта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C847450-175A-460F-8F3F-E5E5D1E84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Тим развија део заједничког система SCUTUM и оставља решење које наредна генерација може да настави.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70DBC6DC-FB50-406E-9965-ABE837680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00300"/>
            <a:ext cx="1950720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F9F6C691-966A-410C-9EB2-3C60C4102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514600"/>
            <a:ext cx="1664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44217FE-D588-4DAC-B10E-7EB7524E0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762250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Backlog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01F4601A-9CBD-48D8-BBD3-EF1142658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3143250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проверљив безбедносни захтев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71F69BC9-31E7-41B0-8EAB-DBC592D72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3220" y="2400300"/>
            <a:ext cx="1950720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CA654E1C-E49F-497B-A536-D50A3966B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6095" y="2514600"/>
            <a:ext cx="1664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E83CB734-5121-4A96-AC4E-11E704957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6095" y="2762250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Имплементација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8B5B7F5C-A11F-4E00-A1A2-FB6B642F0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6095" y="3143250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мала, прегледива промена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A40C2D5-14B4-4539-9C18-133ECD0CF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2400300"/>
            <a:ext cx="1950720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5F0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7584ECE2-686E-4BC6-970B-AD449A287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3515" y="2514600"/>
            <a:ext cx="1664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7651D4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5D328C2A-D2BE-4651-9F7A-64AFE5AEF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3515" y="2762250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Review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25E55D02-248A-42E4-84ED-0983EB86E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3515" y="3143250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објашњена одлука и ризик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28B469E4-D8C7-490C-8F11-73A6C744B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8060" y="2400300"/>
            <a:ext cx="1950720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DC69920D-60B3-4405-A7FD-5D7543909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0935" y="2514600"/>
            <a:ext cx="1664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68B4A026-65B9-444A-807E-D0DECA3B5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0935" y="2762250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Тест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2DD314EC-935F-422E-A365-4EAA3560B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0935" y="3143250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успешан и негативан исход</a:t>
            </a:r>
          </a:p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22B96C2B-1B8A-4978-B272-DF312AACC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5480" y="2400300"/>
            <a:ext cx="1950720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56EBD40B-0AE6-486D-A473-09FE0E912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8355" y="2514600"/>
            <a:ext cx="1664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B400CBF5-399B-47A6-87A5-70268CCA0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8355" y="2762250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Одбрана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8F8AE4F2-FB65-41AB-9E54-CBA4E4384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8355" y="3143250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индивидуално разумевање</a:t>
            </a:r>
          </a:p>
        </p:txBody>
      </p:sp>
      <p:cxnSp>
        <p:nvCxnSpPr>
          <p:cNvPr id="234" name="Straight Arrow Connector 113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2636520" y="299085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235" name="Straight Arrow Connector 114"/>
          <p:cNvCxnSpPr>
            <a:stCxn xmlns:a="http://schemas.openxmlformats.org/drawingml/2006/main" id="10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4853940" y="299085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236" name="Straight Arrow Connector 115"/>
          <p:cNvCxnSpPr>
            <a:stCxn xmlns:a="http://schemas.openxmlformats.org/drawingml/2006/main" id="14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7071360" y="299085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237" name="Straight Arrow Connector 116"/>
          <p:cNvCxnSpPr>
            <a:stCxn xmlns:a="http://schemas.openxmlformats.org/drawingml/2006/main" id="18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9288780" y="299085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sp>
        <p:nvSpPr>
          <p:cNvPr id="205" name="">
            <a:extLst xmlns:a="http://schemas.openxmlformats.org/drawingml/2006/main">
              <a:ext uri="{FF2B5EF4-FFF2-40B4-BE49-F238E27FC236}">
                <a16:creationId xmlns:a16="http://schemas.microsoft.com/office/drawing/2014/main" id="{96C48111-C021-445B-A4B1-C8C55B983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62450"/>
            <a:ext cx="10363200" cy="876300"/>
          </a:xfrm>
          <a:prstGeom xmlns:a="http://schemas.openxmlformats.org/drawingml/2006/main" prst="roundRect">
            <a:avLst>
              <a:gd name="adj" fmla="val 15217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8573">
            <a:solidFill>
              <a:srgbClr val="CAD7F2"/>
            </a:solidFill>
            <a:prstDash val="solid"/>
          </a:ln>
        </p:spPr>
      </p:sp>
      <p:sp>
        <p:nvSpPr>
          <p:cNvPr id="206" name="">
            <a:extLst xmlns:a="http://schemas.openxmlformats.org/drawingml/2006/main">
              <a:ext uri="{FF2B5EF4-FFF2-40B4-BE49-F238E27FC236}">
                <a16:creationId xmlns:a16="http://schemas.microsoft.com/office/drawing/2014/main" id="{3E1CFE91-FF39-40BC-A7BD-69C9FD401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505325"/>
            <a:ext cx="5715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5EF5"/>
          </a:solidFill>
          <a:ln xmlns:a="http://schemas.openxmlformats.org/drawingml/2006/main" w="0">
            <a:noFill/>
          </a:ln>
        </p:spPr>
      </p:sp>
      <p:sp>
        <p:nvSpPr>
          <p:cNvPr id="207" name="">
            <a:extLst xmlns:a="http://schemas.openxmlformats.org/drawingml/2006/main">
              <a:ext uri="{FF2B5EF4-FFF2-40B4-BE49-F238E27FC236}">
                <a16:creationId xmlns:a16="http://schemas.microsoft.com/office/drawing/2014/main" id="{090FB40B-4435-4C0D-BD32-842BB1E33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457700"/>
            <a:ext cx="963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ОБАВЕЗНО</a:t>
            </a:r>
          </a:p>
        </p:txBody>
      </p:sp>
      <p:sp>
        <p:nvSpPr>
          <p:cNvPr id="208" name="">
            <a:extLst xmlns:a="http://schemas.openxmlformats.org/drawingml/2006/main">
              <a:ext uri="{FF2B5EF4-FFF2-40B4-BE49-F238E27FC236}">
                <a16:creationId xmlns:a16="http://schemas.microsoft.com/office/drawing/2014/main" id="{EDD1D3ED-16BA-4332-A59E-9903174FA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86300"/>
            <a:ext cx="96393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Сваки члан мора да покаже сопствени допринос и да објасни зашто је изабрана контрола примерена ризику.</a:t>
            </a:r>
          </a:p>
        </p:txBody>
      </p:sp>
    </p:spTree>
    <p:extLst>
      <p:ext uri="{BB962C8B-B14F-4D97-AF65-F5344CB8AC3E}">
        <p14:creationId xmlns:p14="http://schemas.microsoft.com/office/powerpoint/2010/main" val="113082660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459157DF-7CF8-4AAC-9839-97245694F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00A6FEB1-156E-43AC-8A68-995BDB8A3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6625874-2488-4473-BE88-9DFCC38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DAB86D8-8A06-41E9-BC33-F9BB4E774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Супер пројекат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C8DBBD2-7F91-4A3D-9803-390181287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Овај начин полагања намењен је практичном делу дипломског рада који је непосредно повезан са информационом безбедношћу.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A88CA7BA-99C2-4C09-862D-D4F476C76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66950"/>
            <a:ext cx="3048000" cy="2419350"/>
          </a:xfrm>
          <a:prstGeom xmlns:a="http://schemas.openxmlformats.org/drawingml/2006/main" prst="roundRect">
            <a:avLst>
              <a:gd name="adj" fmla="val 5512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0F9FDF3-D1C4-4BA5-B828-4C3ED439B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90775"/>
            <a:ext cx="2743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ОБИМ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168122FC-08BD-465F-9436-A1440CE86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638425"/>
            <a:ext cx="2743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До 60 бодова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F96CF7CA-0D18-4F01-BC27-CB5F412EF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181350"/>
            <a:ext cx="2743200" cy="1400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Пројекат замењује редован пројекат и ослобађа студента елиминационог теста.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19A527C-7727-4ED7-A3C8-B5AB4BBF8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266950"/>
            <a:ext cx="3048000" cy="2419350"/>
          </a:xfrm>
          <a:prstGeom xmlns:a="http://schemas.openxmlformats.org/drawingml/2006/main" prst="roundRect">
            <a:avLst>
              <a:gd name="adj" fmla="val 5512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1A254A9-CB53-4516-B0FC-AAA4C26C7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390775"/>
            <a:ext cx="2743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КАПАЦИТЕТ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D292B1E4-19EC-4430-9583-99DB3320A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638425"/>
            <a:ext cx="2743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До 12 студената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FC6B2C75-13A6-4ECC-9DF6-D3E13A24E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181350"/>
            <a:ext cx="2743200" cy="1400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Број места је ограничен, па се тема и очекивани резултат договарају пре почетка рада.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4540DE5F-12A6-4D98-8710-CDD2C5BD7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66950"/>
            <a:ext cx="3048000" cy="2419350"/>
          </a:xfrm>
          <a:prstGeom xmlns:a="http://schemas.openxmlformats.org/drawingml/2006/main" prst="roundRect">
            <a:avLst>
              <a:gd name="adj" fmla="val 5512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66EE856C-A742-442E-A117-942C374FA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390775"/>
            <a:ext cx="2743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ОДБРАНА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0DE00F37-A45B-439B-A8CB-077DA1F8F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638425"/>
            <a:ext cx="2743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Усмени је обавезан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A459E231-7C84-4F83-804E-EC75E6F2B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81350"/>
            <a:ext cx="2743200" cy="1400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Студент повезује дипломски рад са концептима предмета и образлаже безбедносне одлуке.</a:t>
            </a:r>
          </a:p>
        </p:txBody>
      </p:sp>
    </p:spTree>
    <p:extLst>
      <p:ext uri="{BB962C8B-B14F-4D97-AF65-F5344CB8AC3E}">
        <p14:creationId xmlns:p14="http://schemas.microsoft.com/office/powerpoint/2010/main" val="120652816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4F9E95B0-3AB0-4DA3-8E8A-889A595CB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FA332100-57C4-4E45-87A3-A84D11A06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CB323621-6B01-42D3-A5FD-7B6AC0E42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F67087E-D843-4447-A6AB-F4E9FAC89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Шта се показује на контролним тачкама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B7C4003-476A-454D-A140-EF3BDCC17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Контролна тачка не тражи савршен систем, већ видљив напредак и доказ да тим разуме границу коју гради.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F0E5DD20-CD61-431F-BC6D-C3EE3D59F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52650"/>
            <a:ext cx="5086350" cy="1352550"/>
          </a:xfrm>
          <a:prstGeom xmlns:a="http://schemas.openxmlformats.org/drawingml/2006/main" prst="roundRect">
            <a:avLst>
              <a:gd name="adj" fmla="val 9859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35D1AF06-8BF4-4FD2-B513-9D7F3132C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76475"/>
            <a:ext cx="4781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P1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94ACAB5C-D766-4805-8DBD-D918210C1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24125"/>
            <a:ext cx="4781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Идентитет, RBAC и одбијен приступ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2F2A7672-D4E9-4964-893E-076944128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86100"/>
            <a:ext cx="47815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После вежби 1–2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3A21D8D2-B3CC-44F2-B36A-5297896C0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152650"/>
            <a:ext cx="5086350" cy="1352550"/>
          </a:xfrm>
          <a:prstGeom xmlns:a="http://schemas.openxmlformats.org/drawingml/2006/main" prst="roundRect">
            <a:avLst>
              <a:gd name="adj" fmla="val 9859"/>
            </a:avLst>
          </a:prstGeom>
          <a:solidFill xmlns:a="http://schemas.openxmlformats.org/drawingml/2006/main">
            <a:srgbClr val="F5F0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1777A5EF-ABAC-42C8-8E60-61101D787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276475"/>
            <a:ext cx="4781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651D4"/>
                </a:solidFill>
                <a:latin typeface="Aptos"/>
                <a:ea typeface="Aptos"/>
                <a:cs typeface="Aptos"/>
              </a:rPr>
              <a:t>P2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AECC4D68-11CE-479B-92EE-ED1673341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24125"/>
            <a:ext cx="4781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Политике, класификација и baseline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4DD4D661-7556-4E55-9B48-D9E6E1B04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086100"/>
            <a:ext cx="47815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После вежбе 3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F0AC9405-F01E-4A45-BE29-D28E8312A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71900"/>
            <a:ext cx="5086350" cy="1352550"/>
          </a:xfrm>
          <a:prstGeom xmlns:a="http://schemas.openxmlformats.org/drawingml/2006/main" prst="roundRect">
            <a:avLst>
              <a:gd name="adj" fmla="val 9859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80F2C5C9-5165-4934-A11D-8C89FB6B2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895725"/>
            <a:ext cx="4781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P3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44D24F1F-76AD-42CB-9725-6B21C19C6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43375"/>
            <a:ext cx="4781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Тестови и стабилно ручно језгро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915552A7-EB3B-47AC-A59C-DA5CF6EB1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05350"/>
            <a:ext cx="47815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После вежбе 4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1B72615D-A254-4F7C-BFDD-3D2A0E12B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771900"/>
            <a:ext cx="5086350" cy="1352550"/>
          </a:xfrm>
          <a:prstGeom xmlns:a="http://schemas.openxmlformats.org/drawingml/2006/main" prst="roundRect">
            <a:avLst>
              <a:gd name="adj" fmla="val 9859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3CD23AA3-BECB-4FA2-8B81-044E7CDDC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895725"/>
            <a:ext cx="4781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P4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11952DC7-218F-4478-88FB-5D5E44818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143375"/>
            <a:ext cx="4781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Оперативна безбедност и завршна одбрана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76D5EA82-60D0-492E-A01D-3B373C4DB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705350"/>
            <a:ext cx="47815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После вежби 5–8</a:t>
            </a:r>
          </a:p>
        </p:txBody>
      </p:sp>
    </p:spTree>
    <p:extLst>
      <p:ext uri="{BB962C8B-B14F-4D97-AF65-F5344CB8AC3E}">
        <p14:creationId xmlns:p14="http://schemas.microsoft.com/office/powerpoint/2010/main" val="748708437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8CB5A04B-895D-4A66-95BA-18ECFE959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E0406898-01FF-4B3B-ADFB-93C97A76E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23257BE-60D8-4B29-AFF7-710C76836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DFFC5A5-ADD2-49E5-88B0-5FBF5EBAB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Елиминациони тест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61BBAEC-6515-40A2-B982-2BA8CE09B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Тест проверава основне појмове и градиво предмета кроз самостално формулисане одговоре.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B7FE4FEB-DDD9-4334-B921-6EF6A8DFB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66950"/>
            <a:ext cx="3143250" cy="2381250"/>
          </a:xfrm>
          <a:prstGeom xmlns:a="http://schemas.openxmlformats.org/drawingml/2006/main" prst="roundRect">
            <a:avLst>
              <a:gd name="adj" fmla="val 5600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51089BDB-F456-4E16-A333-B641EC509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90775"/>
            <a:ext cx="2838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ФОРМАТ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F83EC760-3E46-4E64-97CD-D21627645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38425"/>
            <a:ext cx="2838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20 </a:t>
            </a:r>
            <a:r>
              <a:rPr sz="202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бодова</a:t>
            </a:r>
            <a:endParaRPr sz="2025" b="1">
              <a:solidFill>
                <a:srgbClr val="1A20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DA13ADC3-62C5-4143-B89E-D6C2C1621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81350"/>
            <a:ext cx="2838450" cy="1362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Питања су отвореног типа. Нема понуђених одговора типа a, b, c или d.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AD85CC84-CD46-4399-84D3-CE9D2DE1F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266950"/>
            <a:ext cx="3143250" cy="2381250"/>
          </a:xfrm>
          <a:prstGeom xmlns:a="http://schemas.openxmlformats.org/drawingml/2006/main" prst="roundRect">
            <a:avLst>
              <a:gd name="adj" fmla="val 5600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9DBC00D1-7037-4D37-97DC-345AE6242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390775"/>
            <a:ext cx="2838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ТЕРМИНИ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1E105E8D-155A-48FD-83F9-4A695D1A8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638425"/>
            <a:ext cx="2838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2 редовна + 1 поправни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ABDF5DB5-8C69-4F7A-A7C6-2762D764B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181350"/>
            <a:ext cx="2838450" cy="1362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Термини су пре предрока, пре редовног термина и у летњем семестру.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0171D6D0-B2F7-4E82-929C-DCCD921B1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266950"/>
            <a:ext cx="3143250" cy="2381250"/>
          </a:xfrm>
          <a:prstGeom xmlns:a="http://schemas.openxmlformats.org/drawingml/2006/main" prst="roundRect">
            <a:avLst>
              <a:gd name="adj" fmla="val 5600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A4CE3F08-8A01-4186-AFA3-7AFC5EC60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390775"/>
            <a:ext cx="2838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ПРИПРЕМА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66DC61EA-DC33-4243-9176-CF3A0FBD5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638425"/>
            <a:ext cx="2838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Одговор својим речима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5BCFCD93-F39B-4870-AC3B-89448A359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181350"/>
            <a:ext cx="2838450" cy="1362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Питања се не објављују унапред. Практикум служи за систематично разумевање тема.</a:t>
            </a:r>
          </a:p>
        </p:txBody>
      </p:sp>
    </p:spTree>
    <p:extLst>
      <p:ext uri="{BB962C8B-B14F-4D97-AF65-F5344CB8AC3E}">
        <p14:creationId xmlns:p14="http://schemas.microsoft.com/office/powerpoint/2010/main" val="201916294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C313C145-488D-470A-9FA0-6ABA813D3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D7C03200-282D-433B-A6EE-0E6BB6CA1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B0A8BBF-B806-4CE9-A0C5-3AD8A23C5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7296F00-6766-4003-BE93-BB26A5302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Усмени испит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0C1F899-9D63-45A8-859B-72B5C7A97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Усмени проверава да ли студент уме да повеже концепт са одлуком коју је тим применио на пројекту.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FD2B9FE1-9B16-4F55-A084-5FA6BF91B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00300"/>
            <a:ext cx="1950720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CA66143-2939-4E37-B47F-5F601BC3C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514600"/>
            <a:ext cx="1664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5B82064A-A748-4F25-81C8-FFE8CE416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762250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Концепт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3D671472-B454-4985-886A-BE81DA64C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3143250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јасна дефиниција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9D0F126E-9E85-4277-B8CE-AAF937E02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3220" y="2400300"/>
            <a:ext cx="1950720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DF4B0C94-0050-4A9B-92A7-153EC361F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6095" y="2514600"/>
            <a:ext cx="1664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1A7C24ED-72DE-4CC2-B50D-98EE48AEB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6095" y="2762250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Проблем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D5CA32B2-5E4C-4C0C-AA06-B694BCD4B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6095" y="3143250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ризик у конкретном систему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DCCA3E3B-8E76-4AA0-9EEB-630A301D1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2400300"/>
            <a:ext cx="1950720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B5A5DBA4-CFA5-480F-B2BA-3DF7AEFE5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3515" y="2514600"/>
            <a:ext cx="1664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98AECB10-6DBD-42E5-A670-F20ABF646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3515" y="2762250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Одлука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590D1EDB-49E4-47C8-BE73-95437B4A8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3515" y="3143250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изабрана контрола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F230B8F1-8A94-4A85-AAD7-4C3511259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8060" y="2400300"/>
            <a:ext cx="1950720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5F0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5B525086-A57B-4121-84BA-C2B807619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0935" y="2514600"/>
            <a:ext cx="1664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7651D4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FC884DB2-2C41-4B82-A9A1-4180BC44D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0935" y="2762250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Ограничење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2924130B-DE22-4388-881B-2FCB34C45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0935" y="3143250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8612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шта контрола не покрива</a:t>
            </a:r>
          </a:p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A680E486-DB4E-4CA0-ADDF-489B63495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5480" y="2400300"/>
            <a:ext cx="1950720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284EB707-6C05-4E28-A0F0-B63563ECA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8355" y="2514600"/>
            <a:ext cx="1664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1950CCE6-5571-4D37-BAD3-261B510F4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8355" y="2762250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Доказ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6287D359-65D8-4271-A331-32B93D33B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8355" y="3143250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тест, лог или демонстрација</a:t>
            </a:r>
          </a:p>
        </p:txBody>
      </p:sp>
      <p:cxnSp>
        <p:nvCxnSpPr>
          <p:cNvPr id="237" name="Straight Arrow Connector 115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2636520" y="299085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238" name="Straight Arrow Connector 116"/>
          <p:cNvCxnSpPr>
            <a:stCxn xmlns:a="http://schemas.openxmlformats.org/drawingml/2006/main" id="10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4853940" y="299085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239" name="Straight Arrow Connector 117"/>
          <p:cNvCxnSpPr>
            <a:stCxn xmlns:a="http://schemas.openxmlformats.org/drawingml/2006/main" id="14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7071360" y="299085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240" name="Straight Arrow Connector 118"/>
          <p:cNvCxnSpPr>
            <a:stCxn xmlns:a="http://schemas.openxmlformats.org/drawingml/2006/main" id="18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9288780" y="299085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sp>
        <p:nvSpPr>
          <p:cNvPr id="207" name="">
            <a:extLst xmlns:a="http://schemas.openxmlformats.org/drawingml/2006/main">
              <a:ext uri="{FF2B5EF4-FFF2-40B4-BE49-F238E27FC236}">
                <a16:creationId xmlns:a16="http://schemas.microsoft.com/office/drawing/2014/main" id="{B12D96EE-049E-49DF-A6D1-257537499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1066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8573">
            <a:solidFill>
              <a:srgbClr val="CAD7F2"/>
            </a:solidFill>
            <a:prstDash val="solid"/>
          </a:ln>
        </p:spPr>
      </p:sp>
      <p:sp>
        <p:nvSpPr>
          <p:cNvPr id="208" name="">
            <a:extLst xmlns:a="http://schemas.openxmlformats.org/drawingml/2006/main">
              <a:ext uri="{FF2B5EF4-FFF2-40B4-BE49-F238E27FC236}">
                <a16:creationId xmlns:a16="http://schemas.microsoft.com/office/drawing/2014/main" id="{48C84F1C-34CD-4718-B1B0-E828CE6E4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0075"/>
            <a:ext cx="57150" cy="781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5EF5"/>
          </a:solidFill>
          <a:ln xmlns:a="http://schemas.openxmlformats.org/drawingml/2006/main" w="0">
            <a:noFill/>
          </a:ln>
        </p:spPr>
      </p:sp>
      <p:sp>
        <p:nvSpPr>
          <p:cNvPr id="209" name="">
            <a:extLst xmlns:a="http://schemas.openxmlformats.org/drawingml/2006/main">
              <a:ext uri="{FF2B5EF4-FFF2-40B4-BE49-F238E27FC236}">
                <a16:creationId xmlns:a16="http://schemas.microsoft.com/office/drawing/2014/main" id="{B0F73E9B-52E1-4143-856B-F40B2D6C4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62450"/>
            <a:ext cx="963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УСМЕНИ ИСПИТ</a:t>
            </a:r>
          </a:p>
        </p:txBody>
      </p:sp>
      <p:sp>
        <p:nvSpPr>
          <p:cNvPr id="210" name="">
            <a:extLst xmlns:a="http://schemas.openxmlformats.org/drawingml/2006/main">
              <a:ext uri="{FF2B5EF4-FFF2-40B4-BE49-F238E27FC236}">
                <a16:creationId xmlns:a16="http://schemas.microsoft.com/office/drawing/2014/main" id="{C630FC67-89D8-4DBC-A3DB-E3640B307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591050"/>
            <a:ext cx="9639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ДО 40 БОДОВА</a:t>
            </a:r>
          </a:p>
        </p:txBody>
      </p:sp>
      <p:sp>
        <p:nvSpPr>
          <p:cNvPr id="211" name="">
            <a:extLst xmlns:a="http://schemas.openxmlformats.org/drawingml/2006/main">
              <a:ext uri="{FF2B5EF4-FFF2-40B4-BE49-F238E27FC236}">
                <a16:creationId xmlns:a16="http://schemas.microsoft.com/office/drawing/2014/main" id="{52AF45D0-9F11-4651-B0FE-9BC35A8C4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972050"/>
            <a:ext cx="96393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37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Обавезан је у оба начина полагања.</a:t>
            </a:r>
          </a:p>
        </p:txBody>
      </p:sp>
    </p:spTree>
    <p:extLst>
      <p:ext uri="{BB962C8B-B14F-4D97-AF65-F5344CB8AC3E}">
        <p14:creationId xmlns:p14="http://schemas.microsoft.com/office/powerpoint/2010/main" val="98890159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9F47CA17-03BA-4458-A951-BBC4ED29F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3E95EA87-D53A-48E4-96A6-26B6778C5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7B84356-92EA-4BEC-92E1-9891B55D8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8185B9D-7C9C-411C-9B58-BA46422C9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Канали и материјали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4BEBCC1-7941-442E-9B57-40BC3A508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Термини, измене и организациона обавештења важе тек када се објаве путем званичних канала предмета.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662D1868-0842-4CE5-B8EF-277861AFA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324100"/>
            <a:ext cx="4572000" cy="226695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A990A1C4-8FA7-45FB-A67A-D006A6525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447925"/>
            <a:ext cx="426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МАТЕРИЈАЛИ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8F6E458-72E2-465E-88CF-CCFF19F64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695575"/>
            <a:ext cx="4267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Практикум и презентације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847707EC-2897-42A1-A321-A5FE561A3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86100"/>
            <a:ext cx="4267200" cy="1400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Јединствени материјали за рачунарске вежбе доступни су на ftn-predmeti.vercel.app/#oib.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FD8A6474-039E-4174-9C73-9B60E48A2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24100"/>
            <a:ext cx="4572000" cy="226695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894B7E41-AC3A-4698-BCE3-F7B3E7503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447925"/>
            <a:ext cx="426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ОРГАНИЗАЦИЈА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C7B7AC4E-8353-4FDB-B928-EF4119841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95575"/>
            <a:ext cx="4267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Званична обавештења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D86CC920-2881-4850-A37A-96F65ED43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086100"/>
            <a:ext cx="4267200" cy="1400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Тачан датум одбране, сатница, термини теста и евентуалне измене објављују се званичним каналима.</a:t>
            </a:r>
          </a:p>
        </p:txBody>
      </p:sp>
    </p:spTree>
    <p:extLst>
      <p:ext uri="{BB962C8B-B14F-4D97-AF65-F5344CB8AC3E}">
        <p14:creationId xmlns:p14="http://schemas.microsoft.com/office/powerpoint/2010/main" val="445955504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0B45597D-102E-4E2B-9F95-AB149BF11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6BB0E57F-C93C-4C6D-B2A3-0ED5228CF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B868A1E-164B-42EF-8F5D-7892F7C6C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FDC28DB-9EDB-47BF-A827-DB75EA869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Први кораци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4B7CF33-757F-41FF-9D20-2C947DB1C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Почетак семестра служи да тим постави основу за проверљив и континуиран рад.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744F58EE-00CB-45BE-9207-81518DE80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81250"/>
            <a:ext cx="2447925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CC374ECF-4136-432C-A2AF-5C93C0491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2495550"/>
            <a:ext cx="21621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1AE9571D-2729-4EB5-9F64-440E32324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2743200"/>
            <a:ext cx="2162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Тим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8D399BBB-1629-4FFC-B25D-794FDB2F8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124200"/>
            <a:ext cx="2162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улоге и одговорности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4B47F01-5188-493D-86FB-ED379330B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2381250"/>
            <a:ext cx="2447925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4FB3F5E9-9ECE-42A7-A0B8-0E36BD504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495550"/>
            <a:ext cx="21621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65D2F018-A562-44FD-9BD6-96C64D231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743200"/>
            <a:ext cx="2162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Репозиторијум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BF5C5158-4F3B-4DAA-93DB-CCB3ED878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124200"/>
            <a:ext cx="2162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801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README и договорен Git ток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484C48B3-1627-4BBA-9706-E74CFA730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381250"/>
            <a:ext cx="2447925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5F0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F6412E68-C10B-447A-B652-2D58E88E0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2495550"/>
            <a:ext cx="21621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7651D4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BB4FF101-B64B-4D8E-BB5B-FD5BB99FF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2743200"/>
            <a:ext cx="2162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Пројектна целина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28F7BF2E-9187-46DA-9DF6-007B82B58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3124200"/>
            <a:ext cx="2162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јасна граница рада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D4CD71B7-7EB8-4CD8-8DF1-091D349EE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2381250"/>
            <a:ext cx="2447925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8C6DAB72-98F7-47FF-91D6-1DCF52944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495550"/>
            <a:ext cx="21621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38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23BB7A6B-1E37-4D1D-A28E-1ED312A2F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743200"/>
            <a:ext cx="2162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Први backlog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D17D1D24-5D63-4ED0-B8C7-CFBAFC80C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124200"/>
            <a:ext cx="2162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проверљиви безбедносни захтеви</a:t>
            </a:r>
          </a:p>
        </p:txBody>
      </p:sp>
      <p:cxnSp>
        <p:nvCxnSpPr>
          <p:cNvPr id="193" name="Straight Arrow Connector 96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248025" y="29718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194" name="Straight Arrow Connector 97"/>
          <p:cNvCxnSpPr>
            <a:stCxn xmlns:a="http://schemas.openxmlformats.org/drawingml/2006/main" id="10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5962650" y="29718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195" name="Straight Arrow Connector 98"/>
          <p:cNvCxnSpPr>
            <a:stCxn xmlns:a="http://schemas.openxmlformats.org/drawingml/2006/main" id="14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8677275" y="29718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sp>
        <p:nvSpPr>
          <p:cNvPr id="25" name="Rounded Rectangle 24">
            <a:extLst xmlns:a="http://schemas.openxmlformats.org/drawingml/2006/main">
              <a:ext uri="{FF2B5EF4-FFF2-40B4-BE49-F238E27FC236}">
                <a16:creationId xmlns:a16="http://schemas.microsoft.com/office/drawing/2014/main" id="{77A12BCE-34DF-4664-9FDF-E27CED4DC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257675"/>
            <a:ext cx="8839200" cy="1066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1742E057-52A5-4102-9856-B6CA4AE19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429125"/>
            <a:ext cx="853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Следећа тема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8704698F-6369-49E5-A3FF-E65603841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781550"/>
            <a:ext cx="8534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Идентитет, аутентикација и RBAC: прва серверска одлука о томе ко сме да изврши конкретну радњу.</a:t>
            </a:r>
          </a:p>
        </p:txBody>
      </p:sp>
    </p:spTree>
    <p:extLst>
      <p:ext uri="{BB962C8B-B14F-4D97-AF65-F5344CB8AC3E}">
        <p14:creationId xmlns:p14="http://schemas.microsoft.com/office/powerpoint/2010/main" val="103521695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2026-09-29T09:06:23.9220000Z</dcterms:created>
  <dcterms:modified xsi:type="dcterms:W3CDTF">2026-09-29T09:06:23.9220000Z</dcterms:modified>
</coreProperties>
</file>