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8323773ca9a4016" /><Relationship Type="http://schemas.openxmlformats.org/officeDocument/2006/relationships/extended-properties" Target="/docProps/app.xml" Id="Rbd4dfb9eda154aa9" /><Relationship Type="http://schemas.openxmlformats.org/officeDocument/2006/relationships/officeDocument" Target="/ppt/presentation.xml" Id="Rcf532540add4491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1a735803de4707"/>
  </p:sldMasterIdLst>
  <p:notesMasterIdLst>
    <p:notesMasterId xmlns:r="http://schemas.openxmlformats.org/officeDocument/2006/relationships" r:id="R954520e7789b4961"/>
  </p:notesMasterIdLst>
  <p:sldIdLst>
    <p:sldId xmlns:r="http://schemas.openxmlformats.org/officeDocument/2006/relationships" id="256" r:id="R5999800fc70b4e9c"/>
    <p:sldId xmlns:r="http://schemas.openxmlformats.org/officeDocument/2006/relationships" id="257" r:id="Rfb1d5aa6cc5d4356"/>
    <p:sldId xmlns:r="http://schemas.openxmlformats.org/officeDocument/2006/relationships" id="258" r:id="R8c0ff94ecb424545"/>
    <p:sldId xmlns:r="http://schemas.openxmlformats.org/officeDocument/2006/relationships" id="259" r:id="R4d5f891385f74eff"/>
    <p:sldId xmlns:r="http://schemas.openxmlformats.org/officeDocument/2006/relationships" id="260" r:id="R55c906e2998c463c"/>
    <p:sldId xmlns:r="http://schemas.openxmlformats.org/officeDocument/2006/relationships" id="261" r:id="R6819afaa9eab4999"/>
    <p:sldId xmlns:r="http://schemas.openxmlformats.org/officeDocument/2006/relationships" id="262" r:id="R5befa39c5cc54fd8"/>
    <p:sldId xmlns:r="http://schemas.openxmlformats.org/officeDocument/2006/relationships" id="263" r:id="R11b935bfaa744e52"/>
    <p:sldId xmlns:r="http://schemas.openxmlformats.org/officeDocument/2006/relationships" id="264" r:id="R44fa4484a7904e69"/>
    <p:sldId xmlns:r="http://schemas.openxmlformats.org/officeDocument/2006/relationships" id="265" r:id="Ra0514b2a66924880"/>
    <p:sldId xmlns:r="http://schemas.openxmlformats.org/officeDocument/2006/relationships" id="266" r:id="R22cdcd18c3d546d4"/>
    <p:sldId xmlns:r="http://schemas.openxmlformats.org/officeDocument/2006/relationships" id="267" r:id="R1f5ebdbb242c4501"/>
    <p:sldId xmlns:r="http://schemas.openxmlformats.org/officeDocument/2006/relationships" id="268" r:id="R60bf06f515ff4899"/>
    <p:sldId xmlns:r="http://schemas.openxmlformats.org/officeDocument/2006/relationships" id="269" r:id="R6156036c19b8423a"/>
    <p:sldId xmlns:r="http://schemas.openxmlformats.org/officeDocument/2006/relationships" id="270" r:id="R891684d9beda486d"/>
    <p:sldId xmlns:r="http://schemas.openxmlformats.org/officeDocument/2006/relationships" id="271" r:id="R7ce168f4fba4413e"/>
    <p:sldId xmlns:r="http://schemas.openxmlformats.org/officeDocument/2006/relationships" id="272" r:id="R5c290f0696454110"/>
    <p:sldId xmlns:r="http://schemas.openxmlformats.org/officeDocument/2006/relationships" id="273" r:id="R7f9b2b42b5074411"/>
    <p:sldId xmlns:r="http://schemas.openxmlformats.org/officeDocument/2006/relationships" id="274" r:id="R1f1bbac83b284fb5"/>
    <p:sldId xmlns:r="http://schemas.openxmlformats.org/officeDocument/2006/relationships" id="275" r:id="Rcad944f20218445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37de43085b4dc1" /><Relationship Type="http://schemas.openxmlformats.org/officeDocument/2006/relationships/slideMaster" Target="/ppt/slideMasters/slideMaster1.xml" Id="R641a735803de4707" /><Relationship Type="http://schemas.openxmlformats.org/officeDocument/2006/relationships/notesMaster" Target="/ppt/notesMasters/notesMaster1.xml" Id="R954520e7789b4961" /><Relationship Type="http://schemas.openxmlformats.org/officeDocument/2006/relationships/presProps" Target="/ppt/presProps.xml" Id="R1f2feab3ed4b491f" /><Relationship Type="http://schemas.openxmlformats.org/officeDocument/2006/relationships/viewProps" Target="/ppt/viewProps.xml" Id="R64e5938c09f845e8" /><Relationship Type="http://schemas.openxmlformats.org/officeDocument/2006/relationships/tableStyles" Target="/ppt/tableStyles.xml" Id="Rb14466f30b794dec" /><Relationship Type="http://schemas.openxmlformats.org/officeDocument/2006/relationships/slide" Target="/ppt/slides/slide1.xml" Id="R5999800fc70b4e9c" /><Relationship Type="http://schemas.openxmlformats.org/officeDocument/2006/relationships/slide" Target="/ppt/slides/slide2.xml" Id="Rfb1d5aa6cc5d4356" /><Relationship Type="http://schemas.openxmlformats.org/officeDocument/2006/relationships/slide" Target="/ppt/slides/slide3.xml" Id="R8c0ff94ecb424545" /><Relationship Type="http://schemas.openxmlformats.org/officeDocument/2006/relationships/slide" Target="/ppt/slides/slide4.xml" Id="R4d5f891385f74eff" /><Relationship Type="http://schemas.openxmlformats.org/officeDocument/2006/relationships/slide" Target="/ppt/slides/slide5.xml" Id="R55c906e2998c463c" /><Relationship Type="http://schemas.openxmlformats.org/officeDocument/2006/relationships/slide" Target="/ppt/slides/slide6.xml" Id="R6819afaa9eab4999" /><Relationship Type="http://schemas.openxmlformats.org/officeDocument/2006/relationships/slide" Target="/ppt/slides/slide7.xml" Id="R5befa39c5cc54fd8" /><Relationship Type="http://schemas.openxmlformats.org/officeDocument/2006/relationships/slide" Target="/ppt/slides/slide8.xml" Id="R11b935bfaa744e52" /><Relationship Type="http://schemas.openxmlformats.org/officeDocument/2006/relationships/slide" Target="/ppt/slides/slide9.xml" Id="R44fa4484a7904e69" /><Relationship Type="http://schemas.openxmlformats.org/officeDocument/2006/relationships/slide" Target="/ppt/slides/slide10.xml" Id="Ra0514b2a66924880" /><Relationship Type="http://schemas.openxmlformats.org/officeDocument/2006/relationships/slide" Target="/ppt/slides/slide11.xml" Id="R22cdcd18c3d546d4" /><Relationship Type="http://schemas.openxmlformats.org/officeDocument/2006/relationships/slide" Target="/ppt/slides/slide12.xml" Id="R1f5ebdbb242c4501" /><Relationship Type="http://schemas.openxmlformats.org/officeDocument/2006/relationships/slide" Target="/ppt/slides/slide13.xml" Id="R60bf06f515ff4899" /><Relationship Type="http://schemas.openxmlformats.org/officeDocument/2006/relationships/slide" Target="/ppt/slides/slide14.xml" Id="R6156036c19b8423a" /><Relationship Type="http://schemas.openxmlformats.org/officeDocument/2006/relationships/slide" Target="/ppt/slides/slide15.xml" Id="R891684d9beda486d" /><Relationship Type="http://schemas.openxmlformats.org/officeDocument/2006/relationships/slide" Target="/ppt/slides/slide16.xml" Id="R7ce168f4fba4413e" /><Relationship Type="http://schemas.openxmlformats.org/officeDocument/2006/relationships/slide" Target="/ppt/slides/slide17.xml" Id="R5c290f0696454110" /><Relationship Type="http://schemas.openxmlformats.org/officeDocument/2006/relationships/slide" Target="/ppt/slides/slide18.xml" Id="R7f9b2b42b5074411" /><Relationship Type="http://schemas.openxmlformats.org/officeDocument/2006/relationships/slide" Target="/ppt/slides/slide19.xml" Id="R1f1bbac83b284fb5" /><Relationship Type="http://schemas.openxmlformats.org/officeDocument/2006/relationships/slide" Target="/ppt/slides/slide20.xml" Id="Rcad944f20218445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c5ee6a4a0d4e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da62a37a224130" /><Relationship Type="http://schemas.openxmlformats.org/officeDocument/2006/relationships/notesMaster" Target="/ppt/notesMasters/notesMaster1.xml" Id="R1852821913044f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2fa7cd2bab64590" /><Relationship Type="http://schemas.openxmlformats.org/officeDocument/2006/relationships/notesMaster" Target="/ppt/notesMasters/notesMaster1.xml" Id="R302273838004450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43064842203490e" /><Relationship Type="http://schemas.openxmlformats.org/officeDocument/2006/relationships/notesMaster" Target="/ppt/notesMasters/notesMaster1.xml" Id="R665d5283e41144e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7a68c7a3d374415" /><Relationship Type="http://schemas.openxmlformats.org/officeDocument/2006/relationships/notesMaster" Target="/ppt/notesMasters/notesMaster1.xml" Id="Rd02cb4028687436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7e785bed27845f8" /><Relationship Type="http://schemas.openxmlformats.org/officeDocument/2006/relationships/notesMaster" Target="/ppt/notesMasters/notesMaster1.xml" Id="R756909fc66f742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8938512fb724fa8" /><Relationship Type="http://schemas.openxmlformats.org/officeDocument/2006/relationships/notesMaster" Target="/ppt/notesMasters/notesMaster1.xml" Id="Rcbbd03e527e74b9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9fc535df5b24ad7" /><Relationship Type="http://schemas.openxmlformats.org/officeDocument/2006/relationships/notesMaster" Target="/ppt/notesMasters/notesMaster1.xml" Id="R1e508d3cef4745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af083d722a34d9b" /><Relationship Type="http://schemas.openxmlformats.org/officeDocument/2006/relationships/notesMaster" Target="/ppt/notesMasters/notesMaster1.xml" Id="R73746b70e7a548a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3f6bc9d05c54e45" /><Relationship Type="http://schemas.openxmlformats.org/officeDocument/2006/relationships/notesMaster" Target="/ppt/notesMasters/notesMaster1.xml" Id="R3614c44887a14db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b6e73bc28484cad" /><Relationship Type="http://schemas.openxmlformats.org/officeDocument/2006/relationships/notesMaster" Target="/ppt/notesMasters/notesMaster1.xml" Id="R53b3b6f46454478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fc4e11e01e84325" /><Relationship Type="http://schemas.openxmlformats.org/officeDocument/2006/relationships/notesMaster" Target="/ppt/notesMasters/notesMaster1.xml" Id="R4273c944ce4b49b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828d8d152d14b6a" /><Relationship Type="http://schemas.openxmlformats.org/officeDocument/2006/relationships/notesMaster" Target="/ppt/notesMasters/notesMaster1.xml" Id="Rd287940dc4d64ad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f41991b3ad5485d" /><Relationship Type="http://schemas.openxmlformats.org/officeDocument/2006/relationships/notesMaster" Target="/ppt/notesMasters/notesMaster1.xml" Id="Rfe3abafc6e214df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094323301c04a5c" /><Relationship Type="http://schemas.openxmlformats.org/officeDocument/2006/relationships/notesMaster" Target="/ppt/notesMasters/notesMaster1.xml" Id="Rf3b25737d5074ab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a9c9e73e11f4060" /><Relationship Type="http://schemas.openxmlformats.org/officeDocument/2006/relationships/notesMaster" Target="/ppt/notesMasters/notesMaster1.xml" Id="R2ae4711eaa1a43d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cf3df99137d4fbf" /><Relationship Type="http://schemas.openxmlformats.org/officeDocument/2006/relationships/notesMaster" Target="/ppt/notesMasters/notesMaster1.xml" Id="R7b203cccc39f45c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292a3d086214b08" /><Relationship Type="http://schemas.openxmlformats.org/officeDocument/2006/relationships/notesMaster" Target="/ppt/notesMasters/notesMaster1.xml" Id="R3c4d195884c9468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213f1b29c634fd6" /><Relationship Type="http://schemas.openxmlformats.org/officeDocument/2006/relationships/notesMaster" Target="/ppt/notesMasters/notesMaster1.xml" Id="Rae569293b422406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fb3446611f04717" /><Relationship Type="http://schemas.openxmlformats.org/officeDocument/2006/relationships/notesMaster" Target="/ppt/notesMasters/notesMaster1.xml" Id="R28c46d389c1447d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894a30540bf4a08" /><Relationship Type="http://schemas.openxmlformats.org/officeDocument/2006/relationships/notesMaster" Target="/ppt/notesMasters/notesMaster1.xml" Id="R3e39d4c9f3444fc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Извори: oibThematicExercises.ts;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oibThematicPresentations.ts — тема 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увод теме 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Извори: oibThematicPresentations.ts и oibThematicExercises.ts — ментални модел теме 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шема одлуке о приступу.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oibThematicPresentations.ts — Identitet.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Поређење основних појмова идентитета.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Дизајнерска одлука: улога није дозвола.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Илустративни C# пример заснован на принципима из oibThematicExercises.ts; није преузет као готово пројектно решење.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Илустративни NUnit пример заснован на oibCheckpoints.ts и oibThematicExercises.ts.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Пример: оператор добија нову одговорност.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oibThematicPresentations.ts — типичне грешке теме 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Како знамо да модел приступа ради.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Извори: oibThematicExercises.ts — рад на вежби; oibCheckpoints.ts — P1.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oibThematicPresentations.ts — питање и провера разумевања теме 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Пример и принцип засновани на oibThematicPresentations.ts — Аутентикација.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основни појмови идентитета и сесије.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Дизајнерска одлука: улога није дозвола.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Извори: oibCheckpoints.ts и oibThematicExercises.ts — audit доказ.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рад на вежби и доказ понашања.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d7b061255b4ad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c4fac78a0d4b06" /><Relationship Type="http://schemas.openxmlformats.org/officeDocument/2006/relationships/slideLayout" Target="/ppt/slideLayouts/slideLayout1.xml" Id="R4b451e078f5242c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451e078f5242c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57482d399d488e" /><Relationship Type="http://schemas.openxmlformats.org/officeDocument/2006/relationships/notesSlide" Target="/ppt/notesSlides/notesSlide1.xml" Id="R00f89d9b2bbf4f5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e504a6f8934a0b" /><Relationship Type="http://schemas.openxmlformats.org/officeDocument/2006/relationships/notesSlide" Target="/ppt/notesSlides/notesSlide2.xml" Id="R5b8d9f66537549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ce5f1b4e744724" /><Relationship Type="http://schemas.openxmlformats.org/officeDocument/2006/relationships/notesSlide" Target="/ppt/notesSlides/notesSlide3.xml" Id="R1c968836b76341b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c58780b6d2441d" /><Relationship Type="http://schemas.openxmlformats.org/officeDocument/2006/relationships/notesSlide" Target="/ppt/notesSlides/notesSlide4.xml" Id="R9ecd12018992434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f3d8b32371493e" /><Relationship Type="http://schemas.openxmlformats.org/officeDocument/2006/relationships/notesSlide" Target="/ppt/notesSlides/notesSlide5.xml" Id="R1c2b946beeee4ca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d961710c5340fa" /><Relationship Type="http://schemas.openxmlformats.org/officeDocument/2006/relationships/notesSlide" Target="/ppt/notesSlides/notesSlide6.xml" Id="R5d2a693caae44f6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3b23e6b0a6406a" /><Relationship Type="http://schemas.openxmlformats.org/officeDocument/2006/relationships/notesSlide" Target="/ppt/notesSlides/notesSlide7.xml" Id="Ra113dc163555491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d089a64020400e" /><Relationship Type="http://schemas.openxmlformats.org/officeDocument/2006/relationships/notesSlide" Target="/ppt/notesSlides/notesSlide8.xml" Id="R97bfd1dd30a8432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26cbcba02d48d8" /><Relationship Type="http://schemas.openxmlformats.org/officeDocument/2006/relationships/notesSlide" Target="/ppt/notesSlides/notesSlide9.xml" Id="R5ecb36260e5645a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fd0195a34b471b" /><Relationship Type="http://schemas.openxmlformats.org/officeDocument/2006/relationships/notesSlide" Target="/ppt/notesSlides/notesSlide10.xml" Id="Rbbeedc26a8244cb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d428bab5a34528" /><Relationship Type="http://schemas.openxmlformats.org/officeDocument/2006/relationships/notesSlide" Target="/ppt/notesSlides/notesSlide11.xml" Id="R8a24b9a01a1a47c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a83870a9f14a1b" /><Relationship Type="http://schemas.openxmlformats.org/officeDocument/2006/relationships/notesSlide" Target="/ppt/notesSlides/notesSlide12.xml" Id="R6197a1f3ebc5454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ffbfacc7194b1b" /><Relationship Type="http://schemas.openxmlformats.org/officeDocument/2006/relationships/notesSlide" Target="/ppt/notesSlides/notesSlide13.xml" Id="R06392954f1f64c5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b1c381a1174951" /><Relationship Type="http://schemas.openxmlformats.org/officeDocument/2006/relationships/notesSlide" Target="/ppt/notesSlides/notesSlide14.xml" Id="Rf1229f33539e46b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c676e09d6b468d" /><Relationship Type="http://schemas.openxmlformats.org/officeDocument/2006/relationships/notesSlide" Target="/ppt/notesSlides/notesSlide15.xml" Id="R9a5751c0192f4fb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0443b8bdee4718" /><Relationship Type="http://schemas.openxmlformats.org/officeDocument/2006/relationships/notesSlide" Target="/ppt/notesSlides/notesSlide16.xml" Id="R4f3ad604cfd74f7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37defefb3f4424" /><Relationship Type="http://schemas.openxmlformats.org/officeDocument/2006/relationships/notesSlide" Target="/ppt/notesSlides/notesSlide17.xml" Id="R1afe493210244ac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36e6974cf444e" /><Relationship Type="http://schemas.openxmlformats.org/officeDocument/2006/relationships/notesSlide" Target="/ppt/notesSlides/notesSlide18.xml" Id="R6a9af796dd38450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b39ddd79e349eb" /><Relationship Type="http://schemas.openxmlformats.org/officeDocument/2006/relationships/notesSlide" Target="/ppt/notesSlides/notesSlide19.xml" Id="R51de148707bb4c1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4d8d9a211f44c1" /><Relationship Type="http://schemas.openxmlformats.org/officeDocument/2006/relationships/notesSlide" Target="/ppt/notesSlides/notesSlide20.xml" Id="R065e3ee43b83481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EC83D7A-B781-4E8C-8A71-D18636B0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470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DD6BE141-B6F1-4169-9330-3CBDE281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573">
            <a:solidFill>
              <a:srgbClr val="8D5560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B7BBF941-5F57-4703-8EB5-7417F680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F659EED-A2DF-42CB-BDA3-BADD9399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71650"/>
            <a:ext cx="103632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4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Идентитет, аутентикација и RBAC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D2F2A4-7796-40A4-86C8-8F823DDB6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00450"/>
            <a:ext cx="962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Идентитет, улоге, дозволе и серверска провера приступа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013C61F6-7C60-407C-9658-A6C4C633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573">
            <a:solidFill>
              <a:srgbClr val="8D5560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6292206-2523-4D82-A69E-440891060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0A47266-B40D-4049-8E0A-E16909CA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Академска 2026/27.</a:t>
            </a:r>
          </a:p>
        </p:txBody>
      </p:sp>
    </p:spTree>
    <p:extLst>
      <p:ext uri="{BB962C8B-B14F-4D97-AF65-F5344CB8AC3E}">
        <p14:creationId xmlns:p14="http://schemas.microsoft.com/office/powerpoint/2010/main" val="9812388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6932ADA-A4A7-4446-A598-3AFE0B5F3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61B93572-D235-402D-B2A9-B41E27A0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35711F3-E79F-45A5-A232-6024426E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48F4D0C-0C01-4352-9B65-A4805A750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Идентитет и право приступа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6FDDB44-421D-4BA0-99F9-FA1F896B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Аутентикација потврђује идентитет. Ауторизација одређује да ли субјекат сме да изврши конкретну радњу.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A49CDE9A-1222-48B9-B382-D89781E7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38375"/>
            <a:ext cx="323850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59FCB88-2573-4BBC-9183-BFD90C58E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933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ПОЈМОВИ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6266EF0-C89B-41A2-9B38-EF47B5E38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098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Четири различита појма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E33C3D4-04BD-4E69-B52A-1EF6E7CC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00375"/>
            <a:ext cx="29337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Идентитет, аутентикација, улога и дозвола имају различите одговорности у систему.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B8D10A0-00F1-4101-8B52-F83C0430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38375"/>
            <a:ext cx="323850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5379BFB-46A9-485E-9D66-EF1AECCDC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62200"/>
            <a:ext cx="2933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ОДЛУКА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14630FB-9AAD-4A97-A738-4FB71185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6098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Одлука је на серверу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CD00BA9-57DD-4ABF-AE0D-53A9BEB3D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00375"/>
            <a:ext cx="29337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Интерфејс може сакрити опцију, али не сме бити једина контрола приступа.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936776C-B5C6-437A-B5D8-851CFE2A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38375"/>
            <a:ext cx="323850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9F759A7-2B1A-4BBC-9A89-65CD198E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62200"/>
            <a:ext cx="2933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A67A7E69-E192-4B60-B9A6-8D00573F8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098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Дозвољено и одбијено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A4568AB-CE3E-4AAF-8E5C-39D538AA9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00375"/>
            <a:ext cx="29337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Тест и ревизиони запис показују шта се догодило за исти тип радње у два контекста.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6A1ABF77-E9A6-4A68-8F97-E61AD29B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103632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DE08011A-278F-4EBC-A266-9E7329CC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571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A74397C3-6B5F-4F26-ABA5-E6B9B561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5777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ПИТАЊЕ ЗА ПРОВЕРУ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763337D0-F949-4293-9ED6-2DA5DA118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86375"/>
            <a:ext cx="963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Ко је субјекат, која дозвола је потребна и у ком опсегу она важи?</a:t>
            </a:r>
          </a:p>
        </p:txBody>
      </p:sp>
    </p:spTree>
    <p:extLst>
      <p:ext uri="{BB962C8B-B14F-4D97-AF65-F5344CB8AC3E}">
        <p14:creationId xmlns:p14="http://schemas.microsoft.com/office/powerpoint/2010/main" val="18294996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FC53EABA-027D-4BB0-A2B3-E3373D8A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172164D8-EDF7-4C96-9167-675E7865D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4B0C2EE-FC97-445F-BF96-CD4536D8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AE49004-E7F7-4E3A-8BAF-D1016D32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Раздвајање аутентикације и ауторизације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932159B-509D-492F-97DE-D419B394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Спојене провере стварају претпоставку да аутентификован корисник има право на сваку доступну радњу.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DB7030A-2488-4753-ABC0-559BE57C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00275"/>
            <a:ext cx="4686300" cy="2628900"/>
          </a:xfrm>
          <a:prstGeom xmlns:a="http://schemas.openxmlformats.org/drawingml/2006/main" prst="roundRect">
            <a:avLst>
              <a:gd name="adj" fmla="val 5072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0CBDA5C-4AF3-437B-B6A6-ABA2E80C6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24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НЕБЕЗБЕДНА ПРЕТПОСТАВКА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AD4628A-3D64-4F04-8A4F-CB398AD4F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71750"/>
            <a:ext cx="438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„Пријављен је, дакле сме“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161C0C5-F571-4786-A1B6-1A317B29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57525"/>
            <a:ext cx="4381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Корисник може бити исправно аутентификован, а ипак не сме да одобри промену, чита туђи ресурс или мења конфигурацију.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9B3B9A5-DFD1-49FA-9266-F527E214E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200275"/>
            <a:ext cx="4686300" cy="2628900"/>
          </a:xfrm>
          <a:prstGeom xmlns:a="http://schemas.openxmlformats.org/drawingml/2006/main" prst="roundRect">
            <a:avLst>
              <a:gd name="adj" fmla="val 5072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35B5B53-975F-4C82-A10C-968C73B71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324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ПОТПУНА ОДЛУКА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90A8643-F75A-43CD-9C96-B6860D0A9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571750"/>
            <a:ext cx="438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„Ко, шта, над чим и зашто?“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D5BBCB8-0490-4166-93D7-463DB7800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057525"/>
            <a:ext cx="4381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Сервер проверава активан идентитет, потребну дозволу, опсег и контекст конкретне радње.</a:t>
            </a:r>
          </a:p>
        </p:txBody>
      </p:sp>
      <p:cxnSp>
        <p:nvCxnSpPr>
          <p:cNvPr id="131" name="Straight Arrow Connector 74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505450" y="3514725"/>
            <a:ext cx="11811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44" name="Rounded Rectangle 43">
            <a:extLst xmlns:a="http://schemas.openxmlformats.org/drawingml/2006/main">
              <a:ext uri="{FF2B5EF4-FFF2-40B4-BE49-F238E27FC236}">
                <a16:creationId xmlns:a16="http://schemas.microsoft.com/office/drawing/2014/main" id="{6BC85D41-9B6F-4D02-AD5B-D8AEB02F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48250"/>
            <a:ext cx="103632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45" name="Rounded Rectangle 44">
            <a:extLst xmlns:a="http://schemas.openxmlformats.org/drawingml/2006/main">
              <a:ext uri="{FF2B5EF4-FFF2-40B4-BE49-F238E27FC236}">
                <a16:creationId xmlns:a16="http://schemas.microsoft.com/office/drawing/2014/main" id="{2C201790-CD4D-49E0-9741-3761D0E0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200650"/>
            <a:ext cx="571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D98A53B0-3879-4326-9485-D20E806D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5302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ЗАКЉУЧАК</a:t>
            </a:r>
          </a:p>
        </p:txBody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175B0DB8-97CA-43DC-B55C-E6D80FBB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381625"/>
            <a:ext cx="963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Раздвајање појмова смањује број скривених пречица и омогућава јасан ревизиони траг.</a:t>
            </a:r>
          </a:p>
        </p:txBody>
      </p:sp>
    </p:spTree>
    <p:extLst>
      <p:ext uri="{BB962C8B-B14F-4D97-AF65-F5344CB8AC3E}">
        <p14:creationId xmlns:p14="http://schemas.microsoft.com/office/powerpoint/2010/main" val="7984127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01DE3CF7-77B6-4D87-850D-9B3D63F95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7D792DEA-7DB5-480D-ADD6-C353209B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2A8C8E0-6380-4258-B056-E9B0C8755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6C87F3F-7123-409B-8E86-CF187AEB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Основни појмови контроле приступа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138FD15-FD2A-400B-A8D6-124CD9F76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Идентитет, аутентикација, улога и дозвола имају засебне функције у одлуци о приступу.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CD551C4-EFBF-43CB-9FB9-0D53249E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05050"/>
            <a:ext cx="2571750" cy="2343150"/>
          </a:xfrm>
          <a:prstGeom xmlns:a="http://schemas.openxmlformats.org/drawingml/2006/main" prst="roundRect">
            <a:avLst>
              <a:gd name="adj" fmla="val 5691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DAC18D6-18A9-4F26-BD38-D3CCABDE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28875"/>
            <a:ext cx="2266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290C4BF-1C2C-4EE7-B742-E118ACE65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76525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Идентитет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7D66568-D07B-4FED-86DF-DEEB4DA8C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67050"/>
            <a:ext cx="22669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 је субјекат?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Трајна ознака и статус.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5671D34-CDEB-4761-852D-FC66775A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305050"/>
            <a:ext cx="2571750" cy="2343150"/>
          </a:xfrm>
          <a:prstGeom xmlns:a="http://schemas.openxmlformats.org/drawingml/2006/main" prst="roundRect">
            <a:avLst>
              <a:gd name="adj" fmla="val 5691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ACC0A87-5B7F-48D5-BC2C-7196C7E53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28875"/>
            <a:ext cx="2266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E9F2FCC-3619-4DCD-B3C4-0BA3EFA33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76525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Аутентикација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7FF6934-C4F7-45B0-8641-C5AB462F3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67050"/>
            <a:ext cx="22669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Да ли је тврдња о идентитету уверљива?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C01BE29-24D4-4D0F-8331-3550B74A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05050"/>
            <a:ext cx="2571750" cy="2343150"/>
          </a:xfrm>
          <a:prstGeom xmlns:a="http://schemas.openxmlformats.org/drawingml/2006/main" prst="roundRect">
            <a:avLst>
              <a:gd name="adj" fmla="val 5691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1B92904-141D-4F8B-B00F-33CE0B550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28875"/>
            <a:ext cx="2266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605E3AE9-4956-434D-B9AE-562365A9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76525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Улога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FD4DE05-1293-420B-A95A-DCEF31BC0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67050"/>
            <a:ext cx="22669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Коју пословну одговорност субјекат има?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9D275421-C0C0-41FE-A786-D3E442A7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305050"/>
            <a:ext cx="2571750" cy="2343150"/>
          </a:xfrm>
          <a:prstGeom xmlns:a="http://schemas.openxmlformats.org/drawingml/2006/main" prst="roundRect">
            <a:avLst>
              <a:gd name="adj" fmla="val 5691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9FA2FE40-0C45-4053-8E48-0D601FBD3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28875"/>
            <a:ext cx="2266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107DD0E9-5179-4CAE-BE66-E4FACD71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676525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Дозвола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F22427E4-B0E1-4F08-BABE-F5917AECF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067050"/>
            <a:ext cx="22669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Коју конкретну радњу сме да изврши?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63269C69-7F35-4BFC-B0AA-A4A5906F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103632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59851063-0302-4E15-9280-E568520A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86350"/>
            <a:ext cx="571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AF06627C-15DA-42CA-8F52-A96AFF34C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3872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МОДЕЛ ОДЛУКЕ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E6D67AC8-0F59-48BD-A2EC-AE0500FE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67325"/>
            <a:ext cx="963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Ефективно право = улога + дозвола + опсег + актуелни статус идентитета</a:t>
            </a:r>
          </a:p>
        </p:txBody>
      </p:sp>
    </p:spTree>
    <p:extLst>
      <p:ext uri="{BB962C8B-B14F-4D97-AF65-F5344CB8AC3E}">
        <p14:creationId xmlns:p14="http://schemas.microsoft.com/office/powerpoint/2010/main" val="17610553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B15455E9-1BDD-47B9-9322-5C2B8BF1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AB7B38E5-A947-458F-8666-BED5EEE11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70288F9-4CD6-4939-9211-9922CE398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5A55A4F-9975-4172-B794-4658F765B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Поступак доношења одлуке о приступу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382113-2CD7-4680-A3E1-9EDE5F9E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Сваки корак има дефинисан улаз, исход и разлог одбијања који се може проверити.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6AE15DAC-8477-4AD5-B711-F7EC40CA8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479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FF285FB-2DB3-4463-B8DA-1C58FCB1A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5622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DCB573C-AF9E-4E75-B598-1FEC2FA29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809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Захтев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15614D4-179A-4374-A127-A45EDE794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190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 и шта тражи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2AD2CB4-543A-4F52-B4F4-D0B275423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3220" y="24479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C2E18B2-9597-45DB-BB0D-19BE2800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25622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336F636-ABC0-4D3D-B50C-9E4E0F47E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2809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Идентитет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AE8A8A2-06F8-46BF-830B-4309C16A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3190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потврђен и активан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A6C502A-E47F-48C6-8DE8-F5B571303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4479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22E5BCE-8888-4B05-B154-A3AFC929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25622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9E085A8-9336-497E-91CC-412BA68F3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2809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Дозвола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2BDA4C6-3059-42CB-847C-76E7D06C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3190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улога и опсег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ED89B1E8-CD57-4B1A-8278-A74351C2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060" y="24479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565423D-A59A-45A8-8941-F6289D729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25622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23F0244F-4C76-4992-A117-FD7D4B42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2809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Исход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B2304B24-516E-4BD6-8403-59F61211D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3190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дозволи или одбиј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0920310A-C3AD-492D-AFC6-388D1E9C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24479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50CE08AF-D2AA-4231-B814-AE898E37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25622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6CDA4813-51BA-4B9A-8CCA-713490D9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2809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Audit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DDDED184-D793-44C1-95AD-300BBA0B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3190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actor, action, target</a:t>
            </a:r>
          </a:p>
        </p:txBody>
      </p:sp>
      <p:cxnSp>
        <p:nvCxnSpPr>
          <p:cNvPr id="265" name="Straight Arrow Connector 148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63652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66" name="Straight Arrow Connector 149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85394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67" name="Straight Arrow Connector 150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07136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68" name="Straight Arrow Connector 151"/>
          <p:cNvCxnSpPr>
            <a:stCxn xmlns:a="http://schemas.openxmlformats.org/drawingml/2006/main" id="18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28878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90" name="Rounded Rectangle 89">
            <a:extLst xmlns:a="http://schemas.openxmlformats.org/drawingml/2006/main">
              <a:ext uri="{FF2B5EF4-FFF2-40B4-BE49-F238E27FC236}">
                <a16:creationId xmlns:a16="http://schemas.microsoft.com/office/drawing/2014/main" id="{254C63B0-97DB-489D-AF1F-F2CDFFF41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363200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91" name="Rounded Rectangle 90">
            <a:extLst xmlns:a="http://schemas.openxmlformats.org/drawingml/2006/main">
              <a:ext uri="{FF2B5EF4-FFF2-40B4-BE49-F238E27FC236}">
                <a16:creationId xmlns:a16="http://schemas.microsoft.com/office/drawing/2014/main" id="{80177CEA-C523-44BC-AC73-4ADAC0FA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24350"/>
            <a:ext cx="57150" cy="952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92" name="Rectangle 91">
            <a:extLst xmlns:a="http://schemas.openxmlformats.org/drawingml/2006/main">
              <a:ext uri="{FF2B5EF4-FFF2-40B4-BE49-F238E27FC236}">
                <a16:creationId xmlns:a16="http://schemas.microsoft.com/office/drawing/2014/main" id="{1C475786-F855-497A-BE13-928EFDB7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7672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ЗАКЉУЧАК</a:t>
            </a:r>
          </a:p>
        </p:txBody>
      </p:sp>
      <p:sp>
        <p:nvSpPr>
          <p:cNvPr id="93" name="Rectangle 92">
            <a:extLst xmlns:a="http://schemas.openxmlformats.org/drawingml/2006/main">
              <a:ext uri="{FF2B5EF4-FFF2-40B4-BE49-F238E27FC236}">
                <a16:creationId xmlns:a16="http://schemas.microsoft.com/office/drawing/2014/main" id="{4D78CAB6-059B-4948-BAB8-9B942745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05325"/>
            <a:ext cx="9639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Клијент може да води корисника, али сервер остаје једини ауторитет за одлуку.</a:t>
            </a:r>
          </a:p>
        </p:txBody>
      </p:sp>
      <p:sp>
        <p:nvSpPr>
          <p:cNvPr id="94" name="Rectangle 93">
            <a:extLst xmlns:a="http://schemas.openxmlformats.org/drawingml/2006/main">
              <a:ext uri="{FF2B5EF4-FFF2-40B4-BE49-F238E27FC236}">
                <a16:creationId xmlns:a16="http://schemas.microsoft.com/office/drawing/2014/main" id="{86EFD167-8E39-42EC-A35E-CEECAA01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963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37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Одбијање треба да буде контролисано: довољно јасно клијенту, без откривања заштићених детаља.</a:t>
            </a:r>
          </a:p>
        </p:txBody>
      </p:sp>
    </p:spTree>
    <p:extLst>
      <p:ext uri="{BB962C8B-B14F-4D97-AF65-F5344CB8AC3E}">
        <p14:creationId xmlns:p14="http://schemas.microsoft.com/office/powerpoint/2010/main" val="13846740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FD7D7989-3086-4A22-9679-26411B491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469C9855-2FE1-43F3-8E16-9E8C5F2B0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0B392FD-8A43-49FE-842F-BCBCD766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D03797D-85F7-487F-93D6-03176C1C8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Животни циклус идентитета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7814A2D-1631-449B-ABD5-5A2B5159B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Права приступа мењају се са статусом налога, организационом улогом и важењем додељених привилегија.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6F63614F-182F-4143-9BE5-CECB2485D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717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1D3A88C-BE6F-42D7-9102-BBAB4565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4860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32677C7-AE02-4B0E-8C86-8BE4D4957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7336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Креиран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2D1E1D3-7D52-4C55-8A6C-94353C0A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1146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217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власник и сврха налога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71FA3F6-ADFB-488C-B2C9-4D80B577A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3220" y="23717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C72D253-CBFA-4A9A-868B-E5A2DE3CE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24860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0077480-0BD7-4E28-9088-FD6D0ABE7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27336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Активан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BDD4C67-0145-4B32-A1F5-A141FF98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31146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030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важеће улоге и дозволе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76637A7-5E40-43D5-B080-D76FAAFCA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3717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AE970F0-193E-4D33-8993-A5CAD07BC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24860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CAB2FFF-F925-4663-A7FF-B88DC165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27336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Промењен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6B402BA0-2DA2-4FA1-BEB4-B718021E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31146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нова одговорност или опсег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7CF04FA6-6C84-4C60-A7E4-89286CE6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060" y="23717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5D999C2-F602-478A-B2E1-08CBD1691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24860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168BE9E4-E625-402F-A9CF-8218DCA4E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27336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Суспендован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7CFCB191-C01A-4A35-BEB2-056760603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31146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08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приступ се одмах укида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82EE178D-ED43-4512-8847-EF1ADD28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23717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6FA10D7-A5CC-4389-8ED6-6E9ADB6C2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24860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C9449BAC-9C89-4979-9960-0EB3B1DC8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27336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Угашен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B3FD0941-D808-4AB8-81F8-D2C9EF9D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31146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остаје audit историја</a:t>
            </a:r>
          </a:p>
        </p:txBody>
      </p:sp>
      <p:cxnSp>
        <p:nvCxnSpPr>
          <p:cNvPr id="266" name="Straight Arrow Connector 149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636520" y="29622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67" name="Straight Arrow Connector 150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853940" y="29622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68" name="Straight Arrow Connector 151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071360" y="29622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69" name="Straight Arrow Connector 152"/>
          <p:cNvCxnSpPr>
            <a:stCxn xmlns:a="http://schemas.openxmlformats.org/drawingml/2006/main" id="18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288780" y="29622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91" name="Rounded Rectangle 90">
            <a:extLst xmlns:a="http://schemas.openxmlformats.org/drawingml/2006/main">
              <a:ext uri="{FF2B5EF4-FFF2-40B4-BE49-F238E27FC236}">
                <a16:creationId xmlns:a16="http://schemas.microsoft.com/office/drawing/2014/main" id="{2A72D6B5-5D9A-4F71-9B56-BC8EA56D4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24350"/>
            <a:ext cx="10363200" cy="1104900"/>
          </a:xfrm>
          <a:prstGeom xmlns:a="http://schemas.openxmlformats.org/drawingml/2006/main" prst="roundRect">
            <a:avLst>
              <a:gd name="adj" fmla="val 12069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92" name="Rounded Rectangle 91">
            <a:extLst xmlns:a="http://schemas.openxmlformats.org/drawingml/2006/main">
              <a:ext uri="{FF2B5EF4-FFF2-40B4-BE49-F238E27FC236}">
                <a16:creationId xmlns:a16="http://schemas.microsoft.com/office/drawing/2014/main" id="{5AD897A3-FE3E-4423-9FF0-763E9E7EF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76750"/>
            <a:ext cx="57150" cy="800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93" name="Rectangle 92">
            <a:extLst xmlns:a="http://schemas.openxmlformats.org/drawingml/2006/main">
              <a:ext uri="{FF2B5EF4-FFF2-40B4-BE49-F238E27FC236}">
                <a16:creationId xmlns:a16="http://schemas.microsoft.com/office/drawing/2014/main" id="{A944D09E-000E-40B6-A05E-4E835D323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2912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ДИЗАЈНЕРСКА ПОСЛЕДИЦА</a:t>
            </a:r>
          </a:p>
        </p:txBody>
      </p:sp>
      <p:sp>
        <p:nvSpPr>
          <p:cNvPr id="94" name="Rectangle 93">
            <a:extLst xmlns:a="http://schemas.openxmlformats.org/drawingml/2006/main">
              <a:ext uri="{FF2B5EF4-FFF2-40B4-BE49-F238E27FC236}">
                <a16:creationId xmlns:a16="http://schemas.microsoft.com/office/drawing/2014/main" id="{1CA17FFF-6895-4E02-B63F-574A7449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57725"/>
            <a:ext cx="9639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Дизајнерска последица</a:t>
            </a:r>
          </a:p>
        </p:txBody>
      </p:sp>
      <p:sp>
        <p:nvSpPr>
          <p:cNvPr id="95" name="Rectangle 94">
            <a:extLst xmlns:a="http://schemas.openxmlformats.org/drawingml/2006/main">
              <a:ext uri="{FF2B5EF4-FFF2-40B4-BE49-F238E27FC236}">
                <a16:creationId xmlns:a16="http://schemas.microsoft.com/office/drawing/2014/main" id="{D840A071-6D08-407E-B0E2-3C65D948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963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37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Статус идентитета и промена улоге морају утицати на сваку нову одлуку, без ослањања на застарелу претпоставку клијента.</a:t>
            </a:r>
          </a:p>
        </p:txBody>
      </p:sp>
    </p:spTree>
    <p:extLst>
      <p:ext uri="{BB962C8B-B14F-4D97-AF65-F5344CB8AC3E}">
        <p14:creationId xmlns:p14="http://schemas.microsoft.com/office/powerpoint/2010/main" val="5593917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A8A9FF1D-137B-4E52-96EC-727BAA1E9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5B6682EF-72B9-4A1E-98B7-A473F4E82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FBCD17F-9057-4BA3-A8BB-BDDEA196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32007D6-EC19-453D-B436-28F766134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Аутентикација и ауторизација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5E02D0B-AC6F-4900-BA1E-50E544CE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Аутентикација потврђује идентитет, док ауторизација проверава право на конкретну радњу.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D488257-DCE4-4902-9EBB-9A352A6A4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ПОЈАМ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1A807F6-D30E-4A03-9A71-DD2ACD1F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0383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44A5C7D-3CDF-46E3-A7E8-294099F24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383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ТИПИЧНА ГРЕШКА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F9185169-20C5-4307-9856-74296C969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33625"/>
            <a:ext cx="10515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2EC4DF6-8DD2-4114-A5DB-7FCF24862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479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Идентитет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C431DB5-345E-407D-A304-61E32AB2C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447925"/>
            <a:ext cx="3219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 је субјекат?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D0C7631-432E-4CF8-9C0F-89BEE23BA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4792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Особа и технички налог се третирају исто.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15021ABE-4D51-4941-8A1F-37C04F240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14675"/>
            <a:ext cx="10515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F871A4B-77CC-481F-9A58-36BB7DB6B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2897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Аутентикација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DE99BA3-787D-4F2C-BED9-4C73A201E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228975"/>
            <a:ext cx="3219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Да ли је идентитет потврђен?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69061B42-F00D-4F8F-ADD8-3314BACF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2897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Успешна пријава се тумачи као широко овлашћење.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59A50DA-1E0C-413E-833F-5FBE25B6F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95725"/>
            <a:ext cx="10515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601FB728-48F9-4B13-B6A8-D5C9914F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100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Ауторизација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DE3C03F-27BB-4B5B-83B1-C360331B2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010025"/>
            <a:ext cx="3219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Да ли је радња дозвољена?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6045A866-9C38-454D-916A-FDB35089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1002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Провера постоји само у корисничком интерфејсу.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15FD743-BD2D-49E8-BD24-24DA18AC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76775"/>
            <a:ext cx="10515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DAB0B8FC-14AB-459D-95F4-18C922447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9107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Сесија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FC3FADF-D4A1-45FF-9D7E-F018D58E4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791075"/>
            <a:ext cx="3219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У ком привременом контексту право важи?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8CE71201-9B86-4F8E-A783-D4A1B9F53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9107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Token се третира као трајно право.</a:t>
            </a:r>
          </a:p>
        </p:txBody>
      </p:sp>
    </p:spTree>
    <p:extLst>
      <p:ext uri="{BB962C8B-B14F-4D97-AF65-F5344CB8AC3E}">
        <p14:creationId xmlns:p14="http://schemas.microsoft.com/office/powerpoint/2010/main" val="71378987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026E13D7-58FD-41C9-A563-3477E1106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26B69FE5-CEFE-4EAE-9611-CED091981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5898848-ADCD-4686-8AC3-58920D0C3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E6942A-2DE1-4B1F-9B94-50AF2F44D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RBAC и пословна одговорност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45D9964-183C-443A-9D38-D9D3A167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Улога групише ограничен скуп дозвола које одговарају одређеној пословној одговорности.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F00B13A3-1A24-49BD-A909-D02188CC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47900"/>
            <a:ext cx="285750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589B16D-B175-4346-B825-1D572593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71725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СУБЈЕКАТ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DB29AF0-9C7F-4FFA-BE06-7958D282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1937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Оператер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8B95583-9F9E-48C9-AFD7-81611CAA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25527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Активан идентитет коме је додељена одговорност у одређеном домену.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5E7DACB-2E15-4E4F-B046-34E22481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47900"/>
            <a:ext cx="285750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BACA10B-2AF9-4872-A230-C5CB07266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371725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УЛОГА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4E9129A-C627-43FB-843B-B7CF9CB3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61937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Оператер извештаја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1AE4985-5AAA-4DDE-9D55-C11A11EA5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009900"/>
            <a:ext cx="25527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Група малих дозвола које имају заједничко пословно значење.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FB5269A-F7D4-4718-A349-F03401F37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47900"/>
            <a:ext cx="285750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4B28A61-CDEF-4D43-BA7E-E9408C9C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71725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ДОЗВОЛЕ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7C0A40A-24A9-4022-BB0C-005CCB925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1937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Преглед, Извоз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23073E5-415B-4F51-BBCC-673F14CA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009900"/>
            <a:ext cx="25527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Конкретне радње, проверене серверски и ограничене опсегом.</a:t>
            </a:r>
          </a:p>
        </p:txBody>
      </p:sp>
      <p:cxnSp>
        <p:nvCxnSpPr>
          <p:cNvPr id="175" name="Straight Arrow Connector 98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657600" y="3438525"/>
            <a:ext cx="100965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76" name="Straight Arrow Connector 99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524750" y="3438525"/>
            <a:ext cx="100965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59" name="Rounded Rectangle 58">
            <a:extLst xmlns:a="http://schemas.openxmlformats.org/drawingml/2006/main">
              <a:ext uri="{FF2B5EF4-FFF2-40B4-BE49-F238E27FC236}">
                <a16:creationId xmlns:a16="http://schemas.microsoft.com/office/drawing/2014/main" id="{BFF77877-FC31-4219-A9E1-0E10BA18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10363200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60" name="Rounded Rectangle 59">
            <a:extLst xmlns:a="http://schemas.openxmlformats.org/drawingml/2006/main">
              <a:ext uri="{FF2B5EF4-FFF2-40B4-BE49-F238E27FC236}">
                <a16:creationId xmlns:a16="http://schemas.microsoft.com/office/drawing/2014/main" id="{CD364EE2-F8F4-4FEE-83DE-558F6F617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8635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61" name="Rectangle 60">
            <a:extLst xmlns:a="http://schemas.openxmlformats.org/drawingml/2006/main">
              <a:ext uri="{FF2B5EF4-FFF2-40B4-BE49-F238E27FC236}">
                <a16:creationId xmlns:a16="http://schemas.microsoft.com/office/drawing/2014/main" id="{F305E315-1AB4-4A1B-8F86-8D8614F5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3872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ПРИНЦИП</a:t>
            </a:r>
          </a:p>
        </p:txBody>
      </p:sp>
      <p:sp>
        <p:nvSpPr>
          <p:cNvPr id="62" name="Rectangle 61">
            <a:extLst xmlns:a="http://schemas.openxmlformats.org/drawingml/2006/main">
              <a:ext uri="{FF2B5EF4-FFF2-40B4-BE49-F238E27FC236}">
                <a16:creationId xmlns:a16="http://schemas.microsoft.com/office/drawing/2014/main" id="{09A83D24-6614-49AC-A77E-6357D341C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67325"/>
            <a:ext cx="9639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Најмања привилегија: додели само право које је потребно, за опсег у коме је потребно и док потреба траје.</a:t>
            </a:r>
          </a:p>
        </p:txBody>
      </p:sp>
    </p:spTree>
    <p:extLst>
      <p:ext uri="{BB962C8B-B14F-4D97-AF65-F5344CB8AC3E}">
        <p14:creationId xmlns:p14="http://schemas.microsoft.com/office/powerpoint/2010/main" val="103632829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4D58DDC6-97CB-46D4-A7C0-61F20BAB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C415290F-9571-498F-A35C-1B6C4802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EEE60D7-D254-4865-A1AB-C6C7786DB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285357-9B1C-4A47-84CE-E8EEF72E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Серверска провера приступа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CDD2891-0133-45A0-A61A-E2783BE5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Сервер проверава дозволу и контекст захтева независно од стања корисничког интерфејса.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25194924-79D2-41CD-B1E4-A3718CB6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5715000" cy="2346694"/>
          </a:xfrm>
          <a:prstGeom xmlns:a="http://schemas.openxmlformats.org/drawingml/2006/main" prst="roundRect">
            <a:avLst>
              <a:gd name="adj" fmla="val 4059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ajor"/>
        </p:style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47EAC3A0-5861-4DC3-8020-CC9C99DF5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38400"/>
            <a:ext cx="57150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F2968048-8275-4DE6-9E10-631517C8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1955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A60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313F8929-4F6D-4595-A8E3-D65A71D5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3613" y="21955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D42"/>
          </a:solidFill>
          <a:ln xmlns:a="http://schemas.openxmlformats.org/drawingml/2006/main" w="0">
            <a:noFill/>
          </a:ln>
        </p:spPr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0E2EC048-5FD2-40B2-B83E-F8EB1A57E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1955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C46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673AC6B-F9F4-411E-816E-415F0265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90800"/>
            <a:ext cx="304800" cy="29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9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86B77BE-6699-4A1A-9DA2-51FE33EBC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90800"/>
            <a:ext cx="4972050" cy="29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7651D4"/>
                </a:solidFill>
              </a:rPr>
              <a:t>[Authorize]</a:t>
            </a:r>
          </a:p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7651D4"/>
                </a:solidFill>
              </a:rPr>
              <a:t>[HttpPost(</a:t>
            </a:r>
            <a:r>
              <a:rPr b="0">
                <a:solidFill>
                  <a:srgbClr val="B45309"/>
                </a:solidFill>
              </a:rPr>
              <a:t>"reports/{id}/approve"</a:t>
            </a:r>
            <a:r>
              <a:rPr b="0">
                <a:solidFill>
                  <a:srgbClr val="7651D4"/>
                </a:solidFill>
              </a:rPr>
              <a:t>)]</a:t>
            </a:r>
          </a:p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public </a:t>
            </a:r>
            <a:r>
              <a:rPr b="0">
                <a:solidFill>
                  <a:srgbClr val="7651D4"/>
                </a:solidFill>
              </a:rPr>
              <a:t>IActionResult </a:t>
            </a:r>
            <a:r>
              <a:rPr b="1">
                <a:solidFill>
                  <a:srgbClr val="0067C5"/>
                </a:solidFill>
              </a:rPr>
              <a:t>Approve</a:t>
            </a:r>
            <a:r>
              <a:rPr b="0">
                <a:solidFill>
                  <a:srgbClr val="263044"/>
                </a:solidFill>
              </a:rPr>
              <a:t>(Guid id)</a:t>
            </a:r>
          </a:p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    if </a:t>
            </a:r>
            <a:r>
              <a:rPr b="0">
                <a:solidFill>
                  <a:srgbClr val="263044"/>
                </a:solidFill>
              </a:rPr>
              <a:t>(!access.Can(User, </a:t>
            </a:r>
            <a:r>
              <a:rPr b="0">
                <a:solidFill>
                  <a:srgbClr val="B45309"/>
                </a:solidFill>
              </a:rPr>
              <a:t>"report.approve"</a:t>
            </a:r>
            <a:r>
              <a:rPr b="0">
                <a:solidFill>
                  <a:srgbClr val="263044"/>
                </a:solidFill>
              </a:rPr>
              <a:t>, id))</a:t>
            </a:r>
          </a:p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        return </a:t>
            </a:r>
            <a:r>
              <a:rPr b="0">
                <a:solidFill>
                  <a:srgbClr val="7651D4"/>
                </a:solidFill>
              </a:rPr>
              <a:t>Forbid</a:t>
            </a:r>
            <a:r>
              <a:rPr b="0">
                <a:solidFill>
                  <a:srgbClr val="263044"/>
                </a:solidFill>
              </a:rPr>
              <a:t>();</a:t>
            </a:r>
          </a:p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endParaRPr b="0">
              <a:solidFill>
                <a:srgbClr val="263044"/>
              </a:solidFill>
            </a:endParaRPr>
          </a:p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reports.</a:t>
            </a:r>
            <a:r>
              <a:rPr b="1">
                <a:solidFill>
                  <a:srgbClr val="0067C5"/>
                </a:solidFill>
              </a:rPr>
              <a:t>Approve</a:t>
            </a:r>
            <a:r>
              <a:rPr b="0">
                <a:solidFill>
                  <a:srgbClr val="263044"/>
                </a:solidFill>
              </a:rPr>
              <a:t>(id);</a:t>
            </a:r>
          </a:p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    return </a:t>
            </a:r>
            <a:r>
              <a:rPr b="0">
                <a:solidFill>
                  <a:srgbClr val="7651D4"/>
                </a:solidFill>
              </a:rPr>
              <a:t>NoContent</a:t>
            </a:r>
            <a:r>
              <a:rPr b="0">
                <a:solidFill>
                  <a:srgbClr val="263044"/>
                </a:solidFill>
              </a:rPr>
              <a:t>();</a:t>
            </a:r>
          </a:p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B011E32-DDBB-4A1C-807A-1BD07917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1907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ТУМАЧЕЊЕ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BA3BA8E-ECC6-4818-9C87-EB748F764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86050"/>
            <a:ext cx="4381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279400" indent="-152400">
              <a:lnSpc>
                <a:spcPct val="112000"/>
              </a:lnSpc>
              <a:buNone/>
              <a:defRPr sz="1425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Пријава даје идентитет, не право на approve.</a:t>
            </a:r>
          </a:p>
          <a:p xmlns:a="http://schemas.openxmlformats.org/drawingml/2006/main">
            <a:pPr marL="279400" indent="-152400">
              <a:lnSpc>
                <a:spcPct val="112000"/>
              </a:lnSpc>
              <a:buNone/>
              <a:defRPr sz="1425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Дозвола је именована као конкретна радња.</a:t>
            </a:r>
          </a:p>
          <a:p xmlns:a="http://schemas.openxmlformats.org/drawingml/2006/main">
            <a:pPr marL="279400" indent="-152400">
              <a:lnSpc>
                <a:spcPct val="112000"/>
              </a:lnSpc>
              <a:buNone/>
              <a:defRPr sz="1425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Провера укључује и конкретан ресурс.</a:t>
            </a:r>
          </a:p>
          <a:p xmlns:a="http://schemas.openxmlformats.org/drawingml/2006/main">
            <a:pPr marL="279400" indent="-152400">
              <a:lnSpc>
                <a:spcPct val="112000"/>
              </a:lnSpc>
              <a:buNone/>
              <a:defRPr sz="1425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Одбијање се дешава пре пословне промене.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7AC26AD0-C46F-46DE-A444-54593467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953000"/>
            <a:ext cx="4381500" cy="762000"/>
          </a:xfrm>
          <a:prstGeom xmlns:a="http://schemas.openxmlformats.org/drawingml/2006/main" prst="roundRect">
            <a:avLst>
              <a:gd name="adj" fmla="val 1750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6E0C42A-9D83-4F93-A2C1-1862C64EF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124450"/>
            <a:ext cx="407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UI је помоћ, не контрола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FA1E531-5AF5-4510-96B2-3F6CD5558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457825"/>
            <a:ext cx="4076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7399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Исти захтев мора бити безбедан и када се API позове директно.</a:t>
            </a:r>
          </a:p>
        </p:txBody>
      </p:sp>
    </p:spTree>
    <p:extLst>
      <p:ext uri="{BB962C8B-B14F-4D97-AF65-F5344CB8AC3E}">
        <p14:creationId xmlns:p14="http://schemas.microsoft.com/office/powerpoint/2010/main" val="22954270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EC904903-2F01-4A7E-B0A3-2A58D3C65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B88A07A0-08BA-4CA7-8664-BBF5A9CA7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5D3B50D-8656-4940-AB9D-9554D4F6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9C2D69-B8CF-4839-BEB3-DE4F4607B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Негативни тестови ауторизације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52CA0E9-8D8C-4BC2-860C-675711BD8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Тестови одбијања дефинишу границе дозволе и показују да сервер доследно спроводи правило.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2EE5BA3-FEDC-4202-97B6-69B17E7DF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5905500" cy="2352675"/>
          </a:xfrm>
          <a:prstGeom xmlns:a="http://schemas.openxmlformats.org/drawingml/2006/main" prst="roundRect">
            <a:avLst>
              <a:gd name="adj" fmla="val 4049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ajor"/>
        </p:style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38FA38DD-4206-470E-A674-D1AD176C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38400"/>
            <a:ext cx="59055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60961886-438E-450B-9B90-1A4D17F9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955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A60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2BBA4B40-C062-43BA-9F3E-5A27FA0A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21955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D42"/>
          </a:solidFill>
          <a:ln xmlns:a="http://schemas.openxmlformats.org/drawingml/2006/main" w="0">
            <a:noFill/>
          </a:ln>
        </p:spPr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F6404B61-DA09-48E5-B196-B815CCF3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1955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C46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6FF28B9-8C9C-45BA-B492-BAC9F309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90800"/>
            <a:ext cx="304800" cy="29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9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781A26F-AA84-48EF-AAF6-23E9DF660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90800"/>
            <a:ext cx="5162550" cy="29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7651D4"/>
                </a:solidFill>
              </a:rPr>
              <a:t>[Test]</a:t>
            </a:r>
          </a:p>
          <a:p xmlns:a="http://schemas.openxmlformats.org/drawingml/2006/main"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public void </a:t>
            </a:r>
            <a:r>
              <a:rPr b="0">
                <a:solidFill>
                  <a:srgbClr val="7651D4"/>
                </a:solidFill>
              </a:rPr>
              <a:t>Viewer_cannot_approve_report</a:t>
            </a:r>
            <a:r>
              <a:rPr b="0">
                <a:solidFill>
                  <a:srgbClr val="263044"/>
                </a:solidFill>
              </a:rPr>
              <a:t>()</a:t>
            </a:r>
          </a:p>
          <a:p xmlns:a="http://schemas.openxmlformats.org/drawingml/2006/main"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 xmlns:a="http://schemas.openxmlformats.org/drawingml/2006/main"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    var </a:t>
            </a:r>
            <a:r>
              <a:rPr b="0">
                <a:solidFill>
                  <a:srgbClr val="263044"/>
                </a:solidFill>
              </a:rPr>
              <a:t>user = User.WithRole(</a:t>
            </a:r>
            <a:r>
              <a:rPr b="0">
                <a:solidFill>
                  <a:srgbClr val="B45309"/>
                </a:solidFill>
              </a:rPr>
              <a:t>"Viewer"</a:t>
            </a:r>
            <a:r>
              <a:rPr b="0">
                <a:solidFill>
                  <a:srgbClr val="263044"/>
                </a:solidFill>
              </a:rPr>
              <a:t>);</a:t>
            </a:r>
          </a:p>
          <a:p xmlns:a="http://schemas.openxmlformats.org/drawingml/2006/main"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endParaRPr b="0">
              <a:solidFill>
                <a:srgbClr val="263044"/>
              </a:solidFill>
            </a:endParaRPr>
          </a:p>
          <a:p xmlns:a="http://schemas.openxmlformats.org/drawingml/2006/main"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    var </a:t>
            </a:r>
            <a:r>
              <a:rPr b="0">
                <a:solidFill>
                  <a:srgbClr val="263044"/>
                </a:solidFill>
              </a:rPr>
              <a:t>result = api.Approve(report.Id, user);</a:t>
            </a:r>
          </a:p>
          <a:p xmlns:a="http://schemas.openxmlformats.org/drawingml/2006/main"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endParaRPr b="0">
              <a:solidFill>
                <a:srgbClr val="263044"/>
              </a:solidFill>
            </a:endParaRPr>
          </a:p>
          <a:p xmlns:a="http://schemas.openxmlformats.org/drawingml/2006/main"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    Assert.That</a:t>
            </a:r>
            <a:r>
              <a:rPr b="0">
                <a:solidFill>
                  <a:srgbClr val="263044"/>
                </a:solidFill>
              </a:rPr>
              <a:t>(result.StatusCode, Is.EqualTo(</a:t>
            </a:r>
            <a:r>
              <a:rPr b="1">
                <a:solidFill>
                  <a:srgbClr val="138A5B"/>
                </a:solidFill>
              </a:rPr>
              <a:t>403</a:t>
            </a:r>
            <a:r>
              <a:rPr b="0">
                <a:solidFill>
                  <a:srgbClr val="263044"/>
                </a:solidFill>
              </a:rPr>
              <a:t>));</a:t>
            </a:r>
          </a:p>
          <a:p xmlns:a="http://schemas.openxmlformats.org/drawingml/2006/main"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    audit.AssertDenied</a:t>
            </a:r>
            <a:r>
              <a:rPr b="0">
                <a:solidFill>
                  <a:srgbClr val="263044"/>
                </a:solidFill>
              </a:rPr>
              <a:t>(user.Id, </a:t>
            </a:r>
            <a:r>
              <a:rPr b="0">
                <a:solidFill>
                  <a:srgbClr val="B45309"/>
                </a:solidFill>
              </a:rPr>
              <a:t>"report.approve"</a:t>
            </a:r>
            <a:r>
              <a:rPr b="0">
                <a:solidFill>
                  <a:srgbClr val="263044"/>
                </a:solidFill>
              </a:rPr>
              <a:t>, report.Id);</a:t>
            </a:r>
          </a:p>
          <a:p xmlns:a="http://schemas.openxmlformats.org/drawingml/2006/main"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241F6CA-2F30-4829-A5DB-AB54CE317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2098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Доказ има два слоја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D57BEAE-7AEC-40EF-96E0-C243DAB06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24150"/>
            <a:ext cx="409575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184E8D0-E856-4480-B585-A84EA3CC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847975"/>
            <a:ext cx="3790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КРИТЕРИЈУМ ПРОВЕРЕ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AD5A851-8BF7-4B9B-8067-6C1B695B8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95625"/>
            <a:ext cx="3790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403, радња је одбијена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BAFCCD5C-1C69-48F3-8A75-9350F0208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486150"/>
            <a:ext cx="3790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Стање ресурса остаје непромењено.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4A29A3D-4D86-45EB-A20A-E61F0EC9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095750"/>
            <a:ext cx="409575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B74C6943-8BC5-4678-A5C6-2303EB7F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219575"/>
            <a:ext cx="3790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ТРАГ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67773E9E-BB96-41E5-862E-5399164C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67225"/>
            <a:ext cx="3790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Audit бележи покушај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F93D74E1-F8FB-461E-8AD1-BE32363C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857750"/>
            <a:ext cx="3790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21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Actor, action, target и исход могу се касније објаснити.</a:t>
            </a:r>
          </a:p>
        </p:txBody>
      </p:sp>
    </p:spTree>
    <p:extLst>
      <p:ext uri="{BB962C8B-B14F-4D97-AF65-F5344CB8AC3E}">
        <p14:creationId xmlns:p14="http://schemas.microsoft.com/office/powerpoint/2010/main" val="20267841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8BAD3822-FC89-4F5C-871C-ACCE53A2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F2FB2AE4-CAF8-428F-AA84-95456C0B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3E5E28B-5AB6-4FBC-AB4D-B09330C53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3BB8181-3B84-4118-8B6D-FE228A11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Привремено проширење одговорности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4C436A3-E8C2-45B3-BD4F-F41752D68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Широка администраторска улога додељује више права него што конкретан задатак захтева.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8D0B7A28-EE94-4C25-8A19-0DA2E9E1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3333750" cy="1352550"/>
          </a:xfrm>
          <a:prstGeom xmlns:a="http://schemas.openxmlformats.org/drawingml/2006/main" prst="roundRect">
            <a:avLst>
              <a:gd name="adj" fmla="val 4828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BE2376A-4032-43A7-99CE-D768FA6A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24100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ПОТРЕБА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92B8C03-B65C-4A0D-A6EA-98AD317B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911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Одобравање једне врсте промене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6560405-4AB7-4055-8C62-F44982F0F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62275"/>
            <a:ext cx="3028950" cy="1895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Најпре се дефинише конкретна радња и њен ограничени опсег.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4484BB0-9FA5-44AE-800D-BE8CBDF01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00275"/>
            <a:ext cx="3333750" cy="1352550"/>
          </a:xfrm>
          <a:prstGeom xmlns:a="http://schemas.openxmlformats.org/drawingml/2006/main" prst="roundRect">
            <a:avLst>
              <a:gd name="adj" fmla="val 4828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7BBF4D0-37AB-4819-A903-7FCFE571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324100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ОПСЕГ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CB90141-B361-4191-A060-9FE9C6B2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571750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7853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Само један домен и ограничено време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73CD3A7-A4A4-491A-A815-7E8A6115D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962275"/>
            <a:ext cx="3028950" cy="1895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Право важи у дефинисаном домену и престаје истеком пословне потребе.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699DD44-23A7-47D7-A825-708E933FA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200275"/>
            <a:ext cx="3333750" cy="1352550"/>
          </a:xfrm>
          <a:prstGeom xmlns:a="http://schemas.openxmlformats.org/drawingml/2006/main" prst="roundRect">
            <a:avLst>
              <a:gd name="adj" fmla="val 4828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6E280B0-B79F-4823-86EB-7EAEF2E9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24100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РЕВИЗИЈА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FFA15AC-059D-4FC4-93D8-F960CFC7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571750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Истек и ревизиони траг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B09AA2D-17F8-41F1-B8A4-BBE27897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62275"/>
            <a:ext cx="3028950" cy="1895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Може се утврдити ко је доделио право, зашто и када је престало.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FDE39F36-760D-471C-825A-457A912DA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3862"/>
            <a:ext cx="105918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8D9E4674-B1D0-4298-912A-DE3A4071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49" y="4386262"/>
            <a:ext cx="58411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AFBFD4DF-EC3B-470A-9F05-272A1E2D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38637"/>
            <a:ext cx="9851932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ЗАКЉУЧАК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853FA7E-59DD-4CD3-9ACD-84EA87DEB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67237"/>
            <a:ext cx="9851932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Модел RBAC додељује најмању радњу оправдану пословном одговорношћу, у ограниченом опсегу и трајању.</a:t>
            </a:r>
          </a:p>
        </p:txBody>
      </p:sp>
    </p:spTree>
    <p:extLst>
      <p:ext uri="{BB962C8B-B14F-4D97-AF65-F5344CB8AC3E}">
        <p14:creationId xmlns:p14="http://schemas.microsoft.com/office/powerpoint/2010/main" val="80378104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565ECC3-11B2-4937-A0E7-FE2C6A5A6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D5A7E1F0-3812-489F-8859-043AB772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A427B0E-9229-4DF5-B4C3-856BDE8AF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478AE71-68C4-4362-8DDE-B1F70E706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Честе грешке у моделу приступа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C7B71CE-B1A5-45FD-B02D-5CBF6C77E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Нејасно раздвајање улога, дозвола и контекста доводи до прекомерних привилегија.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9571F37-FEDF-47F0-83B8-34611230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38375"/>
            <a:ext cx="3352800" cy="1619250"/>
          </a:xfrm>
          <a:prstGeom xmlns:a="http://schemas.openxmlformats.org/drawingml/2006/main" prst="roundRect">
            <a:avLst>
              <a:gd name="adj" fmla="val 5036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A190A21-9759-49AF-970D-FA080E083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622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D3F7B50-F4FF-45B7-B08B-56F634514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098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Пријава = овлашћење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81289CF-8E39-4A43-A906-7FC6BB39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00375"/>
            <a:ext cx="3048000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Систем не проверава посебно радњу и ресурс јер је корисник већ пријављен.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9760FC9-0129-468A-8967-55AAA6969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238375"/>
            <a:ext cx="3352800" cy="1619250"/>
          </a:xfrm>
          <a:prstGeom xmlns:a="http://schemas.openxmlformats.org/drawingml/2006/main" prst="roundRect">
            <a:avLst>
              <a:gd name="adj" fmla="val 5036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2FA6D3E-9B71-4644-80DA-750C9377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622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96AA1C2-3D6E-45EF-8BCE-BE31382CF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098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Преширока улога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9AA9F34-26BB-496B-83BC-00093D00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00375"/>
            <a:ext cx="3048000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Нова потреба се решава додавањем администратора уместо мале дозволе и опсега.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04F30AE-210D-4B35-82D5-A510F4A3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238375"/>
            <a:ext cx="3352800" cy="1619250"/>
          </a:xfrm>
          <a:prstGeom xmlns:a="http://schemas.openxmlformats.org/drawingml/2006/main" prst="roundRect">
            <a:avLst>
              <a:gd name="adj" fmla="val 5036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3F8868F-1057-4739-8576-365AB04B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622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8FB4CFC6-9548-4836-91C6-62789410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098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Сакривено дугме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629F2F25-1DBB-499F-9C11-1D33B73F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00375"/>
            <a:ext cx="3048000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Клијент не приказује радњу, али сервер прихвата директан API позив.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11966C8-5A10-440A-BFD4-851708C7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86262"/>
            <a:ext cx="106299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EA1A7DC-B455-4B5F-974F-48D29DB9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99" y="4538662"/>
            <a:ext cx="58621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595B01DA-ACC4-4B35-B489-76F0A37C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91037"/>
            <a:ext cx="98873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КОНТРАМЕРА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5FEF982-932B-4268-994A-4E12D4E1F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19637"/>
            <a:ext cx="988737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Заједничка контрамера обухвата експлицитну серверску одлуку, тест одбијања и ревизиони исход.</a:t>
            </a:r>
          </a:p>
        </p:txBody>
      </p:sp>
    </p:spTree>
    <p:extLst>
      <p:ext uri="{BB962C8B-B14F-4D97-AF65-F5344CB8AC3E}">
        <p14:creationId xmlns:p14="http://schemas.microsoft.com/office/powerpoint/2010/main" val="73287525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3105F630-3D9D-426E-B00C-D00E9DB2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22D05D9A-D732-45C2-8548-09CB9EF0F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AFDF286-AD01-4A9D-B220-0495FBAE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299020-70BE-4C54-B426-41DF98DA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Критеријуми исправног модела приступа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9944D46-C5DC-4E0F-9816-EBAF7DBC3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Модел обухвата позитивне и негативне сценарије, разлог одлуке и ревизиони запис.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746225F-0D14-43AE-89A3-4F2353A49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90775"/>
            <a:ext cx="243840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FE59558-F13E-4F7E-9417-F938A144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505075"/>
            <a:ext cx="2152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244C2A1-D8F1-4E21-A6FB-EC208573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7527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Allow тест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F72D0FB-ACD9-4E89-BF06-8F5F07E2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1337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исправна улога и опсег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388EC79-6AF2-468D-A251-87076A014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90775"/>
            <a:ext cx="243840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186430D-2E2E-4359-A109-6FE4AED5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05075"/>
            <a:ext cx="2152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B1B5012-8276-4960-9632-C4B405FBA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7527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Deny тест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8A4F4C7-E4D4-4150-A1E0-1BDD7D59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1337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недостаје једна потребна чињеница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DFFBA0B-5686-4E6A-9784-D823EB772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90775"/>
            <a:ext cx="243840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6874F0A-55C1-49DD-BB50-EC76BE751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505075"/>
            <a:ext cx="2152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4EECEFD-3376-4DEF-9C92-0DA37C682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7527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Audit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F9A3442-E809-45AC-BA0A-5074186F8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1337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actor, action, target, outcome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FCC81BA0-23B1-49C6-A08F-101F49BD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90775"/>
            <a:ext cx="243840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34CD902-C9CA-4219-A055-4BA4028F6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505075"/>
            <a:ext cx="2152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4101BB69-FB0E-4DF8-883F-DFD6740C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7527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Преглед права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43B6C003-9A8F-468E-B446-E3114BFC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31337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716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зашто корисник има приступ</a:t>
            </a:r>
          </a:p>
        </p:txBody>
      </p:sp>
      <p:cxnSp>
        <p:nvCxnSpPr>
          <p:cNvPr id="222" name="Straight Arrow Connector 125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257550" y="29813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3" name="Straight Arrow Connector 126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62650" y="29813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4" name="Straight Arrow Connector 127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667750" y="29813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76" name="Rounded Rectangle 75">
            <a:extLst xmlns:a="http://schemas.openxmlformats.org/drawingml/2006/main">
              <a:ext uri="{FF2B5EF4-FFF2-40B4-BE49-F238E27FC236}">
                <a16:creationId xmlns:a16="http://schemas.microsoft.com/office/drawing/2014/main" id="{7A15DD68-422A-4725-A599-4C882690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24350"/>
            <a:ext cx="103632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77" name="Rounded Rectangle 76">
            <a:extLst xmlns:a="http://schemas.openxmlformats.org/drawingml/2006/main">
              <a:ext uri="{FF2B5EF4-FFF2-40B4-BE49-F238E27FC236}">
                <a16:creationId xmlns:a16="http://schemas.microsoft.com/office/drawing/2014/main" id="{7ACDCFA4-35AA-422E-AEAB-014A04A5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76750"/>
            <a:ext cx="57150" cy="762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8" name="Rectangle 77">
            <a:extLst xmlns:a="http://schemas.openxmlformats.org/drawingml/2006/main">
              <a:ext uri="{FF2B5EF4-FFF2-40B4-BE49-F238E27FC236}">
                <a16:creationId xmlns:a16="http://schemas.microsoft.com/office/drawing/2014/main" id="{A9C7E791-8694-4166-93CD-5C564A4A6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ПРОВЕРЉИВ ЗАКЉУЧАК</a:t>
            </a:r>
          </a:p>
        </p:txBody>
      </p:sp>
      <p:sp>
        <p:nvSpPr>
          <p:cNvPr id="79" name="Rectangle 78">
            <a:extLst xmlns:a="http://schemas.openxmlformats.org/drawingml/2006/main">
              <a:ext uri="{FF2B5EF4-FFF2-40B4-BE49-F238E27FC236}">
                <a16:creationId xmlns:a16="http://schemas.microsoft.com/office/drawing/2014/main" id="{17C41C6E-6315-47F4-A87B-965EDBBBE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57725"/>
            <a:ext cx="9639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endParaRPr sz="1388" b="1">
              <a:solidFill>
                <a:srgbClr val="1B243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0" name="Rectangle 79">
            <a:extLst xmlns:a="http://schemas.openxmlformats.org/drawingml/2006/main">
              <a:ext uri="{FF2B5EF4-FFF2-40B4-BE49-F238E27FC236}">
                <a16:creationId xmlns:a16="http://schemas.microsoft.com/office/drawing/2014/main" id="{35A866DA-FAE3-4BE1-922C-98EF7A766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714874"/>
            <a:ext cx="9944100" cy="5238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37B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Систем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дозвољава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оправдану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радњу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,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одбија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исту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радњу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без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потребне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дозволе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и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оставља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траг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који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други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члан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тима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може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да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понови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и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објасни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5379272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905D3CC-30DB-4A08-8C1F-36A04661A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BE769AA1-797E-4070-8E99-8F2D72A14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73181BE-BEE9-4DB3-AB4D-4E860AB6D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38183F-934C-4925-8A73-5FF48988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Примена на пројекту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17011DB-C378-4B63-8283-9E6A09E1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Пројектна целина треба да садржи једну серверску одлуку о приступу и проверљив доказ њеног исхода.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E289AA0-1E80-4351-A806-7EAD9CCF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5010150" cy="1613491"/>
          </a:xfrm>
          <a:prstGeom xmlns:a="http://schemas.openxmlformats.org/drawingml/2006/main" prst="roundRect">
            <a:avLst>
              <a:gd name="adj" fmla="val 4895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C9BC9D3-DA04-41AB-BB12-0504176C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ИМПЛЕМЕНТАЦИЈА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1C3536F-5C90-421B-AAAA-D1F42E8F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43175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Једна безбедносна одлука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A148765-EDF1-4E47-BC65-EFB78404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33700"/>
            <a:ext cx="47053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Имплементација обухвата субјекат, радњу, дозволу и опсег. Серверска одлука користи актуелни статус идентитета.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8B14AD1-8374-48B3-953E-22790926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5010150" cy="1613491"/>
          </a:xfrm>
          <a:prstGeom xmlns:a="http://schemas.openxmlformats.org/drawingml/2006/main" prst="roundRect">
            <a:avLst>
              <a:gd name="adj" fmla="val 4895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F8BE97D1-B40A-4016-B1B1-831815A2E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95525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6D13FF5-121D-45CE-8C25-8FC8AC04C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43175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Сценарио дозволе и сценарио одбијања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4E2D9CA-6DBA-4882-ABF0-200AA96A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33700"/>
            <a:ext cx="47053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Доказ обухвата тест или демонстрацију и ревизиони запис са актером, радњом, циљем и исходом.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7A21408A-66EB-43B4-84C2-840F185AA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62476"/>
            <a:ext cx="10572750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DAD2753-8973-4D01-BEF3-77F19823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714876"/>
            <a:ext cx="58306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71B2CC64-8EF0-47CC-BA73-ABE85CFAC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67251"/>
            <a:ext cx="9834212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ПРИПРЕМА ЗА P1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B9DB459C-711D-4394-B006-C2ECAFD9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95851"/>
            <a:ext cx="9834212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5061" lnSpcReduction="1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Припрема за P1 (после вежби 1–2): основна аутентикација и RBAC раде серверски. object-level authorization и негативан тест допуњују ланац.</a:t>
            </a:r>
          </a:p>
        </p:txBody>
      </p:sp>
    </p:spTree>
    <p:extLst>
      <p:ext uri="{BB962C8B-B14F-4D97-AF65-F5344CB8AC3E}">
        <p14:creationId xmlns:p14="http://schemas.microsoft.com/office/powerpoint/2010/main" val="38048682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F01EC58-BE6C-4EDD-AA37-C730AF374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6F61DD4B-4CE3-4833-9D71-E1827914C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CDDFF2B-D43D-410C-BDB7-76A9AD1A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1B036D5-3268-40ED-A28D-F13A7BC9B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Провера разумевања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D399D46-EEA8-4772-9E6F-D3F55AF7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5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Разумевање теме подразумева објашњење одлуке, контекста и доказа независно од конкретног технолошког оквира.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641C3EC4-EBC8-4F79-B08E-59FB5181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209800"/>
            <a:ext cx="9334500" cy="1381125"/>
          </a:xfrm>
          <a:prstGeom xmlns:a="http://schemas.openxmlformats.org/drawingml/2006/main" prst="roundRect">
            <a:avLst>
              <a:gd name="adj" fmla="val 9655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1184CE9-E5A2-4ACF-9AA7-7D4698FA4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33625"/>
            <a:ext cx="902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ПИТАЊЕ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80CB7F3-FDA5-4298-90CE-2F090206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581275"/>
            <a:ext cx="902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За једну административну радњу објасните: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E18B66F-5FA4-4141-93CF-E585F742E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028950"/>
            <a:ext cx="9029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 је субјекат, која дозвола је потребна, у ком опсегу важи, шта се бележи када је радња одбијена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EF72EAE-C524-44AB-A1EE-4553D297D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105275"/>
            <a:ext cx="78105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279400" indent="-152400">
              <a:lnSpc>
                <a:spcPct val="112000"/>
              </a:lnSpc>
              <a:buNone/>
              <a:defRPr sz="150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A202C"/>
                </a:solidFill>
                <a:latin typeface="Aptos"/>
                <a:ea typeface="Aptos"/>
                <a:cs typeface="Aptos"/>
              </a:rPr>
              <a:t>Можете ли исту одлуку да формулишете као allow и deny тест?</a:t>
            </a:r>
          </a:p>
          <a:p xmlns:a="http://schemas.openxmlformats.org/drawingml/2006/main">
            <a:pPr marL="279400" indent="-152400">
              <a:lnSpc>
                <a:spcPct val="112000"/>
              </a:lnSpc>
              <a:buNone/>
              <a:defRPr sz="150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A202C"/>
                </a:solidFill>
                <a:latin typeface="Aptos"/>
                <a:ea typeface="Aptos"/>
                <a:cs typeface="Aptos"/>
              </a:rPr>
              <a:t>Шта се мења ако је идентитет суспендован након пријаве?</a:t>
            </a:r>
          </a:p>
          <a:p xmlns:a="http://schemas.openxmlformats.org/drawingml/2006/main">
            <a:pPr marL="279400" indent="-152400">
              <a:lnSpc>
                <a:spcPct val="112000"/>
              </a:lnSpc>
              <a:buNone/>
              <a:defRPr sz="150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A202C"/>
                </a:solidFill>
                <a:latin typeface="Aptos"/>
                <a:ea typeface="Aptos"/>
                <a:cs typeface="Aptos"/>
              </a:rPr>
              <a:t>Како доказујете да UI није једина контрола приступа?</a:t>
            </a:r>
          </a:p>
        </p:txBody>
      </p:sp>
    </p:spTree>
    <p:extLst>
      <p:ext uri="{BB962C8B-B14F-4D97-AF65-F5344CB8AC3E}">
        <p14:creationId xmlns:p14="http://schemas.microsoft.com/office/powerpoint/2010/main" val="14385865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A187417F-38E1-4A7D-AC47-14FD987A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AB3FAFE3-EA5B-4AEB-86E3-8EED9100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C83184F-6D71-495F-B0CE-9C9906E8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A91A70F-C3A1-4798-8472-ADB13345D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Безбедно чување лозинки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C469023-7B67-4129-84D2-884D6452A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626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Систем чува изведену вредност са соли и одговарајућим параметрима, без могућности враћања оригиналне лозинке.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E4A894B1-88A1-4B5B-8D54-018D027A9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5810250" cy="2431755"/>
          </a:xfrm>
          <a:prstGeom xmlns:a="http://schemas.openxmlformats.org/drawingml/2006/main" prst="roundRect">
            <a:avLst>
              <a:gd name="adj" fmla="val 3917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ajor"/>
        </p:style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D8015776-B32C-4D77-A2B8-D5FB4AA28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38400"/>
            <a:ext cx="581025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4DD382EA-84EF-46BD-BA2B-F63B8AAC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955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A60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FEF5E072-1803-43E7-9AED-C652756F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8863" y="21955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D42"/>
          </a:solidFill>
          <a:ln xmlns:a="http://schemas.openxmlformats.org/drawingml/2006/main" w="0">
            <a:noFill/>
          </a:ln>
        </p:spPr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723EB443-45C1-4052-96A6-994677A34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1955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C46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8ABE635-CC40-4631-8297-27EB9E1DE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90800"/>
            <a:ext cx="304800" cy="29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9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10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C73AB14-FD5B-4049-BDFD-7FDE14BD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90800"/>
            <a:ext cx="5067300" cy="29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public </a:t>
            </a:r>
            <a:r>
              <a:rPr b="0">
                <a:solidFill>
                  <a:srgbClr val="7651D4"/>
                </a:solidFill>
              </a:rPr>
              <a:t>PasswordRecord </a:t>
            </a:r>
            <a:r>
              <a:rPr b="1">
                <a:solidFill>
                  <a:srgbClr val="0067C5"/>
                </a:solidFill>
              </a:rPr>
              <a:t>Create</a:t>
            </a:r>
            <a:r>
              <a:rPr b="0">
                <a:solidFill>
                  <a:srgbClr val="263044"/>
                </a:solidFill>
              </a:rPr>
              <a:t>(string password)</a:t>
            </a:r>
          </a:p>
          <a:p xmlns:a="http://schemas.openxmlformats.org/drawingml/2006/main"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 xmlns:a="http://schemas.openxmlformats.org/drawingml/2006/main"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    var </a:t>
            </a:r>
            <a:r>
              <a:rPr b="0">
                <a:solidFill>
                  <a:srgbClr val="263044"/>
                </a:solidFill>
              </a:rPr>
              <a:t>hash = hasher.HashPassword(user, password);</a:t>
            </a:r>
          </a:p>
          <a:p xmlns:a="http://schemas.openxmlformats.org/drawingml/2006/main"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    return new </a:t>
            </a:r>
            <a:r>
              <a:rPr b="0">
                <a:solidFill>
                  <a:srgbClr val="7651D4"/>
                </a:solidFill>
              </a:rPr>
              <a:t>PasswordRecord</a:t>
            </a:r>
            <a:r>
              <a:rPr b="0">
                <a:solidFill>
                  <a:srgbClr val="263044"/>
                </a:solidFill>
              </a:rPr>
              <a:t>(hash);</a:t>
            </a:r>
          </a:p>
          <a:p xmlns:a="http://schemas.openxmlformats.org/drawingml/2006/main"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  <a:p xmlns:a="http://schemas.openxmlformats.org/drawingml/2006/main"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endParaRPr b="0">
              <a:solidFill>
                <a:srgbClr val="263044"/>
              </a:solidFill>
            </a:endParaRPr>
          </a:p>
          <a:p xmlns:a="http://schemas.openxmlformats.org/drawingml/2006/main"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public bool Verify</a:t>
            </a:r>
            <a:r>
              <a:rPr b="0">
                <a:solidFill>
                  <a:srgbClr val="263044"/>
                </a:solidFill>
              </a:rPr>
              <a:t>(string password, string hash)</a:t>
            </a:r>
          </a:p>
          <a:p xmlns:a="http://schemas.openxmlformats.org/drawingml/2006/main"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 xmlns:a="http://schemas.openxmlformats.org/drawingml/2006/main"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    return </a:t>
            </a:r>
            <a:r>
              <a:rPr b="0">
                <a:solidFill>
                  <a:srgbClr val="263044"/>
                </a:solidFill>
              </a:rPr>
              <a:t>hasher.VerifyHashedPassword(user, hash, password)</a:t>
            </a:r>
          </a:p>
          <a:p xmlns:a="http://schemas.openxmlformats.org/drawingml/2006/main"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138A5B"/>
                </a:solidFill>
              </a:rPr>
              <a:t>        == PasswordVerificationResult.Success;</a:t>
            </a:r>
          </a:p>
          <a:p xmlns:a="http://schemas.openxmlformats.org/drawingml/2006/main"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653C08D-B5D8-4E97-9A25-630A5DDF1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098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ТУМАЧЕЊЕ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234E1B2E-2626-4710-ABF2-EB9063F6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7813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22C19C6-8409-48E3-82F1-2311B14F0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762250"/>
            <a:ext cx="3714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Стандардна библиотека управља хеширањем и salt вредношћу.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69321CFD-99A9-4617-B09B-842E2A53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004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F6DA245-91BF-4200-BB10-90F4AA6E8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581400"/>
            <a:ext cx="3714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Иста порука покрива непостојећи налог и погрешну лозинку.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CF3A7D9F-2A34-4CA8-B015-78C05582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196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2660D62-01B1-470D-A57A-8F8BEECA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400550"/>
            <a:ext cx="3714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Промена лозинке укида стару тајну и оставља ревизиони траг.</a:t>
            </a:r>
          </a:p>
        </p:txBody>
      </p:sp>
    </p:spTree>
    <p:extLst>
      <p:ext uri="{BB962C8B-B14F-4D97-AF65-F5344CB8AC3E}">
        <p14:creationId xmlns:p14="http://schemas.microsoft.com/office/powerpoint/2010/main" val="67671895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BBCC841B-3E18-442B-A318-A855F311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B515C2B8-2C4C-4D5B-B367-A33F9456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F37DAEB-775F-4DB4-81AE-D8A8CB75E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521A93E-307D-4588-950C-6CD09949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Сесија као привремени безбедносни контекст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A9F5BC1-76F7-4439-AA61-D68817E25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657184"/>
                </a:solidFill>
                <a:latin typeface="Aptos"/>
                <a:ea typeface="Aptos"/>
                <a:cs typeface="Aptos"/>
              </a:rPr>
              <a:t>Токен преноси тврдње о субјекту у ограниченом периоду, док сервер проверава њихово важење.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5B0504E-EB53-41E7-952B-CEF1232A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43EAE01-A00C-49F5-8765-7C37DF24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51460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6437D1B-17FA-4E1C-866A-5BC5E7C4C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76225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Пријава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CAECAB0-20BF-4EEA-A13F-B014225D0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14325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потврда идентитета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7188592-7EA6-46CA-9F20-5B341370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40030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75C6F88-A67D-45BD-ADA4-A832576E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51460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29317FF-AB5E-44BD-9359-B556D5BE9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76225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Сесија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1D18864-3568-44A6-88FB-CE4D03E6B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14325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ограничено трајање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702A14E-6C6F-4649-95C7-E070958F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40030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D60495D3-B67F-425C-A675-1C5758A44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51460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A44F21B-2E6E-40F0-9C04-44160A486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76225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Нова одлука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44FD710-A25F-4141-8A76-ED6554B0D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14325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провера статуса и дозволе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249D8F6-E84C-4B3D-8780-820D08517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40030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39291F9B-77BD-49FB-B3E7-6546EC6BB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51460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735B76A5-4A63-417C-B213-0D3E106D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6225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Истек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471C2C1A-E285-477F-B774-72E26B216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4325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837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поновна потврда идентитета</a:t>
            </a:r>
          </a:p>
        </p:txBody>
      </p:sp>
      <p:cxnSp>
        <p:nvCxnSpPr>
          <p:cNvPr id="222" name="Straight Arrow Connector 125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248025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3" name="Straight Arrow Connector 126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62650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4" name="Straight Arrow Connector 127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677275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76" name="Rounded Rectangle 75">
            <a:extLst xmlns:a="http://schemas.openxmlformats.org/drawingml/2006/main">
              <a:ext uri="{FF2B5EF4-FFF2-40B4-BE49-F238E27FC236}">
                <a16:creationId xmlns:a16="http://schemas.microsoft.com/office/drawing/2014/main" id="{6FF4FA35-457B-4F27-A8BA-138AF8A62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24350"/>
            <a:ext cx="103632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77" name="Rounded Rectangle 76">
            <a:extLst xmlns:a="http://schemas.openxmlformats.org/drawingml/2006/main">
              <a:ext uri="{FF2B5EF4-FFF2-40B4-BE49-F238E27FC236}">
                <a16:creationId xmlns:a16="http://schemas.microsoft.com/office/drawing/2014/main" id="{49C0BEA3-19BF-484F-9C6C-8C2A2C4D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76750"/>
            <a:ext cx="57150" cy="762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8" name="Rectangle 77">
            <a:extLst xmlns:a="http://schemas.openxmlformats.org/drawingml/2006/main">
              <a:ext uri="{FF2B5EF4-FFF2-40B4-BE49-F238E27FC236}">
                <a16:creationId xmlns:a16="http://schemas.microsoft.com/office/drawing/2014/main" id="{25470DC4-C335-42DC-9B80-59FD06C13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2912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БЕЗБЕДНОСНИ ИСХОД</a:t>
            </a:r>
          </a:p>
        </p:txBody>
      </p:sp>
      <p:sp>
        <p:nvSpPr>
          <p:cNvPr id="79" name="Rectangle 78">
            <a:extLst xmlns:a="http://schemas.openxmlformats.org/drawingml/2006/main">
              <a:ext uri="{FF2B5EF4-FFF2-40B4-BE49-F238E27FC236}">
                <a16:creationId xmlns:a16="http://schemas.microsoft.com/office/drawing/2014/main" id="{B6DF45F5-B3D9-43AF-BCBE-F7FB98A4A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57725"/>
            <a:ext cx="9639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Суспензија мора да има ефекат</a:t>
            </a:r>
          </a:p>
        </p:txBody>
      </p:sp>
      <p:sp>
        <p:nvSpPr>
          <p:cNvPr id="80" name="Rectangle 79">
            <a:extLst xmlns:a="http://schemas.openxmlformats.org/drawingml/2006/main">
              <a:ext uri="{FF2B5EF4-FFF2-40B4-BE49-F238E27FC236}">
                <a16:creationId xmlns:a16="http://schemas.microsoft.com/office/drawing/2014/main" id="{A2EBC66E-3608-426C-9BA5-1D9B54F7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991100"/>
            <a:ext cx="963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37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Активан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токен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не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сме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сам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по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себи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да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надјача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актуелни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статус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идентитета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за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нову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осетљиву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радњу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456199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63F0D1F-752E-419C-BB1B-C92F4F771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CB3B44F4-8042-431F-970B-A2FC636E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23C1CF7-C0CA-467F-A8E0-60A2BBC4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881098-EBFC-4F00-8821-61304D669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Именовање улога и дозвола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E813D3E-E47B-47CA-AFC0-AF798C03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Назив улоге описује пословну одговорност, а назив дозволе конкретну заштићену радњу.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BC193A2-529E-4567-8BF7-15BFDF90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09800"/>
            <a:ext cx="4591050" cy="1409700"/>
          </a:xfrm>
          <a:prstGeom xmlns:a="http://schemas.openxmlformats.org/drawingml/2006/main" prst="roundRect">
            <a:avLst>
              <a:gd name="adj" fmla="val 5224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A6BCF3C-A522-4B66-8938-9DC304597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28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ПРЕШИРОКО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CCE19E8-F0FA-4B89-9115-64B79E68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81275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Admin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151999E-4FA1-4DD1-B989-510732DC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71800"/>
            <a:ext cx="4286250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Назив не објашњава које радње су оправдане, над којим ресурсима и колико дуго право важи.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E093A69-76FB-4D9D-821C-1A4C656C4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4591050" cy="1409700"/>
          </a:xfrm>
          <a:prstGeom xmlns:a="http://schemas.openxmlformats.org/drawingml/2006/main" prst="roundRect">
            <a:avLst>
              <a:gd name="adj" fmla="val 5224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360A0A0-ECA7-4375-8772-049BD1BDE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33625"/>
            <a:ext cx="428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ПРЕЦИЗНО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CB54137-0763-49B5-8839-936164814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581275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Оператер извештаја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95B83B9-7F98-4A9F-B8A8-95C04392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71800"/>
            <a:ext cx="4286250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Улога групише дозволе report.view и report.export у опсегу домена за који оператор одговара.</a:t>
            </a:r>
          </a:p>
        </p:txBody>
      </p:sp>
      <p:cxnSp>
        <p:nvCxnSpPr>
          <p:cNvPr id="131" name="Straight Arrow Connector 74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524500" y="2914650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44" name="Rounded Rectangle 43">
            <a:extLst xmlns:a="http://schemas.openxmlformats.org/drawingml/2006/main">
              <a:ext uri="{FF2B5EF4-FFF2-40B4-BE49-F238E27FC236}">
                <a16:creationId xmlns:a16="http://schemas.microsoft.com/office/drawing/2014/main" id="{E1E6037B-75FD-4CB1-950F-49F13DF14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38625"/>
            <a:ext cx="10363200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45" name="Rounded Rectangle 44">
            <a:extLst xmlns:a="http://schemas.openxmlformats.org/drawingml/2006/main">
              <a:ext uri="{FF2B5EF4-FFF2-40B4-BE49-F238E27FC236}">
                <a16:creationId xmlns:a16="http://schemas.microsoft.com/office/drawing/2014/main" id="{632DE3ED-52B3-4879-8C6E-A7CF6AAB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91025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62A76CF8-1B5B-4625-B825-61A0570C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43400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ПРАВИЛО МОДЕЛА</a:t>
            </a:r>
          </a:p>
        </p:txBody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2C928666-D5A7-4F31-9694-C4B645D6F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72000"/>
            <a:ext cx="9639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6979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Промена пословне одговорности мења улогу. Нова техничка операција додаје малу дозволу у постојећи модел.</a:t>
            </a:r>
          </a:p>
        </p:txBody>
      </p:sp>
    </p:spTree>
    <p:extLst>
      <p:ext uri="{BB962C8B-B14F-4D97-AF65-F5344CB8AC3E}">
        <p14:creationId xmlns:p14="http://schemas.microsoft.com/office/powerpoint/2010/main" val="111722082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26B340F8-8E2F-4D91-9043-CC32B6BC3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7A6EA1EA-AE39-415D-B749-76F4F8289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D7024A8-52E0-4A15-B133-095DE9C9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2BD8A46-FF8C-4C1D-A8D6-392112BE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Садржај ревизионог записа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BC642B7-784F-4232-BA5A-1B39FD19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Запис омогућава реконструкцију покушаја без чувања лозинки, токена или непотребних личних података.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A10F3454-D542-45C7-B112-AD455A83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43125"/>
            <a:ext cx="5000625" cy="2237489"/>
          </a:xfrm>
          <a:prstGeom xmlns:a="http://schemas.openxmlformats.org/drawingml/2006/main" prst="roundRect">
            <a:avLst>
              <a:gd name="adj" fmla="val 4257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ajor"/>
        </p:style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F18CE8A7-8AFF-4BFF-B008-91A71C88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05075"/>
            <a:ext cx="5000625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2F477087-8532-456E-B3BA-BE7FC088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6218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A60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02F53C55-FEAA-47B0-86CA-E4D9C6CE8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3538" y="226218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D42"/>
          </a:solidFill>
          <a:ln xmlns:a="http://schemas.openxmlformats.org/drawingml/2006/main" w="0">
            <a:noFill/>
          </a:ln>
        </p:spPr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E9EE0619-2D8E-4136-BF39-A5D803549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26218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C46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2F01351-3D4A-4B01-9A62-9FFE78AB1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57475"/>
            <a:ext cx="3048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D145DEF-946B-4950-B794-B62F3D5B0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657475"/>
            <a:ext cx="4257675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 xmlns:a="http://schemas.openxmlformats.org/drawingml/2006/main">
            <a:pPr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7651D4"/>
                </a:solidFill>
              </a:rPr>
              <a:t>  "actor"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"user-184"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7651D4"/>
                </a:solidFill>
              </a:rPr>
              <a:t>  "action"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"report.approve"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7651D4"/>
                </a:solidFill>
              </a:rPr>
              <a:t>  "target"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"report-902"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7651D4"/>
                </a:solidFill>
              </a:rPr>
              <a:t>  "outcome"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1">
                <a:solidFill>
                  <a:srgbClr val="C34747"/>
                </a:solidFill>
              </a:rPr>
              <a:t>"denied"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7651D4"/>
                </a:solidFill>
              </a:rPr>
              <a:t>  "reason"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"missing_permission"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7651D4"/>
                </a:solidFill>
              </a:rPr>
              <a:t>  "correlationId"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"c-71f2"</a:t>
            </a:r>
          </a:p>
          <a:p xmlns:a="http://schemas.openxmlformats.org/drawingml/2006/main">
            <a:pPr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59318600-857A-47E8-AAFC-9BB64790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43125"/>
            <a:ext cx="4819650" cy="1381125"/>
          </a:xfrm>
          <a:prstGeom xmlns:a="http://schemas.openxmlformats.org/drawingml/2006/main" prst="roundRect">
            <a:avLst>
              <a:gd name="adj" fmla="val 9655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590A71A-2F41-4E5F-B831-2649540B8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266950"/>
            <a:ext cx="4514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ДОВОЉНО ЗА ОБЈАШЊЕЊЕ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472F8F1-221D-4191-9D58-EF83D74D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14600"/>
            <a:ext cx="4514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Субјекат, радња, циљ и исход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8C49445F-6F7D-4916-9F73-C4FE2E45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05125"/>
            <a:ext cx="451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Correlation ID повезује одлуку са остатком тока захтева.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5F9D4D2-24FC-46BA-8BD1-4C4A41EFF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905250"/>
            <a:ext cx="4819650" cy="1381125"/>
          </a:xfrm>
          <a:prstGeom xmlns:a="http://schemas.openxmlformats.org/drawingml/2006/main" prst="roundRect">
            <a:avLst>
              <a:gd name="adj" fmla="val 9655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DF009004-E252-482D-AEAB-5D363863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29075"/>
            <a:ext cx="4514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НЕ ПРИПАДА У ЛОГ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79E7B64-DB0B-4B2A-BCC3-18EC7A8E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276725"/>
            <a:ext cx="4514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Лозинка, token и непотребни лични подаци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3E04E9B-2843-41FD-BD99-DD02C309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67250"/>
            <a:ext cx="451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Ревизиони траг не садржи осетљиве вредности које би могле постати нови извор цурења.</a:t>
            </a:r>
          </a:p>
        </p:txBody>
      </p:sp>
    </p:spTree>
    <p:extLst>
      <p:ext uri="{BB962C8B-B14F-4D97-AF65-F5344CB8AC3E}">
        <p14:creationId xmlns:p14="http://schemas.microsoft.com/office/powerpoint/2010/main" val="90067632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D5F900BD-87C4-4DA6-8180-90A134DDF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3A0B959A-DC57-47EB-BFFC-0ECA112E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8DB9D1A-E2B8-47CF-B741-0A9D3274D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6F35651-30B2-4F4A-B9C2-EBB19D5A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Примена концепата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F134FE6-D897-4B59-9118-C1FDE804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Анализа једне радње обухвата субјекат, дозволу, контекст, серверску одлуку и доказ исхода.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676E1C9-CCF5-4060-A0B4-F2DDEC22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4315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C66EC65-BF84-45ED-B593-9C1F8D7D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45745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5EA81F2-2A34-49F6-A8C0-9486AAD28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7051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Избор радње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D691644-3BA7-465F-8821-A2EEB6E3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861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 пример report.approve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6CC854B-9AF0-4BED-98E3-D690BE2A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34315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A96ED68-5EE6-4931-A1F1-8DA02FDFD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5745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8C3318C-56F1-4C42-AB85-C8C85E89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7051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Дефинисање дозволе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653CB3E-EC8D-45E2-B9B1-CD110621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61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назив и опсег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11B8CD89-02A6-408F-9F5A-FFD56BE7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4315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83BF07A-9996-4720-9DA5-66100FDBC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45745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752E17A-B841-4B23-BA77-D1EF93D2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7051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Тест одбијања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EE76CCC4-130E-4292-8FEF-0A8BEC2EC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0861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недостаје једна чињеница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76BEA05-4869-469C-8937-703B8FB8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34315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07C2E43E-0D94-4B2F-9ADB-FEF5E07C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5745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80CE209F-1332-49FF-8DEC-AF0A5D6E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051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055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Провера ревизионог записа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B1CDAF90-66CB-4EF2-BFF6-6EEC47EB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0861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actor, action, target, outcome</a:t>
            </a:r>
          </a:p>
        </p:txBody>
      </p:sp>
      <p:cxnSp>
        <p:nvCxnSpPr>
          <p:cNvPr id="222" name="Straight Arrow Connector 125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248025" y="29337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3" name="Straight Arrow Connector 126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62650" y="29337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4" name="Straight Arrow Connector 127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677275" y="29337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76" name="Rounded Rectangle 75">
            <a:extLst xmlns:a="http://schemas.openxmlformats.org/drawingml/2006/main">
              <a:ext uri="{FF2B5EF4-FFF2-40B4-BE49-F238E27FC236}">
                <a16:creationId xmlns:a16="http://schemas.microsoft.com/office/drawing/2014/main" id="{9D50769C-E494-4455-A490-81236F41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76725"/>
            <a:ext cx="103632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77" name="Rounded Rectangle 76">
            <a:extLst xmlns:a="http://schemas.openxmlformats.org/drawingml/2006/main">
              <a:ext uri="{FF2B5EF4-FFF2-40B4-BE49-F238E27FC236}">
                <a16:creationId xmlns:a16="http://schemas.microsoft.com/office/drawing/2014/main" id="{53A94149-18D8-4728-8907-738AF2EDA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29125"/>
            <a:ext cx="57150" cy="762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8" name="Rectangle 77">
            <a:extLst xmlns:a="http://schemas.openxmlformats.org/drawingml/2006/main">
              <a:ext uri="{FF2B5EF4-FFF2-40B4-BE49-F238E27FC236}">
                <a16:creationId xmlns:a16="http://schemas.microsoft.com/office/drawing/2014/main" id="{56392A1D-2970-4A0C-B088-7947A0C3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ОЧЕКИВАНИ РЕЗУЛТАТ</a:t>
            </a:r>
          </a:p>
        </p:txBody>
      </p:sp>
      <p:sp>
        <p:nvSpPr>
          <p:cNvPr id="79" name="Rectangle 78">
            <a:extLst xmlns:a="http://schemas.openxmlformats.org/drawingml/2006/main">
              <a:ext uri="{FF2B5EF4-FFF2-40B4-BE49-F238E27FC236}">
                <a16:creationId xmlns:a16="http://schemas.microsoft.com/office/drawing/2014/main" id="{71973BE5-1A6A-493C-AD51-E5AFE22BD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9639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Очекивани резултат</a:t>
            </a:r>
          </a:p>
        </p:txBody>
      </p:sp>
      <p:sp>
        <p:nvSpPr>
          <p:cNvPr id="80" name="Rectangle 79">
            <a:extLst xmlns:a="http://schemas.openxmlformats.org/drawingml/2006/main">
              <a:ext uri="{FF2B5EF4-FFF2-40B4-BE49-F238E27FC236}">
                <a16:creationId xmlns:a16="http://schemas.microsoft.com/office/drawing/2014/main" id="{24A486D7-0CE0-4C8A-AA82-4D3E9213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943475"/>
            <a:ext cx="963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37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Мала серверска промена, позитиван и негативан тест и кратко објашњење зашто дозвола има баш тај опсег.</a:t>
            </a:r>
          </a:p>
        </p:txBody>
      </p:sp>
    </p:spTree>
    <p:extLst>
      <p:ext uri="{BB962C8B-B14F-4D97-AF65-F5344CB8AC3E}">
        <p14:creationId xmlns:p14="http://schemas.microsoft.com/office/powerpoint/2010/main" val="6411483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2026-09-29T19:08:27.6520000Z</dcterms:created>
  <dcterms:modified xsi:type="dcterms:W3CDTF">2026-09-29T19:08:27.6520000Z</dcterms:modified>
</coreProperties>
</file>