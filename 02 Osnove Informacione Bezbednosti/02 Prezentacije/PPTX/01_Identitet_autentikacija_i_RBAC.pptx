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8323773ca9a4016" /><Relationship Type="http://schemas.openxmlformats.org/officeDocument/2006/relationships/extended-properties" Target="/docProps/app.xml" Id="Rbd4dfb9eda154aa9" /><Relationship Type="http://schemas.openxmlformats.org/officeDocument/2006/relationships/officeDocument" Target="/ppt/presentation.xml" Id="Rcf532540add4491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41a735803de4707"/>
  </p:sldMasterIdLst>
  <p:notesMasterIdLst>
    <p:notesMasterId xmlns:r="http://schemas.openxmlformats.org/officeDocument/2006/relationships" r:id="R954520e7789b4961"/>
  </p:notesMasterIdLst>
  <p:sldIdLst>
    <p:sldId xmlns:r="http://schemas.openxmlformats.org/officeDocument/2006/relationships" id="256" r:id="R5999800fc70b4e9c"/>
    <p:sldId xmlns:r="http://schemas.openxmlformats.org/officeDocument/2006/relationships" id="257" r:id="Rfb1d5aa6cc5d4356"/>
    <p:sldId xmlns:r="http://schemas.openxmlformats.org/officeDocument/2006/relationships" id="258" r:id="R8c0ff94ecb424545"/>
    <p:sldId xmlns:r="http://schemas.openxmlformats.org/officeDocument/2006/relationships" id="259" r:id="R4d5f891385f74eff"/>
    <p:sldId xmlns:r="http://schemas.openxmlformats.org/officeDocument/2006/relationships" id="260" r:id="R55c906e2998c463c"/>
    <p:sldId xmlns:r="http://schemas.openxmlformats.org/officeDocument/2006/relationships" id="261" r:id="R6819afaa9eab4999"/>
    <p:sldId xmlns:r="http://schemas.openxmlformats.org/officeDocument/2006/relationships" id="262" r:id="R5befa39c5cc54fd8"/>
    <p:sldId xmlns:r="http://schemas.openxmlformats.org/officeDocument/2006/relationships" id="263" r:id="R11b935bfaa744e52"/>
    <p:sldId xmlns:r="http://schemas.openxmlformats.org/officeDocument/2006/relationships" id="264" r:id="R44fa4484a7904e69"/>
    <p:sldId xmlns:r="http://schemas.openxmlformats.org/officeDocument/2006/relationships" id="265" r:id="Ra0514b2a66924880"/>
    <p:sldId xmlns:r="http://schemas.openxmlformats.org/officeDocument/2006/relationships" id="266" r:id="R22cdcd18c3d546d4"/>
    <p:sldId xmlns:r="http://schemas.openxmlformats.org/officeDocument/2006/relationships" id="267" r:id="R1f5ebdbb242c4501"/>
    <p:sldId xmlns:r="http://schemas.openxmlformats.org/officeDocument/2006/relationships" id="268" r:id="R60bf06f515ff4899"/>
    <p:sldId xmlns:r="http://schemas.openxmlformats.org/officeDocument/2006/relationships" id="269" r:id="R6156036c19b8423a"/>
    <p:sldId xmlns:r="http://schemas.openxmlformats.org/officeDocument/2006/relationships" id="270" r:id="R891684d9beda486d"/>
    <p:sldId xmlns:r="http://schemas.openxmlformats.org/officeDocument/2006/relationships" id="271" r:id="R7ce168f4fba4413e"/>
    <p:sldId xmlns:r="http://schemas.openxmlformats.org/officeDocument/2006/relationships" id="272" r:id="R5c290f0696454110"/>
    <p:sldId xmlns:r="http://schemas.openxmlformats.org/officeDocument/2006/relationships" id="273" r:id="R7f9b2b42b5074411"/>
    <p:sldId xmlns:r="http://schemas.openxmlformats.org/officeDocument/2006/relationships" id="274" r:id="R1f1bbac83b284fb5"/>
    <p:sldId xmlns:r="http://schemas.openxmlformats.org/officeDocument/2006/relationships" id="275" r:id="Rcad944f20218445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637de43085b4dc1" /><Relationship Type="http://schemas.openxmlformats.org/officeDocument/2006/relationships/slideMaster" Target="/ppt/slideMasters/slideMaster1.xml" Id="R641a735803de4707" /><Relationship Type="http://schemas.openxmlformats.org/officeDocument/2006/relationships/notesMaster" Target="/ppt/notesMasters/notesMaster1.xml" Id="R954520e7789b4961" /><Relationship Type="http://schemas.openxmlformats.org/officeDocument/2006/relationships/presProps" Target="/ppt/presProps.xml" Id="R1f2feab3ed4b491f" /><Relationship Type="http://schemas.openxmlformats.org/officeDocument/2006/relationships/viewProps" Target="/ppt/viewProps.xml" Id="R64e5938c09f845e8" /><Relationship Type="http://schemas.openxmlformats.org/officeDocument/2006/relationships/tableStyles" Target="/ppt/tableStyles.xml" Id="Rb14466f30b794dec" /><Relationship Type="http://schemas.openxmlformats.org/officeDocument/2006/relationships/slide" Target="/ppt/slides/slide1.xml" Id="R5999800fc70b4e9c" /><Relationship Type="http://schemas.openxmlformats.org/officeDocument/2006/relationships/slide" Target="/ppt/slides/slide2.xml" Id="Rfb1d5aa6cc5d4356" /><Relationship Type="http://schemas.openxmlformats.org/officeDocument/2006/relationships/slide" Target="/ppt/slides/slide3.xml" Id="R8c0ff94ecb424545" /><Relationship Type="http://schemas.openxmlformats.org/officeDocument/2006/relationships/slide" Target="/ppt/slides/slide4.xml" Id="R4d5f891385f74eff" /><Relationship Type="http://schemas.openxmlformats.org/officeDocument/2006/relationships/slide" Target="/ppt/slides/slide5.xml" Id="R55c906e2998c463c" /><Relationship Type="http://schemas.openxmlformats.org/officeDocument/2006/relationships/slide" Target="/ppt/slides/slide6.xml" Id="R6819afaa9eab4999" /><Relationship Type="http://schemas.openxmlformats.org/officeDocument/2006/relationships/slide" Target="/ppt/slides/slide7.xml" Id="R5befa39c5cc54fd8" /><Relationship Type="http://schemas.openxmlformats.org/officeDocument/2006/relationships/slide" Target="/ppt/slides/slide8.xml" Id="R11b935bfaa744e52" /><Relationship Type="http://schemas.openxmlformats.org/officeDocument/2006/relationships/slide" Target="/ppt/slides/slide9.xml" Id="R44fa4484a7904e69" /><Relationship Type="http://schemas.openxmlformats.org/officeDocument/2006/relationships/slide" Target="/ppt/slides/slide10.xml" Id="Ra0514b2a66924880" /><Relationship Type="http://schemas.openxmlformats.org/officeDocument/2006/relationships/slide" Target="/ppt/slides/slide11.xml" Id="R22cdcd18c3d546d4" /><Relationship Type="http://schemas.openxmlformats.org/officeDocument/2006/relationships/slide" Target="/ppt/slides/slide12.xml" Id="R1f5ebdbb242c4501" /><Relationship Type="http://schemas.openxmlformats.org/officeDocument/2006/relationships/slide" Target="/ppt/slides/slide13.xml" Id="R60bf06f515ff4899" /><Relationship Type="http://schemas.openxmlformats.org/officeDocument/2006/relationships/slide" Target="/ppt/slides/slide14.xml" Id="R6156036c19b8423a" /><Relationship Type="http://schemas.openxmlformats.org/officeDocument/2006/relationships/slide" Target="/ppt/slides/slide15.xml" Id="R891684d9beda486d" /><Relationship Type="http://schemas.openxmlformats.org/officeDocument/2006/relationships/slide" Target="/ppt/slides/slide16.xml" Id="R7ce168f4fba4413e" /><Relationship Type="http://schemas.openxmlformats.org/officeDocument/2006/relationships/slide" Target="/ppt/slides/slide17.xml" Id="R5c290f0696454110" /><Relationship Type="http://schemas.openxmlformats.org/officeDocument/2006/relationships/slide" Target="/ppt/slides/slide18.xml" Id="R7f9b2b42b5074411" /><Relationship Type="http://schemas.openxmlformats.org/officeDocument/2006/relationships/slide" Target="/ppt/slides/slide19.xml" Id="R1f1bbac83b284fb5" /><Relationship Type="http://schemas.openxmlformats.org/officeDocument/2006/relationships/slide" Target="/ppt/slides/slide20.xml" Id="Rcad944f20218445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5c5ee6a4a0d4e2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8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bda62a37a224130" /><Relationship Type="http://schemas.openxmlformats.org/officeDocument/2006/relationships/notesMaster" Target="/ppt/notesMasters/notesMaster1.xml" Id="R1852821913044fa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2fa7cd2bab64590" /><Relationship Type="http://schemas.openxmlformats.org/officeDocument/2006/relationships/notesMaster" Target="/ppt/notesMasters/notesMaster1.xml" Id="R302273838004450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43064842203490e" /><Relationship Type="http://schemas.openxmlformats.org/officeDocument/2006/relationships/notesMaster" Target="/ppt/notesMasters/notesMaster1.xml" Id="R665d5283e41144e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7a68c7a3d374415" /><Relationship Type="http://schemas.openxmlformats.org/officeDocument/2006/relationships/notesMaster" Target="/ppt/notesMasters/notesMaster1.xml" Id="Rd02cb4028687436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7e785bed27845f8" /><Relationship Type="http://schemas.openxmlformats.org/officeDocument/2006/relationships/notesMaster" Target="/ppt/notesMasters/notesMaster1.xml" Id="R756909fc66f7428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8938512fb724fa8" /><Relationship Type="http://schemas.openxmlformats.org/officeDocument/2006/relationships/notesMaster" Target="/ppt/notesMasters/notesMaster1.xml" Id="Rcbbd03e527e74b9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9fc535df5b24ad7" /><Relationship Type="http://schemas.openxmlformats.org/officeDocument/2006/relationships/notesMaster" Target="/ppt/notesMasters/notesMaster1.xml" Id="R1e508d3cef47451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af083d722a34d9b" /><Relationship Type="http://schemas.openxmlformats.org/officeDocument/2006/relationships/notesMaster" Target="/ppt/notesMasters/notesMaster1.xml" Id="R73746b70e7a548a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3f6bc9d05c54e45" /><Relationship Type="http://schemas.openxmlformats.org/officeDocument/2006/relationships/notesMaster" Target="/ppt/notesMasters/notesMaster1.xml" Id="R3614c44887a14db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b6e73bc28484cad" /><Relationship Type="http://schemas.openxmlformats.org/officeDocument/2006/relationships/notesMaster" Target="/ppt/notesMasters/notesMaster1.xml" Id="R53b3b6f46454478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fc4e11e01e84325" /><Relationship Type="http://schemas.openxmlformats.org/officeDocument/2006/relationships/notesMaster" Target="/ppt/notesMasters/notesMaster1.xml" Id="R4273c944ce4b49b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2828d8d152d14b6a" /><Relationship Type="http://schemas.openxmlformats.org/officeDocument/2006/relationships/notesMaster" Target="/ppt/notesMasters/notesMaster1.xml" Id="Rd287940dc4d64ad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4f41991b3ad5485d" /><Relationship Type="http://schemas.openxmlformats.org/officeDocument/2006/relationships/notesMaster" Target="/ppt/notesMasters/notesMaster1.xml" Id="Rfe3abafc6e214df1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8094323301c04a5c" /><Relationship Type="http://schemas.openxmlformats.org/officeDocument/2006/relationships/notesMaster" Target="/ppt/notesMasters/notesMaster1.xml" Id="Rf3b25737d5074ab8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8a9c9e73e11f4060" /><Relationship Type="http://schemas.openxmlformats.org/officeDocument/2006/relationships/notesMaster" Target="/ppt/notesMasters/notesMaster1.xml" Id="R2ae4711eaa1a43d8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1cf3df99137d4fbf" /><Relationship Type="http://schemas.openxmlformats.org/officeDocument/2006/relationships/notesMaster" Target="/ppt/notesMasters/notesMaster1.xml" Id="R7b203cccc39f45c8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7292a3d086214b08" /><Relationship Type="http://schemas.openxmlformats.org/officeDocument/2006/relationships/notesMaster" Target="/ppt/notesMasters/notesMaster1.xml" Id="R3c4d195884c9468c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1213f1b29c634fd6" /><Relationship Type="http://schemas.openxmlformats.org/officeDocument/2006/relationships/notesMaster" Target="/ppt/notesMasters/notesMaster1.xml" Id="Rae569293b4224066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3fb3446611f04717" /><Relationship Type="http://schemas.openxmlformats.org/officeDocument/2006/relationships/notesMaster" Target="/ppt/notesMasters/notesMaster1.xml" Id="R28c46d389c1447db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c894a30540bf4a08" /><Relationship Type="http://schemas.openxmlformats.org/officeDocument/2006/relationships/notesMaster" Target="/ppt/notesMasters/notesMaster1.xml" Id="R3e39d4c9f3444fc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Извори: oibThematicExercises.ts; oibThematicPresentations.ts.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oibThematicPresentations.ts — тема 1.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oibThematicExercises.ts — увод теме 1.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Извори: oibThematicPresentations.ts и oibThematicExercises.ts — ментални модел теме 1.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oibThematicExercises.ts — шема одлуке о приступу.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oibThematicPresentations.ts — Identitet.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oibThematicExercises.ts — Поређење основних појмова идентитета.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oibThematicExercises.ts — Дизајнерска одлука: улога није дозвола.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Илустративни C# пример заснован на принципима из oibThematicExercises.ts; није преузет као готово пројектно решење.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Илустративни NUnit пример заснован на oibCheckpoints.ts и oibThematicExercises.ts.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oibThematicExercises.ts — Пример: оператор добија нову одговорност.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oibThematicPresentations.ts — типичне грешке теме 1.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oibThematicExercises.ts — Како знамо да модел приступа ради.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Извори: oibThematicExercises.ts — рад на вежби; oibCheckpoints.ts — P1.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oibThematicPresentations.ts — питање и провера разумевања теме 1.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Пример и принцип засновани на oibThematicPresentations.ts — Аутентикација.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oibThematicExercises.ts — основни појмови идентитета и сесије.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oibThematicExercises.ts — Дизајнерска одлука: улога није дозвола.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Извори: oibCheckpoints.ts и oibThematicExercises.ts — audit доказ.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oibThematicExercises.ts — рад на вежби и доказ понашања.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9d7b061255b4ad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1c4fac78a0d4b06" /><Relationship Type="http://schemas.openxmlformats.org/officeDocument/2006/relationships/slideLayout" Target="/ppt/slideLayouts/slideLayout1.xml" Id="R4b451e078f5242c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b451e078f5242c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8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57482d399d488e" /><Relationship Type="http://schemas.openxmlformats.org/officeDocument/2006/relationships/notesSlide" Target="/ppt/notesSlides/notesSlide1.xml" Id="R00f89d9b2bbf4f5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e504a6f8934a0b" /><Relationship Type="http://schemas.openxmlformats.org/officeDocument/2006/relationships/notesSlide" Target="/ppt/notesSlides/notesSlide2.xml" Id="R5b8d9f665375495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ce5f1b4e744724" /><Relationship Type="http://schemas.openxmlformats.org/officeDocument/2006/relationships/notesSlide" Target="/ppt/notesSlides/notesSlide3.xml" Id="R1c968836b76341b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c58780b6d2441d" /><Relationship Type="http://schemas.openxmlformats.org/officeDocument/2006/relationships/notesSlide" Target="/ppt/notesSlides/notesSlide4.xml" Id="R9ecd12018992434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f3d8b32371493e" /><Relationship Type="http://schemas.openxmlformats.org/officeDocument/2006/relationships/notesSlide" Target="/ppt/notesSlides/notesSlide5.xml" Id="R1c2b946beeee4ca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d961710c5340fa" /><Relationship Type="http://schemas.openxmlformats.org/officeDocument/2006/relationships/notesSlide" Target="/ppt/notesSlides/notesSlide6.xml" Id="R5d2a693caae44f6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3b23e6b0a6406a" /><Relationship Type="http://schemas.openxmlformats.org/officeDocument/2006/relationships/notesSlide" Target="/ppt/notesSlides/notesSlide7.xml" Id="Ra113dc163555491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d089a64020400e" /><Relationship Type="http://schemas.openxmlformats.org/officeDocument/2006/relationships/notesSlide" Target="/ppt/notesSlides/notesSlide8.xml" Id="R97bfd1dd30a8432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26cbcba02d48d8" /><Relationship Type="http://schemas.openxmlformats.org/officeDocument/2006/relationships/notesSlide" Target="/ppt/notesSlides/notesSlide9.xml" Id="R5ecb36260e5645a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fd0195a34b471b" /><Relationship Type="http://schemas.openxmlformats.org/officeDocument/2006/relationships/notesSlide" Target="/ppt/notesSlides/notesSlide10.xml" Id="Rbbeedc26a8244cb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d428bab5a34528" /><Relationship Type="http://schemas.openxmlformats.org/officeDocument/2006/relationships/notesSlide" Target="/ppt/notesSlides/notesSlide11.xml" Id="R8a24b9a01a1a47c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a83870a9f14a1b" /><Relationship Type="http://schemas.openxmlformats.org/officeDocument/2006/relationships/notesSlide" Target="/ppt/notesSlides/notesSlide12.xml" Id="R6197a1f3ebc54542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ffbfacc7194b1b" /><Relationship Type="http://schemas.openxmlformats.org/officeDocument/2006/relationships/notesSlide" Target="/ppt/notesSlides/notesSlide13.xml" Id="R06392954f1f64c57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b1c381a1174951" /><Relationship Type="http://schemas.openxmlformats.org/officeDocument/2006/relationships/notesSlide" Target="/ppt/notesSlides/notesSlide14.xml" Id="Rf1229f33539e46b7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c676e09d6b468d" /><Relationship Type="http://schemas.openxmlformats.org/officeDocument/2006/relationships/notesSlide" Target="/ppt/notesSlides/notesSlide15.xml" Id="R9a5751c0192f4fbb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0443b8bdee4718" /><Relationship Type="http://schemas.openxmlformats.org/officeDocument/2006/relationships/notesSlide" Target="/ppt/notesSlides/notesSlide16.xml" Id="R4f3ad604cfd74f72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37defefb3f4424" /><Relationship Type="http://schemas.openxmlformats.org/officeDocument/2006/relationships/notesSlide" Target="/ppt/notesSlides/notesSlide17.xml" Id="R1afe493210244acd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e36e6974cf444e" /><Relationship Type="http://schemas.openxmlformats.org/officeDocument/2006/relationships/notesSlide" Target="/ppt/notesSlides/notesSlide18.xml" Id="R6a9af796dd384505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b39ddd79e349eb" /><Relationship Type="http://schemas.openxmlformats.org/officeDocument/2006/relationships/notesSlide" Target="/ppt/notesSlides/notesSlide19.xml" Id="R51de148707bb4c1a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4d8d9a211f44c1" /><Relationship Type="http://schemas.openxmlformats.org/officeDocument/2006/relationships/notesSlide" Target="/ppt/notesSlides/notesSlide20.xml" Id="R065e3ee43b83481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DEC83D7A-B781-4E8C-8A71-D18636B0C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90550"/>
            <a:ext cx="781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47084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DD6BE141-B6F1-4169-9330-3CBDE281D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009650"/>
            <a:ext cx="10363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8573">
            <a:solidFill>
              <a:srgbClr val="8D5560"/>
            </a:solidFill>
            <a:prstDash val="solid"/>
          </a:ln>
        </p:spPr>
      </p:sp>
      <p:sp>
        <p:nvSpPr>
          <p:cNvPr id="3" name="Rounded Rectangle 2">
            <a:extLst xmlns:a="http://schemas.openxmlformats.org/drawingml/2006/main">
              <a:ext uri="{FF2B5EF4-FFF2-40B4-BE49-F238E27FC236}">
                <a16:creationId xmlns:a16="http://schemas.microsoft.com/office/drawing/2014/main" id="{B7BBF941-5F57-4703-8EB5-7417F680C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438275"/>
            <a:ext cx="6477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A2636"/>
          </a:solidFill>
          <a:ln xmlns:a="http://schemas.openxmlformats.org/drawingml/2006/main" w="0">
            <a:noFill/>
          </a:ln>
        </p:spPr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F659EED-A2DF-42CB-BDA3-BADD93996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71650"/>
            <a:ext cx="1036320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34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34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Идентитет, аутентикација и RBAC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7D2F2A4-7796-40A4-86C8-8F823DDB6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600450"/>
            <a:ext cx="9620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647084"/>
                </a:solidFill>
                <a:latin typeface="Aptos"/>
                <a:ea typeface="Aptos"/>
                <a:cs typeface="Aptos"/>
              </a:rPr>
              <a:t>Идентитет, улоге, дозволе и серверска провера приступа</a:t>
            </a:r>
          </a:p>
        </p:txBody>
      </p:sp>
      <p:sp>
        <p:nvSpPr>
          <p:cNvPr id="6" name="Straight Connector 5">
            <a:extLst xmlns:a="http://schemas.openxmlformats.org/drawingml/2006/main">
              <a:ext uri="{FF2B5EF4-FFF2-40B4-BE49-F238E27FC236}">
                <a16:creationId xmlns:a16="http://schemas.microsoft.com/office/drawing/2014/main" id="{013C61F6-7C60-407C-9658-A6C4C6333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86375"/>
            <a:ext cx="10363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8573">
            <a:solidFill>
              <a:srgbClr val="8D5560"/>
            </a:solidFill>
            <a:prstDash val="solid"/>
          </a:ln>
        </p:spPr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D6292206-2523-4D82-A69E-440891060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581650"/>
            <a:ext cx="619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Факултет техничких наука · Универзитет у Новом Саду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10A47266-B40D-4049-8E0A-E16909CAC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581650"/>
            <a:ext cx="3181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47084"/>
                </a:solidFill>
                <a:latin typeface="Aptos"/>
                <a:ea typeface="Aptos"/>
                <a:cs typeface="Aptos"/>
              </a:rPr>
              <a:t>Академска 2026/27.</a:t>
            </a:r>
          </a:p>
        </p:txBody>
      </p:sp>
    </p:spTree>
    <p:extLst>
      <p:ext uri="{BB962C8B-B14F-4D97-AF65-F5344CB8AC3E}">
        <p14:creationId xmlns:p14="http://schemas.microsoft.com/office/powerpoint/2010/main" val="98123884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E6932ADA-A4A7-4446-A598-3AFE0B5F3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"/>
            <a:ext cx="2952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7D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61B93572-D235-402D-B2A9-B41E27A04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2014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8D5560"/>
          </a:solidFill>
          <a:ln xmlns:a="http://schemas.openxmlformats.org/drawingml/2006/main" w="7144">
            <a:solidFill>
              <a:srgbClr val="8D5560"/>
            </a:solidFill>
            <a:prstDash val="solid"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335711F3-E79F-45A5-A232-6024426E0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770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48F4D0C-0C01-4352-9B65-A4805A750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90575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Идентитет и право приступа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6FDDB44-421D-4BA0-99F9-FA1F896B8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3827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Аутентикација потврђује идентитет. Ауторизација одређује да ли субјекат сме да изврши конкретну радњу.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A49CDE9A-1222-48B9-B382-D89781E7D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38375"/>
            <a:ext cx="3238500" cy="2381250"/>
          </a:xfrm>
          <a:prstGeom xmlns:a="http://schemas.openxmlformats.org/drawingml/2006/main" prst="roundRect">
            <a:avLst>
              <a:gd name="adj" fmla="val 5600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A59FCB88-2573-4BBC-9183-BFD90C58E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362200"/>
            <a:ext cx="2933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ПОЈМОВИ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86266EF0-C89B-41A2-9B38-EF47B5E38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609850"/>
            <a:ext cx="2933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Четири различита појма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BE33C3D4-04BD-4E69-B52A-1EF6E7CC6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000375"/>
            <a:ext cx="2933700" cy="1514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Идентитет, аутентикација, улога и дозвола имају различите одговорности у систему.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DB8D10A0-00F1-4101-8B52-F83C04302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238375"/>
            <a:ext cx="3238500" cy="2381250"/>
          </a:xfrm>
          <a:prstGeom xmlns:a="http://schemas.openxmlformats.org/drawingml/2006/main" prst="roundRect">
            <a:avLst>
              <a:gd name="adj" fmla="val 5600"/>
            </a:avLst>
          </a:prstGeom>
          <a:solidFill xmlns:a="http://schemas.openxmlformats.org/drawingml/2006/main">
            <a:srgbClr val="F7F4F5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05379BFB-46A9-485E-9D66-EF1AECCDC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362200"/>
            <a:ext cx="2933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7651D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ОДЛУКА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B14630FB-9AAD-4A97-A738-4FB71185F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609850"/>
            <a:ext cx="2933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Одлука је на серверу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4CD00BA9-57DD-4ABF-AE0D-53A9BEB3D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000375"/>
            <a:ext cx="2933700" cy="1514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Интерфејс може сакрити опцију, али не сме бити једина контрола приступа.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8936776C-B5C6-437A-B5D8-851CFE2A1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238375"/>
            <a:ext cx="3238500" cy="2381250"/>
          </a:xfrm>
          <a:prstGeom xmlns:a="http://schemas.openxmlformats.org/drawingml/2006/main" prst="roundRect">
            <a:avLst>
              <a:gd name="adj" fmla="val 5600"/>
            </a:avLst>
          </a:prstGeom>
          <a:solidFill xmlns:a="http://schemas.openxmlformats.org/drawingml/2006/main">
            <a:srgbClr val="EDF8F2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A9F759A7-2B1A-4BBC-9A89-65CD198ED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362200"/>
            <a:ext cx="2933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ДОКАЗ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A67A7E69-E192-4B60-B9A6-8D00573F8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609850"/>
            <a:ext cx="2933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Дозвољено и одбијено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CA4568AB-CE3E-4AAF-8E5C-39D538AA9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000375"/>
            <a:ext cx="2933700" cy="1514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Тест и ревизиони запис показују шта се догодило за исти тип радње у два контекста.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6A1ABF77-E9A6-4A68-8F97-E61AD29BE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953000"/>
            <a:ext cx="10363200" cy="781050"/>
          </a:xfrm>
          <a:prstGeom xmlns:a="http://schemas.openxmlformats.org/drawingml/2006/main" prst="roundRect">
            <a:avLst>
              <a:gd name="adj" fmla="val 17073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8573">
            <a:solidFill>
              <a:srgbClr val="DBC7CC"/>
            </a:solidFill>
            <a:prstDash val="solid"/>
          </a:ln>
        </p:spPr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DE08011A-278F-4EBC-A266-9E7329CC4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05400"/>
            <a:ext cx="57150" cy="476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A2636"/>
          </a:solidFill>
          <a:ln xmlns:a="http://schemas.openxmlformats.org/drawingml/2006/main" w="0">
            <a:noFill/>
          </a:ln>
        </p:spPr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A74397C3-6B5F-4F26-ABA5-E6B9B5610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057775"/>
            <a:ext cx="9639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13" b="1">
                <a:solidFill>
                  <a:srgbClr val="2854D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ПИТАЊЕ ЗА ПРОВЕРУ</a:t>
            </a:r>
          </a:p>
        </p:txBody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763337D0-F949-4293-9ED6-2DA5DA118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286375"/>
            <a:ext cx="9639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B2432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B2432"/>
                </a:solidFill>
                <a:latin typeface="Aptos"/>
                <a:ea typeface="Aptos"/>
                <a:cs typeface="Aptos"/>
              </a:rPr>
              <a:t>Ко је субјекат, која дозвола је потребна и у ком опсегу она важи?</a:t>
            </a:r>
          </a:p>
        </p:txBody>
      </p:sp>
    </p:spTree>
    <p:extLst>
      <p:ext uri="{BB962C8B-B14F-4D97-AF65-F5344CB8AC3E}">
        <p14:creationId xmlns:p14="http://schemas.microsoft.com/office/powerpoint/2010/main" val="182949960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FC53EABA-027D-4BB0-A2B3-E3373D8A1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"/>
            <a:ext cx="2952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7D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172164D8-EDF7-4C96-9167-675E7865D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2014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8D5560"/>
          </a:solidFill>
          <a:ln xmlns:a="http://schemas.openxmlformats.org/drawingml/2006/main" w="7144">
            <a:solidFill>
              <a:srgbClr val="8D5560"/>
            </a:solidFill>
            <a:prstDash val="solid"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44B0C2EE-FC97-445F-BF96-CD4536D81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770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AE49004-E7F7-4E3A-8BAF-D1016D326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90575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Раздвајање аутентикације и ауторизације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2932159B-509D-492F-97DE-D419B3940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3827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Спојене провере стварају претпоставку да аутентификован корисник има право на сваку доступну радњу.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9DB7030A-2488-4753-ABC0-559BE57C8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200275"/>
            <a:ext cx="4686300" cy="2628900"/>
          </a:xfrm>
          <a:prstGeom xmlns:a="http://schemas.openxmlformats.org/drawingml/2006/main" prst="roundRect">
            <a:avLst>
              <a:gd name="adj" fmla="val 5072"/>
            </a:avLst>
          </a:prstGeom>
          <a:solidFill xmlns:a="http://schemas.openxmlformats.org/drawingml/2006/main">
            <a:srgbClr val="FFF0F0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90CBDA5C-4AF3-437B-B6A6-ABA2E80C6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324100"/>
            <a:ext cx="438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C3474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C34747"/>
                </a:solidFill>
                <a:latin typeface="Aptos"/>
                <a:ea typeface="Aptos"/>
                <a:cs typeface="Aptos"/>
              </a:rPr>
              <a:t>НЕБЕЗБЕДНА ПРЕТПОСТАВКА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EAD4628A-3D64-4F04-8A4F-CB398AD4F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571750"/>
            <a:ext cx="4381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„Пријављен је, дакле сме“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E161C0C5-F571-4786-A1B6-1A317B296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57525"/>
            <a:ext cx="438150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Корисник може бити исправно аутентификован, а ипак не сме да одобри промену, чита туђи ресурс или мења конфигурацију.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39B3B9A5-DFD1-49FA-9266-F527E214E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200275"/>
            <a:ext cx="4686300" cy="2628900"/>
          </a:xfrm>
          <a:prstGeom xmlns:a="http://schemas.openxmlformats.org/drawingml/2006/main" prst="roundRect">
            <a:avLst>
              <a:gd name="adj" fmla="val 5072"/>
            </a:avLst>
          </a:prstGeom>
          <a:solidFill xmlns:a="http://schemas.openxmlformats.org/drawingml/2006/main">
            <a:srgbClr val="EDF8F2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535B5B53-975F-4C82-A10C-968C73B71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324100"/>
            <a:ext cx="438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ПОТПУНА ОДЛУКА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A90A8643-F75A-43CD-9C96-B6860D0A9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571750"/>
            <a:ext cx="4381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„Ко, шта, над чим и зашто?“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AD5BBCB8-0490-4166-93D7-463DB7800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057525"/>
            <a:ext cx="438150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Сервер проверава активан идентитет, потребну дозволу, опсег и контекст конкретне радње.</a:t>
            </a:r>
          </a:p>
        </p:txBody>
      </p:sp>
      <p:cxnSp>
        <p:nvCxnSpPr>
          <p:cNvPr id="131" name="Straight Arrow Connector 74"/>
          <p:cNvCxnSpPr>
            <a:stCxn xmlns:a="http://schemas.openxmlformats.org/drawingml/2006/main" id="6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5505450" y="3514725"/>
            <a:ext cx="1181100" cy="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748092"/>
            </a:solidFill>
            <a:prstDash val="solid"/>
            <a:tailEnd type="arrow" w="sm" len="sm"/>
          </a:ln>
        </p:spPr>
      </p:cxnSp>
      <p:sp>
        <p:nvSpPr>
          <p:cNvPr id="44" name="Rounded Rectangle 43">
            <a:extLst xmlns:a="http://schemas.openxmlformats.org/drawingml/2006/main">
              <a:ext uri="{FF2B5EF4-FFF2-40B4-BE49-F238E27FC236}">
                <a16:creationId xmlns:a16="http://schemas.microsoft.com/office/drawing/2014/main" id="{6BC85D41-9B6F-4D02-AD5B-D8AEB02F7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048250"/>
            <a:ext cx="10363200" cy="781050"/>
          </a:xfrm>
          <a:prstGeom xmlns:a="http://schemas.openxmlformats.org/drawingml/2006/main" prst="roundRect">
            <a:avLst>
              <a:gd name="adj" fmla="val 17073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8573">
            <a:solidFill>
              <a:srgbClr val="DBC7CC"/>
            </a:solidFill>
            <a:prstDash val="solid"/>
          </a:ln>
        </p:spPr>
      </p:sp>
      <p:sp>
        <p:nvSpPr>
          <p:cNvPr id="45" name="Rounded Rectangle 44">
            <a:extLst xmlns:a="http://schemas.openxmlformats.org/drawingml/2006/main">
              <a:ext uri="{FF2B5EF4-FFF2-40B4-BE49-F238E27FC236}">
                <a16:creationId xmlns:a16="http://schemas.microsoft.com/office/drawing/2014/main" id="{2C201790-CD4D-49E0-9741-3761D0E01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200650"/>
            <a:ext cx="57150" cy="476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A2636"/>
          </a:solidFill>
          <a:ln xmlns:a="http://schemas.openxmlformats.org/drawingml/2006/main" w="0">
            <a:noFill/>
          </a:ln>
        </p:spPr>
      </p:sp>
      <p:sp>
        <p:nvSpPr>
          <p:cNvPr id="46" name="Rectangle 45">
            <a:extLst xmlns:a="http://schemas.openxmlformats.org/drawingml/2006/main">
              <a:ext uri="{FF2B5EF4-FFF2-40B4-BE49-F238E27FC236}">
                <a16:creationId xmlns:a16="http://schemas.microsoft.com/office/drawing/2014/main" id="{D98A53B0-3879-4326-9485-D20E806D3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153025"/>
            <a:ext cx="9639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13" b="1">
                <a:solidFill>
                  <a:srgbClr val="2854D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ЗАКЉУЧАК</a:t>
            </a:r>
          </a:p>
        </p:txBody>
      </p:sp>
      <p:sp>
        <p:nvSpPr>
          <p:cNvPr id="47" name="Rectangle 46">
            <a:extLst xmlns:a="http://schemas.openxmlformats.org/drawingml/2006/main">
              <a:ext uri="{FF2B5EF4-FFF2-40B4-BE49-F238E27FC236}">
                <a16:creationId xmlns:a16="http://schemas.microsoft.com/office/drawing/2014/main" id="{175B0DB8-97CA-43DC-B55C-E6D80FBBB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381625"/>
            <a:ext cx="9639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B2432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B2432"/>
                </a:solidFill>
                <a:latin typeface="Aptos"/>
                <a:ea typeface="Aptos"/>
                <a:cs typeface="Aptos"/>
              </a:rPr>
              <a:t>Раздвајање појмова смањује број скривених пречица и омогућава јасан ревизиони траг.</a:t>
            </a:r>
          </a:p>
        </p:txBody>
      </p:sp>
    </p:spTree>
    <p:extLst>
      <p:ext uri="{BB962C8B-B14F-4D97-AF65-F5344CB8AC3E}">
        <p14:creationId xmlns:p14="http://schemas.microsoft.com/office/powerpoint/2010/main" val="79841278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01DE3CF7-77B6-4D87-850D-9B3D63F95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"/>
            <a:ext cx="2952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7D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7D792DEA-7DB5-480D-ADD6-C353209B1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2014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8D5560"/>
          </a:solidFill>
          <a:ln xmlns:a="http://schemas.openxmlformats.org/drawingml/2006/main" w="7144">
            <a:solidFill>
              <a:srgbClr val="8D5560"/>
            </a:solidFill>
            <a:prstDash val="solid"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82A8C8E0-6380-4258-B056-E9B0C8755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770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86C87F3F-7123-409B-8E86-CF187AEBB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90575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Основни појмови контроле приступа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2138FD15-FD2A-400B-A8D6-124CD9F76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3827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Идентитет, аутентикација, улога и дозвола имају засебне функције у одлуци о приступу.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9CD551C4-EFBF-43CB-9FB9-0D53249E5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05050"/>
            <a:ext cx="2571750" cy="2343150"/>
          </a:xfrm>
          <a:prstGeom xmlns:a="http://schemas.openxmlformats.org/drawingml/2006/main" prst="roundRect">
            <a:avLst>
              <a:gd name="adj" fmla="val 5691"/>
            </a:avLst>
          </a:prstGeom>
          <a:solidFill xmlns:a="http://schemas.openxmlformats.org/drawingml/2006/main">
            <a:srgbClr val="F4F6F9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EDAC18D6-18A9-4F26-BD38-D3CCABDE5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28875"/>
            <a:ext cx="2266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D290C4BF-1C2C-4EE7-B742-E118ACE65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676525"/>
            <a:ext cx="2266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Идентитет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17D66568-D07B-4FED-86DF-DEEB4DA8C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067050"/>
            <a:ext cx="22669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Ко је субјекат?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Трајна ознака и статус.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15671D34-CDEB-4761-852D-FC66775AB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305050"/>
            <a:ext cx="2571750" cy="2343150"/>
          </a:xfrm>
          <a:prstGeom xmlns:a="http://schemas.openxmlformats.org/drawingml/2006/main" prst="roundRect">
            <a:avLst>
              <a:gd name="adj" fmla="val 5691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2ACC0A87-5B7F-48D5-BC2C-7196C7E53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428875"/>
            <a:ext cx="2266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FE9F2FCC-3619-4DCD-B3C4-0BA3EFA33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676525"/>
            <a:ext cx="2266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Аутентикација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B7FF6934-C4F7-45B0-8641-C5AB462F3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067050"/>
            <a:ext cx="22669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Да ли је тврдња о идентитету уверљива?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8C01BE29-24D4-4D0F-8331-3550B74A1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305050"/>
            <a:ext cx="2571750" cy="2343150"/>
          </a:xfrm>
          <a:prstGeom xmlns:a="http://schemas.openxmlformats.org/drawingml/2006/main" prst="roundRect">
            <a:avLst>
              <a:gd name="adj" fmla="val 5691"/>
            </a:avLst>
          </a:prstGeom>
          <a:solidFill xmlns:a="http://schemas.openxmlformats.org/drawingml/2006/main">
            <a:srgbClr val="F7F4F5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E1B92904-141D-4F8B-B00F-33CE0B550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428875"/>
            <a:ext cx="2266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7651D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605E3AE9-4956-434D-B9AE-562365A90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676525"/>
            <a:ext cx="2266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Улога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AFD4DE05-1293-420B-A95A-DCEF31BC0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67050"/>
            <a:ext cx="22669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Коју пословну одговорност субјекат има?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9D275421-C0C0-41FE-A786-D3E442A70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305050"/>
            <a:ext cx="2571750" cy="2343150"/>
          </a:xfrm>
          <a:prstGeom xmlns:a="http://schemas.openxmlformats.org/drawingml/2006/main" prst="roundRect">
            <a:avLst>
              <a:gd name="adj" fmla="val 5691"/>
            </a:avLst>
          </a:prstGeom>
          <a:solidFill xmlns:a="http://schemas.openxmlformats.org/drawingml/2006/main">
            <a:srgbClr val="EDF8F2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9FA2FE40-0C45-4053-8E48-0D601FBD3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428875"/>
            <a:ext cx="2266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107DD0E9-5179-4CAE-BE66-E4FACD71E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676525"/>
            <a:ext cx="2266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Дозвола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F22427E4-B0E1-4F08-BABE-F5917AECF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067050"/>
            <a:ext cx="22669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Коју конкретну радњу сме да изврши?</a:t>
            </a:r>
          </a:p>
        </p:txBody>
      </p:sp>
      <p:sp>
        <p:nvSpPr>
          <p:cNvPr id="24" name="Rounded Rectangle 23">
            <a:extLst xmlns:a="http://schemas.openxmlformats.org/drawingml/2006/main">
              <a:ext uri="{FF2B5EF4-FFF2-40B4-BE49-F238E27FC236}">
                <a16:creationId xmlns:a16="http://schemas.microsoft.com/office/drawing/2014/main" id="{63269C69-7F35-4BFC-B0AA-A4A5906FA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933950"/>
            <a:ext cx="10363200" cy="781050"/>
          </a:xfrm>
          <a:prstGeom xmlns:a="http://schemas.openxmlformats.org/drawingml/2006/main" prst="roundRect">
            <a:avLst>
              <a:gd name="adj" fmla="val 17073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8573">
            <a:solidFill>
              <a:srgbClr val="DBC7CC"/>
            </a:solidFill>
            <a:prstDash val="solid"/>
          </a:ln>
        </p:spPr>
      </p:sp>
      <p:sp>
        <p:nvSpPr>
          <p:cNvPr id="25" name="Rounded Rectangle 24">
            <a:extLst xmlns:a="http://schemas.openxmlformats.org/drawingml/2006/main">
              <a:ext uri="{FF2B5EF4-FFF2-40B4-BE49-F238E27FC236}">
                <a16:creationId xmlns:a16="http://schemas.microsoft.com/office/drawing/2014/main" id="{59851063-0302-4E15-9280-E568520A4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086350"/>
            <a:ext cx="57150" cy="476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A2636"/>
          </a:solidFill>
          <a:ln xmlns:a="http://schemas.openxmlformats.org/drawingml/2006/main" w="0">
            <a:noFill/>
          </a:ln>
        </p:spPr>
      </p:sp>
      <p:sp>
        <p:nvSpPr>
          <p:cNvPr id="26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AF06627C-15DA-42CA-8F52-A96AFF34C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038725"/>
            <a:ext cx="9639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13" b="1">
                <a:solidFill>
                  <a:srgbClr val="2854D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МОДЕЛ ОДЛУКЕ</a:t>
            </a:r>
          </a:p>
        </p:txBody>
      </p:sp>
      <p:sp>
        <p:nvSpPr>
          <p:cNvPr id="27" name="Rectangle 26">
            <a:extLst xmlns:a="http://schemas.openxmlformats.org/drawingml/2006/main">
              <a:ext uri="{FF2B5EF4-FFF2-40B4-BE49-F238E27FC236}">
                <a16:creationId xmlns:a16="http://schemas.microsoft.com/office/drawing/2014/main" id="{E6D67AC8-0F59-48BD-A2EC-AE0500FE8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267325"/>
            <a:ext cx="9639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B2432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B2432"/>
                </a:solidFill>
                <a:latin typeface="Aptos"/>
                <a:ea typeface="Aptos"/>
                <a:cs typeface="Aptos"/>
              </a:rPr>
              <a:t>Ефективно право = улога + дозвола + опсег + актуелни статус идентитета</a:t>
            </a:r>
          </a:p>
        </p:txBody>
      </p:sp>
    </p:spTree>
    <p:extLst>
      <p:ext uri="{BB962C8B-B14F-4D97-AF65-F5344CB8AC3E}">
        <p14:creationId xmlns:p14="http://schemas.microsoft.com/office/powerpoint/2010/main" val="176105531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Rectangle 31">
            <a:extLst xmlns:a="http://schemas.openxmlformats.org/drawingml/2006/main">
              <a:ext uri="{FF2B5EF4-FFF2-40B4-BE49-F238E27FC236}">
                <a16:creationId xmlns:a16="http://schemas.microsoft.com/office/drawing/2014/main" id="{B15455E9-1BDD-47B9-9322-5C2B8BF10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"/>
            <a:ext cx="2952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7D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AB7B38E5-A947-458F-8666-BED5EEE11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2014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8D5560"/>
          </a:solidFill>
          <a:ln xmlns:a="http://schemas.openxmlformats.org/drawingml/2006/main" w="7144">
            <a:solidFill>
              <a:srgbClr val="8D5560"/>
            </a:solidFill>
            <a:prstDash val="solid"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270288F9-4CD6-4939-9211-9922CE398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770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5A55A4F-9975-4172-B794-4658F765B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90575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Поступак доношења одлуке о приступу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6382113-2CD7-4680-A3E1-9EDE5F9E5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3827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Сваки корак има дефинисан улаз, исход и разлог одбијања који се може проверити.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6AE15DAC-8477-4AD5-B711-F7EC40CA8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47925"/>
            <a:ext cx="1950720" cy="1181100"/>
          </a:xfrm>
          <a:prstGeom xmlns:a="http://schemas.openxmlformats.org/drawingml/2006/main" prst="roundRect">
            <a:avLst>
              <a:gd name="adj" fmla="val 11290"/>
            </a:avLst>
          </a:prstGeom>
          <a:solidFill xmlns:a="http://schemas.openxmlformats.org/drawingml/2006/main">
            <a:srgbClr val="F4F6F9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3FF285FB-2DB3-4463-B8DA-1C58FCB1A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2562225"/>
            <a:ext cx="16649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DDCB573C-AF9E-4E75-B598-1FEC2FA29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2809875"/>
            <a:ext cx="166497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Захтев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215614D4-179A-4374-A127-A45EDE794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3190875"/>
            <a:ext cx="166497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ко и шта тражи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72AD2CB4-543A-4F52-B4F4-D0B275423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3220" y="2447925"/>
            <a:ext cx="1950720" cy="1181100"/>
          </a:xfrm>
          <a:prstGeom xmlns:a="http://schemas.openxmlformats.org/drawingml/2006/main" prst="roundRect">
            <a:avLst>
              <a:gd name="adj" fmla="val 11290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0C2E18B2-9597-45DB-BB0D-19BE28009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6095" y="2562225"/>
            <a:ext cx="16649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1336F636-ABC0-4D3D-B50C-9E4E0F47E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6095" y="2809875"/>
            <a:ext cx="166497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Идентитет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FAE8A8A2-06F8-46BF-830B-4309C16AC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6095" y="3190875"/>
            <a:ext cx="166497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потврђен и активан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0A6C502A-E47F-48C6-8DE8-F5B571303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2447925"/>
            <a:ext cx="1950720" cy="1181100"/>
          </a:xfrm>
          <a:prstGeom xmlns:a="http://schemas.openxmlformats.org/drawingml/2006/main" prst="roundRect">
            <a:avLst>
              <a:gd name="adj" fmla="val 11290"/>
            </a:avLst>
          </a:prstGeom>
          <a:solidFill xmlns:a="http://schemas.openxmlformats.org/drawingml/2006/main">
            <a:srgbClr val="F7F4F5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B22E5BCE-8888-4B05-B154-A3AFC9296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3515" y="2562225"/>
            <a:ext cx="16649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7651D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49E085A8-9336-497E-91CC-412BA68F3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3515" y="2809875"/>
            <a:ext cx="166497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Дозвола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52BDA4C6-3059-42CB-847C-76E7D06C5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3515" y="3190875"/>
            <a:ext cx="166497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улога и опсег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ED89B1E8-CD57-4B1A-8278-A74351C27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8060" y="2447925"/>
            <a:ext cx="1950720" cy="1181100"/>
          </a:xfrm>
          <a:prstGeom xmlns:a="http://schemas.openxmlformats.org/drawingml/2006/main" prst="roundRect">
            <a:avLst>
              <a:gd name="adj" fmla="val 11290"/>
            </a:avLst>
          </a:prstGeom>
          <a:solidFill xmlns:a="http://schemas.openxmlformats.org/drawingml/2006/main">
            <a:srgbClr val="EDF8F2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F565423D-A59A-45A8-8941-F6289D729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0935" y="2562225"/>
            <a:ext cx="16649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23F0244F-4C76-4992-A117-FD7D4B421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0935" y="2809875"/>
            <a:ext cx="166497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Исход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B2304B24-516E-4BD6-8403-59F61211D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0935" y="3190875"/>
            <a:ext cx="166497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дозволи или одбиј</a:t>
            </a:r>
          </a:p>
        </p:txBody>
      </p:sp>
      <p:sp>
        <p:nvSpPr>
          <p:cNvPr id="22" name="Rounded Rectangle 21">
            <a:extLst xmlns:a="http://schemas.openxmlformats.org/drawingml/2006/main">
              <a:ext uri="{FF2B5EF4-FFF2-40B4-BE49-F238E27FC236}">
                <a16:creationId xmlns:a16="http://schemas.microsoft.com/office/drawing/2014/main" id="{0920310A-C3AD-492D-AFC6-388D1E9CA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5480" y="2447925"/>
            <a:ext cx="1950720" cy="1181100"/>
          </a:xfrm>
          <a:prstGeom xmlns:a="http://schemas.openxmlformats.org/drawingml/2006/main" prst="roundRect">
            <a:avLst>
              <a:gd name="adj" fmla="val 11290"/>
            </a:avLst>
          </a:prstGeom>
          <a:solidFill xmlns:a="http://schemas.openxmlformats.org/drawingml/2006/main">
            <a:srgbClr val="FFF6E9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50CE08AF-D2AA-4231-B814-AE898E37D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8355" y="2562225"/>
            <a:ext cx="16649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B86A09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B86A09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6CDA4813-51BA-4B9A-8CCA-713490D9F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8355" y="2809875"/>
            <a:ext cx="166497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Audit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DDDED184-D793-44C1-95AD-300BBA0B7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8355" y="3190875"/>
            <a:ext cx="166497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actor, action, target</a:t>
            </a:r>
          </a:p>
        </p:txBody>
      </p:sp>
      <p:cxnSp>
        <p:nvCxnSpPr>
          <p:cNvPr id="265" name="Straight Arrow Connector 148"/>
          <p:cNvCxnSpPr>
            <a:stCxn xmlns:a="http://schemas.openxmlformats.org/drawingml/2006/main" id="6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2636520" y="3038475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748092"/>
            </a:solidFill>
            <a:prstDash val="solid"/>
            <a:tailEnd type="arrow" w="sm" len="sm"/>
          </a:ln>
        </p:spPr>
      </p:cxnSp>
      <p:cxnSp>
        <p:nvCxnSpPr>
          <p:cNvPr id="266" name="Straight Arrow Connector 149"/>
          <p:cNvCxnSpPr>
            <a:stCxn xmlns:a="http://schemas.openxmlformats.org/drawingml/2006/main" id="10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4853940" y="3038475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748092"/>
            </a:solidFill>
            <a:prstDash val="solid"/>
            <a:tailEnd type="arrow" w="sm" len="sm"/>
          </a:ln>
        </p:spPr>
      </p:cxnSp>
      <p:cxnSp>
        <p:nvCxnSpPr>
          <p:cNvPr id="267" name="Straight Arrow Connector 150"/>
          <p:cNvCxnSpPr>
            <a:stCxn xmlns:a="http://schemas.openxmlformats.org/drawingml/2006/main" id="14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7071360" y="3038475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748092"/>
            </a:solidFill>
            <a:prstDash val="solid"/>
            <a:tailEnd type="arrow" w="sm" len="sm"/>
          </a:ln>
        </p:spPr>
      </p:cxnSp>
      <p:cxnSp>
        <p:nvCxnSpPr>
          <p:cNvPr id="268" name="Straight Arrow Connector 151"/>
          <p:cNvCxnSpPr>
            <a:stCxn xmlns:a="http://schemas.openxmlformats.org/drawingml/2006/main" id="18" idx="3"/>
            <a:endCxn xmlns:a="http://schemas.openxmlformats.org/drawingml/2006/main" id="22" idx="1"/>
          </p:cNvCxnSpPr>
          <p:nvPr/>
        </p:nvCxnSpPr>
        <p:spPr>
          <a:xfrm xmlns:a="http://schemas.openxmlformats.org/drawingml/2006/main">
            <a:off x="9288780" y="3038475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748092"/>
            </a:solidFill>
            <a:prstDash val="solid"/>
            <a:tailEnd type="arrow" w="sm" len="sm"/>
          </a:ln>
        </p:spPr>
      </p:cxnSp>
      <p:sp>
        <p:nvSpPr>
          <p:cNvPr id="90" name="Rounded Rectangle 89">
            <a:extLst xmlns:a="http://schemas.openxmlformats.org/drawingml/2006/main">
              <a:ext uri="{FF2B5EF4-FFF2-40B4-BE49-F238E27FC236}">
                <a16:creationId xmlns:a16="http://schemas.microsoft.com/office/drawing/2014/main" id="{254C63B0-97DB-489D-AF1F-F2CDFFF41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71950"/>
            <a:ext cx="10363200" cy="1257300"/>
          </a:xfrm>
          <a:prstGeom xmlns:a="http://schemas.openxmlformats.org/drawingml/2006/main" prst="roundRect">
            <a:avLst>
              <a:gd name="adj" fmla="val 10606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8573">
            <a:solidFill>
              <a:srgbClr val="DBC7CC"/>
            </a:solidFill>
            <a:prstDash val="solid"/>
          </a:ln>
        </p:spPr>
      </p:sp>
      <p:sp>
        <p:nvSpPr>
          <p:cNvPr id="91" name="Rounded Rectangle 90">
            <a:extLst xmlns:a="http://schemas.openxmlformats.org/drawingml/2006/main">
              <a:ext uri="{FF2B5EF4-FFF2-40B4-BE49-F238E27FC236}">
                <a16:creationId xmlns:a16="http://schemas.microsoft.com/office/drawing/2014/main" id="{80177CEA-C523-44BC-AC73-4ADAC0FA1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324350"/>
            <a:ext cx="57150" cy="952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A2636"/>
          </a:solidFill>
          <a:ln xmlns:a="http://schemas.openxmlformats.org/drawingml/2006/main" w="0">
            <a:noFill/>
          </a:ln>
        </p:spPr>
      </p:sp>
      <p:sp>
        <p:nvSpPr>
          <p:cNvPr id="92" name="Rectangle 91">
            <a:extLst xmlns:a="http://schemas.openxmlformats.org/drawingml/2006/main">
              <a:ext uri="{FF2B5EF4-FFF2-40B4-BE49-F238E27FC236}">
                <a16:creationId xmlns:a16="http://schemas.microsoft.com/office/drawing/2014/main" id="{1C475786-F855-497A-BE13-928EFDB7E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276725"/>
            <a:ext cx="9639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13" b="1">
                <a:solidFill>
                  <a:srgbClr val="2854D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ЗАКЉУЧАК</a:t>
            </a:r>
          </a:p>
        </p:txBody>
      </p:sp>
      <p:sp>
        <p:nvSpPr>
          <p:cNvPr id="93" name="Rectangle 92">
            <a:extLst xmlns:a="http://schemas.openxmlformats.org/drawingml/2006/main">
              <a:ext uri="{FF2B5EF4-FFF2-40B4-BE49-F238E27FC236}">
                <a16:creationId xmlns:a16="http://schemas.microsoft.com/office/drawing/2014/main" id="{4D78CAB6-059B-4948-BAB8-9B9427457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505325"/>
            <a:ext cx="96393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B2432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B2432"/>
                </a:solidFill>
                <a:latin typeface="Aptos"/>
                <a:ea typeface="Aptos"/>
                <a:cs typeface="Aptos"/>
              </a:rPr>
              <a:t>Клијент може да води корисника, али сервер остаје једини ауторитет за одлуку.</a:t>
            </a:r>
          </a:p>
        </p:txBody>
      </p:sp>
      <p:sp>
        <p:nvSpPr>
          <p:cNvPr id="94" name="Rectangle 93">
            <a:extLst xmlns:a="http://schemas.openxmlformats.org/drawingml/2006/main">
              <a:ext uri="{FF2B5EF4-FFF2-40B4-BE49-F238E27FC236}">
                <a16:creationId xmlns:a16="http://schemas.microsoft.com/office/drawing/2014/main" id="{86EFD167-8E39-42EC-A35E-CEECAA013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029200"/>
            <a:ext cx="9639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52637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Одбијање треба да буде контролисано: довољно јасно клијенту, без откривања заштићених детаља.</a:t>
            </a:r>
          </a:p>
        </p:txBody>
      </p:sp>
    </p:spTree>
    <p:extLst>
      <p:ext uri="{BB962C8B-B14F-4D97-AF65-F5344CB8AC3E}">
        <p14:creationId xmlns:p14="http://schemas.microsoft.com/office/powerpoint/2010/main" val="138467409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Rectangle 32">
            <a:extLst xmlns:a="http://schemas.openxmlformats.org/drawingml/2006/main">
              <a:ext uri="{FF2B5EF4-FFF2-40B4-BE49-F238E27FC236}">
                <a16:creationId xmlns:a16="http://schemas.microsoft.com/office/drawing/2014/main" id="{FD7D7989-3086-4A22-9679-26411B491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"/>
            <a:ext cx="2952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7D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469C9855-2FE1-43F3-8E16-9E8C5F2B0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2014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8D5560"/>
          </a:solidFill>
          <a:ln xmlns:a="http://schemas.openxmlformats.org/drawingml/2006/main" w="7144">
            <a:solidFill>
              <a:srgbClr val="8D5560"/>
            </a:solidFill>
            <a:prstDash val="solid"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10B392FD-8A43-49FE-842F-BCBCD7665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770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D03797D-85F7-487F-93D6-03176C1C8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90575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Животни циклус идентитета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7814A2D-1631-449B-ABD5-5A2B5159B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3827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Права приступа мењају се са статусом налога, организационом улогом и важењем додељених привилегија.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6F63614F-182F-4143-9BE5-CECB2485D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71725"/>
            <a:ext cx="1950720" cy="1181100"/>
          </a:xfrm>
          <a:prstGeom xmlns:a="http://schemas.openxmlformats.org/drawingml/2006/main" prst="roundRect">
            <a:avLst>
              <a:gd name="adj" fmla="val 11290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A1D3A88C-BE6F-42D7-9102-BBAB45651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2486025"/>
            <a:ext cx="16649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232677C7-AE02-4B0E-8C86-8BE4D4957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2733675"/>
            <a:ext cx="166497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Креиран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12D1E1D3-7D52-4C55-8A6C-94353C0AF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3114675"/>
            <a:ext cx="166497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9217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власник и сврха налога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271FA3F6-ADFB-488C-B2C9-4D80B577A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3220" y="2371725"/>
            <a:ext cx="1950720" cy="1181100"/>
          </a:xfrm>
          <a:prstGeom xmlns:a="http://schemas.openxmlformats.org/drawingml/2006/main" prst="roundRect">
            <a:avLst>
              <a:gd name="adj" fmla="val 11290"/>
            </a:avLst>
          </a:prstGeom>
          <a:solidFill xmlns:a="http://schemas.openxmlformats.org/drawingml/2006/main">
            <a:srgbClr val="EDF8F2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5C72D253-CBFA-4A9A-868B-E5A2DE3CE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6095" y="2486025"/>
            <a:ext cx="16649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50077480-0BD7-4E28-9088-FD6D0ABE7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6095" y="2733675"/>
            <a:ext cx="166497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Активан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CBDD4C67-0145-4B32-A1F5-A141FF980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6095" y="3114675"/>
            <a:ext cx="166497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9030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важеће улоге и дозволе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776637A7-5E40-43D5-B080-D76FAAFCA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2371725"/>
            <a:ext cx="1950720" cy="1181100"/>
          </a:xfrm>
          <a:prstGeom xmlns:a="http://schemas.openxmlformats.org/drawingml/2006/main" prst="roundRect">
            <a:avLst>
              <a:gd name="adj" fmla="val 11290"/>
            </a:avLst>
          </a:prstGeom>
          <a:solidFill xmlns:a="http://schemas.openxmlformats.org/drawingml/2006/main">
            <a:srgbClr val="F7F4F5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1AE970F0-193E-4D33-8993-A5CAD07BC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3515" y="2486025"/>
            <a:ext cx="16649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7651D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ECAB2FFF-F925-4663-A7FF-B88DC1652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3515" y="2733675"/>
            <a:ext cx="166497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Промењен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6B402BA0-2DA2-4FA1-BEB4-B718021E3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3515" y="3114675"/>
            <a:ext cx="166497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8333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нова одговорност или опсег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7CF04FA6-6C84-4C60-A7E4-89286CE64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8060" y="2371725"/>
            <a:ext cx="1950720" cy="1181100"/>
          </a:xfrm>
          <a:prstGeom xmlns:a="http://schemas.openxmlformats.org/drawingml/2006/main" prst="roundRect">
            <a:avLst>
              <a:gd name="adj" fmla="val 11290"/>
            </a:avLst>
          </a:prstGeom>
          <a:solidFill xmlns:a="http://schemas.openxmlformats.org/drawingml/2006/main">
            <a:srgbClr val="FFF6E9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75D999C2-F602-478A-B2E1-08CBD1691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0935" y="2486025"/>
            <a:ext cx="16649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B86A09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B86A09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168BE9E4-E625-402F-A9CF-8218DCA4E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0935" y="2733675"/>
            <a:ext cx="166497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Суспендован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7CFCB191-C01A-4A35-BEB2-056760603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0935" y="3114675"/>
            <a:ext cx="166497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9085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приступ се одмах укида</a:t>
            </a:r>
          </a:p>
        </p:txBody>
      </p:sp>
      <p:sp>
        <p:nvSpPr>
          <p:cNvPr id="22" name="Rounded Rectangle 21">
            <a:extLst xmlns:a="http://schemas.openxmlformats.org/drawingml/2006/main">
              <a:ext uri="{FF2B5EF4-FFF2-40B4-BE49-F238E27FC236}">
                <a16:creationId xmlns:a16="http://schemas.microsoft.com/office/drawing/2014/main" id="{82EE178D-ED43-4512-8847-EF1ADD28D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5480" y="2371725"/>
            <a:ext cx="1950720" cy="1181100"/>
          </a:xfrm>
          <a:prstGeom xmlns:a="http://schemas.openxmlformats.org/drawingml/2006/main" prst="roundRect">
            <a:avLst>
              <a:gd name="adj" fmla="val 11290"/>
            </a:avLst>
          </a:prstGeom>
          <a:solidFill xmlns:a="http://schemas.openxmlformats.org/drawingml/2006/main">
            <a:srgbClr val="F4F6F9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B6FA10D7-A5CC-4389-8ED6-6E9ADB6C2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8355" y="2486025"/>
            <a:ext cx="16649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C9449BAC-9C89-4979-9960-0EB3B1DC8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8355" y="2733675"/>
            <a:ext cx="166497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Угашен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B3FD0941-D808-4AB8-81F8-D2C9EF9D2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8355" y="3114675"/>
            <a:ext cx="166497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остаје audit историја</a:t>
            </a:r>
          </a:p>
        </p:txBody>
      </p:sp>
      <p:cxnSp>
        <p:nvCxnSpPr>
          <p:cNvPr id="266" name="Straight Arrow Connector 149"/>
          <p:cNvCxnSpPr>
            <a:stCxn xmlns:a="http://schemas.openxmlformats.org/drawingml/2006/main" id="6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2636520" y="2962275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748092"/>
            </a:solidFill>
            <a:prstDash val="solid"/>
            <a:tailEnd type="arrow" w="sm" len="sm"/>
          </a:ln>
        </p:spPr>
      </p:cxnSp>
      <p:cxnSp>
        <p:nvCxnSpPr>
          <p:cNvPr id="267" name="Straight Arrow Connector 150"/>
          <p:cNvCxnSpPr>
            <a:stCxn xmlns:a="http://schemas.openxmlformats.org/drawingml/2006/main" id="10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4853940" y="2962275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748092"/>
            </a:solidFill>
            <a:prstDash val="solid"/>
            <a:tailEnd type="arrow" w="sm" len="sm"/>
          </a:ln>
        </p:spPr>
      </p:cxnSp>
      <p:cxnSp>
        <p:nvCxnSpPr>
          <p:cNvPr id="268" name="Straight Arrow Connector 151"/>
          <p:cNvCxnSpPr>
            <a:stCxn xmlns:a="http://schemas.openxmlformats.org/drawingml/2006/main" id="14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7071360" y="2962275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748092"/>
            </a:solidFill>
            <a:prstDash val="solid"/>
            <a:tailEnd type="arrow" w="sm" len="sm"/>
          </a:ln>
        </p:spPr>
      </p:cxnSp>
      <p:cxnSp>
        <p:nvCxnSpPr>
          <p:cNvPr id="269" name="Straight Arrow Connector 152"/>
          <p:cNvCxnSpPr>
            <a:stCxn xmlns:a="http://schemas.openxmlformats.org/drawingml/2006/main" id="18" idx="3"/>
            <a:endCxn xmlns:a="http://schemas.openxmlformats.org/drawingml/2006/main" id="22" idx="1"/>
          </p:cNvCxnSpPr>
          <p:nvPr/>
        </p:nvCxnSpPr>
        <p:spPr>
          <a:xfrm xmlns:a="http://schemas.openxmlformats.org/drawingml/2006/main">
            <a:off x="9288780" y="2962275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748092"/>
            </a:solidFill>
            <a:prstDash val="solid"/>
            <a:tailEnd type="arrow" w="sm" len="sm"/>
          </a:ln>
        </p:spPr>
      </p:cxnSp>
      <p:sp>
        <p:nvSpPr>
          <p:cNvPr id="91" name="Rounded Rectangle 90">
            <a:extLst xmlns:a="http://schemas.openxmlformats.org/drawingml/2006/main">
              <a:ext uri="{FF2B5EF4-FFF2-40B4-BE49-F238E27FC236}">
                <a16:creationId xmlns:a16="http://schemas.microsoft.com/office/drawing/2014/main" id="{2A72D6B5-5D9A-4F71-9B56-BC8EA56D4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24350"/>
            <a:ext cx="10363200" cy="1104900"/>
          </a:xfrm>
          <a:prstGeom xmlns:a="http://schemas.openxmlformats.org/drawingml/2006/main" prst="roundRect">
            <a:avLst>
              <a:gd name="adj" fmla="val 12069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8573">
            <a:solidFill>
              <a:srgbClr val="DBC7CC"/>
            </a:solidFill>
            <a:prstDash val="solid"/>
          </a:ln>
        </p:spPr>
      </p:sp>
      <p:sp>
        <p:nvSpPr>
          <p:cNvPr id="92" name="Rounded Rectangle 91">
            <a:extLst xmlns:a="http://schemas.openxmlformats.org/drawingml/2006/main">
              <a:ext uri="{FF2B5EF4-FFF2-40B4-BE49-F238E27FC236}">
                <a16:creationId xmlns:a16="http://schemas.microsoft.com/office/drawing/2014/main" id="{5AD897A3-FE3E-4423-9FF0-763E9E7EF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476750"/>
            <a:ext cx="57150" cy="800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A2636"/>
          </a:solidFill>
          <a:ln xmlns:a="http://schemas.openxmlformats.org/drawingml/2006/main" w="0">
            <a:noFill/>
          </a:ln>
        </p:spPr>
      </p:sp>
      <p:sp>
        <p:nvSpPr>
          <p:cNvPr id="93" name="Rectangle 92">
            <a:extLst xmlns:a="http://schemas.openxmlformats.org/drawingml/2006/main">
              <a:ext uri="{FF2B5EF4-FFF2-40B4-BE49-F238E27FC236}">
                <a16:creationId xmlns:a16="http://schemas.microsoft.com/office/drawing/2014/main" id="{A944D09E-000E-40B6-A05E-4E835D323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429125"/>
            <a:ext cx="9639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13" b="1">
                <a:solidFill>
                  <a:srgbClr val="2854D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ДИЗАЈНЕРСКА ПОСЛЕДИЦА</a:t>
            </a:r>
          </a:p>
        </p:txBody>
      </p:sp>
      <p:sp>
        <p:nvSpPr>
          <p:cNvPr id="94" name="Rectangle 93">
            <a:extLst xmlns:a="http://schemas.openxmlformats.org/drawingml/2006/main">
              <a:ext uri="{FF2B5EF4-FFF2-40B4-BE49-F238E27FC236}">
                <a16:creationId xmlns:a16="http://schemas.microsoft.com/office/drawing/2014/main" id="{1CA17FFF-6895-4E02-B63F-574A74496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57725"/>
            <a:ext cx="96393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B2432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B2432"/>
                </a:solidFill>
                <a:latin typeface="Aptos"/>
                <a:ea typeface="Aptos"/>
                <a:cs typeface="Aptos"/>
              </a:rPr>
              <a:t>Дизајнерска последица</a:t>
            </a:r>
          </a:p>
        </p:txBody>
      </p:sp>
      <p:sp>
        <p:nvSpPr>
          <p:cNvPr id="95" name="Rectangle 94">
            <a:extLst xmlns:a="http://schemas.openxmlformats.org/drawingml/2006/main">
              <a:ext uri="{FF2B5EF4-FFF2-40B4-BE49-F238E27FC236}">
                <a16:creationId xmlns:a16="http://schemas.microsoft.com/office/drawing/2014/main" id="{D840A071-6D08-407E-B0E2-3C65D9482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029200"/>
            <a:ext cx="9639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52637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Статус идентитета и промена улоге морају утицати на сваку нову одлуку, без ослањања на застарелу претпоставку клијента.</a:t>
            </a:r>
          </a:p>
        </p:txBody>
      </p:sp>
    </p:spTree>
    <p:extLst>
      <p:ext uri="{BB962C8B-B14F-4D97-AF65-F5344CB8AC3E}">
        <p14:creationId xmlns:p14="http://schemas.microsoft.com/office/powerpoint/2010/main" val="55939179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A8A9FF1D-137B-4E52-96EC-727BAA1E9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"/>
            <a:ext cx="2952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7D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5B6682EF-72B9-4A1E-98B7-A473F4E82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2014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8D5560"/>
          </a:solidFill>
          <a:ln xmlns:a="http://schemas.openxmlformats.org/drawingml/2006/main" w="7144">
            <a:solidFill>
              <a:srgbClr val="8D5560"/>
            </a:solidFill>
            <a:prstDash val="solid"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9FBCD17F-9057-4BA3-A8BB-BDDEA1964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770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7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832007D6-EC19-453D-B436-28F766134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90575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Аутентикација и ауторизација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D5E02D0B-AC6F-4900-BA1E-50E544CE0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3827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Аутентикација потврђује идентитет, док ауторизација проверава право на конкретну радњу.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0D488257-DCE4-4902-9EBB-9A352A6A4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38350"/>
            <a:ext cx="2000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657184"/>
                </a:solidFill>
                <a:latin typeface="Aptos"/>
                <a:ea typeface="Aptos"/>
                <a:cs typeface="Aptos"/>
              </a:rPr>
              <a:t>ПОЈАМ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41A807F6-D30E-4A03-9A71-DD2ACD1F3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2038350"/>
            <a:ext cx="323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657184"/>
                </a:solidFill>
                <a:latin typeface="Aptos"/>
                <a:ea typeface="Aptos"/>
                <a:cs typeface="Aptos"/>
              </a:rPr>
              <a:t>ПИТАЊЕ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844A5C7D-3CDF-46E3-A7E8-294099F24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038350"/>
            <a:ext cx="447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657184"/>
                </a:solidFill>
                <a:latin typeface="Aptos"/>
                <a:ea typeface="Aptos"/>
                <a:cs typeface="Aptos"/>
              </a:rPr>
              <a:t>ТИПИЧНА ГРЕШКА</a:t>
            </a:r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F9185169-20C5-4307-9856-74296C969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33625"/>
            <a:ext cx="105156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4F6F9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82EC4DF6-8DD2-4114-A5DB-7FCF24862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447925"/>
            <a:ext cx="190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Идентитет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6C431DB5-345E-407D-A304-61E32AB2C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2447925"/>
            <a:ext cx="3219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Ко је субјекат?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8D0C7631-432E-4CF8-9C0F-89BEE23BA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447925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Особа и технички налог се третирају исто.</a:t>
            </a:r>
          </a:p>
        </p:txBody>
      </p:sp>
      <p:sp>
        <p:nvSpPr>
          <p:cNvPr id="13" name="Rounded Rectangle 12">
            <a:extLst xmlns:a="http://schemas.openxmlformats.org/drawingml/2006/main">
              <a:ext uri="{FF2B5EF4-FFF2-40B4-BE49-F238E27FC236}">
                <a16:creationId xmlns:a16="http://schemas.microsoft.com/office/drawing/2014/main" id="{15021ABE-4D51-4941-8A1F-37C04F240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114675"/>
            <a:ext cx="105156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8F871A4B-77CC-481F-9A58-36BB7DB6B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228975"/>
            <a:ext cx="190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Аутентикација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2DE99BA3-787D-4F2C-BED9-4C73A201E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3228975"/>
            <a:ext cx="3219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Да ли је идентитет потврђен?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69061B42-F00D-4F8F-ADD8-3314BACF5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228975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Успешна пријава се тумачи као широко овлашћење.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A59A50DA-1E0C-413E-833F-5FBE25B6F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95725"/>
            <a:ext cx="105156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7F4F5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601FB728-48F9-4B13-B6A8-D5C9914F6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010025"/>
            <a:ext cx="190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7651D4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Ауторизација</a:t>
            </a: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FDE3C03F-27BB-4B5B-83B1-C360331B2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4010025"/>
            <a:ext cx="3219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Да ли је радња дозвољена?</a:t>
            </a: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6045A866-9C38-454D-916A-FDB350897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010025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Провера постоји само у корисничком интерфејсу.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715FD743-BD2D-49E8-BD24-24DA18AC3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676775"/>
            <a:ext cx="105156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EDF8F2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DAB0B8FC-14AB-459D-95F4-18C922447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791075"/>
            <a:ext cx="190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Сесија</a:t>
            </a:r>
          </a:p>
        </p:txBody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BFC3FADF-D4A1-45FF-9D7E-F018D58E4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4791075"/>
            <a:ext cx="3219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У ком привременом контексту право важи?</a:t>
            </a:r>
          </a:p>
        </p:txBody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8CE71201-9B86-4F8E-A783-D4A1B9F53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791075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Token се третира као трајно право.</a:t>
            </a:r>
          </a:p>
        </p:txBody>
      </p:sp>
    </p:spTree>
    <p:extLst>
      <p:ext uri="{BB962C8B-B14F-4D97-AF65-F5344CB8AC3E}">
        <p14:creationId xmlns:p14="http://schemas.microsoft.com/office/powerpoint/2010/main" val="71378987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026E13D7-58FD-41C9-A563-3477E1106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"/>
            <a:ext cx="2952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7D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26B69FE5-CEFE-4EAE-9611-CED091981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2014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8D5560"/>
          </a:solidFill>
          <a:ln xmlns:a="http://schemas.openxmlformats.org/drawingml/2006/main" w="7144">
            <a:solidFill>
              <a:srgbClr val="8D5560"/>
            </a:solidFill>
            <a:prstDash val="solid"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75898848-ADCD-4686-8AC3-58920D0C3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770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8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8DE6942A-2DE1-4B1F-9B94-50AF2F44D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90575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RBAC и пословна одговорност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45D9964-183C-443A-9D38-D9D3A1673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3827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Улога групише ограничен скуп дозвола које одговарају одређеној пословној одговорности.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F00B13A3-1A24-49BD-A909-D02188CC7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47900"/>
            <a:ext cx="2857500" cy="2381250"/>
          </a:xfrm>
          <a:prstGeom xmlns:a="http://schemas.openxmlformats.org/drawingml/2006/main" prst="roundRect">
            <a:avLst>
              <a:gd name="adj" fmla="val 5600"/>
            </a:avLst>
          </a:prstGeom>
          <a:solidFill xmlns:a="http://schemas.openxmlformats.org/drawingml/2006/main">
            <a:srgbClr val="F4F6F9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E589B16D-B175-4346-B825-1D5725935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371725"/>
            <a:ext cx="2552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СУБЈЕКАТ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ADB29AF0-9C7F-4FFA-BE06-7958D282F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619375"/>
            <a:ext cx="2552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Оператер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18B95583-9F9E-48C9-AFD7-81611CAAD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09900"/>
            <a:ext cx="2552700" cy="1514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Активан идентитет коме је додељена одговорност у одређеном домену.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15E7DACB-2E15-4E4F-B046-34E22481F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247900"/>
            <a:ext cx="2857500" cy="2381250"/>
          </a:xfrm>
          <a:prstGeom xmlns:a="http://schemas.openxmlformats.org/drawingml/2006/main" prst="roundRect">
            <a:avLst>
              <a:gd name="adj" fmla="val 5600"/>
            </a:avLst>
          </a:prstGeom>
          <a:solidFill xmlns:a="http://schemas.openxmlformats.org/drawingml/2006/main">
            <a:srgbClr val="F7F4F5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1BACA10B-2AF9-4872-A230-C5CB07266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2371725"/>
            <a:ext cx="2552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7651D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УЛОГА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84E9129A-C627-43FB-843B-B7CF9CB34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2619375"/>
            <a:ext cx="2552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Оператер извештаја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C1AE4985-5AAA-4DDE-9D55-C11A11EA5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3009900"/>
            <a:ext cx="2552700" cy="1514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Група малих дозвола које имају заједничко пословно значење.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6FB5269A-F7D4-4718-A349-F03401F37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247900"/>
            <a:ext cx="2857500" cy="2381250"/>
          </a:xfrm>
          <a:prstGeom xmlns:a="http://schemas.openxmlformats.org/drawingml/2006/main" prst="roundRect">
            <a:avLst>
              <a:gd name="adj" fmla="val 5600"/>
            </a:avLst>
          </a:prstGeom>
          <a:solidFill xmlns:a="http://schemas.openxmlformats.org/drawingml/2006/main">
            <a:srgbClr val="EDF8F2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A4B28A61-CDEF-4D43-BA7E-E9408C9C8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371725"/>
            <a:ext cx="2552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ДОЗВОЛЕ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07C0A40A-24A9-4022-BB0C-005CCB925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619375"/>
            <a:ext cx="2552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Преглед, Извоз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923073E5-415B-4F51-BBCC-673F14CAC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009900"/>
            <a:ext cx="2552700" cy="1514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Конкретне радње, проверене серверски и ограничене опсегом.</a:t>
            </a:r>
          </a:p>
        </p:txBody>
      </p:sp>
      <p:cxnSp>
        <p:nvCxnSpPr>
          <p:cNvPr id="175" name="Straight Arrow Connector 98"/>
          <p:cNvCxnSpPr>
            <a:stCxn xmlns:a="http://schemas.openxmlformats.org/drawingml/2006/main" id="6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3657600" y="3438525"/>
            <a:ext cx="1009650" cy="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748092"/>
            </a:solidFill>
            <a:prstDash val="solid"/>
            <a:tailEnd type="arrow" w="sm" len="sm"/>
          </a:ln>
        </p:spPr>
      </p:cxnSp>
      <p:cxnSp>
        <p:nvCxnSpPr>
          <p:cNvPr id="176" name="Straight Arrow Connector 99"/>
          <p:cNvCxnSpPr>
            <a:stCxn xmlns:a="http://schemas.openxmlformats.org/drawingml/2006/main" id="10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7524750" y="3438525"/>
            <a:ext cx="1009650" cy="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748092"/>
            </a:solidFill>
            <a:prstDash val="solid"/>
            <a:tailEnd type="arrow" w="sm" len="sm"/>
          </a:ln>
        </p:spPr>
      </p:cxnSp>
      <p:sp>
        <p:nvSpPr>
          <p:cNvPr id="59" name="Rounded Rectangle 58">
            <a:extLst xmlns:a="http://schemas.openxmlformats.org/drawingml/2006/main">
              <a:ext uri="{FF2B5EF4-FFF2-40B4-BE49-F238E27FC236}">
                <a16:creationId xmlns:a16="http://schemas.microsoft.com/office/drawing/2014/main" id="{BFF77877-FC31-4219-A9E1-0E10BA189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933950"/>
            <a:ext cx="10363200" cy="8001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8573">
            <a:solidFill>
              <a:srgbClr val="DBC7CC"/>
            </a:solidFill>
            <a:prstDash val="solid"/>
          </a:ln>
        </p:spPr>
      </p:sp>
      <p:sp>
        <p:nvSpPr>
          <p:cNvPr id="60" name="Rounded Rectangle 59">
            <a:extLst xmlns:a="http://schemas.openxmlformats.org/drawingml/2006/main">
              <a:ext uri="{FF2B5EF4-FFF2-40B4-BE49-F238E27FC236}">
                <a16:creationId xmlns:a16="http://schemas.microsoft.com/office/drawing/2014/main" id="{CD364EE2-F8F4-4FEE-83DE-558F6F617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086350"/>
            <a:ext cx="5715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A2636"/>
          </a:solidFill>
          <a:ln xmlns:a="http://schemas.openxmlformats.org/drawingml/2006/main" w="0">
            <a:noFill/>
          </a:ln>
        </p:spPr>
      </p:sp>
      <p:sp>
        <p:nvSpPr>
          <p:cNvPr id="61" name="Rectangle 60">
            <a:extLst xmlns:a="http://schemas.openxmlformats.org/drawingml/2006/main">
              <a:ext uri="{FF2B5EF4-FFF2-40B4-BE49-F238E27FC236}">
                <a16:creationId xmlns:a16="http://schemas.microsoft.com/office/drawing/2014/main" id="{F305E315-1AB4-4A1B-8F86-8D8614F57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038725"/>
            <a:ext cx="9639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13" b="1">
                <a:solidFill>
                  <a:srgbClr val="2854D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ПРИНЦИП</a:t>
            </a:r>
          </a:p>
        </p:txBody>
      </p:sp>
      <p:sp>
        <p:nvSpPr>
          <p:cNvPr id="62" name="Rectangle 61">
            <a:extLst xmlns:a="http://schemas.openxmlformats.org/drawingml/2006/main">
              <a:ext uri="{FF2B5EF4-FFF2-40B4-BE49-F238E27FC236}">
                <a16:creationId xmlns:a16="http://schemas.microsoft.com/office/drawing/2014/main" id="{09A83D24-6614-49AC-A77E-6357D341C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267325"/>
            <a:ext cx="9639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B2432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B2432"/>
                </a:solidFill>
                <a:latin typeface="Aptos"/>
                <a:ea typeface="Aptos"/>
                <a:cs typeface="Aptos"/>
              </a:rPr>
              <a:t>Најмања привилегија: додели само право које је потребно, за опсег у коме је потребно и док потреба траје.</a:t>
            </a:r>
          </a:p>
        </p:txBody>
      </p:sp>
    </p:spTree>
    <p:extLst>
      <p:ext uri="{BB962C8B-B14F-4D97-AF65-F5344CB8AC3E}">
        <p14:creationId xmlns:p14="http://schemas.microsoft.com/office/powerpoint/2010/main" val="103632829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4D58DDC6-97CB-46D4-A7C0-61F20BAB0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"/>
            <a:ext cx="2952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7D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C415290F-9571-498F-A35C-1B6C48028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2014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8D5560"/>
          </a:solidFill>
          <a:ln xmlns:a="http://schemas.openxmlformats.org/drawingml/2006/main" w="7144">
            <a:solidFill>
              <a:srgbClr val="8D5560"/>
            </a:solidFill>
            <a:prstDash val="solid"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0EEE60D7-D254-4865-A1AB-C6C7786DB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770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1285357-9B1C-4A47-84CE-E8EEF72EB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90575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Серверска провера приступа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CDD2891-0133-45A0-A61A-E2783BE54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3827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Сервер проверава дозволу и контекст захтева независно од стања корисничког интерфејса.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25194924-79D2-41CD-B1E4-A3718CB64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76450"/>
            <a:ext cx="5715000" cy="3015750"/>
          </a:xfrm>
          <a:prstGeom xmlns:a="http://schemas.openxmlformats.org/drawingml/2006/main" prst="roundRect">
            <a:avLst>
              <a:gd name="adj" fmla="val 4059"/>
            </a:avLst>
          </a:prstGeom>
          <a:solidFill xmlns:a="http://schemas.openxmlformats.org/drawingml/2006/main">
            <a:srgbClr val="F4F6F7"/>
          </a:solidFill>
          <a:ln xmlns:a="http://schemas.openxmlformats.org/drawingml/2006/main" w="9525">
            <a:solidFill>
              <a:srgbClr val="CCD6D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ajor"/>
        </p:style>
      </p:sp>
      <p:sp>
        <p:nvSpPr>
          <p:cNvPr id="7" name="Straight Connector 6">
            <a:extLst xmlns:a="http://schemas.openxmlformats.org/drawingml/2006/main">
              <a:ext uri="{FF2B5EF4-FFF2-40B4-BE49-F238E27FC236}">
                <a16:creationId xmlns:a16="http://schemas.microsoft.com/office/drawing/2014/main" id="{47EAC3A0-5861-4DC3-8020-CC9C99DF5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38400"/>
            <a:ext cx="57150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AFBEC9"/>
          </a:solidFill>
          <a:ln xmlns:a="http://schemas.openxmlformats.org/drawingml/2006/main" w="9525">
            <a:solidFill>
              <a:srgbClr val="AFBEC9"/>
            </a:solidFill>
            <a:prstDash val="solid"/>
          </a:ln>
        </p:spPr>
      </p:sp>
      <p:sp>
        <p:nvSpPr>
          <p:cNvPr id="8" name="Oval 7">
            <a:extLst xmlns:a="http://schemas.openxmlformats.org/drawingml/2006/main">
              <a:ext uri="{FF2B5EF4-FFF2-40B4-BE49-F238E27FC236}">
                <a16:creationId xmlns:a16="http://schemas.microsoft.com/office/drawing/2014/main" id="{F2968048-8275-4DE6-9E10-631517C85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2195513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6A60"/>
          </a:solidFill>
          <a:ln xmlns:a="http://schemas.openxmlformats.org/drawingml/2006/main" w="0">
            <a:noFill/>
          </a:ln>
        </p:spPr>
      </p:sp>
      <p:sp>
        <p:nvSpPr>
          <p:cNvPr id="9" name="Oval 8">
            <a:extLst xmlns:a="http://schemas.openxmlformats.org/drawingml/2006/main">
              <a:ext uri="{FF2B5EF4-FFF2-40B4-BE49-F238E27FC236}">
                <a16:creationId xmlns:a16="http://schemas.microsoft.com/office/drawing/2014/main" id="{313F8929-4F6D-4595-A8E3-D65A71D54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3613" y="2195513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BD42"/>
          </a:solidFill>
          <a:ln xmlns:a="http://schemas.openxmlformats.org/drawingml/2006/main" w="0">
            <a:noFill/>
          </a:ln>
        </p:spPr>
      </p:sp>
      <p:sp>
        <p:nvSpPr>
          <p:cNvPr id="10" name="Oval 9">
            <a:extLst xmlns:a="http://schemas.openxmlformats.org/drawingml/2006/main">
              <a:ext uri="{FF2B5EF4-FFF2-40B4-BE49-F238E27FC236}">
                <a16:creationId xmlns:a16="http://schemas.microsoft.com/office/drawing/2014/main" id="{0E2EC048-5FD2-40B2-B83E-F8EB1A57E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2195513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5C466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2673AC6B-F9F4-411E-816E-415F0265F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590800"/>
            <a:ext cx="304800" cy="2971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ts val="1300"/>
              </a:lnSpc>
              <a:buNone/>
              <a:defRPr sz="1050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1</a:t>
            </a:r>
          </a:p>
          <a:p xmlns:a="http://schemas.openxmlformats.org/drawingml/2006/main">
            <a:pPr algn="r">
              <a:lnSpc>
                <a:spcPts val="1300"/>
              </a:lnSpc>
              <a:buNone/>
              <a:defRPr sz="1050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2</a:t>
            </a:r>
          </a:p>
          <a:p xmlns:a="http://schemas.openxmlformats.org/drawingml/2006/main">
            <a:pPr algn="r">
              <a:lnSpc>
                <a:spcPts val="1300"/>
              </a:lnSpc>
              <a:buNone/>
              <a:defRPr sz="1050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3</a:t>
            </a:r>
          </a:p>
          <a:p xmlns:a="http://schemas.openxmlformats.org/drawingml/2006/main">
            <a:pPr algn="r">
              <a:lnSpc>
                <a:spcPts val="1300"/>
              </a:lnSpc>
              <a:buNone/>
              <a:defRPr sz="1050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4</a:t>
            </a:r>
          </a:p>
          <a:p xmlns:a="http://schemas.openxmlformats.org/drawingml/2006/main">
            <a:pPr algn="r">
              <a:lnSpc>
                <a:spcPts val="1300"/>
              </a:lnSpc>
              <a:buNone/>
              <a:defRPr sz="1050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5</a:t>
            </a:r>
          </a:p>
          <a:p xmlns:a="http://schemas.openxmlformats.org/drawingml/2006/main">
            <a:pPr algn="r">
              <a:lnSpc>
                <a:spcPts val="1300"/>
              </a:lnSpc>
              <a:buNone/>
              <a:defRPr sz="1050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6</a:t>
            </a:r>
          </a:p>
          <a:p xmlns:a="http://schemas.openxmlformats.org/drawingml/2006/main">
            <a:pPr algn="r">
              <a:lnSpc>
                <a:spcPts val="1300"/>
              </a:lnSpc>
              <a:buNone/>
              <a:defRPr sz="1050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7</a:t>
            </a:r>
          </a:p>
          <a:p xmlns:a="http://schemas.openxmlformats.org/drawingml/2006/main">
            <a:pPr algn="r">
              <a:lnSpc>
                <a:spcPts val="1300"/>
              </a:lnSpc>
              <a:buNone/>
              <a:defRPr sz="1050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8</a:t>
            </a:r>
          </a:p>
          <a:p xmlns:a="http://schemas.openxmlformats.org/drawingml/2006/main">
            <a:pPr algn="r">
              <a:lnSpc>
                <a:spcPts val="1300"/>
              </a:lnSpc>
              <a:buNone/>
              <a:defRPr sz="1050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9</a:t>
            </a:r>
          </a:p>
          <a:p xmlns:a="http://schemas.openxmlformats.org/drawingml/2006/main">
            <a:pPr algn="r">
              <a:lnSpc>
                <a:spcPts val="1300"/>
              </a:lnSpc>
              <a:buNone/>
              <a:defRPr sz="1050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10</a:t>
            </a:r>
          </a:p>
          <a:p xmlns:a="http://schemas.openxmlformats.org/drawingml/2006/main">
            <a:pPr algn="r">
              <a:lnSpc>
                <a:spcPts val="1300"/>
              </a:lnSpc>
              <a:buNone/>
              <a:defRPr sz="1050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11</a:t>
            </a:r>
          </a:p>
          <a:p xmlns:a="http://schemas.openxmlformats.org/drawingml/2006/main">
            <a:pPr algn="r">
              <a:lnSpc>
                <a:spcPts val="1300"/>
              </a:lnSpc>
              <a:buNone/>
              <a:defRPr sz="1050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12</a:t>
            </a:r>
          </a:p>
          <a:p xmlns:a="http://schemas.openxmlformats.org/drawingml/2006/main">
            <a:pPr algn="r">
              <a:lnSpc>
                <a:spcPts val="1300"/>
              </a:lnSpc>
              <a:buNone/>
              <a:defRPr sz="1050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13</a:t>
            </a:r>
          </a:p>
          <a:p xmlns:a="http://schemas.openxmlformats.org/drawingml/2006/main">
            <a:pPr algn="r">
              <a:lnSpc>
                <a:spcPts val="1300"/>
              </a:lnSpc>
              <a:buNone/>
              <a:defRPr sz="1050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14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886B77BE-6699-4A1A-9DA2-51FE33EBC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590800"/>
            <a:ext cx="4972050" cy="2971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ts val="1300"/>
              </a:lnSpc>
              <a:buNone/>
              <a:defRPr sz="1125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1">
                <a:solidFill>
                  <a:srgbClr val="0067C5"/>
                </a:solidFill>
              </a:rPr>
              <a:t>public</a:t>
            </a:r>
            <a:r>
              <a:rPr b="0">
                <a:solidFill>
                  <a:srgbClr val="263044"/>
                </a:solidFill>
              </a:rPr>
              <a:t> </a:t>
            </a:r>
            <a:r>
              <a:rPr b="0">
                <a:solidFill>
                  <a:srgbClr val="7651D4"/>
                </a:solidFill>
              </a:rPr>
              <a:t>AccessDecision</a:t>
            </a:r>
            <a:r>
              <a:rPr b="0">
                <a:solidFill>
                  <a:srgbClr val="263044"/>
                </a:solidFill>
              </a:rPr>
              <a:t> </a:t>
            </a:r>
            <a:r>
              <a:rPr b="0">
                <a:solidFill>
                  <a:srgbClr val="7651D4"/>
                </a:solidFill>
              </a:rPr>
              <a:t>Decide</a:t>
            </a:r>
            <a:r>
              <a:rPr b="0">
                <a:solidFill>
                  <a:srgbClr val="263044"/>
                </a:solidFill>
              </a:rPr>
              <a:t>(</a:t>
            </a:r>
            <a:r>
              <a:rPr b="0">
                <a:solidFill>
                  <a:srgbClr val="7651D4"/>
                </a:solidFill>
              </a:rPr>
              <a:t>Actor</a:t>
            </a:r>
            <a:r>
              <a:rPr b="0">
                <a:solidFill>
                  <a:srgbClr val="263044"/>
                </a:solidFill>
              </a:rPr>
              <a:t> actor, </a:t>
            </a:r>
            <a:r>
              <a:rPr b="1">
                <a:solidFill>
                  <a:srgbClr val="0067C5"/>
                </a:solidFill>
              </a:rPr>
              <a:t>string</a:t>
            </a:r>
            <a:r>
              <a:rPr b="0">
                <a:solidFill>
                  <a:srgbClr val="263044"/>
                </a:solidFill>
              </a:rPr>
              <a:t> permission,</a:t>
            </a:r>
          </a:p>
          <a:p xmlns:a="http://schemas.openxmlformats.org/drawingml/2006/main">
            <a:pPr>
              <a:lnSpc>
                <a:spcPts val="1300"/>
              </a:lnSpc>
              <a:buNone/>
              <a:defRPr sz="1125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    </a:t>
            </a:r>
            <a:r>
              <a:rPr b="0">
                <a:solidFill>
                  <a:srgbClr val="7651D4"/>
                </a:solidFill>
              </a:rPr>
              <a:t>IEnumerable</a:t>
            </a:r>
            <a:r>
              <a:rPr b="0">
                <a:solidFill>
                  <a:srgbClr val="263044"/>
                </a:solidFill>
              </a:rPr>
              <a:t>&lt;</a:t>
            </a:r>
            <a:r>
              <a:rPr b="0">
                <a:solidFill>
                  <a:srgbClr val="7651D4"/>
                </a:solidFill>
              </a:rPr>
              <a:t>Role</a:t>
            </a:r>
            <a:r>
              <a:rPr b="0">
                <a:solidFill>
                  <a:srgbClr val="263044"/>
                </a:solidFill>
              </a:rPr>
              <a:t>&gt; assignedRoles)</a:t>
            </a:r>
          </a:p>
          <a:p xmlns:a="http://schemas.openxmlformats.org/drawingml/2006/main">
            <a:pPr>
              <a:lnSpc>
                <a:spcPts val="1300"/>
              </a:lnSpc>
              <a:buNone/>
              <a:defRPr sz="1125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{</a:t>
            </a:r>
          </a:p>
          <a:p xmlns:a="http://schemas.openxmlformats.org/drawingml/2006/main">
            <a:pPr>
              <a:lnSpc>
                <a:spcPts val="1300"/>
              </a:lnSpc>
              <a:buNone/>
              <a:defRPr sz="1125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    </a:t>
            </a:r>
            <a:r>
              <a:rPr b="1">
                <a:solidFill>
                  <a:srgbClr val="0067C5"/>
                </a:solidFill>
              </a:rPr>
              <a:t>if</a:t>
            </a:r>
            <a:r>
              <a:rPr b="0">
                <a:solidFill>
                  <a:srgbClr val="263044"/>
                </a:solidFill>
              </a:rPr>
              <a:t> (!actor.</a:t>
            </a:r>
            <a:r>
              <a:rPr b="0">
                <a:solidFill>
                  <a:srgbClr val="7651D4"/>
                </a:solidFill>
              </a:rPr>
              <a:t>IsAuthenticated</a:t>
            </a:r>
            <a:r>
              <a:rPr b="0">
                <a:solidFill>
                  <a:srgbClr val="263044"/>
                </a:solidFill>
              </a:rPr>
              <a:t>)</a:t>
            </a:r>
          </a:p>
          <a:p xmlns:a="http://schemas.openxmlformats.org/drawingml/2006/main">
            <a:pPr>
              <a:lnSpc>
                <a:spcPts val="1300"/>
              </a:lnSpc>
              <a:buNone/>
              <a:defRPr sz="1125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        </a:t>
            </a:r>
            <a:r>
              <a:rPr b="1">
                <a:solidFill>
                  <a:srgbClr val="0067C5"/>
                </a:solidFill>
              </a:rPr>
              <a:t>return</a:t>
            </a:r>
            <a:r>
              <a:rPr b="0">
                <a:solidFill>
                  <a:srgbClr val="263044"/>
                </a:solidFill>
              </a:rPr>
              <a:t> </a:t>
            </a:r>
            <a:r>
              <a:rPr b="1">
                <a:solidFill>
                  <a:srgbClr val="0067C5"/>
                </a:solidFill>
              </a:rPr>
              <a:t>new</a:t>
            </a:r>
            <a:r>
              <a:rPr b="0">
                <a:solidFill>
                  <a:srgbClr val="263044"/>
                </a:solidFill>
              </a:rPr>
              <a:t>(</a:t>
            </a:r>
            <a:r>
              <a:rPr b="1">
                <a:solidFill>
                  <a:srgbClr val="0067C5"/>
                </a:solidFill>
              </a:rPr>
              <a:t>false</a:t>
            </a:r>
            <a:r>
              <a:rPr b="0">
                <a:solidFill>
                  <a:srgbClr val="263044"/>
                </a:solidFill>
              </a:rPr>
              <a:t>, </a:t>
            </a:r>
            <a:r>
              <a:rPr b="0">
                <a:solidFill>
                  <a:srgbClr val="7651D4"/>
                </a:solidFill>
              </a:rPr>
              <a:t>AccessDecisionCodes</a:t>
            </a:r>
            <a:r>
              <a:rPr b="0">
                <a:solidFill>
                  <a:srgbClr val="263044"/>
                </a:solidFill>
              </a:rPr>
              <a:t>.</a:t>
            </a:r>
            <a:r>
              <a:rPr b="0">
                <a:solidFill>
                  <a:srgbClr val="7651D4"/>
                </a:solidFill>
              </a:rPr>
              <a:t>NotAuthenticated</a:t>
            </a:r>
            <a:r>
              <a:rPr b="0">
                <a:solidFill>
                  <a:srgbClr val="263044"/>
                </a:solidFill>
              </a:rPr>
              <a:t>,</a:t>
            </a:r>
          </a:p>
          <a:p xmlns:a="http://schemas.openxmlformats.org/drawingml/2006/main">
            <a:pPr>
              <a:lnSpc>
                <a:spcPts val="1300"/>
              </a:lnSpc>
              <a:buNone/>
              <a:defRPr sz="1125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            </a:t>
            </a:r>
            <a:r>
              <a:rPr b="0">
                <a:solidFill>
                  <a:srgbClr val="B45309"/>
                </a:solidFill>
              </a:rPr>
              <a:t>"Identitet nije potvrđen."</a:t>
            </a:r>
            <a:r>
              <a:rPr b="0">
                <a:solidFill>
                  <a:srgbClr val="263044"/>
                </a:solidFill>
              </a:rPr>
              <a:t>);</a:t>
            </a:r>
          </a:p>
          <a:p xmlns:a="http://schemas.openxmlformats.org/drawingml/2006/main">
            <a:pPr>
              <a:lnSpc>
                <a:spcPts val="1300"/>
              </a:lnSpc>
              <a:buNone/>
              <a:defRPr sz="1125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 </a:t>
            </a:r>
          </a:p>
          <a:p xmlns:a="http://schemas.openxmlformats.org/drawingml/2006/main">
            <a:pPr>
              <a:lnSpc>
                <a:spcPts val="1300"/>
              </a:lnSpc>
              <a:buNone/>
              <a:defRPr sz="1125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    </a:t>
            </a:r>
            <a:r>
              <a:rPr b="1">
                <a:solidFill>
                  <a:srgbClr val="0067C5"/>
                </a:solidFill>
              </a:rPr>
              <a:t>var</a:t>
            </a:r>
            <a:r>
              <a:rPr b="0">
                <a:solidFill>
                  <a:srgbClr val="263044"/>
                </a:solidFill>
              </a:rPr>
              <a:t> grantingRole = assignedRoles</a:t>
            </a:r>
          </a:p>
          <a:p xmlns:a="http://schemas.openxmlformats.org/drawingml/2006/main">
            <a:pPr>
              <a:lnSpc>
                <a:spcPts val="1300"/>
              </a:lnSpc>
              <a:buNone/>
              <a:defRPr sz="1125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        .</a:t>
            </a:r>
            <a:r>
              <a:rPr b="0">
                <a:solidFill>
                  <a:srgbClr val="7651D4"/>
                </a:solidFill>
              </a:rPr>
              <a:t>FirstOrDefault</a:t>
            </a:r>
            <a:r>
              <a:rPr b="0">
                <a:solidFill>
                  <a:srgbClr val="263044"/>
                </a:solidFill>
              </a:rPr>
              <a:t>(role =&gt; </a:t>
            </a:r>
            <a:r>
              <a:rPr b="0">
                <a:solidFill>
                  <a:srgbClr val="7651D4"/>
                </a:solidFill>
              </a:rPr>
              <a:t>Grants</a:t>
            </a:r>
            <a:r>
              <a:rPr b="0">
                <a:solidFill>
                  <a:srgbClr val="263044"/>
                </a:solidFill>
              </a:rPr>
              <a:t>(role, permission));</a:t>
            </a:r>
          </a:p>
          <a:p xmlns:a="http://schemas.openxmlformats.org/drawingml/2006/main">
            <a:pPr>
              <a:lnSpc>
                <a:spcPts val="1300"/>
              </a:lnSpc>
              <a:buNone/>
              <a:defRPr sz="1125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    </a:t>
            </a:r>
            <a:r>
              <a:rPr b="1">
                <a:solidFill>
                  <a:srgbClr val="0067C5"/>
                </a:solidFill>
              </a:rPr>
              <a:t>return</a:t>
            </a:r>
            <a:r>
              <a:rPr b="0">
                <a:solidFill>
                  <a:srgbClr val="263044"/>
                </a:solidFill>
              </a:rPr>
              <a:t> grantingRole </a:t>
            </a:r>
            <a:r>
              <a:rPr b="1">
                <a:solidFill>
                  <a:srgbClr val="0067C5"/>
                </a:solidFill>
              </a:rPr>
              <a:t>is</a:t>
            </a:r>
            <a:r>
              <a:rPr b="0">
                <a:solidFill>
                  <a:srgbClr val="263044"/>
                </a:solidFill>
              </a:rPr>
              <a:t> </a:t>
            </a:r>
            <a:r>
              <a:rPr b="1">
                <a:solidFill>
                  <a:srgbClr val="0067C5"/>
                </a:solidFill>
              </a:rPr>
              <a:t>null</a:t>
            </a:r>
          </a:p>
          <a:p xmlns:a="http://schemas.openxmlformats.org/drawingml/2006/main">
            <a:pPr>
              <a:lnSpc>
                <a:spcPts val="1300"/>
              </a:lnSpc>
              <a:buNone/>
              <a:defRPr sz="1125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        ? </a:t>
            </a:r>
            <a:r>
              <a:rPr b="1">
                <a:solidFill>
                  <a:srgbClr val="0067C5"/>
                </a:solidFill>
              </a:rPr>
              <a:t>new</a:t>
            </a:r>
            <a:r>
              <a:rPr b="0">
                <a:solidFill>
                  <a:srgbClr val="263044"/>
                </a:solidFill>
              </a:rPr>
              <a:t>(</a:t>
            </a:r>
            <a:r>
              <a:rPr b="1">
                <a:solidFill>
                  <a:srgbClr val="0067C5"/>
                </a:solidFill>
              </a:rPr>
              <a:t>false</a:t>
            </a:r>
            <a:r>
              <a:rPr b="0">
                <a:solidFill>
                  <a:srgbClr val="263044"/>
                </a:solidFill>
              </a:rPr>
              <a:t>,</a:t>
            </a:r>
          </a:p>
          <a:p xmlns:a="http://schemas.openxmlformats.org/drawingml/2006/main">
            <a:pPr>
              <a:lnSpc>
                <a:spcPts val="1300"/>
              </a:lnSpc>
              <a:buNone/>
              <a:defRPr sz="1125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            </a:t>
            </a:r>
            <a:r>
              <a:rPr b="0">
                <a:solidFill>
                  <a:srgbClr val="7651D4"/>
                </a:solidFill>
              </a:rPr>
              <a:t>AccessDecisionCodes</a:t>
            </a:r>
            <a:r>
              <a:rPr b="0">
                <a:solidFill>
                  <a:srgbClr val="263044"/>
                </a:solidFill>
              </a:rPr>
              <a:t>.</a:t>
            </a:r>
            <a:r>
              <a:rPr b="0">
                <a:solidFill>
                  <a:srgbClr val="7651D4"/>
                </a:solidFill>
              </a:rPr>
              <a:t>PermissionNotGranted</a:t>
            </a:r>
            <a:r>
              <a:rPr b="0">
                <a:solidFill>
                  <a:srgbClr val="263044"/>
                </a:solidFill>
              </a:rPr>
              <a:t>, …)</a:t>
            </a:r>
          </a:p>
          <a:p xmlns:a="http://schemas.openxmlformats.org/drawingml/2006/main">
            <a:pPr>
              <a:lnSpc>
                <a:spcPts val="1300"/>
              </a:lnSpc>
              <a:buNone/>
              <a:defRPr sz="1125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        : </a:t>
            </a:r>
            <a:r>
              <a:rPr b="1">
                <a:solidFill>
                  <a:srgbClr val="0067C5"/>
                </a:solidFill>
              </a:rPr>
              <a:t>new</a:t>
            </a:r>
            <a:r>
              <a:rPr b="0">
                <a:solidFill>
                  <a:srgbClr val="263044"/>
                </a:solidFill>
              </a:rPr>
              <a:t>(</a:t>
            </a:r>
            <a:r>
              <a:rPr b="1">
                <a:solidFill>
                  <a:srgbClr val="0067C5"/>
                </a:solidFill>
              </a:rPr>
              <a:t>true</a:t>
            </a:r>
            <a:r>
              <a:rPr b="0">
                <a:solidFill>
                  <a:srgbClr val="263044"/>
                </a:solidFill>
              </a:rPr>
              <a:t>, </a:t>
            </a:r>
            <a:r>
              <a:rPr b="0">
                <a:solidFill>
                  <a:srgbClr val="7651D4"/>
                </a:solidFill>
              </a:rPr>
              <a:t>AccessDecisionCodes</a:t>
            </a:r>
            <a:r>
              <a:rPr b="0">
                <a:solidFill>
                  <a:srgbClr val="263044"/>
                </a:solidFill>
              </a:rPr>
              <a:t>.</a:t>
            </a:r>
            <a:r>
              <a:rPr b="0">
                <a:solidFill>
                  <a:srgbClr val="7651D4"/>
                </a:solidFill>
              </a:rPr>
              <a:t>GrantedByRole</a:t>
            </a:r>
            <a:r>
              <a:rPr b="0">
                <a:solidFill>
                  <a:srgbClr val="263044"/>
                </a:solidFill>
              </a:rPr>
              <a:t>, …);</a:t>
            </a:r>
          </a:p>
          <a:p xmlns:a="http://schemas.openxmlformats.org/drawingml/2006/main">
            <a:pPr>
              <a:lnSpc>
                <a:spcPts val="1300"/>
              </a:lnSpc>
              <a:buNone/>
              <a:defRPr sz="1125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}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9B011E32-DDBB-4A1C-807A-1BD079175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190750"/>
            <a:ext cx="438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ТУМАЧЕЊЕ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DBA3BA8E-ECC6-4818-9C87-EB748F764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686050"/>
            <a:ext cx="4381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279400" indent="-152400">
              <a:lnSpc>
                <a:spcPct val="112000"/>
              </a:lnSpc>
              <a:buNone/>
              <a:defRPr sz="1425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425">
                <a:solidFill>
                  <a:srgbClr val="1A202C"/>
                </a:solidFill>
                <a:latin typeface="Aptos"/>
                <a:ea typeface="Aptos"/>
                <a:cs typeface="Aptos"/>
              </a:rPr>
              <a:t>Пријава даје идентитет, не право на радњу.</a:t>
            </a:r>
          </a:p>
          <a:p xmlns:a="http://schemas.openxmlformats.org/drawingml/2006/main">
            <a:pPr marL="279400" indent="-152400">
              <a:lnSpc>
                <a:spcPct val="112000"/>
              </a:lnSpc>
              <a:buNone/>
              <a:defRPr sz="1425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425">
                <a:solidFill>
                  <a:srgbClr val="1A202C"/>
                </a:solidFill>
                <a:latin typeface="Aptos"/>
                <a:ea typeface="Aptos"/>
                <a:cs typeface="Aptos"/>
              </a:rPr>
              <a:t>Дозвола је именована као конкретна радња.</a:t>
            </a:r>
          </a:p>
          <a:p xmlns:a="http://schemas.openxmlformats.org/drawingml/2006/main">
            <a:pPr marL="279400" indent="-152400">
              <a:lnSpc>
                <a:spcPct val="112000"/>
              </a:lnSpc>
              <a:buNone/>
              <a:defRPr sz="1425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425">
                <a:solidFill>
                  <a:srgbClr val="1A202C"/>
                </a:solidFill>
                <a:latin typeface="Aptos"/>
                <a:ea typeface="Aptos"/>
                <a:cs typeface="Aptos"/>
              </a:rPr>
              <a:t>Одлуку доноси улога која додељује дозволу.</a:t>
            </a:r>
          </a:p>
          <a:p xmlns:a="http://schemas.openxmlformats.org/drawingml/2006/main">
            <a:pPr marL="279400" indent="-152400">
              <a:lnSpc>
                <a:spcPct val="112000"/>
              </a:lnSpc>
              <a:buNone/>
              <a:defRPr sz="1425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425">
                <a:solidFill>
                  <a:srgbClr val="1A202C"/>
                </a:solidFill>
                <a:latin typeface="Aptos"/>
                <a:ea typeface="Aptos"/>
                <a:cs typeface="Aptos"/>
              </a:rPr>
              <a:t>Свако одбијање има стабилан код.</a:t>
            </a:r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7AC26AD0-C46F-46DE-A444-545934679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953000"/>
            <a:ext cx="4381500" cy="762000"/>
          </a:xfrm>
          <a:prstGeom xmlns:a="http://schemas.openxmlformats.org/drawingml/2006/main" prst="roundRect">
            <a:avLst>
              <a:gd name="adj" fmla="val 17500"/>
            </a:avLst>
          </a:prstGeom>
          <a:solidFill xmlns:a="http://schemas.openxmlformats.org/drawingml/2006/main">
            <a:srgbClr val="FFF6E9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16E0C42A-9D83-4F93-A2C1-1862C64EF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5124450"/>
            <a:ext cx="407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UI је помоћ, не контрола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2FA1E531-5AF5-4510-96B2-3F6CD5558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5457825"/>
            <a:ext cx="40767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7399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Исти захтев мора бити безбедан и када се API позове директно.</a:t>
            </a:r>
          </a:p>
        </p:txBody>
      </p:sp>
    </p:spTree>
    <p:extLst>
      <p:ext uri="{BB962C8B-B14F-4D97-AF65-F5344CB8AC3E}">
        <p14:creationId xmlns:p14="http://schemas.microsoft.com/office/powerpoint/2010/main" val="22954270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EC904903-2F01-4A7E-B0A3-2A58D3C65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"/>
            <a:ext cx="2952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7D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B88A07A0-08BA-4CA7-8664-BBF5A9CA7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2014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8D5560"/>
          </a:solidFill>
          <a:ln xmlns:a="http://schemas.openxmlformats.org/drawingml/2006/main" w="7144">
            <a:solidFill>
              <a:srgbClr val="8D5560"/>
            </a:solidFill>
            <a:prstDash val="solid"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85D3B50D-8656-4940-AB9D-9554D4F66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770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49C2D69-B8CF-4839-BEB3-DE4F4607B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90575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Негативни тестови ауторизације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52CA0E9-8D8C-4BC2-860C-675711BD8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3827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Тестови одбијања дефинишу границе дозволе и показују да сервер доследно спроводи правило.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42EE5BA3-FEDC-4202-97B6-69B17E7DF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76450"/>
            <a:ext cx="5905500" cy="2850650"/>
          </a:xfrm>
          <a:prstGeom xmlns:a="http://schemas.openxmlformats.org/drawingml/2006/main" prst="roundRect">
            <a:avLst>
              <a:gd name="adj" fmla="val 4049"/>
            </a:avLst>
          </a:prstGeom>
          <a:solidFill xmlns:a="http://schemas.openxmlformats.org/drawingml/2006/main">
            <a:srgbClr val="F4F6F7"/>
          </a:solidFill>
          <a:ln xmlns:a="http://schemas.openxmlformats.org/drawingml/2006/main" w="9525">
            <a:solidFill>
              <a:srgbClr val="CCD6D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ajor"/>
        </p:style>
      </p:sp>
      <p:sp>
        <p:nvSpPr>
          <p:cNvPr id="7" name="Straight Connector 6">
            <a:extLst xmlns:a="http://schemas.openxmlformats.org/drawingml/2006/main">
              <a:ext uri="{FF2B5EF4-FFF2-40B4-BE49-F238E27FC236}">
                <a16:creationId xmlns:a16="http://schemas.microsoft.com/office/drawing/2014/main" id="{38FA38DD-4206-470E-A674-D1AD176CF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38400"/>
            <a:ext cx="59055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AFBEC9"/>
          </a:solidFill>
          <a:ln xmlns:a="http://schemas.openxmlformats.org/drawingml/2006/main" w="9525">
            <a:solidFill>
              <a:srgbClr val="AFBEC9"/>
            </a:solidFill>
            <a:prstDash val="solid"/>
          </a:ln>
        </p:spPr>
      </p:sp>
      <p:sp>
        <p:nvSpPr>
          <p:cNvPr id="8" name="Oval 7">
            <a:extLst xmlns:a="http://schemas.openxmlformats.org/drawingml/2006/main">
              <a:ext uri="{FF2B5EF4-FFF2-40B4-BE49-F238E27FC236}">
                <a16:creationId xmlns:a16="http://schemas.microsoft.com/office/drawing/2014/main" id="{60961886-438E-450B-9B90-1A4D17F9C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195513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6A60"/>
          </a:solidFill>
          <a:ln xmlns:a="http://schemas.openxmlformats.org/drawingml/2006/main" w="0">
            <a:noFill/>
          </a:ln>
        </p:spPr>
      </p:sp>
      <p:sp>
        <p:nvSpPr>
          <p:cNvPr id="9" name="Oval 8">
            <a:extLst xmlns:a="http://schemas.openxmlformats.org/drawingml/2006/main">
              <a:ext uri="{FF2B5EF4-FFF2-40B4-BE49-F238E27FC236}">
                <a16:creationId xmlns:a16="http://schemas.microsoft.com/office/drawing/2014/main" id="{2BBA4B40-C062-43BA-9F3E-5A27FA0AB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4113" y="2195513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BD42"/>
          </a:solidFill>
          <a:ln xmlns:a="http://schemas.openxmlformats.org/drawingml/2006/main" w="0">
            <a:noFill/>
          </a:ln>
        </p:spPr>
      </p:sp>
      <p:sp>
        <p:nvSpPr>
          <p:cNvPr id="10" name="Oval 9">
            <a:extLst xmlns:a="http://schemas.openxmlformats.org/drawingml/2006/main">
              <a:ext uri="{FF2B5EF4-FFF2-40B4-BE49-F238E27FC236}">
                <a16:creationId xmlns:a16="http://schemas.microsoft.com/office/drawing/2014/main" id="{F6404B61-DA09-48E5-B196-B815CCF3C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195513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5C466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A6FF28B9-8C9C-45BA-B492-BAC9F3093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590800"/>
            <a:ext cx="304800" cy="2971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ts val="1300"/>
              </a:lnSpc>
              <a:buNone/>
              <a:defRPr sz="1013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1</a:t>
            </a:r>
          </a:p>
          <a:p xmlns:a="http://schemas.openxmlformats.org/drawingml/2006/main">
            <a:pPr algn="r">
              <a:lnSpc>
                <a:spcPts val="1300"/>
              </a:lnSpc>
              <a:buNone/>
              <a:defRPr sz="1013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2</a:t>
            </a:r>
          </a:p>
          <a:p xmlns:a="http://schemas.openxmlformats.org/drawingml/2006/main">
            <a:pPr algn="r">
              <a:lnSpc>
                <a:spcPts val="1300"/>
              </a:lnSpc>
              <a:buNone/>
              <a:defRPr sz="1013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3</a:t>
            </a:r>
          </a:p>
          <a:p xmlns:a="http://schemas.openxmlformats.org/drawingml/2006/main">
            <a:pPr algn="r">
              <a:lnSpc>
                <a:spcPts val="1300"/>
              </a:lnSpc>
              <a:buNone/>
              <a:defRPr sz="1013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4</a:t>
            </a:r>
          </a:p>
          <a:p xmlns:a="http://schemas.openxmlformats.org/drawingml/2006/main">
            <a:pPr algn="r">
              <a:lnSpc>
                <a:spcPts val="1300"/>
              </a:lnSpc>
              <a:buNone/>
              <a:defRPr sz="1013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5</a:t>
            </a:r>
          </a:p>
          <a:p xmlns:a="http://schemas.openxmlformats.org/drawingml/2006/main">
            <a:pPr algn="r">
              <a:lnSpc>
                <a:spcPts val="1300"/>
              </a:lnSpc>
              <a:buNone/>
              <a:defRPr sz="1013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6</a:t>
            </a:r>
          </a:p>
          <a:p xmlns:a="http://schemas.openxmlformats.org/drawingml/2006/main">
            <a:pPr algn="r">
              <a:lnSpc>
                <a:spcPts val="1300"/>
              </a:lnSpc>
              <a:buNone/>
              <a:defRPr sz="1013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7</a:t>
            </a:r>
          </a:p>
          <a:p xmlns:a="http://schemas.openxmlformats.org/drawingml/2006/main">
            <a:pPr algn="r">
              <a:lnSpc>
                <a:spcPts val="1300"/>
              </a:lnSpc>
              <a:buNone/>
              <a:defRPr sz="1013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8</a:t>
            </a:r>
          </a:p>
          <a:p xmlns:a="http://schemas.openxmlformats.org/drawingml/2006/main">
            <a:pPr algn="r">
              <a:lnSpc>
                <a:spcPts val="1300"/>
              </a:lnSpc>
              <a:buNone/>
              <a:defRPr sz="1013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9</a:t>
            </a:r>
          </a:p>
          <a:p xmlns:a="http://schemas.openxmlformats.org/drawingml/2006/main">
            <a:pPr algn="r">
              <a:lnSpc>
                <a:spcPts val="1300"/>
              </a:lnSpc>
              <a:buNone/>
              <a:defRPr sz="1013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10</a:t>
            </a:r>
          </a:p>
          <a:p xmlns:a="http://schemas.openxmlformats.org/drawingml/2006/main">
            <a:pPr algn="r">
              <a:lnSpc>
                <a:spcPts val="1300"/>
              </a:lnSpc>
              <a:buNone/>
              <a:defRPr sz="1013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11</a:t>
            </a:r>
          </a:p>
          <a:p xmlns:a="http://schemas.openxmlformats.org/drawingml/2006/main">
            <a:pPr algn="r">
              <a:lnSpc>
                <a:spcPts val="1300"/>
              </a:lnSpc>
              <a:buNone/>
              <a:defRPr sz="1013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12</a:t>
            </a:r>
          </a:p>
          <a:p xmlns:a="http://schemas.openxmlformats.org/drawingml/2006/main">
            <a:pPr algn="r">
              <a:lnSpc>
                <a:spcPts val="1300"/>
              </a:lnSpc>
              <a:buNone/>
              <a:defRPr sz="1013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13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2781A26F-AA84-48EF-AAF6-23E9DF660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590800"/>
            <a:ext cx="5162550" cy="2971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ts val="1300"/>
              </a:lnSpc>
              <a:buNone/>
              <a:defRPr sz="1088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[</a:t>
            </a:r>
            <a:r>
              <a:rPr b="0">
                <a:solidFill>
                  <a:srgbClr val="7651D4"/>
                </a:solidFill>
              </a:rPr>
              <a:t>Test</a:t>
            </a:r>
            <a:r>
              <a:rPr b="0">
                <a:solidFill>
                  <a:srgbClr val="263044"/>
                </a:solidFill>
              </a:rPr>
              <a:t>]</a:t>
            </a:r>
          </a:p>
          <a:p xmlns:a="http://schemas.openxmlformats.org/drawingml/2006/main">
            <a:pPr>
              <a:lnSpc>
                <a:spcPts val="1300"/>
              </a:lnSpc>
              <a:buNone/>
              <a:defRPr sz="1088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1">
                <a:solidFill>
                  <a:srgbClr val="0067C5"/>
                </a:solidFill>
              </a:rPr>
              <a:t>public</a:t>
            </a:r>
            <a:r>
              <a:rPr b="0">
                <a:solidFill>
                  <a:srgbClr val="263044"/>
                </a:solidFill>
              </a:rPr>
              <a:t> </a:t>
            </a:r>
            <a:r>
              <a:rPr b="1">
                <a:solidFill>
                  <a:srgbClr val="0067C5"/>
                </a:solidFill>
              </a:rPr>
              <a:t>void</a:t>
            </a:r>
            <a:r>
              <a:rPr b="0">
                <a:solidFill>
                  <a:srgbClr val="263044"/>
                </a:solidFill>
              </a:rPr>
              <a:t> </a:t>
            </a:r>
            <a:r>
              <a:rPr b="0">
                <a:solidFill>
                  <a:srgbClr val="7651D4"/>
                </a:solidFill>
              </a:rPr>
              <a:t>Decide_WhenNoRoleGrantsPermission_Denies</a:t>
            </a:r>
            <a:r>
              <a:rPr b="0">
                <a:solidFill>
                  <a:srgbClr val="263044"/>
                </a:solidFill>
              </a:rPr>
              <a:t>()</a:t>
            </a:r>
          </a:p>
          <a:p xmlns:a="http://schemas.openxmlformats.org/drawingml/2006/main">
            <a:pPr>
              <a:lnSpc>
                <a:spcPts val="1300"/>
              </a:lnSpc>
              <a:buNone/>
              <a:defRPr sz="1088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{</a:t>
            </a:r>
          </a:p>
          <a:p xmlns:a="http://schemas.openxmlformats.org/drawingml/2006/main">
            <a:pPr>
              <a:lnSpc>
                <a:spcPts val="1300"/>
              </a:lnSpc>
              <a:buNone/>
              <a:defRPr sz="1088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    </a:t>
            </a:r>
            <a:r>
              <a:rPr b="1">
                <a:solidFill>
                  <a:srgbClr val="0067C5"/>
                </a:solidFill>
              </a:rPr>
              <a:t>var</a:t>
            </a:r>
            <a:r>
              <a:rPr b="0">
                <a:solidFill>
                  <a:srgbClr val="263044"/>
                </a:solidFill>
              </a:rPr>
              <a:t> decision = _policy.</a:t>
            </a:r>
            <a:r>
              <a:rPr b="0">
                <a:solidFill>
                  <a:srgbClr val="7651D4"/>
                </a:solidFill>
              </a:rPr>
              <a:t>Decide</a:t>
            </a:r>
            <a:r>
              <a:rPr b="0">
                <a:solidFill>
                  <a:srgbClr val="263044"/>
                </a:solidFill>
              </a:rPr>
              <a:t>(</a:t>
            </a:r>
          </a:p>
          <a:p xmlns:a="http://schemas.openxmlformats.org/drawingml/2006/main">
            <a:pPr>
              <a:lnSpc>
                <a:spcPts val="1300"/>
              </a:lnSpc>
              <a:buNone/>
              <a:defRPr sz="1088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        </a:t>
            </a:r>
            <a:r>
              <a:rPr b="0">
                <a:solidFill>
                  <a:srgbClr val="7651D4"/>
                </a:solidFill>
              </a:rPr>
              <a:t>Authenticated</a:t>
            </a:r>
            <a:r>
              <a:rPr b="0">
                <a:solidFill>
                  <a:srgbClr val="263044"/>
                </a:solidFill>
              </a:rPr>
              <a:t>(</a:t>
            </a:r>
            <a:r>
              <a:rPr b="0">
                <a:solidFill>
                  <a:srgbClr val="B45309"/>
                </a:solidFill>
              </a:rPr>
              <a:t>"Operator"</a:t>
            </a:r>
            <a:r>
              <a:rPr b="0">
                <a:solidFill>
                  <a:srgbClr val="263044"/>
                </a:solidFill>
              </a:rPr>
              <a:t>), </a:t>
            </a:r>
            <a:r>
              <a:rPr b="0">
                <a:solidFill>
                  <a:srgbClr val="B45309"/>
                </a:solidFill>
              </a:rPr>
              <a:t>"reports:export"</a:t>
            </a:r>
            <a:r>
              <a:rPr b="0">
                <a:solidFill>
                  <a:srgbClr val="263044"/>
                </a:solidFill>
              </a:rPr>
              <a:t>, [</a:t>
            </a:r>
            <a:r>
              <a:rPr b="0">
                <a:solidFill>
                  <a:srgbClr val="7651D4"/>
                </a:solidFill>
              </a:rPr>
              <a:t>Operator</a:t>
            </a:r>
            <a:r>
              <a:rPr b="0">
                <a:solidFill>
                  <a:srgbClr val="263044"/>
                </a:solidFill>
              </a:rPr>
              <a:t>]);</a:t>
            </a:r>
          </a:p>
          <a:p xmlns:a="http://schemas.openxmlformats.org/drawingml/2006/main">
            <a:pPr>
              <a:lnSpc>
                <a:spcPts val="1300"/>
              </a:lnSpc>
              <a:buNone/>
              <a:defRPr sz="1088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 </a:t>
            </a:r>
          </a:p>
          <a:p xmlns:a="http://schemas.openxmlformats.org/drawingml/2006/main">
            <a:pPr>
              <a:lnSpc>
                <a:spcPts val="1300"/>
              </a:lnSpc>
              <a:buNone/>
              <a:defRPr sz="1088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    </a:t>
            </a:r>
            <a:r>
              <a:rPr b="1">
                <a:solidFill>
                  <a:srgbClr val="0067C5"/>
                </a:solidFill>
              </a:rPr>
              <a:t>using</a:t>
            </a:r>
            <a:r>
              <a:rPr b="0">
                <a:solidFill>
                  <a:srgbClr val="263044"/>
                </a:solidFill>
              </a:rPr>
              <a:t> (</a:t>
            </a:r>
            <a:r>
              <a:rPr b="0">
                <a:solidFill>
                  <a:srgbClr val="7651D4"/>
                </a:solidFill>
              </a:rPr>
              <a:t>Assert</a:t>
            </a:r>
            <a:r>
              <a:rPr b="0">
                <a:solidFill>
                  <a:srgbClr val="263044"/>
                </a:solidFill>
              </a:rPr>
              <a:t>.</a:t>
            </a:r>
            <a:r>
              <a:rPr b="0">
                <a:solidFill>
                  <a:srgbClr val="7651D4"/>
                </a:solidFill>
              </a:rPr>
              <a:t>EnterMultipleScope</a:t>
            </a:r>
            <a:r>
              <a:rPr b="0">
                <a:solidFill>
                  <a:srgbClr val="263044"/>
                </a:solidFill>
              </a:rPr>
              <a:t>())</a:t>
            </a:r>
          </a:p>
          <a:p xmlns:a="http://schemas.openxmlformats.org/drawingml/2006/main">
            <a:pPr>
              <a:lnSpc>
                <a:spcPts val="1300"/>
              </a:lnSpc>
              <a:buNone/>
              <a:defRPr sz="1088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    {</a:t>
            </a:r>
          </a:p>
          <a:p xmlns:a="http://schemas.openxmlformats.org/drawingml/2006/main">
            <a:pPr>
              <a:lnSpc>
                <a:spcPts val="1300"/>
              </a:lnSpc>
              <a:buNone/>
              <a:defRPr sz="1088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        </a:t>
            </a:r>
            <a:r>
              <a:rPr b="0">
                <a:solidFill>
                  <a:srgbClr val="7651D4"/>
                </a:solidFill>
              </a:rPr>
              <a:t>Assert</a:t>
            </a:r>
            <a:r>
              <a:rPr b="0">
                <a:solidFill>
                  <a:srgbClr val="263044"/>
                </a:solidFill>
              </a:rPr>
              <a:t>.</a:t>
            </a:r>
            <a:r>
              <a:rPr b="0">
                <a:solidFill>
                  <a:srgbClr val="7651D4"/>
                </a:solidFill>
              </a:rPr>
              <a:t>That</a:t>
            </a:r>
            <a:r>
              <a:rPr b="0">
                <a:solidFill>
                  <a:srgbClr val="263044"/>
                </a:solidFill>
              </a:rPr>
              <a:t>(decision.</a:t>
            </a:r>
            <a:r>
              <a:rPr b="0">
                <a:solidFill>
                  <a:srgbClr val="7651D4"/>
                </a:solidFill>
              </a:rPr>
              <a:t>Allowed</a:t>
            </a:r>
            <a:r>
              <a:rPr b="0">
                <a:solidFill>
                  <a:srgbClr val="263044"/>
                </a:solidFill>
              </a:rPr>
              <a:t>, </a:t>
            </a:r>
            <a:r>
              <a:rPr b="0">
                <a:solidFill>
                  <a:srgbClr val="7651D4"/>
                </a:solidFill>
              </a:rPr>
              <a:t>Is</a:t>
            </a:r>
            <a:r>
              <a:rPr b="0">
                <a:solidFill>
                  <a:srgbClr val="263044"/>
                </a:solidFill>
              </a:rPr>
              <a:t>.</a:t>
            </a:r>
            <a:r>
              <a:rPr b="0">
                <a:solidFill>
                  <a:srgbClr val="7651D4"/>
                </a:solidFill>
              </a:rPr>
              <a:t>False</a:t>
            </a:r>
            <a:r>
              <a:rPr b="0">
                <a:solidFill>
                  <a:srgbClr val="263044"/>
                </a:solidFill>
              </a:rPr>
              <a:t>);</a:t>
            </a:r>
          </a:p>
          <a:p xmlns:a="http://schemas.openxmlformats.org/drawingml/2006/main">
            <a:pPr>
              <a:lnSpc>
                <a:spcPts val="1300"/>
              </a:lnSpc>
              <a:buNone/>
              <a:defRPr sz="1088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        </a:t>
            </a:r>
            <a:r>
              <a:rPr b="0">
                <a:solidFill>
                  <a:srgbClr val="7651D4"/>
                </a:solidFill>
              </a:rPr>
              <a:t>Assert</a:t>
            </a:r>
            <a:r>
              <a:rPr b="0">
                <a:solidFill>
                  <a:srgbClr val="263044"/>
                </a:solidFill>
              </a:rPr>
              <a:t>.</a:t>
            </a:r>
            <a:r>
              <a:rPr b="0">
                <a:solidFill>
                  <a:srgbClr val="7651D4"/>
                </a:solidFill>
              </a:rPr>
              <a:t>That</a:t>
            </a:r>
            <a:r>
              <a:rPr b="0">
                <a:solidFill>
                  <a:srgbClr val="263044"/>
                </a:solidFill>
              </a:rPr>
              <a:t>(decision.</a:t>
            </a:r>
            <a:r>
              <a:rPr b="0">
                <a:solidFill>
                  <a:srgbClr val="7651D4"/>
                </a:solidFill>
              </a:rPr>
              <a:t>Code</a:t>
            </a:r>
            <a:r>
              <a:rPr b="0">
                <a:solidFill>
                  <a:srgbClr val="263044"/>
                </a:solidFill>
              </a:rPr>
              <a:t>,</a:t>
            </a:r>
          </a:p>
          <a:p xmlns:a="http://schemas.openxmlformats.org/drawingml/2006/main">
            <a:pPr>
              <a:lnSpc>
                <a:spcPts val="1300"/>
              </a:lnSpc>
              <a:buNone/>
              <a:defRPr sz="1088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            </a:t>
            </a:r>
            <a:r>
              <a:rPr b="0">
                <a:solidFill>
                  <a:srgbClr val="7651D4"/>
                </a:solidFill>
              </a:rPr>
              <a:t>Is</a:t>
            </a:r>
            <a:r>
              <a:rPr b="0">
                <a:solidFill>
                  <a:srgbClr val="263044"/>
                </a:solidFill>
              </a:rPr>
              <a:t>.</a:t>
            </a:r>
            <a:r>
              <a:rPr b="0">
                <a:solidFill>
                  <a:srgbClr val="7651D4"/>
                </a:solidFill>
              </a:rPr>
              <a:t>EqualTo</a:t>
            </a:r>
            <a:r>
              <a:rPr b="0">
                <a:solidFill>
                  <a:srgbClr val="263044"/>
                </a:solidFill>
              </a:rPr>
              <a:t>(</a:t>
            </a:r>
            <a:r>
              <a:rPr b="0">
                <a:solidFill>
                  <a:srgbClr val="7651D4"/>
                </a:solidFill>
              </a:rPr>
              <a:t>AccessDecisionCodes</a:t>
            </a:r>
            <a:r>
              <a:rPr b="0">
                <a:solidFill>
                  <a:srgbClr val="263044"/>
                </a:solidFill>
              </a:rPr>
              <a:t>.</a:t>
            </a:r>
            <a:r>
              <a:rPr b="0">
                <a:solidFill>
                  <a:srgbClr val="7651D4"/>
                </a:solidFill>
              </a:rPr>
              <a:t>PermissionNotGranted</a:t>
            </a:r>
            <a:r>
              <a:rPr b="0">
                <a:solidFill>
                  <a:srgbClr val="263044"/>
                </a:solidFill>
              </a:rPr>
              <a:t>));</a:t>
            </a:r>
          </a:p>
          <a:p xmlns:a="http://schemas.openxmlformats.org/drawingml/2006/main">
            <a:pPr>
              <a:lnSpc>
                <a:spcPts val="1300"/>
              </a:lnSpc>
              <a:buNone/>
              <a:defRPr sz="1088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    }</a:t>
            </a:r>
          </a:p>
          <a:p xmlns:a="http://schemas.openxmlformats.org/drawingml/2006/main">
            <a:pPr>
              <a:lnSpc>
                <a:spcPts val="1300"/>
              </a:lnSpc>
              <a:buNone/>
              <a:defRPr sz="1088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}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9241F6CA-2F30-4829-A5DB-AB54CE317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20980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Доказ има два слоја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BD57BEAE-7AEC-40EF-96E0-C243DAB06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724150"/>
            <a:ext cx="4095750" cy="1123950"/>
          </a:xfrm>
          <a:prstGeom xmlns:a="http://schemas.openxmlformats.org/drawingml/2006/main" prst="roundRect">
            <a:avLst>
              <a:gd name="adj" fmla="val 11864"/>
            </a:avLst>
          </a:prstGeom>
          <a:solidFill xmlns:a="http://schemas.openxmlformats.org/drawingml/2006/main">
            <a:srgbClr val="FFF0F0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F184E8D0-E856-4480-B585-A84EA3CC9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847975"/>
            <a:ext cx="3790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C3474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C34747"/>
                </a:solidFill>
                <a:latin typeface="Aptos"/>
                <a:ea typeface="Aptos"/>
                <a:cs typeface="Aptos"/>
              </a:rPr>
              <a:t>КРИТЕРИЈУМ ПРОВЕРЕ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4AD5A851-8BF7-4B9B-8067-6C1B695B8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095625"/>
            <a:ext cx="3790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Радња је одбијена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BAFCCD5C-1C69-48F3-8A75-9350F0208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486150"/>
            <a:ext cx="3790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Оператор има reports:view, али не и reports:export.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C4A29A3D-4D86-45EB-A20A-E61F0EC94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4095750"/>
            <a:ext cx="4095750" cy="1123950"/>
          </a:xfrm>
          <a:prstGeom xmlns:a="http://schemas.openxmlformats.org/drawingml/2006/main" prst="roundRect">
            <a:avLst>
              <a:gd name="adj" fmla="val 11864"/>
            </a:avLst>
          </a:prstGeom>
          <a:solidFill xmlns:a="http://schemas.openxmlformats.org/drawingml/2006/main">
            <a:srgbClr val="EDF8F2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B74C6943-8BC5-4678-A5C6-2303EB7FF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219575"/>
            <a:ext cx="3790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ТРАГ</a:t>
            </a: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67773E9E-BB96-41E5-862E-5399164C7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467225"/>
            <a:ext cx="3790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Audit бележи покушај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F93D74E1-F8FB-461E-8AD1-BE32363CA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857750"/>
            <a:ext cx="3790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217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Actor, action, target и исход могу се касније објаснити.</a:t>
            </a:r>
          </a:p>
        </p:txBody>
      </p:sp>
    </p:spTree>
    <p:extLst>
      <p:ext uri="{BB962C8B-B14F-4D97-AF65-F5344CB8AC3E}">
        <p14:creationId xmlns:p14="http://schemas.microsoft.com/office/powerpoint/2010/main" val="202678414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8BAD3822-FC89-4F5C-871C-ACCE53A29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"/>
            <a:ext cx="2952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7D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F2FB2AE4-CAF8-428F-AA84-95456C0B2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2014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8D5560"/>
          </a:solidFill>
          <a:ln xmlns:a="http://schemas.openxmlformats.org/drawingml/2006/main" w="7144">
            <a:solidFill>
              <a:srgbClr val="8D5560"/>
            </a:solidFill>
            <a:prstDash val="solid"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13E5E28B-5AB6-4FBC-AB4D-B09330C53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770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A3BB8181-3B84-4118-8B6D-FE228A115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90575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Привремено проширење одговорности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44C436A3-E8C2-45B3-BD4F-F41752D68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3827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Широка администраторска улога додељује више права него што конкретан задатак захтева.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8D0B7A28-EE94-4C25-8A19-0DA2E9E1A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00275"/>
            <a:ext cx="3333750" cy="1352550"/>
          </a:xfrm>
          <a:prstGeom xmlns:a="http://schemas.openxmlformats.org/drawingml/2006/main" prst="roundRect">
            <a:avLst>
              <a:gd name="adj" fmla="val 4828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9BE2376A-4032-43A7-99CE-D768FA6AC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324100"/>
            <a:ext cx="3028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ПОТРЕБА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892B8C03-B65C-4A0D-A6EA-98AD317BA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571750"/>
            <a:ext cx="3028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8911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Одобравање једне врсте промене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F6560405-4AB7-4055-8C62-F44982F0F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962275"/>
            <a:ext cx="3028950" cy="1895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Најпре се дефинише конкретна радња и њен ограничени опсег.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E4484BB0-9FA5-44AE-800D-BE8CBDF01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200275"/>
            <a:ext cx="3333750" cy="1352550"/>
          </a:xfrm>
          <a:prstGeom xmlns:a="http://schemas.openxmlformats.org/drawingml/2006/main" prst="roundRect">
            <a:avLst>
              <a:gd name="adj" fmla="val 4828"/>
            </a:avLst>
          </a:prstGeom>
          <a:solidFill xmlns:a="http://schemas.openxmlformats.org/drawingml/2006/main">
            <a:srgbClr val="F7F4F5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E7BBF4D0-37AB-4819-A903-7FCFE5713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2324100"/>
            <a:ext cx="3028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7651D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ОПСЕГ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4CB90141-B361-4191-A060-9FE9C6B20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2571750"/>
            <a:ext cx="3028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7853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Само један домен и ограничено време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373CD3A7-A4A4-491A-A815-7E8A6115D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2962275"/>
            <a:ext cx="3028950" cy="1895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Право важи у дефинисаном домену и престаје истеком пословне потребе.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D699DD44-23A7-47D7-A825-708E933FA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200275"/>
            <a:ext cx="3333750" cy="1352550"/>
          </a:xfrm>
          <a:prstGeom xmlns:a="http://schemas.openxmlformats.org/drawingml/2006/main" prst="roundRect">
            <a:avLst>
              <a:gd name="adj" fmla="val 4828"/>
            </a:avLst>
          </a:prstGeom>
          <a:solidFill xmlns:a="http://schemas.openxmlformats.org/drawingml/2006/main">
            <a:srgbClr val="EDF8F2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36E280B0-B79F-4823-86EB-7EAEF2E96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324100"/>
            <a:ext cx="3028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РЕВИЗИЈА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7FFA15AC-059D-4FC4-93D8-F960CFC76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571750"/>
            <a:ext cx="3028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Истек и ревизиони траг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CB09AA2D-17F8-41F1-B8A4-BBE278975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962275"/>
            <a:ext cx="3028950" cy="1895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Може се утврдити ко је доделио право, зашто и када је престало.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FDE39F36-760D-471C-825A-457A912DA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33862"/>
            <a:ext cx="10591800" cy="781050"/>
          </a:xfrm>
          <a:prstGeom xmlns:a="http://schemas.openxmlformats.org/drawingml/2006/main" prst="roundRect">
            <a:avLst>
              <a:gd name="adj" fmla="val 17073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8573">
            <a:solidFill>
              <a:srgbClr val="DBC7CC"/>
            </a:solidFill>
            <a:prstDash val="solid"/>
          </a:ln>
        </p:spPr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8D9E4674-B1D0-4298-912A-DE3A4071B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49" y="4386262"/>
            <a:ext cx="58411" cy="476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A2636"/>
          </a:solidFill>
          <a:ln xmlns:a="http://schemas.openxmlformats.org/drawingml/2006/main" w="0">
            <a:noFill/>
          </a:ln>
        </p:spPr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AFBFD4DF-EC3B-470A-9F05-272A1E2D5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338637"/>
            <a:ext cx="9851932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13" b="1">
                <a:solidFill>
                  <a:srgbClr val="2854D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ЗАКЉУЧАК</a:t>
            </a:r>
          </a:p>
        </p:txBody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B853FA7E-59DD-4CD3-9ACD-84EA87DEB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567237"/>
            <a:ext cx="9851932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B2432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B2432"/>
                </a:solidFill>
                <a:latin typeface="Aptos"/>
                <a:ea typeface="Aptos"/>
                <a:cs typeface="Aptos"/>
              </a:rPr>
              <a:t>Модел RBAC додељује најмању радњу оправдану пословном одговорношћу, у ограниченом опсегу и трајању.</a:t>
            </a:r>
          </a:p>
        </p:txBody>
      </p:sp>
    </p:spTree>
    <p:extLst>
      <p:ext uri="{BB962C8B-B14F-4D97-AF65-F5344CB8AC3E}">
        <p14:creationId xmlns:p14="http://schemas.microsoft.com/office/powerpoint/2010/main" val="80378104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E565ECC3-11B2-4937-A0E7-FE2C6A5A6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"/>
            <a:ext cx="2952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7D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D5A7E1F0-3812-489F-8859-043AB7727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2014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8D5560"/>
          </a:solidFill>
          <a:ln xmlns:a="http://schemas.openxmlformats.org/drawingml/2006/main" w="7144">
            <a:solidFill>
              <a:srgbClr val="8D5560"/>
            </a:solidFill>
            <a:prstDash val="solid"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AA427B0E-9229-4DF5-B4C3-856BDE8AF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770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478AE71-68C4-4362-8DDE-B1F70E706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90575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Честе грешке у моделу приступа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4C7B71CE-B1A5-45FD-B02D-5CBF6C77E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3827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Нејасно раздвајање улога, дозвола и контекста доводи до прекомерних привилегија.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09571F37-FEDF-47F0-83B8-346112309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38375"/>
            <a:ext cx="3352800" cy="1619250"/>
          </a:xfrm>
          <a:prstGeom xmlns:a="http://schemas.openxmlformats.org/drawingml/2006/main" prst="roundRect">
            <a:avLst>
              <a:gd name="adj" fmla="val 5036"/>
            </a:avLst>
          </a:prstGeom>
          <a:solidFill xmlns:a="http://schemas.openxmlformats.org/drawingml/2006/main">
            <a:srgbClr val="FFF0F0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3A190A21-9759-49AF-970D-FA080E083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362200"/>
            <a:ext cx="304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C3474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C34747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8D3F7B50-F4FF-45B7-B08B-56F634514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09850"/>
            <a:ext cx="304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Пријава = овлашћење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281289CF-8E39-4A43-A906-7FC6BB39B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000375"/>
            <a:ext cx="3048000" cy="1781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Систем не проверава посебно радњу и ресурс јер је корисник већ пријављен.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09760FC9-0129-468A-8967-55AAA6969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238375"/>
            <a:ext cx="3352800" cy="1619250"/>
          </a:xfrm>
          <a:prstGeom xmlns:a="http://schemas.openxmlformats.org/drawingml/2006/main" prst="roundRect">
            <a:avLst>
              <a:gd name="adj" fmla="val 5036"/>
            </a:avLst>
          </a:prstGeom>
          <a:solidFill xmlns:a="http://schemas.openxmlformats.org/drawingml/2006/main">
            <a:srgbClr val="FFF6E9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62FA6D3E-9B71-4644-80DA-750C93775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362200"/>
            <a:ext cx="304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B86A09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B86A09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B96AA1C2-3D6E-45EF-8BCE-BE31382CF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609850"/>
            <a:ext cx="304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Преширока улога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69AA9F34-26BB-496B-83BC-00093D004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000375"/>
            <a:ext cx="3048000" cy="1781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Нова потреба се решава додавањем администратора уместо мале дозволе и опсега.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F04F30AE-210D-4B35-82D5-A510F4A32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238375"/>
            <a:ext cx="3352800" cy="1619250"/>
          </a:xfrm>
          <a:prstGeom xmlns:a="http://schemas.openxmlformats.org/drawingml/2006/main" prst="roundRect">
            <a:avLst>
              <a:gd name="adj" fmla="val 5036"/>
            </a:avLst>
          </a:prstGeom>
          <a:solidFill xmlns:a="http://schemas.openxmlformats.org/drawingml/2006/main">
            <a:srgbClr val="F7F4F5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B3F8868F-1057-4739-8576-365AB04BF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362200"/>
            <a:ext cx="304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7651D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8FB4CFC6-9548-4836-91C6-627894103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609850"/>
            <a:ext cx="304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Сакривено дугме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629F2F25-1DBB-499F-9C11-1D33B73F2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000375"/>
            <a:ext cx="3048000" cy="1781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Клијент не приказује радњу, али сервер прихвата директан API позив.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011966C8-5A10-440A-BFD4-851708C7B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86262"/>
            <a:ext cx="10629900" cy="781050"/>
          </a:xfrm>
          <a:prstGeom xmlns:a="http://schemas.openxmlformats.org/drawingml/2006/main" prst="roundRect">
            <a:avLst>
              <a:gd name="adj" fmla="val 17073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8573">
            <a:solidFill>
              <a:srgbClr val="DBC7CC"/>
            </a:solidFill>
            <a:prstDash val="solid"/>
          </a:ln>
        </p:spPr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9EA1A7DC-B455-4B5F-974F-48D29DB94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99" y="4538662"/>
            <a:ext cx="58621" cy="476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A2636"/>
          </a:solidFill>
          <a:ln xmlns:a="http://schemas.openxmlformats.org/drawingml/2006/main" w="0">
            <a:noFill/>
          </a:ln>
        </p:spPr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595B01DA-ACC4-4B35-B489-76F0A37CB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491037"/>
            <a:ext cx="98873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13" b="1">
                <a:solidFill>
                  <a:srgbClr val="2854D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КОНТРАМЕРА</a:t>
            </a:r>
          </a:p>
        </p:txBody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D5FEF982-932B-4268-994A-4E12D4E1F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719637"/>
            <a:ext cx="988737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B2432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B2432"/>
                </a:solidFill>
                <a:latin typeface="Aptos"/>
                <a:ea typeface="Aptos"/>
                <a:cs typeface="Aptos"/>
              </a:rPr>
              <a:t>Заједничка контрамера обухвата експлицитну серверску одлуку, тест одбијања и ревизиони исход.</a:t>
            </a:r>
          </a:p>
        </p:txBody>
      </p:sp>
    </p:spTree>
    <p:extLst>
      <p:ext uri="{BB962C8B-B14F-4D97-AF65-F5344CB8AC3E}">
        <p14:creationId xmlns:p14="http://schemas.microsoft.com/office/powerpoint/2010/main" val="732875256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3105F630-3D9D-426E-B00C-D00E9DB2B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"/>
            <a:ext cx="2952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7D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22D05D9A-D732-45C2-8548-09CB9EF0F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2014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8D5560"/>
          </a:solidFill>
          <a:ln xmlns:a="http://schemas.openxmlformats.org/drawingml/2006/main" w="7144">
            <a:solidFill>
              <a:srgbClr val="8D5560"/>
            </a:solidFill>
            <a:prstDash val="solid"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0AFDF286-AD01-4A9D-B220-0495FBAE9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770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3299020-70BE-4C54-B426-41DF98DA6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90575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Критеријуми исправног модела приступа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9944D46-C5DC-4E0F-9816-EBAF7DBC3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3827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Модел обухвата позитивне и негативне сценарије, разлог одлуке и ревизиони запис.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4746225F-0D14-43AE-89A3-4F2353A49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390775"/>
            <a:ext cx="2438400" cy="1181100"/>
          </a:xfrm>
          <a:prstGeom xmlns:a="http://schemas.openxmlformats.org/drawingml/2006/main" prst="roundRect">
            <a:avLst>
              <a:gd name="adj" fmla="val 11290"/>
            </a:avLst>
          </a:prstGeom>
          <a:solidFill xmlns:a="http://schemas.openxmlformats.org/drawingml/2006/main">
            <a:srgbClr val="EDF8F2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6FE59558-F13E-4F7E-9417-F938A1448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2505075"/>
            <a:ext cx="2152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E244C2A1-D8F1-4E21-A6FB-EC2085739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2752725"/>
            <a:ext cx="215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Allow тест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CF72D0FB-ACD9-4E89-BF06-8F5F07E2B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3133725"/>
            <a:ext cx="215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исправна улога и опсег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9388EC79-6AF2-468D-A251-87076A014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390775"/>
            <a:ext cx="2438400" cy="1181100"/>
          </a:xfrm>
          <a:prstGeom xmlns:a="http://schemas.openxmlformats.org/drawingml/2006/main" prst="roundRect">
            <a:avLst>
              <a:gd name="adj" fmla="val 11290"/>
            </a:avLst>
          </a:prstGeom>
          <a:solidFill xmlns:a="http://schemas.openxmlformats.org/drawingml/2006/main">
            <a:srgbClr val="FFF0F0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9186430D-2E2E-4359-A109-6FE4AED5E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2505075"/>
            <a:ext cx="2152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C3474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C34747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BB1B5012-8276-4960-9632-C4B405FBA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2752725"/>
            <a:ext cx="215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Deny тест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88A4F4C7-E4D4-4150-A1E0-1BDD7D596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3133725"/>
            <a:ext cx="215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8333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недостаје једна потребна чињеница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BDFFBA0B-5686-4E6A-9784-D823EB772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390775"/>
            <a:ext cx="2438400" cy="1181100"/>
          </a:xfrm>
          <a:prstGeom xmlns:a="http://schemas.openxmlformats.org/drawingml/2006/main" prst="roundRect">
            <a:avLst>
              <a:gd name="adj" fmla="val 11290"/>
            </a:avLst>
          </a:prstGeom>
          <a:solidFill xmlns:a="http://schemas.openxmlformats.org/drawingml/2006/main">
            <a:srgbClr val="FFF6E9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66874F0A-55C1-49DD-BB50-EC76BE751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2505075"/>
            <a:ext cx="2152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B86A09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B86A09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34EECEFD-3376-4DEF-9C92-0DA37C682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2752725"/>
            <a:ext cx="215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Audit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4F9A3442-E809-45AC-BA0A-5074186F8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3133725"/>
            <a:ext cx="215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actor, action, target, outcome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FCC81BA0-23B1-49C6-A08F-101F49BDE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390775"/>
            <a:ext cx="2438400" cy="1181100"/>
          </a:xfrm>
          <a:prstGeom xmlns:a="http://schemas.openxmlformats.org/drawingml/2006/main" prst="roundRect">
            <a:avLst>
              <a:gd name="adj" fmla="val 11290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134CD902-C9CA-4219-A055-4BA4028F6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7325" y="2505075"/>
            <a:ext cx="2152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4101BB69-FB0E-4DF8-883F-DFD6740C3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7325" y="2752725"/>
            <a:ext cx="215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Преглед права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43B6C003-9A8F-468E-B446-E3114BFCA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7325" y="3133725"/>
            <a:ext cx="215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9716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зашто корисник има приступ</a:t>
            </a:r>
          </a:p>
        </p:txBody>
      </p:sp>
      <p:cxnSp>
        <p:nvCxnSpPr>
          <p:cNvPr id="222" name="Straight Arrow Connector 125"/>
          <p:cNvCxnSpPr>
            <a:stCxn xmlns:a="http://schemas.openxmlformats.org/drawingml/2006/main" id="6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3257550" y="2981325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748092"/>
            </a:solidFill>
            <a:prstDash val="solid"/>
            <a:tailEnd type="arrow" w="sm" len="sm"/>
          </a:ln>
        </p:spPr>
      </p:cxnSp>
      <p:cxnSp>
        <p:nvCxnSpPr>
          <p:cNvPr id="223" name="Straight Arrow Connector 126"/>
          <p:cNvCxnSpPr>
            <a:stCxn xmlns:a="http://schemas.openxmlformats.org/drawingml/2006/main" id="10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5962650" y="2981325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748092"/>
            </a:solidFill>
            <a:prstDash val="solid"/>
            <a:tailEnd type="arrow" w="sm" len="sm"/>
          </a:ln>
        </p:spPr>
      </p:cxnSp>
      <p:cxnSp>
        <p:nvCxnSpPr>
          <p:cNvPr id="224" name="Straight Arrow Connector 127"/>
          <p:cNvCxnSpPr>
            <a:stCxn xmlns:a="http://schemas.openxmlformats.org/drawingml/2006/main" id="14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8667750" y="2981325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748092"/>
            </a:solidFill>
            <a:prstDash val="solid"/>
            <a:tailEnd type="arrow" w="sm" len="sm"/>
          </a:ln>
        </p:spPr>
      </p:cxnSp>
      <p:sp>
        <p:nvSpPr>
          <p:cNvPr id="76" name="Rounded Rectangle 75">
            <a:extLst xmlns:a="http://schemas.openxmlformats.org/drawingml/2006/main">
              <a:ext uri="{FF2B5EF4-FFF2-40B4-BE49-F238E27FC236}">
                <a16:creationId xmlns:a16="http://schemas.microsoft.com/office/drawing/2014/main" id="{7A15DD68-422A-4725-A599-4C8826900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24350"/>
            <a:ext cx="10363200" cy="10668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8573">
            <a:solidFill>
              <a:srgbClr val="DBC7CC"/>
            </a:solidFill>
            <a:prstDash val="solid"/>
          </a:ln>
        </p:spPr>
      </p:sp>
      <p:sp>
        <p:nvSpPr>
          <p:cNvPr id="77" name="Rounded Rectangle 76">
            <a:extLst xmlns:a="http://schemas.openxmlformats.org/drawingml/2006/main">
              <a:ext uri="{FF2B5EF4-FFF2-40B4-BE49-F238E27FC236}">
                <a16:creationId xmlns:a16="http://schemas.microsoft.com/office/drawing/2014/main" id="{7ACDCFA4-35AA-422E-AEAB-014A04A54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476750"/>
            <a:ext cx="57150" cy="762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A2636"/>
          </a:solidFill>
          <a:ln xmlns:a="http://schemas.openxmlformats.org/drawingml/2006/main" w="0">
            <a:noFill/>
          </a:ln>
        </p:spPr>
      </p:sp>
      <p:sp>
        <p:nvSpPr>
          <p:cNvPr id="78" name="Rectangle 77">
            <a:extLst xmlns:a="http://schemas.openxmlformats.org/drawingml/2006/main">
              <a:ext uri="{FF2B5EF4-FFF2-40B4-BE49-F238E27FC236}">
                <a16:creationId xmlns:a16="http://schemas.microsoft.com/office/drawing/2014/main" id="{A9C7E791-8694-4166-93CD-5C564A4A6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476750"/>
            <a:ext cx="9639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13" b="1">
                <a:solidFill>
                  <a:srgbClr val="2854D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ПРОВЕРЉИВ ЗАКЉУЧАК</a:t>
            </a:r>
          </a:p>
        </p:txBody>
      </p:sp>
      <p:sp>
        <p:nvSpPr>
          <p:cNvPr id="79" name="Rectangle 78">
            <a:extLst xmlns:a="http://schemas.openxmlformats.org/drawingml/2006/main">
              <a:ext uri="{FF2B5EF4-FFF2-40B4-BE49-F238E27FC236}">
                <a16:creationId xmlns:a16="http://schemas.microsoft.com/office/drawing/2014/main" id="{17C41C6E-6315-47F4-A87B-965EDBBBE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57725"/>
            <a:ext cx="96393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B2432"/>
                </a:solidFill>
                <a:latin typeface="Aptos"/>
                <a:ea typeface="Aptos"/>
                <a:cs typeface="Aptos"/>
              </a:defRPr>
            </a:pPr>
            <a:endParaRPr sz="1388" b="1">
              <a:solidFill>
                <a:srgbClr val="1B2432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80" name="Rectangle 79">
            <a:extLst xmlns:a="http://schemas.openxmlformats.org/drawingml/2006/main">
              <a:ext uri="{FF2B5EF4-FFF2-40B4-BE49-F238E27FC236}">
                <a16:creationId xmlns:a16="http://schemas.microsoft.com/office/drawing/2014/main" id="{35A866DA-FAE3-4BE1-922C-98EF7A766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714874"/>
            <a:ext cx="9944100" cy="5238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52637B"/>
                </a:solidFill>
                <a:latin typeface="Aptos"/>
                <a:ea typeface="Aptos"/>
                <a:cs typeface="Aptos"/>
              </a:defRPr>
            </a:pPr>
            <a:r>
              <a:rPr sz="1400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Систем</a:t>
            </a:r>
            <a:r>
              <a:rPr sz="1400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 </a:t>
            </a:r>
            <a:r>
              <a:rPr sz="1400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дозвољава</a:t>
            </a:r>
            <a:r>
              <a:rPr sz="1400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 </a:t>
            </a:r>
            <a:r>
              <a:rPr sz="1400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оправдану</a:t>
            </a:r>
            <a:r>
              <a:rPr sz="1400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 </a:t>
            </a:r>
            <a:r>
              <a:rPr sz="1400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радњу</a:t>
            </a:r>
            <a:r>
              <a:rPr sz="1400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, </a:t>
            </a:r>
            <a:r>
              <a:rPr sz="1400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одбија</a:t>
            </a:r>
            <a:r>
              <a:rPr sz="1400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 </a:t>
            </a:r>
            <a:r>
              <a:rPr sz="1400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исту</a:t>
            </a:r>
            <a:r>
              <a:rPr sz="1400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 </a:t>
            </a:r>
            <a:r>
              <a:rPr sz="1400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радњу</a:t>
            </a:r>
            <a:r>
              <a:rPr sz="1400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 </a:t>
            </a:r>
            <a:r>
              <a:rPr sz="1400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без</a:t>
            </a:r>
            <a:r>
              <a:rPr sz="1400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 </a:t>
            </a:r>
            <a:r>
              <a:rPr sz="1400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потребне</a:t>
            </a:r>
            <a:r>
              <a:rPr sz="1400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 </a:t>
            </a:r>
            <a:r>
              <a:rPr sz="1400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дозволе</a:t>
            </a:r>
            <a:r>
              <a:rPr sz="1400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 </a:t>
            </a:r>
            <a:r>
              <a:rPr sz="1400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и</a:t>
            </a:r>
            <a:r>
              <a:rPr sz="1400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 </a:t>
            </a:r>
            <a:r>
              <a:rPr sz="1400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оставља</a:t>
            </a:r>
            <a:r>
              <a:rPr sz="1400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 </a:t>
            </a:r>
            <a:r>
              <a:rPr sz="1400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траг</a:t>
            </a:r>
            <a:r>
              <a:rPr sz="1400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 </a:t>
            </a:r>
            <a:r>
              <a:rPr sz="1400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који</a:t>
            </a:r>
            <a:r>
              <a:rPr sz="1400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 </a:t>
            </a:r>
            <a:r>
              <a:rPr sz="1400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други</a:t>
            </a:r>
            <a:r>
              <a:rPr sz="1400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 </a:t>
            </a:r>
            <a:r>
              <a:rPr sz="1400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члан</a:t>
            </a:r>
            <a:r>
              <a:rPr sz="1400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 </a:t>
            </a:r>
            <a:r>
              <a:rPr sz="1400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тима</a:t>
            </a:r>
            <a:r>
              <a:rPr sz="1400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 </a:t>
            </a:r>
            <a:r>
              <a:rPr sz="1400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може</a:t>
            </a:r>
            <a:r>
              <a:rPr sz="1400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 </a:t>
            </a:r>
            <a:r>
              <a:rPr sz="1400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да</a:t>
            </a:r>
            <a:r>
              <a:rPr sz="1400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 </a:t>
            </a:r>
            <a:r>
              <a:rPr sz="1400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понови</a:t>
            </a:r>
            <a:r>
              <a:rPr sz="1400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 </a:t>
            </a:r>
            <a:r>
              <a:rPr sz="1400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и</a:t>
            </a:r>
            <a:r>
              <a:rPr sz="1400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 </a:t>
            </a:r>
            <a:r>
              <a:rPr sz="1400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објасни</a:t>
            </a:r>
            <a:r>
              <a:rPr sz="1400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53792723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F905D3CC-30DB-4A08-8C1F-36A04661A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"/>
            <a:ext cx="2952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7D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BE769AA1-797E-4070-8E99-8F2D72A14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2014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8D5560"/>
          </a:solidFill>
          <a:ln xmlns:a="http://schemas.openxmlformats.org/drawingml/2006/main" w="7144">
            <a:solidFill>
              <a:srgbClr val="8D5560"/>
            </a:solidFill>
            <a:prstDash val="solid"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873181BE-BEE9-4DB3-AB4D-4E860AB6D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770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138183F-934C-4925-8A73-5FF489884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90575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Примена на пројекту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217011DB-C378-4B63-8283-9E6A09E10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3827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Пројектна целина треба да садржи једну серверску одлуку о приступу и проверљив доказ њеног исхода.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BE289AA0-1E80-4351-A806-7EAD9CCFB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71700"/>
            <a:ext cx="5010150" cy="1613491"/>
          </a:xfrm>
          <a:prstGeom xmlns:a="http://schemas.openxmlformats.org/drawingml/2006/main" prst="roundRect">
            <a:avLst>
              <a:gd name="adj" fmla="val 4895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2C9BC9D3-DA04-41AB-BB12-0504176C1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295525"/>
            <a:ext cx="470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ИМПЛЕМЕНТАЦИЈА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A1C3536F-5C90-421B-AAAA-D1F42E8F9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543175"/>
            <a:ext cx="4705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Једна безбедносна одлука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1A148765-EDF1-4E47-BC65-EFB78404F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933700"/>
            <a:ext cx="4705350" cy="1857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Имплементација обухвата субјекат, радњу, дозволу и опсег. Серверска одлука користи актуелни статус идентитета.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D8B14AD1-8374-48B3-953E-227909262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171700"/>
            <a:ext cx="5010150" cy="1613491"/>
          </a:xfrm>
          <a:prstGeom xmlns:a="http://schemas.openxmlformats.org/drawingml/2006/main" prst="roundRect">
            <a:avLst>
              <a:gd name="adj" fmla="val 4895"/>
            </a:avLst>
          </a:prstGeom>
          <a:solidFill xmlns:a="http://schemas.openxmlformats.org/drawingml/2006/main">
            <a:srgbClr val="EDF8F2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F8BE97D1-B40A-4016-B1B1-831815A2E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295525"/>
            <a:ext cx="470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ДОКАЗ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F6D13FF5-121D-45CE-8C25-8FC8AC04C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543175"/>
            <a:ext cx="4705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Сценарио дозволе и сценарио одбијања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C4E2D9CA-6DBA-4882-ABF0-200AA96AA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933700"/>
            <a:ext cx="4705350" cy="1857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Доказ обухвата тест или демонстрацију и ревизиони запис са актером, радњом, циљем и исходом.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7A21408A-66EB-43B4-84C2-840F185AA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562476"/>
            <a:ext cx="10572750" cy="8001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8573">
            <a:solidFill>
              <a:srgbClr val="DBC7CC"/>
            </a:solidFill>
            <a:prstDash val="solid"/>
          </a:ln>
        </p:spPr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ADAD2753-8973-4D01-BEF3-77F19823F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714876"/>
            <a:ext cx="58306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A2636"/>
          </a:solidFill>
          <a:ln xmlns:a="http://schemas.openxmlformats.org/drawingml/2006/main" w="0">
            <a:noFill/>
          </a:ln>
        </p:spPr>
      </p:sp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71B2CC64-8EF0-47CC-BA73-ABE85CFAC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667251"/>
            <a:ext cx="9834212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13" b="1">
                <a:solidFill>
                  <a:srgbClr val="2854D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ПРИПРЕМА ЗА P1</a:t>
            </a: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B9DB459C-711D-4394-B006-C2ECAFD95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895851"/>
            <a:ext cx="9834212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95061" lnSpcReduction="10000"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B2432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B2432"/>
                </a:solidFill>
                <a:latin typeface="Aptos"/>
                <a:ea typeface="Aptos"/>
                <a:cs typeface="Aptos"/>
              </a:rPr>
              <a:t>Припрема за P1 (после вежби 1–2): основна аутентикација и RBAC раде серверски. object-level authorization и негативан тест допуњују ланац.</a:t>
            </a:r>
          </a:p>
        </p:txBody>
      </p:sp>
    </p:spTree>
    <p:extLst>
      <p:ext uri="{BB962C8B-B14F-4D97-AF65-F5344CB8AC3E}">
        <p14:creationId xmlns:p14="http://schemas.microsoft.com/office/powerpoint/2010/main" val="380486822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BF01EC58-BE6C-4EDD-AA37-C730AF374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"/>
            <a:ext cx="2952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7D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6F61DD4B-4CE3-4833-9D71-E1827914C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2014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8D5560"/>
          </a:solidFill>
          <a:ln xmlns:a="http://schemas.openxmlformats.org/drawingml/2006/main" w="7144">
            <a:solidFill>
              <a:srgbClr val="8D5560"/>
            </a:solidFill>
            <a:prstDash val="solid"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ECDDFF2B-D43D-410C-BDB7-76A9AD1AA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770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A1B036D5-3268-40ED-A28D-F13A7BC9B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90575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Провера разумевања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3D399D46-EEA8-4772-9E6F-D3F55AF74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3827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598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Разумевање теме подразумева објашњење одлуке, контекста и доказа независно од конкретног технолошког оквира.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641C3EC4-EBC8-4F79-B08E-59FB51815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209800"/>
            <a:ext cx="9334500" cy="1381125"/>
          </a:xfrm>
          <a:prstGeom xmlns:a="http://schemas.openxmlformats.org/drawingml/2006/main" prst="roundRect">
            <a:avLst>
              <a:gd name="adj" fmla="val 9655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41184CE9-E5A2-4ACF-9AA7-7D4698FA4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333625"/>
            <a:ext cx="9029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ПИТАЊЕ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480CB7F3-FDA5-4298-90CE-2F090206D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581275"/>
            <a:ext cx="9029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За једну административну радњу објасните: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1E18B66F-5FA4-4141-93CF-E585F742E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3028950"/>
            <a:ext cx="9029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ко је субјекат, која дозвола је потребна, у ком опсегу важи, шта се бележи када је радња одбијена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9EF72EAE-C524-44AB-A1EE-4553D297D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105275"/>
            <a:ext cx="7810500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279400" indent="-152400">
              <a:lnSpc>
                <a:spcPct val="112000"/>
              </a:lnSpc>
              <a:buNone/>
              <a:defRPr sz="150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1A202C"/>
                </a:solidFill>
                <a:latin typeface="Aptos"/>
                <a:ea typeface="Aptos"/>
                <a:cs typeface="Aptos"/>
              </a:rPr>
              <a:t>Можете ли исту одлуку да формулишете као allow и deny тест?</a:t>
            </a:r>
          </a:p>
          <a:p xmlns:a="http://schemas.openxmlformats.org/drawingml/2006/main">
            <a:pPr marL="279400" indent="-152400">
              <a:lnSpc>
                <a:spcPct val="112000"/>
              </a:lnSpc>
              <a:buNone/>
              <a:defRPr sz="150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1A202C"/>
                </a:solidFill>
                <a:latin typeface="Aptos"/>
                <a:ea typeface="Aptos"/>
                <a:cs typeface="Aptos"/>
              </a:rPr>
              <a:t>Шта се мења ако је идентитет суспендован након пријаве?</a:t>
            </a:r>
          </a:p>
          <a:p xmlns:a="http://schemas.openxmlformats.org/drawingml/2006/main">
            <a:pPr marL="279400" indent="-152400">
              <a:lnSpc>
                <a:spcPct val="112000"/>
              </a:lnSpc>
              <a:buNone/>
              <a:defRPr sz="150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1A202C"/>
                </a:solidFill>
                <a:latin typeface="Aptos"/>
                <a:ea typeface="Aptos"/>
                <a:cs typeface="Aptos"/>
              </a:rPr>
              <a:t>Како доказујете да UI није једина контрола приступа?</a:t>
            </a:r>
          </a:p>
        </p:txBody>
      </p:sp>
    </p:spTree>
    <p:extLst>
      <p:ext uri="{BB962C8B-B14F-4D97-AF65-F5344CB8AC3E}">
        <p14:creationId xmlns:p14="http://schemas.microsoft.com/office/powerpoint/2010/main" val="143858656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A187417F-38E1-4A7D-AC47-14FD987AC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"/>
            <a:ext cx="2952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7D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AB3FAFE3-EA5B-4AEB-86E3-8EED9100F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2014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8D5560"/>
          </a:solidFill>
          <a:ln xmlns:a="http://schemas.openxmlformats.org/drawingml/2006/main" w="7144">
            <a:solidFill>
              <a:srgbClr val="8D5560"/>
            </a:solidFill>
            <a:prstDash val="solid"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DC83184F-6D71-495F-B0CE-9C9906E89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770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A91A70F-C3A1-4798-8472-ADB13345D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90575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Безбедно чување лозинки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C469023-7B67-4129-84D2-884D6452A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3827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626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Систем чува изведену вредност са соли и одговарајућим параметрима, без могућности враћања оригиналне лозинке.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E4A894B1-88A1-4B5B-8D54-018D027A9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76450"/>
            <a:ext cx="5810250" cy="2431755"/>
          </a:xfrm>
          <a:prstGeom xmlns:a="http://schemas.openxmlformats.org/drawingml/2006/main" prst="roundRect">
            <a:avLst>
              <a:gd name="adj" fmla="val 3917"/>
            </a:avLst>
          </a:prstGeom>
          <a:solidFill xmlns:a="http://schemas.openxmlformats.org/drawingml/2006/main">
            <a:srgbClr val="F4F6F7"/>
          </a:solidFill>
          <a:ln xmlns:a="http://schemas.openxmlformats.org/drawingml/2006/main" w="9525">
            <a:solidFill>
              <a:srgbClr val="CCD6D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ajor"/>
        </p:style>
      </p:sp>
      <p:sp>
        <p:nvSpPr>
          <p:cNvPr id="7" name="Straight Connector 6">
            <a:extLst xmlns:a="http://schemas.openxmlformats.org/drawingml/2006/main">
              <a:ext uri="{FF2B5EF4-FFF2-40B4-BE49-F238E27FC236}">
                <a16:creationId xmlns:a16="http://schemas.microsoft.com/office/drawing/2014/main" id="{D8015776-B32C-4D77-A2B8-D5FB4AA28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38400"/>
            <a:ext cx="581025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AFBEC9"/>
          </a:solidFill>
          <a:ln xmlns:a="http://schemas.openxmlformats.org/drawingml/2006/main" w="9525">
            <a:solidFill>
              <a:srgbClr val="AFBEC9"/>
            </a:solidFill>
            <a:prstDash val="solid"/>
          </a:ln>
        </p:spPr>
      </p:sp>
      <p:sp>
        <p:nvSpPr>
          <p:cNvPr id="8" name="Oval 7">
            <a:extLst xmlns:a="http://schemas.openxmlformats.org/drawingml/2006/main">
              <a:ext uri="{FF2B5EF4-FFF2-40B4-BE49-F238E27FC236}">
                <a16:creationId xmlns:a16="http://schemas.microsoft.com/office/drawing/2014/main" id="{4DD382EA-84EF-46BD-BA2B-F63B8AAC2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195513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6A60"/>
          </a:solidFill>
          <a:ln xmlns:a="http://schemas.openxmlformats.org/drawingml/2006/main" w="0">
            <a:noFill/>
          </a:ln>
        </p:spPr>
      </p:sp>
      <p:sp>
        <p:nvSpPr>
          <p:cNvPr id="9" name="Oval 8">
            <a:extLst xmlns:a="http://schemas.openxmlformats.org/drawingml/2006/main">
              <a:ext uri="{FF2B5EF4-FFF2-40B4-BE49-F238E27FC236}">
                <a16:creationId xmlns:a16="http://schemas.microsoft.com/office/drawing/2014/main" id="{FEF5E072-1803-43E7-9AED-C652756FE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8863" y="2195513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BD42"/>
          </a:solidFill>
          <a:ln xmlns:a="http://schemas.openxmlformats.org/drawingml/2006/main" w="0">
            <a:noFill/>
          </a:ln>
        </p:spPr>
      </p:sp>
      <p:sp>
        <p:nvSpPr>
          <p:cNvPr id="10" name="Oval 9">
            <a:extLst xmlns:a="http://schemas.openxmlformats.org/drawingml/2006/main">
              <a:ext uri="{FF2B5EF4-FFF2-40B4-BE49-F238E27FC236}">
                <a16:creationId xmlns:a16="http://schemas.microsoft.com/office/drawing/2014/main" id="{723EB443-45C1-4052-96A6-994677A34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2195513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5C466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C8ABE635-CC40-4631-8297-27EB9E1DE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590800"/>
            <a:ext cx="304800" cy="2971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ts val="1300"/>
              </a:lnSpc>
              <a:buNone/>
              <a:defRPr sz="1013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1</a:t>
            </a:r>
          </a:p>
          <a:p xmlns:a="http://schemas.openxmlformats.org/drawingml/2006/main">
            <a:pPr algn="r">
              <a:lnSpc>
                <a:spcPts val="1300"/>
              </a:lnSpc>
              <a:buNone/>
              <a:defRPr sz="1013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2</a:t>
            </a:r>
          </a:p>
          <a:p xmlns:a="http://schemas.openxmlformats.org/drawingml/2006/main">
            <a:pPr algn="r">
              <a:lnSpc>
                <a:spcPts val="1300"/>
              </a:lnSpc>
              <a:buNone/>
              <a:defRPr sz="1013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3</a:t>
            </a:r>
          </a:p>
          <a:p xmlns:a="http://schemas.openxmlformats.org/drawingml/2006/main">
            <a:pPr algn="r">
              <a:lnSpc>
                <a:spcPts val="1300"/>
              </a:lnSpc>
              <a:buNone/>
              <a:defRPr sz="1013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4</a:t>
            </a:r>
          </a:p>
          <a:p xmlns:a="http://schemas.openxmlformats.org/drawingml/2006/main">
            <a:pPr algn="r">
              <a:lnSpc>
                <a:spcPts val="1300"/>
              </a:lnSpc>
              <a:buNone/>
              <a:defRPr sz="1013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5</a:t>
            </a:r>
          </a:p>
          <a:p xmlns:a="http://schemas.openxmlformats.org/drawingml/2006/main">
            <a:pPr algn="r">
              <a:lnSpc>
                <a:spcPts val="1300"/>
              </a:lnSpc>
              <a:buNone/>
              <a:defRPr sz="1013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6</a:t>
            </a:r>
          </a:p>
          <a:p xmlns:a="http://schemas.openxmlformats.org/drawingml/2006/main">
            <a:pPr algn="r">
              <a:lnSpc>
                <a:spcPts val="1300"/>
              </a:lnSpc>
              <a:buNone/>
              <a:defRPr sz="1013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7</a:t>
            </a:r>
          </a:p>
          <a:p xmlns:a="http://schemas.openxmlformats.org/drawingml/2006/main">
            <a:pPr algn="r">
              <a:lnSpc>
                <a:spcPts val="1300"/>
              </a:lnSpc>
              <a:buNone/>
              <a:defRPr sz="1013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8</a:t>
            </a:r>
          </a:p>
          <a:p xmlns:a="http://schemas.openxmlformats.org/drawingml/2006/main">
            <a:pPr algn="r">
              <a:lnSpc>
                <a:spcPts val="1300"/>
              </a:lnSpc>
              <a:buNone/>
              <a:defRPr sz="1013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9</a:t>
            </a:r>
          </a:p>
          <a:p xmlns:a="http://schemas.openxmlformats.org/drawingml/2006/main">
            <a:pPr algn="r">
              <a:lnSpc>
                <a:spcPts val="1300"/>
              </a:lnSpc>
              <a:buNone/>
              <a:defRPr sz="1013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10</a:t>
            </a:r>
          </a:p>
          <a:p xmlns:a="http://schemas.openxmlformats.org/drawingml/2006/main">
            <a:pPr algn="r">
              <a:lnSpc>
                <a:spcPts val="1300"/>
              </a:lnSpc>
              <a:buNone/>
              <a:defRPr sz="1013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11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6C73AB14-FD5B-4049-BDFD-7FDE14BD5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590800"/>
            <a:ext cx="5067300" cy="2971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ts val="1300"/>
              </a:lnSpc>
              <a:buNone/>
              <a:defRPr sz="1088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1">
                <a:solidFill>
                  <a:srgbClr val="0067C5"/>
                </a:solidFill>
              </a:rPr>
              <a:t>public </a:t>
            </a:r>
            <a:r>
              <a:rPr b="0">
                <a:solidFill>
                  <a:srgbClr val="7651D4"/>
                </a:solidFill>
              </a:rPr>
              <a:t>PasswordRecord </a:t>
            </a:r>
            <a:r>
              <a:rPr b="1">
                <a:solidFill>
                  <a:srgbClr val="0067C5"/>
                </a:solidFill>
              </a:rPr>
              <a:t>Create</a:t>
            </a:r>
            <a:r>
              <a:rPr b="0">
                <a:solidFill>
                  <a:srgbClr val="263044"/>
                </a:solidFill>
              </a:rPr>
              <a:t>(string password)</a:t>
            </a:r>
          </a:p>
          <a:p xmlns:a="http://schemas.openxmlformats.org/drawingml/2006/main">
            <a:pPr>
              <a:lnSpc>
                <a:spcPts val="1300"/>
              </a:lnSpc>
              <a:buNone/>
              <a:defRPr sz="1088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{</a:t>
            </a:r>
          </a:p>
          <a:p xmlns:a="http://schemas.openxmlformats.org/drawingml/2006/main">
            <a:pPr>
              <a:lnSpc>
                <a:spcPts val="1300"/>
              </a:lnSpc>
              <a:buNone/>
              <a:defRPr sz="1088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1">
                <a:solidFill>
                  <a:srgbClr val="0067C5"/>
                </a:solidFill>
              </a:rPr>
              <a:t>    var </a:t>
            </a:r>
            <a:r>
              <a:rPr b="0">
                <a:solidFill>
                  <a:srgbClr val="263044"/>
                </a:solidFill>
              </a:rPr>
              <a:t>hash = hasher.HashPassword(user, password);</a:t>
            </a:r>
          </a:p>
          <a:p xmlns:a="http://schemas.openxmlformats.org/drawingml/2006/main">
            <a:pPr>
              <a:lnSpc>
                <a:spcPts val="1300"/>
              </a:lnSpc>
              <a:buNone/>
              <a:defRPr sz="1088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1">
                <a:solidFill>
                  <a:srgbClr val="0067C5"/>
                </a:solidFill>
              </a:rPr>
              <a:t>    return new </a:t>
            </a:r>
            <a:r>
              <a:rPr b="0">
                <a:solidFill>
                  <a:srgbClr val="7651D4"/>
                </a:solidFill>
              </a:rPr>
              <a:t>PasswordRecord</a:t>
            </a:r>
            <a:r>
              <a:rPr b="0">
                <a:solidFill>
                  <a:srgbClr val="263044"/>
                </a:solidFill>
              </a:rPr>
              <a:t>(hash);</a:t>
            </a:r>
          </a:p>
          <a:p xmlns:a="http://schemas.openxmlformats.org/drawingml/2006/main">
            <a:pPr>
              <a:lnSpc>
                <a:spcPts val="1300"/>
              </a:lnSpc>
              <a:buNone/>
              <a:defRPr sz="1088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}</a:t>
            </a:r>
          </a:p>
          <a:p xmlns:a="http://schemas.openxmlformats.org/drawingml/2006/main">
            <a:pPr>
              <a:lnSpc>
                <a:spcPts val="1300"/>
              </a:lnSpc>
              <a:buNone/>
              <a:defRPr sz="1088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endParaRPr b="0">
              <a:solidFill>
                <a:srgbClr val="263044"/>
              </a:solidFill>
            </a:endParaRPr>
          </a:p>
          <a:p xmlns:a="http://schemas.openxmlformats.org/drawingml/2006/main">
            <a:pPr>
              <a:lnSpc>
                <a:spcPts val="1300"/>
              </a:lnSpc>
              <a:buNone/>
              <a:defRPr sz="1088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1">
                <a:solidFill>
                  <a:srgbClr val="0067C5"/>
                </a:solidFill>
              </a:rPr>
              <a:t>public bool Verify</a:t>
            </a:r>
            <a:r>
              <a:rPr b="0">
                <a:solidFill>
                  <a:srgbClr val="263044"/>
                </a:solidFill>
              </a:rPr>
              <a:t>(string password, string hash)</a:t>
            </a:r>
          </a:p>
          <a:p xmlns:a="http://schemas.openxmlformats.org/drawingml/2006/main">
            <a:pPr>
              <a:lnSpc>
                <a:spcPts val="1300"/>
              </a:lnSpc>
              <a:buNone/>
              <a:defRPr sz="1088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{</a:t>
            </a:r>
          </a:p>
          <a:p xmlns:a="http://schemas.openxmlformats.org/drawingml/2006/main">
            <a:pPr>
              <a:lnSpc>
                <a:spcPts val="1300"/>
              </a:lnSpc>
              <a:buNone/>
              <a:defRPr sz="1088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1">
                <a:solidFill>
                  <a:srgbClr val="0067C5"/>
                </a:solidFill>
              </a:rPr>
              <a:t>    return </a:t>
            </a:r>
            <a:r>
              <a:rPr b="0">
                <a:solidFill>
                  <a:srgbClr val="263044"/>
                </a:solidFill>
              </a:rPr>
              <a:t>hasher.VerifyHashedPassword(user, hash, password)</a:t>
            </a:r>
          </a:p>
          <a:p xmlns:a="http://schemas.openxmlformats.org/drawingml/2006/main">
            <a:pPr>
              <a:lnSpc>
                <a:spcPts val="1300"/>
              </a:lnSpc>
              <a:buNone/>
              <a:defRPr sz="1088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1">
                <a:solidFill>
                  <a:srgbClr val="138A5B"/>
                </a:solidFill>
              </a:rPr>
              <a:t>        == PasswordVerificationResult.Success;</a:t>
            </a:r>
          </a:p>
          <a:p xmlns:a="http://schemas.openxmlformats.org/drawingml/2006/main">
            <a:pPr>
              <a:lnSpc>
                <a:spcPts val="1300"/>
              </a:lnSpc>
              <a:buNone/>
              <a:defRPr sz="1088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}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F653C08D-B5D8-4E97-9A25-630A5DDF1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20980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ТУМАЧЕЊЕ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234E1B2E-2626-4710-ABF2-EB9063F61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781300"/>
            <a:ext cx="361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022C19C6-8409-48E3-82F1-2311B14F0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762250"/>
            <a:ext cx="3714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Стандардна библиотека управља хеширањем и salt вредношћу.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69321CFD-99A9-4617-B09B-842E2A530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600450"/>
            <a:ext cx="361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0F6DA245-91BF-4200-BB10-90F4AA6E8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581400"/>
            <a:ext cx="3714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Иста порука покрива непостојећи налог и погрешну лозинку.</a:t>
            </a:r>
          </a:p>
        </p:txBody>
      </p:sp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CF3A7D9F-2A34-4CA8-B015-78C055823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419600"/>
            <a:ext cx="361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F2660D62-01B1-470D-A57A-8F8BEECA8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4400550"/>
            <a:ext cx="3714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Промена лозинке укида стару тајну и оставља ревизиони траг.</a:t>
            </a:r>
          </a:p>
        </p:txBody>
      </p:sp>
    </p:spTree>
    <p:extLst>
      <p:ext uri="{BB962C8B-B14F-4D97-AF65-F5344CB8AC3E}">
        <p14:creationId xmlns:p14="http://schemas.microsoft.com/office/powerpoint/2010/main" val="676718956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BBCC841B-3E18-442B-A318-A855F311C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"/>
            <a:ext cx="2952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7D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B515C2B8-2C4C-4D5B-B367-A33F94567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2014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8D5560"/>
          </a:solidFill>
          <a:ln xmlns:a="http://schemas.openxmlformats.org/drawingml/2006/main" w="7144">
            <a:solidFill>
              <a:srgbClr val="8D5560"/>
            </a:solidFill>
            <a:prstDash val="solid"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AF37DAEB-775F-4DB4-81AE-D8A8CB75E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770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521A93E-307D-4588-950C-6CD099492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90575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Сесија као привремени безбедносни контекст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A9F5BC1-76F7-4439-AA61-D68817E25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3827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>
                <a:solidFill>
                  <a:srgbClr val="657184"/>
                </a:solidFill>
                <a:latin typeface="Aptos"/>
                <a:ea typeface="Aptos"/>
                <a:cs typeface="Aptos"/>
              </a:rPr>
              <a:t>Токен преноси тврдње о субјекту у ограниченом периоду, док сервер проверава њихово важење.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05B0504E-EB53-41E7-952B-CEF1232AF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00300"/>
            <a:ext cx="2447925" cy="1181100"/>
          </a:xfrm>
          <a:prstGeom xmlns:a="http://schemas.openxmlformats.org/drawingml/2006/main" prst="roundRect">
            <a:avLst>
              <a:gd name="adj" fmla="val 11290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443EAE01-A00C-49F5-8765-7C37DF242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2514600"/>
            <a:ext cx="21621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56437D1B-17FA-4E1C-866A-5BC5E7C4C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2762250"/>
            <a:ext cx="21621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Пријава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0CAECAB0-20BF-4EEA-A13F-B014225D0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3143250"/>
            <a:ext cx="21621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потврда идентитета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E7188592-7EA6-46CA-9F20-5B3413703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4725" y="2400300"/>
            <a:ext cx="2447925" cy="1181100"/>
          </a:xfrm>
          <a:prstGeom xmlns:a="http://schemas.openxmlformats.org/drawingml/2006/main" prst="roundRect">
            <a:avLst>
              <a:gd name="adj" fmla="val 11290"/>
            </a:avLst>
          </a:prstGeom>
          <a:solidFill xmlns:a="http://schemas.openxmlformats.org/drawingml/2006/main">
            <a:srgbClr val="EDF8F2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775C6F88-A67D-45BD-ADA4-A832576E7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514600"/>
            <a:ext cx="21621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729317FF-AB5E-44BD-9359-B556D5BE9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762250"/>
            <a:ext cx="21621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Сесија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61D18864-3568-44A6-88FB-CE4D03E6B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143250"/>
            <a:ext cx="21621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ограничено трајање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D702A14E-6C6F-4649-95C7-E070958F2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400300"/>
            <a:ext cx="2447925" cy="1181100"/>
          </a:xfrm>
          <a:prstGeom xmlns:a="http://schemas.openxmlformats.org/drawingml/2006/main" prst="roundRect">
            <a:avLst>
              <a:gd name="adj" fmla="val 11290"/>
            </a:avLst>
          </a:prstGeom>
          <a:solidFill xmlns:a="http://schemas.openxmlformats.org/drawingml/2006/main">
            <a:srgbClr val="F7F4F5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D60495D3-B67F-425C-A675-1C5758A44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2514600"/>
            <a:ext cx="21621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7651D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2A44F21B-2E6E-40F0-9C04-44160A486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2762250"/>
            <a:ext cx="21621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Нова одлука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844FD710-A25F-4141-8A76-ED6554B0D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3143250"/>
            <a:ext cx="21621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провера статуса и дозволе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2249D8F6-E84C-4B3D-8780-820D08517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2400300"/>
            <a:ext cx="2447925" cy="1181100"/>
          </a:xfrm>
          <a:prstGeom xmlns:a="http://schemas.openxmlformats.org/drawingml/2006/main" prst="roundRect">
            <a:avLst>
              <a:gd name="adj" fmla="val 11290"/>
            </a:avLst>
          </a:prstGeom>
          <a:solidFill xmlns:a="http://schemas.openxmlformats.org/drawingml/2006/main">
            <a:srgbClr val="FFF6E9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39291F9B-77BD-49FB-B3E7-6546EC6BB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514600"/>
            <a:ext cx="21621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B86A09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B86A09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735B76A5-4A63-417C-B213-0D3E106D6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762250"/>
            <a:ext cx="21621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Истек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471C2C1A-E285-477F-B774-72E26B216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3143250"/>
            <a:ext cx="21621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9837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поновна потврда идентитета</a:t>
            </a:r>
          </a:p>
        </p:txBody>
      </p:sp>
      <p:cxnSp>
        <p:nvCxnSpPr>
          <p:cNvPr id="222" name="Straight Arrow Connector 125"/>
          <p:cNvCxnSpPr>
            <a:stCxn xmlns:a="http://schemas.openxmlformats.org/drawingml/2006/main" id="6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3248025" y="299085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748092"/>
            </a:solidFill>
            <a:prstDash val="solid"/>
            <a:tailEnd type="arrow" w="sm" len="sm"/>
          </a:ln>
        </p:spPr>
      </p:cxnSp>
      <p:cxnSp>
        <p:nvCxnSpPr>
          <p:cNvPr id="223" name="Straight Arrow Connector 126"/>
          <p:cNvCxnSpPr>
            <a:stCxn xmlns:a="http://schemas.openxmlformats.org/drawingml/2006/main" id="10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5962650" y="299085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748092"/>
            </a:solidFill>
            <a:prstDash val="solid"/>
            <a:tailEnd type="arrow" w="sm" len="sm"/>
          </a:ln>
        </p:spPr>
      </p:cxnSp>
      <p:cxnSp>
        <p:nvCxnSpPr>
          <p:cNvPr id="224" name="Straight Arrow Connector 127"/>
          <p:cNvCxnSpPr>
            <a:stCxn xmlns:a="http://schemas.openxmlformats.org/drawingml/2006/main" id="14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8677275" y="299085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748092"/>
            </a:solidFill>
            <a:prstDash val="solid"/>
            <a:tailEnd type="arrow" w="sm" len="sm"/>
          </a:ln>
        </p:spPr>
      </p:cxnSp>
      <p:sp>
        <p:nvSpPr>
          <p:cNvPr id="76" name="Rounded Rectangle 75">
            <a:extLst xmlns:a="http://schemas.openxmlformats.org/drawingml/2006/main">
              <a:ext uri="{FF2B5EF4-FFF2-40B4-BE49-F238E27FC236}">
                <a16:creationId xmlns:a16="http://schemas.microsoft.com/office/drawing/2014/main" id="{6FF4FA35-457B-4F27-A8BA-138AF8A62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24350"/>
            <a:ext cx="10363200" cy="10668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8573">
            <a:solidFill>
              <a:srgbClr val="DBC7CC"/>
            </a:solidFill>
            <a:prstDash val="solid"/>
          </a:ln>
        </p:spPr>
      </p:sp>
      <p:sp>
        <p:nvSpPr>
          <p:cNvPr id="77" name="Rounded Rectangle 76">
            <a:extLst xmlns:a="http://schemas.openxmlformats.org/drawingml/2006/main">
              <a:ext uri="{FF2B5EF4-FFF2-40B4-BE49-F238E27FC236}">
                <a16:creationId xmlns:a16="http://schemas.microsoft.com/office/drawing/2014/main" id="{49C0BEA3-19BF-484F-9C6C-8C2A2C4D9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476750"/>
            <a:ext cx="57150" cy="762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A2636"/>
          </a:solidFill>
          <a:ln xmlns:a="http://schemas.openxmlformats.org/drawingml/2006/main" w="0">
            <a:noFill/>
          </a:ln>
        </p:spPr>
      </p:sp>
      <p:sp>
        <p:nvSpPr>
          <p:cNvPr id="78" name="Rectangle 77">
            <a:extLst xmlns:a="http://schemas.openxmlformats.org/drawingml/2006/main">
              <a:ext uri="{FF2B5EF4-FFF2-40B4-BE49-F238E27FC236}">
                <a16:creationId xmlns:a16="http://schemas.microsoft.com/office/drawing/2014/main" id="{25470DC4-C335-42DC-9B80-59FD06C13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429125"/>
            <a:ext cx="9639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13" b="1">
                <a:solidFill>
                  <a:srgbClr val="2854D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БЕЗБЕДНОСНИ ИСХОД</a:t>
            </a:r>
          </a:p>
        </p:txBody>
      </p:sp>
      <p:sp>
        <p:nvSpPr>
          <p:cNvPr id="79" name="Rectangle 78">
            <a:extLst xmlns:a="http://schemas.openxmlformats.org/drawingml/2006/main">
              <a:ext uri="{FF2B5EF4-FFF2-40B4-BE49-F238E27FC236}">
                <a16:creationId xmlns:a16="http://schemas.microsoft.com/office/drawing/2014/main" id="{B6DF45F5-B3D9-43AF-BCBE-F7FB98A4A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57725"/>
            <a:ext cx="96393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B2432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B2432"/>
                </a:solidFill>
                <a:latin typeface="Aptos"/>
                <a:ea typeface="Aptos"/>
                <a:cs typeface="Aptos"/>
              </a:rPr>
              <a:t>Суспензија мора да има ефекат</a:t>
            </a:r>
          </a:p>
        </p:txBody>
      </p:sp>
      <p:sp>
        <p:nvSpPr>
          <p:cNvPr id="80" name="Rectangle 79">
            <a:extLst xmlns:a="http://schemas.openxmlformats.org/drawingml/2006/main">
              <a:ext uri="{FF2B5EF4-FFF2-40B4-BE49-F238E27FC236}">
                <a16:creationId xmlns:a16="http://schemas.microsoft.com/office/drawing/2014/main" id="{A2EBC66E-3608-426C-9BA5-1D9B54F76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991100"/>
            <a:ext cx="9639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52637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Активан</a:t>
            </a:r>
            <a:r>
              <a:rPr sz="1275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 </a:t>
            </a:r>
            <a:r>
              <a:rPr sz="1275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токен</a:t>
            </a:r>
            <a:r>
              <a:rPr sz="1275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 </a:t>
            </a:r>
            <a:r>
              <a:rPr sz="1275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не</a:t>
            </a:r>
            <a:r>
              <a:rPr sz="1275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 </a:t>
            </a:r>
            <a:r>
              <a:rPr sz="1275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сме</a:t>
            </a:r>
            <a:r>
              <a:rPr sz="1275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 </a:t>
            </a:r>
            <a:r>
              <a:rPr sz="1275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сам</a:t>
            </a:r>
            <a:r>
              <a:rPr sz="1275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 </a:t>
            </a:r>
            <a:r>
              <a:rPr sz="1275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по</a:t>
            </a:r>
            <a:r>
              <a:rPr sz="1275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 </a:t>
            </a:r>
            <a:r>
              <a:rPr sz="1275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себи</a:t>
            </a:r>
            <a:r>
              <a:rPr sz="1275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 </a:t>
            </a:r>
            <a:r>
              <a:rPr sz="1275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да</a:t>
            </a:r>
            <a:r>
              <a:rPr sz="1275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 </a:t>
            </a:r>
            <a:r>
              <a:rPr sz="1275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надјача</a:t>
            </a:r>
            <a:r>
              <a:rPr sz="1275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 </a:t>
            </a:r>
            <a:r>
              <a:rPr sz="1275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актуелни</a:t>
            </a:r>
            <a:r>
              <a:rPr sz="1275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 </a:t>
            </a:r>
            <a:r>
              <a:rPr sz="1275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статус</a:t>
            </a:r>
            <a:r>
              <a:rPr sz="1275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 </a:t>
            </a:r>
            <a:r>
              <a:rPr sz="1275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идентитета</a:t>
            </a:r>
            <a:r>
              <a:rPr sz="1275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 </a:t>
            </a:r>
            <a:r>
              <a:rPr sz="1275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за</a:t>
            </a:r>
            <a:r>
              <a:rPr sz="1275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 </a:t>
            </a:r>
            <a:r>
              <a:rPr sz="1275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нову</a:t>
            </a:r>
            <a:r>
              <a:rPr sz="1275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 </a:t>
            </a:r>
            <a:r>
              <a:rPr sz="1275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осетљиву</a:t>
            </a:r>
            <a:r>
              <a:rPr sz="1275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 </a:t>
            </a:r>
            <a:r>
              <a:rPr sz="1275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радњу</a:t>
            </a:r>
            <a:r>
              <a:rPr sz="1275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04561997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363F0D1F-752E-419C-BB1B-C92F4F771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"/>
            <a:ext cx="2952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7D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CB3B44F4-8042-431F-970B-A2FC636EF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2014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8D5560"/>
          </a:solidFill>
          <a:ln xmlns:a="http://schemas.openxmlformats.org/drawingml/2006/main" w="7144">
            <a:solidFill>
              <a:srgbClr val="8D5560"/>
            </a:solidFill>
            <a:prstDash val="solid"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F23C1CF7-C0CA-467F-A8E0-60A2BBC45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770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2881098-EBFC-4F00-8821-61304D669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90575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Именовање улога и дозвола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E813D3E-E47B-47CA-AFC0-AF798C03F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3827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Назив улоге описује пословну одговорност, а назив дозволе конкретну заштићену радњу.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4BC193A2-529E-4567-8BF7-15BFDF906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209800"/>
            <a:ext cx="4591050" cy="1409700"/>
          </a:xfrm>
          <a:prstGeom xmlns:a="http://schemas.openxmlformats.org/drawingml/2006/main" prst="roundRect">
            <a:avLst>
              <a:gd name="adj" fmla="val 5224"/>
            </a:avLst>
          </a:prstGeom>
          <a:solidFill xmlns:a="http://schemas.openxmlformats.org/drawingml/2006/main">
            <a:srgbClr val="FFF0F0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CA6BCF3C-A522-4B66-8938-9DC304597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33625"/>
            <a:ext cx="428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C3474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C34747"/>
                </a:solidFill>
                <a:latin typeface="Aptos"/>
                <a:ea typeface="Aptos"/>
                <a:cs typeface="Aptos"/>
              </a:rPr>
              <a:t>ПРЕШИРОКО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CCCE19E8-F0FA-4B89-9115-64B79E689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581275"/>
            <a:ext cx="428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Admin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6151999E-4FA1-4DD1-B989-510732DCB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971800"/>
            <a:ext cx="4286250" cy="1685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Назив не објашњава које радње су оправдане, над којим ресурсима и колико дуго право важи.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7E093A69-76FB-4D9D-821C-1A4C656C4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209800"/>
            <a:ext cx="4591050" cy="1409700"/>
          </a:xfrm>
          <a:prstGeom xmlns:a="http://schemas.openxmlformats.org/drawingml/2006/main" prst="roundRect">
            <a:avLst>
              <a:gd name="adj" fmla="val 5224"/>
            </a:avLst>
          </a:prstGeom>
          <a:solidFill xmlns:a="http://schemas.openxmlformats.org/drawingml/2006/main">
            <a:srgbClr val="EDF8F2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1360A0A0-ECA7-4375-8772-049BD1BDE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333625"/>
            <a:ext cx="428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ПРЕЦИЗНО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2CB54137-0763-49B5-8839-936164814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581275"/>
            <a:ext cx="428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Оператер извештаја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E95B83B9-7F98-4A9F-B8A8-95C04392F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971800"/>
            <a:ext cx="4286250" cy="1685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Улога групише дозволе report.view и report.export у опсегу домена за који оператор одговара.</a:t>
            </a:r>
          </a:p>
        </p:txBody>
      </p:sp>
      <p:cxnSp>
        <p:nvCxnSpPr>
          <p:cNvPr id="131" name="Straight Arrow Connector 74"/>
          <p:cNvCxnSpPr>
            <a:stCxn xmlns:a="http://schemas.openxmlformats.org/drawingml/2006/main" id="6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5524500" y="2914650"/>
            <a:ext cx="1143000" cy="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748092"/>
            </a:solidFill>
            <a:prstDash val="solid"/>
            <a:tailEnd type="arrow" w="sm" len="sm"/>
          </a:ln>
        </p:spPr>
      </p:cxnSp>
      <p:sp>
        <p:nvSpPr>
          <p:cNvPr id="44" name="Rounded Rectangle 43">
            <a:extLst xmlns:a="http://schemas.openxmlformats.org/drawingml/2006/main">
              <a:ext uri="{FF2B5EF4-FFF2-40B4-BE49-F238E27FC236}">
                <a16:creationId xmlns:a16="http://schemas.microsoft.com/office/drawing/2014/main" id="{E1E6037B-75FD-4CB1-950F-49F13DF14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238625"/>
            <a:ext cx="10363200" cy="8001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8573">
            <a:solidFill>
              <a:srgbClr val="DBC7CC"/>
            </a:solidFill>
            <a:prstDash val="solid"/>
          </a:ln>
        </p:spPr>
      </p:sp>
      <p:sp>
        <p:nvSpPr>
          <p:cNvPr id="45" name="Rounded Rectangle 44">
            <a:extLst xmlns:a="http://schemas.openxmlformats.org/drawingml/2006/main">
              <a:ext uri="{FF2B5EF4-FFF2-40B4-BE49-F238E27FC236}">
                <a16:creationId xmlns:a16="http://schemas.microsoft.com/office/drawing/2014/main" id="{632DE3ED-52B3-4879-8C6E-A7CF6AAB9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91025"/>
            <a:ext cx="5715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A2636"/>
          </a:solidFill>
          <a:ln xmlns:a="http://schemas.openxmlformats.org/drawingml/2006/main" w="0">
            <a:noFill/>
          </a:ln>
        </p:spPr>
      </p:sp>
      <p:sp>
        <p:nvSpPr>
          <p:cNvPr id="46" name="Rectangle 45">
            <a:extLst xmlns:a="http://schemas.openxmlformats.org/drawingml/2006/main">
              <a:ext uri="{FF2B5EF4-FFF2-40B4-BE49-F238E27FC236}">
                <a16:creationId xmlns:a16="http://schemas.microsoft.com/office/drawing/2014/main" id="{62A76CF8-1B5B-4625-B825-61A0570C0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343400"/>
            <a:ext cx="9639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13" b="1">
                <a:solidFill>
                  <a:srgbClr val="2854D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ПРАВИЛО МОДЕЛА</a:t>
            </a:r>
          </a:p>
        </p:txBody>
      </p:sp>
      <p:sp>
        <p:nvSpPr>
          <p:cNvPr id="47" name="Rectangle 46">
            <a:extLst xmlns:a="http://schemas.openxmlformats.org/drawingml/2006/main">
              <a:ext uri="{FF2B5EF4-FFF2-40B4-BE49-F238E27FC236}">
                <a16:creationId xmlns:a16="http://schemas.microsoft.com/office/drawing/2014/main" id="{2C928666-D5A7-4F31-9694-C4B645D6F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572000"/>
            <a:ext cx="9639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96979"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B2432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B2432"/>
                </a:solidFill>
                <a:latin typeface="Aptos"/>
                <a:ea typeface="Aptos"/>
                <a:cs typeface="Aptos"/>
              </a:rPr>
              <a:t>Промена пословне одговорности мења улогу. Нова техничка операција додаје малу дозволу у постојећи модел.</a:t>
            </a:r>
          </a:p>
        </p:txBody>
      </p:sp>
    </p:spTree>
    <p:extLst>
      <p:ext uri="{BB962C8B-B14F-4D97-AF65-F5344CB8AC3E}">
        <p14:creationId xmlns:p14="http://schemas.microsoft.com/office/powerpoint/2010/main" val="1117220825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26B340F8-8E2F-4D91-9043-CC32B6BC3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"/>
            <a:ext cx="2952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7D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7A6EA1EA-AE39-415D-B749-76F4F8289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2014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8D5560"/>
          </a:solidFill>
          <a:ln xmlns:a="http://schemas.openxmlformats.org/drawingml/2006/main" w="7144">
            <a:solidFill>
              <a:srgbClr val="8D5560"/>
            </a:solidFill>
            <a:prstDash val="solid"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DD7024A8-52E0-4A15-B133-095DE9C93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770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82BD8A46-FF8C-4C1D-A8D6-392112BE9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90575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Садржај ревизионог записа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BC642B7-784F-4232-BA5A-1B39FD19C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3827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Запис омогућава реконструкцију покушаја без чувања лозинки, токена или непотребних личних података.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A10F3454-D542-45C7-B112-AD455A837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43125"/>
            <a:ext cx="5000625" cy="2237489"/>
          </a:xfrm>
          <a:prstGeom xmlns:a="http://schemas.openxmlformats.org/drawingml/2006/main" prst="roundRect">
            <a:avLst>
              <a:gd name="adj" fmla="val 4257"/>
            </a:avLst>
          </a:prstGeom>
          <a:solidFill xmlns:a="http://schemas.openxmlformats.org/drawingml/2006/main">
            <a:srgbClr val="F4F6F7"/>
          </a:solidFill>
          <a:ln xmlns:a="http://schemas.openxmlformats.org/drawingml/2006/main" w="9525">
            <a:solidFill>
              <a:srgbClr val="CCD6D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ajor"/>
        </p:style>
      </p:sp>
      <p:sp>
        <p:nvSpPr>
          <p:cNvPr id="7" name="Straight Connector 6">
            <a:extLst xmlns:a="http://schemas.openxmlformats.org/drawingml/2006/main">
              <a:ext uri="{FF2B5EF4-FFF2-40B4-BE49-F238E27FC236}">
                <a16:creationId xmlns:a16="http://schemas.microsoft.com/office/drawing/2014/main" id="{F18CE8A7-8AFF-4BFF-B008-91A71C880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05075"/>
            <a:ext cx="5000625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AFBEC9"/>
          </a:solidFill>
          <a:ln xmlns:a="http://schemas.openxmlformats.org/drawingml/2006/main" w="9525">
            <a:solidFill>
              <a:srgbClr val="AFBEC9"/>
            </a:solidFill>
            <a:prstDash val="solid"/>
          </a:ln>
        </p:spPr>
      </p:sp>
      <p:sp>
        <p:nvSpPr>
          <p:cNvPr id="8" name="Oval 7">
            <a:extLst xmlns:a="http://schemas.openxmlformats.org/drawingml/2006/main">
              <a:ext uri="{FF2B5EF4-FFF2-40B4-BE49-F238E27FC236}">
                <a16:creationId xmlns:a16="http://schemas.microsoft.com/office/drawing/2014/main" id="{2F477087-8532-456E-B3BA-BE7FC0889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2262188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6A60"/>
          </a:solidFill>
          <a:ln xmlns:a="http://schemas.openxmlformats.org/drawingml/2006/main" w="0">
            <a:noFill/>
          </a:ln>
        </p:spPr>
      </p:sp>
      <p:sp>
        <p:nvSpPr>
          <p:cNvPr id="9" name="Oval 8">
            <a:extLst xmlns:a="http://schemas.openxmlformats.org/drawingml/2006/main">
              <a:ext uri="{FF2B5EF4-FFF2-40B4-BE49-F238E27FC236}">
                <a16:creationId xmlns:a16="http://schemas.microsoft.com/office/drawing/2014/main" id="{02F53C55-FEAA-47B0-86CA-E4D9C6CE8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3538" y="2262188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BD42"/>
          </a:solidFill>
          <a:ln xmlns:a="http://schemas.openxmlformats.org/drawingml/2006/main" w="0">
            <a:noFill/>
          </a:ln>
        </p:spPr>
      </p:sp>
      <p:sp>
        <p:nvSpPr>
          <p:cNvPr id="10" name="Oval 9">
            <a:extLst xmlns:a="http://schemas.openxmlformats.org/drawingml/2006/main">
              <a:ext uri="{FF2B5EF4-FFF2-40B4-BE49-F238E27FC236}">
                <a16:creationId xmlns:a16="http://schemas.microsoft.com/office/drawing/2014/main" id="{E9EE0619-2D8E-4136-BF39-A5D803549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2262188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5C466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22F01351-3D4A-4B01-9A62-9FFE78AB1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657475"/>
            <a:ext cx="30480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ts val="1300"/>
              </a:lnSpc>
              <a:buNone/>
              <a:defRPr sz="1125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1</a:t>
            </a:r>
          </a:p>
          <a:p xmlns:a="http://schemas.openxmlformats.org/drawingml/2006/main">
            <a:pPr algn="r">
              <a:lnSpc>
                <a:spcPts val="1300"/>
              </a:lnSpc>
              <a:buNone/>
              <a:defRPr sz="1125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2</a:t>
            </a:r>
          </a:p>
          <a:p xmlns:a="http://schemas.openxmlformats.org/drawingml/2006/main">
            <a:pPr algn="r">
              <a:lnSpc>
                <a:spcPts val="1300"/>
              </a:lnSpc>
              <a:buNone/>
              <a:defRPr sz="1125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3</a:t>
            </a:r>
          </a:p>
          <a:p xmlns:a="http://schemas.openxmlformats.org/drawingml/2006/main">
            <a:pPr algn="r">
              <a:lnSpc>
                <a:spcPts val="1300"/>
              </a:lnSpc>
              <a:buNone/>
              <a:defRPr sz="1125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4</a:t>
            </a:r>
          </a:p>
          <a:p xmlns:a="http://schemas.openxmlformats.org/drawingml/2006/main">
            <a:pPr algn="r">
              <a:lnSpc>
                <a:spcPts val="1300"/>
              </a:lnSpc>
              <a:buNone/>
              <a:defRPr sz="1125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5</a:t>
            </a:r>
          </a:p>
          <a:p xmlns:a="http://schemas.openxmlformats.org/drawingml/2006/main">
            <a:pPr algn="r">
              <a:lnSpc>
                <a:spcPts val="1300"/>
              </a:lnSpc>
              <a:buNone/>
              <a:defRPr sz="1125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6</a:t>
            </a:r>
          </a:p>
          <a:p xmlns:a="http://schemas.openxmlformats.org/drawingml/2006/main">
            <a:pPr algn="r">
              <a:lnSpc>
                <a:spcPts val="1300"/>
              </a:lnSpc>
              <a:buNone/>
              <a:defRPr sz="1125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7</a:t>
            </a:r>
          </a:p>
          <a:p xmlns:a="http://schemas.openxmlformats.org/drawingml/2006/main">
            <a:pPr algn="r">
              <a:lnSpc>
                <a:spcPts val="1300"/>
              </a:lnSpc>
              <a:buNone/>
              <a:defRPr sz="1125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8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3D145DEF-946B-4950-B794-B62F3D5B0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657475"/>
            <a:ext cx="4257675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ts val="1300"/>
              </a:lnSpc>
              <a:buNone/>
              <a:defRPr sz="1200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{</a:t>
            </a:r>
          </a:p>
          <a:p xmlns:a="http://schemas.openxmlformats.org/drawingml/2006/main">
            <a:pPr>
              <a:lnSpc>
                <a:spcPts val="1300"/>
              </a:lnSpc>
              <a:buNone/>
              <a:defRPr sz="1200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7651D4"/>
                </a:solidFill>
              </a:rPr>
              <a:t>  "actor"</a:t>
            </a:r>
            <a:r>
              <a:rPr b="0">
                <a:solidFill>
                  <a:srgbClr val="263044"/>
                </a:solidFill>
              </a:rPr>
              <a:t>: </a:t>
            </a:r>
            <a:r>
              <a:rPr b="0">
                <a:solidFill>
                  <a:srgbClr val="B45309"/>
                </a:solidFill>
              </a:rPr>
              <a:t>"user-184"</a:t>
            </a:r>
            <a:r>
              <a:rPr b="0">
                <a:solidFill>
                  <a:srgbClr val="263044"/>
                </a:solidFill>
              </a:rPr>
              <a:t>,</a:t>
            </a:r>
          </a:p>
          <a:p xmlns:a="http://schemas.openxmlformats.org/drawingml/2006/main">
            <a:pPr>
              <a:lnSpc>
                <a:spcPts val="1300"/>
              </a:lnSpc>
              <a:buNone/>
              <a:defRPr sz="1200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7651D4"/>
                </a:solidFill>
              </a:rPr>
              <a:t>  "action"</a:t>
            </a:r>
            <a:r>
              <a:rPr b="0">
                <a:solidFill>
                  <a:srgbClr val="263044"/>
                </a:solidFill>
              </a:rPr>
              <a:t>: </a:t>
            </a:r>
            <a:r>
              <a:rPr b="0">
                <a:solidFill>
                  <a:srgbClr val="B45309"/>
                </a:solidFill>
              </a:rPr>
              <a:t>"report.approve"</a:t>
            </a:r>
            <a:r>
              <a:rPr b="0">
                <a:solidFill>
                  <a:srgbClr val="263044"/>
                </a:solidFill>
              </a:rPr>
              <a:t>,</a:t>
            </a:r>
          </a:p>
          <a:p xmlns:a="http://schemas.openxmlformats.org/drawingml/2006/main">
            <a:pPr>
              <a:lnSpc>
                <a:spcPts val="1300"/>
              </a:lnSpc>
              <a:buNone/>
              <a:defRPr sz="1200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7651D4"/>
                </a:solidFill>
              </a:rPr>
              <a:t>  "target"</a:t>
            </a:r>
            <a:r>
              <a:rPr b="0">
                <a:solidFill>
                  <a:srgbClr val="263044"/>
                </a:solidFill>
              </a:rPr>
              <a:t>: </a:t>
            </a:r>
            <a:r>
              <a:rPr b="0">
                <a:solidFill>
                  <a:srgbClr val="B45309"/>
                </a:solidFill>
              </a:rPr>
              <a:t>"report-902"</a:t>
            </a:r>
            <a:r>
              <a:rPr b="0">
                <a:solidFill>
                  <a:srgbClr val="263044"/>
                </a:solidFill>
              </a:rPr>
              <a:t>,</a:t>
            </a:r>
          </a:p>
          <a:p xmlns:a="http://schemas.openxmlformats.org/drawingml/2006/main">
            <a:pPr>
              <a:lnSpc>
                <a:spcPts val="1300"/>
              </a:lnSpc>
              <a:buNone/>
              <a:defRPr sz="1200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7651D4"/>
                </a:solidFill>
              </a:rPr>
              <a:t>  "outcome"</a:t>
            </a:r>
            <a:r>
              <a:rPr b="0">
                <a:solidFill>
                  <a:srgbClr val="263044"/>
                </a:solidFill>
              </a:rPr>
              <a:t>: </a:t>
            </a:r>
            <a:r>
              <a:rPr b="1">
                <a:solidFill>
                  <a:srgbClr val="C34747"/>
                </a:solidFill>
              </a:rPr>
              <a:t>"denied"</a:t>
            </a:r>
            <a:r>
              <a:rPr b="0">
                <a:solidFill>
                  <a:srgbClr val="263044"/>
                </a:solidFill>
              </a:rPr>
              <a:t>,</a:t>
            </a:r>
          </a:p>
          <a:p xmlns:a="http://schemas.openxmlformats.org/drawingml/2006/main">
            <a:pPr>
              <a:lnSpc>
                <a:spcPts val="1300"/>
              </a:lnSpc>
              <a:buNone/>
              <a:defRPr sz="1200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7651D4"/>
                </a:solidFill>
              </a:rPr>
              <a:t>  "reason"</a:t>
            </a:r>
            <a:r>
              <a:rPr b="0">
                <a:solidFill>
                  <a:srgbClr val="263044"/>
                </a:solidFill>
              </a:rPr>
              <a:t>: </a:t>
            </a:r>
            <a:r>
              <a:rPr b="0">
                <a:solidFill>
                  <a:srgbClr val="B45309"/>
                </a:solidFill>
              </a:rPr>
              <a:t>"missing_permission"</a:t>
            </a:r>
            <a:r>
              <a:rPr b="0">
                <a:solidFill>
                  <a:srgbClr val="263044"/>
                </a:solidFill>
              </a:rPr>
              <a:t>,</a:t>
            </a:r>
          </a:p>
          <a:p xmlns:a="http://schemas.openxmlformats.org/drawingml/2006/main">
            <a:pPr>
              <a:lnSpc>
                <a:spcPts val="1300"/>
              </a:lnSpc>
              <a:buNone/>
              <a:defRPr sz="1200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7651D4"/>
                </a:solidFill>
              </a:rPr>
              <a:t>  "correlationId"</a:t>
            </a:r>
            <a:r>
              <a:rPr b="0">
                <a:solidFill>
                  <a:srgbClr val="263044"/>
                </a:solidFill>
              </a:rPr>
              <a:t>: </a:t>
            </a:r>
            <a:r>
              <a:rPr b="0">
                <a:solidFill>
                  <a:srgbClr val="B45309"/>
                </a:solidFill>
              </a:rPr>
              <a:t>"c-71f2"</a:t>
            </a:r>
          </a:p>
          <a:p xmlns:a="http://schemas.openxmlformats.org/drawingml/2006/main">
            <a:pPr>
              <a:lnSpc>
                <a:spcPts val="1300"/>
              </a:lnSpc>
              <a:buNone/>
              <a:defRPr sz="1200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}</a:t>
            </a:r>
          </a:p>
        </p:txBody>
      </p:sp>
      <p:sp>
        <p:nvSpPr>
          <p:cNvPr id="13" name="Rounded Rectangle 12">
            <a:extLst xmlns:a="http://schemas.openxmlformats.org/drawingml/2006/main">
              <a:ext uri="{FF2B5EF4-FFF2-40B4-BE49-F238E27FC236}">
                <a16:creationId xmlns:a16="http://schemas.microsoft.com/office/drawing/2014/main" id="{59318600-857A-47E8-AAFC-9BB647908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143125"/>
            <a:ext cx="4819650" cy="1381125"/>
          </a:xfrm>
          <a:prstGeom xmlns:a="http://schemas.openxmlformats.org/drawingml/2006/main" prst="roundRect">
            <a:avLst>
              <a:gd name="adj" fmla="val 9655"/>
            </a:avLst>
          </a:prstGeom>
          <a:solidFill xmlns:a="http://schemas.openxmlformats.org/drawingml/2006/main">
            <a:srgbClr val="EDF8F2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8590A71A-2F41-4E5F-B831-2649540B8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266950"/>
            <a:ext cx="4514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ДОВОЉНО ЗА ОБЈАШЊЕЊЕ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E472F8F1-221D-4191-9D58-EF83D74DA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514600"/>
            <a:ext cx="4514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Субјекат, радња, циљ и исход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8C49445F-6F7D-4916-9F73-C4FE2E458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905125"/>
            <a:ext cx="4514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Correlation ID повезује одлуку са остатком тока захтева.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75F9D4D2-24FC-46BA-8BD1-4C4A41EFF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905250"/>
            <a:ext cx="4819650" cy="1381125"/>
          </a:xfrm>
          <a:prstGeom xmlns:a="http://schemas.openxmlformats.org/drawingml/2006/main" prst="roundRect">
            <a:avLst>
              <a:gd name="adj" fmla="val 9655"/>
            </a:avLst>
          </a:prstGeom>
          <a:solidFill xmlns:a="http://schemas.openxmlformats.org/drawingml/2006/main">
            <a:srgbClr val="FFF0F0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DF009004-E252-482D-AEAB-5D363863B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029075"/>
            <a:ext cx="4514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C3474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C34747"/>
                </a:solidFill>
                <a:latin typeface="Aptos"/>
                <a:ea typeface="Aptos"/>
                <a:cs typeface="Aptos"/>
              </a:rPr>
              <a:t>НЕ ПРИПАДА У ЛОГ</a:t>
            </a: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F79E7B64-DB0B-4B2A-BCC3-18EC7A8E7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276725"/>
            <a:ext cx="4514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Лозинка, token и непотребни лични подаци</a:t>
            </a: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33E04E9B-2843-41FD-BD99-DD02C3097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667250"/>
            <a:ext cx="4514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Ревизиони траг не садржи осетљиве вредности које би могле постати нови извор цурења.</a:t>
            </a:r>
          </a:p>
        </p:txBody>
      </p:sp>
    </p:spTree>
    <p:extLst>
      <p:ext uri="{BB962C8B-B14F-4D97-AF65-F5344CB8AC3E}">
        <p14:creationId xmlns:p14="http://schemas.microsoft.com/office/powerpoint/2010/main" val="900676321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D5F900BD-87C4-4DA6-8180-90A134DDF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"/>
            <a:ext cx="2952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7D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3A0B959A-DC57-47EB-BFFC-0ECA112E8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2014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8D5560"/>
          </a:solidFill>
          <a:ln xmlns:a="http://schemas.openxmlformats.org/drawingml/2006/main" w="7144">
            <a:solidFill>
              <a:srgbClr val="8D5560"/>
            </a:solidFill>
            <a:prstDash val="solid"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F8DB9D1A-E2B8-47CF-B741-0A9D3274D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770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F6F35651-30B2-4F4A-B9C2-EBB19D5A0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90575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Примена концепата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F134FE6-D897-4B59-9118-C1FDE804E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3827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Анализа једне радње обухвата субјекат, дозволу, контекст, серверску одлуку и доказ исхода.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4676E1C9-CCF5-4060-A0B4-F2DDEC22C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43150"/>
            <a:ext cx="2447925" cy="1181100"/>
          </a:xfrm>
          <a:prstGeom xmlns:a="http://schemas.openxmlformats.org/drawingml/2006/main" prst="roundRect">
            <a:avLst>
              <a:gd name="adj" fmla="val 11290"/>
            </a:avLst>
          </a:prstGeom>
          <a:solidFill xmlns:a="http://schemas.openxmlformats.org/drawingml/2006/main">
            <a:srgbClr val="F4F6F9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BC66EC65-BF84-45ED-B593-9C1F8D7D0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2457450"/>
            <a:ext cx="21621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F5EA81F2-2A34-49F6-A8C0-9486AAD28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2705100"/>
            <a:ext cx="21621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Избор радње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3D691644-3BA7-465F-8821-A2EEB6E33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3086100"/>
            <a:ext cx="21621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на пример report.approve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16CC854B-9AF0-4BED-98E3-D690BE2AC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4725" y="2343150"/>
            <a:ext cx="2447925" cy="1181100"/>
          </a:xfrm>
          <a:prstGeom xmlns:a="http://schemas.openxmlformats.org/drawingml/2006/main" prst="roundRect">
            <a:avLst>
              <a:gd name="adj" fmla="val 11290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3A96ED68-5EE6-4931-A1F1-8DA02FDFD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457450"/>
            <a:ext cx="21621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18C3318C-56F1-4C42-AB85-C8C85E89F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705100"/>
            <a:ext cx="21621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Дефинисање дозволе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6653CB3E-EC8D-45E2-B9B1-CD110621C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086100"/>
            <a:ext cx="21621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назив и опсег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11B8CD89-02A6-408F-9F5A-FFD56BE7C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343150"/>
            <a:ext cx="2447925" cy="1181100"/>
          </a:xfrm>
          <a:prstGeom xmlns:a="http://schemas.openxmlformats.org/drawingml/2006/main" prst="roundRect">
            <a:avLst>
              <a:gd name="adj" fmla="val 11290"/>
            </a:avLst>
          </a:prstGeom>
          <a:solidFill xmlns:a="http://schemas.openxmlformats.org/drawingml/2006/main">
            <a:srgbClr val="FFF0F0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383BF07A-9996-4720-9DA5-66100FDBC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2457450"/>
            <a:ext cx="21621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C3474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C34747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E752E17A-B841-4B23-BA77-D1EF93D24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2705100"/>
            <a:ext cx="21621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Тест одбијања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EE76CCC4-130E-4292-8FEF-0A8BEC2EC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3086100"/>
            <a:ext cx="21621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недостаје једна чињеница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176BEA05-4869-469C-8937-703B8FB84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2343150"/>
            <a:ext cx="2447925" cy="1181100"/>
          </a:xfrm>
          <a:prstGeom xmlns:a="http://schemas.openxmlformats.org/drawingml/2006/main" prst="roundRect">
            <a:avLst>
              <a:gd name="adj" fmla="val 11290"/>
            </a:avLst>
          </a:prstGeom>
          <a:solidFill xmlns:a="http://schemas.openxmlformats.org/drawingml/2006/main">
            <a:srgbClr val="EDF8F2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07C2E43E-0D94-4B2F-9ADB-FEF5E07C0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457450"/>
            <a:ext cx="21621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80CE209F-1332-49FF-8DEC-AF0A5D6ED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705100"/>
            <a:ext cx="21621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80552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Провера ревизионог записа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B1CDAF90-66CB-4EF2-BFF6-6EEC47EBC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3086100"/>
            <a:ext cx="21621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actor, action, target, outcome</a:t>
            </a:r>
          </a:p>
        </p:txBody>
      </p:sp>
      <p:cxnSp>
        <p:nvCxnSpPr>
          <p:cNvPr id="222" name="Straight Arrow Connector 125"/>
          <p:cNvCxnSpPr>
            <a:stCxn xmlns:a="http://schemas.openxmlformats.org/drawingml/2006/main" id="6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3248025" y="29337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748092"/>
            </a:solidFill>
            <a:prstDash val="solid"/>
            <a:tailEnd type="arrow" w="sm" len="sm"/>
          </a:ln>
        </p:spPr>
      </p:cxnSp>
      <p:cxnSp>
        <p:nvCxnSpPr>
          <p:cNvPr id="223" name="Straight Arrow Connector 126"/>
          <p:cNvCxnSpPr>
            <a:stCxn xmlns:a="http://schemas.openxmlformats.org/drawingml/2006/main" id="10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5962650" y="29337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748092"/>
            </a:solidFill>
            <a:prstDash val="solid"/>
            <a:tailEnd type="arrow" w="sm" len="sm"/>
          </a:ln>
        </p:spPr>
      </p:cxnSp>
      <p:cxnSp>
        <p:nvCxnSpPr>
          <p:cNvPr id="224" name="Straight Arrow Connector 127"/>
          <p:cNvCxnSpPr>
            <a:stCxn xmlns:a="http://schemas.openxmlformats.org/drawingml/2006/main" id="14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8677275" y="29337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748092"/>
            </a:solidFill>
            <a:prstDash val="solid"/>
            <a:tailEnd type="arrow" w="sm" len="sm"/>
          </a:ln>
        </p:spPr>
      </p:cxnSp>
      <p:sp>
        <p:nvSpPr>
          <p:cNvPr id="76" name="Rounded Rectangle 75">
            <a:extLst xmlns:a="http://schemas.openxmlformats.org/drawingml/2006/main">
              <a:ext uri="{FF2B5EF4-FFF2-40B4-BE49-F238E27FC236}">
                <a16:creationId xmlns:a16="http://schemas.microsoft.com/office/drawing/2014/main" id="{9D50769C-E494-4455-A490-81236F41F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76725"/>
            <a:ext cx="10363200" cy="10668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8573">
            <a:solidFill>
              <a:srgbClr val="DBC7CC"/>
            </a:solidFill>
            <a:prstDash val="solid"/>
          </a:ln>
        </p:spPr>
      </p:sp>
      <p:sp>
        <p:nvSpPr>
          <p:cNvPr id="77" name="Rounded Rectangle 76">
            <a:extLst xmlns:a="http://schemas.openxmlformats.org/drawingml/2006/main">
              <a:ext uri="{FF2B5EF4-FFF2-40B4-BE49-F238E27FC236}">
                <a16:creationId xmlns:a16="http://schemas.microsoft.com/office/drawing/2014/main" id="{53A94149-18D8-4728-8907-738AF2EDA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429125"/>
            <a:ext cx="57150" cy="762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A2636"/>
          </a:solidFill>
          <a:ln xmlns:a="http://schemas.openxmlformats.org/drawingml/2006/main" w="0">
            <a:noFill/>
          </a:ln>
        </p:spPr>
      </p:sp>
      <p:sp>
        <p:nvSpPr>
          <p:cNvPr id="78" name="Rectangle 77">
            <a:extLst xmlns:a="http://schemas.openxmlformats.org/drawingml/2006/main">
              <a:ext uri="{FF2B5EF4-FFF2-40B4-BE49-F238E27FC236}">
                <a16:creationId xmlns:a16="http://schemas.microsoft.com/office/drawing/2014/main" id="{56392A1D-2970-4A0C-B088-7947A0C3D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381500"/>
            <a:ext cx="9639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13" b="1">
                <a:solidFill>
                  <a:srgbClr val="2854D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ОЧЕКИВАНИ РЕЗУЛТАТ</a:t>
            </a:r>
          </a:p>
        </p:txBody>
      </p:sp>
      <p:sp>
        <p:nvSpPr>
          <p:cNvPr id="79" name="Rectangle 78">
            <a:extLst xmlns:a="http://schemas.openxmlformats.org/drawingml/2006/main">
              <a:ext uri="{FF2B5EF4-FFF2-40B4-BE49-F238E27FC236}">
                <a16:creationId xmlns:a16="http://schemas.microsoft.com/office/drawing/2014/main" id="{71973BE5-1A6A-493C-AD51-E5AFE22BD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10100"/>
            <a:ext cx="96393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B2432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B2432"/>
                </a:solidFill>
                <a:latin typeface="Aptos"/>
                <a:ea typeface="Aptos"/>
                <a:cs typeface="Aptos"/>
              </a:rPr>
              <a:t>Очекивани резултат</a:t>
            </a:r>
          </a:p>
        </p:txBody>
      </p:sp>
      <p:sp>
        <p:nvSpPr>
          <p:cNvPr id="80" name="Rectangle 79">
            <a:extLst xmlns:a="http://schemas.openxmlformats.org/drawingml/2006/main">
              <a:ext uri="{FF2B5EF4-FFF2-40B4-BE49-F238E27FC236}">
                <a16:creationId xmlns:a16="http://schemas.microsoft.com/office/drawing/2014/main" id="{24A486D7-0CE0-4C8A-AA82-4D3E92137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943475"/>
            <a:ext cx="9639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52637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Мала серверска промена, позитиван и негативан тест и кратко објашњење зашто дозвола има баш тај опсег.</a:t>
            </a:r>
          </a:p>
        </p:txBody>
      </p:sp>
    </p:spTree>
    <p:extLst>
      <p:ext uri="{BB962C8B-B14F-4D97-AF65-F5344CB8AC3E}">
        <p14:creationId xmlns:p14="http://schemas.microsoft.com/office/powerpoint/2010/main" val="64114832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8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2026-09-29T19:08:27.6520000Z</dcterms:created>
  <dcterms:modified xsi:type="dcterms:W3CDTF">2026-09-29T19:08:27.6520000Z</dcterms:modified>
</coreProperties>
</file>