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66320be9ce47eb" /><Relationship Type="http://schemas.openxmlformats.org/officeDocument/2006/relationships/extended-properties" Target="/docProps/app.xml" Id="R09853fe68e824a8a" /><Relationship Type="http://schemas.openxmlformats.org/officeDocument/2006/relationships/officeDocument" Target="/ppt/presentation.xml" Id="R8771baa015c046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f1df393a5a4670"/>
  </p:sldMasterIdLst>
  <p:notesMasterIdLst>
    <p:notesMasterId xmlns:r="http://schemas.openxmlformats.org/officeDocument/2006/relationships" r:id="R734296c3fab44ecc"/>
  </p:notesMasterIdLst>
  <p:sldIdLst>
    <p:sldId xmlns:r="http://schemas.openxmlformats.org/officeDocument/2006/relationships" id="256" r:id="R37b1cbcc948543f8"/>
    <p:sldId xmlns:r="http://schemas.openxmlformats.org/officeDocument/2006/relationships" id="257" r:id="R20fddf0cb7854b0d"/>
    <p:sldId xmlns:r="http://schemas.openxmlformats.org/officeDocument/2006/relationships" id="258" r:id="R660ae20a77474014"/>
    <p:sldId xmlns:r="http://schemas.openxmlformats.org/officeDocument/2006/relationships" id="259" r:id="Rb6fabbbbe06045ab"/>
    <p:sldId xmlns:r="http://schemas.openxmlformats.org/officeDocument/2006/relationships" id="260" r:id="R2398c69811ee4e83"/>
    <p:sldId xmlns:r="http://schemas.openxmlformats.org/officeDocument/2006/relationships" id="261" r:id="Rcaf72f03eefd4da3"/>
    <p:sldId xmlns:r="http://schemas.openxmlformats.org/officeDocument/2006/relationships" id="262" r:id="R6bd72e7631e34eac"/>
    <p:sldId xmlns:r="http://schemas.openxmlformats.org/officeDocument/2006/relationships" id="263" r:id="Rc1f1e8e8a6a945a3"/>
    <p:sldId xmlns:r="http://schemas.openxmlformats.org/officeDocument/2006/relationships" id="264" r:id="R2503f750dda3438f"/>
    <p:sldId xmlns:r="http://schemas.openxmlformats.org/officeDocument/2006/relationships" id="265" r:id="Ra195161e386d4b9d"/>
    <p:sldId xmlns:r="http://schemas.openxmlformats.org/officeDocument/2006/relationships" id="266" r:id="Ra209ab0cf845471d"/>
    <p:sldId xmlns:r="http://schemas.openxmlformats.org/officeDocument/2006/relationships" id="267" r:id="R2f40d77b5c144972"/>
    <p:sldId xmlns:r="http://schemas.openxmlformats.org/officeDocument/2006/relationships" id="268" r:id="R907c6d5129b3435e"/>
    <p:sldId xmlns:r="http://schemas.openxmlformats.org/officeDocument/2006/relationships" id="269" r:id="R57a1fe292b7e4e1a"/>
    <p:sldId xmlns:r="http://schemas.openxmlformats.org/officeDocument/2006/relationships" id="270" r:id="Rb16abf6b10a145f0"/>
    <p:sldId xmlns:r="http://schemas.openxmlformats.org/officeDocument/2006/relationships" id="271" r:id="Rb5a3d975701e42a9"/>
    <p:sldId xmlns:r="http://schemas.openxmlformats.org/officeDocument/2006/relationships" id="272" r:id="R1481c821218c4861"/>
    <p:sldId xmlns:r="http://schemas.openxmlformats.org/officeDocument/2006/relationships" id="273" r:id="R50d56d1adb614549"/>
    <p:sldId xmlns:r="http://schemas.openxmlformats.org/officeDocument/2006/relationships" id="274" r:id="Rabb507c990924b2b"/>
    <p:sldId xmlns:r="http://schemas.openxmlformats.org/officeDocument/2006/relationships" id="275" r:id="R27bae1718cd44ef8"/>
    <p:sldId xmlns:r="http://schemas.openxmlformats.org/officeDocument/2006/relationships" id="276" r:id="Rad146c799bf74273"/>
    <p:sldId xmlns:r="http://schemas.openxmlformats.org/officeDocument/2006/relationships" id="277" r:id="Rb8458b0170c14638"/>
    <p:sldId xmlns:r="http://schemas.openxmlformats.org/officeDocument/2006/relationships" id="278" r:id="R9ed2d4eb84bd4b88"/>
    <p:sldId xmlns:r="http://schemas.openxmlformats.org/officeDocument/2006/relationships" id="279" r:id="R07c99abf786747c0"/>
    <p:sldId xmlns:r="http://schemas.openxmlformats.org/officeDocument/2006/relationships" id="280" r:id="Re8652a7b8ccd40c3"/>
    <p:sldId xmlns:r="http://schemas.openxmlformats.org/officeDocument/2006/relationships" id="281" r:id="R09b44178a7164ac2"/>
    <p:sldId xmlns:r="http://schemas.openxmlformats.org/officeDocument/2006/relationships" id="282" r:id="R4d10e63f91994e42"/>
    <p:sldId xmlns:r="http://schemas.openxmlformats.org/officeDocument/2006/relationships" id="283" r:id="Rbbe3ca20130c41bd"/>
    <p:sldId xmlns:r="http://schemas.openxmlformats.org/officeDocument/2006/relationships" id="284" r:id="Rfa09013c27024606"/>
    <p:sldId xmlns:r="http://schemas.openxmlformats.org/officeDocument/2006/relationships" id="285" r:id="R56a2391f283f414f"/>
    <p:sldId xmlns:r="http://schemas.openxmlformats.org/officeDocument/2006/relationships" id="286" r:id="R19d3567d47d045c3"/>
    <p:sldId xmlns:r="http://schemas.openxmlformats.org/officeDocument/2006/relationships" id="287" r:id="R09e199e1904348c3"/>
    <p:sldId xmlns:r="http://schemas.openxmlformats.org/officeDocument/2006/relationships" id="288" r:id="R09c30ac383f84c8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75b086b66c472a" /><Relationship Type="http://schemas.openxmlformats.org/officeDocument/2006/relationships/slideMaster" Target="/ppt/slideMasters/slideMaster1.xml" Id="Rf1f1df393a5a4670" /><Relationship Type="http://schemas.openxmlformats.org/officeDocument/2006/relationships/notesMaster" Target="/ppt/notesMasters/notesMaster1.xml" Id="R734296c3fab44ecc" /><Relationship Type="http://schemas.openxmlformats.org/officeDocument/2006/relationships/presProps" Target="/ppt/presProps.xml" Id="R3aa71ab5ed8d48aa" /><Relationship Type="http://schemas.openxmlformats.org/officeDocument/2006/relationships/tableStyles" Target="/ppt/tableStyles.xml" Id="Re92853f8faee4f2b" /><Relationship Type="http://schemas.openxmlformats.org/officeDocument/2006/relationships/slide" Target="/ppt/slides/slide1.xml" Id="R37b1cbcc948543f8" /><Relationship Type="http://schemas.openxmlformats.org/officeDocument/2006/relationships/slide" Target="/ppt/slides/slide2.xml" Id="R20fddf0cb7854b0d" /><Relationship Type="http://schemas.openxmlformats.org/officeDocument/2006/relationships/slide" Target="/ppt/slides/slide3.xml" Id="R660ae20a77474014" /><Relationship Type="http://schemas.openxmlformats.org/officeDocument/2006/relationships/slide" Target="/ppt/slides/slide4.xml" Id="Rb6fabbbbe06045ab" /><Relationship Type="http://schemas.openxmlformats.org/officeDocument/2006/relationships/slide" Target="/ppt/slides/slide5.xml" Id="R2398c69811ee4e83" /><Relationship Type="http://schemas.openxmlformats.org/officeDocument/2006/relationships/slide" Target="/ppt/slides/slide6.xml" Id="Rcaf72f03eefd4da3" /><Relationship Type="http://schemas.openxmlformats.org/officeDocument/2006/relationships/slide" Target="/ppt/slides/slide7.xml" Id="R6bd72e7631e34eac" /><Relationship Type="http://schemas.openxmlformats.org/officeDocument/2006/relationships/slide" Target="/ppt/slides/slide8.xml" Id="Rc1f1e8e8a6a945a3" /><Relationship Type="http://schemas.openxmlformats.org/officeDocument/2006/relationships/slide" Target="/ppt/slides/slide9.xml" Id="R2503f750dda3438f" /><Relationship Type="http://schemas.openxmlformats.org/officeDocument/2006/relationships/slide" Target="/ppt/slides/slide10.xml" Id="Ra195161e386d4b9d" /><Relationship Type="http://schemas.openxmlformats.org/officeDocument/2006/relationships/slide" Target="/ppt/slides/slide11.xml" Id="Ra209ab0cf845471d" /><Relationship Type="http://schemas.openxmlformats.org/officeDocument/2006/relationships/slide" Target="/ppt/slides/slide12.xml" Id="R2f40d77b5c144972" /><Relationship Type="http://schemas.openxmlformats.org/officeDocument/2006/relationships/slide" Target="/ppt/slides/slide13.xml" Id="R907c6d5129b3435e" /><Relationship Type="http://schemas.openxmlformats.org/officeDocument/2006/relationships/slide" Target="/ppt/slides/slide14.xml" Id="R57a1fe292b7e4e1a" /><Relationship Type="http://schemas.openxmlformats.org/officeDocument/2006/relationships/slide" Target="/ppt/slides/slide15.xml" Id="Rb16abf6b10a145f0" /><Relationship Type="http://schemas.openxmlformats.org/officeDocument/2006/relationships/slide" Target="/ppt/slides/slide16.xml" Id="Rb5a3d975701e42a9" /><Relationship Type="http://schemas.openxmlformats.org/officeDocument/2006/relationships/slide" Target="/ppt/slides/slide17.xml" Id="R1481c821218c4861" /><Relationship Type="http://schemas.openxmlformats.org/officeDocument/2006/relationships/slide" Target="/ppt/slides/slide18.xml" Id="R50d56d1adb614549" /><Relationship Type="http://schemas.openxmlformats.org/officeDocument/2006/relationships/slide" Target="/ppt/slides/slide19.xml" Id="Rabb507c990924b2b" /><Relationship Type="http://schemas.openxmlformats.org/officeDocument/2006/relationships/slide" Target="/ppt/slides/slide20.xml" Id="R27bae1718cd44ef8" /><Relationship Type="http://schemas.openxmlformats.org/officeDocument/2006/relationships/slide" Target="/ppt/slides/slide21.xml" Id="Rad146c799bf74273" /><Relationship Type="http://schemas.openxmlformats.org/officeDocument/2006/relationships/slide" Target="/ppt/slides/slide22.xml" Id="Rb8458b0170c14638" /><Relationship Type="http://schemas.openxmlformats.org/officeDocument/2006/relationships/slide" Target="/ppt/slides/slide23.xml" Id="R9ed2d4eb84bd4b88" /><Relationship Type="http://schemas.openxmlformats.org/officeDocument/2006/relationships/slide" Target="/ppt/slides/slide24.xml" Id="R07c99abf786747c0" /><Relationship Type="http://schemas.openxmlformats.org/officeDocument/2006/relationships/slide" Target="/ppt/slides/slide25.xml" Id="Re8652a7b8ccd40c3" /><Relationship Type="http://schemas.openxmlformats.org/officeDocument/2006/relationships/slide" Target="/ppt/slides/slide26.xml" Id="R09b44178a7164ac2" /><Relationship Type="http://schemas.openxmlformats.org/officeDocument/2006/relationships/slide" Target="/ppt/slides/slide27.xml" Id="R4d10e63f91994e42" /><Relationship Type="http://schemas.openxmlformats.org/officeDocument/2006/relationships/slide" Target="/ppt/slides/slide28.xml" Id="Rbbe3ca20130c41bd" /><Relationship Type="http://schemas.openxmlformats.org/officeDocument/2006/relationships/slide" Target="/ppt/slides/slide29.xml" Id="Rfa09013c27024606" /><Relationship Type="http://schemas.openxmlformats.org/officeDocument/2006/relationships/slide" Target="/ppt/slides/slide30.xml" Id="R56a2391f283f414f" /><Relationship Type="http://schemas.openxmlformats.org/officeDocument/2006/relationships/slide" Target="/ppt/slides/slide31.xml" Id="R19d3567d47d045c3" /><Relationship Type="http://schemas.openxmlformats.org/officeDocument/2006/relationships/slide" Target="/ppt/slides/slide32.xml" Id="R09e199e1904348c3" /><Relationship Type="http://schemas.openxmlformats.org/officeDocument/2006/relationships/slide" Target="/ppt/slides/slide33.xml" Id="R09c30ac383f84c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de161be4d440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0e966a91bc4467" /><Relationship Type="http://schemas.openxmlformats.org/officeDocument/2006/relationships/notesMaster" Target="/ppt/notesMasters/notesMaster1.xml" Id="R5d6ab74c300f4b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90f6556e954da4" /><Relationship Type="http://schemas.openxmlformats.org/officeDocument/2006/relationships/notesMaster" Target="/ppt/notesMasters/notesMaster1.xml" Id="R9f14947679b34b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d264dde80544f7" /><Relationship Type="http://schemas.openxmlformats.org/officeDocument/2006/relationships/notesMaster" Target="/ppt/notesMasters/notesMaster1.xml" Id="R2c19619541314f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6750169b8d482f" /><Relationship Type="http://schemas.openxmlformats.org/officeDocument/2006/relationships/notesMaster" Target="/ppt/notesMasters/notesMaster1.xml" Id="R86ea018e285c45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82aa02ef29482a" /><Relationship Type="http://schemas.openxmlformats.org/officeDocument/2006/relationships/notesMaster" Target="/ppt/notesMasters/notesMaster1.xml" Id="R0536fddb5ca049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ce05af6ebc424c" /><Relationship Type="http://schemas.openxmlformats.org/officeDocument/2006/relationships/notesMaster" Target="/ppt/notesMasters/notesMaster1.xml" Id="R7be71e1fe96b42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9709f2b18e46b4" /><Relationship Type="http://schemas.openxmlformats.org/officeDocument/2006/relationships/notesMaster" Target="/ppt/notesMasters/notesMaster1.xml" Id="R52c46bc20a2146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2a9d6d6f774522" /><Relationship Type="http://schemas.openxmlformats.org/officeDocument/2006/relationships/notesMaster" Target="/ppt/notesMasters/notesMaster1.xml" Id="R0d0eb3c37c204b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6d4ceb2ddd4aae" /><Relationship Type="http://schemas.openxmlformats.org/officeDocument/2006/relationships/notesMaster" Target="/ppt/notesMasters/notesMaster1.xml" Id="R3a135be35d1d41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3db72e2ff44058" /><Relationship Type="http://schemas.openxmlformats.org/officeDocument/2006/relationships/notesMaster" Target="/ppt/notesMasters/notesMaster1.xml" Id="Rd9ac9bbfc9b943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0b5d1dc64445d8" /><Relationship Type="http://schemas.openxmlformats.org/officeDocument/2006/relationships/notesMaster" Target="/ppt/notesMasters/notesMaster1.xml" Id="R720cf5e5681d4c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e1e540f8e9479f" /><Relationship Type="http://schemas.openxmlformats.org/officeDocument/2006/relationships/notesMaster" Target="/ppt/notesMasters/notesMaster1.xml" Id="Rad47b442122a4b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cc07e7fd1745dc" /><Relationship Type="http://schemas.openxmlformats.org/officeDocument/2006/relationships/notesMaster" Target="/ppt/notesMasters/notesMaster1.xml" Id="R2d6162967aa24e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c4a6390dd6496a" /><Relationship Type="http://schemas.openxmlformats.org/officeDocument/2006/relationships/notesMaster" Target="/ppt/notesMasters/notesMaster1.xml" Id="R5c0c8e8135f64c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c8d5ee90f94158" /><Relationship Type="http://schemas.openxmlformats.org/officeDocument/2006/relationships/notesMaster" Target="/ppt/notesMasters/notesMaster1.xml" Id="Re3572f16562246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eb7ccf8ccd45cc" /><Relationship Type="http://schemas.openxmlformats.org/officeDocument/2006/relationships/notesMaster" Target="/ppt/notesMasters/notesMaster1.xml" Id="R97e9065f873f4f8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a357f04aa2b4148" /><Relationship Type="http://schemas.openxmlformats.org/officeDocument/2006/relationships/notesMaster" Target="/ppt/notesMasters/notesMaster1.xml" Id="Re9d11ba258f84f7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df256a5b0244047" /><Relationship Type="http://schemas.openxmlformats.org/officeDocument/2006/relationships/notesMaster" Target="/ppt/notesMasters/notesMaster1.xml" Id="Rabbf4b657b1f4a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fee3373da0e4005" /><Relationship Type="http://schemas.openxmlformats.org/officeDocument/2006/relationships/notesMaster" Target="/ppt/notesMasters/notesMaster1.xml" Id="Rc80cd78d42ae4a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b885e2d23e47af" /><Relationship Type="http://schemas.openxmlformats.org/officeDocument/2006/relationships/notesMaster" Target="/ppt/notesMasters/notesMaster1.xml" Id="R5a0a4534a8ec4f2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65975699c994973" /><Relationship Type="http://schemas.openxmlformats.org/officeDocument/2006/relationships/notesMaster" Target="/ppt/notesMasters/notesMaster1.xml" Id="Rd0f74daf384a4e6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b4d10f3d5d54582" /><Relationship Type="http://schemas.openxmlformats.org/officeDocument/2006/relationships/notesMaster" Target="/ppt/notesMasters/notesMaster1.xml" Id="R94f52c2409984e9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6c96be28e1d48ab" /><Relationship Type="http://schemas.openxmlformats.org/officeDocument/2006/relationships/notesMaster" Target="/ppt/notesMasters/notesMaster1.xml" Id="R1549b2faae44406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28baa63fed9450f" /><Relationship Type="http://schemas.openxmlformats.org/officeDocument/2006/relationships/notesMaster" Target="/ppt/notesMasters/notesMaster1.xml" Id="Rfab45f1591a34b2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4078fae04fa479a" /><Relationship Type="http://schemas.openxmlformats.org/officeDocument/2006/relationships/notesMaster" Target="/ppt/notesMasters/notesMaster1.xml" Id="Rdcb57fdb9aea410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ba3ae7cef604c3e" /><Relationship Type="http://schemas.openxmlformats.org/officeDocument/2006/relationships/notesMaster" Target="/ppt/notesMasters/notesMaster1.xml" Id="Rca7537b56bb34d6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3df5964a21a4522" /><Relationship Type="http://schemas.openxmlformats.org/officeDocument/2006/relationships/notesMaster" Target="/ppt/notesMasters/notesMaster1.xml" Id="R95d7b5da5497488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cfcb1f747fa4223" /><Relationship Type="http://schemas.openxmlformats.org/officeDocument/2006/relationships/notesMaster" Target="/ppt/notesMasters/notesMaster1.xml" Id="Raea9e1c8732640f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3ca16c217ac4f43" /><Relationship Type="http://schemas.openxmlformats.org/officeDocument/2006/relationships/notesMaster" Target="/ppt/notesMasters/notesMaster1.xml" Id="R5f05502f3c73404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004cb8c1838411d" /><Relationship Type="http://schemas.openxmlformats.org/officeDocument/2006/relationships/notesMaster" Target="/ppt/notesMasters/notesMaster1.xml" Id="R1e0b0bd99e70449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0181fd59b5b474a" /><Relationship Type="http://schemas.openxmlformats.org/officeDocument/2006/relationships/notesMaster" Target="/ppt/notesMasters/notesMaster1.xml" Id="Rb62f5d8314aa4df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cbdc66b77184d61" /><Relationship Type="http://schemas.openxmlformats.org/officeDocument/2006/relationships/notesMaster" Target="/ppt/notesMasters/notesMaster1.xml" Id="R2be6fb327387483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2885a61bb4c45ec" /><Relationship Type="http://schemas.openxmlformats.org/officeDocument/2006/relationships/notesMaster" Target="/ppt/notesMasters/notesMaster1.xml" Id="Rd017cfc5f0ee44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Извори: oibThematicExercises.ts, oibThematicPresentations.ts. Академска 2026/27.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Презентација је организована у четири тематске целине. Опсези слајдова су наведени у садржају.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oibThematicPresentations.ts — тема 1.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Раздвајање појмова, животни циклус налога, сесија и безбедна провера лозинке.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Извори: oibThematicPresentations.ts и oibThematicExercises.ts — ментални модел теме 1.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— увод теме 1.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— Поређење основних појмова идентитета.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oibThematicPresentations.ts — Identitet.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— основни појмови идентитета и сесије.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Илустративна временска линија, без тврдње о конкретном формату токена. Понавља захтев из изворног слајда 17: активан токен не сме да надјача актуелни статус налога. Систем мора да има механизам за проверу или поништавање контекста.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и принцип засновани на oibThematicPresentations.ts — Аутентикација. Извор принципа: https://cheatsheetseries.owasp.org/cheatsheets/Password_Storage_Cheat_Sheet.html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Исправљена провера која је раније прихватала само Success. SaveUpdatedHash је илустративан позив перзистенције, контекст user и hasher су поља сервиса. У продукцији користити Identity UserManager који координира обнову хеша. Извор: https://learn.microsoft.com/en-us/dotnet/api/microsoft.aspnetcore.identity.passwordverificationresult?view=aspnetcore-10.0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Пословна одговорност групише дозволе, а опсег и важење ограничавају њихову примену.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— Дизајнерска одлука: улога није дозвола.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— Дизајнерска одлука: улога није дозвола.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Шема илуструје разлику између пријаве и права на конкретну радњу. Називи report.view и report.export прате уједначену конвенцију дозвола из ове презентације.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Нова илустративна матрица RBAC. Улоге и дозволе служе за објашњење, нису прописана пројектна конфигурација. Принцип најмање привилегије: https://cheatsheetseries.owasp.org/cheatsheets/Authorization_Cheat_Sheet.html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Раздвојене RBAC дозволе од допунских провера ресурса, атрибута и важења. Извор: https://cheatsheetseries.owasp.org/cheatsheets/Authorization_Cheat_Sheet.html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— Пример: оператер добија нову одговорност.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Јединствена провера приступа, контролисано одбијање и тестови који потврђују границу дозволе.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— шема одлуке о приступу.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Илустративни C# пример заснован на принципима из oibThematicExercises.ts, није преузет као готово пројектно решење. Први део илустративног метода. Наставак је на следећем слајду. IsInScope користи серверски контекст и учитани ресурс. Извор принципа: https://cheatsheetseries.owasp.org/cheatsheets/Authorization_Cheat_Sheet.html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Други део метода Decide. Уклоњене су елипсе из изворног кода. Deny, Allow, Grants и IsInScope су именовани илустративни помоћни методи. Audit обрађује позивалац за сваки исход. Извор принципа: https://cheatsheetseries.owasp.org/cheatsheets/Authorization_Cheat_Sheet.html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oibThematicPresentations.ts — типичне грешке теме 1.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Илустративни NUnit пример заснован на oibCheckpoints.ts и oibThematicExercises.ts. Тест усклађен са новим потписом Decide. ActiveActorIn, ReportIn и Reader су илустративне фикстуре. Unit тест одлуке сам по себи не доказује настанак audit записа.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Нова матрица тестова. Сваки негативни тест мења једну чињеницу. Називи исхода припадају илустративном коду у овој презентацији. Извор принципа: https://cheatsheetseries.owasp.org/cheatsheets/Authorization_Cheat_Sheet.html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Ревизиони запис, поновљив доказ, припрема пројектне целине и провера разумевања.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Извори: oibCheckpoints.ts и oibThematicExercises.ts — audit доказ.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— Како знамо да модел приступа ради.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Извори: oibThematicExercises.ts — рад на вежби, oibCheckpoints.ts — КТ1.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— рад на вежби и доказ понашања.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oibThematicPresentations.ts — питање и провера разумевања теме 1.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Резиме појмова и доказа теме 1. Извор принципа: https://cheatsheetseries.owasp.org/cheatsheets/Authorization_Cheat_Sheet.html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392c33bd447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53a7e84a2b47d9" /><Relationship Type="http://schemas.openxmlformats.org/officeDocument/2006/relationships/slideLayout" Target="/ppt/slideLayouts/slideLayout1.xml" Id="Rb470f740bbcf4d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70f740bbcf4d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381e64a004e79" /><Relationship Type="http://schemas.openxmlformats.org/officeDocument/2006/relationships/image" Target="/ppt/media/image.png" Id="R3258ee56b4c34f1e" /><Relationship Type="http://schemas.openxmlformats.org/officeDocument/2006/relationships/notesSlide" Target="/ppt/notesSlides/notesSlide1.xml" Id="Rdfef758f8d014f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ebed3b94d4b5f" /><Relationship Type="http://schemas.openxmlformats.org/officeDocument/2006/relationships/notesSlide" Target="/ppt/notesSlides/notesSlide2.xml" Id="Re8ee57ae60134a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39dde8fca4279" /><Relationship Type="http://schemas.openxmlformats.org/officeDocument/2006/relationships/notesSlide" Target="/ppt/notesSlides/notesSlide3.xml" Id="R4278fd40576340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c50fe4cf94601" /><Relationship Type="http://schemas.openxmlformats.org/officeDocument/2006/relationships/notesSlide" Target="/ppt/notesSlides/notesSlide4.xml" Id="R942d6f284d3948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a9f8e16d04f75" /><Relationship Type="http://schemas.openxmlformats.org/officeDocument/2006/relationships/notesSlide" Target="/ppt/notesSlides/notesSlide5.xml" Id="Rcae4a55051de40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dae8192174529" /><Relationship Type="http://schemas.openxmlformats.org/officeDocument/2006/relationships/notesSlide" Target="/ppt/notesSlides/notesSlide6.xml" Id="R781909f7d5934f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17abbf5b04c93" /><Relationship Type="http://schemas.openxmlformats.org/officeDocument/2006/relationships/notesSlide" Target="/ppt/notesSlides/notesSlide7.xml" Id="R408cf90a57e747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9692b565046f0" /><Relationship Type="http://schemas.openxmlformats.org/officeDocument/2006/relationships/image" Target="/ppt/media/image2.png" Id="R0f365e4ba22942cb" /><Relationship Type="http://schemas.openxmlformats.org/officeDocument/2006/relationships/image" Target="/ppt/media/image3.png" Id="Ree9d6acdb79244eb" /><Relationship Type="http://schemas.openxmlformats.org/officeDocument/2006/relationships/image" Target="/ppt/media/image4.png" Id="R987bda1d644f427c" /><Relationship Type="http://schemas.openxmlformats.org/officeDocument/2006/relationships/image" Target="/ppt/media/image5.png" Id="Ra1b5ed7fab3244c5" /><Relationship Type="http://schemas.openxmlformats.org/officeDocument/2006/relationships/notesSlide" Target="/ppt/notesSlides/notesSlide8.xml" Id="Re9659179fa994e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7c016df60451a" /><Relationship Type="http://schemas.openxmlformats.org/officeDocument/2006/relationships/image" Target="/ppt/media/image6.png" Id="R9ec2c7ffcc874c30" /><Relationship Type="http://schemas.openxmlformats.org/officeDocument/2006/relationships/image" Target="/ppt/media/image7.png" Id="Rb4c583d20f494ef9" /><Relationship Type="http://schemas.openxmlformats.org/officeDocument/2006/relationships/image" Target="/ppt/media/image8.png" Id="R9a0e4ab310764645" /><Relationship Type="http://schemas.openxmlformats.org/officeDocument/2006/relationships/notesSlide" Target="/ppt/notesSlides/notesSlide9.xml" Id="R89bd8072d46045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4649bc4d84fa5" /><Relationship Type="http://schemas.openxmlformats.org/officeDocument/2006/relationships/image" Target="/ppt/media/image9.png" Id="Ra3da6244590c4016" /><Relationship Type="http://schemas.openxmlformats.org/officeDocument/2006/relationships/notesSlide" Target="/ppt/notesSlides/notesSlide10.xml" Id="R1c577737d2744e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3613da26e43d6" /><Relationship Type="http://schemas.openxmlformats.org/officeDocument/2006/relationships/notesSlide" Target="/ppt/notesSlides/notesSlide11.xml" Id="Ra5896c5a74eb4b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7734d51174b70" /><Relationship Type="http://schemas.openxmlformats.org/officeDocument/2006/relationships/notesSlide" Target="/ppt/notesSlides/notesSlide12.xml" Id="R6d75e7b7b5884b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ce3d50d914a33" /><Relationship Type="http://schemas.openxmlformats.org/officeDocument/2006/relationships/notesSlide" Target="/ppt/notesSlides/notesSlide13.xml" Id="Rb6e5eff0030e4f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2fa19545342d7" /><Relationship Type="http://schemas.openxmlformats.org/officeDocument/2006/relationships/notesSlide" Target="/ppt/notesSlides/notesSlide14.xml" Id="R6cdb09e9e5ce4c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0206079a5443e" /><Relationship Type="http://schemas.openxmlformats.org/officeDocument/2006/relationships/notesSlide" Target="/ppt/notesSlides/notesSlide15.xml" Id="Rad9ea99f718e4d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d0696e64a459c" /><Relationship Type="http://schemas.openxmlformats.org/officeDocument/2006/relationships/image" Target="/ppt/media/image10.png" Id="R267528336eaa4925" /><Relationship Type="http://schemas.openxmlformats.org/officeDocument/2006/relationships/notesSlide" Target="/ppt/notesSlides/notesSlide16.xml" Id="Re8e1c81d2abc49a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8e432121f4f88" /><Relationship Type="http://schemas.openxmlformats.org/officeDocument/2006/relationships/notesSlide" Target="/ppt/notesSlides/notesSlide17.xml" Id="Re618c1a6a097487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3815808954cde" /><Relationship Type="http://schemas.openxmlformats.org/officeDocument/2006/relationships/notesSlide" Target="/ppt/notesSlides/notesSlide18.xml" Id="Rabe15df08585488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2522a9d68414a" /><Relationship Type="http://schemas.openxmlformats.org/officeDocument/2006/relationships/notesSlide" Target="/ppt/notesSlides/notesSlide19.xml" Id="R5054d8d1a12f421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4092db2834eb7" /><Relationship Type="http://schemas.openxmlformats.org/officeDocument/2006/relationships/notesSlide" Target="/ppt/notesSlides/notesSlide20.xml" Id="R432aaf1f07154d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c9549df234d97" /><Relationship Type="http://schemas.openxmlformats.org/officeDocument/2006/relationships/image" Target="/ppt/media/image11.png" Id="R0709fd749b4f4181" /><Relationship Type="http://schemas.openxmlformats.org/officeDocument/2006/relationships/image" Target="/ppt/media/image12.png" Id="Rda91254c672944dc" /><Relationship Type="http://schemas.openxmlformats.org/officeDocument/2006/relationships/image" Target="/ppt/media/image13.png" Id="R936d94fe28c54dd5" /><Relationship Type="http://schemas.openxmlformats.org/officeDocument/2006/relationships/image" Target="/ppt/media/image14.png" Id="R43dd4477835e461d" /><Relationship Type="http://schemas.openxmlformats.org/officeDocument/2006/relationships/notesSlide" Target="/ppt/notesSlides/notesSlide21.xml" Id="R6b6f4f08a48546c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9c0b3c4b24c30" /><Relationship Type="http://schemas.openxmlformats.org/officeDocument/2006/relationships/notesSlide" Target="/ppt/notesSlides/notesSlide22.xml" Id="R57fa393993f2429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a3a15019f4003" /><Relationship Type="http://schemas.openxmlformats.org/officeDocument/2006/relationships/notesSlide" Target="/ppt/notesSlides/notesSlide23.xml" Id="R9738782b06fa457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b4bdb7a99414f" /><Relationship Type="http://schemas.openxmlformats.org/officeDocument/2006/relationships/notesSlide" Target="/ppt/notesSlides/notesSlide24.xml" Id="R66107d455cac46b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b0c31b24945c6" /><Relationship Type="http://schemas.openxmlformats.org/officeDocument/2006/relationships/notesSlide" Target="/ppt/notesSlides/notesSlide25.xml" Id="R0b8fb8eb09cf45c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4bf3658b34696" /><Relationship Type="http://schemas.openxmlformats.org/officeDocument/2006/relationships/notesSlide" Target="/ppt/notesSlides/notesSlide26.xml" Id="R5a228f2db7aa48d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ef7cb6ac84295" /><Relationship Type="http://schemas.openxmlformats.org/officeDocument/2006/relationships/notesSlide" Target="/ppt/notesSlides/notesSlide27.xml" Id="R13cd775aa8ff4d9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6973c4c014be8" /><Relationship Type="http://schemas.openxmlformats.org/officeDocument/2006/relationships/notesSlide" Target="/ppt/notesSlides/notesSlide28.xml" Id="Rb78aedada65f459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af85ac3464298" /><Relationship Type="http://schemas.openxmlformats.org/officeDocument/2006/relationships/image" Target="/ppt/media/image15.png" Id="R26d6e15505434f5e" /><Relationship Type="http://schemas.openxmlformats.org/officeDocument/2006/relationships/image" Target="/ppt/media/image16.png" Id="R28207be8a105413a" /><Relationship Type="http://schemas.openxmlformats.org/officeDocument/2006/relationships/image" Target="/ppt/media/image17.png" Id="R249d1c81d457460b" /><Relationship Type="http://schemas.openxmlformats.org/officeDocument/2006/relationships/notesSlide" Target="/ppt/notesSlides/notesSlide29.xml" Id="Ra1e497ec454946c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8d777d3bd498d" /><Relationship Type="http://schemas.openxmlformats.org/officeDocument/2006/relationships/notesSlide" Target="/ppt/notesSlides/notesSlide30.xml" Id="Ra7baf83614244b9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a96f3cd864820" /><Relationship Type="http://schemas.openxmlformats.org/officeDocument/2006/relationships/image" Target="/ppt/media/image18.png" Id="R166f45d1cc8c48f8" /><Relationship Type="http://schemas.openxmlformats.org/officeDocument/2006/relationships/image" Target="/ppt/media/image19.png" Id="Ra09ff81a7b374215" /><Relationship Type="http://schemas.openxmlformats.org/officeDocument/2006/relationships/image" Target="/ppt/media/image20.png" Id="R03bd53961de94c23" /><Relationship Type="http://schemas.openxmlformats.org/officeDocument/2006/relationships/notesSlide" Target="/ppt/notesSlides/notesSlide31.xml" Id="R91e72538c1b3495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9efaea2e842a4" /><Relationship Type="http://schemas.openxmlformats.org/officeDocument/2006/relationships/notesSlide" Target="/ppt/notesSlides/notesSlide32.xml" Id="R15a60a63c50a45c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af6b6284147e9" /><Relationship Type="http://schemas.openxmlformats.org/officeDocument/2006/relationships/notesSlide" Target="/ppt/notesSlides/notesSlide33.xml" Id="Rd323075c0cf04c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385BC-C7FE-451E-98CA-FB6A9F61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060234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8ee56b4c34f1e"/>
          <a:stretch xmlns:a="http://schemas.openxmlformats.org/drawingml/2006/main"/>
        </p:blipFill>
        <p:spPr>
          <a:xfrm xmlns:a="http://schemas.openxmlformats.org/drawingml/2006/main">
            <a:off x="11353800" y="2324100"/>
            <a:ext cx="5715000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text-cover">
            <a:extLst xmlns:a="http://schemas.openxmlformats.org/drawingml/2006/main">
              <a:ext uri="{FF2B5EF4-FFF2-40B4-BE49-F238E27FC236}">
                <a16:creationId xmlns:a16="http://schemas.microsoft.com/office/drawing/2014/main" id="{59626B8E-E656-4DFD-BE31-49E5AA93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219200"/>
            <a:ext cx="5341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ПРИМЕЊЕНО СОФТВЕРСКО ИНЖЕЊЕРСТВО</a:t>
            </a:r>
          </a:p>
        </p:txBody>
      </p:sp>
      <p:sp>
        <p:nvSpPr>
          <p:cNvPr id="4" name="text-cover">
            <a:extLst xmlns:a="http://schemas.openxmlformats.org/drawingml/2006/main">
              <a:ext uri="{FF2B5EF4-FFF2-40B4-BE49-F238E27FC236}">
                <a16:creationId xmlns:a16="http://schemas.microsoft.com/office/drawing/2014/main" id="{0E75D27D-2F3A-417C-9313-2052C8EC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39180"/>
            <a:ext cx="51854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ОСНОВЕ ИНФОРМАЦИОНЕ БЕЗБЕДНОСТИ</a:t>
            </a:r>
          </a:p>
        </p:txBody>
      </p:sp>
      <p:sp>
        <p:nvSpPr>
          <p:cNvPr id="5" name="heading-cover">
            <a:extLst xmlns:a="http://schemas.openxmlformats.org/drawingml/2006/main">
              <a:ext uri="{FF2B5EF4-FFF2-40B4-BE49-F238E27FC236}">
                <a16:creationId xmlns:a16="http://schemas.microsoft.com/office/drawing/2014/main" id="{FD522B42-B4A6-44BA-92DC-A2587C0D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11561"/>
            <a:ext cx="4905524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0">
                <a:latin typeface="IBM Plex Sans"/>
                <a:ea typeface="IBM Plex Sans"/>
                <a:cs typeface="IBM Plex Sans"/>
              </a:defRPr>
            </a:pPr>
            <a:r>
              <a:rPr sz="69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Идентитет, </a:t>
            </a:r>
          </a:p>
        </p:txBody>
      </p:sp>
      <p:sp>
        <p:nvSpPr>
          <p:cNvPr id="6" name="heading-cover">
            <a:extLst xmlns:a="http://schemas.openxmlformats.org/drawingml/2006/main">
              <a:ext uri="{FF2B5EF4-FFF2-40B4-BE49-F238E27FC236}">
                <a16:creationId xmlns:a16="http://schemas.microsoft.com/office/drawing/2014/main" id="{A8F44C66-8DB2-4D1B-AEC6-C28CABA5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31616"/>
            <a:ext cx="9327803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190"/>
          </a:bodyPr>
          <a:lstStyle xmlns:a="http://schemas.openxmlformats.org/drawingml/2006/main"/>
          <a:p xmlns:a="http://schemas.openxmlformats.org/drawingml/2006/main">
            <a:pPr algn="l">
              <a:defRPr sz="6900">
                <a:latin typeface="IBM Plex Sans"/>
                <a:ea typeface="IBM Plex Sans"/>
                <a:cs typeface="IBM Plex Sans"/>
              </a:defRPr>
            </a:pPr>
            <a:r>
              <a:rPr sz="69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аутентикација и RBAC</a:t>
            </a:r>
          </a:p>
        </p:txBody>
      </p:sp>
      <p:sp>
        <p:nvSpPr>
          <p:cNvPr id="7" name="text-cover">
            <a:extLst xmlns:a="http://schemas.openxmlformats.org/drawingml/2006/main">
              <a:ext uri="{FF2B5EF4-FFF2-40B4-BE49-F238E27FC236}">
                <a16:creationId xmlns:a16="http://schemas.microsoft.com/office/drawing/2014/main" id="{727675A9-93AC-4325-909C-3C3B8B56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2197"/>
            <a:ext cx="861134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Идентитет, улоге, дозволе и серверска провера приступа</a:t>
            </a:r>
          </a:p>
        </p:txBody>
      </p:sp>
      <p:sp>
        <p:nvSpPr>
          <p:cNvPr id="8" name="text-cover">
            <a:extLst xmlns:a="http://schemas.openxmlformats.org/drawingml/2006/main">
              <a:ext uri="{FF2B5EF4-FFF2-40B4-BE49-F238E27FC236}">
                <a16:creationId xmlns:a16="http://schemas.microsoft.com/office/drawing/2014/main" id="{1D6CC16D-FA5C-4704-BC8A-2F834938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07884"/>
            <a:ext cx="74617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Факултет техничких наука · Универзитет у Новом Саду</a:t>
            </a:r>
          </a:p>
        </p:txBody>
      </p:sp>
      <p:sp>
        <p:nvSpPr>
          <p:cNvPr id="9" name="text-cover">
            <a:extLst xmlns:a="http://schemas.openxmlformats.org/drawingml/2006/main">
              <a:ext uri="{FF2B5EF4-FFF2-40B4-BE49-F238E27FC236}">
                <a16:creationId xmlns:a16="http://schemas.microsoft.com/office/drawing/2014/main" id="{6645E1D2-45E3-4F0A-A2FC-036A6F00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47820"/>
            <a:ext cx="135433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Нови Сад</a:t>
            </a:r>
          </a:p>
        </p:txBody>
      </p:sp>
    </p:spTree>
    <p:extLst>
      <p:ext uri="{BB962C8B-B14F-4D97-AF65-F5344CB8AC3E}">
        <p14:creationId xmlns:p14="http://schemas.microsoft.com/office/powerpoint/2010/main" val="597134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67944A-3DAD-4046-B403-5A926569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8D607-D0D8-4AE1-9D44-5919EDDA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3819525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A3493-4291-49B4-9E0C-FCA37B9B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34530"/>
            <a:ext cx="3819525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FB754-B30B-4D76-AC0D-F47A7C31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34530"/>
            <a:ext cx="3819525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65CBE-A064-4E15-A3C3-794563BE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434530"/>
            <a:ext cx="3819525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44D80-94B4-4555-82F5-34C2819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63183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2F139D6A-680C-4DB5-A494-8A2B89B9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63183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AF158-6EB3-4A68-B461-CD7A0731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74B5F1AB-5E0C-40E4-B313-A05357F2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4364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ПРЕГЛЕД</a:t>
            </a:r>
          </a:p>
        </p:txBody>
      </p:sp>
      <p:sp>
        <p:nvSpPr>
          <p:cNvPr id="10" name="heading-sadrzaj">
            <a:extLst xmlns:a="http://schemas.openxmlformats.org/drawingml/2006/main">
              <a:ext uri="{FF2B5EF4-FFF2-40B4-BE49-F238E27FC236}">
                <a16:creationId xmlns:a16="http://schemas.microsoft.com/office/drawing/2014/main" id="{018D0BD7-5E1F-4E52-A23F-86354BD0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636463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презентације</a:t>
            </a:r>
          </a:p>
        </p:txBody>
      </p:sp>
      <p:sp>
        <p:nvSpPr>
          <p:cNvPr id="1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E289405E-BD3F-427F-A059-8CA7B230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72980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10DA3CAB-4755-4AEB-B8A5-80B460A4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30786"/>
            <a:ext cx="17097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Идентитет</a:t>
            </a:r>
          </a:p>
        </p:txBody>
      </p:sp>
      <p:sp>
        <p:nvSpPr>
          <p:cNvPr id="13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A658F2C6-BAF8-4301-AD5C-A4487304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22216"/>
            <a:ext cx="300156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Појмови, статус, сесије и </a:t>
            </a:r>
          </a:p>
        </p:txBody>
      </p:sp>
      <p:sp>
        <p:nvSpPr>
          <p:cNvPr id="14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F05598E8-DF08-4538-8711-99B77E6F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42197"/>
            <a:ext cx="12916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лозинке.</a:t>
            </a:r>
          </a:p>
        </p:txBody>
      </p:sp>
      <p:sp>
        <p:nvSpPr>
          <p:cNvPr id="15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EC308ADA-E857-4806-925F-ED398321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62177"/>
            <a:ext cx="102602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04–12</a:t>
            </a:r>
          </a:p>
        </p:txBody>
      </p:sp>
      <p:sp>
        <p:nvSpPr>
          <p:cNvPr id="16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940046ED-CBE2-4190-8D5A-C50E9266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2980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7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D2516A78-3B15-4061-AB0E-B815DD0D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30786"/>
            <a:ext cx="241369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Улоге и дозволе</a:t>
            </a:r>
          </a:p>
        </p:txBody>
      </p:sp>
      <p:sp>
        <p:nvSpPr>
          <p:cNvPr id="18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2E0E46EB-CF3F-420F-9FDA-E5252087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22216"/>
            <a:ext cx="353853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RBAC, матрица права и опсег.</a:t>
            </a:r>
          </a:p>
        </p:txBody>
      </p:sp>
      <p:sp>
        <p:nvSpPr>
          <p:cNvPr id="1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E67A0BB8-970A-4608-9F96-B34C1325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42197"/>
            <a:ext cx="102602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13–19</a:t>
            </a:r>
          </a:p>
        </p:txBody>
      </p:sp>
      <p:sp>
        <p:nvSpPr>
          <p:cNvPr id="20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2F4BDB6A-F907-437E-AE3D-E77F177F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2980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095E99BB-AFFE-4746-8DB7-C0C4233C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430786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Серверска одлука</a:t>
            </a:r>
          </a:p>
        </p:txBody>
      </p:sp>
      <p:sp>
        <p:nvSpPr>
          <p:cNvPr id="22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9152E2E0-ABEC-448F-B06E-828A77C5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922216"/>
            <a:ext cx="353154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Провере, грешке и негативни </a:t>
            </a:r>
          </a:p>
        </p:txBody>
      </p:sp>
      <p:sp>
        <p:nvSpPr>
          <p:cNvPr id="23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67188534-8BF6-44BB-8539-1F8E49A0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42197"/>
            <a:ext cx="124643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тестови.</a:t>
            </a:r>
          </a:p>
        </p:txBody>
      </p:sp>
      <p:sp>
        <p:nvSpPr>
          <p:cNvPr id="24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521F8AF2-291B-42D7-9863-D7E8A348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562177"/>
            <a:ext cx="102602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20–26</a:t>
            </a:r>
          </a:p>
        </p:txBody>
      </p:sp>
      <p:sp>
        <p:nvSpPr>
          <p:cNvPr id="25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071A2E88-4559-4901-896E-0C03BE10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2980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6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BE94FDA0-F15F-4DB6-B56C-AFBDC39C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430786"/>
            <a:ext cx="291048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Ревизија и примена</a:t>
            </a:r>
          </a:p>
        </p:txBody>
      </p:sp>
      <p:sp>
        <p:nvSpPr>
          <p:cNvPr id="27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BF6120C8-09CB-448C-8AB5-E7086D36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922216"/>
            <a:ext cx="26708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Запис, доказ и рад на </a:t>
            </a:r>
          </a:p>
        </p:txBody>
      </p:sp>
      <p:sp>
        <p:nvSpPr>
          <p:cNvPr id="28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AED9C7E2-DA9F-4C95-93C8-C43ADDCF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242197"/>
            <a:ext cx="132918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пројекту.</a:t>
            </a:r>
          </a:p>
        </p:txBody>
      </p:sp>
      <p:sp>
        <p:nvSpPr>
          <p:cNvPr id="2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C91B75EF-B65D-4A0D-8480-FD594963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562177"/>
            <a:ext cx="102602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27–33</a:t>
            </a:r>
          </a:p>
        </p:txBody>
      </p:sp>
      <p:sp>
        <p:nvSpPr>
          <p:cNvPr id="30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75851AE5-10CA-4FF9-B344-879595CC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53683"/>
            <a:ext cx="8916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Увод</a:t>
            </a:r>
          </a:p>
        </p:txBody>
      </p:sp>
      <p:sp>
        <p:nvSpPr>
          <p:cNvPr id="3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A6F2E5C4-2533-4812-8E8F-CC5574E3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59388"/>
            <a:ext cx="447942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Идентитет и право приступа (03)</a:t>
            </a:r>
          </a:p>
        </p:txBody>
      </p:sp>
      <p:sp>
        <p:nvSpPr>
          <p:cNvPr id="32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4BAE2698-0288-4351-ACEB-F2A2D4B5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3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92DD4B0E-4560-4B04-AA8F-BCB47D8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408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D034DA-C78F-4CCF-BA71-B8DC1166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09F64-3846-42C1-AC02-8302F933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AADC0-2399-4F5E-A411-DE67E179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FEB4A-7BD6-43BA-9C73-F7AAC7DA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160E0-B364-4C26-9CD2-A4EAF81E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80075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C5D987F4-6805-4DE5-90A6-6797B286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80075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B432E-D0FD-4EB2-A6FC-EEF8A262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4CCBA576-B037-4238-AF93-0A6CAD9B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4092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УВОД · ОДЛУКА О ПРИСТУПУ</a:t>
            </a:r>
          </a:p>
        </p:txBody>
      </p:sp>
      <p:sp>
        <p:nvSpPr>
          <p:cNvPr id="9" name="heading-source-02">
            <a:extLst xmlns:a="http://schemas.openxmlformats.org/drawingml/2006/main">
              <a:ext uri="{FF2B5EF4-FFF2-40B4-BE49-F238E27FC236}">
                <a16:creationId xmlns:a16="http://schemas.microsoft.com/office/drawing/2014/main" id="{6FF55D3C-F369-4E79-BE48-DA091097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98775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Идентитет и право приступа</a:t>
            </a:r>
          </a:p>
        </p:txBody>
      </p:sp>
      <p:sp>
        <p:nvSpPr>
          <p:cNvPr id="10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94C70A1F-6AD0-4CC1-979F-4671BF56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87212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Аутентикација потврђује идентитет. Ауторизација одређује да ли субјекат сме да изврши конкретну радњу.</a:t>
            </a:r>
          </a:p>
        </p:txBody>
      </p:sp>
      <p:sp>
        <p:nvSpPr>
          <p:cNvPr id="11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E5D87EC9-B6B4-4819-97F8-44204FCE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1303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ПОЈМОВИ</a:t>
            </a:r>
          </a:p>
        </p:txBody>
      </p:sp>
      <p:sp>
        <p:nvSpPr>
          <p:cNvPr id="12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9235C02D-F528-41AF-9BD1-3AFB8C56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393412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Четири различита појма</a:t>
            </a:r>
          </a:p>
        </p:txBody>
      </p:sp>
      <p:sp>
        <p:nvSpPr>
          <p:cNvPr id="13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BE49673B-6B7E-48C1-B55C-A6BA324D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88793"/>
            <a:ext cx="4638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Идентитет, аутентикација, улога и </a:t>
            </a:r>
          </a:p>
        </p:txBody>
      </p:sp>
      <p:sp>
        <p:nvSpPr>
          <p:cNvPr id="14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521FA474-D957-4FED-AB81-8B85DA95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62054"/>
            <a:ext cx="349002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дозвола имају различите </a:t>
            </a:r>
          </a:p>
        </p:txBody>
      </p:sp>
      <p:sp>
        <p:nvSpPr>
          <p:cNvPr id="15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98BF26D3-1A06-42AB-9F63-6E09C733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135314"/>
            <a:ext cx="343346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одговорности у систему.</a:t>
            </a:r>
          </a:p>
        </p:txBody>
      </p:sp>
      <p:sp>
        <p:nvSpPr>
          <p:cNvPr id="16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2BD0FE6E-6E3E-4450-8B06-AE6A27A5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388816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ОДЛУКА</a:t>
            </a:r>
          </a:p>
        </p:txBody>
      </p:sp>
      <p:sp>
        <p:nvSpPr>
          <p:cNvPr id="17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1244C1D6-EBC4-4C36-94CB-A14E2054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842147"/>
            <a:ext cx="3454747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Одлука је на серверу</a:t>
            </a:r>
          </a:p>
        </p:txBody>
      </p:sp>
      <p:sp>
        <p:nvSpPr>
          <p:cNvPr id="18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604348CD-7477-4BF2-B3BB-3B852B25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388793"/>
            <a:ext cx="4435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Интерфејс може сакрити опцију, </a:t>
            </a:r>
          </a:p>
        </p:txBody>
      </p:sp>
      <p:sp>
        <p:nvSpPr>
          <p:cNvPr id="19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23377764-E0D7-4197-BFCB-E5D4FB6B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762054"/>
            <a:ext cx="446856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али не сме бити једина контрола </a:t>
            </a:r>
          </a:p>
        </p:txBody>
      </p:sp>
      <p:sp>
        <p:nvSpPr>
          <p:cNvPr id="20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856543A9-31BE-492A-89C1-93758649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135314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приступа.</a:t>
            </a:r>
          </a:p>
        </p:txBody>
      </p:sp>
      <p:sp>
        <p:nvSpPr>
          <p:cNvPr id="21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2370C0DF-DA09-49E5-B361-D7645999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388816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ДОКАЗ</a:t>
            </a:r>
          </a:p>
        </p:txBody>
      </p:sp>
      <p:sp>
        <p:nvSpPr>
          <p:cNvPr id="22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F01C6F26-487F-409B-A513-728909EF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842147"/>
            <a:ext cx="369674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Дозвољено и одбијено</a:t>
            </a:r>
          </a:p>
        </p:txBody>
      </p:sp>
      <p:sp>
        <p:nvSpPr>
          <p:cNvPr id="23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4BF58006-78B9-4EE0-8209-0E05CC3C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388793"/>
            <a:ext cx="442585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и ревизиони запис показују </a:t>
            </a:r>
          </a:p>
        </p:txBody>
      </p:sp>
      <p:sp>
        <p:nvSpPr>
          <p:cNvPr id="24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D085636F-C61A-418D-A337-E2E752B0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762054"/>
            <a:ext cx="477738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шта се догодило за исти тип радње </a:t>
            </a:r>
          </a:p>
        </p:txBody>
      </p:sp>
      <p:sp>
        <p:nvSpPr>
          <p:cNvPr id="25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D880E709-1C01-4816-8B4E-AAD0B706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135314"/>
            <a:ext cx="238348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 два контекста.</a:t>
            </a:r>
          </a:p>
        </p:txBody>
      </p:sp>
      <p:sp>
        <p:nvSpPr>
          <p:cNvPr id="26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8F79E232-5182-4D79-9619-561362BB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270575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ПИТАЊЕ ЗА ПРОВЕРУ</a:t>
            </a:r>
          </a:p>
        </p:txBody>
      </p:sp>
      <p:sp>
        <p:nvSpPr>
          <p:cNvPr id="27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CA0AC151-024C-4885-A5ED-E07AF08F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676281"/>
            <a:ext cx="848930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 је субјекат, која дозвола је потребна и у ком опсегу она важи?</a:t>
            </a:r>
          </a:p>
        </p:txBody>
      </p:sp>
      <p:sp>
        <p:nvSpPr>
          <p:cNvPr id="28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19F66A18-A38B-43F1-A0A6-37975817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9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F8B381B8-A4F2-410B-9138-1CB2AEB8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727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2EB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C6AE4-C3EB-450F-A644-31BD92BA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1535757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AEC2C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9E734-D5D4-41DA-9015-13EBB9A4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857" y="6158657"/>
            <a:ext cx="1962448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AEC2C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34451-9C66-46F1-AA7A-986FD7FB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605" y="6158657"/>
            <a:ext cx="1096268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AEC2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E888F-C14F-42CF-B051-4321BD01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173" y="6158657"/>
            <a:ext cx="1311771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AEC2C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94AC0-E9C0-4020-9A75-B93E55F4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2C6"/>
          </a:solidFill>
          <a:ln xmlns:a="http://schemas.openxmlformats.org/drawingml/2006/main" w="0">
            <a:noFill/>
          </a:ln>
        </p:spPr>
      </p:sp>
      <p:sp>
        <p:nvSpPr>
          <p:cNvPr id="6" name="text-deo1">
            <a:extLst xmlns:a="http://schemas.openxmlformats.org/drawingml/2006/main">
              <a:ext uri="{FF2B5EF4-FFF2-40B4-BE49-F238E27FC236}">
                <a16:creationId xmlns:a16="http://schemas.microsoft.com/office/drawing/2014/main" id="{C806D390-80D1-4DA0-9EC5-6BC219DF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text-deo1">
            <a:extLst xmlns:a="http://schemas.openxmlformats.org/drawingml/2006/main">
              <a:ext uri="{FF2B5EF4-FFF2-40B4-BE49-F238E27FC236}">
                <a16:creationId xmlns:a16="http://schemas.microsoft.com/office/drawing/2014/main" id="{5AD1DD00-F164-4D2A-88D3-4FEACA45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15926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ПРВИ ДЕО</a:t>
            </a:r>
          </a:p>
        </p:txBody>
      </p:sp>
      <p:sp>
        <p:nvSpPr>
          <p:cNvPr id="8" name="heading-deo1">
            <a:extLst xmlns:a="http://schemas.openxmlformats.org/drawingml/2006/main">
              <a:ext uri="{FF2B5EF4-FFF2-40B4-BE49-F238E27FC236}">
                <a16:creationId xmlns:a16="http://schemas.microsoft.com/office/drawing/2014/main" id="{109DB889-CA9C-403B-A952-143558CE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9088487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495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Идентитет и пријава</a:t>
            </a:r>
          </a:p>
        </p:txBody>
      </p:sp>
      <p:sp>
        <p:nvSpPr>
          <p:cNvPr id="9" name="text-deo1">
            <a:extLst xmlns:a="http://schemas.openxmlformats.org/drawingml/2006/main">
              <a:ext uri="{FF2B5EF4-FFF2-40B4-BE49-F238E27FC236}">
                <a16:creationId xmlns:a16="http://schemas.microsoft.com/office/drawing/2014/main" id="{E75BDDC3-6133-4EE5-AD55-57DFCDF8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944790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Раздвајање појмова, животни циклус налога, сесија и безбедна провера </a:t>
            </a:r>
          </a:p>
        </p:txBody>
      </p:sp>
      <p:sp>
        <p:nvSpPr>
          <p:cNvPr id="10" name="text-deo1">
            <a:extLst xmlns:a="http://schemas.openxmlformats.org/drawingml/2006/main">
              <a:ext uri="{FF2B5EF4-FFF2-40B4-BE49-F238E27FC236}">
                <a16:creationId xmlns:a16="http://schemas.microsoft.com/office/drawing/2014/main" id="{CF62B3CA-B867-478C-A17F-D1F7E9DC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144973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лозинке.</a:t>
            </a:r>
          </a:p>
        </p:txBody>
      </p:sp>
      <p:sp>
        <p:nvSpPr>
          <p:cNvPr id="11" name="text-deo1">
            <a:extLst xmlns:a="http://schemas.openxmlformats.org/drawingml/2006/main">
              <a:ext uri="{FF2B5EF4-FFF2-40B4-BE49-F238E27FC236}">
                <a16:creationId xmlns:a16="http://schemas.microsoft.com/office/drawing/2014/main" id="{7E66B01A-784B-4F67-889F-038E9916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14786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Идентитет</a:t>
            </a:r>
          </a:p>
        </p:txBody>
      </p:sp>
      <p:sp>
        <p:nvSpPr>
          <p:cNvPr id="12" name="text-deo1">
            <a:extLst xmlns:a="http://schemas.openxmlformats.org/drawingml/2006/main">
              <a:ext uri="{FF2B5EF4-FFF2-40B4-BE49-F238E27FC236}">
                <a16:creationId xmlns:a16="http://schemas.microsoft.com/office/drawing/2014/main" id="{CEDDBF64-0497-4025-BA2A-E1EAF417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882" y="6244382"/>
            <a:ext cx="190529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Аутентикација</a:t>
            </a:r>
          </a:p>
        </p:txBody>
      </p:sp>
      <p:sp>
        <p:nvSpPr>
          <p:cNvPr id="13" name="text-deo1">
            <a:extLst xmlns:a="http://schemas.openxmlformats.org/drawingml/2006/main">
              <a:ext uri="{FF2B5EF4-FFF2-40B4-BE49-F238E27FC236}">
                <a16:creationId xmlns:a16="http://schemas.microsoft.com/office/drawing/2014/main" id="{4E9CF8AA-ADBA-444A-BB1A-21CCFCD3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7630" y="6244382"/>
            <a:ext cx="103911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Сесија</a:t>
            </a:r>
          </a:p>
        </p:txBody>
      </p:sp>
      <p:sp>
        <p:nvSpPr>
          <p:cNvPr id="14" name="text-deo1">
            <a:extLst xmlns:a="http://schemas.openxmlformats.org/drawingml/2006/main">
              <a:ext uri="{FF2B5EF4-FFF2-40B4-BE49-F238E27FC236}">
                <a16:creationId xmlns:a16="http://schemas.microsoft.com/office/drawing/2014/main" id="{C2AD4CA9-AC6D-4B3B-8ACA-EC88E41A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8198" y="6244382"/>
            <a:ext cx="125462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Лозинка</a:t>
            </a:r>
          </a:p>
        </p:txBody>
      </p:sp>
      <p:sp>
        <p:nvSpPr>
          <p:cNvPr id="15" name="text-deo1">
            <a:extLst xmlns:a="http://schemas.openxmlformats.org/drawingml/2006/main">
              <a:ext uri="{FF2B5EF4-FFF2-40B4-BE49-F238E27FC236}">
                <a16:creationId xmlns:a16="http://schemas.microsoft.com/office/drawing/2014/main" id="{0785EFA9-B1CF-4EB1-A226-EFE3AA44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1">
            <a:extLst xmlns:a="http://schemas.openxmlformats.org/drawingml/2006/main">
              <a:ext uri="{FF2B5EF4-FFF2-40B4-BE49-F238E27FC236}">
                <a16:creationId xmlns:a16="http://schemas.microsoft.com/office/drawing/2014/main" id="{166FA908-61DA-4EEF-82C0-5E37DBED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95907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DC7443-C118-46A7-9655-F3E1CA7D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CF47C-FAA5-4D34-9D3B-5A47726D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8195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158A0-3BCA-45B6-8C77-8F227B31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112591"/>
            <a:ext cx="38195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90E84-3474-47B4-BD54-185C8E23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12591"/>
            <a:ext cx="38195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CF20C-1F7E-4FB6-9873-4AE0362B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3112591"/>
            <a:ext cx="38195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D1764-CD9A-4BA8-822C-43C2BCBC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C2AC4B21-A113-496F-A9B1-B089E97A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9C319-9ED8-482C-9270-F5E7E593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9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06D32615-892F-4785-A57D-6B67BDA1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 · ОСНОВНИ ПОЈМОВИ</a:t>
            </a:r>
          </a:p>
        </p:txBody>
      </p:sp>
      <p:sp>
        <p:nvSpPr>
          <p:cNvPr id="10" name="heading-source-04">
            <a:extLst xmlns:a="http://schemas.openxmlformats.org/drawingml/2006/main">
              <a:ext uri="{FF2B5EF4-FFF2-40B4-BE49-F238E27FC236}">
                <a16:creationId xmlns:a16="http://schemas.microsoft.com/office/drawing/2014/main" id="{1DCB481A-21CA-4E83-BA25-DE3B612E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019338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246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Основни појмови контроле приступа</a:t>
            </a:r>
          </a:p>
        </p:txBody>
      </p:sp>
      <p:sp>
        <p:nvSpPr>
          <p:cNvPr id="11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34E94A94-C4A2-4F3C-89B5-593CAB38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144324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Идентитет, аутентикација, улога и дозвола имају засебне функције у одлуци о приступу.</a:t>
            </a:r>
          </a:p>
        </p:txBody>
      </p:sp>
      <p:sp>
        <p:nvSpPr>
          <p:cNvPr id="12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3D594D43-5E1E-49E9-B958-08A9AC55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3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E677E232-7824-472E-9556-B9597A58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7097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Идентитет</a:t>
            </a:r>
          </a:p>
        </p:txBody>
      </p:sp>
      <p:sp>
        <p:nvSpPr>
          <p:cNvPr id="14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DFDBA683-5C13-40CC-89DA-B9F995C5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190529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 је субјекат?</a:t>
            </a:r>
          </a:p>
        </p:txBody>
      </p:sp>
      <p:sp>
        <p:nvSpPr>
          <p:cNvPr id="15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5D32C3FD-3D7F-4874-943C-026695FB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20258"/>
            <a:ext cx="280734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Трајна ознака и статус.</a:t>
            </a:r>
          </a:p>
        </p:txBody>
      </p:sp>
      <p:sp>
        <p:nvSpPr>
          <p:cNvPr id="16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269A9B0E-316B-4C82-8384-06EA5205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7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58AEDD7F-AFEC-4D81-9F6E-E1F06E06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08847"/>
            <a:ext cx="223971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Аутентикација</a:t>
            </a:r>
          </a:p>
        </p:txBody>
      </p:sp>
      <p:sp>
        <p:nvSpPr>
          <p:cNvPr id="18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41A5B83C-C98F-4A2B-A14B-5895392A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00277"/>
            <a:ext cx="3514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Да ли је тврдња о идентитету </a:t>
            </a:r>
          </a:p>
        </p:txBody>
      </p:sp>
      <p:sp>
        <p:nvSpPr>
          <p:cNvPr id="19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ACF1E870-A3D7-4EC5-8A3A-5E3269DC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920258"/>
            <a:ext cx="151819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уверљива?</a:t>
            </a:r>
          </a:p>
        </p:txBody>
      </p:sp>
      <p:sp>
        <p:nvSpPr>
          <p:cNvPr id="20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127ADDFC-A08E-423B-A56F-D784EC92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1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0C93E917-BD7E-4B0E-8CD3-842FECE0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108847"/>
            <a:ext cx="106114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Улога</a:t>
            </a:r>
          </a:p>
        </p:txBody>
      </p:sp>
      <p:sp>
        <p:nvSpPr>
          <p:cNvPr id="22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AF52E4F0-8AE5-4E0E-A7A0-61D0530C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600277"/>
            <a:ext cx="326454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Коју пословну одговорност </a:t>
            </a:r>
          </a:p>
        </p:txBody>
      </p:sp>
      <p:sp>
        <p:nvSpPr>
          <p:cNvPr id="23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E254DAAE-CFD3-4989-89BB-72823D90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920258"/>
            <a:ext cx="181064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субјекат има?</a:t>
            </a:r>
          </a:p>
        </p:txBody>
      </p:sp>
      <p:sp>
        <p:nvSpPr>
          <p:cNvPr id="24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463986B6-06AE-4882-B985-C0685C6A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71D56D2C-148E-4D36-BCF8-9E1E8C88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108847"/>
            <a:ext cx="144794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Дозвола</a:t>
            </a:r>
          </a:p>
        </p:txBody>
      </p:sp>
      <p:sp>
        <p:nvSpPr>
          <p:cNvPr id="26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8AC010E0-86B4-4D50-9C82-2AD71F1E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600277"/>
            <a:ext cx="347885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Коју конкретну радњу сме да </a:t>
            </a:r>
          </a:p>
        </p:txBody>
      </p:sp>
      <p:sp>
        <p:nvSpPr>
          <p:cNvPr id="27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4574C56B-8507-4CFF-8935-DB773636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920258"/>
            <a:ext cx="127798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изврши?</a:t>
            </a:r>
          </a:p>
        </p:txBody>
      </p:sp>
      <p:sp>
        <p:nvSpPr>
          <p:cNvPr id="28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E44B469F-91FA-4B16-A8DA-CDF295BA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11763"/>
            <a:ext cx="19889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МОДЕЛ ОДЛУКЕ</a:t>
            </a:r>
          </a:p>
        </p:txBody>
      </p:sp>
      <p:sp>
        <p:nvSpPr>
          <p:cNvPr id="29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3EBB4D9C-BFA3-40BE-8847-EB9CF824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17469"/>
            <a:ext cx="1208707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Ефективно право зависи од улоге, потребне дозволе, опсега и актуелног статуса идентитета.</a:t>
            </a:r>
          </a:p>
        </p:txBody>
      </p:sp>
      <p:sp>
        <p:nvSpPr>
          <p:cNvPr id="30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1B5D8990-955B-4338-B237-8181B3B5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1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32E6727D-9CD0-4B1D-857F-D4E8DE84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451722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9028F7-95A8-4E3B-BA6B-33215535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E59F6-696D-480D-8AFB-1A6314AD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7829550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9EDDC-4C50-4783-96A2-01DE7BC4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12591"/>
            <a:ext cx="7829550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A947D-ED25-4DAD-8756-E9D3D68D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80075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FBF1E6"/>
          </a:solidFill>
          <a:ln xmlns:a="http://schemas.openxmlformats.org/drawingml/2006/main" w="0">
            <a:noFill/>
          </a:ln>
        </p:spPr>
      </p:sp>
      <p:sp>
        <p:nvSpPr>
          <p:cNvPr id="5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FAC81B06-9DA1-4971-852F-C127054A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80075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852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EA836-95C2-4CD4-A52D-1E338D86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7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B39E4193-39CC-4C2D-9D33-D18BFC59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9357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 · РАЗДВАЈАЊЕ ПОЈМОВА</a:t>
            </a:r>
          </a:p>
        </p:txBody>
      </p:sp>
      <p:sp>
        <p:nvSpPr>
          <p:cNvPr id="8" name="heading-source-03">
            <a:extLst xmlns:a="http://schemas.openxmlformats.org/drawingml/2006/main">
              <a:ext uri="{FF2B5EF4-FFF2-40B4-BE49-F238E27FC236}">
                <a16:creationId xmlns:a16="http://schemas.microsoft.com/office/drawing/2014/main" id="{66234D81-DED0-4F74-BF40-EEF183E3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170101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271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Раздвајање аутентикације и ауторизације</a:t>
            </a:r>
          </a:p>
        </p:txBody>
      </p:sp>
      <p:sp>
        <p:nvSpPr>
          <p:cNvPr id="9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D6254370-9307-47B6-8D04-18A1D684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73743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Спојене провере стварају претпоставку да аутентификован корисник има право на сваку доступну радњу.</a:t>
            </a:r>
          </a:p>
        </p:txBody>
      </p:sp>
      <p:sp>
        <p:nvSpPr>
          <p:cNvPr id="10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B1463360-B168-422C-A351-7764E890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34976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НЕБЕЗБЕДНА ПРЕТПОСТАВКА</a:t>
            </a:r>
          </a:p>
        </p:txBody>
      </p:sp>
      <p:sp>
        <p:nvSpPr>
          <p:cNvPr id="11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85A3EAC4-9ED1-4B5D-A8F3-A51783B2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428104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„Пријављен је, дакле сме“</a:t>
            </a:r>
          </a:p>
        </p:txBody>
      </p:sp>
      <p:sp>
        <p:nvSpPr>
          <p:cNvPr id="12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C9B9F820-FFA1-453C-AE57-737FFA08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88793"/>
            <a:ext cx="730329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Корисник може бити исправно аутентификован, а ипак </a:t>
            </a:r>
          </a:p>
        </p:txBody>
      </p:sp>
      <p:sp>
        <p:nvSpPr>
          <p:cNvPr id="13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788D2FF3-2FEF-4AAB-9323-DC6CC275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62054"/>
            <a:ext cx="720432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 сме да одобри промену, чита туђи ресурс или мења </a:t>
            </a:r>
          </a:p>
        </p:txBody>
      </p:sp>
      <p:sp>
        <p:nvSpPr>
          <p:cNvPr id="14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8F744C32-9953-4B55-8F0B-4DD92B8F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135314"/>
            <a:ext cx="228614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конфигурацију.</a:t>
            </a:r>
          </a:p>
        </p:txBody>
      </p:sp>
      <p:sp>
        <p:nvSpPr>
          <p:cNvPr id="15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FE46A604-E9C1-470F-8594-75B0FB02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388816"/>
            <a:ext cx="2263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ПОТПУНА ОДЛУКА</a:t>
            </a:r>
          </a:p>
        </p:txBody>
      </p:sp>
      <p:sp>
        <p:nvSpPr>
          <p:cNvPr id="16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921E062C-6889-409D-9F76-0A04FD61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842147"/>
            <a:ext cx="450993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„Ко, шта, над чим и зашто?“</a:t>
            </a:r>
          </a:p>
        </p:txBody>
      </p:sp>
      <p:sp>
        <p:nvSpPr>
          <p:cNvPr id="17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9D55A032-F24F-4FA9-B2C3-D13384CB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388793"/>
            <a:ext cx="755883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Сервер проверава активан идентитет, потребну дозволу, </a:t>
            </a:r>
          </a:p>
        </p:txBody>
      </p:sp>
      <p:sp>
        <p:nvSpPr>
          <p:cNvPr id="18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5279E6B9-5047-4578-B064-D15D79A8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762054"/>
            <a:ext cx="479494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опсег и контекст конкретне радње.</a:t>
            </a:r>
          </a:p>
        </p:txBody>
      </p:sp>
      <p:sp>
        <p:nvSpPr>
          <p:cNvPr id="19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083097F3-F377-4E07-A314-032181FE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270575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ЗАКЉУЧАК</a:t>
            </a:r>
          </a:p>
        </p:txBody>
      </p:sp>
      <p:sp>
        <p:nvSpPr>
          <p:cNvPr id="20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B5C19148-9049-4ECA-A40E-76C3E5A6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676281"/>
            <a:ext cx="1145664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Раздвајање појмова смањује број скривених пречица и омогућава јасан ревизиони траг.</a:t>
            </a:r>
          </a:p>
        </p:txBody>
      </p:sp>
      <p:sp>
        <p:nvSpPr>
          <p:cNvPr id="21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24469284-C925-439D-B8E4-4A2501A6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2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EDABB4DE-2881-4B1F-A70D-72875409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07409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CCBE4-1882-4606-BB6D-A1B28FC7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6DB7A-459E-4313-8EAD-B05EE3EC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E968E323-DEB3-4CBE-9D19-8C7DFE09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217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4" name="heading-source-07">
            <a:extLst xmlns:a="http://schemas.openxmlformats.org/drawingml/2006/main">
              <a:ext uri="{FF2B5EF4-FFF2-40B4-BE49-F238E27FC236}">
                <a16:creationId xmlns:a16="http://schemas.microsoft.com/office/drawing/2014/main" id="{AF9373B9-9D5F-42CD-BEE5-6474B4EA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45730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381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Аутентикација и ауторизација</a:t>
            </a:r>
          </a:p>
        </p:txBody>
      </p:sp>
      <p:sp>
        <p:nvSpPr>
          <p:cNvPr id="5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AC5264D1-7315-4964-BE9A-6B0FC438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201608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Аутентикација потврђује идентитет, док ауторизација проверава право на конкретну радњу.</a:t>
            </a:r>
          </a:p>
        </p:txBody>
      </p:sp>
      <p:sp>
        <p:nvSpPr>
          <p:cNvPr id="6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DF427B1B-DE6F-4B86-B924-91D0A556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7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3C1EC1A6-3E78-4CA3-AE1E-DBFAF8F5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1219200" y="3112591"/>
          <a:ext xmlns:a="http://schemas.openxmlformats.org/drawingml/2006/main" cx="15849600" cy="4020741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66021"/>
                <a:gridCol w="4907459"/>
                <a:gridCol w="7757071"/>
              </a:tblGrid>
              <a:tr h="7256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ПОЈАМ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2EB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ПИТАЊЕ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2EB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ТИПИЧНА ГРЕШКА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2EBE9"/>
                    </a:solidFill>
                  </a:tcPr>
                </a:tc>
              </a:tr>
              <a:tr h="7256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Идентитет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Ко је субјекат?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Особа и технички налог се третирају исто.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7256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Аутентикација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Да ли је идентитет потврђен?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Успешна пријава се тумачи као широко овлашћење.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7256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Ауторизација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Да ли је радња дозвољена?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Провера постоји само у корисничком интерфејсу.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10989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Сесија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У ком привременом контексту право важи?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Token се третира као трајно право.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500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064504-C3C8-4D5D-A2F8-1D8A071C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5DAD9-7859-40CE-A848-AD7C2282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2651671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E5A34-393E-4792-B966-DFFFC9B6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571" y="3112591"/>
            <a:ext cx="2651820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69ECA-0180-4552-B8B5-9DF6ACF5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090" y="3112591"/>
            <a:ext cx="2651671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9E3E9-20F5-489F-9661-93E7BCE5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461" y="3112591"/>
            <a:ext cx="2651820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DE102-7D29-4F94-8FF8-8C58A86B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6980" y="3112591"/>
            <a:ext cx="2651820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40A24-C828-4A3F-A02F-038A4019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8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4C7911EF-F014-481A-B904-1643AD65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049BA-78BF-492F-82DD-8355F199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65e4ba22942cb"/>
          <a:stretch xmlns:a="http://schemas.openxmlformats.org/drawingml/2006/main"/>
        </p:blipFill>
        <p:spPr>
          <a:xfrm xmlns:a="http://schemas.openxmlformats.org/drawingml/2006/main">
            <a:off x="4061371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d6acdb79244eb"/>
          <a:stretch xmlns:a="http://schemas.openxmlformats.org/drawingml/2006/main"/>
        </p:blipFill>
        <p:spPr>
          <a:xfrm xmlns:a="http://schemas.openxmlformats.org/drawingml/2006/main">
            <a:off x="7360890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bda1d644f427c"/>
          <a:stretch xmlns:a="http://schemas.openxmlformats.org/drawingml/2006/main"/>
        </p:blipFill>
        <p:spPr>
          <a:xfrm xmlns:a="http://schemas.openxmlformats.org/drawingml/2006/main">
            <a:off x="10660261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5ed7fab3244c5"/>
          <a:stretch xmlns:a="http://schemas.openxmlformats.org/drawingml/2006/main"/>
        </p:blipFill>
        <p:spPr>
          <a:xfrm xmlns:a="http://schemas.openxmlformats.org/drawingml/2006/main">
            <a:off x="13959780" y="421927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EE776B38-B72A-409A-A9DD-48B27883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3109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 · ЖИВОТНИ ЦИКЛУС</a:t>
            </a:r>
          </a:p>
        </p:txBody>
      </p:sp>
      <p:sp>
        <p:nvSpPr>
          <p:cNvPr id="15" name="heading-source-06">
            <a:extLst xmlns:a="http://schemas.openxmlformats.org/drawingml/2006/main">
              <a:ext uri="{FF2B5EF4-FFF2-40B4-BE49-F238E27FC236}">
                <a16:creationId xmlns:a16="http://schemas.microsoft.com/office/drawing/2014/main" id="{98F910A9-BB12-4A4A-9B58-B03DC0EB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04237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Животни циклус идентитета</a:t>
            </a:r>
          </a:p>
        </p:txBody>
      </p:sp>
      <p:sp>
        <p:nvSpPr>
          <p:cNvPr id="16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B2FD74FC-4673-4461-B434-2F363D47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89965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Права приступа мењају се са статусом налога, организационом улогом и важењем додељених привилегија.</a:t>
            </a:r>
          </a:p>
        </p:txBody>
      </p:sp>
      <p:sp>
        <p:nvSpPr>
          <p:cNvPr id="17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64DAC1E6-3F72-4FF7-A87D-5D0F0405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8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2049B5A9-4182-467C-BD11-969E9F8F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46253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Креиран</a:t>
            </a:r>
          </a:p>
        </p:txBody>
      </p:sp>
      <p:sp>
        <p:nvSpPr>
          <p:cNvPr id="19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F93BE856-233C-4B26-B8A6-28545E8F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208210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власник и сврха </a:t>
            </a:r>
          </a:p>
        </p:txBody>
      </p:sp>
      <p:sp>
        <p:nvSpPr>
          <p:cNvPr id="20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C77AC392-0162-4A9D-80C4-28AD22DC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20258"/>
            <a:ext cx="107706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налога</a:t>
            </a:r>
          </a:p>
        </p:txBody>
      </p:sp>
      <p:sp>
        <p:nvSpPr>
          <p:cNvPr id="21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0BDCFEE5-3385-498E-BD45-6F5778C5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2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60EAA631-1E36-4204-8A13-DE4FFC4F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4108847"/>
            <a:ext cx="143008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Активан</a:t>
            </a:r>
          </a:p>
        </p:txBody>
      </p:sp>
      <p:sp>
        <p:nvSpPr>
          <p:cNvPr id="23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6107872F-2F27-450F-8552-A82451BC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4600277"/>
            <a:ext cx="197524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важеће улоге и </a:t>
            </a:r>
          </a:p>
        </p:txBody>
      </p:sp>
      <p:sp>
        <p:nvSpPr>
          <p:cNvPr id="24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26FB435D-5E63-4831-8EAE-F7C3A68C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4920258"/>
            <a:ext cx="122976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дозволе</a:t>
            </a:r>
          </a:p>
        </p:txBody>
      </p:sp>
      <p:sp>
        <p:nvSpPr>
          <p:cNvPr id="25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AFA96C6F-693D-404A-B5A7-6A428729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1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6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DC1FC61D-64F6-482B-87B4-DC7312A8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15" y="4108847"/>
            <a:ext cx="172000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Промењен</a:t>
            </a:r>
          </a:p>
        </p:txBody>
      </p:sp>
      <p:sp>
        <p:nvSpPr>
          <p:cNvPr id="27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F89D20AF-47F6-44A6-95DC-CDA055A4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15" y="4600277"/>
            <a:ext cx="226933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нова одговорност </a:t>
            </a:r>
          </a:p>
        </p:txBody>
      </p:sp>
      <p:sp>
        <p:nvSpPr>
          <p:cNvPr id="28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63A9ECBD-C148-4527-9DE6-6509C311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15" y="4920258"/>
            <a:ext cx="139243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или опсег</a:t>
            </a:r>
          </a:p>
        </p:txBody>
      </p:sp>
      <p:sp>
        <p:nvSpPr>
          <p:cNvPr id="29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28A24A65-8EE1-4EA9-BF39-8E4AD49F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86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30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2BCE22FA-2808-4F4E-BCB0-EA390074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86" y="4108847"/>
            <a:ext cx="203790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Суспендован</a:t>
            </a:r>
          </a:p>
        </p:txBody>
      </p:sp>
      <p:sp>
        <p:nvSpPr>
          <p:cNvPr id="31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C7DD741C-13E9-43E6-9EA8-A048F9C4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86" y="4600277"/>
            <a:ext cx="222111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приступ се одмах </a:t>
            </a:r>
          </a:p>
        </p:txBody>
      </p:sp>
      <p:sp>
        <p:nvSpPr>
          <p:cNvPr id="32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04AEC78F-A7B9-4B17-9C5D-C021DAF6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86" y="4920258"/>
            <a:ext cx="9757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укида</a:t>
            </a:r>
          </a:p>
        </p:txBody>
      </p:sp>
      <p:sp>
        <p:nvSpPr>
          <p:cNvPr id="33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FEDD33D8-BC46-40E0-AB01-A36D1B82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20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34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0BBD9D8B-CF52-493C-A5B1-BD793198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205" y="4108847"/>
            <a:ext cx="129108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Угашен</a:t>
            </a:r>
          </a:p>
        </p:txBody>
      </p:sp>
      <p:sp>
        <p:nvSpPr>
          <p:cNvPr id="35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72CCBE05-42CA-4B1F-9CF1-72F129D4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205" y="4600277"/>
            <a:ext cx="157236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остаје audit </a:t>
            </a:r>
          </a:p>
        </p:txBody>
      </p:sp>
      <p:sp>
        <p:nvSpPr>
          <p:cNvPr id="36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E490624D-2AF6-44AB-BD86-9AB63DC6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205" y="4920258"/>
            <a:ext cx="12724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историја</a:t>
            </a:r>
          </a:p>
        </p:txBody>
      </p:sp>
      <p:sp>
        <p:nvSpPr>
          <p:cNvPr id="37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57822717-D03D-4E30-B500-CDAA571C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11763"/>
            <a:ext cx="32233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ДИЗАЈНЕРСКА ПОСЛЕДИЦА</a:t>
            </a:r>
          </a:p>
        </p:txBody>
      </p:sp>
      <p:sp>
        <p:nvSpPr>
          <p:cNvPr id="38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ABBD01D0-1EF5-4637-9AA9-51564947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17469"/>
            <a:ext cx="1483325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Статус идентитета и промена улоге морају утицати на сваку нову одлуку, без ослањања на застарелу претпоставку </a:t>
            </a:r>
          </a:p>
        </p:txBody>
      </p:sp>
      <p:sp>
        <p:nvSpPr>
          <p:cNvPr id="39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7401293B-E053-4A42-8BFB-525DE982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90730"/>
            <a:ext cx="150450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клијента.</a:t>
            </a:r>
          </a:p>
        </p:txBody>
      </p:sp>
      <p:sp>
        <p:nvSpPr>
          <p:cNvPr id="40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393E74D3-7E89-4552-9331-1EC1CB8C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41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2669BC43-1B9B-4582-9B91-C57CDF5E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30731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1CE4E5-2BDE-45B6-B24A-682371EF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B2F40-9A75-40B7-A514-7C95DE9F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FD72E-48A8-4509-A9D7-1684788E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7507A-B2E1-42C7-86B6-8DA40DB5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97472-4FF4-4FFF-814A-A1ED48B3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BE9F3-F2D2-41FC-BB22-1AD97865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1A5FA355-802E-4F40-BC67-CEFCED1D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90640-2278-40D3-8991-04B7B7B3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2c7ffcc874c30"/>
          <a:stretch xmlns:a="http://schemas.openxmlformats.org/drawingml/2006/main"/>
        </p:blipFill>
        <p:spPr>
          <a:xfrm xmlns:a="http://schemas.openxmlformats.org/drawingml/2006/main">
            <a:off x="4886325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583d20f494ef9"/>
          <a:stretch xmlns:a="http://schemas.openxmlformats.org/drawingml/2006/main"/>
        </p:blipFill>
        <p:spPr>
          <a:xfrm xmlns:a="http://schemas.openxmlformats.org/drawingml/2006/main">
            <a:off x="9010650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e4ab310764645"/>
          <a:stretch xmlns:a="http://schemas.openxmlformats.org/drawingml/2006/main"/>
        </p:blipFill>
        <p:spPr>
          <a:xfrm xmlns:a="http://schemas.openxmlformats.org/drawingml/2006/main">
            <a:off x="13134975" y="421927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71E183C0-8184-4728-9843-8280E9B2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 · СЕСИЈЕ</a:t>
            </a:r>
          </a:p>
        </p:txBody>
      </p:sp>
      <p:sp>
        <p:nvSpPr>
          <p:cNvPr id="13" name="heading-source-17">
            <a:extLst xmlns:a="http://schemas.openxmlformats.org/drawingml/2006/main">
              <a:ext uri="{FF2B5EF4-FFF2-40B4-BE49-F238E27FC236}">
                <a16:creationId xmlns:a16="http://schemas.microsoft.com/office/drawing/2014/main" id="{4E078F06-2C7D-4DD0-A6CA-6CA61479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2761119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452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Сесија као привремени безбедносни контекст</a:t>
            </a:r>
          </a:p>
        </p:txBody>
      </p:sp>
      <p:sp>
        <p:nvSpPr>
          <p:cNvPr id="14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9554E4F0-4CA7-4921-94B4-6CA2CAB9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265173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Токен преноси тврдње о субјекту у ограниченом периоду, док сервер проверава њихово важење.</a:t>
            </a:r>
          </a:p>
        </p:txBody>
      </p:sp>
      <p:sp>
        <p:nvSpPr>
          <p:cNvPr id="15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7B80D70B-9ADA-4C57-B4C7-C24AF790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07BD4654-3B99-4E68-824B-FF442463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37561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Пријава</a:t>
            </a:r>
          </a:p>
        </p:txBody>
      </p:sp>
      <p:sp>
        <p:nvSpPr>
          <p:cNvPr id="17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089618C5-BD81-4FD5-BE24-7BD3C534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2506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потврда идентитета</a:t>
            </a:r>
          </a:p>
        </p:txBody>
      </p:sp>
      <p:sp>
        <p:nvSpPr>
          <p:cNvPr id="18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7A6E8C9C-6811-4B55-B3F8-AE1B50B9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84387D63-D0D1-4FED-B3C3-D25667E0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8847"/>
            <a:ext cx="118169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Сесија</a:t>
            </a:r>
          </a:p>
        </p:txBody>
      </p:sp>
      <p:sp>
        <p:nvSpPr>
          <p:cNvPr id="20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0971A234-1C9F-455B-AE0C-9B9A690E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00277"/>
            <a:ext cx="251623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ограничено трајање</a:t>
            </a:r>
          </a:p>
        </p:txBody>
      </p:sp>
      <p:sp>
        <p:nvSpPr>
          <p:cNvPr id="21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B2DE8F64-F97F-4A91-B751-C9897CF8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2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F49049DE-EC00-471E-8C11-AB01A10E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08847"/>
            <a:ext cx="197122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Нова одлука</a:t>
            </a:r>
          </a:p>
        </p:txBody>
      </p:sp>
      <p:sp>
        <p:nvSpPr>
          <p:cNvPr id="23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D2B5896B-DF0A-4866-8D0A-F1AC6049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00277"/>
            <a:ext cx="322153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провера статуса и дозволе</a:t>
            </a:r>
          </a:p>
        </p:txBody>
      </p:sp>
      <p:sp>
        <p:nvSpPr>
          <p:cNvPr id="24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F7A6C6D5-908D-4618-8C2B-BCD93300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D989F8ED-2B9C-47E2-8E6F-AD0D5F04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108847"/>
            <a:ext cx="110445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Истек</a:t>
            </a:r>
          </a:p>
        </p:txBody>
      </p:sp>
      <p:sp>
        <p:nvSpPr>
          <p:cNvPr id="26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F2DF2672-3550-4435-9C39-BD248CA2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600277"/>
            <a:ext cx="218464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поновна потврда </a:t>
            </a:r>
          </a:p>
        </p:txBody>
      </p:sp>
      <p:sp>
        <p:nvSpPr>
          <p:cNvPr id="27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17C723AF-577A-4255-B82B-2D29C597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920258"/>
            <a:ext cx="157058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идентитета</a:t>
            </a:r>
          </a:p>
        </p:txBody>
      </p:sp>
      <p:sp>
        <p:nvSpPr>
          <p:cNvPr id="28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836DAEFA-E769-44B6-801B-24E5FA3F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11763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БЕЗБЕДНОСНИ ИСХОД</a:t>
            </a:r>
          </a:p>
        </p:txBody>
      </p:sp>
      <p:sp>
        <p:nvSpPr>
          <p:cNvPr id="29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16FB175D-6B5B-4AF2-B435-2547F1A1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17469"/>
            <a:ext cx="429845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Суспензија мора да има ефекат</a:t>
            </a:r>
          </a:p>
        </p:txBody>
      </p:sp>
      <p:sp>
        <p:nvSpPr>
          <p:cNvPr id="30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74E45E35-E819-4B87-80FE-657AE67C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90730"/>
            <a:ext cx="1275144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Активан токен не сме сам по себи да надјача актуелни статус идентитета за нову осетљиву радњу.</a:t>
            </a:r>
          </a:p>
        </p:txBody>
      </p:sp>
      <p:sp>
        <p:nvSpPr>
          <p:cNvPr id="31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CA283BB2-2999-48B1-8236-DE7468EF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2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5F7FDEDB-E84A-49A5-9821-1A58C49D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923828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ADC54-0882-4C00-ACE1-EF05CE0D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95B28-C157-4E29-91E5-C115F852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a6244590c4016"/>
          <a:stretch xmlns:a="http://schemas.openxmlformats.org/drawingml/2006/main"/>
        </p:blipFill>
        <p:spPr>
          <a:xfrm xmlns:a="http://schemas.openxmlformats.org/drawingml/2006/main">
            <a:off x="1219200" y="3112591"/>
            <a:ext cx="15849600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text-status-tokom-sesije">
            <a:extLst xmlns:a="http://schemas.openxmlformats.org/drawingml/2006/main">
              <a:ext uri="{FF2B5EF4-FFF2-40B4-BE49-F238E27FC236}">
                <a16:creationId xmlns:a16="http://schemas.microsoft.com/office/drawing/2014/main" id="{AB630123-1636-4F50-BFF9-02CA0209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 · СЕСИЈА</a:t>
            </a:r>
          </a:p>
        </p:txBody>
      </p:sp>
      <p:sp>
        <p:nvSpPr>
          <p:cNvPr id="5" name="heading-status-tokom-sesije">
            <a:extLst xmlns:a="http://schemas.openxmlformats.org/drawingml/2006/main">
              <a:ext uri="{FF2B5EF4-FFF2-40B4-BE49-F238E27FC236}">
                <a16:creationId xmlns:a16="http://schemas.microsoft.com/office/drawing/2014/main" id="{EC00F21A-3668-47EC-A03C-F191CB77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389293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702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Промена статуса током сесије</a:t>
            </a:r>
          </a:p>
        </p:txBody>
      </p:sp>
      <p:sp>
        <p:nvSpPr>
          <p:cNvPr id="6" name="text-status-tokom-sesije">
            <a:extLst xmlns:a="http://schemas.openxmlformats.org/drawingml/2006/main">
              <a:ext uri="{FF2B5EF4-FFF2-40B4-BE49-F238E27FC236}">
                <a16:creationId xmlns:a16="http://schemas.microsoft.com/office/drawing/2014/main" id="{89B21E74-1B57-4A52-9801-ACC06B22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785023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Нова осетљива радња користи актуелни статус идентитета.</a:t>
            </a:r>
          </a:p>
        </p:txBody>
      </p:sp>
      <p:sp>
        <p:nvSpPr>
          <p:cNvPr id="7" name="text-status-tokom-sesije">
            <a:extLst xmlns:a="http://schemas.openxmlformats.org/drawingml/2006/main">
              <a:ext uri="{FF2B5EF4-FFF2-40B4-BE49-F238E27FC236}">
                <a16:creationId xmlns:a16="http://schemas.microsoft.com/office/drawing/2014/main" id="{22E66077-5C34-49F9-843F-553DAAB3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028" y="4036516"/>
            <a:ext cx="167074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Пријава</a:t>
            </a:r>
          </a:p>
        </p:txBody>
      </p:sp>
      <p:sp>
        <p:nvSpPr>
          <p:cNvPr id="8" name="text-status-tokom-sesije">
            <a:extLst xmlns:a="http://schemas.openxmlformats.org/drawingml/2006/main">
              <a:ext uri="{FF2B5EF4-FFF2-40B4-BE49-F238E27FC236}">
                <a16:creationId xmlns:a16="http://schemas.microsoft.com/office/drawing/2014/main" id="{D879517A-E946-45A9-8B75-71F0EB65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717" y="4036516"/>
            <a:ext cx="3407866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Суспензија налога</a:t>
            </a:r>
          </a:p>
        </p:txBody>
      </p:sp>
      <p:sp>
        <p:nvSpPr>
          <p:cNvPr id="9" name="text-status-tokom-sesije">
            <a:extLst xmlns:a="http://schemas.openxmlformats.org/drawingml/2006/main">
              <a:ext uri="{FF2B5EF4-FFF2-40B4-BE49-F238E27FC236}">
                <a16:creationId xmlns:a16="http://schemas.microsoft.com/office/drawing/2014/main" id="{4E043047-9099-4AE9-9300-7610AA35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152" y="4036516"/>
            <a:ext cx="237529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Нови захтев</a:t>
            </a:r>
          </a:p>
        </p:txBody>
      </p:sp>
      <p:sp>
        <p:nvSpPr>
          <p:cNvPr id="10" name="text-status-tokom-sesije">
            <a:extLst xmlns:a="http://schemas.openxmlformats.org/drawingml/2006/main">
              <a:ext uri="{FF2B5EF4-FFF2-40B4-BE49-F238E27FC236}">
                <a16:creationId xmlns:a16="http://schemas.microsoft.com/office/drawing/2014/main" id="{C324ED17-CE8C-48D8-B7A7-DDB286D1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714" y="5903416"/>
            <a:ext cx="326737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Сесија је успостављена</a:t>
            </a:r>
          </a:p>
        </p:txBody>
      </p:sp>
      <p:sp>
        <p:nvSpPr>
          <p:cNvPr id="11" name="text-status-tokom-sesije">
            <a:extLst xmlns:a="http://schemas.openxmlformats.org/drawingml/2006/main">
              <a:ext uri="{FF2B5EF4-FFF2-40B4-BE49-F238E27FC236}">
                <a16:creationId xmlns:a16="http://schemas.microsoft.com/office/drawing/2014/main" id="{FB984C83-BC05-44E1-B5CF-72AFCE10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247" y="6276677"/>
            <a:ext cx="245015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Налог је активан</a:t>
            </a:r>
          </a:p>
        </p:txBody>
      </p:sp>
      <p:sp>
        <p:nvSpPr>
          <p:cNvPr id="12" name="text-status-tokom-sesije">
            <a:extLst xmlns:a="http://schemas.openxmlformats.org/drawingml/2006/main">
              <a:ext uri="{FF2B5EF4-FFF2-40B4-BE49-F238E27FC236}">
                <a16:creationId xmlns:a16="http://schemas.microsoft.com/office/drawing/2014/main" id="{609E538E-3A93-4925-BF96-5D8F94B4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289" y="5903416"/>
            <a:ext cx="281657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Статус се променио</a:t>
            </a:r>
          </a:p>
        </p:txBody>
      </p:sp>
      <p:sp>
        <p:nvSpPr>
          <p:cNvPr id="13" name="text-status-tokom-sesije">
            <a:extLst xmlns:a="http://schemas.openxmlformats.org/drawingml/2006/main">
              <a:ext uri="{FF2B5EF4-FFF2-40B4-BE49-F238E27FC236}">
                <a16:creationId xmlns:a16="http://schemas.microsoft.com/office/drawing/2014/main" id="{5D5C84EA-172F-45B3-8008-58122402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208" y="6276677"/>
            <a:ext cx="364688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Сесија може још постојати</a:t>
            </a:r>
          </a:p>
        </p:txBody>
      </p:sp>
      <p:sp>
        <p:nvSpPr>
          <p:cNvPr id="14" name="text-status-tokom-sesije">
            <a:extLst xmlns:a="http://schemas.openxmlformats.org/drawingml/2006/main">
              <a:ext uri="{FF2B5EF4-FFF2-40B4-BE49-F238E27FC236}">
                <a16:creationId xmlns:a16="http://schemas.microsoft.com/office/drawing/2014/main" id="{DAAE2D91-DA0F-48C3-B445-1ABCD44F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0762" y="5884366"/>
            <a:ext cx="241607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A8520A"/>
                </a:solidFill>
                <a:latin typeface="IBM Plex Sans"/>
                <a:ea typeface="IBM Plex Sans"/>
                <a:cs typeface="IBM Plex Sans"/>
              </a:rPr>
              <a:t>Провера статуса</a:t>
            </a:r>
          </a:p>
        </p:txBody>
      </p:sp>
      <p:sp>
        <p:nvSpPr>
          <p:cNvPr id="15" name="text-status-tokom-sesije">
            <a:extLst xmlns:a="http://schemas.openxmlformats.org/drawingml/2006/main">
              <a:ext uri="{FF2B5EF4-FFF2-40B4-BE49-F238E27FC236}">
                <a16:creationId xmlns:a16="http://schemas.microsoft.com/office/drawing/2014/main" id="{4D188D6A-0C49-4273-A863-E75DCBA6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5982" y="6257627"/>
            <a:ext cx="36654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A8520A"/>
                </a:solidFill>
                <a:latin typeface="IBM Plex Sans"/>
                <a:ea typeface="IBM Plex Sans"/>
                <a:cs typeface="IBM Plex Sans"/>
              </a:rPr>
              <a:t>Одбијена осетљива радња</a:t>
            </a:r>
          </a:p>
        </p:txBody>
      </p:sp>
      <p:sp>
        <p:nvSpPr>
          <p:cNvPr id="16" name="text-status-tokom-sesije">
            <a:extLst xmlns:a="http://schemas.openxmlformats.org/drawingml/2006/main">
              <a:ext uri="{FF2B5EF4-FFF2-40B4-BE49-F238E27FC236}">
                <a16:creationId xmlns:a16="http://schemas.microsoft.com/office/drawing/2014/main" id="{313EDD47-1995-43C7-B69C-EA1009F6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7" name="text-status-tokom-sesije">
            <a:extLst xmlns:a="http://schemas.openxmlformats.org/drawingml/2006/main">
              <a:ext uri="{FF2B5EF4-FFF2-40B4-BE49-F238E27FC236}">
                <a16:creationId xmlns:a16="http://schemas.microsoft.com/office/drawing/2014/main" id="{87F08639-30C9-46C3-AEF6-F6DEFEE9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88909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A16FD2-02A9-4551-A2FE-3D3D399E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CE76D-DBDF-4AD8-AE55-F5E84CAB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1049000" cy="2396133"/>
          </a:xfrm>
          <a:prstGeom xmlns:a="http://schemas.openxmlformats.org/drawingml/2006/main" prst="roundRect">
            <a:avLst>
              <a:gd name="adj" fmla="val 636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AD269-0C4E-4734-9C2B-1F6CAD7E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112591"/>
            <a:ext cx="4495800" cy="1896963"/>
          </a:xfrm>
          <a:prstGeom xmlns:a="http://schemas.openxmlformats.org/drawingml/2006/main" prst="roundRect">
            <a:avLst>
              <a:gd name="adj" fmla="val 602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4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AEB98CB6-1337-411D-AB5F-D53A2B7B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112591"/>
            <a:ext cx="114300" cy="1896963"/>
          </a:xfrm>
          <a:custGeom xmlns:a="http://schemas.openxmlformats.org/drawingml/2006/main">
            <a:pathLst>
              <a:path w="114300" h="1896963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782663"/>
                </a:lnTo>
                <a:lnTo>
                  <a:pt x="61" y="1786403"/>
                </a:lnTo>
                <a:lnTo>
                  <a:pt x="245" y="1790139"/>
                </a:lnTo>
                <a:lnTo>
                  <a:pt x="550" y="1793867"/>
                </a:lnTo>
                <a:lnTo>
                  <a:pt x="978" y="1797582"/>
                </a:lnTo>
                <a:lnTo>
                  <a:pt x="1527" y="1801282"/>
                </a:lnTo>
                <a:lnTo>
                  <a:pt x="2196" y="1804962"/>
                </a:lnTo>
                <a:lnTo>
                  <a:pt x="2986" y="1808618"/>
                </a:lnTo>
                <a:lnTo>
                  <a:pt x="3895" y="1812246"/>
                </a:lnTo>
                <a:lnTo>
                  <a:pt x="4922" y="1815843"/>
                </a:lnTo>
                <a:lnTo>
                  <a:pt x="6066" y="1819404"/>
                </a:lnTo>
                <a:lnTo>
                  <a:pt x="7326" y="1822925"/>
                </a:lnTo>
                <a:lnTo>
                  <a:pt x="8701" y="1826404"/>
                </a:lnTo>
                <a:lnTo>
                  <a:pt x="10188" y="1829836"/>
                </a:lnTo>
                <a:lnTo>
                  <a:pt x="11787" y="1833217"/>
                </a:lnTo>
                <a:lnTo>
                  <a:pt x="13496" y="1836544"/>
                </a:lnTo>
                <a:lnTo>
                  <a:pt x="15313" y="1839813"/>
                </a:lnTo>
                <a:lnTo>
                  <a:pt x="17236" y="1843021"/>
                </a:lnTo>
                <a:lnTo>
                  <a:pt x="19263" y="1846165"/>
                </a:lnTo>
                <a:lnTo>
                  <a:pt x="21392" y="1849240"/>
                </a:lnTo>
                <a:lnTo>
                  <a:pt x="23620" y="1852245"/>
                </a:lnTo>
                <a:lnTo>
                  <a:pt x="25945" y="1855174"/>
                </a:lnTo>
                <a:lnTo>
                  <a:pt x="28365" y="1858027"/>
                </a:lnTo>
                <a:lnTo>
                  <a:pt x="30877" y="1860798"/>
                </a:lnTo>
                <a:lnTo>
                  <a:pt x="33478" y="1863486"/>
                </a:lnTo>
                <a:lnTo>
                  <a:pt x="36165" y="1866087"/>
                </a:lnTo>
                <a:lnTo>
                  <a:pt x="38937" y="1868599"/>
                </a:lnTo>
                <a:lnTo>
                  <a:pt x="41789" y="1871018"/>
                </a:lnTo>
                <a:lnTo>
                  <a:pt x="44719" y="1873344"/>
                </a:lnTo>
                <a:lnTo>
                  <a:pt x="47723" y="1875572"/>
                </a:lnTo>
                <a:lnTo>
                  <a:pt x="50798" y="1877700"/>
                </a:lnTo>
                <a:lnTo>
                  <a:pt x="53942" y="1879727"/>
                </a:lnTo>
                <a:lnTo>
                  <a:pt x="57150" y="1881650"/>
                </a:lnTo>
                <a:lnTo>
                  <a:pt x="60419" y="1883467"/>
                </a:lnTo>
                <a:lnTo>
                  <a:pt x="63746" y="1885176"/>
                </a:lnTo>
                <a:lnTo>
                  <a:pt x="67128" y="1886775"/>
                </a:lnTo>
                <a:lnTo>
                  <a:pt x="70559" y="1888263"/>
                </a:lnTo>
                <a:lnTo>
                  <a:pt x="74038" y="1889637"/>
                </a:lnTo>
                <a:lnTo>
                  <a:pt x="77559" y="1890897"/>
                </a:lnTo>
                <a:lnTo>
                  <a:pt x="81120" y="1892042"/>
                </a:lnTo>
                <a:lnTo>
                  <a:pt x="84717" y="1893069"/>
                </a:lnTo>
                <a:lnTo>
                  <a:pt x="88345" y="1893977"/>
                </a:lnTo>
                <a:lnTo>
                  <a:pt x="92001" y="1894767"/>
                </a:lnTo>
                <a:lnTo>
                  <a:pt x="95681" y="1895437"/>
                </a:lnTo>
                <a:lnTo>
                  <a:pt x="99381" y="1895985"/>
                </a:lnTo>
                <a:lnTo>
                  <a:pt x="103097" y="1896413"/>
                </a:lnTo>
                <a:lnTo>
                  <a:pt x="106824" y="1896719"/>
                </a:lnTo>
                <a:lnTo>
                  <a:pt x="110560" y="1896902"/>
                </a:lnTo>
                <a:lnTo>
                  <a:pt x="114300" y="1896963"/>
                </a:lnTo>
                <a:lnTo>
                  <a:pt x="114300" y="1896963"/>
                </a:lnTo>
                <a:lnTo>
                  <a:pt x="112430" y="1896902"/>
                </a:lnTo>
                <a:lnTo>
                  <a:pt x="110562" y="1896719"/>
                </a:lnTo>
                <a:lnTo>
                  <a:pt x="108698" y="1896413"/>
                </a:lnTo>
                <a:lnTo>
                  <a:pt x="106840" y="1895985"/>
                </a:lnTo>
                <a:lnTo>
                  <a:pt x="104991" y="1895437"/>
                </a:lnTo>
                <a:lnTo>
                  <a:pt x="103151" y="1894767"/>
                </a:lnTo>
                <a:lnTo>
                  <a:pt x="101323" y="1893977"/>
                </a:lnTo>
                <a:lnTo>
                  <a:pt x="99508" y="1893069"/>
                </a:lnTo>
                <a:lnTo>
                  <a:pt x="97710" y="1892042"/>
                </a:lnTo>
                <a:lnTo>
                  <a:pt x="95930" y="1890897"/>
                </a:lnTo>
                <a:lnTo>
                  <a:pt x="94169" y="1889637"/>
                </a:lnTo>
                <a:lnTo>
                  <a:pt x="92430" y="1888263"/>
                </a:lnTo>
                <a:lnTo>
                  <a:pt x="90714" y="1886775"/>
                </a:lnTo>
                <a:lnTo>
                  <a:pt x="89023" y="1885176"/>
                </a:lnTo>
                <a:lnTo>
                  <a:pt x="87360" y="1883467"/>
                </a:lnTo>
                <a:lnTo>
                  <a:pt x="85725" y="1881650"/>
                </a:lnTo>
                <a:lnTo>
                  <a:pt x="84121" y="1879727"/>
                </a:lnTo>
                <a:lnTo>
                  <a:pt x="82549" y="1877700"/>
                </a:lnTo>
                <a:lnTo>
                  <a:pt x="81011" y="1875572"/>
                </a:lnTo>
                <a:lnTo>
                  <a:pt x="79509" y="1873344"/>
                </a:lnTo>
                <a:lnTo>
                  <a:pt x="78044" y="1871018"/>
                </a:lnTo>
                <a:lnTo>
                  <a:pt x="76618" y="1868599"/>
                </a:lnTo>
                <a:lnTo>
                  <a:pt x="75233" y="1866087"/>
                </a:lnTo>
                <a:lnTo>
                  <a:pt x="73889" y="1863486"/>
                </a:lnTo>
                <a:lnTo>
                  <a:pt x="72588" y="1860798"/>
                </a:lnTo>
                <a:lnTo>
                  <a:pt x="71332" y="1858027"/>
                </a:lnTo>
                <a:lnTo>
                  <a:pt x="70122" y="1855174"/>
                </a:lnTo>
                <a:lnTo>
                  <a:pt x="68960" y="1852245"/>
                </a:lnTo>
                <a:lnTo>
                  <a:pt x="67846" y="1849240"/>
                </a:lnTo>
                <a:lnTo>
                  <a:pt x="66782" y="1846165"/>
                </a:lnTo>
                <a:lnTo>
                  <a:pt x="65768" y="1843021"/>
                </a:lnTo>
                <a:lnTo>
                  <a:pt x="64807" y="1839813"/>
                </a:lnTo>
                <a:lnTo>
                  <a:pt x="63898" y="1836544"/>
                </a:lnTo>
                <a:lnTo>
                  <a:pt x="63044" y="1833217"/>
                </a:lnTo>
                <a:lnTo>
                  <a:pt x="62244" y="1829836"/>
                </a:lnTo>
                <a:lnTo>
                  <a:pt x="61500" y="1826404"/>
                </a:lnTo>
                <a:lnTo>
                  <a:pt x="60813" y="1822925"/>
                </a:lnTo>
                <a:lnTo>
                  <a:pt x="60183" y="1819404"/>
                </a:lnTo>
                <a:lnTo>
                  <a:pt x="59611" y="1815843"/>
                </a:lnTo>
                <a:lnTo>
                  <a:pt x="59097" y="1812246"/>
                </a:lnTo>
                <a:lnTo>
                  <a:pt x="58643" y="1808618"/>
                </a:lnTo>
                <a:lnTo>
                  <a:pt x="58248" y="1804962"/>
                </a:lnTo>
                <a:lnTo>
                  <a:pt x="57913" y="1801282"/>
                </a:lnTo>
                <a:lnTo>
                  <a:pt x="57639" y="1797582"/>
                </a:lnTo>
                <a:lnTo>
                  <a:pt x="57425" y="1793867"/>
                </a:lnTo>
                <a:lnTo>
                  <a:pt x="57272" y="1790139"/>
                </a:lnTo>
                <a:lnTo>
                  <a:pt x="57181" y="1786403"/>
                </a:lnTo>
                <a:lnTo>
                  <a:pt x="57150" y="1782663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E04C9-D830-426A-8AC4-C559361B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238155"/>
            <a:ext cx="4495800" cy="1896963"/>
          </a:xfrm>
          <a:prstGeom xmlns:a="http://schemas.openxmlformats.org/drawingml/2006/main" prst="roundRect">
            <a:avLst>
              <a:gd name="adj" fmla="val 602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AF49BC61-C526-4B11-A9F5-17204F71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238155"/>
            <a:ext cx="114300" cy="1896963"/>
          </a:xfrm>
          <a:custGeom xmlns:a="http://schemas.openxmlformats.org/drawingml/2006/main">
            <a:pathLst>
              <a:path w="114300" h="1896963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782663"/>
                </a:lnTo>
                <a:lnTo>
                  <a:pt x="61" y="1786403"/>
                </a:lnTo>
                <a:lnTo>
                  <a:pt x="245" y="1790139"/>
                </a:lnTo>
                <a:lnTo>
                  <a:pt x="550" y="1793867"/>
                </a:lnTo>
                <a:lnTo>
                  <a:pt x="978" y="1797582"/>
                </a:lnTo>
                <a:lnTo>
                  <a:pt x="1527" y="1801282"/>
                </a:lnTo>
                <a:lnTo>
                  <a:pt x="2196" y="1804962"/>
                </a:lnTo>
                <a:lnTo>
                  <a:pt x="2986" y="1808618"/>
                </a:lnTo>
                <a:lnTo>
                  <a:pt x="3895" y="1812246"/>
                </a:lnTo>
                <a:lnTo>
                  <a:pt x="4922" y="1815843"/>
                </a:lnTo>
                <a:lnTo>
                  <a:pt x="6066" y="1819404"/>
                </a:lnTo>
                <a:lnTo>
                  <a:pt x="7326" y="1822925"/>
                </a:lnTo>
                <a:lnTo>
                  <a:pt x="8701" y="1826404"/>
                </a:lnTo>
                <a:lnTo>
                  <a:pt x="10188" y="1829836"/>
                </a:lnTo>
                <a:lnTo>
                  <a:pt x="11787" y="1833217"/>
                </a:lnTo>
                <a:lnTo>
                  <a:pt x="13496" y="1836544"/>
                </a:lnTo>
                <a:lnTo>
                  <a:pt x="15313" y="1839813"/>
                </a:lnTo>
                <a:lnTo>
                  <a:pt x="17236" y="1843021"/>
                </a:lnTo>
                <a:lnTo>
                  <a:pt x="19263" y="1846165"/>
                </a:lnTo>
                <a:lnTo>
                  <a:pt x="21392" y="1849240"/>
                </a:lnTo>
                <a:lnTo>
                  <a:pt x="23620" y="1852245"/>
                </a:lnTo>
                <a:lnTo>
                  <a:pt x="25945" y="1855174"/>
                </a:lnTo>
                <a:lnTo>
                  <a:pt x="28365" y="1858027"/>
                </a:lnTo>
                <a:lnTo>
                  <a:pt x="30877" y="1860798"/>
                </a:lnTo>
                <a:lnTo>
                  <a:pt x="33478" y="1863486"/>
                </a:lnTo>
                <a:lnTo>
                  <a:pt x="36165" y="1866087"/>
                </a:lnTo>
                <a:lnTo>
                  <a:pt x="38937" y="1868599"/>
                </a:lnTo>
                <a:lnTo>
                  <a:pt x="41789" y="1871018"/>
                </a:lnTo>
                <a:lnTo>
                  <a:pt x="44719" y="1873344"/>
                </a:lnTo>
                <a:lnTo>
                  <a:pt x="47723" y="1875572"/>
                </a:lnTo>
                <a:lnTo>
                  <a:pt x="50798" y="1877700"/>
                </a:lnTo>
                <a:lnTo>
                  <a:pt x="53942" y="1879727"/>
                </a:lnTo>
                <a:lnTo>
                  <a:pt x="57150" y="1881650"/>
                </a:lnTo>
                <a:lnTo>
                  <a:pt x="60419" y="1883467"/>
                </a:lnTo>
                <a:lnTo>
                  <a:pt x="63746" y="1885176"/>
                </a:lnTo>
                <a:lnTo>
                  <a:pt x="67128" y="1886775"/>
                </a:lnTo>
                <a:lnTo>
                  <a:pt x="70559" y="1888263"/>
                </a:lnTo>
                <a:lnTo>
                  <a:pt x="74038" y="1889637"/>
                </a:lnTo>
                <a:lnTo>
                  <a:pt x="77559" y="1890897"/>
                </a:lnTo>
                <a:lnTo>
                  <a:pt x="81120" y="1892042"/>
                </a:lnTo>
                <a:lnTo>
                  <a:pt x="84717" y="1893069"/>
                </a:lnTo>
                <a:lnTo>
                  <a:pt x="88345" y="1893977"/>
                </a:lnTo>
                <a:lnTo>
                  <a:pt x="92001" y="1894767"/>
                </a:lnTo>
                <a:lnTo>
                  <a:pt x="95681" y="1895437"/>
                </a:lnTo>
                <a:lnTo>
                  <a:pt x="99381" y="1895985"/>
                </a:lnTo>
                <a:lnTo>
                  <a:pt x="103097" y="1896413"/>
                </a:lnTo>
                <a:lnTo>
                  <a:pt x="106824" y="1896719"/>
                </a:lnTo>
                <a:lnTo>
                  <a:pt x="110560" y="1896902"/>
                </a:lnTo>
                <a:lnTo>
                  <a:pt x="114300" y="1896963"/>
                </a:lnTo>
                <a:lnTo>
                  <a:pt x="114300" y="1896963"/>
                </a:lnTo>
                <a:lnTo>
                  <a:pt x="112430" y="1896902"/>
                </a:lnTo>
                <a:lnTo>
                  <a:pt x="110562" y="1896719"/>
                </a:lnTo>
                <a:lnTo>
                  <a:pt x="108698" y="1896413"/>
                </a:lnTo>
                <a:lnTo>
                  <a:pt x="106840" y="1895985"/>
                </a:lnTo>
                <a:lnTo>
                  <a:pt x="104991" y="1895437"/>
                </a:lnTo>
                <a:lnTo>
                  <a:pt x="103151" y="1894767"/>
                </a:lnTo>
                <a:lnTo>
                  <a:pt x="101323" y="1893977"/>
                </a:lnTo>
                <a:lnTo>
                  <a:pt x="99508" y="1893069"/>
                </a:lnTo>
                <a:lnTo>
                  <a:pt x="97710" y="1892042"/>
                </a:lnTo>
                <a:lnTo>
                  <a:pt x="95930" y="1890897"/>
                </a:lnTo>
                <a:lnTo>
                  <a:pt x="94169" y="1889637"/>
                </a:lnTo>
                <a:lnTo>
                  <a:pt x="92430" y="1888263"/>
                </a:lnTo>
                <a:lnTo>
                  <a:pt x="90714" y="1886775"/>
                </a:lnTo>
                <a:lnTo>
                  <a:pt x="89023" y="1885176"/>
                </a:lnTo>
                <a:lnTo>
                  <a:pt x="87360" y="1883467"/>
                </a:lnTo>
                <a:lnTo>
                  <a:pt x="85725" y="1881650"/>
                </a:lnTo>
                <a:lnTo>
                  <a:pt x="84121" y="1879727"/>
                </a:lnTo>
                <a:lnTo>
                  <a:pt x="82549" y="1877700"/>
                </a:lnTo>
                <a:lnTo>
                  <a:pt x="81011" y="1875572"/>
                </a:lnTo>
                <a:lnTo>
                  <a:pt x="79509" y="1873344"/>
                </a:lnTo>
                <a:lnTo>
                  <a:pt x="78044" y="1871018"/>
                </a:lnTo>
                <a:lnTo>
                  <a:pt x="76618" y="1868599"/>
                </a:lnTo>
                <a:lnTo>
                  <a:pt x="75233" y="1866087"/>
                </a:lnTo>
                <a:lnTo>
                  <a:pt x="73889" y="1863486"/>
                </a:lnTo>
                <a:lnTo>
                  <a:pt x="72588" y="1860798"/>
                </a:lnTo>
                <a:lnTo>
                  <a:pt x="71332" y="1858027"/>
                </a:lnTo>
                <a:lnTo>
                  <a:pt x="70122" y="1855174"/>
                </a:lnTo>
                <a:lnTo>
                  <a:pt x="68960" y="1852245"/>
                </a:lnTo>
                <a:lnTo>
                  <a:pt x="67846" y="1849240"/>
                </a:lnTo>
                <a:lnTo>
                  <a:pt x="66782" y="1846165"/>
                </a:lnTo>
                <a:lnTo>
                  <a:pt x="65768" y="1843021"/>
                </a:lnTo>
                <a:lnTo>
                  <a:pt x="64807" y="1839813"/>
                </a:lnTo>
                <a:lnTo>
                  <a:pt x="63898" y="1836544"/>
                </a:lnTo>
                <a:lnTo>
                  <a:pt x="63044" y="1833217"/>
                </a:lnTo>
                <a:lnTo>
                  <a:pt x="62244" y="1829836"/>
                </a:lnTo>
                <a:lnTo>
                  <a:pt x="61500" y="1826404"/>
                </a:lnTo>
                <a:lnTo>
                  <a:pt x="60813" y="1822925"/>
                </a:lnTo>
                <a:lnTo>
                  <a:pt x="60183" y="1819404"/>
                </a:lnTo>
                <a:lnTo>
                  <a:pt x="59611" y="1815843"/>
                </a:lnTo>
                <a:lnTo>
                  <a:pt x="59097" y="1812246"/>
                </a:lnTo>
                <a:lnTo>
                  <a:pt x="58643" y="1808618"/>
                </a:lnTo>
                <a:lnTo>
                  <a:pt x="58248" y="1804962"/>
                </a:lnTo>
                <a:lnTo>
                  <a:pt x="57913" y="1801282"/>
                </a:lnTo>
                <a:lnTo>
                  <a:pt x="57639" y="1797582"/>
                </a:lnTo>
                <a:lnTo>
                  <a:pt x="57425" y="1793867"/>
                </a:lnTo>
                <a:lnTo>
                  <a:pt x="57272" y="1790139"/>
                </a:lnTo>
                <a:lnTo>
                  <a:pt x="57181" y="1786403"/>
                </a:lnTo>
                <a:lnTo>
                  <a:pt x="57150" y="1782663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7C732-1021-4FA8-9799-AA6DF362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363718"/>
            <a:ext cx="44958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8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192E403E-768A-4C59-81DA-6D52D50C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363718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A2CCE-BA42-48D5-BE7B-40290BFE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10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321F47FF-2704-4FB0-8BC9-4F0C44C3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217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 · ЛОЗИНКЕ</a:t>
            </a:r>
          </a:p>
        </p:txBody>
      </p:sp>
      <p:sp>
        <p:nvSpPr>
          <p:cNvPr id="11" name="heading-source-16">
            <a:extLst xmlns:a="http://schemas.openxmlformats.org/drawingml/2006/main">
              <a:ext uri="{FF2B5EF4-FFF2-40B4-BE49-F238E27FC236}">
                <a16:creationId xmlns:a16="http://schemas.microsoft.com/office/drawing/2014/main" id="{A9B5E3E9-03F9-4386-A510-1BD411FF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46194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Безбедно чување лозинки</a:t>
            </a:r>
          </a:p>
        </p:txBody>
      </p:sp>
      <p:sp>
        <p:nvSpPr>
          <p:cNvPr id="12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B95631DE-6D7C-42EF-A731-959953B2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188333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Систем чува изведену вредност, salt и параметре; оригинална лозинка се не може вратити.</a:t>
            </a:r>
          </a:p>
        </p:txBody>
      </p:sp>
      <p:sp>
        <p:nvSpPr>
          <p:cNvPr id="13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36A54171-178A-4D0E-88FD-BC1E3B6D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12616"/>
            <a:ext cx="3634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илустративни пример</a:t>
            </a:r>
          </a:p>
        </p:txBody>
      </p:sp>
      <p:sp>
        <p:nvSpPr>
          <p:cNvPr id="14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0311B372-2164-4DF5-9F26-9ECDF465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7087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5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209F4D2D-9183-4BBB-A299-6EC27CAF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08797"/>
            <a:ext cx="651524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PasswordRecord Create(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string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password)</a:t>
            </a:r>
          </a:p>
        </p:txBody>
      </p:sp>
      <p:sp>
        <p:nvSpPr>
          <p:cNvPr id="16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C1453550-2BF9-478C-A207-54E313AD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287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7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33A54CAD-7165-4185-B536-42A1EA02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87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8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F90D6DE9-FC41-4BFC-8D00-E98E1C1A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4875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9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ADB887E2-BC3C-49FF-BAE6-B64F760D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48758"/>
            <a:ext cx="73382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hash = hasher.HashPassword(user, password);</a:t>
            </a:r>
          </a:p>
        </p:txBody>
      </p:sp>
      <p:sp>
        <p:nvSpPr>
          <p:cNvPr id="20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9CE19068-6414-4DF3-B3CD-8261300F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687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21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696D6181-C556-4B0B-8977-B84D157C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68738"/>
            <a:ext cx="52810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PasswordRecord(hash);</a:t>
            </a:r>
          </a:p>
        </p:txBody>
      </p:sp>
      <p:sp>
        <p:nvSpPr>
          <p:cNvPr id="22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C7FF9D75-9684-414B-B3B1-8591A0A3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887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3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7A0B5568-5958-4E1A-A25B-8E06AD86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887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24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C29AA81E-796E-4D6C-AD1B-BBFD28C6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303091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Хеш и salt</a:t>
            </a:r>
          </a:p>
        </p:txBody>
      </p:sp>
      <p:sp>
        <p:nvSpPr>
          <p:cNvPr id="25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F77D613B-7A5F-4AEE-97BF-FAC877E5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708797"/>
            <a:ext cx="337274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Стандардна библиотека </a:t>
            </a:r>
          </a:p>
        </p:txBody>
      </p:sp>
      <p:sp>
        <p:nvSpPr>
          <p:cNvPr id="26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10D4C9B1-B205-4630-A7DD-F50D0130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082058"/>
            <a:ext cx="371251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управља хеширањем и salt </a:t>
            </a:r>
          </a:p>
        </p:txBody>
      </p:sp>
      <p:sp>
        <p:nvSpPr>
          <p:cNvPr id="27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CF4B6D9B-7322-408E-B63A-DA8995A9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455319"/>
            <a:ext cx="182612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вредношћу.</a:t>
            </a:r>
          </a:p>
        </p:txBody>
      </p:sp>
      <p:sp>
        <p:nvSpPr>
          <p:cNvPr id="28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E1DADE17-6B45-4CEF-9331-2BC1AB62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428655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Порука клијенту</a:t>
            </a:r>
          </a:p>
        </p:txBody>
      </p:sp>
      <p:sp>
        <p:nvSpPr>
          <p:cNvPr id="29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7972FA39-39AF-4161-944F-8E184BD8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834360"/>
            <a:ext cx="298281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Иста порука покрива </a:t>
            </a:r>
          </a:p>
        </p:txBody>
      </p:sp>
      <p:sp>
        <p:nvSpPr>
          <p:cNvPr id="30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75059ED6-06A1-418D-ACE6-FD40B234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207621"/>
            <a:ext cx="4162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непостојећи налог и погрешну </a:t>
            </a:r>
          </a:p>
        </p:txBody>
      </p:sp>
      <p:sp>
        <p:nvSpPr>
          <p:cNvPr id="31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9E1B1F6A-41C7-4C69-9942-22BCA357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580882"/>
            <a:ext cx="144065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лозинку.</a:t>
            </a:r>
          </a:p>
        </p:txBody>
      </p:sp>
      <p:sp>
        <p:nvSpPr>
          <p:cNvPr id="32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6F43CE72-BB6F-42A4-9EB8-9D7F3952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554218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Промена лозинке</a:t>
            </a:r>
          </a:p>
        </p:txBody>
      </p:sp>
      <p:sp>
        <p:nvSpPr>
          <p:cNvPr id="33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E2D05190-1AED-4CAA-A21A-C186EA4F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959923"/>
            <a:ext cx="391775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Промена укида стару тајну и </a:t>
            </a:r>
          </a:p>
        </p:txBody>
      </p:sp>
      <p:sp>
        <p:nvSpPr>
          <p:cNvPr id="34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2ACF22B4-817D-4B3D-9435-E8E8F305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333184"/>
            <a:ext cx="349463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оставља ревизиони траг.</a:t>
            </a:r>
          </a:p>
        </p:txBody>
      </p:sp>
      <p:sp>
        <p:nvSpPr>
          <p:cNvPr id="35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903CFF3E-112D-424D-B700-C6B6D836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6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4F39B19A-EC87-46BE-B069-98CF606D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41371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779E02-C9BA-4FDA-BFF9-6FB7BB12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E18E2-6A40-4A98-B4FC-B653C198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11620500" cy="4955977"/>
          </a:xfrm>
          <a:prstGeom xmlns:a="http://schemas.openxmlformats.org/drawingml/2006/main" prst="roundRect">
            <a:avLst>
              <a:gd name="adj" fmla="val 307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CD2D7-E132-4958-AB5D-52410471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34530"/>
            <a:ext cx="3924300" cy="1896963"/>
          </a:xfrm>
          <a:prstGeom xmlns:a="http://schemas.openxmlformats.org/drawingml/2006/main" prst="roundRect">
            <a:avLst>
              <a:gd name="adj" fmla="val 602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4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2CE61F3E-A01D-45BE-8D47-58F6706D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34530"/>
            <a:ext cx="114300" cy="1896963"/>
          </a:xfrm>
          <a:custGeom xmlns:a="http://schemas.openxmlformats.org/drawingml/2006/main">
            <a:pathLst>
              <a:path w="114300" h="1896963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782663"/>
                </a:lnTo>
                <a:lnTo>
                  <a:pt x="61" y="1786403"/>
                </a:lnTo>
                <a:lnTo>
                  <a:pt x="245" y="1790139"/>
                </a:lnTo>
                <a:lnTo>
                  <a:pt x="550" y="1793867"/>
                </a:lnTo>
                <a:lnTo>
                  <a:pt x="978" y="1797582"/>
                </a:lnTo>
                <a:lnTo>
                  <a:pt x="1527" y="1801282"/>
                </a:lnTo>
                <a:lnTo>
                  <a:pt x="2196" y="1804962"/>
                </a:lnTo>
                <a:lnTo>
                  <a:pt x="2986" y="1808618"/>
                </a:lnTo>
                <a:lnTo>
                  <a:pt x="3895" y="1812246"/>
                </a:lnTo>
                <a:lnTo>
                  <a:pt x="4922" y="1815843"/>
                </a:lnTo>
                <a:lnTo>
                  <a:pt x="6066" y="1819404"/>
                </a:lnTo>
                <a:lnTo>
                  <a:pt x="7326" y="1822925"/>
                </a:lnTo>
                <a:lnTo>
                  <a:pt x="8701" y="1826404"/>
                </a:lnTo>
                <a:lnTo>
                  <a:pt x="10188" y="1829836"/>
                </a:lnTo>
                <a:lnTo>
                  <a:pt x="11787" y="1833217"/>
                </a:lnTo>
                <a:lnTo>
                  <a:pt x="13496" y="1836544"/>
                </a:lnTo>
                <a:lnTo>
                  <a:pt x="15313" y="1839813"/>
                </a:lnTo>
                <a:lnTo>
                  <a:pt x="17236" y="1843021"/>
                </a:lnTo>
                <a:lnTo>
                  <a:pt x="19263" y="1846165"/>
                </a:lnTo>
                <a:lnTo>
                  <a:pt x="21392" y="1849240"/>
                </a:lnTo>
                <a:lnTo>
                  <a:pt x="23620" y="1852245"/>
                </a:lnTo>
                <a:lnTo>
                  <a:pt x="25945" y="1855174"/>
                </a:lnTo>
                <a:lnTo>
                  <a:pt x="28365" y="1858027"/>
                </a:lnTo>
                <a:lnTo>
                  <a:pt x="30877" y="1860798"/>
                </a:lnTo>
                <a:lnTo>
                  <a:pt x="33478" y="1863486"/>
                </a:lnTo>
                <a:lnTo>
                  <a:pt x="36165" y="1866087"/>
                </a:lnTo>
                <a:lnTo>
                  <a:pt x="38937" y="1868599"/>
                </a:lnTo>
                <a:lnTo>
                  <a:pt x="41789" y="1871018"/>
                </a:lnTo>
                <a:lnTo>
                  <a:pt x="44719" y="1873344"/>
                </a:lnTo>
                <a:lnTo>
                  <a:pt x="47723" y="1875572"/>
                </a:lnTo>
                <a:lnTo>
                  <a:pt x="50798" y="1877700"/>
                </a:lnTo>
                <a:lnTo>
                  <a:pt x="53942" y="1879727"/>
                </a:lnTo>
                <a:lnTo>
                  <a:pt x="57150" y="1881650"/>
                </a:lnTo>
                <a:lnTo>
                  <a:pt x="60419" y="1883467"/>
                </a:lnTo>
                <a:lnTo>
                  <a:pt x="63746" y="1885176"/>
                </a:lnTo>
                <a:lnTo>
                  <a:pt x="67128" y="1886775"/>
                </a:lnTo>
                <a:lnTo>
                  <a:pt x="70559" y="1888263"/>
                </a:lnTo>
                <a:lnTo>
                  <a:pt x="74038" y="1889637"/>
                </a:lnTo>
                <a:lnTo>
                  <a:pt x="77559" y="1890897"/>
                </a:lnTo>
                <a:lnTo>
                  <a:pt x="81120" y="1892042"/>
                </a:lnTo>
                <a:lnTo>
                  <a:pt x="84717" y="1893069"/>
                </a:lnTo>
                <a:lnTo>
                  <a:pt x="88345" y="1893977"/>
                </a:lnTo>
                <a:lnTo>
                  <a:pt x="92001" y="1894767"/>
                </a:lnTo>
                <a:lnTo>
                  <a:pt x="95681" y="1895437"/>
                </a:lnTo>
                <a:lnTo>
                  <a:pt x="99381" y="1895985"/>
                </a:lnTo>
                <a:lnTo>
                  <a:pt x="103097" y="1896413"/>
                </a:lnTo>
                <a:lnTo>
                  <a:pt x="106824" y="1896719"/>
                </a:lnTo>
                <a:lnTo>
                  <a:pt x="110560" y="1896902"/>
                </a:lnTo>
                <a:lnTo>
                  <a:pt x="114300" y="1896963"/>
                </a:lnTo>
                <a:lnTo>
                  <a:pt x="114300" y="1896963"/>
                </a:lnTo>
                <a:lnTo>
                  <a:pt x="112430" y="1896902"/>
                </a:lnTo>
                <a:lnTo>
                  <a:pt x="110562" y="1896719"/>
                </a:lnTo>
                <a:lnTo>
                  <a:pt x="108698" y="1896413"/>
                </a:lnTo>
                <a:lnTo>
                  <a:pt x="106840" y="1895985"/>
                </a:lnTo>
                <a:lnTo>
                  <a:pt x="104991" y="1895437"/>
                </a:lnTo>
                <a:lnTo>
                  <a:pt x="103151" y="1894767"/>
                </a:lnTo>
                <a:lnTo>
                  <a:pt x="101323" y="1893977"/>
                </a:lnTo>
                <a:lnTo>
                  <a:pt x="99508" y="1893069"/>
                </a:lnTo>
                <a:lnTo>
                  <a:pt x="97710" y="1892042"/>
                </a:lnTo>
                <a:lnTo>
                  <a:pt x="95930" y="1890897"/>
                </a:lnTo>
                <a:lnTo>
                  <a:pt x="94169" y="1889637"/>
                </a:lnTo>
                <a:lnTo>
                  <a:pt x="92430" y="1888263"/>
                </a:lnTo>
                <a:lnTo>
                  <a:pt x="90714" y="1886775"/>
                </a:lnTo>
                <a:lnTo>
                  <a:pt x="89023" y="1885176"/>
                </a:lnTo>
                <a:lnTo>
                  <a:pt x="87360" y="1883467"/>
                </a:lnTo>
                <a:lnTo>
                  <a:pt x="85725" y="1881650"/>
                </a:lnTo>
                <a:lnTo>
                  <a:pt x="84121" y="1879727"/>
                </a:lnTo>
                <a:lnTo>
                  <a:pt x="82549" y="1877700"/>
                </a:lnTo>
                <a:lnTo>
                  <a:pt x="81011" y="1875572"/>
                </a:lnTo>
                <a:lnTo>
                  <a:pt x="79509" y="1873344"/>
                </a:lnTo>
                <a:lnTo>
                  <a:pt x="78044" y="1871018"/>
                </a:lnTo>
                <a:lnTo>
                  <a:pt x="76618" y="1868599"/>
                </a:lnTo>
                <a:lnTo>
                  <a:pt x="75233" y="1866087"/>
                </a:lnTo>
                <a:lnTo>
                  <a:pt x="73889" y="1863486"/>
                </a:lnTo>
                <a:lnTo>
                  <a:pt x="72588" y="1860798"/>
                </a:lnTo>
                <a:lnTo>
                  <a:pt x="71332" y="1858027"/>
                </a:lnTo>
                <a:lnTo>
                  <a:pt x="70122" y="1855174"/>
                </a:lnTo>
                <a:lnTo>
                  <a:pt x="68960" y="1852245"/>
                </a:lnTo>
                <a:lnTo>
                  <a:pt x="67846" y="1849240"/>
                </a:lnTo>
                <a:lnTo>
                  <a:pt x="66782" y="1846165"/>
                </a:lnTo>
                <a:lnTo>
                  <a:pt x="65768" y="1843021"/>
                </a:lnTo>
                <a:lnTo>
                  <a:pt x="64807" y="1839813"/>
                </a:lnTo>
                <a:lnTo>
                  <a:pt x="63898" y="1836544"/>
                </a:lnTo>
                <a:lnTo>
                  <a:pt x="63044" y="1833217"/>
                </a:lnTo>
                <a:lnTo>
                  <a:pt x="62244" y="1829836"/>
                </a:lnTo>
                <a:lnTo>
                  <a:pt x="61500" y="1826404"/>
                </a:lnTo>
                <a:lnTo>
                  <a:pt x="60813" y="1822925"/>
                </a:lnTo>
                <a:lnTo>
                  <a:pt x="60183" y="1819404"/>
                </a:lnTo>
                <a:lnTo>
                  <a:pt x="59611" y="1815843"/>
                </a:lnTo>
                <a:lnTo>
                  <a:pt x="59097" y="1812246"/>
                </a:lnTo>
                <a:lnTo>
                  <a:pt x="58643" y="1808618"/>
                </a:lnTo>
                <a:lnTo>
                  <a:pt x="58248" y="1804962"/>
                </a:lnTo>
                <a:lnTo>
                  <a:pt x="57913" y="1801282"/>
                </a:lnTo>
                <a:lnTo>
                  <a:pt x="57639" y="1797582"/>
                </a:lnTo>
                <a:lnTo>
                  <a:pt x="57425" y="1793867"/>
                </a:lnTo>
                <a:lnTo>
                  <a:pt x="57272" y="1790139"/>
                </a:lnTo>
                <a:lnTo>
                  <a:pt x="57181" y="1786403"/>
                </a:lnTo>
                <a:lnTo>
                  <a:pt x="57150" y="1782663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E8FD4-4C86-412A-80BF-A63DA401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560094"/>
            <a:ext cx="3924300" cy="1896963"/>
          </a:xfrm>
          <a:prstGeom xmlns:a="http://schemas.openxmlformats.org/drawingml/2006/main" prst="roundRect">
            <a:avLst>
              <a:gd name="adj" fmla="val 602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F0BF3C53-CC2B-4D87-BDD0-76156A50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560094"/>
            <a:ext cx="114300" cy="1896963"/>
          </a:xfrm>
          <a:custGeom xmlns:a="http://schemas.openxmlformats.org/drawingml/2006/main">
            <a:pathLst>
              <a:path w="114300" h="1896963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782663"/>
                </a:lnTo>
                <a:lnTo>
                  <a:pt x="61" y="1786403"/>
                </a:lnTo>
                <a:lnTo>
                  <a:pt x="245" y="1790139"/>
                </a:lnTo>
                <a:lnTo>
                  <a:pt x="550" y="1793867"/>
                </a:lnTo>
                <a:lnTo>
                  <a:pt x="978" y="1797582"/>
                </a:lnTo>
                <a:lnTo>
                  <a:pt x="1527" y="1801282"/>
                </a:lnTo>
                <a:lnTo>
                  <a:pt x="2196" y="1804962"/>
                </a:lnTo>
                <a:lnTo>
                  <a:pt x="2986" y="1808618"/>
                </a:lnTo>
                <a:lnTo>
                  <a:pt x="3895" y="1812246"/>
                </a:lnTo>
                <a:lnTo>
                  <a:pt x="4922" y="1815843"/>
                </a:lnTo>
                <a:lnTo>
                  <a:pt x="6066" y="1819404"/>
                </a:lnTo>
                <a:lnTo>
                  <a:pt x="7326" y="1822925"/>
                </a:lnTo>
                <a:lnTo>
                  <a:pt x="8701" y="1826404"/>
                </a:lnTo>
                <a:lnTo>
                  <a:pt x="10188" y="1829836"/>
                </a:lnTo>
                <a:lnTo>
                  <a:pt x="11787" y="1833217"/>
                </a:lnTo>
                <a:lnTo>
                  <a:pt x="13496" y="1836544"/>
                </a:lnTo>
                <a:lnTo>
                  <a:pt x="15313" y="1839813"/>
                </a:lnTo>
                <a:lnTo>
                  <a:pt x="17236" y="1843021"/>
                </a:lnTo>
                <a:lnTo>
                  <a:pt x="19263" y="1846165"/>
                </a:lnTo>
                <a:lnTo>
                  <a:pt x="21392" y="1849240"/>
                </a:lnTo>
                <a:lnTo>
                  <a:pt x="23620" y="1852245"/>
                </a:lnTo>
                <a:lnTo>
                  <a:pt x="25945" y="1855174"/>
                </a:lnTo>
                <a:lnTo>
                  <a:pt x="28365" y="1858027"/>
                </a:lnTo>
                <a:lnTo>
                  <a:pt x="30877" y="1860798"/>
                </a:lnTo>
                <a:lnTo>
                  <a:pt x="33478" y="1863486"/>
                </a:lnTo>
                <a:lnTo>
                  <a:pt x="36165" y="1866087"/>
                </a:lnTo>
                <a:lnTo>
                  <a:pt x="38937" y="1868599"/>
                </a:lnTo>
                <a:lnTo>
                  <a:pt x="41789" y="1871018"/>
                </a:lnTo>
                <a:lnTo>
                  <a:pt x="44719" y="1873344"/>
                </a:lnTo>
                <a:lnTo>
                  <a:pt x="47723" y="1875572"/>
                </a:lnTo>
                <a:lnTo>
                  <a:pt x="50798" y="1877700"/>
                </a:lnTo>
                <a:lnTo>
                  <a:pt x="53942" y="1879727"/>
                </a:lnTo>
                <a:lnTo>
                  <a:pt x="57150" y="1881650"/>
                </a:lnTo>
                <a:lnTo>
                  <a:pt x="60419" y="1883467"/>
                </a:lnTo>
                <a:lnTo>
                  <a:pt x="63746" y="1885176"/>
                </a:lnTo>
                <a:lnTo>
                  <a:pt x="67128" y="1886775"/>
                </a:lnTo>
                <a:lnTo>
                  <a:pt x="70559" y="1888263"/>
                </a:lnTo>
                <a:lnTo>
                  <a:pt x="74038" y="1889637"/>
                </a:lnTo>
                <a:lnTo>
                  <a:pt x="77559" y="1890897"/>
                </a:lnTo>
                <a:lnTo>
                  <a:pt x="81120" y="1892042"/>
                </a:lnTo>
                <a:lnTo>
                  <a:pt x="84717" y="1893069"/>
                </a:lnTo>
                <a:lnTo>
                  <a:pt x="88345" y="1893977"/>
                </a:lnTo>
                <a:lnTo>
                  <a:pt x="92001" y="1894767"/>
                </a:lnTo>
                <a:lnTo>
                  <a:pt x="95681" y="1895437"/>
                </a:lnTo>
                <a:lnTo>
                  <a:pt x="99381" y="1895985"/>
                </a:lnTo>
                <a:lnTo>
                  <a:pt x="103097" y="1896413"/>
                </a:lnTo>
                <a:lnTo>
                  <a:pt x="106824" y="1896719"/>
                </a:lnTo>
                <a:lnTo>
                  <a:pt x="110560" y="1896902"/>
                </a:lnTo>
                <a:lnTo>
                  <a:pt x="114300" y="1896963"/>
                </a:lnTo>
                <a:lnTo>
                  <a:pt x="114300" y="1896963"/>
                </a:lnTo>
                <a:lnTo>
                  <a:pt x="112430" y="1896902"/>
                </a:lnTo>
                <a:lnTo>
                  <a:pt x="110562" y="1896719"/>
                </a:lnTo>
                <a:lnTo>
                  <a:pt x="108698" y="1896413"/>
                </a:lnTo>
                <a:lnTo>
                  <a:pt x="106840" y="1895985"/>
                </a:lnTo>
                <a:lnTo>
                  <a:pt x="104991" y="1895437"/>
                </a:lnTo>
                <a:lnTo>
                  <a:pt x="103151" y="1894767"/>
                </a:lnTo>
                <a:lnTo>
                  <a:pt x="101323" y="1893977"/>
                </a:lnTo>
                <a:lnTo>
                  <a:pt x="99508" y="1893069"/>
                </a:lnTo>
                <a:lnTo>
                  <a:pt x="97710" y="1892042"/>
                </a:lnTo>
                <a:lnTo>
                  <a:pt x="95930" y="1890897"/>
                </a:lnTo>
                <a:lnTo>
                  <a:pt x="94169" y="1889637"/>
                </a:lnTo>
                <a:lnTo>
                  <a:pt x="92430" y="1888263"/>
                </a:lnTo>
                <a:lnTo>
                  <a:pt x="90714" y="1886775"/>
                </a:lnTo>
                <a:lnTo>
                  <a:pt x="89023" y="1885176"/>
                </a:lnTo>
                <a:lnTo>
                  <a:pt x="87360" y="1883467"/>
                </a:lnTo>
                <a:lnTo>
                  <a:pt x="85725" y="1881650"/>
                </a:lnTo>
                <a:lnTo>
                  <a:pt x="84121" y="1879727"/>
                </a:lnTo>
                <a:lnTo>
                  <a:pt x="82549" y="1877700"/>
                </a:lnTo>
                <a:lnTo>
                  <a:pt x="81011" y="1875572"/>
                </a:lnTo>
                <a:lnTo>
                  <a:pt x="79509" y="1873344"/>
                </a:lnTo>
                <a:lnTo>
                  <a:pt x="78044" y="1871018"/>
                </a:lnTo>
                <a:lnTo>
                  <a:pt x="76618" y="1868599"/>
                </a:lnTo>
                <a:lnTo>
                  <a:pt x="75233" y="1866087"/>
                </a:lnTo>
                <a:lnTo>
                  <a:pt x="73889" y="1863486"/>
                </a:lnTo>
                <a:lnTo>
                  <a:pt x="72588" y="1860798"/>
                </a:lnTo>
                <a:lnTo>
                  <a:pt x="71332" y="1858027"/>
                </a:lnTo>
                <a:lnTo>
                  <a:pt x="70122" y="1855174"/>
                </a:lnTo>
                <a:lnTo>
                  <a:pt x="68960" y="1852245"/>
                </a:lnTo>
                <a:lnTo>
                  <a:pt x="67846" y="1849240"/>
                </a:lnTo>
                <a:lnTo>
                  <a:pt x="66782" y="1846165"/>
                </a:lnTo>
                <a:lnTo>
                  <a:pt x="65768" y="1843021"/>
                </a:lnTo>
                <a:lnTo>
                  <a:pt x="64807" y="1839813"/>
                </a:lnTo>
                <a:lnTo>
                  <a:pt x="63898" y="1836544"/>
                </a:lnTo>
                <a:lnTo>
                  <a:pt x="63044" y="1833217"/>
                </a:lnTo>
                <a:lnTo>
                  <a:pt x="62244" y="1829836"/>
                </a:lnTo>
                <a:lnTo>
                  <a:pt x="61500" y="1826404"/>
                </a:lnTo>
                <a:lnTo>
                  <a:pt x="60813" y="1822925"/>
                </a:lnTo>
                <a:lnTo>
                  <a:pt x="60183" y="1819404"/>
                </a:lnTo>
                <a:lnTo>
                  <a:pt x="59611" y="1815843"/>
                </a:lnTo>
                <a:lnTo>
                  <a:pt x="59097" y="1812246"/>
                </a:lnTo>
                <a:lnTo>
                  <a:pt x="58643" y="1808618"/>
                </a:lnTo>
                <a:lnTo>
                  <a:pt x="58248" y="1804962"/>
                </a:lnTo>
                <a:lnTo>
                  <a:pt x="57913" y="1801282"/>
                </a:lnTo>
                <a:lnTo>
                  <a:pt x="57639" y="1797582"/>
                </a:lnTo>
                <a:lnTo>
                  <a:pt x="57425" y="1793867"/>
                </a:lnTo>
                <a:lnTo>
                  <a:pt x="57272" y="1790139"/>
                </a:lnTo>
                <a:lnTo>
                  <a:pt x="57181" y="1786403"/>
                </a:lnTo>
                <a:lnTo>
                  <a:pt x="57150" y="1782663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BE7D5-02AF-4754-91EA-014EF318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5118D39F-6024-4B93-A028-92D2ADE1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5299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 · C# ПРИМЕР</a:t>
            </a:r>
          </a:p>
        </p:txBody>
      </p:sp>
      <p:sp>
        <p:nvSpPr>
          <p:cNvPr id="9" name="heading-provera-lozinke">
            <a:extLst xmlns:a="http://schemas.openxmlformats.org/drawingml/2006/main">
              <a:ext uri="{FF2B5EF4-FFF2-40B4-BE49-F238E27FC236}">
                <a16:creationId xmlns:a16="http://schemas.microsoft.com/office/drawing/2014/main" id="{6AC70973-D2FB-4034-9067-03CD0844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443788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Резултат провере лозинке</a:t>
            </a:r>
          </a:p>
        </p:txBody>
      </p:sp>
      <p:sp>
        <p:nvSpPr>
          <p:cNvPr id="10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58A51376-9E5D-478F-AEA3-8DE99BFC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34555"/>
            <a:ext cx="3634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илустративни пример</a:t>
            </a:r>
          </a:p>
        </p:txBody>
      </p:sp>
      <p:sp>
        <p:nvSpPr>
          <p:cNvPr id="11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353D613A-90CB-443D-90AE-7D22CF7C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3073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2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C25A8334-2501-4296-B588-4A1795EC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0736"/>
            <a:ext cx="69270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bool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Verify(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string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password,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string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hash)</a:t>
            </a:r>
          </a:p>
        </p:txBody>
      </p:sp>
      <p:sp>
        <p:nvSpPr>
          <p:cNvPr id="13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7BCAB094-BFC2-4432-B47D-8FFEFFE1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5071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4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1E2F22B2-E683-4EBA-8103-11CF3448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5071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5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0564BB35-DEC1-4A6A-8E1E-42AEAAC5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706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6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8E3923B4-9F41-4842-A51A-404CC0F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70697"/>
            <a:ext cx="651524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result = hasher.VerifyHashedPassword(</a:t>
            </a:r>
          </a:p>
        </p:txBody>
      </p:sp>
      <p:sp>
        <p:nvSpPr>
          <p:cNvPr id="17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5B9D5CF5-45A4-4EF7-ADDF-ABCC3497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906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8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0AEB0B83-B564-4E90-8B37-167F1E77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90677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user, hash, password);</a:t>
            </a:r>
          </a:p>
        </p:txBody>
      </p:sp>
      <p:sp>
        <p:nvSpPr>
          <p:cNvPr id="19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CE6D2384-7260-42C6-9531-B2BD6A75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1065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0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C3561838-94A2-4749-8003-B538F967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10658"/>
            <a:ext cx="74754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(result == PasswordVerificationResult.Failed)</a:t>
            </a:r>
          </a:p>
        </p:txBody>
      </p:sp>
      <p:sp>
        <p:nvSpPr>
          <p:cNvPr id="21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12B4B071-1B16-47D8-9727-D16F0509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306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2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FD4240DF-2285-462B-9D98-60C002E0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30638"/>
            <a:ext cx="32234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false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;</a:t>
            </a:r>
          </a:p>
        </p:txBody>
      </p:sp>
      <p:sp>
        <p:nvSpPr>
          <p:cNvPr id="23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85AE6FE1-13CB-450A-8BB4-C56DDC66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506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4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B28C72DA-F992-4EE3-B1FA-FC620020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50619"/>
            <a:ext cx="925859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(result == PasswordVerificationResult.SuccessRehashNeeded)</a:t>
            </a:r>
          </a:p>
        </p:txBody>
      </p:sp>
      <p:sp>
        <p:nvSpPr>
          <p:cNvPr id="25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B8597750-E926-43AA-A0D7-C4D8FEFD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705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6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BC084245-DE01-4EB8-88F9-A6D06519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70599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{</a:t>
            </a:r>
          </a:p>
        </p:txBody>
      </p:sp>
      <p:sp>
        <p:nvSpPr>
          <p:cNvPr id="27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A17669B3-7CD5-4B42-8F3C-5FA365A0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59058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8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A85E7F0B-28DA-482B-9B97-D89CE6F7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90580"/>
            <a:ext cx="9121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user.PasswordHash = hasher.HashPassword(user, password);</a:t>
            </a:r>
          </a:p>
        </p:txBody>
      </p:sp>
      <p:sp>
        <p:nvSpPr>
          <p:cNvPr id="29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B453791A-DECB-47F8-85D9-CBDD9140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91056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30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15EFB629-3F1E-4717-89AF-CA44FE87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1056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SaveUpdatedHash(user);</a:t>
            </a:r>
          </a:p>
        </p:txBody>
      </p:sp>
      <p:sp>
        <p:nvSpPr>
          <p:cNvPr id="31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63F89731-6B86-4E50-A612-021436C2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230541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32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76D3B5C5-1EBA-4917-BA8C-186B13D9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230541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}</a:t>
            </a:r>
          </a:p>
        </p:txBody>
      </p:sp>
      <p:sp>
        <p:nvSpPr>
          <p:cNvPr id="33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987816D7-A8B7-4DD4-A2B5-E7610C93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550521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4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6ECB4CA9-46F2-4B43-8647-73ED165A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550521"/>
            <a:ext cx="25378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true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;</a:t>
            </a:r>
          </a:p>
        </p:txBody>
      </p:sp>
      <p:sp>
        <p:nvSpPr>
          <p:cNvPr id="35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6D2406B6-609A-4A42-9905-45D876E8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870502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6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BCFD95C0-08BE-4F1E-B7F2-6CE85BA2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870502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37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6186CEE0-4889-418E-8CF9-B5D8DAE4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62503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Успешна провера</a:t>
            </a:r>
          </a:p>
        </p:txBody>
      </p:sp>
      <p:sp>
        <p:nvSpPr>
          <p:cNvPr id="38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853B9188-2FA0-4BB0-BD78-7A951BCA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030736"/>
            <a:ext cx="153888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Success и </a:t>
            </a:r>
          </a:p>
        </p:txBody>
      </p:sp>
      <p:sp>
        <p:nvSpPr>
          <p:cNvPr id="39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F591999F-B2EF-4395-91AA-39B7EC20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403997"/>
            <a:ext cx="314458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SuccessRehashNeeded </a:t>
            </a:r>
          </a:p>
        </p:txBody>
      </p:sp>
      <p:sp>
        <p:nvSpPr>
          <p:cNvPr id="40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6E1B19D6-2597-427F-8A82-622EC197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777258"/>
            <a:ext cx="271447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потврђују лозинку.</a:t>
            </a:r>
          </a:p>
        </p:txBody>
      </p:sp>
      <p:sp>
        <p:nvSpPr>
          <p:cNvPr id="41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6F14F854-9FA1-4E76-BD25-9A74A2A7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750594"/>
            <a:ext cx="18517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Обнова хеша</a:t>
            </a:r>
          </a:p>
        </p:txBody>
      </p:sp>
      <p:sp>
        <p:nvSpPr>
          <p:cNvPr id="42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3E3CC197-D186-4107-A38F-8D16762D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156299"/>
            <a:ext cx="314458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SuccessRehashNeeded </a:t>
            </a:r>
          </a:p>
        </p:txBody>
      </p:sp>
      <p:sp>
        <p:nvSpPr>
          <p:cNvPr id="43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D552E48A-F04C-41C3-9CD1-99E74D72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529560"/>
            <a:ext cx="360253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захтева нов хеш и чување </a:t>
            </a:r>
          </a:p>
        </p:txBody>
      </p:sp>
      <p:sp>
        <p:nvSpPr>
          <p:cNvPr id="44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BCF2D963-4F20-4337-BEB2-415B7066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902821"/>
            <a:ext cx="285095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ажурираног записа.</a:t>
            </a:r>
          </a:p>
        </p:txBody>
      </p:sp>
      <p:sp>
        <p:nvSpPr>
          <p:cNvPr id="45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B94BA300-415E-4B3F-B0DD-89C15C8D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46" name="text-provera-lozinke">
            <a:extLst xmlns:a="http://schemas.openxmlformats.org/drawingml/2006/main">
              <a:ext uri="{FF2B5EF4-FFF2-40B4-BE49-F238E27FC236}">
                <a16:creationId xmlns:a16="http://schemas.microsoft.com/office/drawing/2014/main" id="{A4B982D3-893D-4FD5-99D8-4D11F01A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960384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2EB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853B8-AC9B-4FD4-9C4D-03060111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978545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AEC2C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D97B4-C336-475E-8A02-D17FBDAE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645" y="6158657"/>
            <a:ext cx="2716113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AEC2C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34689-0DE0-4336-8549-A60A6D17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058" y="6158657"/>
            <a:ext cx="1031528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AEC2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D1C59-C350-4D3C-A427-EFEF81F6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9886" y="6158657"/>
            <a:ext cx="1284982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AEC2C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CD7C3-DD97-41A6-865E-0E06CE06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2C6"/>
          </a:solidFill>
          <a:ln xmlns:a="http://schemas.openxmlformats.org/drawingml/2006/main" w="0">
            <a:noFill/>
          </a:ln>
        </p:spPr>
      </p:sp>
      <p:sp>
        <p:nvSpPr>
          <p:cNvPr id="6" name="text-deo2">
            <a:extLst xmlns:a="http://schemas.openxmlformats.org/drawingml/2006/main">
              <a:ext uri="{FF2B5EF4-FFF2-40B4-BE49-F238E27FC236}">
                <a16:creationId xmlns:a16="http://schemas.microsoft.com/office/drawing/2014/main" id="{8E2DEAC0-CC5E-4F18-9931-BE5EFDC7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7" name="text-deo2">
            <a:extLst xmlns:a="http://schemas.openxmlformats.org/drawingml/2006/main">
              <a:ext uri="{FF2B5EF4-FFF2-40B4-BE49-F238E27FC236}">
                <a16:creationId xmlns:a16="http://schemas.microsoft.com/office/drawing/2014/main" id="{DDF55325-535C-4EAA-9D09-D6E7AF3E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17488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ДРУГИ ДЕО</a:t>
            </a:r>
          </a:p>
        </p:txBody>
      </p:sp>
      <p:sp>
        <p:nvSpPr>
          <p:cNvPr id="8" name="heading-deo2">
            <a:extLst xmlns:a="http://schemas.openxmlformats.org/drawingml/2006/main">
              <a:ext uri="{FF2B5EF4-FFF2-40B4-BE49-F238E27FC236}">
                <a16:creationId xmlns:a16="http://schemas.microsoft.com/office/drawing/2014/main" id="{C63EBCC4-11DA-4535-99A5-86E0503D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715669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686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Улоге и дозволе</a:t>
            </a:r>
          </a:p>
        </p:txBody>
      </p:sp>
      <p:sp>
        <p:nvSpPr>
          <p:cNvPr id="9" name="text-deo2">
            <a:extLst xmlns:a="http://schemas.openxmlformats.org/drawingml/2006/main">
              <a:ext uri="{FF2B5EF4-FFF2-40B4-BE49-F238E27FC236}">
                <a16:creationId xmlns:a16="http://schemas.microsoft.com/office/drawing/2014/main" id="{42A12FF5-0A3E-4E7C-AAB4-5C809CDB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948362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Пословна одговорност групише дозволе, а опсег и важење ограничавају </a:t>
            </a:r>
          </a:p>
        </p:txBody>
      </p:sp>
      <p:sp>
        <p:nvSpPr>
          <p:cNvPr id="10" name="text-deo2">
            <a:extLst xmlns:a="http://schemas.openxmlformats.org/drawingml/2006/main">
              <a:ext uri="{FF2B5EF4-FFF2-40B4-BE49-F238E27FC236}">
                <a16:creationId xmlns:a16="http://schemas.microsoft.com/office/drawing/2014/main" id="{0C1FF496-0A9D-4E6C-87F8-4579C3B4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250462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њихову примену.</a:t>
            </a:r>
          </a:p>
        </p:txBody>
      </p:sp>
      <p:sp>
        <p:nvSpPr>
          <p:cNvPr id="11" name="text-deo2">
            <a:extLst xmlns:a="http://schemas.openxmlformats.org/drawingml/2006/main">
              <a:ext uri="{FF2B5EF4-FFF2-40B4-BE49-F238E27FC236}">
                <a16:creationId xmlns:a16="http://schemas.microsoft.com/office/drawing/2014/main" id="{26F70D44-6819-4968-B607-B32D59E1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92139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RBAC</a:t>
            </a:r>
          </a:p>
        </p:txBody>
      </p:sp>
      <p:sp>
        <p:nvSpPr>
          <p:cNvPr id="12" name="text-deo2">
            <a:extLst xmlns:a="http://schemas.openxmlformats.org/drawingml/2006/main">
              <a:ext uri="{FF2B5EF4-FFF2-40B4-BE49-F238E27FC236}">
                <a16:creationId xmlns:a16="http://schemas.microsoft.com/office/drawing/2014/main" id="{034903F4-BE45-4ECF-B3D7-6A3FD235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670" y="6244382"/>
            <a:ext cx="26589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Најмања привилегија</a:t>
            </a:r>
          </a:p>
        </p:txBody>
      </p:sp>
      <p:sp>
        <p:nvSpPr>
          <p:cNvPr id="13" name="text-deo2">
            <a:extLst xmlns:a="http://schemas.openxmlformats.org/drawingml/2006/main">
              <a:ext uri="{FF2B5EF4-FFF2-40B4-BE49-F238E27FC236}">
                <a16:creationId xmlns:a16="http://schemas.microsoft.com/office/drawing/2014/main" id="{08F540F2-2B37-4F94-9291-27C64719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083" y="6244382"/>
            <a:ext cx="97437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Опсег</a:t>
            </a:r>
          </a:p>
        </p:txBody>
      </p:sp>
      <p:sp>
        <p:nvSpPr>
          <p:cNvPr id="14" name="text-deo2">
            <a:extLst xmlns:a="http://schemas.openxmlformats.org/drawingml/2006/main">
              <a:ext uri="{FF2B5EF4-FFF2-40B4-BE49-F238E27FC236}">
                <a16:creationId xmlns:a16="http://schemas.microsoft.com/office/drawing/2014/main" id="{7C21F201-BB98-4738-AC0C-AAFE6D67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9911" y="6244382"/>
            <a:ext cx="12278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Важење</a:t>
            </a:r>
          </a:p>
        </p:txBody>
      </p:sp>
      <p:sp>
        <p:nvSpPr>
          <p:cNvPr id="15" name="text-deo2">
            <a:extLst xmlns:a="http://schemas.openxmlformats.org/drawingml/2006/main">
              <a:ext uri="{FF2B5EF4-FFF2-40B4-BE49-F238E27FC236}">
                <a16:creationId xmlns:a16="http://schemas.microsoft.com/office/drawing/2014/main" id="{8CFD5710-62EE-446F-9004-65044F2F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2">
            <a:extLst xmlns:a="http://schemas.openxmlformats.org/drawingml/2006/main">
              <a:ext uri="{FF2B5EF4-FFF2-40B4-BE49-F238E27FC236}">
                <a16:creationId xmlns:a16="http://schemas.microsoft.com/office/drawing/2014/main" id="{3345D3D8-04FF-4648-B0FB-53D0C378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525660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0F7F7F-0694-4958-A456-89820AA0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5813F-DEED-4060-92AD-84ADA1B6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3D2B3-A304-4EAF-B94A-6DC9EC96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92C70-7174-4328-A0C6-50786C96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30D8C-CBB1-4E42-BA54-77382814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80075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D1F9398B-5FBA-401E-B62A-90BF2AC0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80075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D0512-163D-4DCE-A46E-1951CE48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75FAFACB-F914-42E8-A098-5C781F51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7488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 · RBAC</a:t>
            </a:r>
          </a:p>
        </p:txBody>
      </p:sp>
      <p:sp>
        <p:nvSpPr>
          <p:cNvPr id="9" name="heading-source-08">
            <a:extLst xmlns:a="http://schemas.openxmlformats.org/drawingml/2006/main">
              <a:ext uri="{FF2B5EF4-FFF2-40B4-BE49-F238E27FC236}">
                <a16:creationId xmlns:a16="http://schemas.microsoft.com/office/drawing/2014/main" id="{6F3F7D32-0CCB-4053-B192-11B0B9DF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415338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RBAC и пословна одговорност</a:t>
            </a:r>
          </a:p>
        </p:txBody>
      </p:sp>
      <p:sp>
        <p:nvSpPr>
          <p:cNvPr id="10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1E77759C-B3AB-4E2B-88F1-2BB3159C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181323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Улога групише ограничен скуп дозвола које одговарају одређеној пословној одговорности.</a:t>
            </a:r>
          </a:p>
        </p:txBody>
      </p:sp>
      <p:sp>
        <p:nvSpPr>
          <p:cNvPr id="11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6191A815-ECE7-4530-B0BB-E5E580B1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СУБЈЕКАТ</a:t>
            </a:r>
          </a:p>
        </p:txBody>
      </p:sp>
      <p:sp>
        <p:nvSpPr>
          <p:cNvPr id="12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045AE2D8-C426-43EE-8369-7A12CD9E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175661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Оператер</a:t>
            </a:r>
          </a:p>
        </p:txBody>
      </p:sp>
      <p:sp>
        <p:nvSpPr>
          <p:cNvPr id="13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F690BBA6-3DD7-44AF-8C5B-74A8A434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88793"/>
            <a:ext cx="370894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Активан идентитет коме је </a:t>
            </a:r>
          </a:p>
        </p:txBody>
      </p:sp>
      <p:sp>
        <p:nvSpPr>
          <p:cNvPr id="14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52C231F4-8D9F-4D0C-A4F7-8EE276FB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62054"/>
            <a:ext cx="492621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додељена одговорност у одређеном </a:t>
            </a:r>
          </a:p>
        </p:txBody>
      </p:sp>
      <p:sp>
        <p:nvSpPr>
          <p:cNvPr id="15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5C6F66A0-0E16-4965-9847-81916F59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135314"/>
            <a:ext cx="134600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домену.</a:t>
            </a:r>
          </a:p>
        </p:txBody>
      </p:sp>
      <p:sp>
        <p:nvSpPr>
          <p:cNvPr id="16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2C247DB6-5780-4C28-96DD-F423CF28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388816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УЛОГА</a:t>
            </a:r>
          </a:p>
        </p:txBody>
      </p:sp>
      <p:sp>
        <p:nvSpPr>
          <p:cNvPr id="17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2FD15225-73AD-4AC7-81FA-F7E97BC3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842147"/>
            <a:ext cx="333970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Оператер извештаја</a:t>
            </a:r>
          </a:p>
        </p:txBody>
      </p:sp>
      <p:sp>
        <p:nvSpPr>
          <p:cNvPr id="18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EF0C40B3-7AE0-4DB3-8030-E48F7334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388793"/>
            <a:ext cx="428699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Група малих дозвола које имају </a:t>
            </a:r>
          </a:p>
        </p:txBody>
      </p:sp>
      <p:sp>
        <p:nvSpPr>
          <p:cNvPr id="19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D6B0E138-F685-41E7-A233-CBF45A92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762054"/>
            <a:ext cx="421674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заједничко пословно значење.</a:t>
            </a:r>
          </a:p>
        </p:txBody>
      </p:sp>
      <p:sp>
        <p:nvSpPr>
          <p:cNvPr id="20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37812185-D95F-4E90-99CE-96B2185C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388816"/>
            <a:ext cx="1303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ДОЗВОЛЕ</a:t>
            </a:r>
          </a:p>
        </p:txBody>
      </p:sp>
      <p:sp>
        <p:nvSpPr>
          <p:cNvPr id="21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C8CE56C1-E9D0-4715-84C7-4C9FE6BE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842147"/>
            <a:ext cx="262711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Преглед, Извоз</a:t>
            </a:r>
          </a:p>
        </p:txBody>
      </p:sp>
      <p:sp>
        <p:nvSpPr>
          <p:cNvPr id="22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0ED36E1A-1BB8-48B2-A3E7-B2265B09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388793"/>
            <a:ext cx="407803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Конкретне радње, проверене </a:t>
            </a:r>
          </a:p>
        </p:txBody>
      </p:sp>
      <p:sp>
        <p:nvSpPr>
          <p:cNvPr id="23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B4743593-77CE-4F19-BA70-F4767262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762054"/>
            <a:ext cx="457869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серверски и ограничене опсегом.</a:t>
            </a:r>
          </a:p>
        </p:txBody>
      </p:sp>
      <p:sp>
        <p:nvSpPr>
          <p:cNvPr id="24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A814F2CB-2C1C-4578-BA35-E6BD1E13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270575"/>
            <a:ext cx="1303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ПРИНЦИП</a:t>
            </a:r>
          </a:p>
        </p:txBody>
      </p:sp>
      <p:sp>
        <p:nvSpPr>
          <p:cNvPr id="25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E7F98450-5783-4CDD-BE83-DADB6CF0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676281"/>
            <a:ext cx="138508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Најмања привилегија: додели само право које је потребно, за опсег у коме је потребно и док потреба траје.</a:t>
            </a:r>
          </a:p>
        </p:txBody>
      </p:sp>
      <p:sp>
        <p:nvSpPr>
          <p:cNvPr id="26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B0DF5219-B1A9-4084-BA17-7283327B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7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DE96E741-588C-4811-AAE2-9D6DF3D9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622440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5C26C0-E218-46FC-B4A1-3D831C62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F329A-3C80-4DB4-A903-079C595E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7829550" cy="2289423"/>
          </a:xfrm>
          <a:prstGeom xmlns:a="http://schemas.openxmlformats.org/drawingml/2006/main" prst="roundRect">
            <a:avLst>
              <a:gd name="adj" fmla="val 665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C2DD5-FB67-417A-B2D9-ED3D6FEF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12591"/>
            <a:ext cx="7829550" cy="2289423"/>
          </a:xfrm>
          <a:prstGeom xmlns:a="http://schemas.openxmlformats.org/drawingml/2006/main" prst="roundRect">
            <a:avLst>
              <a:gd name="adj" fmla="val 665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B97A3-AF97-4E36-B96F-D5AB256A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06814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5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619F7BCE-44FA-42A3-856A-DC720E46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06814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5CDC3-A98C-45BE-A581-2B8015E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7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0F586AF5-2041-4917-87C7-0A627FB9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 · НАЗИВИ</a:t>
            </a:r>
          </a:p>
        </p:txBody>
      </p:sp>
      <p:sp>
        <p:nvSpPr>
          <p:cNvPr id="8" name="heading-source-18">
            <a:extLst xmlns:a="http://schemas.openxmlformats.org/drawingml/2006/main">
              <a:ext uri="{FF2B5EF4-FFF2-40B4-BE49-F238E27FC236}">
                <a16:creationId xmlns:a16="http://schemas.microsoft.com/office/drawing/2014/main" id="{C95CC3C8-1D85-44DF-9840-E4D48AF4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920038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Именовање улога и дозвола</a:t>
            </a:r>
          </a:p>
        </p:txBody>
      </p:sp>
      <p:sp>
        <p:nvSpPr>
          <p:cNvPr id="9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80A310D9-A3CE-47A6-A3E7-D8382D16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166946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Назив улоге описује пословну одговорност, а назив дозволе конкретну заштићену радњу.</a:t>
            </a:r>
          </a:p>
        </p:txBody>
      </p:sp>
      <p:sp>
        <p:nvSpPr>
          <p:cNvPr id="10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15412592-7F97-4CC1-8D51-6CEBC677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15774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ПРЕШИРОКО</a:t>
            </a:r>
          </a:p>
        </p:txBody>
      </p:sp>
      <p:sp>
        <p:nvSpPr>
          <p:cNvPr id="11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BC53B185-F34C-4ECD-BAC6-3AD64FA6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126444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Admin</a:t>
            </a:r>
          </a:p>
        </p:txBody>
      </p:sp>
      <p:sp>
        <p:nvSpPr>
          <p:cNvPr id="12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147BA0F8-7E30-4246-A212-52DFDB8D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88793"/>
            <a:ext cx="749022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Назив не објашњава које радње су оправдане, над којим </a:t>
            </a:r>
          </a:p>
        </p:txBody>
      </p:sp>
      <p:sp>
        <p:nvSpPr>
          <p:cNvPr id="13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E4FD7F11-093A-4317-A049-FA95ABD1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62054"/>
            <a:ext cx="506968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ресурсима и колико дуго право важи.</a:t>
            </a:r>
          </a:p>
        </p:txBody>
      </p:sp>
      <p:sp>
        <p:nvSpPr>
          <p:cNvPr id="14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445B6FE6-E976-43ED-A501-61A98BD8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388816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ПРЕЦИЗНО</a:t>
            </a:r>
          </a:p>
        </p:txBody>
      </p:sp>
      <p:sp>
        <p:nvSpPr>
          <p:cNvPr id="15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9F3CFA44-FE50-40B6-8F2D-AA671FCC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842147"/>
            <a:ext cx="333970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Оператер извештаја</a:t>
            </a:r>
          </a:p>
        </p:txBody>
      </p:sp>
      <p:sp>
        <p:nvSpPr>
          <p:cNvPr id="16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0CE234A4-BAB0-41FC-BA56-CB401934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388793"/>
            <a:ext cx="674533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Улога групише дозволе report.view и report.export у </a:t>
            </a:r>
          </a:p>
        </p:txBody>
      </p:sp>
      <p:sp>
        <p:nvSpPr>
          <p:cNvPr id="17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A9BE6E45-FE68-4408-99EC-C6610193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762054"/>
            <a:ext cx="561216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опсегу домена за који оператер одговара.</a:t>
            </a:r>
          </a:p>
        </p:txBody>
      </p:sp>
      <p:sp>
        <p:nvSpPr>
          <p:cNvPr id="18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6F7743F5-111B-433E-8F21-36930EDD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97314"/>
            <a:ext cx="2263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ПРАВИЛО МОДЕЛА</a:t>
            </a:r>
          </a:p>
        </p:txBody>
      </p:sp>
      <p:sp>
        <p:nvSpPr>
          <p:cNvPr id="19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E83F0C66-67C0-4087-B0BC-257F3967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03020"/>
            <a:ext cx="1439346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Промена пословне одговорности мења улогу. Нова техничка операција додаје малу дозволу у постојећи модел.</a:t>
            </a:r>
          </a:p>
        </p:txBody>
      </p:sp>
      <p:sp>
        <p:nvSpPr>
          <p:cNvPr id="20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F84E1108-4B7C-4F32-9DCE-9711A954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1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0B61C17F-CDDB-49D5-8CB5-F4CD75AB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403672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D0F95-5B52-4C5E-A29D-C9CFF1FC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46518-9FBC-4971-9E64-EED70FA0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528336eaa4925"/>
          <a:stretch xmlns:a="http://schemas.openxmlformats.org/drawingml/2006/main"/>
        </p:blipFill>
        <p:spPr>
          <a:xfrm xmlns:a="http://schemas.openxmlformats.org/drawingml/2006/main">
            <a:off x="1219200" y="3112591"/>
            <a:ext cx="15849600" cy="4953000"/>
          </a:xfrm>
          <a:prstGeom xmlns:a="http://schemas.openxmlformats.org/drawingml/2006/main" prst="rect">
            <a:avLst/>
          </a:prstGeom>
        </p:spPr>
      </p:pic>
      <p:sp>
        <p:nvSpPr>
          <p:cNvPr id="4" name="text-uloga-radnja">
            <a:extLst xmlns:a="http://schemas.openxmlformats.org/drawingml/2006/main">
              <a:ext uri="{FF2B5EF4-FFF2-40B4-BE49-F238E27FC236}">
                <a16:creationId xmlns:a16="http://schemas.microsoft.com/office/drawing/2014/main" id="{9652112A-9BE7-450F-93CE-803179E1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 · УЛОГЕ И ДОЗВОЛЕ</a:t>
            </a:r>
          </a:p>
        </p:txBody>
      </p:sp>
      <p:sp>
        <p:nvSpPr>
          <p:cNvPr id="5" name="heading-uloga-radnja">
            <a:extLst xmlns:a="http://schemas.openxmlformats.org/drawingml/2006/main">
              <a:ext uri="{FF2B5EF4-FFF2-40B4-BE49-F238E27FC236}">
                <a16:creationId xmlns:a16="http://schemas.microsoft.com/office/drawing/2014/main" id="{CD8E20AF-E11F-4D11-BBDD-1BE75B68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89082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356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Један идентитет, различите радње</a:t>
            </a:r>
          </a:p>
        </p:txBody>
      </p:sp>
      <p:sp>
        <p:nvSpPr>
          <p:cNvPr id="6" name="text-uloga-radnja">
            <a:extLst xmlns:a="http://schemas.openxmlformats.org/drawingml/2006/main">
              <a:ext uri="{FF2B5EF4-FFF2-40B4-BE49-F238E27FC236}">
                <a16:creationId xmlns:a16="http://schemas.microsoft.com/office/drawing/2014/main" id="{C9B0E14A-79A7-4FCF-9EFB-94A25CFC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859035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Илустративни пример: улога има report.view, а нема report.export.</a:t>
            </a:r>
          </a:p>
        </p:txBody>
      </p:sp>
      <p:sp>
        <p:nvSpPr>
          <p:cNvPr id="7" name="text-uloga-radnja">
            <a:extLst xmlns:a="http://schemas.openxmlformats.org/drawingml/2006/main">
              <a:ext uri="{FF2B5EF4-FFF2-40B4-BE49-F238E27FC236}">
                <a16:creationId xmlns:a16="http://schemas.microsoft.com/office/drawing/2014/main" id="{D63D67C1-1F5F-4E14-91A7-0E410B9B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472" y="3388816"/>
            <a:ext cx="2983706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>
                <a:latin typeface="IBM Plex Sans"/>
                <a:ea typeface="IBM Plex Sans"/>
                <a:cs typeface="IBM Plex Sans"/>
              </a:defRPr>
            </a:pPr>
            <a:r>
              <a:rPr sz="25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Један идентитет</a:t>
            </a:r>
          </a:p>
        </p:txBody>
      </p:sp>
      <p:sp>
        <p:nvSpPr>
          <p:cNvPr id="8" name="text-uloga-radnja">
            <a:extLst xmlns:a="http://schemas.openxmlformats.org/drawingml/2006/main">
              <a:ext uri="{FF2B5EF4-FFF2-40B4-BE49-F238E27FC236}">
                <a16:creationId xmlns:a16="http://schemas.microsoft.com/office/drawing/2014/main" id="{44EB9A21-49EC-4AEF-92E4-7A549149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292" y="3312616"/>
            <a:ext cx="330294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>
                <a:latin typeface="IBM Plex Sans"/>
                <a:ea typeface="IBM Plex Sans"/>
                <a:cs typeface="IBM Plex Sans"/>
              </a:defRPr>
            </a:pPr>
            <a:r>
              <a:rPr sz="25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Одлука на серверу</a:t>
            </a:r>
          </a:p>
        </p:txBody>
      </p:sp>
      <p:sp>
        <p:nvSpPr>
          <p:cNvPr id="9" name="text-uloga-radnja">
            <a:extLst xmlns:a="http://schemas.openxmlformats.org/drawingml/2006/main">
              <a:ext uri="{FF2B5EF4-FFF2-40B4-BE49-F238E27FC236}">
                <a16:creationId xmlns:a16="http://schemas.microsoft.com/office/drawing/2014/main" id="{0DEB634C-C059-4F7A-97E1-00238D12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936" y="5446216"/>
            <a:ext cx="2295227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Налог + статус</a:t>
            </a:r>
          </a:p>
        </p:txBody>
      </p:sp>
      <p:sp>
        <p:nvSpPr>
          <p:cNvPr id="10" name="text-uloga-radnja">
            <a:extLst xmlns:a="http://schemas.openxmlformats.org/drawingml/2006/main">
              <a:ext uri="{FF2B5EF4-FFF2-40B4-BE49-F238E27FC236}">
                <a16:creationId xmlns:a16="http://schemas.microsoft.com/office/drawing/2014/main" id="{9648710B-60D7-423B-98E7-1942783C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686" y="5846266"/>
            <a:ext cx="2485579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улога + дозвола</a:t>
            </a:r>
          </a:p>
        </p:txBody>
      </p:sp>
      <p:sp>
        <p:nvSpPr>
          <p:cNvPr id="11" name="text-uloga-radnja">
            <a:extLst xmlns:a="http://schemas.openxmlformats.org/drawingml/2006/main">
              <a:ext uri="{FF2B5EF4-FFF2-40B4-BE49-F238E27FC236}">
                <a16:creationId xmlns:a16="http://schemas.microsoft.com/office/drawing/2014/main" id="{738B03D9-363C-41C2-8248-FC70A4AE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534" y="5979616"/>
            <a:ext cx="272653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Потврђена пријава</a:t>
            </a:r>
          </a:p>
        </p:txBody>
      </p:sp>
      <p:sp>
        <p:nvSpPr>
          <p:cNvPr id="12" name="text-uloga-radnja">
            <a:extLst xmlns:a="http://schemas.openxmlformats.org/drawingml/2006/main">
              <a:ext uri="{FF2B5EF4-FFF2-40B4-BE49-F238E27FC236}">
                <a16:creationId xmlns:a16="http://schemas.microsoft.com/office/drawing/2014/main" id="{D6F7C1F3-6A80-448C-A9EC-A7B26D3A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4664" y="4227016"/>
            <a:ext cx="2899023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Преглед извештаја</a:t>
            </a:r>
          </a:p>
        </p:txBody>
      </p:sp>
      <p:sp>
        <p:nvSpPr>
          <p:cNvPr id="13" name="text-uloga-radnja">
            <a:extLst xmlns:a="http://schemas.openxmlformats.org/drawingml/2006/main">
              <a:ext uri="{FF2B5EF4-FFF2-40B4-BE49-F238E27FC236}">
                <a16:creationId xmlns:a16="http://schemas.microsoft.com/office/drawing/2014/main" id="{4F1DC310-1B93-4688-BA79-5BE7AC73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9537" y="4627066"/>
            <a:ext cx="2549277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Дозвола постоји</a:t>
            </a:r>
          </a:p>
        </p:txBody>
      </p:sp>
      <p:sp>
        <p:nvSpPr>
          <p:cNvPr id="14" name="text-uloga-radnja">
            <a:extLst xmlns:a="http://schemas.openxmlformats.org/drawingml/2006/main">
              <a:ext uri="{FF2B5EF4-FFF2-40B4-BE49-F238E27FC236}">
                <a16:creationId xmlns:a16="http://schemas.microsoft.com/office/drawing/2014/main" id="{9A8F39A7-CC15-4768-934E-8ED9CCCF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4505" y="6379666"/>
            <a:ext cx="2579489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A8520A"/>
                </a:solidFill>
                <a:latin typeface="IBM Plex Sans"/>
                <a:ea typeface="IBM Plex Sans"/>
                <a:cs typeface="IBM Plex Sans"/>
              </a:rPr>
              <a:t>Извоз извештаја</a:t>
            </a:r>
          </a:p>
        </p:txBody>
      </p:sp>
      <p:sp>
        <p:nvSpPr>
          <p:cNvPr id="15" name="text-uloga-radnja">
            <a:extLst xmlns:a="http://schemas.openxmlformats.org/drawingml/2006/main">
              <a:ext uri="{FF2B5EF4-FFF2-40B4-BE49-F238E27FC236}">
                <a16:creationId xmlns:a16="http://schemas.microsoft.com/office/drawing/2014/main" id="{80D4FE91-85F8-4470-BABA-2C74C229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2970" y="6779716"/>
            <a:ext cx="286241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A8520A"/>
                </a:solidFill>
                <a:latin typeface="IBM Plex Sans"/>
                <a:ea typeface="IBM Plex Sans"/>
                <a:cs typeface="IBM Plex Sans"/>
              </a:rPr>
              <a:t>Дозвола недостаје</a:t>
            </a:r>
          </a:p>
        </p:txBody>
      </p:sp>
      <p:sp>
        <p:nvSpPr>
          <p:cNvPr id="16" name="text-uloga-radnja">
            <a:extLst xmlns:a="http://schemas.openxmlformats.org/drawingml/2006/main">
              <a:ext uri="{FF2B5EF4-FFF2-40B4-BE49-F238E27FC236}">
                <a16:creationId xmlns:a16="http://schemas.microsoft.com/office/drawing/2014/main" id="{C922EC04-0F49-4F0F-BF09-D5ADD291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7" name="text-uloga-radnja">
            <a:extLst xmlns:a="http://schemas.openxmlformats.org/drawingml/2006/main">
              <a:ext uri="{FF2B5EF4-FFF2-40B4-BE49-F238E27FC236}">
                <a16:creationId xmlns:a16="http://schemas.microsoft.com/office/drawing/2014/main" id="{EFB52FDC-4531-4708-89AF-97CF91C2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4384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69CBE-6CAA-4FCF-AE9E-EB016130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F7AE2-DCBC-47CD-AA1E-DBD69282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39185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C68BB074-C2AC-46F6-A859-C664C04B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39185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FE008-1501-4EB3-BC73-582C29B0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text-matrica">
            <a:extLst xmlns:a="http://schemas.openxmlformats.org/drawingml/2006/main">
              <a:ext uri="{FF2B5EF4-FFF2-40B4-BE49-F238E27FC236}">
                <a16:creationId xmlns:a16="http://schemas.microsoft.com/office/drawing/2014/main" id="{C994FD59-CA91-438D-A958-C3496299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4092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 · ИЛУСТРАТИВНИ ПРИМЕР</a:t>
            </a:r>
          </a:p>
        </p:txBody>
      </p:sp>
      <p:sp>
        <p:nvSpPr>
          <p:cNvPr id="6" name="heading-matrica">
            <a:extLst xmlns:a="http://schemas.openxmlformats.org/drawingml/2006/main">
              <a:ext uri="{FF2B5EF4-FFF2-40B4-BE49-F238E27FC236}">
                <a16:creationId xmlns:a16="http://schemas.microsoft.com/office/drawing/2014/main" id="{9303AF09-34B2-455C-A083-0B424E7B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095679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Матрица улога и дозвола</a:t>
            </a:r>
          </a:p>
        </p:txBody>
      </p:sp>
      <p:sp>
        <p:nvSpPr>
          <p:cNvPr id="7" name="text-matrica">
            <a:extLst xmlns:a="http://schemas.openxmlformats.org/drawingml/2006/main">
              <a:ext uri="{FF2B5EF4-FFF2-40B4-BE49-F238E27FC236}">
                <a16:creationId xmlns:a16="http://schemas.microsoft.com/office/drawing/2014/main" id="{E31591EE-0818-4756-A9C9-8CAAE16F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049669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Свака колона представља једну радњу, а сваки ред једну пословну одговорност.</a:t>
            </a:r>
          </a:p>
        </p:txBody>
      </p:sp>
      <p:sp>
        <p:nvSpPr>
          <p:cNvPr id="8" name="text-matrica">
            <a:extLst xmlns:a="http://schemas.openxmlformats.org/drawingml/2006/main">
              <a:ext uri="{FF2B5EF4-FFF2-40B4-BE49-F238E27FC236}">
                <a16:creationId xmlns:a16="http://schemas.microsoft.com/office/drawing/2014/main" id="{B95DBE35-1662-4AD2-BCE7-7AD4C0C2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529685"/>
            <a:ext cx="28118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Илустративни модел</a:t>
            </a:r>
          </a:p>
        </p:txBody>
      </p:sp>
      <p:sp>
        <p:nvSpPr>
          <p:cNvPr id="9" name="text-matrica">
            <a:extLst xmlns:a="http://schemas.openxmlformats.org/drawingml/2006/main">
              <a:ext uri="{FF2B5EF4-FFF2-40B4-BE49-F238E27FC236}">
                <a16:creationId xmlns:a16="http://schemas.microsoft.com/office/drawing/2014/main" id="{0BA6EEA7-074E-4A95-BA3B-0122E3F7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935391"/>
            <a:ext cx="119776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Матрица приказује дозволе улога. Приступ конкретном извештају захтева и проверу опсега.</a:t>
            </a:r>
          </a:p>
        </p:txBody>
      </p:sp>
      <p:sp>
        <p:nvSpPr>
          <p:cNvPr id="10" name="text-matrica">
            <a:extLst xmlns:a="http://schemas.openxmlformats.org/drawingml/2006/main">
              <a:ext uri="{FF2B5EF4-FFF2-40B4-BE49-F238E27FC236}">
                <a16:creationId xmlns:a16="http://schemas.microsoft.com/office/drawing/2014/main" id="{62D3B6F4-FE88-4C32-9110-40B2A1FA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1" name="text-matrica">
            <a:extLst xmlns:a="http://schemas.openxmlformats.org/drawingml/2006/main">
              <a:ext uri="{FF2B5EF4-FFF2-40B4-BE49-F238E27FC236}">
                <a16:creationId xmlns:a16="http://schemas.microsoft.com/office/drawing/2014/main" id="{28792035-EE78-4F92-A61A-EAEB8E39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1219200" y="3112591"/>
          <a:ext xmlns:a="http://schemas.openxmlformats.org/drawingml/2006/main" cx="15849600" cy="2921794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907459"/>
                <a:gridCol w="3640931"/>
                <a:gridCol w="3640931"/>
                <a:gridCol w="3641229"/>
              </a:tblGrid>
              <a:tr h="7256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Улога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2EB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report.view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2EB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report.export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2EB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report.approve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2EBE9"/>
                    </a:solidFill>
                  </a:tcPr>
                </a:tc>
              </a:tr>
              <a:tr h="7256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Читалац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Дозвољено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Одбијено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Одбијено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7256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Оператер извештаја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Дозвољено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Дозвољено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Одбијено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7256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Одобравалац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Дозвољено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Одбијено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Дозвољено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665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CBF154-E9E8-4784-A0EB-EC4C29BB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B3088-2582-4945-B4B8-398D8921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2289423"/>
          </a:xfrm>
          <a:prstGeom xmlns:a="http://schemas.openxmlformats.org/drawingml/2006/main" prst="roundRect">
            <a:avLst>
              <a:gd name="adj" fmla="val 665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8E32F-A59E-41CB-A8AB-A1294378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2289423"/>
          </a:xfrm>
          <a:prstGeom xmlns:a="http://schemas.openxmlformats.org/drawingml/2006/main" prst="roundRect">
            <a:avLst>
              <a:gd name="adj" fmla="val 665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BF635-63F4-4BFA-B749-19ED6B3E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2289423"/>
          </a:xfrm>
          <a:prstGeom xmlns:a="http://schemas.openxmlformats.org/drawingml/2006/main" prst="roundRect">
            <a:avLst>
              <a:gd name="adj" fmla="val 665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270DD-C84C-4F7B-A6B1-CD0B3C74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06814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D12F8A75-6D71-4DA9-BA2A-F85B3840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06814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B20E5-FD4E-48CF-ABD6-A655B925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opseg">
            <a:extLst xmlns:a="http://schemas.openxmlformats.org/drawingml/2006/main">
              <a:ext uri="{FF2B5EF4-FFF2-40B4-BE49-F238E27FC236}">
                <a16:creationId xmlns:a16="http://schemas.microsoft.com/office/drawing/2014/main" id="{BCA29CC8-7597-4232-8874-FF0189C8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4092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 · ИЛУСТРАТИВНИ ПРИМЕР</a:t>
            </a:r>
          </a:p>
        </p:txBody>
      </p:sp>
      <p:sp>
        <p:nvSpPr>
          <p:cNvPr id="9" name="heading-opseg">
            <a:extLst xmlns:a="http://schemas.openxmlformats.org/drawingml/2006/main">
              <a:ext uri="{FF2B5EF4-FFF2-40B4-BE49-F238E27FC236}">
                <a16:creationId xmlns:a16="http://schemas.microsoft.com/office/drawing/2014/main" id="{C071E4BC-8C3D-4DA5-960A-A4379293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016987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10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RBAC и приступ конкретном ресурсу</a:t>
            </a:r>
          </a:p>
        </p:txBody>
      </p:sp>
      <p:sp>
        <p:nvSpPr>
          <p:cNvPr id="10" name="text-opseg">
            <a:extLst xmlns:a="http://schemas.openxmlformats.org/drawingml/2006/main">
              <a:ext uri="{FF2B5EF4-FFF2-40B4-BE49-F238E27FC236}">
                <a16:creationId xmlns:a16="http://schemas.microsoft.com/office/drawing/2014/main" id="{E594549F-AE86-4E3F-AA37-BA17E99F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080268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Постојање дозволе за радњу само по себи не доказује право над сваким ресурсом.</a:t>
            </a:r>
          </a:p>
        </p:txBody>
      </p:sp>
      <p:sp>
        <p:nvSpPr>
          <p:cNvPr id="11" name="text-opseg">
            <a:extLst xmlns:a="http://schemas.openxmlformats.org/drawingml/2006/main">
              <a:ext uri="{FF2B5EF4-FFF2-40B4-BE49-F238E27FC236}">
                <a16:creationId xmlns:a16="http://schemas.microsoft.com/office/drawing/2014/main" id="{60C4E8BA-632E-45D1-9FCD-238E1781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УЛОГА</a:t>
            </a:r>
          </a:p>
        </p:txBody>
      </p:sp>
      <p:sp>
        <p:nvSpPr>
          <p:cNvPr id="12" name="text-opseg">
            <a:extLst xmlns:a="http://schemas.openxmlformats.org/drawingml/2006/main">
              <a:ext uri="{FF2B5EF4-FFF2-40B4-BE49-F238E27FC236}">
                <a16:creationId xmlns:a16="http://schemas.microsoft.com/office/drawing/2014/main" id="{EB29666F-D250-4CA6-9167-2D77F9EB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333970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Оператер извештаја</a:t>
            </a:r>
          </a:p>
        </p:txBody>
      </p:sp>
      <p:sp>
        <p:nvSpPr>
          <p:cNvPr id="13" name="text-opseg">
            <a:extLst xmlns:a="http://schemas.openxmlformats.org/drawingml/2006/main">
              <a:ext uri="{FF2B5EF4-FFF2-40B4-BE49-F238E27FC236}">
                <a16:creationId xmlns:a16="http://schemas.microsoft.com/office/drawing/2014/main" id="{234C42D7-3725-41E5-A9EC-73728DA7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88793"/>
            <a:ext cx="335503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Улога додељује дозволу </a:t>
            </a:r>
          </a:p>
        </p:txBody>
      </p:sp>
      <p:sp>
        <p:nvSpPr>
          <p:cNvPr id="14" name="text-opseg">
            <a:extLst xmlns:a="http://schemas.openxmlformats.org/drawingml/2006/main">
              <a:ext uri="{FF2B5EF4-FFF2-40B4-BE49-F238E27FC236}">
                <a16:creationId xmlns:a16="http://schemas.microsoft.com/office/drawing/2014/main" id="{B5A7139C-C7D0-4C6B-B62D-4A114AAB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62054"/>
            <a:ext cx="199995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report.export.</a:t>
            </a:r>
          </a:p>
        </p:txBody>
      </p:sp>
      <p:sp>
        <p:nvSpPr>
          <p:cNvPr id="15" name="text-opseg">
            <a:extLst xmlns:a="http://schemas.openxmlformats.org/drawingml/2006/main">
              <a:ext uri="{FF2B5EF4-FFF2-40B4-BE49-F238E27FC236}">
                <a16:creationId xmlns:a16="http://schemas.microsoft.com/office/drawing/2014/main" id="{83168C66-3F5D-4A6C-9F64-C8D0F5EE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388816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РЕСУРС</a:t>
            </a:r>
          </a:p>
        </p:txBody>
      </p:sp>
      <p:sp>
        <p:nvSpPr>
          <p:cNvPr id="16" name="text-opseg">
            <a:extLst xmlns:a="http://schemas.openxmlformats.org/drawingml/2006/main">
              <a:ext uri="{FF2B5EF4-FFF2-40B4-BE49-F238E27FC236}">
                <a16:creationId xmlns:a16="http://schemas.microsoft.com/office/drawing/2014/main" id="{E12F3E3C-32CA-4DD4-A8A5-B93022A2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842147"/>
            <a:ext cx="317614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Извештај домена А</a:t>
            </a:r>
          </a:p>
        </p:txBody>
      </p:sp>
      <p:sp>
        <p:nvSpPr>
          <p:cNvPr id="17" name="text-opseg">
            <a:extLst xmlns:a="http://schemas.openxmlformats.org/drawingml/2006/main">
              <a:ext uri="{FF2B5EF4-FFF2-40B4-BE49-F238E27FC236}">
                <a16:creationId xmlns:a16="http://schemas.microsoft.com/office/drawing/2014/main" id="{611C798F-30AE-4473-B61A-5569BDC6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388793"/>
            <a:ext cx="458613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Сервер учитава домен ресурса из </a:t>
            </a:r>
          </a:p>
        </p:txBody>
      </p:sp>
      <p:sp>
        <p:nvSpPr>
          <p:cNvPr id="18" name="text-opseg">
            <a:extLst xmlns:a="http://schemas.openxmlformats.org/drawingml/2006/main">
              <a:ext uri="{FF2B5EF4-FFF2-40B4-BE49-F238E27FC236}">
                <a16:creationId xmlns:a16="http://schemas.microsoft.com/office/drawing/2014/main" id="{A47C9EB3-63A7-41F5-81B2-34AEA87E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762054"/>
            <a:ext cx="265554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поузданог извора.</a:t>
            </a:r>
          </a:p>
        </p:txBody>
      </p:sp>
      <p:sp>
        <p:nvSpPr>
          <p:cNvPr id="19" name="text-opseg">
            <a:extLst xmlns:a="http://schemas.openxmlformats.org/drawingml/2006/main">
              <a:ext uri="{FF2B5EF4-FFF2-40B4-BE49-F238E27FC236}">
                <a16:creationId xmlns:a16="http://schemas.microsoft.com/office/drawing/2014/main" id="{4A1C983B-7FA9-423F-928A-26DE2409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388816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ОПСЕГ</a:t>
            </a:r>
          </a:p>
        </p:txBody>
      </p:sp>
      <p:sp>
        <p:nvSpPr>
          <p:cNvPr id="20" name="text-opseg">
            <a:extLst xmlns:a="http://schemas.openxmlformats.org/drawingml/2006/main">
              <a:ext uri="{FF2B5EF4-FFF2-40B4-BE49-F238E27FC236}">
                <a16:creationId xmlns:a16="http://schemas.microsoft.com/office/drawing/2014/main" id="{7F19055C-88C4-437A-ADAE-F3F5479A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842147"/>
            <a:ext cx="319891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Додељени домен А</a:t>
            </a:r>
          </a:p>
        </p:txBody>
      </p:sp>
      <p:sp>
        <p:nvSpPr>
          <p:cNvPr id="21" name="text-opseg">
            <a:extLst xmlns:a="http://schemas.openxmlformats.org/drawingml/2006/main">
              <a:ext uri="{FF2B5EF4-FFF2-40B4-BE49-F238E27FC236}">
                <a16:creationId xmlns:a16="http://schemas.microsoft.com/office/drawing/2014/main" id="{B8C37F5E-9377-4F09-B7A0-5718BDB9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388793"/>
            <a:ext cx="4778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Извоз ресурса из домена Б захтева </a:t>
            </a:r>
          </a:p>
        </p:txBody>
      </p:sp>
      <p:sp>
        <p:nvSpPr>
          <p:cNvPr id="22" name="text-opseg">
            <a:extLst xmlns:a="http://schemas.openxmlformats.org/drawingml/2006/main">
              <a:ext uri="{FF2B5EF4-FFF2-40B4-BE49-F238E27FC236}">
                <a16:creationId xmlns:a16="http://schemas.microsoft.com/office/drawing/2014/main" id="{1A62E949-CEFD-4644-B669-E8DCDF03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762054"/>
            <a:ext cx="368438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посебно оправдано право.</a:t>
            </a:r>
          </a:p>
        </p:txBody>
      </p:sp>
      <p:sp>
        <p:nvSpPr>
          <p:cNvPr id="23" name="text-opseg">
            <a:extLst xmlns:a="http://schemas.openxmlformats.org/drawingml/2006/main">
              <a:ext uri="{FF2B5EF4-FFF2-40B4-BE49-F238E27FC236}">
                <a16:creationId xmlns:a16="http://schemas.microsoft.com/office/drawing/2014/main" id="{0E03BE55-A934-4499-A31E-17213627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97314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Одлука</a:t>
            </a:r>
          </a:p>
        </p:txBody>
      </p:sp>
      <p:sp>
        <p:nvSpPr>
          <p:cNvPr id="24" name="text-opseg">
            <a:extLst xmlns:a="http://schemas.openxmlformats.org/drawingml/2006/main">
              <a:ext uri="{FF2B5EF4-FFF2-40B4-BE49-F238E27FC236}">
                <a16:creationId xmlns:a16="http://schemas.microsoft.com/office/drawing/2014/main" id="{61698BF7-B5D6-4215-B21E-F769DA90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03020"/>
            <a:ext cx="1564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RBAC проверава дозволу из улоге. Додатна провера ресурса, статуса и важења спречава приступ ван оправданог опсега.</a:t>
            </a:r>
          </a:p>
        </p:txBody>
      </p:sp>
      <p:sp>
        <p:nvSpPr>
          <p:cNvPr id="25" name="text-opseg">
            <a:extLst xmlns:a="http://schemas.openxmlformats.org/drawingml/2006/main">
              <a:ext uri="{FF2B5EF4-FFF2-40B4-BE49-F238E27FC236}">
                <a16:creationId xmlns:a16="http://schemas.microsoft.com/office/drawing/2014/main" id="{B540D5C9-C55E-41C3-B433-431D1D8B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6" name="text-opseg">
            <a:extLst xmlns:a="http://schemas.openxmlformats.org/drawingml/2006/main">
              <a:ext uri="{FF2B5EF4-FFF2-40B4-BE49-F238E27FC236}">
                <a16:creationId xmlns:a16="http://schemas.microsoft.com/office/drawing/2014/main" id="{DD7D0EE5-D383-42AB-BD2B-56C408D6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588637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766A91-FC3E-4745-8056-E7ADB4AE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CE87D-5E6E-4165-9A0C-E0E3285E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3028355"/>
          </a:xfrm>
          <a:prstGeom xmlns:a="http://schemas.openxmlformats.org/drawingml/2006/main" prst="roundRect">
            <a:avLst>
              <a:gd name="adj" fmla="val 5032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D38C9-5B8E-4E93-9580-AD8E6DD6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3028355"/>
          </a:xfrm>
          <a:prstGeom xmlns:a="http://schemas.openxmlformats.org/drawingml/2006/main" prst="roundRect">
            <a:avLst>
              <a:gd name="adj" fmla="val 5032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EE519-7D81-4E43-8070-2E077588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3028355"/>
          </a:xfrm>
          <a:prstGeom xmlns:a="http://schemas.openxmlformats.org/drawingml/2006/main" prst="roundRect">
            <a:avLst>
              <a:gd name="adj" fmla="val 5032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014F0-0B5F-42D2-8413-0E13E121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45746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8051D647-ABE5-4397-80B7-96500A94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45746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D48B7-A5A8-4470-B571-E8AD4268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18809D0E-A9AA-4928-B940-E358655F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6233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 · ПРИВРЕМЕНО ПРАВО</a:t>
            </a:r>
          </a:p>
        </p:txBody>
      </p:sp>
      <p:sp>
        <p:nvSpPr>
          <p:cNvPr id="9" name="heading-source-11">
            <a:extLst xmlns:a="http://schemas.openxmlformats.org/drawingml/2006/main">
              <a:ext uri="{FF2B5EF4-FFF2-40B4-BE49-F238E27FC236}">
                <a16:creationId xmlns:a16="http://schemas.microsoft.com/office/drawing/2014/main" id="{CBB3E929-CB7E-4FD8-B50F-3EA32C0C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089853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247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Привремено проширење одговорности</a:t>
            </a:r>
          </a:p>
        </p:txBody>
      </p:sp>
      <p:sp>
        <p:nvSpPr>
          <p:cNvPr id="10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12674D30-EF64-4C4A-AD44-8A0CA7C8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19892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Широка администраторска улога додељује више права него што конкретан задатак захтева.</a:t>
            </a:r>
          </a:p>
        </p:txBody>
      </p:sp>
      <p:sp>
        <p:nvSpPr>
          <p:cNvPr id="11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A0C25666-C86D-4A51-A836-C6DEEC36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1303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ПОТРЕБА</a:t>
            </a:r>
          </a:p>
        </p:txBody>
      </p:sp>
      <p:sp>
        <p:nvSpPr>
          <p:cNvPr id="12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54F9E974-8B98-4444-8281-1A8C257F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400094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Одобравање једне врсте </a:t>
            </a:r>
          </a:p>
        </p:txBody>
      </p:sp>
      <p:sp>
        <p:nvSpPr>
          <p:cNvPr id="13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B0984FC9-2E21-45C7-A7B3-36DF9AF9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07818"/>
            <a:ext cx="162044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промене</a:t>
            </a:r>
          </a:p>
        </p:txBody>
      </p:sp>
      <p:sp>
        <p:nvSpPr>
          <p:cNvPr id="14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941B487C-2E6E-48E0-91A1-D1FBADF2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54463"/>
            <a:ext cx="431571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Најпре се дефинише конкретна </a:t>
            </a:r>
          </a:p>
        </p:txBody>
      </p:sp>
      <p:sp>
        <p:nvSpPr>
          <p:cNvPr id="15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58684B66-D6A2-4180-BF51-EDE8E3E3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127724"/>
            <a:ext cx="435277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радња и њен ограничени опсег.</a:t>
            </a:r>
          </a:p>
        </p:txBody>
      </p:sp>
      <p:sp>
        <p:nvSpPr>
          <p:cNvPr id="16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6C3E374D-4457-4689-A0A4-5F00EC8F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388816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ОПСЕГ</a:t>
            </a:r>
          </a:p>
        </p:txBody>
      </p:sp>
      <p:sp>
        <p:nvSpPr>
          <p:cNvPr id="17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95D372D1-F97A-407F-B7E8-A7BC835E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842147"/>
            <a:ext cx="324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Само један домен и </a:t>
            </a:r>
          </a:p>
        </p:txBody>
      </p:sp>
      <p:sp>
        <p:nvSpPr>
          <p:cNvPr id="18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96E6818E-4D7F-435A-AC0B-3E6F9766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207818"/>
            <a:ext cx="3057227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ограничено време</a:t>
            </a:r>
          </a:p>
        </p:txBody>
      </p:sp>
      <p:sp>
        <p:nvSpPr>
          <p:cNvPr id="19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63433498-5EBA-4DA4-9157-56C1886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754463"/>
            <a:ext cx="483497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Право важи у дефинисаном домену </a:t>
            </a:r>
          </a:p>
        </p:txBody>
      </p:sp>
      <p:sp>
        <p:nvSpPr>
          <p:cNvPr id="20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D1A094A3-373E-49B2-88BF-F0E53E45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127724"/>
            <a:ext cx="398234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 престаје истеком пословне </a:t>
            </a:r>
          </a:p>
        </p:txBody>
      </p:sp>
      <p:sp>
        <p:nvSpPr>
          <p:cNvPr id="21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13D921C6-6ED2-463F-8567-DDEA0AAB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500985"/>
            <a:ext cx="143931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потребе.</a:t>
            </a:r>
          </a:p>
        </p:txBody>
      </p:sp>
      <p:sp>
        <p:nvSpPr>
          <p:cNvPr id="22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60523A6D-8868-4AC6-B49E-AD8ECADC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388816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РЕВИЗИЈА</a:t>
            </a:r>
          </a:p>
        </p:txBody>
      </p:sp>
      <p:sp>
        <p:nvSpPr>
          <p:cNvPr id="23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545E6BFA-780F-4823-B03A-D80BDA36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842147"/>
            <a:ext cx="384452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Истек и ревизиони траг</a:t>
            </a:r>
          </a:p>
        </p:txBody>
      </p:sp>
      <p:sp>
        <p:nvSpPr>
          <p:cNvPr id="24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208936A3-F3A8-4322-84A5-04C7D3F7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388793"/>
            <a:ext cx="438373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Може се утврдити ко је доделио </a:t>
            </a:r>
          </a:p>
        </p:txBody>
      </p:sp>
      <p:sp>
        <p:nvSpPr>
          <p:cNvPr id="25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A7F4A4E0-1CE0-40AC-976B-6E411F19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762054"/>
            <a:ext cx="443091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право, зашто и када је престало.</a:t>
            </a:r>
          </a:p>
        </p:txBody>
      </p:sp>
      <p:sp>
        <p:nvSpPr>
          <p:cNvPr id="26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B4B4189C-F768-4FE7-A66D-91F5FC83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636246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ЗАКЉУЧАК</a:t>
            </a:r>
          </a:p>
        </p:txBody>
      </p:sp>
      <p:sp>
        <p:nvSpPr>
          <p:cNvPr id="27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9035E72F-87E3-44F4-AD49-0FA21785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041952"/>
            <a:ext cx="1406277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Модел RBAC додељује најмању радњу оправдану пословном одговорношћу, у ограниченом опсегу и трајању.</a:t>
            </a:r>
          </a:p>
        </p:txBody>
      </p:sp>
      <p:sp>
        <p:nvSpPr>
          <p:cNvPr id="28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72C96EB8-BF31-40B3-A9E4-A21BCEA6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9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D8F73E39-AEFB-436B-8103-8EB432FF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624170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2EB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A3063-1496-42F6-84D0-7A9076AF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1966913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AEC2C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7006D-D4F4-4D4F-AA72-C5C30951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013" y="6158657"/>
            <a:ext cx="1311771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AEC2C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35575-66C1-4D62-8638-643352E2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084" y="6158657"/>
            <a:ext cx="1031528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AEC2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5FF68-D6E1-4010-B68A-3FB140E8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911" y="6158657"/>
            <a:ext cx="1429345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AEC2C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B6300-A4D1-4E87-A353-69137428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2C6"/>
          </a:solidFill>
          <a:ln xmlns:a="http://schemas.openxmlformats.org/drawingml/2006/main" w="0">
            <a:noFill/>
          </a:ln>
        </p:spPr>
      </p:sp>
      <p:sp>
        <p:nvSpPr>
          <p:cNvPr id="6" name="text-deo3">
            <a:extLst xmlns:a="http://schemas.openxmlformats.org/drawingml/2006/main">
              <a:ext uri="{FF2B5EF4-FFF2-40B4-BE49-F238E27FC236}">
                <a16:creationId xmlns:a16="http://schemas.microsoft.com/office/drawing/2014/main" id="{636ACE71-B310-4936-BF47-1A423878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7" name="text-deo3">
            <a:extLst xmlns:a="http://schemas.openxmlformats.org/drawingml/2006/main">
              <a:ext uri="{FF2B5EF4-FFF2-40B4-BE49-F238E27FC236}">
                <a16:creationId xmlns:a16="http://schemas.microsoft.com/office/drawing/2014/main" id="{F63D4488-49D9-44C5-A339-0CEB6C28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17488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ТРЕЋИ ДЕО</a:t>
            </a:r>
          </a:p>
        </p:txBody>
      </p:sp>
      <p:sp>
        <p:nvSpPr>
          <p:cNvPr id="8" name="heading-deo3">
            <a:extLst xmlns:a="http://schemas.openxmlformats.org/drawingml/2006/main">
              <a:ext uri="{FF2B5EF4-FFF2-40B4-BE49-F238E27FC236}">
                <a16:creationId xmlns:a16="http://schemas.microsoft.com/office/drawing/2014/main" id="{781D3A43-1DA4-48F4-A89A-11D33E23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8137029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013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Серверска одлука</a:t>
            </a:r>
          </a:p>
        </p:txBody>
      </p:sp>
      <p:sp>
        <p:nvSpPr>
          <p:cNvPr id="9" name="text-deo3">
            <a:extLst xmlns:a="http://schemas.openxmlformats.org/drawingml/2006/main">
              <a:ext uri="{FF2B5EF4-FFF2-40B4-BE49-F238E27FC236}">
                <a16:creationId xmlns:a16="http://schemas.microsoft.com/office/drawing/2014/main" id="{3E5431C1-2AFF-4E67-81E3-BF22868B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928568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Јединствена провера приступа, контролисано одбијање и тестови који </a:t>
            </a:r>
          </a:p>
        </p:txBody>
      </p:sp>
      <p:sp>
        <p:nvSpPr>
          <p:cNvPr id="10" name="text-deo3">
            <a:extLst xmlns:a="http://schemas.openxmlformats.org/drawingml/2006/main">
              <a:ext uri="{FF2B5EF4-FFF2-40B4-BE49-F238E27FC236}">
                <a16:creationId xmlns:a16="http://schemas.microsoft.com/office/drawing/2014/main" id="{17C85C95-956F-45F0-A755-0B6AC916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38052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потврђују границу дозволе.</a:t>
            </a:r>
          </a:p>
        </p:txBody>
      </p:sp>
      <p:sp>
        <p:nvSpPr>
          <p:cNvPr id="11" name="text-deo3">
            <a:extLst xmlns:a="http://schemas.openxmlformats.org/drawingml/2006/main">
              <a:ext uri="{FF2B5EF4-FFF2-40B4-BE49-F238E27FC236}">
                <a16:creationId xmlns:a16="http://schemas.microsoft.com/office/drawing/2014/main" id="{48C91A1A-30F6-4660-AEC9-940F5EAB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19097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Активан налог</a:t>
            </a:r>
          </a:p>
        </p:txBody>
      </p:sp>
      <p:sp>
        <p:nvSpPr>
          <p:cNvPr id="12" name="text-deo3">
            <a:extLst xmlns:a="http://schemas.openxmlformats.org/drawingml/2006/main">
              <a:ext uri="{FF2B5EF4-FFF2-40B4-BE49-F238E27FC236}">
                <a16:creationId xmlns:a16="http://schemas.microsoft.com/office/drawing/2014/main" id="{D77F777C-79AE-40B9-ADD5-E8DFBC9E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038" y="6244382"/>
            <a:ext cx="125462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Дозвола</a:t>
            </a:r>
          </a:p>
        </p:txBody>
      </p:sp>
      <p:sp>
        <p:nvSpPr>
          <p:cNvPr id="13" name="text-deo3">
            <a:extLst xmlns:a="http://schemas.openxmlformats.org/drawingml/2006/main">
              <a:ext uri="{FF2B5EF4-FFF2-40B4-BE49-F238E27FC236}">
                <a16:creationId xmlns:a16="http://schemas.microsoft.com/office/drawing/2014/main" id="{E8062F97-0BA0-492A-9CFD-51E901AB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109" y="6244382"/>
            <a:ext cx="97437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Опсег</a:t>
            </a:r>
          </a:p>
        </p:txBody>
      </p:sp>
      <p:sp>
        <p:nvSpPr>
          <p:cNvPr id="14" name="text-deo3">
            <a:extLst xmlns:a="http://schemas.openxmlformats.org/drawingml/2006/main">
              <a:ext uri="{FF2B5EF4-FFF2-40B4-BE49-F238E27FC236}">
                <a16:creationId xmlns:a16="http://schemas.microsoft.com/office/drawing/2014/main" id="{13A7C50A-1FB3-44CA-B5FF-F211C22A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3936" y="6244382"/>
            <a:ext cx="137219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Deny тест</a:t>
            </a:r>
          </a:p>
        </p:txBody>
      </p:sp>
      <p:sp>
        <p:nvSpPr>
          <p:cNvPr id="15" name="text-deo3">
            <a:extLst xmlns:a="http://schemas.openxmlformats.org/drawingml/2006/main">
              <a:ext uri="{FF2B5EF4-FFF2-40B4-BE49-F238E27FC236}">
                <a16:creationId xmlns:a16="http://schemas.microsoft.com/office/drawing/2014/main" id="{85B61E24-74F9-4F7C-85DD-921EAC79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3">
            <a:extLst xmlns:a="http://schemas.openxmlformats.org/drawingml/2006/main">
              <a:ext uri="{FF2B5EF4-FFF2-40B4-BE49-F238E27FC236}">
                <a16:creationId xmlns:a16="http://schemas.microsoft.com/office/drawing/2014/main" id="{D19A2C07-8229-4C54-8B9B-C4D3AD1A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771331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245909-9199-454E-A407-0CF8FB4D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7900C-266D-4C1F-8B6A-A2C58F1B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2651671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2AD58-4508-41F4-B3AA-44FAE93B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571" y="3112591"/>
            <a:ext cx="2651820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F28C3-1309-4AB5-BEFA-D384B27B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090" y="3112591"/>
            <a:ext cx="2651671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DC9CD-4301-4834-85C9-6DF68B7B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461" y="3112591"/>
            <a:ext cx="2651820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75EEF-AA43-47B0-AFC6-17927349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6980" y="3112591"/>
            <a:ext cx="2651820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86A94-C7DC-418C-BE6A-79F1D7F1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8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04A39112-8EC4-4DFB-8A78-A153CAD7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6EE49-B721-4273-BD92-5212DB47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9fd749b4f4181"/>
          <a:stretch xmlns:a="http://schemas.openxmlformats.org/drawingml/2006/main"/>
        </p:blipFill>
        <p:spPr>
          <a:xfrm xmlns:a="http://schemas.openxmlformats.org/drawingml/2006/main">
            <a:off x="4061371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1254c672944dc"/>
          <a:stretch xmlns:a="http://schemas.openxmlformats.org/drawingml/2006/main"/>
        </p:blipFill>
        <p:spPr>
          <a:xfrm xmlns:a="http://schemas.openxmlformats.org/drawingml/2006/main">
            <a:off x="7360890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d94fe28c54dd5"/>
          <a:stretch xmlns:a="http://schemas.openxmlformats.org/drawingml/2006/main"/>
        </p:blipFill>
        <p:spPr>
          <a:xfrm xmlns:a="http://schemas.openxmlformats.org/drawingml/2006/main">
            <a:off x="10660261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d4477835e461d"/>
          <a:stretch xmlns:a="http://schemas.openxmlformats.org/drawingml/2006/main"/>
        </p:blipFill>
        <p:spPr>
          <a:xfrm xmlns:a="http://schemas.openxmlformats.org/drawingml/2006/main">
            <a:off x="13959780" y="421927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93E50786-2AA0-4E0F-A40A-C9046351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8423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 · ТОК ЗАХТЕВА</a:t>
            </a:r>
          </a:p>
        </p:txBody>
      </p:sp>
      <p:sp>
        <p:nvSpPr>
          <p:cNvPr id="15" name="heading-source-05">
            <a:extLst xmlns:a="http://schemas.openxmlformats.org/drawingml/2006/main">
              <a:ext uri="{FF2B5EF4-FFF2-40B4-BE49-F238E27FC236}">
                <a16:creationId xmlns:a16="http://schemas.microsoft.com/office/drawing/2014/main" id="{4348AD82-40E2-4DC8-AA39-4809E4FE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0940653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842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Поступак доношења одлуке о приступу</a:t>
            </a:r>
          </a:p>
        </p:txBody>
      </p:sp>
      <p:sp>
        <p:nvSpPr>
          <p:cNvPr id="16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67C7E223-B7BD-4A95-8A74-3DAA6B8D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092591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Сваки корак има дефинисан улаз, исход и разлог одбијања који се може проверити.</a:t>
            </a:r>
          </a:p>
        </p:txBody>
      </p:sp>
      <p:sp>
        <p:nvSpPr>
          <p:cNvPr id="17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EE2EE86D-D268-4FE1-A0E0-3AA8D28A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8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3009F207-184F-4C95-8141-692FF659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22738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Захтев</a:t>
            </a:r>
          </a:p>
        </p:txBody>
      </p:sp>
      <p:sp>
        <p:nvSpPr>
          <p:cNvPr id="19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7DE903C0-3B20-4753-8A01-F066CFEB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 и шта тражи</a:t>
            </a:r>
          </a:p>
        </p:txBody>
      </p:sp>
      <p:sp>
        <p:nvSpPr>
          <p:cNvPr id="20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9D283489-3561-4BB3-9101-4875E33A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1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757051BF-569F-46B3-B124-3CC3A1CC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4108847"/>
            <a:ext cx="17097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Идентитет</a:t>
            </a:r>
          </a:p>
        </p:txBody>
      </p:sp>
      <p:sp>
        <p:nvSpPr>
          <p:cNvPr id="22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C1E2465F-8940-4BD8-985B-E6BAF9AB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4600277"/>
            <a:ext cx="154513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потврђен и </a:t>
            </a:r>
          </a:p>
        </p:txBody>
      </p:sp>
      <p:sp>
        <p:nvSpPr>
          <p:cNvPr id="23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40F8B687-127A-4E93-94AB-0DDD9E08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4920258"/>
            <a:ext cx="12159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активан</a:t>
            </a:r>
          </a:p>
        </p:txBody>
      </p:sp>
      <p:sp>
        <p:nvSpPr>
          <p:cNvPr id="24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21845D92-B7D8-4A48-A15A-18B45A2D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1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5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C4D72227-E419-4153-B049-7E4337A1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15" y="4108847"/>
            <a:ext cx="144794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Дозвола</a:t>
            </a:r>
          </a:p>
        </p:txBody>
      </p:sp>
      <p:sp>
        <p:nvSpPr>
          <p:cNvPr id="26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9FDC3871-D13E-49E9-B4A1-6EF1B96D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15" y="4600277"/>
            <a:ext cx="1768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улога и опсег</a:t>
            </a:r>
          </a:p>
        </p:txBody>
      </p:sp>
      <p:sp>
        <p:nvSpPr>
          <p:cNvPr id="27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F0414CD4-C1D3-48E2-ADFF-4DEFB46F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86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8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8221AC55-0A80-429F-913C-E4B4029D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86" y="4108847"/>
            <a:ext cx="11318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Исход</a:t>
            </a:r>
          </a:p>
        </p:txBody>
      </p:sp>
      <p:sp>
        <p:nvSpPr>
          <p:cNvPr id="29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D15E01D1-C887-4541-B88B-37AD0171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86" y="4600277"/>
            <a:ext cx="232856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дозволи или одбиј</a:t>
            </a:r>
          </a:p>
        </p:txBody>
      </p:sp>
      <p:sp>
        <p:nvSpPr>
          <p:cNvPr id="30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EE1DD79D-A7BC-49F8-80EF-EC04FA96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20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31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823CFA2A-6AA1-4CF1-91B3-9D089B53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205" y="4108847"/>
            <a:ext cx="101218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Audit</a:t>
            </a:r>
          </a:p>
        </p:txBody>
      </p:sp>
      <p:sp>
        <p:nvSpPr>
          <p:cNvPr id="32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E97C7518-DC5E-487A-A245-0175D6C1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205" y="4600277"/>
            <a:ext cx="232350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actor, action, target</a:t>
            </a:r>
          </a:p>
        </p:txBody>
      </p:sp>
      <p:sp>
        <p:nvSpPr>
          <p:cNvPr id="33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84538646-6686-4F7B-A08F-2EA86CEF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11763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ЗАКЉУЧАК</a:t>
            </a:r>
          </a:p>
        </p:txBody>
      </p:sp>
      <p:sp>
        <p:nvSpPr>
          <p:cNvPr id="34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3BEB7B32-7B89-40CC-BC54-96B239F9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17469"/>
            <a:ext cx="1043255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Клијент може да води корисника, али сервер остаје једини ауторитет за одлуку.</a:t>
            </a:r>
          </a:p>
        </p:txBody>
      </p:sp>
      <p:sp>
        <p:nvSpPr>
          <p:cNvPr id="35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8EDDB440-FCA6-4B5F-8774-0C70B95C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90730"/>
            <a:ext cx="1298138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Одбијање треба да буде контролисано: довољно јасно клијенту, без откривања заштићених детаља.</a:t>
            </a:r>
          </a:p>
        </p:txBody>
      </p:sp>
      <p:sp>
        <p:nvSpPr>
          <p:cNvPr id="36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0F3BFCFC-5AE5-4A11-BE43-62F2A351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7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10E513B0-01C7-4633-8B7F-17A20331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9167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4DD0CE-657D-4BD3-BC2D-75DBFA40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382C6-6B0E-4AF5-A64A-7CE155DB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11049000" cy="3996035"/>
          </a:xfrm>
          <a:prstGeom xmlns:a="http://schemas.openxmlformats.org/drawingml/2006/main" prst="roundRect">
            <a:avLst>
              <a:gd name="adj" fmla="val 381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B1C71-F2BF-43BE-9A1E-5B862D3E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434530"/>
            <a:ext cx="4495800" cy="1896963"/>
          </a:xfrm>
          <a:prstGeom xmlns:a="http://schemas.openxmlformats.org/drawingml/2006/main" prst="roundRect">
            <a:avLst>
              <a:gd name="adj" fmla="val 602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4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97DAD7E7-8925-48C9-9D54-BF43562F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434530"/>
            <a:ext cx="114300" cy="1896963"/>
          </a:xfrm>
          <a:custGeom xmlns:a="http://schemas.openxmlformats.org/drawingml/2006/main">
            <a:pathLst>
              <a:path w="114300" h="1896963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782663"/>
                </a:lnTo>
                <a:lnTo>
                  <a:pt x="61" y="1786403"/>
                </a:lnTo>
                <a:lnTo>
                  <a:pt x="245" y="1790139"/>
                </a:lnTo>
                <a:lnTo>
                  <a:pt x="550" y="1793867"/>
                </a:lnTo>
                <a:lnTo>
                  <a:pt x="978" y="1797582"/>
                </a:lnTo>
                <a:lnTo>
                  <a:pt x="1527" y="1801282"/>
                </a:lnTo>
                <a:lnTo>
                  <a:pt x="2196" y="1804962"/>
                </a:lnTo>
                <a:lnTo>
                  <a:pt x="2986" y="1808618"/>
                </a:lnTo>
                <a:lnTo>
                  <a:pt x="3895" y="1812246"/>
                </a:lnTo>
                <a:lnTo>
                  <a:pt x="4922" y="1815843"/>
                </a:lnTo>
                <a:lnTo>
                  <a:pt x="6066" y="1819404"/>
                </a:lnTo>
                <a:lnTo>
                  <a:pt x="7326" y="1822925"/>
                </a:lnTo>
                <a:lnTo>
                  <a:pt x="8701" y="1826404"/>
                </a:lnTo>
                <a:lnTo>
                  <a:pt x="10188" y="1829836"/>
                </a:lnTo>
                <a:lnTo>
                  <a:pt x="11787" y="1833217"/>
                </a:lnTo>
                <a:lnTo>
                  <a:pt x="13496" y="1836544"/>
                </a:lnTo>
                <a:lnTo>
                  <a:pt x="15313" y="1839813"/>
                </a:lnTo>
                <a:lnTo>
                  <a:pt x="17236" y="1843021"/>
                </a:lnTo>
                <a:lnTo>
                  <a:pt x="19263" y="1846165"/>
                </a:lnTo>
                <a:lnTo>
                  <a:pt x="21392" y="1849240"/>
                </a:lnTo>
                <a:lnTo>
                  <a:pt x="23620" y="1852245"/>
                </a:lnTo>
                <a:lnTo>
                  <a:pt x="25945" y="1855174"/>
                </a:lnTo>
                <a:lnTo>
                  <a:pt x="28365" y="1858027"/>
                </a:lnTo>
                <a:lnTo>
                  <a:pt x="30877" y="1860798"/>
                </a:lnTo>
                <a:lnTo>
                  <a:pt x="33478" y="1863486"/>
                </a:lnTo>
                <a:lnTo>
                  <a:pt x="36165" y="1866087"/>
                </a:lnTo>
                <a:lnTo>
                  <a:pt x="38937" y="1868599"/>
                </a:lnTo>
                <a:lnTo>
                  <a:pt x="41789" y="1871018"/>
                </a:lnTo>
                <a:lnTo>
                  <a:pt x="44719" y="1873344"/>
                </a:lnTo>
                <a:lnTo>
                  <a:pt x="47723" y="1875572"/>
                </a:lnTo>
                <a:lnTo>
                  <a:pt x="50798" y="1877700"/>
                </a:lnTo>
                <a:lnTo>
                  <a:pt x="53942" y="1879727"/>
                </a:lnTo>
                <a:lnTo>
                  <a:pt x="57150" y="1881650"/>
                </a:lnTo>
                <a:lnTo>
                  <a:pt x="60419" y="1883467"/>
                </a:lnTo>
                <a:lnTo>
                  <a:pt x="63746" y="1885176"/>
                </a:lnTo>
                <a:lnTo>
                  <a:pt x="67128" y="1886775"/>
                </a:lnTo>
                <a:lnTo>
                  <a:pt x="70559" y="1888263"/>
                </a:lnTo>
                <a:lnTo>
                  <a:pt x="74038" y="1889637"/>
                </a:lnTo>
                <a:lnTo>
                  <a:pt x="77559" y="1890897"/>
                </a:lnTo>
                <a:lnTo>
                  <a:pt x="81120" y="1892042"/>
                </a:lnTo>
                <a:lnTo>
                  <a:pt x="84717" y="1893069"/>
                </a:lnTo>
                <a:lnTo>
                  <a:pt x="88345" y="1893977"/>
                </a:lnTo>
                <a:lnTo>
                  <a:pt x="92001" y="1894767"/>
                </a:lnTo>
                <a:lnTo>
                  <a:pt x="95681" y="1895437"/>
                </a:lnTo>
                <a:lnTo>
                  <a:pt x="99381" y="1895985"/>
                </a:lnTo>
                <a:lnTo>
                  <a:pt x="103097" y="1896413"/>
                </a:lnTo>
                <a:lnTo>
                  <a:pt x="106824" y="1896719"/>
                </a:lnTo>
                <a:lnTo>
                  <a:pt x="110560" y="1896902"/>
                </a:lnTo>
                <a:lnTo>
                  <a:pt x="114300" y="1896963"/>
                </a:lnTo>
                <a:lnTo>
                  <a:pt x="114300" y="1896963"/>
                </a:lnTo>
                <a:lnTo>
                  <a:pt x="112430" y="1896902"/>
                </a:lnTo>
                <a:lnTo>
                  <a:pt x="110562" y="1896719"/>
                </a:lnTo>
                <a:lnTo>
                  <a:pt x="108698" y="1896413"/>
                </a:lnTo>
                <a:lnTo>
                  <a:pt x="106840" y="1895985"/>
                </a:lnTo>
                <a:lnTo>
                  <a:pt x="104991" y="1895437"/>
                </a:lnTo>
                <a:lnTo>
                  <a:pt x="103151" y="1894767"/>
                </a:lnTo>
                <a:lnTo>
                  <a:pt x="101323" y="1893977"/>
                </a:lnTo>
                <a:lnTo>
                  <a:pt x="99508" y="1893069"/>
                </a:lnTo>
                <a:lnTo>
                  <a:pt x="97710" y="1892042"/>
                </a:lnTo>
                <a:lnTo>
                  <a:pt x="95930" y="1890897"/>
                </a:lnTo>
                <a:lnTo>
                  <a:pt x="94169" y="1889637"/>
                </a:lnTo>
                <a:lnTo>
                  <a:pt x="92430" y="1888263"/>
                </a:lnTo>
                <a:lnTo>
                  <a:pt x="90714" y="1886775"/>
                </a:lnTo>
                <a:lnTo>
                  <a:pt x="89023" y="1885176"/>
                </a:lnTo>
                <a:lnTo>
                  <a:pt x="87360" y="1883467"/>
                </a:lnTo>
                <a:lnTo>
                  <a:pt x="85725" y="1881650"/>
                </a:lnTo>
                <a:lnTo>
                  <a:pt x="84121" y="1879727"/>
                </a:lnTo>
                <a:lnTo>
                  <a:pt x="82549" y="1877700"/>
                </a:lnTo>
                <a:lnTo>
                  <a:pt x="81011" y="1875572"/>
                </a:lnTo>
                <a:lnTo>
                  <a:pt x="79509" y="1873344"/>
                </a:lnTo>
                <a:lnTo>
                  <a:pt x="78044" y="1871018"/>
                </a:lnTo>
                <a:lnTo>
                  <a:pt x="76618" y="1868599"/>
                </a:lnTo>
                <a:lnTo>
                  <a:pt x="75233" y="1866087"/>
                </a:lnTo>
                <a:lnTo>
                  <a:pt x="73889" y="1863486"/>
                </a:lnTo>
                <a:lnTo>
                  <a:pt x="72588" y="1860798"/>
                </a:lnTo>
                <a:lnTo>
                  <a:pt x="71332" y="1858027"/>
                </a:lnTo>
                <a:lnTo>
                  <a:pt x="70122" y="1855174"/>
                </a:lnTo>
                <a:lnTo>
                  <a:pt x="68960" y="1852245"/>
                </a:lnTo>
                <a:lnTo>
                  <a:pt x="67846" y="1849240"/>
                </a:lnTo>
                <a:lnTo>
                  <a:pt x="66782" y="1846165"/>
                </a:lnTo>
                <a:lnTo>
                  <a:pt x="65768" y="1843021"/>
                </a:lnTo>
                <a:lnTo>
                  <a:pt x="64807" y="1839813"/>
                </a:lnTo>
                <a:lnTo>
                  <a:pt x="63898" y="1836544"/>
                </a:lnTo>
                <a:lnTo>
                  <a:pt x="63044" y="1833217"/>
                </a:lnTo>
                <a:lnTo>
                  <a:pt x="62244" y="1829836"/>
                </a:lnTo>
                <a:lnTo>
                  <a:pt x="61500" y="1826404"/>
                </a:lnTo>
                <a:lnTo>
                  <a:pt x="60813" y="1822925"/>
                </a:lnTo>
                <a:lnTo>
                  <a:pt x="60183" y="1819404"/>
                </a:lnTo>
                <a:lnTo>
                  <a:pt x="59611" y="1815843"/>
                </a:lnTo>
                <a:lnTo>
                  <a:pt x="59097" y="1812246"/>
                </a:lnTo>
                <a:lnTo>
                  <a:pt x="58643" y="1808618"/>
                </a:lnTo>
                <a:lnTo>
                  <a:pt x="58248" y="1804962"/>
                </a:lnTo>
                <a:lnTo>
                  <a:pt x="57913" y="1801282"/>
                </a:lnTo>
                <a:lnTo>
                  <a:pt x="57639" y="1797582"/>
                </a:lnTo>
                <a:lnTo>
                  <a:pt x="57425" y="1793867"/>
                </a:lnTo>
                <a:lnTo>
                  <a:pt x="57272" y="1790139"/>
                </a:lnTo>
                <a:lnTo>
                  <a:pt x="57181" y="1786403"/>
                </a:lnTo>
                <a:lnTo>
                  <a:pt x="57150" y="1782663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92808-4FCA-4520-972C-2262EF59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560094"/>
            <a:ext cx="4495800" cy="1896963"/>
          </a:xfrm>
          <a:prstGeom xmlns:a="http://schemas.openxmlformats.org/drawingml/2006/main" prst="roundRect">
            <a:avLst>
              <a:gd name="adj" fmla="val 602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1B86E953-1E59-4379-A87A-821A8E8F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560094"/>
            <a:ext cx="114300" cy="1896963"/>
          </a:xfrm>
          <a:custGeom xmlns:a="http://schemas.openxmlformats.org/drawingml/2006/main">
            <a:pathLst>
              <a:path w="114300" h="1896963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782663"/>
                </a:lnTo>
                <a:lnTo>
                  <a:pt x="61" y="1786403"/>
                </a:lnTo>
                <a:lnTo>
                  <a:pt x="245" y="1790139"/>
                </a:lnTo>
                <a:lnTo>
                  <a:pt x="550" y="1793867"/>
                </a:lnTo>
                <a:lnTo>
                  <a:pt x="978" y="1797582"/>
                </a:lnTo>
                <a:lnTo>
                  <a:pt x="1527" y="1801282"/>
                </a:lnTo>
                <a:lnTo>
                  <a:pt x="2196" y="1804962"/>
                </a:lnTo>
                <a:lnTo>
                  <a:pt x="2986" y="1808618"/>
                </a:lnTo>
                <a:lnTo>
                  <a:pt x="3895" y="1812246"/>
                </a:lnTo>
                <a:lnTo>
                  <a:pt x="4922" y="1815843"/>
                </a:lnTo>
                <a:lnTo>
                  <a:pt x="6066" y="1819404"/>
                </a:lnTo>
                <a:lnTo>
                  <a:pt x="7326" y="1822925"/>
                </a:lnTo>
                <a:lnTo>
                  <a:pt x="8701" y="1826404"/>
                </a:lnTo>
                <a:lnTo>
                  <a:pt x="10188" y="1829836"/>
                </a:lnTo>
                <a:lnTo>
                  <a:pt x="11787" y="1833217"/>
                </a:lnTo>
                <a:lnTo>
                  <a:pt x="13496" y="1836544"/>
                </a:lnTo>
                <a:lnTo>
                  <a:pt x="15313" y="1839813"/>
                </a:lnTo>
                <a:lnTo>
                  <a:pt x="17236" y="1843021"/>
                </a:lnTo>
                <a:lnTo>
                  <a:pt x="19263" y="1846165"/>
                </a:lnTo>
                <a:lnTo>
                  <a:pt x="21392" y="1849240"/>
                </a:lnTo>
                <a:lnTo>
                  <a:pt x="23620" y="1852245"/>
                </a:lnTo>
                <a:lnTo>
                  <a:pt x="25945" y="1855174"/>
                </a:lnTo>
                <a:lnTo>
                  <a:pt x="28365" y="1858027"/>
                </a:lnTo>
                <a:lnTo>
                  <a:pt x="30877" y="1860798"/>
                </a:lnTo>
                <a:lnTo>
                  <a:pt x="33478" y="1863486"/>
                </a:lnTo>
                <a:lnTo>
                  <a:pt x="36165" y="1866087"/>
                </a:lnTo>
                <a:lnTo>
                  <a:pt x="38937" y="1868599"/>
                </a:lnTo>
                <a:lnTo>
                  <a:pt x="41789" y="1871018"/>
                </a:lnTo>
                <a:lnTo>
                  <a:pt x="44719" y="1873344"/>
                </a:lnTo>
                <a:lnTo>
                  <a:pt x="47723" y="1875572"/>
                </a:lnTo>
                <a:lnTo>
                  <a:pt x="50798" y="1877700"/>
                </a:lnTo>
                <a:lnTo>
                  <a:pt x="53942" y="1879727"/>
                </a:lnTo>
                <a:lnTo>
                  <a:pt x="57150" y="1881650"/>
                </a:lnTo>
                <a:lnTo>
                  <a:pt x="60419" y="1883467"/>
                </a:lnTo>
                <a:lnTo>
                  <a:pt x="63746" y="1885176"/>
                </a:lnTo>
                <a:lnTo>
                  <a:pt x="67128" y="1886775"/>
                </a:lnTo>
                <a:lnTo>
                  <a:pt x="70559" y="1888263"/>
                </a:lnTo>
                <a:lnTo>
                  <a:pt x="74038" y="1889637"/>
                </a:lnTo>
                <a:lnTo>
                  <a:pt x="77559" y="1890897"/>
                </a:lnTo>
                <a:lnTo>
                  <a:pt x="81120" y="1892042"/>
                </a:lnTo>
                <a:lnTo>
                  <a:pt x="84717" y="1893069"/>
                </a:lnTo>
                <a:lnTo>
                  <a:pt x="88345" y="1893977"/>
                </a:lnTo>
                <a:lnTo>
                  <a:pt x="92001" y="1894767"/>
                </a:lnTo>
                <a:lnTo>
                  <a:pt x="95681" y="1895437"/>
                </a:lnTo>
                <a:lnTo>
                  <a:pt x="99381" y="1895985"/>
                </a:lnTo>
                <a:lnTo>
                  <a:pt x="103097" y="1896413"/>
                </a:lnTo>
                <a:lnTo>
                  <a:pt x="106824" y="1896719"/>
                </a:lnTo>
                <a:lnTo>
                  <a:pt x="110560" y="1896902"/>
                </a:lnTo>
                <a:lnTo>
                  <a:pt x="114300" y="1896963"/>
                </a:lnTo>
                <a:lnTo>
                  <a:pt x="114300" y="1896963"/>
                </a:lnTo>
                <a:lnTo>
                  <a:pt x="112430" y="1896902"/>
                </a:lnTo>
                <a:lnTo>
                  <a:pt x="110562" y="1896719"/>
                </a:lnTo>
                <a:lnTo>
                  <a:pt x="108698" y="1896413"/>
                </a:lnTo>
                <a:lnTo>
                  <a:pt x="106840" y="1895985"/>
                </a:lnTo>
                <a:lnTo>
                  <a:pt x="104991" y="1895437"/>
                </a:lnTo>
                <a:lnTo>
                  <a:pt x="103151" y="1894767"/>
                </a:lnTo>
                <a:lnTo>
                  <a:pt x="101323" y="1893977"/>
                </a:lnTo>
                <a:lnTo>
                  <a:pt x="99508" y="1893069"/>
                </a:lnTo>
                <a:lnTo>
                  <a:pt x="97710" y="1892042"/>
                </a:lnTo>
                <a:lnTo>
                  <a:pt x="95930" y="1890897"/>
                </a:lnTo>
                <a:lnTo>
                  <a:pt x="94169" y="1889637"/>
                </a:lnTo>
                <a:lnTo>
                  <a:pt x="92430" y="1888263"/>
                </a:lnTo>
                <a:lnTo>
                  <a:pt x="90714" y="1886775"/>
                </a:lnTo>
                <a:lnTo>
                  <a:pt x="89023" y="1885176"/>
                </a:lnTo>
                <a:lnTo>
                  <a:pt x="87360" y="1883467"/>
                </a:lnTo>
                <a:lnTo>
                  <a:pt x="85725" y="1881650"/>
                </a:lnTo>
                <a:lnTo>
                  <a:pt x="84121" y="1879727"/>
                </a:lnTo>
                <a:lnTo>
                  <a:pt x="82549" y="1877700"/>
                </a:lnTo>
                <a:lnTo>
                  <a:pt x="81011" y="1875572"/>
                </a:lnTo>
                <a:lnTo>
                  <a:pt x="79509" y="1873344"/>
                </a:lnTo>
                <a:lnTo>
                  <a:pt x="78044" y="1871018"/>
                </a:lnTo>
                <a:lnTo>
                  <a:pt x="76618" y="1868599"/>
                </a:lnTo>
                <a:lnTo>
                  <a:pt x="75233" y="1866087"/>
                </a:lnTo>
                <a:lnTo>
                  <a:pt x="73889" y="1863486"/>
                </a:lnTo>
                <a:lnTo>
                  <a:pt x="72588" y="1860798"/>
                </a:lnTo>
                <a:lnTo>
                  <a:pt x="71332" y="1858027"/>
                </a:lnTo>
                <a:lnTo>
                  <a:pt x="70122" y="1855174"/>
                </a:lnTo>
                <a:lnTo>
                  <a:pt x="68960" y="1852245"/>
                </a:lnTo>
                <a:lnTo>
                  <a:pt x="67846" y="1849240"/>
                </a:lnTo>
                <a:lnTo>
                  <a:pt x="66782" y="1846165"/>
                </a:lnTo>
                <a:lnTo>
                  <a:pt x="65768" y="1843021"/>
                </a:lnTo>
                <a:lnTo>
                  <a:pt x="64807" y="1839813"/>
                </a:lnTo>
                <a:lnTo>
                  <a:pt x="63898" y="1836544"/>
                </a:lnTo>
                <a:lnTo>
                  <a:pt x="63044" y="1833217"/>
                </a:lnTo>
                <a:lnTo>
                  <a:pt x="62244" y="1829836"/>
                </a:lnTo>
                <a:lnTo>
                  <a:pt x="61500" y="1826404"/>
                </a:lnTo>
                <a:lnTo>
                  <a:pt x="60813" y="1822925"/>
                </a:lnTo>
                <a:lnTo>
                  <a:pt x="60183" y="1819404"/>
                </a:lnTo>
                <a:lnTo>
                  <a:pt x="59611" y="1815843"/>
                </a:lnTo>
                <a:lnTo>
                  <a:pt x="59097" y="1812246"/>
                </a:lnTo>
                <a:lnTo>
                  <a:pt x="58643" y="1808618"/>
                </a:lnTo>
                <a:lnTo>
                  <a:pt x="58248" y="1804962"/>
                </a:lnTo>
                <a:lnTo>
                  <a:pt x="57913" y="1801282"/>
                </a:lnTo>
                <a:lnTo>
                  <a:pt x="57639" y="1797582"/>
                </a:lnTo>
                <a:lnTo>
                  <a:pt x="57425" y="1793867"/>
                </a:lnTo>
                <a:lnTo>
                  <a:pt x="57272" y="1790139"/>
                </a:lnTo>
                <a:lnTo>
                  <a:pt x="57181" y="1786403"/>
                </a:lnTo>
                <a:lnTo>
                  <a:pt x="57150" y="1782663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B7428-628A-4D30-A310-04EF768A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6974E97D-8AE8-4522-AC54-B8755C38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5299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 · C# ПРИМЕР</a:t>
            </a:r>
          </a:p>
        </p:txBody>
      </p:sp>
      <p:sp>
        <p:nvSpPr>
          <p:cNvPr id="9" name="heading-source-09">
            <a:extLst xmlns:a="http://schemas.openxmlformats.org/drawingml/2006/main">
              <a:ext uri="{FF2B5EF4-FFF2-40B4-BE49-F238E27FC236}">
                <a16:creationId xmlns:a16="http://schemas.microsoft.com/office/drawing/2014/main" id="{5CF30B01-07C8-4024-9883-4894C538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19060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Серверска провера приступа</a:t>
            </a:r>
          </a:p>
        </p:txBody>
      </p:sp>
      <p:sp>
        <p:nvSpPr>
          <p:cNvPr id="10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3D739AAE-7192-4D08-8045-DCB66ECC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34555"/>
            <a:ext cx="3634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илустративни пример</a:t>
            </a:r>
          </a:p>
        </p:txBody>
      </p:sp>
      <p:sp>
        <p:nvSpPr>
          <p:cNvPr id="11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E5EC3C66-2739-432E-B327-01FFD116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3073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2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D96FE90D-1D47-4634-92BB-9C89B10C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0736"/>
            <a:ext cx="59665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AccessDecision Decide(Actor actor,</a:t>
            </a:r>
          </a:p>
        </p:txBody>
      </p:sp>
      <p:sp>
        <p:nvSpPr>
          <p:cNvPr id="13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803EC485-1CDE-488F-9A1E-289EB6C3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5071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4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968B27A4-9093-444C-9CA5-0585353A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50716"/>
            <a:ext cx="569237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string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permission, Resource target,</a:t>
            </a:r>
          </a:p>
        </p:txBody>
      </p:sp>
      <p:sp>
        <p:nvSpPr>
          <p:cNvPr id="15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FCBDCE07-93AF-4AD4-AE38-6C741F07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706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6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2A2FC084-F03F-4632-82EA-15CF089E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70697"/>
            <a:ext cx="52807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IEnumerable&lt;Role&gt; assignedRoles)</a:t>
            </a:r>
          </a:p>
        </p:txBody>
      </p:sp>
      <p:sp>
        <p:nvSpPr>
          <p:cNvPr id="17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BE704886-3C77-4547-9CAD-E93A6A38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906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8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ADE92622-7273-470E-967A-DC3B372C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906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9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F78EB181-2CF4-42DB-A39B-13489AD5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1065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0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ABE066CE-AC79-4626-8C3D-7A918705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10658"/>
            <a:ext cx="45950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(!actor.IsAuthenticated)</a:t>
            </a:r>
          </a:p>
        </p:txBody>
      </p:sp>
      <p:sp>
        <p:nvSpPr>
          <p:cNvPr id="21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6E8C696C-6BAD-4F3C-826B-C4FC8569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306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2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2B8D4ADC-D871-4269-9B1D-F3CBAD90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30638"/>
            <a:ext cx="59668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Deny(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"not_authenticated"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);</a:t>
            </a:r>
          </a:p>
        </p:txBody>
      </p:sp>
      <p:sp>
        <p:nvSpPr>
          <p:cNvPr id="23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DD83BDE6-5487-4AAD-ABBF-C61F3B92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506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4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6C672255-B91C-40F6-95A9-A48D1D5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50619"/>
            <a:ext cx="363497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(!actor.IsActive)</a:t>
            </a:r>
          </a:p>
        </p:txBody>
      </p:sp>
      <p:sp>
        <p:nvSpPr>
          <p:cNvPr id="25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0158AFB3-FD21-43C0-970C-BA6A5965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705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6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92AD0608-A989-44FD-9DA0-B549912C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70599"/>
            <a:ext cx="59668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Deny(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"identity_inactive"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);</a:t>
            </a:r>
          </a:p>
        </p:txBody>
      </p:sp>
      <p:sp>
        <p:nvSpPr>
          <p:cNvPr id="27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C7495335-9FA0-45C3-AE86-63062D2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59058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8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DF19799C-D42B-4EEF-9ECA-9EBB43B8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90580"/>
            <a:ext cx="500657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(!IsInScope(actor, target))</a:t>
            </a:r>
          </a:p>
        </p:txBody>
      </p:sp>
      <p:sp>
        <p:nvSpPr>
          <p:cNvPr id="29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3E73576C-B758-4477-BDDF-585AB4F3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91056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30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B3D7604A-F537-4532-B68B-A5F3DAED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10560"/>
            <a:ext cx="52810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Deny(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"out_of_scope"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);</a:t>
            </a:r>
          </a:p>
        </p:txBody>
      </p:sp>
      <p:sp>
        <p:nvSpPr>
          <p:cNvPr id="31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5F80138A-C53F-407E-A1DE-6FECFC8A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25030"/>
            <a:ext cx="2263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Статус и опсег</a:t>
            </a:r>
          </a:p>
        </p:txBody>
      </p:sp>
      <p:sp>
        <p:nvSpPr>
          <p:cNvPr id="32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15049BCA-BEB3-43F7-9206-AF8B0706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030736"/>
            <a:ext cx="432420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Пријава даје идентитет. Сервер </a:t>
            </a:r>
          </a:p>
        </p:txBody>
      </p:sp>
      <p:sp>
        <p:nvSpPr>
          <p:cNvPr id="33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8AA010AC-8A9D-4493-9BBC-27FB8629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403997"/>
            <a:ext cx="387161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поново проверава актуелни </a:t>
            </a:r>
          </a:p>
        </p:txBody>
      </p:sp>
      <p:sp>
        <p:nvSpPr>
          <p:cNvPr id="34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5504D8F9-9FE3-4B36-91C3-C8A6C7CA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777258"/>
            <a:ext cx="324921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статус и циљни ресурс.</a:t>
            </a:r>
          </a:p>
        </p:txBody>
      </p:sp>
      <p:sp>
        <p:nvSpPr>
          <p:cNvPr id="35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B6C8BF83-F880-4B6E-A70E-F43872C2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750594"/>
            <a:ext cx="28118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Директан API позив</a:t>
            </a:r>
          </a:p>
        </p:txBody>
      </p:sp>
      <p:sp>
        <p:nvSpPr>
          <p:cNvPr id="36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76BDF487-9405-4DFF-8F93-D5028273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156299"/>
            <a:ext cx="31892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Исти захтев мора бити </a:t>
            </a:r>
          </a:p>
        </p:txBody>
      </p:sp>
      <p:sp>
        <p:nvSpPr>
          <p:cNvPr id="37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132F4689-30A6-46EB-9A05-CD638421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29560"/>
            <a:ext cx="419114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безбедан и када се API позове </a:t>
            </a:r>
          </a:p>
        </p:txBody>
      </p:sp>
      <p:sp>
        <p:nvSpPr>
          <p:cNvPr id="38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6063F22A-1D74-4C56-B836-4F3E2185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902821"/>
            <a:ext cx="161136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директно.</a:t>
            </a:r>
          </a:p>
        </p:txBody>
      </p:sp>
      <p:sp>
        <p:nvSpPr>
          <p:cNvPr id="39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A3C1D20D-4CE1-4A6A-889F-A283A890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40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25CD4B3C-68BD-4545-86D1-8C1600B3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608075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EDCB51-D590-442C-8C62-252BB20A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243B4-E900-4ED3-9869-7E7A5440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11049000" cy="3036094"/>
          </a:xfrm>
          <a:prstGeom xmlns:a="http://schemas.openxmlformats.org/drawingml/2006/main" prst="roundRect">
            <a:avLst>
              <a:gd name="adj" fmla="val 502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1EDC3-16B9-4C43-962C-412DD5BB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434530"/>
            <a:ext cx="4495800" cy="1896963"/>
          </a:xfrm>
          <a:prstGeom xmlns:a="http://schemas.openxmlformats.org/drawingml/2006/main" prst="roundRect">
            <a:avLst>
              <a:gd name="adj" fmla="val 602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4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C515E699-32B2-4122-B0C6-1B6BC936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434530"/>
            <a:ext cx="114300" cy="1896963"/>
          </a:xfrm>
          <a:custGeom xmlns:a="http://schemas.openxmlformats.org/drawingml/2006/main">
            <a:pathLst>
              <a:path w="114300" h="1896963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782663"/>
                </a:lnTo>
                <a:lnTo>
                  <a:pt x="61" y="1786403"/>
                </a:lnTo>
                <a:lnTo>
                  <a:pt x="245" y="1790139"/>
                </a:lnTo>
                <a:lnTo>
                  <a:pt x="550" y="1793867"/>
                </a:lnTo>
                <a:lnTo>
                  <a:pt x="978" y="1797582"/>
                </a:lnTo>
                <a:lnTo>
                  <a:pt x="1527" y="1801282"/>
                </a:lnTo>
                <a:lnTo>
                  <a:pt x="2196" y="1804962"/>
                </a:lnTo>
                <a:lnTo>
                  <a:pt x="2986" y="1808618"/>
                </a:lnTo>
                <a:lnTo>
                  <a:pt x="3895" y="1812246"/>
                </a:lnTo>
                <a:lnTo>
                  <a:pt x="4922" y="1815843"/>
                </a:lnTo>
                <a:lnTo>
                  <a:pt x="6066" y="1819404"/>
                </a:lnTo>
                <a:lnTo>
                  <a:pt x="7326" y="1822925"/>
                </a:lnTo>
                <a:lnTo>
                  <a:pt x="8701" y="1826404"/>
                </a:lnTo>
                <a:lnTo>
                  <a:pt x="10188" y="1829836"/>
                </a:lnTo>
                <a:lnTo>
                  <a:pt x="11787" y="1833217"/>
                </a:lnTo>
                <a:lnTo>
                  <a:pt x="13496" y="1836544"/>
                </a:lnTo>
                <a:lnTo>
                  <a:pt x="15313" y="1839813"/>
                </a:lnTo>
                <a:lnTo>
                  <a:pt x="17236" y="1843021"/>
                </a:lnTo>
                <a:lnTo>
                  <a:pt x="19263" y="1846165"/>
                </a:lnTo>
                <a:lnTo>
                  <a:pt x="21392" y="1849240"/>
                </a:lnTo>
                <a:lnTo>
                  <a:pt x="23620" y="1852245"/>
                </a:lnTo>
                <a:lnTo>
                  <a:pt x="25945" y="1855174"/>
                </a:lnTo>
                <a:lnTo>
                  <a:pt x="28365" y="1858027"/>
                </a:lnTo>
                <a:lnTo>
                  <a:pt x="30877" y="1860798"/>
                </a:lnTo>
                <a:lnTo>
                  <a:pt x="33478" y="1863486"/>
                </a:lnTo>
                <a:lnTo>
                  <a:pt x="36165" y="1866087"/>
                </a:lnTo>
                <a:lnTo>
                  <a:pt x="38937" y="1868599"/>
                </a:lnTo>
                <a:lnTo>
                  <a:pt x="41789" y="1871018"/>
                </a:lnTo>
                <a:lnTo>
                  <a:pt x="44719" y="1873344"/>
                </a:lnTo>
                <a:lnTo>
                  <a:pt x="47723" y="1875572"/>
                </a:lnTo>
                <a:lnTo>
                  <a:pt x="50798" y="1877700"/>
                </a:lnTo>
                <a:lnTo>
                  <a:pt x="53942" y="1879727"/>
                </a:lnTo>
                <a:lnTo>
                  <a:pt x="57150" y="1881650"/>
                </a:lnTo>
                <a:lnTo>
                  <a:pt x="60419" y="1883467"/>
                </a:lnTo>
                <a:lnTo>
                  <a:pt x="63746" y="1885176"/>
                </a:lnTo>
                <a:lnTo>
                  <a:pt x="67128" y="1886775"/>
                </a:lnTo>
                <a:lnTo>
                  <a:pt x="70559" y="1888263"/>
                </a:lnTo>
                <a:lnTo>
                  <a:pt x="74038" y="1889637"/>
                </a:lnTo>
                <a:lnTo>
                  <a:pt x="77559" y="1890897"/>
                </a:lnTo>
                <a:lnTo>
                  <a:pt x="81120" y="1892042"/>
                </a:lnTo>
                <a:lnTo>
                  <a:pt x="84717" y="1893069"/>
                </a:lnTo>
                <a:lnTo>
                  <a:pt x="88345" y="1893977"/>
                </a:lnTo>
                <a:lnTo>
                  <a:pt x="92001" y="1894767"/>
                </a:lnTo>
                <a:lnTo>
                  <a:pt x="95681" y="1895437"/>
                </a:lnTo>
                <a:lnTo>
                  <a:pt x="99381" y="1895985"/>
                </a:lnTo>
                <a:lnTo>
                  <a:pt x="103097" y="1896413"/>
                </a:lnTo>
                <a:lnTo>
                  <a:pt x="106824" y="1896719"/>
                </a:lnTo>
                <a:lnTo>
                  <a:pt x="110560" y="1896902"/>
                </a:lnTo>
                <a:lnTo>
                  <a:pt x="114300" y="1896963"/>
                </a:lnTo>
                <a:lnTo>
                  <a:pt x="114300" y="1896963"/>
                </a:lnTo>
                <a:lnTo>
                  <a:pt x="112430" y="1896902"/>
                </a:lnTo>
                <a:lnTo>
                  <a:pt x="110562" y="1896719"/>
                </a:lnTo>
                <a:lnTo>
                  <a:pt x="108698" y="1896413"/>
                </a:lnTo>
                <a:lnTo>
                  <a:pt x="106840" y="1895985"/>
                </a:lnTo>
                <a:lnTo>
                  <a:pt x="104991" y="1895437"/>
                </a:lnTo>
                <a:lnTo>
                  <a:pt x="103151" y="1894767"/>
                </a:lnTo>
                <a:lnTo>
                  <a:pt x="101323" y="1893977"/>
                </a:lnTo>
                <a:lnTo>
                  <a:pt x="99508" y="1893069"/>
                </a:lnTo>
                <a:lnTo>
                  <a:pt x="97710" y="1892042"/>
                </a:lnTo>
                <a:lnTo>
                  <a:pt x="95930" y="1890897"/>
                </a:lnTo>
                <a:lnTo>
                  <a:pt x="94169" y="1889637"/>
                </a:lnTo>
                <a:lnTo>
                  <a:pt x="92430" y="1888263"/>
                </a:lnTo>
                <a:lnTo>
                  <a:pt x="90714" y="1886775"/>
                </a:lnTo>
                <a:lnTo>
                  <a:pt x="89023" y="1885176"/>
                </a:lnTo>
                <a:lnTo>
                  <a:pt x="87360" y="1883467"/>
                </a:lnTo>
                <a:lnTo>
                  <a:pt x="85725" y="1881650"/>
                </a:lnTo>
                <a:lnTo>
                  <a:pt x="84121" y="1879727"/>
                </a:lnTo>
                <a:lnTo>
                  <a:pt x="82549" y="1877700"/>
                </a:lnTo>
                <a:lnTo>
                  <a:pt x="81011" y="1875572"/>
                </a:lnTo>
                <a:lnTo>
                  <a:pt x="79509" y="1873344"/>
                </a:lnTo>
                <a:lnTo>
                  <a:pt x="78044" y="1871018"/>
                </a:lnTo>
                <a:lnTo>
                  <a:pt x="76618" y="1868599"/>
                </a:lnTo>
                <a:lnTo>
                  <a:pt x="75233" y="1866087"/>
                </a:lnTo>
                <a:lnTo>
                  <a:pt x="73889" y="1863486"/>
                </a:lnTo>
                <a:lnTo>
                  <a:pt x="72588" y="1860798"/>
                </a:lnTo>
                <a:lnTo>
                  <a:pt x="71332" y="1858027"/>
                </a:lnTo>
                <a:lnTo>
                  <a:pt x="70122" y="1855174"/>
                </a:lnTo>
                <a:lnTo>
                  <a:pt x="68960" y="1852245"/>
                </a:lnTo>
                <a:lnTo>
                  <a:pt x="67846" y="1849240"/>
                </a:lnTo>
                <a:lnTo>
                  <a:pt x="66782" y="1846165"/>
                </a:lnTo>
                <a:lnTo>
                  <a:pt x="65768" y="1843021"/>
                </a:lnTo>
                <a:lnTo>
                  <a:pt x="64807" y="1839813"/>
                </a:lnTo>
                <a:lnTo>
                  <a:pt x="63898" y="1836544"/>
                </a:lnTo>
                <a:lnTo>
                  <a:pt x="63044" y="1833217"/>
                </a:lnTo>
                <a:lnTo>
                  <a:pt x="62244" y="1829836"/>
                </a:lnTo>
                <a:lnTo>
                  <a:pt x="61500" y="1826404"/>
                </a:lnTo>
                <a:lnTo>
                  <a:pt x="60813" y="1822925"/>
                </a:lnTo>
                <a:lnTo>
                  <a:pt x="60183" y="1819404"/>
                </a:lnTo>
                <a:lnTo>
                  <a:pt x="59611" y="1815843"/>
                </a:lnTo>
                <a:lnTo>
                  <a:pt x="59097" y="1812246"/>
                </a:lnTo>
                <a:lnTo>
                  <a:pt x="58643" y="1808618"/>
                </a:lnTo>
                <a:lnTo>
                  <a:pt x="58248" y="1804962"/>
                </a:lnTo>
                <a:lnTo>
                  <a:pt x="57913" y="1801282"/>
                </a:lnTo>
                <a:lnTo>
                  <a:pt x="57639" y="1797582"/>
                </a:lnTo>
                <a:lnTo>
                  <a:pt x="57425" y="1793867"/>
                </a:lnTo>
                <a:lnTo>
                  <a:pt x="57272" y="1790139"/>
                </a:lnTo>
                <a:lnTo>
                  <a:pt x="57181" y="1786403"/>
                </a:lnTo>
                <a:lnTo>
                  <a:pt x="57150" y="1782663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DB78A-89D1-4FEE-93F5-289FC018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560094"/>
            <a:ext cx="4495800" cy="2270224"/>
          </a:xfrm>
          <a:prstGeom xmlns:a="http://schemas.openxmlformats.org/drawingml/2006/main" prst="roundRect">
            <a:avLst>
              <a:gd name="adj" fmla="val 503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F06F325C-9E6A-4432-BA1C-BAF0B95F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560094"/>
            <a:ext cx="114300" cy="2270224"/>
          </a:xfrm>
          <a:custGeom xmlns:a="http://schemas.openxmlformats.org/drawingml/2006/main">
            <a:pathLst>
              <a:path w="114300" h="2270224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2155924"/>
                </a:lnTo>
                <a:lnTo>
                  <a:pt x="61" y="2159664"/>
                </a:lnTo>
                <a:lnTo>
                  <a:pt x="245" y="2163400"/>
                </a:lnTo>
                <a:lnTo>
                  <a:pt x="550" y="2167128"/>
                </a:lnTo>
                <a:lnTo>
                  <a:pt x="978" y="2170843"/>
                </a:lnTo>
                <a:lnTo>
                  <a:pt x="1527" y="2174543"/>
                </a:lnTo>
                <a:lnTo>
                  <a:pt x="2196" y="2178223"/>
                </a:lnTo>
                <a:lnTo>
                  <a:pt x="2986" y="2181879"/>
                </a:lnTo>
                <a:lnTo>
                  <a:pt x="3895" y="2185507"/>
                </a:lnTo>
                <a:lnTo>
                  <a:pt x="4922" y="2189104"/>
                </a:lnTo>
                <a:lnTo>
                  <a:pt x="6066" y="2192665"/>
                </a:lnTo>
                <a:lnTo>
                  <a:pt x="7326" y="2196186"/>
                </a:lnTo>
                <a:lnTo>
                  <a:pt x="8701" y="2199665"/>
                </a:lnTo>
                <a:lnTo>
                  <a:pt x="10188" y="2203097"/>
                </a:lnTo>
                <a:lnTo>
                  <a:pt x="11787" y="2206478"/>
                </a:lnTo>
                <a:lnTo>
                  <a:pt x="13496" y="2209805"/>
                </a:lnTo>
                <a:lnTo>
                  <a:pt x="15313" y="2213074"/>
                </a:lnTo>
                <a:lnTo>
                  <a:pt x="17236" y="2216282"/>
                </a:lnTo>
                <a:lnTo>
                  <a:pt x="19263" y="2219426"/>
                </a:lnTo>
                <a:lnTo>
                  <a:pt x="21392" y="2222501"/>
                </a:lnTo>
                <a:lnTo>
                  <a:pt x="23620" y="2225506"/>
                </a:lnTo>
                <a:lnTo>
                  <a:pt x="25945" y="2228435"/>
                </a:lnTo>
                <a:lnTo>
                  <a:pt x="28365" y="2231287"/>
                </a:lnTo>
                <a:lnTo>
                  <a:pt x="30877" y="2234059"/>
                </a:lnTo>
                <a:lnTo>
                  <a:pt x="33478" y="2236747"/>
                </a:lnTo>
                <a:lnTo>
                  <a:pt x="36165" y="2239348"/>
                </a:lnTo>
                <a:lnTo>
                  <a:pt x="38937" y="2241860"/>
                </a:lnTo>
                <a:lnTo>
                  <a:pt x="41789" y="2244279"/>
                </a:lnTo>
                <a:lnTo>
                  <a:pt x="44719" y="2246605"/>
                </a:lnTo>
                <a:lnTo>
                  <a:pt x="47723" y="2248833"/>
                </a:lnTo>
                <a:lnTo>
                  <a:pt x="50798" y="2250961"/>
                </a:lnTo>
                <a:lnTo>
                  <a:pt x="53942" y="2252988"/>
                </a:lnTo>
                <a:lnTo>
                  <a:pt x="57150" y="2254911"/>
                </a:lnTo>
                <a:lnTo>
                  <a:pt x="60419" y="2256728"/>
                </a:lnTo>
                <a:lnTo>
                  <a:pt x="63746" y="2258437"/>
                </a:lnTo>
                <a:lnTo>
                  <a:pt x="67128" y="2260036"/>
                </a:lnTo>
                <a:lnTo>
                  <a:pt x="70559" y="2261524"/>
                </a:lnTo>
                <a:lnTo>
                  <a:pt x="74038" y="2262898"/>
                </a:lnTo>
                <a:lnTo>
                  <a:pt x="77559" y="2264158"/>
                </a:lnTo>
                <a:lnTo>
                  <a:pt x="81120" y="2265302"/>
                </a:lnTo>
                <a:lnTo>
                  <a:pt x="84717" y="2266330"/>
                </a:lnTo>
                <a:lnTo>
                  <a:pt x="88345" y="2267238"/>
                </a:lnTo>
                <a:lnTo>
                  <a:pt x="92001" y="2268028"/>
                </a:lnTo>
                <a:lnTo>
                  <a:pt x="95681" y="2268698"/>
                </a:lnTo>
                <a:lnTo>
                  <a:pt x="99381" y="2269246"/>
                </a:lnTo>
                <a:lnTo>
                  <a:pt x="103097" y="2269674"/>
                </a:lnTo>
                <a:lnTo>
                  <a:pt x="106824" y="2269979"/>
                </a:lnTo>
                <a:lnTo>
                  <a:pt x="110560" y="2270163"/>
                </a:lnTo>
                <a:lnTo>
                  <a:pt x="114300" y="2270224"/>
                </a:lnTo>
                <a:lnTo>
                  <a:pt x="114300" y="2270224"/>
                </a:lnTo>
                <a:lnTo>
                  <a:pt x="112430" y="2270163"/>
                </a:lnTo>
                <a:lnTo>
                  <a:pt x="110562" y="2269979"/>
                </a:lnTo>
                <a:lnTo>
                  <a:pt x="108698" y="2269674"/>
                </a:lnTo>
                <a:lnTo>
                  <a:pt x="106840" y="2269246"/>
                </a:lnTo>
                <a:lnTo>
                  <a:pt x="104991" y="2268698"/>
                </a:lnTo>
                <a:lnTo>
                  <a:pt x="103151" y="2268028"/>
                </a:lnTo>
                <a:lnTo>
                  <a:pt x="101323" y="2267238"/>
                </a:lnTo>
                <a:lnTo>
                  <a:pt x="99508" y="2266330"/>
                </a:lnTo>
                <a:lnTo>
                  <a:pt x="97710" y="2265302"/>
                </a:lnTo>
                <a:lnTo>
                  <a:pt x="95930" y="2264158"/>
                </a:lnTo>
                <a:lnTo>
                  <a:pt x="94169" y="2262898"/>
                </a:lnTo>
                <a:lnTo>
                  <a:pt x="92430" y="2261524"/>
                </a:lnTo>
                <a:lnTo>
                  <a:pt x="90714" y="2260036"/>
                </a:lnTo>
                <a:lnTo>
                  <a:pt x="89023" y="2258437"/>
                </a:lnTo>
                <a:lnTo>
                  <a:pt x="87360" y="2256728"/>
                </a:lnTo>
                <a:lnTo>
                  <a:pt x="85725" y="2254911"/>
                </a:lnTo>
                <a:lnTo>
                  <a:pt x="84121" y="2252988"/>
                </a:lnTo>
                <a:lnTo>
                  <a:pt x="82549" y="2250961"/>
                </a:lnTo>
                <a:lnTo>
                  <a:pt x="81011" y="2248833"/>
                </a:lnTo>
                <a:lnTo>
                  <a:pt x="79509" y="2246605"/>
                </a:lnTo>
                <a:lnTo>
                  <a:pt x="78044" y="2244279"/>
                </a:lnTo>
                <a:lnTo>
                  <a:pt x="76618" y="2241860"/>
                </a:lnTo>
                <a:lnTo>
                  <a:pt x="75233" y="2239348"/>
                </a:lnTo>
                <a:lnTo>
                  <a:pt x="73889" y="2236747"/>
                </a:lnTo>
                <a:lnTo>
                  <a:pt x="72588" y="2234059"/>
                </a:lnTo>
                <a:lnTo>
                  <a:pt x="71332" y="2231287"/>
                </a:lnTo>
                <a:lnTo>
                  <a:pt x="70122" y="2228435"/>
                </a:lnTo>
                <a:lnTo>
                  <a:pt x="68960" y="2225506"/>
                </a:lnTo>
                <a:lnTo>
                  <a:pt x="67846" y="2222501"/>
                </a:lnTo>
                <a:lnTo>
                  <a:pt x="66782" y="2219426"/>
                </a:lnTo>
                <a:lnTo>
                  <a:pt x="65768" y="2216282"/>
                </a:lnTo>
                <a:lnTo>
                  <a:pt x="64807" y="2213074"/>
                </a:lnTo>
                <a:lnTo>
                  <a:pt x="63898" y="2209805"/>
                </a:lnTo>
                <a:lnTo>
                  <a:pt x="63044" y="2206478"/>
                </a:lnTo>
                <a:lnTo>
                  <a:pt x="62244" y="2203097"/>
                </a:lnTo>
                <a:lnTo>
                  <a:pt x="61500" y="2199665"/>
                </a:lnTo>
                <a:lnTo>
                  <a:pt x="60813" y="2196186"/>
                </a:lnTo>
                <a:lnTo>
                  <a:pt x="60183" y="2192665"/>
                </a:lnTo>
                <a:lnTo>
                  <a:pt x="59611" y="2189104"/>
                </a:lnTo>
                <a:lnTo>
                  <a:pt x="59097" y="2185507"/>
                </a:lnTo>
                <a:lnTo>
                  <a:pt x="58643" y="2181879"/>
                </a:lnTo>
                <a:lnTo>
                  <a:pt x="58248" y="2178223"/>
                </a:lnTo>
                <a:lnTo>
                  <a:pt x="57913" y="2174543"/>
                </a:lnTo>
                <a:lnTo>
                  <a:pt x="57639" y="2170843"/>
                </a:lnTo>
                <a:lnTo>
                  <a:pt x="57425" y="2167128"/>
                </a:lnTo>
                <a:lnTo>
                  <a:pt x="57272" y="2163400"/>
                </a:lnTo>
                <a:lnTo>
                  <a:pt x="57181" y="2159664"/>
                </a:lnTo>
                <a:lnTo>
                  <a:pt x="57150" y="2155924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57C51-A9C3-464D-8903-0B1FAB77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135118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8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258005A7-DA08-40A9-87BF-33E04FD5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135118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3561C-062F-49EF-AB7A-F93F15A8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10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5535D915-8F04-421C-91C1-1C93648F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 · C# ПРИМЕР · НАСТАВАК</a:t>
            </a:r>
          </a:p>
        </p:txBody>
      </p:sp>
      <p:sp>
        <p:nvSpPr>
          <p:cNvPr id="11" name="heading-dozvola-kod">
            <a:extLst xmlns:a="http://schemas.openxmlformats.org/drawingml/2006/main">
              <a:ext uri="{FF2B5EF4-FFF2-40B4-BE49-F238E27FC236}">
                <a16:creationId xmlns:a16="http://schemas.microsoft.com/office/drawing/2014/main" id="{34B9BE49-0724-491A-9AD6-777C35D0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685085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Дозвола и исход одлуке</a:t>
            </a:r>
          </a:p>
        </p:txBody>
      </p:sp>
      <p:sp>
        <p:nvSpPr>
          <p:cNvPr id="12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D518044C-2CB2-4355-8B96-BC4F3617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34555"/>
            <a:ext cx="3634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илустративни пример</a:t>
            </a:r>
          </a:p>
        </p:txBody>
      </p:sp>
      <p:sp>
        <p:nvSpPr>
          <p:cNvPr id="13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7791A115-AB04-4179-AC23-AC4D1071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30736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14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B60FFDFC-33A9-4803-BC51-6CF03FFE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0736"/>
            <a:ext cx="52808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grantingRole = assignedRoles</a:t>
            </a:r>
          </a:p>
        </p:txBody>
      </p:sp>
      <p:sp>
        <p:nvSpPr>
          <p:cNvPr id="15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65C57769-B51D-48EC-BC49-CC9AEBDA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50716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16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ADF41140-29D0-4F09-A641-407C2760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50716"/>
            <a:ext cx="4594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.FirstOrDefault(role =&gt;</a:t>
            </a:r>
          </a:p>
        </p:txBody>
      </p:sp>
      <p:sp>
        <p:nvSpPr>
          <p:cNvPr id="17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0F146C44-A720-4999-97AE-0605B208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70697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18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1F5695A5-9571-4B0C-A85F-A756CB1B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70697"/>
            <a:ext cx="55550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Grants(role, permission));</a:t>
            </a:r>
          </a:p>
        </p:txBody>
      </p:sp>
      <p:sp>
        <p:nvSpPr>
          <p:cNvPr id="19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3B03E7FF-BEEB-40E3-B561-6A5C2A5D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90677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20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38B1E7EF-F689-4C99-995D-C440378A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90677"/>
            <a:ext cx="45952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grantingRole is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null</a:t>
            </a:r>
          </a:p>
        </p:txBody>
      </p:sp>
      <p:sp>
        <p:nvSpPr>
          <p:cNvPr id="21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DFD5FF98-9B28-4A7A-A983-881167A7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10658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  <p:sp>
        <p:nvSpPr>
          <p:cNvPr id="22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75C52B6F-0A68-4B4B-B846-78BFFB75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10658"/>
            <a:ext cx="582944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? Deny(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"permission_not_granted"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</a:t>
            </a:r>
          </a:p>
        </p:txBody>
      </p:sp>
      <p:sp>
        <p:nvSpPr>
          <p:cNvPr id="23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E943A853-CA13-46F1-8B1F-63D5BE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30638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  <p:sp>
        <p:nvSpPr>
          <p:cNvPr id="24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DCA48F9F-FB7C-4096-B6B7-3A72F1DD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30638"/>
            <a:ext cx="514379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: Allow(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"granted_by_role"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);</a:t>
            </a:r>
          </a:p>
        </p:txBody>
      </p:sp>
      <p:sp>
        <p:nvSpPr>
          <p:cNvPr id="25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6D680065-DC5B-4A30-891B-3050C8FB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50619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  <p:sp>
        <p:nvSpPr>
          <p:cNvPr id="26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8AB089CF-7947-482F-B4B9-49A29870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506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27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8691BFF3-ECE9-490A-A7BB-AEFD9C06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2503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Именована радња</a:t>
            </a:r>
          </a:p>
        </p:txBody>
      </p:sp>
      <p:sp>
        <p:nvSpPr>
          <p:cNvPr id="28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5320C624-DEBB-44D6-82F4-55F524F8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030736"/>
            <a:ext cx="377963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Дозвола описује конкретну </a:t>
            </a:r>
          </a:p>
        </p:txBody>
      </p:sp>
      <p:sp>
        <p:nvSpPr>
          <p:cNvPr id="29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364CC529-E209-48DB-9098-1966CED8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403997"/>
            <a:ext cx="421808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радњу. Улога групише дозволе </a:t>
            </a:r>
          </a:p>
        </p:txBody>
      </p:sp>
      <p:sp>
        <p:nvSpPr>
          <p:cNvPr id="30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ADC90E86-FC3A-442A-844E-F0A07442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777258"/>
            <a:ext cx="365402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оправдане одговорношћу.</a:t>
            </a:r>
          </a:p>
        </p:txBody>
      </p:sp>
      <p:sp>
        <p:nvSpPr>
          <p:cNvPr id="31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CE89A6C1-3F4B-40D1-B320-C0BA2C82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750594"/>
            <a:ext cx="19889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Стабилан код</a:t>
            </a:r>
          </a:p>
        </p:txBody>
      </p:sp>
      <p:sp>
        <p:nvSpPr>
          <p:cNvPr id="32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8C8C36BA-16E3-4BE8-B496-456B5851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156299"/>
            <a:ext cx="345876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Исход има стабилан код. </a:t>
            </a:r>
          </a:p>
        </p:txBody>
      </p:sp>
      <p:sp>
        <p:nvSpPr>
          <p:cNvPr id="33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1E14428A-306C-4838-85E5-11CD5674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29560"/>
            <a:ext cx="379913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Ревизиони запис настаје за </a:t>
            </a:r>
          </a:p>
        </p:txBody>
      </p:sp>
      <p:sp>
        <p:nvSpPr>
          <p:cNvPr id="34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1E8DA9F2-749F-49D4-A2D0-D28EFB90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902821"/>
            <a:ext cx="315857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дозвољене и одбијене </a:t>
            </a:r>
          </a:p>
        </p:txBody>
      </p:sp>
      <p:sp>
        <p:nvSpPr>
          <p:cNvPr id="35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E30BA6E3-E728-4098-BADD-DF06CFF8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276082"/>
            <a:ext cx="156582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покушаје.</a:t>
            </a:r>
          </a:p>
        </p:txBody>
      </p:sp>
      <p:sp>
        <p:nvSpPr>
          <p:cNvPr id="36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540FA321-E396-4360-9338-6D0D3A02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325618"/>
            <a:ext cx="2949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Илустративни уговор</a:t>
            </a:r>
          </a:p>
        </p:txBody>
      </p:sp>
      <p:sp>
        <p:nvSpPr>
          <p:cNvPr id="37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0903F2E5-AAE7-44FE-90EE-33819CFB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731323"/>
            <a:ext cx="1301144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Deny и Allow враћају AccessDecision. assignedRoles потиче са сервера и садржи само важеће доделе.</a:t>
            </a:r>
          </a:p>
        </p:txBody>
      </p:sp>
      <p:sp>
        <p:nvSpPr>
          <p:cNvPr id="38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0B689088-1782-4942-9A17-EB5C34FD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9" name="text-dozvola-kod">
            <a:extLst xmlns:a="http://schemas.openxmlformats.org/drawingml/2006/main">
              <a:ext uri="{FF2B5EF4-FFF2-40B4-BE49-F238E27FC236}">
                <a16:creationId xmlns:a16="http://schemas.microsoft.com/office/drawing/2014/main" id="{3D9799F7-A588-4D2E-A2F6-B0C42E01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938262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F579FE-1D01-4B7A-831A-C0FCB76E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1B7E8-0592-424F-84F8-6252883D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2929384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230C5-F9EE-40A4-9A45-772BF29D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2929384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8D282-FB80-410F-A1EF-F69AE1CE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2929384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CEC16-81AF-4D50-AE45-F5D8C622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46775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FBF1E6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FEF20AFD-E4D6-4E67-9B69-A119D19C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46775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8520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05963-D290-4CF6-B2F5-447B537E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F350C11B-FF5A-4095-B04C-6743DCB7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9985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 · ЧЕСТЕ ГРЕШКЕ</a:t>
            </a:r>
          </a:p>
        </p:txBody>
      </p:sp>
      <p:sp>
        <p:nvSpPr>
          <p:cNvPr id="9" name="heading-source-12">
            <a:extLst xmlns:a="http://schemas.openxmlformats.org/drawingml/2006/main">
              <a:ext uri="{FF2B5EF4-FFF2-40B4-BE49-F238E27FC236}">
                <a16:creationId xmlns:a16="http://schemas.microsoft.com/office/drawing/2014/main" id="{5E9041FB-D7B4-45B2-A38C-F6FDA39C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134921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347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Честе грешке у моделу приступа</a:t>
            </a:r>
          </a:p>
        </p:txBody>
      </p:sp>
      <p:sp>
        <p:nvSpPr>
          <p:cNvPr id="10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FFFFE253-9C78-422E-82E6-EE64BA91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108784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Нејасно раздвајање улога, дозвола и контекста доводи до прекомерних привилегија.</a:t>
            </a:r>
          </a:p>
        </p:txBody>
      </p:sp>
      <p:sp>
        <p:nvSpPr>
          <p:cNvPr id="11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D5F0D864-B8A9-4429-AFF0-3FA4A058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B4B479B5-1D8B-4872-BFFB-1108D62A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Пријава = овлашћење</a:t>
            </a:r>
          </a:p>
        </p:txBody>
      </p:sp>
      <p:sp>
        <p:nvSpPr>
          <p:cNvPr id="13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CE4FC6F1-9A0E-4A56-9EBF-66791285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55493"/>
            <a:ext cx="41253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Систем не проверава посебно </a:t>
            </a:r>
          </a:p>
        </p:txBody>
      </p:sp>
      <p:sp>
        <p:nvSpPr>
          <p:cNvPr id="14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8711C06D-43C1-4573-8582-97CD30FA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28754"/>
            <a:ext cx="47703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радњу и ресурс јер је корисник већ </a:t>
            </a:r>
          </a:p>
        </p:txBody>
      </p:sp>
      <p:sp>
        <p:nvSpPr>
          <p:cNvPr id="15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673EEA68-646B-4EC7-8488-AEBC5B38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402014"/>
            <a:ext cx="175438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пријављен.</a:t>
            </a:r>
          </a:p>
        </p:txBody>
      </p:sp>
      <p:sp>
        <p:nvSpPr>
          <p:cNvPr id="16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7BEEC32E-C8DF-4F26-8A3C-298B37EE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7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52888931-8AC8-4A06-92B8-923DA51C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108847"/>
            <a:ext cx="2927747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Преширока улога</a:t>
            </a:r>
          </a:p>
        </p:txBody>
      </p:sp>
      <p:sp>
        <p:nvSpPr>
          <p:cNvPr id="18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513B49CC-DE80-45B9-89C8-83D2DF95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655493"/>
            <a:ext cx="492115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Нова потреба се решава додавањем </a:t>
            </a:r>
          </a:p>
        </p:txBody>
      </p:sp>
      <p:sp>
        <p:nvSpPr>
          <p:cNvPr id="19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1894E696-BC13-4CE6-9FE4-3AADB566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028754"/>
            <a:ext cx="405467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администратора уместо мале </a:t>
            </a:r>
          </a:p>
        </p:txBody>
      </p:sp>
      <p:sp>
        <p:nvSpPr>
          <p:cNvPr id="20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58548BFC-0CC5-4758-A63D-4DD3F61B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402014"/>
            <a:ext cx="256832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дозволе и опсега.</a:t>
            </a:r>
          </a:p>
        </p:txBody>
      </p:sp>
      <p:sp>
        <p:nvSpPr>
          <p:cNvPr id="21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21911B37-37B4-4D0C-B6B6-03267786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2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D02A7B74-AC07-498C-8E93-CD6023C6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108847"/>
            <a:ext cx="289991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Сакривено дугме</a:t>
            </a:r>
          </a:p>
        </p:txBody>
      </p:sp>
      <p:sp>
        <p:nvSpPr>
          <p:cNvPr id="23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9293CCA3-A86B-4BEE-8108-4826F874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655493"/>
            <a:ext cx="444400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Клијент не приказује радњу, али </a:t>
            </a:r>
          </a:p>
        </p:txBody>
      </p:sp>
      <p:sp>
        <p:nvSpPr>
          <p:cNvPr id="24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E70C0C47-3B0E-4213-A0C9-709132C1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028754"/>
            <a:ext cx="418936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сервер прихвата директан API </a:t>
            </a:r>
          </a:p>
        </p:txBody>
      </p:sp>
      <p:sp>
        <p:nvSpPr>
          <p:cNvPr id="25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3D657624-6BB9-4DD2-811E-B8D82055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402014"/>
            <a:ext cx="115505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позив.</a:t>
            </a:r>
          </a:p>
        </p:txBody>
      </p:sp>
      <p:sp>
        <p:nvSpPr>
          <p:cNvPr id="26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3D3DC8FE-A06C-43F4-8EB1-86A634AC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5372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КОНТРАМЕРА</a:t>
            </a:r>
          </a:p>
        </p:txBody>
      </p:sp>
      <p:sp>
        <p:nvSpPr>
          <p:cNvPr id="27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3555B319-BCFB-4316-8B43-A5B05951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942981"/>
            <a:ext cx="1290295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Заједничка контрамера обухвата експлицитну серверску одлуку, тест одбијања и ревизиони исход.</a:t>
            </a:r>
          </a:p>
        </p:txBody>
      </p:sp>
      <p:sp>
        <p:nvSpPr>
          <p:cNvPr id="28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F02C849E-B510-4939-AE1F-2CD05C5C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9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9506E16A-115C-456E-A70A-A87CD1D3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002980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5757F4-1C2E-4C23-AF66-0D6F5DF4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EA799-8E02-4037-8FF7-CA87019F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11049000" cy="4955977"/>
          </a:xfrm>
          <a:prstGeom xmlns:a="http://schemas.openxmlformats.org/drawingml/2006/main" prst="roundRect">
            <a:avLst>
              <a:gd name="adj" fmla="val 307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8C190-0264-4FF8-9927-65331185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434530"/>
            <a:ext cx="4495800" cy="1896963"/>
          </a:xfrm>
          <a:prstGeom xmlns:a="http://schemas.openxmlformats.org/drawingml/2006/main" prst="roundRect">
            <a:avLst>
              <a:gd name="adj" fmla="val 602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4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EF2721C1-5481-4CFE-9664-48784A81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434530"/>
            <a:ext cx="114300" cy="1896963"/>
          </a:xfrm>
          <a:custGeom xmlns:a="http://schemas.openxmlformats.org/drawingml/2006/main">
            <a:pathLst>
              <a:path w="114300" h="1896963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782663"/>
                </a:lnTo>
                <a:lnTo>
                  <a:pt x="61" y="1786403"/>
                </a:lnTo>
                <a:lnTo>
                  <a:pt x="245" y="1790139"/>
                </a:lnTo>
                <a:lnTo>
                  <a:pt x="550" y="1793867"/>
                </a:lnTo>
                <a:lnTo>
                  <a:pt x="978" y="1797582"/>
                </a:lnTo>
                <a:lnTo>
                  <a:pt x="1527" y="1801282"/>
                </a:lnTo>
                <a:lnTo>
                  <a:pt x="2196" y="1804962"/>
                </a:lnTo>
                <a:lnTo>
                  <a:pt x="2986" y="1808618"/>
                </a:lnTo>
                <a:lnTo>
                  <a:pt x="3895" y="1812246"/>
                </a:lnTo>
                <a:lnTo>
                  <a:pt x="4922" y="1815843"/>
                </a:lnTo>
                <a:lnTo>
                  <a:pt x="6066" y="1819404"/>
                </a:lnTo>
                <a:lnTo>
                  <a:pt x="7326" y="1822925"/>
                </a:lnTo>
                <a:lnTo>
                  <a:pt x="8701" y="1826404"/>
                </a:lnTo>
                <a:lnTo>
                  <a:pt x="10188" y="1829836"/>
                </a:lnTo>
                <a:lnTo>
                  <a:pt x="11787" y="1833217"/>
                </a:lnTo>
                <a:lnTo>
                  <a:pt x="13496" y="1836544"/>
                </a:lnTo>
                <a:lnTo>
                  <a:pt x="15313" y="1839813"/>
                </a:lnTo>
                <a:lnTo>
                  <a:pt x="17236" y="1843021"/>
                </a:lnTo>
                <a:lnTo>
                  <a:pt x="19263" y="1846165"/>
                </a:lnTo>
                <a:lnTo>
                  <a:pt x="21392" y="1849240"/>
                </a:lnTo>
                <a:lnTo>
                  <a:pt x="23620" y="1852245"/>
                </a:lnTo>
                <a:lnTo>
                  <a:pt x="25945" y="1855174"/>
                </a:lnTo>
                <a:lnTo>
                  <a:pt x="28365" y="1858027"/>
                </a:lnTo>
                <a:lnTo>
                  <a:pt x="30877" y="1860798"/>
                </a:lnTo>
                <a:lnTo>
                  <a:pt x="33478" y="1863486"/>
                </a:lnTo>
                <a:lnTo>
                  <a:pt x="36165" y="1866087"/>
                </a:lnTo>
                <a:lnTo>
                  <a:pt x="38937" y="1868599"/>
                </a:lnTo>
                <a:lnTo>
                  <a:pt x="41789" y="1871018"/>
                </a:lnTo>
                <a:lnTo>
                  <a:pt x="44719" y="1873344"/>
                </a:lnTo>
                <a:lnTo>
                  <a:pt x="47723" y="1875572"/>
                </a:lnTo>
                <a:lnTo>
                  <a:pt x="50798" y="1877700"/>
                </a:lnTo>
                <a:lnTo>
                  <a:pt x="53942" y="1879727"/>
                </a:lnTo>
                <a:lnTo>
                  <a:pt x="57150" y="1881650"/>
                </a:lnTo>
                <a:lnTo>
                  <a:pt x="60419" y="1883467"/>
                </a:lnTo>
                <a:lnTo>
                  <a:pt x="63746" y="1885176"/>
                </a:lnTo>
                <a:lnTo>
                  <a:pt x="67128" y="1886775"/>
                </a:lnTo>
                <a:lnTo>
                  <a:pt x="70559" y="1888263"/>
                </a:lnTo>
                <a:lnTo>
                  <a:pt x="74038" y="1889637"/>
                </a:lnTo>
                <a:lnTo>
                  <a:pt x="77559" y="1890897"/>
                </a:lnTo>
                <a:lnTo>
                  <a:pt x="81120" y="1892042"/>
                </a:lnTo>
                <a:lnTo>
                  <a:pt x="84717" y="1893069"/>
                </a:lnTo>
                <a:lnTo>
                  <a:pt x="88345" y="1893977"/>
                </a:lnTo>
                <a:lnTo>
                  <a:pt x="92001" y="1894767"/>
                </a:lnTo>
                <a:lnTo>
                  <a:pt x="95681" y="1895437"/>
                </a:lnTo>
                <a:lnTo>
                  <a:pt x="99381" y="1895985"/>
                </a:lnTo>
                <a:lnTo>
                  <a:pt x="103097" y="1896413"/>
                </a:lnTo>
                <a:lnTo>
                  <a:pt x="106824" y="1896719"/>
                </a:lnTo>
                <a:lnTo>
                  <a:pt x="110560" y="1896902"/>
                </a:lnTo>
                <a:lnTo>
                  <a:pt x="114300" y="1896963"/>
                </a:lnTo>
                <a:lnTo>
                  <a:pt x="114300" y="1896963"/>
                </a:lnTo>
                <a:lnTo>
                  <a:pt x="112430" y="1896902"/>
                </a:lnTo>
                <a:lnTo>
                  <a:pt x="110562" y="1896719"/>
                </a:lnTo>
                <a:lnTo>
                  <a:pt x="108698" y="1896413"/>
                </a:lnTo>
                <a:lnTo>
                  <a:pt x="106840" y="1895985"/>
                </a:lnTo>
                <a:lnTo>
                  <a:pt x="104991" y="1895437"/>
                </a:lnTo>
                <a:lnTo>
                  <a:pt x="103151" y="1894767"/>
                </a:lnTo>
                <a:lnTo>
                  <a:pt x="101323" y="1893977"/>
                </a:lnTo>
                <a:lnTo>
                  <a:pt x="99508" y="1893069"/>
                </a:lnTo>
                <a:lnTo>
                  <a:pt x="97710" y="1892042"/>
                </a:lnTo>
                <a:lnTo>
                  <a:pt x="95930" y="1890897"/>
                </a:lnTo>
                <a:lnTo>
                  <a:pt x="94169" y="1889637"/>
                </a:lnTo>
                <a:lnTo>
                  <a:pt x="92430" y="1888263"/>
                </a:lnTo>
                <a:lnTo>
                  <a:pt x="90714" y="1886775"/>
                </a:lnTo>
                <a:lnTo>
                  <a:pt x="89023" y="1885176"/>
                </a:lnTo>
                <a:lnTo>
                  <a:pt x="87360" y="1883467"/>
                </a:lnTo>
                <a:lnTo>
                  <a:pt x="85725" y="1881650"/>
                </a:lnTo>
                <a:lnTo>
                  <a:pt x="84121" y="1879727"/>
                </a:lnTo>
                <a:lnTo>
                  <a:pt x="82549" y="1877700"/>
                </a:lnTo>
                <a:lnTo>
                  <a:pt x="81011" y="1875572"/>
                </a:lnTo>
                <a:lnTo>
                  <a:pt x="79509" y="1873344"/>
                </a:lnTo>
                <a:lnTo>
                  <a:pt x="78044" y="1871018"/>
                </a:lnTo>
                <a:lnTo>
                  <a:pt x="76618" y="1868599"/>
                </a:lnTo>
                <a:lnTo>
                  <a:pt x="75233" y="1866087"/>
                </a:lnTo>
                <a:lnTo>
                  <a:pt x="73889" y="1863486"/>
                </a:lnTo>
                <a:lnTo>
                  <a:pt x="72588" y="1860798"/>
                </a:lnTo>
                <a:lnTo>
                  <a:pt x="71332" y="1858027"/>
                </a:lnTo>
                <a:lnTo>
                  <a:pt x="70122" y="1855174"/>
                </a:lnTo>
                <a:lnTo>
                  <a:pt x="68960" y="1852245"/>
                </a:lnTo>
                <a:lnTo>
                  <a:pt x="67846" y="1849240"/>
                </a:lnTo>
                <a:lnTo>
                  <a:pt x="66782" y="1846165"/>
                </a:lnTo>
                <a:lnTo>
                  <a:pt x="65768" y="1843021"/>
                </a:lnTo>
                <a:lnTo>
                  <a:pt x="64807" y="1839813"/>
                </a:lnTo>
                <a:lnTo>
                  <a:pt x="63898" y="1836544"/>
                </a:lnTo>
                <a:lnTo>
                  <a:pt x="63044" y="1833217"/>
                </a:lnTo>
                <a:lnTo>
                  <a:pt x="62244" y="1829836"/>
                </a:lnTo>
                <a:lnTo>
                  <a:pt x="61500" y="1826404"/>
                </a:lnTo>
                <a:lnTo>
                  <a:pt x="60813" y="1822925"/>
                </a:lnTo>
                <a:lnTo>
                  <a:pt x="60183" y="1819404"/>
                </a:lnTo>
                <a:lnTo>
                  <a:pt x="59611" y="1815843"/>
                </a:lnTo>
                <a:lnTo>
                  <a:pt x="59097" y="1812246"/>
                </a:lnTo>
                <a:lnTo>
                  <a:pt x="58643" y="1808618"/>
                </a:lnTo>
                <a:lnTo>
                  <a:pt x="58248" y="1804962"/>
                </a:lnTo>
                <a:lnTo>
                  <a:pt x="57913" y="1801282"/>
                </a:lnTo>
                <a:lnTo>
                  <a:pt x="57639" y="1797582"/>
                </a:lnTo>
                <a:lnTo>
                  <a:pt x="57425" y="1793867"/>
                </a:lnTo>
                <a:lnTo>
                  <a:pt x="57272" y="1790139"/>
                </a:lnTo>
                <a:lnTo>
                  <a:pt x="57181" y="1786403"/>
                </a:lnTo>
                <a:lnTo>
                  <a:pt x="57150" y="1782663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9FFEE-5558-4AF5-8A6E-0606BD4D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560094"/>
            <a:ext cx="4495800" cy="1896963"/>
          </a:xfrm>
          <a:prstGeom xmlns:a="http://schemas.openxmlformats.org/drawingml/2006/main" prst="roundRect">
            <a:avLst>
              <a:gd name="adj" fmla="val 602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B2161879-E20D-49BF-B071-B204E367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560094"/>
            <a:ext cx="114300" cy="1896963"/>
          </a:xfrm>
          <a:custGeom xmlns:a="http://schemas.openxmlformats.org/drawingml/2006/main">
            <a:pathLst>
              <a:path w="114300" h="1896963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782663"/>
                </a:lnTo>
                <a:lnTo>
                  <a:pt x="61" y="1786403"/>
                </a:lnTo>
                <a:lnTo>
                  <a:pt x="245" y="1790139"/>
                </a:lnTo>
                <a:lnTo>
                  <a:pt x="550" y="1793867"/>
                </a:lnTo>
                <a:lnTo>
                  <a:pt x="978" y="1797582"/>
                </a:lnTo>
                <a:lnTo>
                  <a:pt x="1527" y="1801282"/>
                </a:lnTo>
                <a:lnTo>
                  <a:pt x="2196" y="1804962"/>
                </a:lnTo>
                <a:lnTo>
                  <a:pt x="2986" y="1808618"/>
                </a:lnTo>
                <a:lnTo>
                  <a:pt x="3895" y="1812246"/>
                </a:lnTo>
                <a:lnTo>
                  <a:pt x="4922" y="1815843"/>
                </a:lnTo>
                <a:lnTo>
                  <a:pt x="6066" y="1819404"/>
                </a:lnTo>
                <a:lnTo>
                  <a:pt x="7326" y="1822925"/>
                </a:lnTo>
                <a:lnTo>
                  <a:pt x="8701" y="1826404"/>
                </a:lnTo>
                <a:lnTo>
                  <a:pt x="10188" y="1829836"/>
                </a:lnTo>
                <a:lnTo>
                  <a:pt x="11787" y="1833217"/>
                </a:lnTo>
                <a:lnTo>
                  <a:pt x="13496" y="1836544"/>
                </a:lnTo>
                <a:lnTo>
                  <a:pt x="15313" y="1839813"/>
                </a:lnTo>
                <a:lnTo>
                  <a:pt x="17236" y="1843021"/>
                </a:lnTo>
                <a:lnTo>
                  <a:pt x="19263" y="1846165"/>
                </a:lnTo>
                <a:lnTo>
                  <a:pt x="21392" y="1849240"/>
                </a:lnTo>
                <a:lnTo>
                  <a:pt x="23620" y="1852245"/>
                </a:lnTo>
                <a:lnTo>
                  <a:pt x="25945" y="1855174"/>
                </a:lnTo>
                <a:lnTo>
                  <a:pt x="28365" y="1858027"/>
                </a:lnTo>
                <a:lnTo>
                  <a:pt x="30877" y="1860798"/>
                </a:lnTo>
                <a:lnTo>
                  <a:pt x="33478" y="1863486"/>
                </a:lnTo>
                <a:lnTo>
                  <a:pt x="36165" y="1866087"/>
                </a:lnTo>
                <a:lnTo>
                  <a:pt x="38937" y="1868599"/>
                </a:lnTo>
                <a:lnTo>
                  <a:pt x="41789" y="1871018"/>
                </a:lnTo>
                <a:lnTo>
                  <a:pt x="44719" y="1873344"/>
                </a:lnTo>
                <a:lnTo>
                  <a:pt x="47723" y="1875572"/>
                </a:lnTo>
                <a:lnTo>
                  <a:pt x="50798" y="1877700"/>
                </a:lnTo>
                <a:lnTo>
                  <a:pt x="53942" y="1879727"/>
                </a:lnTo>
                <a:lnTo>
                  <a:pt x="57150" y="1881650"/>
                </a:lnTo>
                <a:lnTo>
                  <a:pt x="60419" y="1883467"/>
                </a:lnTo>
                <a:lnTo>
                  <a:pt x="63746" y="1885176"/>
                </a:lnTo>
                <a:lnTo>
                  <a:pt x="67128" y="1886775"/>
                </a:lnTo>
                <a:lnTo>
                  <a:pt x="70559" y="1888263"/>
                </a:lnTo>
                <a:lnTo>
                  <a:pt x="74038" y="1889637"/>
                </a:lnTo>
                <a:lnTo>
                  <a:pt x="77559" y="1890897"/>
                </a:lnTo>
                <a:lnTo>
                  <a:pt x="81120" y="1892042"/>
                </a:lnTo>
                <a:lnTo>
                  <a:pt x="84717" y="1893069"/>
                </a:lnTo>
                <a:lnTo>
                  <a:pt x="88345" y="1893977"/>
                </a:lnTo>
                <a:lnTo>
                  <a:pt x="92001" y="1894767"/>
                </a:lnTo>
                <a:lnTo>
                  <a:pt x="95681" y="1895437"/>
                </a:lnTo>
                <a:lnTo>
                  <a:pt x="99381" y="1895985"/>
                </a:lnTo>
                <a:lnTo>
                  <a:pt x="103097" y="1896413"/>
                </a:lnTo>
                <a:lnTo>
                  <a:pt x="106824" y="1896719"/>
                </a:lnTo>
                <a:lnTo>
                  <a:pt x="110560" y="1896902"/>
                </a:lnTo>
                <a:lnTo>
                  <a:pt x="114300" y="1896963"/>
                </a:lnTo>
                <a:lnTo>
                  <a:pt x="114300" y="1896963"/>
                </a:lnTo>
                <a:lnTo>
                  <a:pt x="112430" y="1896902"/>
                </a:lnTo>
                <a:lnTo>
                  <a:pt x="110562" y="1896719"/>
                </a:lnTo>
                <a:lnTo>
                  <a:pt x="108698" y="1896413"/>
                </a:lnTo>
                <a:lnTo>
                  <a:pt x="106840" y="1895985"/>
                </a:lnTo>
                <a:lnTo>
                  <a:pt x="104991" y="1895437"/>
                </a:lnTo>
                <a:lnTo>
                  <a:pt x="103151" y="1894767"/>
                </a:lnTo>
                <a:lnTo>
                  <a:pt x="101323" y="1893977"/>
                </a:lnTo>
                <a:lnTo>
                  <a:pt x="99508" y="1893069"/>
                </a:lnTo>
                <a:lnTo>
                  <a:pt x="97710" y="1892042"/>
                </a:lnTo>
                <a:lnTo>
                  <a:pt x="95930" y="1890897"/>
                </a:lnTo>
                <a:lnTo>
                  <a:pt x="94169" y="1889637"/>
                </a:lnTo>
                <a:lnTo>
                  <a:pt x="92430" y="1888263"/>
                </a:lnTo>
                <a:lnTo>
                  <a:pt x="90714" y="1886775"/>
                </a:lnTo>
                <a:lnTo>
                  <a:pt x="89023" y="1885176"/>
                </a:lnTo>
                <a:lnTo>
                  <a:pt x="87360" y="1883467"/>
                </a:lnTo>
                <a:lnTo>
                  <a:pt x="85725" y="1881650"/>
                </a:lnTo>
                <a:lnTo>
                  <a:pt x="84121" y="1879727"/>
                </a:lnTo>
                <a:lnTo>
                  <a:pt x="82549" y="1877700"/>
                </a:lnTo>
                <a:lnTo>
                  <a:pt x="81011" y="1875572"/>
                </a:lnTo>
                <a:lnTo>
                  <a:pt x="79509" y="1873344"/>
                </a:lnTo>
                <a:lnTo>
                  <a:pt x="78044" y="1871018"/>
                </a:lnTo>
                <a:lnTo>
                  <a:pt x="76618" y="1868599"/>
                </a:lnTo>
                <a:lnTo>
                  <a:pt x="75233" y="1866087"/>
                </a:lnTo>
                <a:lnTo>
                  <a:pt x="73889" y="1863486"/>
                </a:lnTo>
                <a:lnTo>
                  <a:pt x="72588" y="1860798"/>
                </a:lnTo>
                <a:lnTo>
                  <a:pt x="71332" y="1858027"/>
                </a:lnTo>
                <a:lnTo>
                  <a:pt x="70122" y="1855174"/>
                </a:lnTo>
                <a:lnTo>
                  <a:pt x="68960" y="1852245"/>
                </a:lnTo>
                <a:lnTo>
                  <a:pt x="67846" y="1849240"/>
                </a:lnTo>
                <a:lnTo>
                  <a:pt x="66782" y="1846165"/>
                </a:lnTo>
                <a:lnTo>
                  <a:pt x="65768" y="1843021"/>
                </a:lnTo>
                <a:lnTo>
                  <a:pt x="64807" y="1839813"/>
                </a:lnTo>
                <a:lnTo>
                  <a:pt x="63898" y="1836544"/>
                </a:lnTo>
                <a:lnTo>
                  <a:pt x="63044" y="1833217"/>
                </a:lnTo>
                <a:lnTo>
                  <a:pt x="62244" y="1829836"/>
                </a:lnTo>
                <a:lnTo>
                  <a:pt x="61500" y="1826404"/>
                </a:lnTo>
                <a:lnTo>
                  <a:pt x="60813" y="1822925"/>
                </a:lnTo>
                <a:lnTo>
                  <a:pt x="60183" y="1819404"/>
                </a:lnTo>
                <a:lnTo>
                  <a:pt x="59611" y="1815843"/>
                </a:lnTo>
                <a:lnTo>
                  <a:pt x="59097" y="1812246"/>
                </a:lnTo>
                <a:lnTo>
                  <a:pt x="58643" y="1808618"/>
                </a:lnTo>
                <a:lnTo>
                  <a:pt x="58248" y="1804962"/>
                </a:lnTo>
                <a:lnTo>
                  <a:pt x="57913" y="1801282"/>
                </a:lnTo>
                <a:lnTo>
                  <a:pt x="57639" y="1797582"/>
                </a:lnTo>
                <a:lnTo>
                  <a:pt x="57425" y="1793867"/>
                </a:lnTo>
                <a:lnTo>
                  <a:pt x="57272" y="1790139"/>
                </a:lnTo>
                <a:lnTo>
                  <a:pt x="57181" y="1786403"/>
                </a:lnTo>
                <a:lnTo>
                  <a:pt x="57150" y="1782663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55295-EBC6-4FF5-85FF-1E9CAE3B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552F56AE-AF0D-4EF4-88CE-035A7B67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9985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 · NUNIT ПРИМЕР</a:t>
            </a:r>
          </a:p>
        </p:txBody>
      </p:sp>
      <p:sp>
        <p:nvSpPr>
          <p:cNvPr id="9" name="heading-source-10">
            <a:extLst xmlns:a="http://schemas.openxmlformats.org/drawingml/2006/main">
              <a:ext uri="{FF2B5EF4-FFF2-40B4-BE49-F238E27FC236}">
                <a16:creationId xmlns:a16="http://schemas.microsoft.com/office/drawing/2014/main" id="{4264E012-57F7-4625-BCEB-678A6538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11259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531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Негативни тестови ауторизације</a:t>
            </a:r>
          </a:p>
        </p:txBody>
      </p:sp>
      <p:sp>
        <p:nvSpPr>
          <p:cNvPr id="1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AD9324F3-3DBD-4F73-9BD0-ACED5068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34555"/>
            <a:ext cx="3634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илустративни пример</a:t>
            </a:r>
          </a:p>
        </p:txBody>
      </p:sp>
      <p:sp>
        <p:nvSpPr>
          <p:cNvPr id="11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C079F17C-7EAE-44BF-B050-02F9D313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3073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2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23428281-6920-4A15-A3B6-1465B37A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0736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[Test]</a:t>
            </a:r>
          </a:p>
        </p:txBody>
      </p:sp>
      <p:sp>
        <p:nvSpPr>
          <p:cNvPr id="13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5A5C5FE2-0753-427B-8828-1A58DCE1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5071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4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6A566BFA-7A16-4CD0-96B2-B7863652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50716"/>
            <a:ext cx="6378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void Decide_WhenNoPermission_Denies()</a:t>
            </a:r>
          </a:p>
        </p:txBody>
      </p:sp>
      <p:sp>
        <p:nvSpPr>
          <p:cNvPr id="15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FCD06943-1BF2-40A8-AF2C-458375C2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706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6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DA982F19-1B64-48E5-81E5-890CC11A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706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7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3A4AFADD-C5F3-4F76-A2AD-6E9F42FE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906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8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F8686086-FC8E-4DF7-A455-8F025B18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90677"/>
            <a:ext cx="486935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decision = policy.Decide(</a:t>
            </a:r>
          </a:p>
        </p:txBody>
      </p:sp>
      <p:sp>
        <p:nvSpPr>
          <p:cNvPr id="19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BBD659D9-EA3B-4FDA-9CC2-BAF69DCF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1065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9C054F4D-ED45-477D-B882-48D1BB80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10658"/>
            <a:ext cx="637817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ActiveActorIn(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"A"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),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"report.export"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21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BE75F918-A48C-4FA9-866B-F06207F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306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2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1A5EB71E-3F04-401E-BB87-CDCA1299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30638"/>
            <a:ext cx="486935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ReportIn(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"A"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), [Reader]);</a:t>
            </a:r>
          </a:p>
        </p:txBody>
      </p:sp>
      <p:sp>
        <p:nvSpPr>
          <p:cNvPr id="23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F04DE81D-4EBA-4968-9696-4AE43989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506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4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567FA8D2-AC34-4A2E-815F-6A775524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50619"/>
            <a:ext cx="5692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using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(Assert.EnterMultipleScope())</a:t>
            </a:r>
          </a:p>
        </p:txBody>
      </p:sp>
      <p:sp>
        <p:nvSpPr>
          <p:cNvPr id="25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197FC7FB-096B-4A57-9CFD-DDC0089E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705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6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81C429AD-7D1F-433E-BA9E-44B33BED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70599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{</a:t>
            </a:r>
          </a:p>
        </p:txBody>
      </p:sp>
      <p:sp>
        <p:nvSpPr>
          <p:cNvPr id="27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99B4F307-ADF6-4811-9874-00AB9FDF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59058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8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935BA6D6-422E-4EF5-AD71-056F1E89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90580"/>
            <a:ext cx="69266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Assert.That(decision.Allowed, Is.False);</a:t>
            </a:r>
          </a:p>
        </p:txBody>
      </p:sp>
      <p:sp>
        <p:nvSpPr>
          <p:cNvPr id="29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BCC1B87D-7B44-431F-9292-6B6C49CB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91056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3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883BF2FC-9A85-481A-A859-5633E75F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10560"/>
            <a:ext cx="50064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Assert.That(decision.Code,</a:t>
            </a:r>
          </a:p>
        </p:txBody>
      </p:sp>
      <p:sp>
        <p:nvSpPr>
          <p:cNvPr id="31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3F1B1C47-F5E8-40F7-9DAD-7820DC9D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230541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32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796760EC-5F27-4AFA-AB79-99EC30F2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230541"/>
            <a:ext cx="720104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Is.EqualTo(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"permission_not_granted"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));</a:t>
            </a:r>
          </a:p>
        </p:txBody>
      </p:sp>
      <p:sp>
        <p:nvSpPr>
          <p:cNvPr id="33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96266B60-88C6-4B10-A657-1B7DDD60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550521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4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F1A51091-E3A4-4C3F-8A10-C0BB0A5B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550521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}</a:t>
            </a:r>
          </a:p>
        </p:txBody>
      </p:sp>
      <p:sp>
        <p:nvSpPr>
          <p:cNvPr id="35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633D0A8F-3EF5-405B-900B-29059CDC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870502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6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CCA206F9-6050-4EAF-8C30-0F027E25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870502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37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7F737B91-7191-4B2C-94A5-97E13ECB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25030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Радња је одбијена</a:t>
            </a:r>
          </a:p>
        </p:txBody>
      </p:sp>
      <p:sp>
        <p:nvSpPr>
          <p:cNvPr id="38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98D3D870-DD41-4CE2-BBBB-B1C0061F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030736"/>
            <a:ext cx="393114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Читалац има report.view, али </a:t>
            </a:r>
          </a:p>
        </p:txBody>
      </p:sp>
      <p:sp>
        <p:nvSpPr>
          <p:cNvPr id="39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5B7CB692-C5D4-480D-9D94-E76DC9BB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403997"/>
            <a:ext cx="379377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нема report.export. Статус и </a:t>
            </a:r>
          </a:p>
        </p:txBody>
      </p:sp>
      <p:sp>
        <p:nvSpPr>
          <p:cNvPr id="4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CCFE5CBD-03C6-43F3-ACD5-14E67FE2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777258"/>
            <a:ext cx="270837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опсег су исправни.</a:t>
            </a:r>
          </a:p>
        </p:txBody>
      </p:sp>
      <p:sp>
        <p:nvSpPr>
          <p:cNvPr id="41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F5B89E78-9457-42D7-9AD1-A99292D6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750594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Други слој доказа</a:t>
            </a:r>
          </a:p>
        </p:txBody>
      </p:sp>
      <p:sp>
        <p:nvSpPr>
          <p:cNvPr id="42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BF164EDD-54F5-44A4-AE13-F59EC5DF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156299"/>
            <a:ext cx="359911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Audit бележи actor, action, </a:t>
            </a:r>
          </a:p>
        </p:txBody>
      </p:sp>
      <p:sp>
        <p:nvSpPr>
          <p:cNvPr id="43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FF8A8CD6-EF5C-4DDB-A498-D68CA662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29560"/>
            <a:ext cx="383485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target и outcome. То захтева </a:t>
            </a:r>
          </a:p>
        </p:txBody>
      </p:sp>
      <p:sp>
        <p:nvSpPr>
          <p:cNvPr id="44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3786E174-6694-47FE-9779-CFB76A75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902821"/>
            <a:ext cx="419382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посебну проверу тока захтева.</a:t>
            </a:r>
          </a:p>
        </p:txBody>
      </p:sp>
      <p:sp>
        <p:nvSpPr>
          <p:cNvPr id="45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1FB08C8A-C09E-433E-A417-15992EAA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46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67D82225-30CB-4520-9770-4C3834C5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0172993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6A622-26A1-4402-9F4A-BF9402EB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BA114-D1CE-499E-879A-70A8C8DC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text-test-matrica">
            <a:extLst xmlns:a="http://schemas.openxmlformats.org/drawingml/2006/main">
              <a:ext uri="{FF2B5EF4-FFF2-40B4-BE49-F238E27FC236}">
                <a16:creationId xmlns:a16="http://schemas.microsoft.com/office/drawing/2014/main" id="{D09D133D-50ED-401A-ACF3-4B4FF2E9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 · ИЛУСТРАТИВНИ ТЕСТОВИ</a:t>
            </a:r>
          </a:p>
        </p:txBody>
      </p:sp>
      <p:sp>
        <p:nvSpPr>
          <p:cNvPr id="4" name="heading-test-matrica">
            <a:extLst xmlns:a="http://schemas.openxmlformats.org/drawingml/2006/main">
              <a:ext uri="{FF2B5EF4-FFF2-40B4-BE49-F238E27FC236}">
                <a16:creationId xmlns:a16="http://schemas.microsoft.com/office/drawing/2014/main" id="{91AFB9E3-3FF1-4032-828C-5E5EA3BB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135689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59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Сценарији провере приступа</a:t>
            </a:r>
          </a:p>
        </p:txBody>
      </p:sp>
      <p:sp>
        <p:nvSpPr>
          <p:cNvPr id="5" name="text-test-matrica">
            <a:extLst xmlns:a="http://schemas.openxmlformats.org/drawingml/2006/main">
              <a:ext uri="{FF2B5EF4-FFF2-40B4-BE49-F238E27FC236}">
                <a16:creationId xmlns:a16="http://schemas.microsoft.com/office/drawing/2014/main" id="{4194F108-8768-4BDD-8D79-7B1D8B50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6" name="text-test-matrica">
            <a:extLst xmlns:a="http://schemas.openxmlformats.org/drawingml/2006/main">
              <a:ext uri="{FF2B5EF4-FFF2-40B4-BE49-F238E27FC236}">
                <a16:creationId xmlns:a16="http://schemas.microsoft.com/office/drawing/2014/main" id="{3E0E17D4-9702-4FDD-8998-D6A8024A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219200" y="2434530"/>
          <a:ext xmlns:a="http://schemas.openxmlformats.org/drawingml/2006/main" cx="15849600" cy="4213324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432548"/>
                <a:gridCol w="6965305"/>
                <a:gridCol w="4432697"/>
              </a:tblGrid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Сценарио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2EB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Шта мењамо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2EB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Очекивани исход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2EBE9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Дозвољен приступ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Активан налог, дозвола и опсег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Allow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Без пријаве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Идентитет није потврђен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not_authenticated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Суспендован налог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Идентитет је неактиван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identity_inactive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Погрешан опсег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Ресурс је у другом домену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out_of_scope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Без дозволе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Улоге не дају report.export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permission_not_granted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22680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E2EB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25C1D-ABC2-41FC-90D9-A9822648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946547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AEC2C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A4BE6-337C-4BAC-966A-C58D7D65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647" y="6158657"/>
            <a:ext cx="1714798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AEC2C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741B9-62BC-49FD-B86D-66A6191B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745" y="6158657"/>
            <a:ext cx="675829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AEC2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A7FF9-BB91-4636-A4D4-10ED1193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0873" y="6158657"/>
            <a:ext cx="1925985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AEC2C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1091E-93A4-4940-B77A-0EE5F65A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2C6"/>
          </a:solidFill>
          <a:ln xmlns:a="http://schemas.openxmlformats.org/drawingml/2006/main" w="0">
            <a:noFill/>
          </a:ln>
        </p:spPr>
      </p:sp>
      <p:sp>
        <p:nvSpPr>
          <p:cNvPr id="6" name="text-deo4">
            <a:extLst xmlns:a="http://schemas.openxmlformats.org/drawingml/2006/main">
              <a:ext uri="{FF2B5EF4-FFF2-40B4-BE49-F238E27FC236}">
                <a16:creationId xmlns:a16="http://schemas.microsoft.com/office/drawing/2014/main" id="{87805191-4ABD-4110-8450-7B71F487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7" name="text-deo4">
            <a:extLst xmlns:a="http://schemas.openxmlformats.org/drawingml/2006/main">
              <a:ext uri="{FF2B5EF4-FFF2-40B4-BE49-F238E27FC236}">
                <a16:creationId xmlns:a16="http://schemas.microsoft.com/office/drawing/2014/main" id="{87CDED72-F6A5-4AF3-901C-95E2AF7C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ЧЕТВРТИ ДЕО</a:t>
            </a:r>
          </a:p>
        </p:txBody>
      </p:sp>
      <p:sp>
        <p:nvSpPr>
          <p:cNvPr id="8" name="heading-deo4">
            <a:extLst xmlns:a="http://schemas.openxmlformats.org/drawingml/2006/main">
              <a:ext uri="{FF2B5EF4-FFF2-40B4-BE49-F238E27FC236}">
                <a16:creationId xmlns:a16="http://schemas.microsoft.com/office/drawing/2014/main" id="{8632CF6A-442C-40D2-9EAD-A99C5CA4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880303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689"/>
          </a:bodyPr>
          <a:lstStyle xmlns:a="http://schemas.openxmlformats.org/drawingml/2006/main"/>
          <a:p xmlns:a="http://schemas.openxmlformats.org/drawingml/2006/main">
            <a:pPr algn="l">
              <a:buNone/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Ревизија и примена</a:t>
            </a:r>
          </a:p>
        </p:txBody>
      </p:sp>
      <p:sp>
        <p:nvSpPr>
          <p:cNvPr id="9" name="text-deo4">
            <a:extLst xmlns:a="http://schemas.openxmlformats.org/drawingml/2006/main">
              <a:ext uri="{FF2B5EF4-FFF2-40B4-BE49-F238E27FC236}">
                <a16:creationId xmlns:a16="http://schemas.microsoft.com/office/drawing/2014/main" id="{B629634E-4007-4B10-ADBF-5650D0C5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857979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Ревизиони запис, поновљив доказ, припрема пројектне целине и </a:t>
            </a:r>
          </a:p>
        </p:txBody>
      </p:sp>
      <p:sp>
        <p:nvSpPr>
          <p:cNvPr id="10" name="text-deo4">
            <a:extLst xmlns:a="http://schemas.openxmlformats.org/drawingml/2006/main">
              <a:ext uri="{FF2B5EF4-FFF2-40B4-BE49-F238E27FC236}">
                <a16:creationId xmlns:a16="http://schemas.microsoft.com/office/drawing/2014/main" id="{D0425A68-F83A-4F49-9854-A0C20828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307553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провера разумевања.</a:t>
            </a:r>
          </a:p>
        </p:txBody>
      </p:sp>
      <p:sp>
        <p:nvSpPr>
          <p:cNvPr id="11" name="text-deo4">
            <a:extLst xmlns:a="http://schemas.openxmlformats.org/drawingml/2006/main">
              <a:ext uri="{FF2B5EF4-FFF2-40B4-BE49-F238E27FC236}">
                <a16:creationId xmlns:a16="http://schemas.microsoft.com/office/drawing/2014/main" id="{31B1222A-A95C-4547-9C73-321C7602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88939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Audit</a:t>
            </a:r>
          </a:p>
        </p:txBody>
      </p:sp>
      <p:sp>
        <p:nvSpPr>
          <p:cNvPr id="12" name="text-deo4">
            <a:extLst xmlns:a="http://schemas.openxmlformats.org/drawingml/2006/main">
              <a:ext uri="{FF2B5EF4-FFF2-40B4-BE49-F238E27FC236}">
                <a16:creationId xmlns:a16="http://schemas.microsoft.com/office/drawing/2014/main" id="{B649B2BE-8385-4451-A5D7-FD8DE25A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672" y="6244382"/>
            <a:ext cx="165764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Allow и deny</a:t>
            </a:r>
          </a:p>
        </p:txBody>
      </p:sp>
      <p:sp>
        <p:nvSpPr>
          <p:cNvPr id="13" name="text-deo4">
            <a:extLst xmlns:a="http://schemas.openxmlformats.org/drawingml/2006/main">
              <a:ext uri="{FF2B5EF4-FFF2-40B4-BE49-F238E27FC236}">
                <a16:creationId xmlns:a16="http://schemas.microsoft.com/office/drawing/2014/main" id="{0A672A77-2094-4139-84AD-B0F2DEB4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770" y="6244382"/>
            <a:ext cx="6186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КТ1</a:t>
            </a:r>
          </a:p>
        </p:txBody>
      </p:sp>
      <p:sp>
        <p:nvSpPr>
          <p:cNvPr id="14" name="text-deo4">
            <a:extLst xmlns:a="http://schemas.openxmlformats.org/drawingml/2006/main">
              <a:ext uri="{FF2B5EF4-FFF2-40B4-BE49-F238E27FC236}">
                <a16:creationId xmlns:a16="http://schemas.microsoft.com/office/drawing/2014/main" id="{FAE03E9C-9968-4CEA-96FF-06491109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0898" y="6244382"/>
            <a:ext cx="186883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Образложење</a:t>
            </a:r>
          </a:p>
        </p:txBody>
      </p:sp>
      <p:sp>
        <p:nvSpPr>
          <p:cNvPr id="15" name="text-deo4">
            <a:extLst xmlns:a="http://schemas.openxmlformats.org/drawingml/2006/main">
              <a:ext uri="{FF2B5EF4-FFF2-40B4-BE49-F238E27FC236}">
                <a16:creationId xmlns:a16="http://schemas.microsoft.com/office/drawing/2014/main" id="{8250FE71-964E-47A8-9919-4A7DECF0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4">
            <a:extLst xmlns:a="http://schemas.openxmlformats.org/drawingml/2006/main">
              <a:ext uri="{FF2B5EF4-FFF2-40B4-BE49-F238E27FC236}">
                <a16:creationId xmlns:a16="http://schemas.microsoft.com/office/drawing/2014/main" id="{81ADAB94-52CF-469C-8C84-4D1C692E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617207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2BAC2C-BF0D-4500-A3ED-86BA0FC2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74191-07FE-41E9-A23E-6734EB33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1049000" cy="3356074"/>
          </a:xfrm>
          <a:prstGeom xmlns:a="http://schemas.openxmlformats.org/drawingml/2006/main" prst="roundRect">
            <a:avLst>
              <a:gd name="adj" fmla="val 454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A596D-097A-4304-B372-8050266E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112591"/>
            <a:ext cx="4495800" cy="1896963"/>
          </a:xfrm>
          <a:prstGeom xmlns:a="http://schemas.openxmlformats.org/drawingml/2006/main" prst="roundRect">
            <a:avLst>
              <a:gd name="adj" fmla="val 602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4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FF04BD8F-2203-4762-93AD-3CB4CB87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112591"/>
            <a:ext cx="114300" cy="1896963"/>
          </a:xfrm>
          <a:custGeom xmlns:a="http://schemas.openxmlformats.org/drawingml/2006/main">
            <a:pathLst>
              <a:path w="114300" h="1896963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782663"/>
                </a:lnTo>
                <a:lnTo>
                  <a:pt x="61" y="1786403"/>
                </a:lnTo>
                <a:lnTo>
                  <a:pt x="245" y="1790139"/>
                </a:lnTo>
                <a:lnTo>
                  <a:pt x="550" y="1793867"/>
                </a:lnTo>
                <a:lnTo>
                  <a:pt x="978" y="1797582"/>
                </a:lnTo>
                <a:lnTo>
                  <a:pt x="1527" y="1801282"/>
                </a:lnTo>
                <a:lnTo>
                  <a:pt x="2196" y="1804962"/>
                </a:lnTo>
                <a:lnTo>
                  <a:pt x="2986" y="1808618"/>
                </a:lnTo>
                <a:lnTo>
                  <a:pt x="3895" y="1812246"/>
                </a:lnTo>
                <a:lnTo>
                  <a:pt x="4922" y="1815843"/>
                </a:lnTo>
                <a:lnTo>
                  <a:pt x="6066" y="1819404"/>
                </a:lnTo>
                <a:lnTo>
                  <a:pt x="7326" y="1822925"/>
                </a:lnTo>
                <a:lnTo>
                  <a:pt x="8701" y="1826404"/>
                </a:lnTo>
                <a:lnTo>
                  <a:pt x="10188" y="1829836"/>
                </a:lnTo>
                <a:lnTo>
                  <a:pt x="11787" y="1833217"/>
                </a:lnTo>
                <a:lnTo>
                  <a:pt x="13496" y="1836544"/>
                </a:lnTo>
                <a:lnTo>
                  <a:pt x="15313" y="1839813"/>
                </a:lnTo>
                <a:lnTo>
                  <a:pt x="17236" y="1843021"/>
                </a:lnTo>
                <a:lnTo>
                  <a:pt x="19263" y="1846165"/>
                </a:lnTo>
                <a:lnTo>
                  <a:pt x="21392" y="1849240"/>
                </a:lnTo>
                <a:lnTo>
                  <a:pt x="23620" y="1852245"/>
                </a:lnTo>
                <a:lnTo>
                  <a:pt x="25945" y="1855174"/>
                </a:lnTo>
                <a:lnTo>
                  <a:pt x="28365" y="1858027"/>
                </a:lnTo>
                <a:lnTo>
                  <a:pt x="30877" y="1860798"/>
                </a:lnTo>
                <a:lnTo>
                  <a:pt x="33478" y="1863486"/>
                </a:lnTo>
                <a:lnTo>
                  <a:pt x="36165" y="1866087"/>
                </a:lnTo>
                <a:lnTo>
                  <a:pt x="38937" y="1868599"/>
                </a:lnTo>
                <a:lnTo>
                  <a:pt x="41789" y="1871018"/>
                </a:lnTo>
                <a:lnTo>
                  <a:pt x="44719" y="1873344"/>
                </a:lnTo>
                <a:lnTo>
                  <a:pt x="47723" y="1875572"/>
                </a:lnTo>
                <a:lnTo>
                  <a:pt x="50798" y="1877700"/>
                </a:lnTo>
                <a:lnTo>
                  <a:pt x="53942" y="1879727"/>
                </a:lnTo>
                <a:lnTo>
                  <a:pt x="57150" y="1881650"/>
                </a:lnTo>
                <a:lnTo>
                  <a:pt x="60419" y="1883467"/>
                </a:lnTo>
                <a:lnTo>
                  <a:pt x="63746" y="1885176"/>
                </a:lnTo>
                <a:lnTo>
                  <a:pt x="67128" y="1886775"/>
                </a:lnTo>
                <a:lnTo>
                  <a:pt x="70559" y="1888263"/>
                </a:lnTo>
                <a:lnTo>
                  <a:pt x="74038" y="1889637"/>
                </a:lnTo>
                <a:lnTo>
                  <a:pt x="77559" y="1890897"/>
                </a:lnTo>
                <a:lnTo>
                  <a:pt x="81120" y="1892042"/>
                </a:lnTo>
                <a:lnTo>
                  <a:pt x="84717" y="1893069"/>
                </a:lnTo>
                <a:lnTo>
                  <a:pt x="88345" y="1893977"/>
                </a:lnTo>
                <a:lnTo>
                  <a:pt x="92001" y="1894767"/>
                </a:lnTo>
                <a:lnTo>
                  <a:pt x="95681" y="1895437"/>
                </a:lnTo>
                <a:lnTo>
                  <a:pt x="99381" y="1895985"/>
                </a:lnTo>
                <a:lnTo>
                  <a:pt x="103097" y="1896413"/>
                </a:lnTo>
                <a:lnTo>
                  <a:pt x="106824" y="1896719"/>
                </a:lnTo>
                <a:lnTo>
                  <a:pt x="110560" y="1896902"/>
                </a:lnTo>
                <a:lnTo>
                  <a:pt x="114300" y="1896963"/>
                </a:lnTo>
                <a:lnTo>
                  <a:pt x="114300" y="1896963"/>
                </a:lnTo>
                <a:lnTo>
                  <a:pt x="112430" y="1896902"/>
                </a:lnTo>
                <a:lnTo>
                  <a:pt x="110562" y="1896719"/>
                </a:lnTo>
                <a:lnTo>
                  <a:pt x="108698" y="1896413"/>
                </a:lnTo>
                <a:lnTo>
                  <a:pt x="106840" y="1895985"/>
                </a:lnTo>
                <a:lnTo>
                  <a:pt x="104991" y="1895437"/>
                </a:lnTo>
                <a:lnTo>
                  <a:pt x="103151" y="1894767"/>
                </a:lnTo>
                <a:lnTo>
                  <a:pt x="101323" y="1893977"/>
                </a:lnTo>
                <a:lnTo>
                  <a:pt x="99508" y="1893069"/>
                </a:lnTo>
                <a:lnTo>
                  <a:pt x="97710" y="1892042"/>
                </a:lnTo>
                <a:lnTo>
                  <a:pt x="95930" y="1890897"/>
                </a:lnTo>
                <a:lnTo>
                  <a:pt x="94169" y="1889637"/>
                </a:lnTo>
                <a:lnTo>
                  <a:pt x="92430" y="1888263"/>
                </a:lnTo>
                <a:lnTo>
                  <a:pt x="90714" y="1886775"/>
                </a:lnTo>
                <a:lnTo>
                  <a:pt x="89023" y="1885176"/>
                </a:lnTo>
                <a:lnTo>
                  <a:pt x="87360" y="1883467"/>
                </a:lnTo>
                <a:lnTo>
                  <a:pt x="85725" y="1881650"/>
                </a:lnTo>
                <a:lnTo>
                  <a:pt x="84121" y="1879727"/>
                </a:lnTo>
                <a:lnTo>
                  <a:pt x="82549" y="1877700"/>
                </a:lnTo>
                <a:lnTo>
                  <a:pt x="81011" y="1875572"/>
                </a:lnTo>
                <a:lnTo>
                  <a:pt x="79509" y="1873344"/>
                </a:lnTo>
                <a:lnTo>
                  <a:pt x="78044" y="1871018"/>
                </a:lnTo>
                <a:lnTo>
                  <a:pt x="76618" y="1868599"/>
                </a:lnTo>
                <a:lnTo>
                  <a:pt x="75233" y="1866087"/>
                </a:lnTo>
                <a:lnTo>
                  <a:pt x="73889" y="1863486"/>
                </a:lnTo>
                <a:lnTo>
                  <a:pt x="72588" y="1860798"/>
                </a:lnTo>
                <a:lnTo>
                  <a:pt x="71332" y="1858027"/>
                </a:lnTo>
                <a:lnTo>
                  <a:pt x="70122" y="1855174"/>
                </a:lnTo>
                <a:lnTo>
                  <a:pt x="68960" y="1852245"/>
                </a:lnTo>
                <a:lnTo>
                  <a:pt x="67846" y="1849240"/>
                </a:lnTo>
                <a:lnTo>
                  <a:pt x="66782" y="1846165"/>
                </a:lnTo>
                <a:lnTo>
                  <a:pt x="65768" y="1843021"/>
                </a:lnTo>
                <a:lnTo>
                  <a:pt x="64807" y="1839813"/>
                </a:lnTo>
                <a:lnTo>
                  <a:pt x="63898" y="1836544"/>
                </a:lnTo>
                <a:lnTo>
                  <a:pt x="63044" y="1833217"/>
                </a:lnTo>
                <a:lnTo>
                  <a:pt x="62244" y="1829836"/>
                </a:lnTo>
                <a:lnTo>
                  <a:pt x="61500" y="1826404"/>
                </a:lnTo>
                <a:lnTo>
                  <a:pt x="60813" y="1822925"/>
                </a:lnTo>
                <a:lnTo>
                  <a:pt x="60183" y="1819404"/>
                </a:lnTo>
                <a:lnTo>
                  <a:pt x="59611" y="1815843"/>
                </a:lnTo>
                <a:lnTo>
                  <a:pt x="59097" y="1812246"/>
                </a:lnTo>
                <a:lnTo>
                  <a:pt x="58643" y="1808618"/>
                </a:lnTo>
                <a:lnTo>
                  <a:pt x="58248" y="1804962"/>
                </a:lnTo>
                <a:lnTo>
                  <a:pt x="57913" y="1801282"/>
                </a:lnTo>
                <a:lnTo>
                  <a:pt x="57639" y="1797582"/>
                </a:lnTo>
                <a:lnTo>
                  <a:pt x="57425" y="1793867"/>
                </a:lnTo>
                <a:lnTo>
                  <a:pt x="57272" y="1790139"/>
                </a:lnTo>
                <a:lnTo>
                  <a:pt x="57181" y="1786403"/>
                </a:lnTo>
                <a:lnTo>
                  <a:pt x="57150" y="1782663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D5553-9E03-4048-966A-2770F47C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238155"/>
            <a:ext cx="4495800" cy="3016746"/>
          </a:xfrm>
          <a:prstGeom xmlns:a="http://schemas.openxmlformats.org/drawingml/2006/main" prst="roundRect">
            <a:avLst>
              <a:gd name="adj" fmla="val 3789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AAD49C2B-A619-4BDD-BCAD-2270786D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238155"/>
            <a:ext cx="114300" cy="3016746"/>
          </a:xfrm>
          <a:custGeom xmlns:a="http://schemas.openxmlformats.org/drawingml/2006/main">
            <a:pathLst>
              <a:path w="114300" h="3016746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2902446"/>
                </a:lnTo>
                <a:lnTo>
                  <a:pt x="61" y="2906186"/>
                </a:lnTo>
                <a:lnTo>
                  <a:pt x="245" y="2909922"/>
                </a:lnTo>
                <a:lnTo>
                  <a:pt x="550" y="2913649"/>
                </a:lnTo>
                <a:lnTo>
                  <a:pt x="978" y="2917365"/>
                </a:lnTo>
                <a:lnTo>
                  <a:pt x="1527" y="2921065"/>
                </a:lnTo>
                <a:lnTo>
                  <a:pt x="2196" y="2924745"/>
                </a:lnTo>
                <a:lnTo>
                  <a:pt x="2986" y="2928401"/>
                </a:lnTo>
                <a:lnTo>
                  <a:pt x="3895" y="2932029"/>
                </a:lnTo>
                <a:lnTo>
                  <a:pt x="4922" y="2935626"/>
                </a:lnTo>
                <a:lnTo>
                  <a:pt x="6066" y="2939187"/>
                </a:lnTo>
                <a:lnTo>
                  <a:pt x="7326" y="2942708"/>
                </a:lnTo>
                <a:lnTo>
                  <a:pt x="8701" y="2946187"/>
                </a:lnTo>
                <a:lnTo>
                  <a:pt x="10188" y="2949619"/>
                </a:lnTo>
                <a:lnTo>
                  <a:pt x="11787" y="2953000"/>
                </a:lnTo>
                <a:lnTo>
                  <a:pt x="13496" y="2956327"/>
                </a:lnTo>
                <a:lnTo>
                  <a:pt x="15313" y="2959596"/>
                </a:lnTo>
                <a:lnTo>
                  <a:pt x="17236" y="2962804"/>
                </a:lnTo>
                <a:lnTo>
                  <a:pt x="19263" y="2965948"/>
                </a:lnTo>
                <a:lnTo>
                  <a:pt x="21392" y="2969023"/>
                </a:lnTo>
                <a:lnTo>
                  <a:pt x="23620" y="2972028"/>
                </a:lnTo>
                <a:lnTo>
                  <a:pt x="25945" y="2974957"/>
                </a:lnTo>
                <a:lnTo>
                  <a:pt x="28365" y="2977809"/>
                </a:lnTo>
                <a:lnTo>
                  <a:pt x="30877" y="2980581"/>
                </a:lnTo>
                <a:lnTo>
                  <a:pt x="33478" y="2983268"/>
                </a:lnTo>
                <a:lnTo>
                  <a:pt x="36165" y="2985870"/>
                </a:lnTo>
                <a:lnTo>
                  <a:pt x="38937" y="2988381"/>
                </a:lnTo>
                <a:lnTo>
                  <a:pt x="41789" y="2990801"/>
                </a:lnTo>
                <a:lnTo>
                  <a:pt x="44719" y="2993126"/>
                </a:lnTo>
                <a:lnTo>
                  <a:pt x="47723" y="2995354"/>
                </a:lnTo>
                <a:lnTo>
                  <a:pt x="50798" y="2997483"/>
                </a:lnTo>
                <a:lnTo>
                  <a:pt x="53942" y="2999510"/>
                </a:lnTo>
                <a:lnTo>
                  <a:pt x="57150" y="3001433"/>
                </a:lnTo>
                <a:lnTo>
                  <a:pt x="60419" y="3003250"/>
                </a:lnTo>
                <a:lnTo>
                  <a:pt x="63746" y="3004959"/>
                </a:lnTo>
                <a:lnTo>
                  <a:pt x="67128" y="3006558"/>
                </a:lnTo>
                <a:lnTo>
                  <a:pt x="70559" y="3008046"/>
                </a:lnTo>
                <a:lnTo>
                  <a:pt x="74038" y="3009420"/>
                </a:lnTo>
                <a:lnTo>
                  <a:pt x="77559" y="3010680"/>
                </a:lnTo>
                <a:lnTo>
                  <a:pt x="81120" y="3011824"/>
                </a:lnTo>
                <a:lnTo>
                  <a:pt x="84717" y="3012851"/>
                </a:lnTo>
                <a:lnTo>
                  <a:pt x="88345" y="3013760"/>
                </a:lnTo>
                <a:lnTo>
                  <a:pt x="92001" y="3014550"/>
                </a:lnTo>
                <a:lnTo>
                  <a:pt x="95681" y="3015219"/>
                </a:lnTo>
                <a:lnTo>
                  <a:pt x="99381" y="3015768"/>
                </a:lnTo>
                <a:lnTo>
                  <a:pt x="103097" y="3016196"/>
                </a:lnTo>
                <a:lnTo>
                  <a:pt x="106824" y="3016501"/>
                </a:lnTo>
                <a:lnTo>
                  <a:pt x="110560" y="3016685"/>
                </a:lnTo>
                <a:lnTo>
                  <a:pt x="114300" y="3016746"/>
                </a:lnTo>
                <a:lnTo>
                  <a:pt x="114300" y="3016746"/>
                </a:lnTo>
                <a:lnTo>
                  <a:pt x="112430" y="3016685"/>
                </a:lnTo>
                <a:lnTo>
                  <a:pt x="110562" y="3016501"/>
                </a:lnTo>
                <a:lnTo>
                  <a:pt x="108698" y="3016196"/>
                </a:lnTo>
                <a:lnTo>
                  <a:pt x="106840" y="3015768"/>
                </a:lnTo>
                <a:lnTo>
                  <a:pt x="104991" y="3015219"/>
                </a:lnTo>
                <a:lnTo>
                  <a:pt x="103151" y="3014550"/>
                </a:lnTo>
                <a:lnTo>
                  <a:pt x="101323" y="3013760"/>
                </a:lnTo>
                <a:lnTo>
                  <a:pt x="99508" y="3012851"/>
                </a:lnTo>
                <a:lnTo>
                  <a:pt x="97710" y="3011824"/>
                </a:lnTo>
                <a:lnTo>
                  <a:pt x="95930" y="3010680"/>
                </a:lnTo>
                <a:lnTo>
                  <a:pt x="94169" y="3009420"/>
                </a:lnTo>
                <a:lnTo>
                  <a:pt x="92430" y="3008046"/>
                </a:lnTo>
                <a:lnTo>
                  <a:pt x="90714" y="3006558"/>
                </a:lnTo>
                <a:lnTo>
                  <a:pt x="89023" y="3004959"/>
                </a:lnTo>
                <a:lnTo>
                  <a:pt x="87360" y="3003250"/>
                </a:lnTo>
                <a:lnTo>
                  <a:pt x="85725" y="3001433"/>
                </a:lnTo>
                <a:lnTo>
                  <a:pt x="84121" y="2999510"/>
                </a:lnTo>
                <a:lnTo>
                  <a:pt x="82549" y="2997483"/>
                </a:lnTo>
                <a:lnTo>
                  <a:pt x="81011" y="2995354"/>
                </a:lnTo>
                <a:lnTo>
                  <a:pt x="79509" y="2993126"/>
                </a:lnTo>
                <a:lnTo>
                  <a:pt x="78044" y="2990801"/>
                </a:lnTo>
                <a:lnTo>
                  <a:pt x="76618" y="2988381"/>
                </a:lnTo>
                <a:lnTo>
                  <a:pt x="75233" y="2985870"/>
                </a:lnTo>
                <a:lnTo>
                  <a:pt x="73889" y="2983268"/>
                </a:lnTo>
                <a:lnTo>
                  <a:pt x="72588" y="2980581"/>
                </a:lnTo>
                <a:lnTo>
                  <a:pt x="71332" y="2977809"/>
                </a:lnTo>
                <a:lnTo>
                  <a:pt x="70122" y="2974957"/>
                </a:lnTo>
                <a:lnTo>
                  <a:pt x="68960" y="2972028"/>
                </a:lnTo>
                <a:lnTo>
                  <a:pt x="67846" y="2969023"/>
                </a:lnTo>
                <a:lnTo>
                  <a:pt x="66782" y="2965948"/>
                </a:lnTo>
                <a:lnTo>
                  <a:pt x="65768" y="2962804"/>
                </a:lnTo>
                <a:lnTo>
                  <a:pt x="64807" y="2959596"/>
                </a:lnTo>
                <a:lnTo>
                  <a:pt x="63898" y="2956327"/>
                </a:lnTo>
                <a:lnTo>
                  <a:pt x="63044" y="2953000"/>
                </a:lnTo>
                <a:lnTo>
                  <a:pt x="62244" y="2949619"/>
                </a:lnTo>
                <a:lnTo>
                  <a:pt x="61500" y="2946187"/>
                </a:lnTo>
                <a:lnTo>
                  <a:pt x="60813" y="2942708"/>
                </a:lnTo>
                <a:lnTo>
                  <a:pt x="60183" y="2939187"/>
                </a:lnTo>
                <a:lnTo>
                  <a:pt x="59611" y="2935626"/>
                </a:lnTo>
                <a:lnTo>
                  <a:pt x="59097" y="2932029"/>
                </a:lnTo>
                <a:lnTo>
                  <a:pt x="58643" y="2928401"/>
                </a:lnTo>
                <a:lnTo>
                  <a:pt x="58248" y="2924745"/>
                </a:lnTo>
                <a:lnTo>
                  <a:pt x="57913" y="2921065"/>
                </a:lnTo>
                <a:lnTo>
                  <a:pt x="57639" y="2917365"/>
                </a:lnTo>
                <a:lnTo>
                  <a:pt x="57425" y="2913649"/>
                </a:lnTo>
                <a:lnTo>
                  <a:pt x="57272" y="2909922"/>
                </a:lnTo>
                <a:lnTo>
                  <a:pt x="57181" y="2906186"/>
                </a:lnTo>
                <a:lnTo>
                  <a:pt x="57150" y="2902446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CE5E7-0390-4E6D-9BF8-23C242E2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769D39BF-79D7-4F72-A5AF-6E026E1B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3736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 · РЕВИЗИЈА</a:t>
            </a:r>
          </a:p>
        </p:txBody>
      </p:sp>
      <p:sp>
        <p:nvSpPr>
          <p:cNvPr id="9" name="heading-source-19">
            <a:extLst xmlns:a="http://schemas.openxmlformats.org/drawingml/2006/main">
              <a:ext uri="{FF2B5EF4-FFF2-40B4-BE49-F238E27FC236}">
                <a16:creationId xmlns:a16="http://schemas.microsoft.com/office/drawing/2014/main" id="{65CE435D-596C-48C8-8196-785646A4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850981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26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ревизионог записа</a:t>
            </a:r>
          </a:p>
        </p:txBody>
      </p:sp>
      <p:sp>
        <p:nvSpPr>
          <p:cNvPr id="10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C5B5D0D6-D894-4102-A6F0-36ED7AF9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76436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Запис омогућава реконструкцију покушаја без чувања лозинки, токена или непотребних личних података.</a:t>
            </a:r>
          </a:p>
        </p:txBody>
      </p:sp>
      <p:sp>
        <p:nvSpPr>
          <p:cNvPr id="11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71DDAC0A-2873-4A73-B589-26261322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12616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JSON · илустративни запис</a:t>
            </a:r>
          </a:p>
        </p:txBody>
      </p:sp>
      <p:sp>
        <p:nvSpPr>
          <p:cNvPr id="12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1C872E2B-FE80-45A3-B6B6-102DAD5A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7087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3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088B1997-6290-4492-9B32-A822FE10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087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4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F838405A-7F0C-41EB-B40D-94C395F7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287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5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4CC81FE7-3C67-4DA6-822B-1ED5E3F3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8777"/>
            <a:ext cx="336083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"actor"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"user-184"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16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24BB1EFE-854B-4892-B9AD-8A2EAF7F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4875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7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F6990C5C-A071-457B-AD95-EC7252DC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48758"/>
            <a:ext cx="432092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"action"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"report.approve"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18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F54176CB-B400-4620-913C-B3BFE719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687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9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4EF1E847-3CF2-4B16-81DA-6C1226A4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68738"/>
            <a:ext cx="377234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"target"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"report-902"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20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FA8E21A0-AA73-41CB-8816-D64CF77E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887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1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CDFB1FE1-4229-4358-B21A-A4C6B57E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88719"/>
            <a:ext cx="336083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"outcome"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"denied"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22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377423A7-CCE0-40F0-B8DB-2474033D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086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3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B46279E2-FE28-434C-8063-8B2A9A9C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308699"/>
            <a:ext cx="48695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"reason"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"missing_permission"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24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9CFB07DE-035B-44AC-968E-A2F5C521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62868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5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EEF9BEFB-47F0-4079-B145-485DE37E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28680"/>
            <a:ext cx="40464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"correlationId"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"c-71f2"</a:t>
            </a:r>
          </a:p>
        </p:txBody>
      </p:sp>
      <p:sp>
        <p:nvSpPr>
          <p:cNvPr id="26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2634E506-62B7-4849-85B9-BA0A3B39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94866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7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B0955A80-1922-422E-98AA-84E5E939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4866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28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1D38D382-D6F8-42E9-A9C5-5E0EA1DF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303091"/>
            <a:ext cx="2263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Реконструкција</a:t>
            </a:r>
          </a:p>
        </p:txBody>
      </p:sp>
      <p:sp>
        <p:nvSpPr>
          <p:cNvPr id="29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77C4F8D7-1788-4202-926F-D4ABB705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708797"/>
            <a:ext cx="405333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Субјекат, радња, циљ и исход</a:t>
            </a:r>
          </a:p>
        </p:txBody>
      </p:sp>
      <p:sp>
        <p:nvSpPr>
          <p:cNvPr id="30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56D90A71-E4D6-4E4A-8B96-3DD7D723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082058"/>
            <a:ext cx="409753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Correlation ID повезује одлуку </a:t>
            </a:r>
          </a:p>
        </p:txBody>
      </p:sp>
      <p:sp>
        <p:nvSpPr>
          <p:cNvPr id="31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A8C184EC-04A3-458C-A4B8-798F98D5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455319"/>
            <a:ext cx="355669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са остатком тока захтева.</a:t>
            </a:r>
          </a:p>
        </p:txBody>
      </p:sp>
      <p:sp>
        <p:nvSpPr>
          <p:cNvPr id="32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E459655D-E205-493D-AD13-B0FF1B37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428655"/>
            <a:ext cx="34976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Без осетљивих вредности</a:t>
            </a:r>
          </a:p>
        </p:txBody>
      </p:sp>
      <p:sp>
        <p:nvSpPr>
          <p:cNvPr id="33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D9C5257B-9984-4771-8F7B-2C38EA68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834360"/>
            <a:ext cx="399484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Лозинка, token и непотребни </a:t>
            </a:r>
          </a:p>
        </p:txBody>
      </p:sp>
      <p:sp>
        <p:nvSpPr>
          <p:cNvPr id="34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2A48EB73-C441-49FB-B007-E4F2B514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207621"/>
            <a:ext cx="209058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лични подаци</a:t>
            </a:r>
          </a:p>
        </p:txBody>
      </p:sp>
      <p:sp>
        <p:nvSpPr>
          <p:cNvPr id="35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52E86B8F-430A-415C-85FD-D2800E29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580882"/>
            <a:ext cx="369108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Ревизиони траг не садржи </a:t>
            </a:r>
          </a:p>
        </p:txBody>
      </p:sp>
      <p:sp>
        <p:nvSpPr>
          <p:cNvPr id="36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E0DB0980-6023-416B-BDF1-F4A4472E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954143"/>
            <a:ext cx="388798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осетљиве вредности које би </a:t>
            </a:r>
          </a:p>
        </p:txBody>
      </p:sp>
      <p:sp>
        <p:nvSpPr>
          <p:cNvPr id="37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AA17F114-6963-4D42-BAFC-75CA533F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327404"/>
            <a:ext cx="360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могле постати нови извор </a:t>
            </a:r>
          </a:p>
        </p:txBody>
      </p:sp>
      <p:sp>
        <p:nvSpPr>
          <p:cNvPr id="38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DC37801C-C098-4994-B3B7-8DED1B14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00665"/>
            <a:ext cx="13726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цурења.</a:t>
            </a:r>
          </a:p>
        </p:txBody>
      </p:sp>
      <p:sp>
        <p:nvSpPr>
          <p:cNvPr id="39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A09155E2-8EC5-4DBF-99EE-5520CDAB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40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BE2F7643-5BB2-45E2-8DB6-1220CB3E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8225902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B39C4F-EEC1-47A2-BB11-03D4D26E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D502A-B8A7-4EF1-B6F1-0E6F584D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FB633-2083-4CD5-B41D-522D976C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CED69-05B7-430D-8F25-D25A3F3E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F36A6-AB68-4627-ACDF-C4DDD6EB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819CB-FD35-4068-A24C-2554F4AC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04C5747D-698A-4103-838E-762EB4BE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F2034-30F5-4B68-998A-212ED267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6e15505434f5e"/>
          <a:stretch xmlns:a="http://schemas.openxmlformats.org/drawingml/2006/main"/>
        </p:blipFill>
        <p:spPr>
          <a:xfrm xmlns:a="http://schemas.openxmlformats.org/drawingml/2006/main">
            <a:off x="4886325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07be8a105413a"/>
          <a:stretch xmlns:a="http://schemas.openxmlformats.org/drawingml/2006/main"/>
        </p:blipFill>
        <p:spPr>
          <a:xfrm xmlns:a="http://schemas.openxmlformats.org/drawingml/2006/main">
            <a:off x="9010650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d1c81d457460b"/>
          <a:stretch xmlns:a="http://schemas.openxmlformats.org/drawingml/2006/main"/>
        </p:blipFill>
        <p:spPr>
          <a:xfrm xmlns:a="http://schemas.openxmlformats.org/drawingml/2006/main">
            <a:off x="13134975" y="421927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457876C4-5809-4D8C-87FB-5773E365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7796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 · ДОКАЗ ИСПРАВНОСТИ</a:t>
            </a:r>
          </a:p>
        </p:txBody>
      </p:sp>
      <p:sp>
        <p:nvSpPr>
          <p:cNvPr id="13" name="heading-source-13">
            <a:extLst xmlns:a="http://schemas.openxmlformats.org/drawingml/2006/main">
              <a:ext uri="{FF2B5EF4-FFF2-40B4-BE49-F238E27FC236}">
                <a16:creationId xmlns:a16="http://schemas.microsoft.com/office/drawing/2014/main" id="{ACA063EA-3182-43A0-8C84-2C1477D5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148283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681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Критеријуми исправног модела приступа</a:t>
            </a:r>
          </a:p>
        </p:txBody>
      </p:sp>
      <p:sp>
        <p:nvSpPr>
          <p:cNvPr id="14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2B6853ED-7FDE-483B-8ADC-C4DA3169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105420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Модел обухвата позитивне и негативне сценарије, разлог одлуке и ревизиони запис.</a:t>
            </a:r>
          </a:p>
        </p:txBody>
      </p:sp>
      <p:sp>
        <p:nvSpPr>
          <p:cNvPr id="15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2449C9CE-68BD-4AC4-9751-428FE637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F08620BD-EB85-4F5C-9017-033FF3CC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65109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Allow тест</a:t>
            </a:r>
          </a:p>
        </p:txBody>
      </p:sp>
      <p:sp>
        <p:nvSpPr>
          <p:cNvPr id="17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C64C02DF-2491-4E03-9601-B1C3259C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284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исправна улога и опсег</a:t>
            </a:r>
          </a:p>
        </p:txBody>
      </p:sp>
      <p:sp>
        <p:nvSpPr>
          <p:cNvPr id="18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2F647F9B-BF99-4067-9896-5A2D4127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B9EED32E-E888-483D-A9D2-4D654F7E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8847"/>
            <a:ext cx="157772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Deny тест</a:t>
            </a:r>
          </a:p>
        </p:txBody>
      </p:sp>
      <p:sp>
        <p:nvSpPr>
          <p:cNvPr id="20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CABAC978-A725-4A6B-80F2-B487EFE1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00277"/>
            <a:ext cx="308505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недостаје једна потребна </a:t>
            </a:r>
          </a:p>
        </p:txBody>
      </p:sp>
      <p:sp>
        <p:nvSpPr>
          <p:cNvPr id="21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92B613B8-CB1B-408A-82B6-38C36DAB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20258"/>
            <a:ext cx="14440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чињеница</a:t>
            </a:r>
          </a:p>
        </p:txBody>
      </p:sp>
      <p:sp>
        <p:nvSpPr>
          <p:cNvPr id="22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43EECFC5-CDEA-4107-93D7-F30EDF77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3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5234DBD3-3B1A-497D-B771-2E58D646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08847"/>
            <a:ext cx="101218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Audit</a:t>
            </a:r>
          </a:p>
        </p:txBody>
      </p:sp>
      <p:sp>
        <p:nvSpPr>
          <p:cNvPr id="24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F1F2945C-4471-4AB4-B127-8FDEBB3B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00277"/>
            <a:ext cx="238571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actor, action, target, </a:t>
            </a:r>
          </a:p>
        </p:txBody>
      </p:sp>
      <p:sp>
        <p:nvSpPr>
          <p:cNvPr id="25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965D9291-F9AB-4155-B02C-AD3FFFEC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920258"/>
            <a:ext cx="124688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outcome</a:t>
            </a:r>
          </a:p>
        </p:txBody>
      </p:sp>
      <p:sp>
        <p:nvSpPr>
          <p:cNvPr id="26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85309DD0-5414-45FB-9448-D8B9B9CE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7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415D9F31-D9F4-48E8-BA6E-7AA86AC5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108847"/>
            <a:ext cx="225816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Преглед права</a:t>
            </a:r>
          </a:p>
        </p:txBody>
      </p:sp>
      <p:sp>
        <p:nvSpPr>
          <p:cNvPr id="28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B99C3FDD-FFA6-426F-94D1-20724D66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600277"/>
            <a:ext cx="254391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зашто корисник има </a:t>
            </a:r>
          </a:p>
        </p:txBody>
      </p:sp>
      <p:sp>
        <p:nvSpPr>
          <p:cNvPr id="29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02A67E57-7748-4A64-89C4-205A2313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920258"/>
            <a:ext cx="12119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приступ</a:t>
            </a:r>
          </a:p>
        </p:txBody>
      </p:sp>
      <p:sp>
        <p:nvSpPr>
          <p:cNvPr id="30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89F738FF-88CB-47EA-831F-1D27D166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11763"/>
            <a:ext cx="28118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ПРОВЕРЉИВ ЗАКЉУЧАК</a:t>
            </a:r>
          </a:p>
        </p:txBody>
      </p:sp>
      <p:sp>
        <p:nvSpPr>
          <p:cNvPr id="31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6DA80705-3ED9-44E2-B955-DDE064AD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17469"/>
            <a:ext cx="1563320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Систем дозвољава оправдану радњу, одбија исту радњу без потребне дозволе и оставља траг који други члан тима може </a:t>
            </a:r>
          </a:p>
        </p:txBody>
      </p:sp>
      <p:sp>
        <p:nvSpPr>
          <p:cNvPr id="32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56868C07-CDD4-4FA0-A5E4-0B5F270F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90730"/>
            <a:ext cx="29347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да понови и објасни.</a:t>
            </a:r>
          </a:p>
        </p:txBody>
      </p:sp>
      <p:sp>
        <p:nvSpPr>
          <p:cNvPr id="33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0E7B9C85-F20F-4738-9F3A-80C91E5B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4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13159D2C-38FC-411E-9525-5665E036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84881150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DAB237-AE1F-4F31-B150-4E71857F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4FA4C-A186-4726-9FE4-6FD41E3A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7829550" cy="3028355"/>
          </a:xfrm>
          <a:prstGeom xmlns:a="http://schemas.openxmlformats.org/drawingml/2006/main" prst="roundRect">
            <a:avLst>
              <a:gd name="adj" fmla="val 5032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44BAD-D69E-4619-8F36-4073F232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12591"/>
            <a:ext cx="7829550" cy="3028355"/>
          </a:xfrm>
          <a:prstGeom xmlns:a="http://schemas.openxmlformats.org/drawingml/2006/main" prst="roundRect">
            <a:avLst>
              <a:gd name="adj" fmla="val 5032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450A6-12F3-4B81-A72D-4E52ED10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45746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5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E1B0E6EB-A5E4-4ECD-9962-409A2B18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45746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55548-6673-434B-AEBA-DCAC2A71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7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751AADFB-E580-4C62-ACC4-0B7CA1ED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6233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 · ПРОЈЕКТНА ЦЕЛИНА</a:t>
            </a:r>
          </a:p>
        </p:txBody>
      </p:sp>
      <p:sp>
        <p:nvSpPr>
          <p:cNvPr id="8" name="heading-source-14">
            <a:extLst xmlns:a="http://schemas.openxmlformats.org/drawingml/2006/main">
              <a:ext uri="{FF2B5EF4-FFF2-40B4-BE49-F238E27FC236}">
                <a16:creationId xmlns:a16="http://schemas.microsoft.com/office/drawing/2014/main" id="{4C19875D-C368-4D99-A234-138AB8B4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976491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на пројекту</a:t>
            </a:r>
          </a:p>
        </p:txBody>
      </p:sp>
      <p:sp>
        <p:nvSpPr>
          <p:cNvPr id="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19B89087-C88D-40EA-BFB7-D719EBFF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5646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Пројектна целина треба да садржи једну серверску одлуку о приступу и проверљив доказ њеног исхода.</a:t>
            </a:r>
          </a:p>
        </p:txBody>
      </p:sp>
      <p:sp>
        <p:nvSpPr>
          <p:cNvPr id="1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2E71B48F-AA43-409A-A6DC-92452296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2263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ИМПЛЕМЕНТАЦИЈА</a:t>
            </a:r>
          </a:p>
        </p:txBody>
      </p:sp>
      <p:sp>
        <p:nvSpPr>
          <p:cNvPr id="1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1262F8CC-E056-4D20-89BE-7C9E905D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433342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Једна безбедносна одлука</a:t>
            </a:r>
          </a:p>
        </p:txBody>
      </p:sp>
      <p:sp>
        <p:nvSpPr>
          <p:cNvPr id="1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F6DA043A-E4D2-43BE-B52D-3077A487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88793"/>
            <a:ext cx="705073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Имплементација обухвата субјекат, радњу, дозволу и </a:t>
            </a:r>
          </a:p>
        </p:txBody>
      </p:sp>
      <p:sp>
        <p:nvSpPr>
          <p:cNvPr id="1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CE91F295-31FC-484C-99C7-0DE0C5BA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62054"/>
            <a:ext cx="660930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опсег. Серверска одлука користи актуелни статус </a:t>
            </a:r>
          </a:p>
        </p:txBody>
      </p:sp>
      <p:sp>
        <p:nvSpPr>
          <p:cNvPr id="1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D34E060C-1F6D-42E4-A47F-449C8339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135314"/>
            <a:ext cx="184770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идентитета.</a:t>
            </a:r>
          </a:p>
        </p:txBody>
      </p:sp>
      <p:sp>
        <p:nvSpPr>
          <p:cNvPr id="15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1CB4B6A7-1525-4275-9DDE-63A081E3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388816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ДОКАЗ</a:t>
            </a:r>
          </a:p>
        </p:txBody>
      </p:sp>
      <p:sp>
        <p:nvSpPr>
          <p:cNvPr id="1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0C466079-3E94-4D48-9992-0AE6EFB9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842147"/>
            <a:ext cx="308163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Сценарио дозволе</a:t>
            </a:r>
          </a:p>
        </p:txBody>
      </p:sp>
      <p:sp>
        <p:nvSpPr>
          <p:cNvPr id="17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5E0EF608-87F8-4DD0-80D9-3281377B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07818"/>
            <a:ext cx="348734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 сценарио одбијања</a:t>
            </a:r>
          </a:p>
        </p:txBody>
      </p:sp>
      <p:sp>
        <p:nvSpPr>
          <p:cNvPr id="1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960A51C5-BB9A-457A-B82D-F87B5DB7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754463"/>
            <a:ext cx="534069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Доказ обухвата тест или демонстрацију</a:t>
            </a:r>
          </a:p>
        </p:txBody>
      </p:sp>
      <p:sp>
        <p:nvSpPr>
          <p:cNvPr id="1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787A66E6-0F26-4983-8443-B43CB7B0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127724"/>
            <a:ext cx="652804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 ревизиони запис са актером, радњом, циљем и </a:t>
            </a:r>
          </a:p>
        </p:txBody>
      </p:sp>
      <p:sp>
        <p:nvSpPr>
          <p:cNvPr id="2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AC7B8A17-0834-4503-983B-E62EBDB8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500985"/>
            <a:ext cx="147935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исходом.</a:t>
            </a:r>
          </a:p>
        </p:txBody>
      </p:sp>
      <p:sp>
        <p:nvSpPr>
          <p:cNvPr id="2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0BE6C2C3-9DCE-446D-8930-0DDB0BD8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636246"/>
            <a:ext cx="2263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ПРИПРЕМА ЗА </a:t>
            </a: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КТ1</a:t>
            </a:r>
          </a:p>
        </p:txBody>
      </p:sp>
      <p:sp>
        <p:nvSpPr>
          <p:cNvPr id="2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F73413F7-04A4-424A-A9A4-41EEAB5A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041952"/>
            <a:ext cx="1557039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5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Припрема за </a:t>
            </a: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КТ1 (у термину 4. вежбе)</a:t>
            </a: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: основна аутентикација и RBAC раде серверски. Object-level authorization и негативан </a:t>
            </a:r>
          </a:p>
        </p:txBody>
      </p:sp>
      <p:sp>
        <p:nvSpPr>
          <p:cNvPr id="2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90350CD6-B25F-4C5F-928E-14131A9E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415213"/>
            <a:ext cx="296674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допуњују ланац.</a:t>
            </a:r>
          </a:p>
        </p:txBody>
      </p:sp>
      <p:sp>
        <p:nvSpPr>
          <p:cNvPr id="2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1B1D1488-2F0C-4814-A74E-B9ADB5A2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5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DDAA9F3F-5ADA-49A0-BA03-C7195589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867570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6AD315-7697-45C7-9E12-3480293E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CA5F7-74BC-45A8-B18B-C4A3EA33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476625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4AC3A-B42B-4172-B597-9F532C33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12591"/>
            <a:ext cx="3476625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989F2-BDCC-4440-92BA-11358A3F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2591"/>
            <a:ext cx="3476625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22BAF-273B-4769-AB02-87450AFE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112591"/>
            <a:ext cx="3476625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B6D1A-A665-44D9-819E-58EC416B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41244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76FC0E09-8DF8-4ED8-ADE9-B7FBC850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41244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2AA69-398A-4837-8FFB-A62AB677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f45d1cc8c48f8"/>
          <a:stretch xmlns:a="http://schemas.openxmlformats.org/drawingml/2006/main"/>
        </p:blipFill>
        <p:spPr>
          <a:xfrm xmlns:a="http://schemas.openxmlformats.org/drawingml/2006/main">
            <a:off x="4886325" y="4379268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ff81a7b374215"/>
          <a:stretch xmlns:a="http://schemas.openxmlformats.org/drawingml/2006/main"/>
        </p:blipFill>
        <p:spPr>
          <a:xfrm xmlns:a="http://schemas.openxmlformats.org/drawingml/2006/main">
            <a:off x="9010650" y="4379268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d53961de94c23"/>
          <a:stretch xmlns:a="http://schemas.openxmlformats.org/drawingml/2006/main"/>
        </p:blipFill>
        <p:spPr>
          <a:xfrm xmlns:a="http://schemas.openxmlformats.org/drawingml/2006/main">
            <a:off x="13134975" y="4379268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0A7C7755-6DEE-4761-BEFB-387717FE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7796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 · ПРИМЕНА КОНЦЕПАТА</a:t>
            </a:r>
          </a:p>
        </p:txBody>
      </p:sp>
      <p:sp>
        <p:nvSpPr>
          <p:cNvPr id="13" name="heading-source-20">
            <a:extLst xmlns:a="http://schemas.openxmlformats.org/drawingml/2006/main">
              <a:ext uri="{FF2B5EF4-FFF2-40B4-BE49-F238E27FC236}">
                <a16:creationId xmlns:a16="http://schemas.microsoft.com/office/drawing/2014/main" id="{45C1993A-4D11-437A-84DC-093D7191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70398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концепата</a:t>
            </a:r>
          </a:p>
        </p:txBody>
      </p:sp>
      <p:sp>
        <p:nvSpPr>
          <p:cNvPr id="14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A50D479E-3240-44FC-86E3-5356EEDA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211133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Анализа једне радње обухвата субјекат, дозволу, контекст, серверску одлуку и доказ исхода.</a:t>
            </a:r>
          </a:p>
        </p:txBody>
      </p:sp>
      <p:sp>
        <p:nvSpPr>
          <p:cNvPr id="15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E94BE000-5A0C-422A-A043-6461722E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7DA9C703-8FC8-4514-8861-92B78FAE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205814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Избор радње</a:t>
            </a:r>
          </a:p>
        </p:txBody>
      </p:sp>
      <p:sp>
        <p:nvSpPr>
          <p:cNvPr id="17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221AFF1D-6F61-4604-AEDC-0CD26F44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305097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 пример report.approve</a:t>
            </a:r>
          </a:p>
        </p:txBody>
      </p:sp>
      <p:sp>
        <p:nvSpPr>
          <p:cNvPr id="18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93687063-60B4-44EF-B9EE-D586E150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133B818D-250E-4501-AC98-18C82C60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8847"/>
            <a:ext cx="205754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Дефинисање</a:t>
            </a:r>
          </a:p>
        </p:txBody>
      </p:sp>
      <p:sp>
        <p:nvSpPr>
          <p:cNvPr id="20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D25AF1E6-9A5F-4F36-A44A-9B66EE4F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28827"/>
            <a:ext cx="140925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дозволе</a:t>
            </a:r>
          </a:p>
        </p:txBody>
      </p:sp>
      <p:sp>
        <p:nvSpPr>
          <p:cNvPr id="21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54D0CF5B-D259-4640-B416-F195497B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20258"/>
            <a:ext cx="181585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назив и опсег</a:t>
            </a:r>
          </a:p>
        </p:txBody>
      </p:sp>
      <p:sp>
        <p:nvSpPr>
          <p:cNvPr id="22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55495A83-168B-48D0-B179-039E873A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3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5F95503F-55D2-48CF-8DB3-1DC3C134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08847"/>
            <a:ext cx="218985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одбијања</a:t>
            </a:r>
          </a:p>
        </p:txBody>
      </p:sp>
      <p:sp>
        <p:nvSpPr>
          <p:cNvPr id="24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48EB85C4-D838-4FDF-BA49-70A026E5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00277"/>
            <a:ext cx="31776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недостаје једна чињеница</a:t>
            </a:r>
          </a:p>
        </p:txBody>
      </p:sp>
      <p:sp>
        <p:nvSpPr>
          <p:cNvPr id="25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35C5234B-0E81-4AB6-90EB-C4DDDD52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6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868FA6AB-88EA-4B2F-8770-363F96EB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108847"/>
            <a:ext cx="145107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Провера</a:t>
            </a:r>
          </a:p>
        </p:txBody>
      </p:sp>
      <p:sp>
        <p:nvSpPr>
          <p:cNvPr id="27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53712D38-3926-408B-BB2C-1D049D21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428827"/>
            <a:ext cx="280094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ревизионог записа</a:t>
            </a:r>
          </a:p>
        </p:txBody>
      </p:sp>
      <p:sp>
        <p:nvSpPr>
          <p:cNvPr id="28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98197490-6D14-4FE6-B94D-7F9803B9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920258"/>
            <a:ext cx="238571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actor, action, target, </a:t>
            </a:r>
          </a:p>
        </p:txBody>
      </p:sp>
      <p:sp>
        <p:nvSpPr>
          <p:cNvPr id="29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80A25EB4-0AE0-4E4F-B96D-5D39C0FC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240238"/>
            <a:ext cx="124688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outcome</a:t>
            </a:r>
          </a:p>
        </p:txBody>
      </p:sp>
      <p:sp>
        <p:nvSpPr>
          <p:cNvPr id="30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B251ABA2-A658-4A00-BAAF-80B7DF18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31744"/>
            <a:ext cx="28118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ОЧЕКИВАНИ РЕЗУЛТАТ</a:t>
            </a:r>
          </a:p>
        </p:txBody>
      </p:sp>
      <p:sp>
        <p:nvSpPr>
          <p:cNvPr id="31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303C12DF-30BD-425A-9980-7824B3B4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37449"/>
            <a:ext cx="1404997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Мала серверска промена, позитиван и негативан тест и кратко објашњење зашто дозвола има баш тај опсег.</a:t>
            </a:r>
          </a:p>
        </p:txBody>
      </p:sp>
      <p:sp>
        <p:nvSpPr>
          <p:cNvPr id="32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E83AF402-B366-408A-8D88-549E9DB9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3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4B8C6E99-EC0B-4DDC-8B67-EB165F91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95821991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579D6-421B-4DC6-8837-68A7168D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5FF10-1A21-43F6-AB60-D519B6F3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2EBE9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1BE68664-B7C2-4EB4-B1CD-66D851A6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E6E6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1F442-8070-43C8-AD39-02BEDE79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4109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FD862-5164-4A08-982F-C0558315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48809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1E2CD-BD7C-478C-8894-07393C88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95652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98FA8-98FC-4C07-BE85-1F0C279E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2278705C-56C9-48E0-BE85-0BCEAFF4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9357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04 · ПРОВЕРА РАЗУМЕВАЊА</a:t>
            </a:r>
          </a:p>
        </p:txBody>
      </p:sp>
      <p:sp>
        <p:nvSpPr>
          <p:cNvPr id="9" name="heading-source-15">
            <a:extLst xmlns:a="http://schemas.openxmlformats.org/drawingml/2006/main">
              <a:ext uri="{FF2B5EF4-FFF2-40B4-BE49-F238E27FC236}">
                <a16:creationId xmlns:a16="http://schemas.microsoft.com/office/drawing/2014/main" id="{14ACFACA-8418-4083-A3F4-4AAA4811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6121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Провера разумевања</a:t>
            </a:r>
          </a:p>
        </p:txBody>
      </p:sp>
      <p:sp>
        <p:nvSpPr>
          <p:cNvPr id="10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7449D961-E76F-4189-BC9A-D3B6815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527155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Разумевање теме подразумева објашњење одлуке, контекста и доказа независно од конкретног технолошког оквира.</a:t>
            </a:r>
          </a:p>
        </p:txBody>
      </p:sp>
      <p:sp>
        <p:nvSpPr>
          <p:cNvPr id="11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9F145367-6066-42FD-897D-B7034728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03091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E6E68"/>
                </a:solidFill>
                <a:latin typeface="IBM Plex Mono"/>
                <a:ea typeface="IBM Plex Mono"/>
                <a:cs typeface="IBM Plex Mono"/>
              </a:rPr>
              <a:t>ПИТАЊЕ</a:t>
            </a:r>
          </a:p>
        </p:txBody>
      </p:sp>
      <p:sp>
        <p:nvSpPr>
          <p:cNvPr id="12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4313B8CF-565C-47F3-8683-68205E71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08797"/>
            <a:ext cx="591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 једну административну радњу објасните:</a:t>
            </a:r>
          </a:p>
        </p:txBody>
      </p:sp>
      <p:sp>
        <p:nvSpPr>
          <p:cNvPr id="13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701D1354-061B-4C2B-B185-E1D35ABA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82058"/>
            <a:ext cx="1265887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 је субјекат, која дозвола је потребна, у ком опсегу важи, шта се бележи када је радња одбијена</a:t>
            </a:r>
          </a:p>
        </p:txBody>
      </p:sp>
      <p:sp>
        <p:nvSpPr>
          <p:cNvPr id="14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4E871A55-6537-4995-B2B3-0387D293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93494"/>
            <a:ext cx="93294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Можете ли исту одлуку да формулишете као allow и deny тест?</a:t>
            </a:r>
          </a:p>
        </p:txBody>
      </p:sp>
      <p:sp>
        <p:nvSpPr>
          <p:cNvPr id="15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1DB3A640-A5E6-4432-968B-D8054627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01209"/>
            <a:ext cx="87896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Шта се мења ако је идентитет суспендован након пријаве?</a:t>
            </a:r>
          </a:p>
        </p:txBody>
      </p:sp>
      <p:sp>
        <p:nvSpPr>
          <p:cNvPr id="16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59FC2ED7-248A-43BA-8A54-1CBA522F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108924"/>
            <a:ext cx="809863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Како доказујете да UI није једина контрола приступа?</a:t>
            </a:r>
          </a:p>
        </p:txBody>
      </p:sp>
      <p:sp>
        <p:nvSpPr>
          <p:cNvPr id="17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74297211-C523-4BCF-9447-B8664A8D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8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0A04EF1F-BDB1-475C-B6AE-8FFA7A9A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31047469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E6E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4D6ED-AF7D-4CFB-9754-09067E52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FB4F0-2F17-4B1E-8887-B84948FC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E89"/>
          </a:solidFill>
          <a:ln xmlns:a="http://schemas.openxmlformats.org/drawingml/2006/main" w="0">
            <a:noFill/>
          </a:ln>
        </p:spPr>
      </p:sp>
      <p:sp>
        <p:nvSpPr>
          <p:cNvPr id="3" name="text-rezime">
            <a:extLst xmlns:a="http://schemas.openxmlformats.org/drawingml/2006/main">
              <a:ext uri="{FF2B5EF4-FFF2-40B4-BE49-F238E27FC236}">
                <a16:creationId xmlns:a16="http://schemas.microsoft.com/office/drawing/2014/main" id="{C231067A-0FAA-471A-8D9D-E6687051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2802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DDEBEA"/>
                </a:solidFill>
                <a:latin typeface="IBM Plex Mono"/>
                <a:ea typeface="IBM Plex Mono"/>
                <a:cs typeface="IBM Plex Mono"/>
              </a:rPr>
              <a:t>РЕЗИМЕ</a:t>
            </a:r>
          </a:p>
        </p:txBody>
      </p:sp>
      <p:sp>
        <p:nvSpPr>
          <p:cNvPr id="4" name="heading-rezime">
            <a:extLst xmlns:a="http://schemas.openxmlformats.org/drawingml/2006/main">
              <a:ext uri="{FF2B5EF4-FFF2-40B4-BE49-F238E27FC236}">
                <a16:creationId xmlns:a16="http://schemas.microsoft.com/office/drawing/2014/main" id="{68ECB3BA-F3E0-4CC3-AF81-547203C9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79127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402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F6F7F5"/>
                </a:solidFill>
                <a:latin typeface="IBM Plex Sans"/>
                <a:ea typeface="IBM Plex Sans"/>
                <a:cs typeface="IBM Plex Sans"/>
              </a:rPr>
              <a:t>Одлука о приступу и њен доказ</a:t>
            </a:r>
          </a:p>
        </p:txBody>
      </p:sp>
      <p:sp>
        <p:nvSpPr>
          <p:cNvPr id="5" name="text-rezime">
            <a:extLst xmlns:a="http://schemas.openxmlformats.org/drawingml/2006/main">
              <a:ext uri="{FF2B5EF4-FFF2-40B4-BE49-F238E27FC236}">
                <a16:creationId xmlns:a16="http://schemas.microsoft.com/office/drawing/2014/main" id="{3109430F-CE8A-46F8-A7B1-80E0B258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3580"/>
            <a:ext cx="1529342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Sans"/>
                <a:ea typeface="IBM Plex Sans"/>
                <a:cs typeface="IBM Plex Sans"/>
              </a:defRPr>
            </a:pPr>
            <a:r>
              <a:rPr sz="3000" b="0">
                <a:solidFill>
                  <a:srgbClr val="F6F7F5"/>
                </a:solidFill>
                <a:latin typeface="IBM Plex Sans"/>
                <a:ea typeface="IBM Plex Sans"/>
                <a:cs typeface="IBM Plex Sans"/>
              </a:rPr>
              <a:t>Аутентикација потврђује идентитет. Серверска ауторизација проверава радњу над </a:t>
            </a:r>
          </a:p>
        </p:txBody>
      </p:sp>
      <p:sp>
        <p:nvSpPr>
          <p:cNvPr id="6" name="text-rezime">
            <a:extLst xmlns:a="http://schemas.openxmlformats.org/drawingml/2006/main">
              <a:ext uri="{FF2B5EF4-FFF2-40B4-BE49-F238E27FC236}">
                <a16:creationId xmlns:a16="http://schemas.microsoft.com/office/drawing/2014/main" id="{D3AB4C71-7318-4786-9E4A-C6632E75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86980"/>
            <a:ext cx="4404866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Sans"/>
                <a:ea typeface="IBM Plex Sans"/>
                <a:cs typeface="IBM Plex Sans"/>
              </a:defRPr>
            </a:pPr>
            <a:r>
              <a:rPr sz="3000" b="0">
                <a:solidFill>
                  <a:srgbClr val="F6F7F5"/>
                </a:solidFill>
                <a:latin typeface="IBM Plex Sans"/>
                <a:ea typeface="IBM Plex Sans"/>
                <a:cs typeface="IBM Plex Sans"/>
              </a:rPr>
              <a:t>конкретним ресурсом.</a:t>
            </a:r>
          </a:p>
        </p:txBody>
      </p:sp>
      <p:sp>
        <p:nvSpPr>
          <p:cNvPr id="7" name="text-rezime">
            <a:extLst xmlns:a="http://schemas.openxmlformats.org/drawingml/2006/main">
              <a:ext uri="{FF2B5EF4-FFF2-40B4-BE49-F238E27FC236}">
                <a16:creationId xmlns:a16="http://schemas.microsoft.com/office/drawing/2014/main" id="{A5DA5496-7C5F-4637-8B60-BBB79C6C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15655"/>
            <a:ext cx="1309642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DDEBEA"/>
                </a:solidFill>
                <a:latin typeface="IBM Plex Sans"/>
                <a:ea typeface="IBM Plex Sans"/>
                <a:cs typeface="IBM Plex Sans"/>
              </a:rPr>
              <a:t>Улога групише дозволе. Актуелни статус, опсег и важење ограничавају њихову примену.</a:t>
            </a:r>
          </a:p>
        </p:txBody>
      </p:sp>
      <p:sp>
        <p:nvSpPr>
          <p:cNvPr id="8" name="text-rezime">
            <a:extLst xmlns:a="http://schemas.openxmlformats.org/drawingml/2006/main">
              <a:ext uri="{FF2B5EF4-FFF2-40B4-BE49-F238E27FC236}">
                <a16:creationId xmlns:a16="http://schemas.microsoft.com/office/drawing/2014/main" id="{A0455A57-EA90-4789-9E72-55DCB247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47146"/>
            <a:ext cx="1035992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F6F7F5"/>
                </a:solidFill>
                <a:latin typeface="IBM Plex Sans"/>
                <a:ea typeface="IBM Plex Sans"/>
                <a:cs typeface="IBM Plex Sans"/>
              </a:rPr>
              <a:t>Allow и deny тестови, уз ревизиони запис, показују границу контроле.</a:t>
            </a:r>
          </a:p>
        </p:txBody>
      </p:sp>
      <p:sp>
        <p:nvSpPr>
          <p:cNvPr id="9" name="text-rezime">
            <a:extLst xmlns:a="http://schemas.openxmlformats.org/drawingml/2006/main">
              <a:ext uri="{FF2B5EF4-FFF2-40B4-BE49-F238E27FC236}">
                <a16:creationId xmlns:a16="http://schemas.microsoft.com/office/drawing/2014/main" id="{C00574B2-28F7-4658-9B72-F6D4CAB3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DDEBEA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0" name="text-rezime">
            <a:extLst xmlns:a="http://schemas.openxmlformats.org/drawingml/2006/main">
              <a:ext uri="{FF2B5EF4-FFF2-40B4-BE49-F238E27FC236}">
                <a16:creationId xmlns:a16="http://schemas.microsoft.com/office/drawing/2014/main" id="{69EA020B-ACF9-4B83-92AB-DA1C4432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DDEBEA"/>
                </a:solidFill>
                <a:latin typeface="IBM Plex Mono"/>
                <a:ea typeface="IBM Plex Mono"/>
                <a:cs typeface="IBM Plex Mono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979154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2026-10-09T19:10:30.3350000Z</dcterms:created>
  <dcterms:modified xsi:type="dcterms:W3CDTF">2026-10-09T19:10:30.3350000Z</dcterms:modified>
</coreProperties>
</file>