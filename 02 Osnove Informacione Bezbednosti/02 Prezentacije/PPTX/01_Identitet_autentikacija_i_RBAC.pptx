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Извори: oibThematicExercises.ts; oibThematicPresentations.ts.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oibThematicPresentations.ts — тема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— увод теме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Извори: oibThematicPresentations.ts и oibThematicExercises.ts — ментални модел теме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— шема одлуке о приступу.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oibThematicPresentations.ts — Identitet.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— Поређење основних појмова идентитета.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— Дизајнерска одлука: улога није дозвола.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Илустративни C# пример заснован на принципима из oibThematicExercises.ts; није преузет као готово пројектно решење.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Илустративни NUnit пример заснован на oibCheckpoints.ts и oibThematicExercises.ts.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— Пример: оператор добија нову одговорност.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oibThematicPresentations.ts — типичне грешке теме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— Како знамо да модел приступа ради.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Извори: oibThematicExercises.ts — рад на вежби; oibCheckpoints.ts — P1.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oibThematicPresentations.ts — питање и провера разумевања теме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и принцип засновани на oibThematicPresentations.ts — Аутентикација.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— основни појмови идентитета и сесије.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— Дизајнерска одлука: улога није дозвола.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Извори: oibCheckpoints.ts и oibThematicExercises.ts — audit доказ.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Извор: oibThematicExercises.ts — рад на вежби и доказ понашања.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EC83D7A-B781-4E8C-8A71-D18636B0CF4D}"/>
              </a:ext>
            </a:extLst>
          </p:cNvPr>
          <p:cNvSpPr>
            <a:spLocks noGrp="1"/>
          </p:cNvSpPr>
          <p:nvPr/>
        </p:nvSpPr>
        <p:spPr>
          <a:xfrm>
            <a:off x="914400" y="590550"/>
            <a:ext cx="7810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470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DD6BE141-B6F1-4169-9330-3CBDE281DD1C}"/>
              </a:ext>
            </a:extLst>
          </p:cNvPr>
          <p:cNvSpPr>
            <a:spLocks noGrp="1"/>
          </p:cNvSpPr>
          <p:nvPr/>
        </p:nvSpPr>
        <p:spPr>
          <a:xfrm>
            <a:off x="914400" y="1009650"/>
            <a:ext cx="10363200" cy="9525"/>
          </a:xfrm>
          <a:prstGeom prst="line">
            <a:avLst/>
          </a:prstGeom>
          <a:noFill/>
          <a:ln w="8573">
            <a:solidFill>
              <a:srgbClr val="7F8B9B"/>
            </a:solidFill>
            <a:prstDash val="solid"/>
          </a:ln>
        </p:spPr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7BBF941-5F57-4703-8EB5-7417F680CF8E}"/>
              </a:ext>
            </a:extLst>
          </p:cNvPr>
          <p:cNvSpPr>
            <a:spLocks noGrp="1"/>
          </p:cNvSpPr>
          <p:nvPr/>
        </p:nvSpPr>
        <p:spPr>
          <a:xfrm>
            <a:off x="914400" y="1438275"/>
            <a:ext cx="647700" cy="66675"/>
          </a:xfrm>
          <a:prstGeom prst="roundRect">
            <a:avLst>
              <a:gd name="adj" fmla="val 50000"/>
            </a:avLst>
          </a:prstGeom>
          <a:solidFill>
            <a:srgbClr val="315CF4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659EED-A2DF-42CB-BDA3-BADD93996BAA}"/>
              </a:ext>
            </a:extLst>
          </p:cNvPr>
          <p:cNvSpPr>
            <a:spLocks noGrp="1"/>
          </p:cNvSpPr>
          <p:nvPr/>
        </p:nvSpPr>
        <p:spPr>
          <a:xfrm>
            <a:off x="914400" y="1771650"/>
            <a:ext cx="10363200" cy="156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94000"/>
              </a:lnSpc>
              <a:buNone/>
              <a:defRPr sz="34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Идентитет, аутентикација и RBAC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D2F2A4-7796-40A4-86C8-8F823DDB6B67}"/>
              </a:ext>
            </a:extLst>
          </p:cNvPr>
          <p:cNvSpPr>
            <a:spLocks noGrp="1"/>
          </p:cNvSpPr>
          <p:nvPr/>
        </p:nvSpPr>
        <p:spPr>
          <a:xfrm>
            <a:off x="933450" y="3600450"/>
            <a:ext cx="962025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Од идентитета корисника до проверљиве одлуке о приступу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013C61F6-7C60-407C-9658-A6C4C633326B}"/>
              </a:ext>
            </a:extLst>
          </p:cNvPr>
          <p:cNvSpPr>
            <a:spLocks noGrp="1"/>
          </p:cNvSpPr>
          <p:nvPr/>
        </p:nvSpPr>
        <p:spPr>
          <a:xfrm>
            <a:off x="914400" y="5286375"/>
            <a:ext cx="10363200" cy="9525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292206-2523-4D82-A69E-440891060CF5}"/>
              </a:ext>
            </a:extLst>
          </p:cNvPr>
          <p:cNvSpPr>
            <a:spLocks noGrp="1"/>
          </p:cNvSpPr>
          <p:nvPr/>
        </p:nvSpPr>
        <p:spPr>
          <a:xfrm>
            <a:off x="914400" y="5581650"/>
            <a:ext cx="40005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ОИБ · 5. семестар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A47266-B40D-4049-8E0A-E16909CAC1E5}"/>
              </a:ext>
            </a:extLst>
          </p:cNvPr>
          <p:cNvSpPr>
            <a:spLocks noGrp="1"/>
          </p:cNvSpPr>
          <p:nvPr/>
        </p:nvSpPr>
        <p:spPr>
          <a:xfrm>
            <a:off x="8096250" y="5581650"/>
            <a:ext cx="31813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47084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9812388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E6932ADA-A4A7-4446-A598-3AFE0B5F3A5E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2952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61B93572-D235-402D-B2A9-B41E27A04B23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35711F3-E79F-45A5-A232-6024426E0439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8F4D0C-0C01-4352-9B65-A4805A75022E}"/>
              </a:ext>
            </a:extLst>
          </p:cNvPr>
          <p:cNvSpPr>
            <a:spLocks noGrp="1"/>
          </p:cNvSpPr>
          <p:nvPr/>
        </p:nvSpPr>
        <p:spPr>
          <a:xfrm>
            <a:off x="685800" y="790575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Циљ: раздвојити ко је субјекат од онога што сме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FDDB44-421D-4BA0-99F9-FA1F896B8F7F}"/>
              </a:ext>
            </a:extLst>
          </p:cNvPr>
          <p:cNvSpPr>
            <a:spLocks noGrp="1"/>
          </p:cNvSpPr>
          <p:nvPr/>
        </p:nvSpPr>
        <p:spPr>
          <a:xfrm>
            <a:off x="685800" y="1438275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Успешна пријава није дозвола за радњу; она је тек улаз у одлуку о приступу.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9CDE9A-1222-48B9-B382-D89781E7DDE9}"/>
              </a:ext>
            </a:extLst>
          </p:cNvPr>
          <p:cNvSpPr>
            <a:spLocks noGrp="1"/>
          </p:cNvSpPr>
          <p:nvPr/>
        </p:nvSpPr>
        <p:spPr>
          <a:xfrm>
            <a:off x="857250" y="2238375"/>
            <a:ext cx="3238500" cy="2381250"/>
          </a:xfrm>
          <a:prstGeom prst="roundRect">
            <a:avLst>
              <a:gd name="adj" fmla="val 5600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9FCB88-2573-4BBC-9183-BFD90C58EC51}"/>
              </a:ext>
            </a:extLst>
          </p:cNvPr>
          <p:cNvSpPr>
            <a:spLocks noGrp="1"/>
          </p:cNvSpPr>
          <p:nvPr/>
        </p:nvSpPr>
        <p:spPr>
          <a:xfrm>
            <a:off x="1009650" y="2362200"/>
            <a:ext cx="29337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РАЗУМЕТИ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266EF0-C89B-41A2-9B38-EF47B5E38C58}"/>
              </a:ext>
            </a:extLst>
          </p:cNvPr>
          <p:cNvSpPr>
            <a:spLocks noGrp="1"/>
          </p:cNvSpPr>
          <p:nvPr/>
        </p:nvSpPr>
        <p:spPr>
          <a:xfrm>
            <a:off x="1009650" y="2609850"/>
            <a:ext cx="29337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Четири различита појма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33C3D4-04BD-4E69-B52A-1EF6E7CC6DB8}"/>
              </a:ext>
            </a:extLst>
          </p:cNvPr>
          <p:cNvSpPr>
            <a:spLocks noGrp="1"/>
          </p:cNvSpPr>
          <p:nvPr/>
        </p:nvSpPr>
        <p:spPr>
          <a:xfrm>
            <a:off x="1009650" y="3000375"/>
            <a:ext cx="2933700" cy="1514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Идентитет, аутентикација, улога и дозвола имају различите одговорности у систему.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B8D10A0-00F1-4101-8B52-F83C0430236B}"/>
              </a:ext>
            </a:extLst>
          </p:cNvPr>
          <p:cNvSpPr>
            <a:spLocks noGrp="1"/>
          </p:cNvSpPr>
          <p:nvPr/>
        </p:nvSpPr>
        <p:spPr>
          <a:xfrm>
            <a:off x="4476750" y="2238375"/>
            <a:ext cx="3238500" cy="2381250"/>
          </a:xfrm>
          <a:prstGeom prst="roundRect">
            <a:avLst>
              <a:gd name="adj" fmla="val 5600"/>
            </a:avLst>
          </a:prstGeom>
          <a:solidFill>
            <a:srgbClr val="F5F0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5379BFB-46A9-485E-9D66-EF1AECCDC39D}"/>
              </a:ext>
            </a:extLst>
          </p:cNvPr>
          <p:cNvSpPr>
            <a:spLocks noGrp="1"/>
          </p:cNvSpPr>
          <p:nvPr/>
        </p:nvSpPr>
        <p:spPr>
          <a:xfrm>
            <a:off x="4629150" y="2362200"/>
            <a:ext cx="29337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ПРИМЕНИТИ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4630FB-9AAD-4A97-A738-4FB71185FD01}"/>
              </a:ext>
            </a:extLst>
          </p:cNvPr>
          <p:cNvSpPr>
            <a:spLocks noGrp="1"/>
          </p:cNvSpPr>
          <p:nvPr/>
        </p:nvSpPr>
        <p:spPr>
          <a:xfrm>
            <a:off x="4629150" y="2609850"/>
            <a:ext cx="29337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Одлука је на серверу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D00BA9-57DD-4ABF-AE0D-53A9BEB3DC06}"/>
              </a:ext>
            </a:extLst>
          </p:cNvPr>
          <p:cNvSpPr>
            <a:spLocks noGrp="1"/>
          </p:cNvSpPr>
          <p:nvPr/>
        </p:nvSpPr>
        <p:spPr>
          <a:xfrm>
            <a:off x="4629150" y="3000375"/>
            <a:ext cx="2933700" cy="1514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Интерфејс може сакрити опцију, али не сме бити једина контрола приступа.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936776C-B5C6-437A-B5D8-851CFE2A1155}"/>
              </a:ext>
            </a:extLst>
          </p:cNvPr>
          <p:cNvSpPr>
            <a:spLocks noGrp="1"/>
          </p:cNvSpPr>
          <p:nvPr/>
        </p:nvSpPr>
        <p:spPr>
          <a:xfrm>
            <a:off x="8096250" y="2238375"/>
            <a:ext cx="3238500" cy="2381250"/>
          </a:xfrm>
          <a:prstGeom prst="roundRect">
            <a:avLst>
              <a:gd name="adj" fmla="val 5600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9F759A7-2B1A-4BBC-9A89-65CD198EDBE7}"/>
              </a:ext>
            </a:extLst>
          </p:cNvPr>
          <p:cNvSpPr>
            <a:spLocks noGrp="1"/>
          </p:cNvSpPr>
          <p:nvPr/>
        </p:nvSpPr>
        <p:spPr>
          <a:xfrm>
            <a:off x="8248650" y="2362200"/>
            <a:ext cx="29337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ДОКАЗАТИ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67A7E69-E192-4B60-B9A6-8D00573F825A}"/>
              </a:ext>
            </a:extLst>
          </p:cNvPr>
          <p:cNvSpPr>
            <a:spLocks noGrp="1"/>
          </p:cNvSpPr>
          <p:nvPr/>
        </p:nvSpPr>
        <p:spPr>
          <a:xfrm>
            <a:off x="8248650" y="2609850"/>
            <a:ext cx="29337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Дозвољено и одбијено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A4568AB-CE3E-4AAF-8E5C-39D538AA90F0}"/>
              </a:ext>
            </a:extLst>
          </p:cNvPr>
          <p:cNvSpPr>
            <a:spLocks noGrp="1"/>
          </p:cNvSpPr>
          <p:nvPr/>
        </p:nvSpPr>
        <p:spPr>
          <a:xfrm>
            <a:off x="8248650" y="3000375"/>
            <a:ext cx="2933700" cy="1514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Тест и audit запис показују шта се догодило за исти тип радње у два контекста.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A1ABF77-E9A6-4A68-8F97-E61AD29BE52E}"/>
              </a:ext>
            </a:extLst>
          </p:cNvPr>
          <p:cNvSpPr>
            <a:spLocks noGrp="1"/>
          </p:cNvSpPr>
          <p:nvPr/>
        </p:nvSpPr>
        <p:spPr>
          <a:xfrm>
            <a:off x="914400" y="4953000"/>
            <a:ext cx="10363200" cy="781050"/>
          </a:xfrm>
          <a:prstGeom prst="roundRect">
            <a:avLst>
              <a:gd name="adj" fmla="val 17073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E08011A-278F-4EBC-A266-9E7329CC4535}"/>
              </a:ext>
            </a:extLst>
          </p:cNvPr>
          <p:cNvSpPr>
            <a:spLocks noGrp="1"/>
          </p:cNvSpPr>
          <p:nvPr/>
        </p:nvSpPr>
        <p:spPr>
          <a:xfrm>
            <a:off x="1085850" y="5105400"/>
            <a:ext cx="57150" cy="47625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4397C3-6B5F-4F26-ABA5-E6B9B5610A6C}"/>
              </a:ext>
            </a:extLst>
          </p:cNvPr>
          <p:cNvSpPr>
            <a:spLocks noGrp="1"/>
          </p:cNvSpPr>
          <p:nvPr/>
        </p:nvSpPr>
        <p:spPr>
          <a:xfrm>
            <a:off x="1333500" y="505777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ПИТАЊЕ ЗА ПРОВЕРУ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63337D0-F949-4293-9ED6-2DA5DA118F85}"/>
              </a:ext>
            </a:extLst>
          </p:cNvPr>
          <p:cNvSpPr>
            <a:spLocks noGrp="1"/>
          </p:cNvSpPr>
          <p:nvPr/>
        </p:nvSpPr>
        <p:spPr>
          <a:xfrm>
            <a:off x="1333500" y="5286375"/>
            <a:ext cx="9639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Питање за крај вежбе: ко је субјекат, која дозвола је потребна и у ком опсегу она важи?</a:t>
            </a:r>
          </a:p>
        </p:txBody>
      </p:sp>
    </p:spTree>
    <p:extLst>
      <p:ext uri="{BB962C8B-B14F-4D97-AF65-F5344CB8AC3E}">
        <p14:creationId xmlns:p14="http://schemas.microsoft.com/office/powerpoint/2010/main" val="18294996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C53EABA-027D-4BB0-A2B3-E3373D8A1A35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2952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172164D8-EDF7-4C96-9167-675E7865D296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4B0C2EE-FC97-445F-BF96-CD4536D819B7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E49004-E7F7-4E3A-8BAF-D1016D3266A4}"/>
              </a:ext>
            </a:extLst>
          </p:cNvPr>
          <p:cNvSpPr>
            <a:spLocks noGrp="1"/>
          </p:cNvSpPr>
          <p:nvPr/>
        </p:nvSpPr>
        <p:spPr>
          <a:xfrm>
            <a:off x="685800" y="790575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Једна успешна пријава не решава безбедносни проблем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32159B-509D-492F-97DE-D419B3940C3A}"/>
              </a:ext>
            </a:extLst>
          </p:cNvPr>
          <p:cNvSpPr>
            <a:spLocks noGrp="1"/>
          </p:cNvSpPr>
          <p:nvPr/>
        </p:nvSpPr>
        <p:spPr>
          <a:xfrm>
            <a:off x="685800" y="1438275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Грешка настаје када систем споји доказ идентитета и право на радњу у једну претпоставку.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DB7030A-2488-4753-ABC0-559BE57C86F2}"/>
              </a:ext>
            </a:extLst>
          </p:cNvPr>
          <p:cNvSpPr>
            <a:spLocks noGrp="1"/>
          </p:cNvSpPr>
          <p:nvPr/>
        </p:nvSpPr>
        <p:spPr>
          <a:xfrm>
            <a:off x="819150" y="2200275"/>
            <a:ext cx="4686300" cy="2628900"/>
          </a:xfrm>
          <a:prstGeom prst="roundRect">
            <a:avLst>
              <a:gd name="adj" fmla="val 5072"/>
            </a:avLst>
          </a:prstGeom>
          <a:solidFill>
            <a:srgbClr val="FFF0F0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CBDA5C-4AF3-437B-B6A6-ABA2E80C6ACA}"/>
              </a:ext>
            </a:extLst>
          </p:cNvPr>
          <p:cNvSpPr>
            <a:spLocks noGrp="1"/>
          </p:cNvSpPr>
          <p:nvPr/>
        </p:nvSpPr>
        <p:spPr>
          <a:xfrm>
            <a:off x="971550" y="2324100"/>
            <a:ext cx="43815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НЕБЕЗБЕДНА ПРЕТПОСТАВКА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D4628A-3D64-4F04-8A4F-CB398AD4F492}"/>
              </a:ext>
            </a:extLst>
          </p:cNvPr>
          <p:cNvSpPr>
            <a:spLocks noGrp="1"/>
          </p:cNvSpPr>
          <p:nvPr/>
        </p:nvSpPr>
        <p:spPr>
          <a:xfrm>
            <a:off x="971550" y="2571750"/>
            <a:ext cx="43815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„Пријављен је, дакле сме“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161C0C5-F571-4786-A1B6-1A317B296FA7}"/>
              </a:ext>
            </a:extLst>
          </p:cNvPr>
          <p:cNvSpPr>
            <a:spLocks noGrp="1"/>
          </p:cNvSpPr>
          <p:nvPr/>
        </p:nvSpPr>
        <p:spPr>
          <a:xfrm>
            <a:off x="971550" y="3057525"/>
            <a:ext cx="4381500" cy="1666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Корисник може бити исправно аутентификован, а ипак не сме да одобри промену, чита туђи ресурс или мења конфигурацију.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9B3B9A5-DFD1-49FA-9266-F527E214E734}"/>
              </a:ext>
            </a:extLst>
          </p:cNvPr>
          <p:cNvSpPr>
            <a:spLocks noGrp="1"/>
          </p:cNvSpPr>
          <p:nvPr/>
        </p:nvSpPr>
        <p:spPr>
          <a:xfrm>
            <a:off x="6686550" y="2200275"/>
            <a:ext cx="4686300" cy="2628900"/>
          </a:xfrm>
          <a:prstGeom prst="roundRect">
            <a:avLst>
              <a:gd name="adj" fmla="val 5072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5B5B53-975F-4C82-A10C-968C73B71C0F}"/>
              </a:ext>
            </a:extLst>
          </p:cNvPr>
          <p:cNvSpPr>
            <a:spLocks noGrp="1"/>
          </p:cNvSpPr>
          <p:nvPr/>
        </p:nvSpPr>
        <p:spPr>
          <a:xfrm>
            <a:off x="6838950" y="2324100"/>
            <a:ext cx="43815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ПОТПУНА ОДЛУКА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0A8643-F75A-43CD-9C96-B6860D0A98BF}"/>
              </a:ext>
            </a:extLst>
          </p:cNvPr>
          <p:cNvSpPr>
            <a:spLocks noGrp="1"/>
          </p:cNvSpPr>
          <p:nvPr/>
        </p:nvSpPr>
        <p:spPr>
          <a:xfrm>
            <a:off x="6838950" y="2571750"/>
            <a:ext cx="43815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„Ко, шта, над чим и зашто?“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D5BBCB8-0490-4166-93D7-463DB7800DF2}"/>
              </a:ext>
            </a:extLst>
          </p:cNvPr>
          <p:cNvSpPr>
            <a:spLocks noGrp="1"/>
          </p:cNvSpPr>
          <p:nvPr/>
        </p:nvSpPr>
        <p:spPr>
          <a:xfrm>
            <a:off x="6838950" y="3057525"/>
            <a:ext cx="4381500" cy="1666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Сервер проверава активан идентитет, потребну дозволу, опсег и контекст конкретне радње.</a:t>
            </a:r>
          </a:p>
        </p:txBody>
      </p:sp>
      <p:cxnSp>
        <p:nvCxnSpPr>
          <p:cNvPr id="75" name="Straight Arrow Connector 74"/>
          <p:cNvCxnSpPr>
            <a:stCxn id="6" idx="3"/>
            <a:endCxn id="10" idx="1"/>
          </p:cNvCxnSpPr>
          <p:nvPr/>
        </p:nvCxnSpPr>
        <p:spPr>
          <a:xfrm>
            <a:off x="5505450" y="3514725"/>
            <a:ext cx="1181100" cy="0"/>
          </a:xfrm>
          <a:prstGeom prst="straightConnector1">
            <a:avLst/>
          </a:prstGeom>
          <a:ln w="15240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6BC85D41-9B6F-4D02-AD5B-D8AEB02F7CA3}"/>
              </a:ext>
            </a:extLst>
          </p:cNvPr>
          <p:cNvSpPr>
            <a:spLocks noGrp="1"/>
          </p:cNvSpPr>
          <p:nvPr/>
        </p:nvSpPr>
        <p:spPr>
          <a:xfrm>
            <a:off x="914400" y="5048250"/>
            <a:ext cx="10363200" cy="781050"/>
          </a:xfrm>
          <a:prstGeom prst="roundRect">
            <a:avLst>
              <a:gd name="adj" fmla="val 17073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2C201790-CD4D-49E0-9741-3761D0E0143A}"/>
              </a:ext>
            </a:extLst>
          </p:cNvPr>
          <p:cNvSpPr>
            <a:spLocks noGrp="1"/>
          </p:cNvSpPr>
          <p:nvPr/>
        </p:nvSpPr>
        <p:spPr>
          <a:xfrm>
            <a:off x="1085850" y="5200650"/>
            <a:ext cx="57150" cy="47625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98A53B0-3879-4326-9485-D20E806D360B}"/>
              </a:ext>
            </a:extLst>
          </p:cNvPr>
          <p:cNvSpPr>
            <a:spLocks noGrp="1"/>
          </p:cNvSpPr>
          <p:nvPr/>
        </p:nvSpPr>
        <p:spPr>
          <a:xfrm>
            <a:off x="1333500" y="515302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75B0DB8-97CA-43DC-B55C-E6D80FBBB568}"/>
              </a:ext>
            </a:extLst>
          </p:cNvPr>
          <p:cNvSpPr>
            <a:spLocks noGrp="1"/>
          </p:cNvSpPr>
          <p:nvPr/>
        </p:nvSpPr>
        <p:spPr>
          <a:xfrm>
            <a:off x="1333500" y="5381625"/>
            <a:ext cx="9639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Раздвајање појмова смањује број скривених пречица и омогућава јасан audit траг.</a:t>
            </a:r>
          </a:p>
        </p:txBody>
      </p:sp>
    </p:spTree>
    <p:extLst>
      <p:ext uri="{BB962C8B-B14F-4D97-AF65-F5344CB8AC3E}">
        <p14:creationId xmlns:p14="http://schemas.microsoft.com/office/powerpoint/2010/main" val="7984127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01DE3CF7-77B6-4D87-850D-9B3D63F95A0F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2952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7D792DEA-7DB5-480D-ADD6-C353209B1CE9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A8C8E0-6380-4258-B056-E9B0C87557E4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6C87F3F-7123-409B-8E86-CF187AEBBFA6}"/>
              </a:ext>
            </a:extLst>
          </p:cNvPr>
          <p:cNvSpPr>
            <a:spLocks noGrp="1"/>
          </p:cNvSpPr>
          <p:nvPr/>
        </p:nvSpPr>
        <p:spPr>
          <a:xfrm>
            <a:off x="685800" y="790575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Четири појма граде једну одлуку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38FD15-FD2A-400B-A8D6-124CD9F76269}"/>
              </a:ext>
            </a:extLst>
          </p:cNvPr>
          <p:cNvSpPr>
            <a:spLocks noGrp="1"/>
          </p:cNvSpPr>
          <p:nvPr/>
        </p:nvSpPr>
        <p:spPr>
          <a:xfrm>
            <a:off x="685800" y="1438275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Сваки елемент одговара на друго питање и оставља другачији доказ.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CD551C4-EFBF-43CB-9FB9-0D53249E55BD}"/>
              </a:ext>
            </a:extLst>
          </p:cNvPr>
          <p:cNvSpPr>
            <a:spLocks noGrp="1"/>
          </p:cNvSpPr>
          <p:nvPr/>
        </p:nvSpPr>
        <p:spPr>
          <a:xfrm>
            <a:off x="704850" y="2305050"/>
            <a:ext cx="2571750" cy="2343150"/>
          </a:xfrm>
          <a:prstGeom prst="roundRect">
            <a:avLst>
              <a:gd name="adj" fmla="val 5691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DAC18D6-18A9-4F26-BD38-D3CCABDE5297}"/>
              </a:ext>
            </a:extLst>
          </p:cNvPr>
          <p:cNvSpPr>
            <a:spLocks noGrp="1"/>
          </p:cNvSpPr>
          <p:nvPr/>
        </p:nvSpPr>
        <p:spPr>
          <a:xfrm>
            <a:off x="857250" y="2428875"/>
            <a:ext cx="22669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90C4BF-1C2C-4EE7-B742-E118ACE65C65}"/>
              </a:ext>
            </a:extLst>
          </p:cNvPr>
          <p:cNvSpPr>
            <a:spLocks noGrp="1"/>
          </p:cNvSpPr>
          <p:nvPr/>
        </p:nvSpPr>
        <p:spPr>
          <a:xfrm>
            <a:off x="857250" y="2676525"/>
            <a:ext cx="22669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Идентитет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D66568-D07B-4FED-86DF-DEEB4DA8C68D}"/>
              </a:ext>
            </a:extLst>
          </p:cNvPr>
          <p:cNvSpPr>
            <a:spLocks noGrp="1"/>
          </p:cNvSpPr>
          <p:nvPr/>
        </p:nvSpPr>
        <p:spPr>
          <a:xfrm>
            <a:off x="857250" y="3067050"/>
            <a:ext cx="2266950" cy="1476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 је субјекат?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Трајна ознака и статус.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5671D34-CDEB-4761-852D-FC66775AB9A5}"/>
              </a:ext>
            </a:extLst>
          </p:cNvPr>
          <p:cNvSpPr>
            <a:spLocks noGrp="1"/>
          </p:cNvSpPr>
          <p:nvPr/>
        </p:nvSpPr>
        <p:spPr>
          <a:xfrm>
            <a:off x="3562350" y="2305050"/>
            <a:ext cx="2571750" cy="2343150"/>
          </a:xfrm>
          <a:prstGeom prst="roundRect">
            <a:avLst>
              <a:gd name="adj" fmla="val 5691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CC0A87-5B7F-48D5-BC2C-7196C7E53861}"/>
              </a:ext>
            </a:extLst>
          </p:cNvPr>
          <p:cNvSpPr>
            <a:spLocks noGrp="1"/>
          </p:cNvSpPr>
          <p:nvPr/>
        </p:nvSpPr>
        <p:spPr>
          <a:xfrm>
            <a:off x="3714750" y="2428875"/>
            <a:ext cx="22669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9F2FCC-3619-4DCD-B3C4-0BA3EFA336FD}"/>
              </a:ext>
            </a:extLst>
          </p:cNvPr>
          <p:cNvSpPr>
            <a:spLocks noGrp="1"/>
          </p:cNvSpPr>
          <p:nvPr/>
        </p:nvSpPr>
        <p:spPr>
          <a:xfrm>
            <a:off x="3714750" y="2676525"/>
            <a:ext cx="22669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Аутентикација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FF6934-C4F7-45B0-8641-C5AB462F32E3}"/>
              </a:ext>
            </a:extLst>
          </p:cNvPr>
          <p:cNvSpPr>
            <a:spLocks noGrp="1"/>
          </p:cNvSpPr>
          <p:nvPr/>
        </p:nvSpPr>
        <p:spPr>
          <a:xfrm>
            <a:off x="3714750" y="3067050"/>
            <a:ext cx="2266950" cy="1476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Да ли је тврдња о идентитету уверљива?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C01BE29-24D4-4D0F-8331-3550B74A16A7}"/>
              </a:ext>
            </a:extLst>
          </p:cNvPr>
          <p:cNvSpPr>
            <a:spLocks noGrp="1"/>
          </p:cNvSpPr>
          <p:nvPr/>
        </p:nvSpPr>
        <p:spPr>
          <a:xfrm>
            <a:off x="6419850" y="2305050"/>
            <a:ext cx="2571750" cy="2343150"/>
          </a:xfrm>
          <a:prstGeom prst="roundRect">
            <a:avLst>
              <a:gd name="adj" fmla="val 5691"/>
            </a:avLst>
          </a:prstGeom>
          <a:solidFill>
            <a:srgbClr val="F5F0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92904-141D-4F8B-B00F-33CE0B5504B8}"/>
              </a:ext>
            </a:extLst>
          </p:cNvPr>
          <p:cNvSpPr>
            <a:spLocks noGrp="1"/>
          </p:cNvSpPr>
          <p:nvPr/>
        </p:nvSpPr>
        <p:spPr>
          <a:xfrm>
            <a:off x="6572250" y="2428875"/>
            <a:ext cx="22669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5E3AE9-4956-434D-B9AE-562365A90238}"/>
              </a:ext>
            </a:extLst>
          </p:cNvPr>
          <p:cNvSpPr>
            <a:spLocks noGrp="1"/>
          </p:cNvSpPr>
          <p:nvPr/>
        </p:nvSpPr>
        <p:spPr>
          <a:xfrm>
            <a:off x="6572250" y="2676525"/>
            <a:ext cx="22669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Улога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D4DE05-1293-420B-A95A-DCEF31BC0E33}"/>
              </a:ext>
            </a:extLst>
          </p:cNvPr>
          <p:cNvSpPr>
            <a:spLocks noGrp="1"/>
          </p:cNvSpPr>
          <p:nvPr/>
        </p:nvSpPr>
        <p:spPr>
          <a:xfrm>
            <a:off x="6572250" y="3067050"/>
            <a:ext cx="2266950" cy="1476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Коју пословну одговорност субјекат има?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D275421-C0C0-41FE-A786-D3E442A70F2E}"/>
              </a:ext>
            </a:extLst>
          </p:cNvPr>
          <p:cNvSpPr>
            <a:spLocks noGrp="1"/>
          </p:cNvSpPr>
          <p:nvPr/>
        </p:nvSpPr>
        <p:spPr>
          <a:xfrm>
            <a:off x="9277350" y="2305050"/>
            <a:ext cx="2571750" cy="2343150"/>
          </a:xfrm>
          <a:prstGeom prst="roundRect">
            <a:avLst>
              <a:gd name="adj" fmla="val 5691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FA2FE40-0C45-4053-8E48-0D601FBD3155}"/>
              </a:ext>
            </a:extLst>
          </p:cNvPr>
          <p:cNvSpPr>
            <a:spLocks noGrp="1"/>
          </p:cNvSpPr>
          <p:nvPr/>
        </p:nvSpPr>
        <p:spPr>
          <a:xfrm>
            <a:off x="9429750" y="2428875"/>
            <a:ext cx="22669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7DD0E9-5179-4CAE-BE66-E4FACD71E313}"/>
              </a:ext>
            </a:extLst>
          </p:cNvPr>
          <p:cNvSpPr>
            <a:spLocks noGrp="1"/>
          </p:cNvSpPr>
          <p:nvPr/>
        </p:nvSpPr>
        <p:spPr>
          <a:xfrm>
            <a:off x="9429750" y="2676525"/>
            <a:ext cx="22669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Дозвола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22427E4-B0E1-4F08-BABE-F5917AECF0A1}"/>
              </a:ext>
            </a:extLst>
          </p:cNvPr>
          <p:cNvSpPr>
            <a:spLocks noGrp="1"/>
          </p:cNvSpPr>
          <p:nvPr/>
        </p:nvSpPr>
        <p:spPr>
          <a:xfrm>
            <a:off x="9429750" y="3067050"/>
            <a:ext cx="2266950" cy="1476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Коју конкретну радњу сме да изврши?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63269C69-7F35-4BFC-B0AA-A4A5906FA230}"/>
              </a:ext>
            </a:extLst>
          </p:cNvPr>
          <p:cNvSpPr>
            <a:spLocks noGrp="1"/>
          </p:cNvSpPr>
          <p:nvPr/>
        </p:nvSpPr>
        <p:spPr>
          <a:xfrm>
            <a:off x="914400" y="4933950"/>
            <a:ext cx="10363200" cy="781050"/>
          </a:xfrm>
          <a:prstGeom prst="roundRect">
            <a:avLst>
              <a:gd name="adj" fmla="val 17073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9851063-0302-4E15-9280-E568520A4DC0}"/>
              </a:ext>
            </a:extLst>
          </p:cNvPr>
          <p:cNvSpPr>
            <a:spLocks noGrp="1"/>
          </p:cNvSpPr>
          <p:nvPr/>
        </p:nvSpPr>
        <p:spPr>
          <a:xfrm>
            <a:off x="1085850" y="5086350"/>
            <a:ext cx="57150" cy="47625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F06627C-15DA-42CA-8F52-A96AFF34C48F}"/>
              </a:ext>
            </a:extLst>
          </p:cNvPr>
          <p:cNvSpPr>
            <a:spLocks noGrp="1"/>
          </p:cNvSpPr>
          <p:nvPr/>
        </p:nvSpPr>
        <p:spPr>
          <a:xfrm>
            <a:off x="1333500" y="503872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МОДЕЛ ОДЛУКЕ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6D67AC8-0F59-48BD-A2EC-AE0500FE84DA}"/>
              </a:ext>
            </a:extLst>
          </p:cNvPr>
          <p:cNvSpPr>
            <a:spLocks noGrp="1"/>
          </p:cNvSpPr>
          <p:nvPr/>
        </p:nvSpPr>
        <p:spPr>
          <a:xfrm>
            <a:off x="1333500" y="5267325"/>
            <a:ext cx="9639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Ефективно право = улога + дозвола + опсег + актуелни статус идентитета</a:t>
            </a:r>
          </a:p>
        </p:txBody>
      </p:sp>
    </p:spTree>
    <p:extLst>
      <p:ext uri="{BB962C8B-B14F-4D97-AF65-F5344CB8AC3E}">
        <p14:creationId xmlns:p14="http://schemas.microsoft.com/office/powerpoint/2010/main" val="1761055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B15455E9-1BDD-47B9-9322-5C2B8BF105F2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2952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AB7B38E5-A947-458F-8666-BED5EEE11203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0288F9-4CD6-4939-9211-9922CE398F76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A55A4F-9975-4172-B794-4658F765B21D}"/>
              </a:ext>
            </a:extLst>
          </p:cNvPr>
          <p:cNvSpPr>
            <a:spLocks noGrp="1"/>
          </p:cNvSpPr>
          <p:nvPr/>
        </p:nvSpPr>
        <p:spPr>
          <a:xfrm>
            <a:off x="685800" y="790575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Одлука о приступу је низ проверљивих питања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382113-2CD7-4680-A3E1-9EDE5F9E51F8}"/>
              </a:ext>
            </a:extLst>
          </p:cNvPr>
          <p:cNvSpPr>
            <a:spLocks noGrp="1"/>
          </p:cNvSpPr>
          <p:nvPr/>
        </p:nvSpPr>
        <p:spPr>
          <a:xfrm>
            <a:off x="685800" y="1438275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Када сваки корак има јасан улаз и исход, лакше је написати тест и објаснити одбијање.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AE15DAC-8477-4AD5-B711-F7EC40CA8CD6}"/>
              </a:ext>
            </a:extLst>
          </p:cNvPr>
          <p:cNvSpPr>
            <a:spLocks noGrp="1"/>
          </p:cNvSpPr>
          <p:nvPr/>
        </p:nvSpPr>
        <p:spPr>
          <a:xfrm>
            <a:off x="685800" y="2447925"/>
            <a:ext cx="1950720" cy="1181100"/>
          </a:xfrm>
          <a:prstGeom prst="roundRect">
            <a:avLst>
              <a:gd name="adj" fmla="val 11290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F285FB-2DB3-4463-B8DA-1C58FCB1AAD3}"/>
              </a:ext>
            </a:extLst>
          </p:cNvPr>
          <p:cNvSpPr>
            <a:spLocks noGrp="1"/>
          </p:cNvSpPr>
          <p:nvPr/>
        </p:nvSpPr>
        <p:spPr>
          <a:xfrm>
            <a:off x="828675" y="2562225"/>
            <a:ext cx="166497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CB573C-AF9E-4E75-B598-1FEC2FA29C99}"/>
              </a:ext>
            </a:extLst>
          </p:cNvPr>
          <p:cNvSpPr>
            <a:spLocks noGrp="1"/>
          </p:cNvSpPr>
          <p:nvPr/>
        </p:nvSpPr>
        <p:spPr>
          <a:xfrm>
            <a:off x="828675" y="2809875"/>
            <a:ext cx="166497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Захтев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15614D4-179A-4374-A127-A45EDE794BB6}"/>
              </a:ext>
            </a:extLst>
          </p:cNvPr>
          <p:cNvSpPr>
            <a:spLocks noGrp="1"/>
          </p:cNvSpPr>
          <p:nvPr/>
        </p:nvSpPr>
        <p:spPr>
          <a:xfrm>
            <a:off x="828675" y="3190875"/>
            <a:ext cx="166497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 и шта тражи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2AD2CB4-543A-4F52-B4F4-D0B275423C1F}"/>
              </a:ext>
            </a:extLst>
          </p:cNvPr>
          <p:cNvSpPr>
            <a:spLocks noGrp="1"/>
          </p:cNvSpPr>
          <p:nvPr/>
        </p:nvSpPr>
        <p:spPr>
          <a:xfrm>
            <a:off x="2903220" y="2447925"/>
            <a:ext cx="1950720" cy="1181100"/>
          </a:xfrm>
          <a:prstGeom prst="roundRect">
            <a:avLst>
              <a:gd name="adj" fmla="val 11290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2E18B2-9597-45DB-BB0D-19BE280093ED}"/>
              </a:ext>
            </a:extLst>
          </p:cNvPr>
          <p:cNvSpPr>
            <a:spLocks noGrp="1"/>
          </p:cNvSpPr>
          <p:nvPr/>
        </p:nvSpPr>
        <p:spPr>
          <a:xfrm>
            <a:off x="3046095" y="2562225"/>
            <a:ext cx="166497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36F636-ABC0-4D3D-B50C-9E4E0F47E69D}"/>
              </a:ext>
            </a:extLst>
          </p:cNvPr>
          <p:cNvSpPr>
            <a:spLocks noGrp="1"/>
          </p:cNvSpPr>
          <p:nvPr/>
        </p:nvSpPr>
        <p:spPr>
          <a:xfrm>
            <a:off x="3046095" y="2809875"/>
            <a:ext cx="166497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Идентитет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E8A8A2-06F8-46BF-830B-4309C16ACDCC}"/>
              </a:ext>
            </a:extLst>
          </p:cNvPr>
          <p:cNvSpPr>
            <a:spLocks noGrp="1"/>
          </p:cNvSpPr>
          <p:nvPr/>
        </p:nvSpPr>
        <p:spPr>
          <a:xfrm>
            <a:off x="3046095" y="3190875"/>
            <a:ext cx="166497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потврђен и активан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A6C502A-E47F-48C6-8DE8-F5B571303325}"/>
              </a:ext>
            </a:extLst>
          </p:cNvPr>
          <p:cNvSpPr>
            <a:spLocks noGrp="1"/>
          </p:cNvSpPr>
          <p:nvPr/>
        </p:nvSpPr>
        <p:spPr>
          <a:xfrm>
            <a:off x="5120640" y="2447925"/>
            <a:ext cx="1950720" cy="1181100"/>
          </a:xfrm>
          <a:prstGeom prst="roundRect">
            <a:avLst>
              <a:gd name="adj" fmla="val 11290"/>
            </a:avLst>
          </a:prstGeom>
          <a:solidFill>
            <a:srgbClr val="F5F0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2E5BCE-8888-4B05-B154-A3AFC9296946}"/>
              </a:ext>
            </a:extLst>
          </p:cNvPr>
          <p:cNvSpPr>
            <a:spLocks noGrp="1"/>
          </p:cNvSpPr>
          <p:nvPr/>
        </p:nvSpPr>
        <p:spPr>
          <a:xfrm>
            <a:off x="5263515" y="2562225"/>
            <a:ext cx="166497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9E085A8-9336-497E-91CC-412BA68F3DDB}"/>
              </a:ext>
            </a:extLst>
          </p:cNvPr>
          <p:cNvSpPr>
            <a:spLocks noGrp="1"/>
          </p:cNvSpPr>
          <p:nvPr/>
        </p:nvSpPr>
        <p:spPr>
          <a:xfrm>
            <a:off x="5263515" y="2809875"/>
            <a:ext cx="166497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Дозвола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2BDA4C6-3059-42CB-847C-76E7D06C533D}"/>
              </a:ext>
            </a:extLst>
          </p:cNvPr>
          <p:cNvSpPr>
            <a:spLocks noGrp="1"/>
          </p:cNvSpPr>
          <p:nvPr/>
        </p:nvSpPr>
        <p:spPr>
          <a:xfrm>
            <a:off x="5263515" y="3190875"/>
            <a:ext cx="166497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улога и опсег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D89B1E8-CD57-4B1A-8278-A74351C27DA9}"/>
              </a:ext>
            </a:extLst>
          </p:cNvPr>
          <p:cNvSpPr>
            <a:spLocks noGrp="1"/>
          </p:cNvSpPr>
          <p:nvPr/>
        </p:nvSpPr>
        <p:spPr>
          <a:xfrm>
            <a:off x="7338060" y="2447925"/>
            <a:ext cx="1950720" cy="1181100"/>
          </a:xfrm>
          <a:prstGeom prst="roundRect">
            <a:avLst>
              <a:gd name="adj" fmla="val 11290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65423D-A59A-45A8-8941-F6289D7297DC}"/>
              </a:ext>
            </a:extLst>
          </p:cNvPr>
          <p:cNvSpPr>
            <a:spLocks noGrp="1"/>
          </p:cNvSpPr>
          <p:nvPr/>
        </p:nvSpPr>
        <p:spPr>
          <a:xfrm>
            <a:off x="7480935" y="2562225"/>
            <a:ext cx="166497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3F0244F-4C76-4992-A117-FD7D4B4213EE}"/>
              </a:ext>
            </a:extLst>
          </p:cNvPr>
          <p:cNvSpPr>
            <a:spLocks noGrp="1"/>
          </p:cNvSpPr>
          <p:nvPr/>
        </p:nvSpPr>
        <p:spPr>
          <a:xfrm>
            <a:off x="7480935" y="2809875"/>
            <a:ext cx="166497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Исход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2304B24-516E-4BD6-8403-59F61211D3D9}"/>
              </a:ext>
            </a:extLst>
          </p:cNvPr>
          <p:cNvSpPr>
            <a:spLocks noGrp="1"/>
          </p:cNvSpPr>
          <p:nvPr/>
        </p:nvSpPr>
        <p:spPr>
          <a:xfrm>
            <a:off x="7480935" y="3190875"/>
            <a:ext cx="166497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дозволи или одбиј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920310A-C3AD-492D-AFC6-388D1E9CAE6A}"/>
              </a:ext>
            </a:extLst>
          </p:cNvPr>
          <p:cNvSpPr>
            <a:spLocks noGrp="1"/>
          </p:cNvSpPr>
          <p:nvPr/>
        </p:nvSpPr>
        <p:spPr>
          <a:xfrm>
            <a:off x="9555480" y="2447925"/>
            <a:ext cx="1950720" cy="1181100"/>
          </a:xfrm>
          <a:prstGeom prst="roundRect">
            <a:avLst>
              <a:gd name="adj" fmla="val 11290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0CE08AF-D2AA-4231-B814-AE898E37D2D1}"/>
              </a:ext>
            </a:extLst>
          </p:cNvPr>
          <p:cNvSpPr>
            <a:spLocks noGrp="1"/>
          </p:cNvSpPr>
          <p:nvPr/>
        </p:nvSpPr>
        <p:spPr>
          <a:xfrm>
            <a:off x="9698355" y="2562225"/>
            <a:ext cx="166497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CDA4813-51BA-4B9A-8CCA-713490D9FC9A}"/>
              </a:ext>
            </a:extLst>
          </p:cNvPr>
          <p:cNvSpPr>
            <a:spLocks noGrp="1"/>
          </p:cNvSpPr>
          <p:nvPr/>
        </p:nvSpPr>
        <p:spPr>
          <a:xfrm>
            <a:off x="9698355" y="2809875"/>
            <a:ext cx="166497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Audit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DDED184-D793-44C1-95AD-300BBA0B77DC}"/>
              </a:ext>
            </a:extLst>
          </p:cNvPr>
          <p:cNvSpPr>
            <a:spLocks noGrp="1"/>
          </p:cNvSpPr>
          <p:nvPr/>
        </p:nvSpPr>
        <p:spPr>
          <a:xfrm>
            <a:off x="9698355" y="3190875"/>
            <a:ext cx="166497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actor · action · target</a:t>
            </a:r>
          </a:p>
        </p:txBody>
      </p:sp>
      <p:cxnSp>
        <p:nvCxnSpPr>
          <p:cNvPr id="149" name="Straight Arrow Connector 148"/>
          <p:cNvCxnSpPr>
            <a:stCxn id="6" idx="3"/>
            <a:endCxn id="10" idx="1"/>
          </p:cNvCxnSpPr>
          <p:nvPr/>
        </p:nvCxnSpPr>
        <p:spPr>
          <a:xfrm>
            <a:off x="2636520" y="3038475"/>
            <a:ext cx="266700" cy="0"/>
          </a:xfrm>
          <a:prstGeom prst="straightConnector1">
            <a:avLst/>
          </a:prstGeom>
          <a:ln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50" name="Straight Arrow Connector 149"/>
          <p:cNvCxnSpPr>
            <a:stCxn id="10" idx="3"/>
            <a:endCxn id="14" idx="1"/>
          </p:cNvCxnSpPr>
          <p:nvPr/>
        </p:nvCxnSpPr>
        <p:spPr>
          <a:xfrm>
            <a:off x="4853940" y="3038475"/>
            <a:ext cx="266700" cy="0"/>
          </a:xfrm>
          <a:prstGeom prst="straightConnector1">
            <a:avLst/>
          </a:prstGeom>
          <a:ln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51" name="Straight Arrow Connector 150"/>
          <p:cNvCxnSpPr>
            <a:stCxn id="14" idx="3"/>
            <a:endCxn id="18" idx="1"/>
          </p:cNvCxnSpPr>
          <p:nvPr/>
        </p:nvCxnSpPr>
        <p:spPr>
          <a:xfrm>
            <a:off x="7071360" y="3038475"/>
            <a:ext cx="266700" cy="0"/>
          </a:xfrm>
          <a:prstGeom prst="straightConnector1">
            <a:avLst/>
          </a:prstGeom>
          <a:ln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52" name="Straight Arrow Connector 151"/>
          <p:cNvCxnSpPr>
            <a:stCxn id="18" idx="3"/>
            <a:endCxn id="22" idx="1"/>
          </p:cNvCxnSpPr>
          <p:nvPr/>
        </p:nvCxnSpPr>
        <p:spPr>
          <a:xfrm>
            <a:off x="9288780" y="3038475"/>
            <a:ext cx="266700" cy="0"/>
          </a:xfrm>
          <a:prstGeom prst="straightConnector1">
            <a:avLst/>
          </a:prstGeom>
          <a:ln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254C63B0-97DB-489D-AF1F-F2CDFFF41571}"/>
              </a:ext>
            </a:extLst>
          </p:cNvPr>
          <p:cNvSpPr>
            <a:spLocks noGrp="1"/>
          </p:cNvSpPr>
          <p:nvPr/>
        </p:nvSpPr>
        <p:spPr>
          <a:xfrm>
            <a:off x="914400" y="4171950"/>
            <a:ext cx="10363200" cy="1257300"/>
          </a:xfrm>
          <a:prstGeom prst="roundRect">
            <a:avLst>
              <a:gd name="adj" fmla="val 10606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80177CEA-C523-44BC-AC73-4ADAC0FA189F}"/>
              </a:ext>
            </a:extLst>
          </p:cNvPr>
          <p:cNvSpPr>
            <a:spLocks noGrp="1"/>
          </p:cNvSpPr>
          <p:nvPr/>
        </p:nvSpPr>
        <p:spPr>
          <a:xfrm>
            <a:off x="1085850" y="4324350"/>
            <a:ext cx="57150" cy="95250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C475786-F855-497A-BE13-928EFDB7E836}"/>
              </a:ext>
            </a:extLst>
          </p:cNvPr>
          <p:cNvSpPr>
            <a:spLocks noGrp="1"/>
          </p:cNvSpPr>
          <p:nvPr/>
        </p:nvSpPr>
        <p:spPr>
          <a:xfrm>
            <a:off x="1333500" y="427672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4D78CAB6-059B-4948-BAB8-9B9427457D60}"/>
              </a:ext>
            </a:extLst>
          </p:cNvPr>
          <p:cNvSpPr>
            <a:spLocks noGrp="1"/>
          </p:cNvSpPr>
          <p:nvPr/>
        </p:nvSpPr>
        <p:spPr>
          <a:xfrm>
            <a:off x="1333500" y="4505325"/>
            <a:ext cx="96393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Клијент може да води корисника, али сервер остаје једини ауторитет за одлуку.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86EFD167-8E39-42EC-A35E-CEECAA013895}"/>
              </a:ext>
            </a:extLst>
          </p:cNvPr>
          <p:cNvSpPr>
            <a:spLocks noGrp="1"/>
          </p:cNvSpPr>
          <p:nvPr/>
        </p:nvSpPr>
        <p:spPr>
          <a:xfrm>
            <a:off x="1333500" y="5029200"/>
            <a:ext cx="9639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275" b="0">
                <a:solidFill>
                  <a:srgbClr val="52637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Одбијање треба да буде контролисано: довољно јасно клијенту, без откривања заштићених детаља.</a:t>
            </a:r>
          </a:p>
        </p:txBody>
      </p:sp>
    </p:spTree>
    <p:extLst>
      <p:ext uri="{BB962C8B-B14F-4D97-AF65-F5344CB8AC3E}">
        <p14:creationId xmlns:p14="http://schemas.microsoft.com/office/powerpoint/2010/main" val="13846740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FD7D7989-3086-4A22-9679-26411B491A74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2952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469C9855-2FE1-43F3-8E16-9E8C5F2B0997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B392FD-8A43-49FE-842F-BCBCD766527C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D03797D-85F7-487F-93D6-03176C1C84F1}"/>
              </a:ext>
            </a:extLst>
          </p:cNvPr>
          <p:cNvSpPr>
            <a:spLocks noGrp="1"/>
          </p:cNvSpPr>
          <p:nvPr/>
        </p:nvSpPr>
        <p:spPr>
          <a:xfrm>
            <a:off x="685800" y="790575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Идентитет има животни циклус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814A2D-1631-449B-ABD5-5A2B5159B19E}"/>
              </a:ext>
            </a:extLst>
          </p:cNvPr>
          <p:cNvSpPr>
            <a:spLocks noGrp="1"/>
          </p:cNvSpPr>
          <p:nvPr/>
        </p:nvSpPr>
        <p:spPr>
          <a:xfrm>
            <a:off x="685800" y="1438275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Право приступа не зависи само од података у тренутку креирања налога.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F63614F-182F-4143-9BE5-CECB2485DA39}"/>
              </a:ext>
            </a:extLst>
          </p:cNvPr>
          <p:cNvSpPr>
            <a:spLocks noGrp="1"/>
          </p:cNvSpPr>
          <p:nvPr/>
        </p:nvSpPr>
        <p:spPr>
          <a:xfrm>
            <a:off x="685800" y="2371725"/>
            <a:ext cx="1950720" cy="1181100"/>
          </a:xfrm>
          <a:prstGeom prst="roundRect">
            <a:avLst>
              <a:gd name="adj" fmla="val 11290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D3A88C-BE6F-42D7-9102-BBAB4565158B}"/>
              </a:ext>
            </a:extLst>
          </p:cNvPr>
          <p:cNvSpPr>
            <a:spLocks noGrp="1"/>
          </p:cNvSpPr>
          <p:nvPr/>
        </p:nvSpPr>
        <p:spPr>
          <a:xfrm>
            <a:off x="828675" y="2486025"/>
            <a:ext cx="166497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32677C7-AE02-4B0E-8C86-8BE4D4957772}"/>
              </a:ext>
            </a:extLst>
          </p:cNvPr>
          <p:cNvSpPr>
            <a:spLocks noGrp="1"/>
          </p:cNvSpPr>
          <p:nvPr/>
        </p:nvSpPr>
        <p:spPr>
          <a:xfrm>
            <a:off x="828675" y="2733675"/>
            <a:ext cx="166497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Креиран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D1E1D3-7D52-4C55-8A6C-94353C0AF7C2}"/>
              </a:ext>
            </a:extLst>
          </p:cNvPr>
          <p:cNvSpPr>
            <a:spLocks noGrp="1"/>
          </p:cNvSpPr>
          <p:nvPr/>
        </p:nvSpPr>
        <p:spPr>
          <a:xfrm>
            <a:off x="828675" y="3114675"/>
            <a:ext cx="166497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2179"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власник и сврха налога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71FA3F6-ADFB-488C-B2C9-4D80B577A129}"/>
              </a:ext>
            </a:extLst>
          </p:cNvPr>
          <p:cNvSpPr>
            <a:spLocks noGrp="1"/>
          </p:cNvSpPr>
          <p:nvPr/>
        </p:nvSpPr>
        <p:spPr>
          <a:xfrm>
            <a:off x="2903220" y="2371725"/>
            <a:ext cx="1950720" cy="1181100"/>
          </a:xfrm>
          <a:prstGeom prst="roundRect">
            <a:avLst>
              <a:gd name="adj" fmla="val 11290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72D253-CBFA-4A9A-868B-E5A2DE3CE1DB}"/>
              </a:ext>
            </a:extLst>
          </p:cNvPr>
          <p:cNvSpPr>
            <a:spLocks noGrp="1"/>
          </p:cNvSpPr>
          <p:nvPr/>
        </p:nvSpPr>
        <p:spPr>
          <a:xfrm>
            <a:off x="3046095" y="2486025"/>
            <a:ext cx="166497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0077480-0BD7-4E28-9088-FD6D0ABE706B}"/>
              </a:ext>
            </a:extLst>
          </p:cNvPr>
          <p:cNvSpPr>
            <a:spLocks noGrp="1"/>
          </p:cNvSpPr>
          <p:nvPr/>
        </p:nvSpPr>
        <p:spPr>
          <a:xfrm>
            <a:off x="3046095" y="2733675"/>
            <a:ext cx="166497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Активан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DD4C67-0145-4B32-A1F5-A141FF980331}"/>
              </a:ext>
            </a:extLst>
          </p:cNvPr>
          <p:cNvSpPr>
            <a:spLocks noGrp="1"/>
          </p:cNvSpPr>
          <p:nvPr/>
        </p:nvSpPr>
        <p:spPr>
          <a:xfrm>
            <a:off x="3046095" y="3114675"/>
            <a:ext cx="166497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0309"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важеће улоге и дозволе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76637A7-5E40-43D5-B080-D76FAAFCA5AA}"/>
              </a:ext>
            </a:extLst>
          </p:cNvPr>
          <p:cNvSpPr>
            <a:spLocks noGrp="1"/>
          </p:cNvSpPr>
          <p:nvPr/>
        </p:nvSpPr>
        <p:spPr>
          <a:xfrm>
            <a:off x="5120640" y="2371725"/>
            <a:ext cx="1950720" cy="1181100"/>
          </a:xfrm>
          <a:prstGeom prst="roundRect">
            <a:avLst>
              <a:gd name="adj" fmla="val 11290"/>
            </a:avLst>
          </a:prstGeom>
          <a:solidFill>
            <a:srgbClr val="F5F0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AE970F0-193E-4D33-8993-A5CAD07BCD29}"/>
              </a:ext>
            </a:extLst>
          </p:cNvPr>
          <p:cNvSpPr>
            <a:spLocks noGrp="1"/>
          </p:cNvSpPr>
          <p:nvPr/>
        </p:nvSpPr>
        <p:spPr>
          <a:xfrm>
            <a:off x="5263515" y="2486025"/>
            <a:ext cx="166497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CAB2FFF-F925-4663-A7FF-B88DC1652A4B}"/>
              </a:ext>
            </a:extLst>
          </p:cNvPr>
          <p:cNvSpPr>
            <a:spLocks noGrp="1"/>
          </p:cNvSpPr>
          <p:nvPr/>
        </p:nvSpPr>
        <p:spPr>
          <a:xfrm>
            <a:off x="5263515" y="2733675"/>
            <a:ext cx="166497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Промењен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B402BA0-2DA2-4FA1-BEB4-B718021E3635}"/>
              </a:ext>
            </a:extLst>
          </p:cNvPr>
          <p:cNvSpPr>
            <a:spLocks noGrp="1"/>
          </p:cNvSpPr>
          <p:nvPr/>
        </p:nvSpPr>
        <p:spPr>
          <a:xfrm>
            <a:off x="5263515" y="3114675"/>
            <a:ext cx="166497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83333"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нова одговорност или опсег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7CF04FA6-6C84-4C60-A7E4-89286CE6444E}"/>
              </a:ext>
            </a:extLst>
          </p:cNvPr>
          <p:cNvSpPr>
            <a:spLocks noGrp="1"/>
          </p:cNvSpPr>
          <p:nvPr/>
        </p:nvSpPr>
        <p:spPr>
          <a:xfrm>
            <a:off x="7338060" y="2371725"/>
            <a:ext cx="1950720" cy="1181100"/>
          </a:xfrm>
          <a:prstGeom prst="roundRect">
            <a:avLst>
              <a:gd name="adj" fmla="val 11290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D999C2-F602-478A-B2E1-08CBD1691374}"/>
              </a:ext>
            </a:extLst>
          </p:cNvPr>
          <p:cNvSpPr>
            <a:spLocks noGrp="1"/>
          </p:cNvSpPr>
          <p:nvPr/>
        </p:nvSpPr>
        <p:spPr>
          <a:xfrm>
            <a:off x="7480935" y="2486025"/>
            <a:ext cx="166497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68BE9E4-E625-402F-A9CF-8218DCA4E8AE}"/>
              </a:ext>
            </a:extLst>
          </p:cNvPr>
          <p:cNvSpPr>
            <a:spLocks noGrp="1"/>
          </p:cNvSpPr>
          <p:nvPr/>
        </p:nvSpPr>
        <p:spPr>
          <a:xfrm>
            <a:off x="7480935" y="2733675"/>
            <a:ext cx="166497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Суспендован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CFCB191-C01A-4A35-BEB2-05676060359E}"/>
              </a:ext>
            </a:extLst>
          </p:cNvPr>
          <p:cNvSpPr>
            <a:spLocks noGrp="1"/>
          </p:cNvSpPr>
          <p:nvPr/>
        </p:nvSpPr>
        <p:spPr>
          <a:xfrm>
            <a:off x="7480935" y="3114675"/>
            <a:ext cx="166497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0850"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приступ се одмах укида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2EE178D-ED43-4512-8847-EF1ADD28DDD6}"/>
              </a:ext>
            </a:extLst>
          </p:cNvPr>
          <p:cNvSpPr>
            <a:spLocks noGrp="1"/>
          </p:cNvSpPr>
          <p:nvPr/>
        </p:nvSpPr>
        <p:spPr>
          <a:xfrm>
            <a:off x="9555480" y="2371725"/>
            <a:ext cx="1950720" cy="1181100"/>
          </a:xfrm>
          <a:prstGeom prst="roundRect">
            <a:avLst>
              <a:gd name="adj" fmla="val 11290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6FA10D7-A5CC-4389-8ED6-6E9ADB6C2C7E}"/>
              </a:ext>
            </a:extLst>
          </p:cNvPr>
          <p:cNvSpPr>
            <a:spLocks noGrp="1"/>
          </p:cNvSpPr>
          <p:nvPr/>
        </p:nvSpPr>
        <p:spPr>
          <a:xfrm>
            <a:off x="9698355" y="2486025"/>
            <a:ext cx="166497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9449BAC-9C89-4979-9960-0EB3B1DC8CAE}"/>
              </a:ext>
            </a:extLst>
          </p:cNvPr>
          <p:cNvSpPr>
            <a:spLocks noGrp="1"/>
          </p:cNvSpPr>
          <p:nvPr/>
        </p:nvSpPr>
        <p:spPr>
          <a:xfrm>
            <a:off x="9698355" y="2733675"/>
            <a:ext cx="166497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Угашен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3FD0941-D808-4AB8-81F8-D2C9EF9D2A2A}"/>
              </a:ext>
            </a:extLst>
          </p:cNvPr>
          <p:cNvSpPr>
            <a:spLocks noGrp="1"/>
          </p:cNvSpPr>
          <p:nvPr/>
        </p:nvSpPr>
        <p:spPr>
          <a:xfrm>
            <a:off x="9698355" y="3114675"/>
            <a:ext cx="166497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остаје audit историја</a:t>
            </a:r>
          </a:p>
        </p:txBody>
      </p:sp>
      <p:cxnSp>
        <p:nvCxnSpPr>
          <p:cNvPr id="150" name="Straight Arrow Connector 149"/>
          <p:cNvCxnSpPr>
            <a:stCxn id="6" idx="3"/>
            <a:endCxn id="10" idx="1"/>
          </p:cNvCxnSpPr>
          <p:nvPr/>
        </p:nvCxnSpPr>
        <p:spPr>
          <a:xfrm>
            <a:off x="2636520" y="2962275"/>
            <a:ext cx="266700" cy="0"/>
          </a:xfrm>
          <a:prstGeom prst="straightConnector1">
            <a:avLst/>
          </a:prstGeom>
          <a:ln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51" name="Straight Arrow Connector 150"/>
          <p:cNvCxnSpPr>
            <a:stCxn id="10" idx="3"/>
            <a:endCxn id="14" idx="1"/>
          </p:cNvCxnSpPr>
          <p:nvPr/>
        </p:nvCxnSpPr>
        <p:spPr>
          <a:xfrm>
            <a:off x="4853940" y="2962275"/>
            <a:ext cx="266700" cy="0"/>
          </a:xfrm>
          <a:prstGeom prst="straightConnector1">
            <a:avLst/>
          </a:prstGeom>
          <a:ln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52" name="Straight Arrow Connector 151"/>
          <p:cNvCxnSpPr>
            <a:stCxn id="14" idx="3"/>
            <a:endCxn id="18" idx="1"/>
          </p:cNvCxnSpPr>
          <p:nvPr/>
        </p:nvCxnSpPr>
        <p:spPr>
          <a:xfrm>
            <a:off x="7071360" y="2962275"/>
            <a:ext cx="266700" cy="0"/>
          </a:xfrm>
          <a:prstGeom prst="straightConnector1">
            <a:avLst/>
          </a:prstGeom>
          <a:ln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53" name="Straight Arrow Connector 152"/>
          <p:cNvCxnSpPr>
            <a:stCxn id="18" idx="3"/>
            <a:endCxn id="22" idx="1"/>
          </p:cNvCxnSpPr>
          <p:nvPr/>
        </p:nvCxnSpPr>
        <p:spPr>
          <a:xfrm>
            <a:off x="9288780" y="2962275"/>
            <a:ext cx="266700" cy="0"/>
          </a:xfrm>
          <a:prstGeom prst="straightConnector1">
            <a:avLst/>
          </a:prstGeom>
          <a:ln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2A72D6B5-5D9A-4F71-9B56-BC8EA56D4091}"/>
              </a:ext>
            </a:extLst>
          </p:cNvPr>
          <p:cNvSpPr>
            <a:spLocks noGrp="1"/>
          </p:cNvSpPr>
          <p:nvPr/>
        </p:nvSpPr>
        <p:spPr>
          <a:xfrm>
            <a:off x="914400" y="4324350"/>
            <a:ext cx="10363200" cy="1104900"/>
          </a:xfrm>
          <a:prstGeom prst="roundRect">
            <a:avLst>
              <a:gd name="adj" fmla="val 12069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5AD897A3-FE3E-4423-9FF0-763E9E7EFF6E}"/>
              </a:ext>
            </a:extLst>
          </p:cNvPr>
          <p:cNvSpPr>
            <a:spLocks noGrp="1"/>
          </p:cNvSpPr>
          <p:nvPr/>
        </p:nvSpPr>
        <p:spPr>
          <a:xfrm>
            <a:off x="1085850" y="4476750"/>
            <a:ext cx="57150" cy="80010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A944D09E-000E-40B6-A05E-4E835D323C51}"/>
              </a:ext>
            </a:extLst>
          </p:cNvPr>
          <p:cNvSpPr>
            <a:spLocks noGrp="1"/>
          </p:cNvSpPr>
          <p:nvPr/>
        </p:nvSpPr>
        <p:spPr>
          <a:xfrm>
            <a:off x="1333500" y="442912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ДИЗАЈНЕРСКА ПОСЛЕДИЦА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CA17FFF-6895-4E02-B63F-574A74496E22}"/>
              </a:ext>
            </a:extLst>
          </p:cNvPr>
          <p:cNvSpPr>
            <a:spLocks noGrp="1"/>
          </p:cNvSpPr>
          <p:nvPr/>
        </p:nvSpPr>
        <p:spPr>
          <a:xfrm>
            <a:off x="1333500" y="4657725"/>
            <a:ext cx="96393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Дизајнерска последица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D840A071-6D08-407E-B0E2-3C65D94826DE}"/>
              </a:ext>
            </a:extLst>
          </p:cNvPr>
          <p:cNvSpPr>
            <a:spLocks noGrp="1"/>
          </p:cNvSpPr>
          <p:nvPr/>
        </p:nvSpPr>
        <p:spPr>
          <a:xfrm>
            <a:off x="1333500" y="5029200"/>
            <a:ext cx="9639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8362"/>
          </a:bodyPr>
          <a:lstStyle/>
          <a:p>
            <a:pPr>
              <a:buNone/>
              <a:defRPr sz="1275" b="0">
                <a:solidFill>
                  <a:srgbClr val="52637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Статус идентитета и промена улоге морају утицати на сваку нову одлуку — без ослањања на застарелу претпоставку клијента.</a:t>
            </a:r>
          </a:p>
        </p:txBody>
      </p:sp>
    </p:spTree>
    <p:extLst>
      <p:ext uri="{BB962C8B-B14F-4D97-AF65-F5344CB8AC3E}">
        <p14:creationId xmlns:p14="http://schemas.microsoft.com/office/powerpoint/2010/main" val="5593917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A8A9FF1D-137B-4E52-96EC-727BAA1E9B9C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2952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5B6682EF-72B9-4A1E-98B7-A473F4E82241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FBCD17F-9057-4BA3-A8BB-BDDEA19641D3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2007D6-EC19-453D-B436-28F76613424F}"/>
              </a:ext>
            </a:extLst>
          </p:cNvPr>
          <p:cNvSpPr>
            <a:spLocks noGrp="1"/>
          </p:cNvSpPr>
          <p:nvPr/>
        </p:nvSpPr>
        <p:spPr>
          <a:xfrm>
            <a:off x="685800" y="790575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Аутентикација и ауторизација одговарају на различита питања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E02D0B-AC6F-4900-BA1E-50E544CE05B6}"/>
              </a:ext>
            </a:extLst>
          </p:cNvPr>
          <p:cNvSpPr>
            <a:spLocks noGrp="1"/>
          </p:cNvSpPr>
          <p:nvPr/>
        </p:nvSpPr>
        <p:spPr>
          <a:xfrm>
            <a:off x="685800" y="1438275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Мешање ова два корака најчешће ствара преширока права.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488257-DCE4-4902-9EBB-9A352A6A4C53}"/>
              </a:ext>
            </a:extLst>
          </p:cNvPr>
          <p:cNvSpPr>
            <a:spLocks noGrp="1"/>
          </p:cNvSpPr>
          <p:nvPr/>
        </p:nvSpPr>
        <p:spPr>
          <a:xfrm>
            <a:off x="952500" y="2038350"/>
            <a:ext cx="2000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ПОЈАМ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1A807F6-D30E-4A03-9A71-DD2ACD1F3227}"/>
              </a:ext>
            </a:extLst>
          </p:cNvPr>
          <p:cNvSpPr>
            <a:spLocks noGrp="1"/>
          </p:cNvSpPr>
          <p:nvPr/>
        </p:nvSpPr>
        <p:spPr>
          <a:xfrm>
            <a:off x="3162300" y="2038350"/>
            <a:ext cx="32385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ПИТАЊЕ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4A5C7D-3CDF-46E3-A7E8-294099F240ED}"/>
              </a:ext>
            </a:extLst>
          </p:cNvPr>
          <p:cNvSpPr>
            <a:spLocks noGrp="1"/>
          </p:cNvSpPr>
          <p:nvPr/>
        </p:nvSpPr>
        <p:spPr>
          <a:xfrm>
            <a:off x="6667500" y="2038350"/>
            <a:ext cx="44767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ТИПИЧНА ГРЕШКА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9185169-20C5-4307-9856-74296C969FF2}"/>
              </a:ext>
            </a:extLst>
          </p:cNvPr>
          <p:cNvSpPr>
            <a:spLocks noGrp="1"/>
          </p:cNvSpPr>
          <p:nvPr/>
        </p:nvSpPr>
        <p:spPr>
          <a:xfrm>
            <a:off x="838200" y="2333625"/>
            <a:ext cx="10515600" cy="628650"/>
          </a:xfrm>
          <a:prstGeom prst="roundRect">
            <a:avLst>
              <a:gd name="adj" fmla="val 18182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2EC4DF6-8DD2-4114-A5DB-7FCF248620C4}"/>
              </a:ext>
            </a:extLst>
          </p:cNvPr>
          <p:cNvSpPr>
            <a:spLocks noGrp="1"/>
          </p:cNvSpPr>
          <p:nvPr/>
        </p:nvSpPr>
        <p:spPr>
          <a:xfrm>
            <a:off x="990600" y="2447925"/>
            <a:ext cx="1905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Идентитет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431DB5-345E-407D-A304-61E32AB2CAF2}"/>
              </a:ext>
            </a:extLst>
          </p:cNvPr>
          <p:cNvSpPr>
            <a:spLocks noGrp="1"/>
          </p:cNvSpPr>
          <p:nvPr/>
        </p:nvSpPr>
        <p:spPr>
          <a:xfrm>
            <a:off x="3162300" y="2447925"/>
            <a:ext cx="32194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Ко је субјекат?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0C7631-432E-4CF8-9C0F-89BEE23BA919}"/>
              </a:ext>
            </a:extLst>
          </p:cNvPr>
          <p:cNvSpPr>
            <a:spLocks noGrp="1"/>
          </p:cNvSpPr>
          <p:nvPr/>
        </p:nvSpPr>
        <p:spPr>
          <a:xfrm>
            <a:off x="6667500" y="2447925"/>
            <a:ext cx="4476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Особа и технички налог се третирају исто.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5021ABE-4D51-4941-8A1F-37C04F24063F}"/>
              </a:ext>
            </a:extLst>
          </p:cNvPr>
          <p:cNvSpPr>
            <a:spLocks noGrp="1"/>
          </p:cNvSpPr>
          <p:nvPr/>
        </p:nvSpPr>
        <p:spPr>
          <a:xfrm>
            <a:off x="838200" y="3114675"/>
            <a:ext cx="10515600" cy="628650"/>
          </a:xfrm>
          <a:prstGeom prst="roundRect">
            <a:avLst>
              <a:gd name="adj" fmla="val 18182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871A4B-77CC-481F-9A58-36BB7DB6B117}"/>
              </a:ext>
            </a:extLst>
          </p:cNvPr>
          <p:cNvSpPr>
            <a:spLocks noGrp="1"/>
          </p:cNvSpPr>
          <p:nvPr/>
        </p:nvSpPr>
        <p:spPr>
          <a:xfrm>
            <a:off x="990600" y="3228975"/>
            <a:ext cx="1905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Аутентикација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E99BA3-787D-4F2C-BED9-4C73A201EBBB}"/>
              </a:ext>
            </a:extLst>
          </p:cNvPr>
          <p:cNvSpPr>
            <a:spLocks noGrp="1"/>
          </p:cNvSpPr>
          <p:nvPr/>
        </p:nvSpPr>
        <p:spPr>
          <a:xfrm>
            <a:off x="3162300" y="3228975"/>
            <a:ext cx="32194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Да ли је идентитет потврђен?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9061B42-F00D-4F8F-ADD8-3314BACF557D}"/>
              </a:ext>
            </a:extLst>
          </p:cNvPr>
          <p:cNvSpPr>
            <a:spLocks noGrp="1"/>
          </p:cNvSpPr>
          <p:nvPr/>
        </p:nvSpPr>
        <p:spPr>
          <a:xfrm>
            <a:off x="6667500" y="3228975"/>
            <a:ext cx="4476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Успешна пријава се тумачи као широко овлашћење.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59A50DA-1E0C-413E-833F-5FBE25B6F04C}"/>
              </a:ext>
            </a:extLst>
          </p:cNvPr>
          <p:cNvSpPr>
            <a:spLocks noGrp="1"/>
          </p:cNvSpPr>
          <p:nvPr/>
        </p:nvSpPr>
        <p:spPr>
          <a:xfrm>
            <a:off x="838200" y="3895725"/>
            <a:ext cx="10515600" cy="628650"/>
          </a:xfrm>
          <a:prstGeom prst="roundRect">
            <a:avLst>
              <a:gd name="adj" fmla="val 18182"/>
            </a:avLst>
          </a:prstGeom>
          <a:solidFill>
            <a:srgbClr val="F5F0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01FB728-48F9-4B13-B6A8-D5C9914F6156}"/>
              </a:ext>
            </a:extLst>
          </p:cNvPr>
          <p:cNvSpPr>
            <a:spLocks noGrp="1"/>
          </p:cNvSpPr>
          <p:nvPr/>
        </p:nvSpPr>
        <p:spPr>
          <a:xfrm>
            <a:off x="990600" y="4010025"/>
            <a:ext cx="1905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Ауторизација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DE3C03F-27BB-4B5B-83B1-C360331B2B91}"/>
              </a:ext>
            </a:extLst>
          </p:cNvPr>
          <p:cNvSpPr>
            <a:spLocks noGrp="1"/>
          </p:cNvSpPr>
          <p:nvPr/>
        </p:nvSpPr>
        <p:spPr>
          <a:xfrm>
            <a:off x="3162300" y="4010025"/>
            <a:ext cx="32194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Да ли је радња дозвољена?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045A866-9C38-454D-916A-FDB350897EFE}"/>
              </a:ext>
            </a:extLst>
          </p:cNvPr>
          <p:cNvSpPr>
            <a:spLocks noGrp="1"/>
          </p:cNvSpPr>
          <p:nvPr/>
        </p:nvSpPr>
        <p:spPr>
          <a:xfrm>
            <a:off x="6667500" y="4010025"/>
            <a:ext cx="4476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Провера постоји само у корисничком интерфејсу.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15FD743-BD2D-49E8-BD24-24DA18AC353A}"/>
              </a:ext>
            </a:extLst>
          </p:cNvPr>
          <p:cNvSpPr>
            <a:spLocks noGrp="1"/>
          </p:cNvSpPr>
          <p:nvPr/>
        </p:nvSpPr>
        <p:spPr>
          <a:xfrm>
            <a:off x="838200" y="4676775"/>
            <a:ext cx="10515600" cy="628650"/>
          </a:xfrm>
          <a:prstGeom prst="roundRect">
            <a:avLst>
              <a:gd name="adj" fmla="val 18182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AB0B8FC-14AB-459D-95F4-18C9224473D6}"/>
              </a:ext>
            </a:extLst>
          </p:cNvPr>
          <p:cNvSpPr>
            <a:spLocks noGrp="1"/>
          </p:cNvSpPr>
          <p:nvPr/>
        </p:nvSpPr>
        <p:spPr>
          <a:xfrm>
            <a:off x="990600" y="4791075"/>
            <a:ext cx="1905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Сесија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C3FADF-D4A1-45FF-9D7E-F018D58E4128}"/>
              </a:ext>
            </a:extLst>
          </p:cNvPr>
          <p:cNvSpPr>
            <a:spLocks noGrp="1"/>
          </p:cNvSpPr>
          <p:nvPr/>
        </p:nvSpPr>
        <p:spPr>
          <a:xfrm>
            <a:off x="3162300" y="4791075"/>
            <a:ext cx="32194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У ком привременом контексту право важи?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CE71201-9B86-4F8E-A783-D4A1B9F539C1}"/>
              </a:ext>
            </a:extLst>
          </p:cNvPr>
          <p:cNvSpPr>
            <a:spLocks noGrp="1"/>
          </p:cNvSpPr>
          <p:nvPr/>
        </p:nvSpPr>
        <p:spPr>
          <a:xfrm>
            <a:off x="6667500" y="4791075"/>
            <a:ext cx="4476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2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Token се третира као трајно право.</a:t>
            </a:r>
          </a:p>
        </p:txBody>
      </p:sp>
    </p:spTree>
    <p:extLst>
      <p:ext uri="{BB962C8B-B14F-4D97-AF65-F5344CB8AC3E}">
        <p14:creationId xmlns:p14="http://schemas.microsoft.com/office/powerpoint/2010/main" val="713789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026E13D7-58FD-41C9-A563-3477E11066DA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2952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26B69FE5-CEFE-4EAE-9611-CED091981E68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898848-ADCD-4686-8AC3-58920D0C3BCA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E6942A-2DE1-4B1F-9B94-50AF2F44D216}"/>
              </a:ext>
            </a:extLst>
          </p:cNvPr>
          <p:cNvSpPr>
            <a:spLocks noGrp="1"/>
          </p:cNvSpPr>
          <p:nvPr/>
        </p:nvSpPr>
        <p:spPr>
          <a:xfrm>
            <a:off x="685800" y="790575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RBAC повезује дозволе са пословном одговорношћу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5D9964-183C-443A-9D38-D9D3A1673468}"/>
              </a:ext>
            </a:extLst>
          </p:cNvPr>
          <p:cNvSpPr>
            <a:spLocks noGrp="1"/>
          </p:cNvSpPr>
          <p:nvPr/>
        </p:nvSpPr>
        <p:spPr>
          <a:xfrm>
            <a:off x="685800" y="1438275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Улога није једна дозвола, нити треба да постане неограничен пакет изузетака.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00B13A3-1A24-49BD-A909-D02188CC7B89}"/>
              </a:ext>
            </a:extLst>
          </p:cNvPr>
          <p:cNvSpPr>
            <a:spLocks noGrp="1"/>
          </p:cNvSpPr>
          <p:nvPr/>
        </p:nvSpPr>
        <p:spPr>
          <a:xfrm>
            <a:off x="800100" y="2247900"/>
            <a:ext cx="2857500" cy="2381250"/>
          </a:xfrm>
          <a:prstGeom prst="roundRect">
            <a:avLst>
              <a:gd name="adj" fmla="val 5600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89B16D-B175-4346-B825-1D5725935DDB}"/>
              </a:ext>
            </a:extLst>
          </p:cNvPr>
          <p:cNvSpPr>
            <a:spLocks noGrp="1"/>
          </p:cNvSpPr>
          <p:nvPr/>
        </p:nvSpPr>
        <p:spPr>
          <a:xfrm>
            <a:off x="952500" y="2371725"/>
            <a:ext cx="25527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СУБЈЕКАТ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B29AF0-9C7F-4FFA-BE06-7958D282F4BC}"/>
              </a:ext>
            </a:extLst>
          </p:cNvPr>
          <p:cNvSpPr>
            <a:spLocks noGrp="1"/>
          </p:cNvSpPr>
          <p:nvPr/>
        </p:nvSpPr>
        <p:spPr>
          <a:xfrm>
            <a:off x="952500" y="2619375"/>
            <a:ext cx="25527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Оператер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B95583-9F9E-48C9-AFD7-81611CAADC03}"/>
              </a:ext>
            </a:extLst>
          </p:cNvPr>
          <p:cNvSpPr>
            <a:spLocks noGrp="1"/>
          </p:cNvSpPr>
          <p:nvPr/>
        </p:nvSpPr>
        <p:spPr>
          <a:xfrm>
            <a:off x="952500" y="3009900"/>
            <a:ext cx="2552700" cy="1514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Активан идентитет коме је додељена одговорност у одређеном домену.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5E7DACB-2E15-4E4F-B046-34E22481F084}"/>
              </a:ext>
            </a:extLst>
          </p:cNvPr>
          <p:cNvSpPr>
            <a:spLocks noGrp="1"/>
          </p:cNvSpPr>
          <p:nvPr/>
        </p:nvSpPr>
        <p:spPr>
          <a:xfrm>
            <a:off x="4667250" y="2247900"/>
            <a:ext cx="2857500" cy="2381250"/>
          </a:xfrm>
          <a:prstGeom prst="roundRect">
            <a:avLst>
              <a:gd name="adj" fmla="val 5600"/>
            </a:avLst>
          </a:prstGeom>
          <a:solidFill>
            <a:srgbClr val="F5F0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BACA10B-2AF9-4872-A230-C5CB072664FB}"/>
              </a:ext>
            </a:extLst>
          </p:cNvPr>
          <p:cNvSpPr>
            <a:spLocks noGrp="1"/>
          </p:cNvSpPr>
          <p:nvPr/>
        </p:nvSpPr>
        <p:spPr>
          <a:xfrm>
            <a:off x="4819650" y="2371725"/>
            <a:ext cx="25527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УЛОГА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E9129A-C627-43FB-843B-B7CF9CB3409A}"/>
              </a:ext>
            </a:extLst>
          </p:cNvPr>
          <p:cNvSpPr>
            <a:spLocks noGrp="1"/>
          </p:cNvSpPr>
          <p:nvPr/>
        </p:nvSpPr>
        <p:spPr>
          <a:xfrm>
            <a:off x="4819650" y="2619375"/>
            <a:ext cx="25527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Оператер извештаја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AE4985-5AAA-4DDE-9D55-C11A11EA5D19}"/>
              </a:ext>
            </a:extLst>
          </p:cNvPr>
          <p:cNvSpPr>
            <a:spLocks noGrp="1"/>
          </p:cNvSpPr>
          <p:nvPr/>
        </p:nvSpPr>
        <p:spPr>
          <a:xfrm>
            <a:off x="4819650" y="3009900"/>
            <a:ext cx="2552700" cy="1514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Група малих дозвола које имају заједничко пословно значење.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FB5269A-F7D4-4718-A349-F03401F37829}"/>
              </a:ext>
            </a:extLst>
          </p:cNvPr>
          <p:cNvSpPr>
            <a:spLocks noGrp="1"/>
          </p:cNvSpPr>
          <p:nvPr/>
        </p:nvSpPr>
        <p:spPr>
          <a:xfrm>
            <a:off x="8534400" y="2247900"/>
            <a:ext cx="2857500" cy="2381250"/>
          </a:xfrm>
          <a:prstGeom prst="roundRect">
            <a:avLst>
              <a:gd name="adj" fmla="val 5600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B28A61-CDEF-4D43-BA7E-E9408C9C8B2D}"/>
              </a:ext>
            </a:extLst>
          </p:cNvPr>
          <p:cNvSpPr>
            <a:spLocks noGrp="1"/>
          </p:cNvSpPr>
          <p:nvPr/>
        </p:nvSpPr>
        <p:spPr>
          <a:xfrm>
            <a:off x="8686800" y="2371725"/>
            <a:ext cx="25527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ДОЗВОЛЕ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C0A40A-24A9-4022-BB0C-005CCB92528F}"/>
              </a:ext>
            </a:extLst>
          </p:cNvPr>
          <p:cNvSpPr>
            <a:spLocks noGrp="1"/>
          </p:cNvSpPr>
          <p:nvPr/>
        </p:nvSpPr>
        <p:spPr>
          <a:xfrm>
            <a:off x="8686800" y="2619375"/>
            <a:ext cx="25527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Преглед · Извоз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3073E5-415B-4F51-BBCC-673F14CACCD8}"/>
              </a:ext>
            </a:extLst>
          </p:cNvPr>
          <p:cNvSpPr>
            <a:spLocks noGrp="1"/>
          </p:cNvSpPr>
          <p:nvPr/>
        </p:nvSpPr>
        <p:spPr>
          <a:xfrm>
            <a:off x="8686800" y="3009900"/>
            <a:ext cx="2552700" cy="1514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Конкретне радње, проверене серверски и ограничене опсегом.</a:t>
            </a:r>
          </a:p>
        </p:txBody>
      </p:sp>
      <p:cxnSp>
        <p:nvCxnSpPr>
          <p:cNvPr id="99" name="Straight Arrow Connector 98"/>
          <p:cNvCxnSpPr>
            <a:stCxn id="6" idx="3"/>
            <a:endCxn id="10" idx="1"/>
          </p:cNvCxnSpPr>
          <p:nvPr/>
        </p:nvCxnSpPr>
        <p:spPr>
          <a:xfrm>
            <a:off x="3657600" y="3438525"/>
            <a:ext cx="1009650" cy="0"/>
          </a:xfrm>
          <a:prstGeom prst="straightConnector1">
            <a:avLst/>
          </a:prstGeom>
          <a:ln w="15240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00" name="Straight Arrow Connector 99"/>
          <p:cNvCxnSpPr>
            <a:stCxn id="10" idx="3"/>
            <a:endCxn id="14" idx="1"/>
          </p:cNvCxnSpPr>
          <p:nvPr/>
        </p:nvCxnSpPr>
        <p:spPr>
          <a:xfrm>
            <a:off x="7524750" y="3438525"/>
            <a:ext cx="1009650" cy="0"/>
          </a:xfrm>
          <a:prstGeom prst="straightConnector1">
            <a:avLst/>
          </a:prstGeom>
          <a:ln w="15240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BFF77877-FC31-4219-A9E1-0E10BA189221}"/>
              </a:ext>
            </a:extLst>
          </p:cNvPr>
          <p:cNvSpPr>
            <a:spLocks noGrp="1"/>
          </p:cNvSpPr>
          <p:nvPr/>
        </p:nvSpPr>
        <p:spPr>
          <a:xfrm>
            <a:off x="914400" y="4933950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CD364EE2-F8F4-4FEE-83DE-558F6F6176F4}"/>
              </a:ext>
            </a:extLst>
          </p:cNvPr>
          <p:cNvSpPr>
            <a:spLocks noGrp="1"/>
          </p:cNvSpPr>
          <p:nvPr/>
        </p:nvSpPr>
        <p:spPr>
          <a:xfrm>
            <a:off x="1085850" y="5086350"/>
            <a:ext cx="57150" cy="49530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305E315-1AB4-4A1B-8F86-8D8614F57373}"/>
              </a:ext>
            </a:extLst>
          </p:cNvPr>
          <p:cNvSpPr>
            <a:spLocks noGrp="1"/>
          </p:cNvSpPr>
          <p:nvPr/>
        </p:nvSpPr>
        <p:spPr>
          <a:xfrm>
            <a:off x="1333500" y="503872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ПРИНЦИП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9A83D24-6614-49AC-A77E-6357D341C0A5}"/>
              </a:ext>
            </a:extLst>
          </p:cNvPr>
          <p:cNvSpPr>
            <a:spLocks noGrp="1"/>
          </p:cNvSpPr>
          <p:nvPr/>
        </p:nvSpPr>
        <p:spPr>
          <a:xfrm>
            <a:off x="1333500" y="5267325"/>
            <a:ext cx="96393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Најмања привилегија: додели само право које је потребно, за опсег у коме је потребно и док потреба траје.</a:t>
            </a:r>
          </a:p>
        </p:txBody>
      </p:sp>
    </p:spTree>
    <p:extLst>
      <p:ext uri="{BB962C8B-B14F-4D97-AF65-F5344CB8AC3E}">
        <p14:creationId xmlns:p14="http://schemas.microsoft.com/office/powerpoint/2010/main" val="1036328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D58DDC6-97CB-46D4-A7C0-61F20BAB0D97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2952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C415290F-9571-498F-A35C-1B6C48028332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EE60D7-D254-4865-A1AB-C6C7786DB00D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285357-9B1C-4A47-84CE-E8EEF72EB937}"/>
              </a:ext>
            </a:extLst>
          </p:cNvPr>
          <p:cNvSpPr>
            <a:spLocks noGrp="1"/>
          </p:cNvSpPr>
          <p:nvPr/>
        </p:nvSpPr>
        <p:spPr>
          <a:xfrm>
            <a:off x="685800" y="790575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Сервер доноси коначну одлуку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DD2891-0133-45A0-A61A-E2783BE54B1D}"/>
              </a:ext>
            </a:extLst>
          </p:cNvPr>
          <p:cNvSpPr>
            <a:spLocks noGrp="1"/>
          </p:cNvSpPr>
          <p:nvPr/>
        </p:nvSpPr>
        <p:spPr>
          <a:xfrm>
            <a:off x="685800" y="1438275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Политика именује потребну дозволу; провера не зависи од тога да ли је дугме видљиво.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5194924-79D2-41CD-B1E4-A3718CB64C35}"/>
              </a:ext>
            </a:extLst>
          </p:cNvPr>
          <p:cNvSpPr>
            <a:spLocks noGrp="1"/>
          </p:cNvSpPr>
          <p:nvPr/>
        </p:nvSpPr>
        <p:spPr>
          <a:xfrm>
            <a:off x="723900" y="2076450"/>
            <a:ext cx="5715000" cy="2346694"/>
          </a:xfrm>
          <a:prstGeom prst="roundRect">
            <a:avLst>
              <a:gd name="adj" fmla="val 4712"/>
            </a:avLst>
          </a:prstGeom>
          <a:solidFill>
            <a:srgbClr val="F7F8FB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47EAC3A0-5861-4DC3-8020-CC9C99DF5605}"/>
              </a:ext>
            </a:extLst>
          </p:cNvPr>
          <p:cNvSpPr>
            <a:spLocks noGrp="1"/>
          </p:cNvSpPr>
          <p:nvPr/>
        </p:nvSpPr>
        <p:spPr>
          <a:xfrm>
            <a:off x="723900" y="2438400"/>
            <a:ext cx="5715000" cy="9525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2968048-8275-4DE6-9E10-631517C8577B}"/>
              </a:ext>
            </a:extLst>
          </p:cNvPr>
          <p:cNvSpPr>
            <a:spLocks noGrp="1"/>
          </p:cNvSpPr>
          <p:nvPr/>
        </p:nvSpPr>
        <p:spPr>
          <a:xfrm>
            <a:off x="5715000" y="2209800"/>
            <a:ext cx="85725" cy="85725"/>
          </a:xfrm>
          <a:prstGeom prst="ellipse">
            <a:avLst/>
          </a:prstGeom>
          <a:solidFill>
            <a:srgbClr val="EF6A60"/>
          </a:solidFill>
          <a:ln w="0">
            <a:noFill/>
          </a:ln>
        </p:spPr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13F8929-4F6D-4595-A8E3-D65A71D54EA3}"/>
              </a:ext>
            </a:extLst>
          </p:cNvPr>
          <p:cNvSpPr>
            <a:spLocks noGrp="1"/>
          </p:cNvSpPr>
          <p:nvPr/>
        </p:nvSpPr>
        <p:spPr>
          <a:xfrm>
            <a:off x="5886450" y="2209800"/>
            <a:ext cx="85725" cy="85725"/>
          </a:xfrm>
          <a:prstGeom prst="ellipse">
            <a:avLst/>
          </a:prstGeom>
          <a:solidFill>
            <a:srgbClr val="F2BD42"/>
          </a:solidFill>
          <a:ln w="0">
            <a:noFill/>
          </a:ln>
        </p:spPr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E2EC048-5FD2-40B2-B83E-F8EB1A57E24B}"/>
              </a:ext>
            </a:extLst>
          </p:cNvPr>
          <p:cNvSpPr>
            <a:spLocks noGrp="1"/>
          </p:cNvSpPr>
          <p:nvPr/>
        </p:nvSpPr>
        <p:spPr>
          <a:xfrm>
            <a:off x="6057900" y="2209800"/>
            <a:ext cx="85725" cy="85725"/>
          </a:xfrm>
          <a:prstGeom prst="ellipse">
            <a:avLst/>
          </a:prstGeom>
          <a:solidFill>
            <a:srgbClr val="65C466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73AC6B-F9F4-411E-816E-415F0265F4B2}"/>
              </a:ext>
            </a:extLst>
          </p:cNvPr>
          <p:cNvSpPr>
            <a:spLocks noGrp="1"/>
          </p:cNvSpPr>
          <p:nvPr/>
        </p:nvSpPr>
        <p:spPr>
          <a:xfrm>
            <a:off x="857250" y="2590800"/>
            <a:ext cx="304800" cy="297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9</a:t>
            </a:r>
          </a:p>
          <a:p>
            <a:pPr algn="r">
              <a:lnSpc>
                <a:spcPct val="100000"/>
              </a:lnSpc>
              <a:buNone/>
              <a:defRPr sz="1050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6B77BE-6699-4A1A-9DA2-51FE33EBC4A6}"/>
              </a:ext>
            </a:extLst>
          </p:cNvPr>
          <p:cNvSpPr>
            <a:spLocks noGrp="1"/>
          </p:cNvSpPr>
          <p:nvPr/>
        </p:nvSpPr>
        <p:spPr>
          <a:xfrm>
            <a:off x="1276350" y="2590800"/>
            <a:ext cx="4972050" cy="297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7651D4"/>
                </a:solidFill>
              </a:rPr>
              <a:t>[Authorize]</a:t>
            </a: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7651D4"/>
                </a:solidFill>
              </a:rPr>
              <a:t>[HttpPost(</a:t>
            </a:r>
            <a:r>
              <a:rPr b="0">
                <a:solidFill>
                  <a:srgbClr val="B45309"/>
                </a:solidFill>
              </a:rPr>
              <a:t>"reports/{id}/approve"</a:t>
            </a:r>
            <a:r>
              <a:rPr b="0">
                <a:solidFill>
                  <a:srgbClr val="7651D4"/>
                </a:solidFill>
              </a:rPr>
              <a:t>)]</a:t>
            </a: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public </a:t>
            </a:r>
            <a:r>
              <a:rPr b="0">
                <a:solidFill>
                  <a:srgbClr val="7651D4"/>
                </a:solidFill>
              </a:rPr>
              <a:t>IActionResult </a:t>
            </a:r>
            <a:r>
              <a:rPr b="1">
                <a:solidFill>
                  <a:srgbClr val="0067C5"/>
                </a:solidFill>
              </a:rPr>
              <a:t>Approve</a:t>
            </a:r>
            <a:r>
              <a:rPr b="0">
                <a:solidFill>
                  <a:srgbClr val="263044"/>
                </a:solidFill>
              </a:rPr>
              <a:t>(Guid id)</a:t>
            </a: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if </a:t>
            </a:r>
            <a:r>
              <a:rPr b="0">
                <a:solidFill>
                  <a:srgbClr val="263044"/>
                </a:solidFill>
              </a:rPr>
              <a:t>(!access.Can(User, </a:t>
            </a:r>
            <a:r>
              <a:rPr b="0">
                <a:solidFill>
                  <a:srgbClr val="B45309"/>
                </a:solidFill>
              </a:rPr>
              <a:t>"report.approve"</a:t>
            </a:r>
            <a:r>
              <a:rPr b="0">
                <a:solidFill>
                  <a:srgbClr val="263044"/>
                </a:solidFill>
              </a:rPr>
              <a:t>, id))</a:t>
            </a: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    return </a:t>
            </a:r>
            <a:r>
              <a:rPr b="0">
                <a:solidFill>
                  <a:srgbClr val="7651D4"/>
                </a:solidFill>
              </a:rPr>
              <a:t>Forbid</a:t>
            </a:r>
            <a:r>
              <a:rPr b="0">
                <a:solidFill>
                  <a:srgbClr val="263044"/>
                </a:solidFill>
              </a:rPr>
              <a:t>();</a:t>
            </a: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endParaRPr b="0">
              <a:solidFill>
                <a:srgbClr val="263044"/>
              </a:solidFill>
            </a:endParaRP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    reports.</a:t>
            </a:r>
            <a:r>
              <a:rPr b="1">
                <a:solidFill>
                  <a:srgbClr val="0067C5"/>
                </a:solidFill>
              </a:rPr>
              <a:t>Approve</a:t>
            </a:r>
            <a:r>
              <a:rPr b="0">
                <a:solidFill>
                  <a:srgbClr val="263044"/>
                </a:solidFill>
              </a:rPr>
              <a:t>(id);</a:t>
            </a: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return </a:t>
            </a:r>
            <a:r>
              <a:rPr b="0">
                <a:solidFill>
                  <a:srgbClr val="7651D4"/>
                </a:solidFill>
              </a:rPr>
              <a:t>NoContent</a:t>
            </a:r>
            <a:r>
              <a:rPr b="0">
                <a:solidFill>
                  <a:srgbClr val="263044"/>
                </a:solidFill>
              </a:rPr>
              <a:t>();</a:t>
            </a:r>
          </a:p>
          <a:p>
            <a:pPr>
              <a:buNone/>
              <a:defRPr sz="1125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011E32-DDBB-4A1C-807A-1BD07917585C}"/>
              </a:ext>
            </a:extLst>
          </p:cNvPr>
          <p:cNvSpPr>
            <a:spLocks noGrp="1"/>
          </p:cNvSpPr>
          <p:nvPr/>
        </p:nvSpPr>
        <p:spPr>
          <a:xfrm>
            <a:off x="6838950" y="2190750"/>
            <a:ext cx="4381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A3BA8E-ECC6-4818-9C87-EB748F764EFE}"/>
              </a:ext>
            </a:extLst>
          </p:cNvPr>
          <p:cNvSpPr>
            <a:spLocks noGrp="1"/>
          </p:cNvSpPr>
          <p:nvPr/>
        </p:nvSpPr>
        <p:spPr>
          <a:xfrm>
            <a:off x="6838950" y="2686050"/>
            <a:ext cx="4381500" cy="2095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marL="279400" indent="-152400">
              <a:lnSpc>
                <a:spcPct val="112000"/>
              </a:lnSpc>
              <a:buNone/>
              <a:defRPr sz="1425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Пријава даје идентитет, не право на approve.</a:t>
            </a:r>
          </a:p>
          <a:p>
            <a:pPr marL="279400" indent="-152400">
              <a:lnSpc>
                <a:spcPct val="112000"/>
              </a:lnSpc>
              <a:buNone/>
              <a:defRPr sz="1425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1A202C"/>
                </a:solidFill>
                <a:latin typeface="Aptos"/>
                <a:ea typeface="Aptos"/>
                <a:cs typeface="Aptos"/>
              </a:rPr>
              <a:t>Дозвола је именована као конкретна радња.</a:t>
            </a:r>
          </a:p>
          <a:p>
            <a:pPr marL="279400" indent="-152400">
              <a:lnSpc>
                <a:spcPct val="112000"/>
              </a:lnSpc>
              <a:buNone/>
              <a:defRPr sz="1425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Провера укључује и конкретан ресурс.</a:t>
            </a:r>
          </a:p>
          <a:p>
            <a:pPr marL="279400" indent="-152400">
              <a:lnSpc>
                <a:spcPct val="112000"/>
              </a:lnSpc>
              <a:buNone/>
              <a:defRPr sz="1425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Одбијање се дешава пре пословне промене.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AC26AD0-C46F-46DE-A444-5459346795DD}"/>
              </a:ext>
            </a:extLst>
          </p:cNvPr>
          <p:cNvSpPr>
            <a:spLocks noGrp="1"/>
          </p:cNvSpPr>
          <p:nvPr/>
        </p:nvSpPr>
        <p:spPr>
          <a:xfrm>
            <a:off x="6838950" y="4953000"/>
            <a:ext cx="4381500" cy="762000"/>
          </a:xfrm>
          <a:prstGeom prst="roundRect">
            <a:avLst>
              <a:gd name="adj" fmla="val 17500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6E0C42A-9D83-4F93-A2C1-1862C64EF71D}"/>
              </a:ext>
            </a:extLst>
          </p:cNvPr>
          <p:cNvSpPr>
            <a:spLocks noGrp="1"/>
          </p:cNvSpPr>
          <p:nvPr/>
        </p:nvSpPr>
        <p:spPr>
          <a:xfrm>
            <a:off x="6991350" y="5124450"/>
            <a:ext cx="40767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35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UI је помоћ, не контрола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A1E531-5AF5-4510-96B2-3F6CD5558AE8}"/>
              </a:ext>
            </a:extLst>
          </p:cNvPr>
          <p:cNvSpPr>
            <a:spLocks noGrp="1"/>
          </p:cNvSpPr>
          <p:nvPr/>
        </p:nvSpPr>
        <p:spPr>
          <a:xfrm>
            <a:off x="6991350" y="5457825"/>
            <a:ext cx="4076700" cy="152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73992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Исти захтев мора бити безбедан и када се API позове директно.</a:t>
            </a:r>
          </a:p>
        </p:txBody>
      </p:sp>
    </p:spTree>
    <p:extLst>
      <p:ext uri="{BB962C8B-B14F-4D97-AF65-F5344CB8AC3E}">
        <p14:creationId xmlns:p14="http://schemas.microsoft.com/office/powerpoint/2010/main" val="2295427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EC904903-2F01-4A7E-B0A3-2A58D3C65324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2952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B88A07A0-08BA-4CA7-8664-BBF5A9CA7F52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D3B50D-8656-4940-AB9D-9554D4F663D5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9C2D69-B8CF-4839-BEB3-DE4F4607B582}"/>
              </a:ext>
            </a:extLst>
          </p:cNvPr>
          <p:cNvSpPr>
            <a:spLocks noGrp="1"/>
          </p:cNvSpPr>
          <p:nvPr/>
        </p:nvSpPr>
        <p:spPr>
          <a:xfrm>
            <a:off x="685800" y="790575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Негативни тест описује границу приступа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52CA0E9-8D8C-4BC2-860C-675711BD89FE}"/>
              </a:ext>
            </a:extLst>
          </p:cNvPr>
          <p:cNvSpPr>
            <a:spLocks noGrp="1"/>
          </p:cNvSpPr>
          <p:nvPr/>
        </p:nvSpPr>
        <p:spPr>
          <a:xfrm>
            <a:off x="685800" y="1438275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Кориснији је тест који доказује одбијање него још један тест успешне пријаве.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2EE5BA3-FEDC-4202-97B6-69B17E7DF392}"/>
              </a:ext>
            </a:extLst>
          </p:cNvPr>
          <p:cNvSpPr>
            <a:spLocks noGrp="1"/>
          </p:cNvSpPr>
          <p:nvPr/>
        </p:nvSpPr>
        <p:spPr>
          <a:xfrm>
            <a:off x="723900" y="2076450"/>
            <a:ext cx="5905500" cy="2352675"/>
          </a:xfrm>
          <a:prstGeom prst="roundRect">
            <a:avLst>
              <a:gd name="adj" fmla="val 4712"/>
            </a:avLst>
          </a:prstGeom>
          <a:solidFill>
            <a:srgbClr val="F7F8FB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38FA38DD-4206-470E-A674-D1AD176CFB12}"/>
              </a:ext>
            </a:extLst>
          </p:cNvPr>
          <p:cNvSpPr>
            <a:spLocks noGrp="1"/>
          </p:cNvSpPr>
          <p:nvPr/>
        </p:nvSpPr>
        <p:spPr>
          <a:xfrm>
            <a:off x="723900" y="2438400"/>
            <a:ext cx="5905500" cy="9525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0961886-438E-450B-9B90-1A4D17F9C214}"/>
              </a:ext>
            </a:extLst>
          </p:cNvPr>
          <p:cNvSpPr>
            <a:spLocks noGrp="1"/>
          </p:cNvSpPr>
          <p:nvPr/>
        </p:nvSpPr>
        <p:spPr>
          <a:xfrm>
            <a:off x="5905500" y="2209800"/>
            <a:ext cx="85725" cy="85725"/>
          </a:xfrm>
          <a:prstGeom prst="ellipse">
            <a:avLst/>
          </a:prstGeom>
          <a:solidFill>
            <a:srgbClr val="EF6A60"/>
          </a:solidFill>
          <a:ln w="0">
            <a:noFill/>
          </a:ln>
        </p:spPr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BBA4B40-C062-43BA-9F3E-5A27FA0ABFB1}"/>
              </a:ext>
            </a:extLst>
          </p:cNvPr>
          <p:cNvSpPr>
            <a:spLocks noGrp="1"/>
          </p:cNvSpPr>
          <p:nvPr/>
        </p:nvSpPr>
        <p:spPr>
          <a:xfrm>
            <a:off x="6076950" y="2209800"/>
            <a:ext cx="85725" cy="85725"/>
          </a:xfrm>
          <a:prstGeom prst="ellipse">
            <a:avLst/>
          </a:prstGeom>
          <a:solidFill>
            <a:srgbClr val="F2BD42"/>
          </a:solidFill>
          <a:ln w="0">
            <a:noFill/>
          </a:ln>
        </p:spPr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6404B61-DA09-48E5-B196-B815CCF3CE40}"/>
              </a:ext>
            </a:extLst>
          </p:cNvPr>
          <p:cNvSpPr>
            <a:spLocks noGrp="1"/>
          </p:cNvSpPr>
          <p:nvPr/>
        </p:nvSpPr>
        <p:spPr>
          <a:xfrm>
            <a:off x="6248400" y="2209800"/>
            <a:ext cx="85725" cy="85725"/>
          </a:xfrm>
          <a:prstGeom prst="ellipse">
            <a:avLst/>
          </a:prstGeom>
          <a:solidFill>
            <a:srgbClr val="65C466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FF28B9-8C9C-45BA-B492-BAC9F309321F}"/>
              </a:ext>
            </a:extLst>
          </p:cNvPr>
          <p:cNvSpPr>
            <a:spLocks noGrp="1"/>
          </p:cNvSpPr>
          <p:nvPr/>
        </p:nvSpPr>
        <p:spPr>
          <a:xfrm>
            <a:off x="857250" y="2590800"/>
            <a:ext cx="304800" cy="297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  <a:p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9</a:t>
            </a:r>
          </a:p>
          <a:p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781A26F-AA84-48EF-AAF6-23E9DF6605F1}"/>
              </a:ext>
            </a:extLst>
          </p:cNvPr>
          <p:cNvSpPr>
            <a:spLocks noGrp="1"/>
          </p:cNvSpPr>
          <p:nvPr/>
        </p:nvSpPr>
        <p:spPr>
          <a:xfrm>
            <a:off x="1276350" y="2590800"/>
            <a:ext cx="5162550" cy="297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7651D4"/>
                </a:solidFill>
              </a:rPr>
              <a:t>[Test]</a:t>
            </a:r>
          </a:p>
          <a:p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public void </a:t>
            </a:r>
            <a:r>
              <a:rPr b="0">
                <a:solidFill>
                  <a:srgbClr val="7651D4"/>
                </a:solidFill>
              </a:rPr>
              <a:t>Viewer_cannot_approve_report</a:t>
            </a:r>
            <a:r>
              <a:rPr b="0">
                <a:solidFill>
                  <a:srgbClr val="263044"/>
                </a:solidFill>
              </a:rPr>
              <a:t>()</a:t>
            </a:r>
          </a:p>
          <a:p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var </a:t>
            </a:r>
            <a:r>
              <a:rPr b="0">
                <a:solidFill>
                  <a:srgbClr val="263044"/>
                </a:solidFill>
              </a:rPr>
              <a:t>user = User.WithRole(</a:t>
            </a:r>
            <a:r>
              <a:rPr b="0">
                <a:solidFill>
                  <a:srgbClr val="B45309"/>
                </a:solidFill>
              </a:rPr>
              <a:t>"Viewer"</a:t>
            </a:r>
            <a:r>
              <a:rPr b="0">
                <a:solidFill>
                  <a:srgbClr val="263044"/>
                </a:solidFill>
              </a:rPr>
              <a:t>);</a:t>
            </a:r>
          </a:p>
          <a:p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endParaRPr b="0">
              <a:solidFill>
                <a:srgbClr val="263044"/>
              </a:solidFill>
            </a:endParaRPr>
          </a:p>
          <a:p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var </a:t>
            </a:r>
            <a:r>
              <a:rPr b="0">
                <a:solidFill>
                  <a:srgbClr val="263044"/>
                </a:solidFill>
              </a:rPr>
              <a:t>result = api.Approve(report.Id, user);</a:t>
            </a:r>
          </a:p>
          <a:p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endParaRPr b="0">
              <a:solidFill>
                <a:srgbClr val="263044"/>
              </a:solidFill>
            </a:endParaRPr>
          </a:p>
          <a:p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Assert.That</a:t>
            </a:r>
            <a:r>
              <a:rPr b="0">
                <a:solidFill>
                  <a:srgbClr val="263044"/>
                </a:solidFill>
              </a:rPr>
              <a:t>(result.StatusCode, Is.EqualTo(</a:t>
            </a:r>
            <a:r>
              <a:rPr b="1">
                <a:solidFill>
                  <a:srgbClr val="138A5B"/>
                </a:solidFill>
              </a:rPr>
              <a:t>403</a:t>
            </a:r>
            <a:r>
              <a:rPr b="0">
                <a:solidFill>
                  <a:srgbClr val="263044"/>
                </a:solidFill>
              </a:rPr>
              <a:t>));</a:t>
            </a:r>
          </a:p>
          <a:p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audit.AssertDenied</a:t>
            </a:r>
            <a:r>
              <a:rPr b="0">
                <a:solidFill>
                  <a:srgbClr val="263044"/>
                </a:solidFill>
              </a:rPr>
              <a:t>(user.Id, </a:t>
            </a:r>
            <a:r>
              <a:rPr b="0">
                <a:solidFill>
                  <a:srgbClr val="B45309"/>
                </a:solidFill>
              </a:rPr>
              <a:t>"report.approve"</a:t>
            </a:r>
            <a:r>
              <a:rPr b="0">
                <a:solidFill>
                  <a:srgbClr val="263044"/>
                </a:solidFill>
              </a:rPr>
              <a:t>, report.Id);</a:t>
            </a:r>
          </a:p>
          <a:p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241F6CA-2F30-4829-A5DB-AB54CE317E6E}"/>
              </a:ext>
            </a:extLst>
          </p:cNvPr>
          <p:cNvSpPr>
            <a:spLocks noGrp="1"/>
          </p:cNvSpPr>
          <p:nvPr/>
        </p:nvSpPr>
        <p:spPr>
          <a:xfrm>
            <a:off x="7029450" y="2209800"/>
            <a:ext cx="4095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Доказ има два слоја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D57BEAE-7AEC-40EF-96E0-C243DAB06EB6}"/>
              </a:ext>
            </a:extLst>
          </p:cNvPr>
          <p:cNvSpPr>
            <a:spLocks noGrp="1"/>
          </p:cNvSpPr>
          <p:nvPr/>
        </p:nvSpPr>
        <p:spPr>
          <a:xfrm>
            <a:off x="7029450" y="2724150"/>
            <a:ext cx="4095750" cy="1123950"/>
          </a:xfrm>
          <a:prstGeom prst="roundRect">
            <a:avLst>
              <a:gd name="adj" fmla="val 11864"/>
            </a:avLst>
          </a:prstGeom>
          <a:solidFill>
            <a:srgbClr val="FFF0F0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84E8D0-E856-4480-B585-A84EA3CC98BB}"/>
              </a:ext>
            </a:extLst>
          </p:cNvPr>
          <p:cNvSpPr>
            <a:spLocks noGrp="1"/>
          </p:cNvSpPr>
          <p:nvPr/>
        </p:nvSpPr>
        <p:spPr>
          <a:xfrm>
            <a:off x="7181850" y="2847975"/>
            <a:ext cx="37909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ИСХОД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D5A851-8BF7-4B9B-8067-6C1B695B8226}"/>
              </a:ext>
            </a:extLst>
          </p:cNvPr>
          <p:cNvSpPr>
            <a:spLocks noGrp="1"/>
          </p:cNvSpPr>
          <p:nvPr/>
        </p:nvSpPr>
        <p:spPr>
          <a:xfrm>
            <a:off x="7181850" y="3095625"/>
            <a:ext cx="37909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403 — радња је одбијена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AFCCD5C-1C69-48F3-8A75-9350F0208D23}"/>
              </a:ext>
            </a:extLst>
          </p:cNvPr>
          <p:cNvSpPr>
            <a:spLocks noGrp="1"/>
          </p:cNvSpPr>
          <p:nvPr/>
        </p:nvSpPr>
        <p:spPr>
          <a:xfrm>
            <a:off x="7181850" y="3486150"/>
            <a:ext cx="37909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Стање ресурса остаје непромењено.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4A29A3D-4D86-45EB-A20A-E61F0EC9448D}"/>
              </a:ext>
            </a:extLst>
          </p:cNvPr>
          <p:cNvSpPr>
            <a:spLocks noGrp="1"/>
          </p:cNvSpPr>
          <p:nvPr/>
        </p:nvSpPr>
        <p:spPr>
          <a:xfrm>
            <a:off x="7029450" y="4095750"/>
            <a:ext cx="4095750" cy="1123950"/>
          </a:xfrm>
          <a:prstGeom prst="roundRect">
            <a:avLst>
              <a:gd name="adj" fmla="val 11864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74C6943-8BC5-4678-A5C6-2303EB7FFB91}"/>
              </a:ext>
            </a:extLst>
          </p:cNvPr>
          <p:cNvSpPr>
            <a:spLocks noGrp="1"/>
          </p:cNvSpPr>
          <p:nvPr/>
        </p:nvSpPr>
        <p:spPr>
          <a:xfrm>
            <a:off x="7181850" y="4219575"/>
            <a:ext cx="37909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ТРАГ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7773E9E-BB96-41E5-862E-5399164C789E}"/>
              </a:ext>
            </a:extLst>
          </p:cNvPr>
          <p:cNvSpPr>
            <a:spLocks noGrp="1"/>
          </p:cNvSpPr>
          <p:nvPr/>
        </p:nvSpPr>
        <p:spPr>
          <a:xfrm>
            <a:off x="7181850" y="4467225"/>
            <a:ext cx="37909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42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Audit бележи покушај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93D74E1-F8FB-461E-8AD1-BE32363CA3FE}"/>
              </a:ext>
            </a:extLst>
          </p:cNvPr>
          <p:cNvSpPr>
            <a:spLocks noGrp="1"/>
          </p:cNvSpPr>
          <p:nvPr/>
        </p:nvSpPr>
        <p:spPr>
          <a:xfrm>
            <a:off x="7181850" y="4857750"/>
            <a:ext cx="37909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2179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Actor, action, target и исход могу се касније објаснити.</a:t>
            </a:r>
          </a:p>
        </p:txBody>
      </p:sp>
    </p:spTree>
    <p:extLst>
      <p:ext uri="{BB962C8B-B14F-4D97-AF65-F5344CB8AC3E}">
        <p14:creationId xmlns:p14="http://schemas.microsoft.com/office/powerpoint/2010/main" val="20267841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AD3822-FC89-4F5C-871C-ACCE53A29FB0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2952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F2FB2AE4-CAF8-428F-AA84-95456C0B2357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E5E28B-5AB6-4FBC-AB4D-B09330C53A20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BB8181-3B84-4118-8B6D-FE228A115B92}"/>
              </a:ext>
            </a:extLst>
          </p:cNvPr>
          <p:cNvSpPr>
            <a:spLocks noGrp="1"/>
          </p:cNvSpPr>
          <p:nvPr/>
        </p:nvSpPr>
        <p:spPr>
          <a:xfrm>
            <a:off x="685800" y="790575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Пример: оператер добија привремену одговорност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436A3-E8C2-45B3-BD4F-F41752D68186}"/>
              </a:ext>
            </a:extLst>
          </p:cNvPr>
          <p:cNvSpPr>
            <a:spLocks noGrp="1"/>
          </p:cNvSpPr>
          <p:nvPr/>
        </p:nvSpPr>
        <p:spPr>
          <a:xfrm>
            <a:off x="685800" y="1438275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Најбрже решење — широка администраторска улога — отвара више радњи него што је потребно.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D0B7A28-EE94-4C25-8A19-0DA2E9E1A2A9}"/>
              </a:ext>
            </a:extLst>
          </p:cNvPr>
          <p:cNvSpPr>
            <a:spLocks noGrp="1"/>
          </p:cNvSpPr>
          <p:nvPr/>
        </p:nvSpPr>
        <p:spPr>
          <a:xfrm>
            <a:off x="800100" y="2200275"/>
            <a:ext cx="3333750" cy="1352550"/>
          </a:xfrm>
          <a:prstGeom prst="roundRect">
            <a:avLst>
              <a:gd name="adj" fmla="val 4828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E2376A-4032-43A7-99CE-D768FA6AC088}"/>
              </a:ext>
            </a:extLst>
          </p:cNvPr>
          <p:cNvSpPr>
            <a:spLocks noGrp="1"/>
          </p:cNvSpPr>
          <p:nvPr/>
        </p:nvSpPr>
        <p:spPr>
          <a:xfrm>
            <a:off x="952500" y="2324100"/>
            <a:ext cx="30289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ПОТРЕБА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2B8C03-B65C-4A0D-A6EA-98AD317BA4DF}"/>
              </a:ext>
            </a:extLst>
          </p:cNvPr>
          <p:cNvSpPr>
            <a:spLocks noGrp="1"/>
          </p:cNvSpPr>
          <p:nvPr/>
        </p:nvSpPr>
        <p:spPr>
          <a:xfrm>
            <a:off x="952500" y="2571750"/>
            <a:ext cx="30289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Одобри једну врсту промене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560405-4AB7-4055-8C62-F44982F0F4A5}"/>
              </a:ext>
            </a:extLst>
          </p:cNvPr>
          <p:cNvSpPr>
            <a:spLocks noGrp="1"/>
          </p:cNvSpPr>
          <p:nvPr/>
        </p:nvSpPr>
        <p:spPr>
          <a:xfrm>
            <a:off x="952500" y="2962275"/>
            <a:ext cx="3028950" cy="1895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Прво се именује конкретна радња, а не најшира постојећа улога.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4484BB0-9FA5-44AE-800D-BE8CBDF0146E}"/>
              </a:ext>
            </a:extLst>
          </p:cNvPr>
          <p:cNvSpPr>
            <a:spLocks noGrp="1"/>
          </p:cNvSpPr>
          <p:nvPr/>
        </p:nvSpPr>
        <p:spPr>
          <a:xfrm>
            <a:off x="4429125" y="2200275"/>
            <a:ext cx="3333750" cy="1352550"/>
          </a:xfrm>
          <a:prstGeom prst="roundRect">
            <a:avLst>
              <a:gd name="adj" fmla="val 4828"/>
            </a:avLst>
          </a:prstGeom>
          <a:solidFill>
            <a:srgbClr val="F5F0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BBF4D0-37AB-4819-A903-7FCFE57130FD}"/>
              </a:ext>
            </a:extLst>
          </p:cNvPr>
          <p:cNvSpPr>
            <a:spLocks noGrp="1"/>
          </p:cNvSpPr>
          <p:nvPr/>
        </p:nvSpPr>
        <p:spPr>
          <a:xfrm>
            <a:off x="4581525" y="2324100"/>
            <a:ext cx="30289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ОПСЕГ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B90141-B361-4191-A060-9FE9C6B20F72}"/>
              </a:ext>
            </a:extLst>
          </p:cNvPr>
          <p:cNvSpPr>
            <a:spLocks noGrp="1"/>
          </p:cNvSpPr>
          <p:nvPr/>
        </p:nvSpPr>
        <p:spPr>
          <a:xfrm>
            <a:off x="4581525" y="2571750"/>
            <a:ext cx="30289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78536"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Само један домен и ограничено време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3CD3A7-A4A4-491A-A815-7E8A6115D492}"/>
              </a:ext>
            </a:extLst>
          </p:cNvPr>
          <p:cNvSpPr>
            <a:spLocks noGrp="1"/>
          </p:cNvSpPr>
          <p:nvPr/>
        </p:nvSpPr>
        <p:spPr>
          <a:xfrm>
            <a:off x="4581525" y="2962275"/>
            <a:ext cx="3028950" cy="1895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Право не важи за цео систем и не остаје активно после потребе.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699DD44-23A7-47D7-A825-708E933FA0ED}"/>
              </a:ext>
            </a:extLst>
          </p:cNvPr>
          <p:cNvSpPr>
            <a:spLocks noGrp="1"/>
          </p:cNvSpPr>
          <p:nvPr/>
        </p:nvSpPr>
        <p:spPr>
          <a:xfrm>
            <a:off x="8058150" y="2200275"/>
            <a:ext cx="3333750" cy="1352550"/>
          </a:xfrm>
          <a:prstGeom prst="roundRect">
            <a:avLst>
              <a:gd name="adj" fmla="val 4828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6E280B0-B79F-4823-86EB-7EAEF2E96DE7}"/>
              </a:ext>
            </a:extLst>
          </p:cNvPr>
          <p:cNvSpPr>
            <a:spLocks noGrp="1"/>
          </p:cNvSpPr>
          <p:nvPr/>
        </p:nvSpPr>
        <p:spPr>
          <a:xfrm>
            <a:off x="8210550" y="2324100"/>
            <a:ext cx="30289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РЕВИЗИЈА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FFA15AC-059D-4FC4-93D8-F960CFC76AA8}"/>
              </a:ext>
            </a:extLst>
          </p:cNvPr>
          <p:cNvSpPr>
            <a:spLocks noGrp="1"/>
          </p:cNvSpPr>
          <p:nvPr/>
        </p:nvSpPr>
        <p:spPr>
          <a:xfrm>
            <a:off x="8210550" y="2571750"/>
            <a:ext cx="30289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Истек и audit траг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B09AA2D-17F8-41F1-B8A4-BBE278975DD0}"/>
              </a:ext>
            </a:extLst>
          </p:cNvPr>
          <p:cNvSpPr>
            <a:spLocks noGrp="1"/>
          </p:cNvSpPr>
          <p:nvPr/>
        </p:nvSpPr>
        <p:spPr>
          <a:xfrm>
            <a:off x="8210550" y="2962275"/>
            <a:ext cx="3028950" cy="1895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Може се утврдити ко је доделио право, зашто и када је престало.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FDE39F36-760D-471C-825A-457A912DA478}"/>
              </a:ext>
            </a:extLst>
          </p:cNvPr>
          <p:cNvSpPr>
            <a:spLocks noGrp="1"/>
          </p:cNvSpPr>
          <p:nvPr/>
        </p:nvSpPr>
        <p:spPr>
          <a:xfrm>
            <a:off x="800100" y="4233862"/>
            <a:ext cx="10591800" cy="781050"/>
          </a:xfrm>
          <a:prstGeom prst="roundRect">
            <a:avLst>
              <a:gd name="adj" fmla="val 17073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8D9E4674-B1D0-4298-912A-DE3A4071BC98}"/>
              </a:ext>
            </a:extLst>
          </p:cNvPr>
          <p:cNvSpPr>
            <a:spLocks noGrp="1"/>
          </p:cNvSpPr>
          <p:nvPr/>
        </p:nvSpPr>
        <p:spPr>
          <a:xfrm>
            <a:off x="971549" y="4386262"/>
            <a:ext cx="58411" cy="47625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FBFD4DF-EC3B-470A-9F05-272A1E2D5239}"/>
              </a:ext>
            </a:extLst>
          </p:cNvPr>
          <p:cNvSpPr>
            <a:spLocks noGrp="1"/>
          </p:cNvSpPr>
          <p:nvPr/>
        </p:nvSpPr>
        <p:spPr>
          <a:xfrm>
            <a:off x="1219200" y="4338637"/>
            <a:ext cx="9851932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КЉУЧНА ПОРУКА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853FA7E-59DD-4CD3-9ACD-84EA87DEBEE8}"/>
              </a:ext>
            </a:extLst>
          </p:cNvPr>
          <p:cNvSpPr>
            <a:spLocks noGrp="1"/>
          </p:cNvSpPr>
          <p:nvPr/>
        </p:nvSpPr>
        <p:spPr>
          <a:xfrm>
            <a:off x="1219200" y="4567237"/>
            <a:ext cx="9851932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Добар RBAC модел не пита „коју највећу улогу можемо дати“, већ „која је најмања радња оправдана“.</a:t>
            </a:r>
          </a:p>
        </p:txBody>
      </p:sp>
    </p:spTree>
    <p:extLst>
      <p:ext uri="{BB962C8B-B14F-4D97-AF65-F5344CB8AC3E}">
        <p14:creationId xmlns:p14="http://schemas.microsoft.com/office/powerpoint/2010/main" val="8037810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E565ECC3-11B2-4937-A0E7-FE2C6A5A6C1E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2952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D5A7E1F0-3812-489F-8859-043AB772755E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427B0E-9229-4DF5-B4C3-856BDE8AF388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78AE71-68C4-4362-8DDE-B1F70E7062DB}"/>
              </a:ext>
            </a:extLst>
          </p:cNvPr>
          <p:cNvSpPr>
            <a:spLocks noGrp="1"/>
          </p:cNvSpPr>
          <p:nvPr/>
        </p:nvSpPr>
        <p:spPr>
          <a:xfrm>
            <a:off x="685800" y="790575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Три грешке које треба препознати одмах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7B71CE-B1A5-45FD-B02D-5CBF6C77E30C}"/>
              </a:ext>
            </a:extLst>
          </p:cNvPr>
          <p:cNvSpPr>
            <a:spLocks noGrp="1"/>
          </p:cNvSpPr>
          <p:nvPr/>
        </p:nvSpPr>
        <p:spPr>
          <a:xfrm>
            <a:off x="685800" y="1438275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Свака делује практично у првој итерацији, али касније постаје скривена безбедносна рупа.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9571F37-FEDF-47F0-83B8-346112309390}"/>
              </a:ext>
            </a:extLst>
          </p:cNvPr>
          <p:cNvSpPr>
            <a:spLocks noGrp="1"/>
          </p:cNvSpPr>
          <p:nvPr/>
        </p:nvSpPr>
        <p:spPr>
          <a:xfrm>
            <a:off x="781050" y="2238375"/>
            <a:ext cx="3352800" cy="1619250"/>
          </a:xfrm>
          <a:prstGeom prst="roundRect">
            <a:avLst>
              <a:gd name="adj" fmla="val 5036"/>
            </a:avLst>
          </a:prstGeom>
          <a:solidFill>
            <a:srgbClr val="FFF0F0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190A21-9759-49AF-970D-FA080E083BB3}"/>
              </a:ext>
            </a:extLst>
          </p:cNvPr>
          <p:cNvSpPr>
            <a:spLocks noGrp="1"/>
          </p:cNvSpPr>
          <p:nvPr/>
        </p:nvSpPr>
        <p:spPr>
          <a:xfrm>
            <a:off x="933450" y="2362200"/>
            <a:ext cx="3048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3F7B50-F4FF-45B7-B08B-56F634514A5A}"/>
              </a:ext>
            </a:extLst>
          </p:cNvPr>
          <p:cNvSpPr>
            <a:spLocks noGrp="1"/>
          </p:cNvSpPr>
          <p:nvPr/>
        </p:nvSpPr>
        <p:spPr>
          <a:xfrm>
            <a:off x="933450" y="2609850"/>
            <a:ext cx="3048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Пријава = овлашћење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81289CF-8E39-4A43-A906-7FC6BB39B890}"/>
              </a:ext>
            </a:extLst>
          </p:cNvPr>
          <p:cNvSpPr>
            <a:spLocks noGrp="1"/>
          </p:cNvSpPr>
          <p:nvPr/>
        </p:nvSpPr>
        <p:spPr>
          <a:xfrm>
            <a:off x="933450" y="3000375"/>
            <a:ext cx="3048000" cy="1781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Систем не проверава посебно радњу и ресурс јер је корисник већ пријављен.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9760FC9-0129-468A-8967-55AAA6969956}"/>
              </a:ext>
            </a:extLst>
          </p:cNvPr>
          <p:cNvSpPr>
            <a:spLocks noGrp="1"/>
          </p:cNvSpPr>
          <p:nvPr/>
        </p:nvSpPr>
        <p:spPr>
          <a:xfrm>
            <a:off x="4419600" y="2238375"/>
            <a:ext cx="3352800" cy="1619250"/>
          </a:xfrm>
          <a:prstGeom prst="roundRect">
            <a:avLst>
              <a:gd name="adj" fmla="val 5036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FA6D3E-9B71-4644-80DA-750C937759F3}"/>
              </a:ext>
            </a:extLst>
          </p:cNvPr>
          <p:cNvSpPr>
            <a:spLocks noGrp="1"/>
          </p:cNvSpPr>
          <p:nvPr/>
        </p:nvSpPr>
        <p:spPr>
          <a:xfrm>
            <a:off x="4572000" y="2362200"/>
            <a:ext cx="3048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6AA1C2-3D6E-45EF-8BCE-BE31382CF1CA}"/>
              </a:ext>
            </a:extLst>
          </p:cNvPr>
          <p:cNvSpPr>
            <a:spLocks noGrp="1"/>
          </p:cNvSpPr>
          <p:nvPr/>
        </p:nvSpPr>
        <p:spPr>
          <a:xfrm>
            <a:off x="4572000" y="2609850"/>
            <a:ext cx="3048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Преширока улога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AA9F34-26BB-496B-83BC-00093D004E2D}"/>
              </a:ext>
            </a:extLst>
          </p:cNvPr>
          <p:cNvSpPr>
            <a:spLocks noGrp="1"/>
          </p:cNvSpPr>
          <p:nvPr/>
        </p:nvSpPr>
        <p:spPr>
          <a:xfrm>
            <a:off x="4572000" y="3000375"/>
            <a:ext cx="3048000" cy="1781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Нова потреба се решава додавањем администратора уместо мале дозволе и опсега.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04F30AE-210D-4B35-82D5-A510F4A32E27}"/>
              </a:ext>
            </a:extLst>
          </p:cNvPr>
          <p:cNvSpPr>
            <a:spLocks noGrp="1"/>
          </p:cNvSpPr>
          <p:nvPr/>
        </p:nvSpPr>
        <p:spPr>
          <a:xfrm>
            <a:off x="8058150" y="2238375"/>
            <a:ext cx="3352800" cy="1619250"/>
          </a:xfrm>
          <a:prstGeom prst="roundRect">
            <a:avLst>
              <a:gd name="adj" fmla="val 5036"/>
            </a:avLst>
          </a:prstGeom>
          <a:solidFill>
            <a:srgbClr val="F5F0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F8868F-1057-4739-8576-365AB04BF2C8}"/>
              </a:ext>
            </a:extLst>
          </p:cNvPr>
          <p:cNvSpPr>
            <a:spLocks noGrp="1"/>
          </p:cNvSpPr>
          <p:nvPr/>
        </p:nvSpPr>
        <p:spPr>
          <a:xfrm>
            <a:off x="8210550" y="2362200"/>
            <a:ext cx="3048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FB4CFC6-9548-4836-91C6-627894103350}"/>
              </a:ext>
            </a:extLst>
          </p:cNvPr>
          <p:cNvSpPr>
            <a:spLocks noGrp="1"/>
          </p:cNvSpPr>
          <p:nvPr/>
        </p:nvSpPr>
        <p:spPr>
          <a:xfrm>
            <a:off x="8210550" y="2609850"/>
            <a:ext cx="3048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Сакривено дугме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29F2F25-1DBB-499F-9C11-1D33B73F2E85}"/>
              </a:ext>
            </a:extLst>
          </p:cNvPr>
          <p:cNvSpPr>
            <a:spLocks noGrp="1"/>
          </p:cNvSpPr>
          <p:nvPr/>
        </p:nvSpPr>
        <p:spPr>
          <a:xfrm>
            <a:off x="8210550" y="3000375"/>
            <a:ext cx="3048000" cy="1781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Клијент не приказује радњу, али сервер прихвата директан API позив.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011966C8-5A10-440A-BFD4-851708C7B27E}"/>
              </a:ext>
            </a:extLst>
          </p:cNvPr>
          <p:cNvSpPr>
            <a:spLocks noGrp="1"/>
          </p:cNvSpPr>
          <p:nvPr/>
        </p:nvSpPr>
        <p:spPr>
          <a:xfrm>
            <a:off x="781050" y="4386262"/>
            <a:ext cx="10629900" cy="781050"/>
          </a:xfrm>
          <a:prstGeom prst="roundRect">
            <a:avLst>
              <a:gd name="adj" fmla="val 17073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9EA1A7DC-B455-4B5F-974F-48D29DB9450D}"/>
              </a:ext>
            </a:extLst>
          </p:cNvPr>
          <p:cNvSpPr>
            <a:spLocks noGrp="1"/>
          </p:cNvSpPr>
          <p:nvPr/>
        </p:nvSpPr>
        <p:spPr>
          <a:xfrm>
            <a:off x="952499" y="4538662"/>
            <a:ext cx="58621" cy="47625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95B01DA-ACC4-4B35-B489-76F0A37CB557}"/>
              </a:ext>
            </a:extLst>
          </p:cNvPr>
          <p:cNvSpPr>
            <a:spLocks noGrp="1"/>
          </p:cNvSpPr>
          <p:nvPr/>
        </p:nvSpPr>
        <p:spPr>
          <a:xfrm>
            <a:off x="1200150" y="4491037"/>
            <a:ext cx="988737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КОНТРАМЕРА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FEF982-932B-4268-994A-4E12D4E1F7D8}"/>
              </a:ext>
            </a:extLst>
          </p:cNvPr>
          <p:cNvSpPr>
            <a:spLocks noGrp="1"/>
          </p:cNvSpPr>
          <p:nvPr/>
        </p:nvSpPr>
        <p:spPr>
          <a:xfrm>
            <a:off x="1200150" y="4719637"/>
            <a:ext cx="988737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Контрамера за све три: експлицитна серверска одлука + негативан тест + audit исход.</a:t>
            </a:r>
          </a:p>
        </p:txBody>
      </p:sp>
    </p:spTree>
    <p:extLst>
      <p:ext uri="{BB962C8B-B14F-4D97-AF65-F5344CB8AC3E}">
        <p14:creationId xmlns:p14="http://schemas.microsoft.com/office/powerpoint/2010/main" val="7328752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3105F630-3D9D-426E-B00C-D00E9DB2B17B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2952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22D05D9A-D732-45C2-8548-09CB9EF0FEC8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FDF286-AD01-4A9D-B220-0495FBAE9DB9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299020-70BE-4C54-B426-41DF98DA6A64}"/>
              </a:ext>
            </a:extLst>
          </p:cNvPr>
          <p:cNvSpPr>
            <a:spLocks noGrp="1"/>
          </p:cNvSpPr>
          <p:nvPr/>
        </p:nvSpPr>
        <p:spPr>
          <a:xfrm>
            <a:off x="685800" y="790575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Како знамо да модел приступа ради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44D46-C5DC-4E0F-9816-EBAF7DBC3367}"/>
              </a:ext>
            </a:extLst>
          </p:cNvPr>
          <p:cNvSpPr>
            <a:spLocks noGrp="1"/>
          </p:cNvSpPr>
          <p:nvPr/>
        </p:nvSpPr>
        <p:spPr>
          <a:xfrm>
            <a:off x="685800" y="1438275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Један позитиван сценарио није довољан; потребан је доказ границе и објашњивог разлога.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746225F-0D14-43AE-89A3-4F2353A49A7E}"/>
              </a:ext>
            </a:extLst>
          </p:cNvPr>
          <p:cNvSpPr>
            <a:spLocks noGrp="1"/>
          </p:cNvSpPr>
          <p:nvPr/>
        </p:nvSpPr>
        <p:spPr>
          <a:xfrm>
            <a:off x="819150" y="2390775"/>
            <a:ext cx="2438400" cy="1181100"/>
          </a:xfrm>
          <a:prstGeom prst="roundRect">
            <a:avLst>
              <a:gd name="adj" fmla="val 11290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E59558-F13E-4F7E-9417-F938A1448D9B}"/>
              </a:ext>
            </a:extLst>
          </p:cNvPr>
          <p:cNvSpPr>
            <a:spLocks noGrp="1"/>
          </p:cNvSpPr>
          <p:nvPr/>
        </p:nvSpPr>
        <p:spPr>
          <a:xfrm>
            <a:off x="962025" y="2505075"/>
            <a:ext cx="21526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44C2A1-D8F1-4E21-A6FB-EC20857391B0}"/>
              </a:ext>
            </a:extLst>
          </p:cNvPr>
          <p:cNvSpPr>
            <a:spLocks noGrp="1"/>
          </p:cNvSpPr>
          <p:nvPr/>
        </p:nvSpPr>
        <p:spPr>
          <a:xfrm>
            <a:off x="962025" y="2752725"/>
            <a:ext cx="21526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Allow тест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72D0FB-ACD9-4E89-BF06-8F5F07E2B773}"/>
              </a:ext>
            </a:extLst>
          </p:cNvPr>
          <p:cNvSpPr>
            <a:spLocks noGrp="1"/>
          </p:cNvSpPr>
          <p:nvPr/>
        </p:nvSpPr>
        <p:spPr>
          <a:xfrm>
            <a:off x="962025" y="3133725"/>
            <a:ext cx="21526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исправна улога и опсег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388EC79-6AF2-468D-A251-87076A0143CC}"/>
              </a:ext>
            </a:extLst>
          </p:cNvPr>
          <p:cNvSpPr>
            <a:spLocks noGrp="1"/>
          </p:cNvSpPr>
          <p:nvPr/>
        </p:nvSpPr>
        <p:spPr>
          <a:xfrm>
            <a:off x="3524250" y="2390775"/>
            <a:ext cx="2438400" cy="1181100"/>
          </a:xfrm>
          <a:prstGeom prst="roundRect">
            <a:avLst>
              <a:gd name="adj" fmla="val 11290"/>
            </a:avLst>
          </a:prstGeom>
          <a:solidFill>
            <a:srgbClr val="FFF0F0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86430D-2E2E-4359-A109-6FE4AED5E3B4}"/>
              </a:ext>
            </a:extLst>
          </p:cNvPr>
          <p:cNvSpPr>
            <a:spLocks noGrp="1"/>
          </p:cNvSpPr>
          <p:nvPr/>
        </p:nvSpPr>
        <p:spPr>
          <a:xfrm>
            <a:off x="3667125" y="2505075"/>
            <a:ext cx="21526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1B5012-8276-4960-9632-C4B405FBA725}"/>
              </a:ext>
            </a:extLst>
          </p:cNvPr>
          <p:cNvSpPr>
            <a:spLocks noGrp="1"/>
          </p:cNvSpPr>
          <p:nvPr/>
        </p:nvSpPr>
        <p:spPr>
          <a:xfrm>
            <a:off x="3667125" y="2752725"/>
            <a:ext cx="21526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Deny тест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A4F4C7-E4D4-4150-A1E0-1BDD7D596E81}"/>
              </a:ext>
            </a:extLst>
          </p:cNvPr>
          <p:cNvSpPr>
            <a:spLocks noGrp="1"/>
          </p:cNvSpPr>
          <p:nvPr/>
        </p:nvSpPr>
        <p:spPr>
          <a:xfrm>
            <a:off x="3667125" y="3133725"/>
            <a:ext cx="21526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83333"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недостаје једна потребна чињеница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DFFBA0B-5686-4E6A-9784-D823EB772A05}"/>
              </a:ext>
            </a:extLst>
          </p:cNvPr>
          <p:cNvSpPr>
            <a:spLocks noGrp="1"/>
          </p:cNvSpPr>
          <p:nvPr/>
        </p:nvSpPr>
        <p:spPr>
          <a:xfrm>
            <a:off x="6229350" y="2390775"/>
            <a:ext cx="2438400" cy="1181100"/>
          </a:xfrm>
          <a:prstGeom prst="roundRect">
            <a:avLst>
              <a:gd name="adj" fmla="val 11290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6874F0A-55C1-49DD-BB50-EC76BE751DCF}"/>
              </a:ext>
            </a:extLst>
          </p:cNvPr>
          <p:cNvSpPr>
            <a:spLocks noGrp="1"/>
          </p:cNvSpPr>
          <p:nvPr/>
        </p:nvSpPr>
        <p:spPr>
          <a:xfrm>
            <a:off x="6372225" y="2505075"/>
            <a:ext cx="21526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4EECEFD-3376-4DEF-9C92-0DA37C682DCB}"/>
              </a:ext>
            </a:extLst>
          </p:cNvPr>
          <p:cNvSpPr>
            <a:spLocks noGrp="1"/>
          </p:cNvSpPr>
          <p:nvPr/>
        </p:nvSpPr>
        <p:spPr>
          <a:xfrm>
            <a:off x="6372225" y="2752725"/>
            <a:ext cx="21526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Audit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F9A3442-E809-45AC-BA0A-5074186F8531}"/>
              </a:ext>
            </a:extLst>
          </p:cNvPr>
          <p:cNvSpPr>
            <a:spLocks noGrp="1"/>
          </p:cNvSpPr>
          <p:nvPr/>
        </p:nvSpPr>
        <p:spPr>
          <a:xfrm>
            <a:off x="6372225" y="3133725"/>
            <a:ext cx="21526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4709"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actor · action · target · outcome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CC81BA0-23B1-49C6-A08F-101F49BDEA9B}"/>
              </a:ext>
            </a:extLst>
          </p:cNvPr>
          <p:cNvSpPr>
            <a:spLocks noGrp="1"/>
          </p:cNvSpPr>
          <p:nvPr/>
        </p:nvSpPr>
        <p:spPr>
          <a:xfrm>
            <a:off x="8934450" y="2390775"/>
            <a:ext cx="2438400" cy="1181100"/>
          </a:xfrm>
          <a:prstGeom prst="roundRect">
            <a:avLst>
              <a:gd name="adj" fmla="val 11290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34CD902-C9CA-4219-A055-4BA4028F6C8D}"/>
              </a:ext>
            </a:extLst>
          </p:cNvPr>
          <p:cNvSpPr>
            <a:spLocks noGrp="1"/>
          </p:cNvSpPr>
          <p:nvPr/>
        </p:nvSpPr>
        <p:spPr>
          <a:xfrm>
            <a:off x="9077325" y="2505075"/>
            <a:ext cx="215265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101BB69-FB0E-4DF8-883F-DFD6740C3651}"/>
              </a:ext>
            </a:extLst>
          </p:cNvPr>
          <p:cNvSpPr>
            <a:spLocks noGrp="1"/>
          </p:cNvSpPr>
          <p:nvPr/>
        </p:nvSpPr>
        <p:spPr>
          <a:xfrm>
            <a:off x="9077325" y="2752725"/>
            <a:ext cx="21526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Преглед права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3B6C003-9A8F-468E-B446-E3114BFCAF7E}"/>
              </a:ext>
            </a:extLst>
          </p:cNvPr>
          <p:cNvSpPr>
            <a:spLocks noGrp="1"/>
          </p:cNvSpPr>
          <p:nvPr/>
        </p:nvSpPr>
        <p:spPr>
          <a:xfrm>
            <a:off x="9077325" y="3133725"/>
            <a:ext cx="21526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7168"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зашто корисник има приступ</a:t>
            </a:r>
          </a:p>
        </p:txBody>
      </p:sp>
      <p:cxnSp>
        <p:nvCxnSpPr>
          <p:cNvPr id="126" name="Straight Arrow Connector 125"/>
          <p:cNvCxnSpPr>
            <a:stCxn id="6" idx="3"/>
            <a:endCxn id="10" idx="1"/>
          </p:cNvCxnSpPr>
          <p:nvPr/>
        </p:nvCxnSpPr>
        <p:spPr>
          <a:xfrm>
            <a:off x="3257550" y="2981325"/>
            <a:ext cx="266700" cy="0"/>
          </a:xfrm>
          <a:prstGeom prst="straightConnector1">
            <a:avLst/>
          </a:prstGeom>
          <a:ln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27" name="Straight Arrow Connector 126"/>
          <p:cNvCxnSpPr>
            <a:stCxn id="10" idx="3"/>
            <a:endCxn id="14" idx="1"/>
          </p:cNvCxnSpPr>
          <p:nvPr/>
        </p:nvCxnSpPr>
        <p:spPr>
          <a:xfrm>
            <a:off x="5962650" y="2981325"/>
            <a:ext cx="266700" cy="0"/>
          </a:xfrm>
          <a:prstGeom prst="straightConnector1">
            <a:avLst/>
          </a:prstGeom>
          <a:ln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28" name="Straight Arrow Connector 127"/>
          <p:cNvCxnSpPr>
            <a:stCxn id="14" idx="3"/>
            <a:endCxn id="18" idx="1"/>
          </p:cNvCxnSpPr>
          <p:nvPr/>
        </p:nvCxnSpPr>
        <p:spPr>
          <a:xfrm>
            <a:off x="8667750" y="2981325"/>
            <a:ext cx="266700" cy="0"/>
          </a:xfrm>
          <a:prstGeom prst="straightConnector1">
            <a:avLst/>
          </a:prstGeom>
          <a:ln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7A15DD68-422A-4725-A599-4C88269001D4}"/>
              </a:ext>
            </a:extLst>
          </p:cNvPr>
          <p:cNvSpPr>
            <a:spLocks noGrp="1"/>
          </p:cNvSpPr>
          <p:nvPr/>
        </p:nvSpPr>
        <p:spPr>
          <a:xfrm>
            <a:off x="914400" y="4324350"/>
            <a:ext cx="10363200" cy="1066800"/>
          </a:xfrm>
          <a:prstGeom prst="roundRect">
            <a:avLst>
              <a:gd name="adj" fmla="val 12500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7ACDCFA4-35AA-422E-AEAB-014A04A54F56}"/>
              </a:ext>
            </a:extLst>
          </p:cNvPr>
          <p:cNvSpPr>
            <a:spLocks noGrp="1"/>
          </p:cNvSpPr>
          <p:nvPr/>
        </p:nvSpPr>
        <p:spPr>
          <a:xfrm>
            <a:off x="1085850" y="4476750"/>
            <a:ext cx="57150" cy="76200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9C7E791-8694-4166-93CD-5C564A4A6997}"/>
              </a:ext>
            </a:extLst>
          </p:cNvPr>
          <p:cNvSpPr>
            <a:spLocks noGrp="1"/>
          </p:cNvSpPr>
          <p:nvPr/>
        </p:nvSpPr>
        <p:spPr>
          <a:xfrm>
            <a:off x="1314450" y="4476750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 dirty="0">
                <a:solidFill>
                  <a:srgbClr val="2854D7"/>
                </a:solidFill>
                <a:latin typeface="Aptos"/>
                <a:ea typeface="Aptos"/>
                <a:cs typeface="Aptos"/>
              </a:rPr>
              <a:t>ПРОВЕРЉИВ ЗАКЉУЧАК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17C41C6E-6315-47F4-A87B-965EDBBBE8B0}"/>
              </a:ext>
            </a:extLst>
          </p:cNvPr>
          <p:cNvSpPr>
            <a:spLocks noGrp="1"/>
          </p:cNvSpPr>
          <p:nvPr/>
        </p:nvSpPr>
        <p:spPr>
          <a:xfrm>
            <a:off x="1333500" y="4657725"/>
            <a:ext cx="96393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endParaRPr lang="sr-RS" sz="1388" b="1" dirty="0">
              <a:solidFill>
                <a:srgbClr val="1B2432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5A866DA-FAE3-4BE1-922C-98EF7A76652F}"/>
              </a:ext>
            </a:extLst>
          </p:cNvPr>
          <p:cNvSpPr>
            <a:spLocks noGrp="1"/>
          </p:cNvSpPr>
          <p:nvPr/>
        </p:nvSpPr>
        <p:spPr>
          <a:xfrm>
            <a:off x="1314450" y="4714874"/>
            <a:ext cx="9944100" cy="52387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>
              <a:buNone/>
              <a:defRPr sz="1275" b="0">
                <a:solidFill>
                  <a:srgbClr val="52637B"/>
                </a:solidFill>
                <a:latin typeface="Aptos"/>
                <a:ea typeface="Aptos"/>
                <a:cs typeface="Aptos"/>
              </a:defRPr>
            </a:pPr>
            <a:r>
              <a:rPr sz="1400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Систем</a:t>
            </a:r>
            <a:r>
              <a:rPr sz="1400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дозвољава</a:t>
            </a:r>
            <a:r>
              <a:rPr sz="1400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оправдану</a:t>
            </a:r>
            <a:r>
              <a:rPr sz="1400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радњу</a:t>
            </a:r>
            <a:r>
              <a:rPr sz="1400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, </a:t>
            </a:r>
            <a:r>
              <a:rPr sz="1400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одбија</a:t>
            </a:r>
            <a:r>
              <a:rPr sz="1400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исту</a:t>
            </a:r>
            <a:r>
              <a:rPr sz="1400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радњу</a:t>
            </a:r>
            <a:r>
              <a:rPr sz="1400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без</a:t>
            </a:r>
            <a:r>
              <a:rPr sz="1400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потребне</a:t>
            </a:r>
            <a:r>
              <a:rPr sz="1400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дозволе</a:t>
            </a:r>
            <a:r>
              <a:rPr sz="1400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и</a:t>
            </a:r>
            <a:r>
              <a:rPr sz="1400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оставља</a:t>
            </a:r>
            <a:r>
              <a:rPr sz="1400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траг</a:t>
            </a:r>
            <a:r>
              <a:rPr sz="1400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који</a:t>
            </a:r>
            <a:r>
              <a:rPr sz="1400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други</a:t>
            </a:r>
            <a:r>
              <a:rPr sz="1400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члан</a:t>
            </a:r>
            <a:r>
              <a:rPr sz="1400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тима</a:t>
            </a:r>
            <a:r>
              <a:rPr sz="1400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може</a:t>
            </a:r>
            <a:r>
              <a:rPr sz="1400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да</a:t>
            </a:r>
            <a:r>
              <a:rPr sz="1400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понови</a:t>
            </a:r>
            <a:r>
              <a:rPr sz="1400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и</a:t>
            </a:r>
            <a:r>
              <a:rPr sz="1400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400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објасни</a:t>
            </a:r>
            <a:r>
              <a:rPr sz="1400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537927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905D3CC-30DB-4A08-8C1F-36A04661A340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2952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BE769AA1-797E-4070-8E99-8F2D72A14C6C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73181BE-BEE9-4DB3-AB4D-4E860AB6D8DA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38183F-934C-4925-8A73-5FF489884DD5}"/>
              </a:ext>
            </a:extLst>
          </p:cNvPr>
          <p:cNvSpPr>
            <a:spLocks noGrp="1"/>
          </p:cNvSpPr>
          <p:nvPr/>
        </p:nvSpPr>
        <p:spPr>
          <a:xfrm>
            <a:off x="685800" y="790575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Задатак после прве вежбе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7011DB-C378-4B63-8283-9E6A09E10FDB}"/>
              </a:ext>
            </a:extLst>
          </p:cNvPr>
          <p:cNvSpPr>
            <a:spLocks noGrp="1"/>
          </p:cNvSpPr>
          <p:nvPr/>
        </p:nvSpPr>
        <p:spPr>
          <a:xfrm>
            <a:off x="685800" y="1438275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Примените принцип на додељеној пројектној целини; не копирајте готов модел улога без доменског разлога.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E289AA0-1E80-4351-A806-7EAD9CCFBAD1}"/>
              </a:ext>
            </a:extLst>
          </p:cNvPr>
          <p:cNvSpPr>
            <a:spLocks noGrp="1"/>
          </p:cNvSpPr>
          <p:nvPr/>
        </p:nvSpPr>
        <p:spPr>
          <a:xfrm>
            <a:off x="800100" y="2171700"/>
            <a:ext cx="5010150" cy="1613491"/>
          </a:xfrm>
          <a:prstGeom prst="roundRect">
            <a:avLst>
              <a:gd name="adj" fmla="val 4895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9BC9D3-DA04-41AB-BB12-0504176C1ECB}"/>
              </a:ext>
            </a:extLst>
          </p:cNvPr>
          <p:cNvSpPr>
            <a:spLocks noGrp="1"/>
          </p:cNvSpPr>
          <p:nvPr/>
        </p:nvSpPr>
        <p:spPr>
          <a:xfrm>
            <a:off x="952500" y="2295525"/>
            <a:ext cx="47053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ИМПЛЕМЕНТАЦИЈА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C3536F-5C90-421B-AAAA-D1F42E8F9FC1}"/>
              </a:ext>
            </a:extLst>
          </p:cNvPr>
          <p:cNvSpPr>
            <a:spLocks noGrp="1"/>
          </p:cNvSpPr>
          <p:nvPr/>
        </p:nvSpPr>
        <p:spPr>
          <a:xfrm>
            <a:off x="952500" y="2543175"/>
            <a:ext cx="47053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Једна безбедносна одлука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148765-EDF1-4E47-BC65-EFB78404F5F4}"/>
              </a:ext>
            </a:extLst>
          </p:cNvPr>
          <p:cNvSpPr>
            <a:spLocks noGrp="1"/>
          </p:cNvSpPr>
          <p:nvPr/>
        </p:nvSpPr>
        <p:spPr>
          <a:xfrm>
            <a:off x="952500" y="2933700"/>
            <a:ext cx="4705350" cy="1857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Идентификујте субјекат, радњу, дозволу и опсег. Одлуку спроведите серверски и повежите је са актуелним статусом идентитета.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8B14AD1-8374-48B3-953E-22790926288E}"/>
              </a:ext>
            </a:extLst>
          </p:cNvPr>
          <p:cNvSpPr>
            <a:spLocks noGrp="1"/>
          </p:cNvSpPr>
          <p:nvPr/>
        </p:nvSpPr>
        <p:spPr>
          <a:xfrm>
            <a:off x="6381750" y="2171700"/>
            <a:ext cx="5010150" cy="1613491"/>
          </a:xfrm>
          <a:prstGeom prst="roundRect">
            <a:avLst>
              <a:gd name="adj" fmla="val 4895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BE97D1-B40A-4016-B1B1-831815A2EB1F}"/>
              </a:ext>
            </a:extLst>
          </p:cNvPr>
          <p:cNvSpPr>
            <a:spLocks noGrp="1"/>
          </p:cNvSpPr>
          <p:nvPr/>
        </p:nvSpPr>
        <p:spPr>
          <a:xfrm>
            <a:off x="6534150" y="2295525"/>
            <a:ext cx="47053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ДОКАЗ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D13FF5-121D-45CE-8C25-8FC8AC04C095}"/>
              </a:ext>
            </a:extLst>
          </p:cNvPr>
          <p:cNvSpPr>
            <a:spLocks noGrp="1"/>
          </p:cNvSpPr>
          <p:nvPr/>
        </p:nvSpPr>
        <p:spPr>
          <a:xfrm>
            <a:off x="6534150" y="2543175"/>
            <a:ext cx="47053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Један allow и један deny сценарио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E2D9CA-6DBA-4882-ABF0-200AA96AA25E}"/>
              </a:ext>
            </a:extLst>
          </p:cNvPr>
          <p:cNvSpPr>
            <a:spLocks noGrp="1"/>
          </p:cNvSpPr>
          <p:nvPr/>
        </p:nvSpPr>
        <p:spPr>
          <a:xfrm>
            <a:off x="6534150" y="2933700"/>
            <a:ext cx="4705350" cy="1857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Припремите тест или демонстрацију и audit запис који показује actor, action, target и исход.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A21408A-66EB-43B4-84C2-840F185AA47C}"/>
              </a:ext>
            </a:extLst>
          </p:cNvPr>
          <p:cNvSpPr>
            <a:spLocks noGrp="1"/>
          </p:cNvSpPr>
          <p:nvPr/>
        </p:nvSpPr>
        <p:spPr>
          <a:xfrm>
            <a:off x="800100" y="4562476"/>
            <a:ext cx="10572750" cy="800100"/>
          </a:xfrm>
          <a:prstGeom prst="roundRect">
            <a:avLst>
              <a:gd name="adj" fmla="val 16667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DAD2753-8973-4D01-BEF3-77F19823F181}"/>
              </a:ext>
            </a:extLst>
          </p:cNvPr>
          <p:cNvSpPr>
            <a:spLocks noGrp="1"/>
          </p:cNvSpPr>
          <p:nvPr/>
        </p:nvSpPr>
        <p:spPr>
          <a:xfrm>
            <a:off x="971550" y="4714876"/>
            <a:ext cx="58306" cy="49530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1B2CC64-8EF0-47CC-BA73-ABE85CFAC205}"/>
              </a:ext>
            </a:extLst>
          </p:cNvPr>
          <p:cNvSpPr>
            <a:spLocks noGrp="1"/>
          </p:cNvSpPr>
          <p:nvPr/>
        </p:nvSpPr>
        <p:spPr>
          <a:xfrm>
            <a:off x="1219200" y="4667251"/>
            <a:ext cx="9834212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ПРИПРЕМА ЗА P1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9DB459C-711D-4394-B006-C2ECAFD9524A}"/>
              </a:ext>
            </a:extLst>
          </p:cNvPr>
          <p:cNvSpPr>
            <a:spLocks noGrp="1"/>
          </p:cNvSpPr>
          <p:nvPr/>
        </p:nvSpPr>
        <p:spPr>
          <a:xfrm>
            <a:off x="1219200" y="4895851"/>
            <a:ext cx="9834212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85555" lnSpcReduction="10000"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Припрема за P1 (после вежби 1–2): основна аутентикација и RBAC раде серверски; object-level authorization и негативан тест допуњују ланац.</a:t>
            </a:r>
          </a:p>
        </p:txBody>
      </p:sp>
    </p:spTree>
    <p:extLst>
      <p:ext uri="{BB962C8B-B14F-4D97-AF65-F5344CB8AC3E}">
        <p14:creationId xmlns:p14="http://schemas.microsoft.com/office/powerpoint/2010/main" val="3804868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BF01EC58-BE6C-4EDD-AA37-C730AF374383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2952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6F61DD4B-4CE3-4833-9D71-E1827914CDCD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DDFF2B-D43D-410C-BDB7-76A9AD1AA17E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1B036D5-3268-40ED-A28D-F13A7BC9B626}"/>
              </a:ext>
            </a:extLst>
          </p:cNvPr>
          <p:cNvSpPr>
            <a:spLocks noGrp="1"/>
          </p:cNvSpPr>
          <p:nvPr/>
        </p:nvSpPr>
        <p:spPr>
          <a:xfrm>
            <a:off x="685800" y="790575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Провера разумевања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399D46-EEA8-4772-9E6F-D3F55AF74173}"/>
              </a:ext>
            </a:extLst>
          </p:cNvPr>
          <p:cNvSpPr>
            <a:spLocks noGrp="1"/>
          </p:cNvSpPr>
          <p:nvPr/>
        </p:nvSpPr>
        <p:spPr>
          <a:xfrm>
            <a:off x="685800" y="1438275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Тема је савладана када одлуку, њен контекст и доказ можете објаснити без ослањања на назив framework-а.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41C3EC4-EBC8-4F79-B08E-59FB518150AB}"/>
              </a:ext>
            </a:extLst>
          </p:cNvPr>
          <p:cNvSpPr>
            <a:spLocks noGrp="1"/>
          </p:cNvSpPr>
          <p:nvPr/>
        </p:nvSpPr>
        <p:spPr>
          <a:xfrm>
            <a:off x="1428750" y="2209800"/>
            <a:ext cx="9334500" cy="1381125"/>
          </a:xfrm>
          <a:prstGeom prst="roundRect">
            <a:avLst>
              <a:gd name="adj" fmla="val 9655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1184CE9-E5A2-4ACF-9AA7-7D4698FA4D2D}"/>
              </a:ext>
            </a:extLst>
          </p:cNvPr>
          <p:cNvSpPr>
            <a:spLocks noGrp="1"/>
          </p:cNvSpPr>
          <p:nvPr/>
        </p:nvSpPr>
        <p:spPr>
          <a:xfrm>
            <a:off x="1581150" y="2333625"/>
            <a:ext cx="90297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ПИТАЊЕ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0CB7F3-FDA5-4298-90CE-2F090206DE83}"/>
              </a:ext>
            </a:extLst>
          </p:cNvPr>
          <p:cNvSpPr>
            <a:spLocks noGrp="1"/>
          </p:cNvSpPr>
          <p:nvPr/>
        </p:nvSpPr>
        <p:spPr>
          <a:xfrm>
            <a:off x="1581150" y="2581275"/>
            <a:ext cx="90297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8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За једну административну радњу објасните: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18B66F-5FA4-4141-93CF-E585F742E934}"/>
              </a:ext>
            </a:extLst>
          </p:cNvPr>
          <p:cNvSpPr>
            <a:spLocks noGrp="1"/>
          </p:cNvSpPr>
          <p:nvPr/>
        </p:nvSpPr>
        <p:spPr>
          <a:xfrm>
            <a:off x="1581150" y="3028950"/>
            <a:ext cx="90297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9887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ко је субјекат · која дозвола је потребна · у ком опсегу важи · шта се бележи када је радња одбијена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F72EAE-C524-44AB-A1EE-4553D297D9F3}"/>
              </a:ext>
            </a:extLst>
          </p:cNvPr>
          <p:cNvSpPr>
            <a:spLocks noGrp="1"/>
          </p:cNvSpPr>
          <p:nvPr/>
        </p:nvSpPr>
        <p:spPr>
          <a:xfrm>
            <a:off x="2190750" y="4105275"/>
            <a:ext cx="7810500" cy="1295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marL="279400" indent="-152400">
              <a:lnSpc>
                <a:spcPct val="112000"/>
              </a:lnSpc>
              <a:buNone/>
              <a:defRPr sz="150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A202C"/>
                </a:solidFill>
                <a:latin typeface="Aptos"/>
                <a:ea typeface="Aptos"/>
                <a:cs typeface="Aptos"/>
              </a:rPr>
              <a:t>Можете ли исту одлуку да формулишете као allow и deny тест?</a:t>
            </a:r>
          </a:p>
          <a:p>
            <a:pPr marL="279400" indent="-152400">
              <a:lnSpc>
                <a:spcPct val="112000"/>
              </a:lnSpc>
              <a:buNone/>
              <a:defRPr sz="150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A202C"/>
                </a:solidFill>
                <a:latin typeface="Aptos"/>
                <a:ea typeface="Aptos"/>
                <a:cs typeface="Aptos"/>
              </a:rPr>
              <a:t>Шта се мења ако је идентитет суспендован након пријаве?</a:t>
            </a:r>
          </a:p>
          <a:p>
            <a:pPr marL="279400" indent="-152400">
              <a:lnSpc>
                <a:spcPct val="112000"/>
              </a:lnSpc>
              <a:buNone/>
              <a:defRPr sz="150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A202C"/>
                </a:solidFill>
                <a:latin typeface="Aptos"/>
                <a:ea typeface="Aptos"/>
                <a:cs typeface="Aptos"/>
              </a:rPr>
              <a:t>Како доказујете да UI није једина контрола приступа?</a:t>
            </a:r>
          </a:p>
        </p:txBody>
      </p:sp>
    </p:spTree>
    <p:extLst>
      <p:ext uri="{BB962C8B-B14F-4D97-AF65-F5344CB8AC3E}">
        <p14:creationId xmlns:p14="http://schemas.microsoft.com/office/powerpoint/2010/main" val="1438586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187417F-38E1-4A7D-AC47-14FD987AC6AD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2952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AB3FAFE3-EA5B-4AEB-86E3-8EED9100F279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83184F-6D71-495F-B0CE-9C9906E89A38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91A70F-C3A1-4798-8472-ADB13345D41B}"/>
              </a:ext>
            </a:extLst>
          </p:cNvPr>
          <p:cNvSpPr>
            <a:spLocks noGrp="1"/>
          </p:cNvSpPr>
          <p:nvPr/>
        </p:nvSpPr>
        <p:spPr>
          <a:xfrm>
            <a:off x="685800" y="790575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Чување лозинке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469023-7B67-4129-84D2-884D6452A313}"/>
              </a:ext>
            </a:extLst>
          </p:cNvPr>
          <p:cNvSpPr>
            <a:spLocks noGrp="1"/>
          </p:cNvSpPr>
          <p:nvPr/>
        </p:nvSpPr>
        <p:spPr>
          <a:xfrm>
            <a:off x="685800" y="1438275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Систем не чува лозинку као текст и не пореди је ручно са вредношћу из базе.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4A894B1-88A1-4B5B-8D54-018D027A98FA}"/>
              </a:ext>
            </a:extLst>
          </p:cNvPr>
          <p:cNvSpPr>
            <a:spLocks noGrp="1"/>
          </p:cNvSpPr>
          <p:nvPr/>
        </p:nvSpPr>
        <p:spPr>
          <a:xfrm>
            <a:off x="723900" y="2076450"/>
            <a:ext cx="5810250" cy="2431755"/>
          </a:xfrm>
          <a:prstGeom prst="roundRect">
            <a:avLst>
              <a:gd name="adj" fmla="val 4712"/>
            </a:avLst>
          </a:prstGeom>
          <a:solidFill>
            <a:srgbClr val="F7F8FB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D8015776-B32C-4D77-A2B8-D5FB4AA28A3F}"/>
              </a:ext>
            </a:extLst>
          </p:cNvPr>
          <p:cNvSpPr>
            <a:spLocks noGrp="1"/>
          </p:cNvSpPr>
          <p:nvPr/>
        </p:nvSpPr>
        <p:spPr>
          <a:xfrm>
            <a:off x="723900" y="2438400"/>
            <a:ext cx="5810250" cy="9525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DD382EA-84EF-46BD-BA2B-F63B8AAC227E}"/>
              </a:ext>
            </a:extLst>
          </p:cNvPr>
          <p:cNvSpPr>
            <a:spLocks noGrp="1"/>
          </p:cNvSpPr>
          <p:nvPr/>
        </p:nvSpPr>
        <p:spPr>
          <a:xfrm>
            <a:off x="5810250" y="2209800"/>
            <a:ext cx="85725" cy="85725"/>
          </a:xfrm>
          <a:prstGeom prst="ellipse">
            <a:avLst/>
          </a:prstGeom>
          <a:solidFill>
            <a:srgbClr val="EF6A60"/>
          </a:solidFill>
          <a:ln w="0">
            <a:noFill/>
          </a:ln>
        </p:spPr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EF5E072-1803-43E7-9AED-C652756FE39E}"/>
              </a:ext>
            </a:extLst>
          </p:cNvPr>
          <p:cNvSpPr>
            <a:spLocks noGrp="1"/>
          </p:cNvSpPr>
          <p:nvPr/>
        </p:nvSpPr>
        <p:spPr>
          <a:xfrm>
            <a:off x="5981700" y="2209800"/>
            <a:ext cx="85725" cy="85725"/>
          </a:xfrm>
          <a:prstGeom prst="ellipse">
            <a:avLst/>
          </a:prstGeom>
          <a:solidFill>
            <a:srgbClr val="F2BD42"/>
          </a:solidFill>
          <a:ln w="0">
            <a:noFill/>
          </a:ln>
        </p:spPr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23EB443-45C1-4052-96A6-994677A347C9}"/>
              </a:ext>
            </a:extLst>
          </p:cNvPr>
          <p:cNvSpPr>
            <a:spLocks noGrp="1"/>
          </p:cNvSpPr>
          <p:nvPr/>
        </p:nvSpPr>
        <p:spPr>
          <a:xfrm>
            <a:off x="6153150" y="2209800"/>
            <a:ext cx="85725" cy="85725"/>
          </a:xfrm>
          <a:prstGeom prst="ellipse">
            <a:avLst/>
          </a:prstGeom>
          <a:solidFill>
            <a:srgbClr val="65C466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8ABE635-CC40-4631-8297-27EB9E1DE88E}"/>
              </a:ext>
            </a:extLst>
          </p:cNvPr>
          <p:cNvSpPr>
            <a:spLocks noGrp="1"/>
          </p:cNvSpPr>
          <p:nvPr/>
        </p:nvSpPr>
        <p:spPr>
          <a:xfrm>
            <a:off x="857250" y="2590800"/>
            <a:ext cx="304800" cy="297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  <a:p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9</a:t>
            </a:r>
          </a:p>
          <a:p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10</a:t>
            </a:r>
          </a:p>
          <a:p>
            <a:pPr algn="r">
              <a:lnSpc>
                <a:spcPct val="100000"/>
              </a:lnSpc>
              <a:buNone/>
              <a:defRPr sz="1013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73AB14-FD5B-4049-BDFD-7FDE14BD5E1A}"/>
              </a:ext>
            </a:extLst>
          </p:cNvPr>
          <p:cNvSpPr>
            <a:spLocks noGrp="1"/>
          </p:cNvSpPr>
          <p:nvPr/>
        </p:nvSpPr>
        <p:spPr>
          <a:xfrm>
            <a:off x="1276350" y="2590800"/>
            <a:ext cx="5067300" cy="297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public </a:t>
            </a:r>
            <a:r>
              <a:rPr b="0">
                <a:solidFill>
                  <a:srgbClr val="7651D4"/>
                </a:solidFill>
              </a:rPr>
              <a:t>PasswordRecord </a:t>
            </a:r>
            <a:r>
              <a:rPr b="1">
                <a:solidFill>
                  <a:srgbClr val="0067C5"/>
                </a:solidFill>
              </a:rPr>
              <a:t>Create</a:t>
            </a:r>
            <a:r>
              <a:rPr b="0">
                <a:solidFill>
                  <a:srgbClr val="263044"/>
                </a:solidFill>
              </a:rPr>
              <a:t>(string password)</a:t>
            </a:r>
          </a:p>
          <a:p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var </a:t>
            </a:r>
            <a:r>
              <a:rPr b="0">
                <a:solidFill>
                  <a:srgbClr val="263044"/>
                </a:solidFill>
              </a:rPr>
              <a:t>hash = hasher.HashPassword(user, password);</a:t>
            </a:r>
          </a:p>
          <a:p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return new </a:t>
            </a:r>
            <a:r>
              <a:rPr b="0">
                <a:solidFill>
                  <a:srgbClr val="7651D4"/>
                </a:solidFill>
              </a:rPr>
              <a:t>PasswordRecord</a:t>
            </a:r>
            <a:r>
              <a:rPr b="0">
                <a:solidFill>
                  <a:srgbClr val="263044"/>
                </a:solidFill>
              </a:rPr>
              <a:t>(hash);</a:t>
            </a:r>
          </a:p>
          <a:p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  <a:p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endParaRPr b="0">
              <a:solidFill>
                <a:srgbClr val="263044"/>
              </a:solidFill>
            </a:endParaRPr>
          </a:p>
          <a:p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public bool Verify</a:t>
            </a:r>
            <a:r>
              <a:rPr b="0">
                <a:solidFill>
                  <a:srgbClr val="263044"/>
                </a:solidFill>
              </a:rPr>
              <a:t>(string password, string hash)</a:t>
            </a:r>
          </a:p>
          <a:p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0067C5"/>
                </a:solidFill>
              </a:rPr>
              <a:t>    return </a:t>
            </a:r>
            <a:r>
              <a:rPr b="0">
                <a:solidFill>
                  <a:srgbClr val="263044"/>
                </a:solidFill>
              </a:rPr>
              <a:t>hasher.VerifyHashedPassword(user, hash, password)</a:t>
            </a:r>
          </a:p>
          <a:p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1">
                <a:solidFill>
                  <a:srgbClr val="138A5B"/>
                </a:solidFill>
              </a:rPr>
              <a:t>        == PasswordVerificationResult.Success;</a:t>
            </a:r>
          </a:p>
          <a:p>
            <a:pPr>
              <a:buNone/>
              <a:defRPr sz="1088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53C08D-B5D8-4E97-9A25-630A5DDF110C}"/>
              </a:ext>
            </a:extLst>
          </p:cNvPr>
          <p:cNvSpPr>
            <a:spLocks noGrp="1"/>
          </p:cNvSpPr>
          <p:nvPr/>
        </p:nvSpPr>
        <p:spPr>
          <a:xfrm>
            <a:off x="6934200" y="2209800"/>
            <a:ext cx="4095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6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Шта је важно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4E1B2E-2626-4710-ABF2-EB9063F61194}"/>
              </a:ext>
            </a:extLst>
          </p:cNvPr>
          <p:cNvSpPr>
            <a:spLocks noGrp="1"/>
          </p:cNvSpPr>
          <p:nvPr/>
        </p:nvSpPr>
        <p:spPr>
          <a:xfrm>
            <a:off x="6934200" y="2781300"/>
            <a:ext cx="3619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22C19C6-8409-48E3-82F1-2311B14F0C5C}"/>
              </a:ext>
            </a:extLst>
          </p:cNvPr>
          <p:cNvSpPr>
            <a:spLocks noGrp="1"/>
          </p:cNvSpPr>
          <p:nvPr/>
        </p:nvSpPr>
        <p:spPr>
          <a:xfrm>
            <a:off x="7410450" y="2762250"/>
            <a:ext cx="371475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Стандардна библиотека управља хеширањем и salt вредношћу.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9321CFD-99A9-4617-B09B-842E2A5306E3}"/>
              </a:ext>
            </a:extLst>
          </p:cNvPr>
          <p:cNvSpPr>
            <a:spLocks noGrp="1"/>
          </p:cNvSpPr>
          <p:nvPr/>
        </p:nvSpPr>
        <p:spPr>
          <a:xfrm>
            <a:off x="6934200" y="3600450"/>
            <a:ext cx="3619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6DA245-91BF-4200-BB10-90F4AA6E8723}"/>
              </a:ext>
            </a:extLst>
          </p:cNvPr>
          <p:cNvSpPr>
            <a:spLocks noGrp="1"/>
          </p:cNvSpPr>
          <p:nvPr/>
        </p:nvSpPr>
        <p:spPr>
          <a:xfrm>
            <a:off x="7410450" y="3581400"/>
            <a:ext cx="371475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Иста порука покрива непостојећи налог и погрешну лозинку.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F3A7D9F-2A34-4CA8-B015-78C0558233A3}"/>
              </a:ext>
            </a:extLst>
          </p:cNvPr>
          <p:cNvSpPr>
            <a:spLocks noGrp="1"/>
          </p:cNvSpPr>
          <p:nvPr/>
        </p:nvSpPr>
        <p:spPr>
          <a:xfrm>
            <a:off x="6934200" y="4419600"/>
            <a:ext cx="3619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2660D62-01B1-470D-A57A-8F8BEECA8831}"/>
              </a:ext>
            </a:extLst>
          </p:cNvPr>
          <p:cNvSpPr>
            <a:spLocks noGrp="1"/>
          </p:cNvSpPr>
          <p:nvPr/>
        </p:nvSpPr>
        <p:spPr>
          <a:xfrm>
            <a:off x="7410450" y="4400550"/>
            <a:ext cx="371475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350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Промена лозинке укида стару тајну и оставља audit траг.</a:t>
            </a:r>
          </a:p>
        </p:txBody>
      </p:sp>
    </p:spTree>
    <p:extLst>
      <p:ext uri="{BB962C8B-B14F-4D97-AF65-F5344CB8AC3E}">
        <p14:creationId xmlns:p14="http://schemas.microsoft.com/office/powerpoint/2010/main" val="6767189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BBCC841B-3E18-442B-A318-A855F311CDDD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2952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B515C2B8-2C4C-4D5B-B367-A33F94567A02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37DAEB-775F-4DB4-81AE-D8A8CB75EB23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21A93E-307D-4588-950C-6CD09949288D}"/>
              </a:ext>
            </a:extLst>
          </p:cNvPr>
          <p:cNvSpPr>
            <a:spLocks noGrp="1"/>
          </p:cNvSpPr>
          <p:nvPr/>
        </p:nvSpPr>
        <p:spPr>
          <a:xfrm>
            <a:off x="685800" y="790575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Сесија је привремени контекст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9F5BC1-76F7-4439-AA61-D68817E256C6}"/>
              </a:ext>
            </a:extLst>
          </p:cNvPr>
          <p:cNvSpPr>
            <a:spLocks noGrp="1"/>
          </p:cNvSpPr>
          <p:nvPr/>
        </p:nvSpPr>
        <p:spPr>
          <a:xfrm>
            <a:off x="685800" y="1438275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lang="sr-Cyrl-RS" sz="1575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Токен</a:t>
            </a:r>
            <a:r>
              <a:rPr sz="1575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преноси</a:t>
            </a:r>
            <a:r>
              <a:rPr sz="1575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тврдње</a:t>
            </a:r>
            <a:r>
              <a:rPr sz="1575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о</a:t>
            </a:r>
            <a:r>
              <a:rPr sz="1575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субјекту</a:t>
            </a:r>
            <a:r>
              <a:rPr sz="1575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, </a:t>
            </a:r>
            <a:r>
              <a:rPr sz="1575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али</a:t>
            </a:r>
            <a:r>
              <a:rPr sz="1575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</a:t>
            </a:r>
            <a:r>
              <a:rPr sz="1575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сме</a:t>
            </a:r>
            <a:r>
              <a:rPr sz="1575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да</a:t>
            </a:r>
            <a:r>
              <a:rPr sz="1575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претвори</a:t>
            </a:r>
            <a:r>
              <a:rPr sz="1575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привремено</a:t>
            </a:r>
            <a:r>
              <a:rPr sz="1575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стање</a:t>
            </a:r>
            <a:r>
              <a:rPr sz="1575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у</a:t>
            </a:r>
            <a:r>
              <a:rPr sz="1575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трајно</a:t>
            </a:r>
            <a:r>
              <a:rPr sz="1575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 dirty="0" err="1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право</a:t>
            </a:r>
            <a:r>
              <a:rPr sz="1575" b="0" dirty="0">
                <a:solidFill>
                  <a:srgbClr val="657184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5B0504E-EB53-41E7-952B-CEF1232AF9CB}"/>
              </a:ext>
            </a:extLst>
          </p:cNvPr>
          <p:cNvSpPr>
            <a:spLocks noGrp="1"/>
          </p:cNvSpPr>
          <p:nvPr/>
        </p:nvSpPr>
        <p:spPr>
          <a:xfrm>
            <a:off x="800100" y="2400300"/>
            <a:ext cx="2447925" cy="1181100"/>
          </a:xfrm>
          <a:prstGeom prst="roundRect">
            <a:avLst>
              <a:gd name="adj" fmla="val 11290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3EAE01-A00C-49F5-8765-7C37DF2428DD}"/>
              </a:ext>
            </a:extLst>
          </p:cNvPr>
          <p:cNvSpPr>
            <a:spLocks noGrp="1"/>
          </p:cNvSpPr>
          <p:nvPr/>
        </p:nvSpPr>
        <p:spPr>
          <a:xfrm>
            <a:off x="942975" y="2514600"/>
            <a:ext cx="2162175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437D1B-17FA-4E1C-866A-5BC5E7C4CC13}"/>
              </a:ext>
            </a:extLst>
          </p:cNvPr>
          <p:cNvSpPr>
            <a:spLocks noGrp="1"/>
          </p:cNvSpPr>
          <p:nvPr/>
        </p:nvSpPr>
        <p:spPr>
          <a:xfrm>
            <a:off x="942975" y="2762250"/>
            <a:ext cx="21621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Пријава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AECAB0-20BF-4EEA-A13F-B014225D056A}"/>
              </a:ext>
            </a:extLst>
          </p:cNvPr>
          <p:cNvSpPr>
            <a:spLocks noGrp="1"/>
          </p:cNvSpPr>
          <p:nvPr/>
        </p:nvSpPr>
        <p:spPr>
          <a:xfrm>
            <a:off x="942975" y="3143250"/>
            <a:ext cx="21621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потврда идентитета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7188592-7EA6-46CA-9F20-5B341370328A}"/>
              </a:ext>
            </a:extLst>
          </p:cNvPr>
          <p:cNvSpPr>
            <a:spLocks noGrp="1"/>
          </p:cNvSpPr>
          <p:nvPr/>
        </p:nvSpPr>
        <p:spPr>
          <a:xfrm>
            <a:off x="3514725" y="2400300"/>
            <a:ext cx="2447925" cy="1181100"/>
          </a:xfrm>
          <a:prstGeom prst="roundRect">
            <a:avLst>
              <a:gd name="adj" fmla="val 11290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5C6F88-A67D-45BD-ADA4-A832576E79D6}"/>
              </a:ext>
            </a:extLst>
          </p:cNvPr>
          <p:cNvSpPr>
            <a:spLocks noGrp="1"/>
          </p:cNvSpPr>
          <p:nvPr/>
        </p:nvSpPr>
        <p:spPr>
          <a:xfrm>
            <a:off x="3657600" y="2514600"/>
            <a:ext cx="2162175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9317FF-AB5E-44BD-9359-B556D5BE96A7}"/>
              </a:ext>
            </a:extLst>
          </p:cNvPr>
          <p:cNvSpPr>
            <a:spLocks noGrp="1"/>
          </p:cNvSpPr>
          <p:nvPr/>
        </p:nvSpPr>
        <p:spPr>
          <a:xfrm>
            <a:off x="3657600" y="2762250"/>
            <a:ext cx="21621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Сесија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D18864-3568-44A6-88FB-CE4D03E6BAB7}"/>
              </a:ext>
            </a:extLst>
          </p:cNvPr>
          <p:cNvSpPr>
            <a:spLocks noGrp="1"/>
          </p:cNvSpPr>
          <p:nvPr/>
        </p:nvSpPr>
        <p:spPr>
          <a:xfrm>
            <a:off x="3657600" y="3143250"/>
            <a:ext cx="21621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ограничено трајање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702A14E-6C6F-4649-95C7-E070958F2E6F}"/>
              </a:ext>
            </a:extLst>
          </p:cNvPr>
          <p:cNvSpPr>
            <a:spLocks noGrp="1"/>
          </p:cNvSpPr>
          <p:nvPr/>
        </p:nvSpPr>
        <p:spPr>
          <a:xfrm>
            <a:off x="6229350" y="2400300"/>
            <a:ext cx="2447925" cy="1181100"/>
          </a:xfrm>
          <a:prstGeom prst="roundRect">
            <a:avLst>
              <a:gd name="adj" fmla="val 11290"/>
            </a:avLst>
          </a:prstGeom>
          <a:solidFill>
            <a:srgbClr val="F5F0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60495D3-B67F-425C-A675-1C5758A44C4B}"/>
              </a:ext>
            </a:extLst>
          </p:cNvPr>
          <p:cNvSpPr>
            <a:spLocks noGrp="1"/>
          </p:cNvSpPr>
          <p:nvPr/>
        </p:nvSpPr>
        <p:spPr>
          <a:xfrm>
            <a:off x="6372225" y="2514600"/>
            <a:ext cx="2162175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7651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651D4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44F21B-2E6E-40F0-9C04-44160A486177}"/>
              </a:ext>
            </a:extLst>
          </p:cNvPr>
          <p:cNvSpPr>
            <a:spLocks noGrp="1"/>
          </p:cNvSpPr>
          <p:nvPr/>
        </p:nvSpPr>
        <p:spPr>
          <a:xfrm>
            <a:off x="6372225" y="2762250"/>
            <a:ext cx="21621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Нова одлука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4FD710-A25F-4141-8A76-ED6554B0D610}"/>
              </a:ext>
            </a:extLst>
          </p:cNvPr>
          <p:cNvSpPr>
            <a:spLocks noGrp="1"/>
          </p:cNvSpPr>
          <p:nvPr/>
        </p:nvSpPr>
        <p:spPr>
          <a:xfrm>
            <a:off x="6372225" y="3143250"/>
            <a:ext cx="21621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провера статуса и дозволе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249D8F6-E84C-4B3D-8780-820D08517616}"/>
              </a:ext>
            </a:extLst>
          </p:cNvPr>
          <p:cNvSpPr>
            <a:spLocks noGrp="1"/>
          </p:cNvSpPr>
          <p:nvPr/>
        </p:nvSpPr>
        <p:spPr>
          <a:xfrm>
            <a:off x="8943975" y="2400300"/>
            <a:ext cx="2447925" cy="1181100"/>
          </a:xfrm>
          <a:prstGeom prst="roundRect">
            <a:avLst>
              <a:gd name="adj" fmla="val 11290"/>
            </a:avLst>
          </a:prstGeom>
          <a:solidFill>
            <a:srgbClr val="FFF6E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9291F9B-77BD-49FB-B3E7-6546EC6BB83A}"/>
              </a:ext>
            </a:extLst>
          </p:cNvPr>
          <p:cNvSpPr>
            <a:spLocks noGrp="1"/>
          </p:cNvSpPr>
          <p:nvPr/>
        </p:nvSpPr>
        <p:spPr>
          <a:xfrm>
            <a:off x="9086850" y="2514600"/>
            <a:ext cx="2162175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B86A09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86A0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35B76A5-4A63-417C-B213-0D3E106D6A0F}"/>
              </a:ext>
            </a:extLst>
          </p:cNvPr>
          <p:cNvSpPr>
            <a:spLocks noGrp="1"/>
          </p:cNvSpPr>
          <p:nvPr/>
        </p:nvSpPr>
        <p:spPr>
          <a:xfrm>
            <a:off x="9086850" y="2762250"/>
            <a:ext cx="21621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Истек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71C2C1A-E285-477F-B774-72E26B216DD6}"/>
              </a:ext>
            </a:extLst>
          </p:cNvPr>
          <p:cNvSpPr>
            <a:spLocks noGrp="1"/>
          </p:cNvSpPr>
          <p:nvPr/>
        </p:nvSpPr>
        <p:spPr>
          <a:xfrm>
            <a:off x="9086850" y="3143250"/>
            <a:ext cx="21621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8379"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поновна потврда идентитета</a:t>
            </a:r>
          </a:p>
        </p:txBody>
      </p:sp>
      <p:cxnSp>
        <p:nvCxnSpPr>
          <p:cNvPr id="126" name="Straight Arrow Connector 125"/>
          <p:cNvCxnSpPr>
            <a:stCxn id="6" idx="3"/>
            <a:endCxn id="10" idx="1"/>
          </p:cNvCxnSpPr>
          <p:nvPr/>
        </p:nvCxnSpPr>
        <p:spPr>
          <a:xfrm>
            <a:off x="3248025" y="2990850"/>
            <a:ext cx="266700" cy="0"/>
          </a:xfrm>
          <a:prstGeom prst="straightConnector1">
            <a:avLst/>
          </a:prstGeom>
          <a:ln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27" name="Straight Arrow Connector 126"/>
          <p:cNvCxnSpPr>
            <a:stCxn id="10" idx="3"/>
            <a:endCxn id="14" idx="1"/>
          </p:cNvCxnSpPr>
          <p:nvPr/>
        </p:nvCxnSpPr>
        <p:spPr>
          <a:xfrm>
            <a:off x="5962650" y="2990850"/>
            <a:ext cx="266700" cy="0"/>
          </a:xfrm>
          <a:prstGeom prst="straightConnector1">
            <a:avLst/>
          </a:prstGeom>
          <a:ln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28" name="Straight Arrow Connector 127"/>
          <p:cNvCxnSpPr>
            <a:stCxn id="14" idx="3"/>
            <a:endCxn id="18" idx="1"/>
          </p:cNvCxnSpPr>
          <p:nvPr/>
        </p:nvCxnSpPr>
        <p:spPr>
          <a:xfrm>
            <a:off x="8677275" y="2990850"/>
            <a:ext cx="266700" cy="0"/>
          </a:xfrm>
          <a:prstGeom prst="straightConnector1">
            <a:avLst/>
          </a:prstGeom>
          <a:ln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6FF4FA35-457B-4F27-A8BA-138AF8A62C28}"/>
              </a:ext>
            </a:extLst>
          </p:cNvPr>
          <p:cNvSpPr>
            <a:spLocks noGrp="1"/>
          </p:cNvSpPr>
          <p:nvPr/>
        </p:nvSpPr>
        <p:spPr>
          <a:xfrm>
            <a:off x="914400" y="4324350"/>
            <a:ext cx="10363200" cy="1066800"/>
          </a:xfrm>
          <a:prstGeom prst="roundRect">
            <a:avLst>
              <a:gd name="adj" fmla="val 12500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49C0BEA3-19BF-484F-9C6C-8C2A2C4D9B85}"/>
              </a:ext>
            </a:extLst>
          </p:cNvPr>
          <p:cNvSpPr>
            <a:spLocks noGrp="1"/>
          </p:cNvSpPr>
          <p:nvPr/>
        </p:nvSpPr>
        <p:spPr>
          <a:xfrm>
            <a:off x="1085850" y="4476750"/>
            <a:ext cx="57150" cy="76200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5470DC4-C335-42DC-9B80-59FD06C13750}"/>
              </a:ext>
            </a:extLst>
          </p:cNvPr>
          <p:cNvSpPr>
            <a:spLocks noGrp="1"/>
          </p:cNvSpPr>
          <p:nvPr/>
        </p:nvSpPr>
        <p:spPr>
          <a:xfrm>
            <a:off x="1333500" y="4429125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БЕЗБЕДНОСНИ ИСХОД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6DF45F5-B3D9-43AF-BCBE-F7FB98A4AE2D}"/>
              </a:ext>
            </a:extLst>
          </p:cNvPr>
          <p:cNvSpPr>
            <a:spLocks noGrp="1"/>
          </p:cNvSpPr>
          <p:nvPr/>
        </p:nvSpPr>
        <p:spPr>
          <a:xfrm>
            <a:off x="1333500" y="4657725"/>
            <a:ext cx="96393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Суспензија мора да има ефекат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2EBC66E-3608-426C-9BA5-1D9B54F765F1}"/>
              </a:ext>
            </a:extLst>
          </p:cNvPr>
          <p:cNvSpPr>
            <a:spLocks noGrp="1"/>
          </p:cNvSpPr>
          <p:nvPr/>
        </p:nvSpPr>
        <p:spPr>
          <a:xfrm>
            <a:off x="1333500" y="4991100"/>
            <a:ext cx="9639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275" b="0">
                <a:solidFill>
                  <a:srgbClr val="52637B"/>
                </a:solidFill>
                <a:latin typeface="Aptos"/>
                <a:ea typeface="Aptos"/>
                <a:cs typeface="Aptos"/>
              </a:defRPr>
            </a:pP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Активан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lang="sr-Cyrl-RS"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токен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не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сме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сам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по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себи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да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надјача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актуелни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статус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идентитета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за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нову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осетљиву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 </a:t>
            </a:r>
            <a:r>
              <a:rPr sz="1275" b="0" dirty="0" err="1">
                <a:solidFill>
                  <a:srgbClr val="52637B"/>
                </a:solidFill>
                <a:latin typeface="Aptos"/>
                <a:ea typeface="Aptos"/>
                <a:cs typeface="Aptos"/>
              </a:rPr>
              <a:t>радњу</a:t>
            </a:r>
            <a:r>
              <a:rPr sz="1275" b="0" dirty="0">
                <a:solidFill>
                  <a:srgbClr val="52637B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45619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63F0D1F-752E-419C-BB1B-C92F4F771AA0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2952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CB3B44F4-8042-431F-970B-A2FC636EF904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23C1CF7-C0CA-467F-A8E0-60A2BBC450A4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881098-EBFC-4F00-8821-61304D6697EB}"/>
              </a:ext>
            </a:extLst>
          </p:cNvPr>
          <p:cNvSpPr>
            <a:spLocks noGrp="1"/>
          </p:cNvSpPr>
          <p:nvPr/>
        </p:nvSpPr>
        <p:spPr>
          <a:xfrm>
            <a:off x="685800" y="790575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Именовање улога и дозвола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E813D3E-E47B-47CA-AFC0-AF798C03FAAD}"/>
              </a:ext>
            </a:extLst>
          </p:cNvPr>
          <p:cNvSpPr>
            <a:spLocks noGrp="1"/>
          </p:cNvSpPr>
          <p:nvPr/>
        </p:nvSpPr>
        <p:spPr>
          <a:xfrm>
            <a:off x="685800" y="1438275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Назив треба да открије пословну одговорност и конкретну радњу коју систем штити.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BC193A2-529E-4567-8BF7-15BFDF9065C5}"/>
              </a:ext>
            </a:extLst>
          </p:cNvPr>
          <p:cNvSpPr>
            <a:spLocks noGrp="1"/>
          </p:cNvSpPr>
          <p:nvPr/>
        </p:nvSpPr>
        <p:spPr>
          <a:xfrm>
            <a:off x="933450" y="2209800"/>
            <a:ext cx="4591050" cy="1409700"/>
          </a:xfrm>
          <a:prstGeom prst="roundRect">
            <a:avLst>
              <a:gd name="adj" fmla="val 5224"/>
            </a:avLst>
          </a:prstGeom>
          <a:solidFill>
            <a:srgbClr val="FFF0F0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A6BCF3C-A522-4B66-8938-9DC304597B2E}"/>
              </a:ext>
            </a:extLst>
          </p:cNvPr>
          <p:cNvSpPr>
            <a:spLocks noGrp="1"/>
          </p:cNvSpPr>
          <p:nvPr/>
        </p:nvSpPr>
        <p:spPr>
          <a:xfrm>
            <a:off x="1085850" y="2333625"/>
            <a:ext cx="4286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ПРЕШИРОКО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CE19E8-F0FA-4B89-9115-64B79E689C27}"/>
              </a:ext>
            </a:extLst>
          </p:cNvPr>
          <p:cNvSpPr>
            <a:spLocks noGrp="1"/>
          </p:cNvSpPr>
          <p:nvPr/>
        </p:nvSpPr>
        <p:spPr>
          <a:xfrm>
            <a:off x="1085850" y="2581275"/>
            <a:ext cx="4286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Admin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51999E-4FA1-4DD1-B989-510732DCBCEF}"/>
              </a:ext>
            </a:extLst>
          </p:cNvPr>
          <p:cNvSpPr>
            <a:spLocks noGrp="1"/>
          </p:cNvSpPr>
          <p:nvPr/>
        </p:nvSpPr>
        <p:spPr>
          <a:xfrm>
            <a:off x="1085850" y="2971800"/>
            <a:ext cx="4286250" cy="1685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Назив не објашњава које радње су оправдане, над којим ресурсима и колико дуго право важи.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E093A69-76FB-4D9D-821C-1A4C656C431D}"/>
              </a:ext>
            </a:extLst>
          </p:cNvPr>
          <p:cNvSpPr>
            <a:spLocks noGrp="1"/>
          </p:cNvSpPr>
          <p:nvPr/>
        </p:nvSpPr>
        <p:spPr>
          <a:xfrm>
            <a:off x="6667500" y="2209800"/>
            <a:ext cx="4591050" cy="1409700"/>
          </a:xfrm>
          <a:prstGeom prst="roundRect">
            <a:avLst>
              <a:gd name="adj" fmla="val 5224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60A0A0-ECA7-4375-8772-049BD1BDE7C6}"/>
              </a:ext>
            </a:extLst>
          </p:cNvPr>
          <p:cNvSpPr>
            <a:spLocks noGrp="1"/>
          </p:cNvSpPr>
          <p:nvPr/>
        </p:nvSpPr>
        <p:spPr>
          <a:xfrm>
            <a:off x="6819900" y="2333625"/>
            <a:ext cx="4286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ПРЕЦИЗНО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B54137-0763-49B5-8839-93616481400B}"/>
              </a:ext>
            </a:extLst>
          </p:cNvPr>
          <p:cNvSpPr>
            <a:spLocks noGrp="1"/>
          </p:cNvSpPr>
          <p:nvPr/>
        </p:nvSpPr>
        <p:spPr>
          <a:xfrm>
            <a:off x="6819900" y="2581275"/>
            <a:ext cx="4286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75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Оператер извештаја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95B83B9-7F98-4A9F-B8A8-95C04392F065}"/>
              </a:ext>
            </a:extLst>
          </p:cNvPr>
          <p:cNvSpPr>
            <a:spLocks noGrp="1"/>
          </p:cNvSpPr>
          <p:nvPr/>
        </p:nvSpPr>
        <p:spPr>
          <a:xfrm>
            <a:off x="6819900" y="2971800"/>
            <a:ext cx="4286250" cy="1685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Улога групише дозволе report.view и report.export у опсегу домена за који оператор одговара.</a:t>
            </a:r>
          </a:p>
        </p:txBody>
      </p:sp>
      <p:cxnSp>
        <p:nvCxnSpPr>
          <p:cNvPr id="75" name="Straight Arrow Connector 74"/>
          <p:cNvCxnSpPr>
            <a:cxnSpLocks/>
            <a:stCxn id="6" idx="3"/>
            <a:endCxn id="10" idx="1"/>
          </p:cNvCxnSpPr>
          <p:nvPr/>
        </p:nvCxnSpPr>
        <p:spPr>
          <a:xfrm>
            <a:off x="5524500" y="2914650"/>
            <a:ext cx="1143000" cy="0"/>
          </a:xfrm>
          <a:prstGeom prst="straightConnector1">
            <a:avLst/>
          </a:prstGeom>
          <a:ln w="15240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E1E6037B-75FD-4CB1-950F-49F13DF146B0}"/>
              </a:ext>
            </a:extLst>
          </p:cNvPr>
          <p:cNvSpPr>
            <a:spLocks noGrp="1"/>
          </p:cNvSpPr>
          <p:nvPr/>
        </p:nvSpPr>
        <p:spPr>
          <a:xfrm>
            <a:off x="895350" y="4238625"/>
            <a:ext cx="10363200" cy="800100"/>
          </a:xfrm>
          <a:prstGeom prst="roundRect">
            <a:avLst>
              <a:gd name="adj" fmla="val 16667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632DE3ED-52B3-4879-8C6E-A7CF6AAB9AEC}"/>
              </a:ext>
            </a:extLst>
          </p:cNvPr>
          <p:cNvSpPr>
            <a:spLocks noGrp="1"/>
          </p:cNvSpPr>
          <p:nvPr/>
        </p:nvSpPr>
        <p:spPr>
          <a:xfrm>
            <a:off x="1066800" y="4391025"/>
            <a:ext cx="57150" cy="49530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2A76CF8-1B5B-4625-B825-61A0570C0B0A}"/>
              </a:ext>
            </a:extLst>
          </p:cNvPr>
          <p:cNvSpPr>
            <a:spLocks noGrp="1"/>
          </p:cNvSpPr>
          <p:nvPr/>
        </p:nvSpPr>
        <p:spPr>
          <a:xfrm>
            <a:off x="1314450" y="4343400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ПРАВИЛО МОДЕЛА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C928666-D5A7-4F31-9694-C4B645D6FF95}"/>
              </a:ext>
            </a:extLst>
          </p:cNvPr>
          <p:cNvSpPr>
            <a:spLocks noGrp="1"/>
          </p:cNvSpPr>
          <p:nvPr/>
        </p:nvSpPr>
        <p:spPr>
          <a:xfrm>
            <a:off x="1314450" y="4572000"/>
            <a:ext cx="96393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 fontScale="96979"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Промена пословне одговорности мења улогу. Нова техничка операција додаје малу дозволу у постојећи модел.</a:t>
            </a:r>
          </a:p>
        </p:txBody>
      </p:sp>
    </p:spTree>
    <p:extLst>
      <p:ext uri="{BB962C8B-B14F-4D97-AF65-F5344CB8AC3E}">
        <p14:creationId xmlns:p14="http://schemas.microsoft.com/office/powerpoint/2010/main" val="11172208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26B340F8-8E2F-4D91-9043-CC32B6BC3622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2952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7A6EA1EA-AE39-415D-B749-76F4F828943F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7024A8-52E0-4A15-B133-095DE9C93F47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BD8A46-FF8C-4C1D-A8D6-392112BE9AAE}"/>
              </a:ext>
            </a:extLst>
          </p:cNvPr>
          <p:cNvSpPr>
            <a:spLocks noGrp="1"/>
          </p:cNvSpPr>
          <p:nvPr/>
        </p:nvSpPr>
        <p:spPr>
          <a:xfrm>
            <a:off x="685800" y="790575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Audit запис одговара на питање шта се догодило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C642B7-784F-4232-BA5A-1B39FD19CE66}"/>
              </a:ext>
            </a:extLst>
          </p:cNvPr>
          <p:cNvSpPr>
            <a:spLocks noGrp="1"/>
          </p:cNvSpPr>
          <p:nvPr/>
        </p:nvSpPr>
        <p:spPr>
          <a:xfrm>
            <a:off x="685800" y="1438275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Лог има вредност када други члан тима може да реконструише покушај без откривања тајни.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10F3454-D542-45C7-B112-AD455A8374D3}"/>
              </a:ext>
            </a:extLst>
          </p:cNvPr>
          <p:cNvSpPr>
            <a:spLocks noGrp="1"/>
          </p:cNvSpPr>
          <p:nvPr/>
        </p:nvSpPr>
        <p:spPr>
          <a:xfrm>
            <a:off x="838200" y="2143125"/>
            <a:ext cx="5000625" cy="2237489"/>
          </a:xfrm>
          <a:prstGeom prst="roundRect">
            <a:avLst>
              <a:gd name="adj" fmla="val 5455"/>
            </a:avLst>
          </a:prstGeom>
          <a:solidFill>
            <a:srgbClr val="F7F8FB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F18CE8A7-8AFF-4BFF-B008-91A71C880034}"/>
              </a:ext>
            </a:extLst>
          </p:cNvPr>
          <p:cNvSpPr>
            <a:spLocks noGrp="1"/>
          </p:cNvSpPr>
          <p:nvPr/>
        </p:nvSpPr>
        <p:spPr>
          <a:xfrm>
            <a:off x="838200" y="2505075"/>
            <a:ext cx="5000625" cy="9525"/>
          </a:xfrm>
          <a:prstGeom prst="line">
            <a:avLst/>
          </a:prstGeom>
          <a:noFill/>
          <a:ln w="9525">
            <a:solidFill>
              <a:srgbClr val="D7DEE8"/>
            </a:solidFill>
            <a:prstDash val="solid"/>
          </a:ln>
        </p:spPr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F477087-8532-456E-B3BA-BE7FC0889854}"/>
              </a:ext>
            </a:extLst>
          </p:cNvPr>
          <p:cNvSpPr>
            <a:spLocks noGrp="1"/>
          </p:cNvSpPr>
          <p:nvPr/>
        </p:nvSpPr>
        <p:spPr>
          <a:xfrm>
            <a:off x="5114925" y="2276475"/>
            <a:ext cx="85725" cy="85725"/>
          </a:xfrm>
          <a:prstGeom prst="ellipse">
            <a:avLst/>
          </a:prstGeom>
          <a:solidFill>
            <a:srgbClr val="EF6A60"/>
          </a:solidFill>
          <a:ln w="0">
            <a:noFill/>
          </a:ln>
        </p:spPr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2F53C55-FEAA-47B0-86CA-E4D9C6CE814D}"/>
              </a:ext>
            </a:extLst>
          </p:cNvPr>
          <p:cNvSpPr>
            <a:spLocks noGrp="1"/>
          </p:cNvSpPr>
          <p:nvPr/>
        </p:nvSpPr>
        <p:spPr>
          <a:xfrm>
            <a:off x="5286375" y="2276475"/>
            <a:ext cx="85725" cy="85725"/>
          </a:xfrm>
          <a:prstGeom prst="ellipse">
            <a:avLst/>
          </a:prstGeom>
          <a:solidFill>
            <a:srgbClr val="F2BD42"/>
          </a:solidFill>
          <a:ln w="0">
            <a:noFill/>
          </a:ln>
        </p:spPr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9EE0619-2D8E-4136-BF39-A5D8035499BB}"/>
              </a:ext>
            </a:extLst>
          </p:cNvPr>
          <p:cNvSpPr>
            <a:spLocks noGrp="1"/>
          </p:cNvSpPr>
          <p:nvPr/>
        </p:nvSpPr>
        <p:spPr>
          <a:xfrm>
            <a:off x="5457825" y="2276475"/>
            <a:ext cx="85725" cy="85725"/>
          </a:xfrm>
          <a:prstGeom prst="ellipse">
            <a:avLst/>
          </a:prstGeom>
          <a:solidFill>
            <a:srgbClr val="65C466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2F01351-3D4A-4B01-9A62-9FFE78AB1B95}"/>
              </a:ext>
            </a:extLst>
          </p:cNvPr>
          <p:cNvSpPr>
            <a:spLocks noGrp="1"/>
          </p:cNvSpPr>
          <p:nvPr/>
        </p:nvSpPr>
        <p:spPr>
          <a:xfrm>
            <a:off x="971550" y="2657475"/>
            <a:ext cx="304800" cy="2476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1</a:t>
            </a:r>
          </a:p>
          <a:p>
            <a:pPr algn="r">
              <a:lnSpc>
                <a:spcPct val="1000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2</a:t>
            </a:r>
          </a:p>
          <a:p>
            <a:pPr algn="r">
              <a:lnSpc>
                <a:spcPct val="1000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3</a:t>
            </a:r>
          </a:p>
          <a:p>
            <a:pPr algn="r">
              <a:lnSpc>
                <a:spcPct val="1000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4</a:t>
            </a:r>
          </a:p>
          <a:p>
            <a:pPr algn="r">
              <a:lnSpc>
                <a:spcPct val="1000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5</a:t>
            </a:r>
          </a:p>
          <a:p>
            <a:pPr algn="r">
              <a:lnSpc>
                <a:spcPct val="1000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6</a:t>
            </a:r>
          </a:p>
          <a:p>
            <a:pPr algn="r">
              <a:lnSpc>
                <a:spcPct val="1000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7</a:t>
            </a:r>
          </a:p>
          <a:p>
            <a:pPr algn="r">
              <a:lnSpc>
                <a:spcPct val="100000"/>
              </a:lnSpc>
              <a:buNone/>
              <a:defRPr sz="1125" b="0">
                <a:solidFill>
                  <a:srgbClr val="8792A6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8792A6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D145DEF-946B-4950-B794-B62F3D5B0DC9}"/>
              </a:ext>
            </a:extLst>
          </p:cNvPr>
          <p:cNvSpPr>
            <a:spLocks noGrp="1"/>
          </p:cNvSpPr>
          <p:nvPr/>
        </p:nvSpPr>
        <p:spPr>
          <a:xfrm>
            <a:off x="1390650" y="2657475"/>
            <a:ext cx="4257675" cy="2476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{</a:t>
            </a:r>
          </a:p>
          <a:p>
            <a:pPr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7651D4"/>
                </a:solidFill>
              </a:rPr>
              <a:t>  "actor"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"user-184"</a:t>
            </a:r>
            <a:r>
              <a:rPr b="0">
                <a:solidFill>
                  <a:srgbClr val="263044"/>
                </a:solidFill>
              </a:rPr>
              <a:t>,</a:t>
            </a:r>
          </a:p>
          <a:p>
            <a:pPr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7651D4"/>
                </a:solidFill>
              </a:rPr>
              <a:t>  "action"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"report.approve"</a:t>
            </a:r>
            <a:r>
              <a:rPr b="0">
                <a:solidFill>
                  <a:srgbClr val="263044"/>
                </a:solidFill>
              </a:rPr>
              <a:t>,</a:t>
            </a:r>
          </a:p>
          <a:p>
            <a:pPr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7651D4"/>
                </a:solidFill>
              </a:rPr>
              <a:t>  "target"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"report-902"</a:t>
            </a:r>
            <a:r>
              <a:rPr b="0">
                <a:solidFill>
                  <a:srgbClr val="263044"/>
                </a:solidFill>
              </a:rPr>
              <a:t>,</a:t>
            </a:r>
          </a:p>
          <a:p>
            <a:pPr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7651D4"/>
                </a:solidFill>
              </a:rPr>
              <a:t>  "outcome"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1">
                <a:solidFill>
                  <a:srgbClr val="C34747"/>
                </a:solidFill>
              </a:rPr>
              <a:t>"denied"</a:t>
            </a:r>
            <a:r>
              <a:rPr b="0">
                <a:solidFill>
                  <a:srgbClr val="263044"/>
                </a:solidFill>
              </a:rPr>
              <a:t>,</a:t>
            </a:r>
          </a:p>
          <a:p>
            <a:pPr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7651D4"/>
                </a:solidFill>
              </a:rPr>
              <a:t>  "reason"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"missing_permission"</a:t>
            </a:r>
            <a:r>
              <a:rPr b="0">
                <a:solidFill>
                  <a:srgbClr val="263044"/>
                </a:solidFill>
              </a:rPr>
              <a:t>,</a:t>
            </a:r>
          </a:p>
          <a:p>
            <a:pPr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7651D4"/>
                </a:solidFill>
              </a:rPr>
              <a:t>  "correlationId"</a:t>
            </a:r>
            <a:r>
              <a:rPr b="0">
                <a:solidFill>
                  <a:srgbClr val="263044"/>
                </a:solidFill>
              </a:rPr>
              <a:t>: </a:t>
            </a:r>
            <a:r>
              <a:rPr b="0">
                <a:solidFill>
                  <a:srgbClr val="B45309"/>
                </a:solidFill>
              </a:rPr>
              <a:t>"c-71f2"</a:t>
            </a:r>
          </a:p>
          <a:p>
            <a:pPr>
              <a:buNone/>
              <a:defRPr sz="1200">
                <a:solidFill>
                  <a:srgbClr val="263044"/>
                </a:solidFill>
                <a:latin typeface="Consolas"/>
                <a:ea typeface="Consolas"/>
                <a:cs typeface="Consolas"/>
              </a:defRPr>
            </a:pPr>
            <a:r>
              <a:rPr b="0">
                <a:solidFill>
                  <a:srgbClr val="263044"/>
                </a:solidFill>
              </a:rPr>
              <a:t>}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9318600-857A-47E8-AAFC-9BB647908D8D}"/>
              </a:ext>
            </a:extLst>
          </p:cNvPr>
          <p:cNvSpPr>
            <a:spLocks noGrp="1"/>
          </p:cNvSpPr>
          <p:nvPr/>
        </p:nvSpPr>
        <p:spPr>
          <a:xfrm>
            <a:off x="6343650" y="2143125"/>
            <a:ext cx="4819650" cy="1381125"/>
          </a:xfrm>
          <a:prstGeom prst="roundRect">
            <a:avLst>
              <a:gd name="adj" fmla="val 9655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90A71A-2F41-4E5F-B831-2649540B8957}"/>
              </a:ext>
            </a:extLst>
          </p:cNvPr>
          <p:cNvSpPr>
            <a:spLocks noGrp="1"/>
          </p:cNvSpPr>
          <p:nvPr/>
        </p:nvSpPr>
        <p:spPr>
          <a:xfrm>
            <a:off x="6496050" y="2266950"/>
            <a:ext cx="45148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ДОВОЉНО ЗА ОБЈАШЊЕЊЕ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472F8F1-221D-4191-9D58-EF83D74DA6E3}"/>
              </a:ext>
            </a:extLst>
          </p:cNvPr>
          <p:cNvSpPr>
            <a:spLocks noGrp="1"/>
          </p:cNvSpPr>
          <p:nvPr/>
        </p:nvSpPr>
        <p:spPr>
          <a:xfrm>
            <a:off x="6496050" y="2514600"/>
            <a:ext cx="45148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Субјекат, радња, циљ и исход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49445F-6F7D-4916-9F73-C4FE2E458C7F}"/>
              </a:ext>
            </a:extLst>
          </p:cNvPr>
          <p:cNvSpPr>
            <a:spLocks noGrp="1"/>
          </p:cNvSpPr>
          <p:nvPr/>
        </p:nvSpPr>
        <p:spPr>
          <a:xfrm>
            <a:off x="6496050" y="2905125"/>
            <a:ext cx="45148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Correlation ID повезује одлуку са остатком тока захтева.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5F9D4D2-24FC-46BA-8BD1-4C4A41EFF6DF}"/>
              </a:ext>
            </a:extLst>
          </p:cNvPr>
          <p:cNvSpPr>
            <a:spLocks noGrp="1"/>
          </p:cNvSpPr>
          <p:nvPr/>
        </p:nvSpPr>
        <p:spPr>
          <a:xfrm>
            <a:off x="6343650" y="3905250"/>
            <a:ext cx="4819650" cy="1381125"/>
          </a:xfrm>
          <a:prstGeom prst="roundRect">
            <a:avLst>
              <a:gd name="adj" fmla="val 9655"/>
            </a:avLst>
          </a:prstGeom>
          <a:solidFill>
            <a:srgbClr val="FFF0F0"/>
          </a:solidFill>
          <a:ln w="9525">
            <a:solidFill>
              <a:srgbClr val="D7DEE8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F009004-E252-482D-AEAB-5D363863B4CD}"/>
              </a:ext>
            </a:extLst>
          </p:cNvPr>
          <p:cNvSpPr>
            <a:spLocks noGrp="1"/>
          </p:cNvSpPr>
          <p:nvPr/>
        </p:nvSpPr>
        <p:spPr>
          <a:xfrm>
            <a:off x="6496050" y="4029075"/>
            <a:ext cx="45148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050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НЕ ПРИПАДА У ЛОГ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79E7B64-DB0B-4B2A-BCC3-18EC7A8E76E7}"/>
              </a:ext>
            </a:extLst>
          </p:cNvPr>
          <p:cNvSpPr>
            <a:spLocks noGrp="1"/>
          </p:cNvSpPr>
          <p:nvPr/>
        </p:nvSpPr>
        <p:spPr>
          <a:xfrm>
            <a:off x="6496050" y="4276725"/>
            <a:ext cx="45148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Лозинка, token и непотребни лични подаци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E04E9B-2843-41FD-BD99-DD02C3097FF8}"/>
              </a:ext>
            </a:extLst>
          </p:cNvPr>
          <p:cNvSpPr>
            <a:spLocks noGrp="1"/>
          </p:cNvSpPr>
          <p:nvPr/>
        </p:nvSpPr>
        <p:spPr>
          <a:xfrm>
            <a:off x="6496050" y="4667250"/>
            <a:ext cx="45148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Audit траг не сме да постане нови извор цурења осетљивих вредности.</a:t>
            </a:r>
          </a:p>
        </p:txBody>
      </p:sp>
    </p:spTree>
    <p:extLst>
      <p:ext uri="{BB962C8B-B14F-4D97-AF65-F5344CB8AC3E}">
        <p14:creationId xmlns:p14="http://schemas.microsoft.com/office/powerpoint/2010/main" val="9006763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D5F900BD-87C4-4DA6-8180-90A134DDF989}"/>
              </a:ext>
            </a:extLst>
          </p:cNvPr>
          <p:cNvSpPr>
            <a:spLocks noGrp="1"/>
          </p:cNvSpPr>
          <p:nvPr/>
        </p:nvSpPr>
        <p:spPr>
          <a:xfrm>
            <a:off x="495300" y="238125"/>
            <a:ext cx="2952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8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Основе информационе безбедности</a:t>
            </a:r>
          </a:p>
        </p:txBody>
      </p:sp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3A0B959A-DC57-47EB-BFFC-0ECA112E8700}"/>
              </a:ext>
            </a:extLst>
          </p:cNvPr>
          <p:cNvSpPr>
            <a:spLocks noGrp="1"/>
          </p:cNvSpPr>
          <p:nvPr/>
        </p:nvSpPr>
        <p:spPr>
          <a:xfrm>
            <a:off x="495300" y="476250"/>
            <a:ext cx="11201400" cy="9525"/>
          </a:xfrm>
          <a:prstGeom prst="line">
            <a:avLst/>
          </a:prstGeom>
          <a:noFill/>
          <a:ln w="9525">
            <a:solidFill>
              <a:srgbClr val="748092"/>
            </a:solidFill>
            <a:prstDash val="solid"/>
          </a:ln>
        </p:spPr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8DB9D1A-E2B8-47CF-B741-0A9D3274DCB4}"/>
              </a:ext>
            </a:extLst>
          </p:cNvPr>
          <p:cNvSpPr>
            <a:spLocks noGrp="1"/>
          </p:cNvSpPr>
          <p:nvPr/>
        </p:nvSpPr>
        <p:spPr>
          <a:xfrm>
            <a:off x="11372850" y="6477000"/>
            <a:ext cx="3238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0000"/>
              </a:lnSpc>
              <a:buNone/>
              <a:defRPr sz="975" b="0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A202C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F35651-30B2-4F4A-B9C2-EBB19D5A0C2D}"/>
              </a:ext>
            </a:extLst>
          </p:cNvPr>
          <p:cNvSpPr>
            <a:spLocks noGrp="1"/>
          </p:cNvSpPr>
          <p:nvPr/>
        </p:nvSpPr>
        <p:spPr>
          <a:xfrm>
            <a:off x="685800" y="790575"/>
            <a:ext cx="108204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rPr>
              <a:t>Мини вежба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134FE6-D897-4B59-9118-C1FDE804EF68}"/>
              </a:ext>
            </a:extLst>
          </p:cNvPr>
          <p:cNvSpPr>
            <a:spLocks noGrp="1"/>
          </p:cNvSpPr>
          <p:nvPr/>
        </p:nvSpPr>
        <p:spPr>
          <a:xfrm>
            <a:off x="685800" y="1438275"/>
            <a:ext cx="10820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157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 једној радњи изградите цео ланац од субјекта до доказа.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676E1C9-CCF5-4060-A0B4-F2DDEC22CA32}"/>
              </a:ext>
            </a:extLst>
          </p:cNvPr>
          <p:cNvSpPr>
            <a:spLocks noGrp="1"/>
          </p:cNvSpPr>
          <p:nvPr/>
        </p:nvSpPr>
        <p:spPr>
          <a:xfrm>
            <a:off x="800100" y="2343150"/>
            <a:ext cx="2447925" cy="1181100"/>
          </a:xfrm>
          <a:prstGeom prst="roundRect">
            <a:avLst>
              <a:gd name="adj" fmla="val 11290"/>
            </a:avLst>
          </a:prstGeom>
          <a:solidFill>
            <a:srgbClr val="F4F6F9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66EC65-BF84-45ED-B593-9C1F8D7D0120}"/>
              </a:ext>
            </a:extLst>
          </p:cNvPr>
          <p:cNvSpPr>
            <a:spLocks noGrp="1"/>
          </p:cNvSpPr>
          <p:nvPr/>
        </p:nvSpPr>
        <p:spPr>
          <a:xfrm>
            <a:off x="942975" y="2457450"/>
            <a:ext cx="2162175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EA81F2-2A34-49F6-A8C0-9486AAD286B2}"/>
              </a:ext>
            </a:extLst>
          </p:cNvPr>
          <p:cNvSpPr>
            <a:spLocks noGrp="1"/>
          </p:cNvSpPr>
          <p:nvPr/>
        </p:nvSpPr>
        <p:spPr>
          <a:xfrm>
            <a:off x="942975" y="2705100"/>
            <a:ext cx="21621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Изаберите радњу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691644-3BA7-465F-8821-A2EEB6E3395A}"/>
              </a:ext>
            </a:extLst>
          </p:cNvPr>
          <p:cNvSpPr>
            <a:spLocks noGrp="1"/>
          </p:cNvSpPr>
          <p:nvPr/>
        </p:nvSpPr>
        <p:spPr>
          <a:xfrm>
            <a:off x="942975" y="3086100"/>
            <a:ext cx="21621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 пример report.approve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6CC854B-9AF0-4BED-98E3-D690BE2ACD27}"/>
              </a:ext>
            </a:extLst>
          </p:cNvPr>
          <p:cNvSpPr>
            <a:spLocks noGrp="1"/>
          </p:cNvSpPr>
          <p:nvPr/>
        </p:nvSpPr>
        <p:spPr>
          <a:xfrm>
            <a:off x="3514725" y="2343150"/>
            <a:ext cx="2447925" cy="1181100"/>
          </a:xfrm>
          <a:prstGeom prst="roundRect">
            <a:avLst>
              <a:gd name="adj" fmla="val 11290"/>
            </a:avLst>
          </a:prstGeom>
          <a:solidFill>
            <a:srgbClr val="EEF3FF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96ED68-5EE6-4931-A1F1-8DA02FDFDB88}"/>
              </a:ext>
            </a:extLst>
          </p:cNvPr>
          <p:cNvSpPr>
            <a:spLocks noGrp="1"/>
          </p:cNvSpPr>
          <p:nvPr/>
        </p:nvSpPr>
        <p:spPr>
          <a:xfrm>
            <a:off x="3657600" y="2457450"/>
            <a:ext cx="2162175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2F5EF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EF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C3318C-56F1-4C42-AB85-C8C85E89F3AF}"/>
              </a:ext>
            </a:extLst>
          </p:cNvPr>
          <p:cNvSpPr>
            <a:spLocks noGrp="1"/>
          </p:cNvSpPr>
          <p:nvPr/>
        </p:nvSpPr>
        <p:spPr>
          <a:xfrm>
            <a:off x="3657600" y="2705100"/>
            <a:ext cx="21621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Одредите дозволу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53CB3E-EC8D-45E2-B9B1-CD110621C091}"/>
              </a:ext>
            </a:extLst>
          </p:cNvPr>
          <p:cNvSpPr>
            <a:spLocks noGrp="1"/>
          </p:cNvSpPr>
          <p:nvPr/>
        </p:nvSpPr>
        <p:spPr>
          <a:xfrm>
            <a:off x="3657600" y="3086100"/>
            <a:ext cx="21621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назив и опсег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1B8CD89-02A6-408F-9F5A-FFD56BE7C195}"/>
              </a:ext>
            </a:extLst>
          </p:cNvPr>
          <p:cNvSpPr>
            <a:spLocks noGrp="1"/>
          </p:cNvSpPr>
          <p:nvPr/>
        </p:nvSpPr>
        <p:spPr>
          <a:xfrm>
            <a:off x="6229350" y="2343150"/>
            <a:ext cx="2447925" cy="1181100"/>
          </a:xfrm>
          <a:prstGeom prst="roundRect">
            <a:avLst>
              <a:gd name="adj" fmla="val 11290"/>
            </a:avLst>
          </a:prstGeom>
          <a:solidFill>
            <a:srgbClr val="FFF0F0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83BF07A-9996-4720-9DA5-66100FDBCD3E}"/>
              </a:ext>
            </a:extLst>
          </p:cNvPr>
          <p:cNvSpPr>
            <a:spLocks noGrp="1"/>
          </p:cNvSpPr>
          <p:nvPr/>
        </p:nvSpPr>
        <p:spPr>
          <a:xfrm>
            <a:off x="6372225" y="2457450"/>
            <a:ext cx="2162175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C3474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3474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752E17A-B841-4B23-BA77-D1EF93D24DBB}"/>
              </a:ext>
            </a:extLst>
          </p:cNvPr>
          <p:cNvSpPr>
            <a:spLocks noGrp="1"/>
          </p:cNvSpPr>
          <p:nvPr/>
        </p:nvSpPr>
        <p:spPr>
          <a:xfrm>
            <a:off x="6372225" y="2705100"/>
            <a:ext cx="21621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Напишите deny тест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76CCC4-130E-4292-8FEF-0A8BEC2EC0DD}"/>
              </a:ext>
            </a:extLst>
          </p:cNvPr>
          <p:cNvSpPr>
            <a:spLocks noGrp="1"/>
          </p:cNvSpPr>
          <p:nvPr/>
        </p:nvSpPr>
        <p:spPr>
          <a:xfrm>
            <a:off x="6372225" y="3086100"/>
            <a:ext cx="21621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недостаје једна чињеница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76BEA05-4869-469C-8937-703B8FB847BA}"/>
              </a:ext>
            </a:extLst>
          </p:cNvPr>
          <p:cNvSpPr>
            <a:spLocks noGrp="1"/>
          </p:cNvSpPr>
          <p:nvPr/>
        </p:nvSpPr>
        <p:spPr>
          <a:xfrm>
            <a:off x="8943975" y="2343150"/>
            <a:ext cx="2447925" cy="1181100"/>
          </a:xfrm>
          <a:prstGeom prst="roundRect">
            <a:avLst>
              <a:gd name="adj" fmla="val 11290"/>
            </a:avLst>
          </a:prstGeom>
          <a:solidFill>
            <a:srgbClr val="EDF8F2"/>
          </a:solidFill>
          <a:ln w="9525">
            <a:solidFill>
              <a:srgbClr val="D7DEE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10">
            <a:scrgbClr r="0" g="0" b="0"/>
          </a:effectRef>
          <a:fontRef idx="major"/>
        </p:style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7C2E43E-0D94-4B2F-9ADB-FEF5E07C012F}"/>
              </a:ext>
            </a:extLst>
          </p:cNvPr>
          <p:cNvSpPr>
            <a:spLocks noGrp="1"/>
          </p:cNvSpPr>
          <p:nvPr/>
        </p:nvSpPr>
        <p:spPr>
          <a:xfrm>
            <a:off x="9086850" y="2457450"/>
            <a:ext cx="2162175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  <a:buNone/>
              <a:defRPr sz="975" b="1">
                <a:solidFill>
                  <a:srgbClr val="138A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38A5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0CE209F-1332-49FF-8DEC-AF0A5D6EDFF0}"/>
              </a:ext>
            </a:extLst>
          </p:cNvPr>
          <p:cNvSpPr>
            <a:spLocks noGrp="1"/>
          </p:cNvSpPr>
          <p:nvPr/>
        </p:nvSpPr>
        <p:spPr>
          <a:xfrm>
            <a:off x="9086850" y="2705100"/>
            <a:ext cx="21621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5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A202C"/>
                </a:solidFill>
                <a:latin typeface="Aptos"/>
                <a:ea typeface="Aptos"/>
                <a:cs typeface="Aptos"/>
              </a:rPr>
              <a:t>Проверите audit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CDAF90-66CB-4EF2-BFF6-6EEC47EBCBC4}"/>
              </a:ext>
            </a:extLst>
          </p:cNvPr>
          <p:cNvSpPr>
            <a:spLocks noGrp="1"/>
          </p:cNvSpPr>
          <p:nvPr/>
        </p:nvSpPr>
        <p:spPr>
          <a:xfrm>
            <a:off x="9086850" y="3086100"/>
            <a:ext cx="216217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00000"/>
              </a:lnSpc>
              <a:buNone/>
              <a:defRPr sz="1125" b="0">
                <a:solidFill>
                  <a:srgbClr val="65718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7184"/>
                </a:solidFill>
                <a:latin typeface="Aptos"/>
                <a:ea typeface="Aptos"/>
                <a:cs typeface="Aptos"/>
              </a:rPr>
              <a:t>actor, action, target, outcome</a:t>
            </a:r>
          </a:p>
        </p:txBody>
      </p:sp>
      <p:cxnSp>
        <p:nvCxnSpPr>
          <p:cNvPr id="126" name="Straight Arrow Connector 125"/>
          <p:cNvCxnSpPr>
            <a:stCxn id="6" idx="3"/>
            <a:endCxn id="10" idx="1"/>
          </p:cNvCxnSpPr>
          <p:nvPr/>
        </p:nvCxnSpPr>
        <p:spPr>
          <a:xfrm>
            <a:off x="3248025" y="2933700"/>
            <a:ext cx="266700" cy="0"/>
          </a:xfrm>
          <a:prstGeom prst="straightConnector1">
            <a:avLst/>
          </a:prstGeom>
          <a:ln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27" name="Straight Arrow Connector 126"/>
          <p:cNvCxnSpPr>
            <a:stCxn id="10" idx="3"/>
            <a:endCxn id="14" idx="1"/>
          </p:cNvCxnSpPr>
          <p:nvPr/>
        </p:nvCxnSpPr>
        <p:spPr>
          <a:xfrm>
            <a:off x="5962650" y="2933700"/>
            <a:ext cx="266700" cy="0"/>
          </a:xfrm>
          <a:prstGeom prst="straightConnector1">
            <a:avLst/>
          </a:prstGeom>
          <a:ln w="14288">
            <a:solidFill>
              <a:srgbClr val="748092"/>
            </a:solidFill>
            <a:prstDash val="solid"/>
            <a:tailEnd type="arrow" w="sm" len="sm"/>
          </a:ln>
        </p:spPr>
      </p:cxnSp>
      <p:cxnSp>
        <p:nvCxnSpPr>
          <p:cNvPr id="128" name="Straight Arrow Connector 127"/>
          <p:cNvCxnSpPr>
            <a:stCxn id="14" idx="3"/>
            <a:endCxn id="18" idx="1"/>
          </p:cNvCxnSpPr>
          <p:nvPr/>
        </p:nvCxnSpPr>
        <p:spPr>
          <a:xfrm>
            <a:off x="8677275" y="2933700"/>
            <a:ext cx="266700" cy="0"/>
          </a:xfrm>
          <a:prstGeom prst="straightConnector1">
            <a:avLst/>
          </a:prstGeom>
          <a:ln w="14288">
            <a:solidFill>
              <a:srgbClr val="748092"/>
            </a:solidFill>
            <a:prstDash val="solid"/>
            <a:tailEnd type="arrow" w="sm" len="sm"/>
          </a:ln>
        </p:spPr>
      </p:cxn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9D50769C-E494-4455-A490-81236F41F750}"/>
              </a:ext>
            </a:extLst>
          </p:cNvPr>
          <p:cNvSpPr>
            <a:spLocks noGrp="1"/>
          </p:cNvSpPr>
          <p:nvPr/>
        </p:nvSpPr>
        <p:spPr>
          <a:xfrm>
            <a:off x="914400" y="4276725"/>
            <a:ext cx="10363200" cy="1066800"/>
          </a:xfrm>
          <a:prstGeom prst="roundRect">
            <a:avLst>
              <a:gd name="adj" fmla="val 12500"/>
            </a:avLst>
          </a:prstGeom>
          <a:solidFill>
            <a:srgbClr val="EEF3FF"/>
          </a:solidFill>
          <a:ln w="8573">
            <a:solidFill>
              <a:srgbClr val="CAD7F2"/>
            </a:solidFill>
            <a:prstDash val="solid"/>
          </a:ln>
        </p:spPr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53A94149-18D8-4728-8907-738AF2EDAE37}"/>
              </a:ext>
            </a:extLst>
          </p:cNvPr>
          <p:cNvSpPr>
            <a:spLocks noGrp="1"/>
          </p:cNvSpPr>
          <p:nvPr/>
        </p:nvSpPr>
        <p:spPr>
          <a:xfrm>
            <a:off x="1085850" y="4429125"/>
            <a:ext cx="57150" cy="762000"/>
          </a:xfrm>
          <a:prstGeom prst="roundRect">
            <a:avLst>
              <a:gd name="adj" fmla="val 50000"/>
            </a:avLst>
          </a:prstGeom>
          <a:solidFill>
            <a:srgbClr val="2F5EF5"/>
          </a:solidFill>
          <a:ln w="0">
            <a:noFill/>
          </a:ln>
        </p:spPr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6392A1D-2970-4A0C-B088-7947A0C3D13B}"/>
              </a:ext>
            </a:extLst>
          </p:cNvPr>
          <p:cNvSpPr>
            <a:spLocks noGrp="1"/>
          </p:cNvSpPr>
          <p:nvPr/>
        </p:nvSpPr>
        <p:spPr>
          <a:xfrm>
            <a:off x="1333500" y="4381500"/>
            <a:ext cx="96393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buNone/>
              <a:defRPr sz="1013" b="1">
                <a:solidFill>
                  <a:srgbClr val="2854D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854D7"/>
                </a:solidFill>
                <a:latin typeface="Aptos"/>
                <a:ea typeface="Aptos"/>
                <a:cs typeface="Aptos"/>
              </a:rPr>
              <a:t>РЕЗУЛТАТ ЗА РЕПОЗИТОРИЈУМ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71973BE5-1A6A-493C-AD51-E5AFE22BDF94}"/>
              </a:ext>
            </a:extLst>
          </p:cNvPr>
          <p:cNvSpPr>
            <a:spLocks noGrp="1"/>
          </p:cNvSpPr>
          <p:nvPr/>
        </p:nvSpPr>
        <p:spPr>
          <a:xfrm>
            <a:off x="1333500" y="4610100"/>
            <a:ext cx="96393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88" b="1">
                <a:solidFill>
                  <a:srgbClr val="1B2432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B2432"/>
                </a:solidFill>
                <a:latin typeface="Aptos"/>
                <a:ea typeface="Aptos"/>
                <a:cs typeface="Aptos"/>
              </a:rPr>
              <a:t>Резултат за репозиторијум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24A486D7-0CE0-4C8A-AA82-4D3E92137A37}"/>
              </a:ext>
            </a:extLst>
          </p:cNvPr>
          <p:cNvSpPr>
            <a:spLocks noGrp="1"/>
          </p:cNvSpPr>
          <p:nvPr/>
        </p:nvSpPr>
        <p:spPr>
          <a:xfrm>
            <a:off x="1333500" y="4943475"/>
            <a:ext cx="9639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275" b="0">
                <a:solidFill>
                  <a:srgbClr val="52637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37B"/>
                </a:solidFill>
                <a:latin typeface="Aptos"/>
                <a:ea typeface="Aptos"/>
                <a:cs typeface="Aptos"/>
              </a:rPr>
              <a:t>Мала серверска промена, позитиван и негативан тест и кратко објашњење зашто дозвола има баш тај опсег.</a:t>
            </a:r>
          </a:p>
        </p:txBody>
      </p:sp>
    </p:spTree>
    <p:extLst>
      <p:ext uri="{BB962C8B-B14F-4D97-AF65-F5344CB8AC3E}">
        <p14:creationId xmlns:p14="http://schemas.microsoft.com/office/powerpoint/2010/main" val="64114832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2059</Words>
  <Application>Microsoft Macintosh PowerPoint</Application>
  <DocSecurity>0</DocSecurity>
  <PresentationFormat>Widescreen</PresentationFormat>
  <Paragraphs>390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Calibri</vt:lpstr>
      <vt:lpstr>Consolas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Jovanović Danijel</cp:lastModifiedBy>
  <cp:revision>10</cp:revision>
  <dcterms:created xsi:type="dcterms:W3CDTF">2026-09-29T08:52:42Z</dcterms:created>
  <dcterms:modified xsi:type="dcterms:W3CDTF">2026-09-29T09:09:15Z</dcterms:modified>
</cp:coreProperties>
</file>