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Извор: oibThematicExercises.ts и oibThematicPresentations.ts.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B0E6D2A-B684-4BFE-AA69-8A154E137B3C}"/>
              </a:ext>
            </a:extLst>
          </p:cNvPr>
          <p:cNvSpPr>
            <a:spLocks noGrp="1"/>
          </p:cNvSpPr>
          <p:nvPr/>
        </p:nvSpPr>
        <p:spPr>
          <a:xfrm>
            <a:off x="914400" y="590550"/>
            <a:ext cx="7810500" cy="228600"/>
          </a:xfrm>
          <a:prstGeom prst="rect">
            <a:avLst/>
          </a:prstGeom>
          <a:noFill/>
          <a:ln w="0">
            <a:noFill/>
          </a:ln>
        </p:spPr>
        <p:txBody>
          <a:bodyPr wrap="square" lIns="0" tIns="0" rIns="0" bIns="0" anchor="t">
            <a:normAutofit/>
          </a:bodyPr>
          <a:lstStyle/>
          <a:p>
            <a:pPr algn="l">
              <a:lnSpc>
                <a:spcPct val="100000"/>
              </a:lnSpc>
              <a:buNone/>
              <a:defRPr sz="1050" b="1">
                <a:solidFill>
                  <a:srgbClr val="647084"/>
                </a:solidFill>
                <a:latin typeface="Aptos"/>
                <a:ea typeface="Aptos"/>
                <a:cs typeface="Aptos"/>
              </a:defRPr>
            </a:pPr>
            <a:r>
              <a:rPr sz="1050" b="1">
                <a:solidFill>
                  <a:srgbClr val="6470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7AB27BD4-A743-47CA-94F0-5E557748A3AD}"/>
              </a:ext>
            </a:extLst>
          </p:cNvPr>
          <p:cNvSpPr>
            <a:spLocks noGrp="1"/>
          </p:cNvSpPr>
          <p:nvPr/>
        </p:nvSpPr>
        <p:spPr>
          <a:xfrm>
            <a:off x="914400" y="1009650"/>
            <a:ext cx="10363200" cy="9525"/>
          </a:xfrm>
          <a:prstGeom prst="line">
            <a:avLst/>
          </a:prstGeom>
          <a:noFill/>
          <a:ln w="8573">
            <a:solidFill>
              <a:srgbClr val="7F8B9B"/>
            </a:solidFill>
            <a:prstDash val="solid"/>
          </a:ln>
        </p:spPr>
      </p:sp>
      <p:sp>
        <p:nvSpPr>
          <p:cNvPr id="3" name="Rounded Rectangle 2">
            <a:extLst>
              <a:ext uri="{FF2B5EF4-FFF2-40B4-BE49-F238E27FC236}">
                <a16:creationId xmlns:a16="http://schemas.microsoft.com/office/drawing/2014/main" id="{E6F14CF2-0DF6-4E2C-8D04-3A79A06B65E1}"/>
              </a:ext>
            </a:extLst>
          </p:cNvPr>
          <p:cNvSpPr>
            <a:spLocks noGrp="1"/>
          </p:cNvSpPr>
          <p:nvPr/>
        </p:nvSpPr>
        <p:spPr>
          <a:xfrm>
            <a:off x="914400" y="1438275"/>
            <a:ext cx="647700" cy="66675"/>
          </a:xfrm>
          <a:prstGeom prst="roundRect">
            <a:avLst>
              <a:gd name="adj" fmla="val 50000"/>
            </a:avLst>
          </a:prstGeom>
          <a:solidFill>
            <a:srgbClr val="315CF4"/>
          </a:solidFill>
          <a:ln w="0">
            <a:noFill/>
          </a:ln>
        </p:spPr>
      </p:sp>
      <p:sp>
        <p:nvSpPr>
          <p:cNvPr id="4" name="Rectangle 3">
            <a:extLst>
              <a:ext uri="{FF2B5EF4-FFF2-40B4-BE49-F238E27FC236}">
                <a16:creationId xmlns:a16="http://schemas.microsoft.com/office/drawing/2014/main" id="{78BA2D62-2C26-460E-9F02-6B5CB205F89E}"/>
              </a:ext>
            </a:extLst>
          </p:cNvPr>
          <p:cNvSpPr>
            <a:spLocks noGrp="1"/>
          </p:cNvSpPr>
          <p:nvPr/>
        </p:nvSpPr>
        <p:spPr>
          <a:xfrm>
            <a:off x="914400" y="1771650"/>
            <a:ext cx="10363200" cy="1562100"/>
          </a:xfrm>
          <a:prstGeom prst="rect">
            <a:avLst/>
          </a:prstGeom>
          <a:noFill/>
          <a:ln w="0">
            <a:noFill/>
          </a:ln>
        </p:spPr>
        <p:txBody>
          <a:bodyPr wrap="square" lIns="0" tIns="0" rIns="0" bIns="0" anchor="ctr">
            <a:normAutofit/>
          </a:bodyPr>
          <a:lstStyle/>
          <a:p>
            <a:pPr algn="l">
              <a:lnSpc>
                <a:spcPct val="94000"/>
              </a:lnSpc>
              <a:buNone/>
              <a:defRPr sz="3450" b="1">
                <a:solidFill>
                  <a:srgbClr val="1A202C"/>
                </a:solidFill>
                <a:latin typeface="Aptos Display"/>
                <a:ea typeface="Aptos Display"/>
                <a:cs typeface="Aptos Display"/>
              </a:defRPr>
            </a:pPr>
            <a:r>
              <a:rPr sz="3450" b="1">
                <a:solidFill>
                  <a:srgbClr val="1A202C"/>
                </a:solidFill>
                <a:latin typeface="Aptos Display"/>
                <a:ea typeface="Aptos Display"/>
                <a:cs typeface="Aptos Display"/>
              </a:rPr>
              <a:t>Атрибути, ризик и периодични преглед приступа</a:t>
            </a:r>
          </a:p>
        </p:txBody>
      </p:sp>
      <p:sp>
        <p:nvSpPr>
          <p:cNvPr id="5" name="Rectangle 4">
            <a:extLst>
              <a:ext uri="{FF2B5EF4-FFF2-40B4-BE49-F238E27FC236}">
                <a16:creationId xmlns:a16="http://schemas.microsoft.com/office/drawing/2014/main" id="{7DB7F43A-6087-4653-8FD2-5E699B10E632}"/>
              </a:ext>
            </a:extLst>
          </p:cNvPr>
          <p:cNvSpPr>
            <a:spLocks noGrp="1"/>
          </p:cNvSpPr>
          <p:nvPr/>
        </p:nvSpPr>
        <p:spPr>
          <a:xfrm>
            <a:off x="933450" y="3600450"/>
            <a:ext cx="9620250" cy="723900"/>
          </a:xfrm>
          <a:prstGeom prst="rect">
            <a:avLst/>
          </a:prstGeom>
          <a:noFill/>
          <a:ln w="0">
            <a:noFill/>
          </a:ln>
        </p:spPr>
        <p:txBody>
          <a:bodyPr wrap="square" lIns="0" tIns="0" rIns="0" bIns="0" anchor="ctr">
            <a:normAutofit/>
          </a:bodyPr>
          <a:lstStyle/>
          <a:p>
            <a:pPr algn="l">
              <a:lnSpc>
                <a:spcPct val="104000"/>
              </a:lnSpc>
              <a:buNone/>
              <a:defRPr sz="1725" b="0">
                <a:solidFill>
                  <a:srgbClr val="647084"/>
                </a:solidFill>
                <a:latin typeface="Aptos"/>
                <a:ea typeface="Aptos"/>
                <a:cs typeface="Aptos"/>
              </a:defRPr>
            </a:pPr>
            <a:r>
              <a:rPr sz="1725" b="0">
                <a:solidFill>
                  <a:srgbClr val="647084"/>
                </a:solidFill>
                <a:latin typeface="Aptos"/>
                <a:ea typeface="Aptos"/>
                <a:cs typeface="Aptos"/>
              </a:rPr>
              <a:t>Иста улога не значи исто право у сваком контексту</a:t>
            </a:r>
          </a:p>
        </p:txBody>
      </p:sp>
      <p:sp>
        <p:nvSpPr>
          <p:cNvPr id="6" name="Straight Connector 5">
            <a:extLst>
              <a:ext uri="{FF2B5EF4-FFF2-40B4-BE49-F238E27FC236}">
                <a16:creationId xmlns:a16="http://schemas.microsoft.com/office/drawing/2014/main" id="{FA6191B0-C333-4A43-AC73-1F055EA7F108}"/>
              </a:ext>
            </a:extLst>
          </p:cNvPr>
          <p:cNvSpPr>
            <a:spLocks noGrp="1"/>
          </p:cNvSpPr>
          <p:nvPr/>
        </p:nvSpPr>
        <p:spPr>
          <a:xfrm>
            <a:off x="914400" y="5286375"/>
            <a:ext cx="10363200" cy="9525"/>
          </a:xfrm>
          <a:prstGeom prst="line">
            <a:avLst/>
          </a:prstGeom>
          <a:noFill/>
          <a:ln w="9525">
            <a:solidFill>
              <a:srgbClr val="CBD5E1"/>
            </a:solidFill>
            <a:prstDash val="solid"/>
          </a:ln>
        </p:spPr>
      </p:sp>
      <p:sp>
        <p:nvSpPr>
          <p:cNvPr id="7" name="Rectangle 6">
            <a:extLst>
              <a:ext uri="{FF2B5EF4-FFF2-40B4-BE49-F238E27FC236}">
                <a16:creationId xmlns:a16="http://schemas.microsoft.com/office/drawing/2014/main" id="{8B4A651A-36AB-4EB8-948E-47E48DA6E5CB}"/>
              </a:ext>
            </a:extLst>
          </p:cNvPr>
          <p:cNvSpPr>
            <a:spLocks noGrp="1"/>
          </p:cNvSpPr>
          <p:nvPr/>
        </p:nvSpPr>
        <p:spPr>
          <a:xfrm>
            <a:off x="914400" y="5581650"/>
            <a:ext cx="4000500" cy="247650"/>
          </a:xfrm>
          <a:prstGeom prst="rect">
            <a:avLst/>
          </a:prstGeom>
          <a:noFill/>
          <a:ln w="0">
            <a:noFill/>
          </a:ln>
        </p:spPr>
        <p:txBody>
          <a:bodyPr wrap="square" lIns="0" tIns="0" rIns="0" bIns="0" anchor="t">
            <a:normAutofit/>
          </a:bodyPr>
          <a:lstStyle/>
          <a:p>
            <a:pPr algn="l">
              <a:lnSpc>
                <a:spcPct val="100000"/>
              </a:lnSpc>
              <a:buNone/>
              <a:defRPr sz="1200" b="1">
                <a:solidFill>
                  <a:srgbClr val="1A202C"/>
                </a:solidFill>
                <a:latin typeface="Aptos"/>
                <a:ea typeface="Aptos"/>
                <a:cs typeface="Aptos"/>
              </a:defRPr>
            </a:pPr>
            <a:r>
              <a:rPr sz="1200" b="1">
                <a:solidFill>
                  <a:srgbClr val="1A202C"/>
                </a:solidFill>
                <a:latin typeface="Aptos"/>
                <a:ea typeface="Aptos"/>
                <a:cs typeface="Aptos"/>
              </a:rPr>
              <a:t>ОИБ · 5. семестар</a:t>
            </a:r>
          </a:p>
        </p:txBody>
      </p:sp>
      <p:sp>
        <p:nvSpPr>
          <p:cNvPr id="8" name="Rectangle 7">
            <a:extLst>
              <a:ext uri="{FF2B5EF4-FFF2-40B4-BE49-F238E27FC236}">
                <a16:creationId xmlns:a16="http://schemas.microsoft.com/office/drawing/2014/main" id="{A2FFD508-BD9F-46E4-853D-488428BF74BA}"/>
              </a:ext>
            </a:extLst>
          </p:cNvPr>
          <p:cNvSpPr>
            <a:spLocks noGrp="1"/>
          </p:cNvSpPr>
          <p:nvPr/>
        </p:nvSpPr>
        <p:spPr>
          <a:xfrm>
            <a:off x="8096250" y="5581650"/>
            <a:ext cx="3181350" cy="247650"/>
          </a:xfrm>
          <a:prstGeom prst="rect">
            <a:avLst/>
          </a:prstGeom>
          <a:noFill/>
          <a:ln w="0">
            <a:noFill/>
          </a:ln>
        </p:spPr>
        <p:txBody>
          <a:bodyPr wrap="square" lIns="0" tIns="0" rIns="0" bIns="0" anchor="t">
            <a:normAutofit/>
          </a:bodyPr>
          <a:lstStyle/>
          <a:p>
            <a:pPr algn="r">
              <a:lnSpc>
                <a:spcPct val="100000"/>
              </a:lnSpc>
              <a:buNone/>
              <a:defRPr sz="1200" b="0">
                <a:solidFill>
                  <a:srgbClr val="647084"/>
                </a:solidFill>
                <a:latin typeface="Aptos"/>
                <a:ea typeface="Aptos"/>
                <a:cs typeface="Aptos"/>
              </a:defRPr>
            </a:pPr>
            <a:r>
              <a:rPr sz="1200" b="0">
                <a:solidFill>
                  <a:srgbClr val="647084"/>
                </a:solidFill>
                <a:latin typeface="Aptos"/>
                <a:ea typeface="Aptos"/>
                <a:cs typeface="Aptos"/>
              </a:rPr>
              <a:t>Академска 2026/27</a:t>
            </a:r>
          </a:p>
        </p:txBody>
      </p:sp>
    </p:spTree>
    <p:extLst>
      <p:ext uri="{BB962C8B-B14F-4D97-AF65-F5344CB8AC3E}">
        <p14:creationId xmlns:p14="http://schemas.microsoft.com/office/powerpoint/2010/main" val="1896834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A54CD75-93E8-46B3-88FD-88E3211329B1}"/>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51BA85CA-59AD-4BCD-8E15-802632FCB3EA}"/>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125B35A2-84A0-4ABE-B366-6B95D40BCC39}"/>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2</a:t>
            </a:r>
          </a:p>
        </p:txBody>
      </p:sp>
      <p:sp>
        <p:nvSpPr>
          <p:cNvPr id="4" name="Rectangle 3">
            <a:extLst>
              <a:ext uri="{FF2B5EF4-FFF2-40B4-BE49-F238E27FC236}">
                <a16:creationId xmlns:a16="http://schemas.microsoft.com/office/drawing/2014/main" id="{64D6B80F-C151-4DFB-B7F9-68F858EE06BC}"/>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Проблем који решавамо</a:t>
            </a:r>
          </a:p>
        </p:txBody>
      </p:sp>
      <p:sp>
        <p:nvSpPr>
          <p:cNvPr id="5" name="Rectangle 4">
            <a:extLst>
              <a:ext uri="{FF2B5EF4-FFF2-40B4-BE49-F238E27FC236}">
                <a16:creationId xmlns:a16="http://schemas.microsoft.com/office/drawing/2014/main" id="{09F13FA1-82D2-487E-8441-B2C44591A1C3}"/>
              </a:ext>
            </a:extLst>
          </p:cNvPr>
          <p:cNvSpPr>
            <a:spLocks noGrp="1"/>
          </p:cNvSpPr>
          <p:nvPr/>
        </p:nvSpPr>
        <p:spPr>
          <a:xfrm>
            <a:off x="685800" y="1428750"/>
            <a:ext cx="10820400" cy="457200"/>
          </a:xfrm>
          <a:prstGeom prst="rect">
            <a:avLst/>
          </a:prstGeom>
          <a:noFill/>
          <a:ln w="0">
            <a:noFill/>
          </a:ln>
        </p:spPr>
        <p:txBody>
          <a:bodyPr wrap="square" lIns="0" tIns="0" rIns="0" bIns="0" anchor="t">
            <a:normAutofit fontScale="89840"/>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RBAC даје стабилну основу, али сложеније одлуке често зависе и од контекста: припадности, врсте података, времена, стања ресурса или нивоа ризика. Атрибутска правила уводе тај контекст без претварања сваке могуће комбинације у нову улогу.</a:t>
            </a:r>
          </a:p>
        </p:txBody>
      </p:sp>
      <p:sp>
        <p:nvSpPr>
          <p:cNvPr id="6" name="Rounded Rectangle 5">
            <a:extLst>
              <a:ext uri="{FF2B5EF4-FFF2-40B4-BE49-F238E27FC236}">
                <a16:creationId xmlns:a16="http://schemas.microsoft.com/office/drawing/2014/main" id="{6A0EA668-8A62-4ADA-9740-5EA3851A3081}"/>
              </a:ext>
            </a:extLst>
          </p:cNvPr>
          <p:cNvSpPr>
            <a:spLocks noGrp="1"/>
          </p:cNvSpPr>
          <p:nvPr/>
        </p:nvSpPr>
        <p:spPr>
          <a:xfrm>
            <a:off x="819150" y="2571750"/>
            <a:ext cx="3257550" cy="2228850"/>
          </a:xfrm>
          <a:prstGeom prst="roundRect">
            <a:avLst>
              <a:gd name="adj" fmla="val 5983"/>
            </a:avLst>
          </a:prstGeom>
          <a:solidFill>
            <a:srgbClr val="FFF0F0"/>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B8D79833-7930-4DF7-B757-05AA4C7A8810}"/>
              </a:ext>
            </a:extLst>
          </p:cNvPr>
          <p:cNvSpPr>
            <a:spLocks noGrp="1"/>
          </p:cNvSpPr>
          <p:nvPr/>
        </p:nvSpPr>
        <p:spPr>
          <a:xfrm>
            <a:off x="971550" y="269557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ПРОБЛЕМ</a:t>
            </a:r>
          </a:p>
        </p:txBody>
      </p:sp>
      <p:sp>
        <p:nvSpPr>
          <p:cNvPr id="8" name="Rectangle 7">
            <a:extLst>
              <a:ext uri="{FF2B5EF4-FFF2-40B4-BE49-F238E27FC236}">
                <a16:creationId xmlns:a16="http://schemas.microsoft.com/office/drawing/2014/main" id="{23364A97-1342-40B5-AB25-53CD05C2E2CA}"/>
              </a:ext>
            </a:extLst>
          </p:cNvPr>
          <p:cNvSpPr>
            <a:spLocks noGrp="1"/>
          </p:cNvSpPr>
          <p:nvPr/>
        </p:nvSpPr>
        <p:spPr>
          <a:xfrm>
            <a:off x="971550" y="2943225"/>
            <a:ext cx="2952750" cy="342900"/>
          </a:xfrm>
          <a:prstGeom prst="rect">
            <a:avLst/>
          </a:prstGeom>
          <a:noFill/>
          <a:ln w="0">
            <a:noFill/>
          </a:ln>
        </p:spPr>
        <p:txBody>
          <a:bodyPr wrap="square" lIns="0" tIns="0" rIns="0" bIns="0" anchor="ctr">
            <a:normAutofit/>
          </a:bodyPr>
          <a:lstStyle/>
          <a:p>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Шта може поћи по злу</a:t>
            </a:r>
          </a:p>
        </p:txBody>
      </p:sp>
      <p:sp>
        <p:nvSpPr>
          <p:cNvPr id="9" name="Rectangle 8">
            <a:extLst>
              <a:ext uri="{FF2B5EF4-FFF2-40B4-BE49-F238E27FC236}">
                <a16:creationId xmlns:a16="http://schemas.microsoft.com/office/drawing/2014/main" id="{B7DFCA31-25A0-4B92-9B61-46962D0822B1}"/>
              </a:ext>
            </a:extLst>
          </p:cNvPr>
          <p:cNvSpPr>
            <a:spLocks noGrp="1"/>
          </p:cNvSpPr>
          <p:nvPr/>
        </p:nvSpPr>
        <p:spPr>
          <a:xfrm>
            <a:off x="971550" y="3352800"/>
            <a:ext cx="2952750" cy="1343025"/>
          </a:xfrm>
          <a:prstGeom prst="rect">
            <a:avLst/>
          </a:prstGeom>
          <a:noFill/>
          <a:ln w="0">
            <a:noFill/>
          </a:ln>
        </p:spPr>
        <p:txBody>
          <a:bodyPr wrap="square" lIns="0" tIns="0" rIns="0" bIns="0" anchor="t">
            <a:normAutofit fontScale="87975"/>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RBAC даје стабилну основу, али сложеније одлуке често зависе и од контекста: припадности, врсте података, времена, стања ресурса или нивоа ризика. Атрибутска правила уводе тај контекст без претварања сваке могуће комбинације у нову улогу.</a:t>
            </a:r>
          </a:p>
        </p:txBody>
      </p:sp>
      <p:sp>
        <p:nvSpPr>
          <p:cNvPr id="10" name="Rounded Rectangle 9">
            <a:extLst>
              <a:ext uri="{FF2B5EF4-FFF2-40B4-BE49-F238E27FC236}">
                <a16:creationId xmlns:a16="http://schemas.microsoft.com/office/drawing/2014/main" id="{A71E3580-2044-42AA-B312-1F1996972040}"/>
              </a:ext>
            </a:extLst>
          </p:cNvPr>
          <p:cNvSpPr>
            <a:spLocks noGrp="1"/>
          </p:cNvSpPr>
          <p:nvPr/>
        </p:nvSpPr>
        <p:spPr>
          <a:xfrm>
            <a:off x="4467225" y="2571750"/>
            <a:ext cx="3257550" cy="2228850"/>
          </a:xfrm>
          <a:prstGeom prst="roundRect">
            <a:avLst>
              <a:gd name="adj" fmla="val 5983"/>
            </a:avLst>
          </a:prstGeom>
          <a:solidFill>
            <a:srgbClr val="FFF6E9"/>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E4AD8281-4FD8-4640-8DE7-5211C8D10BC5}"/>
              </a:ext>
            </a:extLst>
          </p:cNvPr>
          <p:cNvSpPr>
            <a:spLocks noGrp="1"/>
          </p:cNvSpPr>
          <p:nvPr/>
        </p:nvSpPr>
        <p:spPr>
          <a:xfrm>
            <a:off x="4619625" y="269557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ЗАШТО</a:t>
            </a:r>
          </a:p>
        </p:txBody>
      </p:sp>
      <p:sp>
        <p:nvSpPr>
          <p:cNvPr id="12" name="Rectangle 11">
            <a:extLst>
              <a:ext uri="{FF2B5EF4-FFF2-40B4-BE49-F238E27FC236}">
                <a16:creationId xmlns:a16="http://schemas.microsoft.com/office/drawing/2014/main" id="{18A09451-7E90-4DDE-97F6-6EE1A2982F51}"/>
              </a:ext>
            </a:extLst>
          </p:cNvPr>
          <p:cNvSpPr>
            <a:spLocks noGrp="1"/>
          </p:cNvSpPr>
          <p:nvPr/>
        </p:nvSpPr>
        <p:spPr>
          <a:xfrm>
            <a:off x="4619625" y="2943225"/>
            <a:ext cx="2952750" cy="342900"/>
          </a:xfrm>
          <a:prstGeom prst="rect">
            <a:avLst/>
          </a:prstGeom>
          <a:noFill/>
          <a:ln w="0">
            <a:noFill/>
          </a:ln>
        </p:spPr>
        <p:txBody>
          <a:bodyPr wrap="square" lIns="0" tIns="0" rIns="0" bIns="0" anchor="ctr">
            <a:normAutofit/>
          </a:bodyPr>
          <a:lstStyle/>
          <a:p>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Зашто је тема важна</a:t>
            </a:r>
          </a:p>
        </p:txBody>
      </p:sp>
      <p:sp>
        <p:nvSpPr>
          <p:cNvPr id="13" name="Rectangle 12">
            <a:extLst>
              <a:ext uri="{FF2B5EF4-FFF2-40B4-BE49-F238E27FC236}">
                <a16:creationId xmlns:a16="http://schemas.microsoft.com/office/drawing/2014/main" id="{12A34F80-72FF-4322-A677-5E27DFC28371}"/>
              </a:ext>
            </a:extLst>
          </p:cNvPr>
          <p:cNvSpPr>
            <a:spLocks noGrp="1"/>
          </p:cNvSpPr>
          <p:nvPr/>
        </p:nvSpPr>
        <p:spPr>
          <a:xfrm>
            <a:off x="4619625" y="3352800"/>
            <a:ext cx="2952750" cy="1343025"/>
          </a:xfrm>
          <a:prstGeom prst="rect">
            <a:avLst/>
          </a:prstGeom>
          <a:noFill/>
          <a:ln w="0">
            <a:noFill/>
          </a:ln>
        </p:spPr>
        <p:txBody>
          <a:bodyPr wrap="square" lIns="0" tIns="0" rIns="0" bIns="0" anchor="t">
            <a:normAutofit fontScale="91231"/>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Risk register и редован преглед приступа спречавају да се старе одлуке претворе у трајне претпоставке. Они чине видљивим преостали ризик, власништво над њим и тренутак када одлуку треба преиспитати.</a:t>
            </a:r>
          </a:p>
        </p:txBody>
      </p:sp>
      <p:sp>
        <p:nvSpPr>
          <p:cNvPr id="14" name="Rounded Rectangle 13">
            <a:extLst>
              <a:ext uri="{FF2B5EF4-FFF2-40B4-BE49-F238E27FC236}">
                <a16:creationId xmlns:a16="http://schemas.microsoft.com/office/drawing/2014/main" id="{D6B62208-75C3-4D58-9C43-CECDF88B5880}"/>
              </a:ext>
            </a:extLst>
          </p:cNvPr>
          <p:cNvSpPr>
            <a:spLocks noGrp="1"/>
          </p:cNvSpPr>
          <p:nvPr/>
        </p:nvSpPr>
        <p:spPr>
          <a:xfrm>
            <a:off x="8115300" y="2571750"/>
            <a:ext cx="3257550" cy="2228850"/>
          </a:xfrm>
          <a:prstGeom prst="roundRect">
            <a:avLst>
              <a:gd name="adj" fmla="val 5983"/>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1918CD9E-078A-4A56-88BA-2D12540B9987}"/>
              </a:ext>
            </a:extLst>
          </p:cNvPr>
          <p:cNvSpPr>
            <a:spLocks noGrp="1"/>
          </p:cNvSpPr>
          <p:nvPr/>
        </p:nvSpPr>
        <p:spPr>
          <a:xfrm>
            <a:off x="8267700" y="269557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ИСХОД</a:t>
            </a:r>
          </a:p>
        </p:txBody>
      </p:sp>
      <p:sp>
        <p:nvSpPr>
          <p:cNvPr id="16" name="Rectangle 15">
            <a:extLst>
              <a:ext uri="{FF2B5EF4-FFF2-40B4-BE49-F238E27FC236}">
                <a16:creationId xmlns:a16="http://schemas.microsoft.com/office/drawing/2014/main" id="{15B733EA-1A22-49F1-A622-EC1B1244A01B}"/>
              </a:ext>
            </a:extLst>
          </p:cNvPr>
          <p:cNvSpPr>
            <a:spLocks noGrp="1"/>
          </p:cNvSpPr>
          <p:nvPr/>
        </p:nvSpPr>
        <p:spPr>
          <a:xfrm>
            <a:off x="8267700" y="2943225"/>
            <a:ext cx="2952750" cy="342900"/>
          </a:xfrm>
          <a:prstGeom prst="rect">
            <a:avLst/>
          </a:prstGeom>
          <a:noFill/>
          <a:ln w="0">
            <a:noFill/>
          </a:ln>
        </p:spPr>
        <p:txBody>
          <a:bodyPr wrap="square" lIns="0" tIns="0" rIns="0" bIns="0" anchor="ctr">
            <a:normAutofit/>
          </a:bodyPr>
          <a:lstStyle/>
          <a:p>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Шта треба доказати</a:t>
            </a:r>
          </a:p>
        </p:txBody>
      </p:sp>
      <p:sp>
        <p:nvSpPr>
          <p:cNvPr id="17" name="Rectangle 16">
            <a:extLst>
              <a:ext uri="{FF2B5EF4-FFF2-40B4-BE49-F238E27FC236}">
                <a16:creationId xmlns:a16="http://schemas.microsoft.com/office/drawing/2014/main" id="{F6E174E1-7B6F-402E-94F3-2F5ACA784D13}"/>
              </a:ext>
            </a:extLst>
          </p:cNvPr>
          <p:cNvSpPr>
            <a:spLocks noGrp="1"/>
          </p:cNvSpPr>
          <p:nvPr/>
        </p:nvSpPr>
        <p:spPr>
          <a:xfrm>
            <a:off x="8267700" y="3352800"/>
            <a:ext cx="2952750" cy="13430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Одлука је јасна, примењује се на серверу и оставља поновљив доказ успешног и одбијеног исхода.</a:t>
            </a:r>
          </a:p>
        </p:txBody>
      </p:sp>
    </p:spTree>
    <p:extLst>
      <p:ext uri="{BB962C8B-B14F-4D97-AF65-F5344CB8AC3E}">
        <p14:creationId xmlns:p14="http://schemas.microsoft.com/office/powerpoint/2010/main" val="249571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3598ABC-03F3-4421-9187-D57DAE7A97DE}"/>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93965602-7AA8-4E7B-BCFE-51A983E52E0F}"/>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999DF3AE-9421-49DA-A971-8DEE4E64DE95}"/>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3</a:t>
            </a:r>
          </a:p>
        </p:txBody>
      </p:sp>
      <p:sp>
        <p:nvSpPr>
          <p:cNvPr id="4" name="Rectangle 3">
            <a:extLst>
              <a:ext uri="{FF2B5EF4-FFF2-40B4-BE49-F238E27FC236}">
                <a16:creationId xmlns:a16="http://schemas.microsoft.com/office/drawing/2014/main" id="{5FFE250D-F4AA-48F6-8E89-8AAAB92D47FC}"/>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Четири појма граде једну одлуку</a:t>
            </a:r>
          </a:p>
        </p:txBody>
      </p:sp>
      <p:sp>
        <p:nvSpPr>
          <p:cNvPr id="5" name="Rectangle 4">
            <a:extLst>
              <a:ext uri="{FF2B5EF4-FFF2-40B4-BE49-F238E27FC236}">
                <a16:creationId xmlns:a16="http://schemas.microsoft.com/office/drawing/2014/main" id="{E7C18329-24DC-4EC1-B76C-3A557594CE73}"/>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Сваки елемент одговара на друго питање и оставља другачији доказ.</a:t>
            </a:r>
          </a:p>
        </p:txBody>
      </p:sp>
      <p:sp>
        <p:nvSpPr>
          <p:cNvPr id="6" name="Rounded Rectangle 5">
            <a:extLst>
              <a:ext uri="{FF2B5EF4-FFF2-40B4-BE49-F238E27FC236}">
                <a16:creationId xmlns:a16="http://schemas.microsoft.com/office/drawing/2014/main" id="{B3F31949-8FB3-4011-8AA5-44298D91A5B4}"/>
              </a:ext>
            </a:extLst>
          </p:cNvPr>
          <p:cNvSpPr>
            <a:spLocks noGrp="1"/>
          </p:cNvSpPr>
          <p:nvPr/>
        </p:nvSpPr>
        <p:spPr>
          <a:xfrm>
            <a:off x="723900" y="2419350"/>
            <a:ext cx="2471738" cy="1257300"/>
          </a:xfrm>
          <a:prstGeom prst="roundRect">
            <a:avLst>
              <a:gd name="adj" fmla="val 10606"/>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7270358C-A0FE-48D9-9B71-D79CDA1683D2}"/>
              </a:ext>
            </a:extLst>
          </p:cNvPr>
          <p:cNvSpPr>
            <a:spLocks noGrp="1"/>
          </p:cNvSpPr>
          <p:nvPr/>
        </p:nvSpPr>
        <p:spPr>
          <a:xfrm>
            <a:off x="866775" y="253365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86E121FC-F0DA-4E36-8A22-B97A8624B455}"/>
              </a:ext>
            </a:extLst>
          </p:cNvPr>
          <p:cNvSpPr>
            <a:spLocks noGrp="1"/>
          </p:cNvSpPr>
          <p:nvPr/>
        </p:nvSpPr>
        <p:spPr>
          <a:xfrm>
            <a:off x="857250" y="281940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Атрибути</a:t>
            </a:r>
          </a:p>
        </p:txBody>
      </p:sp>
      <p:sp>
        <p:nvSpPr>
          <p:cNvPr id="9" name="Rectangle 8">
            <a:extLst>
              <a:ext uri="{FF2B5EF4-FFF2-40B4-BE49-F238E27FC236}">
                <a16:creationId xmlns:a16="http://schemas.microsoft.com/office/drawing/2014/main" id="{33672A32-0A9F-4562-A23A-BF06840C1ADC}"/>
              </a:ext>
            </a:extLst>
          </p:cNvPr>
          <p:cNvSpPr>
            <a:spLocks noGrp="1"/>
          </p:cNvSpPr>
          <p:nvPr/>
        </p:nvSpPr>
        <p:spPr>
          <a:xfrm>
            <a:off x="866775" y="320992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контекст одлуке</a:t>
            </a:r>
          </a:p>
        </p:txBody>
      </p:sp>
      <p:sp>
        <p:nvSpPr>
          <p:cNvPr id="10" name="Rounded Rectangle 9">
            <a:extLst>
              <a:ext uri="{FF2B5EF4-FFF2-40B4-BE49-F238E27FC236}">
                <a16:creationId xmlns:a16="http://schemas.microsoft.com/office/drawing/2014/main" id="{06B4E239-ED41-42AA-B3F2-F2124589C027}"/>
              </a:ext>
            </a:extLst>
          </p:cNvPr>
          <p:cNvSpPr>
            <a:spLocks noGrp="1"/>
          </p:cNvSpPr>
          <p:nvPr/>
        </p:nvSpPr>
        <p:spPr>
          <a:xfrm>
            <a:off x="3481388" y="2419350"/>
            <a:ext cx="2471738" cy="1257300"/>
          </a:xfrm>
          <a:prstGeom prst="roundRect">
            <a:avLst>
              <a:gd name="adj" fmla="val 10606"/>
            </a:avLst>
          </a:prstGeom>
          <a:solidFill>
            <a:srgbClr val="EDF8FA"/>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6CB68FA7-B6AC-4D7A-852D-750F00739780}"/>
              </a:ext>
            </a:extLst>
          </p:cNvPr>
          <p:cNvSpPr>
            <a:spLocks noGrp="1"/>
          </p:cNvSpPr>
          <p:nvPr/>
        </p:nvSpPr>
        <p:spPr>
          <a:xfrm>
            <a:off x="3624263" y="253365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68496"/>
                </a:solidFill>
                <a:latin typeface="Aptos"/>
                <a:ea typeface="Aptos"/>
                <a:cs typeface="Aptos"/>
              </a:defRPr>
            </a:pPr>
            <a:r>
              <a:rPr sz="1200" b="1">
                <a:solidFill>
                  <a:srgbClr val="168496"/>
                </a:solidFill>
                <a:latin typeface="Aptos"/>
                <a:ea typeface="Aptos"/>
                <a:cs typeface="Aptos"/>
              </a:rPr>
              <a:t>02</a:t>
            </a:r>
          </a:p>
        </p:txBody>
      </p:sp>
      <p:sp>
        <p:nvSpPr>
          <p:cNvPr id="12" name="Rectangle 11">
            <a:extLst>
              <a:ext uri="{FF2B5EF4-FFF2-40B4-BE49-F238E27FC236}">
                <a16:creationId xmlns:a16="http://schemas.microsoft.com/office/drawing/2014/main" id="{D47589B8-4AF0-403C-BCEC-270FF64D96A4}"/>
              </a:ext>
            </a:extLst>
          </p:cNvPr>
          <p:cNvSpPr>
            <a:spLocks noGrp="1"/>
          </p:cNvSpPr>
          <p:nvPr/>
        </p:nvSpPr>
        <p:spPr>
          <a:xfrm>
            <a:off x="3614738" y="281940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Политика</a:t>
            </a:r>
          </a:p>
        </p:txBody>
      </p:sp>
      <p:sp>
        <p:nvSpPr>
          <p:cNvPr id="13" name="Rectangle 12">
            <a:extLst>
              <a:ext uri="{FF2B5EF4-FFF2-40B4-BE49-F238E27FC236}">
                <a16:creationId xmlns:a16="http://schemas.microsoft.com/office/drawing/2014/main" id="{7859B108-6D01-48C7-A641-581B59A88B63}"/>
              </a:ext>
            </a:extLst>
          </p:cNvPr>
          <p:cNvSpPr>
            <a:spLocks noGrp="1"/>
          </p:cNvSpPr>
          <p:nvPr/>
        </p:nvSpPr>
        <p:spPr>
          <a:xfrm>
            <a:off x="3624263" y="320992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правило које их тумачи</a:t>
            </a:r>
          </a:p>
        </p:txBody>
      </p:sp>
      <p:sp>
        <p:nvSpPr>
          <p:cNvPr id="14" name="Rounded Rectangle 13">
            <a:extLst>
              <a:ext uri="{FF2B5EF4-FFF2-40B4-BE49-F238E27FC236}">
                <a16:creationId xmlns:a16="http://schemas.microsoft.com/office/drawing/2014/main" id="{4DF3C777-2235-4C9A-9984-28E0606B3D07}"/>
              </a:ext>
            </a:extLst>
          </p:cNvPr>
          <p:cNvSpPr>
            <a:spLocks noGrp="1"/>
          </p:cNvSpPr>
          <p:nvPr/>
        </p:nvSpPr>
        <p:spPr>
          <a:xfrm>
            <a:off x="6238875" y="2419350"/>
            <a:ext cx="2471738" cy="1257300"/>
          </a:xfrm>
          <a:prstGeom prst="roundRect">
            <a:avLst>
              <a:gd name="adj" fmla="val 10606"/>
            </a:avLst>
          </a:prstGeom>
          <a:solidFill>
            <a:srgbClr val="FFF6E9"/>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26C98B26-B5B2-4FF2-AC75-0A749AE33643}"/>
              </a:ext>
            </a:extLst>
          </p:cNvPr>
          <p:cNvSpPr>
            <a:spLocks noGrp="1"/>
          </p:cNvSpPr>
          <p:nvPr/>
        </p:nvSpPr>
        <p:spPr>
          <a:xfrm>
            <a:off x="6381750" y="253365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03</a:t>
            </a:r>
          </a:p>
        </p:txBody>
      </p:sp>
      <p:sp>
        <p:nvSpPr>
          <p:cNvPr id="16" name="Rectangle 15">
            <a:extLst>
              <a:ext uri="{FF2B5EF4-FFF2-40B4-BE49-F238E27FC236}">
                <a16:creationId xmlns:a16="http://schemas.microsoft.com/office/drawing/2014/main" id="{CA61A6A2-819D-4450-AB30-5D58EE250F85}"/>
              </a:ext>
            </a:extLst>
          </p:cNvPr>
          <p:cNvSpPr>
            <a:spLocks noGrp="1"/>
          </p:cNvSpPr>
          <p:nvPr/>
        </p:nvSpPr>
        <p:spPr>
          <a:xfrm>
            <a:off x="6372225" y="281940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Ризик</a:t>
            </a:r>
          </a:p>
        </p:txBody>
      </p:sp>
      <p:sp>
        <p:nvSpPr>
          <p:cNvPr id="17" name="Rectangle 16">
            <a:extLst>
              <a:ext uri="{FF2B5EF4-FFF2-40B4-BE49-F238E27FC236}">
                <a16:creationId xmlns:a16="http://schemas.microsoft.com/office/drawing/2014/main" id="{68B4A160-169B-432D-972B-80BA69FC9CC5}"/>
              </a:ext>
            </a:extLst>
          </p:cNvPr>
          <p:cNvSpPr>
            <a:spLocks noGrp="1"/>
          </p:cNvSpPr>
          <p:nvPr/>
        </p:nvSpPr>
        <p:spPr>
          <a:xfrm>
            <a:off x="6381750" y="320992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утицај и вероватноћа</a:t>
            </a:r>
          </a:p>
        </p:txBody>
      </p:sp>
      <p:sp>
        <p:nvSpPr>
          <p:cNvPr id="18" name="Rounded Rectangle 17">
            <a:extLst>
              <a:ext uri="{FF2B5EF4-FFF2-40B4-BE49-F238E27FC236}">
                <a16:creationId xmlns:a16="http://schemas.microsoft.com/office/drawing/2014/main" id="{D092699A-17B5-41B6-BE81-E773F63CA584}"/>
              </a:ext>
            </a:extLst>
          </p:cNvPr>
          <p:cNvSpPr>
            <a:spLocks noGrp="1"/>
          </p:cNvSpPr>
          <p:nvPr/>
        </p:nvSpPr>
        <p:spPr>
          <a:xfrm>
            <a:off x="8996363" y="2419350"/>
            <a:ext cx="2471738" cy="1257300"/>
          </a:xfrm>
          <a:prstGeom prst="roundRect">
            <a:avLst>
              <a:gd name="adj" fmla="val 10606"/>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9" name="Rectangle 18">
            <a:extLst>
              <a:ext uri="{FF2B5EF4-FFF2-40B4-BE49-F238E27FC236}">
                <a16:creationId xmlns:a16="http://schemas.microsoft.com/office/drawing/2014/main" id="{97327782-9664-45A2-BB61-8D4B6C8D7F89}"/>
              </a:ext>
            </a:extLst>
          </p:cNvPr>
          <p:cNvSpPr>
            <a:spLocks noGrp="1"/>
          </p:cNvSpPr>
          <p:nvPr/>
        </p:nvSpPr>
        <p:spPr>
          <a:xfrm>
            <a:off x="9139238" y="253365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a:ext uri="{FF2B5EF4-FFF2-40B4-BE49-F238E27FC236}">
                <a16:creationId xmlns:a16="http://schemas.microsoft.com/office/drawing/2014/main" id="{F33DFDF8-8271-4C10-8319-4BF6E7A307AC}"/>
              </a:ext>
            </a:extLst>
          </p:cNvPr>
          <p:cNvSpPr>
            <a:spLocks noGrp="1"/>
          </p:cNvSpPr>
          <p:nvPr/>
        </p:nvSpPr>
        <p:spPr>
          <a:xfrm>
            <a:off x="9129713" y="281940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Преглед</a:t>
            </a:r>
          </a:p>
        </p:txBody>
      </p:sp>
      <p:sp>
        <p:nvSpPr>
          <p:cNvPr id="21" name="Rectangle 20">
            <a:extLst>
              <a:ext uri="{FF2B5EF4-FFF2-40B4-BE49-F238E27FC236}">
                <a16:creationId xmlns:a16="http://schemas.microsoft.com/office/drawing/2014/main" id="{A58E084F-C2D0-42F4-9E0D-FDC6018EFB46}"/>
              </a:ext>
            </a:extLst>
          </p:cNvPr>
          <p:cNvSpPr>
            <a:spLocks noGrp="1"/>
          </p:cNvSpPr>
          <p:nvPr/>
        </p:nvSpPr>
        <p:spPr>
          <a:xfrm>
            <a:off x="9139238" y="320992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потврда да одлука још важи</a:t>
            </a:r>
          </a:p>
        </p:txBody>
      </p:sp>
      <p:cxnSp>
        <p:nvCxnSpPr>
          <p:cNvPr id="125" name="Straight Arrow Connector 124"/>
          <p:cNvCxnSpPr>
            <a:stCxn id="6" idx="3"/>
            <a:endCxn id="10" idx="1"/>
          </p:cNvCxnSpPr>
          <p:nvPr/>
        </p:nvCxnSpPr>
        <p:spPr>
          <a:xfrm>
            <a:off x="3195638" y="3048000"/>
            <a:ext cx="285750" cy="0"/>
          </a:xfrm>
          <a:prstGeom prst="straightConnector1">
            <a:avLst/>
          </a:prstGeom>
          <a:ln w="13335">
            <a:solidFill>
              <a:srgbClr val="748092"/>
            </a:solidFill>
            <a:prstDash val="solid"/>
            <a:tailEnd type="arrow" w="sm" len="sm"/>
          </a:ln>
        </p:spPr>
      </p:cxnSp>
      <p:cxnSp>
        <p:nvCxnSpPr>
          <p:cNvPr id="126" name="Straight Arrow Connector 125"/>
          <p:cNvCxnSpPr>
            <a:stCxn id="10" idx="3"/>
            <a:endCxn id="14" idx="1"/>
          </p:cNvCxnSpPr>
          <p:nvPr/>
        </p:nvCxnSpPr>
        <p:spPr>
          <a:xfrm>
            <a:off x="5953126" y="3048000"/>
            <a:ext cx="285749" cy="0"/>
          </a:xfrm>
          <a:prstGeom prst="straightConnector1">
            <a:avLst/>
          </a:prstGeom>
          <a:ln w="13335">
            <a:solidFill>
              <a:srgbClr val="748092"/>
            </a:solidFill>
            <a:prstDash val="solid"/>
            <a:tailEnd type="arrow" w="sm" len="sm"/>
          </a:ln>
        </p:spPr>
      </p:cxnSp>
      <p:cxnSp>
        <p:nvCxnSpPr>
          <p:cNvPr id="127" name="Straight Arrow Connector 126"/>
          <p:cNvCxnSpPr>
            <a:stCxn id="14" idx="3"/>
            <a:endCxn id="18" idx="1"/>
          </p:cNvCxnSpPr>
          <p:nvPr/>
        </p:nvCxnSpPr>
        <p:spPr>
          <a:xfrm>
            <a:off x="8710613" y="3048000"/>
            <a:ext cx="285750" cy="0"/>
          </a:xfrm>
          <a:prstGeom prst="straightConnector1">
            <a:avLst/>
          </a:prstGeom>
          <a:ln w="13335">
            <a:solidFill>
              <a:srgbClr val="748092"/>
            </a:solidFill>
            <a:prstDash val="solid"/>
            <a:tailEnd type="arrow" w="sm" len="sm"/>
          </a:ln>
        </p:spPr>
      </p:cxnSp>
      <p:sp>
        <p:nvSpPr>
          <p:cNvPr id="25" name="Rounded Rectangle 24">
            <a:extLst>
              <a:ext uri="{FF2B5EF4-FFF2-40B4-BE49-F238E27FC236}">
                <a16:creationId xmlns:a16="http://schemas.microsoft.com/office/drawing/2014/main" id="{710B3244-FE61-4A2C-A190-1B8886A4760F}"/>
              </a:ext>
            </a:extLst>
          </p:cNvPr>
          <p:cNvSpPr>
            <a:spLocks noGrp="1"/>
          </p:cNvSpPr>
          <p:nvPr/>
        </p:nvSpPr>
        <p:spPr>
          <a:xfrm>
            <a:off x="1619250" y="4286250"/>
            <a:ext cx="8953500" cy="800100"/>
          </a:xfrm>
          <a:prstGeom prst="roundRect">
            <a:avLst>
              <a:gd name="adj" fmla="val 15476"/>
            </a:avLst>
          </a:prstGeom>
          <a:solidFill>
            <a:srgbClr val="F4F6F9"/>
          </a:solidFill>
          <a:ln w="9525">
            <a:solidFill>
              <a:srgbClr val="D7DEE8"/>
            </a:solidFill>
            <a:prstDash val="solid"/>
          </a:ln>
        </p:spPr>
      </p:sp>
      <p:sp>
        <p:nvSpPr>
          <p:cNvPr id="26" name="Rounded Rectangle 25">
            <a:extLst>
              <a:ext uri="{FF2B5EF4-FFF2-40B4-BE49-F238E27FC236}">
                <a16:creationId xmlns:a16="http://schemas.microsoft.com/office/drawing/2014/main" id="{B52648D7-4EB0-4995-AF03-6093C3FBAC4B}"/>
              </a:ext>
            </a:extLst>
          </p:cNvPr>
          <p:cNvSpPr>
            <a:spLocks noGrp="1"/>
          </p:cNvSpPr>
          <p:nvPr/>
        </p:nvSpPr>
        <p:spPr>
          <a:xfrm>
            <a:off x="1752600" y="4429125"/>
            <a:ext cx="57150" cy="514350"/>
          </a:xfrm>
          <a:prstGeom prst="roundRect">
            <a:avLst>
              <a:gd name="adj" fmla="val 50000"/>
            </a:avLst>
          </a:prstGeom>
          <a:solidFill>
            <a:srgbClr val="748092"/>
          </a:solidFill>
          <a:ln w="0">
            <a:noFill/>
          </a:ln>
        </p:spPr>
      </p:sp>
      <p:sp>
        <p:nvSpPr>
          <p:cNvPr id="76" name="Rounded Rectangle 75">
            <a:extLst>
              <a:ext uri="{FF2B5EF4-FFF2-40B4-BE49-F238E27FC236}">
                <a16:creationId xmlns:a16="http://schemas.microsoft.com/office/drawing/2014/main" id="{456735B9-866A-419C-BDBD-2012CE44E655}"/>
              </a:ext>
            </a:extLst>
          </p:cNvPr>
          <p:cNvSpPr>
            <a:spLocks noGrp="1"/>
          </p:cNvSpPr>
          <p:nvPr/>
        </p:nvSpPr>
        <p:spPr>
          <a:xfrm>
            <a:off x="914400" y="4305300"/>
            <a:ext cx="10363200" cy="800100"/>
          </a:xfrm>
          <a:prstGeom prst="roundRect">
            <a:avLst>
              <a:gd name="adj" fmla="val 16667"/>
            </a:avLst>
          </a:prstGeom>
          <a:solidFill>
            <a:srgbClr val="EEF3FF"/>
          </a:solidFill>
          <a:ln w="8573">
            <a:solidFill>
              <a:srgbClr val="CAD7F2"/>
            </a:solidFill>
            <a:prstDash val="solid"/>
          </a:ln>
        </p:spPr>
      </p:sp>
      <p:sp>
        <p:nvSpPr>
          <p:cNvPr id="77" name="Rounded Rectangle 76">
            <a:extLst>
              <a:ext uri="{FF2B5EF4-FFF2-40B4-BE49-F238E27FC236}">
                <a16:creationId xmlns:a16="http://schemas.microsoft.com/office/drawing/2014/main" id="{31625E23-8E33-439B-921C-750ABE7C2701}"/>
              </a:ext>
            </a:extLst>
          </p:cNvPr>
          <p:cNvSpPr>
            <a:spLocks noGrp="1"/>
          </p:cNvSpPr>
          <p:nvPr/>
        </p:nvSpPr>
        <p:spPr>
          <a:xfrm>
            <a:off x="1085850" y="4457700"/>
            <a:ext cx="57150" cy="495300"/>
          </a:xfrm>
          <a:prstGeom prst="roundRect">
            <a:avLst>
              <a:gd name="adj" fmla="val 50000"/>
            </a:avLst>
          </a:prstGeom>
          <a:solidFill>
            <a:srgbClr val="2F5EF5"/>
          </a:solidFill>
          <a:ln w="0">
            <a:noFill/>
          </a:ln>
        </p:spPr>
      </p:sp>
      <p:sp>
        <p:nvSpPr>
          <p:cNvPr id="78" name="Rectangle 77">
            <a:extLst>
              <a:ext uri="{FF2B5EF4-FFF2-40B4-BE49-F238E27FC236}">
                <a16:creationId xmlns:a16="http://schemas.microsoft.com/office/drawing/2014/main" id="{7AD33881-FA8C-42FD-A33C-7B99CECE4E48}"/>
              </a:ext>
            </a:extLst>
          </p:cNvPr>
          <p:cNvSpPr>
            <a:spLocks noGrp="1"/>
          </p:cNvSpPr>
          <p:nvPr/>
        </p:nvSpPr>
        <p:spPr>
          <a:xfrm>
            <a:off x="1333500" y="441007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КЉУЧНА ПОРУКА</a:t>
            </a:r>
          </a:p>
        </p:txBody>
      </p:sp>
      <p:sp>
        <p:nvSpPr>
          <p:cNvPr id="79" name="Rectangle 78">
            <a:extLst>
              <a:ext uri="{FF2B5EF4-FFF2-40B4-BE49-F238E27FC236}">
                <a16:creationId xmlns:a16="http://schemas.microsoft.com/office/drawing/2014/main" id="{174D6E3B-6093-4B00-9656-DE3A115705BD}"/>
              </a:ext>
            </a:extLst>
          </p:cNvPr>
          <p:cNvSpPr>
            <a:spLocks noGrp="1"/>
          </p:cNvSpPr>
          <p:nvPr/>
        </p:nvSpPr>
        <p:spPr>
          <a:xfrm>
            <a:off x="1333500" y="4638675"/>
            <a:ext cx="9639300" cy="36195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Контекст даје прецизност одлуци, а редован преглед проверава да ли одлука и даље има смисла.</a:t>
            </a:r>
          </a:p>
        </p:txBody>
      </p:sp>
    </p:spTree>
    <p:extLst>
      <p:ext uri="{BB962C8B-B14F-4D97-AF65-F5344CB8AC3E}">
        <p14:creationId xmlns:p14="http://schemas.microsoft.com/office/powerpoint/2010/main" val="28733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1048B31-209A-416A-A9CD-B73C17E1D000}"/>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DFFF0C5B-C110-4403-B1F4-8647DAF371D8}"/>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29A56109-B6DB-41AC-A9CB-41B536A1A104}"/>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4</a:t>
            </a:r>
          </a:p>
        </p:txBody>
      </p:sp>
      <p:sp>
        <p:nvSpPr>
          <p:cNvPr id="4" name="Rectangle 3">
            <a:extLst>
              <a:ext uri="{FF2B5EF4-FFF2-40B4-BE49-F238E27FC236}">
                <a16:creationId xmlns:a16="http://schemas.microsoft.com/office/drawing/2014/main" id="{9C868987-B81C-4B58-93E8-53DACE55EF04}"/>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Атрибути</a:t>
            </a:r>
          </a:p>
        </p:txBody>
      </p:sp>
      <p:sp>
        <p:nvSpPr>
          <p:cNvPr id="5" name="Rectangle 4">
            <a:extLst>
              <a:ext uri="{FF2B5EF4-FFF2-40B4-BE49-F238E27FC236}">
                <a16:creationId xmlns:a16="http://schemas.microsoft.com/office/drawing/2014/main" id="{FEE6A0B3-9A37-4B62-8070-7410698B1BD3}"/>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контекст одлуке</a:t>
            </a:r>
          </a:p>
        </p:txBody>
      </p:sp>
      <p:sp>
        <p:nvSpPr>
          <p:cNvPr id="6" name="Rounded Rectangle 5">
            <a:extLst>
              <a:ext uri="{FF2B5EF4-FFF2-40B4-BE49-F238E27FC236}">
                <a16:creationId xmlns:a16="http://schemas.microsoft.com/office/drawing/2014/main" id="{ED2BE4D5-4123-4CB8-8524-2F015B336447}"/>
              </a:ext>
            </a:extLst>
          </p:cNvPr>
          <p:cNvSpPr>
            <a:spLocks noGrp="1"/>
          </p:cNvSpPr>
          <p:nvPr/>
        </p:nvSpPr>
        <p:spPr>
          <a:xfrm>
            <a:off x="895350" y="2428875"/>
            <a:ext cx="3257550" cy="1952625"/>
          </a:xfrm>
          <a:prstGeom prst="roundRect">
            <a:avLst>
              <a:gd name="adj" fmla="val 6829"/>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120BF318-057F-495A-B0F4-C96D49F37C09}"/>
              </a:ext>
            </a:extLst>
          </p:cNvPr>
          <p:cNvSpPr>
            <a:spLocks noGrp="1"/>
          </p:cNvSpPr>
          <p:nvPr/>
        </p:nvSpPr>
        <p:spPr>
          <a:xfrm>
            <a:off x="10477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A48ADF71-6AB5-443E-ABDF-35679F999A02}"/>
              </a:ext>
            </a:extLst>
          </p:cNvPr>
          <p:cNvSpPr>
            <a:spLocks noGrp="1"/>
          </p:cNvSpPr>
          <p:nvPr/>
        </p:nvSpPr>
        <p:spPr>
          <a:xfrm>
            <a:off x="104775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Атрибути се читају из поузданог, јасног контекста.</a:t>
            </a:r>
          </a:p>
        </p:txBody>
      </p:sp>
      <p:sp>
        <p:nvSpPr>
          <p:cNvPr id="9" name="Rectangle 8">
            <a:extLst>
              <a:ext uri="{FF2B5EF4-FFF2-40B4-BE49-F238E27FC236}">
                <a16:creationId xmlns:a16="http://schemas.microsoft.com/office/drawing/2014/main" id="{701AB954-67A2-460D-9A21-D2271EF8DE01}"/>
              </a:ext>
            </a:extLst>
          </p:cNvPr>
          <p:cNvSpPr>
            <a:spLocks noGrp="1"/>
          </p:cNvSpPr>
          <p:nvPr/>
        </p:nvSpPr>
        <p:spPr>
          <a:xfrm>
            <a:off x="10477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a:ext uri="{FF2B5EF4-FFF2-40B4-BE49-F238E27FC236}">
                <a16:creationId xmlns:a16="http://schemas.microsoft.com/office/drawing/2014/main" id="{77868CD6-99F9-48C8-8188-82FDEC38BCE1}"/>
              </a:ext>
            </a:extLst>
          </p:cNvPr>
          <p:cNvSpPr>
            <a:spLocks noGrp="1"/>
          </p:cNvSpPr>
          <p:nvPr/>
        </p:nvSpPr>
        <p:spPr>
          <a:xfrm>
            <a:off x="4457700" y="2428875"/>
            <a:ext cx="3257550" cy="1952625"/>
          </a:xfrm>
          <a:prstGeom prst="roundRect">
            <a:avLst>
              <a:gd name="adj" fmla="val 6829"/>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0132F917-4553-47EE-842D-C2B7EE1ABF0C}"/>
              </a:ext>
            </a:extLst>
          </p:cNvPr>
          <p:cNvSpPr>
            <a:spLocks noGrp="1"/>
          </p:cNvSpPr>
          <p:nvPr/>
        </p:nvSpPr>
        <p:spPr>
          <a:xfrm>
            <a:off x="461010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02</a:t>
            </a:r>
          </a:p>
        </p:txBody>
      </p:sp>
      <p:sp>
        <p:nvSpPr>
          <p:cNvPr id="12" name="Rectangle 11">
            <a:extLst>
              <a:ext uri="{FF2B5EF4-FFF2-40B4-BE49-F238E27FC236}">
                <a16:creationId xmlns:a16="http://schemas.microsoft.com/office/drawing/2014/main" id="{9FCD1287-D39E-449B-B49F-095B061EE055}"/>
              </a:ext>
            </a:extLst>
          </p:cNvPr>
          <p:cNvSpPr>
            <a:spLocks noGrp="1"/>
          </p:cNvSpPr>
          <p:nvPr/>
        </p:nvSpPr>
        <p:spPr>
          <a:xfrm>
            <a:off x="4610100" y="2800350"/>
            <a:ext cx="2952750" cy="781050"/>
          </a:xfrm>
          <a:prstGeom prst="rect">
            <a:avLst/>
          </a:prstGeom>
          <a:noFill/>
          <a:ln w="0">
            <a:noFill/>
          </a:ln>
        </p:spPr>
        <p:txBody>
          <a:bodyPr wrap="square" lIns="0" tIns="0" rIns="0" bIns="0" anchor="ctr">
            <a:normAutofit fontScale="99236"/>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Атрибутска одлука остаје разумљива само ако је извор сваког атрибута познат и поуздан.</a:t>
            </a:r>
          </a:p>
        </p:txBody>
      </p:sp>
      <p:sp>
        <p:nvSpPr>
          <p:cNvPr id="13" name="Rectangle 12">
            <a:extLst>
              <a:ext uri="{FF2B5EF4-FFF2-40B4-BE49-F238E27FC236}">
                <a16:creationId xmlns:a16="http://schemas.microsoft.com/office/drawing/2014/main" id="{EC4F138D-1EB9-4E56-A4ED-1F583068114E}"/>
              </a:ext>
            </a:extLst>
          </p:cNvPr>
          <p:cNvSpPr>
            <a:spLocks noGrp="1"/>
          </p:cNvSpPr>
          <p:nvPr/>
        </p:nvSpPr>
        <p:spPr>
          <a:xfrm>
            <a:off x="461010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a:ext uri="{FF2B5EF4-FFF2-40B4-BE49-F238E27FC236}">
                <a16:creationId xmlns:a16="http://schemas.microsoft.com/office/drawing/2014/main" id="{162214DE-D45C-4F10-9F57-7452D40E67B1}"/>
              </a:ext>
            </a:extLst>
          </p:cNvPr>
          <p:cNvSpPr>
            <a:spLocks noGrp="1"/>
          </p:cNvSpPr>
          <p:nvPr/>
        </p:nvSpPr>
        <p:spPr>
          <a:xfrm>
            <a:off x="8020050" y="2428875"/>
            <a:ext cx="3257550" cy="1952625"/>
          </a:xfrm>
          <a:prstGeom prst="roundRect">
            <a:avLst>
              <a:gd name="adj" fmla="val 6829"/>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CC91952D-3D99-40E4-B6A6-1ECBAE4985D3}"/>
              </a:ext>
            </a:extLst>
          </p:cNvPr>
          <p:cNvSpPr>
            <a:spLocks noGrp="1"/>
          </p:cNvSpPr>
          <p:nvPr/>
        </p:nvSpPr>
        <p:spPr>
          <a:xfrm>
            <a:off x="81724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a:ext uri="{FF2B5EF4-FFF2-40B4-BE49-F238E27FC236}">
                <a16:creationId xmlns:a16="http://schemas.microsoft.com/office/drawing/2014/main" id="{6F782EB0-95B0-4642-9322-24B921342C81}"/>
              </a:ext>
            </a:extLst>
          </p:cNvPr>
          <p:cNvSpPr>
            <a:spLocks noGrp="1"/>
          </p:cNvSpPr>
          <p:nvPr/>
        </p:nvSpPr>
        <p:spPr>
          <a:xfrm>
            <a:off x="817245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Атрибути се прикупљају из ауторитативних извора, а не из произвољног захтева клијента.</a:t>
            </a:r>
          </a:p>
        </p:txBody>
      </p:sp>
      <p:sp>
        <p:nvSpPr>
          <p:cNvPr id="17" name="Rectangle 16">
            <a:extLst>
              <a:ext uri="{FF2B5EF4-FFF2-40B4-BE49-F238E27FC236}">
                <a16:creationId xmlns:a16="http://schemas.microsoft.com/office/drawing/2014/main" id="{22834903-80F6-4E17-928A-78C57CCC8197}"/>
              </a:ext>
            </a:extLst>
          </p:cNvPr>
          <p:cNvSpPr>
            <a:spLocks noGrp="1"/>
          </p:cNvSpPr>
          <p:nvPr/>
        </p:nvSpPr>
        <p:spPr>
          <a:xfrm>
            <a:off x="81724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a:ext uri="{FF2B5EF4-FFF2-40B4-BE49-F238E27FC236}">
                <a16:creationId xmlns:a16="http://schemas.microsoft.com/office/drawing/2014/main" id="{EC305351-01EE-4CA6-80E2-6B3E3AA81A71}"/>
              </a:ext>
            </a:extLst>
          </p:cNvPr>
          <p:cNvSpPr>
            <a:spLocks noGrp="1"/>
          </p:cNvSpPr>
          <p:nvPr/>
        </p:nvSpPr>
        <p:spPr>
          <a:xfrm>
            <a:off x="1600200" y="4752975"/>
            <a:ext cx="8991600" cy="742950"/>
          </a:xfrm>
          <a:prstGeom prst="roundRect">
            <a:avLst>
              <a:gd name="adj" fmla="val 16667"/>
            </a:avLst>
          </a:prstGeom>
          <a:solidFill>
            <a:srgbClr val="FFF6E9"/>
          </a:solidFill>
          <a:ln w="9525">
            <a:solidFill>
              <a:srgbClr val="D7DEE8"/>
            </a:solidFill>
            <a:prstDash val="solid"/>
          </a:ln>
        </p:spPr>
      </p:sp>
      <p:sp>
        <p:nvSpPr>
          <p:cNvPr id="19" name="Rounded Rectangle 18">
            <a:extLst>
              <a:ext uri="{FF2B5EF4-FFF2-40B4-BE49-F238E27FC236}">
                <a16:creationId xmlns:a16="http://schemas.microsoft.com/office/drawing/2014/main" id="{B1A0F4D9-8B26-467B-966E-7376E0F23556}"/>
              </a:ext>
            </a:extLst>
          </p:cNvPr>
          <p:cNvSpPr>
            <a:spLocks noGrp="1"/>
          </p:cNvSpPr>
          <p:nvPr/>
        </p:nvSpPr>
        <p:spPr>
          <a:xfrm>
            <a:off x="1733550" y="4895850"/>
            <a:ext cx="57150" cy="457200"/>
          </a:xfrm>
          <a:prstGeom prst="roundRect">
            <a:avLst>
              <a:gd name="adj" fmla="val 50000"/>
            </a:avLst>
          </a:prstGeom>
          <a:solidFill>
            <a:srgbClr val="B86A09"/>
          </a:solidFill>
          <a:ln w="0">
            <a:noFill/>
          </a:ln>
        </p:spPr>
      </p:sp>
      <p:sp>
        <p:nvSpPr>
          <p:cNvPr id="22" name="Rounded Rectangle 21">
            <a:extLst>
              <a:ext uri="{FF2B5EF4-FFF2-40B4-BE49-F238E27FC236}">
                <a16:creationId xmlns:a16="http://schemas.microsoft.com/office/drawing/2014/main" id="{805BC1F9-9203-417D-972F-576246560E89}"/>
              </a:ext>
            </a:extLst>
          </p:cNvPr>
          <p:cNvSpPr>
            <a:spLocks noGrp="1"/>
          </p:cNvSpPr>
          <p:nvPr/>
        </p:nvSpPr>
        <p:spPr>
          <a:xfrm>
            <a:off x="914400" y="4762500"/>
            <a:ext cx="10363200" cy="781050"/>
          </a:xfrm>
          <a:prstGeom prst="roundRect">
            <a:avLst>
              <a:gd name="adj" fmla="val 17073"/>
            </a:avLst>
          </a:prstGeom>
          <a:solidFill>
            <a:srgbClr val="EEF3FF"/>
          </a:solidFill>
          <a:ln w="8573">
            <a:solidFill>
              <a:srgbClr val="CAD7F2"/>
            </a:solidFill>
            <a:prstDash val="solid"/>
          </a:ln>
        </p:spPr>
      </p:sp>
      <p:sp>
        <p:nvSpPr>
          <p:cNvPr id="23" name="Rounded Rectangle 22">
            <a:extLst>
              <a:ext uri="{FF2B5EF4-FFF2-40B4-BE49-F238E27FC236}">
                <a16:creationId xmlns:a16="http://schemas.microsoft.com/office/drawing/2014/main" id="{9469D8A5-DF85-4BAD-B706-FDC344BA489C}"/>
              </a:ext>
            </a:extLst>
          </p:cNvPr>
          <p:cNvSpPr>
            <a:spLocks noGrp="1"/>
          </p:cNvSpPr>
          <p:nvPr/>
        </p:nvSpPr>
        <p:spPr>
          <a:xfrm>
            <a:off x="1085850" y="4914900"/>
            <a:ext cx="57150" cy="476250"/>
          </a:xfrm>
          <a:prstGeom prst="roundRect">
            <a:avLst>
              <a:gd name="adj" fmla="val 50000"/>
            </a:avLst>
          </a:prstGeom>
          <a:solidFill>
            <a:srgbClr val="2F5EF5"/>
          </a:solidFill>
          <a:ln w="0">
            <a:noFill/>
          </a:ln>
        </p:spPr>
      </p:sp>
      <p:sp>
        <p:nvSpPr>
          <p:cNvPr id="24" name="Rectangle 23">
            <a:extLst>
              <a:ext uri="{FF2B5EF4-FFF2-40B4-BE49-F238E27FC236}">
                <a16:creationId xmlns:a16="http://schemas.microsoft.com/office/drawing/2014/main" id="{FAF6B58E-DCFE-4F82-B081-82F891723E06}"/>
              </a:ext>
            </a:extLst>
          </p:cNvPr>
          <p:cNvSpPr>
            <a:spLocks noGrp="1"/>
          </p:cNvSpPr>
          <p:nvPr/>
        </p:nvSpPr>
        <p:spPr>
          <a:xfrm>
            <a:off x="1333500" y="486727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ПИТАЊЕ ЗА ДИСКУСИЈУ</a:t>
            </a:r>
          </a:p>
        </p:txBody>
      </p:sp>
      <p:sp>
        <p:nvSpPr>
          <p:cNvPr id="25" name="Rectangle 24">
            <a:extLst>
              <a:ext uri="{FF2B5EF4-FFF2-40B4-BE49-F238E27FC236}">
                <a16:creationId xmlns:a16="http://schemas.microsoft.com/office/drawing/2014/main" id="{388DABF3-355D-45D5-958E-F43762D6D175}"/>
              </a:ext>
            </a:extLst>
          </p:cNvPr>
          <p:cNvSpPr>
            <a:spLocks noGrp="1"/>
          </p:cNvSpPr>
          <p:nvPr/>
        </p:nvSpPr>
        <p:spPr>
          <a:xfrm>
            <a:off x="1333500" y="5095875"/>
            <a:ext cx="9639300" cy="34290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Коју одлуку не бисте смели да заснивате само на улози и који додатни атрибут јој даје смисао?</a:t>
            </a:r>
          </a:p>
        </p:txBody>
      </p:sp>
    </p:spTree>
    <p:extLst>
      <p:ext uri="{BB962C8B-B14F-4D97-AF65-F5344CB8AC3E}">
        <p14:creationId xmlns:p14="http://schemas.microsoft.com/office/powerpoint/2010/main" val="2043928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7B4C1B1-90E5-4DFA-A719-162CF8479944}"/>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E0B53908-166A-49DF-8F8C-E67A96B52B23}"/>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21547D63-06EC-4C9D-B43B-EF27AB6B80DD}"/>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5</a:t>
            </a:r>
          </a:p>
        </p:txBody>
      </p:sp>
      <p:sp>
        <p:nvSpPr>
          <p:cNvPr id="4" name="Rectangle 3">
            <a:extLst>
              <a:ext uri="{FF2B5EF4-FFF2-40B4-BE49-F238E27FC236}">
                <a16:creationId xmlns:a16="http://schemas.microsoft.com/office/drawing/2014/main" id="{96ECCFE5-F17A-4C6A-81E6-1D6CE2FE2562}"/>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Политика</a:t>
            </a:r>
          </a:p>
        </p:txBody>
      </p:sp>
      <p:sp>
        <p:nvSpPr>
          <p:cNvPr id="5" name="Rectangle 4">
            <a:extLst>
              <a:ext uri="{FF2B5EF4-FFF2-40B4-BE49-F238E27FC236}">
                <a16:creationId xmlns:a16="http://schemas.microsoft.com/office/drawing/2014/main" id="{E0E4CA57-A794-466C-A332-760282909A1B}"/>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правило које их тумачи</a:t>
            </a:r>
          </a:p>
        </p:txBody>
      </p:sp>
      <p:sp>
        <p:nvSpPr>
          <p:cNvPr id="6" name="Rounded Rectangle 5">
            <a:extLst>
              <a:ext uri="{FF2B5EF4-FFF2-40B4-BE49-F238E27FC236}">
                <a16:creationId xmlns:a16="http://schemas.microsoft.com/office/drawing/2014/main" id="{4F0936B8-8AC3-4082-B7C1-5D85D1914E81}"/>
              </a:ext>
            </a:extLst>
          </p:cNvPr>
          <p:cNvSpPr>
            <a:spLocks noGrp="1"/>
          </p:cNvSpPr>
          <p:nvPr/>
        </p:nvSpPr>
        <p:spPr>
          <a:xfrm>
            <a:off x="895350" y="2428875"/>
            <a:ext cx="3257550" cy="1952625"/>
          </a:xfrm>
          <a:prstGeom prst="roundRect">
            <a:avLst>
              <a:gd name="adj" fmla="val 6829"/>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E5D5C3A7-238E-4AD6-81F2-A5EE119C67C4}"/>
              </a:ext>
            </a:extLst>
          </p:cNvPr>
          <p:cNvSpPr>
            <a:spLocks noGrp="1"/>
          </p:cNvSpPr>
          <p:nvPr/>
        </p:nvSpPr>
        <p:spPr>
          <a:xfrm>
            <a:off x="10477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4692E640-97FA-4150-AF07-FE6DEDA25BC8}"/>
              </a:ext>
            </a:extLst>
          </p:cNvPr>
          <p:cNvSpPr>
            <a:spLocks noGrp="1"/>
          </p:cNvSpPr>
          <p:nvPr/>
        </p:nvSpPr>
        <p:spPr>
          <a:xfrm>
            <a:off x="104775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Исто стање мора довести до истог резултата политике.</a:t>
            </a:r>
          </a:p>
        </p:txBody>
      </p:sp>
      <p:sp>
        <p:nvSpPr>
          <p:cNvPr id="9" name="Rectangle 8">
            <a:extLst>
              <a:ext uri="{FF2B5EF4-FFF2-40B4-BE49-F238E27FC236}">
                <a16:creationId xmlns:a16="http://schemas.microsoft.com/office/drawing/2014/main" id="{463DA584-4C69-4F0E-AF21-8A88D18D6F54}"/>
              </a:ext>
            </a:extLst>
          </p:cNvPr>
          <p:cNvSpPr>
            <a:spLocks noGrp="1"/>
          </p:cNvSpPr>
          <p:nvPr/>
        </p:nvSpPr>
        <p:spPr>
          <a:xfrm>
            <a:off x="10477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a:ext uri="{FF2B5EF4-FFF2-40B4-BE49-F238E27FC236}">
                <a16:creationId xmlns:a16="http://schemas.microsoft.com/office/drawing/2014/main" id="{744C93B1-8BC4-4543-9773-3165BD40352D}"/>
              </a:ext>
            </a:extLst>
          </p:cNvPr>
          <p:cNvSpPr>
            <a:spLocks noGrp="1"/>
          </p:cNvSpPr>
          <p:nvPr/>
        </p:nvSpPr>
        <p:spPr>
          <a:xfrm>
            <a:off x="4457700" y="2428875"/>
            <a:ext cx="3257550" cy="1952625"/>
          </a:xfrm>
          <a:prstGeom prst="roundRect">
            <a:avLst>
              <a:gd name="adj" fmla="val 6829"/>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B60545D8-2E96-402B-912A-6723B5B56B15}"/>
              </a:ext>
            </a:extLst>
          </p:cNvPr>
          <p:cNvSpPr>
            <a:spLocks noGrp="1"/>
          </p:cNvSpPr>
          <p:nvPr/>
        </p:nvSpPr>
        <p:spPr>
          <a:xfrm>
            <a:off x="461010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02</a:t>
            </a:r>
          </a:p>
        </p:txBody>
      </p:sp>
      <p:sp>
        <p:nvSpPr>
          <p:cNvPr id="12" name="Rectangle 11">
            <a:extLst>
              <a:ext uri="{FF2B5EF4-FFF2-40B4-BE49-F238E27FC236}">
                <a16:creationId xmlns:a16="http://schemas.microsoft.com/office/drawing/2014/main" id="{DE0E99A2-39D1-4C84-9F31-973ACBC1E7D6}"/>
              </a:ext>
            </a:extLst>
          </p:cNvPr>
          <p:cNvSpPr>
            <a:spLocks noGrp="1"/>
          </p:cNvSpPr>
          <p:nvPr/>
        </p:nvSpPr>
        <p:spPr>
          <a:xfrm>
            <a:off x="4610100" y="2800350"/>
            <a:ext cx="2952750" cy="781050"/>
          </a:xfrm>
          <a:prstGeom prst="rect">
            <a:avLst/>
          </a:prstGeom>
          <a:noFill/>
          <a:ln w="0">
            <a:noFill/>
          </a:ln>
        </p:spPr>
        <p:txBody>
          <a:bodyPr wrap="square" lIns="0" tIns="0" rIns="0" bIns="0" anchor="ctr">
            <a:normAutofit fontScale="93119"/>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Правило треба да даје исти резултат за исти снимак контекста, како би могло да се тестира и објасни.</a:t>
            </a:r>
          </a:p>
        </p:txBody>
      </p:sp>
      <p:sp>
        <p:nvSpPr>
          <p:cNvPr id="13" name="Rectangle 12">
            <a:extLst>
              <a:ext uri="{FF2B5EF4-FFF2-40B4-BE49-F238E27FC236}">
                <a16:creationId xmlns:a16="http://schemas.microsoft.com/office/drawing/2014/main" id="{951B4EED-BB2D-4ED8-AD14-B3302D40D161}"/>
              </a:ext>
            </a:extLst>
          </p:cNvPr>
          <p:cNvSpPr>
            <a:spLocks noGrp="1"/>
          </p:cNvSpPr>
          <p:nvPr/>
        </p:nvSpPr>
        <p:spPr>
          <a:xfrm>
            <a:off x="461010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a:ext uri="{FF2B5EF4-FFF2-40B4-BE49-F238E27FC236}">
                <a16:creationId xmlns:a16="http://schemas.microsoft.com/office/drawing/2014/main" id="{7D3F050F-7368-4D60-914D-5B4553985708}"/>
              </a:ext>
            </a:extLst>
          </p:cNvPr>
          <p:cNvSpPr>
            <a:spLocks noGrp="1"/>
          </p:cNvSpPr>
          <p:nvPr/>
        </p:nvSpPr>
        <p:spPr>
          <a:xfrm>
            <a:off x="8020050" y="2428875"/>
            <a:ext cx="3257550" cy="1952625"/>
          </a:xfrm>
          <a:prstGeom prst="roundRect">
            <a:avLst>
              <a:gd name="adj" fmla="val 6829"/>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5BA7E83D-26AC-47D0-975C-6EDFE8FBF47F}"/>
              </a:ext>
            </a:extLst>
          </p:cNvPr>
          <p:cNvSpPr>
            <a:spLocks noGrp="1"/>
          </p:cNvSpPr>
          <p:nvPr/>
        </p:nvSpPr>
        <p:spPr>
          <a:xfrm>
            <a:off x="81724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a:ext uri="{FF2B5EF4-FFF2-40B4-BE49-F238E27FC236}">
                <a16:creationId xmlns:a16="http://schemas.microsoft.com/office/drawing/2014/main" id="{833440D9-D984-450F-BD91-5096351C43AE}"/>
              </a:ext>
            </a:extLst>
          </p:cNvPr>
          <p:cNvSpPr>
            <a:spLocks noGrp="1"/>
          </p:cNvSpPr>
          <p:nvPr/>
        </p:nvSpPr>
        <p:spPr>
          <a:xfrm>
            <a:off x="817245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Правила треба да буду мала и састављена тако да се конфликт може објаснити.</a:t>
            </a:r>
          </a:p>
        </p:txBody>
      </p:sp>
      <p:sp>
        <p:nvSpPr>
          <p:cNvPr id="17" name="Rectangle 16">
            <a:extLst>
              <a:ext uri="{FF2B5EF4-FFF2-40B4-BE49-F238E27FC236}">
                <a16:creationId xmlns:a16="http://schemas.microsoft.com/office/drawing/2014/main" id="{2FBB4104-E6E2-4E2B-8A52-29E5521F2C0C}"/>
              </a:ext>
            </a:extLst>
          </p:cNvPr>
          <p:cNvSpPr>
            <a:spLocks noGrp="1"/>
          </p:cNvSpPr>
          <p:nvPr/>
        </p:nvSpPr>
        <p:spPr>
          <a:xfrm>
            <a:off x="81724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a:ext uri="{FF2B5EF4-FFF2-40B4-BE49-F238E27FC236}">
                <a16:creationId xmlns:a16="http://schemas.microsoft.com/office/drawing/2014/main" id="{0D290BA0-86ED-4F33-B014-0135C108A930}"/>
              </a:ext>
            </a:extLst>
          </p:cNvPr>
          <p:cNvSpPr>
            <a:spLocks noGrp="1"/>
          </p:cNvSpPr>
          <p:nvPr/>
        </p:nvSpPr>
        <p:spPr>
          <a:xfrm>
            <a:off x="1600200" y="4752975"/>
            <a:ext cx="8991600" cy="742950"/>
          </a:xfrm>
          <a:prstGeom prst="roundRect">
            <a:avLst>
              <a:gd name="adj" fmla="val 16667"/>
            </a:avLst>
          </a:prstGeom>
          <a:solidFill>
            <a:srgbClr val="FFF6E9"/>
          </a:solidFill>
          <a:ln w="9525">
            <a:solidFill>
              <a:srgbClr val="D7DEE8"/>
            </a:solidFill>
            <a:prstDash val="solid"/>
          </a:ln>
        </p:spPr>
      </p:sp>
      <p:sp>
        <p:nvSpPr>
          <p:cNvPr id="19" name="Rounded Rectangle 18">
            <a:extLst>
              <a:ext uri="{FF2B5EF4-FFF2-40B4-BE49-F238E27FC236}">
                <a16:creationId xmlns:a16="http://schemas.microsoft.com/office/drawing/2014/main" id="{1C16CECC-2308-408E-AC37-5095735976C2}"/>
              </a:ext>
            </a:extLst>
          </p:cNvPr>
          <p:cNvSpPr>
            <a:spLocks noGrp="1"/>
          </p:cNvSpPr>
          <p:nvPr/>
        </p:nvSpPr>
        <p:spPr>
          <a:xfrm>
            <a:off x="1733550" y="4895850"/>
            <a:ext cx="57150" cy="457200"/>
          </a:xfrm>
          <a:prstGeom prst="roundRect">
            <a:avLst>
              <a:gd name="adj" fmla="val 50000"/>
            </a:avLst>
          </a:prstGeom>
          <a:solidFill>
            <a:srgbClr val="B86A09"/>
          </a:solidFill>
          <a:ln w="0">
            <a:noFill/>
          </a:ln>
        </p:spPr>
      </p:sp>
      <p:sp>
        <p:nvSpPr>
          <p:cNvPr id="22" name="Rounded Rectangle 21">
            <a:extLst>
              <a:ext uri="{FF2B5EF4-FFF2-40B4-BE49-F238E27FC236}">
                <a16:creationId xmlns:a16="http://schemas.microsoft.com/office/drawing/2014/main" id="{88245921-794E-46FC-818A-C1BE9FFDFF28}"/>
              </a:ext>
            </a:extLst>
          </p:cNvPr>
          <p:cNvSpPr>
            <a:spLocks noGrp="1"/>
          </p:cNvSpPr>
          <p:nvPr/>
        </p:nvSpPr>
        <p:spPr>
          <a:xfrm>
            <a:off x="914400" y="4762500"/>
            <a:ext cx="10363200" cy="781050"/>
          </a:xfrm>
          <a:prstGeom prst="roundRect">
            <a:avLst>
              <a:gd name="adj" fmla="val 17073"/>
            </a:avLst>
          </a:prstGeom>
          <a:solidFill>
            <a:srgbClr val="EEF3FF"/>
          </a:solidFill>
          <a:ln w="8573">
            <a:solidFill>
              <a:srgbClr val="CAD7F2"/>
            </a:solidFill>
            <a:prstDash val="solid"/>
          </a:ln>
        </p:spPr>
      </p:sp>
      <p:sp>
        <p:nvSpPr>
          <p:cNvPr id="23" name="Rounded Rectangle 22">
            <a:extLst>
              <a:ext uri="{FF2B5EF4-FFF2-40B4-BE49-F238E27FC236}">
                <a16:creationId xmlns:a16="http://schemas.microsoft.com/office/drawing/2014/main" id="{E17377B5-F9D5-435D-914C-83FBC438035D}"/>
              </a:ext>
            </a:extLst>
          </p:cNvPr>
          <p:cNvSpPr>
            <a:spLocks noGrp="1"/>
          </p:cNvSpPr>
          <p:nvPr/>
        </p:nvSpPr>
        <p:spPr>
          <a:xfrm>
            <a:off x="1085850" y="4914900"/>
            <a:ext cx="57150" cy="476250"/>
          </a:xfrm>
          <a:prstGeom prst="roundRect">
            <a:avLst>
              <a:gd name="adj" fmla="val 50000"/>
            </a:avLst>
          </a:prstGeom>
          <a:solidFill>
            <a:srgbClr val="2F5EF5"/>
          </a:solidFill>
          <a:ln w="0">
            <a:noFill/>
          </a:ln>
        </p:spPr>
      </p:sp>
      <p:sp>
        <p:nvSpPr>
          <p:cNvPr id="24" name="Rectangle 23">
            <a:extLst>
              <a:ext uri="{FF2B5EF4-FFF2-40B4-BE49-F238E27FC236}">
                <a16:creationId xmlns:a16="http://schemas.microsoft.com/office/drawing/2014/main" id="{CDA67F68-5F21-42E3-B728-9C9B8CE25342}"/>
              </a:ext>
            </a:extLst>
          </p:cNvPr>
          <p:cNvSpPr>
            <a:spLocks noGrp="1"/>
          </p:cNvSpPr>
          <p:nvPr/>
        </p:nvSpPr>
        <p:spPr>
          <a:xfrm>
            <a:off x="1333500" y="486727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ПИТАЊЕ ЗА ДИСКУСИЈУ</a:t>
            </a:r>
          </a:p>
        </p:txBody>
      </p:sp>
      <p:sp>
        <p:nvSpPr>
          <p:cNvPr id="25" name="Rectangle 24">
            <a:extLst>
              <a:ext uri="{FF2B5EF4-FFF2-40B4-BE49-F238E27FC236}">
                <a16:creationId xmlns:a16="http://schemas.microsoft.com/office/drawing/2014/main" id="{24377CC6-89A0-4E06-B1AA-AD8B6B189910}"/>
              </a:ext>
            </a:extLst>
          </p:cNvPr>
          <p:cNvSpPr>
            <a:spLocks noGrp="1"/>
          </p:cNvSpPr>
          <p:nvPr/>
        </p:nvSpPr>
        <p:spPr>
          <a:xfrm>
            <a:off x="1333500" y="5095875"/>
            <a:ext cx="9639300" cy="34290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Коју одлуку не бисте смели да заснивате само на улози и који додатни атрибут јој даје смисао?</a:t>
            </a:r>
          </a:p>
        </p:txBody>
      </p:sp>
    </p:spTree>
    <p:extLst>
      <p:ext uri="{BB962C8B-B14F-4D97-AF65-F5344CB8AC3E}">
        <p14:creationId xmlns:p14="http://schemas.microsoft.com/office/powerpoint/2010/main" val="2043291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C8C95B7-EB89-42BE-8B32-19C9BBC72F5D}"/>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58C8787E-A833-4F7C-A088-A7E4782449DB}"/>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1A389046-35B8-417C-AF7B-2520D9B06E38}"/>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6</a:t>
            </a:r>
          </a:p>
        </p:txBody>
      </p:sp>
      <p:sp>
        <p:nvSpPr>
          <p:cNvPr id="4" name="Rectangle 3">
            <a:extLst>
              <a:ext uri="{FF2B5EF4-FFF2-40B4-BE49-F238E27FC236}">
                <a16:creationId xmlns:a16="http://schemas.microsoft.com/office/drawing/2014/main" id="{C56891D3-42C6-4AB6-A6C2-3402419448BE}"/>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Ризик</a:t>
            </a:r>
          </a:p>
        </p:txBody>
      </p:sp>
      <p:sp>
        <p:nvSpPr>
          <p:cNvPr id="5" name="Rectangle 4">
            <a:extLst>
              <a:ext uri="{FF2B5EF4-FFF2-40B4-BE49-F238E27FC236}">
                <a16:creationId xmlns:a16="http://schemas.microsoft.com/office/drawing/2014/main" id="{3CB47F01-F969-4C95-8753-65B975136F46}"/>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утицај и вероватноћа</a:t>
            </a:r>
          </a:p>
        </p:txBody>
      </p:sp>
      <p:sp>
        <p:nvSpPr>
          <p:cNvPr id="6" name="Rounded Rectangle 5">
            <a:extLst>
              <a:ext uri="{FF2B5EF4-FFF2-40B4-BE49-F238E27FC236}">
                <a16:creationId xmlns:a16="http://schemas.microsoft.com/office/drawing/2014/main" id="{2BA4B342-9BE4-4B80-B586-B0763FBC388C}"/>
              </a:ext>
            </a:extLst>
          </p:cNvPr>
          <p:cNvSpPr>
            <a:spLocks noGrp="1"/>
          </p:cNvSpPr>
          <p:nvPr/>
        </p:nvSpPr>
        <p:spPr>
          <a:xfrm>
            <a:off x="895350" y="2428875"/>
            <a:ext cx="3257550" cy="1952625"/>
          </a:xfrm>
          <a:prstGeom prst="roundRect">
            <a:avLst>
              <a:gd name="adj" fmla="val 6829"/>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006C8292-3876-4485-BB75-01CCE4AA7690}"/>
              </a:ext>
            </a:extLst>
          </p:cNvPr>
          <p:cNvSpPr>
            <a:spLocks noGrp="1"/>
          </p:cNvSpPr>
          <p:nvPr/>
        </p:nvSpPr>
        <p:spPr>
          <a:xfrm>
            <a:off x="10477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A4A97072-0CC1-4B09-8F7C-0A9AEAB965DB}"/>
              </a:ext>
            </a:extLst>
          </p:cNvPr>
          <p:cNvSpPr>
            <a:spLocks noGrp="1"/>
          </p:cNvSpPr>
          <p:nvPr/>
        </p:nvSpPr>
        <p:spPr>
          <a:xfrm>
            <a:off x="104775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Ризик укључује имовину, претњу, контролу и преосталу изложеност.</a:t>
            </a:r>
          </a:p>
        </p:txBody>
      </p:sp>
      <p:sp>
        <p:nvSpPr>
          <p:cNvPr id="9" name="Rectangle 8">
            <a:extLst>
              <a:ext uri="{FF2B5EF4-FFF2-40B4-BE49-F238E27FC236}">
                <a16:creationId xmlns:a16="http://schemas.microsoft.com/office/drawing/2014/main" id="{F0F137F6-7D92-4159-95E0-CF7E6663A5D1}"/>
              </a:ext>
            </a:extLst>
          </p:cNvPr>
          <p:cNvSpPr>
            <a:spLocks noGrp="1"/>
          </p:cNvSpPr>
          <p:nvPr/>
        </p:nvSpPr>
        <p:spPr>
          <a:xfrm>
            <a:off x="10477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a:ext uri="{FF2B5EF4-FFF2-40B4-BE49-F238E27FC236}">
                <a16:creationId xmlns:a16="http://schemas.microsoft.com/office/drawing/2014/main" id="{C7238E5C-B039-4BF4-B3BC-2A58CBF7B4FC}"/>
              </a:ext>
            </a:extLst>
          </p:cNvPr>
          <p:cNvSpPr>
            <a:spLocks noGrp="1"/>
          </p:cNvSpPr>
          <p:nvPr/>
        </p:nvSpPr>
        <p:spPr>
          <a:xfrm>
            <a:off x="4457700" y="2428875"/>
            <a:ext cx="3257550" cy="1952625"/>
          </a:xfrm>
          <a:prstGeom prst="roundRect">
            <a:avLst>
              <a:gd name="adj" fmla="val 6829"/>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72FB6837-0E43-4DCF-A4A3-986A9CDC0DF9}"/>
              </a:ext>
            </a:extLst>
          </p:cNvPr>
          <p:cNvSpPr>
            <a:spLocks noGrp="1"/>
          </p:cNvSpPr>
          <p:nvPr/>
        </p:nvSpPr>
        <p:spPr>
          <a:xfrm>
            <a:off x="461010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02</a:t>
            </a:r>
          </a:p>
        </p:txBody>
      </p:sp>
      <p:sp>
        <p:nvSpPr>
          <p:cNvPr id="12" name="Rectangle 11">
            <a:extLst>
              <a:ext uri="{FF2B5EF4-FFF2-40B4-BE49-F238E27FC236}">
                <a16:creationId xmlns:a16="http://schemas.microsoft.com/office/drawing/2014/main" id="{19D5D787-4998-4DE1-8FF3-D528E32EF75E}"/>
              </a:ext>
            </a:extLst>
          </p:cNvPr>
          <p:cNvSpPr>
            <a:spLocks noGrp="1"/>
          </p:cNvSpPr>
          <p:nvPr/>
        </p:nvSpPr>
        <p:spPr>
          <a:xfrm>
            <a:off x="4610100" y="2800350"/>
            <a:ext cx="2952750" cy="781050"/>
          </a:xfrm>
          <a:prstGeom prst="rect">
            <a:avLst/>
          </a:prstGeom>
          <a:noFill/>
          <a:ln w="0">
            <a:noFill/>
          </a:ln>
        </p:spPr>
        <p:txBody>
          <a:bodyPr wrap="square" lIns="0" tIns="0" rIns="0" bIns="0" anchor="ctr">
            <a:normAutofit fontScale="93046"/>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Преглед приступа враћа тим на питање да ли право и даље има пословни разлог, чак и када је некада било правилно додељено.</a:t>
            </a:r>
          </a:p>
        </p:txBody>
      </p:sp>
      <p:sp>
        <p:nvSpPr>
          <p:cNvPr id="13" name="Rectangle 12">
            <a:extLst>
              <a:ext uri="{FF2B5EF4-FFF2-40B4-BE49-F238E27FC236}">
                <a16:creationId xmlns:a16="http://schemas.microsoft.com/office/drawing/2014/main" id="{3B3A44BF-6EE6-4082-A75E-D24CD19E8C11}"/>
              </a:ext>
            </a:extLst>
          </p:cNvPr>
          <p:cNvSpPr>
            <a:spLocks noGrp="1"/>
          </p:cNvSpPr>
          <p:nvPr/>
        </p:nvSpPr>
        <p:spPr>
          <a:xfrm>
            <a:off x="461010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a:ext uri="{FF2B5EF4-FFF2-40B4-BE49-F238E27FC236}">
                <a16:creationId xmlns:a16="http://schemas.microsoft.com/office/drawing/2014/main" id="{DEC794AA-0873-4848-ABF8-D4404E51B9A4}"/>
              </a:ext>
            </a:extLst>
          </p:cNvPr>
          <p:cNvSpPr>
            <a:spLocks noGrp="1"/>
          </p:cNvSpPr>
          <p:nvPr/>
        </p:nvSpPr>
        <p:spPr>
          <a:xfrm>
            <a:off x="8020050" y="2428875"/>
            <a:ext cx="3257550" cy="1952625"/>
          </a:xfrm>
          <a:prstGeom prst="roundRect">
            <a:avLst>
              <a:gd name="adj" fmla="val 6829"/>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06E813E9-FB12-4683-BAF3-87A13B9F6403}"/>
              </a:ext>
            </a:extLst>
          </p:cNvPr>
          <p:cNvSpPr>
            <a:spLocks noGrp="1"/>
          </p:cNvSpPr>
          <p:nvPr/>
        </p:nvSpPr>
        <p:spPr>
          <a:xfrm>
            <a:off x="81724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a:ext uri="{FF2B5EF4-FFF2-40B4-BE49-F238E27FC236}">
                <a16:creationId xmlns:a16="http://schemas.microsoft.com/office/drawing/2014/main" id="{C4D84F66-FB17-4780-8D51-80C580C0A8F7}"/>
              </a:ext>
            </a:extLst>
          </p:cNvPr>
          <p:cNvSpPr>
            <a:spLocks noGrp="1"/>
          </p:cNvSpPr>
          <p:nvPr/>
        </p:nvSpPr>
        <p:spPr>
          <a:xfrm>
            <a:off x="8172450" y="2800350"/>
            <a:ext cx="2952750" cy="781050"/>
          </a:xfrm>
          <a:prstGeom prst="rect">
            <a:avLst/>
          </a:prstGeom>
          <a:noFill/>
          <a:ln w="0">
            <a:noFill/>
          </a:ln>
        </p:spPr>
        <p:txBody>
          <a:bodyPr wrap="square" lIns="0" tIns="0" rIns="0" bIns="0" anchor="ctr">
            <a:normAutofit fontScale="93046"/>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Контекст одлуке се бележи довољно да каснији преглед разуме резултат без чувања осетљивих детаља.</a:t>
            </a:r>
          </a:p>
        </p:txBody>
      </p:sp>
      <p:sp>
        <p:nvSpPr>
          <p:cNvPr id="17" name="Rectangle 16">
            <a:extLst>
              <a:ext uri="{FF2B5EF4-FFF2-40B4-BE49-F238E27FC236}">
                <a16:creationId xmlns:a16="http://schemas.microsoft.com/office/drawing/2014/main" id="{2B3F83DC-D71F-4C90-95E8-E198237A9FE8}"/>
              </a:ext>
            </a:extLst>
          </p:cNvPr>
          <p:cNvSpPr>
            <a:spLocks noGrp="1"/>
          </p:cNvSpPr>
          <p:nvPr/>
        </p:nvSpPr>
        <p:spPr>
          <a:xfrm>
            <a:off x="81724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a:ext uri="{FF2B5EF4-FFF2-40B4-BE49-F238E27FC236}">
                <a16:creationId xmlns:a16="http://schemas.microsoft.com/office/drawing/2014/main" id="{0BB7B633-7AF2-4E4B-8E2C-91A8DE6F1A28}"/>
              </a:ext>
            </a:extLst>
          </p:cNvPr>
          <p:cNvSpPr>
            <a:spLocks noGrp="1"/>
          </p:cNvSpPr>
          <p:nvPr/>
        </p:nvSpPr>
        <p:spPr>
          <a:xfrm>
            <a:off x="1600200" y="4752975"/>
            <a:ext cx="8991600" cy="742950"/>
          </a:xfrm>
          <a:prstGeom prst="roundRect">
            <a:avLst>
              <a:gd name="adj" fmla="val 16667"/>
            </a:avLst>
          </a:prstGeom>
          <a:solidFill>
            <a:srgbClr val="FFF6E9"/>
          </a:solidFill>
          <a:ln w="9525">
            <a:solidFill>
              <a:srgbClr val="D7DEE8"/>
            </a:solidFill>
            <a:prstDash val="solid"/>
          </a:ln>
        </p:spPr>
      </p:sp>
      <p:sp>
        <p:nvSpPr>
          <p:cNvPr id="19" name="Rounded Rectangle 18">
            <a:extLst>
              <a:ext uri="{FF2B5EF4-FFF2-40B4-BE49-F238E27FC236}">
                <a16:creationId xmlns:a16="http://schemas.microsoft.com/office/drawing/2014/main" id="{8F757930-65A5-4FE0-AA45-D3573AD5FCEE}"/>
              </a:ext>
            </a:extLst>
          </p:cNvPr>
          <p:cNvSpPr>
            <a:spLocks noGrp="1"/>
          </p:cNvSpPr>
          <p:nvPr/>
        </p:nvSpPr>
        <p:spPr>
          <a:xfrm>
            <a:off x="1733550" y="4895850"/>
            <a:ext cx="57150" cy="457200"/>
          </a:xfrm>
          <a:prstGeom prst="roundRect">
            <a:avLst>
              <a:gd name="adj" fmla="val 50000"/>
            </a:avLst>
          </a:prstGeom>
          <a:solidFill>
            <a:srgbClr val="B86A09"/>
          </a:solidFill>
          <a:ln w="0">
            <a:noFill/>
          </a:ln>
        </p:spPr>
      </p:sp>
      <p:sp>
        <p:nvSpPr>
          <p:cNvPr id="22" name="Rounded Rectangle 21">
            <a:extLst>
              <a:ext uri="{FF2B5EF4-FFF2-40B4-BE49-F238E27FC236}">
                <a16:creationId xmlns:a16="http://schemas.microsoft.com/office/drawing/2014/main" id="{D373F5E2-8B63-4EA0-81B9-B9B34807BA7C}"/>
              </a:ext>
            </a:extLst>
          </p:cNvPr>
          <p:cNvSpPr>
            <a:spLocks noGrp="1"/>
          </p:cNvSpPr>
          <p:nvPr/>
        </p:nvSpPr>
        <p:spPr>
          <a:xfrm>
            <a:off x="914400" y="4762500"/>
            <a:ext cx="10363200" cy="781050"/>
          </a:xfrm>
          <a:prstGeom prst="roundRect">
            <a:avLst>
              <a:gd name="adj" fmla="val 17073"/>
            </a:avLst>
          </a:prstGeom>
          <a:solidFill>
            <a:srgbClr val="EEF3FF"/>
          </a:solidFill>
          <a:ln w="8573">
            <a:solidFill>
              <a:srgbClr val="CAD7F2"/>
            </a:solidFill>
            <a:prstDash val="solid"/>
          </a:ln>
        </p:spPr>
      </p:sp>
      <p:sp>
        <p:nvSpPr>
          <p:cNvPr id="23" name="Rounded Rectangle 22">
            <a:extLst>
              <a:ext uri="{FF2B5EF4-FFF2-40B4-BE49-F238E27FC236}">
                <a16:creationId xmlns:a16="http://schemas.microsoft.com/office/drawing/2014/main" id="{C3101C13-E919-4A8E-9B65-535575EEB646}"/>
              </a:ext>
            </a:extLst>
          </p:cNvPr>
          <p:cNvSpPr>
            <a:spLocks noGrp="1"/>
          </p:cNvSpPr>
          <p:nvPr/>
        </p:nvSpPr>
        <p:spPr>
          <a:xfrm>
            <a:off x="1085850" y="4914900"/>
            <a:ext cx="57150" cy="476250"/>
          </a:xfrm>
          <a:prstGeom prst="roundRect">
            <a:avLst>
              <a:gd name="adj" fmla="val 50000"/>
            </a:avLst>
          </a:prstGeom>
          <a:solidFill>
            <a:srgbClr val="2F5EF5"/>
          </a:solidFill>
          <a:ln w="0">
            <a:noFill/>
          </a:ln>
        </p:spPr>
      </p:sp>
      <p:sp>
        <p:nvSpPr>
          <p:cNvPr id="24" name="Rectangle 23">
            <a:extLst>
              <a:ext uri="{FF2B5EF4-FFF2-40B4-BE49-F238E27FC236}">
                <a16:creationId xmlns:a16="http://schemas.microsoft.com/office/drawing/2014/main" id="{52BB2DA9-5E21-4045-9CFF-6B8BCFA016FA}"/>
              </a:ext>
            </a:extLst>
          </p:cNvPr>
          <p:cNvSpPr>
            <a:spLocks noGrp="1"/>
          </p:cNvSpPr>
          <p:nvPr/>
        </p:nvSpPr>
        <p:spPr>
          <a:xfrm>
            <a:off x="1333500" y="486727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ПИТАЊЕ ЗА ДИСКУСИЈУ</a:t>
            </a:r>
          </a:p>
        </p:txBody>
      </p:sp>
      <p:sp>
        <p:nvSpPr>
          <p:cNvPr id="25" name="Rectangle 24">
            <a:extLst>
              <a:ext uri="{FF2B5EF4-FFF2-40B4-BE49-F238E27FC236}">
                <a16:creationId xmlns:a16="http://schemas.microsoft.com/office/drawing/2014/main" id="{70B931A5-F627-49D8-84F6-165AD9A9FDC4}"/>
              </a:ext>
            </a:extLst>
          </p:cNvPr>
          <p:cNvSpPr>
            <a:spLocks noGrp="1"/>
          </p:cNvSpPr>
          <p:nvPr/>
        </p:nvSpPr>
        <p:spPr>
          <a:xfrm>
            <a:off x="1333500" y="5095875"/>
            <a:ext cx="9639300" cy="34290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Коју одлуку не бисте смели да заснивате само на улози и који додатни атрибут јој даје смисао?</a:t>
            </a:r>
          </a:p>
        </p:txBody>
      </p:sp>
    </p:spTree>
    <p:extLst>
      <p:ext uri="{BB962C8B-B14F-4D97-AF65-F5344CB8AC3E}">
        <p14:creationId xmlns:p14="http://schemas.microsoft.com/office/powerpoint/2010/main" val="91780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0EC0895-CFE8-4CFF-B67D-8DD82B2025E2}"/>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7FF593C9-C7F5-4039-AF55-67FEE279B303}"/>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A05108C3-EE2A-44BD-B7CC-9E2A85780E62}"/>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7</a:t>
            </a:r>
          </a:p>
        </p:txBody>
      </p:sp>
      <p:sp>
        <p:nvSpPr>
          <p:cNvPr id="4" name="Rectangle 3">
            <a:extLst>
              <a:ext uri="{FF2B5EF4-FFF2-40B4-BE49-F238E27FC236}">
                <a16:creationId xmlns:a16="http://schemas.microsoft.com/office/drawing/2014/main" id="{B6D0955B-B387-4231-8612-E57AEADDA410}"/>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Преглед</a:t>
            </a:r>
          </a:p>
        </p:txBody>
      </p:sp>
      <p:sp>
        <p:nvSpPr>
          <p:cNvPr id="5" name="Rectangle 4">
            <a:extLst>
              <a:ext uri="{FF2B5EF4-FFF2-40B4-BE49-F238E27FC236}">
                <a16:creationId xmlns:a16="http://schemas.microsoft.com/office/drawing/2014/main" id="{1AFDBCE7-35D5-4B07-97EC-73C3EB51F272}"/>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потврда да одлука још важи</a:t>
            </a:r>
          </a:p>
        </p:txBody>
      </p:sp>
      <p:sp>
        <p:nvSpPr>
          <p:cNvPr id="6" name="Rounded Rectangle 5">
            <a:extLst>
              <a:ext uri="{FF2B5EF4-FFF2-40B4-BE49-F238E27FC236}">
                <a16:creationId xmlns:a16="http://schemas.microsoft.com/office/drawing/2014/main" id="{E3B07B59-8DF3-455F-9FC4-03CDF9AFB0B6}"/>
              </a:ext>
            </a:extLst>
          </p:cNvPr>
          <p:cNvSpPr>
            <a:spLocks noGrp="1"/>
          </p:cNvSpPr>
          <p:nvPr/>
        </p:nvSpPr>
        <p:spPr>
          <a:xfrm>
            <a:off x="895350" y="2428875"/>
            <a:ext cx="3257550" cy="1952625"/>
          </a:xfrm>
          <a:prstGeom prst="roundRect">
            <a:avLst>
              <a:gd name="adj" fmla="val 6829"/>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83FA8B93-FB6D-40FC-A28C-311EE7F3DFF6}"/>
              </a:ext>
            </a:extLst>
          </p:cNvPr>
          <p:cNvSpPr>
            <a:spLocks noGrp="1"/>
          </p:cNvSpPr>
          <p:nvPr/>
        </p:nvSpPr>
        <p:spPr>
          <a:xfrm>
            <a:off x="10477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264202E9-7064-41FE-B130-339B62448646}"/>
              </a:ext>
            </a:extLst>
          </p:cNvPr>
          <p:cNvSpPr>
            <a:spLocks noGrp="1"/>
          </p:cNvSpPr>
          <p:nvPr/>
        </p:nvSpPr>
        <p:spPr>
          <a:xfrm>
            <a:off x="104775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Атрибути се прикупљају из ауторитативних извора, а не из произвољног захтева клијента.</a:t>
            </a:r>
          </a:p>
        </p:txBody>
      </p:sp>
      <p:sp>
        <p:nvSpPr>
          <p:cNvPr id="9" name="Rectangle 8">
            <a:extLst>
              <a:ext uri="{FF2B5EF4-FFF2-40B4-BE49-F238E27FC236}">
                <a16:creationId xmlns:a16="http://schemas.microsoft.com/office/drawing/2014/main" id="{6DA751C6-B6FC-442F-A978-80B86A53672E}"/>
              </a:ext>
            </a:extLst>
          </p:cNvPr>
          <p:cNvSpPr>
            <a:spLocks noGrp="1"/>
          </p:cNvSpPr>
          <p:nvPr/>
        </p:nvSpPr>
        <p:spPr>
          <a:xfrm>
            <a:off x="10477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a:ext uri="{FF2B5EF4-FFF2-40B4-BE49-F238E27FC236}">
                <a16:creationId xmlns:a16="http://schemas.microsoft.com/office/drawing/2014/main" id="{66B82FB9-FC51-4F7E-AEEB-6F8B64C42194}"/>
              </a:ext>
            </a:extLst>
          </p:cNvPr>
          <p:cNvSpPr>
            <a:spLocks noGrp="1"/>
          </p:cNvSpPr>
          <p:nvPr/>
        </p:nvSpPr>
        <p:spPr>
          <a:xfrm>
            <a:off x="4457700" y="2428875"/>
            <a:ext cx="3257550" cy="1952625"/>
          </a:xfrm>
          <a:prstGeom prst="roundRect">
            <a:avLst>
              <a:gd name="adj" fmla="val 6829"/>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98449AA0-5EF0-401A-97CF-BC6E65AA2F68}"/>
              </a:ext>
            </a:extLst>
          </p:cNvPr>
          <p:cNvSpPr>
            <a:spLocks noGrp="1"/>
          </p:cNvSpPr>
          <p:nvPr/>
        </p:nvSpPr>
        <p:spPr>
          <a:xfrm>
            <a:off x="461010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02</a:t>
            </a:r>
          </a:p>
        </p:txBody>
      </p:sp>
      <p:sp>
        <p:nvSpPr>
          <p:cNvPr id="12" name="Rectangle 11">
            <a:extLst>
              <a:ext uri="{FF2B5EF4-FFF2-40B4-BE49-F238E27FC236}">
                <a16:creationId xmlns:a16="http://schemas.microsoft.com/office/drawing/2014/main" id="{F4E0F4D8-0A9E-4B27-84E5-D6913A5C160C}"/>
              </a:ext>
            </a:extLst>
          </p:cNvPr>
          <p:cNvSpPr>
            <a:spLocks noGrp="1"/>
          </p:cNvSpPr>
          <p:nvPr/>
        </p:nvSpPr>
        <p:spPr>
          <a:xfrm>
            <a:off x="4610100" y="2800350"/>
            <a:ext cx="2952750" cy="781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Правила треба да буду мала и састављена тако да се конфликт може објаснити.</a:t>
            </a:r>
          </a:p>
        </p:txBody>
      </p:sp>
      <p:sp>
        <p:nvSpPr>
          <p:cNvPr id="13" name="Rectangle 12">
            <a:extLst>
              <a:ext uri="{FF2B5EF4-FFF2-40B4-BE49-F238E27FC236}">
                <a16:creationId xmlns:a16="http://schemas.microsoft.com/office/drawing/2014/main" id="{35776D3B-FD17-4690-9D9F-24D4D6559DA3}"/>
              </a:ext>
            </a:extLst>
          </p:cNvPr>
          <p:cNvSpPr>
            <a:spLocks noGrp="1"/>
          </p:cNvSpPr>
          <p:nvPr/>
        </p:nvSpPr>
        <p:spPr>
          <a:xfrm>
            <a:off x="461010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a:ext uri="{FF2B5EF4-FFF2-40B4-BE49-F238E27FC236}">
                <a16:creationId xmlns:a16="http://schemas.microsoft.com/office/drawing/2014/main" id="{FC2CD951-D9EF-44A7-BD28-39CB8EEE3127}"/>
              </a:ext>
            </a:extLst>
          </p:cNvPr>
          <p:cNvSpPr>
            <a:spLocks noGrp="1"/>
          </p:cNvSpPr>
          <p:nvPr/>
        </p:nvSpPr>
        <p:spPr>
          <a:xfrm>
            <a:off x="8020050" y="2428875"/>
            <a:ext cx="3257550" cy="1952625"/>
          </a:xfrm>
          <a:prstGeom prst="roundRect">
            <a:avLst>
              <a:gd name="adj" fmla="val 6829"/>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B798700D-9D94-4606-809E-2E594237F18B}"/>
              </a:ext>
            </a:extLst>
          </p:cNvPr>
          <p:cNvSpPr>
            <a:spLocks noGrp="1"/>
          </p:cNvSpPr>
          <p:nvPr/>
        </p:nvSpPr>
        <p:spPr>
          <a:xfrm>
            <a:off x="8172450" y="2552700"/>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a:ext uri="{FF2B5EF4-FFF2-40B4-BE49-F238E27FC236}">
                <a16:creationId xmlns:a16="http://schemas.microsoft.com/office/drawing/2014/main" id="{5B6579D0-EED8-48AB-8C4D-44C0C9885743}"/>
              </a:ext>
            </a:extLst>
          </p:cNvPr>
          <p:cNvSpPr>
            <a:spLocks noGrp="1"/>
          </p:cNvSpPr>
          <p:nvPr/>
        </p:nvSpPr>
        <p:spPr>
          <a:xfrm>
            <a:off x="8172450" y="2800350"/>
            <a:ext cx="2952750" cy="781050"/>
          </a:xfrm>
          <a:prstGeom prst="rect">
            <a:avLst/>
          </a:prstGeom>
          <a:noFill/>
          <a:ln w="0">
            <a:noFill/>
          </a:ln>
        </p:spPr>
        <p:txBody>
          <a:bodyPr wrap="square" lIns="0" tIns="0" rIns="0" bIns="0" anchor="ctr">
            <a:normAutofit fontScale="93046"/>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Контекст одлуке се бележи довољно да каснији преглед разуме резултат без чувања осетљивих детаља.</a:t>
            </a:r>
          </a:p>
        </p:txBody>
      </p:sp>
      <p:sp>
        <p:nvSpPr>
          <p:cNvPr id="17" name="Rectangle 16">
            <a:extLst>
              <a:ext uri="{FF2B5EF4-FFF2-40B4-BE49-F238E27FC236}">
                <a16:creationId xmlns:a16="http://schemas.microsoft.com/office/drawing/2014/main" id="{FF0EA533-C27B-424F-939C-A4089AC700FE}"/>
              </a:ext>
            </a:extLst>
          </p:cNvPr>
          <p:cNvSpPr>
            <a:spLocks noGrp="1"/>
          </p:cNvSpPr>
          <p:nvPr/>
        </p:nvSpPr>
        <p:spPr>
          <a:xfrm>
            <a:off x="8172450" y="3648075"/>
            <a:ext cx="2952750" cy="628650"/>
          </a:xfrm>
          <a:prstGeom prst="rect">
            <a:avLst/>
          </a:prstGeom>
          <a:noFill/>
          <a:ln w="0">
            <a:noFill/>
          </a:ln>
        </p:spPr>
        <p:txBody>
          <a:bodyPr wrap="square" lIns="0" tIns="0" rIns="0" bIns="0" anchor="t">
            <a:normAutofit/>
          </a:bodyPr>
          <a:lstStyle/>
          <a:p>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a:ext uri="{FF2B5EF4-FFF2-40B4-BE49-F238E27FC236}">
                <a16:creationId xmlns:a16="http://schemas.microsoft.com/office/drawing/2014/main" id="{C5E90771-A8F4-4DD1-907B-1E9BD0AA450F}"/>
              </a:ext>
            </a:extLst>
          </p:cNvPr>
          <p:cNvSpPr>
            <a:spLocks noGrp="1"/>
          </p:cNvSpPr>
          <p:nvPr/>
        </p:nvSpPr>
        <p:spPr>
          <a:xfrm>
            <a:off x="1600200" y="4752975"/>
            <a:ext cx="8991600" cy="742950"/>
          </a:xfrm>
          <a:prstGeom prst="roundRect">
            <a:avLst>
              <a:gd name="adj" fmla="val 16667"/>
            </a:avLst>
          </a:prstGeom>
          <a:solidFill>
            <a:srgbClr val="FFF6E9"/>
          </a:solidFill>
          <a:ln w="9525">
            <a:solidFill>
              <a:srgbClr val="D7DEE8"/>
            </a:solidFill>
            <a:prstDash val="solid"/>
          </a:ln>
        </p:spPr>
      </p:sp>
      <p:sp>
        <p:nvSpPr>
          <p:cNvPr id="19" name="Rounded Rectangle 18">
            <a:extLst>
              <a:ext uri="{FF2B5EF4-FFF2-40B4-BE49-F238E27FC236}">
                <a16:creationId xmlns:a16="http://schemas.microsoft.com/office/drawing/2014/main" id="{E2970B68-3BBD-42C8-B9CF-9491EDBDD9B8}"/>
              </a:ext>
            </a:extLst>
          </p:cNvPr>
          <p:cNvSpPr>
            <a:spLocks noGrp="1"/>
          </p:cNvSpPr>
          <p:nvPr/>
        </p:nvSpPr>
        <p:spPr>
          <a:xfrm>
            <a:off x="1733550" y="4895850"/>
            <a:ext cx="57150" cy="457200"/>
          </a:xfrm>
          <a:prstGeom prst="roundRect">
            <a:avLst>
              <a:gd name="adj" fmla="val 50000"/>
            </a:avLst>
          </a:prstGeom>
          <a:solidFill>
            <a:srgbClr val="B86A09"/>
          </a:solidFill>
          <a:ln w="0">
            <a:noFill/>
          </a:ln>
        </p:spPr>
      </p:sp>
      <p:sp>
        <p:nvSpPr>
          <p:cNvPr id="22" name="Rounded Rectangle 21">
            <a:extLst>
              <a:ext uri="{FF2B5EF4-FFF2-40B4-BE49-F238E27FC236}">
                <a16:creationId xmlns:a16="http://schemas.microsoft.com/office/drawing/2014/main" id="{44E2A22D-B897-4A86-AE2D-8D19EDB33D18}"/>
              </a:ext>
            </a:extLst>
          </p:cNvPr>
          <p:cNvSpPr>
            <a:spLocks noGrp="1"/>
          </p:cNvSpPr>
          <p:nvPr/>
        </p:nvSpPr>
        <p:spPr>
          <a:xfrm>
            <a:off x="914400" y="4762500"/>
            <a:ext cx="10363200" cy="781050"/>
          </a:xfrm>
          <a:prstGeom prst="roundRect">
            <a:avLst>
              <a:gd name="adj" fmla="val 17073"/>
            </a:avLst>
          </a:prstGeom>
          <a:solidFill>
            <a:srgbClr val="EEF3FF"/>
          </a:solidFill>
          <a:ln w="8573">
            <a:solidFill>
              <a:srgbClr val="CAD7F2"/>
            </a:solidFill>
            <a:prstDash val="solid"/>
          </a:ln>
        </p:spPr>
      </p:sp>
      <p:sp>
        <p:nvSpPr>
          <p:cNvPr id="23" name="Rounded Rectangle 22">
            <a:extLst>
              <a:ext uri="{FF2B5EF4-FFF2-40B4-BE49-F238E27FC236}">
                <a16:creationId xmlns:a16="http://schemas.microsoft.com/office/drawing/2014/main" id="{A9401554-D1D7-4066-8ED6-7E6F6AA5392B}"/>
              </a:ext>
            </a:extLst>
          </p:cNvPr>
          <p:cNvSpPr>
            <a:spLocks noGrp="1"/>
          </p:cNvSpPr>
          <p:nvPr/>
        </p:nvSpPr>
        <p:spPr>
          <a:xfrm>
            <a:off x="1085850" y="4914900"/>
            <a:ext cx="57150" cy="476250"/>
          </a:xfrm>
          <a:prstGeom prst="roundRect">
            <a:avLst>
              <a:gd name="adj" fmla="val 50000"/>
            </a:avLst>
          </a:prstGeom>
          <a:solidFill>
            <a:srgbClr val="2F5EF5"/>
          </a:solidFill>
          <a:ln w="0">
            <a:noFill/>
          </a:ln>
        </p:spPr>
      </p:sp>
      <p:sp>
        <p:nvSpPr>
          <p:cNvPr id="24" name="Rectangle 23">
            <a:extLst>
              <a:ext uri="{FF2B5EF4-FFF2-40B4-BE49-F238E27FC236}">
                <a16:creationId xmlns:a16="http://schemas.microsoft.com/office/drawing/2014/main" id="{5C598AC5-3170-4DCC-AC1F-1E0E81812341}"/>
              </a:ext>
            </a:extLst>
          </p:cNvPr>
          <p:cNvSpPr>
            <a:spLocks noGrp="1"/>
          </p:cNvSpPr>
          <p:nvPr/>
        </p:nvSpPr>
        <p:spPr>
          <a:xfrm>
            <a:off x="1333500" y="486727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ПИТАЊЕ ЗА ДИСКУСИЈУ</a:t>
            </a:r>
          </a:p>
        </p:txBody>
      </p:sp>
      <p:sp>
        <p:nvSpPr>
          <p:cNvPr id="25" name="Rectangle 24">
            <a:extLst>
              <a:ext uri="{FF2B5EF4-FFF2-40B4-BE49-F238E27FC236}">
                <a16:creationId xmlns:a16="http://schemas.microsoft.com/office/drawing/2014/main" id="{E57D5C6E-4013-4426-80CC-660DF098EFF0}"/>
              </a:ext>
            </a:extLst>
          </p:cNvPr>
          <p:cNvSpPr>
            <a:spLocks noGrp="1"/>
          </p:cNvSpPr>
          <p:nvPr/>
        </p:nvSpPr>
        <p:spPr>
          <a:xfrm>
            <a:off x="1333500" y="5095875"/>
            <a:ext cx="9639300" cy="34290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Коју одлуку не бисте смели да заснивате само на улози и који додатни атрибут јој даје смисао?</a:t>
            </a:r>
          </a:p>
        </p:txBody>
      </p:sp>
    </p:spTree>
    <p:extLst>
      <p:ext uri="{BB962C8B-B14F-4D97-AF65-F5344CB8AC3E}">
        <p14:creationId xmlns:p14="http://schemas.microsoft.com/office/powerpoint/2010/main" val="210203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8F8AA91-A30E-4CE7-A891-395161BFC4C5}"/>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0AB558F4-5404-491E-9B09-600B447A9FAD}"/>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D29816D4-D006-4D7D-9731-20FB747EE2C0}"/>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8</a:t>
            </a:r>
          </a:p>
        </p:txBody>
      </p:sp>
      <p:sp>
        <p:nvSpPr>
          <p:cNvPr id="4" name="Rectangle 3">
            <a:extLst>
              <a:ext uri="{FF2B5EF4-FFF2-40B4-BE49-F238E27FC236}">
                <a16:creationId xmlns:a16="http://schemas.microsoft.com/office/drawing/2014/main" id="{A2CFC93C-6438-48D7-B5D7-C557CE360B8D}"/>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RBAC и ABAC у истој одлуци</a:t>
            </a:r>
          </a:p>
        </p:txBody>
      </p:sp>
      <p:sp>
        <p:nvSpPr>
          <p:cNvPr id="5" name="Rectangle 4">
            <a:extLst>
              <a:ext uri="{FF2B5EF4-FFF2-40B4-BE49-F238E27FC236}">
                <a16:creationId xmlns:a16="http://schemas.microsoft.com/office/drawing/2014/main" id="{07A39032-353E-4E64-889A-B79E1DB75E5A}"/>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Поређење служи да се разлике виде без тешке табеле и ситног текста.</a:t>
            </a:r>
          </a:p>
        </p:txBody>
      </p:sp>
      <p:sp>
        <p:nvSpPr>
          <p:cNvPr id="6" name="Rectangle 5">
            <a:extLst>
              <a:ext uri="{FF2B5EF4-FFF2-40B4-BE49-F238E27FC236}">
                <a16:creationId xmlns:a16="http://schemas.microsoft.com/office/drawing/2014/main" id="{4040509D-A339-4442-B9EC-71FE767E02CE}"/>
              </a:ext>
            </a:extLst>
          </p:cNvPr>
          <p:cNvSpPr>
            <a:spLocks noGrp="1"/>
          </p:cNvSpPr>
          <p:nvPr/>
        </p:nvSpPr>
        <p:spPr>
          <a:xfrm>
            <a:off x="876300" y="2047875"/>
            <a:ext cx="2476500" cy="228600"/>
          </a:xfrm>
          <a:prstGeom prst="rect">
            <a:avLst/>
          </a:prstGeom>
          <a:noFill/>
          <a:ln w="0">
            <a:noFill/>
          </a:ln>
        </p:spPr>
        <p:txBody>
          <a:bodyPr wrap="square" lIns="0" tIns="0" rIns="0" bIns="0" anchor="t">
            <a:normAutofit/>
          </a:bodyPr>
          <a:lstStyle/>
          <a:p>
            <a:pPr algn="l">
              <a:lnSpc>
                <a:spcPct val="102000"/>
              </a:lnSpc>
              <a:buNone/>
              <a:defRPr sz="1050" b="1">
                <a:solidFill>
                  <a:srgbClr val="657184"/>
                </a:solidFill>
                <a:latin typeface="Aptos"/>
                <a:ea typeface="Aptos"/>
                <a:cs typeface="Aptos"/>
              </a:defRPr>
            </a:pPr>
            <a:r>
              <a:rPr sz="1275" b="1">
                <a:solidFill>
                  <a:srgbClr val="657184"/>
                </a:solidFill>
                <a:latin typeface="Aptos"/>
                <a:ea typeface="Aptos"/>
                <a:cs typeface="Aptos"/>
              </a:rPr>
              <a:t>Приступ</a:t>
            </a:r>
          </a:p>
        </p:txBody>
      </p:sp>
      <p:sp>
        <p:nvSpPr>
          <p:cNvPr id="7" name="Rectangle 6">
            <a:extLst>
              <a:ext uri="{FF2B5EF4-FFF2-40B4-BE49-F238E27FC236}">
                <a16:creationId xmlns:a16="http://schemas.microsoft.com/office/drawing/2014/main" id="{02D5839A-62DF-4BEE-8A1E-EBBA380A027A}"/>
              </a:ext>
            </a:extLst>
          </p:cNvPr>
          <p:cNvSpPr>
            <a:spLocks noGrp="1"/>
          </p:cNvSpPr>
          <p:nvPr/>
        </p:nvSpPr>
        <p:spPr>
          <a:xfrm>
            <a:off x="3638550" y="2047875"/>
            <a:ext cx="3619500" cy="228600"/>
          </a:xfrm>
          <a:prstGeom prst="rect">
            <a:avLst/>
          </a:prstGeom>
          <a:noFill/>
          <a:ln w="0">
            <a:noFill/>
          </a:ln>
        </p:spPr>
        <p:txBody>
          <a:bodyPr wrap="square" lIns="0" tIns="0" rIns="0" bIns="0" anchor="t">
            <a:normAutofit/>
          </a:bodyPr>
          <a:lstStyle/>
          <a:p>
            <a:pPr algn="l">
              <a:lnSpc>
                <a:spcPct val="102000"/>
              </a:lnSpc>
              <a:buNone/>
              <a:defRPr sz="1050" b="1">
                <a:solidFill>
                  <a:srgbClr val="657184"/>
                </a:solidFill>
                <a:latin typeface="Aptos"/>
                <a:ea typeface="Aptos"/>
                <a:cs typeface="Aptos"/>
              </a:defRPr>
            </a:pPr>
            <a:r>
              <a:rPr sz="1275" b="1">
                <a:solidFill>
                  <a:srgbClr val="657184"/>
                </a:solidFill>
                <a:latin typeface="Aptos"/>
                <a:ea typeface="Aptos"/>
                <a:cs typeface="Aptos"/>
              </a:rPr>
              <a:t>Снага</a:t>
            </a:r>
          </a:p>
        </p:txBody>
      </p:sp>
      <p:sp>
        <p:nvSpPr>
          <p:cNvPr id="8" name="Rectangle 7">
            <a:extLst>
              <a:ext uri="{FF2B5EF4-FFF2-40B4-BE49-F238E27FC236}">
                <a16:creationId xmlns:a16="http://schemas.microsoft.com/office/drawing/2014/main" id="{34A5363A-D8CF-4776-A535-99BA9893AD60}"/>
              </a:ext>
            </a:extLst>
          </p:cNvPr>
          <p:cNvSpPr>
            <a:spLocks noGrp="1"/>
          </p:cNvSpPr>
          <p:nvPr/>
        </p:nvSpPr>
        <p:spPr>
          <a:xfrm>
            <a:off x="7543800" y="2047875"/>
            <a:ext cx="3771900" cy="228600"/>
          </a:xfrm>
          <a:prstGeom prst="rect">
            <a:avLst/>
          </a:prstGeom>
          <a:noFill/>
          <a:ln w="0">
            <a:noFill/>
          </a:ln>
        </p:spPr>
        <p:txBody>
          <a:bodyPr wrap="square" lIns="0" tIns="0" rIns="0" bIns="0" anchor="t">
            <a:normAutofit/>
          </a:bodyPr>
          <a:lstStyle/>
          <a:p>
            <a:pPr algn="l">
              <a:lnSpc>
                <a:spcPct val="102000"/>
              </a:lnSpc>
              <a:buNone/>
              <a:defRPr sz="1050" b="1">
                <a:solidFill>
                  <a:srgbClr val="657184"/>
                </a:solidFill>
                <a:latin typeface="Aptos"/>
                <a:ea typeface="Aptos"/>
                <a:cs typeface="Aptos"/>
              </a:defRPr>
            </a:pPr>
            <a:r>
              <a:rPr sz="1275" b="1">
                <a:solidFill>
                  <a:srgbClr val="657184"/>
                </a:solidFill>
                <a:latin typeface="Aptos"/>
                <a:ea typeface="Aptos"/>
                <a:cs typeface="Aptos"/>
              </a:rPr>
              <a:t>Ограничење</a:t>
            </a:r>
          </a:p>
        </p:txBody>
      </p:sp>
      <p:sp>
        <p:nvSpPr>
          <p:cNvPr id="9" name="Rounded Rectangle 8">
            <a:extLst>
              <a:ext uri="{FF2B5EF4-FFF2-40B4-BE49-F238E27FC236}">
                <a16:creationId xmlns:a16="http://schemas.microsoft.com/office/drawing/2014/main" id="{FFD8BD8B-BA83-4579-BD3A-55A056756CE0}"/>
              </a:ext>
            </a:extLst>
          </p:cNvPr>
          <p:cNvSpPr>
            <a:spLocks noGrp="1"/>
          </p:cNvSpPr>
          <p:nvPr/>
        </p:nvSpPr>
        <p:spPr>
          <a:xfrm>
            <a:off x="800100" y="2362200"/>
            <a:ext cx="10591800" cy="609600"/>
          </a:xfrm>
          <a:prstGeom prst="roundRect">
            <a:avLst>
              <a:gd name="adj" fmla="val 17188"/>
            </a:avLst>
          </a:prstGeom>
          <a:solidFill>
            <a:srgbClr val="F4F6F9"/>
          </a:solidFill>
          <a:ln w="9525">
            <a:solidFill>
              <a:srgbClr val="D7DEE8"/>
            </a:solidFill>
            <a:prstDash val="solid"/>
          </a:ln>
        </p:spPr>
      </p:sp>
      <p:sp>
        <p:nvSpPr>
          <p:cNvPr id="10" name="Rectangle 9">
            <a:extLst>
              <a:ext uri="{FF2B5EF4-FFF2-40B4-BE49-F238E27FC236}">
                <a16:creationId xmlns:a16="http://schemas.microsoft.com/office/drawing/2014/main" id="{EC017D53-9C5D-438A-9395-7D6C44024DEC}"/>
              </a:ext>
            </a:extLst>
          </p:cNvPr>
          <p:cNvSpPr>
            <a:spLocks noGrp="1"/>
          </p:cNvSpPr>
          <p:nvPr/>
        </p:nvSpPr>
        <p:spPr>
          <a:xfrm>
            <a:off x="952500" y="2486025"/>
            <a:ext cx="2381250" cy="361950"/>
          </a:xfrm>
          <a:prstGeom prst="rect">
            <a:avLst/>
          </a:prstGeom>
          <a:noFill/>
          <a:ln w="0">
            <a:noFill/>
          </a:ln>
        </p:spPr>
        <p:txBody>
          <a:bodyPr wrap="square" lIns="0" tIns="0" rIns="0" bIns="0" anchor="ctr">
            <a:normAutofit/>
          </a:bodyPr>
          <a:lstStyle/>
          <a:p>
            <a:pPr algn="l">
              <a:lnSpc>
                <a:spcPct val="102000"/>
              </a:lnSpc>
              <a:buNone/>
              <a:defRPr sz="1275" b="1">
                <a:solidFill>
                  <a:srgbClr val="748092"/>
                </a:solidFill>
                <a:latin typeface="Aptos"/>
                <a:ea typeface="Aptos"/>
                <a:cs typeface="Aptos"/>
              </a:defRPr>
            </a:pPr>
            <a:r>
              <a:rPr sz="1275" b="1">
                <a:solidFill>
                  <a:srgbClr val="748092"/>
                </a:solidFill>
                <a:latin typeface="Aptos"/>
                <a:ea typeface="Aptos"/>
                <a:cs typeface="Aptos"/>
              </a:rPr>
              <a:t>RBAC</a:t>
            </a:r>
          </a:p>
        </p:txBody>
      </p:sp>
      <p:sp>
        <p:nvSpPr>
          <p:cNvPr id="11" name="Rectangle 10">
            <a:extLst>
              <a:ext uri="{FF2B5EF4-FFF2-40B4-BE49-F238E27FC236}">
                <a16:creationId xmlns:a16="http://schemas.microsoft.com/office/drawing/2014/main" id="{031FF4D6-2943-48E5-815C-B2111A4607ED}"/>
              </a:ext>
            </a:extLst>
          </p:cNvPr>
          <p:cNvSpPr>
            <a:spLocks noGrp="1"/>
          </p:cNvSpPr>
          <p:nvPr/>
        </p:nvSpPr>
        <p:spPr>
          <a:xfrm>
            <a:off x="3638550" y="242887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Јасне, стабилне одговорности.</a:t>
            </a:r>
          </a:p>
        </p:txBody>
      </p:sp>
      <p:sp>
        <p:nvSpPr>
          <p:cNvPr id="12" name="Rectangle 11">
            <a:extLst>
              <a:ext uri="{FF2B5EF4-FFF2-40B4-BE49-F238E27FC236}">
                <a16:creationId xmlns:a16="http://schemas.microsoft.com/office/drawing/2014/main" id="{93946625-C64E-401A-A287-6B2F0F852F31}"/>
              </a:ext>
            </a:extLst>
          </p:cNvPr>
          <p:cNvSpPr>
            <a:spLocks noGrp="1"/>
          </p:cNvSpPr>
          <p:nvPr/>
        </p:nvSpPr>
        <p:spPr>
          <a:xfrm>
            <a:off x="7543800" y="242887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Тешко изражава време, власништво и стање.</a:t>
            </a:r>
          </a:p>
        </p:txBody>
      </p:sp>
      <p:sp>
        <p:nvSpPr>
          <p:cNvPr id="13" name="Rounded Rectangle 12">
            <a:extLst>
              <a:ext uri="{FF2B5EF4-FFF2-40B4-BE49-F238E27FC236}">
                <a16:creationId xmlns:a16="http://schemas.microsoft.com/office/drawing/2014/main" id="{C6C86AC0-6B85-4291-AFD5-E845EEE801E8}"/>
              </a:ext>
            </a:extLst>
          </p:cNvPr>
          <p:cNvSpPr>
            <a:spLocks noGrp="1"/>
          </p:cNvSpPr>
          <p:nvPr/>
        </p:nvSpPr>
        <p:spPr>
          <a:xfrm>
            <a:off x="800100" y="3105150"/>
            <a:ext cx="10591800" cy="609600"/>
          </a:xfrm>
          <a:prstGeom prst="roundRect">
            <a:avLst>
              <a:gd name="adj" fmla="val 17188"/>
            </a:avLst>
          </a:prstGeom>
          <a:solidFill>
            <a:srgbClr val="EEF3FF"/>
          </a:solidFill>
          <a:ln w="9525">
            <a:solidFill>
              <a:srgbClr val="D7DEE8"/>
            </a:solidFill>
            <a:prstDash val="solid"/>
          </a:ln>
        </p:spPr>
      </p:sp>
      <p:sp>
        <p:nvSpPr>
          <p:cNvPr id="14" name="Rectangle 13">
            <a:extLst>
              <a:ext uri="{FF2B5EF4-FFF2-40B4-BE49-F238E27FC236}">
                <a16:creationId xmlns:a16="http://schemas.microsoft.com/office/drawing/2014/main" id="{C422ADF4-4AC3-42DF-B4F5-1D1A71C84EFD}"/>
              </a:ext>
            </a:extLst>
          </p:cNvPr>
          <p:cNvSpPr>
            <a:spLocks noGrp="1"/>
          </p:cNvSpPr>
          <p:nvPr/>
        </p:nvSpPr>
        <p:spPr>
          <a:xfrm>
            <a:off x="952500" y="3228975"/>
            <a:ext cx="2381250" cy="361950"/>
          </a:xfrm>
          <a:prstGeom prst="rect">
            <a:avLst/>
          </a:prstGeom>
          <a:noFill/>
          <a:ln w="0">
            <a:noFill/>
          </a:ln>
        </p:spPr>
        <p:txBody>
          <a:bodyPr wrap="square" lIns="0" tIns="0" rIns="0" bIns="0" anchor="ctr">
            <a:normAutofit/>
          </a:bodyPr>
          <a:lstStyle/>
          <a:p>
            <a:pPr algn="l">
              <a:lnSpc>
                <a:spcPct val="102000"/>
              </a:lnSpc>
              <a:buNone/>
              <a:defRPr sz="1275" b="1">
                <a:solidFill>
                  <a:srgbClr val="2F5EF5"/>
                </a:solidFill>
                <a:latin typeface="Aptos"/>
                <a:ea typeface="Aptos"/>
                <a:cs typeface="Aptos"/>
              </a:defRPr>
            </a:pPr>
            <a:r>
              <a:rPr sz="1275" b="1">
                <a:solidFill>
                  <a:srgbClr val="2F5EF5"/>
                </a:solidFill>
                <a:latin typeface="Aptos"/>
                <a:ea typeface="Aptos"/>
                <a:cs typeface="Aptos"/>
              </a:rPr>
              <a:t>ABAC</a:t>
            </a:r>
          </a:p>
        </p:txBody>
      </p:sp>
      <p:sp>
        <p:nvSpPr>
          <p:cNvPr id="15" name="Rectangle 14">
            <a:extLst>
              <a:ext uri="{FF2B5EF4-FFF2-40B4-BE49-F238E27FC236}">
                <a16:creationId xmlns:a16="http://schemas.microsoft.com/office/drawing/2014/main" id="{46742323-3144-4C31-9713-7C250047A1E9}"/>
              </a:ext>
            </a:extLst>
          </p:cNvPr>
          <p:cNvSpPr>
            <a:spLocks noGrp="1"/>
          </p:cNvSpPr>
          <p:nvPr/>
        </p:nvSpPr>
        <p:spPr>
          <a:xfrm>
            <a:off x="3638550" y="317182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Користи богат контекст одлуке.</a:t>
            </a:r>
          </a:p>
        </p:txBody>
      </p:sp>
      <p:sp>
        <p:nvSpPr>
          <p:cNvPr id="16" name="Rectangle 15">
            <a:extLst>
              <a:ext uri="{FF2B5EF4-FFF2-40B4-BE49-F238E27FC236}">
                <a16:creationId xmlns:a16="http://schemas.microsoft.com/office/drawing/2014/main" id="{DAC57574-9F32-48B0-9A7A-8F3D1288BE98}"/>
              </a:ext>
            </a:extLst>
          </p:cNvPr>
          <p:cNvSpPr>
            <a:spLocks noGrp="1"/>
          </p:cNvSpPr>
          <p:nvPr/>
        </p:nvSpPr>
        <p:spPr>
          <a:xfrm>
            <a:off x="7543800" y="317182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Тражи поуздане атрибуте и читљива правила.</a:t>
            </a:r>
          </a:p>
        </p:txBody>
      </p:sp>
      <p:sp>
        <p:nvSpPr>
          <p:cNvPr id="17" name="Rounded Rectangle 16">
            <a:extLst>
              <a:ext uri="{FF2B5EF4-FFF2-40B4-BE49-F238E27FC236}">
                <a16:creationId xmlns:a16="http://schemas.microsoft.com/office/drawing/2014/main" id="{83E4F62B-E9CC-4CA1-9514-2152E7DEB5FF}"/>
              </a:ext>
            </a:extLst>
          </p:cNvPr>
          <p:cNvSpPr>
            <a:spLocks noGrp="1"/>
          </p:cNvSpPr>
          <p:nvPr/>
        </p:nvSpPr>
        <p:spPr>
          <a:xfrm>
            <a:off x="800100" y="3848100"/>
            <a:ext cx="10591800" cy="609600"/>
          </a:xfrm>
          <a:prstGeom prst="roundRect">
            <a:avLst>
              <a:gd name="adj" fmla="val 17188"/>
            </a:avLst>
          </a:prstGeom>
          <a:solidFill>
            <a:srgbClr val="F5F0FF"/>
          </a:solidFill>
          <a:ln w="9525">
            <a:solidFill>
              <a:srgbClr val="D7DEE8"/>
            </a:solidFill>
            <a:prstDash val="solid"/>
          </a:ln>
        </p:spPr>
      </p:sp>
      <p:sp>
        <p:nvSpPr>
          <p:cNvPr id="18" name="Rectangle 17">
            <a:extLst>
              <a:ext uri="{FF2B5EF4-FFF2-40B4-BE49-F238E27FC236}">
                <a16:creationId xmlns:a16="http://schemas.microsoft.com/office/drawing/2014/main" id="{F5C7FE12-A063-4797-BEA1-0450B0471C9D}"/>
              </a:ext>
            </a:extLst>
          </p:cNvPr>
          <p:cNvSpPr>
            <a:spLocks noGrp="1"/>
          </p:cNvSpPr>
          <p:nvPr/>
        </p:nvSpPr>
        <p:spPr>
          <a:xfrm>
            <a:off x="952500" y="3971925"/>
            <a:ext cx="2381250" cy="361950"/>
          </a:xfrm>
          <a:prstGeom prst="rect">
            <a:avLst/>
          </a:prstGeom>
          <a:noFill/>
          <a:ln w="0">
            <a:noFill/>
          </a:ln>
        </p:spPr>
        <p:txBody>
          <a:bodyPr wrap="square" lIns="0" tIns="0" rIns="0" bIns="0" anchor="ctr">
            <a:normAutofit/>
          </a:bodyPr>
          <a:lstStyle/>
          <a:p>
            <a:pPr algn="l">
              <a:lnSpc>
                <a:spcPct val="102000"/>
              </a:lnSpc>
              <a:buNone/>
              <a:defRPr sz="1275" b="1">
                <a:solidFill>
                  <a:srgbClr val="7651D4"/>
                </a:solidFill>
                <a:latin typeface="Aptos"/>
                <a:ea typeface="Aptos"/>
                <a:cs typeface="Aptos"/>
              </a:defRPr>
            </a:pPr>
            <a:r>
              <a:rPr sz="1275" b="1">
                <a:solidFill>
                  <a:srgbClr val="7651D4"/>
                </a:solidFill>
                <a:latin typeface="Aptos"/>
                <a:ea typeface="Aptos"/>
                <a:cs typeface="Aptos"/>
              </a:rPr>
              <a:t>Комбинација</a:t>
            </a:r>
          </a:p>
        </p:txBody>
      </p:sp>
      <p:sp>
        <p:nvSpPr>
          <p:cNvPr id="19" name="Rectangle 18">
            <a:extLst>
              <a:ext uri="{FF2B5EF4-FFF2-40B4-BE49-F238E27FC236}">
                <a16:creationId xmlns:a16="http://schemas.microsoft.com/office/drawing/2014/main" id="{9D57759B-4150-45F1-86EC-72E90B94B91B}"/>
              </a:ext>
            </a:extLst>
          </p:cNvPr>
          <p:cNvSpPr>
            <a:spLocks noGrp="1"/>
          </p:cNvSpPr>
          <p:nvPr/>
        </p:nvSpPr>
        <p:spPr>
          <a:xfrm>
            <a:off x="3638550" y="391477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Улога даје основу, атрибути прецизирају.</a:t>
            </a:r>
          </a:p>
        </p:txBody>
      </p:sp>
      <p:sp>
        <p:nvSpPr>
          <p:cNvPr id="20" name="Rectangle 19">
            <a:extLst>
              <a:ext uri="{FF2B5EF4-FFF2-40B4-BE49-F238E27FC236}">
                <a16:creationId xmlns:a16="http://schemas.microsoft.com/office/drawing/2014/main" id="{5B308EAC-6E06-4D1F-96DD-1B18F6109191}"/>
              </a:ext>
            </a:extLst>
          </p:cNvPr>
          <p:cNvSpPr>
            <a:spLocks noGrp="1"/>
          </p:cNvSpPr>
          <p:nvPr/>
        </p:nvSpPr>
        <p:spPr>
          <a:xfrm>
            <a:off x="7543800" y="391477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Потребно је пажљиво објаснити приоритет правила.</a:t>
            </a:r>
          </a:p>
        </p:txBody>
      </p:sp>
      <p:sp>
        <p:nvSpPr>
          <p:cNvPr id="21" name="Rounded Rectangle 20">
            <a:extLst>
              <a:ext uri="{FF2B5EF4-FFF2-40B4-BE49-F238E27FC236}">
                <a16:creationId xmlns:a16="http://schemas.microsoft.com/office/drawing/2014/main" id="{BC5E44BE-A51F-4435-9478-3AAE79F0D252}"/>
              </a:ext>
            </a:extLst>
          </p:cNvPr>
          <p:cNvSpPr>
            <a:spLocks noGrp="1"/>
          </p:cNvSpPr>
          <p:nvPr/>
        </p:nvSpPr>
        <p:spPr>
          <a:xfrm>
            <a:off x="800100" y="4591050"/>
            <a:ext cx="10591800" cy="609600"/>
          </a:xfrm>
          <a:prstGeom prst="roundRect">
            <a:avLst>
              <a:gd name="adj" fmla="val 17188"/>
            </a:avLst>
          </a:prstGeom>
          <a:solidFill>
            <a:srgbClr val="EDF8F2"/>
          </a:solidFill>
          <a:ln w="9525">
            <a:solidFill>
              <a:srgbClr val="D7DEE8"/>
            </a:solidFill>
            <a:prstDash val="solid"/>
          </a:ln>
        </p:spPr>
      </p:sp>
      <p:sp>
        <p:nvSpPr>
          <p:cNvPr id="22" name="Rectangle 21">
            <a:extLst>
              <a:ext uri="{FF2B5EF4-FFF2-40B4-BE49-F238E27FC236}">
                <a16:creationId xmlns:a16="http://schemas.microsoft.com/office/drawing/2014/main" id="{88CEBBFD-20A8-444A-89F4-847DFB07FBDB}"/>
              </a:ext>
            </a:extLst>
          </p:cNvPr>
          <p:cNvSpPr>
            <a:spLocks noGrp="1"/>
          </p:cNvSpPr>
          <p:nvPr/>
        </p:nvSpPr>
        <p:spPr>
          <a:xfrm>
            <a:off x="952500" y="4714875"/>
            <a:ext cx="2381250" cy="361950"/>
          </a:xfrm>
          <a:prstGeom prst="rect">
            <a:avLst/>
          </a:prstGeom>
          <a:noFill/>
          <a:ln w="0">
            <a:noFill/>
          </a:ln>
        </p:spPr>
        <p:txBody>
          <a:bodyPr wrap="square" lIns="0" tIns="0" rIns="0" bIns="0" anchor="ctr">
            <a:normAutofit/>
          </a:bodyPr>
          <a:lstStyle/>
          <a:p>
            <a:pPr algn="l">
              <a:lnSpc>
                <a:spcPct val="102000"/>
              </a:lnSpc>
              <a:buNone/>
              <a:defRPr sz="1275" b="1">
                <a:solidFill>
                  <a:srgbClr val="138A5B"/>
                </a:solidFill>
                <a:latin typeface="Aptos"/>
                <a:ea typeface="Aptos"/>
                <a:cs typeface="Aptos"/>
              </a:defRPr>
            </a:pPr>
            <a:r>
              <a:rPr sz="1275" b="1">
                <a:solidFill>
                  <a:srgbClr val="138A5B"/>
                </a:solidFill>
                <a:latin typeface="Aptos"/>
                <a:ea typeface="Aptos"/>
                <a:cs typeface="Aptos"/>
              </a:rPr>
              <a:t>SoD</a:t>
            </a:r>
          </a:p>
        </p:txBody>
      </p:sp>
      <p:sp>
        <p:nvSpPr>
          <p:cNvPr id="23" name="Rectangle 22">
            <a:extLst>
              <a:ext uri="{FF2B5EF4-FFF2-40B4-BE49-F238E27FC236}">
                <a16:creationId xmlns:a16="http://schemas.microsoft.com/office/drawing/2014/main" id="{FE0D4270-95F8-4743-BED6-BD27D2D3C338}"/>
              </a:ext>
            </a:extLst>
          </p:cNvPr>
          <p:cNvSpPr>
            <a:spLocks noGrp="1"/>
          </p:cNvSpPr>
          <p:nvPr/>
        </p:nvSpPr>
        <p:spPr>
          <a:xfrm>
            <a:off x="3638550" y="465772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Спречава ризичне комбинације права.</a:t>
            </a:r>
          </a:p>
        </p:txBody>
      </p:sp>
      <p:sp>
        <p:nvSpPr>
          <p:cNvPr id="24" name="Rectangle 23">
            <a:extLst>
              <a:ext uri="{FF2B5EF4-FFF2-40B4-BE49-F238E27FC236}">
                <a16:creationId xmlns:a16="http://schemas.microsoft.com/office/drawing/2014/main" id="{D73626F6-7D42-4744-8FDC-A7D49AEB5E26}"/>
              </a:ext>
            </a:extLst>
          </p:cNvPr>
          <p:cNvSpPr>
            <a:spLocks noGrp="1"/>
          </p:cNvSpPr>
          <p:nvPr/>
        </p:nvSpPr>
        <p:spPr>
          <a:xfrm>
            <a:off x="7543800" y="4657725"/>
            <a:ext cx="3619500" cy="457200"/>
          </a:xfrm>
          <a:prstGeom prst="rect">
            <a:avLst/>
          </a:prstGeom>
          <a:noFill/>
          <a:ln w="0">
            <a:noFill/>
          </a:ln>
        </p:spPr>
        <p:txBody>
          <a:bodyPr wrap="square" lIns="0" tIns="0" rIns="0" bIns="0" anchor="ctr">
            <a:normAutofit/>
          </a:bodyPr>
          <a:lstStyle/>
          <a:p>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Мора се проверавати кроз ефективна права.</a:t>
            </a:r>
          </a:p>
        </p:txBody>
      </p:sp>
    </p:spTree>
    <p:extLst>
      <p:ext uri="{BB962C8B-B14F-4D97-AF65-F5344CB8AC3E}">
        <p14:creationId xmlns:p14="http://schemas.microsoft.com/office/powerpoint/2010/main" val="1544830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817B6E-F2DB-4E5C-BA4E-88D3B75CBDDF}"/>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8605C3B8-C963-48DC-B534-C34D30D891BF}"/>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A2897430-637C-4EB5-A94F-0FD4DB768AB2}"/>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9</a:t>
            </a:r>
          </a:p>
        </p:txBody>
      </p:sp>
      <p:sp>
        <p:nvSpPr>
          <p:cNvPr id="4" name="Rectangle 3">
            <a:extLst>
              <a:ext uri="{FF2B5EF4-FFF2-40B4-BE49-F238E27FC236}">
                <a16:creationId xmlns:a16="http://schemas.microsoft.com/office/drawing/2014/main" id="{8CB883DB-CC8A-4C79-86BC-4AFFAA4F321F}"/>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Шема контекстуалне одлуке</a:t>
            </a:r>
          </a:p>
        </p:txBody>
      </p:sp>
      <p:sp>
        <p:nvSpPr>
          <p:cNvPr id="5" name="Rectangle 4">
            <a:extLst>
              <a:ext uri="{FF2B5EF4-FFF2-40B4-BE49-F238E27FC236}">
                <a16:creationId xmlns:a16="http://schemas.microsoft.com/office/drawing/2014/main" id="{62D7143E-50C9-48B6-BFD6-20E9A10054A8}"/>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Контекст даје прецизност одлуци, а редован преглед проверава да ли одлука и даље има смисла.</a:t>
            </a:r>
          </a:p>
        </p:txBody>
      </p:sp>
      <p:sp>
        <p:nvSpPr>
          <p:cNvPr id="6" name="Rounded Rectangle 5">
            <a:extLst>
              <a:ext uri="{FF2B5EF4-FFF2-40B4-BE49-F238E27FC236}">
                <a16:creationId xmlns:a16="http://schemas.microsoft.com/office/drawing/2014/main" id="{E13726A7-6119-447A-A4CD-1C09549A45A4}"/>
              </a:ext>
            </a:extLst>
          </p:cNvPr>
          <p:cNvSpPr>
            <a:spLocks noGrp="1"/>
          </p:cNvSpPr>
          <p:nvPr/>
        </p:nvSpPr>
        <p:spPr>
          <a:xfrm>
            <a:off x="742950" y="2571750"/>
            <a:ext cx="2462213" cy="1257300"/>
          </a:xfrm>
          <a:prstGeom prst="roundRect">
            <a:avLst>
              <a:gd name="adj" fmla="val 10606"/>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E78289B5-3450-431C-8F60-253DC9A2E9D3}"/>
              </a:ext>
            </a:extLst>
          </p:cNvPr>
          <p:cNvSpPr>
            <a:spLocks noGrp="1"/>
          </p:cNvSpPr>
          <p:nvPr/>
        </p:nvSpPr>
        <p:spPr>
          <a:xfrm>
            <a:off x="885825" y="2686050"/>
            <a:ext cx="2176463"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30C8E62F-8C9F-4888-A4B4-C6B9029AAEB7}"/>
              </a:ext>
            </a:extLst>
          </p:cNvPr>
          <p:cNvSpPr>
            <a:spLocks noGrp="1"/>
          </p:cNvSpPr>
          <p:nvPr/>
        </p:nvSpPr>
        <p:spPr>
          <a:xfrm>
            <a:off x="876300" y="2971800"/>
            <a:ext cx="2195513"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Поуздани атрибути</a:t>
            </a:r>
          </a:p>
        </p:txBody>
      </p:sp>
      <p:sp>
        <p:nvSpPr>
          <p:cNvPr id="9" name="Rectangle 8">
            <a:extLst>
              <a:ext uri="{FF2B5EF4-FFF2-40B4-BE49-F238E27FC236}">
                <a16:creationId xmlns:a16="http://schemas.microsoft.com/office/drawing/2014/main" id="{A74ADA88-3A85-45FF-BE57-AC38AB60698F}"/>
              </a:ext>
            </a:extLst>
          </p:cNvPr>
          <p:cNvSpPr>
            <a:spLocks noGrp="1"/>
          </p:cNvSpPr>
          <p:nvPr/>
        </p:nvSpPr>
        <p:spPr>
          <a:xfrm>
            <a:off x="885825" y="3362325"/>
            <a:ext cx="2176463"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 где, када и над чим</a:t>
            </a:r>
          </a:p>
        </p:txBody>
      </p:sp>
      <p:sp>
        <p:nvSpPr>
          <p:cNvPr id="10" name="Rounded Rectangle 9">
            <a:extLst>
              <a:ext uri="{FF2B5EF4-FFF2-40B4-BE49-F238E27FC236}">
                <a16:creationId xmlns:a16="http://schemas.microsoft.com/office/drawing/2014/main" id="{5546F35C-9BEF-47EF-B0DC-3324A6BF065D}"/>
              </a:ext>
            </a:extLst>
          </p:cNvPr>
          <p:cNvSpPr>
            <a:spLocks noGrp="1"/>
          </p:cNvSpPr>
          <p:nvPr/>
        </p:nvSpPr>
        <p:spPr>
          <a:xfrm>
            <a:off x="3490913" y="2571750"/>
            <a:ext cx="2462213" cy="1257300"/>
          </a:xfrm>
          <a:prstGeom prst="roundRect">
            <a:avLst>
              <a:gd name="adj" fmla="val 10606"/>
            </a:avLst>
          </a:prstGeom>
          <a:solidFill>
            <a:srgbClr val="EDF8FA"/>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3D0753B9-FF72-4FC6-9630-78A8C7FC4C31}"/>
              </a:ext>
            </a:extLst>
          </p:cNvPr>
          <p:cNvSpPr>
            <a:spLocks noGrp="1"/>
          </p:cNvSpPr>
          <p:nvPr/>
        </p:nvSpPr>
        <p:spPr>
          <a:xfrm>
            <a:off x="3633788" y="2686050"/>
            <a:ext cx="2176463"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68496"/>
                </a:solidFill>
                <a:latin typeface="Aptos"/>
                <a:ea typeface="Aptos"/>
                <a:cs typeface="Aptos"/>
              </a:defRPr>
            </a:pPr>
            <a:r>
              <a:rPr sz="1200" b="1">
                <a:solidFill>
                  <a:srgbClr val="168496"/>
                </a:solidFill>
                <a:latin typeface="Aptos"/>
                <a:ea typeface="Aptos"/>
                <a:cs typeface="Aptos"/>
              </a:rPr>
              <a:t>02</a:t>
            </a:r>
          </a:p>
        </p:txBody>
      </p:sp>
      <p:sp>
        <p:nvSpPr>
          <p:cNvPr id="12" name="Rectangle 11">
            <a:extLst>
              <a:ext uri="{FF2B5EF4-FFF2-40B4-BE49-F238E27FC236}">
                <a16:creationId xmlns:a16="http://schemas.microsoft.com/office/drawing/2014/main" id="{F94DDEBE-FFC0-43C3-B337-99B2A670709E}"/>
              </a:ext>
            </a:extLst>
          </p:cNvPr>
          <p:cNvSpPr>
            <a:spLocks noGrp="1"/>
          </p:cNvSpPr>
          <p:nvPr/>
        </p:nvSpPr>
        <p:spPr>
          <a:xfrm>
            <a:off x="3624263" y="2971800"/>
            <a:ext cx="2195513"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Политика</a:t>
            </a:r>
          </a:p>
        </p:txBody>
      </p:sp>
      <p:sp>
        <p:nvSpPr>
          <p:cNvPr id="13" name="Rectangle 12">
            <a:extLst>
              <a:ext uri="{FF2B5EF4-FFF2-40B4-BE49-F238E27FC236}">
                <a16:creationId xmlns:a16="http://schemas.microsoft.com/office/drawing/2014/main" id="{340C3B96-DF9E-485B-A01E-C613019B1ECE}"/>
              </a:ext>
            </a:extLst>
          </p:cNvPr>
          <p:cNvSpPr>
            <a:spLocks noGrp="1"/>
          </p:cNvSpPr>
          <p:nvPr/>
        </p:nvSpPr>
        <p:spPr>
          <a:xfrm>
            <a:off x="3633788" y="3362325"/>
            <a:ext cx="2176463"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правило приступа</a:t>
            </a:r>
          </a:p>
        </p:txBody>
      </p:sp>
      <p:sp>
        <p:nvSpPr>
          <p:cNvPr id="14" name="Rounded Rectangle 13">
            <a:extLst>
              <a:ext uri="{FF2B5EF4-FFF2-40B4-BE49-F238E27FC236}">
                <a16:creationId xmlns:a16="http://schemas.microsoft.com/office/drawing/2014/main" id="{8B90322C-1B78-4481-BAF8-BC755B74A4F3}"/>
              </a:ext>
            </a:extLst>
          </p:cNvPr>
          <p:cNvSpPr>
            <a:spLocks noGrp="1"/>
          </p:cNvSpPr>
          <p:nvPr/>
        </p:nvSpPr>
        <p:spPr>
          <a:xfrm>
            <a:off x="6238875" y="2571750"/>
            <a:ext cx="2462213" cy="1257300"/>
          </a:xfrm>
          <a:prstGeom prst="roundRect">
            <a:avLst>
              <a:gd name="adj" fmla="val 10606"/>
            </a:avLst>
          </a:prstGeom>
          <a:solidFill>
            <a:srgbClr val="FFF6E9"/>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854B6BB2-10EA-4802-B664-AB5E98466327}"/>
              </a:ext>
            </a:extLst>
          </p:cNvPr>
          <p:cNvSpPr>
            <a:spLocks noGrp="1"/>
          </p:cNvSpPr>
          <p:nvPr/>
        </p:nvSpPr>
        <p:spPr>
          <a:xfrm>
            <a:off x="6381750" y="2686050"/>
            <a:ext cx="2176463"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03</a:t>
            </a:r>
          </a:p>
        </p:txBody>
      </p:sp>
      <p:sp>
        <p:nvSpPr>
          <p:cNvPr id="16" name="Rectangle 15">
            <a:extLst>
              <a:ext uri="{FF2B5EF4-FFF2-40B4-BE49-F238E27FC236}">
                <a16:creationId xmlns:a16="http://schemas.microsoft.com/office/drawing/2014/main" id="{48C715E1-8142-4773-97A5-4E88B93A7EA0}"/>
              </a:ext>
            </a:extLst>
          </p:cNvPr>
          <p:cNvSpPr>
            <a:spLocks noGrp="1"/>
          </p:cNvSpPr>
          <p:nvPr/>
        </p:nvSpPr>
        <p:spPr>
          <a:xfrm>
            <a:off x="6372225" y="2971800"/>
            <a:ext cx="2195513"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Ризик</a:t>
            </a:r>
          </a:p>
        </p:txBody>
      </p:sp>
      <p:sp>
        <p:nvSpPr>
          <p:cNvPr id="17" name="Rectangle 16">
            <a:extLst>
              <a:ext uri="{FF2B5EF4-FFF2-40B4-BE49-F238E27FC236}">
                <a16:creationId xmlns:a16="http://schemas.microsoft.com/office/drawing/2014/main" id="{9068B0C4-EFB9-47AC-9EDD-28B1E14DADA4}"/>
              </a:ext>
            </a:extLst>
          </p:cNvPr>
          <p:cNvSpPr>
            <a:spLocks noGrp="1"/>
          </p:cNvSpPr>
          <p:nvPr/>
        </p:nvSpPr>
        <p:spPr>
          <a:xfrm>
            <a:off x="6381750" y="3362325"/>
            <a:ext cx="2176463" cy="323850"/>
          </a:xfrm>
          <a:prstGeom prst="rect">
            <a:avLst/>
          </a:prstGeom>
          <a:noFill/>
          <a:ln w="0">
            <a:noFill/>
          </a:ln>
        </p:spPr>
        <p:txBody>
          <a:bodyPr wrap="square" lIns="0" tIns="0" rIns="0" bIns="0" anchor="ctr">
            <a:normAutofit fontScale="90491"/>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утицај и преостала изложеност</a:t>
            </a:r>
          </a:p>
        </p:txBody>
      </p:sp>
      <p:sp>
        <p:nvSpPr>
          <p:cNvPr id="18" name="Rounded Rectangle 17">
            <a:extLst>
              <a:ext uri="{FF2B5EF4-FFF2-40B4-BE49-F238E27FC236}">
                <a16:creationId xmlns:a16="http://schemas.microsoft.com/office/drawing/2014/main" id="{08BEE530-12E6-47FD-938D-5E2D2161CDDB}"/>
              </a:ext>
            </a:extLst>
          </p:cNvPr>
          <p:cNvSpPr>
            <a:spLocks noGrp="1"/>
          </p:cNvSpPr>
          <p:nvPr/>
        </p:nvSpPr>
        <p:spPr>
          <a:xfrm>
            <a:off x="8986838" y="2571750"/>
            <a:ext cx="2462213" cy="1257300"/>
          </a:xfrm>
          <a:prstGeom prst="roundRect">
            <a:avLst>
              <a:gd name="adj" fmla="val 10606"/>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9" name="Rectangle 18">
            <a:extLst>
              <a:ext uri="{FF2B5EF4-FFF2-40B4-BE49-F238E27FC236}">
                <a16:creationId xmlns:a16="http://schemas.microsoft.com/office/drawing/2014/main" id="{0BCC88DE-F73D-4354-BAB1-C9591857EDCD}"/>
              </a:ext>
            </a:extLst>
          </p:cNvPr>
          <p:cNvSpPr>
            <a:spLocks noGrp="1"/>
          </p:cNvSpPr>
          <p:nvPr/>
        </p:nvSpPr>
        <p:spPr>
          <a:xfrm>
            <a:off x="9129713" y="2686050"/>
            <a:ext cx="2176463"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a:ext uri="{FF2B5EF4-FFF2-40B4-BE49-F238E27FC236}">
                <a16:creationId xmlns:a16="http://schemas.microsoft.com/office/drawing/2014/main" id="{6A226957-A444-4C39-BC41-B902C60B91A9}"/>
              </a:ext>
            </a:extLst>
          </p:cNvPr>
          <p:cNvSpPr>
            <a:spLocks noGrp="1"/>
          </p:cNvSpPr>
          <p:nvPr/>
        </p:nvSpPr>
        <p:spPr>
          <a:xfrm>
            <a:off x="9120188" y="2971800"/>
            <a:ext cx="2195513"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Преглед</a:t>
            </a:r>
          </a:p>
        </p:txBody>
      </p:sp>
      <p:sp>
        <p:nvSpPr>
          <p:cNvPr id="21" name="Rectangle 20">
            <a:extLst>
              <a:ext uri="{FF2B5EF4-FFF2-40B4-BE49-F238E27FC236}">
                <a16:creationId xmlns:a16="http://schemas.microsoft.com/office/drawing/2014/main" id="{0FAA19DD-DFD1-4C2B-B39D-D1ABF978047E}"/>
              </a:ext>
            </a:extLst>
          </p:cNvPr>
          <p:cNvSpPr>
            <a:spLocks noGrp="1"/>
          </p:cNvSpPr>
          <p:nvPr/>
        </p:nvSpPr>
        <p:spPr>
          <a:xfrm>
            <a:off x="9129713" y="3362325"/>
            <a:ext cx="2176463" cy="323850"/>
          </a:xfrm>
          <a:prstGeom prst="rect">
            <a:avLst/>
          </a:prstGeom>
          <a:noFill/>
          <a:ln w="0">
            <a:noFill/>
          </a:ln>
        </p:spPr>
        <p:txBody>
          <a:bodyPr wrap="square" lIns="0" tIns="0" rIns="0" bIns="0" anchor="ctr">
            <a:normAutofit fontScale="93479"/>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потврда или повлачење права</a:t>
            </a:r>
          </a:p>
        </p:txBody>
      </p:sp>
      <p:cxnSp>
        <p:nvCxnSpPr>
          <p:cNvPr id="125" name="Straight Arrow Connector 124"/>
          <p:cNvCxnSpPr>
            <a:stCxn id="6" idx="3"/>
            <a:endCxn id="10" idx="1"/>
          </p:cNvCxnSpPr>
          <p:nvPr/>
        </p:nvCxnSpPr>
        <p:spPr>
          <a:xfrm>
            <a:off x="3205163" y="3200400"/>
            <a:ext cx="285750" cy="0"/>
          </a:xfrm>
          <a:prstGeom prst="straightConnector1">
            <a:avLst/>
          </a:prstGeom>
          <a:ln w="13335">
            <a:solidFill>
              <a:srgbClr val="748092"/>
            </a:solidFill>
            <a:prstDash val="solid"/>
            <a:tailEnd type="arrow" w="sm" len="sm"/>
          </a:ln>
        </p:spPr>
      </p:cxnSp>
      <p:cxnSp>
        <p:nvCxnSpPr>
          <p:cNvPr id="126" name="Straight Arrow Connector 125"/>
          <p:cNvCxnSpPr>
            <a:stCxn id="10" idx="3"/>
            <a:endCxn id="14" idx="1"/>
          </p:cNvCxnSpPr>
          <p:nvPr/>
        </p:nvCxnSpPr>
        <p:spPr>
          <a:xfrm>
            <a:off x="5953126" y="3200400"/>
            <a:ext cx="285749" cy="0"/>
          </a:xfrm>
          <a:prstGeom prst="straightConnector1">
            <a:avLst/>
          </a:prstGeom>
          <a:ln w="13335">
            <a:solidFill>
              <a:srgbClr val="748092"/>
            </a:solidFill>
            <a:prstDash val="solid"/>
            <a:tailEnd type="arrow" w="sm" len="sm"/>
          </a:ln>
        </p:spPr>
      </p:cxnSp>
      <p:cxnSp>
        <p:nvCxnSpPr>
          <p:cNvPr id="127" name="Straight Arrow Connector 126"/>
          <p:cNvCxnSpPr>
            <a:stCxn id="14" idx="3"/>
            <a:endCxn id="18" idx="1"/>
          </p:cNvCxnSpPr>
          <p:nvPr/>
        </p:nvCxnSpPr>
        <p:spPr>
          <a:xfrm>
            <a:off x="8701088" y="3200400"/>
            <a:ext cx="285750" cy="0"/>
          </a:xfrm>
          <a:prstGeom prst="straightConnector1">
            <a:avLst/>
          </a:prstGeom>
          <a:ln w="13335">
            <a:solidFill>
              <a:srgbClr val="748092"/>
            </a:solidFill>
            <a:prstDash val="solid"/>
            <a:tailEnd type="arrow" w="sm" len="sm"/>
          </a:ln>
        </p:spPr>
      </p:cxnSp>
      <p:sp>
        <p:nvSpPr>
          <p:cNvPr id="25" name="Rounded Rectangle 24">
            <a:extLst>
              <a:ext uri="{FF2B5EF4-FFF2-40B4-BE49-F238E27FC236}">
                <a16:creationId xmlns:a16="http://schemas.microsoft.com/office/drawing/2014/main" id="{2A7B5B4D-2273-4D27-A178-3E6CB6269FDB}"/>
              </a:ext>
            </a:extLst>
          </p:cNvPr>
          <p:cNvSpPr>
            <a:spLocks noGrp="1"/>
          </p:cNvSpPr>
          <p:nvPr/>
        </p:nvSpPr>
        <p:spPr>
          <a:xfrm>
            <a:off x="1714500" y="4419600"/>
            <a:ext cx="8763000" cy="742950"/>
          </a:xfrm>
          <a:prstGeom prst="roundRect">
            <a:avLst>
              <a:gd name="adj" fmla="val 16667"/>
            </a:avLst>
          </a:prstGeom>
          <a:solidFill>
            <a:srgbClr val="EEF3FF"/>
          </a:solidFill>
          <a:ln w="9525">
            <a:solidFill>
              <a:srgbClr val="D7DEE8"/>
            </a:solidFill>
            <a:prstDash val="solid"/>
          </a:ln>
        </p:spPr>
      </p:sp>
      <p:sp>
        <p:nvSpPr>
          <p:cNvPr id="26" name="Rounded Rectangle 25">
            <a:extLst>
              <a:ext uri="{FF2B5EF4-FFF2-40B4-BE49-F238E27FC236}">
                <a16:creationId xmlns:a16="http://schemas.microsoft.com/office/drawing/2014/main" id="{CB366007-3F40-432C-BE35-25A30904F3F6}"/>
              </a:ext>
            </a:extLst>
          </p:cNvPr>
          <p:cNvSpPr>
            <a:spLocks noGrp="1"/>
          </p:cNvSpPr>
          <p:nvPr/>
        </p:nvSpPr>
        <p:spPr>
          <a:xfrm>
            <a:off x="1847850" y="4562475"/>
            <a:ext cx="57150" cy="457200"/>
          </a:xfrm>
          <a:prstGeom prst="roundRect">
            <a:avLst>
              <a:gd name="adj" fmla="val 50000"/>
            </a:avLst>
          </a:prstGeom>
          <a:solidFill>
            <a:srgbClr val="2F5EF5"/>
          </a:solidFill>
          <a:ln w="0">
            <a:noFill/>
          </a:ln>
        </p:spPr>
      </p:sp>
      <p:sp>
        <p:nvSpPr>
          <p:cNvPr id="76" name="Rounded Rectangle 75">
            <a:extLst>
              <a:ext uri="{FF2B5EF4-FFF2-40B4-BE49-F238E27FC236}">
                <a16:creationId xmlns:a16="http://schemas.microsoft.com/office/drawing/2014/main" id="{7CA5A8AE-8B92-4F28-A48E-E9EF3D510DB3}"/>
              </a:ext>
            </a:extLst>
          </p:cNvPr>
          <p:cNvSpPr>
            <a:spLocks noGrp="1"/>
          </p:cNvSpPr>
          <p:nvPr/>
        </p:nvSpPr>
        <p:spPr>
          <a:xfrm>
            <a:off x="914400" y="4438650"/>
            <a:ext cx="10363200" cy="781050"/>
          </a:xfrm>
          <a:prstGeom prst="roundRect">
            <a:avLst>
              <a:gd name="adj" fmla="val 17073"/>
            </a:avLst>
          </a:prstGeom>
          <a:solidFill>
            <a:srgbClr val="EEF3FF"/>
          </a:solidFill>
          <a:ln w="8573">
            <a:solidFill>
              <a:srgbClr val="CAD7F2"/>
            </a:solidFill>
            <a:prstDash val="solid"/>
          </a:ln>
        </p:spPr>
      </p:sp>
      <p:sp>
        <p:nvSpPr>
          <p:cNvPr id="77" name="Rounded Rectangle 76">
            <a:extLst>
              <a:ext uri="{FF2B5EF4-FFF2-40B4-BE49-F238E27FC236}">
                <a16:creationId xmlns:a16="http://schemas.microsoft.com/office/drawing/2014/main" id="{66AE94AA-BEF8-4C00-A761-CF714E8E83B8}"/>
              </a:ext>
            </a:extLst>
          </p:cNvPr>
          <p:cNvSpPr>
            <a:spLocks noGrp="1"/>
          </p:cNvSpPr>
          <p:nvPr/>
        </p:nvSpPr>
        <p:spPr>
          <a:xfrm>
            <a:off x="1085850" y="4591050"/>
            <a:ext cx="57150" cy="476250"/>
          </a:xfrm>
          <a:prstGeom prst="roundRect">
            <a:avLst>
              <a:gd name="adj" fmla="val 50000"/>
            </a:avLst>
          </a:prstGeom>
          <a:solidFill>
            <a:srgbClr val="2F5EF5"/>
          </a:solidFill>
          <a:ln w="0">
            <a:noFill/>
          </a:ln>
        </p:spPr>
      </p:sp>
      <p:sp>
        <p:nvSpPr>
          <p:cNvPr id="78" name="Rectangle 77">
            <a:extLst>
              <a:ext uri="{FF2B5EF4-FFF2-40B4-BE49-F238E27FC236}">
                <a16:creationId xmlns:a16="http://schemas.microsoft.com/office/drawing/2014/main" id="{C1317162-75DC-4E31-8909-8FAB7FD31CC5}"/>
              </a:ext>
            </a:extLst>
          </p:cNvPr>
          <p:cNvSpPr>
            <a:spLocks noGrp="1"/>
          </p:cNvSpPr>
          <p:nvPr/>
        </p:nvSpPr>
        <p:spPr>
          <a:xfrm>
            <a:off x="1333500" y="454342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ЗАДАТАК</a:t>
            </a:r>
          </a:p>
        </p:txBody>
      </p:sp>
      <p:sp>
        <p:nvSpPr>
          <p:cNvPr id="79" name="Rectangle 78">
            <a:extLst>
              <a:ext uri="{FF2B5EF4-FFF2-40B4-BE49-F238E27FC236}">
                <a16:creationId xmlns:a16="http://schemas.microsoft.com/office/drawing/2014/main" id="{663B158E-5238-45CC-922A-B0587283D6E2}"/>
              </a:ext>
            </a:extLst>
          </p:cNvPr>
          <p:cNvSpPr>
            <a:spLocks noGrp="1"/>
          </p:cNvSpPr>
          <p:nvPr/>
        </p:nvSpPr>
        <p:spPr>
          <a:xfrm>
            <a:off x="1333500" y="4772025"/>
            <a:ext cx="9639300" cy="34290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За сваки корак наведите ко га покреће, ко доноси одлуку и који траг остаје.</a:t>
            </a:r>
          </a:p>
        </p:txBody>
      </p:sp>
    </p:spTree>
    <p:extLst>
      <p:ext uri="{BB962C8B-B14F-4D97-AF65-F5344CB8AC3E}">
        <p14:creationId xmlns:p14="http://schemas.microsoft.com/office/powerpoint/2010/main" val="174233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85E3B20-415C-4CCE-9FC2-0854B4ACA451}"/>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1E2A94D8-056D-44B9-95A4-66FF33580455}"/>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B8E6FB8B-92A3-48D5-A6B8-B08E92819711}"/>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10</a:t>
            </a:r>
          </a:p>
        </p:txBody>
      </p:sp>
      <p:sp>
        <p:nvSpPr>
          <p:cNvPr id="4" name="Rectangle 3">
            <a:extLst>
              <a:ext uri="{FF2B5EF4-FFF2-40B4-BE49-F238E27FC236}">
                <a16:creationId xmlns:a16="http://schemas.microsoft.com/office/drawing/2014/main" id="{28309D67-25DC-47B7-9EE5-CE264825518B}"/>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Од ризика до одлуке о прихватању</a:t>
            </a:r>
          </a:p>
        </p:txBody>
      </p:sp>
      <p:sp>
        <p:nvSpPr>
          <p:cNvPr id="5" name="Rectangle 4">
            <a:extLst>
              <a:ext uri="{FF2B5EF4-FFF2-40B4-BE49-F238E27FC236}">
                <a16:creationId xmlns:a16="http://schemas.microsoft.com/office/drawing/2014/main" id="{62104378-4F15-4FEF-AE7A-BFB7BC277570}"/>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Од описа проблема до одлуке која може да се провери.</a:t>
            </a:r>
          </a:p>
        </p:txBody>
      </p:sp>
      <p:sp>
        <p:nvSpPr>
          <p:cNvPr id="6" name="Rounded Rectangle 5">
            <a:extLst>
              <a:ext uri="{FF2B5EF4-FFF2-40B4-BE49-F238E27FC236}">
                <a16:creationId xmlns:a16="http://schemas.microsoft.com/office/drawing/2014/main" id="{331B1CB0-F106-4BC9-A623-09FB91B066B4}"/>
              </a:ext>
            </a:extLst>
          </p:cNvPr>
          <p:cNvSpPr>
            <a:spLocks noGrp="1"/>
          </p:cNvSpPr>
          <p:nvPr/>
        </p:nvSpPr>
        <p:spPr>
          <a:xfrm>
            <a:off x="781050" y="2152650"/>
            <a:ext cx="4572000" cy="3143250"/>
          </a:xfrm>
          <a:prstGeom prst="roundRect">
            <a:avLst>
              <a:gd name="adj" fmla="val 4242"/>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2135F239-4AE7-4064-987F-AFB8474D19EA}"/>
              </a:ext>
            </a:extLst>
          </p:cNvPr>
          <p:cNvSpPr>
            <a:spLocks noGrp="1"/>
          </p:cNvSpPr>
          <p:nvPr/>
        </p:nvSpPr>
        <p:spPr>
          <a:xfrm>
            <a:off x="933450" y="2276475"/>
            <a:ext cx="426720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КОНТЕКСТ</a:t>
            </a:r>
          </a:p>
        </p:txBody>
      </p:sp>
      <p:sp>
        <p:nvSpPr>
          <p:cNvPr id="8" name="Rectangle 7">
            <a:extLst>
              <a:ext uri="{FF2B5EF4-FFF2-40B4-BE49-F238E27FC236}">
                <a16:creationId xmlns:a16="http://schemas.microsoft.com/office/drawing/2014/main" id="{36681AF7-B87B-4A76-AF8D-399BACABA12F}"/>
              </a:ext>
            </a:extLst>
          </p:cNvPr>
          <p:cNvSpPr>
            <a:spLocks noGrp="1"/>
          </p:cNvSpPr>
          <p:nvPr/>
        </p:nvSpPr>
        <p:spPr>
          <a:xfrm>
            <a:off x="933450" y="2524125"/>
            <a:ext cx="4267200" cy="495300"/>
          </a:xfrm>
          <a:prstGeom prst="rect">
            <a:avLst/>
          </a:prstGeom>
          <a:noFill/>
          <a:ln w="0">
            <a:noFill/>
          </a:ln>
        </p:spPr>
        <p:txBody>
          <a:bodyPr wrap="square" lIns="0" tIns="0" rIns="0" bIns="0" anchor="ctr">
            <a:normAutofit/>
          </a:bodyPr>
          <a:lstStyle/>
          <a:p>
            <a:pPr algn="l">
              <a:lnSpc>
                <a:spcPct val="102000"/>
              </a:lnSpc>
              <a:buNone/>
              <a:defRPr sz="1650" b="1">
                <a:solidFill>
                  <a:srgbClr val="1A202C"/>
                </a:solidFill>
                <a:latin typeface="Aptos"/>
                <a:ea typeface="Aptos"/>
                <a:cs typeface="Aptos"/>
              </a:defRPr>
            </a:pPr>
            <a:r>
              <a:rPr sz="1650" b="1">
                <a:solidFill>
                  <a:srgbClr val="1A202C"/>
                </a:solidFill>
                <a:latin typeface="Aptos"/>
                <a:ea typeface="Aptos"/>
                <a:cs typeface="Aptos"/>
              </a:rPr>
              <a:t>Од ризика до одлуке о прихватању</a:t>
            </a:r>
          </a:p>
        </p:txBody>
      </p:sp>
      <p:sp>
        <p:nvSpPr>
          <p:cNvPr id="9" name="Rectangle 8">
            <a:extLst>
              <a:ext uri="{FF2B5EF4-FFF2-40B4-BE49-F238E27FC236}">
                <a16:creationId xmlns:a16="http://schemas.microsoft.com/office/drawing/2014/main" id="{9BA0851F-31A6-42F2-B299-5ED17F5E17F9}"/>
              </a:ext>
            </a:extLst>
          </p:cNvPr>
          <p:cNvSpPr>
            <a:spLocks noGrp="1"/>
          </p:cNvSpPr>
          <p:nvPr/>
        </p:nvSpPr>
        <p:spPr>
          <a:xfrm>
            <a:off x="933450" y="3086100"/>
            <a:ext cx="4267200" cy="2105025"/>
          </a:xfrm>
          <a:prstGeom prst="rect">
            <a:avLst/>
          </a:prstGeom>
          <a:noFill/>
          <a:ln w="0">
            <a:noFill/>
          </a:ln>
        </p:spPr>
        <p:txBody>
          <a:bodyPr wrap="square" lIns="0" tIns="0" rIns="0" bIns="0" anchor="t">
            <a:normAutofit/>
          </a:bodyPr>
          <a:lstStyle/>
          <a:p>
            <a:pPr algn="l">
              <a:lnSpc>
                <a:spcPct val="106000"/>
              </a:lnSpc>
              <a:buNone/>
              <a:defRPr sz="1275" b="0">
                <a:solidFill>
                  <a:srgbClr val="657184"/>
                </a:solidFill>
                <a:latin typeface="Aptos"/>
                <a:ea typeface="Aptos"/>
                <a:cs typeface="Aptos"/>
              </a:defRPr>
            </a:pPr>
            <a:r>
              <a:rPr sz="1275" b="0">
                <a:solidFill>
                  <a:srgbClr val="657184"/>
                </a:solidFill>
                <a:latin typeface="Aptos"/>
                <a:ea typeface="Aptos"/>
                <a:cs typeface="Aptos"/>
              </a:rPr>
              <a:t>Ризик се не уклања увек у потпуности. Неке мере би биле прескупе, неке би зауставиле важан рад, а неке зависе од спољне стране. Тада је важно да преостали ризик буде видљив, образложен и временски ограничен, а не заборављен.</a:t>
            </a:r>
          </a:p>
        </p:txBody>
      </p:sp>
      <p:sp>
        <p:nvSpPr>
          <p:cNvPr id="10" name="Rounded Rectangle 9">
            <a:extLst>
              <a:ext uri="{FF2B5EF4-FFF2-40B4-BE49-F238E27FC236}">
                <a16:creationId xmlns:a16="http://schemas.microsoft.com/office/drawing/2014/main" id="{CEA3429D-7DEA-474B-93C8-446E64F47E13}"/>
              </a:ext>
            </a:extLst>
          </p:cNvPr>
          <p:cNvSpPr>
            <a:spLocks noGrp="1"/>
          </p:cNvSpPr>
          <p:nvPr/>
        </p:nvSpPr>
        <p:spPr>
          <a:xfrm>
            <a:off x="5772150" y="2095500"/>
            <a:ext cx="5638800" cy="723900"/>
          </a:xfrm>
          <a:prstGeom prst="roundRect">
            <a:avLst>
              <a:gd name="adj" fmla="val 18421"/>
            </a:avLst>
          </a:prstGeom>
          <a:solidFill>
            <a:srgbClr val="EEF3FF"/>
          </a:solidFill>
          <a:ln w="9525">
            <a:solidFill>
              <a:srgbClr val="D7DEE8"/>
            </a:solidFill>
            <a:prstDash val="solid"/>
          </a:ln>
        </p:spPr>
      </p:sp>
      <p:sp>
        <p:nvSpPr>
          <p:cNvPr id="11" name="Rectangle 10">
            <a:extLst>
              <a:ext uri="{FF2B5EF4-FFF2-40B4-BE49-F238E27FC236}">
                <a16:creationId xmlns:a16="http://schemas.microsoft.com/office/drawing/2014/main" id="{51D3058A-0A6D-417D-876C-C78A311DB687}"/>
              </a:ext>
            </a:extLst>
          </p:cNvPr>
          <p:cNvSpPr>
            <a:spLocks noGrp="1"/>
          </p:cNvSpPr>
          <p:nvPr/>
        </p:nvSpPr>
        <p:spPr>
          <a:xfrm>
            <a:off x="5924550" y="2219325"/>
            <a:ext cx="533400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01</a:t>
            </a:r>
          </a:p>
        </p:txBody>
      </p:sp>
      <p:sp>
        <p:nvSpPr>
          <p:cNvPr id="12" name="Rectangle 11">
            <a:extLst>
              <a:ext uri="{FF2B5EF4-FFF2-40B4-BE49-F238E27FC236}">
                <a16:creationId xmlns:a16="http://schemas.microsoft.com/office/drawing/2014/main" id="{012FEDCF-ED33-4A16-9160-F95F8D0376DE}"/>
              </a:ext>
            </a:extLst>
          </p:cNvPr>
          <p:cNvSpPr>
            <a:spLocks noGrp="1"/>
          </p:cNvSpPr>
          <p:nvPr/>
        </p:nvSpPr>
        <p:spPr>
          <a:xfrm>
            <a:off x="5924550" y="2466975"/>
            <a:ext cx="5334000" cy="400050"/>
          </a:xfrm>
          <a:prstGeom prst="rect">
            <a:avLst/>
          </a:prstGeom>
          <a:noFill/>
          <a:ln w="0">
            <a:noFill/>
          </a:ln>
        </p:spPr>
        <p:txBody>
          <a:bodyPr wrap="square" lIns="0" tIns="0" rIns="0" bIns="0" anchor="ctr">
            <a:normAutofit fontScale="95316"/>
          </a:bodyPr>
          <a:lstStyle/>
          <a:p>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Описати имовину, сценарио и последицу без општих формулација.</a:t>
            </a:r>
          </a:p>
        </p:txBody>
      </p:sp>
      <p:sp>
        <p:nvSpPr>
          <p:cNvPr id="13" name="Rounded Rectangle 12">
            <a:extLst>
              <a:ext uri="{FF2B5EF4-FFF2-40B4-BE49-F238E27FC236}">
                <a16:creationId xmlns:a16="http://schemas.microsoft.com/office/drawing/2014/main" id="{4B2D143C-15E0-4D4B-ADDB-665717E8445D}"/>
              </a:ext>
            </a:extLst>
          </p:cNvPr>
          <p:cNvSpPr>
            <a:spLocks noGrp="1"/>
          </p:cNvSpPr>
          <p:nvPr/>
        </p:nvSpPr>
        <p:spPr>
          <a:xfrm>
            <a:off x="5772150" y="2971800"/>
            <a:ext cx="5638800" cy="723900"/>
          </a:xfrm>
          <a:prstGeom prst="roundRect">
            <a:avLst>
              <a:gd name="adj" fmla="val 18421"/>
            </a:avLst>
          </a:prstGeom>
          <a:solidFill>
            <a:srgbClr val="EDF8F2"/>
          </a:solidFill>
          <a:ln w="9525">
            <a:solidFill>
              <a:srgbClr val="D7DEE8"/>
            </a:solidFill>
            <a:prstDash val="solid"/>
          </a:ln>
        </p:spPr>
      </p:sp>
      <p:sp>
        <p:nvSpPr>
          <p:cNvPr id="14" name="Rectangle 13">
            <a:extLst>
              <a:ext uri="{FF2B5EF4-FFF2-40B4-BE49-F238E27FC236}">
                <a16:creationId xmlns:a16="http://schemas.microsoft.com/office/drawing/2014/main" id="{B9E9621B-9C44-40A3-9D26-66B8C9C3E604}"/>
              </a:ext>
            </a:extLst>
          </p:cNvPr>
          <p:cNvSpPr>
            <a:spLocks noGrp="1"/>
          </p:cNvSpPr>
          <p:nvPr/>
        </p:nvSpPr>
        <p:spPr>
          <a:xfrm>
            <a:off x="5924550" y="3095625"/>
            <a:ext cx="533400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02</a:t>
            </a:r>
          </a:p>
        </p:txBody>
      </p:sp>
      <p:sp>
        <p:nvSpPr>
          <p:cNvPr id="15" name="Rectangle 14">
            <a:extLst>
              <a:ext uri="{FF2B5EF4-FFF2-40B4-BE49-F238E27FC236}">
                <a16:creationId xmlns:a16="http://schemas.microsoft.com/office/drawing/2014/main" id="{AE36A983-2AAB-489F-8278-3290CD2CEE1D}"/>
              </a:ext>
            </a:extLst>
          </p:cNvPr>
          <p:cNvSpPr>
            <a:spLocks noGrp="1"/>
          </p:cNvSpPr>
          <p:nvPr/>
        </p:nvSpPr>
        <p:spPr>
          <a:xfrm>
            <a:off x="5924550" y="3343275"/>
            <a:ext cx="5334000" cy="400050"/>
          </a:xfrm>
          <a:prstGeom prst="rect">
            <a:avLst/>
          </a:prstGeom>
          <a:noFill/>
          <a:ln w="0">
            <a:noFill/>
          </a:ln>
        </p:spPr>
        <p:txBody>
          <a:bodyPr wrap="square" lIns="0" tIns="0" rIns="0" bIns="0" anchor="ctr">
            <a:normAutofit/>
          </a:bodyPr>
          <a:lstStyle/>
          <a:p>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Навести постојеће контроле и шта оне заиста покривају.</a:t>
            </a:r>
          </a:p>
        </p:txBody>
      </p:sp>
      <p:sp>
        <p:nvSpPr>
          <p:cNvPr id="16" name="Rounded Rectangle 15">
            <a:extLst>
              <a:ext uri="{FF2B5EF4-FFF2-40B4-BE49-F238E27FC236}">
                <a16:creationId xmlns:a16="http://schemas.microsoft.com/office/drawing/2014/main" id="{7B63B8E2-CA9C-45FD-899B-2C9339F39D6F}"/>
              </a:ext>
            </a:extLst>
          </p:cNvPr>
          <p:cNvSpPr>
            <a:spLocks noGrp="1"/>
          </p:cNvSpPr>
          <p:nvPr/>
        </p:nvSpPr>
        <p:spPr>
          <a:xfrm>
            <a:off x="5772150" y="3848100"/>
            <a:ext cx="5638800" cy="723900"/>
          </a:xfrm>
          <a:prstGeom prst="roundRect">
            <a:avLst>
              <a:gd name="adj" fmla="val 18421"/>
            </a:avLst>
          </a:prstGeom>
          <a:solidFill>
            <a:srgbClr val="EEF3FF"/>
          </a:solidFill>
          <a:ln w="9525">
            <a:solidFill>
              <a:srgbClr val="D7DEE8"/>
            </a:solidFill>
            <a:prstDash val="solid"/>
          </a:ln>
        </p:spPr>
      </p:sp>
      <p:sp>
        <p:nvSpPr>
          <p:cNvPr id="17" name="Rectangle 16">
            <a:extLst>
              <a:ext uri="{FF2B5EF4-FFF2-40B4-BE49-F238E27FC236}">
                <a16:creationId xmlns:a16="http://schemas.microsoft.com/office/drawing/2014/main" id="{E9199768-54CA-435E-AC5B-D2007CF662CE}"/>
              </a:ext>
            </a:extLst>
          </p:cNvPr>
          <p:cNvSpPr>
            <a:spLocks noGrp="1"/>
          </p:cNvSpPr>
          <p:nvPr/>
        </p:nvSpPr>
        <p:spPr>
          <a:xfrm>
            <a:off x="5924550" y="3971925"/>
            <a:ext cx="533400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03</a:t>
            </a:r>
          </a:p>
        </p:txBody>
      </p:sp>
      <p:sp>
        <p:nvSpPr>
          <p:cNvPr id="18" name="Rectangle 17">
            <a:extLst>
              <a:ext uri="{FF2B5EF4-FFF2-40B4-BE49-F238E27FC236}">
                <a16:creationId xmlns:a16="http://schemas.microsoft.com/office/drawing/2014/main" id="{8B1F4869-CFE9-4266-B100-E14E8E4A5459}"/>
              </a:ext>
            </a:extLst>
          </p:cNvPr>
          <p:cNvSpPr>
            <a:spLocks noGrp="1"/>
          </p:cNvSpPr>
          <p:nvPr/>
        </p:nvSpPr>
        <p:spPr>
          <a:xfrm>
            <a:off x="5924550" y="4219575"/>
            <a:ext cx="5334000" cy="400050"/>
          </a:xfrm>
          <a:prstGeom prst="rect">
            <a:avLst/>
          </a:prstGeom>
          <a:noFill/>
          <a:ln w="0">
            <a:noFill/>
          </a:ln>
        </p:spPr>
        <p:txBody>
          <a:bodyPr wrap="square" lIns="0" tIns="0" rIns="0" bIns="0" anchor="ctr">
            <a:normAutofit/>
          </a:bodyPr>
          <a:lstStyle/>
          <a:p>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Оценити шта остаје незаштићено након тих контрола.</a:t>
            </a:r>
          </a:p>
        </p:txBody>
      </p:sp>
      <p:sp>
        <p:nvSpPr>
          <p:cNvPr id="19" name="Rounded Rectangle 18">
            <a:extLst>
              <a:ext uri="{FF2B5EF4-FFF2-40B4-BE49-F238E27FC236}">
                <a16:creationId xmlns:a16="http://schemas.microsoft.com/office/drawing/2014/main" id="{DB1AF3F2-A484-40DD-B7EE-4AFE16E36797}"/>
              </a:ext>
            </a:extLst>
          </p:cNvPr>
          <p:cNvSpPr>
            <a:spLocks noGrp="1"/>
          </p:cNvSpPr>
          <p:nvPr/>
        </p:nvSpPr>
        <p:spPr>
          <a:xfrm>
            <a:off x="5772150" y="4724400"/>
            <a:ext cx="5638800" cy="723900"/>
          </a:xfrm>
          <a:prstGeom prst="roundRect">
            <a:avLst>
              <a:gd name="adj" fmla="val 18421"/>
            </a:avLst>
          </a:prstGeom>
          <a:solidFill>
            <a:srgbClr val="EDF8F2"/>
          </a:solidFill>
          <a:ln w="9525">
            <a:solidFill>
              <a:srgbClr val="D7DEE8"/>
            </a:solidFill>
            <a:prstDash val="solid"/>
          </a:ln>
        </p:spPr>
      </p:sp>
      <p:sp>
        <p:nvSpPr>
          <p:cNvPr id="20" name="Rectangle 19">
            <a:extLst>
              <a:ext uri="{FF2B5EF4-FFF2-40B4-BE49-F238E27FC236}">
                <a16:creationId xmlns:a16="http://schemas.microsoft.com/office/drawing/2014/main" id="{1EBECB4E-F626-420A-86BF-8C959FC784D4}"/>
              </a:ext>
            </a:extLst>
          </p:cNvPr>
          <p:cNvSpPr>
            <a:spLocks noGrp="1"/>
          </p:cNvSpPr>
          <p:nvPr/>
        </p:nvSpPr>
        <p:spPr>
          <a:xfrm>
            <a:off x="5924550" y="4848225"/>
            <a:ext cx="533400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1" name="Rectangle 20">
            <a:extLst>
              <a:ext uri="{FF2B5EF4-FFF2-40B4-BE49-F238E27FC236}">
                <a16:creationId xmlns:a16="http://schemas.microsoft.com/office/drawing/2014/main" id="{4ADA23B8-DB3A-40A2-B85C-FA8131D40E28}"/>
              </a:ext>
            </a:extLst>
          </p:cNvPr>
          <p:cNvSpPr>
            <a:spLocks noGrp="1"/>
          </p:cNvSpPr>
          <p:nvPr/>
        </p:nvSpPr>
        <p:spPr>
          <a:xfrm>
            <a:off x="5924550" y="5095875"/>
            <a:ext cx="5334000" cy="400050"/>
          </a:xfrm>
          <a:prstGeom prst="rect">
            <a:avLst/>
          </a:prstGeom>
          <a:noFill/>
          <a:ln w="0">
            <a:noFill/>
          </a:ln>
        </p:spPr>
        <p:txBody>
          <a:bodyPr wrap="square" lIns="0" tIns="0" rIns="0" bIns="0" anchor="ctr">
            <a:normAutofit fontScale="95316"/>
          </a:bodyPr>
          <a:lstStyle/>
          <a:p>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Одредити власника који прихвата ризик и датум следећег прегледа.</a:t>
            </a:r>
          </a:p>
        </p:txBody>
      </p:sp>
    </p:spTree>
    <p:extLst>
      <p:ext uri="{BB962C8B-B14F-4D97-AF65-F5344CB8AC3E}">
        <p14:creationId xmlns:p14="http://schemas.microsoft.com/office/powerpoint/2010/main" val="732304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21DE0DD-86C8-474B-B992-56152312FA35}"/>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EDC0F380-4C14-4BE1-B2B1-E02CD90B6E40}"/>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8EDA1B7D-7DF2-4E6F-9585-B54E7C7CAA17}"/>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11</a:t>
            </a:r>
          </a:p>
        </p:txBody>
      </p:sp>
      <p:sp>
        <p:nvSpPr>
          <p:cNvPr id="4" name="Rectangle 3">
            <a:extLst>
              <a:ext uri="{FF2B5EF4-FFF2-40B4-BE49-F238E27FC236}">
                <a16:creationId xmlns:a16="http://schemas.microsoft.com/office/drawing/2014/main" id="{3D14B4AD-C457-481B-A0AD-D37F5F32CED1}"/>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Право приступа није заувек</a:t>
            </a:r>
          </a:p>
        </p:txBody>
      </p:sp>
      <p:sp>
        <p:nvSpPr>
          <p:cNvPr id="5" name="Rectangle 4">
            <a:extLst>
              <a:ext uri="{FF2B5EF4-FFF2-40B4-BE49-F238E27FC236}">
                <a16:creationId xmlns:a16="http://schemas.microsoft.com/office/drawing/2014/main" id="{6FD21859-F6AF-4E63-AF4E-12961B1F101C}"/>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Три правила која треба да остану видљива у имплементацији и ревизији.</a:t>
            </a:r>
          </a:p>
        </p:txBody>
      </p:sp>
      <p:sp>
        <p:nvSpPr>
          <p:cNvPr id="6" name="Rounded Rectangle 5">
            <a:extLst>
              <a:ext uri="{FF2B5EF4-FFF2-40B4-BE49-F238E27FC236}">
                <a16:creationId xmlns:a16="http://schemas.microsoft.com/office/drawing/2014/main" id="{6970FCB0-BEEF-45B1-AFCA-6210461C95DF}"/>
              </a:ext>
            </a:extLst>
          </p:cNvPr>
          <p:cNvSpPr>
            <a:spLocks noGrp="1"/>
          </p:cNvSpPr>
          <p:nvPr/>
        </p:nvSpPr>
        <p:spPr>
          <a:xfrm>
            <a:off x="819150" y="2400300"/>
            <a:ext cx="3257550" cy="2343150"/>
          </a:xfrm>
          <a:prstGeom prst="roundRect">
            <a:avLst>
              <a:gd name="adj" fmla="val 5691"/>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A0D6CB18-23D7-496A-A48F-1724F9BCE018}"/>
              </a:ext>
            </a:extLst>
          </p:cNvPr>
          <p:cNvSpPr>
            <a:spLocks noGrp="1"/>
          </p:cNvSpPr>
          <p:nvPr/>
        </p:nvSpPr>
        <p:spPr>
          <a:xfrm>
            <a:off x="971550" y="252412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01</a:t>
            </a:r>
          </a:p>
        </p:txBody>
      </p:sp>
      <p:sp>
        <p:nvSpPr>
          <p:cNvPr id="8" name="Rectangle 7">
            <a:extLst>
              <a:ext uri="{FF2B5EF4-FFF2-40B4-BE49-F238E27FC236}">
                <a16:creationId xmlns:a16="http://schemas.microsoft.com/office/drawing/2014/main" id="{92DE2057-CB15-46F4-B221-A4A62CDF6A01}"/>
              </a:ext>
            </a:extLst>
          </p:cNvPr>
          <p:cNvSpPr>
            <a:spLocks noGrp="1"/>
          </p:cNvSpPr>
          <p:nvPr/>
        </p:nvSpPr>
        <p:spPr>
          <a:xfrm>
            <a:off x="971550" y="2771775"/>
            <a:ext cx="2952750" cy="1143000"/>
          </a:xfrm>
          <a:prstGeom prst="rect">
            <a:avLst/>
          </a:prstGeom>
          <a:noFill/>
          <a:ln w="0">
            <a:noFill/>
          </a:ln>
        </p:spPr>
        <p:txBody>
          <a:bodyPr wrap="square" lIns="0" tIns="0" rIns="0" bIns="0" anchor="ctr">
            <a:normAutofit/>
          </a:bodyPr>
          <a:lstStyle/>
          <a:p>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Атрибути се читају из поузданог, јасног контекста.</a:t>
            </a:r>
          </a:p>
        </p:txBody>
      </p:sp>
      <p:sp>
        <p:nvSpPr>
          <p:cNvPr id="9" name="Rectangle 8">
            <a:extLst>
              <a:ext uri="{FF2B5EF4-FFF2-40B4-BE49-F238E27FC236}">
                <a16:creationId xmlns:a16="http://schemas.microsoft.com/office/drawing/2014/main" id="{1DBFA7D6-CB11-4241-8196-7469F8F11DCB}"/>
              </a:ext>
            </a:extLst>
          </p:cNvPr>
          <p:cNvSpPr>
            <a:spLocks noGrp="1"/>
          </p:cNvSpPr>
          <p:nvPr/>
        </p:nvSpPr>
        <p:spPr>
          <a:xfrm>
            <a:off x="971550" y="3981450"/>
            <a:ext cx="2952750" cy="6572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Јасно правило</a:t>
            </a:r>
          </a:p>
        </p:txBody>
      </p:sp>
      <p:sp>
        <p:nvSpPr>
          <p:cNvPr id="10" name="Rounded Rectangle 9">
            <a:extLst>
              <a:ext uri="{FF2B5EF4-FFF2-40B4-BE49-F238E27FC236}">
                <a16:creationId xmlns:a16="http://schemas.microsoft.com/office/drawing/2014/main" id="{F825A775-361B-40F1-885F-A73352422CD7}"/>
              </a:ext>
            </a:extLst>
          </p:cNvPr>
          <p:cNvSpPr>
            <a:spLocks noGrp="1"/>
          </p:cNvSpPr>
          <p:nvPr/>
        </p:nvSpPr>
        <p:spPr>
          <a:xfrm>
            <a:off x="4467225" y="2400300"/>
            <a:ext cx="3257550" cy="2343150"/>
          </a:xfrm>
          <a:prstGeom prst="roundRect">
            <a:avLst>
              <a:gd name="adj" fmla="val 5691"/>
            </a:avLst>
          </a:prstGeom>
          <a:solidFill>
            <a:srgbClr val="F5F0FF"/>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6DC852E5-3F5C-4B3B-9FEE-8C638C9794FB}"/>
              </a:ext>
            </a:extLst>
          </p:cNvPr>
          <p:cNvSpPr>
            <a:spLocks noGrp="1"/>
          </p:cNvSpPr>
          <p:nvPr/>
        </p:nvSpPr>
        <p:spPr>
          <a:xfrm>
            <a:off x="4619625" y="252412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7651D4"/>
                </a:solidFill>
                <a:latin typeface="Aptos"/>
                <a:ea typeface="Aptos"/>
                <a:cs typeface="Aptos"/>
              </a:defRPr>
            </a:pPr>
            <a:r>
              <a:rPr sz="1200" b="1">
                <a:solidFill>
                  <a:srgbClr val="7651D4"/>
                </a:solidFill>
                <a:latin typeface="Aptos"/>
                <a:ea typeface="Aptos"/>
                <a:cs typeface="Aptos"/>
              </a:rPr>
              <a:t>02</a:t>
            </a:r>
          </a:p>
        </p:txBody>
      </p:sp>
      <p:sp>
        <p:nvSpPr>
          <p:cNvPr id="12" name="Rectangle 11">
            <a:extLst>
              <a:ext uri="{FF2B5EF4-FFF2-40B4-BE49-F238E27FC236}">
                <a16:creationId xmlns:a16="http://schemas.microsoft.com/office/drawing/2014/main" id="{CE3885A5-EBF0-4E9A-AC53-F4659A48DD26}"/>
              </a:ext>
            </a:extLst>
          </p:cNvPr>
          <p:cNvSpPr>
            <a:spLocks noGrp="1"/>
          </p:cNvSpPr>
          <p:nvPr/>
        </p:nvSpPr>
        <p:spPr>
          <a:xfrm>
            <a:off x="4619625" y="2771775"/>
            <a:ext cx="2952750" cy="1143000"/>
          </a:xfrm>
          <a:prstGeom prst="rect">
            <a:avLst/>
          </a:prstGeom>
          <a:noFill/>
          <a:ln w="0">
            <a:noFill/>
          </a:ln>
        </p:spPr>
        <p:txBody>
          <a:bodyPr wrap="square" lIns="0" tIns="0" rIns="0" bIns="0" anchor="ctr">
            <a:normAutofit/>
          </a:bodyPr>
          <a:lstStyle/>
          <a:p>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Исто стање мора довести до истог резултата политике.</a:t>
            </a:r>
          </a:p>
        </p:txBody>
      </p:sp>
      <p:sp>
        <p:nvSpPr>
          <p:cNvPr id="13" name="Rectangle 12">
            <a:extLst>
              <a:ext uri="{FF2B5EF4-FFF2-40B4-BE49-F238E27FC236}">
                <a16:creationId xmlns:a16="http://schemas.microsoft.com/office/drawing/2014/main" id="{2D5ACF9D-FBDB-4419-BBE8-C95022C367EC}"/>
              </a:ext>
            </a:extLst>
          </p:cNvPr>
          <p:cNvSpPr>
            <a:spLocks noGrp="1"/>
          </p:cNvSpPr>
          <p:nvPr/>
        </p:nvSpPr>
        <p:spPr>
          <a:xfrm>
            <a:off x="4619625" y="3981450"/>
            <a:ext cx="2952750" cy="6572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Проверљива примена</a:t>
            </a:r>
          </a:p>
        </p:txBody>
      </p:sp>
      <p:sp>
        <p:nvSpPr>
          <p:cNvPr id="14" name="Rounded Rectangle 13">
            <a:extLst>
              <a:ext uri="{FF2B5EF4-FFF2-40B4-BE49-F238E27FC236}">
                <a16:creationId xmlns:a16="http://schemas.microsoft.com/office/drawing/2014/main" id="{97FDD6E6-8E51-4AAF-8599-3655825C5AE4}"/>
              </a:ext>
            </a:extLst>
          </p:cNvPr>
          <p:cNvSpPr>
            <a:spLocks noGrp="1"/>
          </p:cNvSpPr>
          <p:nvPr/>
        </p:nvSpPr>
        <p:spPr>
          <a:xfrm>
            <a:off x="8115300" y="2400300"/>
            <a:ext cx="3257550" cy="2343150"/>
          </a:xfrm>
          <a:prstGeom prst="roundRect">
            <a:avLst>
              <a:gd name="adj" fmla="val 5691"/>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AF8921C7-5CCF-4776-B39F-99B371B69947}"/>
              </a:ext>
            </a:extLst>
          </p:cNvPr>
          <p:cNvSpPr>
            <a:spLocks noGrp="1"/>
          </p:cNvSpPr>
          <p:nvPr/>
        </p:nvSpPr>
        <p:spPr>
          <a:xfrm>
            <a:off x="8267700" y="252412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a:ext uri="{FF2B5EF4-FFF2-40B4-BE49-F238E27FC236}">
                <a16:creationId xmlns:a16="http://schemas.microsoft.com/office/drawing/2014/main" id="{873A551A-1825-4162-8290-BA6A8564FC53}"/>
              </a:ext>
            </a:extLst>
          </p:cNvPr>
          <p:cNvSpPr>
            <a:spLocks noGrp="1"/>
          </p:cNvSpPr>
          <p:nvPr/>
        </p:nvSpPr>
        <p:spPr>
          <a:xfrm>
            <a:off x="8267700" y="2771775"/>
            <a:ext cx="2952750" cy="1143000"/>
          </a:xfrm>
          <a:prstGeom prst="rect">
            <a:avLst/>
          </a:prstGeom>
          <a:noFill/>
          <a:ln w="0">
            <a:noFill/>
          </a:ln>
        </p:spPr>
        <p:txBody>
          <a:bodyPr wrap="square" lIns="0" tIns="0" rIns="0" bIns="0" anchor="ctr">
            <a:normAutofit/>
          </a:bodyPr>
          <a:lstStyle/>
          <a:p>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Ризик укључује имовину, претњу, контролу и преосталу изложеност.</a:t>
            </a:r>
          </a:p>
        </p:txBody>
      </p:sp>
      <p:sp>
        <p:nvSpPr>
          <p:cNvPr id="17" name="Rectangle 16">
            <a:extLst>
              <a:ext uri="{FF2B5EF4-FFF2-40B4-BE49-F238E27FC236}">
                <a16:creationId xmlns:a16="http://schemas.microsoft.com/office/drawing/2014/main" id="{DA41D48E-6FAB-4E5E-8EB3-3B86ED0DFBFA}"/>
              </a:ext>
            </a:extLst>
          </p:cNvPr>
          <p:cNvSpPr>
            <a:spLocks noGrp="1"/>
          </p:cNvSpPr>
          <p:nvPr/>
        </p:nvSpPr>
        <p:spPr>
          <a:xfrm>
            <a:off x="8267700" y="3981450"/>
            <a:ext cx="2952750" cy="6572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Видљив доказ</a:t>
            </a:r>
          </a:p>
        </p:txBody>
      </p:sp>
    </p:spTree>
    <p:extLst>
      <p:ext uri="{BB962C8B-B14F-4D97-AF65-F5344CB8AC3E}">
        <p14:creationId xmlns:p14="http://schemas.microsoft.com/office/powerpoint/2010/main" val="729550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23CBF0F-5937-44EC-96CF-12692760C00D}"/>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36CB0048-5C6C-4B2F-B9FA-E0F0E67A485D}"/>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9CCBDCB6-6F46-4DD8-8BD7-5EEA2F1131EC}"/>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12</a:t>
            </a:r>
          </a:p>
        </p:txBody>
      </p:sp>
      <p:sp>
        <p:nvSpPr>
          <p:cNvPr id="4" name="Rectangle 3">
            <a:extLst>
              <a:ext uri="{FF2B5EF4-FFF2-40B4-BE49-F238E27FC236}">
                <a16:creationId xmlns:a16="http://schemas.microsoft.com/office/drawing/2014/main" id="{E9B7F942-772C-434C-A902-F795A912EBF7}"/>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Како се ова тема види у развоју</a:t>
            </a:r>
          </a:p>
        </p:txBody>
      </p:sp>
      <p:sp>
        <p:nvSpPr>
          <p:cNvPr id="5" name="Rectangle 4">
            <a:extLst>
              <a:ext uri="{FF2B5EF4-FFF2-40B4-BE49-F238E27FC236}">
                <a16:creationId xmlns:a16="http://schemas.microsoft.com/office/drawing/2014/main" id="{47304305-1ACC-4ED9-AFDA-09A2FE84887E}"/>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Тема се види у малим одлукама током развоја, не само у завршној документацији.</a:t>
            </a:r>
          </a:p>
        </p:txBody>
      </p:sp>
      <p:sp>
        <p:nvSpPr>
          <p:cNvPr id="6" name="Rounded Rectangle 5">
            <a:extLst>
              <a:ext uri="{FF2B5EF4-FFF2-40B4-BE49-F238E27FC236}">
                <a16:creationId xmlns:a16="http://schemas.microsoft.com/office/drawing/2014/main" id="{BEF7C27A-0C0A-4225-9C4A-56D96E253A13}"/>
              </a:ext>
            </a:extLst>
          </p:cNvPr>
          <p:cNvSpPr>
            <a:spLocks noGrp="1"/>
          </p:cNvSpPr>
          <p:nvPr/>
        </p:nvSpPr>
        <p:spPr>
          <a:xfrm>
            <a:off x="800100" y="2209800"/>
            <a:ext cx="4810125" cy="2857500"/>
          </a:xfrm>
          <a:prstGeom prst="roundRect">
            <a:avLst>
              <a:gd name="adj" fmla="val 4667"/>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1FFA1BFF-25EE-4E03-837B-8244EF41449E}"/>
              </a:ext>
            </a:extLst>
          </p:cNvPr>
          <p:cNvSpPr>
            <a:spLocks noGrp="1"/>
          </p:cNvSpPr>
          <p:nvPr/>
        </p:nvSpPr>
        <p:spPr>
          <a:xfrm>
            <a:off x="952500" y="2333625"/>
            <a:ext cx="4505325"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РАЗВОЈНИ КОНТЕКСТ</a:t>
            </a:r>
          </a:p>
        </p:txBody>
      </p:sp>
      <p:sp>
        <p:nvSpPr>
          <p:cNvPr id="8" name="Rectangle 7">
            <a:extLst>
              <a:ext uri="{FF2B5EF4-FFF2-40B4-BE49-F238E27FC236}">
                <a16:creationId xmlns:a16="http://schemas.microsoft.com/office/drawing/2014/main" id="{4C99EF9D-8A79-4FB7-BF46-C2B65D974339}"/>
              </a:ext>
            </a:extLst>
          </p:cNvPr>
          <p:cNvSpPr>
            <a:spLocks noGrp="1"/>
          </p:cNvSpPr>
          <p:nvPr/>
        </p:nvSpPr>
        <p:spPr>
          <a:xfrm>
            <a:off x="952500" y="2581275"/>
            <a:ext cx="4505325" cy="476250"/>
          </a:xfrm>
          <a:prstGeom prst="rect">
            <a:avLst/>
          </a:prstGeom>
          <a:noFill/>
          <a:ln w="0">
            <a:noFill/>
          </a:ln>
        </p:spPr>
        <p:txBody>
          <a:bodyPr wrap="square" lIns="0" tIns="0" rIns="0" bIns="0" anchor="ctr">
            <a:normAutofit/>
          </a:bodyPr>
          <a:lstStyle/>
          <a:p>
            <a:pPr algn="l">
              <a:lnSpc>
                <a:spcPct val="102000"/>
              </a:lnSpc>
              <a:buNone/>
              <a:defRPr sz="1725" b="1">
                <a:solidFill>
                  <a:srgbClr val="1A202C"/>
                </a:solidFill>
                <a:latin typeface="Aptos"/>
                <a:ea typeface="Aptos"/>
                <a:cs typeface="Aptos"/>
              </a:defRPr>
            </a:pPr>
            <a:r>
              <a:rPr sz="1725" b="1">
                <a:solidFill>
                  <a:srgbClr val="1A202C"/>
                </a:solidFill>
                <a:latin typeface="Aptos"/>
                <a:ea typeface="Aptos"/>
                <a:cs typeface="Aptos"/>
              </a:rPr>
              <a:t>Од принципа до радног кода</a:t>
            </a:r>
          </a:p>
        </p:txBody>
      </p:sp>
      <p:sp>
        <p:nvSpPr>
          <p:cNvPr id="9" name="Rectangle 8">
            <a:extLst>
              <a:ext uri="{FF2B5EF4-FFF2-40B4-BE49-F238E27FC236}">
                <a16:creationId xmlns:a16="http://schemas.microsoft.com/office/drawing/2014/main" id="{AEB5537C-E3E6-4166-BC3A-566590336387}"/>
              </a:ext>
            </a:extLst>
          </p:cNvPr>
          <p:cNvSpPr>
            <a:spLocks noGrp="1"/>
          </p:cNvSpPr>
          <p:nvPr/>
        </p:nvSpPr>
        <p:spPr>
          <a:xfrm>
            <a:off x="952500" y="3124200"/>
            <a:ext cx="4505325" cy="1838325"/>
          </a:xfrm>
          <a:prstGeom prst="rect">
            <a:avLst/>
          </a:prstGeom>
          <a:noFill/>
          <a:ln w="0">
            <a:noFill/>
          </a:ln>
        </p:spPr>
        <p:txBody>
          <a:bodyPr wrap="square" lIns="0" tIns="0" rIns="0" bIns="0" anchor="t">
            <a:normAutofit/>
          </a:bodyPr>
          <a:lstStyle/>
          <a:p>
            <a:pPr algn="l">
              <a:lnSpc>
                <a:spcPct val="106000"/>
              </a:lnSpc>
              <a:buNone/>
              <a:defRPr sz="1350" b="0">
                <a:solidFill>
                  <a:srgbClr val="657184"/>
                </a:solidFill>
                <a:latin typeface="Aptos"/>
                <a:ea typeface="Aptos"/>
                <a:cs typeface="Aptos"/>
              </a:defRPr>
            </a:pPr>
            <a:r>
              <a:rPr sz="1350" b="0">
                <a:solidFill>
                  <a:srgbClr val="657184"/>
                </a:solidFill>
                <a:latin typeface="Aptos"/>
                <a:ea typeface="Aptos"/>
                <a:cs typeface="Aptos"/>
              </a:rPr>
              <a:t>Тим издваја одлуке које не могу поштено да стану у назив једне улоге. Затим их записује као правило које се може тестирати са неколико супротних контекста. Преглед приступа проверава да ли је некадашња пословна потреба и даље стварна.</a:t>
            </a:r>
          </a:p>
        </p:txBody>
      </p:sp>
      <p:sp>
        <p:nvSpPr>
          <p:cNvPr id="10" name="Rounded Rectangle 9">
            <a:extLst>
              <a:ext uri="{FF2B5EF4-FFF2-40B4-BE49-F238E27FC236}">
                <a16:creationId xmlns:a16="http://schemas.microsoft.com/office/drawing/2014/main" id="{DCBE067C-36F2-4745-A76F-BEF79EC71EB5}"/>
              </a:ext>
            </a:extLst>
          </p:cNvPr>
          <p:cNvSpPr>
            <a:spLocks noGrp="1"/>
          </p:cNvSpPr>
          <p:nvPr/>
        </p:nvSpPr>
        <p:spPr>
          <a:xfrm>
            <a:off x="6038850" y="2209800"/>
            <a:ext cx="5353050" cy="819150"/>
          </a:xfrm>
          <a:prstGeom prst="roundRect">
            <a:avLst>
              <a:gd name="adj" fmla="val 16279"/>
            </a:avLst>
          </a:prstGeom>
          <a:solidFill>
            <a:srgbClr val="F4F6F9"/>
          </a:solidFill>
          <a:ln w="9525">
            <a:solidFill>
              <a:srgbClr val="D7DEE8"/>
            </a:solidFill>
            <a:prstDash val="solid"/>
          </a:ln>
        </p:spPr>
      </p:sp>
      <p:sp>
        <p:nvSpPr>
          <p:cNvPr id="11" name="Rectangle 10">
            <a:extLst>
              <a:ext uri="{FF2B5EF4-FFF2-40B4-BE49-F238E27FC236}">
                <a16:creationId xmlns:a16="http://schemas.microsoft.com/office/drawing/2014/main" id="{544670A7-B4D0-4368-B1CB-343F3199F2FF}"/>
              </a:ext>
            </a:extLst>
          </p:cNvPr>
          <p:cNvSpPr>
            <a:spLocks noGrp="1"/>
          </p:cNvSpPr>
          <p:nvPr/>
        </p:nvSpPr>
        <p:spPr>
          <a:xfrm>
            <a:off x="6191250" y="2333625"/>
            <a:ext cx="504825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12" name="Rectangle 11">
            <a:extLst>
              <a:ext uri="{FF2B5EF4-FFF2-40B4-BE49-F238E27FC236}">
                <a16:creationId xmlns:a16="http://schemas.microsoft.com/office/drawing/2014/main" id="{315C6B10-BD66-443F-A4F4-A9B530CA5C28}"/>
              </a:ext>
            </a:extLst>
          </p:cNvPr>
          <p:cNvSpPr>
            <a:spLocks noGrp="1"/>
          </p:cNvSpPr>
          <p:nvPr/>
        </p:nvSpPr>
        <p:spPr>
          <a:xfrm>
            <a:off x="6191250" y="2581275"/>
            <a:ext cx="5048250" cy="400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Именуј одлуку и њену границу.</a:t>
            </a:r>
          </a:p>
        </p:txBody>
      </p:sp>
      <p:sp>
        <p:nvSpPr>
          <p:cNvPr id="13" name="Rounded Rectangle 12">
            <a:extLst>
              <a:ext uri="{FF2B5EF4-FFF2-40B4-BE49-F238E27FC236}">
                <a16:creationId xmlns:a16="http://schemas.microsoft.com/office/drawing/2014/main" id="{0A0B8E96-A365-442B-8772-870C867517DF}"/>
              </a:ext>
            </a:extLst>
          </p:cNvPr>
          <p:cNvSpPr>
            <a:spLocks noGrp="1"/>
          </p:cNvSpPr>
          <p:nvPr/>
        </p:nvSpPr>
        <p:spPr>
          <a:xfrm>
            <a:off x="6038850" y="3200400"/>
            <a:ext cx="5353050" cy="819150"/>
          </a:xfrm>
          <a:prstGeom prst="roundRect">
            <a:avLst>
              <a:gd name="adj" fmla="val 16279"/>
            </a:avLst>
          </a:prstGeom>
          <a:solidFill>
            <a:srgbClr val="F5F0FF"/>
          </a:solidFill>
          <a:ln w="9525">
            <a:solidFill>
              <a:srgbClr val="D7DEE8"/>
            </a:solidFill>
            <a:prstDash val="solid"/>
          </a:ln>
        </p:spPr>
      </p:sp>
      <p:sp>
        <p:nvSpPr>
          <p:cNvPr id="14" name="Rectangle 13">
            <a:extLst>
              <a:ext uri="{FF2B5EF4-FFF2-40B4-BE49-F238E27FC236}">
                <a16:creationId xmlns:a16="http://schemas.microsoft.com/office/drawing/2014/main" id="{26991019-C259-4D6A-A262-17A20BD8D068}"/>
              </a:ext>
            </a:extLst>
          </p:cNvPr>
          <p:cNvSpPr>
            <a:spLocks noGrp="1"/>
          </p:cNvSpPr>
          <p:nvPr/>
        </p:nvSpPr>
        <p:spPr>
          <a:xfrm>
            <a:off x="6191250" y="3324225"/>
            <a:ext cx="5048250" cy="190500"/>
          </a:xfrm>
          <a:prstGeom prst="rect">
            <a:avLst/>
          </a:prstGeom>
          <a:noFill/>
          <a:ln w="0">
            <a:noFill/>
          </a:ln>
        </p:spPr>
        <p:txBody>
          <a:bodyPr wrap="square" lIns="0" tIns="0" rIns="0" bIns="0" anchor="t">
            <a:normAutofit/>
          </a:bodyPr>
          <a:lstStyle/>
          <a:p>
            <a:pPr algn="l">
              <a:lnSpc>
                <a:spcPct val="102000"/>
              </a:lnSpc>
              <a:buNone/>
              <a:defRPr sz="975" b="1">
                <a:solidFill>
                  <a:srgbClr val="7651D4"/>
                </a:solidFill>
                <a:latin typeface="Aptos"/>
                <a:ea typeface="Aptos"/>
                <a:cs typeface="Aptos"/>
              </a:defRPr>
            </a:pPr>
            <a:r>
              <a:rPr sz="1200" b="1">
                <a:solidFill>
                  <a:srgbClr val="7651D4"/>
                </a:solidFill>
                <a:latin typeface="Aptos"/>
                <a:ea typeface="Aptos"/>
                <a:cs typeface="Aptos"/>
              </a:rPr>
              <a:t>02</a:t>
            </a:r>
          </a:p>
        </p:txBody>
      </p:sp>
      <p:sp>
        <p:nvSpPr>
          <p:cNvPr id="15" name="Rectangle 14">
            <a:extLst>
              <a:ext uri="{FF2B5EF4-FFF2-40B4-BE49-F238E27FC236}">
                <a16:creationId xmlns:a16="http://schemas.microsoft.com/office/drawing/2014/main" id="{F9A8143C-C554-4512-86C2-07848B1EC25E}"/>
              </a:ext>
            </a:extLst>
          </p:cNvPr>
          <p:cNvSpPr>
            <a:spLocks noGrp="1"/>
          </p:cNvSpPr>
          <p:nvPr/>
        </p:nvSpPr>
        <p:spPr>
          <a:xfrm>
            <a:off x="6191250" y="3571875"/>
            <a:ext cx="5048250" cy="400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Имплементирај проверу на серверу.</a:t>
            </a:r>
          </a:p>
        </p:txBody>
      </p:sp>
      <p:sp>
        <p:nvSpPr>
          <p:cNvPr id="16" name="Rounded Rectangle 15">
            <a:extLst>
              <a:ext uri="{FF2B5EF4-FFF2-40B4-BE49-F238E27FC236}">
                <a16:creationId xmlns:a16="http://schemas.microsoft.com/office/drawing/2014/main" id="{D9BD78E7-E275-4A48-9256-C47CD2191019}"/>
              </a:ext>
            </a:extLst>
          </p:cNvPr>
          <p:cNvSpPr>
            <a:spLocks noGrp="1"/>
          </p:cNvSpPr>
          <p:nvPr/>
        </p:nvSpPr>
        <p:spPr>
          <a:xfrm>
            <a:off x="6038850" y="4191000"/>
            <a:ext cx="5353050" cy="819150"/>
          </a:xfrm>
          <a:prstGeom prst="roundRect">
            <a:avLst>
              <a:gd name="adj" fmla="val 16279"/>
            </a:avLst>
          </a:prstGeom>
          <a:solidFill>
            <a:srgbClr val="EDF8F2"/>
          </a:solidFill>
          <a:ln w="9525">
            <a:solidFill>
              <a:srgbClr val="D7DEE8"/>
            </a:solidFill>
            <a:prstDash val="solid"/>
          </a:ln>
        </p:spPr>
      </p:sp>
      <p:sp>
        <p:nvSpPr>
          <p:cNvPr id="17" name="Rectangle 16">
            <a:extLst>
              <a:ext uri="{FF2B5EF4-FFF2-40B4-BE49-F238E27FC236}">
                <a16:creationId xmlns:a16="http://schemas.microsoft.com/office/drawing/2014/main" id="{CC34346B-FF6E-4286-AB91-55C9C94AE6E7}"/>
              </a:ext>
            </a:extLst>
          </p:cNvPr>
          <p:cNvSpPr>
            <a:spLocks noGrp="1"/>
          </p:cNvSpPr>
          <p:nvPr/>
        </p:nvSpPr>
        <p:spPr>
          <a:xfrm>
            <a:off x="6191250" y="4314825"/>
            <a:ext cx="50482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8" name="Rectangle 17">
            <a:extLst>
              <a:ext uri="{FF2B5EF4-FFF2-40B4-BE49-F238E27FC236}">
                <a16:creationId xmlns:a16="http://schemas.microsoft.com/office/drawing/2014/main" id="{08905A08-3B59-492B-B8DA-B2DF6CE23C4C}"/>
              </a:ext>
            </a:extLst>
          </p:cNvPr>
          <p:cNvSpPr>
            <a:spLocks noGrp="1"/>
          </p:cNvSpPr>
          <p:nvPr/>
        </p:nvSpPr>
        <p:spPr>
          <a:xfrm>
            <a:off x="6191250" y="4562475"/>
            <a:ext cx="5048250" cy="40005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Додај позитиван и негативан доказ.</a:t>
            </a:r>
          </a:p>
        </p:txBody>
      </p:sp>
    </p:spTree>
    <p:extLst>
      <p:ext uri="{BB962C8B-B14F-4D97-AF65-F5344CB8AC3E}">
        <p14:creationId xmlns:p14="http://schemas.microsoft.com/office/powerpoint/2010/main" val="493090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EBCEDEA-356F-48F5-A912-12A62AFCF54F}"/>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C84856C0-6B7D-46CE-B62B-3C76CDEE94F0}"/>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BBD79B11-4DEE-4C02-9494-0065C0B56FEE}"/>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13</a:t>
            </a:r>
          </a:p>
        </p:txBody>
      </p:sp>
      <p:sp>
        <p:nvSpPr>
          <p:cNvPr id="4" name="Rectangle 3">
            <a:extLst>
              <a:ext uri="{FF2B5EF4-FFF2-40B4-BE49-F238E27FC236}">
                <a16:creationId xmlns:a16="http://schemas.microsoft.com/office/drawing/2014/main" id="{B7B1AE39-DA6F-49C6-98BC-F73EDC867F64}"/>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Пример: иста улога, различит тренутак</a:t>
            </a:r>
          </a:p>
        </p:txBody>
      </p:sp>
      <p:sp>
        <p:nvSpPr>
          <p:cNvPr id="5" name="Rectangle 4">
            <a:extLst>
              <a:ext uri="{FF2B5EF4-FFF2-40B4-BE49-F238E27FC236}">
                <a16:creationId xmlns:a16="http://schemas.microsoft.com/office/drawing/2014/main" id="{F0E73DD5-D631-44ED-B9B3-8607FB75F46C}"/>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Конкретан случај показује где опште правило постаје стварна одлука система.</a:t>
            </a:r>
          </a:p>
        </p:txBody>
      </p:sp>
      <p:sp>
        <p:nvSpPr>
          <p:cNvPr id="6" name="Rounded Rectangle 5">
            <a:extLst>
              <a:ext uri="{FF2B5EF4-FFF2-40B4-BE49-F238E27FC236}">
                <a16:creationId xmlns:a16="http://schemas.microsoft.com/office/drawing/2014/main" id="{8D85A5C2-3CAA-4EA6-B8F6-74E4495C6CF7}"/>
              </a:ext>
            </a:extLst>
          </p:cNvPr>
          <p:cNvSpPr>
            <a:spLocks noGrp="1"/>
          </p:cNvSpPr>
          <p:nvPr/>
        </p:nvSpPr>
        <p:spPr>
          <a:xfrm>
            <a:off x="781050" y="2143125"/>
            <a:ext cx="10629900" cy="1619250"/>
          </a:xfrm>
          <a:prstGeom prst="roundRect">
            <a:avLst>
              <a:gd name="adj" fmla="val 8235"/>
            </a:avLst>
          </a:prstGeom>
          <a:solidFill>
            <a:srgbClr val="F4F6F9"/>
          </a:solidFill>
          <a:ln w="9525">
            <a:solidFill>
              <a:srgbClr val="D7DEE8"/>
            </a:solidFill>
            <a:prstDash val="solid"/>
          </a:ln>
        </p:spPr>
      </p:sp>
      <p:sp>
        <p:nvSpPr>
          <p:cNvPr id="7" name="Rectangle 6">
            <a:extLst>
              <a:ext uri="{FF2B5EF4-FFF2-40B4-BE49-F238E27FC236}">
                <a16:creationId xmlns:a16="http://schemas.microsoft.com/office/drawing/2014/main" id="{D4CFB168-87F8-477B-B2B3-37E3AE0CCF7B}"/>
              </a:ext>
            </a:extLst>
          </p:cNvPr>
          <p:cNvSpPr>
            <a:spLocks noGrp="1"/>
          </p:cNvSpPr>
          <p:nvPr/>
        </p:nvSpPr>
        <p:spPr>
          <a:xfrm>
            <a:off x="933450" y="2266950"/>
            <a:ext cx="1032510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СЦЕНАРИО</a:t>
            </a:r>
          </a:p>
        </p:txBody>
      </p:sp>
      <p:sp>
        <p:nvSpPr>
          <p:cNvPr id="8" name="Rectangle 7">
            <a:extLst>
              <a:ext uri="{FF2B5EF4-FFF2-40B4-BE49-F238E27FC236}">
                <a16:creationId xmlns:a16="http://schemas.microsoft.com/office/drawing/2014/main" id="{203BE781-AC2F-4E21-A3B3-477D9B22F695}"/>
              </a:ext>
            </a:extLst>
          </p:cNvPr>
          <p:cNvSpPr>
            <a:spLocks noGrp="1"/>
          </p:cNvSpPr>
          <p:nvPr/>
        </p:nvSpPr>
        <p:spPr>
          <a:xfrm>
            <a:off x="933450" y="2514600"/>
            <a:ext cx="10325100" cy="400050"/>
          </a:xfrm>
          <a:prstGeom prst="rect">
            <a:avLst/>
          </a:prstGeom>
          <a:noFill/>
          <a:ln w="0">
            <a:noFill/>
          </a:ln>
        </p:spPr>
        <p:txBody>
          <a:bodyPr wrap="square" lIns="0" tIns="0" rIns="0" bIns="0" anchor="ctr">
            <a:normAutofit/>
          </a:bodyPr>
          <a:lstStyle/>
          <a:p>
            <a:pPr algn="l">
              <a:lnSpc>
                <a:spcPct val="102000"/>
              </a:lnSpc>
              <a:buNone/>
              <a:defRPr sz="1725" b="1">
                <a:solidFill>
                  <a:srgbClr val="1A202C"/>
                </a:solidFill>
                <a:latin typeface="Aptos"/>
                <a:ea typeface="Aptos"/>
                <a:cs typeface="Aptos"/>
              </a:defRPr>
            </a:pPr>
            <a:r>
              <a:rPr sz="1725" b="1">
                <a:solidFill>
                  <a:srgbClr val="1A202C"/>
                </a:solidFill>
                <a:latin typeface="Aptos"/>
                <a:ea typeface="Aptos"/>
                <a:cs typeface="Aptos"/>
              </a:rPr>
              <a:t>Пример: иста улога, различит тренутак</a:t>
            </a:r>
          </a:p>
        </p:txBody>
      </p:sp>
      <p:sp>
        <p:nvSpPr>
          <p:cNvPr id="9" name="Rectangle 8">
            <a:extLst>
              <a:ext uri="{FF2B5EF4-FFF2-40B4-BE49-F238E27FC236}">
                <a16:creationId xmlns:a16="http://schemas.microsoft.com/office/drawing/2014/main" id="{F0E2872F-B1A3-4A01-96E4-D73A23E5B739}"/>
              </a:ext>
            </a:extLst>
          </p:cNvPr>
          <p:cNvSpPr>
            <a:spLocks noGrp="1"/>
          </p:cNvSpPr>
          <p:nvPr/>
        </p:nvSpPr>
        <p:spPr>
          <a:xfrm>
            <a:off x="933450" y="2981325"/>
            <a:ext cx="10325100" cy="676275"/>
          </a:xfrm>
          <a:prstGeom prst="rect">
            <a:avLst/>
          </a:prstGeom>
          <a:noFill/>
          <a:ln w="0">
            <a:noFill/>
          </a:ln>
        </p:spPr>
        <p:txBody>
          <a:bodyPr wrap="square" lIns="0" tIns="0" rIns="0" bIns="0" anchor="t">
            <a:normAutofit/>
          </a:bodyPr>
          <a:lstStyle/>
          <a:p>
            <a:pPr algn="l">
              <a:lnSpc>
                <a:spcPct val="106000"/>
              </a:lnSpc>
              <a:buNone/>
              <a:defRPr sz="1275" b="0">
                <a:solidFill>
                  <a:srgbClr val="657184"/>
                </a:solidFill>
                <a:latin typeface="Aptos"/>
                <a:ea typeface="Aptos"/>
                <a:cs typeface="Aptos"/>
              </a:defRPr>
            </a:pPr>
            <a:r>
              <a:rPr sz="1275" b="0">
                <a:solidFill>
                  <a:srgbClr val="657184"/>
                </a:solidFill>
                <a:latin typeface="Aptos"/>
                <a:ea typeface="Aptos"/>
                <a:cs typeface="Aptos"/>
              </a:rPr>
              <a:t>Два оператера имају исту улогу, али један ради на инциденту који му је додељен, док други ради на другом домену. Ако политика гледа само улогу, обојица би могла да одобре исту ризичну измену. Атрибути као што су припадност домену, стање инцидента и тренутно одобрење дају одлуци контекст који назив улоге сам не може да носи.</a:t>
            </a:r>
          </a:p>
        </p:txBody>
      </p:sp>
      <p:sp>
        <p:nvSpPr>
          <p:cNvPr id="10" name="Rounded Rectangle 9">
            <a:extLst>
              <a:ext uri="{FF2B5EF4-FFF2-40B4-BE49-F238E27FC236}">
                <a16:creationId xmlns:a16="http://schemas.microsoft.com/office/drawing/2014/main" id="{69CB48FD-E669-470E-971B-77B98FFD7144}"/>
              </a:ext>
            </a:extLst>
          </p:cNvPr>
          <p:cNvSpPr>
            <a:spLocks noGrp="1"/>
          </p:cNvSpPr>
          <p:nvPr/>
        </p:nvSpPr>
        <p:spPr>
          <a:xfrm>
            <a:off x="781050" y="4048125"/>
            <a:ext cx="3352800" cy="1352550"/>
          </a:xfrm>
          <a:prstGeom prst="roundRect">
            <a:avLst>
              <a:gd name="adj" fmla="val 9859"/>
            </a:avLst>
          </a:prstGeom>
          <a:solidFill>
            <a:srgbClr val="EEF3FF"/>
          </a:solidFill>
          <a:ln w="9525">
            <a:solidFill>
              <a:srgbClr val="D7DEE8"/>
            </a:solidFill>
            <a:prstDash val="solid"/>
          </a:ln>
        </p:spPr>
      </p:sp>
      <p:sp>
        <p:nvSpPr>
          <p:cNvPr id="11" name="Rectangle 10">
            <a:extLst>
              <a:ext uri="{FF2B5EF4-FFF2-40B4-BE49-F238E27FC236}">
                <a16:creationId xmlns:a16="http://schemas.microsoft.com/office/drawing/2014/main" id="{A9079299-76E2-4ADA-B4FC-302773678C16}"/>
              </a:ext>
            </a:extLst>
          </p:cNvPr>
          <p:cNvSpPr>
            <a:spLocks noGrp="1"/>
          </p:cNvSpPr>
          <p:nvPr/>
        </p:nvSpPr>
        <p:spPr>
          <a:xfrm>
            <a:off x="933450" y="4171950"/>
            <a:ext cx="304800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01</a:t>
            </a:r>
          </a:p>
        </p:txBody>
      </p:sp>
      <p:sp>
        <p:nvSpPr>
          <p:cNvPr id="12" name="Rectangle 11">
            <a:extLst>
              <a:ext uri="{FF2B5EF4-FFF2-40B4-BE49-F238E27FC236}">
                <a16:creationId xmlns:a16="http://schemas.microsoft.com/office/drawing/2014/main" id="{E0E396A1-DE28-49EE-8A6A-2A29C11E478F}"/>
              </a:ext>
            </a:extLst>
          </p:cNvPr>
          <p:cNvSpPr>
            <a:spLocks noGrp="1"/>
          </p:cNvSpPr>
          <p:nvPr/>
        </p:nvSpPr>
        <p:spPr>
          <a:xfrm>
            <a:off x="933450" y="4419600"/>
            <a:ext cx="3048000" cy="78105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Атрибутска одлука остаје разумљива само ако је извор сваког атрибута познат и поуздан.</a:t>
            </a:r>
          </a:p>
        </p:txBody>
      </p:sp>
      <p:sp>
        <p:nvSpPr>
          <p:cNvPr id="13" name="Rounded Rectangle 12">
            <a:extLst>
              <a:ext uri="{FF2B5EF4-FFF2-40B4-BE49-F238E27FC236}">
                <a16:creationId xmlns:a16="http://schemas.microsoft.com/office/drawing/2014/main" id="{A1373726-54AD-40C2-AFAD-F31B0698FC2E}"/>
              </a:ext>
            </a:extLst>
          </p:cNvPr>
          <p:cNvSpPr>
            <a:spLocks noGrp="1"/>
          </p:cNvSpPr>
          <p:nvPr/>
        </p:nvSpPr>
        <p:spPr>
          <a:xfrm>
            <a:off x="4391025" y="4048125"/>
            <a:ext cx="3352800" cy="1352550"/>
          </a:xfrm>
          <a:prstGeom prst="roundRect">
            <a:avLst>
              <a:gd name="adj" fmla="val 9859"/>
            </a:avLst>
          </a:prstGeom>
          <a:solidFill>
            <a:srgbClr val="FFF6E9"/>
          </a:solidFill>
          <a:ln w="9525">
            <a:solidFill>
              <a:srgbClr val="D7DEE8"/>
            </a:solidFill>
            <a:prstDash val="solid"/>
          </a:ln>
        </p:spPr>
      </p:sp>
      <p:sp>
        <p:nvSpPr>
          <p:cNvPr id="14" name="Rectangle 13">
            <a:extLst>
              <a:ext uri="{FF2B5EF4-FFF2-40B4-BE49-F238E27FC236}">
                <a16:creationId xmlns:a16="http://schemas.microsoft.com/office/drawing/2014/main" id="{4DA68D79-13A9-431D-A484-EDEAE9FFDA02}"/>
              </a:ext>
            </a:extLst>
          </p:cNvPr>
          <p:cNvSpPr>
            <a:spLocks noGrp="1"/>
          </p:cNvSpPr>
          <p:nvPr/>
        </p:nvSpPr>
        <p:spPr>
          <a:xfrm>
            <a:off x="4543425" y="4171950"/>
            <a:ext cx="3048000" cy="190500"/>
          </a:xfrm>
          <a:prstGeom prst="rect">
            <a:avLst/>
          </a:prstGeom>
          <a:noFill/>
          <a:ln w="0">
            <a:noFill/>
          </a:ln>
        </p:spPr>
        <p:txBody>
          <a:bodyPr wrap="square" lIns="0" tIns="0" rIns="0" bIns="0" anchor="t">
            <a:normAutofit/>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5" name="Rectangle 14">
            <a:extLst>
              <a:ext uri="{FF2B5EF4-FFF2-40B4-BE49-F238E27FC236}">
                <a16:creationId xmlns:a16="http://schemas.microsoft.com/office/drawing/2014/main" id="{99051634-5717-4D00-B1BD-DCFA34081F05}"/>
              </a:ext>
            </a:extLst>
          </p:cNvPr>
          <p:cNvSpPr>
            <a:spLocks noGrp="1"/>
          </p:cNvSpPr>
          <p:nvPr/>
        </p:nvSpPr>
        <p:spPr>
          <a:xfrm>
            <a:off x="4543425" y="4419600"/>
            <a:ext cx="3048000" cy="78105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Правило треба да даје исти резултат за исти снимак контекста, како би могло да се тестира и објасни.</a:t>
            </a:r>
          </a:p>
        </p:txBody>
      </p:sp>
      <p:sp>
        <p:nvSpPr>
          <p:cNvPr id="16" name="Rounded Rectangle 15">
            <a:extLst>
              <a:ext uri="{FF2B5EF4-FFF2-40B4-BE49-F238E27FC236}">
                <a16:creationId xmlns:a16="http://schemas.microsoft.com/office/drawing/2014/main" id="{E373CD08-7E87-47D2-A292-0D7504BB7DE3}"/>
              </a:ext>
            </a:extLst>
          </p:cNvPr>
          <p:cNvSpPr>
            <a:spLocks noGrp="1"/>
          </p:cNvSpPr>
          <p:nvPr/>
        </p:nvSpPr>
        <p:spPr>
          <a:xfrm>
            <a:off x="8001000" y="4048125"/>
            <a:ext cx="3352800" cy="1352550"/>
          </a:xfrm>
          <a:prstGeom prst="roundRect">
            <a:avLst>
              <a:gd name="adj" fmla="val 9859"/>
            </a:avLst>
          </a:prstGeom>
          <a:solidFill>
            <a:srgbClr val="EDF8F2"/>
          </a:solidFill>
          <a:ln w="9525">
            <a:solidFill>
              <a:srgbClr val="D7DEE8"/>
            </a:solidFill>
            <a:prstDash val="solid"/>
          </a:ln>
        </p:spPr>
      </p:sp>
      <p:sp>
        <p:nvSpPr>
          <p:cNvPr id="17" name="Rectangle 16">
            <a:extLst>
              <a:ext uri="{FF2B5EF4-FFF2-40B4-BE49-F238E27FC236}">
                <a16:creationId xmlns:a16="http://schemas.microsoft.com/office/drawing/2014/main" id="{961858CF-2432-41BF-9551-CFA833D2DA8B}"/>
              </a:ext>
            </a:extLst>
          </p:cNvPr>
          <p:cNvSpPr>
            <a:spLocks noGrp="1"/>
          </p:cNvSpPr>
          <p:nvPr/>
        </p:nvSpPr>
        <p:spPr>
          <a:xfrm>
            <a:off x="8153400" y="4171950"/>
            <a:ext cx="304800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8" name="Rectangle 17">
            <a:extLst>
              <a:ext uri="{FF2B5EF4-FFF2-40B4-BE49-F238E27FC236}">
                <a16:creationId xmlns:a16="http://schemas.microsoft.com/office/drawing/2014/main" id="{FDE71747-22BE-404A-9C49-10CCD669D3B7}"/>
              </a:ext>
            </a:extLst>
          </p:cNvPr>
          <p:cNvSpPr>
            <a:spLocks noGrp="1"/>
          </p:cNvSpPr>
          <p:nvPr/>
        </p:nvSpPr>
        <p:spPr>
          <a:xfrm>
            <a:off x="8153400" y="4419600"/>
            <a:ext cx="3048000" cy="781050"/>
          </a:xfrm>
          <a:prstGeom prst="rect">
            <a:avLst/>
          </a:prstGeom>
          <a:noFill/>
          <a:ln w="0">
            <a:noFill/>
          </a:ln>
        </p:spPr>
        <p:txBody>
          <a:bodyPr wrap="square" lIns="0" tIns="0" rIns="0" bIns="0" anchor="ctr">
            <a:normAutofit fontScale="98520"/>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Преглед приступа враћа тим на питање да ли право и даље има пословни разлог, чак и када је некада било правилно додељено.</a:t>
            </a:r>
          </a:p>
        </p:txBody>
      </p:sp>
    </p:spTree>
    <p:extLst>
      <p:ext uri="{BB962C8B-B14F-4D97-AF65-F5344CB8AC3E}">
        <p14:creationId xmlns:p14="http://schemas.microsoft.com/office/powerpoint/2010/main" val="1384984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734BD49-CDD6-4560-B4F2-A6047E72773A}"/>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FB7828A4-63BC-4995-AD6A-196590B020AB}"/>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07B99E6F-168C-4EB8-AEB3-6CA33D590CA6}"/>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14</a:t>
            </a:r>
          </a:p>
        </p:txBody>
      </p:sp>
      <p:sp>
        <p:nvSpPr>
          <p:cNvPr id="4" name="Rectangle 3">
            <a:extLst>
              <a:ext uri="{FF2B5EF4-FFF2-40B4-BE49-F238E27FC236}">
                <a16:creationId xmlns:a16="http://schemas.microsoft.com/office/drawing/2014/main" id="{54C290A1-0077-4F79-A6F4-9588FD41F731}"/>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Атрибути прецизирају стабилну основу улоге</a:t>
            </a:r>
          </a:p>
        </p:txBody>
      </p:sp>
      <p:sp>
        <p:nvSpPr>
          <p:cNvPr id="5" name="Rectangle 4">
            <a:extLst>
              <a:ext uri="{FF2B5EF4-FFF2-40B4-BE49-F238E27FC236}">
                <a16:creationId xmlns:a16="http://schemas.microsoft.com/office/drawing/2014/main" id="{45B63CC0-D170-49A2-AD6C-D04EF0F510E0}"/>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Код почиње од исте леве ивице као наслов прозора и остаје читљив на пројектору.</a:t>
            </a:r>
          </a:p>
        </p:txBody>
      </p:sp>
      <p:sp>
        <p:nvSpPr>
          <p:cNvPr id="6" name="Rounded Rectangle 5">
            <a:extLst>
              <a:ext uri="{FF2B5EF4-FFF2-40B4-BE49-F238E27FC236}">
                <a16:creationId xmlns:a16="http://schemas.microsoft.com/office/drawing/2014/main" id="{20C89A5E-F922-4D26-891E-23D53BE697D8}"/>
              </a:ext>
            </a:extLst>
          </p:cNvPr>
          <p:cNvSpPr>
            <a:spLocks noGrp="1"/>
          </p:cNvSpPr>
          <p:nvPr/>
        </p:nvSpPr>
        <p:spPr>
          <a:xfrm>
            <a:off x="666750" y="2095500"/>
            <a:ext cx="6858000" cy="2076450"/>
          </a:xfrm>
          <a:prstGeom prst="roundRect">
            <a:avLst>
              <a:gd name="adj" fmla="val 4712"/>
            </a:avLst>
          </a:prstGeom>
          <a:solidFill>
            <a:srgbClr val="F7F8FB"/>
          </a:solidFill>
          <a:ln w="9525">
            <a:solidFill>
              <a:srgbClr val="D7DEE8"/>
            </a:solidFill>
            <a:prstDash val="solid"/>
          </a:ln>
        </p:spPr>
        <p:style>
          <a:lnRef idx="0">
            <a:scrgbClr r="0" g="0" b="0"/>
          </a:lnRef>
          <a:fillRef idx="0">
            <a:scrgbClr r="0" g="0" b="0"/>
          </a:fillRef>
          <a:effectRef idx="10">
            <a:scrgbClr r="0" g="0" b="0"/>
          </a:effectRef>
          <a:fontRef idx="major"/>
        </p:style>
      </p:sp>
      <p:sp>
        <p:nvSpPr>
          <p:cNvPr id="7" name="Straight Connector 6">
            <a:extLst>
              <a:ext uri="{FF2B5EF4-FFF2-40B4-BE49-F238E27FC236}">
                <a16:creationId xmlns:a16="http://schemas.microsoft.com/office/drawing/2014/main" id="{C332617C-82E6-4C8B-803A-E9B91B4E1C35}"/>
              </a:ext>
            </a:extLst>
          </p:cNvPr>
          <p:cNvSpPr>
            <a:spLocks noGrp="1"/>
          </p:cNvSpPr>
          <p:nvPr/>
        </p:nvSpPr>
        <p:spPr>
          <a:xfrm>
            <a:off x="666750" y="2438400"/>
            <a:ext cx="6858000" cy="9525"/>
          </a:xfrm>
          <a:prstGeom prst="line">
            <a:avLst/>
          </a:prstGeom>
          <a:noFill/>
          <a:ln w="9525">
            <a:solidFill>
              <a:srgbClr val="D7DEE8"/>
            </a:solidFill>
            <a:prstDash val="solid"/>
          </a:ln>
        </p:spPr>
      </p:sp>
      <p:sp>
        <p:nvSpPr>
          <p:cNvPr id="8" name="Oval 7">
            <a:extLst>
              <a:ext uri="{FF2B5EF4-FFF2-40B4-BE49-F238E27FC236}">
                <a16:creationId xmlns:a16="http://schemas.microsoft.com/office/drawing/2014/main" id="{1137DBB4-9E09-4F13-BE45-9D200F114A32}"/>
              </a:ext>
            </a:extLst>
          </p:cNvPr>
          <p:cNvSpPr>
            <a:spLocks noGrp="1"/>
          </p:cNvSpPr>
          <p:nvPr/>
        </p:nvSpPr>
        <p:spPr>
          <a:xfrm>
            <a:off x="6838950" y="2219325"/>
            <a:ext cx="85725" cy="85725"/>
          </a:xfrm>
          <a:prstGeom prst="ellipse">
            <a:avLst/>
          </a:prstGeom>
          <a:solidFill>
            <a:srgbClr val="EF6A60"/>
          </a:solidFill>
          <a:ln w="0">
            <a:noFill/>
          </a:ln>
        </p:spPr>
      </p:sp>
      <p:sp>
        <p:nvSpPr>
          <p:cNvPr id="9" name="Oval 8">
            <a:extLst>
              <a:ext uri="{FF2B5EF4-FFF2-40B4-BE49-F238E27FC236}">
                <a16:creationId xmlns:a16="http://schemas.microsoft.com/office/drawing/2014/main" id="{538FBB14-20CE-4D44-8DB5-2DBB5F8C1707}"/>
              </a:ext>
            </a:extLst>
          </p:cNvPr>
          <p:cNvSpPr>
            <a:spLocks noGrp="1"/>
          </p:cNvSpPr>
          <p:nvPr/>
        </p:nvSpPr>
        <p:spPr>
          <a:xfrm>
            <a:off x="7010400" y="2219325"/>
            <a:ext cx="85725" cy="85725"/>
          </a:xfrm>
          <a:prstGeom prst="ellipse">
            <a:avLst/>
          </a:prstGeom>
          <a:solidFill>
            <a:srgbClr val="F2BD42"/>
          </a:solidFill>
          <a:ln w="0">
            <a:noFill/>
          </a:ln>
        </p:spPr>
      </p:sp>
      <p:sp>
        <p:nvSpPr>
          <p:cNvPr id="10" name="Oval 9">
            <a:extLst>
              <a:ext uri="{FF2B5EF4-FFF2-40B4-BE49-F238E27FC236}">
                <a16:creationId xmlns:a16="http://schemas.microsoft.com/office/drawing/2014/main" id="{6B0FBD05-4071-412A-BB53-A973B864C05F}"/>
              </a:ext>
            </a:extLst>
          </p:cNvPr>
          <p:cNvSpPr>
            <a:spLocks noGrp="1"/>
          </p:cNvSpPr>
          <p:nvPr/>
        </p:nvSpPr>
        <p:spPr>
          <a:xfrm>
            <a:off x="7181850" y="2219325"/>
            <a:ext cx="85725" cy="85725"/>
          </a:xfrm>
          <a:prstGeom prst="ellipse">
            <a:avLst/>
          </a:prstGeom>
          <a:solidFill>
            <a:srgbClr val="65C466"/>
          </a:solidFill>
          <a:ln w="0">
            <a:noFill/>
          </a:ln>
        </p:spPr>
      </p:sp>
      <p:sp>
        <p:nvSpPr>
          <p:cNvPr id="11" name="Rectangle 10">
            <a:extLst>
              <a:ext uri="{FF2B5EF4-FFF2-40B4-BE49-F238E27FC236}">
                <a16:creationId xmlns:a16="http://schemas.microsoft.com/office/drawing/2014/main" id="{6BFC1CE0-7251-46CE-8274-002A8BF02F29}"/>
              </a:ext>
            </a:extLst>
          </p:cNvPr>
          <p:cNvSpPr>
            <a:spLocks noGrp="1"/>
          </p:cNvSpPr>
          <p:nvPr/>
        </p:nvSpPr>
        <p:spPr>
          <a:xfrm>
            <a:off x="781050" y="2571750"/>
            <a:ext cx="304800" cy="3028950"/>
          </a:xfrm>
          <a:prstGeom prst="rect">
            <a:avLst/>
          </a:prstGeom>
          <a:noFill/>
          <a:ln w="0">
            <a:noFill/>
          </a:ln>
        </p:spPr>
        <p:txBody>
          <a:bodyPr wrap="square" lIns="0" tIns="0" rIns="0" bIns="0" anchor="t">
            <a:normAutofit/>
          </a:bodyPr>
          <a:lstStyle/>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1</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2</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3</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4</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5</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6</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7</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8</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9</a:t>
            </a:r>
          </a:p>
        </p:txBody>
      </p:sp>
      <p:sp>
        <p:nvSpPr>
          <p:cNvPr id="12" name="Rectangle 11">
            <a:extLst>
              <a:ext uri="{FF2B5EF4-FFF2-40B4-BE49-F238E27FC236}">
                <a16:creationId xmlns:a16="http://schemas.microsoft.com/office/drawing/2014/main" id="{9D52198B-E2CA-4538-9FA0-3A94EFE4A8FC}"/>
              </a:ext>
            </a:extLst>
          </p:cNvPr>
          <p:cNvSpPr>
            <a:spLocks noGrp="1"/>
          </p:cNvSpPr>
          <p:nvPr/>
        </p:nvSpPr>
        <p:spPr>
          <a:xfrm>
            <a:off x="1200150" y="2571750"/>
            <a:ext cx="6153150" cy="3028950"/>
          </a:xfrm>
          <a:prstGeom prst="rect">
            <a:avLst/>
          </a:prstGeom>
          <a:noFill/>
          <a:ln w="0">
            <a:noFill/>
          </a:ln>
        </p:spPr>
        <p:txBody>
          <a:bodyPr wrap="square" lIns="0" tIns="0" rIns="0" bIns="0" anchor="t">
            <a:normAutofit/>
          </a:bodyPr>
          <a:lstStyle/>
          <a:p>
            <a:pPr>
              <a:buNone/>
              <a:defRPr sz="1050">
                <a:solidFill>
                  <a:srgbClr val="263044"/>
                </a:solidFill>
                <a:latin typeface="Consolas"/>
                <a:ea typeface="Consolas"/>
                <a:cs typeface="Consolas"/>
              </a:defRPr>
            </a:pPr>
            <a:r>
              <a:rPr b="1">
                <a:solidFill>
                  <a:srgbClr val="0969C3"/>
                </a:solidFill>
              </a:rPr>
              <a:t>public</a:t>
            </a:r>
            <a:r>
              <a:rPr b="0">
                <a:solidFill>
                  <a:srgbClr val="263044"/>
                </a:solidFill>
              </a:rPr>
              <a:t> </a:t>
            </a:r>
            <a:r>
              <a:rPr b="0">
                <a:solidFill>
                  <a:srgbClr val="7651D4"/>
                </a:solidFill>
              </a:rPr>
              <a:t>Decision</a:t>
            </a:r>
            <a:r>
              <a:rPr b="0">
                <a:solidFill>
                  <a:srgbClr val="263044"/>
                </a:solidFill>
              </a:rPr>
              <a:t> </a:t>
            </a:r>
            <a:r>
              <a:rPr b="0">
                <a:solidFill>
                  <a:srgbClr val="7651D4"/>
                </a:solidFill>
              </a:rPr>
              <a:t>CanApprove</a:t>
            </a:r>
            <a:r>
              <a:rPr b="0">
                <a:solidFill>
                  <a:srgbClr val="263044"/>
                </a:solidFill>
              </a:rPr>
              <a:t>(</a:t>
            </a:r>
            <a:r>
              <a:rPr b="0">
                <a:solidFill>
                  <a:srgbClr val="7651D4"/>
                </a:solidFill>
              </a:rPr>
              <a:t>User</a:t>
            </a:r>
            <a:r>
              <a:rPr b="0">
                <a:solidFill>
                  <a:srgbClr val="263044"/>
                </a:solidFill>
              </a:rPr>
              <a:t> user, </a:t>
            </a:r>
            <a:r>
              <a:rPr b="0">
                <a:solidFill>
                  <a:srgbClr val="7651D4"/>
                </a:solidFill>
              </a:rPr>
              <a:t>Report</a:t>
            </a:r>
            <a:r>
              <a:rPr b="0">
                <a:solidFill>
                  <a:srgbClr val="263044"/>
                </a:solidFill>
              </a:rPr>
              <a:t> report, </a:t>
            </a:r>
            <a:r>
              <a:rPr b="0">
                <a:solidFill>
                  <a:srgbClr val="7651D4"/>
                </a:solidFill>
              </a:rPr>
              <a:t>Context</a:t>
            </a:r>
            <a:r>
              <a:rPr b="0">
                <a:solidFill>
                  <a:srgbClr val="263044"/>
                </a:solidFill>
              </a:rPr>
              <a:t> ctx)</a:t>
            </a:r>
          </a:p>
          <a:p>
            <a:pPr>
              <a:buNone/>
              <a:defRPr sz="1050">
                <a:solidFill>
                  <a:srgbClr val="263044"/>
                </a:solidFill>
                <a:latin typeface="Consolas"/>
                <a:ea typeface="Consolas"/>
                <a:cs typeface="Consolas"/>
              </a:defRPr>
            </a:pP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if</a:t>
            </a:r>
            <a:r>
              <a:rPr b="0">
                <a:solidFill>
                  <a:srgbClr val="263044"/>
                </a:solidFill>
              </a:rPr>
              <a:t> (!user.</a:t>
            </a:r>
            <a:r>
              <a:rPr b="0">
                <a:solidFill>
                  <a:srgbClr val="7651D4"/>
                </a:solidFill>
              </a:rPr>
              <a:t>HasRole</a:t>
            </a:r>
            <a:r>
              <a:rPr b="0">
                <a:solidFill>
                  <a:srgbClr val="263044"/>
                </a:solidFill>
              </a:rPr>
              <a:t>(</a:t>
            </a:r>
            <a:r>
              <a:rPr b="0">
                <a:solidFill>
                  <a:srgbClr val="B45309"/>
                </a:solidFill>
              </a:rPr>
              <a:t>"operator"</a:t>
            </a:r>
            <a:r>
              <a:rPr b="0">
                <a:solidFill>
                  <a:srgbClr val="263044"/>
                </a:solidFill>
              </a:rPr>
              <a:t>)) </a:t>
            </a:r>
            <a:r>
              <a:rPr b="1">
                <a:solidFill>
                  <a:srgbClr val="0969C3"/>
                </a:solidFill>
              </a:rPr>
              <a:t>return</a:t>
            </a:r>
            <a:r>
              <a:rPr b="0">
                <a:solidFill>
                  <a:srgbClr val="263044"/>
                </a:solidFill>
              </a:rPr>
              <a:t> </a:t>
            </a:r>
            <a:r>
              <a:rPr b="0">
                <a:solidFill>
                  <a:srgbClr val="7651D4"/>
                </a:solidFill>
              </a:rPr>
              <a:t>Decision</a:t>
            </a:r>
            <a:r>
              <a:rPr b="0">
                <a:solidFill>
                  <a:srgbClr val="263044"/>
                </a:solidFill>
              </a:rPr>
              <a:t>.</a:t>
            </a:r>
            <a:r>
              <a:rPr b="0">
                <a:solidFill>
                  <a:srgbClr val="7651D4"/>
                </a:solidFill>
              </a:rPr>
              <a:t>Deny</a:t>
            </a:r>
            <a:r>
              <a:rPr b="0">
                <a:solidFill>
                  <a:srgbClr val="263044"/>
                </a:solidFill>
              </a:rPr>
              <a:t>(</a:t>
            </a:r>
            <a:r>
              <a:rPr b="0">
                <a:solidFill>
                  <a:srgbClr val="B45309"/>
                </a:solidFill>
              </a:rPr>
              <a:t>"role"</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if</a:t>
            </a:r>
            <a:r>
              <a:rPr b="0">
                <a:solidFill>
                  <a:srgbClr val="263044"/>
                </a:solidFill>
              </a:rPr>
              <a:t> (report.</a:t>
            </a:r>
            <a:r>
              <a:rPr b="0">
                <a:solidFill>
                  <a:srgbClr val="7651D4"/>
                </a:solidFill>
              </a:rPr>
              <a:t>DomainId</a:t>
            </a:r>
            <a:r>
              <a:rPr b="0">
                <a:solidFill>
                  <a:srgbClr val="263044"/>
                </a:solidFill>
              </a:rPr>
              <a:t> != user.</a:t>
            </a:r>
            <a:r>
              <a:rPr b="0">
                <a:solidFill>
                  <a:srgbClr val="7651D4"/>
                </a:solidFill>
              </a:rPr>
              <a:t>DomainId</a:t>
            </a:r>
            <a:r>
              <a:rPr b="0">
                <a:solidFill>
                  <a:srgbClr val="263044"/>
                </a:solidFill>
              </a:rPr>
              <a:t>) </a:t>
            </a:r>
            <a:r>
              <a:rPr b="1">
                <a:solidFill>
                  <a:srgbClr val="0969C3"/>
                </a:solidFill>
              </a:rPr>
              <a:t>return</a:t>
            </a:r>
            <a:r>
              <a:rPr b="0">
                <a:solidFill>
                  <a:srgbClr val="263044"/>
                </a:solidFill>
              </a:rPr>
              <a:t> </a:t>
            </a:r>
            <a:r>
              <a:rPr b="0">
                <a:solidFill>
                  <a:srgbClr val="7651D4"/>
                </a:solidFill>
              </a:rPr>
              <a:t>Decision</a:t>
            </a:r>
            <a:r>
              <a:rPr b="0">
                <a:solidFill>
                  <a:srgbClr val="263044"/>
                </a:solidFill>
              </a:rPr>
              <a:t>.</a:t>
            </a:r>
            <a:r>
              <a:rPr b="0">
                <a:solidFill>
                  <a:srgbClr val="7651D4"/>
                </a:solidFill>
              </a:rPr>
              <a:t>Deny</a:t>
            </a:r>
            <a:r>
              <a:rPr b="0">
                <a:solidFill>
                  <a:srgbClr val="263044"/>
                </a:solidFill>
              </a:rPr>
              <a:t>(</a:t>
            </a:r>
            <a:r>
              <a:rPr b="0">
                <a:solidFill>
                  <a:srgbClr val="B45309"/>
                </a:solidFill>
              </a:rPr>
              <a:t>"domain"</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if</a:t>
            </a:r>
            <a:r>
              <a:rPr b="0">
                <a:solidFill>
                  <a:srgbClr val="263044"/>
                </a:solidFill>
              </a:rPr>
              <a:t> (!ctx.</a:t>
            </a:r>
            <a:r>
              <a:rPr b="0">
                <a:solidFill>
                  <a:srgbClr val="7651D4"/>
                </a:solidFill>
              </a:rPr>
              <a:t>ManagedDevice</a:t>
            </a:r>
            <a:r>
              <a:rPr b="0">
                <a:solidFill>
                  <a:srgbClr val="263044"/>
                </a:solidFill>
              </a:rPr>
              <a:t>) </a:t>
            </a:r>
            <a:r>
              <a:rPr b="1">
                <a:solidFill>
                  <a:srgbClr val="0969C3"/>
                </a:solidFill>
              </a:rPr>
              <a:t>return</a:t>
            </a:r>
            <a:r>
              <a:rPr b="0">
                <a:solidFill>
                  <a:srgbClr val="263044"/>
                </a:solidFill>
              </a:rPr>
              <a:t> </a:t>
            </a:r>
            <a:r>
              <a:rPr b="0">
                <a:solidFill>
                  <a:srgbClr val="7651D4"/>
                </a:solidFill>
              </a:rPr>
              <a:t>Decision</a:t>
            </a:r>
            <a:r>
              <a:rPr b="0">
                <a:solidFill>
                  <a:srgbClr val="263044"/>
                </a:solidFill>
              </a:rPr>
              <a:t>.</a:t>
            </a:r>
            <a:r>
              <a:rPr b="0">
                <a:solidFill>
                  <a:srgbClr val="7651D4"/>
                </a:solidFill>
              </a:rPr>
              <a:t>Deny</a:t>
            </a:r>
            <a:r>
              <a:rPr b="0">
                <a:solidFill>
                  <a:srgbClr val="263044"/>
                </a:solidFill>
              </a:rPr>
              <a:t>(</a:t>
            </a:r>
            <a:r>
              <a:rPr b="0">
                <a:solidFill>
                  <a:srgbClr val="B45309"/>
                </a:solidFill>
              </a:rPr>
              <a:t>"device"</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if</a:t>
            </a:r>
            <a:r>
              <a:rPr b="0">
                <a:solidFill>
                  <a:srgbClr val="263044"/>
                </a:solidFill>
              </a:rPr>
              <a:t> (!ctx.</a:t>
            </a:r>
            <a:r>
              <a:rPr b="0">
                <a:solidFill>
                  <a:srgbClr val="7651D4"/>
                </a:solidFill>
              </a:rPr>
              <a:t>ActiveAssignment</a:t>
            </a:r>
            <a:r>
              <a:rPr b="0">
                <a:solidFill>
                  <a:srgbClr val="263044"/>
                </a:solidFill>
              </a:rPr>
              <a:t>.</a:t>
            </a:r>
            <a:r>
              <a:rPr b="0">
                <a:solidFill>
                  <a:srgbClr val="7651D4"/>
                </a:solidFill>
              </a:rPr>
              <a:t>Contains</a:t>
            </a:r>
            <a:r>
              <a:rPr b="0">
                <a:solidFill>
                  <a:srgbClr val="263044"/>
                </a:solidFill>
              </a:rPr>
              <a:t>(report.</a:t>
            </a:r>
            <a:r>
              <a:rPr b="0">
                <a:solidFill>
                  <a:srgbClr val="7651D4"/>
                </a:solidFill>
              </a:rPr>
              <a:t>Id</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return</a:t>
            </a:r>
            <a:r>
              <a:rPr b="0">
                <a:solidFill>
                  <a:srgbClr val="263044"/>
                </a:solidFill>
              </a:rPr>
              <a:t> </a:t>
            </a:r>
            <a:r>
              <a:rPr b="0">
                <a:solidFill>
                  <a:srgbClr val="7651D4"/>
                </a:solidFill>
              </a:rPr>
              <a:t>Decision</a:t>
            </a:r>
            <a:r>
              <a:rPr b="0">
                <a:solidFill>
                  <a:srgbClr val="263044"/>
                </a:solidFill>
              </a:rPr>
              <a:t>.</a:t>
            </a:r>
            <a:r>
              <a:rPr b="0">
                <a:solidFill>
                  <a:srgbClr val="7651D4"/>
                </a:solidFill>
              </a:rPr>
              <a:t>Deny</a:t>
            </a:r>
            <a:r>
              <a:rPr b="0">
                <a:solidFill>
                  <a:srgbClr val="263044"/>
                </a:solidFill>
              </a:rPr>
              <a:t>(</a:t>
            </a:r>
            <a:r>
              <a:rPr b="0">
                <a:solidFill>
                  <a:srgbClr val="B45309"/>
                </a:solidFill>
              </a:rPr>
              <a:t>"assignment"</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return</a:t>
            </a:r>
            <a:r>
              <a:rPr b="0">
                <a:solidFill>
                  <a:srgbClr val="263044"/>
                </a:solidFill>
              </a:rPr>
              <a:t> </a:t>
            </a:r>
            <a:r>
              <a:rPr b="0">
                <a:solidFill>
                  <a:srgbClr val="7651D4"/>
                </a:solidFill>
              </a:rPr>
              <a:t>Decision</a:t>
            </a:r>
            <a:r>
              <a:rPr b="0">
                <a:solidFill>
                  <a:srgbClr val="263044"/>
                </a:solidFill>
              </a:rPr>
              <a:t>.</a:t>
            </a:r>
            <a:r>
              <a:rPr b="0">
                <a:solidFill>
                  <a:srgbClr val="7651D4"/>
                </a:solidFill>
              </a:rPr>
              <a:t>Allow</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a:t>
            </a:r>
          </a:p>
        </p:txBody>
      </p:sp>
      <p:sp>
        <p:nvSpPr>
          <p:cNvPr id="13" name="Rounded Rectangle 12">
            <a:extLst>
              <a:ext uri="{FF2B5EF4-FFF2-40B4-BE49-F238E27FC236}">
                <a16:creationId xmlns:a16="http://schemas.microsoft.com/office/drawing/2014/main" id="{219DD6F4-3547-42B3-B25D-E0ABCBD123EF}"/>
              </a:ext>
            </a:extLst>
          </p:cNvPr>
          <p:cNvSpPr>
            <a:spLocks noGrp="1"/>
          </p:cNvSpPr>
          <p:nvPr/>
        </p:nvSpPr>
        <p:spPr>
          <a:xfrm>
            <a:off x="7924800" y="2152650"/>
            <a:ext cx="3600450" cy="1809750"/>
          </a:xfrm>
          <a:prstGeom prst="roundRect">
            <a:avLst>
              <a:gd name="adj" fmla="val 7368"/>
            </a:avLst>
          </a:prstGeom>
          <a:solidFill>
            <a:srgbClr val="EEF3FF"/>
          </a:solidFill>
          <a:ln w="9525">
            <a:solidFill>
              <a:srgbClr val="D7DEE8"/>
            </a:solidFill>
            <a:prstDash val="solid"/>
          </a:ln>
        </p:spPr>
      </p:sp>
      <p:sp>
        <p:nvSpPr>
          <p:cNvPr id="14" name="Rectangle 13">
            <a:extLst>
              <a:ext uri="{FF2B5EF4-FFF2-40B4-BE49-F238E27FC236}">
                <a16:creationId xmlns:a16="http://schemas.microsoft.com/office/drawing/2014/main" id="{2334289E-B094-429E-862A-7AC4690DA6C1}"/>
              </a:ext>
            </a:extLst>
          </p:cNvPr>
          <p:cNvSpPr>
            <a:spLocks noGrp="1"/>
          </p:cNvSpPr>
          <p:nvPr/>
        </p:nvSpPr>
        <p:spPr>
          <a:xfrm>
            <a:off x="8077200" y="2276475"/>
            <a:ext cx="32956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ШТА ЈЕ ВАЖНО</a:t>
            </a:r>
          </a:p>
        </p:txBody>
      </p:sp>
      <p:sp>
        <p:nvSpPr>
          <p:cNvPr id="15" name="Rectangle 14">
            <a:extLst>
              <a:ext uri="{FF2B5EF4-FFF2-40B4-BE49-F238E27FC236}">
                <a16:creationId xmlns:a16="http://schemas.microsoft.com/office/drawing/2014/main" id="{C5717051-F995-4984-8764-41ACA846576C}"/>
              </a:ext>
            </a:extLst>
          </p:cNvPr>
          <p:cNvSpPr>
            <a:spLocks noGrp="1"/>
          </p:cNvSpPr>
          <p:nvPr/>
        </p:nvSpPr>
        <p:spPr>
          <a:xfrm>
            <a:off x="8077200" y="2524125"/>
            <a:ext cx="3295650" cy="99060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Улога остаје разумљива, док домен, уређај и активни задатак одређују конкретан контекст.</a:t>
            </a:r>
          </a:p>
        </p:txBody>
      </p:sp>
      <p:sp>
        <p:nvSpPr>
          <p:cNvPr id="16" name="Rounded Rectangle 15">
            <a:extLst>
              <a:ext uri="{FF2B5EF4-FFF2-40B4-BE49-F238E27FC236}">
                <a16:creationId xmlns:a16="http://schemas.microsoft.com/office/drawing/2014/main" id="{5F5D34C1-FC39-43C9-92A4-C674D871C6A5}"/>
              </a:ext>
            </a:extLst>
          </p:cNvPr>
          <p:cNvSpPr>
            <a:spLocks noGrp="1"/>
          </p:cNvSpPr>
          <p:nvPr/>
        </p:nvSpPr>
        <p:spPr>
          <a:xfrm>
            <a:off x="7924800" y="4248150"/>
            <a:ext cx="3600450" cy="1428750"/>
          </a:xfrm>
          <a:prstGeom prst="roundRect">
            <a:avLst>
              <a:gd name="adj" fmla="val 9333"/>
            </a:avLst>
          </a:prstGeom>
          <a:solidFill>
            <a:srgbClr val="FFF6E9"/>
          </a:solidFill>
          <a:ln w="9525">
            <a:solidFill>
              <a:srgbClr val="D7DEE8"/>
            </a:solidFill>
            <a:prstDash val="solid"/>
          </a:ln>
        </p:spPr>
      </p:sp>
      <p:sp>
        <p:nvSpPr>
          <p:cNvPr id="17" name="Rectangle 16">
            <a:extLst>
              <a:ext uri="{FF2B5EF4-FFF2-40B4-BE49-F238E27FC236}">
                <a16:creationId xmlns:a16="http://schemas.microsoft.com/office/drawing/2014/main" id="{C738627E-D6B0-4DFB-8B21-E706B34DE65B}"/>
              </a:ext>
            </a:extLst>
          </p:cNvPr>
          <p:cNvSpPr>
            <a:spLocks noGrp="1"/>
          </p:cNvSpPr>
          <p:nvPr/>
        </p:nvSpPr>
        <p:spPr>
          <a:xfrm>
            <a:off x="8077200" y="4371975"/>
            <a:ext cx="3295650" cy="190500"/>
          </a:xfrm>
          <a:prstGeom prst="rect">
            <a:avLst/>
          </a:prstGeom>
          <a:noFill/>
          <a:ln w="0">
            <a:noFill/>
          </a:ln>
        </p:spPr>
        <p:txBody>
          <a:bodyPr wrap="square" lIns="0" tIns="0" rIns="0" bIns="0" anchor="t">
            <a:normAutofit/>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ГРАНИЦА</a:t>
            </a:r>
          </a:p>
        </p:txBody>
      </p:sp>
      <p:sp>
        <p:nvSpPr>
          <p:cNvPr id="18" name="Rectangle 17">
            <a:extLst>
              <a:ext uri="{FF2B5EF4-FFF2-40B4-BE49-F238E27FC236}">
                <a16:creationId xmlns:a16="http://schemas.microsoft.com/office/drawing/2014/main" id="{8A6E50A8-624C-4862-BC13-D36B077D74E6}"/>
              </a:ext>
            </a:extLst>
          </p:cNvPr>
          <p:cNvSpPr>
            <a:spLocks noGrp="1"/>
          </p:cNvSpPr>
          <p:nvPr/>
        </p:nvSpPr>
        <p:spPr>
          <a:xfrm>
            <a:off x="8077200" y="4619625"/>
            <a:ext cx="3295650" cy="83820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Одбијање је експлицитан исход са разлогом који се може тестирати и објаснити.</a:t>
            </a:r>
          </a:p>
        </p:txBody>
      </p:sp>
    </p:spTree>
    <p:extLst>
      <p:ext uri="{BB962C8B-B14F-4D97-AF65-F5344CB8AC3E}">
        <p14:creationId xmlns:p14="http://schemas.microsoft.com/office/powerpoint/2010/main" val="1234008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DA2C78E-58CC-4145-A296-C079110D934B}"/>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8679B8C4-760C-4B82-B597-2DEA402C6E46}"/>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E4C54EFA-7DD2-4320-B3A7-D9C2BE81BE61}"/>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15</a:t>
            </a:r>
          </a:p>
        </p:txBody>
      </p:sp>
      <p:sp>
        <p:nvSpPr>
          <p:cNvPr id="4" name="Rectangle 3">
            <a:extLst>
              <a:ext uri="{FF2B5EF4-FFF2-40B4-BE49-F238E27FC236}">
                <a16:creationId xmlns:a16="http://schemas.microsoft.com/office/drawing/2014/main" id="{DBE0A002-5E5F-4921-AA1B-00A5BCFECEE4}"/>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Иста улога, супротан контекст, друга одлука</a:t>
            </a:r>
          </a:p>
        </p:txBody>
      </p:sp>
      <p:sp>
        <p:nvSpPr>
          <p:cNvPr id="5" name="Rectangle 4">
            <a:extLst>
              <a:ext uri="{FF2B5EF4-FFF2-40B4-BE49-F238E27FC236}">
                <a16:creationId xmlns:a16="http://schemas.microsoft.com/office/drawing/2014/main" id="{B3766A92-71F4-4EBA-B241-ECD05D1553EA}"/>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Негативан тест није споредан случај — он описује где право престаје.</a:t>
            </a:r>
          </a:p>
        </p:txBody>
      </p:sp>
      <p:sp>
        <p:nvSpPr>
          <p:cNvPr id="6" name="Rounded Rectangle 5">
            <a:extLst>
              <a:ext uri="{FF2B5EF4-FFF2-40B4-BE49-F238E27FC236}">
                <a16:creationId xmlns:a16="http://schemas.microsoft.com/office/drawing/2014/main" id="{E881E8D3-9844-4FE9-9BE6-8A9ED93BE93C}"/>
              </a:ext>
            </a:extLst>
          </p:cNvPr>
          <p:cNvSpPr>
            <a:spLocks noGrp="1"/>
          </p:cNvSpPr>
          <p:nvPr/>
        </p:nvSpPr>
        <p:spPr>
          <a:xfrm>
            <a:off x="666750" y="2095500"/>
            <a:ext cx="6858000" cy="2085975"/>
          </a:xfrm>
          <a:prstGeom prst="roundRect">
            <a:avLst>
              <a:gd name="adj" fmla="val 4712"/>
            </a:avLst>
          </a:prstGeom>
          <a:solidFill>
            <a:srgbClr val="F7F8FB"/>
          </a:solidFill>
          <a:ln w="9525">
            <a:solidFill>
              <a:srgbClr val="D7DEE8"/>
            </a:solidFill>
            <a:prstDash val="solid"/>
          </a:ln>
        </p:spPr>
        <p:style>
          <a:lnRef idx="0">
            <a:scrgbClr r="0" g="0" b="0"/>
          </a:lnRef>
          <a:fillRef idx="0">
            <a:scrgbClr r="0" g="0" b="0"/>
          </a:fillRef>
          <a:effectRef idx="10">
            <a:scrgbClr r="0" g="0" b="0"/>
          </a:effectRef>
          <a:fontRef idx="major"/>
        </p:style>
      </p:sp>
      <p:sp>
        <p:nvSpPr>
          <p:cNvPr id="7" name="Straight Connector 6">
            <a:extLst>
              <a:ext uri="{FF2B5EF4-FFF2-40B4-BE49-F238E27FC236}">
                <a16:creationId xmlns:a16="http://schemas.microsoft.com/office/drawing/2014/main" id="{EE4768AE-EDDF-43C4-8150-99EFD7D3275B}"/>
              </a:ext>
            </a:extLst>
          </p:cNvPr>
          <p:cNvSpPr>
            <a:spLocks noGrp="1"/>
          </p:cNvSpPr>
          <p:nvPr/>
        </p:nvSpPr>
        <p:spPr>
          <a:xfrm>
            <a:off x="666750" y="2438400"/>
            <a:ext cx="6858000" cy="9525"/>
          </a:xfrm>
          <a:prstGeom prst="line">
            <a:avLst/>
          </a:prstGeom>
          <a:noFill/>
          <a:ln w="9525">
            <a:solidFill>
              <a:srgbClr val="D7DEE8"/>
            </a:solidFill>
            <a:prstDash val="solid"/>
          </a:ln>
        </p:spPr>
      </p:sp>
      <p:sp>
        <p:nvSpPr>
          <p:cNvPr id="8" name="Oval 7">
            <a:extLst>
              <a:ext uri="{FF2B5EF4-FFF2-40B4-BE49-F238E27FC236}">
                <a16:creationId xmlns:a16="http://schemas.microsoft.com/office/drawing/2014/main" id="{4F0366FF-30E4-408A-BFF5-0D649C643938}"/>
              </a:ext>
            </a:extLst>
          </p:cNvPr>
          <p:cNvSpPr>
            <a:spLocks noGrp="1"/>
          </p:cNvSpPr>
          <p:nvPr/>
        </p:nvSpPr>
        <p:spPr>
          <a:xfrm>
            <a:off x="6838950" y="2219325"/>
            <a:ext cx="85725" cy="85725"/>
          </a:xfrm>
          <a:prstGeom prst="ellipse">
            <a:avLst/>
          </a:prstGeom>
          <a:solidFill>
            <a:srgbClr val="EF6A60"/>
          </a:solidFill>
          <a:ln w="0">
            <a:noFill/>
          </a:ln>
        </p:spPr>
      </p:sp>
      <p:sp>
        <p:nvSpPr>
          <p:cNvPr id="9" name="Oval 8">
            <a:extLst>
              <a:ext uri="{FF2B5EF4-FFF2-40B4-BE49-F238E27FC236}">
                <a16:creationId xmlns:a16="http://schemas.microsoft.com/office/drawing/2014/main" id="{92687208-8930-4C9C-A0BE-74496F59EC59}"/>
              </a:ext>
            </a:extLst>
          </p:cNvPr>
          <p:cNvSpPr>
            <a:spLocks noGrp="1"/>
          </p:cNvSpPr>
          <p:nvPr/>
        </p:nvSpPr>
        <p:spPr>
          <a:xfrm>
            <a:off x="7010400" y="2219325"/>
            <a:ext cx="85725" cy="85725"/>
          </a:xfrm>
          <a:prstGeom prst="ellipse">
            <a:avLst/>
          </a:prstGeom>
          <a:solidFill>
            <a:srgbClr val="F2BD42"/>
          </a:solidFill>
          <a:ln w="0">
            <a:noFill/>
          </a:ln>
        </p:spPr>
      </p:sp>
      <p:sp>
        <p:nvSpPr>
          <p:cNvPr id="10" name="Oval 9">
            <a:extLst>
              <a:ext uri="{FF2B5EF4-FFF2-40B4-BE49-F238E27FC236}">
                <a16:creationId xmlns:a16="http://schemas.microsoft.com/office/drawing/2014/main" id="{361AA65E-3784-44C5-B814-EB7BCE45DEF7}"/>
              </a:ext>
            </a:extLst>
          </p:cNvPr>
          <p:cNvSpPr>
            <a:spLocks noGrp="1"/>
          </p:cNvSpPr>
          <p:nvPr/>
        </p:nvSpPr>
        <p:spPr>
          <a:xfrm>
            <a:off x="7181850" y="2219325"/>
            <a:ext cx="85725" cy="85725"/>
          </a:xfrm>
          <a:prstGeom prst="ellipse">
            <a:avLst/>
          </a:prstGeom>
          <a:solidFill>
            <a:srgbClr val="65C466"/>
          </a:solidFill>
          <a:ln w="0">
            <a:noFill/>
          </a:ln>
        </p:spPr>
      </p:sp>
      <p:sp>
        <p:nvSpPr>
          <p:cNvPr id="11" name="Rectangle 10">
            <a:extLst>
              <a:ext uri="{FF2B5EF4-FFF2-40B4-BE49-F238E27FC236}">
                <a16:creationId xmlns:a16="http://schemas.microsoft.com/office/drawing/2014/main" id="{DBA645F6-DA77-44FD-A9D6-AC1495C3A766}"/>
              </a:ext>
            </a:extLst>
          </p:cNvPr>
          <p:cNvSpPr>
            <a:spLocks noGrp="1"/>
          </p:cNvSpPr>
          <p:nvPr/>
        </p:nvSpPr>
        <p:spPr>
          <a:xfrm>
            <a:off x="781050" y="2571750"/>
            <a:ext cx="304800" cy="3028950"/>
          </a:xfrm>
          <a:prstGeom prst="rect">
            <a:avLst/>
          </a:prstGeom>
          <a:noFill/>
          <a:ln w="0">
            <a:noFill/>
          </a:ln>
        </p:spPr>
        <p:txBody>
          <a:bodyPr wrap="square" lIns="0" tIns="0" rIns="0" bIns="0" anchor="t">
            <a:normAutofit/>
          </a:bodyPr>
          <a:lstStyle/>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1</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2</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3</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4</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5</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6</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7</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8</a:t>
            </a:r>
          </a:p>
          <a:p>
            <a:pPr algn="r">
              <a:lnSpc>
                <a:spcPct val="1000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9</a:t>
            </a:r>
          </a:p>
        </p:txBody>
      </p:sp>
      <p:sp>
        <p:nvSpPr>
          <p:cNvPr id="12" name="Rectangle 11">
            <a:extLst>
              <a:ext uri="{FF2B5EF4-FFF2-40B4-BE49-F238E27FC236}">
                <a16:creationId xmlns:a16="http://schemas.microsoft.com/office/drawing/2014/main" id="{D0C2B0C3-BE4A-47AB-B6D2-C4F9306B3E63}"/>
              </a:ext>
            </a:extLst>
          </p:cNvPr>
          <p:cNvSpPr>
            <a:spLocks noGrp="1"/>
          </p:cNvSpPr>
          <p:nvPr/>
        </p:nvSpPr>
        <p:spPr>
          <a:xfrm>
            <a:off x="1200150" y="2571750"/>
            <a:ext cx="6153150" cy="3028950"/>
          </a:xfrm>
          <a:prstGeom prst="rect">
            <a:avLst/>
          </a:prstGeom>
          <a:noFill/>
          <a:ln w="0">
            <a:noFill/>
          </a:ln>
        </p:spPr>
        <p:txBody>
          <a:bodyPr wrap="square" lIns="0" tIns="0" rIns="0" bIns="0" anchor="t">
            <a:normAutofit/>
          </a:bodyPr>
          <a:lstStyle/>
          <a:p>
            <a:pPr>
              <a:buNone/>
              <a:defRPr sz="1050">
                <a:solidFill>
                  <a:srgbClr val="263044"/>
                </a:solidFill>
                <a:latin typeface="Consolas"/>
                <a:ea typeface="Consolas"/>
                <a:cs typeface="Consolas"/>
              </a:defRPr>
            </a:pPr>
            <a:r>
              <a:rPr b="0">
                <a:solidFill>
                  <a:srgbClr val="263044"/>
                </a:solidFill>
              </a:rPr>
              <a:t>[</a:t>
            </a:r>
            <a:r>
              <a:rPr b="0">
                <a:solidFill>
                  <a:srgbClr val="7651D4"/>
                </a:solidFill>
              </a:rPr>
              <a:t>Theory</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a:t>
            </a:r>
            <a:r>
              <a:rPr b="0">
                <a:solidFill>
                  <a:srgbClr val="7651D4"/>
                </a:solidFill>
              </a:rPr>
              <a:t>InlineData</a:t>
            </a:r>
            <a:r>
              <a:rPr b="0">
                <a:solidFill>
                  <a:srgbClr val="263044"/>
                </a:solidFill>
              </a:rPr>
              <a:t>(</a:t>
            </a:r>
            <a:r>
              <a:rPr b="1">
                <a:solidFill>
                  <a:srgbClr val="0969C3"/>
                </a:solidFill>
              </a:rPr>
              <a:t>false</a:t>
            </a:r>
            <a:r>
              <a:rPr b="0">
                <a:solidFill>
                  <a:srgbClr val="263044"/>
                </a:solidFill>
              </a:rPr>
              <a:t>, </a:t>
            </a:r>
            <a:r>
              <a:rPr b="0">
                <a:solidFill>
                  <a:srgbClr val="B45309"/>
                </a:solidFill>
              </a:rPr>
              <a:t>"device"</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a:t>
            </a:r>
            <a:r>
              <a:rPr b="0">
                <a:solidFill>
                  <a:srgbClr val="7651D4"/>
                </a:solidFill>
              </a:rPr>
              <a:t>InlineData</a:t>
            </a:r>
            <a:r>
              <a:rPr b="0">
                <a:solidFill>
                  <a:srgbClr val="263044"/>
                </a:solidFill>
              </a:rPr>
              <a:t>(</a:t>
            </a:r>
            <a:r>
              <a:rPr b="1">
                <a:solidFill>
                  <a:srgbClr val="0969C3"/>
                </a:solidFill>
              </a:rPr>
              <a:t>true</a:t>
            </a:r>
            <a:r>
              <a:rPr b="0">
                <a:solidFill>
                  <a:srgbClr val="263044"/>
                </a:solidFill>
              </a:rPr>
              <a:t>, </a:t>
            </a:r>
            <a:r>
              <a:rPr b="0">
                <a:solidFill>
                  <a:srgbClr val="B45309"/>
                </a:solidFill>
              </a:rPr>
              <a:t>"assignment"</a:t>
            </a:r>
            <a:r>
              <a:rPr b="0">
                <a:solidFill>
                  <a:srgbClr val="263044"/>
                </a:solidFill>
              </a:rPr>
              <a:t>)]</a:t>
            </a:r>
          </a:p>
          <a:p>
            <a:pPr>
              <a:buNone/>
              <a:defRPr sz="1050">
                <a:solidFill>
                  <a:srgbClr val="263044"/>
                </a:solidFill>
                <a:latin typeface="Consolas"/>
                <a:ea typeface="Consolas"/>
                <a:cs typeface="Consolas"/>
              </a:defRPr>
            </a:pPr>
            <a:r>
              <a:rPr b="1">
                <a:solidFill>
                  <a:srgbClr val="0969C3"/>
                </a:solidFill>
              </a:rPr>
              <a:t>public</a:t>
            </a:r>
            <a:r>
              <a:rPr b="0">
                <a:solidFill>
                  <a:srgbClr val="263044"/>
                </a:solidFill>
              </a:rPr>
              <a:t> </a:t>
            </a:r>
            <a:r>
              <a:rPr b="1">
                <a:solidFill>
                  <a:srgbClr val="0969C3"/>
                </a:solidFill>
              </a:rPr>
              <a:t>void</a:t>
            </a:r>
            <a:r>
              <a:rPr b="0">
                <a:solidFill>
                  <a:srgbClr val="263044"/>
                </a:solidFill>
              </a:rPr>
              <a:t> </a:t>
            </a:r>
            <a:r>
              <a:rPr b="0">
                <a:solidFill>
                  <a:srgbClr val="7651D4"/>
                </a:solidFill>
              </a:rPr>
              <a:t>Context_changes_the_same_roles_decision</a:t>
            </a:r>
            <a:r>
              <a:rPr b="0">
                <a:solidFill>
                  <a:srgbClr val="263044"/>
                </a:solidFill>
              </a:rPr>
              <a:t>(</a:t>
            </a:r>
            <a:r>
              <a:rPr b="1">
                <a:solidFill>
                  <a:srgbClr val="0969C3"/>
                </a:solidFill>
              </a:rPr>
              <a:t>bool</a:t>
            </a:r>
            <a:r>
              <a:rPr b="0">
                <a:solidFill>
                  <a:srgbClr val="263044"/>
                </a:solidFill>
              </a:rPr>
              <a:t> managed, </a:t>
            </a:r>
            <a:r>
              <a:rPr b="1">
                <a:solidFill>
                  <a:srgbClr val="0969C3"/>
                </a:solidFill>
              </a:rPr>
              <a:t>string</a:t>
            </a:r>
            <a:r>
              <a:rPr b="0">
                <a:solidFill>
                  <a:srgbClr val="263044"/>
                </a:solidFill>
              </a:rPr>
              <a:t> reason)</a:t>
            </a:r>
          </a:p>
          <a:p>
            <a:pPr>
              <a:buNone/>
              <a:defRPr sz="1050">
                <a:solidFill>
                  <a:srgbClr val="263044"/>
                </a:solidFill>
                <a:latin typeface="Consolas"/>
                <a:ea typeface="Consolas"/>
                <a:cs typeface="Consolas"/>
              </a:defRPr>
            </a:pP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var</a:t>
            </a:r>
            <a:r>
              <a:rPr b="0">
                <a:solidFill>
                  <a:srgbClr val="263044"/>
                </a:solidFill>
              </a:rPr>
              <a:t> ctx = </a:t>
            </a:r>
            <a:r>
              <a:rPr b="0">
                <a:solidFill>
                  <a:srgbClr val="7651D4"/>
                </a:solidFill>
              </a:rPr>
              <a:t>Context</a:t>
            </a:r>
            <a:r>
              <a:rPr b="0">
                <a:solidFill>
                  <a:srgbClr val="263044"/>
                </a:solidFill>
              </a:rPr>
              <a:t>.</a:t>
            </a:r>
            <a:r>
              <a:rPr b="0">
                <a:solidFill>
                  <a:srgbClr val="7651D4"/>
                </a:solidFill>
              </a:rPr>
              <a:t>For</a:t>
            </a:r>
            <a:r>
              <a:rPr b="0">
                <a:solidFill>
                  <a:srgbClr val="263044"/>
                </a:solidFill>
              </a:rPr>
              <a:t>(managed, assigned: </a:t>
            </a:r>
            <a:r>
              <a:rPr b="1">
                <a:solidFill>
                  <a:srgbClr val="0969C3"/>
                </a:solidFill>
              </a:rPr>
              <a:t>false</a:t>
            </a:r>
            <a:r>
              <a:rPr b="0">
                <a:solidFill>
                  <a:srgbClr val="263044"/>
                </a:solidFill>
              </a:rPr>
              <a:t>);</a:t>
            </a:r>
          </a:p>
          <a:p>
            <a:pPr>
              <a:buNone/>
              <a:defRPr sz="1050">
                <a:solidFill>
                  <a:srgbClr val="263044"/>
                </a:solidFill>
                <a:latin typeface="Consolas"/>
                <a:ea typeface="Consolas"/>
                <a:cs typeface="Consolas"/>
              </a:defRPr>
            </a:pPr>
            <a:r>
              <a:rPr b="0">
                <a:solidFill>
                  <a:srgbClr val="263044"/>
                </a:solidFill>
              </a:rPr>
              <a:t>    </a:t>
            </a:r>
            <a:r>
              <a:rPr b="1">
                <a:solidFill>
                  <a:srgbClr val="0969C3"/>
                </a:solidFill>
              </a:rPr>
              <a:t>var</a:t>
            </a:r>
            <a:r>
              <a:rPr b="0">
                <a:solidFill>
                  <a:srgbClr val="263044"/>
                </a:solidFill>
              </a:rPr>
              <a:t> result = policy.</a:t>
            </a:r>
            <a:r>
              <a:rPr b="0">
                <a:solidFill>
                  <a:srgbClr val="7651D4"/>
                </a:solidFill>
              </a:rPr>
              <a:t>CanApprove</a:t>
            </a:r>
            <a:r>
              <a:rPr b="0">
                <a:solidFill>
                  <a:srgbClr val="263044"/>
                </a:solidFill>
              </a:rPr>
              <a:t>(user, report, ctx);</a:t>
            </a:r>
          </a:p>
          <a:p>
            <a:pPr>
              <a:buNone/>
              <a:defRPr sz="1050">
                <a:solidFill>
                  <a:srgbClr val="263044"/>
                </a:solidFill>
                <a:latin typeface="Consolas"/>
                <a:ea typeface="Consolas"/>
                <a:cs typeface="Consolas"/>
              </a:defRPr>
            </a:pPr>
            <a:r>
              <a:rPr b="0">
                <a:solidFill>
                  <a:srgbClr val="263044"/>
                </a:solidFill>
              </a:rPr>
              <a:t>    result.</a:t>
            </a:r>
            <a:r>
              <a:rPr b="0">
                <a:solidFill>
                  <a:srgbClr val="7651D4"/>
                </a:solidFill>
              </a:rPr>
              <a:t>Reason</a:t>
            </a:r>
            <a:r>
              <a:rPr b="0">
                <a:solidFill>
                  <a:srgbClr val="263044"/>
                </a:solidFill>
              </a:rPr>
              <a:t>.</a:t>
            </a:r>
            <a:r>
              <a:rPr b="0">
                <a:solidFill>
                  <a:srgbClr val="7651D4"/>
                </a:solidFill>
              </a:rPr>
              <a:t>Should</a:t>
            </a:r>
            <a:r>
              <a:rPr b="0">
                <a:solidFill>
                  <a:srgbClr val="263044"/>
                </a:solidFill>
              </a:rPr>
              <a:t>().</a:t>
            </a:r>
            <a:r>
              <a:rPr b="0">
                <a:solidFill>
                  <a:srgbClr val="7651D4"/>
                </a:solidFill>
              </a:rPr>
              <a:t>Be</a:t>
            </a:r>
            <a:r>
              <a:rPr b="0">
                <a:solidFill>
                  <a:srgbClr val="263044"/>
                </a:solidFill>
              </a:rPr>
              <a:t>(reason);</a:t>
            </a:r>
          </a:p>
          <a:p>
            <a:pPr>
              <a:buNone/>
              <a:defRPr sz="1050">
                <a:solidFill>
                  <a:srgbClr val="263044"/>
                </a:solidFill>
                <a:latin typeface="Consolas"/>
                <a:ea typeface="Consolas"/>
                <a:cs typeface="Consolas"/>
              </a:defRPr>
            </a:pPr>
            <a:r>
              <a:rPr b="0">
                <a:solidFill>
                  <a:srgbClr val="263044"/>
                </a:solidFill>
              </a:rPr>
              <a:t>}</a:t>
            </a:r>
          </a:p>
        </p:txBody>
      </p:sp>
      <p:sp>
        <p:nvSpPr>
          <p:cNvPr id="13" name="Rounded Rectangle 12">
            <a:extLst>
              <a:ext uri="{FF2B5EF4-FFF2-40B4-BE49-F238E27FC236}">
                <a16:creationId xmlns:a16="http://schemas.microsoft.com/office/drawing/2014/main" id="{1C1B489E-1F7A-45F0-9835-0450A3FC3D30}"/>
              </a:ext>
            </a:extLst>
          </p:cNvPr>
          <p:cNvSpPr>
            <a:spLocks noGrp="1"/>
          </p:cNvSpPr>
          <p:nvPr/>
        </p:nvSpPr>
        <p:spPr>
          <a:xfrm>
            <a:off x="7924800" y="2152650"/>
            <a:ext cx="3600450" cy="1809750"/>
          </a:xfrm>
          <a:prstGeom prst="roundRect">
            <a:avLst>
              <a:gd name="adj" fmla="val 7368"/>
            </a:avLst>
          </a:prstGeom>
          <a:solidFill>
            <a:srgbClr val="EDF8F2"/>
          </a:solidFill>
          <a:ln w="9525">
            <a:solidFill>
              <a:srgbClr val="D7DEE8"/>
            </a:solidFill>
            <a:prstDash val="solid"/>
          </a:ln>
        </p:spPr>
      </p:sp>
      <p:sp>
        <p:nvSpPr>
          <p:cNvPr id="14" name="Rectangle 13">
            <a:extLst>
              <a:ext uri="{FF2B5EF4-FFF2-40B4-BE49-F238E27FC236}">
                <a16:creationId xmlns:a16="http://schemas.microsoft.com/office/drawing/2014/main" id="{9CB2CCDC-648B-4365-A9D5-1306883F9A8D}"/>
              </a:ext>
            </a:extLst>
          </p:cNvPr>
          <p:cNvSpPr>
            <a:spLocks noGrp="1"/>
          </p:cNvSpPr>
          <p:nvPr/>
        </p:nvSpPr>
        <p:spPr>
          <a:xfrm>
            <a:off x="8077200" y="2276475"/>
            <a:ext cx="32956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ДОКАЗ</a:t>
            </a:r>
          </a:p>
        </p:txBody>
      </p:sp>
      <p:sp>
        <p:nvSpPr>
          <p:cNvPr id="15" name="Rectangle 14">
            <a:extLst>
              <a:ext uri="{FF2B5EF4-FFF2-40B4-BE49-F238E27FC236}">
                <a16:creationId xmlns:a16="http://schemas.microsoft.com/office/drawing/2014/main" id="{8D336ADC-6D14-4240-BB08-EA0A64BFA38E}"/>
              </a:ext>
            </a:extLst>
          </p:cNvPr>
          <p:cNvSpPr>
            <a:spLocks noGrp="1"/>
          </p:cNvSpPr>
          <p:nvPr/>
        </p:nvSpPr>
        <p:spPr>
          <a:xfrm>
            <a:off x="8077200" y="2524125"/>
            <a:ext cx="3295650" cy="102870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Тестови морају показати који атрибут мења исход и који разлог систем бележи.</a:t>
            </a:r>
          </a:p>
        </p:txBody>
      </p:sp>
      <p:sp>
        <p:nvSpPr>
          <p:cNvPr id="16" name="Rounded Rectangle 15">
            <a:extLst>
              <a:ext uri="{FF2B5EF4-FFF2-40B4-BE49-F238E27FC236}">
                <a16:creationId xmlns:a16="http://schemas.microsoft.com/office/drawing/2014/main" id="{8880C61E-E9C6-41B1-BD26-30CD118AA580}"/>
              </a:ext>
            </a:extLst>
          </p:cNvPr>
          <p:cNvSpPr>
            <a:spLocks noGrp="1"/>
          </p:cNvSpPr>
          <p:nvPr/>
        </p:nvSpPr>
        <p:spPr>
          <a:xfrm>
            <a:off x="7924800" y="4248150"/>
            <a:ext cx="3600450" cy="1428750"/>
          </a:xfrm>
          <a:prstGeom prst="roundRect">
            <a:avLst>
              <a:gd name="adj" fmla="val 9333"/>
            </a:avLst>
          </a:prstGeom>
          <a:solidFill>
            <a:srgbClr val="F5F0FF"/>
          </a:solidFill>
          <a:ln w="9525">
            <a:solidFill>
              <a:srgbClr val="D7DEE8"/>
            </a:solidFill>
            <a:prstDash val="solid"/>
          </a:ln>
        </p:spPr>
      </p:sp>
      <p:sp>
        <p:nvSpPr>
          <p:cNvPr id="17" name="Rectangle 16">
            <a:extLst>
              <a:ext uri="{FF2B5EF4-FFF2-40B4-BE49-F238E27FC236}">
                <a16:creationId xmlns:a16="http://schemas.microsoft.com/office/drawing/2014/main" id="{59E6BB8D-DAD8-4BBF-8785-C26C4E8E94A6}"/>
              </a:ext>
            </a:extLst>
          </p:cNvPr>
          <p:cNvSpPr>
            <a:spLocks noGrp="1"/>
          </p:cNvSpPr>
          <p:nvPr/>
        </p:nvSpPr>
        <p:spPr>
          <a:xfrm>
            <a:off x="8077200" y="4371975"/>
            <a:ext cx="3295650" cy="190500"/>
          </a:xfrm>
          <a:prstGeom prst="rect">
            <a:avLst/>
          </a:prstGeom>
          <a:noFill/>
          <a:ln w="0">
            <a:noFill/>
          </a:ln>
        </p:spPr>
        <p:txBody>
          <a:bodyPr wrap="square" lIns="0" tIns="0" rIns="0" bIns="0" anchor="t">
            <a:normAutofit/>
          </a:bodyPr>
          <a:lstStyle/>
          <a:p>
            <a:pPr algn="l">
              <a:lnSpc>
                <a:spcPct val="102000"/>
              </a:lnSpc>
              <a:buNone/>
              <a:defRPr sz="975" b="1">
                <a:solidFill>
                  <a:srgbClr val="7651D4"/>
                </a:solidFill>
                <a:latin typeface="Aptos"/>
                <a:ea typeface="Aptos"/>
                <a:cs typeface="Aptos"/>
              </a:defRPr>
            </a:pPr>
            <a:r>
              <a:rPr sz="1200" b="1">
                <a:solidFill>
                  <a:srgbClr val="7651D4"/>
                </a:solidFill>
                <a:latin typeface="Aptos"/>
                <a:ea typeface="Aptos"/>
                <a:cs typeface="Aptos"/>
              </a:rPr>
              <a:t>ПРОВЕРА</a:t>
            </a:r>
          </a:p>
        </p:txBody>
      </p:sp>
      <p:sp>
        <p:nvSpPr>
          <p:cNvPr id="18" name="Rectangle 17">
            <a:extLst>
              <a:ext uri="{FF2B5EF4-FFF2-40B4-BE49-F238E27FC236}">
                <a16:creationId xmlns:a16="http://schemas.microsoft.com/office/drawing/2014/main" id="{DB752BD6-E8C4-4F5C-AA6D-78DCD6F696D9}"/>
              </a:ext>
            </a:extLst>
          </p:cNvPr>
          <p:cNvSpPr>
            <a:spLocks noGrp="1"/>
          </p:cNvSpPr>
          <p:nvPr/>
        </p:nvSpPr>
        <p:spPr>
          <a:xfrm>
            <a:off x="8077200" y="4619625"/>
            <a:ext cx="3295650" cy="83820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Промените једну чињеницу и очекујте јасан, стабилан разлог одбијања.</a:t>
            </a:r>
          </a:p>
        </p:txBody>
      </p:sp>
    </p:spTree>
    <p:extLst>
      <p:ext uri="{BB962C8B-B14F-4D97-AF65-F5344CB8AC3E}">
        <p14:creationId xmlns:p14="http://schemas.microsoft.com/office/powerpoint/2010/main" val="1634511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041D683-BBA4-4F40-A8DC-F43A2869A921}"/>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28A638D4-31B8-44D5-8C7E-0AE409DB6622}"/>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FB5CEBEE-2537-400D-B5F8-16B711E25BC6}"/>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16</a:t>
            </a:r>
          </a:p>
        </p:txBody>
      </p:sp>
      <p:sp>
        <p:nvSpPr>
          <p:cNvPr id="4" name="Rectangle 3">
            <a:extLst>
              <a:ext uri="{FF2B5EF4-FFF2-40B4-BE49-F238E27FC236}">
                <a16:creationId xmlns:a16="http://schemas.microsoft.com/office/drawing/2014/main" id="{4D4C32EC-5ACD-43A9-BC77-FCFA9136AB13}"/>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Доказ мора да одговори шта се догодило</a:t>
            </a:r>
          </a:p>
        </p:txBody>
      </p:sp>
      <p:sp>
        <p:nvSpPr>
          <p:cNvPr id="5" name="Rectangle 4">
            <a:extLst>
              <a:ext uri="{FF2B5EF4-FFF2-40B4-BE49-F238E27FC236}">
                <a16:creationId xmlns:a16="http://schemas.microsoft.com/office/drawing/2014/main" id="{62F9A81F-8560-439C-9426-D062008D01A9}"/>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Чува се довољно контекста за реконструкцију, али не и тајне или непотребни лични подаци.</a:t>
            </a:r>
          </a:p>
        </p:txBody>
      </p:sp>
      <p:sp>
        <p:nvSpPr>
          <p:cNvPr id="6" name="Rounded Rectangle 5">
            <a:extLst>
              <a:ext uri="{FF2B5EF4-FFF2-40B4-BE49-F238E27FC236}">
                <a16:creationId xmlns:a16="http://schemas.microsoft.com/office/drawing/2014/main" id="{4849686D-2C7F-4928-ACB9-C8A4D6D2983B}"/>
              </a:ext>
            </a:extLst>
          </p:cNvPr>
          <p:cNvSpPr>
            <a:spLocks noGrp="1"/>
          </p:cNvSpPr>
          <p:nvPr/>
        </p:nvSpPr>
        <p:spPr>
          <a:xfrm>
            <a:off x="857250" y="2152650"/>
            <a:ext cx="5334000" cy="2028825"/>
          </a:xfrm>
          <a:prstGeom prst="roundRect">
            <a:avLst>
              <a:gd name="adj" fmla="val 5455"/>
            </a:avLst>
          </a:prstGeom>
          <a:solidFill>
            <a:srgbClr val="F7F8FB"/>
          </a:solidFill>
          <a:ln w="9525">
            <a:solidFill>
              <a:srgbClr val="D7DEE8"/>
            </a:solidFill>
            <a:prstDash val="solid"/>
          </a:ln>
        </p:spPr>
        <p:style>
          <a:lnRef idx="0">
            <a:scrgbClr r="0" g="0" b="0"/>
          </a:lnRef>
          <a:fillRef idx="0">
            <a:scrgbClr r="0" g="0" b="0"/>
          </a:fillRef>
          <a:effectRef idx="10">
            <a:scrgbClr r="0" g="0" b="0"/>
          </a:effectRef>
          <a:fontRef idx="major"/>
        </p:style>
      </p:sp>
      <p:sp>
        <p:nvSpPr>
          <p:cNvPr id="7" name="Straight Connector 6">
            <a:extLst>
              <a:ext uri="{FF2B5EF4-FFF2-40B4-BE49-F238E27FC236}">
                <a16:creationId xmlns:a16="http://schemas.microsoft.com/office/drawing/2014/main" id="{A57C5229-34DA-4764-96B2-EFD0E6DDD46E}"/>
              </a:ext>
            </a:extLst>
          </p:cNvPr>
          <p:cNvSpPr>
            <a:spLocks noGrp="1"/>
          </p:cNvSpPr>
          <p:nvPr/>
        </p:nvSpPr>
        <p:spPr>
          <a:xfrm>
            <a:off x="857250" y="2495550"/>
            <a:ext cx="5334000" cy="9525"/>
          </a:xfrm>
          <a:prstGeom prst="line">
            <a:avLst/>
          </a:prstGeom>
          <a:noFill/>
          <a:ln w="9525">
            <a:solidFill>
              <a:srgbClr val="D7DEE8"/>
            </a:solidFill>
            <a:prstDash val="solid"/>
          </a:ln>
        </p:spPr>
      </p:sp>
      <p:sp>
        <p:nvSpPr>
          <p:cNvPr id="8" name="Oval 7">
            <a:extLst>
              <a:ext uri="{FF2B5EF4-FFF2-40B4-BE49-F238E27FC236}">
                <a16:creationId xmlns:a16="http://schemas.microsoft.com/office/drawing/2014/main" id="{4EA69950-489B-4EBE-BA59-983F2F9611FC}"/>
              </a:ext>
            </a:extLst>
          </p:cNvPr>
          <p:cNvSpPr>
            <a:spLocks noGrp="1"/>
          </p:cNvSpPr>
          <p:nvPr/>
        </p:nvSpPr>
        <p:spPr>
          <a:xfrm>
            <a:off x="5505450" y="2276475"/>
            <a:ext cx="85725" cy="85725"/>
          </a:xfrm>
          <a:prstGeom prst="ellipse">
            <a:avLst/>
          </a:prstGeom>
          <a:solidFill>
            <a:srgbClr val="EF6A60"/>
          </a:solidFill>
          <a:ln w="0">
            <a:noFill/>
          </a:ln>
        </p:spPr>
      </p:sp>
      <p:sp>
        <p:nvSpPr>
          <p:cNvPr id="9" name="Oval 8">
            <a:extLst>
              <a:ext uri="{FF2B5EF4-FFF2-40B4-BE49-F238E27FC236}">
                <a16:creationId xmlns:a16="http://schemas.microsoft.com/office/drawing/2014/main" id="{994B7455-596C-40B0-8B77-077410381CE1}"/>
              </a:ext>
            </a:extLst>
          </p:cNvPr>
          <p:cNvSpPr>
            <a:spLocks noGrp="1"/>
          </p:cNvSpPr>
          <p:nvPr/>
        </p:nvSpPr>
        <p:spPr>
          <a:xfrm>
            <a:off x="5676900" y="2276475"/>
            <a:ext cx="85725" cy="85725"/>
          </a:xfrm>
          <a:prstGeom prst="ellipse">
            <a:avLst/>
          </a:prstGeom>
          <a:solidFill>
            <a:srgbClr val="F2BD42"/>
          </a:solidFill>
          <a:ln w="0">
            <a:noFill/>
          </a:ln>
        </p:spPr>
      </p:sp>
      <p:sp>
        <p:nvSpPr>
          <p:cNvPr id="10" name="Oval 9">
            <a:extLst>
              <a:ext uri="{FF2B5EF4-FFF2-40B4-BE49-F238E27FC236}">
                <a16:creationId xmlns:a16="http://schemas.microsoft.com/office/drawing/2014/main" id="{CA8AF702-4D5C-4A3B-AB9A-E935F5AE1CEB}"/>
              </a:ext>
            </a:extLst>
          </p:cNvPr>
          <p:cNvSpPr>
            <a:spLocks noGrp="1"/>
          </p:cNvSpPr>
          <p:nvPr/>
        </p:nvSpPr>
        <p:spPr>
          <a:xfrm>
            <a:off x="5848350" y="2276475"/>
            <a:ext cx="85725" cy="85725"/>
          </a:xfrm>
          <a:prstGeom prst="ellipse">
            <a:avLst/>
          </a:prstGeom>
          <a:solidFill>
            <a:srgbClr val="65C466"/>
          </a:solidFill>
          <a:ln w="0">
            <a:noFill/>
          </a:ln>
        </p:spPr>
      </p:sp>
      <p:sp>
        <p:nvSpPr>
          <p:cNvPr id="11" name="Rectangle 10">
            <a:extLst>
              <a:ext uri="{FF2B5EF4-FFF2-40B4-BE49-F238E27FC236}">
                <a16:creationId xmlns:a16="http://schemas.microsoft.com/office/drawing/2014/main" id="{DF5B88ED-93D3-4357-A435-0EE6C3232CD0}"/>
              </a:ext>
            </a:extLst>
          </p:cNvPr>
          <p:cNvSpPr>
            <a:spLocks noGrp="1"/>
          </p:cNvSpPr>
          <p:nvPr/>
        </p:nvSpPr>
        <p:spPr>
          <a:xfrm>
            <a:off x="971550" y="2628900"/>
            <a:ext cx="304800" cy="2533650"/>
          </a:xfrm>
          <a:prstGeom prst="rect">
            <a:avLst/>
          </a:prstGeom>
          <a:noFill/>
          <a:ln w="0">
            <a:noFill/>
          </a:ln>
        </p:spPr>
        <p:txBody>
          <a:bodyPr wrap="square" lIns="0" tIns="0" rIns="0" bIns="0" anchor="t">
            <a:normAutofit/>
          </a:bodyPr>
          <a:lstStyle/>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1</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2</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3</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4</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5</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6</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7</a:t>
            </a:r>
          </a:p>
          <a:p>
            <a:pPr algn="r">
              <a:lnSpc>
                <a:spcPct val="1000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8</a:t>
            </a:r>
          </a:p>
        </p:txBody>
      </p:sp>
      <p:sp>
        <p:nvSpPr>
          <p:cNvPr id="12" name="Rectangle 11">
            <a:extLst>
              <a:ext uri="{FF2B5EF4-FFF2-40B4-BE49-F238E27FC236}">
                <a16:creationId xmlns:a16="http://schemas.microsoft.com/office/drawing/2014/main" id="{1BC8CD9A-6E88-4D04-886A-E38D885F8216}"/>
              </a:ext>
            </a:extLst>
          </p:cNvPr>
          <p:cNvSpPr>
            <a:spLocks noGrp="1"/>
          </p:cNvSpPr>
          <p:nvPr/>
        </p:nvSpPr>
        <p:spPr>
          <a:xfrm>
            <a:off x="1390650" y="2628900"/>
            <a:ext cx="4629150" cy="2533650"/>
          </a:xfrm>
          <a:prstGeom prst="rect">
            <a:avLst/>
          </a:prstGeom>
          <a:noFill/>
          <a:ln w="0">
            <a:noFill/>
          </a:ln>
        </p:spPr>
        <p:txBody>
          <a:bodyPr wrap="square" lIns="0" tIns="0" rIns="0" bIns="0" anchor="t">
            <a:normAutofit/>
          </a:bodyPr>
          <a:lstStyle/>
          <a:p>
            <a:pPr>
              <a:buNone/>
              <a:defRPr sz="1125">
                <a:solidFill>
                  <a:srgbClr val="263044"/>
                </a:solidFill>
                <a:latin typeface="Consolas"/>
                <a:ea typeface="Consolas"/>
                <a:cs typeface="Consolas"/>
              </a:defRPr>
            </a:pPr>
            <a:r>
              <a:rPr b="0">
                <a:solidFill>
                  <a:srgbClr val="263044"/>
                </a:solidFill>
              </a:rPr>
              <a:t>{</a:t>
            </a:r>
          </a:p>
          <a:p>
            <a:pPr>
              <a:buNone/>
              <a:defRPr sz="1125">
                <a:solidFill>
                  <a:srgbClr val="263044"/>
                </a:solidFill>
                <a:latin typeface="Consolas"/>
                <a:ea typeface="Consolas"/>
                <a:cs typeface="Consolas"/>
              </a:defRPr>
            </a:pPr>
            <a:r>
              <a:rPr b="0">
                <a:solidFill>
                  <a:srgbClr val="263044"/>
                </a:solidFill>
              </a:rPr>
              <a:t>  </a:t>
            </a:r>
            <a:r>
              <a:rPr b="0">
                <a:solidFill>
                  <a:srgbClr val="B45309"/>
                </a:solidFill>
              </a:rPr>
              <a:t>"riskId"</a:t>
            </a:r>
            <a:r>
              <a:rPr b="0">
                <a:solidFill>
                  <a:srgbClr val="263044"/>
                </a:solidFill>
              </a:rPr>
              <a:t>: </a:t>
            </a:r>
            <a:r>
              <a:rPr b="0">
                <a:solidFill>
                  <a:srgbClr val="B45309"/>
                </a:solidFill>
              </a:rPr>
              <a:t>"R-17"</a:t>
            </a:r>
            <a:r>
              <a:rPr b="0">
                <a:solidFill>
                  <a:srgbClr val="263044"/>
                </a:solidFill>
              </a:rPr>
              <a:t>,</a:t>
            </a:r>
          </a:p>
          <a:p>
            <a:pPr>
              <a:buNone/>
              <a:defRPr sz="1125">
                <a:solidFill>
                  <a:srgbClr val="263044"/>
                </a:solidFill>
                <a:latin typeface="Consolas"/>
                <a:ea typeface="Consolas"/>
                <a:cs typeface="Consolas"/>
              </a:defRPr>
            </a:pPr>
            <a:r>
              <a:rPr b="0">
                <a:solidFill>
                  <a:srgbClr val="263044"/>
                </a:solidFill>
              </a:rPr>
              <a:t>  </a:t>
            </a:r>
            <a:r>
              <a:rPr b="0">
                <a:solidFill>
                  <a:srgbClr val="B45309"/>
                </a:solidFill>
              </a:rPr>
              <a:t>"asset"</a:t>
            </a:r>
            <a:r>
              <a:rPr b="0">
                <a:solidFill>
                  <a:srgbClr val="263044"/>
                </a:solidFill>
              </a:rPr>
              <a:t>: </a:t>
            </a:r>
            <a:r>
              <a:rPr b="0">
                <a:solidFill>
                  <a:srgbClr val="B45309"/>
                </a:solidFill>
              </a:rPr>
              <a:t>"incident-report"</a:t>
            </a:r>
            <a:r>
              <a:rPr b="0">
                <a:solidFill>
                  <a:srgbClr val="263044"/>
                </a:solidFill>
              </a:rPr>
              <a:t>,</a:t>
            </a:r>
          </a:p>
          <a:p>
            <a:pPr>
              <a:buNone/>
              <a:defRPr sz="1125">
                <a:solidFill>
                  <a:srgbClr val="263044"/>
                </a:solidFill>
                <a:latin typeface="Consolas"/>
                <a:ea typeface="Consolas"/>
                <a:cs typeface="Consolas"/>
              </a:defRPr>
            </a:pPr>
            <a:r>
              <a:rPr b="0">
                <a:solidFill>
                  <a:srgbClr val="263044"/>
                </a:solidFill>
              </a:rPr>
              <a:t>  </a:t>
            </a:r>
            <a:r>
              <a:rPr b="0">
                <a:solidFill>
                  <a:srgbClr val="B45309"/>
                </a:solidFill>
              </a:rPr>
              <a:t>"owner"</a:t>
            </a:r>
            <a:r>
              <a:rPr b="0">
                <a:solidFill>
                  <a:srgbClr val="263044"/>
                </a:solidFill>
              </a:rPr>
              <a:t>: </a:t>
            </a:r>
            <a:r>
              <a:rPr b="0">
                <a:solidFill>
                  <a:srgbClr val="B45309"/>
                </a:solidFill>
              </a:rPr>
              <a:t>"operations-director"</a:t>
            </a:r>
            <a:r>
              <a:rPr b="0">
                <a:solidFill>
                  <a:srgbClr val="263044"/>
                </a:solidFill>
              </a:rPr>
              <a:t>,</a:t>
            </a:r>
          </a:p>
          <a:p>
            <a:pPr>
              <a:buNone/>
              <a:defRPr sz="1125">
                <a:solidFill>
                  <a:srgbClr val="263044"/>
                </a:solidFill>
                <a:latin typeface="Consolas"/>
                <a:ea typeface="Consolas"/>
                <a:cs typeface="Consolas"/>
              </a:defRPr>
            </a:pPr>
            <a:r>
              <a:rPr b="0">
                <a:solidFill>
                  <a:srgbClr val="263044"/>
                </a:solidFill>
              </a:rPr>
              <a:t>  </a:t>
            </a:r>
            <a:r>
              <a:rPr b="0">
                <a:solidFill>
                  <a:srgbClr val="B45309"/>
                </a:solidFill>
              </a:rPr>
              <a:t>"residualRisk"</a:t>
            </a:r>
            <a:r>
              <a:rPr b="0">
                <a:solidFill>
                  <a:srgbClr val="263044"/>
                </a:solidFill>
              </a:rPr>
              <a:t>: </a:t>
            </a:r>
            <a:r>
              <a:rPr b="0">
                <a:solidFill>
                  <a:srgbClr val="B45309"/>
                </a:solidFill>
              </a:rPr>
              <a:t>"medium"</a:t>
            </a:r>
            <a:r>
              <a:rPr b="0">
                <a:solidFill>
                  <a:srgbClr val="263044"/>
                </a:solidFill>
              </a:rPr>
              <a:t>,</a:t>
            </a:r>
          </a:p>
          <a:p>
            <a:pPr>
              <a:buNone/>
              <a:defRPr sz="1125">
                <a:solidFill>
                  <a:srgbClr val="263044"/>
                </a:solidFill>
                <a:latin typeface="Consolas"/>
                <a:ea typeface="Consolas"/>
                <a:cs typeface="Consolas"/>
              </a:defRPr>
            </a:pPr>
            <a:r>
              <a:rPr b="0">
                <a:solidFill>
                  <a:srgbClr val="263044"/>
                </a:solidFill>
              </a:rPr>
              <a:t>  </a:t>
            </a:r>
            <a:r>
              <a:rPr b="0">
                <a:solidFill>
                  <a:srgbClr val="B45309"/>
                </a:solidFill>
              </a:rPr>
              <a:t>"acceptedUntil"</a:t>
            </a:r>
            <a:r>
              <a:rPr b="0">
                <a:solidFill>
                  <a:srgbClr val="263044"/>
                </a:solidFill>
              </a:rPr>
              <a:t>: </a:t>
            </a:r>
            <a:r>
              <a:rPr b="0">
                <a:solidFill>
                  <a:srgbClr val="B45309"/>
                </a:solidFill>
              </a:rPr>
              <a:t>"2027-01-31"</a:t>
            </a:r>
            <a:r>
              <a:rPr b="0">
                <a:solidFill>
                  <a:srgbClr val="263044"/>
                </a:solidFill>
              </a:rPr>
              <a:t>,</a:t>
            </a:r>
          </a:p>
          <a:p>
            <a:pPr>
              <a:buNone/>
              <a:defRPr sz="1125">
                <a:solidFill>
                  <a:srgbClr val="263044"/>
                </a:solidFill>
                <a:latin typeface="Consolas"/>
                <a:ea typeface="Consolas"/>
                <a:cs typeface="Consolas"/>
              </a:defRPr>
            </a:pPr>
            <a:r>
              <a:rPr b="0">
                <a:solidFill>
                  <a:srgbClr val="263044"/>
                </a:solidFill>
              </a:rPr>
              <a:t>  </a:t>
            </a:r>
            <a:r>
              <a:rPr b="0">
                <a:solidFill>
                  <a:srgbClr val="B45309"/>
                </a:solidFill>
              </a:rPr>
              <a:t>"nextReview"</a:t>
            </a:r>
            <a:r>
              <a:rPr b="0">
                <a:solidFill>
                  <a:srgbClr val="263044"/>
                </a:solidFill>
              </a:rPr>
              <a:t>: </a:t>
            </a:r>
            <a:r>
              <a:rPr b="0">
                <a:solidFill>
                  <a:srgbClr val="B45309"/>
                </a:solidFill>
              </a:rPr>
              <a:t>"2026-12-15"</a:t>
            </a:r>
          </a:p>
          <a:p>
            <a:pPr>
              <a:buNone/>
              <a:defRPr sz="1125">
                <a:solidFill>
                  <a:srgbClr val="263044"/>
                </a:solidFill>
                <a:latin typeface="Consolas"/>
                <a:ea typeface="Consolas"/>
                <a:cs typeface="Consolas"/>
              </a:defRPr>
            </a:pPr>
            <a:r>
              <a:rPr b="0">
                <a:solidFill>
                  <a:srgbClr val="263044"/>
                </a:solidFill>
              </a:rPr>
              <a:t>}</a:t>
            </a:r>
          </a:p>
        </p:txBody>
      </p:sp>
      <p:sp>
        <p:nvSpPr>
          <p:cNvPr id="13" name="Rounded Rectangle 12">
            <a:extLst>
              <a:ext uri="{FF2B5EF4-FFF2-40B4-BE49-F238E27FC236}">
                <a16:creationId xmlns:a16="http://schemas.microsoft.com/office/drawing/2014/main" id="{32B5BCAD-811F-4CA0-84A9-74C11F8C4059}"/>
              </a:ext>
            </a:extLst>
          </p:cNvPr>
          <p:cNvSpPr>
            <a:spLocks noGrp="1"/>
          </p:cNvSpPr>
          <p:nvPr/>
        </p:nvSpPr>
        <p:spPr>
          <a:xfrm>
            <a:off x="6648450" y="2152650"/>
            <a:ext cx="4591050" cy="1352550"/>
          </a:xfrm>
          <a:prstGeom prst="roundRect">
            <a:avLst>
              <a:gd name="adj" fmla="val 9859"/>
            </a:avLst>
          </a:prstGeom>
          <a:solidFill>
            <a:srgbClr val="EDF8F2"/>
          </a:solidFill>
          <a:ln w="9525">
            <a:solidFill>
              <a:srgbClr val="D7DEE8"/>
            </a:solidFill>
            <a:prstDash val="solid"/>
          </a:ln>
        </p:spPr>
      </p:sp>
      <p:sp>
        <p:nvSpPr>
          <p:cNvPr id="14" name="Rectangle 13">
            <a:extLst>
              <a:ext uri="{FF2B5EF4-FFF2-40B4-BE49-F238E27FC236}">
                <a16:creationId xmlns:a16="http://schemas.microsoft.com/office/drawing/2014/main" id="{44D41DFB-B95F-43EA-AC39-C47E70B17E08}"/>
              </a:ext>
            </a:extLst>
          </p:cNvPr>
          <p:cNvSpPr>
            <a:spLocks noGrp="1"/>
          </p:cNvSpPr>
          <p:nvPr/>
        </p:nvSpPr>
        <p:spPr>
          <a:xfrm>
            <a:off x="6800850" y="2276475"/>
            <a:ext cx="42862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ДОВОЉНО</a:t>
            </a:r>
          </a:p>
        </p:txBody>
      </p:sp>
      <p:sp>
        <p:nvSpPr>
          <p:cNvPr id="15" name="Rectangle 14">
            <a:extLst>
              <a:ext uri="{FF2B5EF4-FFF2-40B4-BE49-F238E27FC236}">
                <a16:creationId xmlns:a16="http://schemas.microsoft.com/office/drawing/2014/main" id="{B6038C1C-012B-4DDC-B53B-1462337E8BB5}"/>
              </a:ext>
            </a:extLst>
          </p:cNvPr>
          <p:cNvSpPr>
            <a:spLocks noGrp="1"/>
          </p:cNvSpPr>
          <p:nvPr/>
        </p:nvSpPr>
        <p:spPr>
          <a:xfrm>
            <a:off x="6800850" y="2524125"/>
            <a:ext cx="4286250" cy="342900"/>
          </a:xfrm>
          <a:prstGeom prst="rect">
            <a:avLst/>
          </a:prstGeom>
          <a:noFill/>
          <a:ln w="0">
            <a:noFill/>
          </a:ln>
        </p:spPr>
        <p:txBody>
          <a:bodyPr wrap="square" lIns="0" tIns="0" rIns="0" bIns="0" anchor="ctr">
            <a:normAutofit/>
          </a:bodyPr>
          <a:lstStyle/>
          <a:p>
            <a:pPr algn="l">
              <a:lnSpc>
                <a:spcPct val="102000"/>
              </a:lnSpc>
              <a:buNone/>
              <a:defRPr sz="1425" b="1">
                <a:solidFill>
                  <a:srgbClr val="1A202C"/>
                </a:solidFill>
                <a:latin typeface="Aptos"/>
                <a:ea typeface="Aptos"/>
                <a:cs typeface="Aptos"/>
              </a:defRPr>
            </a:pPr>
            <a:r>
              <a:rPr sz="1425" b="1">
                <a:solidFill>
                  <a:srgbClr val="1A202C"/>
                </a:solidFill>
                <a:latin typeface="Aptos"/>
                <a:ea typeface="Aptos"/>
                <a:cs typeface="Aptos"/>
              </a:rPr>
              <a:t>Актер, радња, циљ, исход и разлог</a:t>
            </a:r>
          </a:p>
        </p:txBody>
      </p:sp>
      <p:sp>
        <p:nvSpPr>
          <p:cNvPr id="16" name="Rectangle 15">
            <a:extLst>
              <a:ext uri="{FF2B5EF4-FFF2-40B4-BE49-F238E27FC236}">
                <a16:creationId xmlns:a16="http://schemas.microsoft.com/office/drawing/2014/main" id="{8F21CD98-90A7-4A79-B4FF-FB812EC93109}"/>
              </a:ext>
            </a:extLst>
          </p:cNvPr>
          <p:cNvSpPr>
            <a:spLocks noGrp="1"/>
          </p:cNvSpPr>
          <p:nvPr/>
        </p:nvSpPr>
        <p:spPr>
          <a:xfrm>
            <a:off x="6800850" y="2933700"/>
            <a:ext cx="4286250" cy="4667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Временска ознака и correlation ID повезују траг са остатком тока.</a:t>
            </a:r>
          </a:p>
        </p:txBody>
      </p:sp>
      <p:sp>
        <p:nvSpPr>
          <p:cNvPr id="17" name="Rounded Rectangle 16">
            <a:extLst>
              <a:ext uri="{FF2B5EF4-FFF2-40B4-BE49-F238E27FC236}">
                <a16:creationId xmlns:a16="http://schemas.microsoft.com/office/drawing/2014/main" id="{BBDFCDBB-74D9-49FE-8321-F2C0D542E5B8}"/>
              </a:ext>
            </a:extLst>
          </p:cNvPr>
          <p:cNvSpPr>
            <a:spLocks noGrp="1"/>
          </p:cNvSpPr>
          <p:nvPr/>
        </p:nvSpPr>
        <p:spPr>
          <a:xfrm>
            <a:off x="6648450" y="3867150"/>
            <a:ext cx="4591050" cy="1428750"/>
          </a:xfrm>
          <a:prstGeom prst="roundRect">
            <a:avLst>
              <a:gd name="adj" fmla="val 9333"/>
            </a:avLst>
          </a:prstGeom>
          <a:solidFill>
            <a:srgbClr val="FFF0F0"/>
          </a:solidFill>
          <a:ln w="9525">
            <a:solidFill>
              <a:srgbClr val="D7DEE8"/>
            </a:solidFill>
            <a:prstDash val="solid"/>
          </a:ln>
        </p:spPr>
      </p:sp>
      <p:sp>
        <p:nvSpPr>
          <p:cNvPr id="18" name="Rectangle 17">
            <a:extLst>
              <a:ext uri="{FF2B5EF4-FFF2-40B4-BE49-F238E27FC236}">
                <a16:creationId xmlns:a16="http://schemas.microsoft.com/office/drawing/2014/main" id="{11DDA1B1-BEC8-4250-AEE7-A9128AD475E9}"/>
              </a:ext>
            </a:extLst>
          </p:cNvPr>
          <p:cNvSpPr>
            <a:spLocks noGrp="1"/>
          </p:cNvSpPr>
          <p:nvPr/>
        </p:nvSpPr>
        <p:spPr>
          <a:xfrm>
            <a:off x="6800850" y="3990975"/>
            <a:ext cx="4286250" cy="190500"/>
          </a:xfrm>
          <a:prstGeom prst="rect">
            <a:avLst/>
          </a:prstGeom>
          <a:noFill/>
          <a:ln w="0">
            <a:noFill/>
          </a:ln>
        </p:spPr>
        <p:txBody>
          <a:bodyPr wrap="square" lIns="0" tIns="0" rIns="0" bIns="0" anchor="t">
            <a:normAutofit/>
          </a:bodyPr>
          <a:lstStyle/>
          <a:p>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НЕ ПРИПАДА У ДОКАЗ</a:t>
            </a:r>
          </a:p>
        </p:txBody>
      </p:sp>
      <p:sp>
        <p:nvSpPr>
          <p:cNvPr id="19" name="Rectangle 18">
            <a:extLst>
              <a:ext uri="{FF2B5EF4-FFF2-40B4-BE49-F238E27FC236}">
                <a16:creationId xmlns:a16="http://schemas.microsoft.com/office/drawing/2014/main" id="{E9D1C6BA-55E2-44AF-8775-10A69D51AFA3}"/>
              </a:ext>
            </a:extLst>
          </p:cNvPr>
          <p:cNvSpPr>
            <a:spLocks noGrp="1"/>
          </p:cNvSpPr>
          <p:nvPr/>
        </p:nvSpPr>
        <p:spPr>
          <a:xfrm>
            <a:off x="6800850" y="4238625"/>
            <a:ext cx="4286250" cy="342900"/>
          </a:xfrm>
          <a:prstGeom prst="rect">
            <a:avLst/>
          </a:prstGeom>
          <a:noFill/>
          <a:ln w="0">
            <a:noFill/>
          </a:ln>
        </p:spPr>
        <p:txBody>
          <a:bodyPr wrap="square" lIns="0" tIns="0" rIns="0" bIns="0" anchor="ctr">
            <a:normAutofit/>
          </a:bodyPr>
          <a:lstStyle/>
          <a:p>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Лозинка, token, тајна и сувишан садржај</a:t>
            </a:r>
          </a:p>
        </p:txBody>
      </p:sp>
      <p:sp>
        <p:nvSpPr>
          <p:cNvPr id="20" name="Rectangle 19">
            <a:extLst>
              <a:ext uri="{FF2B5EF4-FFF2-40B4-BE49-F238E27FC236}">
                <a16:creationId xmlns:a16="http://schemas.microsoft.com/office/drawing/2014/main" id="{C9F142BC-7A50-4AF5-9AA3-1AB856594B32}"/>
              </a:ext>
            </a:extLst>
          </p:cNvPr>
          <p:cNvSpPr>
            <a:spLocks noGrp="1"/>
          </p:cNvSpPr>
          <p:nvPr/>
        </p:nvSpPr>
        <p:spPr>
          <a:xfrm>
            <a:off x="6800850" y="4648200"/>
            <a:ext cx="4286250" cy="5429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Траг не сме да постане нови извор цурења или збирка непотребних података.</a:t>
            </a:r>
          </a:p>
        </p:txBody>
      </p:sp>
    </p:spTree>
    <p:extLst>
      <p:ext uri="{BB962C8B-B14F-4D97-AF65-F5344CB8AC3E}">
        <p14:creationId xmlns:p14="http://schemas.microsoft.com/office/powerpoint/2010/main" val="2075002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250A7C5-51B0-4D57-82E8-70B69B593824}"/>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19444FFB-4FCC-4599-9001-13D4081AAF5F}"/>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737B4BE5-96A7-42E2-9BEB-B2B40D46D07A}"/>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17</a:t>
            </a:r>
          </a:p>
        </p:txBody>
      </p:sp>
      <p:sp>
        <p:nvSpPr>
          <p:cNvPr id="4" name="Rectangle 3">
            <a:extLst>
              <a:ext uri="{FF2B5EF4-FFF2-40B4-BE49-F238E27FC236}">
                <a16:creationId xmlns:a16="http://schemas.microsoft.com/office/drawing/2014/main" id="{5EA0ACB2-4755-413E-A39F-81035F06E082}"/>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Три грешке које треба препознати одмах</a:t>
            </a:r>
          </a:p>
        </p:txBody>
      </p:sp>
      <p:sp>
        <p:nvSpPr>
          <p:cNvPr id="5" name="Rectangle 4">
            <a:extLst>
              <a:ext uri="{FF2B5EF4-FFF2-40B4-BE49-F238E27FC236}">
                <a16:creationId xmlns:a16="http://schemas.microsoft.com/office/drawing/2014/main" id="{A868DC9A-3551-4A4F-AE37-5BE9FC99DF3A}"/>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Свака делује практично у првој итерацији, али касније постаје скривена безбедносна граница.</a:t>
            </a:r>
          </a:p>
        </p:txBody>
      </p:sp>
      <p:sp>
        <p:nvSpPr>
          <p:cNvPr id="6" name="Rounded Rectangle 5">
            <a:extLst>
              <a:ext uri="{FF2B5EF4-FFF2-40B4-BE49-F238E27FC236}">
                <a16:creationId xmlns:a16="http://schemas.microsoft.com/office/drawing/2014/main" id="{D47DD36C-B042-4A00-B313-6A3B5C6EB1F9}"/>
              </a:ext>
            </a:extLst>
          </p:cNvPr>
          <p:cNvSpPr>
            <a:spLocks noGrp="1"/>
          </p:cNvSpPr>
          <p:nvPr/>
        </p:nvSpPr>
        <p:spPr>
          <a:xfrm>
            <a:off x="819150" y="2381250"/>
            <a:ext cx="3257550" cy="2381250"/>
          </a:xfrm>
          <a:prstGeom prst="roundRect">
            <a:avLst>
              <a:gd name="adj" fmla="val 5600"/>
            </a:avLst>
          </a:prstGeom>
          <a:solidFill>
            <a:srgbClr val="FFF0F0"/>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07FD5D0F-D4D7-4538-9FE9-9D6566B08C5B}"/>
              </a:ext>
            </a:extLst>
          </p:cNvPr>
          <p:cNvSpPr>
            <a:spLocks noGrp="1"/>
          </p:cNvSpPr>
          <p:nvPr/>
        </p:nvSpPr>
        <p:spPr>
          <a:xfrm>
            <a:off x="971550" y="250507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01</a:t>
            </a:r>
          </a:p>
        </p:txBody>
      </p:sp>
      <p:sp>
        <p:nvSpPr>
          <p:cNvPr id="8" name="Rectangle 7">
            <a:extLst>
              <a:ext uri="{FF2B5EF4-FFF2-40B4-BE49-F238E27FC236}">
                <a16:creationId xmlns:a16="http://schemas.microsoft.com/office/drawing/2014/main" id="{0AA45A81-0B73-4E59-8400-04BFAD86D180}"/>
              </a:ext>
            </a:extLst>
          </p:cNvPr>
          <p:cNvSpPr>
            <a:spLocks noGrp="1"/>
          </p:cNvSpPr>
          <p:nvPr/>
        </p:nvSpPr>
        <p:spPr>
          <a:xfrm>
            <a:off x="971550" y="2752725"/>
            <a:ext cx="2952750" cy="1219200"/>
          </a:xfrm>
          <a:prstGeom prst="rect">
            <a:avLst/>
          </a:prstGeom>
          <a:noFill/>
          <a:ln w="0">
            <a:noFill/>
          </a:ln>
        </p:spPr>
        <p:txBody>
          <a:bodyPr wrap="square" lIns="0" tIns="0" rIns="0" bIns="0" anchor="ctr">
            <a:normAutofit/>
          </a:bodyPr>
          <a:lstStyle/>
          <a:p>
            <a:pPr algn="l">
              <a:lnSpc>
                <a:spcPct val="102000"/>
              </a:lnSpc>
              <a:buNone/>
              <a:defRPr sz="1575" b="1">
                <a:solidFill>
                  <a:srgbClr val="1A202C"/>
                </a:solidFill>
                <a:latin typeface="Aptos"/>
                <a:ea typeface="Aptos"/>
                <a:cs typeface="Aptos"/>
              </a:defRPr>
            </a:pPr>
            <a:r>
              <a:rPr sz="1575" b="1">
                <a:solidFill>
                  <a:srgbClr val="1A202C"/>
                </a:solidFill>
                <a:latin typeface="Aptos"/>
                <a:ea typeface="Aptos"/>
                <a:cs typeface="Aptos"/>
              </a:rPr>
              <a:t>Увођење атрибута без јасног извора и значења.</a:t>
            </a:r>
          </a:p>
        </p:txBody>
      </p:sp>
      <p:sp>
        <p:nvSpPr>
          <p:cNvPr id="9" name="Rectangle 8">
            <a:extLst>
              <a:ext uri="{FF2B5EF4-FFF2-40B4-BE49-F238E27FC236}">
                <a16:creationId xmlns:a16="http://schemas.microsoft.com/office/drawing/2014/main" id="{076FB5DE-BFC7-4BE2-BDF8-B20A98E2717C}"/>
              </a:ext>
            </a:extLst>
          </p:cNvPr>
          <p:cNvSpPr>
            <a:spLocks noGrp="1"/>
          </p:cNvSpPr>
          <p:nvPr/>
        </p:nvSpPr>
        <p:spPr>
          <a:xfrm>
            <a:off x="971550" y="4038600"/>
            <a:ext cx="2952750" cy="6191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Нема јасног власника одлуке.</a:t>
            </a:r>
          </a:p>
        </p:txBody>
      </p:sp>
      <p:sp>
        <p:nvSpPr>
          <p:cNvPr id="10" name="Rounded Rectangle 9">
            <a:extLst>
              <a:ext uri="{FF2B5EF4-FFF2-40B4-BE49-F238E27FC236}">
                <a16:creationId xmlns:a16="http://schemas.microsoft.com/office/drawing/2014/main" id="{4BC92024-737D-484B-ABBA-397524B0B3F9}"/>
              </a:ext>
            </a:extLst>
          </p:cNvPr>
          <p:cNvSpPr>
            <a:spLocks noGrp="1"/>
          </p:cNvSpPr>
          <p:nvPr/>
        </p:nvSpPr>
        <p:spPr>
          <a:xfrm>
            <a:off x="4467225" y="2381250"/>
            <a:ext cx="3257550" cy="2381250"/>
          </a:xfrm>
          <a:prstGeom prst="roundRect">
            <a:avLst>
              <a:gd name="adj" fmla="val 5600"/>
            </a:avLst>
          </a:prstGeom>
          <a:solidFill>
            <a:srgbClr val="FFF6E9"/>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A1730118-2A6D-4304-89D9-18035A746127}"/>
              </a:ext>
            </a:extLst>
          </p:cNvPr>
          <p:cNvSpPr>
            <a:spLocks noGrp="1"/>
          </p:cNvSpPr>
          <p:nvPr/>
        </p:nvSpPr>
        <p:spPr>
          <a:xfrm>
            <a:off x="4619625" y="250507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2" name="Rectangle 11">
            <a:extLst>
              <a:ext uri="{FF2B5EF4-FFF2-40B4-BE49-F238E27FC236}">
                <a16:creationId xmlns:a16="http://schemas.microsoft.com/office/drawing/2014/main" id="{489C5279-3F3E-4671-B34C-08DACDBCE0B7}"/>
              </a:ext>
            </a:extLst>
          </p:cNvPr>
          <p:cNvSpPr>
            <a:spLocks noGrp="1"/>
          </p:cNvSpPr>
          <p:nvPr/>
        </p:nvSpPr>
        <p:spPr>
          <a:xfrm>
            <a:off x="4619625" y="2752725"/>
            <a:ext cx="2952750" cy="1219200"/>
          </a:xfrm>
          <a:prstGeom prst="rect">
            <a:avLst/>
          </a:prstGeom>
          <a:noFill/>
          <a:ln w="0">
            <a:noFill/>
          </a:ln>
        </p:spPr>
        <p:txBody>
          <a:bodyPr wrap="square" lIns="0" tIns="0" rIns="0" bIns="0" anchor="ctr">
            <a:normAutofit/>
          </a:bodyPr>
          <a:lstStyle/>
          <a:p>
            <a:pPr algn="l">
              <a:lnSpc>
                <a:spcPct val="102000"/>
              </a:lnSpc>
              <a:buNone/>
              <a:defRPr sz="1575" b="1">
                <a:solidFill>
                  <a:srgbClr val="1A202C"/>
                </a:solidFill>
                <a:latin typeface="Aptos"/>
                <a:ea typeface="Aptos"/>
                <a:cs typeface="Aptos"/>
              </a:defRPr>
            </a:pPr>
            <a:r>
              <a:rPr sz="1575" b="1">
                <a:solidFill>
                  <a:srgbClr val="1A202C"/>
                </a:solidFill>
                <a:latin typeface="Aptos"/>
                <a:ea typeface="Aptos"/>
                <a:cs typeface="Aptos"/>
              </a:rPr>
              <a:t>Правило које зависи од скривеног стања и даје необјашњив резултат.</a:t>
            </a:r>
          </a:p>
        </p:txBody>
      </p:sp>
      <p:sp>
        <p:nvSpPr>
          <p:cNvPr id="13" name="Rectangle 12">
            <a:extLst>
              <a:ext uri="{FF2B5EF4-FFF2-40B4-BE49-F238E27FC236}">
                <a16:creationId xmlns:a16="http://schemas.microsoft.com/office/drawing/2014/main" id="{A7A1C19B-970F-4F9B-89FD-BF8DB72559DE}"/>
              </a:ext>
            </a:extLst>
          </p:cNvPr>
          <p:cNvSpPr>
            <a:spLocks noGrp="1"/>
          </p:cNvSpPr>
          <p:nvPr/>
        </p:nvSpPr>
        <p:spPr>
          <a:xfrm>
            <a:off x="4619625" y="4038600"/>
            <a:ext cx="2952750" cy="6191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Не постоји негативан сценарио.</a:t>
            </a:r>
          </a:p>
        </p:txBody>
      </p:sp>
      <p:sp>
        <p:nvSpPr>
          <p:cNvPr id="14" name="Rounded Rectangle 13">
            <a:extLst>
              <a:ext uri="{FF2B5EF4-FFF2-40B4-BE49-F238E27FC236}">
                <a16:creationId xmlns:a16="http://schemas.microsoft.com/office/drawing/2014/main" id="{1A70CD3A-A116-45F8-9B00-B73B23B120AD}"/>
              </a:ext>
            </a:extLst>
          </p:cNvPr>
          <p:cNvSpPr>
            <a:spLocks noGrp="1"/>
          </p:cNvSpPr>
          <p:nvPr/>
        </p:nvSpPr>
        <p:spPr>
          <a:xfrm>
            <a:off x="8115300" y="2381250"/>
            <a:ext cx="3257550" cy="2381250"/>
          </a:xfrm>
          <a:prstGeom prst="roundRect">
            <a:avLst>
              <a:gd name="adj" fmla="val 5600"/>
            </a:avLst>
          </a:prstGeom>
          <a:solidFill>
            <a:srgbClr val="F5F0FF"/>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FC16C4D3-72AA-4532-B685-204F131F2205}"/>
              </a:ext>
            </a:extLst>
          </p:cNvPr>
          <p:cNvSpPr>
            <a:spLocks noGrp="1"/>
          </p:cNvSpPr>
          <p:nvPr/>
        </p:nvSpPr>
        <p:spPr>
          <a:xfrm>
            <a:off x="8267700" y="2505075"/>
            <a:ext cx="2952750" cy="190500"/>
          </a:xfrm>
          <a:prstGeom prst="rect">
            <a:avLst/>
          </a:prstGeom>
          <a:noFill/>
          <a:ln w="0">
            <a:noFill/>
          </a:ln>
        </p:spPr>
        <p:txBody>
          <a:bodyPr wrap="square" lIns="0" tIns="0" rIns="0" bIns="0" anchor="t">
            <a:normAutofit/>
          </a:bodyPr>
          <a:lstStyle/>
          <a:p>
            <a:pPr algn="l">
              <a:lnSpc>
                <a:spcPct val="102000"/>
              </a:lnSpc>
              <a:buNone/>
              <a:defRPr sz="975" b="1">
                <a:solidFill>
                  <a:srgbClr val="7651D4"/>
                </a:solidFill>
                <a:latin typeface="Aptos"/>
                <a:ea typeface="Aptos"/>
                <a:cs typeface="Aptos"/>
              </a:defRPr>
            </a:pPr>
            <a:r>
              <a:rPr sz="1200" b="1">
                <a:solidFill>
                  <a:srgbClr val="7651D4"/>
                </a:solidFill>
                <a:latin typeface="Aptos"/>
                <a:ea typeface="Aptos"/>
                <a:cs typeface="Aptos"/>
              </a:rPr>
              <a:t>03</a:t>
            </a:r>
          </a:p>
        </p:txBody>
      </p:sp>
      <p:sp>
        <p:nvSpPr>
          <p:cNvPr id="16" name="Rectangle 15">
            <a:extLst>
              <a:ext uri="{FF2B5EF4-FFF2-40B4-BE49-F238E27FC236}">
                <a16:creationId xmlns:a16="http://schemas.microsoft.com/office/drawing/2014/main" id="{9DA210F2-F8C7-4AAA-A724-BA9E1B090552}"/>
              </a:ext>
            </a:extLst>
          </p:cNvPr>
          <p:cNvSpPr>
            <a:spLocks noGrp="1"/>
          </p:cNvSpPr>
          <p:nvPr/>
        </p:nvSpPr>
        <p:spPr>
          <a:xfrm>
            <a:off x="8267700" y="2752725"/>
            <a:ext cx="2952750" cy="1219200"/>
          </a:xfrm>
          <a:prstGeom prst="rect">
            <a:avLst/>
          </a:prstGeom>
          <a:noFill/>
          <a:ln w="0">
            <a:noFill/>
          </a:ln>
        </p:spPr>
        <p:txBody>
          <a:bodyPr wrap="square" lIns="0" tIns="0" rIns="0" bIns="0" anchor="ctr">
            <a:normAutofit/>
          </a:bodyPr>
          <a:lstStyle/>
          <a:p>
            <a:pPr algn="l">
              <a:lnSpc>
                <a:spcPct val="102000"/>
              </a:lnSpc>
              <a:buNone/>
              <a:defRPr sz="1575" b="1">
                <a:solidFill>
                  <a:srgbClr val="1A202C"/>
                </a:solidFill>
                <a:latin typeface="Aptos"/>
                <a:ea typeface="Aptos"/>
                <a:cs typeface="Aptos"/>
              </a:defRPr>
            </a:pPr>
            <a:r>
              <a:rPr sz="1575" b="1">
                <a:solidFill>
                  <a:srgbClr val="1A202C"/>
                </a:solidFill>
                <a:latin typeface="Aptos"/>
                <a:ea typeface="Aptos"/>
                <a:cs typeface="Aptos"/>
              </a:rPr>
              <a:t>Конфликт дужности откривен тек након што је штета могућа.</a:t>
            </a:r>
          </a:p>
        </p:txBody>
      </p:sp>
      <p:sp>
        <p:nvSpPr>
          <p:cNvPr id="17" name="Rectangle 16">
            <a:extLst>
              <a:ext uri="{FF2B5EF4-FFF2-40B4-BE49-F238E27FC236}">
                <a16:creationId xmlns:a16="http://schemas.microsoft.com/office/drawing/2014/main" id="{9F5F81F6-023C-416B-8F20-2635108633A8}"/>
              </a:ext>
            </a:extLst>
          </p:cNvPr>
          <p:cNvSpPr>
            <a:spLocks noGrp="1"/>
          </p:cNvSpPr>
          <p:nvPr/>
        </p:nvSpPr>
        <p:spPr>
          <a:xfrm>
            <a:off x="8267700" y="4038600"/>
            <a:ext cx="2952750" cy="619125"/>
          </a:xfrm>
          <a:prstGeom prst="rect">
            <a:avLst/>
          </a:prstGeom>
          <a:noFill/>
          <a:ln w="0">
            <a:noFill/>
          </a:ln>
        </p:spPr>
        <p:txBody>
          <a:bodyPr wrap="square" lIns="0" tIns="0" rIns="0" bIns="0" anchor="t">
            <a:normAutofit/>
          </a:bodyPr>
          <a:lstStyle/>
          <a:p>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Доказ не показује стварни исход.</a:t>
            </a:r>
          </a:p>
        </p:txBody>
      </p:sp>
    </p:spTree>
    <p:extLst>
      <p:ext uri="{BB962C8B-B14F-4D97-AF65-F5344CB8AC3E}">
        <p14:creationId xmlns:p14="http://schemas.microsoft.com/office/powerpoint/2010/main" val="1050924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AFF1E5B-9069-4638-884E-0A7472098694}"/>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02839C9A-7922-475F-B287-102EC88AC630}"/>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51318A47-0973-4DAF-B885-6727564A1863}"/>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18</a:t>
            </a:r>
          </a:p>
        </p:txBody>
      </p:sp>
      <p:sp>
        <p:nvSpPr>
          <p:cNvPr id="4" name="Rectangle 3">
            <a:extLst>
              <a:ext uri="{FF2B5EF4-FFF2-40B4-BE49-F238E27FC236}">
                <a16:creationId xmlns:a16="http://schemas.microsoft.com/office/drawing/2014/main" id="{8BCE223F-FF9F-4241-B0CB-6906CE2C2F17}"/>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Ризик као разговор о одлуци</a:t>
            </a:r>
          </a:p>
        </p:txBody>
      </p:sp>
      <p:sp>
        <p:nvSpPr>
          <p:cNvPr id="5" name="Rectangle 4">
            <a:extLst>
              <a:ext uri="{FF2B5EF4-FFF2-40B4-BE49-F238E27FC236}">
                <a16:creationId xmlns:a16="http://schemas.microsoft.com/office/drawing/2014/main" id="{43043B93-1473-4C10-B80F-E19A76932962}"/>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Добар доказ је свеж, поновљив и довољно јасан да га други члан тима протумачи.</a:t>
            </a:r>
          </a:p>
        </p:txBody>
      </p:sp>
      <p:sp>
        <p:nvSpPr>
          <p:cNvPr id="6" name="Rounded Rectangle 5">
            <a:extLst>
              <a:ext uri="{FF2B5EF4-FFF2-40B4-BE49-F238E27FC236}">
                <a16:creationId xmlns:a16="http://schemas.microsoft.com/office/drawing/2014/main" id="{013B5F0A-3AD9-465B-8741-F963C2EB7A0E}"/>
              </a:ext>
            </a:extLst>
          </p:cNvPr>
          <p:cNvSpPr>
            <a:spLocks noGrp="1"/>
          </p:cNvSpPr>
          <p:nvPr/>
        </p:nvSpPr>
        <p:spPr>
          <a:xfrm>
            <a:off x="781050" y="2152650"/>
            <a:ext cx="4476750" cy="2371725"/>
          </a:xfrm>
          <a:prstGeom prst="roundRect">
            <a:avLst>
              <a:gd name="adj" fmla="val 4294"/>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C472124C-654B-4F8A-9BBE-B5EB2EB0DD4F}"/>
              </a:ext>
            </a:extLst>
          </p:cNvPr>
          <p:cNvSpPr>
            <a:spLocks noGrp="1"/>
          </p:cNvSpPr>
          <p:nvPr/>
        </p:nvSpPr>
        <p:spPr>
          <a:xfrm>
            <a:off x="933450" y="2276475"/>
            <a:ext cx="4171950" cy="190500"/>
          </a:xfrm>
          <a:prstGeom prst="rect">
            <a:avLst/>
          </a:prstGeom>
          <a:noFill/>
          <a:ln w="0">
            <a:noFill/>
          </a:ln>
        </p:spPr>
        <p:txBody>
          <a:bodyPr wrap="square" lIns="0" tIns="0" rIns="0" bIns="0" anchor="t">
            <a:normAutofit/>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ОБРАЗЛОЖЕЊЕ</a:t>
            </a:r>
          </a:p>
        </p:txBody>
      </p:sp>
      <p:sp>
        <p:nvSpPr>
          <p:cNvPr id="8" name="Rectangle 7">
            <a:extLst>
              <a:ext uri="{FF2B5EF4-FFF2-40B4-BE49-F238E27FC236}">
                <a16:creationId xmlns:a16="http://schemas.microsoft.com/office/drawing/2014/main" id="{418C9612-4BED-4F93-93ED-275C01311F2A}"/>
              </a:ext>
            </a:extLst>
          </p:cNvPr>
          <p:cNvSpPr>
            <a:spLocks noGrp="1"/>
          </p:cNvSpPr>
          <p:nvPr/>
        </p:nvSpPr>
        <p:spPr>
          <a:xfrm>
            <a:off x="933450" y="2524125"/>
            <a:ext cx="4171950" cy="552450"/>
          </a:xfrm>
          <a:prstGeom prst="rect">
            <a:avLst/>
          </a:prstGeom>
          <a:noFill/>
          <a:ln w="0">
            <a:noFill/>
          </a:ln>
        </p:spPr>
        <p:txBody>
          <a:bodyPr wrap="square" lIns="0" tIns="0" rIns="0" bIns="0" anchor="ctr">
            <a:normAutofit/>
          </a:bodyPr>
          <a:lstStyle/>
          <a:p>
            <a:pPr algn="l">
              <a:lnSpc>
                <a:spcPct val="102000"/>
              </a:lnSpc>
              <a:buNone/>
              <a:defRPr sz="1650" b="1">
                <a:solidFill>
                  <a:srgbClr val="1A202C"/>
                </a:solidFill>
                <a:latin typeface="Aptos"/>
                <a:ea typeface="Aptos"/>
                <a:cs typeface="Aptos"/>
              </a:defRPr>
            </a:pPr>
            <a:r>
              <a:rPr sz="1650" b="1">
                <a:solidFill>
                  <a:srgbClr val="1A202C"/>
                </a:solidFill>
                <a:latin typeface="Aptos"/>
                <a:ea typeface="Aptos"/>
                <a:cs typeface="Aptos"/>
              </a:rPr>
              <a:t>Ризик као разговор о одлуци</a:t>
            </a:r>
          </a:p>
        </p:txBody>
      </p:sp>
      <p:sp>
        <p:nvSpPr>
          <p:cNvPr id="9" name="Rectangle 8">
            <a:extLst>
              <a:ext uri="{FF2B5EF4-FFF2-40B4-BE49-F238E27FC236}">
                <a16:creationId xmlns:a16="http://schemas.microsoft.com/office/drawing/2014/main" id="{3CBC4371-470A-4B33-9F5E-41C22F22A72B}"/>
              </a:ext>
            </a:extLst>
          </p:cNvPr>
          <p:cNvSpPr>
            <a:spLocks noGrp="1"/>
          </p:cNvSpPr>
          <p:nvPr/>
        </p:nvSpPr>
        <p:spPr>
          <a:xfrm>
            <a:off x="933450" y="3143250"/>
            <a:ext cx="4171950" cy="2009775"/>
          </a:xfrm>
          <a:prstGeom prst="rect">
            <a:avLst/>
          </a:prstGeom>
          <a:noFill/>
          <a:ln w="0">
            <a:noFill/>
          </a:ln>
        </p:spPr>
        <p:txBody>
          <a:bodyPr wrap="square" lIns="0" tIns="0" rIns="0" bIns="0" anchor="t">
            <a:normAutofit/>
          </a:bodyPr>
          <a:lstStyle/>
          <a:p>
            <a:pPr algn="l">
              <a:lnSpc>
                <a:spcPct val="106000"/>
              </a:lnSpc>
              <a:buNone/>
              <a:defRPr sz="1275" b="0">
                <a:solidFill>
                  <a:srgbClr val="657184"/>
                </a:solidFill>
                <a:latin typeface="Aptos"/>
                <a:ea typeface="Aptos"/>
                <a:cs typeface="Aptos"/>
              </a:defRPr>
            </a:pPr>
            <a:r>
              <a:rPr sz="1275" b="0">
                <a:solidFill>
                  <a:srgbClr val="657184"/>
                </a:solidFill>
                <a:latin typeface="Aptos"/>
                <a:ea typeface="Aptos"/>
                <a:cs typeface="Aptos"/>
              </a:rPr>
              <a:t>Risk register није списак страшних сценарија. Он даје тиму заједнички начин да упореди утицај, вероватноћу, постојеће контроле и преосталу изложеност. Када се ризик прихвати, мора бити јасно ко га прихвата, зашто и када ће одлука бити поново прегледана.</a:t>
            </a:r>
          </a:p>
        </p:txBody>
      </p:sp>
      <p:sp>
        <p:nvSpPr>
          <p:cNvPr id="10" name="Rounded Rectangle 9">
            <a:extLst>
              <a:ext uri="{FF2B5EF4-FFF2-40B4-BE49-F238E27FC236}">
                <a16:creationId xmlns:a16="http://schemas.microsoft.com/office/drawing/2014/main" id="{315B9CD5-18C0-4B03-8E1C-0CDD39C4C884}"/>
              </a:ext>
            </a:extLst>
          </p:cNvPr>
          <p:cNvSpPr>
            <a:spLocks noGrp="1"/>
          </p:cNvSpPr>
          <p:nvPr/>
        </p:nvSpPr>
        <p:spPr>
          <a:xfrm>
            <a:off x="5676900" y="2152650"/>
            <a:ext cx="5734050" cy="828675"/>
          </a:xfrm>
          <a:prstGeom prst="roundRect">
            <a:avLst>
              <a:gd name="adj" fmla="val 16092"/>
            </a:avLst>
          </a:prstGeom>
          <a:solidFill>
            <a:srgbClr val="EEF3FF"/>
          </a:solidFill>
          <a:ln w="9525">
            <a:solidFill>
              <a:srgbClr val="D7DEE8"/>
            </a:solidFill>
            <a:prstDash val="solid"/>
          </a:ln>
        </p:spPr>
      </p:sp>
      <p:sp>
        <p:nvSpPr>
          <p:cNvPr id="11" name="Rectangle 10">
            <a:extLst>
              <a:ext uri="{FF2B5EF4-FFF2-40B4-BE49-F238E27FC236}">
                <a16:creationId xmlns:a16="http://schemas.microsoft.com/office/drawing/2014/main" id="{57E97091-43B1-4A47-8D14-835E2C97B541}"/>
              </a:ext>
            </a:extLst>
          </p:cNvPr>
          <p:cNvSpPr>
            <a:spLocks noGrp="1"/>
          </p:cNvSpPr>
          <p:nvPr/>
        </p:nvSpPr>
        <p:spPr>
          <a:xfrm>
            <a:off x="5829300" y="2276475"/>
            <a:ext cx="5429250" cy="190500"/>
          </a:xfrm>
          <a:prstGeom prst="rect">
            <a:avLst/>
          </a:prstGeom>
          <a:noFill/>
          <a:ln w="0">
            <a:noFill/>
          </a:ln>
        </p:spPr>
        <p:txBody>
          <a:bodyPr wrap="square" lIns="0" tIns="0" rIns="0" bIns="0" anchor="t">
            <a:normAutofit/>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01</a:t>
            </a:r>
          </a:p>
        </p:txBody>
      </p:sp>
      <p:sp>
        <p:nvSpPr>
          <p:cNvPr id="12" name="Rectangle 11">
            <a:extLst>
              <a:ext uri="{FF2B5EF4-FFF2-40B4-BE49-F238E27FC236}">
                <a16:creationId xmlns:a16="http://schemas.microsoft.com/office/drawing/2014/main" id="{389C7AC8-0D09-458E-A891-0F8D4B98BFF5}"/>
              </a:ext>
            </a:extLst>
          </p:cNvPr>
          <p:cNvSpPr>
            <a:spLocks noGrp="1"/>
          </p:cNvSpPr>
          <p:nvPr/>
        </p:nvSpPr>
        <p:spPr>
          <a:xfrm>
            <a:off x="5829300" y="2524125"/>
            <a:ext cx="5429250" cy="43815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Ризик повезује конкретну имовину, претњу и контролу.</a:t>
            </a:r>
          </a:p>
        </p:txBody>
      </p:sp>
      <p:sp>
        <p:nvSpPr>
          <p:cNvPr id="13" name="Rounded Rectangle 12">
            <a:extLst>
              <a:ext uri="{FF2B5EF4-FFF2-40B4-BE49-F238E27FC236}">
                <a16:creationId xmlns:a16="http://schemas.microsoft.com/office/drawing/2014/main" id="{8A64BEBB-81BF-4AAF-8CBA-572C97A76C8F}"/>
              </a:ext>
            </a:extLst>
          </p:cNvPr>
          <p:cNvSpPr>
            <a:spLocks noGrp="1"/>
          </p:cNvSpPr>
          <p:nvPr/>
        </p:nvSpPr>
        <p:spPr>
          <a:xfrm>
            <a:off x="5676900" y="3152775"/>
            <a:ext cx="5734050" cy="828675"/>
          </a:xfrm>
          <a:prstGeom prst="roundRect">
            <a:avLst>
              <a:gd name="adj" fmla="val 16092"/>
            </a:avLst>
          </a:prstGeom>
          <a:solidFill>
            <a:srgbClr val="EDF8F2"/>
          </a:solidFill>
          <a:ln w="9525">
            <a:solidFill>
              <a:srgbClr val="D7DEE8"/>
            </a:solidFill>
            <a:prstDash val="solid"/>
          </a:ln>
        </p:spPr>
      </p:sp>
      <p:sp>
        <p:nvSpPr>
          <p:cNvPr id="14" name="Rectangle 13">
            <a:extLst>
              <a:ext uri="{FF2B5EF4-FFF2-40B4-BE49-F238E27FC236}">
                <a16:creationId xmlns:a16="http://schemas.microsoft.com/office/drawing/2014/main" id="{C3EDD053-3A84-4E11-9B19-7299B3452236}"/>
              </a:ext>
            </a:extLst>
          </p:cNvPr>
          <p:cNvSpPr>
            <a:spLocks noGrp="1"/>
          </p:cNvSpPr>
          <p:nvPr/>
        </p:nvSpPr>
        <p:spPr>
          <a:xfrm>
            <a:off x="5829300" y="3276600"/>
            <a:ext cx="5429250" cy="190500"/>
          </a:xfrm>
          <a:prstGeom prst="rect">
            <a:avLst/>
          </a:prstGeom>
          <a:noFill/>
          <a:ln w="0">
            <a:noFill/>
          </a:ln>
        </p:spPr>
        <p:txBody>
          <a:bodyPr wrap="square" lIns="0" tIns="0" rIns="0" bIns="0" anchor="t">
            <a:normAutofit/>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02</a:t>
            </a:r>
          </a:p>
        </p:txBody>
      </p:sp>
      <p:sp>
        <p:nvSpPr>
          <p:cNvPr id="15" name="Rectangle 14">
            <a:extLst>
              <a:ext uri="{FF2B5EF4-FFF2-40B4-BE49-F238E27FC236}">
                <a16:creationId xmlns:a16="http://schemas.microsoft.com/office/drawing/2014/main" id="{19B97CC1-50AB-4443-AB95-2A76AC40DF76}"/>
              </a:ext>
            </a:extLst>
          </p:cNvPr>
          <p:cNvSpPr>
            <a:spLocks noGrp="1"/>
          </p:cNvSpPr>
          <p:nvPr/>
        </p:nvSpPr>
        <p:spPr>
          <a:xfrm>
            <a:off x="5829300" y="3524250"/>
            <a:ext cx="5429250" cy="43815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Преглед приступа и преглед ризика имају ритам, власника и очекивани исход.</a:t>
            </a:r>
          </a:p>
        </p:txBody>
      </p:sp>
      <p:sp>
        <p:nvSpPr>
          <p:cNvPr id="16" name="Rounded Rectangle 15">
            <a:extLst>
              <a:ext uri="{FF2B5EF4-FFF2-40B4-BE49-F238E27FC236}">
                <a16:creationId xmlns:a16="http://schemas.microsoft.com/office/drawing/2014/main" id="{10A84C3E-B54A-439C-B174-E8E7F5E9E10E}"/>
              </a:ext>
            </a:extLst>
          </p:cNvPr>
          <p:cNvSpPr>
            <a:spLocks noGrp="1"/>
          </p:cNvSpPr>
          <p:nvPr/>
        </p:nvSpPr>
        <p:spPr>
          <a:xfrm>
            <a:off x="5676900" y="4152900"/>
            <a:ext cx="5734050" cy="828675"/>
          </a:xfrm>
          <a:prstGeom prst="roundRect">
            <a:avLst>
              <a:gd name="adj" fmla="val 16092"/>
            </a:avLst>
          </a:prstGeom>
          <a:solidFill>
            <a:srgbClr val="FFF6E9"/>
          </a:solidFill>
          <a:ln w="9525">
            <a:solidFill>
              <a:srgbClr val="D7DEE8"/>
            </a:solidFill>
            <a:prstDash val="solid"/>
          </a:ln>
        </p:spPr>
      </p:sp>
      <p:sp>
        <p:nvSpPr>
          <p:cNvPr id="17" name="Rectangle 16">
            <a:extLst>
              <a:ext uri="{FF2B5EF4-FFF2-40B4-BE49-F238E27FC236}">
                <a16:creationId xmlns:a16="http://schemas.microsoft.com/office/drawing/2014/main" id="{2A312D65-69DE-4D9D-833C-58E85961B2E3}"/>
              </a:ext>
            </a:extLst>
          </p:cNvPr>
          <p:cNvSpPr>
            <a:spLocks noGrp="1"/>
          </p:cNvSpPr>
          <p:nvPr/>
        </p:nvSpPr>
        <p:spPr>
          <a:xfrm>
            <a:off x="5829300" y="4276725"/>
            <a:ext cx="5429250" cy="190500"/>
          </a:xfrm>
          <a:prstGeom prst="rect">
            <a:avLst/>
          </a:prstGeom>
          <a:noFill/>
          <a:ln w="0">
            <a:noFill/>
          </a:ln>
        </p:spPr>
        <p:txBody>
          <a:bodyPr wrap="square" lIns="0" tIns="0" rIns="0" bIns="0" anchor="t">
            <a:normAutofit/>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03</a:t>
            </a:r>
          </a:p>
        </p:txBody>
      </p:sp>
      <p:sp>
        <p:nvSpPr>
          <p:cNvPr id="18" name="Rectangle 17">
            <a:extLst>
              <a:ext uri="{FF2B5EF4-FFF2-40B4-BE49-F238E27FC236}">
                <a16:creationId xmlns:a16="http://schemas.microsoft.com/office/drawing/2014/main" id="{9DEC8D20-7D9A-437B-9604-9BB44F73AE62}"/>
              </a:ext>
            </a:extLst>
          </p:cNvPr>
          <p:cNvSpPr>
            <a:spLocks noGrp="1"/>
          </p:cNvSpPr>
          <p:nvPr/>
        </p:nvSpPr>
        <p:spPr>
          <a:xfrm>
            <a:off x="5829300" y="4524375"/>
            <a:ext cx="5429250" cy="438150"/>
          </a:xfrm>
          <a:prstGeom prst="rect">
            <a:avLst/>
          </a:prstGeom>
          <a:noFill/>
          <a:ln w="0">
            <a:noFill/>
          </a:ln>
        </p:spPr>
        <p:txBody>
          <a:bodyPr wrap="square" lIns="0" tIns="0" rIns="0" bIns="0" anchor="ctr">
            <a:normAutofit/>
          </a:bodyPr>
          <a:lstStyle/>
          <a:p>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Сегрегација дужности спречава комбинације права које би једној особи дале превелику контролу.</a:t>
            </a:r>
          </a:p>
        </p:txBody>
      </p:sp>
    </p:spTree>
    <p:extLst>
      <p:ext uri="{BB962C8B-B14F-4D97-AF65-F5344CB8AC3E}">
        <p14:creationId xmlns:p14="http://schemas.microsoft.com/office/powerpoint/2010/main" val="1150652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E137836-677D-4CFE-8664-E9FA68755F2C}"/>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7116FB49-5708-4251-9007-A47D5FC255F2}"/>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F66B4438-0001-4BE3-8C9F-A3D870C43074}"/>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19</a:t>
            </a:r>
          </a:p>
        </p:txBody>
      </p:sp>
      <p:sp>
        <p:nvSpPr>
          <p:cNvPr id="4" name="Rectangle 3">
            <a:extLst>
              <a:ext uri="{FF2B5EF4-FFF2-40B4-BE49-F238E27FC236}">
                <a16:creationId xmlns:a16="http://schemas.microsoft.com/office/drawing/2014/main" id="{18F89BE7-05D6-49B6-AF1C-7C2DA9F984D6}"/>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Мини вежба за пројекат</a:t>
            </a:r>
          </a:p>
        </p:txBody>
      </p:sp>
      <p:sp>
        <p:nvSpPr>
          <p:cNvPr id="5" name="Rectangle 4">
            <a:extLst>
              <a:ext uri="{FF2B5EF4-FFF2-40B4-BE49-F238E27FC236}">
                <a16:creationId xmlns:a16="http://schemas.microsoft.com/office/drawing/2014/main" id="{FDA77CA1-AA1B-4F6F-8773-4F3C6E04B599}"/>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На једном сценарију повежите одлуку, имплементацију, негативни тест и доказ.</a:t>
            </a:r>
          </a:p>
        </p:txBody>
      </p:sp>
      <p:sp>
        <p:nvSpPr>
          <p:cNvPr id="6" name="Rounded Rectangle 5">
            <a:extLst>
              <a:ext uri="{FF2B5EF4-FFF2-40B4-BE49-F238E27FC236}">
                <a16:creationId xmlns:a16="http://schemas.microsoft.com/office/drawing/2014/main" id="{92C0A441-455A-411E-AF30-2EA1FCE165D0}"/>
              </a:ext>
            </a:extLst>
          </p:cNvPr>
          <p:cNvSpPr>
            <a:spLocks noGrp="1"/>
          </p:cNvSpPr>
          <p:nvPr/>
        </p:nvSpPr>
        <p:spPr>
          <a:xfrm>
            <a:off x="800100" y="2400300"/>
            <a:ext cx="2433638" cy="1257300"/>
          </a:xfrm>
          <a:prstGeom prst="roundRect">
            <a:avLst>
              <a:gd name="adj" fmla="val 10606"/>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23E1EB3F-C7AA-419D-BF10-01A34F7721F0}"/>
              </a:ext>
            </a:extLst>
          </p:cNvPr>
          <p:cNvSpPr>
            <a:spLocks noGrp="1"/>
          </p:cNvSpPr>
          <p:nvPr/>
        </p:nvSpPr>
        <p:spPr>
          <a:xfrm>
            <a:off x="942975" y="2514600"/>
            <a:ext cx="21478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C26CED7E-6D6D-4D71-AC53-CECFA84A9598}"/>
              </a:ext>
            </a:extLst>
          </p:cNvPr>
          <p:cNvSpPr>
            <a:spLocks noGrp="1"/>
          </p:cNvSpPr>
          <p:nvPr/>
        </p:nvSpPr>
        <p:spPr>
          <a:xfrm>
            <a:off x="933450" y="2800350"/>
            <a:ext cx="21669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Изаберите сценарио</a:t>
            </a:r>
          </a:p>
        </p:txBody>
      </p:sp>
      <p:sp>
        <p:nvSpPr>
          <p:cNvPr id="9" name="Rectangle 8">
            <a:extLst>
              <a:ext uri="{FF2B5EF4-FFF2-40B4-BE49-F238E27FC236}">
                <a16:creationId xmlns:a16="http://schemas.microsoft.com/office/drawing/2014/main" id="{7E4EF1DA-52AD-45DE-90FD-2A5B0AD341D4}"/>
              </a:ext>
            </a:extLst>
          </p:cNvPr>
          <p:cNvSpPr>
            <a:spLocks noGrp="1"/>
          </p:cNvSpPr>
          <p:nvPr/>
        </p:nvSpPr>
        <p:spPr>
          <a:xfrm>
            <a:off x="942975" y="3190875"/>
            <a:ext cx="21478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једна стварна радња</a:t>
            </a:r>
          </a:p>
        </p:txBody>
      </p:sp>
      <p:sp>
        <p:nvSpPr>
          <p:cNvPr id="10" name="Rounded Rectangle 9">
            <a:extLst>
              <a:ext uri="{FF2B5EF4-FFF2-40B4-BE49-F238E27FC236}">
                <a16:creationId xmlns:a16="http://schemas.microsoft.com/office/drawing/2014/main" id="{18F30B28-9EC9-491C-B810-C9593464CCAA}"/>
              </a:ext>
            </a:extLst>
          </p:cNvPr>
          <p:cNvSpPr>
            <a:spLocks noGrp="1"/>
          </p:cNvSpPr>
          <p:nvPr/>
        </p:nvSpPr>
        <p:spPr>
          <a:xfrm>
            <a:off x="3519488" y="2400300"/>
            <a:ext cx="2433638" cy="1257300"/>
          </a:xfrm>
          <a:prstGeom prst="roundRect">
            <a:avLst>
              <a:gd name="adj" fmla="val 10606"/>
            </a:avLst>
          </a:prstGeom>
          <a:solidFill>
            <a:srgbClr val="EEF3FF"/>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89C3A4AA-4A1D-476A-BA8F-EC231269268F}"/>
              </a:ext>
            </a:extLst>
          </p:cNvPr>
          <p:cNvSpPr>
            <a:spLocks noGrp="1"/>
          </p:cNvSpPr>
          <p:nvPr/>
        </p:nvSpPr>
        <p:spPr>
          <a:xfrm>
            <a:off x="3662363" y="2514600"/>
            <a:ext cx="21478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2F5EF5"/>
                </a:solidFill>
                <a:latin typeface="Aptos"/>
                <a:ea typeface="Aptos"/>
                <a:cs typeface="Aptos"/>
              </a:defRPr>
            </a:pPr>
            <a:r>
              <a:rPr sz="1200" b="1">
                <a:solidFill>
                  <a:srgbClr val="2F5EF5"/>
                </a:solidFill>
                <a:latin typeface="Aptos"/>
                <a:ea typeface="Aptos"/>
                <a:cs typeface="Aptos"/>
              </a:rPr>
              <a:t>02</a:t>
            </a:r>
          </a:p>
        </p:txBody>
      </p:sp>
      <p:sp>
        <p:nvSpPr>
          <p:cNvPr id="12" name="Rectangle 11">
            <a:extLst>
              <a:ext uri="{FF2B5EF4-FFF2-40B4-BE49-F238E27FC236}">
                <a16:creationId xmlns:a16="http://schemas.microsoft.com/office/drawing/2014/main" id="{1682F9F7-F68A-4745-AF46-56090670CE1E}"/>
              </a:ext>
            </a:extLst>
          </p:cNvPr>
          <p:cNvSpPr>
            <a:spLocks noGrp="1"/>
          </p:cNvSpPr>
          <p:nvPr/>
        </p:nvSpPr>
        <p:spPr>
          <a:xfrm>
            <a:off x="3652838" y="2800350"/>
            <a:ext cx="21669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Именујте правило</a:t>
            </a:r>
          </a:p>
        </p:txBody>
      </p:sp>
      <p:sp>
        <p:nvSpPr>
          <p:cNvPr id="13" name="Rectangle 12">
            <a:extLst>
              <a:ext uri="{FF2B5EF4-FFF2-40B4-BE49-F238E27FC236}">
                <a16:creationId xmlns:a16="http://schemas.microsoft.com/office/drawing/2014/main" id="{99F2E9E3-294D-4FD2-A75A-140C5399C0D9}"/>
              </a:ext>
            </a:extLst>
          </p:cNvPr>
          <p:cNvSpPr>
            <a:spLocks noGrp="1"/>
          </p:cNvSpPr>
          <p:nvPr/>
        </p:nvSpPr>
        <p:spPr>
          <a:xfrm>
            <a:off x="3662363" y="3190875"/>
            <a:ext cx="21478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улази и граница</a:t>
            </a:r>
          </a:p>
        </p:txBody>
      </p:sp>
      <p:sp>
        <p:nvSpPr>
          <p:cNvPr id="14" name="Rounded Rectangle 13">
            <a:extLst>
              <a:ext uri="{FF2B5EF4-FFF2-40B4-BE49-F238E27FC236}">
                <a16:creationId xmlns:a16="http://schemas.microsoft.com/office/drawing/2014/main" id="{AF445FC9-17B3-4CA7-9AA6-176F4D0E0D4C}"/>
              </a:ext>
            </a:extLst>
          </p:cNvPr>
          <p:cNvSpPr>
            <a:spLocks noGrp="1"/>
          </p:cNvSpPr>
          <p:nvPr/>
        </p:nvSpPr>
        <p:spPr>
          <a:xfrm>
            <a:off x="6238875" y="2400300"/>
            <a:ext cx="2433638" cy="1257300"/>
          </a:xfrm>
          <a:prstGeom prst="roundRect">
            <a:avLst>
              <a:gd name="adj" fmla="val 10606"/>
            </a:avLst>
          </a:prstGeom>
          <a:solidFill>
            <a:srgbClr val="FFF0F0"/>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9CBFC12D-40FD-4C16-9C23-D75A31BB1172}"/>
              </a:ext>
            </a:extLst>
          </p:cNvPr>
          <p:cNvSpPr>
            <a:spLocks noGrp="1"/>
          </p:cNvSpPr>
          <p:nvPr/>
        </p:nvSpPr>
        <p:spPr>
          <a:xfrm>
            <a:off x="6381750" y="2514600"/>
            <a:ext cx="21478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03</a:t>
            </a:r>
          </a:p>
        </p:txBody>
      </p:sp>
      <p:sp>
        <p:nvSpPr>
          <p:cNvPr id="16" name="Rectangle 15">
            <a:extLst>
              <a:ext uri="{FF2B5EF4-FFF2-40B4-BE49-F238E27FC236}">
                <a16:creationId xmlns:a16="http://schemas.microsoft.com/office/drawing/2014/main" id="{799B7F27-9807-45A1-8128-282A8DCB8258}"/>
              </a:ext>
            </a:extLst>
          </p:cNvPr>
          <p:cNvSpPr>
            <a:spLocks noGrp="1"/>
          </p:cNvSpPr>
          <p:nvPr/>
        </p:nvSpPr>
        <p:spPr>
          <a:xfrm>
            <a:off x="6372225" y="2800350"/>
            <a:ext cx="21669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Напишите денy тест</a:t>
            </a:r>
          </a:p>
        </p:txBody>
      </p:sp>
      <p:sp>
        <p:nvSpPr>
          <p:cNvPr id="17" name="Rectangle 16">
            <a:extLst>
              <a:ext uri="{FF2B5EF4-FFF2-40B4-BE49-F238E27FC236}">
                <a16:creationId xmlns:a16="http://schemas.microsoft.com/office/drawing/2014/main" id="{30B3B44D-A899-4A49-B472-CD8140E87080}"/>
              </a:ext>
            </a:extLst>
          </p:cNvPr>
          <p:cNvSpPr>
            <a:spLocks noGrp="1"/>
          </p:cNvSpPr>
          <p:nvPr/>
        </p:nvSpPr>
        <p:spPr>
          <a:xfrm>
            <a:off x="6381750" y="3190875"/>
            <a:ext cx="21478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једна чињеница недостаје</a:t>
            </a:r>
          </a:p>
        </p:txBody>
      </p:sp>
      <p:sp>
        <p:nvSpPr>
          <p:cNvPr id="18" name="Rounded Rectangle 17">
            <a:extLst>
              <a:ext uri="{FF2B5EF4-FFF2-40B4-BE49-F238E27FC236}">
                <a16:creationId xmlns:a16="http://schemas.microsoft.com/office/drawing/2014/main" id="{FEA1F314-1D96-43A5-ACAB-8A504D4ED789}"/>
              </a:ext>
            </a:extLst>
          </p:cNvPr>
          <p:cNvSpPr>
            <a:spLocks noGrp="1"/>
          </p:cNvSpPr>
          <p:nvPr/>
        </p:nvSpPr>
        <p:spPr>
          <a:xfrm>
            <a:off x="8958263" y="2400300"/>
            <a:ext cx="2433638" cy="1257300"/>
          </a:xfrm>
          <a:prstGeom prst="roundRect">
            <a:avLst>
              <a:gd name="adj" fmla="val 10606"/>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9" name="Rectangle 18">
            <a:extLst>
              <a:ext uri="{FF2B5EF4-FFF2-40B4-BE49-F238E27FC236}">
                <a16:creationId xmlns:a16="http://schemas.microsoft.com/office/drawing/2014/main" id="{3CD6698C-12D4-4C84-95BB-A6F0963A8480}"/>
              </a:ext>
            </a:extLst>
          </p:cNvPr>
          <p:cNvSpPr>
            <a:spLocks noGrp="1"/>
          </p:cNvSpPr>
          <p:nvPr/>
        </p:nvSpPr>
        <p:spPr>
          <a:xfrm>
            <a:off x="9101138" y="2514600"/>
            <a:ext cx="21478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a:ext uri="{FF2B5EF4-FFF2-40B4-BE49-F238E27FC236}">
                <a16:creationId xmlns:a16="http://schemas.microsoft.com/office/drawing/2014/main" id="{AB5A0E0C-7008-4D80-9A5A-A5089C2D0273}"/>
              </a:ext>
            </a:extLst>
          </p:cNvPr>
          <p:cNvSpPr>
            <a:spLocks noGrp="1"/>
          </p:cNvSpPr>
          <p:nvPr/>
        </p:nvSpPr>
        <p:spPr>
          <a:xfrm>
            <a:off x="9091613" y="2800350"/>
            <a:ext cx="21669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Сачувајте доказ</a:t>
            </a:r>
          </a:p>
        </p:txBody>
      </p:sp>
      <p:sp>
        <p:nvSpPr>
          <p:cNvPr id="21" name="Rectangle 20">
            <a:extLst>
              <a:ext uri="{FF2B5EF4-FFF2-40B4-BE49-F238E27FC236}">
                <a16:creationId xmlns:a16="http://schemas.microsoft.com/office/drawing/2014/main" id="{D961B685-E228-4FD0-8150-2739A83FF8F4}"/>
              </a:ext>
            </a:extLst>
          </p:cNvPr>
          <p:cNvSpPr>
            <a:spLocks noGrp="1"/>
          </p:cNvSpPr>
          <p:nvPr/>
        </p:nvSpPr>
        <p:spPr>
          <a:xfrm>
            <a:off x="9101138" y="3190875"/>
            <a:ext cx="21478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исход и разлог</a:t>
            </a:r>
          </a:p>
        </p:txBody>
      </p:sp>
      <p:cxnSp>
        <p:nvCxnSpPr>
          <p:cNvPr id="125" name="Straight Arrow Connector 124"/>
          <p:cNvCxnSpPr>
            <a:stCxn id="6" idx="3"/>
            <a:endCxn id="10" idx="1"/>
          </p:cNvCxnSpPr>
          <p:nvPr/>
        </p:nvCxnSpPr>
        <p:spPr>
          <a:xfrm>
            <a:off x="3233738" y="3028950"/>
            <a:ext cx="285750" cy="0"/>
          </a:xfrm>
          <a:prstGeom prst="straightConnector1">
            <a:avLst/>
          </a:prstGeom>
          <a:ln w="13335">
            <a:solidFill>
              <a:srgbClr val="748092"/>
            </a:solidFill>
            <a:prstDash val="solid"/>
            <a:tailEnd type="arrow" w="sm" len="sm"/>
          </a:ln>
        </p:spPr>
      </p:cxnSp>
      <p:cxnSp>
        <p:nvCxnSpPr>
          <p:cNvPr id="126" name="Straight Arrow Connector 125"/>
          <p:cNvCxnSpPr>
            <a:stCxn id="10" idx="3"/>
            <a:endCxn id="14" idx="1"/>
          </p:cNvCxnSpPr>
          <p:nvPr/>
        </p:nvCxnSpPr>
        <p:spPr>
          <a:xfrm>
            <a:off x="5953126" y="3028950"/>
            <a:ext cx="285749" cy="0"/>
          </a:xfrm>
          <a:prstGeom prst="straightConnector1">
            <a:avLst/>
          </a:prstGeom>
          <a:ln w="13335">
            <a:solidFill>
              <a:srgbClr val="748092"/>
            </a:solidFill>
            <a:prstDash val="solid"/>
            <a:tailEnd type="arrow" w="sm" len="sm"/>
          </a:ln>
        </p:spPr>
      </p:cxnSp>
      <p:cxnSp>
        <p:nvCxnSpPr>
          <p:cNvPr id="127" name="Straight Arrow Connector 126"/>
          <p:cNvCxnSpPr>
            <a:stCxn id="14" idx="3"/>
            <a:endCxn id="18" idx="1"/>
          </p:cNvCxnSpPr>
          <p:nvPr/>
        </p:nvCxnSpPr>
        <p:spPr>
          <a:xfrm>
            <a:off x="8672513" y="3028950"/>
            <a:ext cx="285750" cy="0"/>
          </a:xfrm>
          <a:prstGeom prst="straightConnector1">
            <a:avLst/>
          </a:prstGeom>
          <a:ln w="13335">
            <a:solidFill>
              <a:srgbClr val="748092"/>
            </a:solidFill>
            <a:prstDash val="solid"/>
            <a:tailEnd type="arrow" w="sm" len="sm"/>
          </a:ln>
        </p:spPr>
      </p:cxnSp>
      <p:sp>
        <p:nvSpPr>
          <p:cNvPr id="25" name="Rounded Rectangle 24">
            <a:extLst>
              <a:ext uri="{FF2B5EF4-FFF2-40B4-BE49-F238E27FC236}">
                <a16:creationId xmlns:a16="http://schemas.microsoft.com/office/drawing/2014/main" id="{C6899EB5-38DC-45A4-B5B5-AD204D78F81A}"/>
              </a:ext>
            </a:extLst>
          </p:cNvPr>
          <p:cNvSpPr>
            <a:spLocks noGrp="1"/>
          </p:cNvSpPr>
          <p:nvPr/>
        </p:nvSpPr>
        <p:spPr>
          <a:xfrm>
            <a:off x="1619250" y="4305300"/>
            <a:ext cx="8953500" cy="914400"/>
          </a:xfrm>
          <a:prstGeom prst="roundRect">
            <a:avLst>
              <a:gd name="adj" fmla="val 13542"/>
            </a:avLst>
          </a:prstGeom>
          <a:solidFill>
            <a:srgbClr val="FFF6E9"/>
          </a:solidFill>
          <a:ln w="9525">
            <a:solidFill>
              <a:srgbClr val="D7DEE8"/>
            </a:solidFill>
            <a:prstDash val="solid"/>
          </a:ln>
        </p:spPr>
      </p:sp>
      <p:sp>
        <p:nvSpPr>
          <p:cNvPr id="26" name="Rounded Rectangle 25">
            <a:extLst>
              <a:ext uri="{FF2B5EF4-FFF2-40B4-BE49-F238E27FC236}">
                <a16:creationId xmlns:a16="http://schemas.microsoft.com/office/drawing/2014/main" id="{87F1D2B1-A1FE-495A-962F-66D6425C81BD}"/>
              </a:ext>
            </a:extLst>
          </p:cNvPr>
          <p:cNvSpPr>
            <a:spLocks noGrp="1"/>
          </p:cNvSpPr>
          <p:nvPr/>
        </p:nvSpPr>
        <p:spPr>
          <a:xfrm>
            <a:off x="1752600" y="4448175"/>
            <a:ext cx="57150" cy="628650"/>
          </a:xfrm>
          <a:prstGeom prst="roundRect">
            <a:avLst>
              <a:gd name="adj" fmla="val 50000"/>
            </a:avLst>
          </a:prstGeom>
          <a:solidFill>
            <a:srgbClr val="B86A09"/>
          </a:solidFill>
          <a:ln w="0">
            <a:noFill/>
          </a:ln>
        </p:spPr>
      </p:sp>
      <p:sp>
        <p:nvSpPr>
          <p:cNvPr id="76" name="Rounded Rectangle 75">
            <a:extLst>
              <a:ext uri="{FF2B5EF4-FFF2-40B4-BE49-F238E27FC236}">
                <a16:creationId xmlns:a16="http://schemas.microsoft.com/office/drawing/2014/main" id="{DC675329-BE92-4027-8181-4A61CB9386FB}"/>
              </a:ext>
            </a:extLst>
          </p:cNvPr>
          <p:cNvSpPr>
            <a:spLocks noGrp="1"/>
          </p:cNvSpPr>
          <p:nvPr/>
        </p:nvSpPr>
        <p:spPr>
          <a:xfrm>
            <a:off x="914400" y="4267200"/>
            <a:ext cx="10363200" cy="990600"/>
          </a:xfrm>
          <a:prstGeom prst="roundRect">
            <a:avLst>
              <a:gd name="adj" fmla="val 13462"/>
            </a:avLst>
          </a:prstGeom>
          <a:solidFill>
            <a:srgbClr val="EEF3FF"/>
          </a:solidFill>
          <a:ln w="8573">
            <a:solidFill>
              <a:srgbClr val="CAD7F2"/>
            </a:solidFill>
            <a:prstDash val="solid"/>
          </a:ln>
        </p:spPr>
      </p:sp>
      <p:sp>
        <p:nvSpPr>
          <p:cNvPr id="77" name="Rounded Rectangle 76">
            <a:extLst>
              <a:ext uri="{FF2B5EF4-FFF2-40B4-BE49-F238E27FC236}">
                <a16:creationId xmlns:a16="http://schemas.microsoft.com/office/drawing/2014/main" id="{06E00B3F-95A7-475E-826F-7008981AFA0B}"/>
              </a:ext>
            </a:extLst>
          </p:cNvPr>
          <p:cNvSpPr>
            <a:spLocks noGrp="1"/>
          </p:cNvSpPr>
          <p:nvPr/>
        </p:nvSpPr>
        <p:spPr>
          <a:xfrm>
            <a:off x="1085850" y="4419600"/>
            <a:ext cx="57150" cy="685800"/>
          </a:xfrm>
          <a:prstGeom prst="roundRect">
            <a:avLst>
              <a:gd name="adj" fmla="val 50000"/>
            </a:avLst>
          </a:prstGeom>
          <a:solidFill>
            <a:srgbClr val="2F5EF5"/>
          </a:solidFill>
          <a:ln w="0">
            <a:noFill/>
          </a:ln>
        </p:spPr>
      </p:sp>
      <p:sp>
        <p:nvSpPr>
          <p:cNvPr id="78" name="Rectangle 77">
            <a:extLst>
              <a:ext uri="{FF2B5EF4-FFF2-40B4-BE49-F238E27FC236}">
                <a16:creationId xmlns:a16="http://schemas.microsoft.com/office/drawing/2014/main" id="{2E3A7CD1-E515-467D-A40A-5DD9153BBB19}"/>
              </a:ext>
            </a:extLst>
          </p:cNvPr>
          <p:cNvSpPr>
            <a:spLocks noGrp="1"/>
          </p:cNvSpPr>
          <p:nvPr/>
        </p:nvSpPr>
        <p:spPr>
          <a:xfrm>
            <a:off x="1333500" y="437197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ЗАДАТАК ЗА ПРОЈЕКАТ</a:t>
            </a:r>
          </a:p>
        </p:txBody>
      </p:sp>
      <p:sp>
        <p:nvSpPr>
          <p:cNvPr id="79" name="Rectangle 78">
            <a:extLst>
              <a:ext uri="{FF2B5EF4-FFF2-40B4-BE49-F238E27FC236}">
                <a16:creationId xmlns:a16="http://schemas.microsoft.com/office/drawing/2014/main" id="{E468791F-2CF9-4996-9E74-F811C60874E7}"/>
              </a:ext>
            </a:extLst>
          </p:cNvPr>
          <p:cNvSpPr>
            <a:spLocks noGrp="1"/>
          </p:cNvSpPr>
          <p:nvPr/>
        </p:nvSpPr>
        <p:spPr>
          <a:xfrm>
            <a:off x="1333500" y="4600575"/>
            <a:ext cx="9639300" cy="552450"/>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Примените тему „Атрибути, ризик и периодични преглед приступа“ на додељену пројектну целину и припремите доказ који други члан тима може да понови.</a:t>
            </a:r>
          </a:p>
        </p:txBody>
      </p:sp>
    </p:spTree>
    <p:extLst>
      <p:ext uri="{BB962C8B-B14F-4D97-AF65-F5344CB8AC3E}">
        <p14:creationId xmlns:p14="http://schemas.microsoft.com/office/powerpoint/2010/main" val="90057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AF1EBDD-8FFA-4038-B36F-0FC427C685DA}"/>
              </a:ext>
            </a:extLst>
          </p:cNvPr>
          <p:cNvSpPr>
            <a:spLocks noGrp="1"/>
          </p:cNvSpPr>
          <p:nvPr/>
        </p:nvSpPr>
        <p:spPr>
          <a:xfrm>
            <a:off x="495300" y="238125"/>
            <a:ext cx="3429000" cy="171450"/>
          </a:xfrm>
          <a:prstGeom prst="rect">
            <a:avLst/>
          </a:prstGeom>
          <a:noFill/>
          <a:ln w="0">
            <a:noFill/>
          </a:ln>
        </p:spPr>
        <p:txBody>
          <a:bodyPr wrap="square" lIns="0" tIns="0" rIns="0" bIns="0" anchor="t">
            <a:normAutofit/>
          </a:bodyPr>
          <a:lstStyle/>
          <a:p>
            <a:pPr algn="l">
              <a:lnSpc>
                <a:spcPct val="102000"/>
              </a:lnSpc>
              <a:buNone/>
              <a:defRPr sz="825" b="0">
                <a:solidFill>
                  <a:srgbClr val="657184"/>
                </a:solidFill>
                <a:latin typeface="Aptos"/>
                <a:ea typeface="Aptos"/>
                <a:cs typeface="Aptos"/>
              </a:defRPr>
            </a:pPr>
            <a:r>
              <a:rPr sz="825" b="0">
                <a:solidFill>
                  <a:srgbClr val="657184"/>
                </a:solidFill>
                <a:latin typeface="Aptos"/>
                <a:ea typeface="Aptos"/>
                <a:cs typeface="Aptos"/>
              </a:rPr>
              <a:t>Основе информационе безбедности</a:t>
            </a:r>
          </a:p>
        </p:txBody>
      </p:sp>
      <p:sp>
        <p:nvSpPr>
          <p:cNvPr id="2" name="Straight Connector 1">
            <a:extLst>
              <a:ext uri="{FF2B5EF4-FFF2-40B4-BE49-F238E27FC236}">
                <a16:creationId xmlns:a16="http://schemas.microsoft.com/office/drawing/2014/main" id="{D7084B09-DA2D-4772-8460-81CC29DF5089}"/>
              </a:ext>
            </a:extLst>
          </p:cNvPr>
          <p:cNvSpPr>
            <a:spLocks noGrp="1"/>
          </p:cNvSpPr>
          <p:nvPr/>
        </p:nvSpPr>
        <p:spPr>
          <a:xfrm>
            <a:off x="495300" y="476250"/>
            <a:ext cx="11201400" cy="9525"/>
          </a:xfrm>
          <a:prstGeom prst="line">
            <a:avLst/>
          </a:prstGeom>
          <a:noFill/>
          <a:ln w="9525">
            <a:solidFill>
              <a:srgbClr val="748092"/>
            </a:solidFill>
            <a:prstDash val="solid"/>
          </a:ln>
        </p:spPr>
      </p:sp>
      <p:sp>
        <p:nvSpPr>
          <p:cNvPr id="3" name="Rectangle 2">
            <a:extLst>
              <a:ext uri="{FF2B5EF4-FFF2-40B4-BE49-F238E27FC236}">
                <a16:creationId xmlns:a16="http://schemas.microsoft.com/office/drawing/2014/main" id="{80E7F011-BCB1-4CAC-A380-1ABD49ACD0B2}"/>
              </a:ext>
            </a:extLst>
          </p:cNvPr>
          <p:cNvSpPr>
            <a:spLocks noGrp="1"/>
          </p:cNvSpPr>
          <p:nvPr/>
        </p:nvSpPr>
        <p:spPr>
          <a:xfrm>
            <a:off x="11372850" y="6477000"/>
            <a:ext cx="323850" cy="171450"/>
          </a:xfrm>
          <a:prstGeom prst="rect">
            <a:avLst/>
          </a:prstGeom>
          <a:noFill/>
          <a:ln w="0">
            <a:noFill/>
          </a:ln>
        </p:spPr>
        <p:txBody>
          <a:bodyPr wrap="square" lIns="0" tIns="0" rIns="0" bIns="0" anchor="t">
            <a:normAutofit/>
          </a:bodyPr>
          <a:lstStyle/>
          <a:p>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20</a:t>
            </a:r>
          </a:p>
        </p:txBody>
      </p:sp>
      <p:sp>
        <p:nvSpPr>
          <p:cNvPr id="4" name="Rectangle 3">
            <a:extLst>
              <a:ext uri="{FF2B5EF4-FFF2-40B4-BE49-F238E27FC236}">
                <a16:creationId xmlns:a16="http://schemas.microsoft.com/office/drawing/2014/main" id="{A37C4B5E-F9EC-4E69-849D-088CDF2A32B2}"/>
              </a:ext>
            </a:extLst>
          </p:cNvPr>
          <p:cNvSpPr>
            <a:spLocks noGrp="1"/>
          </p:cNvSpPr>
          <p:nvPr/>
        </p:nvSpPr>
        <p:spPr>
          <a:xfrm>
            <a:off x="685800" y="781050"/>
            <a:ext cx="10820400" cy="542925"/>
          </a:xfrm>
          <a:prstGeom prst="rect">
            <a:avLst/>
          </a:prstGeom>
          <a:noFill/>
          <a:ln w="0">
            <a:noFill/>
          </a:ln>
        </p:spPr>
        <p:txBody>
          <a:bodyPr wrap="square" lIns="0" tIns="0" rIns="0" bIns="0" anchor="t">
            <a:normAutofit/>
          </a:bodyPr>
          <a:lstStyle/>
          <a:p>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Провера разумевања</a:t>
            </a:r>
          </a:p>
        </p:txBody>
      </p:sp>
      <p:sp>
        <p:nvSpPr>
          <p:cNvPr id="5" name="Rectangle 4">
            <a:extLst>
              <a:ext uri="{FF2B5EF4-FFF2-40B4-BE49-F238E27FC236}">
                <a16:creationId xmlns:a16="http://schemas.microsoft.com/office/drawing/2014/main" id="{D6ABAF96-05E9-49EF-B2A3-EE6F3240A873}"/>
              </a:ext>
            </a:extLst>
          </p:cNvPr>
          <p:cNvSpPr>
            <a:spLocks noGrp="1"/>
          </p:cNvSpPr>
          <p:nvPr/>
        </p:nvSpPr>
        <p:spPr>
          <a:xfrm>
            <a:off x="685800" y="1428750"/>
            <a:ext cx="10820400" cy="457200"/>
          </a:xfrm>
          <a:prstGeom prst="rect">
            <a:avLst/>
          </a:prstGeom>
          <a:noFill/>
          <a:ln w="0">
            <a:noFill/>
          </a:ln>
        </p:spPr>
        <p:txBody>
          <a:bodyPr wrap="square" lIns="0" tIns="0" rIns="0" bIns="0" anchor="t">
            <a:normAutofit/>
          </a:bodyPr>
          <a:lstStyle/>
          <a:p>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Тема је савладана када одлуку можете да објасните без ослањања на назив framework-а.</a:t>
            </a:r>
          </a:p>
        </p:txBody>
      </p:sp>
      <p:sp>
        <p:nvSpPr>
          <p:cNvPr id="6" name="Rounded Rectangle 5">
            <a:extLst>
              <a:ext uri="{FF2B5EF4-FFF2-40B4-BE49-F238E27FC236}">
                <a16:creationId xmlns:a16="http://schemas.microsoft.com/office/drawing/2014/main" id="{EF2BE3D4-992A-4E3E-8302-5256F38DA157}"/>
              </a:ext>
            </a:extLst>
          </p:cNvPr>
          <p:cNvSpPr>
            <a:spLocks noGrp="1"/>
          </p:cNvSpPr>
          <p:nvPr/>
        </p:nvSpPr>
        <p:spPr>
          <a:xfrm>
            <a:off x="723900" y="2286000"/>
            <a:ext cx="2471738" cy="1257300"/>
          </a:xfrm>
          <a:prstGeom prst="roundRect">
            <a:avLst>
              <a:gd name="adj" fmla="val 10606"/>
            </a:avLst>
          </a:prstGeom>
          <a:solidFill>
            <a:srgbClr val="F4F6F9"/>
          </a:solidFill>
          <a:ln w="9525">
            <a:solidFill>
              <a:srgbClr val="D7DEE8"/>
            </a:solidFill>
            <a:prstDash val="solid"/>
          </a:ln>
        </p:spPr>
        <p:style>
          <a:lnRef idx="0">
            <a:scrgbClr r="0" g="0" b="0"/>
          </a:lnRef>
          <a:fillRef idx="0">
            <a:scrgbClr r="0" g="0" b="0"/>
          </a:fillRef>
          <a:effectRef idx="4">
            <a:scrgbClr r="0" g="0" b="0"/>
          </a:effectRef>
          <a:fontRef idx="major"/>
        </p:style>
      </p:sp>
      <p:sp>
        <p:nvSpPr>
          <p:cNvPr id="7" name="Rectangle 6">
            <a:extLst>
              <a:ext uri="{FF2B5EF4-FFF2-40B4-BE49-F238E27FC236}">
                <a16:creationId xmlns:a16="http://schemas.microsoft.com/office/drawing/2014/main" id="{D12C6503-C622-4218-B9B5-EBE50BC2085B}"/>
              </a:ext>
            </a:extLst>
          </p:cNvPr>
          <p:cNvSpPr>
            <a:spLocks noGrp="1"/>
          </p:cNvSpPr>
          <p:nvPr/>
        </p:nvSpPr>
        <p:spPr>
          <a:xfrm>
            <a:off x="866775" y="240030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a:ext uri="{FF2B5EF4-FFF2-40B4-BE49-F238E27FC236}">
                <a16:creationId xmlns:a16="http://schemas.microsoft.com/office/drawing/2014/main" id="{F8740374-A1F7-4836-882B-BA507D635A74}"/>
              </a:ext>
            </a:extLst>
          </p:cNvPr>
          <p:cNvSpPr>
            <a:spLocks noGrp="1"/>
          </p:cNvSpPr>
          <p:nvPr/>
        </p:nvSpPr>
        <p:spPr>
          <a:xfrm>
            <a:off x="857250" y="268605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Атрибути</a:t>
            </a:r>
          </a:p>
        </p:txBody>
      </p:sp>
      <p:sp>
        <p:nvSpPr>
          <p:cNvPr id="9" name="Rectangle 8">
            <a:extLst>
              <a:ext uri="{FF2B5EF4-FFF2-40B4-BE49-F238E27FC236}">
                <a16:creationId xmlns:a16="http://schemas.microsoft.com/office/drawing/2014/main" id="{5164255D-E4DF-4536-89EA-CC45DE777AAF}"/>
              </a:ext>
            </a:extLst>
          </p:cNvPr>
          <p:cNvSpPr>
            <a:spLocks noGrp="1"/>
          </p:cNvSpPr>
          <p:nvPr/>
        </p:nvSpPr>
        <p:spPr>
          <a:xfrm>
            <a:off x="866775" y="307657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контекст одлуке</a:t>
            </a:r>
          </a:p>
        </p:txBody>
      </p:sp>
      <p:sp>
        <p:nvSpPr>
          <p:cNvPr id="10" name="Rounded Rectangle 9">
            <a:extLst>
              <a:ext uri="{FF2B5EF4-FFF2-40B4-BE49-F238E27FC236}">
                <a16:creationId xmlns:a16="http://schemas.microsoft.com/office/drawing/2014/main" id="{7E440E80-26AE-4C38-A572-D4A51956348D}"/>
              </a:ext>
            </a:extLst>
          </p:cNvPr>
          <p:cNvSpPr>
            <a:spLocks noGrp="1"/>
          </p:cNvSpPr>
          <p:nvPr/>
        </p:nvSpPr>
        <p:spPr>
          <a:xfrm>
            <a:off x="3481388" y="2286000"/>
            <a:ext cx="2471738" cy="1257300"/>
          </a:xfrm>
          <a:prstGeom prst="roundRect">
            <a:avLst>
              <a:gd name="adj" fmla="val 10606"/>
            </a:avLst>
          </a:prstGeom>
          <a:solidFill>
            <a:srgbClr val="EDF8FA"/>
          </a:solidFill>
          <a:ln w="9525">
            <a:solidFill>
              <a:srgbClr val="D7DEE8"/>
            </a:solidFill>
            <a:prstDash val="solid"/>
          </a:ln>
        </p:spPr>
        <p:style>
          <a:lnRef idx="0">
            <a:scrgbClr r="0" g="0" b="0"/>
          </a:lnRef>
          <a:fillRef idx="0">
            <a:scrgbClr r="0" g="0" b="0"/>
          </a:fillRef>
          <a:effectRef idx="4">
            <a:scrgbClr r="0" g="0" b="0"/>
          </a:effectRef>
          <a:fontRef idx="major"/>
        </p:style>
      </p:sp>
      <p:sp>
        <p:nvSpPr>
          <p:cNvPr id="11" name="Rectangle 10">
            <a:extLst>
              <a:ext uri="{FF2B5EF4-FFF2-40B4-BE49-F238E27FC236}">
                <a16:creationId xmlns:a16="http://schemas.microsoft.com/office/drawing/2014/main" id="{6FC84190-46BD-48A0-A729-600DB5BEB187}"/>
              </a:ext>
            </a:extLst>
          </p:cNvPr>
          <p:cNvSpPr>
            <a:spLocks noGrp="1"/>
          </p:cNvSpPr>
          <p:nvPr/>
        </p:nvSpPr>
        <p:spPr>
          <a:xfrm>
            <a:off x="3624263" y="240030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68496"/>
                </a:solidFill>
                <a:latin typeface="Aptos"/>
                <a:ea typeface="Aptos"/>
                <a:cs typeface="Aptos"/>
              </a:defRPr>
            </a:pPr>
            <a:r>
              <a:rPr sz="1200" b="1">
                <a:solidFill>
                  <a:srgbClr val="168496"/>
                </a:solidFill>
                <a:latin typeface="Aptos"/>
                <a:ea typeface="Aptos"/>
                <a:cs typeface="Aptos"/>
              </a:rPr>
              <a:t>02</a:t>
            </a:r>
          </a:p>
        </p:txBody>
      </p:sp>
      <p:sp>
        <p:nvSpPr>
          <p:cNvPr id="12" name="Rectangle 11">
            <a:extLst>
              <a:ext uri="{FF2B5EF4-FFF2-40B4-BE49-F238E27FC236}">
                <a16:creationId xmlns:a16="http://schemas.microsoft.com/office/drawing/2014/main" id="{1D64747F-49AD-4BB9-B46D-65881440A390}"/>
              </a:ext>
            </a:extLst>
          </p:cNvPr>
          <p:cNvSpPr>
            <a:spLocks noGrp="1"/>
          </p:cNvSpPr>
          <p:nvPr/>
        </p:nvSpPr>
        <p:spPr>
          <a:xfrm>
            <a:off x="3614738" y="268605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Политика</a:t>
            </a:r>
          </a:p>
        </p:txBody>
      </p:sp>
      <p:sp>
        <p:nvSpPr>
          <p:cNvPr id="13" name="Rectangle 12">
            <a:extLst>
              <a:ext uri="{FF2B5EF4-FFF2-40B4-BE49-F238E27FC236}">
                <a16:creationId xmlns:a16="http://schemas.microsoft.com/office/drawing/2014/main" id="{34713B37-2CC6-43C1-A6B5-BD7E1ECB4276}"/>
              </a:ext>
            </a:extLst>
          </p:cNvPr>
          <p:cNvSpPr>
            <a:spLocks noGrp="1"/>
          </p:cNvSpPr>
          <p:nvPr/>
        </p:nvSpPr>
        <p:spPr>
          <a:xfrm>
            <a:off x="3624263" y="307657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правило које их тумачи</a:t>
            </a:r>
          </a:p>
        </p:txBody>
      </p:sp>
      <p:sp>
        <p:nvSpPr>
          <p:cNvPr id="14" name="Rounded Rectangle 13">
            <a:extLst>
              <a:ext uri="{FF2B5EF4-FFF2-40B4-BE49-F238E27FC236}">
                <a16:creationId xmlns:a16="http://schemas.microsoft.com/office/drawing/2014/main" id="{7848B106-4D37-41A7-AF53-64411C74B66D}"/>
              </a:ext>
            </a:extLst>
          </p:cNvPr>
          <p:cNvSpPr>
            <a:spLocks noGrp="1"/>
          </p:cNvSpPr>
          <p:nvPr/>
        </p:nvSpPr>
        <p:spPr>
          <a:xfrm>
            <a:off x="6238875" y="2286000"/>
            <a:ext cx="2471738" cy="1257300"/>
          </a:xfrm>
          <a:prstGeom prst="roundRect">
            <a:avLst>
              <a:gd name="adj" fmla="val 10606"/>
            </a:avLst>
          </a:prstGeom>
          <a:solidFill>
            <a:srgbClr val="FFF6E9"/>
          </a:solidFill>
          <a:ln w="9525">
            <a:solidFill>
              <a:srgbClr val="D7DEE8"/>
            </a:solidFill>
            <a:prstDash val="solid"/>
          </a:ln>
        </p:spPr>
        <p:style>
          <a:lnRef idx="0">
            <a:scrgbClr r="0" g="0" b="0"/>
          </a:lnRef>
          <a:fillRef idx="0">
            <a:scrgbClr r="0" g="0" b="0"/>
          </a:fillRef>
          <a:effectRef idx="4">
            <a:scrgbClr r="0" g="0" b="0"/>
          </a:effectRef>
          <a:fontRef idx="major"/>
        </p:style>
      </p:sp>
      <p:sp>
        <p:nvSpPr>
          <p:cNvPr id="15" name="Rectangle 14">
            <a:extLst>
              <a:ext uri="{FF2B5EF4-FFF2-40B4-BE49-F238E27FC236}">
                <a16:creationId xmlns:a16="http://schemas.microsoft.com/office/drawing/2014/main" id="{9D90CCDC-DC4A-499F-B998-2366CCB468AF}"/>
              </a:ext>
            </a:extLst>
          </p:cNvPr>
          <p:cNvSpPr>
            <a:spLocks noGrp="1"/>
          </p:cNvSpPr>
          <p:nvPr/>
        </p:nvSpPr>
        <p:spPr>
          <a:xfrm>
            <a:off x="6381750" y="240030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03</a:t>
            </a:r>
          </a:p>
        </p:txBody>
      </p:sp>
      <p:sp>
        <p:nvSpPr>
          <p:cNvPr id="16" name="Rectangle 15">
            <a:extLst>
              <a:ext uri="{FF2B5EF4-FFF2-40B4-BE49-F238E27FC236}">
                <a16:creationId xmlns:a16="http://schemas.microsoft.com/office/drawing/2014/main" id="{D0D2E6FE-4746-4B99-91CD-FDB1D8693A0B}"/>
              </a:ext>
            </a:extLst>
          </p:cNvPr>
          <p:cNvSpPr>
            <a:spLocks noGrp="1"/>
          </p:cNvSpPr>
          <p:nvPr/>
        </p:nvSpPr>
        <p:spPr>
          <a:xfrm>
            <a:off x="6372225" y="268605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Ризик</a:t>
            </a:r>
          </a:p>
        </p:txBody>
      </p:sp>
      <p:sp>
        <p:nvSpPr>
          <p:cNvPr id="17" name="Rectangle 16">
            <a:extLst>
              <a:ext uri="{FF2B5EF4-FFF2-40B4-BE49-F238E27FC236}">
                <a16:creationId xmlns:a16="http://schemas.microsoft.com/office/drawing/2014/main" id="{8FF8B211-4887-456F-A798-DF0D04E7961B}"/>
              </a:ext>
            </a:extLst>
          </p:cNvPr>
          <p:cNvSpPr>
            <a:spLocks noGrp="1"/>
          </p:cNvSpPr>
          <p:nvPr/>
        </p:nvSpPr>
        <p:spPr>
          <a:xfrm>
            <a:off x="6381750" y="307657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утицај и вероватноћа</a:t>
            </a:r>
          </a:p>
        </p:txBody>
      </p:sp>
      <p:sp>
        <p:nvSpPr>
          <p:cNvPr id="18" name="Rounded Rectangle 17">
            <a:extLst>
              <a:ext uri="{FF2B5EF4-FFF2-40B4-BE49-F238E27FC236}">
                <a16:creationId xmlns:a16="http://schemas.microsoft.com/office/drawing/2014/main" id="{44508DBB-5B19-4CFC-A258-5685D3E60C1E}"/>
              </a:ext>
            </a:extLst>
          </p:cNvPr>
          <p:cNvSpPr>
            <a:spLocks noGrp="1"/>
          </p:cNvSpPr>
          <p:nvPr/>
        </p:nvSpPr>
        <p:spPr>
          <a:xfrm>
            <a:off x="8996363" y="2286000"/>
            <a:ext cx="2471738" cy="1257300"/>
          </a:xfrm>
          <a:prstGeom prst="roundRect">
            <a:avLst>
              <a:gd name="adj" fmla="val 10606"/>
            </a:avLst>
          </a:prstGeom>
          <a:solidFill>
            <a:srgbClr val="EDF8F2"/>
          </a:solidFill>
          <a:ln w="9525">
            <a:solidFill>
              <a:srgbClr val="D7DEE8"/>
            </a:solidFill>
            <a:prstDash val="solid"/>
          </a:ln>
        </p:spPr>
        <p:style>
          <a:lnRef idx="0">
            <a:scrgbClr r="0" g="0" b="0"/>
          </a:lnRef>
          <a:fillRef idx="0">
            <a:scrgbClr r="0" g="0" b="0"/>
          </a:fillRef>
          <a:effectRef idx="4">
            <a:scrgbClr r="0" g="0" b="0"/>
          </a:effectRef>
          <a:fontRef idx="major"/>
        </p:style>
      </p:sp>
      <p:sp>
        <p:nvSpPr>
          <p:cNvPr id="19" name="Rectangle 18">
            <a:extLst>
              <a:ext uri="{FF2B5EF4-FFF2-40B4-BE49-F238E27FC236}">
                <a16:creationId xmlns:a16="http://schemas.microsoft.com/office/drawing/2014/main" id="{CEE5A16A-4475-408D-9D4D-F4483731BF4B}"/>
              </a:ext>
            </a:extLst>
          </p:cNvPr>
          <p:cNvSpPr>
            <a:spLocks noGrp="1"/>
          </p:cNvSpPr>
          <p:nvPr/>
        </p:nvSpPr>
        <p:spPr>
          <a:xfrm>
            <a:off x="9139238" y="2400300"/>
            <a:ext cx="2185988" cy="180975"/>
          </a:xfrm>
          <a:prstGeom prst="rect">
            <a:avLst/>
          </a:prstGeom>
          <a:noFill/>
          <a:ln w="0">
            <a:noFill/>
          </a:ln>
        </p:spPr>
        <p:txBody>
          <a:bodyPr wrap="square" lIns="0" tIns="0" rIns="0" bIns="0" anchor="t">
            <a:normAutofit fontScale="97018"/>
          </a:bodyPr>
          <a:lstStyle/>
          <a:p>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a:ext uri="{FF2B5EF4-FFF2-40B4-BE49-F238E27FC236}">
                <a16:creationId xmlns:a16="http://schemas.microsoft.com/office/drawing/2014/main" id="{54F86656-1FC6-4A3E-8C84-09241A18FB2C}"/>
              </a:ext>
            </a:extLst>
          </p:cNvPr>
          <p:cNvSpPr>
            <a:spLocks noGrp="1"/>
          </p:cNvSpPr>
          <p:nvPr/>
        </p:nvSpPr>
        <p:spPr>
          <a:xfrm>
            <a:off x="9129713" y="2686050"/>
            <a:ext cx="2205038" cy="323850"/>
          </a:xfrm>
          <a:prstGeom prst="rect">
            <a:avLst/>
          </a:prstGeom>
          <a:noFill/>
          <a:ln w="0">
            <a:noFill/>
          </a:ln>
        </p:spPr>
        <p:txBody>
          <a:bodyPr wrap="square" lIns="0" tIns="0" rIns="0" bIns="0" anchor="ctr">
            <a:normAutofit/>
          </a:bodyPr>
          <a:lstStyle/>
          <a:p>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Преглед</a:t>
            </a:r>
          </a:p>
        </p:txBody>
      </p:sp>
      <p:sp>
        <p:nvSpPr>
          <p:cNvPr id="21" name="Rectangle 20">
            <a:extLst>
              <a:ext uri="{FF2B5EF4-FFF2-40B4-BE49-F238E27FC236}">
                <a16:creationId xmlns:a16="http://schemas.microsoft.com/office/drawing/2014/main" id="{E89ED948-FA06-449F-9987-501CD50748B1}"/>
              </a:ext>
            </a:extLst>
          </p:cNvPr>
          <p:cNvSpPr>
            <a:spLocks noGrp="1"/>
          </p:cNvSpPr>
          <p:nvPr/>
        </p:nvSpPr>
        <p:spPr>
          <a:xfrm>
            <a:off x="9139238" y="3076575"/>
            <a:ext cx="2185988" cy="323850"/>
          </a:xfrm>
          <a:prstGeom prst="rect">
            <a:avLst/>
          </a:prstGeom>
          <a:noFill/>
          <a:ln w="0">
            <a:noFill/>
          </a:ln>
        </p:spPr>
        <p:txBody>
          <a:bodyPr wrap="square" lIns="0" tIns="0" rIns="0" bIns="0" anchor="ctr">
            <a:normAutofit/>
          </a:bodyPr>
          <a:lstStyle/>
          <a:p>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потврда да одлука још важи</a:t>
            </a:r>
          </a:p>
        </p:txBody>
      </p:sp>
      <p:cxnSp>
        <p:nvCxnSpPr>
          <p:cNvPr id="127" name="Straight Arrow Connector 126"/>
          <p:cNvCxnSpPr>
            <a:stCxn id="6" idx="3"/>
            <a:endCxn id="10" idx="1"/>
          </p:cNvCxnSpPr>
          <p:nvPr/>
        </p:nvCxnSpPr>
        <p:spPr>
          <a:xfrm>
            <a:off x="3195638" y="2914650"/>
            <a:ext cx="285750" cy="0"/>
          </a:xfrm>
          <a:prstGeom prst="straightConnector1">
            <a:avLst/>
          </a:prstGeom>
          <a:ln w="13335">
            <a:solidFill>
              <a:srgbClr val="748092"/>
            </a:solidFill>
            <a:prstDash val="solid"/>
            <a:tailEnd type="arrow" w="sm" len="sm"/>
          </a:ln>
        </p:spPr>
      </p:cxnSp>
      <p:cxnSp>
        <p:nvCxnSpPr>
          <p:cNvPr id="128" name="Straight Arrow Connector 127"/>
          <p:cNvCxnSpPr>
            <a:stCxn id="10" idx="3"/>
            <a:endCxn id="14" idx="1"/>
          </p:cNvCxnSpPr>
          <p:nvPr/>
        </p:nvCxnSpPr>
        <p:spPr>
          <a:xfrm>
            <a:off x="5953126" y="2914650"/>
            <a:ext cx="285749" cy="0"/>
          </a:xfrm>
          <a:prstGeom prst="straightConnector1">
            <a:avLst/>
          </a:prstGeom>
          <a:ln w="13335">
            <a:solidFill>
              <a:srgbClr val="748092"/>
            </a:solidFill>
            <a:prstDash val="solid"/>
            <a:tailEnd type="arrow" w="sm" len="sm"/>
          </a:ln>
        </p:spPr>
      </p:cxnSp>
      <p:cxnSp>
        <p:nvCxnSpPr>
          <p:cNvPr id="129" name="Straight Arrow Connector 128"/>
          <p:cNvCxnSpPr>
            <a:stCxn id="14" idx="3"/>
            <a:endCxn id="18" idx="1"/>
          </p:cNvCxnSpPr>
          <p:nvPr/>
        </p:nvCxnSpPr>
        <p:spPr>
          <a:xfrm>
            <a:off x="8710613" y="2914650"/>
            <a:ext cx="285750" cy="0"/>
          </a:xfrm>
          <a:prstGeom prst="straightConnector1">
            <a:avLst/>
          </a:prstGeom>
          <a:ln w="13335">
            <a:solidFill>
              <a:srgbClr val="748092"/>
            </a:solidFill>
            <a:prstDash val="solid"/>
            <a:tailEnd type="arrow" w="sm" len="sm"/>
          </a:ln>
        </p:spPr>
      </p:cxnSp>
      <p:sp>
        <p:nvSpPr>
          <p:cNvPr id="25" name="Rounded Rectangle 24">
            <a:extLst>
              <a:ext uri="{FF2B5EF4-FFF2-40B4-BE49-F238E27FC236}">
                <a16:creationId xmlns:a16="http://schemas.microsoft.com/office/drawing/2014/main" id="{B375E0F0-04D9-4DE7-A641-FFA9208C6C1D}"/>
              </a:ext>
            </a:extLst>
          </p:cNvPr>
          <p:cNvSpPr>
            <a:spLocks noGrp="1"/>
          </p:cNvSpPr>
          <p:nvPr/>
        </p:nvSpPr>
        <p:spPr>
          <a:xfrm>
            <a:off x="1428750" y="4114800"/>
            <a:ext cx="9334500" cy="895350"/>
          </a:xfrm>
          <a:prstGeom prst="roundRect">
            <a:avLst>
              <a:gd name="adj" fmla="val 13830"/>
            </a:avLst>
          </a:prstGeom>
          <a:solidFill>
            <a:srgbClr val="EEF3FF"/>
          </a:solidFill>
          <a:ln w="9525">
            <a:solidFill>
              <a:srgbClr val="D7DEE8"/>
            </a:solidFill>
            <a:prstDash val="solid"/>
          </a:ln>
        </p:spPr>
      </p:sp>
      <p:sp>
        <p:nvSpPr>
          <p:cNvPr id="26" name="Rounded Rectangle 25">
            <a:extLst>
              <a:ext uri="{FF2B5EF4-FFF2-40B4-BE49-F238E27FC236}">
                <a16:creationId xmlns:a16="http://schemas.microsoft.com/office/drawing/2014/main" id="{0BFF049F-A569-4643-A234-42053E8605E4}"/>
              </a:ext>
            </a:extLst>
          </p:cNvPr>
          <p:cNvSpPr>
            <a:spLocks noGrp="1"/>
          </p:cNvSpPr>
          <p:nvPr/>
        </p:nvSpPr>
        <p:spPr>
          <a:xfrm>
            <a:off x="1562100" y="4257675"/>
            <a:ext cx="57150" cy="609600"/>
          </a:xfrm>
          <a:prstGeom prst="roundRect">
            <a:avLst>
              <a:gd name="adj" fmla="val 50000"/>
            </a:avLst>
          </a:prstGeom>
          <a:solidFill>
            <a:srgbClr val="2F5EF5"/>
          </a:solidFill>
          <a:ln w="0">
            <a:noFill/>
          </a:ln>
        </p:spPr>
      </p:sp>
      <p:sp>
        <p:nvSpPr>
          <p:cNvPr id="77" name="Rounded Rectangle 76">
            <a:extLst>
              <a:ext uri="{FF2B5EF4-FFF2-40B4-BE49-F238E27FC236}">
                <a16:creationId xmlns:a16="http://schemas.microsoft.com/office/drawing/2014/main" id="{9FA7CD20-E19E-400A-85AC-AF252F71BD70}"/>
              </a:ext>
            </a:extLst>
          </p:cNvPr>
          <p:cNvSpPr>
            <a:spLocks noGrp="1"/>
          </p:cNvSpPr>
          <p:nvPr/>
        </p:nvSpPr>
        <p:spPr>
          <a:xfrm>
            <a:off x="914400" y="4095750"/>
            <a:ext cx="10363200" cy="1257300"/>
          </a:xfrm>
          <a:prstGeom prst="roundRect">
            <a:avLst>
              <a:gd name="adj" fmla="val 8046"/>
            </a:avLst>
          </a:prstGeom>
          <a:solidFill>
            <a:srgbClr val="EEF3FF"/>
          </a:solidFill>
          <a:ln w="8573">
            <a:solidFill>
              <a:srgbClr val="CAD7F2"/>
            </a:solidFill>
            <a:prstDash val="solid"/>
          </a:ln>
        </p:spPr>
      </p:sp>
      <p:sp>
        <p:nvSpPr>
          <p:cNvPr id="78" name="Rounded Rectangle 77">
            <a:extLst>
              <a:ext uri="{FF2B5EF4-FFF2-40B4-BE49-F238E27FC236}">
                <a16:creationId xmlns:a16="http://schemas.microsoft.com/office/drawing/2014/main" id="{50BB9DE1-8DDB-4BB2-9A24-B683DD826791}"/>
              </a:ext>
            </a:extLst>
          </p:cNvPr>
          <p:cNvSpPr>
            <a:spLocks noGrp="1"/>
          </p:cNvSpPr>
          <p:nvPr/>
        </p:nvSpPr>
        <p:spPr>
          <a:xfrm>
            <a:off x="1085850" y="4248150"/>
            <a:ext cx="45719" cy="895350"/>
          </a:xfrm>
          <a:prstGeom prst="roundRect">
            <a:avLst>
              <a:gd name="adj" fmla="val 50000"/>
            </a:avLst>
          </a:prstGeom>
          <a:solidFill>
            <a:srgbClr val="2F5EF5"/>
          </a:solidFill>
          <a:ln w="0">
            <a:noFill/>
          </a:ln>
        </p:spPr>
      </p:sp>
      <p:sp>
        <p:nvSpPr>
          <p:cNvPr id="79" name="Rectangle 78">
            <a:extLst>
              <a:ext uri="{FF2B5EF4-FFF2-40B4-BE49-F238E27FC236}">
                <a16:creationId xmlns:a16="http://schemas.microsoft.com/office/drawing/2014/main" id="{604D988A-FA2B-4BDA-A1C9-D131DA8F2945}"/>
              </a:ext>
            </a:extLst>
          </p:cNvPr>
          <p:cNvSpPr>
            <a:spLocks noGrp="1"/>
          </p:cNvSpPr>
          <p:nvPr/>
        </p:nvSpPr>
        <p:spPr>
          <a:xfrm>
            <a:off x="1333500" y="4200525"/>
            <a:ext cx="9639300" cy="190500"/>
          </a:xfrm>
          <a:prstGeom prst="rect">
            <a:avLst/>
          </a:prstGeom>
          <a:noFill/>
          <a:ln w="0">
            <a:noFill/>
          </a:ln>
        </p:spPr>
        <p:txBody>
          <a:bodyPr wrap="square" lIns="0" tIns="0" rIns="0" bIns="0">
            <a:noAutofit/>
          </a:bodyPr>
          <a:lstStyle/>
          <a:p>
            <a:pPr>
              <a:buNone/>
              <a:defRPr sz="1013" b="1">
                <a:solidFill>
                  <a:srgbClr val="2854D7"/>
                </a:solidFill>
                <a:latin typeface="Aptos"/>
                <a:ea typeface="Aptos"/>
                <a:cs typeface="Aptos"/>
              </a:defRPr>
            </a:pPr>
            <a:r>
              <a:rPr sz="1200" b="1">
                <a:solidFill>
                  <a:srgbClr val="2854D7"/>
                </a:solidFill>
                <a:latin typeface="Aptos"/>
                <a:ea typeface="Aptos"/>
                <a:cs typeface="Aptos"/>
              </a:rPr>
              <a:t>ЗА ЗАВРШЕТАК</a:t>
            </a:r>
          </a:p>
        </p:txBody>
      </p:sp>
      <p:sp>
        <p:nvSpPr>
          <p:cNvPr id="80" name="Rectangle 79">
            <a:extLst>
              <a:ext uri="{FF2B5EF4-FFF2-40B4-BE49-F238E27FC236}">
                <a16:creationId xmlns:a16="http://schemas.microsoft.com/office/drawing/2014/main" id="{4F7723F5-97B4-45AE-9E49-6E760596DA80}"/>
              </a:ext>
            </a:extLst>
          </p:cNvPr>
          <p:cNvSpPr>
            <a:spLocks noGrp="1"/>
          </p:cNvSpPr>
          <p:nvPr/>
        </p:nvSpPr>
        <p:spPr>
          <a:xfrm>
            <a:off x="1333500" y="4429125"/>
            <a:ext cx="9639300" cy="371475"/>
          </a:xfrm>
          <a:prstGeom prst="rect">
            <a:avLst/>
          </a:prstGeom>
          <a:noFill/>
          <a:ln w="0">
            <a:noFill/>
          </a:ln>
        </p:spPr>
        <p:txBody>
          <a:bodyPr wrap="square" lIns="0" tIns="0" rIns="0" bIns="0" anchor="ctr">
            <a:normAutofit/>
          </a:bodyPr>
          <a:lstStyle/>
          <a:p>
            <a:pPr>
              <a:buNone/>
              <a:defRPr sz="1388" b="1">
                <a:solidFill>
                  <a:srgbClr val="1B2432"/>
                </a:solidFill>
                <a:latin typeface="Aptos"/>
                <a:ea typeface="Aptos"/>
                <a:cs typeface="Aptos"/>
              </a:defRPr>
            </a:pPr>
            <a:r>
              <a:rPr sz="1388" b="1">
                <a:solidFill>
                  <a:srgbClr val="1B2432"/>
                </a:solidFill>
                <a:latin typeface="Aptos"/>
                <a:ea typeface="Aptos"/>
                <a:cs typeface="Aptos"/>
              </a:rPr>
              <a:t>Коју одлуку не бисте смели да заснивате само на улози и који додатни атрибут јој даје смисао?</a:t>
            </a:r>
          </a:p>
        </p:txBody>
      </p:sp>
      <p:sp>
        <p:nvSpPr>
          <p:cNvPr id="81" name="Rectangle 80">
            <a:extLst>
              <a:ext uri="{FF2B5EF4-FFF2-40B4-BE49-F238E27FC236}">
                <a16:creationId xmlns:a16="http://schemas.microsoft.com/office/drawing/2014/main" id="{5C4B5681-9A54-46E9-A2A2-04DB980C66CC}"/>
              </a:ext>
            </a:extLst>
          </p:cNvPr>
          <p:cNvSpPr>
            <a:spLocks noGrp="1"/>
          </p:cNvSpPr>
          <p:nvPr/>
        </p:nvSpPr>
        <p:spPr>
          <a:xfrm>
            <a:off x="1314450" y="4848225"/>
            <a:ext cx="9639300" cy="285750"/>
          </a:xfrm>
          <a:prstGeom prst="rect">
            <a:avLst/>
          </a:prstGeom>
          <a:noFill/>
          <a:ln w="0">
            <a:noFill/>
          </a:ln>
        </p:spPr>
        <p:txBody>
          <a:bodyPr wrap="square" lIns="0" tIns="0" rIns="0" bIns="0" anchor="ctr">
            <a:normAutofit/>
          </a:bodyPr>
          <a:lstStyle/>
          <a:p>
            <a:pPr>
              <a:buNone/>
              <a:defRPr sz="1275" b="0">
                <a:solidFill>
                  <a:srgbClr val="52637B"/>
                </a:solidFill>
                <a:latin typeface="Aptos"/>
                <a:ea typeface="Aptos"/>
                <a:cs typeface="Aptos"/>
              </a:defRPr>
            </a:pPr>
            <a:r>
              <a:rPr sz="1275" b="0" dirty="0" err="1">
                <a:solidFill>
                  <a:srgbClr val="52637B"/>
                </a:solidFill>
                <a:latin typeface="Aptos"/>
                <a:ea typeface="Aptos"/>
                <a:cs typeface="Aptos"/>
              </a:rPr>
              <a:t>Следећи</a:t>
            </a:r>
            <a:r>
              <a:rPr sz="1275" b="0" dirty="0">
                <a:solidFill>
                  <a:srgbClr val="52637B"/>
                </a:solidFill>
                <a:latin typeface="Aptos"/>
                <a:ea typeface="Aptos"/>
                <a:cs typeface="Aptos"/>
              </a:rPr>
              <a:t> </a:t>
            </a:r>
            <a:r>
              <a:rPr sz="1275" b="0" dirty="0" err="1">
                <a:solidFill>
                  <a:srgbClr val="52637B"/>
                </a:solidFill>
                <a:latin typeface="Aptos"/>
                <a:ea typeface="Aptos"/>
                <a:cs typeface="Aptos"/>
              </a:rPr>
              <a:t>корак</a:t>
            </a:r>
            <a:r>
              <a:rPr sz="1275" b="0" dirty="0">
                <a:solidFill>
                  <a:srgbClr val="52637B"/>
                </a:solidFill>
                <a:latin typeface="Aptos"/>
                <a:ea typeface="Aptos"/>
                <a:cs typeface="Aptos"/>
              </a:rPr>
              <a:t>: </a:t>
            </a:r>
            <a:r>
              <a:rPr sz="1275" b="0" dirty="0" err="1">
                <a:solidFill>
                  <a:srgbClr val="52637B"/>
                </a:solidFill>
                <a:latin typeface="Aptos"/>
                <a:ea typeface="Aptos"/>
                <a:cs typeface="Aptos"/>
              </a:rPr>
              <a:t>применити</a:t>
            </a:r>
            <a:r>
              <a:rPr sz="1275" b="0" dirty="0">
                <a:solidFill>
                  <a:srgbClr val="52637B"/>
                </a:solidFill>
                <a:latin typeface="Aptos"/>
                <a:ea typeface="Aptos"/>
                <a:cs typeface="Aptos"/>
              </a:rPr>
              <a:t> </a:t>
            </a:r>
            <a:r>
              <a:rPr sz="1275" b="0" dirty="0" err="1">
                <a:solidFill>
                  <a:srgbClr val="52637B"/>
                </a:solidFill>
                <a:latin typeface="Aptos"/>
                <a:ea typeface="Aptos"/>
                <a:cs typeface="Aptos"/>
              </a:rPr>
              <a:t>исти</a:t>
            </a:r>
            <a:r>
              <a:rPr sz="1275" b="0" dirty="0">
                <a:solidFill>
                  <a:srgbClr val="52637B"/>
                </a:solidFill>
                <a:latin typeface="Aptos"/>
                <a:ea typeface="Aptos"/>
                <a:cs typeface="Aptos"/>
              </a:rPr>
              <a:t> </a:t>
            </a:r>
            <a:r>
              <a:rPr sz="1275" b="0" dirty="0" err="1">
                <a:solidFill>
                  <a:srgbClr val="52637B"/>
                </a:solidFill>
                <a:latin typeface="Aptos"/>
                <a:ea typeface="Aptos"/>
                <a:cs typeface="Aptos"/>
              </a:rPr>
              <a:t>модел</a:t>
            </a:r>
            <a:r>
              <a:rPr sz="1275" b="0" dirty="0">
                <a:solidFill>
                  <a:srgbClr val="52637B"/>
                </a:solidFill>
                <a:latin typeface="Aptos"/>
                <a:ea typeface="Aptos"/>
                <a:cs typeface="Aptos"/>
              </a:rPr>
              <a:t> </a:t>
            </a:r>
            <a:r>
              <a:rPr sz="1275" b="0" dirty="0" err="1">
                <a:solidFill>
                  <a:srgbClr val="52637B"/>
                </a:solidFill>
                <a:latin typeface="Aptos"/>
                <a:ea typeface="Aptos"/>
                <a:cs typeface="Aptos"/>
              </a:rPr>
              <a:t>на</a:t>
            </a:r>
            <a:r>
              <a:rPr sz="1275" b="0" dirty="0">
                <a:solidFill>
                  <a:srgbClr val="52637B"/>
                </a:solidFill>
                <a:latin typeface="Aptos"/>
                <a:ea typeface="Aptos"/>
                <a:cs typeface="Aptos"/>
              </a:rPr>
              <a:t> </a:t>
            </a:r>
            <a:r>
              <a:rPr sz="1275" b="0" dirty="0" err="1">
                <a:solidFill>
                  <a:srgbClr val="52637B"/>
                </a:solidFill>
                <a:latin typeface="Aptos"/>
                <a:ea typeface="Aptos"/>
                <a:cs typeface="Aptos"/>
              </a:rPr>
              <a:t>једну</a:t>
            </a:r>
            <a:r>
              <a:rPr sz="1275" b="0" dirty="0">
                <a:solidFill>
                  <a:srgbClr val="52637B"/>
                </a:solidFill>
                <a:latin typeface="Aptos"/>
                <a:ea typeface="Aptos"/>
                <a:cs typeface="Aptos"/>
              </a:rPr>
              <a:t> </a:t>
            </a:r>
            <a:r>
              <a:rPr sz="1275" b="0" dirty="0" err="1">
                <a:solidFill>
                  <a:srgbClr val="52637B"/>
                </a:solidFill>
                <a:latin typeface="Aptos"/>
                <a:ea typeface="Aptos"/>
                <a:cs typeface="Aptos"/>
              </a:rPr>
              <a:t>реалну</a:t>
            </a:r>
            <a:r>
              <a:rPr sz="1275" b="0" dirty="0">
                <a:solidFill>
                  <a:srgbClr val="52637B"/>
                </a:solidFill>
                <a:latin typeface="Aptos"/>
                <a:ea typeface="Aptos"/>
                <a:cs typeface="Aptos"/>
              </a:rPr>
              <a:t> </a:t>
            </a:r>
            <a:r>
              <a:rPr sz="1275" b="0" dirty="0" err="1">
                <a:solidFill>
                  <a:srgbClr val="52637B"/>
                </a:solidFill>
                <a:latin typeface="Aptos"/>
                <a:ea typeface="Aptos"/>
                <a:cs typeface="Aptos"/>
              </a:rPr>
              <a:t>границу</a:t>
            </a:r>
            <a:r>
              <a:rPr sz="1275" b="0" dirty="0">
                <a:solidFill>
                  <a:srgbClr val="52637B"/>
                </a:solidFill>
                <a:latin typeface="Aptos"/>
                <a:ea typeface="Aptos"/>
                <a:cs typeface="Aptos"/>
              </a:rPr>
              <a:t> </a:t>
            </a:r>
            <a:r>
              <a:rPr sz="1275" b="0" dirty="0" err="1">
                <a:solidFill>
                  <a:srgbClr val="52637B"/>
                </a:solidFill>
                <a:latin typeface="Aptos"/>
                <a:ea typeface="Aptos"/>
                <a:cs typeface="Aptos"/>
              </a:rPr>
              <a:t>у</a:t>
            </a:r>
            <a:r>
              <a:rPr sz="1275" b="0" dirty="0">
                <a:solidFill>
                  <a:srgbClr val="52637B"/>
                </a:solidFill>
                <a:latin typeface="Aptos"/>
                <a:ea typeface="Aptos"/>
                <a:cs typeface="Aptos"/>
              </a:rPr>
              <a:t> </a:t>
            </a:r>
            <a:r>
              <a:rPr sz="1275" b="0" dirty="0" err="1">
                <a:solidFill>
                  <a:srgbClr val="52637B"/>
                </a:solidFill>
                <a:latin typeface="Aptos"/>
                <a:ea typeface="Aptos"/>
                <a:cs typeface="Aptos"/>
              </a:rPr>
              <a:t>сопственом</a:t>
            </a:r>
            <a:r>
              <a:rPr sz="1275" b="0" dirty="0">
                <a:solidFill>
                  <a:srgbClr val="52637B"/>
                </a:solidFill>
                <a:latin typeface="Aptos"/>
                <a:ea typeface="Aptos"/>
                <a:cs typeface="Aptos"/>
              </a:rPr>
              <a:t> </a:t>
            </a:r>
            <a:r>
              <a:rPr sz="1275" b="0" dirty="0" err="1">
                <a:solidFill>
                  <a:srgbClr val="52637B"/>
                </a:solidFill>
                <a:latin typeface="Aptos"/>
                <a:ea typeface="Aptos"/>
                <a:cs typeface="Aptos"/>
              </a:rPr>
              <a:t>пројекту</a:t>
            </a:r>
            <a:r>
              <a:rPr sz="1275" b="0" dirty="0">
                <a:solidFill>
                  <a:srgbClr val="52637B"/>
                </a:solidFill>
                <a:latin typeface="Aptos"/>
                <a:ea typeface="Aptos"/>
                <a:cs typeface="Aptos"/>
              </a:rPr>
              <a:t>.</a:t>
            </a:r>
          </a:p>
        </p:txBody>
      </p:sp>
    </p:spTree>
    <p:extLst>
      <p:ext uri="{BB962C8B-B14F-4D97-AF65-F5344CB8AC3E}">
        <p14:creationId xmlns:p14="http://schemas.microsoft.com/office/powerpoint/2010/main" val="20212191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9050" dist="9525" dir="5400000">
              <a:srgbClr val="000000">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9050" dist="9525" dir="5400000">
              <a:srgbClr val="000000">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2163</Words>
  <Application>Microsoft Macintosh PowerPoint</Application>
  <DocSecurity>0</DocSecurity>
  <PresentationFormat>Widescreen</PresentationFormat>
  <Paragraphs>348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Jovanović Danijel</cp:lastModifiedBy>
  <cp:revision>2</cp:revision>
  <dcterms:created xsi:type="dcterms:W3CDTF">2026-09-29T08:52:57Z</dcterms:created>
  <dcterms:modified xsi:type="dcterms:W3CDTF">2026-09-29T09:21:57Z</dcterms:modified>
</cp:coreProperties>
</file>