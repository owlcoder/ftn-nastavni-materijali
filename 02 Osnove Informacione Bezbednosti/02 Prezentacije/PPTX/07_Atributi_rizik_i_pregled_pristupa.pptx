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1719932ffa4ba5" /><Relationship Type="http://schemas.openxmlformats.org/officeDocument/2006/relationships/extended-properties" Target="/docProps/app.xml" Id="Re2e5fcfa67e24bf8" /><Relationship Type="http://schemas.openxmlformats.org/officeDocument/2006/relationships/officeDocument" Target="/ppt/presentation.xml" Id="R0c52d968f9f540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088ff5bb5a41d1"/>
  </p:sldMasterIdLst>
  <p:notesMasterIdLst>
    <p:notesMasterId xmlns:r="http://schemas.openxmlformats.org/officeDocument/2006/relationships" r:id="R8fe23a6ef99a49c4"/>
  </p:notesMasterIdLst>
  <p:sldIdLst>
    <p:sldId xmlns:r="http://schemas.openxmlformats.org/officeDocument/2006/relationships" id="256" r:id="Ra298f965c35442b8"/>
    <p:sldId xmlns:r="http://schemas.openxmlformats.org/officeDocument/2006/relationships" id="257" r:id="R3ec7fc1bf3144003"/>
    <p:sldId xmlns:r="http://schemas.openxmlformats.org/officeDocument/2006/relationships" id="258" r:id="R373b6f36715144d8"/>
    <p:sldId xmlns:r="http://schemas.openxmlformats.org/officeDocument/2006/relationships" id="259" r:id="Rb352c5c4aa814a2f"/>
    <p:sldId xmlns:r="http://schemas.openxmlformats.org/officeDocument/2006/relationships" id="260" r:id="Ra100689e96e54fc8"/>
    <p:sldId xmlns:r="http://schemas.openxmlformats.org/officeDocument/2006/relationships" id="261" r:id="R9a4f03d2a7da4c7e"/>
    <p:sldId xmlns:r="http://schemas.openxmlformats.org/officeDocument/2006/relationships" id="262" r:id="R172458b689224880"/>
    <p:sldId xmlns:r="http://schemas.openxmlformats.org/officeDocument/2006/relationships" id="263" r:id="R30e6feeb99c049e5"/>
    <p:sldId xmlns:r="http://schemas.openxmlformats.org/officeDocument/2006/relationships" id="264" r:id="R5182794d1c8b4564"/>
    <p:sldId xmlns:r="http://schemas.openxmlformats.org/officeDocument/2006/relationships" id="265" r:id="R00b14aa6ea3e4be6"/>
    <p:sldId xmlns:r="http://schemas.openxmlformats.org/officeDocument/2006/relationships" id="266" r:id="Rfc213597c7cf424e"/>
    <p:sldId xmlns:r="http://schemas.openxmlformats.org/officeDocument/2006/relationships" id="267" r:id="R90f611205cce494b"/>
    <p:sldId xmlns:r="http://schemas.openxmlformats.org/officeDocument/2006/relationships" id="268" r:id="Rd6b11f5d93944c9d"/>
    <p:sldId xmlns:r="http://schemas.openxmlformats.org/officeDocument/2006/relationships" id="269" r:id="R58a7884a27884af3"/>
    <p:sldId xmlns:r="http://schemas.openxmlformats.org/officeDocument/2006/relationships" id="270" r:id="R961597f3fc654903"/>
    <p:sldId xmlns:r="http://schemas.openxmlformats.org/officeDocument/2006/relationships" id="271" r:id="R14eb7f19510c4597"/>
    <p:sldId xmlns:r="http://schemas.openxmlformats.org/officeDocument/2006/relationships" id="272" r:id="R51b9ebf4fb3d4c1f"/>
    <p:sldId xmlns:r="http://schemas.openxmlformats.org/officeDocument/2006/relationships" id="273" r:id="R8c2a717ddf014023"/>
    <p:sldId xmlns:r="http://schemas.openxmlformats.org/officeDocument/2006/relationships" id="274" r:id="Rf1ecf2a35abe4f2c"/>
    <p:sldId xmlns:r="http://schemas.openxmlformats.org/officeDocument/2006/relationships" id="275" r:id="Refb4fbf3f35042fb"/>
    <p:sldId xmlns:r="http://schemas.openxmlformats.org/officeDocument/2006/relationships" id="276" r:id="Ra49762a27566437c"/>
    <p:sldId xmlns:r="http://schemas.openxmlformats.org/officeDocument/2006/relationships" id="277" r:id="Re98a582300eb4f74"/>
    <p:sldId xmlns:r="http://schemas.openxmlformats.org/officeDocument/2006/relationships" id="278" r:id="Rb90c8fb39f564e9f"/>
    <p:sldId xmlns:r="http://schemas.openxmlformats.org/officeDocument/2006/relationships" id="279" r:id="Ra8e75fb9a7b5425a"/>
    <p:sldId xmlns:r="http://schemas.openxmlformats.org/officeDocument/2006/relationships" id="280" r:id="Radaad07465f645d3"/>
    <p:sldId xmlns:r="http://schemas.openxmlformats.org/officeDocument/2006/relationships" id="281" r:id="R72d35d487e4f4dfa"/>
    <p:sldId xmlns:r="http://schemas.openxmlformats.org/officeDocument/2006/relationships" id="282" r:id="R334905c28af44ada"/>
    <p:sldId xmlns:r="http://schemas.openxmlformats.org/officeDocument/2006/relationships" id="283" r:id="R70dce28bf76e4269"/>
    <p:sldId xmlns:r="http://schemas.openxmlformats.org/officeDocument/2006/relationships" id="284" r:id="Rf8c397bbe1514f75"/>
    <p:sldId xmlns:r="http://schemas.openxmlformats.org/officeDocument/2006/relationships" id="285" r:id="Re658f929dc524cbf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76d06494dd4261" /><Relationship Type="http://schemas.openxmlformats.org/officeDocument/2006/relationships/slideMaster" Target="/ppt/slideMasters/slideMaster1.xml" Id="Ra1088ff5bb5a41d1" /><Relationship Type="http://schemas.openxmlformats.org/officeDocument/2006/relationships/notesMaster" Target="/ppt/notesMasters/notesMaster1.xml" Id="R8fe23a6ef99a49c4" /><Relationship Type="http://schemas.openxmlformats.org/officeDocument/2006/relationships/presProps" Target="/ppt/presProps.xml" Id="R02ab3f36b51f421e" /><Relationship Type="http://schemas.openxmlformats.org/officeDocument/2006/relationships/tableStyles" Target="/ppt/tableStyles.xml" Id="R97ece48cea6f4379" /><Relationship Type="http://schemas.openxmlformats.org/officeDocument/2006/relationships/slide" Target="/ppt/slides/slide1.xml" Id="Ra298f965c35442b8" /><Relationship Type="http://schemas.openxmlformats.org/officeDocument/2006/relationships/slide" Target="/ppt/slides/slide2.xml" Id="R3ec7fc1bf3144003" /><Relationship Type="http://schemas.openxmlformats.org/officeDocument/2006/relationships/slide" Target="/ppt/slides/slide3.xml" Id="R373b6f36715144d8" /><Relationship Type="http://schemas.openxmlformats.org/officeDocument/2006/relationships/slide" Target="/ppt/slides/slide4.xml" Id="Rb352c5c4aa814a2f" /><Relationship Type="http://schemas.openxmlformats.org/officeDocument/2006/relationships/slide" Target="/ppt/slides/slide5.xml" Id="Ra100689e96e54fc8" /><Relationship Type="http://schemas.openxmlformats.org/officeDocument/2006/relationships/slide" Target="/ppt/slides/slide6.xml" Id="R9a4f03d2a7da4c7e" /><Relationship Type="http://schemas.openxmlformats.org/officeDocument/2006/relationships/slide" Target="/ppt/slides/slide7.xml" Id="R172458b689224880" /><Relationship Type="http://schemas.openxmlformats.org/officeDocument/2006/relationships/slide" Target="/ppt/slides/slide8.xml" Id="R30e6feeb99c049e5" /><Relationship Type="http://schemas.openxmlformats.org/officeDocument/2006/relationships/slide" Target="/ppt/slides/slide9.xml" Id="R5182794d1c8b4564" /><Relationship Type="http://schemas.openxmlformats.org/officeDocument/2006/relationships/slide" Target="/ppt/slides/slide10.xml" Id="R00b14aa6ea3e4be6" /><Relationship Type="http://schemas.openxmlformats.org/officeDocument/2006/relationships/slide" Target="/ppt/slides/slide11.xml" Id="Rfc213597c7cf424e" /><Relationship Type="http://schemas.openxmlformats.org/officeDocument/2006/relationships/slide" Target="/ppt/slides/slide12.xml" Id="R90f611205cce494b" /><Relationship Type="http://schemas.openxmlformats.org/officeDocument/2006/relationships/slide" Target="/ppt/slides/slide13.xml" Id="Rd6b11f5d93944c9d" /><Relationship Type="http://schemas.openxmlformats.org/officeDocument/2006/relationships/slide" Target="/ppt/slides/slide14.xml" Id="R58a7884a27884af3" /><Relationship Type="http://schemas.openxmlformats.org/officeDocument/2006/relationships/slide" Target="/ppt/slides/slide15.xml" Id="R961597f3fc654903" /><Relationship Type="http://schemas.openxmlformats.org/officeDocument/2006/relationships/slide" Target="/ppt/slides/slide16.xml" Id="R14eb7f19510c4597" /><Relationship Type="http://schemas.openxmlformats.org/officeDocument/2006/relationships/slide" Target="/ppt/slides/slide17.xml" Id="R51b9ebf4fb3d4c1f" /><Relationship Type="http://schemas.openxmlformats.org/officeDocument/2006/relationships/slide" Target="/ppt/slides/slide18.xml" Id="R8c2a717ddf014023" /><Relationship Type="http://schemas.openxmlformats.org/officeDocument/2006/relationships/slide" Target="/ppt/slides/slide19.xml" Id="Rf1ecf2a35abe4f2c" /><Relationship Type="http://schemas.openxmlformats.org/officeDocument/2006/relationships/slide" Target="/ppt/slides/slide20.xml" Id="Refb4fbf3f35042fb" /><Relationship Type="http://schemas.openxmlformats.org/officeDocument/2006/relationships/slide" Target="/ppt/slides/slide21.xml" Id="Ra49762a27566437c" /><Relationship Type="http://schemas.openxmlformats.org/officeDocument/2006/relationships/slide" Target="/ppt/slides/slide22.xml" Id="Re98a582300eb4f74" /><Relationship Type="http://schemas.openxmlformats.org/officeDocument/2006/relationships/slide" Target="/ppt/slides/slide23.xml" Id="Rb90c8fb39f564e9f" /><Relationship Type="http://schemas.openxmlformats.org/officeDocument/2006/relationships/slide" Target="/ppt/slides/slide24.xml" Id="Ra8e75fb9a7b5425a" /><Relationship Type="http://schemas.openxmlformats.org/officeDocument/2006/relationships/slide" Target="/ppt/slides/slide25.xml" Id="Radaad07465f645d3" /><Relationship Type="http://schemas.openxmlformats.org/officeDocument/2006/relationships/slide" Target="/ppt/slides/slide26.xml" Id="R72d35d487e4f4dfa" /><Relationship Type="http://schemas.openxmlformats.org/officeDocument/2006/relationships/slide" Target="/ppt/slides/slide27.xml" Id="R334905c28af44ada" /><Relationship Type="http://schemas.openxmlformats.org/officeDocument/2006/relationships/slide" Target="/ppt/slides/slide28.xml" Id="R70dce28bf76e4269" /><Relationship Type="http://schemas.openxmlformats.org/officeDocument/2006/relationships/slide" Target="/ppt/slides/slide29.xml" Id="Rf8c397bbe1514f75" /><Relationship Type="http://schemas.openxmlformats.org/officeDocument/2006/relationships/slide" Target="/ppt/slides/slide30.xml" Id="Re658f929dc524c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f9fb18eef344e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ec23b9458943d4" /><Relationship Type="http://schemas.openxmlformats.org/officeDocument/2006/relationships/notesMaster" Target="/ppt/notesMasters/notesMaster1.xml" Id="Rb6a40714d953440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114e1b53c047d1" /><Relationship Type="http://schemas.openxmlformats.org/officeDocument/2006/relationships/notesMaster" Target="/ppt/notesMasters/notesMaster1.xml" Id="R892dbaf746084f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023e742b074fe1" /><Relationship Type="http://schemas.openxmlformats.org/officeDocument/2006/relationships/notesMaster" Target="/ppt/notesMasters/notesMaster1.xml" Id="R419fb23a342d465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2f7862aff641b8" /><Relationship Type="http://schemas.openxmlformats.org/officeDocument/2006/relationships/notesMaster" Target="/ppt/notesMasters/notesMaster1.xml" Id="R1d1b8df63be848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17201e750b4081" /><Relationship Type="http://schemas.openxmlformats.org/officeDocument/2006/relationships/notesMaster" Target="/ppt/notesMasters/notesMaster1.xml" Id="Rb137c1e002cc445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7f6ab7ae5a341eb" /><Relationship Type="http://schemas.openxmlformats.org/officeDocument/2006/relationships/notesMaster" Target="/ppt/notesMasters/notesMaster1.xml" Id="R1c40c004f0f342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896d11123504c3f" /><Relationship Type="http://schemas.openxmlformats.org/officeDocument/2006/relationships/notesMaster" Target="/ppt/notesMasters/notesMaster1.xml" Id="R392b3399ea97496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f6cbdfd3c44cdc" /><Relationship Type="http://schemas.openxmlformats.org/officeDocument/2006/relationships/notesMaster" Target="/ppt/notesMasters/notesMaster1.xml" Id="Rac82235e87944e7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a7c580e961e4e11" /><Relationship Type="http://schemas.openxmlformats.org/officeDocument/2006/relationships/notesMaster" Target="/ppt/notesMasters/notesMaster1.xml" Id="Rb6ae07a938c0443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ea340f625cd43bb" /><Relationship Type="http://schemas.openxmlformats.org/officeDocument/2006/relationships/notesMaster" Target="/ppt/notesMasters/notesMaster1.xml" Id="Rf79d7673442f489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2ddbf5aa3424507" /><Relationship Type="http://schemas.openxmlformats.org/officeDocument/2006/relationships/notesMaster" Target="/ppt/notesMasters/notesMaster1.xml" Id="R6b49acb1717749d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900530d69dc4ac0" /><Relationship Type="http://schemas.openxmlformats.org/officeDocument/2006/relationships/notesMaster" Target="/ppt/notesMasters/notesMaster1.xml" Id="Rd9d6204e99b7428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daa4ad6b6c94931" /><Relationship Type="http://schemas.openxmlformats.org/officeDocument/2006/relationships/notesMaster" Target="/ppt/notesMasters/notesMaster1.xml" Id="R5e6780e8e2a14b4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8c8d75af9924a0b" /><Relationship Type="http://schemas.openxmlformats.org/officeDocument/2006/relationships/notesMaster" Target="/ppt/notesMasters/notesMaster1.xml" Id="R9e6e418bee95419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2d0bb367dee43f5" /><Relationship Type="http://schemas.openxmlformats.org/officeDocument/2006/relationships/notesMaster" Target="/ppt/notesMasters/notesMaster1.xml" Id="R3d68357e9120492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d7af28daab64b81" /><Relationship Type="http://schemas.openxmlformats.org/officeDocument/2006/relationships/notesMaster" Target="/ppt/notesMasters/notesMaster1.xml" Id="R1ae1cd4279694f4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d2652e9e34e4ec0" /><Relationship Type="http://schemas.openxmlformats.org/officeDocument/2006/relationships/notesMaster" Target="/ppt/notesMasters/notesMaster1.xml" Id="R32bdbf8bbb5b4b7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77634795d2f4321" /><Relationship Type="http://schemas.openxmlformats.org/officeDocument/2006/relationships/notesMaster" Target="/ppt/notesMasters/notesMaster1.xml" Id="Rb99fdb866020427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f62c018ea984ba9" /><Relationship Type="http://schemas.openxmlformats.org/officeDocument/2006/relationships/notesMaster" Target="/ppt/notesMasters/notesMaster1.xml" Id="R07e03ebeee594fb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77b1f1a3646436c" /><Relationship Type="http://schemas.openxmlformats.org/officeDocument/2006/relationships/notesMaster" Target="/ppt/notesMasters/notesMaster1.xml" Id="R847f53e72605472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831dbe3b5994285" /><Relationship Type="http://schemas.openxmlformats.org/officeDocument/2006/relationships/notesMaster" Target="/ppt/notesMasters/notesMaster1.xml" Id="R998c8fb9628a452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640fdb9c5bd4418" /><Relationship Type="http://schemas.openxmlformats.org/officeDocument/2006/relationships/notesMaster" Target="/ppt/notesMasters/notesMaster1.xml" Id="R72a8835184d6446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eb9b083985c4a37" /><Relationship Type="http://schemas.openxmlformats.org/officeDocument/2006/relationships/notesMaster" Target="/ppt/notesMasters/notesMaster1.xml" Id="Ra5ba8871d52d4da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0a04cf65fb24dcd" /><Relationship Type="http://schemas.openxmlformats.org/officeDocument/2006/relationships/notesMaster" Target="/ppt/notesMasters/notesMaster1.xml" Id="R3b3acbe0c77a49e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f0dcd7d7d194ede" /><Relationship Type="http://schemas.openxmlformats.org/officeDocument/2006/relationships/notesMaster" Target="/ppt/notesMasters/notesMaster1.xml" Id="R119575d046e2499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49bb4b152bf41b4" /><Relationship Type="http://schemas.openxmlformats.org/officeDocument/2006/relationships/notesMaster" Target="/ppt/notesMasters/notesMaster1.xml" Id="R3c9ead045cc24cd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cf7bb7463504172" /><Relationship Type="http://schemas.openxmlformats.org/officeDocument/2006/relationships/notesMaster" Target="/ppt/notesMasters/notesMaster1.xml" Id="R62ee26ee2d2f451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9f9481bd9114676" /><Relationship Type="http://schemas.openxmlformats.org/officeDocument/2006/relationships/notesMaster" Target="/ppt/notesMasters/notesMaster1.xml" Id="Rd55c2e7c5ba949c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646002e1eec4b52" /><Relationship Type="http://schemas.openxmlformats.org/officeDocument/2006/relationships/notesMaster" Target="/ppt/notesMasters/notesMaster1.xml" Id="R195b53c5cfdc421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c27283f8cc541e6" /><Relationship Type="http://schemas.openxmlformats.org/officeDocument/2006/relationships/notesMaster" Target="/ppt/notesMasters/notesMaster1.xml" Id="R16b864dc2beb4c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Академска 2026/27.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Презентација је организована у четири тематске целине. Опсези слајдова су наведени у садржају.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Одлука спаја улогу са контекстом субјекта, ресурса, радње и окружења.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NIST, Attribute Based Access Control and SP 800-162. https://csrc.nist.gov/projects/attribute-based-access-control Снимак контекста долази из познатих извора. Атрибут који клијент пошаље не постаје поуздан само зато што постоји у захтеву.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Мала правила дају предвидљив исход и разлог који се може проверити тестом.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Политика проверава атрибуте контекста редом, кроз мала правила са једним разлогом одбијања.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Тест мења један атрибут контекста и очекује одлуку са стабилним разлогом.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NIST, Attribute Based Access Control and SP 800-162. https://csrc.nist.gov/projects/attribute-based-access-control Ово је стратегија спајања правила у приказаном коду. Није опште правило свих ABAC система.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Процена повезује имовину, сценарио, контролу и преосталу изложеност.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NIST, Attribute Based Access Control and SP 800-162. https://csrc.nist.gov/projects/attribute-based-access-control Прихватање ризика не замењује његово образложење. Промена имовине или контроле покреће нову процену.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Запис садржи контекст потребан за реконструкцију одлуке, без тајни и непотребних личних података.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NIST, Attribute Based Access Control and SP 800-162. https://csrc.nist.gov/projects/attribute-based-access-control Сам назив улоге није довољан доказ раздвајања. Провера обухвата стварно доступне радње у целокупном току.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Право се потврђује док постоји потреба, а одлука оставља јасан траг.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NIST, Attribute Based Access Control and SP 800-162. https://csrc.nist.gov/projects/attribute-based-access-control Измена улоге, ресурса или ризика може захтевати ранији преглед. Запис бележи ко је одлуку потврдио и на основу чега.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Питање за проверу: ПИТАЊЕ ЗА ПРОВЕРУ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1ecf329f7642e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0b4aa7034e6428f" /><Relationship Type="http://schemas.openxmlformats.org/officeDocument/2006/relationships/slideLayout" Target="/ppt/slideLayouts/slideLayout1.xml" Id="R2ad5118da16943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ad5118da16943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1c78c91f11400b" /><Relationship Type="http://schemas.openxmlformats.org/officeDocument/2006/relationships/image" Target="/ppt/media/image.png" Id="R507c277302bf406e" /><Relationship Type="http://schemas.openxmlformats.org/officeDocument/2006/relationships/notesSlide" Target="/ppt/notesSlides/notesSlide1.xml" Id="R77352678505648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c36daa6ce142fb" /><Relationship Type="http://schemas.openxmlformats.org/officeDocument/2006/relationships/notesSlide" Target="/ppt/notesSlides/notesSlide2.xml" Id="R32a5a014fb094b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d55ccd254e4775" /><Relationship Type="http://schemas.openxmlformats.org/officeDocument/2006/relationships/notesSlide" Target="/ppt/notesSlides/notesSlide3.xml" Id="R1fc28b6c96db474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2c854e635d40da" /><Relationship Type="http://schemas.openxmlformats.org/officeDocument/2006/relationships/image" Target="/ppt/media/image2.png" Id="R041e6422a1e444f6" /><Relationship Type="http://schemas.openxmlformats.org/officeDocument/2006/relationships/image" Target="/ppt/media/image3.png" Id="R38ae1a3a44b147c5" /><Relationship Type="http://schemas.openxmlformats.org/officeDocument/2006/relationships/image" Target="/ppt/media/image4.png" Id="R47ab7118c6c548a6" /><Relationship Type="http://schemas.openxmlformats.org/officeDocument/2006/relationships/notesSlide" Target="/ppt/notesSlides/notesSlide4.xml" Id="Rc4ad020b2b5f40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24b1822efd4be8" /><Relationship Type="http://schemas.openxmlformats.org/officeDocument/2006/relationships/notesSlide" Target="/ppt/notesSlides/notesSlide5.xml" Id="R3b448bb308ab41e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f5b83cad7c4f40" /><Relationship Type="http://schemas.openxmlformats.org/officeDocument/2006/relationships/notesSlide" Target="/ppt/notesSlides/notesSlide6.xml" Id="Rd4483b02e2984e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6e5e76d4654a39" /><Relationship Type="http://schemas.openxmlformats.org/officeDocument/2006/relationships/notesSlide" Target="/ppt/notesSlides/notesSlide7.xml" Id="Reda9a0a9580240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aabbb728a34b35" /><Relationship Type="http://schemas.openxmlformats.org/officeDocument/2006/relationships/image" Target="/ppt/media/image5.png" Id="Rb1e9a7aeb5864165" /><Relationship Type="http://schemas.openxmlformats.org/officeDocument/2006/relationships/notesSlide" Target="/ppt/notesSlides/notesSlide8.xml" Id="Rbcf9d11b02f448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72a2974654465" /><Relationship Type="http://schemas.openxmlformats.org/officeDocument/2006/relationships/notesSlide" Target="/ppt/notesSlides/notesSlide9.xml" Id="Rd98c29fc159745c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bb38802cc94e2b" /><Relationship Type="http://schemas.openxmlformats.org/officeDocument/2006/relationships/notesSlide" Target="/ppt/notesSlides/notesSlide10.xml" Id="Rd3c7cee11b87406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6eec314ae041f5" /><Relationship Type="http://schemas.openxmlformats.org/officeDocument/2006/relationships/notesSlide" Target="/ppt/notesSlides/notesSlide11.xml" Id="Rf1219d4d2a3746f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f4f673f78b4336" /><Relationship Type="http://schemas.openxmlformats.org/officeDocument/2006/relationships/notesSlide" Target="/ppt/notesSlides/notesSlide12.xml" Id="Rd14f6a81974c43e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1590b6463440c5" /><Relationship Type="http://schemas.openxmlformats.org/officeDocument/2006/relationships/notesSlide" Target="/ppt/notesSlides/notesSlide13.xml" Id="Rd2ae6ae830794b5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90a8c692244aa8" /><Relationship Type="http://schemas.openxmlformats.org/officeDocument/2006/relationships/image" Target="/ppt/media/image6.png" Id="R6e7426fd0b7b4c72" /><Relationship Type="http://schemas.openxmlformats.org/officeDocument/2006/relationships/notesSlide" Target="/ppt/notesSlides/notesSlide14.xml" Id="Rcab00b684a5c476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dec8388045418f" /><Relationship Type="http://schemas.openxmlformats.org/officeDocument/2006/relationships/notesSlide" Target="/ppt/notesSlides/notesSlide15.xml" Id="Re71d3737001848c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9e9d35224043ab" /><Relationship Type="http://schemas.openxmlformats.org/officeDocument/2006/relationships/notesSlide" Target="/ppt/notesSlides/notesSlide16.xml" Id="Rf53f3218b99f428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3d4f940bde47e5" /><Relationship Type="http://schemas.openxmlformats.org/officeDocument/2006/relationships/notesSlide" Target="/ppt/notesSlides/notesSlide17.xml" Id="R011da41f9842430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85431742644083" /><Relationship Type="http://schemas.openxmlformats.org/officeDocument/2006/relationships/notesSlide" Target="/ppt/notesSlides/notesSlide18.xml" Id="R9b8d886ed3f7486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bdf60662414d07" /><Relationship Type="http://schemas.openxmlformats.org/officeDocument/2006/relationships/image" Target="/ppt/media/image7.png" Id="Ref8e08cd99a04d8b" /><Relationship Type="http://schemas.openxmlformats.org/officeDocument/2006/relationships/notesSlide" Target="/ppt/notesSlides/notesSlide19.xml" Id="R0fdc662d22b84f2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8b76b512b24a37" /><Relationship Type="http://schemas.openxmlformats.org/officeDocument/2006/relationships/notesSlide" Target="/ppt/notesSlides/notesSlide20.xml" Id="R6bc9a010117448e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64f39847a14c39" /><Relationship Type="http://schemas.openxmlformats.org/officeDocument/2006/relationships/notesSlide" Target="/ppt/notesSlides/notesSlide21.xml" Id="Rd376094d22704e1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e6484421e640a6" /><Relationship Type="http://schemas.openxmlformats.org/officeDocument/2006/relationships/image" Target="/ppt/media/image8.png" Id="R5c2d348751bd4d44" /><Relationship Type="http://schemas.openxmlformats.org/officeDocument/2006/relationships/notesSlide" Target="/ppt/notesSlides/notesSlide22.xml" Id="Rcb908399598344c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f45b66773948d6" /><Relationship Type="http://schemas.openxmlformats.org/officeDocument/2006/relationships/notesSlide" Target="/ppt/notesSlides/notesSlide23.xml" Id="R724228b3d3ee490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3828d58ade4537" /><Relationship Type="http://schemas.openxmlformats.org/officeDocument/2006/relationships/notesSlide" Target="/ppt/notesSlides/notesSlide24.xml" Id="R6319525600d54f5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2290978d7344bd" /><Relationship Type="http://schemas.openxmlformats.org/officeDocument/2006/relationships/image" Target="/ppt/media/image9.png" Id="Rb21e8b1e402944f9" /><Relationship Type="http://schemas.openxmlformats.org/officeDocument/2006/relationships/notesSlide" Target="/ppt/notesSlides/notesSlide25.xml" Id="R165af4b6219b4c4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1554bf753e4031" /><Relationship Type="http://schemas.openxmlformats.org/officeDocument/2006/relationships/notesSlide" Target="/ppt/notesSlides/notesSlide26.xml" Id="Raf20a91a30f24d5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b6006317cf4994" /><Relationship Type="http://schemas.openxmlformats.org/officeDocument/2006/relationships/notesSlide" Target="/ppt/notesSlides/notesSlide27.xml" Id="Rf06f59dacf5c40e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d62711914a45cf" /><Relationship Type="http://schemas.openxmlformats.org/officeDocument/2006/relationships/image" Target="/ppt/media/image10.png" Id="Rda34b8832ed14685" /><Relationship Type="http://schemas.openxmlformats.org/officeDocument/2006/relationships/image" Target="/ppt/media/image11.png" Id="R49d77d6198a64988" /><Relationship Type="http://schemas.openxmlformats.org/officeDocument/2006/relationships/image" Target="/ppt/media/image12.png" Id="Rd6499bf767c54359" /><Relationship Type="http://schemas.openxmlformats.org/officeDocument/2006/relationships/notesSlide" Target="/ppt/notesSlides/notesSlide28.xml" Id="Ra68da1fdde74468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ff3035c86940b1" /><Relationship Type="http://schemas.openxmlformats.org/officeDocument/2006/relationships/image" Target="/ppt/media/image13.png" Id="R3906c3a69dc44984" /><Relationship Type="http://schemas.openxmlformats.org/officeDocument/2006/relationships/image" Target="/ppt/media/image14.png" Id="R465881fc59684b00" /><Relationship Type="http://schemas.openxmlformats.org/officeDocument/2006/relationships/image" Target="/ppt/media/image15.png" Id="Ra7b64c58c67f4570" /><Relationship Type="http://schemas.openxmlformats.org/officeDocument/2006/relationships/notesSlide" Target="/ppt/notesSlides/notesSlide29.xml" Id="R15013a01f32340c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cd75edf79f4ee4" /><Relationship Type="http://schemas.openxmlformats.org/officeDocument/2006/relationships/notesSlide" Target="/ppt/notesSlides/notesSlide30.xml" Id="R1e85ecbd81554f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730E1F-3ED9-4810-A902-03B8BC35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060234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7c277302bf406e"/>
          <a:stretch xmlns:a="http://schemas.openxmlformats.org/drawingml/2006/main"/>
        </p:blipFill>
        <p:spPr>
          <a:xfrm xmlns:a="http://schemas.openxmlformats.org/drawingml/2006/main">
            <a:off x="11049000" y="1466850"/>
            <a:ext cx="6019800" cy="6019800"/>
          </a:xfrm>
          <a:prstGeom xmlns:a="http://schemas.openxmlformats.org/drawingml/2006/main" prst="rect">
            <a:avLst/>
          </a:prstGeom>
        </p:spPr>
      </p:pic>
      <p:sp>
        <p:nvSpPr>
          <p:cNvPr id="3" name="text-cover">
            <a:extLst xmlns:a="http://schemas.openxmlformats.org/drawingml/2006/main">
              <a:ext uri="{FF2B5EF4-FFF2-40B4-BE49-F238E27FC236}">
                <a16:creationId xmlns:a16="http://schemas.microsoft.com/office/drawing/2014/main" id="{0D87A104-1F80-4A10-A14D-F62DC79ED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219200"/>
            <a:ext cx="5341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ПРИМЕЊЕНО СОФТВЕРСКО ИНЖЕЊЕРСТВО</a:t>
            </a:r>
          </a:p>
        </p:txBody>
      </p:sp>
      <p:sp>
        <p:nvSpPr>
          <p:cNvPr id="4" name="text-cover">
            <a:extLst xmlns:a="http://schemas.openxmlformats.org/drawingml/2006/main">
              <a:ext uri="{FF2B5EF4-FFF2-40B4-BE49-F238E27FC236}">
                <a16:creationId xmlns:a16="http://schemas.microsoft.com/office/drawing/2014/main" id="{CB531C3B-C6A5-4CBD-91E2-7A6E5599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39180"/>
            <a:ext cx="51854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ОСНОВЕ ИНФОРМАЦИОНЕ БЕЗБЕДНОСТИ</a:t>
            </a:r>
          </a:p>
        </p:txBody>
      </p:sp>
      <p:sp>
        <p:nvSpPr>
          <p:cNvPr id="5" name="heading-cover">
            <a:extLst xmlns:a="http://schemas.openxmlformats.org/drawingml/2006/main">
              <a:ext uri="{FF2B5EF4-FFF2-40B4-BE49-F238E27FC236}">
                <a16:creationId xmlns:a16="http://schemas.microsoft.com/office/drawing/2014/main" id="{72675EE4-AB50-4AC1-A629-76D57A1B7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21086"/>
            <a:ext cx="739199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865"/>
          </a:bodyPr>
          <a:lstStyle xmlns:a="http://schemas.openxmlformats.org/drawingml/2006/main"/>
          <a:p xmlns:a="http://schemas.openxmlformats.org/drawingml/2006/main">
            <a:pPr algn="l">
              <a:defRPr sz="6600">
                <a:latin typeface="IBM Plex Sans"/>
                <a:ea typeface="IBM Plex Sans"/>
                <a:cs typeface="IBM Plex Sans"/>
              </a:defRPr>
            </a:pPr>
            <a:r>
              <a:rPr sz="66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Атрибути, ризик и </a:t>
            </a:r>
          </a:p>
        </p:txBody>
      </p:sp>
      <p:sp>
        <p:nvSpPr>
          <p:cNvPr id="6" name="heading-cover">
            <a:extLst xmlns:a="http://schemas.openxmlformats.org/drawingml/2006/main">
              <a:ext uri="{FF2B5EF4-FFF2-40B4-BE49-F238E27FC236}">
                <a16:creationId xmlns:a16="http://schemas.microsoft.com/office/drawing/2014/main" id="{9B97D009-3A92-428F-A8C3-4B05B3BF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01107"/>
            <a:ext cx="8484394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590"/>
          </a:bodyPr>
          <a:lstStyle xmlns:a="http://schemas.openxmlformats.org/drawingml/2006/main"/>
          <a:p xmlns:a="http://schemas.openxmlformats.org/drawingml/2006/main">
            <a:pPr algn="l">
              <a:defRPr sz="6600">
                <a:latin typeface="IBM Plex Sans"/>
                <a:ea typeface="IBM Plex Sans"/>
                <a:cs typeface="IBM Plex Sans"/>
              </a:defRPr>
            </a:pPr>
            <a:r>
              <a:rPr sz="66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периодични преглед </a:t>
            </a:r>
          </a:p>
        </p:txBody>
      </p:sp>
      <p:sp>
        <p:nvSpPr>
          <p:cNvPr id="7" name="heading-cover">
            <a:extLst xmlns:a="http://schemas.openxmlformats.org/drawingml/2006/main">
              <a:ext uri="{FF2B5EF4-FFF2-40B4-BE49-F238E27FC236}">
                <a16:creationId xmlns:a16="http://schemas.microsoft.com/office/drawing/2014/main" id="{B98FA88F-5B8C-4F62-9335-E969B51D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81127"/>
            <a:ext cx="3953321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600">
                <a:latin typeface="IBM Plex Sans"/>
                <a:ea typeface="IBM Plex Sans"/>
                <a:cs typeface="IBM Plex Sans"/>
              </a:defRPr>
            </a:pPr>
            <a:r>
              <a:rPr sz="66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приступа</a:t>
            </a:r>
          </a:p>
        </p:txBody>
      </p:sp>
      <p:sp>
        <p:nvSpPr>
          <p:cNvPr id="8" name="text-cover">
            <a:extLst xmlns:a="http://schemas.openxmlformats.org/drawingml/2006/main">
              <a:ext uri="{FF2B5EF4-FFF2-40B4-BE49-F238E27FC236}">
                <a16:creationId xmlns:a16="http://schemas.microsoft.com/office/drawing/2014/main" id="{EDC1C7D4-5796-4AE3-B5EF-C7AA3456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042148"/>
            <a:ext cx="86335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Контекстуална контрола приступа и периодична процена </a:t>
            </a:r>
          </a:p>
        </p:txBody>
      </p:sp>
      <p:sp>
        <p:nvSpPr>
          <p:cNvPr id="9" name="text-cover">
            <a:extLst xmlns:a="http://schemas.openxmlformats.org/drawingml/2006/main">
              <a:ext uri="{FF2B5EF4-FFF2-40B4-BE49-F238E27FC236}">
                <a16:creationId xmlns:a16="http://schemas.microsoft.com/office/drawing/2014/main" id="{24154C1F-6526-45B5-A9C7-FEDFD660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68838"/>
            <a:ext cx="135820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ризика</a:t>
            </a:r>
          </a:p>
        </p:txBody>
      </p:sp>
      <p:sp>
        <p:nvSpPr>
          <p:cNvPr id="10" name="text-cover">
            <a:extLst xmlns:a="http://schemas.openxmlformats.org/drawingml/2006/main">
              <a:ext uri="{FF2B5EF4-FFF2-40B4-BE49-F238E27FC236}">
                <a16:creationId xmlns:a16="http://schemas.microsoft.com/office/drawing/2014/main" id="{03A0DDA3-A96D-479B-BFC9-0DD4714A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307884"/>
            <a:ext cx="746179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Факултет техничких наука · Универзитет у Новом Саду</a:t>
            </a:r>
          </a:p>
        </p:txBody>
      </p:sp>
      <p:sp>
        <p:nvSpPr>
          <p:cNvPr id="11" name="text-cover">
            <a:extLst xmlns:a="http://schemas.openxmlformats.org/drawingml/2006/main">
              <a:ext uri="{FF2B5EF4-FFF2-40B4-BE49-F238E27FC236}">
                <a16:creationId xmlns:a16="http://schemas.microsoft.com/office/drawing/2014/main" id="{D6787A5C-8E80-4B13-8BFC-FDEE91E1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747820"/>
            <a:ext cx="135433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Нови Сад</a:t>
            </a:r>
          </a:p>
        </p:txBody>
      </p:sp>
    </p:spTree>
    <p:extLst>
      <p:ext uri="{BB962C8B-B14F-4D97-AF65-F5344CB8AC3E}">
        <p14:creationId xmlns:p14="http://schemas.microsoft.com/office/powerpoint/2010/main" val="7161089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E7BEAA-1531-4322-B57B-B3D55C2C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8C19E2-DAB5-4BC6-9B88-02114A65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34530"/>
            <a:ext cx="3819525" cy="3242072"/>
          </a:xfrm>
          <a:prstGeom xmlns:a="http://schemas.openxmlformats.org/drawingml/2006/main" prst="roundRect">
            <a:avLst>
              <a:gd name="adj" fmla="val 4701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3CD54-C722-4AD4-B63E-495957E8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434530"/>
            <a:ext cx="3819525" cy="3242072"/>
          </a:xfrm>
          <a:prstGeom xmlns:a="http://schemas.openxmlformats.org/drawingml/2006/main" prst="roundRect">
            <a:avLst>
              <a:gd name="adj" fmla="val 4701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103B61-CD6F-4903-8AE7-2CC6019A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34530"/>
            <a:ext cx="3819525" cy="3242072"/>
          </a:xfrm>
          <a:prstGeom xmlns:a="http://schemas.openxmlformats.org/drawingml/2006/main" prst="roundRect">
            <a:avLst>
              <a:gd name="adj" fmla="val 4701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56FD67-4FCB-4888-A516-01EF32F31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9275" y="2434530"/>
            <a:ext cx="3819525" cy="3242072"/>
          </a:xfrm>
          <a:prstGeom xmlns:a="http://schemas.openxmlformats.org/drawingml/2006/main" prst="roundRect">
            <a:avLst>
              <a:gd name="adj" fmla="val 4701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E16D1F-6952-44E0-9BDF-7041FF55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981402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9EBE2"/>
          </a:solidFill>
          <a:ln xmlns:a="http://schemas.openxmlformats.org/drawingml/2006/main" w="0">
            <a:noFill/>
          </a:ln>
        </p:spPr>
      </p:sp>
      <p:sp>
        <p:nvSpPr>
          <p:cNvPr id="7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219C1B7E-0D2B-45AD-9B01-09FDC0AA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981402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364EC2-3BBB-4C74-A441-47186E48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9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0B69DF95-1BB8-4C0C-A7ED-BD7A2A3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143648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ПРЕГЛЕД</a:t>
            </a:r>
          </a:p>
        </p:txBody>
      </p:sp>
      <p:sp>
        <p:nvSpPr>
          <p:cNvPr id="10" name="heading-sadrzaj">
            <a:extLst xmlns:a="http://schemas.openxmlformats.org/drawingml/2006/main">
              <a:ext uri="{FF2B5EF4-FFF2-40B4-BE49-F238E27FC236}">
                <a16:creationId xmlns:a16="http://schemas.microsoft.com/office/drawing/2014/main" id="{AA66146E-E929-4048-A26E-E644ABC5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636463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Садржај презентације</a:t>
            </a:r>
          </a:p>
        </p:txBody>
      </p:sp>
      <p:sp>
        <p:nvSpPr>
          <p:cNvPr id="11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677472C1-6D33-48B9-901A-C2F05558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739330"/>
            <a:ext cx="10287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Mono"/>
                <a:ea typeface="IBM Plex Mono"/>
                <a:cs typeface="IBM Plex Mono"/>
              </a:defRPr>
            </a:pPr>
            <a:r>
              <a:rPr sz="45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2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A5BA3693-AA06-4457-BECA-6537B79E0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644205"/>
            <a:ext cx="154558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Атрибути</a:t>
            </a:r>
          </a:p>
        </p:txBody>
      </p:sp>
      <p:sp>
        <p:nvSpPr>
          <p:cNvPr id="13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D9C53EA5-3A7B-47CF-B356-E85E4913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35636"/>
            <a:ext cx="358616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Поуздан контекст уз стабилну </a:t>
            </a:r>
          </a:p>
        </p:txBody>
      </p:sp>
      <p:sp>
        <p:nvSpPr>
          <p:cNvPr id="14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26C0021E-C65B-4593-AE9E-90DAA737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455616"/>
            <a:ext cx="9883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улогу.</a:t>
            </a:r>
          </a:p>
        </p:txBody>
      </p:sp>
      <p:sp>
        <p:nvSpPr>
          <p:cNvPr id="15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1DA17C81-6756-4D5F-9CF0-A5662A99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080397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05–09</a:t>
            </a:r>
          </a:p>
        </p:txBody>
      </p:sp>
      <p:sp>
        <p:nvSpPr>
          <p:cNvPr id="16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694A3456-3CAC-4B3A-8303-9CB092B2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9330"/>
            <a:ext cx="10287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Mono"/>
                <a:ea typeface="IBM Plex Mono"/>
                <a:cs typeface="IBM Plex Mono"/>
              </a:defRPr>
            </a:pPr>
            <a:r>
              <a:rPr sz="45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7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6A131A54-0CBD-436A-B94D-418620F1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44205"/>
            <a:ext cx="159141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Политика</a:t>
            </a:r>
          </a:p>
        </p:txBody>
      </p:sp>
      <p:sp>
        <p:nvSpPr>
          <p:cNvPr id="18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A5A8BB17-ECD4-446E-AA3F-2DE4C5C7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35636"/>
            <a:ext cx="282401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Мала правила и разлог </a:t>
            </a:r>
          </a:p>
        </p:txBody>
      </p:sp>
      <p:sp>
        <p:nvSpPr>
          <p:cNvPr id="19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F18C90F3-E48D-4A5B-A808-93F95C80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55616"/>
            <a:ext cx="142354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одбијања.</a:t>
            </a:r>
          </a:p>
        </p:txBody>
      </p:sp>
      <p:sp>
        <p:nvSpPr>
          <p:cNvPr id="20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BECDEBD4-2D76-458D-B355-5B68517D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080397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10–15</a:t>
            </a:r>
          </a:p>
        </p:txBody>
      </p:sp>
      <p:sp>
        <p:nvSpPr>
          <p:cNvPr id="21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BA7F6BE6-D122-413E-A136-3BDB1EF7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739330"/>
            <a:ext cx="10287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Mono"/>
                <a:ea typeface="IBM Plex Mono"/>
                <a:cs typeface="IBM Plex Mono"/>
              </a:defRPr>
            </a:pPr>
            <a:r>
              <a:rPr sz="45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2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2715C309-43CE-4DB3-B41C-413D5B48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644205"/>
            <a:ext cx="113020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Ризик</a:t>
            </a:r>
          </a:p>
        </p:txBody>
      </p:sp>
      <p:sp>
        <p:nvSpPr>
          <p:cNvPr id="23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8029681A-DC4E-4024-93DF-B3ADCA9C6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135636"/>
            <a:ext cx="353511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Преостала изложеност и SoD.</a:t>
            </a:r>
          </a:p>
        </p:txBody>
      </p:sp>
      <p:sp>
        <p:nvSpPr>
          <p:cNvPr id="24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1D8A5330-4BB0-4CAC-8F6F-885B0050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760416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16–22</a:t>
            </a:r>
          </a:p>
        </p:txBody>
      </p:sp>
      <p:sp>
        <p:nvSpPr>
          <p:cNvPr id="25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1E1228BD-F2DB-4DCB-88D6-D483A87C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739330"/>
            <a:ext cx="10287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Mono"/>
                <a:ea typeface="IBM Plex Mono"/>
                <a:cs typeface="IBM Plex Mono"/>
              </a:defRPr>
            </a:pPr>
            <a:r>
              <a:rPr sz="45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6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08FACE67-7EAA-4F9C-A73F-5669C506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3644205"/>
            <a:ext cx="142770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Преглед</a:t>
            </a:r>
          </a:p>
        </p:txBody>
      </p:sp>
      <p:sp>
        <p:nvSpPr>
          <p:cNvPr id="27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FD869BBF-58F8-4DA0-BEB0-160C940EB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135636"/>
            <a:ext cx="237246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Потврда потребе и </a:t>
            </a:r>
          </a:p>
        </p:txBody>
      </p:sp>
      <p:sp>
        <p:nvSpPr>
          <p:cNvPr id="28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893E645A-6228-47DA-BB8F-B981A41C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455616"/>
            <a:ext cx="229150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повлачење права.</a:t>
            </a:r>
          </a:p>
        </p:txBody>
      </p:sp>
      <p:sp>
        <p:nvSpPr>
          <p:cNvPr id="29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24EE28EA-F761-43F8-A1FA-AC4537A2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080397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23–30</a:t>
            </a:r>
          </a:p>
        </p:txBody>
      </p:sp>
      <p:sp>
        <p:nvSpPr>
          <p:cNvPr id="30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28DE207B-295B-4F69-B520-1E51922A9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171902"/>
            <a:ext cx="8916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Увод</a:t>
            </a:r>
          </a:p>
        </p:txBody>
      </p:sp>
      <p:sp>
        <p:nvSpPr>
          <p:cNvPr id="31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EFF0A1D7-7E8B-4EAF-86F3-181CE004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577608"/>
            <a:ext cx="667925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Контекстуална одлука и основни појмови (03–04).</a:t>
            </a:r>
          </a:p>
        </p:txBody>
      </p:sp>
      <p:sp>
        <p:nvSpPr>
          <p:cNvPr id="32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0D538AF0-51AF-4854-B49B-DB3FED02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3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C95DAD09-F952-468B-8C3F-8897DCD5E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714419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385220-58A4-4BA8-98AD-360A8ECB1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D90BD5-0344-4681-82A6-F76B52CB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769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682298-9B09-464A-84C0-DDD155759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112591"/>
            <a:ext cx="769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7406ED-D48A-43C5-9655-9D1D292E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615113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9EBE2"/>
          </a:solidFill>
          <a:ln xmlns:a="http://schemas.openxmlformats.org/drawingml/2006/main" w="0">
            <a:noFill/>
          </a:ln>
        </p:spPr>
      </p:sp>
      <p:sp>
        <p:nvSpPr>
          <p:cNvPr id="5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F465CF25-B83E-4BF2-9E5B-E0D40C77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615113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5C455F-3B7E-405B-83C2-3A26F071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7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556B09B7-6DD4-47BC-A442-00972BA9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9678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УВОД</a:t>
            </a:r>
          </a:p>
        </p:txBody>
      </p:sp>
      <p:sp>
        <p:nvSpPr>
          <p:cNvPr id="8" name="heading-source-02">
            <a:extLst xmlns:a="http://schemas.openxmlformats.org/drawingml/2006/main">
              <a:ext uri="{FF2B5EF4-FFF2-40B4-BE49-F238E27FC236}">
                <a16:creationId xmlns:a16="http://schemas.microsoft.com/office/drawing/2014/main" id="{2EAE16EF-15C1-436D-8071-D1050B08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9457432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131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Контекстуална одлука о приступу</a:t>
            </a:r>
          </a:p>
        </p:txBody>
      </p:sp>
      <p:sp>
        <p:nvSpPr>
          <p:cNvPr id="9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B7CCACFE-C5B6-44E0-B4A3-62B861FF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2839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RBAC обезбеђује стабилну основу, док атрибути субјекта, ресурса и окружења прецизирају одлуку.</a:t>
            </a:r>
          </a:p>
        </p:txBody>
      </p:sp>
      <p:sp>
        <p:nvSpPr>
          <p:cNvPr id="10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3BD66B78-6573-4EC6-8F93-312D15DB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69766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ПРЕДМЕТ АНАЛИЗЕ</a:t>
            </a:r>
          </a:p>
        </p:txBody>
      </p:sp>
      <p:sp>
        <p:nvSpPr>
          <p:cNvPr id="11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AB394049-B655-4D06-9A8C-6D87A6B3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42147"/>
            <a:ext cx="4440287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Sans"/>
                <a:ea typeface="IBM Plex Sans"/>
                <a:cs typeface="IBM Plex Sans"/>
              </a:defRPr>
            </a:pPr>
            <a:r>
              <a:rPr sz="27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Ризик који се анализира</a:t>
            </a:r>
          </a:p>
        </p:txBody>
      </p:sp>
      <p:sp>
        <p:nvSpPr>
          <p:cNvPr id="12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58B47A4E-4AD8-4A88-9D1A-EE686222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53533"/>
            <a:ext cx="740018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RBAC даје стабилну основу, али сложеније одлуке често </a:t>
            </a:r>
          </a:p>
        </p:txBody>
      </p:sp>
      <p:sp>
        <p:nvSpPr>
          <p:cNvPr id="13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84CB7F5C-6068-4734-8665-F2448D356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26794"/>
            <a:ext cx="703361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зависе и од контекста: припадности, врсте података, </a:t>
            </a:r>
          </a:p>
        </p:txBody>
      </p:sp>
      <p:sp>
        <p:nvSpPr>
          <p:cNvPr id="14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D16AA24B-B6B8-4BA0-9BBC-BE77DBE3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00055"/>
            <a:ext cx="724167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времена, стања ресурса или нивоа ризика. Атрибутска </a:t>
            </a:r>
          </a:p>
        </p:txBody>
      </p:sp>
      <p:sp>
        <p:nvSpPr>
          <p:cNvPr id="15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BBFF7ACD-1E84-4B59-8FA3-553A6B38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73316"/>
            <a:ext cx="757639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правила уводе тај контекст без претварања сваке могуће </a:t>
            </a:r>
          </a:p>
        </p:txBody>
      </p:sp>
      <p:sp>
        <p:nvSpPr>
          <p:cNvPr id="16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E9A964B3-454E-46D0-ABF3-738A5C4D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946577"/>
            <a:ext cx="361756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комбинације у нову улогу.</a:t>
            </a:r>
          </a:p>
        </p:txBody>
      </p:sp>
      <p:sp>
        <p:nvSpPr>
          <p:cNvPr id="17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71089CCE-A053-4D4E-8A6F-04A65905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369766"/>
            <a:ext cx="11659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ЗНАЧАЈ</a:t>
            </a:r>
          </a:p>
        </p:txBody>
      </p:sp>
      <p:sp>
        <p:nvSpPr>
          <p:cNvPr id="18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0514F065-629B-4748-AC41-D872CE27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42147"/>
            <a:ext cx="5306467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Sans"/>
                <a:ea typeface="IBM Plex Sans"/>
                <a:cs typeface="IBM Plex Sans"/>
              </a:defRPr>
            </a:pPr>
            <a:r>
              <a:rPr sz="27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Значај за безбедност система</a:t>
            </a:r>
          </a:p>
        </p:txBody>
      </p:sp>
      <p:sp>
        <p:nvSpPr>
          <p:cNvPr id="19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1E45681D-C3BD-4D9B-A72D-70136E43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53533"/>
            <a:ext cx="760154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Risk register и редован преглед приступа спречавају да се </a:t>
            </a:r>
          </a:p>
        </p:txBody>
      </p:sp>
      <p:sp>
        <p:nvSpPr>
          <p:cNvPr id="20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2537241A-C4BC-459E-A867-EC69E95D3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826794"/>
            <a:ext cx="736327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старе одлуке претворе у трајне претпоставке. Они чине </a:t>
            </a:r>
          </a:p>
        </p:txBody>
      </p:sp>
      <p:sp>
        <p:nvSpPr>
          <p:cNvPr id="21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566C1A65-C68F-4D41-9CA3-A21F7675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200055"/>
            <a:ext cx="689550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видљивим преостали ризик, власништво над њим и </a:t>
            </a:r>
          </a:p>
        </p:txBody>
      </p:sp>
      <p:sp>
        <p:nvSpPr>
          <p:cNvPr id="22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945EAC39-17EC-4CB9-8746-39A9875F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573316"/>
            <a:ext cx="558313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тренутак када одлуку треба преиспитати.</a:t>
            </a:r>
          </a:p>
        </p:txBody>
      </p:sp>
      <p:sp>
        <p:nvSpPr>
          <p:cNvPr id="23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4A49D12E-F00A-42B6-995B-571E8022F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805613"/>
            <a:ext cx="56922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КРИТЕРИЈУМ ПРОВЕРЕ · Проверљив резултат</a:t>
            </a:r>
          </a:p>
        </p:txBody>
      </p:sp>
      <p:sp>
        <p:nvSpPr>
          <p:cNvPr id="24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4F4CD825-284F-4F63-85AF-2FCFAEDAA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211318"/>
            <a:ext cx="1278508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Одлука је јасна, примењује се на серверу и оставља поновљив доказ успешног и одбијеног исхода.</a:t>
            </a:r>
          </a:p>
        </p:txBody>
      </p:sp>
      <p:sp>
        <p:nvSpPr>
          <p:cNvPr id="25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299CEDC9-0494-4E97-9C8F-D38F6A34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6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3F8D9BBB-6CA6-4BA0-8AE2-3D2F011E2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405083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62E10A-E651-41A2-BB68-3039D4CC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77D8AE-440D-4757-BA6E-7F31B53C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05EA4F-2904-4C85-99F9-6FC3ED172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AB34D8-D6D9-4D8D-A0AB-4054740D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A90D44-6259-4827-B65A-53C97EF26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75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046AA6-D0AE-4D7C-9861-531BD17B4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9EBE2"/>
          </a:solidFill>
          <a:ln xmlns:a="http://schemas.openxmlformats.org/drawingml/2006/main" w="0">
            <a:noFill/>
          </a:ln>
        </p:spPr>
      </p:sp>
      <p:sp>
        <p:nvSpPr>
          <p:cNvPr id="7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89FE0C38-4C80-4FAB-94D1-2FAB6AB2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995792-0FEB-48D4-BBF1-579F8E67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1e6422a1e444f6"/>
          <a:stretch xmlns:a="http://schemas.openxmlformats.org/drawingml/2006/main"/>
        </p:blipFill>
        <p:spPr>
          <a:xfrm xmlns:a="http://schemas.openxmlformats.org/drawingml/2006/main">
            <a:off x="4886325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ae1a3a44b147c5"/>
          <a:stretch xmlns:a="http://schemas.openxmlformats.org/drawingml/2006/main"/>
        </p:blipFill>
        <p:spPr>
          <a:xfrm xmlns:a="http://schemas.openxmlformats.org/drawingml/2006/main">
            <a:off x="9010650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ab7118c6c548a6"/>
          <a:stretch xmlns:a="http://schemas.openxmlformats.org/drawingml/2006/main"/>
        </p:blipFill>
        <p:spPr>
          <a:xfrm xmlns:a="http://schemas.openxmlformats.org/drawingml/2006/main">
            <a:off x="13134975" y="4219277"/>
            <a:ext cx="2667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9F352867-6690-4E5A-9C6F-6266B1DE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9678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УВОД</a:t>
            </a:r>
          </a:p>
        </p:txBody>
      </p:sp>
      <p:sp>
        <p:nvSpPr>
          <p:cNvPr id="13" name="heading-source-03">
            <a:extLst xmlns:a="http://schemas.openxmlformats.org/drawingml/2006/main">
              <a:ext uri="{FF2B5EF4-FFF2-40B4-BE49-F238E27FC236}">
                <a16:creationId xmlns:a16="http://schemas.microsoft.com/office/drawing/2014/main" id="{011F8EA7-5427-4909-9A0B-00FA9103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4940052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Основни појмови</a:t>
            </a:r>
          </a:p>
        </p:txBody>
      </p:sp>
      <p:sp>
        <p:nvSpPr>
          <p:cNvPr id="14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2B4F9258-D22E-4BCF-8CE3-169EFBD0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231746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Атрибути, политика, ризик и периодични преглед одређују контекст и трајање права приступа.</a:t>
            </a:r>
          </a:p>
        </p:txBody>
      </p:sp>
      <p:sp>
        <p:nvSpPr>
          <p:cNvPr id="15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56EF3049-6148-4AE8-B4E3-917A3B39B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6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F1AB5272-498C-442E-AF87-D1BCEBEB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154558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Атрибути</a:t>
            </a:r>
          </a:p>
        </p:txBody>
      </p:sp>
      <p:sp>
        <p:nvSpPr>
          <p:cNvPr id="17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0C9F65D7-EF17-4F7C-92E5-674633E7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211395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контекст одлуке</a:t>
            </a:r>
          </a:p>
        </p:txBody>
      </p:sp>
      <p:sp>
        <p:nvSpPr>
          <p:cNvPr id="18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D6221A3D-157B-4453-AD32-636F109D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9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AABD38CA-732C-4E59-B991-FF3E2BFE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08847"/>
            <a:ext cx="159141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Политика</a:t>
            </a:r>
          </a:p>
        </p:txBody>
      </p:sp>
      <p:sp>
        <p:nvSpPr>
          <p:cNvPr id="20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03401A19-71D7-4038-B0D6-9999BA786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600277"/>
            <a:ext cx="285273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правило које их тумачи</a:t>
            </a:r>
          </a:p>
        </p:txBody>
      </p:sp>
      <p:sp>
        <p:nvSpPr>
          <p:cNvPr id="21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02A26986-0623-44DC-87A2-C6079B57F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2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4A7849F2-79AA-456D-99D6-BC43E62A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108847"/>
            <a:ext cx="113020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Ризик</a:t>
            </a:r>
          </a:p>
        </p:txBody>
      </p:sp>
      <p:sp>
        <p:nvSpPr>
          <p:cNvPr id="23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3A497EF7-7811-44DF-B7D1-6F38AE10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600277"/>
            <a:ext cx="263976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утицај и вероватноћа</a:t>
            </a:r>
          </a:p>
        </p:txBody>
      </p:sp>
      <p:sp>
        <p:nvSpPr>
          <p:cNvPr id="24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099CDF65-4147-4BC3-9796-8F22123E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5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EAAD6CA5-1E85-4A95-B3FF-D5A27349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108847"/>
            <a:ext cx="142770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Преглед</a:t>
            </a:r>
          </a:p>
        </p:txBody>
      </p:sp>
      <p:sp>
        <p:nvSpPr>
          <p:cNvPr id="26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E0926CCE-3A30-4223-A1E0-7139512B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600277"/>
            <a:ext cx="27673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потврда да одлука још </a:t>
            </a:r>
          </a:p>
        </p:txBody>
      </p:sp>
      <p:sp>
        <p:nvSpPr>
          <p:cNvPr id="27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18594980-DA6D-448F-91FD-8F911744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920258"/>
            <a:ext cx="90189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важи</a:t>
            </a:r>
          </a:p>
        </p:txBody>
      </p:sp>
      <p:sp>
        <p:nvSpPr>
          <p:cNvPr id="28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39835910-E11E-41B4-BA68-23AD94C2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11763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ЗАКЉУЧАК</a:t>
            </a:r>
          </a:p>
        </p:txBody>
      </p:sp>
      <p:sp>
        <p:nvSpPr>
          <p:cNvPr id="29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702E402D-0BC5-41FB-A303-69994D35E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17469"/>
            <a:ext cx="1267033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Контекст даје прецизност одлуци, а редован преглед проверава да ли одлука и даље има смисла.</a:t>
            </a:r>
          </a:p>
        </p:txBody>
      </p:sp>
      <p:sp>
        <p:nvSpPr>
          <p:cNvPr id="30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DA85EE6B-3351-48A2-954A-9AC06F40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1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ECC9E20C-AC2E-4A21-A5C8-B0F535EE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635218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9EBE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714EA9-E3E3-440B-A8B1-0D555B43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972026"/>
            <a:ext cx="1201341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BBC2B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3AED45-1333-476B-A175-FBBC5068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6441" y="5972026"/>
            <a:ext cx="1135559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BBC2B8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413ECF-7613-487C-91F6-85099D75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6299" y="5972026"/>
            <a:ext cx="1112490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BBC2B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3359D7-C8A2-473E-A848-C504EC23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3089" y="5972026"/>
            <a:ext cx="1546771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BBC2B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5B6BE1-BF7B-4393-9C3D-EB785394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C2B8"/>
          </a:solidFill>
          <a:ln xmlns:a="http://schemas.openxmlformats.org/drawingml/2006/main" w="0">
            <a:noFill/>
          </a:ln>
        </p:spPr>
      </p:sp>
      <p:sp>
        <p:nvSpPr>
          <p:cNvPr id="6" name="text-deo1">
            <a:extLst xmlns:a="http://schemas.openxmlformats.org/drawingml/2006/main">
              <a:ext uri="{FF2B5EF4-FFF2-40B4-BE49-F238E27FC236}">
                <a16:creationId xmlns:a16="http://schemas.microsoft.com/office/drawing/2014/main" id="{5BC08A06-A777-4AE2-A06C-6E7FF39E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3390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0">
                <a:latin typeface="IBM Plex Mono"/>
                <a:ea typeface="IBM Plex Mono"/>
                <a:cs typeface="IBM Plex Mono"/>
              </a:defRPr>
            </a:pPr>
            <a:r>
              <a:rPr sz="210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7" name="text-deo1">
            <a:extLst xmlns:a="http://schemas.openxmlformats.org/drawingml/2006/main">
              <a:ext uri="{FF2B5EF4-FFF2-40B4-BE49-F238E27FC236}">
                <a16:creationId xmlns:a16="http://schemas.microsoft.com/office/drawing/2014/main" id="{0511448C-B054-4FE8-BA19-8FBB294A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18595"/>
            <a:ext cx="15926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ПРВИ ДЕО</a:t>
            </a:r>
          </a:p>
        </p:txBody>
      </p:sp>
      <p:sp>
        <p:nvSpPr>
          <p:cNvPr id="8" name="heading-deo1">
            <a:extLst xmlns:a="http://schemas.openxmlformats.org/drawingml/2006/main">
              <a:ext uri="{FF2B5EF4-FFF2-40B4-BE49-F238E27FC236}">
                <a16:creationId xmlns:a16="http://schemas.microsoft.com/office/drawing/2014/main" id="{4608991E-EA7B-4A26-83C4-41FC249C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90975"/>
            <a:ext cx="8586192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865"/>
          </a:bodyPr>
          <a:lstStyle xmlns:a="http://schemas.openxmlformats.org/drawingml/2006/main"/>
          <a:p xmlns:a="http://schemas.openxmlformats.org/drawingml/2006/main">
            <a:pPr algn="l">
              <a:defRPr sz="7200">
                <a:latin typeface="IBM Plex Sans"/>
                <a:ea typeface="IBM Plex Sans"/>
                <a:cs typeface="IBM Plex Sans"/>
              </a:defRPr>
            </a:pPr>
            <a:r>
              <a:rPr sz="72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Поуздани атрибути</a:t>
            </a:r>
          </a:p>
        </p:txBody>
      </p:sp>
      <p:sp>
        <p:nvSpPr>
          <p:cNvPr id="9" name="text-deo1">
            <a:extLst xmlns:a="http://schemas.openxmlformats.org/drawingml/2006/main">
              <a:ext uri="{FF2B5EF4-FFF2-40B4-BE49-F238E27FC236}">
                <a16:creationId xmlns:a16="http://schemas.microsoft.com/office/drawing/2014/main" id="{815D590B-A897-42A2-BA20-E117CDC2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41590"/>
            <a:ext cx="941427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Одлука спаја улогу са контекстом субјекта, ресурса, радње и окружења.</a:t>
            </a:r>
          </a:p>
        </p:txBody>
      </p:sp>
      <p:sp>
        <p:nvSpPr>
          <p:cNvPr id="10" name="text-deo1">
            <a:extLst xmlns:a="http://schemas.openxmlformats.org/drawingml/2006/main">
              <a:ext uri="{FF2B5EF4-FFF2-40B4-BE49-F238E27FC236}">
                <a16:creationId xmlns:a16="http://schemas.microsoft.com/office/drawing/2014/main" id="{3E610148-D6DB-4C2D-B62C-A361A3486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6057751"/>
            <a:ext cx="114419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Субјект</a:t>
            </a:r>
          </a:p>
        </p:txBody>
      </p:sp>
      <p:sp>
        <p:nvSpPr>
          <p:cNvPr id="11" name="text-deo1">
            <a:extLst xmlns:a="http://schemas.openxmlformats.org/drawingml/2006/main">
              <a:ext uri="{FF2B5EF4-FFF2-40B4-BE49-F238E27FC236}">
                <a16:creationId xmlns:a16="http://schemas.microsoft.com/office/drawing/2014/main" id="{32732D90-FB77-446E-86CD-EF064F522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6466" y="6057751"/>
            <a:ext cx="107840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Ресурс</a:t>
            </a:r>
          </a:p>
        </p:txBody>
      </p:sp>
      <p:sp>
        <p:nvSpPr>
          <p:cNvPr id="12" name="text-deo1">
            <a:extLst xmlns:a="http://schemas.openxmlformats.org/drawingml/2006/main">
              <a:ext uri="{FF2B5EF4-FFF2-40B4-BE49-F238E27FC236}">
                <a16:creationId xmlns:a16="http://schemas.microsoft.com/office/drawing/2014/main" id="{4BEA5F99-0DCE-4A7D-94AA-5577CC3A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6324" y="6057751"/>
            <a:ext cx="105534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Радња</a:t>
            </a:r>
          </a:p>
        </p:txBody>
      </p:sp>
      <p:sp>
        <p:nvSpPr>
          <p:cNvPr id="13" name="text-deo1">
            <a:extLst xmlns:a="http://schemas.openxmlformats.org/drawingml/2006/main">
              <a:ext uri="{FF2B5EF4-FFF2-40B4-BE49-F238E27FC236}">
                <a16:creationId xmlns:a16="http://schemas.microsoft.com/office/drawing/2014/main" id="{7B3A1FED-68CB-408E-BE27-7C6106F1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3114" y="6057751"/>
            <a:ext cx="148962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Окружење</a:t>
            </a:r>
          </a:p>
        </p:txBody>
      </p:sp>
      <p:sp>
        <p:nvSpPr>
          <p:cNvPr id="14" name="text-deo1">
            <a:extLst xmlns:a="http://schemas.openxmlformats.org/drawingml/2006/main">
              <a:ext uri="{FF2B5EF4-FFF2-40B4-BE49-F238E27FC236}">
                <a16:creationId xmlns:a16="http://schemas.microsoft.com/office/drawing/2014/main" id="{067A9BD4-A6EF-46B6-A337-640EB17F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5" name="text-deo1">
            <a:extLst xmlns:a="http://schemas.openxmlformats.org/drawingml/2006/main">
              <a:ext uri="{FF2B5EF4-FFF2-40B4-BE49-F238E27FC236}">
                <a16:creationId xmlns:a16="http://schemas.microsoft.com/office/drawing/2014/main" id="{1D18DF22-88C9-4E76-B70C-CA61F519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94882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6C5084-BE52-4813-985E-31E32AEF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56A086-D06E-41B7-9990-C4073056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2FD97-5A6E-4BB0-A714-C0357596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72558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4A2EDE-E745-4E1A-AA57-E2C690D3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32524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366DB3-89BD-4DF8-B805-92A42EDC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687741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9EBE2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2633E37B-A089-426B-8EE7-188158256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687741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FF3B77-1984-4D8F-A8BA-F82C9955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84632937-6FA9-4B77-BA2D-75F2F2B0F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3736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 · АТРИБУТИ</a:t>
            </a:r>
          </a:p>
        </p:txBody>
      </p:sp>
      <p:sp>
        <p:nvSpPr>
          <p:cNvPr id="9" name="heading-source-04">
            <a:extLst xmlns:a="http://schemas.openxmlformats.org/drawingml/2006/main">
              <a:ext uri="{FF2B5EF4-FFF2-40B4-BE49-F238E27FC236}">
                <a16:creationId xmlns:a16="http://schemas.microsoft.com/office/drawing/2014/main" id="{2B7FD003-7D79-4E70-AC0F-A5AE37AA9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2843659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Атрибути</a:t>
            </a:r>
          </a:p>
        </p:txBody>
      </p:sp>
      <p:sp>
        <p:nvSpPr>
          <p:cNvPr id="10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CBD1A4FA-7FE3-4091-B6E9-EF6F2087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240908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контекст одлуке</a:t>
            </a:r>
          </a:p>
        </p:txBody>
      </p:sp>
      <p:sp>
        <p:nvSpPr>
          <p:cNvPr id="11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86D6F19E-0573-4A90-8522-FC0B8160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45941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2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FDC2A76A-8151-44B2-80AF-48557C72C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303091"/>
            <a:ext cx="1052959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Атрибути описују контекст захтева: улогу, уређај, локацију и процењени ризик.</a:t>
            </a:r>
          </a:p>
        </p:txBody>
      </p:sp>
      <p:sp>
        <p:nvSpPr>
          <p:cNvPr id="13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79ADD3B3-C5BF-4B02-B1D7-92003AA75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43027"/>
            <a:ext cx="455622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Питање: који улаз покреће ову одлуку?</a:t>
            </a:r>
          </a:p>
        </p:txBody>
      </p:sp>
      <p:sp>
        <p:nvSpPr>
          <p:cNvPr id="14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A5167163-7093-451C-96A8-97E9AFB0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05908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5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31273FD3-F8A4-4878-974C-8BE9B2BB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463058"/>
            <a:ext cx="1126986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Атрибути се прикупљају из поузданих извора, а не из произвољног захтева клијента.</a:t>
            </a:r>
          </a:p>
        </p:txBody>
      </p:sp>
      <p:sp>
        <p:nvSpPr>
          <p:cNvPr id="16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B7619F5D-5B43-4CAD-BC84-A9258D5E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902994"/>
            <a:ext cx="494972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Питање: која граница мора бити видљива?</a:t>
            </a:r>
          </a:p>
        </p:txBody>
      </p:sp>
      <p:sp>
        <p:nvSpPr>
          <p:cNvPr id="17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1040244D-B28C-4C7B-BF6F-CD993A3D3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65874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18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4A6A78F3-C6C2-4752-9870-5E93952A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623024"/>
            <a:ext cx="945802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Контекст одлуке се бележи довољно да каснији преглед разуме исход.</a:t>
            </a:r>
          </a:p>
        </p:txBody>
      </p:sp>
      <p:sp>
        <p:nvSpPr>
          <p:cNvPr id="19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ECAD239C-06BB-4602-B8AF-EC6520337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062960"/>
            <a:ext cx="471934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Питање: који доказ остаје после исхода?</a:t>
            </a:r>
          </a:p>
        </p:txBody>
      </p:sp>
      <p:sp>
        <p:nvSpPr>
          <p:cNvPr id="20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819F7F62-18F5-4503-8BAD-97FB2A58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878241"/>
            <a:ext cx="2674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ПИТАЊЕ ЗА АНАЛИЗУ</a:t>
            </a:r>
          </a:p>
        </p:txBody>
      </p:sp>
      <p:sp>
        <p:nvSpPr>
          <p:cNvPr id="21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4FEB41F3-C02E-476D-9A89-BAED863FE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283946"/>
            <a:ext cx="1226447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Коју одлуку не бисте смели да заснивате само на улози и који додатни атрибут јој даје смисао?</a:t>
            </a:r>
          </a:p>
        </p:txBody>
      </p:sp>
      <p:sp>
        <p:nvSpPr>
          <p:cNvPr id="22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974A00C4-325C-4EF0-97BE-DC682B1B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3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5D11E35A-99BC-4CDC-A3BD-C26F01BE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689915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AFB828-D8C3-4A32-A01C-84CC6FE44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09F5D7-4ACE-42C4-8A29-FC9D14C35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3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3ACAEA4E-E8A9-4F8F-8629-AE462A2B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8423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 · RBAC И ABAC</a:t>
            </a:r>
          </a:p>
        </p:txBody>
      </p:sp>
      <p:sp>
        <p:nvSpPr>
          <p:cNvPr id="4" name="heading-source-08">
            <a:extLst xmlns:a="http://schemas.openxmlformats.org/drawingml/2006/main">
              <a:ext uri="{FF2B5EF4-FFF2-40B4-BE49-F238E27FC236}">
                <a16:creationId xmlns:a16="http://schemas.microsoft.com/office/drawing/2014/main" id="{251C0F11-78B5-4CC9-B373-526CE1F0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82136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906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RBAC и ABAC у истој одлуци</a:t>
            </a:r>
          </a:p>
        </p:txBody>
      </p:sp>
      <p:sp>
        <p:nvSpPr>
          <p:cNvPr id="5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59B8328D-5F27-476A-A88C-3D6522B2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187559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Поређење приказује функцију сваког елемента и ограничење његове самосталне примене.</a:t>
            </a:r>
          </a:p>
        </p:txBody>
      </p:sp>
      <p:sp>
        <p:nvSpPr>
          <p:cNvPr id="6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A1C8A000-B7BB-4F03-960D-01532D01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7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45E10B7E-7F04-4D25-972E-E9EC77E9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07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1219200" y="3112591"/>
          <a:ext xmlns:a="http://schemas.openxmlformats.org/drawingml/2006/main" cx="15849600" cy="3860899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957638"/>
                <a:gridCol w="5224016"/>
                <a:gridCol w="6648896"/>
              </a:tblGrid>
              <a:tr h="69904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Приступ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9EBE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Снага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9EBE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Ограничење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9EBE2"/>
                    </a:solidFill>
                  </a:tcPr>
                </a:tc>
              </a:tr>
              <a:tr h="69904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RBAC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Јасне, стабилне одговорности.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Тешко изражава време, власништво и стање.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69904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ABAC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Користи богат контекст одлуке.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Тражи поуздане атрибуте и читљива правила.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104566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Комбинација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Улога даје основу, атрибути прецизирају.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Потребно је пажљиво објаснити приоритет правила.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69904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SoD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Спречава ризичне комбинације права.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Мора се проверавати кроз ефективна права.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09570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FB2993-14E2-42E8-898E-394F543B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4661FD-3CF2-416D-B2CC-EA150C23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246441"/>
            <a:ext cx="15849600" cy="1020961"/>
          </a:xfrm>
          <a:prstGeom xmlns:a="http://schemas.openxmlformats.org/drawingml/2006/main" prst="roundRect">
            <a:avLst>
              <a:gd name="adj" fmla="val 11195"/>
            </a:avLst>
          </a:prstGeom>
          <a:solidFill xmlns:a="http://schemas.openxmlformats.org/drawingml/2006/main">
            <a:srgbClr val="E9EBE2"/>
          </a:solidFill>
          <a:ln xmlns:a="http://schemas.openxmlformats.org/drawingml/2006/main" w="0">
            <a:noFill/>
          </a:ln>
        </p:spPr>
      </p:sp>
      <p:sp>
        <p:nvSpPr>
          <p:cNvPr id="3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CD72DDFF-CF75-4E87-8266-B16D2D30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246441"/>
            <a:ext cx="114300" cy="1020961"/>
          </a:xfrm>
          <a:custGeom xmlns:a="http://schemas.openxmlformats.org/drawingml/2006/main">
            <a:pathLst>
              <a:path w="114300" h="102096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906661"/>
                </a:lnTo>
                <a:lnTo>
                  <a:pt x="61" y="910401"/>
                </a:lnTo>
                <a:lnTo>
                  <a:pt x="245" y="914137"/>
                </a:lnTo>
                <a:lnTo>
                  <a:pt x="550" y="917864"/>
                </a:lnTo>
                <a:lnTo>
                  <a:pt x="978" y="921580"/>
                </a:lnTo>
                <a:lnTo>
                  <a:pt x="1527" y="925280"/>
                </a:lnTo>
                <a:lnTo>
                  <a:pt x="2196" y="928960"/>
                </a:lnTo>
                <a:lnTo>
                  <a:pt x="2986" y="932616"/>
                </a:lnTo>
                <a:lnTo>
                  <a:pt x="3895" y="936244"/>
                </a:lnTo>
                <a:lnTo>
                  <a:pt x="4922" y="939840"/>
                </a:lnTo>
                <a:lnTo>
                  <a:pt x="6066" y="943401"/>
                </a:lnTo>
                <a:lnTo>
                  <a:pt x="7326" y="946923"/>
                </a:lnTo>
                <a:lnTo>
                  <a:pt x="8701" y="950402"/>
                </a:lnTo>
                <a:lnTo>
                  <a:pt x="10188" y="953833"/>
                </a:lnTo>
                <a:lnTo>
                  <a:pt x="11787" y="957215"/>
                </a:lnTo>
                <a:lnTo>
                  <a:pt x="13496" y="960542"/>
                </a:lnTo>
                <a:lnTo>
                  <a:pt x="15313" y="963811"/>
                </a:lnTo>
                <a:lnTo>
                  <a:pt x="17236" y="967019"/>
                </a:lnTo>
                <a:lnTo>
                  <a:pt x="19263" y="970163"/>
                </a:lnTo>
                <a:lnTo>
                  <a:pt x="21392" y="973238"/>
                </a:lnTo>
                <a:lnTo>
                  <a:pt x="23620" y="976242"/>
                </a:lnTo>
                <a:lnTo>
                  <a:pt x="25945" y="979172"/>
                </a:lnTo>
                <a:lnTo>
                  <a:pt x="28365" y="982024"/>
                </a:lnTo>
                <a:lnTo>
                  <a:pt x="30877" y="984796"/>
                </a:lnTo>
                <a:lnTo>
                  <a:pt x="33478" y="987483"/>
                </a:lnTo>
                <a:lnTo>
                  <a:pt x="36165" y="990084"/>
                </a:lnTo>
                <a:lnTo>
                  <a:pt x="38937" y="992596"/>
                </a:lnTo>
                <a:lnTo>
                  <a:pt x="41789" y="995016"/>
                </a:lnTo>
                <a:lnTo>
                  <a:pt x="44719" y="997341"/>
                </a:lnTo>
                <a:lnTo>
                  <a:pt x="47723" y="999569"/>
                </a:lnTo>
                <a:lnTo>
                  <a:pt x="50798" y="1001698"/>
                </a:lnTo>
                <a:lnTo>
                  <a:pt x="53942" y="1003725"/>
                </a:lnTo>
                <a:lnTo>
                  <a:pt x="57150" y="1005648"/>
                </a:lnTo>
                <a:lnTo>
                  <a:pt x="60419" y="1007465"/>
                </a:lnTo>
                <a:lnTo>
                  <a:pt x="63746" y="1009173"/>
                </a:lnTo>
                <a:lnTo>
                  <a:pt x="67128" y="1010773"/>
                </a:lnTo>
                <a:lnTo>
                  <a:pt x="70559" y="1012260"/>
                </a:lnTo>
                <a:lnTo>
                  <a:pt x="74038" y="1013635"/>
                </a:lnTo>
                <a:lnTo>
                  <a:pt x="77559" y="1014895"/>
                </a:lnTo>
                <a:lnTo>
                  <a:pt x="81120" y="1016039"/>
                </a:lnTo>
                <a:lnTo>
                  <a:pt x="84717" y="1017066"/>
                </a:lnTo>
                <a:lnTo>
                  <a:pt x="88345" y="1017975"/>
                </a:lnTo>
                <a:lnTo>
                  <a:pt x="92001" y="1018765"/>
                </a:lnTo>
                <a:lnTo>
                  <a:pt x="95681" y="1019434"/>
                </a:lnTo>
                <a:lnTo>
                  <a:pt x="99381" y="1019983"/>
                </a:lnTo>
                <a:lnTo>
                  <a:pt x="103097" y="1020411"/>
                </a:lnTo>
                <a:lnTo>
                  <a:pt x="106824" y="1020716"/>
                </a:lnTo>
                <a:lnTo>
                  <a:pt x="110560" y="1020900"/>
                </a:lnTo>
                <a:lnTo>
                  <a:pt x="114300" y="1020961"/>
                </a:lnTo>
                <a:lnTo>
                  <a:pt x="114300" y="1020961"/>
                </a:lnTo>
                <a:lnTo>
                  <a:pt x="112430" y="1020900"/>
                </a:lnTo>
                <a:lnTo>
                  <a:pt x="110562" y="1020716"/>
                </a:lnTo>
                <a:lnTo>
                  <a:pt x="108698" y="1020411"/>
                </a:lnTo>
                <a:lnTo>
                  <a:pt x="106840" y="1019983"/>
                </a:lnTo>
                <a:lnTo>
                  <a:pt x="104991" y="1019434"/>
                </a:lnTo>
                <a:lnTo>
                  <a:pt x="103151" y="1018765"/>
                </a:lnTo>
                <a:lnTo>
                  <a:pt x="101323" y="1017975"/>
                </a:lnTo>
                <a:lnTo>
                  <a:pt x="99508" y="1017066"/>
                </a:lnTo>
                <a:lnTo>
                  <a:pt x="97710" y="1016039"/>
                </a:lnTo>
                <a:lnTo>
                  <a:pt x="95930" y="1014895"/>
                </a:lnTo>
                <a:lnTo>
                  <a:pt x="94169" y="1013635"/>
                </a:lnTo>
                <a:lnTo>
                  <a:pt x="92430" y="1012260"/>
                </a:lnTo>
                <a:lnTo>
                  <a:pt x="90714" y="1010773"/>
                </a:lnTo>
                <a:lnTo>
                  <a:pt x="89023" y="1009173"/>
                </a:lnTo>
                <a:lnTo>
                  <a:pt x="87360" y="1007465"/>
                </a:lnTo>
                <a:lnTo>
                  <a:pt x="85725" y="1005648"/>
                </a:lnTo>
                <a:lnTo>
                  <a:pt x="84121" y="1003725"/>
                </a:lnTo>
                <a:lnTo>
                  <a:pt x="82549" y="1001698"/>
                </a:lnTo>
                <a:lnTo>
                  <a:pt x="81011" y="999569"/>
                </a:lnTo>
                <a:lnTo>
                  <a:pt x="79509" y="997341"/>
                </a:lnTo>
                <a:lnTo>
                  <a:pt x="78044" y="995016"/>
                </a:lnTo>
                <a:lnTo>
                  <a:pt x="76618" y="992596"/>
                </a:lnTo>
                <a:lnTo>
                  <a:pt x="75233" y="990084"/>
                </a:lnTo>
                <a:lnTo>
                  <a:pt x="73889" y="987483"/>
                </a:lnTo>
                <a:lnTo>
                  <a:pt x="72588" y="984796"/>
                </a:lnTo>
                <a:lnTo>
                  <a:pt x="71332" y="982024"/>
                </a:lnTo>
                <a:lnTo>
                  <a:pt x="70122" y="979172"/>
                </a:lnTo>
                <a:lnTo>
                  <a:pt x="68960" y="976242"/>
                </a:lnTo>
                <a:lnTo>
                  <a:pt x="67846" y="973238"/>
                </a:lnTo>
                <a:lnTo>
                  <a:pt x="66782" y="970163"/>
                </a:lnTo>
                <a:lnTo>
                  <a:pt x="65768" y="967019"/>
                </a:lnTo>
                <a:lnTo>
                  <a:pt x="64807" y="963811"/>
                </a:lnTo>
                <a:lnTo>
                  <a:pt x="63898" y="960542"/>
                </a:lnTo>
                <a:lnTo>
                  <a:pt x="63044" y="957215"/>
                </a:lnTo>
                <a:lnTo>
                  <a:pt x="62244" y="953833"/>
                </a:lnTo>
                <a:lnTo>
                  <a:pt x="61500" y="950402"/>
                </a:lnTo>
                <a:lnTo>
                  <a:pt x="60813" y="946923"/>
                </a:lnTo>
                <a:lnTo>
                  <a:pt x="60183" y="943401"/>
                </a:lnTo>
                <a:lnTo>
                  <a:pt x="59611" y="939840"/>
                </a:lnTo>
                <a:lnTo>
                  <a:pt x="59097" y="936244"/>
                </a:lnTo>
                <a:lnTo>
                  <a:pt x="58643" y="932616"/>
                </a:lnTo>
                <a:lnTo>
                  <a:pt x="58248" y="928960"/>
                </a:lnTo>
                <a:lnTo>
                  <a:pt x="57913" y="925280"/>
                </a:lnTo>
                <a:lnTo>
                  <a:pt x="57639" y="921580"/>
                </a:lnTo>
                <a:lnTo>
                  <a:pt x="57425" y="917864"/>
                </a:lnTo>
                <a:lnTo>
                  <a:pt x="57272" y="914137"/>
                </a:lnTo>
                <a:lnTo>
                  <a:pt x="57181" y="910401"/>
                </a:lnTo>
                <a:lnTo>
                  <a:pt x="57150" y="90666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7E5FAD-09A0-4EC9-AADC-1A39AFB6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e9a7aeb5864165"/>
          <a:stretch xmlns:a="http://schemas.openxmlformats.org/drawingml/2006/main"/>
        </p:blipFill>
        <p:spPr>
          <a:xfrm xmlns:a="http://schemas.openxmlformats.org/drawingml/2006/main">
            <a:off x="1219200" y="3333750"/>
            <a:ext cx="15849600" cy="3714750"/>
          </a:xfrm>
          <a:prstGeom xmlns:a="http://schemas.openxmlformats.org/drawingml/2006/main" prst="rect">
            <a:avLst/>
          </a:prstGeom>
        </p:spPr>
      </p:pic>
      <p:sp>
        <p:nvSpPr>
          <p:cNvPr id="6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979B487B-9ED6-4BC3-9ABB-5C68D2A9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5029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ОБЈАШЊЕЊЕ · ИЛУСТРАТИВНИ МОДЕЛ</a:t>
            </a:r>
          </a:p>
        </p:txBody>
      </p:sp>
      <p:sp>
        <p:nvSpPr>
          <p:cNvPr id="7" name="heading-abac-model">
            <a:extLst xmlns:a="http://schemas.openxmlformats.org/drawingml/2006/main">
              <a:ext uri="{FF2B5EF4-FFF2-40B4-BE49-F238E27FC236}">
                <a16:creationId xmlns:a16="http://schemas.microsoft.com/office/drawing/2014/main" id="{6874B188-95EA-44E4-AFCF-FF7D52CD4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983736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721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Контекст атрибутске одлуке</a:t>
            </a:r>
          </a:p>
        </p:txBody>
      </p:sp>
      <p:sp>
        <p:nvSpPr>
          <p:cNvPr id="8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A6EF58DC-B545-44C1-B610-F51501EA3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924148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Атрибути се процењују за конкретну радњу над конкретним ресурсом.</a:t>
            </a:r>
          </a:p>
        </p:txBody>
      </p:sp>
      <p:sp>
        <p:nvSpPr>
          <p:cNvPr id="9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73CE6491-BB21-4F32-8C5D-9B33E106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2981" y="3390900"/>
            <a:ext cx="127768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Субјект</a:t>
            </a:r>
          </a:p>
        </p:txBody>
      </p:sp>
      <p:sp>
        <p:nvSpPr>
          <p:cNvPr id="10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E36FF55A-2B47-4BDF-B181-44A3718C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8643" y="3764161"/>
            <a:ext cx="210636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улога и домен</a:t>
            </a:r>
          </a:p>
        </p:txBody>
      </p:sp>
      <p:sp>
        <p:nvSpPr>
          <p:cNvPr id="11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048688B5-6394-4E9D-B65F-1FE0A152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379" y="4343400"/>
            <a:ext cx="120089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Ресурс</a:t>
            </a:r>
          </a:p>
        </p:txBody>
      </p:sp>
      <p:sp>
        <p:nvSpPr>
          <p:cNvPr id="12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E94628DA-C833-48BD-86D1-1EA4ECF28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7314" y="4716661"/>
            <a:ext cx="242917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власник и стање</a:t>
            </a:r>
          </a:p>
        </p:txBody>
      </p:sp>
      <p:sp>
        <p:nvSpPr>
          <p:cNvPr id="13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74B23F3E-A940-47D4-9901-C70E292C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922" y="5295900"/>
            <a:ext cx="117395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Радња</a:t>
            </a:r>
          </a:p>
        </p:txBody>
      </p:sp>
      <p:sp>
        <p:nvSpPr>
          <p:cNvPr id="14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80982F5C-E694-47B7-A0BB-54370EA8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9233" y="5669161"/>
            <a:ext cx="314518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читање или одобрење</a:t>
            </a:r>
          </a:p>
        </p:txBody>
      </p:sp>
      <p:sp>
        <p:nvSpPr>
          <p:cNvPr id="15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C53A466D-F375-40F5-86EC-1B928B8F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1468" y="6248400"/>
            <a:ext cx="168071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Окружење</a:t>
            </a:r>
          </a:p>
        </p:txBody>
      </p:sp>
      <p:sp>
        <p:nvSpPr>
          <p:cNvPr id="16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B39179AF-9F71-4DF8-BDD8-F7727C1F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2222" y="6621661"/>
            <a:ext cx="293935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уређај, време, ризик</a:t>
            </a:r>
          </a:p>
        </p:txBody>
      </p:sp>
      <p:sp>
        <p:nvSpPr>
          <p:cNvPr id="17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0BD4D943-F871-4635-9017-8CE42102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2089" y="4676775"/>
            <a:ext cx="155272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Политика</a:t>
            </a:r>
          </a:p>
        </p:txBody>
      </p:sp>
      <p:sp>
        <p:nvSpPr>
          <p:cNvPr id="18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EF1F4F15-5144-41D4-B863-C4B58E0F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583" y="5050036"/>
            <a:ext cx="250373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провера правила</a:t>
            </a:r>
          </a:p>
        </p:txBody>
      </p:sp>
      <p:sp>
        <p:nvSpPr>
          <p:cNvPr id="19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240282E5-4D6B-430B-8269-54B10EF7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6137" y="4676775"/>
            <a:ext cx="126012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Одлука</a:t>
            </a:r>
          </a:p>
        </p:txBody>
      </p:sp>
      <p:sp>
        <p:nvSpPr>
          <p:cNvPr id="20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5314ABB2-3511-441B-9F42-CD6F84618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6286" y="5050036"/>
            <a:ext cx="219997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исход и разлог</a:t>
            </a:r>
          </a:p>
        </p:txBody>
      </p:sp>
      <p:sp>
        <p:nvSpPr>
          <p:cNvPr id="21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8F8A469A-3AD2-4D73-B6FE-A5D7191A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398841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Тумачење</a:t>
            </a:r>
          </a:p>
        </p:txBody>
      </p:sp>
      <p:sp>
        <p:nvSpPr>
          <p:cNvPr id="22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C12E7302-69C5-4E1E-9EF1-204BCED8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795022"/>
            <a:ext cx="1414879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Снимак контекста долази из познатих извора. Атрибут који клијент пошаље не постаје поуздан само зато што постоји у захтеву.</a:t>
            </a:r>
          </a:p>
        </p:txBody>
      </p:sp>
      <p:sp>
        <p:nvSpPr>
          <p:cNvPr id="23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A0460ADB-9DB8-495C-8BCA-2B1CAB965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4" name="text-abac-model">
            <a:extLst xmlns:a="http://schemas.openxmlformats.org/drawingml/2006/main">
              <a:ext uri="{FF2B5EF4-FFF2-40B4-BE49-F238E27FC236}">
                <a16:creationId xmlns:a16="http://schemas.microsoft.com/office/drawing/2014/main" id="{13AE4DB6-BC7E-44F2-A822-6D40EFB5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675393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F0590D-A159-4C83-8CEF-E2101853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774E47-74FF-463C-9887-E066FDF20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12591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AAB040-AF8A-4507-B341-1DA4169C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249638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24E29D-B927-4030-B1BD-BEA1DDBA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386685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3FA3ED-2280-4F81-929E-621F733A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6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9ACB6CD5-0B64-4D1D-9DF6-5984E085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0612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 · ПРИМЕР</a:t>
            </a:r>
          </a:p>
        </p:txBody>
      </p:sp>
      <p:sp>
        <p:nvSpPr>
          <p:cNvPr id="7" name="heading-source-13">
            <a:extLst xmlns:a="http://schemas.openxmlformats.org/drawingml/2006/main">
              <a:ext uri="{FF2B5EF4-FFF2-40B4-BE49-F238E27FC236}">
                <a16:creationId xmlns:a16="http://schemas.microsoft.com/office/drawing/2014/main" id="{50DEC43F-345C-48E6-A81D-784D65B82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0554742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271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Случај: иста улога, различит тренутак</a:t>
            </a:r>
          </a:p>
        </p:txBody>
      </p:sp>
      <p:sp>
        <p:nvSpPr>
          <p:cNvPr id="8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D4292E7B-6A9F-43F3-ACD4-6337D091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3633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Случај повезује опште правило са конкретним контекстом, серверском провером и очекиваним исходом.</a:t>
            </a:r>
          </a:p>
        </p:txBody>
      </p:sp>
      <p:sp>
        <p:nvSpPr>
          <p:cNvPr id="9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EF48D889-0899-43D2-B09C-C671A0D8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СЦЕНАРИО</a:t>
            </a:r>
          </a:p>
        </p:txBody>
      </p:sp>
      <p:sp>
        <p:nvSpPr>
          <p:cNvPr id="10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ADC2EB57-2F0D-4D77-B6EE-41B025A1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84972"/>
            <a:ext cx="6894463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Sans"/>
                <a:ea typeface="IBM Plex Sans"/>
                <a:cs typeface="IBM Plex Sans"/>
              </a:defRPr>
            </a:pPr>
            <a:r>
              <a:rPr sz="27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Пример: иста улога, различит тренутак</a:t>
            </a:r>
          </a:p>
        </p:txBody>
      </p:sp>
      <p:sp>
        <p:nvSpPr>
          <p:cNvPr id="11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E3C3266A-8705-4E96-969F-73746A0C6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96358"/>
            <a:ext cx="667017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Два оператера имају исту улогу, али један ради на </a:t>
            </a:r>
          </a:p>
        </p:txBody>
      </p:sp>
      <p:sp>
        <p:nvSpPr>
          <p:cNvPr id="12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DA6A580E-022F-469A-A5AB-44CFA6F2D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69619"/>
            <a:ext cx="749885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инциденту који му је додељен, док други ради на другом </a:t>
            </a:r>
          </a:p>
        </p:txBody>
      </p:sp>
      <p:sp>
        <p:nvSpPr>
          <p:cNvPr id="13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5490A2F2-1E7C-4714-A340-551935AC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42880"/>
            <a:ext cx="758100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домену. Ако политика гледа само улогу, обојица би могла </a:t>
            </a:r>
          </a:p>
        </p:txBody>
      </p:sp>
      <p:sp>
        <p:nvSpPr>
          <p:cNvPr id="14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0F4D0790-79F7-4CE5-B5F6-9F6BE3D6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16141"/>
            <a:ext cx="698331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да одобре исту ризичну измену. Атрибути као што су </a:t>
            </a:r>
          </a:p>
        </p:txBody>
      </p:sp>
      <p:sp>
        <p:nvSpPr>
          <p:cNvPr id="15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4E674376-9FC4-431F-9091-18E1A5D0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89402"/>
            <a:ext cx="658668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припадност домену, стање инцидента и тренутно </a:t>
            </a:r>
          </a:p>
        </p:txBody>
      </p:sp>
      <p:sp>
        <p:nvSpPr>
          <p:cNvPr id="16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4AC1CEAD-AC84-4991-91A3-171DAC09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062663"/>
            <a:ext cx="736297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одобрење дају одлуци контекст који назив улоге сам не </a:t>
            </a:r>
          </a:p>
        </p:txBody>
      </p:sp>
      <p:sp>
        <p:nvSpPr>
          <p:cNvPr id="17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BF3697C8-D2BF-478D-B627-FAA14512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35923"/>
            <a:ext cx="211842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може да носи.</a:t>
            </a:r>
          </a:p>
        </p:txBody>
      </p:sp>
      <p:sp>
        <p:nvSpPr>
          <p:cNvPr id="18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FAEE0DA4-9F89-4C7A-8078-94CB6DC9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45941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9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B33EE4C3-1EDB-497F-9A0C-0CC6E841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303091"/>
            <a:ext cx="740628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Атрибутска одлука остаје разумљива само ако је извор </a:t>
            </a:r>
          </a:p>
        </p:txBody>
      </p:sp>
      <p:sp>
        <p:nvSpPr>
          <p:cNvPr id="20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1A71654B-0BC1-4DC6-9108-DFB97B9F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76352"/>
            <a:ext cx="474598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сваког атрибута познат и поуздан.</a:t>
            </a:r>
          </a:p>
        </p:txBody>
      </p:sp>
      <p:sp>
        <p:nvSpPr>
          <p:cNvPr id="21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15C77D25-521C-4922-8125-6A8C8C6A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382988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22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F32888EF-8376-4F74-81CE-26CB54269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440138"/>
            <a:ext cx="704775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Правило треба да даје исти резултат за исти снимак </a:t>
            </a:r>
          </a:p>
        </p:txBody>
      </p:sp>
      <p:sp>
        <p:nvSpPr>
          <p:cNvPr id="23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B5644E4B-94A4-4E34-A3C8-4896C882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813399"/>
            <a:ext cx="667464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контекста, како би могло да се тестира и објасни.</a:t>
            </a:r>
          </a:p>
        </p:txBody>
      </p:sp>
      <p:sp>
        <p:nvSpPr>
          <p:cNvPr id="24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D2CFDB77-D969-46F0-A671-CC25E15BF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520035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5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C361F152-A457-4D6A-A326-E0706E4A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577185"/>
            <a:ext cx="7210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Преглед приступа враћа тим на питање да ли право и </a:t>
            </a:r>
          </a:p>
        </p:txBody>
      </p:sp>
      <p:sp>
        <p:nvSpPr>
          <p:cNvPr id="26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93BD7E73-4E13-4521-8035-F2387368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950446"/>
            <a:ext cx="72166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даље има пословни разлог, чак и када је некада било </a:t>
            </a:r>
          </a:p>
        </p:txBody>
      </p:sp>
      <p:sp>
        <p:nvSpPr>
          <p:cNvPr id="27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FF68C37E-F8F0-4324-86AF-941C9F438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323707"/>
            <a:ext cx="302537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правилно додељено.</a:t>
            </a:r>
          </a:p>
        </p:txBody>
      </p:sp>
      <p:sp>
        <p:nvSpPr>
          <p:cNvPr id="28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EB15BBA1-99F3-466F-9FAB-F9735CD6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9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6B270740-260C-4696-A9BD-2D2AFBFC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102709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9EBE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C9AF6D-2637-4905-99D4-A930AD84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58657"/>
            <a:ext cx="1748879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BBC2B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1F635F-CE9D-4496-8F63-524D1DA8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979" y="6158657"/>
            <a:ext cx="1453902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BBC2B8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D388F-2094-4317-8BAD-9BCCF4DE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2181" y="6158657"/>
            <a:ext cx="1836688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BBC2B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73B016-CE8F-4C42-AF88-0FD60B32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C2B8"/>
          </a:solidFill>
          <a:ln xmlns:a="http://schemas.openxmlformats.org/drawingml/2006/main" w="0">
            <a:noFill/>
          </a:ln>
        </p:spPr>
      </p:sp>
      <p:sp>
        <p:nvSpPr>
          <p:cNvPr id="5" name="text-deo2">
            <a:extLst xmlns:a="http://schemas.openxmlformats.org/drawingml/2006/main">
              <a:ext uri="{FF2B5EF4-FFF2-40B4-BE49-F238E27FC236}">
                <a16:creationId xmlns:a16="http://schemas.microsoft.com/office/drawing/2014/main" id="{51F45C64-A386-4572-B643-564ED4E7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3390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0">
                <a:latin typeface="IBM Plex Mono"/>
                <a:ea typeface="IBM Plex Mono"/>
                <a:cs typeface="IBM Plex Mono"/>
              </a:defRPr>
            </a:pPr>
            <a:r>
              <a:rPr sz="210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6" name="text-deo2">
            <a:extLst xmlns:a="http://schemas.openxmlformats.org/drawingml/2006/main">
              <a:ext uri="{FF2B5EF4-FFF2-40B4-BE49-F238E27FC236}">
                <a16:creationId xmlns:a16="http://schemas.microsoft.com/office/drawing/2014/main" id="{968E6B74-3E6A-4B6E-97B0-0D8BA3DB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1964"/>
            <a:ext cx="17488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ДРУГИ ДЕО</a:t>
            </a:r>
          </a:p>
        </p:txBody>
      </p:sp>
      <p:sp>
        <p:nvSpPr>
          <p:cNvPr id="7" name="heading-deo2">
            <a:extLst xmlns:a="http://schemas.openxmlformats.org/drawingml/2006/main">
              <a:ext uri="{FF2B5EF4-FFF2-40B4-BE49-F238E27FC236}">
                <a16:creationId xmlns:a16="http://schemas.microsoft.com/office/drawing/2014/main" id="{4886B811-5D03-4052-ADEF-8745075FA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04345"/>
            <a:ext cx="7906643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137"/>
          </a:bodyPr>
          <a:lstStyle xmlns:a="http://schemas.openxmlformats.org/drawingml/2006/main"/>
          <a:p xmlns:a="http://schemas.openxmlformats.org/drawingml/2006/main">
            <a:pPr algn="l">
              <a:defRPr sz="7200">
                <a:latin typeface="IBM Plex Sans"/>
                <a:ea typeface="IBM Plex Sans"/>
                <a:cs typeface="IBM Plex Sans"/>
              </a:defRPr>
            </a:pPr>
            <a:r>
              <a:rPr sz="72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Политика као код</a:t>
            </a:r>
          </a:p>
        </p:txBody>
      </p:sp>
      <p:sp>
        <p:nvSpPr>
          <p:cNvPr id="8" name="text-deo2">
            <a:extLst xmlns:a="http://schemas.openxmlformats.org/drawingml/2006/main">
              <a:ext uri="{FF2B5EF4-FFF2-40B4-BE49-F238E27FC236}">
                <a16:creationId xmlns:a16="http://schemas.microsoft.com/office/drawing/2014/main" id="{0C26438F-5648-45C0-AD19-02E6E55A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54960"/>
            <a:ext cx="932705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Мала правила дају предвидљив исход и разлог који се може проверити </a:t>
            </a:r>
          </a:p>
        </p:txBody>
      </p:sp>
      <p:sp>
        <p:nvSpPr>
          <p:cNvPr id="9" name="text-deo2">
            <a:extLst xmlns:a="http://schemas.openxmlformats.org/drawingml/2006/main">
              <a:ext uri="{FF2B5EF4-FFF2-40B4-BE49-F238E27FC236}">
                <a16:creationId xmlns:a16="http://schemas.microsoft.com/office/drawing/2014/main" id="{D9BE7815-A765-4DB9-BDA9-2776FEF6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28221"/>
            <a:ext cx="127694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тестом.</a:t>
            </a:r>
          </a:p>
        </p:txBody>
      </p:sp>
      <p:sp>
        <p:nvSpPr>
          <p:cNvPr id="10" name="text-deo2">
            <a:extLst xmlns:a="http://schemas.openxmlformats.org/drawingml/2006/main">
              <a:ext uri="{FF2B5EF4-FFF2-40B4-BE49-F238E27FC236}">
                <a16:creationId xmlns:a16="http://schemas.microsoft.com/office/drawing/2014/main" id="{74BB369D-BC71-40A4-80EE-3BFC3E03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6244382"/>
            <a:ext cx="16917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Ред правила</a:t>
            </a:r>
          </a:p>
        </p:txBody>
      </p:sp>
      <p:sp>
        <p:nvSpPr>
          <p:cNvPr id="11" name="text-deo2">
            <a:extLst xmlns:a="http://schemas.openxmlformats.org/drawingml/2006/main">
              <a:ext uri="{FF2B5EF4-FFF2-40B4-BE49-F238E27FC236}">
                <a16:creationId xmlns:a16="http://schemas.microsoft.com/office/drawing/2014/main" id="{DAA8AF0C-95CE-4F62-9ADF-E170973B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004" y="6244382"/>
            <a:ext cx="139675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Одбијање</a:t>
            </a:r>
          </a:p>
        </p:txBody>
      </p:sp>
      <p:sp>
        <p:nvSpPr>
          <p:cNvPr id="12" name="text-deo2">
            <a:extLst xmlns:a="http://schemas.openxmlformats.org/drawingml/2006/main">
              <a:ext uri="{FF2B5EF4-FFF2-40B4-BE49-F238E27FC236}">
                <a16:creationId xmlns:a16="http://schemas.microsoft.com/office/drawing/2014/main" id="{9C319864-4A01-4B9A-93A4-EFE061E2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2206" y="6244382"/>
            <a:ext cx="177953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Рок прегледа</a:t>
            </a:r>
          </a:p>
        </p:txBody>
      </p:sp>
      <p:sp>
        <p:nvSpPr>
          <p:cNvPr id="13" name="text-deo2">
            <a:extLst xmlns:a="http://schemas.openxmlformats.org/drawingml/2006/main">
              <a:ext uri="{FF2B5EF4-FFF2-40B4-BE49-F238E27FC236}">
                <a16:creationId xmlns:a16="http://schemas.microsoft.com/office/drawing/2014/main" id="{EF40F8A9-0D63-412F-B8C3-DB373D0A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4" name="text-deo2">
            <a:extLst xmlns:a="http://schemas.openxmlformats.org/drawingml/2006/main">
              <a:ext uri="{FF2B5EF4-FFF2-40B4-BE49-F238E27FC236}">
                <a16:creationId xmlns:a16="http://schemas.microsoft.com/office/drawing/2014/main" id="{ED3F059F-EC91-411D-BA78-3D8B2066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13140371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0C9175-8A9F-4222-9C17-14FCA7A48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BCBAF-E652-4B77-A1F9-3E3C9DE5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87B3AF-14CD-47CF-B206-5591F681B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72558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2F74D4-7FC0-42A5-BB84-07B67247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32524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C0DA08-413D-4922-B0F4-E333D83D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687741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9EBE2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9AB2B1F2-2C01-45AD-AAD3-6F2DA2FE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687741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EE547F-DB85-452F-B168-E1ED2FB9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A39C62B6-DD6A-4953-A058-17A4A5EB4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3736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 · ПОЛИТИКА</a:t>
            </a:r>
          </a:p>
        </p:txBody>
      </p:sp>
      <p:sp>
        <p:nvSpPr>
          <p:cNvPr id="9" name="heading-source-05">
            <a:extLst xmlns:a="http://schemas.openxmlformats.org/drawingml/2006/main">
              <a:ext uri="{FF2B5EF4-FFF2-40B4-BE49-F238E27FC236}">
                <a16:creationId xmlns:a16="http://schemas.microsoft.com/office/drawing/2014/main" id="{A9545BF6-79F7-4E0E-B0B2-1AD6A783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294203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Политика</a:t>
            </a:r>
          </a:p>
        </p:txBody>
      </p:sp>
      <p:sp>
        <p:nvSpPr>
          <p:cNvPr id="10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A2A9E7DF-F3CF-4978-AD36-FC9D2DE7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327109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правило које их тумачи</a:t>
            </a:r>
          </a:p>
        </p:txBody>
      </p:sp>
      <p:sp>
        <p:nvSpPr>
          <p:cNvPr id="11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B0CB34BA-EB7A-4361-854E-89DD91F0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45941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2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2355210B-96F9-434B-B889-727B8A7C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303091"/>
            <a:ext cx="937081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Политика је скуп малих правила, свако правило тумачи један атрибут.</a:t>
            </a:r>
          </a:p>
        </p:txBody>
      </p:sp>
      <p:sp>
        <p:nvSpPr>
          <p:cNvPr id="13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CC7DC6E0-578F-45C1-AE00-41BD633C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43027"/>
            <a:ext cx="455622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Питање: који улаз покреће ову одлуку?</a:t>
            </a:r>
          </a:p>
        </p:txBody>
      </p:sp>
      <p:sp>
        <p:nvSpPr>
          <p:cNvPr id="14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ED7466C8-BB02-4B98-9657-AD9ED0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05908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5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89FA50A2-0615-4058-9222-252ED795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463058"/>
            <a:ext cx="860554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Прво правило које одбије захтев одређује исход и његов разлог.</a:t>
            </a:r>
          </a:p>
        </p:txBody>
      </p:sp>
      <p:sp>
        <p:nvSpPr>
          <p:cNvPr id="16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020F111F-8192-4FD7-9D80-049D4418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902994"/>
            <a:ext cx="494972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Питање: која граница мора бити видљива?</a:t>
            </a:r>
          </a:p>
        </p:txBody>
      </p:sp>
      <p:sp>
        <p:nvSpPr>
          <p:cNvPr id="17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137FBA4A-FC4F-47CE-8F83-2C6BCB058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65874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18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FD448FBE-0F69-4C0E-A7EE-4794AF7D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623024"/>
            <a:ext cx="1008132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Иста политика за исти контекст увек даје исти исход, па се може тестирати.</a:t>
            </a:r>
          </a:p>
        </p:txBody>
      </p:sp>
      <p:sp>
        <p:nvSpPr>
          <p:cNvPr id="19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5400ED10-3592-4F4D-B9A0-47E05C30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062960"/>
            <a:ext cx="471934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Питање: који доказ остаје после исхода?</a:t>
            </a:r>
          </a:p>
        </p:txBody>
      </p:sp>
      <p:sp>
        <p:nvSpPr>
          <p:cNvPr id="20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B4EB2008-95EC-4E42-8D1E-2252AFF00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878241"/>
            <a:ext cx="2674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ПИТАЊЕ ЗА АНАЛИЗУ</a:t>
            </a:r>
          </a:p>
        </p:txBody>
      </p:sp>
      <p:sp>
        <p:nvSpPr>
          <p:cNvPr id="21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3374C609-04D6-4035-930D-D69C28E34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283946"/>
            <a:ext cx="849496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Која правила чине вашу политику и којим редом се проверавају?</a:t>
            </a:r>
          </a:p>
        </p:txBody>
      </p:sp>
      <p:sp>
        <p:nvSpPr>
          <p:cNvPr id="22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659660A3-152A-45C9-940D-3F1779D9E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3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BF7A5578-A48C-4C77-A300-09C571A0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926132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2F8D10B-4503-487E-BF0E-D682278F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0C0125-99CD-40BB-B525-89B31367A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34530"/>
            <a:ext cx="11049000" cy="4955977"/>
          </a:xfrm>
          <a:prstGeom xmlns:a="http://schemas.openxmlformats.org/drawingml/2006/main" prst="roundRect">
            <a:avLst>
              <a:gd name="adj" fmla="val 307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450E29-8A8D-47C1-B961-214DF101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434530"/>
            <a:ext cx="28575" cy="13751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3CD76B-2FAC-4AF9-84E7-690B58F0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4076402"/>
            <a:ext cx="28575" cy="13751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B7300F-F6D4-4DD0-91AB-FF07337D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6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1875F704-60C0-4C7A-B5D6-42822DCE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3736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 · ПОЛИТИКА</a:t>
            </a:r>
          </a:p>
        </p:txBody>
      </p:sp>
      <p:sp>
        <p:nvSpPr>
          <p:cNvPr id="7" name="heading-source-14">
            <a:extLst xmlns:a="http://schemas.openxmlformats.org/drawingml/2006/main">
              <a:ext uri="{FF2B5EF4-FFF2-40B4-BE49-F238E27FC236}">
                <a16:creationId xmlns:a16="http://schemas.microsoft.com/office/drawing/2014/main" id="{C41A470E-8FE4-4278-87F5-F7194986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2489061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271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Атрибути прецизирају стабилну основу улоге</a:t>
            </a:r>
          </a:p>
        </p:txBody>
      </p:sp>
      <p:sp>
        <p:nvSpPr>
          <p:cNvPr id="8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56920593-0B44-49EE-A993-736D0BF9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634555"/>
            <a:ext cx="36348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C# · илустративни пример</a:t>
            </a:r>
          </a:p>
        </p:txBody>
      </p:sp>
      <p:sp>
        <p:nvSpPr>
          <p:cNvPr id="9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0691E36E-3522-4AB0-A591-4729DC8F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030736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0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1A92565A-3362-4A39-AD7E-638AE514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0736"/>
            <a:ext cx="45949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public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AccessDecision Evaluate(</a:t>
            </a:r>
          </a:p>
        </p:txBody>
      </p:sp>
      <p:sp>
        <p:nvSpPr>
          <p:cNvPr id="11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3A37850E-0740-4D5E-823F-4C1D7576A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50716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2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6A7861B1-33D7-418F-A018-8D7E4C5B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350716"/>
            <a:ext cx="66523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AccessContext context, DateTimeOffset now)</a:t>
            </a:r>
          </a:p>
        </p:txBody>
      </p:sp>
      <p:sp>
        <p:nvSpPr>
          <p:cNvPr id="13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E5610ABC-C6CD-4242-86D7-DCE29E24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67069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4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9AF12A51-19DC-45E3-A504-E1CD2694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67069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{</a:t>
            </a:r>
          </a:p>
        </p:txBody>
      </p:sp>
      <p:sp>
        <p:nvSpPr>
          <p:cNvPr id="15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5A40135D-505C-4336-B95B-36DB548D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99067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16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87DFD581-7120-4DD3-91E4-0277F305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990677"/>
            <a:ext cx="349775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var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denial = _rules</a:t>
            </a:r>
          </a:p>
        </p:txBody>
      </p:sp>
      <p:sp>
        <p:nvSpPr>
          <p:cNvPr id="17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6EC9E9CB-8513-45FC-9165-AD2DA68D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1065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18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FAD82866-7503-40FD-BBDE-70EB0F8D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310658"/>
            <a:ext cx="67895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.Select(rule =&gt; rule.Evaluate(context))</a:t>
            </a:r>
          </a:p>
        </p:txBody>
      </p:sp>
      <p:sp>
        <p:nvSpPr>
          <p:cNvPr id="19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488DE493-E7E8-48B4-B8F0-BFAF20E69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3063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6</a:t>
            </a:r>
          </a:p>
        </p:txBody>
      </p:sp>
      <p:sp>
        <p:nvSpPr>
          <p:cNvPr id="20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E3B5B670-B7EF-4B9D-B2DA-85359F31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630638"/>
            <a:ext cx="80240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.FirstOrDefault(outcome =&gt; outcome is not </a:t>
            </a: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null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);</a:t>
            </a:r>
          </a:p>
        </p:txBody>
      </p:sp>
      <p:sp>
        <p:nvSpPr>
          <p:cNvPr id="21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0969E618-27AA-4EAE-A6C6-6D4BA8E8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5061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7</a:t>
            </a:r>
          </a:p>
        </p:txBody>
      </p:sp>
      <p:sp>
        <p:nvSpPr>
          <p:cNvPr id="22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C80ED845-21D7-4638-B298-876B937D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950619"/>
            <a:ext cx="377219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return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denial is </a:t>
            </a: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null</a:t>
            </a:r>
          </a:p>
        </p:txBody>
      </p:sp>
      <p:sp>
        <p:nvSpPr>
          <p:cNvPr id="23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C2A2643E-B341-4372-B153-6E83AF83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27059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8</a:t>
            </a:r>
          </a:p>
        </p:txBody>
      </p:sp>
      <p:sp>
        <p:nvSpPr>
          <p:cNvPr id="24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4D4FB135-5ACF-46D5-863C-3D365BF1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270599"/>
            <a:ext cx="692675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? </a:t>
            </a: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new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(</a:t>
            </a: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true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 AccessDecisionCodes.Granted,</a:t>
            </a:r>
          </a:p>
        </p:txBody>
      </p:sp>
      <p:sp>
        <p:nvSpPr>
          <p:cNvPr id="25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01A18ACF-7C41-4A5A-A8C8-FFCA0830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590580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9</a:t>
            </a:r>
          </a:p>
        </p:txBody>
      </p:sp>
      <p:sp>
        <p:nvSpPr>
          <p:cNvPr id="26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65BD8785-72FA-4AC2-BC03-E5C7F23C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590580"/>
            <a:ext cx="692675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  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"Atributi i rizik su prihvatljivi."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27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E7D5447A-0D8F-48D3-8A13-B7A5DF3D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91056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10</a:t>
            </a:r>
          </a:p>
        </p:txBody>
      </p:sp>
      <p:sp>
        <p:nvSpPr>
          <p:cNvPr id="28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B60E66C2-5EF3-4017-8E85-4B731B5C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910560"/>
            <a:ext cx="55550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    now + grantReviewInterval)</a:t>
            </a:r>
          </a:p>
        </p:txBody>
      </p:sp>
      <p:sp>
        <p:nvSpPr>
          <p:cNvPr id="29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A2146D3C-9A19-4C9B-A41B-AE66357C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230541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11</a:t>
            </a:r>
          </a:p>
        </p:txBody>
      </p:sp>
      <p:sp>
        <p:nvSpPr>
          <p:cNvPr id="30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285C8637-332E-400A-B7EB-48413B41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6230541"/>
            <a:ext cx="692675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: </a:t>
            </a: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new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(</a:t>
            </a: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false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 denial.Code, denial.Reason,</a:t>
            </a:r>
          </a:p>
        </p:txBody>
      </p:sp>
      <p:sp>
        <p:nvSpPr>
          <p:cNvPr id="31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380CA667-D33B-4CB0-AE24-08288739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550521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12</a:t>
            </a:r>
          </a:p>
        </p:txBody>
      </p:sp>
      <p:sp>
        <p:nvSpPr>
          <p:cNvPr id="32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C7406C4C-9CEF-4705-8F7A-5242DA90F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6550521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    now + denial.ReviewIn);</a:t>
            </a:r>
          </a:p>
        </p:txBody>
      </p:sp>
      <p:sp>
        <p:nvSpPr>
          <p:cNvPr id="33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775D8A91-305E-4DBB-B3E8-37F72073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870502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13</a:t>
            </a:r>
          </a:p>
        </p:txBody>
      </p:sp>
      <p:sp>
        <p:nvSpPr>
          <p:cNvPr id="34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B8BF7555-42E4-4173-9A68-382AFB1A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6870502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}</a:t>
            </a:r>
          </a:p>
        </p:txBody>
      </p:sp>
      <p:sp>
        <p:nvSpPr>
          <p:cNvPr id="35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609E3B9E-29EE-4850-AEB0-3F749E3E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075" y="2434530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ТУМАЧЕЊЕ</a:t>
            </a:r>
          </a:p>
        </p:txBody>
      </p:sp>
      <p:sp>
        <p:nvSpPr>
          <p:cNvPr id="36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77B4A2AF-02D2-4BE4-82E6-F19DE96E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075" y="2849761"/>
            <a:ext cx="377353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Свако правило проверава један </a:t>
            </a:r>
          </a:p>
        </p:txBody>
      </p:sp>
      <p:sp>
        <p:nvSpPr>
          <p:cNvPr id="37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936A5B2D-ED70-4F3C-BF40-AF3532BE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075" y="3169741"/>
            <a:ext cx="457795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атрибут, прво одбијање одређује исход </a:t>
            </a:r>
          </a:p>
        </p:txBody>
      </p:sp>
      <p:sp>
        <p:nvSpPr>
          <p:cNvPr id="38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B43217DE-24C4-4BA3-87F4-C95D0612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075" y="3489722"/>
            <a:ext cx="306898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 рок следећег прегледа.</a:t>
            </a:r>
          </a:p>
        </p:txBody>
      </p:sp>
      <p:sp>
        <p:nvSpPr>
          <p:cNvPr id="39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A5439575-7FD7-4888-A4AB-95EA3AB2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075" y="4076402"/>
            <a:ext cx="29490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БЕЗБЕДНОСНА ГРАНИЦА</a:t>
            </a:r>
          </a:p>
        </p:txBody>
      </p:sp>
      <p:sp>
        <p:nvSpPr>
          <p:cNvPr id="40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A3706CD1-1509-48F3-B9F9-F038A674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075" y="4491633"/>
            <a:ext cx="404723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Одбијање је експлицитан исход са </a:t>
            </a:r>
          </a:p>
        </p:txBody>
      </p:sp>
      <p:sp>
        <p:nvSpPr>
          <p:cNvPr id="41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86B9A14B-26A6-4CD4-BFAE-89F68E53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075" y="4811613"/>
            <a:ext cx="409798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разлогом који се може тестирати и </a:t>
            </a:r>
          </a:p>
        </p:txBody>
      </p:sp>
      <p:sp>
        <p:nvSpPr>
          <p:cNvPr id="42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EB949FB9-8F43-4D22-BB73-4751934D1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075" y="5131594"/>
            <a:ext cx="146863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објаснити.</a:t>
            </a:r>
          </a:p>
        </p:txBody>
      </p:sp>
      <p:sp>
        <p:nvSpPr>
          <p:cNvPr id="43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C98DC1EE-04C4-4C5B-B2F2-386F4399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44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9554399F-8D02-4D2B-83B1-B030343FB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158029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29858AC-0F96-4A09-9F7B-A11A3BA4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662711-4425-483D-8803-E5EE730D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34530"/>
            <a:ext cx="11049000" cy="5275957"/>
          </a:xfrm>
          <a:prstGeom xmlns:a="http://schemas.openxmlformats.org/drawingml/2006/main" prst="roundRect">
            <a:avLst>
              <a:gd name="adj" fmla="val 2889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C6044-E7D9-48F8-A847-56E5550C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434530"/>
            <a:ext cx="28575" cy="13751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494333-88F0-44B9-80F4-5151D8DD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4076402"/>
            <a:ext cx="28575" cy="10551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576A67-CAE0-4B97-A1E0-939DF59A2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6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8A7BCEED-00A5-4878-BFBE-66AF59D5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3736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 · ПОЛИТИКА</a:t>
            </a:r>
          </a:p>
        </p:txBody>
      </p:sp>
      <p:sp>
        <p:nvSpPr>
          <p:cNvPr id="7" name="heading-source-15">
            <a:extLst xmlns:a="http://schemas.openxmlformats.org/drawingml/2006/main">
              <a:ext uri="{FF2B5EF4-FFF2-40B4-BE49-F238E27FC236}">
                <a16:creationId xmlns:a16="http://schemas.microsoft.com/office/drawing/2014/main" id="{59794A8B-0B19-463E-8188-749F50879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2325796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279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Иста улога, супротан контекст, друга одлука</a:t>
            </a:r>
          </a:p>
        </p:txBody>
      </p:sp>
      <p:sp>
        <p:nvSpPr>
          <p:cNvPr id="8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65B6AF16-8AC9-4E95-9B8F-D95BB442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634555"/>
            <a:ext cx="36348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C# · илустративни пример</a:t>
            </a:r>
          </a:p>
        </p:txBody>
      </p:sp>
      <p:sp>
        <p:nvSpPr>
          <p:cNvPr id="9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876E23A0-2570-4758-8EC6-AE16BA67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030736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0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37E7F2BA-28A1-40F1-AD62-F0F615C3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0736"/>
            <a:ext cx="11659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[Test]</a:t>
            </a:r>
          </a:p>
        </p:txBody>
      </p:sp>
      <p:sp>
        <p:nvSpPr>
          <p:cNvPr id="11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8A06E52A-12DB-42A1-86AA-D98755D4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50716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2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F02727E4-B480-41AD-81A9-8A04DD9D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350716"/>
            <a:ext cx="18517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public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void</a:t>
            </a:r>
          </a:p>
        </p:txBody>
      </p:sp>
      <p:sp>
        <p:nvSpPr>
          <p:cNvPr id="13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12204529-01F0-474E-B8EA-BA7281A6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67069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4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64DD366A-2F90-41E5-90FD-08E23B488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670697"/>
            <a:ext cx="81611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Evaluate_WhenRiskIsTooHigh_AsksForEarlyReevaluation()</a:t>
            </a:r>
          </a:p>
        </p:txBody>
      </p:sp>
      <p:sp>
        <p:nvSpPr>
          <p:cNvPr id="15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64BB6264-6636-4397-9896-AE740BFE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99067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16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7D75C6E1-36EF-4AAD-BE98-EF05892A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99067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{</a:t>
            </a:r>
          </a:p>
        </p:txBody>
      </p:sp>
      <p:sp>
        <p:nvSpPr>
          <p:cNvPr id="17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36F23DB5-8E3E-4703-9808-B0BA3CA6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1065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18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DF0ECB1C-A051-41F5-A167-B4E8BB08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310658"/>
            <a:ext cx="52808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var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decision = _policy.Evaluate(</a:t>
            </a:r>
          </a:p>
        </p:txBody>
      </p:sp>
      <p:sp>
        <p:nvSpPr>
          <p:cNvPr id="19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4381ADBF-AA8F-46B8-881F-C08A612A1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3063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6</a:t>
            </a:r>
          </a:p>
        </p:txBody>
      </p:sp>
      <p:sp>
        <p:nvSpPr>
          <p:cNvPr id="20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66088212-D344-4416-B947-4EB2A3C1F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630638"/>
            <a:ext cx="7475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Contexts.Safe with { RiskScore = 85 }, Now);</a:t>
            </a:r>
          </a:p>
        </p:txBody>
      </p:sp>
      <p:sp>
        <p:nvSpPr>
          <p:cNvPr id="21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4972D2BA-9133-407E-8D3C-7D6A1E62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5061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7</a:t>
            </a:r>
          </a:p>
        </p:txBody>
      </p:sp>
      <p:sp>
        <p:nvSpPr>
          <p:cNvPr id="22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5576D2BF-5630-4532-AD4F-7CF0077D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950619"/>
            <a:ext cx="56922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using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(Assert.EnterMultipleScope())</a:t>
            </a:r>
          </a:p>
        </p:txBody>
      </p:sp>
      <p:sp>
        <p:nvSpPr>
          <p:cNvPr id="23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60DD9410-8226-4D3C-B162-00C97DB5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27059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8</a:t>
            </a:r>
          </a:p>
        </p:txBody>
      </p:sp>
      <p:sp>
        <p:nvSpPr>
          <p:cNvPr id="24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77269082-DFF0-4DA3-8F62-F198F0A1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270599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{</a:t>
            </a:r>
          </a:p>
        </p:txBody>
      </p:sp>
      <p:sp>
        <p:nvSpPr>
          <p:cNvPr id="25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AD42892A-F785-4784-AE71-4C6AAF02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590580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9</a:t>
            </a:r>
          </a:p>
        </p:txBody>
      </p:sp>
      <p:sp>
        <p:nvSpPr>
          <p:cNvPr id="26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7E6270F2-7B9B-47B6-839C-0A1B7FCA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590580"/>
            <a:ext cx="50064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Assert.That(decision.Code,</a:t>
            </a:r>
          </a:p>
        </p:txBody>
      </p:sp>
      <p:sp>
        <p:nvSpPr>
          <p:cNvPr id="27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72DDC716-BDA3-47F3-BFF8-B72F00B9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91056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10</a:t>
            </a:r>
          </a:p>
        </p:txBody>
      </p:sp>
      <p:sp>
        <p:nvSpPr>
          <p:cNvPr id="28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3DB7B1C9-C651-48D3-AEC9-2CDB52149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910560"/>
            <a:ext cx="81611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    Is.EqualTo(AccessDecisionCodes.RiskTooHigh));</a:t>
            </a:r>
          </a:p>
        </p:txBody>
      </p:sp>
      <p:sp>
        <p:nvSpPr>
          <p:cNvPr id="29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79A57E3A-8DEA-4DFC-A1C1-8AC670A44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230541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11</a:t>
            </a:r>
          </a:p>
        </p:txBody>
      </p:sp>
      <p:sp>
        <p:nvSpPr>
          <p:cNvPr id="30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56535A78-D72E-4243-A5A9-6DE34372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6230541"/>
            <a:ext cx="59665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Assert.That(decision.ReviewAfter,</a:t>
            </a:r>
          </a:p>
        </p:txBody>
      </p:sp>
      <p:sp>
        <p:nvSpPr>
          <p:cNvPr id="31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3E2A1D42-AC0A-492B-B574-3E8BE27B4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550521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12</a:t>
            </a:r>
          </a:p>
        </p:txBody>
      </p:sp>
      <p:sp>
        <p:nvSpPr>
          <p:cNvPr id="32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AD545505-60C0-46C7-B137-F8654F1C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6550521"/>
            <a:ext cx="59665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    Is.EqualTo(Now.AddHours(1)));</a:t>
            </a:r>
          </a:p>
        </p:txBody>
      </p:sp>
      <p:sp>
        <p:nvSpPr>
          <p:cNvPr id="33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99665913-3F4B-4897-BAAB-7E0B4B72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870502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13</a:t>
            </a:r>
          </a:p>
        </p:txBody>
      </p:sp>
      <p:sp>
        <p:nvSpPr>
          <p:cNvPr id="34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32AE98B4-3E43-4840-88F9-D0F121E7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6870502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}</a:t>
            </a:r>
          </a:p>
        </p:txBody>
      </p:sp>
      <p:sp>
        <p:nvSpPr>
          <p:cNvPr id="35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03E41B7B-4A65-40F7-888D-590D12AA0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7190482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14</a:t>
            </a:r>
          </a:p>
        </p:txBody>
      </p:sp>
      <p:sp>
        <p:nvSpPr>
          <p:cNvPr id="36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89D57342-6290-407E-902F-22F67742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7190482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}</a:t>
            </a:r>
          </a:p>
        </p:txBody>
      </p:sp>
      <p:sp>
        <p:nvSpPr>
          <p:cNvPr id="37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3EDDDFB9-16A8-4DCD-B76E-FE08E0E8D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075" y="2434530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ДОКАЗ</a:t>
            </a:r>
          </a:p>
        </p:txBody>
      </p:sp>
      <p:sp>
        <p:nvSpPr>
          <p:cNvPr id="38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DF5C46B9-2949-4853-AB28-DA457DB32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075" y="2849761"/>
            <a:ext cx="399767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Тест мења само процену ризика и </a:t>
            </a:r>
          </a:p>
        </p:txBody>
      </p:sp>
      <p:sp>
        <p:nvSpPr>
          <p:cNvPr id="39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A5C03C91-2B16-424B-9CB0-295C9386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075" y="3169741"/>
            <a:ext cx="428014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показује да се мењају и разлог и рок </a:t>
            </a:r>
          </a:p>
        </p:txBody>
      </p:sp>
      <p:sp>
        <p:nvSpPr>
          <p:cNvPr id="40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48728942-5631-43E8-BB0B-AC0DD97D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075" y="3489722"/>
            <a:ext cx="22708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поновне провере.</a:t>
            </a:r>
          </a:p>
        </p:txBody>
      </p:sp>
      <p:sp>
        <p:nvSpPr>
          <p:cNvPr id="41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AFA41118-C60C-4815-93FB-9488EE93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075" y="4076402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ОЧЕКИВАНИ ИСХОД</a:t>
            </a:r>
          </a:p>
        </p:txBody>
      </p:sp>
      <p:sp>
        <p:nvSpPr>
          <p:cNvPr id="42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47F2AF6C-F190-495E-8E63-83B29D7C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075" y="4491633"/>
            <a:ext cx="426779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Тест мења једну чињеницу и очекује </a:t>
            </a:r>
          </a:p>
        </p:txBody>
      </p:sp>
      <p:sp>
        <p:nvSpPr>
          <p:cNvPr id="43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6020D36F-D15B-4CE6-8C88-12B53D35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075" y="4811613"/>
            <a:ext cx="391596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јасан, стабилан разлог одбијања.</a:t>
            </a:r>
          </a:p>
        </p:txBody>
      </p:sp>
      <p:sp>
        <p:nvSpPr>
          <p:cNvPr id="44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7C373856-E539-4544-9BA0-E9809C51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45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DA6FDB5B-DDC5-45C7-B021-25D251D07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0933186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F9ABE3-E7C9-420E-8C2C-617AD0F1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12A803-83A4-43C5-8897-0440E6F8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436941"/>
            <a:ext cx="15849600" cy="1020961"/>
          </a:xfrm>
          <a:prstGeom xmlns:a="http://schemas.openxmlformats.org/drawingml/2006/main" prst="roundRect">
            <a:avLst>
              <a:gd name="adj" fmla="val 11195"/>
            </a:avLst>
          </a:prstGeom>
          <a:solidFill xmlns:a="http://schemas.openxmlformats.org/drawingml/2006/main">
            <a:srgbClr val="E9EBE2"/>
          </a:solidFill>
          <a:ln xmlns:a="http://schemas.openxmlformats.org/drawingml/2006/main" w="0">
            <a:noFill/>
          </a:ln>
        </p:spPr>
      </p:sp>
      <p:sp>
        <p:nvSpPr>
          <p:cNvPr id="3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CDE84FC0-99E4-43D4-A897-6C2334A1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436941"/>
            <a:ext cx="114300" cy="1020961"/>
          </a:xfrm>
          <a:custGeom xmlns:a="http://schemas.openxmlformats.org/drawingml/2006/main">
            <a:pathLst>
              <a:path w="114300" h="102096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906661"/>
                </a:lnTo>
                <a:lnTo>
                  <a:pt x="61" y="910401"/>
                </a:lnTo>
                <a:lnTo>
                  <a:pt x="245" y="914137"/>
                </a:lnTo>
                <a:lnTo>
                  <a:pt x="550" y="917864"/>
                </a:lnTo>
                <a:lnTo>
                  <a:pt x="978" y="921580"/>
                </a:lnTo>
                <a:lnTo>
                  <a:pt x="1527" y="925280"/>
                </a:lnTo>
                <a:lnTo>
                  <a:pt x="2196" y="928960"/>
                </a:lnTo>
                <a:lnTo>
                  <a:pt x="2986" y="932616"/>
                </a:lnTo>
                <a:lnTo>
                  <a:pt x="3895" y="936244"/>
                </a:lnTo>
                <a:lnTo>
                  <a:pt x="4922" y="939840"/>
                </a:lnTo>
                <a:lnTo>
                  <a:pt x="6066" y="943401"/>
                </a:lnTo>
                <a:lnTo>
                  <a:pt x="7326" y="946923"/>
                </a:lnTo>
                <a:lnTo>
                  <a:pt x="8701" y="950402"/>
                </a:lnTo>
                <a:lnTo>
                  <a:pt x="10188" y="953833"/>
                </a:lnTo>
                <a:lnTo>
                  <a:pt x="11787" y="957215"/>
                </a:lnTo>
                <a:lnTo>
                  <a:pt x="13496" y="960542"/>
                </a:lnTo>
                <a:lnTo>
                  <a:pt x="15313" y="963811"/>
                </a:lnTo>
                <a:lnTo>
                  <a:pt x="17236" y="967019"/>
                </a:lnTo>
                <a:lnTo>
                  <a:pt x="19263" y="970163"/>
                </a:lnTo>
                <a:lnTo>
                  <a:pt x="21392" y="973238"/>
                </a:lnTo>
                <a:lnTo>
                  <a:pt x="23620" y="976242"/>
                </a:lnTo>
                <a:lnTo>
                  <a:pt x="25945" y="979172"/>
                </a:lnTo>
                <a:lnTo>
                  <a:pt x="28365" y="982024"/>
                </a:lnTo>
                <a:lnTo>
                  <a:pt x="30877" y="984796"/>
                </a:lnTo>
                <a:lnTo>
                  <a:pt x="33478" y="987483"/>
                </a:lnTo>
                <a:lnTo>
                  <a:pt x="36165" y="990084"/>
                </a:lnTo>
                <a:lnTo>
                  <a:pt x="38937" y="992596"/>
                </a:lnTo>
                <a:lnTo>
                  <a:pt x="41789" y="995016"/>
                </a:lnTo>
                <a:lnTo>
                  <a:pt x="44719" y="997341"/>
                </a:lnTo>
                <a:lnTo>
                  <a:pt x="47723" y="999569"/>
                </a:lnTo>
                <a:lnTo>
                  <a:pt x="50798" y="1001698"/>
                </a:lnTo>
                <a:lnTo>
                  <a:pt x="53942" y="1003725"/>
                </a:lnTo>
                <a:lnTo>
                  <a:pt x="57150" y="1005648"/>
                </a:lnTo>
                <a:lnTo>
                  <a:pt x="60419" y="1007465"/>
                </a:lnTo>
                <a:lnTo>
                  <a:pt x="63746" y="1009173"/>
                </a:lnTo>
                <a:lnTo>
                  <a:pt x="67128" y="1010773"/>
                </a:lnTo>
                <a:lnTo>
                  <a:pt x="70559" y="1012260"/>
                </a:lnTo>
                <a:lnTo>
                  <a:pt x="74038" y="1013635"/>
                </a:lnTo>
                <a:lnTo>
                  <a:pt x="77559" y="1014895"/>
                </a:lnTo>
                <a:lnTo>
                  <a:pt x="81120" y="1016039"/>
                </a:lnTo>
                <a:lnTo>
                  <a:pt x="84717" y="1017066"/>
                </a:lnTo>
                <a:lnTo>
                  <a:pt x="88345" y="1017975"/>
                </a:lnTo>
                <a:lnTo>
                  <a:pt x="92001" y="1018765"/>
                </a:lnTo>
                <a:lnTo>
                  <a:pt x="95681" y="1019434"/>
                </a:lnTo>
                <a:lnTo>
                  <a:pt x="99381" y="1019983"/>
                </a:lnTo>
                <a:lnTo>
                  <a:pt x="103097" y="1020411"/>
                </a:lnTo>
                <a:lnTo>
                  <a:pt x="106824" y="1020716"/>
                </a:lnTo>
                <a:lnTo>
                  <a:pt x="110560" y="1020900"/>
                </a:lnTo>
                <a:lnTo>
                  <a:pt x="114300" y="1020961"/>
                </a:lnTo>
                <a:lnTo>
                  <a:pt x="114300" y="1020961"/>
                </a:lnTo>
                <a:lnTo>
                  <a:pt x="112430" y="1020900"/>
                </a:lnTo>
                <a:lnTo>
                  <a:pt x="110562" y="1020716"/>
                </a:lnTo>
                <a:lnTo>
                  <a:pt x="108698" y="1020411"/>
                </a:lnTo>
                <a:lnTo>
                  <a:pt x="106840" y="1019983"/>
                </a:lnTo>
                <a:lnTo>
                  <a:pt x="104991" y="1019434"/>
                </a:lnTo>
                <a:lnTo>
                  <a:pt x="103151" y="1018765"/>
                </a:lnTo>
                <a:lnTo>
                  <a:pt x="101323" y="1017975"/>
                </a:lnTo>
                <a:lnTo>
                  <a:pt x="99508" y="1017066"/>
                </a:lnTo>
                <a:lnTo>
                  <a:pt x="97710" y="1016039"/>
                </a:lnTo>
                <a:lnTo>
                  <a:pt x="95930" y="1014895"/>
                </a:lnTo>
                <a:lnTo>
                  <a:pt x="94169" y="1013635"/>
                </a:lnTo>
                <a:lnTo>
                  <a:pt x="92430" y="1012260"/>
                </a:lnTo>
                <a:lnTo>
                  <a:pt x="90714" y="1010773"/>
                </a:lnTo>
                <a:lnTo>
                  <a:pt x="89023" y="1009173"/>
                </a:lnTo>
                <a:lnTo>
                  <a:pt x="87360" y="1007465"/>
                </a:lnTo>
                <a:lnTo>
                  <a:pt x="85725" y="1005648"/>
                </a:lnTo>
                <a:lnTo>
                  <a:pt x="84121" y="1003725"/>
                </a:lnTo>
                <a:lnTo>
                  <a:pt x="82549" y="1001698"/>
                </a:lnTo>
                <a:lnTo>
                  <a:pt x="81011" y="999569"/>
                </a:lnTo>
                <a:lnTo>
                  <a:pt x="79509" y="997341"/>
                </a:lnTo>
                <a:lnTo>
                  <a:pt x="78044" y="995016"/>
                </a:lnTo>
                <a:lnTo>
                  <a:pt x="76618" y="992596"/>
                </a:lnTo>
                <a:lnTo>
                  <a:pt x="75233" y="990084"/>
                </a:lnTo>
                <a:lnTo>
                  <a:pt x="73889" y="987483"/>
                </a:lnTo>
                <a:lnTo>
                  <a:pt x="72588" y="984796"/>
                </a:lnTo>
                <a:lnTo>
                  <a:pt x="71332" y="982024"/>
                </a:lnTo>
                <a:lnTo>
                  <a:pt x="70122" y="979172"/>
                </a:lnTo>
                <a:lnTo>
                  <a:pt x="68960" y="976242"/>
                </a:lnTo>
                <a:lnTo>
                  <a:pt x="67846" y="973238"/>
                </a:lnTo>
                <a:lnTo>
                  <a:pt x="66782" y="970163"/>
                </a:lnTo>
                <a:lnTo>
                  <a:pt x="65768" y="967019"/>
                </a:lnTo>
                <a:lnTo>
                  <a:pt x="64807" y="963811"/>
                </a:lnTo>
                <a:lnTo>
                  <a:pt x="63898" y="960542"/>
                </a:lnTo>
                <a:lnTo>
                  <a:pt x="63044" y="957215"/>
                </a:lnTo>
                <a:lnTo>
                  <a:pt x="62244" y="953833"/>
                </a:lnTo>
                <a:lnTo>
                  <a:pt x="61500" y="950402"/>
                </a:lnTo>
                <a:lnTo>
                  <a:pt x="60813" y="946923"/>
                </a:lnTo>
                <a:lnTo>
                  <a:pt x="60183" y="943401"/>
                </a:lnTo>
                <a:lnTo>
                  <a:pt x="59611" y="939840"/>
                </a:lnTo>
                <a:lnTo>
                  <a:pt x="59097" y="936244"/>
                </a:lnTo>
                <a:lnTo>
                  <a:pt x="58643" y="932616"/>
                </a:lnTo>
                <a:lnTo>
                  <a:pt x="58248" y="928960"/>
                </a:lnTo>
                <a:lnTo>
                  <a:pt x="57913" y="925280"/>
                </a:lnTo>
                <a:lnTo>
                  <a:pt x="57639" y="921580"/>
                </a:lnTo>
                <a:lnTo>
                  <a:pt x="57425" y="917864"/>
                </a:lnTo>
                <a:lnTo>
                  <a:pt x="57272" y="914137"/>
                </a:lnTo>
                <a:lnTo>
                  <a:pt x="57181" y="910401"/>
                </a:lnTo>
                <a:lnTo>
                  <a:pt x="57150" y="90666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8DD46A-A238-43A8-A4F4-0CB6F2E0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7426fd0b7b4c72"/>
          <a:stretch xmlns:a="http://schemas.openxmlformats.org/drawingml/2006/main"/>
        </p:blipFill>
        <p:spPr>
          <a:xfrm xmlns:a="http://schemas.openxmlformats.org/drawingml/2006/main">
            <a:off x="1219200" y="3333750"/>
            <a:ext cx="15849600" cy="3905250"/>
          </a:xfrm>
          <a:prstGeom xmlns:a="http://schemas.openxmlformats.org/drawingml/2006/main" prst="rect">
            <a:avLst/>
          </a:prstGeom>
        </p:spPr>
      </p:pic>
      <p:sp>
        <p:nvSpPr>
          <p:cNvPr id="6" name="text-pravila-red">
            <a:extLst xmlns:a="http://schemas.openxmlformats.org/drawingml/2006/main">
              <a:ext uri="{FF2B5EF4-FFF2-40B4-BE49-F238E27FC236}">
                <a16:creationId xmlns:a16="http://schemas.microsoft.com/office/drawing/2014/main" id="{43F1D7A3-A227-4862-90E6-65A38A821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5029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ОБЈАШЊЕЊЕ · ИЛУСТРАТИВНИ МОДЕЛ</a:t>
            </a:r>
          </a:p>
        </p:txBody>
      </p:sp>
      <p:sp>
        <p:nvSpPr>
          <p:cNvPr id="7" name="heading-pravila-red">
            <a:extLst xmlns:a="http://schemas.openxmlformats.org/drawingml/2006/main">
              <a:ext uri="{FF2B5EF4-FFF2-40B4-BE49-F238E27FC236}">
                <a16:creationId xmlns:a16="http://schemas.microsoft.com/office/drawing/2014/main" id="{9E2E7DF8-0686-4A58-94AF-A7B2E434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517011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Прво одбијање у политици</a:t>
            </a:r>
          </a:p>
        </p:txBody>
      </p:sp>
      <p:sp>
        <p:nvSpPr>
          <p:cNvPr id="8" name="text-pravila-red">
            <a:extLst xmlns:a="http://schemas.openxmlformats.org/drawingml/2006/main">
              <a:ext uri="{FF2B5EF4-FFF2-40B4-BE49-F238E27FC236}">
                <a16:creationId xmlns:a16="http://schemas.microsoft.com/office/drawing/2014/main" id="{2344B1BE-8BDD-4BED-97FD-CADFBE0A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98772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Наставни пример користи први негативан исход у уређеном скупу правила.</a:t>
            </a:r>
          </a:p>
        </p:txBody>
      </p:sp>
      <p:sp>
        <p:nvSpPr>
          <p:cNvPr id="9" name="text-pravila-red">
            <a:extLst xmlns:a="http://schemas.openxmlformats.org/drawingml/2006/main">
              <a:ext uri="{FF2B5EF4-FFF2-40B4-BE49-F238E27FC236}">
                <a16:creationId xmlns:a16="http://schemas.microsoft.com/office/drawing/2014/main" id="{C1AA5FA3-36A6-43EC-A8DF-AAAC96C8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6035" y="4343400"/>
            <a:ext cx="165348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Правило 1</a:t>
            </a:r>
          </a:p>
        </p:txBody>
      </p:sp>
      <p:sp>
        <p:nvSpPr>
          <p:cNvPr id="10" name="text-pravila-red">
            <a:extLst xmlns:a="http://schemas.openxmlformats.org/drawingml/2006/main">
              <a:ext uri="{FF2B5EF4-FFF2-40B4-BE49-F238E27FC236}">
                <a16:creationId xmlns:a16="http://schemas.microsoft.com/office/drawing/2014/main" id="{FF62DB9E-1560-4415-A22F-F97C4F81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9063" y="4716661"/>
            <a:ext cx="27272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домен прихватљив</a:t>
            </a:r>
          </a:p>
        </p:txBody>
      </p:sp>
      <p:sp>
        <p:nvSpPr>
          <p:cNvPr id="11" name="text-pravila-red">
            <a:extLst xmlns:a="http://schemas.openxmlformats.org/drawingml/2006/main">
              <a:ext uri="{FF2B5EF4-FFF2-40B4-BE49-F238E27FC236}">
                <a16:creationId xmlns:a16="http://schemas.microsoft.com/office/drawing/2014/main" id="{53C7BBF5-265A-47D1-9959-0CED45DD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8535" y="4343400"/>
            <a:ext cx="165348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A8520A"/>
                </a:solidFill>
                <a:latin typeface="IBM Plex Sans"/>
                <a:ea typeface="IBM Plex Sans"/>
                <a:cs typeface="IBM Plex Sans"/>
              </a:rPr>
              <a:t>Правило 2</a:t>
            </a:r>
          </a:p>
        </p:txBody>
      </p:sp>
      <p:sp>
        <p:nvSpPr>
          <p:cNvPr id="12" name="text-pravila-red">
            <a:extLst xmlns:a="http://schemas.openxmlformats.org/drawingml/2006/main">
              <a:ext uri="{FF2B5EF4-FFF2-40B4-BE49-F238E27FC236}">
                <a16:creationId xmlns:a16="http://schemas.microsoft.com/office/drawing/2014/main" id="{7DD7F0F5-6972-4715-BCAD-CB89EB2B2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6864" y="4716661"/>
            <a:ext cx="267682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A8520A"/>
                </a:solidFill>
                <a:latin typeface="IBM Plex Sans"/>
                <a:ea typeface="IBM Plex Sans"/>
                <a:cs typeface="IBM Plex Sans"/>
              </a:rPr>
              <a:t>ризик изнад прага</a:t>
            </a:r>
          </a:p>
        </p:txBody>
      </p:sp>
      <p:sp>
        <p:nvSpPr>
          <p:cNvPr id="13" name="text-pravila-red">
            <a:extLst xmlns:a="http://schemas.openxmlformats.org/drawingml/2006/main">
              <a:ext uri="{FF2B5EF4-FFF2-40B4-BE49-F238E27FC236}">
                <a16:creationId xmlns:a16="http://schemas.microsoft.com/office/drawing/2014/main" id="{FD469492-98FA-4695-8C74-E33E31F71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1035" y="4343400"/>
            <a:ext cx="165348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Правило 3</a:t>
            </a:r>
          </a:p>
        </p:txBody>
      </p:sp>
      <p:sp>
        <p:nvSpPr>
          <p:cNvPr id="14" name="text-pravila-red">
            <a:extLst xmlns:a="http://schemas.openxmlformats.org/drawingml/2006/main">
              <a:ext uri="{FF2B5EF4-FFF2-40B4-BE49-F238E27FC236}">
                <a16:creationId xmlns:a16="http://schemas.microsoft.com/office/drawing/2014/main" id="{E3E74695-4CC6-4753-80F0-3BA8A14E1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8432" y="4716661"/>
            <a:ext cx="233868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није достигнуто</a:t>
            </a:r>
          </a:p>
        </p:txBody>
      </p:sp>
      <p:sp>
        <p:nvSpPr>
          <p:cNvPr id="15" name="text-pravila-red">
            <a:extLst xmlns:a="http://schemas.openxmlformats.org/drawingml/2006/main">
              <a:ext uri="{FF2B5EF4-FFF2-40B4-BE49-F238E27FC236}">
                <a16:creationId xmlns:a16="http://schemas.microsoft.com/office/drawing/2014/main" id="{CC1BF574-683A-460A-9362-29D2DA0E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5208" y="6410325"/>
            <a:ext cx="517073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Одбијање · RiskTooHigh · рани преглед</a:t>
            </a:r>
          </a:p>
        </p:txBody>
      </p:sp>
      <p:sp>
        <p:nvSpPr>
          <p:cNvPr id="16" name="text-pravila-red">
            <a:extLst xmlns:a="http://schemas.openxmlformats.org/drawingml/2006/main">
              <a:ext uri="{FF2B5EF4-FFF2-40B4-BE49-F238E27FC236}">
                <a16:creationId xmlns:a16="http://schemas.microsoft.com/office/drawing/2014/main" id="{0B03CDC3-9067-4F5E-AF30-DD71A49B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7971" y="4295775"/>
            <a:ext cx="191646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Ред правила</a:t>
            </a:r>
          </a:p>
        </p:txBody>
      </p:sp>
      <p:sp>
        <p:nvSpPr>
          <p:cNvPr id="17" name="text-pravila-red">
            <a:extLst xmlns:a="http://schemas.openxmlformats.org/drawingml/2006/main">
              <a:ext uri="{FF2B5EF4-FFF2-40B4-BE49-F238E27FC236}">
                <a16:creationId xmlns:a16="http://schemas.microsoft.com/office/drawing/2014/main" id="{6F1F61C6-678E-48CC-B249-2BADA610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3493" y="4669036"/>
            <a:ext cx="212556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је део уговора</a:t>
            </a:r>
          </a:p>
        </p:txBody>
      </p:sp>
      <p:sp>
        <p:nvSpPr>
          <p:cNvPr id="18" name="text-pravila-red">
            <a:extLst xmlns:a="http://schemas.openxmlformats.org/drawingml/2006/main">
              <a:ext uri="{FF2B5EF4-FFF2-40B4-BE49-F238E27FC236}">
                <a16:creationId xmlns:a16="http://schemas.microsoft.com/office/drawing/2014/main" id="{E65A5F7B-89D6-45AF-86C4-5FA56A03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589341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Тумачење</a:t>
            </a:r>
          </a:p>
        </p:txBody>
      </p:sp>
      <p:sp>
        <p:nvSpPr>
          <p:cNvPr id="19" name="text-pravila-red">
            <a:extLst xmlns:a="http://schemas.openxmlformats.org/drawingml/2006/main">
              <a:ext uri="{FF2B5EF4-FFF2-40B4-BE49-F238E27FC236}">
                <a16:creationId xmlns:a16="http://schemas.microsoft.com/office/drawing/2014/main" id="{20DF1F6C-B7BE-407B-857F-FF36F1C3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85522"/>
            <a:ext cx="1056203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Ово је стратегија спајања правила у приказаном коду. Није опште правило свих ABAC система.</a:t>
            </a:r>
          </a:p>
        </p:txBody>
      </p:sp>
      <p:sp>
        <p:nvSpPr>
          <p:cNvPr id="20" name="text-pravila-red">
            <a:extLst xmlns:a="http://schemas.openxmlformats.org/drawingml/2006/main">
              <a:ext uri="{FF2B5EF4-FFF2-40B4-BE49-F238E27FC236}">
                <a16:creationId xmlns:a16="http://schemas.microsoft.com/office/drawing/2014/main" id="{F3D75049-C657-4465-B85B-DD76ABBA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1" name="text-pravila-red">
            <a:extLst xmlns:a="http://schemas.openxmlformats.org/drawingml/2006/main">
              <a:ext uri="{FF2B5EF4-FFF2-40B4-BE49-F238E27FC236}">
                <a16:creationId xmlns:a16="http://schemas.microsoft.com/office/drawing/2014/main" id="{2F100EB0-587B-4BEE-BE90-E14E0F99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90938488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683097-978B-4896-8900-B55CCF07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37D45-C4F5-4435-8711-270955FB0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9DA69A-BF11-43F9-9DB1-7C5B1A78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72558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4408B4-56C8-4B54-9DC4-BE8EF430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32524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4C9BCC-95B0-4801-A637-44DC5A04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6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1E4C2C0D-C7D6-442D-A154-79266197D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3736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 · ПОЛИТИКА</a:t>
            </a:r>
          </a:p>
        </p:txBody>
      </p:sp>
      <p:sp>
        <p:nvSpPr>
          <p:cNvPr id="7" name="heading-source-11">
            <a:extLst xmlns:a="http://schemas.openxmlformats.org/drawingml/2006/main">
              <a:ext uri="{FF2B5EF4-FFF2-40B4-BE49-F238E27FC236}">
                <a16:creationId xmlns:a16="http://schemas.microsoft.com/office/drawing/2014/main" id="{6176FE36-B429-402A-BF93-FC34B686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83401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962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Право приступа није заувек</a:t>
            </a:r>
          </a:p>
        </p:txBody>
      </p:sp>
      <p:sp>
        <p:nvSpPr>
          <p:cNvPr id="8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A9CAA2D0-04D7-4C37-ACFE-5766B5E5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995481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Наведена правила остају видљива у имплементацији, тестовима и ревизији.</a:t>
            </a:r>
          </a:p>
        </p:txBody>
      </p:sp>
      <p:sp>
        <p:nvSpPr>
          <p:cNvPr id="9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58230FA4-AA34-43DB-BE9B-4B097F76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45941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0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F847DB4C-1F81-42DA-892D-B0CD068E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303091"/>
            <a:ext cx="681156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Атрибути се читају из поузданог, јасног контекста.</a:t>
            </a:r>
          </a:p>
        </p:txBody>
      </p:sp>
      <p:sp>
        <p:nvSpPr>
          <p:cNvPr id="11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22554C28-1217-4EAE-87DD-4A6D89CA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43027"/>
            <a:ext cx="191779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Јасно правило</a:t>
            </a:r>
          </a:p>
        </p:txBody>
      </p:sp>
      <p:sp>
        <p:nvSpPr>
          <p:cNvPr id="12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DF1EFBB5-AB5E-456F-8BA2-AB460380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05908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3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FBD07420-051D-4EEF-AFF6-220BBE1A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463058"/>
            <a:ext cx="740598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Исто стање мора довести до истог резултата политике.</a:t>
            </a:r>
          </a:p>
        </p:txBody>
      </p:sp>
      <p:sp>
        <p:nvSpPr>
          <p:cNvPr id="14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2C19570A-88C4-436C-8EE9-DD850E14F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902994"/>
            <a:ext cx="270718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Проверљива примена</a:t>
            </a:r>
          </a:p>
        </p:txBody>
      </p:sp>
      <p:sp>
        <p:nvSpPr>
          <p:cNvPr id="15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0E2482D9-62AD-4D33-AC04-CA8D28E8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65874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16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D2F1E4BE-EBB7-4956-88FE-4E5ED8CF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623024"/>
            <a:ext cx="917659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Ризик укључује имовину, претњу, контролу и преосталу изложеност.</a:t>
            </a:r>
          </a:p>
        </p:txBody>
      </p:sp>
      <p:sp>
        <p:nvSpPr>
          <p:cNvPr id="17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46FD041A-A5CD-47E8-9E5E-248EA34E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062960"/>
            <a:ext cx="188892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Видљив доказ</a:t>
            </a:r>
          </a:p>
        </p:txBody>
      </p:sp>
      <p:sp>
        <p:nvSpPr>
          <p:cNvPr id="18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DBCC4FA2-DC79-4A53-A2DE-9131D597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9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5E6D9B89-6DCB-450E-869F-9642F063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37475296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9EBE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D8BEAB-0A21-4EED-958A-8D0A06C5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58657"/>
            <a:ext cx="1673870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BBC2B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BD4886-43A1-4737-BB47-8819AFB16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970" y="6158657"/>
            <a:ext cx="1309688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BBC2B8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2085A3-20CD-4979-BC3B-9EF9321F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957" y="6158657"/>
            <a:ext cx="787896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BBC2B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FF1EF3-1108-44F0-BA8F-70C28F11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154" y="6158657"/>
            <a:ext cx="814388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BBC2B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F141B-DCBA-4A43-A66A-39B45A72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C2B8"/>
          </a:solidFill>
          <a:ln xmlns:a="http://schemas.openxmlformats.org/drawingml/2006/main" w="0">
            <a:noFill/>
          </a:ln>
        </p:spPr>
      </p:sp>
      <p:sp>
        <p:nvSpPr>
          <p:cNvPr id="6" name="text-deo3">
            <a:extLst xmlns:a="http://schemas.openxmlformats.org/drawingml/2006/main">
              <a:ext uri="{FF2B5EF4-FFF2-40B4-BE49-F238E27FC236}">
                <a16:creationId xmlns:a16="http://schemas.microsoft.com/office/drawing/2014/main" id="{EBF0E419-B7D6-4AA5-9B43-E4BE5236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3390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0">
                <a:latin typeface="IBM Plex Mono"/>
                <a:ea typeface="IBM Plex Mono"/>
                <a:cs typeface="IBM Plex Mono"/>
              </a:defRPr>
            </a:pPr>
            <a:r>
              <a:rPr sz="210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7" name="text-deo3">
            <a:extLst xmlns:a="http://schemas.openxmlformats.org/drawingml/2006/main">
              <a:ext uri="{FF2B5EF4-FFF2-40B4-BE49-F238E27FC236}">
                <a16:creationId xmlns:a16="http://schemas.microsoft.com/office/drawing/2014/main" id="{27643C2E-4E57-403F-A8F9-295E7A6D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1964"/>
            <a:ext cx="17488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ТРЕЋИ ДЕО</a:t>
            </a:r>
          </a:p>
        </p:txBody>
      </p:sp>
      <p:sp>
        <p:nvSpPr>
          <p:cNvPr id="8" name="heading-deo3">
            <a:extLst xmlns:a="http://schemas.openxmlformats.org/drawingml/2006/main">
              <a:ext uri="{FF2B5EF4-FFF2-40B4-BE49-F238E27FC236}">
                <a16:creationId xmlns:a16="http://schemas.microsoft.com/office/drawing/2014/main" id="{DF9488EF-91E0-42B7-9E5B-9F1294EC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04345"/>
            <a:ext cx="9242971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654"/>
          </a:bodyPr>
          <a:lstStyle xmlns:a="http://schemas.openxmlformats.org/drawingml/2006/main"/>
          <a:p xmlns:a="http://schemas.openxmlformats.org/drawingml/2006/main">
            <a:pPr algn="l">
              <a:defRPr sz="7200">
                <a:latin typeface="IBM Plex Sans"/>
                <a:ea typeface="IBM Plex Sans"/>
                <a:cs typeface="IBM Plex Sans"/>
              </a:defRPr>
            </a:pPr>
            <a:r>
              <a:rPr sz="72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Ризик и одговорност</a:t>
            </a:r>
          </a:p>
        </p:txBody>
      </p:sp>
      <p:sp>
        <p:nvSpPr>
          <p:cNvPr id="9" name="text-deo3">
            <a:extLst xmlns:a="http://schemas.openxmlformats.org/drawingml/2006/main">
              <a:ext uri="{FF2B5EF4-FFF2-40B4-BE49-F238E27FC236}">
                <a16:creationId xmlns:a16="http://schemas.microsoft.com/office/drawing/2014/main" id="{369AA3FE-488C-41F6-BA38-6A9840E1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54960"/>
            <a:ext cx="793105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Процена повезује имовину, сценарио, контролу и преосталу </a:t>
            </a:r>
          </a:p>
        </p:txBody>
      </p:sp>
      <p:sp>
        <p:nvSpPr>
          <p:cNvPr id="10" name="text-deo3">
            <a:extLst xmlns:a="http://schemas.openxmlformats.org/drawingml/2006/main">
              <a:ext uri="{FF2B5EF4-FFF2-40B4-BE49-F238E27FC236}">
                <a16:creationId xmlns:a16="http://schemas.microsoft.com/office/drawing/2014/main" id="{C1F9A6DB-1DD0-4E0A-8B4B-4C2342A7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28221"/>
            <a:ext cx="191512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изложеност.</a:t>
            </a:r>
          </a:p>
        </p:txBody>
      </p:sp>
      <p:sp>
        <p:nvSpPr>
          <p:cNvPr id="11" name="text-deo3">
            <a:extLst xmlns:a="http://schemas.openxmlformats.org/drawingml/2006/main">
              <a:ext uri="{FF2B5EF4-FFF2-40B4-BE49-F238E27FC236}">
                <a16:creationId xmlns:a16="http://schemas.microsoft.com/office/drawing/2014/main" id="{08269880-E2CD-4A51-A6E5-AAEF49BED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6244382"/>
            <a:ext cx="16167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Risk register</a:t>
            </a:r>
          </a:p>
        </p:txBody>
      </p:sp>
      <p:sp>
        <p:nvSpPr>
          <p:cNvPr id="12" name="text-deo3">
            <a:extLst xmlns:a="http://schemas.openxmlformats.org/drawingml/2006/main">
              <a:ext uri="{FF2B5EF4-FFF2-40B4-BE49-F238E27FC236}">
                <a16:creationId xmlns:a16="http://schemas.microsoft.com/office/drawing/2014/main" id="{19B07687-E7DC-40D8-8FB8-1C08330B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8995" y="6244382"/>
            <a:ext cx="125253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Власник</a:t>
            </a:r>
          </a:p>
        </p:txBody>
      </p:sp>
      <p:sp>
        <p:nvSpPr>
          <p:cNvPr id="13" name="text-deo3">
            <a:extLst xmlns:a="http://schemas.openxmlformats.org/drawingml/2006/main">
              <a:ext uri="{FF2B5EF4-FFF2-40B4-BE49-F238E27FC236}">
                <a16:creationId xmlns:a16="http://schemas.microsoft.com/office/drawing/2014/main" id="{4E5E0252-9F29-4D3E-8BE7-1850D468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2982" y="6244382"/>
            <a:ext cx="73074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Рок</a:t>
            </a:r>
          </a:p>
        </p:txBody>
      </p:sp>
      <p:sp>
        <p:nvSpPr>
          <p:cNvPr id="14" name="text-deo3">
            <a:extLst xmlns:a="http://schemas.openxmlformats.org/drawingml/2006/main">
              <a:ext uri="{FF2B5EF4-FFF2-40B4-BE49-F238E27FC236}">
                <a16:creationId xmlns:a16="http://schemas.microsoft.com/office/drawing/2014/main" id="{29A51985-8D61-42F4-9022-0C2CDC91A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179" y="6244382"/>
            <a:ext cx="75723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SoD</a:t>
            </a:r>
          </a:p>
        </p:txBody>
      </p:sp>
      <p:sp>
        <p:nvSpPr>
          <p:cNvPr id="15" name="text-deo3">
            <a:extLst xmlns:a="http://schemas.openxmlformats.org/drawingml/2006/main">
              <a:ext uri="{FF2B5EF4-FFF2-40B4-BE49-F238E27FC236}">
                <a16:creationId xmlns:a16="http://schemas.microsoft.com/office/drawing/2014/main" id="{2B54A006-F25E-43C5-8B36-2B823920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6" name="text-deo3">
            <a:extLst xmlns:a="http://schemas.openxmlformats.org/drawingml/2006/main">
              <a:ext uri="{FF2B5EF4-FFF2-40B4-BE49-F238E27FC236}">
                <a16:creationId xmlns:a16="http://schemas.microsoft.com/office/drawing/2014/main" id="{E114648C-36A8-4A88-BE23-E001EE68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03023877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E994CA-2DDE-47C4-8553-009CD616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3ED209-3A50-4050-91B6-5A85072E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C4513C-906B-453A-BB35-BE2BFF7B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72558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D390DD-6FDD-49A4-8AC8-204A0322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32524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021DB9-8C5B-42FE-9155-19EC3102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687741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9EBE2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D56877D1-0908-4077-B473-4E0B1513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687741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C0491-A7EF-4417-8739-0E36644B3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7F14244D-61E5-4591-8718-032DFBA7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 · РИЗИК</a:t>
            </a:r>
          </a:p>
        </p:txBody>
      </p:sp>
      <p:sp>
        <p:nvSpPr>
          <p:cNvPr id="9" name="heading-source-06">
            <a:extLst xmlns:a="http://schemas.openxmlformats.org/drawingml/2006/main">
              <a:ext uri="{FF2B5EF4-FFF2-40B4-BE49-F238E27FC236}">
                <a16:creationId xmlns:a16="http://schemas.microsoft.com/office/drawing/2014/main" id="{861B9A87-3C67-45D6-BB6C-56984ED37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982391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Ризик</a:t>
            </a:r>
          </a:p>
        </p:txBody>
      </p:sp>
      <p:sp>
        <p:nvSpPr>
          <p:cNvPr id="10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5D4BEA27-8596-47C1-8C64-5696D9B0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302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утицај и вероватноћа</a:t>
            </a:r>
          </a:p>
        </p:txBody>
      </p:sp>
      <p:sp>
        <p:nvSpPr>
          <p:cNvPr id="11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B06F4BD3-CEF4-413C-A5B0-BDAC75013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45941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2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6CA4D83F-5973-4208-9AF1-B0491CEF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303091"/>
            <a:ext cx="1221492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Процењени ризик је атрибут одлуке: изнад прага приступ се одбија и поред исправне улоге.</a:t>
            </a:r>
          </a:p>
        </p:txBody>
      </p:sp>
      <p:sp>
        <p:nvSpPr>
          <p:cNvPr id="13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5CAEB0C0-85CC-4776-A8D9-5693D892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43027"/>
            <a:ext cx="455622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Питање: који улаз покреће ову одлуку?</a:t>
            </a:r>
          </a:p>
        </p:txBody>
      </p:sp>
      <p:sp>
        <p:nvSpPr>
          <p:cNvPr id="14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156C7365-A7EE-427C-A9D7-F0C0B64A2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05908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5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1D42F906-8FE8-4473-8DEE-0A2DD2EA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463058"/>
            <a:ext cx="937929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Преостали ризик има власника који га прихвата на ограничено време.</a:t>
            </a:r>
          </a:p>
        </p:txBody>
      </p:sp>
      <p:sp>
        <p:nvSpPr>
          <p:cNvPr id="16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48E145B8-A7CF-48A5-A6DA-E28F63BC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902994"/>
            <a:ext cx="494972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Питање: која граница мора бити видљива?</a:t>
            </a:r>
          </a:p>
        </p:txBody>
      </p:sp>
      <p:sp>
        <p:nvSpPr>
          <p:cNvPr id="17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445A15E9-1853-4BA9-9C21-E756926E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65874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18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5F400717-9AAC-45F2-828A-478EB9C13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623024"/>
            <a:ext cx="1067618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Регистар ризика чува сценарио, контролу, власника и датум следећег прегледа.</a:t>
            </a:r>
          </a:p>
        </p:txBody>
      </p:sp>
      <p:sp>
        <p:nvSpPr>
          <p:cNvPr id="19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FFFBE658-8F37-4F39-B0AB-57BA79E0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062960"/>
            <a:ext cx="471934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Питање: који доказ остаје после исхода?</a:t>
            </a:r>
          </a:p>
        </p:txBody>
      </p:sp>
      <p:sp>
        <p:nvSpPr>
          <p:cNvPr id="20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D08FE8A4-7E8F-49CD-8602-8BB074760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878241"/>
            <a:ext cx="2674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ПИТАЊЕ ЗА АНАЛИЗУ</a:t>
            </a:r>
          </a:p>
        </p:txBody>
      </p:sp>
      <p:sp>
        <p:nvSpPr>
          <p:cNvPr id="21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0C13F640-7AE4-408C-BF92-7129E92ED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283946"/>
            <a:ext cx="1059418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Који праг ризика у вашем систему мења одлуку и ко је одговоран за ту вредност?</a:t>
            </a:r>
          </a:p>
        </p:txBody>
      </p:sp>
      <p:sp>
        <p:nvSpPr>
          <p:cNvPr id="22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52F3D5EE-E4A6-4C9C-A1DA-F9141937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3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25547886-C293-44A3-A560-F86E3AE2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50635274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3813C0-EDB0-4A56-AF7E-EDA144E7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D310C1-124C-4CFE-AE4A-08158CD1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12591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F6AC35-3776-41C1-B835-9E78F26E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249638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B39276-5A38-405E-AA93-B70A8E2A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386685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0D5B88-F912-4A2B-AF50-04E7B3F4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6238131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AE5896-43E8-4383-9051-1021EAB5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7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0E21EE57-B236-427A-BCEA-03F29DAE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7796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 · ПРИХВАТАЊЕ РИЗИКА</a:t>
            </a:r>
          </a:p>
        </p:txBody>
      </p:sp>
      <p:sp>
        <p:nvSpPr>
          <p:cNvPr id="8" name="heading-source-10">
            <a:extLst xmlns:a="http://schemas.openxmlformats.org/drawingml/2006/main">
              <a:ext uri="{FF2B5EF4-FFF2-40B4-BE49-F238E27FC236}">
                <a16:creationId xmlns:a16="http://schemas.microsoft.com/office/drawing/2014/main" id="{0984EED4-01C8-4D54-B571-53C6582D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977652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969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 ризика до одлуке о прихватању</a:t>
            </a:r>
          </a:p>
        </p:txBody>
      </p:sp>
      <p:sp>
        <p:nvSpPr>
          <p:cNvPr id="9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C126DD44-226D-455F-AA2E-061766A8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936649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Процес приказује улазе, место одлуке и доказ који остаје после исхода.</a:t>
            </a:r>
          </a:p>
        </p:txBody>
      </p:sp>
      <p:sp>
        <p:nvSpPr>
          <p:cNvPr id="10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BFE1F751-49AF-406A-890B-794C1E2D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КОНТЕКСТ</a:t>
            </a:r>
          </a:p>
        </p:txBody>
      </p:sp>
      <p:sp>
        <p:nvSpPr>
          <p:cNvPr id="11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9B0506FA-09DD-4D6C-9ADF-ED3B369C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84972"/>
            <a:ext cx="6186041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Sans"/>
                <a:ea typeface="IBM Plex Sans"/>
                <a:cs typeface="IBM Plex Sans"/>
              </a:defRPr>
            </a:pPr>
            <a:r>
              <a:rPr sz="27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 ризика до одлуке о прихватању</a:t>
            </a:r>
          </a:p>
        </p:txBody>
      </p:sp>
      <p:sp>
        <p:nvSpPr>
          <p:cNvPr id="12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6C27DFC8-5BC9-4718-B94B-806B2387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96358"/>
            <a:ext cx="763101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Ризик се не уклања увек у потпуности. Неке мере би биле </a:t>
            </a:r>
          </a:p>
        </p:txBody>
      </p:sp>
      <p:sp>
        <p:nvSpPr>
          <p:cNvPr id="13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A558887D-C816-4DA4-B42D-A6C59480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69619"/>
            <a:ext cx="731133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прескупе, неке би зауставиле важан рад, а неке зависе </a:t>
            </a:r>
          </a:p>
        </p:txBody>
      </p:sp>
      <p:sp>
        <p:nvSpPr>
          <p:cNvPr id="14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A39D76DC-3219-449B-BF03-D0942772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42880"/>
            <a:ext cx="765021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 спољне стране. Тада је важно да преостали ризик буде </a:t>
            </a:r>
          </a:p>
        </p:txBody>
      </p:sp>
      <p:sp>
        <p:nvSpPr>
          <p:cNvPr id="15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9781348E-C89A-498E-8EB7-F7BB8050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16141"/>
            <a:ext cx="668476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видљив, образложен и временски ограничен, а не </a:t>
            </a:r>
          </a:p>
        </p:txBody>
      </p:sp>
      <p:sp>
        <p:nvSpPr>
          <p:cNvPr id="16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92B9E5D9-AC86-4389-AEA9-F05475C0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89402"/>
            <a:ext cx="195381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заборављен.</a:t>
            </a:r>
          </a:p>
        </p:txBody>
      </p:sp>
      <p:sp>
        <p:nvSpPr>
          <p:cNvPr id="17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F12CCB00-5441-4043-9E2C-6A55C8F8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45941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8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734ECC70-429C-49B3-86FF-E6414ABD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303091"/>
            <a:ext cx="711026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Описати имовину, сценарио и последицу без општих </a:t>
            </a:r>
          </a:p>
        </p:txBody>
      </p:sp>
      <p:sp>
        <p:nvSpPr>
          <p:cNvPr id="19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C19FACE6-6871-4262-B3A0-32A33AB64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76352"/>
            <a:ext cx="209832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формулација.</a:t>
            </a:r>
          </a:p>
        </p:txBody>
      </p:sp>
      <p:sp>
        <p:nvSpPr>
          <p:cNvPr id="20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7DEF7ECB-6A30-4B30-AC96-3548C050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382988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21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A7FEBC35-8C07-4275-8BFA-2FB326EA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440138"/>
            <a:ext cx="617547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Навести постојеће контроле и шта оне заиста </a:t>
            </a:r>
          </a:p>
        </p:txBody>
      </p:sp>
      <p:sp>
        <p:nvSpPr>
          <p:cNvPr id="22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9F06260D-4D0F-4228-B191-AC5BA912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813399"/>
            <a:ext cx="169827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покривају.</a:t>
            </a:r>
          </a:p>
        </p:txBody>
      </p:sp>
      <p:sp>
        <p:nvSpPr>
          <p:cNvPr id="23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FAD95B0B-8181-4B7D-AA11-AE0D0F8E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520035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4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102DECFC-82E6-4BE7-9560-D38E533A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577185"/>
            <a:ext cx="72675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Оценити шта остаје незаштићено након тих контрола.</a:t>
            </a:r>
          </a:p>
        </p:txBody>
      </p:sp>
      <p:sp>
        <p:nvSpPr>
          <p:cNvPr id="25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52B408A3-D472-49A5-AC95-82C17E59F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6371481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6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533C0B04-4ADA-4D15-935D-8BF6CEDA8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28631"/>
            <a:ext cx="658981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Одредити власника који прихвата ризик и датум </a:t>
            </a:r>
          </a:p>
        </p:txBody>
      </p:sp>
      <p:sp>
        <p:nvSpPr>
          <p:cNvPr id="27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78A6DEFD-76BE-4E41-BE45-BE50AC3C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801892"/>
            <a:ext cx="284276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следећег прегледа.</a:t>
            </a:r>
          </a:p>
        </p:txBody>
      </p:sp>
      <p:sp>
        <p:nvSpPr>
          <p:cNvPr id="28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8530B722-2386-4083-A6DF-D0EC862C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9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617B0F90-DDFF-47AB-BC83-413DBE22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4547455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7C95E3-1766-4A8A-91EA-C52484E9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64817B-D80E-460B-88CA-DF4F198D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198816"/>
            <a:ext cx="15849600" cy="1020961"/>
          </a:xfrm>
          <a:prstGeom xmlns:a="http://schemas.openxmlformats.org/drawingml/2006/main" prst="roundRect">
            <a:avLst>
              <a:gd name="adj" fmla="val 11195"/>
            </a:avLst>
          </a:prstGeom>
          <a:solidFill xmlns:a="http://schemas.openxmlformats.org/drawingml/2006/main">
            <a:srgbClr val="E9EBE2"/>
          </a:solidFill>
          <a:ln xmlns:a="http://schemas.openxmlformats.org/drawingml/2006/main" w="0">
            <a:noFill/>
          </a:ln>
        </p:spPr>
      </p:sp>
      <p:sp>
        <p:nvSpPr>
          <p:cNvPr id="3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0FEBE48B-8FC9-44AC-B4CD-89639D57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198816"/>
            <a:ext cx="114300" cy="1020961"/>
          </a:xfrm>
          <a:custGeom xmlns:a="http://schemas.openxmlformats.org/drawingml/2006/main">
            <a:pathLst>
              <a:path w="114300" h="102096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906661"/>
                </a:lnTo>
                <a:lnTo>
                  <a:pt x="61" y="910401"/>
                </a:lnTo>
                <a:lnTo>
                  <a:pt x="245" y="914137"/>
                </a:lnTo>
                <a:lnTo>
                  <a:pt x="550" y="917864"/>
                </a:lnTo>
                <a:lnTo>
                  <a:pt x="978" y="921580"/>
                </a:lnTo>
                <a:lnTo>
                  <a:pt x="1527" y="925280"/>
                </a:lnTo>
                <a:lnTo>
                  <a:pt x="2196" y="928960"/>
                </a:lnTo>
                <a:lnTo>
                  <a:pt x="2986" y="932616"/>
                </a:lnTo>
                <a:lnTo>
                  <a:pt x="3895" y="936244"/>
                </a:lnTo>
                <a:lnTo>
                  <a:pt x="4922" y="939840"/>
                </a:lnTo>
                <a:lnTo>
                  <a:pt x="6066" y="943401"/>
                </a:lnTo>
                <a:lnTo>
                  <a:pt x="7326" y="946923"/>
                </a:lnTo>
                <a:lnTo>
                  <a:pt x="8701" y="950402"/>
                </a:lnTo>
                <a:lnTo>
                  <a:pt x="10188" y="953833"/>
                </a:lnTo>
                <a:lnTo>
                  <a:pt x="11787" y="957215"/>
                </a:lnTo>
                <a:lnTo>
                  <a:pt x="13496" y="960542"/>
                </a:lnTo>
                <a:lnTo>
                  <a:pt x="15313" y="963811"/>
                </a:lnTo>
                <a:lnTo>
                  <a:pt x="17236" y="967019"/>
                </a:lnTo>
                <a:lnTo>
                  <a:pt x="19263" y="970163"/>
                </a:lnTo>
                <a:lnTo>
                  <a:pt x="21392" y="973238"/>
                </a:lnTo>
                <a:lnTo>
                  <a:pt x="23620" y="976242"/>
                </a:lnTo>
                <a:lnTo>
                  <a:pt x="25945" y="979172"/>
                </a:lnTo>
                <a:lnTo>
                  <a:pt x="28365" y="982024"/>
                </a:lnTo>
                <a:lnTo>
                  <a:pt x="30877" y="984796"/>
                </a:lnTo>
                <a:lnTo>
                  <a:pt x="33478" y="987483"/>
                </a:lnTo>
                <a:lnTo>
                  <a:pt x="36165" y="990084"/>
                </a:lnTo>
                <a:lnTo>
                  <a:pt x="38937" y="992596"/>
                </a:lnTo>
                <a:lnTo>
                  <a:pt x="41789" y="995016"/>
                </a:lnTo>
                <a:lnTo>
                  <a:pt x="44719" y="997341"/>
                </a:lnTo>
                <a:lnTo>
                  <a:pt x="47723" y="999569"/>
                </a:lnTo>
                <a:lnTo>
                  <a:pt x="50798" y="1001698"/>
                </a:lnTo>
                <a:lnTo>
                  <a:pt x="53942" y="1003725"/>
                </a:lnTo>
                <a:lnTo>
                  <a:pt x="57150" y="1005648"/>
                </a:lnTo>
                <a:lnTo>
                  <a:pt x="60419" y="1007465"/>
                </a:lnTo>
                <a:lnTo>
                  <a:pt x="63746" y="1009173"/>
                </a:lnTo>
                <a:lnTo>
                  <a:pt x="67128" y="1010773"/>
                </a:lnTo>
                <a:lnTo>
                  <a:pt x="70559" y="1012260"/>
                </a:lnTo>
                <a:lnTo>
                  <a:pt x="74038" y="1013635"/>
                </a:lnTo>
                <a:lnTo>
                  <a:pt x="77559" y="1014895"/>
                </a:lnTo>
                <a:lnTo>
                  <a:pt x="81120" y="1016039"/>
                </a:lnTo>
                <a:lnTo>
                  <a:pt x="84717" y="1017066"/>
                </a:lnTo>
                <a:lnTo>
                  <a:pt x="88345" y="1017975"/>
                </a:lnTo>
                <a:lnTo>
                  <a:pt x="92001" y="1018765"/>
                </a:lnTo>
                <a:lnTo>
                  <a:pt x="95681" y="1019434"/>
                </a:lnTo>
                <a:lnTo>
                  <a:pt x="99381" y="1019983"/>
                </a:lnTo>
                <a:lnTo>
                  <a:pt x="103097" y="1020411"/>
                </a:lnTo>
                <a:lnTo>
                  <a:pt x="106824" y="1020716"/>
                </a:lnTo>
                <a:lnTo>
                  <a:pt x="110560" y="1020900"/>
                </a:lnTo>
                <a:lnTo>
                  <a:pt x="114300" y="1020961"/>
                </a:lnTo>
                <a:lnTo>
                  <a:pt x="114300" y="1020961"/>
                </a:lnTo>
                <a:lnTo>
                  <a:pt x="112430" y="1020900"/>
                </a:lnTo>
                <a:lnTo>
                  <a:pt x="110562" y="1020716"/>
                </a:lnTo>
                <a:lnTo>
                  <a:pt x="108698" y="1020411"/>
                </a:lnTo>
                <a:lnTo>
                  <a:pt x="106840" y="1019983"/>
                </a:lnTo>
                <a:lnTo>
                  <a:pt x="104991" y="1019434"/>
                </a:lnTo>
                <a:lnTo>
                  <a:pt x="103151" y="1018765"/>
                </a:lnTo>
                <a:lnTo>
                  <a:pt x="101323" y="1017975"/>
                </a:lnTo>
                <a:lnTo>
                  <a:pt x="99508" y="1017066"/>
                </a:lnTo>
                <a:lnTo>
                  <a:pt x="97710" y="1016039"/>
                </a:lnTo>
                <a:lnTo>
                  <a:pt x="95930" y="1014895"/>
                </a:lnTo>
                <a:lnTo>
                  <a:pt x="94169" y="1013635"/>
                </a:lnTo>
                <a:lnTo>
                  <a:pt x="92430" y="1012260"/>
                </a:lnTo>
                <a:lnTo>
                  <a:pt x="90714" y="1010773"/>
                </a:lnTo>
                <a:lnTo>
                  <a:pt x="89023" y="1009173"/>
                </a:lnTo>
                <a:lnTo>
                  <a:pt x="87360" y="1007465"/>
                </a:lnTo>
                <a:lnTo>
                  <a:pt x="85725" y="1005648"/>
                </a:lnTo>
                <a:lnTo>
                  <a:pt x="84121" y="1003725"/>
                </a:lnTo>
                <a:lnTo>
                  <a:pt x="82549" y="1001698"/>
                </a:lnTo>
                <a:lnTo>
                  <a:pt x="81011" y="999569"/>
                </a:lnTo>
                <a:lnTo>
                  <a:pt x="79509" y="997341"/>
                </a:lnTo>
                <a:lnTo>
                  <a:pt x="78044" y="995016"/>
                </a:lnTo>
                <a:lnTo>
                  <a:pt x="76618" y="992596"/>
                </a:lnTo>
                <a:lnTo>
                  <a:pt x="75233" y="990084"/>
                </a:lnTo>
                <a:lnTo>
                  <a:pt x="73889" y="987483"/>
                </a:lnTo>
                <a:lnTo>
                  <a:pt x="72588" y="984796"/>
                </a:lnTo>
                <a:lnTo>
                  <a:pt x="71332" y="982024"/>
                </a:lnTo>
                <a:lnTo>
                  <a:pt x="70122" y="979172"/>
                </a:lnTo>
                <a:lnTo>
                  <a:pt x="68960" y="976242"/>
                </a:lnTo>
                <a:lnTo>
                  <a:pt x="67846" y="973238"/>
                </a:lnTo>
                <a:lnTo>
                  <a:pt x="66782" y="970163"/>
                </a:lnTo>
                <a:lnTo>
                  <a:pt x="65768" y="967019"/>
                </a:lnTo>
                <a:lnTo>
                  <a:pt x="64807" y="963811"/>
                </a:lnTo>
                <a:lnTo>
                  <a:pt x="63898" y="960542"/>
                </a:lnTo>
                <a:lnTo>
                  <a:pt x="63044" y="957215"/>
                </a:lnTo>
                <a:lnTo>
                  <a:pt x="62244" y="953833"/>
                </a:lnTo>
                <a:lnTo>
                  <a:pt x="61500" y="950402"/>
                </a:lnTo>
                <a:lnTo>
                  <a:pt x="60813" y="946923"/>
                </a:lnTo>
                <a:lnTo>
                  <a:pt x="60183" y="943401"/>
                </a:lnTo>
                <a:lnTo>
                  <a:pt x="59611" y="939840"/>
                </a:lnTo>
                <a:lnTo>
                  <a:pt x="59097" y="936244"/>
                </a:lnTo>
                <a:lnTo>
                  <a:pt x="58643" y="932616"/>
                </a:lnTo>
                <a:lnTo>
                  <a:pt x="58248" y="928960"/>
                </a:lnTo>
                <a:lnTo>
                  <a:pt x="57913" y="925280"/>
                </a:lnTo>
                <a:lnTo>
                  <a:pt x="57639" y="921580"/>
                </a:lnTo>
                <a:lnTo>
                  <a:pt x="57425" y="917864"/>
                </a:lnTo>
                <a:lnTo>
                  <a:pt x="57272" y="914137"/>
                </a:lnTo>
                <a:lnTo>
                  <a:pt x="57181" y="910401"/>
                </a:lnTo>
                <a:lnTo>
                  <a:pt x="57150" y="90666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2BC2F1-B7A7-4206-8D00-A988DCB2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8e08cd99a04d8b"/>
          <a:stretch xmlns:a="http://schemas.openxmlformats.org/drawingml/2006/main"/>
        </p:blipFill>
        <p:spPr>
          <a:xfrm xmlns:a="http://schemas.openxmlformats.org/drawingml/2006/main">
            <a:off x="1219200" y="3333750"/>
            <a:ext cx="15849600" cy="3667125"/>
          </a:xfrm>
          <a:prstGeom xmlns:a="http://schemas.openxmlformats.org/drawingml/2006/main" prst="rect">
            <a:avLst/>
          </a:prstGeom>
        </p:spPr>
      </p:pic>
      <p:sp>
        <p:nvSpPr>
          <p:cNvPr id="6" name="text-preostali-rizik">
            <a:extLst xmlns:a="http://schemas.openxmlformats.org/drawingml/2006/main">
              <a:ext uri="{FF2B5EF4-FFF2-40B4-BE49-F238E27FC236}">
                <a16:creationId xmlns:a16="http://schemas.microsoft.com/office/drawing/2014/main" id="{193628FC-76BB-4277-935C-08BC4E90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5029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ОБЈАШЊЕЊЕ · ИЛУСТРАТИВНИ МОДЕЛ</a:t>
            </a:r>
          </a:p>
        </p:txBody>
      </p:sp>
      <p:sp>
        <p:nvSpPr>
          <p:cNvPr id="7" name="heading-preostali-rizik">
            <a:extLst xmlns:a="http://schemas.openxmlformats.org/drawingml/2006/main">
              <a:ext uri="{FF2B5EF4-FFF2-40B4-BE49-F238E27FC236}">
                <a16:creationId xmlns:a16="http://schemas.microsoft.com/office/drawing/2014/main" id="{931CF584-3715-42A9-AC9D-41713F5E3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805115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Контрола и преостали ризик</a:t>
            </a:r>
          </a:p>
        </p:txBody>
      </p:sp>
      <p:sp>
        <p:nvSpPr>
          <p:cNvPr id="8" name="text-preostali-rizik">
            <a:extLst xmlns:a="http://schemas.openxmlformats.org/drawingml/2006/main">
              <a:ext uri="{FF2B5EF4-FFF2-40B4-BE49-F238E27FC236}">
                <a16:creationId xmlns:a16="http://schemas.microsoft.com/office/drawing/2014/main" id="{490778A2-38BC-437F-8533-7A1724DD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73628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Прихвата се описана изложеност у познатом контексту.</a:t>
            </a:r>
          </a:p>
        </p:txBody>
      </p:sp>
      <p:sp>
        <p:nvSpPr>
          <p:cNvPr id="9" name="text-preostali-rizik">
            <a:extLst xmlns:a="http://schemas.openxmlformats.org/drawingml/2006/main">
              <a:ext uri="{FF2B5EF4-FFF2-40B4-BE49-F238E27FC236}">
                <a16:creationId xmlns:a16="http://schemas.microsoft.com/office/drawing/2014/main" id="{26695DA5-CAA7-4D93-9929-6D327888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072" y="4248150"/>
            <a:ext cx="248200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Почетни ризик</a:t>
            </a:r>
          </a:p>
        </p:txBody>
      </p:sp>
      <p:sp>
        <p:nvSpPr>
          <p:cNvPr id="10" name="text-preostali-rizik">
            <a:extLst xmlns:a="http://schemas.openxmlformats.org/drawingml/2006/main">
              <a:ext uri="{FF2B5EF4-FFF2-40B4-BE49-F238E27FC236}">
                <a16:creationId xmlns:a16="http://schemas.microsoft.com/office/drawing/2014/main" id="{55CEA984-B753-4F6A-B939-0E0347B9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643" y="4674840"/>
            <a:ext cx="516701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имовина + сценарио + последица</a:t>
            </a:r>
          </a:p>
        </p:txBody>
      </p:sp>
      <p:sp>
        <p:nvSpPr>
          <p:cNvPr id="11" name="text-preostali-rizik">
            <a:extLst xmlns:a="http://schemas.openxmlformats.org/drawingml/2006/main">
              <a:ext uri="{FF2B5EF4-FFF2-40B4-BE49-F238E27FC236}">
                <a16:creationId xmlns:a16="http://schemas.microsoft.com/office/drawing/2014/main" id="{67C47CCF-8FEE-4763-9144-307339AF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6957" y="4248150"/>
            <a:ext cx="280823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Преостали ризик</a:t>
            </a:r>
          </a:p>
        </p:txBody>
      </p:sp>
      <p:sp>
        <p:nvSpPr>
          <p:cNvPr id="12" name="text-preostali-rizik">
            <a:extLst xmlns:a="http://schemas.openxmlformats.org/drawingml/2006/main">
              <a:ext uri="{FF2B5EF4-FFF2-40B4-BE49-F238E27FC236}">
                <a16:creationId xmlns:a16="http://schemas.microsoft.com/office/drawing/2014/main" id="{0B106CF8-73D2-45FC-8A7E-E01AD43B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8675" y="4674840"/>
            <a:ext cx="5784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шта остаје после постојећих контрола</a:t>
            </a:r>
          </a:p>
        </p:txBody>
      </p:sp>
      <p:sp>
        <p:nvSpPr>
          <p:cNvPr id="13" name="text-preostali-rizik">
            <a:extLst xmlns:a="http://schemas.openxmlformats.org/drawingml/2006/main">
              <a:ext uri="{FF2B5EF4-FFF2-40B4-BE49-F238E27FC236}">
                <a16:creationId xmlns:a16="http://schemas.microsoft.com/office/drawing/2014/main" id="{0F743898-BC81-40EE-A728-28EE1A12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8054" y="5581650"/>
            <a:ext cx="524619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5D6E12"/>
                </a:solidFill>
                <a:latin typeface="IBM Plex Sans"/>
                <a:ea typeface="IBM Plex Sans"/>
                <a:cs typeface="IBM Plex Sans"/>
              </a:rPr>
              <a:t>Власник · образложење · рок прегледа</a:t>
            </a:r>
          </a:p>
        </p:txBody>
      </p:sp>
      <p:sp>
        <p:nvSpPr>
          <p:cNvPr id="14" name="text-preostali-rizik">
            <a:extLst xmlns:a="http://schemas.openxmlformats.org/drawingml/2006/main">
              <a:ext uri="{FF2B5EF4-FFF2-40B4-BE49-F238E27FC236}">
                <a16:creationId xmlns:a16="http://schemas.microsoft.com/office/drawing/2014/main" id="{5D135CD4-81DB-4AA0-A8B2-4C28752B4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351216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Тумачење</a:t>
            </a:r>
          </a:p>
        </p:txBody>
      </p:sp>
      <p:sp>
        <p:nvSpPr>
          <p:cNvPr id="15" name="text-preostali-rizik">
            <a:extLst xmlns:a="http://schemas.openxmlformats.org/drawingml/2006/main">
              <a:ext uri="{FF2B5EF4-FFF2-40B4-BE49-F238E27FC236}">
                <a16:creationId xmlns:a16="http://schemas.microsoft.com/office/drawing/2014/main" id="{C5133BAE-ADDA-47BF-A9B9-595FFC96E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747397"/>
            <a:ext cx="1236508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Прихватање ризика не замењује његово образложење. Промена имовине или контроле покреће нову процену.</a:t>
            </a:r>
          </a:p>
        </p:txBody>
      </p:sp>
      <p:sp>
        <p:nvSpPr>
          <p:cNvPr id="16" name="text-preostali-rizik">
            <a:extLst xmlns:a="http://schemas.openxmlformats.org/drawingml/2006/main">
              <a:ext uri="{FF2B5EF4-FFF2-40B4-BE49-F238E27FC236}">
                <a16:creationId xmlns:a16="http://schemas.microsoft.com/office/drawing/2014/main" id="{20B86FC1-A97F-449D-AE6D-C35C9449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7" name="text-preostali-rizik">
            <a:extLst xmlns:a="http://schemas.openxmlformats.org/drawingml/2006/main">
              <a:ext uri="{FF2B5EF4-FFF2-40B4-BE49-F238E27FC236}">
                <a16:creationId xmlns:a16="http://schemas.microsoft.com/office/drawing/2014/main" id="{F099D65A-C88D-42A4-A1F4-23547B87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72709767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BA283B-0CA2-430F-8DD3-DB374BA4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D6CA3B-4D01-43E7-88E1-49DDEA72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34530"/>
            <a:ext cx="10287000" cy="3356074"/>
          </a:xfrm>
          <a:prstGeom xmlns:a="http://schemas.openxmlformats.org/drawingml/2006/main" prst="roundRect">
            <a:avLst>
              <a:gd name="adj" fmla="val 4541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EDB369-A317-4379-884E-2643D392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2434530"/>
            <a:ext cx="28575" cy="13751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C434CA-D8BE-40D0-A285-1964D65D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4076402"/>
            <a:ext cx="28575" cy="13751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22892B-D0B3-467F-B41B-31FD7EFC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6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1890696E-71D8-41F8-BC5B-55AF3C80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8423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ДОКАЗ И РЕВИЗИЈА</a:t>
            </a:r>
          </a:p>
        </p:txBody>
      </p:sp>
      <p:sp>
        <p:nvSpPr>
          <p:cNvPr id="7" name="heading-source-16">
            <a:extLst xmlns:a="http://schemas.openxmlformats.org/drawingml/2006/main">
              <a:ext uri="{FF2B5EF4-FFF2-40B4-BE49-F238E27FC236}">
                <a16:creationId xmlns:a16="http://schemas.microsoft.com/office/drawing/2014/main" id="{AFB78FBC-E360-45EF-8554-F7BE5F37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6917829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Запис у регистру ризика</a:t>
            </a:r>
          </a:p>
        </p:txBody>
      </p:sp>
      <p:sp>
        <p:nvSpPr>
          <p:cNvPr id="8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8CF6B5C8-D9B8-46E1-8D92-11075006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634555"/>
            <a:ext cx="3909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JSON · илустративни пример</a:t>
            </a:r>
          </a:p>
        </p:txBody>
      </p:sp>
      <p:sp>
        <p:nvSpPr>
          <p:cNvPr id="9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4CABDC47-016D-4178-A299-D732D6CEC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030736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0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68C12D28-6D0D-4EAE-A935-E36D862F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0736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{</a:t>
            </a:r>
          </a:p>
        </p:txBody>
      </p:sp>
      <p:sp>
        <p:nvSpPr>
          <p:cNvPr id="11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CB24CE79-7B72-4B93-BC76-EAB7AE09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50716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2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0B9BBA67-96A1-4817-85EB-69DEF02C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350716"/>
            <a:ext cx="294932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"riskId"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"R-17"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13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2E5E955D-5A4B-4C90-9DCE-41D4EB30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67069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4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02ED4751-3CFF-46D9-8D9E-EDA0750F6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670697"/>
            <a:ext cx="432107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"asset"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"incident-report"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15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6985DAE1-6A77-40D4-AB23-33DDF129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99067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16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D7CC2A9E-C8C6-4199-A18C-7C6736588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990677"/>
            <a:ext cx="486965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"owner"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"operations-director"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17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510DB49A-6929-4B3F-B772-65C026B9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1065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18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5D467161-EC40-4C1E-AD8B-991E6904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310658"/>
            <a:ext cx="404663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"residualRisk"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"medium"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19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D8966FD1-8EAA-4648-8CAD-382CE625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3063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6</a:t>
            </a:r>
          </a:p>
        </p:txBody>
      </p:sp>
      <p:sp>
        <p:nvSpPr>
          <p:cNvPr id="20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51A242ED-ABF7-4481-88FB-EE4753F0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630638"/>
            <a:ext cx="473243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"acceptedUntil"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"2027-01-31"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21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2E7F6CE0-2CB0-453B-A04F-FBCD8C32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5061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7</a:t>
            </a:r>
          </a:p>
        </p:txBody>
      </p:sp>
      <p:sp>
        <p:nvSpPr>
          <p:cNvPr id="22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03BC3AB8-C234-4BF7-B65A-DB45521EF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950619"/>
            <a:ext cx="418385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"nextReview"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"2026-12-15"</a:t>
            </a:r>
          </a:p>
        </p:txBody>
      </p:sp>
      <p:sp>
        <p:nvSpPr>
          <p:cNvPr id="23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38FBFBD4-C685-401E-8986-DA2B2A1F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27059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8</a:t>
            </a:r>
          </a:p>
        </p:txBody>
      </p:sp>
      <p:sp>
        <p:nvSpPr>
          <p:cNvPr id="24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987011B3-F9BC-4655-B0E1-D36FCB86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27059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}</a:t>
            </a:r>
          </a:p>
        </p:txBody>
      </p:sp>
      <p:sp>
        <p:nvSpPr>
          <p:cNvPr id="25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2B381D99-1BD0-4067-8AD7-1057389B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0075" y="2434530"/>
            <a:ext cx="33605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Повезан ревизиони траг</a:t>
            </a:r>
          </a:p>
        </p:txBody>
      </p:sp>
      <p:sp>
        <p:nvSpPr>
          <p:cNvPr id="26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E80B276E-78EE-4746-B64A-0F789DE5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0075" y="2849761"/>
            <a:ext cx="408265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Актер, радња, циљ, исход и разлог</a:t>
            </a:r>
          </a:p>
        </p:txBody>
      </p:sp>
      <p:sp>
        <p:nvSpPr>
          <p:cNvPr id="27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9953426A-7C8F-41AF-AF89-7DD087CF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0075" y="3169741"/>
            <a:ext cx="49451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Временска ознака и correlation ID повезују </a:t>
            </a:r>
          </a:p>
        </p:txBody>
      </p:sp>
      <p:sp>
        <p:nvSpPr>
          <p:cNvPr id="28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3DD4CC1A-4F88-4B9A-BACE-59F4DE0E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0075" y="3489722"/>
            <a:ext cx="27281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траг са остатком тока.</a:t>
            </a:r>
          </a:p>
        </p:txBody>
      </p:sp>
      <p:sp>
        <p:nvSpPr>
          <p:cNvPr id="29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E5C0F486-7A55-4155-A742-FEA5B362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0075" y="4076402"/>
            <a:ext cx="28118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НЕ ПРИПАДА У ДОКАЗ</a:t>
            </a:r>
          </a:p>
        </p:txBody>
      </p:sp>
      <p:sp>
        <p:nvSpPr>
          <p:cNvPr id="30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7835DA2B-CA2A-42D6-AC42-071ABC79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0075" y="4491633"/>
            <a:ext cx="469374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Лозинка, token, тајна и сувишан садржај</a:t>
            </a:r>
          </a:p>
        </p:txBody>
      </p:sp>
      <p:sp>
        <p:nvSpPr>
          <p:cNvPr id="31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9DB83059-FE25-4A89-A933-75BE7146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0075" y="4811613"/>
            <a:ext cx="495701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Траг не сме да постане нови извор цурења </a:t>
            </a:r>
          </a:p>
        </p:txBody>
      </p:sp>
      <p:sp>
        <p:nvSpPr>
          <p:cNvPr id="32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F0A33559-BF68-428A-B310-E114B04A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0075" y="5131594"/>
            <a:ext cx="410304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или збирка непотребних података.</a:t>
            </a:r>
          </a:p>
        </p:txBody>
      </p:sp>
      <p:sp>
        <p:nvSpPr>
          <p:cNvPr id="33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83BF3D9F-EC32-45B2-9168-85E75102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4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EC64B8A9-29B2-45A0-8C88-A8623C35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53893691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7B112B-A382-4913-8426-9BEA5E373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7483E-C643-4300-B90D-49743EA6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12591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EBFA79-3597-4FA0-8A27-4A3C42022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964037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4FFB93-DC8C-4C97-B682-6BBF1767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101084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6042C2-A578-4E86-9F55-AB61E91C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6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001BF281-51B0-414B-A849-A7FA624D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 · ДОКУМЕНТОВАЊЕ РИЗИКА</a:t>
            </a:r>
          </a:p>
        </p:txBody>
      </p:sp>
      <p:sp>
        <p:nvSpPr>
          <p:cNvPr id="7" name="heading-source-18">
            <a:extLst xmlns:a="http://schemas.openxmlformats.org/drawingml/2006/main">
              <a:ext uri="{FF2B5EF4-FFF2-40B4-BE49-F238E27FC236}">
                <a16:creationId xmlns:a16="http://schemas.microsoft.com/office/drawing/2014/main" id="{6EE21BCA-EB76-4D1F-A1CB-25D8F238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251153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284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Документовање одлуке засноване на ризику</a:t>
            </a:r>
          </a:p>
        </p:txBody>
      </p:sp>
      <p:sp>
        <p:nvSpPr>
          <p:cNvPr id="8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A5A1DADA-4B0B-43F6-B735-E5218B9B1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125899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Одлука бележи контекст, процену утицаја, преостали ризик и рок за поновни преглед.</a:t>
            </a:r>
          </a:p>
        </p:txBody>
      </p:sp>
      <p:sp>
        <p:nvSpPr>
          <p:cNvPr id="9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ECF59B99-2E21-472E-A3A5-0EBBEE6A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18517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ОБРАЗЛОЖЕЊЕ</a:t>
            </a:r>
          </a:p>
        </p:txBody>
      </p:sp>
      <p:sp>
        <p:nvSpPr>
          <p:cNvPr id="10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7557EA22-FBA4-427D-B5CB-85566F29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84972"/>
            <a:ext cx="5182046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Sans"/>
                <a:ea typeface="IBM Plex Sans"/>
                <a:cs typeface="IBM Plex Sans"/>
              </a:defRPr>
            </a:pPr>
            <a:r>
              <a:rPr sz="27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Ризик као разговор о одлуци</a:t>
            </a:r>
          </a:p>
        </p:txBody>
      </p:sp>
      <p:sp>
        <p:nvSpPr>
          <p:cNvPr id="11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51C59B7C-C068-451C-9276-CABFF7FA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96358"/>
            <a:ext cx="701367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Risk register није списак страшних сценарија. Он даје </a:t>
            </a:r>
          </a:p>
        </p:txBody>
      </p:sp>
      <p:sp>
        <p:nvSpPr>
          <p:cNvPr id="12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699AAA86-B42A-499D-83F9-71EF46F4F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69619"/>
            <a:ext cx="736758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тиму заједнички начин да упореди утицај, вероватноћу, </a:t>
            </a:r>
          </a:p>
        </p:txBody>
      </p:sp>
      <p:sp>
        <p:nvSpPr>
          <p:cNvPr id="13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5B44F6B8-5DBC-48BB-8F10-95901B98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42880"/>
            <a:ext cx="703852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постојеће контроле и преосталу изложеност. Када се </a:t>
            </a:r>
          </a:p>
        </p:txBody>
      </p:sp>
      <p:sp>
        <p:nvSpPr>
          <p:cNvPr id="14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F3010C54-10E7-4F89-A786-C3A33F78C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16141"/>
            <a:ext cx="745316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ризик прихвати, мора бити јасно ко га прихвата, зашто и </a:t>
            </a:r>
          </a:p>
        </p:txBody>
      </p:sp>
      <p:sp>
        <p:nvSpPr>
          <p:cNvPr id="15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12A3AA55-4A57-484A-812C-1B5782DA7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89402"/>
            <a:ext cx="545856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када ће одлука бити поново прегледана.</a:t>
            </a:r>
          </a:p>
        </p:txBody>
      </p:sp>
      <p:sp>
        <p:nvSpPr>
          <p:cNvPr id="16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DF4B883D-37DF-4143-86C2-01FFA08D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45941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7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43924A11-C449-4F88-9791-ECAB4A3D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303091"/>
            <a:ext cx="747504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Ризик повезује конкретну имовину, претњу и контролу.</a:t>
            </a:r>
          </a:p>
        </p:txBody>
      </p:sp>
      <p:sp>
        <p:nvSpPr>
          <p:cNvPr id="18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2662032D-C3E9-4731-9C54-223C845E2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097387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9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E26FD4F6-388D-4C46-9DFC-8761DCD6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154537"/>
            <a:ext cx="664026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Преглед приступа и преглед ризика имају ритам, </a:t>
            </a:r>
          </a:p>
        </p:txBody>
      </p:sp>
      <p:sp>
        <p:nvSpPr>
          <p:cNvPr id="20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557DD0C7-A788-45F4-8ADE-9908D367A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27798"/>
            <a:ext cx="4089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власника и очекивани исход.</a:t>
            </a:r>
          </a:p>
        </p:txBody>
      </p:sp>
      <p:sp>
        <p:nvSpPr>
          <p:cNvPr id="21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2FE0C7DD-5F62-4151-8E1A-B92D5E757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234434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2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C9F9B7CE-8FB1-4229-B68C-07A621A4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291584"/>
            <a:ext cx="697602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Сегрегација дужности спречава комбинације права </a:t>
            </a:r>
          </a:p>
        </p:txBody>
      </p:sp>
      <p:sp>
        <p:nvSpPr>
          <p:cNvPr id="23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C51DC03F-13F7-4E87-9986-8A12345E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664845"/>
            <a:ext cx="630108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које би једној особи дале превелику контролу.</a:t>
            </a:r>
          </a:p>
        </p:txBody>
      </p:sp>
      <p:sp>
        <p:nvSpPr>
          <p:cNvPr id="24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A5247907-6E73-435E-84D7-80577604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5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7E2AE643-FEB6-41A6-BE80-B8505EB35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10941491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CAC074-1C38-40E8-9854-D7F768828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3C3498-677B-4AC2-B0C2-8F2FB19B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436941"/>
            <a:ext cx="15849600" cy="1020961"/>
          </a:xfrm>
          <a:prstGeom xmlns:a="http://schemas.openxmlformats.org/drawingml/2006/main" prst="roundRect">
            <a:avLst>
              <a:gd name="adj" fmla="val 11195"/>
            </a:avLst>
          </a:prstGeom>
          <a:solidFill xmlns:a="http://schemas.openxmlformats.org/drawingml/2006/main">
            <a:srgbClr val="E9EBE2"/>
          </a:solidFill>
          <a:ln xmlns:a="http://schemas.openxmlformats.org/drawingml/2006/main" w="0">
            <a:noFill/>
          </a:ln>
        </p:spPr>
      </p:sp>
      <p:sp>
        <p:nvSpPr>
          <p:cNvPr id="3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FB77AA37-8FC7-4947-9A89-AC268E9F7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436941"/>
            <a:ext cx="114300" cy="1020961"/>
          </a:xfrm>
          <a:custGeom xmlns:a="http://schemas.openxmlformats.org/drawingml/2006/main">
            <a:pathLst>
              <a:path w="114300" h="102096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906661"/>
                </a:lnTo>
                <a:lnTo>
                  <a:pt x="61" y="910401"/>
                </a:lnTo>
                <a:lnTo>
                  <a:pt x="245" y="914137"/>
                </a:lnTo>
                <a:lnTo>
                  <a:pt x="550" y="917864"/>
                </a:lnTo>
                <a:lnTo>
                  <a:pt x="978" y="921580"/>
                </a:lnTo>
                <a:lnTo>
                  <a:pt x="1527" y="925280"/>
                </a:lnTo>
                <a:lnTo>
                  <a:pt x="2196" y="928960"/>
                </a:lnTo>
                <a:lnTo>
                  <a:pt x="2986" y="932616"/>
                </a:lnTo>
                <a:lnTo>
                  <a:pt x="3895" y="936244"/>
                </a:lnTo>
                <a:lnTo>
                  <a:pt x="4922" y="939840"/>
                </a:lnTo>
                <a:lnTo>
                  <a:pt x="6066" y="943401"/>
                </a:lnTo>
                <a:lnTo>
                  <a:pt x="7326" y="946923"/>
                </a:lnTo>
                <a:lnTo>
                  <a:pt x="8701" y="950402"/>
                </a:lnTo>
                <a:lnTo>
                  <a:pt x="10188" y="953833"/>
                </a:lnTo>
                <a:lnTo>
                  <a:pt x="11787" y="957215"/>
                </a:lnTo>
                <a:lnTo>
                  <a:pt x="13496" y="960542"/>
                </a:lnTo>
                <a:lnTo>
                  <a:pt x="15313" y="963811"/>
                </a:lnTo>
                <a:lnTo>
                  <a:pt x="17236" y="967019"/>
                </a:lnTo>
                <a:lnTo>
                  <a:pt x="19263" y="970163"/>
                </a:lnTo>
                <a:lnTo>
                  <a:pt x="21392" y="973238"/>
                </a:lnTo>
                <a:lnTo>
                  <a:pt x="23620" y="976242"/>
                </a:lnTo>
                <a:lnTo>
                  <a:pt x="25945" y="979172"/>
                </a:lnTo>
                <a:lnTo>
                  <a:pt x="28365" y="982024"/>
                </a:lnTo>
                <a:lnTo>
                  <a:pt x="30877" y="984796"/>
                </a:lnTo>
                <a:lnTo>
                  <a:pt x="33478" y="987483"/>
                </a:lnTo>
                <a:lnTo>
                  <a:pt x="36165" y="990084"/>
                </a:lnTo>
                <a:lnTo>
                  <a:pt x="38937" y="992596"/>
                </a:lnTo>
                <a:lnTo>
                  <a:pt x="41789" y="995016"/>
                </a:lnTo>
                <a:lnTo>
                  <a:pt x="44719" y="997341"/>
                </a:lnTo>
                <a:lnTo>
                  <a:pt x="47723" y="999569"/>
                </a:lnTo>
                <a:lnTo>
                  <a:pt x="50798" y="1001698"/>
                </a:lnTo>
                <a:lnTo>
                  <a:pt x="53942" y="1003725"/>
                </a:lnTo>
                <a:lnTo>
                  <a:pt x="57150" y="1005648"/>
                </a:lnTo>
                <a:lnTo>
                  <a:pt x="60419" y="1007465"/>
                </a:lnTo>
                <a:lnTo>
                  <a:pt x="63746" y="1009173"/>
                </a:lnTo>
                <a:lnTo>
                  <a:pt x="67128" y="1010773"/>
                </a:lnTo>
                <a:lnTo>
                  <a:pt x="70559" y="1012260"/>
                </a:lnTo>
                <a:lnTo>
                  <a:pt x="74038" y="1013635"/>
                </a:lnTo>
                <a:lnTo>
                  <a:pt x="77559" y="1014895"/>
                </a:lnTo>
                <a:lnTo>
                  <a:pt x="81120" y="1016039"/>
                </a:lnTo>
                <a:lnTo>
                  <a:pt x="84717" y="1017066"/>
                </a:lnTo>
                <a:lnTo>
                  <a:pt x="88345" y="1017975"/>
                </a:lnTo>
                <a:lnTo>
                  <a:pt x="92001" y="1018765"/>
                </a:lnTo>
                <a:lnTo>
                  <a:pt x="95681" y="1019434"/>
                </a:lnTo>
                <a:lnTo>
                  <a:pt x="99381" y="1019983"/>
                </a:lnTo>
                <a:lnTo>
                  <a:pt x="103097" y="1020411"/>
                </a:lnTo>
                <a:lnTo>
                  <a:pt x="106824" y="1020716"/>
                </a:lnTo>
                <a:lnTo>
                  <a:pt x="110560" y="1020900"/>
                </a:lnTo>
                <a:lnTo>
                  <a:pt x="114300" y="1020961"/>
                </a:lnTo>
                <a:lnTo>
                  <a:pt x="114300" y="1020961"/>
                </a:lnTo>
                <a:lnTo>
                  <a:pt x="112430" y="1020900"/>
                </a:lnTo>
                <a:lnTo>
                  <a:pt x="110562" y="1020716"/>
                </a:lnTo>
                <a:lnTo>
                  <a:pt x="108698" y="1020411"/>
                </a:lnTo>
                <a:lnTo>
                  <a:pt x="106840" y="1019983"/>
                </a:lnTo>
                <a:lnTo>
                  <a:pt x="104991" y="1019434"/>
                </a:lnTo>
                <a:lnTo>
                  <a:pt x="103151" y="1018765"/>
                </a:lnTo>
                <a:lnTo>
                  <a:pt x="101323" y="1017975"/>
                </a:lnTo>
                <a:lnTo>
                  <a:pt x="99508" y="1017066"/>
                </a:lnTo>
                <a:lnTo>
                  <a:pt x="97710" y="1016039"/>
                </a:lnTo>
                <a:lnTo>
                  <a:pt x="95930" y="1014895"/>
                </a:lnTo>
                <a:lnTo>
                  <a:pt x="94169" y="1013635"/>
                </a:lnTo>
                <a:lnTo>
                  <a:pt x="92430" y="1012260"/>
                </a:lnTo>
                <a:lnTo>
                  <a:pt x="90714" y="1010773"/>
                </a:lnTo>
                <a:lnTo>
                  <a:pt x="89023" y="1009173"/>
                </a:lnTo>
                <a:lnTo>
                  <a:pt x="87360" y="1007465"/>
                </a:lnTo>
                <a:lnTo>
                  <a:pt x="85725" y="1005648"/>
                </a:lnTo>
                <a:lnTo>
                  <a:pt x="84121" y="1003725"/>
                </a:lnTo>
                <a:lnTo>
                  <a:pt x="82549" y="1001698"/>
                </a:lnTo>
                <a:lnTo>
                  <a:pt x="81011" y="999569"/>
                </a:lnTo>
                <a:lnTo>
                  <a:pt x="79509" y="997341"/>
                </a:lnTo>
                <a:lnTo>
                  <a:pt x="78044" y="995016"/>
                </a:lnTo>
                <a:lnTo>
                  <a:pt x="76618" y="992596"/>
                </a:lnTo>
                <a:lnTo>
                  <a:pt x="75233" y="990084"/>
                </a:lnTo>
                <a:lnTo>
                  <a:pt x="73889" y="987483"/>
                </a:lnTo>
                <a:lnTo>
                  <a:pt x="72588" y="984796"/>
                </a:lnTo>
                <a:lnTo>
                  <a:pt x="71332" y="982024"/>
                </a:lnTo>
                <a:lnTo>
                  <a:pt x="70122" y="979172"/>
                </a:lnTo>
                <a:lnTo>
                  <a:pt x="68960" y="976242"/>
                </a:lnTo>
                <a:lnTo>
                  <a:pt x="67846" y="973238"/>
                </a:lnTo>
                <a:lnTo>
                  <a:pt x="66782" y="970163"/>
                </a:lnTo>
                <a:lnTo>
                  <a:pt x="65768" y="967019"/>
                </a:lnTo>
                <a:lnTo>
                  <a:pt x="64807" y="963811"/>
                </a:lnTo>
                <a:lnTo>
                  <a:pt x="63898" y="960542"/>
                </a:lnTo>
                <a:lnTo>
                  <a:pt x="63044" y="957215"/>
                </a:lnTo>
                <a:lnTo>
                  <a:pt x="62244" y="953833"/>
                </a:lnTo>
                <a:lnTo>
                  <a:pt x="61500" y="950402"/>
                </a:lnTo>
                <a:lnTo>
                  <a:pt x="60813" y="946923"/>
                </a:lnTo>
                <a:lnTo>
                  <a:pt x="60183" y="943401"/>
                </a:lnTo>
                <a:lnTo>
                  <a:pt x="59611" y="939840"/>
                </a:lnTo>
                <a:lnTo>
                  <a:pt x="59097" y="936244"/>
                </a:lnTo>
                <a:lnTo>
                  <a:pt x="58643" y="932616"/>
                </a:lnTo>
                <a:lnTo>
                  <a:pt x="58248" y="928960"/>
                </a:lnTo>
                <a:lnTo>
                  <a:pt x="57913" y="925280"/>
                </a:lnTo>
                <a:lnTo>
                  <a:pt x="57639" y="921580"/>
                </a:lnTo>
                <a:lnTo>
                  <a:pt x="57425" y="917864"/>
                </a:lnTo>
                <a:lnTo>
                  <a:pt x="57272" y="914137"/>
                </a:lnTo>
                <a:lnTo>
                  <a:pt x="57181" y="910401"/>
                </a:lnTo>
                <a:lnTo>
                  <a:pt x="57150" y="90666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0290E5-C6E5-4E6F-8787-75A29315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2d348751bd4d44"/>
          <a:stretch xmlns:a="http://schemas.openxmlformats.org/drawingml/2006/main"/>
        </p:blipFill>
        <p:spPr>
          <a:xfrm xmlns:a="http://schemas.openxmlformats.org/drawingml/2006/main">
            <a:off x="1219200" y="3333750"/>
            <a:ext cx="15849600" cy="3905250"/>
          </a:xfrm>
          <a:prstGeom xmlns:a="http://schemas.openxmlformats.org/drawingml/2006/main" prst="rect">
            <a:avLst/>
          </a:prstGeom>
        </p:spPr>
      </p:pic>
      <p:sp>
        <p:nvSpPr>
          <p:cNvPr id="6" name="text-sod">
            <a:extLst xmlns:a="http://schemas.openxmlformats.org/drawingml/2006/main">
              <a:ext uri="{FF2B5EF4-FFF2-40B4-BE49-F238E27FC236}">
                <a16:creationId xmlns:a16="http://schemas.microsoft.com/office/drawing/2014/main" id="{3C504E0C-D8A4-446D-AC7F-40E8FA9C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5029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ОБЈАШЊЕЊЕ · ИЛУСТРАТИВНИ МОДЕЛ</a:t>
            </a:r>
          </a:p>
        </p:txBody>
      </p:sp>
      <p:sp>
        <p:nvSpPr>
          <p:cNvPr id="7" name="heading-sod">
            <a:extLst xmlns:a="http://schemas.openxmlformats.org/drawingml/2006/main">
              <a:ext uri="{FF2B5EF4-FFF2-40B4-BE49-F238E27FC236}">
                <a16:creationId xmlns:a16="http://schemas.microsoft.com/office/drawing/2014/main" id="{3138973D-49AD-4773-9A0F-D28D5F03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6355556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Сегрегација дужности</a:t>
            </a:r>
          </a:p>
        </p:txBody>
      </p:sp>
      <p:sp>
        <p:nvSpPr>
          <p:cNvPr id="8" name="text-sod">
            <a:extLst xmlns:a="http://schemas.openxmlformats.org/drawingml/2006/main">
              <a:ext uri="{FF2B5EF4-FFF2-40B4-BE49-F238E27FC236}">
                <a16:creationId xmlns:a16="http://schemas.microsoft.com/office/drawing/2014/main" id="{823701A7-81DF-4392-95D5-FA361E76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893817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Илустративна контрола за радњу која захтева независно одобрење.</a:t>
            </a:r>
          </a:p>
        </p:txBody>
      </p:sp>
      <p:sp>
        <p:nvSpPr>
          <p:cNvPr id="9" name="text-sod">
            <a:extLst xmlns:a="http://schemas.openxmlformats.org/drawingml/2006/main">
              <a:ext uri="{FF2B5EF4-FFF2-40B4-BE49-F238E27FC236}">
                <a16:creationId xmlns:a16="http://schemas.microsoft.com/office/drawing/2014/main" id="{2C100951-056D-40B1-8932-173839D4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6319" y="4152900"/>
            <a:ext cx="1484412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Особа А</a:t>
            </a:r>
          </a:p>
        </p:txBody>
      </p:sp>
      <p:sp>
        <p:nvSpPr>
          <p:cNvPr id="10" name="text-sod">
            <a:extLst xmlns:a="http://schemas.openxmlformats.org/drawingml/2006/main">
              <a:ext uri="{FF2B5EF4-FFF2-40B4-BE49-F238E27FC236}">
                <a16:creationId xmlns:a16="http://schemas.microsoft.com/office/drawing/2014/main" id="{48C2FF21-2DA9-4CB0-BFCA-3FE499EB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2115" y="4579590"/>
            <a:ext cx="30328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предлаже ризичну </a:t>
            </a:r>
          </a:p>
        </p:txBody>
      </p:sp>
      <p:sp>
        <p:nvSpPr>
          <p:cNvPr id="11" name="text-sod">
            <a:extLst xmlns:a="http://schemas.openxmlformats.org/drawingml/2006/main">
              <a:ext uri="{FF2B5EF4-FFF2-40B4-BE49-F238E27FC236}">
                <a16:creationId xmlns:a16="http://schemas.microsoft.com/office/drawing/2014/main" id="{A03700F8-321C-4596-B127-92799FA5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5581" y="5006280"/>
            <a:ext cx="138573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измену</a:t>
            </a:r>
          </a:p>
        </p:txBody>
      </p:sp>
      <p:sp>
        <p:nvSpPr>
          <p:cNvPr id="12" name="text-sod">
            <a:extLst xmlns:a="http://schemas.openxmlformats.org/drawingml/2006/main">
              <a:ext uri="{FF2B5EF4-FFF2-40B4-BE49-F238E27FC236}">
                <a16:creationId xmlns:a16="http://schemas.microsoft.com/office/drawing/2014/main" id="{469AAF26-E079-4149-AF8C-A9E7EFCC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0864" y="4152900"/>
            <a:ext cx="3045321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Провера дужности</a:t>
            </a:r>
          </a:p>
        </p:txBody>
      </p:sp>
      <p:sp>
        <p:nvSpPr>
          <p:cNvPr id="13" name="text-sod">
            <a:extLst xmlns:a="http://schemas.openxmlformats.org/drawingml/2006/main">
              <a:ext uri="{FF2B5EF4-FFF2-40B4-BE49-F238E27FC236}">
                <a16:creationId xmlns:a16="http://schemas.microsoft.com/office/drawing/2014/main" id="{E368A4E6-EEF6-4E2E-B5C7-574C3798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7946" y="4579590"/>
            <a:ext cx="403101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предлагач ≠ одобравалац</a:t>
            </a:r>
          </a:p>
        </p:txBody>
      </p:sp>
      <p:sp>
        <p:nvSpPr>
          <p:cNvPr id="14" name="text-sod">
            <a:extLst xmlns:a="http://schemas.openxmlformats.org/drawingml/2006/main">
              <a:ext uri="{FF2B5EF4-FFF2-40B4-BE49-F238E27FC236}">
                <a16:creationId xmlns:a16="http://schemas.microsoft.com/office/drawing/2014/main" id="{E3720D40-AA59-402C-8539-73BBBECE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9938" y="4152900"/>
            <a:ext cx="148292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Особа Б</a:t>
            </a:r>
          </a:p>
        </p:txBody>
      </p:sp>
      <p:sp>
        <p:nvSpPr>
          <p:cNvPr id="15" name="text-sod">
            <a:extLst xmlns:a="http://schemas.openxmlformats.org/drawingml/2006/main">
              <a:ext uri="{FF2B5EF4-FFF2-40B4-BE49-F238E27FC236}">
                <a16:creationId xmlns:a16="http://schemas.microsoft.com/office/drawing/2014/main" id="{C211316D-59CC-41AC-B9AC-D72C94B6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577" y="4579590"/>
            <a:ext cx="3359646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прегледа и одобрава</a:t>
            </a:r>
          </a:p>
        </p:txBody>
      </p:sp>
      <p:sp>
        <p:nvSpPr>
          <p:cNvPr id="16" name="text-sod">
            <a:extLst xmlns:a="http://schemas.openxmlformats.org/drawingml/2006/main">
              <a:ext uri="{FF2B5EF4-FFF2-40B4-BE49-F238E27FC236}">
                <a16:creationId xmlns:a16="http://schemas.microsoft.com/office/drawing/2014/main" id="{1D202450-8457-4669-8C3A-42B7AC12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5738" y="6581775"/>
            <a:ext cx="104106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A8520A"/>
                </a:solidFill>
                <a:latin typeface="IBM Plex Sans"/>
                <a:ea typeface="IBM Plex Sans"/>
                <a:cs typeface="IBM Plex Sans"/>
              </a:rPr>
              <a:t>SoD се проверава над ефективним правима, укључујући наслеђена овлашћења.</a:t>
            </a:r>
          </a:p>
        </p:txBody>
      </p:sp>
      <p:sp>
        <p:nvSpPr>
          <p:cNvPr id="17" name="text-sod">
            <a:extLst xmlns:a="http://schemas.openxmlformats.org/drawingml/2006/main">
              <a:ext uri="{FF2B5EF4-FFF2-40B4-BE49-F238E27FC236}">
                <a16:creationId xmlns:a16="http://schemas.microsoft.com/office/drawing/2014/main" id="{9E3F0F01-A678-465C-9A34-91F76C5E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589341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Тумачење</a:t>
            </a:r>
          </a:p>
        </p:txBody>
      </p:sp>
      <p:sp>
        <p:nvSpPr>
          <p:cNvPr id="18" name="text-sod">
            <a:extLst xmlns:a="http://schemas.openxmlformats.org/drawingml/2006/main">
              <a:ext uri="{FF2B5EF4-FFF2-40B4-BE49-F238E27FC236}">
                <a16:creationId xmlns:a16="http://schemas.microsoft.com/office/drawing/2014/main" id="{65847F62-364D-4635-A6AB-097A4889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85522"/>
            <a:ext cx="1250677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Сам назив улоге није довољан доказ раздвајања. Провера обухвата стварно доступне радње у целокупном току.</a:t>
            </a:r>
          </a:p>
        </p:txBody>
      </p:sp>
      <p:sp>
        <p:nvSpPr>
          <p:cNvPr id="19" name="text-sod">
            <a:extLst xmlns:a="http://schemas.openxmlformats.org/drawingml/2006/main">
              <a:ext uri="{FF2B5EF4-FFF2-40B4-BE49-F238E27FC236}">
                <a16:creationId xmlns:a16="http://schemas.microsoft.com/office/drawing/2014/main" id="{AE7D0745-B74C-48F4-BD95-8B2C552B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0" name="text-sod">
            <a:extLst xmlns:a="http://schemas.openxmlformats.org/drawingml/2006/main">
              <a:ext uri="{FF2B5EF4-FFF2-40B4-BE49-F238E27FC236}">
                <a16:creationId xmlns:a16="http://schemas.microsoft.com/office/drawing/2014/main" id="{390F6134-151A-4FC8-810E-686A49D1D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09939396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E9EBE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CA5A20-599E-48D4-905D-5B58DA42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972026"/>
            <a:ext cx="2233761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BBC2B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3F6FA5-25DC-4403-963C-A337C58F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8861" y="5972026"/>
            <a:ext cx="787896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BBC2B8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7018DC-B968-43EC-8DFD-328DE4AB3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1057" y="5972026"/>
            <a:ext cx="1625947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BBC2B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30B4B3-F66D-4913-A552-1424F2664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305" y="5972026"/>
            <a:ext cx="1052959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BBC2B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D41C56-FFAB-48C7-AB06-BBAEA847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C2B8"/>
          </a:solidFill>
          <a:ln xmlns:a="http://schemas.openxmlformats.org/drawingml/2006/main" w="0">
            <a:noFill/>
          </a:ln>
        </p:spPr>
      </p:sp>
      <p:sp>
        <p:nvSpPr>
          <p:cNvPr id="6" name="text-deo4">
            <a:extLst xmlns:a="http://schemas.openxmlformats.org/drawingml/2006/main">
              <a:ext uri="{FF2B5EF4-FFF2-40B4-BE49-F238E27FC236}">
                <a16:creationId xmlns:a16="http://schemas.microsoft.com/office/drawing/2014/main" id="{6AD0B8E2-416F-4AAF-BAA5-509C253E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3390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0">
                <a:latin typeface="IBM Plex Mono"/>
                <a:ea typeface="IBM Plex Mono"/>
                <a:cs typeface="IBM Plex Mono"/>
              </a:defRPr>
            </a:pPr>
            <a:r>
              <a:rPr sz="210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7" name="text-deo4">
            <a:extLst xmlns:a="http://schemas.openxmlformats.org/drawingml/2006/main">
              <a:ext uri="{FF2B5EF4-FFF2-40B4-BE49-F238E27FC236}">
                <a16:creationId xmlns:a16="http://schemas.microsoft.com/office/drawing/2014/main" id="{B3EC6DCF-43F0-4C11-84B4-BD1811CD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18595"/>
            <a:ext cx="20612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ЧЕТВРТИ ДЕО</a:t>
            </a:r>
          </a:p>
        </p:txBody>
      </p:sp>
      <p:sp>
        <p:nvSpPr>
          <p:cNvPr id="8" name="heading-deo4">
            <a:extLst xmlns:a="http://schemas.openxmlformats.org/drawingml/2006/main">
              <a:ext uri="{FF2B5EF4-FFF2-40B4-BE49-F238E27FC236}">
                <a16:creationId xmlns:a16="http://schemas.microsoft.com/office/drawing/2014/main" id="{B4B5253D-CEE2-4CAC-9E7E-E08DD318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90975"/>
            <a:ext cx="9359801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696"/>
          </a:bodyPr>
          <a:lstStyle xmlns:a="http://schemas.openxmlformats.org/drawingml/2006/main"/>
          <a:p xmlns:a="http://schemas.openxmlformats.org/drawingml/2006/main">
            <a:pPr algn="l">
              <a:defRPr sz="7200">
                <a:latin typeface="IBM Plex Sans"/>
                <a:ea typeface="IBM Plex Sans"/>
                <a:cs typeface="IBM Plex Sans"/>
              </a:defRPr>
            </a:pPr>
            <a:r>
              <a:rPr sz="72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Периодични преглед</a:t>
            </a:r>
          </a:p>
        </p:txBody>
      </p:sp>
      <p:sp>
        <p:nvSpPr>
          <p:cNvPr id="9" name="text-deo4">
            <a:extLst xmlns:a="http://schemas.openxmlformats.org/drawingml/2006/main">
              <a:ext uri="{FF2B5EF4-FFF2-40B4-BE49-F238E27FC236}">
                <a16:creationId xmlns:a16="http://schemas.microsoft.com/office/drawing/2014/main" id="{33F4B83B-366C-4DF6-B064-379685E3C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41590"/>
            <a:ext cx="906616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Право се потврђује док постоји потреба, а одлука оставља јасан траг.</a:t>
            </a:r>
          </a:p>
        </p:txBody>
      </p:sp>
      <p:sp>
        <p:nvSpPr>
          <p:cNvPr id="10" name="text-deo4">
            <a:extLst xmlns:a="http://schemas.openxmlformats.org/drawingml/2006/main">
              <a:ext uri="{FF2B5EF4-FFF2-40B4-BE49-F238E27FC236}">
                <a16:creationId xmlns:a16="http://schemas.microsoft.com/office/drawing/2014/main" id="{465B38B0-66DA-4B44-A6A3-6D4D0947A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6057751"/>
            <a:ext cx="217661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Пословни разлог</a:t>
            </a:r>
          </a:p>
        </p:txBody>
      </p:sp>
      <p:sp>
        <p:nvSpPr>
          <p:cNvPr id="11" name="text-deo4">
            <a:extLst xmlns:a="http://schemas.openxmlformats.org/drawingml/2006/main">
              <a:ext uri="{FF2B5EF4-FFF2-40B4-BE49-F238E27FC236}">
                <a16:creationId xmlns:a16="http://schemas.microsoft.com/office/drawing/2014/main" id="{1C98F905-99D2-4554-9655-ACC8D02BC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886" y="6057751"/>
            <a:ext cx="73074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Рок</a:t>
            </a:r>
          </a:p>
        </p:txBody>
      </p:sp>
      <p:sp>
        <p:nvSpPr>
          <p:cNvPr id="12" name="text-deo4">
            <a:extLst xmlns:a="http://schemas.openxmlformats.org/drawingml/2006/main">
              <a:ext uri="{FF2B5EF4-FFF2-40B4-BE49-F238E27FC236}">
                <a16:creationId xmlns:a16="http://schemas.microsoft.com/office/drawing/2014/main" id="{66569175-5568-4867-B238-8B80C80F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1082" y="6057751"/>
            <a:ext cx="156879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Повлачење</a:t>
            </a:r>
          </a:p>
        </p:txBody>
      </p:sp>
      <p:sp>
        <p:nvSpPr>
          <p:cNvPr id="13" name="text-deo4">
            <a:extLst xmlns:a="http://schemas.openxmlformats.org/drawingml/2006/main">
              <a:ext uri="{FF2B5EF4-FFF2-40B4-BE49-F238E27FC236}">
                <a16:creationId xmlns:a16="http://schemas.microsoft.com/office/drawing/2014/main" id="{1909C9C4-A611-4F70-92AF-E8851CC85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91330" y="6057751"/>
            <a:ext cx="99580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Доказ</a:t>
            </a:r>
          </a:p>
        </p:txBody>
      </p:sp>
      <p:sp>
        <p:nvSpPr>
          <p:cNvPr id="14" name="text-deo4">
            <a:extLst xmlns:a="http://schemas.openxmlformats.org/drawingml/2006/main">
              <a:ext uri="{FF2B5EF4-FFF2-40B4-BE49-F238E27FC236}">
                <a16:creationId xmlns:a16="http://schemas.microsoft.com/office/drawing/2014/main" id="{53FBEE59-97B2-43A3-B278-99DDC325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5" name="text-deo4">
            <a:extLst xmlns:a="http://schemas.openxmlformats.org/drawingml/2006/main">
              <a:ext uri="{FF2B5EF4-FFF2-40B4-BE49-F238E27FC236}">
                <a16:creationId xmlns:a16="http://schemas.microsoft.com/office/drawing/2014/main" id="{6FB3C8C5-FF2D-410F-9ECE-90E34618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38341969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81FA92-738A-4AB8-9E30-B46E76105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D26A4C-641F-4F5D-BE9A-5D9C2627E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D08FC5-6CE2-4C6F-92D8-42D1F68C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72558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3EE71F-813F-452E-9167-7B8127A4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32524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11D862-82D5-4913-A475-9686044C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687741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9EBE2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7BFE9437-4905-46C8-8B2D-F00CB4B2F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687741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49CC15-1A59-4642-AF1D-38786B50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3F25E135-8A96-45FF-8DC5-6E980E35A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2175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04 · ПРЕГЛЕД</a:t>
            </a:r>
          </a:p>
        </p:txBody>
      </p:sp>
      <p:sp>
        <p:nvSpPr>
          <p:cNvPr id="9" name="heading-source-07">
            <a:extLst xmlns:a="http://schemas.openxmlformats.org/drawingml/2006/main">
              <a:ext uri="{FF2B5EF4-FFF2-40B4-BE49-F238E27FC236}">
                <a16:creationId xmlns:a16="http://schemas.microsoft.com/office/drawing/2014/main" id="{EDBD6C97-92FA-478D-919F-AD858DF6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2600623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Преглед</a:t>
            </a:r>
          </a:p>
        </p:txBody>
      </p:sp>
      <p:sp>
        <p:nvSpPr>
          <p:cNvPr id="10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663ECBB0-5372-4B0A-AF9A-AA7EFA1D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388634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потврда да одлука још важи</a:t>
            </a:r>
          </a:p>
        </p:txBody>
      </p:sp>
      <p:sp>
        <p:nvSpPr>
          <p:cNvPr id="11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8BD4593B-3CE6-4B7C-A22F-3752992B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45941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2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B95C1726-66A9-494E-8AC3-A961090B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303091"/>
            <a:ext cx="10232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Свака одлука носи рок следећег прегледа, одобрење не важи неограничено.</a:t>
            </a:r>
          </a:p>
        </p:txBody>
      </p:sp>
      <p:sp>
        <p:nvSpPr>
          <p:cNvPr id="13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CFF6F8E4-F2D8-4CC3-A88C-78A8113C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43027"/>
            <a:ext cx="455622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Питање: који улаз покреће ову одлуку?</a:t>
            </a:r>
          </a:p>
        </p:txBody>
      </p:sp>
      <p:sp>
        <p:nvSpPr>
          <p:cNvPr id="14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E6112420-C436-40A8-A8B8-3FDBF81F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05908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5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1652F4D2-6CAD-44DB-98B3-5E591AD1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463058"/>
            <a:ext cx="1149637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Одбијање због високог ризика тражи ранију поновну процену него редовно одобрење.</a:t>
            </a:r>
          </a:p>
        </p:txBody>
      </p:sp>
      <p:sp>
        <p:nvSpPr>
          <p:cNvPr id="16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805ECAFC-FEDD-45F5-887F-89026B93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902994"/>
            <a:ext cx="494972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Питање: која граница мора бити видљива?</a:t>
            </a:r>
          </a:p>
        </p:txBody>
      </p:sp>
      <p:sp>
        <p:nvSpPr>
          <p:cNvPr id="17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A91A7407-DDF7-4699-9AA5-78A95BF7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65874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18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7A4A9F6E-A3FC-47B7-AE86-E3ED9B7F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623024"/>
            <a:ext cx="956994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Преглед приступа оставља запис ко је потврдио право и на основу чега.</a:t>
            </a:r>
          </a:p>
        </p:txBody>
      </p:sp>
      <p:sp>
        <p:nvSpPr>
          <p:cNvPr id="19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D1C966AE-689A-4332-8B47-B304726E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062960"/>
            <a:ext cx="471934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Питање: који доказ остаје после исхода?</a:t>
            </a:r>
          </a:p>
        </p:txBody>
      </p:sp>
      <p:sp>
        <p:nvSpPr>
          <p:cNvPr id="20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BE487F04-1421-48A0-A8EF-9833490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878241"/>
            <a:ext cx="2674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ПИТАЊЕ ЗА АНАЛИЗУ</a:t>
            </a:r>
          </a:p>
        </p:txBody>
      </p:sp>
      <p:sp>
        <p:nvSpPr>
          <p:cNvPr id="21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20827EFC-CA8E-4E85-B7AE-52DAFCF9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283946"/>
            <a:ext cx="1130037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Колико дуго у вашем систему важи одобрење пре него што се одлука поново провери?</a:t>
            </a:r>
          </a:p>
        </p:txBody>
      </p:sp>
      <p:sp>
        <p:nvSpPr>
          <p:cNvPr id="22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B25572D0-279A-4010-8718-B9B0C1AB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3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D0DE0FA6-CDD3-4E8B-8CB6-A5B83711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0271117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211AE8-1D46-4942-8B21-011E7F8F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7BAE79-EAD5-4411-9537-1C2D93BFF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532191"/>
            <a:ext cx="15849600" cy="1020961"/>
          </a:xfrm>
          <a:prstGeom xmlns:a="http://schemas.openxmlformats.org/drawingml/2006/main" prst="roundRect">
            <a:avLst>
              <a:gd name="adj" fmla="val 11195"/>
            </a:avLst>
          </a:prstGeom>
          <a:solidFill xmlns:a="http://schemas.openxmlformats.org/drawingml/2006/main">
            <a:srgbClr val="E9EBE2"/>
          </a:solidFill>
          <a:ln xmlns:a="http://schemas.openxmlformats.org/drawingml/2006/main" w="0">
            <a:noFill/>
          </a:ln>
        </p:spPr>
      </p:sp>
      <p:sp>
        <p:nvSpPr>
          <p:cNvPr id="3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7EBF810E-2D81-4013-901A-9AE71F92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532191"/>
            <a:ext cx="114300" cy="1020961"/>
          </a:xfrm>
          <a:custGeom xmlns:a="http://schemas.openxmlformats.org/drawingml/2006/main">
            <a:pathLst>
              <a:path w="114300" h="102096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906661"/>
                </a:lnTo>
                <a:lnTo>
                  <a:pt x="61" y="910401"/>
                </a:lnTo>
                <a:lnTo>
                  <a:pt x="245" y="914137"/>
                </a:lnTo>
                <a:lnTo>
                  <a:pt x="550" y="917864"/>
                </a:lnTo>
                <a:lnTo>
                  <a:pt x="978" y="921580"/>
                </a:lnTo>
                <a:lnTo>
                  <a:pt x="1527" y="925280"/>
                </a:lnTo>
                <a:lnTo>
                  <a:pt x="2196" y="928960"/>
                </a:lnTo>
                <a:lnTo>
                  <a:pt x="2986" y="932616"/>
                </a:lnTo>
                <a:lnTo>
                  <a:pt x="3895" y="936244"/>
                </a:lnTo>
                <a:lnTo>
                  <a:pt x="4922" y="939840"/>
                </a:lnTo>
                <a:lnTo>
                  <a:pt x="6066" y="943401"/>
                </a:lnTo>
                <a:lnTo>
                  <a:pt x="7326" y="946923"/>
                </a:lnTo>
                <a:lnTo>
                  <a:pt x="8701" y="950402"/>
                </a:lnTo>
                <a:lnTo>
                  <a:pt x="10188" y="953833"/>
                </a:lnTo>
                <a:lnTo>
                  <a:pt x="11787" y="957215"/>
                </a:lnTo>
                <a:lnTo>
                  <a:pt x="13496" y="960542"/>
                </a:lnTo>
                <a:lnTo>
                  <a:pt x="15313" y="963811"/>
                </a:lnTo>
                <a:lnTo>
                  <a:pt x="17236" y="967019"/>
                </a:lnTo>
                <a:lnTo>
                  <a:pt x="19263" y="970163"/>
                </a:lnTo>
                <a:lnTo>
                  <a:pt x="21392" y="973238"/>
                </a:lnTo>
                <a:lnTo>
                  <a:pt x="23620" y="976242"/>
                </a:lnTo>
                <a:lnTo>
                  <a:pt x="25945" y="979172"/>
                </a:lnTo>
                <a:lnTo>
                  <a:pt x="28365" y="982024"/>
                </a:lnTo>
                <a:lnTo>
                  <a:pt x="30877" y="984796"/>
                </a:lnTo>
                <a:lnTo>
                  <a:pt x="33478" y="987483"/>
                </a:lnTo>
                <a:lnTo>
                  <a:pt x="36165" y="990084"/>
                </a:lnTo>
                <a:lnTo>
                  <a:pt x="38937" y="992596"/>
                </a:lnTo>
                <a:lnTo>
                  <a:pt x="41789" y="995016"/>
                </a:lnTo>
                <a:lnTo>
                  <a:pt x="44719" y="997341"/>
                </a:lnTo>
                <a:lnTo>
                  <a:pt x="47723" y="999569"/>
                </a:lnTo>
                <a:lnTo>
                  <a:pt x="50798" y="1001698"/>
                </a:lnTo>
                <a:lnTo>
                  <a:pt x="53942" y="1003725"/>
                </a:lnTo>
                <a:lnTo>
                  <a:pt x="57150" y="1005648"/>
                </a:lnTo>
                <a:lnTo>
                  <a:pt x="60419" y="1007465"/>
                </a:lnTo>
                <a:lnTo>
                  <a:pt x="63746" y="1009173"/>
                </a:lnTo>
                <a:lnTo>
                  <a:pt x="67128" y="1010773"/>
                </a:lnTo>
                <a:lnTo>
                  <a:pt x="70559" y="1012260"/>
                </a:lnTo>
                <a:lnTo>
                  <a:pt x="74038" y="1013635"/>
                </a:lnTo>
                <a:lnTo>
                  <a:pt x="77559" y="1014895"/>
                </a:lnTo>
                <a:lnTo>
                  <a:pt x="81120" y="1016039"/>
                </a:lnTo>
                <a:lnTo>
                  <a:pt x="84717" y="1017066"/>
                </a:lnTo>
                <a:lnTo>
                  <a:pt x="88345" y="1017975"/>
                </a:lnTo>
                <a:lnTo>
                  <a:pt x="92001" y="1018765"/>
                </a:lnTo>
                <a:lnTo>
                  <a:pt x="95681" y="1019434"/>
                </a:lnTo>
                <a:lnTo>
                  <a:pt x="99381" y="1019983"/>
                </a:lnTo>
                <a:lnTo>
                  <a:pt x="103097" y="1020411"/>
                </a:lnTo>
                <a:lnTo>
                  <a:pt x="106824" y="1020716"/>
                </a:lnTo>
                <a:lnTo>
                  <a:pt x="110560" y="1020900"/>
                </a:lnTo>
                <a:lnTo>
                  <a:pt x="114300" y="1020961"/>
                </a:lnTo>
                <a:lnTo>
                  <a:pt x="114300" y="1020961"/>
                </a:lnTo>
                <a:lnTo>
                  <a:pt x="112430" y="1020900"/>
                </a:lnTo>
                <a:lnTo>
                  <a:pt x="110562" y="1020716"/>
                </a:lnTo>
                <a:lnTo>
                  <a:pt x="108698" y="1020411"/>
                </a:lnTo>
                <a:lnTo>
                  <a:pt x="106840" y="1019983"/>
                </a:lnTo>
                <a:lnTo>
                  <a:pt x="104991" y="1019434"/>
                </a:lnTo>
                <a:lnTo>
                  <a:pt x="103151" y="1018765"/>
                </a:lnTo>
                <a:lnTo>
                  <a:pt x="101323" y="1017975"/>
                </a:lnTo>
                <a:lnTo>
                  <a:pt x="99508" y="1017066"/>
                </a:lnTo>
                <a:lnTo>
                  <a:pt x="97710" y="1016039"/>
                </a:lnTo>
                <a:lnTo>
                  <a:pt x="95930" y="1014895"/>
                </a:lnTo>
                <a:lnTo>
                  <a:pt x="94169" y="1013635"/>
                </a:lnTo>
                <a:lnTo>
                  <a:pt x="92430" y="1012260"/>
                </a:lnTo>
                <a:lnTo>
                  <a:pt x="90714" y="1010773"/>
                </a:lnTo>
                <a:lnTo>
                  <a:pt x="89023" y="1009173"/>
                </a:lnTo>
                <a:lnTo>
                  <a:pt x="87360" y="1007465"/>
                </a:lnTo>
                <a:lnTo>
                  <a:pt x="85725" y="1005648"/>
                </a:lnTo>
                <a:lnTo>
                  <a:pt x="84121" y="1003725"/>
                </a:lnTo>
                <a:lnTo>
                  <a:pt x="82549" y="1001698"/>
                </a:lnTo>
                <a:lnTo>
                  <a:pt x="81011" y="999569"/>
                </a:lnTo>
                <a:lnTo>
                  <a:pt x="79509" y="997341"/>
                </a:lnTo>
                <a:lnTo>
                  <a:pt x="78044" y="995016"/>
                </a:lnTo>
                <a:lnTo>
                  <a:pt x="76618" y="992596"/>
                </a:lnTo>
                <a:lnTo>
                  <a:pt x="75233" y="990084"/>
                </a:lnTo>
                <a:lnTo>
                  <a:pt x="73889" y="987483"/>
                </a:lnTo>
                <a:lnTo>
                  <a:pt x="72588" y="984796"/>
                </a:lnTo>
                <a:lnTo>
                  <a:pt x="71332" y="982024"/>
                </a:lnTo>
                <a:lnTo>
                  <a:pt x="70122" y="979172"/>
                </a:lnTo>
                <a:lnTo>
                  <a:pt x="68960" y="976242"/>
                </a:lnTo>
                <a:lnTo>
                  <a:pt x="67846" y="973238"/>
                </a:lnTo>
                <a:lnTo>
                  <a:pt x="66782" y="970163"/>
                </a:lnTo>
                <a:lnTo>
                  <a:pt x="65768" y="967019"/>
                </a:lnTo>
                <a:lnTo>
                  <a:pt x="64807" y="963811"/>
                </a:lnTo>
                <a:lnTo>
                  <a:pt x="63898" y="960542"/>
                </a:lnTo>
                <a:lnTo>
                  <a:pt x="63044" y="957215"/>
                </a:lnTo>
                <a:lnTo>
                  <a:pt x="62244" y="953833"/>
                </a:lnTo>
                <a:lnTo>
                  <a:pt x="61500" y="950402"/>
                </a:lnTo>
                <a:lnTo>
                  <a:pt x="60813" y="946923"/>
                </a:lnTo>
                <a:lnTo>
                  <a:pt x="60183" y="943401"/>
                </a:lnTo>
                <a:lnTo>
                  <a:pt x="59611" y="939840"/>
                </a:lnTo>
                <a:lnTo>
                  <a:pt x="59097" y="936244"/>
                </a:lnTo>
                <a:lnTo>
                  <a:pt x="58643" y="932616"/>
                </a:lnTo>
                <a:lnTo>
                  <a:pt x="58248" y="928960"/>
                </a:lnTo>
                <a:lnTo>
                  <a:pt x="57913" y="925280"/>
                </a:lnTo>
                <a:lnTo>
                  <a:pt x="57639" y="921580"/>
                </a:lnTo>
                <a:lnTo>
                  <a:pt x="57425" y="917864"/>
                </a:lnTo>
                <a:lnTo>
                  <a:pt x="57272" y="914137"/>
                </a:lnTo>
                <a:lnTo>
                  <a:pt x="57181" y="910401"/>
                </a:lnTo>
                <a:lnTo>
                  <a:pt x="57150" y="90666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AC8EBD-2648-4694-96FE-6D4009EF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1e8b1e402944f9"/>
          <a:stretch xmlns:a="http://schemas.openxmlformats.org/drawingml/2006/main"/>
        </p:blipFill>
        <p:spPr>
          <a:xfrm xmlns:a="http://schemas.openxmlformats.org/drawingml/2006/main">
            <a:off x="1219200" y="3333750"/>
            <a:ext cx="15849600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text-pristup-pregled">
            <a:extLst xmlns:a="http://schemas.openxmlformats.org/drawingml/2006/main">
              <a:ext uri="{FF2B5EF4-FFF2-40B4-BE49-F238E27FC236}">
                <a16:creationId xmlns:a16="http://schemas.microsoft.com/office/drawing/2014/main" id="{BD1C0D1F-E353-4124-8603-951A6F9B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5029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ОБЈАШЊЕЊЕ · ИЛУСТРАТИВНИ МОДЕЛ</a:t>
            </a:r>
          </a:p>
        </p:txBody>
      </p:sp>
      <p:sp>
        <p:nvSpPr>
          <p:cNvPr id="7" name="heading-pristup-pregled">
            <a:extLst xmlns:a="http://schemas.openxmlformats.org/drawingml/2006/main">
              <a:ext uri="{FF2B5EF4-FFF2-40B4-BE49-F238E27FC236}">
                <a16:creationId xmlns:a16="http://schemas.microsoft.com/office/drawing/2014/main" id="{BA1A639A-ECC3-4F56-81B9-58A1E320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22828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Исход прегледа приступа</a:t>
            </a:r>
          </a:p>
        </p:txBody>
      </p:sp>
      <p:sp>
        <p:nvSpPr>
          <p:cNvPr id="8" name="text-pristup-pregled">
            <a:extLst xmlns:a="http://schemas.openxmlformats.org/drawingml/2006/main">
              <a:ext uri="{FF2B5EF4-FFF2-40B4-BE49-F238E27FC236}">
                <a16:creationId xmlns:a16="http://schemas.microsoft.com/office/drawing/2014/main" id="{80CCB3B9-C803-4F5F-8D7B-67139FB6F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9374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Периодични преглед проверава актуелну потребу и садашњи контекст.</a:t>
            </a:r>
          </a:p>
        </p:txBody>
      </p:sp>
      <p:sp>
        <p:nvSpPr>
          <p:cNvPr id="9" name="text-pristup-pregled">
            <a:extLst xmlns:a="http://schemas.openxmlformats.org/drawingml/2006/main">
              <a:ext uri="{FF2B5EF4-FFF2-40B4-BE49-F238E27FC236}">
                <a16:creationId xmlns:a16="http://schemas.microsoft.com/office/drawing/2014/main" id="{BBB18A61-DEDE-4C04-9EBF-A2256581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8192" y="4724400"/>
            <a:ext cx="246801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Додељено право</a:t>
            </a:r>
          </a:p>
        </p:txBody>
      </p:sp>
      <p:sp>
        <p:nvSpPr>
          <p:cNvPr id="10" name="text-pristup-pregled">
            <a:extLst xmlns:a="http://schemas.openxmlformats.org/drawingml/2006/main">
              <a:ext uri="{FF2B5EF4-FFF2-40B4-BE49-F238E27FC236}">
                <a16:creationId xmlns:a16="http://schemas.microsoft.com/office/drawing/2014/main" id="{648E990B-51E3-466E-8A86-CBF8A38A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6488" y="5097661"/>
            <a:ext cx="2111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власник и рок</a:t>
            </a:r>
          </a:p>
        </p:txBody>
      </p:sp>
      <p:sp>
        <p:nvSpPr>
          <p:cNvPr id="11" name="text-pristup-pregled">
            <a:extLst xmlns:a="http://schemas.openxmlformats.org/drawingml/2006/main">
              <a:ext uri="{FF2B5EF4-FFF2-40B4-BE49-F238E27FC236}">
                <a16:creationId xmlns:a16="http://schemas.microsoft.com/office/drawing/2014/main" id="{9961EF1A-8A44-4830-943B-44E2F93D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511" y="4676775"/>
            <a:ext cx="261238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Преглед приступа</a:t>
            </a:r>
          </a:p>
        </p:txBody>
      </p:sp>
      <p:sp>
        <p:nvSpPr>
          <p:cNvPr id="12" name="text-pristup-pregled">
            <a:extLst xmlns:a="http://schemas.openxmlformats.org/drawingml/2006/main">
              <a:ext uri="{FF2B5EF4-FFF2-40B4-BE49-F238E27FC236}">
                <a16:creationId xmlns:a16="http://schemas.microsoft.com/office/drawing/2014/main" id="{89D9DF78-ECCC-4220-BE61-F3D11362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047" y="5050036"/>
            <a:ext cx="297745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потреба још постоји?</a:t>
            </a:r>
          </a:p>
        </p:txBody>
      </p:sp>
      <p:sp>
        <p:nvSpPr>
          <p:cNvPr id="13" name="text-pristup-pregled">
            <a:extLst xmlns:a="http://schemas.openxmlformats.org/drawingml/2006/main">
              <a:ext uri="{FF2B5EF4-FFF2-40B4-BE49-F238E27FC236}">
                <a16:creationId xmlns:a16="http://schemas.microsoft.com/office/drawing/2014/main" id="{675B63B8-55E3-4DA3-9C2F-A6BA5970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9244" y="3629025"/>
            <a:ext cx="297656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Потврда или сужење</a:t>
            </a:r>
          </a:p>
        </p:txBody>
      </p:sp>
      <p:sp>
        <p:nvSpPr>
          <p:cNvPr id="14" name="text-pristup-pregled">
            <a:extLst xmlns:a="http://schemas.openxmlformats.org/drawingml/2006/main">
              <a:ext uri="{FF2B5EF4-FFF2-40B4-BE49-F238E27FC236}">
                <a16:creationId xmlns:a16="http://schemas.microsoft.com/office/drawing/2014/main" id="{D0CD1F01-6076-4C0C-8755-7366EA77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4599" y="4002286"/>
            <a:ext cx="348570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ново образложење и рок</a:t>
            </a:r>
          </a:p>
        </p:txBody>
      </p:sp>
      <p:sp>
        <p:nvSpPr>
          <p:cNvPr id="15" name="text-pristup-pregled">
            <a:extLst xmlns:a="http://schemas.openxmlformats.org/drawingml/2006/main">
              <a:ext uri="{FF2B5EF4-FFF2-40B4-BE49-F238E27FC236}">
                <a16:creationId xmlns:a16="http://schemas.microsoft.com/office/drawing/2014/main" id="{2321321A-FD30-4FFB-B3AF-B8884EB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9566" y="6153150"/>
            <a:ext cx="257576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A8520A"/>
                </a:solidFill>
                <a:latin typeface="IBM Plex Sans"/>
                <a:ea typeface="IBM Plex Sans"/>
                <a:cs typeface="IBM Plex Sans"/>
              </a:rPr>
              <a:t>Повлачење права</a:t>
            </a:r>
          </a:p>
        </p:txBody>
      </p:sp>
      <p:sp>
        <p:nvSpPr>
          <p:cNvPr id="16" name="text-pristup-pregled">
            <a:extLst xmlns:a="http://schemas.openxmlformats.org/drawingml/2006/main">
              <a:ext uri="{FF2B5EF4-FFF2-40B4-BE49-F238E27FC236}">
                <a16:creationId xmlns:a16="http://schemas.microsoft.com/office/drawing/2014/main" id="{DEBAC01F-40AB-4648-A3BE-712144544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0670" y="6526411"/>
            <a:ext cx="397356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A8520A"/>
                </a:solidFill>
                <a:latin typeface="IBM Plex Sans"/>
                <a:ea typeface="IBM Plex Sans"/>
                <a:cs typeface="IBM Plex Sans"/>
              </a:rPr>
              <a:t>укинути непотребан приступ</a:t>
            </a:r>
          </a:p>
        </p:txBody>
      </p:sp>
      <p:sp>
        <p:nvSpPr>
          <p:cNvPr id="17" name="text-pristup-pregled">
            <a:extLst xmlns:a="http://schemas.openxmlformats.org/drawingml/2006/main">
              <a:ext uri="{FF2B5EF4-FFF2-40B4-BE49-F238E27FC236}">
                <a16:creationId xmlns:a16="http://schemas.microsoft.com/office/drawing/2014/main" id="{D999B732-C55D-4869-957D-2E2F1073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84591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Тумачење</a:t>
            </a:r>
          </a:p>
        </p:txBody>
      </p:sp>
      <p:sp>
        <p:nvSpPr>
          <p:cNvPr id="18" name="text-pristup-pregled">
            <a:extLst xmlns:a="http://schemas.openxmlformats.org/drawingml/2006/main">
              <a:ext uri="{FF2B5EF4-FFF2-40B4-BE49-F238E27FC236}">
                <a16:creationId xmlns:a16="http://schemas.microsoft.com/office/drawing/2014/main" id="{48378E48-42A1-49DA-ADE3-61A0A9C31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080772"/>
            <a:ext cx="134207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Измена улоге, ресурса или ризика може захтевати ранији преглед. Запис бележи ко је одлуку потврдио и на основу чега.</a:t>
            </a:r>
          </a:p>
        </p:txBody>
      </p:sp>
      <p:sp>
        <p:nvSpPr>
          <p:cNvPr id="19" name="text-pristup-pregled">
            <a:extLst xmlns:a="http://schemas.openxmlformats.org/drawingml/2006/main">
              <a:ext uri="{FF2B5EF4-FFF2-40B4-BE49-F238E27FC236}">
                <a16:creationId xmlns:a16="http://schemas.microsoft.com/office/drawing/2014/main" id="{57866D86-BC1F-4CBA-8E19-66CC5BBB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0" name="text-pristup-pregled">
            <a:extLst xmlns:a="http://schemas.openxmlformats.org/drawingml/2006/main">
              <a:ext uri="{FF2B5EF4-FFF2-40B4-BE49-F238E27FC236}">
                <a16:creationId xmlns:a16="http://schemas.microsoft.com/office/drawing/2014/main" id="{EAC94CE4-2C44-4D52-84AA-59033BBC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99564029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147A13-B738-4004-AF43-9A62A28E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649D84-CA05-4353-98B4-22698D195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12591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B4A797-7F50-466A-B917-B99336C7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964037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C64212-442B-4BD0-B164-3CDC8014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815483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DFD789-76BE-4BA5-B997-ECE54028A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6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101DB637-1B55-4296-A535-F05DF38C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0612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04 · РАЗВОЈ</a:t>
            </a:r>
          </a:p>
        </p:txBody>
      </p:sp>
      <p:sp>
        <p:nvSpPr>
          <p:cNvPr id="7" name="heading-source-12">
            <a:extLst xmlns:a="http://schemas.openxmlformats.org/drawingml/2006/main">
              <a:ext uri="{FF2B5EF4-FFF2-40B4-BE49-F238E27FC236}">
                <a16:creationId xmlns:a16="http://schemas.microsoft.com/office/drawing/2014/main" id="{7E49C384-0F73-47B5-BFDD-FC3FA814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530051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Примена у развоју</a:t>
            </a:r>
          </a:p>
        </p:txBody>
      </p:sp>
      <p:sp>
        <p:nvSpPr>
          <p:cNvPr id="8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4FB9ECE4-B0E1-4584-A18D-C5C1E14D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157957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Тим примењује тему кроз серверске провере, тестове и ревизионе записе током развоја.</a:t>
            </a:r>
          </a:p>
        </p:txBody>
      </p:sp>
      <p:sp>
        <p:nvSpPr>
          <p:cNvPr id="9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B1053937-26E1-4E78-89BF-0249645E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2674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РАЗВОЈНИ КОНТЕКСТ</a:t>
            </a:r>
          </a:p>
        </p:txBody>
      </p:sp>
      <p:sp>
        <p:nvSpPr>
          <p:cNvPr id="10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B3D2A12F-16C8-409B-A58A-CABD3379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84972"/>
            <a:ext cx="467618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Sans"/>
                <a:ea typeface="IBM Plex Sans"/>
                <a:cs typeface="IBM Plex Sans"/>
              </a:defRPr>
            </a:pPr>
            <a:r>
              <a:rPr sz="27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Примена принципа у коду</a:t>
            </a:r>
          </a:p>
        </p:txBody>
      </p:sp>
      <p:sp>
        <p:nvSpPr>
          <p:cNvPr id="11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6469B398-FD44-4CE7-9AC0-86051FF0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96358"/>
            <a:ext cx="763399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Тим издваја одлуке које не могу поштено да стану у назив </a:t>
            </a:r>
          </a:p>
        </p:txBody>
      </p:sp>
      <p:sp>
        <p:nvSpPr>
          <p:cNvPr id="12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2162BC2E-28F9-469F-BDF0-BAEC3F2C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69619"/>
            <a:ext cx="7416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једне улоге. Затим их записује као правило које се може </a:t>
            </a:r>
          </a:p>
        </p:txBody>
      </p:sp>
      <p:sp>
        <p:nvSpPr>
          <p:cNvPr id="13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97BD4B66-A07B-498F-815E-EA4493C2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42880"/>
            <a:ext cx="706621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тестирати са неколико супротних контекста. Преглед </a:t>
            </a:r>
          </a:p>
        </p:txBody>
      </p:sp>
      <p:sp>
        <p:nvSpPr>
          <p:cNvPr id="14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BD7DD142-B8F9-4BAB-997A-8F2B040F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16141"/>
            <a:ext cx="669711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приступа проверава да ли је некадашња пословна </a:t>
            </a:r>
          </a:p>
        </p:txBody>
      </p:sp>
      <p:sp>
        <p:nvSpPr>
          <p:cNvPr id="15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35C80A18-D067-45E4-B62D-E81CF9B9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89402"/>
            <a:ext cx="345132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потреба и даље стварна.</a:t>
            </a:r>
          </a:p>
        </p:txBody>
      </p:sp>
      <p:sp>
        <p:nvSpPr>
          <p:cNvPr id="16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51B7B165-8652-4E2C-8925-F3089A25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45941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7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A07F963C-96D8-4D8A-A2ED-4893A1CA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303091"/>
            <a:ext cx="509022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Дефинисана одлука и њена граница.</a:t>
            </a:r>
          </a:p>
        </p:txBody>
      </p:sp>
      <p:sp>
        <p:nvSpPr>
          <p:cNvPr id="18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B0F57CF5-201B-46D5-9789-7830F857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097387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9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C563E961-BDA4-4EC6-9F81-42E6646E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154537"/>
            <a:ext cx="509260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Серверска имплементација провере.</a:t>
            </a:r>
          </a:p>
        </p:txBody>
      </p:sp>
      <p:sp>
        <p:nvSpPr>
          <p:cNvPr id="20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C4D0E0BD-785D-44A8-86A3-9BD93903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48833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1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5D323E83-1E9F-4414-8617-5096CC9E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005983"/>
            <a:ext cx="419814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Позитиван и негативан доказ.</a:t>
            </a:r>
          </a:p>
        </p:txBody>
      </p:sp>
      <p:sp>
        <p:nvSpPr>
          <p:cNvPr id="22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05B92C12-7194-49A2-9D44-A05D4BF90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3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04B1DC74-4A13-43CC-BC12-CB92B0B2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49961880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A664B5-3B06-40E4-A373-1EC6EC05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3B2624-D1F2-4EFB-9B8D-8E2BAA7A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028992-5C67-4EF9-A2CB-DA004D30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72558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08DEE-18F4-4D48-8CBF-B379E28E5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32524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229C9D-D058-4143-9BB0-B14CD9B67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6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28124A20-6267-400C-83C2-8CA409F4F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3736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04 · ПРОПУСТИ</a:t>
            </a:r>
          </a:p>
        </p:txBody>
      </p:sp>
      <p:sp>
        <p:nvSpPr>
          <p:cNvPr id="7" name="heading-source-17">
            <a:extLst xmlns:a="http://schemas.openxmlformats.org/drawingml/2006/main">
              <a:ext uri="{FF2B5EF4-FFF2-40B4-BE49-F238E27FC236}">
                <a16:creationId xmlns:a16="http://schemas.microsoft.com/office/drawing/2014/main" id="{97DE4C97-121F-4F7A-9A3B-898F19D3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9017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534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Честе грешке у имплементацији</a:t>
            </a:r>
          </a:p>
        </p:txBody>
      </p:sp>
      <p:sp>
        <p:nvSpPr>
          <p:cNvPr id="8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4EB7F899-0F96-4DEB-BEDD-187EBFD5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920219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Грешке настају када контекст, место одлуке или доказ остану нејасни.</a:t>
            </a:r>
          </a:p>
        </p:txBody>
      </p:sp>
      <p:sp>
        <p:nvSpPr>
          <p:cNvPr id="9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5CC81C42-F86A-4078-B0F3-AB65F715F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45941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0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164F9F6E-6408-4621-8329-65F7C64A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303091"/>
            <a:ext cx="645809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Увођење атрибута без јасног извора и значења.</a:t>
            </a:r>
          </a:p>
        </p:txBody>
      </p:sp>
      <p:sp>
        <p:nvSpPr>
          <p:cNvPr id="11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A1C90749-9D16-4A28-B54B-0A1D9959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43027"/>
            <a:ext cx="355461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Нема јасног власника одлуке.</a:t>
            </a:r>
          </a:p>
        </p:txBody>
      </p:sp>
      <p:sp>
        <p:nvSpPr>
          <p:cNvPr id="12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F954714A-0344-4D07-8179-A258A6B7F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05908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3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F38B984E-7CCE-418F-B96E-1767977C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463058"/>
            <a:ext cx="932140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Правило које зависи од скривеног стања и даје необјашњив резултат.</a:t>
            </a:r>
          </a:p>
        </p:txBody>
      </p:sp>
      <p:sp>
        <p:nvSpPr>
          <p:cNvPr id="14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6101CAA0-26EC-4207-8740-776E8D67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902994"/>
            <a:ext cx="378157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Не постоји негативан сценарио.</a:t>
            </a:r>
          </a:p>
        </p:txBody>
      </p:sp>
      <p:sp>
        <p:nvSpPr>
          <p:cNvPr id="15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EA1D9492-41BA-40B1-9A5B-FEA1B191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65874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16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9B97CA08-2FC1-476D-A972-99B7C450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623024"/>
            <a:ext cx="822215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Конфликт дужности откривен тек након што је штета могућа.</a:t>
            </a:r>
          </a:p>
        </p:txBody>
      </p:sp>
      <p:sp>
        <p:nvSpPr>
          <p:cNvPr id="17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7890FE58-2692-4BAE-A8B0-AED9F869C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062960"/>
            <a:ext cx="394617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Доказ не показује стварни исход.</a:t>
            </a:r>
          </a:p>
        </p:txBody>
      </p:sp>
      <p:sp>
        <p:nvSpPr>
          <p:cNvPr id="18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6D95A54D-3990-40A4-A3F0-B83AF6F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9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82958432-A4AA-42FE-BE26-0BDFA7CB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1752112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F6CC28-0E8B-4245-9301-07642417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5CC716-0192-4E25-B26E-57641221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3476625" cy="2083891"/>
          </a:xfrm>
          <a:prstGeom xmlns:a="http://schemas.openxmlformats.org/drawingml/2006/main" prst="roundRect">
            <a:avLst>
              <a:gd name="adj" fmla="val 731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485427-E16B-4CED-9B53-91AF92BA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112591"/>
            <a:ext cx="3476625" cy="2083891"/>
          </a:xfrm>
          <a:prstGeom xmlns:a="http://schemas.openxmlformats.org/drawingml/2006/main" prst="roundRect">
            <a:avLst>
              <a:gd name="adj" fmla="val 731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3E6165-BA30-4BAC-8E60-47793692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12591"/>
            <a:ext cx="3476625" cy="2083891"/>
          </a:xfrm>
          <a:prstGeom xmlns:a="http://schemas.openxmlformats.org/drawingml/2006/main" prst="roundRect">
            <a:avLst>
              <a:gd name="adj" fmla="val 731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AC389E-3181-46AA-94B5-5DB90258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75" y="3112591"/>
            <a:ext cx="3476625" cy="2083891"/>
          </a:xfrm>
          <a:prstGeom xmlns:a="http://schemas.openxmlformats.org/drawingml/2006/main" prst="roundRect">
            <a:avLst>
              <a:gd name="adj" fmla="val 731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57BADE-96D1-4AE0-A981-D36A5354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01283"/>
            <a:ext cx="15849600" cy="1523702"/>
          </a:xfrm>
          <a:prstGeom xmlns:a="http://schemas.openxmlformats.org/drawingml/2006/main" prst="roundRect">
            <a:avLst>
              <a:gd name="adj" fmla="val 7501"/>
            </a:avLst>
          </a:prstGeom>
          <a:solidFill xmlns:a="http://schemas.openxmlformats.org/drawingml/2006/main">
            <a:srgbClr val="E9EBE2"/>
          </a:solidFill>
          <a:ln xmlns:a="http://schemas.openxmlformats.org/drawingml/2006/main" w="0">
            <a:noFill/>
          </a:ln>
        </p:spPr>
      </p:sp>
      <p:sp>
        <p:nvSpPr>
          <p:cNvPr id="7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97EF83B6-F8A5-4467-A38F-75FC0F25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01283"/>
            <a:ext cx="114300" cy="1523702"/>
          </a:xfrm>
          <a:custGeom xmlns:a="http://schemas.openxmlformats.org/drawingml/2006/main">
            <a:pathLst>
              <a:path w="114300" h="1523702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409402"/>
                </a:lnTo>
                <a:lnTo>
                  <a:pt x="61" y="1413142"/>
                </a:lnTo>
                <a:lnTo>
                  <a:pt x="245" y="1416878"/>
                </a:lnTo>
                <a:lnTo>
                  <a:pt x="550" y="1420606"/>
                </a:lnTo>
                <a:lnTo>
                  <a:pt x="978" y="1424321"/>
                </a:lnTo>
                <a:lnTo>
                  <a:pt x="1527" y="1428021"/>
                </a:lnTo>
                <a:lnTo>
                  <a:pt x="2196" y="1431701"/>
                </a:lnTo>
                <a:lnTo>
                  <a:pt x="2986" y="1435357"/>
                </a:lnTo>
                <a:lnTo>
                  <a:pt x="3895" y="1438985"/>
                </a:lnTo>
                <a:lnTo>
                  <a:pt x="4922" y="1442582"/>
                </a:lnTo>
                <a:lnTo>
                  <a:pt x="6066" y="1446143"/>
                </a:lnTo>
                <a:lnTo>
                  <a:pt x="7326" y="1449665"/>
                </a:lnTo>
                <a:lnTo>
                  <a:pt x="8701" y="1453143"/>
                </a:lnTo>
                <a:lnTo>
                  <a:pt x="10188" y="1456575"/>
                </a:lnTo>
                <a:lnTo>
                  <a:pt x="11787" y="1459956"/>
                </a:lnTo>
                <a:lnTo>
                  <a:pt x="13496" y="1463283"/>
                </a:lnTo>
                <a:lnTo>
                  <a:pt x="15313" y="1466552"/>
                </a:lnTo>
                <a:lnTo>
                  <a:pt x="17236" y="1469760"/>
                </a:lnTo>
                <a:lnTo>
                  <a:pt x="19263" y="1472904"/>
                </a:lnTo>
                <a:lnTo>
                  <a:pt x="21392" y="1475980"/>
                </a:lnTo>
                <a:lnTo>
                  <a:pt x="23620" y="1478984"/>
                </a:lnTo>
                <a:lnTo>
                  <a:pt x="25945" y="1481913"/>
                </a:lnTo>
                <a:lnTo>
                  <a:pt x="28365" y="1484766"/>
                </a:lnTo>
                <a:lnTo>
                  <a:pt x="30877" y="1487537"/>
                </a:lnTo>
                <a:lnTo>
                  <a:pt x="33478" y="1490225"/>
                </a:lnTo>
                <a:lnTo>
                  <a:pt x="36165" y="1492826"/>
                </a:lnTo>
                <a:lnTo>
                  <a:pt x="38937" y="1495338"/>
                </a:lnTo>
                <a:lnTo>
                  <a:pt x="41789" y="1497757"/>
                </a:lnTo>
                <a:lnTo>
                  <a:pt x="44719" y="1500083"/>
                </a:lnTo>
                <a:lnTo>
                  <a:pt x="47723" y="1502311"/>
                </a:lnTo>
                <a:lnTo>
                  <a:pt x="50798" y="1504439"/>
                </a:lnTo>
                <a:lnTo>
                  <a:pt x="53942" y="1506466"/>
                </a:lnTo>
                <a:lnTo>
                  <a:pt x="57150" y="1508389"/>
                </a:lnTo>
                <a:lnTo>
                  <a:pt x="60419" y="1510206"/>
                </a:lnTo>
                <a:lnTo>
                  <a:pt x="63746" y="1511915"/>
                </a:lnTo>
                <a:lnTo>
                  <a:pt x="67128" y="1513514"/>
                </a:lnTo>
                <a:lnTo>
                  <a:pt x="70559" y="1515002"/>
                </a:lnTo>
                <a:lnTo>
                  <a:pt x="74038" y="1516376"/>
                </a:lnTo>
                <a:lnTo>
                  <a:pt x="77559" y="1517636"/>
                </a:lnTo>
                <a:lnTo>
                  <a:pt x="81120" y="1518781"/>
                </a:lnTo>
                <a:lnTo>
                  <a:pt x="84717" y="1519808"/>
                </a:lnTo>
                <a:lnTo>
                  <a:pt x="88345" y="1520716"/>
                </a:lnTo>
                <a:lnTo>
                  <a:pt x="92001" y="1521506"/>
                </a:lnTo>
                <a:lnTo>
                  <a:pt x="95681" y="1522176"/>
                </a:lnTo>
                <a:lnTo>
                  <a:pt x="99381" y="1522724"/>
                </a:lnTo>
                <a:lnTo>
                  <a:pt x="103097" y="1523152"/>
                </a:lnTo>
                <a:lnTo>
                  <a:pt x="106824" y="1523458"/>
                </a:lnTo>
                <a:lnTo>
                  <a:pt x="110560" y="1523641"/>
                </a:lnTo>
                <a:lnTo>
                  <a:pt x="114300" y="1523702"/>
                </a:lnTo>
                <a:lnTo>
                  <a:pt x="114300" y="1523702"/>
                </a:lnTo>
                <a:lnTo>
                  <a:pt x="112430" y="1523641"/>
                </a:lnTo>
                <a:lnTo>
                  <a:pt x="110562" y="1523458"/>
                </a:lnTo>
                <a:lnTo>
                  <a:pt x="108698" y="1523152"/>
                </a:lnTo>
                <a:lnTo>
                  <a:pt x="106840" y="1522724"/>
                </a:lnTo>
                <a:lnTo>
                  <a:pt x="104991" y="1522176"/>
                </a:lnTo>
                <a:lnTo>
                  <a:pt x="103151" y="1521506"/>
                </a:lnTo>
                <a:lnTo>
                  <a:pt x="101323" y="1520716"/>
                </a:lnTo>
                <a:lnTo>
                  <a:pt x="99508" y="1519808"/>
                </a:lnTo>
                <a:lnTo>
                  <a:pt x="97710" y="1518781"/>
                </a:lnTo>
                <a:lnTo>
                  <a:pt x="95930" y="1517636"/>
                </a:lnTo>
                <a:lnTo>
                  <a:pt x="94169" y="1516376"/>
                </a:lnTo>
                <a:lnTo>
                  <a:pt x="92430" y="1515002"/>
                </a:lnTo>
                <a:lnTo>
                  <a:pt x="90714" y="1513514"/>
                </a:lnTo>
                <a:lnTo>
                  <a:pt x="89023" y="1511915"/>
                </a:lnTo>
                <a:lnTo>
                  <a:pt x="87360" y="1510206"/>
                </a:lnTo>
                <a:lnTo>
                  <a:pt x="85725" y="1508389"/>
                </a:lnTo>
                <a:lnTo>
                  <a:pt x="84121" y="1506466"/>
                </a:lnTo>
                <a:lnTo>
                  <a:pt x="82549" y="1504439"/>
                </a:lnTo>
                <a:lnTo>
                  <a:pt x="81011" y="1502311"/>
                </a:lnTo>
                <a:lnTo>
                  <a:pt x="79509" y="1500083"/>
                </a:lnTo>
                <a:lnTo>
                  <a:pt x="78044" y="1497757"/>
                </a:lnTo>
                <a:lnTo>
                  <a:pt x="76618" y="1495338"/>
                </a:lnTo>
                <a:lnTo>
                  <a:pt x="75233" y="1492826"/>
                </a:lnTo>
                <a:lnTo>
                  <a:pt x="73889" y="1490225"/>
                </a:lnTo>
                <a:lnTo>
                  <a:pt x="72588" y="1487537"/>
                </a:lnTo>
                <a:lnTo>
                  <a:pt x="71332" y="1484766"/>
                </a:lnTo>
                <a:lnTo>
                  <a:pt x="70122" y="1481913"/>
                </a:lnTo>
                <a:lnTo>
                  <a:pt x="68960" y="1478984"/>
                </a:lnTo>
                <a:lnTo>
                  <a:pt x="67846" y="1475980"/>
                </a:lnTo>
                <a:lnTo>
                  <a:pt x="66782" y="1472904"/>
                </a:lnTo>
                <a:lnTo>
                  <a:pt x="65768" y="1469760"/>
                </a:lnTo>
                <a:lnTo>
                  <a:pt x="64807" y="1466552"/>
                </a:lnTo>
                <a:lnTo>
                  <a:pt x="63898" y="1463283"/>
                </a:lnTo>
                <a:lnTo>
                  <a:pt x="63044" y="1459956"/>
                </a:lnTo>
                <a:lnTo>
                  <a:pt x="62244" y="1456575"/>
                </a:lnTo>
                <a:lnTo>
                  <a:pt x="61500" y="1453143"/>
                </a:lnTo>
                <a:lnTo>
                  <a:pt x="60813" y="1449665"/>
                </a:lnTo>
                <a:lnTo>
                  <a:pt x="60183" y="1446143"/>
                </a:lnTo>
                <a:lnTo>
                  <a:pt x="59611" y="1442582"/>
                </a:lnTo>
                <a:lnTo>
                  <a:pt x="59097" y="1438985"/>
                </a:lnTo>
                <a:lnTo>
                  <a:pt x="58643" y="1435357"/>
                </a:lnTo>
                <a:lnTo>
                  <a:pt x="58248" y="1431701"/>
                </a:lnTo>
                <a:lnTo>
                  <a:pt x="57913" y="1428021"/>
                </a:lnTo>
                <a:lnTo>
                  <a:pt x="57639" y="1424321"/>
                </a:lnTo>
                <a:lnTo>
                  <a:pt x="57425" y="1420606"/>
                </a:lnTo>
                <a:lnTo>
                  <a:pt x="57272" y="1416878"/>
                </a:lnTo>
                <a:lnTo>
                  <a:pt x="57181" y="1413142"/>
                </a:lnTo>
                <a:lnTo>
                  <a:pt x="57150" y="1409402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8C0282-EB8B-4478-AB28-E04A741C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34b8832ed14685"/>
          <a:stretch xmlns:a="http://schemas.openxmlformats.org/drawingml/2006/main"/>
        </p:blipFill>
        <p:spPr>
          <a:xfrm xmlns:a="http://schemas.openxmlformats.org/drawingml/2006/main">
            <a:off x="4886325" y="405928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77d6198a64988"/>
          <a:stretch xmlns:a="http://schemas.openxmlformats.org/drawingml/2006/main"/>
        </p:blipFill>
        <p:spPr>
          <a:xfrm xmlns:a="http://schemas.openxmlformats.org/drawingml/2006/main">
            <a:off x="9010650" y="405928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499bf767c54359"/>
          <a:stretch xmlns:a="http://schemas.openxmlformats.org/drawingml/2006/main"/>
        </p:blipFill>
        <p:spPr>
          <a:xfrm xmlns:a="http://schemas.openxmlformats.org/drawingml/2006/main">
            <a:off x="13134975" y="4059287"/>
            <a:ext cx="2667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F4D4E7C2-C191-4E48-9852-E136EF20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7796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04 · ПРОЈЕКТНА ПРИМЕНА</a:t>
            </a:r>
          </a:p>
        </p:txBody>
      </p:sp>
      <p:sp>
        <p:nvSpPr>
          <p:cNvPr id="13" name="heading-source-19">
            <a:extLst xmlns:a="http://schemas.openxmlformats.org/drawingml/2006/main">
              <a:ext uri="{FF2B5EF4-FFF2-40B4-BE49-F238E27FC236}">
                <a16:creationId xmlns:a16="http://schemas.microsoft.com/office/drawing/2014/main" id="{A3B03ECD-1167-4905-9754-116247EE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5971877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Примена на пројекат</a:t>
            </a:r>
          </a:p>
        </p:txBody>
      </p:sp>
      <p:sp>
        <p:nvSpPr>
          <p:cNvPr id="14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85E04CC2-478B-455C-976F-378E5953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089421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Анализа једног сценарија обухвата одлуку, имплементацију, тест одбијања и доказ.</a:t>
            </a:r>
          </a:p>
        </p:txBody>
      </p:sp>
      <p:sp>
        <p:nvSpPr>
          <p:cNvPr id="15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2B204F30-E74E-4F82-B1BA-3AC6EFBA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6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F9DD30F3-CEDB-4BE7-88E2-47285EC6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250299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Избор сценарија</a:t>
            </a:r>
          </a:p>
        </p:txBody>
      </p:sp>
      <p:sp>
        <p:nvSpPr>
          <p:cNvPr id="17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2E30AFAA-9D2C-4BB5-AF23-F0AF9590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259645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једна стварна радња</a:t>
            </a:r>
          </a:p>
        </p:txBody>
      </p:sp>
      <p:sp>
        <p:nvSpPr>
          <p:cNvPr id="18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A0D0B1EA-DB99-4165-8F13-8F1BDC89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9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C0A69D6F-34D7-482F-AF7C-1464CCCD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08847"/>
            <a:ext cx="320888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Дефинисање правила</a:t>
            </a:r>
          </a:p>
        </p:txBody>
      </p:sp>
      <p:sp>
        <p:nvSpPr>
          <p:cNvPr id="20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E25F6CBA-41FB-453B-AB39-8F133E98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600277"/>
            <a:ext cx="207808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улази и граница</a:t>
            </a:r>
          </a:p>
        </p:txBody>
      </p:sp>
      <p:sp>
        <p:nvSpPr>
          <p:cNvPr id="21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52565CD2-CDAE-4CDB-AF68-31B88A30E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2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CA351E28-8518-410E-8802-C04B9F240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108847"/>
            <a:ext cx="218985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Тест одбијања</a:t>
            </a:r>
          </a:p>
        </p:txBody>
      </p:sp>
      <p:sp>
        <p:nvSpPr>
          <p:cNvPr id="23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562E8BBE-5B96-4E2F-A8DD-A430110C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600277"/>
            <a:ext cx="31776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једна чињеница недостаје</a:t>
            </a:r>
          </a:p>
        </p:txBody>
      </p:sp>
      <p:sp>
        <p:nvSpPr>
          <p:cNvPr id="24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62CE0CDF-B440-4D65-8483-58199151D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5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52620F90-CA1F-4F26-A19E-7297C327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108847"/>
            <a:ext cx="255091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Ревизиони запис</a:t>
            </a:r>
          </a:p>
        </p:txBody>
      </p:sp>
      <p:sp>
        <p:nvSpPr>
          <p:cNvPr id="26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5E0A4C4E-90A8-44D0-9537-03EC6BCF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600277"/>
            <a:ext cx="193476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исход и разлог</a:t>
            </a:r>
          </a:p>
        </p:txBody>
      </p:sp>
      <p:sp>
        <p:nvSpPr>
          <p:cNvPr id="27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CB219A2B-F984-4C4A-9AB2-54A69F53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691783"/>
            <a:ext cx="29490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ПРИМЕНА НА ПРОЈЕКАТ</a:t>
            </a:r>
          </a:p>
        </p:txBody>
      </p:sp>
      <p:sp>
        <p:nvSpPr>
          <p:cNvPr id="28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47AE1A94-6378-483C-A9C5-686556D2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97488"/>
            <a:ext cx="1478741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Пројектна примена теме „Атрибути, ризик и периодични преглед приступа“ обухвата једну серверску одлуку, тест </a:t>
            </a:r>
          </a:p>
        </p:txBody>
      </p:sp>
      <p:sp>
        <p:nvSpPr>
          <p:cNvPr id="29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BDC7A9B7-079A-4C2F-86BB-337FBC8D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70749"/>
            <a:ext cx="738738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одбијања и доказ који други члан тима може да понови.</a:t>
            </a:r>
          </a:p>
        </p:txBody>
      </p:sp>
      <p:sp>
        <p:nvSpPr>
          <p:cNvPr id="30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AAB74A6C-92BA-4F29-9B86-C6BC689E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1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0B219DE6-11FF-4219-9799-31C6470F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05641651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EC81CF-AE22-4A17-8572-779F2415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C3E27A-3198-4969-A178-FC82F518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9E7E0-614A-4FAD-86CF-E40C44A31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1121FE-534B-4834-8835-06D2C7151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8B9331-CA1C-48F9-8801-5FEA0B18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75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ADA23F-C94B-47F7-8EC1-4D2DB54FA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9EBE2"/>
          </a:solidFill>
          <a:ln xmlns:a="http://schemas.openxmlformats.org/drawingml/2006/main" w="0">
            <a:noFill/>
          </a:ln>
        </p:spPr>
      </p:sp>
      <p:sp>
        <p:nvSpPr>
          <p:cNvPr id="7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AA824BE8-A427-442B-A137-0AF8B862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5D6E1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4FCF69-5D26-4B27-A7ED-2D7EEAF3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06c3a69dc44984"/>
          <a:stretch xmlns:a="http://schemas.openxmlformats.org/drawingml/2006/main"/>
        </p:blipFill>
        <p:spPr>
          <a:xfrm xmlns:a="http://schemas.openxmlformats.org/drawingml/2006/main">
            <a:off x="4886325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5881fc59684b00"/>
          <a:stretch xmlns:a="http://schemas.openxmlformats.org/drawingml/2006/main"/>
        </p:blipFill>
        <p:spPr>
          <a:xfrm xmlns:a="http://schemas.openxmlformats.org/drawingml/2006/main">
            <a:off x="9010650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b64c58c67f4570"/>
          <a:stretch xmlns:a="http://schemas.openxmlformats.org/drawingml/2006/main"/>
        </p:blipFill>
        <p:spPr>
          <a:xfrm xmlns:a="http://schemas.openxmlformats.org/drawingml/2006/main">
            <a:off x="13134975" y="4219277"/>
            <a:ext cx="2667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9FD21EB8-49B0-4F38-8388-6F96B214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99858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04 · МОДЕЛ ОДЛУКЕ</a:t>
            </a:r>
          </a:p>
        </p:txBody>
      </p:sp>
      <p:sp>
        <p:nvSpPr>
          <p:cNvPr id="13" name="heading-source-09">
            <a:extLst xmlns:a="http://schemas.openxmlformats.org/drawingml/2006/main">
              <a:ext uri="{FF2B5EF4-FFF2-40B4-BE49-F238E27FC236}">
                <a16:creationId xmlns:a16="http://schemas.microsoft.com/office/drawing/2014/main" id="{3397220F-9930-40F9-A1E8-30B65666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8258026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721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Модел контекстуалне одлуке</a:t>
            </a:r>
          </a:p>
        </p:txBody>
      </p:sp>
      <p:sp>
        <p:nvSpPr>
          <p:cNvPr id="14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179D3EBA-4AE7-4F86-920A-D1434ABA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267033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Контекст даје прецизност одлуци, а редован преглед проверава да ли одлука и даље има смисла.</a:t>
            </a:r>
          </a:p>
        </p:txBody>
      </p:sp>
      <p:sp>
        <p:nvSpPr>
          <p:cNvPr id="15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DCD79C1B-08F3-43D8-A32F-40E39056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6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69423BFD-B44B-45A7-B8C6-908E4571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284172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Поуздани атрибути</a:t>
            </a:r>
          </a:p>
        </p:txBody>
      </p:sp>
      <p:sp>
        <p:nvSpPr>
          <p:cNvPr id="17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A2BDC21F-70AC-475A-BB1E-CD866DCC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279945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ко, где, када и над чим</a:t>
            </a:r>
          </a:p>
        </p:txBody>
      </p:sp>
      <p:sp>
        <p:nvSpPr>
          <p:cNvPr id="18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6649BEE5-083F-44C4-B36E-A6EA7A56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9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A689FCDF-FC13-4041-8A29-3920D35C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08847"/>
            <a:ext cx="159141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Политика</a:t>
            </a:r>
          </a:p>
        </p:txBody>
      </p:sp>
      <p:sp>
        <p:nvSpPr>
          <p:cNvPr id="20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92292669-ACF2-4D78-A675-014B7E05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600277"/>
            <a:ext cx="229269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правило приступа</a:t>
            </a:r>
          </a:p>
        </p:txBody>
      </p:sp>
      <p:sp>
        <p:nvSpPr>
          <p:cNvPr id="21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0851D27B-29A9-42C4-AE57-9F4EC7C8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2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F33E3A62-169C-4A3B-BE1C-93230FA5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108847"/>
            <a:ext cx="113020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Ризик</a:t>
            </a:r>
          </a:p>
        </p:txBody>
      </p:sp>
      <p:sp>
        <p:nvSpPr>
          <p:cNvPr id="23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C5978615-1DB2-4D4A-A157-D4110134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600277"/>
            <a:ext cx="237321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утицај и преостала </a:t>
            </a:r>
          </a:p>
        </p:txBody>
      </p:sp>
      <p:sp>
        <p:nvSpPr>
          <p:cNvPr id="24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783F2254-657E-4F37-9EA6-6666D7BCA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920258"/>
            <a:ext cx="16283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изложеност</a:t>
            </a:r>
          </a:p>
        </p:txBody>
      </p:sp>
      <p:sp>
        <p:nvSpPr>
          <p:cNvPr id="25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E4DB905A-2CF8-42A9-B670-0F5ABAEA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6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8E18063D-09A5-4BA2-B6CA-CF80D610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108847"/>
            <a:ext cx="142770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Преглед</a:t>
            </a:r>
          </a:p>
        </p:txBody>
      </p:sp>
      <p:sp>
        <p:nvSpPr>
          <p:cNvPr id="27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D57BB43A-AC55-4A27-9C01-1203E7D6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600277"/>
            <a:ext cx="292938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потврда или повлачење </a:t>
            </a:r>
          </a:p>
        </p:txBody>
      </p:sp>
      <p:sp>
        <p:nvSpPr>
          <p:cNvPr id="28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45D4A8AA-D5E8-4803-9195-55077613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920258"/>
            <a:ext cx="97705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права</a:t>
            </a:r>
          </a:p>
        </p:txBody>
      </p:sp>
      <p:sp>
        <p:nvSpPr>
          <p:cNvPr id="29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BB1957AE-B1D5-4D36-BF4A-555A2B98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11763"/>
            <a:ext cx="25375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D6E12"/>
                </a:solidFill>
                <a:latin typeface="IBM Plex Mono"/>
                <a:ea typeface="IBM Plex Mono"/>
                <a:cs typeface="IBM Plex Mono"/>
              </a:rPr>
              <a:t>ЕЛЕМЕНТИ АНАЛИЗЕ</a:t>
            </a:r>
          </a:p>
        </p:txBody>
      </p:sp>
      <p:sp>
        <p:nvSpPr>
          <p:cNvPr id="30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F800EDA0-E681-4AA4-BADA-D53F069D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17469"/>
            <a:ext cx="1161722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Анализа сваког корака обухвата покретача, место одлуке и траг који остаје после исхода.</a:t>
            </a:r>
          </a:p>
        </p:txBody>
      </p:sp>
      <p:sp>
        <p:nvSpPr>
          <p:cNvPr id="31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E4CECEBD-AFF0-45A4-A959-5D8D5686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2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1BDF25A2-5BC4-49EC-90D1-F9FBF4D8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13232543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5D6E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60536C-28A3-4A07-917D-2663FB79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DC6025-0E34-4C3B-80B8-AAE1096C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762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8E4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2A76AE-08E2-4562-B873-BFD40C2F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112591"/>
            <a:ext cx="762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8E4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1043A3-D87D-4161-A111-3C0200A7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84948"/>
            <a:ext cx="762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8E4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B007E9-5E94-47D9-B910-1FD71B08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584948"/>
            <a:ext cx="7620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8E4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E46ED7-6771-40B8-8AA8-FFAE91A2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18E46"/>
          </a:solidFill>
          <a:ln xmlns:a="http://schemas.openxmlformats.org/drawingml/2006/main" w="0">
            <a:noFill/>
          </a:ln>
        </p:spPr>
      </p:sp>
      <p:sp>
        <p:nvSpPr>
          <p:cNvPr id="7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8ABBFD08-3EE3-4C9D-BC2E-AC9CAF1E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8423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E8EBDE"/>
                </a:solidFill>
                <a:latin typeface="IBM Plex Mono"/>
                <a:ea typeface="IBM Plex Mono"/>
                <a:cs typeface="IBM Plex Mono"/>
              </a:rPr>
              <a:t>РЕЗИМЕ И ПРОВЕРА</a:t>
            </a:r>
          </a:p>
        </p:txBody>
      </p:sp>
      <p:sp>
        <p:nvSpPr>
          <p:cNvPr id="8" name="heading-source-20">
            <a:extLst xmlns:a="http://schemas.openxmlformats.org/drawingml/2006/main">
              <a:ext uri="{FF2B5EF4-FFF2-40B4-BE49-F238E27FC236}">
                <a16:creationId xmlns:a16="http://schemas.microsoft.com/office/drawing/2014/main" id="{D80D74F8-401A-45AC-A7AB-3355BF34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61214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FCFCFB"/>
                </a:solidFill>
                <a:latin typeface="IBM Plex Sans"/>
                <a:ea typeface="IBM Plex Sans"/>
                <a:cs typeface="IBM Plex Sans"/>
              </a:rPr>
              <a:t>Провера разумевања</a:t>
            </a:r>
          </a:p>
        </p:txBody>
      </p:sp>
      <p:sp>
        <p:nvSpPr>
          <p:cNvPr id="9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CBB0194D-C163-4C70-B606-E497CE4F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387613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E8EBDE"/>
                </a:solidFill>
                <a:latin typeface="IBM Plex Sans"/>
                <a:ea typeface="IBM Plex Sans"/>
                <a:cs typeface="IBM Plex Sans"/>
              </a:rPr>
              <a:t>Разумевање теме подразумева објашњење одлуке и доказа независно од конкретног технолошког оквира.</a:t>
            </a:r>
          </a:p>
        </p:txBody>
      </p:sp>
      <p:sp>
        <p:nvSpPr>
          <p:cNvPr id="10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9881A7ED-498F-4805-9738-E8BCDF34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41191"/>
            <a:ext cx="18890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Sans"/>
                <a:ea typeface="IBM Plex Sans"/>
                <a:cs typeface="IBM Plex Sans"/>
              </a:defRPr>
            </a:pPr>
            <a:r>
              <a:rPr sz="2700" b="1">
                <a:solidFill>
                  <a:srgbClr val="FCFCFB"/>
                </a:solidFill>
                <a:latin typeface="IBM Plex Sans"/>
                <a:ea typeface="IBM Plex Sans"/>
                <a:cs typeface="IBM Plex Sans"/>
              </a:rPr>
              <a:t>Атрибути</a:t>
            </a:r>
          </a:p>
        </p:txBody>
      </p:sp>
      <p:sp>
        <p:nvSpPr>
          <p:cNvPr id="11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E58CD0E3-9FAD-44DB-BE1D-6270BC7F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16412"/>
            <a:ext cx="240908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E8EBDE"/>
                </a:solidFill>
                <a:latin typeface="IBM Plex Sans"/>
                <a:ea typeface="IBM Plex Sans"/>
                <a:cs typeface="IBM Plex Sans"/>
              </a:rPr>
              <a:t>контекст одлуке</a:t>
            </a:r>
          </a:p>
        </p:txBody>
      </p:sp>
      <p:sp>
        <p:nvSpPr>
          <p:cNvPr id="12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728BDDA2-9B84-44E4-9860-0CF42E94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341191"/>
            <a:ext cx="194816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Sans"/>
                <a:ea typeface="IBM Plex Sans"/>
                <a:cs typeface="IBM Plex Sans"/>
              </a:defRPr>
            </a:pPr>
            <a:r>
              <a:rPr sz="2700" b="1">
                <a:solidFill>
                  <a:srgbClr val="FCFCFB"/>
                </a:solidFill>
                <a:latin typeface="IBM Plex Sans"/>
                <a:ea typeface="IBM Plex Sans"/>
                <a:cs typeface="IBM Plex Sans"/>
              </a:rPr>
              <a:t>Политика</a:t>
            </a:r>
          </a:p>
        </p:txBody>
      </p:sp>
      <p:sp>
        <p:nvSpPr>
          <p:cNvPr id="13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B1905EFA-27AB-4B81-BF7C-9408CE4AD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916412"/>
            <a:ext cx="327109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E8EBDE"/>
                </a:solidFill>
                <a:latin typeface="IBM Plex Sans"/>
                <a:ea typeface="IBM Plex Sans"/>
                <a:cs typeface="IBM Plex Sans"/>
              </a:rPr>
              <a:t>правило које их тумачи</a:t>
            </a:r>
          </a:p>
        </p:txBody>
      </p:sp>
      <p:sp>
        <p:nvSpPr>
          <p:cNvPr id="14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AFA7D13E-0F72-4A46-92B2-E1835C13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13548"/>
            <a:ext cx="1355229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Sans"/>
                <a:ea typeface="IBM Plex Sans"/>
                <a:cs typeface="IBM Plex Sans"/>
              </a:defRPr>
            </a:pPr>
            <a:r>
              <a:rPr sz="2700" b="1">
                <a:solidFill>
                  <a:srgbClr val="FCFCFB"/>
                </a:solidFill>
                <a:latin typeface="IBM Plex Sans"/>
                <a:ea typeface="IBM Plex Sans"/>
                <a:cs typeface="IBM Plex Sans"/>
              </a:rPr>
              <a:t>Ризик</a:t>
            </a:r>
          </a:p>
        </p:txBody>
      </p:sp>
      <p:sp>
        <p:nvSpPr>
          <p:cNvPr id="15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C6B4EAA8-F3E4-4C41-B45A-EF6BB3B7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88769"/>
            <a:ext cx="302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E8EBDE"/>
                </a:solidFill>
                <a:latin typeface="IBM Plex Sans"/>
                <a:ea typeface="IBM Plex Sans"/>
                <a:cs typeface="IBM Plex Sans"/>
              </a:rPr>
              <a:t>утицај и вероватноћа</a:t>
            </a:r>
          </a:p>
        </p:txBody>
      </p:sp>
      <p:sp>
        <p:nvSpPr>
          <p:cNvPr id="16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3C8B4FE2-452A-42A3-92E8-3BE6AB15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813548"/>
            <a:ext cx="1737568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Sans"/>
                <a:ea typeface="IBM Plex Sans"/>
                <a:cs typeface="IBM Plex Sans"/>
              </a:defRPr>
            </a:pPr>
            <a:r>
              <a:rPr sz="2700" b="1">
                <a:solidFill>
                  <a:srgbClr val="FCFCFB"/>
                </a:solidFill>
                <a:latin typeface="IBM Plex Sans"/>
                <a:ea typeface="IBM Plex Sans"/>
                <a:cs typeface="IBM Plex Sans"/>
              </a:rPr>
              <a:t>Преглед</a:t>
            </a:r>
          </a:p>
        </p:txBody>
      </p:sp>
      <p:sp>
        <p:nvSpPr>
          <p:cNvPr id="17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E732E19A-DDA2-4A79-8914-19553F594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388769"/>
            <a:ext cx="388634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E8EBDE"/>
                </a:solidFill>
                <a:latin typeface="IBM Plex Sans"/>
                <a:ea typeface="IBM Plex Sans"/>
                <a:cs typeface="IBM Plex Sans"/>
              </a:rPr>
              <a:t>потврда да одлука још важи</a:t>
            </a:r>
          </a:p>
        </p:txBody>
      </p:sp>
      <p:sp>
        <p:nvSpPr>
          <p:cNvPr id="18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F2C52505-477C-4514-B9F0-3A030EB4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066830"/>
            <a:ext cx="15974467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Sans"/>
                <a:ea typeface="IBM Plex Sans"/>
                <a:cs typeface="IBM Plex Sans"/>
              </a:defRPr>
            </a:pPr>
            <a:r>
              <a:rPr sz="2700" b="0">
                <a:solidFill>
                  <a:srgbClr val="FCFCFB"/>
                </a:solidFill>
                <a:latin typeface="IBM Plex Sans"/>
                <a:ea typeface="IBM Plex Sans"/>
                <a:cs typeface="IBM Plex Sans"/>
              </a:rPr>
              <a:t>Коју одлуку не бисте смели да заснивате само на улози и који додатни атрибут јој даје смисао?</a:t>
            </a:r>
          </a:p>
        </p:txBody>
      </p:sp>
      <p:sp>
        <p:nvSpPr>
          <p:cNvPr id="19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3F99EC16-2E96-4475-A25A-661FD37E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42075"/>
            <a:ext cx="102267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E8EBDE"/>
                </a:solidFill>
                <a:latin typeface="IBM Plex Sans"/>
                <a:ea typeface="IBM Plex Sans"/>
                <a:cs typeface="IBM Plex Sans"/>
              </a:rPr>
              <a:t>Пројектна примена: применити исти модел на једну реалну границу у сопственом пројекту.</a:t>
            </a:r>
          </a:p>
        </p:txBody>
      </p:sp>
      <p:sp>
        <p:nvSpPr>
          <p:cNvPr id="20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6F2C363E-8FEF-47A3-ABDB-A6E87D8F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E8EBDE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1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AB881009-A5DA-434F-8151-AC67ED85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E8EBDE"/>
                </a:solidFill>
                <a:latin typeface="IBM Plex Mono"/>
                <a:ea typeface="IBM Plex Mono"/>
                <a:cs typeface="IBM Plex Mono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3758323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2026-10-09T17:44:11.2810000Z</dcterms:created>
  <dcterms:modified xsi:type="dcterms:W3CDTF">2026-10-09T17:44:11.2810000Z</dcterms:modified>
</coreProperties>
</file>