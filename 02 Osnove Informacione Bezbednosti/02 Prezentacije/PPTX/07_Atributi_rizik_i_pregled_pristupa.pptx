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1037e0414c143db" /><Relationship Type="http://schemas.openxmlformats.org/officeDocument/2006/relationships/extended-properties" Target="/docProps/app.xml" Id="R40a3c07ae6204297" /><Relationship Type="http://schemas.openxmlformats.org/officeDocument/2006/relationships/officeDocument" Target="/ppt/presentation.xml" Id="R437b94d6158f43bc" /></Relationships>
</file>

<file path=ppt/presentation.xml><?xml version="1.0" encoding="utf-8"?>
<p:presentation xmlns:p="http://schemas.openxmlformats.org/presentationml/2006/main">
  <p:sldMasterIdLst>
    <p:sldMasterId xmlns:r="http://schemas.openxmlformats.org/officeDocument/2006/relationships" id="2147483648" r:id="R640be117a4dd4761"/>
  </p:sldMasterIdLst>
  <p:notesMasterIdLst>
    <p:notesMasterId xmlns:r="http://schemas.openxmlformats.org/officeDocument/2006/relationships" r:id="R141521366c264427"/>
  </p:notesMasterIdLst>
  <p:sldIdLst>
    <p:sldId xmlns:r="http://schemas.openxmlformats.org/officeDocument/2006/relationships" id="256" r:id="Rc215ad3f180541a1"/>
    <p:sldId xmlns:r="http://schemas.openxmlformats.org/officeDocument/2006/relationships" id="257" r:id="Rd30acd94b6754ffc"/>
    <p:sldId xmlns:r="http://schemas.openxmlformats.org/officeDocument/2006/relationships" id="258" r:id="Rb877499a7c3740e7"/>
    <p:sldId xmlns:r="http://schemas.openxmlformats.org/officeDocument/2006/relationships" id="259" r:id="R301966f831f243da"/>
    <p:sldId xmlns:r="http://schemas.openxmlformats.org/officeDocument/2006/relationships" id="260" r:id="Re4580adccc774114"/>
    <p:sldId xmlns:r="http://schemas.openxmlformats.org/officeDocument/2006/relationships" id="261" r:id="Re5d19f3b6f8d4f2f"/>
    <p:sldId xmlns:r="http://schemas.openxmlformats.org/officeDocument/2006/relationships" id="262" r:id="R94726723af864939"/>
    <p:sldId xmlns:r="http://schemas.openxmlformats.org/officeDocument/2006/relationships" id="263" r:id="R1864579133cc4985"/>
    <p:sldId xmlns:r="http://schemas.openxmlformats.org/officeDocument/2006/relationships" id="264" r:id="Rf60993ba87c34fb6"/>
    <p:sldId xmlns:r="http://schemas.openxmlformats.org/officeDocument/2006/relationships" id="265" r:id="R3fb71d2b1cf641c9"/>
    <p:sldId xmlns:r="http://schemas.openxmlformats.org/officeDocument/2006/relationships" id="266" r:id="R00d1d4da0d3e42fc"/>
    <p:sldId xmlns:r="http://schemas.openxmlformats.org/officeDocument/2006/relationships" id="267" r:id="R15b2e93d39eb4f83"/>
    <p:sldId xmlns:r="http://schemas.openxmlformats.org/officeDocument/2006/relationships" id="268" r:id="Rd2419f53ab4649b4"/>
    <p:sldId xmlns:r="http://schemas.openxmlformats.org/officeDocument/2006/relationships" id="269" r:id="R396c18ebc93c4641"/>
    <p:sldId xmlns:r="http://schemas.openxmlformats.org/officeDocument/2006/relationships" id="270" r:id="R063140b5bcfc471d"/>
    <p:sldId xmlns:r="http://schemas.openxmlformats.org/officeDocument/2006/relationships" id="271" r:id="R533b5ea342c24711"/>
    <p:sldId xmlns:r="http://schemas.openxmlformats.org/officeDocument/2006/relationships" id="272" r:id="Rf24cd73ae8dc4d23"/>
    <p:sldId xmlns:r="http://schemas.openxmlformats.org/officeDocument/2006/relationships" id="273" r:id="R3a78261e11a64f9f"/>
    <p:sldId xmlns:r="http://schemas.openxmlformats.org/officeDocument/2006/relationships" id="274" r:id="R83319b515f7d4dd8"/>
    <p:sldId xmlns:r="http://schemas.openxmlformats.org/officeDocument/2006/relationships" id="275" r:id="R269606aa7c294aa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154cc12099c641dd" /><Relationship Type="http://schemas.openxmlformats.org/officeDocument/2006/relationships/slideMaster" Target="/ppt/slideMasters/slideMaster1.xml" Id="R640be117a4dd4761" /><Relationship Type="http://schemas.openxmlformats.org/officeDocument/2006/relationships/notesMaster" Target="/ppt/notesMasters/notesMaster1.xml" Id="R141521366c264427" /><Relationship Type="http://schemas.openxmlformats.org/officeDocument/2006/relationships/presProps" Target="/ppt/presProps.xml" Id="Rc034152541064f11" /><Relationship Type="http://schemas.openxmlformats.org/officeDocument/2006/relationships/viewProps" Target="/ppt/viewProps.xml" Id="Ra55e58c225de4fc1" /><Relationship Type="http://schemas.openxmlformats.org/officeDocument/2006/relationships/tableStyles" Target="/ppt/tableStyles.xml" Id="Rb27ca9686e87441d" /><Relationship Type="http://schemas.openxmlformats.org/officeDocument/2006/relationships/slide" Target="/ppt/slides/slide1.xml" Id="Rc215ad3f180541a1" /><Relationship Type="http://schemas.openxmlformats.org/officeDocument/2006/relationships/slide" Target="/ppt/slides/slide2.xml" Id="Rd30acd94b6754ffc" /><Relationship Type="http://schemas.openxmlformats.org/officeDocument/2006/relationships/slide" Target="/ppt/slides/slide3.xml" Id="Rb877499a7c3740e7" /><Relationship Type="http://schemas.openxmlformats.org/officeDocument/2006/relationships/slide" Target="/ppt/slides/slide4.xml" Id="R301966f831f243da" /><Relationship Type="http://schemas.openxmlformats.org/officeDocument/2006/relationships/slide" Target="/ppt/slides/slide5.xml" Id="Re4580adccc774114" /><Relationship Type="http://schemas.openxmlformats.org/officeDocument/2006/relationships/slide" Target="/ppt/slides/slide6.xml" Id="Re5d19f3b6f8d4f2f" /><Relationship Type="http://schemas.openxmlformats.org/officeDocument/2006/relationships/slide" Target="/ppt/slides/slide7.xml" Id="R94726723af864939" /><Relationship Type="http://schemas.openxmlformats.org/officeDocument/2006/relationships/slide" Target="/ppt/slides/slide8.xml" Id="R1864579133cc4985" /><Relationship Type="http://schemas.openxmlformats.org/officeDocument/2006/relationships/slide" Target="/ppt/slides/slide9.xml" Id="Rf60993ba87c34fb6" /><Relationship Type="http://schemas.openxmlformats.org/officeDocument/2006/relationships/slide" Target="/ppt/slides/slide10.xml" Id="R3fb71d2b1cf641c9" /><Relationship Type="http://schemas.openxmlformats.org/officeDocument/2006/relationships/slide" Target="/ppt/slides/slide11.xml" Id="R00d1d4da0d3e42fc" /><Relationship Type="http://schemas.openxmlformats.org/officeDocument/2006/relationships/slide" Target="/ppt/slides/slide12.xml" Id="R15b2e93d39eb4f83" /><Relationship Type="http://schemas.openxmlformats.org/officeDocument/2006/relationships/slide" Target="/ppt/slides/slide13.xml" Id="Rd2419f53ab4649b4" /><Relationship Type="http://schemas.openxmlformats.org/officeDocument/2006/relationships/slide" Target="/ppt/slides/slide14.xml" Id="R396c18ebc93c4641" /><Relationship Type="http://schemas.openxmlformats.org/officeDocument/2006/relationships/slide" Target="/ppt/slides/slide15.xml" Id="R063140b5bcfc471d" /><Relationship Type="http://schemas.openxmlformats.org/officeDocument/2006/relationships/slide" Target="/ppt/slides/slide16.xml" Id="R533b5ea342c24711" /><Relationship Type="http://schemas.openxmlformats.org/officeDocument/2006/relationships/slide" Target="/ppt/slides/slide17.xml" Id="Rf24cd73ae8dc4d23" /><Relationship Type="http://schemas.openxmlformats.org/officeDocument/2006/relationships/slide" Target="/ppt/slides/slide18.xml" Id="R3a78261e11a64f9f" /><Relationship Type="http://schemas.openxmlformats.org/officeDocument/2006/relationships/slide" Target="/ppt/slides/slide19.xml" Id="R83319b515f7d4dd8" /><Relationship Type="http://schemas.openxmlformats.org/officeDocument/2006/relationships/slide" Target="/ppt/slides/slide20.xml" Id="R269606aa7c294aa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43ea779f97f427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c60ec7fdab74738" /><Relationship Type="http://schemas.openxmlformats.org/officeDocument/2006/relationships/notesMaster" Target="/ppt/notesMasters/notesMaster1.xml" Id="R12c34c77dba8426a" /></Relationships>
</file>

<file path=ppt/notesSlides/_rels/notesSlide2.xml.rels>&#65279;<?xml version="1.0" encoding="utf-8"?><Relationships xmlns="http://schemas.openxmlformats.org/package/2006/relationships"><Relationship Type="http://schemas.openxmlformats.org/officeDocument/2006/relationships/slide" Target="/ppt/slides/slide2.xml" Id="R3e0bd96a43054e51" /><Relationship Type="http://schemas.openxmlformats.org/officeDocument/2006/relationships/notesMaster" Target="/ppt/notesMasters/notesMaster1.xml" Id="R770f7e6b0a564b4e" /></Relationships>
</file>

<file path=ppt/notesSlides/_rels/notesSlide3.xml.rels>&#65279;<?xml version="1.0" encoding="utf-8"?><Relationships xmlns="http://schemas.openxmlformats.org/package/2006/relationships"><Relationship Type="http://schemas.openxmlformats.org/officeDocument/2006/relationships/slide" Target="/ppt/slides/slide3.xml" Id="Rfb55a11eec4b4eba" /><Relationship Type="http://schemas.openxmlformats.org/officeDocument/2006/relationships/notesMaster" Target="/ppt/notesMasters/notesMaster1.xml" Id="R49d233037581499b" /></Relationships>
</file>

<file path=ppt/notesSlides/_rels/notesSlide4.xml.rels>&#65279;<?xml version="1.0" encoding="utf-8"?><Relationships xmlns="http://schemas.openxmlformats.org/package/2006/relationships"><Relationship Type="http://schemas.openxmlformats.org/officeDocument/2006/relationships/slide" Target="/ppt/slides/slide4.xml" Id="Re2f4f42244b94833" /><Relationship Type="http://schemas.openxmlformats.org/officeDocument/2006/relationships/notesMaster" Target="/ppt/notesMasters/notesMaster1.xml" Id="Rff7b3f2e7931432e" /></Relationships>
</file>

<file path=ppt/notesSlides/_rels/notesSlide5.xml.rels>&#65279;<?xml version="1.0" encoding="utf-8"?><Relationships xmlns="http://schemas.openxmlformats.org/package/2006/relationships"><Relationship Type="http://schemas.openxmlformats.org/officeDocument/2006/relationships/slide" Target="/ppt/slides/slide5.xml" Id="R0755900bf5ae4f2d" /><Relationship Type="http://schemas.openxmlformats.org/officeDocument/2006/relationships/notesMaster" Target="/ppt/notesMasters/notesMaster1.xml" Id="Re78c94a45cf94671" /></Relationships>
</file>

<file path=ppt/notesSlides/_rels/notesSlide6.xml.rels>&#65279;<?xml version="1.0" encoding="utf-8"?><Relationships xmlns="http://schemas.openxmlformats.org/package/2006/relationships"><Relationship Type="http://schemas.openxmlformats.org/officeDocument/2006/relationships/slide" Target="/ppt/slides/slide6.xml" Id="R2e97f1447c134192" /><Relationship Type="http://schemas.openxmlformats.org/officeDocument/2006/relationships/notesMaster" Target="/ppt/notesMasters/notesMaster1.xml" Id="Rf22c7560b847429c" /></Relationships>
</file>

<file path=ppt/notesSlides/_rels/notesSlide7.xml.rels>&#65279;<?xml version="1.0" encoding="utf-8"?><Relationships xmlns="http://schemas.openxmlformats.org/package/2006/relationships"><Relationship Type="http://schemas.openxmlformats.org/officeDocument/2006/relationships/slide" Target="/ppt/slides/slide7.xml" Id="R48750d34b8f5433c" /><Relationship Type="http://schemas.openxmlformats.org/officeDocument/2006/relationships/notesMaster" Target="/ppt/notesMasters/notesMaster1.xml" Id="R12d4ffcd9f9b467f" /></Relationships>
</file>

<file path=ppt/notesSlides/_rels/notesSlide8.xml.rels>&#65279;<?xml version="1.0" encoding="utf-8"?><Relationships xmlns="http://schemas.openxmlformats.org/package/2006/relationships"><Relationship Type="http://schemas.openxmlformats.org/officeDocument/2006/relationships/slide" Target="/ppt/slides/slide8.xml" Id="Re65b2d72abdb4ffa" /><Relationship Type="http://schemas.openxmlformats.org/officeDocument/2006/relationships/notesMaster" Target="/ppt/notesMasters/notesMaster1.xml" Id="Rdee739e4a4794eef" /></Relationships>
</file>

<file path=ppt/notesSlides/_rels/notesSlide9.xml.rels>&#65279;<?xml version="1.0" encoding="utf-8"?><Relationships xmlns="http://schemas.openxmlformats.org/package/2006/relationships"><Relationship Type="http://schemas.openxmlformats.org/officeDocument/2006/relationships/slide" Target="/ppt/slides/slide9.xml" Id="Rf312d84df45943c0" /><Relationship Type="http://schemas.openxmlformats.org/officeDocument/2006/relationships/notesMaster" Target="/ppt/notesMasters/notesMaster1.xml" Id="R4cdbf23a9de24fe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9a3c4711b794747" /><Relationship Type="http://schemas.openxmlformats.org/officeDocument/2006/relationships/notesMaster" Target="/ppt/notesMasters/notesMaster1.xml" Id="Ra7d36935ce364cb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6fff46df0184fe8" /><Relationship Type="http://schemas.openxmlformats.org/officeDocument/2006/relationships/notesMaster" Target="/ppt/notesMasters/notesMaster1.xml" Id="R93b79d43c3884aa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ed2fba10b074e8a" /><Relationship Type="http://schemas.openxmlformats.org/officeDocument/2006/relationships/notesMaster" Target="/ppt/notesMasters/notesMaster1.xml" Id="R7ea243e19eb440f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7de23237afb4616" /><Relationship Type="http://schemas.openxmlformats.org/officeDocument/2006/relationships/notesMaster" Target="/ppt/notesMasters/notesMaster1.xml" Id="R4d420c8c6f184d5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bfc455295b24aab" /><Relationship Type="http://schemas.openxmlformats.org/officeDocument/2006/relationships/notesMaster" Target="/ppt/notesMasters/notesMaster1.xml" Id="R962fcfbf9e6343a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8844e788a4c4305" /><Relationship Type="http://schemas.openxmlformats.org/officeDocument/2006/relationships/notesMaster" Target="/ppt/notesMasters/notesMaster1.xml" Id="R3a0d962466a2467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7ff9fa21074409a" /><Relationship Type="http://schemas.openxmlformats.org/officeDocument/2006/relationships/notesMaster" Target="/ppt/notesMasters/notesMaster1.xml" Id="R6ff74c42d7164f3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b1ecca21dc84778" /><Relationship Type="http://schemas.openxmlformats.org/officeDocument/2006/relationships/notesMaster" Target="/ppt/notesMasters/notesMaster1.xml" Id="R7f8a1da9c256437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3ed810a97274205" /><Relationship Type="http://schemas.openxmlformats.org/officeDocument/2006/relationships/notesMaster" Target="/ppt/notesMasters/notesMaster1.xml" Id="Rb1494df7c5014f7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bcd987516fc43d3" /><Relationship Type="http://schemas.openxmlformats.org/officeDocument/2006/relationships/notesMaster" Target="/ppt/notesMasters/notesMaster1.xml" Id="R33f66e81f30d4fa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1d86877947c4596" /><Relationship Type="http://schemas.openxmlformats.org/officeDocument/2006/relationships/notesMaster" Target="/ppt/notesMasters/notesMaster1.xml" Id="R0ff3595bc5134bd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66c2e95c6ec41e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0b9f6b941874c0b" /><Relationship Type="http://schemas.openxmlformats.org/officeDocument/2006/relationships/slideLayout" Target="/ppt/slideLayouts/slideLayout1.xml" Id="R946003a449c9458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6003a449c9458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3502d09bee54cd5" /><Relationship Type="http://schemas.openxmlformats.org/officeDocument/2006/relationships/notesSlide" Target="/ppt/notesSlides/notesSlide1.xml" Id="R4d47a60c5172403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56e4efec21b427b" /><Relationship Type="http://schemas.openxmlformats.org/officeDocument/2006/relationships/notesSlide" Target="/ppt/notesSlides/notesSlide2.xml" Id="Rd0f4d6d514ea4a0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a883744cceb4433" /><Relationship Type="http://schemas.openxmlformats.org/officeDocument/2006/relationships/notesSlide" Target="/ppt/notesSlides/notesSlide3.xml" Id="Rebba7ead1551429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27953ec44504a0a" /><Relationship Type="http://schemas.openxmlformats.org/officeDocument/2006/relationships/notesSlide" Target="/ppt/notesSlides/notesSlide4.xml" Id="Ra5a47e25dd4842e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cf4fd9ced78444b" /><Relationship Type="http://schemas.openxmlformats.org/officeDocument/2006/relationships/notesSlide" Target="/ppt/notesSlides/notesSlide5.xml" Id="Ra3e7f2188091418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c63ef3edb9a4390" /><Relationship Type="http://schemas.openxmlformats.org/officeDocument/2006/relationships/notesSlide" Target="/ppt/notesSlides/notesSlide6.xml" Id="Rababe6b315704a6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1ffdf619ff64142" /><Relationship Type="http://schemas.openxmlformats.org/officeDocument/2006/relationships/notesSlide" Target="/ppt/notesSlides/notesSlide7.xml" Id="R64a30e3d36a6401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5928d0af54a4218" /><Relationship Type="http://schemas.openxmlformats.org/officeDocument/2006/relationships/notesSlide" Target="/ppt/notesSlides/notesSlide8.xml" Id="R9f42a40bd4994b5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09eeb71d02f4720" /><Relationship Type="http://schemas.openxmlformats.org/officeDocument/2006/relationships/notesSlide" Target="/ppt/notesSlides/notesSlide9.xml" Id="R0eb093899bfb401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588f8b168864ea3" /><Relationship Type="http://schemas.openxmlformats.org/officeDocument/2006/relationships/notesSlide" Target="/ppt/notesSlides/notesSlide10.xml" Id="R6e258c82f6df4eb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e1af09890c54fb4" /><Relationship Type="http://schemas.openxmlformats.org/officeDocument/2006/relationships/notesSlide" Target="/ppt/notesSlides/notesSlide11.xml" Id="R493296e0b2b440f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12ff923b6cd4e14" /><Relationship Type="http://schemas.openxmlformats.org/officeDocument/2006/relationships/notesSlide" Target="/ppt/notesSlides/notesSlide12.xml" Id="Rdb6a383f7326408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7d2716d85c74655" /><Relationship Type="http://schemas.openxmlformats.org/officeDocument/2006/relationships/notesSlide" Target="/ppt/notesSlides/notesSlide13.xml" Id="R6255ac2fff0841d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3c630fd78f94b32" /><Relationship Type="http://schemas.openxmlformats.org/officeDocument/2006/relationships/notesSlide" Target="/ppt/notesSlides/notesSlide14.xml" Id="Re48024b3b00848a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0782eec16374732" /><Relationship Type="http://schemas.openxmlformats.org/officeDocument/2006/relationships/notesSlide" Target="/ppt/notesSlides/notesSlide15.xml" Id="R2734af07a442467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f927eb719634f66" /><Relationship Type="http://schemas.openxmlformats.org/officeDocument/2006/relationships/notesSlide" Target="/ppt/notesSlides/notesSlide16.xml" Id="Rff856d2e1398476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0b0044a34884891" /><Relationship Type="http://schemas.openxmlformats.org/officeDocument/2006/relationships/notesSlide" Target="/ppt/notesSlides/notesSlide17.xml" Id="R53123264aadb4a9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a61d1e0a5f041bd" /><Relationship Type="http://schemas.openxmlformats.org/officeDocument/2006/relationships/notesSlide" Target="/ppt/notesSlides/notesSlide18.xml" Id="R482dabb4193c4ca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92fc66ab7cd4c85" /><Relationship Type="http://schemas.openxmlformats.org/officeDocument/2006/relationships/notesSlide" Target="/ppt/notesSlides/notesSlide19.xml" Id="R9a24bbef7880422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2de1e12d5f74ca0" /><Relationship Type="http://schemas.openxmlformats.org/officeDocument/2006/relationships/notesSlide" Target="/ppt/notesSlides/notesSlide20.xml" Id="Rb8a94248738a45b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BB0E6D2A-B684-4BFE-AA69-8A154E137B3C}"/>
              </a:ext>
            </a:extLst>
          </p:cNvPr>
          <p:cNvSpPr>
            <a:spLocks xmlns:a="http://schemas.openxmlformats.org/drawingml/2006/main" noGrp="1"/>
          </p:cNvSpPr>
          <p:nvPr/>
        </p:nvSpPr>
        <p:spPr>
          <a:xfrm xmlns:a="http://schemas.openxmlformats.org/drawingml/2006/main">
            <a:off x="914400" y="590550"/>
            <a:ext cx="781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0000"/>
              </a:lnSpc>
              <a:buNone/>
              <a:defRPr sz="1050" b="1">
                <a:solidFill>
                  <a:srgbClr val="647084"/>
                </a:solidFill>
                <a:latin typeface="Aptos"/>
                <a:ea typeface="Aptos"/>
                <a:cs typeface="Aptos"/>
              </a:defRPr>
            </a:pPr>
            <a:r>
              <a:rPr sz="1050" b="1">
                <a:solidFill>
                  <a:srgbClr val="647084"/>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7AB27BD4-A743-47CA-94F0-5E557748A3AD}"/>
              </a:ext>
            </a:extLst>
          </p:cNvPr>
          <p:cNvSpPr>
            <a:spLocks xmlns:a="http://schemas.openxmlformats.org/drawingml/2006/main" noGrp="1"/>
          </p:cNvSpPr>
          <p:nvPr/>
        </p:nvSpPr>
        <p:spPr>
          <a:xfrm xmlns:a="http://schemas.openxmlformats.org/drawingml/2006/main">
            <a:off x="914400" y="1009650"/>
            <a:ext cx="10363200" cy="9525"/>
          </a:xfrm>
          <a:prstGeom xmlns:a="http://schemas.openxmlformats.org/drawingml/2006/main" prst="line">
            <a:avLst/>
          </a:prstGeom>
          <a:noFill xmlns:a="http://schemas.openxmlformats.org/drawingml/2006/main"/>
          <a:ln xmlns:a="http://schemas.openxmlformats.org/drawingml/2006/main" w="8573">
            <a:solidFill>
              <a:srgbClr val="8D5560"/>
            </a:solidFill>
            <a:prstDash val="solid"/>
          </a:ln>
        </p:spPr>
      </p:sp>
      <p:sp>
        <p:nvSpPr>
          <p:cNvPr id="3" name="Rounded Rectangle 2">
            <a:extLst xmlns:a="http://schemas.openxmlformats.org/drawingml/2006/main">
              <a:ext uri="{FF2B5EF4-FFF2-40B4-BE49-F238E27FC236}">
                <a16:creationId xmlns:a16="http://schemas.microsoft.com/office/drawing/2014/main" id="{E6F14CF2-0DF6-4E2C-8D04-3A79A06B65E1}"/>
              </a:ext>
            </a:extLst>
          </p:cNvPr>
          <p:cNvSpPr>
            <a:spLocks xmlns:a="http://schemas.openxmlformats.org/drawingml/2006/main" noGrp="1"/>
          </p:cNvSpPr>
          <p:nvPr/>
        </p:nvSpPr>
        <p:spPr>
          <a:xfrm xmlns:a="http://schemas.openxmlformats.org/drawingml/2006/main">
            <a:off x="914400" y="1438275"/>
            <a:ext cx="647700" cy="66675"/>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4" name="Rectangle 3">
            <a:extLst xmlns:a="http://schemas.openxmlformats.org/drawingml/2006/main">
              <a:ext uri="{FF2B5EF4-FFF2-40B4-BE49-F238E27FC236}">
                <a16:creationId xmlns:a16="http://schemas.microsoft.com/office/drawing/2014/main" id="{78BA2D62-2C26-460E-9F02-6B5CB205F89E}"/>
              </a:ext>
            </a:extLst>
          </p:cNvPr>
          <p:cNvSpPr>
            <a:spLocks xmlns:a="http://schemas.openxmlformats.org/drawingml/2006/main" noGrp="1"/>
          </p:cNvSpPr>
          <p:nvPr/>
        </p:nvSpPr>
        <p:spPr>
          <a:xfrm xmlns:a="http://schemas.openxmlformats.org/drawingml/2006/main">
            <a:off x="914400" y="1771650"/>
            <a:ext cx="103632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94000"/>
              </a:lnSpc>
              <a:buNone/>
              <a:defRPr sz="3450" b="1">
                <a:solidFill>
                  <a:srgbClr val="1A202C"/>
                </a:solidFill>
                <a:latin typeface="Aptos Display"/>
                <a:ea typeface="Aptos Display"/>
                <a:cs typeface="Aptos Display"/>
              </a:defRPr>
            </a:pPr>
            <a:r>
              <a:rPr sz="3450" b="1">
                <a:solidFill>
                  <a:srgbClr val="1A202C"/>
                </a:solidFill>
                <a:latin typeface="Aptos Display"/>
                <a:ea typeface="Aptos Display"/>
                <a:cs typeface="Aptos Display"/>
              </a:rPr>
              <a:t>Атрибути, ризик и периодични преглед приступа</a:t>
            </a:r>
          </a:p>
        </p:txBody>
      </p:sp>
      <p:sp>
        <p:nvSpPr>
          <p:cNvPr id="5" name="Rectangle 4">
            <a:extLst xmlns:a="http://schemas.openxmlformats.org/drawingml/2006/main">
              <a:ext uri="{FF2B5EF4-FFF2-40B4-BE49-F238E27FC236}">
                <a16:creationId xmlns:a16="http://schemas.microsoft.com/office/drawing/2014/main" id="{7DB7F43A-6087-4653-8FD2-5E699B10E632}"/>
              </a:ext>
            </a:extLst>
          </p:cNvPr>
          <p:cNvSpPr>
            <a:spLocks xmlns:a="http://schemas.openxmlformats.org/drawingml/2006/main" noGrp="1"/>
          </p:cNvSpPr>
          <p:nvPr/>
        </p:nvSpPr>
        <p:spPr>
          <a:xfrm xmlns:a="http://schemas.openxmlformats.org/drawingml/2006/main">
            <a:off x="933450" y="3600450"/>
            <a:ext cx="9620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725" b="0">
                <a:solidFill>
                  <a:srgbClr val="647084"/>
                </a:solidFill>
                <a:latin typeface="Aptos"/>
                <a:ea typeface="Aptos"/>
                <a:cs typeface="Aptos"/>
              </a:defRPr>
            </a:pPr>
            <a:r>
              <a:rPr sz="1725" b="0">
                <a:solidFill>
                  <a:srgbClr val="647084"/>
                </a:solidFill>
                <a:latin typeface="Aptos"/>
                <a:ea typeface="Aptos"/>
                <a:cs typeface="Aptos"/>
              </a:rPr>
              <a:t>Контекстуална контрола приступа и периодична процена ризика</a:t>
            </a:r>
          </a:p>
        </p:txBody>
      </p:sp>
      <p:sp>
        <p:nvSpPr>
          <p:cNvPr id="6" name="Straight Connector 5">
            <a:extLst xmlns:a="http://schemas.openxmlformats.org/drawingml/2006/main">
              <a:ext uri="{FF2B5EF4-FFF2-40B4-BE49-F238E27FC236}">
                <a16:creationId xmlns:a16="http://schemas.microsoft.com/office/drawing/2014/main" id="{FA6191B0-C333-4A43-AC73-1F055EA7F108}"/>
              </a:ext>
            </a:extLst>
          </p:cNvPr>
          <p:cNvSpPr>
            <a:spLocks xmlns:a="http://schemas.openxmlformats.org/drawingml/2006/main" noGrp="1"/>
          </p:cNvSpPr>
          <p:nvPr/>
        </p:nvSpPr>
        <p:spPr>
          <a:xfrm xmlns:a="http://schemas.openxmlformats.org/drawingml/2006/main">
            <a:off x="914400" y="5286375"/>
            <a:ext cx="10363200" cy="9525"/>
          </a:xfrm>
          <a:prstGeom xmlns:a="http://schemas.openxmlformats.org/drawingml/2006/main" prst="line">
            <a:avLst/>
          </a:prstGeom>
          <a:noFill xmlns:a="http://schemas.openxmlformats.org/drawingml/2006/main"/>
          <a:ln xmlns:a="http://schemas.openxmlformats.org/drawingml/2006/main" w="8573">
            <a:solidFill>
              <a:srgbClr val="8D5560"/>
            </a:solidFill>
            <a:prstDash val="solid"/>
          </a:ln>
        </p:spPr>
      </p:sp>
      <p:sp>
        <p:nvSpPr>
          <p:cNvPr id="7" name="Rectangle 6">
            <a:extLst xmlns:a="http://schemas.openxmlformats.org/drawingml/2006/main">
              <a:ext uri="{FF2B5EF4-FFF2-40B4-BE49-F238E27FC236}">
                <a16:creationId xmlns:a16="http://schemas.microsoft.com/office/drawing/2014/main" id="{8B4A651A-36AB-4EB8-948E-47E48DA6E5CB}"/>
              </a:ext>
            </a:extLst>
          </p:cNvPr>
          <p:cNvSpPr>
            <a:spLocks xmlns:a="http://schemas.openxmlformats.org/drawingml/2006/main" noGrp="1"/>
          </p:cNvSpPr>
          <p:nvPr/>
        </p:nvSpPr>
        <p:spPr>
          <a:xfrm xmlns:a="http://schemas.openxmlformats.org/drawingml/2006/main">
            <a:off x="914400" y="558165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00" b="1">
                <a:solidFill>
                  <a:srgbClr val="1A202C"/>
                </a:solidFill>
                <a:latin typeface="Aptos"/>
                <a:ea typeface="Aptos"/>
                <a:cs typeface="Aptos"/>
              </a:defRPr>
            </a:pPr>
            <a:r>
              <a:rPr sz="1125" b="0">
                <a:solidFill>
                  <a:srgbClr val="1A202C"/>
                </a:solidFill>
                <a:latin typeface="Aptos"/>
                <a:ea typeface="Aptos"/>
                <a:cs typeface="Aptos"/>
              </a:rPr>
              <a:t>Факултет техничких наука · Универзитет у Новом Саду</a:t>
            </a:r>
          </a:p>
        </p:txBody>
      </p:sp>
      <p:sp>
        <p:nvSpPr>
          <p:cNvPr id="8" name="Rectangle 7">
            <a:extLst xmlns:a="http://schemas.openxmlformats.org/drawingml/2006/main">
              <a:ext uri="{FF2B5EF4-FFF2-40B4-BE49-F238E27FC236}">
                <a16:creationId xmlns:a16="http://schemas.microsoft.com/office/drawing/2014/main" id="{A2FFD508-BD9F-46E4-853D-488428BF74BA}"/>
              </a:ext>
            </a:extLst>
          </p:cNvPr>
          <p:cNvSpPr>
            <a:spLocks xmlns:a="http://schemas.openxmlformats.org/drawingml/2006/main" noGrp="1"/>
          </p:cNvSpPr>
          <p:nvPr/>
        </p:nvSpPr>
        <p:spPr>
          <a:xfrm xmlns:a="http://schemas.openxmlformats.org/drawingml/2006/main">
            <a:off x="8096250" y="5581650"/>
            <a:ext cx="3181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200" b="0">
                <a:solidFill>
                  <a:srgbClr val="647084"/>
                </a:solidFill>
                <a:latin typeface="Aptos"/>
                <a:ea typeface="Aptos"/>
                <a:cs typeface="Aptos"/>
              </a:defRPr>
            </a:pPr>
            <a:r>
              <a:rPr sz="1200" b="0">
                <a:solidFill>
                  <a:srgbClr val="647084"/>
                </a:solidFill>
                <a:latin typeface="Aptos"/>
                <a:ea typeface="Aptos"/>
                <a:cs typeface="Aptos"/>
              </a:rPr>
              <a:t>Академска 2026/27.</a:t>
            </a:r>
          </a:p>
        </p:txBody>
      </p:sp>
    </p:spTree>
    <p:extLst>
      <p:ext uri="{BB962C8B-B14F-4D97-AF65-F5344CB8AC3E}">
        <p14:creationId xmlns:p14="http://schemas.microsoft.com/office/powerpoint/2010/main" val="189683406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DA54CD75-93E8-46B3-88FD-88E3211329B1}"/>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51BA85CA-59AD-4BCD-8E15-802632FCB3EA}"/>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125B35A2-84A0-4ABE-B366-6B95D40BCC39}"/>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a:t>
            </a:r>
          </a:p>
        </p:txBody>
      </p:sp>
      <p:sp>
        <p:nvSpPr>
          <p:cNvPr id="4" name="Rectangle 3">
            <a:extLst xmlns:a="http://schemas.openxmlformats.org/drawingml/2006/main">
              <a:ext uri="{FF2B5EF4-FFF2-40B4-BE49-F238E27FC236}">
                <a16:creationId xmlns:a16="http://schemas.microsoft.com/office/drawing/2014/main" id="{64D6B80F-C151-4DFB-B7F9-68F858EE06BC}"/>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Контекстуална одлука о приступу</a:t>
            </a:r>
          </a:p>
        </p:txBody>
      </p:sp>
      <p:sp>
        <p:nvSpPr>
          <p:cNvPr id="5" name="Rectangle 4">
            <a:extLst xmlns:a="http://schemas.openxmlformats.org/drawingml/2006/main">
              <a:ext uri="{FF2B5EF4-FFF2-40B4-BE49-F238E27FC236}">
                <a16:creationId xmlns:a16="http://schemas.microsoft.com/office/drawing/2014/main" id="{09F13FA1-82D2-487E-8441-B2C44591A1C3}"/>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RBAC обезбеђује стабилну основу, док атрибути субјекта, ресурса и окружења прецизирају одлуку.</a:t>
            </a:r>
          </a:p>
        </p:txBody>
      </p:sp>
      <p:sp>
        <p:nvSpPr>
          <p:cNvPr id="6" name="Rounded Rectangle 5">
            <a:extLst xmlns:a="http://schemas.openxmlformats.org/drawingml/2006/main">
              <a:ext uri="{FF2B5EF4-FFF2-40B4-BE49-F238E27FC236}">
                <a16:creationId xmlns:a16="http://schemas.microsoft.com/office/drawing/2014/main" id="{6A0EA668-8A62-4ADA-9740-5EA3851A3081}"/>
              </a:ext>
            </a:extLst>
          </p:cNvPr>
          <p:cNvSpPr>
            <a:spLocks xmlns:a="http://schemas.openxmlformats.org/drawingml/2006/main" noGrp="1"/>
          </p:cNvSpPr>
          <p:nvPr/>
        </p:nvSpPr>
        <p:spPr>
          <a:xfrm xmlns:a="http://schemas.openxmlformats.org/drawingml/2006/main">
            <a:off x="819150" y="2571750"/>
            <a:ext cx="3257550" cy="2228850"/>
          </a:xfrm>
          <a:prstGeom xmlns:a="http://schemas.openxmlformats.org/drawingml/2006/main" prst="roundRect">
            <a:avLst>
              <a:gd name="adj" fmla="val 5983"/>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B8D79833-7930-4DF7-B757-05AA4C7A8810}"/>
              </a:ext>
            </a:extLst>
          </p:cNvPr>
          <p:cNvSpPr>
            <a:spLocks xmlns:a="http://schemas.openxmlformats.org/drawingml/2006/main" noGrp="1"/>
          </p:cNvSpPr>
          <p:nvPr/>
        </p:nvSpPr>
        <p:spPr>
          <a:xfrm xmlns:a="http://schemas.openxmlformats.org/drawingml/2006/main">
            <a:off x="971550" y="26955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ПРЕДМЕТ АНАЛИЗЕ</a:t>
            </a:r>
          </a:p>
        </p:txBody>
      </p:sp>
      <p:sp>
        <p:nvSpPr>
          <p:cNvPr id="8" name="Rectangle 7">
            <a:extLst xmlns:a="http://schemas.openxmlformats.org/drawingml/2006/main">
              <a:ext uri="{FF2B5EF4-FFF2-40B4-BE49-F238E27FC236}">
                <a16:creationId xmlns:a16="http://schemas.microsoft.com/office/drawing/2014/main" id="{23364A97-1342-40B5-AB25-53CD05C2E2CA}"/>
              </a:ext>
            </a:extLst>
          </p:cNvPr>
          <p:cNvSpPr>
            <a:spLocks xmlns:a="http://schemas.openxmlformats.org/drawingml/2006/main" noGrp="1"/>
          </p:cNvSpPr>
          <p:nvPr/>
        </p:nvSpPr>
        <p:spPr>
          <a:xfrm xmlns:a="http://schemas.openxmlformats.org/drawingml/2006/main">
            <a:off x="971550" y="29432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Ризик који се анализира</a:t>
            </a:r>
          </a:p>
        </p:txBody>
      </p:sp>
      <p:sp>
        <p:nvSpPr>
          <p:cNvPr id="9" name="Rectangle 8">
            <a:extLst xmlns:a="http://schemas.openxmlformats.org/drawingml/2006/main">
              <a:ext uri="{FF2B5EF4-FFF2-40B4-BE49-F238E27FC236}">
                <a16:creationId xmlns:a16="http://schemas.microsoft.com/office/drawing/2014/main" id="{B7DFCA31-25A0-4B92-9B61-46962D0822B1}"/>
              </a:ext>
            </a:extLst>
          </p:cNvPr>
          <p:cNvSpPr>
            <a:spLocks xmlns:a="http://schemas.openxmlformats.org/drawingml/2006/main" noGrp="1"/>
          </p:cNvSpPr>
          <p:nvPr/>
        </p:nvSpPr>
        <p:spPr>
          <a:xfrm xmlns:a="http://schemas.openxmlformats.org/drawingml/2006/main">
            <a:off x="971550" y="3352800"/>
            <a:ext cx="2952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87975"/>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RBAC даје стабилну основу, али сложеније одлуке често зависе и од контекста: припадности, врсте података, времена, стања ресурса или нивоа ризика. Атрибутска правила уводе тај контекст без претварања сваке могуће комбинације у нову улогу.</a:t>
            </a:r>
          </a:p>
        </p:txBody>
      </p:sp>
      <p:sp>
        <p:nvSpPr>
          <p:cNvPr id="10" name="Rounded Rectangle 9">
            <a:extLst xmlns:a="http://schemas.openxmlformats.org/drawingml/2006/main">
              <a:ext uri="{FF2B5EF4-FFF2-40B4-BE49-F238E27FC236}">
                <a16:creationId xmlns:a16="http://schemas.microsoft.com/office/drawing/2014/main" id="{A71E3580-2044-42AA-B312-1F1996972040}"/>
              </a:ext>
            </a:extLst>
          </p:cNvPr>
          <p:cNvSpPr>
            <a:spLocks xmlns:a="http://schemas.openxmlformats.org/drawingml/2006/main" noGrp="1"/>
          </p:cNvSpPr>
          <p:nvPr/>
        </p:nvSpPr>
        <p:spPr>
          <a:xfrm xmlns:a="http://schemas.openxmlformats.org/drawingml/2006/main">
            <a:off x="4467225" y="2571750"/>
            <a:ext cx="3257550" cy="2228850"/>
          </a:xfrm>
          <a:prstGeom xmlns:a="http://schemas.openxmlformats.org/drawingml/2006/main" prst="roundRect">
            <a:avLst>
              <a:gd name="adj" fmla="val 5983"/>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E4AD8281-4FD8-4640-8DE7-5211C8D10BC5}"/>
              </a:ext>
            </a:extLst>
          </p:cNvPr>
          <p:cNvSpPr>
            <a:spLocks xmlns:a="http://schemas.openxmlformats.org/drawingml/2006/main" noGrp="1"/>
          </p:cNvSpPr>
          <p:nvPr/>
        </p:nvSpPr>
        <p:spPr>
          <a:xfrm xmlns:a="http://schemas.openxmlformats.org/drawingml/2006/main">
            <a:off x="4619625" y="26955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ЗНАЧАЈ</a:t>
            </a:r>
          </a:p>
        </p:txBody>
      </p:sp>
      <p:sp>
        <p:nvSpPr>
          <p:cNvPr id="12" name="Rectangle 11">
            <a:extLst xmlns:a="http://schemas.openxmlformats.org/drawingml/2006/main">
              <a:ext uri="{FF2B5EF4-FFF2-40B4-BE49-F238E27FC236}">
                <a16:creationId xmlns:a16="http://schemas.microsoft.com/office/drawing/2014/main" id="{18A09451-7E90-4DDE-97F6-6EE1A2982F51}"/>
              </a:ext>
            </a:extLst>
          </p:cNvPr>
          <p:cNvSpPr>
            <a:spLocks xmlns:a="http://schemas.openxmlformats.org/drawingml/2006/main" noGrp="1"/>
          </p:cNvSpPr>
          <p:nvPr/>
        </p:nvSpPr>
        <p:spPr>
          <a:xfrm xmlns:a="http://schemas.openxmlformats.org/drawingml/2006/main">
            <a:off x="4619625" y="29432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Значај за безбедност система</a:t>
            </a:r>
          </a:p>
        </p:txBody>
      </p:sp>
      <p:sp>
        <p:nvSpPr>
          <p:cNvPr id="13" name="Rectangle 12">
            <a:extLst xmlns:a="http://schemas.openxmlformats.org/drawingml/2006/main">
              <a:ext uri="{FF2B5EF4-FFF2-40B4-BE49-F238E27FC236}">
                <a16:creationId xmlns:a16="http://schemas.microsoft.com/office/drawing/2014/main" id="{12A34F80-72FF-4322-A677-5E27DFC28371}"/>
              </a:ext>
            </a:extLst>
          </p:cNvPr>
          <p:cNvSpPr>
            <a:spLocks xmlns:a="http://schemas.openxmlformats.org/drawingml/2006/main" noGrp="1"/>
          </p:cNvSpPr>
          <p:nvPr/>
        </p:nvSpPr>
        <p:spPr>
          <a:xfrm xmlns:a="http://schemas.openxmlformats.org/drawingml/2006/main">
            <a:off x="4619625" y="3352800"/>
            <a:ext cx="2952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1231"/>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Risk register и редован преглед приступа спречавају да се старе одлуке претворе у трајне претпоставке. Они чине видљивим преостали ризик, власништво над њим и тренутак када одлуку треба преиспитати.</a:t>
            </a:r>
          </a:p>
        </p:txBody>
      </p:sp>
      <p:sp>
        <p:nvSpPr>
          <p:cNvPr id="14" name="Rounded Rectangle 13">
            <a:extLst xmlns:a="http://schemas.openxmlformats.org/drawingml/2006/main">
              <a:ext uri="{FF2B5EF4-FFF2-40B4-BE49-F238E27FC236}">
                <a16:creationId xmlns:a16="http://schemas.microsoft.com/office/drawing/2014/main" id="{D6B62208-75C3-4D58-9C43-CECDF88B5880}"/>
              </a:ext>
            </a:extLst>
          </p:cNvPr>
          <p:cNvSpPr>
            <a:spLocks xmlns:a="http://schemas.openxmlformats.org/drawingml/2006/main" noGrp="1"/>
          </p:cNvSpPr>
          <p:nvPr/>
        </p:nvSpPr>
        <p:spPr>
          <a:xfrm xmlns:a="http://schemas.openxmlformats.org/drawingml/2006/main">
            <a:off x="8115300" y="2571750"/>
            <a:ext cx="3257550" cy="2228850"/>
          </a:xfrm>
          <a:prstGeom xmlns:a="http://schemas.openxmlformats.org/drawingml/2006/main" prst="roundRect">
            <a:avLst>
              <a:gd name="adj" fmla="val 5983"/>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1918CD9E-078A-4A56-88BA-2D12540B9987}"/>
              </a:ext>
            </a:extLst>
          </p:cNvPr>
          <p:cNvSpPr>
            <a:spLocks xmlns:a="http://schemas.openxmlformats.org/drawingml/2006/main" noGrp="1"/>
          </p:cNvSpPr>
          <p:nvPr/>
        </p:nvSpPr>
        <p:spPr>
          <a:xfrm xmlns:a="http://schemas.openxmlformats.org/drawingml/2006/main">
            <a:off x="8267700" y="26955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КРИТЕРИЈУМ ПРОВЕРЕ</a:t>
            </a:r>
          </a:p>
        </p:txBody>
      </p:sp>
      <p:sp>
        <p:nvSpPr>
          <p:cNvPr id="16" name="Rectangle 15">
            <a:extLst xmlns:a="http://schemas.openxmlformats.org/drawingml/2006/main">
              <a:ext uri="{FF2B5EF4-FFF2-40B4-BE49-F238E27FC236}">
                <a16:creationId xmlns:a16="http://schemas.microsoft.com/office/drawing/2014/main" id="{15B733EA-1A22-49F1-A622-EC1B1244A01B}"/>
              </a:ext>
            </a:extLst>
          </p:cNvPr>
          <p:cNvSpPr>
            <a:spLocks xmlns:a="http://schemas.openxmlformats.org/drawingml/2006/main" noGrp="1"/>
          </p:cNvSpPr>
          <p:nvPr/>
        </p:nvSpPr>
        <p:spPr>
          <a:xfrm xmlns:a="http://schemas.openxmlformats.org/drawingml/2006/main">
            <a:off x="8267700" y="29432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Проверљив резултат</a:t>
            </a:r>
          </a:p>
        </p:txBody>
      </p:sp>
      <p:sp>
        <p:nvSpPr>
          <p:cNvPr id="17" name="Rectangle 16">
            <a:extLst xmlns:a="http://schemas.openxmlformats.org/drawingml/2006/main">
              <a:ext uri="{FF2B5EF4-FFF2-40B4-BE49-F238E27FC236}">
                <a16:creationId xmlns:a16="http://schemas.microsoft.com/office/drawing/2014/main" id="{F6E174E1-7B6F-402E-94F3-2F5ACA784D13}"/>
              </a:ext>
            </a:extLst>
          </p:cNvPr>
          <p:cNvSpPr>
            <a:spLocks xmlns:a="http://schemas.openxmlformats.org/drawingml/2006/main" noGrp="1"/>
          </p:cNvSpPr>
          <p:nvPr/>
        </p:nvSpPr>
        <p:spPr>
          <a:xfrm xmlns:a="http://schemas.openxmlformats.org/drawingml/2006/main">
            <a:off x="8267700" y="3352800"/>
            <a:ext cx="2952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Одлука је јасна, примењује се на серверу и оставља поновљив доказ успешног и одбијеног исхода.</a:t>
            </a:r>
          </a:p>
        </p:txBody>
      </p:sp>
    </p:spTree>
    <p:extLst>
      <p:ext uri="{BB962C8B-B14F-4D97-AF65-F5344CB8AC3E}">
        <p14:creationId xmlns:p14="http://schemas.microsoft.com/office/powerpoint/2010/main" val="24957133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ectangle 27">
            <a:extLst xmlns:a="http://schemas.openxmlformats.org/drawingml/2006/main">
              <a:ext uri="{FF2B5EF4-FFF2-40B4-BE49-F238E27FC236}">
                <a16:creationId xmlns:a16="http://schemas.microsoft.com/office/drawing/2014/main" id="{A3598ABC-03F3-4421-9187-D57DAE7A97DE}"/>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93965602-7AA8-4E7B-BCFE-51A983E52E0F}"/>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999DF3AE-9421-49DA-A971-8DEE4E64DE95}"/>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3</a:t>
            </a:r>
          </a:p>
        </p:txBody>
      </p:sp>
      <p:sp>
        <p:nvSpPr>
          <p:cNvPr id="4" name="Rectangle 3">
            <a:extLst xmlns:a="http://schemas.openxmlformats.org/drawingml/2006/main">
              <a:ext uri="{FF2B5EF4-FFF2-40B4-BE49-F238E27FC236}">
                <a16:creationId xmlns:a16="http://schemas.microsoft.com/office/drawing/2014/main" id="{5FFE250D-F4AA-48F6-8E89-8AAAB92D47FC}"/>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Основни појмови</a:t>
            </a:r>
          </a:p>
        </p:txBody>
      </p:sp>
      <p:sp>
        <p:nvSpPr>
          <p:cNvPr id="5" name="Rectangle 4">
            <a:extLst xmlns:a="http://schemas.openxmlformats.org/drawingml/2006/main">
              <a:ext uri="{FF2B5EF4-FFF2-40B4-BE49-F238E27FC236}">
                <a16:creationId xmlns:a16="http://schemas.microsoft.com/office/drawing/2014/main" id="{E7C18329-24DC-4EC1-B76C-3A557594CE73}"/>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Атрибути, политика, ризик и периодични преглед одређују контекст и трајање права приступа.</a:t>
            </a:r>
          </a:p>
        </p:txBody>
      </p:sp>
      <p:sp>
        <p:nvSpPr>
          <p:cNvPr id="6" name="Rounded Rectangle 5">
            <a:extLst xmlns:a="http://schemas.openxmlformats.org/drawingml/2006/main">
              <a:ext uri="{FF2B5EF4-FFF2-40B4-BE49-F238E27FC236}">
                <a16:creationId xmlns:a16="http://schemas.microsoft.com/office/drawing/2014/main" id="{B3F31949-8FB3-4011-8AA5-44298D91A5B4}"/>
              </a:ext>
            </a:extLst>
          </p:cNvPr>
          <p:cNvSpPr>
            <a:spLocks xmlns:a="http://schemas.openxmlformats.org/drawingml/2006/main" noGrp="1"/>
          </p:cNvSpPr>
          <p:nvPr/>
        </p:nvSpPr>
        <p:spPr>
          <a:xfrm xmlns:a="http://schemas.openxmlformats.org/drawingml/2006/main">
            <a:off x="723900" y="2419350"/>
            <a:ext cx="2471738"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7270358C-A0FE-48D9-9B71-D79CDA1683D2}"/>
              </a:ext>
            </a:extLst>
          </p:cNvPr>
          <p:cNvSpPr>
            <a:spLocks xmlns:a="http://schemas.openxmlformats.org/drawingml/2006/main" noGrp="1"/>
          </p:cNvSpPr>
          <p:nvPr/>
        </p:nvSpPr>
        <p:spPr>
          <a:xfrm xmlns:a="http://schemas.openxmlformats.org/drawingml/2006/main">
            <a:off x="866775"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86E121FC-F0DA-4E36-8A22-B97A8624B455}"/>
              </a:ext>
            </a:extLst>
          </p:cNvPr>
          <p:cNvSpPr>
            <a:spLocks xmlns:a="http://schemas.openxmlformats.org/drawingml/2006/main" noGrp="1"/>
          </p:cNvSpPr>
          <p:nvPr/>
        </p:nvSpPr>
        <p:spPr>
          <a:xfrm xmlns:a="http://schemas.openxmlformats.org/drawingml/2006/main">
            <a:off x="857250"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Атрибути</a:t>
            </a:r>
          </a:p>
        </p:txBody>
      </p:sp>
      <p:sp>
        <p:nvSpPr>
          <p:cNvPr id="9" name="Rectangle 8">
            <a:extLst xmlns:a="http://schemas.openxmlformats.org/drawingml/2006/main">
              <a:ext uri="{FF2B5EF4-FFF2-40B4-BE49-F238E27FC236}">
                <a16:creationId xmlns:a16="http://schemas.microsoft.com/office/drawing/2014/main" id="{33672A32-0A9F-4562-A23A-BF06840C1ADC}"/>
              </a:ext>
            </a:extLst>
          </p:cNvPr>
          <p:cNvSpPr>
            <a:spLocks xmlns:a="http://schemas.openxmlformats.org/drawingml/2006/main" noGrp="1"/>
          </p:cNvSpPr>
          <p:nvPr/>
        </p:nvSpPr>
        <p:spPr>
          <a:xfrm xmlns:a="http://schemas.openxmlformats.org/drawingml/2006/main">
            <a:off x="866775"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контекст одлуке</a:t>
            </a:r>
          </a:p>
        </p:txBody>
      </p:sp>
      <p:sp>
        <p:nvSpPr>
          <p:cNvPr id="10" name="Rounded Rectangle 9">
            <a:extLst xmlns:a="http://schemas.openxmlformats.org/drawingml/2006/main">
              <a:ext uri="{FF2B5EF4-FFF2-40B4-BE49-F238E27FC236}">
                <a16:creationId xmlns:a16="http://schemas.microsoft.com/office/drawing/2014/main" id="{06B4E239-ED41-42AA-B3F2-F2124589C027}"/>
              </a:ext>
            </a:extLst>
          </p:cNvPr>
          <p:cNvSpPr>
            <a:spLocks xmlns:a="http://schemas.openxmlformats.org/drawingml/2006/main" noGrp="1"/>
          </p:cNvSpPr>
          <p:nvPr/>
        </p:nvSpPr>
        <p:spPr>
          <a:xfrm xmlns:a="http://schemas.openxmlformats.org/drawingml/2006/main">
            <a:off x="3481388" y="2419350"/>
            <a:ext cx="2471738" cy="1257300"/>
          </a:xfrm>
          <a:prstGeom xmlns:a="http://schemas.openxmlformats.org/drawingml/2006/main" prst="roundRect">
            <a:avLst>
              <a:gd name="adj" fmla="val 10606"/>
            </a:avLst>
          </a:prstGeom>
          <a:solidFill xmlns:a="http://schemas.openxmlformats.org/drawingml/2006/main">
            <a:srgbClr val="EDF8FA"/>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6CB68FA7-B6AC-4D7A-852D-750F00739780}"/>
              </a:ext>
            </a:extLst>
          </p:cNvPr>
          <p:cNvSpPr>
            <a:spLocks xmlns:a="http://schemas.openxmlformats.org/drawingml/2006/main" noGrp="1"/>
          </p:cNvSpPr>
          <p:nvPr/>
        </p:nvSpPr>
        <p:spPr>
          <a:xfrm xmlns:a="http://schemas.openxmlformats.org/drawingml/2006/main">
            <a:off x="3624263"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D47589B8-4AF0-403C-BCEC-270FF64D96A4}"/>
              </a:ext>
            </a:extLst>
          </p:cNvPr>
          <p:cNvSpPr>
            <a:spLocks xmlns:a="http://schemas.openxmlformats.org/drawingml/2006/main" noGrp="1"/>
          </p:cNvSpPr>
          <p:nvPr/>
        </p:nvSpPr>
        <p:spPr>
          <a:xfrm xmlns:a="http://schemas.openxmlformats.org/drawingml/2006/main">
            <a:off x="3614738"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Политика</a:t>
            </a:r>
          </a:p>
        </p:txBody>
      </p:sp>
      <p:sp>
        <p:nvSpPr>
          <p:cNvPr id="13" name="Rectangle 12">
            <a:extLst xmlns:a="http://schemas.openxmlformats.org/drawingml/2006/main">
              <a:ext uri="{FF2B5EF4-FFF2-40B4-BE49-F238E27FC236}">
                <a16:creationId xmlns:a16="http://schemas.microsoft.com/office/drawing/2014/main" id="{7859B108-6D01-48C7-A641-581B59A88B63}"/>
              </a:ext>
            </a:extLst>
          </p:cNvPr>
          <p:cNvSpPr>
            <a:spLocks xmlns:a="http://schemas.openxmlformats.org/drawingml/2006/main" noGrp="1"/>
          </p:cNvSpPr>
          <p:nvPr/>
        </p:nvSpPr>
        <p:spPr>
          <a:xfrm xmlns:a="http://schemas.openxmlformats.org/drawingml/2006/main">
            <a:off x="3624263"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правило које их тумачи</a:t>
            </a:r>
          </a:p>
        </p:txBody>
      </p:sp>
      <p:sp>
        <p:nvSpPr>
          <p:cNvPr id="14" name="Rounded Rectangle 13">
            <a:extLst xmlns:a="http://schemas.openxmlformats.org/drawingml/2006/main">
              <a:ext uri="{FF2B5EF4-FFF2-40B4-BE49-F238E27FC236}">
                <a16:creationId xmlns:a16="http://schemas.microsoft.com/office/drawing/2014/main" id="{4DF3C777-2235-4C9A-9984-28E0606B3D07}"/>
              </a:ext>
            </a:extLst>
          </p:cNvPr>
          <p:cNvSpPr>
            <a:spLocks xmlns:a="http://schemas.openxmlformats.org/drawingml/2006/main" noGrp="1"/>
          </p:cNvSpPr>
          <p:nvPr/>
        </p:nvSpPr>
        <p:spPr>
          <a:xfrm xmlns:a="http://schemas.openxmlformats.org/drawingml/2006/main">
            <a:off x="6238875" y="2419350"/>
            <a:ext cx="2471738" cy="1257300"/>
          </a:xfrm>
          <a:prstGeom xmlns:a="http://schemas.openxmlformats.org/drawingml/2006/main" prst="roundRect">
            <a:avLst>
              <a:gd name="adj" fmla="val 10606"/>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26C98B26-B5B2-4FF2-AC75-0A749AE33643}"/>
              </a:ext>
            </a:extLst>
          </p:cNvPr>
          <p:cNvSpPr>
            <a:spLocks xmlns:a="http://schemas.openxmlformats.org/drawingml/2006/main" noGrp="1"/>
          </p:cNvSpPr>
          <p:nvPr/>
        </p:nvSpPr>
        <p:spPr>
          <a:xfrm xmlns:a="http://schemas.openxmlformats.org/drawingml/2006/main">
            <a:off x="6381750"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CA61A6A2-819D-4450-AB30-5D58EE250F85}"/>
              </a:ext>
            </a:extLst>
          </p:cNvPr>
          <p:cNvSpPr>
            <a:spLocks xmlns:a="http://schemas.openxmlformats.org/drawingml/2006/main" noGrp="1"/>
          </p:cNvSpPr>
          <p:nvPr/>
        </p:nvSpPr>
        <p:spPr>
          <a:xfrm xmlns:a="http://schemas.openxmlformats.org/drawingml/2006/main">
            <a:off x="6372225"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Ризик</a:t>
            </a:r>
          </a:p>
        </p:txBody>
      </p:sp>
      <p:sp>
        <p:nvSpPr>
          <p:cNvPr id="17" name="Rectangle 16">
            <a:extLst xmlns:a="http://schemas.openxmlformats.org/drawingml/2006/main">
              <a:ext uri="{FF2B5EF4-FFF2-40B4-BE49-F238E27FC236}">
                <a16:creationId xmlns:a16="http://schemas.microsoft.com/office/drawing/2014/main" id="{68B4A160-169B-432D-972B-80BA69FC9CC5}"/>
              </a:ext>
            </a:extLst>
          </p:cNvPr>
          <p:cNvSpPr>
            <a:spLocks xmlns:a="http://schemas.openxmlformats.org/drawingml/2006/main" noGrp="1"/>
          </p:cNvSpPr>
          <p:nvPr/>
        </p:nvSpPr>
        <p:spPr>
          <a:xfrm xmlns:a="http://schemas.openxmlformats.org/drawingml/2006/main">
            <a:off x="6381750"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утицај и вероватноћа</a:t>
            </a:r>
          </a:p>
        </p:txBody>
      </p:sp>
      <p:sp>
        <p:nvSpPr>
          <p:cNvPr id="18" name="Rounded Rectangle 17">
            <a:extLst xmlns:a="http://schemas.openxmlformats.org/drawingml/2006/main">
              <a:ext uri="{FF2B5EF4-FFF2-40B4-BE49-F238E27FC236}">
                <a16:creationId xmlns:a16="http://schemas.microsoft.com/office/drawing/2014/main" id="{D092699A-17B5-41B6-BE81-E773F63CA584}"/>
              </a:ext>
            </a:extLst>
          </p:cNvPr>
          <p:cNvSpPr>
            <a:spLocks xmlns:a="http://schemas.openxmlformats.org/drawingml/2006/main" noGrp="1"/>
          </p:cNvSpPr>
          <p:nvPr/>
        </p:nvSpPr>
        <p:spPr>
          <a:xfrm xmlns:a="http://schemas.openxmlformats.org/drawingml/2006/main">
            <a:off x="8996363" y="2419350"/>
            <a:ext cx="2471738"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97327782-9664-45A2-BB61-8D4B6C8D7F89}"/>
              </a:ext>
            </a:extLst>
          </p:cNvPr>
          <p:cNvSpPr>
            <a:spLocks xmlns:a="http://schemas.openxmlformats.org/drawingml/2006/main" noGrp="1"/>
          </p:cNvSpPr>
          <p:nvPr/>
        </p:nvSpPr>
        <p:spPr>
          <a:xfrm xmlns:a="http://schemas.openxmlformats.org/drawingml/2006/main">
            <a:off x="9139238"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F33DFDF8-8271-4C10-8319-4BF6E7A307AC}"/>
              </a:ext>
            </a:extLst>
          </p:cNvPr>
          <p:cNvSpPr>
            <a:spLocks xmlns:a="http://schemas.openxmlformats.org/drawingml/2006/main" noGrp="1"/>
          </p:cNvSpPr>
          <p:nvPr/>
        </p:nvSpPr>
        <p:spPr>
          <a:xfrm xmlns:a="http://schemas.openxmlformats.org/drawingml/2006/main">
            <a:off x="9129713"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Преглед</a:t>
            </a:r>
          </a:p>
        </p:txBody>
      </p:sp>
      <p:sp>
        <p:nvSpPr>
          <p:cNvPr id="21" name="Rectangle 20">
            <a:extLst xmlns:a="http://schemas.openxmlformats.org/drawingml/2006/main">
              <a:ext uri="{FF2B5EF4-FFF2-40B4-BE49-F238E27FC236}">
                <a16:creationId xmlns:a16="http://schemas.microsoft.com/office/drawing/2014/main" id="{A58E084F-C2D0-42F4-9E0D-FDC6018EFB46}"/>
              </a:ext>
            </a:extLst>
          </p:cNvPr>
          <p:cNvSpPr>
            <a:spLocks xmlns:a="http://schemas.openxmlformats.org/drawingml/2006/main" noGrp="1"/>
          </p:cNvSpPr>
          <p:nvPr/>
        </p:nvSpPr>
        <p:spPr>
          <a:xfrm xmlns:a="http://schemas.openxmlformats.org/drawingml/2006/main">
            <a:off x="9139238"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потврда да одлука још важи</a:t>
            </a:r>
          </a:p>
        </p:txBody>
      </p:sp>
      <p:cxnSp>
        <p:nvCxnSpPr>
          <p:cNvPr id="221" name="Straight Arrow Connector 124"/>
          <p:cNvCxnSpPr>
            <a:stCxn xmlns:a="http://schemas.openxmlformats.org/drawingml/2006/main" id="6" idx="3"/>
            <a:endCxn xmlns:a="http://schemas.openxmlformats.org/drawingml/2006/main" id="10" idx="1"/>
          </p:cNvCxnSpPr>
          <p:nvPr/>
        </p:nvCxnSpPr>
        <p:spPr>
          <a:xfrm xmlns:a="http://schemas.openxmlformats.org/drawingml/2006/main">
            <a:off x="3195638" y="30480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2" name="Straight Arrow Connector 125"/>
          <p:cNvCxnSpPr>
            <a:stCxn xmlns:a="http://schemas.openxmlformats.org/drawingml/2006/main" id="10" idx="3"/>
            <a:endCxn xmlns:a="http://schemas.openxmlformats.org/drawingml/2006/main" id="14" idx="1"/>
          </p:cNvCxnSpPr>
          <p:nvPr/>
        </p:nvCxnSpPr>
        <p:spPr>
          <a:xfrm xmlns:a="http://schemas.openxmlformats.org/drawingml/2006/main">
            <a:off x="5953126" y="304800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3" name="Straight Arrow Connector 126"/>
          <p:cNvCxnSpPr>
            <a:stCxn xmlns:a="http://schemas.openxmlformats.org/drawingml/2006/main" id="14" idx="3"/>
            <a:endCxn xmlns:a="http://schemas.openxmlformats.org/drawingml/2006/main" id="18" idx="1"/>
          </p:cNvCxnSpPr>
          <p:nvPr/>
        </p:nvCxnSpPr>
        <p:spPr>
          <a:xfrm xmlns:a="http://schemas.openxmlformats.org/drawingml/2006/main">
            <a:off x="8710613" y="30480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710B3244-FE61-4A2C-A190-1B8886A4760F}"/>
              </a:ext>
            </a:extLst>
          </p:cNvPr>
          <p:cNvSpPr>
            <a:spLocks xmlns:a="http://schemas.openxmlformats.org/drawingml/2006/main" noGrp="1"/>
          </p:cNvSpPr>
          <p:nvPr/>
        </p:nvSpPr>
        <p:spPr>
          <a:xfrm xmlns:a="http://schemas.openxmlformats.org/drawingml/2006/main">
            <a:off x="1619250" y="4286250"/>
            <a:ext cx="8953500" cy="800100"/>
          </a:xfrm>
          <a:prstGeom xmlns:a="http://schemas.openxmlformats.org/drawingml/2006/main" prst="roundRect">
            <a:avLst>
              <a:gd name="adj" fmla="val 15476"/>
            </a:avLst>
          </a:prstGeom>
          <a:solidFill xmlns:a="http://schemas.openxmlformats.org/drawingml/2006/main">
            <a:srgbClr val="F4F6F9"/>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B52648D7-4EB0-4995-AF03-6093C3FBAC4B}"/>
              </a:ext>
            </a:extLst>
          </p:cNvPr>
          <p:cNvSpPr>
            <a:spLocks xmlns:a="http://schemas.openxmlformats.org/drawingml/2006/main" noGrp="1"/>
          </p:cNvSpPr>
          <p:nvPr/>
        </p:nvSpPr>
        <p:spPr>
          <a:xfrm xmlns:a="http://schemas.openxmlformats.org/drawingml/2006/main">
            <a:off x="1752600" y="4429125"/>
            <a:ext cx="57150" cy="5143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6" name="Rounded Rectangle 75">
            <a:extLst xmlns:a="http://schemas.openxmlformats.org/drawingml/2006/main">
              <a:ext uri="{FF2B5EF4-FFF2-40B4-BE49-F238E27FC236}">
                <a16:creationId xmlns:a16="http://schemas.microsoft.com/office/drawing/2014/main" id="{456735B9-866A-419C-BDBD-2012CE44E655}"/>
              </a:ext>
            </a:extLst>
          </p:cNvPr>
          <p:cNvSpPr>
            <a:spLocks xmlns:a="http://schemas.openxmlformats.org/drawingml/2006/main" noGrp="1"/>
          </p:cNvSpPr>
          <p:nvPr/>
        </p:nvSpPr>
        <p:spPr>
          <a:xfrm xmlns:a="http://schemas.openxmlformats.org/drawingml/2006/main">
            <a:off x="914400" y="4305300"/>
            <a:ext cx="10363200" cy="800100"/>
          </a:xfrm>
          <a:prstGeom xmlns:a="http://schemas.openxmlformats.org/drawingml/2006/main" prst="roundRect">
            <a:avLst>
              <a:gd name="adj" fmla="val 16667"/>
            </a:avLst>
          </a:prstGeom>
          <a:solidFill xmlns:a="http://schemas.openxmlformats.org/drawingml/2006/main">
            <a:srgbClr val="F7EFF1"/>
          </a:solidFill>
          <a:ln xmlns:a="http://schemas.openxmlformats.org/drawingml/2006/main" w="8573">
            <a:solidFill>
              <a:srgbClr val="DBC7CC"/>
            </a:solidFill>
            <a:prstDash val="solid"/>
          </a:ln>
        </p:spPr>
      </p:sp>
      <p:sp>
        <p:nvSpPr>
          <p:cNvPr id="77" name="Rounded Rectangle 76">
            <a:extLst xmlns:a="http://schemas.openxmlformats.org/drawingml/2006/main">
              <a:ext uri="{FF2B5EF4-FFF2-40B4-BE49-F238E27FC236}">
                <a16:creationId xmlns:a16="http://schemas.microsoft.com/office/drawing/2014/main" id="{31625E23-8E33-439B-921C-750ABE7C2701}"/>
              </a:ext>
            </a:extLst>
          </p:cNvPr>
          <p:cNvSpPr>
            <a:spLocks xmlns:a="http://schemas.openxmlformats.org/drawingml/2006/main" noGrp="1"/>
          </p:cNvSpPr>
          <p:nvPr/>
        </p:nvSpPr>
        <p:spPr>
          <a:xfrm xmlns:a="http://schemas.openxmlformats.org/drawingml/2006/main">
            <a:off x="1085850" y="4457700"/>
            <a:ext cx="57150" cy="4953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8" name="Rectangle 77">
            <a:extLst xmlns:a="http://schemas.openxmlformats.org/drawingml/2006/main">
              <a:ext uri="{FF2B5EF4-FFF2-40B4-BE49-F238E27FC236}">
                <a16:creationId xmlns:a16="http://schemas.microsoft.com/office/drawing/2014/main" id="{7AD33881-FA8C-42FD-A33C-7B99CECE4E48}"/>
              </a:ext>
            </a:extLst>
          </p:cNvPr>
          <p:cNvSpPr>
            <a:spLocks xmlns:a="http://schemas.openxmlformats.org/drawingml/2006/main" noGrp="1"/>
          </p:cNvSpPr>
          <p:nvPr/>
        </p:nvSpPr>
        <p:spPr>
          <a:xfrm xmlns:a="http://schemas.openxmlformats.org/drawingml/2006/main">
            <a:off x="1333500" y="44100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ЗАКЉУЧАК</a:t>
            </a:r>
          </a:p>
        </p:txBody>
      </p:sp>
      <p:sp>
        <p:nvSpPr>
          <p:cNvPr id="79" name="Rectangle 78">
            <a:extLst xmlns:a="http://schemas.openxmlformats.org/drawingml/2006/main">
              <a:ext uri="{FF2B5EF4-FFF2-40B4-BE49-F238E27FC236}">
                <a16:creationId xmlns:a16="http://schemas.microsoft.com/office/drawing/2014/main" id="{174D6E3B-6093-4B00-9656-DE3A115705BD}"/>
              </a:ext>
            </a:extLst>
          </p:cNvPr>
          <p:cNvSpPr>
            <a:spLocks xmlns:a="http://schemas.openxmlformats.org/drawingml/2006/main" noGrp="1"/>
          </p:cNvSpPr>
          <p:nvPr/>
        </p:nvSpPr>
        <p:spPr>
          <a:xfrm xmlns:a="http://schemas.openxmlformats.org/drawingml/2006/main">
            <a:off x="1333500" y="4638675"/>
            <a:ext cx="9639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Контекст даје прецизност одлуци, а редован преглед проверава да ли одлука и даље има смисла.</a:t>
            </a:r>
          </a:p>
        </p:txBody>
      </p:sp>
    </p:spTree>
    <p:extLst>
      <p:ext uri="{BB962C8B-B14F-4D97-AF65-F5344CB8AC3E}">
        <p14:creationId xmlns:p14="http://schemas.microsoft.com/office/powerpoint/2010/main" val="28733692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91048B31-209A-416A-A9CD-B73C17E1D000}"/>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DFFF0C5B-C110-4403-B1F4-8647DAF371D8}"/>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29A56109-B6DB-41AC-A9CB-41B536A1A104}"/>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4</a:t>
            </a:r>
          </a:p>
        </p:txBody>
      </p:sp>
      <p:sp>
        <p:nvSpPr>
          <p:cNvPr id="4" name="Rectangle 3">
            <a:extLst xmlns:a="http://schemas.openxmlformats.org/drawingml/2006/main">
              <a:ext uri="{FF2B5EF4-FFF2-40B4-BE49-F238E27FC236}">
                <a16:creationId xmlns:a16="http://schemas.microsoft.com/office/drawing/2014/main" id="{9C868987-B81C-4B58-93E8-53DACE55EF04}"/>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Атрибути</a:t>
            </a:r>
          </a:p>
        </p:txBody>
      </p:sp>
      <p:sp>
        <p:nvSpPr>
          <p:cNvPr id="5" name="Rectangle 4">
            <a:extLst xmlns:a="http://schemas.openxmlformats.org/drawingml/2006/main">
              <a:ext uri="{FF2B5EF4-FFF2-40B4-BE49-F238E27FC236}">
                <a16:creationId xmlns:a16="http://schemas.microsoft.com/office/drawing/2014/main" id="{FEE6A0B3-9A37-4B62-8070-7410698B1BD3}"/>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контекст одлуке</a:t>
            </a:r>
          </a:p>
        </p:txBody>
      </p:sp>
      <p:sp>
        <p:nvSpPr>
          <p:cNvPr id="6" name="Rounded Rectangle 5">
            <a:extLst xmlns:a="http://schemas.openxmlformats.org/drawingml/2006/main">
              <a:ext uri="{FF2B5EF4-FFF2-40B4-BE49-F238E27FC236}">
                <a16:creationId xmlns:a16="http://schemas.microsoft.com/office/drawing/2014/main" id="{ED2BE4D5-4123-4CB8-8524-2F015B336447}"/>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120BF318-057F-495A-B0F4-C96D49F37C09}"/>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A48ADF71-6AB5-443E-ABDF-35679F999A02}"/>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Атрибути описују контекст захтева: улогу, уређај, локацију и процењени ризик.</a:t>
            </a:r>
          </a:p>
        </p:txBody>
      </p:sp>
      <p:sp>
        <p:nvSpPr>
          <p:cNvPr id="9" name="Rectangle 8">
            <a:extLst xmlns:a="http://schemas.openxmlformats.org/drawingml/2006/main">
              <a:ext uri="{FF2B5EF4-FFF2-40B4-BE49-F238E27FC236}">
                <a16:creationId xmlns:a16="http://schemas.microsoft.com/office/drawing/2014/main" id="{701AB954-67A2-460D-9A21-D2271EF8DE01}"/>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77868CD6-99F9-48C8-8188-82FDEC38BCE1}"/>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0132F917-4553-47EE-842D-C2B7EE1ABF0C}"/>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9FCD1287-D39E-449B-B49F-095B061EE055}"/>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923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Атрибути се прикупљају из поузданих извора, а не из произвољног захтева клијента.</a:t>
            </a:r>
          </a:p>
        </p:txBody>
      </p:sp>
      <p:sp>
        <p:nvSpPr>
          <p:cNvPr id="13" name="Rectangle 12">
            <a:extLst xmlns:a="http://schemas.openxmlformats.org/drawingml/2006/main">
              <a:ext uri="{FF2B5EF4-FFF2-40B4-BE49-F238E27FC236}">
                <a16:creationId xmlns:a16="http://schemas.microsoft.com/office/drawing/2014/main" id="{EC4F138D-1EB9-4E56-A4ED-1F583068114E}"/>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162214DE-D45C-4F10-9F57-7452D40E67B1}"/>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CC91952D-3D99-40E4-B6A6-1ECBAE4985D3}"/>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6F782EB0-95B0-4642-9322-24B921342C81}"/>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Контекст одлуке се бележи довољно да каснији преглед разуме исход.</a:t>
            </a:r>
          </a:p>
        </p:txBody>
      </p:sp>
      <p:sp>
        <p:nvSpPr>
          <p:cNvPr id="17" name="Rectangle 16">
            <a:extLst xmlns:a="http://schemas.openxmlformats.org/drawingml/2006/main">
              <a:ext uri="{FF2B5EF4-FFF2-40B4-BE49-F238E27FC236}">
                <a16:creationId xmlns:a16="http://schemas.microsoft.com/office/drawing/2014/main" id="{22834903-80F6-4E17-928A-78C57CCC8197}"/>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EC305351-01EE-4CA6-80E2-6B3E3AA81A71}"/>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B1A0F4D9-8B26-467B-966E-7376E0F23556}"/>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805BC1F9-9203-417D-972F-576246560E89}"/>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9469D8A5-DF85-4BAD-B706-FDC344BA489C}"/>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FAF6B58E-DCFE-4F82-B081-82F891723E06}"/>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388DABF3-355D-45D5-958E-F43762D6D175}"/>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Коју одлуку не бисте смели да заснивате само на улози и који додатни атрибут јој даје смисао?</a:t>
            </a:r>
          </a:p>
        </p:txBody>
      </p:sp>
    </p:spTree>
    <p:extLst>
      <p:ext uri="{BB962C8B-B14F-4D97-AF65-F5344CB8AC3E}">
        <p14:creationId xmlns:p14="http://schemas.microsoft.com/office/powerpoint/2010/main" val="204392877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C7B4C1B1-90E5-4DFA-A719-162CF8479944}"/>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E0B53908-166A-49DF-8F8C-E67A96B52B23}"/>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21547D63-06EC-4C9D-B43B-EF27AB6B80DD}"/>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5</a:t>
            </a:r>
          </a:p>
        </p:txBody>
      </p:sp>
      <p:sp>
        <p:nvSpPr>
          <p:cNvPr id="4" name="Rectangle 3">
            <a:extLst xmlns:a="http://schemas.openxmlformats.org/drawingml/2006/main">
              <a:ext uri="{FF2B5EF4-FFF2-40B4-BE49-F238E27FC236}">
                <a16:creationId xmlns:a16="http://schemas.microsoft.com/office/drawing/2014/main" id="{96ECCFE5-F17A-4C6A-81E6-1D6CE2FE2562}"/>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Политика</a:t>
            </a:r>
          </a:p>
        </p:txBody>
      </p:sp>
      <p:sp>
        <p:nvSpPr>
          <p:cNvPr id="5" name="Rectangle 4">
            <a:extLst xmlns:a="http://schemas.openxmlformats.org/drawingml/2006/main">
              <a:ext uri="{FF2B5EF4-FFF2-40B4-BE49-F238E27FC236}">
                <a16:creationId xmlns:a16="http://schemas.microsoft.com/office/drawing/2014/main" id="{E0E4CA57-A794-466C-A332-760282909A1B}"/>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правило које их тумачи</a:t>
            </a:r>
          </a:p>
        </p:txBody>
      </p:sp>
      <p:sp>
        <p:nvSpPr>
          <p:cNvPr id="6" name="Rounded Rectangle 5">
            <a:extLst xmlns:a="http://schemas.openxmlformats.org/drawingml/2006/main">
              <a:ext uri="{FF2B5EF4-FFF2-40B4-BE49-F238E27FC236}">
                <a16:creationId xmlns:a16="http://schemas.microsoft.com/office/drawing/2014/main" id="{4F0936B8-8AC3-4082-B7C1-5D85D1914E81}"/>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E5D5C3A7-238E-4AD6-81F2-A5EE119C67C4}"/>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4692E640-97FA-4150-AF07-FE6DEDA25BC8}"/>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Политика је скуп малих правила; свако правило тумачи један атрибут.</a:t>
            </a:r>
          </a:p>
        </p:txBody>
      </p:sp>
      <p:sp>
        <p:nvSpPr>
          <p:cNvPr id="9" name="Rectangle 8">
            <a:extLst xmlns:a="http://schemas.openxmlformats.org/drawingml/2006/main">
              <a:ext uri="{FF2B5EF4-FFF2-40B4-BE49-F238E27FC236}">
                <a16:creationId xmlns:a16="http://schemas.microsoft.com/office/drawing/2014/main" id="{463DA584-4C69-4F0E-AF21-8A88D18D6F54}"/>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744C93B1-8BC4-4543-9773-3165BD40352D}"/>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B60545D8-2E96-402B-912A-6723B5B56B15}"/>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DE0E99A2-39D1-4C84-9F31-973ACBC1E7D6}"/>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119"/>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Прво правило које одбије захтев одређује исход и његов разлог.</a:t>
            </a:r>
          </a:p>
        </p:txBody>
      </p:sp>
      <p:sp>
        <p:nvSpPr>
          <p:cNvPr id="13" name="Rectangle 12">
            <a:extLst xmlns:a="http://schemas.openxmlformats.org/drawingml/2006/main">
              <a:ext uri="{FF2B5EF4-FFF2-40B4-BE49-F238E27FC236}">
                <a16:creationId xmlns:a16="http://schemas.microsoft.com/office/drawing/2014/main" id="{951B4EED-BB2D-4ED8-AD14-B3302D40D161}"/>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7D3F050F-7368-4D60-914D-5B4553985708}"/>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5BA7E83D-26AC-47D0-975C-6EDFE8FBF47F}"/>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833440D9-D984-450F-BD91-5096351C43AE}"/>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Иста политика за исти контекст увек даје исти исход, па се може тестирати.</a:t>
            </a:r>
          </a:p>
        </p:txBody>
      </p:sp>
      <p:sp>
        <p:nvSpPr>
          <p:cNvPr id="17" name="Rectangle 16">
            <a:extLst xmlns:a="http://schemas.openxmlformats.org/drawingml/2006/main">
              <a:ext uri="{FF2B5EF4-FFF2-40B4-BE49-F238E27FC236}">
                <a16:creationId xmlns:a16="http://schemas.microsoft.com/office/drawing/2014/main" id="{2FBB4104-E6E2-4E2B-8A52-29E5521F2C0C}"/>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0D290BA0-86ED-4F33-B014-0135C108A930}"/>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1C16CECC-2308-408E-AC37-5095735976C2}"/>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88245921-794E-46FC-818A-C1BE9FFDFF28}"/>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E17377B5-F9D5-435D-914C-83FBC438035D}"/>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CDA67F68-5F21-42E3-B728-9C9B8CE25342}"/>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24377CC6-89A0-4E06-B1AA-AD8B6B189910}"/>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Која правила чине вашу политику и којим редом се проверавају?</a:t>
            </a:r>
          </a:p>
        </p:txBody>
      </p:sp>
    </p:spTree>
    <p:extLst>
      <p:ext uri="{BB962C8B-B14F-4D97-AF65-F5344CB8AC3E}">
        <p14:creationId xmlns:p14="http://schemas.microsoft.com/office/powerpoint/2010/main" val="204329168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7C8C95B7-EB89-42BE-8B32-19C9BBC72F5D}"/>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58C8787E-A833-4F7C-A088-A7E4782449DB}"/>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1A389046-35B8-417C-AF7B-2520D9B06E38}"/>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6</a:t>
            </a:r>
          </a:p>
        </p:txBody>
      </p:sp>
      <p:sp>
        <p:nvSpPr>
          <p:cNvPr id="4" name="Rectangle 3">
            <a:extLst xmlns:a="http://schemas.openxmlformats.org/drawingml/2006/main">
              <a:ext uri="{FF2B5EF4-FFF2-40B4-BE49-F238E27FC236}">
                <a16:creationId xmlns:a16="http://schemas.microsoft.com/office/drawing/2014/main" id="{C56891D3-42C6-4AB6-A6C2-3402419448BE}"/>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Ризик</a:t>
            </a:r>
          </a:p>
        </p:txBody>
      </p:sp>
      <p:sp>
        <p:nvSpPr>
          <p:cNvPr id="5" name="Rectangle 4">
            <a:extLst xmlns:a="http://schemas.openxmlformats.org/drawingml/2006/main">
              <a:ext uri="{FF2B5EF4-FFF2-40B4-BE49-F238E27FC236}">
                <a16:creationId xmlns:a16="http://schemas.microsoft.com/office/drawing/2014/main" id="{3CB47F01-F969-4C95-8753-65B975136F46}"/>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утицај и вероватноћа</a:t>
            </a:r>
          </a:p>
        </p:txBody>
      </p:sp>
      <p:sp>
        <p:nvSpPr>
          <p:cNvPr id="6" name="Rounded Rectangle 5">
            <a:extLst xmlns:a="http://schemas.openxmlformats.org/drawingml/2006/main">
              <a:ext uri="{FF2B5EF4-FFF2-40B4-BE49-F238E27FC236}">
                <a16:creationId xmlns:a16="http://schemas.microsoft.com/office/drawing/2014/main" id="{2BA4B342-9BE4-4B80-B586-B0763FBC388C}"/>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006C8292-3876-4485-BB75-01CCE4AA7690}"/>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A4A97072-0CC1-4B09-8F7C-0A9AEAB965DB}"/>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Процењени ризик је атрибут одлуке: изнад прага приступ се одбија и поред исправне улоге.</a:t>
            </a:r>
          </a:p>
        </p:txBody>
      </p:sp>
      <p:sp>
        <p:nvSpPr>
          <p:cNvPr id="9" name="Rectangle 8">
            <a:extLst xmlns:a="http://schemas.openxmlformats.org/drawingml/2006/main">
              <a:ext uri="{FF2B5EF4-FFF2-40B4-BE49-F238E27FC236}">
                <a16:creationId xmlns:a16="http://schemas.microsoft.com/office/drawing/2014/main" id="{F0F137F6-7D92-4159-95E0-CF7E6663A5D1}"/>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C7238E5C-B039-4BF4-B3BC-2A58CBF7B4FC}"/>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72FB6837-0E43-4DCF-A4A3-986A9CDC0DF9}"/>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19D5D787-4998-4DE1-8FF3-D528E32EF75E}"/>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Преостали ризик има власника који га прихвата на ограничено време.</a:t>
            </a:r>
          </a:p>
        </p:txBody>
      </p:sp>
      <p:sp>
        <p:nvSpPr>
          <p:cNvPr id="13" name="Rectangle 12">
            <a:extLst xmlns:a="http://schemas.openxmlformats.org/drawingml/2006/main">
              <a:ext uri="{FF2B5EF4-FFF2-40B4-BE49-F238E27FC236}">
                <a16:creationId xmlns:a16="http://schemas.microsoft.com/office/drawing/2014/main" id="{3B3A44BF-6EE6-4082-A75E-D24CD19E8C11}"/>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DEC794AA-0873-4848-ABF8-D4404E51B9A4}"/>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06E813E9-FB12-4683-BAF3-87A13B9F6403}"/>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C4D84F66-FB17-4780-8D51-80C580C0A8F7}"/>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Регистар ризика чува сценарио, контролу, власника и датум следећег прегледа.</a:t>
            </a:r>
          </a:p>
        </p:txBody>
      </p:sp>
      <p:sp>
        <p:nvSpPr>
          <p:cNvPr id="17" name="Rectangle 16">
            <a:extLst xmlns:a="http://schemas.openxmlformats.org/drawingml/2006/main">
              <a:ext uri="{FF2B5EF4-FFF2-40B4-BE49-F238E27FC236}">
                <a16:creationId xmlns:a16="http://schemas.microsoft.com/office/drawing/2014/main" id="{2B3F83DC-D71F-4C90-95E8-E198237A9FE8}"/>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0BB7B633-7AF2-4E4B-8E2C-91A8DE6F1A28}"/>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8F757930-65A5-4FE0-AA45-D3573AD5FCEE}"/>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D373F5E2-8B63-4EA0-81B9-B9B34807BA7C}"/>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C3101C13-E919-4A8E-9B65-535575EEB646}"/>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52BB2DA9-5E21-4045-9CFF-6B8BCFA016FA}"/>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70B931A5-F627-49D8-84F6-165AD9A9FDC4}"/>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Који праг ризика у вашем систему мења одлуку и ко је одговоран за ту вредност?</a:t>
            </a:r>
          </a:p>
        </p:txBody>
      </p:sp>
    </p:spTree>
    <p:extLst>
      <p:ext uri="{BB962C8B-B14F-4D97-AF65-F5344CB8AC3E}">
        <p14:creationId xmlns:p14="http://schemas.microsoft.com/office/powerpoint/2010/main" val="91780132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C0EC0895-CFE8-4CFF-B67D-8DD82B2025E2}"/>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7FF593C9-C7F5-4039-AF55-67FEE279B303}"/>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A05108C3-EE2A-44BD-B7CC-9E2A85780E62}"/>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7</a:t>
            </a:r>
          </a:p>
        </p:txBody>
      </p:sp>
      <p:sp>
        <p:nvSpPr>
          <p:cNvPr id="4" name="Rectangle 3">
            <a:extLst xmlns:a="http://schemas.openxmlformats.org/drawingml/2006/main">
              <a:ext uri="{FF2B5EF4-FFF2-40B4-BE49-F238E27FC236}">
                <a16:creationId xmlns:a16="http://schemas.microsoft.com/office/drawing/2014/main" id="{B6D0955B-B387-4231-8612-E57AEADDA410}"/>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Преглед</a:t>
            </a:r>
          </a:p>
        </p:txBody>
      </p:sp>
      <p:sp>
        <p:nvSpPr>
          <p:cNvPr id="5" name="Rectangle 4">
            <a:extLst xmlns:a="http://schemas.openxmlformats.org/drawingml/2006/main">
              <a:ext uri="{FF2B5EF4-FFF2-40B4-BE49-F238E27FC236}">
                <a16:creationId xmlns:a16="http://schemas.microsoft.com/office/drawing/2014/main" id="{1AFDBCE7-35D5-4B07-97EC-73C3EB51F272}"/>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потврда да одлука још важи</a:t>
            </a:r>
          </a:p>
        </p:txBody>
      </p:sp>
      <p:sp>
        <p:nvSpPr>
          <p:cNvPr id="6" name="Rounded Rectangle 5">
            <a:extLst xmlns:a="http://schemas.openxmlformats.org/drawingml/2006/main">
              <a:ext uri="{FF2B5EF4-FFF2-40B4-BE49-F238E27FC236}">
                <a16:creationId xmlns:a16="http://schemas.microsoft.com/office/drawing/2014/main" id="{E3B07B59-8DF3-455F-9FC4-03CDF9AFB0B6}"/>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83FA8B93-FB6D-40FC-A28C-311EE7F3DFF6}"/>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264202E9-7064-41FE-B130-339B62448646}"/>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Свака одлука носи рок следећег прегледа; одобрење не важи неограничено.</a:t>
            </a:r>
          </a:p>
        </p:txBody>
      </p:sp>
      <p:sp>
        <p:nvSpPr>
          <p:cNvPr id="9" name="Rectangle 8">
            <a:extLst xmlns:a="http://schemas.openxmlformats.org/drawingml/2006/main">
              <a:ext uri="{FF2B5EF4-FFF2-40B4-BE49-F238E27FC236}">
                <a16:creationId xmlns:a16="http://schemas.microsoft.com/office/drawing/2014/main" id="{6DA751C6-B6FC-442F-A978-80B86A53672E}"/>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66B82FB9-FC51-4F7E-AEEB-6F8B64C42194}"/>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98449AA0-5EF0-401A-97CF-BC6E65AA2F68}"/>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F4E0F4D8-0A9E-4B27-84E5-D6913A5C160C}"/>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Одбијање због високог ризика тражи ранију поновну процену него редовно одобрење.</a:t>
            </a:r>
          </a:p>
        </p:txBody>
      </p:sp>
      <p:sp>
        <p:nvSpPr>
          <p:cNvPr id="13" name="Rectangle 12">
            <a:extLst xmlns:a="http://schemas.openxmlformats.org/drawingml/2006/main">
              <a:ext uri="{FF2B5EF4-FFF2-40B4-BE49-F238E27FC236}">
                <a16:creationId xmlns:a16="http://schemas.microsoft.com/office/drawing/2014/main" id="{35776D3B-FD17-4690-9D9F-24D4D6559DA3}"/>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FC2CD951-D9EF-44A7-BD28-39CB8EEE3127}"/>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B798700D-9D94-4606-809E-2E594237F18B}"/>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5B6579D0-EED8-48AB-8C4D-44C0C9885743}"/>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Преглед приступа оставља запис ко је потврдио право и на основу чега.</a:t>
            </a:r>
          </a:p>
        </p:txBody>
      </p:sp>
      <p:sp>
        <p:nvSpPr>
          <p:cNvPr id="17" name="Rectangle 16">
            <a:extLst xmlns:a="http://schemas.openxmlformats.org/drawingml/2006/main">
              <a:ext uri="{FF2B5EF4-FFF2-40B4-BE49-F238E27FC236}">
                <a16:creationId xmlns:a16="http://schemas.microsoft.com/office/drawing/2014/main" id="{FF0EA533-C27B-424F-939C-A4089AC700FE}"/>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C5E90771-A8F4-4DD1-907B-1E9BD0AA450F}"/>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E2970B68-3BBD-42C8-B9CF-9491EDBDD9B8}"/>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44E2A22D-B897-4A86-AE2D-8D19EDB33D18}"/>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A9401554-D1D7-4066-8ED6-7E6F6AA5392B}"/>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5C598AC5-3170-4DCC-AC1F-1E0E81812341}"/>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E57D5C6E-4013-4426-80CC-660DF098EFF0}"/>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Колико дуго у вашем систему важи одобрење пре него што се одлука поново провери?</a:t>
            </a:r>
          </a:p>
        </p:txBody>
      </p:sp>
    </p:spTree>
    <p:extLst>
      <p:ext uri="{BB962C8B-B14F-4D97-AF65-F5344CB8AC3E}">
        <p14:creationId xmlns:p14="http://schemas.microsoft.com/office/powerpoint/2010/main" val="210203350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Rectangle 24">
            <a:extLst xmlns:a="http://schemas.openxmlformats.org/drawingml/2006/main">
              <a:ext uri="{FF2B5EF4-FFF2-40B4-BE49-F238E27FC236}">
                <a16:creationId xmlns:a16="http://schemas.microsoft.com/office/drawing/2014/main" id="{88F8AA91-A30E-4CE7-A891-395161BFC4C5}"/>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0AB558F4-5404-491E-9B09-600B447A9FAD}"/>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D29816D4-D006-4D7D-9731-20FB747EE2C0}"/>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8</a:t>
            </a:r>
          </a:p>
        </p:txBody>
      </p:sp>
      <p:sp>
        <p:nvSpPr>
          <p:cNvPr id="4" name="Rectangle 3">
            <a:extLst xmlns:a="http://schemas.openxmlformats.org/drawingml/2006/main">
              <a:ext uri="{FF2B5EF4-FFF2-40B4-BE49-F238E27FC236}">
                <a16:creationId xmlns:a16="http://schemas.microsoft.com/office/drawing/2014/main" id="{A2CFC93C-6438-48D7-B5D7-C557CE360B8D}"/>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RBAC и ABAC у истој одлуци</a:t>
            </a:r>
          </a:p>
        </p:txBody>
      </p:sp>
      <p:sp>
        <p:nvSpPr>
          <p:cNvPr id="5" name="Rectangle 4">
            <a:extLst xmlns:a="http://schemas.openxmlformats.org/drawingml/2006/main">
              <a:ext uri="{FF2B5EF4-FFF2-40B4-BE49-F238E27FC236}">
                <a16:creationId xmlns:a16="http://schemas.microsoft.com/office/drawing/2014/main" id="{07A39032-353E-4E64-889A-B79E1DB75E5A}"/>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Поређење приказује функцију сваког елемента и ограничење његове самосталне примене.</a:t>
            </a:r>
          </a:p>
        </p:txBody>
      </p:sp>
      <p:sp>
        <p:nvSpPr>
          <p:cNvPr id="6" name="Rectangle 5">
            <a:extLst xmlns:a="http://schemas.openxmlformats.org/drawingml/2006/main">
              <a:ext uri="{FF2B5EF4-FFF2-40B4-BE49-F238E27FC236}">
                <a16:creationId xmlns:a16="http://schemas.microsoft.com/office/drawing/2014/main" id="{4040509D-A339-4442-B9EC-71FE767E02CE}"/>
              </a:ext>
            </a:extLst>
          </p:cNvPr>
          <p:cNvSpPr>
            <a:spLocks xmlns:a="http://schemas.openxmlformats.org/drawingml/2006/main" noGrp="1"/>
          </p:cNvSpPr>
          <p:nvPr/>
        </p:nvSpPr>
        <p:spPr>
          <a:xfrm xmlns:a="http://schemas.openxmlformats.org/drawingml/2006/main">
            <a:off x="876300" y="2047875"/>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Приступ</a:t>
            </a:r>
          </a:p>
        </p:txBody>
      </p:sp>
      <p:sp>
        <p:nvSpPr>
          <p:cNvPr id="7" name="Rectangle 6">
            <a:extLst xmlns:a="http://schemas.openxmlformats.org/drawingml/2006/main">
              <a:ext uri="{FF2B5EF4-FFF2-40B4-BE49-F238E27FC236}">
                <a16:creationId xmlns:a16="http://schemas.microsoft.com/office/drawing/2014/main" id="{02D5839A-62DF-4BEE-8A1E-EBBA380A027A}"/>
              </a:ext>
            </a:extLst>
          </p:cNvPr>
          <p:cNvSpPr>
            <a:spLocks xmlns:a="http://schemas.openxmlformats.org/drawingml/2006/main" noGrp="1"/>
          </p:cNvSpPr>
          <p:nvPr/>
        </p:nvSpPr>
        <p:spPr>
          <a:xfrm xmlns:a="http://schemas.openxmlformats.org/drawingml/2006/main">
            <a:off x="3638550" y="2047875"/>
            <a:ext cx="3619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Снага</a:t>
            </a:r>
          </a:p>
        </p:txBody>
      </p:sp>
      <p:sp>
        <p:nvSpPr>
          <p:cNvPr id="8" name="Rectangle 7">
            <a:extLst xmlns:a="http://schemas.openxmlformats.org/drawingml/2006/main">
              <a:ext uri="{FF2B5EF4-FFF2-40B4-BE49-F238E27FC236}">
                <a16:creationId xmlns:a16="http://schemas.microsoft.com/office/drawing/2014/main" id="{34A5363A-D8CF-4776-A535-99BA9893AD60}"/>
              </a:ext>
            </a:extLst>
          </p:cNvPr>
          <p:cNvSpPr>
            <a:spLocks xmlns:a="http://schemas.openxmlformats.org/drawingml/2006/main" noGrp="1"/>
          </p:cNvSpPr>
          <p:nvPr/>
        </p:nvSpPr>
        <p:spPr>
          <a:xfrm xmlns:a="http://schemas.openxmlformats.org/drawingml/2006/main">
            <a:off x="7543800" y="2047875"/>
            <a:ext cx="3771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Ограничење</a:t>
            </a:r>
          </a:p>
        </p:txBody>
      </p:sp>
      <p:sp>
        <p:nvSpPr>
          <p:cNvPr id="9" name="Rounded Rectangle 8">
            <a:extLst xmlns:a="http://schemas.openxmlformats.org/drawingml/2006/main">
              <a:ext uri="{FF2B5EF4-FFF2-40B4-BE49-F238E27FC236}">
                <a16:creationId xmlns:a16="http://schemas.microsoft.com/office/drawing/2014/main" id="{FFD8BD8B-BA83-4579-BD3A-55A056756CE0}"/>
              </a:ext>
            </a:extLst>
          </p:cNvPr>
          <p:cNvSpPr>
            <a:spLocks xmlns:a="http://schemas.openxmlformats.org/drawingml/2006/main" noGrp="1"/>
          </p:cNvSpPr>
          <p:nvPr/>
        </p:nvSpPr>
        <p:spPr>
          <a:xfrm xmlns:a="http://schemas.openxmlformats.org/drawingml/2006/main">
            <a:off x="800100" y="2362200"/>
            <a:ext cx="10591800" cy="609600"/>
          </a:xfrm>
          <a:prstGeom xmlns:a="http://schemas.openxmlformats.org/drawingml/2006/main" prst="roundRect">
            <a:avLst>
              <a:gd name="adj" fmla="val 17188"/>
            </a:avLst>
          </a:prstGeom>
          <a:solidFill xmlns:a="http://schemas.openxmlformats.org/drawingml/2006/main">
            <a:srgbClr val="F4F6F9"/>
          </a:solidFill>
          <a:ln xmlns:a="http://schemas.openxmlformats.org/drawingml/2006/main" w="9525">
            <a:solidFill>
              <a:srgbClr val="D7DEE8"/>
            </a:solidFill>
            <a:prstDash val="solid"/>
          </a:ln>
        </p:spPr>
      </p:sp>
      <p:sp>
        <p:nvSpPr>
          <p:cNvPr id="10" name="Rectangle 9">
            <a:extLst xmlns:a="http://schemas.openxmlformats.org/drawingml/2006/main">
              <a:ext uri="{FF2B5EF4-FFF2-40B4-BE49-F238E27FC236}">
                <a16:creationId xmlns:a16="http://schemas.microsoft.com/office/drawing/2014/main" id="{EC017D53-9C5D-438A-9395-7D6C44024DEC}"/>
              </a:ext>
            </a:extLst>
          </p:cNvPr>
          <p:cNvSpPr>
            <a:spLocks xmlns:a="http://schemas.openxmlformats.org/drawingml/2006/main" noGrp="1"/>
          </p:cNvSpPr>
          <p:nvPr/>
        </p:nvSpPr>
        <p:spPr>
          <a:xfrm xmlns:a="http://schemas.openxmlformats.org/drawingml/2006/main">
            <a:off x="952500" y="248602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748092"/>
                </a:solidFill>
                <a:latin typeface="Aptos"/>
                <a:ea typeface="Aptos"/>
                <a:cs typeface="Aptos"/>
              </a:defRPr>
            </a:pPr>
            <a:r>
              <a:rPr sz="1275" b="1">
                <a:solidFill>
                  <a:srgbClr val="748092"/>
                </a:solidFill>
                <a:latin typeface="Aptos"/>
                <a:ea typeface="Aptos"/>
                <a:cs typeface="Aptos"/>
              </a:rPr>
              <a:t>RBAC</a:t>
            </a:r>
          </a:p>
        </p:txBody>
      </p:sp>
      <p:sp>
        <p:nvSpPr>
          <p:cNvPr id="11" name="Rectangle 10">
            <a:extLst xmlns:a="http://schemas.openxmlformats.org/drawingml/2006/main">
              <a:ext uri="{FF2B5EF4-FFF2-40B4-BE49-F238E27FC236}">
                <a16:creationId xmlns:a16="http://schemas.microsoft.com/office/drawing/2014/main" id="{031FF4D6-2943-48E5-815C-B2111A4607ED}"/>
              </a:ext>
            </a:extLst>
          </p:cNvPr>
          <p:cNvSpPr>
            <a:spLocks xmlns:a="http://schemas.openxmlformats.org/drawingml/2006/main" noGrp="1"/>
          </p:cNvSpPr>
          <p:nvPr/>
        </p:nvSpPr>
        <p:spPr>
          <a:xfrm xmlns:a="http://schemas.openxmlformats.org/drawingml/2006/main">
            <a:off x="3638550" y="24288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Јасне, стабилне одговорности.</a:t>
            </a:r>
          </a:p>
        </p:txBody>
      </p:sp>
      <p:sp>
        <p:nvSpPr>
          <p:cNvPr id="12" name="Rectangle 11">
            <a:extLst xmlns:a="http://schemas.openxmlformats.org/drawingml/2006/main">
              <a:ext uri="{FF2B5EF4-FFF2-40B4-BE49-F238E27FC236}">
                <a16:creationId xmlns:a16="http://schemas.microsoft.com/office/drawing/2014/main" id="{93946625-C64E-401A-A287-6B2F0F852F31}"/>
              </a:ext>
            </a:extLst>
          </p:cNvPr>
          <p:cNvSpPr>
            <a:spLocks xmlns:a="http://schemas.openxmlformats.org/drawingml/2006/main" noGrp="1"/>
          </p:cNvSpPr>
          <p:nvPr/>
        </p:nvSpPr>
        <p:spPr>
          <a:xfrm xmlns:a="http://schemas.openxmlformats.org/drawingml/2006/main">
            <a:off x="7543800" y="24288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Тешко изражава време, власништво и стање.</a:t>
            </a:r>
          </a:p>
        </p:txBody>
      </p:sp>
      <p:sp>
        <p:nvSpPr>
          <p:cNvPr id="13" name="Rounded Rectangle 12">
            <a:extLst xmlns:a="http://schemas.openxmlformats.org/drawingml/2006/main">
              <a:ext uri="{FF2B5EF4-FFF2-40B4-BE49-F238E27FC236}">
                <a16:creationId xmlns:a16="http://schemas.microsoft.com/office/drawing/2014/main" id="{C6C86AC0-6B85-4291-AFD5-E845EEE801E8}"/>
              </a:ext>
            </a:extLst>
          </p:cNvPr>
          <p:cNvSpPr>
            <a:spLocks xmlns:a="http://schemas.openxmlformats.org/drawingml/2006/main" noGrp="1"/>
          </p:cNvSpPr>
          <p:nvPr/>
        </p:nvSpPr>
        <p:spPr>
          <a:xfrm xmlns:a="http://schemas.openxmlformats.org/drawingml/2006/main">
            <a:off x="800100" y="3105150"/>
            <a:ext cx="10591800" cy="609600"/>
          </a:xfrm>
          <a:prstGeom xmlns:a="http://schemas.openxmlformats.org/drawingml/2006/main" prst="roundRect">
            <a:avLst>
              <a:gd name="adj" fmla="val 17188"/>
            </a:avLst>
          </a:prstGeom>
          <a:solidFill xmlns:a="http://schemas.openxmlformats.org/drawingml/2006/main">
            <a:srgbClr val="F7EFF1"/>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C422ADF4-4AC3-42DF-B4F5-1D1A71C84EFD}"/>
              </a:ext>
            </a:extLst>
          </p:cNvPr>
          <p:cNvSpPr>
            <a:spLocks xmlns:a="http://schemas.openxmlformats.org/drawingml/2006/main" noGrp="1"/>
          </p:cNvSpPr>
          <p:nvPr/>
        </p:nvSpPr>
        <p:spPr>
          <a:xfrm xmlns:a="http://schemas.openxmlformats.org/drawingml/2006/main">
            <a:off x="952500" y="322897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2F5EF5"/>
                </a:solidFill>
                <a:latin typeface="Aptos"/>
                <a:ea typeface="Aptos"/>
                <a:cs typeface="Aptos"/>
              </a:defRPr>
            </a:pPr>
            <a:r>
              <a:rPr sz="1275" b="1">
                <a:solidFill>
                  <a:srgbClr val="7A2636"/>
                </a:solidFill>
                <a:latin typeface="Aptos"/>
                <a:ea typeface="Aptos"/>
                <a:cs typeface="Aptos"/>
              </a:rPr>
              <a:t>ABAC</a:t>
            </a:r>
          </a:p>
        </p:txBody>
      </p:sp>
      <p:sp>
        <p:nvSpPr>
          <p:cNvPr id="15" name="Rectangle 14">
            <a:extLst xmlns:a="http://schemas.openxmlformats.org/drawingml/2006/main">
              <a:ext uri="{FF2B5EF4-FFF2-40B4-BE49-F238E27FC236}">
                <a16:creationId xmlns:a16="http://schemas.microsoft.com/office/drawing/2014/main" id="{46742323-3144-4C31-9713-7C250047A1E9}"/>
              </a:ext>
            </a:extLst>
          </p:cNvPr>
          <p:cNvSpPr>
            <a:spLocks xmlns:a="http://schemas.openxmlformats.org/drawingml/2006/main" noGrp="1"/>
          </p:cNvSpPr>
          <p:nvPr/>
        </p:nvSpPr>
        <p:spPr>
          <a:xfrm xmlns:a="http://schemas.openxmlformats.org/drawingml/2006/main">
            <a:off x="3638550" y="31718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Користи богат контекст одлуке.</a:t>
            </a:r>
          </a:p>
        </p:txBody>
      </p:sp>
      <p:sp>
        <p:nvSpPr>
          <p:cNvPr id="16" name="Rectangle 15">
            <a:extLst xmlns:a="http://schemas.openxmlformats.org/drawingml/2006/main">
              <a:ext uri="{FF2B5EF4-FFF2-40B4-BE49-F238E27FC236}">
                <a16:creationId xmlns:a16="http://schemas.microsoft.com/office/drawing/2014/main" id="{DAC57574-9F32-48B0-9A7A-8F3D1288BE98}"/>
              </a:ext>
            </a:extLst>
          </p:cNvPr>
          <p:cNvSpPr>
            <a:spLocks xmlns:a="http://schemas.openxmlformats.org/drawingml/2006/main" noGrp="1"/>
          </p:cNvSpPr>
          <p:nvPr/>
        </p:nvSpPr>
        <p:spPr>
          <a:xfrm xmlns:a="http://schemas.openxmlformats.org/drawingml/2006/main">
            <a:off x="7543800" y="31718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Тражи поуздане атрибуте и читљива правила.</a:t>
            </a:r>
          </a:p>
        </p:txBody>
      </p:sp>
      <p:sp>
        <p:nvSpPr>
          <p:cNvPr id="17" name="Rounded Rectangle 16">
            <a:extLst xmlns:a="http://schemas.openxmlformats.org/drawingml/2006/main">
              <a:ext uri="{FF2B5EF4-FFF2-40B4-BE49-F238E27FC236}">
                <a16:creationId xmlns:a16="http://schemas.microsoft.com/office/drawing/2014/main" id="{83E4F62B-E9CC-4CA1-9514-2152E7DEB5FF}"/>
              </a:ext>
            </a:extLst>
          </p:cNvPr>
          <p:cNvSpPr>
            <a:spLocks xmlns:a="http://schemas.openxmlformats.org/drawingml/2006/main" noGrp="1"/>
          </p:cNvSpPr>
          <p:nvPr/>
        </p:nvSpPr>
        <p:spPr>
          <a:xfrm xmlns:a="http://schemas.openxmlformats.org/drawingml/2006/main">
            <a:off x="800100" y="3848100"/>
            <a:ext cx="10591800" cy="609600"/>
          </a:xfrm>
          <a:prstGeom xmlns:a="http://schemas.openxmlformats.org/drawingml/2006/main" prst="roundRect">
            <a:avLst>
              <a:gd name="adj" fmla="val 17188"/>
            </a:avLst>
          </a:prstGeom>
          <a:solidFill xmlns:a="http://schemas.openxmlformats.org/drawingml/2006/main">
            <a:srgbClr val="F7F4F5"/>
          </a:solidFill>
          <a:ln xmlns:a="http://schemas.openxmlformats.org/drawingml/2006/main" w="9525">
            <a:solidFill>
              <a:srgbClr val="D7DEE8"/>
            </a:solidFill>
            <a:prstDash val="solid"/>
          </a:ln>
        </p:spPr>
      </p:sp>
      <p:sp>
        <p:nvSpPr>
          <p:cNvPr id="18" name="Rectangle 17">
            <a:extLst xmlns:a="http://schemas.openxmlformats.org/drawingml/2006/main">
              <a:ext uri="{FF2B5EF4-FFF2-40B4-BE49-F238E27FC236}">
                <a16:creationId xmlns:a16="http://schemas.microsoft.com/office/drawing/2014/main" id="{F5C7FE12-A063-4797-BEA1-0450B0471C9D}"/>
              </a:ext>
            </a:extLst>
          </p:cNvPr>
          <p:cNvSpPr>
            <a:spLocks xmlns:a="http://schemas.openxmlformats.org/drawingml/2006/main" noGrp="1"/>
          </p:cNvSpPr>
          <p:nvPr/>
        </p:nvSpPr>
        <p:spPr>
          <a:xfrm xmlns:a="http://schemas.openxmlformats.org/drawingml/2006/main">
            <a:off x="952500" y="397192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7651D4"/>
                </a:solidFill>
                <a:latin typeface="Aptos"/>
                <a:ea typeface="Aptos"/>
                <a:cs typeface="Aptos"/>
              </a:defRPr>
            </a:pPr>
            <a:r>
              <a:rPr sz="1275" b="1">
                <a:solidFill>
                  <a:srgbClr val="7A2636"/>
                </a:solidFill>
                <a:latin typeface="Aptos"/>
                <a:ea typeface="Aptos"/>
                <a:cs typeface="Aptos"/>
              </a:rPr>
              <a:t>Комбинација</a:t>
            </a:r>
          </a:p>
        </p:txBody>
      </p:sp>
      <p:sp>
        <p:nvSpPr>
          <p:cNvPr id="19" name="Rectangle 18">
            <a:extLst xmlns:a="http://schemas.openxmlformats.org/drawingml/2006/main">
              <a:ext uri="{FF2B5EF4-FFF2-40B4-BE49-F238E27FC236}">
                <a16:creationId xmlns:a16="http://schemas.microsoft.com/office/drawing/2014/main" id="{9D57759B-4150-45F1-86EC-72E90B94B91B}"/>
              </a:ext>
            </a:extLst>
          </p:cNvPr>
          <p:cNvSpPr>
            <a:spLocks xmlns:a="http://schemas.openxmlformats.org/drawingml/2006/main" noGrp="1"/>
          </p:cNvSpPr>
          <p:nvPr/>
        </p:nvSpPr>
        <p:spPr>
          <a:xfrm xmlns:a="http://schemas.openxmlformats.org/drawingml/2006/main">
            <a:off x="3638550" y="39147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Улога даје основу, атрибути прецизирају.</a:t>
            </a:r>
          </a:p>
        </p:txBody>
      </p:sp>
      <p:sp>
        <p:nvSpPr>
          <p:cNvPr id="20" name="Rectangle 19">
            <a:extLst xmlns:a="http://schemas.openxmlformats.org/drawingml/2006/main">
              <a:ext uri="{FF2B5EF4-FFF2-40B4-BE49-F238E27FC236}">
                <a16:creationId xmlns:a16="http://schemas.microsoft.com/office/drawing/2014/main" id="{5B308EAC-6E06-4D1F-96DD-1B18F6109191}"/>
              </a:ext>
            </a:extLst>
          </p:cNvPr>
          <p:cNvSpPr>
            <a:spLocks xmlns:a="http://schemas.openxmlformats.org/drawingml/2006/main" noGrp="1"/>
          </p:cNvSpPr>
          <p:nvPr/>
        </p:nvSpPr>
        <p:spPr>
          <a:xfrm xmlns:a="http://schemas.openxmlformats.org/drawingml/2006/main">
            <a:off x="7543800" y="39147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Потребно је пажљиво објаснити приоритет правила.</a:t>
            </a:r>
          </a:p>
        </p:txBody>
      </p:sp>
      <p:sp>
        <p:nvSpPr>
          <p:cNvPr id="21" name="Rounded Rectangle 20">
            <a:extLst xmlns:a="http://schemas.openxmlformats.org/drawingml/2006/main">
              <a:ext uri="{FF2B5EF4-FFF2-40B4-BE49-F238E27FC236}">
                <a16:creationId xmlns:a16="http://schemas.microsoft.com/office/drawing/2014/main" id="{BC5E44BE-A51F-4435-9478-3AAE79F0D252}"/>
              </a:ext>
            </a:extLst>
          </p:cNvPr>
          <p:cNvSpPr>
            <a:spLocks xmlns:a="http://schemas.openxmlformats.org/drawingml/2006/main" noGrp="1"/>
          </p:cNvSpPr>
          <p:nvPr/>
        </p:nvSpPr>
        <p:spPr>
          <a:xfrm xmlns:a="http://schemas.openxmlformats.org/drawingml/2006/main">
            <a:off x="800100" y="4591050"/>
            <a:ext cx="10591800" cy="609600"/>
          </a:xfrm>
          <a:prstGeom xmlns:a="http://schemas.openxmlformats.org/drawingml/2006/main" prst="roundRect">
            <a:avLst>
              <a:gd name="adj" fmla="val 17188"/>
            </a:avLst>
          </a:prstGeom>
          <a:solidFill xmlns:a="http://schemas.openxmlformats.org/drawingml/2006/main">
            <a:srgbClr val="EDF8F2"/>
          </a:solidFill>
          <a:ln xmlns:a="http://schemas.openxmlformats.org/drawingml/2006/main" w="9525">
            <a:solidFill>
              <a:srgbClr val="D7DEE8"/>
            </a:solidFill>
            <a:prstDash val="solid"/>
          </a:ln>
        </p:spPr>
      </p:sp>
      <p:sp>
        <p:nvSpPr>
          <p:cNvPr id="22" name="Rectangle 21">
            <a:extLst xmlns:a="http://schemas.openxmlformats.org/drawingml/2006/main">
              <a:ext uri="{FF2B5EF4-FFF2-40B4-BE49-F238E27FC236}">
                <a16:creationId xmlns:a16="http://schemas.microsoft.com/office/drawing/2014/main" id="{88CEBBFD-20A8-444A-89F4-847DFB07FBDB}"/>
              </a:ext>
            </a:extLst>
          </p:cNvPr>
          <p:cNvSpPr>
            <a:spLocks xmlns:a="http://schemas.openxmlformats.org/drawingml/2006/main" noGrp="1"/>
          </p:cNvSpPr>
          <p:nvPr/>
        </p:nvSpPr>
        <p:spPr>
          <a:xfrm xmlns:a="http://schemas.openxmlformats.org/drawingml/2006/main">
            <a:off x="952500" y="471487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38A5B"/>
                </a:solidFill>
                <a:latin typeface="Aptos"/>
                <a:ea typeface="Aptos"/>
                <a:cs typeface="Aptos"/>
              </a:defRPr>
            </a:pPr>
            <a:r>
              <a:rPr sz="1275" b="1">
                <a:solidFill>
                  <a:srgbClr val="138A5B"/>
                </a:solidFill>
                <a:latin typeface="Aptos"/>
                <a:ea typeface="Aptos"/>
                <a:cs typeface="Aptos"/>
              </a:rPr>
              <a:t>SoD</a:t>
            </a:r>
          </a:p>
        </p:txBody>
      </p:sp>
      <p:sp>
        <p:nvSpPr>
          <p:cNvPr id="23" name="Rectangle 22">
            <a:extLst xmlns:a="http://schemas.openxmlformats.org/drawingml/2006/main">
              <a:ext uri="{FF2B5EF4-FFF2-40B4-BE49-F238E27FC236}">
                <a16:creationId xmlns:a16="http://schemas.microsoft.com/office/drawing/2014/main" id="{FE0D4270-95F8-4743-BED6-BD27D2D3C338}"/>
              </a:ext>
            </a:extLst>
          </p:cNvPr>
          <p:cNvSpPr>
            <a:spLocks xmlns:a="http://schemas.openxmlformats.org/drawingml/2006/main" noGrp="1"/>
          </p:cNvSpPr>
          <p:nvPr/>
        </p:nvSpPr>
        <p:spPr>
          <a:xfrm xmlns:a="http://schemas.openxmlformats.org/drawingml/2006/main">
            <a:off x="3638550" y="46577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Спречава ризичне комбинације права.</a:t>
            </a:r>
          </a:p>
        </p:txBody>
      </p:sp>
      <p:sp>
        <p:nvSpPr>
          <p:cNvPr id="24" name="Rectangle 23">
            <a:extLst xmlns:a="http://schemas.openxmlformats.org/drawingml/2006/main">
              <a:ext uri="{FF2B5EF4-FFF2-40B4-BE49-F238E27FC236}">
                <a16:creationId xmlns:a16="http://schemas.microsoft.com/office/drawing/2014/main" id="{D73626F6-7D42-4744-8FDC-A7D49AEB5E26}"/>
              </a:ext>
            </a:extLst>
          </p:cNvPr>
          <p:cNvSpPr>
            <a:spLocks xmlns:a="http://schemas.openxmlformats.org/drawingml/2006/main" noGrp="1"/>
          </p:cNvSpPr>
          <p:nvPr/>
        </p:nvSpPr>
        <p:spPr>
          <a:xfrm xmlns:a="http://schemas.openxmlformats.org/drawingml/2006/main">
            <a:off x="7543800" y="46577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Мора се проверавати кроз ефективна права.</a:t>
            </a:r>
          </a:p>
        </p:txBody>
      </p:sp>
    </p:spTree>
    <p:extLst>
      <p:ext uri="{BB962C8B-B14F-4D97-AF65-F5344CB8AC3E}">
        <p14:creationId xmlns:p14="http://schemas.microsoft.com/office/powerpoint/2010/main" val="154483051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ectangle 27">
            <a:extLst xmlns:a="http://schemas.openxmlformats.org/drawingml/2006/main">
              <a:ext uri="{FF2B5EF4-FFF2-40B4-BE49-F238E27FC236}">
                <a16:creationId xmlns:a16="http://schemas.microsoft.com/office/drawing/2014/main" id="{B1817B6E-F2DB-4E5C-BA4E-88D3B75CBDDF}"/>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8605C3B8-C963-48DC-B534-C34D30D891BF}"/>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A2897430-637C-4EB5-A94F-0FD4DB768AB2}"/>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9</a:t>
            </a:r>
          </a:p>
        </p:txBody>
      </p:sp>
      <p:sp>
        <p:nvSpPr>
          <p:cNvPr id="4" name="Rectangle 3">
            <a:extLst xmlns:a="http://schemas.openxmlformats.org/drawingml/2006/main">
              <a:ext uri="{FF2B5EF4-FFF2-40B4-BE49-F238E27FC236}">
                <a16:creationId xmlns:a16="http://schemas.microsoft.com/office/drawing/2014/main" id="{8CB883DB-CC8A-4C79-86BC-4AFFAA4F321F}"/>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Модел контекстуалне одлуке</a:t>
            </a:r>
          </a:p>
        </p:txBody>
      </p:sp>
      <p:sp>
        <p:nvSpPr>
          <p:cNvPr id="5" name="Rectangle 4">
            <a:extLst xmlns:a="http://schemas.openxmlformats.org/drawingml/2006/main">
              <a:ext uri="{FF2B5EF4-FFF2-40B4-BE49-F238E27FC236}">
                <a16:creationId xmlns:a16="http://schemas.microsoft.com/office/drawing/2014/main" id="{62D7143E-50C9-48B6-BFD6-20E9A10054A8}"/>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Контекст даје прецизност одлуци, а редован преглед проверава да ли одлука и даље има смисла.</a:t>
            </a:r>
          </a:p>
        </p:txBody>
      </p:sp>
      <p:sp>
        <p:nvSpPr>
          <p:cNvPr id="6" name="Rounded Rectangle 5">
            <a:extLst xmlns:a="http://schemas.openxmlformats.org/drawingml/2006/main">
              <a:ext uri="{FF2B5EF4-FFF2-40B4-BE49-F238E27FC236}">
                <a16:creationId xmlns:a16="http://schemas.microsoft.com/office/drawing/2014/main" id="{E13726A7-6119-447A-A4CD-1C09549A45A4}"/>
              </a:ext>
            </a:extLst>
          </p:cNvPr>
          <p:cNvSpPr>
            <a:spLocks xmlns:a="http://schemas.openxmlformats.org/drawingml/2006/main" noGrp="1"/>
          </p:cNvSpPr>
          <p:nvPr/>
        </p:nvSpPr>
        <p:spPr>
          <a:xfrm xmlns:a="http://schemas.openxmlformats.org/drawingml/2006/main">
            <a:off x="742950" y="2571750"/>
            <a:ext cx="2462213"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E78289B5-3450-431C-8F60-253DC9A2E9D3}"/>
              </a:ext>
            </a:extLst>
          </p:cNvPr>
          <p:cNvSpPr>
            <a:spLocks xmlns:a="http://schemas.openxmlformats.org/drawingml/2006/main" noGrp="1"/>
          </p:cNvSpPr>
          <p:nvPr/>
        </p:nvSpPr>
        <p:spPr>
          <a:xfrm xmlns:a="http://schemas.openxmlformats.org/drawingml/2006/main">
            <a:off x="885825"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30C8E62F-8C9F-4888-A4B4-C6B9029AAEB7}"/>
              </a:ext>
            </a:extLst>
          </p:cNvPr>
          <p:cNvSpPr>
            <a:spLocks xmlns:a="http://schemas.openxmlformats.org/drawingml/2006/main" noGrp="1"/>
          </p:cNvSpPr>
          <p:nvPr/>
        </p:nvSpPr>
        <p:spPr>
          <a:xfrm xmlns:a="http://schemas.openxmlformats.org/drawingml/2006/main">
            <a:off x="876300"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Поуздани атрибути</a:t>
            </a:r>
          </a:p>
        </p:txBody>
      </p:sp>
      <p:sp>
        <p:nvSpPr>
          <p:cNvPr id="9" name="Rectangle 8">
            <a:extLst xmlns:a="http://schemas.openxmlformats.org/drawingml/2006/main">
              <a:ext uri="{FF2B5EF4-FFF2-40B4-BE49-F238E27FC236}">
                <a16:creationId xmlns:a16="http://schemas.microsoft.com/office/drawing/2014/main" id="{A74ADA88-3A85-45FF-BE57-AC38AB60698F}"/>
              </a:ext>
            </a:extLst>
          </p:cNvPr>
          <p:cNvSpPr>
            <a:spLocks xmlns:a="http://schemas.openxmlformats.org/drawingml/2006/main" noGrp="1"/>
          </p:cNvSpPr>
          <p:nvPr/>
        </p:nvSpPr>
        <p:spPr>
          <a:xfrm xmlns:a="http://schemas.openxmlformats.org/drawingml/2006/main">
            <a:off x="885825"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ко, где, када и над чим</a:t>
            </a:r>
          </a:p>
        </p:txBody>
      </p:sp>
      <p:sp>
        <p:nvSpPr>
          <p:cNvPr id="10" name="Rounded Rectangle 9">
            <a:extLst xmlns:a="http://schemas.openxmlformats.org/drawingml/2006/main">
              <a:ext uri="{FF2B5EF4-FFF2-40B4-BE49-F238E27FC236}">
                <a16:creationId xmlns:a16="http://schemas.microsoft.com/office/drawing/2014/main" id="{5546F35C-9BEF-47EF-B0DC-3324A6BF065D}"/>
              </a:ext>
            </a:extLst>
          </p:cNvPr>
          <p:cNvSpPr>
            <a:spLocks xmlns:a="http://schemas.openxmlformats.org/drawingml/2006/main" noGrp="1"/>
          </p:cNvSpPr>
          <p:nvPr/>
        </p:nvSpPr>
        <p:spPr>
          <a:xfrm xmlns:a="http://schemas.openxmlformats.org/drawingml/2006/main">
            <a:off x="3490913" y="2571750"/>
            <a:ext cx="2462213" cy="1257300"/>
          </a:xfrm>
          <a:prstGeom xmlns:a="http://schemas.openxmlformats.org/drawingml/2006/main" prst="roundRect">
            <a:avLst>
              <a:gd name="adj" fmla="val 10606"/>
            </a:avLst>
          </a:prstGeom>
          <a:solidFill xmlns:a="http://schemas.openxmlformats.org/drawingml/2006/main">
            <a:srgbClr val="EDF8FA"/>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3D0753B9-FF72-4FC6-9630-78A8C7FC4C31}"/>
              </a:ext>
            </a:extLst>
          </p:cNvPr>
          <p:cNvSpPr>
            <a:spLocks xmlns:a="http://schemas.openxmlformats.org/drawingml/2006/main" noGrp="1"/>
          </p:cNvSpPr>
          <p:nvPr/>
        </p:nvSpPr>
        <p:spPr>
          <a:xfrm xmlns:a="http://schemas.openxmlformats.org/drawingml/2006/main">
            <a:off x="3633788"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F94DDEBE-FFC0-43C3-B337-99B2A670709E}"/>
              </a:ext>
            </a:extLst>
          </p:cNvPr>
          <p:cNvSpPr>
            <a:spLocks xmlns:a="http://schemas.openxmlformats.org/drawingml/2006/main" noGrp="1"/>
          </p:cNvSpPr>
          <p:nvPr/>
        </p:nvSpPr>
        <p:spPr>
          <a:xfrm xmlns:a="http://schemas.openxmlformats.org/drawingml/2006/main">
            <a:off x="3624263"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Политика</a:t>
            </a:r>
          </a:p>
        </p:txBody>
      </p:sp>
      <p:sp>
        <p:nvSpPr>
          <p:cNvPr id="13" name="Rectangle 12">
            <a:extLst xmlns:a="http://schemas.openxmlformats.org/drawingml/2006/main">
              <a:ext uri="{FF2B5EF4-FFF2-40B4-BE49-F238E27FC236}">
                <a16:creationId xmlns:a16="http://schemas.microsoft.com/office/drawing/2014/main" id="{340C3B96-DF9E-485B-A01E-C613019B1ECE}"/>
              </a:ext>
            </a:extLst>
          </p:cNvPr>
          <p:cNvSpPr>
            <a:spLocks xmlns:a="http://schemas.openxmlformats.org/drawingml/2006/main" noGrp="1"/>
          </p:cNvSpPr>
          <p:nvPr/>
        </p:nvSpPr>
        <p:spPr>
          <a:xfrm xmlns:a="http://schemas.openxmlformats.org/drawingml/2006/main">
            <a:off x="3633788"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правило приступа</a:t>
            </a:r>
          </a:p>
        </p:txBody>
      </p:sp>
      <p:sp>
        <p:nvSpPr>
          <p:cNvPr id="14" name="Rounded Rectangle 13">
            <a:extLst xmlns:a="http://schemas.openxmlformats.org/drawingml/2006/main">
              <a:ext uri="{FF2B5EF4-FFF2-40B4-BE49-F238E27FC236}">
                <a16:creationId xmlns:a16="http://schemas.microsoft.com/office/drawing/2014/main" id="{8B90322C-1B78-4481-BAF8-BC755B74A4F3}"/>
              </a:ext>
            </a:extLst>
          </p:cNvPr>
          <p:cNvSpPr>
            <a:spLocks xmlns:a="http://schemas.openxmlformats.org/drawingml/2006/main" noGrp="1"/>
          </p:cNvSpPr>
          <p:nvPr/>
        </p:nvSpPr>
        <p:spPr>
          <a:xfrm xmlns:a="http://schemas.openxmlformats.org/drawingml/2006/main">
            <a:off x="6238875" y="2571750"/>
            <a:ext cx="2462213" cy="1257300"/>
          </a:xfrm>
          <a:prstGeom xmlns:a="http://schemas.openxmlformats.org/drawingml/2006/main" prst="roundRect">
            <a:avLst>
              <a:gd name="adj" fmla="val 10606"/>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854B6BB2-10EA-4802-B664-AB5E98466327}"/>
              </a:ext>
            </a:extLst>
          </p:cNvPr>
          <p:cNvSpPr>
            <a:spLocks xmlns:a="http://schemas.openxmlformats.org/drawingml/2006/main" noGrp="1"/>
          </p:cNvSpPr>
          <p:nvPr/>
        </p:nvSpPr>
        <p:spPr>
          <a:xfrm xmlns:a="http://schemas.openxmlformats.org/drawingml/2006/main">
            <a:off x="6381750"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48C715E1-8142-4773-97A5-4E88B93A7EA0}"/>
              </a:ext>
            </a:extLst>
          </p:cNvPr>
          <p:cNvSpPr>
            <a:spLocks xmlns:a="http://schemas.openxmlformats.org/drawingml/2006/main" noGrp="1"/>
          </p:cNvSpPr>
          <p:nvPr/>
        </p:nvSpPr>
        <p:spPr>
          <a:xfrm xmlns:a="http://schemas.openxmlformats.org/drawingml/2006/main">
            <a:off x="6372225"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Ризик</a:t>
            </a:r>
          </a:p>
        </p:txBody>
      </p:sp>
      <p:sp>
        <p:nvSpPr>
          <p:cNvPr id="17" name="Rectangle 16">
            <a:extLst xmlns:a="http://schemas.openxmlformats.org/drawingml/2006/main">
              <a:ext uri="{FF2B5EF4-FFF2-40B4-BE49-F238E27FC236}">
                <a16:creationId xmlns:a16="http://schemas.microsoft.com/office/drawing/2014/main" id="{9068B0C4-EFB9-47AC-9EDD-28B1E14DADA4}"/>
              </a:ext>
            </a:extLst>
          </p:cNvPr>
          <p:cNvSpPr>
            <a:spLocks xmlns:a="http://schemas.openxmlformats.org/drawingml/2006/main" noGrp="1"/>
          </p:cNvSpPr>
          <p:nvPr/>
        </p:nvSpPr>
        <p:spPr>
          <a:xfrm xmlns:a="http://schemas.openxmlformats.org/drawingml/2006/main">
            <a:off x="6381750"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0491"/>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утицај и преостала изложеност</a:t>
            </a:r>
          </a:p>
        </p:txBody>
      </p:sp>
      <p:sp>
        <p:nvSpPr>
          <p:cNvPr id="18" name="Rounded Rectangle 17">
            <a:extLst xmlns:a="http://schemas.openxmlformats.org/drawingml/2006/main">
              <a:ext uri="{FF2B5EF4-FFF2-40B4-BE49-F238E27FC236}">
                <a16:creationId xmlns:a16="http://schemas.microsoft.com/office/drawing/2014/main" id="{08BEE530-12E6-47FD-938D-5E2D2161CDDB}"/>
              </a:ext>
            </a:extLst>
          </p:cNvPr>
          <p:cNvSpPr>
            <a:spLocks xmlns:a="http://schemas.openxmlformats.org/drawingml/2006/main" noGrp="1"/>
          </p:cNvSpPr>
          <p:nvPr/>
        </p:nvSpPr>
        <p:spPr>
          <a:xfrm xmlns:a="http://schemas.openxmlformats.org/drawingml/2006/main">
            <a:off x="8986838" y="2571750"/>
            <a:ext cx="2462213"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0BCC88DE-F73D-4354-BAB1-C9591857EDCD}"/>
              </a:ext>
            </a:extLst>
          </p:cNvPr>
          <p:cNvSpPr>
            <a:spLocks xmlns:a="http://schemas.openxmlformats.org/drawingml/2006/main" noGrp="1"/>
          </p:cNvSpPr>
          <p:nvPr/>
        </p:nvSpPr>
        <p:spPr>
          <a:xfrm xmlns:a="http://schemas.openxmlformats.org/drawingml/2006/main">
            <a:off x="9129713"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6A226957-A444-4C39-BC41-B902C60B91A9}"/>
              </a:ext>
            </a:extLst>
          </p:cNvPr>
          <p:cNvSpPr>
            <a:spLocks xmlns:a="http://schemas.openxmlformats.org/drawingml/2006/main" noGrp="1"/>
          </p:cNvSpPr>
          <p:nvPr/>
        </p:nvSpPr>
        <p:spPr>
          <a:xfrm xmlns:a="http://schemas.openxmlformats.org/drawingml/2006/main">
            <a:off x="9120188"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Преглед</a:t>
            </a:r>
          </a:p>
        </p:txBody>
      </p:sp>
      <p:sp>
        <p:nvSpPr>
          <p:cNvPr id="21" name="Rectangle 20">
            <a:extLst xmlns:a="http://schemas.openxmlformats.org/drawingml/2006/main">
              <a:ext uri="{FF2B5EF4-FFF2-40B4-BE49-F238E27FC236}">
                <a16:creationId xmlns:a16="http://schemas.microsoft.com/office/drawing/2014/main" id="{0FAA19DD-DFD1-4C2B-B39D-D1ABF978047E}"/>
              </a:ext>
            </a:extLst>
          </p:cNvPr>
          <p:cNvSpPr>
            <a:spLocks xmlns:a="http://schemas.openxmlformats.org/drawingml/2006/main" noGrp="1"/>
          </p:cNvSpPr>
          <p:nvPr/>
        </p:nvSpPr>
        <p:spPr>
          <a:xfrm xmlns:a="http://schemas.openxmlformats.org/drawingml/2006/main">
            <a:off x="9129713"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479"/>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потврда или повлачење права</a:t>
            </a:r>
          </a:p>
        </p:txBody>
      </p:sp>
      <p:cxnSp>
        <p:nvCxnSpPr>
          <p:cNvPr id="221" name="Straight Arrow Connector 124"/>
          <p:cNvCxnSpPr>
            <a:stCxn xmlns:a="http://schemas.openxmlformats.org/drawingml/2006/main" id="6" idx="3"/>
            <a:endCxn xmlns:a="http://schemas.openxmlformats.org/drawingml/2006/main" id="10" idx="1"/>
          </p:cNvCxnSpPr>
          <p:nvPr/>
        </p:nvCxnSpPr>
        <p:spPr>
          <a:xfrm xmlns:a="http://schemas.openxmlformats.org/drawingml/2006/main">
            <a:off x="3205163" y="32004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2" name="Straight Arrow Connector 125"/>
          <p:cNvCxnSpPr>
            <a:stCxn xmlns:a="http://schemas.openxmlformats.org/drawingml/2006/main" id="10" idx="3"/>
            <a:endCxn xmlns:a="http://schemas.openxmlformats.org/drawingml/2006/main" id="14" idx="1"/>
          </p:cNvCxnSpPr>
          <p:nvPr/>
        </p:nvCxnSpPr>
        <p:spPr>
          <a:xfrm xmlns:a="http://schemas.openxmlformats.org/drawingml/2006/main">
            <a:off x="5953126" y="320040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3" name="Straight Arrow Connector 126"/>
          <p:cNvCxnSpPr>
            <a:stCxn xmlns:a="http://schemas.openxmlformats.org/drawingml/2006/main" id="14" idx="3"/>
            <a:endCxn xmlns:a="http://schemas.openxmlformats.org/drawingml/2006/main" id="18" idx="1"/>
          </p:cNvCxnSpPr>
          <p:nvPr/>
        </p:nvCxnSpPr>
        <p:spPr>
          <a:xfrm xmlns:a="http://schemas.openxmlformats.org/drawingml/2006/main">
            <a:off x="8701088" y="32004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2A7B5B4D-2273-4D27-A178-3E6CB6269FDB}"/>
              </a:ext>
            </a:extLst>
          </p:cNvPr>
          <p:cNvSpPr>
            <a:spLocks xmlns:a="http://schemas.openxmlformats.org/drawingml/2006/main" noGrp="1"/>
          </p:cNvSpPr>
          <p:nvPr/>
        </p:nvSpPr>
        <p:spPr>
          <a:xfrm xmlns:a="http://schemas.openxmlformats.org/drawingml/2006/main">
            <a:off x="1714500" y="4419600"/>
            <a:ext cx="8763000" cy="742950"/>
          </a:xfrm>
          <a:prstGeom xmlns:a="http://schemas.openxmlformats.org/drawingml/2006/main" prst="roundRect">
            <a:avLst>
              <a:gd name="adj" fmla="val 16667"/>
            </a:avLst>
          </a:prstGeom>
          <a:solidFill xmlns:a="http://schemas.openxmlformats.org/drawingml/2006/main">
            <a:srgbClr val="F7EFF1"/>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CB366007-3F40-432C-BE35-25A30904F3F6}"/>
              </a:ext>
            </a:extLst>
          </p:cNvPr>
          <p:cNvSpPr>
            <a:spLocks xmlns:a="http://schemas.openxmlformats.org/drawingml/2006/main" noGrp="1"/>
          </p:cNvSpPr>
          <p:nvPr/>
        </p:nvSpPr>
        <p:spPr>
          <a:xfrm xmlns:a="http://schemas.openxmlformats.org/drawingml/2006/main">
            <a:off x="1847850" y="4562475"/>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6" name="Rounded Rectangle 75">
            <a:extLst xmlns:a="http://schemas.openxmlformats.org/drawingml/2006/main">
              <a:ext uri="{FF2B5EF4-FFF2-40B4-BE49-F238E27FC236}">
                <a16:creationId xmlns:a16="http://schemas.microsoft.com/office/drawing/2014/main" id="{7CA5A8AE-8B92-4F28-A48E-E9EF3D510DB3}"/>
              </a:ext>
            </a:extLst>
          </p:cNvPr>
          <p:cNvSpPr>
            <a:spLocks xmlns:a="http://schemas.openxmlformats.org/drawingml/2006/main" noGrp="1"/>
          </p:cNvSpPr>
          <p:nvPr/>
        </p:nvSpPr>
        <p:spPr>
          <a:xfrm xmlns:a="http://schemas.openxmlformats.org/drawingml/2006/main">
            <a:off x="914400" y="443865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77" name="Rounded Rectangle 76">
            <a:extLst xmlns:a="http://schemas.openxmlformats.org/drawingml/2006/main">
              <a:ext uri="{FF2B5EF4-FFF2-40B4-BE49-F238E27FC236}">
                <a16:creationId xmlns:a16="http://schemas.microsoft.com/office/drawing/2014/main" id="{66AE94AA-BEF8-4C00-A761-CF714E8E83B8}"/>
              </a:ext>
            </a:extLst>
          </p:cNvPr>
          <p:cNvSpPr>
            <a:spLocks xmlns:a="http://schemas.openxmlformats.org/drawingml/2006/main" noGrp="1"/>
          </p:cNvSpPr>
          <p:nvPr/>
        </p:nvSpPr>
        <p:spPr>
          <a:xfrm xmlns:a="http://schemas.openxmlformats.org/drawingml/2006/main">
            <a:off x="1085850" y="459105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8" name="Rectangle 77">
            <a:extLst xmlns:a="http://schemas.openxmlformats.org/drawingml/2006/main">
              <a:ext uri="{FF2B5EF4-FFF2-40B4-BE49-F238E27FC236}">
                <a16:creationId xmlns:a16="http://schemas.microsoft.com/office/drawing/2014/main" id="{C1317162-75DC-4E31-8909-8FAB7FD31CC5}"/>
              </a:ext>
            </a:extLst>
          </p:cNvPr>
          <p:cNvSpPr>
            <a:spLocks xmlns:a="http://schemas.openxmlformats.org/drawingml/2006/main" noGrp="1"/>
          </p:cNvSpPr>
          <p:nvPr/>
        </p:nvSpPr>
        <p:spPr>
          <a:xfrm xmlns:a="http://schemas.openxmlformats.org/drawingml/2006/main">
            <a:off x="1333500" y="454342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ЕЛЕМЕНТИ АНАЛИЗЕ</a:t>
            </a:r>
          </a:p>
        </p:txBody>
      </p:sp>
      <p:sp>
        <p:nvSpPr>
          <p:cNvPr id="79" name="Rectangle 78">
            <a:extLst xmlns:a="http://schemas.openxmlformats.org/drawingml/2006/main">
              <a:ext uri="{FF2B5EF4-FFF2-40B4-BE49-F238E27FC236}">
                <a16:creationId xmlns:a16="http://schemas.microsoft.com/office/drawing/2014/main" id="{663B158E-5238-45CC-922A-B0587283D6E2}"/>
              </a:ext>
            </a:extLst>
          </p:cNvPr>
          <p:cNvSpPr>
            <a:spLocks xmlns:a="http://schemas.openxmlformats.org/drawingml/2006/main" noGrp="1"/>
          </p:cNvSpPr>
          <p:nvPr/>
        </p:nvSpPr>
        <p:spPr>
          <a:xfrm xmlns:a="http://schemas.openxmlformats.org/drawingml/2006/main">
            <a:off x="1333500" y="477202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Анализа сваког корака обухвата покретача, место одлуке и траг који остаје после исхода.</a:t>
            </a:r>
          </a:p>
        </p:txBody>
      </p:sp>
    </p:spTree>
    <p:extLst>
      <p:ext uri="{BB962C8B-B14F-4D97-AF65-F5344CB8AC3E}">
        <p14:creationId xmlns:p14="http://schemas.microsoft.com/office/powerpoint/2010/main" val="174233127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Rectangle 21">
            <a:extLst xmlns:a="http://schemas.openxmlformats.org/drawingml/2006/main">
              <a:ext uri="{FF2B5EF4-FFF2-40B4-BE49-F238E27FC236}">
                <a16:creationId xmlns:a16="http://schemas.microsoft.com/office/drawing/2014/main" id="{A85E3B20-415C-4CCE-9FC2-0854B4ACA451}"/>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1E2A94D8-056D-44B9-95A4-66FF33580455}"/>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B8E6FB8B-92A3-48D5-A6B8-B08E92819711}"/>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10</a:t>
            </a:r>
          </a:p>
        </p:txBody>
      </p:sp>
      <p:sp>
        <p:nvSpPr>
          <p:cNvPr id="4" name="Rectangle 3">
            <a:extLst xmlns:a="http://schemas.openxmlformats.org/drawingml/2006/main">
              <a:ext uri="{FF2B5EF4-FFF2-40B4-BE49-F238E27FC236}">
                <a16:creationId xmlns:a16="http://schemas.microsoft.com/office/drawing/2014/main" id="{28309D67-25DC-47B7-9EE5-CE264825518B}"/>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Од ризика до одлуке о прихватању</a:t>
            </a:r>
          </a:p>
        </p:txBody>
      </p:sp>
      <p:sp>
        <p:nvSpPr>
          <p:cNvPr id="5" name="Rectangle 4">
            <a:extLst xmlns:a="http://schemas.openxmlformats.org/drawingml/2006/main">
              <a:ext uri="{FF2B5EF4-FFF2-40B4-BE49-F238E27FC236}">
                <a16:creationId xmlns:a16="http://schemas.microsoft.com/office/drawing/2014/main" id="{62104378-4F15-4FEF-AE7A-BFB7BC277570}"/>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Процес приказује улазе, место одлуке и доказ који остаје после исхода.</a:t>
            </a:r>
          </a:p>
        </p:txBody>
      </p:sp>
      <p:sp>
        <p:nvSpPr>
          <p:cNvPr id="6" name="Rounded Rectangle 5">
            <a:extLst xmlns:a="http://schemas.openxmlformats.org/drawingml/2006/main">
              <a:ext uri="{FF2B5EF4-FFF2-40B4-BE49-F238E27FC236}">
                <a16:creationId xmlns:a16="http://schemas.microsoft.com/office/drawing/2014/main" id="{331B1CB0-F106-4BC9-A623-09FB91B066B4}"/>
              </a:ext>
            </a:extLst>
          </p:cNvPr>
          <p:cNvSpPr>
            <a:spLocks xmlns:a="http://schemas.openxmlformats.org/drawingml/2006/main" noGrp="1"/>
          </p:cNvSpPr>
          <p:nvPr/>
        </p:nvSpPr>
        <p:spPr>
          <a:xfrm xmlns:a="http://schemas.openxmlformats.org/drawingml/2006/main">
            <a:off x="781050" y="2152650"/>
            <a:ext cx="4572000" cy="3143250"/>
          </a:xfrm>
          <a:prstGeom xmlns:a="http://schemas.openxmlformats.org/drawingml/2006/main" prst="roundRect">
            <a:avLst>
              <a:gd name="adj" fmla="val 4242"/>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2135F239-4AE7-4064-987F-AFB8474D19EA}"/>
              </a:ext>
            </a:extLst>
          </p:cNvPr>
          <p:cNvSpPr>
            <a:spLocks xmlns:a="http://schemas.openxmlformats.org/drawingml/2006/main" noGrp="1"/>
          </p:cNvSpPr>
          <p:nvPr/>
        </p:nvSpPr>
        <p:spPr>
          <a:xfrm xmlns:a="http://schemas.openxmlformats.org/drawingml/2006/main">
            <a:off x="933450" y="2276475"/>
            <a:ext cx="426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КОНТЕКСТ</a:t>
            </a:r>
          </a:p>
        </p:txBody>
      </p:sp>
      <p:sp>
        <p:nvSpPr>
          <p:cNvPr id="8" name="Rectangle 7">
            <a:extLst xmlns:a="http://schemas.openxmlformats.org/drawingml/2006/main">
              <a:ext uri="{FF2B5EF4-FFF2-40B4-BE49-F238E27FC236}">
                <a16:creationId xmlns:a16="http://schemas.microsoft.com/office/drawing/2014/main" id="{36681AF7-B87B-4A76-AF8D-399BACABA12F}"/>
              </a:ext>
            </a:extLst>
          </p:cNvPr>
          <p:cNvSpPr>
            <a:spLocks xmlns:a="http://schemas.openxmlformats.org/drawingml/2006/main" noGrp="1"/>
          </p:cNvSpPr>
          <p:nvPr/>
        </p:nvSpPr>
        <p:spPr>
          <a:xfrm xmlns:a="http://schemas.openxmlformats.org/drawingml/2006/main">
            <a:off x="933450" y="2524125"/>
            <a:ext cx="426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Од ризика до одлуке о прихватању</a:t>
            </a:r>
          </a:p>
        </p:txBody>
      </p:sp>
      <p:sp>
        <p:nvSpPr>
          <p:cNvPr id="9" name="Rectangle 8">
            <a:extLst xmlns:a="http://schemas.openxmlformats.org/drawingml/2006/main">
              <a:ext uri="{FF2B5EF4-FFF2-40B4-BE49-F238E27FC236}">
                <a16:creationId xmlns:a16="http://schemas.microsoft.com/office/drawing/2014/main" id="{9BA0851F-31A6-42F2-B299-5ED17F5E17F9}"/>
              </a:ext>
            </a:extLst>
          </p:cNvPr>
          <p:cNvSpPr>
            <a:spLocks xmlns:a="http://schemas.openxmlformats.org/drawingml/2006/main" noGrp="1"/>
          </p:cNvSpPr>
          <p:nvPr/>
        </p:nvSpPr>
        <p:spPr>
          <a:xfrm xmlns:a="http://schemas.openxmlformats.org/drawingml/2006/main">
            <a:off x="933450" y="3086100"/>
            <a:ext cx="426720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Ризик се не уклања увек у потпуности. Неке мере би биле прескупе, неке би зауставиле важан рад, а неке зависе од спољне стране. Тада је важно да преостали ризик буде видљив, образложен и временски ограничен, а не заборављен.</a:t>
            </a:r>
          </a:p>
        </p:txBody>
      </p:sp>
      <p:sp>
        <p:nvSpPr>
          <p:cNvPr id="10" name="Rounded Rectangle 9">
            <a:extLst xmlns:a="http://schemas.openxmlformats.org/drawingml/2006/main">
              <a:ext uri="{FF2B5EF4-FFF2-40B4-BE49-F238E27FC236}">
                <a16:creationId xmlns:a16="http://schemas.microsoft.com/office/drawing/2014/main" id="{CEA3429D-7DEA-474B-93C8-446E64F47E13}"/>
              </a:ext>
            </a:extLst>
          </p:cNvPr>
          <p:cNvSpPr>
            <a:spLocks xmlns:a="http://schemas.openxmlformats.org/drawingml/2006/main" noGrp="1"/>
          </p:cNvSpPr>
          <p:nvPr/>
        </p:nvSpPr>
        <p:spPr>
          <a:xfrm xmlns:a="http://schemas.openxmlformats.org/drawingml/2006/main">
            <a:off x="5772150" y="2095500"/>
            <a:ext cx="5638800" cy="723900"/>
          </a:xfrm>
          <a:prstGeom xmlns:a="http://schemas.openxmlformats.org/drawingml/2006/main" prst="roundRect">
            <a:avLst>
              <a:gd name="adj" fmla="val 18421"/>
            </a:avLst>
          </a:prstGeom>
          <a:solidFill xmlns:a="http://schemas.openxmlformats.org/drawingml/2006/main">
            <a:srgbClr val="F7EFF1"/>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51D3058A-0A6D-417D-876C-C78A311DB687}"/>
              </a:ext>
            </a:extLst>
          </p:cNvPr>
          <p:cNvSpPr>
            <a:spLocks xmlns:a="http://schemas.openxmlformats.org/drawingml/2006/main" noGrp="1"/>
          </p:cNvSpPr>
          <p:nvPr/>
        </p:nvSpPr>
        <p:spPr>
          <a:xfrm xmlns:a="http://schemas.openxmlformats.org/drawingml/2006/main">
            <a:off x="5924550" y="22193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012FEDCF-ED33-4A16-9160-F95F8D0376DE}"/>
              </a:ext>
            </a:extLst>
          </p:cNvPr>
          <p:cNvSpPr>
            <a:spLocks xmlns:a="http://schemas.openxmlformats.org/drawingml/2006/main" noGrp="1"/>
          </p:cNvSpPr>
          <p:nvPr/>
        </p:nvSpPr>
        <p:spPr>
          <a:xfrm xmlns:a="http://schemas.openxmlformats.org/drawingml/2006/main">
            <a:off x="5924550" y="24669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5316"/>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Описати имовину, сценарио и последицу без општих формулација.</a:t>
            </a:r>
          </a:p>
        </p:txBody>
      </p:sp>
      <p:sp>
        <p:nvSpPr>
          <p:cNvPr id="13" name="Rounded Rectangle 12">
            <a:extLst xmlns:a="http://schemas.openxmlformats.org/drawingml/2006/main">
              <a:ext uri="{FF2B5EF4-FFF2-40B4-BE49-F238E27FC236}">
                <a16:creationId xmlns:a16="http://schemas.microsoft.com/office/drawing/2014/main" id="{4B2D143C-15E0-4D4B-ADDB-665717E8445D}"/>
              </a:ext>
            </a:extLst>
          </p:cNvPr>
          <p:cNvSpPr>
            <a:spLocks xmlns:a="http://schemas.openxmlformats.org/drawingml/2006/main" noGrp="1"/>
          </p:cNvSpPr>
          <p:nvPr/>
        </p:nvSpPr>
        <p:spPr>
          <a:xfrm xmlns:a="http://schemas.openxmlformats.org/drawingml/2006/main">
            <a:off x="5772150" y="2971800"/>
            <a:ext cx="5638800" cy="723900"/>
          </a:xfrm>
          <a:prstGeom xmlns:a="http://schemas.openxmlformats.org/drawingml/2006/main" prst="roundRect">
            <a:avLst>
              <a:gd name="adj" fmla="val 18421"/>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B9E9621B-9C44-40A3-9D26-66B8C9C3E604}"/>
              </a:ext>
            </a:extLst>
          </p:cNvPr>
          <p:cNvSpPr>
            <a:spLocks xmlns:a="http://schemas.openxmlformats.org/drawingml/2006/main" noGrp="1"/>
          </p:cNvSpPr>
          <p:nvPr/>
        </p:nvSpPr>
        <p:spPr>
          <a:xfrm xmlns:a="http://schemas.openxmlformats.org/drawingml/2006/main">
            <a:off x="5924550" y="30956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AE36A983-2AAB-489F-8278-3290CD2CEE1D}"/>
              </a:ext>
            </a:extLst>
          </p:cNvPr>
          <p:cNvSpPr>
            <a:spLocks xmlns:a="http://schemas.openxmlformats.org/drawingml/2006/main" noGrp="1"/>
          </p:cNvSpPr>
          <p:nvPr/>
        </p:nvSpPr>
        <p:spPr>
          <a:xfrm xmlns:a="http://schemas.openxmlformats.org/drawingml/2006/main">
            <a:off x="5924550" y="33432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Навести постојеће контроле и шта оне заиста покривају.</a:t>
            </a:r>
          </a:p>
        </p:txBody>
      </p:sp>
      <p:sp>
        <p:nvSpPr>
          <p:cNvPr id="16" name="Rounded Rectangle 15">
            <a:extLst xmlns:a="http://schemas.openxmlformats.org/drawingml/2006/main">
              <a:ext uri="{FF2B5EF4-FFF2-40B4-BE49-F238E27FC236}">
                <a16:creationId xmlns:a16="http://schemas.microsoft.com/office/drawing/2014/main" id="{7B63B8E2-CA9C-45FD-899B-2C9339F39D6F}"/>
              </a:ext>
            </a:extLst>
          </p:cNvPr>
          <p:cNvSpPr>
            <a:spLocks xmlns:a="http://schemas.openxmlformats.org/drawingml/2006/main" noGrp="1"/>
          </p:cNvSpPr>
          <p:nvPr/>
        </p:nvSpPr>
        <p:spPr>
          <a:xfrm xmlns:a="http://schemas.openxmlformats.org/drawingml/2006/main">
            <a:off x="5772150" y="3848100"/>
            <a:ext cx="5638800" cy="723900"/>
          </a:xfrm>
          <a:prstGeom xmlns:a="http://schemas.openxmlformats.org/drawingml/2006/main" prst="roundRect">
            <a:avLst>
              <a:gd name="adj" fmla="val 18421"/>
            </a:avLst>
          </a:prstGeom>
          <a:solidFill xmlns:a="http://schemas.openxmlformats.org/drawingml/2006/main">
            <a:srgbClr val="F7EFF1"/>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E9199768-54CA-435E-AC5B-D2007CF662CE}"/>
              </a:ext>
            </a:extLst>
          </p:cNvPr>
          <p:cNvSpPr>
            <a:spLocks xmlns:a="http://schemas.openxmlformats.org/drawingml/2006/main" noGrp="1"/>
          </p:cNvSpPr>
          <p:nvPr/>
        </p:nvSpPr>
        <p:spPr>
          <a:xfrm xmlns:a="http://schemas.openxmlformats.org/drawingml/2006/main">
            <a:off x="5924550" y="39719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8B1F4869-CFE9-4266-B100-E14E8E4A5459}"/>
              </a:ext>
            </a:extLst>
          </p:cNvPr>
          <p:cNvSpPr>
            <a:spLocks xmlns:a="http://schemas.openxmlformats.org/drawingml/2006/main" noGrp="1"/>
          </p:cNvSpPr>
          <p:nvPr/>
        </p:nvSpPr>
        <p:spPr>
          <a:xfrm xmlns:a="http://schemas.openxmlformats.org/drawingml/2006/main">
            <a:off x="5924550" y="42195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Оценити шта остаје незаштићено након тих контрола.</a:t>
            </a:r>
          </a:p>
        </p:txBody>
      </p:sp>
      <p:sp>
        <p:nvSpPr>
          <p:cNvPr id="19" name="Rounded Rectangle 18">
            <a:extLst xmlns:a="http://schemas.openxmlformats.org/drawingml/2006/main">
              <a:ext uri="{FF2B5EF4-FFF2-40B4-BE49-F238E27FC236}">
                <a16:creationId xmlns:a16="http://schemas.microsoft.com/office/drawing/2014/main" id="{DB1AF3F2-A484-40DD-B7EE-4AFE16E36797}"/>
              </a:ext>
            </a:extLst>
          </p:cNvPr>
          <p:cNvSpPr>
            <a:spLocks xmlns:a="http://schemas.openxmlformats.org/drawingml/2006/main" noGrp="1"/>
          </p:cNvSpPr>
          <p:nvPr/>
        </p:nvSpPr>
        <p:spPr>
          <a:xfrm xmlns:a="http://schemas.openxmlformats.org/drawingml/2006/main">
            <a:off x="5772150" y="4724400"/>
            <a:ext cx="5638800" cy="723900"/>
          </a:xfrm>
          <a:prstGeom xmlns:a="http://schemas.openxmlformats.org/drawingml/2006/main" prst="roundRect">
            <a:avLst>
              <a:gd name="adj" fmla="val 18421"/>
            </a:avLst>
          </a:prstGeom>
          <a:solidFill xmlns:a="http://schemas.openxmlformats.org/drawingml/2006/main">
            <a:srgbClr val="EDF8F2"/>
          </a:solidFill>
          <a:ln xmlns:a="http://schemas.openxmlformats.org/drawingml/2006/main" w="9525">
            <a:solidFill>
              <a:srgbClr val="D7DEE8"/>
            </a:solidFill>
            <a:prstDash val="solid"/>
          </a:ln>
        </p:spPr>
      </p:sp>
      <p:sp>
        <p:nvSpPr>
          <p:cNvPr id="20" name="Rectangle 19">
            <a:extLst xmlns:a="http://schemas.openxmlformats.org/drawingml/2006/main">
              <a:ext uri="{FF2B5EF4-FFF2-40B4-BE49-F238E27FC236}">
                <a16:creationId xmlns:a16="http://schemas.microsoft.com/office/drawing/2014/main" id="{1EBECB4E-F626-420A-86BF-8C959FC784D4}"/>
              </a:ext>
            </a:extLst>
          </p:cNvPr>
          <p:cNvSpPr>
            <a:spLocks xmlns:a="http://schemas.openxmlformats.org/drawingml/2006/main" noGrp="1"/>
          </p:cNvSpPr>
          <p:nvPr/>
        </p:nvSpPr>
        <p:spPr>
          <a:xfrm xmlns:a="http://schemas.openxmlformats.org/drawingml/2006/main">
            <a:off x="5924550" y="48482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1" name="Rectangle 20">
            <a:extLst xmlns:a="http://schemas.openxmlformats.org/drawingml/2006/main">
              <a:ext uri="{FF2B5EF4-FFF2-40B4-BE49-F238E27FC236}">
                <a16:creationId xmlns:a16="http://schemas.microsoft.com/office/drawing/2014/main" id="{4ADA23B8-DB3A-40A2-B85C-FA8131D40E28}"/>
              </a:ext>
            </a:extLst>
          </p:cNvPr>
          <p:cNvSpPr>
            <a:spLocks xmlns:a="http://schemas.openxmlformats.org/drawingml/2006/main" noGrp="1"/>
          </p:cNvSpPr>
          <p:nvPr/>
        </p:nvSpPr>
        <p:spPr>
          <a:xfrm xmlns:a="http://schemas.openxmlformats.org/drawingml/2006/main">
            <a:off x="5924550" y="50958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5316"/>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Одредити власника који прихвата ризик и датум следећег прегледа.</a:t>
            </a:r>
          </a:p>
        </p:txBody>
      </p:sp>
    </p:spTree>
    <p:extLst>
      <p:ext uri="{BB962C8B-B14F-4D97-AF65-F5344CB8AC3E}">
        <p14:creationId xmlns:p14="http://schemas.microsoft.com/office/powerpoint/2010/main" val="73230416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921DE0DD-86C8-474B-B992-56152312FA35}"/>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EDC0F380-4C14-4BE1-B2B1-E02CD90B6E40}"/>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8EDA1B7D-7DF2-4E6F-9585-B54E7C7CAA17}"/>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11</a:t>
            </a:r>
          </a:p>
        </p:txBody>
      </p:sp>
      <p:sp>
        <p:nvSpPr>
          <p:cNvPr id="4" name="Rectangle 3">
            <a:extLst xmlns:a="http://schemas.openxmlformats.org/drawingml/2006/main">
              <a:ext uri="{FF2B5EF4-FFF2-40B4-BE49-F238E27FC236}">
                <a16:creationId xmlns:a16="http://schemas.microsoft.com/office/drawing/2014/main" id="{3D14B4AD-C457-481B-A0AD-D37F5F32CED1}"/>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Право приступа није заувек</a:t>
            </a:r>
          </a:p>
        </p:txBody>
      </p:sp>
      <p:sp>
        <p:nvSpPr>
          <p:cNvPr id="5" name="Rectangle 4">
            <a:extLst xmlns:a="http://schemas.openxmlformats.org/drawingml/2006/main">
              <a:ext uri="{FF2B5EF4-FFF2-40B4-BE49-F238E27FC236}">
                <a16:creationId xmlns:a16="http://schemas.microsoft.com/office/drawing/2014/main" id="{6FD21859-F6AF-4E63-AF4E-12961B1F101C}"/>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Наведена правила остају видљива у имплементацији, тестовима и ревизији.</a:t>
            </a:r>
          </a:p>
        </p:txBody>
      </p:sp>
      <p:sp>
        <p:nvSpPr>
          <p:cNvPr id="6" name="Rounded Rectangle 5">
            <a:extLst xmlns:a="http://schemas.openxmlformats.org/drawingml/2006/main">
              <a:ext uri="{FF2B5EF4-FFF2-40B4-BE49-F238E27FC236}">
                <a16:creationId xmlns:a16="http://schemas.microsoft.com/office/drawing/2014/main" id="{6970FCB0-BEEF-45B1-AFCA-6210461C95DF}"/>
              </a:ext>
            </a:extLst>
          </p:cNvPr>
          <p:cNvSpPr>
            <a:spLocks xmlns:a="http://schemas.openxmlformats.org/drawingml/2006/main" noGrp="1"/>
          </p:cNvSpPr>
          <p:nvPr/>
        </p:nvSpPr>
        <p:spPr>
          <a:xfrm xmlns:a="http://schemas.openxmlformats.org/drawingml/2006/main">
            <a:off x="819150" y="2400300"/>
            <a:ext cx="3257550" cy="2343150"/>
          </a:xfrm>
          <a:prstGeom xmlns:a="http://schemas.openxmlformats.org/drawingml/2006/main" prst="roundRect">
            <a:avLst>
              <a:gd name="adj" fmla="val 5691"/>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A0D6CB18-23D7-496A-A48F-1724F9BCE018}"/>
              </a:ext>
            </a:extLst>
          </p:cNvPr>
          <p:cNvSpPr>
            <a:spLocks xmlns:a="http://schemas.openxmlformats.org/drawingml/2006/main" noGrp="1"/>
          </p:cNvSpPr>
          <p:nvPr/>
        </p:nvSpPr>
        <p:spPr>
          <a:xfrm xmlns:a="http://schemas.openxmlformats.org/drawingml/2006/main">
            <a:off x="971550" y="252412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92DE2057-CB15-46F4-B221-A4A62CDF6A01}"/>
              </a:ext>
            </a:extLst>
          </p:cNvPr>
          <p:cNvSpPr>
            <a:spLocks xmlns:a="http://schemas.openxmlformats.org/drawingml/2006/main" noGrp="1"/>
          </p:cNvSpPr>
          <p:nvPr/>
        </p:nvSpPr>
        <p:spPr>
          <a:xfrm xmlns:a="http://schemas.openxmlformats.org/drawingml/2006/main">
            <a:off x="971550" y="2771775"/>
            <a:ext cx="295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Атрибути се читају из поузданог, јасног контекста.</a:t>
            </a:r>
          </a:p>
        </p:txBody>
      </p:sp>
      <p:sp>
        <p:nvSpPr>
          <p:cNvPr id="9" name="Rectangle 8">
            <a:extLst xmlns:a="http://schemas.openxmlformats.org/drawingml/2006/main">
              <a:ext uri="{FF2B5EF4-FFF2-40B4-BE49-F238E27FC236}">
                <a16:creationId xmlns:a16="http://schemas.microsoft.com/office/drawing/2014/main" id="{1DBFA7D6-CB11-4241-8196-7469F8F11DCB}"/>
              </a:ext>
            </a:extLst>
          </p:cNvPr>
          <p:cNvSpPr>
            <a:spLocks xmlns:a="http://schemas.openxmlformats.org/drawingml/2006/main" noGrp="1"/>
          </p:cNvSpPr>
          <p:nvPr/>
        </p:nvSpPr>
        <p:spPr>
          <a:xfrm xmlns:a="http://schemas.openxmlformats.org/drawingml/2006/main">
            <a:off x="971550" y="3981450"/>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Јасно правило</a:t>
            </a:r>
          </a:p>
        </p:txBody>
      </p:sp>
      <p:sp>
        <p:nvSpPr>
          <p:cNvPr id="10" name="Rounded Rectangle 9">
            <a:extLst xmlns:a="http://schemas.openxmlformats.org/drawingml/2006/main">
              <a:ext uri="{FF2B5EF4-FFF2-40B4-BE49-F238E27FC236}">
                <a16:creationId xmlns:a16="http://schemas.microsoft.com/office/drawing/2014/main" id="{F825A775-361B-40F1-885F-A73352422CD7}"/>
              </a:ext>
            </a:extLst>
          </p:cNvPr>
          <p:cNvSpPr>
            <a:spLocks xmlns:a="http://schemas.openxmlformats.org/drawingml/2006/main" noGrp="1"/>
          </p:cNvSpPr>
          <p:nvPr/>
        </p:nvSpPr>
        <p:spPr>
          <a:xfrm xmlns:a="http://schemas.openxmlformats.org/drawingml/2006/main">
            <a:off x="4467225" y="2400300"/>
            <a:ext cx="3257550" cy="2343150"/>
          </a:xfrm>
          <a:prstGeom xmlns:a="http://schemas.openxmlformats.org/drawingml/2006/main" prst="roundRect">
            <a:avLst>
              <a:gd name="adj" fmla="val 5691"/>
            </a:avLst>
          </a:prstGeom>
          <a:solidFill xmlns:a="http://schemas.openxmlformats.org/drawingml/2006/main">
            <a:srgbClr val="F7F4F5"/>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6DC852E5-3F5C-4B3B-9FEE-8C638C9794FB}"/>
              </a:ext>
            </a:extLst>
          </p:cNvPr>
          <p:cNvSpPr>
            <a:spLocks xmlns:a="http://schemas.openxmlformats.org/drawingml/2006/main" noGrp="1"/>
          </p:cNvSpPr>
          <p:nvPr/>
        </p:nvSpPr>
        <p:spPr>
          <a:xfrm xmlns:a="http://schemas.openxmlformats.org/drawingml/2006/main">
            <a:off x="4619625" y="252412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CE3885A5-EBF0-4E9A-AC53-F4659A48DD26}"/>
              </a:ext>
            </a:extLst>
          </p:cNvPr>
          <p:cNvSpPr>
            <a:spLocks xmlns:a="http://schemas.openxmlformats.org/drawingml/2006/main" noGrp="1"/>
          </p:cNvSpPr>
          <p:nvPr/>
        </p:nvSpPr>
        <p:spPr>
          <a:xfrm xmlns:a="http://schemas.openxmlformats.org/drawingml/2006/main">
            <a:off x="4619625" y="2771775"/>
            <a:ext cx="295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Исто стање мора довести до истог резултата политике.</a:t>
            </a:r>
          </a:p>
        </p:txBody>
      </p:sp>
      <p:sp>
        <p:nvSpPr>
          <p:cNvPr id="13" name="Rectangle 12">
            <a:extLst xmlns:a="http://schemas.openxmlformats.org/drawingml/2006/main">
              <a:ext uri="{FF2B5EF4-FFF2-40B4-BE49-F238E27FC236}">
                <a16:creationId xmlns:a16="http://schemas.microsoft.com/office/drawing/2014/main" id="{2D5ACF9D-FBDB-4419-BBE8-C95022C367EC}"/>
              </a:ext>
            </a:extLst>
          </p:cNvPr>
          <p:cNvSpPr>
            <a:spLocks xmlns:a="http://schemas.openxmlformats.org/drawingml/2006/main" noGrp="1"/>
          </p:cNvSpPr>
          <p:nvPr/>
        </p:nvSpPr>
        <p:spPr>
          <a:xfrm xmlns:a="http://schemas.openxmlformats.org/drawingml/2006/main">
            <a:off x="4619625" y="3981450"/>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Проверљива примена</a:t>
            </a:r>
          </a:p>
        </p:txBody>
      </p:sp>
      <p:sp>
        <p:nvSpPr>
          <p:cNvPr id="14" name="Rounded Rectangle 13">
            <a:extLst xmlns:a="http://schemas.openxmlformats.org/drawingml/2006/main">
              <a:ext uri="{FF2B5EF4-FFF2-40B4-BE49-F238E27FC236}">
                <a16:creationId xmlns:a16="http://schemas.microsoft.com/office/drawing/2014/main" id="{97FDD6E6-8E51-4AAF-8599-3655825C5AE4}"/>
              </a:ext>
            </a:extLst>
          </p:cNvPr>
          <p:cNvSpPr>
            <a:spLocks xmlns:a="http://schemas.openxmlformats.org/drawingml/2006/main" noGrp="1"/>
          </p:cNvSpPr>
          <p:nvPr/>
        </p:nvSpPr>
        <p:spPr>
          <a:xfrm xmlns:a="http://schemas.openxmlformats.org/drawingml/2006/main">
            <a:off x="8115300" y="2400300"/>
            <a:ext cx="3257550" cy="2343150"/>
          </a:xfrm>
          <a:prstGeom xmlns:a="http://schemas.openxmlformats.org/drawingml/2006/main" prst="roundRect">
            <a:avLst>
              <a:gd name="adj" fmla="val 5691"/>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AF8921C7-5CCF-4776-B39F-99B371B69947}"/>
              </a:ext>
            </a:extLst>
          </p:cNvPr>
          <p:cNvSpPr>
            <a:spLocks xmlns:a="http://schemas.openxmlformats.org/drawingml/2006/main" noGrp="1"/>
          </p:cNvSpPr>
          <p:nvPr/>
        </p:nvSpPr>
        <p:spPr>
          <a:xfrm xmlns:a="http://schemas.openxmlformats.org/drawingml/2006/main">
            <a:off x="8267700" y="252412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873A551A-1825-4162-8290-BA6A8564FC53}"/>
              </a:ext>
            </a:extLst>
          </p:cNvPr>
          <p:cNvSpPr>
            <a:spLocks xmlns:a="http://schemas.openxmlformats.org/drawingml/2006/main" noGrp="1"/>
          </p:cNvSpPr>
          <p:nvPr/>
        </p:nvSpPr>
        <p:spPr>
          <a:xfrm xmlns:a="http://schemas.openxmlformats.org/drawingml/2006/main">
            <a:off x="8267700" y="2771775"/>
            <a:ext cx="295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Ризик укључује имовину, претњу, контролу и преосталу изложеност.</a:t>
            </a:r>
          </a:p>
        </p:txBody>
      </p:sp>
      <p:sp>
        <p:nvSpPr>
          <p:cNvPr id="17" name="Rectangle 16">
            <a:extLst xmlns:a="http://schemas.openxmlformats.org/drawingml/2006/main">
              <a:ext uri="{FF2B5EF4-FFF2-40B4-BE49-F238E27FC236}">
                <a16:creationId xmlns:a16="http://schemas.microsoft.com/office/drawing/2014/main" id="{DA41D48E-6FAB-4E5E-8EB3-3B86ED0DFBFA}"/>
              </a:ext>
            </a:extLst>
          </p:cNvPr>
          <p:cNvSpPr>
            <a:spLocks xmlns:a="http://schemas.openxmlformats.org/drawingml/2006/main" noGrp="1"/>
          </p:cNvSpPr>
          <p:nvPr/>
        </p:nvSpPr>
        <p:spPr>
          <a:xfrm xmlns:a="http://schemas.openxmlformats.org/drawingml/2006/main">
            <a:off x="8267700" y="3981450"/>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Видљив доказ</a:t>
            </a:r>
          </a:p>
        </p:txBody>
      </p:sp>
    </p:spTree>
    <p:extLst>
      <p:ext uri="{BB962C8B-B14F-4D97-AF65-F5344CB8AC3E}">
        <p14:creationId xmlns:p14="http://schemas.microsoft.com/office/powerpoint/2010/main" val="72955054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F23CBF0F-5937-44EC-96CF-12692760C00D}"/>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36CB0048-5C6C-4B2F-B9FA-E0F0E67A485D}"/>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9CCBDCB6-6F46-4DD8-8BD7-5EEA2F1131EC}"/>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12</a:t>
            </a:r>
          </a:p>
        </p:txBody>
      </p:sp>
      <p:sp>
        <p:nvSpPr>
          <p:cNvPr id="4" name="Rectangle 3">
            <a:extLst xmlns:a="http://schemas.openxmlformats.org/drawingml/2006/main">
              <a:ext uri="{FF2B5EF4-FFF2-40B4-BE49-F238E27FC236}">
                <a16:creationId xmlns:a16="http://schemas.microsoft.com/office/drawing/2014/main" id="{E9B7F942-772C-434C-A902-F795A912EBF7}"/>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Примена у развоју</a:t>
            </a:r>
          </a:p>
        </p:txBody>
      </p:sp>
      <p:sp>
        <p:nvSpPr>
          <p:cNvPr id="5" name="Rectangle 4">
            <a:extLst xmlns:a="http://schemas.openxmlformats.org/drawingml/2006/main">
              <a:ext uri="{FF2B5EF4-FFF2-40B4-BE49-F238E27FC236}">
                <a16:creationId xmlns:a16="http://schemas.microsoft.com/office/drawing/2014/main" id="{47304305-1ACC-4ED9-AFDA-09A2FE84887E}"/>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Тим примењује тему кроз серверске провере, тестове и ревизионе записе током развоја.</a:t>
            </a:r>
          </a:p>
        </p:txBody>
      </p:sp>
      <p:sp>
        <p:nvSpPr>
          <p:cNvPr id="6" name="Rounded Rectangle 5">
            <a:extLst xmlns:a="http://schemas.openxmlformats.org/drawingml/2006/main">
              <a:ext uri="{FF2B5EF4-FFF2-40B4-BE49-F238E27FC236}">
                <a16:creationId xmlns:a16="http://schemas.microsoft.com/office/drawing/2014/main" id="{BEF7C27A-0C0A-4225-9C4A-56D96E253A13}"/>
              </a:ext>
            </a:extLst>
          </p:cNvPr>
          <p:cNvSpPr>
            <a:spLocks xmlns:a="http://schemas.openxmlformats.org/drawingml/2006/main" noGrp="1"/>
          </p:cNvSpPr>
          <p:nvPr/>
        </p:nvSpPr>
        <p:spPr>
          <a:xfrm xmlns:a="http://schemas.openxmlformats.org/drawingml/2006/main">
            <a:off x="800100" y="2209800"/>
            <a:ext cx="4810125" cy="2857500"/>
          </a:xfrm>
          <a:prstGeom xmlns:a="http://schemas.openxmlformats.org/drawingml/2006/main" prst="roundRect">
            <a:avLst>
              <a:gd name="adj" fmla="val 4667"/>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1FFA1BFF-25EE-4E03-837B-8244EF41449E}"/>
              </a:ext>
            </a:extLst>
          </p:cNvPr>
          <p:cNvSpPr>
            <a:spLocks xmlns:a="http://schemas.openxmlformats.org/drawingml/2006/main" noGrp="1"/>
          </p:cNvSpPr>
          <p:nvPr/>
        </p:nvSpPr>
        <p:spPr>
          <a:xfrm xmlns:a="http://schemas.openxmlformats.org/drawingml/2006/main">
            <a:off x="952500" y="2333625"/>
            <a:ext cx="45053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РАЗВОЈНИ КОНТЕКСТ</a:t>
            </a:r>
          </a:p>
        </p:txBody>
      </p:sp>
      <p:sp>
        <p:nvSpPr>
          <p:cNvPr id="8" name="Rectangle 7">
            <a:extLst xmlns:a="http://schemas.openxmlformats.org/drawingml/2006/main">
              <a:ext uri="{FF2B5EF4-FFF2-40B4-BE49-F238E27FC236}">
                <a16:creationId xmlns:a16="http://schemas.microsoft.com/office/drawing/2014/main" id="{4C99EF9D-8A79-4FB7-BF46-C2B65D974339}"/>
              </a:ext>
            </a:extLst>
          </p:cNvPr>
          <p:cNvSpPr>
            <a:spLocks xmlns:a="http://schemas.openxmlformats.org/drawingml/2006/main" noGrp="1"/>
          </p:cNvSpPr>
          <p:nvPr/>
        </p:nvSpPr>
        <p:spPr>
          <a:xfrm xmlns:a="http://schemas.openxmlformats.org/drawingml/2006/main">
            <a:off x="952500" y="2581275"/>
            <a:ext cx="45053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Примена принципа у коду</a:t>
            </a:r>
          </a:p>
        </p:txBody>
      </p:sp>
      <p:sp>
        <p:nvSpPr>
          <p:cNvPr id="9" name="Rectangle 8">
            <a:extLst xmlns:a="http://schemas.openxmlformats.org/drawingml/2006/main">
              <a:ext uri="{FF2B5EF4-FFF2-40B4-BE49-F238E27FC236}">
                <a16:creationId xmlns:a16="http://schemas.microsoft.com/office/drawing/2014/main" id="{AEB5537C-E3E6-4166-BC3A-566590336387}"/>
              </a:ext>
            </a:extLst>
          </p:cNvPr>
          <p:cNvSpPr>
            <a:spLocks xmlns:a="http://schemas.openxmlformats.org/drawingml/2006/main" noGrp="1"/>
          </p:cNvSpPr>
          <p:nvPr/>
        </p:nvSpPr>
        <p:spPr>
          <a:xfrm xmlns:a="http://schemas.openxmlformats.org/drawingml/2006/main">
            <a:off x="952500" y="3124200"/>
            <a:ext cx="4505325" cy="1838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350" b="0">
                <a:solidFill>
                  <a:srgbClr val="657184"/>
                </a:solidFill>
                <a:latin typeface="Aptos"/>
                <a:ea typeface="Aptos"/>
                <a:cs typeface="Aptos"/>
              </a:defRPr>
            </a:pPr>
            <a:r>
              <a:rPr sz="1350" b="0">
                <a:solidFill>
                  <a:srgbClr val="657184"/>
                </a:solidFill>
                <a:latin typeface="Aptos"/>
                <a:ea typeface="Aptos"/>
                <a:cs typeface="Aptos"/>
              </a:rPr>
              <a:t>Тим издваја одлуке које не могу поштено да стану у назив једне улоге. Затим их записује као правило које се може тестирати са неколико супротних контекста. Преглед приступа проверава да ли је некадашња пословна потреба и даље стварна.</a:t>
            </a:r>
          </a:p>
        </p:txBody>
      </p:sp>
      <p:sp>
        <p:nvSpPr>
          <p:cNvPr id="10" name="Rounded Rectangle 9">
            <a:extLst xmlns:a="http://schemas.openxmlformats.org/drawingml/2006/main">
              <a:ext uri="{FF2B5EF4-FFF2-40B4-BE49-F238E27FC236}">
                <a16:creationId xmlns:a16="http://schemas.microsoft.com/office/drawing/2014/main" id="{DCBE067C-36F2-4745-A76F-BEF79EC71EB5}"/>
              </a:ext>
            </a:extLst>
          </p:cNvPr>
          <p:cNvSpPr>
            <a:spLocks xmlns:a="http://schemas.openxmlformats.org/drawingml/2006/main" noGrp="1"/>
          </p:cNvSpPr>
          <p:nvPr/>
        </p:nvSpPr>
        <p:spPr>
          <a:xfrm xmlns:a="http://schemas.openxmlformats.org/drawingml/2006/main">
            <a:off x="6038850" y="2209800"/>
            <a:ext cx="5353050" cy="819150"/>
          </a:xfrm>
          <a:prstGeom xmlns:a="http://schemas.openxmlformats.org/drawingml/2006/main" prst="roundRect">
            <a:avLst>
              <a:gd name="adj" fmla="val 16279"/>
            </a:avLst>
          </a:prstGeom>
          <a:solidFill xmlns:a="http://schemas.openxmlformats.org/drawingml/2006/main">
            <a:srgbClr val="F4F6F9"/>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544670A7-B4D0-4368-B1CB-343F3199F2FF}"/>
              </a:ext>
            </a:extLst>
          </p:cNvPr>
          <p:cNvSpPr>
            <a:spLocks xmlns:a="http://schemas.openxmlformats.org/drawingml/2006/main" noGrp="1"/>
          </p:cNvSpPr>
          <p:nvPr/>
        </p:nvSpPr>
        <p:spPr>
          <a:xfrm xmlns:a="http://schemas.openxmlformats.org/drawingml/2006/main">
            <a:off x="6191250" y="2333625"/>
            <a:ext cx="504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315C6B10-BD66-443F-A4F4-A9B530CA5C28}"/>
              </a:ext>
            </a:extLst>
          </p:cNvPr>
          <p:cNvSpPr>
            <a:spLocks xmlns:a="http://schemas.openxmlformats.org/drawingml/2006/main" noGrp="1"/>
          </p:cNvSpPr>
          <p:nvPr/>
        </p:nvSpPr>
        <p:spPr>
          <a:xfrm xmlns:a="http://schemas.openxmlformats.org/drawingml/2006/main">
            <a:off x="6191250" y="25812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Дефинисана одлука и њена граница.</a:t>
            </a:r>
          </a:p>
        </p:txBody>
      </p:sp>
      <p:sp>
        <p:nvSpPr>
          <p:cNvPr id="13" name="Rounded Rectangle 12">
            <a:extLst xmlns:a="http://schemas.openxmlformats.org/drawingml/2006/main">
              <a:ext uri="{FF2B5EF4-FFF2-40B4-BE49-F238E27FC236}">
                <a16:creationId xmlns:a16="http://schemas.microsoft.com/office/drawing/2014/main" id="{0A0B8E96-A365-442B-8772-870C867517DF}"/>
              </a:ext>
            </a:extLst>
          </p:cNvPr>
          <p:cNvSpPr>
            <a:spLocks xmlns:a="http://schemas.openxmlformats.org/drawingml/2006/main" noGrp="1"/>
          </p:cNvSpPr>
          <p:nvPr/>
        </p:nvSpPr>
        <p:spPr>
          <a:xfrm xmlns:a="http://schemas.openxmlformats.org/drawingml/2006/main">
            <a:off x="6038850" y="3200400"/>
            <a:ext cx="5353050" cy="819150"/>
          </a:xfrm>
          <a:prstGeom xmlns:a="http://schemas.openxmlformats.org/drawingml/2006/main" prst="roundRect">
            <a:avLst>
              <a:gd name="adj" fmla="val 16279"/>
            </a:avLst>
          </a:prstGeom>
          <a:solidFill xmlns:a="http://schemas.openxmlformats.org/drawingml/2006/main">
            <a:srgbClr val="F7F4F5"/>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26991019-C259-4D6A-A262-17A20BD8D068}"/>
              </a:ext>
            </a:extLst>
          </p:cNvPr>
          <p:cNvSpPr>
            <a:spLocks xmlns:a="http://schemas.openxmlformats.org/drawingml/2006/main" noGrp="1"/>
          </p:cNvSpPr>
          <p:nvPr/>
        </p:nvSpPr>
        <p:spPr>
          <a:xfrm xmlns:a="http://schemas.openxmlformats.org/drawingml/2006/main">
            <a:off x="6191250" y="3324225"/>
            <a:ext cx="504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F9A8143C-C554-4512-86C2-07848B1EC25E}"/>
              </a:ext>
            </a:extLst>
          </p:cNvPr>
          <p:cNvSpPr>
            <a:spLocks xmlns:a="http://schemas.openxmlformats.org/drawingml/2006/main" noGrp="1"/>
          </p:cNvSpPr>
          <p:nvPr/>
        </p:nvSpPr>
        <p:spPr>
          <a:xfrm xmlns:a="http://schemas.openxmlformats.org/drawingml/2006/main">
            <a:off x="6191250" y="35718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Серверска имплементација провере.</a:t>
            </a:r>
          </a:p>
        </p:txBody>
      </p:sp>
      <p:sp>
        <p:nvSpPr>
          <p:cNvPr id="16" name="Rounded Rectangle 15">
            <a:extLst xmlns:a="http://schemas.openxmlformats.org/drawingml/2006/main">
              <a:ext uri="{FF2B5EF4-FFF2-40B4-BE49-F238E27FC236}">
                <a16:creationId xmlns:a16="http://schemas.microsoft.com/office/drawing/2014/main" id="{D9BD78E7-E275-4A48-9256-C47CD2191019}"/>
              </a:ext>
            </a:extLst>
          </p:cNvPr>
          <p:cNvSpPr>
            <a:spLocks xmlns:a="http://schemas.openxmlformats.org/drawingml/2006/main" noGrp="1"/>
          </p:cNvSpPr>
          <p:nvPr/>
        </p:nvSpPr>
        <p:spPr>
          <a:xfrm xmlns:a="http://schemas.openxmlformats.org/drawingml/2006/main">
            <a:off x="6038850" y="4191000"/>
            <a:ext cx="5353050" cy="819150"/>
          </a:xfrm>
          <a:prstGeom xmlns:a="http://schemas.openxmlformats.org/drawingml/2006/main" prst="roundRect">
            <a:avLst>
              <a:gd name="adj" fmla="val 16279"/>
            </a:avLst>
          </a:prstGeom>
          <a:solidFill xmlns:a="http://schemas.openxmlformats.org/drawingml/2006/main">
            <a:srgbClr val="EDF8F2"/>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CC34346B-FF6E-4286-AB91-55C9C94AE6E7}"/>
              </a:ext>
            </a:extLst>
          </p:cNvPr>
          <p:cNvSpPr>
            <a:spLocks xmlns:a="http://schemas.openxmlformats.org/drawingml/2006/main" noGrp="1"/>
          </p:cNvSpPr>
          <p:nvPr/>
        </p:nvSpPr>
        <p:spPr>
          <a:xfrm xmlns:a="http://schemas.openxmlformats.org/drawingml/2006/main">
            <a:off x="6191250" y="4314825"/>
            <a:ext cx="504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08905A08-3B59-492B-B8DA-B2DF6CE23C4C}"/>
              </a:ext>
            </a:extLst>
          </p:cNvPr>
          <p:cNvSpPr>
            <a:spLocks xmlns:a="http://schemas.openxmlformats.org/drawingml/2006/main" noGrp="1"/>
          </p:cNvSpPr>
          <p:nvPr/>
        </p:nvSpPr>
        <p:spPr>
          <a:xfrm xmlns:a="http://schemas.openxmlformats.org/drawingml/2006/main">
            <a:off x="6191250" y="45624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Позитиван и негативан доказ.</a:t>
            </a:r>
          </a:p>
        </p:txBody>
      </p:sp>
    </p:spTree>
    <p:extLst>
      <p:ext uri="{BB962C8B-B14F-4D97-AF65-F5344CB8AC3E}">
        <p14:creationId xmlns:p14="http://schemas.microsoft.com/office/powerpoint/2010/main" val="49309010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4EBCEDEA-356F-48F5-A912-12A62AFCF54F}"/>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C84856C0-6B7D-46CE-B62B-3C76CDEE94F0}"/>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BBD79B11-4DEE-4C02-9494-0065C0B56FEE}"/>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13</a:t>
            </a:r>
          </a:p>
        </p:txBody>
      </p:sp>
      <p:sp>
        <p:nvSpPr>
          <p:cNvPr id="4" name="Rectangle 3">
            <a:extLst xmlns:a="http://schemas.openxmlformats.org/drawingml/2006/main">
              <a:ext uri="{FF2B5EF4-FFF2-40B4-BE49-F238E27FC236}">
                <a16:creationId xmlns:a16="http://schemas.microsoft.com/office/drawing/2014/main" id="{B7B1AE39-DA6F-49C6-98BC-F73EDC867F64}"/>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Случај: иста улога, различит тренутак</a:t>
            </a:r>
          </a:p>
        </p:txBody>
      </p:sp>
      <p:sp>
        <p:nvSpPr>
          <p:cNvPr id="5" name="Rectangle 4">
            <a:extLst xmlns:a="http://schemas.openxmlformats.org/drawingml/2006/main">
              <a:ext uri="{FF2B5EF4-FFF2-40B4-BE49-F238E27FC236}">
                <a16:creationId xmlns:a16="http://schemas.microsoft.com/office/drawing/2014/main" id="{F0E73DD5-D631-44ED-B9B3-8607FB75F46C}"/>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Случај повезује опште правило са конкретним контекстом, серверском провером и очекиваним исходом.</a:t>
            </a:r>
          </a:p>
        </p:txBody>
      </p:sp>
      <p:sp>
        <p:nvSpPr>
          <p:cNvPr id="6" name="Rounded Rectangle 5">
            <a:extLst xmlns:a="http://schemas.openxmlformats.org/drawingml/2006/main">
              <a:ext uri="{FF2B5EF4-FFF2-40B4-BE49-F238E27FC236}">
                <a16:creationId xmlns:a16="http://schemas.microsoft.com/office/drawing/2014/main" id="{8D85A5C2-3CAA-4EA6-B8F6-74E4495C6CF7}"/>
              </a:ext>
            </a:extLst>
          </p:cNvPr>
          <p:cNvSpPr>
            <a:spLocks xmlns:a="http://schemas.openxmlformats.org/drawingml/2006/main" noGrp="1"/>
          </p:cNvSpPr>
          <p:nvPr/>
        </p:nvSpPr>
        <p:spPr>
          <a:xfrm xmlns:a="http://schemas.openxmlformats.org/drawingml/2006/main">
            <a:off x="781050" y="2143125"/>
            <a:ext cx="10629900" cy="1619250"/>
          </a:xfrm>
          <a:prstGeom xmlns:a="http://schemas.openxmlformats.org/drawingml/2006/main" prst="roundRect">
            <a:avLst>
              <a:gd name="adj" fmla="val 8235"/>
            </a:avLst>
          </a:prstGeom>
          <a:solidFill xmlns:a="http://schemas.openxmlformats.org/drawingml/2006/main">
            <a:srgbClr val="F4F6F9"/>
          </a:solidFill>
          <a:ln xmlns:a="http://schemas.openxmlformats.org/drawingml/2006/main" w="9525">
            <a:solidFill>
              <a:srgbClr val="D7DEE8"/>
            </a:solidFill>
            <a:prstDash val="solid"/>
          </a:ln>
        </p:spPr>
      </p:sp>
      <p:sp>
        <p:nvSpPr>
          <p:cNvPr id="7" name="Rectangle 6">
            <a:extLst xmlns:a="http://schemas.openxmlformats.org/drawingml/2006/main">
              <a:ext uri="{FF2B5EF4-FFF2-40B4-BE49-F238E27FC236}">
                <a16:creationId xmlns:a16="http://schemas.microsoft.com/office/drawing/2014/main" id="{D4CFB168-87F8-477B-B2B3-37E3AE0CCF7B}"/>
              </a:ext>
            </a:extLst>
          </p:cNvPr>
          <p:cNvSpPr>
            <a:spLocks xmlns:a="http://schemas.openxmlformats.org/drawingml/2006/main" noGrp="1"/>
          </p:cNvSpPr>
          <p:nvPr/>
        </p:nvSpPr>
        <p:spPr>
          <a:xfrm xmlns:a="http://schemas.openxmlformats.org/drawingml/2006/main">
            <a:off x="933450" y="2266950"/>
            <a:ext cx="103251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СЦЕНАРИО</a:t>
            </a:r>
          </a:p>
        </p:txBody>
      </p:sp>
      <p:sp>
        <p:nvSpPr>
          <p:cNvPr id="8" name="Rectangle 7">
            <a:extLst xmlns:a="http://schemas.openxmlformats.org/drawingml/2006/main">
              <a:ext uri="{FF2B5EF4-FFF2-40B4-BE49-F238E27FC236}">
                <a16:creationId xmlns:a16="http://schemas.microsoft.com/office/drawing/2014/main" id="{203BE781-AC2F-4E21-A3B3-477D9B22F695}"/>
              </a:ext>
            </a:extLst>
          </p:cNvPr>
          <p:cNvSpPr>
            <a:spLocks xmlns:a="http://schemas.openxmlformats.org/drawingml/2006/main" noGrp="1"/>
          </p:cNvSpPr>
          <p:nvPr/>
        </p:nvSpPr>
        <p:spPr>
          <a:xfrm xmlns:a="http://schemas.openxmlformats.org/drawingml/2006/main">
            <a:off x="933450" y="2514600"/>
            <a:ext cx="10325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Пример: иста улога, различит тренутак</a:t>
            </a:r>
          </a:p>
        </p:txBody>
      </p:sp>
      <p:sp>
        <p:nvSpPr>
          <p:cNvPr id="9" name="Rectangle 8">
            <a:extLst xmlns:a="http://schemas.openxmlformats.org/drawingml/2006/main">
              <a:ext uri="{FF2B5EF4-FFF2-40B4-BE49-F238E27FC236}">
                <a16:creationId xmlns:a16="http://schemas.microsoft.com/office/drawing/2014/main" id="{F0E2872F-B1A3-4A01-96E4-D73A23E5B739}"/>
              </a:ext>
            </a:extLst>
          </p:cNvPr>
          <p:cNvSpPr>
            <a:spLocks xmlns:a="http://schemas.openxmlformats.org/drawingml/2006/main" noGrp="1"/>
          </p:cNvSpPr>
          <p:nvPr/>
        </p:nvSpPr>
        <p:spPr>
          <a:xfrm xmlns:a="http://schemas.openxmlformats.org/drawingml/2006/main">
            <a:off x="933450" y="2981325"/>
            <a:ext cx="10325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Два оператера имају исту улогу, али један ради на инциденту који му је додељен, док други ради на другом домену. Ако политика гледа само улогу, обојица би могла да одобре исту ризичну измену. Атрибути као што су припадност домену, стање инцидента и тренутно одобрење дају одлуци контекст који назив улоге сам не може да носи.</a:t>
            </a:r>
          </a:p>
        </p:txBody>
      </p:sp>
      <p:sp>
        <p:nvSpPr>
          <p:cNvPr id="10" name="Rounded Rectangle 9">
            <a:extLst xmlns:a="http://schemas.openxmlformats.org/drawingml/2006/main">
              <a:ext uri="{FF2B5EF4-FFF2-40B4-BE49-F238E27FC236}">
                <a16:creationId xmlns:a16="http://schemas.microsoft.com/office/drawing/2014/main" id="{69CB48FD-E669-470E-971B-77B98FFD7144}"/>
              </a:ext>
            </a:extLst>
          </p:cNvPr>
          <p:cNvSpPr>
            <a:spLocks xmlns:a="http://schemas.openxmlformats.org/drawingml/2006/main" noGrp="1"/>
          </p:cNvSpPr>
          <p:nvPr/>
        </p:nvSpPr>
        <p:spPr>
          <a:xfrm xmlns:a="http://schemas.openxmlformats.org/drawingml/2006/main">
            <a:off x="781050" y="4048125"/>
            <a:ext cx="3352800" cy="1352550"/>
          </a:xfrm>
          <a:prstGeom xmlns:a="http://schemas.openxmlformats.org/drawingml/2006/main" prst="roundRect">
            <a:avLst>
              <a:gd name="adj" fmla="val 9859"/>
            </a:avLst>
          </a:prstGeom>
          <a:solidFill xmlns:a="http://schemas.openxmlformats.org/drawingml/2006/main">
            <a:srgbClr val="F7EFF1"/>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A9079299-76E2-4ADA-B4FC-302773678C16}"/>
              </a:ext>
            </a:extLst>
          </p:cNvPr>
          <p:cNvSpPr>
            <a:spLocks xmlns:a="http://schemas.openxmlformats.org/drawingml/2006/main" noGrp="1"/>
          </p:cNvSpPr>
          <p:nvPr/>
        </p:nvSpPr>
        <p:spPr>
          <a:xfrm xmlns:a="http://schemas.openxmlformats.org/drawingml/2006/main">
            <a:off x="933450" y="4171950"/>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E0E396A1-DE28-49EE-8A6A-2A29C11E478F}"/>
              </a:ext>
            </a:extLst>
          </p:cNvPr>
          <p:cNvSpPr>
            <a:spLocks xmlns:a="http://schemas.openxmlformats.org/drawingml/2006/main" noGrp="1"/>
          </p:cNvSpPr>
          <p:nvPr/>
        </p:nvSpPr>
        <p:spPr>
          <a:xfrm xmlns:a="http://schemas.openxmlformats.org/drawingml/2006/main">
            <a:off x="933450" y="4419600"/>
            <a:ext cx="304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Атрибутска одлука остаје разумљива само ако је извор сваког атрибута познат и поуздан.</a:t>
            </a:r>
          </a:p>
        </p:txBody>
      </p:sp>
      <p:sp>
        <p:nvSpPr>
          <p:cNvPr id="13" name="Rounded Rectangle 12">
            <a:extLst xmlns:a="http://schemas.openxmlformats.org/drawingml/2006/main">
              <a:ext uri="{FF2B5EF4-FFF2-40B4-BE49-F238E27FC236}">
                <a16:creationId xmlns:a16="http://schemas.microsoft.com/office/drawing/2014/main" id="{A1373726-54AD-40C2-AFAD-F31B0698FC2E}"/>
              </a:ext>
            </a:extLst>
          </p:cNvPr>
          <p:cNvSpPr>
            <a:spLocks xmlns:a="http://schemas.openxmlformats.org/drawingml/2006/main" noGrp="1"/>
          </p:cNvSpPr>
          <p:nvPr/>
        </p:nvSpPr>
        <p:spPr>
          <a:xfrm xmlns:a="http://schemas.openxmlformats.org/drawingml/2006/main">
            <a:off x="4391025" y="4048125"/>
            <a:ext cx="3352800" cy="1352550"/>
          </a:xfrm>
          <a:prstGeom xmlns:a="http://schemas.openxmlformats.org/drawingml/2006/main" prst="roundRect">
            <a:avLst>
              <a:gd name="adj" fmla="val 9859"/>
            </a:avLst>
          </a:prstGeom>
          <a:solidFill xmlns:a="http://schemas.openxmlformats.org/drawingml/2006/main">
            <a:srgbClr val="FFF6E9"/>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4DA68D79-13A9-431D-A484-EDEAE9FFDA02}"/>
              </a:ext>
            </a:extLst>
          </p:cNvPr>
          <p:cNvSpPr>
            <a:spLocks xmlns:a="http://schemas.openxmlformats.org/drawingml/2006/main" noGrp="1"/>
          </p:cNvSpPr>
          <p:nvPr/>
        </p:nvSpPr>
        <p:spPr>
          <a:xfrm xmlns:a="http://schemas.openxmlformats.org/drawingml/2006/main">
            <a:off x="4543425" y="4171950"/>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99051634-5717-4D00-B1BD-DCFA34081F05}"/>
              </a:ext>
            </a:extLst>
          </p:cNvPr>
          <p:cNvSpPr>
            <a:spLocks xmlns:a="http://schemas.openxmlformats.org/drawingml/2006/main" noGrp="1"/>
          </p:cNvSpPr>
          <p:nvPr/>
        </p:nvSpPr>
        <p:spPr>
          <a:xfrm xmlns:a="http://schemas.openxmlformats.org/drawingml/2006/main">
            <a:off x="4543425" y="4419600"/>
            <a:ext cx="304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Правило треба да даје исти резултат за исти снимак контекста, како би могло да се тестира и објасни.</a:t>
            </a:r>
          </a:p>
        </p:txBody>
      </p:sp>
      <p:sp>
        <p:nvSpPr>
          <p:cNvPr id="16" name="Rounded Rectangle 15">
            <a:extLst xmlns:a="http://schemas.openxmlformats.org/drawingml/2006/main">
              <a:ext uri="{FF2B5EF4-FFF2-40B4-BE49-F238E27FC236}">
                <a16:creationId xmlns:a16="http://schemas.microsoft.com/office/drawing/2014/main" id="{E373CD08-7E87-47D2-A292-0D7504BB7DE3}"/>
              </a:ext>
            </a:extLst>
          </p:cNvPr>
          <p:cNvSpPr>
            <a:spLocks xmlns:a="http://schemas.openxmlformats.org/drawingml/2006/main" noGrp="1"/>
          </p:cNvSpPr>
          <p:nvPr/>
        </p:nvSpPr>
        <p:spPr>
          <a:xfrm xmlns:a="http://schemas.openxmlformats.org/drawingml/2006/main">
            <a:off x="8001000" y="4048125"/>
            <a:ext cx="3352800" cy="1352550"/>
          </a:xfrm>
          <a:prstGeom xmlns:a="http://schemas.openxmlformats.org/drawingml/2006/main" prst="roundRect">
            <a:avLst>
              <a:gd name="adj" fmla="val 9859"/>
            </a:avLst>
          </a:prstGeom>
          <a:solidFill xmlns:a="http://schemas.openxmlformats.org/drawingml/2006/main">
            <a:srgbClr val="EDF8F2"/>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961858CF-2432-41BF-9551-CFA833D2DA8B}"/>
              </a:ext>
            </a:extLst>
          </p:cNvPr>
          <p:cNvSpPr>
            <a:spLocks xmlns:a="http://schemas.openxmlformats.org/drawingml/2006/main" noGrp="1"/>
          </p:cNvSpPr>
          <p:nvPr/>
        </p:nvSpPr>
        <p:spPr>
          <a:xfrm xmlns:a="http://schemas.openxmlformats.org/drawingml/2006/main">
            <a:off x="8153400" y="4171950"/>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FDE71747-22BE-404A-9C49-10CCD669D3B7}"/>
              </a:ext>
            </a:extLst>
          </p:cNvPr>
          <p:cNvSpPr>
            <a:spLocks xmlns:a="http://schemas.openxmlformats.org/drawingml/2006/main" noGrp="1"/>
          </p:cNvSpPr>
          <p:nvPr/>
        </p:nvSpPr>
        <p:spPr>
          <a:xfrm xmlns:a="http://schemas.openxmlformats.org/drawingml/2006/main">
            <a:off x="8153400" y="4419600"/>
            <a:ext cx="304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8520"/>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Преглед приступа враћа тим на питање да ли право и даље има пословни разлог, чак и када је некада било правилно додељено.</a:t>
            </a:r>
          </a:p>
        </p:txBody>
      </p:sp>
    </p:spTree>
    <p:extLst>
      <p:ext uri="{BB962C8B-B14F-4D97-AF65-F5344CB8AC3E}">
        <p14:creationId xmlns:p14="http://schemas.microsoft.com/office/powerpoint/2010/main" val="138498452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1734BD49-CDD6-4560-B4F2-A6047E72773A}"/>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FB7828A4-63BC-4995-AD6A-196590B020AB}"/>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07B99E6F-168C-4EB8-AEB3-6CA33D590CA6}"/>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14</a:t>
            </a:r>
          </a:p>
        </p:txBody>
      </p:sp>
      <p:sp>
        <p:nvSpPr>
          <p:cNvPr id="4" name="Rectangle 3">
            <a:extLst xmlns:a="http://schemas.openxmlformats.org/drawingml/2006/main">
              <a:ext uri="{FF2B5EF4-FFF2-40B4-BE49-F238E27FC236}">
                <a16:creationId xmlns:a16="http://schemas.microsoft.com/office/drawing/2014/main" id="{54C290A1-0077-4F79-A6F4-9588FD41F731}"/>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Атрибути прецизирају стабилну основу улоге</a:t>
            </a:r>
          </a:p>
        </p:txBody>
      </p:sp>
      <p:sp>
        <p:nvSpPr>
          <p:cNvPr id="5" name="Rectangle 4">
            <a:extLst xmlns:a="http://schemas.openxmlformats.org/drawingml/2006/main">
              <a:ext uri="{FF2B5EF4-FFF2-40B4-BE49-F238E27FC236}">
                <a16:creationId xmlns:a16="http://schemas.microsoft.com/office/drawing/2014/main" id="{45B63CC0-D170-49A2-AD6C-D04EF0F510E0}"/>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Политика проверава атрибуте контекста редом, кроз мала правила са једним разлогом одбијања.</a:t>
            </a:r>
          </a:p>
        </p:txBody>
      </p:sp>
      <p:sp>
        <p:nvSpPr>
          <p:cNvPr id="6" name="Rounded Rectangle 5">
            <a:extLst xmlns:a="http://schemas.openxmlformats.org/drawingml/2006/main">
              <a:ext uri="{FF2B5EF4-FFF2-40B4-BE49-F238E27FC236}">
                <a16:creationId xmlns:a16="http://schemas.microsoft.com/office/drawing/2014/main" id="{20C89A5E-F922-4D26-891E-23D53BE697D8}"/>
              </a:ext>
            </a:extLst>
          </p:cNvPr>
          <p:cNvSpPr>
            <a:spLocks xmlns:a="http://schemas.openxmlformats.org/drawingml/2006/main" noGrp="1"/>
          </p:cNvSpPr>
          <p:nvPr/>
        </p:nvSpPr>
        <p:spPr>
          <a:xfrm xmlns:a="http://schemas.openxmlformats.org/drawingml/2006/main">
            <a:off x="666750" y="2095500"/>
            <a:ext cx="6858000" cy="2482350"/>
          </a:xfrm>
          <a:prstGeom xmlns:a="http://schemas.openxmlformats.org/drawingml/2006/main" prst="roundRect">
            <a:avLst>
              <a:gd name="adj" fmla="val 4587"/>
            </a:avLst>
          </a:prstGeom>
          <a:solidFill xmlns:a="http://schemas.openxmlformats.org/drawingml/2006/main">
            <a:srgbClr val="F4F6F7"/>
          </a:solidFill>
          <a:ln xmlns:a="http://schemas.openxmlformats.org/drawingml/2006/main" w="9525">
            <a:solidFill>
              <a:srgbClr val="CCD6DE"/>
            </a:solidFill>
            <a:prstDash val="soli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sp>
        <p:nvSpPr>
          <p:cNvPr id="7" name="Straight Connector 6">
            <a:extLst xmlns:a="http://schemas.openxmlformats.org/drawingml/2006/main">
              <a:ext uri="{FF2B5EF4-FFF2-40B4-BE49-F238E27FC236}">
                <a16:creationId xmlns:a16="http://schemas.microsoft.com/office/drawing/2014/main" id="{C332617C-82E6-4C8B-803A-E9B91B4E1C35}"/>
              </a:ext>
            </a:extLst>
          </p:cNvPr>
          <p:cNvSpPr>
            <a:spLocks xmlns:a="http://schemas.openxmlformats.org/drawingml/2006/main" noGrp="1"/>
          </p:cNvSpPr>
          <p:nvPr/>
        </p:nvSpPr>
        <p:spPr>
          <a:xfrm xmlns:a="http://schemas.openxmlformats.org/drawingml/2006/main">
            <a:off x="666750" y="2438400"/>
            <a:ext cx="6858000" cy="9525"/>
          </a:xfrm>
          <a:prstGeom xmlns:a="http://schemas.openxmlformats.org/drawingml/2006/main" prst="line">
            <a:avLst/>
          </a:prstGeom>
          <a:solidFill xmlns:a="http://schemas.openxmlformats.org/drawingml/2006/main">
            <a:srgbClr val="AFBEC9"/>
          </a:solidFill>
          <a:ln xmlns:a="http://schemas.openxmlformats.org/drawingml/2006/main" w="9525">
            <a:solidFill>
              <a:srgbClr val="AFBEC9"/>
            </a:solidFill>
            <a:prstDash val="solid"/>
          </a:ln>
        </p:spPr>
      </p:sp>
      <p:sp>
        <p:nvSpPr>
          <p:cNvPr id="8" name="Oval 7">
            <a:extLst xmlns:a="http://schemas.openxmlformats.org/drawingml/2006/main">
              <a:ext uri="{FF2B5EF4-FFF2-40B4-BE49-F238E27FC236}">
                <a16:creationId xmlns:a16="http://schemas.microsoft.com/office/drawing/2014/main" id="{1137DBB4-9E09-4F13-BE45-9D200F114A32}"/>
              </a:ext>
            </a:extLst>
          </p:cNvPr>
          <p:cNvSpPr>
            <a:spLocks xmlns:a="http://schemas.openxmlformats.org/drawingml/2006/main" noGrp="1"/>
          </p:cNvSpPr>
          <p:nvPr/>
        </p:nvSpPr>
        <p:spPr>
          <a:xfrm xmlns:a="http://schemas.openxmlformats.org/drawingml/2006/main">
            <a:off x="6972300" y="2214563"/>
            <a:ext cx="85725" cy="85725"/>
          </a:xfrm>
          <a:prstGeom xmlns:a="http://schemas.openxmlformats.org/drawingml/2006/main" prst="ellipse">
            <a:avLst/>
          </a:prstGeom>
          <a:solidFill xmlns:a="http://schemas.openxmlformats.org/drawingml/2006/main">
            <a:srgbClr val="EF6A60"/>
          </a:solidFill>
          <a:ln xmlns:a="http://schemas.openxmlformats.org/drawingml/2006/main" w="0">
            <a:noFill/>
          </a:ln>
        </p:spPr>
      </p:sp>
      <p:sp>
        <p:nvSpPr>
          <p:cNvPr id="9" name="Oval 8">
            <a:extLst xmlns:a="http://schemas.openxmlformats.org/drawingml/2006/main">
              <a:ext uri="{FF2B5EF4-FFF2-40B4-BE49-F238E27FC236}">
                <a16:creationId xmlns:a16="http://schemas.microsoft.com/office/drawing/2014/main" id="{538FBB14-20CE-4D44-8DB5-2DBB5F8C1707}"/>
              </a:ext>
            </a:extLst>
          </p:cNvPr>
          <p:cNvSpPr>
            <a:spLocks xmlns:a="http://schemas.openxmlformats.org/drawingml/2006/main" noGrp="1"/>
          </p:cNvSpPr>
          <p:nvPr/>
        </p:nvSpPr>
        <p:spPr>
          <a:xfrm xmlns:a="http://schemas.openxmlformats.org/drawingml/2006/main">
            <a:off x="7129463" y="2214563"/>
            <a:ext cx="85725" cy="85725"/>
          </a:xfrm>
          <a:prstGeom xmlns:a="http://schemas.openxmlformats.org/drawingml/2006/main" prst="ellipse">
            <a:avLst/>
          </a:prstGeom>
          <a:solidFill xmlns:a="http://schemas.openxmlformats.org/drawingml/2006/main">
            <a:srgbClr val="F2BD42"/>
          </a:solidFill>
          <a:ln xmlns:a="http://schemas.openxmlformats.org/drawingml/2006/main" w="0">
            <a:noFill/>
          </a:ln>
        </p:spPr>
      </p:sp>
      <p:sp>
        <p:nvSpPr>
          <p:cNvPr id="10" name="Oval 9">
            <a:extLst xmlns:a="http://schemas.openxmlformats.org/drawingml/2006/main">
              <a:ext uri="{FF2B5EF4-FFF2-40B4-BE49-F238E27FC236}">
                <a16:creationId xmlns:a16="http://schemas.microsoft.com/office/drawing/2014/main" id="{6B0FBD05-4071-412A-BB53-A973B864C05F}"/>
              </a:ext>
            </a:extLst>
          </p:cNvPr>
          <p:cNvSpPr>
            <a:spLocks xmlns:a="http://schemas.openxmlformats.org/drawingml/2006/main" noGrp="1"/>
          </p:cNvSpPr>
          <p:nvPr/>
        </p:nvSpPr>
        <p:spPr>
          <a:xfrm xmlns:a="http://schemas.openxmlformats.org/drawingml/2006/main">
            <a:off x="7286625" y="2214563"/>
            <a:ext cx="85725" cy="85725"/>
          </a:xfrm>
          <a:prstGeom xmlns:a="http://schemas.openxmlformats.org/drawingml/2006/main" prst="ellipse">
            <a:avLst/>
          </a:prstGeom>
          <a:solidFill xmlns:a="http://schemas.openxmlformats.org/drawingml/2006/main">
            <a:srgbClr val="65C466"/>
          </a:solidFill>
          <a:ln xmlns:a="http://schemas.openxmlformats.org/drawingml/2006/main" w="0">
            <a:noFill/>
          </a:ln>
        </p:spPr>
      </p:sp>
      <p:sp>
        <p:nvSpPr>
          <p:cNvPr id="11" name="Rectangle 10">
            <a:extLst xmlns:a="http://schemas.openxmlformats.org/drawingml/2006/main">
              <a:ext uri="{FF2B5EF4-FFF2-40B4-BE49-F238E27FC236}">
                <a16:creationId xmlns:a16="http://schemas.microsoft.com/office/drawing/2014/main" id="{6BFC1CE0-7251-46CE-8274-002A8BF02F29}"/>
              </a:ext>
            </a:extLst>
          </p:cNvPr>
          <p:cNvSpPr>
            <a:spLocks xmlns:a="http://schemas.openxmlformats.org/drawingml/2006/main" noGrp="1"/>
          </p:cNvSpPr>
          <p:nvPr/>
        </p:nvSpPr>
        <p:spPr>
          <a:xfrm xmlns:a="http://schemas.openxmlformats.org/drawingml/2006/main">
            <a:off x="781050" y="2571750"/>
            <a:ext cx="30480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9</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10</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11</a:t>
            </a:r>
          </a:p>
        </p:txBody>
      </p:sp>
      <p:sp>
        <p:nvSpPr>
          <p:cNvPr id="12" name="Rectangle 11">
            <a:extLst xmlns:a="http://schemas.openxmlformats.org/drawingml/2006/main">
              <a:ext uri="{FF2B5EF4-FFF2-40B4-BE49-F238E27FC236}">
                <a16:creationId xmlns:a16="http://schemas.microsoft.com/office/drawing/2014/main" id="{9D52198B-E2CA-4538-9FA0-3A94EFE4A8FC}"/>
              </a:ext>
            </a:extLst>
          </p:cNvPr>
          <p:cNvSpPr>
            <a:spLocks xmlns:a="http://schemas.openxmlformats.org/drawingml/2006/main" noGrp="1"/>
          </p:cNvSpPr>
          <p:nvPr/>
        </p:nvSpPr>
        <p:spPr>
          <a:xfrm xmlns:a="http://schemas.openxmlformats.org/drawingml/2006/main">
            <a:off x="1200150" y="2571750"/>
            <a:ext cx="615315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nSpc>
                <a:spcPts val="1300"/>
              </a:lnSpc>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0">
                <a:solidFill>
                  <a:srgbClr val="7651D4"/>
                </a:solidFill>
              </a:rPr>
              <a:t>AccessDecision</a:t>
            </a:r>
            <a:r>
              <a:rPr b="0">
                <a:solidFill>
                  <a:srgbClr val="263044"/>
                </a:solidFill>
              </a:rPr>
              <a:t> </a:t>
            </a:r>
            <a:r>
              <a:rPr b="0">
                <a:solidFill>
                  <a:srgbClr val="7651D4"/>
                </a:solidFill>
              </a:rPr>
              <a:t>Evaluate</a:t>
            </a:r>
            <a:r>
              <a:rPr b="0">
                <a:solidFill>
                  <a:srgbClr val="263044"/>
                </a:solidFill>
              </a:rPr>
              <a:t>(</a:t>
            </a:r>
            <a:r>
              <a:rPr b="0">
                <a:solidFill>
                  <a:srgbClr val="7651D4"/>
                </a:solidFill>
              </a:rPr>
              <a:t>AccessContext</a:t>
            </a:r>
            <a:r>
              <a:rPr b="0">
                <a:solidFill>
                  <a:srgbClr val="263044"/>
                </a:solidFill>
              </a:rPr>
              <a:t> context, </a:t>
            </a:r>
            <a:r>
              <a:rPr b="0">
                <a:solidFill>
                  <a:srgbClr val="7651D4"/>
                </a:solidFill>
              </a:rPr>
              <a:t>DateTimeOffset</a:t>
            </a:r>
            <a:r>
              <a:rPr b="0">
                <a:solidFill>
                  <a:srgbClr val="263044"/>
                </a:solidFill>
              </a:rPr>
              <a:t> now)</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denial = _rules</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0">
                <a:solidFill>
                  <a:srgbClr val="7651D4"/>
                </a:solidFill>
              </a:rPr>
              <a:t>Select</a:t>
            </a:r>
            <a:r>
              <a:rPr b="0">
                <a:solidFill>
                  <a:srgbClr val="263044"/>
                </a:solidFill>
              </a:rPr>
              <a:t>(rule =&gt; rule.</a:t>
            </a:r>
            <a:r>
              <a:rPr b="0">
                <a:solidFill>
                  <a:srgbClr val="7651D4"/>
                </a:solidFill>
              </a:rPr>
              <a:t>Evaluate</a:t>
            </a:r>
            <a:r>
              <a:rPr b="0">
                <a:solidFill>
                  <a:srgbClr val="263044"/>
                </a:solidFill>
              </a:rPr>
              <a:t>(context))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0">
                <a:solidFill>
                  <a:srgbClr val="7651D4"/>
                </a:solidFill>
              </a:rPr>
              <a:t>FirstOrDefault</a:t>
            </a:r>
            <a:r>
              <a:rPr b="0">
                <a:solidFill>
                  <a:srgbClr val="263044"/>
                </a:solidFill>
              </a:rPr>
              <a:t>(outcome =&gt; outcome </a:t>
            </a:r>
            <a:r>
              <a:rPr b="1">
                <a:solidFill>
                  <a:srgbClr val="0969C3"/>
                </a:solidFill>
              </a:rPr>
              <a:t>is</a:t>
            </a:r>
            <a:r>
              <a:rPr b="0">
                <a:solidFill>
                  <a:srgbClr val="263044"/>
                </a:solidFill>
              </a:rPr>
              <a:t> </a:t>
            </a:r>
            <a:r>
              <a:rPr b="1">
                <a:solidFill>
                  <a:srgbClr val="0969C3"/>
                </a:solidFill>
              </a:rPr>
              <a:t>not</a:t>
            </a:r>
            <a:r>
              <a:rPr b="0">
                <a:solidFill>
                  <a:srgbClr val="263044"/>
                </a:solidFill>
              </a:rPr>
              <a:t> </a:t>
            </a:r>
            <a:r>
              <a:rPr b="1">
                <a:solidFill>
                  <a:srgbClr val="0969C3"/>
                </a:solidFill>
              </a:rPr>
              <a:t>null</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denial </a:t>
            </a:r>
            <a:r>
              <a:rPr b="1">
                <a:solidFill>
                  <a:srgbClr val="0969C3"/>
                </a:solidFill>
              </a:rPr>
              <a:t>is</a:t>
            </a:r>
            <a:r>
              <a:rPr b="0">
                <a:solidFill>
                  <a:srgbClr val="263044"/>
                </a:solidFill>
              </a:rPr>
              <a:t> </a:t>
            </a:r>
            <a:r>
              <a:rPr b="1">
                <a:solidFill>
                  <a:srgbClr val="0969C3"/>
                </a:solidFill>
              </a:rPr>
              <a:t>null</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 </a:t>
            </a:r>
            <a:r>
              <a:rPr b="1">
                <a:solidFill>
                  <a:srgbClr val="0969C3"/>
                </a:solidFill>
              </a:rPr>
              <a:t>new</a:t>
            </a:r>
            <a:r>
              <a:rPr b="0">
                <a:solidFill>
                  <a:srgbClr val="263044"/>
                </a:solidFill>
              </a:rPr>
              <a:t>(</a:t>
            </a:r>
            <a:r>
              <a:rPr b="1">
                <a:solidFill>
                  <a:srgbClr val="0969C3"/>
                </a:solidFill>
              </a:rPr>
              <a:t>true</a:t>
            </a:r>
            <a:r>
              <a:rPr b="0">
                <a:solidFill>
                  <a:srgbClr val="263044"/>
                </a:solidFill>
              </a:rPr>
              <a:t>, </a:t>
            </a:r>
            <a:r>
              <a:rPr b="0">
                <a:solidFill>
                  <a:srgbClr val="7651D4"/>
                </a:solidFill>
              </a:rPr>
              <a:t>AccessDecisionCodes</a:t>
            </a:r>
            <a:r>
              <a:rPr b="0">
                <a:solidFill>
                  <a:srgbClr val="263044"/>
                </a:solidFill>
              </a:rPr>
              <a:t>.</a:t>
            </a:r>
            <a:r>
              <a:rPr b="0">
                <a:solidFill>
                  <a:srgbClr val="7651D4"/>
                </a:solidFill>
              </a:rPr>
              <a:t>Granted</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0">
                <a:solidFill>
                  <a:srgbClr val="B45309"/>
                </a:solidFill>
              </a:rPr>
              <a:t>"Atributi i rizik su prihvatljivi."</a:t>
            </a:r>
            <a:r>
              <a:rPr b="0">
                <a:solidFill>
                  <a:srgbClr val="263044"/>
                </a:solidFill>
              </a:rPr>
              <a:t>, now + grantReviewInterval)</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 </a:t>
            </a:r>
            <a:r>
              <a:rPr b="1">
                <a:solidFill>
                  <a:srgbClr val="0969C3"/>
                </a:solidFill>
              </a:rPr>
              <a:t>new</a:t>
            </a:r>
            <a:r>
              <a:rPr b="0">
                <a:solidFill>
                  <a:srgbClr val="263044"/>
                </a:solidFill>
              </a:rPr>
              <a:t>(</a:t>
            </a:r>
            <a:r>
              <a:rPr b="1">
                <a:solidFill>
                  <a:srgbClr val="0969C3"/>
                </a:solidFill>
              </a:rPr>
              <a:t>false</a:t>
            </a:r>
            <a:r>
              <a:rPr b="0">
                <a:solidFill>
                  <a:srgbClr val="263044"/>
                </a:solidFill>
              </a:rPr>
              <a:t>, denial.</a:t>
            </a:r>
            <a:r>
              <a:rPr b="0">
                <a:solidFill>
                  <a:srgbClr val="7651D4"/>
                </a:solidFill>
              </a:rPr>
              <a:t>Code</a:t>
            </a:r>
            <a:r>
              <a:rPr b="0">
                <a:solidFill>
                  <a:srgbClr val="263044"/>
                </a:solidFill>
              </a:rPr>
              <a:t>, denial.</a:t>
            </a:r>
            <a:r>
              <a:rPr b="0">
                <a:solidFill>
                  <a:srgbClr val="7651D4"/>
                </a:solidFill>
              </a:rPr>
              <a:t>Reason</a:t>
            </a:r>
            <a:r>
              <a:rPr b="0">
                <a:solidFill>
                  <a:srgbClr val="263044"/>
                </a:solidFill>
              </a:rPr>
              <a:t>, now + denial.</a:t>
            </a:r>
            <a:r>
              <a:rPr b="0">
                <a:solidFill>
                  <a:srgbClr val="7651D4"/>
                </a:solidFill>
              </a:rPr>
              <a:t>ReviewIn</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xmlns:a="http://schemas.openxmlformats.org/drawingml/2006/main">
              <a:ext uri="{FF2B5EF4-FFF2-40B4-BE49-F238E27FC236}">
                <a16:creationId xmlns:a16="http://schemas.microsoft.com/office/drawing/2014/main" id="{219DD6F4-3547-42B3-B25D-E0ABCBD123EF}"/>
              </a:ext>
            </a:extLst>
          </p:cNvPr>
          <p:cNvSpPr>
            <a:spLocks xmlns:a="http://schemas.openxmlformats.org/drawingml/2006/main" noGrp="1"/>
          </p:cNvSpPr>
          <p:nvPr/>
        </p:nvSpPr>
        <p:spPr>
          <a:xfrm xmlns:a="http://schemas.openxmlformats.org/drawingml/2006/main">
            <a:off x="7924800" y="2152650"/>
            <a:ext cx="3600450" cy="1809750"/>
          </a:xfrm>
          <a:prstGeom xmlns:a="http://schemas.openxmlformats.org/drawingml/2006/main" prst="roundRect">
            <a:avLst>
              <a:gd name="adj" fmla="val 7368"/>
            </a:avLst>
          </a:prstGeom>
          <a:solidFill xmlns:a="http://schemas.openxmlformats.org/drawingml/2006/main">
            <a:srgbClr val="F7EFF1"/>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2334289E-B094-429E-862A-7AC4690DA6C1}"/>
              </a:ext>
            </a:extLst>
          </p:cNvPr>
          <p:cNvSpPr>
            <a:spLocks xmlns:a="http://schemas.openxmlformats.org/drawingml/2006/main" noGrp="1"/>
          </p:cNvSpPr>
          <p:nvPr/>
        </p:nvSpPr>
        <p:spPr>
          <a:xfrm xmlns:a="http://schemas.openxmlformats.org/drawingml/2006/main">
            <a:off x="8077200" y="22764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ТУМАЧЕЊЕ</a:t>
            </a:r>
          </a:p>
        </p:txBody>
      </p:sp>
      <p:sp>
        <p:nvSpPr>
          <p:cNvPr id="15" name="Rectangle 14">
            <a:extLst xmlns:a="http://schemas.openxmlformats.org/drawingml/2006/main">
              <a:ext uri="{FF2B5EF4-FFF2-40B4-BE49-F238E27FC236}">
                <a16:creationId xmlns:a16="http://schemas.microsoft.com/office/drawing/2014/main" id="{C5717051-F995-4984-8764-41ACA846576C}"/>
              </a:ext>
            </a:extLst>
          </p:cNvPr>
          <p:cNvSpPr>
            <a:spLocks xmlns:a="http://schemas.openxmlformats.org/drawingml/2006/main" noGrp="1"/>
          </p:cNvSpPr>
          <p:nvPr/>
        </p:nvSpPr>
        <p:spPr>
          <a:xfrm xmlns:a="http://schemas.openxmlformats.org/drawingml/2006/main">
            <a:off x="8077200" y="2524125"/>
            <a:ext cx="32956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Свако правило проверава један атрибут; прво одбијање одређује исход и рок следећег прегледа.</a:t>
            </a:r>
          </a:p>
        </p:txBody>
      </p:sp>
      <p:sp>
        <p:nvSpPr>
          <p:cNvPr id="16" name="Rounded Rectangle 15">
            <a:extLst xmlns:a="http://schemas.openxmlformats.org/drawingml/2006/main">
              <a:ext uri="{FF2B5EF4-FFF2-40B4-BE49-F238E27FC236}">
                <a16:creationId xmlns:a16="http://schemas.microsoft.com/office/drawing/2014/main" id="{5F5D34C1-FC39-43C9-92A4-C674D871C6A5}"/>
              </a:ext>
            </a:extLst>
          </p:cNvPr>
          <p:cNvSpPr>
            <a:spLocks xmlns:a="http://schemas.openxmlformats.org/drawingml/2006/main" noGrp="1"/>
          </p:cNvSpPr>
          <p:nvPr/>
        </p:nvSpPr>
        <p:spPr>
          <a:xfrm xmlns:a="http://schemas.openxmlformats.org/drawingml/2006/main">
            <a:off x="7924800" y="4248150"/>
            <a:ext cx="3600450" cy="1428750"/>
          </a:xfrm>
          <a:prstGeom xmlns:a="http://schemas.openxmlformats.org/drawingml/2006/main" prst="roundRect">
            <a:avLst>
              <a:gd name="adj" fmla="val 9333"/>
            </a:avLst>
          </a:prstGeom>
          <a:solidFill xmlns:a="http://schemas.openxmlformats.org/drawingml/2006/main">
            <a:srgbClr val="FFF6E9"/>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C738627E-D6B0-4DFB-8B21-E706B34DE65B}"/>
              </a:ext>
            </a:extLst>
          </p:cNvPr>
          <p:cNvSpPr>
            <a:spLocks xmlns:a="http://schemas.openxmlformats.org/drawingml/2006/main" noGrp="1"/>
          </p:cNvSpPr>
          <p:nvPr/>
        </p:nvSpPr>
        <p:spPr>
          <a:xfrm xmlns:a="http://schemas.openxmlformats.org/drawingml/2006/main">
            <a:off x="8077200" y="43719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БЕЗБЕДНОСНА ГРАНИЦА</a:t>
            </a:r>
          </a:p>
        </p:txBody>
      </p:sp>
      <p:sp>
        <p:nvSpPr>
          <p:cNvPr id="18" name="Rectangle 17">
            <a:extLst xmlns:a="http://schemas.openxmlformats.org/drawingml/2006/main">
              <a:ext uri="{FF2B5EF4-FFF2-40B4-BE49-F238E27FC236}">
                <a16:creationId xmlns:a16="http://schemas.microsoft.com/office/drawing/2014/main" id="{8A6E50A8-624C-4862-BC13-D36B077D74E6}"/>
              </a:ext>
            </a:extLst>
          </p:cNvPr>
          <p:cNvSpPr>
            <a:spLocks xmlns:a="http://schemas.openxmlformats.org/drawingml/2006/main" noGrp="1"/>
          </p:cNvSpPr>
          <p:nvPr/>
        </p:nvSpPr>
        <p:spPr>
          <a:xfrm xmlns:a="http://schemas.openxmlformats.org/drawingml/2006/main">
            <a:off x="8077200" y="4619625"/>
            <a:ext cx="3295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Одбијање је експлицитан исход са разлогом који се може тестирати и објаснити.</a:t>
            </a:r>
          </a:p>
        </p:txBody>
      </p:sp>
    </p:spTree>
    <p:extLst>
      <p:ext uri="{BB962C8B-B14F-4D97-AF65-F5344CB8AC3E}">
        <p14:creationId xmlns:p14="http://schemas.microsoft.com/office/powerpoint/2010/main" val="123400884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BDA2C78E-58CC-4145-A296-C079110D934B}"/>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8679B8C4-760C-4B82-B597-2DEA402C6E46}"/>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E4C54EFA-7DD2-4320-B3A7-D9C2BE81BE61}"/>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15</a:t>
            </a:r>
          </a:p>
        </p:txBody>
      </p:sp>
      <p:sp>
        <p:nvSpPr>
          <p:cNvPr id="4" name="Rectangle 3">
            <a:extLst xmlns:a="http://schemas.openxmlformats.org/drawingml/2006/main">
              <a:ext uri="{FF2B5EF4-FFF2-40B4-BE49-F238E27FC236}">
                <a16:creationId xmlns:a16="http://schemas.microsoft.com/office/drawing/2014/main" id="{DBE0A002-5E5F-4921-AA1B-00A5BCFECEE4}"/>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Иста улога, супротан контекст, друга одлука</a:t>
            </a:r>
          </a:p>
        </p:txBody>
      </p:sp>
      <p:sp>
        <p:nvSpPr>
          <p:cNvPr id="5" name="Rectangle 4">
            <a:extLst xmlns:a="http://schemas.openxmlformats.org/drawingml/2006/main">
              <a:ext uri="{FF2B5EF4-FFF2-40B4-BE49-F238E27FC236}">
                <a16:creationId xmlns:a16="http://schemas.microsoft.com/office/drawing/2014/main" id="{B3766A92-71F4-4EBA-B241-ECD05D1553EA}"/>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Тест мења један атрибут контекста и очекује одлуку са стабилним разлогом.</a:t>
            </a:r>
          </a:p>
        </p:txBody>
      </p:sp>
      <p:sp>
        <p:nvSpPr>
          <p:cNvPr id="6" name="Rounded Rectangle 5">
            <a:extLst xmlns:a="http://schemas.openxmlformats.org/drawingml/2006/main">
              <a:ext uri="{FF2B5EF4-FFF2-40B4-BE49-F238E27FC236}">
                <a16:creationId xmlns:a16="http://schemas.microsoft.com/office/drawing/2014/main" id="{E881E8D3-9844-4FE9-9BE6-8A9ED93BE93C}"/>
              </a:ext>
            </a:extLst>
          </p:cNvPr>
          <p:cNvSpPr>
            <a:spLocks xmlns:a="http://schemas.openxmlformats.org/drawingml/2006/main" noGrp="1"/>
          </p:cNvSpPr>
          <p:nvPr/>
        </p:nvSpPr>
        <p:spPr>
          <a:xfrm xmlns:a="http://schemas.openxmlformats.org/drawingml/2006/main">
            <a:off x="666750" y="2095500"/>
            <a:ext cx="6858000" cy="2482350"/>
          </a:xfrm>
          <a:prstGeom xmlns:a="http://schemas.openxmlformats.org/drawingml/2006/main" prst="roundRect">
            <a:avLst>
              <a:gd name="adj" fmla="val 4566"/>
            </a:avLst>
          </a:prstGeom>
          <a:solidFill xmlns:a="http://schemas.openxmlformats.org/drawingml/2006/main">
            <a:srgbClr val="F4F6F7"/>
          </a:solidFill>
          <a:ln xmlns:a="http://schemas.openxmlformats.org/drawingml/2006/main" w="9525">
            <a:solidFill>
              <a:srgbClr val="CCD6DE"/>
            </a:solidFill>
            <a:prstDash val="soli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sp>
        <p:nvSpPr>
          <p:cNvPr id="7" name="Straight Connector 6">
            <a:extLst xmlns:a="http://schemas.openxmlformats.org/drawingml/2006/main">
              <a:ext uri="{FF2B5EF4-FFF2-40B4-BE49-F238E27FC236}">
                <a16:creationId xmlns:a16="http://schemas.microsoft.com/office/drawing/2014/main" id="{EE4768AE-EDDF-43C4-8150-99EFD7D3275B}"/>
              </a:ext>
            </a:extLst>
          </p:cNvPr>
          <p:cNvSpPr>
            <a:spLocks xmlns:a="http://schemas.openxmlformats.org/drawingml/2006/main" noGrp="1"/>
          </p:cNvSpPr>
          <p:nvPr/>
        </p:nvSpPr>
        <p:spPr>
          <a:xfrm xmlns:a="http://schemas.openxmlformats.org/drawingml/2006/main">
            <a:off x="666750" y="2438400"/>
            <a:ext cx="6858000" cy="9525"/>
          </a:xfrm>
          <a:prstGeom xmlns:a="http://schemas.openxmlformats.org/drawingml/2006/main" prst="line">
            <a:avLst/>
          </a:prstGeom>
          <a:solidFill xmlns:a="http://schemas.openxmlformats.org/drawingml/2006/main">
            <a:srgbClr val="AFBEC9"/>
          </a:solidFill>
          <a:ln xmlns:a="http://schemas.openxmlformats.org/drawingml/2006/main" w="9525">
            <a:solidFill>
              <a:srgbClr val="AFBEC9"/>
            </a:solidFill>
            <a:prstDash val="solid"/>
          </a:ln>
        </p:spPr>
      </p:sp>
      <p:sp>
        <p:nvSpPr>
          <p:cNvPr id="8" name="Oval 7">
            <a:extLst xmlns:a="http://schemas.openxmlformats.org/drawingml/2006/main">
              <a:ext uri="{FF2B5EF4-FFF2-40B4-BE49-F238E27FC236}">
                <a16:creationId xmlns:a16="http://schemas.microsoft.com/office/drawing/2014/main" id="{4F0366FF-30E4-408A-BFF5-0D649C643938}"/>
              </a:ext>
            </a:extLst>
          </p:cNvPr>
          <p:cNvSpPr>
            <a:spLocks xmlns:a="http://schemas.openxmlformats.org/drawingml/2006/main" noGrp="1"/>
          </p:cNvSpPr>
          <p:nvPr/>
        </p:nvSpPr>
        <p:spPr>
          <a:xfrm xmlns:a="http://schemas.openxmlformats.org/drawingml/2006/main">
            <a:off x="6972300" y="2214563"/>
            <a:ext cx="85725" cy="85725"/>
          </a:xfrm>
          <a:prstGeom xmlns:a="http://schemas.openxmlformats.org/drawingml/2006/main" prst="ellipse">
            <a:avLst/>
          </a:prstGeom>
          <a:solidFill xmlns:a="http://schemas.openxmlformats.org/drawingml/2006/main">
            <a:srgbClr val="EF6A60"/>
          </a:solidFill>
          <a:ln xmlns:a="http://schemas.openxmlformats.org/drawingml/2006/main" w="0">
            <a:noFill/>
          </a:ln>
        </p:spPr>
      </p:sp>
      <p:sp>
        <p:nvSpPr>
          <p:cNvPr id="9" name="Oval 8">
            <a:extLst xmlns:a="http://schemas.openxmlformats.org/drawingml/2006/main">
              <a:ext uri="{FF2B5EF4-FFF2-40B4-BE49-F238E27FC236}">
                <a16:creationId xmlns:a16="http://schemas.microsoft.com/office/drawing/2014/main" id="{92687208-8930-4C9C-A0BE-74496F59EC59}"/>
              </a:ext>
            </a:extLst>
          </p:cNvPr>
          <p:cNvSpPr>
            <a:spLocks xmlns:a="http://schemas.openxmlformats.org/drawingml/2006/main" noGrp="1"/>
          </p:cNvSpPr>
          <p:nvPr/>
        </p:nvSpPr>
        <p:spPr>
          <a:xfrm xmlns:a="http://schemas.openxmlformats.org/drawingml/2006/main">
            <a:off x="7129463" y="2214563"/>
            <a:ext cx="85725" cy="85725"/>
          </a:xfrm>
          <a:prstGeom xmlns:a="http://schemas.openxmlformats.org/drawingml/2006/main" prst="ellipse">
            <a:avLst/>
          </a:prstGeom>
          <a:solidFill xmlns:a="http://schemas.openxmlformats.org/drawingml/2006/main">
            <a:srgbClr val="F2BD42"/>
          </a:solidFill>
          <a:ln xmlns:a="http://schemas.openxmlformats.org/drawingml/2006/main" w="0">
            <a:noFill/>
          </a:ln>
        </p:spPr>
      </p:sp>
      <p:sp>
        <p:nvSpPr>
          <p:cNvPr id="10" name="Oval 9">
            <a:extLst xmlns:a="http://schemas.openxmlformats.org/drawingml/2006/main">
              <a:ext uri="{FF2B5EF4-FFF2-40B4-BE49-F238E27FC236}">
                <a16:creationId xmlns:a16="http://schemas.microsoft.com/office/drawing/2014/main" id="{361AA65E-3784-44C5-B814-EB7BCE45DEF7}"/>
              </a:ext>
            </a:extLst>
          </p:cNvPr>
          <p:cNvSpPr>
            <a:spLocks xmlns:a="http://schemas.openxmlformats.org/drawingml/2006/main" noGrp="1"/>
          </p:cNvSpPr>
          <p:nvPr/>
        </p:nvSpPr>
        <p:spPr>
          <a:xfrm xmlns:a="http://schemas.openxmlformats.org/drawingml/2006/main">
            <a:off x="7286625" y="2214563"/>
            <a:ext cx="85725" cy="85725"/>
          </a:xfrm>
          <a:prstGeom xmlns:a="http://schemas.openxmlformats.org/drawingml/2006/main" prst="ellipse">
            <a:avLst/>
          </a:prstGeom>
          <a:solidFill xmlns:a="http://schemas.openxmlformats.org/drawingml/2006/main">
            <a:srgbClr val="65C466"/>
          </a:solidFill>
          <a:ln xmlns:a="http://schemas.openxmlformats.org/drawingml/2006/main" w="0">
            <a:noFill/>
          </a:ln>
        </p:spPr>
      </p:sp>
      <p:sp>
        <p:nvSpPr>
          <p:cNvPr id="11" name="Rectangle 10">
            <a:extLst xmlns:a="http://schemas.openxmlformats.org/drawingml/2006/main">
              <a:ext uri="{FF2B5EF4-FFF2-40B4-BE49-F238E27FC236}">
                <a16:creationId xmlns:a16="http://schemas.microsoft.com/office/drawing/2014/main" id="{DBA645F6-DA77-44FD-A9D6-AC1495C3A766}"/>
              </a:ext>
            </a:extLst>
          </p:cNvPr>
          <p:cNvSpPr>
            <a:spLocks xmlns:a="http://schemas.openxmlformats.org/drawingml/2006/main" noGrp="1"/>
          </p:cNvSpPr>
          <p:nvPr/>
        </p:nvSpPr>
        <p:spPr>
          <a:xfrm xmlns:a="http://schemas.openxmlformats.org/drawingml/2006/main">
            <a:off x="781050" y="2571750"/>
            <a:ext cx="30480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9</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10</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11</a:t>
            </a:r>
          </a:p>
        </p:txBody>
      </p:sp>
      <p:sp>
        <p:nvSpPr>
          <p:cNvPr id="12" name="Rectangle 11">
            <a:extLst xmlns:a="http://schemas.openxmlformats.org/drawingml/2006/main">
              <a:ext uri="{FF2B5EF4-FFF2-40B4-BE49-F238E27FC236}">
                <a16:creationId xmlns:a16="http://schemas.microsoft.com/office/drawing/2014/main" id="{D0C2B0C3-BE4A-47AB-B6D2-C4F9306B3E63}"/>
              </a:ext>
            </a:extLst>
          </p:cNvPr>
          <p:cNvSpPr>
            <a:spLocks xmlns:a="http://schemas.openxmlformats.org/drawingml/2006/main" noGrp="1"/>
          </p:cNvSpPr>
          <p:nvPr/>
        </p:nvSpPr>
        <p:spPr>
          <a:xfrm xmlns:a="http://schemas.openxmlformats.org/drawingml/2006/main">
            <a:off x="1200150" y="2571750"/>
            <a:ext cx="615315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a:t>
            </a:r>
            <a:r>
              <a:rPr b="0">
                <a:solidFill>
                  <a:srgbClr val="7651D4"/>
                </a:solidFill>
              </a:rPr>
              <a:t>Test</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1">
                <a:solidFill>
                  <a:srgbClr val="0969C3"/>
                </a:solidFill>
              </a:rPr>
              <a:t>void</a:t>
            </a:r>
            <a:r>
              <a:rPr b="0">
                <a:solidFill>
                  <a:srgbClr val="263044"/>
                </a:solidFill>
              </a:rPr>
              <a:t> </a:t>
            </a:r>
            <a:r>
              <a:rPr b="0">
                <a:solidFill>
                  <a:srgbClr val="7651D4"/>
                </a:solidFill>
              </a:rPr>
              <a:t>Evaluate_WhenRiskIsTooHigh_AsksForEarlyReevaluation</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decision = _policy.</a:t>
            </a:r>
            <a:r>
              <a:rPr b="0">
                <a:solidFill>
                  <a:srgbClr val="7651D4"/>
                </a:solidFill>
              </a:rPr>
              <a:t>Evaluate</a:t>
            </a:r>
            <a:r>
              <a:rPr b="0">
                <a:solidFill>
                  <a:srgbClr val="263044"/>
                </a:solidFill>
              </a:rPr>
              <a:t>(</a:t>
            </a:r>
            <a:r>
              <a:rPr b="0">
                <a:solidFill>
                  <a:srgbClr val="7651D4"/>
                </a:solidFill>
              </a:rPr>
              <a:t>Contexts</a:t>
            </a:r>
            <a:r>
              <a:rPr b="0">
                <a:solidFill>
                  <a:srgbClr val="263044"/>
                </a:solidFill>
              </a:rPr>
              <a:t>.</a:t>
            </a:r>
            <a:r>
              <a:rPr b="0">
                <a:solidFill>
                  <a:srgbClr val="7651D4"/>
                </a:solidFill>
              </a:rPr>
              <a:t>Safe</a:t>
            </a:r>
            <a:r>
              <a:rPr b="0">
                <a:solidFill>
                  <a:srgbClr val="263044"/>
                </a:solidFill>
              </a:rPr>
              <a:t> </a:t>
            </a:r>
            <a:r>
              <a:rPr b="1">
                <a:solidFill>
                  <a:srgbClr val="0969C3"/>
                </a:solidFill>
              </a:rPr>
              <a:t>with</a:t>
            </a:r>
            <a:r>
              <a:rPr b="0">
                <a:solidFill>
                  <a:srgbClr val="263044"/>
                </a:solidFill>
              </a:rPr>
              <a:t> { </a:t>
            </a:r>
            <a:r>
              <a:rPr b="0">
                <a:solidFill>
                  <a:srgbClr val="7651D4"/>
                </a:solidFill>
              </a:rPr>
              <a:t>RiskScore</a:t>
            </a:r>
            <a:r>
              <a:rPr b="0">
                <a:solidFill>
                  <a:srgbClr val="263044"/>
                </a:solidFill>
              </a:rPr>
              <a:t> = </a:t>
            </a:r>
            <a:r>
              <a:rPr b="0">
                <a:solidFill>
                  <a:srgbClr val="B86A09"/>
                </a:solidFill>
              </a:rPr>
              <a:t>85</a:t>
            </a:r>
            <a:r>
              <a:rPr b="0">
                <a:solidFill>
                  <a:srgbClr val="263044"/>
                </a:solidFill>
              </a:rPr>
              <a:t> }, </a:t>
            </a:r>
            <a:r>
              <a:rPr b="0">
                <a:solidFill>
                  <a:srgbClr val="7651D4"/>
                </a:solidFill>
              </a:rPr>
              <a:t>Now</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1">
                <a:solidFill>
                  <a:srgbClr val="0969C3"/>
                </a:solidFill>
              </a:rPr>
              <a:t>using</a:t>
            </a:r>
            <a:r>
              <a:rPr b="0">
                <a:solidFill>
                  <a:srgbClr val="263044"/>
                </a:solidFill>
              </a:rPr>
              <a:t> (</a:t>
            </a:r>
            <a:r>
              <a:rPr b="0">
                <a:solidFill>
                  <a:srgbClr val="7651D4"/>
                </a:solidFill>
              </a:rPr>
              <a:t>Assert</a:t>
            </a:r>
            <a:r>
              <a:rPr b="0">
                <a:solidFill>
                  <a:srgbClr val="263044"/>
                </a:solidFill>
              </a:rPr>
              <a:t>.</a:t>
            </a:r>
            <a:r>
              <a:rPr b="0">
                <a:solidFill>
                  <a:srgbClr val="7651D4"/>
                </a:solidFill>
              </a:rPr>
              <a:t>EnterMultipleScope</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0">
                <a:solidFill>
                  <a:srgbClr val="7651D4"/>
                </a:solidFill>
              </a:rPr>
              <a:t>Assert</a:t>
            </a:r>
            <a:r>
              <a:rPr b="0">
                <a:solidFill>
                  <a:srgbClr val="263044"/>
                </a:solidFill>
              </a:rPr>
              <a:t>.</a:t>
            </a:r>
            <a:r>
              <a:rPr b="0">
                <a:solidFill>
                  <a:srgbClr val="7651D4"/>
                </a:solidFill>
              </a:rPr>
              <a:t>That</a:t>
            </a:r>
            <a:r>
              <a:rPr b="0">
                <a:solidFill>
                  <a:srgbClr val="263044"/>
                </a:solidFill>
              </a:rPr>
              <a:t>(decision.</a:t>
            </a:r>
            <a:r>
              <a:rPr b="0">
                <a:solidFill>
                  <a:srgbClr val="7651D4"/>
                </a:solidFill>
              </a:rPr>
              <a:t>Code</a:t>
            </a:r>
            <a:r>
              <a:rPr b="0">
                <a:solidFill>
                  <a:srgbClr val="263044"/>
                </a:solidFill>
              </a:rPr>
              <a:t>, </a:t>
            </a:r>
            <a:r>
              <a:rPr b="0">
                <a:solidFill>
                  <a:srgbClr val="7651D4"/>
                </a:solidFill>
              </a:rPr>
              <a:t>Is</a:t>
            </a:r>
            <a:r>
              <a:rPr b="0">
                <a:solidFill>
                  <a:srgbClr val="263044"/>
                </a:solidFill>
              </a:rPr>
              <a:t>.</a:t>
            </a:r>
            <a:r>
              <a:rPr b="0">
                <a:solidFill>
                  <a:srgbClr val="7651D4"/>
                </a:solidFill>
              </a:rPr>
              <a:t>EqualTo</a:t>
            </a:r>
            <a:r>
              <a:rPr b="0">
                <a:solidFill>
                  <a:srgbClr val="263044"/>
                </a:solidFill>
              </a:rPr>
              <a:t>(</a:t>
            </a:r>
            <a:r>
              <a:rPr b="0">
                <a:solidFill>
                  <a:srgbClr val="7651D4"/>
                </a:solidFill>
              </a:rPr>
              <a:t>AccessDecisionCodes</a:t>
            </a:r>
            <a:r>
              <a:rPr b="0">
                <a:solidFill>
                  <a:srgbClr val="263044"/>
                </a:solidFill>
              </a:rPr>
              <a:t>.</a:t>
            </a:r>
            <a:r>
              <a:rPr b="0">
                <a:solidFill>
                  <a:srgbClr val="7651D4"/>
                </a:solidFill>
              </a:rPr>
              <a:t>RiskTooHigh</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0">
                <a:solidFill>
                  <a:srgbClr val="7651D4"/>
                </a:solidFill>
              </a:rPr>
              <a:t>Assert</a:t>
            </a:r>
            <a:r>
              <a:rPr b="0">
                <a:solidFill>
                  <a:srgbClr val="263044"/>
                </a:solidFill>
              </a:rPr>
              <a:t>.</a:t>
            </a:r>
            <a:r>
              <a:rPr b="0">
                <a:solidFill>
                  <a:srgbClr val="7651D4"/>
                </a:solidFill>
              </a:rPr>
              <a:t>That</a:t>
            </a:r>
            <a:r>
              <a:rPr b="0">
                <a:solidFill>
                  <a:srgbClr val="263044"/>
                </a:solidFill>
              </a:rPr>
              <a:t>(decision.</a:t>
            </a:r>
            <a:r>
              <a:rPr b="0">
                <a:solidFill>
                  <a:srgbClr val="7651D4"/>
                </a:solidFill>
              </a:rPr>
              <a:t>ReviewAfter</a:t>
            </a:r>
            <a:r>
              <a:rPr b="0">
                <a:solidFill>
                  <a:srgbClr val="263044"/>
                </a:solidFill>
              </a:rPr>
              <a:t>, </a:t>
            </a:r>
            <a:r>
              <a:rPr b="0">
                <a:solidFill>
                  <a:srgbClr val="7651D4"/>
                </a:solidFill>
              </a:rPr>
              <a:t>Is</a:t>
            </a:r>
            <a:r>
              <a:rPr b="0">
                <a:solidFill>
                  <a:srgbClr val="263044"/>
                </a:solidFill>
              </a:rPr>
              <a:t>.</a:t>
            </a:r>
            <a:r>
              <a:rPr b="0">
                <a:solidFill>
                  <a:srgbClr val="7651D4"/>
                </a:solidFill>
              </a:rPr>
              <a:t>EqualTo</a:t>
            </a:r>
            <a:r>
              <a:rPr b="0">
                <a:solidFill>
                  <a:srgbClr val="263044"/>
                </a:solidFill>
              </a:rPr>
              <a:t>(</a:t>
            </a:r>
            <a:r>
              <a:rPr b="0">
                <a:solidFill>
                  <a:srgbClr val="7651D4"/>
                </a:solidFill>
              </a:rPr>
              <a:t>Now</a:t>
            </a:r>
            <a:r>
              <a:rPr b="0">
                <a:solidFill>
                  <a:srgbClr val="263044"/>
                </a:solidFill>
              </a:rPr>
              <a:t>.</a:t>
            </a:r>
            <a:r>
              <a:rPr b="0">
                <a:solidFill>
                  <a:srgbClr val="7651D4"/>
                </a:solidFill>
              </a:rPr>
              <a:t>AddHours</a:t>
            </a:r>
            <a:r>
              <a:rPr b="0">
                <a:solidFill>
                  <a:srgbClr val="263044"/>
                </a:solidFill>
              </a:rPr>
              <a:t>(</a:t>
            </a:r>
            <a:r>
              <a:rPr b="0">
                <a:solidFill>
                  <a:srgbClr val="B86A09"/>
                </a:solidFill>
              </a:rPr>
              <a:t>1</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xmlns:a="http://schemas.openxmlformats.org/drawingml/2006/main">
              <a:ext uri="{FF2B5EF4-FFF2-40B4-BE49-F238E27FC236}">
                <a16:creationId xmlns:a16="http://schemas.microsoft.com/office/drawing/2014/main" id="{1C1B489E-1F7A-45F0-9835-0450A3FC3D30}"/>
              </a:ext>
            </a:extLst>
          </p:cNvPr>
          <p:cNvSpPr>
            <a:spLocks xmlns:a="http://schemas.openxmlformats.org/drawingml/2006/main" noGrp="1"/>
          </p:cNvSpPr>
          <p:nvPr/>
        </p:nvSpPr>
        <p:spPr>
          <a:xfrm xmlns:a="http://schemas.openxmlformats.org/drawingml/2006/main">
            <a:off x="7924800" y="2152650"/>
            <a:ext cx="3600450" cy="1809750"/>
          </a:xfrm>
          <a:prstGeom xmlns:a="http://schemas.openxmlformats.org/drawingml/2006/main" prst="roundRect">
            <a:avLst>
              <a:gd name="adj" fmla="val 7368"/>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9CB2CCDC-648B-4365-A9D5-1306883F9A8D}"/>
              </a:ext>
            </a:extLst>
          </p:cNvPr>
          <p:cNvSpPr>
            <a:spLocks xmlns:a="http://schemas.openxmlformats.org/drawingml/2006/main" noGrp="1"/>
          </p:cNvSpPr>
          <p:nvPr/>
        </p:nvSpPr>
        <p:spPr>
          <a:xfrm xmlns:a="http://schemas.openxmlformats.org/drawingml/2006/main">
            <a:off x="8077200" y="22764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ДОКАЗ</a:t>
            </a:r>
          </a:p>
        </p:txBody>
      </p:sp>
      <p:sp>
        <p:nvSpPr>
          <p:cNvPr id="15" name="Rectangle 14">
            <a:extLst xmlns:a="http://schemas.openxmlformats.org/drawingml/2006/main">
              <a:ext uri="{FF2B5EF4-FFF2-40B4-BE49-F238E27FC236}">
                <a16:creationId xmlns:a16="http://schemas.microsoft.com/office/drawing/2014/main" id="{8D336ADC-6D14-4240-BB08-EA0A64BFA38E}"/>
              </a:ext>
            </a:extLst>
          </p:cNvPr>
          <p:cNvSpPr>
            <a:spLocks xmlns:a="http://schemas.openxmlformats.org/drawingml/2006/main" noGrp="1"/>
          </p:cNvSpPr>
          <p:nvPr/>
        </p:nvSpPr>
        <p:spPr>
          <a:xfrm xmlns:a="http://schemas.openxmlformats.org/drawingml/2006/main">
            <a:off x="8077200" y="2524125"/>
            <a:ext cx="32956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Тест мења само процену ризика и показује да се мењају и разлог и рок поновне провере.</a:t>
            </a:r>
          </a:p>
        </p:txBody>
      </p:sp>
      <p:sp>
        <p:nvSpPr>
          <p:cNvPr id="16" name="Rounded Rectangle 15">
            <a:extLst xmlns:a="http://schemas.openxmlformats.org/drawingml/2006/main">
              <a:ext uri="{FF2B5EF4-FFF2-40B4-BE49-F238E27FC236}">
                <a16:creationId xmlns:a16="http://schemas.microsoft.com/office/drawing/2014/main" id="{8880C61E-E9C6-41B1-BD26-30CD118AA580}"/>
              </a:ext>
            </a:extLst>
          </p:cNvPr>
          <p:cNvSpPr>
            <a:spLocks xmlns:a="http://schemas.openxmlformats.org/drawingml/2006/main" noGrp="1"/>
          </p:cNvSpPr>
          <p:nvPr/>
        </p:nvSpPr>
        <p:spPr>
          <a:xfrm xmlns:a="http://schemas.openxmlformats.org/drawingml/2006/main">
            <a:off x="7924800" y="4248150"/>
            <a:ext cx="3600450" cy="1428750"/>
          </a:xfrm>
          <a:prstGeom xmlns:a="http://schemas.openxmlformats.org/drawingml/2006/main" prst="roundRect">
            <a:avLst>
              <a:gd name="adj" fmla="val 9333"/>
            </a:avLst>
          </a:prstGeom>
          <a:solidFill xmlns:a="http://schemas.openxmlformats.org/drawingml/2006/main">
            <a:srgbClr val="F7F4F5"/>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59E6BB8D-DAD8-4BBF-8785-C26C4E8E94A6}"/>
              </a:ext>
            </a:extLst>
          </p:cNvPr>
          <p:cNvSpPr>
            <a:spLocks xmlns:a="http://schemas.openxmlformats.org/drawingml/2006/main" noGrp="1"/>
          </p:cNvSpPr>
          <p:nvPr/>
        </p:nvSpPr>
        <p:spPr>
          <a:xfrm xmlns:a="http://schemas.openxmlformats.org/drawingml/2006/main">
            <a:off x="8077200" y="43719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ОЧЕКИВАНИ ИСХОД</a:t>
            </a:r>
          </a:p>
        </p:txBody>
      </p:sp>
      <p:sp>
        <p:nvSpPr>
          <p:cNvPr id="18" name="Rectangle 17">
            <a:extLst xmlns:a="http://schemas.openxmlformats.org/drawingml/2006/main">
              <a:ext uri="{FF2B5EF4-FFF2-40B4-BE49-F238E27FC236}">
                <a16:creationId xmlns:a16="http://schemas.microsoft.com/office/drawing/2014/main" id="{DB752BD6-E8C4-4F5C-AA6D-78DCD6F696D9}"/>
              </a:ext>
            </a:extLst>
          </p:cNvPr>
          <p:cNvSpPr>
            <a:spLocks xmlns:a="http://schemas.openxmlformats.org/drawingml/2006/main" noGrp="1"/>
          </p:cNvSpPr>
          <p:nvPr/>
        </p:nvSpPr>
        <p:spPr>
          <a:xfrm xmlns:a="http://schemas.openxmlformats.org/drawingml/2006/main">
            <a:off x="8077200" y="4619625"/>
            <a:ext cx="3295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Тест мења једну чињеницу и очекује јасан, стабилан разлог одбијања.</a:t>
            </a:r>
          </a:p>
        </p:txBody>
      </p:sp>
    </p:spTree>
    <p:extLst>
      <p:ext uri="{BB962C8B-B14F-4D97-AF65-F5344CB8AC3E}">
        <p14:creationId xmlns:p14="http://schemas.microsoft.com/office/powerpoint/2010/main" val="163451160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1041D683-BBA4-4F40-A8DC-F43A2869A921}"/>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28A638D4-31B8-44D5-8C7E-0AE409DB6622}"/>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FB5CEBEE-2537-400D-B5F8-16B711E25BC6}"/>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16</a:t>
            </a:r>
          </a:p>
        </p:txBody>
      </p:sp>
      <p:sp>
        <p:nvSpPr>
          <p:cNvPr id="4" name="Rectangle 3">
            <a:extLst xmlns:a="http://schemas.openxmlformats.org/drawingml/2006/main">
              <a:ext uri="{FF2B5EF4-FFF2-40B4-BE49-F238E27FC236}">
                <a16:creationId xmlns:a16="http://schemas.microsoft.com/office/drawing/2014/main" id="{4D4C32EC-5ACD-43A9-BC77-FCFA9136AB13}"/>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Садржај безбедносног записа</a:t>
            </a:r>
          </a:p>
        </p:txBody>
      </p:sp>
      <p:sp>
        <p:nvSpPr>
          <p:cNvPr id="5" name="Rectangle 4">
            <a:extLst xmlns:a="http://schemas.openxmlformats.org/drawingml/2006/main">
              <a:ext uri="{FF2B5EF4-FFF2-40B4-BE49-F238E27FC236}">
                <a16:creationId xmlns:a16="http://schemas.microsoft.com/office/drawing/2014/main" id="{62F9A81F-8560-439C-9426-D062008D01A9}"/>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Запис садржи контекст потребан за реконструкцију одлуке, без тајни и непотребних личних података.</a:t>
            </a:r>
          </a:p>
        </p:txBody>
      </p:sp>
      <p:sp>
        <p:nvSpPr>
          <p:cNvPr id="6" name="Rounded Rectangle 5">
            <a:extLst xmlns:a="http://schemas.openxmlformats.org/drawingml/2006/main">
              <a:ext uri="{FF2B5EF4-FFF2-40B4-BE49-F238E27FC236}">
                <a16:creationId xmlns:a16="http://schemas.microsoft.com/office/drawing/2014/main" id="{4849686D-2C7F-4928-ACB9-C8A4D6D2983B}"/>
              </a:ext>
            </a:extLst>
          </p:cNvPr>
          <p:cNvSpPr>
            <a:spLocks xmlns:a="http://schemas.openxmlformats.org/drawingml/2006/main" noGrp="1"/>
          </p:cNvSpPr>
          <p:nvPr/>
        </p:nvSpPr>
        <p:spPr>
          <a:xfrm xmlns:a="http://schemas.openxmlformats.org/drawingml/2006/main">
            <a:off x="857250" y="2152650"/>
            <a:ext cx="5334000" cy="2028825"/>
          </a:xfrm>
          <a:prstGeom xmlns:a="http://schemas.openxmlformats.org/drawingml/2006/main" prst="roundRect">
            <a:avLst>
              <a:gd name="adj" fmla="val 4695"/>
            </a:avLst>
          </a:prstGeom>
          <a:solidFill xmlns:a="http://schemas.openxmlformats.org/drawingml/2006/main">
            <a:srgbClr val="F4F6F7"/>
          </a:solidFill>
          <a:ln xmlns:a="http://schemas.openxmlformats.org/drawingml/2006/main" w="9525">
            <a:solidFill>
              <a:srgbClr val="CCD6DE"/>
            </a:solidFill>
            <a:prstDash val="soli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sp>
        <p:nvSpPr>
          <p:cNvPr id="7" name="Straight Connector 6">
            <a:extLst xmlns:a="http://schemas.openxmlformats.org/drawingml/2006/main">
              <a:ext uri="{FF2B5EF4-FFF2-40B4-BE49-F238E27FC236}">
                <a16:creationId xmlns:a16="http://schemas.microsoft.com/office/drawing/2014/main" id="{A57C5229-34DA-4764-96B2-EFD0E6DDD46E}"/>
              </a:ext>
            </a:extLst>
          </p:cNvPr>
          <p:cNvSpPr>
            <a:spLocks xmlns:a="http://schemas.openxmlformats.org/drawingml/2006/main" noGrp="1"/>
          </p:cNvSpPr>
          <p:nvPr/>
        </p:nvSpPr>
        <p:spPr>
          <a:xfrm xmlns:a="http://schemas.openxmlformats.org/drawingml/2006/main">
            <a:off x="857250" y="2495550"/>
            <a:ext cx="5334000" cy="9525"/>
          </a:xfrm>
          <a:prstGeom xmlns:a="http://schemas.openxmlformats.org/drawingml/2006/main" prst="line">
            <a:avLst/>
          </a:prstGeom>
          <a:solidFill xmlns:a="http://schemas.openxmlformats.org/drawingml/2006/main">
            <a:srgbClr val="AFBEC9"/>
          </a:solidFill>
          <a:ln xmlns:a="http://schemas.openxmlformats.org/drawingml/2006/main" w="9525">
            <a:solidFill>
              <a:srgbClr val="AFBEC9"/>
            </a:solidFill>
            <a:prstDash val="solid"/>
          </a:ln>
        </p:spPr>
      </p:sp>
      <p:sp>
        <p:nvSpPr>
          <p:cNvPr id="8" name="Oval 7">
            <a:extLst xmlns:a="http://schemas.openxmlformats.org/drawingml/2006/main">
              <a:ext uri="{FF2B5EF4-FFF2-40B4-BE49-F238E27FC236}">
                <a16:creationId xmlns:a16="http://schemas.microsoft.com/office/drawing/2014/main" id="{4EA69950-489B-4EBE-BA59-983F2F9611FC}"/>
              </a:ext>
            </a:extLst>
          </p:cNvPr>
          <p:cNvSpPr>
            <a:spLocks xmlns:a="http://schemas.openxmlformats.org/drawingml/2006/main" noGrp="1"/>
          </p:cNvSpPr>
          <p:nvPr/>
        </p:nvSpPr>
        <p:spPr>
          <a:xfrm xmlns:a="http://schemas.openxmlformats.org/drawingml/2006/main">
            <a:off x="5638800" y="2271713"/>
            <a:ext cx="85725" cy="85725"/>
          </a:xfrm>
          <a:prstGeom xmlns:a="http://schemas.openxmlformats.org/drawingml/2006/main" prst="ellipse">
            <a:avLst/>
          </a:prstGeom>
          <a:solidFill xmlns:a="http://schemas.openxmlformats.org/drawingml/2006/main">
            <a:srgbClr val="EF6A60"/>
          </a:solidFill>
          <a:ln xmlns:a="http://schemas.openxmlformats.org/drawingml/2006/main" w="0">
            <a:noFill/>
          </a:ln>
        </p:spPr>
      </p:sp>
      <p:sp>
        <p:nvSpPr>
          <p:cNvPr id="9" name="Oval 8">
            <a:extLst xmlns:a="http://schemas.openxmlformats.org/drawingml/2006/main">
              <a:ext uri="{FF2B5EF4-FFF2-40B4-BE49-F238E27FC236}">
                <a16:creationId xmlns:a16="http://schemas.microsoft.com/office/drawing/2014/main" id="{994B7455-596C-40B0-8B77-077410381CE1}"/>
              </a:ext>
            </a:extLst>
          </p:cNvPr>
          <p:cNvSpPr>
            <a:spLocks xmlns:a="http://schemas.openxmlformats.org/drawingml/2006/main" noGrp="1"/>
          </p:cNvSpPr>
          <p:nvPr/>
        </p:nvSpPr>
        <p:spPr>
          <a:xfrm xmlns:a="http://schemas.openxmlformats.org/drawingml/2006/main">
            <a:off x="5795963" y="2271713"/>
            <a:ext cx="85725" cy="85725"/>
          </a:xfrm>
          <a:prstGeom xmlns:a="http://schemas.openxmlformats.org/drawingml/2006/main" prst="ellipse">
            <a:avLst/>
          </a:prstGeom>
          <a:solidFill xmlns:a="http://schemas.openxmlformats.org/drawingml/2006/main">
            <a:srgbClr val="F2BD42"/>
          </a:solidFill>
          <a:ln xmlns:a="http://schemas.openxmlformats.org/drawingml/2006/main" w="0">
            <a:noFill/>
          </a:ln>
        </p:spPr>
      </p:sp>
      <p:sp>
        <p:nvSpPr>
          <p:cNvPr id="10" name="Oval 9">
            <a:extLst xmlns:a="http://schemas.openxmlformats.org/drawingml/2006/main">
              <a:ext uri="{FF2B5EF4-FFF2-40B4-BE49-F238E27FC236}">
                <a16:creationId xmlns:a16="http://schemas.microsoft.com/office/drawing/2014/main" id="{CA8AF702-4D5C-4A3B-AB9A-E935F5AE1CEB}"/>
              </a:ext>
            </a:extLst>
          </p:cNvPr>
          <p:cNvSpPr>
            <a:spLocks xmlns:a="http://schemas.openxmlformats.org/drawingml/2006/main" noGrp="1"/>
          </p:cNvSpPr>
          <p:nvPr/>
        </p:nvSpPr>
        <p:spPr>
          <a:xfrm xmlns:a="http://schemas.openxmlformats.org/drawingml/2006/main">
            <a:off x="5953125" y="2271713"/>
            <a:ext cx="85725" cy="85725"/>
          </a:xfrm>
          <a:prstGeom xmlns:a="http://schemas.openxmlformats.org/drawingml/2006/main" prst="ellipse">
            <a:avLst/>
          </a:prstGeom>
          <a:solidFill xmlns:a="http://schemas.openxmlformats.org/drawingml/2006/main">
            <a:srgbClr val="65C466"/>
          </a:solidFill>
          <a:ln xmlns:a="http://schemas.openxmlformats.org/drawingml/2006/main" w="0">
            <a:noFill/>
          </a:ln>
        </p:spPr>
      </p:sp>
      <p:sp>
        <p:nvSpPr>
          <p:cNvPr id="11" name="Rectangle 10">
            <a:extLst xmlns:a="http://schemas.openxmlformats.org/drawingml/2006/main">
              <a:ext uri="{FF2B5EF4-FFF2-40B4-BE49-F238E27FC236}">
                <a16:creationId xmlns:a16="http://schemas.microsoft.com/office/drawing/2014/main" id="{DF5B88ED-93D3-4357-A435-0EE6C3232CD0}"/>
              </a:ext>
            </a:extLst>
          </p:cNvPr>
          <p:cNvSpPr>
            <a:spLocks xmlns:a="http://schemas.openxmlformats.org/drawingml/2006/main" noGrp="1"/>
          </p:cNvSpPr>
          <p:nvPr/>
        </p:nvSpPr>
        <p:spPr>
          <a:xfrm xmlns:a="http://schemas.openxmlformats.org/drawingml/2006/main">
            <a:off x="971550" y="2628900"/>
            <a:ext cx="304800" cy="2533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1</a:t>
            </a:r>
          </a:p>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2</a:t>
            </a:r>
          </a:p>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3</a:t>
            </a:r>
          </a:p>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4</a:t>
            </a:r>
          </a:p>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5</a:t>
            </a:r>
          </a:p>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6</a:t>
            </a:r>
          </a:p>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7</a:t>
            </a:r>
          </a:p>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8</a:t>
            </a:r>
          </a:p>
        </p:txBody>
      </p:sp>
      <p:sp>
        <p:nvSpPr>
          <p:cNvPr id="12" name="Rectangle 11">
            <a:extLst xmlns:a="http://schemas.openxmlformats.org/drawingml/2006/main">
              <a:ext uri="{FF2B5EF4-FFF2-40B4-BE49-F238E27FC236}">
                <a16:creationId xmlns:a16="http://schemas.microsoft.com/office/drawing/2014/main" id="{1BC8CD9A-6E88-4D04-886A-E38D885F8216}"/>
              </a:ext>
            </a:extLst>
          </p:cNvPr>
          <p:cNvSpPr>
            <a:spLocks xmlns:a="http://schemas.openxmlformats.org/drawingml/2006/main" noGrp="1"/>
          </p:cNvSpPr>
          <p:nvPr/>
        </p:nvSpPr>
        <p:spPr>
          <a:xfrm xmlns:a="http://schemas.openxmlformats.org/drawingml/2006/main">
            <a:off x="1390650" y="2628900"/>
            <a:ext cx="4629150" cy="2533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a:t>
            </a:r>
          </a:p>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  </a:t>
            </a:r>
            <a:r>
              <a:rPr b="0">
                <a:solidFill>
                  <a:srgbClr val="B45309"/>
                </a:solidFill>
              </a:rPr>
              <a:t>"riskId"</a:t>
            </a:r>
            <a:r>
              <a:rPr b="0">
                <a:solidFill>
                  <a:srgbClr val="263044"/>
                </a:solidFill>
              </a:rPr>
              <a:t>: </a:t>
            </a:r>
            <a:r>
              <a:rPr b="0">
                <a:solidFill>
                  <a:srgbClr val="B45309"/>
                </a:solidFill>
              </a:rPr>
              <a:t>"R-17"</a:t>
            </a:r>
            <a:r>
              <a:rPr b="0">
                <a:solidFill>
                  <a:srgbClr val="263044"/>
                </a:solidFill>
              </a:rPr>
              <a:t>,</a:t>
            </a:r>
          </a:p>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  </a:t>
            </a:r>
            <a:r>
              <a:rPr b="0">
                <a:solidFill>
                  <a:srgbClr val="B45309"/>
                </a:solidFill>
              </a:rPr>
              <a:t>"asset"</a:t>
            </a:r>
            <a:r>
              <a:rPr b="0">
                <a:solidFill>
                  <a:srgbClr val="263044"/>
                </a:solidFill>
              </a:rPr>
              <a:t>: </a:t>
            </a:r>
            <a:r>
              <a:rPr b="0">
                <a:solidFill>
                  <a:srgbClr val="B45309"/>
                </a:solidFill>
              </a:rPr>
              <a:t>"incident-report"</a:t>
            </a:r>
            <a:r>
              <a:rPr b="0">
                <a:solidFill>
                  <a:srgbClr val="263044"/>
                </a:solidFill>
              </a:rPr>
              <a:t>,</a:t>
            </a:r>
          </a:p>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  </a:t>
            </a:r>
            <a:r>
              <a:rPr b="0">
                <a:solidFill>
                  <a:srgbClr val="B45309"/>
                </a:solidFill>
              </a:rPr>
              <a:t>"owner"</a:t>
            </a:r>
            <a:r>
              <a:rPr b="0">
                <a:solidFill>
                  <a:srgbClr val="263044"/>
                </a:solidFill>
              </a:rPr>
              <a:t>: </a:t>
            </a:r>
            <a:r>
              <a:rPr b="0">
                <a:solidFill>
                  <a:srgbClr val="B45309"/>
                </a:solidFill>
              </a:rPr>
              <a:t>"operations-director"</a:t>
            </a:r>
            <a:r>
              <a:rPr b="0">
                <a:solidFill>
                  <a:srgbClr val="263044"/>
                </a:solidFill>
              </a:rPr>
              <a:t>,</a:t>
            </a:r>
          </a:p>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  </a:t>
            </a:r>
            <a:r>
              <a:rPr b="0">
                <a:solidFill>
                  <a:srgbClr val="B45309"/>
                </a:solidFill>
              </a:rPr>
              <a:t>"residualRisk"</a:t>
            </a:r>
            <a:r>
              <a:rPr b="0">
                <a:solidFill>
                  <a:srgbClr val="263044"/>
                </a:solidFill>
              </a:rPr>
              <a:t>: </a:t>
            </a:r>
            <a:r>
              <a:rPr b="0">
                <a:solidFill>
                  <a:srgbClr val="B45309"/>
                </a:solidFill>
              </a:rPr>
              <a:t>"medium"</a:t>
            </a:r>
            <a:r>
              <a:rPr b="0">
                <a:solidFill>
                  <a:srgbClr val="263044"/>
                </a:solidFill>
              </a:rPr>
              <a:t>,</a:t>
            </a:r>
          </a:p>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  </a:t>
            </a:r>
            <a:r>
              <a:rPr b="0">
                <a:solidFill>
                  <a:srgbClr val="B45309"/>
                </a:solidFill>
              </a:rPr>
              <a:t>"acceptedUntil"</a:t>
            </a:r>
            <a:r>
              <a:rPr b="0">
                <a:solidFill>
                  <a:srgbClr val="263044"/>
                </a:solidFill>
              </a:rPr>
              <a:t>: </a:t>
            </a:r>
            <a:r>
              <a:rPr b="0">
                <a:solidFill>
                  <a:srgbClr val="B45309"/>
                </a:solidFill>
              </a:rPr>
              <a:t>"2027-01-31"</a:t>
            </a:r>
            <a:r>
              <a:rPr b="0">
                <a:solidFill>
                  <a:srgbClr val="263044"/>
                </a:solidFill>
              </a:rPr>
              <a:t>,</a:t>
            </a:r>
          </a:p>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  </a:t>
            </a:r>
            <a:r>
              <a:rPr b="0">
                <a:solidFill>
                  <a:srgbClr val="B45309"/>
                </a:solidFill>
              </a:rPr>
              <a:t>"nextReview"</a:t>
            </a:r>
            <a:r>
              <a:rPr b="0">
                <a:solidFill>
                  <a:srgbClr val="263044"/>
                </a:solidFill>
              </a:rPr>
              <a:t>: </a:t>
            </a:r>
            <a:r>
              <a:rPr b="0">
                <a:solidFill>
                  <a:srgbClr val="B45309"/>
                </a:solidFill>
              </a:rPr>
              <a:t>"2026-12-15"</a:t>
            </a:r>
          </a:p>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a:t>
            </a:r>
          </a:p>
        </p:txBody>
      </p:sp>
      <p:sp>
        <p:nvSpPr>
          <p:cNvPr id="13" name="Rounded Rectangle 12">
            <a:extLst xmlns:a="http://schemas.openxmlformats.org/drawingml/2006/main">
              <a:ext uri="{FF2B5EF4-FFF2-40B4-BE49-F238E27FC236}">
                <a16:creationId xmlns:a16="http://schemas.microsoft.com/office/drawing/2014/main" id="{32B5BCAD-811F-4CA0-84A9-74C11F8C4059}"/>
              </a:ext>
            </a:extLst>
          </p:cNvPr>
          <p:cNvSpPr>
            <a:spLocks xmlns:a="http://schemas.openxmlformats.org/drawingml/2006/main" noGrp="1"/>
          </p:cNvSpPr>
          <p:nvPr/>
        </p:nvSpPr>
        <p:spPr>
          <a:xfrm xmlns:a="http://schemas.openxmlformats.org/drawingml/2006/main">
            <a:off x="6648450" y="2152650"/>
            <a:ext cx="4591050" cy="1352550"/>
          </a:xfrm>
          <a:prstGeom xmlns:a="http://schemas.openxmlformats.org/drawingml/2006/main" prst="roundRect">
            <a:avLst>
              <a:gd name="adj" fmla="val 9859"/>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44D41DFB-B95F-43EA-AC39-C47E70B17E08}"/>
              </a:ext>
            </a:extLst>
          </p:cNvPr>
          <p:cNvSpPr>
            <a:spLocks xmlns:a="http://schemas.openxmlformats.org/drawingml/2006/main" noGrp="1"/>
          </p:cNvSpPr>
          <p:nvPr/>
        </p:nvSpPr>
        <p:spPr>
          <a:xfrm xmlns:a="http://schemas.openxmlformats.org/drawingml/2006/main">
            <a:off x="6800850" y="2276475"/>
            <a:ext cx="428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ДОВОЉНО</a:t>
            </a:r>
          </a:p>
        </p:txBody>
      </p:sp>
      <p:sp>
        <p:nvSpPr>
          <p:cNvPr id="15" name="Rectangle 14">
            <a:extLst xmlns:a="http://schemas.openxmlformats.org/drawingml/2006/main">
              <a:ext uri="{FF2B5EF4-FFF2-40B4-BE49-F238E27FC236}">
                <a16:creationId xmlns:a16="http://schemas.microsoft.com/office/drawing/2014/main" id="{B6038C1C-012B-4DDC-B53B-1462337E8BB5}"/>
              </a:ext>
            </a:extLst>
          </p:cNvPr>
          <p:cNvSpPr>
            <a:spLocks xmlns:a="http://schemas.openxmlformats.org/drawingml/2006/main" noGrp="1"/>
          </p:cNvSpPr>
          <p:nvPr/>
        </p:nvSpPr>
        <p:spPr>
          <a:xfrm xmlns:a="http://schemas.openxmlformats.org/drawingml/2006/main">
            <a:off x="6800850" y="2524125"/>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425" b="1">
                <a:solidFill>
                  <a:srgbClr val="1A202C"/>
                </a:solidFill>
                <a:latin typeface="Aptos"/>
                <a:ea typeface="Aptos"/>
                <a:cs typeface="Aptos"/>
              </a:defRPr>
            </a:pPr>
            <a:r>
              <a:rPr sz="1425" b="1">
                <a:solidFill>
                  <a:srgbClr val="1A202C"/>
                </a:solidFill>
                <a:latin typeface="Aptos"/>
                <a:ea typeface="Aptos"/>
                <a:cs typeface="Aptos"/>
              </a:rPr>
              <a:t>Актер, радња, циљ, исход и разлог</a:t>
            </a:r>
          </a:p>
        </p:txBody>
      </p:sp>
      <p:sp>
        <p:nvSpPr>
          <p:cNvPr id="16" name="Rectangle 15">
            <a:extLst xmlns:a="http://schemas.openxmlformats.org/drawingml/2006/main">
              <a:ext uri="{FF2B5EF4-FFF2-40B4-BE49-F238E27FC236}">
                <a16:creationId xmlns:a16="http://schemas.microsoft.com/office/drawing/2014/main" id="{8F21CD98-90A7-4A79-B4FF-FB812EC93109}"/>
              </a:ext>
            </a:extLst>
          </p:cNvPr>
          <p:cNvSpPr>
            <a:spLocks xmlns:a="http://schemas.openxmlformats.org/drawingml/2006/main" noGrp="1"/>
          </p:cNvSpPr>
          <p:nvPr/>
        </p:nvSpPr>
        <p:spPr>
          <a:xfrm xmlns:a="http://schemas.openxmlformats.org/drawingml/2006/main">
            <a:off x="6800850" y="2933700"/>
            <a:ext cx="4286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Временска ознака и correlation ID повезују траг са остатком тока.</a:t>
            </a:r>
          </a:p>
        </p:txBody>
      </p:sp>
      <p:sp>
        <p:nvSpPr>
          <p:cNvPr id="17" name="Rounded Rectangle 16">
            <a:extLst xmlns:a="http://schemas.openxmlformats.org/drawingml/2006/main">
              <a:ext uri="{FF2B5EF4-FFF2-40B4-BE49-F238E27FC236}">
                <a16:creationId xmlns:a16="http://schemas.microsoft.com/office/drawing/2014/main" id="{BBDFCDBB-74D9-49FE-8321-F2C0D542E5B8}"/>
              </a:ext>
            </a:extLst>
          </p:cNvPr>
          <p:cNvSpPr>
            <a:spLocks xmlns:a="http://schemas.openxmlformats.org/drawingml/2006/main" noGrp="1"/>
          </p:cNvSpPr>
          <p:nvPr/>
        </p:nvSpPr>
        <p:spPr>
          <a:xfrm xmlns:a="http://schemas.openxmlformats.org/drawingml/2006/main">
            <a:off x="6648450" y="3867150"/>
            <a:ext cx="4591050" cy="1428750"/>
          </a:xfrm>
          <a:prstGeom xmlns:a="http://schemas.openxmlformats.org/drawingml/2006/main" prst="roundRect">
            <a:avLst>
              <a:gd name="adj" fmla="val 9333"/>
            </a:avLst>
          </a:prstGeom>
          <a:solidFill xmlns:a="http://schemas.openxmlformats.org/drawingml/2006/main">
            <a:srgbClr val="FFF0F0"/>
          </a:solidFill>
          <a:ln xmlns:a="http://schemas.openxmlformats.org/drawingml/2006/main" w="9525">
            <a:solidFill>
              <a:srgbClr val="D7DEE8"/>
            </a:solidFill>
            <a:prstDash val="solid"/>
          </a:ln>
        </p:spPr>
      </p:sp>
      <p:sp>
        <p:nvSpPr>
          <p:cNvPr id="18" name="Rectangle 17">
            <a:extLst xmlns:a="http://schemas.openxmlformats.org/drawingml/2006/main">
              <a:ext uri="{FF2B5EF4-FFF2-40B4-BE49-F238E27FC236}">
                <a16:creationId xmlns:a16="http://schemas.microsoft.com/office/drawing/2014/main" id="{11DDA1B1-BEC8-4250-AEE7-A9128AD475E9}"/>
              </a:ext>
            </a:extLst>
          </p:cNvPr>
          <p:cNvSpPr>
            <a:spLocks xmlns:a="http://schemas.openxmlformats.org/drawingml/2006/main" noGrp="1"/>
          </p:cNvSpPr>
          <p:nvPr/>
        </p:nvSpPr>
        <p:spPr>
          <a:xfrm xmlns:a="http://schemas.openxmlformats.org/drawingml/2006/main">
            <a:off x="6800850" y="3990975"/>
            <a:ext cx="428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НЕ ПРИПАДА У ДОКАЗ</a:t>
            </a:r>
          </a:p>
        </p:txBody>
      </p:sp>
      <p:sp>
        <p:nvSpPr>
          <p:cNvPr id="19" name="Rectangle 18">
            <a:extLst xmlns:a="http://schemas.openxmlformats.org/drawingml/2006/main">
              <a:ext uri="{FF2B5EF4-FFF2-40B4-BE49-F238E27FC236}">
                <a16:creationId xmlns:a16="http://schemas.microsoft.com/office/drawing/2014/main" id="{E9D1C6BA-55E2-44AF-8775-10A69D51AFA3}"/>
              </a:ext>
            </a:extLst>
          </p:cNvPr>
          <p:cNvSpPr>
            <a:spLocks xmlns:a="http://schemas.openxmlformats.org/drawingml/2006/main" noGrp="1"/>
          </p:cNvSpPr>
          <p:nvPr/>
        </p:nvSpPr>
        <p:spPr>
          <a:xfrm xmlns:a="http://schemas.openxmlformats.org/drawingml/2006/main">
            <a:off x="6800850" y="4238625"/>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Лозинка, token, тајна и сувишан садржај</a:t>
            </a:r>
          </a:p>
        </p:txBody>
      </p:sp>
      <p:sp>
        <p:nvSpPr>
          <p:cNvPr id="20" name="Rectangle 19">
            <a:extLst xmlns:a="http://schemas.openxmlformats.org/drawingml/2006/main">
              <a:ext uri="{FF2B5EF4-FFF2-40B4-BE49-F238E27FC236}">
                <a16:creationId xmlns:a16="http://schemas.microsoft.com/office/drawing/2014/main" id="{C9F142BC-7A50-4AF5-9AA3-1AB856594B32}"/>
              </a:ext>
            </a:extLst>
          </p:cNvPr>
          <p:cNvSpPr>
            <a:spLocks xmlns:a="http://schemas.openxmlformats.org/drawingml/2006/main" noGrp="1"/>
          </p:cNvSpPr>
          <p:nvPr/>
        </p:nvSpPr>
        <p:spPr>
          <a:xfrm xmlns:a="http://schemas.openxmlformats.org/drawingml/2006/main">
            <a:off x="6800850" y="4648200"/>
            <a:ext cx="4286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Траг не сме да постане нови извор цурења или збирка непотребних података.</a:t>
            </a:r>
          </a:p>
        </p:txBody>
      </p:sp>
    </p:spTree>
    <p:extLst>
      <p:ext uri="{BB962C8B-B14F-4D97-AF65-F5344CB8AC3E}">
        <p14:creationId xmlns:p14="http://schemas.microsoft.com/office/powerpoint/2010/main" val="207500299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D250A7C5-51B0-4D57-82E8-70B69B593824}"/>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19444FFB-4FCC-4599-9001-13D4081AAF5F}"/>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737B4BE5-96A7-42E2-9BEB-B2B40D46D07A}"/>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17</a:t>
            </a:r>
          </a:p>
        </p:txBody>
      </p:sp>
      <p:sp>
        <p:nvSpPr>
          <p:cNvPr id="4" name="Rectangle 3">
            <a:extLst xmlns:a="http://schemas.openxmlformats.org/drawingml/2006/main">
              <a:ext uri="{FF2B5EF4-FFF2-40B4-BE49-F238E27FC236}">
                <a16:creationId xmlns:a16="http://schemas.microsoft.com/office/drawing/2014/main" id="{5EA0ACB2-4755-413E-A39F-81035F06E082}"/>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Честе грешке у имплементацији</a:t>
            </a:r>
          </a:p>
        </p:txBody>
      </p:sp>
      <p:sp>
        <p:nvSpPr>
          <p:cNvPr id="5" name="Rectangle 4">
            <a:extLst xmlns:a="http://schemas.openxmlformats.org/drawingml/2006/main">
              <a:ext uri="{FF2B5EF4-FFF2-40B4-BE49-F238E27FC236}">
                <a16:creationId xmlns:a16="http://schemas.microsoft.com/office/drawing/2014/main" id="{A868DC9A-3551-4A4F-AE37-5BE9FC99DF3A}"/>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Грешке настају када контекст, место одлуке или доказ остану нејасни.</a:t>
            </a:r>
          </a:p>
        </p:txBody>
      </p:sp>
      <p:sp>
        <p:nvSpPr>
          <p:cNvPr id="6" name="Rounded Rectangle 5">
            <a:extLst xmlns:a="http://schemas.openxmlformats.org/drawingml/2006/main">
              <a:ext uri="{FF2B5EF4-FFF2-40B4-BE49-F238E27FC236}">
                <a16:creationId xmlns:a16="http://schemas.microsoft.com/office/drawing/2014/main" id="{D47DD36C-B042-4A00-B313-6A3B5C6EB1F9}"/>
              </a:ext>
            </a:extLst>
          </p:cNvPr>
          <p:cNvSpPr>
            <a:spLocks xmlns:a="http://schemas.openxmlformats.org/drawingml/2006/main" noGrp="1"/>
          </p:cNvSpPr>
          <p:nvPr/>
        </p:nvSpPr>
        <p:spPr>
          <a:xfrm xmlns:a="http://schemas.openxmlformats.org/drawingml/2006/main">
            <a:off x="819150" y="2381250"/>
            <a:ext cx="3257550" cy="2381250"/>
          </a:xfrm>
          <a:prstGeom xmlns:a="http://schemas.openxmlformats.org/drawingml/2006/main" prst="roundRect">
            <a:avLst>
              <a:gd name="adj" fmla="val 5600"/>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07FD5D0F-D4D7-4538-9FE9-9D6566B08C5B}"/>
              </a:ext>
            </a:extLst>
          </p:cNvPr>
          <p:cNvSpPr>
            <a:spLocks xmlns:a="http://schemas.openxmlformats.org/drawingml/2006/main" noGrp="1"/>
          </p:cNvSpPr>
          <p:nvPr/>
        </p:nvSpPr>
        <p:spPr>
          <a:xfrm xmlns:a="http://schemas.openxmlformats.org/drawingml/2006/main">
            <a:off x="971550" y="25050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0AA45A81-0B73-4E59-8400-04BFAD86D180}"/>
              </a:ext>
            </a:extLst>
          </p:cNvPr>
          <p:cNvSpPr>
            <a:spLocks xmlns:a="http://schemas.openxmlformats.org/drawingml/2006/main" noGrp="1"/>
          </p:cNvSpPr>
          <p:nvPr/>
        </p:nvSpPr>
        <p:spPr>
          <a:xfrm xmlns:a="http://schemas.openxmlformats.org/drawingml/2006/main">
            <a:off x="971550" y="2752725"/>
            <a:ext cx="295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Увођење атрибута без јасног извора и значења.</a:t>
            </a:r>
          </a:p>
        </p:txBody>
      </p:sp>
      <p:sp>
        <p:nvSpPr>
          <p:cNvPr id="9" name="Rectangle 8">
            <a:extLst xmlns:a="http://schemas.openxmlformats.org/drawingml/2006/main">
              <a:ext uri="{FF2B5EF4-FFF2-40B4-BE49-F238E27FC236}">
                <a16:creationId xmlns:a16="http://schemas.microsoft.com/office/drawing/2014/main" id="{076FB5DE-BFC7-4BE2-BDF8-B20A98E2717C}"/>
              </a:ext>
            </a:extLst>
          </p:cNvPr>
          <p:cNvSpPr>
            <a:spLocks xmlns:a="http://schemas.openxmlformats.org/drawingml/2006/main" noGrp="1"/>
          </p:cNvSpPr>
          <p:nvPr/>
        </p:nvSpPr>
        <p:spPr>
          <a:xfrm xmlns:a="http://schemas.openxmlformats.org/drawingml/2006/main">
            <a:off x="971550" y="40386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Нема јасног власника одлуке.</a:t>
            </a:r>
          </a:p>
        </p:txBody>
      </p:sp>
      <p:sp>
        <p:nvSpPr>
          <p:cNvPr id="10" name="Rounded Rectangle 9">
            <a:extLst xmlns:a="http://schemas.openxmlformats.org/drawingml/2006/main">
              <a:ext uri="{FF2B5EF4-FFF2-40B4-BE49-F238E27FC236}">
                <a16:creationId xmlns:a16="http://schemas.microsoft.com/office/drawing/2014/main" id="{4BC92024-737D-484B-ABBA-397524B0B3F9}"/>
              </a:ext>
            </a:extLst>
          </p:cNvPr>
          <p:cNvSpPr>
            <a:spLocks xmlns:a="http://schemas.openxmlformats.org/drawingml/2006/main" noGrp="1"/>
          </p:cNvSpPr>
          <p:nvPr/>
        </p:nvSpPr>
        <p:spPr>
          <a:xfrm xmlns:a="http://schemas.openxmlformats.org/drawingml/2006/main">
            <a:off x="4467225" y="2381250"/>
            <a:ext cx="3257550" cy="2381250"/>
          </a:xfrm>
          <a:prstGeom xmlns:a="http://schemas.openxmlformats.org/drawingml/2006/main" prst="roundRect">
            <a:avLst>
              <a:gd name="adj" fmla="val 5600"/>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A1730118-2A6D-4304-89D9-18035A746127}"/>
              </a:ext>
            </a:extLst>
          </p:cNvPr>
          <p:cNvSpPr>
            <a:spLocks xmlns:a="http://schemas.openxmlformats.org/drawingml/2006/main" noGrp="1"/>
          </p:cNvSpPr>
          <p:nvPr/>
        </p:nvSpPr>
        <p:spPr>
          <a:xfrm xmlns:a="http://schemas.openxmlformats.org/drawingml/2006/main">
            <a:off x="4619625" y="25050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489C5279-3F3E-4671-B34C-08DACDBCE0B7}"/>
              </a:ext>
            </a:extLst>
          </p:cNvPr>
          <p:cNvSpPr>
            <a:spLocks xmlns:a="http://schemas.openxmlformats.org/drawingml/2006/main" noGrp="1"/>
          </p:cNvSpPr>
          <p:nvPr/>
        </p:nvSpPr>
        <p:spPr>
          <a:xfrm xmlns:a="http://schemas.openxmlformats.org/drawingml/2006/main">
            <a:off x="4619625" y="2752725"/>
            <a:ext cx="295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Правило које зависи од скривеног стања и даје необјашњив резултат.</a:t>
            </a:r>
          </a:p>
        </p:txBody>
      </p:sp>
      <p:sp>
        <p:nvSpPr>
          <p:cNvPr id="13" name="Rectangle 12">
            <a:extLst xmlns:a="http://schemas.openxmlformats.org/drawingml/2006/main">
              <a:ext uri="{FF2B5EF4-FFF2-40B4-BE49-F238E27FC236}">
                <a16:creationId xmlns:a16="http://schemas.microsoft.com/office/drawing/2014/main" id="{A7A1C19B-970F-4F9B-89FD-BF8DB72559DE}"/>
              </a:ext>
            </a:extLst>
          </p:cNvPr>
          <p:cNvSpPr>
            <a:spLocks xmlns:a="http://schemas.openxmlformats.org/drawingml/2006/main" noGrp="1"/>
          </p:cNvSpPr>
          <p:nvPr/>
        </p:nvSpPr>
        <p:spPr>
          <a:xfrm xmlns:a="http://schemas.openxmlformats.org/drawingml/2006/main">
            <a:off x="4619625" y="40386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 постоји негативан сценарио.</a:t>
            </a:r>
          </a:p>
        </p:txBody>
      </p:sp>
      <p:sp>
        <p:nvSpPr>
          <p:cNvPr id="14" name="Rounded Rectangle 13">
            <a:extLst xmlns:a="http://schemas.openxmlformats.org/drawingml/2006/main">
              <a:ext uri="{FF2B5EF4-FFF2-40B4-BE49-F238E27FC236}">
                <a16:creationId xmlns:a16="http://schemas.microsoft.com/office/drawing/2014/main" id="{1A70CD3A-A116-45F8-9B00-B73B23B120AD}"/>
              </a:ext>
            </a:extLst>
          </p:cNvPr>
          <p:cNvSpPr>
            <a:spLocks xmlns:a="http://schemas.openxmlformats.org/drawingml/2006/main" noGrp="1"/>
          </p:cNvSpPr>
          <p:nvPr/>
        </p:nvSpPr>
        <p:spPr>
          <a:xfrm xmlns:a="http://schemas.openxmlformats.org/drawingml/2006/main">
            <a:off x="8115300" y="2381250"/>
            <a:ext cx="3257550" cy="2381250"/>
          </a:xfrm>
          <a:prstGeom xmlns:a="http://schemas.openxmlformats.org/drawingml/2006/main" prst="roundRect">
            <a:avLst>
              <a:gd name="adj" fmla="val 5600"/>
            </a:avLst>
          </a:prstGeom>
          <a:solidFill xmlns:a="http://schemas.openxmlformats.org/drawingml/2006/main">
            <a:srgbClr val="F7F4F5"/>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FC16C4D3-72AA-4532-B685-204F131F2205}"/>
              </a:ext>
            </a:extLst>
          </p:cNvPr>
          <p:cNvSpPr>
            <a:spLocks xmlns:a="http://schemas.openxmlformats.org/drawingml/2006/main" noGrp="1"/>
          </p:cNvSpPr>
          <p:nvPr/>
        </p:nvSpPr>
        <p:spPr>
          <a:xfrm xmlns:a="http://schemas.openxmlformats.org/drawingml/2006/main">
            <a:off x="8267700" y="25050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9DA210F2-F8C7-4AAA-A724-BA9E1B090552}"/>
              </a:ext>
            </a:extLst>
          </p:cNvPr>
          <p:cNvSpPr>
            <a:spLocks xmlns:a="http://schemas.openxmlformats.org/drawingml/2006/main" noGrp="1"/>
          </p:cNvSpPr>
          <p:nvPr/>
        </p:nvSpPr>
        <p:spPr>
          <a:xfrm xmlns:a="http://schemas.openxmlformats.org/drawingml/2006/main">
            <a:off x="8267700" y="2752725"/>
            <a:ext cx="295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Конфликт дужности откривен тек након што је штета могућа.</a:t>
            </a:r>
          </a:p>
        </p:txBody>
      </p:sp>
      <p:sp>
        <p:nvSpPr>
          <p:cNvPr id="17" name="Rectangle 16">
            <a:extLst xmlns:a="http://schemas.openxmlformats.org/drawingml/2006/main">
              <a:ext uri="{FF2B5EF4-FFF2-40B4-BE49-F238E27FC236}">
                <a16:creationId xmlns:a16="http://schemas.microsoft.com/office/drawing/2014/main" id="{9F5F81F6-023C-416B-8F20-2635108633A8}"/>
              </a:ext>
            </a:extLst>
          </p:cNvPr>
          <p:cNvSpPr>
            <a:spLocks xmlns:a="http://schemas.openxmlformats.org/drawingml/2006/main" noGrp="1"/>
          </p:cNvSpPr>
          <p:nvPr/>
        </p:nvSpPr>
        <p:spPr>
          <a:xfrm xmlns:a="http://schemas.openxmlformats.org/drawingml/2006/main">
            <a:off x="8267700" y="40386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Доказ не показује стварни исход.</a:t>
            </a:r>
          </a:p>
        </p:txBody>
      </p:sp>
    </p:spTree>
    <p:extLst>
      <p:ext uri="{BB962C8B-B14F-4D97-AF65-F5344CB8AC3E}">
        <p14:creationId xmlns:p14="http://schemas.microsoft.com/office/powerpoint/2010/main" val="105092453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3AFF1E5B-9069-4638-884E-0A7472098694}"/>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02839C9A-7922-475F-B287-102EC88AC630}"/>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51318A47-0973-4DAF-B885-6727564A1863}"/>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18</a:t>
            </a:r>
          </a:p>
        </p:txBody>
      </p:sp>
      <p:sp>
        <p:nvSpPr>
          <p:cNvPr id="4" name="Rectangle 3">
            <a:extLst xmlns:a="http://schemas.openxmlformats.org/drawingml/2006/main">
              <a:ext uri="{FF2B5EF4-FFF2-40B4-BE49-F238E27FC236}">
                <a16:creationId xmlns:a16="http://schemas.microsoft.com/office/drawing/2014/main" id="{8BCE223F-FF9F-4241-B0CB-6906CE2C2F17}"/>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Документовање одлуке засноване на ризику</a:t>
            </a:r>
          </a:p>
        </p:txBody>
      </p:sp>
      <p:sp>
        <p:nvSpPr>
          <p:cNvPr id="5" name="Rectangle 4">
            <a:extLst xmlns:a="http://schemas.openxmlformats.org/drawingml/2006/main">
              <a:ext uri="{FF2B5EF4-FFF2-40B4-BE49-F238E27FC236}">
                <a16:creationId xmlns:a16="http://schemas.microsoft.com/office/drawing/2014/main" id="{43043B93-1473-4C10-B80F-E19A76932962}"/>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Одлука бележи контекст, процену утицаја, преостали ризик и рок за поновни преглед.</a:t>
            </a:r>
          </a:p>
        </p:txBody>
      </p:sp>
      <p:sp>
        <p:nvSpPr>
          <p:cNvPr id="6" name="Rounded Rectangle 5">
            <a:extLst xmlns:a="http://schemas.openxmlformats.org/drawingml/2006/main">
              <a:ext uri="{FF2B5EF4-FFF2-40B4-BE49-F238E27FC236}">
                <a16:creationId xmlns:a16="http://schemas.microsoft.com/office/drawing/2014/main" id="{013B5F0A-3AD9-465B-8741-F963C2EB7A0E}"/>
              </a:ext>
            </a:extLst>
          </p:cNvPr>
          <p:cNvSpPr>
            <a:spLocks xmlns:a="http://schemas.openxmlformats.org/drawingml/2006/main" noGrp="1"/>
          </p:cNvSpPr>
          <p:nvPr/>
        </p:nvSpPr>
        <p:spPr>
          <a:xfrm xmlns:a="http://schemas.openxmlformats.org/drawingml/2006/main">
            <a:off x="781050" y="2152650"/>
            <a:ext cx="4476750" cy="2371725"/>
          </a:xfrm>
          <a:prstGeom xmlns:a="http://schemas.openxmlformats.org/drawingml/2006/main" prst="roundRect">
            <a:avLst>
              <a:gd name="adj" fmla="val 4294"/>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C472124C-654B-4F8A-9BBE-B5EB2EB0DD4F}"/>
              </a:ext>
            </a:extLst>
          </p:cNvPr>
          <p:cNvSpPr>
            <a:spLocks xmlns:a="http://schemas.openxmlformats.org/drawingml/2006/main" noGrp="1"/>
          </p:cNvSpPr>
          <p:nvPr/>
        </p:nvSpPr>
        <p:spPr>
          <a:xfrm xmlns:a="http://schemas.openxmlformats.org/drawingml/2006/main">
            <a:off x="933450" y="2276475"/>
            <a:ext cx="417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ОБРАЗЛОЖЕЊЕ</a:t>
            </a:r>
          </a:p>
        </p:txBody>
      </p:sp>
      <p:sp>
        <p:nvSpPr>
          <p:cNvPr id="8" name="Rectangle 7">
            <a:extLst xmlns:a="http://schemas.openxmlformats.org/drawingml/2006/main">
              <a:ext uri="{FF2B5EF4-FFF2-40B4-BE49-F238E27FC236}">
                <a16:creationId xmlns:a16="http://schemas.microsoft.com/office/drawing/2014/main" id="{418C9612-4BED-4F93-93ED-275C01311F2A}"/>
              </a:ext>
            </a:extLst>
          </p:cNvPr>
          <p:cNvSpPr>
            <a:spLocks xmlns:a="http://schemas.openxmlformats.org/drawingml/2006/main" noGrp="1"/>
          </p:cNvSpPr>
          <p:nvPr/>
        </p:nvSpPr>
        <p:spPr>
          <a:xfrm xmlns:a="http://schemas.openxmlformats.org/drawingml/2006/main">
            <a:off x="933450" y="2524125"/>
            <a:ext cx="41719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Ризик као разговор о одлуци</a:t>
            </a:r>
          </a:p>
        </p:txBody>
      </p:sp>
      <p:sp>
        <p:nvSpPr>
          <p:cNvPr id="9" name="Rectangle 8">
            <a:extLst xmlns:a="http://schemas.openxmlformats.org/drawingml/2006/main">
              <a:ext uri="{FF2B5EF4-FFF2-40B4-BE49-F238E27FC236}">
                <a16:creationId xmlns:a16="http://schemas.microsoft.com/office/drawing/2014/main" id="{3CBC4371-470A-4B33-9F5E-41C22F22A72B}"/>
              </a:ext>
            </a:extLst>
          </p:cNvPr>
          <p:cNvSpPr>
            <a:spLocks xmlns:a="http://schemas.openxmlformats.org/drawingml/2006/main" noGrp="1"/>
          </p:cNvSpPr>
          <p:nvPr/>
        </p:nvSpPr>
        <p:spPr>
          <a:xfrm xmlns:a="http://schemas.openxmlformats.org/drawingml/2006/main">
            <a:off x="933450" y="3143250"/>
            <a:ext cx="4171950" cy="2009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Risk register није списак страшних сценарија. Он даје тиму заједнички начин да упореди утицај, вероватноћу, постојеће контроле и преосталу изложеност. Када се ризик прихвати, мора бити јасно ко га прихвата, зашто и када ће одлука бити поново прегледана.</a:t>
            </a:r>
          </a:p>
        </p:txBody>
      </p:sp>
      <p:sp>
        <p:nvSpPr>
          <p:cNvPr id="10" name="Rounded Rectangle 9">
            <a:extLst xmlns:a="http://schemas.openxmlformats.org/drawingml/2006/main">
              <a:ext uri="{FF2B5EF4-FFF2-40B4-BE49-F238E27FC236}">
                <a16:creationId xmlns:a16="http://schemas.microsoft.com/office/drawing/2014/main" id="{315B9CD5-18C0-4B03-8E1C-0CDD39C4C884}"/>
              </a:ext>
            </a:extLst>
          </p:cNvPr>
          <p:cNvSpPr>
            <a:spLocks xmlns:a="http://schemas.openxmlformats.org/drawingml/2006/main" noGrp="1"/>
          </p:cNvSpPr>
          <p:nvPr/>
        </p:nvSpPr>
        <p:spPr>
          <a:xfrm xmlns:a="http://schemas.openxmlformats.org/drawingml/2006/main">
            <a:off x="5676900" y="2152650"/>
            <a:ext cx="5734050" cy="828675"/>
          </a:xfrm>
          <a:prstGeom xmlns:a="http://schemas.openxmlformats.org/drawingml/2006/main" prst="roundRect">
            <a:avLst>
              <a:gd name="adj" fmla="val 16092"/>
            </a:avLst>
          </a:prstGeom>
          <a:solidFill xmlns:a="http://schemas.openxmlformats.org/drawingml/2006/main">
            <a:srgbClr val="F7EFF1"/>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57E97091-43B1-4A47-8D14-835E2C97B541}"/>
              </a:ext>
            </a:extLst>
          </p:cNvPr>
          <p:cNvSpPr>
            <a:spLocks xmlns:a="http://schemas.openxmlformats.org/drawingml/2006/main" noGrp="1"/>
          </p:cNvSpPr>
          <p:nvPr/>
        </p:nvSpPr>
        <p:spPr>
          <a:xfrm xmlns:a="http://schemas.openxmlformats.org/drawingml/2006/main">
            <a:off x="5829300" y="2276475"/>
            <a:ext cx="542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389C7AC8-0D09-458E-A891-0F8D4B98BFF5}"/>
              </a:ext>
            </a:extLst>
          </p:cNvPr>
          <p:cNvSpPr>
            <a:spLocks xmlns:a="http://schemas.openxmlformats.org/drawingml/2006/main" noGrp="1"/>
          </p:cNvSpPr>
          <p:nvPr/>
        </p:nvSpPr>
        <p:spPr>
          <a:xfrm xmlns:a="http://schemas.openxmlformats.org/drawingml/2006/main">
            <a:off x="5829300" y="2524125"/>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Ризик повезује конкретну имовину, претњу и контролу.</a:t>
            </a:r>
          </a:p>
        </p:txBody>
      </p:sp>
      <p:sp>
        <p:nvSpPr>
          <p:cNvPr id="13" name="Rounded Rectangle 12">
            <a:extLst xmlns:a="http://schemas.openxmlformats.org/drawingml/2006/main">
              <a:ext uri="{FF2B5EF4-FFF2-40B4-BE49-F238E27FC236}">
                <a16:creationId xmlns:a16="http://schemas.microsoft.com/office/drawing/2014/main" id="{8A64BEBB-81BF-4AAF-8CBA-572C97A76C8F}"/>
              </a:ext>
            </a:extLst>
          </p:cNvPr>
          <p:cNvSpPr>
            <a:spLocks xmlns:a="http://schemas.openxmlformats.org/drawingml/2006/main" noGrp="1"/>
          </p:cNvSpPr>
          <p:nvPr/>
        </p:nvSpPr>
        <p:spPr>
          <a:xfrm xmlns:a="http://schemas.openxmlformats.org/drawingml/2006/main">
            <a:off x="5676900" y="3152775"/>
            <a:ext cx="5734050" cy="828675"/>
          </a:xfrm>
          <a:prstGeom xmlns:a="http://schemas.openxmlformats.org/drawingml/2006/main" prst="roundRect">
            <a:avLst>
              <a:gd name="adj" fmla="val 16092"/>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C3EDD053-3A84-4E11-9B19-7299B3452236}"/>
              </a:ext>
            </a:extLst>
          </p:cNvPr>
          <p:cNvSpPr>
            <a:spLocks xmlns:a="http://schemas.openxmlformats.org/drawingml/2006/main" noGrp="1"/>
          </p:cNvSpPr>
          <p:nvPr/>
        </p:nvSpPr>
        <p:spPr>
          <a:xfrm xmlns:a="http://schemas.openxmlformats.org/drawingml/2006/main">
            <a:off x="5829300" y="3276600"/>
            <a:ext cx="542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19B97CC1-50AB-4443-AB95-2A76AC40DF76}"/>
              </a:ext>
            </a:extLst>
          </p:cNvPr>
          <p:cNvSpPr>
            <a:spLocks xmlns:a="http://schemas.openxmlformats.org/drawingml/2006/main" noGrp="1"/>
          </p:cNvSpPr>
          <p:nvPr/>
        </p:nvSpPr>
        <p:spPr>
          <a:xfrm xmlns:a="http://schemas.openxmlformats.org/drawingml/2006/main">
            <a:off x="5829300" y="3524250"/>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Преглед приступа и преглед ризика имају ритам, власника и очекивани исход.</a:t>
            </a:r>
          </a:p>
        </p:txBody>
      </p:sp>
      <p:sp>
        <p:nvSpPr>
          <p:cNvPr id="16" name="Rounded Rectangle 15">
            <a:extLst xmlns:a="http://schemas.openxmlformats.org/drawingml/2006/main">
              <a:ext uri="{FF2B5EF4-FFF2-40B4-BE49-F238E27FC236}">
                <a16:creationId xmlns:a16="http://schemas.microsoft.com/office/drawing/2014/main" id="{10A84C3E-B54A-439C-B174-E8E7F5E9E10E}"/>
              </a:ext>
            </a:extLst>
          </p:cNvPr>
          <p:cNvSpPr>
            <a:spLocks xmlns:a="http://schemas.openxmlformats.org/drawingml/2006/main" noGrp="1"/>
          </p:cNvSpPr>
          <p:nvPr/>
        </p:nvSpPr>
        <p:spPr>
          <a:xfrm xmlns:a="http://schemas.openxmlformats.org/drawingml/2006/main">
            <a:off x="5676900" y="4152900"/>
            <a:ext cx="5734050" cy="828675"/>
          </a:xfrm>
          <a:prstGeom xmlns:a="http://schemas.openxmlformats.org/drawingml/2006/main" prst="roundRect">
            <a:avLst>
              <a:gd name="adj" fmla="val 16092"/>
            </a:avLst>
          </a:prstGeom>
          <a:solidFill xmlns:a="http://schemas.openxmlformats.org/drawingml/2006/main">
            <a:srgbClr val="FFF6E9"/>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2A312D65-69DE-4D9D-833C-58E85961B2E3}"/>
              </a:ext>
            </a:extLst>
          </p:cNvPr>
          <p:cNvSpPr>
            <a:spLocks xmlns:a="http://schemas.openxmlformats.org/drawingml/2006/main" noGrp="1"/>
          </p:cNvSpPr>
          <p:nvPr/>
        </p:nvSpPr>
        <p:spPr>
          <a:xfrm xmlns:a="http://schemas.openxmlformats.org/drawingml/2006/main">
            <a:off x="5829300" y="4276725"/>
            <a:ext cx="542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9DEC8D20-7D9A-437B-9604-9BB44F73AE62}"/>
              </a:ext>
            </a:extLst>
          </p:cNvPr>
          <p:cNvSpPr>
            <a:spLocks xmlns:a="http://schemas.openxmlformats.org/drawingml/2006/main" noGrp="1"/>
          </p:cNvSpPr>
          <p:nvPr/>
        </p:nvSpPr>
        <p:spPr>
          <a:xfrm xmlns:a="http://schemas.openxmlformats.org/drawingml/2006/main">
            <a:off x="5829300" y="4524375"/>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Сегрегација дужности спречава комбинације права које би једној особи дале превелику контролу.</a:t>
            </a:r>
          </a:p>
        </p:txBody>
      </p:sp>
    </p:spTree>
    <p:extLst>
      <p:ext uri="{BB962C8B-B14F-4D97-AF65-F5344CB8AC3E}">
        <p14:creationId xmlns:p14="http://schemas.microsoft.com/office/powerpoint/2010/main" val="115065216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ectangle 27">
            <a:extLst xmlns:a="http://schemas.openxmlformats.org/drawingml/2006/main">
              <a:ext uri="{FF2B5EF4-FFF2-40B4-BE49-F238E27FC236}">
                <a16:creationId xmlns:a16="http://schemas.microsoft.com/office/drawing/2014/main" id="{EE137836-677D-4CFE-8664-E9FA68755F2C}"/>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7116FB49-5708-4251-9007-A47D5FC255F2}"/>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F66B4438-0001-4BE3-8C9F-A3D870C43074}"/>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19</a:t>
            </a:r>
          </a:p>
        </p:txBody>
      </p:sp>
      <p:sp>
        <p:nvSpPr>
          <p:cNvPr id="4" name="Rectangle 3">
            <a:extLst xmlns:a="http://schemas.openxmlformats.org/drawingml/2006/main">
              <a:ext uri="{FF2B5EF4-FFF2-40B4-BE49-F238E27FC236}">
                <a16:creationId xmlns:a16="http://schemas.microsoft.com/office/drawing/2014/main" id="{18F89BE7-05D6-49B6-AF1C-7C2DA9F984D6}"/>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Примена на пројекат</a:t>
            </a:r>
          </a:p>
        </p:txBody>
      </p:sp>
      <p:sp>
        <p:nvSpPr>
          <p:cNvPr id="5" name="Rectangle 4">
            <a:extLst xmlns:a="http://schemas.openxmlformats.org/drawingml/2006/main">
              <a:ext uri="{FF2B5EF4-FFF2-40B4-BE49-F238E27FC236}">
                <a16:creationId xmlns:a16="http://schemas.microsoft.com/office/drawing/2014/main" id="{FDA77CA1-AA1B-4F6F-8773-4F3C6E04B599}"/>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Анализа једног сценарија обухвата одлуку, имплементацију, тест одбијања и доказ.</a:t>
            </a:r>
          </a:p>
        </p:txBody>
      </p:sp>
      <p:sp>
        <p:nvSpPr>
          <p:cNvPr id="6" name="Rounded Rectangle 5">
            <a:extLst xmlns:a="http://schemas.openxmlformats.org/drawingml/2006/main">
              <a:ext uri="{FF2B5EF4-FFF2-40B4-BE49-F238E27FC236}">
                <a16:creationId xmlns:a16="http://schemas.microsoft.com/office/drawing/2014/main" id="{92C0A441-455A-411E-AF30-2EA1FCE165D0}"/>
              </a:ext>
            </a:extLst>
          </p:cNvPr>
          <p:cNvSpPr>
            <a:spLocks xmlns:a="http://schemas.openxmlformats.org/drawingml/2006/main" noGrp="1"/>
          </p:cNvSpPr>
          <p:nvPr/>
        </p:nvSpPr>
        <p:spPr>
          <a:xfrm xmlns:a="http://schemas.openxmlformats.org/drawingml/2006/main">
            <a:off x="800100" y="2400300"/>
            <a:ext cx="2433638"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23E1EB3F-C7AA-419D-BF10-01A34F7721F0}"/>
              </a:ext>
            </a:extLst>
          </p:cNvPr>
          <p:cNvSpPr>
            <a:spLocks xmlns:a="http://schemas.openxmlformats.org/drawingml/2006/main" noGrp="1"/>
          </p:cNvSpPr>
          <p:nvPr/>
        </p:nvSpPr>
        <p:spPr>
          <a:xfrm xmlns:a="http://schemas.openxmlformats.org/drawingml/2006/main">
            <a:off x="942975"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C26CED7E-6D6D-4D71-AC53-CECFA84A9598}"/>
              </a:ext>
            </a:extLst>
          </p:cNvPr>
          <p:cNvSpPr>
            <a:spLocks xmlns:a="http://schemas.openxmlformats.org/drawingml/2006/main" noGrp="1"/>
          </p:cNvSpPr>
          <p:nvPr/>
        </p:nvSpPr>
        <p:spPr>
          <a:xfrm xmlns:a="http://schemas.openxmlformats.org/drawingml/2006/main">
            <a:off x="933450"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Избор сценарија</a:t>
            </a:r>
          </a:p>
        </p:txBody>
      </p:sp>
      <p:sp>
        <p:nvSpPr>
          <p:cNvPr id="9" name="Rectangle 8">
            <a:extLst xmlns:a="http://schemas.openxmlformats.org/drawingml/2006/main">
              <a:ext uri="{FF2B5EF4-FFF2-40B4-BE49-F238E27FC236}">
                <a16:creationId xmlns:a16="http://schemas.microsoft.com/office/drawing/2014/main" id="{7E4EF1DA-52AD-45DE-90FD-2A5B0AD341D4}"/>
              </a:ext>
            </a:extLst>
          </p:cNvPr>
          <p:cNvSpPr>
            <a:spLocks xmlns:a="http://schemas.openxmlformats.org/drawingml/2006/main" noGrp="1"/>
          </p:cNvSpPr>
          <p:nvPr/>
        </p:nvSpPr>
        <p:spPr>
          <a:xfrm xmlns:a="http://schemas.openxmlformats.org/drawingml/2006/main">
            <a:off x="942975"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стварна радња</a:t>
            </a:r>
          </a:p>
        </p:txBody>
      </p:sp>
      <p:sp>
        <p:nvSpPr>
          <p:cNvPr id="10" name="Rounded Rectangle 9">
            <a:extLst xmlns:a="http://schemas.openxmlformats.org/drawingml/2006/main">
              <a:ext uri="{FF2B5EF4-FFF2-40B4-BE49-F238E27FC236}">
                <a16:creationId xmlns:a16="http://schemas.microsoft.com/office/drawing/2014/main" id="{18F30B28-9EC9-491C-B810-C9593464CCAA}"/>
              </a:ext>
            </a:extLst>
          </p:cNvPr>
          <p:cNvSpPr>
            <a:spLocks xmlns:a="http://schemas.openxmlformats.org/drawingml/2006/main" noGrp="1"/>
          </p:cNvSpPr>
          <p:nvPr/>
        </p:nvSpPr>
        <p:spPr>
          <a:xfrm xmlns:a="http://schemas.openxmlformats.org/drawingml/2006/main">
            <a:off x="3519488" y="2400300"/>
            <a:ext cx="2433638" cy="1257300"/>
          </a:xfrm>
          <a:prstGeom xmlns:a="http://schemas.openxmlformats.org/drawingml/2006/main" prst="roundRect">
            <a:avLst>
              <a:gd name="adj" fmla="val 10606"/>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89C3A4AA-4A1D-476A-BA8F-EC231269268F}"/>
              </a:ext>
            </a:extLst>
          </p:cNvPr>
          <p:cNvSpPr>
            <a:spLocks xmlns:a="http://schemas.openxmlformats.org/drawingml/2006/main" noGrp="1"/>
          </p:cNvSpPr>
          <p:nvPr/>
        </p:nvSpPr>
        <p:spPr>
          <a:xfrm xmlns:a="http://schemas.openxmlformats.org/drawingml/2006/main">
            <a:off x="3662363"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1682F9F7-F68A-4745-AF46-56090670CE1E}"/>
              </a:ext>
            </a:extLst>
          </p:cNvPr>
          <p:cNvSpPr>
            <a:spLocks xmlns:a="http://schemas.openxmlformats.org/drawingml/2006/main" noGrp="1"/>
          </p:cNvSpPr>
          <p:nvPr/>
        </p:nvSpPr>
        <p:spPr>
          <a:xfrm xmlns:a="http://schemas.openxmlformats.org/drawingml/2006/main">
            <a:off x="3652838"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Дефинисање правила</a:t>
            </a:r>
          </a:p>
        </p:txBody>
      </p:sp>
      <p:sp>
        <p:nvSpPr>
          <p:cNvPr id="13" name="Rectangle 12">
            <a:extLst xmlns:a="http://schemas.openxmlformats.org/drawingml/2006/main">
              <a:ext uri="{FF2B5EF4-FFF2-40B4-BE49-F238E27FC236}">
                <a16:creationId xmlns:a16="http://schemas.microsoft.com/office/drawing/2014/main" id="{99F2E9E3-294D-4FD2-A75A-140C5399C0D9}"/>
              </a:ext>
            </a:extLst>
          </p:cNvPr>
          <p:cNvSpPr>
            <a:spLocks xmlns:a="http://schemas.openxmlformats.org/drawingml/2006/main" noGrp="1"/>
          </p:cNvSpPr>
          <p:nvPr/>
        </p:nvSpPr>
        <p:spPr>
          <a:xfrm xmlns:a="http://schemas.openxmlformats.org/drawingml/2006/main">
            <a:off x="3662363"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улази и граница</a:t>
            </a:r>
          </a:p>
        </p:txBody>
      </p:sp>
      <p:sp>
        <p:nvSpPr>
          <p:cNvPr id="14" name="Rounded Rectangle 13">
            <a:extLst xmlns:a="http://schemas.openxmlformats.org/drawingml/2006/main">
              <a:ext uri="{FF2B5EF4-FFF2-40B4-BE49-F238E27FC236}">
                <a16:creationId xmlns:a16="http://schemas.microsoft.com/office/drawing/2014/main" id="{AF445FC9-17B3-4CA7-9AA6-176F4D0E0D4C}"/>
              </a:ext>
            </a:extLst>
          </p:cNvPr>
          <p:cNvSpPr>
            <a:spLocks xmlns:a="http://schemas.openxmlformats.org/drawingml/2006/main" noGrp="1"/>
          </p:cNvSpPr>
          <p:nvPr/>
        </p:nvSpPr>
        <p:spPr>
          <a:xfrm xmlns:a="http://schemas.openxmlformats.org/drawingml/2006/main">
            <a:off x="6238875" y="2400300"/>
            <a:ext cx="2433638" cy="1257300"/>
          </a:xfrm>
          <a:prstGeom xmlns:a="http://schemas.openxmlformats.org/drawingml/2006/main" prst="roundRect">
            <a:avLst>
              <a:gd name="adj" fmla="val 10606"/>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9CBFC12D-40FD-4C16-9C23-D75A31BB1172}"/>
              </a:ext>
            </a:extLst>
          </p:cNvPr>
          <p:cNvSpPr>
            <a:spLocks xmlns:a="http://schemas.openxmlformats.org/drawingml/2006/main" noGrp="1"/>
          </p:cNvSpPr>
          <p:nvPr/>
        </p:nvSpPr>
        <p:spPr>
          <a:xfrm xmlns:a="http://schemas.openxmlformats.org/drawingml/2006/main">
            <a:off x="6381750"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799B7F27-9807-45A1-8128-282A8DCB8258}"/>
              </a:ext>
            </a:extLst>
          </p:cNvPr>
          <p:cNvSpPr>
            <a:spLocks xmlns:a="http://schemas.openxmlformats.org/drawingml/2006/main" noGrp="1"/>
          </p:cNvSpPr>
          <p:nvPr/>
        </p:nvSpPr>
        <p:spPr>
          <a:xfrm xmlns:a="http://schemas.openxmlformats.org/drawingml/2006/main">
            <a:off x="6372225"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Тест одбијања</a:t>
            </a:r>
          </a:p>
        </p:txBody>
      </p:sp>
      <p:sp>
        <p:nvSpPr>
          <p:cNvPr id="17" name="Rectangle 16">
            <a:extLst xmlns:a="http://schemas.openxmlformats.org/drawingml/2006/main">
              <a:ext uri="{FF2B5EF4-FFF2-40B4-BE49-F238E27FC236}">
                <a16:creationId xmlns:a16="http://schemas.microsoft.com/office/drawing/2014/main" id="{30B3B44D-A899-4A49-B472-CD8140E87080}"/>
              </a:ext>
            </a:extLst>
          </p:cNvPr>
          <p:cNvSpPr>
            <a:spLocks xmlns:a="http://schemas.openxmlformats.org/drawingml/2006/main" noGrp="1"/>
          </p:cNvSpPr>
          <p:nvPr/>
        </p:nvSpPr>
        <p:spPr>
          <a:xfrm xmlns:a="http://schemas.openxmlformats.org/drawingml/2006/main">
            <a:off x="6381750"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чињеница недостаје</a:t>
            </a:r>
          </a:p>
        </p:txBody>
      </p:sp>
      <p:sp>
        <p:nvSpPr>
          <p:cNvPr id="18" name="Rounded Rectangle 17">
            <a:extLst xmlns:a="http://schemas.openxmlformats.org/drawingml/2006/main">
              <a:ext uri="{FF2B5EF4-FFF2-40B4-BE49-F238E27FC236}">
                <a16:creationId xmlns:a16="http://schemas.microsoft.com/office/drawing/2014/main" id="{FEA1F314-1D96-43A5-ACAB-8A504D4ED789}"/>
              </a:ext>
            </a:extLst>
          </p:cNvPr>
          <p:cNvSpPr>
            <a:spLocks xmlns:a="http://schemas.openxmlformats.org/drawingml/2006/main" noGrp="1"/>
          </p:cNvSpPr>
          <p:nvPr/>
        </p:nvSpPr>
        <p:spPr>
          <a:xfrm xmlns:a="http://schemas.openxmlformats.org/drawingml/2006/main">
            <a:off x="8958263" y="2400300"/>
            <a:ext cx="2433638"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3CD6698C-12D4-4C84-95BB-A6F0963A8480}"/>
              </a:ext>
            </a:extLst>
          </p:cNvPr>
          <p:cNvSpPr>
            <a:spLocks xmlns:a="http://schemas.openxmlformats.org/drawingml/2006/main" noGrp="1"/>
          </p:cNvSpPr>
          <p:nvPr/>
        </p:nvSpPr>
        <p:spPr>
          <a:xfrm xmlns:a="http://schemas.openxmlformats.org/drawingml/2006/main">
            <a:off x="9101138"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AB5A0E0C-7008-4D80-9A5A-A5089C2D0273}"/>
              </a:ext>
            </a:extLst>
          </p:cNvPr>
          <p:cNvSpPr>
            <a:spLocks xmlns:a="http://schemas.openxmlformats.org/drawingml/2006/main" noGrp="1"/>
          </p:cNvSpPr>
          <p:nvPr/>
        </p:nvSpPr>
        <p:spPr>
          <a:xfrm xmlns:a="http://schemas.openxmlformats.org/drawingml/2006/main">
            <a:off x="9091613"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Ревизиони запис</a:t>
            </a:r>
          </a:p>
        </p:txBody>
      </p:sp>
      <p:sp>
        <p:nvSpPr>
          <p:cNvPr id="21" name="Rectangle 20">
            <a:extLst xmlns:a="http://schemas.openxmlformats.org/drawingml/2006/main">
              <a:ext uri="{FF2B5EF4-FFF2-40B4-BE49-F238E27FC236}">
                <a16:creationId xmlns:a16="http://schemas.microsoft.com/office/drawing/2014/main" id="{D961B685-E228-4FD0-8150-2739A83FF8F4}"/>
              </a:ext>
            </a:extLst>
          </p:cNvPr>
          <p:cNvSpPr>
            <a:spLocks xmlns:a="http://schemas.openxmlformats.org/drawingml/2006/main" noGrp="1"/>
          </p:cNvSpPr>
          <p:nvPr/>
        </p:nvSpPr>
        <p:spPr>
          <a:xfrm xmlns:a="http://schemas.openxmlformats.org/drawingml/2006/main">
            <a:off x="9101138"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исход и разлог</a:t>
            </a:r>
          </a:p>
        </p:txBody>
      </p:sp>
      <p:cxnSp>
        <p:nvCxnSpPr>
          <p:cNvPr id="221" name="Straight Arrow Connector 124"/>
          <p:cNvCxnSpPr>
            <a:stCxn xmlns:a="http://schemas.openxmlformats.org/drawingml/2006/main" id="6" idx="3"/>
            <a:endCxn xmlns:a="http://schemas.openxmlformats.org/drawingml/2006/main" id="10" idx="1"/>
          </p:cNvCxnSpPr>
          <p:nvPr/>
        </p:nvCxnSpPr>
        <p:spPr>
          <a:xfrm xmlns:a="http://schemas.openxmlformats.org/drawingml/2006/main">
            <a:off x="3233738" y="30289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2" name="Straight Arrow Connector 125"/>
          <p:cNvCxnSpPr>
            <a:stCxn xmlns:a="http://schemas.openxmlformats.org/drawingml/2006/main" id="10" idx="3"/>
            <a:endCxn xmlns:a="http://schemas.openxmlformats.org/drawingml/2006/main" id="14" idx="1"/>
          </p:cNvCxnSpPr>
          <p:nvPr/>
        </p:nvCxnSpPr>
        <p:spPr>
          <a:xfrm xmlns:a="http://schemas.openxmlformats.org/drawingml/2006/main">
            <a:off x="5953126" y="302895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3" name="Straight Arrow Connector 126"/>
          <p:cNvCxnSpPr>
            <a:stCxn xmlns:a="http://schemas.openxmlformats.org/drawingml/2006/main" id="14" idx="3"/>
            <a:endCxn xmlns:a="http://schemas.openxmlformats.org/drawingml/2006/main" id="18" idx="1"/>
          </p:cNvCxnSpPr>
          <p:nvPr/>
        </p:nvCxnSpPr>
        <p:spPr>
          <a:xfrm xmlns:a="http://schemas.openxmlformats.org/drawingml/2006/main">
            <a:off x="8672513" y="30289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C6899EB5-38DC-45A4-B5B5-AD204D78F81A}"/>
              </a:ext>
            </a:extLst>
          </p:cNvPr>
          <p:cNvSpPr>
            <a:spLocks xmlns:a="http://schemas.openxmlformats.org/drawingml/2006/main" noGrp="1"/>
          </p:cNvSpPr>
          <p:nvPr/>
        </p:nvSpPr>
        <p:spPr>
          <a:xfrm xmlns:a="http://schemas.openxmlformats.org/drawingml/2006/main">
            <a:off x="1619250" y="4305300"/>
            <a:ext cx="8953500" cy="914400"/>
          </a:xfrm>
          <a:prstGeom xmlns:a="http://schemas.openxmlformats.org/drawingml/2006/main" prst="roundRect">
            <a:avLst>
              <a:gd name="adj" fmla="val 13542"/>
            </a:avLst>
          </a:prstGeom>
          <a:solidFill xmlns:a="http://schemas.openxmlformats.org/drawingml/2006/main">
            <a:srgbClr val="FFF6E9"/>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87F1D2B1-A1FE-495A-962F-66D6425C81BD}"/>
              </a:ext>
            </a:extLst>
          </p:cNvPr>
          <p:cNvSpPr>
            <a:spLocks xmlns:a="http://schemas.openxmlformats.org/drawingml/2006/main" noGrp="1"/>
          </p:cNvSpPr>
          <p:nvPr/>
        </p:nvSpPr>
        <p:spPr>
          <a:xfrm xmlns:a="http://schemas.openxmlformats.org/drawingml/2006/main">
            <a:off x="1752600" y="4448175"/>
            <a:ext cx="57150" cy="6286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6" name="Rounded Rectangle 75">
            <a:extLst xmlns:a="http://schemas.openxmlformats.org/drawingml/2006/main">
              <a:ext uri="{FF2B5EF4-FFF2-40B4-BE49-F238E27FC236}">
                <a16:creationId xmlns:a16="http://schemas.microsoft.com/office/drawing/2014/main" id="{DC675329-BE92-4027-8181-4A61CB9386FB}"/>
              </a:ext>
            </a:extLst>
          </p:cNvPr>
          <p:cNvSpPr>
            <a:spLocks xmlns:a="http://schemas.openxmlformats.org/drawingml/2006/main" noGrp="1"/>
          </p:cNvSpPr>
          <p:nvPr/>
        </p:nvSpPr>
        <p:spPr>
          <a:xfrm xmlns:a="http://schemas.openxmlformats.org/drawingml/2006/main">
            <a:off x="914400" y="4267200"/>
            <a:ext cx="10363200" cy="990600"/>
          </a:xfrm>
          <a:prstGeom xmlns:a="http://schemas.openxmlformats.org/drawingml/2006/main" prst="roundRect">
            <a:avLst>
              <a:gd name="adj" fmla="val 13462"/>
            </a:avLst>
          </a:prstGeom>
          <a:solidFill xmlns:a="http://schemas.openxmlformats.org/drawingml/2006/main">
            <a:srgbClr val="F7EFF1"/>
          </a:solidFill>
          <a:ln xmlns:a="http://schemas.openxmlformats.org/drawingml/2006/main" w="8573">
            <a:solidFill>
              <a:srgbClr val="DBC7CC"/>
            </a:solidFill>
            <a:prstDash val="solid"/>
          </a:ln>
        </p:spPr>
      </p:sp>
      <p:sp>
        <p:nvSpPr>
          <p:cNvPr id="77" name="Rounded Rectangle 76">
            <a:extLst xmlns:a="http://schemas.openxmlformats.org/drawingml/2006/main">
              <a:ext uri="{FF2B5EF4-FFF2-40B4-BE49-F238E27FC236}">
                <a16:creationId xmlns:a16="http://schemas.microsoft.com/office/drawing/2014/main" id="{06E00B3F-95A7-475E-826F-7008981AFA0B}"/>
              </a:ext>
            </a:extLst>
          </p:cNvPr>
          <p:cNvSpPr>
            <a:spLocks xmlns:a="http://schemas.openxmlformats.org/drawingml/2006/main" noGrp="1"/>
          </p:cNvSpPr>
          <p:nvPr/>
        </p:nvSpPr>
        <p:spPr>
          <a:xfrm xmlns:a="http://schemas.openxmlformats.org/drawingml/2006/main">
            <a:off x="1085850" y="4419600"/>
            <a:ext cx="57150" cy="6858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8" name="Rectangle 77">
            <a:extLst xmlns:a="http://schemas.openxmlformats.org/drawingml/2006/main">
              <a:ext uri="{FF2B5EF4-FFF2-40B4-BE49-F238E27FC236}">
                <a16:creationId xmlns:a16="http://schemas.microsoft.com/office/drawing/2014/main" id="{2E3A7CD1-E515-467D-A40A-5DD9153BBB19}"/>
              </a:ext>
            </a:extLst>
          </p:cNvPr>
          <p:cNvSpPr>
            <a:spLocks xmlns:a="http://schemas.openxmlformats.org/drawingml/2006/main" noGrp="1"/>
          </p:cNvSpPr>
          <p:nvPr/>
        </p:nvSpPr>
        <p:spPr>
          <a:xfrm xmlns:a="http://schemas.openxmlformats.org/drawingml/2006/main">
            <a:off x="1333500" y="43719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ПРИМЕНА НА ПРОЈЕКАТ</a:t>
            </a:r>
          </a:p>
        </p:txBody>
      </p:sp>
      <p:sp>
        <p:nvSpPr>
          <p:cNvPr id="79" name="Rectangle 78">
            <a:extLst xmlns:a="http://schemas.openxmlformats.org/drawingml/2006/main">
              <a:ext uri="{FF2B5EF4-FFF2-40B4-BE49-F238E27FC236}">
                <a16:creationId xmlns:a16="http://schemas.microsoft.com/office/drawing/2014/main" id="{E468791F-2CF9-4996-9E74-F811C60874E7}"/>
              </a:ext>
            </a:extLst>
          </p:cNvPr>
          <p:cNvSpPr>
            <a:spLocks xmlns:a="http://schemas.openxmlformats.org/drawingml/2006/main" noGrp="1"/>
          </p:cNvSpPr>
          <p:nvPr/>
        </p:nvSpPr>
        <p:spPr>
          <a:xfrm xmlns:a="http://schemas.openxmlformats.org/drawingml/2006/main">
            <a:off x="1333500" y="4600575"/>
            <a:ext cx="9639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Пројектна примена теме „Атрибути, ризик и периодични преглед приступа“ обухвата једну серверску одлуку, тест одбијања и доказ који други члан тима може да понови.</a:t>
            </a:r>
          </a:p>
        </p:txBody>
      </p:sp>
    </p:spTree>
    <p:extLst>
      <p:ext uri="{BB962C8B-B14F-4D97-AF65-F5344CB8AC3E}">
        <p14:creationId xmlns:p14="http://schemas.microsoft.com/office/powerpoint/2010/main" val="9005721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Rectangle 28">
            <a:extLst xmlns:a="http://schemas.openxmlformats.org/drawingml/2006/main">
              <a:ext uri="{FF2B5EF4-FFF2-40B4-BE49-F238E27FC236}">
                <a16:creationId xmlns:a16="http://schemas.microsoft.com/office/drawing/2014/main" id="{AAF1EBDD-8FFA-4038-B36F-0FC427C685DA}"/>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D7084B09-DA2D-4772-8460-81CC29DF5089}"/>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80E7F011-BCB1-4CAC-A380-1ABD49ACD0B2}"/>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20</a:t>
            </a:r>
          </a:p>
        </p:txBody>
      </p:sp>
      <p:sp>
        <p:nvSpPr>
          <p:cNvPr id="4" name="Rectangle 3">
            <a:extLst xmlns:a="http://schemas.openxmlformats.org/drawingml/2006/main">
              <a:ext uri="{FF2B5EF4-FFF2-40B4-BE49-F238E27FC236}">
                <a16:creationId xmlns:a16="http://schemas.microsoft.com/office/drawing/2014/main" id="{A37C4B5E-F9EC-4E69-849D-088CDF2A32B2}"/>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Провера разумевања</a:t>
            </a:r>
          </a:p>
        </p:txBody>
      </p:sp>
      <p:sp>
        <p:nvSpPr>
          <p:cNvPr id="5" name="Rectangle 4">
            <a:extLst xmlns:a="http://schemas.openxmlformats.org/drawingml/2006/main">
              <a:ext uri="{FF2B5EF4-FFF2-40B4-BE49-F238E27FC236}">
                <a16:creationId xmlns:a16="http://schemas.microsoft.com/office/drawing/2014/main" id="{D6ABAF96-05E9-49EF-B2A3-EE6F3240A873}"/>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Разумевање теме подразумева објашњење одлуке и доказа независно од конкретног технолошког оквира.</a:t>
            </a:r>
          </a:p>
        </p:txBody>
      </p:sp>
      <p:sp>
        <p:nvSpPr>
          <p:cNvPr id="6" name="Rounded Rectangle 5">
            <a:extLst xmlns:a="http://schemas.openxmlformats.org/drawingml/2006/main">
              <a:ext uri="{FF2B5EF4-FFF2-40B4-BE49-F238E27FC236}">
                <a16:creationId xmlns:a16="http://schemas.microsoft.com/office/drawing/2014/main" id="{EF2BE3D4-992A-4E3E-8302-5256F38DA157}"/>
              </a:ext>
            </a:extLst>
          </p:cNvPr>
          <p:cNvSpPr>
            <a:spLocks xmlns:a="http://schemas.openxmlformats.org/drawingml/2006/main" noGrp="1"/>
          </p:cNvSpPr>
          <p:nvPr/>
        </p:nvSpPr>
        <p:spPr>
          <a:xfrm xmlns:a="http://schemas.openxmlformats.org/drawingml/2006/main">
            <a:off x="723900" y="2286000"/>
            <a:ext cx="2471738"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D12C6503-C622-4218-B9B5-EBE50BC2085B}"/>
              </a:ext>
            </a:extLst>
          </p:cNvPr>
          <p:cNvSpPr>
            <a:spLocks xmlns:a="http://schemas.openxmlformats.org/drawingml/2006/main" noGrp="1"/>
          </p:cNvSpPr>
          <p:nvPr/>
        </p:nvSpPr>
        <p:spPr>
          <a:xfrm xmlns:a="http://schemas.openxmlformats.org/drawingml/2006/main">
            <a:off x="866775"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F8740374-A1F7-4836-882B-BA507D635A74}"/>
              </a:ext>
            </a:extLst>
          </p:cNvPr>
          <p:cNvSpPr>
            <a:spLocks xmlns:a="http://schemas.openxmlformats.org/drawingml/2006/main" noGrp="1"/>
          </p:cNvSpPr>
          <p:nvPr/>
        </p:nvSpPr>
        <p:spPr>
          <a:xfrm xmlns:a="http://schemas.openxmlformats.org/drawingml/2006/main">
            <a:off x="857250"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Атрибути</a:t>
            </a:r>
          </a:p>
        </p:txBody>
      </p:sp>
      <p:sp>
        <p:nvSpPr>
          <p:cNvPr id="9" name="Rectangle 8">
            <a:extLst xmlns:a="http://schemas.openxmlformats.org/drawingml/2006/main">
              <a:ext uri="{FF2B5EF4-FFF2-40B4-BE49-F238E27FC236}">
                <a16:creationId xmlns:a16="http://schemas.microsoft.com/office/drawing/2014/main" id="{5164255D-E4DF-4536-89EA-CC45DE777AAF}"/>
              </a:ext>
            </a:extLst>
          </p:cNvPr>
          <p:cNvSpPr>
            <a:spLocks xmlns:a="http://schemas.openxmlformats.org/drawingml/2006/main" noGrp="1"/>
          </p:cNvSpPr>
          <p:nvPr/>
        </p:nvSpPr>
        <p:spPr>
          <a:xfrm xmlns:a="http://schemas.openxmlformats.org/drawingml/2006/main">
            <a:off x="866775"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контекст одлуке</a:t>
            </a:r>
          </a:p>
        </p:txBody>
      </p:sp>
      <p:sp>
        <p:nvSpPr>
          <p:cNvPr id="10" name="Rounded Rectangle 9">
            <a:extLst xmlns:a="http://schemas.openxmlformats.org/drawingml/2006/main">
              <a:ext uri="{FF2B5EF4-FFF2-40B4-BE49-F238E27FC236}">
                <a16:creationId xmlns:a16="http://schemas.microsoft.com/office/drawing/2014/main" id="{7E440E80-26AE-4C38-A572-D4A51956348D}"/>
              </a:ext>
            </a:extLst>
          </p:cNvPr>
          <p:cNvSpPr>
            <a:spLocks xmlns:a="http://schemas.openxmlformats.org/drawingml/2006/main" noGrp="1"/>
          </p:cNvSpPr>
          <p:nvPr/>
        </p:nvSpPr>
        <p:spPr>
          <a:xfrm xmlns:a="http://schemas.openxmlformats.org/drawingml/2006/main">
            <a:off x="3481388" y="2286000"/>
            <a:ext cx="2471738" cy="1257300"/>
          </a:xfrm>
          <a:prstGeom xmlns:a="http://schemas.openxmlformats.org/drawingml/2006/main" prst="roundRect">
            <a:avLst>
              <a:gd name="adj" fmla="val 10606"/>
            </a:avLst>
          </a:prstGeom>
          <a:solidFill xmlns:a="http://schemas.openxmlformats.org/drawingml/2006/main">
            <a:srgbClr val="EDF8FA"/>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6FC84190-46BD-48A0-A729-600DB5BEB187}"/>
              </a:ext>
            </a:extLst>
          </p:cNvPr>
          <p:cNvSpPr>
            <a:spLocks xmlns:a="http://schemas.openxmlformats.org/drawingml/2006/main" noGrp="1"/>
          </p:cNvSpPr>
          <p:nvPr/>
        </p:nvSpPr>
        <p:spPr>
          <a:xfrm xmlns:a="http://schemas.openxmlformats.org/drawingml/2006/main">
            <a:off x="3624263"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1D64747F-49AD-4BB9-B46D-65881440A390}"/>
              </a:ext>
            </a:extLst>
          </p:cNvPr>
          <p:cNvSpPr>
            <a:spLocks xmlns:a="http://schemas.openxmlformats.org/drawingml/2006/main" noGrp="1"/>
          </p:cNvSpPr>
          <p:nvPr/>
        </p:nvSpPr>
        <p:spPr>
          <a:xfrm xmlns:a="http://schemas.openxmlformats.org/drawingml/2006/main">
            <a:off x="3614738"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Политика</a:t>
            </a:r>
          </a:p>
        </p:txBody>
      </p:sp>
      <p:sp>
        <p:nvSpPr>
          <p:cNvPr id="13" name="Rectangle 12">
            <a:extLst xmlns:a="http://schemas.openxmlformats.org/drawingml/2006/main">
              <a:ext uri="{FF2B5EF4-FFF2-40B4-BE49-F238E27FC236}">
                <a16:creationId xmlns:a16="http://schemas.microsoft.com/office/drawing/2014/main" id="{34713B37-2CC6-43C1-A6B5-BD7E1ECB4276}"/>
              </a:ext>
            </a:extLst>
          </p:cNvPr>
          <p:cNvSpPr>
            <a:spLocks xmlns:a="http://schemas.openxmlformats.org/drawingml/2006/main" noGrp="1"/>
          </p:cNvSpPr>
          <p:nvPr/>
        </p:nvSpPr>
        <p:spPr>
          <a:xfrm xmlns:a="http://schemas.openxmlformats.org/drawingml/2006/main">
            <a:off x="3624263"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правило које их тумачи</a:t>
            </a:r>
          </a:p>
        </p:txBody>
      </p:sp>
      <p:sp>
        <p:nvSpPr>
          <p:cNvPr id="14" name="Rounded Rectangle 13">
            <a:extLst xmlns:a="http://schemas.openxmlformats.org/drawingml/2006/main">
              <a:ext uri="{FF2B5EF4-FFF2-40B4-BE49-F238E27FC236}">
                <a16:creationId xmlns:a16="http://schemas.microsoft.com/office/drawing/2014/main" id="{7848B106-4D37-41A7-AF53-64411C74B66D}"/>
              </a:ext>
            </a:extLst>
          </p:cNvPr>
          <p:cNvSpPr>
            <a:spLocks xmlns:a="http://schemas.openxmlformats.org/drawingml/2006/main" noGrp="1"/>
          </p:cNvSpPr>
          <p:nvPr/>
        </p:nvSpPr>
        <p:spPr>
          <a:xfrm xmlns:a="http://schemas.openxmlformats.org/drawingml/2006/main">
            <a:off x="6238875" y="2286000"/>
            <a:ext cx="2471738" cy="1257300"/>
          </a:xfrm>
          <a:prstGeom xmlns:a="http://schemas.openxmlformats.org/drawingml/2006/main" prst="roundRect">
            <a:avLst>
              <a:gd name="adj" fmla="val 10606"/>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9D90CCDC-DC4A-499F-B998-2366CCB468AF}"/>
              </a:ext>
            </a:extLst>
          </p:cNvPr>
          <p:cNvSpPr>
            <a:spLocks xmlns:a="http://schemas.openxmlformats.org/drawingml/2006/main" noGrp="1"/>
          </p:cNvSpPr>
          <p:nvPr/>
        </p:nvSpPr>
        <p:spPr>
          <a:xfrm xmlns:a="http://schemas.openxmlformats.org/drawingml/2006/main">
            <a:off x="6381750"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D0D2E6FE-4746-4B99-91CD-FDB1D8693A0B}"/>
              </a:ext>
            </a:extLst>
          </p:cNvPr>
          <p:cNvSpPr>
            <a:spLocks xmlns:a="http://schemas.openxmlformats.org/drawingml/2006/main" noGrp="1"/>
          </p:cNvSpPr>
          <p:nvPr/>
        </p:nvSpPr>
        <p:spPr>
          <a:xfrm xmlns:a="http://schemas.openxmlformats.org/drawingml/2006/main">
            <a:off x="6372225"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Ризик</a:t>
            </a:r>
          </a:p>
        </p:txBody>
      </p:sp>
      <p:sp>
        <p:nvSpPr>
          <p:cNvPr id="17" name="Rectangle 16">
            <a:extLst xmlns:a="http://schemas.openxmlformats.org/drawingml/2006/main">
              <a:ext uri="{FF2B5EF4-FFF2-40B4-BE49-F238E27FC236}">
                <a16:creationId xmlns:a16="http://schemas.microsoft.com/office/drawing/2014/main" id="{8FF8B211-4887-456F-A798-DF0D04E7961B}"/>
              </a:ext>
            </a:extLst>
          </p:cNvPr>
          <p:cNvSpPr>
            <a:spLocks xmlns:a="http://schemas.openxmlformats.org/drawingml/2006/main" noGrp="1"/>
          </p:cNvSpPr>
          <p:nvPr/>
        </p:nvSpPr>
        <p:spPr>
          <a:xfrm xmlns:a="http://schemas.openxmlformats.org/drawingml/2006/main">
            <a:off x="6381750"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утицај и вероватноћа</a:t>
            </a:r>
          </a:p>
        </p:txBody>
      </p:sp>
      <p:sp>
        <p:nvSpPr>
          <p:cNvPr id="18" name="Rounded Rectangle 17">
            <a:extLst xmlns:a="http://schemas.openxmlformats.org/drawingml/2006/main">
              <a:ext uri="{FF2B5EF4-FFF2-40B4-BE49-F238E27FC236}">
                <a16:creationId xmlns:a16="http://schemas.microsoft.com/office/drawing/2014/main" id="{44508DBB-5B19-4CFC-A258-5685D3E60C1E}"/>
              </a:ext>
            </a:extLst>
          </p:cNvPr>
          <p:cNvSpPr>
            <a:spLocks xmlns:a="http://schemas.openxmlformats.org/drawingml/2006/main" noGrp="1"/>
          </p:cNvSpPr>
          <p:nvPr/>
        </p:nvSpPr>
        <p:spPr>
          <a:xfrm xmlns:a="http://schemas.openxmlformats.org/drawingml/2006/main">
            <a:off x="8996363" y="2286000"/>
            <a:ext cx="2471738"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CEE5A16A-4475-408D-9D4D-F4483731BF4B}"/>
              </a:ext>
            </a:extLst>
          </p:cNvPr>
          <p:cNvSpPr>
            <a:spLocks xmlns:a="http://schemas.openxmlformats.org/drawingml/2006/main" noGrp="1"/>
          </p:cNvSpPr>
          <p:nvPr/>
        </p:nvSpPr>
        <p:spPr>
          <a:xfrm xmlns:a="http://schemas.openxmlformats.org/drawingml/2006/main">
            <a:off x="9139238"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54F86656-1FC6-4A3E-8C84-09241A18FB2C}"/>
              </a:ext>
            </a:extLst>
          </p:cNvPr>
          <p:cNvSpPr>
            <a:spLocks xmlns:a="http://schemas.openxmlformats.org/drawingml/2006/main" noGrp="1"/>
          </p:cNvSpPr>
          <p:nvPr/>
        </p:nvSpPr>
        <p:spPr>
          <a:xfrm xmlns:a="http://schemas.openxmlformats.org/drawingml/2006/main">
            <a:off x="9129713"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Преглед</a:t>
            </a:r>
          </a:p>
        </p:txBody>
      </p:sp>
      <p:sp>
        <p:nvSpPr>
          <p:cNvPr id="21" name="Rectangle 20">
            <a:extLst xmlns:a="http://schemas.openxmlformats.org/drawingml/2006/main">
              <a:ext uri="{FF2B5EF4-FFF2-40B4-BE49-F238E27FC236}">
                <a16:creationId xmlns:a16="http://schemas.microsoft.com/office/drawing/2014/main" id="{E89ED948-FA06-449F-9987-501CD50748B1}"/>
              </a:ext>
            </a:extLst>
          </p:cNvPr>
          <p:cNvSpPr>
            <a:spLocks xmlns:a="http://schemas.openxmlformats.org/drawingml/2006/main" noGrp="1"/>
          </p:cNvSpPr>
          <p:nvPr/>
        </p:nvSpPr>
        <p:spPr>
          <a:xfrm xmlns:a="http://schemas.openxmlformats.org/drawingml/2006/main">
            <a:off x="9139238"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потврда да одлука још важи</a:t>
            </a:r>
          </a:p>
        </p:txBody>
      </p:sp>
      <p:cxnSp>
        <p:nvCxnSpPr>
          <p:cNvPr id="223" name="Straight Arrow Connector 126"/>
          <p:cNvCxnSpPr>
            <a:stCxn xmlns:a="http://schemas.openxmlformats.org/drawingml/2006/main" id="6" idx="3"/>
            <a:endCxn xmlns:a="http://schemas.openxmlformats.org/drawingml/2006/main" id="10" idx="1"/>
          </p:cNvCxnSpPr>
          <p:nvPr/>
        </p:nvCxnSpPr>
        <p:spPr>
          <a:xfrm xmlns:a="http://schemas.openxmlformats.org/drawingml/2006/main">
            <a:off x="3195638" y="29146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4" name="Straight Arrow Connector 127"/>
          <p:cNvCxnSpPr>
            <a:stCxn xmlns:a="http://schemas.openxmlformats.org/drawingml/2006/main" id="10" idx="3"/>
            <a:endCxn xmlns:a="http://schemas.openxmlformats.org/drawingml/2006/main" id="14" idx="1"/>
          </p:cNvCxnSpPr>
          <p:nvPr/>
        </p:nvCxnSpPr>
        <p:spPr>
          <a:xfrm xmlns:a="http://schemas.openxmlformats.org/drawingml/2006/main">
            <a:off x="5953126" y="291465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5" name="Straight Arrow Connector 128"/>
          <p:cNvCxnSpPr>
            <a:stCxn xmlns:a="http://schemas.openxmlformats.org/drawingml/2006/main" id="14" idx="3"/>
            <a:endCxn xmlns:a="http://schemas.openxmlformats.org/drawingml/2006/main" id="18" idx="1"/>
          </p:cNvCxnSpPr>
          <p:nvPr/>
        </p:nvCxnSpPr>
        <p:spPr>
          <a:xfrm xmlns:a="http://schemas.openxmlformats.org/drawingml/2006/main">
            <a:off x="8710613" y="29146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B375E0F0-04D9-4DE7-A641-FFA9208C6C1D}"/>
              </a:ext>
            </a:extLst>
          </p:cNvPr>
          <p:cNvSpPr>
            <a:spLocks xmlns:a="http://schemas.openxmlformats.org/drawingml/2006/main" noGrp="1"/>
          </p:cNvSpPr>
          <p:nvPr/>
        </p:nvSpPr>
        <p:spPr>
          <a:xfrm xmlns:a="http://schemas.openxmlformats.org/drawingml/2006/main">
            <a:off x="1428750" y="4114800"/>
            <a:ext cx="9334500" cy="895350"/>
          </a:xfrm>
          <a:prstGeom xmlns:a="http://schemas.openxmlformats.org/drawingml/2006/main" prst="roundRect">
            <a:avLst>
              <a:gd name="adj" fmla="val 13830"/>
            </a:avLst>
          </a:prstGeom>
          <a:solidFill xmlns:a="http://schemas.openxmlformats.org/drawingml/2006/main">
            <a:srgbClr val="F7EFF1"/>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0BFF049F-A569-4643-A234-42053E8605E4}"/>
              </a:ext>
            </a:extLst>
          </p:cNvPr>
          <p:cNvSpPr>
            <a:spLocks xmlns:a="http://schemas.openxmlformats.org/drawingml/2006/main" noGrp="1"/>
          </p:cNvSpPr>
          <p:nvPr/>
        </p:nvSpPr>
        <p:spPr>
          <a:xfrm xmlns:a="http://schemas.openxmlformats.org/drawingml/2006/main">
            <a:off x="1562100" y="4257675"/>
            <a:ext cx="57150" cy="6096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7" name="Rounded Rectangle 76">
            <a:extLst xmlns:a="http://schemas.openxmlformats.org/drawingml/2006/main">
              <a:ext uri="{FF2B5EF4-FFF2-40B4-BE49-F238E27FC236}">
                <a16:creationId xmlns:a16="http://schemas.microsoft.com/office/drawing/2014/main" id="{9FA7CD20-E19E-400A-85AC-AF252F71BD70}"/>
              </a:ext>
            </a:extLst>
          </p:cNvPr>
          <p:cNvSpPr>
            <a:spLocks xmlns:a="http://schemas.openxmlformats.org/drawingml/2006/main" noGrp="1"/>
          </p:cNvSpPr>
          <p:nvPr/>
        </p:nvSpPr>
        <p:spPr>
          <a:xfrm xmlns:a="http://schemas.openxmlformats.org/drawingml/2006/main">
            <a:off x="914400" y="4095750"/>
            <a:ext cx="10363200" cy="1257300"/>
          </a:xfrm>
          <a:prstGeom xmlns:a="http://schemas.openxmlformats.org/drawingml/2006/main" prst="roundRect">
            <a:avLst>
              <a:gd name="adj" fmla="val 8046"/>
            </a:avLst>
          </a:prstGeom>
          <a:solidFill xmlns:a="http://schemas.openxmlformats.org/drawingml/2006/main">
            <a:srgbClr val="F7EFF1"/>
          </a:solidFill>
          <a:ln xmlns:a="http://schemas.openxmlformats.org/drawingml/2006/main" w="8573">
            <a:solidFill>
              <a:srgbClr val="DBC7CC"/>
            </a:solidFill>
            <a:prstDash val="solid"/>
          </a:ln>
        </p:spPr>
      </p:sp>
      <p:sp>
        <p:nvSpPr>
          <p:cNvPr id="78" name="Rounded Rectangle 77">
            <a:extLst xmlns:a="http://schemas.openxmlformats.org/drawingml/2006/main">
              <a:ext uri="{FF2B5EF4-FFF2-40B4-BE49-F238E27FC236}">
                <a16:creationId xmlns:a16="http://schemas.microsoft.com/office/drawing/2014/main" id="{50BB9DE1-8DDB-4BB2-9A24-B683DD826791}"/>
              </a:ext>
            </a:extLst>
          </p:cNvPr>
          <p:cNvSpPr>
            <a:spLocks xmlns:a="http://schemas.openxmlformats.org/drawingml/2006/main" noGrp="1"/>
          </p:cNvSpPr>
          <p:nvPr/>
        </p:nvSpPr>
        <p:spPr>
          <a:xfrm xmlns:a="http://schemas.openxmlformats.org/drawingml/2006/main">
            <a:off x="1085850" y="4248150"/>
            <a:ext cx="45719" cy="8953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9" name="Rectangle 78">
            <a:extLst xmlns:a="http://schemas.openxmlformats.org/drawingml/2006/main">
              <a:ext uri="{FF2B5EF4-FFF2-40B4-BE49-F238E27FC236}">
                <a16:creationId xmlns:a16="http://schemas.microsoft.com/office/drawing/2014/main" id="{604D988A-FA2B-4BDA-A1C9-D131DA8F2945}"/>
              </a:ext>
            </a:extLst>
          </p:cNvPr>
          <p:cNvSpPr>
            <a:spLocks xmlns:a="http://schemas.openxmlformats.org/drawingml/2006/main" noGrp="1"/>
          </p:cNvSpPr>
          <p:nvPr/>
        </p:nvSpPr>
        <p:spPr>
          <a:xfrm xmlns:a="http://schemas.openxmlformats.org/drawingml/2006/main">
            <a:off x="1333500" y="420052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ПРОВЕРУ</a:t>
            </a:r>
          </a:p>
        </p:txBody>
      </p:sp>
      <p:sp>
        <p:nvSpPr>
          <p:cNvPr id="80" name="Rectangle 79">
            <a:extLst xmlns:a="http://schemas.openxmlformats.org/drawingml/2006/main">
              <a:ext uri="{FF2B5EF4-FFF2-40B4-BE49-F238E27FC236}">
                <a16:creationId xmlns:a16="http://schemas.microsoft.com/office/drawing/2014/main" id="{4F7723F5-97B4-45AE-9E49-6E760596DA80}"/>
              </a:ext>
            </a:extLst>
          </p:cNvPr>
          <p:cNvSpPr>
            <a:spLocks xmlns:a="http://schemas.openxmlformats.org/drawingml/2006/main" noGrp="1"/>
          </p:cNvSpPr>
          <p:nvPr/>
        </p:nvSpPr>
        <p:spPr>
          <a:xfrm xmlns:a="http://schemas.openxmlformats.org/drawingml/2006/main">
            <a:off x="1333500" y="4429125"/>
            <a:ext cx="9639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Коју одлуку не бисте смели да заснивате само на улози и који додатни атрибут јој даје смисао?</a:t>
            </a:r>
          </a:p>
        </p:txBody>
      </p:sp>
      <p:sp>
        <p:nvSpPr>
          <p:cNvPr id="81" name="Rectangle 80">
            <a:extLst xmlns:a="http://schemas.openxmlformats.org/drawingml/2006/main">
              <a:ext uri="{FF2B5EF4-FFF2-40B4-BE49-F238E27FC236}">
                <a16:creationId xmlns:a16="http://schemas.microsoft.com/office/drawing/2014/main" id="{5C4B5681-9A54-46E9-A2A2-04DB980C66CC}"/>
              </a:ext>
            </a:extLst>
          </p:cNvPr>
          <p:cNvSpPr>
            <a:spLocks xmlns:a="http://schemas.openxmlformats.org/drawingml/2006/main" noGrp="1"/>
          </p:cNvSpPr>
          <p:nvPr/>
        </p:nvSpPr>
        <p:spPr>
          <a:xfrm xmlns:a="http://schemas.openxmlformats.org/drawingml/2006/main">
            <a:off x="1314450" y="4848225"/>
            <a:ext cx="9639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1275" b="0">
                <a:solidFill>
                  <a:srgbClr val="52637B"/>
                </a:solidFill>
                <a:latin typeface="Aptos"/>
                <a:ea typeface="Aptos"/>
                <a:cs typeface="Aptos"/>
              </a:defRPr>
            </a:pPr>
            <a:r>
              <a:rPr sz="1275" b="0">
                <a:solidFill>
                  <a:srgbClr val="52637B"/>
                </a:solidFill>
                <a:latin typeface="Aptos"/>
                <a:ea typeface="Aptos"/>
                <a:cs typeface="Aptos"/>
              </a:rPr>
              <a:t>Пројектна примена: применити исти модел на једну реалну границу у сопственом пројекту.</a:t>
            </a:r>
          </a:p>
        </p:txBody>
      </p:sp>
    </p:spTree>
    <p:extLst>
      <p:ext uri="{BB962C8B-B14F-4D97-AF65-F5344CB8AC3E}">
        <p14:creationId xmlns:p14="http://schemas.microsoft.com/office/powerpoint/2010/main" val="202121918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2026-09-29T19:08:40.7740000Z</dcterms:created>
  <dcterms:modified xsi:type="dcterms:W3CDTF">2026-09-29T19:08:40.7740000Z</dcterms:modified>
</coreProperties>
</file>