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Уводна презентација предмета Елементи развоја софтвера. Прегледамо организацију наставе, начин полагања, расподелу пројектних поена, обавезе тима и појединца, као и одбрану пројекта и усмени испит.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Настава се састоји од предавања, на којима се обрађују теоријске основе, и вежби, на којима се ради практично и на пројекту. Присуство на рачунарским вежбама је обавезно. Више од два неоправдана изостанка искључују право на одбрану пројекта. Сви материјали и обавештења налазе се на званичној страници предмета.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Пројектни део носи највише 71 поен. Са 40 поена или мање пројекат није положен. Са 41 до 50 поена усмени испит је обавезан и потребно је достићи најмање 51 поен укупно. Са 51 поеном или више студент може уписати оцену без усменог испита. Усмени испит мења укупан резултат у распону од минус 20 до плус 30 поена, а коначна оцена се одређује према скали од 51 до 100 поена.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Максималан резултат на пројектном делу износи 71 поен. Основне обавезе обухватају рад у алату Tapiz Boards уз Agile и Scrum, SOLID принципе и Clean Architecture, пословну логику са аутоматизованим тестирањем и прве две контролне тачке, укупно 37 поена. Провере и интеграција обухватају интероперабилност, контролисану употребу AI алата и контролне тачке три и четири, укупно 34 поена.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Током семестра постоје четири контролне тачке. Прва проверава дефиницију проблема, backlog и развојни ток, друга архитектуру и функционално језгро, трећа тестирање и стабилну верзију језгра, а четврта развојни ток уз AI алате и завршну одбрану. Заједно носе 20 поена. Студент може остварити и до пет додатних поена за активност на настави, али укупан пројектни резултат не може прећи 71 поен.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Тим чини од шест до десет студената. Предметни асистент сваком тиму додељује пројектну целину за коју тим преузима примарну одговорност и одобрава приступ заједничком GitHub репозиторијуму. Сваки студент мора доставити тачно GitHub корисничко име, имати проверљив допринос у историји измена, умети да образложи свој рад на одбрани и поделити јавни линк ка Tapiz Boards табли.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 би пројектна целина била прихваћена, мора имати јасну границу одговорности и јавни уговор према другим целинама. Обавезни су аутоматизовани тестови кључних правила, а по потреби и интеграциони, уговорни и регресиони тестови. Документација обухвата случајеве употребе, критеријуме прихватања, јавне уговоре, записе о архитектонским одлукама и упутство за покретање. Сваки студент посебно документује свој допринос.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Репозиторијум је главни доказ рада. Развојни материјали обухватају backlog са критеријумима прихватања, Git историју са прегледима Pull Request-ова, записе о значајним архитектонским одлукама и упутство за локално покретање. Проверљиви резултати су извршив пројекат, аутоматизовани тестови кључних правила, резултати компилације и тестирања и документација јавних уговора између модула.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Индивидуални допринос мора бити следљив кроз четири корака. Студент наводи захтев за који је одговоран, приказује измену кода кроз commit-е и Pull Request, образлаже архитектонску или дизајнерску одлуку и показује проверу резултата тестом, build-ом или демонстрационим сценаријем.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Целина се прихвата тек када се укључи у заједничко решење, а да не наруши постојеће понашање. Технички, то значи дефинисане и верзионисане јавне уговоре, исправан смер зависности, успешан build и тестове, као и конфигурацију без локалних и тајних података. На одбрани студент покреће функционалност у целом решењу, образлаже интеграционе тачке, показује тестове за граничне и неуспешне сценарије и јасно приказује свој допринос.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Пројекат се брани у предиспитном термину, у првој половини децембра, или у редовном термину, у последњој недељи зимског семестра. На одбрани се проверавају функционалност пројекта и испуњеност критеријума бодовања, разумевање донетих одлука, сопствени допринос и теоријска питања из градива. Пројектни поени важе до краја текуће академске године.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Студент са 41 до 50 пројектних поена мора изаћи на усмени испит и на њему достићи најмање 51 поен укупно. Студент са 51 до 71 поеном може прихватити оцену на основу пројекта. Усмени испит мења укупан резултат за највише 20 поена наниже или 30 поена навише. Ако студент пријави испит, а не приступи усменом делу, оцена се формира на основу пројектних поена.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Потпис се стиче када су испуњене све предиспитне обавезе. Пројектни поени важе до краја текуће академске године и не преносе се у наредну. Студент који до тада не положи испит поново похађа предмет и изнова испуњава предиспитне обавезе.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hyperlink" Target="https://www.eepsi.ftn.uns.ac.rs/group/elementi-razvoja-softvera/"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развојног тока: табла са задацима, Git граф са граном и спајањем и провера са успешним тестовима">    </p:cNvPr>
          <p:cNvPicPr>
            <a:picLocks noChangeAspect="1"/>
          </p:cNvPicPr>
          <p:nvPr/>
        </p:nvPicPr>
        <p:blipFill>
          <a:blip r:embed="rId1"/>
          <a:srcRect l="0" r="0" t="0" b="0"/>
          <a:stretch/>
        </p:blipFill>
        <p:spPr>
          <a:xfrm>
            <a:off x="7848600" y="1270000"/>
            <a:ext cx="3530600" cy="34671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Основне информације о предмету и пројекту</a:t>
            </a:r>
            <a:endParaRPr lang="en-US" sz="4600" dirty="0"/>
          </a:p>
        </p:txBody>
      </p:sp>
      <p:sp>
        <p:nvSpPr>
          <p:cNvPr id="5" name="Shape 2"/>
          <p:cNvSpPr/>
          <p:nvPr/>
        </p:nvSpPr>
        <p:spPr>
          <a:xfrm>
            <a:off x="812800" y="5375275"/>
            <a:ext cx="6731000" cy="0"/>
          </a:xfrm>
          <a:prstGeom prst="line">
            <a:avLst/>
          </a:prstGeom>
          <a:noFill/>
          <a:ln w="6350">
            <a:solidFill>
              <a:srgbClr val="D3DAE1"/>
            </a:solidFill>
            <a:prstDash val="solid"/>
          </a:ln>
        </p:spPr>
      </p:sp>
      <p:sp>
        <p:nvSpPr>
          <p:cNvPr id="6" name="Text 3"/>
          <p:cNvSpPr/>
          <p:nvPr/>
        </p:nvSpPr>
        <p:spPr>
          <a:xfrm>
            <a:off x="812800" y="5530850"/>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7" name="Text 4"/>
          <p:cNvSpPr/>
          <p:nvPr/>
        </p:nvSpPr>
        <p:spPr>
          <a:xfrm>
            <a:off x="812800" y="5830491"/>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
        <p:nvSpPr>
          <p:cNvPr id="8" name="Text 5"/>
          <p:cNvSpPr/>
          <p:nvPr/>
        </p:nvSpPr>
        <p:spPr>
          <a:xfrm>
            <a:off x="812800" y="2851150"/>
            <a:ext cx="62788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Настава, оцењивање и пројектни рад</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НАСТАВА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Организација наставе, извођачи и материјали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Подаци за академскуm годину</a:t>
            </a:r>
            <a:endParaRPr lang="en-US" sz="1400" dirty="0"/>
          </a:p>
        </p:txBody>
      </p:sp>
      <p:sp>
        <p:nvSpPr>
          <p:cNvPr id="6" name="Text 4"/>
          <p:cNvSpPr/>
          <p:nvPr/>
        </p:nvSpPr>
        <p:spPr>
          <a:xfrm>
            <a:off x="812800" y="21766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ОРГАНИЗАЦИЈА НАСТАВЕ</a:t>
            </a:r>
            <a:endParaRPr lang="en-US" sz="1200" dirty="0"/>
          </a:p>
        </p:txBody>
      </p:sp>
      <p:sp>
        <p:nvSpPr>
          <p:cNvPr id="7" name="Shape 5"/>
          <p:cNvSpPr/>
          <p:nvPr/>
        </p:nvSpPr>
        <p:spPr>
          <a:xfrm>
            <a:off x="812800" y="2504281"/>
            <a:ext cx="330200" cy="330200"/>
          </a:xfrm>
          <a:prstGeom prst="roundRect">
            <a:avLst>
              <a:gd name="adj" fmla="val 23077"/>
            </a:avLst>
          </a:prstGeom>
          <a:solidFill>
            <a:srgbClr val="DCE8F4"/>
          </a:solidFill>
          <a:ln/>
        </p:spPr>
      </p:sp>
      <p:pic>
        <p:nvPicPr>
          <p:cNvPr id="8" name="Image 0" descr="GraduationCap">    </p:cNvPr>
          <p:cNvPicPr>
            <a:picLocks noChangeAspect="1"/>
          </p:cNvPicPr>
          <p:nvPr/>
        </p:nvPicPr>
        <p:blipFill>
          <a:blip r:embed="rId1"/>
          <a:srcRect l="0" r="0" t="0" b="0"/>
          <a:stretch/>
        </p:blipFill>
        <p:spPr>
          <a:xfrm>
            <a:off x="882650" y="2574131"/>
            <a:ext cx="190500" cy="190500"/>
          </a:xfrm>
          <a:prstGeom prst="rect">
            <a:avLst/>
          </a:prstGeom>
        </p:spPr>
      </p:pic>
      <p:sp>
        <p:nvSpPr>
          <p:cNvPr id="9" name="Text 6"/>
          <p:cNvSpPr/>
          <p:nvPr/>
        </p:nvSpPr>
        <p:spPr>
          <a:xfrm>
            <a:off x="1270000" y="25493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4505D"/>
                </a:solidFill>
                <a:latin typeface="IBM Plex Sans" pitchFamily="34" charset="0"/>
                <a:ea typeface="IBM Plex Sans" pitchFamily="34" charset="-122"/>
                <a:cs typeface="IBM Plex Sans" pitchFamily="34" charset="-120"/>
              </a:rPr>
              <a:t>Предавања:</a:t>
            </a:r>
            <a:r>
              <a:rPr lang="en-US" sz="1400" dirty="0">
                <a:solidFill>
                  <a:srgbClr val="44505D"/>
                </a:solidFill>
                <a:latin typeface="IBM Plex Sans" pitchFamily="34" charset="0"/>
                <a:ea typeface="IBM Plex Sans" pitchFamily="34" charset="-122"/>
                <a:cs typeface="IBM Plex Sans" pitchFamily="34" charset="-120"/>
              </a:rPr>
              <a:t> теоријске основе</a:t>
            </a:r>
            <a:endParaRPr lang="en-US" sz="1400" dirty="0"/>
          </a:p>
        </p:txBody>
      </p:sp>
      <p:sp>
        <p:nvSpPr>
          <p:cNvPr id="10" name="Shape 7"/>
          <p:cNvSpPr/>
          <p:nvPr/>
        </p:nvSpPr>
        <p:spPr>
          <a:xfrm>
            <a:off x="812800" y="2948781"/>
            <a:ext cx="330200" cy="330200"/>
          </a:xfrm>
          <a:prstGeom prst="roundRect">
            <a:avLst>
              <a:gd name="adj" fmla="val 23077"/>
            </a:avLst>
          </a:prstGeom>
          <a:solidFill>
            <a:srgbClr val="DCE8F4"/>
          </a:solidFill>
          <a:ln/>
        </p:spPr>
      </p:sp>
      <p:pic>
        <p:nvPicPr>
          <p:cNvPr id="11" name="Image 1" descr="Code">    </p:cNvPr>
          <p:cNvPicPr>
            <a:picLocks noChangeAspect="1"/>
          </p:cNvPicPr>
          <p:nvPr/>
        </p:nvPicPr>
        <p:blipFill>
          <a:blip r:embed="rId2"/>
          <a:srcRect l="0" r="0" t="0" b="0"/>
          <a:stretch/>
        </p:blipFill>
        <p:spPr>
          <a:xfrm>
            <a:off x="882650" y="3018631"/>
            <a:ext cx="190500" cy="190500"/>
          </a:xfrm>
          <a:prstGeom prst="rect">
            <a:avLst/>
          </a:prstGeom>
        </p:spPr>
      </p:pic>
      <p:sp>
        <p:nvSpPr>
          <p:cNvPr id="12" name="Text 8"/>
          <p:cNvSpPr/>
          <p:nvPr/>
        </p:nvSpPr>
        <p:spPr>
          <a:xfrm>
            <a:off x="1270000" y="29938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4505D"/>
                </a:solidFill>
                <a:latin typeface="IBM Plex Sans" pitchFamily="34" charset="0"/>
                <a:ea typeface="IBM Plex Sans" pitchFamily="34" charset="-122"/>
                <a:cs typeface="IBM Plex Sans" pitchFamily="34" charset="-120"/>
              </a:rPr>
              <a:t>Вежбе:</a:t>
            </a:r>
            <a:r>
              <a:rPr lang="en-US" sz="1400" dirty="0">
                <a:solidFill>
                  <a:srgbClr val="44505D"/>
                </a:solidFill>
                <a:latin typeface="IBM Plex Sans" pitchFamily="34" charset="0"/>
                <a:ea typeface="IBM Plex Sans" pitchFamily="34" charset="-122"/>
                <a:cs typeface="IBM Plex Sans" pitchFamily="34" charset="-120"/>
              </a:rPr>
              <a:t> практична настава и пројектни рад</a:t>
            </a:r>
            <a:endParaRPr lang="en-US" sz="1400" dirty="0"/>
          </a:p>
        </p:txBody>
      </p:sp>
      <p:sp>
        <p:nvSpPr>
          <p:cNvPr id="13" name="Shape 9"/>
          <p:cNvSpPr/>
          <p:nvPr/>
        </p:nvSpPr>
        <p:spPr>
          <a:xfrm>
            <a:off x="812800" y="3393281"/>
            <a:ext cx="330200" cy="330200"/>
          </a:xfrm>
          <a:prstGeom prst="roundRect">
            <a:avLst>
              <a:gd name="adj" fmla="val 23077"/>
            </a:avLst>
          </a:prstGeom>
          <a:solidFill>
            <a:srgbClr val="DCE8F4"/>
          </a:solidFill>
          <a:ln/>
        </p:spPr>
      </p:sp>
      <p:pic>
        <p:nvPicPr>
          <p:cNvPr id="14" name="Image 2" descr="Users">    </p:cNvPr>
          <p:cNvPicPr>
            <a:picLocks noChangeAspect="1"/>
          </p:cNvPicPr>
          <p:nvPr/>
        </p:nvPicPr>
        <p:blipFill>
          <a:blip r:embed="rId3"/>
          <a:srcRect l="0" r="0" t="0" b="0"/>
          <a:stretch/>
        </p:blipFill>
        <p:spPr>
          <a:xfrm>
            <a:off x="882650" y="3463131"/>
            <a:ext cx="190500" cy="190500"/>
          </a:xfrm>
          <a:prstGeom prst="rect">
            <a:avLst/>
          </a:prstGeom>
        </p:spPr>
      </p:pic>
      <p:sp>
        <p:nvSpPr>
          <p:cNvPr id="15" name="Text 10"/>
          <p:cNvSpPr/>
          <p:nvPr/>
        </p:nvSpPr>
        <p:spPr>
          <a:xfrm>
            <a:off x="1270000" y="34383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Присуство на рачунарским вежбама је обавезно</a:t>
            </a:r>
            <a:endParaRPr lang="en-US" sz="1400" dirty="0"/>
          </a:p>
        </p:txBody>
      </p:sp>
      <p:sp>
        <p:nvSpPr>
          <p:cNvPr id="16" name="Shape 11"/>
          <p:cNvSpPr/>
          <p:nvPr/>
        </p:nvSpPr>
        <p:spPr>
          <a:xfrm>
            <a:off x="815975" y="3840956"/>
            <a:ext cx="5073650" cy="689570"/>
          </a:xfrm>
          <a:prstGeom prst="roundRect">
            <a:avLst>
              <a:gd name="adj" fmla="val 12432"/>
            </a:avLst>
          </a:prstGeom>
          <a:solidFill>
            <a:srgbClr val="FBF1E6"/>
          </a:solidFill>
          <a:ln w="6350">
            <a:solidFill>
              <a:srgbClr val="E9B98C"/>
            </a:solidFill>
            <a:prstDash val="solid"/>
          </a:ln>
        </p:spPr>
      </p:sp>
      <p:sp>
        <p:nvSpPr>
          <p:cNvPr id="17" name="Shape 12"/>
          <p:cNvSpPr/>
          <p:nvPr/>
        </p:nvSpPr>
        <p:spPr>
          <a:xfrm>
            <a:off x="946150" y="4020641"/>
            <a:ext cx="330200" cy="330200"/>
          </a:xfrm>
          <a:prstGeom prst="roundRect">
            <a:avLst>
              <a:gd name="adj" fmla="val 23077"/>
            </a:avLst>
          </a:prstGeom>
          <a:solidFill>
            <a:srgbClr val="FCFCFB"/>
          </a:solidFill>
          <a:ln/>
        </p:spPr>
      </p:sp>
      <p:pic>
        <p:nvPicPr>
          <p:cNvPr id="18" name="Image 3" descr="Warning">    </p:cNvPr>
          <p:cNvPicPr>
            <a:picLocks noChangeAspect="1"/>
          </p:cNvPicPr>
          <p:nvPr/>
        </p:nvPicPr>
        <p:blipFill>
          <a:blip r:embed="rId4"/>
          <a:srcRect l="0" r="0" t="0" b="0"/>
          <a:stretch/>
        </p:blipFill>
        <p:spPr>
          <a:xfrm>
            <a:off x="1016000" y="4090491"/>
            <a:ext cx="190500" cy="190500"/>
          </a:xfrm>
          <a:prstGeom prst="rect">
            <a:avLst/>
          </a:prstGeom>
        </p:spPr>
      </p:pic>
      <p:sp>
        <p:nvSpPr>
          <p:cNvPr id="19" name="Text 13"/>
          <p:cNvSpPr/>
          <p:nvPr/>
        </p:nvSpPr>
        <p:spPr>
          <a:xfrm>
            <a:off x="1403350" y="3945731"/>
            <a:ext cx="44867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Више од два неоправдана изостанка искључују право на одбрану пројекта</a:t>
            </a:r>
            <a:endParaRPr lang="en-US" sz="1400" dirty="0"/>
          </a:p>
        </p:txBody>
      </p:sp>
      <p:sp>
        <p:nvSpPr>
          <p:cNvPr id="20" name="Shape 14"/>
          <p:cNvSpPr/>
          <p:nvPr/>
        </p:nvSpPr>
        <p:spPr>
          <a:xfrm>
            <a:off x="812800" y="4648002"/>
            <a:ext cx="330200" cy="330200"/>
          </a:xfrm>
          <a:prstGeom prst="roundRect">
            <a:avLst>
              <a:gd name="adj" fmla="val 23077"/>
            </a:avLst>
          </a:prstGeom>
          <a:solidFill>
            <a:srgbClr val="DCE8F4"/>
          </a:solidFill>
          <a:ln/>
        </p:spPr>
      </p:sp>
      <p:pic>
        <p:nvPicPr>
          <p:cNvPr id="21" name="Image 4" descr="Link">    </p:cNvPr>
          <p:cNvPicPr>
            <a:picLocks noChangeAspect="1"/>
          </p:cNvPicPr>
          <p:nvPr/>
        </p:nvPicPr>
        <p:blipFill>
          <a:blip r:embed="rId5"/>
          <a:srcRect l="0" r="0" t="0" b="0"/>
          <a:stretch/>
        </p:blipFill>
        <p:spPr>
          <a:xfrm>
            <a:off x="882650" y="4717852"/>
            <a:ext cx="190500" cy="190500"/>
          </a:xfrm>
          <a:prstGeom prst="rect">
            <a:avLst/>
          </a:prstGeom>
        </p:spPr>
      </p:pic>
      <p:sp>
        <p:nvSpPr>
          <p:cNvPr id="22" name="Text 15"/>
          <p:cNvSpPr/>
          <p:nvPr/>
        </p:nvSpPr>
        <p:spPr>
          <a:xfrm>
            <a:off x="1270000" y="4693047"/>
            <a:ext cx="4761484" cy="265410"/>
          </a:xfrm>
          <a:prstGeom prst="rect">
            <a:avLst/>
          </a:prstGeom>
          <a:noFill/>
          <a:ln/>
        </p:spPr>
        <p:txBody>
          <a:bodyPr wrap="square" lIns="0" tIns="0" rIns="0" bIns="0" rtlCol="0" anchor="t">
            <a:normAutofit/>
          </a:bodyPr>
          <a:lstStyle/>
          <a:p>
            <a:pPr algn="l" indent="0" marL="0">
              <a:lnSpc>
                <a:spcPts val="1890"/>
              </a:lnSpc>
              <a:buNone/>
            </a:pPr>
            <a:r>
              <a:rPr lang="en-US" sz="1400" u="sng" dirty="0">
                <a:solidFill>
                  <a:srgbClr val="0A5CA8"/>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Званична страница предмета</a:t>
            </a:r>
            <a:endParaRPr lang="en-US" sz="1400" dirty="0"/>
          </a:p>
        </p:txBody>
      </p:sp>
      <p:sp>
        <p:nvSpPr>
          <p:cNvPr id="23" name="Shape 16"/>
          <p:cNvSpPr/>
          <p:nvPr/>
        </p:nvSpPr>
        <p:spPr>
          <a:xfrm>
            <a:off x="6302375" y="2179836"/>
            <a:ext cx="5073650" cy="2951063"/>
          </a:xfrm>
          <a:prstGeom prst="roundRect">
            <a:avLst>
              <a:gd name="adj" fmla="val 3335"/>
            </a:avLst>
          </a:prstGeom>
          <a:solidFill>
            <a:srgbClr val="FCFCFB"/>
          </a:solidFill>
          <a:ln w="6350">
            <a:solidFill>
              <a:srgbClr val="D3DAE1"/>
            </a:solidFill>
            <a:prstDash val="solid"/>
          </a:ln>
        </p:spPr>
      </p:sp>
      <p:sp>
        <p:nvSpPr>
          <p:cNvPr id="24" name="Text 17"/>
          <p:cNvSpPr/>
          <p:nvPr/>
        </p:nvSpPr>
        <p:spPr>
          <a:xfrm>
            <a:off x="6534150" y="2386211"/>
            <a:ext cx="47484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ИЗВОЂАЧИ НАСТАВЕ</a:t>
            </a:r>
            <a:endParaRPr lang="en-US" sz="1200" dirty="0"/>
          </a:p>
        </p:txBody>
      </p:sp>
      <p:sp>
        <p:nvSpPr>
          <p:cNvPr id="25" name="Text 18"/>
          <p:cNvSpPr/>
          <p:nvPr/>
        </p:nvSpPr>
        <p:spPr>
          <a:xfrm>
            <a:off x="6534150" y="2713831"/>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ПРОФЕСОР</a:t>
            </a:r>
            <a:endParaRPr lang="en-US" sz="1200" dirty="0"/>
          </a:p>
        </p:txBody>
      </p:sp>
      <p:sp>
        <p:nvSpPr>
          <p:cNvPr id="26" name="Text 19"/>
          <p:cNvSpPr/>
          <p:nvPr/>
        </p:nvSpPr>
        <p:spPr>
          <a:xfrm>
            <a:off x="6534150" y="2965252"/>
            <a:ext cx="474840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др Зоран Јанковић</a:t>
            </a:r>
            <a:endParaRPr lang="en-US" sz="1600" dirty="0"/>
          </a:p>
        </p:txBody>
      </p:sp>
      <p:sp>
        <p:nvSpPr>
          <p:cNvPr id="27" name="Text 20"/>
          <p:cNvSpPr/>
          <p:nvPr/>
        </p:nvSpPr>
        <p:spPr>
          <a:xfrm>
            <a:off x="6534150" y="3287812"/>
            <a:ext cx="47484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zoran.jankovic@uns.ac.rs</a:t>
            </a:r>
            <a:endParaRPr lang="en-US" sz="1200" dirty="0"/>
          </a:p>
        </p:txBody>
      </p:sp>
      <p:sp>
        <p:nvSpPr>
          <p:cNvPr id="28" name="Shape 21"/>
          <p:cNvSpPr/>
          <p:nvPr/>
        </p:nvSpPr>
        <p:spPr>
          <a:xfrm>
            <a:off x="6534150" y="3618607"/>
            <a:ext cx="4610100" cy="0"/>
          </a:xfrm>
          <a:prstGeom prst="line">
            <a:avLst/>
          </a:prstGeom>
          <a:noFill/>
          <a:ln w="6350">
            <a:solidFill>
              <a:srgbClr val="E3E8EE"/>
            </a:solidFill>
            <a:prstDash val="solid"/>
          </a:ln>
        </p:spPr>
      </p:sp>
      <p:sp>
        <p:nvSpPr>
          <p:cNvPr id="29" name="Text 22"/>
          <p:cNvSpPr/>
          <p:nvPr/>
        </p:nvSpPr>
        <p:spPr>
          <a:xfrm>
            <a:off x="6534150" y="3736082"/>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АСИСТЕНТИ</a:t>
            </a:r>
            <a:endParaRPr lang="en-US" sz="1200" dirty="0"/>
          </a:p>
        </p:txBody>
      </p:sp>
      <p:sp>
        <p:nvSpPr>
          <p:cNvPr id="30" name="Text 23"/>
          <p:cNvSpPr/>
          <p:nvPr/>
        </p:nvSpPr>
        <p:spPr>
          <a:xfrm>
            <a:off x="6534150" y="4025602"/>
            <a:ext cx="190529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Данијел Јовановић</a:t>
            </a:r>
            <a:endParaRPr lang="en-US" sz="1400" dirty="0"/>
          </a:p>
        </p:txBody>
      </p:sp>
      <p:sp>
        <p:nvSpPr>
          <p:cNvPr id="31" name="Text 24"/>
          <p:cNvSpPr/>
          <p:nvPr/>
        </p:nvSpPr>
        <p:spPr>
          <a:xfrm>
            <a:off x="8439448" y="4057352"/>
            <a:ext cx="270480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danijel.jovanovic@uns.ac.rs</a:t>
            </a:r>
            <a:endParaRPr lang="en-US" sz="1200" dirty="0"/>
          </a:p>
        </p:txBody>
      </p:sp>
      <p:sp>
        <p:nvSpPr>
          <p:cNvPr id="32" name="Text 25"/>
          <p:cNvSpPr/>
          <p:nvPr/>
        </p:nvSpPr>
        <p:spPr>
          <a:xfrm>
            <a:off x="6534150" y="4350643"/>
            <a:ext cx="13383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Тања Чубрић</a:t>
            </a:r>
            <a:endParaRPr lang="en-US" sz="1400" dirty="0"/>
          </a:p>
        </p:txBody>
      </p:sp>
      <p:sp>
        <p:nvSpPr>
          <p:cNvPr id="33" name="Text 26"/>
          <p:cNvSpPr/>
          <p:nvPr/>
        </p:nvSpPr>
        <p:spPr>
          <a:xfrm>
            <a:off x="8839914" y="4382393"/>
            <a:ext cx="230433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cubrictanja@gmail.com</a:t>
            </a:r>
            <a:endParaRPr lang="en-US" sz="1200" dirty="0"/>
          </a:p>
        </p:txBody>
      </p:sp>
      <p:sp>
        <p:nvSpPr>
          <p:cNvPr id="34" name="Text 27"/>
          <p:cNvSpPr/>
          <p:nvPr/>
        </p:nvSpPr>
        <p:spPr>
          <a:xfrm>
            <a:off x="6534150" y="4675684"/>
            <a:ext cx="131421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Петар Мутић</a:t>
            </a:r>
            <a:endParaRPr lang="en-US" sz="1400" dirty="0"/>
          </a:p>
        </p:txBody>
      </p:sp>
      <p:sp>
        <p:nvSpPr>
          <p:cNvPr id="35" name="Text 28"/>
          <p:cNvSpPr/>
          <p:nvPr/>
        </p:nvSpPr>
        <p:spPr>
          <a:xfrm>
            <a:off x="8839914" y="4707434"/>
            <a:ext cx="230433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petarmutic5@gmail.com</a:t>
            </a:r>
            <a:endParaRPr lang="en-US" sz="1200" dirty="0"/>
          </a:p>
        </p:txBody>
      </p:sp>
      <p:sp>
        <p:nvSpPr>
          <p:cNvPr id="36" name="Shape 29"/>
          <p:cNvSpPr/>
          <p:nvPr/>
        </p:nvSpPr>
        <p:spPr>
          <a:xfrm>
            <a:off x="812800" y="6209705"/>
            <a:ext cx="10566400" cy="0"/>
          </a:xfrm>
          <a:prstGeom prst="line">
            <a:avLst/>
          </a:prstGeom>
          <a:noFill/>
          <a:ln w="6350">
            <a:solidFill>
              <a:srgbClr val="D3DAE1"/>
            </a:solidFill>
            <a:prstDash val="solid"/>
          </a:ln>
        </p:spPr>
      </p:sp>
      <p:sp>
        <p:nvSpPr>
          <p:cNvPr id="37"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ОЦЕЊИВАЊЕ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Начин полагања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Пројектни део носи највише 71 поен. Усмени испит мења укупан резултат у распону од −20 до +30 поена.</a:t>
            </a:r>
            <a:endParaRPr lang="en-US" sz="1400" dirty="0"/>
          </a:p>
        </p:txBody>
      </p:sp>
      <p:sp>
        <p:nvSpPr>
          <p:cNvPr id="6" name="Shape 4"/>
          <p:cNvSpPr/>
          <p:nvPr/>
        </p:nvSpPr>
        <p:spPr>
          <a:xfrm>
            <a:off x="815975" y="2129036"/>
            <a:ext cx="10560050" cy="374650"/>
          </a:xfrm>
          <a:prstGeom prst="roundRect">
            <a:avLst>
              <a:gd name="adj" fmla="val 19492"/>
            </a:avLst>
          </a:prstGeom>
          <a:noFill/>
          <a:ln w="6350">
            <a:solidFill>
              <a:srgbClr val="C3CEDA"/>
            </a:solidFill>
            <a:prstDash val="solid"/>
          </a:ln>
        </p:spPr>
      </p:sp>
      <p:sp>
        <p:nvSpPr>
          <p:cNvPr id="7" name="Text 5"/>
          <p:cNvSpPr/>
          <p:nvPr/>
        </p:nvSpPr>
        <p:spPr>
          <a:xfrm>
            <a:off x="819150" y="2132211"/>
            <a:ext cx="5956300" cy="368300"/>
          </a:xfrm>
          <a:custGeom>
            <a:avLst/>
            <a:gdLst/>
            <a:ahLst/>
            <a:cxnLst/>
            <a:rect l="l" t="t" r="r" b="b"/>
            <a:pathLst>
              <a:path w="5956300" h="368300">
                <a:moveTo>
                  <a:pt x="0" y="69850"/>
                </a:moveTo>
                <a:arcTo hR="69850" wR="69850" stAng="10800000" swAng="5400000"/>
                <a:lnTo>
                  <a:pt x="5956300" y="0"/>
                </a:lnTo>
                <a:lnTo>
                  <a:pt x="5956300" y="368300"/>
                </a:lnTo>
                <a:lnTo>
                  <a:pt x="69850" y="368300"/>
                </a:lnTo>
                <a:arcTo hR="69850" wR="69850" stAng="5400000" swAng="5400000"/>
                <a:close/>
              </a:path>
            </a:pathLst>
          </a:custGeom>
          <a:solidFill>
            <a:srgbClr val="ECEEF0"/>
          </a:solidFill>
          <a:ln/>
        </p:spPr>
        <p:txBody>
          <a:bodyPr wrap="square" lIns="152400" tIns="0" rIns="152400" bIns="0" rtlCol="0" anchor="ctr">
            <a:normAutofit/>
          </a:bodyPr>
          <a:lstStyle/>
          <a:p>
            <a:pPr algn="l" indent="0" marL="0">
              <a:lnSpc>
                <a:spcPts val="1820"/>
              </a:lnSpc>
              <a:buNone/>
            </a:pPr>
            <a:r>
              <a:rPr lang="en-US" sz="1300" b="1" dirty="0">
                <a:solidFill>
                  <a:srgbClr val="5E6975"/>
                </a:solidFill>
                <a:latin typeface="IBM Plex Mono" pitchFamily="49" charset="0"/>
                <a:ea typeface="IBM Plex Mono" pitchFamily="49" charset="-122"/>
                <a:cs typeface="IBM Plex Mono" pitchFamily="49" charset="-120"/>
              </a:rPr>
              <a:t>0–40</a:t>
            </a:r>
            <a:endParaRPr lang="en-US" sz="1300" dirty="0"/>
          </a:p>
        </p:txBody>
      </p:sp>
      <p:sp>
        <p:nvSpPr>
          <p:cNvPr id="8" name="Text 6"/>
          <p:cNvSpPr/>
          <p:nvPr/>
        </p:nvSpPr>
        <p:spPr>
          <a:xfrm>
            <a:off x="6775450" y="2132211"/>
            <a:ext cx="1485900" cy="368300"/>
          </a:xfrm>
          <a:prstGeom prst="rect">
            <a:avLst/>
          </a:prstGeom>
          <a:solidFill>
            <a:srgbClr val="FBF1E6"/>
          </a:solidFill>
          <a:ln/>
        </p:spPr>
        <p:txBody>
          <a:bodyPr wrap="square" lIns="6350" tIns="0" rIns="0" bIns="0" rtlCol="0" anchor="ctr">
            <a:normAutofit/>
          </a:bodyPr>
          <a:lstStyle/>
          <a:p>
            <a:pPr algn="ctr" indent="0" marL="0">
              <a:lnSpc>
                <a:spcPts val="1820"/>
              </a:lnSpc>
              <a:buNone/>
            </a:pPr>
            <a:r>
              <a:rPr lang="en-US" sz="1300" b="1" dirty="0">
                <a:solidFill>
                  <a:srgbClr val="A8520A"/>
                </a:solidFill>
                <a:latin typeface="IBM Plex Mono" pitchFamily="49" charset="0"/>
                <a:ea typeface="IBM Plex Mono" pitchFamily="49" charset="-122"/>
                <a:cs typeface="IBM Plex Mono" pitchFamily="49" charset="-120"/>
              </a:rPr>
              <a:t>41–50</a:t>
            </a:r>
            <a:endParaRPr lang="en-US" sz="1300" dirty="0"/>
          </a:p>
        </p:txBody>
      </p:sp>
      <p:sp>
        <p:nvSpPr>
          <p:cNvPr id="9" name="Shape 7"/>
          <p:cNvSpPr/>
          <p:nvPr/>
        </p:nvSpPr>
        <p:spPr>
          <a:xfrm>
            <a:off x="6778625" y="2132211"/>
            <a:ext cx="0" cy="368300"/>
          </a:xfrm>
          <a:prstGeom prst="line">
            <a:avLst/>
          </a:prstGeom>
          <a:noFill/>
          <a:ln w="6350">
            <a:solidFill>
              <a:srgbClr val="E9B98C"/>
            </a:solidFill>
            <a:prstDash val="solid"/>
          </a:ln>
        </p:spPr>
      </p:sp>
      <p:sp>
        <p:nvSpPr>
          <p:cNvPr id="10" name="Text 8"/>
          <p:cNvSpPr/>
          <p:nvPr/>
        </p:nvSpPr>
        <p:spPr>
          <a:xfrm>
            <a:off x="8261350" y="2132211"/>
            <a:ext cx="3111500" cy="368300"/>
          </a:xfrm>
          <a:custGeom>
            <a:avLst/>
            <a:gdLst/>
            <a:ahLst/>
            <a:cxnLst/>
            <a:rect l="l" t="t" r="r" b="b"/>
            <a:pathLst>
              <a:path w="3111500" h="368300">
                <a:moveTo>
                  <a:pt x="3041650" y="0"/>
                </a:moveTo>
                <a:arcTo hR="69850" wR="69850" stAng="16200000" swAng="5400000"/>
                <a:lnTo>
                  <a:pt x="3111500" y="298450"/>
                </a:lnTo>
                <a:arcTo hR="69850" wR="69850" stAng="0" swAng="5400000"/>
                <a:lnTo>
                  <a:pt x="0" y="368300"/>
                </a:lnTo>
                <a:lnTo>
                  <a:pt x="0" y="0"/>
                </a:lnTo>
                <a:close/>
              </a:path>
            </a:pathLst>
          </a:custGeom>
          <a:solidFill>
            <a:srgbClr val="DCE8F4"/>
          </a:solidFill>
          <a:ln/>
        </p:spPr>
        <p:txBody>
          <a:bodyPr wrap="square" lIns="158750" tIns="0" rIns="152400" bIns="0" rtlCol="0" anchor="ctr">
            <a:normAutofit/>
          </a:bodyPr>
          <a:lstStyle/>
          <a:p>
            <a:pPr algn="l" indent="0" marL="0">
              <a:lnSpc>
                <a:spcPts val="1820"/>
              </a:lnSpc>
              <a:buNone/>
            </a:pPr>
            <a:r>
              <a:rPr lang="en-US" sz="1300" b="1" dirty="0">
                <a:solidFill>
                  <a:srgbClr val="0A5CA8"/>
                </a:solidFill>
                <a:latin typeface="IBM Plex Mono" pitchFamily="49" charset="0"/>
                <a:ea typeface="IBM Plex Mono" pitchFamily="49" charset="-122"/>
                <a:cs typeface="IBM Plex Mono" pitchFamily="49" charset="-120"/>
              </a:rPr>
              <a:t>51–71</a:t>
            </a:r>
            <a:endParaRPr lang="en-US" sz="1300" dirty="0"/>
          </a:p>
        </p:txBody>
      </p:sp>
      <p:sp>
        <p:nvSpPr>
          <p:cNvPr id="11" name="Shape 9"/>
          <p:cNvSpPr/>
          <p:nvPr/>
        </p:nvSpPr>
        <p:spPr>
          <a:xfrm>
            <a:off x="8261350" y="2132211"/>
            <a:ext cx="3111500" cy="368300"/>
          </a:xfrm>
          <a:custGeom>
            <a:avLst/>
            <a:gdLst/>
            <a:ahLst/>
            <a:cxnLst/>
            <a:rect l="l" t="t" r="r" b="b"/>
            <a:pathLst>
              <a:path w="3111500" h="368300">
                <a:moveTo>
                  <a:pt x="0" y="0"/>
                </a:moveTo>
                <a:lnTo>
                  <a:pt x="6350" y="0"/>
                </a:lnTo>
                <a:lnTo>
                  <a:pt x="6350" y="368300"/>
                </a:lnTo>
                <a:lnTo>
                  <a:pt x="0" y="368300"/>
                </a:lnTo>
                <a:lnTo>
                  <a:pt x="0" y="0"/>
                </a:lnTo>
                <a:close/>
              </a:path>
            </a:pathLst>
          </a:custGeom>
          <a:solidFill>
            <a:srgbClr val="A9C2DC"/>
          </a:solidFill>
          <a:ln/>
        </p:spPr>
      </p:sp>
      <p:sp>
        <p:nvSpPr>
          <p:cNvPr id="12" name="Shape 10"/>
          <p:cNvSpPr/>
          <p:nvPr/>
        </p:nvSpPr>
        <p:spPr>
          <a:xfrm>
            <a:off x="815975" y="2611636"/>
            <a:ext cx="3414117" cy="963811"/>
          </a:xfrm>
          <a:prstGeom prst="roundRect">
            <a:avLst>
              <a:gd name="adj" fmla="val 8894"/>
            </a:avLst>
          </a:prstGeom>
          <a:solidFill>
            <a:srgbClr val="FCFCFB"/>
          </a:solidFill>
          <a:ln w="6350">
            <a:solidFill>
              <a:srgbClr val="D3DAE1"/>
            </a:solidFill>
            <a:prstDash val="solid"/>
          </a:ln>
        </p:spPr>
      </p:sp>
      <p:sp>
        <p:nvSpPr>
          <p:cNvPr id="13" name="Text 11"/>
          <p:cNvSpPr/>
          <p:nvPr/>
        </p:nvSpPr>
        <p:spPr>
          <a:xfrm>
            <a:off x="996950" y="2754511"/>
            <a:ext cx="3143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Неположен пројекат</a:t>
            </a:r>
            <a:endParaRPr lang="en-US" sz="1400" dirty="0"/>
          </a:p>
        </p:txBody>
      </p:sp>
      <p:sp>
        <p:nvSpPr>
          <p:cNvPr id="14" name="Text 12"/>
          <p:cNvSpPr/>
          <p:nvPr/>
        </p:nvSpPr>
        <p:spPr>
          <a:xfrm>
            <a:off x="996950" y="3005931"/>
            <a:ext cx="31437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Нема услова за позитивну оцену.</a:t>
            </a:r>
            <a:endParaRPr lang="en-US" sz="1200" dirty="0"/>
          </a:p>
        </p:txBody>
      </p:sp>
      <p:sp>
        <p:nvSpPr>
          <p:cNvPr id="15" name="Shape 13"/>
          <p:cNvSpPr/>
          <p:nvPr/>
        </p:nvSpPr>
        <p:spPr>
          <a:xfrm>
            <a:off x="4388842" y="2611636"/>
            <a:ext cx="3414216" cy="963811"/>
          </a:xfrm>
          <a:prstGeom prst="roundRect">
            <a:avLst>
              <a:gd name="adj" fmla="val 8894"/>
            </a:avLst>
          </a:prstGeom>
          <a:solidFill>
            <a:srgbClr val="FCFCFB"/>
          </a:solidFill>
          <a:ln w="6350">
            <a:solidFill>
              <a:srgbClr val="D3DAE1"/>
            </a:solidFill>
            <a:prstDash val="solid"/>
          </a:ln>
        </p:spPr>
      </p:sp>
      <p:sp>
        <p:nvSpPr>
          <p:cNvPr id="16" name="Text 14"/>
          <p:cNvSpPr/>
          <p:nvPr/>
        </p:nvSpPr>
        <p:spPr>
          <a:xfrm>
            <a:off x="4569817" y="275451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Обавезан усмени испит</a:t>
            </a:r>
            <a:endParaRPr lang="en-US" sz="1400" dirty="0"/>
          </a:p>
        </p:txBody>
      </p:sp>
      <p:sp>
        <p:nvSpPr>
          <p:cNvPr id="17" name="Text 15"/>
          <p:cNvSpPr/>
          <p:nvPr/>
        </p:nvSpPr>
        <p:spPr>
          <a:xfrm>
            <a:off x="4569817" y="300593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Потребно је достићи најмање 51 поен укупно.</a:t>
            </a:r>
            <a:endParaRPr lang="en-US" sz="1200" dirty="0"/>
          </a:p>
        </p:txBody>
      </p:sp>
      <p:sp>
        <p:nvSpPr>
          <p:cNvPr id="18" name="Shape 16"/>
          <p:cNvSpPr/>
          <p:nvPr/>
        </p:nvSpPr>
        <p:spPr>
          <a:xfrm>
            <a:off x="7961809" y="2611636"/>
            <a:ext cx="3414216" cy="963811"/>
          </a:xfrm>
          <a:prstGeom prst="roundRect">
            <a:avLst>
              <a:gd name="adj" fmla="val 8894"/>
            </a:avLst>
          </a:prstGeom>
          <a:solidFill>
            <a:srgbClr val="FCFCFB"/>
          </a:solidFill>
          <a:ln w="6350">
            <a:solidFill>
              <a:srgbClr val="D3DAE1"/>
            </a:solidFill>
            <a:prstDash val="solid"/>
          </a:ln>
        </p:spPr>
      </p:sp>
      <p:sp>
        <p:nvSpPr>
          <p:cNvPr id="19" name="Text 17"/>
          <p:cNvSpPr/>
          <p:nvPr/>
        </p:nvSpPr>
        <p:spPr>
          <a:xfrm>
            <a:off x="8142784" y="275451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Упис оцене без усменог</a:t>
            </a:r>
            <a:endParaRPr lang="en-US" sz="1400" dirty="0"/>
          </a:p>
        </p:txBody>
      </p:sp>
      <p:sp>
        <p:nvSpPr>
          <p:cNvPr id="20" name="Text 18"/>
          <p:cNvSpPr/>
          <p:nvPr/>
        </p:nvSpPr>
        <p:spPr>
          <a:xfrm>
            <a:off x="8142784" y="300593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Оцена на основу пројектних поена.</a:t>
            </a:r>
            <a:endParaRPr lang="en-US" sz="1200" dirty="0"/>
          </a:p>
        </p:txBody>
      </p:sp>
      <p:sp>
        <p:nvSpPr>
          <p:cNvPr id="21" name="Text 19"/>
          <p:cNvSpPr/>
          <p:nvPr/>
        </p:nvSpPr>
        <p:spPr>
          <a:xfrm>
            <a:off x="812800" y="380722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СКАЛА ОЦЕЊИВАЊА · УКУПНИ ПОЕНИ</a:t>
            </a:r>
            <a:endParaRPr lang="en-US" sz="1200" dirty="0"/>
          </a:p>
        </p:txBody>
      </p:sp>
      <p:sp>
        <p:nvSpPr>
          <p:cNvPr id="22" name="Shape 20"/>
          <p:cNvSpPr/>
          <p:nvPr/>
        </p:nvSpPr>
        <p:spPr>
          <a:xfrm>
            <a:off x="812800" y="4109442"/>
            <a:ext cx="2032000" cy="629841"/>
          </a:xfrm>
          <a:prstGeom prst="roundRect">
            <a:avLst>
              <a:gd name="adj" fmla="val 14115"/>
            </a:avLst>
          </a:prstGeom>
          <a:solidFill>
            <a:srgbClr val="EBF0F5"/>
          </a:solidFill>
          <a:ln/>
        </p:spPr>
      </p:sp>
      <p:sp>
        <p:nvSpPr>
          <p:cNvPr id="23" name="Text 21"/>
          <p:cNvSpPr/>
          <p:nvPr/>
        </p:nvSpPr>
        <p:spPr>
          <a:xfrm>
            <a:off x="9779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51–60</a:t>
            </a:r>
            <a:endParaRPr lang="en-US" sz="1200" dirty="0"/>
          </a:p>
        </p:txBody>
      </p:sp>
      <p:sp>
        <p:nvSpPr>
          <p:cNvPr id="24" name="Text 22"/>
          <p:cNvSpPr/>
          <p:nvPr/>
        </p:nvSpPr>
        <p:spPr>
          <a:xfrm>
            <a:off x="24459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6</a:t>
            </a:r>
            <a:endParaRPr lang="en-US" sz="2400" dirty="0"/>
          </a:p>
        </p:txBody>
      </p:sp>
      <p:sp>
        <p:nvSpPr>
          <p:cNvPr id="25" name="Shape 23"/>
          <p:cNvSpPr/>
          <p:nvPr/>
        </p:nvSpPr>
        <p:spPr>
          <a:xfrm>
            <a:off x="2946400" y="4109442"/>
            <a:ext cx="2032000" cy="629841"/>
          </a:xfrm>
          <a:prstGeom prst="roundRect">
            <a:avLst>
              <a:gd name="adj" fmla="val 14115"/>
            </a:avLst>
          </a:prstGeom>
          <a:solidFill>
            <a:srgbClr val="EBF0F5"/>
          </a:solidFill>
          <a:ln/>
        </p:spPr>
      </p:sp>
      <p:sp>
        <p:nvSpPr>
          <p:cNvPr id="26" name="Text 24"/>
          <p:cNvSpPr/>
          <p:nvPr/>
        </p:nvSpPr>
        <p:spPr>
          <a:xfrm>
            <a:off x="31115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61–70</a:t>
            </a:r>
            <a:endParaRPr lang="en-US" sz="1200" dirty="0"/>
          </a:p>
        </p:txBody>
      </p:sp>
      <p:sp>
        <p:nvSpPr>
          <p:cNvPr id="27" name="Text 25"/>
          <p:cNvSpPr/>
          <p:nvPr/>
        </p:nvSpPr>
        <p:spPr>
          <a:xfrm>
            <a:off x="45795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7</a:t>
            </a:r>
            <a:endParaRPr lang="en-US" sz="2400" dirty="0"/>
          </a:p>
        </p:txBody>
      </p:sp>
      <p:sp>
        <p:nvSpPr>
          <p:cNvPr id="28" name="Shape 26"/>
          <p:cNvSpPr/>
          <p:nvPr/>
        </p:nvSpPr>
        <p:spPr>
          <a:xfrm>
            <a:off x="5080000" y="4109442"/>
            <a:ext cx="2032000" cy="629841"/>
          </a:xfrm>
          <a:prstGeom prst="roundRect">
            <a:avLst>
              <a:gd name="adj" fmla="val 14115"/>
            </a:avLst>
          </a:prstGeom>
          <a:solidFill>
            <a:srgbClr val="EBF0F5"/>
          </a:solidFill>
          <a:ln/>
        </p:spPr>
      </p:sp>
      <p:sp>
        <p:nvSpPr>
          <p:cNvPr id="29" name="Text 27"/>
          <p:cNvSpPr/>
          <p:nvPr/>
        </p:nvSpPr>
        <p:spPr>
          <a:xfrm>
            <a:off x="52451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71–80</a:t>
            </a:r>
            <a:endParaRPr lang="en-US" sz="1200" dirty="0"/>
          </a:p>
        </p:txBody>
      </p:sp>
      <p:sp>
        <p:nvSpPr>
          <p:cNvPr id="30" name="Text 28"/>
          <p:cNvSpPr/>
          <p:nvPr/>
        </p:nvSpPr>
        <p:spPr>
          <a:xfrm>
            <a:off x="67131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8</a:t>
            </a:r>
            <a:endParaRPr lang="en-US" sz="2400" dirty="0"/>
          </a:p>
        </p:txBody>
      </p:sp>
      <p:sp>
        <p:nvSpPr>
          <p:cNvPr id="31" name="Shape 29"/>
          <p:cNvSpPr/>
          <p:nvPr/>
        </p:nvSpPr>
        <p:spPr>
          <a:xfrm>
            <a:off x="7213600" y="4109442"/>
            <a:ext cx="2032000" cy="629841"/>
          </a:xfrm>
          <a:prstGeom prst="roundRect">
            <a:avLst>
              <a:gd name="adj" fmla="val 14115"/>
            </a:avLst>
          </a:prstGeom>
          <a:solidFill>
            <a:srgbClr val="EBF0F5"/>
          </a:solidFill>
          <a:ln/>
        </p:spPr>
      </p:sp>
      <p:sp>
        <p:nvSpPr>
          <p:cNvPr id="32" name="Text 30"/>
          <p:cNvSpPr/>
          <p:nvPr/>
        </p:nvSpPr>
        <p:spPr>
          <a:xfrm>
            <a:off x="73787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81–90</a:t>
            </a:r>
            <a:endParaRPr lang="en-US" sz="1200" dirty="0"/>
          </a:p>
        </p:txBody>
      </p:sp>
      <p:sp>
        <p:nvSpPr>
          <p:cNvPr id="33" name="Text 31"/>
          <p:cNvSpPr/>
          <p:nvPr/>
        </p:nvSpPr>
        <p:spPr>
          <a:xfrm>
            <a:off x="88467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9</a:t>
            </a:r>
            <a:endParaRPr lang="en-US" sz="2400" dirty="0"/>
          </a:p>
        </p:txBody>
      </p:sp>
      <p:sp>
        <p:nvSpPr>
          <p:cNvPr id="34" name="Shape 32"/>
          <p:cNvSpPr/>
          <p:nvPr/>
        </p:nvSpPr>
        <p:spPr>
          <a:xfrm>
            <a:off x="9347200" y="4109442"/>
            <a:ext cx="2032000" cy="629841"/>
          </a:xfrm>
          <a:prstGeom prst="roundRect">
            <a:avLst>
              <a:gd name="adj" fmla="val 14115"/>
            </a:avLst>
          </a:prstGeom>
          <a:solidFill>
            <a:srgbClr val="0A5CA8"/>
          </a:solidFill>
          <a:ln/>
        </p:spPr>
      </p:sp>
      <p:sp>
        <p:nvSpPr>
          <p:cNvPr id="35" name="Text 33"/>
          <p:cNvSpPr/>
          <p:nvPr/>
        </p:nvSpPr>
        <p:spPr>
          <a:xfrm>
            <a:off x="9512300" y="4317702"/>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8F4"/>
                </a:solidFill>
                <a:latin typeface="IBM Plex Mono" pitchFamily="49" charset="0"/>
                <a:ea typeface="IBM Plex Mono" pitchFamily="49" charset="-122"/>
                <a:cs typeface="IBM Plex Mono" pitchFamily="49" charset="-120"/>
              </a:rPr>
              <a:t>91–100</a:t>
            </a:r>
            <a:endParaRPr lang="en-US" sz="1200" dirty="0"/>
          </a:p>
        </p:txBody>
      </p:sp>
      <p:sp>
        <p:nvSpPr>
          <p:cNvPr id="36" name="Text 34"/>
          <p:cNvSpPr/>
          <p:nvPr/>
        </p:nvSpPr>
        <p:spPr>
          <a:xfrm>
            <a:off x="10775117" y="4211042"/>
            <a:ext cx="438983"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FCFCFB"/>
                </a:solidFill>
                <a:latin typeface="IBM Plex Mono" pitchFamily="49" charset="0"/>
                <a:ea typeface="IBM Plex Mono" pitchFamily="49" charset="-122"/>
                <a:cs typeface="IBM Plex Mono" pitchFamily="49" charset="-120"/>
              </a:rPr>
              <a:t>10</a:t>
            </a:r>
            <a:endParaRPr lang="en-US" sz="24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ОЦЕЊИВАЊЕ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Пројектне обавезе и расподела поена</a:t>
            </a:r>
            <a:endParaRPr lang="en-US" sz="3000" dirty="0"/>
          </a:p>
        </p:txBody>
      </p:sp>
      <p:sp>
        <p:nvSpPr>
          <p:cNvPr id="5" name="Text 3"/>
          <p:cNvSpPr/>
          <p:nvPr/>
        </p:nvSpPr>
        <p:spPr>
          <a:xfrm>
            <a:off x="838200" y="1623020"/>
            <a:ext cx="18745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ОСНОВНЕ ОБАВЕЗЕ</a:t>
            </a:r>
            <a:endParaRPr lang="en-US" sz="1200" dirty="0"/>
          </a:p>
        </p:txBody>
      </p:sp>
      <p:sp>
        <p:nvSpPr>
          <p:cNvPr id="6" name="Text 4"/>
          <p:cNvSpPr/>
          <p:nvPr/>
        </p:nvSpPr>
        <p:spPr>
          <a:xfrm>
            <a:off x="5040352" y="1623020"/>
            <a:ext cx="87784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37 поена</a:t>
            </a:r>
            <a:endParaRPr lang="en-US" sz="1200" dirty="0"/>
          </a:p>
        </p:txBody>
      </p:sp>
      <p:sp>
        <p:nvSpPr>
          <p:cNvPr id="7" name="Shape 5"/>
          <p:cNvSpPr/>
          <p:nvPr/>
        </p:nvSpPr>
        <p:spPr>
          <a:xfrm>
            <a:off x="815975" y="1941116"/>
            <a:ext cx="5124450" cy="468610"/>
          </a:xfrm>
          <a:prstGeom prst="roundRect">
            <a:avLst>
              <a:gd name="adj" fmla="val 15583"/>
            </a:avLst>
          </a:prstGeom>
          <a:solidFill>
            <a:srgbClr val="FCFCFB"/>
          </a:solidFill>
          <a:ln w="6350">
            <a:solidFill>
              <a:srgbClr val="D3DAE1"/>
            </a:solidFill>
            <a:prstDash val="solid"/>
          </a:ln>
        </p:spPr>
      </p:sp>
      <p:sp>
        <p:nvSpPr>
          <p:cNvPr id="8" name="Text 6"/>
          <p:cNvSpPr/>
          <p:nvPr/>
        </p:nvSpPr>
        <p:spPr>
          <a:xfrm>
            <a:off x="971550" y="2068116"/>
            <a:ext cx="4447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Tapiz Boards, Agile и Scrum</a:t>
            </a:r>
            <a:endParaRPr lang="en-US" sz="1300" dirty="0"/>
          </a:p>
        </p:txBody>
      </p:sp>
      <p:sp>
        <p:nvSpPr>
          <p:cNvPr id="9" name="Text 7"/>
          <p:cNvSpPr/>
          <p:nvPr/>
        </p:nvSpPr>
        <p:spPr>
          <a:xfrm>
            <a:off x="5353050" y="203319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10</a:t>
            </a:r>
            <a:endParaRPr lang="en-US" sz="1600" dirty="0"/>
          </a:p>
        </p:txBody>
      </p:sp>
      <p:sp>
        <p:nvSpPr>
          <p:cNvPr id="10" name="Shape 8"/>
          <p:cNvSpPr/>
          <p:nvPr/>
        </p:nvSpPr>
        <p:spPr>
          <a:xfrm>
            <a:off x="815975" y="2479576"/>
            <a:ext cx="5124450" cy="468610"/>
          </a:xfrm>
          <a:prstGeom prst="roundRect">
            <a:avLst>
              <a:gd name="adj" fmla="val 15583"/>
            </a:avLst>
          </a:prstGeom>
          <a:solidFill>
            <a:srgbClr val="FCFCFB"/>
          </a:solidFill>
          <a:ln w="6350">
            <a:solidFill>
              <a:srgbClr val="D3DAE1"/>
            </a:solidFill>
            <a:prstDash val="solid"/>
          </a:ln>
        </p:spPr>
      </p:sp>
      <p:sp>
        <p:nvSpPr>
          <p:cNvPr id="11" name="Text 9"/>
          <p:cNvSpPr/>
          <p:nvPr/>
        </p:nvSpPr>
        <p:spPr>
          <a:xfrm>
            <a:off x="971550" y="2594471"/>
            <a:ext cx="401340" cy="238720"/>
          </a:xfrm>
          <a:prstGeom prst="roundRect">
            <a:avLst>
              <a:gd name="adj" fmla="val 15960"/>
            </a:avLst>
          </a:pr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КТ1</a:t>
            </a:r>
            <a:endParaRPr lang="en-US" sz="1200" dirty="0"/>
          </a:p>
        </p:txBody>
      </p:sp>
      <p:sp>
        <p:nvSpPr>
          <p:cNvPr id="12" name="Text 10"/>
          <p:cNvSpPr/>
          <p:nvPr/>
        </p:nvSpPr>
        <p:spPr>
          <a:xfrm>
            <a:off x="1487190" y="2606576"/>
            <a:ext cx="391643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Проблем, backlog и развојни ток</a:t>
            </a:r>
            <a:endParaRPr lang="en-US" sz="1300" dirty="0"/>
          </a:p>
        </p:txBody>
      </p:sp>
      <p:sp>
        <p:nvSpPr>
          <p:cNvPr id="13" name="Text 11"/>
          <p:cNvSpPr/>
          <p:nvPr/>
        </p:nvSpPr>
        <p:spPr>
          <a:xfrm>
            <a:off x="5353050" y="257165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3</a:t>
            </a:r>
            <a:endParaRPr lang="en-US" sz="1600" dirty="0"/>
          </a:p>
        </p:txBody>
      </p:sp>
      <p:sp>
        <p:nvSpPr>
          <p:cNvPr id="14" name="Shape 12"/>
          <p:cNvSpPr/>
          <p:nvPr/>
        </p:nvSpPr>
        <p:spPr>
          <a:xfrm>
            <a:off x="815975" y="3018036"/>
            <a:ext cx="5124450" cy="468610"/>
          </a:xfrm>
          <a:prstGeom prst="roundRect">
            <a:avLst>
              <a:gd name="adj" fmla="val 15583"/>
            </a:avLst>
          </a:prstGeom>
          <a:solidFill>
            <a:srgbClr val="FCFCFB"/>
          </a:solidFill>
          <a:ln w="6350">
            <a:solidFill>
              <a:srgbClr val="D3DAE1"/>
            </a:solidFill>
            <a:prstDash val="solid"/>
          </a:ln>
        </p:spPr>
      </p:sp>
      <p:sp>
        <p:nvSpPr>
          <p:cNvPr id="15" name="Text 13"/>
          <p:cNvSpPr/>
          <p:nvPr/>
        </p:nvSpPr>
        <p:spPr>
          <a:xfrm>
            <a:off x="971550" y="3145036"/>
            <a:ext cx="4447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SOLID принципи и Clean Architecture</a:t>
            </a:r>
            <a:endParaRPr lang="en-US" sz="1300" dirty="0"/>
          </a:p>
        </p:txBody>
      </p:sp>
      <p:sp>
        <p:nvSpPr>
          <p:cNvPr id="16" name="Text 14"/>
          <p:cNvSpPr/>
          <p:nvPr/>
        </p:nvSpPr>
        <p:spPr>
          <a:xfrm>
            <a:off x="5353050" y="311011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16</a:t>
            </a:r>
            <a:endParaRPr lang="en-US" sz="1600" dirty="0"/>
          </a:p>
        </p:txBody>
      </p:sp>
      <p:sp>
        <p:nvSpPr>
          <p:cNvPr id="17" name="Shape 15"/>
          <p:cNvSpPr/>
          <p:nvPr/>
        </p:nvSpPr>
        <p:spPr>
          <a:xfrm>
            <a:off x="815975" y="3556496"/>
            <a:ext cx="5124450" cy="468610"/>
          </a:xfrm>
          <a:prstGeom prst="roundRect">
            <a:avLst>
              <a:gd name="adj" fmla="val 15583"/>
            </a:avLst>
          </a:prstGeom>
          <a:solidFill>
            <a:srgbClr val="FCFCFB"/>
          </a:solidFill>
          <a:ln w="6350">
            <a:solidFill>
              <a:srgbClr val="D3DAE1"/>
            </a:solidFill>
            <a:prstDash val="solid"/>
          </a:ln>
        </p:spPr>
      </p:sp>
      <p:sp>
        <p:nvSpPr>
          <p:cNvPr id="18" name="Text 16"/>
          <p:cNvSpPr/>
          <p:nvPr/>
        </p:nvSpPr>
        <p:spPr>
          <a:xfrm>
            <a:off x="971550" y="3671391"/>
            <a:ext cx="401340" cy="238720"/>
          </a:xfrm>
          <a:prstGeom prst="roundRect">
            <a:avLst>
              <a:gd name="adj" fmla="val 15960"/>
            </a:avLst>
          </a:pr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КТ2</a:t>
            </a:r>
            <a:endParaRPr lang="en-US" sz="1200" dirty="0"/>
          </a:p>
        </p:txBody>
      </p:sp>
      <p:sp>
        <p:nvSpPr>
          <p:cNvPr id="19" name="Text 17"/>
          <p:cNvSpPr/>
          <p:nvPr/>
        </p:nvSpPr>
        <p:spPr>
          <a:xfrm>
            <a:off x="1487190" y="3683496"/>
            <a:ext cx="391643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Архитектура и функционално језгро</a:t>
            </a:r>
            <a:endParaRPr lang="en-US" sz="1300" dirty="0"/>
          </a:p>
        </p:txBody>
      </p:sp>
      <p:sp>
        <p:nvSpPr>
          <p:cNvPr id="20" name="Text 18"/>
          <p:cNvSpPr/>
          <p:nvPr/>
        </p:nvSpPr>
        <p:spPr>
          <a:xfrm>
            <a:off x="5353050" y="364857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3</a:t>
            </a:r>
            <a:endParaRPr lang="en-US" sz="1600" dirty="0"/>
          </a:p>
        </p:txBody>
      </p:sp>
      <p:sp>
        <p:nvSpPr>
          <p:cNvPr id="21" name="Shape 19"/>
          <p:cNvSpPr/>
          <p:nvPr/>
        </p:nvSpPr>
        <p:spPr>
          <a:xfrm>
            <a:off x="815975" y="4094956"/>
            <a:ext cx="5124450" cy="468610"/>
          </a:xfrm>
          <a:prstGeom prst="roundRect">
            <a:avLst>
              <a:gd name="adj" fmla="val 15583"/>
            </a:avLst>
          </a:prstGeom>
          <a:solidFill>
            <a:srgbClr val="FCFCFB"/>
          </a:solidFill>
          <a:ln w="6350">
            <a:solidFill>
              <a:srgbClr val="D3DAE1"/>
            </a:solidFill>
            <a:prstDash val="solid"/>
          </a:ln>
        </p:spPr>
      </p:sp>
      <p:sp>
        <p:nvSpPr>
          <p:cNvPr id="22" name="Text 20"/>
          <p:cNvSpPr/>
          <p:nvPr/>
        </p:nvSpPr>
        <p:spPr>
          <a:xfrm>
            <a:off x="971550" y="4221956"/>
            <a:ext cx="4447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Пословна логика и аутоматизовано тестирање</a:t>
            </a:r>
            <a:endParaRPr lang="en-US" sz="1300" dirty="0"/>
          </a:p>
        </p:txBody>
      </p:sp>
      <p:sp>
        <p:nvSpPr>
          <p:cNvPr id="23" name="Text 21"/>
          <p:cNvSpPr/>
          <p:nvPr/>
        </p:nvSpPr>
        <p:spPr>
          <a:xfrm>
            <a:off x="5353050" y="418703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5</a:t>
            </a:r>
            <a:endParaRPr lang="en-US" sz="1600" dirty="0"/>
          </a:p>
        </p:txBody>
      </p:sp>
      <p:sp>
        <p:nvSpPr>
          <p:cNvPr id="24" name="Text 22"/>
          <p:cNvSpPr/>
          <p:nvPr/>
        </p:nvSpPr>
        <p:spPr>
          <a:xfrm>
            <a:off x="6273800" y="1623020"/>
            <a:ext cx="26243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ПРОВЕРЕ И ИНТЕГРАЦИЈА</a:t>
            </a:r>
            <a:endParaRPr lang="en-US" sz="1200" dirty="0"/>
          </a:p>
        </p:txBody>
      </p:sp>
      <p:sp>
        <p:nvSpPr>
          <p:cNvPr id="25" name="Text 23"/>
          <p:cNvSpPr/>
          <p:nvPr/>
        </p:nvSpPr>
        <p:spPr>
          <a:xfrm>
            <a:off x="10475952" y="1623020"/>
            <a:ext cx="87784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34 поена</a:t>
            </a:r>
            <a:endParaRPr lang="en-US" sz="1200" dirty="0"/>
          </a:p>
        </p:txBody>
      </p:sp>
      <p:sp>
        <p:nvSpPr>
          <p:cNvPr id="26" name="Shape 24"/>
          <p:cNvSpPr/>
          <p:nvPr/>
        </p:nvSpPr>
        <p:spPr>
          <a:xfrm>
            <a:off x="6251575" y="1941116"/>
            <a:ext cx="5124450" cy="468610"/>
          </a:xfrm>
          <a:prstGeom prst="roundRect">
            <a:avLst>
              <a:gd name="adj" fmla="val 15583"/>
            </a:avLst>
          </a:prstGeom>
          <a:solidFill>
            <a:srgbClr val="FCFCFB"/>
          </a:solidFill>
          <a:ln w="6350">
            <a:solidFill>
              <a:srgbClr val="D3DAE1"/>
            </a:solidFill>
            <a:prstDash val="solid"/>
          </a:ln>
        </p:spPr>
      </p:sp>
      <p:sp>
        <p:nvSpPr>
          <p:cNvPr id="27" name="Text 25"/>
          <p:cNvSpPr/>
          <p:nvPr/>
        </p:nvSpPr>
        <p:spPr>
          <a:xfrm>
            <a:off x="6407150" y="2056011"/>
            <a:ext cx="401340" cy="238720"/>
          </a:xfrm>
          <a:prstGeom prst="roundRect">
            <a:avLst>
              <a:gd name="adj" fmla="val 15960"/>
            </a:avLst>
          </a:pr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КТ3</a:t>
            </a:r>
            <a:endParaRPr lang="en-US" sz="1200" dirty="0"/>
          </a:p>
        </p:txBody>
      </p:sp>
      <p:sp>
        <p:nvSpPr>
          <p:cNvPr id="28" name="Text 26"/>
          <p:cNvSpPr/>
          <p:nvPr/>
        </p:nvSpPr>
        <p:spPr>
          <a:xfrm>
            <a:off x="6922790" y="2068116"/>
            <a:ext cx="391643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Тестирање и стабилна верзија функц. језгра</a:t>
            </a:r>
            <a:endParaRPr lang="en-US" sz="1300" dirty="0"/>
          </a:p>
        </p:txBody>
      </p:sp>
      <p:sp>
        <p:nvSpPr>
          <p:cNvPr id="29" name="Text 27"/>
          <p:cNvSpPr/>
          <p:nvPr/>
        </p:nvSpPr>
        <p:spPr>
          <a:xfrm>
            <a:off x="10788650" y="203319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6</a:t>
            </a:r>
            <a:endParaRPr lang="en-US" sz="1600" dirty="0"/>
          </a:p>
        </p:txBody>
      </p:sp>
      <p:sp>
        <p:nvSpPr>
          <p:cNvPr id="30" name="Shape 28"/>
          <p:cNvSpPr/>
          <p:nvPr/>
        </p:nvSpPr>
        <p:spPr>
          <a:xfrm>
            <a:off x="6251575" y="2479576"/>
            <a:ext cx="5124450" cy="468610"/>
          </a:xfrm>
          <a:prstGeom prst="roundRect">
            <a:avLst>
              <a:gd name="adj" fmla="val 15583"/>
            </a:avLst>
          </a:prstGeom>
          <a:solidFill>
            <a:srgbClr val="FCFCFB"/>
          </a:solidFill>
          <a:ln w="6350">
            <a:solidFill>
              <a:srgbClr val="D3DAE1"/>
            </a:solidFill>
            <a:prstDash val="solid"/>
          </a:ln>
        </p:spPr>
      </p:sp>
      <p:sp>
        <p:nvSpPr>
          <p:cNvPr id="31" name="Text 29"/>
          <p:cNvSpPr/>
          <p:nvPr/>
        </p:nvSpPr>
        <p:spPr>
          <a:xfrm>
            <a:off x="6407150" y="2606576"/>
            <a:ext cx="4447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Интероперабилност и усклађеност уговорних страна</a:t>
            </a:r>
            <a:endParaRPr lang="en-US" sz="1300" dirty="0"/>
          </a:p>
        </p:txBody>
      </p:sp>
      <p:sp>
        <p:nvSpPr>
          <p:cNvPr id="32" name="Text 30"/>
          <p:cNvSpPr/>
          <p:nvPr/>
        </p:nvSpPr>
        <p:spPr>
          <a:xfrm>
            <a:off x="10788650" y="257165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10</a:t>
            </a:r>
            <a:endParaRPr lang="en-US" sz="1600" dirty="0"/>
          </a:p>
        </p:txBody>
      </p:sp>
      <p:sp>
        <p:nvSpPr>
          <p:cNvPr id="33" name="Shape 31"/>
          <p:cNvSpPr/>
          <p:nvPr/>
        </p:nvSpPr>
        <p:spPr>
          <a:xfrm>
            <a:off x="6251575" y="3018036"/>
            <a:ext cx="5124450" cy="468610"/>
          </a:xfrm>
          <a:prstGeom prst="roundRect">
            <a:avLst>
              <a:gd name="adj" fmla="val 15583"/>
            </a:avLst>
          </a:prstGeom>
          <a:solidFill>
            <a:srgbClr val="FCFCFB"/>
          </a:solidFill>
          <a:ln w="6350">
            <a:solidFill>
              <a:srgbClr val="D3DAE1"/>
            </a:solidFill>
            <a:prstDash val="solid"/>
          </a:ln>
        </p:spPr>
      </p:sp>
      <p:sp>
        <p:nvSpPr>
          <p:cNvPr id="34" name="Text 32"/>
          <p:cNvSpPr/>
          <p:nvPr/>
        </p:nvSpPr>
        <p:spPr>
          <a:xfrm>
            <a:off x="6407150" y="3145036"/>
            <a:ext cx="444754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Правилна и контролисана употреба AI алата</a:t>
            </a:r>
            <a:endParaRPr lang="en-US" sz="1300" dirty="0"/>
          </a:p>
        </p:txBody>
      </p:sp>
      <p:sp>
        <p:nvSpPr>
          <p:cNvPr id="35" name="Text 33"/>
          <p:cNvSpPr/>
          <p:nvPr/>
        </p:nvSpPr>
        <p:spPr>
          <a:xfrm>
            <a:off x="10788650" y="311011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10</a:t>
            </a:r>
            <a:endParaRPr lang="en-US" sz="1600" dirty="0"/>
          </a:p>
        </p:txBody>
      </p:sp>
      <p:sp>
        <p:nvSpPr>
          <p:cNvPr id="36" name="Shape 34"/>
          <p:cNvSpPr/>
          <p:nvPr/>
        </p:nvSpPr>
        <p:spPr>
          <a:xfrm>
            <a:off x="6251575" y="3556496"/>
            <a:ext cx="5124450" cy="468610"/>
          </a:xfrm>
          <a:prstGeom prst="roundRect">
            <a:avLst>
              <a:gd name="adj" fmla="val 15583"/>
            </a:avLst>
          </a:prstGeom>
          <a:solidFill>
            <a:srgbClr val="FCFCFB"/>
          </a:solidFill>
          <a:ln w="6350">
            <a:solidFill>
              <a:srgbClr val="D3DAE1"/>
            </a:solidFill>
            <a:prstDash val="solid"/>
          </a:ln>
        </p:spPr>
      </p:sp>
      <p:sp>
        <p:nvSpPr>
          <p:cNvPr id="37" name="Text 35"/>
          <p:cNvSpPr/>
          <p:nvPr/>
        </p:nvSpPr>
        <p:spPr>
          <a:xfrm>
            <a:off x="6407150" y="3671391"/>
            <a:ext cx="401340" cy="238720"/>
          </a:xfrm>
          <a:prstGeom prst="roundRect">
            <a:avLst>
              <a:gd name="adj" fmla="val 15960"/>
            </a:avLst>
          </a:pr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КТ4</a:t>
            </a:r>
            <a:endParaRPr lang="en-US" sz="1200" dirty="0"/>
          </a:p>
        </p:txBody>
      </p:sp>
      <p:sp>
        <p:nvSpPr>
          <p:cNvPr id="38" name="Text 36"/>
          <p:cNvSpPr/>
          <p:nvPr/>
        </p:nvSpPr>
        <p:spPr>
          <a:xfrm>
            <a:off x="6922790" y="3683496"/>
            <a:ext cx="391643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3202D"/>
                </a:solidFill>
                <a:latin typeface="IBM Plex Sans" pitchFamily="34" charset="0"/>
                <a:ea typeface="IBM Plex Sans" pitchFamily="34" charset="-122"/>
                <a:cs typeface="IBM Plex Sans" pitchFamily="34" charset="-120"/>
              </a:rPr>
              <a:t>Развојни ток уз AI алате и завршна одбрана</a:t>
            </a:r>
            <a:endParaRPr lang="en-US" sz="1300" dirty="0"/>
          </a:p>
        </p:txBody>
      </p:sp>
      <p:sp>
        <p:nvSpPr>
          <p:cNvPr id="39" name="Text 37"/>
          <p:cNvSpPr/>
          <p:nvPr/>
        </p:nvSpPr>
        <p:spPr>
          <a:xfrm>
            <a:off x="10788650" y="3648571"/>
            <a:ext cx="431800"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8</a:t>
            </a:r>
            <a:endParaRPr lang="en-US" sz="1600" dirty="0"/>
          </a:p>
        </p:txBody>
      </p:sp>
      <p:sp>
        <p:nvSpPr>
          <p:cNvPr id="40" name="Shape 38"/>
          <p:cNvSpPr/>
          <p:nvPr/>
        </p:nvSpPr>
        <p:spPr>
          <a:xfrm>
            <a:off x="812800" y="4769941"/>
            <a:ext cx="10566400" cy="548580"/>
          </a:xfrm>
          <a:prstGeom prst="roundRect">
            <a:avLst>
              <a:gd name="adj" fmla="val 16205"/>
            </a:avLst>
          </a:prstGeom>
          <a:solidFill>
            <a:srgbClr val="0A5CA8"/>
          </a:solidFill>
          <a:ln/>
        </p:spPr>
      </p:sp>
      <p:sp>
        <p:nvSpPr>
          <p:cNvPr id="41" name="Text 39"/>
          <p:cNvSpPr/>
          <p:nvPr/>
        </p:nvSpPr>
        <p:spPr>
          <a:xfrm>
            <a:off x="1016000" y="4928691"/>
            <a:ext cx="2950488"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DCE8F4"/>
                </a:solidFill>
                <a:latin typeface="IBM Plex Mono" pitchFamily="49" charset="0"/>
                <a:ea typeface="IBM Plex Mono" pitchFamily="49" charset="-122"/>
                <a:cs typeface="IBM Plex Mono" pitchFamily="49" charset="-120"/>
              </a:rPr>
              <a:t>УКУПНО · ПРОЈЕКТНИ ДЕО</a:t>
            </a:r>
            <a:endParaRPr lang="en-US" sz="1300" dirty="0"/>
          </a:p>
        </p:txBody>
      </p:sp>
      <p:sp>
        <p:nvSpPr>
          <p:cNvPr id="42" name="Text 40"/>
          <p:cNvSpPr/>
          <p:nvPr/>
        </p:nvSpPr>
        <p:spPr>
          <a:xfrm>
            <a:off x="10023832" y="4884241"/>
            <a:ext cx="1152168" cy="34538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FCFCFB"/>
                </a:solidFill>
                <a:latin typeface="IBM Plex Mono" pitchFamily="49" charset="0"/>
                <a:ea typeface="IBM Plex Mono" pitchFamily="49" charset="-122"/>
                <a:cs typeface="IBM Plex Mono" pitchFamily="49" charset="-120"/>
              </a:rPr>
              <a:t>71 поен</a:t>
            </a:r>
            <a:endParaRPr lang="en-US" sz="18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ОЦЕЊИВАЊЕ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Контролне тачке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Четири контролне тачке проверавају напредак и разумевање пројектног решења.</a:t>
            </a:r>
            <a:endParaRPr lang="en-US" sz="1400" dirty="0"/>
          </a:p>
        </p:txBody>
      </p:sp>
      <p:sp>
        <p:nvSpPr>
          <p:cNvPr id="6" name="Shape 4"/>
          <p:cNvSpPr/>
          <p:nvPr/>
        </p:nvSpPr>
        <p:spPr>
          <a:xfrm>
            <a:off x="815975" y="2179836"/>
            <a:ext cx="2311400" cy="1806972"/>
          </a:xfrm>
          <a:prstGeom prst="roundRect">
            <a:avLst>
              <a:gd name="adj" fmla="val 5447"/>
            </a:avLst>
          </a:prstGeom>
          <a:solidFill>
            <a:srgbClr val="FCFCFB"/>
          </a:solidFill>
          <a:ln w="6350">
            <a:solidFill>
              <a:srgbClr val="D3DAE1"/>
            </a:solidFill>
            <a:prstDash val="solid"/>
          </a:ln>
        </p:spPr>
      </p:sp>
      <p:sp>
        <p:nvSpPr>
          <p:cNvPr id="7" name="Text 5"/>
          <p:cNvSpPr/>
          <p:nvPr/>
        </p:nvSpPr>
        <p:spPr>
          <a:xfrm>
            <a:off x="996950" y="2348111"/>
            <a:ext cx="200793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КТ1</a:t>
            </a:r>
            <a:endParaRPr lang="en-US" sz="1600" dirty="0"/>
          </a:p>
        </p:txBody>
      </p:sp>
      <p:sp>
        <p:nvSpPr>
          <p:cNvPr id="8" name="Text 6"/>
          <p:cNvSpPr/>
          <p:nvPr/>
        </p:nvSpPr>
        <p:spPr>
          <a:xfrm>
            <a:off x="996950" y="2708771"/>
            <a:ext cx="2007933"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Проблем, backlog и развојни ток</a:t>
            </a:r>
            <a:endParaRPr lang="en-US" sz="1400" dirty="0"/>
          </a:p>
        </p:txBody>
      </p:sp>
      <p:sp>
        <p:nvSpPr>
          <p:cNvPr id="9" name="Text 7"/>
          <p:cNvSpPr/>
          <p:nvPr/>
        </p:nvSpPr>
        <p:spPr>
          <a:xfrm>
            <a:off x="996950" y="3554413"/>
            <a:ext cx="817959" cy="264120"/>
          </a:xfrm>
          <a:custGeom>
            <a:avLst/>
            <a:gdLst/>
            <a:ahLst/>
            <a:cxnLst/>
            <a:rect l="l" t="t" r="r" b="b"/>
            <a:pathLst>
              <a:path w="817959" h="264120">
                <a:moveTo>
                  <a:pt x="132060" y="0"/>
                </a:moveTo>
                <a:lnTo>
                  <a:pt x="685899" y="0"/>
                </a:lnTo>
                <a:arcTo hR="132060" wR="132060" stAng="16200000" swAng="5400000"/>
                <a:lnTo>
                  <a:pt x="817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3 поена</a:t>
            </a:r>
            <a:endParaRPr lang="en-US" sz="1200" dirty="0"/>
          </a:p>
        </p:txBody>
      </p:sp>
      <p:pic>
        <p:nvPicPr>
          <p:cNvPr id="10" name="Image 0" descr="arrow-right">    </p:cNvPr>
          <p:cNvPicPr>
            <a:picLocks noChangeAspect="1"/>
          </p:cNvPicPr>
          <p:nvPr/>
        </p:nvPicPr>
        <p:blipFill>
          <a:blip r:embed="rId1"/>
          <a:srcRect l="0" r="0" t="0" b="0"/>
          <a:stretch/>
        </p:blipFill>
        <p:spPr>
          <a:xfrm>
            <a:off x="3232150" y="3026172"/>
            <a:ext cx="228600" cy="114300"/>
          </a:xfrm>
          <a:prstGeom prst="rect">
            <a:avLst/>
          </a:prstGeom>
        </p:spPr>
      </p:pic>
      <p:sp>
        <p:nvSpPr>
          <p:cNvPr id="11" name="Shape 8"/>
          <p:cNvSpPr/>
          <p:nvPr/>
        </p:nvSpPr>
        <p:spPr>
          <a:xfrm>
            <a:off x="3565525" y="2179836"/>
            <a:ext cx="2311400" cy="1806972"/>
          </a:xfrm>
          <a:prstGeom prst="roundRect">
            <a:avLst>
              <a:gd name="adj" fmla="val 5447"/>
            </a:avLst>
          </a:prstGeom>
          <a:solidFill>
            <a:srgbClr val="FCFCFB"/>
          </a:solidFill>
          <a:ln w="6350">
            <a:solidFill>
              <a:srgbClr val="D3DAE1"/>
            </a:solidFill>
            <a:prstDash val="solid"/>
          </a:ln>
        </p:spPr>
      </p:sp>
      <p:sp>
        <p:nvSpPr>
          <p:cNvPr id="12" name="Text 9"/>
          <p:cNvSpPr/>
          <p:nvPr/>
        </p:nvSpPr>
        <p:spPr>
          <a:xfrm>
            <a:off x="3746500" y="2348111"/>
            <a:ext cx="200793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КТ2</a:t>
            </a:r>
            <a:endParaRPr lang="en-US" sz="1600" dirty="0"/>
          </a:p>
        </p:txBody>
      </p:sp>
      <p:sp>
        <p:nvSpPr>
          <p:cNvPr id="13" name="Text 10"/>
          <p:cNvSpPr/>
          <p:nvPr/>
        </p:nvSpPr>
        <p:spPr>
          <a:xfrm>
            <a:off x="3746500" y="2708771"/>
            <a:ext cx="2007933"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Архитектура и функционално језгро</a:t>
            </a:r>
            <a:endParaRPr lang="en-US" sz="1400" dirty="0"/>
          </a:p>
        </p:txBody>
      </p:sp>
      <p:sp>
        <p:nvSpPr>
          <p:cNvPr id="14" name="Text 11"/>
          <p:cNvSpPr/>
          <p:nvPr/>
        </p:nvSpPr>
        <p:spPr>
          <a:xfrm>
            <a:off x="3746500" y="3554413"/>
            <a:ext cx="817959" cy="264120"/>
          </a:xfrm>
          <a:custGeom>
            <a:avLst/>
            <a:gdLst/>
            <a:ahLst/>
            <a:cxnLst/>
            <a:rect l="l" t="t" r="r" b="b"/>
            <a:pathLst>
              <a:path w="817959" h="264120">
                <a:moveTo>
                  <a:pt x="132060" y="0"/>
                </a:moveTo>
                <a:lnTo>
                  <a:pt x="685899" y="0"/>
                </a:lnTo>
                <a:arcTo hR="132060" wR="132060" stAng="16200000" swAng="5400000"/>
                <a:lnTo>
                  <a:pt x="817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3 поена</a:t>
            </a:r>
            <a:endParaRPr lang="en-US" sz="1200" dirty="0"/>
          </a:p>
        </p:txBody>
      </p:sp>
      <p:pic>
        <p:nvPicPr>
          <p:cNvPr id="15" name="Image 1" descr="arrow-right">    </p:cNvPr>
          <p:cNvPicPr>
            <a:picLocks noChangeAspect="1"/>
          </p:cNvPicPr>
          <p:nvPr/>
        </p:nvPicPr>
        <p:blipFill>
          <a:blip r:embed="rId2"/>
          <a:srcRect l="0" r="0" t="0" b="0"/>
          <a:stretch/>
        </p:blipFill>
        <p:spPr>
          <a:xfrm>
            <a:off x="5981700" y="3026172"/>
            <a:ext cx="228600" cy="114300"/>
          </a:xfrm>
          <a:prstGeom prst="rect">
            <a:avLst/>
          </a:prstGeom>
        </p:spPr>
      </p:pic>
      <p:sp>
        <p:nvSpPr>
          <p:cNvPr id="16" name="Shape 12"/>
          <p:cNvSpPr/>
          <p:nvPr/>
        </p:nvSpPr>
        <p:spPr>
          <a:xfrm>
            <a:off x="6315075" y="2179836"/>
            <a:ext cx="2311400" cy="1806972"/>
          </a:xfrm>
          <a:prstGeom prst="roundRect">
            <a:avLst>
              <a:gd name="adj" fmla="val 5447"/>
            </a:avLst>
          </a:prstGeom>
          <a:solidFill>
            <a:srgbClr val="FCFCFB"/>
          </a:solidFill>
          <a:ln w="6350">
            <a:solidFill>
              <a:srgbClr val="D3DAE1"/>
            </a:solidFill>
            <a:prstDash val="solid"/>
          </a:ln>
        </p:spPr>
      </p:sp>
      <p:sp>
        <p:nvSpPr>
          <p:cNvPr id="17" name="Text 13"/>
          <p:cNvSpPr/>
          <p:nvPr/>
        </p:nvSpPr>
        <p:spPr>
          <a:xfrm>
            <a:off x="6496050" y="2348111"/>
            <a:ext cx="200793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КТ3</a:t>
            </a:r>
            <a:endParaRPr lang="en-US" sz="1600" dirty="0"/>
          </a:p>
        </p:txBody>
      </p:sp>
      <p:sp>
        <p:nvSpPr>
          <p:cNvPr id="18" name="Text 14"/>
          <p:cNvSpPr/>
          <p:nvPr/>
        </p:nvSpPr>
        <p:spPr>
          <a:xfrm>
            <a:off x="6496050" y="2708771"/>
            <a:ext cx="2007933"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Тестирање и стабилна верзија функционалног језгра</a:t>
            </a:r>
            <a:endParaRPr lang="en-US" sz="1400" dirty="0"/>
          </a:p>
        </p:txBody>
      </p:sp>
      <p:sp>
        <p:nvSpPr>
          <p:cNvPr id="19" name="Text 15"/>
          <p:cNvSpPr/>
          <p:nvPr/>
        </p:nvSpPr>
        <p:spPr>
          <a:xfrm>
            <a:off x="6496050" y="3554413"/>
            <a:ext cx="817959" cy="264120"/>
          </a:xfrm>
          <a:custGeom>
            <a:avLst/>
            <a:gdLst/>
            <a:ahLst/>
            <a:cxnLst/>
            <a:rect l="l" t="t" r="r" b="b"/>
            <a:pathLst>
              <a:path w="817959" h="264120">
                <a:moveTo>
                  <a:pt x="132060" y="0"/>
                </a:moveTo>
                <a:lnTo>
                  <a:pt x="685899" y="0"/>
                </a:lnTo>
                <a:arcTo hR="132060" wR="132060" stAng="16200000" swAng="5400000"/>
                <a:lnTo>
                  <a:pt x="817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6 поена</a:t>
            </a:r>
            <a:endParaRPr lang="en-US" sz="1200" dirty="0"/>
          </a:p>
        </p:txBody>
      </p:sp>
      <p:pic>
        <p:nvPicPr>
          <p:cNvPr id="20" name="Image 2" descr="arrow-right">    </p:cNvPr>
          <p:cNvPicPr>
            <a:picLocks noChangeAspect="1"/>
          </p:cNvPicPr>
          <p:nvPr/>
        </p:nvPicPr>
        <p:blipFill>
          <a:blip r:embed="rId3"/>
          <a:srcRect l="0" r="0" t="0" b="0"/>
          <a:stretch/>
        </p:blipFill>
        <p:spPr>
          <a:xfrm>
            <a:off x="8731250" y="3026172"/>
            <a:ext cx="228600" cy="114300"/>
          </a:xfrm>
          <a:prstGeom prst="rect">
            <a:avLst/>
          </a:prstGeom>
        </p:spPr>
      </p:pic>
      <p:sp>
        <p:nvSpPr>
          <p:cNvPr id="21" name="Shape 16"/>
          <p:cNvSpPr/>
          <p:nvPr/>
        </p:nvSpPr>
        <p:spPr>
          <a:xfrm>
            <a:off x="9064625" y="2179836"/>
            <a:ext cx="2311400" cy="1806972"/>
          </a:xfrm>
          <a:prstGeom prst="roundRect">
            <a:avLst>
              <a:gd name="adj" fmla="val 5447"/>
            </a:avLst>
          </a:prstGeom>
          <a:solidFill>
            <a:srgbClr val="FCFCFB"/>
          </a:solidFill>
          <a:ln w="6350">
            <a:solidFill>
              <a:srgbClr val="D3DAE1"/>
            </a:solidFill>
            <a:prstDash val="solid"/>
          </a:ln>
        </p:spPr>
      </p:sp>
      <p:sp>
        <p:nvSpPr>
          <p:cNvPr id="22" name="Text 17"/>
          <p:cNvSpPr/>
          <p:nvPr/>
        </p:nvSpPr>
        <p:spPr>
          <a:xfrm>
            <a:off x="9245600" y="2348111"/>
            <a:ext cx="200793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A5CA8"/>
                </a:solidFill>
                <a:latin typeface="IBM Plex Mono" pitchFamily="49" charset="0"/>
                <a:ea typeface="IBM Plex Mono" pitchFamily="49" charset="-122"/>
                <a:cs typeface="IBM Plex Mono" pitchFamily="49" charset="-120"/>
              </a:rPr>
              <a:t>КТ4</a:t>
            </a:r>
            <a:endParaRPr lang="en-US" sz="1600" dirty="0"/>
          </a:p>
        </p:txBody>
      </p:sp>
      <p:sp>
        <p:nvSpPr>
          <p:cNvPr id="23" name="Text 18"/>
          <p:cNvSpPr/>
          <p:nvPr/>
        </p:nvSpPr>
        <p:spPr>
          <a:xfrm>
            <a:off x="9245600" y="2708771"/>
            <a:ext cx="2007933"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D"/>
                </a:solidFill>
                <a:latin typeface="IBM Plex Sans" pitchFamily="34" charset="0"/>
                <a:ea typeface="IBM Plex Sans" pitchFamily="34" charset="-122"/>
                <a:cs typeface="IBM Plex Sans" pitchFamily="34" charset="-120"/>
              </a:rPr>
              <a:t>Развојни ток уз AI алате и завршна одбрана</a:t>
            </a:r>
            <a:endParaRPr lang="en-US" sz="1400" dirty="0"/>
          </a:p>
        </p:txBody>
      </p:sp>
      <p:sp>
        <p:nvSpPr>
          <p:cNvPr id="24" name="Text 19"/>
          <p:cNvSpPr/>
          <p:nvPr/>
        </p:nvSpPr>
        <p:spPr>
          <a:xfrm>
            <a:off x="9245600" y="3554413"/>
            <a:ext cx="817959" cy="264120"/>
          </a:xfrm>
          <a:custGeom>
            <a:avLst/>
            <a:gdLst/>
            <a:ahLst/>
            <a:cxnLst/>
            <a:rect l="l" t="t" r="r" b="b"/>
            <a:pathLst>
              <a:path w="817959" h="264120">
                <a:moveTo>
                  <a:pt x="132060" y="0"/>
                </a:moveTo>
                <a:lnTo>
                  <a:pt x="685899" y="0"/>
                </a:lnTo>
                <a:arcTo hR="132060" wR="132060" stAng="16200000" swAng="5400000"/>
                <a:lnTo>
                  <a:pt x="817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DCE8F4"/>
          </a:solidFill>
          <a:ln/>
        </p:spPr>
        <p:txBody>
          <a:bodyPr wrap="none" lIns="0" tIns="0" rIns="0" bIns="0" rtlCol="0" anchor="ctr">
            <a:normAutofit/>
          </a:bodyPr>
          <a:lstStyle/>
          <a:p>
            <a:pPr algn="ctr" indent="0" marL="0">
              <a:lnSpc>
                <a:spcPts val="1680"/>
              </a:lnSpc>
              <a:buNone/>
            </a:pPr>
            <a:r>
              <a:rPr lang="en-US" sz="1200" b="1" dirty="0">
                <a:solidFill>
                  <a:srgbClr val="0A5CA8"/>
                </a:solidFill>
                <a:latin typeface="IBM Plex Mono" pitchFamily="49" charset="0"/>
                <a:ea typeface="IBM Plex Mono" pitchFamily="49" charset="-122"/>
                <a:cs typeface="IBM Plex Mono" pitchFamily="49" charset="-120"/>
              </a:rPr>
              <a:t>8 поена</a:t>
            </a:r>
            <a:endParaRPr lang="en-US" sz="1200" dirty="0"/>
          </a:p>
        </p:txBody>
      </p:sp>
      <p:sp>
        <p:nvSpPr>
          <p:cNvPr id="25" name="Shape 20"/>
          <p:cNvSpPr/>
          <p:nvPr/>
        </p:nvSpPr>
        <p:spPr>
          <a:xfrm>
            <a:off x="812800" y="4243983"/>
            <a:ext cx="3302000" cy="1005681"/>
          </a:xfrm>
          <a:prstGeom prst="roundRect">
            <a:avLst>
              <a:gd name="adj" fmla="val 10103"/>
            </a:avLst>
          </a:prstGeom>
          <a:solidFill>
            <a:srgbClr val="EBF0F5"/>
          </a:solidFill>
          <a:ln/>
        </p:spPr>
      </p:sp>
      <p:sp>
        <p:nvSpPr>
          <p:cNvPr id="26" name="Text 21"/>
          <p:cNvSpPr/>
          <p:nvPr/>
        </p:nvSpPr>
        <p:spPr>
          <a:xfrm>
            <a:off x="1016000" y="4543623"/>
            <a:ext cx="585311"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0A5CA8"/>
                </a:solidFill>
                <a:latin typeface="IBM Plex Mono" pitchFamily="49" charset="0"/>
                <a:ea typeface="IBM Plex Mono" pitchFamily="49" charset="-122"/>
                <a:cs typeface="IBM Plex Mono" pitchFamily="49" charset="-120"/>
              </a:rPr>
              <a:t>20</a:t>
            </a:r>
            <a:endParaRPr lang="en-US" sz="3200" dirty="0"/>
          </a:p>
        </p:txBody>
      </p:sp>
      <p:sp>
        <p:nvSpPr>
          <p:cNvPr id="27" name="Text 22"/>
          <p:cNvSpPr/>
          <p:nvPr/>
        </p:nvSpPr>
        <p:spPr>
          <a:xfrm>
            <a:off x="1656159" y="4426843"/>
            <a:ext cx="232310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поена укупно на контролним тачкама, у оквиру 71 пројектног поена</a:t>
            </a:r>
            <a:endParaRPr lang="en-US" sz="1200" dirty="0"/>
          </a:p>
        </p:txBody>
      </p:sp>
      <p:sp>
        <p:nvSpPr>
          <p:cNvPr id="28" name="Shape 23"/>
          <p:cNvSpPr/>
          <p:nvPr/>
        </p:nvSpPr>
        <p:spPr>
          <a:xfrm>
            <a:off x="4270375" y="4247158"/>
            <a:ext cx="7105650" cy="999331"/>
          </a:xfrm>
          <a:prstGeom prst="roundRect">
            <a:avLst>
              <a:gd name="adj" fmla="val 9849"/>
            </a:avLst>
          </a:prstGeom>
          <a:solidFill>
            <a:srgbClr val="FBF1E6"/>
          </a:solidFill>
          <a:ln w="6350">
            <a:solidFill>
              <a:srgbClr val="E9B98C"/>
            </a:solidFill>
            <a:prstDash val="solid"/>
          </a:ln>
        </p:spPr>
      </p:sp>
      <p:sp>
        <p:nvSpPr>
          <p:cNvPr id="29" name="Text 24"/>
          <p:cNvSpPr/>
          <p:nvPr/>
        </p:nvSpPr>
        <p:spPr>
          <a:xfrm>
            <a:off x="4476750" y="4390033"/>
            <a:ext cx="689368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ДОДАТНИ ПОЕНИ</a:t>
            </a:r>
            <a:endParaRPr lang="en-US" sz="1200" dirty="0"/>
          </a:p>
        </p:txBody>
      </p:sp>
      <p:sp>
        <p:nvSpPr>
          <p:cNvPr id="30" name="Text 25"/>
          <p:cNvSpPr/>
          <p:nvPr/>
        </p:nvSpPr>
        <p:spPr>
          <a:xfrm>
            <a:off x="4476750" y="4641453"/>
            <a:ext cx="689368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Студент може остварити до 5 додатних поена за активност и ангажовање на настави. Додатни поени допуњују пројектни резултат највише до 71 поена.</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Организација пројектних целина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Тимови, пројектне целине и приступ заједничком GitHub репозиторијуму.</a:t>
            </a:r>
            <a:endParaRPr lang="en-US" sz="1400" dirty="0"/>
          </a:p>
        </p:txBody>
      </p:sp>
      <p:sp>
        <p:nvSpPr>
          <p:cNvPr id="6" name="Text 4"/>
          <p:cNvSpPr/>
          <p:nvPr/>
        </p:nvSpPr>
        <p:spPr>
          <a:xfrm>
            <a:off x="812800" y="21766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ОРГАНИЗАЦИЈА ТИМА</a:t>
            </a:r>
            <a:endParaRPr lang="en-US" sz="1200" dirty="0"/>
          </a:p>
        </p:txBody>
      </p:sp>
      <p:sp>
        <p:nvSpPr>
          <p:cNvPr id="7" name="Shape 5"/>
          <p:cNvSpPr/>
          <p:nvPr/>
        </p:nvSpPr>
        <p:spPr>
          <a:xfrm>
            <a:off x="812800" y="2516981"/>
            <a:ext cx="5080000" cy="914400"/>
          </a:xfrm>
          <a:prstGeom prst="roundRect">
            <a:avLst>
              <a:gd name="adj" fmla="val 11111"/>
            </a:avLst>
          </a:prstGeom>
          <a:solidFill>
            <a:srgbClr val="EBF0F5"/>
          </a:solidFill>
          <a:ln/>
        </p:spPr>
      </p:sp>
      <p:sp>
        <p:nvSpPr>
          <p:cNvPr id="8" name="Text 6"/>
          <p:cNvSpPr/>
          <p:nvPr/>
        </p:nvSpPr>
        <p:spPr>
          <a:xfrm>
            <a:off x="1016000" y="2669381"/>
            <a:ext cx="1666280"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0A5CA8"/>
                </a:solidFill>
                <a:latin typeface="IBM Plex Mono" pitchFamily="49" charset="0"/>
                <a:ea typeface="IBM Plex Mono" pitchFamily="49" charset="-122"/>
                <a:cs typeface="IBM Plex Mono" pitchFamily="49" charset="-120"/>
              </a:rPr>
              <a:t>6–10</a:t>
            </a:r>
            <a:endParaRPr lang="en-US" sz="4800" dirty="0"/>
          </a:p>
        </p:txBody>
      </p:sp>
      <p:sp>
        <p:nvSpPr>
          <p:cNvPr id="9" name="Text 7"/>
          <p:cNvSpPr/>
          <p:nvPr/>
        </p:nvSpPr>
        <p:spPr>
          <a:xfrm>
            <a:off x="2682280" y="2743101"/>
            <a:ext cx="130403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3202D"/>
                </a:solidFill>
                <a:latin typeface="IBM Plex Sans" pitchFamily="34" charset="0"/>
                <a:ea typeface="IBM Plex Sans" pitchFamily="34" charset="-122"/>
                <a:cs typeface="IBM Plex Sans" pitchFamily="34" charset="-120"/>
              </a:rPr>
              <a:t>студената</a:t>
            </a:r>
            <a:endParaRPr lang="en-US" sz="1400" dirty="0"/>
          </a:p>
          <a:p>
            <a:pPr algn="l" indent="0" marL="0">
              <a:lnSpc>
                <a:spcPts val="1820"/>
              </a:lnSpc>
              <a:buNone/>
            </a:pPr>
            <a:r>
              <a:rPr lang="en-US" sz="1400" dirty="0">
                <a:solidFill>
                  <a:srgbClr val="13202D"/>
                </a:solidFill>
                <a:latin typeface="IBM Plex Sans" pitchFamily="34" charset="0"/>
                <a:ea typeface="IBM Plex Sans" pitchFamily="34" charset="-122"/>
                <a:cs typeface="IBM Plex Sans" pitchFamily="34" charset="-120"/>
              </a:rPr>
              <a:t>чини један тим</a:t>
            </a:r>
            <a:endParaRPr lang="en-US" sz="1400" dirty="0"/>
          </a:p>
        </p:txBody>
      </p:sp>
      <p:sp>
        <p:nvSpPr>
          <p:cNvPr id="10" name="Shape 8"/>
          <p:cNvSpPr/>
          <p:nvPr/>
        </p:nvSpPr>
        <p:spPr>
          <a:xfrm>
            <a:off x="825500" y="3558381"/>
            <a:ext cx="0" cy="487561"/>
          </a:xfrm>
          <a:prstGeom prst="line">
            <a:avLst/>
          </a:prstGeom>
          <a:noFill/>
          <a:ln w="25400">
            <a:solidFill>
              <a:srgbClr val="0A5CA8"/>
            </a:solidFill>
            <a:prstDash val="solid"/>
          </a:ln>
        </p:spPr>
      </p:sp>
      <p:sp>
        <p:nvSpPr>
          <p:cNvPr id="11" name="Text 9"/>
          <p:cNvSpPr/>
          <p:nvPr/>
        </p:nvSpPr>
        <p:spPr>
          <a:xfrm>
            <a:off x="990600" y="3571081"/>
            <a:ext cx="504926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Предметни асистент додељује пројектну целину за коју тим преузима примарну одговорност.</a:t>
            </a:r>
            <a:endParaRPr lang="en-US" sz="1300" dirty="0"/>
          </a:p>
        </p:txBody>
      </p:sp>
      <p:sp>
        <p:nvSpPr>
          <p:cNvPr id="12" name="Shape 10"/>
          <p:cNvSpPr/>
          <p:nvPr/>
        </p:nvSpPr>
        <p:spPr>
          <a:xfrm>
            <a:off x="825500" y="4172942"/>
            <a:ext cx="0" cy="487561"/>
          </a:xfrm>
          <a:prstGeom prst="line">
            <a:avLst/>
          </a:prstGeom>
          <a:noFill/>
          <a:ln w="25400">
            <a:solidFill>
              <a:srgbClr val="0A5CA8"/>
            </a:solidFill>
            <a:prstDash val="solid"/>
          </a:ln>
        </p:spPr>
      </p:sp>
      <p:sp>
        <p:nvSpPr>
          <p:cNvPr id="13" name="Text 11"/>
          <p:cNvSpPr/>
          <p:nvPr/>
        </p:nvSpPr>
        <p:spPr>
          <a:xfrm>
            <a:off x="990600" y="4185642"/>
            <a:ext cx="504926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Приступ заједничком репозиторијуму одобрава предметни асистент.</a:t>
            </a:r>
            <a:endParaRPr lang="en-US" sz="1300" dirty="0"/>
          </a:p>
        </p:txBody>
      </p:sp>
      <p:sp>
        <p:nvSpPr>
          <p:cNvPr id="14" name="Shape 12"/>
          <p:cNvSpPr/>
          <p:nvPr/>
        </p:nvSpPr>
        <p:spPr>
          <a:xfrm>
            <a:off x="6302375" y="2179836"/>
            <a:ext cx="5073650" cy="2334121"/>
          </a:xfrm>
          <a:prstGeom prst="roundRect">
            <a:avLst>
              <a:gd name="adj" fmla="val 4217"/>
            </a:avLst>
          </a:prstGeom>
          <a:solidFill>
            <a:srgbClr val="FCFCFB"/>
          </a:solidFill>
          <a:ln w="6350">
            <a:solidFill>
              <a:srgbClr val="D3DAE1"/>
            </a:solidFill>
            <a:prstDash val="solid"/>
          </a:ln>
        </p:spPr>
      </p:sp>
      <p:sp>
        <p:nvSpPr>
          <p:cNvPr id="15" name="Text 13"/>
          <p:cNvSpPr/>
          <p:nvPr/>
        </p:nvSpPr>
        <p:spPr>
          <a:xfrm>
            <a:off x="6534150" y="2386211"/>
            <a:ext cx="47484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ОБАВЕЗЕ СТУДЕНТА</a:t>
            </a:r>
            <a:endParaRPr lang="en-US" sz="1200" dirty="0"/>
          </a:p>
        </p:txBody>
      </p:sp>
      <p:pic>
        <p:nvPicPr>
          <p:cNvPr id="16" name="Image 0" descr="CheckCircle">    </p:cNvPr>
          <p:cNvPicPr>
            <a:picLocks noChangeAspect="1"/>
          </p:cNvPicPr>
          <p:nvPr/>
        </p:nvPicPr>
        <p:blipFill>
          <a:blip r:embed="rId1"/>
          <a:srcRect l="0" r="0" t="0" b="0"/>
          <a:stretch/>
        </p:blipFill>
        <p:spPr>
          <a:xfrm>
            <a:off x="6534150" y="2726531"/>
            <a:ext cx="228600" cy="228600"/>
          </a:xfrm>
          <a:prstGeom prst="rect">
            <a:avLst/>
          </a:prstGeom>
        </p:spPr>
      </p:pic>
      <p:sp>
        <p:nvSpPr>
          <p:cNvPr id="17" name="Text 14"/>
          <p:cNvSpPr/>
          <p:nvPr/>
        </p:nvSpPr>
        <p:spPr>
          <a:xfrm>
            <a:off x="6877050" y="2726531"/>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Тачно GitHub корисничко име</a:t>
            </a:r>
            <a:endParaRPr lang="en-US" sz="1400" dirty="0"/>
          </a:p>
        </p:txBody>
      </p:sp>
      <p:pic>
        <p:nvPicPr>
          <p:cNvPr id="18" name="Image 1" descr="CheckCircle">    </p:cNvPr>
          <p:cNvPicPr>
            <a:picLocks noChangeAspect="1"/>
          </p:cNvPicPr>
          <p:nvPr/>
        </p:nvPicPr>
        <p:blipFill>
          <a:blip r:embed="rId2"/>
          <a:srcRect l="0" r="0" t="0" b="0"/>
          <a:stretch/>
        </p:blipFill>
        <p:spPr>
          <a:xfrm>
            <a:off x="6534150" y="3093541"/>
            <a:ext cx="228600" cy="228600"/>
          </a:xfrm>
          <a:prstGeom prst="rect">
            <a:avLst/>
          </a:prstGeom>
        </p:spPr>
      </p:pic>
      <p:sp>
        <p:nvSpPr>
          <p:cNvPr id="19" name="Text 15"/>
          <p:cNvSpPr/>
          <p:nvPr/>
        </p:nvSpPr>
        <p:spPr>
          <a:xfrm>
            <a:off x="6877050" y="3093541"/>
            <a:ext cx="439521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Проверљив индивидуални допринос у историји измена</a:t>
            </a:r>
            <a:endParaRPr lang="en-US" sz="1400" dirty="0"/>
          </a:p>
        </p:txBody>
      </p:sp>
      <p:pic>
        <p:nvPicPr>
          <p:cNvPr id="20" name="Image 2" descr="CheckCircle">    </p:cNvPr>
          <p:cNvPicPr>
            <a:picLocks noChangeAspect="1"/>
          </p:cNvPicPr>
          <p:nvPr/>
        </p:nvPicPr>
        <p:blipFill>
          <a:blip r:embed="rId3"/>
          <a:srcRect l="0" r="0" t="0" b="0"/>
          <a:stretch/>
        </p:blipFill>
        <p:spPr>
          <a:xfrm>
            <a:off x="6534150" y="3700562"/>
            <a:ext cx="228600" cy="228600"/>
          </a:xfrm>
          <a:prstGeom prst="rect">
            <a:avLst/>
          </a:prstGeom>
        </p:spPr>
      </p:pic>
      <p:sp>
        <p:nvSpPr>
          <p:cNvPr id="21" name="Text 16"/>
          <p:cNvSpPr/>
          <p:nvPr/>
        </p:nvSpPr>
        <p:spPr>
          <a:xfrm>
            <a:off x="6877050" y="3700562"/>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Образложење сопственог рада на одбрани</a:t>
            </a:r>
            <a:endParaRPr lang="en-US" sz="1400" dirty="0"/>
          </a:p>
        </p:txBody>
      </p:sp>
      <p:pic>
        <p:nvPicPr>
          <p:cNvPr id="22" name="Image 3" descr="CheckCircle">    </p:cNvPr>
          <p:cNvPicPr>
            <a:picLocks noChangeAspect="1"/>
          </p:cNvPicPr>
          <p:nvPr/>
        </p:nvPicPr>
        <p:blipFill>
          <a:blip r:embed="rId4"/>
          <a:srcRect l="0" r="0" t="0" b="0"/>
          <a:stretch/>
        </p:blipFill>
        <p:spPr>
          <a:xfrm>
            <a:off x="6534150" y="4067572"/>
            <a:ext cx="228600" cy="228600"/>
          </a:xfrm>
          <a:prstGeom prst="rect">
            <a:avLst/>
          </a:prstGeom>
        </p:spPr>
      </p:pic>
      <p:sp>
        <p:nvSpPr>
          <p:cNvPr id="23" name="Text 17"/>
          <p:cNvSpPr/>
          <p:nvPr/>
        </p:nvSpPr>
        <p:spPr>
          <a:xfrm>
            <a:off x="6877050" y="4067572"/>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Дељени јавни линк ка Tapiz Boards табли</a:t>
            </a:r>
            <a:endParaRPr lang="en-US" sz="1400" dirty="0"/>
          </a:p>
        </p:txBody>
      </p:sp>
      <p:sp>
        <p:nvSpPr>
          <p:cNvPr id="24" name="Shape 18"/>
          <p:cNvSpPr/>
          <p:nvPr/>
        </p:nvSpPr>
        <p:spPr>
          <a:xfrm>
            <a:off x="812800" y="6209705"/>
            <a:ext cx="10566400" cy="0"/>
          </a:xfrm>
          <a:prstGeom prst="line">
            <a:avLst/>
          </a:prstGeom>
          <a:noFill/>
          <a:ln w="6350">
            <a:solidFill>
              <a:srgbClr val="D3DAE1"/>
            </a:solidFill>
            <a:prstDash val="solid"/>
          </a:ln>
        </p:spPr>
      </p:sp>
      <p:sp>
        <p:nvSpPr>
          <p:cNvPr id="25" name="Text 1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Обавезе за пројектну целину</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Минимални услови за прихватање пројектне целине.</a:t>
            </a:r>
            <a:endParaRPr lang="en-US" sz="1400" dirty="0"/>
          </a:p>
        </p:txBody>
      </p:sp>
      <p:sp>
        <p:nvSpPr>
          <p:cNvPr id="6" name="Shape 4"/>
          <p:cNvSpPr/>
          <p:nvPr/>
        </p:nvSpPr>
        <p:spPr>
          <a:xfrm>
            <a:off x="815975" y="2179836"/>
            <a:ext cx="5213350" cy="1227931"/>
          </a:xfrm>
          <a:prstGeom prst="roundRect">
            <a:avLst>
              <a:gd name="adj" fmla="val 8016"/>
            </a:avLst>
          </a:prstGeom>
          <a:solidFill>
            <a:srgbClr val="FCFCFB"/>
          </a:solidFill>
          <a:ln w="6350">
            <a:solidFill>
              <a:srgbClr val="D3DAE1"/>
            </a:solidFill>
            <a:prstDash val="solid"/>
          </a:ln>
        </p:spPr>
      </p:sp>
      <p:sp>
        <p:nvSpPr>
          <p:cNvPr id="7" name="Text 5"/>
          <p:cNvSpPr/>
          <p:nvPr/>
        </p:nvSpPr>
        <p:spPr>
          <a:xfrm>
            <a:off x="1022350" y="23481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4811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Граница одговорности и уговор</a:t>
            </a:r>
            <a:endParaRPr lang="en-US" sz="1400" dirty="0"/>
          </a:p>
        </p:txBody>
      </p:sp>
      <p:sp>
        <p:nvSpPr>
          <p:cNvPr id="9" name="Text 7"/>
          <p:cNvSpPr/>
          <p:nvPr/>
        </p:nvSpPr>
        <p:spPr>
          <a:xfrm>
            <a:off x="1510109" y="2599531"/>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Целина има јасно дефинисану одговорност, јавни уговор и односе са другим целинама.</a:t>
            </a:r>
            <a:endParaRPr lang="en-US" sz="1200" dirty="0"/>
          </a:p>
        </p:txBody>
      </p:sp>
      <p:sp>
        <p:nvSpPr>
          <p:cNvPr id="10" name="Shape 8"/>
          <p:cNvSpPr/>
          <p:nvPr/>
        </p:nvSpPr>
        <p:spPr>
          <a:xfrm>
            <a:off x="6162675" y="2179836"/>
            <a:ext cx="5213350" cy="1227931"/>
          </a:xfrm>
          <a:prstGeom prst="roundRect">
            <a:avLst>
              <a:gd name="adj" fmla="val 8016"/>
            </a:avLst>
          </a:prstGeom>
          <a:solidFill>
            <a:srgbClr val="FCFCFB"/>
          </a:solidFill>
          <a:ln w="6350">
            <a:solidFill>
              <a:srgbClr val="D3DAE1"/>
            </a:solidFill>
            <a:prstDash val="solid"/>
          </a:ln>
        </p:spPr>
      </p:sp>
      <p:sp>
        <p:nvSpPr>
          <p:cNvPr id="11" name="Text 9"/>
          <p:cNvSpPr/>
          <p:nvPr/>
        </p:nvSpPr>
        <p:spPr>
          <a:xfrm>
            <a:off x="6369050" y="23481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56809" y="234811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Тестирање и стабилност</a:t>
            </a:r>
            <a:endParaRPr lang="en-US" sz="1400" dirty="0"/>
          </a:p>
        </p:txBody>
      </p:sp>
      <p:sp>
        <p:nvSpPr>
          <p:cNvPr id="13" name="Text 11"/>
          <p:cNvSpPr/>
          <p:nvPr/>
        </p:nvSpPr>
        <p:spPr>
          <a:xfrm>
            <a:off x="6856809" y="2599531"/>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Обавезни су аутоматизовани тестови кључних правила, а према потреби и интеграциони, уговорни и регресиони тестови.</a:t>
            </a:r>
            <a:endParaRPr lang="en-US" sz="1200" dirty="0"/>
          </a:p>
        </p:txBody>
      </p:sp>
      <p:sp>
        <p:nvSpPr>
          <p:cNvPr id="14" name="Shape 12"/>
          <p:cNvSpPr/>
          <p:nvPr/>
        </p:nvSpPr>
        <p:spPr>
          <a:xfrm>
            <a:off x="815975" y="3541117"/>
            <a:ext cx="5213350" cy="1227931"/>
          </a:xfrm>
          <a:prstGeom prst="roundRect">
            <a:avLst>
              <a:gd name="adj" fmla="val 8016"/>
            </a:avLst>
          </a:prstGeom>
          <a:solidFill>
            <a:srgbClr val="FCFCFB"/>
          </a:solidFill>
          <a:ln w="6350">
            <a:solidFill>
              <a:srgbClr val="D3DAE1"/>
            </a:solidFill>
            <a:prstDash val="solid"/>
          </a:ln>
        </p:spPr>
      </p:sp>
      <p:sp>
        <p:nvSpPr>
          <p:cNvPr id="15" name="Text 13"/>
          <p:cNvSpPr/>
          <p:nvPr/>
        </p:nvSpPr>
        <p:spPr>
          <a:xfrm>
            <a:off x="1022350" y="37093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7093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Документација</a:t>
            </a:r>
            <a:endParaRPr lang="en-US" sz="1400" dirty="0"/>
          </a:p>
        </p:txBody>
      </p:sp>
      <p:sp>
        <p:nvSpPr>
          <p:cNvPr id="17" name="Text 15"/>
          <p:cNvSpPr/>
          <p:nvPr/>
        </p:nvSpPr>
        <p:spPr>
          <a:xfrm>
            <a:off x="1510109" y="3960813"/>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Документација обухвата случајеве употребе, критеријуме прихватања, јавне уговоре, ADR и упутство за локално покретање и тестирање.</a:t>
            </a:r>
            <a:endParaRPr lang="en-US" sz="1200" dirty="0"/>
          </a:p>
        </p:txBody>
      </p:sp>
      <p:sp>
        <p:nvSpPr>
          <p:cNvPr id="18" name="Shape 16"/>
          <p:cNvSpPr/>
          <p:nvPr/>
        </p:nvSpPr>
        <p:spPr>
          <a:xfrm>
            <a:off x="6162675" y="3541117"/>
            <a:ext cx="5213350" cy="1227931"/>
          </a:xfrm>
          <a:prstGeom prst="roundRect">
            <a:avLst>
              <a:gd name="adj" fmla="val 8016"/>
            </a:avLst>
          </a:prstGeom>
          <a:solidFill>
            <a:srgbClr val="FCFCFB"/>
          </a:solidFill>
          <a:ln w="6350">
            <a:solidFill>
              <a:srgbClr val="D3DAE1"/>
            </a:solidFill>
            <a:prstDash val="solid"/>
          </a:ln>
        </p:spPr>
      </p:sp>
      <p:sp>
        <p:nvSpPr>
          <p:cNvPr id="19" name="Text 17"/>
          <p:cNvSpPr/>
          <p:nvPr/>
        </p:nvSpPr>
        <p:spPr>
          <a:xfrm>
            <a:off x="6369050" y="37093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56809" y="37093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Индивидуални допринос</a:t>
            </a:r>
            <a:endParaRPr lang="en-US" sz="1400" dirty="0"/>
          </a:p>
        </p:txBody>
      </p:sp>
      <p:sp>
        <p:nvSpPr>
          <p:cNvPr id="21" name="Text 19"/>
          <p:cNvSpPr/>
          <p:nvPr/>
        </p:nvSpPr>
        <p:spPr>
          <a:xfrm>
            <a:off x="6856809" y="3960813"/>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Сваки студент документује сопствени рад, релевантан случај употребе, дизајнерску одлуку и зависности према другим целинама.</a:t>
            </a:r>
            <a:endParaRPr lang="en-US" sz="12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Пројектни артефакти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Репозиторијум садржи доказе развоја, провере и техничких одлука.</a:t>
            </a:r>
            <a:endParaRPr lang="en-US" sz="1400" dirty="0"/>
          </a:p>
        </p:txBody>
      </p:sp>
      <p:sp>
        <p:nvSpPr>
          <p:cNvPr id="6" name="Text 4"/>
          <p:cNvSpPr/>
          <p:nvPr/>
        </p:nvSpPr>
        <p:spPr>
          <a:xfrm>
            <a:off x="812800" y="21766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РАЗВОЈНИ МАТЕРИЈАЛИ</a:t>
            </a:r>
            <a:endParaRPr lang="en-US" sz="1200" dirty="0"/>
          </a:p>
        </p:txBody>
      </p:sp>
      <p:sp>
        <p:nvSpPr>
          <p:cNvPr id="7" name="Shape 5"/>
          <p:cNvSpPr/>
          <p:nvPr/>
        </p:nvSpPr>
        <p:spPr>
          <a:xfrm>
            <a:off x="815975" y="2507456"/>
            <a:ext cx="5124450" cy="539750"/>
          </a:xfrm>
          <a:prstGeom prst="roundRect">
            <a:avLst>
              <a:gd name="adj" fmla="val 15882"/>
            </a:avLst>
          </a:prstGeom>
          <a:solidFill>
            <a:srgbClr val="FCFCFB"/>
          </a:solidFill>
          <a:ln w="6350">
            <a:solidFill>
              <a:srgbClr val="D3DAE1"/>
            </a:solidFill>
            <a:prstDash val="solid"/>
          </a:ln>
        </p:spPr>
      </p:sp>
      <p:sp>
        <p:nvSpPr>
          <p:cNvPr id="8" name="Shape 6"/>
          <p:cNvSpPr/>
          <p:nvPr/>
        </p:nvSpPr>
        <p:spPr>
          <a:xfrm>
            <a:off x="971550" y="2612231"/>
            <a:ext cx="330200" cy="330200"/>
          </a:xfrm>
          <a:prstGeom prst="roundRect">
            <a:avLst>
              <a:gd name="adj" fmla="val 23077"/>
            </a:avLst>
          </a:prstGeom>
          <a:solidFill>
            <a:srgbClr val="DCE8F4"/>
          </a:solidFill>
          <a:ln/>
        </p:spPr>
      </p:sp>
      <p:pic>
        <p:nvPicPr>
          <p:cNvPr id="9" name="Image 0" descr="Book">    </p:cNvPr>
          <p:cNvPicPr>
            <a:picLocks noChangeAspect="1"/>
          </p:cNvPicPr>
          <p:nvPr/>
        </p:nvPicPr>
        <p:blipFill>
          <a:blip r:embed="rId1"/>
          <a:srcRect l="0" r="0" t="0" b="0"/>
          <a:stretch/>
        </p:blipFill>
        <p:spPr>
          <a:xfrm>
            <a:off x="1041400" y="2682081"/>
            <a:ext cx="190500" cy="190500"/>
          </a:xfrm>
          <a:prstGeom prst="rect">
            <a:avLst/>
          </a:prstGeom>
        </p:spPr>
      </p:pic>
      <p:sp>
        <p:nvSpPr>
          <p:cNvPr id="10" name="Text 7"/>
          <p:cNvSpPr/>
          <p:nvPr/>
        </p:nvSpPr>
        <p:spPr>
          <a:xfrm>
            <a:off x="1428750" y="265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Backlog са критеријумима прихватања</a:t>
            </a:r>
            <a:endParaRPr lang="en-US" sz="1400" dirty="0"/>
          </a:p>
        </p:txBody>
      </p:sp>
      <p:sp>
        <p:nvSpPr>
          <p:cNvPr id="11" name="Shape 8"/>
          <p:cNvSpPr/>
          <p:nvPr/>
        </p:nvSpPr>
        <p:spPr>
          <a:xfrm>
            <a:off x="815975" y="3142456"/>
            <a:ext cx="5124450" cy="539750"/>
          </a:xfrm>
          <a:prstGeom prst="roundRect">
            <a:avLst>
              <a:gd name="adj" fmla="val 15882"/>
            </a:avLst>
          </a:prstGeom>
          <a:solidFill>
            <a:srgbClr val="FCFCFB"/>
          </a:solidFill>
          <a:ln w="6350">
            <a:solidFill>
              <a:srgbClr val="D3DAE1"/>
            </a:solidFill>
            <a:prstDash val="solid"/>
          </a:ln>
        </p:spPr>
      </p:sp>
      <p:sp>
        <p:nvSpPr>
          <p:cNvPr id="12" name="Shape 9"/>
          <p:cNvSpPr/>
          <p:nvPr/>
        </p:nvSpPr>
        <p:spPr>
          <a:xfrm>
            <a:off x="971550" y="3247231"/>
            <a:ext cx="330200" cy="330200"/>
          </a:xfrm>
          <a:prstGeom prst="roundRect">
            <a:avLst>
              <a:gd name="adj" fmla="val 23077"/>
            </a:avLst>
          </a:prstGeom>
          <a:solidFill>
            <a:srgbClr val="DCE8F4"/>
          </a:solidFill>
          <a:ln/>
        </p:spPr>
      </p:sp>
      <p:pic>
        <p:nvPicPr>
          <p:cNvPr id="13" name="Image 1" descr="Code">    </p:cNvPr>
          <p:cNvPicPr>
            <a:picLocks noChangeAspect="1"/>
          </p:cNvPicPr>
          <p:nvPr/>
        </p:nvPicPr>
        <p:blipFill>
          <a:blip r:embed="rId2"/>
          <a:srcRect l="0" r="0" t="0" b="0"/>
          <a:stretch/>
        </p:blipFill>
        <p:spPr>
          <a:xfrm>
            <a:off x="1041400" y="3317081"/>
            <a:ext cx="190500" cy="190500"/>
          </a:xfrm>
          <a:prstGeom prst="rect">
            <a:avLst/>
          </a:prstGeom>
        </p:spPr>
      </p:pic>
      <p:sp>
        <p:nvSpPr>
          <p:cNvPr id="14" name="Text 10"/>
          <p:cNvSpPr/>
          <p:nvPr/>
        </p:nvSpPr>
        <p:spPr>
          <a:xfrm>
            <a:off x="1428750" y="329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Git историја и Pull Request прегледи</a:t>
            </a:r>
            <a:endParaRPr lang="en-US" sz="1400" dirty="0"/>
          </a:p>
        </p:txBody>
      </p:sp>
      <p:sp>
        <p:nvSpPr>
          <p:cNvPr id="15" name="Shape 11"/>
          <p:cNvSpPr/>
          <p:nvPr/>
        </p:nvSpPr>
        <p:spPr>
          <a:xfrm>
            <a:off x="815975" y="3777456"/>
            <a:ext cx="5124450" cy="539750"/>
          </a:xfrm>
          <a:prstGeom prst="roundRect">
            <a:avLst>
              <a:gd name="adj" fmla="val 15882"/>
            </a:avLst>
          </a:prstGeom>
          <a:solidFill>
            <a:srgbClr val="FCFCFB"/>
          </a:solidFill>
          <a:ln w="6350">
            <a:solidFill>
              <a:srgbClr val="D3DAE1"/>
            </a:solidFill>
            <a:prstDash val="solid"/>
          </a:ln>
        </p:spPr>
      </p:sp>
      <p:sp>
        <p:nvSpPr>
          <p:cNvPr id="16" name="Shape 12"/>
          <p:cNvSpPr/>
          <p:nvPr/>
        </p:nvSpPr>
        <p:spPr>
          <a:xfrm>
            <a:off x="971550" y="3882231"/>
            <a:ext cx="330200" cy="330200"/>
          </a:xfrm>
          <a:prstGeom prst="roundRect">
            <a:avLst>
              <a:gd name="adj" fmla="val 23077"/>
            </a:avLst>
          </a:prstGeom>
          <a:solidFill>
            <a:srgbClr val="DCE8F4"/>
          </a:solidFill>
          <a:ln/>
        </p:spPr>
      </p:sp>
      <p:pic>
        <p:nvPicPr>
          <p:cNvPr id="17" name="Image 2" descr="Lightbulb">    </p:cNvPr>
          <p:cNvPicPr>
            <a:picLocks noChangeAspect="1"/>
          </p:cNvPicPr>
          <p:nvPr/>
        </p:nvPicPr>
        <p:blipFill>
          <a:blip r:embed="rId3"/>
          <a:srcRect l="0" r="0" t="0" b="0"/>
          <a:stretch/>
        </p:blipFill>
        <p:spPr>
          <a:xfrm>
            <a:off x="1041400" y="3952081"/>
            <a:ext cx="190500" cy="190500"/>
          </a:xfrm>
          <a:prstGeom prst="rect">
            <a:avLst/>
          </a:prstGeom>
        </p:spPr>
      </p:pic>
      <p:sp>
        <p:nvSpPr>
          <p:cNvPr id="18" name="Text 13"/>
          <p:cNvSpPr/>
          <p:nvPr/>
        </p:nvSpPr>
        <p:spPr>
          <a:xfrm>
            <a:off x="1428750" y="392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ADR записи за значајне архитектонске одлуке</a:t>
            </a:r>
            <a:endParaRPr lang="en-US" sz="1400" dirty="0"/>
          </a:p>
        </p:txBody>
      </p:sp>
      <p:sp>
        <p:nvSpPr>
          <p:cNvPr id="19" name="Shape 14"/>
          <p:cNvSpPr/>
          <p:nvPr/>
        </p:nvSpPr>
        <p:spPr>
          <a:xfrm>
            <a:off x="815975" y="4412456"/>
            <a:ext cx="5124450" cy="539750"/>
          </a:xfrm>
          <a:prstGeom prst="roundRect">
            <a:avLst>
              <a:gd name="adj" fmla="val 15882"/>
            </a:avLst>
          </a:prstGeom>
          <a:solidFill>
            <a:srgbClr val="FCFCFB"/>
          </a:solidFill>
          <a:ln w="6350">
            <a:solidFill>
              <a:srgbClr val="D3DAE1"/>
            </a:solidFill>
            <a:prstDash val="solid"/>
          </a:ln>
        </p:spPr>
      </p:sp>
      <p:sp>
        <p:nvSpPr>
          <p:cNvPr id="20" name="Shape 15"/>
          <p:cNvSpPr/>
          <p:nvPr/>
        </p:nvSpPr>
        <p:spPr>
          <a:xfrm>
            <a:off x="971550" y="4517231"/>
            <a:ext cx="330200" cy="330200"/>
          </a:xfrm>
          <a:prstGeom prst="roundRect">
            <a:avLst>
              <a:gd name="adj" fmla="val 23077"/>
            </a:avLst>
          </a:prstGeom>
          <a:solidFill>
            <a:srgbClr val="DCE8F4"/>
          </a:solidFill>
          <a:ln/>
        </p:spPr>
      </p:sp>
      <p:pic>
        <p:nvPicPr>
          <p:cNvPr id="21" name="Image 3" descr="Wrench">    </p:cNvPr>
          <p:cNvPicPr>
            <a:picLocks noChangeAspect="1"/>
          </p:cNvPicPr>
          <p:nvPr/>
        </p:nvPicPr>
        <p:blipFill>
          <a:blip r:embed="rId4"/>
          <a:srcRect l="0" r="0" t="0" b="0"/>
          <a:stretch/>
        </p:blipFill>
        <p:spPr>
          <a:xfrm>
            <a:off x="1041400" y="4587081"/>
            <a:ext cx="190500" cy="190500"/>
          </a:xfrm>
          <a:prstGeom prst="rect">
            <a:avLst/>
          </a:prstGeom>
        </p:spPr>
      </p:pic>
      <p:sp>
        <p:nvSpPr>
          <p:cNvPr id="22" name="Text 16"/>
          <p:cNvSpPr/>
          <p:nvPr/>
        </p:nvSpPr>
        <p:spPr>
          <a:xfrm>
            <a:off x="1428750" y="456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Упутство за локално покретање и тестирање</a:t>
            </a:r>
            <a:endParaRPr lang="en-US" sz="1400" dirty="0"/>
          </a:p>
        </p:txBody>
      </p:sp>
      <p:sp>
        <p:nvSpPr>
          <p:cNvPr id="23" name="Text 17"/>
          <p:cNvSpPr/>
          <p:nvPr/>
        </p:nvSpPr>
        <p:spPr>
          <a:xfrm>
            <a:off x="6248400" y="21766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ПРОВЕРЉИВИ РЕЗУЛТАТИ</a:t>
            </a:r>
            <a:endParaRPr lang="en-US" sz="1200" dirty="0"/>
          </a:p>
        </p:txBody>
      </p:sp>
      <p:sp>
        <p:nvSpPr>
          <p:cNvPr id="24" name="Shape 18"/>
          <p:cNvSpPr/>
          <p:nvPr/>
        </p:nvSpPr>
        <p:spPr>
          <a:xfrm>
            <a:off x="6251575" y="2507456"/>
            <a:ext cx="5124450" cy="539750"/>
          </a:xfrm>
          <a:prstGeom prst="roundRect">
            <a:avLst>
              <a:gd name="adj" fmla="val 15882"/>
            </a:avLst>
          </a:prstGeom>
          <a:solidFill>
            <a:srgbClr val="FCFCFB"/>
          </a:solidFill>
          <a:ln w="6350">
            <a:solidFill>
              <a:srgbClr val="D3DAE1"/>
            </a:solidFill>
            <a:prstDash val="solid"/>
          </a:ln>
        </p:spPr>
      </p:sp>
      <p:sp>
        <p:nvSpPr>
          <p:cNvPr id="25" name="Shape 19"/>
          <p:cNvSpPr/>
          <p:nvPr/>
        </p:nvSpPr>
        <p:spPr>
          <a:xfrm>
            <a:off x="6407150" y="2612231"/>
            <a:ext cx="330200" cy="330200"/>
          </a:xfrm>
          <a:prstGeom prst="roundRect">
            <a:avLst>
              <a:gd name="adj" fmla="val 23077"/>
            </a:avLst>
          </a:prstGeom>
          <a:solidFill>
            <a:srgbClr val="FBF1E6"/>
          </a:solidFill>
          <a:ln/>
        </p:spPr>
      </p:sp>
      <p:pic>
        <p:nvPicPr>
          <p:cNvPr id="26" name="Image 4" descr="Play">    </p:cNvPr>
          <p:cNvPicPr>
            <a:picLocks noChangeAspect="1"/>
          </p:cNvPicPr>
          <p:nvPr/>
        </p:nvPicPr>
        <p:blipFill>
          <a:blip r:embed="rId5"/>
          <a:srcRect l="0" r="0" t="0" b="0"/>
          <a:stretch/>
        </p:blipFill>
        <p:spPr>
          <a:xfrm>
            <a:off x="6477000" y="2682081"/>
            <a:ext cx="190500" cy="190500"/>
          </a:xfrm>
          <a:prstGeom prst="rect">
            <a:avLst/>
          </a:prstGeom>
        </p:spPr>
      </p:pic>
      <p:sp>
        <p:nvSpPr>
          <p:cNvPr id="27" name="Text 20"/>
          <p:cNvSpPr/>
          <p:nvPr/>
        </p:nvSpPr>
        <p:spPr>
          <a:xfrm>
            <a:off x="6864350" y="265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Извршив пројекат у заједничком репозиторијуму</a:t>
            </a:r>
            <a:endParaRPr lang="en-US" sz="1400" dirty="0"/>
          </a:p>
        </p:txBody>
      </p:sp>
      <p:sp>
        <p:nvSpPr>
          <p:cNvPr id="28" name="Shape 21"/>
          <p:cNvSpPr/>
          <p:nvPr/>
        </p:nvSpPr>
        <p:spPr>
          <a:xfrm>
            <a:off x="6251575" y="3142456"/>
            <a:ext cx="5124450" cy="539750"/>
          </a:xfrm>
          <a:prstGeom prst="roundRect">
            <a:avLst>
              <a:gd name="adj" fmla="val 15882"/>
            </a:avLst>
          </a:prstGeom>
          <a:solidFill>
            <a:srgbClr val="FCFCFB"/>
          </a:solidFill>
          <a:ln w="6350">
            <a:solidFill>
              <a:srgbClr val="D3DAE1"/>
            </a:solidFill>
            <a:prstDash val="solid"/>
          </a:ln>
        </p:spPr>
      </p:sp>
      <p:sp>
        <p:nvSpPr>
          <p:cNvPr id="29" name="Shape 22"/>
          <p:cNvSpPr/>
          <p:nvPr/>
        </p:nvSpPr>
        <p:spPr>
          <a:xfrm>
            <a:off x="6407150" y="3247231"/>
            <a:ext cx="330200" cy="330200"/>
          </a:xfrm>
          <a:prstGeom prst="roundRect">
            <a:avLst>
              <a:gd name="adj" fmla="val 23077"/>
            </a:avLst>
          </a:prstGeom>
          <a:solidFill>
            <a:srgbClr val="FBF1E6"/>
          </a:solidFill>
          <a:ln/>
        </p:spPr>
      </p:sp>
      <p:pic>
        <p:nvPicPr>
          <p:cNvPr id="30" name="Image 5" descr="CheckCircle">    </p:cNvPr>
          <p:cNvPicPr>
            <a:picLocks noChangeAspect="1"/>
          </p:cNvPicPr>
          <p:nvPr/>
        </p:nvPicPr>
        <p:blipFill>
          <a:blip r:embed="rId6"/>
          <a:srcRect l="0" r="0" t="0" b="0"/>
          <a:stretch/>
        </p:blipFill>
        <p:spPr>
          <a:xfrm>
            <a:off x="6477000" y="3317081"/>
            <a:ext cx="190500" cy="190500"/>
          </a:xfrm>
          <a:prstGeom prst="rect">
            <a:avLst/>
          </a:prstGeom>
        </p:spPr>
      </p:pic>
      <p:sp>
        <p:nvSpPr>
          <p:cNvPr id="31" name="Text 23"/>
          <p:cNvSpPr/>
          <p:nvPr/>
        </p:nvSpPr>
        <p:spPr>
          <a:xfrm>
            <a:off x="6864350" y="329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Аутоматизовани тестови кључних правила</a:t>
            </a:r>
            <a:endParaRPr lang="en-US" sz="1400" dirty="0"/>
          </a:p>
        </p:txBody>
      </p:sp>
      <p:sp>
        <p:nvSpPr>
          <p:cNvPr id="32" name="Shape 24"/>
          <p:cNvSpPr/>
          <p:nvPr/>
        </p:nvSpPr>
        <p:spPr>
          <a:xfrm>
            <a:off x="6251575" y="3777456"/>
            <a:ext cx="5124450" cy="539750"/>
          </a:xfrm>
          <a:prstGeom prst="roundRect">
            <a:avLst>
              <a:gd name="adj" fmla="val 15882"/>
            </a:avLst>
          </a:prstGeom>
          <a:solidFill>
            <a:srgbClr val="FCFCFB"/>
          </a:solidFill>
          <a:ln w="6350">
            <a:solidFill>
              <a:srgbClr val="D3DAE1"/>
            </a:solidFill>
            <a:prstDash val="solid"/>
          </a:ln>
        </p:spPr>
      </p:sp>
      <p:sp>
        <p:nvSpPr>
          <p:cNvPr id="33" name="Shape 25"/>
          <p:cNvSpPr/>
          <p:nvPr/>
        </p:nvSpPr>
        <p:spPr>
          <a:xfrm>
            <a:off x="6407150" y="3882231"/>
            <a:ext cx="330200" cy="330200"/>
          </a:xfrm>
          <a:prstGeom prst="roundRect">
            <a:avLst>
              <a:gd name="adj" fmla="val 23077"/>
            </a:avLst>
          </a:prstGeom>
          <a:solidFill>
            <a:srgbClr val="FBF1E6"/>
          </a:solidFill>
          <a:ln/>
        </p:spPr>
      </p:sp>
      <p:pic>
        <p:nvPicPr>
          <p:cNvPr id="34" name="Image 6" descr="Activity">    </p:cNvPr>
          <p:cNvPicPr>
            <a:picLocks noChangeAspect="1"/>
          </p:cNvPicPr>
          <p:nvPr/>
        </p:nvPicPr>
        <p:blipFill>
          <a:blip r:embed="rId7"/>
          <a:srcRect l="0" r="0" t="0" b="0"/>
          <a:stretch/>
        </p:blipFill>
        <p:spPr>
          <a:xfrm>
            <a:off x="6477000" y="3952081"/>
            <a:ext cx="190500" cy="190500"/>
          </a:xfrm>
          <a:prstGeom prst="rect">
            <a:avLst/>
          </a:prstGeom>
        </p:spPr>
      </p:pic>
      <p:sp>
        <p:nvSpPr>
          <p:cNvPr id="35" name="Text 26"/>
          <p:cNvSpPr/>
          <p:nvPr/>
        </p:nvSpPr>
        <p:spPr>
          <a:xfrm>
            <a:off x="6864350" y="392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Резултати компилације и тестирања</a:t>
            </a:r>
            <a:endParaRPr lang="en-US" sz="1400" dirty="0"/>
          </a:p>
        </p:txBody>
      </p:sp>
      <p:sp>
        <p:nvSpPr>
          <p:cNvPr id="36" name="Shape 27"/>
          <p:cNvSpPr/>
          <p:nvPr/>
        </p:nvSpPr>
        <p:spPr>
          <a:xfrm>
            <a:off x="6251575" y="4412456"/>
            <a:ext cx="5124450" cy="539750"/>
          </a:xfrm>
          <a:prstGeom prst="roundRect">
            <a:avLst>
              <a:gd name="adj" fmla="val 15882"/>
            </a:avLst>
          </a:prstGeom>
          <a:solidFill>
            <a:srgbClr val="FCFCFB"/>
          </a:solidFill>
          <a:ln w="6350">
            <a:solidFill>
              <a:srgbClr val="D3DAE1"/>
            </a:solidFill>
            <a:prstDash val="solid"/>
          </a:ln>
        </p:spPr>
      </p:sp>
      <p:sp>
        <p:nvSpPr>
          <p:cNvPr id="37" name="Shape 28"/>
          <p:cNvSpPr/>
          <p:nvPr/>
        </p:nvSpPr>
        <p:spPr>
          <a:xfrm>
            <a:off x="6407150" y="4517231"/>
            <a:ext cx="330200" cy="330200"/>
          </a:xfrm>
          <a:prstGeom prst="roundRect">
            <a:avLst>
              <a:gd name="adj" fmla="val 23077"/>
            </a:avLst>
          </a:prstGeom>
          <a:solidFill>
            <a:srgbClr val="FBF1E6"/>
          </a:solidFill>
          <a:ln/>
        </p:spPr>
      </p:sp>
      <p:pic>
        <p:nvPicPr>
          <p:cNvPr id="38" name="Image 7" descr="Link">    </p:cNvPr>
          <p:cNvPicPr>
            <a:picLocks noChangeAspect="1"/>
          </p:cNvPicPr>
          <p:nvPr/>
        </p:nvPicPr>
        <p:blipFill>
          <a:blip r:embed="rId8"/>
          <a:srcRect l="0" r="0" t="0" b="0"/>
          <a:stretch/>
        </p:blipFill>
        <p:spPr>
          <a:xfrm>
            <a:off x="6477000" y="4587081"/>
            <a:ext cx="190500" cy="190500"/>
          </a:xfrm>
          <a:prstGeom prst="rect">
            <a:avLst/>
          </a:prstGeom>
        </p:spPr>
      </p:pic>
      <p:sp>
        <p:nvSpPr>
          <p:cNvPr id="39" name="Text 29"/>
          <p:cNvSpPr/>
          <p:nvPr/>
        </p:nvSpPr>
        <p:spPr>
          <a:xfrm>
            <a:off x="6864350" y="456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Документација јавних уговора између модула</a:t>
            </a:r>
            <a:endParaRPr lang="en-US" sz="1400" dirty="0"/>
          </a:p>
        </p:txBody>
      </p:sp>
      <p:sp>
        <p:nvSpPr>
          <p:cNvPr id="40" name="Shape 30"/>
          <p:cNvSpPr/>
          <p:nvPr/>
        </p:nvSpPr>
        <p:spPr>
          <a:xfrm>
            <a:off x="812800" y="6209705"/>
            <a:ext cx="10566400" cy="0"/>
          </a:xfrm>
          <a:prstGeom prst="line">
            <a:avLst/>
          </a:prstGeom>
          <a:noFill/>
          <a:ln w="6350">
            <a:solidFill>
              <a:srgbClr val="D3DAE1"/>
            </a:solidFill>
            <a:prstDash val="solid"/>
          </a:ln>
        </p:spPr>
      </p:sp>
      <p:sp>
        <p:nvSpPr>
          <p:cNvPr id="41" name="Text 3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2"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Следљивост индивидуалног доприноса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Допринос студента повезује захтев, измену кода и доказ провере.</a:t>
            </a:r>
            <a:endParaRPr lang="en-US" sz="1400" dirty="0"/>
          </a:p>
        </p:txBody>
      </p:sp>
      <p:sp>
        <p:nvSpPr>
          <p:cNvPr id="6" name="Shape 4"/>
          <p:cNvSpPr/>
          <p:nvPr/>
        </p:nvSpPr>
        <p:spPr>
          <a:xfrm>
            <a:off x="815975" y="2179836"/>
            <a:ext cx="2311400" cy="2158802"/>
          </a:xfrm>
          <a:prstGeom prst="roundRect">
            <a:avLst>
              <a:gd name="adj" fmla="val 4559"/>
            </a:avLst>
          </a:prstGeom>
          <a:solidFill>
            <a:srgbClr val="FCFCFB"/>
          </a:solidFill>
          <a:ln w="6350">
            <a:solidFill>
              <a:srgbClr val="D3DAE1"/>
            </a:solidFill>
            <a:prstDash val="solid"/>
          </a:ln>
        </p:spPr>
      </p:sp>
      <p:sp>
        <p:nvSpPr>
          <p:cNvPr id="7" name="Shape 5"/>
          <p:cNvSpPr/>
          <p:nvPr/>
        </p:nvSpPr>
        <p:spPr>
          <a:xfrm>
            <a:off x="996950" y="2360811"/>
            <a:ext cx="355600" cy="355600"/>
          </a:xfrm>
          <a:prstGeom prst="roundRect">
            <a:avLst>
              <a:gd name="adj" fmla="val 21429"/>
            </a:avLst>
          </a:prstGeom>
          <a:solidFill>
            <a:srgbClr val="DCE8F4"/>
          </a:solidFill>
          <a:ln/>
        </p:spPr>
      </p:sp>
      <p:pic>
        <p:nvPicPr>
          <p:cNvPr id="8" name="Image 0" descr="Book">    </p:cNvPr>
          <p:cNvPicPr>
            <a:picLocks noChangeAspect="1"/>
          </p:cNvPicPr>
          <p:nvPr/>
        </p:nvPicPr>
        <p:blipFill>
          <a:blip r:embed="rId1"/>
          <a:srcRect l="0" r="0" t="0" b="0"/>
          <a:stretch/>
        </p:blipFill>
        <p:spPr>
          <a:xfrm>
            <a:off x="1073150" y="2437011"/>
            <a:ext cx="203200" cy="203200"/>
          </a:xfrm>
          <a:prstGeom prst="rect">
            <a:avLst/>
          </a:prstGeom>
        </p:spPr>
      </p:pic>
      <p:sp>
        <p:nvSpPr>
          <p:cNvPr id="9" name="Text 6"/>
          <p:cNvSpPr/>
          <p:nvPr/>
        </p:nvSpPr>
        <p:spPr>
          <a:xfrm>
            <a:off x="265172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01</a:t>
            </a:r>
            <a:endParaRPr lang="en-US" sz="1600" dirty="0"/>
          </a:p>
        </p:txBody>
      </p:sp>
      <p:sp>
        <p:nvSpPr>
          <p:cNvPr id="10" name="Text 7"/>
          <p:cNvSpPr/>
          <p:nvPr/>
        </p:nvSpPr>
        <p:spPr>
          <a:xfrm>
            <a:off x="99695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Захтев и одговорност</a:t>
            </a:r>
            <a:endParaRPr lang="en-US" sz="1400" dirty="0"/>
          </a:p>
        </p:txBody>
      </p:sp>
      <p:sp>
        <p:nvSpPr>
          <p:cNvPr id="11" name="Text 8"/>
          <p:cNvSpPr/>
          <p:nvPr/>
        </p:nvSpPr>
        <p:spPr>
          <a:xfrm>
            <a:off x="996950" y="3091061"/>
            <a:ext cx="200793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наводи backlog ставку или део случаја употребе за који је одговоран.</a:t>
            </a:r>
            <a:endParaRPr lang="en-US" sz="1200" dirty="0"/>
          </a:p>
        </p:txBody>
      </p:sp>
      <p:pic>
        <p:nvPicPr>
          <p:cNvPr id="12" name="Image 1" descr="arrow-right">    </p:cNvPr>
          <p:cNvPicPr>
            <a:picLocks noChangeAspect="1"/>
          </p:cNvPicPr>
          <p:nvPr/>
        </p:nvPicPr>
        <p:blipFill>
          <a:blip r:embed="rId2"/>
          <a:srcRect l="0" r="0" t="0" b="0"/>
          <a:stretch/>
        </p:blipFill>
        <p:spPr>
          <a:xfrm>
            <a:off x="3232150" y="3202087"/>
            <a:ext cx="228600" cy="114300"/>
          </a:xfrm>
          <a:prstGeom prst="rect">
            <a:avLst/>
          </a:prstGeom>
        </p:spPr>
      </p:pic>
      <p:sp>
        <p:nvSpPr>
          <p:cNvPr id="13" name="Shape 9"/>
          <p:cNvSpPr/>
          <p:nvPr/>
        </p:nvSpPr>
        <p:spPr>
          <a:xfrm>
            <a:off x="3565525" y="2179836"/>
            <a:ext cx="2311400" cy="2158802"/>
          </a:xfrm>
          <a:prstGeom prst="roundRect">
            <a:avLst>
              <a:gd name="adj" fmla="val 4559"/>
            </a:avLst>
          </a:prstGeom>
          <a:solidFill>
            <a:srgbClr val="FCFCFB"/>
          </a:solidFill>
          <a:ln w="6350">
            <a:solidFill>
              <a:srgbClr val="D3DAE1"/>
            </a:solidFill>
            <a:prstDash val="solid"/>
          </a:ln>
        </p:spPr>
      </p:sp>
      <p:sp>
        <p:nvSpPr>
          <p:cNvPr id="14" name="Shape 10"/>
          <p:cNvSpPr/>
          <p:nvPr/>
        </p:nvSpPr>
        <p:spPr>
          <a:xfrm>
            <a:off x="3746500" y="2360811"/>
            <a:ext cx="355600" cy="355600"/>
          </a:xfrm>
          <a:prstGeom prst="roundRect">
            <a:avLst>
              <a:gd name="adj" fmla="val 21429"/>
            </a:avLst>
          </a:prstGeom>
          <a:solidFill>
            <a:srgbClr val="DCE8F4"/>
          </a:solidFill>
          <a:ln/>
        </p:spPr>
      </p:sp>
      <p:pic>
        <p:nvPicPr>
          <p:cNvPr id="15" name="Image 2" descr="Code">    </p:cNvPr>
          <p:cNvPicPr>
            <a:picLocks noChangeAspect="1"/>
          </p:cNvPicPr>
          <p:nvPr/>
        </p:nvPicPr>
        <p:blipFill>
          <a:blip r:embed="rId3"/>
          <a:srcRect l="0" r="0" t="0" b="0"/>
          <a:stretch/>
        </p:blipFill>
        <p:spPr>
          <a:xfrm>
            <a:off x="3822700" y="2437011"/>
            <a:ext cx="203200" cy="203200"/>
          </a:xfrm>
          <a:prstGeom prst="rect">
            <a:avLst/>
          </a:prstGeom>
        </p:spPr>
      </p:pic>
      <p:sp>
        <p:nvSpPr>
          <p:cNvPr id="16" name="Text 11"/>
          <p:cNvSpPr/>
          <p:nvPr/>
        </p:nvSpPr>
        <p:spPr>
          <a:xfrm>
            <a:off x="540127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02</a:t>
            </a:r>
            <a:endParaRPr lang="en-US" sz="1600" dirty="0"/>
          </a:p>
        </p:txBody>
      </p:sp>
      <p:sp>
        <p:nvSpPr>
          <p:cNvPr id="17" name="Text 12"/>
          <p:cNvSpPr/>
          <p:nvPr/>
        </p:nvSpPr>
        <p:spPr>
          <a:xfrm>
            <a:off x="374650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Измена кода</a:t>
            </a:r>
            <a:endParaRPr lang="en-US" sz="1400" dirty="0"/>
          </a:p>
        </p:txBody>
      </p:sp>
      <p:sp>
        <p:nvSpPr>
          <p:cNvPr id="18" name="Text 13"/>
          <p:cNvSpPr/>
          <p:nvPr/>
        </p:nvSpPr>
        <p:spPr>
          <a:xfrm>
            <a:off x="3746500" y="3091061"/>
            <a:ext cx="20079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Commit-и и Pull Request приказују обим и смисао сопственог доприноса.</a:t>
            </a:r>
            <a:endParaRPr lang="en-US" sz="1200" dirty="0"/>
          </a:p>
        </p:txBody>
      </p:sp>
      <p:pic>
        <p:nvPicPr>
          <p:cNvPr id="19" name="Image 3" descr="arrow-right">    </p:cNvPr>
          <p:cNvPicPr>
            <a:picLocks noChangeAspect="1"/>
          </p:cNvPicPr>
          <p:nvPr/>
        </p:nvPicPr>
        <p:blipFill>
          <a:blip r:embed="rId4"/>
          <a:srcRect l="0" r="0" t="0" b="0"/>
          <a:stretch/>
        </p:blipFill>
        <p:spPr>
          <a:xfrm>
            <a:off x="5981700" y="3202087"/>
            <a:ext cx="228600" cy="114300"/>
          </a:xfrm>
          <a:prstGeom prst="rect">
            <a:avLst/>
          </a:prstGeom>
        </p:spPr>
      </p:pic>
      <p:sp>
        <p:nvSpPr>
          <p:cNvPr id="20" name="Shape 14"/>
          <p:cNvSpPr/>
          <p:nvPr/>
        </p:nvSpPr>
        <p:spPr>
          <a:xfrm>
            <a:off x="6315075" y="2179836"/>
            <a:ext cx="2311400" cy="2158802"/>
          </a:xfrm>
          <a:prstGeom prst="roundRect">
            <a:avLst>
              <a:gd name="adj" fmla="val 4559"/>
            </a:avLst>
          </a:prstGeom>
          <a:solidFill>
            <a:srgbClr val="FCFCFB"/>
          </a:solidFill>
          <a:ln w="6350">
            <a:solidFill>
              <a:srgbClr val="D3DAE1"/>
            </a:solidFill>
            <a:prstDash val="solid"/>
          </a:ln>
        </p:spPr>
      </p:sp>
      <p:sp>
        <p:nvSpPr>
          <p:cNvPr id="21" name="Shape 15"/>
          <p:cNvSpPr/>
          <p:nvPr/>
        </p:nvSpPr>
        <p:spPr>
          <a:xfrm>
            <a:off x="6496050" y="2360811"/>
            <a:ext cx="355600" cy="355600"/>
          </a:xfrm>
          <a:prstGeom prst="roundRect">
            <a:avLst>
              <a:gd name="adj" fmla="val 21429"/>
            </a:avLst>
          </a:prstGeom>
          <a:solidFill>
            <a:srgbClr val="DCE8F4"/>
          </a:solidFill>
          <a:ln/>
        </p:spPr>
      </p:sp>
      <p:pic>
        <p:nvPicPr>
          <p:cNvPr id="22" name="Image 4" descr="Lightbulb">    </p:cNvPr>
          <p:cNvPicPr>
            <a:picLocks noChangeAspect="1"/>
          </p:cNvPicPr>
          <p:nvPr/>
        </p:nvPicPr>
        <p:blipFill>
          <a:blip r:embed="rId5"/>
          <a:srcRect l="0" r="0" t="0" b="0"/>
          <a:stretch/>
        </p:blipFill>
        <p:spPr>
          <a:xfrm>
            <a:off x="6572250" y="2437011"/>
            <a:ext cx="203200" cy="203200"/>
          </a:xfrm>
          <a:prstGeom prst="rect">
            <a:avLst/>
          </a:prstGeom>
        </p:spPr>
      </p:pic>
      <p:sp>
        <p:nvSpPr>
          <p:cNvPr id="23" name="Text 16"/>
          <p:cNvSpPr/>
          <p:nvPr/>
        </p:nvSpPr>
        <p:spPr>
          <a:xfrm>
            <a:off x="815082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03</a:t>
            </a:r>
            <a:endParaRPr lang="en-US" sz="1600" dirty="0"/>
          </a:p>
        </p:txBody>
      </p:sp>
      <p:sp>
        <p:nvSpPr>
          <p:cNvPr id="24" name="Text 17"/>
          <p:cNvSpPr/>
          <p:nvPr/>
        </p:nvSpPr>
        <p:spPr>
          <a:xfrm>
            <a:off x="649605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Одлука</a:t>
            </a:r>
            <a:endParaRPr lang="en-US" sz="1400" dirty="0"/>
          </a:p>
        </p:txBody>
      </p:sp>
      <p:sp>
        <p:nvSpPr>
          <p:cNvPr id="25" name="Text 18"/>
          <p:cNvSpPr/>
          <p:nvPr/>
        </p:nvSpPr>
        <p:spPr>
          <a:xfrm>
            <a:off x="6496050" y="3091061"/>
            <a:ext cx="2007933"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образлаже изабрану архитектонску или дизајнерску одлуку и њене последице по решење.</a:t>
            </a:r>
            <a:endParaRPr lang="en-US" sz="1200" dirty="0"/>
          </a:p>
        </p:txBody>
      </p:sp>
      <p:pic>
        <p:nvPicPr>
          <p:cNvPr id="26" name="Image 5" descr="arrow-right">    </p:cNvPr>
          <p:cNvPicPr>
            <a:picLocks noChangeAspect="1"/>
          </p:cNvPicPr>
          <p:nvPr/>
        </p:nvPicPr>
        <p:blipFill>
          <a:blip r:embed="rId6"/>
          <a:srcRect l="0" r="0" t="0" b="0"/>
          <a:stretch/>
        </p:blipFill>
        <p:spPr>
          <a:xfrm>
            <a:off x="8731250" y="3202087"/>
            <a:ext cx="228600" cy="114300"/>
          </a:xfrm>
          <a:prstGeom prst="rect">
            <a:avLst/>
          </a:prstGeom>
        </p:spPr>
      </p:pic>
      <p:sp>
        <p:nvSpPr>
          <p:cNvPr id="27" name="Shape 19"/>
          <p:cNvSpPr/>
          <p:nvPr/>
        </p:nvSpPr>
        <p:spPr>
          <a:xfrm>
            <a:off x="9064625" y="2179836"/>
            <a:ext cx="2311400" cy="2158802"/>
          </a:xfrm>
          <a:prstGeom prst="roundRect">
            <a:avLst>
              <a:gd name="adj" fmla="val 4559"/>
            </a:avLst>
          </a:prstGeom>
          <a:solidFill>
            <a:srgbClr val="FCFCFB"/>
          </a:solidFill>
          <a:ln w="6350">
            <a:solidFill>
              <a:srgbClr val="D3DAE1"/>
            </a:solidFill>
            <a:prstDash val="solid"/>
          </a:ln>
        </p:spPr>
      </p:sp>
      <p:sp>
        <p:nvSpPr>
          <p:cNvPr id="28" name="Shape 20"/>
          <p:cNvSpPr/>
          <p:nvPr/>
        </p:nvSpPr>
        <p:spPr>
          <a:xfrm>
            <a:off x="9245600" y="2360811"/>
            <a:ext cx="355600" cy="355600"/>
          </a:xfrm>
          <a:prstGeom prst="roundRect">
            <a:avLst>
              <a:gd name="adj" fmla="val 21429"/>
            </a:avLst>
          </a:prstGeom>
          <a:solidFill>
            <a:srgbClr val="FBF1E6"/>
          </a:solidFill>
          <a:ln/>
        </p:spPr>
      </p:sp>
      <p:pic>
        <p:nvPicPr>
          <p:cNvPr id="29" name="Image 6" descr="CheckCircle">    </p:cNvPr>
          <p:cNvPicPr>
            <a:picLocks noChangeAspect="1"/>
          </p:cNvPicPr>
          <p:nvPr/>
        </p:nvPicPr>
        <p:blipFill>
          <a:blip r:embed="rId7"/>
          <a:srcRect l="0" r="0" t="0" b="0"/>
          <a:stretch/>
        </p:blipFill>
        <p:spPr>
          <a:xfrm>
            <a:off x="9321800" y="2437011"/>
            <a:ext cx="203200" cy="203200"/>
          </a:xfrm>
          <a:prstGeom prst="rect">
            <a:avLst/>
          </a:prstGeom>
        </p:spPr>
      </p:pic>
      <p:sp>
        <p:nvSpPr>
          <p:cNvPr id="30" name="Text 21"/>
          <p:cNvSpPr/>
          <p:nvPr/>
        </p:nvSpPr>
        <p:spPr>
          <a:xfrm>
            <a:off x="1090037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04</a:t>
            </a:r>
            <a:endParaRPr lang="en-US" sz="1600" dirty="0"/>
          </a:p>
        </p:txBody>
      </p:sp>
      <p:sp>
        <p:nvSpPr>
          <p:cNvPr id="31" name="Text 22"/>
          <p:cNvSpPr/>
          <p:nvPr/>
        </p:nvSpPr>
        <p:spPr>
          <a:xfrm>
            <a:off x="924560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p>
        </p:txBody>
      </p:sp>
      <p:sp>
        <p:nvSpPr>
          <p:cNvPr id="32" name="Text 23"/>
          <p:cNvSpPr/>
          <p:nvPr/>
        </p:nvSpPr>
        <p:spPr>
          <a:xfrm>
            <a:off x="9245600" y="3091061"/>
            <a:ext cx="200793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Тест, build или демонстрациони сценарио потврђује резултат измене.</a:t>
            </a:r>
            <a:endParaRPr lang="en-US" sz="1200" dirty="0"/>
          </a:p>
        </p:txBody>
      </p:sp>
      <p:sp>
        <p:nvSpPr>
          <p:cNvPr id="33" name="Shape 24"/>
          <p:cNvSpPr/>
          <p:nvPr/>
        </p:nvSpPr>
        <p:spPr>
          <a:xfrm>
            <a:off x="812800" y="6209705"/>
            <a:ext cx="10566400" cy="0"/>
          </a:xfrm>
          <a:prstGeom prst="line">
            <a:avLst/>
          </a:prstGeom>
          <a:noFill/>
          <a:ln w="6350">
            <a:solidFill>
              <a:srgbClr val="D3DAE1"/>
            </a:solidFill>
            <a:prstDash val="solid"/>
          </a:ln>
        </p:spPr>
      </p:sp>
      <p:sp>
        <p:nvSpPr>
          <p:cNvPr id="34"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Услови интеграције пројектне целине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Пројектна целина се прихвата када се укључује у заједничко решење без нарушавања постојећег понашања.</a:t>
            </a:r>
            <a:endParaRPr lang="en-US" sz="1400" dirty="0"/>
          </a:p>
        </p:txBody>
      </p:sp>
      <p:sp>
        <p:nvSpPr>
          <p:cNvPr id="6" name="Shape 4"/>
          <p:cNvSpPr/>
          <p:nvPr/>
        </p:nvSpPr>
        <p:spPr>
          <a:xfrm>
            <a:off x="815975" y="2179836"/>
            <a:ext cx="5124450" cy="2497931"/>
          </a:xfrm>
          <a:prstGeom prst="roundRect">
            <a:avLst>
              <a:gd name="adj" fmla="val 3940"/>
            </a:avLst>
          </a:prstGeom>
          <a:solidFill>
            <a:srgbClr val="FCFCFB"/>
          </a:solidFill>
          <a:ln w="6350">
            <a:solidFill>
              <a:srgbClr val="D3DAE1"/>
            </a:solidFill>
            <a:prstDash val="solid"/>
          </a:ln>
        </p:spPr>
      </p:sp>
      <p:sp>
        <p:nvSpPr>
          <p:cNvPr id="7" name="Text 5"/>
          <p:cNvSpPr/>
          <p:nvPr/>
        </p:nvSpPr>
        <p:spPr>
          <a:xfrm>
            <a:off x="1047750" y="237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ТЕХНИЧКИ УСЛОВИ</a:t>
            </a:r>
            <a:endParaRPr lang="en-US" sz="1200" dirty="0"/>
          </a:p>
        </p:txBody>
      </p:sp>
      <p:pic>
        <p:nvPicPr>
          <p:cNvPr id="8" name="Image 0" descr="Check">    </p:cNvPr>
          <p:cNvPicPr>
            <a:picLocks noChangeAspect="1"/>
          </p:cNvPicPr>
          <p:nvPr/>
        </p:nvPicPr>
        <p:blipFill>
          <a:blip r:embed="rId1"/>
          <a:srcRect l="0" r="0" t="0" b="0"/>
          <a:stretch/>
        </p:blipFill>
        <p:spPr>
          <a:xfrm>
            <a:off x="1047750" y="2701131"/>
            <a:ext cx="215900" cy="215900"/>
          </a:xfrm>
          <a:prstGeom prst="rect">
            <a:avLst/>
          </a:prstGeom>
        </p:spPr>
      </p:pic>
      <p:sp>
        <p:nvSpPr>
          <p:cNvPr id="9" name="Text 6"/>
          <p:cNvSpPr/>
          <p:nvPr/>
        </p:nvSpPr>
        <p:spPr>
          <a:xfrm>
            <a:off x="1377950" y="2701131"/>
            <a:ext cx="446062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Јавни уговори су дефинисани и верзионисани</a:t>
            </a:r>
            <a:endParaRPr lang="en-US" sz="1400" dirty="0"/>
          </a:p>
        </p:txBody>
      </p:sp>
      <p:pic>
        <p:nvPicPr>
          <p:cNvPr id="10" name="Image 1" descr="Check">    </p:cNvPr>
          <p:cNvPicPr>
            <a:picLocks noChangeAspect="1"/>
          </p:cNvPicPr>
          <p:nvPr/>
        </p:nvPicPr>
        <p:blipFill>
          <a:blip r:embed="rId2"/>
          <a:srcRect l="0" r="0" t="0" b="0"/>
          <a:stretch/>
        </p:blipFill>
        <p:spPr>
          <a:xfrm>
            <a:off x="1047750" y="3055441"/>
            <a:ext cx="215900" cy="215900"/>
          </a:xfrm>
          <a:prstGeom prst="rect">
            <a:avLst/>
          </a:prstGeom>
        </p:spPr>
      </p:pic>
      <p:sp>
        <p:nvSpPr>
          <p:cNvPr id="11" name="Text 7"/>
          <p:cNvSpPr/>
          <p:nvPr/>
        </p:nvSpPr>
        <p:spPr>
          <a:xfrm>
            <a:off x="1377950" y="3055441"/>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Смер зависности одговара договореној архитектури</a:t>
            </a:r>
            <a:endParaRPr lang="en-US" sz="1400" dirty="0"/>
          </a:p>
        </p:txBody>
      </p:sp>
      <p:pic>
        <p:nvPicPr>
          <p:cNvPr id="12" name="Image 2" descr="Check">    </p:cNvPr>
          <p:cNvPicPr>
            <a:picLocks noChangeAspect="1"/>
          </p:cNvPicPr>
          <p:nvPr/>
        </p:nvPicPr>
        <p:blipFill>
          <a:blip r:embed="rId3"/>
          <a:srcRect l="0" r="0" t="0" b="0"/>
          <a:stretch/>
        </p:blipFill>
        <p:spPr>
          <a:xfrm>
            <a:off x="1047750" y="3649762"/>
            <a:ext cx="215900" cy="215900"/>
          </a:xfrm>
          <a:prstGeom prst="rect">
            <a:avLst/>
          </a:prstGeom>
        </p:spPr>
      </p:pic>
      <p:sp>
        <p:nvSpPr>
          <p:cNvPr id="13" name="Text 8"/>
          <p:cNvSpPr/>
          <p:nvPr/>
        </p:nvSpPr>
        <p:spPr>
          <a:xfrm>
            <a:off x="1377950" y="3649762"/>
            <a:ext cx="4559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Build и релевантни тестови успешно се извршавају</a:t>
            </a:r>
            <a:endParaRPr lang="en-US" sz="1400" dirty="0"/>
          </a:p>
        </p:txBody>
      </p:sp>
      <p:pic>
        <p:nvPicPr>
          <p:cNvPr id="14" name="Image 3" descr="Check">    </p:cNvPr>
          <p:cNvPicPr>
            <a:picLocks noChangeAspect="1"/>
          </p:cNvPicPr>
          <p:nvPr/>
        </p:nvPicPr>
        <p:blipFill>
          <a:blip r:embed="rId4"/>
          <a:srcRect l="0" r="0" t="0" b="0"/>
          <a:stretch/>
        </p:blipFill>
        <p:spPr>
          <a:xfrm>
            <a:off x="1047750" y="4004072"/>
            <a:ext cx="215900" cy="215900"/>
          </a:xfrm>
          <a:prstGeom prst="rect">
            <a:avLst/>
          </a:prstGeom>
        </p:spPr>
      </p:pic>
      <p:sp>
        <p:nvSpPr>
          <p:cNvPr id="15" name="Text 9"/>
          <p:cNvSpPr/>
          <p:nvPr/>
        </p:nvSpPr>
        <p:spPr>
          <a:xfrm>
            <a:off x="1377950" y="4004072"/>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Конфигурација не садржи локалне или тајне податке</a:t>
            </a:r>
            <a:endParaRPr lang="en-US" sz="1400" dirty="0"/>
          </a:p>
        </p:txBody>
      </p:sp>
      <p:sp>
        <p:nvSpPr>
          <p:cNvPr id="16" name="Shape 10"/>
          <p:cNvSpPr/>
          <p:nvPr/>
        </p:nvSpPr>
        <p:spPr>
          <a:xfrm>
            <a:off x="6251575" y="2179836"/>
            <a:ext cx="5124450" cy="2497931"/>
          </a:xfrm>
          <a:prstGeom prst="roundRect">
            <a:avLst>
              <a:gd name="adj" fmla="val 3940"/>
            </a:avLst>
          </a:prstGeom>
          <a:solidFill>
            <a:srgbClr val="FCFCFB"/>
          </a:solidFill>
          <a:ln w="6350">
            <a:solidFill>
              <a:srgbClr val="D3DAE1"/>
            </a:solidFill>
            <a:prstDash val="solid"/>
          </a:ln>
        </p:spPr>
      </p:sp>
      <p:sp>
        <p:nvSpPr>
          <p:cNvPr id="17" name="Text 11"/>
          <p:cNvSpPr/>
          <p:nvPr/>
        </p:nvSpPr>
        <p:spPr>
          <a:xfrm>
            <a:off x="6483350" y="237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ДОКАЗ НА ОДБРАНИ</a:t>
            </a:r>
            <a:endParaRPr lang="en-US" sz="1200" dirty="0"/>
          </a:p>
        </p:txBody>
      </p:sp>
      <p:pic>
        <p:nvPicPr>
          <p:cNvPr id="18" name="Image 4" descr="Play">    </p:cNvPr>
          <p:cNvPicPr>
            <a:picLocks noChangeAspect="1"/>
          </p:cNvPicPr>
          <p:nvPr/>
        </p:nvPicPr>
        <p:blipFill>
          <a:blip r:embed="rId5"/>
          <a:srcRect l="0" r="0" t="0" b="0"/>
          <a:stretch/>
        </p:blipFill>
        <p:spPr>
          <a:xfrm>
            <a:off x="6483350" y="2701131"/>
            <a:ext cx="215900" cy="215900"/>
          </a:xfrm>
          <a:prstGeom prst="rect">
            <a:avLst/>
          </a:prstGeom>
        </p:spPr>
      </p:pic>
      <p:sp>
        <p:nvSpPr>
          <p:cNvPr id="19" name="Text 12"/>
          <p:cNvSpPr/>
          <p:nvPr/>
        </p:nvSpPr>
        <p:spPr>
          <a:xfrm>
            <a:off x="6813550" y="2701131"/>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Покретање функционалности у оквиру целог решења</a:t>
            </a:r>
            <a:endParaRPr lang="en-US" sz="1400" dirty="0"/>
          </a:p>
        </p:txBody>
      </p:sp>
      <p:pic>
        <p:nvPicPr>
          <p:cNvPr id="20" name="Image 5" descr="Play">    </p:cNvPr>
          <p:cNvPicPr>
            <a:picLocks noChangeAspect="1"/>
          </p:cNvPicPr>
          <p:nvPr/>
        </p:nvPicPr>
        <p:blipFill>
          <a:blip r:embed="rId6"/>
          <a:srcRect l="0" r="0" t="0" b="0"/>
          <a:stretch/>
        </p:blipFill>
        <p:spPr>
          <a:xfrm>
            <a:off x="6483350" y="3295452"/>
            <a:ext cx="215900" cy="215900"/>
          </a:xfrm>
          <a:prstGeom prst="rect">
            <a:avLst/>
          </a:prstGeom>
        </p:spPr>
      </p:pic>
      <p:sp>
        <p:nvSpPr>
          <p:cNvPr id="21" name="Text 13"/>
          <p:cNvSpPr/>
          <p:nvPr/>
        </p:nvSpPr>
        <p:spPr>
          <a:xfrm>
            <a:off x="6813550" y="3295452"/>
            <a:ext cx="4559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Образложење интеграционих тачака и зависности</a:t>
            </a:r>
            <a:endParaRPr lang="en-US" sz="1400" dirty="0"/>
          </a:p>
        </p:txBody>
      </p:sp>
      <p:pic>
        <p:nvPicPr>
          <p:cNvPr id="22" name="Image 6" descr="Play">    </p:cNvPr>
          <p:cNvPicPr>
            <a:picLocks noChangeAspect="1"/>
          </p:cNvPicPr>
          <p:nvPr/>
        </p:nvPicPr>
        <p:blipFill>
          <a:blip r:embed="rId7"/>
          <a:srcRect l="0" r="0" t="0" b="0"/>
          <a:stretch/>
        </p:blipFill>
        <p:spPr>
          <a:xfrm>
            <a:off x="6483350" y="3649762"/>
            <a:ext cx="215900" cy="215900"/>
          </a:xfrm>
          <a:prstGeom prst="rect">
            <a:avLst/>
          </a:prstGeom>
        </p:spPr>
      </p:pic>
      <p:sp>
        <p:nvSpPr>
          <p:cNvPr id="23" name="Text 14"/>
          <p:cNvSpPr/>
          <p:nvPr/>
        </p:nvSpPr>
        <p:spPr>
          <a:xfrm>
            <a:off x="6813550" y="3649762"/>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Приказ тестова за граничне и неуспешне сценарије</a:t>
            </a:r>
            <a:endParaRPr lang="en-US" sz="1400" dirty="0"/>
          </a:p>
        </p:txBody>
      </p:sp>
      <p:pic>
        <p:nvPicPr>
          <p:cNvPr id="24" name="Image 7" descr="Play">    </p:cNvPr>
          <p:cNvPicPr>
            <a:picLocks noChangeAspect="1"/>
          </p:cNvPicPr>
          <p:nvPr/>
        </p:nvPicPr>
        <p:blipFill>
          <a:blip r:embed="rId8"/>
          <a:srcRect l="0" r="0" t="0" b="0"/>
          <a:stretch/>
        </p:blipFill>
        <p:spPr>
          <a:xfrm>
            <a:off x="6483350" y="4244082"/>
            <a:ext cx="215900" cy="215900"/>
          </a:xfrm>
          <a:prstGeom prst="rect">
            <a:avLst/>
          </a:prstGeom>
        </p:spPr>
      </p:pic>
      <p:sp>
        <p:nvSpPr>
          <p:cNvPr id="25" name="Text 15"/>
          <p:cNvSpPr/>
          <p:nvPr/>
        </p:nvSpPr>
        <p:spPr>
          <a:xfrm>
            <a:off x="6813550" y="4244082"/>
            <a:ext cx="446062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Јасан приказ индивидуалног доприноса</a:t>
            </a:r>
            <a:endParaRPr lang="en-US" sz="1400" dirty="0"/>
          </a:p>
        </p:txBody>
      </p:sp>
      <p:sp>
        <p:nvSpPr>
          <p:cNvPr id="26" name="Shape 16"/>
          <p:cNvSpPr/>
          <p:nvPr/>
        </p:nvSpPr>
        <p:spPr>
          <a:xfrm>
            <a:off x="812800" y="6209705"/>
            <a:ext cx="10566400" cy="0"/>
          </a:xfrm>
          <a:prstGeom prst="line">
            <a:avLst/>
          </a:prstGeom>
          <a:noFill/>
          <a:ln w="6350">
            <a:solidFill>
              <a:srgbClr val="D3DAE1"/>
            </a:solidFill>
            <a:prstDash val="solid"/>
          </a:ln>
        </p:spPr>
      </p:sp>
      <p:sp>
        <p:nvSpPr>
          <p:cNvPr id="27" name="Text 1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Одбрана пројекта и важење поена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Пројектни поени важе до краја текуће академске године.</a:t>
            </a:r>
            <a:endParaRPr lang="en-US" sz="1400" dirty="0"/>
          </a:p>
        </p:txBody>
      </p:sp>
      <p:sp>
        <p:nvSpPr>
          <p:cNvPr id="6" name="Text 4"/>
          <p:cNvSpPr/>
          <p:nvPr/>
        </p:nvSpPr>
        <p:spPr>
          <a:xfrm>
            <a:off x="812800" y="217666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ТЕРМИНИ ОДБРАНЕ</a:t>
            </a:r>
            <a:endParaRPr lang="en-US" sz="1200" dirty="0"/>
          </a:p>
        </p:txBody>
      </p:sp>
      <p:sp>
        <p:nvSpPr>
          <p:cNvPr id="7" name="Shape 5"/>
          <p:cNvSpPr/>
          <p:nvPr/>
        </p:nvSpPr>
        <p:spPr>
          <a:xfrm>
            <a:off x="815975" y="2507456"/>
            <a:ext cx="4057650" cy="841970"/>
          </a:xfrm>
          <a:prstGeom prst="roundRect">
            <a:avLst>
              <a:gd name="adj" fmla="val 11690"/>
            </a:avLst>
          </a:prstGeom>
          <a:solidFill>
            <a:srgbClr val="FCFCFB"/>
          </a:solidFill>
          <a:ln w="6350">
            <a:solidFill>
              <a:srgbClr val="D3DAE1"/>
            </a:solidFill>
            <a:prstDash val="solid"/>
          </a:ln>
        </p:spPr>
      </p:sp>
      <p:sp>
        <p:nvSpPr>
          <p:cNvPr id="8" name="Shape 6"/>
          <p:cNvSpPr/>
          <p:nvPr/>
        </p:nvSpPr>
        <p:spPr>
          <a:xfrm>
            <a:off x="1009650" y="2675731"/>
            <a:ext cx="355600" cy="355600"/>
          </a:xfrm>
          <a:prstGeom prst="roundRect">
            <a:avLst>
              <a:gd name="adj" fmla="val 21429"/>
            </a:avLst>
          </a:prstGeom>
          <a:solidFill>
            <a:srgbClr val="DCE8F4"/>
          </a:solidFill>
          <a:ln/>
        </p:spPr>
      </p:sp>
      <p:pic>
        <p:nvPicPr>
          <p:cNvPr id="9" name="Image 0" descr="Clock">    </p:cNvPr>
          <p:cNvPicPr>
            <a:picLocks noChangeAspect="1"/>
          </p:cNvPicPr>
          <p:nvPr/>
        </p:nvPicPr>
        <p:blipFill>
          <a:blip r:embed="rId1"/>
          <a:srcRect l="0" r="0" t="0" b="0"/>
          <a:stretch/>
        </p:blipFill>
        <p:spPr>
          <a:xfrm>
            <a:off x="1085850" y="2751931"/>
            <a:ext cx="203200" cy="203200"/>
          </a:xfrm>
          <a:prstGeom prst="rect">
            <a:avLst/>
          </a:prstGeom>
        </p:spPr>
      </p:pic>
      <p:sp>
        <p:nvSpPr>
          <p:cNvPr id="10" name="Text 7"/>
          <p:cNvSpPr/>
          <p:nvPr/>
        </p:nvSpPr>
        <p:spPr>
          <a:xfrm>
            <a:off x="1504950" y="2675731"/>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ПРЕДИСПИТНИ ТЕРМИН</a:t>
            </a:r>
            <a:endParaRPr lang="en-US" sz="1200" dirty="0"/>
          </a:p>
        </p:txBody>
      </p:sp>
      <p:sp>
        <p:nvSpPr>
          <p:cNvPr id="11" name="Text 8"/>
          <p:cNvSpPr/>
          <p:nvPr/>
        </p:nvSpPr>
        <p:spPr>
          <a:xfrm>
            <a:off x="1504950" y="2927152"/>
            <a:ext cx="3270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02D"/>
                </a:solidFill>
                <a:latin typeface="IBM Plex Sans" pitchFamily="34" charset="0"/>
                <a:ea typeface="IBM Plex Sans" pitchFamily="34" charset="-122"/>
                <a:cs typeface="IBM Plex Sans" pitchFamily="34" charset="-120"/>
              </a:rPr>
              <a:t>Прва половина децембра</a:t>
            </a:r>
            <a:endParaRPr lang="en-US" sz="1600" dirty="0"/>
          </a:p>
        </p:txBody>
      </p:sp>
      <p:sp>
        <p:nvSpPr>
          <p:cNvPr id="12" name="Shape 9"/>
          <p:cNvSpPr/>
          <p:nvPr/>
        </p:nvSpPr>
        <p:spPr>
          <a:xfrm>
            <a:off x="815975" y="3470077"/>
            <a:ext cx="4057650" cy="1095970"/>
          </a:xfrm>
          <a:prstGeom prst="roundRect">
            <a:avLst>
              <a:gd name="adj" fmla="val 8981"/>
            </a:avLst>
          </a:prstGeom>
          <a:solidFill>
            <a:srgbClr val="FCFCFB"/>
          </a:solidFill>
          <a:ln w="6350">
            <a:solidFill>
              <a:srgbClr val="D3DAE1"/>
            </a:solidFill>
            <a:prstDash val="solid"/>
          </a:ln>
        </p:spPr>
      </p:sp>
      <p:sp>
        <p:nvSpPr>
          <p:cNvPr id="13" name="Shape 10"/>
          <p:cNvSpPr/>
          <p:nvPr/>
        </p:nvSpPr>
        <p:spPr>
          <a:xfrm>
            <a:off x="1009650" y="3638352"/>
            <a:ext cx="355600" cy="355600"/>
          </a:xfrm>
          <a:prstGeom prst="roundRect">
            <a:avLst>
              <a:gd name="adj" fmla="val 21429"/>
            </a:avLst>
          </a:prstGeom>
          <a:solidFill>
            <a:srgbClr val="DCE8F4"/>
          </a:solidFill>
          <a:ln/>
        </p:spPr>
      </p:sp>
      <p:pic>
        <p:nvPicPr>
          <p:cNvPr id="14" name="Image 1" descr="Clock">    </p:cNvPr>
          <p:cNvPicPr>
            <a:picLocks noChangeAspect="1"/>
          </p:cNvPicPr>
          <p:nvPr/>
        </p:nvPicPr>
        <p:blipFill>
          <a:blip r:embed="rId2"/>
          <a:srcRect l="0" r="0" t="0" b="0"/>
          <a:stretch/>
        </p:blipFill>
        <p:spPr>
          <a:xfrm>
            <a:off x="1085850" y="3714552"/>
            <a:ext cx="203200" cy="203200"/>
          </a:xfrm>
          <a:prstGeom prst="rect">
            <a:avLst/>
          </a:prstGeom>
        </p:spPr>
      </p:pic>
      <p:sp>
        <p:nvSpPr>
          <p:cNvPr id="15" name="Text 11"/>
          <p:cNvSpPr/>
          <p:nvPr/>
        </p:nvSpPr>
        <p:spPr>
          <a:xfrm>
            <a:off x="1504950" y="3638352"/>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РЕДОВНИ ТЕРМИН</a:t>
            </a:r>
            <a:endParaRPr lang="en-US" sz="1200" dirty="0"/>
          </a:p>
        </p:txBody>
      </p:sp>
      <p:sp>
        <p:nvSpPr>
          <p:cNvPr id="16" name="Text 12"/>
          <p:cNvSpPr/>
          <p:nvPr/>
        </p:nvSpPr>
        <p:spPr>
          <a:xfrm>
            <a:off x="1504950" y="3889772"/>
            <a:ext cx="3270250"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02D"/>
                </a:solidFill>
                <a:latin typeface="IBM Plex Sans" pitchFamily="34" charset="0"/>
                <a:ea typeface="IBM Plex Sans" pitchFamily="34" charset="-122"/>
                <a:cs typeface="IBM Plex Sans" pitchFamily="34" charset="-120"/>
              </a:rPr>
              <a:t>Последња недеља зимског семестра</a:t>
            </a:r>
            <a:endParaRPr lang="en-US" sz="1600" dirty="0"/>
          </a:p>
        </p:txBody>
      </p:sp>
      <p:sp>
        <p:nvSpPr>
          <p:cNvPr id="17" name="Text 13"/>
          <p:cNvSpPr/>
          <p:nvPr/>
        </p:nvSpPr>
        <p:spPr>
          <a:xfrm>
            <a:off x="5181600" y="2176661"/>
            <a:ext cx="63835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САДРЖАЈ ОДБРАНЕ</a:t>
            </a:r>
            <a:endParaRPr lang="en-US" sz="1200" dirty="0"/>
          </a:p>
        </p:txBody>
      </p:sp>
      <p:sp>
        <p:nvSpPr>
          <p:cNvPr id="18" name="Shape 14"/>
          <p:cNvSpPr/>
          <p:nvPr/>
        </p:nvSpPr>
        <p:spPr>
          <a:xfrm>
            <a:off x="5181600" y="2507456"/>
            <a:ext cx="6197600" cy="0"/>
          </a:xfrm>
          <a:prstGeom prst="line">
            <a:avLst/>
          </a:prstGeom>
          <a:noFill/>
          <a:ln w="6350">
            <a:solidFill>
              <a:srgbClr val="D3DAE1"/>
            </a:solidFill>
            <a:prstDash val="solid"/>
          </a:ln>
        </p:spPr>
      </p:sp>
      <p:sp>
        <p:nvSpPr>
          <p:cNvPr id="19" name="Text 15"/>
          <p:cNvSpPr/>
          <p:nvPr/>
        </p:nvSpPr>
        <p:spPr>
          <a:xfrm>
            <a:off x="5181600" y="2612231"/>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01</a:t>
            </a:r>
            <a:endParaRPr lang="en-US" sz="1400" dirty="0"/>
          </a:p>
        </p:txBody>
      </p:sp>
      <p:sp>
        <p:nvSpPr>
          <p:cNvPr id="20" name="Text 16"/>
          <p:cNvSpPr/>
          <p:nvPr/>
        </p:nvSpPr>
        <p:spPr>
          <a:xfrm>
            <a:off x="5547420" y="2612231"/>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Функционалност пројекта и испуњеност критеријума бодовања</a:t>
            </a:r>
            <a:endParaRPr lang="en-US" sz="1400" dirty="0"/>
          </a:p>
        </p:txBody>
      </p:sp>
      <p:sp>
        <p:nvSpPr>
          <p:cNvPr id="21" name="Shape 17"/>
          <p:cNvSpPr/>
          <p:nvPr/>
        </p:nvSpPr>
        <p:spPr>
          <a:xfrm>
            <a:off x="5181600" y="2978547"/>
            <a:ext cx="6197600" cy="0"/>
          </a:xfrm>
          <a:prstGeom prst="line">
            <a:avLst/>
          </a:prstGeom>
          <a:noFill/>
          <a:ln w="6350">
            <a:solidFill>
              <a:srgbClr val="D3DAE1"/>
            </a:solidFill>
            <a:prstDash val="solid"/>
          </a:ln>
        </p:spPr>
      </p:sp>
      <p:sp>
        <p:nvSpPr>
          <p:cNvPr id="22" name="Text 18"/>
          <p:cNvSpPr/>
          <p:nvPr/>
        </p:nvSpPr>
        <p:spPr>
          <a:xfrm>
            <a:off x="5181600" y="3083322"/>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02</a:t>
            </a:r>
            <a:endParaRPr lang="en-US" sz="1400" dirty="0"/>
          </a:p>
        </p:txBody>
      </p:sp>
      <p:sp>
        <p:nvSpPr>
          <p:cNvPr id="23" name="Text 19"/>
          <p:cNvSpPr/>
          <p:nvPr/>
        </p:nvSpPr>
        <p:spPr>
          <a:xfrm>
            <a:off x="5547420" y="3083322"/>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Разумевање архитектонских, техничких и организационих одлука</a:t>
            </a:r>
            <a:endParaRPr lang="en-US" sz="1400" dirty="0"/>
          </a:p>
        </p:txBody>
      </p:sp>
      <p:sp>
        <p:nvSpPr>
          <p:cNvPr id="24" name="Shape 20"/>
          <p:cNvSpPr/>
          <p:nvPr/>
        </p:nvSpPr>
        <p:spPr>
          <a:xfrm>
            <a:off x="5181600" y="3449638"/>
            <a:ext cx="6197600" cy="0"/>
          </a:xfrm>
          <a:prstGeom prst="line">
            <a:avLst/>
          </a:prstGeom>
          <a:noFill/>
          <a:ln w="6350">
            <a:solidFill>
              <a:srgbClr val="D3DAE1"/>
            </a:solidFill>
            <a:prstDash val="solid"/>
          </a:ln>
        </p:spPr>
      </p:sp>
      <p:sp>
        <p:nvSpPr>
          <p:cNvPr id="25" name="Text 21"/>
          <p:cNvSpPr/>
          <p:nvPr/>
        </p:nvSpPr>
        <p:spPr>
          <a:xfrm>
            <a:off x="5181600" y="3554413"/>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03</a:t>
            </a:r>
            <a:endParaRPr lang="en-US" sz="1400" dirty="0"/>
          </a:p>
        </p:txBody>
      </p:sp>
      <p:sp>
        <p:nvSpPr>
          <p:cNvPr id="26" name="Text 22"/>
          <p:cNvSpPr/>
          <p:nvPr/>
        </p:nvSpPr>
        <p:spPr>
          <a:xfrm>
            <a:off x="5547420" y="3554413"/>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Сопствени допринос и релевантни делови заједничког решења</a:t>
            </a:r>
            <a:endParaRPr lang="en-US" sz="1400" dirty="0"/>
          </a:p>
        </p:txBody>
      </p:sp>
      <p:sp>
        <p:nvSpPr>
          <p:cNvPr id="27" name="Shape 23"/>
          <p:cNvSpPr/>
          <p:nvPr/>
        </p:nvSpPr>
        <p:spPr>
          <a:xfrm>
            <a:off x="5181600" y="3920728"/>
            <a:ext cx="6197600" cy="0"/>
          </a:xfrm>
          <a:prstGeom prst="line">
            <a:avLst/>
          </a:prstGeom>
          <a:noFill/>
          <a:ln w="6350">
            <a:solidFill>
              <a:srgbClr val="D3DAE1"/>
            </a:solidFill>
            <a:prstDash val="solid"/>
          </a:ln>
        </p:spPr>
      </p:sp>
      <p:sp>
        <p:nvSpPr>
          <p:cNvPr id="28" name="Text 24"/>
          <p:cNvSpPr/>
          <p:nvPr/>
        </p:nvSpPr>
        <p:spPr>
          <a:xfrm>
            <a:off x="5181600" y="4025503"/>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04</a:t>
            </a:r>
            <a:endParaRPr lang="en-US" sz="1400" dirty="0"/>
          </a:p>
        </p:txBody>
      </p:sp>
      <p:sp>
        <p:nvSpPr>
          <p:cNvPr id="29" name="Text 25"/>
          <p:cNvSpPr/>
          <p:nvPr/>
        </p:nvSpPr>
        <p:spPr>
          <a:xfrm>
            <a:off x="5547420" y="4025503"/>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Теоријска питања из области обрађених на предмету</a:t>
            </a:r>
            <a:endParaRPr lang="en-US" sz="14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Усмени испит</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Услови приступа усменом испиту и утицај резултата на коначну оцену.</a:t>
            </a:r>
            <a:endParaRPr lang="en-US" sz="1400" dirty="0"/>
          </a:p>
        </p:txBody>
      </p:sp>
      <p:sp>
        <p:nvSpPr>
          <p:cNvPr id="6" name="Shape 4"/>
          <p:cNvSpPr/>
          <p:nvPr/>
        </p:nvSpPr>
        <p:spPr>
          <a:xfrm>
            <a:off x="815975" y="2179836"/>
            <a:ext cx="3414117" cy="1767681"/>
          </a:xfrm>
          <a:prstGeom prst="roundRect">
            <a:avLst>
              <a:gd name="adj" fmla="val 5568"/>
            </a:avLst>
          </a:prstGeom>
          <a:solidFill>
            <a:srgbClr val="FCFCFB"/>
          </a:solidFill>
          <a:ln w="6350">
            <a:solidFill>
              <a:srgbClr val="D3DAE1"/>
            </a:solidFill>
            <a:prstDash val="solid"/>
          </a:ln>
        </p:spPr>
      </p:sp>
      <p:sp>
        <p:nvSpPr>
          <p:cNvPr id="7" name="Text 5"/>
          <p:cNvSpPr/>
          <p:nvPr/>
        </p:nvSpPr>
        <p:spPr>
          <a:xfrm>
            <a:off x="1022350" y="2360811"/>
            <a:ext cx="3091408"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A8520A"/>
                </a:solidFill>
                <a:latin typeface="IBM Plex Mono" pitchFamily="49" charset="0"/>
                <a:ea typeface="IBM Plex Mono" pitchFamily="49" charset="-122"/>
                <a:cs typeface="IBM Plex Mono" pitchFamily="49" charset="-120"/>
              </a:rPr>
              <a:t>41–50</a:t>
            </a:r>
            <a:endParaRPr lang="en-US" sz="2800" dirty="0"/>
          </a:p>
        </p:txBody>
      </p:sp>
      <p:sp>
        <p:nvSpPr>
          <p:cNvPr id="8" name="Text 6"/>
          <p:cNvSpPr/>
          <p:nvPr/>
        </p:nvSpPr>
        <p:spPr>
          <a:xfrm>
            <a:off x="1022350" y="2828131"/>
            <a:ext cx="30914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Обавезан усмени испит</a:t>
            </a:r>
            <a:endParaRPr lang="en-US" sz="1400" dirty="0"/>
          </a:p>
        </p:txBody>
      </p:sp>
      <p:sp>
        <p:nvSpPr>
          <p:cNvPr id="9" name="Text 7"/>
          <p:cNvSpPr/>
          <p:nvPr/>
        </p:nvSpPr>
        <p:spPr>
          <a:xfrm>
            <a:off x="1022350" y="3126581"/>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Са 41 до 50 пројектних поена за позитивну оцену потребно је најмање 51 поен укупно.</a:t>
            </a:r>
            <a:endParaRPr lang="en-US" sz="1200" dirty="0"/>
          </a:p>
        </p:txBody>
      </p:sp>
      <p:sp>
        <p:nvSpPr>
          <p:cNvPr id="10" name="Shape 8"/>
          <p:cNvSpPr/>
          <p:nvPr/>
        </p:nvSpPr>
        <p:spPr>
          <a:xfrm>
            <a:off x="4388842" y="2179836"/>
            <a:ext cx="3414216" cy="1767681"/>
          </a:xfrm>
          <a:prstGeom prst="roundRect">
            <a:avLst>
              <a:gd name="adj" fmla="val 5568"/>
            </a:avLst>
          </a:prstGeom>
          <a:solidFill>
            <a:srgbClr val="FCFCFB"/>
          </a:solidFill>
          <a:ln w="6350">
            <a:solidFill>
              <a:srgbClr val="D3DAE1"/>
            </a:solidFill>
            <a:prstDash val="solid"/>
          </a:ln>
        </p:spPr>
      </p:sp>
      <p:sp>
        <p:nvSpPr>
          <p:cNvPr id="11" name="Text 9"/>
          <p:cNvSpPr/>
          <p:nvPr/>
        </p:nvSpPr>
        <p:spPr>
          <a:xfrm>
            <a:off x="4595217" y="2360811"/>
            <a:ext cx="3091510"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0A5CA8"/>
                </a:solidFill>
                <a:latin typeface="IBM Plex Mono" pitchFamily="49" charset="0"/>
                <a:ea typeface="IBM Plex Mono" pitchFamily="49" charset="-122"/>
                <a:cs typeface="IBM Plex Mono" pitchFamily="49" charset="-120"/>
              </a:rPr>
              <a:t>51–71</a:t>
            </a:r>
            <a:endParaRPr lang="en-US" sz="2800" dirty="0"/>
          </a:p>
        </p:txBody>
      </p:sp>
      <p:sp>
        <p:nvSpPr>
          <p:cNvPr id="12" name="Text 10"/>
          <p:cNvSpPr/>
          <p:nvPr/>
        </p:nvSpPr>
        <p:spPr>
          <a:xfrm>
            <a:off x="4595217" y="282813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Упис оцене без усменог испита</a:t>
            </a:r>
            <a:endParaRPr lang="en-US" sz="1400" dirty="0"/>
          </a:p>
        </p:txBody>
      </p:sp>
      <p:sp>
        <p:nvSpPr>
          <p:cNvPr id="13" name="Text 11"/>
          <p:cNvSpPr/>
          <p:nvPr/>
        </p:nvSpPr>
        <p:spPr>
          <a:xfrm>
            <a:off x="4595217" y="312658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Са 51 до 71 пројектних поена студент може прихватити оцену на основу пројектног резултата.</a:t>
            </a:r>
            <a:endParaRPr lang="en-US" sz="1200" dirty="0"/>
          </a:p>
        </p:txBody>
      </p:sp>
      <p:sp>
        <p:nvSpPr>
          <p:cNvPr id="14" name="Shape 12"/>
          <p:cNvSpPr/>
          <p:nvPr/>
        </p:nvSpPr>
        <p:spPr>
          <a:xfrm>
            <a:off x="7961809" y="2179836"/>
            <a:ext cx="3414216" cy="1767681"/>
          </a:xfrm>
          <a:prstGeom prst="roundRect">
            <a:avLst>
              <a:gd name="adj" fmla="val 5568"/>
            </a:avLst>
          </a:prstGeom>
          <a:solidFill>
            <a:srgbClr val="FCFCFB"/>
          </a:solidFill>
          <a:ln w="6350">
            <a:solidFill>
              <a:srgbClr val="D3DAE1"/>
            </a:solidFill>
            <a:prstDash val="solid"/>
          </a:ln>
        </p:spPr>
      </p:sp>
      <p:sp>
        <p:nvSpPr>
          <p:cNvPr id="15" name="Text 13"/>
          <p:cNvSpPr/>
          <p:nvPr/>
        </p:nvSpPr>
        <p:spPr>
          <a:xfrm>
            <a:off x="8168184" y="2360811"/>
            <a:ext cx="3091510"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3202D"/>
                </a:solidFill>
                <a:latin typeface="IBM Plex Mono" pitchFamily="49" charset="0"/>
                <a:ea typeface="IBM Plex Mono" pitchFamily="49" charset="-122"/>
                <a:cs typeface="IBM Plex Mono" pitchFamily="49" charset="-120"/>
              </a:rPr>
              <a:t>−20 / +30</a:t>
            </a:r>
            <a:endParaRPr lang="en-US" sz="2800" dirty="0"/>
          </a:p>
        </p:txBody>
      </p:sp>
      <p:sp>
        <p:nvSpPr>
          <p:cNvPr id="16" name="Text 14"/>
          <p:cNvSpPr/>
          <p:nvPr/>
        </p:nvSpPr>
        <p:spPr>
          <a:xfrm>
            <a:off x="8168184" y="282813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Промена укупног резултата</a:t>
            </a:r>
            <a:endParaRPr lang="en-US" sz="1400" dirty="0"/>
          </a:p>
        </p:txBody>
      </p:sp>
      <p:sp>
        <p:nvSpPr>
          <p:cNvPr id="17" name="Text 15"/>
          <p:cNvSpPr/>
          <p:nvPr/>
        </p:nvSpPr>
        <p:spPr>
          <a:xfrm>
            <a:off x="8168184" y="312658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Резултат усменог испита мења укупан број поена у распону од −20 до +30.</a:t>
            </a:r>
            <a:endParaRPr lang="en-US" sz="1200" dirty="0"/>
          </a:p>
        </p:txBody>
      </p:sp>
      <p:sp>
        <p:nvSpPr>
          <p:cNvPr id="18" name="Shape 16"/>
          <p:cNvSpPr/>
          <p:nvPr/>
        </p:nvSpPr>
        <p:spPr>
          <a:xfrm>
            <a:off x="812800" y="4204692"/>
            <a:ext cx="10566400" cy="783530"/>
          </a:xfrm>
          <a:prstGeom prst="roundRect">
            <a:avLst>
              <a:gd name="adj" fmla="val 12967"/>
            </a:avLst>
          </a:prstGeom>
          <a:solidFill>
            <a:srgbClr val="EBF0F5"/>
          </a:solidFill>
          <a:ln/>
        </p:spPr>
      </p:sp>
      <p:sp>
        <p:nvSpPr>
          <p:cNvPr id="19" name="Shape 17"/>
          <p:cNvSpPr/>
          <p:nvPr/>
        </p:nvSpPr>
        <p:spPr>
          <a:xfrm>
            <a:off x="812800" y="420469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0A5CA8"/>
          </a:solidFill>
          <a:ln/>
        </p:spPr>
      </p:sp>
      <p:pic>
        <p:nvPicPr>
          <p:cNvPr id="20" name="Image 0" descr="Warning">    </p:cNvPr>
          <p:cNvPicPr>
            <a:picLocks noChangeAspect="1"/>
          </p:cNvPicPr>
          <p:nvPr/>
        </p:nvPicPr>
        <p:blipFill>
          <a:blip r:embed="rId1"/>
          <a:srcRect l="0" r="0" t="0" b="0"/>
          <a:stretch/>
        </p:blipFill>
        <p:spPr>
          <a:xfrm>
            <a:off x="1054100" y="4469408"/>
            <a:ext cx="254000" cy="254000"/>
          </a:xfrm>
          <a:prstGeom prst="rect">
            <a:avLst/>
          </a:prstGeom>
        </p:spPr>
      </p:pic>
      <p:sp>
        <p:nvSpPr>
          <p:cNvPr id="21" name="Text 18"/>
          <p:cNvSpPr/>
          <p:nvPr/>
        </p:nvSpPr>
        <p:spPr>
          <a:xfrm>
            <a:off x="1460500" y="4357092"/>
            <a:ext cx="1000696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CA8"/>
                </a:solidFill>
                <a:latin typeface="IBM Plex Mono" pitchFamily="49" charset="0"/>
                <a:ea typeface="IBM Plex Mono" pitchFamily="49" charset="-122"/>
                <a:cs typeface="IBM Plex Mono" pitchFamily="49" charset="-120"/>
              </a:rPr>
              <a:t>ПРИЈАВА ИСПИТА</a:t>
            </a:r>
            <a:endParaRPr lang="en-US" sz="1200" dirty="0"/>
          </a:p>
        </p:txBody>
      </p:sp>
      <p:sp>
        <p:nvSpPr>
          <p:cNvPr id="22" name="Text 19"/>
          <p:cNvSpPr/>
          <p:nvPr/>
        </p:nvSpPr>
        <p:spPr>
          <a:xfrm>
            <a:off x="1460500" y="4595813"/>
            <a:ext cx="1000696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Пријављен испит без приступа усменом делу: оцена на основу пројектних поена.</a:t>
            </a:r>
            <a:endParaRPr lang="en-US" sz="1400" dirty="0"/>
          </a:p>
        </p:txBody>
      </p:sp>
      <p:sp>
        <p:nvSpPr>
          <p:cNvPr id="23" name="Shape 20"/>
          <p:cNvSpPr/>
          <p:nvPr/>
        </p:nvSpPr>
        <p:spPr>
          <a:xfrm>
            <a:off x="812800" y="6209705"/>
            <a:ext cx="10566400" cy="0"/>
          </a:xfrm>
          <a:prstGeom prst="line">
            <a:avLst/>
          </a:prstGeom>
          <a:noFill/>
          <a:ln w="6350">
            <a:solidFill>
              <a:srgbClr val="D3DAE1"/>
            </a:solidFill>
            <a:prstDash val="solid"/>
          </a:ln>
        </p:spPr>
      </p:sp>
      <p:sp>
        <p:nvSpPr>
          <p:cNvPr id="24"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5"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Потпис и предиспитне обавезе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Услови за потпис и рок важења пројектних поена.</a:t>
            </a:r>
            <a:endParaRPr lang="en-US" sz="1400" dirty="0"/>
          </a:p>
        </p:txBody>
      </p:sp>
      <p:sp>
        <p:nvSpPr>
          <p:cNvPr id="6" name="Shape 4"/>
          <p:cNvSpPr/>
          <p:nvPr/>
        </p:nvSpPr>
        <p:spPr>
          <a:xfrm>
            <a:off x="815975" y="2179836"/>
            <a:ext cx="3414117" cy="1970881"/>
          </a:xfrm>
          <a:prstGeom prst="roundRect">
            <a:avLst>
              <a:gd name="adj" fmla="val 4994"/>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DCE8F4"/>
          </a:solidFill>
          <a:ln/>
        </p:spPr>
      </p:sp>
      <p:pic>
        <p:nvPicPr>
          <p:cNvPr id="8" name="Image 0" descr="Verified">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022350" y="2805311"/>
            <a:ext cx="30914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Услов за потпис</a:t>
            </a:r>
            <a:endParaRPr lang="en-US" sz="1400" dirty="0"/>
          </a:p>
        </p:txBody>
      </p:sp>
      <p:sp>
        <p:nvSpPr>
          <p:cNvPr id="10" name="Text 7"/>
          <p:cNvSpPr/>
          <p:nvPr/>
        </p:nvSpPr>
        <p:spPr>
          <a:xfrm>
            <a:off x="1022350" y="311646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стиче потпис након испуњења свих предиспитних обавеза.</a:t>
            </a:r>
            <a:endParaRPr lang="en-US" sz="1200" dirty="0"/>
          </a:p>
        </p:txBody>
      </p:sp>
      <p:sp>
        <p:nvSpPr>
          <p:cNvPr id="11" name="Shape 8"/>
          <p:cNvSpPr/>
          <p:nvPr/>
        </p:nvSpPr>
        <p:spPr>
          <a:xfrm>
            <a:off x="4388842" y="2179836"/>
            <a:ext cx="3414216" cy="1970881"/>
          </a:xfrm>
          <a:prstGeom prst="roundRect">
            <a:avLst>
              <a:gd name="adj" fmla="val 4994"/>
            </a:avLst>
          </a:prstGeom>
          <a:solidFill>
            <a:srgbClr val="FCFCFB"/>
          </a:solidFill>
          <a:ln w="6350">
            <a:solidFill>
              <a:srgbClr val="D3DAE1"/>
            </a:solidFill>
            <a:prstDash val="solid"/>
          </a:ln>
        </p:spPr>
      </p:sp>
      <p:sp>
        <p:nvSpPr>
          <p:cNvPr id="12" name="Shape 9"/>
          <p:cNvSpPr/>
          <p:nvPr/>
        </p:nvSpPr>
        <p:spPr>
          <a:xfrm>
            <a:off x="4595217" y="2360811"/>
            <a:ext cx="355600" cy="355600"/>
          </a:xfrm>
          <a:prstGeom prst="roundRect">
            <a:avLst>
              <a:gd name="adj" fmla="val 21429"/>
            </a:avLst>
          </a:prstGeom>
          <a:solidFill>
            <a:srgbClr val="DCE8F4"/>
          </a:solidFill>
          <a:ln/>
        </p:spPr>
      </p:sp>
      <p:pic>
        <p:nvPicPr>
          <p:cNvPr id="13" name="Image 1" descr="Clock">    </p:cNvPr>
          <p:cNvPicPr>
            <a:picLocks noChangeAspect="1"/>
          </p:cNvPicPr>
          <p:nvPr/>
        </p:nvPicPr>
        <p:blipFill>
          <a:blip r:embed="rId2"/>
          <a:srcRect l="0" r="0" t="0" b="0"/>
          <a:stretch/>
        </p:blipFill>
        <p:spPr>
          <a:xfrm>
            <a:off x="4671417" y="2437011"/>
            <a:ext cx="203200" cy="203200"/>
          </a:xfrm>
          <a:prstGeom prst="rect">
            <a:avLst/>
          </a:prstGeom>
        </p:spPr>
      </p:pic>
      <p:sp>
        <p:nvSpPr>
          <p:cNvPr id="14" name="Text 10"/>
          <p:cNvSpPr/>
          <p:nvPr/>
        </p:nvSpPr>
        <p:spPr>
          <a:xfrm>
            <a:off x="4595217" y="280531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Важење пројектних поена</a:t>
            </a:r>
            <a:endParaRPr lang="en-US" sz="1400" dirty="0"/>
          </a:p>
        </p:txBody>
      </p:sp>
      <p:sp>
        <p:nvSpPr>
          <p:cNvPr id="15" name="Text 11"/>
          <p:cNvSpPr/>
          <p:nvPr/>
        </p:nvSpPr>
        <p:spPr>
          <a:xfrm>
            <a:off x="4595217" y="311646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Остварени пројектни поени важе до краја текуће академске године.</a:t>
            </a:r>
            <a:endParaRPr lang="en-US" sz="1200" dirty="0"/>
          </a:p>
        </p:txBody>
      </p:sp>
      <p:sp>
        <p:nvSpPr>
          <p:cNvPr id="16" name="Shape 12"/>
          <p:cNvSpPr/>
          <p:nvPr/>
        </p:nvSpPr>
        <p:spPr>
          <a:xfrm>
            <a:off x="7961809" y="2179836"/>
            <a:ext cx="3414216" cy="1970881"/>
          </a:xfrm>
          <a:prstGeom prst="roundRect">
            <a:avLst>
              <a:gd name="adj" fmla="val 4994"/>
            </a:avLst>
          </a:prstGeom>
          <a:solidFill>
            <a:srgbClr val="FCFCFB"/>
          </a:solidFill>
          <a:ln w="6350">
            <a:solidFill>
              <a:srgbClr val="D3DAE1"/>
            </a:solidFill>
            <a:prstDash val="solid"/>
          </a:ln>
        </p:spPr>
      </p:sp>
      <p:sp>
        <p:nvSpPr>
          <p:cNvPr id="17" name="Shape 13"/>
          <p:cNvSpPr/>
          <p:nvPr/>
        </p:nvSpPr>
        <p:spPr>
          <a:xfrm>
            <a:off x="8168184" y="2360811"/>
            <a:ext cx="355600" cy="355600"/>
          </a:xfrm>
          <a:prstGeom prst="roundRect">
            <a:avLst>
              <a:gd name="adj" fmla="val 21429"/>
            </a:avLst>
          </a:prstGeom>
          <a:solidFill>
            <a:srgbClr val="DCE8F4"/>
          </a:solidFill>
          <a:ln/>
        </p:spPr>
      </p:sp>
      <p:pic>
        <p:nvPicPr>
          <p:cNvPr id="18" name="Image 2" descr="GraduationCap">    </p:cNvPr>
          <p:cNvPicPr>
            <a:picLocks noChangeAspect="1"/>
          </p:cNvPicPr>
          <p:nvPr/>
        </p:nvPicPr>
        <p:blipFill>
          <a:blip r:embed="rId3"/>
          <a:srcRect l="0" r="0" t="0" b="0"/>
          <a:stretch/>
        </p:blipFill>
        <p:spPr>
          <a:xfrm>
            <a:off x="8244384" y="2437011"/>
            <a:ext cx="203200" cy="203200"/>
          </a:xfrm>
          <a:prstGeom prst="rect">
            <a:avLst/>
          </a:prstGeom>
        </p:spPr>
      </p:pic>
      <p:sp>
        <p:nvSpPr>
          <p:cNvPr id="19" name="Text 14"/>
          <p:cNvSpPr/>
          <p:nvPr/>
        </p:nvSpPr>
        <p:spPr>
          <a:xfrm>
            <a:off x="8168184" y="280531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Наредна академска година</a:t>
            </a:r>
            <a:endParaRPr lang="en-US" sz="1400" dirty="0"/>
          </a:p>
        </p:txBody>
      </p:sp>
      <p:sp>
        <p:nvSpPr>
          <p:cNvPr id="20" name="Text 15"/>
          <p:cNvSpPr/>
          <p:nvPr/>
        </p:nvSpPr>
        <p:spPr>
          <a:xfrm>
            <a:off x="8168184" y="311646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Ако не положи испит до краја текуће академске године, студент поново похађа предмет и испуњава предиспитне обавезе.</a:t>
            </a:r>
            <a:endParaRPr lang="en-US" sz="1200" dirty="0"/>
          </a:p>
        </p:txBody>
      </p:sp>
      <p:sp>
        <p:nvSpPr>
          <p:cNvPr id="21" name="Shape 16"/>
          <p:cNvSpPr/>
          <p:nvPr/>
        </p:nvSpPr>
        <p:spPr>
          <a:xfrm>
            <a:off x="815975" y="4411067"/>
            <a:ext cx="10560050" cy="789880"/>
          </a:xfrm>
          <a:prstGeom prst="roundRect">
            <a:avLst>
              <a:gd name="adj" fmla="val 12461"/>
            </a:avLst>
          </a:prstGeom>
          <a:solidFill>
            <a:srgbClr val="FBF1E6"/>
          </a:solidFill>
          <a:ln w="6350">
            <a:solidFill>
              <a:srgbClr val="E9B98C"/>
            </a:solidFill>
            <a:prstDash val="solid"/>
          </a:ln>
        </p:spPr>
      </p:sp>
      <p:pic>
        <p:nvPicPr>
          <p:cNvPr id="22" name="Image 3" descr="Warning">    </p:cNvPr>
          <p:cNvPicPr>
            <a:picLocks noChangeAspect="1"/>
          </p:cNvPicPr>
          <p:nvPr/>
        </p:nvPicPr>
        <p:blipFill>
          <a:blip r:embed="rId4"/>
          <a:srcRect l="0" r="0" t="0" b="0"/>
          <a:stretch/>
        </p:blipFill>
        <p:spPr>
          <a:xfrm>
            <a:off x="1022350" y="4678958"/>
            <a:ext cx="254000" cy="254000"/>
          </a:xfrm>
          <a:prstGeom prst="rect">
            <a:avLst/>
          </a:prstGeom>
        </p:spPr>
      </p:pic>
      <p:sp>
        <p:nvSpPr>
          <p:cNvPr id="23" name="Text 17"/>
          <p:cNvSpPr/>
          <p:nvPr/>
        </p:nvSpPr>
        <p:spPr>
          <a:xfrm>
            <a:off x="1428750" y="4566642"/>
            <a:ext cx="100331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ПРЕНОС ОБАВЕЗА</a:t>
            </a:r>
            <a:endParaRPr lang="en-US" sz="1200" dirty="0"/>
          </a:p>
        </p:txBody>
      </p:sp>
      <p:sp>
        <p:nvSpPr>
          <p:cNvPr id="24" name="Text 18"/>
          <p:cNvSpPr/>
          <p:nvPr/>
        </p:nvSpPr>
        <p:spPr>
          <a:xfrm>
            <a:off x="1428750" y="4805363"/>
            <a:ext cx="1003312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Пројектни поени не преносе се у наредну академску годину.</a:t>
            </a:r>
            <a:endParaRPr lang="en-US" sz="14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theme/theme1.xml><?xml version="1.0" encoding="utf-8"?>
<a:theme xmlns:a="http://schemas.openxmlformats.org/drawingml/2006/main" name="Основне информације о предмету и пројекту">
  <a:themeElements>
    <a:clrScheme name="Основне информације о предмету и пројекту">
      <a:dk1>
        <a:srgbClr val="13202D"/>
      </a:dk1>
      <a:lt1>
        <a:srgbClr val="F6F7F5"/>
      </a:lt1>
      <a:dk2>
        <a:srgbClr val="4C565F"/>
      </a:dk2>
      <a:lt2>
        <a:srgbClr val="DFE2E1"/>
      </a:lt2>
      <a:accent1>
        <a:srgbClr val="0A5CA8"/>
      </a:accent1>
      <a:accent2>
        <a:srgbClr val="A8520A"/>
      </a:accent2>
      <a:accent3>
        <a:srgbClr val="44505D"/>
      </a:accent3>
      <a:accent4>
        <a:srgbClr val="5E6975"/>
      </a:accent4>
      <a:accent5>
        <a:srgbClr val="DCE8F4"/>
      </a:accent5>
      <a:accent6>
        <a:srgbClr val="9AA0A6"/>
      </a:accent6>
      <a:hlink>
        <a:srgbClr val="0563C1"/>
      </a:hlink>
      <a:folHlink>
        <a:srgbClr val="954F72"/>
      </a:folHlink>
    </a:clrScheme>
    <a:fontScheme name="Основне информације о предмету и пројекту">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Основне информације о предмету и пројекту</dc:title>
  <dc:subject/>
  <dc:creator/>
  <cp:lastModifiedBy/>
  <cp:revision>1</cp:revision>
  <dcterms:created xsi:type="dcterms:W3CDTF">2026-10-09T17:20:14Z</dcterms:created>
  <dcterms:modified xsi:type="dcterms:W3CDTF">2026-10-09T17:20:14Z</dcterms:modified>
</cp:coreProperties>
</file>