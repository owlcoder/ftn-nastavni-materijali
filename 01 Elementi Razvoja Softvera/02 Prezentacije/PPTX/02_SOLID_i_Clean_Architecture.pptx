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51CC-3409-4350-BD50-A64985A5C7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391F51-611F-4CA0-BCCA-DC0ED19149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A2F667-3947-42D5-AB0A-01DA2271E1D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22497C-0D94-4467-8BBA-BAB1A29C348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6060E-C680-4BD6-994A-BFE3E1E3628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FADE9-E421-446B-819B-140F5C164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146735-4864-4AAF-A25B-4E363C5CFD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59EC74-9FCB-491F-B21C-FFE57412742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29EFA1-0E9E-4ED5-A017-0607DB791BF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E6120A-3E19-453F-B6C8-E406E16C64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A17D1-6271-4121-A6D2-D51A83725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E96819-4924-4DA1-B5C7-74ADC123E2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49253E-C4FD-4D8D-ADF4-915C2CD2584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639A6-0F86-4F67-ABF0-19A272DEE74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A0E04-8AB8-4DF9-9EA9-1B98A6CB2FC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55665-CBB2-4B1E-A232-F967016F0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6E488-9F58-4124-B75B-751BE796B9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77CEF2-F8D7-4EA5-BB29-46A3E51A6B5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889AC3-9114-44A3-893A-188338A4775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D6E266-723B-4A04-8D5E-259DB7D6C02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3BE10F-218C-42E9-8DAD-2AA9F6F141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B32C3-002D-4DB0-B51C-28EC73C96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9162FB-9889-4DB8-BD68-EAB5E8CE6B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59AA1D-5522-450C-91DC-A4605ED0315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460FCF-5FB8-4951-9B5E-79CC61FCC9FE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2695AB-71D5-43D1-812A-395E184DB987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8F4920-25F6-4193-A1D9-89070B96EEF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AFAE95-A49A-4DFA-A16E-C588FC64B12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600E80-9603-467F-A23E-8DD3F745EE6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9A1AF-FB49-4C67-86C6-BDC4B1314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BD49C1-51D7-4A00-9897-6BEFE662DDB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639A2F-518B-4089-ADF8-76140BA6B19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1E6D93-BFB3-490B-AD3D-1D4DA2FA1D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89CA64-8D0D-4179-A4CB-85C757E2016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BD49B1-3593-4D51-A9F5-BE11F359CF7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B9502D-58B4-4D56-B38B-CE20E24BB3F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285C9-CB3F-481B-841B-7AFF093F4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E0370A-5764-4521-9283-156575157F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B8B4F6-41E4-4A05-A7C3-B0E536F233E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C465E5-72BA-436D-859E-6111FCFA38C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5C27F0-680A-4FD5-93AF-53F44731E71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B97E74-B555-4814-BED6-C83EADC915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BAD4A-CE5C-4855-A430-3D51601AD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1941DC-EB63-4EE1-885E-7ED96D73D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60DBAE-8F83-48E0-8106-4035B7EC323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4FDA73-01FF-474B-AD8A-BE02F74C7A4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0B05B5-1BCC-490D-9CCE-40222C5C4AC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65E330-AC96-4032-903F-CBD7379F80A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F92B9-E3C0-42D5-B340-F5092716E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63EC8E-1722-4F4A-AFDC-F6FAB4E67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BCC8F-B717-4B54-AEB2-54AC9CD382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47C6B-BAC5-4951-9B9F-5525424A631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8F40BE-FA2D-47A8-A1ED-3E2A664CEF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99B98A-9D3F-4D72-B8A0-9527D31E8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7C55DB-046F-4E02-A372-51A05BDC88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489D87-CCB0-4826-9F92-46C199CD5BB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7E2E07-3835-4965-85B9-6AED962C370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A006D2-FF55-4316-9975-F787463EEF7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FC03D6-AF92-419A-A650-878DC50BA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BDA6D-8DD1-48E9-BFF4-B8A5E4DEAD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496EBB-6509-4945-9986-D574159E439B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8576BD-79C6-4A00-82DC-F8653597411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0F0D4F-D92B-4834-85A1-41DF43E2CE3F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55978C7-FDB4-4C7C-A215-AAA5FA149760}"/>
              </a:ext>
            </a:extLst>
          </p:cNvPr>
          <p:cNvSpPr>
            <a:spLocks noGrp="1"/>
          </p:cNvSpPr>
          <p:nvPr/>
        </p:nvSpPr>
        <p:spPr>
          <a:xfrm>
            <a:off x="914400" y="590550"/>
            <a:ext cx="7810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47084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2A7A9301-6B86-4FBD-8733-FB3EFDA0DAFF}"/>
              </a:ext>
            </a:extLst>
          </p:cNvPr>
          <p:cNvSpPr>
            <a:spLocks noGrp="1"/>
          </p:cNvSpPr>
          <p:nvPr/>
        </p:nvSpPr>
        <p:spPr>
          <a:xfrm>
            <a:off x="914400" y="1009650"/>
            <a:ext cx="10363200" cy="9525"/>
          </a:xfrm>
          <a:prstGeom prst="line">
            <a:avLst/>
          </a:prstGeom>
          <a:noFill/>
          <a:ln w="8573">
            <a:solidFill>
              <a:srgbClr val="7F8B9B"/>
            </a:solidFill>
            <a:prstDash val="solid"/>
          </a:ln>
        </p:spPr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2564FEB-4006-440A-8250-5EF865D3EDD2}"/>
              </a:ext>
            </a:extLst>
          </p:cNvPr>
          <p:cNvSpPr>
            <a:spLocks noGrp="1"/>
          </p:cNvSpPr>
          <p:nvPr/>
        </p:nvSpPr>
        <p:spPr>
          <a:xfrm>
            <a:off x="914400" y="1438275"/>
            <a:ext cx="647700" cy="66675"/>
          </a:xfrm>
          <a:prstGeom prst="roundRect">
            <a:avLst>
              <a:gd name="adj" fmla="val 50000"/>
            </a:avLst>
          </a:prstGeom>
          <a:solidFill>
            <a:srgbClr val="315CF4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736626-4EA3-4B38-A99D-0594EFA6387E}"/>
              </a:ext>
            </a:extLst>
          </p:cNvPr>
          <p:cNvSpPr>
            <a:spLocks noGrp="1"/>
          </p:cNvSpPr>
          <p:nvPr/>
        </p:nvSpPr>
        <p:spPr>
          <a:xfrm>
            <a:off x="914400" y="1790700"/>
            <a:ext cx="10096500" cy="1485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SOLID и Clean Architecture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46C99B-0878-4BD1-870E-0C1C71A51401}"/>
              </a:ext>
            </a:extLst>
          </p:cNvPr>
          <p:cNvSpPr>
            <a:spLocks noGrp="1"/>
          </p:cNvSpPr>
          <p:nvPr/>
        </p:nvSpPr>
        <p:spPr>
          <a:xfrm>
            <a:off x="933450" y="3562350"/>
            <a:ext cx="93345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Пословно језгро остаје стабилно док се технички детаљи мењају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B2541282-F4E9-44E0-A875-28BFA9A75226}"/>
              </a:ext>
            </a:extLst>
          </p:cNvPr>
          <p:cNvSpPr>
            <a:spLocks noGrp="1"/>
          </p:cNvSpPr>
          <p:nvPr/>
        </p:nvSpPr>
        <p:spPr>
          <a:xfrm>
            <a:off x="914400" y="5286375"/>
            <a:ext cx="10363200" cy="9525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4CCFBF-4593-46EB-94DB-BDEC93A8DAB9}"/>
              </a:ext>
            </a:extLst>
          </p:cNvPr>
          <p:cNvSpPr>
            <a:spLocks noGrp="1"/>
          </p:cNvSpPr>
          <p:nvPr/>
        </p:nvSpPr>
        <p:spPr>
          <a:xfrm>
            <a:off x="914400" y="5581650"/>
            <a:ext cx="40005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ПСИ · 5. семестар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BFE28B-4C81-47D6-A641-03A696B43393}"/>
              </a:ext>
            </a:extLst>
          </p:cNvPr>
          <p:cNvSpPr>
            <a:spLocks noGrp="1"/>
          </p:cNvSpPr>
          <p:nvPr/>
        </p:nvSpPr>
        <p:spPr>
          <a:xfrm>
            <a:off x="8096250" y="5581650"/>
            <a:ext cx="31813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2009807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AE2BEC-6D22-47F8-98F5-6D68F7048021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47664E-F491-4AAF-A56E-C270255AF16D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386C59-3F1B-436E-AC42-0762B51EFAAC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D73896-0F47-4C5A-8F95-DCE59ED5E27D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SOLID није формалност већ контрола промене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50D760-B4AA-44C7-B5B8-E9F6DF088B2A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Принципи помажу да измене буду локализоване, зависности заменљиве и понашање проверљиво.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B260FE9-531D-4B6A-9F83-AD31F61AFB26}"/>
              </a:ext>
            </a:extLst>
          </p:cNvPr>
          <p:cNvSpPr>
            <a:spLocks noGrp="1"/>
          </p:cNvSpPr>
          <p:nvPr/>
        </p:nvSpPr>
        <p:spPr>
          <a:xfrm>
            <a:off x="9144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9A1394-2BAD-413D-92AF-ADA86059476D}"/>
              </a:ext>
            </a:extLst>
          </p:cNvPr>
          <p:cNvSpPr>
            <a:spLocks noGrp="1"/>
          </p:cNvSpPr>
          <p:nvPr/>
        </p:nvSpPr>
        <p:spPr>
          <a:xfrm>
            <a:off x="10858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907835-34E6-4826-A7CE-10B8197ED645}"/>
              </a:ext>
            </a:extLst>
          </p:cNvPr>
          <p:cNvSpPr>
            <a:spLocks noGrp="1"/>
          </p:cNvSpPr>
          <p:nvPr/>
        </p:nvSpPr>
        <p:spPr>
          <a:xfrm>
            <a:off x="10858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Single Responsibility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2BFA39-1012-403A-A117-27E97D335F65}"/>
              </a:ext>
            </a:extLst>
          </p:cNvPr>
          <p:cNvSpPr>
            <a:spLocks noGrp="1"/>
          </p:cNvSpPr>
          <p:nvPr/>
        </p:nvSpPr>
        <p:spPr>
          <a:xfrm>
            <a:off x="1085850" y="2952750"/>
            <a:ext cx="4724400" cy="234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један</a:t>
            </a:r>
            <a:r>
              <a:rPr sz="1425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ко</a:t>
            </a:r>
            <a:r>
              <a:rPr lang="sr-Cyrl-RS"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х</a:t>
            </a: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erентан</a:t>
            </a:r>
            <a:r>
              <a:rPr sz="1425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разлог</a:t>
            </a:r>
            <a:r>
              <a:rPr sz="1425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за</a:t>
            </a:r>
            <a:r>
              <a:rPr sz="1425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промену</a:t>
            </a:r>
            <a:endParaRPr sz="1425" b="0" dirty="0">
              <a:solidFill>
                <a:srgbClr val="5D687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32666BD8-C0EC-40C0-9E77-6CBC7D331A4B}"/>
              </a:ext>
            </a:extLst>
          </p:cNvPr>
          <p:cNvSpPr>
            <a:spLocks noGrp="1"/>
          </p:cNvSpPr>
          <p:nvPr/>
        </p:nvSpPr>
        <p:spPr>
          <a:xfrm>
            <a:off x="62103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DA4889-B6E3-49A0-9BB2-E8693E450236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63BF197-F007-4777-8C1D-BA26416E990E}"/>
              </a:ext>
            </a:extLst>
          </p:cNvPr>
          <p:cNvSpPr>
            <a:spLocks noGrp="1"/>
          </p:cNvSpPr>
          <p:nvPr/>
        </p:nvSpPr>
        <p:spPr>
          <a:xfrm>
            <a:off x="63817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Open/Closed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E98BD3-A4D5-4D1D-877D-69848E9A9E99}"/>
              </a:ext>
            </a:extLst>
          </p:cNvPr>
          <p:cNvSpPr>
            <a:spLocks noGrp="1"/>
          </p:cNvSpPr>
          <p:nvPr/>
        </p:nvSpPr>
        <p:spPr>
          <a:xfrm>
            <a:off x="63817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проширење без измене стабилног тока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E72C721-4A0F-40A4-B357-8C1CEE8A24DF}"/>
              </a:ext>
            </a:extLst>
          </p:cNvPr>
          <p:cNvSpPr>
            <a:spLocks noGrp="1"/>
          </p:cNvSpPr>
          <p:nvPr/>
        </p:nvSpPr>
        <p:spPr>
          <a:xfrm>
            <a:off x="9144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6263A5-A9B5-4DFA-896B-85B52A5AAE68}"/>
              </a:ext>
            </a:extLst>
          </p:cNvPr>
          <p:cNvSpPr>
            <a:spLocks noGrp="1"/>
          </p:cNvSpPr>
          <p:nvPr/>
        </p:nvSpPr>
        <p:spPr>
          <a:xfrm>
            <a:off x="10858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50592E-F3D8-4742-A78B-B6CC75E3BADB}"/>
              </a:ext>
            </a:extLst>
          </p:cNvPr>
          <p:cNvSpPr>
            <a:spLocks noGrp="1"/>
          </p:cNvSpPr>
          <p:nvPr/>
        </p:nvSpPr>
        <p:spPr>
          <a:xfrm>
            <a:off x="10858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Liskov Substitution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02BFB94-EF8A-4067-B52F-4E7D42E4848A}"/>
              </a:ext>
            </a:extLst>
          </p:cNvPr>
          <p:cNvSpPr>
            <a:spLocks noGrp="1"/>
          </p:cNvSpPr>
          <p:nvPr/>
        </p:nvSpPr>
        <p:spPr>
          <a:xfrm>
            <a:off x="10858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заменљивост без нарушавања очекивања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16AFFCA-7F25-4B18-B849-E02DA759305E}"/>
              </a:ext>
            </a:extLst>
          </p:cNvPr>
          <p:cNvSpPr>
            <a:spLocks noGrp="1"/>
          </p:cNvSpPr>
          <p:nvPr/>
        </p:nvSpPr>
        <p:spPr>
          <a:xfrm>
            <a:off x="62103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204363-2AAF-44D9-9A76-42C3E309F7BD}"/>
              </a:ext>
            </a:extLst>
          </p:cNvPr>
          <p:cNvSpPr>
            <a:spLocks noGrp="1"/>
          </p:cNvSpPr>
          <p:nvPr/>
        </p:nvSpPr>
        <p:spPr>
          <a:xfrm>
            <a:off x="63817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I/D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7F57B45-750F-4E2E-9E2A-0175990AAF06}"/>
              </a:ext>
            </a:extLst>
          </p:cNvPr>
          <p:cNvSpPr>
            <a:spLocks noGrp="1"/>
          </p:cNvSpPr>
          <p:nvPr/>
        </p:nvSpPr>
        <p:spPr>
          <a:xfrm>
            <a:off x="63817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ISP и DIP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E44C2B-F5C6-40B9-B1BC-26711E5DF13A}"/>
              </a:ext>
            </a:extLst>
          </p:cNvPr>
          <p:cNvSpPr>
            <a:spLocks noGrp="1"/>
          </p:cNvSpPr>
          <p:nvPr/>
        </p:nvSpPr>
        <p:spPr>
          <a:xfrm>
            <a:off x="63817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мали уговори и зависност од апстракција</a:t>
            </a:r>
          </a:p>
        </p:txBody>
      </p:sp>
    </p:spTree>
    <p:extLst>
      <p:ext uri="{BB962C8B-B14F-4D97-AF65-F5344CB8AC3E}">
        <p14:creationId xmlns:p14="http://schemas.microsoft.com/office/powerpoint/2010/main" val="14793832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54A1AE-E0E1-4626-9FA3-D4F1DAC62B08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7BFA41-FE24-4DA8-A6B4-3395CF93D312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ABFF5B-858A-44A5-88E1-2BDDEFC31A89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01FFE4-9766-4509-9A49-34162C091D87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OOP и Clean Code су основа SOLID-а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062DDB-5120-496B-8B39-CACC2986D889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Пре принципа морају бити јасни уговор, енкапсулација, полиморфизам и одговорност.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4239F9-8E55-4DEE-BDE6-E07BA819D370}"/>
              </a:ext>
            </a:extLst>
          </p:cNvPr>
          <p:cNvSpPr>
            <a:spLocks noGrp="1"/>
          </p:cNvSpPr>
          <p:nvPr/>
        </p:nvSpPr>
        <p:spPr>
          <a:xfrm>
            <a:off x="914400" y="2331720"/>
            <a:ext cx="47625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ПОЈМОВИ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A7A88D-7F21-49E4-9AC3-BDE523873EED}"/>
              </a:ext>
            </a:extLst>
          </p:cNvPr>
          <p:cNvSpPr>
            <a:spLocks noGrp="1"/>
          </p:cNvSpPr>
          <p:nvPr/>
        </p:nvSpPr>
        <p:spPr>
          <a:xfrm>
            <a:off x="914400" y="2697480"/>
            <a:ext cx="476250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Interface дефинише очекивано понашање.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Енкапсулација чува инваријанте.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Полиморфизам омогућава заменљиве имплементације.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Апстрактна класа има смисла када постоји стварна заједничка основа.</a:t>
            </a:r>
          </a:p>
        </p:txBody>
      </p:sp>
      <p:sp>
        <p:nvSpPr>
          <p:cNvPr id="9" name="Connector 8">
            <a:extLst>
              <a:ext uri="{FF2B5EF4-FFF2-40B4-BE49-F238E27FC236}">
                <a16:creationId xmlns:a16="http://schemas.microsoft.com/office/drawing/2014/main" id="{8DE68B42-259B-4F0B-BB1F-B87B35639B20}"/>
              </a:ext>
            </a:extLst>
          </p:cNvPr>
          <p:cNvSpPr>
            <a:spLocks noGrp="1"/>
          </p:cNvSpPr>
          <p:nvPr/>
        </p:nvSpPr>
        <p:spPr>
          <a:xfrm>
            <a:off x="6096000" y="2331720"/>
            <a:ext cx="0" cy="320040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BC0E42-67F0-410F-A868-C173D345EF8D}"/>
              </a:ext>
            </a:extLst>
          </p:cNvPr>
          <p:cNvSpPr>
            <a:spLocks noGrp="1"/>
          </p:cNvSpPr>
          <p:nvPr/>
        </p:nvSpPr>
        <p:spPr>
          <a:xfrm>
            <a:off x="6515100" y="2331720"/>
            <a:ext cx="47625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ПРАКТИЧАН ЕФЕКАТ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DC5B56-5E21-443E-BE76-640393E4C5F1}"/>
              </a:ext>
            </a:extLst>
          </p:cNvPr>
          <p:cNvSpPr>
            <a:spLocks noGrp="1"/>
          </p:cNvSpPr>
          <p:nvPr/>
        </p:nvSpPr>
        <p:spPr>
          <a:xfrm>
            <a:off x="6515100" y="2697480"/>
            <a:ext cx="476250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код описује намеру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одговорност је видљива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промене су локализоване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тестови лакше прате понашање</a:t>
            </a:r>
          </a:p>
        </p:txBody>
      </p:sp>
    </p:spTree>
    <p:extLst>
      <p:ext uri="{BB962C8B-B14F-4D97-AF65-F5344CB8AC3E}">
        <p14:creationId xmlns:p14="http://schemas.microsoft.com/office/powerpoint/2010/main" val="11568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285B08-A9D5-4922-ADEC-9B9E5B7A8E8C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9C1A43-6823-4035-8403-21DC36F48235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B641BB-3A74-4D19-BA89-9768A6E00A1B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CB6E1A-6583-461C-8F26-9AEE90D7B4AF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Уговори пословног језгра из Logger–Blogger примера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FA008C-E18C-43AD-96D5-B45209D378FD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Domain дефинише шта систем уме да ради, без знања о конкретном складишту или UI-ју.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97F793-E1EA-4F99-858F-1D34E0E01730}"/>
              </a:ext>
            </a:extLst>
          </p:cNvPr>
          <p:cNvSpPr>
            <a:spLocks noGrp="1"/>
          </p:cNvSpPr>
          <p:nvPr/>
        </p:nvSpPr>
        <p:spPr>
          <a:xfrm>
            <a:off x="914400" y="2445257"/>
            <a:ext cx="5715000" cy="2602231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7F1643-E9F3-4124-807D-CA47C93005E1}"/>
              </a:ext>
            </a:extLst>
          </p:cNvPr>
          <p:cNvSpPr>
            <a:spLocks noGrp="1"/>
          </p:cNvSpPr>
          <p:nvPr/>
        </p:nvSpPr>
        <p:spPr>
          <a:xfrm>
            <a:off x="914400" y="2792729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B3686C4-DD63-4789-B3AE-256A56B1D705}"/>
              </a:ext>
            </a:extLst>
          </p:cNvPr>
          <p:cNvSpPr>
            <a:spLocks noGrp="1"/>
          </p:cNvSpPr>
          <p:nvPr/>
        </p:nvSpPr>
        <p:spPr>
          <a:xfrm>
            <a:off x="5715000" y="2564129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9C8F5FB-05F0-40FE-AC12-43843A0FECBB}"/>
              </a:ext>
            </a:extLst>
          </p:cNvPr>
          <p:cNvSpPr>
            <a:spLocks noGrp="1"/>
          </p:cNvSpPr>
          <p:nvPr/>
        </p:nvSpPr>
        <p:spPr>
          <a:xfrm>
            <a:off x="5861304" y="2564129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A42A9C4-FD95-4D7A-B666-1035F1805A8E}"/>
              </a:ext>
            </a:extLst>
          </p:cNvPr>
          <p:cNvSpPr>
            <a:spLocks noGrp="1"/>
          </p:cNvSpPr>
          <p:nvPr/>
        </p:nvSpPr>
        <p:spPr>
          <a:xfrm>
            <a:off x="6007608" y="2564129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EE8BFD-4D73-4FEF-865D-470C2FD7B20B}"/>
              </a:ext>
            </a:extLst>
          </p:cNvPr>
          <p:cNvSpPr>
            <a:spLocks noGrp="1"/>
          </p:cNvSpPr>
          <p:nvPr/>
        </p:nvSpPr>
        <p:spPr>
          <a:xfrm>
            <a:off x="1047750" y="2921507"/>
            <a:ext cx="5448300" cy="250831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interface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IZapisiServis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ZapisNaSajtu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Objavi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ZapisNaSajtu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zapis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IReadOnlyList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ZapisNaSajtu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&gt;&gt;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PregledZapisa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interface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IBazaPodataka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TabeleBazaPodataka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Tabele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get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;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bool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SacuvajPromene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CF61D4-8BA2-41D3-A82C-17BB6EEE62EA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CECF07-FF5A-421D-A841-E0F7A3E83957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Уговор описује стабилну потребу пословног језгра.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Domain не зависи од Database или Presentation пројекта.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Заменљивост долази из јасних уговора, не из назива слојева.</a:t>
            </a:r>
          </a:p>
        </p:txBody>
      </p:sp>
    </p:spTree>
    <p:extLst>
      <p:ext uri="{BB962C8B-B14F-4D97-AF65-F5344CB8AC3E}">
        <p14:creationId xmlns:p14="http://schemas.microsoft.com/office/powerpoint/2010/main" val="9147913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369399-1EA8-4B25-8F0B-69D2FFCAB47B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3B13D3-C87B-4859-8C26-523590030EFE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214288-5B7B-4D31-BEC3-AEC65C5EBDAD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527E04-7ABC-4141-B965-87BBA14AA4E8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SRP пита за разлог промене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59A9EB-C971-424E-BB99-2B84956A3A4A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Класа може имати више метода ако све припадају истој одговорности.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0F9E44-9093-4615-B8BC-00C1AC3B799C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Проблем није број линија кода, већ чињеница да се иста класа мења из више међусобно независних разлога.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677788-BDDC-4B71-BF92-CA9573418DF4}"/>
              </a:ext>
            </a:extLst>
          </p:cNvPr>
          <p:cNvSpPr>
            <a:spLocks noGrp="1"/>
          </p:cNvSpPr>
          <p:nvPr/>
        </p:nvSpPr>
        <p:spPr>
          <a:xfrm>
            <a:off x="1051560" y="3451541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83F284A-B471-4F1F-9F15-42535A415685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8464079-B72D-4F75-B253-20000BA46D6A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DBE23B1-0517-4364-B0B9-937BE440DB68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ADB5D6-E666-402C-80D5-21130CEF16DE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SRP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усмерава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дизајн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ка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</a:t>
            </a:r>
            <a:r>
              <a:rPr lang="sr-Cyrl-RS"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х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ere</a:t>
            </a:r>
            <a:r>
              <a:rPr lang="sr-Cyrl-RS"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нт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ним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компонентама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5437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F79624-6C04-4EE3-9E1F-99B1669B54A6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7F8AA4-75CF-43A5-9C8F-7B5FDD357FD2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6CFA84-52E4-4FB7-A00C-D5E32358807B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69AF7A-B2C9-4C85-B8C3-349E12ECB7EE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SRP у Logger–Blogger сервису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231626-91E1-4BF8-A30F-F13E119CAF35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Сервис за записе оркестрира објаву, али не преузима UI, базу и логовање као једну одговорност.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EA61FFE-7263-47AB-AB71-3EB210A9316C}"/>
              </a:ext>
            </a:extLst>
          </p:cNvPr>
          <p:cNvSpPr>
            <a:spLocks noGrp="1"/>
          </p:cNvSpPr>
          <p:nvPr/>
        </p:nvSpPr>
        <p:spPr>
          <a:xfrm>
            <a:off x="914400" y="2103120"/>
            <a:ext cx="5715000" cy="28194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12A899-6076-4B2B-94A1-2BE402A75144}"/>
              </a:ext>
            </a:extLst>
          </p:cNvPr>
          <p:cNvSpPr>
            <a:spLocks noGrp="1"/>
          </p:cNvSpPr>
          <p:nvPr/>
        </p:nvSpPr>
        <p:spPr>
          <a:xfrm>
            <a:off x="914400" y="2450592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4EEEFA5-48C1-4F98-8065-67FE850A94D4}"/>
              </a:ext>
            </a:extLst>
          </p:cNvPr>
          <p:cNvSpPr>
            <a:spLocks noGrp="1"/>
          </p:cNvSpPr>
          <p:nvPr/>
        </p:nvSpPr>
        <p:spPr>
          <a:xfrm>
            <a:off x="5715000" y="2221992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2B1FA02-1142-41BA-8725-8C9C71C239D9}"/>
              </a:ext>
            </a:extLst>
          </p:cNvPr>
          <p:cNvSpPr>
            <a:spLocks noGrp="1"/>
          </p:cNvSpPr>
          <p:nvPr/>
        </p:nvSpPr>
        <p:spPr>
          <a:xfrm>
            <a:off x="5861304" y="2221992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7A194F5-BBA3-4678-80DA-34516B1E8A85}"/>
              </a:ext>
            </a:extLst>
          </p:cNvPr>
          <p:cNvSpPr>
            <a:spLocks noGrp="1"/>
          </p:cNvSpPr>
          <p:nvPr/>
        </p:nvSpPr>
        <p:spPr>
          <a:xfrm>
            <a:off x="6007608" y="2221992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7D1A04-A4E5-4318-9A2C-7484FCAD9F21}"/>
              </a:ext>
            </a:extLst>
          </p:cNvPr>
          <p:cNvSpPr>
            <a:spLocks noGrp="1"/>
          </p:cNvSpPr>
          <p:nvPr/>
        </p:nvSpPr>
        <p:spPr>
          <a:xfrm>
            <a:off x="1047750" y="2579370"/>
            <a:ext cx="5448300" cy="296437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ZapisiServis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IZapisiServis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private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readonly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IBazaPodataka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_baza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private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readonly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ILogger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_logger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ZapisNaSajtu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Objavi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ZapisNaSajtu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zapis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_baza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Tabele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Zapisi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Add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zapis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_baza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SacuvajPromene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_logger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Info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"Objavljen zapis"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ZapisNaSajtu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Ok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zapis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796F5E-11C7-4F7B-A462-A730D73720F2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5365D5-85D5-489F-BF00-24B047DC4C95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Сервис оркестрира сараднике кроз уговоре.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Начин чувања и логовања остаје спољни детаљ.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Ако се промени logger, пословни ток не мора да се мења.</a:t>
            </a:r>
          </a:p>
        </p:txBody>
      </p:sp>
    </p:spTree>
    <p:extLst>
      <p:ext uri="{BB962C8B-B14F-4D97-AF65-F5344CB8AC3E}">
        <p14:creationId xmlns:p14="http://schemas.microsoft.com/office/powerpoint/2010/main" val="11146120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FA1D485-6F0A-4152-99AD-B575BD1648A0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CBCC41-AAB7-4227-999B-5D3EAF4F7E90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8A823D-F68E-4F56-98FC-A0B06C55EFEE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2C870-FF51-44F9-BA8B-4EAB110BC75C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OCP контролише познату варијабилност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EC4A9C-8C52-41F1-8664-8185844E1969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Не уводи се апстракција за сваку хипотетичку промену.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A60C9F-AE0A-4FE9-98B5-A4DA5E3E500A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Ако стабилан део система стално добија нови switch по типу понашања, променљиво понашање треба сместити иза уговора.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1CB4B7-D233-4F1B-AB0B-B05BACB1A62A}"/>
              </a:ext>
            </a:extLst>
          </p:cNvPr>
          <p:cNvSpPr>
            <a:spLocks noGrp="1"/>
          </p:cNvSpPr>
          <p:nvPr/>
        </p:nvSpPr>
        <p:spPr>
          <a:xfrm>
            <a:off x="1051560" y="3429000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5F8EE00-9F18-43D7-B59E-227E4697ABB8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E789109-E470-4526-963C-A61D7AC33F3C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3AB3A3-BAC6-4794-A471-5C8487537824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16444C6-1BE2-46B8-8E89-F991A5791062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Циљ је проширење без измене централног тока.</a:t>
            </a:r>
          </a:p>
        </p:txBody>
      </p:sp>
    </p:spTree>
    <p:extLst>
      <p:ext uri="{BB962C8B-B14F-4D97-AF65-F5344CB8AC3E}">
        <p14:creationId xmlns:p14="http://schemas.microsoft.com/office/powerpoint/2010/main" val="5735468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C13011-E5AE-4E9D-8831-BB008E8FFB5D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4AF3D6-EC07-4BDD-A196-6B54B4CBF1F3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F3A25E-FBE8-498A-B119-8C60EC6D7327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4490EC-2769-4871-BFA6-BDC0A595981E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OCP </a:t>
            </a:r>
            <a:r>
              <a:rPr sz="255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кроз</a:t>
            </a:r>
            <a:r>
              <a:rPr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55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заменљиво</a:t>
            </a:r>
            <a:r>
              <a:rPr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55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складиште</a:t>
            </a:r>
            <a:endParaRPr sz="2550" b="1" dirty="0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12BCF3-BD11-48C0-8F8E-D3608744620F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Нови provider базе додаје се као нова имплементација уместо промене пословног кода.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03A6697-B5EC-4577-A7BD-18E4DE8FBADC}"/>
              </a:ext>
            </a:extLst>
          </p:cNvPr>
          <p:cNvSpPr>
            <a:spLocks noGrp="1"/>
          </p:cNvSpPr>
          <p:nvPr/>
        </p:nvSpPr>
        <p:spPr>
          <a:xfrm>
            <a:off x="914400" y="2103120"/>
            <a:ext cx="5715000" cy="2602231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094042-7701-44A6-99ED-F156B990F879}"/>
              </a:ext>
            </a:extLst>
          </p:cNvPr>
          <p:cNvSpPr>
            <a:spLocks noGrp="1"/>
          </p:cNvSpPr>
          <p:nvPr/>
        </p:nvSpPr>
        <p:spPr>
          <a:xfrm>
            <a:off x="914400" y="2450592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B245B2C-A579-4BE2-9CEC-A7874797E6D4}"/>
              </a:ext>
            </a:extLst>
          </p:cNvPr>
          <p:cNvSpPr>
            <a:spLocks noGrp="1"/>
          </p:cNvSpPr>
          <p:nvPr/>
        </p:nvSpPr>
        <p:spPr>
          <a:xfrm>
            <a:off x="5715000" y="2221992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DEE454-D5C8-49E7-8B0D-74CD3FD5010C}"/>
              </a:ext>
            </a:extLst>
          </p:cNvPr>
          <p:cNvSpPr>
            <a:spLocks noGrp="1"/>
          </p:cNvSpPr>
          <p:nvPr/>
        </p:nvSpPr>
        <p:spPr>
          <a:xfrm>
            <a:off x="5861304" y="2221992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58F67AB-3518-4755-BEB1-C6AA26692982}"/>
              </a:ext>
            </a:extLst>
          </p:cNvPr>
          <p:cNvSpPr>
            <a:spLocks noGrp="1"/>
          </p:cNvSpPr>
          <p:nvPr/>
        </p:nvSpPr>
        <p:spPr>
          <a:xfrm>
            <a:off x="6007608" y="2221992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852630-2F17-45AB-96A8-B6D86058EF1F}"/>
              </a:ext>
            </a:extLst>
          </p:cNvPr>
          <p:cNvSpPr>
            <a:spLocks noGrp="1"/>
          </p:cNvSpPr>
          <p:nvPr/>
        </p:nvSpPr>
        <p:spPr>
          <a:xfrm>
            <a:off x="1047750" y="2579370"/>
            <a:ext cx="5448300" cy="250831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interface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IBazaPodataka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TabeleBazaPodataka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Tabele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get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;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bool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SacuvajPromene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InMemoryBazaPodataka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IBazaPodataka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TabeleBazaPodataka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Tabele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get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;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bool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SacuvajPromene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232F66-2F81-4CCA-99B1-997BCD26D538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338235D-782E-45F3-81A9-973DCA0DDED4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Стабилан сервис користи IBazaPodataka.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JSON, in-memory или други provider су технички детаљи.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Проширење се дешава додавањем имплементације.</a:t>
            </a:r>
          </a:p>
        </p:txBody>
      </p:sp>
    </p:spTree>
    <p:extLst>
      <p:ext uri="{BB962C8B-B14F-4D97-AF65-F5344CB8AC3E}">
        <p14:creationId xmlns:p14="http://schemas.microsoft.com/office/powerpoint/2010/main" val="7793225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CB7B94-7549-45D7-9BF3-CD177E4A1AD6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1E196B-FCF9-4A73-918A-7D49A96A87AB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DAC4E-8D38-4C6F-B8A3-A075FF371BE8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BB1E79-0F41-429B-BC4B-B4EAAF8C45C0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LSP, ISP и DIP исправљају границе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56D532-1583-4DA7-9064-2D105CDDBC28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Ова три принципа најчешће откривају лоше уговоре и погрешан смер зависности.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C8CF46-CE61-4E6A-984B-446B3FFB150A}"/>
              </a:ext>
            </a:extLst>
          </p:cNvPr>
          <p:cNvSpPr>
            <a:spLocks noGrp="1"/>
          </p:cNvSpPr>
          <p:nvPr/>
        </p:nvSpPr>
        <p:spPr>
          <a:xfrm>
            <a:off x="914400" y="2240280"/>
            <a:ext cx="1901505" cy="457200"/>
          </a:xfrm>
          <a:prstGeom prst="rect">
            <a:avLst/>
          </a:prstGeom>
          <a:solidFill>
            <a:srgbClr val="F7F8FA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CBCAFB-5D53-4915-B4D9-C755C925FF3A}"/>
              </a:ext>
            </a:extLst>
          </p:cNvPr>
          <p:cNvSpPr>
            <a:spLocks noGrp="1"/>
          </p:cNvSpPr>
          <p:nvPr/>
        </p:nvSpPr>
        <p:spPr>
          <a:xfrm>
            <a:off x="1028490" y="2306955"/>
            <a:ext cx="1711354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Принцип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56B4C6-2984-4D5F-AD67-5C55E6CB6584}"/>
              </a:ext>
            </a:extLst>
          </p:cNvPr>
          <p:cNvSpPr>
            <a:spLocks noGrp="1"/>
          </p:cNvSpPr>
          <p:nvPr/>
        </p:nvSpPr>
        <p:spPr>
          <a:xfrm>
            <a:off x="2815905" y="2240280"/>
            <a:ext cx="3993160" cy="457200"/>
          </a:xfrm>
          <a:prstGeom prst="rect">
            <a:avLst/>
          </a:prstGeom>
          <a:solidFill>
            <a:srgbClr val="F7F8FA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668149-1211-419C-94A1-F4F63D9D1105}"/>
              </a:ext>
            </a:extLst>
          </p:cNvPr>
          <p:cNvSpPr>
            <a:spLocks noGrp="1"/>
          </p:cNvSpPr>
          <p:nvPr/>
        </p:nvSpPr>
        <p:spPr>
          <a:xfrm>
            <a:off x="2929995" y="2306955"/>
            <a:ext cx="3803009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Проблем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0DBAB1C-99CA-467B-B11F-B2C310C5AE11}"/>
              </a:ext>
            </a:extLst>
          </p:cNvPr>
          <p:cNvSpPr>
            <a:spLocks noGrp="1"/>
          </p:cNvSpPr>
          <p:nvPr/>
        </p:nvSpPr>
        <p:spPr>
          <a:xfrm>
            <a:off x="6809064" y="2240280"/>
            <a:ext cx="4468536" cy="457200"/>
          </a:xfrm>
          <a:prstGeom prst="rect">
            <a:avLst/>
          </a:prstGeom>
          <a:solidFill>
            <a:srgbClr val="F7F8FA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A1602-4401-472D-AD57-0A58F222D472}"/>
              </a:ext>
            </a:extLst>
          </p:cNvPr>
          <p:cNvSpPr>
            <a:spLocks noGrp="1"/>
          </p:cNvSpPr>
          <p:nvPr/>
        </p:nvSpPr>
        <p:spPr>
          <a:xfrm>
            <a:off x="6923154" y="2306955"/>
            <a:ext cx="4278385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Смер корекције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702242-85DC-4BF7-B8AB-C9C474B54104}"/>
              </a:ext>
            </a:extLst>
          </p:cNvPr>
          <p:cNvSpPr>
            <a:spLocks noGrp="1"/>
          </p:cNvSpPr>
          <p:nvPr/>
        </p:nvSpPr>
        <p:spPr>
          <a:xfrm>
            <a:off x="914400" y="2697480"/>
            <a:ext cx="1901505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40D670-FAFA-43E1-BC15-35615EEF832F}"/>
              </a:ext>
            </a:extLst>
          </p:cNvPr>
          <p:cNvSpPr>
            <a:spLocks noGrp="1"/>
          </p:cNvSpPr>
          <p:nvPr/>
        </p:nvSpPr>
        <p:spPr>
          <a:xfrm>
            <a:off x="1028490" y="2764155"/>
            <a:ext cx="1663817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LSP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3DBC814-2DA2-4BEC-9A1E-B08A39909A48}"/>
              </a:ext>
            </a:extLst>
          </p:cNvPr>
          <p:cNvSpPr>
            <a:spLocks noGrp="1"/>
          </p:cNvSpPr>
          <p:nvPr/>
        </p:nvSpPr>
        <p:spPr>
          <a:xfrm>
            <a:off x="2815905" y="2697480"/>
            <a:ext cx="3993160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CB1AA7-85B0-44C7-9B9D-92CA8C400E34}"/>
              </a:ext>
            </a:extLst>
          </p:cNvPr>
          <p:cNvSpPr>
            <a:spLocks noGrp="1"/>
          </p:cNvSpPr>
          <p:nvPr/>
        </p:nvSpPr>
        <p:spPr>
          <a:xfrm>
            <a:off x="2929995" y="2764155"/>
            <a:ext cx="3755472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подтип мења очекивање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F3826BA-52B6-43B9-A351-8CF0133950C6}"/>
              </a:ext>
            </a:extLst>
          </p:cNvPr>
          <p:cNvSpPr>
            <a:spLocks noGrp="1"/>
          </p:cNvSpPr>
          <p:nvPr/>
        </p:nvSpPr>
        <p:spPr>
          <a:xfrm>
            <a:off x="6809064" y="2697480"/>
            <a:ext cx="4468536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394AD3-4E75-4C19-AB55-9A4DFFC3C1DD}"/>
              </a:ext>
            </a:extLst>
          </p:cNvPr>
          <p:cNvSpPr>
            <a:spLocks noGrp="1"/>
          </p:cNvSpPr>
          <p:nvPr/>
        </p:nvSpPr>
        <p:spPr>
          <a:xfrm>
            <a:off x="6923154" y="2764155"/>
            <a:ext cx="4230848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редизајнирати уговор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BFF36A-CB5E-4412-86B3-CB11DD8F410C}"/>
              </a:ext>
            </a:extLst>
          </p:cNvPr>
          <p:cNvSpPr>
            <a:spLocks noGrp="1"/>
          </p:cNvSpPr>
          <p:nvPr/>
        </p:nvSpPr>
        <p:spPr>
          <a:xfrm>
            <a:off x="914400" y="3307080"/>
            <a:ext cx="1901505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DD0AD7-79CC-4D8E-9022-FCEFE9073C3C}"/>
              </a:ext>
            </a:extLst>
          </p:cNvPr>
          <p:cNvSpPr>
            <a:spLocks noGrp="1"/>
          </p:cNvSpPr>
          <p:nvPr/>
        </p:nvSpPr>
        <p:spPr>
          <a:xfrm>
            <a:off x="1028490" y="3373755"/>
            <a:ext cx="1663817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ISP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E58CC5F-E29B-4060-B456-F933C51BA432}"/>
              </a:ext>
            </a:extLst>
          </p:cNvPr>
          <p:cNvSpPr>
            <a:spLocks noGrp="1"/>
          </p:cNvSpPr>
          <p:nvPr/>
        </p:nvSpPr>
        <p:spPr>
          <a:xfrm>
            <a:off x="2815905" y="3307080"/>
            <a:ext cx="3993160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CC4962-9881-4395-AD7D-EF76ED24A7BD}"/>
              </a:ext>
            </a:extLst>
          </p:cNvPr>
          <p:cNvSpPr>
            <a:spLocks noGrp="1"/>
          </p:cNvSpPr>
          <p:nvPr/>
        </p:nvSpPr>
        <p:spPr>
          <a:xfrm>
            <a:off x="2929995" y="3373755"/>
            <a:ext cx="3755472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клијент зависи од вишка операција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03AD0EE-2651-4E55-AEAC-DAA8274E2FFE}"/>
              </a:ext>
            </a:extLst>
          </p:cNvPr>
          <p:cNvSpPr>
            <a:spLocks noGrp="1"/>
          </p:cNvSpPr>
          <p:nvPr/>
        </p:nvSpPr>
        <p:spPr>
          <a:xfrm>
            <a:off x="6809064" y="3307080"/>
            <a:ext cx="4468536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C287951-8800-4E3A-ABA6-8329CCA475B8}"/>
              </a:ext>
            </a:extLst>
          </p:cNvPr>
          <p:cNvSpPr>
            <a:spLocks noGrp="1"/>
          </p:cNvSpPr>
          <p:nvPr/>
        </p:nvSpPr>
        <p:spPr>
          <a:xfrm>
            <a:off x="6923154" y="3373755"/>
            <a:ext cx="4230848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поделити улоге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5019AF9-3EB0-477A-B739-A8E3D91B61C0}"/>
              </a:ext>
            </a:extLst>
          </p:cNvPr>
          <p:cNvSpPr>
            <a:spLocks noGrp="1"/>
          </p:cNvSpPr>
          <p:nvPr/>
        </p:nvSpPr>
        <p:spPr>
          <a:xfrm>
            <a:off x="914400" y="3916680"/>
            <a:ext cx="1901505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988C791-C90D-46DD-863C-6526E9124A49}"/>
              </a:ext>
            </a:extLst>
          </p:cNvPr>
          <p:cNvSpPr>
            <a:spLocks noGrp="1"/>
          </p:cNvSpPr>
          <p:nvPr/>
        </p:nvSpPr>
        <p:spPr>
          <a:xfrm>
            <a:off x="1028490" y="3983355"/>
            <a:ext cx="1663817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DIP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B02311-D512-4F58-9624-40A586525F60}"/>
              </a:ext>
            </a:extLst>
          </p:cNvPr>
          <p:cNvSpPr>
            <a:spLocks noGrp="1"/>
          </p:cNvSpPr>
          <p:nvPr/>
        </p:nvSpPr>
        <p:spPr>
          <a:xfrm>
            <a:off x="2815905" y="3916680"/>
            <a:ext cx="3993160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FF2AB21-88D7-481E-87CE-466723DBF23B}"/>
              </a:ext>
            </a:extLst>
          </p:cNvPr>
          <p:cNvSpPr>
            <a:spLocks noGrp="1"/>
          </p:cNvSpPr>
          <p:nvPr/>
        </p:nvSpPr>
        <p:spPr>
          <a:xfrm>
            <a:off x="2929995" y="3983355"/>
            <a:ext cx="3755472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use-case креира SQL или HTTP детаљ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3472DE3-6F89-408E-8DF8-7C2E008C5030}"/>
              </a:ext>
            </a:extLst>
          </p:cNvPr>
          <p:cNvSpPr>
            <a:spLocks noGrp="1"/>
          </p:cNvSpPr>
          <p:nvPr/>
        </p:nvSpPr>
        <p:spPr>
          <a:xfrm>
            <a:off x="6809064" y="3916680"/>
            <a:ext cx="4468536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1BEAA5-28FF-411A-AC41-95879CF80DDC}"/>
              </a:ext>
            </a:extLst>
          </p:cNvPr>
          <p:cNvSpPr>
            <a:spLocks noGrp="1"/>
          </p:cNvSpPr>
          <p:nvPr/>
        </p:nvSpPr>
        <p:spPr>
          <a:xfrm>
            <a:off x="6923154" y="3983355"/>
            <a:ext cx="4230848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зависити од уговора</a:t>
            </a:r>
          </a:p>
        </p:txBody>
      </p:sp>
    </p:spTree>
    <p:extLst>
      <p:ext uri="{BB962C8B-B14F-4D97-AF65-F5344CB8AC3E}">
        <p14:creationId xmlns:p14="http://schemas.microsoft.com/office/powerpoint/2010/main" val="7305191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6E4B0A-E7B8-44BA-B540-BD01A9825E58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B15833-AEAC-4862-986D-79976A2D4A44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7D37E3-4531-414E-927E-ACBE0B3528C8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AD0DD3-7617-4A72-B8E3-2C6D887DF3D2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Clean Architecture је дисциплина граница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735889-EC3D-4615-86BA-C1042DCE7808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Називи пројеката могу да се разликују, али смер зависности мора бити јасан.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5C048FF-52B2-4BBA-979E-7C610D0AD450}"/>
              </a:ext>
            </a:extLst>
          </p:cNvPr>
          <p:cNvSpPr>
            <a:spLocks noGrp="1"/>
          </p:cNvSpPr>
          <p:nvPr/>
        </p:nvSpPr>
        <p:spPr>
          <a:xfrm>
            <a:off x="113538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37F204-8198-4C6B-91FB-4D51EEB58BFD}"/>
              </a:ext>
            </a:extLst>
          </p:cNvPr>
          <p:cNvSpPr>
            <a:spLocks noGrp="1"/>
          </p:cNvSpPr>
          <p:nvPr/>
        </p:nvSpPr>
        <p:spPr>
          <a:xfrm>
            <a:off x="120853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Presentation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C4EB3D-F417-4652-A491-5C14BBDAFA9C}"/>
              </a:ext>
            </a:extLst>
          </p:cNvPr>
          <p:cNvSpPr>
            <a:spLocks noGrp="1"/>
          </p:cNvSpPr>
          <p:nvPr/>
        </p:nvSpPr>
        <p:spPr>
          <a:xfrm>
            <a:off x="104394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UI/API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366E40-637C-4B9E-84E2-7381926703A3}"/>
              </a:ext>
            </a:extLst>
          </p:cNvPr>
          <p:cNvSpPr>
            <a:spLocks noGrp="1"/>
          </p:cNvSpPr>
          <p:nvPr/>
        </p:nvSpPr>
        <p:spPr>
          <a:xfrm>
            <a:off x="273558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0ABB540-27B6-49C2-8136-E9D10E6A2B30}"/>
              </a:ext>
            </a:extLst>
          </p:cNvPr>
          <p:cNvSpPr>
            <a:spLocks noGrp="1"/>
          </p:cNvSpPr>
          <p:nvPr/>
        </p:nvSpPr>
        <p:spPr>
          <a:xfrm>
            <a:off x="323850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DB5D36-1451-4D5F-9B18-C8301DD7A3B3}"/>
              </a:ext>
            </a:extLst>
          </p:cNvPr>
          <p:cNvSpPr>
            <a:spLocks noGrp="1"/>
          </p:cNvSpPr>
          <p:nvPr/>
        </p:nvSpPr>
        <p:spPr>
          <a:xfrm>
            <a:off x="331165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Application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1C2C1D-708C-4179-A660-3611224FA067}"/>
              </a:ext>
            </a:extLst>
          </p:cNvPr>
          <p:cNvSpPr>
            <a:spLocks noGrp="1"/>
          </p:cNvSpPr>
          <p:nvPr/>
        </p:nvSpPr>
        <p:spPr>
          <a:xfrm>
            <a:off x="314706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use-case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DF91B8-FE21-4948-ABFC-703469FBD7B1}"/>
              </a:ext>
            </a:extLst>
          </p:cNvPr>
          <p:cNvSpPr>
            <a:spLocks noGrp="1"/>
          </p:cNvSpPr>
          <p:nvPr/>
        </p:nvSpPr>
        <p:spPr>
          <a:xfrm>
            <a:off x="483870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7EFB318-5EEB-47FC-96A7-04121E6A8C69}"/>
              </a:ext>
            </a:extLst>
          </p:cNvPr>
          <p:cNvSpPr>
            <a:spLocks noGrp="1"/>
          </p:cNvSpPr>
          <p:nvPr/>
        </p:nvSpPr>
        <p:spPr>
          <a:xfrm>
            <a:off x="534162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208B51-15A8-45BB-82C9-E2DF8C083DA9}"/>
              </a:ext>
            </a:extLst>
          </p:cNvPr>
          <p:cNvSpPr>
            <a:spLocks noGrp="1"/>
          </p:cNvSpPr>
          <p:nvPr/>
        </p:nvSpPr>
        <p:spPr>
          <a:xfrm>
            <a:off x="541477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Domain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FA172D-4F4D-4932-ACE7-4A431A219D82}"/>
              </a:ext>
            </a:extLst>
          </p:cNvPr>
          <p:cNvSpPr>
            <a:spLocks noGrp="1"/>
          </p:cNvSpPr>
          <p:nvPr/>
        </p:nvSpPr>
        <p:spPr>
          <a:xfrm>
            <a:off x="525018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правила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FAE9972-DD5F-4E19-8952-B7F92AC57902}"/>
              </a:ext>
            </a:extLst>
          </p:cNvPr>
          <p:cNvSpPr>
            <a:spLocks noGrp="1"/>
          </p:cNvSpPr>
          <p:nvPr/>
        </p:nvSpPr>
        <p:spPr>
          <a:xfrm>
            <a:off x="694182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39B4519F-A679-412C-B0F6-44133D9F1A8B}"/>
              </a:ext>
            </a:extLst>
          </p:cNvPr>
          <p:cNvSpPr>
            <a:spLocks noGrp="1"/>
          </p:cNvSpPr>
          <p:nvPr/>
        </p:nvSpPr>
        <p:spPr>
          <a:xfrm>
            <a:off x="744474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B69DBC-948E-4F68-848E-10672E6DFD74}"/>
              </a:ext>
            </a:extLst>
          </p:cNvPr>
          <p:cNvSpPr>
            <a:spLocks noGrp="1"/>
          </p:cNvSpPr>
          <p:nvPr/>
        </p:nvSpPr>
        <p:spPr>
          <a:xfrm>
            <a:off x="7517892" y="2999232"/>
            <a:ext cx="1353312" cy="543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Infrastructure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DC70655-2DE2-4E5B-9C26-B3E9872E2844}"/>
              </a:ext>
            </a:extLst>
          </p:cNvPr>
          <p:cNvSpPr>
            <a:spLocks noGrp="1"/>
          </p:cNvSpPr>
          <p:nvPr/>
        </p:nvSpPr>
        <p:spPr>
          <a:xfrm>
            <a:off x="735330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адаптери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9185A2-9CCE-4636-919F-274195BE1425}"/>
              </a:ext>
            </a:extLst>
          </p:cNvPr>
          <p:cNvSpPr>
            <a:spLocks noGrp="1"/>
          </p:cNvSpPr>
          <p:nvPr/>
        </p:nvSpPr>
        <p:spPr>
          <a:xfrm>
            <a:off x="904494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0FF37BB4-2EBF-4D08-8C1A-C392BDEA7391}"/>
              </a:ext>
            </a:extLst>
          </p:cNvPr>
          <p:cNvSpPr>
            <a:spLocks noGrp="1"/>
          </p:cNvSpPr>
          <p:nvPr/>
        </p:nvSpPr>
        <p:spPr>
          <a:xfrm>
            <a:off x="954786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BE28AB-CACA-43AC-A430-7EAD70A7E0A6}"/>
              </a:ext>
            </a:extLst>
          </p:cNvPr>
          <p:cNvSpPr>
            <a:spLocks noGrp="1"/>
          </p:cNvSpPr>
          <p:nvPr/>
        </p:nvSpPr>
        <p:spPr>
          <a:xfrm>
            <a:off x="962101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Tests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56E9576-EB2F-405F-B577-DD07CB6E850C}"/>
              </a:ext>
            </a:extLst>
          </p:cNvPr>
          <p:cNvSpPr>
            <a:spLocks noGrp="1"/>
          </p:cNvSpPr>
          <p:nvPr/>
        </p:nvSpPr>
        <p:spPr>
          <a:xfrm>
            <a:off x="945642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провера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EE428B80-B7F0-493D-8FC9-B0541527C606}"/>
              </a:ext>
            </a:extLst>
          </p:cNvPr>
          <p:cNvSpPr>
            <a:spLocks noGrp="1"/>
          </p:cNvSpPr>
          <p:nvPr/>
        </p:nvSpPr>
        <p:spPr>
          <a:xfrm>
            <a:off x="914400" y="49149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CB614DB-B173-4CC0-96FA-38185E605365}"/>
              </a:ext>
            </a:extLst>
          </p:cNvPr>
          <p:cNvSpPr>
            <a:spLocks noGrp="1"/>
          </p:cNvSpPr>
          <p:nvPr/>
        </p:nvSpPr>
        <p:spPr>
          <a:xfrm>
            <a:off x="1085850" y="50673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BF6E980-B1C6-49E5-8BF5-C851B1D97786}"/>
              </a:ext>
            </a:extLst>
          </p:cNvPr>
          <p:cNvSpPr>
            <a:spLocks noGrp="1"/>
          </p:cNvSpPr>
          <p:nvPr/>
        </p:nvSpPr>
        <p:spPr>
          <a:xfrm>
            <a:off x="1333500" y="50292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AA38F1-5E07-4937-8531-DD9061D78E9E}"/>
              </a:ext>
            </a:extLst>
          </p:cNvPr>
          <p:cNvSpPr>
            <a:spLocks noGrp="1"/>
          </p:cNvSpPr>
          <p:nvPr/>
        </p:nvSpPr>
        <p:spPr>
          <a:xfrm>
            <a:off x="1333500" y="52768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Пословно језгро не зависи од framework-а, базе, HTTP-а нити UI детаља.</a:t>
            </a:r>
          </a:p>
        </p:txBody>
      </p:sp>
    </p:spTree>
    <p:extLst>
      <p:ext uri="{BB962C8B-B14F-4D97-AF65-F5344CB8AC3E}">
        <p14:creationId xmlns:p14="http://schemas.microsoft.com/office/powerpoint/2010/main" val="1086825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88DAA2-4BFB-402B-9C4E-A48C086D7054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096246-08CB-4BEC-80B8-A26A7CD28FAC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32406D-F9AE-4779-BAF6-84D36A7F8699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2FC7B8-47BC-46C1-8AEB-489946850126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Одговорности слојева морају бити објашњиве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125740-39A4-4C09-827D-43E386506ECD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Број пројеката није метрика квалитета архитектуре.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B94C32E-579D-4A1B-83CE-B15384D3ADEC}"/>
              </a:ext>
            </a:extLst>
          </p:cNvPr>
          <p:cNvSpPr>
            <a:spLocks noGrp="1"/>
          </p:cNvSpPr>
          <p:nvPr/>
        </p:nvSpPr>
        <p:spPr>
          <a:xfrm>
            <a:off x="9144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DF2C4D-E7D8-496E-B68F-4FE2B8BD926A}"/>
              </a:ext>
            </a:extLst>
          </p:cNvPr>
          <p:cNvSpPr>
            <a:spLocks noGrp="1"/>
          </p:cNvSpPr>
          <p:nvPr/>
        </p:nvSpPr>
        <p:spPr>
          <a:xfrm>
            <a:off x="10858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6B982C-934F-4538-A6A7-2FBC5153B0EF}"/>
              </a:ext>
            </a:extLst>
          </p:cNvPr>
          <p:cNvSpPr>
            <a:spLocks noGrp="1"/>
          </p:cNvSpPr>
          <p:nvPr/>
        </p:nvSpPr>
        <p:spPr>
          <a:xfrm>
            <a:off x="10858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Domain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8C666A-DC07-49EE-B6B1-1D506618C9E2}"/>
              </a:ext>
            </a:extLst>
          </p:cNvPr>
          <p:cNvSpPr>
            <a:spLocks noGrp="1"/>
          </p:cNvSpPr>
          <p:nvPr/>
        </p:nvSpPr>
        <p:spPr>
          <a:xfrm>
            <a:off x="10858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ентитети, инваријанте и стабилна правила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30FD6EFA-D21F-413D-BDEB-D0F3A39F5F9F}"/>
              </a:ext>
            </a:extLst>
          </p:cNvPr>
          <p:cNvSpPr>
            <a:spLocks noGrp="1"/>
          </p:cNvSpPr>
          <p:nvPr/>
        </p:nvSpPr>
        <p:spPr>
          <a:xfrm>
            <a:off x="62103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9EDE11-6A29-455D-A5B8-D867FC4D961A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48B151-B4AF-479A-AA42-C58CB5706EC7}"/>
              </a:ext>
            </a:extLst>
          </p:cNvPr>
          <p:cNvSpPr>
            <a:spLocks noGrp="1"/>
          </p:cNvSpPr>
          <p:nvPr/>
        </p:nvSpPr>
        <p:spPr>
          <a:xfrm>
            <a:off x="63817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Application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187CCC-6C37-44B5-B1D5-02BA5EEF63D9}"/>
              </a:ext>
            </a:extLst>
          </p:cNvPr>
          <p:cNvSpPr>
            <a:spLocks noGrp="1"/>
          </p:cNvSpPr>
          <p:nvPr/>
        </p:nvSpPr>
        <p:spPr>
          <a:xfrm>
            <a:off x="63817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случајеви употребе и портови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AAA78E9-F140-4CB1-B8CB-0432F9E9161A}"/>
              </a:ext>
            </a:extLst>
          </p:cNvPr>
          <p:cNvSpPr>
            <a:spLocks noGrp="1"/>
          </p:cNvSpPr>
          <p:nvPr/>
        </p:nvSpPr>
        <p:spPr>
          <a:xfrm>
            <a:off x="9144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2A2A81-3194-491B-BE29-9283A6D7217C}"/>
              </a:ext>
            </a:extLst>
          </p:cNvPr>
          <p:cNvSpPr>
            <a:spLocks noGrp="1"/>
          </p:cNvSpPr>
          <p:nvPr/>
        </p:nvSpPr>
        <p:spPr>
          <a:xfrm>
            <a:off x="10858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F78CD3-DB11-4D4D-AE92-A57A0C09637F}"/>
              </a:ext>
            </a:extLst>
          </p:cNvPr>
          <p:cNvSpPr>
            <a:spLocks noGrp="1"/>
          </p:cNvSpPr>
          <p:nvPr/>
        </p:nvSpPr>
        <p:spPr>
          <a:xfrm>
            <a:off x="10858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Infrastructure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782741-A1EF-42CF-A8EA-EF5EA3B10090}"/>
              </a:ext>
            </a:extLst>
          </p:cNvPr>
          <p:cNvSpPr>
            <a:spLocks noGrp="1"/>
          </p:cNvSpPr>
          <p:nvPr/>
        </p:nvSpPr>
        <p:spPr>
          <a:xfrm>
            <a:off x="10858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база, датотеке и спољни сервиси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E87112E-5332-48A5-A97D-62B0D330D735}"/>
              </a:ext>
            </a:extLst>
          </p:cNvPr>
          <p:cNvSpPr>
            <a:spLocks noGrp="1"/>
          </p:cNvSpPr>
          <p:nvPr/>
        </p:nvSpPr>
        <p:spPr>
          <a:xfrm>
            <a:off x="62103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5679D80-1E28-4B7F-9EC0-D28D461DA4A2}"/>
              </a:ext>
            </a:extLst>
          </p:cNvPr>
          <p:cNvSpPr>
            <a:spLocks noGrp="1"/>
          </p:cNvSpPr>
          <p:nvPr/>
        </p:nvSpPr>
        <p:spPr>
          <a:xfrm>
            <a:off x="63817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828347-F606-4BD4-9B65-867C3FBF3110}"/>
              </a:ext>
            </a:extLst>
          </p:cNvPr>
          <p:cNvSpPr>
            <a:spLocks noGrp="1"/>
          </p:cNvSpPr>
          <p:nvPr/>
        </p:nvSpPr>
        <p:spPr>
          <a:xfrm>
            <a:off x="63817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Presentation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D9EA9F-F6D2-4E4D-AD36-6E37546492ED}"/>
              </a:ext>
            </a:extLst>
          </p:cNvPr>
          <p:cNvSpPr>
            <a:spLocks noGrp="1"/>
          </p:cNvSpPr>
          <p:nvPr/>
        </p:nvSpPr>
        <p:spPr>
          <a:xfrm>
            <a:off x="63817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превод захтева у позив use-case-а</a:t>
            </a:r>
          </a:p>
        </p:txBody>
      </p:sp>
    </p:spTree>
    <p:extLst>
      <p:ext uri="{BB962C8B-B14F-4D97-AF65-F5344CB8AC3E}">
        <p14:creationId xmlns:p14="http://schemas.microsoft.com/office/powerpoint/2010/main" val="1392595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BA03F2-956B-42B1-9F63-51F177D5555D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578B18-08A0-4A5B-B2CE-AEFD0725BE11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C0A7A3-C9DC-412A-AFE1-5E0B1FBE5072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553B11-C04C-4DAA-94AA-73F3CCE46F0A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Composition root из Logger–Blogger примера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21151E-DA5C-4B23-9D43-41ED0D3819FA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Једно место бира конкретне имплементације, док пословни код остаје везан за уговоре.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0F0FBF0-8BF4-49B4-A726-B568663B7F44}"/>
              </a:ext>
            </a:extLst>
          </p:cNvPr>
          <p:cNvSpPr>
            <a:spLocks noGrp="1"/>
          </p:cNvSpPr>
          <p:nvPr/>
        </p:nvSpPr>
        <p:spPr>
          <a:xfrm>
            <a:off x="914400" y="2508667"/>
            <a:ext cx="5715000" cy="222885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F2DCB03-3B83-4008-9844-804216C3E15F}"/>
              </a:ext>
            </a:extLst>
          </p:cNvPr>
          <p:cNvSpPr>
            <a:spLocks noGrp="1"/>
          </p:cNvSpPr>
          <p:nvPr/>
        </p:nvSpPr>
        <p:spPr>
          <a:xfrm>
            <a:off x="914400" y="2856139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6359A8C-4C1C-419B-AC74-EEE1E5684978}"/>
              </a:ext>
            </a:extLst>
          </p:cNvPr>
          <p:cNvSpPr>
            <a:spLocks noGrp="1"/>
          </p:cNvSpPr>
          <p:nvPr/>
        </p:nvSpPr>
        <p:spPr>
          <a:xfrm>
            <a:off x="5715000" y="2627539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DD3BF0F-5749-4B6C-BAB5-19C81F0AFEEA}"/>
              </a:ext>
            </a:extLst>
          </p:cNvPr>
          <p:cNvSpPr>
            <a:spLocks noGrp="1"/>
          </p:cNvSpPr>
          <p:nvPr/>
        </p:nvSpPr>
        <p:spPr>
          <a:xfrm>
            <a:off x="5861304" y="2627539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D374266-FC89-4A22-B73A-A8C17AA38533}"/>
              </a:ext>
            </a:extLst>
          </p:cNvPr>
          <p:cNvSpPr>
            <a:spLocks noGrp="1"/>
          </p:cNvSpPr>
          <p:nvPr/>
        </p:nvSpPr>
        <p:spPr>
          <a:xfrm>
            <a:off x="6007608" y="2627539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F2A0F8-3AFA-44C0-8C6B-80AAA593702A}"/>
              </a:ext>
            </a:extLst>
          </p:cNvPr>
          <p:cNvSpPr>
            <a:spLocks noGrp="1"/>
          </p:cNvSpPr>
          <p:nvPr/>
        </p:nvSpPr>
        <p:spPr>
          <a:xfrm>
            <a:off x="1047750" y="2984917"/>
            <a:ext cx="5448300" cy="2228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IBazaPodataka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baza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JsonBazaPodataka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"data.json"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ILogger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logger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FileLogger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"app.log"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IZapisiServis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zapisi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ZapisiServis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baza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logger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IConsoleIO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io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ConsoleIO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app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AppContainer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zapisi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io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app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Run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126228-0EC3-4B15-86E7-279C488CB432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46ED06-320F-4BB7-A5B0-A2984769DFCF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Presentation саставља граф зависности.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Domain и сервиси не креирају JSON базу или FileLogger.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DIP омогућава замену детаља без промене језгра.</a:t>
            </a:r>
          </a:p>
        </p:txBody>
      </p:sp>
    </p:spTree>
    <p:extLst>
      <p:ext uri="{BB962C8B-B14F-4D97-AF65-F5344CB8AC3E}">
        <p14:creationId xmlns:p14="http://schemas.microsoft.com/office/powerpoint/2010/main" val="14664935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D72514-8B68-4697-ABDC-A29014A1E377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9FFACA-AA19-476B-85FC-5E1D5170F0C5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2871D2-018F-44A6-B3EB-9C36D1027938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3E9893-9536-4F13-8C4E-FFFF23101501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Logger–Blogger је студија случаја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3CC2C3-668C-4B1B-B131-90D3B48E670C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Циљ није преписивање шаблона, већ разумевање одговорности.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B3F614B-C719-4EE9-A2A4-D955D1311C8A}"/>
              </a:ext>
            </a:extLst>
          </p:cNvPr>
          <p:cNvSpPr>
            <a:spLocks noGrp="1"/>
          </p:cNvSpPr>
          <p:nvPr/>
        </p:nvSpPr>
        <p:spPr>
          <a:xfrm>
            <a:off x="1478280" y="2560320"/>
            <a:ext cx="2834640" cy="1828800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458EFC-8F54-4CF6-BE45-2225D72BB173}"/>
              </a:ext>
            </a:extLst>
          </p:cNvPr>
          <p:cNvSpPr>
            <a:spLocks noGrp="1"/>
          </p:cNvSpPr>
          <p:nvPr/>
        </p:nvSpPr>
        <p:spPr>
          <a:xfrm>
            <a:off x="1642872" y="2761488"/>
            <a:ext cx="73152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FCF72E-5AAE-4993-9A90-71669544E1B5}"/>
              </a:ext>
            </a:extLst>
          </p:cNvPr>
          <p:cNvSpPr>
            <a:spLocks noGrp="1"/>
          </p:cNvSpPr>
          <p:nvPr/>
        </p:nvSpPr>
        <p:spPr>
          <a:xfrm>
            <a:off x="1642872" y="3063240"/>
            <a:ext cx="23317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Пословно језгро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42D8B0-37F5-4B69-B542-7197624CEBE1}"/>
              </a:ext>
            </a:extLst>
          </p:cNvPr>
          <p:cNvSpPr>
            <a:spLocks noGrp="1"/>
          </p:cNvSpPr>
          <p:nvPr/>
        </p:nvSpPr>
        <p:spPr>
          <a:xfrm>
            <a:off x="1642872" y="370332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правила без инфраструктурних детаља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9A7E92C-C2EA-4818-90FE-0509F9C5781C}"/>
              </a:ext>
            </a:extLst>
          </p:cNvPr>
          <p:cNvSpPr>
            <a:spLocks noGrp="1"/>
          </p:cNvSpPr>
          <p:nvPr/>
        </p:nvSpPr>
        <p:spPr>
          <a:xfrm>
            <a:off x="4678680" y="2560320"/>
            <a:ext cx="2834640" cy="1828800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B3EE32-4B26-4F11-B578-8946B80E5D01}"/>
              </a:ext>
            </a:extLst>
          </p:cNvPr>
          <p:cNvSpPr>
            <a:spLocks noGrp="1"/>
          </p:cNvSpPr>
          <p:nvPr/>
        </p:nvSpPr>
        <p:spPr>
          <a:xfrm>
            <a:off x="4843272" y="2761488"/>
            <a:ext cx="73152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4A9BAC-8B44-49B2-B159-945D12503F7C}"/>
              </a:ext>
            </a:extLst>
          </p:cNvPr>
          <p:cNvSpPr>
            <a:spLocks noGrp="1"/>
          </p:cNvSpPr>
          <p:nvPr/>
        </p:nvSpPr>
        <p:spPr>
          <a:xfrm>
            <a:off x="4843272" y="3063240"/>
            <a:ext cx="23317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Adapter-и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D06F82-A807-40F7-8FD5-B0BA91DCF414}"/>
              </a:ext>
            </a:extLst>
          </p:cNvPr>
          <p:cNvSpPr>
            <a:spLocks noGrp="1"/>
          </p:cNvSpPr>
          <p:nvPr/>
        </p:nvSpPr>
        <p:spPr>
          <a:xfrm>
            <a:off x="4843272" y="370332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конкретна база, датотеке, логовање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9C9233B-1B60-4E16-B3D0-F63919375BCD}"/>
              </a:ext>
            </a:extLst>
          </p:cNvPr>
          <p:cNvSpPr>
            <a:spLocks noGrp="1"/>
          </p:cNvSpPr>
          <p:nvPr/>
        </p:nvSpPr>
        <p:spPr>
          <a:xfrm>
            <a:off x="7879080" y="2560320"/>
            <a:ext cx="2834640" cy="1828800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908E04-FE7C-4DB9-8E24-D4746E6FBB83}"/>
              </a:ext>
            </a:extLst>
          </p:cNvPr>
          <p:cNvSpPr>
            <a:spLocks noGrp="1"/>
          </p:cNvSpPr>
          <p:nvPr/>
        </p:nvSpPr>
        <p:spPr>
          <a:xfrm>
            <a:off x="8043672" y="2761488"/>
            <a:ext cx="73152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5B7254E-A03A-4284-A51F-844A206DF58B}"/>
              </a:ext>
            </a:extLst>
          </p:cNvPr>
          <p:cNvSpPr>
            <a:spLocks noGrp="1"/>
          </p:cNvSpPr>
          <p:nvPr/>
        </p:nvSpPr>
        <p:spPr>
          <a:xfrm>
            <a:off x="8043672" y="3063240"/>
            <a:ext cx="23317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Composition root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08A50CE-6F6C-452C-9202-592158073415}"/>
              </a:ext>
            </a:extLst>
          </p:cNvPr>
          <p:cNvSpPr>
            <a:spLocks noGrp="1"/>
          </p:cNvSpPr>
          <p:nvPr/>
        </p:nvSpPr>
        <p:spPr>
          <a:xfrm>
            <a:off x="8043672" y="370332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место где се саставља граф зависности</a:t>
            </a:r>
          </a:p>
        </p:txBody>
      </p:sp>
    </p:spTree>
    <p:extLst>
      <p:ext uri="{BB962C8B-B14F-4D97-AF65-F5344CB8AC3E}">
        <p14:creationId xmlns:p14="http://schemas.microsoft.com/office/powerpoint/2010/main" val="11078298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8EC0A5-ECAA-4F84-A5F5-42250E77DB45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B55D90-3DBB-44B8-8A38-0F268263E99C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28637-64F0-4D34-8750-B2426E5E28E8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FB4C07-1E7D-4564-A2FD-F4412996FA23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Refactoring мора имати разлог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72D886-74E2-48F6-9A9E-5534F6C240BB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Декомпозиција није циљ сама по себи.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A01461-B88C-42C3-A271-A6D4E04D31A6}"/>
              </a:ext>
            </a:extLst>
          </p:cNvPr>
          <p:cNvSpPr>
            <a:spLocks noGrp="1"/>
          </p:cNvSpPr>
          <p:nvPr/>
        </p:nvSpPr>
        <p:spPr>
          <a:xfrm>
            <a:off x="914400" y="2331720"/>
            <a:ext cx="47625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ЛОШ СИГНАЛ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54049A-ECA1-47C0-80B9-5A0958BF8605}"/>
              </a:ext>
            </a:extLst>
          </p:cNvPr>
          <p:cNvSpPr>
            <a:spLocks noGrp="1"/>
          </p:cNvSpPr>
          <p:nvPr/>
        </p:nvSpPr>
        <p:spPr>
          <a:xfrm>
            <a:off x="914400" y="2697480"/>
            <a:ext cx="4762500" cy="1379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класа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мења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податке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,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шаље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email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и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лог</a:t>
            </a:r>
            <a:r>
              <a:rPr lang="sr-Cyrl-RS"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у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je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метода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има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више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неповезаних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праваца</a:t>
            </a:r>
            <a:endParaRPr sz="1520" b="0" dirty="0">
              <a:solidFill>
                <a:srgbClr val="1B202B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тест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мора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да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зна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приватне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детаље</a:t>
            </a:r>
            <a:endParaRPr sz="1520" b="0" dirty="0">
              <a:solidFill>
                <a:srgbClr val="1B202B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ново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понашање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тражи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измену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стабилног</a:t>
            </a:r>
            <a:r>
              <a:rPr sz="1520" b="0" dirty="0">
                <a:solidFill>
                  <a:srgbClr val="1B202B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 dirty="0" err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центра</a:t>
            </a:r>
            <a:endParaRPr sz="1520" b="0" dirty="0">
              <a:solidFill>
                <a:srgbClr val="1B20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Connector 8">
            <a:extLst>
              <a:ext uri="{FF2B5EF4-FFF2-40B4-BE49-F238E27FC236}">
                <a16:creationId xmlns:a16="http://schemas.microsoft.com/office/drawing/2014/main" id="{B71626C0-AD81-4B45-B53B-F3EEBBA1DB04}"/>
              </a:ext>
            </a:extLst>
          </p:cNvPr>
          <p:cNvSpPr>
            <a:spLocks noGrp="1"/>
          </p:cNvSpPr>
          <p:nvPr/>
        </p:nvSpPr>
        <p:spPr>
          <a:xfrm>
            <a:off x="6096000" y="2331720"/>
            <a:ext cx="0" cy="320040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6AF25A-AF05-4B9E-B732-2DEB7FC8FCC8}"/>
              </a:ext>
            </a:extLst>
          </p:cNvPr>
          <p:cNvSpPr>
            <a:spLocks noGrp="1"/>
          </p:cNvSpPr>
          <p:nvPr/>
        </p:nvSpPr>
        <p:spPr>
          <a:xfrm>
            <a:off x="6515100" y="2331720"/>
            <a:ext cx="47625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ДОБАР СИГНАЛ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DBF914-E890-44E3-A6AE-0C6C268491A3}"/>
              </a:ext>
            </a:extLst>
          </p:cNvPr>
          <p:cNvSpPr>
            <a:spLocks noGrp="1"/>
          </p:cNvSpPr>
          <p:nvPr/>
        </p:nvSpPr>
        <p:spPr>
          <a:xfrm>
            <a:off x="6515100" y="2697480"/>
            <a:ext cx="476250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једна реченица описује одговорност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сарадници су уговори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промена погађа очекивано место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тестови проверавају понашање</a:t>
            </a:r>
          </a:p>
        </p:txBody>
      </p:sp>
    </p:spTree>
    <p:extLst>
      <p:ext uri="{BB962C8B-B14F-4D97-AF65-F5344CB8AC3E}">
        <p14:creationId xmlns:p14="http://schemas.microsoft.com/office/powerpoint/2010/main" val="3305891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639F75E-8860-4CBA-86B1-980707716108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7C729C5-B7ED-4124-9359-7D6A5B246670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D1CD52-63F3-4681-9778-C6B83846BAD1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C99DAA-4CDA-4B1D-BC7D-C88D70289006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Преглед кода кроз SOLID питања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A3977C-3D20-4A6A-8957-2FFF35A5E23D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Питања су кориснија од механичког препознавања принципа.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3ED892-ADD6-42F3-829E-A7E5A6EB79F0}"/>
              </a:ext>
            </a:extLst>
          </p:cNvPr>
          <p:cNvSpPr>
            <a:spLocks noGrp="1"/>
          </p:cNvSpPr>
          <p:nvPr/>
        </p:nvSpPr>
        <p:spPr>
          <a:xfrm>
            <a:off x="914400" y="2240280"/>
            <a:ext cx="2518161" cy="457200"/>
          </a:xfrm>
          <a:prstGeom prst="rect">
            <a:avLst/>
          </a:prstGeom>
          <a:solidFill>
            <a:srgbClr val="F7F8FA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E448D5-625A-4C1F-A22C-52AFD291E8E0}"/>
              </a:ext>
            </a:extLst>
          </p:cNvPr>
          <p:cNvSpPr>
            <a:spLocks noGrp="1"/>
          </p:cNvSpPr>
          <p:nvPr/>
        </p:nvSpPr>
        <p:spPr>
          <a:xfrm>
            <a:off x="1030623" y="2306955"/>
            <a:ext cx="2324456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Питање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5BA38E6-2200-4F12-A3EB-41D4A8C66284}"/>
              </a:ext>
            </a:extLst>
          </p:cNvPr>
          <p:cNvSpPr>
            <a:spLocks noGrp="1"/>
          </p:cNvSpPr>
          <p:nvPr/>
        </p:nvSpPr>
        <p:spPr>
          <a:xfrm>
            <a:off x="3432561" y="2240280"/>
            <a:ext cx="7845039" cy="457200"/>
          </a:xfrm>
          <a:prstGeom prst="rect">
            <a:avLst/>
          </a:prstGeom>
          <a:solidFill>
            <a:srgbClr val="F7F8FA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900EDF-C226-494B-9CEE-5653565B1D62}"/>
              </a:ext>
            </a:extLst>
          </p:cNvPr>
          <p:cNvSpPr>
            <a:spLocks noGrp="1"/>
          </p:cNvSpPr>
          <p:nvPr/>
        </p:nvSpPr>
        <p:spPr>
          <a:xfrm>
            <a:off x="3548784" y="2306955"/>
            <a:ext cx="7651334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Шта открива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D6E4F5-CC2E-4686-B9F9-96DCB34308B9}"/>
              </a:ext>
            </a:extLst>
          </p:cNvPr>
          <p:cNvSpPr>
            <a:spLocks noGrp="1"/>
          </p:cNvSpPr>
          <p:nvPr/>
        </p:nvSpPr>
        <p:spPr>
          <a:xfrm>
            <a:off x="914400" y="2697480"/>
            <a:ext cx="2518161" cy="584454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583980-927D-40E3-84BA-7562B00753EF}"/>
              </a:ext>
            </a:extLst>
          </p:cNvPr>
          <p:cNvSpPr>
            <a:spLocks noGrp="1"/>
          </p:cNvSpPr>
          <p:nvPr/>
        </p:nvSpPr>
        <p:spPr>
          <a:xfrm>
            <a:off x="1030623" y="2764155"/>
            <a:ext cx="2276030" cy="479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Да ли модул има један разлог за промену?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18D242-EC71-4511-B244-C64B176A31B5}"/>
              </a:ext>
            </a:extLst>
          </p:cNvPr>
          <p:cNvSpPr>
            <a:spLocks noGrp="1"/>
          </p:cNvSpPr>
          <p:nvPr/>
        </p:nvSpPr>
        <p:spPr>
          <a:xfrm>
            <a:off x="3432561" y="2697480"/>
            <a:ext cx="7845039" cy="584454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F7A034-6D40-4EE8-BDFB-F76D3AF39848}"/>
              </a:ext>
            </a:extLst>
          </p:cNvPr>
          <p:cNvSpPr>
            <a:spLocks noGrp="1"/>
          </p:cNvSpPr>
          <p:nvPr/>
        </p:nvSpPr>
        <p:spPr>
          <a:xfrm>
            <a:off x="3548784" y="2764155"/>
            <a:ext cx="7602908" cy="479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SRP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693AC34-99DD-43DA-9CF8-626CE36C3707}"/>
              </a:ext>
            </a:extLst>
          </p:cNvPr>
          <p:cNvSpPr>
            <a:spLocks noGrp="1"/>
          </p:cNvSpPr>
          <p:nvPr/>
        </p:nvSpPr>
        <p:spPr>
          <a:xfrm>
            <a:off x="914400" y="3281934"/>
            <a:ext cx="2518161" cy="584454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4C66D9-C134-4A00-8F5D-97ABBEB42946}"/>
              </a:ext>
            </a:extLst>
          </p:cNvPr>
          <p:cNvSpPr>
            <a:spLocks noGrp="1"/>
          </p:cNvSpPr>
          <p:nvPr/>
        </p:nvSpPr>
        <p:spPr>
          <a:xfrm>
            <a:off x="1030623" y="3348609"/>
            <a:ext cx="2276030" cy="479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Да ли нова варијанта мења стабилан ток?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FAF6DD-90B7-49B9-B168-2B4BF5487AC5}"/>
              </a:ext>
            </a:extLst>
          </p:cNvPr>
          <p:cNvSpPr>
            <a:spLocks noGrp="1"/>
          </p:cNvSpPr>
          <p:nvPr/>
        </p:nvSpPr>
        <p:spPr>
          <a:xfrm>
            <a:off x="3432561" y="3281934"/>
            <a:ext cx="7845039" cy="584454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AB2981-586A-4E54-9AC3-D98681913D82}"/>
              </a:ext>
            </a:extLst>
          </p:cNvPr>
          <p:cNvSpPr>
            <a:spLocks noGrp="1"/>
          </p:cNvSpPr>
          <p:nvPr/>
        </p:nvSpPr>
        <p:spPr>
          <a:xfrm>
            <a:off x="3548784" y="3348609"/>
            <a:ext cx="7602908" cy="479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OCP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DC0604-BEB5-4537-9434-7EA12FEBE97D}"/>
              </a:ext>
            </a:extLst>
          </p:cNvPr>
          <p:cNvSpPr>
            <a:spLocks noGrp="1"/>
          </p:cNvSpPr>
          <p:nvPr/>
        </p:nvSpPr>
        <p:spPr>
          <a:xfrm>
            <a:off x="914400" y="3866388"/>
            <a:ext cx="2518161" cy="584454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D0D2A5-021B-44C3-BB5B-420CB57B684E}"/>
              </a:ext>
            </a:extLst>
          </p:cNvPr>
          <p:cNvSpPr>
            <a:spLocks noGrp="1"/>
          </p:cNvSpPr>
          <p:nvPr/>
        </p:nvSpPr>
        <p:spPr>
          <a:xfrm>
            <a:off x="1030623" y="3933063"/>
            <a:ext cx="2276030" cy="479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Да ли имплементација поштује уговор?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E12058D-8D6A-49E5-8CCB-A1423DEF68F2}"/>
              </a:ext>
            </a:extLst>
          </p:cNvPr>
          <p:cNvSpPr>
            <a:spLocks noGrp="1"/>
          </p:cNvSpPr>
          <p:nvPr/>
        </p:nvSpPr>
        <p:spPr>
          <a:xfrm>
            <a:off x="3432561" y="3866388"/>
            <a:ext cx="7845039" cy="584454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7A1852-F08B-456E-BE4F-744F36824BAB}"/>
              </a:ext>
            </a:extLst>
          </p:cNvPr>
          <p:cNvSpPr>
            <a:spLocks noGrp="1"/>
          </p:cNvSpPr>
          <p:nvPr/>
        </p:nvSpPr>
        <p:spPr>
          <a:xfrm>
            <a:off x="3548784" y="3933063"/>
            <a:ext cx="7602908" cy="479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LSP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3EEAA23-75B2-4149-BD25-1958CDC51A0A}"/>
              </a:ext>
            </a:extLst>
          </p:cNvPr>
          <p:cNvSpPr>
            <a:spLocks noGrp="1"/>
          </p:cNvSpPr>
          <p:nvPr/>
        </p:nvSpPr>
        <p:spPr>
          <a:xfrm>
            <a:off x="914400" y="4450842"/>
            <a:ext cx="2518161" cy="584454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2C6233-0E87-4F95-8305-C9073512896A}"/>
              </a:ext>
            </a:extLst>
          </p:cNvPr>
          <p:cNvSpPr>
            <a:spLocks noGrp="1"/>
          </p:cNvSpPr>
          <p:nvPr/>
        </p:nvSpPr>
        <p:spPr>
          <a:xfrm>
            <a:off x="1030623" y="4517517"/>
            <a:ext cx="2276030" cy="479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Да ли је интерфејс шири него што клијенту треба?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911896-CE9C-4434-91FD-869C2152B7E1}"/>
              </a:ext>
            </a:extLst>
          </p:cNvPr>
          <p:cNvSpPr>
            <a:spLocks noGrp="1"/>
          </p:cNvSpPr>
          <p:nvPr/>
        </p:nvSpPr>
        <p:spPr>
          <a:xfrm>
            <a:off x="3432561" y="4450842"/>
            <a:ext cx="7845039" cy="584454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99922F-7173-4A79-BDC8-A960C726E597}"/>
              </a:ext>
            </a:extLst>
          </p:cNvPr>
          <p:cNvSpPr>
            <a:spLocks noGrp="1"/>
          </p:cNvSpPr>
          <p:nvPr/>
        </p:nvSpPr>
        <p:spPr>
          <a:xfrm>
            <a:off x="3548784" y="4517517"/>
            <a:ext cx="7602908" cy="479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ISP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FCC8719-4F7E-4F24-A3A7-C9E175C94CA5}"/>
              </a:ext>
            </a:extLst>
          </p:cNvPr>
          <p:cNvSpPr>
            <a:spLocks noGrp="1"/>
          </p:cNvSpPr>
          <p:nvPr/>
        </p:nvSpPr>
        <p:spPr>
          <a:xfrm>
            <a:off x="914400" y="5035296"/>
            <a:ext cx="2518161" cy="584454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CD26756-6608-415E-813D-F297DA338D73}"/>
              </a:ext>
            </a:extLst>
          </p:cNvPr>
          <p:cNvSpPr>
            <a:spLocks noGrp="1"/>
          </p:cNvSpPr>
          <p:nvPr/>
        </p:nvSpPr>
        <p:spPr>
          <a:xfrm>
            <a:off x="1030623" y="5101971"/>
            <a:ext cx="2276030" cy="479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Да ли политика зависи од техничког детаља?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46EC92A-6785-4951-8D26-EFEB642D8762}"/>
              </a:ext>
            </a:extLst>
          </p:cNvPr>
          <p:cNvSpPr>
            <a:spLocks noGrp="1"/>
          </p:cNvSpPr>
          <p:nvPr/>
        </p:nvSpPr>
        <p:spPr>
          <a:xfrm>
            <a:off x="3432561" y="5035296"/>
            <a:ext cx="7845039" cy="584454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0F60710-C9E5-4D2D-A5DB-5D1362410E2F}"/>
              </a:ext>
            </a:extLst>
          </p:cNvPr>
          <p:cNvSpPr>
            <a:spLocks noGrp="1"/>
          </p:cNvSpPr>
          <p:nvPr/>
        </p:nvSpPr>
        <p:spPr>
          <a:xfrm>
            <a:off x="3548784" y="5101971"/>
            <a:ext cx="7602908" cy="479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DIP</a:t>
            </a:r>
          </a:p>
        </p:txBody>
      </p:sp>
    </p:spTree>
    <p:extLst>
      <p:ext uri="{BB962C8B-B14F-4D97-AF65-F5344CB8AC3E}">
        <p14:creationId xmlns:p14="http://schemas.microsoft.com/office/powerpoint/2010/main" val="8843470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1B2BCF-1EB8-40AD-946A-07D6F5E70E87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A1B7020-DE0D-4492-BA02-9D7DDF2F09B2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6482F5-1FBD-4A4C-8D8B-B097BBD1CA36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A0A0A5-A093-42CF-8E5A-D0F77885FF10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Рад на вежби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468432-9254-47C4-81C3-2762815AB048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Циљ је да се принципи примене на конкретан код, не само дефинишу.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2F2FC9-7FCD-46A4-B4BC-F03B02421E69}"/>
              </a:ext>
            </a:extLst>
          </p:cNvPr>
          <p:cNvSpPr>
            <a:spLocks noGrp="1"/>
          </p:cNvSpPr>
          <p:nvPr/>
        </p:nvSpPr>
        <p:spPr>
          <a:xfrm>
            <a:off x="1638300" y="22402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1338FB-669D-4BEF-94DC-FE5EEEAC687E}"/>
              </a:ext>
            </a:extLst>
          </p:cNvPr>
          <p:cNvSpPr>
            <a:spLocks noGrp="1"/>
          </p:cNvSpPr>
          <p:nvPr/>
        </p:nvSpPr>
        <p:spPr>
          <a:xfrm>
            <a:off x="2324100" y="2240280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Пронаћи класу са најмање две неповезане одговорности.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4829F3-BDBB-4D8A-9425-564499B87523}"/>
              </a:ext>
            </a:extLst>
          </p:cNvPr>
          <p:cNvSpPr>
            <a:spLocks noGrp="1"/>
          </p:cNvSpPr>
          <p:nvPr/>
        </p:nvSpPr>
        <p:spPr>
          <a:xfrm>
            <a:off x="1638300" y="280720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1DA783-CA75-4F75-8B78-2E523B5117D7}"/>
              </a:ext>
            </a:extLst>
          </p:cNvPr>
          <p:cNvSpPr>
            <a:spLocks noGrp="1"/>
          </p:cNvSpPr>
          <p:nvPr/>
        </p:nvSpPr>
        <p:spPr>
          <a:xfrm>
            <a:off x="2324100" y="2807208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Описати њену тренутну улогу једном реченицом.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0B2A2D-A436-4380-AC83-35D7C2BBABFF}"/>
              </a:ext>
            </a:extLst>
          </p:cNvPr>
          <p:cNvSpPr>
            <a:spLocks noGrp="1"/>
          </p:cNvSpPr>
          <p:nvPr/>
        </p:nvSpPr>
        <p:spPr>
          <a:xfrm>
            <a:off x="1638300" y="3374136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0BFAED-3882-457E-94EA-C71915FD5ED6}"/>
              </a:ext>
            </a:extLst>
          </p:cNvPr>
          <p:cNvSpPr>
            <a:spLocks noGrp="1"/>
          </p:cNvSpPr>
          <p:nvPr/>
        </p:nvSpPr>
        <p:spPr>
          <a:xfrm>
            <a:off x="2324100" y="3374136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Предложити раздвајање и нове границе.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5F2443-26E9-455F-8CBB-6E400CD382BA}"/>
              </a:ext>
            </a:extLst>
          </p:cNvPr>
          <p:cNvSpPr>
            <a:spLocks noGrp="1"/>
          </p:cNvSpPr>
          <p:nvPr/>
        </p:nvSpPr>
        <p:spPr>
          <a:xfrm>
            <a:off x="1638300" y="394106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116DED-48C3-4FD2-98BF-80B5E6AAC47A}"/>
              </a:ext>
            </a:extLst>
          </p:cNvPr>
          <p:cNvSpPr>
            <a:spLocks noGrp="1"/>
          </p:cNvSpPr>
          <p:nvPr/>
        </p:nvSpPr>
        <p:spPr>
          <a:xfrm>
            <a:off x="2324100" y="3941064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Образложити које будуће промене постају локализоване.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224586-D519-4463-9EF5-335E47159561}"/>
              </a:ext>
            </a:extLst>
          </p:cNvPr>
          <p:cNvSpPr>
            <a:spLocks noGrp="1"/>
          </p:cNvSpPr>
          <p:nvPr/>
        </p:nvSpPr>
        <p:spPr>
          <a:xfrm>
            <a:off x="1638300" y="450799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03F464-8061-45D5-9CAA-68A8593078CE}"/>
              </a:ext>
            </a:extLst>
          </p:cNvPr>
          <p:cNvSpPr>
            <a:spLocks noGrp="1"/>
          </p:cNvSpPr>
          <p:nvPr/>
        </p:nvSpPr>
        <p:spPr>
          <a:xfrm>
            <a:off x="2324100" y="4507992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Проверити да ли је смер зависности остао исправан.</a:t>
            </a:r>
          </a:p>
        </p:txBody>
      </p:sp>
    </p:spTree>
    <p:extLst>
      <p:ext uri="{BB962C8B-B14F-4D97-AF65-F5344CB8AC3E}">
        <p14:creationId xmlns:p14="http://schemas.microsoft.com/office/powerpoint/2010/main" val="10408009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C9073B-C2C7-407B-BAEB-2B378FF0B089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59C3F83-F50F-473A-9C45-01B795F4AAE2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82F9FC-971B-4A9E-BB0D-642BB620307E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02DF0-71D0-4CBF-839A-95528AC684E4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Главни критеријум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5192BF-572E-46E6-878B-12417DFAC9D1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SOLID се види кроз последице у коду.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499ABD-931B-4B57-B820-6131A7CABF30}"/>
              </a:ext>
            </a:extLst>
          </p:cNvPr>
          <p:cNvSpPr>
            <a:spLocks noGrp="1"/>
          </p:cNvSpPr>
          <p:nvPr/>
        </p:nvSpPr>
        <p:spPr>
          <a:xfrm>
            <a:off x="1706880" y="2331720"/>
            <a:ext cx="25603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1">
                <a:solidFill>
                  <a:srgbClr val="2A5B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822A43-905D-4911-AC6C-CEAB24915F3F}"/>
              </a:ext>
            </a:extLst>
          </p:cNvPr>
          <p:cNvSpPr>
            <a:spLocks noGrp="1"/>
          </p:cNvSpPr>
          <p:nvPr/>
        </p:nvSpPr>
        <p:spPr>
          <a:xfrm>
            <a:off x="4541520" y="2514600"/>
            <a:ext cx="5303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једна јасна промена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3EC5DF-F4ED-467D-8B6D-8376ECDCF89B}"/>
              </a:ext>
            </a:extLst>
          </p:cNvPr>
          <p:cNvSpPr>
            <a:spLocks noGrp="1"/>
          </p:cNvSpPr>
          <p:nvPr/>
        </p:nvSpPr>
        <p:spPr>
          <a:xfrm>
            <a:off x="4541520" y="3246120"/>
            <a:ext cx="5943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Када се промени једно пословно правило или технички детаљ, треба да се мења мали и очекиван део система.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A2CF15-30C2-408E-9B83-60DCC8001AE5}"/>
              </a:ext>
            </a:extLst>
          </p:cNvPr>
          <p:cNvSpPr>
            <a:spLocks noGrp="1"/>
          </p:cNvSpPr>
          <p:nvPr/>
        </p:nvSpPr>
        <p:spPr>
          <a:xfrm>
            <a:off x="4541520" y="4389120"/>
            <a:ext cx="4937760" cy="12801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96869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FA16EF-6F31-4AB5-BD55-DBCB0A63E711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FC962C-CCC5-4870-938D-2047000E13F9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D0E8-459C-4F12-BF52-02C5620E6D3D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0A2E5D-E387-484D-87E7-DDB4EFBD8B73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Најчешће грешке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42F6AC-4818-4B09-9364-54AED43BA293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Принципи могу бити погрешно примењени ако се претворе у шаблон.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4632FE9-9711-4E76-91B0-DC95322694A9}"/>
              </a:ext>
            </a:extLst>
          </p:cNvPr>
          <p:cNvSpPr>
            <a:spLocks noGrp="1"/>
          </p:cNvSpPr>
          <p:nvPr/>
        </p:nvSpPr>
        <p:spPr>
          <a:xfrm>
            <a:off x="9144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DFBB42-7171-4638-99B6-14EEA294D5CF}"/>
              </a:ext>
            </a:extLst>
          </p:cNvPr>
          <p:cNvSpPr>
            <a:spLocks noGrp="1"/>
          </p:cNvSpPr>
          <p:nvPr/>
        </p:nvSpPr>
        <p:spPr>
          <a:xfrm>
            <a:off x="10858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00B3A2-D026-49D8-B4E3-E94FCF0C8F0A}"/>
              </a:ext>
            </a:extLst>
          </p:cNvPr>
          <p:cNvSpPr>
            <a:spLocks noGrp="1"/>
          </p:cNvSpPr>
          <p:nvPr/>
        </p:nvSpPr>
        <p:spPr>
          <a:xfrm>
            <a:off x="10858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Превише интерфејса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84F96B-917D-4CAA-AFD3-EF9136ABB990}"/>
              </a:ext>
            </a:extLst>
          </p:cNvPr>
          <p:cNvSpPr>
            <a:spLocks noGrp="1"/>
          </p:cNvSpPr>
          <p:nvPr/>
        </p:nvSpPr>
        <p:spPr>
          <a:xfrm>
            <a:off x="10858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апстракције без реалне варијабилности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C271C33-C63F-459B-9C54-223D47EA8FDF}"/>
              </a:ext>
            </a:extLst>
          </p:cNvPr>
          <p:cNvSpPr>
            <a:spLocks noGrp="1"/>
          </p:cNvSpPr>
          <p:nvPr/>
        </p:nvSpPr>
        <p:spPr>
          <a:xfrm>
            <a:off x="62103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CA4B60-81E4-4BF4-9F74-50B3D7268C90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3C77A5-296C-42F7-8718-F93B9B5D9E1E}"/>
              </a:ext>
            </a:extLst>
          </p:cNvPr>
          <p:cNvSpPr>
            <a:spLocks noGrp="1"/>
          </p:cNvSpPr>
          <p:nvPr/>
        </p:nvSpPr>
        <p:spPr>
          <a:xfrm>
            <a:off x="63817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Погрешно наслеђивање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C2A921-8A29-437A-A7F5-85A46DD5901D}"/>
              </a:ext>
            </a:extLst>
          </p:cNvPr>
          <p:cNvSpPr>
            <a:spLocks noGrp="1"/>
          </p:cNvSpPr>
          <p:nvPr/>
        </p:nvSpPr>
        <p:spPr>
          <a:xfrm>
            <a:off x="63817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подтип не поштује уговор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D1C8496-FF6A-480B-8B84-82F7F650D502}"/>
              </a:ext>
            </a:extLst>
          </p:cNvPr>
          <p:cNvSpPr>
            <a:spLocks noGrp="1"/>
          </p:cNvSpPr>
          <p:nvPr/>
        </p:nvSpPr>
        <p:spPr>
          <a:xfrm>
            <a:off x="9144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2AF336-0B57-4B7C-B0A9-53B6AEA743BF}"/>
              </a:ext>
            </a:extLst>
          </p:cNvPr>
          <p:cNvSpPr>
            <a:spLocks noGrp="1"/>
          </p:cNvSpPr>
          <p:nvPr/>
        </p:nvSpPr>
        <p:spPr>
          <a:xfrm>
            <a:off x="10858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DE1C12-1E0E-4B1D-B6C4-68EAA3B88FF8}"/>
              </a:ext>
            </a:extLst>
          </p:cNvPr>
          <p:cNvSpPr>
            <a:spLocks noGrp="1"/>
          </p:cNvSpPr>
          <p:nvPr/>
        </p:nvSpPr>
        <p:spPr>
          <a:xfrm>
            <a:off x="10858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Anemic domain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58832A-7924-437C-9666-ADA9C8DB8D71}"/>
              </a:ext>
            </a:extLst>
          </p:cNvPr>
          <p:cNvSpPr>
            <a:spLocks noGrp="1"/>
          </p:cNvSpPr>
          <p:nvPr/>
        </p:nvSpPr>
        <p:spPr>
          <a:xfrm>
            <a:off x="10858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сва правила су у сервисима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F3CEAFB6-58A5-41A4-98A2-4D9842207FA6}"/>
              </a:ext>
            </a:extLst>
          </p:cNvPr>
          <p:cNvSpPr>
            <a:spLocks noGrp="1"/>
          </p:cNvSpPr>
          <p:nvPr/>
        </p:nvSpPr>
        <p:spPr>
          <a:xfrm>
            <a:off x="62103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699888-5F87-4732-B57B-03849ED91D63}"/>
              </a:ext>
            </a:extLst>
          </p:cNvPr>
          <p:cNvSpPr>
            <a:spLocks noGrp="1"/>
          </p:cNvSpPr>
          <p:nvPr/>
        </p:nvSpPr>
        <p:spPr>
          <a:xfrm>
            <a:off x="63817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7EB691-D779-4EA6-91E7-3F959B0993BD}"/>
              </a:ext>
            </a:extLst>
          </p:cNvPr>
          <p:cNvSpPr>
            <a:spLocks noGrp="1"/>
          </p:cNvSpPr>
          <p:nvPr/>
        </p:nvSpPr>
        <p:spPr>
          <a:xfrm>
            <a:off x="63817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Framework у језгру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B39A50-4B80-4820-991F-2BD4C5435399}"/>
              </a:ext>
            </a:extLst>
          </p:cNvPr>
          <p:cNvSpPr>
            <a:spLocks noGrp="1"/>
          </p:cNvSpPr>
          <p:nvPr/>
        </p:nvSpPr>
        <p:spPr>
          <a:xfrm>
            <a:off x="63817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Domain зависи од инфраструктуре</a:t>
            </a:r>
          </a:p>
        </p:txBody>
      </p:sp>
    </p:spTree>
    <p:extLst>
      <p:ext uri="{BB962C8B-B14F-4D97-AF65-F5344CB8AC3E}">
        <p14:creationId xmlns:p14="http://schemas.microsoft.com/office/powerpoint/2010/main" val="5277260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FA7089-4DF6-44EB-AA5B-D241FD91271B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471890-B889-4517-A6B2-DD049AAEAFBA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923784-6E93-4EDF-BEF5-41B37D29B475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EC51A1-6E0F-499C-BC67-2B7333565C0B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Суштина Вежбе 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8EC32F-7A9B-4C44-BDDB-569A0F40ECCA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SOLID и Clean Architecture су начин да се заштити разумљивост система.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FE3116-54C0-4073-B014-0B7989115D43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Добар дизајн није онај који има највише слојева, већ онај у коме се одговорност, смер зависности и последица промене могу јасно објаснити.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C3CF5C-94D0-4083-A5FF-51A364C90572}"/>
              </a:ext>
            </a:extLst>
          </p:cNvPr>
          <p:cNvSpPr>
            <a:spLocks noGrp="1"/>
          </p:cNvSpPr>
          <p:nvPr/>
        </p:nvSpPr>
        <p:spPr>
          <a:xfrm>
            <a:off x="1051560" y="3747924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8188FDE-D934-4253-96D3-34C0CE6CE19C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CCCF9B4-3DD0-4A0C-8B37-7A91BB209FC6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6BF6F41-B24C-4038-BD00-30B26F13493B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5661ECF-41EE-4191-966D-0435951173E3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Следећи корак је смештање пословне логике у use-case и Domain слој.</a:t>
            </a:r>
          </a:p>
        </p:txBody>
      </p:sp>
    </p:spTree>
    <p:extLst>
      <p:ext uri="{BB962C8B-B14F-4D97-AF65-F5344CB8AC3E}">
        <p14:creationId xmlns:p14="http://schemas.microsoft.com/office/powerpoint/2010/main" val="3547795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785B33-F9B2-45C2-977F-FC59F5E97FC8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C43696-78D8-4751-8A2C-E97BD3E56412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7F6CEA-B318-4438-A6D2-864046CF8516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F393B4-E23B-42E5-8E10-9176E4E7940A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390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За</a:t>
            </a:r>
            <a:r>
              <a:rPr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55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наредни</a:t>
            </a:r>
            <a:r>
              <a:rPr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sr-Cyrl-RS"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термин</a:t>
            </a:r>
            <a:endParaRPr sz="2550" b="1" dirty="0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7ED38B-A7D2-4446-B7F5-0EF69DC6DE69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Применити принципе на пројектну целину.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8EFA37-9A1E-4F44-9BD9-21D974C67A82}"/>
              </a:ext>
            </a:extLst>
          </p:cNvPr>
          <p:cNvSpPr>
            <a:spLocks noGrp="1"/>
          </p:cNvSpPr>
          <p:nvPr/>
        </p:nvSpPr>
        <p:spPr>
          <a:xfrm>
            <a:off x="1638300" y="22402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432BA8-02D3-4697-8B35-312D38F123CA}"/>
              </a:ext>
            </a:extLst>
          </p:cNvPr>
          <p:cNvSpPr>
            <a:spLocks noGrp="1"/>
          </p:cNvSpPr>
          <p:nvPr/>
        </p:nvSpPr>
        <p:spPr>
          <a:xfrm>
            <a:off x="2324100" y="2240280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Изабрати један use-case у свом домену.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0F4075-CD1A-4ECC-AB85-BE5D65D5775F}"/>
              </a:ext>
            </a:extLst>
          </p:cNvPr>
          <p:cNvSpPr>
            <a:spLocks noGrp="1"/>
          </p:cNvSpPr>
          <p:nvPr/>
        </p:nvSpPr>
        <p:spPr>
          <a:xfrm>
            <a:off x="1638300" y="280720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C5B44B-9EDA-4886-94BA-C6EC648BCB12}"/>
              </a:ext>
            </a:extLst>
          </p:cNvPr>
          <p:cNvSpPr>
            <a:spLocks noGrp="1"/>
          </p:cNvSpPr>
          <p:nvPr/>
        </p:nvSpPr>
        <p:spPr>
          <a:xfrm>
            <a:off x="2324100" y="2807208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Означити Domain, Application и Infrastructure одговорности.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496C88-BB1E-4315-82F4-FF6DE4583125}"/>
              </a:ext>
            </a:extLst>
          </p:cNvPr>
          <p:cNvSpPr>
            <a:spLocks noGrp="1"/>
          </p:cNvSpPr>
          <p:nvPr/>
        </p:nvSpPr>
        <p:spPr>
          <a:xfrm>
            <a:off x="1638300" y="3374136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8BBC12-2715-45BC-B20F-9C2A8299BA23}"/>
              </a:ext>
            </a:extLst>
          </p:cNvPr>
          <p:cNvSpPr>
            <a:spLocks noGrp="1"/>
          </p:cNvSpPr>
          <p:nvPr/>
        </p:nvSpPr>
        <p:spPr>
          <a:xfrm>
            <a:off x="2324100" y="3374136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Пронаћи једну класу са нејасном одговорношћу.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CB2D4C-0182-420E-8105-72B5E1A46B5B}"/>
              </a:ext>
            </a:extLst>
          </p:cNvPr>
          <p:cNvSpPr>
            <a:spLocks noGrp="1"/>
          </p:cNvSpPr>
          <p:nvPr/>
        </p:nvSpPr>
        <p:spPr>
          <a:xfrm>
            <a:off x="1638300" y="394106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16577E-2F37-491D-84BD-5E5EC0C5ABF9}"/>
              </a:ext>
            </a:extLst>
          </p:cNvPr>
          <p:cNvSpPr>
            <a:spLocks noGrp="1"/>
          </p:cNvSpPr>
          <p:nvPr/>
        </p:nvSpPr>
        <p:spPr>
          <a:xfrm>
            <a:off x="2324100" y="3941064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Предложити refactoring са образложењем.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5F2483-693D-4A3A-8519-1EAE2F965404}"/>
              </a:ext>
            </a:extLst>
          </p:cNvPr>
          <p:cNvSpPr>
            <a:spLocks noGrp="1"/>
          </p:cNvSpPr>
          <p:nvPr/>
        </p:nvSpPr>
        <p:spPr>
          <a:xfrm>
            <a:off x="1638300" y="450799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3BEF9B-DF96-4BE4-822D-31A32A2F2FCC}"/>
              </a:ext>
            </a:extLst>
          </p:cNvPr>
          <p:cNvSpPr>
            <a:spLocks noGrp="1"/>
          </p:cNvSpPr>
          <p:nvPr/>
        </p:nvSpPr>
        <p:spPr>
          <a:xfrm>
            <a:off x="2324100" y="4507992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Припремити пример за code review.</a:t>
            </a:r>
          </a:p>
        </p:txBody>
      </p:sp>
    </p:spTree>
    <p:extLst>
      <p:ext uri="{BB962C8B-B14F-4D97-AF65-F5344CB8AC3E}">
        <p14:creationId xmlns:p14="http://schemas.microsoft.com/office/powerpoint/2010/main" val="5630326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1303</Words>
  <Application>Microsoft Macintosh PowerPoint</Application>
  <DocSecurity>0</DocSecurity>
  <PresentationFormat>Widescreen</PresentationFormat>
  <Paragraphs>277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Jovanović Danijel</cp:lastModifiedBy>
  <cp:revision>3</cp:revision>
  <dcterms:created xsi:type="dcterms:W3CDTF">2026-09-28T19:34:44Z</dcterms:created>
  <dcterms:modified xsi:type="dcterms:W3CDTF">2026-09-28T19:47:28Z</dcterms:modified>
</cp:coreProperties>
</file>