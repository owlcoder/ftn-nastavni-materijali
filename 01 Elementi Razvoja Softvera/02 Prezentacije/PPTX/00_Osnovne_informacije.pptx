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0b414f2c154428" /><Relationship Type="http://schemas.openxmlformats.org/officeDocument/2006/relationships/extended-properties" Target="/docProps/app.xml" Id="Rc1549c50bbf34a49" /><Relationship Type="http://schemas.openxmlformats.org/officeDocument/2006/relationships/officeDocument" Target="/ppt/presentation.xml" Id="Ra02c2b67603a41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8b2d6f532b4927"/>
  </p:sldMasterIdLst>
  <p:notesMasterIdLst>
    <p:notesMasterId xmlns:r="http://schemas.openxmlformats.org/officeDocument/2006/relationships" r:id="Rdbfe607417eb426a"/>
  </p:notesMasterIdLst>
  <p:sldIdLst>
    <p:sldId xmlns:r="http://schemas.openxmlformats.org/officeDocument/2006/relationships" id="256" r:id="R3c1ad1f6fb3a4102"/>
    <p:sldId xmlns:r="http://schemas.openxmlformats.org/officeDocument/2006/relationships" id="257" r:id="R2f1666e1853142bc"/>
    <p:sldId xmlns:r="http://schemas.openxmlformats.org/officeDocument/2006/relationships" id="258" r:id="R3e8d7385d58e4372"/>
    <p:sldId xmlns:r="http://schemas.openxmlformats.org/officeDocument/2006/relationships" id="259" r:id="R3ea9bb5cc08047fa"/>
    <p:sldId xmlns:r="http://schemas.openxmlformats.org/officeDocument/2006/relationships" id="260" r:id="Rde9eb8e12642430b"/>
    <p:sldId xmlns:r="http://schemas.openxmlformats.org/officeDocument/2006/relationships" id="261" r:id="Re90a450b5e5d47d9"/>
    <p:sldId xmlns:r="http://schemas.openxmlformats.org/officeDocument/2006/relationships" id="262" r:id="R9840ed16a4c04ca3"/>
    <p:sldId xmlns:r="http://schemas.openxmlformats.org/officeDocument/2006/relationships" id="263" r:id="Re0ad312edf62450a"/>
    <p:sldId xmlns:r="http://schemas.openxmlformats.org/officeDocument/2006/relationships" id="264" r:id="R3aa73a631b7640a8"/>
    <p:sldId xmlns:r="http://schemas.openxmlformats.org/officeDocument/2006/relationships" id="265" r:id="Ra6a124982b2f498c"/>
    <p:sldId xmlns:r="http://schemas.openxmlformats.org/officeDocument/2006/relationships" id="266" r:id="Re104fda013294e30"/>
    <p:sldId xmlns:r="http://schemas.openxmlformats.org/officeDocument/2006/relationships" id="267" r:id="Rc8dc69801fa248e2"/>
    <p:sldId xmlns:r="http://schemas.openxmlformats.org/officeDocument/2006/relationships" id="268" r:id="Red78453c73b04f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74ea22c4f64d94" /><Relationship Type="http://schemas.openxmlformats.org/officeDocument/2006/relationships/slideMaster" Target="/ppt/slideMasters/slideMaster1.xml" Id="Rce8b2d6f532b4927" /><Relationship Type="http://schemas.openxmlformats.org/officeDocument/2006/relationships/notesMaster" Target="/ppt/notesMasters/notesMaster1.xml" Id="Rdbfe607417eb426a" /><Relationship Type="http://schemas.openxmlformats.org/officeDocument/2006/relationships/presProps" Target="/ppt/presProps.xml" Id="R4f06060d7c91461c" /><Relationship Type="http://schemas.openxmlformats.org/officeDocument/2006/relationships/viewProps" Target="/ppt/viewProps.xml" Id="Rd408d736680241c2" /><Relationship Type="http://schemas.openxmlformats.org/officeDocument/2006/relationships/tableStyles" Target="/ppt/tableStyles.xml" Id="R67c547b6bbb1431a" /><Relationship Type="http://schemas.openxmlformats.org/officeDocument/2006/relationships/slide" Target="/ppt/slides/slide1.xml" Id="R3c1ad1f6fb3a4102" /><Relationship Type="http://schemas.openxmlformats.org/officeDocument/2006/relationships/slide" Target="/ppt/slides/slide2.xml" Id="R2f1666e1853142bc" /><Relationship Type="http://schemas.openxmlformats.org/officeDocument/2006/relationships/slide" Target="/ppt/slides/slide3.xml" Id="R3e8d7385d58e4372" /><Relationship Type="http://schemas.openxmlformats.org/officeDocument/2006/relationships/slide" Target="/ppt/slides/slide4.xml" Id="R3ea9bb5cc08047fa" /><Relationship Type="http://schemas.openxmlformats.org/officeDocument/2006/relationships/slide" Target="/ppt/slides/slide5.xml" Id="Rde9eb8e12642430b" /><Relationship Type="http://schemas.openxmlformats.org/officeDocument/2006/relationships/slide" Target="/ppt/slides/slide6.xml" Id="Re90a450b5e5d47d9" /><Relationship Type="http://schemas.openxmlformats.org/officeDocument/2006/relationships/slide" Target="/ppt/slides/slide7.xml" Id="R9840ed16a4c04ca3" /><Relationship Type="http://schemas.openxmlformats.org/officeDocument/2006/relationships/slide" Target="/ppt/slides/slide8.xml" Id="Re0ad312edf62450a" /><Relationship Type="http://schemas.openxmlformats.org/officeDocument/2006/relationships/slide" Target="/ppt/slides/slide9.xml" Id="R3aa73a631b7640a8" /><Relationship Type="http://schemas.openxmlformats.org/officeDocument/2006/relationships/slide" Target="/ppt/slides/slide10.xml" Id="Ra6a124982b2f498c" /><Relationship Type="http://schemas.openxmlformats.org/officeDocument/2006/relationships/slide" Target="/ppt/slides/slide11.xml" Id="Re104fda013294e30" /><Relationship Type="http://schemas.openxmlformats.org/officeDocument/2006/relationships/slide" Target="/ppt/slides/slide12.xml" Id="Rc8dc69801fa248e2" /><Relationship Type="http://schemas.openxmlformats.org/officeDocument/2006/relationships/slide" Target="/ppt/slides/slide13.xml" Id="Red78453c73b04f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cf660d48e94e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122f1866e143ac" /><Relationship Type="http://schemas.openxmlformats.org/officeDocument/2006/relationships/notesMaster" Target="/ppt/notesMasters/notesMaster1.xml" Id="R39ad378345db42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957df9c34743d9" /><Relationship Type="http://schemas.openxmlformats.org/officeDocument/2006/relationships/notesMaster" Target="/ppt/notesMasters/notesMaster1.xml" Id="R7f4cfe5605d2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6bcaea2ac344ee" /><Relationship Type="http://schemas.openxmlformats.org/officeDocument/2006/relationships/notesMaster" Target="/ppt/notesMasters/notesMaster1.xml" Id="R444bc907ad6c4a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9bf8ea11494d1c" /><Relationship Type="http://schemas.openxmlformats.org/officeDocument/2006/relationships/notesMaster" Target="/ppt/notesMasters/notesMaster1.xml" Id="R5004b5fe48ef49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756eaaa8784a07" /><Relationship Type="http://schemas.openxmlformats.org/officeDocument/2006/relationships/notesMaster" Target="/ppt/notesMasters/notesMaster1.xml" Id="R3b2e144901ef4a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483313880440c5" /><Relationship Type="http://schemas.openxmlformats.org/officeDocument/2006/relationships/notesMaster" Target="/ppt/notesMasters/notesMaster1.xml" Id="R5437106bc3554a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4ecf64e3ca4dda" /><Relationship Type="http://schemas.openxmlformats.org/officeDocument/2006/relationships/notesMaster" Target="/ppt/notesMasters/notesMaster1.xml" Id="R84b290c27ee248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98a88217ef4564" /><Relationship Type="http://schemas.openxmlformats.org/officeDocument/2006/relationships/notesMaster" Target="/ppt/notesMasters/notesMaster1.xml" Id="R18584b465aac4f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f36a975c154bfe" /><Relationship Type="http://schemas.openxmlformats.org/officeDocument/2006/relationships/notesMaster" Target="/ppt/notesMasters/notesMaster1.xml" Id="R29822fe97efb40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a6305f90ff4513" /><Relationship Type="http://schemas.openxmlformats.org/officeDocument/2006/relationships/notesMaster" Target="/ppt/notesMasters/notesMaster1.xml" Id="Rd56c021304014b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cf26d3ae254b97" /><Relationship Type="http://schemas.openxmlformats.org/officeDocument/2006/relationships/notesMaster" Target="/ppt/notesMasters/notesMaster1.xml" Id="R011004f702ee45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fb0c02454742cd" /><Relationship Type="http://schemas.openxmlformats.org/officeDocument/2006/relationships/notesMaster" Target="/ppt/notesMasters/notesMaster1.xml" Id="Rfd063e2839044f7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78c558adc34a58" /><Relationship Type="http://schemas.openxmlformats.org/officeDocument/2006/relationships/notesMaster" Target="/ppt/notesMasters/notesMaster1.xml" Id="R2e3f031a59e249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522b6c9a9445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6107a88f04c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556bdbfa84a3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d854c0f5e24a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8010154e94e0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b70105eef74a1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80896316043c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d2d5cd0bd4d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9eb24073d433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a9130bcbe404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925f9022864ec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0D8E74-99E0-421A-A39F-04E87AECCA2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9158828-C95C-45EF-A5F8-8CD96056843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476D9-25BC-4140-BA9D-9C17E64EF9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53F40C-12AE-44CA-B478-BE59DC441E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7509B7-84D5-41B5-933A-3DEE01FE7A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B9283E-6126-4D1D-9B7B-E25C520CFE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4F5E7EC-2FC8-4D7D-A672-F0BFD605160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7A2574-E533-45A9-ABCC-D1EB81C0DB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56059E-76B8-46D6-B63A-B5A9452B73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DC1CAB-A64C-4277-8081-DBB0ABB46D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D92F4F-EE49-4FA5-8D7E-0C36CF769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1D7AE-2F3C-471E-ABF2-5EDE64033E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7CA424-F140-445E-BBC2-1BFA4029F4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C53C28-9228-40D8-A4BB-2640908D37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0A066F-B749-4F75-A8A5-5FFC865038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ADB515-57B3-4E41-8DBA-BEB9FDFE9E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808047-A05D-486F-9B95-F7B249DAEC5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A281E11-14E0-4B54-942A-E9969D9AB1D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DABE377-4B3F-4B9D-9126-9776477D9A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5636358-832A-46B3-B681-A37529858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51BFA14-AAA3-42A5-A6BA-3FCA606548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240F8A-B928-4ACD-B9EA-0B28E71905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9134E0-4360-42FE-B90B-986FC054DB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D6ADDE9-27BC-4899-AD9B-1A8052CC6A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B1F16E0-7087-4FD6-B115-86D2DF9AE50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82348AE-9257-48F0-8E59-701672C2621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5EF6BE-8C4E-460E-AFC7-AD0E958359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8E57949-45D9-40E0-B6AB-9ADC3078EE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E81AF7C-DA91-4257-81BB-D1E51EF8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A086F0-80C7-45AB-9FC8-4A25C0C5EA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B6FE10A-4F68-4FC4-BDCF-1B911C54E5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16F5A8E-ACCE-4311-844B-8A7DF4A4ED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F9EB4E6-F427-461D-AA29-ECCAE7E5D8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782238C-997C-4DEA-AD6E-A2DC56F3B1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44B8342-0626-4444-93F7-70EDEEC1F3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9E75E78-0A3F-445D-8DEC-0740E40125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706730-4D90-4C13-8176-3A7A6E78AB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B5CA84-8C3F-4112-85F2-0AB86045E8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A9FF386-3A0B-4855-A4F1-959D721EC5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C200A49-1F37-44DE-907B-5604B93E1E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E116C60-E092-48EF-83EF-690F24A55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6F1A21-1948-42AC-BD38-6906A08D5C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3B56BC-A79E-476A-87C1-E7BF99B511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AABDEB3-78CB-4D7B-8590-57FDB94CEA1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382231A-B124-4624-BDA5-52086575AB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D746E93-630E-4027-B36B-A8194784A3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07F260B-DE0A-45C7-AEDF-22C5DFAACD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E2A32D6-A51F-4DE0-A82E-26A7EC95C7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2E8947-9E8E-4754-A677-FD573DAB38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D3CDE4-1639-4697-8EB1-188F14D5DF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FEEC15B-A66F-4069-9445-DCF674D08D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F0F294-0005-48BE-A9AE-FFF3B702FA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F5A5C5D-9344-4EC2-A83A-4E9F7142DF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38EF6A4-E73F-4794-AE63-05671DC51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B1CC53C-6145-4336-8DD6-4D2B87BCFE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DE93C5-551B-42B9-A5D3-F85DC87F4C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F16895-9E56-4E37-B8CF-44F990D330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49FA63-F24C-4AFB-93BC-C74AC78763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f9473b8672415b" /><Relationship Type="http://schemas.openxmlformats.org/officeDocument/2006/relationships/slideLayout" Target="/ppt/slideLayouts/slideLayout1.xml" Id="Rd72a383ab2c74441" /><Relationship Type="http://schemas.openxmlformats.org/officeDocument/2006/relationships/slideLayout" Target="/ppt/slideLayouts/slideLayout2.xml" Id="R82e69021ecaa4a91" /><Relationship Type="http://schemas.openxmlformats.org/officeDocument/2006/relationships/slideLayout" Target="/ppt/slideLayouts/slideLayout3.xml" Id="Re8a6bfe7c8b746a8" /><Relationship Type="http://schemas.openxmlformats.org/officeDocument/2006/relationships/slideLayout" Target="/ppt/slideLayouts/slideLayout4.xml" Id="R7ec1f5bb5af44569" /><Relationship Type="http://schemas.openxmlformats.org/officeDocument/2006/relationships/slideLayout" Target="/ppt/slideLayouts/slideLayout5.xml" Id="R13ba4b7e28c349de" /><Relationship Type="http://schemas.openxmlformats.org/officeDocument/2006/relationships/slideLayout" Target="/ppt/slideLayouts/slideLayout6.xml" Id="Rbf85b22f50804986" /><Relationship Type="http://schemas.openxmlformats.org/officeDocument/2006/relationships/slideLayout" Target="/ppt/slideLayouts/slideLayout7.xml" Id="R799822356882488b" /><Relationship Type="http://schemas.openxmlformats.org/officeDocument/2006/relationships/slideLayout" Target="/ppt/slideLayouts/slideLayout8.xml" Id="Rfcf29a2da617437f" /><Relationship Type="http://schemas.openxmlformats.org/officeDocument/2006/relationships/slideLayout" Target="/ppt/slideLayouts/slideLayout9.xml" Id="Raf32c07dc1e84da8" /><Relationship Type="http://schemas.openxmlformats.org/officeDocument/2006/relationships/slideLayout" Target="/ppt/slideLayouts/slideLayout10.xml" Id="Rb7ac4b8bb4e94487" /><Relationship Type="http://schemas.openxmlformats.org/officeDocument/2006/relationships/slideLayout" Target="/ppt/slideLayouts/slideLayout11.xml" Id="R1375860ac91f433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CC3FD29-8B3E-489C-8FA2-EB4FA3FA9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2D1408-E28F-40EB-8DEB-61DA831A2F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BBF0FF-A9BD-4E2F-AA8C-3FCAE4EFF0B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630F8C-3869-4C6F-8F1B-0256BBF8E5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DCE03B-4540-4BC9-B101-A20FF6F844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2a383ab2c74441"/>
    <p:sldLayoutId xmlns:r="http://schemas.openxmlformats.org/officeDocument/2006/relationships" id="2147483650" r:id="R82e69021ecaa4a91"/>
    <p:sldLayoutId xmlns:r="http://schemas.openxmlformats.org/officeDocument/2006/relationships" id="2147483651" r:id="Re8a6bfe7c8b746a8"/>
    <p:sldLayoutId xmlns:r="http://schemas.openxmlformats.org/officeDocument/2006/relationships" id="2147483652" r:id="R7ec1f5bb5af44569"/>
    <p:sldLayoutId xmlns:r="http://schemas.openxmlformats.org/officeDocument/2006/relationships" id="2147483653" r:id="R13ba4b7e28c349de"/>
    <p:sldLayoutId xmlns:r="http://schemas.openxmlformats.org/officeDocument/2006/relationships" id="2147483654" r:id="Rbf85b22f50804986"/>
    <p:sldLayoutId xmlns:r="http://schemas.openxmlformats.org/officeDocument/2006/relationships" id="2147483655" r:id="R799822356882488b"/>
    <p:sldLayoutId xmlns:r="http://schemas.openxmlformats.org/officeDocument/2006/relationships" id="2147483656" r:id="Rfcf29a2da617437f"/>
    <p:sldLayoutId xmlns:r="http://schemas.openxmlformats.org/officeDocument/2006/relationships" id="2147483657" r:id="Raf32c07dc1e84da8"/>
    <p:sldLayoutId xmlns:r="http://schemas.openxmlformats.org/officeDocument/2006/relationships" id="2147483658" r:id="Rb7ac4b8bb4e94487"/>
    <p:sldLayoutId xmlns:r="http://schemas.openxmlformats.org/officeDocument/2006/relationships" id="2147483659" r:id="R1375860ac91f433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b1e43b8b4f40ab" /><Relationship Type="http://schemas.openxmlformats.org/officeDocument/2006/relationships/notesSlide" Target="/ppt/notesSlides/notesSlide1.xml" Id="R7d49464d00b845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0386539bce43c9" /><Relationship Type="http://schemas.openxmlformats.org/officeDocument/2006/relationships/hyperlink" Target="https://www.eepsi.ftn.uns.ac.rs/group/elementi-razvoja-softvera/" TargetMode="External" Id="Re669719d18514f55" /><Relationship Type="http://schemas.openxmlformats.org/officeDocument/2006/relationships/notesSlide" Target="/ppt/notesSlides/notesSlide2.xml" Id="Ra1c341e8877d4c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89935b7e194949" /><Relationship Type="http://schemas.openxmlformats.org/officeDocument/2006/relationships/notesSlide" Target="/ppt/notesSlides/notesSlide3.xml" Id="R67339bde0fa64a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a747aa58be47c3" /><Relationship Type="http://schemas.openxmlformats.org/officeDocument/2006/relationships/notesSlide" Target="/ppt/notesSlides/notesSlide4.xml" Id="Ra6bd7c8f02f749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144ab07387442e" /><Relationship Type="http://schemas.openxmlformats.org/officeDocument/2006/relationships/notesSlide" Target="/ppt/notesSlides/notesSlide5.xml" Id="R06ca302a3bf742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b9b6ad186b4dcb" /><Relationship Type="http://schemas.openxmlformats.org/officeDocument/2006/relationships/notesSlide" Target="/ppt/notesSlides/notesSlide6.xml" Id="Rb2403bca4a0744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76574ed87346dd" /><Relationship Type="http://schemas.openxmlformats.org/officeDocument/2006/relationships/notesSlide" Target="/ppt/notesSlides/notesSlide7.xml" Id="R022b7fe106dd48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f9cbc9909e454d" /><Relationship Type="http://schemas.openxmlformats.org/officeDocument/2006/relationships/notesSlide" Target="/ppt/notesSlides/notesSlide8.xml" Id="Rb77f2423ea3346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8c6c3cd540457a" /><Relationship Type="http://schemas.openxmlformats.org/officeDocument/2006/relationships/notesSlide" Target="/ppt/notesSlides/notesSlide9.xml" Id="Re377e33d1b294e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0e72e025ef4107" /><Relationship Type="http://schemas.openxmlformats.org/officeDocument/2006/relationships/notesSlide" Target="/ppt/notesSlides/notesSlide10.xml" Id="R47027bf891b045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51991b81354814" /><Relationship Type="http://schemas.openxmlformats.org/officeDocument/2006/relationships/notesSlide" Target="/ppt/notesSlides/notesSlide11.xml" Id="R67656f3ed94f4e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82b9e95700402e" /><Relationship Type="http://schemas.openxmlformats.org/officeDocument/2006/relationships/notesSlide" Target="/ppt/notesSlides/notesSlide12.xml" Id="Rbebcc21811b24d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aaa0f31d7044dc" /><Relationship Type="http://schemas.openxmlformats.org/officeDocument/2006/relationships/notesSlide" Target="/ppt/notesSlides/notesSlide13.xml" Id="R873b0095563142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DCF72-C6BC-4690-B748-362FB21B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ПРИМЕЊЕНО СОФТВЕРСКО ИНЖЕЊЕРСТВО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F210DB-812A-4B1A-9DC1-9AD6C563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D6DCE2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EBDA1-84E3-4A98-A2D3-BA3F5877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E92B6-04CB-40C9-A444-3F8B4D5B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9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ОСНОВНЕ ИНФОРМАЦИЈЕ О ПРЕДМЕТУ И ПРОЈЕКТУ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EEDCB-0A4D-464A-B0DA-6D7D5096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7E41D-1F9F-4D21-9F70-01D78FDC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D6DCE2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02A8D-B55C-4E91-BA3D-4E01EDEC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F96BF-59BB-499E-9A3F-D93BD9A6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19C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2060311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5CFD76-5002-42EA-A2A1-1993E89D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D4CD99-39D1-4A98-A418-59D6E065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37606C6-F7AB-4749-B232-728D8E77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6BB8C4-5D46-4612-98DD-C0469A1D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Организација наставе, извођачи и материјали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C8830A-0053-4101-96DC-ABCAD84D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Подаци за академску 2026/27. годину.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4C548A-F379-4F8F-BE76-8D931804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ОРГАНИЗАЦИЈА НАСТАВЕ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3EC302C-CA4C-433D-9B70-57C13053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Предавања: теоријске основе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Вежбе: практична настава и пројектни рад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Присуство на рачунарским вежбама је обавезно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</a:rPr>
              <a:t>Више од два неоправдана изостанка искључује право на одбрану пројекта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>
                <a:solidFill>
                  <a:srgbClr val="65717E"/>
                </a:solidFill>
                <a:latin typeface="Aptos"/>
                <a:ea typeface="Aptos"/>
                <a:cs typeface="Aptos"/>
                <a:hlinkClick xmlns:r="http://schemas.openxmlformats.org/officeDocument/2006/relationships" r:id="Re669719d18514f55"/>
              </a:rPr>
              <a:t>Званична страница предмета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FB9BF7-4D06-4759-A9F0-130B3DFA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ИЗВОЂАЧИ НАСТАВЕ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0470EE-AC0E-42DF-B551-E4BB0C43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099" y="2697480"/>
            <a:ext cx="5006335" cy="1985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Професор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др Зоран Јанковић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zoran.jankovic@uns.ac.rs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65717E"/>
                </a:solidFill>
                <a:latin typeface="Aptos"/>
                <a:ea typeface="Aptos"/>
                <a:cs typeface="Aptos"/>
              </a:rPr>
              <a:t>Асистенти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Данијел Јовановић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danijel.jovanovic@uns.ac.rs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Тања Чубрић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cubrictanja@gmail.com</a:t>
            </a:r>
            <a:br/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Петар Мутић · </a:t>
            </a: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petarmutic5@gmail.com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2F218625-493E-4ED2-A00A-234C259B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2320465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D6C7B54-A4E8-40FE-996D-4A9960F1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2CBB88-19B6-4395-92AA-A86D91AD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E25AD70-9097-4790-8304-BCA9A622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72615A-8A4A-44F3-A6AD-E7FC1D2B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012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Начин полагања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86CAB33-D747-45C5-A658-D95DDFEA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Пројектни део носи највише 71 поен. Усмени испит мења укупан резултат у распону од −20 до +30 поена.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82C44BB-198D-4C1B-AF0F-C3746F2B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35E0F2-D704-424E-A6F3-AD7B5202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0–40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8DA8395-1053-4DDB-AF46-87E2EFC2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НЕПОЛОЖЕН ПРОЈЕКАТ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17F31F7-BE3A-45AA-B137-C7D8662C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3568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нема услова за позитивну оцену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682A12-DDEA-4A78-835B-74E30EAE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EE2857-43BA-4834-8CBC-94A5890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41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B3CDC9B-0A8D-47A2-8497-40699526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ОБАВЕЗАН УСМЕНИ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21DD9E-2663-4653-8FA5-5CBDB13C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356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потребно је достићи најмање 51 поен укупно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23617594-56B9-4997-B73F-57AE2D13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68880"/>
            <a:ext cx="3200400" cy="16192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3C7732E-4950-484E-9282-5D77C997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212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>
                <a:solidFill>
                  <a:srgbClr val="183B5B"/>
                </a:solidFill>
                <a:latin typeface="Aptos Display"/>
                <a:ea typeface="Aptos Display"/>
                <a:cs typeface="Aptos Display"/>
              </a:rPr>
              <a:t>51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B8A472-5693-4235-879B-6698A5E3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705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упис без усменог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5666A31-8265-4DC1-BF51-7E122B17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35680"/>
            <a:ext cx="285750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оцена на основу пројектних поена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1961145-2535-46A6-86A5-8997D489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103632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B9B187C-8C82-495E-8E6D-6751C8A9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10125"/>
            <a:ext cx="57150" cy="5143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3EBB44E-6EBF-489A-A3B0-D9D8B170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720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СКАЛА ОЦЕЊИВАЊА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2697874-CBE0-4451-AEFB-4F0CCF87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9675"/>
            <a:ext cx="960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Оцена: 51–60 = 6 · 61–70 = 7 · 71–80 = 8 · 81–90 = 9 · 91–100 = 10</a:t>
            </a:r>
          </a:p>
        </p:txBody>
      </p:sp>
    </p:spTree>
    <p:extLst>
      <p:ext uri="{BB962C8B-B14F-4D97-AF65-F5344CB8AC3E}">
        <p14:creationId xmlns:p14="http://schemas.microsoft.com/office/powerpoint/2010/main" val="1169197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5250DA-87C0-45F1-9A61-9F8EF27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6026192-113A-4DF4-8EFD-76F05A65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8B0F3A-C572-405E-8C2F-D3C4CE95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CE8E7D-0E26-464E-B82C-BDF68919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Пројектне обавезе и расподела поена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1A38D7-1A12-411F-9DAE-070F007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Максималан резултат на пројектном делу износи 71 поен.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773610D-5FE7-4D60-8F4D-478113D7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907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8C52722-E090-4A75-B712-F719B019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Tapiz Boards, Agile и Scrum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4279CD-C42F-4BD6-958B-D87D47E8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669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AFDB956-0963-43E8-82D9-C683E0A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AF4A332-2CD5-4A5B-8FA6-6D6B9477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8132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1: проблем, backlog и развојни ток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6EA6B4-12D2-4B2D-A398-6F9EEE3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099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C95D289-5D8C-42B3-ABC2-79547E43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662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74E9767-8044-41C5-A42F-0F318E1A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SOLID принципи и Clean Architecture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FD897FE-B5BA-4796-B7EE-8C85D769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52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5A05DF0-3BF4-4985-8D20-70950B5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7949F09-B3B8-4C77-9904-045AA92E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171950"/>
            <a:ext cx="4171950" cy="2263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2: архитектура и језгро</a:t>
            </a:r>
            <a:endParaRPr sz="1350" b="0" i="0">
              <a:solidFill>
                <a:srgbClr val="1F26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F1857F6-702E-4E62-ADE3-E75ED3A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95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C36B653-71AE-47E2-8E97-A69C1589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624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AD68003-E6CD-4A07-9522-1DB76A57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Пословна логика и аутоматизовано тестирање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AC5BA53-2705-4B46-84E5-B78D33A2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6386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79D9737C-2C7D-47E5-9059-15E1F308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9077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28D57B7C-BE2D-4A1E-83A6-6CF68873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3: тестирање и стабилна верзија функционалног језгра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1B4C4E6-8A06-4FC1-8929-4ED24A6E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6697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4E623FAA-61FC-4588-8FE3-BC92C63D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6F3C804-B0EB-43A3-A8B0-BFEA045B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8132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Интероперабилност и усклађеност уговорних страна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02B49FAF-129E-43D0-AF13-6334507A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00B2D3B-F8BF-4D8E-8DCF-9163112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6625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2EA0D63-1775-41CF-A003-7A98E710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242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Правилна и контролисана употреба AI алата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6F0AFE2-94AE-432C-B417-D7EE7F38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552825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B973100D-89A4-48CA-A969-FD8E8FC3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19550"/>
            <a:ext cx="49530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B4C443F8-B845-431B-9B92-8BC6CB7B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67175"/>
            <a:ext cx="4171950" cy="477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Контролна тачка 4: AI развојни ток и одбрана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F8CB74B3-C028-4B79-BB4B-C9092204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1390831D-CFB1-433F-A478-C063A04C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03632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C9F925CB-9251-40B6-9473-4A684037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006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УКУПНО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41C85B9A-67F4-42B4-8F60-3239D56F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911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71 поен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69215467-759F-4F1E-9191-3C584D4A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49530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ОСНОВНЕ ОБАВЕЗЕ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0EBF1F3E-88AE-438C-901F-1FD4A346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52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A93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ПРОВЕРЕ И ИНТЕГРАЦИЈА</a:t>
            </a:r>
          </a:p>
        </p:txBody>
      </p:sp>
    </p:spTree>
    <p:extLst>
      <p:ext uri="{BB962C8B-B14F-4D97-AF65-F5344CB8AC3E}">
        <p14:creationId xmlns:p14="http://schemas.microsoft.com/office/powerpoint/2010/main" val="324417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A10420-FFEA-4582-86C7-492AD9D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4E0773-3484-4E06-8C9B-1C08683A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7C1728C-F747-4C09-9E88-39F51923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5DFD27-1D11-4161-BB1B-8B794A90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Контролне тачке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ED768D-C063-483D-B7F0-B1F0F317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Четири контролне тачке проверавају напредак и разумевање пројектног решења.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43C7D9-DB37-4DFB-9456-82EF1DDF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КОНТРОЛНЕ ТАЧКЕ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2676E1C-CA0A-4FB5-95FD-794BE53B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779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КТ1: проблем, backlog и развојни ток · 3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КТ2: архитектура и функционално језгро · 3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КТ3: тестирање и стабилна верзија функционалног језгра · 6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КТ4: развојни ток уз AI алате и завршна одбрана · 8 поена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4203AE-3432-4E53-ACD8-90865048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ДОДАТНИ ПОЕНИ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297085C-E0FE-4867-86C2-82B382EC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може остварити до 5 додатних поена за активност и ангажовање на настави.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Додатни поени допуњују пројектни резултат само до максималних 71 поен.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95A0B4A7-E117-4E32-96DE-12CAB7F2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601718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39BDA7-5117-48F4-B1E8-7B5AF2DE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BA5339-9C74-4855-BE38-1347C4D8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B7307-720A-419C-ABC8-808365FB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B33B7E-D09E-4902-B5AF-A21EF750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Организација пројектних целина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09BAC3-77AB-48FB-A896-413C4AA0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Тимови, пројектне целине и приступ заједничком GitHub репозиторијуму.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A1B791-0B0F-4258-87C6-90A865E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ОРГАНИЗАЦИЈА ТИМА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8A9C6C-47F7-4466-86CA-7A927953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Тим чини 6–10 студената.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Предметни асистент додељује пројектну целину за коју тим преузима примарну одговорност.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Приступ заједничком репозиторијуму одобрава предметни асистент.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538F52-61E4-4EBE-8D79-C2F4ED21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ОБАВЕЗЕ СТУДЕНТА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F7C01F-AD58-4994-B6CE-AE1BDD4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1904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Тачно GitHub корисничко име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Проверљив индивидуални допринос у историји измена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Образложење сопственог рада на одбрани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Дељени јавни линк ка Tapiz Boards табли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1E3F091-3F4E-4DA0-A4A2-582CB54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4423770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067E0B-2A11-4056-AC46-8E77964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0558FD-F29A-475C-9724-6D3482F2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9FA9E-050F-4063-A52F-AA47221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7C3BCE-807F-4F0B-A37F-39FFF94F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Обавезе за пројектну целину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1B796F-0284-4A33-85D7-CDB6F20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Минимални услови за прихватање пројектне целине.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CC42072-0CAC-4A77-A17C-6224EFA8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FE2C00-9B2E-40ED-801B-E552D084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790C1B-ECA4-48B7-9D19-C06528A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Граница одговорности и уговор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BB45E-6F39-40A1-AE73-C30042E7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Целина има јасно дефинисану одговорност, јавни уговор и односе са другим целинама.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E365881-0295-40AE-85EB-5D102992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BA4A547-F331-483A-892D-A75FAC5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A5ADCF-60F5-4F3F-BAF9-DE0CA5D9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Тестирање и стабилност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08B306-CD17-4A3A-B56C-896868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Обавезни су аутоматизовани тестови кључних правила, а према потреби и интеграциони, уговорни и регресиони тестови.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CC4BC18-9CE3-46B4-8ADA-B010B4A5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F2CE96-C57C-4C88-BB8C-0582DECA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8A8C701-E8F5-4F0B-9A85-A88AF32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Документација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3B907F8-42DE-435E-BC88-7A8FDF2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Документација обухвата случајеве употребе, критеријуме прихватања, јавне уговоре, ADR и упутство за локално покретање и тестирање.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0867BBC-FD3F-4706-8111-D6E58592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641440-20E6-4D14-91BB-1C62BB90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8EB4C67-8CA9-4811-9D9B-3CBF68B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Индивидуални допринос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0F93A7D-66B0-4BCE-9FD8-816A338D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Сваки студент документује сопствени рад, релевантан случај употребе, дизајнерску одлуку и зависности према другим целинама.</a:t>
            </a:r>
          </a:p>
        </p:txBody>
      </p:sp>
    </p:spTree>
    <p:extLst>
      <p:ext uri="{BB962C8B-B14F-4D97-AF65-F5344CB8AC3E}">
        <p14:creationId xmlns:p14="http://schemas.microsoft.com/office/powerpoint/2010/main" val="18355934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39BDA7-5117-48F4-B1E8-7B5AF2DE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BA5339-9C74-4855-BE38-1347C4D8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06B7307-720A-419C-ABC8-808365FB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B33B7E-D09E-4902-B5AF-A21EF750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Пројектни артефакти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09BAC3-77AB-48FB-A896-413C4AA0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Репозиторијум садржи доказе развоја, провере и техничких одлука.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6A1B791-0B0F-4258-87C6-90A865E9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РАЗВОЈНИ МАТЕРИЈАЛИ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8A9C6C-47F7-4466-86CA-7A927953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Backlog са критеријумима прихватања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Git историја и Pull Request прегледи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ADR записи за значајне архитектонске одлуке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Упутство за локално покретање и тестирање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538F52-61E4-4EBE-8D79-C2F4ED21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ПРОВЕРЉИВИ РЕЗУЛТАТИ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FF7C01F-AD58-4994-B6CE-AE1BDD4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1904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Извршив пројекат у заједничком репозиторијуму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Аутоматизовани тестови кључних правила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Резултати компилације и тестирања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Документација јавних уговора између модула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B1E3F091-3F4E-4DA0-A4A2-582CB54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14423770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067E0B-2A11-4056-AC46-8E77964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0558FD-F29A-475C-9724-6D3482F2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0A9FA9E-050F-4063-A52F-AA472216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7C3BCE-807F-4F0B-A37F-39FFF94F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6112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Следљивост индивидуалног доприноса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1B796F-0284-4A33-85D7-CDB6F20C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Допринос студента повезује захтев, измену кода и доказ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CC42072-0CAC-4A77-A17C-6224EFA8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DFE2C00-9B2E-40ED-801B-E552D084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790C1B-ECA4-48B7-9D19-C06528A2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Захтев и одговорност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BB45E-6F39-40A1-AE73-C30042E7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наводи backlog ставку или део случаја употребе за који је одговоран.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E365881-0295-40AE-85EB-5D102992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BA4A547-F331-483A-892D-A75FAC56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FA5ADCF-60F5-4F3F-BAF9-DE0CA5D9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Измена кода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608B306-CD17-4A3A-B56C-896868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Commit-и и Pull Request приказују обим и смисао сопственог доприноса.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CC4BC18-9CE3-46B4-8ADA-B010B4A5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F2CE96-C57C-4C88-BB8C-0582DECA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8A8C701-E8F5-4F0B-9A85-A88AF32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3B907F8-42DE-435E-BC88-7A8FDF2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образлаже изабрану архитектонску или дизајнерску одлуку и њене последице по решење.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0867BBC-FD3F-4706-8111-D6E58592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E641440-20E6-4D14-91BB-1C62BB90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137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8EB4C67-8CA9-4811-9D9B-3CBF68B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 i="0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0F93A7D-66B0-4BCE-9FD8-816A338D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Тест, build или демонстрациони сценарио потврђује резултат измене.</a:t>
            </a:r>
          </a:p>
        </p:txBody>
      </p:sp>
    </p:spTree>
    <p:extLst>
      <p:ext uri="{BB962C8B-B14F-4D97-AF65-F5344CB8AC3E}">
        <p14:creationId xmlns:p14="http://schemas.microsoft.com/office/powerpoint/2010/main" val="18355934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C20987-C8B8-4161-958B-F44D2EBF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25B6F7-CA60-4953-B776-78FF534B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5A36D8-5207-4A28-9A37-05B2D045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Услови интеграције пројектне целине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A2A021-B494-49C1-ACCD-CC55054A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Пројектна целина се прихвата када се укључује у заједничко решење без нарушавања постојећег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DBC838-A4BE-4CC6-9547-972A8F6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ТЕХНИЧКИ УСЛОВИ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2DC4559-1B4A-4B4D-B729-DCD7B2D5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4818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Јавни уговори су дефинисани и верзионисани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Смер зависности одговара договореној архитектури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Build и релевантни тестови успешно се извршавају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Конфигурација не садржи локалне или тајне податке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7A7B4A-1624-46A7-85DD-4AC1500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ДОКАЗ НА ОДБРАНИ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5F035B-1999-418C-AC9B-EF5F3320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Покретање функционалности у оквиру целог решења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Образложење интеграционих тачака и зависности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Приказ тестова за граничне и неуспешне сценарије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Јасан приказ индивидуалног доприноса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D9AC5EA-522B-4FD2-9887-E987C547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7916933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C20987-C8B8-4161-958B-F44D2EBF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25B6F7-CA60-4953-B776-78FF534B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5A36D8-5207-4A28-9A37-05B2D045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2688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i="0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Одбрана пројекта и важење поена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A2A021-B494-49C1-ACCD-CC55054A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32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Пројектни поени важе до краја текуће академске године.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DBC838-A4BE-4CC6-9547-972A8F61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ТЕРМИНИ ОДБРАНЕ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2DC4559-1B4A-4B4D-B729-DCD7B2D5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1384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Предиспитни термин: прва половина децембра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Редовни термин: последња недеља зимског семестра</a:t>
            </a:r>
            <a:endParaRPr sz="170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7A7B4A-1624-46A7-85DD-4AC15002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183B5B"/>
                </a:solidFill>
                <a:latin typeface="Aptos"/>
                <a:ea typeface="Aptos"/>
                <a:cs typeface="Aptos"/>
              </a:rPr>
              <a:t>САДРЖАЈ ОДБРАНЕ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F5F035B-1999-418C-AC9B-EF5F3320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Функционалност пројекта и испуњеност критеријума бодовања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Разумевање архитектонских, техничких и организационих одлука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Сопствени допринос и релевантни делови заједничког решења</a:t>
            </a:r>
          </a:p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>
                <a:solidFill>
                  <a:srgbClr val="65717E"/>
                </a:solidFill>
                <a:latin typeface="Aptos"/>
                <a:ea typeface="Aptos"/>
                <a:cs typeface="Aptos"/>
              </a:rPr>
              <a:t>Теоријска питања из области обрађених на предмету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D9AC5EA-522B-4FD2-9887-E987C547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</p:spTree>
    <p:extLst>
      <p:ext uri="{BB962C8B-B14F-4D97-AF65-F5344CB8AC3E}">
        <p14:creationId xmlns:p14="http://schemas.microsoft.com/office/powerpoint/2010/main" val="7916933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A74E3-9860-4F4C-A773-63B7C0F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294A8D-6C1D-4FCE-A44A-E9C0291A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FD50D-E4EF-4540-931A-D581DED9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0120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Усмени испит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80EF-7446-476D-8B83-620D4F2C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972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Услови приступа усменом испиту и утицај резултата на коначну оцену.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0C8CE-5103-4EED-BA1A-1F6E1EE2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22542-C478-4D65-B6F9-B38D45B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F96D0-56F6-4A34-8897-FC46D507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073FC-F245-403D-9205-6DC572E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Обавезан усмени испит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F64C0-A06D-4F98-A597-741715FC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41–50 пројектних поена. За позитивну оцену потребно је најмање 51 поен укупно.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1CC2E-7565-4BAD-A5FB-D2C2D711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7C4F7-27B2-4B70-862F-667EAE7A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11CED-0B9B-4EC7-AC49-BB809CE8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5CF30-3BCF-4689-B139-69CA90B0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Упис оцене без усменог испита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F9622-3AA1-4084-AD4B-B7CEDEB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Са 51–71 пројектним поеном студент може прихватити оцену на основу пројектног резултата.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69FD0-DCA0-4C44-90B7-4D1B24C7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4CCCF-151D-460F-B79D-30071E78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37806-9110-4954-B2C7-5DA1C7C4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11B171-33A7-4CB2-A618-69154C3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Промена укупног резултата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A9E0B-507E-4871-8F6C-08BFFC06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Резултат усменог испита мења укупан број поена у распону од −20 до +30.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61E5E-2C43-4756-8CB3-18F2E748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3445"/>
            <a:ext cx="10363200" cy="866775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7F774-A3C5-4A8B-B1CB-D37454F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4895"/>
            <a:ext cx="57150" cy="5238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13EB4-B7FE-4266-9DC7-2152D697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2727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ПРИЈАВА ИСПИТА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1FA73-F0D2-4CB4-8A97-F456BA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13020"/>
            <a:ext cx="960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Пријављен испит без приступа усменом делу: оцена на основу пројектних поена.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791669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A74E3-9860-4F4C-A773-63B7C0F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4294A8D-6C1D-4FCE-A44A-E9C0291A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FD50D-E4EF-4540-931A-D581DED9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0120"/>
            <a:ext cx="1036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Потпис и предиспитне обавезе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80EF-7446-476D-8B83-620D4F2C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972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Услови за потпис и рок важења пројектних поена.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0C8CE-5103-4EED-BA1A-1F6E1EE2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22542-C478-4D65-B6F9-B38D45B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6F96D0-56F6-4A34-8897-FC46D507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073FC-F245-403D-9205-6DC572E5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Услов за потпис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F64C0-A06D-4F98-A597-741715FC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Студент стиче потпис након испуњења свих предиспитних обавеза.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1CC2E-7565-4BAD-A5FB-D2C2D711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7C4F7-27B2-4B70-862F-667EAE7A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711CED-0B9B-4EC7-AC49-BB809CE8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5CF30-3BCF-4689-B139-69CA90B0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Важење пројектних поена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FF9622-3AA1-4084-AD4B-B7CEDEB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Остварени пројектни поени важе до краја текуће академске године.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69FD0-DCA0-4C44-90B7-4D1B24C7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36470"/>
            <a:ext cx="3219450" cy="20955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4CCCF-151D-460F-B79D-30071E78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07920"/>
            <a:ext cx="400050" cy="28575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37806-9110-4954-B2C7-5DA1C7C4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554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11B171-33A7-4CB2-A618-69154C36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4607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Наредна академска година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A9E0B-507E-4871-8F6C-08BFFC06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9970"/>
            <a:ext cx="2876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0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65717E"/>
                </a:solidFill>
                <a:latin typeface="Aptos"/>
                <a:ea typeface="Aptos"/>
                <a:cs typeface="Aptos"/>
              </a:rPr>
              <a:t>Ако студент не положи испит у том року, поново похађа предмет и испуњава предиспитне обавезе.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61E5E-2C43-4756-8CB3-18F2E748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3445"/>
            <a:ext cx="10363200" cy="866775"/>
          </a:xfrm>
          <a:prstGeom xmlns:a="http://schemas.openxmlformats.org/drawingml/2006/main" prst="roundRect">
            <a:avLst>
              <a:gd name="adj" fmla="val 10989"/>
            </a:avLst>
          </a:prstGeom>
          <a:solidFill xmlns:a="http://schemas.openxmlformats.org/drawingml/2006/main">
            <a:srgbClr val="E6EDF5"/>
          </a:solidFill>
          <a:ln xmlns:a="http://schemas.openxmlformats.org/drawingml/2006/main" w="9525">
            <a:solidFill>
              <a:srgbClr val="D6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7F774-A3C5-4A8B-B1CB-D37454F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4895"/>
            <a:ext cx="57150" cy="5238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13EB4-B7FE-4266-9DC7-2152D697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2727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ПРЕНОС ОБАВЕЗА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1FA73-F0D2-4CB4-8A97-F456BA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13020"/>
            <a:ext cx="960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Пројектни поени не преносе се у наредну академску годину.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9CE6272-A4AB-4A7F-8B24-29BDF0E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336792"/>
            <a:ext cx="365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7919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791669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2026-09-29T18:40:22.1210000Z</dcterms:created>
  <dcterms:modified xsi:type="dcterms:W3CDTF">2026-09-29T18:40:22.1210000Z</dcterms:modified>
</coreProperties>
</file>