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dc4fa5a89640b2" /><Relationship Type="http://schemas.openxmlformats.org/officeDocument/2006/relationships/extended-properties" Target="/docProps/app.xml" Id="Rd521125768764a70" /><Relationship Type="http://schemas.openxmlformats.org/officeDocument/2006/relationships/officeDocument" Target="/ppt/presentation.xml" Id="R821381fb29414f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7b30da558343f3"/>
  </p:sldMasterIdLst>
  <p:notesMasterIdLst>
    <p:notesMasterId xmlns:r="http://schemas.openxmlformats.org/officeDocument/2006/relationships" r:id="R88b4a6a3627545aa"/>
  </p:notesMasterIdLst>
  <p:sldIdLst>
    <p:sldId xmlns:r="http://schemas.openxmlformats.org/officeDocument/2006/relationships" id="256" r:id="Ra235430be1b34d21"/>
    <p:sldId xmlns:r="http://schemas.openxmlformats.org/officeDocument/2006/relationships" id="257" r:id="R708fd249139a4d90"/>
    <p:sldId xmlns:r="http://schemas.openxmlformats.org/officeDocument/2006/relationships" id="258" r:id="R87c711887c7b4c0d"/>
    <p:sldId xmlns:r="http://schemas.openxmlformats.org/officeDocument/2006/relationships" id="259" r:id="Ra694816687cb4211"/>
    <p:sldId xmlns:r="http://schemas.openxmlformats.org/officeDocument/2006/relationships" id="260" r:id="R8ec923c3abf44775"/>
    <p:sldId xmlns:r="http://schemas.openxmlformats.org/officeDocument/2006/relationships" id="261" r:id="R7405e2d9ff2e4068"/>
    <p:sldId xmlns:r="http://schemas.openxmlformats.org/officeDocument/2006/relationships" id="262" r:id="R2797a6e5858f4fb2"/>
    <p:sldId xmlns:r="http://schemas.openxmlformats.org/officeDocument/2006/relationships" id="263" r:id="Rb6da1acad67e4826"/>
    <p:sldId xmlns:r="http://schemas.openxmlformats.org/officeDocument/2006/relationships" id="264" r:id="R063f8e7afb27481e"/>
    <p:sldId xmlns:r="http://schemas.openxmlformats.org/officeDocument/2006/relationships" id="265" r:id="R0bf01863ad1e4363"/>
    <p:sldId xmlns:r="http://schemas.openxmlformats.org/officeDocument/2006/relationships" id="266" r:id="Rc54e5e1258bd44ef"/>
    <p:sldId xmlns:r="http://schemas.openxmlformats.org/officeDocument/2006/relationships" id="267" r:id="Rc75e33b3dc384c5f"/>
    <p:sldId xmlns:r="http://schemas.openxmlformats.org/officeDocument/2006/relationships" id="268" r:id="Rf3a947394e0542c5"/>
    <p:sldId xmlns:r="http://schemas.openxmlformats.org/officeDocument/2006/relationships" id="269" r:id="Rf3ecfe47b0b740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bb3de7deed4488" /><Relationship Type="http://schemas.openxmlformats.org/officeDocument/2006/relationships/slideMaster" Target="/ppt/slideMasters/slideMaster1.xml" Id="Re57b30da558343f3" /><Relationship Type="http://schemas.openxmlformats.org/officeDocument/2006/relationships/notesMaster" Target="/ppt/notesMasters/notesMaster1.xml" Id="R88b4a6a3627545aa" /><Relationship Type="http://schemas.openxmlformats.org/officeDocument/2006/relationships/presProps" Target="/ppt/presProps.xml" Id="Rddaaef8ea9b94562" /><Relationship Type="http://schemas.openxmlformats.org/officeDocument/2006/relationships/viewProps" Target="/ppt/viewProps.xml" Id="R5e528b01ac814aaf" /><Relationship Type="http://schemas.openxmlformats.org/officeDocument/2006/relationships/tableStyles" Target="/ppt/tableStyles.xml" Id="R78109a4ceca44cf5" /><Relationship Type="http://schemas.openxmlformats.org/officeDocument/2006/relationships/slide" Target="/ppt/slides/slide1.xml" Id="Ra235430be1b34d21" /><Relationship Type="http://schemas.openxmlformats.org/officeDocument/2006/relationships/slide" Target="/ppt/slides/slide2.xml" Id="R708fd249139a4d90" /><Relationship Type="http://schemas.openxmlformats.org/officeDocument/2006/relationships/slide" Target="/ppt/slides/slide3.xml" Id="R87c711887c7b4c0d" /><Relationship Type="http://schemas.openxmlformats.org/officeDocument/2006/relationships/slide" Target="/ppt/slides/slide4.xml" Id="Ra694816687cb4211" /><Relationship Type="http://schemas.openxmlformats.org/officeDocument/2006/relationships/slide" Target="/ppt/slides/slide5.xml" Id="R8ec923c3abf44775" /><Relationship Type="http://schemas.openxmlformats.org/officeDocument/2006/relationships/slide" Target="/ppt/slides/slide6.xml" Id="R7405e2d9ff2e4068" /><Relationship Type="http://schemas.openxmlformats.org/officeDocument/2006/relationships/slide" Target="/ppt/slides/slide7.xml" Id="R2797a6e5858f4fb2" /><Relationship Type="http://schemas.openxmlformats.org/officeDocument/2006/relationships/slide" Target="/ppt/slides/slide8.xml" Id="Rb6da1acad67e4826" /><Relationship Type="http://schemas.openxmlformats.org/officeDocument/2006/relationships/slide" Target="/ppt/slides/slide9.xml" Id="R063f8e7afb27481e" /><Relationship Type="http://schemas.openxmlformats.org/officeDocument/2006/relationships/slide" Target="/ppt/slides/slide10.xml" Id="R0bf01863ad1e4363" /><Relationship Type="http://schemas.openxmlformats.org/officeDocument/2006/relationships/slide" Target="/ppt/slides/slide11.xml" Id="Rc54e5e1258bd44ef" /><Relationship Type="http://schemas.openxmlformats.org/officeDocument/2006/relationships/slide" Target="/ppt/slides/slide12.xml" Id="Rc75e33b3dc384c5f" /><Relationship Type="http://schemas.openxmlformats.org/officeDocument/2006/relationships/slide" Target="/ppt/slides/slide13.xml" Id="Rf3a947394e0542c5" /><Relationship Type="http://schemas.openxmlformats.org/officeDocument/2006/relationships/slide" Target="/ppt/slides/slide14.xml" Id="Rf3ecfe47b0b740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d8a956a3be4a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d3fcb3e90648dc" /><Relationship Type="http://schemas.openxmlformats.org/officeDocument/2006/relationships/notesMaster" Target="/ppt/notesMasters/notesMaster1.xml" Id="Re6294571d7424a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7a816a54ce4fc7" /><Relationship Type="http://schemas.openxmlformats.org/officeDocument/2006/relationships/notesMaster" Target="/ppt/notesMasters/notesMaster1.xml" Id="Rc9b86e9e16dc49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d225f8865844e7" /><Relationship Type="http://schemas.openxmlformats.org/officeDocument/2006/relationships/notesMaster" Target="/ppt/notesMasters/notesMaster1.xml" Id="Rfeb8e3deade449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69fe5423e945b2" /><Relationship Type="http://schemas.openxmlformats.org/officeDocument/2006/relationships/notesMaster" Target="/ppt/notesMasters/notesMaster1.xml" Id="R3277d8164b1a44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ebc465d544469f" /><Relationship Type="http://schemas.openxmlformats.org/officeDocument/2006/relationships/notesMaster" Target="/ppt/notesMasters/notesMaster1.xml" Id="Ra6661118fbb34b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d463de621a449d" /><Relationship Type="http://schemas.openxmlformats.org/officeDocument/2006/relationships/notesMaster" Target="/ppt/notesMasters/notesMaster1.xml" Id="R217d6b196db24f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2259d5f8b749b8" /><Relationship Type="http://schemas.openxmlformats.org/officeDocument/2006/relationships/notesMaster" Target="/ppt/notesMasters/notesMaster1.xml" Id="R9c08e92d0f074a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803152ebbd4417" /><Relationship Type="http://schemas.openxmlformats.org/officeDocument/2006/relationships/notesMaster" Target="/ppt/notesMasters/notesMaster1.xml" Id="R7064ca8a83a548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5f50d5f5c94d11" /><Relationship Type="http://schemas.openxmlformats.org/officeDocument/2006/relationships/notesMaster" Target="/ppt/notesMasters/notesMaster1.xml" Id="R8f7235aaddcd46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4b672ad0e24b1f" /><Relationship Type="http://schemas.openxmlformats.org/officeDocument/2006/relationships/notesMaster" Target="/ppt/notesMasters/notesMaster1.xml" Id="R9b3cb105f60745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afcb2683e84b6c" /><Relationship Type="http://schemas.openxmlformats.org/officeDocument/2006/relationships/notesMaster" Target="/ppt/notesMasters/notesMaster1.xml" Id="R7518430a592045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7a8558b1ba4b26" /><Relationship Type="http://schemas.openxmlformats.org/officeDocument/2006/relationships/notesMaster" Target="/ppt/notesMasters/notesMaster1.xml" Id="R1e245ff7c38a42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5d4934af2b42a3" /><Relationship Type="http://schemas.openxmlformats.org/officeDocument/2006/relationships/notesMaster" Target="/ppt/notesMasters/notesMaster1.xml" Id="Rc8d8efcd6bc847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fc2f221abf481e" /><Relationship Type="http://schemas.openxmlformats.org/officeDocument/2006/relationships/notesMaster" Target="/ppt/notesMasters/notesMaster1.xml" Id="Rc896ca722e8440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b909002f240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4f5a3b9254b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01bf7f22e4c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e6b634bd341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254ca3e2840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6323c735d4e4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c18ea6b22b484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0103290564e8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a4bdc960049e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0e9e5a50841a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87178e88244e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0D8E74-99E0-421A-A39F-04E87AECCA2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9158828-C95C-45EF-A5F8-8CD9605684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6476D9-25BC-4140-BA9D-9C17E64EF9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53F40C-12AE-44CA-B478-BE59DC441E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7509B7-84D5-41B5-933A-3DEE01FE7A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B9283E-6126-4D1D-9B7B-E25C520CFE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4F5E7EC-2FC8-4D7D-A672-F0BFD605160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7A2574-E533-45A9-ABCC-D1EB81C0DB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56059E-76B8-46D6-B63A-B5A9452B73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DC1CAB-A64C-4277-8081-DBB0ABB46D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D92F4F-EE49-4FA5-8D7E-0C36CF7696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B91D7AE-2F3C-471E-ABF2-5EDE64033E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7CA424-F140-445E-BBC2-1BFA4029F4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5C53C28-9228-40D8-A4BB-2640908D37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0A066F-B749-4F75-A8A5-5FFC865038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ADB515-57B3-4E41-8DBA-BEB9FDFE9E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A808047-A05D-486F-9B95-F7B249DAEC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A281E11-14E0-4B54-942A-E9969D9AB1D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DABE377-4B3F-4B9D-9126-9776477D9A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5636358-832A-46B3-B681-A375298582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51BFA14-AAA3-42A5-A6BA-3FCA606548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240F8A-B928-4ACD-B9EA-0B28E71905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49134E0-4360-42FE-B90B-986FC054DB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D6ADDE9-27BC-4899-AD9B-1A8052CC6A6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1F16E0-7087-4FD6-B115-86D2DF9AE50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82348AE-9257-48F0-8E59-701672C2621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45EF6BE-8C4E-460E-AFC7-AD0E958359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8E57949-45D9-40E0-B6AB-9ADC3078EE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E81AF7C-DA91-4257-81BB-D1E51EF8F4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A086F0-80C7-45AB-9FC8-4A25C0C5EA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B6FE10A-4F68-4FC4-BDCF-1B911C54E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16F5A8E-ACCE-4311-844B-8A7DF4A4ED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F9EB4E6-F427-461D-AA29-ECCAE7E5D8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782238C-997C-4DEA-AD6E-A2DC56F3B1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44B8342-0626-4444-93F7-70EDEEC1F3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9E75E78-0A3F-445D-8DEC-0740E40125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706730-4D90-4C13-8176-3A7A6E78AB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CB5CA84-8C3F-4112-85F2-0AB86045E82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A9FF386-3A0B-4855-A4F1-959D721EC5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C200A49-1F37-44DE-907B-5604B93E1E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E116C60-E092-48EF-83EF-690F24A558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A6F1A21-1948-42AC-BD38-6906A08D5C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3B56BC-A79E-476A-87C1-E7BF99B511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AABDEB3-78CB-4D7B-8590-57FDB94CEA1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382231A-B124-4624-BDA5-52086575AB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D746E93-630E-4027-B36B-A8194784A3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07F260B-DE0A-45C7-AEDF-22C5DFAACD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E2A32D6-A51F-4DE0-A82E-26A7EC95C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2E8947-9E8E-4754-A677-FD573DAB38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D3CDE4-1639-4697-8EB1-188F14D5DF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EEC15B-A66F-4069-9445-DCF674D08D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F0F294-0005-48BE-A9AE-FFF3B702FA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5A5C5D-9344-4EC2-A83A-4E9F7142D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38EF6A4-E73F-4794-AE63-05671DC51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B1CC53C-6145-4336-8DD6-4D2B87BCFE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DE93C5-551B-42B9-A5D3-F85DC87F4C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F16895-9E56-4E37-B8CF-44F990D330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49FA63-F24C-4AFB-93BC-C74AC7876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9c2618fc1d4df8" /><Relationship Type="http://schemas.openxmlformats.org/officeDocument/2006/relationships/slideLayout" Target="/ppt/slideLayouts/slideLayout1.xml" Id="R9bc0c866de3b40c5" /><Relationship Type="http://schemas.openxmlformats.org/officeDocument/2006/relationships/slideLayout" Target="/ppt/slideLayouts/slideLayout2.xml" Id="Rf3e86ebcb72b46d6" /><Relationship Type="http://schemas.openxmlformats.org/officeDocument/2006/relationships/slideLayout" Target="/ppt/slideLayouts/slideLayout3.xml" Id="Rc13935423242404f" /><Relationship Type="http://schemas.openxmlformats.org/officeDocument/2006/relationships/slideLayout" Target="/ppt/slideLayouts/slideLayout4.xml" Id="Rab5a82eecb604f1a" /><Relationship Type="http://schemas.openxmlformats.org/officeDocument/2006/relationships/slideLayout" Target="/ppt/slideLayouts/slideLayout5.xml" Id="R976763e7dcc645ad" /><Relationship Type="http://schemas.openxmlformats.org/officeDocument/2006/relationships/slideLayout" Target="/ppt/slideLayouts/slideLayout6.xml" Id="R037f36a5eb9e44ee" /><Relationship Type="http://schemas.openxmlformats.org/officeDocument/2006/relationships/slideLayout" Target="/ppt/slideLayouts/slideLayout7.xml" Id="R4dc9ac90945e427e" /><Relationship Type="http://schemas.openxmlformats.org/officeDocument/2006/relationships/slideLayout" Target="/ppt/slideLayouts/slideLayout8.xml" Id="R2f17a747bd834993" /><Relationship Type="http://schemas.openxmlformats.org/officeDocument/2006/relationships/slideLayout" Target="/ppt/slideLayouts/slideLayout9.xml" Id="R645ba1672e8f4a8f" /><Relationship Type="http://schemas.openxmlformats.org/officeDocument/2006/relationships/slideLayout" Target="/ppt/slideLayouts/slideLayout10.xml" Id="R26c1240e8af74786" /><Relationship Type="http://schemas.openxmlformats.org/officeDocument/2006/relationships/slideLayout" Target="/ppt/slideLayouts/slideLayout11.xml" Id="R2a76b892443b4cf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CC3FD29-8B3E-489C-8FA2-EB4FA3FA9E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92D1408-E28F-40EB-8DEB-61DA831A2F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BBF0FF-A9BD-4E2F-AA8C-3FCAE4EFF0B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630F8C-3869-4C6F-8F1B-0256BBF8E57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DCE03B-4540-4BC9-B101-A20FF6F844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c0c866de3b40c5"/>
    <p:sldLayoutId xmlns:r="http://schemas.openxmlformats.org/officeDocument/2006/relationships" id="2147483650" r:id="Rf3e86ebcb72b46d6"/>
    <p:sldLayoutId xmlns:r="http://schemas.openxmlformats.org/officeDocument/2006/relationships" id="2147483651" r:id="Rc13935423242404f"/>
    <p:sldLayoutId xmlns:r="http://schemas.openxmlformats.org/officeDocument/2006/relationships" id="2147483652" r:id="Rab5a82eecb604f1a"/>
    <p:sldLayoutId xmlns:r="http://schemas.openxmlformats.org/officeDocument/2006/relationships" id="2147483653" r:id="R976763e7dcc645ad"/>
    <p:sldLayoutId xmlns:r="http://schemas.openxmlformats.org/officeDocument/2006/relationships" id="2147483654" r:id="R037f36a5eb9e44ee"/>
    <p:sldLayoutId xmlns:r="http://schemas.openxmlformats.org/officeDocument/2006/relationships" id="2147483655" r:id="R4dc9ac90945e427e"/>
    <p:sldLayoutId xmlns:r="http://schemas.openxmlformats.org/officeDocument/2006/relationships" id="2147483656" r:id="R2f17a747bd834993"/>
    <p:sldLayoutId xmlns:r="http://schemas.openxmlformats.org/officeDocument/2006/relationships" id="2147483657" r:id="R645ba1672e8f4a8f"/>
    <p:sldLayoutId xmlns:r="http://schemas.openxmlformats.org/officeDocument/2006/relationships" id="2147483658" r:id="R26c1240e8af74786"/>
    <p:sldLayoutId xmlns:r="http://schemas.openxmlformats.org/officeDocument/2006/relationships" id="2147483659" r:id="R2a76b892443b4cf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d2f2a24835459c" /><Relationship Type="http://schemas.openxmlformats.org/officeDocument/2006/relationships/notesSlide" Target="/ppt/notesSlides/notesSlide1.xml" Id="R402baad43b004f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fdd9a9d9174a44" /><Relationship Type="http://schemas.openxmlformats.org/officeDocument/2006/relationships/notesSlide" Target="/ppt/notesSlides/notesSlide2.xml" Id="R3eb644433d5741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764910e0aa4398" /><Relationship Type="http://schemas.openxmlformats.org/officeDocument/2006/relationships/notesSlide" Target="/ppt/notesSlides/notesSlide3.xml" Id="R756f45071df744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1edb46d7364228" /><Relationship Type="http://schemas.openxmlformats.org/officeDocument/2006/relationships/notesSlide" Target="/ppt/notesSlides/notesSlide4.xml" Id="Ra5718caaedb94d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240ec32bc344e9" /><Relationship Type="http://schemas.openxmlformats.org/officeDocument/2006/relationships/notesSlide" Target="/ppt/notesSlides/notesSlide5.xml" Id="R76a2490f357549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6945c1e4434d28" /><Relationship Type="http://schemas.openxmlformats.org/officeDocument/2006/relationships/notesSlide" Target="/ppt/notesSlides/notesSlide6.xml" Id="R313509a8ff1e4e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0e1b09137a4da2" /><Relationship Type="http://schemas.openxmlformats.org/officeDocument/2006/relationships/notesSlide" Target="/ppt/notesSlides/notesSlide7.xml" Id="Re34f8317574847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ad705bca154bcd" /><Relationship Type="http://schemas.openxmlformats.org/officeDocument/2006/relationships/notesSlide" Target="/ppt/notesSlides/notesSlide8.xml" Id="Rd5fbea3b238f45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cb13b9b7164319" /><Relationship Type="http://schemas.openxmlformats.org/officeDocument/2006/relationships/notesSlide" Target="/ppt/notesSlides/notesSlide9.xml" Id="R702b841b39304d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ecc8c6ab9b467f" /><Relationship Type="http://schemas.openxmlformats.org/officeDocument/2006/relationships/notesSlide" Target="/ppt/notesSlides/notesSlide10.xml" Id="R6f8773cc812d4b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c6a5b16b3f4ae6" /><Relationship Type="http://schemas.openxmlformats.org/officeDocument/2006/relationships/notesSlide" Target="/ppt/notesSlides/notesSlide11.xml" Id="R4bbbeb65c5784b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16243b5606458b" /><Relationship Type="http://schemas.openxmlformats.org/officeDocument/2006/relationships/notesSlide" Target="/ppt/notesSlides/notesSlide12.xml" Id="R2faf8dbd99124a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18c407b01142e9" /><Relationship Type="http://schemas.openxmlformats.org/officeDocument/2006/relationships/notesSlide" Target="/ppt/notesSlides/notesSlide13.xml" Id="R3ba2bfefd5504d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9e6c16fe59447d" /><Relationship Type="http://schemas.openxmlformats.org/officeDocument/2006/relationships/notesSlide" Target="/ppt/notesSlides/notesSlide14.xml" Id="R32062a34d5f34a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DCF72-C6BC-4690-B748-362FB21B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ПРОГРАМСКО СОФТВЕРСКО ИНЖЕЊЕРСТВО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210DB-812A-4B1A-9DC1-9AD6C563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0363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7F8B9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EBDA1-84E3-4A98-A2D3-BA3F5877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8275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F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E92B6-04CB-40C9-A444-3F8B4D5B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096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Елементи развоја софтвера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EEDCB-0A4D-464A-B0DA-6D7D5096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Организација наставе, правила полагања и пројектни рад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7E41D-1F9F-4D21-9F70-01D78FDC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02A8D-B55C-4E91-BA3D-4E01EDEC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ПСИ · 5. семестар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F96BF-59BB-499E-9A3F-D93BD9A6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Академска 2026/27</a:t>
            </a:r>
          </a:p>
        </p:txBody>
      </p:sp>
    </p:spTree>
    <p:extLst>
      <p:ext uri="{BB962C8B-B14F-4D97-AF65-F5344CB8AC3E}">
        <p14:creationId xmlns:p14="http://schemas.microsoft.com/office/powerpoint/2010/main" val="2060311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240192B-613E-4518-A653-69EC0E3B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09D1FA-ED7E-4A34-8103-A24262BC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092"/>
          </a:solidFill>
          <a:ln xmlns:a="http://schemas.openxmlformats.org/drawingml/2006/main" w="3810">
            <a:solidFill>
              <a:srgbClr val="7480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46130B6-7C8E-4F78-A0FC-D65458C1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365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52DC66-C856-4CEA-B89B-6A9F0128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6112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Овај предмет треба читати као једну повезану целину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9FD962-2438-4240-9C8F-42678812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Није реч само о коду. Реч је о начину рада, доказивању квалитета и одбрани сопствених одлука.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97DAB00-78B2-4692-909C-32BE4DE4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6FF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76FD068-4986-4769-8494-D7B86B42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137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189EDFE-0E63-4F31-8AC9-1FB9F439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Како се полаже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6BF668C-DBAB-4043-A8E4-04FEC339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4727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Пројектни део носи главни </a:t>
            </a:r>
            <a:r>
              <a:rPr sz="1425">
                <a:solidFill>
                  <a:srgbClr val="626B7A"/>
                </a:solidFill>
                <a:latin typeface="Aptos"/>
                <a:ea typeface="Aptos"/>
                <a:cs typeface="Aptos"/>
              </a:rPr>
              <a:t>део </a:t>
            </a: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оцене, а усмени део зависи од опсега пројектних поена.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F63AC6A-5ECB-4FC2-B5F6-2953AE43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1F8F4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4731896-9B28-4907-9128-E28F2116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137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>
                <a:solidFill>
                  <a:srgbClr val="1094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92F1EBB-9EEB-4BDF-8377-D86D403D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Како се ради пројекат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7EED373-8EB4-4591-8189-177E6721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Тим ради у заједничком систему, уз јасан развојни ток и видљив индивидуални допринос.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F52DC91E-EBA7-4F58-A54D-118F343F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8F0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550EB5E-32B1-4034-A695-53C9C998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137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>
                <a:solidFill>
                  <a:srgbClr val="C57E1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3F25938-18DF-4C0A-B8ED-71799193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Како изгледа семестар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B03C333-4D04-4A71-8FA3-E08EF612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Контролне тачке проверавају континуитет рада, а не само коначан резултат.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21D2750-A6B4-4A1C-A00B-2C95274C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6C6CE55-BE59-47A8-9204-30648C34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137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B182838-B4D0-49F6-931C-FECDBB92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Шта се брани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281086D-1190-48DC-9D8B-5517123C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Функционалност, архитектура, тестови, интеграција и разумевање употребе AI алата.</a:t>
            </a:r>
          </a:p>
        </p:txBody>
      </p:sp>
    </p:spTree>
    <p:extLst>
      <p:ext uri="{BB962C8B-B14F-4D97-AF65-F5344CB8AC3E}">
        <p14:creationId xmlns:p14="http://schemas.microsoft.com/office/powerpoint/2010/main" val="5201779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E5CFD76-5002-42EA-A2A1-1993E89D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2D4CD99-39D1-4A98-A418-59D6E065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092"/>
          </a:solidFill>
          <a:ln xmlns:a="http://schemas.openxmlformats.org/drawingml/2006/main" w="3810">
            <a:solidFill>
              <a:srgbClr val="7480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37606C6-F7AB-4749-B232-728D8E77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365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76BB8C4-5D46-4612-98DD-C0469A1D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2688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Предмет и извођачи наставе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C8830A-0053-4101-96DC-ABCAD84D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Контакт подаци за академску 2026/27 годину.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74C548A-F379-4F8F-BE76-8D931804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ПРЕДМЕТ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3EC302C-CA4C-433D-9B70-57C13053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ПСИ · 5. семестар</a:t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Академска 2026/27 година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AFB9BF7-4D06-4759-A9F0-130B3DFA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109466"/>
                </a:solidFill>
                <a:latin typeface="Aptos"/>
                <a:ea typeface="Aptos"/>
                <a:cs typeface="Aptos"/>
              </a:rPr>
              <a:t>ИЗВОЂАЧИ НАСТАВЕ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C0470EE-AC0E-42DF-B551-E4BB0C43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2697480"/>
            <a:ext cx="5006335" cy="1985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Професор</a:t>
            </a:r>
            <a:br/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др Зоран Јанковић · </a:t>
            </a:r>
            <a:r>
              <a:rPr sz="1700">
                <a:solidFill>
                  <a:schemeClr val="tx2"/>
                </a:solidFill>
                <a:latin typeface="Aptos"/>
                <a:ea typeface="Aptos"/>
                <a:cs typeface="Aptos"/>
              </a:rPr>
              <a:t>zoran.jankovic@uns.ac.rs</a:t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 b="1">
                <a:latin typeface="Aptos"/>
                <a:ea typeface="Aptos"/>
                <a:cs typeface="Aptos"/>
              </a:rPr>
              <a:t>Асистенти</a:t>
            </a:r>
            <a:br/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Данијел Јовановић · </a:t>
            </a:r>
            <a:r>
              <a:rPr sz="1700">
                <a:solidFill>
                  <a:schemeClr val="tx2"/>
                </a:solidFill>
                <a:latin typeface="Aptos"/>
                <a:ea typeface="Aptos"/>
                <a:cs typeface="Aptos"/>
              </a:rPr>
              <a:t>danijel.jovanovic@uns.ac.rs</a:t>
            </a:r>
            <a:br/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Тања Чубрић · </a:t>
            </a:r>
            <a:r>
              <a:rPr sz="1700">
                <a:solidFill>
                  <a:schemeClr val="tx2"/>
                </a:solidFill>
                <a:latin typeface="Aptos"/>
                <a:ea typeface="Aptos"/>
                <a:cs typeface="Aptos"/>
              </a:rPr>
              <a:t>cubrictanja@gmail.com</a:t>
            </a:r>
            <a:br/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Петар Мутић · </a:t>
            </a:r>
            <a:r>
              <a:rPr sz="1700">
                <a:solidFill>
                  <a:schemeClr val="tx2"/>
                </a:solidFill>
                <a:latin typeface="Aptos"/>
                <a:ea typeface="Aptos"/>
                <a:cs typeface="Aptos"/>
              </a:rPr>
              <a:t>petarmutic5@gmail.com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2F218625-493E-4ED2-A00A-234C259B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2320465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D6C7B54-A4E8-40FE-996D-4A9960F1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F2CBB88-19B6-4395-92AA-A86D91AD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092"/>
          </a:solidFill>
          <a:ln xmlns:a="http://schemas.openxmlformats.org/drawingml/2006/main" w="3810">
            <a:solidFill>
              <a:srgbClr val="7480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E25AD70-9097-4790-8304-BCA9A622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365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172615A-8A4A-44F3-A6AD-E7FC1D2B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012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Кључни поенски прагови за полагање предмета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86CAB33-D747-45C5-A658-D95DDFEA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Пројектни поени одређују даљи режим полагања и опсег обавеза студента.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82C44BB-198D-4C1B-AF0F-C3746F2B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8880"/>
            <a:ext cx="320040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6FF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735E0F2-D704-424E-A6F3-AD7B5202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1280"/>
            <a:ext cx="285750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1" i="0">
                <a:solidFill>
                  <a:srgbClr val="2D5BFF"/>
                </a:solidFill>
                <a:latin typeface="Aptos Display"/>
                <a:ea typeface="Aptos Display"/>
                <a:cs typeface="Aptos Display"/>
              </a:rPr>
              <a:t>71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8DA8395-1053-4DDB-AF46-87E2EFC2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705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максимум пројектног дела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17F31F7-BE3A-45AA-B137-C7D8662C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3568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рачунарске вежбе + пројекат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C682A12-DDEA-4A78-835B-74E30EAE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68880"/>
            <a:ext cx="320040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AEE2857-43BA-4834-8CBC-94A5890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21280"/>
            <a:ext cx="285750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41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B3CDC9B-0A8D-47A2-8497-40699526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705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минимум пројектног дела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721DD9E-2663-4653-8FA5-5CBDB13C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35680"/>
            <a:ext cx="285750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услов за успешно положен пројекат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3617594-56B9-4997-B73F-57AE2D13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68880"/>
            <a:ext cx="320040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1F8F4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3C7732E-4950-484E-9282-5D77C997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1280"/>
            <a:ext cx="285750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1" i="0">
                <a:solidFill>
                  <a:srgbClr val="109466"/>
                </a:solidFill>
                <a:latin typeface="Aptos Display"/>
                <a:ea typeface="Aptos Display"/>
                <a:cs typeface="Aptos Display"/>
              </a:rPr>
              <a:t>51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2B8A472-5693-4235-879B-6698A5E3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705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упис без усменог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5666A31-8265-4DC1-BF51-7E122B17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35680"/>
            <a:ext cx="285750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ако студент прихвати оцену по поенима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1961145-2535-46A6-86A5-8997D489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103632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7620">
            <a:solidFill>
              <a:srgbClr val="E9D4AF"/>
            </a:solidFill>
            <a:prstDash val="solid"/>
          </a:ln>
        </p:spPr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B9B187C-8C82-495E-8E6D-6751C8A9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0125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6A09"/>
          </a:solidFill>
          <a:ln xmlns:a="http://schemas.openxmlformats.org/drawingml/2006/main" w="0">
            <a:noFill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3EBB44E-6EBF-489A-A3B0-D9D8B170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720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ВАЖНО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2697874-CBE0-4451-AEFB-4F0CCF87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9675"/>
            <a:ext cx="960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Поени са пројектног дела важе до краја текуће академске године.</a:t>
            </a:r>
          </a:p>
        </p:txBody>
      </p:sp>
    </p:spTree>
    <p:extLst>
      <p:ext uri="{BB962C8B-B14F-4D97-AF65-F5344CB8AC3E}">
        <p14:creationId xmlns:p14="http://schemas.microsoft.com/office/powerpoint/2010/main" val="11691977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72A33DA-7CAE-4E23-A6FC-0F9995D9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1379A99-96A4-4AF8-B395-B451E150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092"/>
          </a:solidFill>
          <a:ln xmlns:a="http://schemas.openxmlformats.org/drawingml/2006/main" w="3810">
            <a:solidFill>
              <a:srgbClr val="7480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068098-DD99-4699-9CBD-CF3A1CFA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365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08CDA79-5A31-466F-9B63-6229E79D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Пројектни резултат одређује даљи ток полагања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38FBD7-44C7-4176-82A3-D6DE4920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Усмени део може повећати укупан број поена за највише 30, а умањити га за највише 20.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0B83DBA-C3DD-45FB-8C25-07B96B52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2468880"/>
            <a:ext cx="9326880" cy="868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9BC3162-0924-4210-9414-51F32F82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152" y="2468880"/>
            <a:ext cx="685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0–40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29591D5-8684-49AB-8813-7732C241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960" y="2468880"/>
            <a:ext cx="38404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Пројектни део није положен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2721D7D-C59A-490A-A745-AEDE3A04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68880"/>
            <a:ext cx="4389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Нема услова за позитивну коначну оцену.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BA7E094-93F4-4A23-B344-C896C550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3611880"/>
            <a:ext cx="9326880" cy="868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8F0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1418D53-C508-4B83-9A1A-4ED144CC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152" y="3611880"/>
            <a:ext cx="685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C57E18"/>
                </a:solidFill>
                <a:latin typeface="Aptos"/>
                <a:ea typeface="Aptos"/>
                <a:cs typeface="Aptos"/>
              </a:rPr>
              <a:t>41–50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DD74A2F-CA9F-4317-AD49-2C31A069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960" y="3611880"/>
            <a:ext cx="38404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Усмени део је обавезан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E2ECCB1-9AB5-4441-9B0C-CA6F5AF2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1880"/>
            <a:ext cx="4389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Потребно је достићи најмање 51 поен укупно.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B575D3F-21CF-4537-8BF9-B94A0B16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4754880"/>
            <a:ext cx="9326880" cy="868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6FF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408F297-6C9B-4CEF-B38B-7B6B7065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152" y="4754880"/>
            <a:ext cx="685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51–71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72AAE30-F941-4C7E-BF05-B23D0567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960" y="4754880"/>
            <a:ext cx="38404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Оцена може бити уписана без усменог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E9CD793-7A1B-4987-B128-C0D9AE96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54880"/>
            <a:ext cx="4389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Ако студент пријави и не приступи усменом, уписује се оцена на основу пројектних поена.</a:t>
            </a:r>
          </a:p>
        </p:txBody>
      </p:sp>
    </p:spTree>
    <p:extLst>
      <p:ext uri="{BB962C8B-B14F-4D97-AF65-F5344CB8AC3E}">
        <p14:creationId xmlns:p14="http://schemas.microsoft.com/office/powerpoint/2010/main" val="12835706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E5250DA-87C0-45F1-9A61-9F8EF27F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6026192-113A-4DF4-8EFD-76F05A65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092"/>
          </a:solidFill>
          <a:ln xmlns:a="http://schemas.openxmlformats.org/drawingml/2006/main" w="3810">
            <a:solidFill>
              <a:srgbClr val="7480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68B0F3A-C572-405E-8C2F-D3C4CE95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365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CE8E7D-0E26-464E-B82C-BDF68919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6112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Структура бодовања на пројекту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1A38D7-1A12-411F-9DAE-070F0076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Контролне тачке улазе у укупних 71 поен и не додају се преко максимума.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773610D-5FE7-4D60-8F4D-478113D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4953000" cy="4953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6191">
            <a:solidFill>
              <a:srgbClr val="D8DEE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C52722-E090-4A75-B712-F719B019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Tapiz Boards, Agile и Scrum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B4279CD-C42F-4BD6-958B-D87D47E8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669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AFDB956-0963-43E8-82D9-C683E0A3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4953000" cy="4953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6191">
            <a:solidFill>
              <a:srgbClr val="D8DEE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AF4A332-2CD5-4A5B-8FA6-6D6B9477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81325"/>
            <a:ext cx="417195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Контролна тачка 1 — проблем, backlog и развојни ток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86EA6B4-12D2-4B2D-A398-6F9EEE36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099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C95D289-5D8C-42B3-ABC2-79547E43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4953000" cy="4953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6191">
            <a:solidFill>
              <a:srgbClr val="D8DEE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74E9767-8044-41C5-A42F-0F318E1A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SOLID принципи и Clean Architecture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FD897FE-B5BA-4796-B7EE-8C85D769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52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5A05DF0-3BF4-4985-8D20-70950B5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4953000" cy="4953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6191">
            <a:solidFill>
              <a:srgbClr val="D8DEE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949F09-B3B8-4C77-9904-045AA92E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71950"/>
            <a:ext cx="4171950" cy="219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Контролна</a:t>
            </a: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тачка</a:t>
            </a: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 2 — </a:t>
            </a: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архитектура</a:t>
            </a: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и</a:t>
            </a: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функц</a:t>
            </a: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.</a:t>
            </a: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језгро</a:t>
            </a:r>
            <a:endParaRPr sz="1350" b="0" i="0">
              <a:solidFill>
                <a:srgbClr val="1F26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F1857F6-702E-4E62-ADE3-E75ED3A0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95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FC36B653-71AE-47E2-8E97-A69C1589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62475"/>
            <a:ext cx="4953000" cy="4953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6191">
            <a:solidFill>
              <a:srgbClr val="D8DEE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AD68003-E6CD-4A07-9522-1DB76A57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Пословна логика и аутоматизовано тестирање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AC5BA53-2705-4B46-84E5-B78D33A2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386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79D9737C-2C7D-47E5-9059-15E1F308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90775"/>
            <a:ext cx="4953000" cy="4953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1F8F5"/>
          </a:solidFill>
          <a:ln xmlns:a="http://schemas.openxmlformats.org/drawingml/2006/main" w="6191">
            <a:solidFill>
              <a:srgbClr val="D8DEE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8D57B7C-BE2D-4A1E-83A6-6CF68873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17195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Контролна тачка 3 — тестирање и стабилна верзија функционалног језгра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1B4C4E6-8A06-4FC1-8929-4ED24A6E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4669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0A936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4E623FAA-61FC-4588-8FE3-BC92C63D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33700"/>
            <a:ext cx="4953000" cy="4953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BFA"/>
          </a:solidFill>
          <a:ln xmlns:a="http://schemas.openxmlformats.org/drawingml/2006/main" w="6191">
            <a:solidFill>
              <a:srgbClr val="D8DEE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6F3C804-B0EB-43A3-A8B0-BFEA045B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81325"/>
            <a:ext cx="417195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Интероперабилност и усклађеност уговорних страна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2B49FAF-129E-43D0-AF13-6334507A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0099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0A936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700B2D3B-F8BF-4D8E-8DCF-91631127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6625"/>
            <a:ext cx="4953000" cy="4953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1F8F5"/>
          </a:solidFill>
          <a:ln xmlns:a="http://schemas.openxmlformats.org/drawingml/2006/main" w="6191">
            <a:solidFill>
              <a:srgbClr val="D8DEE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2EA0D63-1775-41CF-A003-7A98E710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Правилна и контролисана употреба AI алата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B6F0AFE2-94AE-432C-B417-D7EE7F38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52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0A936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B973100D-89A4-48CA-A969-FD8E8FC3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4953000" cy="4953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BFA"/>
          </a:solidFill>
          <a:ln xmlns:a="http://schemas.openxmlformats.org/drawingml/2006/main" w="6191">
            <a:solidFill>
              <a:srgbClr val="D8DEE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B4C443F8-B845-431B-9B92-8BC6CB7B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67175"/>
            <a:ext cx="417195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Контролна тачка 4 — AI/агентски развојни ток и завршна одбрана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8CB74B3-C028-4B79-BB4B-C9092204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095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0A9368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1390831D-CFB1-433F-A478-C063A04C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0363200" cy="571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7620">
            <a:solidFill>
              <a:srgbClr val="AFC0F4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C9F925CB-9251-40B6-9473-4A684037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006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1F2633"/>
                </a:solidFill>
                <a:latin typeface="Aptos"/>
                <a:ea typeface="Aptos"/>
                <a:cs typeface="Aptos"/>
              </a:rPr>
              <a:t>УКУПНО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41C85B9A-67F4-42B4-8F60-3239D56F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911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71 поен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9215467-759F-4F1E-9191-3C584D4A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953000" cy="2137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ОСНОВНЕ ОБАВЕЗЕ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0EBF1F3E-88AE-438C-901F-1FD4A346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A93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A9368"/>
                </a:solidFill>
                <a:latin typeface="Aptos"/>
                <a:ea typeface="Aptos"/>
                <a:cs typeface="Aptos"/>
              </a:rPr>
              <a:t>ПРОВЕРЕ И ИНТЕГРАЦИЈА</a:t>
            </a:r>
          </a:p>
        </p:txBody>
      </p:sp>
    </p:spTree>
    <p:extLst>
      <p:ext uri="{BB962C8B-B14F-4D97-AF65-F5344CB8AC3E}">
        <p14:creationId xmlns:p14="http://schemas.microsoft.com/office/powerpoint/2010/main" val="324417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7A10420-FFEA-4582-86C7-492AD9DD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C4E0773-3484-4E06-8C9B-1C08683A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092"/>
          </a:solidFill>
          <a:ln xmlns:a="http://schemas.openxmlformats.org/drawingml/2006/main" w="3810">
            <a:solidFill>
              <a:srgbClr val="7480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7C1728C-F747-4C09-9E88-39F51923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365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5DFD27-1D11-4161-BB1B-8B794A90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2688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Контролне тачке и додатни поени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8ED768D-C063-483D-B7F0-B1F0F317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Четири контролне тачке проверавају континуитет рада и разумевање решења.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843C7D9-DB37-4DFB-9456-82EF1DDF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КОНТРОЛНЕ ТАЧКЕ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2676E1C-CA0A-4FB5-95FD-794BE53B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2190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КТ1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—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проблем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, backlog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и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развојни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ток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· 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3 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поена</a:t>
            </a:r>
            <a:endParaRPr sz="1700" b="1">
              <a:solidFill>
                <a:srgbClr val="1A202C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КТ2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—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архитектура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и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функц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.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језгро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· 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3 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поена</a:t>
            </a:r>
            <a:endParaRPr sz="1700" b="1">
              <a:solidFill>
                <a:srgbClr val="1A202C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КТ3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—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тестирање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и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стабилна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верзија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функционалног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језгра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· 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6 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поена</a:t>
            </a:r>
            <a:endParaRPr sz="1700" b="1">
              <a:solidFill>
                <a:srgbClr val="1A202C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КТ4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— AI/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агентски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развојни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ток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и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завршна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одбрана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· 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8 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поена</a:t>
            </a:r>
            <a:endParaRPr sz="1700" b="1">
              <a:solidFill>
                <a:srgbClr val="1A20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C4203AE-3432-4E53-ACD8-90865048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109466"/>
                </a:solidFill>
                <a:latin typeface="Aptos"/>
                <a:ea typeface="Aptos"/>
                <a:cs typeface="Aptos"/>
              </a:rPr>
              <a:t>ДОДАТНИ ПОЕНИ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297085C-E0FE-4867-86C2-82B382EC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476250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За активност и ангажовање на настави могуће је остварити до 5 додатних поена.</a:t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Они служе само као допуна пројектног резултата до максималних 71 поен.</a:t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Не могу повећати резултат преко тог прага.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95A0B4A7-E117-4E32-96DE-12CAB7F2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6017185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5342D45-B461-4B6B-B472-92D7EB3D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0AF86A6-1E0C-4FEF-A9A4-E69813A3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092"/>
          </a:solidFill>
          <a:ln xmlns:a="http://schemas.openxmlformats.org/drawingml/2006/main" w="3810">
            <a:solidFill>
              <a:srgbClr val="7480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3BD739D-B114-4844-9892-087F23C6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365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52B17B5-6839-49C8-9673-46A71CE3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6112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Присуство и комуникација нису споредна тема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28FDBC-2628-43DC-A4F0-B69F72C6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Организациона правила директно утичу на право полагања пројекта.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617CDE8-701A-4AF5-A468-EE40B9B5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6FF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6795F7E-84D8-476B-98ED-FEEF19BF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ОБАВЕЗНО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16D510C-4A6E-4352-BD37-E2D5C718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Рачунарске вежбе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49B49CE-2C69-4390-8241-4C43F619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Присуство на вежбама је обавезно.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425742E-6014-48C2-9B77-2670A008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1F8F4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D78ECA4-395F-4376-BEC8-14AFA6A7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109466"/>
                </a:solidFill>
                <a:latin typeface="Aptos"/>
                <a:ea typeface="Aptos"/>
                <a:cs typeface="Aptos"/>
              </a:rPr>
              <a:t>ГРАНИЦА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FFAC8F5-FD35-4B73-B4C7-1783CA9B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Више од два неоправдана изостанка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11F420D-2536-41D0-9F08-544A5A7D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Студент губи право на полагање пројекта.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6D983E6-3249-4FBE-9ADE-599A49CD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8F0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1B61326-11F1-4F83-BFDC-EAD3D26C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C57E18"/>
                </a:solidFill>
                <a:latin typeface="Aptos"/>
                <a:ea typeface="Aptos"/>
                <a:cs typeface="Aptos"/>
              </a:rPr>
              <a:t>ОПРАВДАЊЕ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3AC0BFD-659E-4227-8A23-C5DA82B5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Шаље се без одлагања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4536584-D001-4467-9DDB-ADCDA1FD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Потврду треба доставити у најкраћем року.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FC82573-0137-42AB-AD67-14F48DA3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B72F924-7161-42EE-AD16-557ADD30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EMAIL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11AFC34-C855-4E1E-96BC-991A46A0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danijel.jovanovic@uns.ac.rs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9F8C587-9EBA-4B57-9603-C1FD52BB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У поруци навести име, презиме, број индекса и датум вежбе.</a:t>
            </a:r>
          </a:p>
        </p:txBody>
      </p:sp>
    </p:spTree>
    <p:extLst>
      <p:ext uri="{BB962C8B-B14F-4D97-AF65-F5344CB8AC3E}">
        <p14:creationId xmlns:p14="http://schemas.microsoft.com/office/powerpoint/2010/main" val="9141455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439BDA7-5117-48F4-B1E8-7B5AF2DE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7BA5339-9C74-4855-BE38-1347C4D8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092"/>
          </a:solidFill>
          <a:ln xmlns:a="http://schemas.openxmlformats.org/drawingml/2006/main" w="3810">
            <a:solidFill>
              <a:srgbClr val="7480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06B7307-720A-419C-ABC8-808365FB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365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6B33B7E-D09E-4902-B5AF-A21EF750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2688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Пројекат је заједнички производ под именом PYXIS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509BAC3-77AB-48FB-A896-413C4AA0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Сви тимови раде над истим системом и истим GitHub репозиторијумом.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6A1B791-0B0F-4258-87C6-90A865E9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ОРГАНИЗАЦИЈА ТИМА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8A9C6C-47F7-4466-86CA-7A927953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Тим чини од 6 до 10 студената.</a:t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Предметни асистент додељује пројектну целину за коју тим преузима примарну одговорност.</a:t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Приступ заједничком репозиторијуму додељује предметни асистент.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B538F52-61E4-4EBE-8D79-C2F4ED21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109466"/>
                </a:solidFill>
                <a:latin typeface="Aptos"/>
                <a:ea typeface="Aptos"/>
                <a:cs typeface="Aptos"/>
              </a:rPr>
              <a:t>ШТА СТУДЕНТ МОРА ДА ДОСТАВИ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FF7C01F-AD58-4994-B6CE-AE1BDD4E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4762500" cy="2190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Тачно GitHub корисничко име</a:t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Видљив индивидуални допринос кроз историју измена</a:t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Способност да на одбрани образложи сопствени рад</a:t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Tapiz Boards дељени јавни линк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B1E3F091-3F4E-4DA0-A4A2-582CB549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8EB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442377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0A38C7B-7CE2-481F-A10E-9B64D343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6E75446-D130-468F-98B6-039CE28B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092"/>
          </a:solidFill>
          <a:ln xmlns:a="http://schemas.openxmlformats.org/drawingml/2006/main" w="3810">
            <a:solidFill>
              <a:srgbClr val="7480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1EDA042-E133-40D8-A4B4-3BDFD01C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365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397332B-7124-4D53-A7D5-069245ED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012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Развојни ток у репозиторијуму мора бити јасан и следљив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569D1B8-821E-4CBA-9D42-400B34B6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Директан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 push 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на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 main 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није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дозвољен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9EC63AF8-1C65-471D-A694-D0444A66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" y="3172968"/>
            <a:ext cx="918972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E8EB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7AA9BDF-827C-4DC7-AFBA-6BC2BB19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8920"/>
            <a:ext cx="1417320" cy="768096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57E6F46-B151-4CE6-8CCA-C7124742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9599"/>
            <a:ext cx="1170432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Task</a:t>
            </a:r>
            <a:endParaRPr sz="1650" b="1" i="0">
              <a:solidFill>
                <a:srgbClr val="1A20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9DFD761-06B5-43A2-865B-F3DB69E2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" y="370332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задатак и критеријуми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0BCE711-0F2A-4A69-B319-F62318D6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220" y="2788920"/>
            <a:ext cx="1417320" cy="768096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6FF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6109E89-B2CC-4D42-9DC7-C3BC7335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520" y="3013268"/>
            <a:ext cx="1170432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F</a:t>
            </a:r>
            <a:r>
              <a:rPr sz="1650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eature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8BD93E4-BAB0-4144-B8E3-E6CD2B51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0332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издвојена грана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AF4D934-A8EC-4ED2-ADCD-750EA296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341" y="2788920"/>
            <a:ext cx="1417320" cy="768096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6FF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9DB40A0-93D1-49F2-99EC-996B4B1A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404" y="3013348"/>
            <a:ext cx="1170432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C</a:t>
            </a:r>
            <a:r>
              <a:rPr sz="1650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ommit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65B4F04-740F-421A-AF9E-8CC7A37A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621" y="370332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смислени кораци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0893E2B-66BC-4A5D-BA24-9EC131A6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60" y="2788920"/>
            <a:ext cx="1417320" cy="768096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8F0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12F0180-5430-40C5-85FA-6F6FED21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189" y="2898648"/>
            <a:ext cx="1170432" cy="5532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C57E18"/>
                </a:solidFill>
                <a:latin typeface="Aptos"/>
                <a:ea typeface="Aptos"/>
                <a:cs typeface="Aptos"/>
              </a:rPr>
              <a:t>Pull Request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B21FB57-AF6A-4193-9059-D095EDD4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1" y="370332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CI и code review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D1240742-C81B-4EDE-A769-EFDB8CA9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1" y="2788920"/>
            <a:ext cx="1417320" cy="768096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1F8F4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AF4930-10BB-43E2-8DD4-1E7DA311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024" y="3015793"/>
            <a:ext cx="1170432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109466"/>
                </a:solidFill>
                <a:latin typeface="Aptos"/>
                <a:ea typeface="Aptos"/>
                <a:cs typeface="Aptos"/>
              </a:rPr>
              <a:t>Verify</a:t>
            </a:r>
            <a:endParaRPr sz="1650" b="1" i="0">
              <a:solidFill>
                <a:srgbClr val="1094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158DB99-7936-4926-8076-3330CABA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0" y="370332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QA и интеграција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9317C2AA-9BEE-4C97-BBD5-342D2D8B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03632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7620">
            <a:solidFill>
              <a:srgbClr val="E9D4AF"/>
            </a:solidFill>
            <a:prstDash val="solid"/>
          </a:ln>
        </p:spPr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C0524507-51CF-42E5-A306-0F92DE7A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6A09"/>
          </a:solidFill>
          <a:ln xmlns:a="http://schemas.openxmlformats.org/drawingml/2006/main" w="0">
            <a:noFill/>
          </a:ln>
        </p:spPr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40AC55A-BAD9-491C-B4E6-F9CD4EE4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КЉУЧНА ПОРУКА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2A29568-7814-4762-BE2A-4C11AF39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Референтна технологија је .NET/C#. Друга технологија је могућа ако је обезбеђена интероперабилност.</a:t>
            </a:r>
          </a:p>
        </p:txBody>
      </p:sp>
    </p:spTree>
    <p:extLst>
      <p:ext uri="{BB962C8B-B14F-4D97-AF65-F5344CB8AC3E}">
        <p14:creationId xmlns:p14="http://schemas.microsoft.com/office/powerpoint/2010/main" val="10911903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067E0B-2A11-4056-AC46-8E77964A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80558FD-F29A-475C-9724-6D3482F2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092"/>
          </a:solidFill>
          <a:ln xmlns:a="http://schemas.openxmlformats.org/drawingml/2006/main" w="3810">
            <a:solidFill>
              <a:srgbClr val="7480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0A9FA9E-050F-4063-A52F-AA472216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365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7C3BCE-807F-4F0B-A37F-39FFF94F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6112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Минимална очекивања од пројектне целине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81B796F-0284-4A33-85D7-CDB6F20C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Прихватљива реализација мора бити део заједничког производа, не изолована мини-апликација.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CC42072-0CAC-4A77-A17C-6224EFA8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6FF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DFE2C00-9B2E-40ED-801B-E552D084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137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1790C1B-ECA4-48B7-9D19-C06528A2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Јасна граница и уговор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B3BB45E-6F39-40A1-AE73-C30042E7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Целина мора имати дефинисану одговорност и однос према другим целинама.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E365881-0295-40AE-85EB-5D102992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1F8F4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BA4A547-F331-483A-892D-A75FAC56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137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>
                <a:solidFill>
                  <a:srgbClr val="1094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FA5ADCF-60F5-4F3F-BAF9-DE0CA5D9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Тестови и стабилност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608B306-CD17-4A3A-B56C-8968680B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Очекују се аутоматизовани тестови кључних правила, а по потреби и интеграциони, уговорни и регресиони тестови.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CC4BC18-9CE3-46B4-8ADA-B010B4A5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8F0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7F2CE96-C57C-4C88-BB8C-0582DECA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137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>
                <a:solidFill>
                  <a:srgbClr val="C57E1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8A8C701-E8F5-4F0B-9A85-A88AF329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Документација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3B907F8-42DE-435E-BC88-7A8FDF2F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Потребни су случајеви употребе, критеријуми прихватања, јавни уговори, ADR, локално покретање и тестирање.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0867BBC-FD3F-4706-8111-D6E58592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E641440-20E6-4D14-91BB-1C62BB90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137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8EB4C67-8CA9-4811-9D9B-3CBF68B5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Индивидуални допринос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0F93A7D-66B0-4BCE-9FD8-816A338D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Сваки студент мора да покаже сопствени рад, релевантан use-case, дизајнерску одлуку и зависност према другој целини када постоји.</a:t>
            </a:r>
          </a:p>
        </p:txBody>
      </p:sp>
    </p:spTree>
    <p:extLst>
      <p:ext uri="{BB962C8B-B14F-4D97-AF65-F5344CB8AC3E}">
        <p14:creationId xmlns:p14="http://schemas.microsoft.com/office/powerpoint/2010/main" val="18355934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8C20987-C8B8-4161-958B-F44D2EBF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225B6F7-CA60-4953-B776-78FF534B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092"/>
          </a:solidFill>
          <a:ln xmlns:a="http://schemas.openxmlformats.org/drawingml/2006/main" w="3810">
            <a:solidFill>
              <a:srgbClr val="7480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CE6272-A4AB-4A7F-8B24-29BDF0EE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365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D5A36D8-5207-4A28-9A37-05B2D045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2688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Одбрана пројекта се организује у два основна термина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CA2A021-B494-49C1-ACCD-CC55054A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Тачан датум, сатница и организација биће објављени путем званичних канала комуникације предмета.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5DBC838-A4BE-4CC6-9547-972A8F61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ТЕРМИНИ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2DC4559-1B4A-4B4D-B729-DCD7B2D5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1383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Предиспитни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термин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— 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прва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половина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децембра</a:t>
            </a:r>
            <a:endParaRPr sz="1700" b="1">
              <a:solidFill>
                <a:srgbClr val="1A202C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Редовни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термин</a:t>
            </a: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 —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последња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недеља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зимског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7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семестра</a:t>
            </a:r>
            <a:endParaRPr sz="1700" b="1">
              <a:solidFill>
                <a:srgbClr val="1A20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A7A7B4A-1624-46A7-85DD-4AC15002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109466"/>
                </a:solidFill>
                <a:latin typeface="Aptos"/>
                <a:ea typeface="Aptos"/>
                <a:cs typeface="Aptos"/>
              </a:rPr>
              <a:t>НА ОДБРАНИ СЕ ПРОВЕРАВА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F5F035B-1999-418C-AC9B-EF5F3320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476250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Функционалност пројекта и испуњеност критеријума бодовања</a:t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Разумевање архитектонских, техничких и организационих одлука</a:t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Сопствени допринос и релевантни делови заједничког решења</a:t>
            </a:r>
          </a:p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Теоријска питања из области обрађених на предмету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FD9AC5EA-522B-4FD2-9887-E987C547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7916933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953CD9-6A21-4ECB-AF24-D6E88F99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218D06-FCDA-4440-8F4C-027A24DD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092"/>
          </a:solidFill>
          <a:ln xmlns:a="http://schemas.openxmlformats.org/drawingml/2006/main" w="3810">
            <a:solidFill>
              <a:srgbClr val="7480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E0400D9-0014-4854-BBF2-93F887EC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365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F0A2326-A91C-4460-813C-E75FEF8E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6112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Поправни</a:t>
            </a: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термин</a:t>
            </a: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и</a:t>
            </a: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одговорност</a:t>
            </a: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за</a:t>
            </a: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i="0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рад</a:t>
            </a:r>
            <a:endParaRPr sz="2550" b="1" i="0">
              <a:solidFill>
                <a:srgbClr val="1A202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0C68C78-0D4B-4B5F-B1D2-FEAA1884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268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Правила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су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осмишљена да за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циљ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 поставе јасно разликовање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разумевањ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а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од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пуке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репродукције</a:t>
            </a:r>
            <a:r>
              <a:rPr sz="165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8DA3008-A543-4D5C-969D-F6967A15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6FF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4DA2988-28CF-419A-A921-7F541019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2D5BFF"/>
                </a:solidFill>
                <a:latin typeface="Aptos"/>
                <a:ea typeface="Aptos"/>
                <a:cs typeface="Aptos"/>
              </a:rPr>
              <a:t>ПОПРАВНИ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A743F03-5718-4563-88D3-520E979C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Нови пројекат самостално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F66FA83-11C8-4490-9CD5-9F83BC1A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У поправном термину студент ради нови пројекат и претходни пројектни поени се не преносе.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EF11C2E-EC88-41FE-8C80-2787CBC3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1F8F4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F5702D0-9670-44B1-AD7D-9925E78A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137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>
                <a:solidFill>
                  <a:srgbClr val="109466"/>
                </a:solidFill>
                <a:latin typeface="Aptos"/>
                <a:ea typeface="Aptos"/>
                <a:cs typeface="Aptos"/>
              </a:rPr>
              <a:t>0,8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175F887-17D7-4243-A9DC-034635CB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Коефицијент на новом пројекту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65DAF2F-32A8-483B-8C21-A8011F77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Максимум у поправном термину износи 56,8 поена на пројектном делу.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6870884-76B8-4996-848A-DA538EAB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8F0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4B19BF0-1D3B-44A8-AFBE-B5DCF175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137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>
                <a:solidFill>
                  <a:srgbClr val="C57E18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8E9A9C9-0DDF-4CBD-8AE0-81B620E7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Плагијат и лажно представљање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EC34622-5DF7-4AE1-98D4-74025E95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За неовлашћено преузимање туђег решења или лажно представљање доприноса евидентира се 0 поена.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0518500-167A-405C-A422-FEE05E59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6191">
            <a:solidFill>
              <a:srgbClr val="D7DDE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4A07BBB-6C53-42C9-8A84-62CA8228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137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893A11C-654A-4EC7-B4E9-6E5E88CE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Дозвољен али не ослобађа одговорности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4A62A47-C175-4A0B-B57A-CA256015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Студент мора да разуме и образложи сваки део решења које представља.</a:t>
            </a:r>
          </a:p>
        </p:txBody>
      </p:sp>
    </p:spTree>
    <p:extLst>
      <p:ext uri="{BB962C8B-B14F-4D97-AF65-F5344CB8AC3E}">
        <p14:creationId xmlns:p14="http://schemas.microsoft.com/office/powerpoint/2010/main" val="1749001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ECA74E3-9860-4F4C-A773-63B7C0FF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26B7A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4294A8D-6C1D-4FCE-A44A-E9C0291A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7532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092"/>
          </a:solidFill>
          <a:ln xmlns:a="http://schemas.openxmlformats.org/drawingml/2006/main" w="3810">
            <a:solidFill>
              <a:srgbClr val="7480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FD50D-E4EF-4540-931A-D581DED9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Три правила за рад током семестра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780EF-7446-476D-8B83-620D4F2C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Вредност пројекта није само у коначном решењу, већ у јасном и проверљивом развојном трагу.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0C8CE-5103-4EED-BA1A-1F6E1EE2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321945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D4DC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22542-C478-4D65-B6F9-B38D45B2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40005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4DC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F96D0-56F6-4A34-8897-FC46D507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622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2F5E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E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073FC-F245-403D-9205-6DC572E5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Пројекат је континуиран процес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F64C0-A06D-4F98-A597-741715FC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0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Свака вежба надограђује исту пројектну целину и оставља видљив напредак.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1CC2E-7565-4BAD-A5FB-D2C2D711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43150"/>
            <a:ext cx="321945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6F3FC"/>
          </a:solidFill>
          <a:ln xmlns:a="http://schemas.openxmlformats.org/drawingml/2006/main" w="9525">
            <a:solidFill>
              <a:srgbClr val="D4DC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7C4F7-27B2-4B70-862F-667EAE7A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14600"/>
            <a:ext cx="40005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4DC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11CED-0B9B-4EC7-AC49-BB809CE8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622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7047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047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5CF30-3BCF-4689-B139-69CA90B0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527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Траг рада повезује целину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F9622-3AA1-4084-AD4B-B7CEDEBD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766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Захтев, одлука, код, тест и одбрана морају да чине једну кохерентну причу.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69FD0-DCA0-4C44-90B7-4D1B24C7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321945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EFF8F4"/>
          </a:solidFill>
          <a:ln xmlns:a="http://schemas.openxmlformats.org/drawingml/2006/main" w="9525">
            <a:solidFill>
              <a:srgbClr val="D4DC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4CCCF-151D-460F-B79D-30071E7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40005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4DC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37806-9110-4954-B2C7-5DA1C7C4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622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0788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88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1B171-33A7-4CB2-A618-69154C36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Следећи корак је Вежба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A9E0B-507E-4871-8F6C-08BFFC06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Тамо развојни ток постаје конкретан кроз backlog, Git, проверу и интеграцију.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61E5E-2C43-4756-8CB3-18F2E748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10363200" cy="8667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7620">
            <a:solidFill>
              <a:srgbClr val="E9D4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67F774-A3C5-4A8B-B1CB-D37454FC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81575"/>
            <a:ext cx="57150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6A0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A13EB4-B7FE-4266-9DC7-2152D69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КЉУЧНА ПОРУКА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1FA73-F0D2-4CB4-8A97-F456BA5F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006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Сваки члан тима треба да уме да објасни свој допринос и покаже доказ да промена ради исправно.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9B476-FF65-422B-9D03-BE815E22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791669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2026-09-28T19:34:39.4130000Z</dcterms:created>
  <dcterms:modified xsi:type="dcterms:W3CDTF">2026-09-28T19:34:39.4130000Z</dcterms:modified>
</coreProperties>
</file>