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контролисан развој уз AI. AI агент добија задатак са јасним ограничењима, предлаже измену, а измена се прихвата тек када прође независну проверу кроз build, тестове и преглед diff-а. AI је део дефинисаног инжењерског поступка, а не замена за њега.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Вежба има четири дела. Прво дефинишемо проверљив задатак за AI. Затим уводимо пројектне инструкције и skill-ове као поновљиве процедуре. Трећи део је имплементација и независна провера, а последњи одговорност тима и задатак на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алате не уводимо на почетку семестра, већ тек сада, када систем има архитектонске границе, тестирано језгро означено као manual-core-baseline и стабилне уговоре између модула. Тек тада можемо да проверимо оно што AI предложи. AI део примера ради у алату Kova за VS Code, а сваки резултат проверавамо истим сигналима као и ручни рад: компилацијом, тестовима и прегледом diff-а.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се бави задатком. Добар AI задатак није молба да се нешто уради, већ спецификација: циљ, контекст, ограничења и начин провере.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Контролисан AI радни ток има пет корака. Задатак одређује циљ. Контекст је скуп фајлова на које се задатак односи. Пројектне инструкције у AGENTS.md важе за сваки задатак. Skill и режим рада одређују процедуру и дозволе, а skill-ови су у фасцикли .kova/skills. На крају су build и тестови, који потврђују резултат. Ово није слободан разговор са моделом, већ дефинисан инжењерски поступак.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пример добро формулисаног задатка. Пословно правило је једна реченица: резервација не сме тражити више од пет комада опреме. Задатак изричито каже да се у овој фази код не мења, јер прво желимо анализу и план. Ограничења штите архитектуру: правило остаје у доменском или апликационом делу, API не доноси пословне одлуке, а постојећи тестови морају остати зелени. План прегледамо пре него што агенту дозволимо да пише.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Потпун задатак има четири дела. Понашање каже шта се мења у систему. Границе кажу који слојеви смеју да се мењају. Доказ каже које команде и тестови потврђују резултат. Излаз каже шта агент треба да врати: план, ризике, списак фајлова и тест сценарије. Ако неки део недостаје, агент ће га сам попунити претпоставком.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Овај слајд повезује све делове вежбе у један ток. У режиму Plan агент само чита и предлаже план. Затим следи капија: тим прегледа план и одлучује да ли га прихвата. Тек после одобрења агент у режиму Manual мења искључиво фајлове из усвојеног плана. Резултат проверавамо кроз build, тестове и diff, а одлуке бележимо у AI_USAGE.md. Ако се током измене обим прошири, не настављамо, већ се враћамо на анализу.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уводи две врсте трајних упутстава. AGENTS.md садржи правила архитектуре која важе увек. Skill је поновљива процедура за одређену врсту задатка, на пример преглед Pull Request-а. Уз то, свака улога добија само овлашћења која јој требају.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Пројектна правила чувамо у датотеци AGENTS.md у корену репозиторијума, па су верзионисана као и код. То нису општи савети о лепом програмирању, већ конкретна правила овог solution-а: Domain не зависи од других пројеката, Application дефинише портове, а Infrastructure их имплементира. Kova у верзији 0.3.2 учитава AGENTS.md аутоматски при сваком покретању, пре изабраног skill-а.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одељак Архитектура из AGENTS.md. Свако правило је проверљиво: да ли Domain има референцу на други пројекат, да ли Application зависи само од Domain-а, да ли инфраструктура имплементира портове, да ли је Api composition root и да ли MCP и guardrails остају ван језгра. Инструкције су део репозиторијума и тим их прегледа као код. Једно правило важи увек: модел не сме тврдити да је проверио нешто што није стварно извршио.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је поновљива процедура записана у датотеци SKILL.md. Kova открива skill-ове у фасцикли .kova/skills, где сваки skill има своју подфасциклу, и учитава један изабрани. Разлика у односу на AGENTS.md је у домету: AGENTS.md важи увек, а skill само за задатак за који је изабран. Пример је skill за преглед Pull Request-а: review улога не мења код, већ проверава захтев, diff, инструкције, тестове и архитектонске границе.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Поступак прегледа има пет корака и исти је без обзира на то ко је измену направио, човек или агент. Прво сажимамо очекивано понашање. Затим проверавамо да ли diff излази из обима захтева, да ли је поштовано правило зависности и границе модула, да ли су покривени негативни и гранични сценарији и да ли промењено понашање одговара тестовима.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Свака улога има онолико овлашћења колико јој треба. Skill за архитектонски преглед ради у режиму Plan и само чита solution, инструкције и diff, без писања кода. Skill за имплементацију усвојеног плана ради у режиму Manual и мења само фајлове из плана, без проширивања захтева. Skill за преглед Pull Request-а чита diff и покреће тестове, али не сме да мења тест да би сакрио грешку. То је принцип најмањих привилегија примењен на агента.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прати измену од усвојеног плана до прихватања. Видећемо како изгледа структурирана предаја задатка, који сигнали потврђују резултат, како се води запис употребе AI-ја и када се радни ток мора прекинути.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је план усвојен, предајемо га агенту за имплементацију у структурираном облику. Задатак је једна реченица, ограничења су експлицитна, а листа фајлова је намерно кратка: само фасцикла случаја употребе и одговарајући тестови. Верификација је унапред дефинисана. Ако агент закључи да мора да мења нешто ван ове листе, не наставља, већ се враћамо на анализу.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 може да напише да је све проверио, али то није доказ. Задатак је завршен тек када имамо три стварна сигнала: успешан build, успешне NUnit тестове и прегледан финални diff. Правило је једноставно: ако команда није стварно извршена, не бележимо је као успешну проверу.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команде дају независне сигнале. Build у Release конфигурацији, тестови над већ изграђеним кодом и git diff над целим радним стаблом. Ако тест падне, грешку не решавамо брисањем очекивања у тесту. Diff не сме да додирује слојеве које план није предвидео. И најважније: резултат команде је јачи од уверења модела.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AI_USAGE.md је запис о томе како је AI коришћен. За сваки задатак бележимо четири ствари: шта је тражено, који контекст је коришћен, шта је прихваћено или одбијено и која провера је стварно извршена. Унос испод картица је илустрација: један задатак, кратко и проверљиво. Овај документ је део онога што тим брани на контролној тачки.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 је унапред знати када се рад прекида. Прекидамо ако агент тражи .env или друге тајне, ако diff додирује слојеве које план није предвидео, ако тест пада а не разумемо зашто и ако план проширује пословни захтев. Настављамо само ако је план мали и проверљив, границе испоштоване, тестови дају јасан сигнал, а diff је разумљив за преглед.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се бави одговорношћу. Агент предлаже, али тим одлучује и брани решење. Затим пролазимо кроз задатак на вежби и припрему за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Одговорност остаје код тима. Прво, студент мора да разуме и објасни решење. Друго, команде и тестови морају да докажу понашање. Треће, тим доноси одлуку да предлог прихвати или одбије. Код који студент не уме да објасни не улази у главну грану, без обзира на то да ли га је написао човек или агент.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вежби радимо на копији solution-а. Задајемо малу промену пословног правила, затим skill за архитектонски преглед у режиму Plan прави само анализу и план. Када план усвојимо, skill за имплементацију у режиму Manual мења код по плану. Покрећемо build и тестове, прегледамо diff и уносимо сажет запис у AI_USAGE.md.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Вредност AI алата не меримо по томе колико брзо је написао код, већ по томе да ли је резултат проверљив и да ли су границе система очуване. Минимум су три стварна сигнала после сваке AI измене: build, тестови и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Контролисан AI радни ток не уводи нове принципе, већ примењује оне које већ имамо: архитектонске границе, тестове и преглед кода. Када су контекст, ограничења, улоге и провера јасни, AI може помоћи без рушења SOLID и Clean Architecture правила. На наредној вежби уводимо MCP, протокол преко кога AI клијент контролисано добија контекст пројекта.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размислите које информације AI сме само да чита, а које операције сме да покрене. Раздвојите ресурсе за читање од алата који извршавају операције, одредите које команде смеју бити фиксно извршене и забележите шта никада не сме бити изложено као произвољан shell. Build, тест и diff сигнали са ове вежбе биће основа MCP сервера.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контролисаног AI тока: задатак са ограничењима иде агенту, агент предлаже diff, а промена пролази кроз капију провере build, test и diff пре прихватања">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A2276F"/>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A2276F"/>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Контролисан развој уз AI</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AI рад унутар архитектонских граница и проверљивог развојног поступка.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540000" cy="2543572"/>
          </a:xfrm>
          <a:prstGeom prst="roundRect">
            <a:avLst>
              <a:gd name="adj" fmla="val 3875"/>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A2276F"/>
          </a:solidFill>
          <a:ln/>
        </p:spPr>
      </p:sp>
      <p:sp>
        <p:nvSpPr>
          <p:cNvPr id="7" name="Text 5"/>
          <p:cNvSpPr/>
          <p:nvPr/>
        </p:nvSpPr>
        <p:spPr>
          <a:xfrm>
            <a:off x="9969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A2276F"/>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Задатак и контекст</a:t>
            </a:r>
            <a:endParaRPr lang="en-US" sz="1400" dirty="0"/>
          </a:p>
        </p:txBody>
      </p:sp>
      <p:sp>
        <p:nvSpPr>
          <p:cNvPr id="9" name="Text 7"/>
          <p:cNvSpPr/>
          <p:nvPr/>
        </p:nvSpPr>
        <p:spPr>
          <a:xfrm>
            <a:off x="9969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Радни ток, проверљив задатак, структура задатка и фазе рада.</a:t>
            </a:r>
            <a:endParaRPr lang="en-US" sz="1200" dirty="0"/>
          </a:p>
        </p:txBody>
      </p:sp>
      <p:sp>
        <p:nvSpPr>
          <p:cNvPr id="10" name="Text 8"/>
          <p:cNvSpPr/>
          <p:nvPr/>
        </p:nvSpPr>
        <p:spPr>
          <a:xfrm>
            <a:off x="996950" y="382627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04–08</a:t>
            </a:r>
            <a:endParaRPr lang="en-US" sz="1200" dirty="0"/>
          </a:p>
        </p:txBody>
      </p:sp>
      <p:sp>
        <p:nvSpPr>
          <p:cNvPr id="11" name="Shape 9"/>
          <p:cNvSpPr/>
          <p:nvPr/>
        </p:nvSpPr>
        <p:spPr>
          <a:xfrm>
            <a:off x="3489325" y="1676995"/>
            <a:ext cx="2540000" cy="2543572"/>
          </a:xfrm>
          <a:prstGeom prst="roundRect">
            <a:avLst>
              <a:gd name="adj" fmla="val 3875"/>
            </a:avLst>
          </a:prstGeom>
          <a:solidFill>
            <a:srgbClr val="FCFCFB"/>
          </a:solidFill>
          <a:ln w="6350">
            <a:solidFill>
              <a:srgbClr val="D3DAE1"/>
            </a:solidFill>
            <a:prstDash val="solid"/>
          </a:ln>
        </p:spPr>
      </p:sp>
      <p:sp>
        <p:nvSpPr>
          <p:cNvPr id="12" name="Shape 10"/>
          <p:cNvSpPr/>
          <p:nvPr/>
        </p:nvSpPr>
        <p:spPr>
          <a:xfrm>
            <a:off x="3670300" y="1857970"/>
            <a:ext cx="355600" cy="38100"/>
          </a:xfrm>
          <a:prstGeom prst="roundRect">
            <a:avLst>
              <a:gd name="adj" fmla="val 50000"/>
            </a:avLst>
          </a:prstGeom>
          <a:solidFill>
            <a:srgbClr val="A2276F"/>
          </a:solidFill>
          <a:ln/>
        </p:spPr>
      </p:sp>
      <p:sp>
        <p:nvSpPr>
          <p:cNvPr id="13" name="Text 11"/>
          <p:cNvSpPr/>
          <p:nvPr/>
        </p:nvSpPr>
        <p:spPr>
          <a:xfrm>
            <a:off x="36703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A2276F"/>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6703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Инструкције и skill-ови</a:t>
            </a:r>
            <a:endParaRPr lang="en-US" sz="1400" dirty="0"/>
          </a:p>
        </p:txBody>
      </p:sp>
      <p:sp>
        <p:nvSpPr>
          <p:cNvPr id="15" name="Text 13"/>
          <p:cNvSpPr/>
          <p:nvPr/>
        </p:nvSpPr>
        <p:spPr>
          <a:xfrm>
            <a:off x="36703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AGENTS.md, поновљива процедура, преглед измене и улоге.</a:t>
            </a:r>
            <a:endParaRPr lang="en-US" sz="1200" dirty="0"/>
          </a:p>
        </p:txBody>
      </p:sp>
      <p:sp>
        <p:nvSpPr>
          <p:cNvPr id="16" name="Text 14"/>
          <p:cNvSpPr/>
          <p:nvPr/>
        </p:nvSpPr>
        <p:spPr>
          <a:xfrm>
            <a:off x="3670300" y="382627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09–14</a:t>
            </a:r>
            <a:endParaRPr lang="en-US" sz="1200" dirty="0"/>
          </a:p>
        </p:txBody>
      </p:sp>
      <p:sp>
        <p:nvSpPr>
          <p:cNvPr id="17" name="Shape 15"/>
          <p:cNvSpPr/>
          <p:nvPr/>
        </p:nvSpPr>
        <p:spPr>
          <a:xfrm>
            <a:off x="6162675" y="1676995"/>
            <a:ext cx="2540000" cy="2543572"/>
          </a:xfrm>
          <a:prstGeom prst="roundRect">
            <a:avLst>
              <a:gd name="adj" fmla="val 3875"/>
            </a:avLst>
          </a:prstGeom>
          <a:solidFill>
            <a:srgbClr val="FCFCFB"/>
          </a:solidFill>
          <a:ln w="6350">
            <a:solidFill>
              <a:srgbClr val="D3DAE1"/>
            </a:solidFill>
            <a:prstDash val="solid"/>
          </a:ln>
        </p:spPr>
      </p:sp>
      <p:sp>
        <p:nvSpPr>
          <p:cNvPr id="18" name="Shape 16"/>
          <p:cNvSpPr/>
          <p:nvPr/>
        </p:nvSpPr>
        <p:spPr>
          <a:xfrm>
            <a:off x="6343650" y="1857970"/>
            <a:ext cx="355600" cy="38100"/>
          </a:xfrm>
          <a:prstGeom prst="roundRect">
            <a:avLst>
              <a:gd name="adj" fmla="val 50000"/>
            </a:avLst>
          </a:prstGeom>
          <a:solidFill>
            <a:srgbClr val="A2276F"/>
          </a:solidFill>
          <a:ln/>
        </p:spPr>
      </p:sp>
      <p:sp>
        <p:nvSpPr>
          <p:cNvPr id="19" name="Text 17"/>
          <p:cNvSpPr/>
          <p:nvPr/>
        </p:nvSpPr>
        <p:spPr>
          <a:xfrm>
            <a:off x="63436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A2276F"/>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6343650" y="2492970"/>
            <a:ext cx="2243392"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Имплементација и провера</a:t>
            </a:r>
            <a:endParaRPr lang="en-US" sz="1400" dirty="0"/>
          </a:p>
        </p:txBody>
      </p:sp>
      <p:sp>
        <p:nvSpPr>
          <p:cNvPr id="21" name="Text 19"/>
          <p:cNvSpPr/>
          <p:nvPr/>
        </p:nvSpPr>
        <p:spPr>
          <a:xfrm>
            <a:off x="6343650" y="300851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Предаја плана, независна провера, AI_USAGE и услови за прекид.</a:t>
            </a:r>
            <a:endParaRPr lang="en-US" sz="1200" dirty="0"/>
          </a:p>
        </p:txBody>
      </p:sp>
      <p:sp>
        <p:nvSpPr>
          <p:cNvPr id="22" name="Text 20"/>
          <p:cNvSpPr/>
          <p:nvPr/>
        </p:nvSpPr>
        <p:spPr>
          <a:xfrm>
            <a:off x="6343650" y="382627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15–20</a:t>
            </a:r>
            <a:endParaRPr lang="en-US" sz="1200" dirty="0"/>
          </a:p>
        </p:txBody>
      </p:sp>
      <p:sp>
        <p:nvSpPr>
          <p:cNvPr id="23" name="Shape 21"/>
          <p:cNvSpPr/>
          <p:nvPr/>
        </p:nvSpPr>
        <p:spPr>
          <a:xfrm>
            <a:off x="8836025" y="1676995"/>
            <a:ext cx="2540000" cy="2543572"/>
          </a:xfrm>
          <a:prstGeom prst="roundRect">
            <a:avLst>
              <a:gd name="adj" fmla="val 3875"/>
            </a:avLst>
          </a:prstGeom>
          <a:solidFill>
            <a:srgbClr val="FCFCFB"/>
          </a:solidFill>
          <a:ln w="6350">
            <a:solidFill>
              <a:srgbClr val="D3DAE1"/>
            </a:solidFill>
            <a:prstDash val="solid"/>
          </a:ln>
        </p:spPr>
      </p:sp>
      <p:sp>
        <p:nvSpPr>
          <p:cNvPr id="24" name="Shape 22"/>
          <p:cNvSpPr/>
          <p:nvPr/>
        </p:nvSpPr>
        <p:spPr>
          <a:xfrm>
            <a:off x="9017000" y="1857970"/>
            <a:ext cx="355600" cy="38100"/>
          </a:xfrm>
          <a:prstGeom prst="roundRect">
            <a:avLst>
              <a:gd name="adj" fmla="val 50000"/>
            </a:avLst>
          </a:prstGeom>
          <a:solidFill>
            <a:srgbClr val="E07B1F"/>
          </a:solidFill>
          <a:ln/>
        </p:spPr>
      </p:sp>
      <p:sp>
        <p:nvSpPr>
          <p:cNvPr id="25" name="Text 23"/>
          <p:cNvSpPr/>
          <p:nvPr/>
        </p:nvSpPr>
        <p:spPr>
          <a:xfrm>
            <a:off x="90170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A2276F"/>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90170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Одговорност и вежба</a:t>
            </a:r>
            <a:endParaRPr lang="en-US" sz="1400" dirty="0"/>
          </a:p>
        </p:txBody>
      </p:sp>
      <p:sp>
        <p:nvSpPr>
          <p:cNvPr id="27" name="Text 25"/>
          <p:cNvSpPr/>
          <p:nvPr/>
        </p:nvSpPr>
        <p:spPr>
          <a:xfrm>
            <a:off x="90170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Одговорност тима, задатак, критеријум и припрема за MCP.</a:t>
            </a:r>
            <a:endParaRPr lang="en-US" sz="1200" dirty="0"/>
          </a:p>
        </p:txBody>
      </p:sp>
      <p:sp>
        <p:nvSpPr>
          <p:cNvPr id="28" name="Text 26"/>
          <p:cNvSpPr/>
          <p:nvPr/>
        </p:nvSpPr>
        <p:spPr>
          <a:xfrm>
            <a:off x="9017000" y="382627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21–26</a:t>
            </a:r>
            <a:endParaRPr lang="en-US" sz="1200" dirty="0"/>
          </a:p>
        </p:txBody>
      </p:sp>
      <p:sp>
        <p:nvSpPr>
          <p:cNvPr id="29" name="Text 27"/>
          <p:cNvSpPr/>
          <p:nvPr/>
        </p:nvSpPr>
        <p:spPr>
          <a:xfrm>
            <a:off x="812800" y="4477742"/>
            <a:ext cx="10566400" cy="416520"/>
          </a:xfrm>
          <a:prstGeom prst="roundRect">
            <a:avLst>
              <a:gd name="adj" fmla="val 18294"/>
            </a:avLst>
          </a:prstGeom>
          <a:solidFill>
            <a:srgbClr val="EFE5EA"/>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услови за увођење AI алата (03)</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Услови за увођење AI алата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AI алати се уводе након успостављања архитектонских граница и тестирања функционалног језгра.</a:t>
            </a:r>
            <a:endParaRPr lang="en-US" sz="1400" dirty="0"/>
          </a:p>
        </p:txBody>
      </p:sp>
      <p:sp>
        <p:nvSpPr>
          <p:cNvPr id="6" name="Shape 4"/>
          <p:cNvSpPr/>
          <p:nvPr/>
        </p:nvSpPr>
        <p:spPr>
          <a:xfrm>
            <a:off x="815975" y="2179836"/>
            <a:ext cx="2379266" cy="813991"/>
          </a:xfrm>
          <a:prstGeom prst="roundRect">
            <a:avLst>
              <a:gd name="adj" fmla="val 12092"/>
            </a:avLst>
          </a:prstGeom>
          <a:solidFill>
            <a:srgbClr val="FCFCFB"/>
          </a:solidFill>
          <a:ln w="6350">
            <a:solidFill>
              <a:srgbClr val="D3DAE1"/>
            </a:solidFill>
            <a:prstDash val="solid"/>
          </a:ln>
        </p:spPr>
      </p:sp>
      <p:sp>
        <p:nvSpPr>
          <p:cNvPr id="7" name="Text 5"/>
          <p:cNvSpPr/>
          <p:nvPr/>
        </p:nvSpPr>
        <p:spPr>
          <a:xfrm>
            <a:off x="984250" y="2335411"/>
            <a:ext cx="8540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Границе</a:t>
            </a:r>
            <a:endParaRPr lang="en-US" sz="1400" dirty="0"/>
          </a:p>
        </p:txBody>
      </p:sp>
      <p:pic>
        <p:nvPicPr>
          <p:cNvPr id="8" name="Image 0" descr="Lock">    </p:cNvPr>
          <p:cNvPicPr>
            <a:picLocks noChangeAspect="1"/>
          </p:cNvPicPr>
          <p:nvPr/>
        </p:nvPicPr>
        <p:blipFill>
          <a:blip r:embed="rId1"/>
          <a:srcRect l="0" r="0" t="0" b="0"/>
          <a:stretch/>
        </p:blipFill>
        <p:spPr>
          <a:xfrm>
            <a:off x="2836466" y="2346821"/>
            <a:ext cx="190500" cy="190500"/>
          </a:xfrm>
          <a:prstGeom prst="rect">
            <a:avLst/>
          </a:prstGeom>
        </p:spPr>
      </p:pic>
      <p:sp>
        <p:nvSpPr>
          <p:cNvPr id="9" name="Text 6"/>
          <p:cNvSpPr/>
          <p:nvPr/>
        </p:nvSpPr>
        <p:spPr>
          <a:xfrm>
            <a:off x="984250" y="2624931"/>
            <a:ext cx="21039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SOLID и Clean Architecture</a:t>
            </a:r>
            <a:endParaRPr lang="en-US" sz="1200" dirty="0"/>
          </a:p>
        </p:txBody>
      </p:sp>
      <p:sp>
        <p:nvSpPr>
          <p:cNvPr id="10" name="Text 7"/>
          <p:cNvSpPr/>
          <p:nvPr/>
        </p:nvSpPr>
        <p:spPr>
          <a:xfrm>
            <a:off x="3287316" y="239127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DAFCA"/>
                </a:solidFill>
                <a:latin typeface="IBM Plex Sans" pitchFamily="34" charset="0"/>
                <a:ea typeface="IBM Plex Sans" pitchFamily="34" charset="-122"/>
                <a:cs typeface="IBM Plex Sans" pitchFamily="34" charset="-120"/>
              </a:rPr>
              <a:t>+</a:t>
            </a:r>
            <a:endParaRPr lang="en-US" sz="2200" dirty="0"/>
          </a:p>
        </p:txBody>
      </p:sp>
      <p:sp>
        <p:nvSpPr>
          <p:cNvPr id="11" name="Shape 8"/>
          <p:cNvSpPr/>
          <p:nvPr/>
        </p:nvSpPr>
        <p:spPr>
          <a:xfrm>
            <a:off x="3547070" y="2179836"/>
            <a:ext cx="2379365" cy="813991"/>
          </a:xfrm>
          <a:prstGeom prst="roundRect">
            <a:avLst>
              <a:gd name="adj" fmla="val 12092"/>
            </a:avLst>
          </a:prstGeom>
          <a:solidFill>
            <a:srgbClr val="FCFCFB"/>
          </a:solidFill>
          <a:ln w="6350">
            <a:solidFill>
              <a:srgbClr val="D3DAE1"/>
            </a:solidFill>
            <a:prstDash val="solid"/>
          </a:ln>
        </p:spPr>
      </p:sp>
      <p:sp>
        <p:nvSpPr>
          <p:cNvPr id="12" name="Text 9"/>
          <p:cNvSpPr/>
          <p:nvPr/>
        </p:nvSpPr>
        <p:spPr>
          <a:xfrm>
            <a:off x="3715345" y="2335411"/>
            <a:ext cx="8115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Тестови</a:t>
            </a:r>
            <a:endParaRPr lang="en-US" sz="1400" dirty="0"/>
          </a:p>
        </p:txBody>
      </p:sp>
      <p:pic>
        <p:nvPicPr>
          <p:cNvPr id="13" name="Image 1" descr="CheckCircle">    </p:cNvPr>
          <p:cNvPicPr>
            <a:picLocks noChangeAspect="1"/>
          </p:cNvPicPr>
          <p:nvPr/>
        </p:nvPicPr>
        <p:blipFill>
          <a:blip r:embed="rId2"/>
          <a:srcRect l="0" r="0" t="0" b="0"/>
          <a:stretch/>
        </p:blipFill>
        <p:spPr>
          <a:xfrm>
            <a:off x="5567660" y="2346821"/>
            <a:ext cx="190500" cy="190500"/>
          </a:xfrm>
          <a:prstGeom prst="rect">
            <a:avLst/>
          </a:prstGeom>
        </p:spPr>
      </p:pic>
      <p:sp>
        <p:nvSpPr>
          <p:cNvPr id="14" name="Text 10"/>
          <p:cNvSpPr/>
          <p:nvPr/>
        </p:nvSpPr>
        <p:spPr>
          <a:xfrm>
            <a:off x="3715345" y="2624931"/>
            <a:ext cx="21040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manual-core-baseline</a:t>
            </a:r>
            <a:endParaRPr lang="en-US" sz="1200" dirty="0"/>
          </a:p>
        </p:txBody>
      </p:sp>
      <p:sp>
        <p:nvSpPr>
          <p:cNvPr id="15" name="Text 11"/>
          <p:cNvSpPr/>
          <p:nvPr/>
        </p:nvSpPr>
        <p:spPr>
          <a:xfrm>
            <a:off x="6018510" y="239127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DAFCA"/>
                </a:solidFill>
                <a:latin typeface="IBM Plex Sans" pitchFamily="34" charset="0"/>
                <a:ea typeface="IBM Plex Sans" pitchFamily="34" charset="-122"/>
                <a:cs typeface="IBM Plex Sans" pitchFamily="34" charset="-120"/>
              </a:rPr>
              <a:t>+</a:t>
            </a:r>
            <a:endParaRPr lang="en-US" sz="2200" dirty="0"/>
          </a:p>
        </p:txBody>
      </p:sp>
      <p:sp>
        <p:nvSpPr>
          <p:cNvPr id="16" name="Shape 12"/>
          <p:cNvSpPr/>
          <p:nvPr/>
        </p:nvSpPr>
        <p:spPr>
          <a:xfrm>
            <a:off x="6278265" y="2179836"/>
            <a:ext cx="2379266" cy="813991"/>
          </a:xfrm>
          <a:prstGeom prst="roundRect">
            <a:avLst>
              <a:gd name="adj" fmla="val 12092"/>
            </a:avLst>
          </a:prstGeom>
          <a:solidFill>
            <a:srgbClr val="FCFCFB"/>
          </a:solidFill>
          <a:ln w="6350">
            <a:solidFill>
              <a:srgbClr val="D3DAE1"/>
            </a:solidFill>
            <a:prstDash val="solid"/>
          </a:ln>
        </p:spPr>
      </p:sp>
      <p:sp>
        <p:nvSpPr>
          <p:cNvPr id="17" name="Text 13"/>
          <p:cNvSpPr/>
          <p:nvPr/>
        </p:nvSpPr>
        <p:spPr>
          <a:xfrm>
            <a:off x="6446540" y="2335411"/>
            <a:ext cx="83248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Уговори</a:t>
            </a:r>
            <a:endParaRPr lang="en-US" sz="1400" dirty="0"/>
          </a:p>
        </p:txBody>
      </p:sp>
      <p:pic>
        <p:nvPicPr>
          <p:cNvPr id="18" name="Image 2" descr="Link">    </p:cNvPr>
          <p:cNvPicPr>
            <a:picLocks noChangeAspect="1"/>
          </p:cNvPicPr>
          <p:nvPr/>
        </p:nvPicPr>
        <p:blipFill>
          <a:blip r:embed="rId3"/>
          <a:srcRect l="0" r="0" t="0" b="0"/>
          <a:stretch/>
        </p:blipFill>
        <p:spPr>
          <a:xfrm>
            <a:off x="8298755" y="2346821"/>
            <a:ext cx="190500" cy="190500"/>
          </a:xfrm>
          <a:prstGeom prst="rect">
            <a:avLst/>
          </a:prstGeom>
        </p:spPr>
      </p:pic>
      <p:sp>
        <p:nvSpPr>
          <p:cNvPr id="19" name="Text 14"/>
          <p:cNvSpPr/>
          <p:nvPr/>
        </p:nvSpPr>
        <p:spPr>
          <a:xfrm>
            <a:off x="6446540" y="2624931"/>
            <a:ext cx="21039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стабилне границе модула</a:t>
            </a:r>
            <a:endParaRPr lang="en-US" sz="1200" dirty="0"/>
          </a:p>
        </p:txBody>
      </p:sp>
      <p:sp>
        <p:nvSpPr>
          <p:cNvPr id="20" name="Text 15"/>
          <p:cNvSpPr/>
          <p:nvPr/>
        </p:nvSpPr>
        <p:spPr>
          <a:xfrm>
            <a:off x="8749605" y="2391271"/>
            <a:ext cx="2184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DAFCA"/>
                </a:solidFill>
                <a:latin typeface="IBM Plex Sans" pitchFamily="34" charset="0"/>
                <a:ea typeface="IBM Plex Sans" pitchFamily="34" charset="-122"/>
                <a:cs typeface="IBM Plex Sans" pitchFamily="34" charset="-120"/>
              </a:rPr>
              <a:t>=</a:t>
            </a:r>
            <a:endParaRPr lang="en-US" sz="2200" dirty="0"/>
          </a:p>
        </p:txBody>
      </p:sp>
      <p:sp>
        <p:nvSpPr>
          <p:cNvPr id="21" name="Shape 16"/>
          <p:cNvSpPr/>
          <p:nvPr/>
        </p:nvSpPr>
        <p:spPr>
          <a:xfrm>
            <a:off x="9006185" y="2176661"/>
            <a:ext cx="2373015" cy="820341"/>
          </a:xfrm>
          <a:prstGeom prst="roundRect">
            <a:avLst>
              <a:gd name="adj" fmla="val 12385"/>
            </a:avLst>
          </a:prstGeom>
          <a:solidFill>
            <a:srgbClr val="A2276F"/>
          </a:solidFill>
          <a:ln/>
        </p:spPr>
      </p:sp>
      <p:sp>
        <p:nvSpPr>
          <p:cNvPr id="22" name="Text 17"/>
          <p:cNvSpPr/>
          <p:nvPr/>
        </p:nvSpPr>
        <p:spPr>
          <a:xfrm>
            <a:off x="9171285" y="2329061"/>
            <a:ext cx="1476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Спремно за AI</a:t>
            </a:r>
            <a:endParaRPr lang="en-US" sz="1400" dirty="0"/>
          </a:p>
        </p:txBody>
      </p:sp>
      <p:pic>
        <p:nvPicPr>
          <p:cNvPr id="23" name="Image 3" descr="Lightning">    </p:cNvPr>
          <p:cNvPicPr>
            <a:picLocks noChangeAspect="1"/>
          </p:cNvPicPr>
          <p:nvPr/>
        </p:nvPicPr>
        <p:blipFill>
          <a:blip r:embed="rId4"/>
          <a:srcRect l="0" r="0" t="0" b="0"/>
          <a:stretch/>
        </p:blipFill>
        <p:spPr>
          <a:xfrm>
            <a:off x="11023600" y="2340471"/>
            <a:ext cx="190500" cy="190500"/>
          </a:xfrm>
          <a:prstGeom prst="rect">
            <a:avLst/>
          </a:prstGeom>
        </p:spPr>
      </p:pic>
      <p:sp>
        <p:nvSpPr>
          <p:cNvPr id="24" name="Text 18"/>
          <p:cNvSpPr/>
          <p:nvPr/>
        </p:nvSpPr>
        <p:spPr>
          <a:xfrm>
            <a:off x="9171285" y="2618581"/>
            <a:ext cx="21040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1EB"/>
                </a:solidFill>
                <a:latin typeface="IBM Plex Sans" pitchFamily="34" charset="0"/>
                <a:ea typeface="IBM Plex Sans" pitchFamily="34" charset="-122"/>
                <a:cs typeface="IBM Plex Sans" pitchFamily="34" charset="-120"/>
              </a:rPr>
              <a:t>резултат је проверљив</a:t>
            </a:r>
            <a:endParaRPr lang="en-US" sz="1200" dirty="0"/>
          </a:p>
        </p:txBody>
      </p:sp>
      <p:sp>
        <p:nvSpPr>
          <p:cNvPr id="25" name="Text 19"/>
          <p:cNvSpPr/>
          <p:nvPr/>
        </p:nvSpPr>
        <p:spPr>
          <a:xfrm>
            <a:off x="815975" y="3254177"/>
            <a:ext cx="10560050" cy="466030"/>
          </a:xfrm>
          <a:prstGeom prst="roundRect">
            <a:avLst>
              <a:gd name="adj" fmla="val 18395"/>
            </a:avLst>
          </a:prstGeom>
          <a:solidFill>
            <a:srgbClr val="FCFCFB"/>
          </a:solidFill>
          <a:ln w="6350">
            <a:solidFill>
              <a:srgbClr val="D3DAE1"/>
            </a:solidFill>
            <a:prstDash val="solid"/>
          </a:ln>
        </p:spPr>
        <p:txBody>
          <a:bodyPr wrap="square" lIns="143167" tIns="92367" rIns="0" bIns="66967"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AI део примера ради у алату Kova за VS Code, а сваки резултат остаје проверљив стандардним развојним сигналима.</a:t>
            </a:r>
            <a:endParaRPr lang="en-US" sz="1300" dirty="0"/>
          </a:p>
        </p:txBody>
      </p:sp>
      <p:sp>
        <p:nvSpPr>
          <p:cNvPr id="26" name="Shape 20"/>
          <p:cNvSpPr/>
          <p:nvPr/>
        </p:nvSpPr>
        <p:spPr>
          <a:xfrm>
            <a:off x="812800" y="3977382"/>
            <a:ext cx="10566400" cy="758130"/>
          </a:xfrm>
          <a:prstGeom prst="roundRect">
            <a:avLst>
              <a:gd name="adj" fmla="val 13401"/>
            </a:avLst>
          </a:prstGeom>
          <a:solidFill>
            <a:srgbClr val="EFE5EA"/>
          </a:solidFill>
          <a:ln/>
        </p:spPr>
      </p:sp>
      <p:sp>
        <p:nvSpPr>
          <p:cNvPr id="27" name="Shape 21"/>
          <p:cNvSpPr/>
          <p:nvPr/>
        </p:nvSpPr>
        <p:spPr>
          <a:xfrm>
            <a:off x="812800" y="3977382"/>
            <a:ext cx="10566400" cy="758130"/>
          </a:xfrm>
          <a:custGeom>
            <a:avLst/>
            <a:gdLst/>
            <a:ahLst/>
            <a:cxnLst/>
            <a:rect l="l" t="t" r="r" b="b"/>
            <a:pathLst>
              <a:path w="10566400" h="758130">
                <a:moveTo>
                  <a:pt x="101600" y="758130"/>
                </a:moveTo>
                <a:lnTo>
                  <a:pt x="101600" y="758130"/>
                </a:lnTo>
                <a:arcTo hR="101600" wR="101600" stAng="5400000" swAng="5400000"/>
                <a:lnTo>
                  <a:pt x="0" y="101600"/>
                </a:lnTo>
                <a:arcTo hR="101600" wR="101600" stAng="10800000" swAng="5400000"/>
                <a:lnTo>
                  <a:pt x="101600" y="0"/>
                </a:lnTo>
                <a:arcTo hR="101600" wR="63500" stAng="16200000" swAng="-5400000"/>
                <a:lnTo>
                  <a:pt x="38100" y="656530"/>
                </a:lnTo>
                <a:arcTo hR="101600" wR="63500" stAng="10800000" swAng="-5400000"/>
                <a:close/>
              </a:path>
            </a:pathLst>
          </a:custGeom>
          <a:solidFill>
            <a:srgbClr val="A2276F"/>
          </a:solidFill>
          <a:ln/>
        </p:spPr>
      </p:sp>
      <p:sp>
        <p:nvSpPr>
          <p:cNvPr id="28" name="Text 22"/>
          <p:cNvSpPr/>
          <p:nvPr/>
        </p:nvSpPr>
        <p:spPr>
          <a:xfrm>
            <a:off x="1054100" y="411708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НАПОМЕНА</a:t>
            </a:r>
            <a:endParaRPr lang="en-US" sz="1200" dirty="0"/>
          </a:p>
        </p:txBody>
      </p:sp>
      <p:sp>
        <p:nvSpPr>
          <p:cNvPr id="29" name="Text 23"/>
          <p:cNvSpPr/>
          <p:nvPr/>
        </p:nvSpPr>
        <p:spPr>
          <a:xfrm>
            <a:off x="1054100" y="435580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Резултати компилације, тестова и git diff-а представљају проверљиве доказе.</a:t>
            </a:r>
            <a:endParaRPr lang="en-US" sz="1400" dirty="0"/>
          </a:p>
        </p:txBody>
      </p:sp>
      <p:sp>
        <p:nvSpPr>
          <p:cNvPr id="30" name="Shape 24"/>
          <p:cNvSpPr/>
          <p:nvPr/>
        </p:nvSpPr>
        <p:spPr>
          <a:xfrm>
            <a:off x="812800" y="6209705"/>
            <a:ext cx="10566400" cy="0"/>
          </a:xfrm>
          <a:prstGeom prst="line">
            <a:avLst/>
          </a:prstGeom>
          <a:noFill/>
          <a:ln w="6350">
            <a:solidFill>
              <a:srgbClr val="D3DAE1"/>
            </a:solidFill>
            <a:prstDash val="solid"/>
          </a:ln>
        </p:spPr>
      </p:sp>
      <p:sp>
        <p:nvSpPr>
          <p:cNvPr id="31"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5EA"/>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A2276F"/>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Задатак и контекст</a:t>
            </a:r>
            <a:endParaRPr lang="en-US" sz="4800" dirty="0"/>
          </a:p>
        </p:txBody>
      </p:sp>
      <p:sp>
        <p:nvSpPr>
          <p:cNvPr id="5" name="Text 3"/>
          <p:cNvSpPr/>
          <p:nvPr/>
        </p:nvSpPr>
        <p:spPr>
          <a:xfrm>
            <a:off x="4267200" y="355024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формулише задатак који AI може да изврши, а тим да провери.</a:t>
            </a:r>
            <a:endParaRPr lang="en-US" sz="1400" dirty="0"/>
          </a:p>
        </p:txBody>
      </p:sp>
      <p:sp>
        <p:nvSpPr>
          <p:cNvPr id="6" name="Text 4"/>
          <p:cNvSpPr/>
          <p:nvPr/>
        </p:nvSpPr>
        <p:spPr>
          <a:xfrm>
            <a:off x="4270375" y="3988991"/>
            <a:ext cx="981373"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Радни ток</a:t>
            </a:r>
            <a:endParaRPr lang="en-US" sz="1200" dirty="0"/>
          </a:p>
        </p:txBody>
      </p:sp>
      <p:sp>
        <p:nvSpPr>
          <p:cNvPr id="7" name="Text 5"/>
          <p:cNvSpPr/>
          <p:nvPr/>
        </p:nvSpPr>
        <p:spPr>
          <a:xfrm>
            <a:off x="5334298" y="3988991"/>
            <a:ext cx="1694954"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Проверљив задатак</a:t>
            </a:r>
            <a:endParaRPr lang="en-US" sz="1200" dirty="0"/>
          </a:p>
        </p:txBody>
      </p:sp>
      <p:sp>
        <p:nvSpPr>
          <p:cNvPr id="8" name="Text 6"/>
          <p:cNvSpPr/>
          <p:nvPr/>
        </p:nvSpPr>
        <p:spPr>
          <a:xfrm>
            <a:off x="7111802" y="3988991"/>
            <a:ext cx="1595140"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Структура задатка</a:t>
            </a:r>
            <a:endParaRPr lang="en-US" sz="1200" dirty="0"/>
          </a:p>
        </p:txBody>
      </p:sp>
      <p:sp>
        <p:nvSpPr>
          <p:cNvPr id="9" name="Text 7"/>
          <p:cNvSpPr/>
          <p:nvPr/>
        </p:nvSpPr>
        <p:spPr>
          <a:xfrm>
            <a:off x="8789491" y="3988991"/>
            <a:ext cx="1012031"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Фазе рада</a:t>
            </a:r>
            <a:endParaRPr lang="en-US" sz="1200" dirty="0"/>
          </a:p>
        </p:txBody>
      </p:sp>
      <p:sp>
        <p:nvSpPr>
          <p:cNvPr id="10" name="Shape 8"/>
          <p:cNvSpPr/>
          <p:nvPr/>
        </p:nvSpPr>
        <p:spPr>
          <a:xfrm>
            <a:off x="812800" y="6209705"/>
            <a:ext cx="10566400" cy="0"/>
          </a:xfrm>
          <a:prstGeom prst="line">
            <a:avLst/>
          </a:prstGeom>
          <a:noFill/>
          <a:ln w="6350">
            <a:solidFill>
              <a:srgbClr val="C6B7C7"/>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01 · ЗАДАТАК И КОНТЕКСТ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Контролисан AI радни ток</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Задатак садржи циљ, контекст, ограничења и поступак провере.</a:t>
            </a:r>
            <a:endParaRPr lang="en-US" sz="1400" dirty="0"/>
          </a:p>
        </p:txBody>
      </p:sp>
      <p:sp>
        <p:nvSpPr>
          <p:cNvPr id="6" name="Shape 4"/>
          <p:cNvSpPr/>
          <p:nvPr/>
        </p:nvSpPr>
        <p:spPr>
          <a:xfrm>
            <a:off x="815975" y="2179836"/>
            <a:ext cx="1784350" cy="1288951"/>
          </a:xfrm>
          <a:prstGeom prst="roundRect">
            <a:avLst>
              <a:gd name="adj" fmla="val 7636"/>
            </a:avLst>
          </a:prstGeom>
          <a:solidFill>
            <a:srgbClr val="FCFCFB"/>
          </a:solidFill>
          <a:ln w="6350">
            <a:solidFill>
              <a:srgbClr val="D3DAE1"/>
            </a:solidFill>
            <a:prstDash val="solid"/>
          </a:ln>
        </p:spPr>
      </p:sp>
      <p:sp>
        <p:nvSpPr>
          <p:cNvPr id="7" name="Shape 5"/>
          <p:cNvSpPr/>
          <p:nvPr/>
        </p:nvSpPr>
        <p:spPr>
          <a:xfrm>
            <a:off x="971550" y="2348111"/>
            <a:ext cx="355600" cy="355600"/>
          </a:xfrm>
          <a:prstGeom prst="roundRect">
            <a:avLst>
              <a:gd name="adj" fmla="val 21429"/>
            </a:avLst>
          </a:prstGeom>
          <a:solidFill>
            <a:srgbClr val="F2E1EB"/>
          </a:solidFill>
          <a:ln/>
        </p:spPr>
      </p:sp>
      <p:pic>
        <p:nvPicPr>
          <p:cNvPr id="8" name="Image 0" descr="Star">    </p:cNvPr>
          <p:cNvPicPr>
            <a:picLocks noChangeAspect="1"/>
          </p:cNvPicPr>
          <p:nvPr/>
        </p:nvPicPr>
        <p:blipFill>
          <a:blip r:embed="rId1"/>
          <a:srcRect l="0" r="0" t="0" b="0"/>
          <a:stretch/>
        </p:blipFill>
        <p:spPr>
          <a:xfrm>
            <a:off x="1047750" y="2424311"/>
            <a:ext cx="203200" cy="203200"/>
          </a:xfrm>
          <a:prstGeom prst="rect">
            <a:avLst/>
          </a:prstGeom>
        </p:spPr>
      </p:pic>
      <p:sp>
        <p:nvSpPr>
          <p:cNvPr id="9" name="Text 6"/>
          <p:cNvSpPr/>
          <p:nvPr/>
        </p:nvSpPr>
        <p:spPr>
          <a:xfrm>
            <a:off x="9715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Задатак</a:t>
            </a:r>
            <a:endParaRPr lang="en-US" sz="1400" dirty="0"/>
          </a:p>
        </p:txBody>
      </p:sp>
      <p:sp>
        <p:nvSpPr>
          <p:cNvPr id="10" name="Text 7"/>
          <p:cNvSpPr/>
          <p:nvPr/>
        </p:nvSpPr>
        <p:spPr>
          <a:xfrm>
            <a:off x="9715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циљ</a:t>
            </a:r>
            <a:endParaRPr lang="en-US" sz="1200" dirty="0"/>
          </a:p>
        </p:txBody>
      </p:sp>
      <p:pic>
        <p:nvPicPr>
          <p:cNvPr id="11" name="Image 1" descr="arrow-right">    </p:cNvPr>
          <p:cNvPicPr>
            <a:picLocks noChangeAspect="1"/>
          </p:cNvPicPr>
          <p:nvPr/>
        </p:nvPicPr>
        <p:blipFill>
          <a:blip r:embed="rId2"/>
          <a:srcRect l="0" r="0" t="0" b="0"/>
          <a:stretch/>
        </p:blipFill>
        <p:spPr>
          <a:xfrm>
            <a:off x="2692400" y="2767112"/>
            <a:ext cx="228600" cy="114300"/>
          </a:xfrm>
          <a:prstGeom prst="rect">
            <a:avLst/>
          </a:prstGeom>
        </p:spPr>
      </p:pic>
      <p:sp>
        <p:nvSpPr>
          <p:cNvPr id="12" name="Shape 8"/>
          <p:cNvSpPr/>
          <p:nvPr/>
        </p:nvSpPr>
        <p:spPr>
          <a:xfrm>
            <a:off x="3013075" y="2179836"/>
            <a:ext cx="1784350" cy="1288951"/>
          </a:xfrm>
          <a:prstGeom prst="roundRect">
            <a:avLst>
              <a:gd name="adj" fmla="val 7636"/>
            </a:avLst>
          </a:prstGeom>
          <a:solidFill>
            <a:srgbClr val="FCFCFB"/>
          </a:solidFill>
          <a:ln w="6350">
            <a:solidFill>
              <a:srgbClr val="D3DAE1"/>
            </a:solidFill>
            <a:prstDash val="solid"/>
          </a:ln>
        </p:spPr>
      </p:sp>
      <p:sp>
        <p:nvSpPr>
          <p:cNvPr id="13" name="Shape 9"/>
          <p:cNvSpPr/>
          <p:nvPr/>
        </p:nvSpPr>
        <p:spPr>
          <a:xfrm>
            <a:off x="3168650" y="2348111"/>
            <a:ext cx="355600" cy="355600"/>
          </a:xfrm>
          <a:prstGeom prst="roundRect">
            <a:avLst>
              <a:gd name="adj" fmla="val 21429"/>
            </a:avLst>
          </a:prstGeom>
          <a:solidFill>
            <a:srgbClr val="F2E1EB"/>
          </a:solidFill>
          <a:ln/>
        </p:spPr>
      </p:sp>
      <p:pic>
        <p:nvPicPr>
          <p:cNvPr id="14" name="Image 2" descr="Book">    </p:cNvPr>
          <p:cNvPicPr>
            <a:picLocks noChangeAspect="1"/>
          </p:cNvPicPr>
          <p:nvPr/>
        </p:nvPicPr>
        <p:blipFill>
          <a:blip r:embed="rId3"/>
          <a:srcRect l="0" r="0" t="0" b="0"/>
          <a:stretch/>
        </p:blipFill>
        <p:spPr>
          <a:xfrm>
            <a:off x="3244850" y="2424311"/>
            <a:ext cx="203200" cy="203200"/>
          </a:xfrm>
          <a:prstGeom prst="rect">
            <a:avLst/>
          </a:prstGeom>
        </p:spPr>
      </p:pic>
      <p:sp>
        <p:nvSpPr>
          <p:cNvPr id="15" name="Text 10"/>
          <p:cNvSpPr/>
          <p:nvPr/>
        </p:nvSpPr>
        <p:spPr>
          <a:xfrm>
            <a:off x="31686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Контекст</a:t>
            </a:r>
            <a:endParaRPr lang="en-US" sz="1400" dirty="0"/>
          </a:p>
        </p:txBody>
      </p:sp>
      <p:sp>
        <p:nvSpPr>
          <p:cNvPr id="16" name="Text 11"/>
          <p:cNvSpPr/>
          <p:nvPr/>
        </p:nvSpPr>
        <p:spPr>
          <a:xfrm>
            <a:off x="31686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фајлови</a:t>
            </a:r>
            <a:endParaRPr lang="en-US" sz="1200" dirty="0"/>
          </a:p>
        </p:txBody>
      </p:sp>
      <p:pic>
        <p:nvPicPr>
          <p:cNvPr id="17" name="Image 3" descr="arrow-right">    </p:cNvPr>
          <p:cNvPicPr>
            <a:picLocks noChangeAspect="1"/>
          </p:cNvPicPr>
          <p:nvPr/>
        </p:nvPicPr>
        <p:blipFill>
          <a:blip r:embed="rId4"/>
          <a:srcRect l="0" r="0" t="0" b="0"/>
          <a:stretch/>
        </p:blipFill>
        <p:spPr>
          <a:xfrm>
            <a:off x="4889500" y="2767112"/>
            <a:ext cx="228600" cy="114300"/>
          </a:xfrm>
          <a:prstGeom prst="rect">
            <a:avLst/>
          </a:prstGeom>
        </p:spPr>
      </p:pic>
      <p:sp>
        <p:nvSpPr>
          <p:cNvPr id="18" name="Shape 12"/>
          <p:cNvSpPr/>
          <p:nvPr/>
        </p:nvSpPr>
        <p:spPr>
          <a:xfrm>
            <a:off x="5210175" y="2179836"/>
            <a:ext cx="1784350" cy="1288951"/>
          </a:xfrm>
          <a:prstGeom prst="roundRect">
            <a:avLst>
              <a:gd name="adj" fmla="val 7636"/>
            </a:avLst>
          </a:prstGeom>
          <a:solidFill>
            <a:srgbClr val="FCFCFB"/>
          </a:solidFill>
          <a:ln w="6350">
            <a:solidFill>
              <a:srgbClr val="D3DAE1"/>
            </a:solidFill>
            <a:prstDash val="solid"/>
          </a:ln>
        </p:spPr>
      </p:sp>
      <p:sp>
        <p:nvSpPr>
          <p:cNvPr id="19" name="Shape 13"/>
          <p:cNvSpPr/>
          <p:nvPr/>
        </p:nvSpPr>
        <p:spPr>
          <a:xfrm>
            <a:off x="5365750" y="2348111"/>
            <a:ext cx="355600" cy="355600"/>
          </a:xfrm>
          <a:prstGeom prst="roundRect">
            <a:avLst>
              <a:gd name="adj" fmla="val 21429"/>
            </a:avLst>
          </a:prstGeom>
          <a:solidFill>
            <a:srgbClr val="F2E1EB"/>
          </a:solidFill>
          <a:ln/>
        </p:spPr>
      </p:sp>
      <p:pic>
        <p:nvPicPr>
          <p:cNvPr id="20" name="Image 4" descr="Lock">    </p:cNvPr>
          <p:cNvPicPr>
            <a:picLocks noChangeAspect="1"/>
          </p:cNvPicPr>
          <p:nvPr/>
        </p:nvPicPr>
        <p:blipFill>
          <a:blip r:embed="rId5"/>
          <a:srcRect l="0" r="0" t="0" b="0"/>
          <a:stretch/>
        </p:blipFill>
        <p:spPr>
          <a:xfrm>
            <a:off x="5441950" y="2424311"/>
            <a:ext cx="203200" cy="203200"/>
          </a:xfrm>
          <a:prstGeom prst="rect">
            <a:avLst/>
          </a:prstGeom>
        </p:spPr>
      </p:pic>
      <p:sp>
        <p:nvSpPr>
          <p:cNvPr id="21" name="Text 14"/>
          <p:cNvSpPr/>
          <p:nvPr/>
        </p:nvSpPr>
        <p:spPr>
          <a:xfrm>
            <a:off x="53657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Инструкције</a:t>
            </a:r>
            <a:endParaRPr lang="en-US" sz="1400" dirty="0"/>
          </a:p>
        </p:txBody>
      </p:sp>
      <p:sp>
        <p:nvSpPr>
          <p:cNvPr id="22" name="Text 15"/>
          <p:cNvSpPr/>
          <p:nvPr/>
        </p:nvSpPr>
        <p:spPr>
          <a:xfrm>
            <a:off x="53657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2276F"/>
                </a:solidFill>
                <a:latin typeface="IBM Plex Mono" pitchFamily="49" charset="0"/>
                <a:ea typeface="IBM Plex Mono" pitchFamily="49" charset="-122"/>
                <a:cs typeface="IBM Plex Mono" pitchFamily="49" charset="-120"/>
              </a:rPr>
              <a:t>AGENTS.md</a:t>
            </a:r>
            <a:endParaRPr lang="en-US" sz="1200" dirty="0"/>
          </a:p>
        </p:txBody>
      </p:sp>
      <p:pic>
        <p:nvPicPr>
          <p:cNvPr id="23" name="Image 5" descr="arrow-right">    </p:cNvPr>
          <p:cNvPicPr>
            <a:picLocks noChangeAspect="1"/>
          </p:cNvPicPr>
          <p:nvPr/>
        </p:nvPicPr>
        <p:blipFill>
          <a:blip r:embed="rId6"/>
          <a:srcRect l="0" r="0" t="0" b="0"/>
          <a:stretch/>
        </p:blipFill>
        <p:spPr>
          <a:xfrm>
            <a:off x="7086600" y="2767112"/>
            <a:ext cx="228600" cy="114300"/>
          </a:xfrm>
          <a:prstGeom prst="rect">
            <a:avLst/>
          </a:prstGeom>
        </p:spPr>
      </p:pic>
      <p:sp>
        <p:nvSpPr>
          <p:cNvPr id="24" name="Shape 16"/>
          <p:cNvSpPr/>
          <p:nvPr/>
        </p:nvSpPr>
        <p:spPr>
          <a:xfrm>
            <a:off x="7407275" y="2179836"/>
            <a:ext cx="1784350" cy="1288951"/>
          </a:xfrm>
          <a:prstGeom prst="roundRect">
            <a:avLst>
              <a:gd name="adj" fmla="val 7636"/>
            </a:avLst>
          </a:prstGeom>
          <a:solidFill>
            <a:srgbClr val="FCFCFB"/>
          </a:solidFill>
          <a:ln w="6350">
            <a:solidFill>
              <a:srgbClr val="D3DAE1"/>
            </a:solidFill>
            <a:prstDash val="solid"/>
          </a:ln>
        </p:spPr>
      </p:sp>
      <p:sp>
        <p:nvSpPr>
          <p:cNvPr id="25" name="Shape 17"/>
          <p:cNvSpPr/>
          <p:nvPr/>
        </p:nvSpPr>
        <p:spPr>
          <a:xfrm>
            <a:off x="7562850" y="2348111"/>
            <a:ext cx="355600" cy="355600"/>
          </a:xfrm>
          <a:prstGeom prst="roundRect">
            <a:avLst>
              <a:gd name="adj" fmla="val 21429"/>
            </a:avLst>
          </a:prstGeom>
          <a:solidFill>
            <a:srgbClr val="FBF1E6"/>
          </a:solidFill>
          <a:ln/>
        </p:spPr>
      </p:sp>
      <p:pic>
        <p:nvPicPr>
          <p:cNvPr id="26" name="Image 6" descr="Settings">    </p:cNvPr>
          <p:cNvPicPr>
            <a:picLocks noChangeAspect="1"/>
          </p:cNvPicPr>
          <p:nvPr/>
        </p:nvPicPr>
        <p:blipFill>
          <a:blip r:embed="rId7"/>
          <a:srcRect l="0" r="0" t="0" b="0"/>
          <a:stretch/>
        </p:blipFill>
        <p:spPr>
          <a:xfrm>
            <a:off x="7639050" y="2424311"/>
            <a:ext cx="203200" cy="203200"/>
          </a:xfrm>
          <a:prstGeom prst="rect">
            <a:avLst/>
          </a:prstGeom>
        </p:spPr>
      </p:pic>
      <p:sp>
        <p:nvSpPr>
          <p:cNvPr id="27" name="Text 18"/>
          <p:cNvSpPr/>
          <p:nvPr/>
        </p:nvSpPr>
        <p:spPr>
          <a:xfrm>
            <a:off x="75628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Skill + режим</a:t>
            </a:r>
            <a:endParaRPr lang="en-US" sz="1400" dirty="0"/>
          </a:p>
        </p:txBody>
      </p:sp>
      <p:sp>
        <p:nvSpPr>
          <p:cNvPr id="28" name="Text 19"/>
          <p:cNvSpPr/>
          <p:nvPr/>
        </p:nvSpPr>
        <p:spPr>
          <a:xfrm>
            <a:off x="75628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520A"/>
                </a:solidFill>
                <a:latin typeface="IBM Plex Mono" pitchFamily="49" charset="0"/>
                <a:ea typeface="IBM Plex Mono" pitchFamily="49" charset="-122"/>
                <a:cs typeface="IBM Plex Mono" pitchFamily="49" charset="-120"/>
              </a:rPr>
              <a:t>.kova/skills</a:t>
            </a:r>
            <a:endParaRPr lang="en-US" sz="1200" dirty="0"/>
          </a:p>
        </p:txBody>
      </p:sp>
      <p:pic>
        <p:nvPicPr>
          <p:cNvPr id="29" name="Image 7" descr="arrow-right">    </p:cNvPr>
          <p:cNvPicPr>
            <a:picLocks noChangeAspect="1"/>
          </p:cNvPicPr>
          <p:nvPr/>
        </p:nvPicPr>
        <p:blipFill>
          <a:blip r:embed="rId8"/>
          <a:srcRect l="0" r="0" t="0" b="0"/>
          <a:stretch/>
        </p:blipFill>
        <p:spPr>
          <a:xfrm>
            <a:off x="9283700" y="2767112"/>
            <a:ext cx="228600" cy="114300"/>
          </a:xfrm>
          <a:prstGeom prst="rect">
            <a:avLst/>
          </a:prstGeom>
        </p:spPr>
      </p:pic>
      <p:sp>
        <p:nvSpPr>
          <p:cNvPr id="30" name="Shape 20"/>
          <p:cNvSpPr/>
          <p:nvPr/>
        </p:nvSpPr>
        <p:spPr>
          <a:xfrm>
            <a:off x="9601200" y="2176661"/>
            <a:ext cx="1778000" cy="1295301"/>
          </a:xfrm>
          <a:prstGeom prst="roundRect">
            <a:avLst>
              <a:gd name="adj" fmla="val 7844"/>
            </a:avLst>
          </a:prstGeom>
          <a:solidFill>
            <a:srgbClr val="A2276F"/>
          </a:solidFill>
          <a:ln/>
        </p:spPr>
      </p:sp>
      <p:sp>
        <p:nvSpPr>
          <p:cNvPr id="31" name="Shape 21"/>
          <p:cNvSpPr/>
          <p:nvPr/>
        </p:nvSpPr>
        <p:spPr>
          <a:xfrm>
            <a:off x="9753600" y="2341761"/>
            <a:ext cx="355600" cy="355600"/>
          </a:xfrm>
          <a:prstGeom prst="roundRect">
            <a:avLst>
              <a:gd name="adj" fmla="val 21429"/>
            </a:avLst>
          </a:prstGeom>
          <a:solidFill>
            <a:srgbClr val="FCFCFB"/>
          </a:solidFill>
          <a:ln/>
        </p:spPr>
      </p:sp>
      <p:pic>
        <p:nvPicPr>
          <p:cNvPr id="32" name="Image 8" descr="CheckCircle">    </p:cNvPr>
          <p:cNvPicPr>
            <a:picLocks noChangeAspect="1"/>
          </p:cNvPicPr>
          <p:nvPr/>
        </p:nvPicPr>
        <p:blipFill>
          <a:blip r:embed="rId9"/>
          <a:srcRect l="0" r="0" t="0" b="0"/>
          <a:stretch/>
        </p:blipFill>
        <p:spPr>
          <a:xfrm>
            <a:off x="9829800" y="2417961"/>
            <a:ext cx="203200" cy="203200"/>
          </a:xfrm>
          <a:prstGeom prst="rect">
            <a:avLst/>
          </a:prstGeom>
        </p:spPr>
      </p:pic>
      <p:sp>
        <p:nvSpPr>
          <p:cNvPr id="33" name="Text 22"/>
          <p:cNvSpPr/>
          <p:nvPr/>
        </p:nvSpPr>
        <p:spPr>
          <a:xfrm>
            <a:off x="9753600" y="278626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Провера</a:t>
            </a:r>
            <a:endParaRPr lang="en-US" sz="1400" dirty="0"/>
          </a:p>
        </p:txBody>
      </p:sp>
      <p:sp>
        <p:nvSpPr>
          <p:cNvPr id="34" name="Text 23"/>
          <p:cNvSpPr/>
          <p:nvPr/>
        </p:nvSpPr>
        <p:spPr>
          <a:xfrm>
            <a:off x="9753600" y="308848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E1EB"/>
                </a:solidFill>
                <a:latin typeface="IBM Plex Sans" pitchFamily="34" charset="0"/>
                <a:ea typeface="IBM Plex Sans" pitchFamily="34" charset="-122"/>
                <a:cs typeface="IBM Plex Sans" pitchFamily="34" charset="-120"/>
              </a:rPr>
              <a:t>build и test</a:t>
            </a:r>
            <a:endParaRPr lang="en-US" sz="1200" dirty="0"/>
          </a:p>
        </p:txBody>
      </p:sp>
      <p:sp>
        <p:nvSpPr>
          <p:cNvPr id="35" name="Shape 24"/>
          <p:cNvSpPr/>
          <p:nvPr/>
        </p:nvSpPr>
        <p:spPr>
          <a:xfrm>
            <a:off x="812800" y="3725962"/>
            <a:ext cx="10566400" cy="783530"/>
          </a:xfrm>
          <a:prstGeom prst="roundRect">
            <a:avLst>
              <a:gd name="adj" fmla="val 12967"/>
            </a:avLst>
          </a:prstGeom>
          <a:solidFill>
            <a:srgbClr val="EFE5EA"/>
          </a:solidFill>
          <a:ln/>
        </p:spPr>
      </p:sp>
      <p:sp>
        <p:nvSpPr>
          <p:cNvPr id="36" name="Shape 25"/>
          <p:cNvSpPr/>
          <p:nvPr/>
        </p:nvSpPr>
        <p:spPr>
          <a:xfrm>
            <a:off x="812800" y="37259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A2276F"/>
          </a:solidFill>
          <a:ln/>
        </p:spPr>
      </p:sp>
      <p:sp>
        <p:nvSpPr>
          <p:cNvPr id="37" name="Text 26"/>
          <p:cNvSpPr/>
          <p:nvPr/>
        </p:nvSpPr>
        <p:spPr>
          <a:xfrm>
            <a:off x="1054100" y="38783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НАПОМЕНА</a:t>
            </a:r>
            <a:endParaRPr lang="en-US" sz="1200" dirty="0"/>
          </a:p>
        </p:txBody>
      </p:sp>
      <p:sp>
        <p:nvSpPr>
          <p:cNvPr id="38" name="Text 27"/>
          <p:cNvSpPr/>
          <p:nvPr/>
        </p:nvSpPr>
        <p:spPr>
          <a:xfrm>
            <a:off x="1054100" y="41170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AI радни ток је дефинисан инжењерски поступак.</a:t>
            </a:r>
            <a:endParaRPr lang="en-US" sz="1400" dirty="0"/>
          </a:p>
        </p:txBody>
      </p:sp>
      <p:sp>
        <p:nvSpPr>
          <p:cNvPr id="39" name="Shape 28"/>
          <p:cNvSpPr/>
          <p:nvPr/>
        </p:nvSpPr>
        <p:spPr>
          <a:xfrm>
            <a:off x="812800" y="6209705"/>
            <a:ext cx="10566400" cy="0"/>
          </a:xfrm>
          <a:prstGeom prst="line">
            <a:avLst/>
          </a:prstGeom>
          <a:noFill/>
          <a:ln w="6350">
            <a:solidFill>
              <a:srgbClr val="D3DAE1"/>
            </a:solidFill>
            <a:prstDash val="solid"/>
          </a:ln>
        </p:spPr>
      </p:sp>
      <p:sp>
        <p:nvSpPr>
          <p:cNvPr id="40"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01 · ЗАДАТАК И КОНТЕКСТ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Дефинисање проверљивог задатка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Задатак прецизира измену, дозвољени обим и критеријуме провере.</a:t>
            </a:r>
            <a:endParaRPr lang="en-US" sz="1400" dirty="0"/>
          </a:p>
        </p:txBody>
      </p:sp>
      <p:sp>
        <p:nvSpPr>
          <p:cNvPr id="6" name="Shape 4"/>
          <p:cNvSpPr/>
          <p:nvPr/>
        </p:nvSpPr>
        <p:spPr>
          <a:xfrm>
            <a:off x="815975" y="2129036"/>
            <a:ext cx="7105650" cy="2607270"/>
          </a:xfrm>
          <a:prstGeom prst="roundRect">
            <a:avLst>
              <a:gd name="adj" fmla="val 3775"/>
            </a:avLst>
          </a:prstGeom>
          <a:solidFill>
            <a:srgbClr val="FCFCFB"/>
          </a:solidFill>
          <a:ln w="6350">
            <a:solidFill>
              <a:srgbClr val="D3DAE1"/>
            </a:solidFill>
            <a:prstDash val="solid"/>
          </a:ln>
        </p:spPr>
      </p:sp>
      <p:sp>
        <p:nvSpPr>
          <p:cNvPr id="7" name="Text 5"/>
          <p:cNvSpPr/>
          <p:nvPr/>
        </p:nvSpPr>
        <p:spPr>
          <a:xfrm>
            <a:off x="1022350" y="2284611"/>
            <a:ext cx="6893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markdown · задатак за агента</a:t>
            </a:r>
            <a:endParaRPr lang="en-US" sz="1200" dirty="0"/>
          </a:p>
        </p:txBody>
      </p:sp>
      <p:sp>
        <p:nvSpPr>
          <p:cNvPr id="8" name="Text 6"/>
          <p:cNvSpPr/>
          <p:nvPr/>
        </p:nvSpPr>
        <p:spPr>
          <a:xfrm>
            <a:off x="10223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2276F"/>
                </a:solidFill>
                <a:latin typeface="IBM Plex Mono" pitchFamily="49" charset="0"/>
                <a:ea typeface="IBM Plex Mono" pitchFamily="49" charset="-122"/>
                <a:cs typeface="IBM Plex Mono" pitchFamily="49" charset="-120"/>
              </a:rPr>
              <a:t># Задатак</a:t>
            </a:r>
            <a:endParaRPr lang="en-US" sz="1200" dirty="0"/>
          </a:p>
        </p:txBody>
      </p:sp>
      <p:sp>
        <p:nvSpPr>
          <p:cNvPr id="10" name="Text 8"/>
          <p:cNvSpPr/>
          <p:nvPr/>
        </p:nvSpPr>
        <p:spPr>
          <a:xfrm>
            <a:off x="10223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2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Једна резервација не сме тражити више од 5 комада опреме.</a:t>
            </a:r>
            <a:endParaRPr lang="en-US" sz="1200" dirty="0"/>
          </a:p>
        </p:txBody>
      </p:sp>
      <p:sp>
        <p:nvSpPr>
          <p:cNvPr id="12" name="Text 10"/>
          <p:cNvSpPr/>
          <p:nvPr/>
        </p:nvSpPr>
        <p:spPr>
          <a:xfrm>
            <a:off x="10223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8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8520A"/>
                </a:solidFill>
                <a:latin typeface="IBM Plex Mono" pitchFamily="49" charset="0"/>
                <a:ea typeface="IBM Plex Mono" pitchFamily="49" charset="-122"/>
                <a:cs typeface="IBM Plex Mono" pitchFamily="49" charset="-120"/>
              </a:rPr>
              <a:t>Не мењај код у овој фази.</a:t>
            </a:r>
            <a:endParaRPr lang="en-US" sz="1200" dirty="0"/>
          </a:p>
        </p:txBody>
      </p:sp>
      <p:sp>
        <p:nvSpPr>
          <p:cNvPr id="14" name="Text 12"/>
          <p:cNvSpPr/>
          <p:nvPr/>
        </p:nvSpPr>
        <p:spPr>
          <a:xfrm>
            <a:off x="10223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0223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590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2276F"/>
                </a:solidFill>
                <a:latin typeface="IBM Plex Mono" pitchFamily="49" charset="0"/>
                <a:ea typeface="IBM Plex Mono" pitchFamily="49" charset="-122"/>
                <a:cs typeface="IBM Plex Mono" pitchFamily="49" charset="-120"/>
              </a:rPr>
              <a:t># Ограничења</a:t>
            </a:r>
            <a:endParaRPr lang="en-US" sz="1200" dirty="0"/>
          </a:p>
        </p:txBody>
      </p:sp>
      <p:sp>
        <p:nvSpPr>
          <p:cNvPr id="17" name="Text 15"/>
          <p:cNvSpPr/>
          <p:nvPr/>
        </p:nvSpPr>
        <p:spPr>
          <a:xfrm>
            <a:off x="10223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403350" y="384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Правило остаје у Domain/Application делу.</a:t>
            </a:r>
            <a:endParaRPr lang="en-US" sz="1200" dirty="0"/>
          </a:p>
        </p:txBody>
      </p:sp>
      <p:sp>
        <p:nvSpPr>
          <p:cNvPr id="19" name="Text 17"/>
          <p:cNvSpPr/>
          <p:nvPr/>
        </p:nvSpPr>
        <p:spPr>
          <a:xfrm>
            <a:off x="1022350" y="409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403350" y="409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API не сме садржати пословну одлуку.</a:t>
            </a:r>
            <a:endParaRPr lang="en-US" sz="1200" dirty="0"/>
          </a:p>
        </p:txBody>
      </p:sp>
      <p:sp>
        <p:nvSpPr>
          <p:cNvPr id="21" name="Text 19"/>
          <p:cNvSpPr/>
          <p:nvPr/>
        </p:nvSpPr>
        <p:spPr>
          <a:xfrm>
            <a:off x="1022350" y="435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35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Постојећи тестови морају остати успешни.</a:t>
            </a:r>
            <a:endParaRPr lang="en-US" sz="1200" dirty="0"/>
          </a:p>
        </p:txBody>
      </p:sp>
      <p:sp>
        <p:nvSpPr>
          <p:cNvPr id="23" name="Text 21"/>
          <p:cNvSpPr/>
          <p:nvPr/>
        </p:nvSpPr>
        <p:spPr>
          <a:xfrm>
            <a:off x="8204200" y="21258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4" name="Shape 22"/>
          <p:cNvSpPr/>
          <p:nvPr/>
        </p:nvSpPr>
        <p:spPr>
          <a:xfrm>
            <a:off x="8216900" y="2466181"/>
            <a:ext cx="0" cy="256480"/>
          </a:xfrm>
          <a:prstGeom prst="line">
            <a:avLst/>
          </a:prstGeom>
          <a:noFill/>
          <a:ln w="25400">
            <a:solidFill>
              <a:srgbClr val="A2276F"/>
            </a:solidFill>
            <a:prstDash val="solid"/>
          </a:ln>
        </p:spPr>
      </p:sp>
      <p:sp>
        <p:nvSpPr>
          <p:cNvPr id="25" name="Text 23"/>
          <p:cNvSpPr/>
          <p:nvPr/>
        </p:nvSpPr>
        <p:spPr>
          <a:xfrm>
            <a:off x="8369300" y="247888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Прво анализа, затим измена.</a:t>
            </a:r>
            <a:endParaRPr lang="en-US" sz="1300" dirty="0"/>
          </a:p>
        </p:txBody>
      </p:sp>
      <p:sp>
        <p:nvSpPr>
          <p:cNvPr id="26" name="Shape 24"/>
          <p:cNvSpPr/>
          <p:nvPr/>
        </p:nvSpPr>
        <p:spPr>
          <a:xfrm>
            <a:off x="8216900" y="2849662"/>
            <a:ext cx="0" cy="256480"/>
          </a:xfrm>
          <a:prstGeom prst="line">
            <a:avLst/>
          </a:prstGeom>
          <a:noFill/>
          <a:ln w="25400">
            <a:solidFill>
              <a:srgbClr val="A2276F"/>
            </a:solidFill>
            <a:prstDash val="solid"/>
          </a:ln>
        </p:spPr>
      </p:sp>
      <p:sp>
        <p:nvSpPr>
          <p:cNvPr id="27" name="Text 25"/>
          <p:cNvSpPr/>
          <p:nvPr/>
        </p:nvSpPr>
        <p:spPr>
          <a:xfrm>
            <a:off x="8369300" y="2862362"/>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Ограничења чувају архитектуру.</a:t>
            </a:r>
            <a:endParaRPr lang="en-US" sz="1300" dirty="0"/>
          </a:p>
        </p:txBody>
      </p:sp>
      <p:sp>
        <p:nvSpPr>
          <p:cNvPr id="28" name="Shape 26"/>
          <p:cNvSpPr/>
          <p:nvPr/>
        </p:nvSpPr>
        <p:spPr>
          <a:xfrm>
            <a:off x="8216900" y="3233142"/>
            <a:ext cx="0" cy="487561"/>
          </a:xfrm>
          <a:prstGeom prst="line">
            <a:avLst/>
          </a:prstGeom>
          <a:noFill/>
          <a:ln w="25400">
            <a:solidFill>
              <a:srgbClr val="E07B1F"/>
            </a:solidFill>
            <a:prstDash val="solid"/>
          </a:ln>
        </p:spPr>
      </p:sp>
      <p:sp>
        <p:nvSpPr>
          <p:cNvPr id="29" name="Text 27"/>
          <p:cNvSpPr/>
          <p:nvPr/>
        </p:nvSpPr>
        <p:spPr>
          <a:xfrm>
            <a:off x="8369300" y="324584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План се прегледа пре дозволе за писање.</a:t>
            </a:r>
            <a:endParaRPr lang="en-US" sz="13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01 · ЗАДАТАК И КОНТЕКСТ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Структура AI задатка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Потпун задатак обухвата понашање, границе измене, доказе и ограничења.</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Понашање</a:t>
            </a:r>
            <a:endParaRPr lang="en-US" sz="1600" dirty="0"/>
          </a:p>
        </p:txBody>
      </p:sp>
      <p:sp>
        <p:nvSpPr>
          <p:cNvPr id="9" name="Text 7"/>
          <p:cNvSpPr/>
          <p:nvPr/>
        </p:nvSpPr>
        <p:spPr>
          <a:xfrm>
            <a:off x="15101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шта се мења у систему</a:t>
            </a:r>
            <a:endParaRPr lang="en-US" sz="1300" dirty="0"/>
          </a:p>
        </p:txBody>
      </p:sp>
      <p:sp>
        <p:nvSpPr>
          <p:cNvPr id="10" name="Shape 8"/>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1" name="Text 9"/>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695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Границе</a:t>
            </a:r>
            <a:endParaRPr lang="en-US" sz="1600" dirty="0"/>
          </a:p>
        </p:txBody>
      </p:sp>
      <p:sp>
        <p:nvSpPr>
          <p:cNvPr id="13" name="Text 11"/>
          <p:cNvSpPr/>
          <p:nvPr/>
        </p:nvSpPr>
        <p:spPr>
          <a:xfrm>
            <a:off x="68695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који слојеви смеју да се мењају</a:t>
            </a:r>
            <a:endParaRPr lang="en-US" sz="1300" dirty="0"/>
          </a:p>
        </p:txBody>
      </p:sp>
      <p:sp>
        <p:nvSpPr>
          <p:cNvPr id="14" name="Shape 12"/>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5" name="Text 13"/>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Доказ</a:t>
            </a:r>
            <a:endParaRPr lang="en-US" sz="1600" dirty="0"/>
          </a:p>
        </p:txBody>
      </p:sp>
      <p:sp>
        <p:nvSpPr>
          <p:cNvPr id="17" name="Text 15"/>
          <p:cNvSpPr/>
          <p:nvPr/>
        </p:nvSpPr>
        <p:spPr>
          <a:xfrm>
            <a:off x="15101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које команде и тестови потврђују резултат</a:t>
            </a:r>
            <a:endParaRPr lang="en-US" sz="1300" dirty="0"/>
          </a:p>
        </p:txBody>
      </p:sp>
      <p:sp>
        <p:nvSpPr>
          <p:cNvPr id="18" name="Shape 16"/>
          <p:cNvSpPr/>
          <p:nvPr/>
        </p:nvSpPr>
        <p:spPr>
          <a:xfrm>
            <a:off x="6175375" y="3226197"/>
            <a:ext cx="5200650" cy="887611"/>
          </a:xfrm>
          <a:prstGeom prst="roundRect">
            <a:avLst>
              <a:gd name="adj" fmla="val 11089"/>
            </a:avLst>
          </a:prstGeom>
          <a:solidFill>
            <a:srgbClr val="FCFCFB"/>
          </a:solidFill>
          <a:ln w="6350">
            <a:solidFill>
              <a:srgbClr val="D3DAE1"/>
            </a:solidFill>
            <a:prstDash val="solid"/>
          </a:ln>
        </p:spPr>
      </p:sp>
      <p:sp>
        <p:nvSpPr>
          <p:cNvPr id="19" name="Text 17"/>
          <p:cNvSpPr/>
          <p:nvPr/>
        </p:nvSpPr>
        <p:spPr>
          <a:xfrm>
            <a:off x="63817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695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Излаз</a:t>
            </a:r>
            <a:endParaRPr lang="en-US" sz="1600" dirty="0"/>
          </a:p>
        </p:txBody>
      </p:sp>
      <p:sp>
        <p:nvSpPr>
          <p:cNvPr id="21" name="Text 19"/>
          <p:cNvSpPr/>
          <p:nvPr/>
        </p:nvSpPr>
        <p:spPr>
          <a:xfrm>
            <a:off x="68695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план, ризици, фајлови и сценарији</a:t>
            </a:r>
            <a:endParaRPr lang="en-US" sz="13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01 · ЗАДАТАК И КОНТЕКСТ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Фазе рада са агентом</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Између анализе и писања кода стоји одлука човека.</a:t>
            </a:r>
            <a:endParaRPr lang="en-US" sz="1400" dirty="0"/>
          </a:p>
        </p:txBody>
      </p:sp>
      <p:sp>
        <p:nvSpPr>
          <p:cNvPr id="6" name="Shape 4"/>
          <p:cNvSpPr/>
          <p:nvPr/>
        </p:nvSpPr>
        <p:spPr>
          <a:xfrm>
            <a:off x="815975" y="2179836"/>
            <a:ext cx="1807170" cy="1301552"/>
          </a:xfrm>
          <a:prstGeom prst="roundRect">
            <a:avLst>
              <a:gd name="adj" fmla="val 7562"/>
            </a:avLst>
          </a:prstGeom>
          <a:solidFill>
            <a:srgbClr val="FCFCFB"/>
          </a:solidFill>
          <a:ln w="6350">
            <a:solidFill>
              <a:srgbClr val="D3DAE1"/>
            </a:solidFill>
            <a:prstDash val="solid"/>
          </a:ln>
        </p:spPr>
      </p:sp>
      <p:sp>
        <p:nvSpPr>
          <p:cNvPr id="7" name="Text 5"/>
          <p:cNvSpPr/>
          <p:nvPr/>
        </p:nvSpPr>
        <p:spPr>
          <a:xfrm>
            <a:off x="958850" y="233541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2276F"/>
                </a:solidFill>
                <a:latin typeface="IBM Plex Mono" pitchFamily="49" charset="0"/>
                <a:ea typeface="IBM Plex Mono" pitchFamily="49" charset="-122"/>
                <a:cs typeface="IBM Plex Mono" pitchFamily="49" charset="-120"/>
              </a:rPr>
              <a:t>Plan</a:t>
            </a:r>
            <a:endParaRPr lang="en-US" sz="1200" dirty="0"/>
          </a:p>
        </p:txBody>
      </p:sp>
      <p:sp>
        <p:nvSpPr>
          <p:cNvPr id="8" name="Text 6"/>
          <p:cNvSpPr/>
          <p:nvPr/>
        </p:nvSpPr>
        <p:spPr>
          <a:xfrm>
            <a:off x="958850" y="2624931"/>
            <a:ext cx="15722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Анализа</a:t>
            </a:r>
            <a:endParaRPr lang="en-US" sz="1400" dirty="0"/>
          </a:p>
        </p:txBody>
      </p:sp>
      <p:sp>
        <p:nvSpPr>
          <p:cNvPr id="9" name="Text 7"/>
          <p:cNvSpPr/>
          <p:nvPr/>
        </p:nvSpPr>
        <p:spPr>
          <a:xfrm>
            <a:off x="958850" y="2914452"/>
            <a:ext cx="15722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агент само чита и предлаже план</a:t>
            </a:r>
            <a:endParaRPr lang="en-US" sz="1200" dirty="0"/>
          </a:p>
        </p:txBody>
      </p:sp>
      <p:pic>
        <p:nvPicPr>
          <p:cNvPr id="10" name="Image 0" descr="arrow-right">    </p:cNvPr>
          <p:cNvPicPr>
            <a:picLocks noChangeAspect="1"/>
          </p:cNvPicPr>
          <p:nvPr/>
        </p:nvPicPr>
        <p:blipFill>
          <a:blip r:embed="rId1"/>
          <a:srcRect l="0" r="0" t="0" b="0"/>
          <a:stretch/>
        </p:blipFill>
        <p:spPr>
          <a:xfrm>
            <a:off x="2702520" y="2773462"/>
            <a:ext cx="228600" cy="114300"/>
          </a:xfrm>
          <a:prstGeom prst="rect">
            <a:avLst/>
          </a:prstGeom>
        </p:spPr>
      </p:pic>
      <p:sp>
        <p:nvSpPr>
          <p:cNvPr id="11" name="Shape 8"/>
          <p:cNvSpPr/>
          <p:nvPr/>
        </p:nvSpPr>
        <p:spPr>
          <a:xfrm>
            <a:off x="3007320" y="2176661"/>
            <a:ext cx="1800920" cy="1307902"/>
          </a:xfrm>
          <a:prstGeom prst="roundRect">
            <a:avLst>
              <a:gd name="adj" fmla="val 7768"/>
            </a:avLst>
          </a:prstGeom>
          <a:solidFill>
            <a:srgbClr val="13202D"/>
          </a:solidFill>
          <a:ln/>
        </p:spPr>
      </p:sp>
      <p:pic>
        <p:nvPicPr>
          <p:cNvPr id="12" name="Image 1" descr="Lock">    </p:cNvPr>
          <p:cNvPicPr>
            <a:picLocks noChangeAspect="1"/>
          </p:cNvPicPr>
          <p:nvPr/>
        </p:nvPicPr>
        <p:blipFill>
          <a:blip r:embed="rId2"/>
          <a:srcRect l="0" r="0" t="0" b="0"/>
          <a:stretch/>
        </p:blipFill>
        <p:spPr>
          <a:xfrm>
            <a:off x="3147020" y="2346821"/>
            <a:ext cx="177800" cy="177800"/>
          </a:xfrm>
          <a:prstGeom prst="rect">
            <a:avLst/>
          </a:prstGeom>
        </p:spPr>
      </p:pic>
      <p:sp>
        <p:nvSpPr>
          <p:cNvPr id="13" name="Text 9"/>
          <p:cNvSpPr/>
          <p:nvPr/>
        </p:nvSpPr>
        <p:spPr>
          <a:xfrm>
            <a:off x="3388320" y="2329061"/>
            <a:ext cx="6584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DAFCA"/>
                </a:solidFill>
                <a:latin typeface="IBM Plex Mono" pitchFamily="49" charset="0"/>
                <a:ea typeface="IBM Plex Mono" pitchFamily="49" charset="-122"/>
                <a:cs typeface="IBM Plex Mono" pitchFamily="49" charset="-120"/>
              </a:rPr>
              <a:t>капија</a:t>
            </a:r>
            <a:endParaRPr lang="en-US" sz="1200" dirty="0"/>
          </a:p>
        </p:txBody>
      </p:sp>
      <p:sp>
        <p:nvSpPr>
          <p:cNvPr id="14" name="Text 10"/>
          <p:cNvSpPr/>
          <p:nvPr/>
        </p:nvSpPr>
        <p:spPr>
          <a:xfrm>
            <a:off x="3147020" y="2618581"/>
            <a:ext cx="15723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Одобрење</a:t>
            </a:r>
            <a:endParaRPr lang="en-US" sz="1400" dirty="0"/>
          </a:p>
        </p:txBody>
      </p:sp>
      <p:sp>
        <p:nvSpPr>
          <p:cNvPr id="15" name="Text 11"/>
          <p:cNvSpPr/>
          <p:nvPr/>
        </p:nvSpPr>
        <p:spPr>
          <a:xfrm>
            <a:off x="3147020" y="2908102"/>
            <a:ext cx="15723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E1EB"/>
                </a:solidFill>
                <a:latin typeface="IBM Plex Sans" pitchFamily="34" charset="0"/>
                <a:ea typeface="IBM Plex Sans" pitchFamily="34" charset="-122"/>
                <a:cs typeface="IBM Plex Sans" pitchFamily="34" charset="-120"/>
              </a:rPr>
              <a:t>тим прегледа и прихвата план</a:t>
            </a:r>
            <a:endParaRPr lang="en-US" sz="1200" dirty="0"/>
          </a:p>
        </p:txBody>
      </p:sp>
      <p:pic>
        <p:nvPicPr>
          <p:cNvPr id="16" name="Image 2" descr="arrow-right">    </p:cNvPr>
          <p:cNvPicPr>
            <a:picLocks noChangeAspect="1"/>
          </p:cNvPicPr>
          <p:nvPr/>
        </p:nvPicPr>
        <p:blipFill>
          <a:blip r:embed="rId3"/>
          <a:srcRect l="0" r="0" t="0" b="0"/>
          <a:stretch/>
        </p:blipFill>
        <p:spPr>
          <a:xfrm>
            <a:off x="4884440" y="2773462"/>
            <a:ext cx="228600" cy="114300"/>
          </a:xfrm>
          <a:prstGeom prst="rect">
            <a:avLst/>
          </a:prstGeom>
        </p:spPr>
      </p:pic>
      <p:sp>
        <p:nvSpPr>
          <p:cNvPr id="17" name="Shape 12"/>
          <p:cNvSpPr/>
          <p:nvPr/>
        </p:nvSpPr>
        <p:spPr>
          <a:xfrm>
            <a:off x="5192415" y="2179836"/>
            <a:ext cx="1807170" cy="1301552"/>
          </a:xfrm>
          <a:prstGeom prst="roundRect">
            <a:avLst>
              <a:gd name="adj" fmla="val 7562"/>
            </a:avLst>
          </a:prstGeom>
          <a:solidFill>
            <a:srgbClr val="FCFCFB"/>
          </a:solidFill>
          <a:ln w="6350">
            <a:solidFill>
              <a:srgbClr val="D3DAE1"/>
            </a:solidFill>
            <a:prstDash val="solid"/>
          </a:ln>
        </p:spPr>
      </p:sp>
      <p:sp>
        <p:nvSpPr>
          <p:cNvPr id="18" name="Text 13"/>
          <p:cNvSpPr/>
          <p:nvPr/>
        </p:nvSpPr>
        <p:spPr>
          <a:xfrm>
            <a:off x="5335290" y="233541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Manual</a:t>
            </a:r>
            <a:endParaRPr lang="en-US" sz="1200" dirty="0"/>
          </a:p>
        </p:txBody>
      </p:sp>
      <p:sp>
        <p:nvSpPr>
          <p:cNvPr id="19" name="Text 14"/>
          <p:cNvSpPr/>
          <p:nvPr/>
        </p:nvSpPr>
        <p:spPr>
          <a:xfrm>
            <a:off x="5335290" y="2624931"/>
            <a:ext cx="15722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Измена</a:t>
            </a:r>
            <a:endParaRPr lang="en-US" sz="1400" dirty="0"/>
          </a:p>
        </p:txBody>
      </p:sp>
      <p:sp>
        <p:nvSpPr>
          <p:cNvPr id="20" name="Text 15"/>
          <p:cNvSpPr/>
          <p:nvPr/>
        </p:nvSpPr>
        <p:spPr>
          <a:xfrm>
            <a:off x="5335290" y="2914452"/>
            <a:ext cx="15722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само фајлови из усвојеног плана</a:t>
            </a:r>
            <a:endParaRPr lang="en-US" sz="1200" dirty="0"/>
          </a:p>
        </p:txBody>
      </p:sp>
      <p:pic>
        <p:nvPicPr>
          <p:cNvPr id="21" name="Image 3" descr="arrow-right">    </p:cNvPr>
          <p:cNvPicPr>
            <a:picLocks noChangeAspect="1"/>
          </p:cNvPicPr>
          <p:nvPr/>
        </p:nvPicPr>
        <p:blipFill>
          <a:blip r:embed="rId4"/>
          <a:srcRect l="0" r="0" t="0" b="0"/>
          <a:stretch/>
        </p:blipFill>
        <p:spPr>
          <a:xfrm>
            <a:off x="7078960" y="2773462"/>
            <a:ext cx="228600" cy="114300"/>
          </a:xfrm>
          <a:prstGeom prst="rect">
            <a:avLst/>
          </a:prstGeom>
        </p:spPr>
      </p:pic>
      <p:sp>
        <p:nvSpPr>
          <p:cNvPr id="22" name="Shape 16"/>
          <p:cNvSpPr/>
          <p:nvPr/>
        </p:nvSpPr>
        <p:spPr>
          <a:xfrm>
            <a:off x="7386935" y="2179836"/>
            <a:ext cx="1807270" cy="1301552"/>
          </a:xfrm>
          <a:prstGeom prst="roundRect">
            <a:avLst>
              <a:gd name="adj" fmla="val 7562"/>
            </a:avLst>
          </a:prstGeom>
          <a:solidFill>
            <a:srgbClr val="FCFCFB"/>
          </a:solidFill>
          <a:ln w="6350">
            <a:solidFill>
              <a:srgbClr val="D3DAE1"/>
            </a:solidFill>
            <a:prstDash val="solid"/>
          </a:ln>
        </p:spPr>
      </p:sp>
      <p:sp>
        <p:nvSpPr>
          <p:cNvPr id="23" name="Text 17"/>
          <p:cNvSpPr/>
          <p:nvPr/>
        </p:nvSpPr>
        <p:spPr>
          <a:xfrm>
            <a:off x="7529810" y="2335411"/>
            <a:ext cx="15723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2276F"/>
                </a:solidFill>
                <a:latin typeface="IBM Plex Mono" pitchFamily="49" charset="0"/>
                <a:ea typeface="IBM Plex Mono" pitchFamily="49" charset="-122"/>
                <a:cs typeface="IBM Plex Mono" pitchFamily="49" charset="-120"/>
              </a:rPr>
              <a:t>сигнали</a:t>
            </a:r>
            <a:endParaRPr lang="en-US" sz="1200" dirty="0"/>
          </a:p>
        </p:txBody>
      </p:sp>
      <p:sp>
        <p:nvSpPr>
          <p:cNvPr id="24" name="Text 18"/>
          <p:cNvSpPr/>
          <p:nvPr/>
        </p:nvSpPr>
        <p:spPr>
          <a:xfrm>
            <a:off x="7529810" y="2624931"/>
            <a:ext cx="15723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p>
        </p:txBody>
      </p:sp>
      <p:sp>
        <p:nvSpPr>
          <p:cNvPr id="25" name="Text 19"/>
          <p:cNvSpPr/>
          <p:nvPr/>
        </p:nvSpPr>
        <p:spPr>
          <a:xfrm>
            <a:off x="7529810" y="2914452"/>
            <a:ext cx="15723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build, test и diff</a:t>
            </a:r>
            <a:endParaRPr lang="en-US" sz="1200" dirty="0"/>
          </a:p>
        </p:txBody>
      </p:sp>
      <p:pic>
        <p:nvPicPr>
          <p:cNvPr id="26" name="Image 4" descr="arrow-right">    </p:cNvPr>
          <p:cNvPicPr>
            <a:picLocks noChangeAspect="1"/>
          </p:cNvPicPr>
          <p:nvPr/>
        </p:nvPicPr>
        <p:blipFill>
          <a:blip r:embed="rId5"/>
          <a:srcRect l="0" r="0" t="0" b="0"/>
          <a:stretch/>
        </p:blipFill>
        <p:spPr>
          <a:xfrm>
            <a:off x="9273580" y="2773462"/>
            <a:ext cx="228600" cy="114300"/>
          </a:xfrm>
          <a:prstGeom prst="rect">
            <a:avLst/>
          </a:prstGeom>
        </p:spPr>
      </p:pic>
      <p:sp>
        <p:nvSpPr>
          <p:cNvPr id="27" name="Shape 20"/>
          <p:cNvSpPr/>
          <p:nvPr/>
        </p:nvSpPr>
        <p:spPr>
          <a:xfrm>
            <a:off x="9578380" y="2176661"/>
            <a:ext cx="1800820" cy="1307902"/>
          </a:xfrm>
          <a:prstGeom prst="roundRect">
            <a:avLst>
              <a:gd name="adj" fmla="val 7768"/>
            </a:avLst>
          </a:prstGeom>
          <a:solidFill>
            <a:srgbClr val="A2276F"/>
          </a:solidFill>
          <a:ln/>
        </p:spPr>
      </p:sp>
      <p:sp>
        <p:nvSpPr>
          <p:cNvPr id="28" name="Text 21"/>
          <p:cNvSpPr/>
          <p:nvPr/>
        </p:nvSpPr>
        <p:spPr>
          <a:xfrm>
            <a:off x="9718080" y="2329061"/>
            <a:ext cx="15722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DAFCA"/>
                </a:solidFill>
                <a:latin typeface="IBM Plex Mono" pitchFamily="49" charset="0"/>
                <a:ea typeface="IBM Plex Mono" pitchFamily="49" charset="-122"/>
                <a:cs typeface="IBM Plex Mono" pitchFamily="49" charset="-120"/>
              </a:rPr>
              <a:t>траг</a:t>
            </a:r>
            <a:endParaRPr lang="en-US" sz="1200" dirty="0"/>
          </a:p>
        </p:txBody>
      </p:sp>
      <p:sp>
        <p:nvSpPr>
          <p:cNvPr id="29" name="Text 22"/>
          <p:cNvSpPr/>
          <p:nvPr/>
        </p:nvSpPr>
        <p:spPr>
          <a:xfrm>
            <a:off x="9718080" y="2618581"/>
            <a:ext cx="15722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Запис</a:t>
            </a:r>
            <a:endParaRPr lang="en-US" sz="1400" dirty="0"/>
          </a:p>
        </p:txBody>
      </p:sp>
      <p:sp>
        <p:nvSpPr>
          <p:cNvPr id="30" name="Text 23"/>
          <p:cNvSpPr/>
          <p:nvPr/>
        </p:nvSpPr>
        <p:spPr>
          <a:xfrm>
            <a:off x="9718080" y="2908102"/>
            <a:ext cx="157222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E1EB"/>
                </a:solidFill>
                <a:latin typeface="IBM Plex Mono" pitchFamily="49" charset="0"/>
                <a:ea typeface="IBM Plex Mono" pitchFamily="49" charset="-122"/>
                <a:cs typeface="IBM Plex Mono" pitchFamily="49" charset="-120"/>
              </a:rPr>
              <a:t>AI_USAGE.md</a:t>
            </a:r>
            <a:endParaRPr lang="en-US" sz="1200" dirty="0"/>
          </a:p>
        </p:txBody>
      </p:sp>
      <p:sp>
        <p:nvSpPr>
          <p:cNvPr id="31" name="Shape 24"/>
          <p:cNvSpPr/>
          <p:nvPr/>
        </p:nvSpPr>
        <p:spPr>
          <a:xfrm>
            <a:off x="815975" y="3741738"/>
            <a:ext cx="10560050" cy="457795"/>
          </a:xfrm>
          <a:prstGeom prst="roundRect">
            <a:avLst>
              <a:gd name="adj" fmla="val 18726"/>
            </a:avLst>
          </a:prstGeom>
          <a:solidFill>
            <a:srgbClr val="FBF1E6"/>
          </a:solidFill>
          <a:ln w="6350">
            <a:solidFill>
              <a:srgbClr val="E9B98C"/>
            </a:solidFill>
            <a:prstDash val="solid"/>
          </a:ln>
        </p:spPr>
      </p:sp>
      <p:pic>
        <p:nvPicPr>
          <p:cNvPr id="32" name="Image 5" descr="Warning">    </p:cNvPr>
          <p:cNvPicPr>
            <a:picLocks noChangeAspect="1"/>
          </p:cNvPicPr>
          <p:nvPr/>
        </p:nvPicPr>
        <p:blipFill>
          <a:blip r:embed="rId6"/>
          <a:srcRect l="0" r="0" t="0" b="0"/>
          <a:stretch/>
        </p:blipFill>
        <p:spPr>
          <a:xfrm>
            <a:off x="996950" y="3869035"/>
            <a:ext cx="203200" cy="203200"/>
          </a:xfrm>
          <a:prstGeom prst="rect">
            <a:avLst/>
          </a:prstGeom>
        </p:spPr>
      </p:pic>
      <p:sp>
        <p:nvSpPr>
          <p:cNvPr id="33" name="Text 25"/>
          <p:cNvSpPr/>
          <p:nvPr/>
        </p:nvSpPr>
        <p:spPr>
          <a:xfrm>
            <a:off x="1327150" y="3859212"/>
            <a:ext cx="1016393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Ако се током измене обим прошири, рад се враћа на анализу, а не наставља.</a:t>
            </a:r>
            <a:endParaRPr lang="en-US" sz="1300" dirty="0"/>
          </a:p>
        </p:txBody>
      </p:sp>
      <p:sp>
        <p:nvSpPr>
          <p:cNvPr id="34" name="Shape 26"/>
          <p:cNvSpPr/>
          <p:nvPr/>
        </p:nvSpPr>
        <p:spPr>
          <a:xfrm>
            <a:off x="812800" y="6209705"/>
            <a:ext cx="10566400" cy="0"/>
          </a:xfrm>
          <a:prstGeom prst="line">
            <a:avLst/>
          </a:prstGeom>
          <a:noFill/>
          <a:ln w="6350">
            <a:solidFill>
              <a:srgbClr val="D3DAE1"/>
            </a:solidFill>
            <a:prstDash val="solid"/>
          </a:ln>
        </p:spPr>
      </p:sp>
      <p:sp>
        <p:nvSpPr>
          <p:cNvPr id="35"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5EA"/>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A2276F"/>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Инструкције и skill-ови</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Пројектна правила у репозиторијуму и поновљиве процедуре за типичне задатке.</a:t>
            </a:r>
            <a:endParaRPr lang="en-US" sz="1400" dirty="0"/>
          </a:p>
        </p:txBody>
      </p:sp>
      <p:sp>
        <p:nvSpPr>
          <p:cNvPr id="6" name="Text 4"/>
          <p:cNvSpPr/>
          <p:nvPr/>
        </p:nvSpPr>
        <p:spPr>
          <a:xfrm>
            <a:off x="4270375" y="4117876"/>
            <a:ext cx="1095276"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AGENTS.md</a:t>
            </a:r>
            <a:endParaRPr lang="en-US" sz="1200" dirty="0"/>
          </a:p>
        </p:txBody>
      </p:sp>
      <p:sp>
        <p:nvSpPr>
          <p:cNvPr id="7" name="Text 5"/>
          <p:cNvSpPr/>
          <p:nvPr/>
        </p:nvSpPr>
        <p:spPr>
          <a:xfrm>
            <a:off x="5448201" y="4117876"/>
            <a:ext cx="1642666"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Skill као процедура</a:t>
            </a:r>
            <a:endParaRPr lang="en-US" sz="1200" dirty="0"/>
          </a:p>
        </p:txBody>
      </p:sp>
      <p:sp>
        <p:nvSpPr>
          <p:cNvPr id="8" name="Text 6"/>
          <p:cNvSpPr/>
          <p:nvPr/>
        </p:nvSpPr>
        <p:spPr>
          <a:xfrm>
            <a:off x="7173416" y="4117876"/>
            <a:ext cx="1425476"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Преглед измене</a:t>
            </a:r>
            <a:endParaRPr lang="en-US" sz="1200" dirty="0"/>
          </a:p>
        </p:txBody>
      </p:sp>
      <p:sp>
        <p:nvSpPr>
          <p:cNvPr id="9" name="Text 7"/>
          <p:cNvSpPr/>
          <p:nvPr/>
        </p:nvSpPr>
        <p:spPr>
          <a:xfrm>
            <a:off x="8681442" y="4117876"/>
            <a:ext cx="1709142"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Улоге и привилегије</a:t>
            </a:r>
            <a:endParaRPr lang="en-US" sz="1200" dirty="0"/>
          </a:p>
        </p:txBody>
      </p:sp>
      <p:sp>
        <p:nvSpPr>
          <p:cNvPr id="10" name="Shape 8"/>
          <p:cNvSpPr/>
          <p:nvPr/>
        </p:nvSpPr>
        <p:spPr>
          <a:xfrm>
            <a:off x="812800" y="6209705"/>
            <a:ext cx="10566400" cy="0"/>
          </a:xfrm>
          <a:prstGeom prst="line">
            <a:avLst/>
          </a:prstGeom>
          <a:noFill/>
          <a:ln w="6350">
            <a:solidFill>
              <a:srgbClr val="C6B7C7"/>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02 · ИНСТРУКЦИЈЕ И SKILL-ОВИ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Верзионисане пројектне инструкције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Пројектна правила чувају се у датотеци AGENTS.md у корену репозиторијума.</a:t>
            </a:r>
            <a:endParaRPr lang="en-US" sz="1400" dirty="0"/>
          </a:p>
        </p:txBody>
      </p:sp>
      <p:sp>
        <p:nvSpPr>
          <p:cNvPr id="6" name="Shape 4"/>
          <p:cNvSpPr/>
          <p:nvPr/>
        </p:nvSpPr>
        <p:spPr>
          <a:xfrm>
            <a:off x="831850" y="2176661"/>
            <a:ext cx="0" cy="711200"/>
          </a:xfrm>
          <a:prstGeom prst="line">
            <a:avLst/>
          </a:prstGeom>
          <a:noFill/>
          <a:ln w="38100">
            <a:solidFill>
              <a:srgbClr val="A2276F"/>
            </a:solidFill>
            <a:prstDash val="solid"/>
          </a:ln>
        </p:spPr>
      </p:sp>
      <p:sp>
        <p:nvSpPr>
          <p:cNvPr id="7" name="Text 5"/>
          <p:cNvSpPr/>
          <p:nvPr/>
        </p:nvSpPr>
        <p:spPr>
          <a:xfrm>
            <a:off x="1079500" y="2202061"/>
            <a:ext cx="9536049" cy="685800"/>
          </a:xfrm>
          <a:prstGeom prst="rect">
            <a:avLst/>
          </a:prstGeom>
          <a:noFill/>
          <a:ln/>
        </p:spPr>
        <p:txBody>
          <a:bodyPr wrap="square" lIns="0" tIns="0" rIns="0" bIns="0" rtlCol="0" anchor="t">
            <a:normAutofit/>
          </a:bodyPr>
          <a:lstStyle/>
          <a:p>
            <a:pPr algn="l" indent="0" marL="0">
              <a:lnSpc>
                <a:spcPts val="2600"/>
              </a:lnSpc>
              <a:buNone/>
            </a:pPr>
            <a:r>
              <a:rPr lang="en-US" sz="2000" b="1" spc="-25" kern="0" dirty="0">
                <a:solidFill>
                  <a:srgbClr val="13202D"/>
                </a:solidFill>
                <a:latin typeface="IBM Plex Sans" pitchFamily="34" charset="0"/>
                <a:ea typeface="IBM Plex Sans" pitchFamily="34" charset="-122"/>
                <a:cs typeface="IBM Plex Sans" pitchFamily="34" charset="-120"/>
              </a:rPr>
              <a:t>Инструкције нису општи савет, већ конкретна правила архитектуре solution-а.</a:t>
            </a:r>
            <a:endParaRPr lang="en-US" sz="2000" dirty="0"/>
          </a:p>
        </p:txBody>
      </p:sp>
      <p:sp>
        <p:nvSpPr>
          <p:cNvPr id="8" name="Shape 6"/>
          <p:cNvSpPr/>
          <p:nvPr/>
        </p:nvSpPr>
        <p:spPr>
          <a:xfrm>
            <a:off x="815975" y="3145036"/>
            <a:ext cx="3448050" cy="735211"/>
          </a:xfrm>
          <a:prstGeom prst="roundRect">
            <a:avLst>
              <a:gd name="adj" fmla="val 11660"/>
            </a:avLst>
          </a:prstGeom>
          <a:solidFill>
            <a:srgbClr val="FCFCFB"/>
          </a:solidFill>
          <a:ln w="6350">
            <a:solidFill>
              <a:srgbClr val="D3DAE1"/>
            </a:solidFill>
            <a:prstDash val="solid"/>
          </a:ln>
        </p:spPr>
      </p:sp>
      <p:sp>
        <p:nvSpPr>
          <p:cNvPr id="9" name="Text 7"/>
          <p:cNvSpPr/>
          <p:nvPr/>
        </p:nvSpPr>
        <p:spPr>
          <a:xfrm>
            <a:off x="971550" y="3275211"/>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2276F"/>
                </a:solidFill>
                <a:latin typeface="IBM Plex Mono" pitchFamily="49" charset="0"/>
                <a:ea typeface="IBM Plex Mono" pitchFamily="49" charset="-122"/>
                <a:cs typeface="IBM Plex Mono" pitchFamily="49" charset="-120"/>
              </a:rPr>
              <a:t>Domain</a:t>
            </a:r>
            <a:endParaRPr lang="en-US" sz="1300" dirty="0"/>
          </a:p>
        </p:txBody>
      </p:sp>
      <p:sp>
        <p:nvSpPr>
          <p:cNvPr id="10" name="Text 8"/>
          <p:cNvSpPr/>
          <p:nvPr/>
        </p:nvSpPr>
        <p:spPr>
          <a:xfrm>
            <a:off x="971550" y="3544391"/>
            <a:ext cx="323100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не зависи од других пројеката</a:t>
            </a:r>
            <a:endParaRPr lang="en-US" sz="1200" dirty="0"/>
          </a:p>
        </p:txBody>
      </p:sp>
      <p:sp>
        <p:nvSpPr>
          <p:cNvPr id="11" name="Shape 9"/>
          <p:cNvSpPr/>
          <p:nvPr/>
        </p:nvSpPr>
        <p:spPr>
          <a:xfrm>
            <a:off x="4371975" y="3145036"/>
            <a:ext cx="3448050" cy="735211"/>
          </a:xfrm>
          <a:prstGeom prst="roundRect">
            <a:avLst>
              <a:gd name="adj" fmla="val 11660"/>
            </a:avLst>
          </a:prstGeom>
          <a:solidFill>
            <a:srgbClr val="FCFCFB"/>
          </a:solidFill>
          <a:ln w="6350">
            <a:solidFill>
              <a:srgbClr val="D3DAE1"/>
            </a:solidFill>
            <a:prstDash val="solid"/>
          </a:ln>
        </p:spPr>
      </p:sp>
      <p:sp>
        <p:nvSpPr>
          <p:cNvPr id="12" name="Text 10"/>
          <p:cNvSpPr/>
          <p:nvPr/>
        </p:nvSpPr>
        <p:spPr>
          <a:xfrm>
            <a:off x="4527550" y="3275211"/>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2276F"/>
                </a:solidFill>
                <a:latin typeface="IBM Plex Mono" pitchFamily="49" charset="0"/>
                <a:ea typeface="IBM Plex Mono" pitchFamily="49" charset="-122"/>
                <a:cs typeface="IBM Plex Mono" pitchFamily="49" charset="-120"/>
              </a:rPr>
              <a:t>Application</a:t>
            </a:r>
            <a:endParaRPr lang="en-US" sz="1300" dirty="0"/>
          </a:p>
        </p:txBody>
      </p:sp>
      <p:sp>
        <p:nvSpPr>
          <p:cNvPr id="13" name="Text 11"/>
          <p:cNvSpPr/>
          <p:nvPr/>
        </p:nvSpPr>
        <p:spPr>
          <a:xfrm>
            <a:off x="4527550" y="3544391"/>
            <a:ext cx="323100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дефинише портове</a:t>
            </a:r>
            <a:endParaRPr lang="en-US" sz="1200" dirty="0"/>
          </a:p>
        </p:txBody>
      </p:sp>
      <p:sp>
        <p:nvSpPr>
          <p:cNvPr id="14" name="Shape 12"/>
          <p:cNvSpPr/>
          <p:nvPr/>
        </p:nvSpPr>
        <p:spPr>
          <a:xfrm>
            <a:off x="7927975" y="3145036"/>
            <a:ext cx="3448050" cy="735211"/>
          </a:xfrm>
          <a:prstGeom prst="roundRect">
            <a:avLst>
              <a:gd name="adj" fmla="val 11660"/>
            </a:avLst>
          </a:prstGeom>
          <a:solidFill>
            <a:srgbClr val="FCFCFB"/>
          </a:solidFill>
          <a:ln w="6350">
            <a:solidFill>
              <a:srgbClr val="D3DAE1"/>
            </a:solidFill>
            <a:prstDash val="solid"/>
          </a:ln>
        </p:spPr>
      </p:sp>
      <p:sp>
        <p:nvSpPr>
          <p:cNvPr id="15" name="Text 13"/>
          <p:cNvSpPr/>
          <p:nvPr/>
        </p:nvSpPr>
        <p:spPr>
          <a:xfrm>
            <a:off x="8083550" y="3275211"/>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2276F"/>
                </a:solidFill>
                <a:latin typeface="IBM Plex Mono" pitchFamily="49" charset="0"/>
                <a:ea typeface="IBM Plex Mono" pitchFamily="49" charset="-122"/>
                <a:cs typeface="IBM Plex Mono" pitchFamily="49" charset="-120"/>
              </a:rPr>
              <a:t>Infrastructure</a:t>
            </a:r>
            <a:endParaRPr lang="en-US" sz="1300" dirty="0"/>
          </a:p>
        </p:txBody>
      </p:sp>
      <p:sp>
        <p:nvSpPr>
          <p:cNvPr id="16" name="Text 14"/>
          <p:cNvSpPr/>
          <p:nvPr/>
        </p:nvSpPr>
        <p:spPr>
          <a:xfrm>
            <a:off x="8083550" y="3544391"/>
            <a:ext cx="323100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имплементира портове</a:t>
            </a:r>
            <a:endParaRPr lang="en-US" sz="1200" dirty="0"/>
          </a:p>
        </p:txBody>
      </p:sp>
      <p:sp>
        <p:nvSpPr>
          <p:cNvPr id="17" name="Shape 15"/>
          <p:cNvSpPr/>
          <p:nvPr/>
        </p:nvSpPr>
        <p:spPr>
          <a:xfrm>
            <a:off x="812800" y="4137422"/>
            <a:ext cx="10566400" cy="783530"/>
          </a:xfrm>
          <a:prstGeom prst="roundRect">
            <a:avLst>
              <a:gd name="adj" fmla="val 12967"/>
            </a:avLst>
          </a:prstGeom>
          <a:solidFill>
            <a:srgbClr val="EFE5EA"/>
          </a:solidFill>
          <a:ln/>
        </p:spPr>
      </p:sp>
      <p:sp>
        <p:nvSpPr>
          <p:cNvPr id="18" name="Shape 16"/>
          <p:cNvSpPr/>
          <p:nvPr/>
        </p:nvSpPr>
        <p:spPr>
          <a:xfrm>
            <a:off x="812800" y="413742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A2276F"/>
          </a:solidFill>
          <a:ln/>
        </p:spPr>
      </p:sp>
      <p:sp>
        <p:nvSpPr>
          <p:cNvPr id="19" name="Text 17"/>
          <p:cNvSpPr/>
          <p:nvPr/>
        </p:nvSpPr>
        <p:spPr>
          <a:xfrm>
            <a:off x="1054100" y="428982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НАПОМЕНА</a:t>
            </a:r>
            <a:endParaRPr lang="en-US" sz="1200" dirty="0"/>
          </a:p>
        </p:txBody>
      </p:sp>
      <p:sp>
        <p:nvSpPr>
          <p:cNvPr id="20" name="Text 18"/>
          <p:cNvSpPr/>
          <p:nvPr/>
        </p:nvSpPr>
        <p:spPr>
          <a:xfrm>
            <a:off x="1054100" y="452854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Kova 0.3.2 учитава AGENTS.md аутоматски при сваком покретању, пре изабраног skill-а.</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02 · ИНСТРУКЦИЈЕ И SKILL-ОВИ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AGENTS.md као архитектонско правило</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Документ наводи проверљива правила о зависностима, дозвољеном обиму и обавезним тестовима.</a:t>
            </a:r>
            <a:endParaRPr lang="en-US" sz="1400" dirty="0"/>
          </a:p>
        </p:txBody>
      </p:sp>
      <p:sp>
        <p:nvSpPr>
          <p:cNvPr id="6" name="Shape 4"/>
          <p:cNvSpPr/>
          <p:nvPr/>
        </p:nvSpPr>
        <p:spPr>
          <a:xfrm>
            <a:off x="815975" y="2129036"/>
            <a:ext cx="7105650" cy="2099270"/>
          </a:xfrm>
          <a:prstGeom prst="roundRect">
            <a:avLst>
              <a:gd name="adj" fmla="val 4689"/>
            </a:avLst>
          </a:prstGeom>
          <a:solidFill>
            <a:srgbClr val="FCFCFB"/>
          </a:solidFill>
          <a:ln w="6350">
            <a:solidFill>
              <a:srgbClr val="D3DAE1"/>
            </a:solidFill>
            <a:prstDash val="solid"/>
          </a:ln>
        </p:spPr>
      </p:sp>
      <p:sp>
        <p:nvSpPr>
          <p:cNvPr id="7" name="Text 5"/>
          <p:cNvSpPr/>
          <p:nvPr/>
        </p:nvSpPr>
        <p:spPr>
          <a:xfrm>
            <a:off x="1022350" y="2284611"/>
            <a:ext cx="6893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AGENTS.md · корен репозиторијума</a:t>
            </a:r>
            <a:endParaRPr lang="en-US" sz="1200" dirty="0"/>
          </a:p>
        </p:txBody>
      </p:sp>
      <p:sp>
        <p:nvSpPr>
          <p:cNvPr id="8" name="Text 6"/>
          <p:cNvSpPr/>
          <p:nvPr/>
        </p:nvSpPr>
        <p:spPr>
          <a:xfrm>
            <a:off x="10223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2276F"/>
                </a:solidFill>
                <a:latin typeface="IBM Plex Mono" pitchFamily="49" charset="0"/>
                <a:ea typeface="IBM Plex Mono" pitchFamily="49" charset="-122"/>
                <a:cs typeface="IBM Plex Mono" pitchFamily="49" charset="-120"/>
              </a:rPr>
              <a:t>## Архитектура</a:t>
            </a:r>
            <a:endParaRPr lang="en-US" sz="1200" dirty="0"/>
          </a:p>
        </p:txBody>
      </p:sp>
      <p:sp>
        <p:nvSpPr>
          <p:cNvPr id="10" name="Text 8"/>
          <p:cNvSpPr/>
          <p:nvPr/>
        </p:nvSpPr>
        <p:spPr>
          <a:xfrm>
            <a:off x="10223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28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Domain не зависи ни од једног другог пројекта.</a:t>
            </a:r>
            <a:endParaRPr lang="en-US" sz="1200" dirty="0"/>
          </a:p>
        </p:txBody>
      </p:sp>
      <p:sp>
        <p:nvSpPr>
          <p:cNvPr id="12" name="Text 10"/>
          <p:cNvSpPr/>
          <p:nvPr/>
        </p:nvSpPr>
        <p:spPr>
          <a:xfrm>
            <a:off x="10223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82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Application зависи само од Domain и дефинише портове.</a:t>
            </a:r>
            <a:endParaRPr lang="en-US" sz="1200" dirty="0"/>
          </a:p>
        </p:txBody>
      </p:sp>
      <p:sp>
        <p:nvSpPr>
          <p:cNvPr id="14" name="Text 12"/>
          <p:cNvSpPr/>
          <p:nvPr/>
        </p:nvSpPr>
        <p:spPr>
          <a:xfrm>
            <a:off x="10223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336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Infrastructure имплементира портове из Application слоја.</a:t>
            </a:r>
            <a:endParaRPr lang="en-US" sz="1200" dirty="0"/>
          </a:p>
        </p:txBody>
      </p:sp>
      <p:sp>
        <p:nvSpPr>
          <p:cNvPr id="16" name="Text 14"/>
          <p:cNvSpPr/>
          <p:nvPr/>
        </p:nvSpPr>
        <p:spPr>
          <a:xfrm>
            <a:off x="10223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90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Api је composition root.</a:t>
            </a:r>
            <a:endParaRPr lang="en-US" sz="1200" dirty="0"/>
          </a:p>
        </p:txBody>
      </p:sp>
      <p:sp>
        <p:nvSpPr>
          <p:cNvPr id="18" name="Text 16"/>
          <p:cNvSpPr/>
          <p:nvPr/>
        </p:nvSpPr>
        <p:spPr>
          <a:xfrm>
            <a:off x="10223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844131"/>
            <a:ext cx="650125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8520A"/>
                </a:solidFill>
                <a:latin typeface="IBM Plex Mono" pitchFamily="49" charset="0"/>
                <a:ea typeface="IBM Plex Mono" pitchFamily="49" charset="-122"/>
                <a:cs typeface="IBM Plex Mono" pitchFamily="49" charset="-120"/>
              </a:rPr>
              <a:t>- MCP и guardrails не смеју постати зависност језгра.</a:t>
            </a:r>
            <a:endParaRPr lang="en-US" sz="1200" dirty="0"/>
          </a:p>
        </p:txBody>
      </p:sp>
      <p:sp>
        <p:nvSpPr>
          <p:cNvPr id="20" name="Text 18"/>
          <p:cNvSpPr/>
          <p:nvPr/>
        </p:nvSpPr>
        <p:spPr>
          <a:xfrm>
            <a:off x="8204200" y="21258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1" name="Shape 19"/>
          <p:cNvSpPr/>
          <p:nvPr/>
        </p:nvSpPr>
        <p:spPr>
          <a:xfrm>
            <a:off x="8216900" y="2466181"/>
            <a:ext cx="0" cy="256480"/>
          </a:xfrm>
          <a:prstGeom prst="line">
            <a:avLst/>
          </a:prstGeom>
          <a:noFill/>
          <a:ln w="25400">
            <a:solidFill>
              <a:srgbClr val="A2276F"/>
            </a:solidFill>
            <a:prstDash val="solid"/>
          </a:ln>
        </p:spPr>
      </p:sp>
      <p:sp>
        <p:nvSpPr>
          <p:cNvPr id="22" name="Text 20"/>
          <p:cNvSpPr/>
          <p:nvPr/>
        </p:nvSpPr>
        <p:spPr>
          <a:xfrm>
            <a:off x="8369300" y="247888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Инструкције су део репозиторијума.</a:t>
            </a:r>
            <a:endParaRPr lang="en-US" sz="1300" dirty="0"/>
          </a:p>
        </p:txBody>
      </p:sp>
      <p:sp>
        <p:nvSpPr>
          <p:cNvPr id="23" name="Shape 21"/>
          <p:cNvSpPr/>
          <p:nvPr/>
        </p:nvSpPr>
        <p:spPr>
          <a:xfrm>
            <a:off x="8216900" y="2849662"/>
            <a:ext cx="0" cy="256480"/>
          </a:xfrm>
          <a:prstGeom prst="line">
            <a:avLst/>
          </a:prstGeom>
          <a:noFill/>
          <a:ln w="25400">
            <a:solidFill>
              <a:srgbClr val="A2276F"/>
            </a:solidFill>
            <a:prstDash val="solid"/>
          </a:ln>
        </p:spPr>
      </p:sp>
      <p:sp>
        <p:nvSpPr>
          <p:cNvPr id="24" name="Text 22"/>
          <p:cNvSpPr/>
          <p:nvPr/>
        </p:nvSpPr>
        <p:spPr>
          <a:xfrm>
            <a:off x="8369300" y="2862362"/>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Тим их прегледа као код.</a:t>
            </a:r>
            <a:endParaRPr lang="en-US" sz="1300" dirty="0"/>
          </a:p>
        </p:txBody>
      </p:sp>
      <p:sp>
        <p:nvSpPr>
          <p:cNvPr id="25" name="Shape 23"/>
          <p:cNvSpPr/>
          <p:nvPr/>
        </p:nvSpPr>
        <p:spPr>
          <a:xfrm>
            <a:off x="8216900" y="3233142"/>
            <a:ext cx="0" cy="487561"/>
          </a:xfrm>
          <a:prstGeom prst="line">
            <a:avLst/>
          </a:prstGeom>
          <a:noFill/>
          <a:ln w="25400">
            <a:solidFill>
              <a:srgbClr val="E07B1F"/>
            </a:solidFill>
            <a:prstDash val="solid"/>
          </a:ln>
        </p:spPr>
      </p:sp>
      <p:sp>
        <p:nvSpPr>
          <p:cNvPr id="26" name="Text 24"/>
          <p:cNvSpPr/>
          <p:nvPr/>
        </p:nvSpPr>
        <p:spPr>
          <a:xfrm>
            <a:off x="8369300" y="324584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Модел не сме тврдити да је проверио нешто што није извршио.</a:t>
            </a:r>
            <a:endParaRPr lang="en-US" sz="1300" dirty="0"/>
          </a:p>
        </p:txBody>
      </p:sp>
      <p:sp>
        <p:nvSpPr>
          <p:cNvPr id="27" name="Shape 25"/>
          <p:cNvSpPr/>
          <p:nvPr/>
        </p:nvSpPr>
        <p:spPr>
          <a:xfrm>
            <a:off x="812800" y="6209705"/>
            <a:ext cx="10566400" cy="0"/>
          </a:xfrm>
          <a:prstGeom prst="line">
            <a:avLst/>
          </a:prstGeom>
          <a:noFill/>
          <a:ln w="6350">
            <a:solidFill>
              <a:srgbClr val="D3DAE1"/>
            </a:solidFill>
            <a:prstDash val="solid"/>
          </a:ln>
        </p:spPr>
      </p:sp>
      <p:sp>
        <p:nvSpPr>
          <p:cNvPr id="28"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02 · ИНСТРУКЦИЈЕ И SKILL-ОВИ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Skill као поновљива процедура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Процедура за преглед Pull Request-а дефинише улазе, кораке и ограничења.</a:t>
            </a:r>
            <a:endParaRPr lang="en-US" sz="1400" dirty="0"/>
          </a:p>
        </p:txBody>
      </p:sp>
      <p:sp>
        <p:nvSpPr>
          <p:cNvPr id="6" name="Shape 4"/>
          <p:cNvSpPr/>
          <p:nvPr/>
        </p:nvSpPr>
        <p:spPr>
          <a:xfrm>
            <a:off x="815975" y="2129036"/>
            <a:ext cx="5454650" cy="3005237"/>
          </a:xfrm>
          <a:prstGeom prst="roundRect">
            <a:avLst>
              <a:gd name="adj" fmla="val 3275"/>
            </a:avLst>
          </a:prstGeom>
          <a:solidFill>
            <a:srgbClr val="FCFCFB"/>
          </a:solidFill>
          <a:ln w="6350">
            <a:solidFill>
              <a:srgbClr val="D3DAE1"/>
            </a:solidFill>
            <a:prstDash val="solid"/>
          </a:ln>
        </p:spPr>
      </p:sp>
      <p:sp>
        <p:nvSpPr>
          <p:cNvPr id="7" name="Text 5"/>
          <p:cNvSpPr/>
          <p:nvPr/>
        </p:nvSpPr>
        <p:spPr>
          <a:xfrm>
            <a:off x="1022350" y="2284611"/>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структура репозиторијума</a:t>
            </a:r>
            <a:endParaRPr lang="en-US" sz="1200" dirty="0"/>
          </a:p>
        </p:txBody>
      </p:sp>
      <p:sp>
        <p:nvSpPr>
          <p:cNvPr id="8" name="Text 6"/>
          <p:cNvSpPr/>
          <p:nvPr/>
        </p:nvSpPr>
        <p:spPr>
          <a:xfrm>
            <a:off x="1022350" y="2574131"/>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EquipmentReservation/</a:t>
            </a:r>
            <a:endParaRPr lang="en-US" sz="1300" dirty="0"/>
          </a:p>
        </p:txBody>
      </p:sp>
      <p:sp>
        <p:nvSpPr>
          <p:cNvPr id="9" name="Text 7"/>
          <p:cNvSpPr/>
          <p:nvPr/>
        </p:nvSpPr>
        <p:spPr>
          <a:xfrm>
            <a:off x="1022350" y="2842716"/>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A2276F"/>
                </a:solidFill>
                <a:latin typeface="IBM Plex Mono" pitchFamily="49" charset="0"/>
                <a:ea typeface="IBM Plex Mono" pitchFamily="49" charset="-122"/>
                <a:cs typeface="IBM Plex Mono" pitchFamily="49" charset="-120"/>
              </a:rPr>
              <a:t>  AGENTS.md</a:t>
            </a:r>
            <a:endParaRPr lang="en-US" sz="1300" dirty="0"/>
          </a:p>
        </p:txBody>
      </p:sp>
      <p:sp>
        <p:nvSpPr>
          <p:cNvPr id="10" name="Text 8"/>
          <p:cNvSpPr/>
          <p:nvPr/>
        </p:nvSpPr>
        <p:spPr>
          <a:xfrm>
            <a:off x="1022350" y="3111302"/>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AI_USAGE.md</a:t>
            </a:r>
            <a:endParaRPr lang="en-US" sz="1300" dirty="0"/>
          </a:p>
        </p:txBody>
      </p:sp>
      <p:sp>
        <p:nvSpPr>
          <p:cNvPr id="11" name="Text 9"/>
          <p:cNvSpPr/>
          <p:nvPr/>
        </p:nvSpPr>
        <p:spPr>
          <a:xfrm>
            <a:off x="1022350" y="3379887"/>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.kova/</a:t>
            </a:r>
            <a:endParaRPr lang="en-US" sz="1300" dirty="0"/>
          </a:p>
        </p:txBody>
      </p:sp>
      <p:sp>
        <p:nvSpPr>
          <p:cNvPr id="12" name="Text 10"/>
          <p:cNvSpPr/>
          <p:nvPr/>
        </p:nvSpPr>
        <p:spPr>
          <a:xfrm>
            <a:off x="1022350" y="3648472"/>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skills/</a:t>
            </a:r>
            <a:endParaRPr lang="en-US" sz="1300" dirty="0"/>
          </a:p>
        </p:txBody>
      </p:sp>
      <p:sp>
        <p:nvSpPr>
          <p:cNvPr id="13" name="Text 11"/>
          <p:cNvSpPr/>
          <p:nvPr/>
        </p:nvSpPr>
        <p:spPr>
          <a:xfrm>
            <a:off x="1022350" y="3917057"/>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&lt;назив&gt;/</a:t>
            </a:r>
            <a:endParaRPr lang="en-US" sz="1300" dirty="0"/>
          </a:p>
        </p:txBody>
      </p:sp>
      <p:sp>
        <p:nvSpPr>
          <p:cNvPr id="14" name="Text 12"/>
          <p:cNvSpPr/>
          <p:nvPr/>
        </p:nvSpPr>
        <p:spPr>
          <a:xfrm>
            <a:off x="1022350" y="4185642"/>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A8520A"/>
                </a:solidFill>
                <a:latin typeface="IBM Plex Mono" pitchFamily="49" charset="0"/>
                <a:ea typeface="IBM Plex Mono" pitchFamily="49" charset="-122"/>
                <a:cs typeface="IBM Plex Mono" pitchFamily="49" charset="-120"/>
              </a:rPr>
              <a:t>        SKILL.md</a:t>
            </a:r>
            <a:endParaRPr lang="en-US" sz="1300" dirty="0"/>
          </a:p>
        </p:txBody>
      </p:sp>
      <p:sp>
        <p:nvSpPr>
          <p:cNvPr id="15" name="Text 13"/>
          <p:cNvSpPr/>
          <p:nvPr/>
        </p:nvSpPr>
        <p:spPr>
          <a:xfrm>
            <a:off x="1022350" y="4454227"/>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src/</a:t>
            </a:r>
            <a:endParaRPr lang="en-US" sz="1300" dirty="0"/>
          </a:p>
        </p:txBody>
      </p:sp>
      <p:sp>
        <p:nvSpPr>
          <p:cNvPr id="16" name="Text 14"/>
          <p:cNvSpPr/>
          <p:nvPr/>
        </p:nvSpPr>
        <p:spPr>
          <a:xfrm>
            <a:off x="1022350" y="4722813"/>
            <a:ext cx="5193157" cy="28128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13202D"/>
                </a:solidFill>
                <a:latin typeface="IBM Plex Mono" pitchFamily="49" charset="0"/>
                <a:ea typeface="IBM Plex Mono" pitchFamily="49" charset="-122"/>
                <a:cs typeface="IBM Plex Mono" pitchFamily="49" charset="-120"/>
              </a:rPr>
              <a:t>  tests/</a:t>
            </a:r>
            <a:endParaRPr lang="en-US" sz="1300" dirty="0"/>
          </a:p>
        </p:txBody>
      </p:sp>
      <p:sp>
        <p:nvSpPr>
          <p:cNvPr id="17" name="Shape 15"/>
          <p:cNvSpPr/>
          <p:nvPr/>
        </p:nvSpPr>
        <p:spPr>
          <a:xfrm>
            <a:off x="6553200" y="2125861"/>
            <a:ext cx="4826000" cy="702866"/>
          </a:xfrm>
          <a:prstGeom prst="roundRect">
            <a:avLst>
              <a:gd name="adj" fmla="val 12648"/>
            </a:avLst>
          </a:prstGeom>
          <a:solidFill>
            <a:srgbClr val="EFE5EA"/>
          </a:solidFill>
          <a:ln/>
        </p:spPr>
      </p:sp>
      <p:sp>
        <p:nvSpPr>
          <p:cNvPr id="18" name="Text 16"/>
          <p:cNvSpPr/>
          <p:nvPr/>
        </p:nvSpPr>
        <p:spPr>
          <a:xfrm>
            <a:off x="6705600" y="2240161"/>
            <a:ext cx="46568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2276F"/>
                </a:solidFill>
                <a:latin typeface="IBM Plex Mono" pitchFamily="49" charset="0"/>
                <a:ea typeface="IBM Plex Mono" pitchFamily="49" charset="-122"/>
                <a:cs typeface="IBM Plex Mono" pitchFamily="49" charset="-120"/>
              </a:rPr>
              <a:t>AGENTS.md</a:t>
            </a:r>
            <a:endParaRPr lang="en-US" sz="1200" dirty="0"/>
          </a:p>
        </p:txBody>
      </p:sp>
      <p:sp>
        <p:nvSpPr>
          <p:cNvPr id="19" name="Text 17"/>
          <p:cNvSpPr/>
          <p:nvPr/>
        </p:nvSpPr>
        <p:spPr>
          <a:xfrm>
            <a:off x="6705600" y="2491581"/>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важи увек, за сваки задатак</a:t>
            </a:r>
            <a:endParaRPr lang="en-US" sz="1300" dirty="0"/>
          </a:p>
        </p:txBody>
      </p:sp>
      <p:sp>
        <p:nvSpPr>
          <p:cNvPr id="20" name="Shape 18"/>
          <p:cNvSpPr/>
          <p:nvPr/>
        </p:nvSpPr>
        <p:spPr>
          <a:xfrm>
            <a:off x="6553200" y="2943027"/>
            <a:ext cx="4826000" cy="702866"/>
          </a:xfrm>
          <a:prstGeom prst="roundRect">
            <a:avLst>
              <a:gd name="adj" fmla="val 12648"/>
            </a:avLst>
          </a:prstGeom>
          <a:solidFill>
            <a:srgbClr val="FBF1E6"/>
          </a:solidFill>
          <a:ln/>
        </p:spPr>
      </p:sp>
      <p:sp>
        <p:nvSpPr>
          <p:cNvPr id="21" name="Text 19"/>
          <p:cNvSpPr/>
          <p:nvPr/>
        </p:nvSpPr>
        <p:spPr>
          <a:xfrm>
            <a:off x="6705600" y="3057327"/>
            <a:ext cx="46568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SKILL.md</a:t>
            </a:r>
            <a:endParaRPr lang="en-US" sz="1200" dirty="0"/>
          </a:p>
        </p:txBody>
      </p:sp>
      <p:sp>
        <p:nvSpPr>
          <p:cNvPr id="22" name="Text 20"/>
          <p:cNvSpPr/>
          <p:nvPr/>
        </p:nvSpPr>
        <p:spPr>
          <a:xfrm>
            <a:off x="6705600" y="3308747"/>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учитава се један, изабрани за задатак</a:t>
            </a:r>
            <a:endParaRPr lang="en-US" sz="1300" dirty="0"/>
          </a:p>
        </p:txBody>
      </p:sp>
      <p:sp>
        <p:nvSpPr>
          <p:cNvPr id="23" name="Shape 21"/>
          <p:cNvSpPr/>
          <p:nvPr/>
        </p:nvSpPr>
        <p:spPr>
          <a:xfrm>
            <a:off x="6565900" y="3760192"/>
            <a:ext cx="0" cy="718641"/>
          </a:xfrm>
          <a:prstGeom prst="line">
            <a:avLst/>
          </a:prstGeom>
          <a:noFill/>
          <a:ln w="25400">
            <a:solidFill>
              <a:srgbClr val="A2276F"/>
            </a:solidFill>
            <a:prstDash val="solid"/>
          </a:ln>
        </p:spPr>
      </p:sp>
      <p:sp>
        <p:nvSpPr>
          <p:cNvPr id="24" name="Text 22"/>
          <p:cNvSpPr/>
          <p:nvPr/>
        </p:nvSpPr>
        <p:spPr>
          <a:xfrm>
            <a:off x="6718300" y="3772892"/>
            <a:ext cx="480072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Review улога не мења код током review фазе, већ проверава захтев, diff, инструкције, тестове и архитектонске границе.</a:t>
            </a:r>
            <a:endParaRPr lang="en-US" sz="1300" dirty="0"/>
          </a:p>
        </p:txBody>
      </p:sp>
      <p:sp>
        <p:nvSpPr>
          <p:cNvPr id="25" name="Shape 23"/>
          <p:cNvSpPr/>
          <p:nvPr/>
        </p:nvSpPr>
        <p:spPr>
          <a:xfrm>
            <a:off x="812800" y="6209705"/>
            <a:ext cx="10566400" cy="0"/>
          </a:xfrm>
          <a:prstGeom prst="line">
            <a:avLst/>
          </a:prstGeom>
          <a:noFill/>
          <a:ln w="6350">
            <a:solidFill>
              <a:srgbClr val="D3DAE1"/>
            </a:solidFill>
            <a:prstDash val="solid"/>
          </a:ln>
        </p:spPr>
      </p:sp>
      <p:sp>
        <p:nvSpPr>
          <p:cNvPr id="26"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02 · ИНСТРУКЦИЈЕ И SKILL-ОВИ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Поступак прегледа измене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Исти поступак примењује се на различите измене у solution-у.</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Сажети очекивано понашање.</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да ли diff излази из обима захтева.</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Dependency Rule и границе модула.</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Прегледати негативне и граничне сценарије.</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Упоредити промењено понашање са тестовима.</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02 · ИНСТРУКЦИЈЕ И SKILL-ОВИ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Улоге и најмање привилегије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улога добија само овлашћења потребна за конкретан задатак.</a:t>
            </a:r>
            <a:endParaRPr lang="en-US" sz="1400" dirty="0"/>
          </a:p>
        </p:txBody>
      </p:sp>
      <p:sp>
        <p:nvSpPr>
          <p:cNvPr id="6" name="Shape 4"/>
          <p:cNvSpPr/>
          <p:nvPr/>
        </p:nvSpPr>
        <p:spPr>
          <a:xfrm>
            <a:off x="812800" y="2176661"/>
            <a:ext cx="10566400" cy="1908572"/>
          </a:xfrm>
          <a:prstGeom prst="roundRect">
            <a:avLst>
              <a:gd name="adj" fmla="val 5323"/>
            </a:avLst>
          </a:prstGeom>
          <a:solidFill>
            <a:srgbClr val="FCFCFB"/>
          </a:solidFill>
          <a:ln/>
        </p:spPr>
      </p:sp>
      <p:sp>
        <p:nvSpPr>
          <p:cNvPr id="7" name="Shape 5"/>
          <p:cNvSpPr/>
          <p:nvPr/>
        </p:nvSpPr>
        <p:spPr>
          <a:xfrm>
            <a:off x="812800" y="2176661"/>
            <a:ext cx="10566400" cy="1908572"/>
          </a:xfrm>
          <a:custGeom>
            <a:avLst/>
            <a:gdLst/>
            <a:ahLst/>
            <a:cxnLst/>
            <a:rect l="l" t="t" r="r" b="b"/>
            <a:pathLst>
              <a:path w="10566400" h="1908572">
                <a:moveTo>
                  <a:pt x="10464800" y="0"/>
                </a:moveTo>
                <a:lnTo>
                  <a:pt x="10464800" y="0"/>
                </a:lnTo>
                <a:arcTo hR="101600" wR="101600" stAng="16200000" swAng="5400000"/>
                <a:lnTo>
                  <a:pt x="10566400" y="1806972"/>
                </a:lnTo>
                <a:arcTo hR="101600" wR="101600" stAng="0" swAng="5400000"/>
                <a:lnTo>
                  <a:pt x="101600" y="1908572"/>
                </a:lnTo>
                <a:arcTo hR="101600" wR="101600" stAng="5400000" swAng="5400000"/>
                <a:lnTo>
                  <a:pt x="0" y="1806972"/>
                </a:lnTo>
                <a:arcTo hR="95250" wR="101600" stAng="10800000" swAng="-5400000"/>
                <a:lnTo>
                  <a:pt x="10464800" y="1902222"/>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1908572"/>
          </a:xfrm>
          <a:custGeom>
            <a:avLst/>
            <a:gdLst/>
            <a:ahLst/>
            <a:cxnLst/>
            <a:rect l="l" t="t" r="r" b="b"/>
            <a:pathLst>
              <a:path w="10566400" h="1908572">
                <a:moveTo>
                  <a:pt x="101600" y="1908572"/>
                </a:moveTo>
                <a:lnTo>
                  <a:pt x="101600" y="190857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1806972"/>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1889522"/>
        </p:xfrm>
        <a:graphic>
          <a:graphicData uri="http://schemas.openxmlformats.org/drawingml/2006/table">
            <a:tbl>
              <a:tblPr/>
              <a:tblGrid>
                <a:gridCol w="3375152"/>
                <a:gridCol w="4007993"/>
                <a:gridCol w="3164205"/>
              </a:tblGrid>
              <a:tr h="472380">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Skill</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BFB7BB"/>
                      </a:solidFill>
                      <a:prstDash val="solid"/>
                      <a:round/>
                      <a:headEnd type="none" w="med" len="med"/>
                      <a:tailEnd type="none" w="med" len="med"/>
                    </a:lnR>
                    <a:lnT w="0" cap="flat" cmpd="sng" algn="ctr">
                      <a:noFill/>
                    </a:lnT>
                    <a:lnB w="12700" cap="flat" cmpd="sng" algn="ctr">
                      <a:solidFill>
                        <a:srgbClr val="BFB7BB"/>
                      </a:solidFill>
                      <a:prstDash val="solid"/>
                      <a:round/>
                      <a:headEnd type="none" w="med" len="med"/>
                      <a:tailEnd type="none" w="med" len="med"/>
                    </a:lnB>
                    <a:solidFill>
                      <a:srgbClr val="EFE5EA"/>
                    </a:solidFill>
                  </a:tcPr>
                </a:tc>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Kova режим и дозволе</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BFB7BB"/>
                      </a:solidFill>
                      <a:prstDash val="solid"/>
                      <a:round/>
                      <a:headEnd type="none" w="med" len="med"/>
                      <a:tailEnd type="none" w="med" len="med"/>
                    </a:lnL>
                    <a:lnR w="12700" cap="flat" cmpd="sng" algn="ctr">
                      <a:solidFill>
                        <a:srgbClr val="BFB7BB"/>
                      </a:solidFill>
                      <a:prstDash val="solid"/>
                      <a:round/>
                      <a:headEnd type="none" w="med" len="med"/>
                      <a:tailEnd type="none" w="med" len="med"/>
                    </a:lnR>
                    <a:lnT w="0" cap="flat" cmpd="sng" algn="ctr">
                      <a:noFill/>
                    </a:lnT>
                    <a:lnB w="12700" cap="flat" cmpd="sng" algn="ctr">
                      <a:solidFill>
                        <a:srgbClr val="BFB7BB"/>
                      </a:solidFill>
                      <a:prstDash val="solid"/>
                      <a:round/>
                      <a:headEnd type="none" w="med" len="med"/>
                      <a:tailEnd type="none" w="med" len="med"/>
                    </a:lnB>
                    <a:solidFill>
                      <a:srgbClr val="EFE5EA"/>
                    </a:solidFill>
                  </a:tcPr>
                </a:tc>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Ограничење</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BFB7BB"/>
                      </a:solidFill>
                      <a:prstDash val="solid"/>
                      <a:round/>
                      <a:headEnd type="none" w="med" len="med"/>
                      <a:tailEnd type="none" w="med" len="med"/>
                    </a:lnL>
                    <a:lnR w="12700" cap="flat" cmpd="sng" algn="ctr">
                      <a:solidFill>
                        <a:srgbClr val="BFB7BB"/>
                      </a:solidFill>
                      <a:prstDash val="solid"/>
                      <a:round/>
                      <a:headEnd type="none" w="med" len="med"/>
                      <a:tailEnd type="none" w="med" len="med"/>
                    </a:lnR>
                    <a:lnT w="0" cap="flat" cmpd="sng" algn="ctr">
                      <a:noFill/>
                    </a:lnT>
                    <a:lnB w="12700" cap="flat" cmpd="sng" algn="ctr">
                      <a:solidFill>
                        <a:srgbClr val="BFB7BB"/>
                      </a:solidFill>
                      <a:prstDash val="solid"/>
                      <a:round/>
                      <a:headEnd type="none" w="med" len="med"/>
                      <a:tailEnd type="none" w="med" len="med"/>
                    </a:lnB>
                    <a:solidFill>
                      <a:srgbClr val="EFE5EA"/>
                    </a:solidFill>
                  </a:tcPr>
                </a:tc>
              </a:tr>
              <a:tr h="472380">
                <a:tc>
                  <a:txBody>
                    <a:bodyPr/>
                    <a:lstStyle/>
                    <a:p>
                      <a:pPr indent="0" marL="0">
                        <a:lnSpc>
                          <a:spcPts val="1820"/>
                        </a:lnSpc>
                        <a:buNone/>
                      </a:pPr>
                      <a:r>
                        <a:rPr lang="en-US" sz="1300" dirty="0">
                          <a:solidFill>
                            <a:srgbClr val="A2276F"/>
                          </a:solidFill>
                          <a:latin typeface="IBM Plex Sans" pitchFamily="34" charset="0"/>
                          <a:ea typeface="IBM Plex Sans" pitchFamily="34" charset="-122"/>
                          <a:cs typeface="IBM Plex Sans" pitchFamily="34" charset="-120"/>
                        </a:rPr>
                        <a:t>architecture-review</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FB7BB"/>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Plan: чита solution, инструкције и diff</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FB7BB"/>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не пише код</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FB7BB"/>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72380">
                <a:tc>
                  <a:txBody>
                    <a:bodyPr/>
                    <a:lstStyle/>
                    <a:p>
                      <a:pPr indent="0" marL="0">
                        <a:lnSpc>
                          <a:spcPts val="1820"/>
                        </a:lnSpc>
                        <a:buNone/>
                      </a:pPr>
                      <a:r>
                        <a:rPr lang="en-US" sz="1300" dirty="0">
                          <a:solidFill>
                            <a:srgbClr val="A2276F"/>
                          </a:solidFill>
                          <a:latin typeface="IBM Plex Sans" pitchFamily="34" charset="0"/>
                          <a:ea typeface="IBM Plex Sans" pitchFamily="34" charset="-122"/>
                          <a:cs typeface="IBM Plex Sans" pitchFamily="34" charset="-120"/>
                        </a:rPr>
                        <a:t>implement-approved-plan</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Manual: мења фајлове из усвојеног плана</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не проширује захтев</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72380">
                <a:tc>
                  <a:txBody>
                    <a:bodyPr/>
                    <a:lstStyle/>
                    <a:p>
                      <a:pPr indent="0" marL="0">
                        <a:lnSpc>
                          <a:spcPts val="1820"/>
                        </a:lnSpc>
                        <a:buNone/>
                      </a:pPr>
                      <a:r>
                        <a:rPr lang="en-US" sz="1300" dirty="0">
                          <a:solidFill>
                            <a:srgbClr val="A2276F"/>
                          </a:solidFill>
                          <a:latin typeface="IBM Plex Sans" pitchFamily="34" charset="0"/>
                          <a:ea typeface="IBM Plex Sans" pitchFamily="34" charset="-122"/>
                          <a:cs typeface="IBM Plex Sans" pitchFamily="34" charset="-120"/>
                        </a:rPr>
                        <a:t>review-PR</a:t>
                      </a:r>
                      <a:endParaRPr lang="en-US" sz="13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Manual: чита diff и покреће тестове</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не мења тест да сакрије грешку</a:t>
                      </a:r>
                      <a:endParaRPr lang="en-US" sz="13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4339233"/>
            <a:ext cx="10566400" cy="783530"/>
          </a:xfrm>
          <a:prstGeom prst="roundRect">
            <a:avLst>
              <a:gd name="adj" fmla="val 12967"/>
            </a:avLst>
          </a:prstGeom>
          <a:solidFill>
            <a:srgbClr val="EFE5EA"/>
          </a:solidFill>
          <a:ln/>
        </p:spPr>
      </p:sp>
      <p:sp>
        <p:nvSpPr>
          <p:cNvPr id="11" name="Shape 8"/>
          <p:cNvSpPr/>
          <p:nvPr/>
        </p:nvSpPr>
        <p:spPr>
          <a:xfrm>
            <a:off x="812800" y="433923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A2276F"/>
          </a:solidFill>
          <a:ln/>
        </p:spPr>
      </p:sp>
      <p:sp>
        <p:nvSpPr>
          <p:cNvPr id="12" name="Text 9"/>
          <p:cNvSpPr/>
          <p:nvPr/>
        </p:nvSpPr>
        <p:spPr>
          <a:xfrm>
            <a:off x="1054100" y="449163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473035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Принцип најмањих привилегија важи и за агента, као за сваки други процес.</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5EA"/>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A2276F"/>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189239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283520"/>
            <a:ext cx="7325360" cy="130552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Имплементација и провера</a:t>
            </a:r>
            <a:endParaRPr lang="en-US" sz="4800" dirty="0"/>
          </a:p>
        </p:txBody>
      </p:sp>
      <p:sp>
        <p:nvSpPr>
          <p:cNvPr id="5" name="Text 3"/>
          <p:cNvSpPr/>
          <p:nvPr/>
        </p:nvSpPr>
        <p:spPr>
          <a:xfrm>
            <a:off x="4267200" y="374144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се план предаје агенту и шта мора да важи да би резултат био прихваћен.</a:t>
            </a:r>
            <a:endParaRPr lang="en-US" sz="1400" dirty="0"/>
          </a:p>
        </p:txBody>
      </p:sp>
      <p:sp>
        <p:nvSpPr>
          <p:cNvPr id="6" name="Text 4"/>
          <p:cNvSpPr/>
          <p:nvPr/>
        </p:nvSpPr>
        <p:spPr>
          <a:xfrm>
            <a:off x="4270375" y="4437955"/>
            <a:ext cx="1929805"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Структурирана предаја</a:t>
            </a:r>
            <a:endParaRPr lang="en-US" sz="1200" dirty="0"/>
          </a:p>
        </p:txBody>
      </p:sp>
      <p:sp>
        <p:nvSpPr>
          <p:cNvPr id="7" name="Text 5"/>
          <p:cNvSpPr/>
          <p:nvPr/>
        </p:nvSpPr>
        <p:spPr>
          <a:xfrm>
            <a:off x="6282730" y="4437955"/>
            <a:ext cx="1476970"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Стварни сигнали</a:t>
            </a:r>
            <a:endParaRPr lang="en-US" sz="1200" dirty="0"/>
          </a:p>
        </p:txBody>
      </p:sp>
      <p:sp>
        <p:nvSpPr>
          <p:cNvPr id="8" name="Text 6"/>
          <p:cNvSpPr/>
          <p:nvPr/>
        </p:nvSpPr>
        <p:spPr>
          <a:xfrm>
            <a:off x="7842250" y="4437955"/>
            <a:ext cx="981075"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AI_USAGE</a:t>
            </a:r>
            <a:endParaRPr lang="en-US" sz="1200" dirty="0"/>
          </a:p>
        </p:txBody>
      </p:sp>
      <p:sp>
        <p:nvSpPr>
          <p:cNvPr id="9" name="Text 7"/>
          <p:cNvSpPr/>
          <p:nvPr/>
        </p:nvSpPr>
        <p:spPr>
          <a:xfrm>
            <a:off x="8905875" y="4437955"/>
            <a:ext cx="1515070"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Услови за прекид</a:t>
            </a:r>
            <a:endParaRPr lang="en-US" sz="1200" dirty="0"/>
          </a:p>
        </p:txBody>
      </p:sp>
      <p:sp>
        <p:nvSpPr>
          <p:cNvPr id="10" name="Shape 8"/>
          <p:cNvSpPr/>
          <p:nvPr/>
        </p:nvSpPr>
        <p:spPr>
          <a:xfrm>
            <a:off x="812800" y="6209705"/>
            <a:ext cx="10566400" cy="0"/>
          </a:xfrm>
          <a:prstGeom prst="line">
            <a:avLst/>
          </a:prstGeom>
          <a:noFill/>
          <a:ln w="6350">
            <a:solidFill>
              <a:srgbClr val="C6B7C7"/>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03 · ИМПЛЕМЕНТАЦИЈА И ПРОВЕРА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Структурирана предаја задатка агенту</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План наводи дозвољене фајлове, очекиване измене и поступак провере.</a:t>
            </a:r>
            <a:endParaRPr lang="en-US" sz="1400" dirty="0"/>
          </a:p>
        </p:txBody>
      </p:sp>
      <p:sp>
        <p:nvSpPr>
          <p:cNvPr id="6" name="Shape 4"/>
          <p:cNvSpPr/>
          <p:nvPr/>
        </p:nvSpPr>
        <p:spPr>
          <a:xfrm>
            <a:off x="815975" y="2078236"/>
            <a:ext cx="7359650" cy="3071614"/>
          </a:xfrm>
          <a:prstGeom prst="roundRect">
            <a:avLst>
              <a:gd name="adj" fmla="val 3204"/>
            </a:avLst>
          </a:prstGeom>
          <a:solidFill>
            <a:srgbClr val="FCFCFB"/>
          </a:solidFill>
          <a:ln w="6350">
            <a:solidFill>
              <a:srgbClr val="D3DAE1"/>
            </a:solidFill>
            <a:prstDash val="solid"/>
          </a:ln>
        </p:spPr>
      </p:sp>
      <p:sp>
        <p:nvSpPr>
          <p:cNvPr id="7" name="Text 5"/>
          <p:cNvSpPr/>
          <p:nvPr/>
        </p:nvSpPr>
        <p:spPr>
          <a:xfrm>
            <a:off x="996950" y="2208411"/>
            <a:ext cx="72076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JSON · предаја плана</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2276F"/>
                </a:solidFill>
                <a:latin typeface="IBM Plex Mono" pitchFamily="49" charset="0"/>
                <a:ea typeface="IBM Plex Mono" pitchFamily="49" charset="-122"/>
                <a:cs typeface="IBM Plex Mono" pitchFamily="49" charset="-120"/>
              </a:rPr>
              <a:t>"task"</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"Implement approved reservation quantity rule"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2276F"/>
                </a:solidFill>
                <a:latin typeface="IBM Plex Mono" pitchFamily="49" charset="0"/>
                <a:ea typeface="IBM Plex Mono" pitchFamily="49" charset="-122"/>
                <a:cs typeface="IBM Plex Mono" pitchFamily="49" charset="-120"/>
              </a:rPr>
              <a:t>"constraints"</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    "Keep business rule outside Api",</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    "No Infrastructure dependency in Domain/Application",</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    "Existing tests stay green"</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2276F"/>
                </a:solidFill>
                <a:latin typeface="IBM Plex Mono" pitchFamily="49" charset="0"/>
                <a:ea typeface="IBM Plex Mono" pitchFamily="49" charset="-122"/>
                <a:cs typeface="IBM Plex Mono" pitchFamily="49" charset="-120"/>
              </a:rPr>
              <a:t>"filesToConsider"</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    "src/EquipmentReservation.Application/Reservations/Create/",</a:t>
            </a:r>
            <a:endParaRPr lang="en-US" sz="1200" dirty="0"/>
          </a:p>
        </p:txBody>
      </p:sp>
      <p:sp>
        <p:nvSpPr>
          <p:cNvPr id="26" name="Text 24"/>
          <p:cNvSpPr/>
          <p:nvPr/>
        </p:nvSpPr>
        <p:spPr>
          <a:xfrm>
            <a:off x="9969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79714"/>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    "tests/EquipmentReservation.Tests/Application/"</a:t>
            </a:r>
            <a:endParaRPr lang="en-US" sz="1200" dirty="0"/>
          </a:p>
        </p:txBody>
      </p:sp>
      <p:sp>
        <p:nvSpPr>
          <p:cNvPr id="28" name="Text 26"/>
          <p:cNvSpPr/>
          <p:nvPr/>
        </p:nvSpPr>
        <p:spPr>
          <a:xfrm>
            <a:off x="9969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93034"/>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0" name="Text 28"/>
          <p:cNvSpPr/>
          <p:nvPr/>
        </p:nvSpPr>
        <p:spPr>
          <a:xfrm>
            <a:off x="9969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806355"/>
            <a:ext cx="68152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2" name="Text 30"/>
          <p:cNvSpPr/>
          <p:nvPr/>
        </p:nvSpPr>
        <p:spPr>
          <a:xfrm>
            <a:off x="8458200" y="2075061"/>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3" name="Shape 31"/>
          <p:cNvSpPr/>
          <p:nvPr/>
        </p:nvSpPr>
        <p:spPr>
          <a:xfrm>
            <a:off x="8470900" y="2415381"/>
            <a:ext cx="0" cy="256480"/>
          </a:xfrm>
          <a:prstGeom prst="line">
            <a:avLst/>
          </a:prstGeom>
          <a:noFill/>
          <a:ln w="25400">
            <a:solidFill>
              <a:srgbClr val="A2276F"/>
            </a:solidFill>
            <a:prstDash val="solid"/>
          </a:ln>
        </p:spPr>
      </p:sp>
      <p:sp>
        <p:nvSpPr>
          <p:cNvPr id="34" name="Text 32"/>
          <p:cNvSpPr/>
          <p:nvPr/>
        </p:nvSpPr>
        <p:spPr>
          <a:xfrm>
            <a:off x="8623300" y="2428081"/>
            <a:ext cx="283857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Фајлови су намерно ограничени.</a:t>
            </a:r>
            <a:endParaRPr lang="en-US" sz="1300" dirty="0"/>
          </a:p>
        </p:txBody>
      </p:sp>
      <p:sp>
        <p:nvSpPr>
          <p:cNvPr id="35" name="Shape 33"/>
          <p:cNvSpPr/>
          <p:nvPr/>
        </p:nvSpPr>
        <p:spPr>
          <a:xfrm>
            <a:off x="8470900" y="2798862"/>
            <a:ext cx="0" cy="487561"/>
          </a:xfrm>
          <a:prstGeom prst="line">
            <a:avLst/>
          </a:prstGeom>
          <a:noFill/>
          <a:ln w="25400">
            <a:solidFill>
              <a:srgbClr val="A2276F"/>
            </a:solidFill>
            <a:prstDash val="solid"/>
          </a:ln>
        </p:spPr>
      </p:sp>
      <p:sp>
        <p:nvSpPr>
          <p:cNvPr id="36" name="Text 34"/>
          <p:cNvSpPr/>
          <p:nvPr/>
        </p:nvSpPr>
        <p:spPr>
          <a:xfrm>
            <a:off x="8623300" y="2811562"/>
            <a:ext cx="283857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Верификација је унапред дефинисана.</a:t>
            </a:r>
            <a:endParaRPr lang="en-US" sz="1300" dirty="0"/>
          </a:p>
        </p:txBody>
      </p:sp>
      <p:sp>
        <p:nvSpPr>
          <p:cNvPr id="37" name="Shape 35"/>
          <p:cNvSpPr/>
          <p:nvPr/>
        </p:nvSpPr>
        <p:spPr>
          <a:xfrm>
            <a:off x="8470900" y="3413423"/>
            <a:ext cx="0" cy="487561"/>
          </a:xfrm>
          <a:prstGeom prst="line">
            <a:avLst/>
          </a:prstGeom>
          <a:noFill/>
          <a:ln w="25400">
            <a:solidFill>
              <a:srgbClr val="E07B1F"/>
            </a:solidFill>
            <a:prstDash val="solid"/>
          </a:ln>
        </p:spPr>
      </p:sp>
      <p:sp>
        <p:nvSpPr>
          <p:cNvPr id="38" name="Text 36"/>
          <p:cNvSpPr/>
          <p:nvPr/>
        </p:nvSpPr>
        <p:spPr>
          <a:xfrm>
            <a:off x="8623300" y="3426123"/>
            <a:ext cx="283857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Ако се обим прошири, враћа се на анализу.</a:t>
            </a:r>
            <a:endParaRPr lang="en-US" sz="1300" dirty="0"/>
          </a:p>
        </p:txBody>
      </p:sp>
      <p:sp>
        <p:nvSpPr>
          <p:cNvPr id="39" name="Shape 37"/>
          <p:cNvSpPr/>
          <p:nvPr/>
        </p:nvSpPr>
        <p:spPr>
          <a:xfrm>
            <a:off x="812800" y="6209705"/>
            <a:ext cx="10566400" cy="0"/>
          </a:xfrm>
          <a:prstGeom prst="line">
            <a:avLst/>
          </a:prstGeom>
          <a:noFill/>
          <a:ln w="6350">
            <a:solidFill>
              <a:srgbClr val="D3DAE1"/>
            </a:solidFill>
            <a:prstDash val="solid"/>
          </a:ln>
        </p:spPr>
      </p:sp>
      <p:sp>
        <p:nvSpPr>
          <p:cNvPr id="40" name="Text 3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03 · ИМПЛЕМЕНТАЦИЈА И ПРОВЕРА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Провера AI резултата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Резултат се прихвата тек након компилације, тестова и прегледа diff-а.</a:t>
            </a:r>
            <a:endParaRPr lang="en-US" sz="1400" dirty="0"/>
          </a:p>
        </p:txBody>
      </p:sp>
      <p:sp>
        <p:nvSpPr>
          <p:cNvPr id="6" name="Shape 4"/>
          <p:cNvSpPr/>
          <p:nvPr/>
        </p:nvSpPr>
        <p:spPr>
          <a:xfrm>
            <a:off x="831850" y="2176661"/>
            <a:ext cx="0" cy="777081"/>
          </a:xfrm>
          <a:prstGeom prst="line">
            <a:avLst/>
          </a:prstGeom>
          <a:noFill/>
          <a:ln w="38100">
            <a:solidFill>
              <a:srgbClr val="A2276F"/>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Завршетак задатка заснива се на стварним сигналима, а не на тврдњи модела.</a:t>
            </a:r>
            <a:endParaRPr lang="en-US" sz="2200" dirty="0"/>
          </a:p>
        </p:txBody>
      </p:sp>
      <p:sp>
        <p:nvSpPr>
          <p:cNvPr id="8" name="Shape 6"/>
          <p:cNvSpPr/>
          <p:nvPr/>
        </p:nvSpPr>
        <p:spPr>
          <a:xfrm>
            <a:off x="815975" y="3210917"/>
            <a:ext cx="3448050" cy="491430"/>
          </a:xfrm>
          <a:prstGeom prst="roundRect">
            <a:avLst>
              <a:gd name="adj" fmla="val 17444"/>
            </a:avLst>
          </a:prstGeom>
          <a:solidFill>
            <a:srgbClr val="FCFCFB"/>
          </a:solidFill>
          <a:ln w="6350">
            <a:solidFill>
              <a:srgbClr val="D3DAE1"/>
            </a:solidFill>
            <a:prstDash val="solid"/>
          </a:ln>
        </p:spPr>
      </p:sp>
      <p:pic>
        <p:nvPicPr>
          <p:cNvPr id="9" name="Image 0" descr="Wrench">    </p:cNvPr>
          <p:cNvPicPr>
            <a:picLocks noChangeAspect="1"/>
          </p:cNvPicPr>
          <p:nvPr/>
        </p:nvPicPr>
        <p:blipFill>
          <a:blip r:embed="rId1"/>
          <a:srcRect l="0" r="0" t="0" b="0"/>
          <a:stretch/>
        </p:blipFill>
        <p:spPr>
          <a:xfrm>
            <a:off x="971550" y="3354983"/>
            <a:ext cx="203200" cy="203200"/>
          </a:xfrm>
          <a:prstGeom prst="rect">
            <a:avLst/>
          </a:prstGeom>
        </p:spPr>
      </p:pic>
      <p:sp>
        <p:nvSpPr>
          <p:cNvPr id="10" name="Text 7"/>
          <p:cNvSpPr/>
          <p:nvPr/>
        </p:nvSpPr>
        <p:spPr>
          <a:xfrm>
            <a:off x="1276350" y="3341092"/>
            <a:ext cx="291706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успешан build</a:t>
            </a:r>
            <a:endParaRPr lang="en-US" sz="1300" dirty="0"/>
          </a:p>
        </p:txBody>
      </p:sp>
      <p:sp>
        <p:nvSpPr>
          <p:cNvPr id="11" name="Shape 8"/>
          <p:cNvSpPr/>
          <p:nvPr/>
        </p:nvSpPr>
        <p:spPr>
          <a:xfrm>
            <a:off x="4371975" y="3210917"/>
            <a:ext cx="3448050" cy="491430"/>
          </a:xfrm>
          <a:prstGeom prst="roundRect">
            <a:avLst>
              <a:gd name="adj" fmla="val 17444"/>
            </a:avLst>
          </a:prstGeom>
          <a:solidFill>
            <a:srgbClr val="FCFCFB"/>
          </a:solidFill>
          <a:ln w="6350">
            <a:solidFill>
              <a:srgbClr val="D3DAE1"/>
            </a:solidFill>
            <a:prstDash val="solid"/>
          </a:ln>
        </p:spPr>
      </p:sp>
      <p:pic>
        <p:nvPicPr>
          <p:cNvPr id="12" name="Image 1" descr="CheckCircle">    </p:cNvPr>
          <p:cNvPicPr>
            <a:picLocks noChangeAspect="1"/>
          </p:cNvPicPr>
          <p:nvPr/>
        </p:nvPicPr>
        <p:blipFill>
          <a:blip r:embed="rId2"/>
          <a:srcRect l="0" r="0" t="0" b="0"/>
          <a:stretch/>
        </p:blipFill>
        <p:spPr>
          <a:xfrm>
            <a:off x="4527550" y="3354983"/>
            <a:ext cx="203200" cy="203200"/>
          </a:xfrm>
          <a:prstGeom prst="rect">
            <a:avLst/>
          </a:prstGeom>
        </p:spPr>
      </p:pic>
      <p:sp>
        <p:nvSpPr>
          <p:cNvPr id="13" name="Text 9"/>
          <p:cNvSpPr/>
          <p:nvPr/>
        </p:nvSpPr>
        <p:spPr>
          <a:xfrm>
            <a:off x="4832350" y="3341092"/>
            <a:ext cx="291706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успешни NUnit тестови</a:t>
            </a:r>
            <a:endParaRPr lang="en-US" sz="1300" dirty="0"/>
          </a:p>
        </p:txBody>
      </p:sp>
      <p:sp>
        <p:nvSpPr>
          <p:cNvPr id="14" name="Shape 10"/>
          <p:cNvSpPr/>
          <p:nvPr/>
        </p:nvSpPr>
        <p:spPr>
          <a:xfrm>
            <a:off x="7927975" y="3210917"/>
            <a:ext cx="3448050" cy="491430"/>
          </a:xfrm>
          <a:prstGeom prst="roundRect">
            <a:avLst>
              <a:gd name="adj" fmla="val 17444"/>
            </a:avLst>
          </a:prstGeom>
          <a:solidFill>
            <a:srgbClr val="FCFCFB"/>
          </a:solidFill>
          <a:ln w="6350">
            <a:solidFill>
              <a:srgbClr val="D3DAE1"/>
            </a:solidFill>
            <a:prstDash val="solid"/>
          </a:ln>
        </p:spPr>
      </p:sp>
      <p:pic>
        <p:nvPicPr>
          <p:cNvPr id="15" name="Image 2" descr="Search">    </p:cNvPr>
          <p:cNvPicPr>
            <a:picLocks noChangeAspect="1"/>
          </p:cNvPicPr>
          <p:nvPr/>
        </p:nvPicPr>
        <p:blipFill>
          <a:blip r:embed="rId3"/>
          <a:srcRect l="0" r="0" t="0" b="0"/>
          <a:stretch/>
        </p:blipFill>
        <p:spPr>
          <a:xfrm>
            <a:off x="8083550" y="3354983"/>
            <a:ext cx="203200" cy="203200"/>
          </a:xfrm>
          <a:prstGeom prst="rect">
            <a:avLst/>
          </a:prstGeom>
        </p:spPr>
      </p:pic>
      <p:sp>
        <p:nvSpPr>
          <p:cNvPr id="16" name="Text 11"/>
          <p:cNvSpPr/>
          <p:nvPr/>
        </p:nvSpPr>
        <p:spPr>
          <a:xfrm>
            <a:off x="8388350" y="3341092"/>
            <a:ext cx="291706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прегледан финални diff</a:t>
            </a:r>
            <a:endParaRPr lang="en-US" sz="1300" dirty="0"/>
          </a:p>
        </p:txBody>
      </p:sp>
      <p:sp>
        <p:nvSpPr>
          <p:cNvPr id="17" name="Shape 12"/>
          <p:cNvSpPr/>
          <p:nvPr/>
        </p:nvSpPr>
        <p:spPr>
          <a:xfrm>
            <a:off x="812800" y="3959523"/>
            <a:ext cx="10566400" cy="783530"/>
          </a:xfrm>
          <a:prstGeom prst="roundRect">
            <a:avLst>
              <a:gd name="adj" fmla="val 12967"/>
            </a:avLst>
          </a:prstGeom>
          <a:solidFill>
            <a:srgbClr val="FBF1E6"/>
          </a:solidFill>
          <a:ln/>
        </p:spPr>
      </p:sp>
      <p:sp>
        <p:nvSpPr>
          <p:cNvPr id="18" name="Shape 13"/>
          <p:cNvSpPr/>
          <p:nvPr/>
        </p:nvSpPr>
        <p:spPr>
          <a:xfrm>
            <a:off x="812800" y="395952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E07B1F"/>
          </a:solidFill>
          <a:ln/>
        </p:spPr>
      </p:sp>
      <p:sp>
        <p:nvSpPr>
          <p:cNvPr id="19" name="Text 14"/>
          <p:cNvSpPr/>
          <p:nvPr/>
        </p:nvSpPr>
        <p:spPr>
          <a:xfrm>
            <a:off x="1054100" y="41119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НАПОМЕНА</a:t>
            </a:r>
            <a:endParaRPr lang="en-US" sz="1200" dirty="0"/>
          </a:p>
        </p:txBody>
      </p:sp>
      <p:sp>
        <p:nvSpPr>
          <p:cNvPr id="20" name="Text 15"/>
          <p:cNvSpPr/>
          <p:nvPr/>
        </p:nvSpPr>
        <p:spPr>
          <a:xfrm>
            <a:off x="1054100" y="43506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Ако команда није извршена, не бележи се као успешна провера.</a:t>
            </a:r>
            <a:endParaRPr lang="en-US" sz="1400" dirty="0"/>
          </a:p>
        </p:txBody>
      </p:sp>
      <p:sp>
        <p:nvSpPr>
          <p:cNvPr id="21" name="Shape 16"/>
          <p:cNvSpPr/>
          <p:nvPr/>
        </p:nvSpPr>
        <p:spPr>
          <a:xfrm>
            <a:off x="812800" y="6209705"/>
            <a:ext cx="10566400" cy="0"/>
          </a:xfrm>
          <a:prstGeom prst="line">
            <a:avLst/>
          </a:prstGeom>
          <a:noFill/>
          <a:ln w="6350">
            <a:solidFill>
              <a:srgbClr val="D3DAE1"/>
            </a:solidFill>
            <a:prstDash val="solid"/>
          </a:ln>
        </p:spPr>
      </p:sp>
      <p:sp>
        <p:nvSpPr>
          <p:cNvPr id="22" name="Text 1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03 · ИМПЛЕМЕНТАЦИЈА И ПРОВЕРА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Независна провера измене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Команде за build, тестирање и diff обезбеђују независне сигнале.</a:t>
            </a:r>
            <a:endParaRPr lang="en-US" sz="1400" dirty="0"/>
          </a:p>
        </p:txBody>
      </p:sp>
      <p:sp>
        <p:nvSpPr>
          <p:cNvPr id="6" name="Shape 4"/>
          <p:cNvSpPr/>
          <p:nvPr/>
        </p:nvSpPr>
        <p:spPr>
          <a:xfrm>
            <a:off x="815975" y="2179836"/>
            <a:ext cx="10560050" cy="1484412"/>
          </a:xfrm>
          <a:prstGeom prst="roundRect">
            <a:avLst>
              <a:gd name="adj" fmla="val 6631"/>
            </a:avLst>
          </a:prstGeom>
          <a:solidFill>
            <a:srgbClr val="FCFCFB"/>
          </a:solidFill>
          <a:ln w="6350">
            <a:solidFill>
              <a:srgbClr val="D3DAE1"/>
            </a:solidFill>
            <a:prstDash val="solid"/>
          </a:ln>
        </p:spPr>
      </p:sp>
      <p:sp>
        <p:nvSpPr>
          <p:cNvPr id="7" name="Text 5"/>
          <p:cNvSpPr/>
          <p:nvPr/>
        </p:nvSpPr>
        <p:spPr>
          <a:xfrm>
            <a:off x="1022350" y="23608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a:t>
            </a:r>
            <a:endParaRPr lang="en-US" sz="1200" dirty="0"/>
          </a:p>
        </p:txBody>
      </p:sp>
      <p:sp>
        <p:nvSpPr>
          <p:cNvPr id="8" name="Text 6"/>
          <p:cNvSpPr/>
          <p:nvPr/>
        </p:nvSpPr>
        <p:spPr>
          <a:xfrm>
            <a:off x="1022350" y="26757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75731"/>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2276F"/>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build EquipmentReservation.sln -c Release</a:t>
            </a:r>
            <a:endParaRPr lang="en-US" sz="1200" dirty="0"/>
          </a:p>
        </p:txBody>
      </p:sp>
      <p:sp>
        <p:nvSpPr>
          <p:cNvPr id="10" name="Text 8"/>
          <p:cNvSpPr/>
          <p:nvPr/>
        </p:nvSpPr>
        <p:spPr>
          <a:xfrm>
            <a:off x="1022350" y="29576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57612"/>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2276F"/>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 EquipmentReservation.sln -c Release --no-build</a:t>
            </a:r>
            <a:endParaRPr lang="en-US" sz="1200" dirty="0"/>
          </a:p>
        </p:txBody>
      </p:sp>
      <p:sp>
        <p:nvSpPr>
          <p:cNvPr id="12" name="Text 10"/>
          <p:cNvSpPr/>
          <p:nvPr/>
        </p:nvSpPr>
        <p:spPr>
          <a:xfrm>
            <a:off x="1022350" y="323949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239492"/>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2276F"/>
                </a:solidFill>
                <a:latin typeface="IBM Plex Mono" pitchFamily="49" charset="0"/>
                <a:ea typeface="IBM Plex Mono" pitchFamily="49" charset="-122"/>
                <a:cs typeface="IBM Plex Mono" pitchFamily="49" charset="-120"/>
              </a:rPr>
              <a:t>git</a:t>
            </a:r>
            <a:r>
              <a:rPr lang="en-US" sz="1200" dirty="0">
                <a:solidFill>
                  <a:srgbClr val="13202D"/>
                </a:solidFill>
                <a:latin typeface="IBM Plex Mono" pitchFamily="49" charset="0"/>
                <a:ea typeface="IBM Plex Mono" pitchFamily="49" charset="-122"/>
                <a:cs typeface="IBM Plex Mono" pitchFamily="49" charset="-120"/>
              </a:rPr>
              <a:t> diff -- .</a:t>
            </a:r>
            <a:endParaRPr lang="en-US" sz="1200" dirty="0"/>
          </a:p>
        </p:txBody>
      </p:sp>
      <p:sp>
        <p:nvSpPr>
          <p:cNvPr id="14" name="Shape 12"/>
          <p:cNvSpPr/>
          <p:nvPr/>
        </p:nvSpPr>
        <p:spPr>
          <a:xfrm>
            <a:off x="825500" y="3921423"/>
            <a:ext cx="0" cy="487561"/>
          </a:xfrm>
          <a:prstGeom prst="line">
            <a:avLst/>
          </a:prstGeom>
          <a:noFill/>
          <a:ln w="25400">
            <a:solidFill>
              <a:srgbClr val="E07B1F"/>
            </a:solidFill>
            <a:prstDash val="solid"/>
          </a:ln>
        </p:spPr>
      </p:sp>
      <p:sp>
        <p:nvSpPr>
          <p:cNvPr id="15" name="Text 13"/>
          <p:cNvSpPr/>
          <p:nvPr/>
        </p:nvSpPr>
        <p:spPr>
          <a:xfrm>
            <a:off x="977900" y="3934123"/>
            <a:ext cx="3353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Пад теста се не решава брисањем очекивања.</a:t>
            </a:r>
            <a:endParaRPr lang="en-US" sz="1300" dirty="0"/>
          </a:p>
        </p:txBody>
      </p:sp>
      <p:sp>
        <p:nvSpPr>
          <p:cNvPr id="16" name="Shape 14"/>
          <p:cNvSpPr/>
          <p:nvPr/>
        </p:nvSpPr>
        <p:spPr>
          <a:xfrm>
            <a:off x="4398367" y="3921423"/>
            <a:ext cx="0" cy="487561"/>
          </a:xfrm>
          <a:prstGeom prst="line">
            <a:avLst/>
          </a:prstGeom>
          <a:noFill/>
          <a:ln w="25400">
            <a:solidFill>
              <a:srgbClr val="E07B1F"/>
            </a:solidFill>
            <a:prstDash val="solid"/>
          </a:ln>
        </p:spPr>
      </p:sp>
      <p:sp>
        <p:nvSpPr>
          <p:cNvPr id="17" name="Text 15"/>
          <p:cNvSpPr/>
          <p:nvPr/>
        </p:nvSpPr>
        <p:spPr>
          <a:xfrm>
            <a:off x="4550767" y="393412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Diff не сме да додирује неочекиване слојеве.</a:t>
            </a:r>
            <a:endParaRPr lang="en-US" sz="1300" dirty="0"/>
          </a:p>
        </p:txBody>
      </p:sp>
      <p:sp>
        <p:nvSpPr>
          <p:cNvPr id="18" name="Shape 16"/>
          <p:cNvSpPr/>
          <p:nvPr/>
        </p:nvSpPr>
        <p:spPr>
          <a:xfrm>
            <a:off x="7971334" y="3921423"/>
            <a:ext cx="0" cy="487561"/>
          </a:xfrm>
          <a:prstGeom prst="line">
            <a:avLst/>
          </a:prstGeom>
          <a:noFill/>
          <a:ln w="25400">
            <a:solidFill>
              <a:srgbClr val="A2276F"/>
            </a:solidFill>
            <a:prstDash val="solid"/>
          </a:ln>
        </p:spPr>
      </p:sp>
      <p:sp>
        <p:nvSpPr>
          <p:cNvPr id="19" name="Text 17"/>
          <p:cNvSpPr/>
          <p:nvPr/>
        </p:nvSpPr>
        <p:spPr>
          <a:xfrm>
            <a:off x="8123734" y="393412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Резултат команде је јачи од уверења модела.</a:t>
            </a:r>
            <a:endParaRPr lang="en-US" sz="1300" dirty="0"/>
          </a:p>
        </p:txBody>
      </p:sp>
      <p:sp>
        <p:nvSpPr>
          <p:cNvPr id="20" name="Shape 18"/>
          <p:cNvSpPr/>
          <p:nvPr/>
        </p:nvSpPr>
        <p:spPr>
          <a:xfrm>
            <a:off x="812800" y="6209705"/>
            <a:ext cx="10566400" cy="0"/>
          </a:xfrm>
          <a:prstGeom prst="line">
            <a:avLst/>
          </a:prstGeom>
          <a:noFill/>
          <a:ln w="6350">
            <a:solidFill>
              <a:srgbClr val="D3DAE1"/>
            </a:solidFill>
            <a:prstDash val="solid"/>
          </a:ln>
        </p:spPr>
      </p:sp>
      <p:sp>
        <p:nvSpPr>
          <p:cNvPr id="21" name="Text 1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2"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03 · ИМПЛЕМЕНТАЦИЈА И ПРОВЕРА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AI_USAGE као запис употребе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Документ садржи задатак, коришћени контекст, прихваћене одлуке и извршене провере.</a:t>
            </a:r>
            <a:endParaRPr lang="en-US" sz="1400" dirty="0"/>
          </a:p>
        </p:txBody>
      </p:sp>
      <p:sp>
        <p:nvSpPr>
          <p:cNvPr id="6" name="Shape 4"/>
          <p:cNvSpPr/>
          <p:nvPr/>
        </p:nvSpPr>
        <p:spPr>
          <a:xfrm>
            <a:off x="815975" y="2129036"/>
            <a:ext cx="2559050" cy="1357412"/>
          </a:xfrm>
          <a:prstGeom prst="roundRect">
            <a:avLst>
              <a:gd name="adj" fmla="val 7251"/>
            </a:avLst>
          </a:prstGeom>
          <a:solidFill>
            <a:srgbClr val="FCFCFB"/>
          </a:solidFill>
          <a:ln w="6350">
            <a:solidFill>
              <a:srgbClr val="D3DAE1"/>
            </a:solidFill>
            <a:prstDash val="solid"/>
          </a:ln>
        </p:spPr>
      </p:sp>
      <p:sp>
        <p:nvSpPr>
          <p:cNvPr id="7" name="Text 5"/>
          <p:cNvSpPr/>
          <p:nvPr/>
        </p:nvSpPr>
        <p:spPr>
          <a:xfrm>
            <a:off x="971550" y="2271911"/>
            <a:ext cx="2315337"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2276F"/>
                </a:solidFill>
                <a:latin typeface="IBM Plex Mono" pitchFamily="49" charset="0"/>
                <a:ea typeface="IBM Plex Mono" pitchFamily="49" charset="-122"/>
                <a:cs typeface="IBM Plex Mono" pitchFamily="49" charset="-120"/>
              </a:rPr>
              <a:t>01</a:t>
            </a:r>
            <a:endParaRPr lang="en-US" sz="1800" dirty="0"/>
          </a:p>
        </p:txBody>
      </p:sp>
      <p:sp>
        <p:nvSpPr>
          <p:cNvPr id="8" name="Text 6"/>
          <p:cNvSpPr/>
          <p:nvPr/>
        </p:nvSpPr>
        <p:spPr>
          <a:xfrm>
            <a:off x="971550" y="2655391"/>
            <a:ext cx="23153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Задатак</a:t>
            </a:r>
            <a:endParaRPr lang="en-US" sz="1400" dirty="0"/>
          </a:p>
        </p:txBody>
      </p:sp>
      <p:sp>
        <p:nvSpPr>
          <p:cNvPr id="9" name="Text 7"/>
          <p:cNvSpPr/>
          <p:nvPr/>
        </p:nvSpPr>
        <p:spPr>
          <a:xfrm>
            <a:off x="971550" y="2932212"/>
            <a:ext cx="231533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шта је тражено</a:t>
            </a:r>
            <a:endParaRPr lang="en-US" sz="1200" dirty="0"/>
          </a:p>
        </p:txBody>
      </p:sp>
      <p:sp>
        <p:nvSpPr>
          <p:cNvPr id="10" name="Shape 8"/>
          <p:cNvSpPr/>
          <p:nvPr/>
        </p:nvSpPr>
        <p:spPr>
          <a:xfrm>
            <a:off x="3482975" y="2129036"/>
            <a:ext cx="2559050" cy="1357412"/>
          </a:xfrm>
          <a:prstGeom prst="roundRect">
            <a:avLst>
              <a:gd name="adj" fmla="val 7251"/>
            </a:avLst>
          </a:prstGeom>
          <a:solidFill>
            <a:srgbClr val="FCFCFB"/>
          </a:solidFill>
          <a:ln w="6350">
            <a:solidFill>
              <a:srgbClr val="D3DAE1"/>
            </a:solidFill>
            <a:prstDash val="solid"/>
          </a:ln>
        </p:spPr>
      </p:sp>
      <p:sp>
        <p:nvSpPr>
          <p:cNvPr id="11" name="Text 9"/>
          <p:cNvSpPr/>
          <p:nvPr/>
        </p:nvSpPr>
        <p:spPr>
          <a:xfrm>
            <a:off x="3638550" y="2271911"/>
            <a:ext cx="2315337"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2276F"/>
                </a:solidFill>
                <a:latin typeface="IBM Plex Mono" pitchFamily="49" charset="0"/>
                <a:ea typeface="IBM Plex Mono" pitchFamily="49" charset="-122"/>
                <a:cs typeface="IBM Plex Mono" pitchFamily="49" charset="-120"/>
              </a:rPr>
              <a:t>02</a:t>
            </a:r>
            <a:endParaRPr lang="en-US" sz="1800" dirty="0"/>
          </a:p>
        </p:txBody>
      </p:sp>
      <p:sp>
        <p:nvSpPr>
          <p:cNvPr id="12" name="Text 10"/>
          <p:cNvSpPr/>
          <p:nvPr/>
        </p:nvSpPr>
        <p:spPr>
          <a:xfrm>
            <a:off x="3638550" y="2655391"/>
            <a:ext cx="23153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Контекст</a:t>
            </a:r>
            <a:endParaRPr lang="en-US" sz="1400" dirty="0"/>
          </a:p>
        </p:txBody>
      </p:sp>
      <p:sp>
        <p:nvSpPr>
          <p:cNvPr id="13" name="Text 11"/>
          <p:cNvSpPr/>
          <p:nvPr/>
        </p:nvSpPr>
        <p:spPr>
          <a:xfrm>
            <a:off x="3638550" y="2932212"/>
            <a:ext cx="231533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који фајлови и правила су коришћени</a:t>
            </a:r>
            <a:endParaRPr lang="en-US" sz="1200" dirty="0"/>
          </a:p>
        </p:txBody>
      </p:sp>
      <p:sp>
        <p:nvSpPr>
          <p:cNvPr id="14" name="Shape 12"/>
          <p:cNvSpPr/>
          <p:nvPr/>
        </p:nvSpPr>
        <p:spPr>
          <a:xfrm>
            <a:off x="6149975" y="2129036"/>
            <a:ext cx="2559050" cy="1357412"/>
          </a:xfrm>
          <a:prstGeom prst="roundRect">
            <a:avLst>
              <a:gd name="adj" fmla="val 7251"/>
            </a:avLst>
          </a:prstGeom>
          <a:solidFill>
            <a:srgbClr val="FCFCFB"/>
          </a:solidFill>
          <a:ln w="6350">
            <a:solidFill>
              <a:srgbClr val="D3DAE1"/>
            </a:solidFill>
            <a:prstDash val="solid"/>
          </a:ln>
        </p:spPr>
      </p:sp>
      <p:sp>
        <p:nvSpPr>
          <p:cNvPr id="15" name="Text 13"/>
          <p:cNvSpPr/>
          <p:nvPr/>
        </p:nvSpPr>
        <p:spPr>
          <a:xfrm>
            <a:off x="6305550" y="2271911"/>
            <a:ext cx="2315337"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2276F"/>
                </a:solidFill>
                <a:latin typeface="IBM Plex Mono" pitchFamily="49" charset="0"/>
                <a:ea typeface="IBM Plex Mono" pitchFamily="49" charset="-122"/>
                <a:cs typeface="IBM Plex Mono" pitchFamily="49" charset="-120"/>
              </a:rPr>
              <a:t>03</a:t>
            </a:r>
            <a:endParaRPr lang="en-US" sz="1800" dirty="0"/>
          </a:p>
        </p:txBody>
      </p:sp>
      <p:sp>
        <p:nvSpPr>
          <p:cNvPr id="16" name="Text 14"/>
          <p:cNvSpPr/>
          <p:nvPr/>
        </p:nvSpPr>
        <p:spPr>
          <a:xfrm>
            <a:off x="6305550" y="2655391"/>
            <a:ext cx="23153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Одлука</a:t>
            </a:r>
            <a:endParaRPr lang="en-US" sz="1400" dirty="0"/>
          </a:p>
        </p:txBody>
      </p:sp>
      <p:sp>
        <p:nvSpPr>
          <p:cNvPr id="17" name="Text 15"/>
          <p:cNvSpPr/>
          <p:nvPr/>
        </p:nvSpPr>
        <p:spPr>
          <a:xfrm>
            <a:off x="6305550" y="2932212"/>
            <a:ext cx="231533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шта је прихваћено или одбијено</a:t>
            </a:r>
            <a:endParaRPr lang="en-US" sz="1200" dirty="0"/>
          </a:p>
        </p:txBody>
      </p:sp>
      <p:sp>
        <p:nvSpPr>
          <p:cNvPr id="18" name="Shape 16"/>
          <p:cNvSpPr/>
          <p:nvPr/>
        </p:nvSpPr>
        <p:spPr>
          <a:xfrm>
            <a:off x="8816975" y="2129036"/>
            <a:ext cx="2559050" cy="1357412"/>
          </a:xfrm>
          <a:prstGeom prst="roundRect">
            <a:avLst>
              <a:gd name="adj" fmla="val 7251"/>
            </a:avLst>
          </a:prstGeom>
          <a:solidFill>
            <a:srgbClr val="FCFCFB"/>
          </a:solidFill>
          <a:ln w="6350">
            <a:solidFill>
              <a:srgbClr val="D3DAE1"/>
            </a:solidFill>
            <a:prstDash val="solid"/>
          </a:ln>
        </p:spPr>
      </p:sp>
      <p:sp>
        <p:nvSpPr>
          <p:cNvPr id="19" name="Text 17"/>
          <p:cNvSpPr/>
          <p:nvPr/>
        </p:nvSpPr>
        <p:spPr>
          <a:xfrm>
            <a:off x="8972550" y="2271911"/>
            <a:ext cx="2315337"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8520A"/>
                </a:solidFill>
                <a:latin typeface="IBM Plex Mono" pitchFamily="49" charset="0"/>
                <a:ea typeface="IBM Plex Mono" pitchFamily="49" charset="-122"/>
                <a:cs typeface="IBM Plex Mono" pitchFamily="49" charset="-120"/>
              </a:rPr>
              <a:t>04</a:t>
            </a:r>
            <a:endParaRPr lang="en-US" sz="1800" dirty="0"/>
          </a:p>
        </p:txBody>
      </p:sp>
      <p:sp>
        <p:nvSpPr>
          <p:cNvPr id="20" name="Text 18"/>
          <p:cNvSpPr/>
          <p:nvPr/>
        </p:nvSpPr>
        <p:spPr>
          <a:xfrm>
            <a:off x="8972550" y="2655391"/>
            <a:ext cx="23153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Доказ</a:t>
            </a:r>
            <a:endParaRPr lang="en-US" sz="1400" dirty="0"/>
          </a:p>
        </p:txBody>
      </p:sp>
      <p:sp>
        <p:nvSpPr>
          <p:cNvPr id="21" name="Text 19"/>
          <p:cNvSpPr/>
          <p:nvPr/>
        </p:nvSpPr>
        <p:spPr>
          <a:xfrm>
            <a:off x="8972550" y="2932212"/>
            <a:ext cx="231533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која провера је стварно извршена</a:t>
            </a:r>
            <a:endParaRPr lang="en-US" sz="1200" dirty="0"/>
          </a:p>
        </p:txBody>
      </p:sp>
      <p:sp>
        <p:nvSpPr>
          <p:cNvPr id="22" name="Shape 20"/>
          <p:cNvSpPr/>
          <p:nvPr/>
        </p:nvSpPr>
        <p:spPr>
          <a:xfrm>
            <a:off x="815975" y="3721398"/>
            <a:ext cx="10560050" cy="1446411"/>
          </a:xfrm>
          <a:prstGeom prst="roundRect">
            <a:avLst>
              <a:gd name="adj" fmla="val 6805"/>
            </a:avLst>
          </a:prstGeom>
          <a:solidFill>
            <a:srgbClr val="FCFCFB"/>
          </a:solidFill>
          <a:ln w="6350">
            <a:solidFill>
              <a:srgbClr val="D3DAE1"/>
            </a:solidFill>
            <a:prstDash val="solid"/>
          </a:ln>
        </p:spPr>
      </p:sp>
      <p:sp>
        <p:nvSpPr>
          <p:cNvPr id="23" name="Text 21"/>
          <p:cNvSpPr/>
          <p:nvPr/>
        </p:nvSpPr>
        <p:spPr>
          <a:xfrm>
            <a:off x="1009650" y="3851573"/>
            <a:ext cx="10477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AI_USAGE.md · илустрација једног уноса</a:t>
            </a:r>
            <a:endParaRPr lang="en-US" sz="1200" dirty="0"/>
          </a:p>
        </p:txBody>
      </p:sp>
      <p:sp>
        <p:nvSpPr>
          <p:cNvPr id="24" name="Text 22"/>
          <p:cNvSpPr/>
          <p:nvPr/>
        </p:nvSpPr>
        <p:spPr>
          <a:xfrm>
            <a:off x="1009650" y="4115693"/>
            <a:ext cx="1047788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2276F"/>
                </a:solidFill>
                <a:latin typeface="IBM Plex Mono" pitchFamily="49" charset="0"/>
                <a:ea typeface="IBM Plex Mono" pitchFamily="49" charset="-122"/>
                <a:cs typeface="IBM Plex Mono" pitchFamily="49" charset="-120"/>
              </a:rPr>
              <a:t>## Ограничење количине на 5 комада</a:t>
            </a:r>
            <a:endParaRPr lang="en-US" sz="1200" dirty="0"/>
          </a:p>
        </p:txBody>
      </p:sp>
      <p:sp>
        <p:nvSpPr>
          <p:cNvPr id="25" name="Text 23"/>
          <p:cNvSpPr/>
          <p:nvPr/>
        </p:nvSpPr>
        <p:spPr>
          <a:xfrm>
            <a:off x="1009650" y="4349353"/>
            <a:ext cx="1047788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Контекст: AGENTS.md, Application/Reservations/Create</a:t>
            </a:r>
            <a:endParaRPr lang="en-US" sz="1200" dirty="0"/>
          </a:p>
        </p:txBody>
      </p:sp>
      <p:sp>
        <p:nvSpPr>
          <p:cNvPr id="26" name="Text 24"/>
          <p:cNvSpPr/>
          <p:nvPr/>
        </p:nvSpPr>
        <p:spPr>
          <a:xfrm>
            <a:off x="1009650" y="4583013"/>
            <a:ext cx="1047788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Одлука: план прихваћен, предлог измене у Api одбијен</a:t>
            </a:r>
            <a:endParaRPr lang="en-US" sz="1200" dirty="0"/>
          </a:p>
        </p:txBody>
      </p:sp>
      <p:sp>
        <p:nvSpPr>
          <p:cNvPr id="27" name="Text 25"/>
          <p:cNvSpPr/>
          <p:nvPr/>
        </p:nvSpPr>
        <p:spPr>
          <a:xfrm>
            <a:off x="1009650" y="4816673"/>
            <a:ext cx="1047788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Доказ: build и test извршени, diff прегледан</a:t>
            </a:r>
            <a:endParaRPr lang="en-US" sz="1200" dirty="0"/>
          </a:p>
        </p:txBody>
      </p:sp>
      <p:sp>
        <p:nvSpPr>
          <p:cNvPr id="28" name="Shape 26"/>
          <p:cNvSpPr/>
          <p:nvPr/>
        </p:nvSpPr>
        <p:spPr>
          <a:xfrm>
            <a:off x="812800" y="6209705"/>
            <a:ext cx="10566400" cy="0"/>
          </a:xfrm>
          <a:prstGeom prst="line">
            <a:avLst/>
          </a:prstGeom>
          <a:noFill/>
          <a:ln w="6350">
            <a:solidFill>
              <a:srgbClr val="D3DAE1"/>
            </a:solidFill>
            <a:prstDash val="solid"/>
          </a:ln>
        </p:spPr>
      </p:sp>
      <p:sp>
        <p:nvSpPr>
          <p:cNvPr id="29"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0"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03 · ИМПЛЕМЕНТАЦИЈА И ПРОВЕРА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Услови за прекид AI тока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Радни ток се прекида када су границе нарушене, тајне изложене или узрок грешке није објашњен.</a:t>
            </a:r>
            <a:endParaRPr lang="en-US" sz="1400" dirty="0"/>
          </a:p>
        </p:txBody>
      </p:sp>
      <p:sp>
        <p:nvSpPr>
          <p:cNvPr id="6" name="Shape 4"/>
          <p:cNvSpPr/>
          <p:nvPr/>
        </p:nvSpPr>
        <p:spPr>
          <a:xfrm>
            <a:off x="815975" y="2179836"/>
            <a:ext cx="51879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FBF1E6"/>
          </a:solidFill>
          <a:ln/>
        </p:spPr>
      </p:sp>
      <p:pic>
        <p:nvPicPr>
          <p:cNvPr id="8" name="Image 0" descr="Warning">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20759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Услови за прекид</a:t>
            </a:r>
            <a:endParaRPr lang="en-US" sz="1600" dirty="0"/>
          </a:p>
        </p:txBody>
      </p:sp>
      <p:sp>
        <p:nvSpPr>
          <p:cNvPr id="10" name="Shape 7"/>
          <p:cNvSpPr/>
          <p:nvPr/>
        </p:nvSpPr>
        <p:spPr>
          <a:xfrm>
            <a:off x="1022350" y="2821186"/>
            <a:ext cx="4775200" cy="0"/>
          </a:xfrm>
          <a:prstGeom prst="line">
            <a:avLst/>
          </a:prstGeom>
          <a:noFill/>
          <a:ln w="6350">
            <a:solidFill>
              <a:srgbClr val="E3E8EE"/>
            </a:solidFill>
            <a:prstDash val="solid"/>
          </a:ln>
        </p:spPr>
      </p:sp>
      <p:sp>
        <p:nvSpPr>
          <p:cNvPr id="11" name="Text 8"/>
          <p:cNvSpPr/>
          <p:nvPr/>
        </p:nvSpPr>
        <p:spPr>
          <a:xfrm>
            <a:off x="10223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агент тражи .env или тајне</a:t>
            </a:r>
            <a:endParaRPr lang="en-US" sz="1300" dirty="0"/>
          </a:p>
        </p:txBody>
      </p:sp>
      <p:sp>
        <p:nvSpPr>
          <p:cNvPr id="12" name="Shape 9"/>
          <p:cNvSpPr/>
          <p:nvPr/>
        </p:nvSpPr>
        <p:spPr>
          <a:xfrm>
            <a:off x="1022350" y="3249116"/>
            <a:ext cx="4775200" cy="0"/>
          </a:xfrm>
          <a:prstGeom prst="line">
            <a:avLst/>
          </a:prstGeom>
          <a:noFill/>
          <a:ln w="6350">
            <a:solidFill>
              <a:srgbClr val="E3E8EE"/>
            </a:solidFill>
            <a:prstDash val="solid"/>
          </a:ln>
        </p:spPr>
      </p:sp>
      <p:sp>
        <p:nvSpPr>
          <p:cNvPr id="13" name="Text 10"/>
          <p:cNvSpPr/>
          <p:nvPr/>
        </p:nvSpPr>
        <p:spPr>
          <a:xfrm>
            <a:off x="10223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diff додирује неочекиване слојеве</a:t>
            </a:r>
            <a:endParaRPr lang="en-US" sz="1300" dirty="0"/>
          </a:p>
        </p:txBody>
      </p:sp>
      <p:sp>
        <p:nvSpPr>
          <p:cNvPr id="14" name="Shape 11"/>
          <p:cNvSpPr/>
          <p:nvPr/>
        </p:nvSpPr>
        <p:spPr>
          <a:xfrm>
            <a:off x="1022350" y="3677047"/>
            <a:ext cx="4775200" cy="0"/>
          </a:xfrm>
          <a:prstGeom prst="line">
            <a:avLst/>
          </a:prstGeom>
          <a:noFill/>
          <a:ln w="6350">
            <a:solidFill>
              <a:srgbClr val="E3E8EE"/>
            </a:solidFill>
            <a:prstDash val="solid"/>
          </a:ln>
        </p:spPr>
      </p:sp>
      <p:sp>
        <p:nvSpPr>
          <p:cNvPr id="15" name="Text 12"/>
          <p:cNvSpPr/>
          <p:nvPr/>
        </p:nvSpPr>
        <p:spPr>
          <a:xfrm>
            <a:off x="10223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пада без разумевања узрока</a:t>
            </a:r>
            <a:endParaRPr lang="en-US" sz="1300" dirty="0"/>
          </a:p>
        </p:txBody>
      </p:sp>
      <p:sp>
        <p:nvSpPr>
          <p:cNvPr id="16" name="Shape 13"/>
          <p:cNvSpPr/>
          <p:nvPr/>
        </p:nvSpPr>
        <p:spPr>
          <a:xfrm>
            <a:off x="1022350" y="4104977"/>
            <a:ext cx="4775200" cy="0"/>
          </a:xfrm>
          <a:prstGeom prst="line">
            <a:avLst/>
          </a:prstGeom>
          <a:noFill/>
          <a:ln w="6350">
            <a:solidFill>
              <a:srgbClr val="E3E8EE"/>
            </a:solidFill>
            <a:prstDash val="solid"/>
          </a:ln>
        </p:spPr>
      </p:sp>
      <p:sp>
        <p:nvSpPr>
          <p:cNvPr id="17" name="Text 14"/>
          <p:cNvSpPr/>
          <p:nvPr/>
        </p:nvSpPr>
        <p:spPr>
          <a:xfrm>
            <a:off x="10223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план проширује пословни захтев</a:t>
            </a:r>
            <a:endParaRPr lang="en-US" sz="1300" dirty="0"/>
          </a:p>
        </p:txBody>
      </p:sp>
      <p:sp>
        <p:nvSpPr>
          <p:cNvPr id="18" name="Shape 15"/>
          <p:cNvSpPr/>
          <p:nvPr/>
        </p:nvSpPr>
        <p:spPr>
          <a:xfrm>
            <a:off x="6188075" y="2179836"/>
            <a:ext cx="5187950" cy="2429272"/>
          </a:xfrm>
          <a:prstGeom prst="roundRect">
            <a:avLst>
              <a:gd name="adj" fmla="val 4052"/>
            </a:avLst>
          </a:prstGeom>
          <a:solidFill>
            <a:srgbClr val="FCFCFB"/>
          </a:solidFill>
          <a:ln w="6350">
            <a:solidFill>
              <a:srgbClr val="D3DAE1"/>
            </a:solidFill>
            <a:prstDash val="solid"/>
          </a:ln>
        </p:spPr>
      </p:sp>
      <p:sp>
        <p:nvSpPr>
          <p:cNvPr id="19" name="Shape 16"/>
          <p:cNvSpPr/>
          <p:nvPr/>
        </p:nvSpPr>
        <p:spPr>
          <a:xfrm>
            <a:off x="6394450" y="2360811"/>
            <a:ext cx="355600" cy="355600"/>
          </a:xfrm>
          <a:prstGeom prst="roundRect">
            <a:avLst>
              <a:gd name="adj" fmla="val 21429"/>
            </a:avLst>
          </a:prstGeom>
          <a:solidFill>
            <a:srgbClr val="F2E1EB"/>
          </a:solidFill>
          <a:ln/>
        </p:spPr>
      </p:sp>
      <p:pic>
        <p:nvPicPr>
          <p:cNvPr id="20" name="Image 1" descr="CheckCircle">    </p:cNvPr>
          <p:cNvPicPr>
            <a:picLocks noChangeAspect="1"/>
          </p:cNvPicPr>
          <p:nvPr/>
        </p:nvPicPr>
        <p:blipFill>
          <a:blip r:embed="rId2"/>
          <a:srcRect l="0" r="0" t="0" b="0"/>
          <a:stretch/>
        </p:blipFill>
        <p:spPr>
          <a:xfrm>
            <a:off x="6470650" y="2437011"/>
            <a:ext cx="203200" cy="203200"/>
          </a:xfrm>
          <a:prstGeom prst="rect">
            <a:avLst/>
          </a:prstGeom>
        </p:spPr>
      </p:pic>
      <p:sp>
        <p:nvSpPr>
          <p:cNvPr id="21" name="Text 17"/>
          <p:cNvSpPr/>
          <p:nvPr/>
        </p:nvSpPr>
        <p:spPr>
          <a:xfrm>
            <a:off x="6851650" y="2416671"/>
            <a:ext cx="228385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2276F"/>
                </a:solidFill>
                <a:latin typeface="IBM Plex Sans" pitchFamily="34" charset="0"/>
                <a:ea typeface="IBM Plex Sans" pitchFamily="34" charset="-122"/>
                <a:cs typeface="IBM Plex Sans" pitchFamily="34" charset="-120"/>
              </a:rPr>
              <a:t>Услови за наставак</a:t>
            </a:r>
            <a:endParaRPr lang="en-US" sz="1600" dirty="0"/>
          </a:p>
        </p:txBody>
      </p:sp>
      <p:sp>
        <p:nvSpPr>
          <p:cNvPr id="22" name="Shape 18"/>
          <p:cNvSpPr/>
          <p:nvPr/>
        </p:nvSpPr>
        <p:spPr>
          <a:xfrm>
            <a:off x="6394450" y="2821186"/>
            <a:ext cx="4775200" cy="0"/>
          </a:xfrm>
          <a:prstGeom prst="line">
            <a:avLst/>
          </a:prstGeom>
          <a:noFill/>
          <a:ln w="6350">
            <a:solidFill>
              <a:srgbClr val="E3E8EE"/>
            </a:solidFill>
            <a:prstDash val="solid"/>
          </a:ln>
        </p:spPr>
      </p:sp>
      <p:sp>
        <p:nvSpPr>
          <p:cNvPr id="23" name="Text 19"/>
          <p:cNvSpPr/>
          <p:nvPr/>
        </p:nvSpPr>
        <p:spPr>
          <a:xfrm>
            <a:off x="63944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план је мали и проверљив</a:t>
            </a:r>
            <a:endParaRPr lang="en-US" sz="1300" dirty="0"/>
          </a:p>
        </p:txBody>
      </p:sp>
      <p:sp>
        <p:nvSpPr>
          <p:cNvPr id="24" name="Shape 20"/>
          <p:cNvSpPr/>
          <p:nvPr/>
        </p:nvSpPr>
        <p:spPr>
          <a:xfrm>
            <a:off x="6394450" y="3249116"/>
            <a:ext cx="4775200" cy="0"/>
          </a:xfrm>
          <a:prstGeom prst="line">
            <a:avLst/>
          </a:prstGeom>
          <a:noFill/>
          <a:ln w="6350">
            <a:solidFill>
              <a:srgbClr val="E3E8EE"/>
            </a:solidFill>
            <a:prstDash val="solid"/>
          </a:ln>
        </p:spPr>
      </p:sp>
      <p:sp>
        <p:nvSpPr>
          <p:cNvPr id="25" name="Text 21"/>
          <p:cNvSpPr/>
          <p:nvPr/>
        </p:nvSpPr>
        <p:spPr>
          <a:xfrm>
            <a:off x="63944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границе су испоштоване</a:t>
            </a:r>
            <a:endParaRPr lang="en-US" sz="1300" dirty="0"/>
          </a:p>
        </p:txBody>
      </p:sp>
      <p:sp>
        <p:nvSpPr>
          <p:cNvPr id="26" name="Shape 22"/>
          <p:cNvSpPr/>
          <p:nvPr/>
        </p:nvSpPr>
        <p:spPr>
          <a:xfrm>
            <a:off x="6394450" y="3677047"/>
            <a:ext cx="4775200" cy="0"/>
          </a:xfrm>
          <a:prstGeom prst="line">
            <a:avLst/>
          </a:prstGeom>
          <a:noFill/>
          <a:ln w="6350">
            <a:solidFill>
              <a:srgbClr val="E3E8EE"/>
            </a:solidFill>
            <a:prstDash val="solid"/>
          </a:ln>
        </p:spPr>
      </p:sp>
      <p:sp>
        <p:nvSpPr>
          <p:cNvPr id="27" name="Text 23"/>
          <p:cNvSpPr/>
          <p:nvPr/>
        </p:nvSpPr>
        <p:spPr>
          <a:xfrm>
            <a:off x="63944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тестови дају јасан сигнал</a:t>
            </a:r>
            <a:endParaRPr lang="en-US" sz="1300" dirty="0"/>
          </a:p>
        </p:txBody>
      </p:sp>
      <p:sp>
        <p:nvSpPr>
          <p:cNvPr id="28" name="Shape 24"/>
          <p:cNvSpPr/>
          <p:nvPr/>
        </p:nvSpPr>
        <p:spPr>
          <a:xfrm>
            <a:off x="6394450" y="4104977"/>
            <a:ext cx="4775200" cy="0"/>
          </a:xfrm>
          <a:prstGeom prst="line">
            <a:avLst/>
          </a:prstGeom>
          <a:noFill/>
          <a:ln w="6350">
            <a:solidFill>
              <a:srgbClr val="E3E8EE"/>
            </a:solidFill>
            <a:prstDash val="solid"/>
          </a:ln>
        </p:spPr>
      </p:sp>
      <p:sp>
        <p:nvSpPr>
          <p:cNvPr id="29" name="Text 25"/>
          <p:cNvSpPr/>
          <p:nvPr/>
        </p:nvSpPr>
        <p:spPr>
          <a:xfrm>
            <a:off x="63944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diff је разумљив за review</a:t>
            </a:r>
            <a:endParaRPr lang="en-US" sz="13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5EA"/>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A2276F"/>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Одговорност и вежба</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Ко одлучује о измени и како изгледа једна контролисана измена на вежби.</a:t>
            </a:r>
            <a:endParaRPr lang="en-US" sz="1400" dirty="0"/>
          </a:p>
        </p:txBody>
      </p:sp>
      <p:sp>
        <p:nvSpPr>
          <p:cNvPr id="6" name="Text 4"/>
          <p:cNvSpPr/>
          <p:nvPr/>
        </p:nvSpPr>
        <p:spPr>
          <a:xfrm>
            <a:off x="4270375" y="3915966"/>
            <a:ext cx="1574403"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Одговорност тима</a:t>
            </a:r>
            <a:endParaRPr lang="en-US" sz="1200" dirty="0"/>
          </a:p>
        </p:txBody>
      </p:sp>
      <p:sp>
        <p:nvSpPr>
          <p:cNvPr id="7" name="Text 5"/>
          <p:cNvSpPr/>
          <p:nvPr/>
        </p:nvSpPr>
        <p:spPr>
          <a:xfrm>
            <a:off x="5927328" y="3915966"/>
            <a:ext cx="1542554"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Задатак на вежби</a:t>
            </a:r>
            <a:endParaRPr lang="en-US" sz="1200" dirty="0"/>
          </a:p>
        </p:txBody>
      </p:sp>
      <p:sp>
        <p:nvSpPr>
          <p:cNvPr id="8" name="Text 6"/>
          <p:cNvSpPr/>
          <p:nvPr/>
        </p:nvSpPr>
        <p:spPr>
          <a:xfrm>
            <a:off x="7552432" y="3915966"/>
            <a:ext cx="1728887"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Критеријум провере</a:t>
            </a:r>
            <a:endParaRPr lang="en-US" sz="1200" dirty="0"/>
          </a:p>
        </p:txBody>
      </p:sp>
      <p:sp>
        <p:nvSpPr>
          <p:cNvPr id="9" name="Text 7"/>
          <p:cNvSpPr/>
          <p:nvPr/>
        </p:nvSpPr>
        <p:spPr>
          <a:xfrm>
            <a:off x="4270375" y="4319786"/>
            <a:ext cx="1530548" cy="321270"/>
          </a:xfrm>
          <a:prstGeom prst="roundRect">
            <a:avLst>
              <a:gd name="adj" fmla="val 50000"/>
            </a:avLst>
          </a:prstGeom>
          <a:solidFill>
            <a:srgbClr val="FCFCFB"/>
          </a:solidFill>
          <a:ln w="6350">
            <a:solidFill>
              <a:srgbClr val="C6B7C7"/>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 за MCP</a:t>
            </a:r>
            <a:endParaRPr lang="en-US" sz="1200" dirty="0"/>
          </a:p>
        </p:txBody>
      </p:sp>
      <p:sp>
        <p:nvSpPr>
          <p:cNvPr id="10" name="Shape 8"/>
          <p:cNvSpPr/>
          <p:nvPr/>
        </p:nvSpPr>
        <p:spPr>
          <a:xfrm>
            <a:off x="812800" y="6209705"/>
            <a:ext cx="10566400" cy="0"/>
          </a:xfrm>
          <a:prstGeom prst="line">
            <a:avLst/>
          </a:prstGeom>
          <a:noFill/>
          <a:ln w="6350">
            <a:solidFill>
              <a:srgbClr val="C6B7C7"/>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04 · ОДГОВОРНОСТ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Одговорност тима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прихвата измену тек након разумевања, провере и образложења одлука.</a:t>
            </a:r>
            <a:endParaRPr lang="en-US" sz="1400" dirty="0"/>
          </a:p>
        </p:txBody>
      </p:sp>
      <p:sp>
        <p:nvSpPr>
          <p:cNvPr id="6" name="Shape 4"/>
          <p:cNvSpPr/>
          <p:nvPr/>
        </p:nvSpPr>
        <p:spPr>
          <a:xfrm>
            <a:off x="815975" y="2179836"/>
            <a:ext cx="3249017" cy="1636812"/>
          </a:xfrm>
          <a:prstGeom prst="roundRect">
            <a:avLst>
              <a:gd name="adj" fmla="val 6013"/>
            </a:avLst>
          </a:prstGeom>
          <a:solidFill>
            <a:srgbClr val="FCFCFB"/>
          </a:solidFill>
          <a:ln w="6350">
            <a:solidFill>
              <a:srgbClr val="D3DAE1"/>
            </a:solidFill>
            <a:prstDash val="solid"/>
          </a:ln>
        </p:spPr>
      </p:sp>
      <p:sp>
        <p:nvSpPr>
          <p:cNvPr id="7" name="Text 5"/>
          <p:cNvSpPr/>
          <p:nvPr/>
        </p:nvSpPr>
        <p:spPr>
          <a:xfrm>
            <a:off x="10096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2276F"/>
                </a:solidFill>
                <a:latin typeface="IBM Plex Mono" pitchFamily="49" charset="0"/>
                <a:ea typeface="IBM Plex Mono" pitchFamily="49" charset="-122"/>
                <a:cs typeface="IBM Plex Mono" pitchFamily="49" charset="-120"/>
              </a:rPr>
              <a:t>01</a:t>
            </a:r>
            <a:endParaRPr lang="en-US" sz="2200" dirty="0"/>
          </a:p>
        </p:txBody>
      </p:sp>
      <p:pic>
        <p:nvPicPr>
          <p:cNvPr id="8" name="Image 0" descr="Lightbulb">    </p:cNvPr>
          <p:cNvPicPr>
            <a:picLocks noChangeAspect="1"/>
          </p:cNvPicPr>
          <p:nvPr/>
        </p:nvPicPr>
        <p:blipFill>
          <a:blip r:embed="rId1"/>
          <a:srcRect l="0" r="0" t="0" b="0"/>
          <a:stretch/>
        </p:blipFill>
        <p:spPr>
          <a:xfrm>
            <a:off x="3668117" y="2454771"/>
            <a:ext cx="203200" cy="203200"/>
          </a:xfrm>
          <a:prstGeom prst="rect">
            <a:avLst/>
          </a:prstGeom>
        </p:spPr>
      </p:pic>
      <p:sp>
        <p:nvSpPr>
          <p:cNvPr id="9" name="Text 6"/>
          <p:cNvSpPr/>
          <p:nvPr/>
        </p:nvSpPr>
        <p:spPr>
          <a:xfrm>
            <a:off x="1009650" y="2840831"/>
            <a:ext cx="29475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Разумевање</a:t>
            </a:r>
            <a:endParaRPr lang="en-US" sz="1600" dirty="0"/>
          </a:p>
        </p:txBody>
      </p:sp>
      <p:sp>
        <p:nvSpPr>
          <p:cNvPr id="10" name="Text 7"/>
          <p:cNvSpPr/>
          <p:nvPr/>
        </p:nvSpPr>
        <p:spPr>
          <a:xfrm>
            <a:off x="1009650" y="3173512"/>
            <a:ext cx="29475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студент објашњава решење</a:t>
            </a:r>
            <a:endParaRPr lang="en-US" sz="1300" dirty="0"/>
          </a:p>
        </p:txBody>
      </p:sp>
      <p:pic>
        <p:nvPicPr>
          <p:cNvPr id="11" name="Image 1" descr="arrow-right">    </p:cNvPr>
          <p:cNvPicPr>
            <a:picLocks noChangeAspect="1"/>
          </p:cNvPicPr>
          <p:nvPr/>
        </p:nvPicPr>
        <p:blipFill>
          <a:blip r:embed="rId2"/>
          <a:srcRect l="0" r="0" t="0" b="0"/>
          <a:stretch/>
        </p:blipFill>
        <p:spPr>
          <a:xfrm>
            <a:off x="4157067" y="2941042"/>
            <a:ext cx="228600" cy="114300"/>
          </a:xfrm>
          <a:prstGeom prst="rect">
            <a:avLst/>
          </a:prstGeom>
        </p:spPr>
      </p:pic>
      <p:sp>
        <p:nvSpPr>
          <p:cNvPr id="12" name="Shape 8"/>
          <p:cNvSpPr/>
          <p:nvPr/>
        </p:nvSpPr>
        <p:spPr>
          <a:xfrm>
            <a:off x="4477742" y="2179836"/>
            <a:ext cx="3249116" cy="1636812"/>
          </a:xfrm>
          <a:prstGeom prst="roundRect">
            <a:avLst>
              <a:gd name="adj" fmla="val 6013"/>
            </a:avLst>
          </a:prstGeom>
          <a:solidFill>
            <a:srgbClr val="FCFCFB"/>
          </a:solidFill>
          <a:ln w="6350">
            <a:solidFill>
              <a:srgbClr val="D3DAE1"/>
            </a:solidFill>
            <a:prstDash val="solid"/>
          </a:ln>
        </p:spPr>
      </p:sp>
      <p:sp>
        <p:nvSpPr>
          <p:cNvPr id="13" name="Text 9"/>
          <p:cNvSpPr/>
          <p:nvPr/>
        </p:nvSpPr>
        <p:spPr>
          <a:xfrm>
            <a:off x="46714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2276F"/>
                </a:solidFill>
                <a:latin typeface="IBM Plex Mono" pitchFamily="49" charset="0"/>
                <a:ea typeface="IBM Plex Mono" pitchFamily="49" charset="-122"/>
                <a:cs typeface="IBM Plex Mono" pitchFamily="49" charset="-120"/>
              </a:rPr>
              <a:t>02</a:t>
            </a:r>
            <a:endParaRPr lang="en-US" sz="2200" dirty="0"/>
          </a:p>
        </p:txBody>
      </p:sp>
      <p:pic>
        <p:nvPicPr>
          <p:cNvPr id="14" name="Image 2" descr="CheckCircle">    </p:cNvPr>
          <p:cNvPicPr>
            <a:picLocks noChangeAspect="1"/>
          </p:cNvPicPr>
          <p:nvPr/>
        </p:nvPicPr>
        <p:blipFill>
          <a:blip r:embed="rId3"/>
          <a:srcRect l="0" r="0" t="0" b="0"/>
          <a:stretch/>
        </p:blipFill>
        <p:spPr>
          <a:xfrm>
            <a:off x="7329984" y="2454771"/>
            <a:ext cx="203200" cy="203200"/>
          </a:xfrm>
          <a:prstGeom prst="rect">
            <a:avLst/>
          </a:prstGeom>
        </p:spPr>
      </p:pic>
      <p:sp>
        <p:nvSpPr>
          <p:cNvPr id="15" name="Text 10"/>
          <p:cNvSpPr/>
          <p:nvPr/>
        </p:nvSpPr>
        <p:spPr>
          <a:xfrm>
            <a:off x="4671417" y="2840831"/>
            <a:ext cx="29476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Провера</a:t>
            </a:r>
            <a:endParaRPr lang="en-US" sz="1600" dirty="0"/>
          </a:p>
        </p:txBody>
      </p:sp>
      <p:sp>
        <p:nvSpPr>
          <p:cNvPr id="16" name="Text 11"/>
          <p:cNvSpPr/>
          <p:nvPr/>
        </p:nvSpPr>
        <p:spPr>
          <a:xfrm>
            <a:off x="4671417" y="3173512"/>
            <a:ext cx="294761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команде и тестови доказују понашање</a:t>
            </a:r>
            <a:endParaRPr lang="en-US" sz="1300" dirty="0"/>
          </a:p>
        </p:txBody>
      </p:sp>
      <p:pic>
        <p:nvPicPr>
          <p:cNvPr id="17" name="Image 3" descr="arrow-right">    </p:cNvPr>
          <p:cNvPicPr>
            <a:picLocks noChangeAspect="1"/>
          </p:cNvPicPr>
          <p:nvPr/>
        </p:nvPicPr>
        <p:blipFill>
          <a:blip r:embed="rId4"/>
          <a:srcRect l="0" r="0" t="0" b="0"/>
          <a:stretch/>
        </p:blipFill>
        <p:spPr>
          <a:xfrm>
            <a:off x="7818934" y="2941042"/>
            <a:ext cx="228600" cy="114300"/>
          </a:xfrm>
          <a:prstGeom prst="rect">
            <a:avLst/>
          </a:prstGeom>
        </p:spPr>
      </p:pic>
      <p:sp>
        <p:nvSpPr>
          <p:cNvPr id="18" name="Shape 12"/>
          <p:cNvSpPr/>
          <p:nvPr/>
        </p:nvSpPr>
        <p:spPr>
          <a:xfrm>
            <a:off x="8136434" y="2176661"/>
            <a:ext cx="3242766" cy="1643162"/>
          </a:xfrm>
          <a:prstGeom prst="roundRect">
            <a:avLst>
              <a:gd name="adj" fmla="val 6183"/>
            </a:avLst>
          </a:prstGeom>
          <a:solidFill>
            <a:srgbClr val="A2276F"/>
          </a:solidFill>
          <a:ln/>
        </p:spPr>
      </p:sp>
      <p:sp>
        <p:nvSpPr>
          <p:cNvPr id="19" name="Text 13"/>
          <p:cNvSpPr/>
          <p:nvPr/>
        </p:nvSpPr>
        <p:spPr>
          <a:xfrm>
            <a:off x="8326934" y="235446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DAFCA"/>
                </a:solidFill>
                <a:latin typeface="IBM Plex Mono" pitchFamily="49" charset="0"/>
                <a:ea typeface="IBM Plex Mono" pitchFamily="49" charset="-122"/>
                <a:cs typeface="IBM Plex Mono" pitchFamily="49" charset="-120"/>
              </a:rPr>
              <a:t>03</a:t>
            </a:r>
            <a:endParaRPr lang="en-US" sz="2200" dirty="0"/>
          </a:p>
        </p:txBody>
      </p:sp>
      <p:pic>
        <p:nvPicPr>
          <p:cNvPr id="20" name="Image 4" descr="Users">    </p:cNvPr>
          <p:cNvPicPr>
            <a:picLocks noChangeAspect="1"/>
          </p:cNvPicPr>
          <p:nvPr/>
        </p:nvPicPr>
        <p:blipFill>
          <a:blip r:embed="rId5"/>
          <a:srcRect l="0" r="0" t="0" b="0"/>
          <a:stretch/>
        </p:blipFill>
        <p:spPr>
          <a:xfrm>
            <a:off x="10985500" y="2448421"/>
            <a:ext cx="203200" cy="203200"/>
          </a:xfrm>
          <a:prstGeom prst="rect">
            <a:avLst/>
          </a:prstGeom>
        </p:spPr>
      </p:pic>
      <p:sp>
        <p:nvSpPr>
          <p:cNvPr id="21" name="Text 14"/>
          <p:cNvSpPr/>
          <p:nvPr/>
        </p:nvSpPr>
        <p:spPr>
          <a:xfrm>
            <a:off x="8326934" y="2834481"/>
            <a:ext cx="29476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Одлука</a:t>
            </a:r>
            <a:endParaRPr lang="en-US" sz="1600" dirty="0"/>
          </a:p>
        </p:txBody>
      </p:sp>
      <p:sp>
        <p:nvSpPr>
          <p:cNvPr id="22" name="Text 15"/>
          <p:cNvSpPr/>
          <p:nvPr/>
        </p:nvSpPr>
        <p:spPr>
          <a:xfrm>
            <a:off x="8326934" y="3167162"/>
            <a:ext cx="294761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1EB"/>
                </a:solidFill>
                <a:latin typeface="IBM Plex Sans" pitchFamily="34" charset="0"/>
                <a:ea typeface="IBM Plex Sans" pitchFamily="34" charset="-122"/>
                <a:cs typeface="IBM Plex Sans" pitchFamily="34" charset="-120"/>
              </a:rPr>
              <a:t>тим прихвата или одбија предлог</a:t>
            </a:r>
            <a:endParaRPr lang="en-US" sz="1300" dirty="0"/>
          </a:p>
        </p:txBody>
      </p:sp>
      <p:sp>
        <p:nvSpPr>
          <p:cNvPr id="23" name="Shape 16"/>
          <p:cNvSpPr/>
          <p:nvPr/>
        </p:nvSpPr>
        <p:spPr>
          <a:xfrm>
            <a:off x="812800" y="4073823"/>
            <a:ext cx="10566400" cy="783530"/>
          </a:xfrm>
          <a:prstGeom prst="roundRect">
            <a:avLst>
              <a:gd name="adj" fmla="val 12967"/>
            </a:avLst>
          </a:prstGeom>
          <a:solidFill>
            <a:srgbClr val="EFE5EA"/>
          </a:solidFill>
          <a:ln/>
        </p:spPr>
      </p:sp>
      <p:sp>
        <p:nvSpPr>
          <p:cNvPr id="24" name="Shape 17"/>
          <p:cNvSpPr/>
          <p:nvPr/>
        </p:nvSpPr>
        <p:spPr>
          <a:xfrm>
            <a:off x="812800" y="407382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A2276F"/>
          </a:solidFill>
          <a:ln/>
        </p:spPr>
      </p:sp>
      <p:sp>
        <p:nvSpPr>
          <p:cNvPr id="25" name="Text 18"/>
          <p:cNvSpPr/>
          <p:nvPr/>
        </p:nvSpPr>
        <p:spPr>
          <a:xfrm>
            <a:off x="1054100" y="42262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НАПОМЕНА</a:t>
            </a:r>
            <a:endParaRPr lang="en-US" sz="1200" dirty="0"/>
          </a:p>
        </p:txBody>
      </p:sp>
      <p:sp>
        <p:nvSpPr>
          <p:cNvPr id="26" name="Text 19"/>
          <p:cNvSpPr/>
          <p:nvPr/>
        </p:nvSpPr>
        <p:spPr>
          <a:xfrm>
            <a:off x="1054100" y="44649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Код који студент не уме да објасни не улази у главну грану, без обзира на то ко га је написао.</a:t>
            </a:r>
            <a:endParaRPr lang="en-US" sz="1400" dirty="0"/>
          </a:p>
        </p:txBody>
      </p:sp>
      <p:sp>
        <p:nvSpPr>
          <p:cNvPr id="27" name="Shape 20"/>
          <p:cNvSpPr/>
          <p:nvPr/>
        </p:nvSpPr>
        <p:spPr>
          <a:xfrm>
            <a:off x="812800" y="6209705"/>
            <a:ext cx="10566400" cy="0"/>
          </a:xfrm>
          <a:prstGeom prst="line">
            <a:avLst/>
          </a:prstGeom>
          <a:noFill/>
          <a:ln w="6350">
            <a:solidFill>
              <a:srgbClr val="D3DAE1"/>
            </a:solidFill>
            <a:prstDash val="solid"/>
          </a:ln>
        </p:spPr>
      </p:sp>
      <p:sp>
        <p:nvSpPr>
          <p:cNvPr id="28"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04 · ОДГОВОРНОСТ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Задатак на вежби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 копији EquipmentReservation solution-а изводи се једна контролисана измена уз Kova.</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Задати малу промену пословног правила.</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Skill architecture-review у режиму Plan: само анализа.</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Skill implement-approved-plan у режиму Manual: усвојен план.</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2276F"/>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Покренути build и тестове и прегледати diff.</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Унети сажет запис у AI_USAGE.md.</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04 · ОДГОВОРНОСТ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 провере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Вредност AI алата процењује се на основу проверљивости резултата и очувања граница система.</a:t>
            </a:r>
            <a:endParaRPr lang="en-US" sz="1400" dirty="0"/>
          </a:p>
        </p:txBody>
      </p:sp>
      <p:sp>
        <p:nvSpPr>
          <p:cNvPr id="6" name="Text 4"/>
          <p:cNvSpPr/>
          <p:nvPr/>
        </p:nvSpPr>
        <p:spPr>
          <a:xfrm>
            <a:off x="787400" y="2176661"/>
            <a:ext cx="1701800" cy="1422400"/>
          </a:xfrm>
          <a:prstGeom prst="rect">
            <a:avLst/>
          </a:prstGeom>
          <a:noFill/>
          <a:ln/>
        </p:spPr>
        <p:txBody>
          <a:bodyPr wrap="square" lIns="0" tIns="0" rIns="0" bIns="0" rtlCol="0" anchor="t">
            <a:normAutofit/>
          </a:bodyPr>
          <a:lstStyle/>
          <a:p>
            <a:pPr algn="ctr" indent="0" marL="0">
              <a:lnSpc>
                <a:spcPts val="11000"/>
              </a:lnSpc>
              <a:buNone/>
            </a:pPr>
            <a:r>
              <a:rPr lang="en-US" sz="11000" dirty="0">
                <a:solidFill>
                  <a:srgbClr val="A2276F"/>
                </a:solidFill>
                <a:latin typeface="IBM Plex Mono" pitchFamily="49" charset="0"/>
                <a:ea typeface="IBM Plex Mono" pitchFamily="49" charset="-122"/>
                <a:cs typeface="IBM Plex Mono" pitchFamily="49" charset="-120"/>
              </a:rPr>
              <a:t>3</a:t>
            </a:r>
            <a:endParaRPr lang="en-US" sz="11000" dirty="0"/>
          </a:p>
        </p:txBody>
      </p:sp>
      <p:sp>
        <p:nvSpPr>
          <p:cNvPr id="7" name="Shape 5"/>
          <p:cNvSpPr/>
          <p:nvPr/>
        </p:nvSpPr>
        <p:spPr>
          <a:xfrm>
            <a:off x="2787650" y="2539901"/>
            <a:ext cx="0" cy="670520"/>
          </a:xfrm>
          <a:prstGeom prst="line">
            <a:avLst/>
          </a:prstGeom>
          <a:noFill/>
          <a:ln w="38100">
            <a:solidFill>
              <a:srgbClr val="A2276F"/>
            </a:solidFill>
            <a:prstDash val="solid"/>
          </a:ln>
        </p:spPr>
      </p:sp>
      <p:sp>
        <p:nvSpPr>
          <p:cNvPr id="8" name="Text 6"/>
          <p:cNvSpPr/>
          <p:nvPr/>
        </p:nvSpPr>
        <p:spPr>
          <a:xfrm>
            <a:off x="3035300" y="2565301"/>
            <a:ext cx="85942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2276F"/>
                </a:solidFill>
                <a:latin typeface="IBM Plex Mono" pitchFamily="49" charset="0"/>
                <a:ea typeface="IBM Plex Mono" pitchFamily="49" charset="-122"/>
                <a:cs typeface="IBM Plex Mono" pitchFamily="49" charset="-120"/>
              </a:rPr>
              <a:t>СТВАРНА СИГНАЛА</a:t>
            </a:r>
            <a:endParaRPr lang="en-US" sz="1200" dirty="0"/>
          </a:p>
        </p:txBody>
      </p:sp>
      <p:sp>
        <p:nvSpPr>
          <p:cNvPr id="9" name="Text 7"/>
          <p:cNvSpPr/>
          <p:nvPr/>
        </p:nvSpPr>
        <p:spPr>
          <a:xfrm>
            <a:off x="3035300" y="2854821"/>
            <a:ext cx="859421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D"/>
                </a:solidFill>
                <a:latin typeface="IBM Plex Sans" pitchFamily="34" charset="0"/>
                <a:ea typeface="IBM Plex Sans" pitchFamily="34" charset="-122"/>
                <a:cs typeface="IBM Plex Sans" pitchFamily="34" charset="-120"/>
              </a:rPr>
              <a:t>Build, test и diff су минимум независне провере после AI измене.</a:t>
            </a:r>
            <a:endParaRPr lang="en-US" sz="2000" dirty="0"/>
          </a:p>
        </p:txBody>
      </p:sp>
      <p:sp>
        <p:nvSpPr>
          <p:cNvPr id="10" name="Text 8"/>
          <p:cNvSpPr/>
          <p:nvPr/>
        </p:nvSpPr>
        <p:spPr>
          <a:xfrm>
            <a:off x="812800" y="3827661"/>
            <a:ext cx="3454400" cy="434280"/>
          </a:xfrm>
          <a:prstGeom prst="roundRect">
            <a:avLst>
              <a:gd name="adj" fmla="val 17546"/>
            </a:avLst>
          </a:prstGeom>
          <a:solidFill>
            <a:srgbClr val="EFE5EA"/>
          </a:solidFill>
          <a:ln/>
        </p:spPr>
        <p:txBody>
          <a:bodyPr wrap="square" lIns="82838" tIns="79282" rIns="82838" bIns="53882" rtlCol="0" anchor="t">
            <a:normAutofit/>
          </a:bodyPr>
          <a:lstStyle/>
          <a:p>
            <a:pPr algn="ctr" indent="0" marL="0">
              <a:lnSpc>
                <a:spcPts val="1820"/>
              </a:lnSpc>
              <a:buNone/>
            </a:pPr>
            <a:r>
              <a:rPr lang="en-US" sz="1300" dirty="0">
                <a:solidFill>
                  <a:srgbClr val="A2276F"/>
                </a:solidFill>
                <a:latin typeface="IBM Plex Mono" pitchFamily="49" charset="0"/>
                <a:ea typeface="IBM Plex Mono" pitchFamily="49" charset="-122"/>
                <a:cs typeface="IBM Plex Mono" pitchFamily="49" charset="-120"/>
              </a:rPr>
              <a:t>dotnet build</a:t>
            </a:r>
            <a:endParaRPr lang="en-US" sz="1300" dirty="0"/>
          </a:p>
        </p:txBody>
      </p:sp>
      <p:sp>
        <p:nvSpPr>
          <p:cNvPr id="11" name="Text 9"/>
          <p:cNvSpPr/>
          <p:nvPr/>
        </p:nvSpPr>
        <p:spPr>
          <a:xfrm>
            <a:off x="4368800" y="3827661"/>
            <a:ext cx="3454400" cy="434280"/>
          </a:xfrm>
          <a:prstGeom prst="roundRect">
            <a:avLst>
              <a:gd name="adj" fmla="val 17546"/>
            </a:avLst>
          </a:prstGeom>
          <a:solidFill>
            <a:srgbClr val="EFE5EA"/>
          </a:solidFill>
          <a:ln/>
        </p:spPr>
        <p:txBody>
          <a:bodyPr wrap="square" lIns="82838" tIns="79282" rIns="82838" bIns="53882" rtlCol="0" anchor="t">
            <a:normAutofit/>
          </a:bodyPr>
          <a:lstStyle/>
          <a:p>
            <a:pPr algn="ctr" indent="0" marL="0">
              <a:lnSpc>
                <a:spcPts val="1820"/>
              </a:lnSpc>
              <a:buNone/>
            </a:pPr>
            <a:r>
              <a:rPr lang="en-US" sz="1300" dirty="0">
                <a:solidFill>
                  <a:srgbClr val="A2276F"/>
                </a:solidFill>
                <a:latin typeface="IBM Plex Mono" pitchFamily="49" charset="0"/>
                <a:ea typeface="IBM Plex Mono" pitchFamily="49" charset="-122"/>
                <a:cs typeface="IBM Plex Mono" pitchFamily="49" charset="-120"/>
              </a:rPr>
              <a:t>dotnet test</a:t>
            </a:r>
            <a:endParaRPr lang="en-US" sz="1300" dirty="0"/>
          </a:p>
        </p:txBody>
      </p:sp>
      <p:sp>
        <p:nvSpPr>
          <p:cNvPr id="12" name="Text 10"/>
          <p:cNvSpPr/>
          <p:nvPr/>
        </p:nvSpPr>
        <p:spPr>
          <a:xfrm>
            <a:off x="7924800" y="3827661"/>
            <a:ext cx="3454400" cy="434280"/>
          </a:xfrm>
          <a:prstGeom prst="roundRect">
            <a:avLst>
              <a:gd name="adj" fmla="val 17546"/>
            </a:avLst>
          </a:prstGeom>
          <a:solidFill>
            <a:srgbClr val="EFE5EA"/>
          </a:solidFill>
          <a:ln/>
        </p:spPr>
        <p:txBody>
          <a:bodyPr wrap="square" lIns="82838" tIns="79282" rIns="82838" bIns="53882" rtlCol="0" anchor="t">
            <a:normAutofit/>
          </a:bodyPr>
          <a:lstStyle/>
          <a:p>
            <a:pPr algn="ctr" indent="0" marL="0">
              <a:lnSpc>
                <a:spcPts val="1820"/>
              </a:lnSpc>
              <a:buNone/>
            </a:pPr>
            <a:r>
              <a:rPr lang="en-US" sz="1300" dirty="0">
                <a:solidFill>
                  <a:srgbClr val="A2276F"/>
                </a:solidFill>
                <a:latin typeface="IBM Plex Mono" pitchFamily="49" charset="0"/>
                <a:ea typeface="IBM Plex Mono" pitchFamily="49" charset="-122"/>
                <a:cs typeface="IBM Plex Mono" pitchFamily="49" charset="-120"/>
              </a:rPr>
              <a:t>git diff</a:t>
            </a:r>
            <a:endParaRPr lang="en-US" sz="1300" dirty="0"/>
          </a:p>
        </p:txBody>
      </p:sp>
      <p:sp>
        <p:nvSpPr>
          <p:cNvPr id="13" name="Shape 11"/>
          <p:cNvSpPr/>
          <p:nvPr/>
        </p:nvSpPr>
        <p:spPr>
          <a:xfrm>
            <a:off x="812800" y="6209705"/>
            <a:ext cx="10566400" cy="0"/>
          </a:xfrm>
          <a:prstGeom prst="line">
            <a:avLst/>
          </a:prstGeom>
          <a:noFill/>
          <a:ln w="6350">
            <a:solidFill>
              <a:srgbClr val="D3DAE1"/>
            </a:solidFill>
            <a:prstDash val="solid"/>
          </a:ln>
        </p:spPr>
      </p:sp>
      <p:sp>
        <p:nvSpPr>
          <p:cNvPr id="14"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5"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2276F"/>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E1EB"/>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E1EB"/>
                </a:solidFill>
                <a:latin typeface="IBM Plex Sans" pitchFamily="34" charset="0"/>
                <a:ea typeface="IBM Plex Sans" pitchFamily="34" charset="-122"/>
                <a:cs typeface="IBM Plex Sans" pitchFamily="34" charset="-120"/>
              </a:rPr>
              <a:t>Контролисан AI радни ток примењује постојеће архитектонске и тестне механизме.</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Када су контекст, ограничења, улоге и провера јасни, AI може помоћи без рушења SOLID и Clean Architecture правила.</a:t>
            </a:r>
            <a:endParaRPr lang="en-US" sz="3400" dirty="0"/>
          </a:p>
        </p:txBody>
      </p:sp>
      <p:sp>
        <p:nvSpPr>
          <p:cNvPr id="6" name="Text 4"/>
          <p:cNvSpPr/>
          <p:nvPr/>
        </p:nvSpPr>
        <p:spPr>
          <a:xfrm>
            <a:off x="815975" y="5458520"/>
            <a:ext cx="900509" cy="321270"/>
          </a:xfrm>
          <a:prstGeom prst="roundRect">
            <a:avLst>
              <a:gd name="adj" fmla="val 50000"/>
            </a:avLst>
          </a:prstGeom>
          <a:noFill/>
          <a:ln w="6350">
            <a:solidFill>
              <a:srgbClr val="DDAFCA"/>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задатак</a:t>
            </a:r>
            <a:endParaRPr lang="en-US" sz="1200" dirty="0"/>
          </a:p>
        </p:txBody>
      </p:sp>
      <p:sp>
        <p:nvSpPr>
          <p:cNvPr id="7" name="Text 5"/>
          <p:cNvSpPr/>
          <p:nvPr/>
        </p:nvSpPr>
        <p:spPr>
          <a:xfrm>
            <a:off x="182125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AFCA"/>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78434" y="5458520"/>
            <a:ext cx="626170" cy="321270"/>
          </a:xfrm>
          <a:prstGeom prst="roundRect">
            <a:avLst>
              <a:gd name="adj" fmla="val 50000"/>
            </a:avLst>
          </a:prstGeom>
          <a:noFill/>
          <a:ln w="6350">
            <a:solidFill>
              <a:srgbClr val="DDAFCA"/>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план</a:t>
            </a:r>
            <a:endParaRPr lang="en-US" sz="1200" dirty="0"/>
          </a:p>
        </p:txBody>
      </p:sp>
      <p:sp>
        <p:nvSpPr>
          <p:cNvPr id="9" name="Text 7"/>
          <p:cNvSpPr/>
          <p:nvPr/>
        </p:nvSpPr>
        <p:spPr>
          <a:xfrm>
            <a:off x="280937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AFCA"/>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066554" y="5458520"/>
            <a:ext cx="809030" cy="321270"/>
          </a:xfrm>
          <a:prstGeom prst="roundRect">
            <a:avLst>
              <a:gd name="adj" fmla="val 50000"/>
            </a:avLst>
          </a:prstGeom>
          <a:noFill/>
          <a:ln w="6350">
            <a:solidFill>
              <a:srgbClr val="DDAFCA"/>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измена</a:t>
            </a:r>
            <a:endParaRPr lang="en-US" sz="1200" dirty="0"/>
          </a:p>
        </p:txBody>
      </p:sp>
      <p:sp>
        <p:nvSpPr>
          <p:cNvPr id="11" name="Text 9"/>
          <p:cNvSpPr/>
          <p:nvPr/>
        </p:nvSpPr>
        <p:spPr>
          <a:xfrm>
            <a:off x="398035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AFCA"/>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234359" y="5461695"/>
            <a:ext cx="71120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A2276F"/>
                </a:solidFill>
                <a:latin typeface="IBM Plex Mono" pitchFamily="49" charset="0"/>
                <a:ea typeface="IBM Plex Mono" pitchFamily="49" charset="-122"/>
                <a:cs typeface="IBM Plex Mono" pitchFamily="49" charset="-120"/>
              </a:rPr>
              <a:t>доказ</a:t>
            </a:r>
            <a:endParaRPr lang="en-US" sz="1200" dirty="0"/>
          </a:p>
        </p:txBody>
      </p:sp>
      <p:sp>
        <p:nvSpPr>
          <p:cNvPr id="13" name="Text 11"/>
          <p:cNvSpPr/>
          <p:nvPr/>
        </p:nvSpPr>
        <p:spPr>
          <a:xfrm>
            <a:off x="7823200" y="5396309"/>
            <a:ext cx="36626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1EB"/>
                </a:solidFill>
                <a:latin typeface="IBM Plex Sans" pitchFamily="34" charset="0"/>
                <a:ea typeface="IBM Plex Sans" pitchFamily="34" charset="-122"/>
                <a:cs typeface="IBM Plex Sans" pitchFamily="34" charset="-120"/>
              </a:rPr>
              <a:t>Наредна вежба уводи MCP за контролисан приступ контексту.</a:t>
            </a:r>
            <a:endParaRPr lang="en-US" sz="1300" dirty="0"/>
          </a:p>
        </p:txBody>
      </p:sp>
      <p:sp>
        <p:nvSpPr>
          <p:cNvPr id="14" name="Shape 12"/>
          <p:cNvSpPr/>
          <p:nvPr/>
        </p:nvSpPr>
        <p:spPr>
          <a:xfrm>
            <a:off x="812800" y="6209705"/>
            <a:ext cx="10566400" cy="0"/>
          </a:xfrm>
          <a:prstGeom prst="line">
            <a:avLst/>
          </a:prstGeom>
          <a:noFill/>
          <a:ln w="6350">
            <a:solidFill>
              <a:srgbClr val="B6578F"/>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1EB"/>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E1EB"/>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A2276F"/>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2276F"/>
                </a:solidFill>
                <a:latin typeface="IBM Plex Mono" pitchFamily="49" charset="0"/>
                <a:ea typeface="IBM Plex Mono" pitchFamily="49" charset="-122"/>
                <a:cs typeface="IBM Plex Mono" pitchFamily="49" charset="-120"/>
              </a:rPr>
              <a:t>04 · ОДГОВОРНОСТ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MCP</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Идентификовати контекст и операције које MCP сме контролисано да изложи.</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Идентификовати које информације AI сме само да чита.</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Раздвојити resource од tool операција.</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Одредити које команде смеју бити фиксно извршене.</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2276F"/>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Забележити шта никада не сме бити изложено као произвољан shell.</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Понети build, test и diff сигнале као основу за MCP.</a:t>
            </a:r>
            <a:endParaRPr lang="en-US" sz="13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theme/theme1.xml><?xml version="1.0" encoding="utf-8"?>
<a:theme xmlns:a="http://schemas.openxmlformats.org/drawingml/2006/main" name="Контролисан развој уз AI">
  <a:themeElements>
    <a:clrScheme name="Контролисан развој уз AI">
      <a:dk1>
        <a:srgbClr val="13202D"/>
      </a:dk1>
      <a:lt1>
        <a:srgbClr val="F6F7F5"/>
      </a:lt1>
      <a:dk2>
        <a:srgbClr val="4C565F"/>
      </a:dk2>
      <a:lt2>
        <a:srgbClr val="DFE2E1"/>
      </a:lt2>
      <a:accent1>
        <a:srgbClr val="A2276F"/>
      </a:accent1>
      <a:accent2>
        <a:srgbClr val="A8520A"/>
      </a:accent2>
      <a:accent3>
        <a:srgbClr val="DDAFCA"/>
      </a:accent3>
      <a:accent4>
        <a:srgbClr val="E07B1F"/>
      </a:accent4>
      <a:accent5>
        <a:srgbClr val="44505D"/>
      </a:accent5>
      <a:accent6>
        <a:srgbClr val="5E6975"/>
      </a:accent6>
      <a:hlink>
        <a:srgbClr val="0563C1"/>
      </a:hlink>
      <a:folHlink>
        <a:srgbClr val="954F72"/>
      </a:folHlink>
    </a:clrScheme>
    <a:fontScheme name="Контролисан развој уз A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Контролисан развој уз AI</dc:title>
  <dc:subject/>
  <dc:creator/>
  <cp:lastModifiedBy/>
  <cp:revision>1</cp:revision>
  <dcterms:created xsi:type="dcterms:W3CDTF">2026-10-09T16:54:46Z</dcterms:created>
  <dcterms:modified xsi:type="dcterms:W3CDTF">2026-10-09T16:54:46Z</dcterms:modified>
</cp:coreProperties>
</file>