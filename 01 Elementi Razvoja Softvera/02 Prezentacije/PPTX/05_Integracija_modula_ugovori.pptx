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72677-C035-4CAE-BCE6-05BEC6928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EF4AA4-0737-4A3B-B9ED-8F552F039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63479-5FF1-48D0-AA46-AD275705B6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0F68F-847A-452B-B9C6-842D494BDD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6E841-4093-474A-ACB0-0002410587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B092-86DD-4B58-82EB-F9DB0943B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10BE2-A936-4016-BCED-65D59931F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5F6FC-C168-4831-9622-F2005E5A1B4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9C8A0-9454-42FB-A467-45DFA0E37D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2DF1C-7845-49DA-8EE5-1E0709A150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49759-98EC-4EBA-9D28-FA6128D8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64175-ECFA-4E8D-B031-1D1BCB18F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1F00B-33A1-4CF1-8295-20CC5D29E0D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4EBB9-28FE-4968-AE72-4A304E71F7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E472F-2947-48E1-B6BC-9D16C356A5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3748C-3D23-450E-8890-78226C66C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ADCAA-ECA3-4791-9B5B-2D60BC447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706C7-35E1-4F6D-84E0-FAEA018A89C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85691-82DC-42F2-9CD4-F548231D69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E74DB-6930-408E-96C9-4E7F5B96B4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4AECF-17A3-4777-BD94-5DBEF359D5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8EFD5-196C-4004-8672-CDDE20FB7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E6C90-7CEE-48CC-B2EB-7C60CA2F9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B5FA0-1158-4211-BBF1-60AF85CB530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B951F9-66A8-4673-A40B-5E3E71F5D0D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D58514-8EC7-4041-BC7D-0AD1DB69D67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D07FD4-7D2D-433D-B3E3-8964FDA899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1F6C7F-84CE-4F23-BC33-1C87F455C08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DA99C0-7BEA-42B7-975A-4A4B76B071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FD4C-A81D-4EC3-8281-52C982DF6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CBC1C2-2D8F-4DD3-A8C7-A11FD365DC8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533BC-E170-47F0-88F4-1CE03D6910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04F9A3-5CE3-4943-BB5F-C214C9B3D7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AA55B0-F069-48BF-8647-993835B8BC6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83DDC2-D8BB-4D43-8481-DCBCADC182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E18AF-45AE-4C2A-9A8E-95FFD0CEAB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4AAB0-A3FD-4942-959C-260F0EC61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3A4AB-4A1A-40FE-8353-F94E00250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9CDD4-DC7A-4FC1-9C64-B102D6CA86A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13030-B818-4346-8C62-3F1F51515FB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206FA-C872-4592-A122-BE5420CE1C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3FD85-0CEC-4161-9D94-3F44C355D7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49222-4E54-41AF-9CD9-9862C5528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8D99C-9B6A-4712-80A1-AE49DA15B3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D0793-AFC3-428A-A8FF-774FACECD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C21C8-E71F-4B72-ACC2-18B48D83CC8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C55E4-BC79-4D91-9714-2DD57799AAF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EE5B3-68A1-438F-A1DC-4439D4ACD0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88E65-8B72-4122-8C89-B42219726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839409-5569-4DC8-8818-62B6FE93A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81C0C-31F3-4846-8483-10293ED1BCD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1D516-5051-4648-963A-BB728DAD9F1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14DF4-ECA6-4D7B-A52D-503BC310AF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3E32C4-1153-470A-8936-AAEB26A3D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5780C3-3BA5-45EE-81BD-D82A84055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C6E19-D446-4965-9A94-F1A028726FC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C6035-7940-4737-AD61-18A2DDF7F86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755CA-9BE2-412D-A79E-53560F0FCA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25E6FA-F10D-4180-A707-1E332B874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0AAC9-0BEE-43A1-9CC6-65E5BCA72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EEF19-40E9-4C23-A5F0-A11394C302A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121B7-6560-4CB5-AC08-7C9934D6804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4C1EC-102B-4857-B4B1-861414E1859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483A25F-37BD-4231-9D6E-2A9ABE2C3F07}"/>
              </a:ext>
            </a:extLst>
          </p:cNvPr>
          <p:cNvSpPr>
            <a:spLocks noGrp="1"/>
          </p:cNvSpPr>
          <p:nvPr/>
        </p:nvSpPr>
        <p:spPr>
          <a:xfrm>
            <a:off x="914400" y="590550"/>
            <a:ext cx="7810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D513671-EA34-46B6-88F6-931A7771731A}"/>
              </a:ext>
            </a:extLst>
          </p:cNvPr>
          <p:cNvSpPr>
            <a:spLocks noGrp="1"/>
          </p:cNvSpPr>
          <p:nvPr/>
        </p:nvSpPr>
        <p:spPr>
          <a:xfrm>
            <a:off x="914400" y="1009650"/>
            <a:ext cx="10363200" cy="9525"/>
          </a:xfrm>
          <a:prstGeom prst="line">
            <a:avLst/>
          </a:prstGeom>
          <a:noFill/>
          <a:ln w="8573">
            <a:solidFill>
              <a:srgbClr val="7F8B9B"/>
            </a:solidFill>
            <a:prstDash val="solid"/>
          </a:ln>
        </p:spPr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76A6B50-C194-495A-9AA5-7AA431F33D67}"/>
              </a:ext>
            </a:extLst>
          </p:cNvPr>
          <p:cNvSpPr>
            <a:spLocks noGrp="1"/>
          </p:cNvSpPr>
          <p:nvPr/>
        </p:nvSpPr>
        <p:spPr>
          <a:xfrm>
            <a:off x="914400" y="1438275"/>
            <a:ext cx="647700" cy="66675"/>
          </a:xfrm>
          <a:prstGeom prst="roundRect">
            <a:avLst>
              <a:gd name="adj" fmla="val 50000"/>
            </a:avLst>
          </a:prstGeom>
          <a:solidFill>
            <a:srgbClr val="315CF4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9CF6D-B7E7-4FFA-A3A6-2F572AB93E32}"/>
              </a:ext>
            </a:extLst>
          </p:cNvPr>
          <p:cNvSpPr>
            <a:spLocks noGrp="1"/>
          </p:cNvSpPr>
          <p:nvPr/>
        </p:nvSpPr>
        <p:spPr>
          <a:xfrm>
            <a:off x="914400" y="1790700"/>
            <a:ext cx="10096500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4000"/>
              </a:lnSpc>
              <a:buNone/>
              <a:def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Интеграција модула, уговори и подаци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46C55B-EEAA-4E8F-AF83-7013FDBB496D}"/>
              </a:ext>
            </a:extLst>
          </p:cNvPr>
          <p:cNvSpPr>
            <a:spLocks noGrp="1"/>
          </p:cNvSpPr>
          <p:nvPr/>
        </p:nvSpPr>
        <p:spPr>
          <a:xfrm>
            <a:off x="933450" y="3562350"/>
            <a:ext cx="93345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72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EquipmentReservation као основа за интеграцију и даљи развој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4EDF6DDF-0136-4784-8F77-9E5F089FF787}"/>
              </a:ext>
            </a:extLst>
          </p:cNvPr>
          <p:cNvSpPr>
            <a:spLocks noGrp="1"/>
          </p:cNvSpPr>
          <p:nvPr/>
        </p:nvSpPr>
        <p:spPr>
          <a:xfrm>
            <a:off x="914400" y="5286375"/>
            <a:ext cx="10363200" cy="9525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5F43A1-D28A-4CC8-9F27-1AA57AA5D058}"/>
              </a:ext>
            </a:extLst>
          </p:cNvPr>
          <p:cNvSpPr>
            <a:spLocks noGrp="1"/>
          </p:cNvSpPr>
          <p:nvPr/>
        </p:nvSpPr>
        <p:spPr>
          <a:xfrm>
            <a:off x="914400" y="558165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ПСИ · 5. семестар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6A31B7-07A9-4C44-BEB9-75718812E01B}"/>
              </a:ext>
            </a:extLst>
          </p:cNvPr>
          <p:cNvSpPr>
            <a:spLocks noGrp="1"/>
          </p:cNvSpPr>
          <p:nvPr/>
        </p:nvSpPr>
        <p:spPr>
          <a:xfrm>
            <a:off x="8096250" y="5581650"/>
            <a:ext cx="3181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Академска 2026/27</a:t>
            </a:r>
          </a:p>
        </p:txBody>
      </p:sp>
    </p:spTree>
    <p:extLst>
      <p:ext uri="{BB962C8B-B14F-4D97-AF65-F5344CB8AC3E}">
        <p14:creationId xmlns:p14="http://schemas.microsoft.com/office/powerpoint/2010/main" val="1594996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4FABB1-23B4-4B9A-83F3-D66FF666866C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5FEF71-9D3C-4D37-89CB-464442871AEF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51C4FE-B85E-4625-8829-09066F7939B8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E1818-E72D-4F4F-9E9B-E60BB82D7838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Од ове вежбе прати се исти извршиви пример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6138E-62EC-4994-B832-C05FE2FC1AC4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EquipmentReservation није изолован snippet, већ solution који се надограђује кроз више тема.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F6DBE-024B-4650-AB84-1571B032CC14}"/>
              </a:ext>
            </a:extLst>
          </p:cNvPr>
          <p:cNvSpPr>
            <a:spLocks noGrp="1"/>
          </p:cNvSpPr>
          <p:nvPr/>
        </p:nvSpPr>
        <p:spPr>
          <a:xfrm>
            <a:off x="1051560" y="242316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Студент прати како се исти систем развија кроз интеграцију, AI workflow, MCP и guardrails.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1A1513-5A80-4E6E-95AD-42DE43CAFDF3}"/>
              </a:ext>
            </a:extLst>
          </p:cNvPr>
          <p:cNvSpPr>
            <a:spLocks noGrp="1"/>
          </p:cNvSpPr>
          <p:nvPr/>
        </p:nvSpPr>
        <p:spPr>
          <a:xfrm>
            <a:off x="1085850" y="3429000"/>
            <a:ext cx="6949440" cy="10972"/>
          </a:xfrm>
          <a:prstGeom prst="rect">
            <a:avLst/>
          </a:prstGeom>
          <a:solidFill>
            <a:srgbClr val="2A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A93529E-7E1B-4723-AF84-84BE7D5006BF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10363200" cy="800100"/>
          </a:xfrm>
          <a:prstGeom prst="roundRect">
            <a:avLst>
              <a:gd name="adj" fmla="val 16667"/>
            </a:avLst>
          </a:prstGeom>
          <a:solidFill>
            <a:srgbClr val="FFF6E9"/>
          </a:solidFill>
          <a:ln w="7620">
            <a:solidFill>
              <a:srgbClr val="E9D4AF"/>
            </a:solidFill>
            <a:prstDash val="solid"/>
          </a:ln>
        </p:spPr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31B1CAC-5669-4D31-AE90-79D9A5F68878}"/>
              </a:ext>
            </a:extLst>
          </p:cNvPr>
          <p:cNvSpPr>
            <a:spLocks noGrp="1"/>
          </p:cNvSpPr>
          <p:nvPr/>
        </p:nvSpPr>
        <p:spPr>
          <a:xfrm>
            <a:off x="1085850" y="4419600"/>
            <a:ext cx="57150" cy="495300"/>
          </a:xfrm>
          <a:prstGeom prst="roundRect">
            <a:avLst>
              <a:gd name="adj" fmla="val 50000"/>
            </a:avLst>
          </a:prstGeom>
          <a:solidFill>
            <a:srgbClr val="B86A09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686595-B8B3-4A93-8853-AE773ADA8AB8}"/>
              </a:ext>
            </a:extLst>
          </p:cNvPr>
          <p:cNvSpPr>
            <a:spLocks noGrp="1"/>
          </p:cNvSpPr>
          <p:nvPr/>
        </p:nvSpPr>
        <p:spPr>
          <a:xfrm>
            <a:off x="1333500" y="438150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КЉУЧНА ПОРУКА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D0E91B-80FA-4516-9A16-D9F2B50B5489}"/>
              </a:ext>
            </a:extLst>
          </p:cNvPr>
          <p:cNvSpPr>
            <a:spLocks noGrp="1"/>
          </p:cNvSpPr>
          <p:nvPr/>
        </p:nvSpPr>
        <p:spPr>
          <a:xfrm>
            <a:off x="1333500" y="4629150"/>
            <a:ext cx="96012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Главна улазна тачка је EquipmentReservation.sln.</a:t>
            </a:r>
          </a:p>
        </p:txBody>
      </p:sp>
    </p:spTree>
    <p:extLst>
      <p:ext uri="{BB962C8B-B14F-4D97-AF65-F5344CB8AC3E}">
        <p14:creationId xmlns:p14="http://schemas.microsoft.com/office/powerpoint/2010/main" val="1162013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3FA02C-ED70-44D9-A393-491A951CEB6D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7CBC68-B9B3-4D65-BA75-4B73CC521CAE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CA1AE-35E1-4792-94CE-7BDB456CBD28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73D3CE-7C12-4B11-B575-372088D81595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Отварање и провера наставног примера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87020C-1072-40EA-B65E-97536508D903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Прва провера је да solution може да се restore-ује, build-ује и тестира.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12C9B83-A2A5-4EF5-A561-53B79C000D82}"/>
              </a:ext>
            </a:extLst>
          </p:cNvPr>
          <p:cNvSpPr>
            <a:spLocks noGrp="1"/>
          </p:cNvSpPr>
          <p:nvPr/>
        </p:nvSpPr>
        <p:spPr>
          <a:xfrm>
            <a:off x="829339" y="2582648"/>
            <a:ext cx="5715000" cy="1692703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830E1-BC74-49F0-AA93-864894A8329B}"/>
              </a:ext>
            </a:extLst>
          </p:cNvPr>
          <p:cNvSpPr>
            <a:spLocks noGrp="1"/>
          </p:cNvSpPr>
          <p:nvPr/>
        </p:nvSpPr>
        <p:spPr>
          <a:xfrm>
            <a:off x="829339" y="2930120"/>
            <a:ext cx="5715000" cy="109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37DB282-1404-4B75-A785-45BFB8E43B8D}"/>
              </a:ext>
            </a:extLst>
          </p:cNvPr>
          <p:cNvSpPr>
            <a:spLocks noGrp="1"/>
          </p:cNvSpPr>
          <p:nvPr/>
        </p:nvSpPr>
        <p:spPr>
          <a:xfrm>
            <a:off x="5629939" y="2701520"/>
            <a:ext cx="73152" cy="73152"/>
          </a:xfrm>
          <a:prstGeom prst="ellipse">
            <a:avLst/>
          </a:prstGeom>
          <a:solidFill>
            <a:srgbClr val="EE6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567BA6-82BE-471A-A4A6-6A621120290B}"/>
              </a:ext>
            </a:extLst>
          </p:cNvPr>
          <p:cNvSpPr>
            <a:spLocks noGrp="1"/>
          </p:cNvSpPr>
          <p:nvPr/>
        </p:nvSpPr>
        <p:spPr>
          <a:xfrm>
            <a:off x="5776243" y="2701520"/>
            <a:ext cx="73152" cy="73152"/>
          </a:xfrm>
          <a:prstGeom prst="ellipse">
            <a:avLst/>
          </a:prstGeom>
          <a:solidFill>
            <a:srgbClr val="F5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0BEFCF-5053-4122-9FD1-02509CD3041D}"/>
              </a:ext>
            </a:extLst>
          </p:cNvPr>
          <p:cNvSpPr>
            <a:spLocks noGrp="1"/>
          </p:cNvSpPr>
          <p:nvPr/>
        </p:nvSpPr>
        <p:spPr>
          <a:xfrm>
            <a:off x="5922547" y="2701520"/>
            <a:ext cx="73152" cy="73152"/>
          </a:xfrm>
          <a:prstGeom prst="ellipse">
            <a:avLst/>
          </a:prstGeom>
          <a:solidFill>
            <a:srgbClr val="62C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D986AF-8682-4549-9B3C-82D1A0329105}"/>
              </a:ext>
            </a:extLst>
          </p:cNvPr>
          <p:cNvSpPr>
            <a:spLocks noGrp="1"/>
          </p:cNvSpPr>
          <p:nvPr/>
        </p:nvSpPr>
        <p:spPr>
          <a:xfrm>
            <a:off x="962689" y="3058898"/>
            <a:ext cx="5448300" cy="2228850"/>
          </a:xfrm>
          <a:prstGeom prst="rect">
            <a:avLst/>
          </a:prstGeom>
          <a:noFill/>
        </p:spPr>
        <p:txBody>
          <a:bodyPr wrap="none" lIns="95250" tIns="76200" rIns="95250" bIns="57150" anchor="t">
            <a:noAutofit/>
          </a:bodyPr>
          <a:lstStyle/>
          <a:p>
            <a:pPr>
              <a:defRPr sz="135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 dirty="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  </a:t>
            </a:r>
            <a:r>
              <a:rPr sz="1200" b="0" dirty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cd examples/</a:t>
            </a:r>
            <a:r>
              <a:rPr sz="1200" b="0" dirty="0" err="1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ers</a:t>
            </a:r>
            <a:r>
              <a:rPr sz="1200" b="0" dirty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-ai-workflow</a:t>
            </a:r>
            <a:br>
              <a:rPr sz="1200" dirty="0">
                <a:latin typeface="Consolas"/>
                <a:ea typeface="Consolas"/>
                <a:cs typeface="Consolas"/>
              </a:rPr>
            </a:br>
            <a:r>
              <a:rPr sz="1200" dirty="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2  </a:t>
            </a:r>
            <a:r>
              <a:rPr sz="1200" b="0" dirty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dotnet restore </a:t>
            </a:r>
            <a:r>
              <a:rPr sz="1200" b="1" dirty="0" err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EquipmentReservation</a:t>
            </a:r>
            <a:r>
              <a:rPr sz="1200" b="0" dirty="0" err="1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.sln</a:t>
            </a:r>
            <a:br>
              <a:rPr sz="1200" dirty="0">
                <a:latin typeface="Consolas"/>
                <a:ea typeface="Consolas"/>
                <a:cs typeface="Consolas"/>
              </a:rPr>
            </a:br>
            <a:r>
              <a:rPr sz="1200" dirty="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3  </a:t>
            </a:r>
            <a:r>
              <a:rPr sz="1200" b="0" dirty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dotnet build </a:t>
            </a:r>
            <a:r>
              <a:rPr sz="1200" b="1" dirty="0" err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EquipmentReservation</a:t>
            </a:r>
            <a:r>
              <a:rPr sz="1200" b="0" dirty="0" err="1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.sln</a:t>
            </a:r>
            <a:r>
              <a:rPr sz="1200" b="0" dirty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-c </a:t>
            </a:r>
            <a:r>
              <a:rPr sz="1200" b="1" dirty="0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Release</a:t>
            </a:r>
            <a:r>
              <a:rPr sz="1200" b="0" dirty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--no-restore</a:t>
            </a:r>
            <a:br>
              <a:rPr sz="1200" dirty="0">
                <a:latin typeface="Consolas"/>
                <a:ea typeface="Consolas"/>
                <a:cs typeface="Consolas"/>
              </a:rPr>
            </a:br>
            <a:r>
              <a:rPr sz="1200" dirty="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4  </a:t>
            </a:r>
            <a:r>
              <a:rPr sz="1200" b="0" dirty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dotnet test </a:t>
            </a:r>
            <a:r>
              <a:rPr sz="1200" b="1" dirty="0" err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EquipmentReservation</a:t>
            </a:r>
            <a:r>
              <a:rPr sz="1200" b="0" dirty="0" err="1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.sln</a:t>
            </a:r>
            <a:r>
              <a:rPr sz="1200" b="0" dirty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-c </a:t>
            </a:r>
            <a:r>
              <a:rPr sz="1200" b="1" dirty="0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Release</a:t>
            </a:r>
            <a:r>
              <a:rPr sz="1200" b="0" dirty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--no-build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D1E811-58BE-427C-8F8C-2EBDBB32EAA1}"/>
              </a:ext>
            </a:extLst>
          </p:cNvPr>
          <p:cNvSpPr>
            <a:spLocks noGrp="1"/>
          </p:cNvSpPr>
          <p:nvPr/>
        </p:nvSpPr>
        <p:spPr>
          <a:xfrm>
            <a:off x="6873240" y="2240280"/>
            <a:ext cx="3840480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Шта је важно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F2243D-39B2-4286-B2F1-26C3161A1A60}"/>
              </a:ext>
            </a:extLst>
          </p:cNvPr>
          <p:cNvSpPr>
            <a:spLocks noGrp="1"/>
          </p:cNvSpPr>
          <p:nvPr/>
        </p:nvSpPr>
        <p:spPr>
          <a:xfrm>
            <a:off x="6873240" y="2578608"/>
            <a:ext cx="3886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Радимо над целим solution-ом.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Команде су део доказа, не декоративан додатак.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Пад build-а или теста мора се решити пре даље интеграције.</a:t>
            </a:r>
          </a:p>
        </p:txBody>
      </p:sp>
    </p:spTree>
    <p:extLst>
      <p:ext uri="{BB962C8B-B14F-4D97-AF65-F5344CB8AC3E}">
        <p14:creationId xmlns:p14="http://schemas.microsoft.com/office/powerpoint/2010/main" val="146021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04BC93-2540-4EBE-9995-F1E46DBE6B4D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D29C23-AE24-4C2D-8C91-D7C3A4EB3542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CDF646-B96F-4F2E-951E-B4CCEEF52382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11FCAF-8216-4357-AC0E-5F31D777073B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Један solution, јасне границе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B0FF3D-DF11-41B8-9629-DF53E15041F2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MCP и Guardrails су у истом solution-у, али не постају зависности пословног језгра.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35E3484-11BB-4AFF-959F-9C552F1ABC62}"/>
              </a:ext>
            </a:extLst>
          </p:cNvPr>
          <p:cNvSpPr>
            <a:spLocks noGrp="1"/>
          </p:cNvSpPr>
          <p:nvPr/>
        </p:nvSpPr>
        <p:spPr>
          <a:xfrm>
            <a:off x="1135380" y="2788920"/>
            <a:ext cx="1508760" cy="69494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D71E7D-FED6-4366-84BF-FA5880BC0386}"/>
              </a:ext>
            </a:extLst>
          </p:cNvPr>
          <p:cNvSpPr>
            <a:spLocks noGrp="1"/>
          </p:cNvSpPr>
          <p:nvPr/>
        </p:nvSpPr>
        <p:spPr>
          <a:xfrm>
            <a:off x="1208532" y="2999232"/>
            <a:ext cx="1353312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26307B-B316-4546-8347-4CCEBC538A0A}"/>
              </a:ext>
            </a:extLst>
          </p:cNvPr>
          <p:cNvSpPr>
            <a:spLocks noGrp="1"/>
          </p:cNvSpPr>
          <p:nvPr/>
        </p:nvSpPr>
        <p:spPr>
          <a:xfrm>
            <a:off x="1043940" y="363016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правила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7D700F-AC85-4A6E-A214-0330B75C7C54}"/>
              </a:ext>
            </a:extLst>
          </p:cNvPr>
          <p:cNvSpPr>
            <a:spLocks noGrp="1"/>
          </p:cNvSpPr>
          <p:nvPr/>
        </p:nvSpPr>
        <p:spPr>
          <a:xfrm>
            <a:off x="2735580" y="2990088"/>
            <a:ext cx="320040" cy="263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D687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27839EB-ACE0-4D6A-ACD1-6A06D446945A}"/>
              </a:ext>
            </a:extLst>
          </p:cNvPr>
          <p:cNvSpPr>
            <a:spLocks noGrp="1"/>
          </p:cNvSpPr>
          <p:nvPr/>
        </p:nvSpPr>
        <p:spPr>
          <a:xfrm>
            <a:off x="3238500" y="2788920"/>
            <a:ext cx="1508760" cy="694944"/>
          </a:xfrm>
          <a:prstGeom prst="roundRect">
            <a:avLst>
              <a:gd name="adj" fmla="val 12000"/>
            </a:avLst>
          </a:prstGeom>
          <a:solidFill>
            <a:srgbClr val="F4F7FF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3B9FE6-4C19-4F4C-B66B-177AC16BE9EA}"/>
              </a:ext>
            </a:extLst>
          </p:cNvPr>
          <p:cNvSpPr>
            <a:spLocks noGrp="1"/>
          </p:cNvSpPr>
          <p:nvPr/>
        </p:nvSpPr>
        <p:spPr>
          <a:xfrm>
            <a:off x="3311652" y="2999232"/>
            <a:ext cx="1353312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D71870-E496-4E19-A8D7-9B43616B2562}"/>
              </a:ext>
            </a:extLst>
          </p:cNvPr>
          <p:cNvSpPr>
            <a:spLocks noGrp="1"/>
          </p:cNvSpPr>
          <p:nvPr/>
        </p:nvSpPr>
        <p:spPr>
          <a:xfrm>
            <a:off x="3147060" y="363016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портови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0FA530-B3D1-4E2F-B3DF-18408A0F1A2C}"/>
              </a:ext>
            </a:extLst>
          </p:cNvPr>
          <p:cNvSpPr>
            <a:spLocks noGrp="1"/>
          </p:cNvSpPr>
          <p:nvPr/>
        </p:nvSpPr>
        <p:spPr>
          <a:xfrm>
            <a:off x="4838700" y="2990088"/>
            <a:ext cx="320040" cy="263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D687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C432AD0-81EA-455F-9534-12B5796B5BD8}"/>
              </a:ext>
            </a:extLst>
          </p:cNvPr>
          <p:cNvSpPr>
            <a:spLocks noGrp="1"/>
          </p:cNvSpPr>
          <p:nvPr/>
        </p:nvSpPr>
        <p:spPr>
          <a:xfrm>
            <a:off x="5341620" y="2788920"/>
            <a:ext cx="1508760" cy="694944"/>
          </a:xfrm>
          <a:prstGeom prst="roundRect">
            <a:avLst>
              <a:gd name="adj" fmla="val 12000"/>
            </a:avLst>
          </a:prstGeom>
          <a:solidFill>
            <a:srgbClr val="F4F7FF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ABD6E5-E65A-4E95-94DC-96795B478E31}"/>
              </a:ext>
            </a:extLst>
          </p:cNvPr>
          <p:cNvSpPr>
            <a:spLocks noGrp="1"/>
          </p:cNvSpPr>
          <p:nvPr/>
        </p:nvSpPr>
        <p:spPr>
          <a:xfrm>
            <a:off x="5414772" y="2999232"/>
            <a:ext cx="1353312" cy="543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7836A3-FEE7-44BE-9471-92D4F77355F7}"/>
              </a:ext>
            </a:extLst>
          </p:cNvPr>
          <p:cNvSpPr>
            <a:spLocks noGrp="1"/>
          </p:cNvSpPr>
          <p:nvPr/>
        </p:nvSpPr>
        <p:spPr>
          <a:xfrm>
            <a:off x="5250180" y="363016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адаптери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7B58A1-D1BE-44A5-9392-2F14DF08A99A}"/>
              </a:ext>
            </a:extLst>
          </p:cNvPr>
          <p:cNvSpPr>
            <a:spLocks noGrp="1"/>
          </p:cNvSpPr>
          <p:nvPr/>
        </p:nvSpPr>
        <p:spPr>
          <a:xfrm>
            <a:off x="6941820" y="2990088"/>
            <a:ext cx="320040" cy="263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D687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0249E4-17EE-4662-A4B6-B28003D94CB4}"/>
              </a:ext>
            </a:extLst>
          </p:cNvPr>
          <p:cNvSpPr>
            <a:spLocks noGrp="1"/>
          </p:cNvSpPr>
          <p:nvPr/>
        </p:nvSpPr>
        <p:spPr>
          <a:xfrm>
            <a:off x="7444740" y="2788920"/>
            <a:ext cx="1508760" cy="694944"/>
          </a:xfrm>
          <a:prstGeom prst="roundRect">
            <a:avLst>
              <a:gd name="adj" fmla="val 12000"/>
            </a:avLst>
          </a:prstGeom>
          <a:solidFill>
            <a:srgbClr val="FDF9F1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71BF45-A9C7-4706-8A74-09ADA61D5B4A}"/>
              </a:ext>
            </a:extLst>
          </p:cNvPr>
          <p:cNvSpPr>
            <a:spLocks noGrp="1"/>
          </p:cNvSpPr>
          <p:nvPr/>
        </p:nvSpPr>
        <p:spPr>
          <a:xfrm>
            <a:off x="7517892" y="2999232"/>
            <a:ext cx="1353312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BE770F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BF5712-B453-423A-AD1A-F65310675BF3}"/>
              </a:ext>
            </a:extLst>
          </p:cNvPr>
          <p:cNvSpPr>
            <a:spLocks noGrp="1"/>
          </p:cNvSpPr>
          <p:nvPr/>
        </p:nvSpPr>
        <p:spPr>
          <a:xfrm>
            <a:off x="7353300" y="363016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composition root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2CADB6-57C4-4B9A-A852-FA35B501C8C8}"/>
              </a:ext>
            </a:extLst>
          </p:cNvPr>
          <p:cNvSpPr>
            <a:spLocks noGrp="1"/>
          </p:cNvSpPr>
          <p:nvPr/>
        </p:nvSpPr>
        <p:spPr>
          <a:xfrm>
            <a:off x="9044940" y="2990088"/>
            <a:ext cx="320040" cy="263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D687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B5453E4-75EC-47E2-B843-785E350DF66B}"/>
              </a:ext>
            </a:extLst>
          </p:cNvPr>
          <p:cNvSpPr>
            <a:spLocks noGrp="1"/>
          </p:cNvSpPr>
          <p:nvPr/>
        </p:nvSpPr>
        <p:spPr>
          <a:xfrm>
            <a:off x="9547860" y="2788920"/>
            <a:ext cx="1508760" cy="694944"/>
          </a:xfrm>
          <a:prstGeom prst="roundRect">
            <a:avLst>
              <a:gd name="adj" fmla="val 12000"/>
            </a:avLst>
          </a:prstGeom>
          <a:solidFill>
            <a:srgbClr val="F3FAF6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10A10D-4994-4BF8-AEFB-B28F9EDB6D35}"/>
              </a:ext>
            </a:extLst>
          </p:cNvPr>
          <p:cNvSpPr>
            <a:spLocks noGrp="1"/>
          </p:cNvSpPr>
          <p:nvPr/>
        </p:nvSpPr>
        <p:spPr>
          <a:xfrm>
            <a:off x="9621012" y="2999232"/>
            <a:ext cx="1353312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A915F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F81A4B-4B48-4F60-94C8-78B010807B20}"/>
              </a:ext>
            </a:extLst>
          </p:cNvPr>
          <p:cNvSpPr>
            <a:spLocks noGrp="1"/>
          </p:cNvSpPr>
          <p:nvPr/>
        </p:nvSpPr>
        <p:spPr>
          <a:xfrm>
            <a:off x="9456420" y="363016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провера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34F3B2F-9F52-45AB-83CA-BEC48D9DC9E6}"/>
              </a:ext>
            </a:extLst>
          </p:cNvPr>
          <p:cNvSpPr>
            <a:spLocks noGrp="1"/>
          </p:cNvSpPr>
          <p:nvPr/>
        </p:nvSpPr>
        <p:spPr>
          <a:xfrm>
            <a:off x="914400" y="4914900"/>
            <a:ext cx="10363200" cy="800100"/>
          </a:xfrm>
          <a:prstGeom prst="roundRect">
            <a:avLst>
              <a:gd name="adj" fmla="val 16667"/>
            </a:avLst>
          </a:prstGeom>
          <a:solidFill>
            <a:srgbClr val="FFF6E9"/>
          </a:solidFill>
          <a:ln w="7620">
            <a:solidFill>
              <a:srgbClr val="E9D4AF"/>
            </a:solidFill>
            <a:prstDash val="solid"/>
          </a:ln>
        </p:spPr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9DAA191-1B06-46C9-856E-B246DB64215E}"/>
              </a:ext>
            </a:extLst>
          </p:cNvPr>
          <p:cNvSpPr>
            <a:spLocks noGrp="1"/>
          </p:cNvSpPr>
          <p:nvPr/>
        </p:nvSpPr>
        <p:spPr>
          <a:xfrm>
            <a:off x="1085850" y="5067300"/>
            <a:ext cx="57150" cy="495300"/>
          </a:xfrm>
          <a:prstGeom prst="roundRect">
            <a:avLst>
              <a:gd name="adj" fmla="val 50000"/>
            </a:avLst>
          </a:prstGeom>
          <a:solidFill>
            <a:srgbClr val="B86A09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544F95-9CA7-4790-914B-95CA0870520A}"/>
              </a:ext>
            </a:extLst>
          </p:cNvPr>
          <p:cNvSpPr>
            <a:spLocks noGrp="1"/>
          </p:cNvSpPr>
          <p:nvPr/>
        </p:nvSpPr>
        <p:spPr>
          <a:xfrm>
            <a:off x="1333500" y="502920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КЉУЧНА ПОРУКА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DF1CED-6FB5-45EA-83B6-F998958457F2}"/>
              </a:ext>
            </a:extLst>
          </p:cNvPr>
          <p:cNvSpPr>
            <a:spLocks noGrp="1"/>
          </p:cNvSpPr>
          <p:nvPr/>
        </p:nvSpPr>
        <p:spPr>
          <a:xfrm>
            <a:off x="1333500" y="5276850"/>
            <a:ext cx="96012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Dependency Rule је важнији од физичког распореда фолдера.</a:t>
            </a:r>
          </a:p>
        </p:txBody>
      </p:sp>
    </p:spTree>
    <p:extLst>
      <p:ext uri="{BB962C8B-B14F-4D97-AF65-F5344CB8AC3E}">
        <p14:creationId xmlns:p14="http://schemas.microsoft.com/office/powerpoint/2010/main" val="1190289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290970-0192-4F2D-84DC-84CACE1D49C9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8E2C96-FFDC-47B6-9812-ECD627AC9AEC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0DED7F-6D6D-4C25-A790-BAA5AE7ADDE9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EE5D36-C3EB-42E3-802E-35191AE7A98F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Структура solution-а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4D4F1D-4B00-4296-91C7-CCCCDE53E29D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Сваки пројекат има другачију одговорност.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5829D0-FCDE-4387-BD97-2E68898D63E6}"/>
              </a:ext>
            </a:extLst>
          </p:cNvPr>
          <p:cNvSpPr>
            <a:spLocks noGrp="1"/>
          </p:cNvSpPr>
          <p:nvPr/>
        </p:nvSpPr>
        <p:spPr>
          <a:xfrm>
            <a:off x="914400" y="2240280"/>
            <a:ext cx="2518161" cy="457200"/>
          </a:xfrm>
          <a:prstGeom prst="rect">
            <a:avLst/>
          </a:prstGeom>
          <a:solidFill>
            <a:srgbClr val="F7F8FA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CE4DDA-4696-4294-B77E-C29810B42D15}"/>
              </a:ext>
            </a:extLst>
          </p:cNvPr>
          <p:cNvSpPr>
            <a:spLocks noGrp="1"/>
          </p:cNvSpPr>
          <p:nvPr/>
        </p:nvSpPr>
        <p:spPr>
          <a:xfrm>
            <a:off x="1030623" y="2306955"/>
            <a:ext cx="2324456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5D6878"/>
                </a:solidFill>
                <a:latin typeface="Aptos"/>
                <a:ea typeface="Aptos"/>
                <a:cs typeface="Aptos"/>
              </a:rPr>
              <a:t>Пројекат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317C1C-E79F-4EA1-A9E2-9E4CC91738CA}"/>
              </a:ext>
            </a:extLst>
          </p:cNvPr>
          <p:cNvSpPr>
            <a:spLocks noGrp="1"/>
          </p:cNvSpPr>
          <p:nvPr/>
        </p:nvSpPr>
        <p:spPr>
          <a:xfrm>
            <a:off x="3432561" y="2240280"/>
            <a:ext cx="7845039" cy="457200"/>
          </a:xfrm>
          <a:prstGeom prst="rect">
            <a:avLst/>
          </a:prstGeom>
          <a:solidFill>
            <a:srgbClr val="F7F8FA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4125A9-381D-4201-9E61-BCF36EC5E8FF}"/>
              </a:ext>
            </a:extLst>
          </p:cNvPr>
          <p:cNvSpPr>
            <a:spLocks noGrp="1"/>
          </p:cNvSpPr>
          <p:nvPr/>
        </p:nvSpPr>
        <p:spPr>
          <a:xfrm>
            <a:off x="3548784" y="2306955"/>
            <a:ext cx="7651334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5D6878"/>
                </a:solidFill>
                <a:latin typeface="Aptos"/>
                <a:ea typeface="Aptos"/>
                <a:cs typeface="Aptos"/>
              </a:rPr>
              <a:t>Одговорност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7B2D68-2365-4827-B5CA-5738AB867188}"/>
              </a:ext>
            </a:extLst>
          </p:cNvPr>
          <p:cNvSpPr>
            <a:spLocks noGrp="1"/>
          </p:cNvSpPr>
          <p:nvPr/>
        </p:nvSpPr>
        <p:spPr>
          <a:xfrm>
            <a:off x="914400" y="2697480"/>
            <a:ext cx="2518161" cy="51435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0A51FC-304A-4110-8BC5-689E0E7D3FC4}"/>
              </a:ext>
            </a:extLst>
          </p:cNvPr>
          <p:cNvSpPr>
            <a:spLocks noGrp="1"/>
          </p:cNvSpPr>
          <p:nvPr/>
        </p:nvSpPr>
        <p:spPr>
          <a:xfrm>
            <a:off x="1030623" y="2764155"/>
            <a:ext cx="227603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03A131-3535-4ECE-8F53-BAEA6CC0B548}"/>
              </a:ext>
            </a:extLst>
          </p:cNvPr>
          <p:cNvSpPr>
            <a:spLocks noGrp="1"/>
          </p:cNvSpPr>
          <p:nvPr/>
        </p:nvSpPr>
        <p:spPr>
          <a:xfrm>
            <a:off x="3432561" y="2697480"/>
            <a:ext cx="7845039" cy="51435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5035B3-7302-42D5-9ADD-3A51030AA08E}"/>
              </a:ext>
            </a:extLst>
          </p:cNvPr>
          <p:cNvSpPr>
            <a:spLocks noGrp="1"/>
          </p:cNvSpPr>
          <p:nvPr/>
        </p:nvSpPr>
        <p:spPr>
          <a:xfrm>
            <a:off x="3548784" y="2764155"/>
            <a:ext cx="7602908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ентитети и пословна правила; без пројектних зависности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BACB54-4676-42EF-84A1-D542CFB70623}"/>
              </a:ext>
            </a:extLst>
          </p:cNvPr>
          <p:cNvSpPr>
            <a:spLocks noGrp="1"/>
          </p:cNvSpPr>
          <p:nvPr/>
        </p:nvSpPr>
        <p:spPr>
          <a:xfrm>
            <a:off x="914400" y="3211830"/>
            <a:ext cx="2518161" cy="51435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A4E2A1-18CF-483A-B3E0-0D0749A56A8C}"/>
              </a:ext>
            </a:extLst>
          </p:cNvPr>
          <p:cNvSpPr>
            <a:spLocks noGrp="1"/>
          </p:cNvSpPr>
          <p:nvPr/>
        </p:nvSpPr>
        <p:spPr>
          <a:xfrm>
            <a:off x="1030623" y="3278505"/>
            <a:ext cx="227603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A55C21-C234-435A-919F-9C4C779FF69F}"/>
              </a:ext>
            </a:extLst>
          </p:cNvPr>
          <p:cNvSpPr>
            <a:spLocks noGrp="1"/>
          </p:cNvSpPr>
          <p:nvPr/>
        </p:nvSpPr>
        <p:spPr>
          <a:xfrm>
            <a:off x="3432561" y="3211830"/>
            <a:ext cx="7845039" cy="51435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E3D286-0FE1-485D-B279-F63D0BD2A13B}"/>
              </a:ext>
            </a:extLst>
          </p:cNvPr>
          <p:cNvSpPr>
            <a:spLocks noGrp="1"/>
          </p:cNvSpPr>
          <p:nvPr/>
        </p:nvSpPr>
        <p:spPr>
          <a:xfrm>
            <a:off x="3548784" y="3278505"/>
            <a:ext cx="7602908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use-case-ови и портови према другим модулима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3AD6BA-BD6C-4C5E-AD61-278AF61F7797}"/>
              </a:ext>
            </a:extLst>
          </p:cNvPr>
          <p:cNvSpPr>
            <a:spLocks noGrp="1"/>
          </p:cNvSpPr>
          <p:nvPr/>
        </p:nvSpPr>
        <p:spPr>
          <a:xfrm>
            <a:off x="914400" y="3726180"/>
            <a:ext cx="2518161" cy="51435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CC129C-24AE-4889-878A-B2A5AB84F8FB}"/>
              </a:ext>
            </a:extLst>
          </p:cNvPr>
          <p:cNvSpPr>
            <a:spLocks noGrp="1"/>
          </p:cNvSpPr>
          <p:nvPr/>
        </p:nvSpPr>
        <p:spPr>
          <a:xfrm>
            <a:off x="1030623" y="3792855"/>
            <a:ext cx="227603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AE78BF-B18B-45AF-98E4-A0C3724E8108}"/>
              </a:ext>
            </a:extLst>
          </p:cNvPr>
          <p:cNvSpPr>
            <a:spLocks noGrp="1"/>
          </p:cNvSpPr>
          <p:nvPr/>
        </p:nvSpPr>
        <p:spPr>
          <a:xfrm>
            <a:off x="3432561" y="3726180"/>
            <a:ext cx="7845039" cy="51435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1986C2-ED57-4623-9261-72327BD7C3F9}"/>
              </a:ext>
            </a:extLst>
          </p:cNvPr>
          <p:cNvSpPr>
            <a:spLocks noGrp="1"/>
          </p:cNvSpPr>
          <p:nvPr/>
        </p:nvSpPr>
        <p:spPr>
          <a:xfrm>
            <a:off x="3548784" y="3792855"/>
            <a:ext cx="7602908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имплементације портова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F5166D-208A-4B25-B0E2-365246280F75}"/>
              </a:ext>
            </a:extLst>
          </p:cNvPr>
          <p:cNvSpPr>
            <a:spLocks noGrp="1"/>
          </p:cNvSpPr>
          <p:nvPr/>
        </p:nvSpPr>
        <p:spPr>
          <a:xfrm>
            <a:off x="914400" y="4240530"/>
            <a:ext cx="2518161" cy="51435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BBAB4F-F0A3-4459-B92F-81F1B5DBFEA5}"/>
              </a:ext>
            </a:extLst>
          </p:cNvPr>
          <p:cNvSpPr>
            <a:spLocks noGrp="1"/>
          </p:cNvSpPr>
          <p:nvPr/>
        </p:nvSpPr>
        <p:spPr>
          <a:xfrm>
            <a:off x="1030623" y="4307205"/>
            <a:ext cx="227603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0BB47C-9F81-458B-9E9E-C3028264014F}"/>
              </a:ext>
            </a:extLst>
          </p:cNvPr>
          <p:cNvSpPr>
            <a:spLocks noGrp="1"/>
          </p:cNvSpPr>
          <p:nvPr/>
        </p:nvSpPr>
        <p:spPr>
          <a:xfrm>
            <a:off x="3432561" y="4240530"/>
            <a:ext cx="7845039" cy="51435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E46418-8866-4CAF-B2B3-F00857A9E5E4}"/>
              </a:ext>
            </a:extLst>
          </p:cNvPr>
          <p:cNvSpPr>
            <a:spLocks noGrp="1"/>
          </p:cNvSpPr>
          <p:nvPr/>
        </p:nvSpPr>
        <p:spPr>
          <a:xfrm>
            <a:off x="3548784" y="4307205"/>
            <a:ext cx="7602908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composition root и HTTP граница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53C337-5178-4AB4-B536-60187E5F1DA5}"/>
              </a:ext>
            </a:extLst>
          </p:cNvPr>
          <p:cNvSpPr>
            <a:spLocks noGrp="1"/>
          </p:cNvSpPr>
          <p:nvPr/>
        </p:nvSpPr>
        <p:spPr>
          <a:xfrm>
            <a:off x="914400" y="4754880"/>
            <a:ext cx="2518161" cy="51435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35C7F4-CF3C-4EFD-A0E4-86D208F4B5EB}"/>
              </a:ext>
            </a:extLst>
          </p:cNvPr>
          <p:cNvSpPr>
            <a:spLocks noGrp="1"/>
          </p:cNvSpPr>
          <p:nvPr/>
        </p:nvSpPr>
        <p:spPr>
          <a:xfrm>
            <a:off x="1030623" y="4821555"/>
            <a:ext cx="227603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5EE451-0067-4BE2-BA11-D4B98225DA51}"/>
              </a:ext>
            </a:extLst>
          </p:cNvPr>
          <p:cNvSpPr>
            <a:spLocks noGrp="1"/>
          </p:cNvSpPr>
          <p:nvPr/>
        </p:nvSpPr>
        <p:spPr>
          <a:xfrm>
            <a:off x="3432561" y="4754880"/>
            <a:ext cx="7845039" cy="51435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A2BCE0-4969-47A3-BB83-B06A7A06E89E}"/>
              </a:ext>
            </a:extLst>
          </p:cNvPr>
          <p:cNvSpPr>
            <a:spLocks noGrp="1"/>
          </p:cNvSpPr>
          <p:nvPr/>
        </p:nvSpPr>
        <p:spPr>
          <a:xfrm>
            <a:off x="3548784" y="4821555"/>
            <a:ext cx="7602908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контролисано излагање контекста AI клијенту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BF14ED-1D59-4D69-867C-30CE67C0795E}"/>
              </a:ext>
            </a:extLst>
          </p:cNvPr>
          <p:cNvSpPr>
            <a:spLocks noGrp="1"/>
          </p:cNvSpPr>
          <p:nvPr/>
        </p:nvSpPr>
        <p:spPr>
          <a:xfrm>
            <a:off x="914400" y="5269230"/>
            <a:ext cx="2518161" cy="51435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0063FD-5562-412B-B54B-554631228749}"/>
              </a:ext>
            </a:extLst>
          </p:cNvPr>
          <p:cNvSpPr>
            <a:spLocks noGrp="1"/>
          </p:cNvSpPr>
          <p:nvPr/>
        </p:nvSpPr>
        <p:spPr>
          <a:xfrm>
            <a:off x="1030623" y="5335905"/>
            <a:ext cx="227603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D3A301-EA53-4DFA-9DD5-576F20432943}"/>
              </a:ext>
            </a:extLst>
          </p:cNvPr>
          <p:cNvSpPr>
            <a:spLocks noGrp="1"/>
          </p:cNvSpPr>
          <p:nvPr/>
        </p:nvSpPr>
        <p:spPr>
          <a:xfrm>
            <a:off x="3432561" y="5269230"/>
            <a:ext cx="7845039" cy="51435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FBF889-896D-4F0A-B62D-61D58F232ABB}"/>
              </a:ext>
            </a:extLst>
          </p:cNvPr>
          <p:cNvSpPr>
            <a:spLocks noGrp="1"/>
          </p:cNvSpPr>
          <p:nvPr/>
        </p:nvSpPr>
        <p:spPr>
          <a:xfrm>
            <a:off x="3548784" y="5335905"/>
            <a:ext cx="7602908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детерминистичке политике за ризичне позиве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24FB3A-0C6B-4FF4-95E7-0C51C637E83A}"/>
              </a:ext>
            </a:extLst>
          </p:cNvPr>
          <p:cNvSpPr>
            <a:spLocks noGrp="1"/>
          </p:cNvSpPr>
          <p:nvPr/>
        </p:nvSpPr>
        <p:spPr>
          <a:xfrm>
            <a:off x="914400" y="5783580"/>
            <a:ext cx="2518161" cy="51435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B1B193-BB77-42CA-B40C-00C83E06F3C4}"/>
              </a:ext>
            </a:extLst>
          </p:cNvPr>
          <p:cNvSpPr>
            <a:spLocks noGrp="1"/>
          </p:cNvSpPr>
          <p:nvPr/>
        </p:nvSpPr>
        <p:spPr>
          <a:xfrm>
            <a:off x="1030623" y="5850255"/>
            <a:ext cx="227603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8DA3422-DEA9-43E8-B9EF-4AE59FEBC77A}"/>
              </a:ext>
            </a:extLst>
          </p:cNvPr>
          <p:cNvSpPr>
            <a:spLocks noGrp="1"/>
          </p:cNvSpPr>
          <p:nvPr/>
        </p:nvSpPr>
        <p:spPr>
          <a:xfrm>
            <a:off x="3432561" y="5783580"/>
            <a:ext cx="7845039" cy="514350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301292-0052-46B2-A21E-5E72947F0C31}"/>
              </a:ext>
            </a:extLst>
          </p:cNvPr>
          <p:cNvSpPr>
            <a:spLocks noGrp="1"/>
          </p:cNvSpPr>
          <p:nvPr/>
        </p:nvSpPr>
        <p:spPr>
          <a:xfrm>
            <a:off x="3548784" y="5850255"/>
            <a:ext cx="7602908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NUnit провере домена, use-case-а и guardrail-а</a:t>
            </a:r>
          </a:p>
        </p:txBody>
      </p:sp>
    </p:spTree>
    <p:extLst>
      <p:ext uri="{BB962C8B-B14F-4D97-AF65-F5344CB8AC3E}">
        <p14:creationId xmlns:p14="http://schemas.microsoft.com/office/powerpoint/2010/main" val="1050739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60FBE4-9BE2-465E-9137-B98C8D5EDB4E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EA3423-8770-44FE-8A66-7F1A65CCAFC9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BE8B63-82FC-4534-A798-303F862C9EAE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B2320F-50EE-4E08-A520-AC9657BB72C1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Пословно правило остаје у Domain слоју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DC4C6-40E9-4B9D-94DC-BCF9CA7EF797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InventoryItem не зна за HTTP, базу, MCP нити AI.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F23BBF-9DA6-431E-B77D-9B9CBE4AA06C}"/>
              </a:ext>
            </a:extLst>
          </p:cNvPr>
          <p:cNvSpPr>
            <a:spLocks noGrp="1"/>
          </p:cNvSpPr>
          <p:nvPr/>
        </p:nvSpPr>
        <p:spPr>
          <a:xfrm>
            <a:off x="1051560" y="242316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Он штити invariant: количина мора бити позитивна и не може се резервисати више јединица него што је расположиво.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B4911A-8E2A-48DF-85D2-3C9E7A1587BA}"/>
              </a:ext>
            </a:extLst>
          </p:cNvPr>
          <p:cNvSpPr>
            <a:spLocks noGrp="1"/>
          </p:cNvSpPr>
          <p:nvPr/>
        </p:nvSpPr>
        <p:spPr>
          <a:xfrm>
            <a:off x="1051560" y="3429000"/>
            <a:ext cx="6949440" cy="10972"/>
          </a:xfrm>
          <a:prstGeom prst="rect">
            <a:avLst/>
          </a:prstGeom>
          <a:solidFill>
            <a:srgbClr val="2A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5802DA8-FFEF-4123-AED9-91C6AE4EACCF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10363200" cy="800100"/>
          </a:xfrm>
          <a:prstGeom prst="roundRect">
            <a:avLst>
              <a:gd name="adj" fmla="val 16667"/>
            </a:avLst>
          </a:prstGeom>
          <a:solidFill>
            <a:srgbClr val="FFF6E9"/>
          </a:solidFill>
          <a:ln w="7620">
            <a:solidFill>
              <a:srgbClr val="E9D4AF"/>
            </a:solidFill>
            <a:prstDash val="solid"/>
          </a:ln>
        </p:spPr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50FF3BD-0A2A-4568-A085-29AFEF4DCED1}"/>
              </a:ext>
            </a:extLst>
          </p:cNvPr>
          <p:cNvSpPr>
            <a:spLocks noGrp="1"/>
          </p:cNvSpPr>
          <p:nvPr/>
        </p:nvSpPr>
        <p:spPr>
          <a:xfrm>
            <a:off x="1085850" y="4419600"/>
            <a:ext cx="57150" cy="495300"/>
          </a:xfrm>
          <a:prstGeom prst="roundRect">
            <a:avLst>
              <a:gd name="adj" fmla="val 50000"/>
            </a:avLst>
          </a:prstGeom>
          <a:solidFill>
            <a:srgbClr val="B86A09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E169FA-46B1-4E15-B1C6-E5CF3FAEA3C1}"/>
              </a:ext>
            </a:extLst>
          </p:cNvPr>
          <p:cNvSpPr>
            <a:spLocks noGrp="1"/>
          </p:cNvSpPr>
          <p:nvPr/>
        </p:nvSpPr>
        <p:spPr>
          <a:xfrm>
            <a:off x="1333500" y="438150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КЉУЧНА ПОРУКА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3671E2-D428-4ED8-A248-0787BA2F4E57}"/>
              </a:ext>
            </a:extLst>
          </p:cNvPr>
          <p:cNvSpPr>
            <a:spLocks noGrp="1"/>
          </p:cNvSpPr>
          <p:nvPr/>
        </p:nvSpPr>
        <p:spPr>
          <a:xfrm>
            <a:off x="1333500" y="4629150"/>
            <a:ext cx="96012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Исто правило користе API, тестови и будући adapter-и без дуплирања.</a:t>
            </a:r>
          </a:p>
        </p:txBody>
      </p:sp>
    </p:spTree>
    <p:extLst>
      <p:ext uri="{BB962C8B-B14F-4D97-AF65-F5344CB8AC3E}">
        <p14:creationId xmlns:p14="http://schemas.microsoft.com/office/powerpoint/2010/main" val="663258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BFCF2B-5CFD-4F74-B818-AEC3BEBB16E9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9FB6CB-8691-4551-9C79-E6EF4FF54D77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81CEAD-D6AA-4A47-8E3E-CA8052936FB6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C4C4C6-076B-43E9-A9D0-12F1BD6D5D8B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Валидација захтева је одвојена од модела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391340-867B-4613-B887-BE3C1672881F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Validator проверава облик улаза пре покретања пословног тока.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A25C201-3C4E-4F41-8E63-BCEDE822C061}"/>
              </a:ext>
            </a:extLst>
          </p:cNvPr>
          <p:cNvSpPr>
            <a:spLocks noGrp="1"/>
          </p:cNvSpPr>
          <p:nvPr/>
        </p:nvSpPr>
        <p:spPr>
          <a:xfrm>
            <a:off x="914400" y="2103120"/>
            <a:ext cx="5715000" cy="28194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BE22B5-6F11-4927-B0EA-2AF8E3CED428}"/>
              </a:ext>
            </a:extLst>
          </p:cNvPr>
          <p:cNvSpPr>
            <a:spLocks noGrp="1"/>
          </p:cNvSpPr>
          <p:nvPr/>
        </p:nvSpPr>
        <p:spPr>
          <a:xfrm>
            <a:off x="914400" y="2450592"/>
            <a:ext cx="5715000" cy="109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C374353-7AF2-4EA3-9466-C4098D0516C4}"/>
              </a:ext>
            </a:extLst>
          </p:cNvPr>
          <p:cNvSpPr>
            <a:spLocks noGrp="1"/>
          </p:cNvSpPr>
          <p:nvPr/>
        </p:nvSpPr>
        <p:spPr>
          <a:xfrm>
            <a:off x="5715000" y="2221992"/>
            <a:ext cx="73152" cy="73152"/>
          </a:xfrm>
          <a:prstGeom prst="ellipse">
            <a:avLst/>
          </a:prstGeom>
          <a:solidFill>
            <a:srgbClr val="EE6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6335BA-03A1-49CD-9196-B9092BD3AF21}"/>
              </a:ext>
            </a:extLst>
          </p:cNvPr>
          <p:cNvSpPr>
            <a:spLocks noGrp="1"/>
          </p:cNvSpPr>
          <p:nvPr/>
        </p:nvSpPr>
        <p:spPr>
          <a:xfrm>
            <a:off x="5861304" y="2221992"/>
            <a:ext cx="73152" cy="73152"/>
          </a:xfrm>
          <a:prstGeom prst="ellipse">
            <a:avLst/>
          </a:prstGeom>
          <a:solidFill>
            <a:srgbClr val="F5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CA035E-154D-4C05-A21A-AE481B4EFD7A}"/>
              </a:ext>
            </a:extLst>
          </p:cNvPr>
          <p:cNvSpPr>
            <a:spLocks noGrp="1"/>
          </p:cNvSpPr>
          <p:nvPr/>
        </p:nvSpPr>
        <p:spPr>
          <a:xfrm>
            <a:off x="6007608" y="2221992"/>
            <a:ext cx="73152" cy="73152"/>
          </a:xfrm>
          <a:prstGeom prst="ellipse">
            <a:avLst/>
          </a:prstGeom>
          <a:solidFill>
            <a:srgbClr val="62C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CD4124-A4C3-45D4-B5CF-9597C16013CA}"/>
              </a:ext>
            </a:extLst>
          </p:cNvPr>
          <p:cNvSpPr>
            <a:spLocks noGrp="1"/>
          </p:cNvSpPr>
          <p:nvPr/>
        </p:nvSpPr>
        <p:spPr>
          <a:xfrm>
            <a:off x="1047750" y="2579370"/>
            <a:ext cx="4595810" cy="2392299"/>
          </a:xfrm>
          <a:prstGeom prst="rect">
            <a:avLst/>
          </a:prstGeom>
          <a:noFill/>
        </p:spPr>
        <p:txBody>
          <a:bodyPr wrap="none" lIns="95250" tIns="76200" rIns="95250" bIns="57150" anchor="t">
            <a:noAutofit/>
          </a:bodyPr>
          <a:lstStyle/>
          <a:p>
            <a:pPr>
              <a:defRPr sz="115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1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1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static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void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ValidateAndThrow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br>
              <a:rPr sz="1150">
                <a:latin typeface="Consolas"/>
                <a:ea typeface="Consolas"/>
                <a:cs typeface="Consolas"/>
              </a:rPr>
            </a:br>
            <a:r>
              <a:rPr sz="11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CreateReservationCommand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command)</a:t>
            </a:r>
            <a:br>
              <a:rPr sz="1150">
                <a:latin typeface="Consolas"/>
                <a:ea typeface="Consolas"/>
                <a:cs typeface="Consolas"/>
              </a:rPr>
            </a:br>
            <a:r>
              <a:rPr sz="11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{</a:t>
            </a:r>
            <a:br>
              <a:rPr sz="1150">
                <a:latin typeface="Consolas"/>
                <a:ea typeface="Consolas"/>
                <a:cs typeface="Consolas"/>
              </a:rPr>
            </a:br>
            <a:r>
              <a:rPr sz="11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ArgumentNullException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ThrowIfNull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(command);</a:t>
            </a:r>
            <a:br>
              <a:rPr sz="1150">
                <a:latin typeface="Consolas"/>
                <a:ea typeface="Consolas"/>
                <a:cs typeface="Consolas"/>
              </a:rPr>
            </a:br>
            <a:r>
              <a:rPr sz="11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(command.</a:t>
            </a:r>
            <a:r>
              <a:rPr sz="11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RequestId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== </a:t>
            </a:r>
            <a:r>
              <a:rPr sz="11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Guid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Empty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</a:t>
            </a:r>
            <a:br>
              <a:rPr sz="1150">
                <a:latin typeface="Consolas"/>
                <a:ea typeface="Consolas"/>
                <a:cs typeface="Consolas"/>
              </a:rPr>
            </a:br>
            <a:r>
              <a:rPr sz="11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throw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ArgumentException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br>
              <a:rPr sz="1150">
                <a:latin typeface="Consolas"/>
                <a:ea typeface="Consolas"/>
                <a:cs typeface="Consolas"/>
              </a:rPr>
            </a:br>
            <a:r>
              <a:rPr sz="11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150" b="0">
                <a:solidFill>
                  <a:srgbClr val="C65911"/>
                </a:solidFill>
                <a:latin typeface="Consolas"/>
                <a:ea typeface="Consolas"/>
                <a:cs typeface="Consolas"/>
              </a:rPr>
              <a:t>"Request id is required."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);</a:t>
            </a:r>
            <a:br>
              <a:rPr sz="1150">
                <a:latin typeface="Consolas"/>
                <a:ea typeface="Consolas"/>
                <a:cs typeface="Consolas"/>
              </a:rPr>
            </a:br>
            <a:r>
              <a:rPr sz="11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(command.</a:t>
            </a:r>
            <a:r>
              <a:rPr sz="11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Quantity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&lt;= </a:t>
            </a:r>
            <a:r>
              <a:rPr sz="1150" b="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</a:t>
            </a:r>
            <a:br>
              <a:rPr sz="1150">
                <a:latin typeface="Consolas"/>
                <a:ea typeface="Consolas"/>
                <a:cs typeface="Consolas"/>
              </a:rPr>
            </a:br>
            <a:r>
              <a:rPr sz="11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throw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ArgumentOutOfRangeException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br>
              <a:rPr sz="1150">
                <a:latin typeface="Consolas"/>
                <a:ea typeface="Consolas"/>
                <a:cs typeface="Consolas"/>
              </a:rPr>
            </a:br>
            <a:r>
              <a:rPr sz="11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nameof(command));</a:t>
            </a:r>
            <a:br>
              <a:rPr sz="1150">
                <a:latin typeface="Consolas"/>
                <a:ea typeface="Consolas"/>
                <a:cs typeface="Consolas"/>
              </a:rPr>
            </a:br>
            <a:r>
              <a:rPr sz="11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1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6B197C-B552-48CD-A6C5-A197A9B7C3C8}"/>
              </a:ext>
            </a:extLst>
          </p:cNvPr>
          <p:cNvSpPr>
            <a:spLocks noGrp="1"/>
          </p:cNvSpPr>
          <p:nvPr/>
        </p:nvSpPr>
        <p:spPr>
          <a:xfrm>
            <a:off x="6873240" y="2240280"/>
            <a:ext cx="3840480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Шта је важно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C7B3E0-0391-431E-AEDB-66BDC1B3582A}"/>
              </a:ext>
            </a:extLst>
          </p:cNvPr>
          <p:cNvSpPr>
            <a:spLocks noGrp="1"/>
          </p:cNvSpPr>
          <p:nvPr/>
        </p:nvSpPr>
        <p:spPr>
          <a:xfrm>
            <a:off x="6873240" y="2578608"/>
            <a:ext cx="3886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Модел само носи стање.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Validator проверава обавезна поља и опсег.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Handler покреће проверу пре позива портова.</a:t>
            </a:r>
          </a:p>
        </p:txBody>
      </p:sp>
    </p:spTree>
    <p:extLst>
      <p:ext uri="{BB962C8B-B14F-4D97-AF65-F5344CB8AC3E}">
        <p14:creationId xmlns:p14="http://schemas.microsoft.com/office/powerpoint/2010/main" val="263812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7E9075-B20A-4969-9E56-566E96A6F039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6E33B3-912F-4F00-A8B7-02A0F4684BE3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FE4599-E1EC-482F-B667-450BE905EC9B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087873-AD4C-4731-AC74-5C6D3D1BF970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Уговор између Reservations и Inventory је експлицитан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70F211-3AFD-4F99-A85B-71396BFCD281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Application описује шта use-case заиста треба од Inventory дела.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E9548-AF11-492B-B283-201125795A2E}"/>
              </a:ext>
            </a:extLst>
          </p:cNvPr>
          <p:cNvSpPr>
            <a:spLocks noGrp="1"/>
          </p:cNvSpPr>
          <p:nvPr/>
        </p:nvSpPr>
        <p:spPr>
          <a:xfrm>
            <a:off x="1051560" y="242316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Не прослеђује ORM ентитет, не отвара интерно складиште и не крши границу другог модула.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191EE0-AA76-44DB-8852-B84D1F733B5D}"/>
              </a:ext>
            </a:extLst>
          </p:cNvPr>
          <p:cNvSpPr>
            <a:spLocks noGrp="1"/>
          </p:cNvSpPr>
          <p:nvPr/>
        </p:nvSpPr>
        <p:spPr>
          <a:xfrm>
            <a:off x="1051560" y="3429000"/>
            <a:ext cx="6949440" cy="10972"/>
          </a:xfrm>
          <a:prstGeom prst="rect">
            <a:avLst/>
          </a:prstGeom>
          <a:solidFill>
            <a:srgbClr val="2A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D9FD76C-F82A-43CF-81A5-1167041CB3D7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10363200" cy="800100"/>
          </a:xfrm>
          <a:prstGeom prst="roundRect">
            <a:avLst>
              <a:gd name="adj" fmla="val 16667"/>
            </a:avLst>
          </a:prstGeom>
          <a:solidFill>
            <a:srgbClr val="FFF6E9"/>
          </a:solidFill>
          <a:ln w="7620">
            <a:solidFill>
              <a:srgbClr val="E9D4AF"/>
            </a:solidFill>
            <a:prstDash val="solid"/>
          </a:ln>
        </p:spPr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A3E3818-4D51-4407-9688-7AD8F4BD2BFB}"/>
              </a:ext>
            </a:extLst>
          </p:cNvPr>
          <p:cNvSpPr>
            <a:spLocks noGrp="1"/>
          </p:cNvSpPr>
          <p:nvPr/>
        </p:nvSpPr>
        <p:spPr>
          <a:xfrm>
            <a:off x="1085850" y="4419600"/>
            <a:ext cx="57150" cy="495300"/>
          </a:xfrm>
          <a:prstGeom prst="roundRect">
            <a:avLst>
              <a:gd name="adj" fmla="val 50000"/>
            </a:avLst>
          </a:prstGeom>
          <a:solidFill>
            <a:srgbClr val="B86A09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F8E6CC-27C5-47F4-BEB4-FCED2B969D3A}"/>
              </a:ext>
            </a:extLst>
          </p:cNvPr>
          <p:cNvSpPr>
            <a:spLocks noGrp="1"/>
          </p:cNvSpPr>
          <p:nvPr/>
        </p:nvSpPr>
        <p:spPr>
          <a:xfrm>
            <a:off x="1333500" y="438150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КЉУЧНА ПОРУКА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43410C-B581-49C4-88ED-E2E7FFD41A0A}"/>
              </a:ext>
            </a:extLst>
          </p:cNvPr>
          <p:cNvSpPr>
            <a:spLocks noGrp="1"/>
          </p:cNvSpPr>
          <p:nvPr/>
        </p:nvSpPr>
        <p:spPr>
          <a:xfrm>
            <a:off x="1333500" y="4629150"/>
            <a:ext cx="96012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Ово је практична примена ISP и DIP.</a:t>
            </a:r>
          </a:p>
        </p:txBody>
      </p:sp>
    </p:spTree>
    <p:extLst>
      <p:ext uri="{BB962C8B-B14F-4D97-AF65-F5344CB8AC3E}">
        <p14:creationId xmlns:p14="http://schemas.microsoft.com/office/powerpoint/2010/main" val="821407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9E8A2E-07D6-4403-A211-DFA2D4D4B226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7864A1-1CAB-4A86-BBF2-087303B0C7CA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D3EE8A-EED3-4ED5-809E-BE85DBBD5915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3DE39C-812A-4460-A62B-B7D6C96EB6F7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Application дефинише порт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5FA77A-07B9-47F1-8F4B-34501496C914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Use-case зависи од уговора који му је потребан.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EFC557-592B-4A24-84C9-A9C5DF3B1561}"/>
              </a:ext>
            </a:extLst>
          </p:cNvPr>
          <p:cNvSpPr>
            <a:spLocks noGrp="1"/>
          </p:cNvSpPr>
          <p:nvPr/>
        </p:nvSpPr>
        <p:spPr>
          <a:xfrm>
            <a:off x="914400" y="2103120"/>
            <a:ext cx="5715000" cy="28194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2A615C-46CF-4FEF-8C61-3A1A875F5143}"/>
              </a:ext>
            </a:extLst>
          </p:cNvPr>
          <p:cNvSpPr>
            <a:spLocks noGrp="1"/>
          </p:cNvSpPr>
          <p:nvPr/>
        </p:nvSpPr>
        <p:spPr>
          <a:xfrm>
            <a:off x="914400" y="2450592"/>
            <a:ext cx="5715000" cy="109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E5A38B-0969-49F1-B428-9596CCC6509F}"/>
              </a:ext>
            </a:extLst>
          </p:cNvPr>
          <p:cNvSpPr>
            <a:spLocks noGrp="1"/>
          </p:cNvSpPr>
          <p:nvPr/>
        </p:nvSpPr>
        <p:spPr>
          <a:xfrm>
            <a:off x="1078992" y="2240280"/>
            <a:ext cx="1097280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DF16556-3E9C-467D-A6C3-41DA4123D71D}"/>
              </a:ext>
            </a:extLst>
          </p:cNvPr>
          <p:cNvSpPr>
            <a:spLocks noGrp="1"/>
          </p:cNvSpPr>
          <p:nvPr/>
        </p:nvSpPr>
        <p:spPr>
          <a:xfrm>
            <a:off x="5715000" y="2221992"/>
            <a:ext cx="73152" cy="73152"/>
          </a:xfrm>
          <a:prstGeom prst="ellipse">
            <a:avLst/>
          </a:prstGeom>
          <a:solidFill>
            <a:srgbClr val="EE6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B673715-B221-4CCA-BE2B-B2A6BB343EA9}"/>
              </a:ext>
            </a:extLst>
          </p:cNvPr>
          <p:cNvSpPr>
            <a:spLocks noGrp="1"/>
          </p:cNvSpPr>
          <p:nvPr/>
        </p:nvSpPr>
        <p:spPr>
          <a:xfrm>
            <a:off x="5861304" y="2221992"/>
            <a:ext cx="73152" cy="73152"/>
          </a:xfrm>
          <a:prstGeom prst="ellipse">
            <a:avLst/>
          </a:prstGeom>
          <a:solidFill>
            <a:srgbClr val="F5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7B4D53-B7C4-4D7D-916C-AB4A6AC16A0D}"/>
              </a:ext>
            </a:extLst>
          </p:cNvPr>
          <p:cNvSpPr>
            <a:spLocks noGrp="1"/>
          </p:cNvSpPr>
          <p:nvPr/>
        </p:nvSpPr>
        <p:spPr>
          <a:xfrm>
            <a:off x="6007608" y="2221992"/>
            <a:ext cx="73152" cy="73152"/>
          </a:xfrm>
          <a:prstGeom prst="ellipse">
            <a:avLst/>
          </a:prstGeom>
          <a:solidFill>
            <a:srgbClr val="62C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4FE03B-3DCA-474E-9EA4-03C175EA15D6}"/>
              </a:ext>
            </a:extLst>
          </p:cNvPr>
          <p:cNvSpPr>
            <a:spLocks noGrp="1"/>
          </p:cNvSpPr>
          <p:nvPr/>
        </p:nvSpPr>
        <p:spPr>
          <a:xfrm>
            <a:off x="1047750" y="2579370"/>
            <a:ext cx="5448300" cy="2736342"/>
          </a:xfrm>
          <a:prstGeom prst="rect">
            <a:avLst/>
          </a:prstGeom>
          <a:noFill/>
        </p:spPr>
        <p:txBody>
          <a:bodyPr wrap="none" lIns="95250" tIns="76200" rIns="95250" bIns="57150" anchor="t">
            <a:noAutofit/>
          </a:bodyPr>
          <a:lstStyle/>
          <a:p>
            <a:pPr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12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sealed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record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ReserveInventoryRequest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Guid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EquipmentId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2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Quantity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Guid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ReservationId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);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3  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12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sealed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record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ReserveInventoryResult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2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bool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Success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2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?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ErrorCode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);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6  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12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interface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IInventoryModule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{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Task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ReserveInventoryResult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&gt;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ReserveAsync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ReserveInventoryRequest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request,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CancellationToken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cancellationToken);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DBF1E0-0F1C-4E82-9D83-6B794C4E4E94}"/>
              </a:ext>
            </a:extLst>
          </p:cNvPr>
          <p:cNvSpPr>
            <a:spLocks noGrp="1"/>
          </p:cNvSpPr>
          <p:nvPr/>
        </p:nvSpPr>
        <p:spPr>
          <a:xfrm>
            <a:off x="6873240" y="2240280"/>
            <a:ext cx="3840480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Шта је важно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7E56FB-8860-41FB-9120-964CF38C402A}"/>
              </a:ext>
            </a:extLst>
          </p:cNvPr>
          <p:cNvSpPr>
            <a:spLocks noGrp="1"/>
          </p:cNvSpPr>
          <p:nvPr/>
        </p:nvSpPr>
        <p:spPr>
          <a:xfrm>
            <a:off x="6873240" y="2578608"/>
            <a:ext cx="3886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Порт је у Application слоју.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Infrastructure реализује уговор.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Use-case не зна интерне детаље Inventory модула.</a:t>
            </a:r>
          </a:p>
        </p:txBody>
      </p:sp>
    </p:spTree>
    <p:extLst>
      <p:ext uri="{BB962C8B-B14F-4D97-AF65-F5344CB8AC3E}">
        <p14:creationId xmlns:p14="http://schemas.microsoft.com/office/powerpoint/2010/main" val="494373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7356AA-2B2C-4BE8-B8B4-03D32D619217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5BB8C9-7111-4BEC-A538-6D6EE885C54A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686FC7-4D52-4355-9712-87CA20F7B44B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9E90C-D6B2-40F9-94C5-BC1970CC8EFA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Handler води пословни ток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2C16F6-E6DF-47AB-A1F9-8A3FEA4140EB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Handler валидира улаз, проверава поновљени захтев и позива Inventory кроз порт.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3653A20-F7A5-400A-AFC6-37A0C07177E7}"/>
              </a:ext>
            </a:extLst>
          </p:cNvPr>
          <p:cNvSpPr>
            <a:spLocks noGrp="1"/>
          </p:cNvSpPr>
          <p:nvPr/>
        </p:nvSpPr>
        <p:spPr>
          <a:xfrm>
            <a:off x="914400" y="2103120"/>
            <a:ext cx="5715000" cy="40005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0EF0D2-2C77-4051-991F-83F0D3B84C2F}"/>
              </a:ext>
            </a:extLst>
          </p:cNvPr>
          <p:cNvSpPr>
            <a:spLocks noGrp="1"/>
          </p:cNvSpPr>
          <p:nvPr/>
        </p:nvSpPr>
        <p:spPr>
          <a:xfrm>
            <a:off x="914400" y="2450592"/>
            <a:ext cx="5715000" cy="109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A2A9D7-B5C7-401E-AD88-1F42B58D9785}"/>
              </a:ext>
            </a:extLst>
          </p:cNvPr>
          <p:cNvSpPr>
            <a:spLocks noGrp="1"/>
          </p:cNvSpPr>
          <p:nvPr/>
        </p:nvSpPr>
        <p:spPr>
          <a:xfrm>
            <a:off x="1078992" y="2240280"/>
            <a:ext cx="1097280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4E98789-3D45-4C48-B9D5-7AA1CE82A0BF}"/>
              </a:ext>
            </a:extLst>
          </p:cNvPr>
          <p:cNvSpPr>
            <a:spLocks noGrp="1"/>
          </p:cNvSpPr>
          <p:nvPr/>
        </p:nvSpPr>
        <p:spPr>
          <a:xfrm>
            <a:off x="5715000" y="2221992"/>
            <a:ext cx="73152" cy="73152"/>
          </a:xfrm>
          <a:prstGeom prst="ellipse">
            <a:avLst/>
          </a:prstGeom>
          <a:solidFill>
            <a:srgbClr val="EE6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321863-DACC-4C89-AF09-2BE9AFFF7181}"/>
              </a:ext>
            </a:extLst>
          </p:cNvPr>
          <p:cNvSpPr>
            <a:spLocks noGrp="1"/>
          </p:cNvSpPr>
          <p:nvPr/>
        </p:nvSpPr>
        <p:spPr>
          <a:xfrm>
            <a:off x="5861304" y="2221992"/>
            <a:ext cx="73152" cy="73152"/>
          </a:xfrm>
          <a:prstGeom prst="ellipse">
            <a:avLst/>
          </a:prstGeom>
          <a:solidFill>
            <a:srgbClr val="F5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A597A29-DDB6-4EED-BDEA-114317A5571F}"/>
              </a:ext>
            </a:extLst>
          </p:cNvPr>
          <p:cNvSpPr>
            <a:spLocks noGrp="1"/>
          </p:cNvSpPr>
          <p:nvPr/>
        </p:nvSpPr>
        <p:spPr>
          <a:xfrm>
            <a:off x="6007608" y="2221992"/>
            <a:ext cx="73152" cy="73152"/>
          </a:xfrm>
          <a:prstGeom prst="ellipse">
            <a:avLst/>
          </a:prstGeom>
          <a:solidFill>
            <a:srgbClr val="62C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785C1C-7CD3-46C5-9B12-44816C323467}"/>
              </a:ext>
            </a:extLst>
          </p:cNvPr>
          <p:cNvSpPr>
            <a:spLocks noGrp="1"/>
          </p:cNvSpPr>
          <p:nvPr/>
        </p:nvSpPr>
        <p:spPr>
          <a:xfrm>
            <a:off x="1047750" y="2579370"/>
            <a:ext cx="5448300" cy="4104513"/>
          </a:xfrm>
          <a:prstGeom prst="rect">
            <a:avLst/>
          </a:prstGeom>
          <a:noFill/>
        </p:spPr>
        <p:txBody>
          <a:bodyPr wrap="none" lIns="95250" tIns="76200" rIns="95250" bIns="57150" anchor="t">
            <a:noAutofit/>
          </a:bodyPr>
          <a:lstStyle/>
          <a:p>
            <a:pPr>
              <a:defRPr sz="98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CreateReservationCommandValidator</a:t>
            </a:r>
            <a:br>
              <a:rPr sz="980">
                <a:latin typeface="Consolas"/>
                <a:ea typeface="Consolas"/>
                <a:cs typeface="Consolas"/>
              </a:rPr>
            </a:b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.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ValidateAndThrow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(command);</a:t>
            </a:r>
            <a:br>
              <a:rPr sz="980">
                <a:latin typeface="Consolas"/>
                <a:ea typeface="Consolas"/>
                <a:cs typeface="Consolas"/>
              </a:rPr>
            </a:b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98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using </a:t>
            </a:r>
            <a:r>
              <a:rPr sz="98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lease = </a:t>
            </a:r>
            <a:r>
              <a:rPr sz="98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_requestLock</a:t>
            </a:r>
            <a:br>
              <a:rPr sz="980">
                <a:latin typeface="Consolas"/>
                <a:ea typeface="Consolas"/>
                <a:cs typeface="Consolas"/>
              </a:rPr>
            </a:b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.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AcquireAsync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(command.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RequestId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ct);</a:t>
            </a:r>
            <a:br>
              <a:rPr sz="980">
                <a:latin typeface="Consolas"/>
                <a:ea typeface="Consolas"/>
                <a:cs typeface="Consolas"/>
              </a:rPr>
            </a:b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98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existing = </a:t>
            </a:r>
            <a:r>
              <a:rPr sz="98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_reservations</a:t>
            </a:r>
            <a:br>
              <a:rPr sz="980">
                <a:latin typeface="Consolas"/>
                <a:ea typeface="Consolas"/>
                <a:cs typeface="Consolas"/>
              </a:rPr>
            </a:b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.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FindByRequestIdAsync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(command.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RequestId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ct);</a:t>
            </a:r>
            <a:br>
              <a:rPr sz="980">
                <a:latin typeface="Consolas"/>
                <a:ea typeface="Consolas"/>
                <a:cs typeface="Consolas"/>
              </a:rPr>
            </a:b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98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(existing </a:t>
            </a:r>
            <a:r>
              <a:rPr sz="98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8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8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</a:t>
            </a:r>
            <a:br>
              <a:rPr sz="980">
                <a:latin typeface="Consolas"/>
                <a:ea typeface="Consolas"/>
                <a:cs typeface="Consolas"/>
              </a:rPr>
            </a:b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98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Map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(existing, replayed: </a:t>
            </a:r>
            <a:r>
              <a:rPr sz="98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);</a:t>
            </a:r>
            <a:br>
              <a:rPr sz="980">
                <a:latin typeface="Consolas"/>
                <a:ea typeface="Consolas"/>
                <a:cs typeface="Consolas"/>
              </a:rPr>
            </a:b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98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inventoryResult = </a:t>
            </a:r>
            <a:r>
              <a:rPr sz="98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_inventory.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ReserveAsync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br>
              <a:rPr sz="980">
                <a:latin typeface="Consolas"/>
                <a:ea typeface="Consolas"/>
                <a:cs typeface="Consolas"/>
              </a:rPr>
            </a:b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98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(command.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EquipmentId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command.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Quantity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</a:t>
            </a:r>
            <a:br>
              <a:rPr sz="980">
                <a:latin typeface="Consolas"/>
                <a:ea typeface="Consolas"/>
                <a:cs typeface="Consolas"/>
              </a:rPr>
            </a:b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reservationId), ct);</a:t>
            </a:r>
            <a:br>
              <a:rPr sz="980">
                <a:latin typeface="Consolas"/>
                <a:ea typeface="Consolas"/>
                <a:cs typeface="Consolas"/>
              </a:rPr>
            </a:b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98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status = inventoryResult.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Success</a:t>
            </a:r>
            <a:br>
              <a:rPr sz="980">
                <a:latin typeface="Consolas"/>
                <a:ea typeface="Consolas"/>
                <a:cs typeface="Consolas"/>
              </a:rPr>
            </a:b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? 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ReservationStatus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Confirmed</a:t>
            </a:r>
            <a:br>
              <a:rPr sz="980">
                <a:latin typeface="Consolas"/>
                <a:ea typeface="Consolas"/>
                <a:cs typeface="Consolas"/>
              </a:rPr>
            </a:b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: 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ReservationStatus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Rejected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;</a:t>
            </a:r>
            <a:br>
              <a:rPr sz="980">
                <a:latin typeface="Consolas"/>
                <a:ea typeface="Consolas"/>
                <a:cs typeface="Consolas"/>
              </a:rPr>
            </a:b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15  </a:t>
            </a:r>
            <a:r>
              <a:rPr sz="98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reservation = </a:t>
            </a:r>
            <a:r>
              <a:rPr sz="98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Reservation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br>
              <a:rPr sz="980">
                <a:latin typeface="Consolas"/>
                <a:ea typeface="Consolas"/>
                <a:cs typeface="Consolas"/>
              </a:rPr>
            </a:b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16  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reservationId, command.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RequestId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</a:t>
            </a:r>
            <a:br>
              <a:rPr sz="980">
                <a:latin typeface="Consolas"/>
                <a:ea typeface="Consolas"/>
                <a:cs typeface="Consolas"/>
              </a:rPr>
            </a:b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17  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command.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EquipmentId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command.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StudentId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</a:t>
            </a:r>
            <a:br>
              <a:rPr sz="980">
                <a:latin typeface="Consolas"/>
                <a:ea typeface="Consolas"/>
                <a:cs typeface="Consolas"/>
              </a:rPr>
            </a:b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18  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command.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Quantity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status,</a:t>
            </a:r>
            <a:br>
              <a:rPr sz="980">
                <a:latin typeface="Consolas"/>
                <a:ea typeface="Consolas"/>
                <a:cs typeface="Consolas"/>
              </a:rPr>
            </a:b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19  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inventoryResult.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ErrorCode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);</a:t>
            </a:r>
            <a:br>
              <a:rPr sz="980">
                <a:latin typeface="Consolas"/>
                <a:ea typeface="Consolas"/>
                <a:cs typeface="Consolas"/>
              </a:rPr>
            </a:b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20  </a:t>
            </a:r>
            <a:r>
              <a:rPr sz="98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_reservations.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AddAsync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(reservation, ct);</a:t>
            </a:r>
            <a:br>
              <a:rPr sz="980">
                <a:latin typeface="Consolas"/>
                <a:ea typeface="Consolas"/>
                <a:cs typeface="Consolas"/>
              </a:rPr>
            </a:br>
            <a:r>
              <a:rPr sz="98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21  </a:t>
            </a:r>
            <a:r>
              <a:rPr sz="98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8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Map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(reservation, replayed: </a:t>
            </a:r>
            <a:r>
              <a:rPr sz="98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98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ABED7E-281E-4CF8-855E-2E83CD343F98}"/>
              </a:ext>
            </a:extLst>
          </p:cNvPr>
          <p:cNvSpPr>
            <a:spLocks noGrp="1"/>
          </p:cNvSpPr>
          <p:nvPr/>
        </p:nvSpPr>
        <p:spPr>
          <a:xfrm>
            <a:off x="6873240" y="2240280"/>
            <a:ext cx="3840480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Шта је важно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2C8462-DDEC-4886-A69A-9081A6ABBA21}"/>
              </a:ext>
            </a:extLst>
          </p:cNvPr>
          <p:cNvSpPr>
            <a:spLocks noGrp="1"/>
          </p:cNvSpPr>
          <p:nvPr/>
        </p:nvSpPr>
        <p:spPr>
          <a:xfrm>
            <a:off x="6873240" y="2578608"/>
            <a:ext cx="3886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Модел нема пословне методе.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Inventory правило остаје иза порта.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Application враћа стабилан исход API слоју.</a:t>
            </a:r>
          </a:p>
        </p:txBody>
      </p:sp>
    </p:spTree>
    <p:extLst>
      <p:ext uri="{BB962C8B-B14F-4D97-AF65-F5344CB8AC3E}">
        <p14:creationId xmlns:p14="http://schemas.microsoft.com/office/powerpoint/2010/main" val="1650411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EA90BE-5E99-4663-891B-7C35D39535AB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D91BCA-0A57-4C41-93B6-ABD2322D718C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0B7B37-2F9A-45D0-B87A-B8C7021D460A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91863-6F7E-4CDE-9468-FDF6B7F9152E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Idempotency 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4EF559-FCD0-4ABF-BE33-78E8480C6332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Поновљени исти захтев не сме поново умањити залиху.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82A8DB-1601-420C-9F17-FADC8FF1BBF2}"/>
              </a:ext>
            </a:extLst>
          </p:cNvPr>
          <p:cNvSpPr>
            <a:spLocks noGrp="1"/>
          </p:cNvSpPr>
          <p:nvPr/>
        </p:nvSpPr>
        <p:spPr>
          <a:xfrm>
            <a:off x="914400" y="2331720"/>
            <a:ext cx="3429000" cy="1777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>
                <a:solidFill>
                  <a:srgbClr val="0A915F"/>
                </a:solidFill>
                <a:latin typeface="Aptos Display"/>
                <a:ea typeface="Aptos Display"/>
                <a:cs typeface="Aptos Display"/>
              </a:rPr>
              <a:t>RequestId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4211B0-8725-40A5-AD4C-E6E682B50E54}"/>
              </a:ext>
            </a:extLst>
          </p:cNvPr>
          <p:cNvSpPr>
            <a:spLocks noGrp="1"/>
          </p:cNvSpPr>
          <p:nvPr/>
        </p:nvSpPr>
        <p:spPr>
          <a:xfrm>
            <a:off x="4541520" y="251460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један захтев, један ефекат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118A7-3082-4662-98AF-B949B56D4798}"/>
              </a:ext>
            </a:extLst>
          </p:cNvPr>
          <p:cNvSpPr>
            <a:spLocks noGrp="1"/>
          </p:cNvSpPr>
          <p:nvPr/>
        </p:nvSpPr>
        <p:spPr>
          <a:xfrm>
            <a:off x="4541520" y="3246120"/>
            <a:ext cx="5943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Ако исти захтев стигне поново, постојећа резервација се враћа без другог позива на промену стања.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EC2A48-A6CC-427F-8F33-952DEE377769}"/>
              </a:ext>
            </a:extLst>
          </p:cNvPr>
          <p:cNvSpPr>
            <a:spLocks noGrp="1"/>
          </p:cNvSpPr>
          <p:nvPr/>
        </p:nvSpPr>
        <p:spPr>
          <a:xfrm>
            <a:off x="4541520" y="4389120"/>
            <a:ext cx="4937760" cy="12801"/>
          </a:xfrm>
          <a:prstGeom prst="rect">
            <a:avLst/>
          </a:prstGeom>
          <a:solidFill>
            <a:srgbClr val="0A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5657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858FE2-EF1B-4D24-8839-1F076C14944D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FD6EFA-68B0-4000-8DE0-94716D5B08BD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75411-4AD7-4D9F-874D-FB3BD9E92A0E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0D732-4472-4E9C-9CB5-9D5181ECD882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390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2550" b="1" dirty="0" err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Идемпотентност</a:t>
            </a:r>
            <a:r>
              <a:rPr sz="2550" b="1" dirty="0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dirty="0" err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мора</a:t>
            </a:r>
            <a:r>
              <a:rPr sz="2550" b="1" dirty="0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dirty="0" err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бити</a:t>
            </a:r>
            <a:r>
              <a:rPr sz="2550" b="1" dirty="0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dirty="0" err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закључана</a:t>
            </a:r>
            <a:r>
              <a:rPr sz="2550" b="1" dirty="0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dirty="0" err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тестом</a:t>
            </a:r>
            <a:endParaRPr sz="2550" b="1" dirty="0">
              <a:solidFill>
                <a:srgbClr val="1B202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C3A7FA-0DDA-4812-9D7B-97BFA685DE3A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Коментар није доказ да понашање заиста постоји.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50DA453-038D-4208-8B00-31AD69CAE847}"/>
              </a:ext>
            </a:extLst>
          </p:cNvPr>
          <p:cNvSpPr>
            <a:spLocks noGrp="1"/>
          </p:cNvSpPr>
          <p:nvPr/>
        </p:nvSpPr>
        <p:spPr>
          <a:xfrm>
            <a:off x="914400" y="2103120"/>
            <a:ext cx="5715000" cy="28194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DC45FB-90E4-4A00-9EFF-EA9272555B05}"/>
              </a:ext>
            </a:extLst>
          </p:cNvPr>
          <p:cNvSpPr>
            <a:spLocks noGrp="1"/>
          </p:cNvSpPr>
          <p:nvPr/>
        </p:nvSpPr>
        <p:spPr>
          <a:xfrm>
            <a:off x="914400" y="2450592"/>
            <a:ext cx="5715000" cy="109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C4379E-4322-4700-8084-C61A94071F79}"/>
              </a:ext>
            </a:extLst>
          </p:cNvPr>
          <p:cNvSpPr>
            <a:spLocks noGrp="1"/>
          </p:cNvSpPr>
          <p:nvPr/>
        </p:nvSpPr>
        <p:spPr>
          <a:xfrm>
            <a:off x="1078992" y="2240280"/>
            <a:ext cx="1097280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E94D7E7-565E-4EFF-8E29-AE8E6530C195}"/>
              </a:ext>
            </a:extLst>
          </p:cNvPr>
          <p:cNvSpPr>
            <a:spLocks noGrp="1"/>
          </p:cNvSpPr>
          <p:nvPr/>
        </p:nvSpPr>
        <p:spPr>
          <a:xfrm>
            <a:off x="5715000" y="2221992"/>
            <a:ext cx="73152" cy="73152"/>
          </a:xfrm>
          <a:prstGeom prst="ellipse">
            <a:avLst/>
          </a:prstGeom>
          <a:solidFill>
            <a:srgbClr val="EE6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82808FE-06BC-4A8A-9568-FF53977730B3}"/>
              </a:ext>
            </a:extLst>
          </p:cNvPr>
          <p:cNvSpPr>
            <a:spLocks noGrp="1"/>
          </p:cNvSpPr>
          <p:nvPr/>
        </p:nvSpPr>
        <p:spPr>
          <a:xfrm>
            <a:off x="5861304" y="2221992"/>
            <a:ext cx="73152" cy="73152"/>
          </a:xfrm>
          <a:prstGeom prst="ellipse">
            <a:avLst/>
          </a:prstGeom>
          <a:solidFill>
            <a:srgbClr val="F5B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13E801-CBE0-4EAF-80CB-4EDCBA1CA03F}"/>
              </a:ext>
            </a:extLst>
          </p:cNvPr>
          <p:cNvSpPr>
            <a:spLocks noGrp="1"/>
          </p:cNvSpPr>
          <p:nvPr/>
        </p:nvSpPr>
        <p:spPr>
          <a:xfrm>
            <a:off x="6007608" y="2221992"/>
            <a:ext cx="73152" cy="73152"/>
          </a:xfrm>
          <a:prstGeom prst="ellipse">
            <a:avLst/>
          </a:prstGeom>
          <a:solidFill>
            <a:srgbClr val="62C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5F2323-39A7-4E2E-967D-42A25E7097AD}"/>
              </a:ext>
            </a:extLst>
          </p:cNvPr>
          <p:cNvSpPr>
            <a:spLocks noGrp="1"/>
          </p:cNvSpPr>
          <p:nvPr/>
        </p:nvSpPr>
        <p:spPr>
          <a:xfrm>
            <a:off x="1047750" y="2579370"/>
            <a:ext cx="5448300" cy="2736342"/>
          </a:xfrm>
          <a:prstGeom prst="rect">
            <a:avLst/>
          </a:prstGeom>
          <a:noFill/>
        </p:spPr>
        <p:txBody>
          <a:bodyPr wrap="none" lIns="95250" tIns="76200" rIns="95250" bIns="57150" anchor="t">
            <a:noAutofit/>
          </a:bodyPr>
          <a:lstStyle/>
          <a:p>
            <a:pPr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12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first = </a:t>
            </a:r>
            <a:r>
              <a:rPr sz="112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handler.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HandleAsync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(command, ct);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12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replay = </a:t>
            </a:r>
            <a:r>
              <a:rPr sz="112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handler.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HandleAsync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(command, ct);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12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available = </a:t>
            </a:r>
            <a:r>
              <a:rPr sz="112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inventory.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GetAvailableAsync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command.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EquipmentId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ct);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5  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That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(first.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Outcome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EqualTo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CreateReservationOutcome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Confirmed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));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That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(replay.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ReservationId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EqualTo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(first.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ReservationId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));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That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(replay.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Replayed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);</a:t>
            </a:r>
            <a:br>
              <a:rPr sz="1120">
                <a:latin typeface="Consolas"/>
                <a:ea typeface="Consolas"/>
                <a:cs typeface="Consolas"/>
              </a:rPr>
            </a:br>
            <a:r>
              <a:rPr sz="112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That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(available, 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EqualTo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0" b="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12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36F8BC-9486-4256-BEE7-A48C7F8A94EC}"/>
              </a:ext>
            </a:extLst>
          </p:cNvPr>
          <p:cNvSpPr>
            <a:spLocks noGrp="1"/>
          </p:cNvSpPr>
          <p:nvPr/>
        </p:nvSpPr>
        <p:spPr>
          <a:xfrm>
            <a:off x="6873240" y="2240280"/>
            <a:ext cx="3840480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Шта је важно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BA1EB5-0D3D-4D46-A1B2-769044496B6B}"/>
              </a:ext>
            </a:extLst>
          </p:cNvPr>
          <p:cNvSpPr>
            <a:spLocks noGrp="1"/>
          </p:cNvSpPr>
          <p:nvPr/>
        </p:nvSpPr>
        <p:spPr>
          <a:xfrm>
            <a:off x="6873240" y="2578608"/>
            <a:ext cx="3886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Тест проверава уговор између модула.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Поновљени позив не сме да направи нови side effect.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Проверавају се и исход и преостала количина.</a:t>
            </a:r>
          </a:p>
        </p:txBody>
      </p:sp>
    </p:spTree>
    <p:extLst>
      <p:ext uri="{BB962C8B-B14F-4D97-AF65-F5344CB8AC3E}">
        <p14:creationId xmlns:p14="http://schemas.microsoft.com/office/powerpoint/2010/main" val="161907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FEBCE0-5D39-439A-B23B-AE6C99F26797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6BFDF5-828F-46EA-B247-49C91A469509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3E5487-F032-48BD-93E3-DAC013A12565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60E696-45AD-4CB4-A49B-62D861AE42A7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Интеграција се брани доказима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6049FC-B773-499C-9635-9B59070A288F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Није довољно рећи да су слојеви раздвојени.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5C5E2BB-9CCD-4D7D-88BA-DF5F8B95AB0F}"/>
              </a:ext>
            </a:extLst>
          </p:cNvPr>
          <p:cNvSpPr>
            <a:spLocks noGrp="1"/>
          </p:cNvSpPr>
          <p:nvPr/>
        </p:nvSpPr>
        <p:spPr>
          <a:xfrm>
            <a:off x="914400" y="2209800"/>
            <a:ext cx="5067300" cy="1571625"/>
          </a:xfrm>
          <a:prstGeom prst="roundRect">
            <a:avLst>
              <a:gd name="adj" fmla="val 12000"/>
            </a:avLst>
          </a:prstGeom>
          <a:solidFill>
            <a:srgbClr val="F4F7FF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6A5EA5-55E9-4716-8445-D68402C776CA}"/>
              </a:ext>
            </a:extLst>
          </p:cNvPr>
          <p:cNvSpPr>
            <a:spLocks noGrp="1"/>
          </p:cNvSpPr>
          <p:nvPr/>
        </p:nvSpPr>
        <p:spPr>
          <a:xfrm>
            <a:off x="1085850" y="2333625"/>
            <a:ext cx="4724400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A27501-F896-40F0-94F6-3A9763939E7D}"/>
              </a:ext>
            </a:extLst>
          </p:cNvPr>
          <p:cNvSpPr>
            <a:spLocks noGrp="1"/>
          </p:cNvSpPr>
          <p:nvPr/>
        </p:nvSpPr>
        <p:spPr>
          <a:xfrm>
            <a:off x="1085850" y="2590800"/>
            <a:ext cx="47244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6A85B2-153F-4046-837F-CC6F8350BB02}"/>
              </a:ext>
            </a:extLst>
          </p:cNvPr>
          <p:cNvSpPr>
            <a:spLocks noGrp="1"/>
          </p:cNvSpPr>
          <p:nvPr/>
        </p:nvSpPr>
        <p:spPr>
          <a:xfrm>
            <a:off x="1085850" y="2952750"/>
            <a:ext cx="472440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целокупан solution се компајлира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8893865-B2DE-4BB4-BCF3-5549D1E32B2F}"/>
              </a:ext>
            </a:extLst>
          </p:cNvPr>
          <p:cNvSpPr>
            <a:spLocks noGrp="1"/>
          </p:cNvSpPr>
          <p:nvPr/>
        </p:nvSpPr>
        <p:spPr>
          <a:xfrm>
            <a:off x="6210300" y="2209800"/>
            <a:ext cx="5067300" cy="1571625"/>
          </a:xfrm>
          <a:prstGeom prst="roundRect">
            <a:avLst>
              <a:gd name="adj" fmla="val 12000"/>
            </a:avLst>
          </a:prstGeom>
          <a:solidFill>
            <a:srgbClr val="F3FAF6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70AD31-7291-430C-ADFE-34318EE3714D}"/>
              </a:ext>
            </a:extLst>
          </p:cNvPr>
          <p:cNvSpPr>
            <a:spLocks noGrp="1"/>
          </p:cNvSpPr>
          <p:nvPr/>
        </p:nvSpPr>
        <p:spPr>
          <a:xfrm>
            <a:off x="6381750" y="2333625"/>
            <a:ext cx="4724400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A91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FF44D6-C37A-49A9-B3E8-20580311F8D6}"/>
              </a:ext>
            </a:extLst>
          </p:cNvPr>
          <p:cNvSpPr>
            <a:spLocks noGrp="1"/>
          </p:cNvSpPr>
          <p:nvPr/>
        </p:nvSpPr>
        <p:spPr>
          <a:xfrm>
            <a:off x="6381750" y="2590800"/>
            <a:ext cx="47244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C681DC-1253-46CA-836C-CA6E5C25AE2A}"/>
              </a:ext>
            </a:extLst>
          </p:cNvPr>
          <p:cNvSpPr>
            <a:spLocks noGrp="1"/>
          </p:cNvSpPr>
          <p:nvPr/>
        </p:nvSpPr>
        <p:spPr>
          <a:xfrm>
            <a:off x="6381750" y="2952750"/>
            <a:ext cx="472440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пословни и интеграциони сценарији пролазе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7143B27-0F84-4BC1-9697-6E862BA74996}"/>
              </a:ext>
            </a:extLst>
          </p:cNvPr>
          <p:cNvSpPr>
            <a:spLocks noGrp="1"/>
          </p:cNvSpPr>
          <p:nvPr/>
        </p:nvSpPr>
        <p:spPr>
          <a:xfrm>
            <a:off x="914400" y="3971925"/>
            <a:ext cx="5067300" cy="1571625"/>
          </a:xfrm>
          <a:prstGeom prst="roundRect">
            <a:avLst>
              <a:gd name="adj" fmla="val 12000"/>
            </a:avLst>
          </a:prstGeom>
          <a:solidFill>
            <a:srgbClr val="FDF9F1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951419-E683-466E-B3F8-540FF66AE45D}"/>
              </a:ext>
            </a:extLst>
          </p:cNvPr>
          <p:cNvSpPr>
            <a:spLocks noGrp="1"/>
          </p:cNvSpPr>
          <p:nvPr/>
        </p:nvSpPr>
        <p:spPr>
          <a:xfrm>
            <a:off x="1085850" y="4095750"/>
            <a:ext cx="4724400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BE770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8CCAEE-4E80-4A60-B1F6-F6E50A71ED66}"/>
              </a:ext>
            </a:extLst>
          </p:cNvPr>
          <p:cNvSpPr>
            <a:spLocks noGrp="1"/>
          </p:cNvSpPr>
          <p:nvPr/>
        </p:nvSpPr>
        <p:spPr>
          <a:xfrm>
            <a:off x="1085850" y="4352925"/>
            <a:ext cx="47244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Diff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FBBF91-6678-4721-8A5F-556A1EA00811}"/>
              </a:ext>
            </a:extLst>
          </p:cNvPr>
          <p:cNvSpPr>
            <a:spLocks noGrp="1"/>
          </p:cNvSpPr>
          <p:nvPr/>
        </p:nvSpPr>
        <p:spPr>
          <a:xfrm>
            <a:off x="1085850" y="4714875"/>
            <a:ext cx="472440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промена је ограничена на очекиване слојеве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A057BC8-39A4-4515-AE9B-D9B972B8D77D}"/>
              </a:ext>
            </a:extLst>
          </p:cNvPr>
          <p:cNvSpPr>
            <a:spLocks noGrp="1"/>
          </p:cNvSpPr>
          <p:nvPr/>
        </p:nvSpPr>
        <p:spPr>
          <a:xfrm>
            <a:off x="6210300" y="3971925"/>
            <a:ext cx="5067300" cy="1571625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1AAE99-EC91-4B82-A344-F11034C60F3C}"/>
              </a:ext>
            </a:extLst>
          </p:cNvPr>
          <p:cNvSpPr>
            <a:spLocks noGrp="1"/>
          </p:cNvSpPr>
          <p:nvPr/>
        </p:nvSpPr>
        <p:spPr>
          <a:xfrm>
            <a:off x="6381750" y="4095750"/>
            <a:ext cx="4724400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B51607-A57E-4C44-A724-354FE6A5AD60}"/>
              </a:ext>
            </a:extLst>
          </p:cNvPr>
          <p:cNvSpPr>
            <a:spLocks noGrp="1"/>
          </p:cNvSpPr>
          <p:nvPr/>
        </p:nvSpPr>
        <p:spPr>
          <a:xfrm>
            <a:off x="6381750" y="4352925"/>
            <a:ext cx="47244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Contract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54BEF5-7073-45A7-B6E0-190B6CDCE347}"/>
              </a:ext>
            </a:extLst>
          </p:cNvPr>
          <p:cNvSpPr>
            <a:spLocks noGrp="1"/>
          </p:cNvSpPr>
          <p:nvPr/>
        </p:nvSpPr>
        <p:spPr>
          <a:xfrm>
            <a:off x="6381750" y="4714875"/>
            <a:ext cx="472440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уговор између модула је стабилан</a:t>
            </a:r>
          </a:p>
        </p:txBody>
      </p:sp>
    </p:spTree>
    <p:extLst>
      <p:ext uri="{BB962C8B-B14F-4D97-AF65-F5344CB8AC3E}">
        <p14:creationId xmlns:p14="http://schemas.microsoft.com/office/powerpoint/2010/main" val="1517510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115CD0-66BD-4F18-AEE2-AF3DF9D35240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AB80A3-532C-4A8B-9304-CCC4E154EF1F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239E8-FCEF-43C1-A24E-72B86652760A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141D9-6F9D-4761-9718-8DAC80BD1670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API је composition root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18757B-E3A5-4085-B709-A28549325686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HTTP граница не сме постати место пословних правила.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FD8C37-AF9E-4822-B40B-0387FC0E52BC}"/>
              </a:ext>
            </a:extLst>
          </p:cNvPr>
          <p:cNvSpPr>
            <a:spLocks noGrp="1"/>
          </p:cNvSpPr>
          <p:nvPr/>
        </p:nvSpPr>
        <p:spPr>
          <a:xfrm>
            <a:off x="914400" y="2331720"/>
            <a:ext cx="47625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API РАДИ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01A62D-04DB-44D2-B568-3037414324C7}"/>
              </a:ext>
            </a:extLst>
          </p:cNvPr>
          <p:cNvSpPr>
            <a:spLocks noGrp="1"/>
          </p:cNvSpPr>
          <p:nvPr/>
        </p:nvSpPr>
        <p:spPr>
          <a:xfrm>
            <a:off x="914400" y="2697480"/>
            <a:ext cx="47625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прима HTTP захтев</a:t>
            </a:r>
          </a:p>
          <a:p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мапира DTO у команду</a:t>
            </a:r>
          </a:p>
          <a:p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позива handler</a:t>
            </a:r>
          </a:p>
          <a:p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мапира Result у одговор</a:t>
            </a:r>
          </a:p>
        </p:txBody>
      </p:sp>
      <p:sp>
        <p:nvSpPr>
          <p:cNvPr id="9" name="Connector 8">
            <a:extLst>
              <a:ext uri="{FF2B5EF4-FFF2-40B4-BE49-F238E27FC236}">
                <a16:creationId xmlns:a16="http://schemas.microsoft.com/office/drawing/2014/main" id="{4E12D301-9554-48B9-9C03-A4F3E550A6C1}"/>
              </a:ext>
            </a:extLst>
          </p:cNvPr>
          <p:cNvSpPr>
            <a:spLocks noGrp="1"/>
          </p:cNvSpPr>
          <p:nvPr/>
        </p:nvSpPr>
        <p:spPr>
          <a:xfrm>
            <a:off x="6096000" y="2331720"/>
            <a:ext cx="0" cy="3200400"/>
          </a:xfrm>
          <a:prstGeom prst="line">
            <a:avLst/>
          </a:prstGeom>
          <a:ln w="10160">
            <a:solidFill>
              <a:srgbClr val="E8E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EB4991-68DA-4EBA-93B9-E4BA92C19786}"/>
              </a:ext>
            </a:extLst>
          </p:cNvPr>
          <p:cNvSpPr>
            <a:spLocks noGrp="1"/>
          </p:cNvSpPr>
          <p:nvPr/>
        </p:nvSpPr>
        <p:spPr>
          <a:xfrm>
            <a:off x="6515100" y="2331720"/>
            <a:ext cx="47625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A915F"/>
                </a:solidFill>
                <a:latin typeface="Aptos"/>
                <a:ea typeface="Aptos"/>
                <a:cs typeface="Aptos"/>
              </a:rPr>
              <a:t>API НЕ РАДИ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F6E6E0-B7CE-44A3-A05B-C4F27E42BEE5}"/>
              </a:ext>
            </a:extLst>
          </p:cNvPr>
          <p:cNvSpPr>
            <a:spLocks noGrp="1"/>
          </p:cNvSpPr>
          <p:nvPr/>
        </p:nvSpPr>
        <p:spPr>
          <a:xfrm>
            <a:off x="6515100" y="2697480"/>
            <a:ext cx="4762500" cy="1379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не</a:t>
            </a:r>
            <a:r>
              <a:rPr sz="152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 </a:t>
            </a:r>
            <a:r>
              <a:rPr sz="152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проверава</a:t>
            </a:r>
            <a:r>
              <a:rPr sz="152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 </a:t>
            </a:r>
            <a:r>
              <a:rPr sz="152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залиху</a:t>
            </a:r>
            <a:r>
              <a:rPr sz="152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 </a:t>
            </a:r>
            <a:r>
              <a:rPr sz="152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директно</a:t>
            </a:r>
            <a:endParaRPr sz="1520" b="0" dirty="0">
              <a:solidFill>
                <a:srgbClr val="1B202B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не</a:t>
            </a:r>
            <a:r>
              <a:rPr sz="152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 </a:t>
            </a:r>
            <a:r>
              <a:rPr sz="152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мења</a:t>
            </a:r>
            <a:r>
              <a:rPr sz="152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 Domain </a:t>
            </a:r>
            <a:r>
              <a:rPr sz="152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стање</a:t>
            </a:r>
            <a:r>
              <a:rPr sz="152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 </a:t>
            </a:r>
            <a:r>
              <a:rPr sz="152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мимо</a:t>
            </a:r>
            <a:r>
              <a:rPr sz="152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 use-case-</a:t>
            </a:r>
            <a:r>
              <a:rPr sz="152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а</a:t>
            </a:r>
            <a:endParaRPr sz="1520" b="0" dirty="0">
              <a:solidFill>
                <a:srgbClr val="1B202B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не</a:t>
            </a:r>
            <a:r>
              <a:rPr sz="152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 </a:t>
            </a:r>
            <a:r>
              <a:rPr sz="152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чита</a:t>
            </a:r>
            <a:r>
              <a:rPr sz="152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 </a:t>
            </a:r>
            <a:r>
              <a:rPr lang="sr-Cyrl-RS" sz="152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интерну базу другог модула</a:t>
            </a:r>
            <a:endParaRPr sz="1520" b="0" dirty="0">
              <a:solidFill>
                <a:srgbClr val="1B202B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не</a:t>
            </a:r>
            <a:r>
              <a:rPr sz="152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 </a:t>
            </a:r>
            <a:r>
              <a:rPr sz="152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садржи</a:t>
            </a:r>
            <a:r>
              <a:rPr sz="152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 </a:t>
            </a:r>
            <a:r>
              <a:rPr sz="152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пословну</a:t>
            </a:r>
            <a:r>
              <a:rPr sz="152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 </a:t>
            </a:r>
            <a:r>
              <a:rPr sz="152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одлуку</a:t>
            </a:r>
            <a:endParaRPr sz="1520" b="0" dirty="0">
              <a:solidFill>
                <a:srgbClr val="1B202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44077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3234CE-F7AE-490E-ABAD-BA5B41B41C53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8E9E1F-282C-43CD-8179-0C6FDBA633CF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039EB5-1566-4400-B944-DA7A2AD1C899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FA7ED3-4A8A-47E6-949B-DDAEF2E8FD47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Интеграциони ризици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DAE07E-A0C1-4F85-828A-FFCC2C5EBFD0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Сваки ризик треба да има начин провере.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97C99B-BDFA-4A8F-85A2-33448368C1B4}"/>
              </a:ext>
            </a:extLst>
          </p:cNvPr>
          <p:cNvSpPr>
            <a:spLocks noGrp="1"/>
          </p:cNvSpPr>
          <p:nvPr/>
        </p:nvSpPr>
        <p:spPr>
          <a:xfrm>
            <a:off x="914400" y="2240280"/>
            <a:ext cx="2518161" cy="457200"/>
          </a:xfrm>
          <a:prstGeom prst="rect">
            <a:avLst/>
          </a:prstGeom>
          <a:solidFill>
            <a:srgbClr val="F7F8FA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D3EA58-BEAF-4A44-8154-0104908EE674}"/>
              </a:ext>
            </a:extLst>
          </p:cNvPr>
          <p:cNvSpPr>
            <a:spLocks noGrp="1"/>
          </p:cNvSpPr>
          <p:nvPr/>
        </p:nvSpPr>
        <p:spPr>
          <a:xfrm>
            <a:off x="1030623" y="2306955"/>
            <a:ext cx="2324456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5D6878"/>
                </a:solidFill>
                <a:latin typeface="Aptos"/>
                <a:ea typeface="Aptos"/>
                <a:cs typeface="Aptos"/>
              </a:rPr>
              <a:t>Ризик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54E8E6-AF2F-4928-86D4-5BDE8D84455F}"/>
              </a:ext>
            </a:extLst>
          </p:cNvPr>
          <p:cNvSpPr>
            <a:spLocks noGrp="1"/>
          </p:cNvSpPr>
          <p:nvPr/>
        </p:nvSpPr>
        <p:spPr>
          <a:xfrm>
            <a:off x="3432561" y="2240280"/>
            <a:ext cx="7845039" cy="457200"/>
          </a:xfrm>
          <a:prstGeom prst="rect">
            <a:avLst/>
          </a:prstGeom>
          <a:solidFill>
            <a:srgbClr val="F7F8FA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85EBD8-DFA8-4373-AB34-82D3A705F875}"/>
              </a:ext>
            </a:extLst>
          </p:cNvPr>
          <p:cNvSpPr>
            <a:spLocks noGrp="1"/>
          </p:cNvSpPr>
          <p:nvPr/>
        </p:nvSpPr>
        <p:spPr>
          <a:xfrm>
            <a:off x="3548784" y="2306955"/>
            <a:ext cx="7651334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5D6878"/>
                </a:solidFill>
                <a:latin typeface="Aptos"/>
                <a:ea typeface="Aptos"/>
                <a:cs typeface="Aptos"/>
              </a:rPr>
              <a:t>Провера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E3F605-D41A-463E-B46A-679EA5FE717C}"/>
              </a:ext>
            </a:extLst>
          </p:cNvPr>
          <p:cNvSpPr>
            <a:spLocks noGrp="1"/>
          </p:cNvSpPr>
          <p:nvPr/>
        </p:nvSpPr>
        <p:spPr>
          <a:xfrm>
            <a:off x="914400" y="2697480"/>
            <a:ext cx="2518161" cy="584454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B9C15D-77E7-4080-96D8-C8C859EB4EF3}"/>
              </a:ext>
            </a:extLst>
          </p:cNvPr>
          <p:cNvSpPr>
            <a:spLocks noGrp="1"/>
          </p:cNvSpPr>
          <p:nvPr/>
        </p:nvSpPr>
        <p:spPr>
          <a:xfrm>
            <a:off x="1030623" y="2764155"/>
            <a:ext cx="2276030" cy="47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Погрешан смер зависности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F7C5FD-D075-420D-AAD4-2F339F1E579F}"/>
              </a:ext>
            </a:extLst>
          </p:cNvPr>
          <p:cNvSpPr>
            <a:spLocks noGrp="1"/>
          </p:cNvSpPr>
          <p:nvPr/>
        </p:nvSpPr>
        <p:spPr>
          <a:xfrm>
            <a:off x="3432561" y="2697480"/>
            <a:ext cx="7845039" cy="584454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7F1935-ABBA-4A54-BF5F-95CAE177B58D}"/>
              </a:ext>
            </a:extLst>
          </p:cNvPr>
          <p:cNvSpPr>
            <a:spLocks noGrp="1"/>
          </p:cNvSpPr>
          <p:nvPr/>
        </p:nvSpPr>
        <p:spPr>
          <a:xfrm>
            <a:off x="3548784" y="2764155"/>
            <a:ext cx="7602908" cy="47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project references и build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E1D250-BE77-4C0A-ACF8-AF1341683047}"/>
              </a:ext>
            </a:extLst>
          </p:cNvPr>
          <p:cNvSpPr>
            <a:spLocks noGrp="1"/>
          </p:cNvSpPr>
          <p:nvPr/>
        </p:nvSpPr>
        <p:spPr>
          <a:xfrm>
            <a:off x="914400" y="3281934"/>
            <a:ext cx="2518161" cy="584454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E2B650-13C4-487E-92A9-0BE3C74AB669}"/>
              </a:ext>
            </a:extLst>
          </p:cNvPr>
          <p:cNvSpPr>
            <a:spLocks noGrp="1"/>
          </p:cNvSpPr>
          <p:nvPr/>
        </p:nvSpPr>
        <p:spPr>
          <a:xfrm>
            <a:off x="1030623" y="3348609"/>
            <a:ext cx="2276030" cy="47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Дуплирана правила у API-ју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CA0C56-121C-47B5-A5F5-A2C9ED909C05}"/>
              </a:ext>
            </a:extLst>
          </p:cNvPr>
          <p:cNvSpPr>
            <a:spLocks noGrp="1"/>
          </p:cNvSpPr>
          <p:nvPr/>
        </p:nvSpPr>
        <p:spPr>
          <a:xfrm>
            <a:off x="3432561" y="3281934"/>
            <a:ext cx="7845039" cy="584454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4C0230-F775-45DF-97E2-2F64A1A6466D}"/>
              </a:ext>
            </a:extLst>
          </p:cNvPr>
          <p:cNvSpPr>
            <a:spLocks noGrp="1"/>
          </p:cNvSpPr>
          <p:nvPr/>
        </p:nvSpPr>
        <p:spPr>
          <a:xfrm>
            <a:off x="3548784" y="3348609"/>
            <a:ext cx="7602908" cy="47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code review и diff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3CFF6E-A8D5-430F-965E-4A013DCCCC6D}"/>
              </a:ext>
            </a:extLst>
          </p:cNvPr>
          <p:cNvSpPr>
            <a:spLocks noGrp="1"/>
          </p:cNvSpPr>
          <p:nvPr/>
        </p:nvSpPr>
        <p:spPr>
          <a:xfrm>
            <a:off x="914400" y="3866388"/>
            <a:ext cx="2518161" cy="584454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6D0050-B18A-4BB0-B8B6-0102F91C9F22}"/>
              </a:ext>
            </a:extLst>
          </p:cNvPr>
          <p:cNvSpPr>
            <a:spLocks noGrp="1"/>
          </p:cNvSpPr>
          <p:nvPr/>
        </p:nvSpPr>
        <p:spPr>
          <a:xfrm>
            <a:off x="1030623" y="3933063"/>
            <a:ext cx="2276030" cy="47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Поновљен захтев прави нови ефекат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24A3AC-DA80-4D09-A63A-5E4A72812C60}"/>
              </a:ext>
            </a:extLst>
          </p:cNvPr>
          <p:cNvSpPr>
            <a:spLocks noGrp="1"/>
          </p:cNvSpPr>
          <p:nvPr/>
        </p:nvSpPr>
        <p:spPr>
          <a:xfrm>
            <a:off x="3432561" y="3866388"/>
            <a:ext cx="7845039" cy="584454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1680E5-81EB-406E-A67F-57C7ED8BEE29}"/>
              </a:ext>
            </a:extLst>
          </p:cNvPr>
          <p:cNvSpPr>
            <a:spLocks noGrp="1"/>
          </p:cNvSpPr>
          <p:nvPr/>
        </p:nvSpPr>
        <p:spPr>
          <a:xfrm>
            <a:off x="3548784" y="3933063"/>
            <a:ext cx="7602908" cy="47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idempotency тест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23D515-74B4-407A-9202-1294D7D74A92}"/>
              </a:ext>
            </a:extLst>
          </p:cNvPr>
          <p:cNvSpPr>
            <a:spLocks noGrp="1"/>
          </p:cNvSpPr>
          <p:nvPr/>
        </p:nvSpPr>
        <p:spPr>
          <a:xfrm>
            <a:off x="914400" y="4450842"/>
            <a:ext cx="2518161" cy="584454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C34406-3457-49AF-8B60-0FE152743D68}"/>
              </a:ext>
            </a:extLst>
          </p:cNvPr>
          <p:cNvSpPr>
            <a:spLocks noGrp="1"/>
          </p:cNvSpPr>
          <p:nvPr/>
        </p:nvSpPr>
        <p:spPr>
          <a:xfrm>
            <a:off x="1030623" y="4517517"/>
            <a:ext cx="2276030" cy="47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Порт пропушта интерне детаље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2D392C-BB51-4EC0-8FB2-5B2C618016F3}"/>
              </a:ext>
            </a:extLst>
          </p:cNvPr>
          <p:cNvSpPr>
            <a:spLocks noGrp="1"/>
          </p:cNvSpPr>
          <p:nvPr/>
        </p:nvSpPr>
        <p:spPr>
          <a:xfrm>
            <a:off x="3432561" y="4450842"/>
            <a:ext cx="7845039" cy="584454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B66528-3173-4CEA-BACA-3276459B3539}"/>
              </a:ext>
            </a:extLst>
          </p:cNvPr>
          <p:cNvSpPr>
            <a:spLocks noGrp="1"/>
          </p:cNvSpPr>
          <p:nvPr/>
        </p:nvSpPr>
        <p:spPr>
          <a:xfrm>
            <a:off x="3548784" y="4517517"/>
            <a:ext cx="7602908" cy="47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преглед Application уговора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876C2D-7761-4106-9DCC-6E31323E3C74}"/>
              </a:ext>
            </a:extLst>
          </p:cNvPr>
          <p:cNvSpPr>
            <a:spLocks noGrp="1"/>
          </p:cNvSpPr>
          <p:nvPr/>
        </p:nvSpPr>
        <p:spPr>
          <a:xfrm>
            <a:off x="914400" y="5035296"/>
            <a:ext cx="2518161" cy="584454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291419-09EE-4AB6-97AD-2B50A3AA0910}"/>
              </a:ext>
            </a:extLst>
          </p:cNvPr>
          <p:cNvSpPr>
            <a:spLocks noGrp="1"/>
          </p:cNvSpPr>
          <p:nvPr/>
        </p:nvSpPr>
        <p:spPr>
          <a:xfrm>
            <a:off x="1030623" y="5101971"/>
            <a:ext cx="2276030" cy="47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MCP/Guardrails улазе у Domain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38A2A4-DF86-4915-B90B-F4DFD85F9774}"/>
              </a:ext>
            </a:extLst>
          </p:cNvPr>
          <p:cNvSpPr>
            <a:spLocks noGrp="1"/>
          </p:cNvSpPr>
          <p:nvPr/>
        </p:nvSpPr>
        <p:spPr>
          <a:xfrm>
            <a:off x="3432561" y="5035296"/>
            <a:ext cx="7845039" cy="584454"/>
          </a:xfrm>
          <a:prstGeom prst="rect">
            <a:avLst/>
          </a:prstGeom>
          <a:solidFill>
            <a:srgbClr val="FFFFFF"/>
          </a:solidFill>
          <a:ln w="5239">
            <a:solidFill>
              <a:srgbClr val="DDE2E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3CEC8E-09A3-45CA-AE2C-32BBE86F42D5}"/>
              </a:ext>
            </a:extLst>
          </p:cNvPr>
          <p:cNvSpPr>
            <a:spLocks noGrp="1"/>
          </p:cNvSpPr>
          <p:nvPr/>
        </p:nvSpPr>
        <p:spPr>
          <a:xfrm>
            <a:off x="3548784" y="5101971"/>
            <a:ext cx="7602908" cy="479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dependency rule провера</a:t>
            </a:r>
          </a:p>
        </p:txBody>
      </p:sp>
    </p:spTree>
    <p:extLst>
      <p:ext uri="{BB962C8B-B14F-4D97-AF65-F5344CB8AC3E}">
        <p14:creationId xmlns:p14="http://schemas.microsoft.com/office/powerpoint/2010/main" val="435999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120EA3-60BA-4A31-AE5A-13A9FA6E16BE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010F7F-244C-40DB-A43F-9E62843A630A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ED0AE7-5022-4541-B25D-B3F3AE56D4BC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DF8EBB-4BDF-40DB-B9AC-DE8E0EE2F8F0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Од модула до заједничког производа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AA1332-656A-41E5-838B-0DE572FB2524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Интеграција је договор о граници, а не само позив методе.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169C90D-84FE-4F4D-991B-BB6EFF1CBE30}"/>
              </a:ext>
            </a:extLst>
          </p:cNvPr>
          <p:cNvSpPr>
            <a:spLocks noGrp="1"/>
          </p:cNvSpPr>
          <p:nvPr/>
        </p:nvSpPr>
        <p:spPr>
          <a:xfrm>
            <a:off x="1135380" y="2788920"/>
            <a:ext cx="1508760" cy="69494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9A3745-8A32-4ED8-AECA-CAD677CFB1DE}"/>
              </a:ext>
            </a:extLst>
          </p:cNvPr>
          <p:cNvSpPr>
            <a:spLocks noGrp="1"/>
          </p:cNvSpPr>
          <p:nvPr/>
        </p:nvSpPr>
        <p:spPr>
          <a:xfrm>
            <a:off x="1208532" y="2999232"/>
            <a:ext cx="1353312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Use-case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08C173-9431-4D4B-9BA3-5CB8E54774B1}"/>
              </a:ext>
            </a:extLst>
          </p:cNvPr>
          <p:cNvSpPr>
            <a:spLocks noGrp="1"/>
          </p:cNvSpPr>
          <p:nvPr/>
        </p:nvSpPr>
        <p:spPr>
          <a:xfrm>
            <a:off x="1043940" y="363016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потреба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63311B-C598-429C-84EB-761CEB1858E1}"/>
              </a:ext>
            </a:extLst>
          </p:cNvPr>
          <p:cNvSpPr>
            <a:spLocks noGrp="1"/>
          </p:cNvSpPr>
          <p:nvPr/>
        </p:nvSpPr>
        <p:spPr>
          <a:xfrm>
            <a:off x="2735580" y="2990088"/>
            <a:ext cx="320040" cy="263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D687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35FB14-A81A-49EB-BEDF-614F4083E59F}"/>
              </a:ext>
            </a:extLst>
          </p:cNvPr>
          <p:cNvSpPr>
            <a:spLocks noGrp="1"/>
          </p:cNvSpPr>
          <p:nvPr/>
        </p:nvSpPr>
        <p:spPr>
          <a:xfrm>
            <a:off x="3238500" y="2788920"/>
            <a:ext cx="1508760" cy="694944"/>
          </a:xfrm>
          <a:prstGeom prst="roundRect">
            <a:avLst>
              <a:gd name="adj" fmla="val 12000"/>
            </a:avLst>
          </a:prstGeom>
          <a:solidFill>
            <a:srgbClr val="F4F7FF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724758-0773-4DA4-BD8B-6404E6FFAF7B}"/>
              </a:ext>
            </a:extLst>
          </p:cNvPr>
          <p:cNvSpPr>
            <a:spLocks noGrp="1"/>
          </p:cNvSpPr>
          <p:nvPr/>
        </p:nvSpPr>
        <p:spPr>
          <a:xfrm>
            <a:off x="3311652" y="2999232"/>
            <a:ext cx="1353312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Port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E6B44F-DD2D-4E95-9A0C-17EC0173CBF0}"/>
              </a:ext>
            </a:extLst>
          </p:cNvPr>
          <p:cNvSpPr>
            <a:spLocks noGrp="1"/>
          </p:cNvSpPr>
          <p:nvPr/>
        </p:nvSpPr>
        <p:spPr>
          <a:xfrm>
            <a:off x="3147060" y="363016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уговор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6DF631-8F40-4A0C-A024-7B3BEA89A41C}"/>
              </a:ext>
            </a:extLst>
          </p:cNvPr>
          <p:cNvSpPr>
            <a:spLocks noGrp="1"/>
          </p:cNvSpPr>
          <p:nvPr/>
        </p:nvSpPr>
        <p:spPr>
          <a:xfrm>
            <a:off x="4838700" y="2990088"/>
            <a:ext cx="320040" cy="263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D687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2A52154-4CAF-4E1B-BF9F-000710876CCB}"/>
              </a:ext>
            </a:extLst>
          </p:cNvPr>
          <p:cNvSpPr>
            <a:spLocks noGrp="1"/>
          </p:cNvSpPr>
          <p:nvPr/>
        </p:nvSpPr>
        <p:spPr>
          <a:xfrm>
            <a:off x="5341620" y="2788920"/>
            <a:ext cx="1508760" cy="694944"/>
          </a:xfrm>
          <a:prstGeom prst="roundRect">
            <a:avLst>
              <a:gd name="adj" fmla="val 12000"/>
            </a:avLst>
          </a:prstGeom>
          <a:solidFill>
            <a:srgbClr val="F4F7FF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04FAED-95FA-46D2-867A-4827988303E1}"/>
              </a:ext>
            </a:extLst>
          </p:cNvPr>
          <p:cNvSpPr>
            <a:spLocks noGrp="1"/>
          </p:cNvSpPr>
          <p:nvPr/>
        </p:nvSpPr>
        <p:spPr>
          <a:xfrm>
            <a:off x="5414772" y="2999232"/>
            <a:ext cx="1353312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Adapter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D12F1A-3F2A-4C97-96F4-EBFA106F2295}"/>
              </a:ext>
            </a:extLst>
          </p:cNvPr>
          <p:cNvSpPr>
            <a:spLocks noGrp="1"/>
          </p:cNvSpPr>
          <p:nvPr/>
        </p:nvSpPr>
        <p:spPr>
          <a:xfrm>
            <a:off x="5250180" y="363016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реализација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3D5D82-37CF-4A0E-942F-9D2D492B54B5}"/>
              </a:ext>
            </a:extLst>
          </p:cNvPr>
          <p:cNvSpPr>
            <a:spLocks noGrp="1"/>
          </p:cNvSpPr>
          <p:nvPr/>
        </p:nvSpPr>
        <p:spPr>
          <a:xfrm>
            <a:off x="6941820" y="2990088"/>
            <a:ext cx="320040" cy="263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D687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9E6999D-00FB-42EC-B7D6-31D885A2D0F1}"/>
              </a:ext>
            </a:extLst>
          </p:cNvPr>
          <p:cNvSpPr>
            <a:spLocks noGrp="1"/>
          </p:cNvSpPr>
          <p:nvPr/>
        </p:nvSpPr>
        <p:spPr>
          <a:xfrm>
            <a:off x="7444740" y="2788920"/>
            <a:ext cx="1508760" cy="694944"/>
          </a:xfrm>
          <a:prstGeom prst="roundRect">
            <a:avLst>
              <a:gd name="adj" fmla="val 12000"/>
            </a:avLst>
          </a:prstGeom>
          <a:solidFill>
            <a:srgbClr val="FDF9F1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5EF54A-95F0-4904-9346-7AA59772BA6B}"/>
              </a:ext>
            </a:extLst>
          </p:cNvPr>
          <p:cNvSpPr>
            <a:spLocks noGrp="1"/>
          </p:cNvSpPr>
          <p:nvPr/>
        </p:nvSpPr>
        <p:spPr>
          <a:xfrm>
            <a:off x="7517892" y="2999232"/>
            <a:ext cx="1353312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BE770F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AAD01F-57CA-4A67-8499-E6FD7EF78D62}"/>
              </a:ext>
            </a:extLst>
          </p:cNvPr>
          <p:cNvSpPr>
            <a:spLocks noGrp="1"/>
          </p:cNvSpPr>
          <p:nvPr/>
        </p:nvSpPr>
        <p:spPr>
          <a:xfrm>
            <a:off x="7353300" y="363016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доказ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A6B18F-B75D-4898-A34B-35D4B70EBC98}"/>
              </a:ext>
            </a:extLst>
          </p:cNvPr>
          <p:cNvSpPr>
            <a:spLocks noGrp="1"/>
          </p:cNvSpPr>
          <p:nvPr/>
        </p:nvSpPr>
        <p:spPr>
          <a:xfrm>
            <a:off x="9044940" y="2990088"/>
            <a:ext cx="320040" cy="263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D687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226A6CA-7CFF-4725-A1B6-E9B76931E771}"/>
              </a:ext>
            </a:extLst>
          </p:cNvPr>
          <p:cNvSpPr>
            <a:spLocks noGrp="1"/>
          </p:cNvSpPr>
          <p:nvPr/>
        </p:nvSpPr>
        <p:spPr>
          <a:xfrm>
            <a:off x="9547860" y="2788920"/>
            <a:ext cx="1508760" cy="694944"/>
          </a:xfrm>
          <a:prstGeom prst="roundRect">
            <a:avLst>
              <a:gd name="adj" fmla="val 12000"/>
            </a:avLst>
          </a:prstGeom>
          <a:solidFill>
            <a:srgbClr val="F3FAF6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1391DB-7E4F-4360-8808-4689CD19EA2A}"/>
              </a:ext>
            </a:extLst>
          </p:cNvPr>
          <p:cNvSpPr>
            <a:spLocks noGrp="1"/>
          </p:cNvSpPr>
          <p:nvPr/>
        </p:nvSpPr>
        <p:spPr>
          <a:xfrm>
            <a:off x="9621012" y="2999232"/>
            <a:ext cx="1353312" cy="271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A915F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393888-02BB-43A7-9F2D-CEBA8176BCE7}"/>
              </a:ext>
            </a:extLst>
          </p:cNvPr>
          <p:cNvSpPr>
            <a:spLocks noGrp="1"/>
          </p:cNvSpPr>
          <p:nvPr/>
        </p:nvSpPr>
        <p:spPr>
          <a:xfrm>
            <a:off x="9456420" y="363016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прихватање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BE4F726-269A-4817-B25F-055FDCC0E04F}"/>
              </a:ext>
            </a:extLst>
          </p:cNvPr>
          <p:cNvSpPr>
            <a:spLocks noGrp="1"/>
          </p:cNvSpPr>
          <p:nvPr/>
        </p:nvSpPr>
        <p:spPr>
          <a:xfrm>
            <a:off x="914400" y="4914900"/>
            <a:ext cx="10363200" cy="800100"/>
          </a:xfrm>
          <a:prstGeom prst="roundRect">
            <a:avLst>
              <a:gd name="adj" fmla="val 16667"/>
            </a:avLst>
          </a:prstGeom>
          <a:solidFill>
            <a:srgbClr val="FFF6E9"/>
          </a:solidFill>
          <a:ln w="7620">
            <a:solidFill>
              <a:srgbClr val="E9D4AF"/>
            </a:solidFill>
            <a:prstDash val="solid"/>
          </a:ln>
        </p:spPr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3F5209D-94A0-4DF5-B786-F02085AC7DA0}"/>
              </a:ext>
            </a:extLst>
          </p:cNvPr>
          <p:cNvSpPr>
            <a:spLocks noGrp="1"/>
          </p:cNvSpPr>
          <p:nvPr/>
        </p:nvSpPr>
        <p:spPr>
          <a:xfrm>
            <a:off x="1085850" y="5067300"/>
            <a:ext cx="57150" cy="495300"/>
          </a:xfrm>
          <a:prstGeom prst="roundRect">
            <a:avLst>
              <a:gd name="adj" fmla="val 50000"/>
            </a:avLst>
          </a:prstGeom>
          <a:solidFill>
            <a:srgbClr val="B86A09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C240925-AE20-46C1-883D-8AEF905F7D72}"/>
              </a:ext>
            </a:extLst>
          </p:cNvPr>
          <p:cNvSpPr>
            <a:spLocks noGrp="1"/>
          </p:cNvSpPr>
          <p:nvPr/>
        </p:nvSpPr>
        <p:spPr>
          <a:xfrm>
            <a:off x="1333500" y="502920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КЉУЧНА ПОРУКА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08359C-3E76-408B-A1E7-96C03C539D7D}"/>
              </a:ext>
            </a:extLst>
          </p:cNvPr>
          <p:cNvSpPr>
            <a:spLocks noGrp="1"/>
          </p:cNvSpPr>
          <p:nvPr/>
        </p:nvSpPr>
        <p:spPr>
          <a:xfrm>
            <a:off x="1333500" y="5276850"/>
            <a:ext cx="96012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Модули се повезују преко стабилних уговора који имају пословно значење.</a:t>
            </a:r>
          </a:p>
        </p:txBody>
      </p:sp>
    </p:spTree>
    <p:extLst>
      <p:ext uri="{BB962C8B-B14F-4D97-AF65-F5344CB8AC3E}">
        <p14:creationId xmlns:p14="http://schemas.microsoft.com/office/powerpoint/2010/main" val="1367177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284529-70E8-43F7-AF0A-BCB9FC29BD59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FC136F-B7CB-4B4A-9C2E-F4EDC29772F7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424A8-5432-46AD-8005-4E6AE7054F3C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04090A-50F0-4063-87D6-43AADE641A6A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Јасна граница олакшава AI workflow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FDE5C8-CFC8-4B97-BFD6-F87771C90777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Када су границе стабилне, AI предлог се лакше проверава.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EB5C036-09DA-426B-8591-214ED5C24F3B}"/>
              </a:ext>
            </a:extLst>
          </p:cNvPr>
          <p:cNvSpPr>
            <a:spLocks noGrp="1"/>
          </p:cNvSpPr>
          <p:nvPr/>
        </p:nvSpPr>
        <p:spPr>
          <a:xfrm>
            <a:off x="1478280" y="2560320"/>
            <a:ext cx="2834640" cy="1828800"/>
          </a:xfrm>
          <a:prstGeom prst="roundRect">
            <a:avLst>
              <a:gd name="adj" fmla="val 12000"/>
            </a:avLst>
          </a:prstGeom>
          <a:solidFill>
            <a:srgbClr val="F4F7FF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6A4FA9-EB5E-49C2-83A0-3083DE13BB43}"/>
              </a:ext>
            </a:extLst>
          </p:cNvPr>
          <p:cNvSpPr>
            <a:spLocks noGrp="1"/>
          </p:cNvSpPr>
          <p:nvPr/>
        </p:nvSpPr>
        <p:spPr>
          <a:xfrm>
            <a:off x="1642872" y="2761488"/>
            <a:ext cx="731520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A7FF53-1114-4297-9B68-0C2050022CFA}"/>
              </a:ext>
            </a:extLst>
          </p:cNvPr>
          <p:cNvSpPr>
            <a:spLocks noGrp="1"/>
          </p:cNvSpPr>
          <p:nvPr/>
        </p:nvSpPr>
        <p:spPr>
          <a:xfrm>
            <a:off x="1642872" y="3063240"/>
            <a:ext cx="23317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Контекст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19D35-8E44-4018-A099-8063DCC7CF7A}"/>
              </a:ext>
            </a:extLst>
          </p:cNvPr>
          <p:cNvSpPr>
            <a:spLocks noGrp="1"/>
          </p:cNvSpPr>
          <p:nvPr/>
        </p:nvSpPr>
        <p:spPr>
          <a:xfrm>
            <a:off x="1642872" y="370332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погођени пројекти су познати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4450845-6542-4C63-917B-0F62B25BE550}"/>
              </a:ext>
            </a:extLst>
          </p:cNvPr>
          <p:cNvSpPr>
            <a:spLocks noGrp="1"/>
          </p:cNvSpPr>
          <p:nvPr/>
        </p:nvSpPr>
        <p:spPr>
          <a:xfrm>
            <a:off x="4678680" y="2560320"/>
            <a:ext cx="2834640" cy="1828800"/>
          </a:xfrm>
          <a:prstGeom prst="roundRect">
            <a:avLst>
              <a:gd name="adj" fmla="val 12000"/>
            </a:avLst>
          </a:prstGeom>
          <a:solidFill>
            <a:srgbClr val="F3FAF6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03C607-7ED8-43AC-A7B2-B125C11994C4}"/>
              </a:ext>
            </a:extLst>
          </p:cNvPr>
          <p:cNvSpPr>
            <a:spLocks noGrp="1"/>
          </p:cNvSpPr>
          <p:nvPr/>
        </p:nvSpPr>
        <p:spPr>
          <a:xfrm>
            <a:off x="4843272" y="2761488"/>
            <a:ext cx="731520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A91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541700-061F-4765-A147-E674EC8DA4E8}"/>
              </a:ext>
            </a:extLst>
          </p:cNvPr>
          <p:cNvSpPr>
            <a:spLocks noGrp="1"/>
          </p:cNvSpPr>
          <p:nvPr/>
        </p:nvSpPr>
        <p:spPr>
          <a:xfrm>
            <a:off x="4843272" y="3063240"/>
            <a:ext cx="23317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Ограничења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FD70A1-ADB8-49A4-B006-20909BB10FDD}"/>
              </a:ext>
            </a:extLst>
          </p:cNvPr>
          <p:cNvSpPr>
            <a:spLocks noGrp="1"/>
          </p:cNvSpPr>
          <p:nvPr/>
        </p:nvSpPr>
        <p:spPr>
          <a:xfrm>
            <a:off x="4843272" y="370332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зна се шта не сме да се мења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0EFB5D7-B309-4740-9E60-7E6036F1DF05}"/>
              </a:ext>
            </a:extLst>
          </p:cNvPr>
          <p:cNvSpPr>
            <a:spLocks noGrp="1"/>
          </p:cNvSpPr>
          <p:nvPr/>
        </p:nvSpPr>
        <p:spPr>
          <a:xfrm>
            <a:off x="7879080" y="2560320"/>
            <a:ext cx="2834640" cy="1828800"/>
          </a:xfrm>
          <a:prstGeom prst="roundRect">
            <a:avLst>
              <a:gd name="adj" fmla="val 12000"/>
            </a:avLst>
          </a:prstGeom>
          <a:solidFill>
            <a:srgbClr val="FDF9F1"/>
          </a:solidFill>
          <a:ln w="6191">
            <a:solidFill>
              <a:srgbClr val="D7DD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C03112-A46E-40CA-A831-D680A7ED4B66}"/>
              </a:ext>
            </a:extLst>
          </p:cNvPr>
          <p:cNvSpPr>
            <a:spLocks noGrp="1"/>
          </p:cNvSpPr>
          <p:nvPr/>
        </p:nvSpPr>
        <p:spPr>
          <a:xfrm>
            <a:off x="8043672" y="2761488"/>
            <a:ext cx="731520" cy="209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BE770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4E6EC7-0DDF-49C0-A0D7-4739CE6668E2}"/>
              </a:ext>
            </a:extLst>
          </p:cNvPr>
          <p:cNvSpPr>
            <a:spLocks noGrp="1"/>
          </p:cNvSpPr>
          <p:nvPr/>
        </p:nvSpPr>
        <p:spPr>
          <a:xfrm>
            <a:off x="8043672" y="3063240"/>
            <a:ext cx="23317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Провера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0426BA-9835-40CB-BE9A-4D11D6A65E19}"/>
              </a:ext>
            </a:extLst>
          </p:cNvPr>
          <p:cNvSpPr>
            <a:spLocks noGrp="1"/>
          </p:cNvSpPr>
          <p:nvPr/>
        </p:nvSpPr>
        <p:spPr>
          <a:xfrm>
            <a:off x="8043672" y="370332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build, test и diff су довољни сигнали</a:t>
            </a:r>
          </a:p>
        </p:txBody>
      </p:sp>
    </p:spTree>
    <p:extLst>
      <p:ext uri="{BB962C8B-B14F-4D97-AF65-F5344CB8AC3E}">
        <p14:creationId xmlns:p14="http://schemas.microsoft.com/office/powerpoint/2010/main" val="588638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Рад на вежби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Циљ је да студенти користе исти пример као извршиви систем.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noGrp="1"/>
          </p:cNvSpPr>
          <p:nvPr/>
        </p:nvSpPr>
        <p:spPr>
          <a:xfrm>
            <a:off x="1638300" y="22402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noGrp="1"/>
          </p:cNvSpPr>
          <p:nvPr/>
        </p:nvSpPr>
        <p:spPr>
          <a:xfrm>
            <a:off x="2324100" y="2240280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Отворити EquipmentReservation.sln.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noGrp="1"/>
          </p:cNvSpPr>
          <p:nvPr/>
        </p:nvSpPr>
        <p:spPr>
          <a:xfrm>
            <a:off x="1638300" y="280720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noGrp="1"/>
          </p:cNvSpPr>
          <p:nvPr/>
        </p:nvSpPr>
        <p:spPr>
          <a:xfrm>
            <a:off x="2324100" y="2807208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Проверити build и test команде.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noGrp="1"/>
          </p:cNvSpPr>
          <p:nvPr/>
        </p:nvSpPr>
        <p:spPr>
          <a:xfrm>
            <a:off x="1638300" y="3374136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noGrp="1"/>
          </p:cNvSpPr>
          <p:nvPr/>
        </p:nvSpPr>
        <p:spPr>
          <a:xfrm>
            <a:off x="2324100" y="3374136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Пронаћи Domain правило и његов Application порт.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0AF4CD-BCB7-4E41-8EB2-98129703211C}"/>
              </a:ext>
            </a:extLst>
          </p:cNvPr>
          <p:cNvSpPr>
            <a:spLocks noGrp="1"/>
          </p:cNvSpPr>
          <p:nvPr/>
        </p:nvSpPr>
        <p:spPr>
          <a:xfrm>
            <a:off x="1638300" y="3941064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624AE8-4536-4931-B883-B871FAA13217}"/>
              </a:ext>
            </a:extLst>
          </p:cNvPr>
          <p:cNvSpPr>
            <a:spLocks noGrp="1"/>
          </p:cNvSpPr>
          <p:nvPr/>
        </p:nvSpPr>
        <p:spPr>
          <a:xfrm>
            <a:off x="2324100" y="3941064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Објаснити како CreateReservationHandler користи Inventory.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745130-9E2D-4B23-9EDB-6F8CA7ADD87D}"/>
              </a:ext>
            </a:extLst>
          </p:cNvPr>
          <p:cNvSpPr>
            <a:spLocks noGrp="1"/>
          </p:cNvSpPr>
          <p:nvPr/>
        </p:nvSpPr>
        <p:spPr>
          <a:xfrm>
            <a:off x="1638300" y="450799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8B3774-03BC-4B02-8229-D317564BE9C0}"/>
              </a:ext>
            </a:extLst>
          </p:cNvPr>
          <p:cNvSpPr>
            <a:spLocks noGrp="1"/>
          </p:cNvSpPr>
          <p:nvPr/>
        </p:nvSpPr>
        <p:spPr>
          <a:xfrm>
            <a:off x="2324100" y="4507992"/>
            <a:ext cx="8229600" cy="263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Показати</a:t>
            </a:r>
            <a:r>
              <a:rPr sz="160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 тест </a:t>
            </a:r>
            <a:r>
              <a:rPr sz="160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који</a:t>
            </a:r>
            <a:r>
              <a:rPr sz="160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штити</a:t>
            </a:r>
            <a:r>
              <a:rPr sz="160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 </a:t>
            </a:r>
            <a:r>
              <a:rPr lang="sr-Cyrl-RS" sz="160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идемпотењнтност</a:t>
            </a:r>
            <a:r>
              <a:rPr sz="160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или</a:t>
            </a:r>
            <a:r>
              <a:rPr sz="160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уговор</a:t>
            </a:r>
            <a:r>
              <a:rPr sz="160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између</a:t>
            </a:r>
            <a:r>
              <a:rPr sz="160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dirty="0" err="1">
                <a:solidFill>
                  <a:srgbClr val="1B202B"/>
                </a:solidFill>
                <a:latin typeface="Aptos"/>
                <a:ea typeface="Aptos"/>
                <a:cs typeface="Aptos"/>
              </a:rPr>
              <a:t>модула</a:t>
            </a:r>
            <a:r>
              <a:rPr sz="1600" b="0" dirty="0">
                <a:solidFill>
                  <a:srgbClr val="1B202B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EFE9F9-C904-4891-B3CA-AC5D708987CF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9C27FC-253A-4E2E-8BD2-3AE3560E52E9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4A6B1A-0876-42C6-8E39-3068AB0F3FB3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CB8638-183C-4766-A2BB-4C3D1A71A74D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Суштина Вежбе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59E455-8082-44EB-8E87-06BF44392EA2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Интеграција није супротност Clean Architecture-у.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C5ECE8-C25A-49C7-90D1-3DCCF3FCD4E5}"/>
              </a:ext>
            </a:extLst>
          </p:cNvPr>
          <p:cNvSpPr>
            <a:spLocks noGrp="1"/>
          </p:cNvSpPr>
          <p:nvPr/>
        </p:nvSpPr>
        <p:spPr>
          <a:xfrm>
            <a:off x="1051560" y="242316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Добра интеграција значи да модули сарађују преко јасних уговора, док пословно језгро остаје заштићено од детаља транспорта, складишта и развојних алата.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387E0C-5CFC-4715-AC25-1DA8448183B7}"/>
              </a:ext>
            </a:extLst>
          </p:cNvPr>
          <p:cNvSpPr>
            <a:spLocks noGrp="1"/>
          </p:cNvSpPr>
          <p:nvPr/>
        </p:nvSpPr>
        <p:spPr>
          <a:xfrm>
            <a:off x="1051560" y="3716365"/>
            <a:ext cx="6949440" cy="10972"/>
          </a:xfrm>
          <a:prstGeom prst="rect">
            <a:avLst/>
          </a:prstGeom>
          <a:solidFill>
            <a:srgbClr val="2A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66E2F09-9791-4904-9BAD-749FF4D8CFD2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10363200" cy="800100"/>
          </a:xfrm>
          <a:prstGeom prst="roundRect">
            <a:avLst>
              <a:gd name="adj" fmla="val 16667"/>
            </a:avLst>
          </a:prstGeom>
          <a:solidFill>
            <a:srgbClr val="FFF6E9"/>
          </a:solidFill>
          <a:ln w="7620">
            <a:solidFill>
              <a:srgbClr val="E9D4AF"/>
            </a:solidFill>
            <a:prstDash val="solid"/>
          </a:ln>
        </p:spPr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ECEB316-0B89-414D-A360-697A04FA1755}"/>
              </a:ext>
            </a:extLst>
          </p:cNvPr>
          <p:cNvSpPr>
            <a:spLocks noGrp="1"/>
          </p:cNvSpPr>
          <p:nvPr/>
        </p:nvSpPr>
        <p:spPr>
          <a:xfrm>
            <a:off x="1085850" y="4419600"/>
            <a:ext cx="57150" cy="495300"/>
          </a:xfrm>
          <a:prstGeom prst="roundRect">
            <a:avLst>
              <a:gd name="adj" fmla="val 50000"/>
            </a:avLst>
          </a:prstGeom>
          <a:solidFill>
            <a:srgbClr val="B86A09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18AF-B6E7-4F46-A004-465164FAB6C4}"/>
              </a:ext>
            </a:extLst>
          </p:cNvPr>
          <p:cNvSpPr>
            <a:spLocks noGrp="1"/>
          </p:cNvSpPr>
          <p:nvPr/>
        </p:nvSpPr>
        <p:spPr>
          <a:xfrm>
            <a:off x="1333500" y="438150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КЉУЧНА ПОРУКА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81503F-45B6-4C4E-9BDE-7E2DB552512C}"/>
              </a:ext>
            </a:extLst>
          </p:cNvPr>
          <p:cNvSpPr>
            <a:spLocks noGrp="1"/>
          </p:cNvSpPr>
          <p:nvPr/>
        </p:nvSpPr>
        <p:spPr>
          <a:xfrm>
            <a:off x="1333500" y="4629150"/>
            <a:ext cx="96012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То припрема терен за контролисан AI рад.</a:t>
            </a:r>
          </a:p>
        </p:txBody>
      </p:sp>
    </p:spTree>
    <p:extLst>
      <p:ext uri="{BB962C8B-B14F-4D97-AF65-F5344CB8AC3E}">
        <p14:creationId xmlns:p14="http://schemas.microsoft.com/office/powerpoint/2010/main" val="823308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2F0442-8E93-4D53-ADB4-5C7695BCE1BA}"/>
              </a:ext>
            </a:extLst>
          </p:cNvPr>
          <p:cNvSpPr>
            <a:spLocks noGrp="1"/>
          </p:cNvSpPr>
          <p:nvPr/>
        </p:nvSpPr>
        <p:spPr>
          <a:xfrm>
            <a:off x="685800" y="2926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E4C662-CC64-4066-9DFC-C70C22FA4C00}"/>
              </a:ext>
            </a:extLst>
          </p:cNvPr>
          <p:cNvSpPr>
            <a:spLocks noGrp="1"/>
          </p:cNvSpPr>
          <p:nvPr/>
        </p:nvSpPr>
        <p:spPr>
          <a:xfrm>
            <a:off x="685800" y="493776"/>
            <a:ext cx="10835640" cy="6858"/>
          </a:xfrm>
          <a:prstGeom prst="rect">
            <a:avLst/>
          </a:prstGeom>
          <a:solidFill>
            <a:srgbClr val="748092"/>
          </a:solidFill>
          <a:ln w="3810">
            <a:solidFill>
              <a:srgbClr val="74809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7B124E-284E-4D01-A409-A59385962327}"/>
              </a:ext>
            </a:extLst>
          </p:cNvPr>
          <p:cNvSpPr>
            <a:spLocks noGrp="1"/>
          </p:cNvSpPr>
          <p:nvPr/>
        </p:nvSpPr>
        <p:spPr>
          <a:xfrm>
            <a:off x="11384280" y="63550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EC77A7-D848-4A92-A45B-DB3D2D0947D1}"/>
              </a:ext>
            </a:extLst>
          </p:cNvPr>
          <p:cNvSpPr>
            <a:spLocks noGrp="1"/>
          </p:cNvSpPr>
          <p:nvPr/>
        </p:nvSpPr>
        <p:spPr>
          <a:xfrm>
            <a:off x="914400" y="914400"/>
            <a:ext cx="10363200" cy="3908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 dirty="0" err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За</a:t>
            </a:r>
            <a:r>
              <a:rPr sz="2550" b="1" dirty="0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dirty="0" err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наредни</a:t>
            </a:r>
            <a:r>
              <a:rPr sz="2550" b="1" dirty="0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sr-Cyrl-RS" sz="2550" b="1">
                <a:solidFill>
                  <a:srgbClr val="1B202B"/>
                </a:solidFill>
                <a:latin typeface="Aptos Display"/>
                <a:ea typeface="Aptos Display"/>
                <a:cs typeface="Aptos Display"/>
              </a:rPr>
              <a:t>термин</a:t>
            </a:r>
            <a:endParaRPr sz="2550" b="1" dirty="0">
              <a:solidFill>
                <a:srgbClr val="1B202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C7E5AA-3038-4CBE-A03E-3C023E881C8A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10363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5D6878"/>
                </a:solidFill>
                <a:latin typeface="Aptos"/>
                <a:ea typeface="Aptos"/>
                <a:cs typeface="Aptos"/>
              </a:rPr>
              <a:t>Припремити solution за AI workflow.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2BFE31-0058-4731-B8FB-6ABB571E53AB}"/>
              </a:ext>
            </a:extLst>
          </p:cNvPr>
          <p:cNvSpPr>
            <a:spLocks noGrp="1"/>
          </p:cNvSpPr>
          <p:nvPr/>
        </p:nvSpPr>
        <p:spPr>
          <a:xfrm>
            <a:off x="1638300" y="224028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74B281-8F0F-4D43-8C07-B1D924A20A7F}"/>
              </a:ext>
            </a:extLst>
          </p:cNvPr>
          <p:cNvSpPr>
            <a:spLocks noGrp="1"/>
          </p:cNvSpPr>
          <p:nvPr/>
        </p:nvSpPr>
        <p:spPr>
          <a:xfrm>
            <a:off x="2324100" y="2240280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Забележити како се solution покреће и тестира.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750F77-798B-4281-A464-DD31D1F4C1F3}"/>
              </a:ext>
            </a:extLst>
          </p:cNvPr>
          <p:cNvSpPr>
            <a:spLocks noGrp="1"/>
          </p:cNvSpPr>
          <p:nvPr/>
        </p:nvSpPr>
        <p:spPr>
          <a:xfrm>
            <a:off x="1638300" y="280720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325891-5BE7-46FC-8F5B-94372B9EB86F}"/>
              </a:ext>
            </a:extLst>
          </p:cNvPr>
          <p:cNvSpPr>
            <a:spLocks noGrp="1"/>
          </p:cNvSpPr>
          <p:nvPr/>
        </p:nvSpPr>
        <p:spPr>
          <a:xfrm>
            <a:off x="2324100" y="2807208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Описати границе Domain, Application, Infrastructure и API пројеката.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6F9416-25C7-43EB-A949-23FA4C962658}"/>
              </a:ext>
            </a:extLst>
          </p:cNvPr>
          <p:cNvSpPr>
            <a:spLocks noGrp="1"/>
          </p:cNvSpPr>
          <p:nvPr/>
        </p:nvSpPr>
        <p:spPr>
          <a:xfrm>
            <a:off x="1638300" y="3374136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3C1059-3126-4EA2-95FC-FC51452CC442}"/>
              </a:ext>
            </a:extLst>
          </p:cNvPr>
          <p:cNvSpPr>
            <a:spLocks noGrp="1"/>
          </p:cNvSpPr>
          <p:nvPr/>
        </p:nvSpPr>
        <p:spPr>
          <a:xfrm>
            <a:off x="2324100" y="3374136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Изабрати један мали захтев за промену правила.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59874F-0C1F-41EB-AA63-438C57DF0EEE}"/>
              </a:ext>
            </a:extLst>
          </p:cNvPr>
          <p:cNvSpPr>
            <a:spLocks noGrp="1"/>
          </p:cNvSpPr>
          <p:nvPr/>
        </p:nvSpPr>
        <p:spPr>
          <a:xfrm>
            <a:off x="1638300" y="3941064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E43492-F1A9-47BD-84DE-4E335ACFD982}"/>
              </a:ext>
            </a:extLst>
          </p:cNvPr>
          <p:cNvSpPr>
            <a:spLocks noGrp="1"/>
          </p:cNvSpPr>
          <p:nvPr/>
        </p:nvSpPr>
        <p:spPr>
          <a:xfrm>
            <a:off x="2324100" y="3941064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Навести фајлове које промена сме да погађа.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A80901-4A89-460A-B365-85AA4C1750C5}"/>
              </a:ext>
            </a:extLst>
          </p:cNvPr>
          <p:cNvSpPr>
            <a:spLocks noGrp="1"/>
          </p:cNvSpPr>
          <p:nvPr/>
        </p:nvSpPr>
        <p:spPr>
          <a:xfrm>
            <a:off x="1638300" y="450799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2A5B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D1AEA6-2052-43D4-BCFB-7897AF77184E}"/>
              </a:ext>
            </a:extLst>
          </p:cNvPr>
          <p:cNvSpPr>
            <a:spLocks noGrp="1"/>
          </p:cNvSpPr>
          <p:nvPr/>
        </p:nvSpPr>
        <p:spPr>
          <a:xfrm>
            <a:off x="2324100" y="4507992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B202B"/>
                </a:solidFill>
                <a:latin typeface="Aptos"/>
                <a:ea typeface="Aptos"/>
                <a:cs typeface="Aptos"/>
              </a:rPr>
              <a:t>Припремити проверу build/test/diff за следећу вежбу.</a:t>
            </a:r>
          </a:p>
        </p:txBody>
      </p:sp>
    </p:spTree>
    <p:extLst>
      <p:ext uri="{BB962C8B-B14F-4D97-AF65-F5344CB8AC3E}">
        <p14:creationId xmlns:p14="http://schemas.microsoft.com/office/powerpoint/2010/main" val="759240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1466</Words>
  <Application>Microsoft Macintosh PowerPoint</Application>
  <DocSecurity>0</DocSecurity>
  <PresentationFormat>Widescreen</PresentationFormat>
  <Paragraphs>232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Jovanović Danijel</cp:lastModifiedBy>
  <cp:revision>3</cp:revision>
  <dcterms:created xsi:type="dcterms:W3CDTF">2026-09-28T20:21:57Z</dcterms:created>
  <dcterms:modified xsi:type="dcterms:W3CDTF">2026-09-28T20:25:38Z</dcterms:modified>
</cp:coreProperties>
</file>