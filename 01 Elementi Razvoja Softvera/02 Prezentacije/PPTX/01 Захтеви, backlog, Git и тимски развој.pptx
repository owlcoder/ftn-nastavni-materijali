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a6aa7c6e4474b87" /><Relationship Type="http://schemas.openxmlformats.org/officeDocument/2006/relationships/notesMaster" Target="/ppt/notesMasters/notesMaster1.xml" Id="R367d889e616f44a1"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ee7175cab534481" /><Relationship Type="http://schemas.openxmlformats.org/officeDocument/2006/relationships/notesMaster" Target="/ppt/notesMasters/notesMaster1.xml" Id="Reec909ec10024eec"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ових вежби је дисциплинован и следљив развојни поступак: како се захтев описује као корисничка прича, како се планира у backlog-у по Scrum оквиру и како се реализује кроз Git гране, Pull Request и интеграцију у заједничко решење.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Презентација има пет делова. Прво уводимо агилни приступ и Scrum оквир у коме тим ради. Затим описујемо захтеве кроз корисничке приче и критеријуме прихватања, па backlog и таблу. Четврти део је рад са Git-ом, а последњи део обухвата контролну тачку КТ1 и припрему за наредну вежбу.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Цео поступак почиње потребом корисника, која се описује као ставка у backlog-у са критеријумима прихватања. Ставка се реализује на посебној feature грани, затим пролази преглед и тестове кроз Pull Request и тек тада се интегрише у заједничко решење. Сваки корак оставља траг који се касније може проверити.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део уводи агилни приступ развоју и Scrum као оквир у коме тим ради током семестра. Пролазимо кроз улоге, ток једног Sprint-а, свакодневни Daily Scrum, преглед и ретроспективу, као и артефакте и дефиниције спремног и завршеног посла.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Агилни манифест из 2001. године формулише четири вредности. Важно је да ставке десно нису непотребне, али када се мора бирати, предност имају ставке лево. Из принципа манифеста за наш рад су најважнији кратки циклуси са честим увидом у резултат, прецизирање захтева током рада и став да је софтвер који ради основна мера напретка.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цео Scrum оквир на једној слици. Product Owner одржава Product Backlog, уређен по приоритету. На Sprint Planning-у тим бира ставке и формулише Sprint Goal, чиме настаје Sprint Backlog. Током Sprint-а, који траје највише месец дана, тим се сваког дана кратко састаје на Daily Scrum-у. На крају Sprint-а настаје Increment који испуњава Definition of Done. На Sprint Review-у се инкремент прегледа са заинтересованим странама, а на ретроспективи тим договара побољшања. Повратна информација се враћа у Product Backlog и циклус почиње поново.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разликује три одговорности. Product Owner одговара за вредност производа и води Product Backlog. Scrum Master одговара за то да тим ефикасно примењује Scrum и да препреке буду уклоњене. Developers су чланови тима који сваки Sprint праве употребљив инкремент. Тим је мали и самоорганизован, без подтимова.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је контејнер за све остале догађаје и траје највише месец дана, а у пракси најчешће једну до четири недеље. На примеру Sprint-а од две недеље, први дан почиње планирањем, сваког дана се одржава Daily Scrum, а последњег дана Sprint Review и ретроспектива. Scrum водич задаје највећа трајања за Sprint од месец дана: планирање до осам сати, Daily Scrum петнаест минута, преглед до четири, а ретроспектива до три сата. Краћи Sprint има сразмерно краће догађаје.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Scrum траје петнаест минута и одржава се сваког радног дана у исто време и на истом месту, како би био једноставан и предвидив. Учествују Developers, а Scrum Master и Product Owner само ако и сами раде на ставкама Sprint-а. Циљ је да тим провери напредак ка Sprint Goal-у и по потреби прилагоди план за наредни дан. Scrum водич из 2020. не прописује формат, али тимови често користе три питања: шта сам урадио, шта радим даље и шта ме спречава. Детаљне дискусије не воде се на самом састанку, већ после њега, са онима којих се тичу.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Review је радна сесија, а не свечана презентација. Тим показује шта је заиста урађено, заинтересоване стране дају повратну информацију и на основу ње се мења Product Backlog. Ретроспектива долази после прегледа и окренута је тиму: како смо сарађивали, шта је у процесу и алатима успоравало рад и шта конкретно мењамо у наредном Sprint-у. Једноставан формат су три питања: шта наставити, шта престати да радимо и шта започети.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има три артефакта. Product Backlog садржи све будуће ставке уређене по приоритету, Sprint Backlog је изабрани обим рада за текући Sprint са планом, а Increment је реализована и проверена промена. Сваки артефакт има обавезу према којој се мери напредак: Product Goal, Sprint Goal и Definition of Done. Да би ставка ушла у Sprint, мора имати циљ, приоритет, критеријуме и позната ограничења.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of Ready није део Scrum водича, већ честа пракса: тим се договара шта ставка мора да има да би уопште ушла у Sprint. Definition of Done је званична обавеза везана за Increment. Ставка која не испуњава Definition of Done није завршена, без обзира на то у којој се колони табле налази. Пример наводи типичне услове, а сваки тим их прилагођава свом пројекту.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део се бави захтевима. Почињемо структуром корисничке приче, затим критеријумима доброг захтева по моделу INVEST и критеријумима прихватања, а завршавамо записом сценарија у облику Given, When,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Корисничка прича има три дела: ко је корисник, шта жели да уради и зашто му је то важно. У примеру наставник лабораторије жели да резервише опрему како би знао да је доступна и избегао двоструку резервацију. Управо тај последњи део, вредност, касније води до проверљивог правила да се резервације не смеју преклапати.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 је једноставна провера квалитета корисничке приче. Прича треба да буде независна, отворена за договор о детаљима, вредна за корисника, процењива, довољно мала да стане у један Sprint и проверљива. Последње слово је најважније за наш рад: без критеријума прихватања не може се доказати да је прича завршена.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Добар скуп критеријума покрива више врста сценарија: успешан ток, пословни конфликт, неисправан улаз и гранични случај. За резервацију опреме гранични случај је тренутак када се један термин завршава тачно када други почиње. Тим мора унапред одлучити да ли је то дозвољено, иначе се тест и имплементација неће слагати.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Запис Given, When, Then дели критеријум на почетно стање, акцију и очекивани исход. Тако написан критеријум се скоро директно преводи у тест. Леви пример описује конфликт, а десни гранични случај. Правило за гранични случај овде је само пример: тим може одлучити и другачије, али та одлука мора бити записана у критеријуму и проверена тестом.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Трећи део показује како се захтев из backlog-а претвара у видљив рад: шта ставка мора да садржи, како се разлаже на мање кораке, кроз која стања пролази и како се све то прати на табли у алату Tapiz 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Свака ставка у backlog-у носи четири групе података. Опис каже шта се тражи и ко добија вредност. Критеријуми одређују како се доказује исправност. Приоритет и Sprint објашњавају зашто се ставка ради сада. Assignee и коментари бележе ко ради и шта је договорено, на пример одлуку о граничном случају. Лево је пример како то изгледа на картици.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Већа ставка се разлаже на мале кораке у облику контролне листе: на пример скица екрана, основна логика, тестови кључног правила и преглед кода. Тако се смањује ризик, застој постаје видљив чим се неки корак не помера, провера је лакша, а на одбрани је лакше објаснити шта је урађено и којим редом.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Ставка пролази кроз пет стања: из backlog-а, где је још идеја, прелази у Ready када испуњава договорене услове, затим у рад, па на преглед кода и коначно у Done. Статус увек мора да одговара стварном стању посла. Done значи да су критеријуми испуњени, провере успешне и промена интегрисана, а не само да је картица померена у последњу колону.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Табла у алату Tapiz Boards је видљив договор тима о процесу. Колоне одговарају стањима рада и морају показивати стварно стање, а не жељено. Свака картица има опис, приоритет, особу задужену за рад и критеријуме прихватања, а веза са Pull Request-ом и тестовима показује да је промена проверљива. Картица прелази у Done тек када испуни Definition of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Четврти део је рад са Git-ом. Понављамо основне појмове, пратимо пут једне измене од радног директоријума до удаљеног репозиторијума, па прелазимо на гране, Pull Request, решавање конфликата и интеграцију.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Пет појмова су довољни за свакодневни рад. Working tree су датотеке које тренутно мењамо, staging area је избор онога што улази у наредни commit, commit је кохерентна промена са описом намере, грана је издвојена линија развоја, а remote је удаљени репозиторијум преко кога тим размењује промене.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Измена почиње у радном директоријуму. Командом git add бирамо шта улази у наредни commit, командом git commit измена постаје део локалне историје, а git push је шаље у заједнички репозиторијум на GitHub-у. Обрнутим смером, git pull преузима промене осталих чланова тима и спаја их са нашим радом. То је комбинација команди git fetch и git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Мали развојни корак изгледа овако: проверимо стање и измене, у staging додамо само датотеке које припадају промени, у овом случају сервис и његов тест, још једном прегледамо шта улази у commit, па commit-ујемо са јасном поруком и гурнемо грану на удаљени репозиторијум. Један commit треба да има једну намеру, а неповезане промене не иду у исти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Рад на ставци почиње одвајањем нове гране од главне гране. На feature грани настаје неколико малих commit-а: правило, тест и дорада после прегледа. Када је рад спреман, отвара се Pull Request, у коме тим прегледа измену, а аутоматска провера потврђује да build и тестови пролазе. Тек тада се грана спаја у main. За то време остали чланови тима настављају свој рад, па главна грана остаје стабилна.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Request је место где тим прегледа измену пре спајања. Рецензент поставља четири питања: да ли промена решава тачно ставку на коју се позива, да ли поштује договорене архитектонске границе, да ли постоји доказ провере и који су ризици. Коментари у прегледу треба да буду образложени, јер постају део историје пројекта.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Конфликт настаје када две гране мењају исти део кода. Прво ажурирамо главну грану, затим је спојимо у своју feature грану и ту решимо конфликт. Кључно није техничко брисање ознака конфликта, већ договор тима о томе које понашање мора да остане. После commit-а обавезно покрећемо тестове. Force push на дељеним гранама није уобичајен, јер брише туђу историју.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Када се све повеже, пут је следећи: прича у backlog-у даје опис, грана издваја рад, commit-и бележе намеру сваке промене, Pull Request обезбеђује преглед, а Done представља доказ да је ставка испуњена. На сваком кораку остаје траг који се може проверити на одбрани.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Последњи део повезује све претходно са обавезама на пројекту: шта се проверава на првој контролној тачки, како одговорно користити AI алате, шта тим проверава пре предаје, који су најчешћи пропусти и шта треба припремити за наредну вежбу.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Прва контролна тачка је у термину четврте вежбе и носи највише 10 поена. Поред организације рада, приказују се основни доменски модел и границе свих додељених целина, најмање један извршив функционални ток и аутоматизовани тест значајног правила. Проверава се да ли репозиторијум постоји, има README и да ли сви чланови тима имају приступ, да ли је backlog у алату Tapiz Boards са приоритетима и критеријумима прихватања, да ли постоји бар један Pull Request са прегледом и образложеним коментарима и да ли тим има договорен ток рада од backlog-а до завршене ставке.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Употреба AI алата је дозвољена, али студент мора јасно да разграничи сопствени рад, рад осталих чланова тима и садржај добијен од спољних алата. Доказ рада су репозиторијум са историјом измена, тестови и документација, евиденција употребе AI алата и, најважније, способност да студент самостално образложи решење.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 него што се ставка означи као завршена, тим пролази кроз пет питања: да ли је ставка повезана са граном или Pull Request-ом, да ли критеријуми имају видљиву проверу, да ли diff садржи само релевантне измене, да ли је главна грана стабилна и да ли сваки члан може да објасни свој допринос. Последње питање је посебно важно за одбрану.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Четири пропуста се најчешће понављају. Прича у којој није јасно ко добија вредност. Ставка без критеријума, па се не зна када је завршена. Превелик Pull Request, у коме преглед губи фокус. И рад без доказа, без теста, diff-а или објашњења. Сваки од њих прекида следљивост од захтева до интегрисане промене.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Ако из ове вежбе треба запамтити једну реченицу, то је ова: професионалан тимски рад почиње када се сваки захтев може пратити до кода, теста, прегледа и интеграције. Све што смо данас поставили, прича, backlog, табла, гране и Pull Request, основа је за наредне вежбе.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 наредну вежбу сваки студент пише корисничку причу за једну ставку из домена свог пројекта, додаје успешне, негативне и граничне критеријуме прихватања, уводи ставку у ток на табли и ради преко feature гране, отвара Pull Request са доказом провере и спрема се да објасни цео пут од захтева до интегрисане промене. То је уједно припрема за прву контролну тачку.</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2.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slideLayout" Target="../slideLayouts/slideLayout2.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255cc8eb653b4494" /><Relationship Type="http://schemas.openxmlformats.org/officeDocument/2006/relationships/notesSlide" Target="/ppt/notesSlides/notesSlide32.xml" Id="R38976cc340264ab7" /></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2.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2.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6a6c7aee330e4dd3" /><Relationship Type="http://schemas.openxmlformats.org/officeDocument/2006/relationships/image" Target="/ppt/media/image-37-1.png" Id="R588df93b5c864273" /><Relationship Type="http://schemas.openxmlformats.org/officeDocument/2006/relationships/notesSlide" Target="/ppt/notesSlides/notesSlide37.xml" Id="R166d4f6516bd4e80"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тока: корисничка прича са критеријумима прихватања, Git граф са feature граном која се спаја у главну грану и Pull Request са успешним проверама">    </p:cNvPr>
          <p:cNvPicPr>
            <a:picLocks noChangeAspect="1"/>
          </p:cNvPicPr>
          <p:nvPr/>
        </p:nvPicPr>
        <p:blipFill>
          <a:blip r:embed="rId1"/>
          <a:srcRect l="0" r="0" t="0" b="0"/>
          <a:stretch/>
        </p:blipFill>
        <p:spPr>
          <a:xfrm>
            <a:off x="7848600" y="1206500"/>
            <a:ext cx="3530600" cy="34671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0E6E68"/>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0E6E68"/>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25214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Захтеви, backlog, Git и тимски развој</a:t>
            </a:r>
            <a:endParaRPr lang="en-US" sz="4600" dirty="0"/>
          </a:p>
        </p:txBody>
      </p:sp>
      <p:sp>
        <p:nvSpPr>
          <p:cNvPr id="5" name="Text 2"/>
          <p:cNvSpPr/>
          <p:nvPr/>
        </p:nvSpPr>
        <p:spPr>
          <a:xfrm>
            <a:off x="812800" y="285234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Од захтева и backlog ставке до проверене промене у репозиторијуму.</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Садржај презентације</a:t>
            </a:r>
            <a:endParaRPr lang="en-US" sz="3000" dirty="0"/>
          </a:p>
        </p:txBody>
      </p:sp>
      <p:sp>
        <p:nvSpPr>
          <p:cNvPr id="5" name="Shape 3"/>
          <p:cNvSpPr/>
          <p:nvPr/>
        </p:nvSpPr>
        <p:spPr>
          <a:xfrm>
            <a:off x="815975" y="1676995"/>
            <a:ext cx="2005310" cy="2543572"/>
          </a:xfrm>
          <a:prstGeom prst="roundRect">
            <a:avLst>
              <a:gd name="adj" fmla="val 4908"/>
            </a:avLst>
          </a:prstGeom>
          <a:solidFill>
            <a:srgbClr val="FCFCFB"/>
          </a:solidFill>
          <a:ln w="6350">
            <a:solidFill>
              <a:srgbClr val="D3DAE1"/>
            </a:solidFill>
            <a:prstDash val="solid"/>
          </a:ln>
        </p:spPr>
      </p:sp>
      <p:sp>
        <p:nvSpPr>
          <p:cNvPr id="6" name="Shape 4"/>
          <p:cNvSpPr/>
          <p:nvPr/>
        </p:nvSpPr>
        <p:spPr>
          <a:xfrm>
            <a:off x="996950" y="1857970"/>
            <a:ext cx="355600" cy="38100"/>
          </a:xfrm>
          <a:prstGeom prst="roundRect">
            <a:avLst>
              <a:gd name="adj" fmla="val 50000"/>
            </a:avLst>
          </a:prstGeom>
          <a:solidFill>
            <a:srgbClr val="0E6E68"/>
          </a:solidFill>
          <a:ln/>
        </p:spPr>
      </p:sp>
      <p:sp>
        <p:nvSpPr>
          <p:cNvPr id="7" name="Text 5"/>
          <p:cNvSpPr/>
          <p:nvPr/>
        </p:nvSpPr>
        <p:spPr>
          <a:xfrm>
            <a:off x="99695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E6E68"/>
                </a:solidFill>
                <a:latin typeface="IBM Plex Mono" pitchFamily="49" charset="0"/>
                <a:ea typeface="IBM Plex Mono" pitchFamily="49" charset="-122"/>
                <a:cs typeface="IBM Plex Mono" pitchFamily="49" charset="-120"/>
              </a:rPr>
              <a:t>01</a:t>
            </a:r>
            <a:endParaRPr lang="en-US" sz="3000" dirty="0"/>
          </a:p>
        </p:txBody>
      </p:sp>
      <p:sp>
        <p:nvSpPr>
          <p:cNvPr id="8" name="Text 6"/>
          <p:cNvSpPr/>
          <p:nvPr/>
        </p:nvSpPr>
        <p:spPr>
          <a:xfrm>
            <a:off x="99695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Agile и Scrum</a:t>
            </a:r>
            <a:endParaRPr lang="en-US" sz="1400" dirty="0"/>
          </a:p>
        </p:txBody>
      </p:sp>
      <p:sp>
        <p:nvSpPr>
          <p:cNvPr id="9" name="Text 7"/>
          <p:cNvSpPr/>
          <p:nvPr/>
        </p:nvSpPr>
        <p:spPr>
          <a:xfrm>
            <a:off x="99695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Вредности, улоге, Sprint, Daily Scrum, артефакти, Ready и Done.</a:t>
            </a:r>
            <a:endParaRPr lang="en-US" sz="1200" dirty="0"/>
          </a:p>
        </p:txBody>
      </p:sp>
      <p:sp>
        <p:nvSpPr>
          <p:cNvPr id="10" name="Text 8"/>
          <p:cNvSpPr/>
          <p:nvPr/>
        </p:nvSpPr>
        <p:spPr>
          <a:xfrm>
            <a:off x="99695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04–12</a:t>
            </a:r>
            <a:endParaRPr lang="en-US" sz="1200" dirty="0"/>
          </a:p>
        </p:txBody>
      </p:sp>
      <p:sp>
        <p:nvSpPr>
          <p:cNvPr id="11" name="Shape 9"/>
          <p:cNvSpPr/>
          <p:nvPr/>
        </p:nvSpPr>
        <p:spPr>
          <a:xfrm>
            <a:off x="2954635" y="1676995"/>
            <a:ext cx="2005409" cy="2543572"/>
          </a:xfrm>
          <a:prstGeom prst="roundRect">
            <a:avLst>
              <a:gd name="adj" fmla="val 4908"/>
            </a:avLst>
          </a:prstGeom>
          <a:solidFill>
            <a:srgbClr val="FCFCFB"/>
          </a:solidFill>
          <a:ln w="6350">
            <a:solidFill>
              <a:srgbClr val="D3DAE1"/>
            </a:solidFill>
            <a:prstDash val="solid"/>
          </a:ln>
        </p:spPr>
      </p:sp>
      <p:sp>
        <p:nvSpPr>
          <p:cNvPr id="12" name="Shape 10"/>
          <p:cNvSpPr/>
          <p:nvPr/>
        </p:nvSpPr>
        <p:spPr>
          <a:xfrm>
            <a:off x="3135610" y="1857970"/>
            <a:ext cx="355600" cy="38100"/>
          </a:xfrm>
          <a:prstGeom prst="roundRect">
            <a:avLst>
              <a:gd name="adj" fmla="val 50000"/>
            </a:avLst>
          </a:prstGeom>
          <a:solidFill>
            <a:srgbClr val="0E6E68"/>
          </a:solidFill>
          <a:ln/>
        </p:spPr>
      </p:sp>
      <p:sp>
        <p:nvSpPr>
          <p:cNvPr id="13" name="Text 11"/>
          <p:cNvSpPr/>
          <p:nvPr/>
        </p:nvSpPr>
        <p:spPr>
          <a:xfrm>
            <a:off x="3135610" y="1984970"/>
            <a:ext cx="1694259"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E6E68"/>
                </a:solidFill>
                <a:latin typeface="IBM Plex Mono" pitchFamily="49" charset="0"/>
                <a:ea typeface="IBM Plex Mono" pitchFamily="49" charset="-122"/>
                <a:cs typeface="IBM Plex Mono" pitchFamily="49" charset="-120"/>
              </a:rPr>
              <a:t>02</a:t>
            </a:r>
            <a:endParaRPr lang="en-US" sz="3000" dirty="0"/>
          </a:p>
        </p:txBody>
      </p:sp>
      <p:sp>
        <p:nvSpPr>
          <p:cNvPr id="14" name="Text 12"/>
          <p:cNvSpPr/>
          <p:nvPr/>
        </p:nvSpPr>
        <p:spPr>
          <a:xfrm>
            <a:off x="3135610" y="2492970"/>
            <a:ext cx="16942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Захтеви</a:t>
            </a:r>
            <a:endParaRPr lang="en-US" sz="1400" dirty="0"/>
          </a:p>
        </p:txBody>
      </p:sp>
      <p:sp>
        <p:nvSpPr>
          <p:cNvPr id="15" name="Text 13"/>
          <p:cNvSpPr/>
          <p:nvPr/>
        </p:nvSpPr>
        <p:spPr>
          <a:xfrm>
            <a:off x="3135610" y="2795191"/>
            <a:ext cx="16942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Корисничка прича, INVEST, критеријуми прихватања и Given–When–Then.</a:t>
            </a:r>
            <a:endParaRPr lang="en-US" sz="1200" dirty="0"/>
          </a:p>
        </p:txBody>
      </p:sp>
      <p:sp>
        <p:nvSpPr>
          <p:cNvPr id="16" name="Text 14"/>
          <p:cNvSpPr/>
          <p:nvPr/>
        </p:nvSpPr>
        <p:spPr>
          <a:xfrm>
            <a:off x="3135610" y="3826272"/>
            <a:ext cx="1694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13–17</a:t>
            </a:r>
            <a:endParaRPr lang="en-US" sz="1200" dirty="0"/>
          </a:p>
        </p:txBody>
      </p:sp>
      <p:sp>
        <p:nvSpPr>
          <p:cNvPr id="17" name="Shape 15"/>
          <p:cNvSpPr/>
          <p:nvPr/>
        </p:nvSpPr>
        <p:spPr>
          <a:xfrm>
            <a:off x="5093395" y="1676995"/>
            <a:ext cx="2005310" cy="2543572"/>
          </a:xfrm>
          <a:prstGeom prst="roundRect">
            <a:avLst>
              <a:gd name="adj" fmla="val 4908"/>
            </a:avLst>
          </a:prstGeom>
          <a:solidFill>
            <a:srgbClr val="FCFCFB"/>
          </a:solidFill>
          <a:ln w="6350">
            <a:solidFill>
              <a:srgbClr val="D3DAE1"/>
            </a:solidFill>
            <a:prstDash val="solid"/>
          </a:ln>
        </p:spPr>
      </p:sp>
      <p:sp>
        <p:nvSpPr>
          <p:cNvPr id="18" name="Shape 16"/>
          <p:cNvSpPr/>
          <p:nvPr/>
        </p:nvSpPr>
        <p:spPr>
          <a:xfrm>
            <a:off x="5274370" y="1857970"/>
            <a:ext cx="355600" cy="38100"/>
          </a:xfrm>
          <a:prstGeom prst="roundRect">
            <a:avLst>
              <a:gd name="adj" fmla="val 50000"/>
            </a:avLst>
          </a:prstGeom>
          <a:solidFill>
            <a:srgbClr val="0E6E68"/>
          </a:solidFill>
          <a:ln/>
        </p:spPr>
      </p:sp>
      <p:sp>
        <p:nvSpPr>
          <p:cNvPr id="19" name="Text 17"/>
          <p:cNvSpPr/>
          <p:nvPr/>
        </p:nvSpPr>
        <p:spPr>
          <a:xfrm>
            <a:off x="527437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E6E68"/>
                </a:solidFill>
                <a:latin typeface="IBM Plex Mono" pitchFamily="49" charset="0"/>
                <a:ea typeface="IBM Plex Mono" pitchFamily="49" charset="-122"/>
                <a:cs typeface="IBM Plex Mono" pitchFamily="49" charset="-120"/>
              </a:rPr>
              <a:t>03</a:t>
            </a:r>
            <a:endParaRPr lang="en-US" sz="3000" dirty="0"/>
          </a:p>
        </p:txBody>
      </p:sp>
      <p:sp>
        <p:nvSpPr>
          <p:cNvPr id="20" name="Text 18"/>
          <p:cNvSpPr/>
          <p:nvPr/>
        </p:nvSpPr>
        <p:spPr>
          <a:xfrm>
            <a:off x="527437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Backlog и табла</a:t>
            </a:r>
            <a:endParaRPr lang="en-US" sz="1400" dirty="0"/>
          </a:p>
        </p:txBody>
      </p:sp>
      <p:sp>
        <p:nvSpPr>
          <p:cNvPr id="21" name="Text 19"/>
          <p:cNvSpPr/>
          <p:nvPr/>
        </p:nvSpPr>
        <p:spPr>
          <a:xfrm>
            <a:off x="527437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Садржај ставке, разлагање задатка, стања рада и Tapiz Boards.</a:t>
            </a:r>
            <a:endParaRPr lang="en-US" sz="1200" dirty="0"/>
          </a:p>
        </p:txBody>
      </p:sp>
      <p:sp>
        <p:nvSpPr>
          <p:cNvPr id="22" name="Text 20"/>
          <p:cNvSpPr/>
          <p:nvPr/>
        </p:nvSpPr>
        <p:spPr>
          <a:xfrm>
            <a:off x="527437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18–22</a:t>
            </a:r>
            <a:endParaRPr lang="en-US" sz="1200" dirty="0"/>
          </a:p>
        </p:txBody>
      </p:sp>
      <p:sp>
        <p:nvSpPr>
          <p:cNvPr id="23" name="Shape 21"/>
          <p:cNvSpPr/>
          <p:nvPr/>
        </p:nvSpPr>
        <p:spPr>
          <a:xfrm>
            <a:off x="7232055" y="1676995"/>
            <a:ext cx="2005310" cy="2543572"/>
          </a:xfrm>
          <a:prstGeom prst="roundRect">
            <a:avLst>
              <a:gd name="adj" fmla="val 4908"/>
            </a:avLst>
          </a:prstGeom>
          <a:solidFill>
            <a:srgbClr val="FCFCFB"/>
          </a:solidFill>
          <a:ln w="6350">
            <a:solidFill>
              <a:srgbClr val="D3DAE1"/>
            </a:solidFill>
            <a:prstDash val="solid"/>
          </a:ln>
        </p:spPr>
      </p:sp>
      <p:sp>
        <p:nvSpPr>
          <p:cNvPr id="24" name="Shape 22"/>
          <p:cNvSpPr/>
          <p:nvPr/>
        </p:nvSpPr>
        <p:spPr>
          <a:xfrm>
            <a:off x="7413030" y="1857970"/>
            <a:ext cx="355600" cy="38100"/>
          </a:xfrm>
          <a:prstGeom prst="roundRect">
            <a:avLst>
              <a:gd name="adj" fmla="val 50000"/>
            </a:avLst>
          </a:prstGeom>
          <a:solidFill>
            <a:srgbClr val="0E6E68"/>
          </a:solidFill>
          <a:ln/>
        </p:spPr>
      </p:sp>
      <p:sp>
        <p:nvSpPr>
          <p:cNvPr id="25" name="Text 23"/>
          <p:cNvSpPr/>
          <p:nvPr/>
        </p:nvSpPr>
        <p:spPr>
          <a:xfrm>
            <a:off x="741303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E6E68"/>
                </a:solidFill>
                <a:latin typeface="IBM Plex Mono" pitchFamily="49" charset="0"/>
                <a:ea typeface="IBM Plex Mono" pitchFamily="49" charset="-122"/>
                <a:cs typeface="IBM Plex Mono" pitchFamily="49" charset="-120"/>
              </a:rPr>
              <a:t>04</a:t>
            </a:r>
            <a:endParaRPr lang="en-US" sz="3000" dirty="0"/>
          </a:p>
        </p:txBody>
      </p:sp>
      <p:sp>
        <p:nvSpPr>
          <p:cNvPr id="26" name="Text 24"/>
          <p:cNvSpPr/>
          <p:nvPr/>
        </p:nvSpPr>
        <p:spPr>
          <a:xfrm>
            <a:off x="741303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Git</a:t>
            </a:r>
            <a:endParaRPr lang="en-US" sz="1400" dirty="0"/>
          </a:p>
        </p:txBody>
      </p:sp>
      <p:sp>
        <p:nvSpPr>
          <p:cNvPr id="27" name="Text 25"/>
          <p:cNvSpPr/>
          <p:nvPr/>
        </p:nvSpPr>
        <p:spPr>
          <a:xfrm>
            <a:off x="741303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Појмови, ток измене, гране, Pull Request, конфликти и интеграција.</a:t>
            </a:r>
            <a:endParaRPr lang="en-US" sz="1200" dirty="0"/>
          </a:p>
        </p:txBody>
      </p:sp>
      <p:sp>
        <p:nvSpPr>
          <p:cNvPr id="28" name="Text 26"/>
          <p:cNvSpPr/>
          <p:nvPr/>
        </p:nvSpPr>
        <p:spPr>
          <a:xfrm>
            <a:off x="741303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23–30</a:t>
            </a:r>
            <a:endParaRPr lang="en-US" sz="1200" dirty="0"/>
          </a:p>
        </p:txBody>
      </p:sp>
      <p:sp>
        <p:nvSpPr>
          <p:cNvPr id="29" name="Shape 27"/>
          <p:cNvSpPr/>
          <p:nvPr/>
        </p:nvSpPr>
        <p:spPr>
          <a:xfrm>
            <a:off x="9370715" y="1676995"/>
            <a:ext cx="2005310" cy="2543572"/>
          </a:xfrm>
          <a:prstGeom prst="roundRect">
            <a:avLst>
              <a:gd name="adj" fmla="val 4908"/>
            </a:avLst>
          </a:prstGeom>
          <a:solidFill>
            <a:srgbClr val="FCFCFB"/>
          </a:solidFill>
          <a:ln w="6350">
            <a:solidFill>
              <a:srgbClr val="D3DAE1"/>
            </a:solidFill>
            <a:prstDash val="solid"/>
          </a:ln>
        </p:spPr>
      </p:sp>
      <p:sp>
        <p:nvSpPr>
          <p:cNvPr id="30" name="Shape 28"/>
          <p:cNvSpPr/>
          <p:nvPr/>
        </p:nvSpPr>
        <p:spPr>
          <a:xfrm>
            <a:off x="9551690" y="1857970"/>
            <a:ext cx="355600" cy="38100"/>
          </a:xfrm>
          <a:prstGeom prst="roundRect">
            <a:avLst>
              <a:gd name="adj" fmla="val 50000"/>
            </a:avLst>
          </a:prstGeom>
          <a:solidFill>
            <a:srgbClr val="E07B1F"/>
          </a:solidFill>
          <a:ln/>
        </p:spPr>
      </p:sp>
      <p:sp>
        <p:nvSpPr>
          <p:cNvPr id="31" name="Text 29"/>
          <p:cNvSpPr/>
          <p:nvPr/>
        </p:nvSpPr>
        <p:spPr>
          <a:xfrm>
            <a:off x="955169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E6E68"/>
                </a:solidFill>
                <a:latin typeface="IBM Plex Mono" pitchFamily="49" charset="0"/>
                <a:ea typeface="IBM Plex Mono" pitchFamily="49" charset="-122"/>
                <a:cs typeface="IBM Plex Mono" pitchFamily="49" charset="-120"/>
              </a:rPr>
              <a:t>05</a:t>
            </a:r>
            <a:endParaRPr lang="en-US" sz="3000" dirty="0"/>
          </a:p>
        </p:txBody>
      </p:sp>
      <p:sp>
        <p:nvSpPr>
          <p:cNvPr id="32" name="Text 30"/>
          <p:cNvSpPr/>
          <p:nvPr/>
        </p:nvSpPr>
        <p:spPr>
          <a:xfrm>
            <a:off x="955169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Предаја и КТ1</a:t>
            </a:r>
            <a:endParaRPr lang="en-US" sz="1400" dirty="0"/>
          </a:p>
        </p:txBody>
      </p:sp>
      <p:sp>
        <p:nvSpPr>
          <p:cNvPr id="33" name="Text 31"/>
          <p:cNvSpPr/>
          <p:nvPr/>
        </p:nvSpPr>
        <p:spPr>
          <a:xfrm>
            <a:off x="9551690" y="2795191"/>
            <a:ext cx="1694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Контролна тачка, AI алати, провера пре предаје и припрема.</a:t>
            </a:r>
            <a:endParaRPr lang="en-US" sz="1200" dirty="0"/>
          </a:p>
        </p:txBody>
      </p:sp>
      <p:sp>
        <p:nvSpPr>
          <p:cNvPr id="34" name="Text 32"/>
          <p:cNvSpPr/>
          <p:nvPr/>
        </p:nvSpPr>
        <p:spPr>
          <a:xfrm>
            <a:off x="955169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31–37</a:t>
            </a:r>
            <a:endParaRPr lang="en-US" sz="1200" dirty="0"/>
          </a:p>
        </p:txBody>
      </p:sp>
      <p:sp>
        <p:nvSpPr>
          <p:cNvPr id="35" name="Text 33"/>
          <p:cNvSpPr/>
          <p:nvPr/>
        </p:nvSpPr>
        <p:spPr>
          <a:xfrm>
            <a:off x="812800" y="4477742"/>
            <a:ext cx="10566400" cy="416520"/>
          </a:xfrm>
          <a:prstGeom prst="roundRect">
            <a:avLst>
              <a:gd name="adj" fmla="val 18294"/>
            </a:avLst>
          </a:prstGeom>
          <a:solidFill>
            <a:srgbClr val="E2EBE9"/>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Увод</a:t>
            </a:r>
            <a:r>
              <a:rPr lang="en-US" sz="1200" dirty="0">
                <a:solidFill>
                  <a:srgbClr val="44505D"/>
                </a:solidFill>
                <a:latin typeface="IBM Plex Sans" pitchFamily="34" charset="0"/>
                <a:ea typeface="IBM Plex Sans" pitchFamily="34" charset="-122"/>
                <a:cs typeface="IBM Plex Sans" pitchFamily="34" charset="-120"/>
              </a:rPr>
              <a:t> · развојни ток од захтева до интеграције (03)</a:t>
            </a:r>
            <a:endParaRPr lang="en-US" sz="12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Развојни ток од захтева до интеграције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Захтев, планирање рада и Git чине повезан процес.</a:t>
            </a:r>
            <a:endParaRPr lang="en-US" sz="1400" dirty="0"/>
          </a:p>
        </p:txBody>
      </p:sp>
      <p:sp>
        <p:nvSpPr>
          <p:cNvPr id="6" name="Shape 4"/>
          <p:cNvSpPr/>
          <p:nvPr/>
        </p:nvSpPr>
        <p:spPr>
          <a:xfrm>
            <a:off x="815975" y="2179836"/>
            <a:ext cx="1784350" cy="1494631"/>
          </a:xfrm>
          <a:prstGeom prst="roundRect">
            <a:avLst>
              <a:gd name="adj" fmla="val 6585"/>
            </a:avLst>
          </a:prstGeom>
          <a:solidFill>
            <a:srgbClr val="FCFCFB"/>
          </a:solidFill>
          <a:ln w="6350">
            <a:solidFill>
              <a:srgbClr val="D3DAE1"/>
            </a:solidFill>
            <a:prstDash val="solid"/>
          </a:ln>
        </p:spPr>
      </p:sp>
      <p:sp>
        <p:nvSpPr>
          <p:cNvPr id="7" name="Shape 5"/>
          <p:cNvSpPr/>
          <p:nvPr/>
        </p:nvSpPr>
        <p:spPr>
          <a:xfrm>
            <a:off x="971550" y="2348111"/>
            <a:ext cx="355600" cy="355600"/>
          </a:xfrm>
          <a:prstGeom prst="roundRect">
            <a:avLst>
              <a:gd name="adj" fmla="val 21429"/>
            </a:avLst>
          </a:prstGeom>
          <a:solidFill>
            <a:srgbClr val="DDEBEA"/>
          </a:solidFill>
          <a:ln/>
        </p:spPr>
      </p:sp>
      <p:pic>
        <p:nvPicPr>
          <p:cNvPr id="8" name="Image 0" descr="Users">    </p:cNvPr>
          <p:cNvPicPr>
            <a:picLocks noChangeAspect="1"/>
          </p:cNvPicPr>
          <p:nvPr/>
        </p:nvPicPr>
        <p:blipFill>
          <a:blip r:embed="rId1"/>
          <a:srcRect l="0" r="0" t="0" b="0"/>
          <a:stretch/>
        </p:blipFill>
        <p:spPr>
          <a:xfrm>
            <a:off x="1047750" y="2424311"/>
            <a:ext cx="203200" cy="203200"/>
          </a:xfrm>
          <a:prstGeom prst="rect">
            <a:avLst/>
          </a:prstGeom>
        </p:spPr>
      </p:pic>
      <p:sp>
        <p:nvSpPr>
          <p:cNvPr id="9" name="Text 6"/>
          <p:cNvSpPr/>
          <p:nvPr/>
        </p:nvSpPr>
        <p:spPr>
          <a:xfrm>
            <a:off x="9715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Потреба</a:t>
            </a:r>
            <a:endParaRPr lang="en-US" sz="1400" dirty="0"/>
          </a:p>
        </p:txBody>
      </p:sp>
      <p:sp>
        <p:nvSpPr>
          <p:cNvPr id="10" name="Text 7"/>
          <p:cNvSpPr/>
          <p:nvPr/>
        </p:nvSpPr>
        <p:spPr>
          <a:xfrm>
            <a:off x="971550" y="3094831"/>
            <a:ext cx="15240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корисничка вредност</a:t>
            </a:r>
            <a:endParaRPr lang="en-US" sz="1200" dirty="0"/>
          </a:p>
        </p:txBody>
      </p:sp>
      <p:pic>
        <p:nvPicPr>
          <p:cNvPr id="11" name="Image 1" descr="arrow-right">    </p:cNvPr>
          <p:cNvPicPr>
            <a:picLocks noChangeAspect="1"/>
          </p:cNvPicPr>
          <p:nvPr/>
        </p:nvPicPr>
        <p:blipFill>
          <a:blip r:embed="rId2"/>
          <a:srcRect l="0" r="0" t="0" b="0"/>
          <a:stretch/>
        </p:blipFill>
        <p:spPr>
          <a:xfrm>
            <a:off x="2692400" y="2870002"/>
            <a:ext cx="228600" cy="114300"/>
          </a:xfrm>
          <a:prstGeom prst="rect">
            <a:avLst/>
          </a:prstGeom>
        </p:spPr>
      </p:pic>
      <p:sp>
        <p:nvSpPr>
          <p:cNvPr id="12" name="Shape 8"/>
          <p:cNvSpPr/>
          <p:nvPr/>
        </p:nvSpPr>
        <p:spPr>
          <a:xfrm>
            <a:off x="3013075" y="2179836"/>
            <a:ext cx="1784350" cy="1494631"/>
          </a:xfrm>
          <a:prstGeom prst="roundRect">
            <a:avLst>
              <a:gd name="adj" fmla="val 6585"/>
            </a:avLst>
          </a:prstGeom>
          <a:solidFill>
            <a:srgbClr val="FCFCFB"/>
          </a:solidFill>
          <a:ln w="6350">
            <a:solidFill>
              <a:srgbClr val="D3DAE1"/>
            </a:solidFill>
            <a:prstDash val="solid"/>
          </a:ln>
        </p:spPr>
      </p:sp>
      <p:sp>
        <p:nvSpPr>
          <p:cNvPr id="13" name="Shape 9"/>
          <p:cNvSpPr/>
          <p:nvPr/>
        </p:nvSpPr>
        <p:spPr>
          <a:xfrm>
            <a:off x="3168650" y="2348111"/>
            <a:ext cx="355600" cy="355600"/>
          </a:xfrm>
          <a:prstGeom prst="roundRect">
            <a:avLst>
              <a:gd name="adj" fmla="val 21429"/>
            </a:avLst>
          </a:prstGeom>
          <a:solidFill>
            <a:srgbClr val="DDEBEA"/>
          </a:solidFill>
          <a:ln/>
        </p:spPr>
      </p:sp>
      <p:pic>
        <p:nvPicPr>
          <p:cNvPr id="14" name="Image 2" descr="Book">    </p:cNvPr>
          <p:cNvPicPr>
            <a:picLocks noChangeAspect="1"/>
          </p:cNvPicPr>
          <p:nvPr/>
        </p:nvPicPr>
        <p:blipFill>
          <a:blip r:embed="rId3"/>
          <a:srcRect l="0" r="0" t="0" b="0"/>
          <a:stretch/>
        </p:blipFill>
        <p:spPr>
          <a:xfrm>
            <a:off x="3244850" y="2424311"/>
            <a:ext cx="203200" cy="203200"/>
          </a:xfrm>
          <a:prstGeom prst="rect">
            <a:avLst/>
          </a:prstGeom>
        </p:spPr>
      </p:pic>
      <p:sp>
        <p:nvSpPr>
          <p:cNvPr id="15" name="Text 10"/>
          <p:cNvSpPr/>
          <p:nvPr/>
        </p:nvSpPr>
        <p:spPr>
          <a:xfrm>
            <a:off x="31686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Backlog</a:t>
            </a:r>
            <a:endParaRPr lang="en-US" sz="1400" dirty="0"/>
          </a:p>
        </p:txBody>
      </p:sp>
      <p:sp>
        <p:nvSpPr>
          <p:cNvPr id="16" name="Text 11"/>
          <p:cNvSpPr/>
          <p:nvPr/>
        </p:nvSpPr>
        <p:spPr>
          <a:xfrm>
            <a:off x="31686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опис и критеријуми</a:t>
            </a:r>
            <a:endParaRPr lang="en-US" sz="1200" dirty="0"/>
          </a:p>
        </p:txBody>
      </p:sp>
      <p:pic>
        <p:nvPicPr>
          <p:cNvPr id="17" name="Image 3" descr="arrow-right">    </p:cNvPr>
          <p:cNvPicPr>
            <a:picLocks noChangeAspect="1"/>
          </p:cNvPicPr>
          <p:nvPr/>
        </p:nvPicPr>
        <p:blipFill>
          <a:blip r:embed="rId4"/>
          <a:srcRect l="0" r="0" t="0" b="0"/>
          <a:stretch/>
        </p:blipFill>
        <p:spPr>
          <a:xfrm>
            <a:off x="4889500" y="2870002"/>
            <a:ext cx="228600" cy="114300"/>
          </a:xfrm>
          <a:prstGeom prst="rect">
            <a:avLst/>
          </a:prstGeom>
        </p:spPr>
      </p:pic>
      <p:sp>
        <p:nvSpPr>
          <p:cNvPr id="18" name="Shape 12"/>
          <p:cNvSpPr/>
          <p:nvPr/>
        </p:nvSpPr>
        <p:spPr>
          <a:xfrm>
            <a:off x="5210175" y="2179836"/>
            <a:ext cx="1784350" cy="1494631"/>
          </a:xfrm>
          <a:prstGeom prst="roundRect">
            <a:avLst>
              <a:gd name="adj" fmla="val 6585"/>
            </a:avLst>
          </a:prstGeom>
          <a:solidFill>
            <a:srgbClr val="FCFCFB"/>
          </a:solidFill>
          <a:ln w="6350">
            <a:solidFill>
              <a:srgbClr val="D3DAE1"/>
            </a:solidFill>
            <a:prstDash val="solid"/>
          </a:ln>
        </p:spPr>
      </p:sp>
      <p:sp>
        <p:nvSpPr>
          <p:cNvPr id="19" name="Shape 13"/>
          <p:cNvSpPr/>
          <p:nvPr/>
        </p:nvSpPr>
        <p:spPr>
          <a:xfrm>
            <a:off x="5365750" y="2348111"/>
            <a:ext cx="355600" cy="355600"/>
          </a:xfrm>
          <a:prstGeom prst="roundRect">
            <a:avLst>
              <a:gd name="adj" fmla="val 21429"/>
            </a:avLst>
          </a:prstGeom>
          <a:solidFill>
            <a:srgbClr val="FBF1E6"/>
          </a:solidFill>
          <a:ln/>
        </p:spPr>
      </p:sp>
      <p:pic>
        <p:nvPicPr>
          <p:cNvPr id="20" name="Image 4" descr="Code">    </p:cNvPr>
          <p:cNvPicPr>
            <a:picLocks noChangeAspect="1"/>
          </p:cNvPicPr>
          <p:nvPr/>
        </p:nvPicPr>
        <p:blipFill>
          <a:blip r:embed="rId5"/>
          <a:srcRect l="0" r="0" t="0" b="0"/>
          <a:stretch/>
        </p:blipFill>
        <p:spPr>
          <a:xfrm>
            <a:off x="5441950" y="2424311"/>
            <a:ext cx="203200" cy="203200"/>
          </a:xfrm>
          <a:prstGeom prst="rect">
            <a:avLst/>
          </a:prstGeom>
        </p:spPr>
      </p:pic>
      <p:sp>
        <p:nvSpPr>
          <p:cNvPr id="21" name="Text 14"/>
          <p:cNvSpPr/>
          <p:nvPr/>
        </p:nvSpPr>
        <p:spPr>
          <a:xfrm>
            <a:off x="53657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Feature грана</a:t>
            </a:r>
            <a:endParaRPr lang="en-US" sz="1400" dirty="0"/>
          </a:p>
        </p:txBody>
      </p:sp>
      <p:sp>
        <p:nvSpPr>
          <p:cNvPr id="22" name="Text 15"/>
          <p:cNvSpPr/>
          <p:nvPr/>
        </p:nvSpPr>
        <p:spPr>
          <a:xfrm>
            <a:off x="53657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издвојена промена</a:t>
            </a:r>
            <a:endParaRPr lang="en-US" sz="1200" dirty="0"/>
          </a:p>
        </p:txBody>
      </p:sp>
      <p:pic>
        <p:nvPicPr>
          <p:cNvPr id="23" name="Image 5" descr="arrow-right">    </p:cNvPr>
          <p:cNvPicPr>
            <a:picLocks noChangeAspect="1"/>
          </p:cNvPicPr>
          <p:nvPr/>
        </p:nvPicPr>
        <p:blipFill>
          <a:blip r:embed="rId6"/>
          <a:srcRect l="0" r="0" t="0" b="0"/>
          <a:stretch/>
        </p:blipFill>
        <p:spPr>
          <a:xfrm>
            <a:off x="7086600" y="2870002"/>
            <a:ext cx="228600" cy="114300"/>
          </a:xfrm>
          <a:prstGeom prst="rect">
            <a:avLst/>
          </a:prstGeom>
        </p:spPr>
      </p:pic>
      <p:sp>
        <p:nvSpPr>
          <p:cNvPr id="24" name="Shape 16"/>
          <p:cNvSpPr/>
          <p:nvPr/>
        </p:nvSpPr>
        <p:spPr>
          <a:xfrm>
            <a:off x="7407275" y="2179836"/>
            <a:ext cx="1784350" cy="1494631"/>
          </a:xfrm>
          <a:prstGeom prst="roundRect">
            <a:avLst>
              <a:gd name="adj" fmla="val 6585"/>
            </a:avLst>
          </a:prstGeom>
          <a:solidFill>
            <a:srgbClr val="FCFCFB"/>
          </a:solidFill>
          <a:ln w="6350">
            <a:solidFill>
              <a:srgbClr val="D3DAE1"/>
            </a:solidFill>
            <a:prstDash val="solid"/>
          </a:ln>
        </p:spPr>
      </p:sp>
      <p:sp>
        <p:nvSpPr>
          <p:cNvPr id="25" name="Shape 17"/>
          <p:cNvSpPr/>
          <p:nvPr/>
        </p:nvSpPr>
        <p:spPr>
          <a:xfrm>
            <a:off x="7562850" y="2348111"/>
            <a:ext cx="355600" cy="355600"/>
          </a:xfrm>
          <a:prstGeom prst="roundRect">
            <a:avLst>
              <a:gd name="adj" fmla="val 21429"/>
            </a:avLst>
          </a:prstGeom>
          <a:solidFill>
            <a:srgbClr val="FBF1E6"/>
          </a:solidFill>
          <a:ln/>
        </p:spPr>
      </p:sp>
      <p:pic>
        <p:nvPicPr>
          <p:cNvPr id="26" name="Image 6" descr="Search">    </p:cNvPr>
          <p:cNvPicPr>
            <a:picLocks noChangeAspect="1"/>
          </p:cNvPicPr>
          <p:nvPr/>
        </p:nvPicPr>
        <p:blipFill>
          <a:blip r:embed="rId7"/>
          <a:srcRect l="0" r="0" t="0" b="0"/>
          <a:stretch/>
        </p:blipFill>
        <p:spPr>
          <a:xfrm>
            <a:off x="7639050" y="2424311"/>
            <a:ext cx="203200" cy="203200"/>
          </a:xfrm>
          <a:prstGeom prst="rect">
            <a:avLst/>
          </a:prstGeom>
        </p:spPr>
      </p:pic>
      <p:sp>
        <p:nvSpPr>
          <p:cNvPr id="27" name="Text 18"/>
          <p:cNvSpPr/>
          <p:nvPr/>
        </p:nvSpPr>
        <p:spPr>
          <a:xfrm>
            <a:off x="75628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Pull Request</a:t>
            </a:r>
            <a:endParaRPr lang="en-US" sz="1400" dirty="0"/>
          </a:p>
        </p:txBody>
      </p:sp>
      <p:sp>
        <p:nvSpPr>
          <p:cNvPr id="28" name="Text 19"/>
          <p:cNvSpPr/>
          <p:nvPr/>
        </p:nvSpPr>
        <p:spPr>
          <a:xfrm>
            <a:off x="75628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преглед и тестови</a:t>
            </a:r>
            <a:endParaRPr lang="en-US" sz="1200" dirty="0"/>
          </a:p>
        </p:txBody>
      </p:sp>
      <p:pic>
        <p:nvPicPr>
          <p:cNvPr id="29" name="Image 7" descr="arrow-right">    </p:cNvPr>
          <p:cNvPicPr>
            <a:picLocks noChangeAspect="1"/>
          </p:cNvPicPr>
          <p:nvPr/>
        </p:nvPicPr>
        <p:blipFill>
          <a:blip r:embed="rId8"/>
          <a:srcRect l="0" r="0" t="0" b="0"/>
          <a:stretch/>
        </p:blipFill>
        <p:spPr>
          <a:xfrm>
            <a:off x="9283700" y="2870002"/>
            <a:ext cx="228600" cy="114300"/>
          </a:xfrm>
          <a:prstGeom prst="rect">
            <a:avLst/>
          </a:prstGeom>
        </p:spPr>
      </p:pic>
      <p:sp>
        <p:nvSpPr>
          <p:cNvPr id="30" name="Shape 20"/>
          <p:cNvSpPr/>
          <p:nvPr/>
        </p:nvSpPr>
        <p:spPr>
          <a:xfrm>
            <a:off x="9601200" y="2176661"/>
            <a:ext cx="1778000" cy="1500981"/>
          </a:xfrm>
          <a:prstGeom prst="roundRect">
            <a:avLst>
              <a:gd name="adj" fmla="val 6769"/>
            </a:avLst>
          </a:prstGeom>
          <a:solidFill>
            <a:srgbClr val="0E6E68"/>
          </a:solidFill>
          <a:ln/>
        </p:spPr>
      </p:sp>
      <p:sp>
        <p:nvSpPr>
          <p:cNvPr id="31" name="Shape 21"/>
          <p:cNvSpPr/>
          <p:nvPr/>
        </p:nvSpPr>
        <p:spPr>
          <a:xfrm>
            <a:off x="9753600" y="2341761"/>
            <a:ext cx="355600" cy="355600"/>
          </a:xfrm>
          <a:prstGeom prst="roundRect">
            <a:avLst>
              <a:gd name="adj" fmla="val 21429"/>
            </a:avLst>
          </a:prstGeom>
          <a:solidFill>
            <a:srgbClr val="FCFCFB"/>
          </a:solidFill>
          <a:ln/>
        </p:spPr>
      </p:sp>
      <p:pic>
        <p:nvPicPr>
          <p:cNvPr id="32" name="Image 8" descr="CheckCircle">    </p:cNvPr>
          <p:cNvPicPr>
            <a:picLocks noChangeAspect="1"/>
          </p:cNvPicPr>
          <p:nvPr/>
        </p:nvPicPr>
        <p:blipFill>
          <a:blip r:embed="rId9"/>
          <a:srcRect l="0" r="0" t="0" b="0"/>
          <a:stretch/>
        </p:blipFill>
        <p:spPr>
          <a:xfrm>
            <a:off x="9829800" y="2417961"/>
            <a:ext cx="203200" cy="203200"/>
          </a:xfrm>
          <a:prstGeom prst="rect">
            <a:avLst/>
          </a:prstGeom>
        </p:spPr>
      </p:pic>
      <p:sp>
        <p:nvSpPr>
          <p:cNvPr id="33" name="Text 22"/>
          <p:cNvSpPr/>
          <p:nvPr/>
        </p:nvSpPr>
        <p:spPr>
          <a:xfrm>
            <a:off x="9753600" y="278626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Интеграција</a:t>
            </a:r>
            <a:endParaRPr lang="en-US" sz="1400" dirty="0"/>
          </a:p>
        </p:txBody>
      </p:sp>
      <p:sp>
        <p:nvSpPr>
          <p:cNvPr id="34" name="Text 23"/>
          <p:cNvSpPr/>
          <p:nvPr/>
        </p:nvSpPr>
        <p:spPr>
          <a:xfrm>
            <a:off x="9753600" y="308848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DEBEA"/>
                </a:solidFill>
                <a:latin typeface="IBM Plex Sans" pitchFamily="34" charset="0"/>
                <a:ea typeface="IBM Plex Sans" pitchFamily="34" charset="-122"/>
                <a:cs typeface="IBM Plex Sans" pitchFamily="34" charset="-120"/>
              </a:rPr>
              <a:t>проверена промена</a:t>
            </a:r>
            <a:endParaRPr lang="en-US" sz="1200" dirty="0"/>
          </a:p>
        </p:txBody>
      </p:sp>
      <p:sp>
        <p:nvSpPr>
          <p:cNvPr id="35" name="Shape 24"/>
          <p:cNvSpPr/>
          <p:nvPr/>
        </p:nvSpPr>
        <p:spPr>
          <a:xfrm>
            <a:off x="812800" y="3931642"/>
            <a:ext cx="10566400" cy="783530"/>
          </a:xfrm>
          <a:prstGeom prst="roundRect">
            <a:avLst>
              <a:gd name="adj" fmla="val 12967"/>
            </a:avLst>
          </a:prstGeom>
          <a:solidFill>
            <a:srgbClr val="E2EBE9"/>
          </a:solidFill>
          <a:ln/>
        </p:spPr>
      </p:sp>
      <p:sp>
        <p:nvSpPr>
          <p:cNvPr id="36" name="Shape 25"/>
          <p:cNvSpPr/>
          <p:nvPr/>
        </p:nvSpPr>
        <p:spPr>
          <a:xfrm>
            <a:off x="812800" y="393164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0E6E68"/>
          </a:solidFill>
          <a:ln/>
        </p:spPr>
      </p:sp>
      <p:sp>
        <p:nvSpPr>
          <p:cNvPr id="37" name="Text 26"/>
          <p:cNvSpPr/>
          <p:nvPr/>
        </p:nvSpPr>
        <p:spPr>
          <a:xfrm>
            <a:off x="1054100" y="408404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E68"/>
                </a:solidFill>
                <a:latin typeface="IBM Plex Mono" pitchFamily="49" charset="0"/>
                <a:ea typeface="IBM Plex Mono" pitchFamily="49" charset="-122"/>
                <a:cs typeface="IBM Plex Mono" pitchFamily="49" charset="-120"/>
              </a:rPr>
              <a:t>НАПОМЕНА</a:t>
            </a:r>
            <a:endParaRPr lang="en-US" sz="1200" dirty="0"/>
          </a:p>
        </p:txBody>
      </p:sp>
      <p:sp>
        <p:nvSpPr>
          <p:cNvPr id="38" name="Text 27"/>
          <p:cNvSpPr/>
          <p:nvPr/>
        </p:nvSpPr>
        <p:spPr>
          <a:xfrm>
            <a:off x="1054100" y="432276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Развојни ток повезује захтев, одлуке, имплементацију и доказе провере.</a:t>
            </a:r>
            <a:endParaRPr lang="en-US" sz="1400" dirty="0"/>
          </a:p>
        </p:txBody>
      </p:sp>
      <p:sp>
        <p:nvSpPr>
          <p:cNvPr id="39" name="Shape 28"/>
          <p:cNvSpPr/>
          <p:nvPr/>
        </p:nvSpPr>
        <p:spPr>
          <a:xfrm>
            <a:off x="812800" y="6209705"/>
            <a:ext cx="10566400" cy="0"/>
          </a:xfrm>
          <a:prstGeom prst="line">
            <a:avLst/>
          </a:prstGeom>
          <a:noFill/>
          <a:ln w="6350">
            <a:solidFill>
              <a:srgbClr val="D3DAE1"/>
            </a:solidFill>
            <a:prstDash val="solid"/>
          </a:ln>
        </p:spPr>
      </p:sp>
      <p:sp>
        <p:nvSpPr>
          <p:cNvPr id="40"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1"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2EBE9"/>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E6E68"/>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Agile и Scrum</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Вредности агилног развоја и Scrum оквир у коме тим планира, ради и редовно проверава резултат.</a:t>
            </a:r>
            <a:endParaRPr lang="en-US" sz="1400" dirty="0"/>
          </a:p>
        </p:txBody>
      </p:sp>
      <p:sp>
        <p:nvSpPr>
          <p:cNvPr id="6" name="Text 4"/>
          <p:cNvSpPr/>
          <p:nvPr/>
        </p:nvSpPr>
        <p:spPr>
          <a:xfrm>
            <a:off x="4270375" y="3915966"/>
            <a:ext cx="1399580"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Agile вредности</a:t>
            </a:r>
            <a:endParaRPr lang="en-US" sz="1200" dirty="0"/>
          </a:p>
        </p:txBody>
      </p:sp>
      <p:sp>
        <p:nvSpPr>
          <p:cNvPr id="7" name="Text 5"/>
          <p:cNvSpPr/>
          <p:nvPr/>
        </p:nvSpPr>
        <p:spPr>
          <a:xfrm>
            <a:off x="5752505" y="3915966"/>
            <a:ext cx="1169293"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Scrum оквир</a:t>
            </a:r>
            <a:endParaRPr lang="en-US" sz="1200" dirty="0"/>
          </a:p>
        </p:txBody>
      </p:sp>
      <p:sp>
        <p:nvSpPr>
          <p:cNvPr id="8" name="Text 6"/>
          <p:cNvSpPr/>
          <p:nvPr/>
        </p:nvSpPr>
        <p:spPr>
          <a:xfrm>
            <a:off x="7004348" y="3915966"/>
            <a:ext cx="660102"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Улоге</a:t>
            </a:r>
            <a:endParaRPr lang="en-US" sz="1200" dirty="0"/>
          </a:p>
        </p:txBody>
      </p:sp>
      <p:sp>
        <p:nvSpPr>
          <p:cNvPr id="9" name="Text 7"/>
          <p:cNvSpPr/>
          <p:nvPr/>
        </p:nvSpPr>
        <p:spPr>
          <a:xfrm>
            <a:off x="7747000" y="3915966"/>
            <a:ext cx="1450380"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Sprint и догађаји</a:t>
            </a:r>
            <a:endParaRPr lang="en-US" sz="1200" dirty="0"/>
          </a:p>
        </p:txBody>
      </p:sp>
      <p:sp>
        <p:nvSpPr>
          <p:cNvPr id="10" name="Text 8"/>
          <p:cNvSpPr/>
          <p:nvPr/>
        </p:nvSpPr>
        <p:spPr>
          <a:xfrm>
            <a:off x="9279930" y="3915966"/>
            <a:ext cx="1074837"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Daily Scrum</a:t>
            </a:r>
            <a:endParaRPr lang="en-US" sz="1200" dirty="0"/>
          </a:p>
        </p:txBody>
      </p:sp>
      <p:sp>
        <p:nvSpPr>
          <p:cNvPr id="11" name="Text 9"/>
          <p:cNvSpPr/>
          <p:nvPr/>
        </p:nvSpPr>
        <p:spPr>
          <a:xfrm>
            <a:off x="4270375" y="4319786"/>
            <a:ext cx="1987054"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Review и ретроспектива</a:t>
            </a:r>
            <a:endParaRPr lang="en-US" sz="1200" dirty="0"/>
          </a:p>
        </p:txBody>
      </p:sp>
      <p:sp>
        <p:nvSpPr>
          <p:cNvPr id="12" name="Text 10"/>
          <p:cNvSpPr/>
          <p:nvPr/>
        </p:nvSpPr>
        <p:spPr>
          <a:xfrm>
            <a:off x="6339979" y="4319786"/>
            <a:ext cx="1039316"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Артефакти</a:t>
            </a:r>
            <a:endParaRPr lang="en-US" sz="1200" dirty="0"/>
          </a:p>
        </p:txBody>
      </p:sp>
      <p:sp>
        <p:nvSpPr>
          <p:cNvPr id="13" name="Text 11"/>
          <p:cNvSpPr/>
          <p:nvPr/>
        </p:nvSpPr>
        <p:spPr>
          <a:xfrm>
            <a:off x="7461845" y="4319786"/>
            <a:ext cx="1204516"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Ready и Done</a:t>
            </a:r>
            <a:endParaRPr lang="en-US" sz="1200" dirty="0"/>
          </a:p>
        </p:txBody>
      </p:sp>
      <p:sp>
        <p:nvSpPr>
          <p:cNvPr id="14" name="Shape 12"/>
          <p:cNvSpPr/>
          <p:nvPr/>
        </p:nvSpPr>
        <p:spPr>
          <a:xfrm>
            <a:off x="812800" y="6209705"/>
            <a:ext cx="10566400" cy="0"/>
          </a:xfrm>
          <a:prstGeom prst="line">
            <a:avLst/>
          </a:prstGeom>
          <a:noFill/>
          <a:ln w="6350">
            <a:solidFill>
              <a:srgbClr val="AEC2C6"/>
            </a:solidFill>
            <a:prstDash val="solid"/>
          </a:ln>
        </p:spPr>
      </p:sp>
      <p:sp>
        <p:nvSpPr>
          <p:cNvPr id="15"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01 · AGILE И SCRUM</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Вредности агилног развоја</a:t>
            </a:r>
            <a:endParaRPr lang="en-US" sz="3000" dirty="0"/>
          </a:p>
        </p:txBody>
      </p:sp>
      <p:sp>
        <p:nvSpPr>
          <p:cNvPr id="5" name="Shape 3"/>
          <p:cNvSpPr/>
          <p:nvPr/>
        </p:nvSpPr>
        <p:spPr>
          <a:xfrm>
            <a:off x="815975" y="1651595"/>
            <a:ext cx="10560050" cy="544810"/>
          </a:xfrm>
          <a:prstGeom prst="roundRect">
            <a:avLst>
              <a:gd name="adj" fmla="val 15735"/>
            </a:avLst>
          </a:prstGeom>
          <a:solidFill>
            <a:srgbClr val="FCFCFB"/>
          </a:solidFill>
          <a:ln w="6350">
            <a:solidFill>
              <a:srgbClr val="D3DAE1"/>
            </a:solidFill>
            <a:prstDash val="solid"/>
          </a:ln>
        </p:spPr>
      </p:sp>
      <p:sp>
        <p:nvSpPr>
          <p:cNvPr id="6" name="Text 4"/>
          <p:cNvSpPr/>
          <p:nvPr/>
        </p:nvSpPr>
        <p:spPr>
          <a:xfrm>
            <a:off x="1022350" y="1781770"/>
            <a:ext cx="41859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Појединци и интеракције</a:t>
            </a:r>
            <a:endParaRPr lang="en-US" sz="1600" dirty="0"/>
          </a:p>
        </p:txBody>
      </p:sp>
      <p:sp>
        <p:nvSpPr>
          <p:cNvPr id="7" name="Text 5"/>
          <p:cNvSpPr/>
          <p:nvPr/>
        </p:nvSpPr>
        <p:spPr>
          <a:xfrm>
            <a:off x="5289550" y="181729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више од</a:t>
            </a:r>
            <a:endParaRPr lang="en-US" sz="1200" dirty="0"/>
          </a:p>
        </p:txBody>
      </p:sp>
      <p:sp>
        <p:nvSpPr>
          <p:cNvPr id="8" name="Text 6"/>
          <p:cNvSpPr/>
          <p:nvPr/>
        </p:nvSpPr>
        <p:spPr>
          <a:xfrm>
            <a:off x="6508750" y="1790601"/>
            <a:ext cx="48007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E6975"/>
                </a:solidFill>
                <a:latin typeface="IBM Plex Sans" pitchFamily="34" charset="0"/>
                <a:ea typeface="IBM Plex Sans" pitchFamily="34" charset="-122"/>
                <a:cs typeface="IBM Plex Sans" pitchFamily="34" charset="-120"/>
              </a:rPr>
              <a:t>процеса и алата</a:t>
            </a:r>
            <a:endParaRPr lang="en-US" sz="1500" dirty="0"/>
          </a:p>
        </p:txBody>
      </p:sp>
      <p:sp>
        <p:nvSpPr>
          <p:cNvPr id="9" name="Shape 7"/>
          <p:cNvSpPr/>
          <p:nvPr/>
        </p:nvSpPr>
        <p:spPr>
          <a:xfrm>
            <a:off x="815975" y="2278955"/>
            <a:ext cx="10560050" cy="544810"/>
          </a:xfrm>
          <a:prstGeom prst="roundRect">
            <a:avLst>
              <a:gd name="adj" fmla="val 15735"/>
            </a:avLst>
          </a:prstGeom>
          <a:solidFill>
            <a:srgbClr val="FCFCFB"/>
          </a:solidFill>
          <a:ln w="6350">
            <a:solidFill>
              <a:srgbClr val="D3DAE1"/>
            </a:solidFill>
            <a:prstDash val="solid"/>
          </a:ln>
        </p:spPr>
      </p:sp>
      <p:sp>
        <p:nvSpPr>
          <p:cNvPr id="10" name="Text 8"/>
          <p:cNvSpPr/>
          <p:nvPr/>
        </p:nvSpPr>
        <p:spPr>
          <a:xfrm>
            <a:off x="1022350" y="2409130"/>
            <a:ext cx="41859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Софтвер који ради</a:t>
            </a:r>
            <a:endParaRPr lang="en-US" sz="1600" dirty="0"/>
          </a:p>
        </p:txBody>
      </p:sp>
      <p:sp>
        <p:nvSpPr>
          <p:cNvPr id="11" name="Text 9"/>
          <p:cNvSpPr/>
          <p:nvPr/>
        </p:nvSpPr>
        <p:spPr>
          <a:xfrm>
            <a:off x="5289550" y="244465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више од</a:t>
            </a:r>
            <a:endParaRPr lang="en-US" sz="1200" dirty="0"/>
          </a:p>
        </p:txBody>
      </p:sp>
      <p:sp>
        <p:nvSpPr>
          <p:cNvPr id="12" name="Text 10"/>
          <p:cNvSpPr/>
          <p:nvPr/>
        </p:nvSpPr>
        <p:spPr>
          <a:xfrm>
            <a:off x="6508750" y="2417961"/>
            <a:ext cx="48007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E6975"/>
                </a:solidFill>
                <a:latin typeface="IBM Plex Sans" pitchFamily="34" charset="0"/>
                <a:ea typeface="IBM Plex Sans" pitchFamily="34" charset="-122"/>
                <a:cs typeface="IBM Plex Sans" pitchFamily="34" charset="-120"/>
              </a:rPr>
              <a:t>исцрпне документације</a:t>
            </a:r>
            <a:endParaRPr lang="en-US" sz="1500" dirty="0"/>
          </a:p>
        </p:txBody>
      </p:sp>
      <p:sp>
        <p:nvSpPr>
          <p:cNvPr id="13" name="Shape 11"/>
          <p:cNvSpPr/>
          <p:nvPr/>
        </p:nvSpPr>
        <p:spPr>
          <a:xfrm>
            <a:off x="815975" y="2906316"/>
            <a:ext cx="10560050" cy="544810"/>
          </a:xfrm>
          <a:prstGeom prst="roundRect">
            <a:avLst>
              <a:gd name="adj" fmla="val 15735"/>
            </a:avLst>
          </a:prstGeom>
          <a:solidFill>
            <a:srgbClr val="FCFCFB"/>
          </a:solidFill>
          <a:ln w="6350">
            <a:solidFill>
              <a:srgbClr val="D3DAE1"/>
            </a:solidFill>
            <a:prstDash val="solid"/>
          </a:ln>
        </p:spPr>
      </p:sp>
      <p:sp>
        <p:nvSpPr>
          <p:cNvPr id="14" name="Text 12"/>
          <p:cNvSpPr/>
          <p:nvPr/>
        </p:nvSpPr>
        <p:spPr>
          <a:xfrm>
            <a:off x="1022350" y="3036491"/>
            <a:ext cx="41859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Сарадња са корисником</a:t>
            </a:r>
            <a:endParaRPr lang="en-US" sz="1600" dirty="0"/>
          </a:p>
        </p:txBody>
      </p:sp>
      <p:sp>
        <p:nvSpPr>
          <p:cNvPr id="15" name="Text 13"/>
          <p:cNvSpPr/>
          <p:nvPr/>
        </p:nvSpPr>
        <p:spPr>
          <a:xfrm>
            <a:off x="5289550" y="307201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више од</a:t>
            </a:r>
            <a:endParaRPr lang="en-US" sz="1200" dirty="0"/>
          </a:p>
        </p:txBody>
      </p:sp>
      <p:sp>
        <p:nvSpPr>
          <p:cNvPr id="16" name="Text 14"/>
          <p:cNvSpPr/>
          <p:nvPr/>
        </p:nvSpPr>
        <p:spPr>
          <a:xfrm>
            <a:off x="6508750" y="3045321"/>
            <a:ext cx="48007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E6975"/>
                </a:solidFill>
                <a:latin typeface="IBM Plex Sans" pitchFamily="34" charset="0"/>
                <a:ea typeface="IBM Plex Sans" pitchFamily="34" charset="-122"/>
                <a:cs typeface="IBM Plex Sans" pitchFamily="34" charset="-120"/>
              </a:rPr>
              <a:t>преговарања о уговору</a:t>
            </a:r>
            <a:endParaRPr lang="en-US" sz="1500" dirty="0"/>
          </a:p>
        </p:txBody>
      </p:sp>
      <p:sp>
        <p:nvSpPr>
          <p:cNvPr id="17" name="Shape 15"/>
          <p:cNvSpPr/>
          <p:nvPr/>
        </p:nvSpPr>
        <p:spPr>
          <a:xfrm>
            <a:off x="815975" y="3533676"/>
            <a:ext cx="10560050" cy="544810"/>
          </a:xfrm>
          <a:prstGeom prst="roundRect">
            <a:avLst>
              <a:gd name="adj" fmla="val 15735"/>
            </a:avLst>
          </a:prstGeom>
          <a:solidFill>
            <a:srgbClr val="FCFCFB"/>
          </a:solidFill>
          <a:ln w="6350">
            <a:solidFill>
              <a:srgbClr val="D3DAE1"/>
            </a:solidFill>
            <a:prstDash val="solid"/>
          </a:ln>
        </p:spPr>
      </p:sp>
      <p:sp>
        <p:nvSpPr>
          <p:cNvPr id="18" name="Text 16"/>
          <p:cNvSpPr/>
          <p:nvPr/>
        </p:nvSpPr>
        <p:spPr>
          <a:xfrm>
            <a:off x="1022350" y="3663851"/>
            <a:ext cx="41859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Реаговање на промене</a:t>
            </a:r>
            <a:endParaRPr lang="en-US" sz="1600" dirty="0"/>
          </a:p>
        </p:txBody>
      </p:sp>
      <p:sp>
        <p:nvSpPr>
          <p:cNvPr id="19" name="Text 17"/>
          <p:cNvSpPr/>
          <p:nvPr/>
        </p:nvSpPr>
        <p:spPr>
          <a:xfrm>
            <a:off x="5289550" y="369937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више од</a:t>
            </a:r>
            <a:endParaRPr lang="en-US" sz="1200" dirty="0"/>
          </a:p>
        </p:txBody>
      </p:sp>
      <p:sp>
        <p:nvSpPr>
          <p:cNvPr id="20" name="Text 18"/>
          <p:cNvSpPr/>
          <p:nvPr/>
        </p:nvSpPr>
        <p:spPr>
          <a:xfrm>
            <a:off x="6508750" y="3672681"/>
            <a:ext cx="48007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E6975"/>
                </a:solidFill>
                <a:latin typeface="IBM Plex Sans" pitchFamily="34" charset="0"/>
                <a:ea typeface="IBM Plex Sans" pitchFamily="34" charset="-122"/>
                <a:cs typeface="IBM Plex Sans" pitchFamily="34" charset="-120"/>
              </a:rPr>
              <a:t>праћења плана</a:t>
            </a:r>
            <a:endParaRPr lang="en-US" sz="1500" dirty="0"/>
          </a:p>
        </p:txBody>
      </p:sp>
      <p:sp>
        <p:nvSpPr>
          <p:cNvPr id="21" name="Shape 19"/>
          <p:cNvSpPr/>
          <p:nvPr/>
        </p:nvSpPr>
        <p:spPr>
          <a:xfrm>
            <a:off x="812800" y="4310261"/>
            <a:ext cx="3437434" cy="434280"/>
          </a:xfrm>
          <a:prstGeom prst="roundRect">
            <a:avLst>
              <a:gd name="adj" fmla="val 20471"/>
            </a:avLst>
          </a:prstGeom>
          <a:solidFill>
            <a:srgbClr val="E2EBE9"/>
          </a:solidFill>
          <a:ln/>
        </p:spPr>
      </p:sp>
      <p:pic>
        <p:nvPicPr>
          <p:cNvPr id="22" name="Image 0" descr="Clock">    </p:cNvPr>
          <p:cNvPicPr>
            <a:picLocks noChangeAspect="1"/>
          </p:cNvPicPr>
          <p:nvPr/>
        </p:nvPicPr>
        <p:blipFill>
          <a:blip r:embed="rId1"/>
          <a:srcRect l="0" r="0" t="0" b="0"/>
          <a:stretch/>
        </p:blipFill>
        <p:spPr>
          <a:xfrm>
            <a:off x="965200" y="4425752"/>
            <a:ext cx="203200" cy="203200"/>
          </a:xfrm>
          <a:prstGeom prst="rect">
            <a:avLst/>
          </a:prstGeom>
        </p:spPr>
      </p:pic>
      <p:sp>
        <p:nvSpPr>
          <p:cNvPr id="23" name="Text 20"/>
          <p:cNvSpPr/>
          <p:nvPr/>
        </p:nvSpPr>
        <p:spPr>
          <a:xfrm>
            <a:off x="1270000" y="4424561"/>
            <a:ext cx="298023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Кратки циклуси и чест увид у резултат</a:t>
            </a:r>
            <a:endParaRPr lang="en-US" sz="1200" dirty="0"/>
          </a:p>
        </p:txBody>
      </p:sp>
      <p:sp>
        <p:nvSpPr>
          <p:cNvPr id="24" name="Shape 21"/>
          <p:cNvSpPr/>
          <p:nvPr/>
        </p:nvSpPr>
        <p:spPr>
          <a:xfrm>
            <a:off x="4377234" y="4310261"/>
            <a:ext cx="3437434" cy="434280"/>
          </a:xfrm>
          <a:prstGeom prst="roundRect">
            <a:avLst>
              <a:gd name="adj" fmla="val 20471"/>
            </a:avLst>
          </a:prstGeom>
          <a:solidFill>
            <a:srgbClr val="E2EBE9"/>
          </a:solidFill>
          <a:ln/>
        </p:spPr>
      </p:sp>
      <p:pic>
        <p:nvPicPr>
          <p:cNvPr id="25" name="Image 1" descr="Chat">    </p:cNvPr>
          <p:cNvPicPr>
            <a:picLocks noChangeAspect="1"/>
          </p:cNvPicPr>
          <p:nvPr/>
        </p:nvPicPr>
        <p:blipFill>
          <a:blip r:embed="rId2"/>
          <a:srcRect l="0" r="0" t="0" b="0"/>
          <a:stretch/>
        </p:blipFill>
        <p:spPr>
          <a:xfrm>
            <a:off x="4529634" y="4425752"/>
            <a:ext cx="203200" cy="203200"/>
          </a:xfrm>
          <a:prstGeom prst="rect">
            <a:avLst/>
          </a:prstGeom>
        </p:spPr>
      </p:pic>
      <p:sp>
        <p:nvSpPr>
          <p:cNvPr id="26" name="Text 22"/>
          <p:cNvSpPr/>
          <p:nvPr/>
        </p:nvSpPr>
        <p:spPr>
          <a:xfrm>
            <a:off x="4834434" y="4424561"/>
            <a:ext cx="291266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Захтеви се прецизирају током рада</a:t>
            </a:r>
            <a:endParaRPr lang="en-US" sz="1200" dirty="0"/>
          </a:p>
        </p:txBody>
      </p:sp>
      <p:sp>
        <p:nvSpPr>
          <p:cNvPr id="27" name="Shape 23"/>
          <p:cNvSpPr/>
          <p:nvPr/>
        </p:nvSpPr>
        <p:spPr>
          <a:xfrm>
            <a:off x="7941667" y="4310261"/>
            <a:ext cx="3437434" cy="434280"/>
          </a:xfrm>
          <a:prstGeom prst="roundRect">
            <a:avLst>
              <a:gd name="adj" fmla="val 20471"/>
            </a:avLst>
          </a:prstGeom>
          <a:solidFill>
            <a:srgbClr val="E2EBE9"/>
          </a:solidFill>
          <a:ln/>
        </p:spPr>
      </p:sp>
      <p:pic>
        <p:nvPicPr>
          <p:cNvPr id="28" name="Image 2" descr="CheckCircle">    </p:cNvPr>
          <p:cNvPicPr>
            <a:picLocks noChangeAspect="1"/>
          </p:cNvPicPr>
          <p:nvPr/>
        </p:nvPicPr>
        <p:blipFill>
          <a:blip r:embed="rId3"/>
          <a:srcRect l="0" r="0" t="0" b="0"/>
          <a:stretch/>
        </p:blipFill>
        <p:spPr>
          <a:xfrm>
            <a:off x="8094067" y="4425752"/>
            <a:ext cx="203200" cy="203200"/>
          </a:xfrm>
          <a:prstGeom prst="rect">
            <a:avLst/>
          </a:prstGeom>
        </p:spPr>
      </p:pic>
      <p:sp>
        <p:nvSpPr>
          <p:cNvPr id="29" name="Text 24"/>
          <p:cNvSpPr/>
          <p:nvPr/>
        </p:nvSpPr>
        <p:spPr>
          <a:xfrm>
            <a:off x="8398867" y="4424561"/>
            <a:ext cx="291266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Софтвер који ради је мера напретка</a:t>
            </a:r>
            <a:endParaRPr lang="en-US" sz="1200" dirty="0"/>
          </a:p>
        </p:txBody>
      </p:sp>
      <p:sp>
        <p:nvSpPr>
          <p:cNvPr id="30" name="Text 25"/>
          <p:cNvSpPr/>
          <p:nvPr/>
        </p:nvSpPr>
        <p:spPr>
          <a:xfrm>
            <a:off x="812800" y="49731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Ставке десно имају вредност, али се ставке лево вреднују више. Извор: Manifesto for Agile Software Development, 2001.</a:t>
            </a:r>
            <a:endParaRPr lang="en-US" sz="1200" dirty="0"/>
          </a:p>
        </p:txBody>
      </p:sp>
      <p:sp>
        <p:nvSpPr>
          <p:cNvPr id="31" name="Shape 26"/>
          <p:cNvSpPr/>
          <p:nvPr/>
        </p:nvSpPr>
        <p:spPr>
          <a:xfrm>
            <a:off x="812800" y="6209705"/>
            <a:ext cx="10566400" cy="0"/>
          </a:xfrm>
          <a:prstGeom prst="line">
            <a:avLst/>
          </a:prstGeom>
          <a:noFill/>
          <a:ln w="6350">
            <a:solidFill>
              <a:srgbClr val="D3DAE1"/>
            </a:solidFill>
            <a:prstDash val="solid"/>
          </a:ln>
        </p:spPr>
      </p:sp>
      <p:sp>
        <p:nvSpPr>
          <p:cNvPr id="32"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pic>
        <p:nvPicPr>
          <p:cNvPr id="3" name="Image 0" descr="Scrum оквир: Product Backlog, Sprint Planning, Sprint Backlog, Sprint са дневним циклусом Daily Scrum, Increment, затим Sprint Review и ретроспектива, уз повратну информацију назад у Product Backlog">    </p:cNvPr>
          <p:cNvPicPr>
            <a:picLocks noChangeAspect="1"/>
          </p:cNvPicPr>
          <p:nvPr/>
        </p:nvPicPr>
        <p:blipFill>
          <a:blip r:embed="rId1"/>
          <a:srcRect l="0" r="0" t="-17" b="-17"/>
          <a:stretch/>
        </p:blipFill>
        <p:spPr>
          <a:xfrm>
            <a:off x="812800" y="2095500"/>
            <a:ext cx="10566400" cy="3556000"/>
          </a:xfrm>
          <a:prstGeom prst="rect">
            <a:avLst/>
          </a:prstGeom>
        </p:spPr>
      </p:pic>
      <p:sp>
        <p:nvSpPr>
          <p:cNvPr id="4"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01 · AGILE И SCRUM</a:t>
            </a:r>
            <a:endParaRPr lang="en-US" sz="1200" dirty="0"/>
          </a:p>
        </p:txBody>
      </p:sp>
      <p:sp>
        <p:nvSpPr>
          <p:cNvPr id="5"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Scrum оквир у једној слици</a:t>
            </a:r>
            <a:endParaRPr lang="en-US" sz="3000" dirty="0"/>
          </a:p>
        </p:txBody>
      </p:sp>
      <p:sp>
        <p:nvSpPr>
          <p:cNvPr id="6"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Тим ради у циклусима фиксног трајања, а сваки циклус завршава проверљивим инкрементом.</a:t>
            </a:r>
            <a:endParaRPr lang="en-US" sz="1400" dirty="0"/>
          </a:p>
        </p:txBody>
      </p:sp>
      <p:sp>
        <p:nvSpPr>
          <p:cNvPr id="7" name="Text 4"/>
          <p:cNvSpPr/>
          <p:nvPr/>
        </p:nvSpPr>
        <p:spPr>
          <a:xfrm>
            <a:off x="1066800" y="4000500"/>
            <a:ext cx="1574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Product Backlog</a:t>
            </a:r>
            <a:endParaRPr lang="en-US" sz="1300" dirty="0"/>
          </a:p>
        </p:txBody>
      </p:sp>
      <p:sp>
        <p:nvSpPr>
          <p:cNvPr id="8" name="Text 5"/>
          <p:cNvSpPr/>
          <p:nvPr/>
        </p:nvSpPr>
        <p:spPr>
          <a:xfrm>
            <a:off x="1066800" y="422910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Product Goal</a:t>
            </a:r>
            <a:endParaRPr lang="en-US" sz="1200" dirty="0"/>
          </a:p>
        </p:txBody>
      </p:sp>
      <p:sp>
        <p:nvSpPr>
          <p:cNvPr id="9" name="Text 6"/>
          <p:cNvSpPr/>
          <p:nvPr/>
        </p:nvSpPr>
        <p:spPr>
          <a:xfrm>
            <a:off x="2946400" y="3035300"/>
            <a:ext cx="1320800" cy="223441"/>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A8520A"/>
                </a:solidFill>
                <a:latin typeface="IBM Plex Sans" pitchFamily="34" charset="0"/>
                <a:ea typeface="IBM Plex Sans" pitchFamily="34" charset="-122"/>
                <a:cs typeface="IBM Plex Sans" pitchFamily="34" charset="-120"/>
              </a:rPr>
              <a:t>Sprint Planning</a:t>
            </a:r>
            <a:endParaRPr lang="en-US" sz="1300" dirty="0"/>
          </a:p>
        </p:txBody>
      </p:sp>
      <p:sp>
        <p:nvSpPr>
          <p:cNvPr id="10" name="Text 7"/>
          <p:cNvSpPr/>
          <p:nvPr/>
        </p:nvSpPr>
        <p:spPr>
          <a:xfrm>
            <a:off x="4718050" y="4000500"/>
            <a:ext cx="1447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Sprint Backlog</a:t>
            </a:r>
            <a:endParaRPr lang="en-US" sz="1300" dirty="0"/>
          </a:p>
        </p:txBody>
      </p:sp>
      <p:sp>
        <p:nvSpPr>
          <p:cNvPr id="11" name="Text 8"/>
          <p:cNvSpPr/>
          <p:nvPr/>
        </p:nvSpPr>
        <p:spPr>
          <a:xfrm>
            <a:off x="4718050" y="4229100"/>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Sprint Goal</a:t>
            </a:r>
            <a:endParaRPr lang="en-US" sz="1200" dirty="0"/>
          </a:p>
        </p:txBody>
      </p:sp>
      <p:sp>
        <p:nvSpPr>
          <p:cNvPr id="12" name="Text 9"/>
          <p:cNvSpPr/>
          <p:nvPr/>
        </p:nvSpPr>
        <p:spPr>
          <a:xfrm>
            <a:off x="6499225" y="3175000"/>
            <a:ext cx="1962150"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13202D"/>
                </a:solidFill>
                <a:latin typeface="IBM Plex Sans" pitchFamily="34" charset="0"/>
                <a:ea typeface="IBM Plex Sans" pitchFamily="34" charset="-122"/>
                <a:cs typeface="IBM Plex Sans" pitchFamily="34" charset="-120"/>
              </a:rPr>
              <a:t>Sprint</a:t>
            </a:r>
            <a:endParaRPr lang="en-US" sz="2200" dirty="0"/>
          </a:p>
        </p:txBody>
      </p:sp>
      <p:sp>
        <p:nvSpPr>
          <p:cNvPr id="13" name="Text 10"/>
          <p:cNvSpPr/>
          <p:nvPr/>
        </p:nvSpPr>
        <p:spPr>
          <a:xfrm>
            <a:off x="6499225" y="3568700"/>
            <a:ext cx="19621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до месец дана</a:t>
            </a:r>
            <a:endParaRPr lang="en-US" sz="1200" dirty="0"/>
          </a:p>
        </p:txBody>
      </p:sp>
      <p:sp>
        <p:nvSpPr>
          <p:cNvPr id="14" name="Text 11"/>
          <p:cNvSpPr/>
          <p:nvPr/>
        </p:nvSpPr>
        <p:spPr>
          <a:xfrm>
            <a:off x="7150100" y="2305050"/>
            <a:ext cx="660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24 h</a:t>
            </a:r>
            <a:endParaRPr lang="en-US" sz="1200" dirty="0"/>
          </a:p>
        </p:txBody>
      </p:sp>
      <p:sp>
        <p:nvSpPr>
          <p:cNvPr id="15" name="Text 12"/>
          <p:cNvSpPr/>
          <p:nvPr/>
        </p:nvSpPr>
        <p:spPr>
          <a:xfrm>
            <a:off x="7874000" y="2133600"/>
            <a:ext cx="19621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20A"/>
                </a:solidFill>
                <a:latin typeface="IBM Plex Sans" pitchFamily="34" charset="0"/>
                <a:ea typeface="IBM Plex Sans" pitchFamily="34" charset="-122"/>
                <a:cs typeface="IBM Plex Sans" pitchFamily="34" charset="-120"/>
              </a:rPr>
              <a:t>Daily Scrum</a:t>
            </a:r>
            <a:endParaRPr lang="en-US" sz="1300" dirty="0"/>
          </a:p>
        </p:txBody>
      </p:sp>
      <p:sp>
        <p:nvSpPr>
          <p:cNvPr id="16" name="Text 13"/>
          <p:cNvSpPr/>
          <p:nvPr/>
        </p:nvSpPr>
        <p:spPr>
          <a:xfrm>
            <a:off x="8227020" y="236458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15 мин </a:t>
            </a:r>
            <a:endParaRPr lang="en-US" sz="1200" dirty="0"/>
          </a:p>
        </p:txBody>
      </p:sp>
      <p:sp>
        <p:nvSpPr>
          <p:cNvPr id="17" name="Text 14"/>
          <p:cNvSpPr/>
          <p:nvPr/>
        </p:nvSpPr>
        <p:spPr>
          <a:xfrm>
            <a:off x="9004300" y="4000500"/>
            <a:ext cx="1574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Increment</a:t>
            </a:r>
            <a:endParaRPr lang="en-US" sz="1300" dirty="0"/>
          </a:p>
        </p:txBody>
      </p:sp>
      <p:sp>
        <p:nvSpPr>
          <p:cNvPr id="18" name="Text 15"/>
          <p:cNvSpPr/>
          <p:nvPr/>
        </p:nvSpPr>
        <p:spPr>
          <a:xfrm>
            <a:off x="9004300" y="422910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Definition of Done</a:t>
            </a:r>
            <a:endParaRPr lang="en-US" sz="1200" dirty="0"/>
          </a:p>
        </p:txBody>
      </p:sp>
      <p:sp>
        <p:nvSpPr>
          <p:cNvPr id="19" name="Text 16"/>
          <p:cNvSpPr/>
          <p:nvPr/>
        </p:nvSpPr>
        <p:spPr>
          <a:xfrm>
            <a:off x="8088630" y="4889500"/>
            <a:ext cx="183134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Sprint Review</a:t>
            </a:r>
            <a:endParaRPr lang="en-US" sz="1300" dirty="0"/>
          </a:p>
        </p:txBody>
      </p:sp>
      <p:sp>
        <p:nvSpPr>
          <p:cNvPr id="20" name="Text 17"/>
          <p:cNvSpPr/>
          <p:nvPr/>
        </p:nvSpPr>
        <p:spPr>
          <a:xfrm>
            <a:off x="8088630" y="5105400"/>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преглед инкремента</a:t>
            </a:r>
            <a:endParaRPr lang="en-US" sz="1200" dirty="0"/>
          </a:p>
        </p:txBody>
      </p:sp>
      <p:sp>
        <p:nvSpPr>
          <p:cNvPr id="21" name="Text 18"/>
          <p:cNvSpPr/>
          <p:nvPr/>
        </p:nvSpPr>
        <p:spPr>
          <a:xfrm>
            <a:off x="5350510" y="4889500"/>
            <a:ext cx="235458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Sprint Retrospective</a:t>
            </a:r>
            <a:endParaRPr lang="en-US" sz="1300" dirty="0"/>
          </a:p>
        </p:txBody>
      </p:sp>
      <p:sp>
        <p:nvSpPr>
          <p:cNvPr id="22" name="Text 19"/>
          <p:cNvSpPr/>
          <p:nvPr/>
        </p:nvSpPr>
        <p:spPr>
          <a:xfrm>
            <a:off x="5350510" y="5105400"/>
            <a:ext cx="23545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побољшање рада тима</a:t>
            </a:r>
            <a:endParaRPr lang="en-US" sz="1200" dirty="0"/>
          </a:p>
        </p:txBody>
      </p:sp>
      <p:sp>
        <p:nvSpPr>
          <p:cNvPr id="23" name="Text 20"/>
          <p:cNvSpPr/>
          <p:nvPr/>
        </p:nvSpPr>
        <p:spPr>
          <a:xfrm>
            <a:off x="1143000" y="4775200"/>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повратна информација и нове ставке</a:t>
            </a:r>
            <a:endParaRPr lang="en-US" sz="1200" dirty="0"/>
          </a:p>
        </p:txBody>
      </p:sp>
      <p:sp>
        <p:nvSpPr>
          <p:cNvPr id="24" name="Shape 21"/>
          <p:cNvSpPr/>
          <p:nvPr/>
        </p:nvSpPr>
        <p:spPr>
          <a:xfrm>
            <a:off x="812800" y="6209705"/>
            <a:ext cx="10566400" cy="0"/>
          </a:xfrm>
          <a:prstGeom prst="line">
            <a:avLst/>
          </a:prstGeom>
          <a:noFill/>
          <a:ln w="6350">
            <a:solidFill>
              <a:srgbClr val="D3DAE1"/>
            </a:solidFill>
            <a:prstDash val="solid"/>
          </a:ln>
        </p:spPr>
      </p:sp>
      <p:sp>
        <p:nvSpPr>
          <p:cNvPr id="25" name="Text 2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6"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01 · AGILE И SCRUM</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Улоге у Scrum тиму</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Свака улога носи јасну одговорност, а тим заједно одговара за резултат.</a:t>
            </a:r>
            <a:endParaRPr lang="en-US" sz="1400" dirty="0"/>
          </a:p>
        </p:txBody>
      </p:sp>
      <p:sp>
        <p:nvSpPr>
          <p:cNvPr id="6" name="Shape 4"/>
          <p:cNvSpPr/>
          <p:nvPr/>
        </p:nvSpPr>
        <p:spPr>
          <a:xfrm>
            <a:off x="815975" y="2129036"/>
            <a:ext cx="3414117" cy="2435622"/>
          </a:xfrm>
          <a:prstGeom prst="roundRect">
            <a:avLst>
              <a:gd name="adj" fmla="val 4041"/>
            </a:avLst>
          </a:prstGeom>
          <a:solidFill>
            <a:srgbClr val="FCFCFB"/>
          </a:solidFill>
          <a:ln w="6350">
            <a:solidFill>
              <a:srgbClr val="D3DAE1"/>
            </a:solidFill>
            <a:prstDash val="solid"/>
          </a:ln>
        </p:spPr>
      </p:sp>
      <p:sp>
        <p:nvSpPr>
          <p:cNvPr id="7" name="Shape 5"/>
          <p:cNvSpPr/>
          <p:nvPr/>
        </p:nvSpPr>
        <p:spPr>
          <a:xfrm>
            <a:off x="1022350" y="2310011"/>
            <a:ext cx="355600" cy="355600"/>
          </a:xfrm>
          <a:prstGeom prst="roundRect">
            <a:avLst>
              <a:gd name="adj" fmla="val 21429"/>
            </a:avLst>
          </a:prstGeom>
          <a:solidFill>
            <a:srgbClr val="DDEBEA"/>
          </a:solidFill>
          <a:ln/>
        </p:spPr>
      </p:sp>
      <p:pic>
        <p:nvPicPr>
          <p:cNvPr id="8" name="Image 0" descr="Star">    </p:cNvPr>
          <p:cNvPicPr>
            <a:picLocks noChangeAspect="1"/>
          </p:cNvPicPr>
          <p:nvPr/>
        </p:nvPicPr>
        <p:blipFill>
          <a:blip r:embed="rId1"/>
          <a:srcRect l="0" r="0" t="0" b="0"/>
          <a:stretch/>
        </p:blipFill>
        <p:spPr>
          <a:xfrm>
            <a:off x="1098550" y="2386211"/>
            <a:ext cx="203200" cy="203200"/>
          </a:xfrm>
          <a:prstGeom prst="rect">
            <a:avLst/>
          </a:prstGeom>
        </p:spPr>
      </p:pic>
      <p:sp>
        <p:nvSpPr>
          <p:cNvPr id="9" name="Text 6"/>
          <p:cNvSpPr/>
          <p:nvPr/>
        </p:nvSpPr>
        <p:spPr>
          <a:xfrm>
            <a:off x="1479550" y="2365871"/>
            <a:ext cx="169783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Product Owner</a:t>
            </a:r>
            <a:endParaRPr lang="en-US" sz="1600" dirty="0"/>
          </a:p>
        </p:txBody>
      </p:sp>
      <p:sp>
        <p:nvSpPr>
          <p:cNvPr id="10" name="Text 7"/>
          <p:cNvSpPr/>
          <p:nvPr/>
        </p:nvSpPr>
        <p:spPr>
          <a:xfrm>
            <a:off x="1022350" y="2754511"/>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вредност производа</a:t>
            </a:r>
            <a:endParaRPr lang="en-US" sz="1200" dirty="0"/>
          </a:p>
        </p:txBody>
      </p:sp>
      <p:sp>
        <p:nvSpPr>
          <p:cNvPr id="11" name="Shape 8"/>
          <p:cNvSpPr/>
          <p:nvPr/>
        </p:nvSpPr>
        <p:spPr>
          <a:xfrm>
            <a:off x="1022350" y="3059906"/>
            <a:ext cx="3001367" cy="0"/>
          </a:xfrm>
          <a:prstGeom prst="line">
            <a:avLst/>
          </a:prstGeom>
          <a:noFill/>
          <a:ln w="6350">
            <a:solidFill>
              <a:srgbClr val="E3E8EE"/>
            </a:solidFill>
            <a:prstDash val="solid"/>
          </a:ln>
        </p:spPr>
      </p:sp>
      <p:sp>
        <p:nvSpPr>
          <p:cNvPr id="12" name="Text 9"/>
          <p:cNvSpPr/>
          <p:nvPr/>
        </p:nvSpPr>
        <p:spPr>
          <a:xfrm>
            <a:off x="1022350" y="3139281"/>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Формулише Product Goal.</a:t>
            </a:r>
            <a:endParaRPr lang="en-US" sz="1200" dirty="0"/>
          </a:p>
        </p:txBody>
      </p:sp>
      <p:sp>
        <p:nvSpPr>
          <p:cNvPr id="13" name="Text 10"/>
          <p:cNvSpPr/>
          <p:nvPr/>
        </p:nvSpPr>
        <p:spPr>
          <a:xfrm>
            <a:off x="1022350" y="3441502"/>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Уређује ставке и приоритете у Product Backlog-у.</a:t>
            </a:r>
            <a:endParaRPr lang="en-US" sz="1200" dirty="0"/>
          </a:p>
        </p:txBody>
      </p:sp>
      <p:sp>
        <p:nvSpPr>
          <p:cNvPr id="14" name="Text 11"/>
          <p:cNvSpPr/>
          <p:nvPr/>
        </p:nvSpPr>
        <p:spPr>
          <a:xfrm>
            <a:off x="1022350" y="3957042"/>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Обезбеђује да је backlog јасан целом тиму.</a:t>
            </a:r>
            <a:endParaRPr lang="en-US" sz="1200" dirty="0"/>
          </a:p>
        </p:txBody>
      </p:sp>
      <p:sp>
        <p:nvSpPr>
          <p:cNvPr id="15" name="Shape 12"/>
          <p:cNvSpPr/>
          <p:nvPr/>
        </p:nvSpPr>
        <p:spPr>
          <a:xfrm>
            <a:off x="4388842" y="2129036"/>
            <a:ext cx="3414216" cy="2435622"/>
          </a:xfrm>
          <a:prstGeom prst="roundRect">
            <a:avLst>
              <a:gd name="adj" fmla="val 4041"/>
            </a:avLst>
          </a:prstGeom>
          <a:solidFill>
            <a:srgbClr val="FCFCFB"/>
          </a:solidFill>
          <a:ln w="6350">
            <a:solidFill>
              <a:srgbClr val="D3DAE1"/>
            </a:solidFill>
            <a:prstDash val="solid"/>
          </a:ln>
        </p:spPr>
      </p:sp>
      <p:sp>
        <p:nvSpPr>
          <p:cNvPr id="16" name="Shape 13"/>
          <p:cNvSpPr/>
          <p:nvPr/>
        </p:nvSpPr>
        <p:spPr>
          <a:xfrm>
            <a:off x="4595217" y="2310011"/>
            <a:ext cx="355600" cy="355600"/>
          </a:xfrm>
          <a:prstGeom prst="roundRect">
            <a:avLst>
              <a:gd name="adj" fmla="val 21429"/>
            </a:avLst>
          </a:prstGeom>
          <a:solidFill>
            <a:srgbClr val="FBF1E6"/>
          </a:solidFill>
          <a:ln/>
        </p:spPr>
      </p:sp>
      <p:pic>
        <p:nvPicPr>
          <p:cNvPr id="17" name="Image 1" descr="Settings">    </p:cNvPr>
          <p:cNvPicPr>
            <a:picLocks noChangeAspect="1"/>
          </p:cNvPicPr>
          <p:nvPr/>
        </p:nvPicPr>
        <p:blipFill>
          <a:blip r:embed="rId2"/>
          <a:srcRect l="0" r="0" t="0" b="0"/>
          <a:stretch/>
        </p:blipFill>
        <p:spPr>
          <a:xfrm>
            <a:off x="4671417" y="2386211"/>
            <a:ext cx="203200" cy="203200"/>
          </a:xfrm>
          <a:prstGeom prst="rect">
            <a:avLst/>
          </a:prstGeom>
        </p:spPr>
      </p:pic>
      <p:sp>
        <p:nvSpPr>
          <p:cNvPr id="18" name="Text 14"/>
          <p:cNvSpPr/>
          <p:nvPr/>
        </p:nvSpPr>
        <p:spPr>
          <a:xfrm>
            <a:off x="5052417" y="2365871"/>
            <a:ext cx="156471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Scrum Master</a:t>
            </a:r>
            <a:endParaRPr lang="en-US" sz="1600" dirty="0"/>
          </a:p>
        </p:txBody>
      </p:sp>
      <p:sp>
        <p:nvSpPr>
          <p:cNvPr id="19" name="Text 15"/>
          <p:cNvSpPr/>
          <p:nvPr/>
        </p:nvSpPr>
        <p:spPr>
          <a:xfrm>
            <a:off x="4595217" y="2754511"/>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ефикасност тима</a:t>
            </a:r>
            <a:endParaRPr lang="en-US" sz="1200" dirty="0"/>
          </a:p>
        </p:txBody>
      </p:sp>
      <p:sp>
        <p:nvSpPr>
          <p:cNvPr id="20" name="Shape 16"/>
          <p:cNvSpPr/>
          <p:nvPr/>
        </p:nvSpPr>
        <p:spPr>
          <a:xfrm>
            <a:off x="4595217" y="3059906"/>
            <a:ext cx="3001466" cy="0"/>
          </a:xfrm>
          <a:prstGeom prst="line">
            <a:avLst/>
          </a:prstGeom>
          <a:noFill/>
          <a:ln w="6350">
            <a:solidFill>
              <a:srgbClr val="E3E8EE"/>
            </a:solidFill>
            <a:prstDash val="solid"/>
          </a:ln>
        </p:spPr>
      </p:sp>
      <p:sp>
        <p:nvSpPr>
          <p:cNvPr id="21" name="Text 17"/>
          <p:cNvSpPr/>
          <p:nvPr/>
        </p:nvSpPr>
        <p:spPr>
          <a:xfrm>
            <a:off x="4595217" y="313928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Помаже тиму да разуме и примењује Scrum.</a:t>
            </a:r>
            <a:endParaRPr lang="en-US" sz="1200" dirty="0"/>
          </a:p>
        </p:txBody>
      </p:sp>
      <p:sp>
        <p:nvSpPr>
          <p:cNvPr id="22" name="Text 18"/>
          <p:cNvSpPr/>
          <p:nvPr/>
        </p:nvSpPr>
        <p:spPr>
          <a:xfrm>
            <a:off x="4595217" y="365482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Уклања препреке које успоравају рад.</a:t>
            </a:r>
            <a:endParaRPr lang="en-US" sz="1200" dirty="0"/>
          </a:p>
        </p:txBody>
      </p:sp>
      <p:sp>
        <p:nvSpPr>
          <p:cNvPr id="23" name="Text 19"/>
          <p:cNvSpPr/>
          <p:nvPr/>
        </p:nvSpPr>
        <p:spPr>
          <a:xfrm>
            <a:off x="4595217" y="3957042"/>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Брине да се догађаји одрже и буду корисни.</a:t>
            </a:r>
            <a:endParaRPr lang="en-US" sz="1200" dirty="0"/>
          </a:p>
        </p:txBody>
      </p:sp>
      <p:sp>
        <p:nvSpPr>
          <p:cNvPr id="24" name="Shape 20"/>
          <p:cNvSpPr/>
          <p:nvPr/>
        </p:nvSpPr>
        <p:spPr>
          <a:xfrm>
            <a:off x="7961809" y="2129036"/>
            <a:ext cx="3414216" cy="2435622"/>
          </a:xfrm>
          <a:prstGeom prst="roundRect">
            <a:avLst>
              <a:gd name="adj" fmla="val 4041"/>
            </a:avLst>
          </a:prstGeom>
          <a:solidFill>
            <a:srgbClr val="FCFCFB"/>
          </a:solidFill>
          <a:ln w="6350">
            <a:solidFill>
              <a:srgbClr val="D3DAE1"/>
            </a:solidFill>
            <a:prstDash val="solid"/>
          </a:ln>
        </p:spPr>
      </p:sp>
      <p:sp>
        <p:nvSpPr>
          <p:cNvPr id="25" name="Shape 21"/>
          <p:cNvSpPr/>
          <p:nvPr/>
        </p:nvSpPr>
        <p:spPr>
          <a:xfrm>
            <a:off x="8168184" y="2310011"/>
            <a:ext cx="355600" cy="355600"/>
          </a:xfrm>
          <a:prstGeom prst="roundRect">
            <a:avLst>
              <a:gd name="adj" fmla="val 21429"/>
            </a:avLst>
          </a:prstGeom>
          <a:solidFill>
            <a:srgbClr val="E2EBE9"/>
          </a:solidFill>
          <a:ln/>
        </p:spPr>
      </p:sp>
      <p:pic>
        <p:nvPicPr>
          <p:cNvPr id="26" name="Image 2" descr="Code">    </p:cNvPr>
          <p:cNvPicPr>
            <a:picLocks noChangeAspect="1"/>
          </p:cNvPicPr>
          <p:nvPr/>
        </p:nvPicPr>
        <p:blipFill>
          <a:blip r:embed="rId3"/>
          <a:srcRect l="0" r="0" t="0" b="0"/>
          <a:stretch/>
        </p:blipFill>
        <p:spPr>
          <a:xfrm>
            <a:off x="8244384" y="2386211"/>
            <a:ext cx="203200" cy="203200"/>
          </a:xfrm>
          <a:prstGeom prst="rect">
            <a:avLst/>
          </a:prstGeom>
        </p:spPr>
      </p:pic>
      <p:sp>
        <p:nvSpPr>
          <p:cNvPr id="27" name="Text 22"/>
          <p:cNvSpPr/>
          <p:nvPr/>
        </p:nvSpPr>
        <p:spPr>
          <a:xfrm>
            <a:off x="8625384" y="2365871"/>
            <a:ext cx="127277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Developers</a:t>
            </a:r>
            <a:endParaRPr lang="en-US" sz="1600" dirty="0"/>
          </a:p>
        </p:txBody>
      </p:sp>
      <p:sp>
        <p:nvSpPr>
          <p:cNvPr id="28" name="Text 23"/>
          <p:cNvSpPr/>
          <p:nvPr/>
        </p:nvSpPr>
        <p:spPr>
          <a:xfrm>
            <a:off x="8168184" y="2754511"/>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исправан Increment</a:t>
            </a:r>
            <a:endParaRPr lang="en-US" sz="1200" dirty="0"/>
          </a:p>
        </p:txBody>
      </p:sp>
      <p:sp>
        <p:nvSpPr>
          <p:cNvPr id="29" name="Shape 24"/>
          <p:cNvSpPr/>
          <p:nvPr/>
        </p:nvSpPr>
        <p:spPr>
          <a:xfrm>
            <a:off x="8168184" y="3059906"/>
            <a:ext cx="3001466" cy="0"/>
          </a:xfrm>
          <a:prstGeom prst="line">
            <a:avLst/>
          </a:prstGeom>
          <a:noFill/>
          <a:ln w="6350">
            <a:solidFill>
              <a:srgbClr val="E3E8EE"/>
            </a:solidFill>
            <a:prstDash val="solid"/>
          </a:ln>
        </p:spPr>
      </p:sp>
      <p:sp>
        <p:nvSpPr>
          <p:cNvPr id="30" name="Text 25"/>
          <p:cNvSpPr/>
          <p:nvPr/>
        </p:nvSpPr>
        <p:spPr>
          <a:xfrm>
            <a:off x="8168184" y="3139281"/>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Планирају Sprint Backlog.</a:t>
            </a:r>
            <a:endParaRPr lang="en-US" sz="1200" dirty="0"/>
          </a:p>
        </p:txBody>
      </p:sp>
      <p:sp>
        <p:nvSpPr>
          <p:cNvPr id="31" name="Text 26"/>
          <p:cNvSpPr/>
          <p:nvPr/>
        </p:nvSpPr>
        <p:spPr>
          <a:xfrm>
            <a:off x="8168184" y="3441502"/>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Свакодневно прилагођавају план ка Sprint Goal-у.</a:t>
            </a:r>
            <a:endParaRPr lang="en-US" sz="1200" dirty="0"/>
          </a:p>
        </p:txBody>
      </p:sp>
      <p:sp>
        <p:nvSpPr>
          <p:cNvPr id="32" name="Text 27"/>
          <p:cNvSpPr/>
          <p:nvPr/>
        </p:nvSpPr>
        <p:spPr>
          <a:xfrm>
            <a:off x="8168184" y="395704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Поштују Definition of Done.</a:t>
            </a:r>
            <a:endParaRPr lang="en-US" sz="1200" dirty="0"/>
          </a:p>
        </p:txBody>
      </p:sp>
      <p:sp>
        <p:nvSpPr>
          <p:cNvPr id="33" name="Text 28"/>
          <p:cNvSpPr/>
          <p:nvPr/>
        </p:nvSpPr>
        <p:spPr>
          <a:xfrm>
            <a:off x="812800" y="4796433"/>
            <a:ext cx="10566400" cy="416520"/>
          </a:xfrm>
          <a:prstGeom prst="roundRect">
            <a:avLst>
              <a:gd name="adj" fmla="val 18294"/>
            </a:avLst>
          </a:prstGeom>
          <a:solidFill>
            <a:srgbClr val="E2EBE9"/>
          </a:solidFill>
          <a:ln/>
        </p:spPr>
        <p:txBody>
          <a:bodyPr wrap="square" lIns="130082" tIns="79282" rIns="0" bIns="53882"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Scrum тим обично има 10 или мање чланова, без подтимова и хијерархије. Извор: The Scrum Guide, 2020.</a:t>
            </a:r>
            <a:endParaRPr lang="en-US" sz="1200" dirty="0"/>
          </a:p>
        </p:txBody>
      </p:sp>
      <p:sp>
        <p:nvSpPr>
          <p:cNvPr id="34" name="Shape 29"/>
          <p:cNvSpPr/>
          <p:nvPr/>
        </p:nvSpPr>
        <p:spPr>
          <a:xfrm>
            <a:off x="812800" y="6209705"/>
            <a:ext cx="10566400" cy="0"/>
          </a:xfrm>
          <a:prstGeom prst="line">
            <a:avLst/>
          </a:prstGeom>
          <a:noFill/>
          <a:ln w="6350">
            <a:solidFill>
              <a:srgbClr val="D3DAE1"/>
            </a:solidFill>
            <a:prstDash val="solid"/>
          </a:ln>
        </p:spPr>
      </p:sp>
      <p:sp>
        <p:nvSpPr>
          <p:cNvPr id="35"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01 · AGILE И SCRUM</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Sprint и Scrum догађаји</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Пример Sprint-а од две недеље и највећа трајања догађаја према Scrum водичу.</a:t>
            </a:r>
            <a:endParaRPr lang="en-US" sz="1400" dirty="0"/>
          </a:p>
        </p:txBody>
      </p:sp>
      <p:sp>
        <p:nvSpPr>
          <p:cNvPr id="6" name="Shape 4"/>
          <p:cNvSpPr/>
          <p:nvPr/>
        </p:nvSpPr>
        <p:spPr>
          <a:xfrm>
            <a:off x="812800" y="2336006"/>
            <a:ext cx="5257800" cy="0"/>
          </a:xfrm>
          <a:prstGeom prst="line">
            <a:avLst/>
          </a:prstGeom>
          <a:noFill/>
          <a:ln w="19050">
            <a:solidFill>
              <a:srgbClr val="0E6E68"/>
            </a:solidFill>
            <a:prstDash val="solid"/>
          </a:ln>
        </p:spPr>
      </p:sp>
      <p:sp>
        <p:nvSpPr>
          <p:cNvPr id="7" name="Text 5"/>
          <p:cNvSpPr/>
          <p:nvPr/>
        </p:nvSpPr>
        <p:spPr>
          <a:xfrm>
            <a:off x="812800" y="2075061"/>
            <a:ext cx="54155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1. недеља</a:t>
            </a:r>
            <a:endParaRPr lang="en-US" sz="1200" dirty="0"/>
          </a:p>
        </p:txBody>
      </p:sp>
      <p:sp>
        <p:nvSpPr>
          <p:cNvPr id="8" name="Shape 6"/>
          <p:cNvSpPr/>
          <p:nvPr/>
        </p:nvSpPr>
        <p:spPr>
          <a:xfrm>
            <a:off x="6121400" y="2336006"/>
            <a:ext cx="5257800" cy="0"/>
          </a:xfrm>
          <a:prstGeom prst="line">
            <a:avLst/>
          </a:prstGeom>
          <a:noFill/>
          <a:ln w="19050">
            <a:solidFill>
              <a:srgbClr val="0E6E68"/>
            </a:solidFill>
            <a:prstDash val="solid"/>
          </a:ln>
        </p:spPr>
      </p:sp>
      <p:sp>
        <p:nvSpPr>
          <p:cNvPr id="9" name="Text 7"/>
          <p:cNvSpPr/>
          <p:nvPr/>
        </p:nvSpPr>
        <p:spPr>
          <a:xfrm>
            <a:off x="6121400" y="2075061"/>
            <a:ext cx="54155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2. недеља</a:t>
            </a:r>
            <a:endParaRPr lang="en-US" sz="1200" dirty="0"/>
          </a:p>
        </p:txBody>
      </p:sp>
      <p:sp>
        <p:nvSpPr>
          <p:cNvPr id="10" name="Shape 8"/>
          <p:cNvSpPr/>
          <p:nvPr/>
        </p:nvSpPr>
        <p:spPr>
          <a:xfrm>
            <a:off x="815975" y="2412206"/>
            <a:ext cx="1004491" cy="1266031"/>
          </a:xfrm>
          <a:prstGeom prst="roundRect">
            <a:avLst>
              <a:gd name="adj" fmla="val 7270"/>
            </a:avLst>
          </a:prstGeom>
          <a:solidFill>
            <a:srgbClr val="FCFCFB"/>
          </a:solidFill>
          <a:ln w="6350">
            <a:solidFill>
              <a:srgbClr val="D3DAE1"/>
            </a:solidFill>
            <a:prstDash val="solid"/>
          </a:ln>
        </p:spPr>
      </p:sp>
      <p:sp>
        <p:nvSpPr>
          <p:cNvPr id="11" name="Text 9"/>
          <p:cNvSpPr/>
          <p:nvPr/>
        </p:nvSpPr>
        <p:spPr>
          <a:xfrm>
            <a:off x="882650" y="2504281"/>
            <a:ext cx="9219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дан 1</a:t>
            </a:r>
            <a:endParaRPr lang="en-US" sz="1200" dirty="0"/>
          </a:p>
        </p:txBody>
      </p:sp>
      <p:sp>
        <p:nvSpPr>
          <p:cNvPr id="12" name="Text 10"/>
          <p:cNvSpPr/>
          <p:nvPr/>
        </p:nvSpPr>
        <p:spPr>
          <a:xfrm>
            <a:off x="882650" y="2768402"/>
            <a:ext cx="871141" cy="238720"/>
          </a:xfrm>
          <a:custGeom>
            <a:avLst/>
            <a:gdLst/>
            <a:ahLst/>
            <a:cxnLst/>
            <a:rect l="l" t="t" r="r" b="b"/>
            <a:pathLst>
              <a:path w="871141" h="238720">
                <a:moveTo>
                  <a:pt x="50800" y="0"/>
                </a:moveTo>
                <a:lnTo>
                  <a:pt x="820341" y="0"/>
                </a:lnTo>
                <a:arcTo hR="50800" wR="50800" stAng="16200000" swAng="5400000"/>
                <a:lnTo>
                  <a:pt x="871141" y="187920"/>
                </a:lnTo>
                <a:arcTo hR="50800" wR="50800" stAng="0" swAng="5400000"/>
                <a:lnTo>
                  <a:pt x="50800" y="238720"/>
                </a:lnTo>
                <a:arcTo hR="50800" wR="50800" stAng="5400000" swAng="5400000"/>
                <a:lnTo>
                  <a:pt x="0" y="50800"/>
                </a:lnTo>
                <a:arcTo hR="50800" wR="50800" stAng="10800000" swAng="5400000"/>
                <a:close/>
              </a:path>
            </a:pathLst>
          </a:custGeom>
          <a:solidFill>
            <a:srgbClr val="0E6E68"/>
          </a:solidFill>
          <a:ln/>
        </p:spPr>
        <p:txBody>
          <a:bodyPr wrap="square" lIns="38100" tIns="12700" rIns="0" bIns="0" rtlCol="0" anchor="t">
            <a:normAutofit/>
          </a:bodyPr>
          <a:lstStyle/>
          <a:p>
            <a:pPr algn="l" indent="0" marL="0">
              <a:lnSpc>
                <a:spcPts val="1680"/>
              </a:lnSpc>
              <a:buNone/>
            </a:pPr>
            <a:r>
              <a:rPr lang="en-US" sz="1200" b="1" dirty="0">
                <a:solidFill>
                  <a:srgbClr val="FCFCFB"/>
                </a:solidFill>
                <a:latin typeface="IBM Plex Sans" pitchFamily="34" charset="0"/>
                <a:ea typeface="IBM Plex Sans" pitchFamily="34" charset="-122"/>
                <a:cs typeface="IBM Plex Sans" pitchFamily="34" charset="-120"/>
              </a:rPr>
              <a:t>Planning</a:t>
            </a:r>
            <a:endParaRPr lang="en-US" sz="1200" dirty="0"/>
          </a:p>
        </p:txBody>
      </p:sp>
      <p:sp>
        <p:nvSpPr>
          <p:cNvPr id="13" name="Text 11"/>
          <p:cNvSpPr/>
          <p:nvPr/>
        </p:nvSpPr>
        <p:spPr>
          <a:xfrm>
            <a:off x="882650" y="3057922"/>
            <a:ext cx="871141" cy="238720"/>
          </a:xfrm>
          <a:custGeom>
            <a:avLst/>
            <a:gdLst/>
            <a:ahLst/>
            <a:cxnLst/>
            <a:rect l="l" t="t" r="r" b="b"/>
            <a:pathLst>
              <a:path w="871141" h="238720">
                <a:moveTo>
                  <a:pt x="50800" y="0"/>
                </a:moveTo>
                <a:lnTo>
                  <a:pt x="820341" y="0"/>
                </a:lnTo>
                <a:arcTo hR="50800" wR="50800" stAng="16200000" swAng="5400000"/>
                <a:lnTo>
                  <a:pt x="871141" y="187920"/>
                </a:lnTo>
                <a:arcTo hR="50800" wR="50800" stAng="0" swAng="5400000"/>
                <a:lnTo>
                  <a:pt x="50800" y="238720"/>
                </a:lnTo>
                <a:arcTo hR="50800" wR="50800" stAng="5400000" swAng="5400000"/>
                <a:lnTo>
                  <a:pt x="0" y="50800"/>
                </a:lnTo>
                <a:arcTo hR="50800" wR="50800" stAng="10800000" swAng="5400000"/>
                <a:close/>
              </a:path>
            </a:pathLst>
          </a:custGeom>
          <a:solidFill>
            <a:srgbClr val="FBF1E6"/>
          </a:solidFill>
          <a:ln/>
        </p:spPr>
        <p:txBody>
          <a:bodyPr wrap="square" lIns="38100" tIns="1270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Daily</a:t>
            </a:r>
            <a:endParaRPr lang="en-US" sz="1200" dirty="0"/>
          </a:p>
        </p:txBody>
      </p:sp>
      <p:sp>
        <p:nvSpPr>
          <p:cNvPr id="14" name="Shape 12"/>
          <p:cNvSpPr/>
          <p:nvPr/>
        </p:nvSpPr>
        <p:spPr>
          <a:xfrm>
            <a:off x="1877616" y="2412206"/>
            <a:ext cx="1004590" cy="1266031"/>
          </a:xfrm>
          <a:prstGeom prst="roundRect">
            <a:avLst>
              <a:gd name="adj" fmla="val 7269"/>
            </a:avLst>
          </a:prstGeom>
          <a:solidFill>
            <a:srgbClr val="FCFCFB"/>
          </a:solidFill>
          <a:ln w="6350">
            <a:solidFill>
              <a:srgbClr val="D3DAE1"/>
            </a:solidFill>
            <a:prstDash val="solid"/>
          </a:ln>
        </p:spPr>
      </p:sp>
      <p:sp>
        <p:nvSpPr>
          <p:cNvPr id="15" name="Text 13"/>
          <p:cNvSpPr/>
          <p:nvPr/>
        </p:nvSpPr>
        <p:spPr>
          <a:xfrm>
            <a:off x="1944291" y="2504281"/>
            <a:ext cx="922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дан 2</a:t>
            </a:r>
            <a:endParaRPr lang="en-US" sz="1200" dirty="0"/>
          </a:p>
        </p:txBody>
      </p:sp>
      <p:sp>
        <p:nvSpPr>
          <p:cNvPr id="16" name="Text 14"/>
          <p:cNvSpPr/>
          <p:nvPr/>
        </p:nvSpPr>
        <p:spPr>
          <a:xfrm>
            <a:off x="1944291" y="2768402"/>
            <a:ext cx="871240" cy="238720"/>
          </a:xfrm>
          <a:custGeom>
            <a:avLst/>
            <a:gdLst/>
            <a:ahLst/>
            <a:cxnLst/>
            <a:rect l="l" t="t" r="r" b="b"/>
            <a:pathLst>
              <a:path w="871240" h="238720">
                <a:moveTo>
                  <a:pt x="50800" y="0"/>
                </a:moveTo>
                <a:lnTo>
                  <a:pt x="820440" y="0"/>
                </a:lnTo>
                <a:arcTo hR="50800" wR="50800" stAng="16200000" swAng="5400000"/>
                <a:lnTo>
                  <a:pt x="871240" y="187920"/>
                </a:lnTo>
                <a:arcTo hR="50800" wR="50800" stAng="0" swAng="5400000"/>
                <a:lnTo>
                  <a:pt x="50800" y="238720"/>
                </a:lnTo>
                <a:arcTo hR="50800" wR="50800" stAng="5400000" swAng="5400000"/>
                <a:lnTo>
                  <a:pt x="0" y="50800"/>
                </a:lnTo>
                <a:arcTo hR="50800" wR="50800" stAng="10800000" swAng="5400000"/>
                <a:close/>
              </a:path>
            </a:pathLst>
          </a:custGeom>
          <a:solidFill>
            <a:srgbClr val="FBF1E6"/>
          </a:solidFill>
          <a:ln/>
        </p:spPr>
        <p:txBody>
          <a:bodyPr wrap="square" lIns="38100" tIns="1270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Daily</a:t>
            </a:r>
            <a:endParaRPr lang="en-US" sz="1200" dirty="0"/>
          </a:p>
        </p:txBody>
      </p:sp>
      <p:sp>
        <p:nvSpPr>
          <p:cNvPr id="17" name="Shape 15"/>
          <p:cNvSpPr/>
          <p:nvPr/>
        </p:nvSpPr>
        <p:spPr>
          <a:xfrm>
            <a:off x="2939355" y="2412206"/>
            <a:ext cx="1004590" cy="1266031"/>
          </a:xfrm>
          <a:prstGeom prst="roundRect">
            <a:avLst>
              <a:gd name="adj" fmla="val 7269"/>
            </a:avLst>
          </a:prstGeom>
          <a:solidFill>
            <a:srgbClr val="FCFCFB"/>
          </a:solidFill>
          <a:ln w="6350">
            <a:solidFill>
              <a:srgbClr val="D3DAE1"/>
            </a:solidFill>
            <a:prstDash val="solid"/>
          </a:ln>
        </p:spPr>
      </p:sp>
      <p:sp>
        <p:nvSpPr>
          <p:cNvPr id="18" name="Text 16"/>
          <p:cNvSpPr/>
          <p:nvPr/>
        </p:nvSpPr>
        <p:spPr>
          <a:xfrm>
            <a:off x="3006030" y="2504281"/>
            <a:ext cx="922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дан 3</a:t>
            </a:r>
            <a:endParaRPr lang="en-US" sz="1200" dirty="0"/>
          </a:p>
        </p:txBody>
      </p:sp>
      <p:sp>
        <p:nvSpPr>
          <p:cNvPr id="19" name="Text 17"/>
          <p:cNvSpPr/>
          <p:nvPr/>
        </p:nvSpPr>
        <p:spPr>
          <a:xfrm>
            <a:off x="3006030" y="2768402"/>
            <a:ext cx="871240" cy="238720"/>
          </a:xfrm>
          <a:custGeom>
            <a:avLst/>
            <a:gdLst/>
            <a:ahLst/>
            <a:cxnLst/>
            <a:rect l="l" t="t" r="r" b="b"/>
            <a:pathLst>
              <a:path w="871240" h="238720">
                <a:moveTo>
                  <a:pt x="50800" y="0"/>
                </a:moveTo>
                <a:lnTo>
                  <a:pt x="820440" y="0"/>
                </a:lnTo>
                <a:arcTo hR="50800" wR="50800" stAng="16200000" swAng="5400000"/>
                <a:lnTo>
                  <a:pt x="871240" y="187920"/>
                </a:lnTo>
                <a:arcTo hR="50800" wR="50800" stAng="0" swAng="5400000"/>
                <a:lnTo>
                  <a:pt x="50800" y="238720"/>
                </a:lnTo>
                <a:arcTo hR="50800" wR="50800" stAng="5400000" swAng="5400000"/>
                <a:lnTo>
                  <a:pt x="0" y="50800"/>
                </a:lnTo>
                <a:arcTo hR="50800" wR="50800" stAng="10800000" swAng="5400000"/>
                <a:close/>
              </a:path>
            </a:pathLst>
          </a:custGeom>
          <a:solidFill>
            <a:srgbClr val="FBF1E6"/>
          </a:solidFill>
          <a:ln/>
        </p:spPr>
        <p:txBody>
          <a:bodyPr wrap="square" lIns="38100" tIns="1270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Daily</a:t>
            </a:r>
            <a:endParaRPr lang="en-US" sz="1200" dirty="0"/>
          </a:p>
        </p:txBody>
      </p:sp>
      <p:sp>
        <p:nvSpPr>
          <p:cNvPr id="20" name="Shape 18"/>
          <p:cNvSpPr/>
          <p:nvPr/>
        </p:nvSpPr>
        <p:spPr>
          <a:xfrm>
            <a:off x="4001095" y="2412206"/>
            <a:ext cx="1004590" cy="1266031"/>
          </a:xfrm>
          <a:prstGeom prst="roundRect">
            <a:avLst>
              <a:gd name="adj" fmla="val 7269"/>
            </a:avLst>
          </a:prstGeom>
          <a:solidFill>
            <a:srgbClr val="FCFCFB"/>
          </a:solidFill>
          <a:ln w="6350">
            <a:solidFill>
              <a:srgbClr val="D3DAE1"/>
            </a:solidFill>
            <a:prstDash val="solid"/>
          </a:ln>
        </p:spPr>
      </p:sp>
      <p:sp>
        <p:nvSpPr>
          <p:cNvPr id="21" name="Text 19"/>
          <p:cNvSpPr/>
          <p:nvPr/>
        </p:nvSpPr>
        <p:spPr>
          <a:xfrm>
            <a:off x="4067770" y="2504281"/>
            <a:ext cx="922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дан 4</a:t>
            </a:r>
            <a:endParaRPr lang="en-US" sz="1200" dirty="0"/>
          </a:p>
        </p:txBody>
      </p:sp>
      <p:sp>
        <p:nvSpPr>
          <p:cNvPr id="22" name="Text 20"/>
          <p:cNvSpPr/>
          <p:nvPr/>
        </p:nvSpPr>
        <p:spPr>
          <a:xfrm>
            <a:off x="4067770" y="2768402"/>
            <a:ext cx="871240" cy="238720"/>
          </a:xfrm>
          <a:custGeom>
            <a:avLst/>
            <a:gdLst/>
            <a:ahLst/>
            <a:cxnLst/>
            <a:rect l="l" t="t" r="r" b="b"/>
            <a:pathLst>
              <a:path w="871240" h="238720">
                <a:moveTo>
                  <a:pt x="50800" y="0"/>
                </a:moveTo>
                <a:lnTo>
                  <a:pt x="820440" y="0"/>
                </a:lnTo>
                <a:arcTo hR="50800" wR="50800" stAng="16200000" swAng="5400000"/>
                <a:lnTo>
                  <a:pt x="871240" y="187920"/>
                </a:lnTo>
                <a:arcTo hR="50800" wR="50800" stAng="0" swAng="5400000"/>
                <a:lnTo>
                  <a:pt x="50800" y="238720"/>
                </a:lnTo>
                <a:arcTo hR="50800" wR="50800" stAng="5400000" swAng="5400000"/>
                <a:lnTo>
                  <a:pt x="0" y="50800"/>
                </a:lnTo>
                <a:arcTo hR="50800" wR="50800" stAng="10800000" swAng="5400000"/>
                <a:close/>
              </a:path>
            </a:pathLst>
          </a:custGeom>
          <a:solidFill>
            <a:srgbClr val="FBF1E6"/>
          </a:solidFill>
          <a:ln/>
        </p:spPr>
        <p:txBody>
          <a:bodyPr wrap="square" lIns="38100" tIns="1270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Daily</a:t>
            </a:r>
            <a:endParaRPr lang="en-US" sz="1200" dirty="0"/>
          </a:p>
        </p:txBody>
      </p:sp>
      <p:sp>
        <p:nvSpPr>
          <p:cNvPr id="23" name="Shape 21"/>
          <p:cNvSpPr/>
          <p:nvPr/>
        </p:nvSpPr>
        <p:spPr>
          <a:xfrm>
            <a:off x="5062835" y="2412206"/>
            <a:ext cx="1004491" cy="1266031"/>
          </a:xfrm>
          <a:prstGeom prst="roundRect">
            <a:avLst>
              <a:gd name="adj" fmla="val 7270"/>
            </a:avLst>
          </a:prstGeom>
          <a:solidFill>
            <a:srgbClr val="FCFCFB"/>
          </a:solidFill>
          <a:ln w="6350">
            <a:solidFill>
              <a:srgbClr val="D3DAE1"/>
            </a:solidFill>
            <a:prstDash val="solid"/>
          </a:ln>
        </p:spPr>
      </p:sp>
      <p:sp>
        <p:nvSpPr>
          <p:cNvPr id="24" name="Text 22"/>
          <p:cNvSpPr/>
          <p:nvPr/>
        </p:nvSpPr>
        <p:spPr>
          <a:xfrm>
            <a:off x="5129510" y="2504281"/>
            <a:ext cx="9219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дан 5</a:t>
            </a:r>
            <a:endParaRPr lang="en-US" sz="1200" dirty="0"/>
          </a:p>
        </p:txBody>
      </p:sp>
      <p:sp>
        <p:nvSpPr>
          <p:cNvPr id="25" name="Text 23"/>
          <p:cNvSpPr/>
          <p:nvPr/>
        </p:nvSpPr>
        <p:spPr>
          <a:xfrm>
            <a:off x="5129510" y="2768402"/>
            <a:ext cx="871141" cy="238720"/>
          </a:xfrm>
          <a:custGeom>
            <a:avLst/>
            <a:gdLst/>
            <a:ahLst/>
            <a:cxnLst/>
            <a:rect l="l" t="t" r="r" b="b"/>
            <a:pathLst>
              <a:path w="871141" h="238720">
                <a:moveTo>
                  <a:pt x="50800" y="0"/>
                </a:moveTo>
                <a:lnTo>
                  <a:pt x="820341" y="0"/>
                </a:lnTo>
                <a:arcTo hR="50800" wR="50800" stAng="16200000" swAng="5400000"/>
                <a:lnTo>
                  <a:pt x="871141" y="187920"/>
                </a:lnTo>
                <a:arcTo hR="50800" wR="50800" stAng="0" swAng="5400000"/>
                <a:lnTo>
                  <a:pt x="50800" y="238720"/>
                </a:lnTo>
                <a:arcTo hR="50800" wR="50800" stAng="5400000" swAng="5400000"/>
                <a:lnTo>
                  <a:pt x="0" y="50800"/>
                </a:lnTo>
                <a:arcTo hR="50800" wR="50800" stAng="10800000" swAng="5400000"/>
                <a:close/>
              </a:path>
            </a:pathLst>
          </a:custGeom>
          <a:solidFill>
            <a:srgbClr val="FBF1E6"/>
          </a:solidFill>
          <a:ln/>
        </p:spPr>
        <p:txBody>
          <a:bodyPr wrap="square" lIns="38100" tIns="1270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Daily</a:t>
            </a:r>
            <a:endParaRPr lang="en-US" sz="1200" dirty="0"/>
          </a:p>
        </p:txBody>
      </p:sp>
      <p:sp>
        <p:nvSpPr>
          <p:cNvPr id="26" name="Shape 24"/>
          <p:cNvSpPr/>
          <p:nvPr/>
        </p:nvSpPr>
        <p:spPr>
          <a:xfrm>
            <a:off x="6124476" y="2412206"/>
            <a:ext cx="1004590" cy="1266031"/>
          </a:xfrm>
          <a:prstGeom prst="roundRect">
            <a:avLst>
              <a:gd name="adj" fmla="val 7269"/>
            </a:avLst>
          </a:prstGeom>
          <a:solidFill>
            <a:srgbClr val="FCFCFB"/>
          </a:solidFill>
          <a:ln w="6350">
            <a:solidFill>
              <a:srgbClr val="D3DAE1"/>
            </a:solidFill>
            <a:prstDash val="solid"/>
          </a:ln>
        </p:spPr>
      </p:sp>
      <p:sp>
        <p:nvSpPr>
          <p:cNvPr id="27" name="Text 25"/>
          <p:cNvSpPr/>
          <p:nvPr/>
        </p:nvSpPr>
        <p:spPr>
          <a:xfrm>
            <a:off x="6191151" y="2504281"/>
            <a:ext cx="922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дан 6</a:t>
            </a:r>
            <a:endParaRPr lang="en-US" sz="1200" dirty="0"/>
          </a:p>
        </p:txBody>
      </p:sp>
      <p:sp>
        <p:nvSpPr>
          <p:cNvPr id="28" name="Text 26"/>
          <p:cNvSpPr/>
          <p:nvPr/>
        </p:nvSpPr>
        <p:spPr>
          <a:xfrm>
            <a:off x="6191151" y="2768402"/>
            <a:ext cx="871240" cy="238720"/>
          </a:xfrm>
          <a:custGeom>
            <a:avLst/>
            <a:gdLst/>
            <a:ahLst/>
            <a:cxnLst/>
            <a:rect l="l" t="t" r="r" b="b"/>
            <a:pathLst>
              <a:path w="871240" h="238720">
                <a:moveTo>
                  <a:pt x="50800" y="0"/>
                </a:moveTo>
                <a:lnTo>
                  <a:pt x="820440" y="0"/>
                </a:lnTo>
                <a:arcTo hR="50800" wR="50800" stAng="16200000" swAng="5400000"/>
                <a:lnTo>
                  <a:pt x="871240" y="187920"/>
                </a:lnTo>
                <a:arcTo hR="50800" wR="50800" stAng="0" swAng="5400000"/>
                <a:lnTo>
                  <a:pt x="50800" y="238720"/>
                </a:lnTo>
                <a:arcTo hR="50800" wR="50800" stAng="5400000" swAng="5400000"/>
                <a:lnTo>
                  <a:pt x="0" y="50800"/>
                </a:lnTo>
                <a:arcTo hR="50800" wR="50800" stAng="10800000" swAng="5400000"/>
                <a:close/>
              </a:path>
            </a:pathLst>
          </a:custGeom>
          <a:solidFill>
            <a:srgbClr val="FBF1E6"/>
          </a:solidFill>
          <a:ln/>
        </p:spPr>
        <p:txBody>
          <a:bodyPr wrap="square" lIns="38100" tIns="1270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Daily</a:t>
            </a:r>
            <a:endParaRPr lang="en-US" sz="1200" dirty="0"/>
          </a:p>
        </p:txBody>
      </p:sp>
      <p:sp>
        <p:nvSpPr>
          <p:cNvPr id="29" name="Shape 27"/>
          <p:cNvSpPr/>
          <p:nvPr/>
        </p:nvSpPr>
        <p:spPr>
          <a:xfrm>
            <a:off x="7186216" y="2412206"/>
            <a:ext cx="1004590" cy="1266031"/>
          </a:xfrm>
          <a:prstGeom prst="roundRect">
            <a:avLst>
              <a:gd name="adj" fmla="val 7269"/>
            </a:avLst>
          </a:prstGeom>
          <a:solidFill>
            <a:srgbClr val="FCFCFB"/>
          </a:solidFill>
          <a:ln w="6350">
            <a:solidFill>
              <a:srgbClr val="D3DAE1"/>
            </a:solidFill>
            <a:prstDash val="solid"/>
          </a:ln>
        </p:spPr>
      </p:sp>
      <p:sp>
        <p:nvSpPr>
          <p:cNvPr id="30" name="Text 28"/>
          <p:cNvSpPr/>
          <p:nvPr/>
        </p:nvSpPr>
        <p:spPr>
          <a:xfrm>
            <a:off x="7252891" y="2504281"/>
            <a:ext cx="922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дан 7</a:t>
            </a:r>
            <a:endParaRPr lang="en-US" sz="1200" dirty="0"/>
          </a:p>
        </p:txBody>
      </p:sp>
      <p:sp>
        <p:nvSpPr>
          <p:cNvPr id="31" name="Text 29"/>
          <p:cNvSpPr/>
          <p:nvPr/>
        </p:nvSpPr>
        <p:spPr>
          <a:xfrm>
            <a:off x="7252891" y="2768402"/>
            <a:ext cx="871240" cy="238720"/>
          </a:xfrm>
          <a:custGeom>
            <a:avLst/>
            <a:gdLst/>
            <a:ahLst/>
            <a:cxnLst/>
            <a:rect l="l" t="t" r="r" b="b"/>
            <a:pathLst>
              <a:path w="871240" h="238720">
                <a:moveTo>
                  <a:pt x="50800" y="0"/>
                </a:moveTo>
                <a:lnTo>
                  <a:pt x="820440" y="0"/>
                </a:lnTo>
                <a:arcTo hR="50800" wR="50800" stAng="16200000" swAng="5400000"/>
                <a:lnTo>
                  <a:pt x="871240" y="187920"/>
                </a:lnTo>
                <a:arcTo hR="50800" wR="50800" stAng="0" swAng="5400000"/>
                <a:lnTo>
                  <a:pt x="50800" y="238720"/>
                </a:lnTo>
                <a:arcTo hR="50800" wR="50800" stAng="5400000" swAng="5400000"/>
                <a:lnTo>
                  <a:pt x="0" y="50800"/>
                </a:lnTo>
                <a:arcTo hR="50800" wR="50800" stAng="10800000" swAng="5400000"/>
                <a:close/>
              </a:path>
            </a:pathLst>
          </a:custGeom>
          <a:solidFill>
            <a:srgbClr val="FBF1E6"/>
          </a:solidFill>
          <a:ln/>
        </p:spPr>
        <p:txBody>
          <a:bodyPr wrap="square" lIns="38100" tIns="1270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Daily</a:t>
            </a:r>
            <a:endParaRPr lang="en-US" sz="1200" dirty="0"/>
          </a:p>
        </p:txBody>
      </p:sp>
      <p:sp>
        <p:nvSpPr>
          <p:cNvPr id="32" name="Shape 30"/>
          <p:cNvSpPr/>
          <p:nvPr/>
        </p:nvSpPr>
        <p:spPr>
          <a:xfrm>
            <a:off x="8247955" y="2412206"/>
            <a:ext cx="1004590" cy="1266031"/>
          </a:xfrm>
          <a:prstGeom prst="roundRect">
            <a:avLst>
              <a:gd name="adj" fmla="val 7269"/>
            </a:avLst>
          </a:prstGeom>
          <a:solidFill>
            <a:srgbClr val="FCFCFB"/>
          </a:solidFill>
          <a:ln w="6350">
            <a:solidFill>
              <a:srgbClr val="D3DAE1"/>
            </a:solidFill>
            <a:prstDash val="solid"/>
          </a:ln>
        </p:spPr>
      </p:sp>
      <p:sp>
        <p:nvSpPr>
          <p:cNvPr id="33" name="Text 31"/>
          <p:cNvSpPr/>
          <p:nvPr/>
        </p:nvSpPr>
        <p:spPr>
          <a:xfrm>
            <a:off x="8314630" y="2504281"/>
            <a:ext cx="922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дан 8</a:t>
            </a:r>
            <a:endParaRPr lang="en-US" sz="1200" dirty="0"/>
          </a:p>
        </p:txBody>
      </p:sp>
      <p:sp>
        <p:nvSpPr>
          <p:cNvPr id="34" name="Text 32"/>
          <p:cNvSpPr/>
          <p:nvPr/>
        </p:nvSpPr>
        <p:spPr>
          <a:xfrm>
            <a:off x="8314630" y="2768402"/>
            <a:ext cx="871240" cy="238720"/>
          </a:xfrm>
          <a:custGeom>
            <a:avLst/>
            <a:gdLst/>
            <a:ahLst/>
            <a:cxnLst/>
            <a:rect l="l" t="t" r="r" b="b"/>
            <a:pathLst>
              <a:path w="871240" h="238720">
                <a:moveTo>
                  <a:pt x="50800" y="0"/>
                </a:moveTo>
                <a:lnTo>
                  <a:pt x="820440" y="0"/>
                </a:lnTo>
                <a:arcTo hR="50800" wR="50800" stAng="16200000" swAng="5400000"/>
                <a:lnTo>
                  <a:pt x="871240" y="187920"/>
                </a:lnTo>
                <a:arcTo hR="50800" wR="50800" stAng="0" swAng="5400000"/>
                <a:lnTo>
                  <a:pt x="50800" y="238720"/>
                </a:lnTo>
                <a:arcTo hR="50800" wR="50800" stAng="5400000" swAng="5400000"/>
                <a:lnTo>
                  <a:pt x="0" y="50800"/>
                </a:lnTo>
                <a:arcTo hR="50800" wR="50800" stAng="10800000" swAng="5400000"/>
                <a:close/>
              </a:path>
            </a:pathLst>
          </a:custGeom>
          <a:solidFill>
            <a:srgbClr val="FBF1E6"/>
          </a:solidFill>
          <a:ln/>
        </p:spPr>
        <p:txBody>
          <a:bodyPr wrap="square" lIns="38100" tIns="1270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Daily</a:t>
            </a:r>
            <a:endParaRPr lang="en-US" sz="1200" dirty="0"/>
          </a:p>
        </p:txBody>
      </p:sp>
      <p:sp>
        <p:nvSpPr>
          <p:cNvPr id="35" name="Shape 33"/>
          <p:cNvSpPr/>
          <p:nvPr/>
        </p:nvSpPr>
        <p:spPr>
          <a:xfrm>
            <a:off x="9309695" y="2412206"/>
            <a:ext cx="1004590" cy="1266031"/>
          </a:xfrm>
          <a:prstGeom prst="roundRect">
            <a:avLst>
              <a:gd name="adj" fmla="val 7269"/>
            </a:avLst>
          </a:prstGeom>
          <a:solidFill>
            <a:srgbClr val="FCFCFB"/>
          </a:solidFill>
          <a:ln w="6350">
            <a:solidFill>
              <a:srgbClr val="D3DAE1"/>
            </a:solidFill>
            <a:prstDash val="solid"/>
          </a:ln>
        </p:spPr>
      </p:sp>
      <p:sp>
        <p:nvSpPr>
          <p:cNvPr id="36" name="Text 34"/>
          <p:cNvSpPr/>
          <p:nvPr/>
        </p:nvSpPr>
        <p:spPr>
          <a:xfrm>
            <a:off x="9376370" y="2504281"/>
            <a:ext cx="922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дан 9</a:t>
            </a:r>
            <a:endParaRPr lang="en-US" sz="1200" dirty="0"/>
          </a:p>
        </p:txBody>
      </p:sp>
      <p:sp>
        <p:nvSpPr>
          <p:cNvPr id="37" name="Text 35"/>
          <p:cNvSpPr/>
          <p:nvPr/>
        </p:nvSpPr>
        <p:spPr>
          <a:xfrm>
            <a:off x="9376370" y="2768402"/>
            <a:ext cx="871240" cy="238720"/>
          </a:xfrm>
          <a:custGeom>
            <a:avLst/>
            <a:gdLst/>
            <a:ahLst/>
            <a:cxnLst/>
            <a:rect l="l" t="t" r="r" b="b"/>
            <a:pathLst>
              <a:path w="871240" h="238720">
                <a:moveTo>
                  <a:pt x="50800" y="0"/>
                </a:moveTo>
                <a:lnTo>
                  <a:pt x="820440" y="0"/>
                </a:lnTo>
                <a:arcTo hR="50800" wR="50800" stAng="16200000" swAng="5400000"/>
                <a:lnTo>
                  <a:pt x="871240" y="187920"/>
                </a:lnTo>
                <a:arcTo hR="50800" wR="50800" stAng="0" swAng="5400000"/>
                <a:lnTo>
                  <a:pt x="50800" y="238720"/>
                </a:lnTo>
                <a:arcTo hR="50800" wR="50800" stAng="5400000" swAng="5400000"/>
                <a:lnTo>
                  <a:pt x="0" y="50800"/>
                </a:lnTo>
                <a:arcTo hR="50800" wR="50800" stAng="10800000" swAng="5400000"/>
                <a:close/>
              </a:path>
            </a:pathLst>
          </a:custGeom>
          <a:solidFill>
            <a:srgbClr val="FBF1E6"/>
          </a:solidFill>
          <a:ln/>
        </p:spPr>
        <p:txBody>
          <a:bodyPr wrap="square" lIns="38100" tIns="1270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Daily</a:t>
            </a:r>
            <a:endParaRPr lang="en-US" sz="1200" dirty="0"/>
          </a:p>
        </p:txBody>
      </p:sp>
      <p:sp>
        <p:nvSpPr>
          <p:cNvPr id="38" name="Shape 36"/>
          <p:cNvSpPr/>
          <p:nvPr/>
        </p:nvSpPr>
        <p:spPr>
          <a:xfrm>
            <a:off x="10371435" y="2412206"/>
            <a:ext cx="1004491" cy="1266031"/>
          </a:xfrm>
          <a:prstGeom prst="roundRect">
            <a:avLst>
              <a:gd name="adj" fmla="val 7270"/>
            </a:avLst>
          </a:prstGeom>
          <a:solidFill>
            <a:srgbClr val="FCFCFB"/>
          </a:solidFill>
          <a:ln w="6350">
            <a:solidFill>
              <a:srgbClr val="D3DAE1"/>
            </a:solidFill>
            <a:prstDash val="solid"/>
          </a:ln>
        </p:spPr>
      </p:sp>
      <p:sp>
        <p:nvSpPr>
          <p:cNvPr id="39" name="Text 37"/>
          <p:cNvSpPr/>
          <p:nvPr/>
        </p:nvSpPr>
        <p:spPr>
          <a:xfrm>
            <a:off x="10438110" y="2504281"/>
            <a:ext cx="9219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дан 10</a:t>
            </a:r>
            <a:endParaRPr lang="en-US" sz="1200" dirty="0"/>
          </a:p>
        </p:txBody>
      </p:sp>
      <p:sp>
        <p:nvSpPr>
          <p:cNvPr id="40" name="Text 38"/>
          <p:cNvSpPr/>
          <p:nvPr/>
        </p:nvSpPr>
        <p:spPr>
          <a:xfrm>
            <a:off x="10438110" y="2768402"/>
            <a:ext cx="871141" cy="238720"/>
          </a:xfrm>
          <a:custGeom>
            <a:avLst/>
            <a:gdLst/>
            <a:ahLst/>
            <a:cxnLst/>
            <a:rect l="l" t="t" r="r" b="b"/>
            <a:pathLst>
              <a:path w="871141" h="238720">
                <a:moveTo>
                  <a:pt x="50800" y="0"/>
                </a:moveTo>
                <a:lnTo>
                  <a:pt x="820341" y="0"/>
                </a:lnTo>
                <a:arcTo hR="50800" wR="50800" stAng="16200000" swAng="5400000"/>
                <a:lnTo>
                  <a:pt x="871141" y="187920"/>
                </a:lnTo>
                <a:arcTo hR="50800" wR="50800" stAng="0" swAng="5400000"/>
                <a:lnTo>
                  <a:pt x="50800" y="238720"/>
                </a:lnTo>
                <a:arcTo hR="50800" wR="50800" stAng="5400000" swAng="5400000"/>
                <a:lnTo>
                  <a:pt x="0" y="50800"/>
                </a:lnTo>
                <a:arcTo hR="50800" wR="50800" stAng="10800000" swAng="5400000"/>
                <a:close/>
              </a:path>
            </a:pathLst>
          </a:custGeom>
          <a:solidFill>
            <a:srgbClr val="FBF1E6"/>
          </a:solidFill>
          <a:ln/>
        </p:spPr>
        <p:txBody>
          <a:bodyPr wrap="square" lIns="38100" tIns="1270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Daily</a:t>
            </a:r>
            <a:endParaRPr lang="en-US" sz="1200" dirty="0"/>
          </a:p>
        </p:txBody>
      </p:sp>
      <p:sp>
        <p:nvSpPr>
          <p:cNvPr id="41" name="Text 39"/>
          <p:cNvSpPr/>
          <p:nvPr/>
        </p:nvSpPr>
        <p:spPr>
          <a:xfrm>
            <a:off x="10438110" y="3057922"/>
            <a:ext cx="871141" cy="238720"/>
          </a:xfrm>
          <a:custGeom>
            <a:avLst/>
            <a:gdLst/>
            <a:ahLst/>
            <a:cxnLst/>
            <a:rect l="l" t="t" r="r" b="b"/>
            <a:pathLst>
              <a:path w="871141" h="238720">
                <a:moveTo>
                  <a:pt x="50800" y="0"/>
                </a:moveTo>
                <a:lnTo>
                  <a:pt x="820341" y="0"/>
                </a:lnTo>
                <a:arcTo hR="50800" wR="50800" stAng="16200000" swAng="5400000"/>
                <a:lnTo>
                  <a:pt x="871141" y="187920"/>
                </a:lnTo>
                <a:arcTo hR="50800" wR="50800" stAng="0" swAng="5400000"/>
                <a:lnTo>
                  <a:pt x="50800" y="238720"/>
                </a:lnTo>
                <a:arcTo hR="50800" wR="50800" stAng="5400000" swAng="5400000"/>
                <a:lnTo>
                  <a:pt x="0" y="50800"/>
                </a:lnTo>
                <a:arcTo hR="50800" wR="50800" stAng="10800000" swAng="5400000"/>
                <a:close/>
              </a:path>
            </a:pathLst>
          </a:custGeom>
          <a:solidFill>
            <a:srgbClr val="0E6E68"/>
          </a:solidFill>
          <a:ln/>
        </p:spPr>
        <p:txBody>
          <a:bodyPr wrap="square" lIns="38100" tIns="12700" rIns="0" bIns="0" rtlCol="0" anchor="t">
            <a:normAutofit/>
          </a:bodyPr>
          <a:lstStyle/>
          <a:p>
            <a:pPr algn="l" indent="0" marL="0">
              <a:lnSpc>
                <a:spcPts val="1680"/>
              </a:lnSpc>
              <a:buNone/>
            </a:pPr>
            <a:r>
              <a:rPr lang="en-US" sz="1200" b="1" dirty="0">
                <a:solidFill>
                  <a:srgbClr val="FCFCFB"/>
                </a:solidFill>
                <a:latin typeface="IBM Plex Sans" pitchFamily="34" charset="0"/>
                <a:ea typeface="IBM Plex Sans" pitchFamily="34" charset="-122"/>
                <a:cs typeface="IBM Plex Sans" pitchFamily="34" charset="-120"/>
              </a:rPr>
              <a:t>Review</a:t>
            </a:r>
            <a:endParaRPr lang="en-US" sz="1200" dirty="0"/>
          </a:p>
        </p:txBody>
      </p:sp>
      <p:sp>
        <p:nvSpPr>
          <p:cNvPr id="42" name="Text 40"/>
          <p:cNvSpPr/>
          <p:nvPr/>
        </p:nvSpPr>
        <p:spPr>
          <a:xfrm>
            <a:off x="10438110" y="3347442"/>
            <a:ext cx="871141" cy="238720"/>
          </a:xfrm>
          <a:custGeom>
            <a:avLst/>
            <a:gdLst/>
            <a:ahLst/>
            <a:cxnLst/>
            <a:rect l="l" t="t" r="r" b="b"/>
            <a:pathLst>
              <a:path w="871141" h="238720">
                <a:moveTo>
                  <a:pt x="50800" y="0"/>
                </a:moveTo>
                <a:lnTo>
                  <a:pt x="820341" y="0"/>
                </a:lnTo>
                <a:arcTo hR="50800" wR="50800" stAng="16200000" swAng="5400000"/>
                <a:lnTo>
                  <a:pt x="871141" y="187920"/>
                </a:lnTo>
                <a:arcTo hR="50800" wR="50800" stAng="0" swAng="5400000"/>
                <a:lnTo>
                  <a:pt x="50800" y="238720"/>
                </a:lnTo>
                <a:arcTo hR="50800" wR="50800" stAng="5400000" swAng="5400000"/>
                <a:lnTo>
                  <a:pt x="0" y="50800"/>
                </a:lnTo>
                <a:arcTo hR="50800" wR="50800" stAng="10800000" swAng="5400000"/>
                <a:close/>
              </a:path>
            </a:pathLst>
          </a:custGeom>
          <a:solidFill>
            <a:srgbClr val="13202D"/>
          </a:solidFill>
          <a:ln/>
        </p:spPr>
        <p:txBody>
          <a:bodyPr wrap="square" lIns="38100" tIns="12700" rIns="0" bIns="0" rtlCol="0" anchor="t">
            <a:normAutofit/>
          </a:bodyPr>
          <a:lstStyle/>
          <a:p>
            <a:pPr algn="l" indent="0" marL="0">
              <a:lnSpc>
                <a:spcPts val="1680"/>
              </a:lnSpc>
              <a:buNone/>
            </a:pPr>
            <a:r>
              <a:rPr lang="en-US" sz="1200" b="1" dirty="0">
                <a:solidFill>
                  <a:srgbClr val="FCFCFB"/>
                </a:solidFill>
                <a:latin typeface="IBM Plex Sans" pitchFamily="34" charset="0"/>
                <a:ea typeface="IBM Plex Sans" pitchFamily="34" charset="-122"/>
                <a:cs typeface="IBM Plex Sans" pitchFamily="34" charset="-120"/>
              </a:rPr>
              <a:t>Retro</a:t>
            </a:r>
            <a:endParaRPr lang="en-US" sz="1200" dirty="0"/>
          </a:p>
        </p:txBody>
      </p:sp>
      <p:sp>
        <p:nvSpPr>
          <p:cNvPr id="43" name="Shape 41"/>
          <p:cNvSpPr/>
          <p:nvPr/>
        </p:nvSpPr>
        <p:spPr>
          <a:xfrm>
            <a:off x="812800" y="3884613"/>
            <a:ext cx="2032000" cy="764480"/>
          </a:xfrm>
          <a:prstGeom prst="roundRect">
            <a:avLst>
              <a:gd name="adj" fmla="val 11629"/>
            </a:avLst>
          </a:prstGeom>
          <a:solidFill>
            <a:srgbClr val="E2EBE9"/>
          </a:solidFill>
          <a:ln/>
        </p:spPr>
      </p:sp>
      <p:sp>
        <p:nvSpPr>
          <p:cNvPr id="44" name="Text 42"/>
          <p:cNvSpPr/>
          <p:nvPr/>
        </p:nvSpPr>
        <p:spPr>
          <a:xfrm>
            <a:off x="952500" y="3998913"/>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Sprint</a:t>
            </a:r>
            <a:endParaRPr lang="en-US" sz="1200" dirty="0"/>
          </a:p>
        </p:txBody>
      </p:sp>
      <p:sp>
        <p:nvSpPr>
          <p:cNvPr id="45" name="Text 43"/>
          <p:cNvSpPr/>
          <p:nvPr/>
        </p:nvSpPr>
        <p:spPr>
          <a:xfrm>
            <a:off x="952500" y="4250333"/>
            <a:ext cx="180517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6E68"/>
                </a:solidFill>
                <a:latin typeface="IBM Plex Mono" pitchFamily="49" charset="0"/>
                <a:ea typeface="IBM Plex Mono" pitchFamily="49" charset="-122"/>
                <a:cs typeface="IBM Plex Mono" pitchFamily="49" charset="-120"/>
              </a:rPr>
              <a:t>≤ 1 месец</a:t>
            </a:r>
            <a:endParaRPr lang="en-US" sz="1600" dirty="0"/>
          </a:p>
        </p:txBody>
      </p:sp>
      <p:sp>
        <p:nvSpPr>
          <p:cNvPr id="46" name="Shape 44"/>
          <p:cNvSpPr/>
          <p:nvPr/>
        </p:nvSpPr>
        <p:spPr>
          <a:xfrm>
            <a:off x="2946400" y="3884613"/>
            <a:ext cx="2032000" cy="764480"/>
          </a:xfrm>
          <a:prstGeom prst="roundRect">
            <a:avLst>
              <a:gd name="adj" fmla="val 11629"/>
            </a:avLst>
          </a:prstGeom>
          <a:solidFill>
            <a:srgbClr val="E2EBE9"/>
          </a:solidFill>
          <a:ln/>
        </p:spPr>
      </p:sp>
      <p:sp>
        <p:nvSpPr>
          <p:cNvPr id="47" name="Text 45"/>
          <p:cNvSpPr/>
          <p:nvPr/>
        </p:nvSpPr>
        <p:spPr>
          <a:xfrm>
            <a:off x="3086100" y="3998913"/>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Sprint Planning</a:t>
            </a:r>
            <a:endParaRPr lang="en-US" sz="1200" dirty="0"/>
          </a:p>
        </p:txBody>
      </p:sp>
      <p:sp>
        <p:nvSpPr>
          <p:cNvPr id="48" name="Text 46"/>
          <p:cNvSpPr/>
          <p:nvPr/>
        </p:nvSpPr>
        <p:spPr>
          <a:xfrm>
            <a:off x="3086100" y="4250333"/>
            <a:ext cx="180517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6E68"/>
                </a:solidFill>
                <a:latin typeface="IBM Plex Mono" pitchFamily="49" charset="0"/>
                <a:ea typeface="IBM Plex Mono" pitchFamily="49" charset="-122"/>
                <a:cs typeface="IBM Plex Mono" pitchFamily="49" charset="-120"/>
              </a:rPr>
              <a:t>≤ 8 h</a:t>
            </a:r>
            <a:endParaRPr lang="en-US" sz="1600" dirty="0"/>
          </a:p>
        </p:txBody>
      </p:sp>
      <p:sp>
        <p:nvSpPr>
          <p:cNvPr id="49" name="Shape 47"/>
          <p:cNvSpPr/>
          <p:nvPr/>
        </p:nvSpPr>
        <p:spPr>
          <a:xfrm>
            <a:off x="5080000" y="3884613"/>
            <a:ext cx="2032000" cy="764480"/>
          </a:xfrm>
          <a:prstGeom prst="roundRect">
            <a:avLst>
              <a:gd name="adj" fmla="val 11629"/>
            </a:avLst>
          </a:prstGeom>
          <a:solidFill>
            <a:srgbClr val="FBF1E6"/>
          </a:solidFill>
          <a:ln/>
        </p:spPr>
      </p:sp>
      <p:sp>
        <p:nvSpPr>
          <p:cNvPr id="50" name="Text 48"/>
          <p:cNvSpPr/>
          <p:nvPr/>
        </p:nvSpPr>
        <p:spPr>
          <a:xfrm>
            <a:off x="5219700" y="3998913"/>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Daily Scrum</a:t>
            </a:r>
            <a:endParaRPr lang="en-US" sz="1200" dirty="0"/>
          </a:p>
        </p:txBody>
      </p:sp>
      <p:sp>
        <p:nvSpPr>
          <p:cNvPr id="51" name="Text 49"/>
          <p:cNvSpPr/>
          <p:nvPr/>
        </p:nvSpPr>
        <p:spPr>
          <a:xfrm>
            <a:off x="5219700" y="4250333"/>
            <a:ext cx="180517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8520A"/>
                </a:solidFill>
                <a:latin typeface="IBM Plex Mono" pitchFamily="49" charset="0"/>
                <a:ea typeface="IBM Plex Mono" pitchFamily="49" charset="-122"/>
                <a:cs typeface="IBM Plex Mono" pitchFamily="49" charset="-120"/>
              </a:rPr>
              <a:t>15 мин</a:t>
            </a:r>
            <a:endParaRPr lang="en-US" sz="1600" dirty="0"/>
          </a:p>
        </p:txBody>
      </p:sp>
      <p:sp>
        <p:nvSpPr>
          <p:cNvPr id="52" name="Shape 50"/>
          <p:cNvSpPr/>
          <p:nvPr/>
        </p:nvSpPr>
        <p:spPr>
          <a:xfrm>
            <a:off x="7213600" y="3884613"/>
            <a:ext cx="2032000" cy="764480"/>
          </a:xfrm>
          <a:prstGeom prst="roundRect">
            <a:avLst>
              <a:gd name="adj" fmla="val 11629"/>
            </a:avLst>
          </a:prstGeom>
          <a:solidFill>
            <a:srgbClr val="E2EBE9"/>
          </a:solidFill>
          <a:ln/>
        </p:spPr>
      </p:sp>
      <p:sp>
        <p:nvSpPr>
          <p:cNvPr id="53" name="Text 51"/>
          <p:cNvSpPr/>
          <p:nvPr/>
        </p:nvSpPr>
        <p:spPr>
          <a:xfrm>
            <a:off x="7353300" y="3998913"/>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Sprint Review</a:t>
            </a:r>
            <a:endParaRPr lang="en-US" sz="1200" dirty="0"/>
          </a:p>
        </p:txBody>
      </p:sp>
      <p:sp>
        <p:nvSpPr>
          <p:cNvPr id="54" name="Text 52"/>
          <p:cNvSpPr/>
          <p:nvPr/>
        </p:nvSpPr>
        <p:spPr>
          <a:xfrm>
            <a:off x="7353300" y="4250333"/>
            <a:ext cx="180517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6E68"/>
                </a:solidFill>
                <a:latin typeface="IBM Plex Mono" pitchFamily="49" charset="0"/>
                <a:ea typeface="IBM Plex Mono" pitchFamily="49" charset="-122"/>
                <a:cs typeface="IBM Plex Mono" pitchFamily="49" charset="-120"/>
              </a:rPr>
              <a:t>≤ 4 h</a:t>
            </a:r>
            <a:endParaRPr lang="en-US" sz="1600" dirty="0"/>
          </a:p>
        </p:txBody>
      </p:sp>
      <p:sp>
        <p:nvSpPr>
          <p:cNvPr id="55" name="Shape 53"/>
          <p:cNvSpPr/>
          <p:nvPr/>
        </p:nvSpPr>
        <p:spPr>
          <a:xfrm>
            <a:off x="9347200" y="3884613"/>
            <a:ext cx="2032000" cy="764480"/>
          </a:xfrm>
          <a:prstGeom prst="roundRect">
            <a:avLst>
              <a:gd name="adj" fmla="val 11629"/>
            </a:avLst>
          </a:prstGeom>
          <a:solidFill>
            <a:srgbClr val="E2EBE9"/>
          </a:solidFill>
          <a:ln/>
        </p:spPr>
      </p:sp>
      <p:sp>
        <p:nvSpPr>
          <p:cNvPr id="56" name="Text 54"/>
          <p:cNvSpPr/>
          <p:nvPr/>
        </p:nvSpPr>
        <p:spPr>
          <a:xfrm>
            <a:off x="9486900" y="3998913"/>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Retrospective</a:t>
            </a:r>
            <a:endParaRPr lang="en-US" sz="1200" dirty="0"/>
          </a:p>
        </p:txBody>
      </p:sp>
      <p:sp>
        <p:nvSpPr>
          <p:cNvPr id="57" name="Text 55"/>
          <p:cNvSpPr/>
          <p:nvPr/>
        </p:nvSpPr>
        <p:spPr>
          <a:xfrm>
            <a:off x="9486900" y="4250333"/>
            <a:ext cx="180517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6E68"/>
                </a:solidFill>
                <a:latin typeface="IBM Plex Mono" pitchFamily="49" charset="0"/>
                <a:ea typeface="IBM Plex Mono" pitchFamily="49" charset="-122"/>
                <a:cs typeface="IBM Plex Mono" pitchFamily="49" charset="-120"/>
              </a:rPr>
              <a:t>≤ 3 h</a:t>
            </a:r>
            <a:endParaRPr lang="en-US" sz="1600" dirty="0"/>
          </a:p>
        </p:txBody>
      </p:sp>
      <p:sp>
        <p:nvSpPr>
          <p:cNvPr id="58" name="Text 56"/>
          <p:cNvSpPr/>
          <p:nvPr/>
        </p:nvSpPr>
        <p:spPr>
          <a:xfrm>
            <a:off x="812800" y="485229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Наведена трајања важе за Sprint од месец дана. За краћи Sprint догађаји су по правилу краћи.</a:t>
            </a:r>
            <a:endParaRPr lang="en-US" sz="1200" dirty="0"/>
          </a:p>
        </p:txBody>
      </p:sp>
      <p:sp>
        <p:nvSpPr>
          <p:cNvPr id="59" name="Shape 57"/>
          <p:cNvSpPr/>
          <p:nvPr/>
        </p:nvSpPr>
        <p:spPr>
          <a:xfrm>
            <a:off x="812800" y="6209705"/>
            <a:ext cx="10566400" cy="0"/>
          </a:xfrm>
          <a:prstGeom prst="line">
            <a:avLst/>
          </a:prstGeom>
          <a:noFill/>
          <a:ln w="6350">
            <a:solidFill>
              <a:srgbClr val="D3DAE1"/>
            </a:solidFill>
            <a:prstDash val="solid"/>
          </a:ln>
        </p:spPr>
      </p:sp>
      <p:sp>
        <p:nvSpPr>
          <p:cNvPr id="60" name="Text 5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61" name="Text 5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01 · AGILE И SCRUM</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Daily Scrum</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Кратак дневни састанак на коме тим проверава напредак ка циљу Sprint-а.</a:t>
            </a:r>
            <a:endParaRPr lang="en-US" sz="1400" dirty="0"/>
          </a:p>
        </p:txBody>
      </p:sp>
      <p:pic>
        <p:nvPicPr>
          <p:cNvPr id="6" name="Image 0" descr="Скица Daily Scrum-а: четири члана тима око кружног тока од 24 сата">    </p:cNvPr>
          <p:cNvPicPr>
            <a:picLocks noChangeAspect="1"/>
          </p:cNvPicPr>
          <p:nvPr/>
        </p:nvPicPr>
        <p:blipFill>
          <a:blip r:embed="rId1"/>
          <a:srcRect l="0" r="0" t="0" b="0"/>
          <a:stretch/>
        </p:blipFill>
        <p:spPr>
          <a:xfrm>
            <a:off x="812800" y="2075061"/>
            <a:ext cx="3556000" cy="1841500"/>
          </a:xfrm>
          <a:prstGeom prst="rect">
            <a:avLst/>
          </a:prstGeom>
        </p:spPr>
      </p:pic>
      <p:sp>
        <p:nvSpPr>
          <p:cNvPr id="7" name="Text 4"/>
          <p:cNvSpPr/>
          <p:nvPr/>
        </p:nvSpPr>
        <p:spPr>
          <a:xfrm>
            <a:off x="1930400" y="2748161"/>
            <a:ext cx="1320800"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3202D"/>
                </a:solidFill>
                <a:latin typeface="IBM Plex Sans" pitchFamily="34" charset="0"/>
                <a:ea typeface="IBM Plex Sans" pitchFamily="34" charset="-122"/>
                <a:cs typeface="IBM Plex Sans" pitchFamily="34" charset="-120"/>
              </a:rPr>
              <a:t>15 мин</a:t>
            </a:r>
            <a:endParaRPr lang="en-US" sz="2000" dirty="0"/>
          </a:p>
        </p:txBody>
      </p:sp>
      <p:sp>
        <p:nvSpPr>
          <p:cNvPr id="8" name="Text 5"/>
          <p:cNvSpPr/>
          <p:nvPr/>
        </p:nvSpPr>
        <p:spPr>
          <a:xfrm>
            <a:off x="1930400" y="3078361"/>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сваки дан</a:t>
            </a:r>
            <a:endParaRPr lang="en-US" sz="1200" dirty="0"/>
          </a:p>
        </p:txBody>
      </p:sp>
      <p:sp>
        <p:nvSpPr>
          <p:cNvPr id="9" name="Text 6"/>
          <p:cNvSpPr/>
          <p:nvPr/>
        </p:nvSpPr>
        <p:spPr>
          <a:xfrm>
            <a:off x="914400" y="2887861"/>
            <a:ext cx="660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24 h</a:t>
            </a:r>
            <a:endParaRPr lang="en-US" sz="1200" dirty="0"/>
          </a:p>
        </p:txBody>
      </p:sp>
      <p:sp>
        <p:nvSpPr>
          <p:cNvPr id="10" name="Text 7"/>
          <p:cNvSpPr/>
          <p:nvPr/>
        </p:nvSpPr>
        <p:spPr>
          <a:xfrm>
            <a:off x="3606800" y="2887861"/>
            <a:ext cx="660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Goal</a:t>
            </a:r>
            <a:endParaRPr lang="en-US" sz="1200" dirty="0"/>
          </a:p>
        </p:txBody>
      </p:sp>
      <p:sp>
        <p:nvSpPr>
          <p:cNvPr id="11" name="Text 8"/>
          <p:cNvSpPr/>
          <p:nvPr/>
        </p:nvSpPr>
        <p:spPr>
          <a:xfrm>
            <a:off x="812800" y="4030861"/>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ЧЕСТ ФОРМАТ</a:t>
            </a:r>
            <a:endParaRPr lang="en-US" sz="1200" dirty="0"/>
          </a:p>
        </p:txBody>
      </p:sp>
      <p:sp>
        <p:nvSpPr>
          <p:cNvPr id="12" name="Text 9"/>
          <p:cNvSpPr/>
          <p:nvPr/>
        </p:nvSpPr>
        <p:spPr>
          <a:xfrm>
            <a:off x="812800" y="4358481"/>
            <a:ext cx="3662680" cy="6424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4505D"/>
                </a:solidFill>
                <a:latin typeface="IBM Plex Sans" pitchFamily="34" charset="0"/>
                <a:ea typeface="IBM Plex Sans" pitchFamily="34" charset="-122"/>
                <a:cs typeface="IBM Plex Sans" pitchFamily="34" charset="-120"/>
              </a:rPr>
              <a:t>1.</a:t>
            </a:r>
            <a:r>
              <a:rPr lang="en-US" sz="1200" dirty="0">
                <a:solidFill>
                  <a:srgbClr val="44505D"/>
                </a:solidFill>
                <a:latin typeface="IBM Plex Sans" pitchFamily="34" charset="0"/>
                <a:ea typeface="IBM Plex Sans" pitchFamily="34" charset="-122"/>
                <a:cs typeface="IBM Plex Sans" pitchFamily="34" charset="-120"/>
              </a:rPr>
              <a:t> Шта сам урадио од прошлог састанка?</a:t>
            </a:r>
            <a:endParaRPr lang="en-US" sz="1200" dirty="0"/>
          </a:p>
          <a:p>
            <a:pPr algn="l" indent="0" marL="0">
              <a:lnSpc>
                <a:spcPts val="1620"/>
              </a:lnSpc>
              <a:buNone/>
            </a:pPr>
            <a:r>
              <a:rPr lang="en-US" sz="1200" b="1" dirty="0">
                <a:solidFill>
                  <a:srgbClr val="44505D"/>
                </a:solidFill>
                <a:latin typeface="IBM Plex Sans" pitchFamily="34" charset="0"/>
                <a:ea typeface="IBM Plex Sans" pitchFamily="34" charset="-122"/>
                <a:cs typeface="IBM Plex Sans" pitchFamily="34" charset="-120"/>
              </a:rPr>
              <a:t>2.</a:t>
            </a:r>
            <a:r>
              <a:rPr lang="en-US" sz="1200" dirty="0">
                <a:solidFill>
                  <a:srgbClr val="44505D"/>
                </a:solidFill>
                <a:latin typeface="IBM Plex Sans" pitchFamily="34" charset="0"/>
                <a:ea typeface="IBM Plex Sans" pitchFamily="34" charset="-122"/>
                <a:cs typeface="IBM Plex Sans" pitchFamily="34" charset="-120"/>
              </a:rPr>
              <a:t> Шта радим до следећег састанка?</a:t>
            </a:r>
            <a:endParaRPr lang="en-US" sz="1200" dirty="0"/>
          </a:p>
          <a:p>
            <a:pPr algn="l" indent="0" marL="0">
              <a:lnSpc>
                <a:spcPts val="1620"/>
              </a:lnSpc>
              <a:buNone/>
            </a:pPr>
            <a:r>
              <a:rPr lang="en-US" sz="1200" b="1" dirty="0">
                <a:solidFill>
                  <a:srgbClr val="44505D"/>
                </a:solidFill>
                <a:latin typeface="IBM Plex Sans" pitchFamily="34" charset="0"/>
                <a:ea typeface="IBM Plex Sans" pitchFamily="34" charset="-122"/>
                <a:cs typeface="IBM Plex Sans" pitchFamily="34" charset="-120"/>
              </a:rPr>
              <a:t>3.</a:t>
            </a:r>
            <a:r>
              <a:rPr lang="en-US" sz="1200" dirty="0">
                <a:solidFill>
                  <a:srgbClr val="44505D"/>
                </a:solidFill>
                <a:latin typeface="IBM Plex Sans" pitchFamily="34" charset="0"/>
                <a:ea typeface="IBM Plex Sans" pitchFamily="34" charset="-122"/>
                <a:cs typeface="IBM Plex Sans" pitchFamily="34" charset="-120"/>
              </a:rPr>
              <a:t> Шта ме спречава у раду?</a:t>
            </a:r>
            <a:endParaRPr lang="en-US" sz="1200" dirty="0"/>
          </a:p>
        </p:txBody>
      </p:sp>
      <p:sp>
        <p:nvSpPr>
          <p:cNvPr id="13" name="Shape 10"/>
          <p:cNvSpPr/>
          <p:nvPr/>
        </p:nvSpPr>
        <p:spPr>
          <a:xfrm>
            <a:off x="4727575" y="2078236"/>
            <a:ext cx="6648450" cy="1981101"/>
          </a:xfrm>
          <a:prstGeom prst="roundRect">
            <a:avLst>
              <a:gd name="adj" fmla="val 4968"/>
            </a:avLst>
          </a:prstGeom>
          <a:solidFill>
            <a:srgbClr val="FCFCFB"/>
          </a:solidFill>
          <a:ln w="6350">
            <a:solidFill>
              <a:srgbClr val="D3DAE1"/>
            </a:solidFill>
            <a:prstDash val="solid"/>
          </a:ln>
        </p:spPr>
      </p:sp>
      <p:sp>
        <p:nvSpPr>
          <p:cNvPr id="14" name="Text 11"/>
          <p:cNvSpPr/>
          <p:nvPr/>
        </p:nvSpPr>
        <p:spPr>
          <a:xfrm>
            <a:off x="4933950" y="2259211"/>
            <a:ext cx="119380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УЧЕСНИЦИ</a:t>
            </a:r>
            <a:endParaRPr lang="en-US" sz="1200" dirty="0"/>
          </a:p>
        </p:txBody>
      </p:sp>
      <p:sp>
        <p:nvSpPr>
          <p:cNvPr id="15" name="Text 12"/>
          <p:cNvSpPr/>
          <p:nvPr/>
        </p:nvSpPr>
        <p:spPr>
          <a:xfrm>
            <a:off x="6229350" y="2259211"/>
            <a:ext cx="508850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Developers, а Scrum Master и Product Owner ако раде на ставкама Sprint-а</a:t>
            </a:r>
            <a:endParaRPr lang="en-US" sz="1400" dirty="0"/>
          </a:p>
        </p:txBody>
      </p:sp>
      <p:sp>
        <p:nvSpPr>
          <p:cNvPr id="16" name="Shape 13"/>
          <p:cNvSpPr/>
          <p:nvPr/>
        </p:nvSpPr>
        <p:spPr>
          <a:xfrm>
            <a:off x="4933950" y="2844006"/>
            <a:ext cx="6235700" cy="0"/>
          </a:xfrm>
          <a:prstGeom prst="line">
            <a:avLst/>
          </a:prstGeom>
          <a:noFill/>
          <a:ln w="6350">
            <a:solidFill>
              <a:srgbClr val="E3E8EE"/>
            </a:solidFill>
            <a:prstDash val="solid"/>
          </a:ln>
        </p:spPr>
      </p:sp>
      <p:sp>
        <p:nvSpPr>
          <p:cNvPr id="17" name="Text 14"/>
          <p:cNvSpPr/>
          <p:nvPr/>
        </p:nvSpPr>
        <p:spPr>
          <a:xfrm>
            <a:off x="4933950" y="2948781"/>
            <a:ext cx="119380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ВРЕМЕ</a:t>
            </a:r>
            <a:endParaRPr lang="en-US" sz="1200" dirty="0"/>
          </a:p>
        </p:txBody>
      </p:sp>
      <p:sp>
        <p:nvSpPr>
          <p:cNvPr id="18" name="Text 15"/>
          <p:cNvSpPr/>
          <p:nvPr/>
        </p:nvSpPr>
        <p:spPr>
          <a:xfrm>
            <a:off x="6229350" y="2948781"/>
            <a:ext cx="508850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Сваког радног дана, у исто време и на истом месту</a:t>
            </a:r>
            <a:endParaRPr lang="en-US" sz="1400" dirty="0"/>
          </a:p>
        </p:txBody>
      </p:sp>
      <p:sp>
        <p:nvSpPr>
          <p:cNvPr id="19" name="Shape 16"/>
          <p:cNvSpPr/>
          <p:nvPr/>
        </p:nvSpPr>
        <p:spPr>
          <a:xfrm>
            <a:off x="4933950" y="3293566"/>
            <a:ext cx="6235700" cy="0"/>
          </a:xfrm>
          <a:prstGeom prst="line">
            <a:avLst/>
          </a:prstGeom>
          <a:noFill/>
          <a:ln w="6350">
            <a:solidFill>
              <a:srgbClr val="E3E8EE"/>
            </a:solidFill>
            <a:prstDash val="solid"/>
          </a:ln>
        </p:spPr>
      </p:sp>
      <p:sp>
        <p:nvSpPr>
          <p:cNvPr id="20" name="Text 17"/>
          <p:cNvSpPr/>
          <p:nvPr/>
        </p:nvSpPr>
        <p:spPr>
          <a:xfrm>
            <a:off x="4933950" y="3398341"/>
            <a:ext cx="119380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СВРХА</a:t>
            </a:r>
            <a:endParaRPr lang="en-US" sz="1200" dirty="0"/>
          </a:p>
        </p:txBody>
      </p:sp>
      <p:sp>
        <p:nvSpPr>
          <p:cNvPr id="21" name="Text 18"/>
          <p:cNvSpPr/>
          <p:nvPr/>
        </p:nvSpPr>
        <p:spPr>
          <a:xfrm>
            <a:off x="6229350" y="3398341"/>
            <a:ext cx="508850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Провера напретка ка Sprint Goal-у и план рада за наредна 24 сата</a:t>
            </a:r>
            <a:endParaRPr lang="en-US" sz="1400" dirty="0"/>
          </a:p>
        </p:txBody>
      </p:sp>
      <p:sp>
        <p:nvSpPr>
          <p:cNvPr id="22" name="Shape 19"/>
          <p:cNvSpPr/>
          <p:nvPr/>
        </p:nvSpPr>
        <p:spPr>
          <a:xfrm>
            <a:off x="4727575" y="4192687"/>
            <a:ext cx="6648450" cy="686991"/>
          </a:xfrm>
          <a:prstGeom prst="roundRect">
            <a:avLst>
              <a:gd name="adj" fmla="val 14327"/>
            </a:avLst>
          </a:prstGeom>
          <a:solidFill>
            <a:srgbClr val="FBF1E6"/>
          </a:solidFill>
          <a:ln w="6350">
            <a:solidFill>
              <a:srgbClr val="E9B98C"/>
            </a:solidFill>
            <a:prstDash val="solid"/>
          </a:ln>
        </p:spPr>
      </p:sp>
      <p:pic>
        <p:nvPicPr>
          <p:cNvPr id="23" name="Image 1" descr="Warning">    </p:cNvPr>
          <p:cNvPicPr>
            <a:picLocks noChangeAspect="1"/>
          </p:cNvPicPr>
          <p:nvPr/>
        </p:nvPicPr>
        <p:blipFill>
          <a:blip r:embed="rId2"/>
          <a:srcRect l="0" r="0" t="0" b="0"/>
          <a:stretch/>
        </p:blipFill>
        <p:spPr>
          <a:xfrm>
            <a:off x="4908550" y="4421882"/>
            <a:ext cx="228600" cy="228600"/>
          </a:xfrm>
          <a:prstGeom prst="rect">
            <a:avLst/>
          </a:prstGeom>
        </p:spPr>
      </p:pic>
      <p:sp>
        <p:nvSpPr>
          <p:cNvPr id="24" name="Text 20"/>
          <p:cNvSpPr/>
          <p:nvPr/>
        </p:nvSpPr>
        <p:spPr>
          <a:xfrm>
            <a:off x="5264150" y="4322862"/>
            <a:ext cx="61088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Daily Scrum није извештај руководиоцу. Проблеми се решавају после састанка, са онима којих се тичу.</a:t>
            </a:r>
            <a:endParaRPr lang="en-US" sz="1200" dirty="0"/>
          </a:p>
        </p:txBody>
      </p:sp>
      <p:sp>
        <p:nvSpPr>
          <p:cNvPr id="25" name="Shape 21"/>
          <p:cNvSpPr/>
          <p:nvPr/>
        </p:nvSpPr>
        <p:spPr>
          <a:xfrm>
            <a:off x="812800" y="6209705"/>
            <a:ext cx="10566400" cy="0"/>
          </a:xfrm>
          <a:prstGeom prst="line">
            <a:avLst/>
          </a:prstGeom>
          <a:noFill/>
          <a:ln w="6350">
            <a:solidFill>
              <a:srgbClr val="D3DAE1"/>
            </a:solidFill>
            <a:prstDash val="solid"/>
          </a:ln>
        </p:spPr>
      </p:sp>
      <p:sp>
        <p:nvSpPr>
          <p:cNvPr id="26" name="Text 2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7"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01 · AGILE И SCRUM</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Преглед и ретроспектива Sprint-а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Sprint се завршава провером производа, а затим провером начина рада.</a:t>
            </a:r>
            <a:endParaRPr lang="en-US" sz="1400" dirty="0"/>
          </a:p>
        </p:txBody>
      </p:sp>
      <p:sp>
        <p:nvSpPr>
          <p:cNvPr id="6" name="Shape 4"/>
          <p:cNvSpPr/>
          <p:nvPr/>
        </p:nvSpPr>
        <p:spPr>
          <a:xfrm>
            <a:off x="815975" y="2129036"/>
            <a:ext cx="5149850" cy="2181523"/>
          </a:xfrm>
          <a:prstGeom prst="roundRect">
            <a:avLst>
              <a:gd name="adj" fmla="val 4512"/>
            </a:avLst>
          </a:prstGeom>
          <a:solidFill>
            <a:srgbClr val="FCFCFB"/>
          </a:solidFill>
          <a:ln w="6350">
            <a:solidFill>
              <a:srgbClr val="D3DAE1"/>
            </a:solidFill>
            <a:prstDash val="solid"/>
          </a:ln>
        </p:spPr>
      </p:sp>
      <p:sp>
        <p:nvSpPr>
          <p:cNvPr id="7" name="Shape 5"/>
          <p:cNvSpPr/>
          <p:nvPr/>
        </p:nvSpPr>
        <p:spPr>
          <a:xfrm>
            <a:off x="1047750" y="2379762"/>
            <a:ext cx="355600" cy="355600"/>
          </a:xfrm>
          <a:prstGeom prst="roundRect">
            <a:avLst>
              <a:gd name="adj" fmla="val 21429"/>
            </a:avLst>
          </a:prstGeom>
          <a:solidFill>
            <a:srgbClr val="DDEBEA"/>
          </a:solidFill>
          <a:ln/>
        </p:spPr>
      </p:sp>
      <p:pic>
        <p:nvPicPr>
          <p:cNvPr id="8" name="Image 0" descr="Search">    </p:cNvPr>
          <p:cNvPicPr>
            <a:picLocks noChangeAspect="1"/>
          </p:cNvPicPr>
          <p:nvPr/>
        </p:nvPicPr>
        <p:blipFill>
          <a:blip r:embed="rId1"/>
          <a:srcRect l="0" r="0" t="0" b="0"/>
          <a:stretch/>
        </p:blipFill>
        <p:spPr>
          <a:xfrm>
            <a:off x="1123950" y="2455962"/>
            <a:ext cx="203200" cy="203200"/>
          </a:xfrm>
          <a:prstGeom prst="rect">
            <a:avLst/>
          </a:prstGeom>
        </p:spPr>
      </p:pic>
      <p:sp>
        <p:nvSpPr>
          <p:cNvPr id="9" name="Text 6"/>
          <p:cNvSpPr/>
          <p:nvPr/>
        </p:nvSpPr>
        <p:spPr>
          <a:xfrm>
            <a:off x="1504950" y="2322711"/>
            <a:ext cx="160535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Sprint Review</a:t>
            </a:r>
            <a:endParaRPr lang="en-US" sz="1600" dirty="0"/>
          </a:p>
        </p:txBody>
      </p:sp>
      <p:sp>
        <p:nvSpPr>
          <p:cNvPr id="10" name="Text 7"/>
          <p:cNvSpPr/>
          <p:nvPr/>
        </p:nvSpPr>
        <p:spPr>
          <a:xfrm>
            <a:off x="1504950" y="2579191"/>
            <a:ext cx="18654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шта је направљено</a:t>
            </a:r>
            <a:endParaRPr lang="en-US" sz="1200" dirty="0"/>
          </a:p>
        </p:txBody>
      </p:sp>
      <p:sp>
        <p:nvSpPr>
          <p:cNvPr id="11" name="Shape 8"/>
          <p:cNvSpPr/>
          <p:nvPr/>
        </p:nvSpPr>
        <p:spPr>
          <a:xfrm>
            <a:off x="1047750" y="2897287"/>
            <a:ext cx="4686300" cy="0"/>
          </a:xfrm>
          <a:prstGeom prst="line">
            <a:avLst/>
          </a:prstGeom>
          <a:noFill/>
          <a:ln w="6350">
            <a:solidFill>
              <a:srgbClr val="E3E8EE"/>
            </a:solidFill>
            <a:prstDash val="solid"/>
          </a:ln>
        </p:spPr>
      </p:sp>
      <p:sp>
        <p:nvSpPr>
          <p:cNvPr id="12" name="Text 9"/>
          <p:cNvSpPr/>
          <p:nvPr/>
        </p:nvSpPr>
        <p:spPr>
          <a:xfrm>
            <a:off x="1047750" y="2989362"/>
            <a:ext cx="48268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Тим приказује Increment заинтересованим странама на радној верзији система.</a:t>
            </a:r>
            <a:endParaRPr lang="en-US" sz="1300" dirty="0"/>
          </a:p>
        </p:txBody>
      </p:sp>
      <p:sp>
        <p:nvSpPr>
          <p:cNvPr id="13" name="Text 10"/>
          <p:cNvSpPr/>
          <p:nvPr/>
        </p:nvSpPr>
        <p:spPr>
          <a:xfrm>
            <a:off x="1047750" y="3553123"/>
            <a:ext cx="48268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Прикупља се повратна информација о урађеном.</a:t>
            </a:r>
            <a:endParaRPr lang="en-US" sz="1300" dirty="0"/>
          </a:p>
        </p:txBody>
      </p:sp>
      <p:sp>
        <p:nvSpPr>
          <p:cNvPr id="14" name="Text 11"/>
          <p:cNvSpPr/>
          <p:nvPr/>
        </p:nvSpPr>
        <p:spPr>
          <a:xfrm>
            <a:off x="1047750" y="3885803"/>
            <a:ext cx="48268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Product Backlog се прилагођава новим сазнањима.</a:t>
            </a:r>
            <a:endParaRPr lang="en-US" sz="1300" dirty="0"/>
          </a:p>
        </p:txBody>
      </p:sp>
      <p:sp>
        <p:nvSpPr>
          <p:cNvPr id="15" name="Shape 12"/>
          <p:cNvSpPr/>
          <p:nvPr/>
        </p:nvSpPr>
        <p:spPr>
          <a:xfrm>
            <a:off x="6226175" y="2129036"/>
            <a:ext cx="5149850" cy="2181523"/>
          </a:xfrm>
          <a:prstGeom prst="roundRect">
            <a:avLst>
              <a:gd name="adj" fmla="val 4512"/>
            </a:avLst>
          </a:prstGeom>
          <a:solidFill>
            <a:srgbClr val="FCFCFB"/>
          </a:solidFill>
          <a:ln w="6350">
            <a:solidFill>
              <a:srgbClr val="D3DAE1"/>
            </a:solidFill>
            <a:prstDash val="solid"/>
          </a:ln>
        </p:spPr>
      </p:sp>
      <p:sp>
        <p:nvSpPr>
          <p:cNvPr id="16" name="Shape 13"/>
          <p:cNvSpPr/>
          <p:nvPr/>
        </p:nvSpPr>
        <p:spPr>
          <a:xfrm>
            <a:off x="6457950" y="2379762"/>
            <a:ext cx="355600" cy="355600"/>
          </a:xfrm>
          <a:prstGeom prst="roundRect">
            <a:avLst>
              <a:gd name="adj" fmla="val 21429"/>
            </a:avLst>
          </a:prstGeom>
          <a:solidFill>
            <a:srgbClr val="FBF1E6"/>
          </a:solidFill>
          <a:ln/>
        </p:spPr>
      </p:sp>
      <p:pic>
        <p:nvPicPr>
          <p:cNvPr id="17" name="Image 1" descr="Lightbulb">    </p:cNvPr>
          <p:cNvPicPr>
            <a:picLocks noChangeAspect="1"/>
          </p:cNvPicPr>
          <p:nvPr/>
        </p:nvPicPr>
        <p:blipFill>
          <a:blip r:embed="rId2"/>
          <a:srcRect l="0" r="0" t="0" b="0"/>
          <a:stretch/>
        </p:blipFill>
        <p:spPr>
          <a:xfrm>
            <a:off x="6534150" y="2455962"/>
            <a:ext cx="203200" cy="203200"/>
          </a:xfrm>
          <a:prstGeom prst="rect">
            <a:avLst/>
          </a:prstGeom>
        </p:spPr>
      </p:pic>
      <p:sp>
        <p:nvSpPr>
          <p:cNvPr id="18" name="Text 14"/>
          <p:cNvSpPr/>
          <p:nvPr/>
        </p:nvSpPr>
        <p:spPr>
          <a:xfrm>
            <a:off x="6915150" y="2322711"/>
            <a:ext cx="23169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Sprint Retrospective</a:t>
            </a:r>
            <a:endParaRPr lang="en-US" sz="1600" dirty="0"/>
          </a:p>
        </p:txBody>
      </p:sp>
      <p:sp>
        <p:nvSpPr>
          <p:cNvPr id="19" name="Text 15"/>
          <p:cNvSpPr/>
          <p:nvPr/>
        </p:nvSpPr>
        <p:spPr>
          <a:xfrm>
            <a:off x="6915150" y="2579191"/>
            <a:ext cx="19887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како је тим радио</a:t>
            </a:r>
            <a:endParaRPr lang="en-US" sz="1200" dirty="0"/>
          </a:p>
        </p:txBody>
      </p:sp>
      <p:sp>
        <p:nvSpPr>
          <p:cNvPr id="20" name="Shape 16"/>
          <p:cNvSpPr/>
          <p:nvPr/>
        </p:nvSpPr>
        <p:spPr>
          <a:xfrm>
            <a:off x="6457950" y="2897287"/>
            <a:ext cx="4686300" cy="0"/>
          </a:xfrm>
          <a:prstGeom prst="line">
            <a:avLst/>
          </a:prstGeom>
          <a:noFill/>
          <a:ln w="6350">
            <a:solidFill>
              <a:srgbClr val="E3E8EE"/>
            </a:solidFill>
            <a:prstDash val="solid"/>
          </a:ln>
        </p:spPr>
      </p:sp>
      <p:sp>
        <p:nvSpPr>
          <p:cNvPr id="21" name="Text 17"/>
          <p:cNvSpPr/>
          <p:nvPr/>
        </p:nvSpPr>
        <p:spPr>
          <a:xfrm>
            <a:off x="6457950" y="2989362"/>
            <a:ext cx="48268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Тим разматра сарадњу, процес, алате и Definition of Done.</a:t>
            </a:r>
            <a:endParaRPr lang="en-US" sz="1300" dirty="0"/>
          </a:p>
        </p:txBody>
      </p:sp>
      <p:sp>
        <p:nvSpPr>
          <p:cNvPr id="22" name="Text 18"/>
          <p:cNvSpPr/>
          <p:nvPr/>
        </p:nvSpPr>
        <p:spPr>
          <a:xfrm>
            <a:off x="6457950" y="3322042"/>
            <a:ext cx="48268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Издвајају се добре праксе и проблеми из протеклог Sprint-а.</a:t>
            </a:r>
            <a:endParaRPr lang="en-US" sz="1300" dirty="0"/>
          </a:p>
        </p:txBody>
      </p:sp>
      <p:sp>
        <p:nvSpPr>
          <p:cNvPr id="23" name="Text 19"/>
          <p:cNvSpPr/>
          <p:nvPr/>
        </p:nvSpPr>
        <p:spPr>
          <a:xfrm>
            <a:off x="6457950" y="3885803"/>
            <a:ext cx="48268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Бирају се конкретна побољшања за наредни Sprint.</a:t>
            </a:r>
            <a:endParaRPr lang="en-US" sz="1300" dirty="0"/>
          </a:p>
        </p:txBody>
      </p:sp>
      <p:sp>
        <p:nvSpPr>
          <p:cNvPr id="24" name="Text 20"/>
          <p:cNvSpPr/>
          <p:nvPr/>
        </p:nvSpPr>
        <p:spPr>
          <a:xfrm>
            <a:off x="812800" y="4542334"/>
            <a:ext cx="2354580"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ЧЕСТ ФОРМАТ РЕТРОСПЕКТИВЕ</a:t>
            </a:r>
            <a:endParaRPr lang="en-US" sz="1200" dirty="0"/>
          </a:p>
        </p:txBody>
      </p:sp>
      <p:sp>
        <p:nvSpPr>
          <p:cNvPr id="25" name="Text 21"/>
          <p:cNvSpPr/>
          <p:nvPr/>
        </p:nvSpPr>
        <p:spPr>
          <a:xfrm>
            <a:off x="3200400" y="4551164"/>
            <a:ext cx="2658467" cy="408880"/>
          </a:xfrm>
          <a:prstGeom prst="roundRect">
            <a:avLst>
              <a:gd name="adj" fmla="val 18636"/>
            </a:avLst>
          </a:prstGeom>
          <a:solidFill>
            <a:srgbClr val="E2EBE9"/>
          </a:solidFill>
          <a:ln/>
        </p:spPr>
        <p:txBody>
          <a:bodyPr wrap="square" lIns="68615" tIns="66582" rIns="68615" bIns="41182" rtlCol="0" anchor="t">
            <a:normAutofit/>
          </a:bodyPr>
          <a:lstStyle/>
          <a:p>
            <a:pPr algn="ct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Наставити</a:t>
            </a:r>
            <a:endParaRPr lang="en-US" sz="1300" dirty="0"/>
          </a:p>
        </p:txBody>
      </p:sp>
      <p:sp>
        <p:nvSpPr>
          <p:cNvPr id="26" name="Text 22"/>
          <p:cNvSpPr/>
          <p:nvPr/>
        </p:nvSpPr>
        <p:spPr>
          <a:xfrm>
            <a:off x="5960467" y="4551164"/>
            <a:ext cx="2658566" cy="408880"/>
          </a:xfrm>
          <a:prstGeom prst="roundRect">
            <a:avLst>
              <a:gd name="adj" fmla="val 18636"/>
            </a:avLst>
          </a:prstGeom>
          <a:solidFill>
            <a:srgbClr val="E2EBE9"/>
          </a:solidFill>
          <a:ln/>
        </p:spPr>
        <p:txBody>
          <a:bodyPr wrap="square" lIns="68613" tIns="66582" rIns="68613" bIns="41182" rtlCol="0" anchor="t">
            <a:normAutofit/>
          </a:bodyPr>
          <a:lstStyle/>
          <a:p>
            <a:pPr algn="ct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Престати</a:t>
            </a:r>
            <a:endParaRPr lang="en-US" sz="1300" dirty="0"/>
          </a:p>
        </p:txBody>
      </p:sp>
      <p:sp>
        <p:nvSpPr>
          <p:cNvPr id="27" name="Text 23"/>
          <p:cNvSpPr/>
          <p:nvPr/>
        </p:nvSpPr>
        <p:spPr>
          <a:xfrm>
            <a:off x="8720634" y="4551164"/>
            <a:ext cx="2658566" cy="408880"/>
          </a:xfrm>
          <a:prstGeom prst="roundRect">
            <a:avLst>
              <a:gd name="adj" fmla="val 18636"/>
            </a:avLst>
          </a:prstGeom>
          <a:solidFill>
            <a:srgbClr val="E2EBE9"/>
          </a:solidFill>
          <a:ln/>
        </p:spPr>
        <p:txBody>
          <a:bodyPr wrap="square" lIns="68613" tIns="66582" rIns="68613" bIns="41182" rtlCol="0" anchor="t">
            <a:normAutofit/>
          </a:bodyPr>
          <a:lstStyle/>
          <a:p>
            <a:pPr algn="ct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Започети</a:t>
            </a:r>
            <a:endParaRPr lang="en-US" sz="1300" dirty="0"/>
          </a:p>
        </p:txBody>
      </p:sp>
      <p:sp>
        <p:nvSpPr>
          <p:cNvPr id="28" name="Shape 24"/>
          <p:cNvSpPr/>
          <p:nvPr/>
        </p:nvSpPr>
        <p:spPr>
          <a:xfrm>
            <a:off x="812800" y="6209705"/>
            <a:ext cx="10566400" cy="0"/>
          </a:xfrm>
          <a:prstGeom prst="line">
            <a:avLst/>
          </a:prstGeom>
          <a:noFill/>
          <a:ln w="6350">
            <a:solidFill>
              <a:srgbClr val="D3DAE1"/>
            </a:solidFill>
            <a:prstDash val="solid"/>
          </a:ln>
        </p:spPr>
      </p:sp>
      <p:sp>
        <p:nvSpPr>
          <p:cNvPr id="29"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0"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01 · AGILE И SCRUM</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Структура backlog-а и Scrum артефакти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Ставка спремна за рад садржи циљ, приоритет, критеријуме и позната ограничења.</a:t>
            </a:r>
            <a:endParaRPr lang="en-US" sz="1400" dirty="0"/>
          </a:p>
        </p:txBody>
      </p:sp>
      <p:sp>
        <p:nvSpPr>
          <p:cNvPr id="6" name="Shape 4"/>
          <p:cNvSpPr/>
          <p:nvPr/>
        </p:nvSpPr>
        <p:spPr>
          <a:xfrm>
            <a:off x="815975" y="2129036"/>
            <a:ext cx="3210917" cy="2680692"/>
          </a:xfrm>
          <a:prstGeom prst="roundRect">
            <a:avLst>
              <a:gd name="adj" fmla="val 3672"/>
            </a:avLst>
          </a:prstGeom>
          <a:solidFill>
            <a:srgbClr val="FCFCFB"/>
          </a:solidFill>
          <a:ln w="6350">
            <a:solidFill>
              <a:srgbClr val="D3DAE1"/>
            </a:solidFill>
            <a:prstDash val="solid"/>
          </a:ln>
        </p:spPr>
      </p:sp>
      <p:sp>
        <p:nvSpPr>
          <p:cNvPr id="7" name="Text 5"/>
          <p:cNvSpPr/>
          <p:nvPr/>
        </p:nvSpPr>
        <p:spPr>
          <a:xfrm>
            <a:off x="1022350" y="2310011"/>
            <a:ext cx="2882112"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E6E68"/>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022350" y="2706191"/>
            <a:ext cx="28821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Product Backlog</a:t>
            </a:r>
            <a:endParaRPr lang="en-US" sz="1600" dirty="0"/>
          </a:p>
        </p:txBody>
      </p:sp>
      <p:sp>
        <p:nvSpPr>
          <p:cNvPr id="9" name="Text 7"/>
          <p:cNvSpPr/>
          <p:nvPr/>
        </p:nvSpPr>
        <p:spPr>
          <a:xfrm>
            <a:off x="1022350" y="3038872"/>
            <a:ext cx="288211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све будуће ставке, уређене по приоритету</a:t>
            </a:r>
            <a:endParaRPr lang="en-US" sz="1300" dirty="0"/>
          </a:p>
        </p:txBody>
      </p:sp>
      <p:sp>
        <p:nvSpPr>
          <p:cNvPr id="10" name="Shape 8"/>
          <p:cNvSpPr/>
          <p:nvPr/>
        </p:nvSpPr>
        <p:spPr>
          <a:xfrm>
            <a:off x="1022350" y="3589933"/>
            <a:ext cx="1651000" cy="101600"/>
          </a:xfrm>
          <a:prstGeom prst="roundRect">
            <a:avLst>
              <a:gd name="adj" fmla="val 25000"/>
            </a:avLst>
          </a:prstGeom>
          <a:solidFill>
            <a:srgbClr val="0E6E68"/>
          </a:solidFill>
          <a:ln/>
        </p:spPr>
      </p:sp>
      <p:sp>
        <p:nvSpPr>
          <p:cNvPr id="11" name="Shape 9"/>
          <p:cNvSpPr/>
          <p:nvPr/>
        </p:nvSpPr>
        <p:spPr>
          <a:xfrm>
            <a:off x="1022350" y="3729633"/>
            <a:ext cx="1397000" cy="101600"/>
          </a:xfrm>
          <a:prstGeom prst="roundRect">
            <a:avLst>
              <a:gd name="adj" fmla="val 25000"/>
            </a:avLst>
          </a:prstGeom>
          <a:solidFill>
            <a:srgbClr val="A6C9C7"/>
          </a:solidFill>
          <a:ln/>
        </p:spPr>
      </p:sp>
      <p:sp>
        <p:nvSpPr>
          <p:cNvPr id="12" name="Shape 10"/>
          <p:cNvSpPr/>
          <p:nvPr/>
        </p:nvSpPr>
        <p:spPr>
          <a:xfrm>
            <a:off x="1022350" y="3869333"/>
            <a:ext cx="1524000" cy="101600"/>
          </a:xfrm>
          <a:prstGeom prst="roundRect">
            <a:avLst>
              <a:gd name="adj" fmla="val 25000"/>
            </a:avLst>
          </a:prstGeom>
          <a:solidFill>
            <a:srgbClr val="DDEBEA"/>
          </a:solidFill>
          <a:ln/>
        </p:spPr>
      </p:sp>
      <p:sp>
        <p:nvSpPr>
          <p:cNvPr id="13" name="Shape 11"/>
          <p:cNvSpPr/>
          <p:nvPr/>
        </p:nvSpPr>
        <p:spPr>
          <a:xfrm>
            <a:off x="1022350" y="4009033"/>
            <a:ext cx="1206500" cy="101600"/>
          </a:xfrm>
          <a:prstGeom prst="roundRect">
            <a:avLst>
              <a:gd name="adj" fmla="val 25000"/>
            </a:avLst>
          </a:prstGeom>
          <a:solidFill>
            <a:srgbClr val="E2EBE9"/>
          </a:solidFill>
          <a:ln/>
        </p:spPr>
      </p:sp>
      <p:sp>
        <p:nvSpPr>
          <p:cNvPr id="14" name="Text 12"/>
          <p:cNvSpPr/>
          <p:nvPr/>
        </p:nvSpPr>
        <p:spPr>
          <a:xfrm>
            <a:off x="1022350" y="4288433"/>
            <a:ext cx="2798167" cy="340320"/>
          </a:xfrm>
          <a:prstGeom prst="roundRect">
            <a:avLst>
              <a:gd name="adj" fmla="val 18659"/>
            </a:avLst>
          </a:prstGeom>
          <a:solidFill>
            <a:srgbClr val="E2EBE9"/>
          </a:solidFill>
          <a:ln/>
        </p:spPr>
        <p:txBody>
          <a:bodyPr wrap="square" lIns="83001" tIns="44901" rIns="5152" bIns="19501"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Обавеза:</a:t>
            </a:r>
            <a:r>
              <a:rPr lang="en-US" sz="1200" dirty="0">
                <a:solidFill>
                  <a:srgbClr val="13202D"/>
                </a:solidFill>
                <a:latin typeface="IBM Plex Sans" pitchFamily="34" charset="0"/>
                <a:ea typeface="IBM Plex Sans" pitchFamily="34" charset="-122"/>
                <a:cs typeface="IBM Plex Sans" pitchFamily="34" charset="-120"/>
              </a:rPr>
              <a:t> Product Goal</a:t>
            </a:r>
            <a:endParaRPr lang="en-US" sz="1200" dirty="0"/>
          </a:p>
        </p:txBody>
      </p:sp>
      <p:pic>
        <p:nvPicPr>
          <p:cNvPr id="15" name="Image 0" descr="arrow-right">    </p:cNvPr>
          <p:cNvPicPr>
            <a:picLocks noChangeAspect="1"/>
          </p:cNvPicPr>
          <p:nvPr/>
        </p:nvPicPr>
        <p:blipFill>
          <a:blip r:embed="rId1"/>
          <a:srcRect l="0" r="0" t="0" b="0"/>
          <a:stretch/>
        </p:blipFill>
        <p:spPr>
          <a:xfrm>
            <a:off x="4131667" y="3405882"/>
            <a:ext cx="254000" cy="127000"/>
          </a:xfrm>
          <a:prstGeom prst="rect">
            <a:avLst/>
          </a:prstGeom>
        </p:spPr>
      </p:pic>
      <p:sp>
        <p:nvSpPr>
          <p:cNvPr id="16" name="Shape 13"/>
          <p:cNvSpPr/>
          <p:nvPr/>
        </p:nvSpPr>
        <p:spPr>
          <a:xfrm>
            <a:off x="4490442" y="2129036"/>
            <a:ext cx="3211016" cy="2680692"/>
          </a:xfrm>
          <a:prstGeom prst="roundRect">
            <a:avLst>
              <a:gd name="adj" fmla="val 3672"/>
            </a:avLst>
          </a:prstGeom>
          <a:solidFill>
            <a:srgbClr val="FCFCFB"/>
          </a:solidFill>
          <a:ln w="6350">
            <a:solidFill>
              <a:srgbClr val="D3DAE1"/>
            </a:solidFill>
            <a:prstDash val="solid"/>
          </a:ln>
        </p:spPr>
      </p:sp>
      <p:sp>
        <p:nvSpPr>
          <p:cNvPr id="17" name="Text 14"/>
          <p:cNvSpPr/>
          <p:nvPr/>
        </p:nvSpPr>
        <p:spPr>
          <a:xfrm>
            <a:off x="4696817" y="2310011"/>
            <a:ext cx="2882214"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E6E68"/>
                </a:solidFill>
                <a:latin typeface="IBM Plex Mono" pitchFamily="49" charset="0"/>
                <a:ea typeface="IBM Plex Mono" pitchFamily="49" charset="-122"/>
                <a:cs typeface="IBM Plex Mono" pitchFamily="49" charset="-120"/>
              </a:rPr>
              <a:t>02</a:t>
            </a:r>
            <a:endParaRPr lang="en-US" sz="2200" dirty="0"/>
          </a:p>
        </p:txBody>
      </p:sp>
      <p:sp>
        <p:nvSpPr>
          <p:cNvPr id="18" name="Text 15"/>
          <p:cNvSpPr/>
          <p:nvPr/>
        </p:nvSpPr>
        <p:spPr>
          <a:xfrm>
            <a:off x="4696817" y="2706191"/>
            <a:ext cx="288221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Sprint Backlog</a:t>
            </a:r>
            <a:endParaRPr lang="en-US" sz="1600" dirty="0"/>
          </a:p>
        </p:txBody>
      </p:sp>
      <p:sp>
        <p:nvSpPr>
          <p:cNvPr id="19" name="Text 16"/>
          <p:cNvSpPr/>
          <p:nvPr/>
        </p:nvSpPr>
        <p:spPr>
          <a:xfrm>
            <a:off x="4696817" y="3038872"/>
            <a:ext cx="288221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изабрани обим рада и план за текући Sprint</a:t>
            </a:r>
            <a:endParaRPr lang="en-US" sz="1300" dirty="0"/>
          </a:p>
        </p:txBody>
      </p:sp>
      <p:sp>
        <p:nvSpPr>
          <p:cNvPr id="20" name="Shape 17"/>
          <p:cNvSpPr/>
          <p:nvPr/>
        </p:nvSpPr>
        <p:spPr>
          <a:xfrm>
            <a:off x="4696817" y="3589933"/>
            <a:ext cx="1651000" cy="101600"/>
          </a:xfrm>
          <a:prstGeom prst="roundRect">
            <a:avLst>
              <a:gd name="adj" fmla="val 25000"/>
            </a:avLst>
          </a:prstGeom>
          <a:solidFill>
            <a:srgbClr val="0E6E68"/>
          </a:solidFill>
          <a:ln/>
        </p:spPr>
      </p:sp>
      <p:sp>
        <p:nvSpPr>
          <p:cNvPr id="21" name="Shape 18"/>
          <p:cNvSpPr/>
          <p:nvPr/>
        </p:nvSpPr>
        <p:spPr>
          <a:xfrm>
            <a:off x="4696817" y="3729633"/>
            <a:ext cx="1397000" cy="101600"/>
          </a:xfrm>
          <a:prstGeom prst="roundRect">
            <a:avLst>
              <a:gd name="adj" fmla="val 25000"/>
            </a:avLst>
          </a:prstGeom>
          <a:solidFill>
            <a:srgbClr val="A6C9C7"/>
          </a:solidFill>
          <a:ln/>
        </p:spPr>
      </p:sp>
      <p:sp>
        <p:nvSpPr>
          <p:cNvPr id="22" name="Text 19"/>
          <p:cNvSpPr/>
          <p:nvPr/>
        </p:nvSpPr>
        <p:spPr>
          <a:xfrm>
            <a:off x="4696817" y="4288433"/>
            <a:ext cx="2798266" cy="340320"/>
          </a:xfrm>
          <a:prstGeom prst="roundRect">
            <a:avLst>
              <a:gd name="adj" fmla="val 18659"/>
            </a:avLst>
          </a:prstGeom>
          <a:solidFill>
            <a:srgbClr val="E2EBE9"/>
          </a:solidFill>
          <a:ln/>
        </p:spPr>
        <p:txBody>
          <a:bodyPr wrap="square" lIns="83001" tIns="44901" rIns="5149" bIns="19501"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Обавеза:</a:t>
            </a:r>
            <a:r>
              <a:rPr lang="en-US" sz="1200" dirty="0">
                <a:solidFill>
                  <a:srgbClr val="13202D"/>
                </a:solidFill>
                <a:latin typeface="IBM Plex Sans" pitchFamily="34" charset="0"/>
                <a:ea typeface="IBM Plex Sans" pitchFamily="34" charset="-122"/>
                <a:cs typeface="IBM Plex Sans" pitchFamily="34" charset="-120"/>
              </a:rPr>
              <a:t> Sprint Goal</a:t>
            </a:r>
            <a:endParaRPr lang="en-US" sz="1200" dirty="0"/>
          </a:p>
        </p:txBody>
      </p:sp>
      <p:pic>
        <p:nvPicPr>
          <p:cNvPr id="23" name="Image 1" descr="arrow-right">    </p:cNvPr>
          <p:cNvPicPr>
            <a:picLocks noChangeAspect="1"/>
          </p:cNvPicPr>
          <p:nvPr/>
        </p:nvPicPr>
        <p:blipFill>
          <a:blip r:embed="rId2"/>
          <a:srcRect l="0" r="0" t="0" b="0"/>
          <a:stretch/>
        </p:blipFill>
        <p:spPr>
          <a:xfrm>
            <a:off x="7806234" y="3405882"/>
            <a:ext cx="254000" cy="127000"/>
          </a:xfrm>
          <a:prstGeom prst="rect">
            <a:avLst/>
          </a:prstGeom>
        </p:spPr>
      </p:pic>
      <p:sp>
        <p:nvSpPr>
          <p:cNvPr id="24" name="Shape 20"/>
          <p:cNvSpPr/>
          <p:nvPr/>
        </p:nvSpPr>
        <p:spPr>
          <a:xfrm>
            <a:off x="8165009" y="2129036"/>
            <a:ext cx="3211016" cy="2680692"/>
          </a:xfrm>
          <a:prstGeom prst="roundRect">
            <a:avLst>
              <a:gd name="adj" fmla="val 3672"/>
            </a:avLst>
          </a:prstGeom>
          <a:solidFill>
            <a:srgbClr val="FCFCFB"/>
          </a:solidFill>
          <a:ln w="6350">
            <a:solidFill>
              <a:srgbClr val="D3DAE1"/>
            </a:solidFill>
            <a:prstDash val="solid"/>
          </a:ln>
        </p:spPr>
      </p:sp>
      <p:sp>
        <p:nvSpPr>
          <p:cNvPr id="25" name="Text 21"/>
          <p:cNvSpPr/>
          <p:nvPr/>
        </p:nvSpPr>
        <p:spPr>
          <a:xfrm>
            <a:off x="8371384" y="2310011"/>
            <a:ext cx="2882214"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E6E68"/>
                </a:solidFill>
                <a:latin typeface="IBM Plex Mono" pitchFamily="49" charset="0"/>
                <a:ea typeface="IBM Plex Mono" pitchFamily="49" charset="-122"/>
                <a:cs typeface="IBM Plex Mono" pitchFamily="49" charset="-120"/>
              </a:rPr>
              <a:t>03</a:t>
            </a:r>
            <a:endParaRPr lang="en-US" sz="2200" dirty="0"/>
          </a:p>
        </p:txBody>
      </p:sp>
      <p:sp>
        <p:nvSpPr>
          <p:cNvPr id="26" name="Text 22"/>
          <p:cNvSpPr/>
          <p:nvPr/>
        </p:nvSpPr>
        <p:spPr>
          <a:xfrm>
            <a:off x="8371384" y="2706191"/>
            <a:ext cx="288221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Increment</a:t>
            </a:r>
            <a:endParaRPr lang="en-US" sz="1600" dirty="0"/>
          </a:p>
        </p:txBody>
      </p:sp>
      <p:sp>
        <p:nvSpPr>
          <p:cNvPr id="27" name="Text 23"/>
          <p:cNvSpPr/>
          <p:nvPr/>
        </p:nvSpPr>
        <p:spPr>
          <a:xfrm>
            <a:off x="8371384" y="3038872"/>
            <a:ext cx="288221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реализована, проверена и употребљива промена</a:t>
            </a:r>
            <a:endParaRPr lang="en-US" sz="1300" dirty="0"/>
          </a:p>
        </p:txBody>
      </p:sp>
      <p:pic>
        <p:nvPicPr>
          <p:cNvPr id="28" name="Image 2" descr="CheckCircle">    </p:cNvPr>
          <p:cNvPicPr>
            <a:picLocks noChangeAspect="1"/>
          </p:cNvPicPr>
          <p:nvPr/>
        </p:nvPicPr>
        <p:blipFill>
          <a:blip r:embed="rId3"/>
          <a:srcRect l="0" r="0" t="0" b="0"/>
          <a:stretch/>
        </p:blipFill>
        <p:spPr>
          <a:xfrm>
            <a:off x="8371384" y="3589933"/>
            <a:ext cx="228600" cy="228600"/>
          </a:xfrm>
          <a:prstGeom prst="rect">
            <a:avLst/>
          </a:prstGeom>
        </p:spPr>
      </p:pic>
      <p:sp>
        <p:nvSpPr>
          <p:cNvPr id="29" name="Shape 24"/>
          <p:cNvSpPr/>
          <p:nvPr/>
        </p:nvSpPr>
        <p:spPr>
          <a:xfrm>
            <a:off x="8663484" y="3653433"/>
            <a:ext cx="1270000" cy="101600"/>
          </a:xfrm>
          <a:prstGeom prst="roundRect">
            <a:avLst>
              <a:gd name="adj" fmla="val 25000"/>
            </a:avLst>
          </a:prstGeom>
          <a:solidFill>
            <a:srgbClr val="0E6E68"/>
          </a:solidFill>
          <a:ln/>
        </p:spPr>
      </p:sp>
      <p:sp>
        <p:nvSpPr>
          <p:cNvPr id="30" name="Text 25"/>
          <p:cNvSpPr/>
          <p:nvPr/>
        </p:nvSpPr>
        <p:spPr>
          <a:xfrm>
            <a:off x="8371384" y="4288433"/>
            <a:ext cx="2798266" cy="340320"/>
          </a:xfrm>
          <a:prstGeom prst="roundRect">
            <a:avLst>
              <a:gd name="adj" fmla="val 18659"/>
            </a:avLst>
          </a:prstGeom>
          <a:solidFill>
            <a:srgbClr val="0E6E68"/>
          </a:solidFill>
          <a:ln/>
        </p:spPr>
        <p:txBody>
          <a:bodyPr wrap="square" lIns="83001" tIns="44901" rIns="5149" bIns="19501" rtlCol="0" anchor="t">
            <a:normAutofit/>
          </a:bodyPr>
          <a:lstStyle/>
          <a:p>
            <a:pPr algn="l" indent="0" marL="0">
              <a:lnSpc>
                <a:spcPts val="1680"/>
              </a:lnSpc>
              <a:buNone/>
            </a:pPr>
            <a:r>
              <a:rPr lang="en-US" sz="1200" b="1" dirty="0">
                <a:solidFill>
                  <a:srgbClr val="FCFCFB"/>
                </a:solidFill>
                <a:latin typeface="IBM Plex Sans" pitchFamily="34" charset="0"/>
                <a:ea typeface="IBM Plex Sans" pitchFamily="34" charset="-122"/>
                <a:cs typeface="IBM Plex Sans" pitchFamily="34" charset="-120"/>
              </a:rPr>
              <a:t>Обавеза:</a:t>
            </a:r>
            <a:r>
              <a:rPr lang="en-US" sz="1200" dirty="0">
                <a:solidFill>
                  <a:srgbClr val="FCFCFB"/>
                </a:solidFill>
                <a:latin typeface="IBM Plex Sans" pitchFamily="34" charset="0"/>
                <a:ea typeface="IBM Plex Sans" pitchFamily="34" charset="-122"/>
                <a:cs typeface="IBM Plex Sans" pitchFamily="34" charset="-120"/>
              </a:rPr>
              <a:t> Definition of Done</a:t>
            </a:r>
            <a:endParaRPr lang="en-US" sz="1200" dirty="0"/>
          </a:p>
        </p:txBody>
      </p:sp>
      <p:sp>
        <p:nvSpPr>
          <p:cNvPr id="31" name="Shape 26"/>
          <p:cNvSpPr/>
          <p:nvPr/>
        </p:nvSpPr>
        <p:spPr>
          <a:xfrm>
            <a:off x="812800" y="6209705"/>
            <a:ext cx="10566400" cy="0"/>
          </a:xfrm>
          <a:prstGeom prst="line">
            <a:avLst/>
          </a:prstGeom>
          <a:noFill/>
          <a:ln w="6350">
            <a:solidFill>
              <a:srgbClr val="D3DAE1"/>
            </a:solidFill>
            <a:prstDash val="solid"/>
          </a:ln>
        </p:spPr>
      </p:sp>
      <p:sp>
        <p:nvSpPr>
          <p:cNvPr id="32"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01 · AGILE И SCRUM</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Definition of Ready и Definition of Done</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Тим унапред договара када ставка може да уђе у рад и када се сматра завршеном.</a:t>
            </a:r>
            <a:endParaRPr lang="en-US" sz="1400" dirty="0"/>
          </a:p>
        </p:txBody>
      </p:sp>
      <p:sp>
        <p:nvSpPr>
          <p:cNvPr id="6" name="Shape 4"/>
          <p:cNvSpPr/>
          <p:nvPr/>
        </p:nvSpPr>
        <p:spPr>
          <a:xfrm>
            <a:off x="815975" y="2129036"/>
            <a:ext cx="5149850" cy="2031802"/>
          </a:xfrm>
          <a:prstGeom prst="roundRect">
            <a:avLst>
              <a:gd name="adj" fmla="val 4844"/>
            </a:avLst>
          </a:prstGeom>
          <a:solidFill>
            <a:srgbClr val="FCFCFB"/>
          </a:solidFill>
          <a:ln w="6350">
            <a:solidFill>
              <a:srgbClr val="D3DAE1"/>
            </a:solidFill>
            <a:prstDash val="solid"/>
          </a:ln>
        </p:spPr>
      </p:sp>
      <p:sp>
        <p:nvSpPr>
          <p:cNvPr id="7" name="Text 5"/>
          <p:cNvSpPr/>
          <p:nvPr/>
        </p:nvSpPr>
        <p:spPr>
          <a:xfrm>
            <a:off x="1047750" y="2322711"/>
            <a:ext cx="7046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Ready</a:t>
            </a:r>
            <a:endParaRPr lang="en-US" sz="1600" dirty="0"/>
          </a:p>
        </p:txBody>
      </p:sp>
      <p:sp>
        <p:nvSpPr>
          <p:cNvPr id="8" name="Text 6"/>
          <p:cNvSpPr/>
          <p:nvPr/>
        </p:nvSpPr>
        <p:spPr>
          <a:xfrm>
            <a:off x="4417219" y="2360811"/>
            <a:ext cx="131683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договор тима</a:t>
            </a:r>
            <a:endParaRPr lang="en-US" sz="1200" dirty="0"/>
          </a:p>
        </p:txBody>
      </p:sp>
      <p:sp>
        <p:nvSpPr>
          <p:cNvPr id="9" name="Shape 7"/>
          <p:cNvSpPr/>
          <p:nvPr/>
        </p:nvSpPr>
        <p:spPr>
          <a:xfrm>
            <a:off x="1047750" y="2678906"/>
            <a:ext cx="4686300" cy="0"/>
          </a:xfrm>
          <a:prstGeom prst="line">
            <a:avLst/>
          </a:prstGeom>
          <a:noFill/>
          <a:ln w="6350">
            <a:solidFill>
              <a:srgbClr val="E3E8EE"/>
            </a:solidFill>
            <a:prstDash val="solid"/>
          </a:ln>
        </p:spPr>
      </p:sp>
      <p:pic>
        <p:nvPicPr>
          <p:cNvPr id="10" name="Image 0" descr="Check">    </p:cNvPr>
          <p:cNvPicPr>
            <a:picLocks noChangeAspect="1"/>
          </p:cNvPicPr>
          <p:nvPr/>
        </p:nvPicPr>
        <p:blipFill>
          <a:blip r:embed="rId1"/>
          <a:srcRect l="0" r="0" t="0" b="0"/>
          <a:stretch/>
        </p:blipFill>
        <p:spPr>
          <a:xfrm>
            <a:off x="1047750" y="2770981"/>
            <a:ext cx="203200" cy="203200"/>
          </a:xfrm>
          <a:prstGeom prst="rect">
            <a:avLst/>
          </a:prstGeom>
        </p:spPr>
      </p:pic>
      <p:sp>
        <p:nvSpPr>
          <p:cNvPr id="11" name="Text 8"/>
          <p:cNvSpPr/>
          <p:nvPr/>
        </p:nvSpPr>
        <p:spPr>
          <a:xfrm>
            <a:off x="1352550" y="2770981"/>
            <a:ext cx="451294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Опис и вредност за корисника су јасни</a:t>
            </a:r>
            <a:endParaRPr lang="en-US" sz="1300" dirty="0"/>
          </a:p>
        </p:txBody>
      </p:sp>
      <p:pic>
        <p:nvPicPr>
          <p:cNvPr id="12" name="Image 1" descr="Check">    </p:cNvPr>
          <p:cNvPicPr>
            <a:picLocks noChangeAspect="1"/>
          </p:cNvPicPr>
          <p:nvPr/>
        </p:nvPicPr>
        <p:blipFill>
          <a:blip r:embed="rId2"/>
          <a:srcRect l="0" r="0" t="0" b="0"/>
          <a:stretch/>
        </p:blipFill>
        <p:spPr>
          <a:xfrm>
            <a:off x="1047750" y="3095427"/>
            <a:ext cx="203200" cy="203200"/>
          </a:xfrm>
          <a:prstGeom prst="rect">
            <a:avLst/>
          </a:prstGeom>
        </p:spPr>
      </p:pic>
      <p:sp>
        <p:nvSpPr>
          <p:cNvPr id="13" name="Text 9"/>
          <p:cNvSpPr/>
          <p:nvPr/>
        </p:nvSpPr>
        <p:spPr>
          <a:xfrm>
            <a:off x="1352550" y="3095427"/>
            <a:ext cx="451294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Критеријуми прихватања су написани</a:t>
            </a:r>
            <a:endParaRPr lang="en-US" sz="1300" dirty="0"/>
          </a:p>
        </p:txBody>
      </p:sp>
      <p:pic>
        <p:nvPicPr>
          <p:cNvPr id="14" name="Image 2" descr="Check">    </p:cNvPr>
          <p:cNvPicPr>
            <a:picLocks noChangeAspect="1"/>
          </p:cNvPicPr>
          <p:nvPr/>
        </p:nvPicPr>
        <p:blipFill>
          <a:blip r:embed="rId3"/>
          <a:srcRect l="0" r="0" t="0" b="0"/>
          <a:stretch/>
        </p:blipFill>
        <p:spPr>
          <a:xfrm>
            <a:off x="1047750" y="3419872"/>
            <a:ext cx="203200" cy="203200"/>
          </a:xfrm>
          <a:prstGeom prst="rect">
            <a:avLst/>
          </a:prstGeom>
        </p:spPr>
      </p:pic>
      <p:sp>
        <p:nvSpPr>
          <p:cNvPr id="15" name="Text 10"/>
          <p:cNvSpPr/>
          <p:nvPr/>
        </p:nvSpPr>
        <p:spPr>
          <a:xfrm>
            <a:off x="1352550" y="3419872"/>
            <a:ext cx="451294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Ставка је довољно мала да стане у Sprint</a:t>
            </a:r>
            <a:endParaRPr lang="en-US" sz="1300" dirty="0"/>
          </a:p>
        </p:txBody>
      </p:sp>
      <p:pic>
        <p:nvPicPr>
          <p:cNvPr id="16" name="Image 3" descr="Check">    </p:cNvPr>
          <p:cNvPicPr>
            <a:picLocks noChangeAspect="1"/>
          </p:cNvPicPr>
          <p:nvPr/>
        </p:nvPicPr>
        <p:blipFill>
          <a:blip r:embed="rId4"/>
          <a:srcRect l="0" r="0" t="0" b="0"/>
          <a:stretch/>
        </p:blipFill>
        <p:spPr>
          <a:xfrm>
            <a:off x="1047750" y="3744317"/>
            <a:ext cx="203200" cy="203200"/>
          </a:xfrm>
          <a:prstGeom prst="rect">
            <a:avLst/>
          </a:prstGeom>
        </p:spPr>
      </p:pic>
      <p:sp>
        <p:nvSpPr>
          <p:cNvPr id="17" name="Text 11"/>
          <p:cNvSpPr/>
          <p:nvPr/>
        </p:nvSpPr>
        <p:spPr>
          <a:xfrm>
            <a:off x="1352550" y="3744317"/>
            <a:ext cx="451294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Нема зависности које блокирају почетак</a:t>
            </a:r>
            <a:endParaRPr lang="en-US" sz="1300" dirty="0"/>
          </a:p>
        </p:txBody>
      </p:sp>
      <p:sp>
        <p:nvSpPr>
          <p:cNvPr id="18" name="Shape 12"/>
          <p:cNvSpPr/>
          <p:nvPr/>
        </p:nvSpPr>
        <p:spPr>
          <a:xfrm>
            <a:off x="6226175" y="2129036"/>
            <a:ext cx="5149850" cy="2356247"/>
          </a:xfrm>
          <a:prstGeom prst="roundRect">
            <a:avLst>
              <a:gd name="adj" fmla="val 4177"/>
            </a:avLst>
          </a:prstGeom>
          <a:solidFill>
            <a:srgbClr val="FCFCFB"/>
          </a:solidFill>
          <a:ln w="6350">
            <a:solidFill>
              <a:srgbClr val="D3DAE1"/>
            </a:solidFill>
            <a:prstDash val="solid"/>
          </a:ln>
        </p:spPr>
      </p:sp>
      <p:sp>
        <p:nvSpPr>
          <p:cNvPr id="19" name="Text 13"/>
          <p:cNvSpPr/>
          <p:nvPr/>
        </p:nvSpPr>
        <p:spPr>
          <a:xfrm>
            <a:off x="6457950" y="2322711"/>
            <a:ext cx="5848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Done</a:t>
            </a:r>
            <a:endParaRPr lang="en-US" sz="1600" dirty="0"/>
          </a:p>
        </p:txBody>
      </p:sp>
      <p:sp>
        <p:nvSpPr>
          <p:cNvPr id="20" name="Text 14"/>
          <p:cNvSpPr/>
          <p:nvPr/>
        </p:nvSpPr>
        <p:spPr>
          <a:xfrm>
            <a:off x="9059347" y="2360811"/>
            <a:ext cx="208490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обавеза Increment-а</a:t>
            </a:r>
            <a:endParaRPr lang="en-US" sz="1200" dirty="0"/>
          </a:p>
        </p:txBody>
      </p:sp>
      <p:sp>
        <p:nvSpPr>
          <p:cNvPr id="21" name="Shape 15"/>
          <p:cNvSpPr/>
          <p:nvPr/>
        </p:nvSpPr>
        <p:spPr>
          <a:xfrm>
            <a:off x="6457950" y="2678906"/>
            <a:ext cx="4686300" cy="0"/>
          </a:xfrm>
          <a:prstGeom prst="line">
            <a:avLst/>
          </a:prstGeom>
          <a:noFill/>
          <a:ln w="6350">
            <a:solidFill>
              <a:srgbClr val="E3E8EE"/>
            </a:solidFill>
            <a:prstDash val="solid"/>
          </a:ln>
        </p:spPr>
      </p:sp>
      <p:pic>
        <p:nvPicPr>
          <p:cNvPr id="22" name="Image 4" descr="CheckCircle">    </p:cNvPr>
          <p:cNvPicPr>
            <a:picLocks noChangeAspect="1"/>
          </p:cNvPicPr>
          <p:nvPr/>
        </p:nvPicPr>
        <p:blipFill>
          <a:blip r:embed="rId5"/>
          <a:srcRect l="0" r="0" t="0" b="0"/>
          <a:stretch/>
        </p:blipFill>
        <p:spPr>
          <a:xfrm>
            <a:off x="6457950" y="2770981"/>
            <a:ext cx="203200" cy="203200"/>
          </a:xfrm>
          <a:prstGeom prst="rect">
            <a:avLst/>
          </a:prstGeom>
        </p:spPr>
      </p:pic>
      <p:sp>
        <p:nvSpPr>
          <p:cNvPr id="23" name="Text 16"/>
          <p:cNvSpPr/>
          <p:nvPr/>
        </p:nvSpPr>
        <p:spPr>
          <a:xfrm>
            <a:off x="6762750" y="2770981"/>
            <a:ext cx="451294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Критеријуми прихватања су испуњени</a:t>
            </a:r>
            <a:endParaRPr lang="en-US" sz="1300" dirty="0"/>
          </a:p>
        </p:txBody>
      </p:sp>
      <p:pic>
        <p:nvPicPr>
          <p:cNvPr id="24" name="Image 5" descr="CheckCircle">    </p:cNvPr>
          <p:cNvPicPr>
            <a:picLocks noChangeAspect="1"/>
          </p:cNvPicPr>
          <p:nvPr/>
        </p:nvPicPr>
        <p:blipFill>
          <a:blip r:embed="rId6"/>
          <a:srcRect l="0" r="0" t="0" b="0"/>
          <a:stretch/>
        </p:blipFill>
        <p:spPr>
          <a:xfrm>
            <a:off x="6457950" y="3095427"/>
            <a:ext cx="203200" cy="203200"/>
          </a:xfrm>
          <a:prstGeom prst="rect">
            <a:avLst/>
          </a:prstGeom>
        </p:spPr>
      </p:pic>
      <p:sp>
        <p:nvSpPr>
          <p:cNvPr id="25" name="Text 17"/>
          <p:cNvSpPr/>
          <p:nvPr/>
        </p:nvSpPr>
        <p:spPr>
          <a:xfrm>
            <a:off x="6762750" y="3095427"/>
            <a:ext cx="451294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Build и тестови успешно пролазе</a:t>
            </a:r>
            <a:endParaRPr lang="en-US" sz="1300" dirty="0"/>
          </a:p>
        </p:txBody>
      </p:sp>
      <p:pic>
        <p:nvPicPr>
          <p:cNvPr id="26" name="Image 6" descr="CheckCircle">    </p:cNvPr>
          <p:cNvPicPr>
            <a:picLocks noChangeAspect="1"/>
          </p:cNvPicPr>
          <p:nvPr/>
        </p:nvPicPr>
        <p:blipFill>
          <a:blip r:embed="rId7"/>
          <a:srcRect l="0" r="0" t="0" b="0"/>
          <a:stretch/>
        </p:blipFill>
        <p:spPr>
          <a:xfrm>
            <a:off x="6457950" y="3419872"/>
            <a:ext cx="203200" cy="203200"/>
          </a:xfrm>
          <a:prstGeom prst="rect">
            <a:avLst/>
          </a:prstGeom>
        </p:spPr>
      </p:pic>
      <p:sp>
        <p:nvSpPr>
          <p:cNvPr id="27" name="Text 18"/>
          <p:cNvSpPr/>
          <p:nvPr/>
        </p:nvSpPr>
        <p:spPr>
          <a:xfrm>
            <a:off x="6762750" y="3419872"/>
            <a:ext cx="451294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Code review је завршен</a:t>
            </a:r>
            <a:endParaRPr lang="en-US" sz="1300" dirty="0"/>
          </a:p>
        </p:txBody>
      </p:sp>
      <p:pic>
        <p:nvPicPr>
          <p:cNvPr id="28" name="Image 7" descr="CheckCircle">    </p:cNvPr>
          <p:cNvPicPr>
            <a:picLocks noChangeAspect="1"/>
          </p:cNvPicPr>
          <p:nvPr/>
        </p:nvPicPr>
        <p:blipFill>
          <a:blip r:embed="rId8"/>
          <a:srcRect l="0" r="0" t="0" b="0"/>
          <a:stretch/>
        </p:blipFill>
        <p:spPr>
          <a:xfrm>
            <a:off x="6457950" y="3744317"/>
            <a:ext cx="203200" cy="203200"/>
          </a:xfrm>
          <a:prstGeom prst="rect">
            <a:avLst/>
          </a:prstGeom>
        </p:spPr>
      </p:pic>
      <p:sp>
        <p:nvSpPr>
          <p:cNvPr id="29" name="Text 19"/>
          <p:cNvSpPr/>
          <p:nvPr/>
        </p:nvSpPr>
        <p:spPr>
          <a:xfrm>
            <a:off x="6762750" y="3744317"/>
            <a:ext cx="451294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Промена је интегрисана у главну грану</a:t>
            </a:r>
            <a:endParaRPr lang="en-US" sz="1300" dirty="0"/>
          </a:p>
        </p:txBody>
      </p:sp>
      <p:pic>
        <p:nvPicPr>
          <p:cNvPr id="30" name="Image 8" descr="CheckCircle">    </p:cNvPr>
          <p:cNvPicPr>
            <a:picLocks noChangeAspect="1"/>
          </p:cNvPicPr>
          <p:nvPr/>
        </p:nvPicPr>
        <p:blipFill>
          <a:blip r:embed="rId9"/>
          <a:srcRect l="0" r="0" t="0" b="0"/>
          <a:stretch/>
        </p:blipFill>
        <p:spPr>
          <a:xfrm>
            <a:off x="6457950" y="4068763"/>
            <a:ext cx="203200" cy="203200"/>
          </a:xfrm>
          <a:prstGeom prst="rect">
            <a:avLst/>
          </a:prstGeom>
        </p:spPr>
      </p:pic>
      <p:sp>
        <p:nvSpPr>
          <p:cNvPr id="31" name="Text 20"/>
          <p:cNvSpPr/>
          <p:nvPr/>
        </p:nvSpPr>
        <p:spPr>
          <a:xfrm>
            <a:off x="6762750" y="4068763"/>
            <a:ext cx="451294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Документација је ажурирана</a:t>
            </a:r>
            <a:endParaRPr lang="en-US" sz="1300" dirty="0"/>
          </a:p>
        </p:txBody>
      </p:sp>
      <p:sp>
        <p:nvSpPr>
          <p:cNvPr id="32" name="Shape 21"/>
          <p:cNvSpPr/>
          <p:nvPr/>
        </p:nvSpPr>
        <p:spPr>
          <a:xfrm>
            <a:off x="812800" y="6209705"/>
            <a:ext cx="10566400" cy="0"/>
          </a:xfrm>
          <a:prstGeom prst="line">
            <a:avLst/>
          </a:prstGeom>
          <a:noFill/>
          <a:ln w="6350">
            <a:solidFill>
              <a:srgbClr val="D3DAE1"/>
            </a:solidFill>
            <a:prstDash val="solid"/>
          </a:ln>
        </p:spPr>
      </p:sp>
      <p:sp>
        <p:nvSpPr>
          <p:cNvPr id="33" name="Text 2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4"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2EBE9"/>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E6E68"/>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21238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60350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Захтеви</a:t>
            </a:r>
            <a:endParaRPr lang="en-US" sz="4800" dirty="0"/>
          </a:p>
        </p:txBody>
      </p:sp>
      <p:sp>
        <p:nvSpPr>
          <p:cNvPr id="5" name="Text 3"/>
          <p:cNvSpPr/>
          <p:nvPr/>
        </p:nvSpPr>
        <p:spPr>
          <a:xfrm>
            <a:off x="4267200" y="342136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се потреба корисника записује као корисничка прича и како се дефинишу проверљиви критеријуми прихватања.</a:t>
            </a:r>
            <a:endParaRPr lang="en-US" sz="1400" dirty="0"/>
          </a:p>
        </p:txBody>
      </p:sp>
      <p:sp>
        <p:nvSpPr>
          <p:cNvPr id="6" name="Text 4"/>
          <p:cNvSpPr/>
          <p:nvPr/>
        </p:nvSpPr>
        <p:spPr>
          <a:xfrm>
            <a:off x="4270375" y="4117876"/>
            <a:ext cx="1587004"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Корисничка прича</a:t>
            </a:r>
            <a:endParaRPr lang="en-US" sz="1200" dirty="0"/>
          </a:p>
        </p:txBody>
      </p:sp>
      <p:sp>
        <p:nvSpPr>
          <p:cNvPr id="7" name="Text 5"/>
          <p:cNvSpPr/>
          <p:nvPr/>
        </p:nvSpPr>
        <p:spPr>
          <a:xfrm>
            <a:off x="5939929" y="4117876"/>
            <a:ext cx="784523"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INVEST</a:t>
            </a:r>
            <a:endParaRPr lang="en-US" sz="1200" dirty="0"/>
          </a:p>
        </p:txBody>
      </p:sp>
      <p:sp>
        <p:nvSpPr>
          <p:cNvPr id="8" name="Text 6"/>
          <p:cNvSpPr/>
          <p:nvPr/>
        </p:nvSpPr>
        <p:spPr>
          <a:xfrm>
            <a:off x="6807002" y="4117876"/>
            <a:ext cx="2081609"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Критеријуми прихватања</a:t>
            </a:r>
            <a:endParaRPr lang="en-US" sz="1200" dirty="0"/>
          </a:p>
        </p:txBody>
      </p:sp>
      <p:sp>
        <p:nvSpPr>
          <p:cNvPr id="9" name="Text 7"/>
          <p:cNvSpPr/>
          <p:nvPr/>
        </p:nvSpPr>
        <p:spPr>
          <a:xfrm>
            <a:off x="8971161" y="4117876"/>
            <a:ext cx="1555055"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Given–When–Then</a:t>
            </a:r>
            <a:endParaRPr lang="en-US" sz="1200" dirty="0"/>
          </a:p>
        </p:txBody>
      </p:sp>
      <p:sp>
        <p:nvSpPr>
          <p:cNvPr id="10" name="Shape 8"/>
          <p:cNvSpPr/>
          <p:nvPr/>
        </p:nvSpPr>
        <p:spPr>
          <a:xfrm>
            <a:off x="812800" y="6209705"/>
            <a:ext cx="10566400" cy="0"/>
          </a:xfrm>
          <a:prstGeom prst="line">
            <a:avLst/>
          </a:prstGeom>
          <a:noFill/>
          <a:ln w="6350">
            <a:solidFill>
              <a:srgbClr val="AEC2C6"/>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02 · ЗАХТЕВИ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Структура корисничке приче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Корисничка прича наводи корисника, потребу и очекивану вредност.</a:t>
            </a:r>
            <a:endParaRPr lang="en-US" sz="1400" dirty="0"/>
          </a:p>
        </p:txBody>
      </p:sp>
      <p:sp>
        <p:nvSpPr>
          <p:cNvPr id="6" name="Shape 4"/>
          <p:cNvSpPr/>
          <p:nvPr/>
        </p:nvSpPr>
        <p:spPr>
          <a:xfrm>
            <a:off x="815975" y="2129036"/>
            <a:ext cx="6851650" cy="2689622"/>
          </a:xfrm>
          <a:prstGeom prst="roundRect">
            <a:avLst>
              <a:gd name="adj" fmla="val 3659"/>
            </a:avLst>
          </a:prstGeom>
          <a:solidFill>
            <a:srgbClr val="FCFCFB"/>
          </a:solidFill>
          <a:ln w="6350">
            <a:solidFill>
              <a:srgbClr val="D3DAE1"/>
            </a:solidFill>
            <a:prstDash val="solid"/>
          </a:ln>
        </p:spPr>
      </p:sp>
      <p:sp>
        <p:nvSpPr>
          <p:cNvPr id="7" name="Text 5"/>
          <p:cNvSpPr/>
          <p:nvPr/>
        </p:nvSpPr>
        <p:spPr>
          <a:xfrm>
            <a:off x="1098550" y="2360811"/>
            <a:ext cx="609600" cy="264120"/>
          </a:xfrm>
          <a:prstGeom prst="roundRect">
            <a:avLst>
              <a:gd name="adj" fmla="val 19234"/>
            </a:avLst>
          </a:prstGeom>
          <a:solidFill>
            <a:srgbClr val="0E6E68"/>
          </a:solidFill>
          <a:ln/>
        </p:spPr>
        <p:txBody>
          <a:bodyPr wrap="none" lIns="0" tIns="0" rIns="0" bIns="0" rtlCol="0" anchor="ctr">
            <a:normAutofit/>
          </a:bodyPr>
          <a:lstStyle/>
          <a:p>
            <a:pPr algn="ctr" indent="0" marL="0">
              <a:lnSpc>
                <a:spcPts val="1680"/>
              </a:lnSpc>
              <a:buNone/>
            </a:pPr>
            <a:r>
              <a:rPr lang="en-US" sz="1200" b="1" dirty="0">
                <a:solidFill>
                  <a:srgbClr val="FCFCFB"/>
                </a:solidFill>
                <a:latin typeface="IBM Plex Mono" pitchFamily="49" charset="0"/>
                <a:ea typeface="IBM Plex Mono" pitchFamily="49" charset="-122"/>
                <a:cs typeface="IBM Plex Mono" pitchFamily="49" charset="-120"/>
              </a:rPr>
              <a:t>US-05</a:t>
            </a:r>
            <a:endParaRPr lang="en-US" sz="1200" dirty="0"/>
          </a:p>
        </p:txBody>
      </p:sp>
      <p:sp>
        <p:nvSpPr>
          <p:cNvPr id="8" name="Text 6"/>
          <p:cNvSpPr/>
          <p:nvPr/>
        </p:nvSpPr>
        <p:spPr>
          <a:xfrm>
            <a:off x="1809750" y="2377281"/>
            <a:ext cx="19558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Резервација опреме</a:t>
            </a:r>
            <a:endParaRPr lang="en-US" sz="1300" dirty="0"/>
          </a:p>
        </p:txBody>
      </p:sp>
      <p:sp>
        <p:nvSpPr>
          <p:cNvPr id="9" name="Text 7"/>
          <p:cNvSpPr/>
          <p:nvPr/>
        </p:nvSpPr>
        <p:spPr>
          <a:xfrm>
            <a:off x="1098550" y="2764631"/>
            <a:ext cx="6475095" cy="33397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0E6E68"/>
                </a:solidFill>
                <a:latin typeface="IBM Plex Sans" pitchFamily="34" charset="0"/>
                <a:ea typeface="IBM Plex Sans" pitchFamily="34" charset="-122"/>
                <a:cs typeface="IBM Plex Sans" pitchFamily="34" charset="-120"/>
              </a:rPr>
              <a:t>Као</a:t>
            </a:r>
            <a:r>
              <a:rPr lang="en-US" sz="1800" dirty="0">
                <a:solidFill>
                  <a:srgbClr val="13202D"/>
                </a:solidFill>
                <a:latin typeface="IBM Plex Sans" pitchFamily="34" charset="0"/>
                <a:ea typeface="IBM Plex Sans" pitchFamily="34" charset="-122"/>
                <a:cs typeface="IBM Plex Sans" pitchFamily="34" charset="-120"/>
              </a:rPr>
              <a:t> наставник лабораторије,</a:t>
            </a:r>
            <a:endParaRPr lang="en-US" sz="1800" dirty="0"/>
          </a:p>
        </p:txBody>
      </p:sp>
      <p:sp>
        <p:nvSpPr>
          <p:cNvPr id="10" name="Text 8"/>
          <p:cNvSpPr/>
          <p:nvPr/>
        </p:nvSpPr>
        <p:spPr>
          <a:xfrm>
            <a:off x="1098550" y="3212902"/>
            <a:ext cx="6475095"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A8520A"/>
                </a:solidFill>
                <a:latin typeface="IBM Plex Sans" pitchFamily="34" charset="0"/>
                <a:ea typeface="IBM Plex Sans" pitchFamily="34" charset="-122"/>
                <a:cs typeface="IBM Plex Sans" pitchFamily="34" charset="-120"/>
              </a:rPr>
              <a:t>желим да</a:t>
            </a:r>
            <a:r>
              <a:rPr lang="en-US" sz="1800" dirty="0">
                <a:solidFill>
                  <a:srgbClr val="13202D"/>
                </a:solidFill>
                <a:latin typeface="IBM Plex Sans" pitchFamily="34" charset="0"/>
                <a:ea typeface="IBM Plex Sans" pitchFamily="34" charset="-122"/>
                <a:cs typeface="IBM Plex Sans" pitchFamily="34" charset="-120"/>
              </a:rPr>
              <a:t> резервишем слободну опрему за одређени термин,</a:t>
            </a:r>
            <a:endParaRPr lang="en-US" sz="1800" dirty="0"/>
          </a:p>
        </p:txBody>
      </p:sp>
      <p:sp>
        <p:nvSpPr>
          <p:cNvPr id="11" name="Text 9"/>
          <p:cNvSpPr/>
          <p:nvPr/>
        </p:nvSpPr>
        <p:spPr>
          <a:xfrm>
            <a:off x="1098550" y="3969742"/>
            <a:ext cx="6475095"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3202D"/>
                </a:solidFill>
                <a:latin typeface="IBM Plex Sans" pitchFamily="34" charset="0"/>
                <a:ea typeface="IBM Plex Sans" pitchFamily="34" charset="-122"/>
                <a:cs typeface="IBM Plex Sans" pitchFamily="34" charset="-120"/>
              </a:rPr>
              <a:t>како бих</a:t>
            </a:r>
            <a:r>
              <a:rPr lang="en-US" sz="1800" dirty="0">
                <a:solidFill>
                  <a:srgbClr val="13202D"/>
                </a:solidFill>
                <a:latin typeface="IBM Plex Sans" pitchFamily="34" charset="0"/>
                <a:ea typeface="IBM Plex Sans" pitchFamily="34" charset="-122"/>
                <a:cs typeface="IBM Plex Sans" pitchFamily="34" charset="-120"/>
              </a:rPr>
              <a:t> знао да је опрема доступна и спречио двоструку резервацију.</a:t>
            </a:r>
            <a:endParaRPr lang="en-US" sz="1800" dirty="0"/>
          </a:p>
        </p:txBody>
      </p:sp>
      <p:sp>
        <p:nvSpPr>
          <p:cNvPr id="12" name="Shape 10"/>
          <p:cNvSpPr/>
          <p:nvPr/>
        </p:nvSpPr>
        <p:spPr>
          <a:xfrm>
            <a:off x="7988300" y="2125861"/>
            <a:ext cx="0" cy="538361"/>
          </a:xfrm>
          <a:prstGeom prst="line">
            <a:avLst/>
          </a:prstGeom>
          <a:noFill/>
          <a:ln w="25400">
            <a:solidFill>
              <a:srgbClr val="0E6E68"/>
            </a:solidFill>
            <a:prstDash val="solid"/>
          </a:ln>
        </p:spPr>
      </p:sp>
      <p:sp>
        <p:nvSpPr>
          <p:cNvPr id="13" name="Text 11"/>
          <p:cNvSpPr/>
          <p:nvPr/>
        </p:nvSpPr>
        <p:spPr>
          <a:xfrm>
            <a:off x="8140700" y="2151261"/>
            <a:ext cx="33356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Корисник</a:t>
            </a:r>
            <a:endParaRPr lang="en-US" sz="1400" dirty="0"/>
          </a:p>
        </p:txBody>
      </p:sp>
      <p:sp>
        <p:nvSpPr>
          <p:cNvPr id="14" name="Text 12"/>
          <p:cNvSpPr/>
          <p:nvPr/>
        </p:nvSpPr>
        <p:spPr>
          <a:xfrm>
            <a:off x="8140700" y="2425502"/>
            <a:ext cx="33356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ко има потребу</a:t>
            </a:r>
            <a:endParaRPr lang="en-US" sz="1200" dirty="0"/>
          </a:p>
        </p:txBody>
      </p:sp>
      <p:sp>
        <p:nvSpPr>
          <p:cNvPr id="15" name="Shape 13"/>
          <p:cNvSpPr/>
          <p:nvPr/>
        </p:nvSpPr>
        <p:spPr>
          <a:xfrm>
            <a:off x="7988300" y="2765822"/>
            <a:ext cx="0" cy="538361"/>
          </a:xfrm>
          <a:prstGeom prst="line">
            <a:avLst/>
          </a:prstGeom>
          <a:noFill/>
          <a:ln w="25400">
            <a:solidFill>
              <a:srgbClr val="E07B1F"/>
            </a:solidFill>
            <a:prstDash val="solid"/>
          </a:ln>
        </p:spPr>
      </p:sp>
      <p:sp>
        <p:nvSpPr>
          <p:cNvPr id="16" name="Text 14"/>
          <p:cNvSpPr/>
          <p:nvPr/>
        </p:nvSpPr>
        <p:spPr>
          <a:xfrm>
            <a:off x="8140700" y="2791222"/>
            <a:ext cx="33356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Потреба</a:t>
            </a:r>
            <a:endParaRPr lang="en-US" sz="1400" dirty="0"/>
          </a:p>
        </p:txBody>
      </p:sp>
      <p:sp>
        <p:nvSpPr>
          <p:cNvPr id="17" name="Text 15"/>
          <p:cNvSpPr/>
          <p:nvPr/>
        </p:nvSpPr>
        <p:spPr>
          <a:xfrm>
            <a:off x="8140700" y="3065463"/>
            <a:ext cx="33356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шта корисник жели да уради</a:t>
            </a:r>
            <a:endParaRPr lang="en-US" sz="1200" dirty="0"/>
          </a:p>
        </p:txBody>
      </p:sp>
      <p:sp>
        <p:nvSpPr>
          <p:cNvPr id="18" name="Shape 16"/>
          <p:cNvSpPr/>
          <p:nvPr/>
        </p:nvSpPr>
        <p:spPr>
          <a:xfrm>
            <a:off x="7988300" y="3405783"/>
            <a:ext cx="0" cy="538361"/>
          </a:xfrm>
          <a:prstGeom prst="line">
            <a:avLst/>
          </a:prstGeom>
          <a:noFill/>
          <a:ln w="25400">
            <a:solidFill>
              <a:srgbClr val="13202D"/>
            </a:solidFill>
            <a:prstDash val="solid"/>
          </a:ln>
        </p:spPr>
      </p:sp>
      <p:sp>
        <p:nvSpPr>
          <p:cNvPr id="19" name="Text 17"/>
          <p:cNvSpPr/>
          <p:nvPr/>
        </p:nvSpPr>
        <p:spPr>
          <a:xfrm>
            <a:off x="8140700" y="3431183"/>
            <a:ext cx="33356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Вредност</a:t>
            </a:r>
            <a:endParaRPr lang="en-US" sz="1400" dirty="0"/>
          </a:p>
        </p:txBody>
      </p:sp>
      <p:sp>
        <p:nvSpPr>
          <p:cNvPr id="20" name="Text 18"/>
          <p:cNvSpPr/>
          <p:nvPr/>
        </p:nvSpPr>
        <p:spPr>
          <a:xfrm>
            <a:off x="8140700" y="3705423"/>
            <a:ext cx="33356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зашто је то кориснику важно</a:t>
            </a:r>
            <a:endParaRPr lang="en-US" sz="1200" dirty="0"/>
          </a:p>
        </p:txBody>
      </p:sp>
      <p:sp>
        <p:nvSpPr>
          <p:cNvPr id="21" name="Shape 19"/>
          <p:cNvSpPr/>
          <p:nvPr/>
        </p:nvSpPr>
        <p:spPr>
          <a:xfrm>
            <a:off x="812800" y="5050433"/>
            <a:ext cx="10566400" cy="758130"/>
          </a:xfrm>
          <a:prstGeom prst="roundRect">
            <a:avLst>
              <a:gd name="adj" fmla="val 13401"/>
            </a:avLst>
          </a:prstGeom>
          <a:solidFill>
            <a:srgbClr val="E2EBE9"/>
          </a:solidFill>
          <a:ln/>
        </p:spPr>
      </p:sp>
      <p:sp>
        <p:nvSpPr>
          <p:cNvPr id="22" name="Shape 20"/>
          <p:cNvSpPr/>
          <p:nvPr/>
        </p:nvSpPr>
        <p:spPr>
          <a:xfrm>
            <a:off x="812800" y="5050433"/>
            <a:ext cx="10566400" cy="758130"/>
          </a:xfrm>
          <a:custGeom>
            <a:avLst/>
            <a:gdLst/>
            <a:ahLst/>
            <a:cxnLst/>
            <a:rect l="l" t="t" r="r" b="b"/>
            <a:pathLst>
              <a:path w="10566400" h="758130">
                <a:moveTo>
                  <a:pt x="101600" y="758130"/>
                </a:moveTo>
                <a:lnTo>
                  <a:pt x="101600" y="758130"/>
                </a:lnTo>
                <a:arcTo hR="101600" wR="101600" stAng="5400000" swAng="5400000"/>
                <a:lnTo>
                  <a:pt x="0" y="101600"/>
                </a:lnTo>
                <a:arcTo hR="101600" wR="101600" stAng="10800000" swAng="5400000"/>
                <a:lnTo>
                  <a:pt x="101600" y="0"/>
                </a:lnTo>
                <a:arcTo hR="101600" wR="63500" stAng="16200000" swAng="-5400000"/>
                <a:lnTo>
                  <a:pt x="38100" y="656530"/>
                </a:lnTo>
                <a:arcTo hR="101600" wR="63500" stAng="10800000" swAng="-5400000"/>
                <a:close/>
              </a:path>
            </a:pathLst>
          </a:custGeom>
          <a:solidFill>
            <a:srgbClr val="0E6E68"/>
          </a:solidFill>
          <a:ln/>
        </p:spPr>
      </p:sp>
      <p:sp>
        <p:nvSpPr>
          <p:cNvPr id="23" name="Text 21"/>
          <p:cNvSpPr/>
          <p:nvPr/>
        </p:nvSpPr>
        <p:spPr>
          <a:xfrm>
            <a:off x="1054100" y="519013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E68"/>
                </a:solidFill>
                <a:latin typeface="IBM Plex Mono" pitchFamily="49" charset="0"/>
                <a:ea typeface="IBM Plex Mono" pitchFamily="49" charset="-122"/>
                <a:cs typeface="IBM Plex Mono" pitchFamily="49" charset="-120"/>
              </a:rPr>
              <a:t>НАПОМЕНА</a:t>
            </a:r>
            <a:endParaRPr lang="en-US" sz="1200" dirty="0"/>
          </a:p>
        </p:txBody>
      </p:sp>
      <p:sp>
        <p:nvSpPr>
          <p:cNvPr id="24" name="Text 22"/>
          <p:cNvSpPr/>
          <p:nvPr/>
        </p:nvSpPr>
        <p:spPr>
          <a:xfrm>
            <a:off x="1054100" y="542885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Корисничка прича има вредност када дефинише проверљиво понашање система.</a:t>
            </a:r>
            <a:endParaRPr lang="en-US" sz="1400" dirty="0"/>
          </a:p>
        </p:txBody>
      </p:sp>
      <p:sp>
        <p:nvSpPr>
          <p:cNvPr id="25" name="Shape 23"/>
          <p:cNvSpPr/>
          <p:nvPr/>
        </p:nvSpPr>
        <p:spPr>
          <a:xfrm>
            <a:off x="812800" y="6209705"/>
            <a:ext cx="10566400" cy="0"/>
          </a:xfrm>
          <a:prstGeom prst="line">
            <a:avLst/>
          </a:prstGeom>
          <a:noFill/>
          <a:ln w="6350">
            <a:solidFill>
              <a:srgbClr val="D3DAE1"/>
            </a:solidFill>
            <a:prstDash val="solid"/>
          </a:ln>
        </p:spPr>
      </p:sp>
      <p:sp>
        <p:nvSpPr>
          <p:cNvPr id="26" name="Text 2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7"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02 · ЗАХТЕВИ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Особине добре приче: INVEST</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Шест провера које помажу да ставка буде спремна за рад.</a:t>
            </a:r>
            <a:endParaRPr lang="en-US" sz="1400" dirty="0"/>
          </a:p>
        </p:txBody>
      </p:sp>
      <p:sp>
        <p:nvSpPr>
          <p:cNvPr id="6" name="Shape 4"/>
          <p:cNvSpPr/>
          <p:nvPr/>
        </p:nvSpPr>
        <p:spPr>
          <a:xfrm>
            <a:off x="815975" y="2129036"/>
            <a:ext cx="3431084" cy="1215231"/>
          </a:xfrm>
          <a:prstGeom prst="roundRect">
            <a:avLst>
              <a:gd name="adj" fmla="val 8099"/>
            </a:avLst>
          </a:prstGeom>
          <a:solidFill>
            <a:srgbClr val="FCFCFB"/>
          </a:solidFill>
          <a:ln w="6350">
            <a:solidFill>
              <a:srgbClr val="D3DAE1"/>
            </a:solidFill>
            <a:prstDash val="solid"/>
          </a:ln>
        </p:spPr>
      </p:sp>
      <p:sp>
        <p:nvSpPr>
          <p:cNvPr id="7" name="Text 5"/>
          <p:cNvSpPr/>
          <p:nvPr/>
        </p:nvSpPr>
        <p:spPr>
          <a:xfrm>
            <a:off x="996950" y="2284611"/>
            <a:ext cx="329208"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E6E68"/>
                </a:solidFill>
                <a:latin typeface="IBM Plex Mono" pitchFamily="49" charset="0"/>
                <a:ea typeface="IBM Plex Mono" pitchFamily="49" charset="-122"/>
                <a:cs typeface="IBM Plex Mono" pitchFamily="49" charset="-120"/>
              </a:rPr>
              <a:t>I</a:t>
            </a:r>
            <a:endParaRPr lang="en-US" sz="3600" dirty="0"/>
          </a:p>
        </p:txBody>
      </p:sp>
      <p:sp>
        <p:nvSpPr>
          <p:cNvPr id="8" name="Text 6"/>
          <p:cNvSpPr/>
          <p:nvPr/>
        </p:nvSpPr>
        <p:spPr>
          <a:xfrm>
            <a:off x="1410990" y="2284611"/>
            <a:ext cx="273474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Независна</a:t>
            </a:r>
            <a:endParaRPr lang="en-US" sz="1400" dirty="0"/>
          </a:p>
        </p:txBody>
      </p:sp>
      <p:sp>
        <p:nvSpPr>
          <p:cNvPr id="9" name="Text 7"/>
          <p:cNvSpPr/>
          <p:nvPr/>
        </p:nvSpPr>
        <p:spPr>
          <a:xfrm>
            <a:off x="1410990" y="2523331"/>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Independent</a:t>
            </a:r>
            <a:endParaRPr lang="en-US" sz="1200" dirty="0"/>
          </a:p>
        </p:txBody>
      </p:sp>
      <p:sp>
        <p:nvSpPr>
          <p:cNvPr id="10" name="Text 8"/>
          <p:cNvSpPr/>
          <p:nvPr/>
        </p:nvSpPr>
        <p:spPr>
          <a:xfrm>
            <a:off x="1410990" y="2762052"/>
            <a:ext cx="273474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реализује се без чекања друге приче</a:t>
            </a:r>
            <a:endParaRPr lang="en-US" sz="1200" dirty="0"/>
          </a:p>
        </p:txBody>
      </p:sp>
      <p:sp>
        <p:nvSpPr>
          <p:cNvPr id="11" name="Shape 9"/>
          <p:cNvSpPr/>
          <p:nvPr/>
        </p:nvSpPr>
        <p:spPr>
          <a:xfrm>
            <a:off x="4380409" y="2129036"/>
            <a:ext cx="3431084" cy="1215231"/>
          </a:xfrm>
          <a:prstGeom prst="roundRect">
            <a:avLst>
              <a:gd name="adj" fmla="val 8099"/>
            </a:avLst>
          </a:prstGeom>
          <a:solidFill>
            <a:srgbClr val="FCFCFB"/>
          </a:solidFill>
          <a:ln w="6350">
            <a:solidFill>
              <a:srgbClr val="D3DAE1"/>
            </a:solidFill>
            <a:prstDash val="solid"/>
          </a:ln>
        </p:spPr>
      </p:sp>
      <p:sp>
        <p:nvSpPr>
          <p:cNvPr id="12" name="Text 10"/>
          <p:cNvSpPr/>
          <p:nvPr/>
        </p:nvSpPr>
        <p:spPr>
          <a:xfrm>
            <a:off x="4561384" y="2284611"/>
            <a:ext cx="329208"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E6E68"/>
                </a:solidFill>
                <a:latin typeface="IBM Plex Mono" pitchFamily="49" charset="0"/>
                <a:ea typeface="IBM Plex Mono" pitchFamily="49" charset="-122"/>
                <a:cs typeface="IBM Plex Mono" pitchFamily="49" charset="-120"/>
              </a:rPr>
              <a:t>N</a:t>
            </a:r>
            <a:endParaRPr lang="en-US" sz="3600" dirty="0"/>
          </a:p>
        </p:txBody>
      </p:sp>
      <p:sp>
        <p:nvSpPr>
          <p:cNvPr id="13" name="Text 11"/>
          <p:cNvSpPr/>
          <p:nvPr/>
        </p:nvSpPr>
        <p:spPr>
          <a:xfrm>
            <a:off x="4975423" y="2284611"/>
            <a:ext cx="273474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Преговарачка</a:t>
            </a:r>
            <a:endParaRPr lang="en-US" sz="1400" dirty="0"/>
          </a:p>
        </p:txBody>
      </p:sp>
      <p:sp>
        <p:nvSpPr>
          <p:cNvPr id="14" name="Text 12"/>
          <p:cNvSpPr/>
          <p:nvPr/>
        </p:nvSpPr>
        <p:spPr>
          <a:xfrm>
            <a:off x="4975423" y="2523331"/>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Negotiable</a:t>
            </a:r>
            <a:endParaRPr lang="en-US" sz="1200" dirty="0"/>
          </a:p>
        </p:txBody>
      </p:sp>
      <p:sp>
        <p:nvSpPr>
          <p:cNvPr id="15" name="Text 13"/>
          <p:cNvSpPr/>
          <p:nvPr/>
        </p:nvSpPr>
        <p:spPr>
          <a:xfrm>
            <a:off x="4975423" y="2762052"/>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детаљи се договарају са тимом</a:t>
            </a:r>
            <a:endParaRPr lang="en-US" sz="1200" dirty="0"/>
          </a:p>
        </p:txBody>
      </p:sp>
      <p:sp>
        <p:nvSpPr>
          <p:cNvPr id="16" name="Shape 14"/>
          <p:cNvSpPr/>
          <p:nvPr/>
        </p:nvSpPr>
        <p:spPr>
          <a:xfrm>
            <a:off x="7944842" y="2129036"/>
            <a:ext cx="3431084" cy="1215231"/>
          </a:xfrm>
          <a:prstGeom prst="roundRect">
            <a:avLst>
              <a:gd name="adj" fmla="val 8099"/>
            </a:avLst>
          </a:prstGeom>
          <a:solidFill>
            <a:srgbClr val="FCFCFB"/>
          </a:solidFill>
          <a:ln w="6350">
            <a:solidFill>
              <a:srgbClr val="D3DAE1"/>
            </a:solidFill>
            <a:prstDash val="solid"/>
          </a:ln>
        </p:spPr>
      </p:sp>
      <p:sp>
        <p:nvSpPr>
          <p:cNvPr id="17" name="Text 15"/>
          <p:cNvSpPr/>
          <p:nvPr/>
        </p:nvSpPr>
        <p:spPr>
          <a:xfrm>
            <a:off x="8125817" y="2284611"/>
            <a:ext cx="329208"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E6E68"/>
                </a:solidFill>
                <a:latin typeface="IBM Plex Mono" pitchFamily="49" charset="0"/>
                <a:ea typeface="IBM Plex Mono" pitchFamily="49" charset="-122"/>
                <a:cs typeface="IBM Plex Mono" pitchFamily="49" charset="-120"/>
              </a:rPr>
              <a:t>V</a:t>
            </a:r>
            <a:endParaRPr lang="en-US" sz="3600" dirty="0"/>
          </a:p>
        </p:txBody>
      </p:sp>
      <p:sp>
        <p:nvSpPr>
          <p:cNvPr id="18" name="Text 16"/>
          <p:cNvSpPr/>
          <p:nvPr/>
        </p:nvSpPr>
        <p:spPr>
          <a:xfrm>
            <a:off x="8539857" y="2284611"/>
            <a:ext cx="273474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Вредна</a:t>
            </a:r>
            <a:endParaRPr lang="en-US" sz="1400" dirty="0"/>
          </a:p>
        </p:txBody>
      </p:sp>
      <p:sp>
        <p:nvSpPr>
          <p:cNvPr id="19" name="Text 17"/>
          <p:cNvSpPr/>
          <p:nvPr/>
        </p:nvSpPr>
        <p:spPr>
          <a:xfrm>
            <a:off x="8539857" y="2523331"/>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Valuable</a:t>
            </a:r>
            <a:endParaRPr lang="en-US" sz="1200" dirty="0"/>
          </a:p>
        </p:txBody>
      </p:sp>
      <p:sp>
        <p:nvSpPr>
          <p:cNvPr id="20" name="Text 18"/>
          <p:cNvSpPr/>
          <p:nvPr/>
        </p:nvSpPr>
        <p:spPr>
          <a:xfrm>
            <a:off x="8539857" y="2762052"/>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доноси јасну корист кориснику</a:t>
            </a:r>
            <a:endParaRPr lang="en-US" sz="1200" dirty="0"/>
          </a:p>
        </p:txBody>
      </p:sp>
      <p:sp>
        <p:nvSpPr>
          <p:cNvPr id="21" name="Shape 19"/>
          <p:cNvSpPr/>
          <p:nvPr/>
        </p:nvSpPr>
        <p:spPr>
          <a:xfrm>
            <a:off x="815975" y="3477617"/>
            <a:ext cx="3431084" cy="1001911"/>
          </a:xfrm>
          <a:prstGeom prst="roundRect">
            <a:avLst>
              <a:gd name="adj" fmla="val 9824"/>
            </a:avLst>
          </a:prstGeom>
          <a:solidFill>
            <a:srgbClr val="FCFCFB"/>
          </a:solidFill>
          <a:ln w="6350">
            <a:solidFill>
              <a:srgbClr val="D3DAE1"/>
            </a:solidFill>
            <a:prstDash val="solid"/>
          </a:ln>
        </p:spPr>
      </p:sp>
      <p:sp>
        <p:nvSpPr>
          <p:cNvPr id="22" name="Text 20"/>
          <p:cNvSpPr/>
          <p:nvPr/>
        </p:nvSpPr>
        <p:spPr>
          <a:xfrm>
            <a:off x="996950" y="3633192"/>
            <a:ext cx="329208"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E6E68"/>
                </a:solidFill>
                <a:latin typeface="IBM Plex Mono" pitchFamily="49" charset="0"/>
                <a:ea typeface="IBM Plex Mono" pitchFamily="49" charset="-122"/>
                <a:cs typeface="IBM Plex Mono" pitchFamily="49" charset="-120"/>
              </a:rPr>
              <a:t>E</a:t>
            </a:r>
            <a:endParaRPr lang="en-US" sz="3600" dirty="0"/>
          </a:p>
        </p:txBody>
      </p:sp>
      <p:sp>
        <p:nvSpPr>
          <p:cNvPr id="23" name="Text 21"/>
          <p:cNvSpPr/>
          <p:nvPr/>
        </p:nvSpPr>
        <p:spPr>
          <a:xfrm>
            <a:off x="1410990" y="3633192"/>
            <a:ext cx="273474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Процењива</a:t>
            </a:r>
            <a:endParaRPr lang="en-US" sz="1400" dirty="0"/>
          </a:p>
        </p:txBody>
      </p:sp>
      <p:sp>
        <p:nvSpPr>
          <p:cNvPr id="24" name="Text 22"/>
          <p:cNvSpPr/>
          <p:nvPr/>
        </p:nvSpPr>
        <p:spPr>
          <a:xfrm>
            <a:off x="1410990" y="3871913"/>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Estimable</a:t>
            </a:r>
            <a:endParaRPr lang="en-US" sz="1200" dirty="0"/>
          </a:p>
        </p:txBody>
      </p:sp>
      <p:sp>
        <p:nvSpPr>
          <p:cNvPr id="25" name="Text 23"/>
          <p:cNvSpPr/>
          <p:nvPr/>
        </p:nvSpPr>
        <p:spPr>
          <a:xfrm>
            <a:off x="1410990" y="4110633"/>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тим може да процени обим рада</a:t>
            </a:r>
            <a:endParaRPr lang="en-US" sz="1200" dirty="0"/>
          </a:p>
        </p:txBody>
      </p:sp>
      <p:sp>
        <p:nvSpPr>
          <p:cNvPr id="26" name="Shape 24"/>
          <p:cNvSpPr/>
          <p:nvPr/>
        </p:nvSpPr>
        <p:spPr>
          <a:xfrm>
            <a:off x="4380409" y="3477617"/>
            <a:ext cx="3431084" cy="1001911"/>
          </a:xfrm>
          <a:prstGeom prst="roundRect">
            <a:avLst>
              <a:gd name="adj" fmla="val 9824"/>
            </a:avLst>
          </a:prstGeom>
          <a:solidFill>
            <a:srgbClr val="FCFCFB"/>
          </a:solidFill>
          <a:ln w="6350">
            <a:solidFill>
              <a:srgbClr val="D3DAE1"/>
            </a:solidFill>
            <a:prstDash val="solid"/>
          </a:ln>
        </p:spPr>
      </p:sp>
      <p:sp>
        <p:nvSpPr>
          <p:cNvPr id="27" name="Text 25"/>
          <p:cNvSpPr/>
          <p:nvPr/>
        </p:nvSpPr>
        <p:spPr>
          <a:xfrm>
            <a:off x="4561384" y="3633192"/>
            <a:ext cx="329208"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E6E68"/>
                </a:solidFill>
                <a:latin typeface="IBM Plex Mono" pitchFamily="49" charset="0"/>
                <a:ea typeface="IBM Plex Mono" pitchFamily="49" charset="-122"/>
                <a:cs typeface="IBM Plex Mono" pitchFamily="49" charset="-120"/>
              </a:rPr>
              <a:t>S</a:t>
            </a:r>
            <a:endParaRPr lang="en-US" sz="3600" dirty="0"/>
          </a:p>
        </p:txBody>
      </p:sp>
      <p:sp>
        <p:nvSpPr>
          <p:cNvPr id="28" name="Text 26"/>
          <p:cNvSpPr/>
          <p:nvPr/>
        </p:nvSpPr>
        <p:spPr>
          <a:xfrm>
            <a:off x="4975423" y="3633192"/>
            <a:ext cx="273474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Мала</a:t>
            </a:r>
            <a:endParaRPr lang="en-US" sz="1400" dirty="0"/>
          </a:p>
        </p:txBody>
      </p:sp>
      <p:sp>
        <p:nvSpPr>
          <p:cNvPr id="29" name="Text 27"/>
          <p:cNvSpPr/>
          <p:nvPr/>
        </p:nvSpPr>
        <p:spPr>
          <a:xfrm>
            <a:off x="4975423" y="3871913"/>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Small</a:t>
            </a:r>
            <a:endParaRPr lang="en-US" sz="1200" dirty="0"/>
          </a:p>
        </p:txBody>
      </p:sp>
      <p:sp>
        <p:nvSpPr>
          <p:cNvPr id="30" name="Text 28"/>
          <p:cNvSpPr/>
          <p:nvPr/>
        </p:nvSpPr>
        <p:spPr>
          <a:xfrm>
            <a:off x="4975423" y="4110633"/>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може се завршити у једном Sprint-у</a:t>
            </a:r>
            <a:endParaRPr lang="en-US" sz="1200" dirty="0"/>
          </a:p>
        </p:txBody>
      </p:sp>
      <p:sp>
        <p:nvSpPr>
          <p:cNvPr id="31" name="Shape 29"/>
          <p:cNvSpPr/>
          <p:nvPr/>
        </p:nvSpPr>
        <p:spPr>
          <a:xfrm>
            <a:off x="7944842" y="3477617"/>
            <a:ext cx="3431084" cy="1001911"/>
          </a:xfrm>
          <a:prstGeom prst="roundRect">
            <a:avLst>
              <a:gd name="adj" fmla="val 9824"/>
            </a:avLst>
          </a:prstGeom>
          <a:solidFill>
            <a:srgbClr val="FCFCFB"/>
          </a:solidFill>
          <a:ln w="6350">
            <a:solidFill>
              <a:srgbClr val="D3DAE1"/>
            </a:solidFill>
            <a:prstDash val="solid"/>
          </a:ln>
        </p:spPr>
      </p:sp>
      <p:sp>
        <p:nvSpPr>
          <p:cNvPr id="32" name="Text 30"/>
          <p:cNvSpPr/>
          <p:nvPr/>
        </p:nvSpPr>
        <p:spPr>
          <a:xfrm>
            <a:off x="8125817" y="3633192"/>
            <a:ext cx="329208"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A8520A"/>
                </a:solidFill>
                <a:latin typeface="IBM Plex Mono" pitchFamily="49" charset="0"/>
                <a:ea typeface="IBM Plex Mono" pitchFamily="49" charset="-122"/>
                <a:cs typeface="IBM Plex Mono" pitchFamily="49" charset="-120"/>
              </a:rPr>
              <a:t>T</a:t>
            </a:r>
            <a:endParaRPr lang="en-US" sz="3600" dirty="0"/>
          </a:p>
        </p:txBody>
      </p:sp>
      <p:sp>
        <p:nvSpPr>
          <p:cNvPr id="33" name="Text 31"/>
          <p:cNvSpPr/>
          <p:nvPr/>
        </p:nvSpPr>
        <p:spPr>
          <a:xfrm>
            <a:off x="8539857" y="3633192"/>
            <a:ext cx="273474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Проверљива</a:t>
            </a:r>
            <a:endParaRPr lang="en-US" sz="1400" dirty="0"/>
          </a:p>
        </p:txBody>
      </p:sp>
      <p:sp>
        <p:nvSpPr>
          <p:cNvPr id="34" name="Text 32"/>
          <p:cNvSpPr/>
          <p:nvPr/>
        </p:nvSpPr>
        <p:spPr>
          <a:xfrm>
            <a:off x="8539857" y="3871913"/>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Testable</a:t>
            </a:r>
            <a:endParaRPr lang="en-US" sz="1200" dirty="0"/>
          </a:p>
        </p:txBody>
      </p:sp>
      <p:sp>
        <p:nvSpPr>
          <p:cNvPr id="35" name="Text 33"/>
          <p:cNvSpPr/>
          <p:nvPr/>
        </p:nvSpPr>
        <p:spPr>
          <a:xfrm>
            <a:off x="8539857" y="4110633"/>
            <a:ext cx="2734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има јасне критеријуме прихватања</a:t>
            </a:r>
            <a:endParaRPr lang="en-US" sz="1200" dirty="0"/>
          </a:p>
        </p:txBody>
      </p:sp>
      <p:sp>
        <p:nvSpPr>
          <p:cNvPr id="36" name="Text 34"/>
          <p:cNvSpPr/>
          <p:nvPr/>
        </p:nvSpPr>
        <p:spPr>
          <a:xfrm>
            <a:off x="812800" y="471130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Извор: B. Wake, „INVEST in Good Stories, and SMART Tasks”, 2003.</a:t>
            </a:r>
            <a:endParaRPr lang="en-US" sz="1200" dirty="0"/>
          </a:p>
        </p:txBody>
      </p:sp>
      <p:sp>
        <p:nvSpPr>
          <p:cNvPr id="37" name="Shape 35"/>
          <p:cNvSpPr/>
          <p:nvPr/>
        </p:nvSpPr>
        <p:spPr>
          <a:xfrm>
            <a:off x="812800" y="6209705"/>
            <a:ext cx="10566400" cy="0"/>
          </a:xfrm>
          <a:prstGeom prst="line">
            <a:avLst/>
          </a:prstGeom>
          <a:noFill/>
          <a:ln w="6350">
            <a:solidFill>
              <a:srgbClr val="D3DAE1"/>
            </a:solidFill>
            <a:prstDash val="solid"/>
          </a:ln>
        </p:spPr>
      </p:sp>
      <p:sp>
        <p:nvSpPr>
          <p:cNvPr id="38" name="Text 3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9" name="Text 3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02 · ЗАХТЕВИ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Критеријуми прихватања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Сваки критеријум треба да буде проверљив тестом или демонстрационим сценаријем.</a:t>
            </a:r>
            <a:endParaRPr lang="en-US" sz="1400" dirty="0"/>
          </a:p>
        </p:txBody>
      </p:sp>
      <p:sp>
        <p:nvSpPr>
          <p:cNvPr id="6" name="Shape 4"/>
          <p:cNvSpPr/>
          <p:nvPr/>
        </p:nvSpPr>
        <p:spPr>
          <a:xfrm>
            <a:off x="815975" y="2129036"/>
            <a:ext cx="10560050" cy="2972991"/>
          </a:xfrm>
          <a:prstGeom prst="roundRect">
            <a:avLst>
              <a:gd name="adj" fmla="val 3311"/>
            </a:avLst>
          </a:prstGeom>
          <a:solidFill>
            <a:srgbClr val="FCFCFB"/>
          </a:solidFill>
          <a:ln w="6350">
            <a:solidFill>
              <a:srgbClr val="D3DAE1"/>
            </a:solidFill>
            <a:prstDash val="solid"/>
          </a:ln>
        </p:spPr>
      </p:sp>
      <p:sp>
        <p:nvSpPr>
          <p:cNvPr id="7" name="Text 5"/>
          <p:cNvSpPr/>
          <p:nvPr/>
        </p:nvSpPr>
        <p:spPr>
          <a:xfrm>
            <a:off x="1047750" y="2297311"/>
            <a:ext cx="248539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E6975"/>
                </a:solidFill>
                <a:latin typeface="IBM Plex Mono" pitchFamily="49" charset="0"/>
                <a:ea typeface="IBM Plex Mono" pitchFamily="49" charset="-122"/>
                <a:cs typeface="IBM Plex Mono" pitchFamily="49" charset="-120"/>
              </a:rPr>
              <a:t>ТИП СЦЕНАРИЈА</a:t>
            </a:r>
            <a:endParaRPr lang="en-US" sz="1200" dirty="0"/>
          </a:p>
        </p:txBody>
      </p:sp>
      <p:sp>
        <p:nvSpPr>
          <p:cNvPr id="8" name="Text 6"/>
          <p:cNvSpPr/>
          <p:nvPr/>
        </p:nvSpPr>
        <p:spPr>
          <a:xfrm>
            <a:off x="3663950" y="2297311"/>
            <a:ext cx="7704709"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E6975"/>
                </a:solidFill>
                <a:latin typeface="IBM Plex Mono" pitchFamily="49" charset="0"/>
                <a:ea typeface="IBM Plex Mono" pitchFamily="49" charset="-122"/>
                <a:cs typeface="IBM Plex Mono" pitchFamily="49" charset="-120"/>
              </a:rPr>
              <a:t>ПРИМЕР КРИТЕРИЈУМА</a:t>
            </a:r>
            <a:endParaRPr lang="en-US" sz="1200" dirty="0"/>
          </a:p>
        </p:txBody>
      </p:sp>
      <p:sp>
        <p:nvSpPr>
          <p:cNvPr id="9" name="Shape 7"/>
          <p:cNvSpPr/>
          <p:nvPr/>
        </p:nvSpPr>
        <p:spPr>
          <a:xfrm>
            <a:off x="1047750" y="2628106"/>
            <a:ext cx="10096500" cy="0"/>
          </a:xfrm>
          <a:prstGeom prst="line">
            <a:avLst/>
          </a:prstGeom>
          <a:noFill/>
          <a:ln w="6350">
            <a:solidFill>
              <a:srgbClr val="E3E8EE"/>
            </a:solidFill>
            <a:prstDash val="solid"/>
          </a:ln>
        </p:spPr>
      </p:sp>
      <p:pic>
        <p:nvPicPr>
          <p:cNvPr id="10" name="Image 0" descr="CheckCircle">    </p:cNvPr>
          <p:cNvPicPr>
            <a:picLocks noChangeAspect="1"/>
          </p:cNvPicPr>
          <p:nvPr/>
        </p:nvPicPr>
        <p:blipFill>
          <a:blip r:embed="rId1"/>
          <a:srcRect l="0" r="0" t="0" b="0"/>
          <a:stretch/>
        </p:blipFill>
        <p:spPr>
          <a:xfrm>
            <a:off x="1047750" y="2790031"/>
            <a:ext cx="228600" cy="228600"/>
          </a:xfrm>
          <a:prstGeom prst="rect">
            <a:avLst/>
          </a:prstGeom>
        </p:spPr>
      </p:pic>
      <p:sp>
        <p:nvSpPr>
          <p:cNvPr id="11" name="Text 8"/>
          <p:cNvSpPr/>
          <p:nvPr/>
        </p:nvSpPr>
        <p:spPr>
          <a:xfrm>
            <a:off x="1377950" y="2770981"/>
            <a:ext cx="138386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3202D"/>
                </a:solidFill>
                <a:latin typeface="IBM Plex Sans" pitchFamily="34" charset="0"/>
                <a:ea typeface="IBM Plex Sans" pitchFamily="34" charset="-122"/>
                <a:cs typeface="IBM Plex Sans" pitchFamily="34" charset="-120"/>
              </a:rPr>
              <a:t>Успешан ток</a:t>
            </a:r>
            <a:endParaRPr lang="en-US" sz="1500" dirty="0"/>
          </a:p>
        </p:txBody>
      </p:sp>
      <p:sp>
        <p:nvSpPr>
          <p:cNvPr id="12" name="Text 9"/>
          <p:cNvSpPr/>
          <p:nvPr/>
        </p:nvSpPr>
        <p:spPr>
          <a:xfrm>
            <a:off x="3663950" y="2784277"/>
            <a:ext cx="770470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4505D"/>
                </a:solidFill>
                <a:latin typeface="IBM Plex Sans" pitchFamily="34" charset="0"/>
                <a:ea typeface="IBM Plex Sans" pitchFamily="34" charset="-122"/>
                <a:cs typeface="IBM Plex Sans" pitchFamily="34" charset="-120"/>
              </a:rPr>
              <a:t>Резервација се креира када је опрема доступна и период исправан.</a:t>
            </a:r>
            <a:endParaRPr lang="en-US" sz="1400" dirty="0"/>
          </a:p>
        </p:txBody>
      </p:sp>
      <p:sp>
        <p:nvSpPr>
          <p:cNvPr id="13" name="Shape 10"/>
          <p:cNvSpPr/>
          <p:nvPr/>
        </p:nvSpPr>
        <p:spPr>
          <a:xfrm>
            <a:off x="1047750" y="3180556"/>
            <a:ext cx="10096500" cy="0"/>
          </a:xfrm>
          <a:prstGeom prst="line">
            <a:avLst/>
          </a:prstGeom>
          <a:noFill/>
          <a:ln w="6350">
            <a:solidFill>
              <a:srgbClr val="E3E8EE"/>
            </a:solidFill>
            <a:prstDash val="solid"/>
          </a:ln>
        </p:spPr>
      </p:sp>
      <p:pic>
        <p:nvPicPr>
          <p:cNvPr id="14" name="Image 1" descr="Warning">    </p:cNvPr>
          <p:cNvPicPr>
            <a:picLocks noChangeAspect="1"/>
          </p:cNvPicPr>
          <p:nvPr/>
        </p:nvPicPr>
        <p:blipFill>
          <a:blip r:embed="rId2"/>
          <a:srcRect l="0" r="0" t="0" b="0"/>
          <a:stretch/>
        </p:blipFill>
        <p:spPr>
          <a:xfrm>
            <a:off x="1047750" y="3342481"/>
            <a:ext cx="228600" cy="228600"/>
          </a:xfrm>
          <a:prstGeom prst="rect">
            <a:avLst/>
          </a:prstGeom>
        </p:spPr>
      </p:pic>
      <p:sp>
        <p:nvSpPr>
          <p:cNvPr id="15" name="Text 11"/>
          <p:cNvSpPr/>
          <p:nvPr/>
        </p:nvSpPr>
        <p:spPr>
          <a:xfrm>
            <a:off x="1377950" y="3323431"/>
            <a:ext cx="22278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3202D"/>
                </a:solidFill>
                <a:latin typeface="IBM Plex Sans" pitchFamily="34" charset="0"/>
                <a:ea typeface="IBM Plex Sans" pitchFamily="34" charset="-122"/>
                <a:cs typeface="IBM Plex Sans" pitchFamily="34" charset="-120"/>
              </a:rPr>
              <a:t>Пословни конфликт</a:t>
            </a:r>
            <a:endParaRPr lang="en-US" sz="1500" dirty="0"/>
          </a:p>
        </p:txBody>
      </p:sp>
      <p:sp>
        <p:nvSpPr>
          <p:cNvPr id="16" name="Text 12"/>
          <p:cNvSpPr/>
          <p:nvPr/>
        </p:nvSpPr>
        <p:spPr>
          <a:xfrm>
            <a:off x="3663950" y="3336727"/>
            <a:ext cx="770470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4505D"/>
                </a:solidFill>
                <a:latin typeface="IBM Plex Sans" pitchFamily="34" charset="0"/>
                <a:ea typeface="IBM Plex Sans" pitchFamily="34" charset="-122"/>
                <a:cs typeface="IBM Plex Sans" pitchFamily="34" charset="-120"/>
              </a:rPr>
              <a:t>Систем одбија период који се преклапа са активном резервацијом.</a:t>
            </a:r>
            <a:endParaRPr lang="en-US" sz="1400" dirty="0"/>
          </a:p>
        </p:txBody>
      </p:sp>
      <p:sp>
        <p:nvSpPr>
          <p:cNvPr id="17" name="Shape 13"/>
          <p:cNvSpPr/>
          <p:nvPr/>
        </p:nvSpPr>
        <p:spPr>
          <a:xfrm>
            <a:off x="1047750" y="3733006"/>
            <a:ext cx="10096500" cy="0"/>
          </a:xfrm>
          <a:prstGeom prst="line">
            <a:avLst/>
          </a:prstGeom>
          <a:noFill/>
          <a:ln w="6350">
            <a:solidFill>
              <a:srgbClr val="E3E8EE"/>
            </a:solidFill>
            <a:prstDash val="solid"/>
          </a:ln>
        </p:spPr>
      </p:sp>
      <p:pic>
        <p:nvPicPr>
          <p:cNvPr id="18" name="Image 2" descr="Wrench">    </p:cNvPr>
          <p:cNvPicPr>
            <a:picLocks noChangeAspect="1"/>
          </p:cNvPicPr>
          <p:nvPr/>
        </p:nvPicPr>
        <p:blipFill>
          <a:blip r:embed="rId3"/>
          <a:srcRect l="0" r="0" t="0" b="0"/>
          <a:stretch/>
        </p:blipFill>
        <p:spPr>
          <a:xfrm>
            <a:off x="1047750" y="3894931"/>
            <a:ext cx="228600" cy="228600"/>
          </a:xfrm>
          <a:prstGeom prst="rect">
            <a:avLst/>
          </a:prstGeom>
        </p:spPr>
      </p:pic>
      <p:sp>
        <p:nvSpPr>
          <p:cNvPr id="19" name="Text 14"/>
          <p:cNvSpPr/>
          <p:nvPr/>
        </p:nvSpPr>
        <p:spPr>
          <a:xfrm>
            <a:off x="1377950" y="3875881"/>
            <a:ext cx="18960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3202D"/>
                </a:solidFill>
                <a:latin typeface="IBM Plex Sans" pitchFamily="34" charset="0"/>
                <a:ea typeface="IBM Plex Sans" pitchFamily="34" charset="-122"/>
                <a:cs typeface="IBM Plex Sans" pitchFamily="34" charset="-120"/>
              </a:rPr>
              <a:t>Неисправан улаз</a:t>
            </a:r>
            <a:endParaRPr lang="en-US" sz="1500" dirty="0"/>
          </a:p>
        </p:txBody>
      </p:sp>
      <p:sp>
        <p:nvSpPr>
          <p:cNvPr id="20" name="Text 15"/>
          <p:cNvSpPr/>
          <p:nvPr/>
        </p:nvSpPr>
        <p:spPr>
          <a:xfrm>
            <a:off x="3663950" y="3889177"/>
            <a:ext cx="770470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4505D"/>
                </a:solidFill>
                <a:latin typeface="IBM Plex Sans" pitchFamily="34" charset="0"/>
                <a:ea typeface="IBM Plex Sans" pitchFamily="34" charset="-122"/>
                <a:cs typeface="IBM Plex Sans" pitchFamily="34" charset="-120"/>
              </a:rPr>
              <a:t>Почетак термина мора бити пре краја.</a:t>
            </a:r>
            <a:endParaRPr lang="en-US" sz="1400" dirty="0"/>
          </a:p>
        </p:txBody>
      </p:sp>
      <p:sp>
        <p:nvSpPr>
          <p:cNvPr id="21" name="Shape 16"/>
          <p:cNvSpPr/>
          <p:nvPr/>
        </p:nvSpPr>
        <p:spPr>
          <a:xfrm>
            <a:off x="1047750" y="4285456"/>
            <a:ext cx="10096500" cy="0"/>
          </a:xfrm>
          <a:prstGeom prst="line">
            <a:avLst/>
          </a:prstGeom>
          <a:noFill/>
          <a:ln w="6350">
            <a:solidFill>
              <a:srgbClr val="E3E8EE"/>
            </a:solidFill>
            <a:prstDash val="solid"/>
          </a:ln>
        </p:spPr>
      </p:sp>
      <p:pic>
        <p:nvPicPr>
          <p:cNvPr id="22" name="Image 3" descr="Search">    </p:cNvPr>
          <p:cNvPicPr>
            <a:picLocks noChangeAspect="1"/>
          </p:cNvPicPr>
          <p:nvPr/>
        </p:nvPicPr>
        <p:blipFill>
          <a:blip r:embed="rId4"/>
          <a:srcRect l="0" r="0" t="0" b="0"/>
          <a:stretch/>
        </p:blipFill>
        <p:spPr>
          <a:xfrm>
            <a:off x="1047750" y="4554041"/>
            <a:ext cx="228600" cy="228600"/>
          </a:xfrm>
          <a:prstGeom prst="rect">
            <a:avLst/>
          </a:prstGeom>
        </p:spPr>
      </p:pic>
      <p:sp>
        <p:nvSpPr>
          <p:cNvPr id="23" name="Text 17"/>
          <p:cNvSpPr/>
          <p:nvPr/>
        </p:nvSpPr>
        <p:spPr>
          <a:xfrm>
            <a:off x="1377950" y="4534991"/>
            <a:ext cx="1799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3202D"/>
                </a:solidFill>
                <a:latin typeface="IBM Plex Sans" pitchFamily="34" charset="0"/>
                <a:ea typeface="IBM Plex Sans" pitchFamily="34" charset="-122"/>
                <a:cs typeface="IBM Plex Sans" pitchFamily="34" charset="-120"/>
              </a:rPr>
              <a:t>Гранични случај</a:t>
            </a:r>
            <a:endParaRPr lang="en-US" sz="1500" dirty="0"/>
          </a:p>
        </p:txBody>
      </p:sp>
      <p:sp>
        <p:nvSpPr>
          <p:cNvPr id="24" name="Text 18"/>
          <p:cNvSpPr/>
          <p:nvPr/>
        </p:nvSpPr>
        <p:spPr>
          <a:xfrm>
            <a:off x="3663950" y="4428331"/>
            <a:ext cx="770470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4505D"/>
                </a:solidFill>
                <a:latin typeface="IBM Plex Sans" pitchFamily="34" charset="0"/>
                <a:ea typeface="IBM Plex Sans" pitchFamily="34" charset="-122"/>
                <a:cs typeface="IBM Plex Sans" pitchFamily="34" charset="-120"/>
              </a:rPr>
              <a:t>Правило јасно дефинише шта важи када се крај једног и почетак другог термина поклапају.</a:t>
            </a:r>
            <a:endParaRPr lang="en-US" sz="1400" dirty="0"/>
          </a:p>
        </p:txBody>
      </p:sp>
      <p:sp>
        <p:nvSpPr>
          <p:cNvPr id="25" name="Shape 19"/>
          <p:cNvSpPr/>
          <p:nvPr/>
        </p:nvSpPr>
        <p:spPr>
          <a:xfrm>
            <a:off x="812800" y="6209705"/>
            <a:ext cx="10566400" cy="0"/>
          </a:xfrm>
          <a:prstGeom prst="line">
            <a:avLst/>
          </a:prstGeom>
          <a:noFill/>
          <a:ln w="6350">
            <a:solidFill>
              <a:srgbClr val="D3DAE1"/>
            </a:solidFill>
            <a:prstDash val="solid"/>
          </a:ln>
        </p:spPr>
      </p:sp>
      <p:sp>
        <p:nvSpPr>
          <p:cNvPr id="26"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7"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02 · ЗАХТЕВИ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Критеријум као сценарио: Given–When–Then</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Почетно стање, акција и очекивани исход директно се преводе у аутоматизовани тест.</a:t>
            </a:r>
            <a:endParaRPr lang="en-US" sz="1400" dirty="0"/>
          </a:p>
        </p:txBody>
      </p:sp>
      <p:sp>
        <p:nvSpPr>
          <p:cNvPr id="6" name="Shape 4"/>
          <p:cNvSpPr/>
          <p:nvPr/>
        </p:nvSpPr>
        <p:spPr>
          <a:xfrm>
            <a:off x="815975" y="2129036"/>
            <a:ext cx="5175250" cy="2059682"/>
          </a:xfrm>
          <a:prstGeom prst="roundRect">
            <a:avLst>
              <a:gd name="adj" fmla="val 4779"/>
            </a:avLst>
          </a:prstGeom>
          <a:solidFill>
            <a:srgbClr val="FCFCFB"/>
          </a:solidFill>
          <a:ln w="6350">
            <a:solidFill>
              <a:srgbClr val="D3DAE1"/>
            </a:solidFill>
            <a:prstDash val="solid"/>
          </a:ln>
        </p:spPr>
      </p:sp>
      <p:sp>
        <p:nvSpPr>
          <p:cNvPr id="7" name="Text 5"/>
          <p:cNvSpPr/>
          <p:nvPr/>
        </p:nvSpPr>
        <p:spPr>
          <a:xfrm>
            <a:off x="1035050" y="2310011"/>
            <a:ext cx="4879213"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A8520A"/>
                </a:solidFill>
                <a:latin typeface="IBM Plex Mono" pitchFamily="49" charset="0"/>
                <a:ea typeface="IBM Plex Mono" pitchFamily="49" charset="-122"/>
                <a:cs typeface="IBM Plex Mono" pitchFamily="49" charset="-120"/>
              </a:rPr>
              <a:t>ПОСЛОВНИ КОНФЛИКТ</a:t>
            </a:r>
            <a:endParaRPr lang="en-US" sz="1200" dirty="0"/>
          </a:p>
        </p:txBody>
      </p:sp>
      <p:sp>
        <p:nvSpPr>
          <p:cNvPr id="8" name="Shape 6"/>
          <p:cNvSpPr/>
          <p:nvPr/>
        </p:nvSpPr>
        <p:spPr>
          <a:xfrm>
            <a:off x="1035050" y="2615406"/>
            <a:ext cx="4737100" cy="0"/>
          </a:xfrm>
          <a:prstGeom prst="line">
            <a:avLst/>
          </a:prstGeom>
          <a:noFill/>
          <a:ln w="6350">
            <a:solidFill>
              <a:srgbClr val="E3E8EE"/>
            </a:solidFill>
            <a:prstDash val="solid"/>
          </a:ln>
        </p:spPr>
      </p:sp>
      <p:sp>
        <p:nvSpPr>
          <p:cNvPr id="9" name="Text 7"/>
          <p:cNvSpPr/>
          <p:nvPr/>
        </p:nvSpPr>
        <p:spPr>
          <a:xfrm>
            <a:off x="1035050" y="2707481"/>
            <a:ext cx="685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6E68"/>
                </a:solidFill>
                <a:latin typeface="IBM Plex Mono" pitchFamily="49" charset="0"/>
                <a:ea typeface="IBM Plex Mono" pitchFamily="49" charset="-122"/>
                <a:cs typeface="IBM Plex Mono" pitchFamily="49" charset="-120"/>
              </a:rPr>
              <a:t>Given</a:t>
            </a:r>
            <a:endParaRPr lang="en-US" sz="1300" dirty="0"/>
          </a:p>
        </p:txBody>
      </p:sp>
      <p:sp>
        <p:nvSpPr>
          <p:cNvPr id="10" name="Text 8"/>
          <p:cNvSpPr/>
          <p:nvPr/>
        </p:nvSpPr>
        <p:spPr>
          <a:xfrm>
            <a:off x="1784350" y="2707481"/>
            <a:ext cx="410743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постоји активна резервација опреме од 10:00 до 12:00</a:t>
            </a:r>
            <a:endParaRPr lang="en-US" sz="1300" dirty="0"/>
          </a:p>
        </p:txBody>
      </p:sp>
      <p:sp>
        <p:nvSpPr>
          <p:cNvPr id="11" name="Text 9"/>
          <p:cNvSpPr/>
          <p:nvPr/>
        </p:nvSpPr>
        <p:spPr>
          <a:xfrm>
            <a:off x="1035050" y="3242072"/>
            <a:ext cx="685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6E68"/>
                </a:solidFill>
                <a:latin typeface="IBM Plex Mono" pitchFamily="49" charset="0"/>
                <a:ea typeface="IBM Plex Mono" pitchFamily="49" charset="-122"/>
                <a:cs typeface="IBM Plex Mono" pitchFamily="49" charset="-120"/>
              </a:rPr>
              <a:t>When</a:t>
            </a:r>
            <a:endParaRPr lang="en-US" sz="1300" dirty="0"/>
          </a:p>
        </p:txBody>
      </p:sp>
      <p:sp>
        <p:nvSpPr>
          <p:cNvPr id="12" name="Text 10"/>
          <p:cNvSpPr/>
          <p:nvPr/>
        </p:nvSpPr>
        <p:spPr>
          <a:xfrm>
            <a:off x="1784350" y="3242072"/>
            <a:ext cx="42037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наставник захтева исту опрему од 11:00 до 13:00</a:t>
            </a:r>
            <a:endParaRPr lang="en-US" sz="1300" dirty="0"/>
          </a:p>
        </p:txBody>
      </p:sp>
      <p:sp>
        <p:nvSpPr>
          <p:cNvPr id="13" name="Text 11"/>
          <p:cNvSpPr/>
          <p:nvPr/>
        </p:nvSpPr>
        <p:spPr>
          <a:xfrm>
            <a:off x="1035050" y="3562052"/>
            <a:ext cx="685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6E68"/>
                </a:solidFill>
                <a:latin typeface="IBM Plex Mono" pitchFamily="49" charset="0"/>
                <a:ea typeface="IBM Plex Mono" pitchFamily="49" charset="-122"/>
                <a:cs typeface="IBM Plex Mono" pitchFamily="49" charset="-120"/>
              </a:rPr>
              <a:t>Then</a:t>
            </a:r>
            <a:endParaRPr lang="en-US" sz="1300" dirty="0"/>
          </a:p>
        </p:txBody>
      </p:sp>
      <p:sp>
        <p:nvSpPr>
          <p:cNvPr id="14" name="Text 12"/>
          <p:cNvSpPr/>
          <p:nvPr/>
        </p:nvSpPr>
        <p:spPr>
          <a:xfrm>
            <a:off x="1784350" y="3562052"/>
            <a:ext cx="410743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систем одбија захтев и наводи конфликтну резервацију</a:t>
            </a:r>
            <a:endParaRPr lang="en-US" sz="1300" dirty="0"/>
          </a:p>
        </p:txBody>
      </p:sp>
      <p:sp>
        <p:nvSpPr>
          <p:cNvPr id="15" name="Shape 13"/>
          <p:cNvSpPr/>
          <p:nvPr/>
        </p:nvSpPr>
        <p:spPr>
          <a:xfrm>
            <a:off x="6200775" y="2129036"/>
            <a:ext cx="5175250" cy="2059682"/>
          </a:xfrm>
          <a:prstGeom prst="roundRect">
            <a:avLst>
              <a:gd name="adj" fmla="val 4779"/>
            </a:avLst>
          </a:prstGeom>
          <a:solidFill>
            <a:srgbClr val="FCFCFB"/>
          </a:solidFill>
          <a:ln w="6350">
            <a:solidFill>
              <a:srgbClr val="D3DAE1"/>
            </a:solidFill>
            <a:prstDash val="solid"/>
          </a:ln>
        </p:spPr>
      </p:sp>
      <p:sp>
        <p:nvSpPr>
          <p:cNvPr id="16" name="Text 14"/>
          <p:cNvSpPr/>
          <p:nvPr/>
        </p:nvSpPr>
        <p:spPr>
          <a:xfrm>
            <a:off x="6419850" y="2310011"/>
            <a:ext cx="4879213"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E6E68"/>
                </a:solidFill>
                <a:latin typeface="IBM Plex Mono" pitchFamily="49" charset="0"/>
                <a:ea typeface="IBM Plex Mono" pitchFamily="49" charset="-122"/>
                <a:cs typeface="IBM Plex Mono" pitchFamily="49" charset="-120"/>
              </a:rPr>
              <a:t>ГРАНИЧНИ СЛУЧАЈ · ПРИМЕР ПРАВИЛА</a:t>
            </a:r>
            <a:endParaRPr lang="en-US" sz="1200" dirty="0"/>
          </a:p>
        </p:txBody>
      </p:sp>
      <p:sp>
        <p:nvSpPr>
          <p:cNvPr id="17" name="Shape 15"/>
          <p:cNvSpPr/>
          <p:nvPr/>
        </p:nvSpPr>
        <p:spPr>
          <a:xfrm>
            <a:off x="6419850" y="2615406"/>
            <a:ext cx="4737100" cy="0"/>
          </a:xfrm>
          <a:prstGeom prst="line">
            <a:avLst/>
          </a:prstGeom>
          <a:noFill/>
          <a:ln w="6350">
            <a:solidFill>
              <a:srgbClr val="E3E8EE"/>
            </a:solidFill>
            <a:prstDash val="solid"/>
          </a:ln>
        </p:spPr>
      </p:sp>
      <p:sp>
        <p:nvSpPr>
          <p:cNvPr id="18" name="Text 16"/>
          <p:cNvSpPr/>
          <p:nvPr/>
        </p:nvSpPr>
        <p:spPr>
          <a:xfrm>
            <a:off x="6419850" y="2707481"/>
            <a:ext cx="685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6E68"/>
                </a:solidFill>
                <a:latin typeface="IBM Plex Mono" pitchFamily="49" charset="0"/>
                <a:ea typeface="IBM Plex Mono" pitchFamily="49" charset="-122"/>
                <a:cs typeface="IBM Plex Mono" pitchFamily="49" charset="-120"/>
              </a:rPr>
              <a:t>Given</a:t>
            </a:r>
            <a:endParaRPr lang="en-US" sz="1300" dirty="0"/>
          </a:p>
        </p:txBody>
      </p:sp>
      <p:sp>
        <p:nvSpPr>
          <p:cNvPr id="19" name="Text 17"/>
          <p:cNvSpPr/>
          <p:nvPr/>
        </p:nvSpPr>
        <p:spPr>
          <a:xfrm>
            <a:off x="7169150" y="2707481"/>
            <a:ext cx="410743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постоји активна резервација опреме од 10:00 до 12:00</a:t>
            </a:r>
            <a:endParaRPr lang="en-US" sz="1300" dirty="0"/>
          </a:p>
        </p:txBody>
      </p:sp>
      <p:sp>
        <p:nvSpPr>
          <p:cNvPr id="20" name="Text 18"/>
          <p:cNvSpPr/>
          <p:nvPr/>
        </p:nvSpPr>
        <p:spPr>
          <a:xfrm>
            <a:off x="6419850" y="3242072"/>
            <a:ext cx="685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6E68"/>
                </a:solidFill>
                <a:latin typeface="IBM Plex Mono" pitchFamily="49" charset="0"/>
                <a:ea typeface="IBM Plex Mono" pitchFamily="49" charset="-122"/>
                <a:cs typeface="IBM Plex Mono" pitchFamily="49" charset="-120"/>
              </a:rPr>
              <a:t>When</a:t>
            </a:r>
            <a:endParaRPr lang="en-US" sz="1300" dirty="0"/>
          </a:p>
        </p:txBody>
      </p:sp>
      <p:sp>
        <p:nvSpPr>
          <p:cNvPr id="21" name="Text 19"/>
          <p:cNvSpPr/>
          <p:nvPr/>
        </p:nvSpPr>
        <p:spPr>
          <a:xfrm>
            <a:off x="7169150" y="3242072"/>
            <a:ext cx="42037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наставник захтева исту опрему од 12:00 до 13:00</a:t>
            </a:r>
            <a:endParaRPr lang="en-US" sz="1300" dirty="0"/>
          </a:p>
        </p:txBody>
      </p:sp>
      <p:sp>
        <p:nvSpPr>
          <p:cNvPr id="22" name="Text 20"/>
          <p:cNvSpPr/>
          <p:nvPr/>
        </p:nvSpPr>
        <p:spPr>
          <a:xfrm>
            <a:off x="6419850" y="3562052"/>
            <a:ext cx="685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6E68"/>
                </a:solidFill>
                <a:latin typeface="IBM Plex Mono" pitchFamily="49" charset="0"/>
                <a:ea typeface="IBM Plex Mono" pitchFamily="49" charset="-122"/>
                <a:cs typeface="IBM Plex Mono" pitchFamily="49" charset="-120"/>
              </a:rPr>
              <a:t>Then</a:t>
            </a:r>
            <a:endParaRPr lang="en-US" sz="1300" dirty="0"/>
          </a:p>
        </p:txBody>
      </p:sp>
      <p:sp>
        <p:nvSpPr>
          <p:cNvPr id="23" name="Text 21"/>
          <p:cNvSpPr/>
          <p:nvPr/>
        </p:nvSpPr>
        <p:spPr>
          <a:xfrm>
            <a:off x="7169150" y="3562052"/>
            <a:ext cx="410743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резервација се креира, јер се термини само додирују</a:t>
            </a:r>
            <a:endParaRPr lang="en-US" sz="1300" dirty="0"/>
          </a:p>
        </p:txBody>
      </p:sp>
      <p:sp>
        <p:nvSpPr>
          <p:cNvPr id="24" name="Shape 22"/>
          <p:cNvSpPr/>
          <p:nvPr/>
        </p:nvSpPr>
        <p:spPr>
          <a:xfrm>
            <a:off x="812800" y="4420493"/>
            <a:ext cx="10566400" cy="451445"/>
          </a:xfrm>
          <a:prstGeom prst="roundRect">
            <a:avLst>
              <a:gd name="adj" fmla="val 19692"/>
            </a:avLst>
          </a:prstGeom>
          <a:solidFill>
            <a:srgbClr val="E2EBE9"/>
          </a:solidFill>
          <a:ln/>
        </p:spPr>
      </p:sp>
      <p:pic>
        <p:nvPicPr>
          <p:cNvPr id="25" name="Image 0" descr="Code">    </p:cNvPr>
          <p:cNvPicPr>
            <a:picLocks noChangeAspect="1"/>
          </p:cNvPicPr>
          <p:nvPr/>
        </p:nvPicPr>
        <p:blipFill>
          <a:blip r:embed="rId1"/>
          <a:srcRect l="0" r="0" t="0" b="0"/>
          <a:stretch/>
        </p:blipFill>
        <p:spPr>
          <a:xfrm>
            <a:off x="990600" y="4544616"/>
            <a:ext cx="203200" cy="203200"/>
          </a:xfrm>
          <a:prstGeom prst="rect">
            <a:avLst/>
          </a:prstGeom>
        </p:spPr>
      </p:pic>
      <p:sp>
        <p:nvSpPr>
          <p:cNvPr id="26" name="Text 23"/>
          <p:cNvSpPr/>
          <p:nvPr/>
        </p:nvSpPr>
        <p:spPr>
          <a:xfrm>
            <a:off x="1320800" y="4534793"/>
            <a:ext cx="1017701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Сваки сценарио постаје један тест: </a:t>
            </a:r>
            <a:r>
              <a:rPr lang="en-US" sz="1300" b="1" dirty="0">
                <a:solidFill>
                  <a:srgbClr val="13202D"/>
                </a:solidFill>
                <a:latin typeface="IBM Plex Sans" pitchFamily="34" charset="0"/>
                <a:ea typeface="IBM Plex Sans" pitchFamily="34" charset="-122"/>
                <a:cs typeface="IBM Plex Sans" pitchFamily="34" charset="-120"/>
              </a:rPr>
              <a:t>Given</a:t>
            </a:r>
            <a:r>
              <a:rPr lang="en-US" sz="1300" dirty="0">
                <a:solidFill>
                  <a:srgbClr val="13202D"/>
                </a:solidFill>
                <a:latin typeface="IBM Plex Sans" pitchFamily="34" charset="0"/>
                <a:ea typeface="IBM Plex Sans" pitchFamily="34" charset="-122"/>
                <a:cs typeface="IBM Plex Sans" pitchFamily="34" charset="-120"/>
              </a:rPr>
              <a:t> припрема податке, </a:t>
            </a:r>
            <a:r>
              <a:rPr lang="en-US" sz="1300" b="1" dirty="0">
                <a:solidFill>
                  <a:srgbClr val="13202D"/>
                </a:solidFill>
                <a:latin typeface="IBM Plex Sans" pitchFamily="34" charset="0"/>
                <a:ea typeface="IBM Plex Sans" pitchFamily="34" charset="-122"/>
                <a:cs typeface="IBM Plex Sans" pitchFamily="34" charset="-120"/>
              </a:rPr>
              <a:t>When</a:t>
            </a:r>
            <a:r>
              <a:rPr lang="en-US" sz="1300" dirty="0">
                <a:solidFill>
                  <a:srgbClr val="13202D"/>
                </a:solidFill>
                <a:latin typeface="IBM Plex Sans" pitchFamily="34" charset="0"/>
                <a:ea typeface="IBM Plex Sans" pitchFamily="34" charset="-122"/>
                <a:cs typeface="IBM Plex Sans" pitchFamily="34" charset="-120"/>
              </a:rPr>
              <a:t> позива операцију, </a:t>
            </a:r>
            <a:r>
              <a:rPr lang="en-US" sz="1300" b="1" dirty="0">
                <a:solidFill>
                  <a:srgbClr val="13202D"/>
                </a:solidFill>
                <a:latin typeface="IBM Plex Sans" pitchFamily="34" charset="0"/>
                <a:ea typeface="IBM Plex Sans" pitchFamily="34" charset="-122"/>
                <a:cs typeface="IBM Plex Sans" pitchFamily="34" charset="-120"/>
              </a:rPr>
              <a:t>Then</a:t>
            </a:r>
            <a:r>
              <a:rPr lang="en-US" sz="1300" dirty="0">
                <a:solidFill>
                  <a:srgbClr val="13202D"/>
                </a:solidFill>
                <a:latin typeface="IBM Plex Sans" pitchFamily="34" charset="0"/>
                <a:ea typeface="IBM Plex Sans" pitchFamily="34" charset="-122"/>
                <a:cs typeface="IBM Plex Sans" pitchFamily="34" charset="-120"/>
              </a:rPr>
              <a:t> проверава исход.</a:t>
            </a:r>
            <a:endParaRPr lang="en-US" sz="1300" dirty="0"/>
          </a:p>
        </p:txBody>
      </p:sp>
      <p:sp>
        <p:nvSpPr>
          <p:cNvPr id="27" name="Shape 24"/>
          <p:cNvSpPr/>
          <p:nvPr/>
        </p:nvSpPr>
        <p:spPr>
          <a:xfrm>
            <a:off x="812800" y="6209705"/>
            <a:ext cx="10566400" cy="0"/>
          </a:xfrm>
          <a:prstGeom prst="line">
            <a:avLst/>
          </a:prstGeom>
          <a:noFill/>
          <a:ln w="6350">
            <a:solidFill>
              <a:srgbClr val="D3DAE1"/>
            </a:solidFill>
            <a:prstDash val="solid"/>
          </a:ln>
        </p:spPr>
      </p:sp>
      <p:sp>
        <p:nvSpPr>
          <p:cNvPr id="28"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9"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2EBE9"/>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E6E68"/>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221238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60350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Backlog и табла</a:t>
            </a:r>
            <a:endParaRPr lang="en-US" sz="4800" dirty="0"/>
          </a:p>
        </p:txBody>
      </p:sp>
      <p:sp>
        <p:nvSpPr>
          <p:cNvPr id="5" name="Text 3"/>
          <p:cNvSpPr/>
          <p:nvPr/>
        </p:nvSpPr>
        <p:spPr>
          <a:xfrm>
            <a:off x="4267200" y="342136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се ставка описује, разлаже на кораке и прати кроз стања рада на тимској табли.</a:t>
            </a:r>
            <a:endParaRPr lang="en-US" sz="1400" dirty="0"/>
          </a:p>
        </p:txBody>
      </p:sp>
      <p:sp>
        <p:nvSpPr>
          <p:cNvPr id="6" name="Text 4"/>
          <p:cNvSpPr/>
          <p:nvPr/>
        </p:nvSpPr>
        <p:spPr>
          <a:xfrm>
            <a:off x="4270375" y="4117876"/>
            <a:ext cx="1367234"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Садржај ставке</a:t>
            </a:r>
            <a:endParaRPr lang="en-US" sz="1200" dirty="0"/>
          </a:p>
        </p:txBody>
      </p:sp>
      <p:sp>
        <p:nvSpPr>
          <p:cNvPr id="7" name="Text 5"/>
          <p:cNvSpPr/>
          <p:nvPr/>
        </p:nvSpPr>
        <p:spPr>
          <a:xfrm>
            <a:off x="5720159" y="4117876"/>
            <a:ext cx="1633041"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Разлагање задатка</a:t>
            </a:r>
            <a:endParaRPr lang="en-US" sz="1200" dirty="0"/>
          </a:p>
        </p:txBody>
      </p:sp>
      <p:sp>
        <p:nvSpPr>
          <p:cNvPr id="8" name="Text 6"/>
          <p:cNvSpPr/>
          <p:nvPr/>
        </p:nvSpPr>
        <p:spPr>
          <a:xfrm>
            <a:off x="7435751" y="4117876"/>
            <a:ext cx="1096169"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Стања рада</a:t>
            </a:r>
            <a:endParaRPr lang="en-US" sz="1200" dirty="0"/>
          </a:p>
        </p:txBody>
      </p:sp>
      <p:sp>
        <p:nvSpPr>
          <p:cNvPr id="9" name="Text 7"/>
          <p:cNvSpPr/>
          <p:nvPr/>
        </p:nvSpPr>
        <p:spPr>
          <a:xfrm>
            <a:off x="8614470" y="4117876"/>
            <a:ext cx="1135360"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Tapiz Boards</a:t>
            </a:r>
            <a:endParaRPr lang="en-US" sz="1200" dirty="0"/>
          </a:p>
        </p:txBody>
      </p:sp>
      <p:sp>
        <p:nvSpPr>
          <p:cNvPr id="10" name="Shape 8"/>
          <p:cNvSpPr/>
          <p:nvPr/>
        </p:nvSpPr>
        <p:spPr>
          <a:xfrm>
            <a:off x="812800" y="6209705"/>
            <a:ext cx="10566400" cy="0"/>
          </a:xfrm>
          <a:prstGeom prst="line">
            <a:avLst/>
          </a:prstGeom>
          <a:noFill/>
          <a:ln w="6350">
            <a:solidFill>
              <a:srgbClr val="AEC2C6"/>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03 · BACKLOG И ТАБЛА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Садржај backlog ставке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Опис, критеријуми, приоритет и подаци о одговорности чувају се уз ставку.</a:t>
            </a:r>
            <a:endParaRPr lang="en-US" sz="1400" dirty="0"/>
          </a:p>
        </p:txBody>
      </p:sp>
      <p:sp>
        <p:nvSpPr>
          <p:cNvPr id="6" name="Shape 4"/>
          <p:cNvSpPr/>
          <p:nvPr/>
        </p:nvSpPr>
        <p:spPr>
          <a:xfrm>
            <a:off x="815975" y="2129036"/>
            <a:ext cx="4565650" cy="2801342"/>
          </a:xfrm>
          <a:prstGeom prst="roundRect">
            <a:avLst>
              <a:gd name="adj" fmla="val 3513"/>
            </a:avLst>
          </a:prstGeom>
          <a:solidFill>
            <a:srgbClr val="FCFCFB"/>
          </a:solidFill>
          <a:ln w="6350">
            <a:solidFill>
              <a:srgbClr val="D3DAE1"/>
            </a:solidFill>
            <a:prstDash val="solid"/>
          </a:ln>
          <a:effectLst>
            <a:outerShdw sx="100000" sy="100000" kx="0" ky="0" algn="bl" rotWithShape="0" blurRad="152400" dist="50800" dir="5400000">
              <a:srgbClr val="13202D">
                <a:alpha val="8000"/>
              </a:srgbClr>
            </a:outerShdw>
          </a:effectLst>
        </p:spPr>
      </p:sp>
      <p:sp>
        <p:nvSpPr>
          <p:cNvPr id="7" name="Text 5"/>
          <p:cNvSpPr/>
          <p:nvPr/>
        </p:nvSpPr>
        <p:spPr>
          <a:xfrm>
            <a:off x="1022350" y="2297311"/>
            <a:ext cx="609600" cy="264120"/>
          </a:xfrm>
          <a:prstGeom prst="roundRect">
            <a:avLst>
              <a:gd name="adj" fmla="val 19234"/>
            </a:avLst>
          </a:prstGeom>
          <a:solidFill>
            <a:srgbClr val="0E6E68"/>
          </a:solidFill>
          <a:ln/>
        </p:spPr>
        <p:txBody>
          <a:bodyPr wrap="none" lIns="0" tIns="0" rIns="0" bIns="0" rtlCol="0" anchor="ctr">
            <a:normAutofit/>
          </a:bodyPr>
          <a:lstStyle/>
          <a:p>
            <a:pPr algn="ctr" indent="0" marL="0">
              <a:lnSpc>
                <a:spcPts val="1680"/>
              </a:lnSpc>
              <a:buNone/>
            </a:pPr>
            <a:r>
              <a:rPr lang="en-US" sz="1200" b="1" dirty="0">
                <a:solidFill>
                  <a:srgbClr val="FCFCFB"/>
                </a:solidFill>
                <a:latin typeface="IBM Plex Mono" pitchFamily="49" charset="0"/>
                <a:ea typeface="IBM Plex Mono" pitchFamily="49" charset="-122"/>
                <a:cs typeface="IBM Plex Mono" pitchFamily="49" charset="-120"/>
              </a:rPr>
              <a:t>US-05</a:t>
            </a:r>
            <a:endParaRPr lang="en-US" sz="1200" dirty="0"/>
          </a:p>
        </p:txBody>
      </p:sp>
      <p:sp>
        <p:nvSpPr>
          <p:cNvPr id="8" name="Text 6"/>
          <p:cNvSpPr/>
          <p:nvPr/>
        </p:nvSpPr>
        <p:spPr>
          <a:xfrm>
            <a:off x="1720850" y="2304951"/>
            <a:ext cx="210621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Резервација опреме</a:t>
            </a:r>
            <a:endParaRPr lang="en-US" sz="1400" dirty="0"/>
          </a:p>
        </p:txBody>
      </p:sp>
      <p:sp>
        <p:nvSpPr>
          <p:cNvPr id="9" name="Shape 7"/>
          <p:cNvSpPr/>
          <p:nvPr/>
        </p:nvSpPr>
        <p:spPr>
          <a:xfrm>
            <a:off x="1022350" y="2678906"/>
            <a:ext cx="4152900" cy="0"/>
          </a:xfrm>
          <a:prstGeom prst="line">
            <a:avLst/>
          </a:prstGeom>
          <a:noFill/>
          <a:ln w="6350">
            <a:solidFill>
              <a:srgbClr val="E3E8EE"/>
            </a:solidFill>
            <a:prstDash val="solid"/>
          </a:ln>
        </p:spPr>
      </p:sp>
      <p:sp>
        <p:nvSpPr>
          <p:cNvPr id="10" name="Text 8"/>
          <p:cNvSpPr/>
          <p:nvPr/>
        </p:nvSpPr>
        <p:spPr>
          <a:xfrm>
            <a:off x="1022350" y="2877641"/>
            <a:ext cx="406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01</a:t>
            </a:r>
            <a:endParaRPr lang="en-US" sz="1200" dirty="0"/>
          </a:p>
        </p:txBody>
      </p:sp>
      <p:sp>
        <p:nvSpPr>
          <p:cNvPr id="11" name="Text 9"/>
          <p:cNvSpPr/>
          <p:nvPr/>
        </p:nvSpPr>
        <p:spPr>
          <a:xfrm>
            <a:off x="1504950" y="287764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Опис</a:t>
            </a:r>
            <a:endParaRPr lang="en-US" sz="1200" dirty="0"/>
          </a:p>
        </p:txBody>
      </p:sp>
      <p:sp>
        <p:nvSpPr>
          <p:cNvPr id="12" name="Text 10"/>
          <p:cNvSpPr/>
          <p:nvPr/>
        </p:nvSpPr>
        <p:spPr>
          <a:xfrm>
            <a:off x="3028950" y="2770981"/>
            <a:ext cx="22106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Као наставник лабораторије…</a:t>
            </a:r>
            <a:endParaRPr lang="en-US" sz="1200" dirty="0"/>
          </a:p>
        </p:txBody>
      </p:sp>
      <p:sp>
        <p:nvSpPr>
          <p:cNvPr id="13" name="Shape 11"/>
          <p:cNvSpPr/>
          <p:nvPr/>
        </p:nvSpPr>
        <p:spPr>
          <a:xfrm>
            <a:off x="1022350" y="3289697"/>
            <a:ext cx="4152900" cy="0"/>
          </a:xfrm>
          <a:prstGeom prst="line">
            <a:avLst/>
          </a:prstGeom>
          <a:noFill/>
          <a:ln w="6350">
            <a:solidFill>
              <a:srgbClr val="E3E8EE"/>
            </a:solidFill>
            <a:prstDash val="solid"/>
          </a:ln>
        </p:spPr>
      </p:sp>
      <p:sp>
        <p:nvSpPr>
          <p:cNvPr id="14" name="Text 12"/>
          <p:cNvSpPr/>
          <p:nvPr/>
        </p:nvSpPr>
        <p:spPr>
          <a:xfrm>
            <a:off x="1022350" y="3381772"/>
            <a:ext cx="406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02</a:t>
            </a:r>
            <a:endParaRPr lang="en-US" sz="1200" dirty="0"/>
          </a:p>
        </p:txBody>
      </p:sp>
      <p:sp>
        <p:nvSpPr>
          <p:cNvPr id="15" name="Text 13"/>
          <p:cNvSpPr/>
          <p:nvPr/>
        </p:nvSpPr>
        <p:spPr>
          <a:xfrm>
            <a:off x="1504950" y="338177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Критеријуми</a:t>
            </a:r>
            <a:endParaRPr lang="en-US" sz="1200" dirty="0"/>
          </a:p>
        </p:txBody>
      </p:sp>
      <p:sp>
        <p:nvSpPr>
          <p:cNvPr id="16" name="Text 14"/>
          <p:cNvSpPr/>
          <p:nvPr/>
        </p:nvSpPr>
        <p:spPr>
          <a:xfrm>
            <a:off x="3028950" y="3381772"/>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4 сценарија</a:t>
            </a:r>
            <a:endParaRPr lang="en-US" sz="1200" dirty="0"/>
          </a:p>
        </p:txBody>
      </p:sp>
      <p:sp>
        <p:nvSpPr>
          <p:cNvPr id="17" name="Shape 15"/>
          <p:cNvSpPr/>
          <p:nvPr/>
        </p:nvSpPr>
        <p:spPr>
          <a:xfrm>
            <a:off x="1022350" y="3687167"/>
            <a:ext cx="4152900" cy="0"/>
          </a:xfrm>
          <a:prstGeom prst="line">
            <a:avLst/>
          </a:prstGeom>
          <a:noFill/>
          <a:ln w="6350">
            <a:solidFill>
              <a:srgbClr val="E3E8EE"/>
            </a:solidFill>
            <a:prstDash val="solid"/>
          </a:ln>
        </p:spPr>
      </p:sp>
      <p:sp>
        <p:nvSpPr>
          <p:cNvPr id="18" name="Text 16"/>
          <p:cNvSpPr/>
          <p:nvPr/>
        </p:nvSpPr>
        <p:spPr>
          <a:xfrm>
            <a:off x="1022350" y="3779242"/>
            <a:ext cx="406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03</a:t>
            </a:r>
            <a:endParaRPr lang="en-US" sz="1200" dirty="0"/>
          </a:p>
        </p:txBody>
      </p:sp>
      <p:sp>
        <p:nvSpPr>
          <p:cNvPr id="19" name="Text 17"/>
          <p:cNvSpPr/>
          <p:nvPr/>
        </p:nvSpPr>
        <p:spPr>
          <a:xfrm>
            <a:off x="1504950" y="377924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Приоритет · Sprint</a:t>
            </a:r>
            <a:endParaRPr lang="en-US" sz="1200" dirty="0"/>
          </a:p>
        </p:txBody>
      </p:sp>
      <p:sp>
        <p:nvSpPr>
          <p:cNvPr id="20" name="Text 18"/>
          <p:cNvSpPr/>
          <p:nvPr/>
        </p:nvSpPr>
        <p:spPr>
          <a:xfrm>
            <a:off x="3028950" y="3779242"/>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висок · Sprint 1</a:t>
            </a:r>
            <a:endParaRPr lang="en-US" sz="1200" dirty="0"/>
          </a:p>
        </p:txBody>
      </p:sp>
      <p:sp>
        <p:nvSpPr>
          <p:cNvPr id="21" name="Shape 19"/>
          <p:cNvSpPr/>
          <p:nvPr/>
        </p:nvSpPr>
        <p:spPr>
          <a:xfrm>
            <a:off x="1022350" y="4084638"/>
            <a:ext cx="4152900" cy="0"/>
          </a:xfrm>
          <a:prstGeom prst="line">
            <a:avLst/>
          </a:prstGeom>
          <a:noFill/>
          <a:ln w="6350">
            <a:solidFill>
              <a:srgbClr val="E3E8EE"/>
            </a:solidFill>
            <a:prstDash val="solid"/>
          </a:ln>
        </p:spPr>
      </p:sp>
      <p:sp>
        <p:nvSpPr>
          <p:cNvPr id="22" name="Text 20"/>
          <p:cNvSpPr/>
          <p:nvPr/>
        </p:nvSpPr>
        <p:spPr>
          <a:xfrm>
            <a:off x="1022350" y="4176712"/>
            <a:ext cx="406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04</a:t>
            </a:r>
            <a:endParaRPr lang="en-US" sz="1200" dirty="0"/>
          </a:p>
        </p:txBody>
      </p:sp>
      <p:sp>
        <p:nvSpPr>
          <p:cNvPr id="23" name="Text 21"/>
          <p:cNvSpPr/>
          <p:nvPr/>
        </p:nvSpPr>
        <p:spPr>
          <a:xfrm>
            <a:off x="1504950" y="417671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Assignee</a:t>
            </a:r>
            <a:endParaRPr lang="en-US" sz="1200" dirty="0"/>
          </a:p>
        </p:txBody>
      </p:sp>
      <p:sp>
        <p:nvSpPr>
          <p:cNvPr id="24" name="Text 22"/>
          <p:cNvSpPr/>
          <p:nvPr/>
        </p:nvSpPr>
        <p:spPr>
          <a:xfrm>
            <a:off x="3028950" y="4176712"/>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члан тима</a:t>
            </a:r>
            <a:endParaRPr lang="en-US" sz="1200" dirty="0"/>
          </a:p>
        </p:txBody>
      </p:sp>
      <p:sp>
        <p:nvSpPr>
          <p:cNvPr id="25" name="Shape 23"/>
          <p:cNvSpPr/>
          <p:nvPr/>
        </p:nvSpPr>
        <p:spPr>
          <a:xfrm>
            <a:off x="1022350" y="4482108"/>
            <a:ext cx="4152900" cy="0"/>
          </a:xfrm>
          <a:prstGeom prst="line">
            <a:avLst/>
          </a:prstGeom>
          <a:noFill/>
          <a:ln w="6350">
            <a:solidFill>
              <a:srgbClr val="E3E8EE"/>
            </a:solidFill>
            <a:prstDash val="solid"/>
          </a:ln>
        </p:spPr>
      </p:sp>
      <p:sp>
        <p:nvSpPr>
          <p:cNvPr id="26" name="Text 24"/>
          <p:cNvSpPr/>
          <p:nvPr/>
        </p:nvSpPr>
        <p:spPr>
          <a:xfrm>
            <a:off x="1504950" y="4574183"/>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Коментари</a:t>
            </a:r>
            <a:endParaRPr lang="en-US" sz="1200" dirty="0"/>
          </a:p>
        </p:txBody>
      </p:sp>
      <p:sp>
        <p:nvSpPr>
          <p:cNvPr id="27" name="Text 25"/>
          <p:cNvSpPr/>
          <p:nvPr/>
        </p:nvSpPr>
        <p:spPr>
          <a:xfrm>
            <a:off x="3028950" y="4574183"/>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договор о граничном случају</a:t>
            </a:r>
            <a:endParaRPr lang="en-US" sz="1200" dirty="0"/>
          </a:p>
        </p:txBody>
      </p:sp>
      <p:sp>
        <p:nvSpPr>
          <p:cNvPr id="28" name="Text 26"/>
          <p:cNvSpPr/>
          <p:nvPr/>
        </p:nvSpPr>
        <p:spPr>
          <a:xfrm>
            <a:off x="5689600" y="2125861"/>
            <a:ext cx="329208" cy="276820"/>
          </a:xfrm>
          <a:prstGeom prst="rect">
            <a:avLst/>
          </a:prstGeom>
          <a:noFill/>
          <a:ln/>
        </p:spPr>
        <p:txBody>
          <a:bodyPr wrap="square" lIns="0" tIns="0" rIns="0" bIns="0" rtlCol="0" anchor="t">
            <a:normAutofit/>
          </a:bodyPr>
          <a:lstStyle/>
          <a:p>
            <a:pPr algn="l" indent="0" marL="0">
              <a:lnSpc>
                <a:spcPts val="1980"/>
              </a:lnSpc>
              <a:buNone/>
            </a:pPr>
            <a:r>
              <a:rPr lang="en-US" sz="1800" dirty="0">
                <a:solidFill>
                  <a:srgbClr val="0E6E68"/>
                </a:solidFill>
                <a:latin typeface="IBM Plex Mono" pitchFamily="49" charset="0"/>
                <a:ea typeface="IBM Plex Mono" pitchFamily="49" charset="-122"/>
                <a:cs typeface="IBM Plex Mono" pitchFamily="49" charset="-120"/>
              </a:rPr>
              <a:t>01</a:t>
            </a:r>
            <a:endParaRPr lang="en-US" sz="1800" dirty="0"/>
          </a:p>
        </p:txBody>
      </p:sp>
      <p:sp>
        <p:nvSpPr>
          <p:cNvPr id="29" name="Text 27"/>
          <p:cNvSpPr/>
          <p:nvPr/>
        </p:nvSpPr>
        <p:spPr>
          <a:xfrm>
            <a:off x="6090940" y="2125861"/>
            <a:ext cx="54469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Опис</a:t>
            </a:r>
            <a:endParaRPr lang="en-US" sz="1400" dirty="0"/>
          </a:p>
        </p:txBody>
      </p:sp>
      <p:sp>
        <p:nvSpPr>
          <p:cNvPr id="30" name="Text 28"/>
          <p:cNvSpPr/>
          <p:nvPr/>
        </p:nvSpPr>
        <p:spPr>
          <a:xfrm>
            <a:off x="6090940" y="2351881"/>
            <a:ext cx="54469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шта се тражи и ко добија вредност</a:t>
            </a:r>
            <a:endParaRPr lang="en-US" sz="1200" dirty="0"/>
          </a:p>
        </p:txBody>
      </p:sp>
      <p:sp>
        <p:nvSpPr>
          <p:cNvPr id="31" name="Text 29"/>
          <p:cNvSpPr/>
          <p:nvPr/>
        </p:nvSpPr>
        <p:spPr>
          <a:xfrm>
            <a:off x="5689600" y="2679502"/>
            <a:ext cx="329208" cy="276820"/>
          </a:xfrm>
          <a:prstGeom prst="rect">
            <a:avLst/>
          </a:prstGeom>
          <a:noFill/>
          <a:ln/>
        </p:spPr>
        <p:txBody>
          <a:bodyPr wrap="square" lIns="0" tIns="0" rIns="0" bIns="0" rtlCol="0" anchor="t">
            <a:normAutofit/>
          </a:bodyPr>
          <a:lstStyle/>
          <a:p>
            <a:pPr algn="l" indent="0" marL="0">
              <a:lnSpc>
                <a:spcPts val="1980"/>
              </a:lnSpc>
              <a:buNone/>
            </a:pPr>
            <a:r>
              <a:rPr lang="en-US" sz="1800" dirty="0">
                <a:solidFill>
                  <a:srgbClr val="0E6E68"/>
                </a:solidFill>
                <a:latin typeface="IBM Plex Mono" pitchFamily="49" charset="0"/>
                <a:ea typeface="IBM Plex Mono" pitchFamily="49" charset="-122"/>
                <a:cs typeface="IBM Plex Mono" pitchFamily="49" charset="-120"/>
              </a:rPr>
              <a:t>02</a:t>
            </a:r>
            <a:endParaRPr lang="en-US" sz="1800" dirty="0"/>
          </a:p>
        </p:txBody>
      </p:sp>
      <p:sp>
        <p:nvSpPr>
          <p:cNvPr id="32" name="Text 30"/>
          <p:cNvSpPr/>
          <p:nvPr/>
        </p:nvSpPr>
        <p:spPr>
          <a:xfrm>
            <a:off x="6090940" y="2679502"/>
            <a:ext cx="54469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Критеријуми</a:t>
            </a:r>
            <a:endParaRPr lang="en-US" sz="1400" dirty="0"/>
          </a:p>
        </p:txBody>
      </p:sp>
      <p:sp>
        <p:nvSpPr>
          <p:cNvPr id="33" name="Text 31"/>
          <p:cNvSpPr/>
          <p:nvPr/>
        </p:nvSpPr>
        <p:spPr>
          <a:xfrm>
            <a:off x="6090940" y="2905522"/>
            <a:ext cx="54469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како се доказује исправност</a:t>
            </a:r>
            <a:endParaRPr lang="en-US" sz="1200" dirty="0"/>
          </a:p>
        </p:txBody>
      </p:sp>
      <p:sp>
        <p:nvSpPr>
          <p:cNvPr id="34" name="Text 32"/>
          <p:cNvSpPr/>
          <p:nvPr/>
        </p:nvSpPr>
        <p:spPr>
          <a:xfrm>
            <a:off x="5689600" y="3233142"/>
            <a:ext cx="329208" cy="276820"/>
          </a:xfrm>
          <a:prstGeom prst="rect">
            <a:avLst/>
          </a:prstGeom>
          <a:noFill/>
          <a:ln/>
        </p:spPr>
        <p:txBody>
          <a:bodyPr wrap="square" lIns="0" tIns="0" rIns="0" bIns="0" rtlCol="0" anchor="t">
            <a:normAutofit/>
          </a:bodyPr>
          <a:lstStyle/>
          <a:p>
            <a:pPr algn="l" indent="0" marL="0">
              <a:lnSpc>
                <a:spcPts val="1980"/>
              </a:lnSpc>
              <a:buNone/>
            </a:pPr>
            <a:r>
              <a:rPr lang="en-US" sz="1800" dirty="0">
                <a:solidFill>
                  <a:srgbClr val="0E6E68"/>
                </a:solidFill>
                <a:latin typeface="IBM Plex Mono" pitchFamily="49" charset="0"/>
                <a:ea typeface="IBM Plex Mono" pitchFamily="49" charset="-122"/>
                <a:cs typeface="IBM Plex Mono" pitchFamily="49" charset="-120"/>
              </a:rPr>
              <a:t>03</a:t>
            </a:r>
            <a:endParaRPr lang="en-US" sz="1800" dirty="0"/>
          </a:p>
        </p:txBody>
      </p:sp>
      <p:sp>
        <p:nvSpPr>
          <p:cNvPr id="35" name="Text 33"/>
          <p:cNvSpPr/>
          <p:nvPr/>
        </p:nvSpPr>
        <p:spPr>
          <a:xfrm>
            <a:off x="6090940" y="3233142"/>
            <a:ext cx="54469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Приоритет и Sprint</a:t>
            </a:r>
            <a:endParaRPr lang="en-US" sz="1400" dirty="0"/>
          </a:p>
        </p:txBody>
      </p:sp>
      <p:sp>
        <p:nvSpPr>
          <p:cNvPr id="36" name="Text 34"/>
          <p:cNvSpPr/>
          <p:nvPr/>
        </p:nvSpPr>
        <p:spPr>
          <a:xfrm>
            <a:off x="6090940" y="3459163"/>
            <a:ext cx="54469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зашто се ради баш сада</a:t>
            </a:r>
            <a:endParaRPr lang="en-US" sz="1200" dirty="0"/>
          </a:p>
        </p:txBody>
      </p:sp>
      <p:sp>
        <p:nvSpPr>
          <p:cNvPr id="37" name="Text 35"/>
          <p:cNvSpPr/>
          <p:nvPr/>
        </p:nvSpPr>
        <p:spPr>
          <a:xfrm>
            <a:off x="5689600" y="3786783"/>
            <a:ext cx="329208" cy="276820"/>
          </a:xfrm>
          <a:prstGeom prst="rect">
            <a:avLst/>
          </a:prstGeom>
          <a:noFill/>
          <a:ln/>
        </p:spPr>
        <p:txBody>
          <a:bodyPr wrap="square" lIns="0" tIns="0" rIns="0" bIns="0" rtlCol="0" anchor="t">
            <a:normAutofit/>
          </a:bodyPr>
          <a:lstStyle/>
          <a:p>
            <a:pPr algn="l" indent="0" marL="0">
              <a:lnSpc>
                <a:spcPts val="1980"/>
              </a:lnSpc>
              <a:buNone/>
            </a:pPr>
            <a:r>
              <a:rPr lang="en-US" sz="1800" dirty="0">
                <a:solidFill>
                  <a:srgbClr val="0E6E68"/>
                </a:solidFill>
                <a:latin typeface="IBM Plex Mono" pitchFamily="49" charset="0"/>
                <a:ea typeface="IBM Plex Mono" pitchFamily="49" charset="-122"/>
                <a:cs typeface="IBM Plex Mono" pitchFamily="49" charset="-120"/>
              </a:rPr>
              <a:t>04</a:t>
            </a:r>
            <a:endParaRPr lang="en-US" sz="1800" dirty="0"/>
          </a:p>
        </p:txBody>
      </p:sp>
      <p:sp>
        <p:nvSpPr>
          <p:cNvPr id="38" name="Text 36"/>
          <p:cNvSpPr/>
          <p:nvPr/>
        </p:nvSpPr>
        <p:spPr>
          <a:xfrm>
            <a:off x="6090940" y="3786783"/>
            <a:ext cx="54469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Assignee и коментари</a:t>
            </a:r>
            <a:endParaRPr lang="en-US" sz="1400" dirty="0"/>
          </a:p>
        </p:txBody>
      </p:sp>
      <p:sp>
        <p:nvSpPr>
          <p:cNvPr id="39" name="Text 37"/>
          <p:cNvSpPr/>
          <p:nvPr/>
        </p:nvSpPr>
        <p:spPr>
          <a:xfrm>
            <a:off x="6090940" y="4012803"/>
            <a:ext cx="54469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ко ради и шта је договорено</a:t>
            </a:r>
            <a:endParaRPr lang="en-US" sz="1200" dirty="0"/>
          </a:p>
        </p:txBody>
      </p:sp>
      <p:sp>
        <p:nvSpPr>
          <p:cNvPr id="40" name="Shape 38"/>
          <p:cNvSpPr/>
          <p:nvPr/>
        </p:nvSpPr>
        <p:spPr>
          <a:xfrm>
            <a:off x="812800" y="6209705"/>
            <a:ext cx="10566400" cy="0"/>
          </a:xfrm>
          <a:prstGeom prst="line">
            <a:avLst/>
          </a:prstGeom>
          <a:noFill/>
          <a:ln w="6350">
            <a:solidFill>
              <a:srgbClr val="D3DAE1"/>
            </a:solidFill>
            <a:prstDash val="solid"/>
          </a:ln>
        </p:spPr>
      </p:sp>
      <p:sp>
        <p:nvSpPr>
          <p:cNvPr id="41" name="Text 3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2" name="Text 4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03 · BACKLOG И ТАБЛА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Разлагање задатка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Контролна листа смањује ризик и чини напредак видљивим.</a:t>
            </a:r>
            <a:endParaRPr lang="en-US" sz="1400" dirty="0"/>
          </a:p>
        </p:txBody>
      </p:sp>
      <p:sp>
        <p:nvSpPr>
          <p:cNvPr id="6" name="Shape 4"/>
          <p:cNvSpPr/>
          <p:nvPr/>
        </p:nvSpPr>
        <p:spPr>
          <a:xfrm>
            <a:off x="815975" y="2129036"/>
            <a:ext cx="5124450" cy="2485033"/>
          </a:xfrm>
          <a:prstGeom prst="roundRect">
            <a:avLst>
              <a:gd name="adj" fmla="val 3961"/>
            </a:avLst>
          </a:prstGeom>
          <a:solidFill>
            <a:srgbClr val="FCFCFB"/>
          </a:solidFill>
          <a:ln w="6350">
            <a:solidFill>
              <a:srgbClr val="D3DAE1"/>
            </a:solidFill>
            <a:prstDash val="solid"/>
          </a:ln>
        </p:spPr>
      </p:sp>
      <p:sp>
        <p:nvSpPr>
          <p:cNvPr id="7" name="Text 5"/>
          <p:cNvSpPr/>
          <p:nvPr/>
        </p:nvSpPr>
        <p:spPr>
          <a:xfrm>
            <a:off x="1047750" y="2322711"/>
            <a:ext cx="16246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ПРИМЕР КОРАКА</a:t>
            </a:r>
            <a:endParaRPr lang="en-US" sz="1200" dirty="0"/>
          </a:p>
        </p:txBody>
      </p:sp>
      <p:sp>
        <p:nvSpPr>
          <p:cNvPr id="8" name="Text 6"/>
          <p:cNvSpPr/>
          <p:nvPr/>
        </p:nvSpPr>
        <p:spPr>
          <a:xfrm>
            <a:off x="5160010" y="2322711"/>
            <a:ext cx="54864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2 / 4</a:t>
            </a:r>
            <a:endParaRPr lang="en-US" sz="1200" dirty="0"/>
          </a:p>
        </p:txBody>
      </p:sp>
      <p:sp>
        <p:nvSpPr>
          <p:cNvPr id="9" name="Shape 7"/>
          <p:cNvSpPr/>
          <p:nvPr/>
        </p:nvSpPr>
        <p:spPr>
          <a:xfrm>
            <a:off x="1047750" y="2637631"/>
            <a:ext cx="4660900" cy="76200"/>
          </a:xfrm>
          <a:prstGeom prst="roundRect">
            <a:avLst>
              <a:gd name="adj" fmla="val 50000"/>
            </a:avLst>
          </a:prstGeom>
          <a:solidFill>
            <a:srgbClr val="E2EBE9"/>
          </a:solidFill>
          <a:ln/>
        </p:spPr>
      </p:sp>
      <p:sp>
        <p:nvSpPr>
          <p:cNvPr id="10" name="Shape 8"/>
          <p:cNvSpPr/>
          <p:nvPr/>
        </p:nvSpPr>
        <p:spPr>
          <a:xfrm>
            <a:off x="1047750" y="2637631"/>
            <a:ext cx="4660900" cy="76200"/>
          </a:xfrm>
          <a:prstGeom prst="roundRect">
            <a:avLst>
              <a:gd name="adj" fmla="val 50000"/>
            </a:avLst>
          </a:prstGeom>
          <a:solidFill>
            <a:srgbClr val="0E6E68"/>
          </a:solidFill>
          <a:ln/>
        </p:spPr>
      </p:sp>
      <p:sp>
        <p:nvSpPr>
          <p:cNvPr id="11" name="Shape 9"/>
          <p:cNvSpPr/>
          <p:nvPr/>
        </p:nvSpPr>
        <p:spPr>
          <a:xfrm>
            <a:off x="1047750" y="2863652"/>
            <a:ext cx="228600" cy="228600"/>
          </a:xfrm>
          <a:prstGeom prst="roundRect">
            <a:avLst>
              <a:gd name="adj" fmla="val 22222"/>
            </a:avLst>
          </a:prstGeom>
          <a:solidFill>
            <a:srgbClr val="0E6E68"/>
          </a:solidFill>
          <a:ln/>
        </p:spPr>
      </p:sp>
      <p:pic>
        <p:nvPicPr>
          <p:cNvPr id="12" name="Image 0" descr="Check">    </p:cNvPr>
          <p:cNvPicPr>
            <a:picLocks noChangeAspect="1"/>
          </p:cNvPicPr>
          <p:nvPr/>
        </p:nvPicPr>
        <p:blipFill>
          <a:blip r:embed="rId1"/>
          <a:srcRect l="0" r="0" t="0" b="0"/>
          <a:stretch/>
        </p:blipFill>
        <p:spPr>
          <a:xfrm>
            <a:off x="1085850" y="2901752"/>
            <a:ext cx="152400" cy="152400"/>
          </a:xfrm>
          <a:prstGeom prst="rect">
            <a:avLst/>
          </a:prstGeom>
        </p:spPr>
      </p:pic>
      <p:sp>
        <p:nvSpPr>
          <p:cNvPr id="13" name="Text 10"/>
          <p:cNvSpPr/>
          <p:nvPr/>
        </p:nvSpPr>
        <p:spPr>
          <a:xfrm>
            <a:off x="1390650" y="2853531"/>
            <a:ext cx="4447540" cy="274241"/>
          </a:xfrm>
          <a:prstGeom prst="rect">
            <a:avLst/>
          </a:prstGeom>
          <a:noFill/>
          <a:ln/>
        </p:spPr>
        <p:txBody>
          <a:bodyPr wrap="square" lIns="0" tIns="0" rIns="0" bIns="0" rtlCol="0" anchor="t">
            <a:normAutofit/>
          </a:bodyPr>
          <a:lstStyle/>
          <a:p>
            <a:pPr algn="l" indent="0" marL="0">
              <a:lnSpc>
                <a:spcPts val="1960"/>
              </a:lnSpc>
              <a:buNone/>
            </a:pPr>
            <a:r>
              <a:rPr lang="en-US" sz="1400" strike="sngStrike" dirty="0">
                <a:solidFill>
                  <a:srgbClr val="5E6975"/>
                </a:solidFill>
                <a:latin typeface="IBM Plex Sans" pitchFamily="34" charset="0"/>
                <a:ea typeface="IBM Plex Sans" pitchFamily="34" charset="-122"/>
                <a:cs typeface="IBM Plex Sans" pitchFamily="34" charset="-120"/>
              </a:rPr>
              <a:t>wireframe или ток екрана</a:t>
            </a:r>
            <a:endParaRPr lang="en-US" sz="1400" dirty="0"/>
          </a:p>
        </p:txBody>
      </p:sp>
      <p:sp>
        <p:nvSpPr>
          <p:cNvPr id="14" name="Shape 11"/>
          <p:cNvSpPr/>
          <p:nvPr/>
        </p:nvSpPr>
        <p:spPr>
          <a:xfrm>
            <a:off x="1047750" y="3290292"/>
            <a:ext cx="228600" cy="228600"/>
          </a:xfrm>
          <a:prstGeom prst="roundRect">
            <a:avLst>
              <a:gd name="adj" fmla="val 22222"/>
            </a:avLst>
          </a:prstGeom>
          <a:solidFill>
            <a:srgbClr val="0E6E68"/>
          </a:solidFill>
          <a:ln/>
        </p:spPr>
      </p:sp>
      <p:pic>
        <p:nvPicPr>
          <p:cNvPr id="15" name="Image 1" descr="Check">    </p:cNvPr>
          <p:cNvPicPr>
            <a:picLocks noChangeAspect="1"/>
          </p:cNvPicPr>
          <p:nvPr/>
        </p:nvPicPr>
        <p:blipFill>
          <a:blip r:embed="rId2"/>
          <a:srcRect l="0" r="0" t="0" b="0"/>
          <a:stretch/>
        </p:blipFill>
        <p:spPr>
          <a:xfrm>
            <a:off x="1085850" y="3328392"/>
            <a:ext cx="152400" cy="152400"/>
          </a:xfrm>
          <a:prstGeom prst="rect">
            <a:avLst/>
          </a:prstGeom>
        </p:spPr>
      </p:pic>
      <p:sp>
        <p:nvSpPr>
          <p:cNvPr id="16" name="Text 12"/>
          <p:cNvSpPr/>
          <p:nvPr/>
        </p:nvSpPr>
        <p:spPr>
          <a:xfrm>
            <a:off x="1390650" y="3280172"/>
            <a:ext cx="4447540" cy="274241"/>
          </a:xfrm>
          <a:prstGeom prst="rect">
            <a:avLst/>
          </a:prstGeom>
          <a:noFill/>
          <a:ln/>
        </p:spPr>
        <p:txBody>
          <a:bodyPr wrap="square" lIns="0" tIns="0" rIns="0" bIns="0" rtlCol="0" anchor="t">
            <a:normAutofit/>
          </a:bodyPr>
          <a:lstStyle/>
          <a:p>
            <a:pPr algn="l" indent="0" marL="0">
              <a:lnSpc>
                <a:spcPts val="1960"/>
              </a:lnSpc>
              <a:buNone/>
            </a:pPr>
            <a:r>
              <a:rPr lang="en-US" sz="1400" strike="sngStrike" dirty="0">
                <a:solidFill>
                  <a:srgbClr val="5E6975"/>
                </a:solidFill>
                <a:latin typeface="IBM Plex Sans" pitchFamily="34" charset="0"/>
                <a:ea typeface="IBM Plex Sans" pitchFamily="34" charset="-122"/>
                <a:cs typeface="IBM Plex Sans" pitchFamily="34" charset="-120"/>
              </a:rPr>
              <a:t>имплементација основне логике</a:t>
            </a:r>
            <a:endParaRPr lang="en-US" sz="1400" dirty="0"/>
          </a:p>
        </p:txBody>
      </p:sp>
      <p:sp>
        <p:nvSpPr>
          <p:cNvPr id="17" name="Shape 13"/>
          <p:cNvSpPr/>
          <p:nvPr/>
        </p:nvSpPr>
        <p:spPr>
          <a:xfrm>
            <a:off x="1054100" y="3723283"/>
            <a:ext cx="215900" cy="215900"/>
          </a:xfrm>
          <a:prstGeom prst="roundRect">
            <a:avLst>
              <a:gd name="adj" fmla="val 20588"/>
            </a:avLst>
          </a:prstGeom>
          <a:solidFill>
            <a:srgbClr val="FCFCFB"/>
          </a:solidFill>
          <a:ln w="12700">
            <a:solidFill>
              <a:srgbClr val="A9B6C3"/>
            </a:solidFill>
            <a:prstDash val="solid"/>
          </a:ln>
        </p:spPr>
      </p:sp>
      <p:sp>
        <p:nvSpPr>
          <p:cNvPr id="18" name="Text 14"/>
          <p:cNvSpPr/>
          <p:nvPr/>
        </p:nvSpPr>
        <p:spPr>
          <a:xfrm>
            <a:off x="1390650" y="3706813"/>
            <a:ext cx="444754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тестови кључног правила</a:t>
            </a:r>
            <a:endParaRPr lang="en-US" sz="1400" dirty="0"/>
          </a:p>
        </p:txBody>
      </p:sp>
      <p:sp>
        <p:nvSpPr>
          <p:cNvPr id="19" name="Shape 15"/>
          <p:cNvSpPr/>
          <p:nvPr/>
        </p:nvSpPr>
        <p:spPr>
          <a:xfrm>
            <a:off x="1054100" y="4149923"/>
            <a:ext cx="215900" cy="215900"/>
          </a:xfrm>
          <a:prstGeom prst="roundRect">
            <a:avLst>
              <a:gd name="adj" fmla="val 20588"/>
            </a:avLst>
          </a:prstGeom>
          <a:solidFill>
            <a:srgbClr val="FCFCFB"/>
          </a:solidFill>
          <a:ln w="12700">
            <a:solidFill>
              <a:srgbClr val="A9B6C3"/>
            </a:solidFill>
            <a:prstDash val="solid"/>
          </a:ln>
        </p:spPr>
      </p:sp>
      <p:sp>
        <p:nvSpPr>
          <p:cNvPr id="20" name="Text 16"/>
          <p:cNvSpPr/>
          <p:nvPr/>
        </p:nvSpPr>
        <p:spPr>
          <a:xfrm>
            <a:off x="1390650" y="4133453"/>
            <a:ext cx="444754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code review и дорада</a:t>
            </a:r>
            <a:endParaRPr lang="en-US" sz="1400" dirty="0"/>
          </a:p>
        </p:txBody>
      </p:sp>
      <p:sp>
        <p:nvSpPr>
          <p:cNvPr id="21" name="Text 17"/>
          <p:cNvSpPr/>
          <p:nvPr/>
        </p:nvSpPr>
        <p:spPr>
          <a:xfrm>
            <a:off x="6248400" y="212586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ЕФЕКТИ</a:t>
            </a:r>
            <a:endParaRPr lang="en-US" sz="1200" dirty="0"/>
          </a:p>
        </p:txBody>
      </p:sp>
      <p:sp>
        <p:nvSpPr>
          <p:cNvPr id="22" name="Shape 18"/>
          <p:cNvSpPr/>
          <p:nvPr/>
        </p:nvSpPr>
        <p:spPr>
          <a:xfrm>
            <a:off x="6248400" y="2466181"/>
            <a:ext cx="2514600" cy="858441"/>
          </a:xfrm>
          <a:prstGeom prst="roundRect">
            <a:avLst>
              <a:gd name="adj" fmla="val 11835"/>
            </a:avLst>
          </a:prstGeom>
          <a:solidFill>
            <a:srgbClr val="E2EBE9"/>
          </a:solidFill>
          <a:ln/>
        </p:spPr>
      </p:sp>
      <p:pic>
        <p:nvPicPr>
          <p:cNvPr id="23" name="Image 2" descr="Trust">    </p:cNvPr>
          <p:cNvPicPr>
            <a:picLocks noChangeAspect="1"/>
          </p:cNvPicPr>
          <p:nvPr/>
        </p:nvPicPr>
        <p:blipFill>
          <a:blip r:embed="rId3"/>
          <a:srcRect l="0" r="0" t="0" b="0"/>
          <a:stretch/>
        </p:blipFill>
        <p:spPr>
          <a:xfrm>
            <a:off x="6426200" y="2618581"/>
            <a:ext cx="228600" cy="228600"/>
          </a:xfrm>
          <a:prstGeom prst="rect">
            <a:avLst/>
          </a:prstGeom>
        </p:spPr>
      </p:pic>
      <p:sp>
        <p:nvSpPr>
          <p:cNvPr id="24" name="Text 19"/>
          <p:cNvSpPr/>
          <p:nvPr/>
        </p:nvSpPr>
        <p:spPr>
          <a:xfrm>
            <a:off x="6426200" y="2923381"/>
            <a:ext cx="222377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мање ризика</a:t>
            </a:r>
            <a:endParaRPr lang="en-US" sz="1400" dirty="0"/>
          </a:p>
        </p:txBody>
      </p:sp>
      <p:sp>
        <p:nvSpPr>
          <p:cNvPr id="25" name="Shape 20"/>
          <p:cNvSpPr/>
          <p:nvPr/>
        </p:nvSpPr>
        <p:spPr>
          <a:xfrm>
            <a:off x="8864600" y="2466181"/>
            <a:ext cx="2514600" cy="858441"/>
          </a:xfrm>
          <a:prstGeom prst="roundRect">
            <a:avLst>
              <a:gd name="adj" fmla="val 11835"/>
            </a:avLst>
          </a:prstGeom>
          <a:solidFill>
            <a:srgbClr val="E2EBE9"/>
          </a:solidFill>
          <a:ln/>
        </p:spPr>
      </p:sp>
      <p:pic>
        <p:nvPicPr>
          <p:cNvPr id="26" name="Image 3" descr="Warning">    </p:cNvPr>
          <p:cNvPicPr>
            <a:picLocks noChangeAspect="1"/>
          </p:cNvPicPr>
          <p:nvPr/>
        </p:nvPicPr>
        <p:blipFill>
          <a:blip r:embed="rId4"/>
          <a:srcRect l="0" r="0" t="0" b="0"/>
          <a:stretch/>
        </p:blipFill>
        <p:spPr>
          <a:xfrm>
            <a:off x="9042400" y="2618581"/>
            <a:ext cx="228600" cy="228600"/>
          </a:xfrm>
          <a:prstGeom prst="rect">
            <a:avLst/>
          </a:prstGeom>
        </p:spPr>
      </p:pic>
      <p:sp>
        <p:nvSpPr>
          <p:cNvPr id="27" name="Text 21"/>
          <p:cNvSpPr/>
          <p:nvPr/>
        </p:nvSpPr>
        <p:spPr>
          <a:xfrm>
            <a:off x="9042400" y="2923381"/>
            <a:ext cx="222377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видљив застој</a:t>
            </a:r>
            <a:endParaRPr lang="en-US" sz="1400" dirty="0"/>
          </a:p>
        </p:txBody>
      </p:sp>
      <p:sp>
        <p:nvSpPr>
          <p:cNvPr id="28" name="Shape 22"/>
          <p:cNvSpPr/>
          <p:nvPr/>
        </p:nvSpPr>
        <p:spPr>
          <a:xfrm>
            <a:off x="6248400" y="3426222"/>
            <a:ext cx="2514600" cy="858441"/>
          </a:xfrm>
          <a:prstGeom prst="roundRect">
            <a:avLst>
              <a:gd name="adj" fmla="val 11835"/>
            </a:avLst>
          </a:prstGeom>
          <a:solidFill>
            <a:srgbClr val="E2EBE9"/>
          </a:solidFill>
          <a:ln/>
        </p:spPr>
      </p:sp>
      <p:pic>
        <p:nvPicPr>
          <p:cNvPr id="29" name="Image 4" descr="Search">    </p:cNvPr>
          <p:cNvPicPr>
            <a:picLocks noChangeAspect="1"/>
          </p:cNvPicPr>
          <p:nvPr/>
        </p:nvPicPr>
        <p:blipFill>
          <a:blip r:embed="rId5"/>
          <a:srcRect l="0" r="0" t="0" b="0"/>
          <a:stretch/>
        </p:blipFill>
        <p:spPr>
          <a:xfrm>
            <a:off x="6426200" y="3578622"/>
            <a:ext cx="228600" cy="228600"/>
          </a:xfrm>
          <a:prstGeom prst="rect">
            <a:avLst/>
          </a:prstGeom>
        </p:spPr>
      </p:pic>
      <p:sp>
        <p:nvSpPr>
          <p:cNvPr id="30" name="Text 23"/>
          <p:cNvSpPr/>
          <p:nvPr/>
        </p:nvSpPr>
        <p:spPr>
          <a:xfrm>
            <a:off x="6426200" y="3883422"/>
            <a:ext cx="222377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лакша провера</a:t>
            </a:r>
            <a:endParaRPr lang="en-US" sz="1400" dirty="0"/>
          </a:p>
        </p:txBody>
      </p:sp>
      <p:sp>
        <p:nvSpPr>
          <p:cNvPr id="31" name="Shape 24"/>
          <p:cNvSpPr/>
          <p:nvPr/>
        </p:nvSpPr>
        <p:spPr>
          <a:xfrm>
            <a:off x="8864600" y="3426222"/>
            <a:ext cx="2514600" cy="858441"/>
          </a:xfrm>
          <a:prstGeom prst="roundRect">
            <a:avLst>
              <a:gd name="adj" fmla="val 11835"/>
            </a:avLst>
          </a:prstGeom>
          <a:solidFill>
            <a:srgbClr val="E2EBE9"/>
          </a:solidFill>
          <a:ln/>
        </p:spPr>
      </p:sp>
      <p:pic>
        <p:nvPicPr>
          <p:cNvPr id="32" name="Image 5" descr="Chat">    </p:cNvPr>
          <p:cNvPicPr>
            <a:picLocks noChangeAspect="1"/>
          </p:cNvPicPr>
          <p:nvPr/>
        </p:nvPicPr>
        <p:blipFill>
          <a:blip r:embed="rId6"/>
          <a:srcRect l="0" r="0" t="0" b="0"/>
          <a:stretch/>
        </p:blipFill>
        <p:spPr>
          <a:xfrm>
            <a:off x="9042400" y="3578622"/>
            <a:ext cx="228600" cy="228600"/>
          </a:xfrm>
          <a:prstGeom prst="rect">
            <a:avLst/>
          </a:prstGeom>
        </p:spPr>
      </p:pic>
      <p:sp>
        <p:nvSpPr>
          <p:cNvPr id="33" name="Text 25"/>
          <p:cNvSpPr/>
          <p:nvPr/>
        </p:nvSpPr>
        <p:spPr>
          <a:xfrm>
            <a:off x="9042400" y="3883422"/>
            <a:ext cx="222377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лакше образложење</a:t>
            </a:r>
            <a:endParaRPr lang="en-US" sz="1400" dirty="0"/>
          </a:p>
        </p:txBody>
      </p:sp>
      <p:sp>
        <p:nvSpPr>
          <p:cNvPr id="34" name="Shape 26"/>
          <p:cNvSpPr/>
          <p:nvPr/>
        </p:nvSpPr>
        <p:spPr>
          <a:xfrm>
            <a:off x="812800" y="6209705"/>
            <a:ext cx="10566400" cy="0"/>
          </a:xfrm>
          <a:prstGeom prst="line">
            <a:avLst/>
          </a:prstGeom>
          <a:noFill/>
          <a:ln w="6350">
            <a:solidFill>
              <a:srgbClr val="D3DAE1"/>
            </a:solidFill>
            <a:prstDash val="solid"/>
          </a:ln>
        </p:spPr>
      </p:sp>
      <p:sp>
        <p:nvSpPr>
          <p:cNvPr id="35"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03 · BACKLOG И ТАБЛА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Стања у развојном току</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Статус картице одговара стварном стању посла.</a:t>
            </a:r>
            <a:endParaRPr lang="en-US" sz="1400" dirty="0"/>
          </a:p>
        </p:txBody>
      </p:sp>
      <p:sp>
        <p:nvSpPr>
          <p:cNvPr id="6" name="Shape 4"/>
          <p:cNvSpPr/>
          <p:nvPr/>
        </p:nvSpPr>
        <p:spPr>
          <a:xfrm>
            <a:off x="815975" y="2179836"/>
            <a:ext cx="1784350" cy="1187351"/>
          </a:xfrm>
          <a:prstGeom prst="roundRect">
            <a:avLst>
              <a:gd name="adj" fmla="val 8289"/>
            </a:avLst>
          </a:prstGeom>
          <a:solidFill>
            <a:srgbClr val="FCFCFB"/>
          </a:solidFill>
          <a:ln w="6350">
            <a:solidFill>
              <a:srgbClr val="D3DAE1"/>
            </a:solidFill>
            <a:prstDash val="solid"/>
          </a:ln>
        </p:spPr>
      </p:sp>
      <p:sp>
        <p:nvSpPr>
          <p:cNvPr id="7" name="Text 5"/>
          <p:cNvSpPr/>
          <p:nvPr/>
        </p:nvSpPr>
        <p:spPr>
          <a:xfrm>
            <a:off x="971550" y="2360811"/>
            <a:ext cx="1524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01</a:t>
            </a:r>
            <a:endParaRPr lang="en-US" sz="1200" dirty="0"/>
          </a:p>
        </p:txBody>
      </p:sp>
      <p:sp>
        <p:nvSpPr>
          <p:cNvPr id="8" name="Text 6"/>
          <p:cNvSpPr/>
          <p:nvPr/>
        </p:nvSpPr>
        <p:spPr>
          <a:xfrm>
            <a:off x="971550" y="2650331"/>
            <a:ext cx="15240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Backlog</a:t>
            </a:r>
            <a:endParaRPr lang="en-US" sz="1500" dirty="0"/>
          </a:p>
        </p:txBody>
      </p:sp>
      <p:sp>
        <p:nvSpPr>
          <p:cNvPr id="9" name="Text 7"/>
          <p:cNvSpPr/>
          <p:nvPr/>
        </p:nvSpPr>
        <p:spPr>
          <a:xfrm>
            <a:off x="971550" y="2955131"/>
            <a:ext cx="15240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идеја</a:t>
            </a:r>
            <a:endParaRPr lang="en-US" sz="1300" dirty="0"/>
          </a:p>
        </p:txBody>
      </p:sp>
      <p:pic>
        <p:nvPicPr>
          <p:cNvPr id="10" name="Image 0" descr="arrow-right">    </p:cNvPr>
          <p:cNvPicPr>
            <a:picLocks noChangeAspect="1"/>
          </p:cNvPicPr>
          <p:nvPr/>
        </p:nvPicPr>
        <p:blipFill>
          <a:blip r:embed="rId1"/>
          <a:srcRect l="0" r="0" t="0" b="0"/>
          <a:stretch/>
        </p:blipFill>
        <p:spPr>
          <a:xfrm>
            <a:off x="2692400" y="2716312"/>
            <a:ext cx="228600" cy="114300"/>
          </a:xfrm>
          <a:prstGeom prst="rect">
            <a:avLst/>
          </a:prstGeom>
        </p:spPr>
      </p:pic>
      <p:sp>
        <p:nvSpPr>
          <p:cNvPr id="11" name="Shape 8"/>
          <p:cNvSpPr/>
          <p:nvPr/>
        </p:nvSpPr>
        <p:spPr>
          <a:xfrm>
            <a:off x="3013075" y="2179836"/>
            <a:ext cx="1784350" cy="1187351"/>
          </a:xfrm>
          <a:prstGeom prst="roundRect">
            <a:avLst>
              <a:gd name="adj" fmla="val 8289"/>
            </a:avLst>
          </a:prstGeom>
          <a:solidFill>
            <a:srgbClr val="FCFCFB"/>
          </a:solidFill>
          <a:ln w="6350">
            <a:solidFill>
              <a:srgbClr val="D3DAE1"/>
            </a:solidFill>
            <a:prstDash val="solid"/>
          </a:ln>
        </p:spPr>
      </p:sp>
      <p:sp>
        <p:nvSpPr>
          <p:cNvPr id="12" name="Text 9"/>
          <p:cNvSpPr/>
          <p:nvPr/>
        </p:nvSpPr>
        <p:spPr>
          <a:xfrm>
            <a:off x="3168650" y="2360811"/>
            <a:ext cx="1524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
        <p:nvSpPr>
          <p:cNvPr id="13" name="Text 10"/>
          <p:cNvSpPr/>
          <p:nvPr/>
        </p:nvSpPr>
        <p:spPr>
          <a:xfrm>
            <a:off x="3168650" y="2650331"/>
            <a:ext cx="15240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Ready</a:t>
            </a:r>
            <a:endParaRPr lang="en-US" sz="1500" dirty="0"/>
          </a:p>
        </p:txBody>
      </p:sp>
      <p:sp>
        <p:nvSpPr>
          <p:cNvPr id="14" name="Text 11"/>
          <p:cNvSpPr/>
          <p:nvPr/>
        </p:nvSpPr>
        <p:spPr>
          <a:xfrm>
            <a:off x="3168650" y="2955131"/>
            <a:ext cx="15240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спремно</a:t>
            </a:r>
            <a:endParaRPr lang="en-US" sz="1300" dirty="0"/>
          </a:p>
        </p:txBody>
      </p:sp>
      <p:pic>
        <p:nvPicPr>
          <p:cNvPr id="15" name="Image 1" descr="arrow-right">    </p:cNvPr>
          <p:cNvPicPr>
            <a:picLocks noChangeAspect="1"/>
          </p:cNvPicPr>
          <p:nvPr/>
        </p:nvPicPr>
        <p:blipFill>
          <a:blip r:embed="rId2"/>
          <a:srcRect l="0" r="0" t="0" b="0"/>
          <a:stretch/>
        </p:blipFill>
        <p:spPr>
          <a:xfrm>
            <a:off x="4889500" y="2716312"/>
            <a:ext cx="228600" cy="114300"/>
          </a:xfrm>
          <a:prstGeom prst="rect">
            <a:avLst/>
          </a:prstGeom>
        </p:spPr>
      </p:pic>
      <p:sp>
        <p:nvSpPr>
          <p:cNvPr id="16" name="Shape 12"/>
          <p:cNvSpPr/>
          <p:nvPr/>
        </p:nvSpPr>
        <p:spPr>
          <a:xfrm>
            <a:off x="5210175" y="2179836"/>
            <a:ext cx="1784350" cy="1187351"/>
          </a:xfrm>
          <a:prstGeom prst="roundRect">
            <a:avLst>
              <a:gd name="adj" fmla="val 8289"/>
            </a:avLst>
          </a:prstGeom>
          <a:solidFill>
            <a:srgbClr val="FBF1E6"/>
          </a:solidFill>
          <a:ln w="6350">
            <a:solidFill>
              <a:srgbClr val="E9B98C"/>
            </a:solidFill>
            <a:prstDash val="solid"/>
          </a:ln>
        </p:spPr>
      </p:sp>
      <p:sp>
        <p:nvSpPr>
          <p:cNvPr id="17" name="Text 13"/>
          <p:cNvSpPr/>
          <p:nvPr/>
        </p:nvSpPr>
        <p:spPr>
          <a:xfrm>
            <a:off x="5365750" y="2360811"/>
            <a:ext cx="1524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03</a:t>
            </a:r>
            <a:endParaRPr lang="en-US" sz="1200" dirty="0"/>
          </a:p>
        </p:txBody>
      </p:sp>
      <p:sp>
        <p:nvSpPr>
          <p:cNvPr id="18" name="Text 14"/>
          <p:cNvSpPr/>
          <p:nvPr/>
        </p:nvSpPr>
        <p:spPr>
          <a:xfrm>
            <a:off x="5365750" y="2650331"/>
            <a:ext cx="15240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In Progress</a:t>
            </a:r>
            <a:endParaRPr lang="en-US" sz="1500" dirty="0"/>
          </a:p>
        </p:txBody>
      </p:sp>
      <p:sp>
        <p:nvSpPr>
          <p:cNvPr id="19" name="Text 15"/>
          <p:cNvSpPr/>
          <p:nvPr/>
        </p:nvSpPr>
        <p:spPr>
          <a:xfrm>
            <a:off x="5365750" y="2955131"/>
            <a:ext cx="15240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рад</a:t>
            </a:r>
            <a:endParaRPr lang="en-US" sz="1300" dirty="0"/>
          </a:p>
        </p:txBody>
      </p:sp>
      <p:pic>
        <p:nvPicPr>
          <p:cNvPr id="20" name="Image 2" descr="arrow-right">    </p:cNvPr>
          <p:cNvPicPr>
            <a:picLocks noChangeAspect="1"/>
          </p:cNvPicPr>
          <p:nvPr/>
        </p:nvPicPr>
        <p:blipFill>
          <a:blip r:embed="rId3"/>
          <a:srcRect l="0" r="0" t="0" b="0"/>
          <a:stretch/>
        </p:blipFill>
        <p:spPr>
          <a:xfrm>
            <a:off x="7086600" y="2716312"/>
            <a:ext cx="228600" cy="114300"/>
          </a:xfrm>
          <a:prstGeom prst="rect">
            <a:avLst/>
          </a:prstGeom>
        </p:spPr>
      </p:pic>
      <p:sp>
        <p:nvSpPr>
          <p:cNvPr id="21" name="Shape 16"/>
          <p:cNvSpPr/>
          <p:nvPr/>
        </p:nvSpPr>
        <p:spPr>
          <a:xfrm>
            <a:off x="7407275" y="2179836"/>
            <a:ext cx="1784350" cy="1187351"/>
          </a:xfrm>
          <a:prstGeom prst="roundRect">
            <a:avLst>
              <a:gd name="adj" fmla="val 8289"/>
            </a:avLst>
          </a:prstGeom>
          <a:solidFill>
            <a:srgbClr val="FBF1E6"/>
          </a:solidFill>
          <a:ln w="6350">
            <a:solidFill>
              <a:srgbClr val="E9B98C"/>
            </a:solidFill>
            <a:prstDash val="solid"/>
          </a:ln>
        </p:spPr>
      </p:sp>
      <p:sp>
        <p:nvSpPr>
          <p:cNvPr id="22" name="Text 17"/>
          <p:cNvSpPr/>
          <p:nvPr/>
        </p:nvSpPr>
        <p:spPr>
          <a:xfrm>
            <a:off x="7562850" y="2360811"/>
            <a:ext cx="1524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04</a:t>
            </a:r>
            <a:endParaRPr lang="en-US" sz="1200" dirty="0"/>
          </a:p>
        </p:txBody>
      </p:sp>
      <p:sp>
        <p:nvSpPr>
          <p:cNvPr id="23" name="Text 18"/>
          <p:cNvSpPr/>
          <p:nvPr/>
        </p:nvSpPr>
        <p:spPr>
          <a:xfrm>
            <a:off x="7562850" y="2650331"/>
            <a:ext cx="15240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Code Review</a:t>
            </a:r>
            <a:endParaRPr lang="en-US" sz="1500" dirty="0"/>
          </a:p>
        </p:txBody>
      </p:sp>
      <p:sp>
        <p:nvSpPr>
          <p:cNvPr id="24" name="Text 19"/>
          <p:cNvSpPr/>
          <p:nvPr/>
        </p:nvSpPr>
        <p:spPr>
          <a:xfrm>
            <a:off x="7562850" y="2955131"/>
            <a:ext cx="15240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преглед</a:t>
            </a:r>
            <a:endParaRPr lang="en-US" sz="1300" dirty="0"/>
          </a:p>
        </p:txBody>
      </p:sp>
      <p:pic>
        <p:nvPicPr>
          <p:cNvPr id="25" name="Image 3" descr="arrow-right">    </p:cNvPr>
          <p:cNvPicPr>
            <a:picLocks noChangeAspect="1"/>
          </p:cNvPicPr>
          <p:nvPr/>
        </p:nvPicPr>
        <p:blipFill>
          <a:blip r:embed="rId4"/>
          <a:srcRect l="0" r="0" t="0" b="0"/>
          <a:stretch/>
        </p:blipFill>
        <p:spPr>
          <a:xfrm>
            <a:off x="9283700" y="2716312"/>
            <a:ext cx="228600" cy="114300"/>
          </a:xfrm>
          <a:prstGeom prst="rect">
            <a:avLst/>
          </a:prstGeom>
        </p:spPr>
      </p:pic>
      <p:sp>
        <p:nvSpPr>
          <p:cNvPr id="26" name="Shape 20"/>
          <p:cNvSpPr/>
          <p:nvPr/>
        </p:nvSpPr>
        <p:spPr>
          <a:xfrm>
            <a:off x="9601200" y="2176661"/>
            <a:ext cx="1778000" cy="1193701"/>
          </a:xfrm>
          <a:prstGeom prst="roundRect">
            <a:avLst>
              <a:gd name="adj" fmla="val 8511"/>
            </a:avLst>
          </a:prstGeom>
          <a:solidFill>
            <a:srgbClr val="0E6E68"/>
          </a:solidFill>
          <a:ln/>
        </p:spPr>
      </p:sp>
      <p:sp>
        <p:nvSpPr>
          <p:cNvPr id="27" name="Text 21"/>
          <p:cNvSpPr/>
          <p:nvPr/>
        </p:nvSpPr>
        <p:spPr>
          <a:xfrm>
            <a:off x="9753600" y="2354461"/>
            <a:ext cx="1524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DEBEA"/>
                </a:solidFill>
                <a:latin typeface="IBM Plex Mono" pitchFamily="49" charset="0"/>
                <a:ea typeface="IBM Plex Mono" pitchFamily="49" charset="-122"/>
                <a:cs typeface="IBM Plex Mono" pitchFamily="49" charset="-120"/>
              </a:rPr>
              <a:t>05</a:t>
            </a:r>
            <a:endParaRPr lang="en-US" sz="1200" dirty="0"/>
          </a:p>
        </p:txBody>
      </p:sp>
      <p:sp>
        <p:nvSpPr>
          <p:cNvPr id="28" name="Text 22"/>
          <p:cNvSpPr/>
          <p:nvPr/>
        </p:nvSpPr>
        <p:spPr>
          <a:xfrm>
            <a:off x="9753600" y="2643981"/>
            <a:ext cx="15240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CFCFB"/>
                </a:solidFill>
                <a:latin typeface="IBM Plex Mono" pitchFamily="49" charset="0"/>
                <a:ea typeface="IBM Plex Mono" pitchFamily="49" charset="-122"/>
                <a:cs typeface="IBM Plex Mono" pitchFamily="49" charset="-120"/>
              </a:rPr>
              <a:t>Done</a:t>
            </a:r>
            <a:endParaRPr lang="en-US" sz="1500" dirty="0"/>
          </a:p>
        </p:txBody>
      </p:sp>
      <p:sp>
        <p:nvSpPr>
          <p:cNvPr id="29" name="Text 23"/>
          <p:cNvSpPr/>
          <p:nvPr/>
        </p:nvSpPr>
        <p:spPr>
          <a:xfrm>
            <a:off x="9753600" y="2948781"/>
            <a:ext cx="15240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DEBEA"/>
                </a:solidFill>
                <a:latin typeface="IBM Plex Sans" pitchFamily="34" charset="0"/>
                <a:ea typeface="IBM Plex Sans" pitchFamily="34" charset="-122"/>
                <a:cs typeface="IBM Plex Sans" pitchFamily="34" charset="-120"/>
              </a:rPr>
              <a:t>прихваћено</a:t>
            </a:r>
            <a:endParaRPr lang="en-US" sz="1300" dirty="0"/>
          </a:p>
        </p:txBody>
      </p:sp>
      <p:sp>
        <p:nvSpPr>
          <p:cNvPr id="30" name="Text 24"/>
          <p:cNvSpPr/>
          <p:nvPr/>
        </p:nvSpPr>
        <p:spPr>
          <a:xfrm>
            <a:off x="812800" y="3624362"/>
            <a:ext cx="4089400" cy="604441"/>
          </a:xfrm>
          <a:prstGeom prst="roundRect">
            <a:avLst>
              <a:gd name="adj" fmla="val 12607"/>
            </a:avLst>
          </a:prstGeom>
          <a:solidFill>
            <a:srgbClr val="E2EBE9"/>
          </a:solidFill>
          <a:ln/>
        </p:spPr>
        <p:txBody>
          <a:bodyPr wrap="square" lIns="117382" tIns="66582" rIns="3082" bIns="41182"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Backlog и Ready: ставка чека, Ready значи да испуњава Definition of Ready</a:t>
            </a:r>
            <a:endParaRPr lang="en-US" sz="1200" dirty="0"/>
          </a:p>
        </p:txBody>
      </p:sp>
      <p:sp>
        <p:nvSpPr>
          <p:cNvPr id="31" name="Text 25"/>
          <p:cNvSpPr/>
          <p:nvPr/>
        </p:nvSpPr>
        <p:spPr>
          <a:xfrm>
            <a:off x="5003800" y="3624362"/>
            <a:ext cx="4089400" cy="604441"/>
          </a:xfrm>
          <a:prstGeom prst="roundRect">
            <a:avLst>
              <a:gd name="adj" fmla="val 12607"/>
            </a:avLst>
          </a:prstGeom>
          <a:solidFill>
            <a:srgbClr val="FBF1E6"/>
          </a:solidFill>
          <a:ln/>
        </p:spPr>
        <p:txBody>
          <a:bodyPr wrap="square" lIns="117382" tIns="66582" rIns="3082" bIns="41182"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In Progress и Code Review: рад је у току на feature грани</a:t>
            </a:r>
            <a:endParaRPr lang="en-US" sz="1200" dirty="0"/>
          </a:p>
        </p:txBody>
      </p:sp>
      <p:sp>
        <p:nvSpPr>
          <p:cNvPr id="32" name="Text 26"/>
          <p:cNvSpPr/>
          <p:nvPr/>
        </p:nvSpPr>
        <p:spPr>
          <a:xfrm>
            <a:off x="9194800" y="3624362"/>
            <a:ext cx="2184400" cy="604441"/>
          </a:xfrm>
          <a:prstGeom prst="roundRect">
            <a:avLst>
              <a:gd name="adj" fmla="val 12607"/>
            </a:avLst>
          </a:prstGeom>
          <a:solidFill>
            <a:srgbClr val="0E6E68"/>
          </a:solidFill>
          <a:ln/>
        </p:spPr>
        <p:txBody>
          <a:bodyPr wrap="square" lIns="117382" tIns="66582" rIns="60232" bIns="41182" rtlCol="0" anchor="t">
            <a:normAutofit/>
          </a:bodyPr>
          <a:lstStyle/>
          <a:p>
            <a:pPr algn="l" indent="0" marL="0">
              <a:lnSpc>
                <a:spcPts val="1680"/>
              </a:lnSpc>
              <a:buNone/>
            </a:pPr>
            <a:r>
              <a:rPr lang="en-US" sz="1200" dirty="0">
                <a:solidFill>
                  <a:srgbClr val="FCFCFB"/>
                </a:solidFill>
                <a:latin typeface="IBM Plex Sans" pitchFamily="34" charset="0"/>
                <a:ea typeface="IBM Plex Sans" pitchFamily="34" charset="-122"/>
                <a:cs typeface="IBM Plex Sans" pitchFamily="34" charset="-120"/>
              </a:rPr>
              <a:t>Done: Definition of Done</a:t>
            </a:r>
            <a:endParaRPr lang="en-US" sz="1200" dirty="0"/>
          </a:p>
        </p:txBody>
      </p:sp>
      <p:sp>
        <p:nvSpPr>
          <p:cNvPr id="33" name="Shape 27"/>
          <p:cNvSpPr/>
          <p:nvPr/>
        </p:nvSpPr>
        <p:spPr>
          <a:xfrm>
            <a:off x="812800" y="4482802"/>
            <a:ext cx="10566400" cy="758130"/>
          </a:xfrm>
          <a:prstGeom prst="roundRect">
            <a:avLst>
              <a:gd name="adj" fmla="val 13401"/>
            </a:avLst>
          </a:prstGeom>
          <a:solidFill>
            <a:srgbClr val="E2EBE9"/>
          </a:solidFill>
          <a:ln/>
        </p:spPr>
      </p:sp>
      <p:sp>
        <p:nvSpPr>
          <p:cNvPr id="34" name="Shape 28"/>
          <p:cNvSpPr/>
          <p:nvPr/>
        </p:nvSpPr>
        <p:spPr>
          <a:xfrm>
            <a:off x="812800" y="4482802"/>
            <a:ext cx="10566400" cy="758130"/>
          </a:xfrm>
          <a:custGeom>
            <a:avLst/>
            <a:gdLst/>
            <a:ahLst/>
            <a:cxnLst/>
            <a:rect l="l" t="t" r="r" b="b"/>
            <a:pathLst>
              <a:path w="10566400" h="758130">
                <a:moveTo>
                  <a:pt x="101600" y="758130"/>
                </a:moveTo>
                <a:lnTo>
                  <a:pt x="101600" y="758130"/>
                </a:lnTo>
                <a:arcTo hR="101600" wR="101600" stAng="5400000" swAng="5400000"/>
                <a:lnTo>
                  <a:pt x="0" y="101600"/>
                </a:lnTo>
                <a:arcTo hR="101600" wR="101600" stAng="10800000" swAng="5400000"/>
                <a:lnTo>
                  <a:pt x="101600" y="0"/>
                </a:lnTo>
                <a:arcTo hR="101600" wR="63500" stAng="16200000" swAng="-5400000"/>
                <a:lnTo>
                  <a:pt x="38100" y="656530"/>
                </a:lnTo>
                <a:arcTo hR="101600" wR="63500" stAng="10800000" swAng="-5400000"/>
                <a:close/>
              </a:path>
            </a:pathLst>
          </a:custGeom>
          <a:solidFill>
            <a:srgbClr val="0E6E68"/>
          </a:solidFill>
          <a:ln/>
        </p:spPr>
      </p:sp>
      <p:sp>
        <p:nvSpPr>
          <p:cNvPr id="35" name="Text 29"/>
          <p:cNvSpPr/>
          <p:nvPr/>
        </p:nvSpPr>
        <p:spPr>
          <a:xfrm>
            <a:off x="1054100" y="462250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E68"/>
                </a:solidFill>
                <a:latin typeface="IBM Plex Mono" pitchFamily="49" charset="0"/>
                <a:ea typeface="IBM Plex Mono" pitchFamily="49" charset="-122"/>
                <a:cs typeface="IBM Plex Mono" pitchFamily="49" charset="-120"/>
              </a:rPr>
              <a:t>НАПОМЕНА</a:t>
            </a:r>
            <a:endParaRPr lang="en-US" sz="1200" dirty="0"/>
          </a:p>
        </p:txBody>
      </p:sp>
      <p:sp>
        <p:nvSpPr>
          <p:cNvPr id="36" name="Text 30"/>
          <p:cNvSpPr/>
          <p:nvPr/>
        </p:nvSpPr>
        <p:spPr>
          <a:xfrm>
            <a:off x="1054100" y="486122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Статус Done захтева испуњене критеријуме, успешно извршене провере и интегрисану промену.</a:t>
            </a:r>
            <a:endParaRPr lang="en-US" sz="1400" dirty="0"/>
          </a:p>
        </p:txBody>
      </p:sp>
      <p:sp>
        <p:nvSpPr>
          <p:cNvPr id="37" name="Shape 31"/>
          <p:cNvSpPr/>
          <p:nvPr/>
        </p:nvSpPr>
        <p:spPr>
          <a:xfrm>
            <a:off x="812800" y="6209705"/>
            <a:ext cx="10566400" cy="0"/>
          </a:xfrm>
          <a:prstGeom prst="line">
            <a:avLst/>
          </a:prstGeom>
          <a:noFill/>
          <a:ln w="6350">
            <a:solidFill>
              <a:srgbClr val="D3DAE1"/>
            </a:solidFill>
            <a:prstDash val="solid"/>
          </a:ln>
        </p:spPr>
      </p:sp>
      <p:sp>
        <p:nvSpPr>
          <p:cNvPr id="38" name="Text 3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9" name="Text 3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03 · BACKLOG И ТАБЛА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Tapiz Boards као договор о процесу</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Табла приказује ток рада од идеје до прихваћене промене.</a:t>
            </a:r>
            <a:endParaRPr lang="en-US" sz="1400" dirty="0"/>
          </a:p>
        </p:txBody>
      </p:sp>
      <p:sp>
        <p:nvSpPr>
          <p:cNvPr id="6" name="Shape 4"/>
          <p:cNvSpPr/>
          <p:nvPr/>
        </p:nvSpPr>
        <p:spPr>
          <a:xfrm>
            <a:off x="815975" y="2078236"/>
            <a:ext cx="6724650" cy="2403673"/>
          </a:xfrm>
          <a:prstGeom prst="roundRect">
            <a:avLst>
              <a:gd name="adj" fmla="val 4095"/>
            </a:avLst>
          </a:prstGeom>
          <a:solidFill>
            <a:srgbClr val="E2EBE9"/>
          </a:solidFill>
          <a:ln w="6350">
            <a:solidFill>
              <a:srgbClr val="D3DAE1"/>
            </a:solidFill>
            <a:prstDash val="solid"/>
          </a:ln>
        </p:spPr>
      </p:sp>
      <p:sp>
        <p:nvSpPr>
          <p:cNvPr id="7" name="Shape 5"/>
          <p:cNvSpPr/>
          <p:nvPr/>
        </p:nvSpPr>
        <p:spPr>
          <a:xfrm>
            <a:off x="946150" y="2270621"/>
            <a:ext cx="88900" cy="88900"/>
          </a:xfrm>
          <a:prstGeom prst="roundRect">
            <a:avLst>
              <a:gd name="adj" fmla="val 50000"/>
            </a:avLst>
          </a:prstGeom>
          <a:solidFill>
            <a:srgbClr val="A9B6C3"/>
          </a:solidFill>
          <a:ln/>
        </p:spPr>
      </p:sp>
      <p:sp>
        <p:nvSpPr>
          <p:cNvPr id="8" name="Shape 6"/>
          <p:cNvSpPr/>
          <p:nvPr/>
        </p:nvSpPr>
        <p:spPr>
          <a:xfrm>
            <a:off x="1098550" y="2270621"/>
            <a:ext cx="88900" cy="88900"/>
          </a:xfrm>
          <a:prstGeom prst="roundRect">
            <a:avLst>
              <a:gd name="adj" fmla="val 50000"/>
            </a:avLst>
          </a:prstGeom>
          <a:solidFill>
            <a:srgbClr val="A9B6C3"/>
          </a:solidFill>
          <a:ln/>
        </p:spPr>
      </p:sp>
      <p:sp>
        <p:nvSpPr>
          <p:cNvPr id="9" name="Shape 7"/>
          <p:cNvSpPr/>
          <p:nvPr/>
        </p:nvSpPr>
        <p:spPr>
          <a:xfrm>
            <a:off x="1250950" y="2270621"/>
            <a:ext cx="88900" cy="88900"/>
          </a:xfrm>
          <a:prstGeom prst="roundRect">
            <a:avLst>
              <a:gd name="adj" fmla="val 50000"/>
            </a:avLst>
          </a:prstGeom>
          <a:solidFill>
            <a:srgbClr val="A9B6C3"/>
          </a:solidFill>
          <a:ln/>
        </p:spPr>
      </p:sp>
      <p:sp>
        <p:nvSpPr>
          <p:cNvPr id="10" name="Text 8"/>
          <p:cNvSpPr/>
          <p:nvPr/>
        </p:nvSpPr>
        <p:spPr>
          <a:xfrm>
            <a:off x="1479550" y="2208411"/>
            <a:ext cx="25237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Tapiz Boards · Sprint 1</a:t>
            </a:r>
            <a:endParaRPr lang="en-US" sz="1200" dirty="0"/>
          </a:p>
        </p:txBody>
      </p:sp>
      <p:sp>
        <p:nvSpPr>
          <p:cNvPr id="11" name="Shape 9"/>
          <p:cNvSpPr/>
          <p:nvPr/>
        </p:nvSpPr>
        <p:spPr>
          <a:xfrm>
            <a:off x="946150" y="2510631"/>
            <a:ext cx="1558925" cy="1841103"/>
          </a:xfrm>
          <a:prstGeom prst="roundRect">
            <a:avLst>
              <a:gd name="adj" fmla="val 4888"/>
            </a:avLst>
          </a:prstGeom>
          <a:solidFill>
            <a:srgbClr val="F6F7F5"/>
          </a:solidFill>
          <a:ln/>
        </p:spPr>
      </p:sp>
      <p:sp>
        <p:nvSpPr>
          <p:cNvPr id="12" name="Text 10"/>
          <p:cNvSpPr/>
          <p:nvPr/>
        </p:nvSpPr>
        <p:spPr>
          <a:xfrm>
            <a:off x="1035050" y="2599531"/>
            <a:ext cx="14319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975"/>
                </a:solidFill>
                <a:latin typeface="IBM Plex Mono" pitchFamily="49" charset="0"/>
                <a:ea typeface="IBM Plex Mono" pitchFamily="49" charset="-122"/>
                <a:cs typeface="IBM Plex Mono" pitchFamily="49" charset="-120"/>
              </a:rPr>
              <a:t>Ready</a:t>
            </a:r>
            <a:endParaRPr lang="en-US" sz="1200" dirty="0"/>
          </a:p>
        </p:txBody>
      </p:sp>
      <p:sp>
        <p:nvSpPr>
          <p:cNvPr id="13" name="Shape 11"/>
          <p:cNvSpPr/>
          <p:nvPr/>
        </p:nvSpPr>
        <p:spPr>
          <a:xfrm>
            <a:off x="1038225" y="2879527"/>
            <a:ext cx="1374775" cy="780852"/>
          </a:xfrm>
          <a:prstGeom prst="roundRect">
            <a:avLst>
              <a:gd name="adj" fmla="val 6099"/>
            </a:avLst>
          </a:prstGeom>
          <a:solidFill>
            <a:srgbClr val="FCFCFB"/>
          </a:solidFill>
          <a:ln w="6350">
            <a:solidFill>
              <a:srgbClr val="D3DAE1"/>
            </a:solidFill>
            <a:prstDash val="solid"/>
          </a:ln>
        </p:spPr>
      </p:sp>
      <p:sp>
        <p:nvSpPr>
          <p:cNvPr id="14" name="Text 12"/>
          <p:cNvSpPr/>
          <p:nvPr/>
        </p:nvSpPr>
        <p:spPr>
          <a:xfrm>
            <a:off x="1117600" y="2946202"/>
            <a:ext cx="1266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US-05</a:t>
            </a:r>
            <a:endParaRPr lang="en-US" sz="1200" dirty="0"/>
          </a:p>
        </p:txBody>
      </p:sp>
      <p:sp>
        <p:nvSpPr>
          <p:cNvPr id="15" name="Text 13"/>
          <p:cNvSpPr/>
          <p:nvPr/>
        </p:nvSpPr>
        <p:spPr>
          <a:xfrm>
            <a:off x="1117600" y="3197622"/>
            <a:ext cx="1266825"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Sans" pitchFamily="34" charset="0"/>
                <a:ea typeface="IBM Plex Sans" pitchFamily="34" charset="-122"/>
                <a:cs typeface="IBM Plex Sans" pitchFamily="34" charset="-120"/>
              </a:rPr>
              <a:t>Резервација опреме</a:t>
            </a:r>
            <a:endParaRPr lang="en-US" sz="1200" dirty="0"/>
          </a:p>
        </p:txBody>
      </p:sp>
      <p:sp>
        <p:nvSpPr>
          <p:cNvPr id="16" name="Text 14"/>
          <p:cNvSpPr/>
          <p:nvPr/>
        </p:nvSpPr>
        <p:spPr>
          <a:xfrm>
            <a:off x="1038225" y="3730228"/>
            <a:ext cx="1374775" cy="529431"/>
          </a:xfrm>
          <a:prstGeom prst="roundRect">
            <a:avLst>
              <a:gd name="adj" fmla="val 8996"/>
            </a:avLst>
          </a:prstGeom>
          <a:solidFill>
            <a:srgbClr val="FCFCFB"/>
          </a:solidFill>
          <a:ln w="6350">
            <a:solidFill>
              <a:srgbClr val="D3DAE1"/>
            </a:solidFill>
            <a:prstDash val="solid"/>
          </a:ln>
        </p:spPr>
        <p:txBody>
          <a:bodyPr wrap="square" lIns="65426" tIns="52726" rIns="14626" bIns="27326" rtlCol="0" anchor="t">
            <a:normAutofit/>
          </a:bodyPr>
          <a:lstStyle/>
          <a:p>
            <a:pPr algn="l" indent="0" marL="0">
              <a:lnSpc>
                <a:spcPts val="1560"/>
              </a:lnSpc>
              <a:buNone/>
            </a:pPr>
            <a:r>
              <a:rPr lang="en-US" sz="1200" dirty="0">
                <a:solidFill>
                  <a:srgbClr val="13202D"/>
                </a:solidFill>
                <a:latin typeface="IBM Plex Sans" pitchFamily="34" charset="0"/>
                <a:ea typeface="IBM Plex Sans" pitchFamily="34" charset="-122"/>
                <a:cs typeface="IBM Plex Sans" pitchFamily="34" charset="-120"/>
              </a:rPr>
              <a:t>Валидација термина</a:t>
            </a:r>
            <a:endParaRPr lang="en-US" sz="1200" dirty="0"/>
          </a:p>
        </p:txBody>
      </p:sp>
      <p:sp>
        <p:nvSpPr>
          <p:cNvPr id="17" name="Shape 15"/>
          <p:cNvSpPr/>
          <p:nvPr/>
        </p:nvSpPr>
        <p:spPr>
          <a:xfrm>
            <a:off x="2581275" y="2510631"/>
            <a:ext cx="1558925" cy="1841103"/>
          </a:xfrm>
          <a:prstGeom prst="roundRect">
            <a:avLst>
              <a:gd name="adj" fmla="val 4888"/>
            </a:avLst>
          </a:prstGeom>
          <a:solidFill>
            <a:srgbClr val="F6F7F5"/>
          </a:solidFill>
          <a:ln/>
        </p:spPr>
      </p:sp>
      <p:sp>
        <p:nvSpPr>
          <p:cNvPr id="18" name="Text 16"/>
          <p:cNvSpPr/>
          <p:nvPr/>
        </p:nvSpPr>
        <p:spPr>
          <a:xfrm>
            <a:off x="2670175" y="2599531"/>
            <a:ext cx="14319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In Progress</a:t>
            </a:r>
            <a:endParaRPr lang="en-US" sz="1200" dirty="0"/>
          </a:p>
        </p:txBody>
      </p:sp>
      <p:sp>
        <p:nvSpPr>
          <p:cNvPr id="19" name="Text 17"/>
          <p:cNvSpPr/>
          <p:nvPr/>
        </p:nvSpPr>
        <p:spPr>
          <a:xfrm>
            <a:off x="2673350" y="2879527"/>
            <a:ext cx="1374775" cy="529431"/>
          </a:xfrm>
          <a:prstGeom prst="roundRect">
            <a:avLst>
              <a:gd name="adj" fmla="val 8996"/>
            </a:avLst>
          </a:prstGeom>
          <a:solidFill>
            <a:srgbClr val="FCFCFB"/>
          </a:solidFill>
          <a:ln w="6350">
            <a:solidFill>
              <a:srgbClr val="D3DAE1"/>
            </a:solidFill>
            <a:prstDash val="solid"/>
          </a:ln>
        </p:spPr>
        <p:txBody>
          <a:bodyPr wrap="square" lIns="65426" tIns="52726" rIns="14626" bIns="27326" rtlCol="0" anchor="t">
            <a:normAutofit/>
          </a:bodyPr>
          <a:lstStyle/>
          <a:p>
            <a:pPr algn="l" indent="0" marL="0">
              <a:lnSpc>
                <a:spcPts val="1560"/>
              </a:lnSpc>
              <a:buNone/>
            </a:pPr>
            <a:r>
              <a:rPr lang="en-US" sz="1200" dirty="0">
                <a:solidFill>
                  <a:srgbClr val="13202D"/>
                </a:solidFill>
                <a:latin typeface="IBM Plex Sans" pitchFamily="34" charset="0"/>
                <a:ea typeface="IBM Plex Sans" pitchFamily="34" charset="-122"/>
                <a:cs typeface="IBM Plex Sans" pitchFamily="34" charset="-120"/>
              </a:rPr>
              <a:t>Спречити преклапање</a:t>
            </a:r>
            <a:endParaRPr lang="en-US" sz="1200" dirty="0"/>
          </a:p>
        </p:txBody>
      </p:sp>
      <p:sp>
        <p:nvSpPr>
          <p:cNvPr id="20" name="Text 18"/>
          <p:cNvSpPr/>
          <p:nvPr/>
        </p:nvSpPr>
        <p:spPr>
          <a:xfrm>
            <a:off x="2673350" y="3478808"/>
            <a:ext cx="1374775" cy="331391"/>
          </a:xfrm>
          <a:prstGeom prst="roundRect">
            <a:avLst>
              <a:gd name="adj" fmla="val 14371"/>
            </a:avLst>
          </a:prstGeom>
          <a:solidFill>
            <a:srgbClr val="FCFCFB"/>
          </a:solidFill>
          <a:ln w="6350">
            <a:solidFill>
              <a:srgbClr val="D3DAE1"/>
            </a:solidFill>
            <a:prstDash val="solid"/>
          </a:ln>
        </p:spPr>
        <p:txBody>
          <a:bodyPr wrap="square" lIns="65426" tIns="52726" rIns="14626" bIns="27326" rtlCol="0" anchor="t">
            <a:normAutofit/>
          </a:bodyPr>
          <a:lstStyle/>
          <a:p>
            <a:pPr algn="l" indent="0" marL="0">
              <a:lnSpc>
                <a:spcPts val="1560"/>
              </a:lnSpc>
              <a:buNone/>
            </a:pPr>
            <a:r>
              <a:rPr lang="en-US" sz="1200" dirty="0">
                <a:solidFill>
                  <a:srgbClr val="13202D"/>
                </a:solidFill>
                <a:latin typeface="IBM Plex Sans" pitchFamily="34" charset="0"/>
                <a:ea typeface="IBM Plex Sans" pitchFamily="34" charset="-122"/>
                <a:cs typeface="IBM Plex Sans" pitchFamily="34" charset="-120"/>
              </a:rPr>
              <a:t>Unit тестови</a:t>
            </a:r>
            <a:endParaRPr lang="en-US" sz="1200" dirty="0"/>
          </a:p>
        </p:txBody>
      </p:sp>
      <p:sp>
        <p:nvSpPr>
          <p:cNvPr id="21" name="Shape 19"/>
          <p:cNvSpPr/>
          <p:nvPr/>
        </p:nvSpPr>
        <p:spPr>
          <a:xfrm>
            <a:off x="4216400" y="2510631"/>
            <a:ext cx="1558925" cy="1841103"/>
          </a:xfrm>
          <a:prstGeom prst="roundRect">
            <a:avLst>
              <a:gd name="adj" fmla="val 4888"/>
            </a:avLst>
          </a:prstGeom>
          <a:solidFill>
            <a:srgbClr val="F6F7F5"/>
          </a:solidFill>
          <a:ln/>
        </p:spPr>
      </p:sp>
      <p:sp>
        <p:nvSpPr>
          <p:cNvPr id="22" name="Text 20"/>
          <p:cNvSpPr/>
          <p:nvPr/>
        </p:nvSpPr>
        <p:spPr>
          <a:xfrm>
            <a:off x="4305300" y="2599531"/>
            <a:ext cx="14319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Code Review</a:t>
            </a:r>
            <a:endParaRPr lang="en-US" sz="1200" dirty="0"/>
          </a:p>
        </p:txBody>
      </p:sp>
      <p:sp>
        <p:nvSpPr>
          <p:cNvPr id="23" name="Shape 21"/>
          <p:cNvSpPr/>
          <p:nvPr/>
        </p:nvSpPr>
        <p:spPr>
          <a:xfrm>
            <a:off x="4308475" y="2879527"/>
            <a:ext cx="1374775" cy="1057672"/>
          </a:xfrm>
          <a:prstGeom prst="roundRect">
            <a:avLst>
              <a:gd name="adj" fmla="val 4503"/>
            </a:avLst>
          </a:prstGeom>
          <a:solidFill>
            <a:srgbClr val="FCFCFB"/>
          </a:solidFill>
          <a:ln w="6350">
            <a:solidFill>
              <a:srgbClr val="D3DAE1"/>
            </a:solidFill>
            <a:prstDash val="solid"/>
          </a:ln>
        </p:spPr>
      </p:sp>
      <p:sp>
        <p:nvSpPr>
          <p:cNvPr id="24" name="Text 22"/>
          <p:cNvSpPr/>
          <p:nvPr/>
        </p:nvSpPr>
        <p:spPr>
          <a:xfrm>
            <a:off x="4387850" y="2946202"/>
            <a:ext cx="1266825"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Sans" pitchFamily="34" charset="0"/>
                <a:ea typeface="IBM Plex Sans" pitchFamily="34" charset="-122"/>
                <a:cs typeface="IBM Plex Sans" pitchFamily="34" charset="-120"/>
              </a:rPr>
              <a:t>Repository уговор</a:t>
            </a:r>
            <a:endParaRPr lang="en-US" sz="1200" dirty="0"/>
          </a:p>
        </p:txBody>
      </p:sp>
      <p:pic>
        <p:nvPicPr>
          <p:cNvPr id="25" name="Image 0" descr="CheckCircle">    </p:cNvPr>
          <p:cNvPicPr>
            <a:picLocks noChangeAspect="1"/>
          </p:cNvPicPr>
          <p:nvPr/>
        </p:nvPicPr>
        <p:blipFill>
          <a:blip r:embed="rId1"/>
          <a:srcRect l="0" r="0" t="0" b="0"/>
          <a:stretch/>
        </p:blipFill>
        <p:spPr>
          <a:xfrm>
            <a:off x="4387850" y="3423543"/>
            <a:ext cx="152400" cy="152400"/>
          </a:xfrm>
          <a:prstGeom prst="rect">
            <a:avLst/>
          </a:prstGeom>
        </p:spPr>
      </p:pic>
      <p:sp>
        <p:nvSpPr>
          <p:cNvPr id="26" name="Text 23"/>
          <p:cNvSpPr/>
          <p:nvPr/>
        </p:nvSpPr>
        <p:spPr>
          <a:xfrm>
            <a:off x="4578350" y="3393083"/>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build</a:t>
            </a:r>
            <a:endParaRPr lang="en-US" sz="1200" dirty="0"/>
          </a:p>
        </p:txBody>
      </p:sp>
      <p:pic>
        <p:nvPicPr>
          <p:cNvPr id="27" name="Image 1" descr="CheckCircle">    </p:cNvPr>
          <p:cNvPicPr>
            <a:picLocks noChangeAspect="1"/>
          </p:cNvPicPr>
          <p:nvPr/>
        </p:nvPicPr>
        <p:blipFill>
          <a:blip r:embed="rId2"/>
          <a:srcRect l="0" r="0" t="0" b="0"/>
          <a:stretch/>
        </p:blipFill>
        <p:spPr>
          <a:xfrm>
            <a:off x="4387850" y="3687663"/>
            <a:ext cx="152400" cy="152400"/>
          </a:xfrm>
          <a:prstGeom prst="rect">
            <a:avLst/>
          </a:prstGeom>
        </p:spPr>
      </p:pic>
      <p:sp>
        <p:nvSpPr>
          <p:cNvPr id="28" name="Text 24"/>
          <p:cNvSpPr/>
          <p:nvPr/>
        </p:nvSpPr>
        <p:spPr>
          <a:xfrm>
            <a:off x="4578350" y="3657203"/>
            <a:ext cx="7681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тестови</a:t>
            </a:r>
            <a:endParaRPr lang="en-US" sz="1200" dirty="0"/>
          </a:p>
        </p:txBody>
      </p:sp>
      <p:sp>
        <p:nvSpPr>
          <p:cNvPr id="29" name="Shape 25"/>
          <p:cNvSpPr/>
          <p:nvPr/>
        </p:nvSpPr>
        <p:spPr>
          <a:xfrm>
            <a:off x="5851525" y="2510631"/>
            <a:ext cx="1558925" cy="1841103"/>
          </a:xfrm>
          <a:prstGeom prst="roundRect">
            <a:avLst>
              <a:gd name="adj" fmla="val 4888"/>
            </a:avLst>
          </a:prstGeom>
          <a:solidFill>
            <a:srgbClr val="F6F7F5"/>
          </a:solidFill>
          <a:ln/>
        </p:spPr>
      </p:sp>
      <p:sp>
        <p:nvSpPr>
          <p:cNvPr id="30" name="Text 26"/>
          <p:cNvSpPr/>
          <p:nvPr/>
        </p:nvSpPr>
        <p:spPr>
          <a:xfrm>
            <a:off x="5940425" y="2599531"/>
            <a:ext cx="14319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Done</a:t>
            </a:r>
            <a:endParaRPr lang="en-US" sz="1200" dirty="0"/>
          </a:p>
        </p:txBody>
      </p:sp>
      <p:sp>
        <p:nvSpPr>
          <p:cNvPr id="31" name="Text 27"/>
          <p:cNvSpPr/>
          <p:nvPr/>
        </p:nvSpPr>
        <p:spPr>
          <a:xfrm>
            <a:off x="5943600" y="2879527"/>
            <a:ext cx="1374775" cy="331391"/>
          </a:xfrm>
          <a:prstGeom prst="roundRect">
            <a:avLst>
              <a:gd name="adj" fmla="val 14371"/>
            </a:avLst>
          </a:prstGeom>
          <a:solidFill>
            <a:srgbClr val="FCFCFB"/>
          </a:solidFill>
          <a:ln w="6350">
            <a:solidFill>
              <a:srgbClr val="D3DAE1"/>
            </a:solidFill>
            <a:prstDash val="solid"/>
          </a:ln>
        </p:spPr>
        <p:txBody>
          <a:bodyPr wrap="square" lIns="65426" tIns="52726" rIns="14626" bIns="27326" rtlCol="0" anchor="t">
            <a:normAutofit/>
          </a:bodyPr>
          <a:lstStyle/>
          <a:p>
            <a:pPr algn="l" indent="0" marL="0">
              <a:lnSpc>
                <a:spcPts val="1560"/>
              </a:lnSpc>
              <a:buNone/>
            </a:pPr>
            <a:r>
              <a:rPr lang="en-US" sz="1200" dirty="0">
                <a:solidFill>
                  <a:srgbClr val="13202D"/>
                </a:solidFill>
                <a:latin typeface="IBM Plex Sans" pitchFamily="34" charset="0"/>
                <a:ea typeface="IBM Plex Sans" pitchFamily="34" charset="-122"/>
                <a:cs typeface="IBM Plex Sans" pitchFamily="34" charset="-120"/>
              </a:rPr>
              <a:t>Domain модел</a:t>
            </a:r>
            <a:endParaRPr lang="en-US" sz="1200" dirty="0"/>
          </a:p>
        </p:txBody>
      </p:sp>
      <p:sp>
        <p:nvSpPr>
          <p:cNvPr id="32" name="Text 28"/>
          <p:cNvSpPr/>
          <p:nvPr/>
        </p:nvSpPr>
        <p:spPr>
          <a:xfrm>
            <a:off x="5943600" y="3280767"/>
            <a:ext cx="1374775" cy="331391"/>
          </a:xfrm>
          <a:prstGeom prst="roundRect">
            <a:avLst>
              <a:gd name="adj" fmla="val 14371"/>
            </a:avLst>
          </a:prstGeom>
          <a:solidFill>
            <a:srgbClr val="FCFCFB"/>
          </a:solidFill>
          <a:ln w="6350">
            <a:solidFill>
              <a:srgbClr val="D3DAE1"/>
            </a:solidFill>
            <a:prstDash val="solid"/>
          </a:ln>
        </p:spPr>
        <p:txBody>
          <a:bodyPr wrap="square" lIns="65426" tIns="52726" rIns="14626" bIns="27326" rtlCol="0" anchor="t">
            <a:normAutofit/>
          </a:bodyPr>
          <a:lstStyle/>
          <a:p>
            <a:pPr algn="l" indent="0" marL="0">
              <a:lnSpc>
                <a:spcPts val="1560"/>
              </a:lnSpc>
              <a:buNone/>
            </a:pPr>
            <a:r>
              <a:rPr lang="en-US" sz="1200" dirty="0">
                <a:solidFill>
                  <a:srgbClr val="13202D"/>
                </a:solidFill>
                <a:latin typeface="IBM Plex Sans" pitchFamily="34" charset="0"/>
                <a:ea typeface="IBM Plex Sans" pitchFamily="34" charset="-122"/>
                <a:cs typeface="IBM Plex Sans" pitchFamily="34" charset="-120"/>
              </a:rPr>
              <a:t>README допуна</a:t>
            </a:r>
            <a:endParaRPr lang="en-US" sz="1200" dirty="0"/>
          </a:p>
        </p:txBody>
      </p:sp>
      <p:sp>
        <p:nvSpPr>
          <p:cNvPr id="33" name="Text 29"/>
          <p:cNvSpPr/>
          <p:nvPr/>
        </p:nvSpPr>
        <p:spPr>
          <a:xfrm>
            <a:off x="7823200" y="2075061"/>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КАКО СЕ ЧИТА ТАБЛА</a:t>
            </a:r>
            <a:endParaRPr lang="en-US" sz="1200" dirty="0"/>
          </a:p>
        </p:txBody>
      </p:sp>
      <p:sp>
        <p:nvSpPr>
          <p:cNvPr id="34" name="Shape 30"/>
          <p:cNvSpPr/>
          <p:nvPr/>
        </p:nvSpPr>
        <p:spPr>
          <a:xfrm>
            <a:off x="7835900" y="2377281"/>
            <a:ext cx="0" cy="452041"/>
          </a:xfrm>
          <a:prstGeom prst="line">
            <a:avLst/>
          </a:prstGeom>
          <a:noFill/>
          <a:ln w="25400">
            <a:solidFill>
              <a:srgbClr val="0E6E68"/>
            </a:solidFill>
            <a:prstDash val="solid"/>
          </a:ln>
        </p:spPr>
      </p:sp>
      <p:sp>
        <p:nvSpPr>
          <p:cNvPr id="35" name="Text 31"/>
          <p:cNvSpPr/>
          <p:nvPr/>
        </p:nvSpPr>
        <p:spPr>
          <a:xfrm>
            <a:off x="7975600" y="2389981"/>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Колоне показују стварно стање рада, не жељу тима.</a:t>
            </a:r>
            <a:endParaRPr lang="en-US" sz="1200" dirty="0"/>
          </a:p>
        </p:txBody>
      </p:sp>
      <p:sp>
        <p:nvSpPr>
          <p:cNvPr id="36" name="Shape 32"/>
          <p:cNvSpPr/>
          <p:nvPr/>
        </p:nvSpPr>
        <p:spPr>
          <a:xfrm>
            <a:off x="7835900" y="2918222"/>
            <a:ext cx="0" cy="452041"/>
          </a:xfrm>
          <a:prstGeom prst="line">
            <a:avLst/>
          </a:prstGeom>
          <a:noFill/>
          <a:ln w="25400">
            <a:solidFill>
              <a:srgbClr val="0E6E68"/>
            </a:solidFill>
            <a:prstDash val="solid"/>
          </a:ln>
        </p:spPr>
      </p:sp>
      <p:sp>
        <p:nvSpPr>
          <p:cNvPr id="37" name="Text 33"/>
          <p:cNvSpPr/>
          <p:nvPr/>
        </p:nvSpPr>
        <p:spPr>
          <a:xfrm>
            <a:off x="7975600" y="293092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Картица има опис, приоритет, assignee и критеријуме прихватања.</a:t>
            </a:r>
            <a:endParaRPr lang="en-US" sz="1200" dirty="0"/>
          </a:p>
        </p:txBody>
      </p:sp>
      <p:sp>
        <p:nvSpPr>
          <p:cNvPr id="38" name="Shape 34"/>
          <p:cNvSpPr/>
          <p:nvPr/>
        </p:nvSpPr>
        <p:spPr>
          <a:xfrm>
            <a:off x="7835900" y="3459163"/>
            <a:ext cx="0" cy="452041"/>
          </a:xfrm>
          <a:prstGeom prst="line">
            <a:avLst/>
          </a:prstGeom>
          <a:noFill/>
          <a:ln w="25400">
            <a:solidFill>
              <a:srgbClr val="0E6E68"/>
            </a:solidFill>
            <a:prstDash val="solid"/>
          </a:ln>
        </p:spPr>
      </p:sp>
      <p:sp>
        <p:nvSpPr>
          <p:cNvPr id="39" name="Text 35"/>
          <p:cNvSpPr/>
          <p:nvPr/>
        </p:nvSpPr>
        <p:spPr>
          <a:xfrm>
            <a:off x="7975600" y="347186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Веза са PR-ом и тестовима показује да је промена проверљива.</a:t>
            </a:r>
            <a:endParaRPr lang="en-US" sz="1200" dirty="0"/>
          </a:p>
        </p:txBody>
      </p:sp>
      <p:sp>
        <p:nvSpPr>
          <p:cNvPr id="40" name="Shape 36"/>
          <p:cNvSpPr/>
          <p:nvPr/>
        </p:nvSpPr>
        <p:spPr>
          <a:xfrm>
            <a:off x="7835900" y="4000103"/>
            <a:ext cx="0" cy="452041"/>
          </a:xfrm>
          <a:prstGeom prst="line">
            <a:avLst/>
          </a:prstGeom>
          <a:noFill/>
          <a:ln w="25400">
            <a:solidFill>
              <a:srgbClr val="E07B1F"/>
            </a:solidFill>
            <a:prstDash val="solid"/>
          </a:ln>
        </p:spPr>
      </p:sp>
      <p:sp>
        <p:nvSpPr>
          <p:cNvPr id="41" name="Text 37"/>
          <p:cNvSpPr/>
          <p:nvPr/>
        </p:nvSpPr>
        <p:spPr>
          <a:xfrm>
            <a:off x="7975600" y="401280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Done значи прихваћено по Definition of Done, не само померено у последњу колону.</a:t>
            </a:r>
            <a:endParaRPr lang="en-US" sz="1200" dirty="0"/>
          </a:p>
        </p:txBody>
      </p:sp>
      <p:sp>
        <p:nvSpPr>
          <p:cNvPr id="42" name="Shape 38"/>
          <p:cNvSpPr/>
          <p:nvPr/>
        </p:nvSpPr>
        <p:spPr>
          <a:xfrm>
            <a:off x="812800" y="6209705"/>
            <a:ext cx="10566400" cy="0"/>
          </a:xfrm>
          <a:prstGeom prst="line">
            <a:avLst/>
          </a:prstGeom>
          <a:noFill/>
          <a:ln w="6350">
            <a:solidFill>
              <a:srgbClr val="D3DAE1"/>
            </a:solidFill>
            <a:prstDash val="solid"/>
          </a:ln>
        </p:spPr>
      </p:sp>
      <p:sp>
        <p:nvSpPr>
          <p:cNvPr id="43" name="Text 3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4" name="Text 4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2EBE9"/>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E6E68"/>
                </a:solidFill>
                <a:latin typeface="IBM Plex Mono" pitchFamily="49" charset="0"/>
                <a:ea typeface="IBM Plex Mono" pitchFamily="49" charset="-122"/>
                <a:cs typeface="IBM Plex Mono" pitchFamily="49" charset="-120"/>
              </a:rPr>
              <a:t>04</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ЧЕТВРТИ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Git и тимски рад</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Историја измена, гране и преглед кода, од локалне измене до интеграције у главну грану.</a:t>
            </a:r>
            <a:endParaRPr lang="en-US" sz="1400" dirty="0"/>
          </a:p>
        </p:txBody>
      </p:sp>
      <p:sp>
        <p:nvSpPr>
          <p:cNvPr id="6" name="Text 4"/>
          <p:cNvSpPr/>
          <p:nvPr/>
        </p:nvSpPr>
        <p:spPr>
          <a:xfrm>
            <a:off x="4270375" y="3915966"/>
            <a:ext cx="855563"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Појмови</a:t>
            </a:r>
            <a:endParaRPr lang="en-US" sz="1200" dirty="0"/>
          </a:p>
        </p:txBody>
      </p:sp>
      <p:sp>
        <p:nvSpPr>
          <p:cNvPr id="7" name="Text 5"/>
          <p:cNvSpPr/>
          <p:nvPr/>
        </p:nvSpPr>
        <p:spPr>
          <a:xfrm>
            <a:off x="5208488" y="3915966"/>
            <a:ext cx="1071761"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Ток измене</a:t>
            </a:r>
            <a:endParaRPr lang="en-US" sz="1200" dirty="0"/>
          </a:p>
        </p:txBody>
      </p:sp>
      <p:sp>
        <p:nvSpPr>
          <p:cNvPr id="8" name="Text 6"/>
          <p:cNvSpPr/>
          <p:nvPr/>
        </p:nvSpPr>
        <p:spPr>
          <a:xfrm>
            <a:off x="6362799" y="3915966"/>
            <a:ext cx="1768872"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Мали развојни корак</a:t>
            </a:r>
            <a:endParaRPr lang="en-US" sz="1200" dirty="0"/>
          </a:p>
        </p:txBody>
      </p:sp>
      <p:sp>
        <p:nvSpPr>
          <p:cNvPr id="9" name="Text 7"/>
          <p:cNvSpPr/>
          <p:nvPr/>
        </p:nvSpPr>
        <p:spPr>
          <a:xfrm>
            <a:off x="8214221" y="3915966"/>
            <a:ext cx="670322"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Гране</a:t>
            </a:r>
            <a:endParaRPr lang="en-US" sz="1200" dirty="0"/>
          </a:p>
        </p:txBody>
      </p:sp>
      <p:sp>
        <p:nvSpPr>
          <p:cNvPr id="10" name="Text 8"/>
          <p:cNvSpPr/>
          <p:nvPr/>
        </p:nvSpPr>
        <p:spPr>
          <a:xfrm>
            <a:off x="8967093" y="3915966"/>
            <a:ext cx="1121569"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Pull Request</a:t>
            </a:r>
            <a:endParaRPr lang="en-US" sz="1200" dirty="0"/>
          </a:p>
        </p:txBody>
      </p:sp>
      <p:sp>
        <p:nvSpPr>
          <p:cNvPr id="11" name="Text 9"/>
          <p:cNvSpPr/>
          <p:nvPr/>
        </p:nvSpPr>
        <p:spPr>
          <a:xfrm>
            <a:off x="4270375" y="4319786"/>
            <a:ext cx="1067792"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Конфликти</a:t>
            </a:r>
            <a:endParaRPr lang="en-US" sz="1200" dirty="0"/>
          </a:p>
        </p:txBody>
      </p:sp>
      <p:sp>
        <p:nvSpPr>
          <p:cNvPr id="12" name="Text 10"/>
          <p:cNvSpPr/>
          <p:nvPr/>
        </p:nvSpPr>
        <p:spPr>
          <a:xfrm>
            <a:off x="5420717" y="4319786"/>
            <a:ext cx="1147961"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Интеграција</a:t>
            </a:r>
            <a:endParaRPr lang="en-US" sz="1200" dirty="0"/>
          </a:p>
        </p:txBody>
      </p:sp>
      <p:sp>
        <p:nvSpPr>
          <p:cNvPr id="13" name="Shape 11"/>
          <p:cNvSpPr/>
          <p:nvPr/>
        </p:nvSpPr>
        <p:spPr>
          <a:xfrm>
            <a:off x="812800" y="6209705"/>
            <a:ext cx="10566400" cy="0"/>
          </a:xfrm>
          <a:prstGeom prst="line">
            <a:avLst/>
          </a:prstGeom>
          <a:noFill/>
          <a:ln w="6350">
            <a:solidFill>
              <a:srgbClr val="AEC2C6"/>
            </a:solidFill>
            <a:prstDash val="solid"/>
          </a:ln>
        </p:spPr>
      </p:sp>
      <p:sp>
        <p:nvSpPr>
          <p:cNvPr id="14"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5"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04 · GIT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Git историја измена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Историја развоја омогућава реконструкцију малих и смислених промена.</a:t>
            </a:r>
            <a:endParaRPr lang="en-US" sz="1400" dirty="0"/>
          </a:p>
        </p:txBody>
      </p:sp>
      <p:sp>
        <p:nvSpPr>
          <p:cNvPr id="6" name="Shape 4"/>
          <p:cNvSpPr/>
          <p:nvPr/>
        </p:nvSpPr>
        <p:spPr>
          <a:xfrm>
            <a:off x="812800" y="2176661"/>
            <a:ext cx="10566400" cy="2959894"/>
          </a:xfrm>
          <a:prstGeom prst="roundRect">
            <a:avLst>
              <a:gd name="adj" fmla="val 3433"/>
            </a:avLst>
          </a:prstGeom>
          <a:solidFill>
            <a:srgbClr val="FCFCFB"/>
          </a:solidFill>
          <a:ln/>
        </p:spPr>
      </p:sp>
      <p:sp>
        <p:nvSpPr>
          <p:cNvPr id="7" name="Shape 5"/>
          <p:cNvSpPr/>
          <p:nvPr/>
        </p:nvSpPr>
        <p:spPr>
          <a:xfrm>
            <a:off x="812800" y="2176661"/>
            <a:ext cx="10566400" cy="2959894"/>
          </a:xfrm>
          <a:custGeom>
            <a:avLst/>
            <a:gdLst/>
            <a:ahLst/>
            <a:cxnLst/>
            <a:rect l="l" t="t" r="r" b="b"/>
            <a:pathLst>
              <a:path w="10566400" h="2959894">
                <a:moveTo>
                  <a:pt x="10464800" y="0"/>
                </a:moveTo>
                <a:lnTo>
                  <a:pt x="10464800" y="0"/>
                </a:lnTo>
                <a:arcTo hR="101600" wR="101600" stAng="16200000" swAng="5400000"/>
                <a:lnTo>
                  <a:pt x="10566400" y="2858294"/>
                </a:lnTo>
                <a:arcTo hR="101600" wR="101600" stAng="0" swAng="5400000"/>
                <a:lnTo>
                  <a:pt x="101600" y="2959894"/>
                </a:lnTo>
                <a:arcTo hR="101600" wR="101600" stAng="5400000" swAng="5400000"/>
                <a:lnTo>
                  <a:pt x="0" y="2858294"/>
                </a:lnTo>
                <a:arcTo hR="95250" wR="101600" stAng="10800000" swAng="-5400000"/>
                <a:lnTo>
                  <a:pt x="10464800" y="2953544"/>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959894"/>
          </a:xfrm>
          <a:custGeom>
            <a:avLst/>
            <a:gdLst/>
            <a:ahLst/>
            <a:cxnLst/>
            <a:rect l="l" t="t" r="r" b="b"/>
            <a:pathLst>
              <a:path w="10566400" h="2959894">
                <a:moveTo>
                  <a:pt x="101600" y="2959894"/>
                </a:moveTo>
                <a:lnTo>
                  <a:pt x="101600" y="2959894"/>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858294"/>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940844"/>
        </p:xfrm>
        <a:graphic>
          <a:graphicData uri="http://schemas.openxmlformats.org/drawingml/2006/table">
            <a:tbl>
              <a:tblPr/>
              <a:tblGrid>
                <a:gridCol w="3375152"/>
                <a:gridCol w="7172198"/>
              </a:tblGrid>
              <a:tr h="4901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Појам</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B5BCBA"/>
                      </a:solidFill>
                      <a:prstDash val="solid"/>
                      <a:round/>
                      <a:headEnd type="none" w="med" len="med"/>
                      <a:tailEnd type="none" w="med" len="med"/>
                    </a:lnR>
                    <a:lnT w="0" cap="flat" cmpd="sng" algn="ctr">
                      <a:noFill/>
                    </a:lnT>
                    <a:lnB w="12700" cap="flat" cmpd="sng" algn="ctr">
                      <a:solidFill>
                        <a:srgbClr val="B5BCBA"/>
                      </a:solidFill>
                      <a:prstDash val="solid"/>
                      <a:round/>
                      <a:headEnd type="none" w="med" len="med"/>
                      <a:tailEnd type="none" w="med" len="med"/>
                    </a:lnB>
                    <a:solidFill>
                      <a:srgbClr val="E2EBE9"/>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Улога у раду тима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B5BCBA"/>
                      </a:solidFill>
                      <a:prstDash val="solid"/>
                      <a:round/>
                      <a:headEnd type="none" w="med" len="med"/>
                      <a:tailEnd type="none" w="med" len="med"/>
                    </a:lnL>
                    <a:lnR w="12700" cap="flat" cmpd="sng" algn="ctr">
                      <a:solidFill>
                        <a:srgbClr val="B5BCBA"/>
                      </a:solidFill>
                      <a:prstDash val="solid"/>
                      <a:round/>
                      <a:headEnd type="none" w="med" len="med"/>
                      <a:tailEnd type="none" w="med" len="med"/>
                    </a:lnR>
                    <a:lnT w="0" cap="flat" cmpd="sng" algn="ctr">
                      <a:noFill/>
                    </a:lnT>
                    <a:lnB w="12700" cap="flat" cmpd="sng" algn="ctr">
                      <a:solidFill>
                        <a:srgbClr val="B5BCBA"/>
                      </a:solidFill>
                      <a:prstDash val="solid"/>
                      <a:round/>
                      <a:headEnd type="none" w="med" len="med"/>
                      <a:tailEnd type="none" w="med" len="med"/>
                    </a:lnB>
                    <a:solidFill>
                      <a:srgbClr val="E2EBE9"/>
                    </a:solidFill>
                  </a:tcPr>
                </a:tc>
              </a:tr>
              <a:tr h="490141">
                <a:tc>
                  <a:txBody>
                    <a:bodyPr/>
                    <a:lstStyle/>
                    <a:p>
                      <a:pPr indent="0" marL="0">
                        <a:lnSpc>
                          <a:spcPts val="1960"/>
                        </a:lnSpc>
                        <a:buNone/>
                      </a:pPr>
                      <a:r>
                        <a:rPr lang="en-US" sz="1400" dirty="0">
                          <a:solidFill>
                            <a:srgbClr val="0E6E68"/>
                          </a:solidFill>
                          <a:latin typeface="IBM Plex Sans" pitchFamily="34" charset="0"/>
                          <a:ea typeface="IBM Plex Sans" pitchFamily="34" charset="-122"/>
                          <a:cs typeface="IBM Plex Sans" pitchFamily="34" charset="-120"/>
                        </a:rPr>
                        <a:t>Working tree</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5BCBA"/>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датотеке које се тренутно мењају</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5BCBA"/>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0E6E68"/>
                          </a:solidFill>
                          <a:latin typeface="IBM Plex Sans" pitchFamily="34" charset="0"/>
                          <a:ea typeface="IBM Plex Sans" pitchFamily="34" charset="-122"/>
                          <a:cs typeface="IBM Plex Sans" pitchFamily="34" charset="-120"/>
                        </a:rPr>
                        <a:t>Staging area</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избор садржаја за наредни commit</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0E6E68"/>
                          </a:solidFill>
                          <a:latin typeface="IBM Plex Sans" pitchFamily="34" charset="0"/>
                          <a:ea typeface="IBM Plex Sans" pitchFamily="34" charset="-122"/>
                          <a:cs typeface="IBM Plex Sans" pitchFamily="34" charset="-120"/>
                        </a:rPr>
                        <a:t>Commit</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кохерентна промена са описом намере</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0E6E68"/>
                          </a:solidFill>
                          <a:latin typeface="IBM Plex Sans" pitchFamily="34" charset="0"/>
                          <a:ea typeface="IBM Plex Sans" pitchFamily="34" charset="-122"/>
                          <a:cs typeface="IBM Plex Sans" pitchFamily="34" charset="-120"/>
                        </a:rPr>
                        <a:t>Branch</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издвојена линија развоја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0E6E68"/>
                          </a:solidFill>
                          <a:latin typeface="IBM Plex Sans" pitchFamily="34" charset="0"/>
                          <a:ea typeface="IBM Plex Sans" pitchFamily="34" charset="-122"/>
                          <a:cs typeface="IBM Plex Sans" pitchFamily="34" charset="-120"/>
                        </a:rPr>
                        <a:t>Remote</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удаљени репозиторијум за размену промена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04 · GIT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Пут једне измене кроз Git</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Свака команда помера измену за један корак ближе заједничком репозиторијуму.</a:t>
            </a:r>
            <a:endParaRPr lang="en-US" sz="1400" dirty="0"/>
          </a:p>
        </p:txBody>
      </p:sp>
      <p:sp>
        <p:nvSpPr>
          <p:cNvPr id="6" name="Shape 4"/>
          <p:cNvSpPr/>
          <p:nvPr/>
        </p:nvSpPr>
        <p:spPr>
          <a:xfrm>
            <a:off x="815975" y="2129036"/>
            <a:ext cx="1924050" cy="1469231"/>
          </a:xfrm>
          <a:prstGeom prst="roundRect">
            <a:avLst>
              <a:gd name="adj" fmla="val 6699"/>
            </a:avLst>
          </a:prstGeom>
          <a:solidFill>
            <a:srgbClr val="FCFCFB"/>
          </a:solidFill>
          <a:ln w="6350">
            <a:solidFill>
              <a:srgbClr val="D3DAE1"/>
            </a:solidFill>
            <a:prstDash val="solid"/>
          </a:ln>
        </p:spPr>
      </p:sp>
      <p:sp>
        <p:nvSpPr>
          <p:cNvPr id="7" name="Shape 5"/>
          <p:cNvSpPr/>
          <p:nvPr/>
        </p:nvSpPr>
        <p:spPr>
          <a:xfrm>
            <a:off x="971550" y="2297311"/>
            <a:ext cx="355600" cy="355600"/>
          </a:xfrm>
          <a:prstGeom prst="roundRect">
            <a:avLst>
              <a:gd name="adj" fmla="val 21429"/>
            </a:avLst>
          </a:prstGeom>
          <a:solidFill>
            <a:srgbClr val="E2EBE9"/>
          </a:solidFill>
          <a:ln/>
        </p:spPr>
      </p:sp>
      <p:pic>
        <p:nvPicPr>
          <p:cNvPr id="8" name="Image 0" descr="Code">    </p:cNvPr>
          <p:cNvPicPr>
            <a:picLocks noChangeAspect="1"/>
          </p:cNvPicPr>
          <p:nvPr/>
        </p:nvPicPr>
        <p:blipFill>
          <a:blip r:embed="rId1"/>
          <a:srcRect l="0" r="0" t="0" b="0"/>
          <a:stretch/>
        </p:blipFill>
        <p:spPr>
          <a:xfrm>
            <a:off x="1047750" y="2373511"/>
            <a:ext cx="203200" cy="203200"/>
          </a:xfrm>
          <a:prstGeom prst="rect">
            <a:avLst/>
          </a:prstGeom>
        </p:spPr>
      </p:pic>
      <p:sp>
        <p:nvSpPr>
          <p:cNvPr id="9" name="Text 6"/>
          <p:cNvSpPr/>
          <p:nvPr/>
        </p:nvSpPr>
        <p:spPr>
          <a:xfrm>
            <a:off x="971550" y="2729111"/>
            <a:ext cx="1663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Mono" pitchFamily="49" charset="0"/>
                <a:ea typeface="IBM Plex Mono" pitchFamily="49" charset="-122"/>
                <a:cs typeface="IBM Plex Mono" pitchFamily="49" charset="-120"/>
              </a:rPr>
              <a:t>Working tree</a:t>
            </a:r>
            <a:endParaRPr lang="en-US" sz="1400" dirty="0"/>
          </a:p>
        </p:txBody>
      </p:sp>
      <p:sp>
        <p:nvSpPr>
          <p:cNvPr id="10" name="Text 7"/>
          <p:cNvSpPr/>
          <p:nvPr/>
        </p:nvSpPr>
        <p:spPr>
          <a:xfrm>
            <a:off x="971550" y="3018631"/>
            <a:ext cx="16637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измене у раду</a:t>
            </a:r>
            <a:endParaRPr lang="en-US" sz="1200" dirty="0"/>
          </a:p>
        </p:txBody>
      </p:sp>
      <p:sp>
        <p:nvSpPr>
          <p:cNvPr id="11" name="Text 8"/>
          <p:cNvSpPr/>
          <p:nvPr/>
        </p:nvSpPr>
        <p:spPr>
          <a:xfrm>
            <a:off x="2835354" y="2642691"/>
            <a:ext cx="76819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git add</a:t>
            </a:r>
            <a:endParaRPr lang="en-US" sz="1200" dirty="0"/>
          </a:p>
        </p:txBody>
      </p:sp>
      <p:pic>
        <p:nvPicPr>
          <p:cNvPr id="12" name="Image 1" descr="arrow-right">    </p:cNvPr>
          <p:cNvPicPr>
            <a:picLocks noChangeAspect="1"/>
          </p:cNvPicPr>
          <p:nvPr/>
        </p:nvPicPr>
        <p:blipFill>
          <a:blip r:embed="rId2"/>
          <a:srcRect l="0" r="0" t="0" b="0"/>
          <a:stretch/>
        </p:blipFill>
        <p:spPr>
          <a:xfrm>
            <a:off x="3016250" y="2906812"/>
            <a:ext cx="406400" cy="177800"/>
          </a:xfrm>
          <a:prstGeom prst="rect">
            <a:avLst/>
          </a:prstGeom>
        </p:spPr>
      </p:pic>
      <p:sp>
        <p:nvSpPr>
          <p:cNvPr id="13" name="Shape 9"/>
          <p:cNvSpPr/>
          <p:nvPr/>
        </p:nvSpPr>
        <p:spPr>
          <a:xfrm>
            <a:off x="3698875" y="2129036"/>
            <a:ext cx="1924050" cy="1469231"/>
          </a:xfrm>
          <a:prstGeom prst="roundRect">
            <a:avLst>
              <a:gd name="adj" fmla="val 6699"/>
            </a:avLst>
          </a:prstGeom>
          <a:solidFill>
            <a:srgbClr val="FCFCFB"/>
          </a:solidFill>
          <a:ln w="6350">
            <a:solidFill>
              <a:srgbClr val="D3DAE1"/>
            </a:solidFill>
            <a:prstDash val="solid"/>
          </a:ln>
        </p:spPr>
      </p:sp>
      <p:sp>
        <p:nvSpPr>
          <p:cNvPr id="14" name="Shape 10"/>
          <p:cNvSpPr/>
          <p:nvPr/>
        </p:nvSpPr>
        <p:spPr>
          <a:xfrm>
            <a:off x="3854450" y="2297311"/>
            <a:ext cx="355600" cy="355600"/>
          </a:xfrm>
          <a:prstGeom prst="roundRect">
            <a:avLst>
              <a:gd name="adj" fmla="val 21429"/>
            </a:avLst>
          </a:prstGeom>
          <a:solidFill>
            <a:srgbClr val="DDEBEA"/>
          </a:solidFill>
          <a:ln/>
        </p:spPr>
      </p:sp>
      <p:pic>
        <p:nvPicPr>
          <p:cNvPr id="15" name="Image 2" descr="Check">    </p:cNvPr>
          <p:cNvPicPr>
            <a:picLocks noChangeAspect="1"/>
          </p:cNvPicPr>
          <p:nvPr/>
        </p:nvPicPr>
        <p:blipFill>
          <a:blip r:embed="rId3"/>
          <a:srcRect l="0" r="0" t="0" b="0"/>
          <a:stretch/>
        </p:blipFill>
        <p:spPr>
          <a:xfrm>
            <a:off x="3930650" y="2373511"/>
            <a:ext cx="203200" cy="203200"/>
          </a:xfrm>
          <a:prstGeom prst="rect">
            <a:avLst/>
          </a:prstGeom>
        </p:spPr>
      </p:pic>
      <p:sp>
        <p:nvSpPr>
          <p:cNvPr id="16" name="Text 11"/>
          <p:cNvSpPr/>
          <p:nvPr/>
        </p:nvSpPr>
        <p:spPr>
          <a:xfrm>
            <a:off x="3854450" y="2729111"/>
            <a:ext cx="1663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Mono" pitchFamily="49" charset="0"/>
                <a:ea typeface="IBM Plex Mono" pitchFamily="49" charset="-122"/>
                <a:cs typeface="IBM Plex Mono" pitchFamily="49" charset="-120"/>
              </a:rPr>
              <a:t>Staging area</a:t>
            </a:r>
            <a:endParaRPr lang="en-US" sz="1400" dirty="0"/>
          </a:p>
        </p:txBody>
      </p:sp>
      <p:sp>
        <p:nvSpPr>
          <p:cNvPr id="17" name="Text 12"/>
          <p:cNvSpPr/>
          <p:nvPr/>
        </p:nvSpPr>
        <p:spPr>
          <a:xfrm>
            <a:off x="3854450" y="3018631"/>
            <a:ext cx="16637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припремљено за commit</a:t>
            </a:r>
            <a:endParaRPr lang="en-US" sz="1200" dirty="0"/>
          </a:p>
        </p:txBody>
      </p:sp>
      <p:sp>
        <p:nvSpPr>
          <p:cNvPr id="18" name="Text 13"/>
          <p:cNvSpPr/>
          <p:nvPr/>
        </p:nvSpPr>
        <p:spPr>
          <a:xfrm>
            <a:off x="5619750" y="2642691"/>
            <a:ext cx="965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git commit</a:t>
            </a:r>
            <a:endParaRPr lang="en-US" sz="1200" dirty="0"/>
          </a:p>
        </p:txBody>
      </p:sp>
      <p:pic>
        <p:nvPicPr>
          <p:cNvPr id="19" name="Image 3" descr="arrow-right">    </p:cNvPr>
          <p:cNvPicPr>
            <a:picLocks noChangeAspect="1"/>
          </p:cNvPicPr>
          <p:nvPr/>
        </p:nvPicPr>
        <p:blipFill>
          <a:blip r:embed="rId4"/>
          <a:srcRect l="0" r="0" t="0" b="0"/>
          <a:stretch/>
        </p:blipFill>
        <p:spPr>
          <a:xfrm>
            <a:off x="5899150" y="2906812"/>
            <a:ext cx="406400" cy="177800"/>
          </a:xfrm>
          <a:prstGeom prst="rect">
            <a:avLst/>
          </a:prstGeom>
        </p:spPr>
      </p:pic>
      <p:sp>
        <p:nvSpPr>
          <p:cNvPr id="20" name="Shape 14"/>
          <p:cNvSpPr/>
          <p:nvPr/>
        </p:nvSpPr>
        <p:spPr>
          <a:xfrm>
            <a:off x="6581775" y="2129036"/>
            <a:ext cx="1924050" cy="1469231"/>
          </a:xfrm>
          <a:prstGeom prst="roundRect">
            <a:avLst>
              <a:gd name="adj" fmla="val 6699"/>
            </a:avLst>
          </a:prstGeom>
          <a:solidFill>
            <a:srgbClr val="FCFCFB"/>
          </a:solidFill>
          <a:ln w="6350">
            <a:solidFill>
              <a:srgbClr val="D3DAE1"/>
            </a:solidFill>
            <a:prstDash val="solid"/>
          </a:ln>
        </p:spPr>
      </p:sp>
      <p:sp>
        <p:nvSpPr>
          <p:cNvPr id="21" name="Shape 15"/>
          <p:cNvSpPr/>
          <p:nvPr/>
        </p:nvSpPr>
        <p:spPr>
          <a:xfrm>
            <a:off x="6737350" y="2297311"/>
            <a:ext cx="355600" cy="355600"/>
          </a:xfrm>
          <a:prstGeom prst="roundRect">
            <a:avLst>
              <a:gd name="adj" fmla="val 21429"/>
            </a:avLst>
          </a:prstGeom>
          <a:solidFill>
            <a:srgbClr val="DDEBEA"/>
          </a:solidFill>
          <a:ln/>
        </p:spPr>
      </p:sp>
      <p:pic>
        <p:nvPicPr>
          <p:cNvPr id="22" name="Image 4" descr="Database">    </p:cNvPr>
          <p:cNvPicPr>
            <a:picLocks noChangeAspect="1"/>
          </p:cNvPicPr>
          <p:nvPr/>
        </p:nvPicPr>
        <p:blipFill>
          <a:blip r:embed="rId5"/>
          <a:srcRect l="0" r="0" t="0" b="0"/>
          <a:stretch/>
        </p:blipFill>
        <p:spPr>
          <a:xfrm>
            <a:off x="6813550" y="2373511"/>
            <a:ext cx="203200" cy="203200"/>
          </a:xfrm>
          <a:prstGeom prst="rect">
            <a:avLst/>
          </a:prstGeom>
        </p:spPr>
      </p:pic>
      <p:sp>
        <p:nvSpPr>
          <p:cNvPr id="23" name="Text 16"/>
          <p:cNvSpPr/>
          <p:nvPr/>
        </p:nvSpPr>
        <p:spPr>
          <a:xfrm>
            <a:off x="6737350" y="2729111"/>
            <a:ext cx="1663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Mono" pitchFamily="49" charset="0"/>
                <a:ea typeface="IBM Plex Mono" pitchFamily="49" charset="-122"/>
                <a:cs typeface="IBM Plex Mono" pitchFamily="49" charset="-120"/>
              </a:rPr>
              <a:t>Локални репо</a:t>
            </a:r>
            <a:endParaRPr lang="en-US" sz="1400" dirty="0"/>
          </a:p>
        </p:txBody>
      </p:sp>
      <p:sp>
        <p:nvSpPr>
          <p:cNvPr id="24" name="Text 17"/>
          <p:cNvSpPr/>
          <p:nvPr/>
        </p:nvSpPr>
        <p:spPr>
          <a:xfrm>
            <a:off x="6737350" y="3018631"/>
            <a:ext cx="16637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историја commit-ова</a:t>
            </a:r>
            <a:endParaRPr lang="en-US" sz="1200" dirty="0"/>
          </a:p>
        </p:txBody>
      </p:sp>
      <p:sp>
        <p:nvSpPr>
          <p:cNvPr id="25" name="Text 18"/>
          <p:cNvSpPr/>
          <p:nvPr/>
        </p:nvSpPr>
        <p:spPr>
          <a:xfrm>
            <a:off x="8546276" y="2642691"/>
            <a:ext cx="87784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git push</a:t>
            </a:r>
            <a:endParaRPr lang="en-US" sz="1200" dirty="0"/>
          </a:p>
        </p:txBody>
      </p:sp>
      <p:pic>
        <p:nvPicPr>
          <p:cNvPr id="26" name="Image 5" descr="arrow-right">    </p:cNvPr>
          <p:cNvPicPr>
            <a:picLocks noChangeAspect="1"/>
          </p:cNvPicPr>
          <p:nvPr/>
        </p:nvPicPr>
        <p:blipFill>
          <a:blip r:embed="rId6"/>
          <a:srcRect l="0" r="0" t="0" b="0"/>
          <a:stretch/>
        </p:blipFill>
        <p:spPr>
          <a:xfrm>
            <a:off x="8782050" y="2906812"/>
            <a:ext cx="406400" cy="177800"/>
          </a:xfrm>
          <a:prstGeom prst="rect">
            <a:avLst/>
          </a:prstGeom>
        </p:spPr>
      </p:pic>
      <p:sp>
        <p:nvSpPr>
          <p:cNvPr id="27" name="Shape 19"/>
          <p:cNvSpPr/>
          <p:nvPr/>
        </p:nvSpPr>
        <p:spPr>
          <a:xfrm>
            <a:off x="9461500" y="2125861"/>
            <a:ext cx="1917700" cy="1475581"/>
          </a:xfrm>
          <a:prstGeom prst="roundRect">
            <a:avLst>
              <a:gd name="adj" fmla="val 6885"/>
            </a:avLst>
          </a:prstGeom>
          <a:solidFill>
            <a:srgbClr val="0E6E68"/>
          </a:solidFill>
          <a:ln/>
        </p:spPr>
      </p:sp>
      <p:sp>
        <p:nvSpPr>
          <p:cNvPr id="28" name="Shape 20"/>
          <p:cNvSpPr/>
          <p:nvPr/>
        </p:nvSpPr>
        <p:spPr>
          <a:xfrm>
            <a:off x="9613900" y="2290961"/>
            <a:ext cx="355600" cy="355600"/>
          </a:xfrm>
          <a:prstGeom prst="roundRect">
            <a:avLst>
              <a:gd name="adj" fmla="val 21429"/>
            </a:avLst>
          </a:prstGeom>
          <a:solidFill>
            <a:srgbClr val="FCFCFB"/>
          </a:solidFill>
          <a:ln/>
        </p:spPr>
      </p:sp>
      <p:pic>
        <p:nvPicPr>
          <p:cNvPr id="29" name="Image 6" descr="Cloud">    </p:cNvPr>
          <p:cNvPicPr>
            <a:picLocks noChangeAspect="1"/>
          </p:cNvPicPr>
          <p:nvPr/>
        </p:nvPicPr>
        <p:blipFill>
          <a:blip r:embed="rId7"/>
          <a:srcRect l="0" r="0" t="0" b="0"/>
          <a:stretch/>
        </p:blipFill>
        <p:spPr>
          <a:xfrm>
            <a:off x="9690100" y="2367161"/>
            <a:ext cx="203200" cy="203200"/>
          </a:xfrm>
          <a:prstGeom prst="rect">
            <a:avLst/>
          </a:prstGeom>
        </p:spPr>
      </p:pic>
      <p:sp>
        <p:nvSpPr>
          <p:cNvPr id="30" name="Text 21"/>
          <p:cNvSpPr/>
          <p:nvPr/>
        </p:nvSpPr>
        <p:spPr>
          <a:xfrm>
            <a:off x="9613900" y="2722761"/>
            <a:ext cx="1663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Mono" pitchFamily="49" charset="0"/>
                <a:ea typeface="IBM Plex Mono" pitchFamily="49" charset="-122"/>
                <a:cs typeface="IBM Plex Mono" pitchFamily="49" charset="-120"/>
              </a:rPr>
              <a:t>Remote</a:t>
            </a:r>
            <a:endParaRPr lang="en-US" sz="1400" dirty="0"/>
          </a:p>
        </p:txBody>
      </p:sp>
      <p:sp>
        <p:nvSpPr>
          <p:cNvPr id="31" name="Text 22"/>
          <p:cNvSpPr/>
          <p:nvPr/>
        </p:nvSpPr>
        <p:spPr>
          <a:xfrm>
            <a:off x="9613900" y="3012281"/>
            <a:ext cx="16637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DEBEA"/>
                </a:solidFill>
                <a:latin typeface="IBM Plex Sans" pitchFamily="34" charset="0"/>
                <a:ea typeface="IBM Plex Sans" pitchFamily="34" charset="-122"/>
                <a:cs typeface="IBM Plex Sans" pitchFamily="34" charset="-120"/>
              </a:rPr>
              <a:t>заједнички GitHub репозиторијум</a:t>
            </a:r>
            <a:endParaRPr lang="en-US" sz="1200" dirty="0"/>
          </a:p>
        </p:txBody>
      </p:sp>
      <p:pic>
        <p:nvPicPr>
          <p:cNvPr id="32" name="Image 7" descr="Повратна стрелица од удаљеног репозиторијума ка радном директоријуму, команда git pull">    </p:cNvPr>
          <p:cNvPicPr>
            <a:picLocks noChangeAspect="1"/>
          </p:cNvPicPr>
          <p:nvPr/>
        </p:nvPicPr>
        <p:blipFill>
          <a:blip r:embed="rId8"/>
          <a:srcRect l="0" r="0" t="-142" b="-142"/>
          <a:stretch/>
        </p:blipFill>
        <p:spPr>
          <a:xfrm>
            <a:off x="812800" y="3830042"/>
            <a:ext cx="10566400" cy="279400"/>
          </a:xfrm>
          <a:prstGeom prst="rect">
            <a:avLst/>
          </a:prstGeom>
        </p:spPr>
      </p:pic>
      <p:sp>
        <p:nvSpPr>
          <p:cNvPr id="33" name="Shape 23"/>
          <p:cNvSpPr/>
          <p:nvPr/>
        </p:nvSpPr>
        <p:spPr>
          <a:xfrm>
            <a:off x="815975" y="4341217"/>
            <a:ext cx="10560050" cy="483791"/>
          </a:xfrm>
          <a:prstGeom prst="roundRect">
            <a:avLst>
              <a:gd name="adj" fmla="val 17719"/>
            </a:avLst>
          </a:prstGeom>
          <a:solidFill>
            <a:srgbClr val="FBF1E6"/>
          </a:solidFill>
          <a:ln w="6350">
            <a:solidFill>
              <a:srgbClr val="E9B98C"/>
            </a:solidFill>
            <a:prstDash val="solid"/>
          </a:ln>
        </p:spPr>
      </p:sp>
      <p:sp>
        <p:nvSpPr>
          <p:cNvPr id="34" name="Text 24"/>
          <p:cNvSpPr/>
          <p:nvPr/>
        </p:nvSpPr>
        <p:spPr>
          <a:xfrm>
            <a:off x="996950" y="4458692"/>
            <a:ext cx="10058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Mono" pitchFamily="49" charset="0"/>
                <a:ea typeface="IBM Plex Mono" pitchFamily="49" charset="-122"/>
                <a:cs typeface="IBM Plex Mono" pitchFamily="49" charset="-120"/>
              </a:rPr>
              <a:t>git pull</a:t>
            </a:r>
            <a:endParaRPr lang="en-US" sz="1400" dirty="0"/>
          </a:p>
        </p:txBody>
      </p:sp>
      <p:sp>
        <p:nvSpPr>
          <p:cNvPr id="35" name="Text 25"/>
          <p:cNvSpPr/>
          <p:nvPr/>
        </p:nvSpPr>
        <p:spPr>
          <a:xfrm>
            <a:off x="2002830" y="4471690"/>
            <a:ext cx="946798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преузима туђе промене са удаљеног репозиторијума и спаја их у локални рад, исто што и </a:t>
            </a:r>
            <a:r>
              <a:rPr lang="en-US" sz="1300" b="1" dirty="0">
                <a:solidFill>
                  <a:srgbClr val="13202D"/>
                </a:solidFill>
                <a:latin typeface="IBM Plex Sans" pitchFamily="34" charset="0"/>
                <a:ea typeface="IBM Plex Sans" pitchFamily="34" charset="-122"/>
                <a:cs typeface="IBM Plex Sans" pitchFamily="34" charset="-120"/>
              </a:rPr>
              <a:t>git fetch</a:t>
            </a:r>
            <a:r>
              <a:rPr lang="en-US" sz="1300" dirty="0">
                <a:solidFill>
                  <a:srgbClr val="13202D"/>
                </a:solidFill>
                <a:latin typeface="IBM Plex Sans" pitchFamily="34" charset="0"/>
                <a:ea typeface="IBM Plex Sans" pitchFamily="34" charset="-122"/>
                <a:cs typeface="IBM Plex Sans" pitchFamily="34" charset="-120"/>
              </a:rPr>
              <a:t> па </a:t>
            </a:r>
            <a:r>
              <a:rPr lang="en-US" sz="1300" b="1" dirty="0">
                <a:solidFill>
                  <a:srgbClr val="13202D"/>
                </a:solidFill>
                <a:latin typeface="IBM Plex Sans" pitchFamily="34" charset="0"/>
                <a:ea typeface="IBM Plex Sans" pitchFamily="34" charset="-122"/>
                <a:cs typeface="IBM Plex Sans" pitchFamily="34" charset="-120"/>
              </a:rPr>
              <a:t>git merge</a:t>
            </a:r>
            <a:r>
              <a:rPr lang="en-US" sz="1300" dirty="0">
                <a:solidFill>
                  <a:srgbClr val="13202D"/>
                </a:solidFill>
                <a:latin typeface="IBM Plex Sans" pitchFamily="34" charset="0"/>
                <a:ea typeface="IBM Plex Sans" pitchFamily="34" charset="-122"/>
                <a:cs typeface="IBM Plex Sans" pitchFamily="34" charset="-120"/>
              </a:rPr>
              <a:t>.</a:t>
            </a:r>
            <a:endParaRPr lang="en-US" sz="1300" dirty="0"/>
          </a:p>
        </p:txBody>
      </p:sp>
      <p:sp>
        <p:nvSpPr>
          <p:cNvPr id="36" name="Shape 26"/>
          <p:cNvSpPr/>
          <p:nvPr/>
        </p:nvSpPr>
        <p:spPr>
          <a:xfrm>
            <a:off x="812800" y="6209705"/>
            <a:ext cx="10566400" cy="0"/>
          </a:xfrm>
          <a:prstGeom prst="line">
            <a:avLst/>
          </a:prstGeom>
          <a:noFill/>
          <a:ln w="6350">
            <a:solidFill>
              <a:srgbClr val="D3DAE1"/>
            </a:solidFill>
            <a:prstDash val="solid"/>
          </a:ln>
        </p:spPr>
      </p:sp>
      <p:sp>
        <p:nvSpPr>
          <p:cNvPr id="37"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04 · GIT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Пример малог развојног корака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Команде су део договореног поступка припреме и провере измене.</a:t>
            </a:r>
            <a:endParaRPr lang="en-US" sz="1400" dirty="0"/>
          </a:p>
        </p:txBody>
      </p:sp>
      <p:sp>
        <p:nvSpPr>
          <p:cNvPr id="6" name="Shape 4"/>
          <p:cNvSpPr/>
          <p:nvPr/>
        </p:nvSpPr>
        <p:spPr>
          <a:xfrm>
            <a:off x="815975" y="2179836"/>
            <a:ext cx="6597650" cy="2505670"/>
          </a:xfrm>
          <a:prstGeom prst="roundRect">
            <a:avLst>
              <a:gd name="adj" fmla="val 3928"/>
            </a:avLst>
          </a:prstGeom>
          <a:solidFill>
            <a:srgbClr val="FCFCFB"/>
          </a:solidFill>
          <a:ln w="6350">
            <a:solidFill>
              <a:srgbClr val="D3DAE1"/>
            </a:solidFill>
            <a:prstDash val="solid"/>
          </a:ln>
        </p:spPr>
      </p:sp>
      <p:sp>
        <p:nvSpPr>
          <p:cNvPr id="7" name="Text 5"/>
          <p:cNvSpPr/>
          <p:nvPr/>
        </p:nvSpPr>
        <p:spPr>
          <a:xfrm>
            <a:off x="1022350" y="236081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terminal · feature/reservation-overlap</a:t>
            </a:r>
            <a:endParaRPr lang="en-US" sz="1200" dirty="0"/>
          </a:p>
        </p:txBody>
      </p:sp>
      <p:sp>
        <p:nvSpPr>
          <p:cNvPr id="8" name="Text 6"/>
          <p:cNvSpPr/>
          <p:nvPr/>
        </p:nvSpPr>
        <p:spPr>
          <a:xfrm>
            <a:off x="1022350" y="26757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6757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status</a:t>
            </a:r>
            <a:endParaRPr lang="en-US" sz="1200" dirty="0"/>
          </a:p>
        </p:txBody>
      </p:sp>
      <p:sp>
        <p:nvSpPr>
          <p:cNvPr id="10" name="Text 8"/>
          <p:cNvSpPr/>
          <p:nvPr/>
        </p:nvSpPr>
        <p:spPr>
          <a:xfrm>
            <a:off x="1022350" y="29424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9424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diff</a:t>
            </a:r>
            <a:endParaRPr lang="en-US" sz="1200" dirty="0"/>
          </a:p>
        </p:txBody>
      </p:sp>
      <p:sp>
        <p:nvSpPr>
          <p:cNvPr id="12" name="Text 10"/>
          <p:cNvSpPr/>
          <p:nvPr/>
        </p:nvSpPr>
        <p:spPr>
          <a:xfrm>
            <a:off x="1022350" y="3209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2091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add src/Application/ReservationService.cs</a:t>
            </a:r>
            <a:endParaRPr lang="en-US" sz="1200" dirty="0"/>
          </a:p>
        </p:txBody>
      </p:sp>
      <p:sp>
        <p:nvSpPr>
          <p:cNvPr id="14" name="Text 12"/>
          <p:cNvSpPr/>
          <p:nvPr/>
        </p:nvSpPr>
        <p:spPr>
          <a:xfrm>
            <a:off x="1022350" y="34758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4758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add tests/ReservationServiceTests.cs</a:t>
            </a:r>
            <a:endParaRPr lang="en-US" sz="1200" dirty="0"/>
          </a:p>
        </p:txBody>
      </p:sp>
      <p:sp>
        <p:nvSpPr>
          <p:cNvPr id="16" name="Text 14"/>
          <p:cNvSpPr/>
          <p:nvPr/>
        </p:nvSpPr>
        <p:spPr>
          <a:xfrm>
            <a:off x="1022350" y="37425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7425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diff --staged</a:t>
            </a:r>
            <a:endParaRPr lang="en-US" sz="1200" dirty="0"/>
          </a:p>
        </p:txBody>
      </p:sp>
      <p:sp>
        <p:nvSpPr>
          <p:cNvPr id="18" name="Text 16"/>
          <p:cNvSpPr/>
          <p:nvPr/>
        </p:nvSpPr>
        <p:spPr>
          <a:xfrm>
            <a:off x="1022350" y="40092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403350" y="40092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commit -m </a:t>
            </a:r>
            <a:r>
              <a:rPr lang="en-US" sz="1200" dirty="0">
                <a:solidFill>
                  <a:srgbClr val="A8520A"/>
                </a:solidFill>
                <a:latin typeface="IBM Plex Mono" pitchFamily="49" charset="0"/>
                <a:ea typeface="IBM Plex Mono" pitchFamily="49" charset="-122"/>
                <a:cs typeface="IBM Plex Mono" pitchFamily="49" charset="-120"/>
              </a:rPr>
              <a:t>"Add reservation overlap rule"</a:t>
            </a:r>
            <a:endParaRPr lang="en-US" sz="1200" dirty="0"/>
          </a:p>
        </p:txBody>
      </p:sp>
      <p:sp>
        <p:nvSpPr>
          <p:cNvPr id="20" name="Text 18"/>
          <p:cNvSpPr/>
          <p:nvPr/>
        </p:nvSpPr>
        <p:spPr>
          <a:xfrm>
            <a:off x="1022350" y="42759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403350" y="42759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push -u origin feature/reservation-overlap</a:t>
            </a:r>
            <a:endParaRPr lang="en-US" sz="1200" dirty="0"/>
          </a:p>
        </p:txBody>
      </p:sp>
      <p:sp>
        <p:nvSpPr>
          <p:cNvPr id="22" name="Text 20"/>
          <p:cNvSpPr/>
          <p:nvPr/>
        </p:nvSpPr>
        <p:spPr>
          <a:xfrm>
            <a:off x="7721600" y="21766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3" name="Shape 21"/>
          <p:cNvSpPr/>
          <p:nvPr/>
        </p:nvSpPr>
        <p:spPr>
          <a:xfrm>
            <a:off x="7734300" y="2516981"/>
            <a:ext cx="0" cy="256480"/>
          </a:xfrm>
          <a:prstGeom prst="line">
            <a:avLst/>
          </a:prstGeom>
          <a:noFill/>
          <a:ln w="25400">
            <a:solidFill>
              <a:srgbClr val="0E6E68"/>
            </a:solidFill>
            <a:prstDash val="solid"/>
          </a:ln>
        </p:spPr>
      </p:sp>
      <p:sp>
        <p:nvSpPr>
          <p:cNvPr id="24" name="Text 22"/>
          <p:cNvSpPr/>
          <p:nvPr/>
        </p:nvSpPr>
        <p:spPr>
          <a:xfrm>
            <a:off x="7886700" y="2529681"/>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Пре commit-а прегледати припремљени diff.</a:t>
            </a:r>
            <a:endParaRPr lang="en-US" sz="1300" dirty="0"/>
          </a:p>
        </p:txBody>
      </p:sp>
      <p:sp>
        <p:nvSpPr>
          <p:cNvPr id="25" name="Shape 23"/>
          <p:cNvSpPr/>
          <p:nvPr/>
        </p:nvSpPr>
        <p:spPr>
          <a:xfrm>
            <a:off x="7734300" y="2900462"/>
            <a:ext cx="0" cy="256480"/>
          </a:xfrm>
          <a:prstGeom prst="line">
            <a:avLst/>
          </a:prstGeom>
          <a:noFill/>
          <a:ln w="25400">
            <a:solidFill>
              <a:srgbClr val="0E6E68"/>
            </a:solidFill>
            <a:prstDash val="solid"/>
          </a:ln>
        </p:spPr>
      </p:sp>
      <p:sp>
        <p:nvSpPr>
          <p:cNvPr id="26" name="Text 24"/>
          <p:cNvSpPr/>
          <p:nvPr/>
        </p:nvSpPr>
        <p:spPr>
          <a:xfrm>
            <a:off x="7886700" y="2913162"/>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Један commit има једну кохерентну намеру.</a:t>
            </a:r>
            <a:endParaRPr lang="en-US" sz="1300" dirty="0"/>
          </a:p>
        </p:txBody>
      </p:sp>
      <p:sp>
        <p:nvSpPr>
          <p:cNvPr id="27" name="Shape 25"/>
          <p:cNvSpPr/>
          <p:nvPr/>
        </p:nvSpPr>
        <p:spPr>
          <a:xfrm>
            <a:off x="7734300" y="3283942"/>
            <a:ext cx="0" cy="487561"/>
          </a:xfrm>
          <a:prstGeom prst="line">
            <a:avLst/>
          </a:prstGeom>
          <a:noFill/>
          <a:ln w="25400">
            <a:solidFill>
              <a:srgbClr val="0E6E68"/>
            </a:solidFill>
            <a:prstDash val="solid"/>
          </a:ln>
        </p:spPr>
      </p:sp>
      <p:sp>
        <p:nvSpPr>
          <p:cNvPr id="28" name="Text 26"/>
          <p:cNvSpPr/>
          <p:nvPr/>
        </p:nvSpPr>
        <p:spPr>
          <a:xfrm>
            <a:off x="7886700" y="329664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Неповезане промене не иду у исти Pull Request.</a:t>
            </a:r>
            <a:endParaRPr lang="en-US" sz="1300" dirty="0"/>
          </a:p>
        </p:txBody>
      </p:sp>
      <p:sp>
        <p:nvSpPr>
          <p:cNvPr id="29" name="Shape 27"/>
          <p:cNvSpPr/>
          <p:nvPr/>
        </p:nvSpPr>
        <p:spPr>
          <a:xfrm>
            <a:off x="7734300" y="3898503"/>
            <a:ext cx="0" cy="256480"/>
          </a:xfrm>
          <a:prstGeom prst="line">
            <a:avLst/>
          </a:prstGeom>
          <a:noFill/>
          <a:ln w="25400">
            <a:solidFill>
              <a:srgbClr val="E07B1F"/>
            </a:solidFill>
            <a:prstDash val="solid"/>
          </a:ln>
        </p:spPr>
      </p:sp>
      <p:sp>
        <p:nvSpPr>
          <p:cNvPr id="30" name="Text 28"/>
          <p:cNvSpPr/>
          <p:nvPr/>
        </p:nvSpPr>
        <p:spPr>
          <a:xfrm>
            <a:off x="7886700" y="3911203"/>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Главна грана остаје стабилна за цео тим.</a:t>
            </a:r>
            <a:endParaRPr lang="en-US" sz="1300" dirty="0"/>
          </a:p>
        </p:txBody>
      </p:sp>
      <p:sp>
        <p:nvSpPr>
          <p:cNvPr id="31" name="Shape 29"/>
          <p:cNvSpPr/>
          <p:nvPr/>
        </p:nvSpPr>
        <p:spPr>
          <a:xfrm>
            <a:off x="812800" y="6209705"/>
            <a:ext cx="10566400" cy="0"/>
          </a:xfrm>
          <a:prstGeom prst="line">
            <a:avLst/>
          </a:prstGeom>
          <a:noFill/>
          <a:ln w="6350">
            <a:solidFill>
              <a:srgbClr val="D3DAE1"/>
            </a:solidFill>
            <a:prstDash val="solid"/>
          </a:ln>
        </p:spPr>
      </p:sp>
      <p:sp>
        <p:nvSpPr>
          <p:cNvPr id="32"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pic>
        <p:nvPicPr>
          <p:cNvPr id="3" name="Image 0" descr="Feature branch ток: од главне гране main одваја се грана feature/reservation-overlap са три commit-а, пролази кроз Pull Request са прегледом и провером и спаја се назад у main">    </p:cNvPr>
          <p:cNvPicPr>
            <a:picLocks noChangeAspect="1"/>
          </p:cNvPicPr>
          <p:nvPr/>
        </p:nvPicPr>
        <p:blipFill>
          <a:blip r:embed="rId1"/>
          <a:srcRect l="0" r="0" t="-31" b="-31"/>
          <a:stretch/>
        </p:blipFill>
        <p:spPr>
          <a:xfrm>
            <a:off x="812800" y="2095500"/>
            <a:ext cx="10566400" cy="2540000"/>
          </a:xfrm>
          <a:prstGeom prst="rect">
            <a:avLst/>
          </a:prstGeom>
        </p:spPr>
      </p:pic>
      <p:sp>
        <p:nvSpPr>
          <p:cNvPr id="4"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04 · GIT</a:t>
            </a:r>
            <a:endParaRPr lang="en-US" sz="1200" dirty="0"/>
          </a:p>
        </p:txBody>
      </p:sp>
      <p:sp>
        <p:nvSpPr>
          <p:cNvPr id="5"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Рад на feature грани</a:t>
            </a:r>
            <a:endParaRPr lang="en-US" sz="3000" dirty="0"/>
          </a:p>
        </p:txBody>
      </p:sp>
      <p:sp>
        <p:nvSpPr>
          <p:cNvPr id="6"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Свака ставка се развија на сопственој грани, а у главну грану улази тек после прегледа.</a:t>
            </a:r>
            <a:endParaRPr lang="en-US" sz="1400" dirty="0"/>
          </a:p>
        </p:txBody>
      </p:sp>
      <p:sp>
        <p:nvSpPr>
          <p:cNvPr id="7" name="Text 4"/>
          <p:cNvSpPr/>
          <p:nvPr/>
        </p:nvSpPr>
        <p:spPr>
          <a:xfrm>
            <a:off x="1066800" y="4165600"/>
            <a:ext cx="1320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Mono" pitchFamily="49" charset="0"/>
                <a:ea typeface="IBM Plex Mono" pitchFamily="49" charset="-122"/>
                <a:cs typeface="IBM Plex Mono" pitchFamily="49" charset="-120"/>
              </a:rPr>
              <a:t>main</a:t>
            </a:r>
            <a:endParaRPr lang="en-US" sz="1300" dirty="0"/>
          </a:p>
        </p:txBody>
      </p:sp>
      <p:sp>
        <p:nvSpPr>
          <p:cNvPr id="8" name="Text 5"/>
          <p:cNvSpPr/>
          <p:nvPr/>
        </p:nvSpPr>
        <p:spPr>
          <a:xfrm>
            <a:off x="3352800" y="2603500"/>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feature/reservation-overlap</a:t>
            </a:r>
            <a:endParaRPr lang="en-US" sz="1200" dirty="0"/>
          </a:p>
        </p:txBody>
      </p:sp>
      <p:sp>
        <p:nvSpPr>
          <p:cNvPr id="9" name="Text 6"/>
          <p:cNvSpPr/>
          <p:nvPr/>
        </p:nvSpPr>
        <p:spPr>
          <a:xfrm>
            <a:off x="3454400" y="3175000"/>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правило</a:t>
            </a:r>
            <a:endParaRPr lang="en-US" sz="1200" dirty="0"/>
          </a:p>
        </p:txBody>
      </p:sp>
      <p:sp>
        <p:nvSpPr>
          <p:cNvPr id="10" name="Text 7"/>
          <p:cNvSpPr/>
          <p:nvPr/>
        </p:nvSpPr>
        <p:spPr>
          <a:xfrm>
            <a:off x="4470400" y="3175000"/>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тест</a:t>
            </a:r>
            <a:endParaRPr lang="en-US" sz="1200" dirty="0"/>
          </a:p>
        </p:txBody>
      </p:sp>
      <p:sp>
        <p:nvSpPr>
          <p:cNvPr id="11" name="Text 8"/>
          <p:cNvSpPr/>
          <p:nvPr/>
        </p:nvSpPr>
        <p:spPr>
          <a:xfrm>
            <a:off x="5486400" y="3175000"/>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дорада</a:t>
            </a:r>
            <a:endParaRPr lang="en-US" sz="1200" dirty="0"/>
          </a:p>
        </p:txBody>
      </p:sp>
      <p:sp>
        <p:nvSpPr>
          <p:cNvPr id="12" name="Text 9"/>
          <p:cNvSpPr/>
          <p:nvPr/>
        </p:nvSpPr>
        <p:spPr>
          <a:xfrm>
            <a:off x="6629400" y="2768600"/>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6E68"/>
                </a:solidFill>
                <a:latin typeface="IBM Plex Sans" pitchFamily="34" charset="0"/>
                <a:ea typeface="IBM Plex Sans" pitchFamily="34" charset="-122"/>
                <a:cs typeface="IBM Plex Sans" pitchFamily="34" charset="-120"/>
              </a:rPr>
              <a:t>Pull Request</a:t>
            </a:r>
            <a:endParaRPr lang="en-US" sz="1200" dirty="0"/>
          </a:p>
        </p:txBody>
      </p:sp>
      <p:sp>
        <p:nvSpPr>
          <p:cNvPr id="13" name="Text 10"/>
          <p:cNvSpPr/>
          <p:nvPr/>
        </p:nvSpPr>
        <p:spPr>
          <a:xfrm>
            <a:off x="6629400" y="2997200"/>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review · build</a:t>
            </a:r>
            <a:endParaRPr lang="en-US" sz="1200" dirty="0"/>
          </a:p>
        </p:txBody>
      </p:sp>
      <p:sp>
        <p:nvSpPr>
          <p:cNvPr id="14" name="Text 11"/>
          <p:cNvSpPr/>
          <p:nvPr/>
        </p:nvSpPr>
        <p:spPr>
          <a:xfrm>
            <a:off x="8788400" y="4229100"/>
            <a:ext cx="1066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6E68"/>
                </a:solidFill>
                <a:latin typeface="IBM Plex Mono" pitchFamily="49" charset="0"/>
                <a:ea typeface="IBM Plex Mono" pitchFamily="49" charset="-122"/>
                <a:cs typeface="IBM Plex Mono" pitchFamily="49" charset="-120"/>
              </a:rPr>
              <a:t>merge</a:t>
            </a:r>
            <a:endParaRPr lang="en-US" sz="1200" dirty="0"/>
          </a:p>
        </p:txBody>
      </p:sp>
      <p:sp>
        <p:nvSpPr>
          <p:cNvPr id="15" name="Text 12"/>
          <p:cNvSpPr/>
          <p:nvPr/>
        </p:nvSpPr>
        <p:spPr>
          <a:xfrm>
            <a:off x="4723130" y="4229100"/>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рад других чланова</a:t>
            </a:r>
            <a:endParaRPr lang="en-US" sz="1200" dirty="0"/>
          </a:p>
        </p:txBody>
      </p:sp>
      <p:sp>
        <p:nvSpPr>
          <p:cNvPr id="16" name="Shape 13"/>
          <p:cNvSpPr/>
          <p:nvPr/>
        </p:nvSpPr>
        <p:spPr>
          <a:xfrm>
            <a:off x="812800" y="4724400"/>
            <a:ext cx="3437434" cy="639961"/>
          </a:xfrm>
          <a:prstGeom prst="roundRect">
            <a:avLst>
              <a:gd name="adj" fmla="val 13891"/>
            </a:avLst>
          </a:prstGeom>
          <a:solidFill>
            <a:srgbClr val="E2EBE9"/>
          </a:solidFill>
          <a:ln/>
        </p:spPr>
      </p:sp>
      <p:pic>
        <p:nvPicPr>
          <p:cNvPr id="17" name="Image 1" descr="Book">    </p:cNvPr>
          <p:cNvPicPr>
            <a:picLocks noChangeAspect="1"/>
          </p:cNvPicPr>
          <p:nvPr/>
        </p:nvPicPr>
        <p:blipFill>
          <a:blip r:embed="rId2"/>
          <a:srcRect l="0" r="0" t="0" b="0"/>
          <a:stretch/>
        </p:blipFill>
        <p:spPr>
          <a:xfrm>
            <a:off x="965200" y="4942780"/>
            <a:ext cx="203200" cy="203200"/>
          </a:xfrm>
          <a:prstGeom prst="rect">
            <a:avLst/>
          </a:prstGeom>
        </p:spPr>
      </p:pic>
      <p:sp>
        <p:nvSpPr>
          <p:cNvPr id="18" name="Text 14"/>
          <p:cNvSpPr/>
          <p:nvPr/>
        </p:nvSpPr>
        <p:spPr>
          <a:xfrm>
            <a:off x="1270000" y="4941491"/>
            <a:ext cx="291266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Једна ставка, једна грана</a:t>
            </a:r>
            <a:endParaRPr lang="en-US" sz="1200" dirty="0"/>
          </a:p>
        </p:txBody>
      </p:sp>
      <p:sp>
        <p:nvSpPr>
          <p:cNvPr id="19" name="Shape 15"/>
          <p:cNvSpPr/>
          <p:nvPr/>
        </p:nvSpPr>
        <p:spPr>
          <a:xfrm>
            <a:off x="4377234" y="4724400"/>
            <a:ext cx="3437533" cy="639961"/>
          </a:xfrm>
          <a:prstGeom prst="roundRect">
            <a:avLst>
              <a:gd name="adj" fmla="val 13891"/>
            </a:avLst>
          </a:prstGeom>
          <a:solidFill>
            <a:srgbClr val="E2EBE9"/>
          </a:solidFill>
          <a:ln/>
        </p:spPr>
      </p:sp>
      <p:pic>
        <p:nvPicPr>
          <p:cNvPr id="20" name="Image 2" descr="Code">    </p:cNvPr>
          <p:cNvPicPr>
            <a:picLocks noChangeAspect="1"/>
          </p:cNvPicPr>
          <p:nvPr/>
        </p:nvPicPr>
        <p:blipFill>
          <a:blip r:embed="rId3"/>
          <a:srcRect l="0" r="0" t="0" b="0"/>
          <a:stretch/>
        </p:blipFill>
        <p:spPr>
          <a:xfrm>
            <a:off x="4529634" y="4942780"/>
            <a:ext cx="203200" cy="203200"/>
          </a:xfrm>
          <a:prstGeom prst="rect">
            <a:avLst/>
          </a:prstGeom>
        </p:spPr>
      </p:pic>
      <p:sp>
        <p:nvSpPr>
          <p:cNvPr id="21" name="Text 16"/>
          <p:cNvSpPr/>
          <p:nvPr/>
        </p:nvSpPr>
        <p:spPr>
          <a:xfrm>
            <a:off x="4834434" y="4941491"/>
            <a:ext cx="291277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Мали и смислени commit-и</a:t>
            </a:r>
            <a:endParaRPr lang="en-US" sz="1200" dirty="0"/>
          </a:p>
        </p:txBody>
      </p:sp>
      <p:sp>
        <p:nvSpPr>
          <p:cNvPr id="22" name="Shape 17"/>
          <p:cNvSpPr/>
          <p:nvPr/>
        </p:nvSpPr>
        <p:spPr>
          <a:xfrm>
            <a:off x="7941766" y="4724400"/>
            <a:ext cx="3437434" cy="639961"/>
          </a:xfrm>
          <a:prstGeom prst="roundRect">
            <a:avLst>
              <a:gd name="adj" fmla="val 13891"/>
            </a:avLst>
          </a:prstGeom>
          <a:solidFill>
            <a:srgbClr val="E2EBE9"/>
          </a:solidFill>
          <a:ln/>
        </p:spPr>
      </p:sp>
      <p:pic>
        <p:nvPicPr>
          <p:cNvPr id="23" name="Image 3" descr="Lock">    </p:cNvPr>
          <p:cNvPicPr>
            <a:picLocks noChangeAspect="1"/>
          </p:cNvPicPr>
          <p:nvPr/>
        </p:nvPicPr>
        <p:blipFill>
          <a:blip r:embed="rId4"/>
          <a:srcRect l="0" r="0" t="0" b="0"/>
          <a:stretch/>
        </p:blipFill>
        <p:spPr>
          <a:xfrm>
            <a:off x="8094166" y="4942780"/>
            <a:ext cx="203200" cy="203200"/>
          </a:xfrm>
          <a:prstGeom prst="rect">
            <a:avLst/>
          </a:prstGeom>
        </p:spPr>
      </p:pic>
      <p:sp>
        <p:nvSpPr>
          <p:cNvPr id="24" name="Text 18"/>
          <p:cNvSpPr/>
          <p:nvPr/>
        </p:nvSpPr>
        <p:spPr>
          <a:xfrm>
            <a:off x="8398966" y="4838700"/>
            <a:ext cx="291266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main се мења само преко Pull Request-а</a:t>
            </a:r>
            <a:endParaRPr lang="en-US" sz="1200" dirty="0"/>
          </a:p>
        </p:txBody>
      </p:sp>
      <p:sp>
        <p:nvSpPr>
          <p:cNvPr id="25" name="Shape 19"/>
          <p:cNvSpPr/>
          <p:nvPr/>
        </p:nvSpPr>
        <p:spPr>
          <a:xfrm>
            <a:off x="812800" y="6209705"/>
            <a:ext cx="10566400" cy="0"/>
          </a:xfrm>
          <a:prstGeom prst="line">
            <a:avLst/>
          </a:prstGeom>
          <a:noFill/>
          <a:ln w="6350">
            <a:solidFill>
              <a:srgbClr val="D3DAE1"/>
            </a:solidFill>
            <a:prstDash val="solid"/>
          </a:ln>
        </p:spPr>
      </p:sp>
      <p:sp>
        <p:nvSpPr>
          <p:cNvPr id="26"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7"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04 · GIT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Pull Request и преглед измене</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Преглед кода је обавезан део развојног поступка.</a:t>
            </a:r>
            <a:endParaRPr lang="en-US" sz="1400" dirty="0"/>
          </a:p>
        </p:txBody>
      </p:sp>
      <p:sp>
        <p:nvSpPr>
          <p:cNvPr id="6" name="Shape 4"/>
          <p:cNvSpPr/>
          <p:nvPr/>
        </p:nvSpPr>
        <p:spPr>
          <a:xfrm>
            <a:off x="815975" y="2078236"/>
            <a:ext cx="10560050" cy="499070"/>
          </a:xfrm>
          <a:prstGeom prst="roundRect">
            <a:avLst>
              <a:gd name="adj" fmla="val 17177"/>
            </a:avLst>
          </a:prstGeom>
          <a:solidFill>
            <a:srgbClr val="FCFCFB"/>
          </a:solidFill>
          <a:ln w="6350">
            <a:solidFill>
              <a:srgbClr val="D3DAE1"/>
            </a:solidFill>
            <a:prstDash val="solid"/>
          </a:ln>
        </p:spPr>
      </p:sp>
      <p:sp>
        <p:nvSpPr>
          <p:cNvPr id="7" name="Text 5"/>
          <p:cNvSpPr/>
          <p:nvPr/>
        </p:nvSpPr>
        <p:spPr>
          <a:xfrm>
            <a:off x="996950" y="2195711"/>
            <a:ext cx="335359" cy="264120"/>
          </a:xfrm>
          <a:prstGeom prst="roundRect">
            <a:avLst>
              <a:gd name="adj" fmla="val 19234"/>
            </a:avLst>
          </a:prstGeom>
          <a:solidFill>
            <a:srgbClr val="0E6E68"/>
          </a:solidFill>
          <a:ln/>
        </p:spPr>
        <p:txBody>
          <a:bodyPr wrap="none" lIns="0" tIns="0" rIns="0" bIns="0" rtlCol="0" anchor="ctr">
            <a:normAutofit/>
          </a:bodyPr>
          <a:lstStyle/>
          <a:p>
            <a:pPr algn="ctr" indent="0" marL="0">
              <a:lnSpc>
                <a:spcPts val="1680"/>
              </a:lnSpc>
              <a:buNone/>
            </a:pPr>
            <a:r>
              <a:rPr lang="en-US" sz="1200" b="1" dirty="0">
                <a:solidFill>
                  <a:srgbClr val="FCFCFB"/>
                </a:solidFill>
                <a:latin typeface="IBM Plex Mono" pitchFamily="49" charset="0"/>
                <a:ea typeface="IBM Plex Mono" pitchFamily="49" charset="-122"/>
                <a:cs typeface="IBM Plex Mono" pitchFamily="49" charset="-120"/>
              </a:rPr>
              <a:t>PR</a:t>
            </a:r>
            <a:endParaRPr lang="en-US" sz="1200" dirty="0"/>
          </a:p>
        </p:txBody>
      </p:sp>
      <p:sp>
        <p:nvSpPr>
          <p:cNvPr id="8" name="Text 6"/>
          <p:cNvSpPr/>
          <p:nvPr/>
        </p:nvSpPr>
        <p:spPr>
          <a:xfrm>
            <a:off x="1459309" y="2212181"/>
            <a:ext cx="593601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Add reservation overlap rule</a:t>
            </a:r>
            <a:endParaRPr lang="en-US" sz="1300" dirty="0"/>
          </a:p>
        </p:txBody>
      </p:sp>
      <p:sp>
        <p:nvSpPr>
          <p:cNvPr id="9" name="Text 7"/>
          <p:cNvSpPr/>
          <p:nvPr/>
        </p:nvSpPr>
        <p:spPr>
          <a:xfrm>
            <a:off x="7349430" y="2221111"/>
            <a:ext cx="3236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feature/reservation-overlap → main</a:t>
            </a:r>
            <a:endParaRPr lang="en-US" sz="1200" dirty="0"/>
          </a:p>
        </p:txBody>
      </p:sp>
      <p:sp>
        <p:nvSpPr>
          <p:cNvPr id="10" name="Text 8"/>
          <p:cNvSpPr/>
          <p:nvPr/>
        </p:nvSpPr>
        <p:spPr>
          <a:xfrm>
            <a:off x="10585450" y="2195711"/>
            <a:ext cx="609600" cy="264120"/>
          </a:xfrm>
          <a:prstGeom prst="roundRect">
            <a:avLst>
              <a:gd name="adj" fmla="val 19234"/>
            </a:avLst>
          </a:prstGeom>
          <a:solidFill>
            <a:srgbClr val="DDEBEA"/>
          </a:solidFill>
          <a:ln/>
        </p:spPr>
        <p:txBody>
          <a:bodyPr wrap="none" lIns="0" tIns="0" rIns="0" bIns="0" rtlCol="0" anchor="ctr">
            <a:normAutofit/>
          </a:bodyPr>
          <a:lstStyle/>
          <a:p>
            <a:pPr algn="ctr"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US-05</a:t>
            </a:r>
            <a:endParaRPr lang="en-US" sz="1200" dirty="0"/>
          </a:p>
        </p:txBody>
      </p:sp>
      <p:sp>
        <p:nvSpPr>
          <p:cNvPr id="11" name="Shape 9"/>
          <p:cNvSpPr/>
          <p:nvPr/>
        </p:nvSpPr>
        <p:spPr>
          <a:xfrm>
            <a:off x="815975" y="2786856"/>
            <a:ext cx="5213350" cy="989211"/>
          </a:xfrm>
          <a:prstGeom prst="roundRect">
            <a:avLst>
              <a:gd name="adj" fmla="val 9950"/>
            </a:avLst>
          </a:prstGeom>
          <a:solidFill>
            <a:srgbClr val="FCFCFB"/>
          </a:solidFill>
          <a:ln w="6350">
            <a:solidFill>
              <a:srgbClr val="D3DAE1"/>
            </a:solidFill>
            <a:prstDash val="solid"/>
          </a:ln>
        </p:spPr>
      </p:sp>
      <p:sp>
        <p:nvSpPr>
          <p:cNvPr id="12" name="Text 10"/>
          <p:cNvSpPr/>
          <p:nvPr/>
        </p:nvSpPr>
        <p:spPr>
          <a:xfrm>
            <a:off x="1022350" y="294243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E6E68"/>
                </a:solidFill>
                <a:latin typeface="IBM Plex Mono" pitchFamily="49" charset="0"/>
                <a:ea typeface="IBM Plex Mono" pitchFamily="49" charset="-122"/>
                <a:cs typeface="IBM Plex Mono" pitchFamily="49" charset="-120"/>
              </a:rPr>
              <a:t>01</a:t>
            </a:r>
            <a:endParaRPr lang="en-US" sz="2200" dirty="0"/>
          </a:p>
        </p:txBody>
      </p:sp>
      <p:sp>
        <p:nvSpPr>
          <p:cNvPr id="13" name="Text 11"/>
          <p:cNvSpPr/>
          <p:nvPr/>
        </p:nvSpPr>
        <p:spPr>
          <a:xfrm>
            <a:off x="1510109" y="2942431"/>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Обим</a:t>
            </a:r>
            <a:endParaRPr lang="en-US" sz="1400" dirty="0"/>
          </a:p>
        </p:txBody>
      </p:sp>
      <p:sp>
        <p:nvSpPr>
          <p:cNvPr id="14" name="Text 12"/>
          <p:cNvSpPr/>
          <p:nvPr/>
        </p:nvSpPr>
        <p:spPr>
          <a:xfrm>
            <a:off x="1510109" y="3193852"/>
            <a:ext cx="45160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Да ли промена решава тачно ону ставку на коју се позива?</a:t>
            </a:r>
            <a:endParaRPr lang="en-US" sz="1200" dirty="0"/>
          </a:p>
        </p:txBody>
      </p:sp>
      <p:sp>
        <p:nvSpPr>
          <p:cNvPr id="15" name="Shape 13"/>
          <p:cNvSpPr/>
          <p:nvPr/>
        </p:nvSpPr>
        <p:spPr>
          <a:xfrm>
            <a:off x="6162675" y="2786856"/>
            <a:ext cx="5213350" cy="989211"/>
          </a:xfrm>
          <a:prstGeom prst="roundRect">
            <a:avLst>
              <a:gd name="adj" fmla="val 9950"/>
            </a:avLst>
          </a:prstGeom>
          <a:solidFill>
            <a:srgbClr val="FCFCFB"/>
          </a:solidFill>
          <a:ln w="6350">
            <a:solidFill>
              <a:srgbClr val="D3DAE1"/>
            </a:solidFill>
            <a:prstDash val="solid"/>
          </a:ln>
        </p:spPr>
      </p:sp>
      <p:sp>
        <p:nvSpPr>
          <p:cNvPr id="16" name="Text 14"/>
          <p:cNvSpPr/>
          <p:nvPr/>
        </p:nvSpPr>
        <p:spPr>
          <a:xfrm>
            <a:off x="6369050" y="294243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E6E68"/>
                </a:solidFill>
                <a:latin typeface="IBM Plex Mono" pitchFamily="49" charset="0"/>
                <a:ea typeface="IBM Plex Mono" pitchFamily="49" charset="-122"/>
                <a:cs typeface="IBM Plex Mono" pitchFamily="49" charset="-120"/>
              </a:rPr>
              <a:t>02</a:t>
            </a:r>
            <a:endParaRPr lang="en-US" sz="2200" dirty="0"/>
          </a:p>
        </p:txBody>
      </p:sp>
      <p:sp>
        <p:nvSpPr>
          <p:cNvPr id="17" name="Text 15"/>
          <p:cNvSpPr/>
          <p:nvPr/>
        </p:nvSpPr>
        <p:spPr>
          <a:xfrm>
            <a:off x="6856809" y="2942431"/>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Архитектура</a:t>
            </a:r>
            <a:endParaRPr lang="en-US" sz="1400" dirty="0"/>
          </a:p>
        </p:txBody>
      </p:sp>
      <p:sp>
        <p:nvSpPr>
          <p:cNvPr id="18" name="Text 16"/>
          <p:cNvSpPr/>
          <p:nvPr/>
        </p:nvSpPr>
        <p:spPr>
          <a:xfrm>
            <a:off x="6856809" y="3193852"/>
            <a:ext cx="44422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Да ли се поштују договорене границе између слојева и модула?</a:t>
            </a:r>
            <a:endParaRPr lang="en-US" sz="1200" dirty="0"/>
          </a:p>
        </p:txBody>
      </p:sp>
      <p:sp>
        <p:nvSpPr>
          <p:cNvPr id="19" name="Shape 17"/>
          <p:cNvSpPr/>
          <p:nvPr/>
        </p:nvSpPr>
        <p:spPr>
          <a:xfrm>
            <a:off x="815975" y="3909417"/>
            <a:ext cx="5213350" cy="775891"/>
          </a:xfrm>
          <a:prstGeom prst="roundRect">
            <a:avLst>
              <a:gd name="adj" fmla="val 12685"/>
            </a:avLst>
          </a:prstGeom>
          <a:solidFill>
            <a:srgbClr val="FCFCFB"/>
          </a:solidFill>
          <a:ln w="6350">
            <a:solidFill>
              <a:srgbClr val="D3DAE1"/>
            </a:solidFill>
            <a:prstDash val="solid"/>
          </a:ln>
        </p:spPr>
      </p:sp>
      <p:sp>
        <p:nvSpPr>
          <p:cNvPr id="20" name="Text 18"/>
          <p:cNvSpPr/>
          <p:nvPr/>
        </p:nvSpPr>
        <p:spPr>
          <a:xfrm>
            <a:off x="1022350" y="406499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E6E68"/>
                </a:solidFill>
                <a:latin typeface="IBM Plex Mono" pitchFamily="49" charset="0"/>
                <a:ea typeface="IBM Plex Mono" pitchFamily="49" charset="-122"/>
                <a:cs typeface="IBM Plex Mono" pitchFamily="49" charset="-120"/>
              </a:rPr>
              <a:t>03</a:t>
            </a:r>
            <a:endParaRPr lang="en-US" sz="2200" dirty="0"/>
          </a:p>
        </p:txBody>
      </p:sp>
      <p:sp>
        <p:nvSpPr>
          <p:cNvPr id="21" name="Text 19"/>
          <p:cNvSpPr/>
          <p:nvPr/>
        </p:nvSpPr>
        <p:spPr>
          <a:xfrm>
            <a:off x="1510109" y="4064992"/>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Тестови</a:t>
            </a:r>
            <a:endParaRPr lang="en-US" sz="1400" dirty="0"/>
          </a:p>
        </p:txBody>
      </p:sp>
      <p:sp>
        <p:nvSpPr>
          <p:cNvPr id="22" name="Text 20"/>
          <p:cNvSpPr/>
          <p:nvPr/>
        </p:nvSpPr>
        <p:spPr>
          <a:xfrm>
            <a:off x="1510109" y="4316413"/>
            <a:ext cx="44422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Да ли постоји доказ провере за критеријуме прихватања?</a:t>
            </a:r>
            <a:endParaRPr lang="en-US" sz="1200" dirty="0"/>
          </a:p>
        </p:txBody>
      </p:sp>
      <p:sp>
        <p:nvSpPr>
          <p:cNvPr id="23" name="Shape 21"/>
          <p:cNvSpPr/>
          <p:nvPr/>
        </p:nvSpPr>
        <p:spPr>
          <a:xfrm>
            <a:off x="6162675" y="3909417"/>
            <a:ext cx="5213350" cy="775891"/>
          </a:xfrm>
          <a:prstGeom prst="roundRect">
            <a:avLst>
              <a:gd name="adj" fmla="val 12685"/>
            </a:avLst>
          </a:prstGeom>
          <a:solidFill>
            <a:srgbClr val="FCFCFB"/>
          </a:solidFill>
          <a:ln w="6350">
            <a:solidFill>
              <a:srgbClr val="D3DAE1"/>
            </a:solidFill>
            <a:prstDash val="solid"/>
          </a:ln>
        </p:spPr>
      </p:sp>
      <p:sp>
        <p:nvSpPr>
          <p:cNvPr id="24" name="Text 22"/>
          <p:cNvSpPr/>
          <p:nvPr/>
        </p:nvSpPr>
        <p:spPr>
          <a:xfrm>
            <a:off x="6369050" y="406499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E6E68"/>
                </a:solidFill>
                <a:latin typeface="IBM Plex Mono" pitchFamily="49" charset="0"/>
                <a:ea typeface="IBM Plex Mono" pitchFamily="49" charset="-122"/>
                <a:cs typeface="IBM Plex Mono" pitchFamily="49" charset="-120"/>
              </a:rPr>
              <a:t>04</a:t>
            </a:r>
            <a:endParaRPr lang="en-US" sz="2200" dirty="0"/>
          </a:p>
        </p:txBody>
      </p:sp>
      <p:sp>
        <p:nvSpPr>
          <p:cNvPr id="25" name="Text 23"/>
          <p:cNvSpPr/>
          <p:nvPr/>
        </p:nvSpPr>
        <p:spPr>
          <a:xfrm>
            <a:off x="6856809" y="4064992"/>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Ризици</a:t>
            </a:r>
            <a:endParaRPr lang="en-US" sz="1400" dirty="0"/>
          </a:p>
        </p:txBody>
      </p:sp>
      <p:sp>
        <p:nvSpPr>
          <p:cNvPr id="26" name="Text 24"/>
          <p:cNvSpPr/>
          <p:nvPr/>
        </p:nvSpPr>
        <p:spPr>
          <a:xfrm>
            <a:off x="6856809" y="4316413"/>
            <a:ext cx="44422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Шта се мења и шта може поћи по злу после спајања?</a:t>
            </a:r>
            <a:endParaRPr lang="en-US" sz="1200" dirty="0"/>
          </a:p>
        </p:txBody>
      </p:sp>
      <p:sp>
        <p:nvSpPr>
          <p:cNvPr id="27" name="Shape 25"/>
          <p:cNvSpPr/>
          <p:nvPr/>
        </p:nvSpPr>
        <p:spPr>
          <a:xfrm>
            <a:off x="812800" y="6209705"/>
            <a:ext cx="10566400" cy="0"/>
          </a:xfrm>
          <a:prstGeom prst="line">
            <a:avLst/>
          </a:prstGeom>
          <a:noFill/>
          <a:ln w="6350">
            <a:solidFill>
              <a:srgbClr val="D3DAE1"/>
            </a:solidFill>
            <a:prstDash val="solid"/>
          </a:ln>
        </p:spPr>
      </p:sp>
      <p:sp>
        <p:nvSpPr>
          <p:cNvPr id="28" name="Text 2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9"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04 · GIT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Решавање конфликта при спајању</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Тим усаглашава очекивано понашање пре завршетка спајања.</a:t>
            </a:r>
            <a:endParaRPr lang="en-US" sz="1400" dirty="0"/>
          </a:p>
        </p:txBody>
      </p:sp>
      <p:sp>
        <p:nvSpPr>
          <p:cNvPr id="6" name="Shape 4"/>
          <p:cNvSpPr/>
          <p:nvPr/>
        </p:nvSpPr>
        <p:spPr>
          <a:xfrm>
            <a:off x="815975" y="2129036"/>
            <a:ext cx="6597650" cy="2632670"/>
          </a:xfrm>
          <a:prstGeom prst="roundRect">
            <a:avLst>
              <a:gd name="adj" fmla="val 3739"/>
            </a:avLst>
          </a:prstGeom>
          <a:solidFill>
            <a:srgbClr val="FCFCFB"/>
          </a:solidFill>
          <a:ln w="6350">
            <a:solidFill>
              <a:srgbClr val="D3DAE1"/>
            </a:solidFill>
            <a:prstDash val="solid"/>
          </a:ln>
        </p:spPr>
      </p:sp>
      <p:sp>
        <p:nvSpPr>
          <p:cNvPr id="7" name="Text 5"/>
          <p:cNvSpPr/>
          <p:nvPr/>
        </p:nvSpPr>
        <p:spPr>
          <a:xfrm>
            <a:off x="1022350" y="229731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terminal</a:t>
            </a:r>
            <a:endParaRPr lang="en-US" sz="1200" dirty="0"/>
          </a:p>
        </p:txBody>
      </p:sp>
      <p:sp>
        <p:nvSpPr>
          <p:cNvPr id="8" name="Text 6"/>
          <p:cNvSpPr/>
          <p:nvPr/>
        </p:nvSpPr>
        <p:spPr>
          <a:xfrm>
            <a:off x="1022350" y="25868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868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checkout main</a:t>
            </a:r>
            <a:endParaRPr lang="en-US" sz="1200" dirty="0"/>
          </a:p>
        </p:txBody>
      </p:sp>
      <p:sp>
        <p:nvSpPr>
          <p:cNvPr id="10" name="Text 8"/>
          <p:cNvSpPr/>
          <p:nvPr/>
        </p:nvSpPr>
        <p:spPr>
          <a:xfrm>
            <a:off x="1022350" y="28408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408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pull</a:t>
            </a:r>
            <a:endParaRPr lang="en-US" sz="1200" dirty="0"/>
          </a:p>
        </p:txBody>
      </p:sp>
      <p:sp>
        <p:nvSpPr>
          <p:cNvPr id="12" name="Text 10"/>
          <p:cNvSpPr/>
          <p:nvPr/>
        </p:nvSpPr>
        <p:spPr>
          <a:xfrm>
            <a:off x="1022350" y="30948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948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checkout feature/reservation-overlap</a:t>
            </a:r>
            <a:endParaRPr lang="en-US" sz="1200" dirty="0"/>
          </a:p>
        </p:txBody>
      </p:sp>
      <p:sp>
        <p:nvSpPr>
          <p:cNvPr id="14" name="Text 12"/>
          <p:cNvSpPr/>
          <p:nvPr/>
        </p:nvSpPr>
        <p:spPr>
          <a:xfrm>
            <a:off x="1022350" y="33488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3488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merge main</a:t>
            </a:r>
            <a:endParaRPr lang="en-US" sz="1200" dirty="0"/>
          </a:p>
        </p:txBody>
      </p:sp>
      <p:sp>
        <p:nvSpPr>
          <p:cNvPr id="16" name="Text 14"/>
          <p:cNvSpPr/>
          <p:nvPr/>
        </p:nvSpPr>
        <p:spPr>
          <a:xfrm>
            <a:off x="1022350" y="36028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6028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A8590"/>
                </a:solidFill>
                <a:latin typeface="IBM Plex Mono" pitchFamily="49" charset="0"/>
                <a:ea typeface="IBM Plex Mono" pitchFamily="49" charset="-122"/>
                <a:cs typeface="IBM Plex Mono" pitchFamily="49" charset="-120"/>
              </a:rPr>
              <a:t># решити конфликт и прегледати diff</a:t>
            </a:r>
            <a:endParaRPr lang="en-US" sz="1200" dirty="0"/>
          </a:p>
        </p:txBody>
      </p:sp>
      <p:sp>
        <p:nvSpPr>
          <p:cNvPr id="18" name="Text 16"/>
          <p:cNvSpPr/>
          <p:nvPr/>
        </p:nvSpPr>
        <p:spPr>
          <a:xfrm>
            <a:off x="1022350" y="38568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403350" y="38568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add src/Application/ReservationService.cs</a:t>
            </a:r>
            <a:endParaRPr lang="en-US" sz="1200" dirty="0"/>
          </a:p>
        </p:txBody>
      </p:sp>
      <p:sp>
        <p:nvSpPr>
          <p:cNvPr id="20" name="Text 18"/>
          <p:cNvSpPr/>
          <p:nvPr/>
        </p:nvSpPr>
        <p:spPr>
          <a:xfrm>
            <a:off x="1022350" y="41108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403350" y="41108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commit -m </a:t>
            </a:r>
            <a:r>
              <a:rPr lang="en-US" sz="1200" dirty="0">
                <a:solidFill>
                  <a:srgbClr val="A8520A"/>
                </a:solidFill>
                <a:latin typeface="IBM Plex Mono" pitchFamily="49" charset="0"/>
                <a:ea typeface="IBM Plex Mono" pitchFamily="49" charset="-122"/>
                <a:cs typeface="IBM Plex Mono" pitchFamily="49" charset="-120"/>
              </a:rPr>
              <a:t>"Resolve reservation rule conflict"</a:t>
            </a:r>
            <a:endParaRPr lang="en-US" sz="1200" dirty="0"/>
          </a:p>
        </p:txBody>
      </p:sp>
      <p:sp>
        <p:nvSpPr>
          <p:cNvPr id="22" name="Text 20"/>
          <p:cNvSpPr/>
          <p:nvPr/>
        </p:nvSpPr>
        <p:spPr>
          <a:xfrm>
            <a:off x="1022350" y="43648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403350" y="43648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6E68"/>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test</a:t>
            </a:r>
            <a:endParaRPr lang="en-US" sz="1200" dirty="0"/>
          </a:p>
        </p:txBody>
      </p:sp>
      <p:sp>
        <p:nvSpPr>
          <p:cNvPr id="24" name="Text 22"/>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5" name="Shape 23"/>
          <p:cNvSpPr/>
          <p:nvPr/>
        </p:nvSpPr>
        <p:spPr>
          <a:xfrm>
            <a:off x="7734300" y="2466181"/>
            <a:ext cx="0" cy="256480"/>
          </a:xfrm>
          <a:prstGeom prst="line">
            <a:avLst/>
          </a:prstGeom>
          <a:noFill/>
          <a:ln w="25400">
            <a:solidFill>
              <a:srgbClr val="0E6E68"/>
            </a:solidFill>
            <a:prstDash val="solid"/>
          </a:ln>
        </p:spPr>
      </p:sp>
      <p:sp>
        <p:nvSpPr>
          <p:cNvPr id="26" name="Text 24"/>
          <p:cNvSpPr/>
          <p:nvPr/>
        </p:nvSpPr>
        <p:spPr>
          <a:xfrm>
            <a:off x="7886700" y="2478881"/>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Одлучити које понашање мора да остане.</a:t>
            </a:r>
            <a:endParaRPr lang="en-US" sz="1300" dirty="0"/>
          </a:p>
        </p:txBody>
      </p:sp>
      <p:sp>
        <p:nvSpPr>
          <p:cNvPr id="27" name="Shape 25"/>
          <p:cNvSpPr/>
          <p:nvPr/>
        </p:nvSpPr>
        <p:spPr>
          <a:xfrm>
            <a:off x="7734300" y="2849662"/>
            <a:ext cx="0" cy="487561"/>
          </a:xfrm>
          <a:prstGeom prst="line">
            <a:avLst/>
          </a:prstGeom>
          <a:noFill/>
          <a:ln w="25400">
            <a:solidFill>
              <a:srgbClr val="0E6E68"/>
            </a:solidFill>
            <a:prstDash val="solid"/>
          </a:ln>
        </p:spPr>
      </p:sp>
      <p:sp>
        <p:nvSpPr>
          <p:cNvPr id="28" name="Text 26"/>
          <p:cNvSpPr/>
          <p:nvPr/>
        </p:nvSpPr>
        <p:spPr>
          <a:xfrm>
            <a:off x="7886700" y="286236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Последњи корак је провера да систем и даље ради.</a:t>
            </a:r>
            <a:endParaRPr lang="en-US" sz="1300" dirty="0"/>
          </a:p>
        </p:txBody>
      </p:sp>
      <p:sp>
        <p:nvSpPr>
          <p:cNvPr id="29" name="Shape 27"/>
          <p:cNvSpPr/>
          <p:nvPr/>
        </p:nvSpPr>
        <p:spPr>
          <a:xfrm>
            <a:off x="7734300" y="3464223"/>
            <a:ext cx="0" cy="487561"/>
          </a:xfrm>
          <a:prstGeom prst="line">
            <a:avLst/>
          </a:prstGeom>
          <a:noFill/>
          <a:ln w="25400">
            <a:solidFill>
              <a:srgbClr val="E07B1F"/>
            </a:solidFill>
            <a:prstDash val="solid"/>
          </a:ln>
        </p:spPr>
      </p:sp>
      <p:sp>
        <p:nvSpPr>
          <p:cNvPr id="30" name="Text 28"/>
          <p:cNvSpPr/>
          <p:nvPr/>
        </p:nvSpPr>
        <p:spPr>
          <a:xfrm>
            <a:off x="7886700" y="347692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Force push није уобичајен ток на дељеним гранама.</a:t>
            </a:r>
            <a:endParaRPr lang="en-US" sz="1300" dirty="0"/>
          </a:p>
        </p:txBody>
      </p:sp>
      <p:sp>
        <p:nvSpPr>
          <p:cNvPr id="31" name="Shape 29"/>
          <p:cNvSpPr/>
          <p:nvPr/>
        </p:nvSpPr>
        <p:spPr>
          <a:xfrm>
            <a:off x="812800" y="6209705"/>
            <a:ext cx="10566400" cy="0"/>
          </a:xfrm>
          <a:prstGeom prst="line">
            <a:avLst/>
          </a:prstGeom>
          <a:noFill/>
          <a:ln w="6350">
            <a:solidFill>
              <a:srgbClr val="D3DAE1"/>
            </a:solidFill>
            <a:prstDash val="solid"/>
          </a:ln>
        </p:spPr>
      </p:sp>
      <p:sp>
        <p:nvSpPr>
          <p:cNvPr id="32"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04 · GIT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Ток од backlog ставке до интеграције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Сваки корак оставља проверљив траг рада тима.</a:t>
            </a:r>
            <a:endParaRPr lang="en-US" sz="1400" dirty="0"/>
          </a:p>
        </p:txBody>
      </p:sp>
      <p:sp>
        <p:nvSpPr>
          <p:cNvPr id="6" name="Shape 4"/>
          <p:cNvSpPr/>
          <p:nvPr/>
        </p:nvSpPr>
        <p:spPr>
          <a:xfrm>
            <a:off x="815975" y="2179836"/>
            <a:ext cx="1784350" cy="1217811"/>
          </a:xfrm>
          <a:prstGeom prst="roundRect">
            <a:avLst>
              <a:gd name="adj" fmla="val 8082"/>
            </a:avLst>
          </a:prstGeom>
          <a:solidFill>
            <a:srgbClr val="FCFCFB"/>
          </a:solidFill>
          <a:ln w="6350">
            <a:solidFill>
              <a:srgbClr val="D3DAE1"/>
            </a:solidFill>
            <a:prstDash val="solid"/>
          </a:ln>
        </p:spPr>
      </p:sp>
      <p:pic>
        <p:nvPicPr>
          <p:cNvPr id="7" name="Image 0" descr="Book">    </p:cNvPr>
          <p:cNvPicPr>
            <a:picLocks noChangeAspect="1"/>
          </p:cNvPicPr>
          <p:nvPr/>
        </p:nvPicPr>
        <p:blipFill>
          <a:blip r:embed="rId1"/>
          <a:srcRect l="0" r="0" t="0" b="0"/>
          <a:stretch/>
        </p:blipFill>
        <p:spPr>
          <a:xfrm>
            <a:off x="971550" y="2360811"/>
            <a:ext cx="254000" cy="254000"/>
          </a:xfrm>
          <a:prstGeom prst="rect">
            <a:avLst/>
          </a:prstGeom>
        </p:spPr>
      </p:pic>
      <p:sp>
        <p:nvSpPr>
          <p:cNvPr id="8" name="Text 5"/>
          <p:cNvSpPr/>
          <p:nvPr/>
        </p:nvSpPr>
        <p:spPr>
          <a:xfrm>
            <a:off x="971550" y="2678311"/>
            <a:ext cx="15240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Mono" pitchFamily="49" charset="0"/>
                <a:ea typeface="IBM Plex Mono" pitchFamily="49" charset="-122"/>
                <a:cs typeface="IBM Plex Mono" pitchFamily="49" charset="-120"/>
              </a:rPr>
              <a:t>Story</a:t>
            </a:r>
            <a:endParaRPr lang="en-US" sz="1600" dirty="0"/>
          </a:p>
        </p:txBody>
      </p:sp>
      <p:sp>
        <p:nvSpPr>
          <p:cNvPr id="9" name="Text 6"/>
          <p:cNvSpPr/>
          <p:nvPr/>
        </p:nvSpPr>
        <p:spPr>
          <a:xfrm>
            <a:off x="971550" y="2985591"/>
            <a:ext cx="15240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опис</a:t>
            </a:r>
            <a:endParaRPr lang="en-US" sz="1300" dirty="0"/>
          </a:p>
        </p:txBody>
      </p:sp>
      <p:pic>
        <p:nvPicPr>
          <p:cNvPr id="10" name="Image 1" descr="arrow-right">    </p:cNvPr>
          <p:cNvPicPr>
            <a:picLocks noChangeAspect="1"/>
          </p:cNvPicPr>
          <p:nvPr/>
        </p:nvPicPr>
        <p:blipFill>
          <a:blip r:embed="rId2"/>
          <a:srcRect l="0" r="0" t="0" b="0"/>
          <a:stretch/>
        </p:blipFill>
        <p:spPr>
          <a:xfrm>
            <a:off x="2692400" y="2731591"/>
            <a:ext cx="228600" cy="114300"/>
          </a:xfrm>
          <a:prstGeom prst="rect">
            <a:avLst/>
          </a:prstGeom>
        </p:spPr>
      </p:pic>
      <p:sp>
        <p:nvSpPr>
          <p:cNvPr id="11" name="Shape 7"/>
          <p:cNvSpPr/>
          <p:nvPr/>
        </p:nvSpPr>
        <p:spPr>
          <a:xfrm>
            <a:off x="3013075" y="2179836"/>
            <a:ext cx="1784350" cy="1217811"/>
          </a:xfrm>
          <a:prstGeom prst="roundRect">
            <a:avLst>
              <a:gd name="adj" fmla="val 8082"/>
            </a:avLst>
          </a:prstGeom>
          <a:solidFill>
            <a:srgbClr val="FCFCFB"/>
          </a:solidFill>
          <a:ln w="6350">
            <a:solidFill>
              <a:srgbClr val="D3DAE1"/>
            </a:solidFill>
            <a:prstDash val="solid"/>
          </a:ln>
        </p:spPr>
      </p:sp>
      <p:pic>
        <p:nvPicPr>
          <p:cNvPr id="12" name="Image 2" descr="Code">    </p:cNvPr>
          <p:cNvPicPr>
            <a:picLocks noChangeAspect="1"/>
          </p:cNvPicPr>
          <p:nvPr/>
        </p:nvPicPr>
        <p:blipFill>
          <a:blip r:embed="rId3"/>
          <a:srcRect l="0" r="0" t="0" b="0"/>
          <a:stretch/>
        </p:blipFill>
        <p:spPr>
          <a:xfrm>
            <a:off x="3168650" y="2360811"/>
            <a:ext cx="254000" cy="254000"/>
          </a:xfrm>
          <a:prstGeom prst="rect">
            <a:avLst/>
          </a:prstGeom>
        </p:spPr>
      </p:pic>
      <p:sp>
        <p:nvSpPr>
          <p:cNvPr id="13" name="Text 8"/>
          <p:cNvSpPr/>
          <p:nvPr/>
        </p:nvSpPr>
        <p:spPr>
          <a:xfrm>
            <a:off x="3168650" y="2678311"/>
            <a:ext cx="15240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Mono" pitchFamily="49" charset="0"/>
                <a:ea typeface="IBM Plex Mono" pitchFamily="49" charset="-122"/>
                <a:cs typeface="IBM Plex Mono" pitchFamily="49" charset="-120"/>
              </a:rPr>
              <a:t>Branch</a:t>
            </a:r>
            <a:endParaRPr lang="en-US" sz="1600" dirty="0"/>
          </a:p>
        </p:txBody>
      </p:sp>
      <p:sp>
        <p:nvSpPr>
          <p:cNvPr id="14" name="Text 9"/>
          <p:cNvSpPr/>
          <p:nvPr/>
        </p:nvSpPr>
        <p:spPr>
          <a:xfrm>
            <a:off x="3168650" y="2985591"/>
            <a:ext cx="15240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рад</a:t>
            </a:r>
            <a:endParaRPr lang="en-US" sz="1300" dirty="0"/>
          </a:p>
        </p:txBody>
      </p:sp>
      <p:pic>
        <p:nvPicPr>
          <p:cNvPr id="15" name="Image 3" descr="arrow-right">    </p:cNvPr>
          <p:cNvPicPr>
            <a:picLocks noChangeAspect="1"/>
          </p:cNvPicPr>
          <p:nvPr/>
        </p:nvPicPr>
        <p:blipFill>
          <a:blip r:embed="rId4"/>
          <a:srcRect l="0" r="0" t="0" b="0"/>
          <a:stretch/>
        </p:blipFill>
        <p:spPr>
          <a:xfrm>
            <a:off x="4889500" y="2731591"/>
            <a:ext cx="228600" cy="114300"/>
          </a:xfrm>
          <a:prstGeom prst="rect">
            <a:avLst/>
          </a:prstGeom>
        </p:spPr>
      </p:pic>
      <p:sp>
        <p:nvSpPr>
          <p:cNvPr id="16" name="Shape 10"/>
          <p:cNvSpPr/>
          <p:nvPr/>
        </p:nvSpPr>
        <p:spPr>
          <a:xfrm>
            <a:off x="5210175" y="2179836"/>
            <a:ext cx="1784350" cy="1217811"/>
          </a:xfrm>
          <a:prstGeom prst="roundRect">
            <a:avLst>
              <a:gd name="adj" fmla="val 8082"/>
            </a:avLst>
          </a:prstGeom>
          <a:solidFill>
            <a:srgbClr val="FCFCFB"/>
          </a:solidFill>
          <a:ln w="6350">
            <a:solidFill>
              <a:srgbClr val="D3DAE1"/>
            </a:solidFill>
            <a:prstDash val="solid"/>
          </a:ln>
        </p:spPr>
      </p:sp>
      <p:pic>
        <p:nvPicPr>
          <p:cNvPr id="17" name="Image 4" descr="Check">    </p:cNvPr>
          <p:cNvPicPr>
            <a:picLocks noChangeAspect="1"/>
          </p:cNvPicPr>
          <p:nvPr/>
        </p:nvPicPr>
        <p:blipFill>
          <a:blip r:embed="rId5"/>
          <a:srcRect l="0" r="0" t="0" b="0"/>
          <a:stretch/>
        </p:blipFill>
        <p:spPr>
          <a:xfrm>
            <a:off x="5365750" y="2360811"/>
            <a:ext cx="254000" cy="254000"/>
          </a:xfrm>
          <a:prstGeom prst="rect">
            <a:avLst/>
          </a:prstGeom>
        </p:spPr>
      </p:pic>
      <p:sp>
        <p:nvSpPr>
          <p:cNvPr id="18" name="Text 11"/>
          <p:cNvSpPr/>
          <p:nvPr/>
        </p:nvSpPr>
        <p:spPr>
          <a:xfrm>
            <a:off x="5365750" y="2678311"/>
            <a:ext cx="15240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Mono" pitchFamily="49" charset="0"/>
                <a:ea typeface="IBM Plex Mono" pitchFamily="49" charset="-122"/>
                <a:cs typeface="IBM Plex Mono" pitchFamily="49" charset="-120"/>
              </a:rPr>
              <a:t>Commit</a:t>
            </a:r>
            <a:endParaRPr lang="en-US" sz="1600" dirty="0"/>
          </a:p>
        </p:txBody>
      </p:sp>
      <p:sp>
        <p:nvSpPr>
          <p:cNvPr id="19" name="Text 12"/>
          <p:cNvSpPr/>
          <p:nvPr/>
        </p:nvSpPr>
        <p:spPr>
          <a:xfrm>
            <a:off x="5365750" y="2985591"/>
            <a:ext cx="15240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намера</a:t>
            </a:r>
            <a:endParaRPr lang="en-US" sz="1300" dirty="0"/>
          </a:p>
        </p:txBody>
      </p:sp>
      <p:pic>
        <p:nvPicPr>
          <p:cNvPr id="20" name="Image 5" descr="arrow-right">    </p:cNvPr>
          <p:cNvPicPr>
            <a:picLocks noChangeAspect="1"/>
          </p:cNvPicPr>
          <p:nvPr/>
        </p:nvPicPr>
        <p:blipFill>
          <a:blip r:embed="rId6"/>
          <a:srcRect l="0" r="0" t="0" b="0"/>
          <a:stretch/>
        </p:blipFill>
        <p:spPr>
          <a:xfrm>
            <a:off x="7086600" y="2731591"/>
            <a:ext cx="228600" cy="114300"/>
          </a:xfrm>
          <a:prstGeom prst="rect">
            <a:avLst/>
          </a:prstGeom>
        </p:spPr>
      </p:pic>
      <p:sp>
        <p:nvSpPr>
          <p:cNvPr id="21" name="Shape 13"/>
          <p:cNvSpPr/>
          <p:nvPr/>
        </p:nvSpPr>
        <p:spPr>
          <a:xfrm>
            <a:off x="7407275" y="2179836"/>
            <a:ext cx="1784350" cy="1217811"/>
          </a:xfrm>
          <a:prstGeom prst="roundRect">
            <a:avLst>
              <a:gd name="adj" fmla="val 8082"/>
            </a:avLst>
          </a:prstGeom>
          <a:solidFill>
            <a:srgbClr val="FCFCFB"/>
          </a:solidFill>
          <a:ln w="6350">
            <a:solidFill>
              <a:srgbClr val="D3DAE1"/>
            </a:solidFill>
            <a:prstDash val="solid"/>
          </a:ln>
        </p:spPr>
      </p:sp>
      <p:pic>
        <p:nvPicPr>
          <p:cNvPr id="22" name="Image 6" descr="Search">    </p:cNvPr>
          <p:cNvPicPr>
            <a:picLocks noChangeAspect="1"/>
          </p:cNvPicPr>
          <p:nvPr/>
        </p:nvPicPr>
        <p:blipFill>
          <a:blip r:embed="rId7"/>
          <a:srcRect l="0" r="0" t="0" b="0"/>
          <a:stretch/>
        </p:blipFill>
        <p:spPr>
          <a:xfrm>
            <a:off x="7562850" y="2360811"/>
            <a:ext cx="254000" cy="254000"/>
          </a:xfrm>
          <a:prstGeom prst="rect">
            <a:avLst/>
          </a:prstGeom>
        </p:spPr>
      </p:pic>
      <p:sp>
        <p:nvSpPr>
          <p:cNvPr id="23" name="Text 14"/>
          <p:cNvSpPr/>
          <p:nvPr/>
        </p:nvSpPr>
        <p:spPr>
          <a:xfrm>
            <a:off x="7562850" y="2678311"/>
            <a:ext cx="15240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Mono" pitchFamily="49" charset="0"/>
                <a:ea typeface="IBM Plex Mono" pitchFamily="49" charset="-122"/>
                <a:cs typeface="IBM Plex Mono" pitchFamily="49" charset="-120"/>
              </a:rPr>
              <a:t>PR</a:t>
            </a:r>
            <a:endParaRPr lang="en-US" sz="1600" dirty="0"/>
          </a:p>
        </p:txBody>
      </p:sp>
      <p:sp>
        <p:nvSpPr>
          <p:cNvPr id="24" name="Text 15"/>
          <p:cNvSpPr/>
          <p:nvPr/>
        </p:nvSpPr>
        <p:spPr>
          <a:xfrm>
            <a:off x="7562850" y="2985591"/>
            <a:ext cx="15240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преглед</a:t>
            </a:r>
            <a:endParaRPr lang="en-US" sz="1300" dirty="0"/>
          </a:p>
        </p:txBody>
      </p:sp>
      <p:pic>
        <p:nvPicPr>
          <p:cNvPr id="25" name="Image 7" descr="arrow-right">    </p:cNvPr>
          <p:cNvPicPr>
            <a:picLocks noChangeAspect="1"/>
          </p:cNvPicPr>
          <p:nvPr/>
        </p:nvPicPr>
        <p:blipFill>
          <a:blip r:embed="rId8"/>
          <a:srcRect l="0" r="0" t="0" b="0"/>
          <a:stretch/>
        </p:blipFill>
        <p:spPr>
          <a:xfrm>
            <a:off x="9283700" y="2731591"/>
            <a:ext cx="228600" cy="114300"/>
          </a:xfrm>
          <a:prstGeom prst="rect">
            <a:avLst/>
          </a:prstGeom>
        </p:spPr>
      </p:pic>
      <p:sp>
        <p:nvSpPr>
          <p:cNvPr id="26" name="Shape 16"/>
          <p:cNvSpPr/>
          <p:nvPr/>
        </p:nvSpPr>
        <p:spPr>
          <a:xfrm>
            <a:off x="9601200" y="2176661"/>
            <a:ext cx="1778000" cy="1224161"/>
          </a:xfrm>
          <a:prstGeom prst="roundRect">
            <a:avLst>
              <a:gd name="adj" fmla="val 8300"/>
            </a:avLst>
          </a:prstGeom>
          <a:solidFill>
            <a:srgbClr val="0E6E68"/>
          </a:solidFill>
          <a:ln/>
        </p:spPr>
      </p:sp>
      <p:pic>
        <p:nvPicPr>
          <p:cNvPr id="27" name="Image 8" descr="Verified">    </p:cNvPr>
          <p:cNvPicPr>
            <a:picLocks noChangeAspect="1"/>
          </p:cNvPicPr>
          <p:nvPr/>
        </p:nvPicPr>
        <p:blipFill>
          <a:blip r:embed="rId9"/>
          <a:srcRect l="0" r="0" t="0" b="0"/>
          <a:stretch/>
        </p:blipFill>
        <p:spPr>
          <a:xfrm>
            <a:off x="9753600" y="2354461"/>
            <a:ext cx="254000" cy="254000"/>
          </a:xfrm>
          <a:prstGeom prst="rect">
            <a:avLst/>
          </a:prstGeom>
        </p:spPr>
      </p:pic>
      <p:sp>
        <p:nvSpPr>
          <p:cNvPr id="28" name="Text 17"/>
          <p:cNvSpPr/>
          <p:nvPr/>
        </p:nvSpPr>
        <p:spPr>
          <a:xfrm>
            <a:off x="9753600" y="2671961"/>
            <a:ext cx="15240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CFB"/>
                </a:solidFill>
                <a:latin typeface="IBM Plex Mono" pitchFamily="49" charset="0"/>
                <a:ea typeface="IBM Plex Mono" pitchFamily="49" charset="-122"/>
                <a:cs typeface="IBM Plex Mono" pitchFamily="49" charset="-120"/>
              </a:rPr>
              <a:t>Done</a:t>
            </a:r>
            <a:endParaRPr lang="en-US" sz="1600" dirty="0"/>
          </a:p>
        </p:txBody>
      </p:sp>
      <p:sp>
        <p:nvSpPr>
          <p:cNvPr id="29" name="Text 18"/>
          <p:cNvSpPr/>
          <p:nvPr/>
        </p:nvSpPr>
        <p:spPr>
          <a:xfrm>
            <a:off x="9753600" y="2979241"/>
            <a:ext cx="15240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DEBEA"/>
                </a:solidFill>
                <a:latin typeface="IBM Plex Sans" pitchFamily="34" charset="0"/>
                <a:ea typeface="IBM Plex Sans" pitchFamily="34" charset="-122"/>
                <a:cs typeface="IBM Plex Sans" pitchFamily="34" charset="-120"/>
              </a:rPr>
              <a:t>доказ</a:t>
            </a:r>
            <a:endParaRPr lang="en-US" sz="1300" dirty="0"/>
          </a:p>
        </p:txBody>
      </p:sp>
      <p:sp>
        <p:nvSpPr>
          <p:cNvPr id="30" name="Shape 19"/>
          <p:cNvSpPr/>
          <p:nvPr/>
        </p:nvSpPr>
        <p:spPr>
          <a:xfrm>
            <a:off x="812800" y="3654822"/>
            <a:ext cx="10566400" cy="783530"/>
          </a:xfrm>
          <a:prstGeom prst="roundRect">
            <a:avLst>
              <a:gd name="adj" fmla="val 12967"/>
            </a:avLst>
          </a:prstGeom>
          <a:solidFill>
            <a:srgbClr val="E2EBE9"/>
          </a:solidFill>
          <a:ln/>
        </p:spPr>
      </p:sp>
      <p:sp>
        <p:nvSpPr>
          <p:cNvPr id="31" name="Shape 20"/>
          <p:cNvSpPr/>
          <p:nvPr/>
        </p:nvSpPr>
        <p:spPr>
          <a:xfrm>
            <a:off x="812800" y="365482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0E6E68"/>
          </a:solidFill>
          <a:ln/>
        </p:spPr>
      </p:sp>
      <p:sp>
        <p:nvSpPr>
          <p:cNvPr id="32" name="Text 21"/>
          <p:cNvSpPr/>
          <p:nvPr/>
        </p:nvSpPr>
        <p:spPr>
          <a:xfrm>
            <a:off x="1054100" y="380722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E68"/>
                </a:solidFill>
                <a:latin typeface="IBM Plex Mono" pitchFamily="49" charset="0"/>
                <a:ea typeface="IBM Plex Mono" pitchFamily="49" charset="-122"/>
                <a:cs typeface="IBM Plex Mono" pitchFamily="49" charset="-120"/>
              </a:rPr>
              <a:t>НАПОМЕНА</a:t>
            </a:r>
            <a:endParaRPr lang="en-US" sz="1200" dirty="0"/>
          </a:p>
        </p:txBody>
      </p:sp>
      <p:sp>
        <p:nvSpPr>
          <p:cNvPr id="33" name="Text 22"/>
          <p:cNvSpPr/>
          <p:nvPr/>
        </p:nvSpPr>
        <p:spPr>
          <a:xfrm>
            <a:off x="1054100" y="404594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Професионални развојни ток повезује алате, договорени процес и проверу резултата.</a:t>
            </a:r>
            <a:endParaRPr lang="en-US" sz="1400" dirty="0"/>
          </a:p>
        </p:txBody>
      </p:sp>
      <p:sp>
        <p:nvSpPr>
          <p:cNvPr id="34" name="Shape 23"/>
          <p:cNvSpPr/>
          <p:nvPr/>
        </p:nvSpPr>
        <p:spPr>
          <a:xfrm>
            <a:off x="812800" y="6209705"/>
            <a:ext cx="10566400" cy="0"/>
          </a:xfrm>
          <a:prstGeom prst="line">
            <a:avLst/>
          </a:prstGeom>
          <a:noFill/>
          <a:ln w="6350">
            <a:solidFill>
              <a:srgbClr val="D3DAE1"/>
            </a:solidFill>
            <a:prstDash val="solid"/>
          </a:ln>
        </p:spPr>
      </p:sp>
      <p:sp>
        <p:nvSpPr>
          <p:cNvPr id="35" name="Text 2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2EBE9"/>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E6E68"/>
                </a:solidFill>
                <a:latin typeface="IBM Plex Mono" pitchFamily="49" charset="0"/>
                <a:ea typeface="IBM Plex Mono" pitchFamily="49" charset="-122"/>
                <a:cs typeface="IBM Plex Mono" pitchFamily="49" charset="-120"/>
              </a:rPr>
              <a:t>05</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ПЕТИ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Предаја и КТ1</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Шта се проверава на првој контролној тачки, како се користе AI алати и шта тим проверава пре предаје.</a:t>
            </a:r>
            <a:endParaRPr lang="en-US" sz="1400" dirty="0"/>
          </a:p>
        </p:txBody>
      </p:sp>
      <p:sp>
        <p:nvSpPr>
          <p:cNvPr id="6" name="Text 4"/>
          <p:cNvSpPr/>
          <p:nvPr/>
        </p:nvSpPr>
        <p:spPr>
          <a:xfrm>
            <a:off x="4270375" y="3915966"/>
            <a:ext cx="1781373"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Контролна тачка КТ1</a:t>
            </a:r>
            <a:endParaRPr lang="en-US" sz="1200" dirty="0"/>
          </a:p>
        </p:txBody>
      </p:sp>
      <p:sp>
        <p:nvSpPr>
          <p:cNvPr id="7" name="Text 5"/>
          <p:cNvSpPr/>
          <p:nvPr/>
        </p:nvSpPr>
        <p:spPr>
          <a:xfrm>
            <a:off x="6134298" y="3915966"/>
            <a:ext cx="864096"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AI алати</a:t>
            </a:r>
            <a:endParaRPr lang="en-US" sz="1200" dirty="0"/>
          </a:p>
        </p:txBody>
      </p:sp>
      <p:sp>
        <p:nvSpPr>
          <p:cNvPr id="8" name="Text 6"/>
          <p:cNvSpPr/>
          <p:nvPr/>
        </p:nvSpPr>
        <p:spPr>
          <a:xfrm>
            <a:off x="7080945" y="3915966"/>
            <a:ext cx="1763018"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Провера пре предаје</a:t>
            </a:r>
            <a:endParaRPr lang="en-US" sz="1200" dirty="0"/>
          </a:p>
        </p:txBody>
      </p:sp>
      <p:sp>
        <p:nvSpPr>
          <p:cNvPr id="9" name="Text 7"/>
          <p:cNvSpPr/>
          <p:nvPr/>
        </p:nvSpPr>
        <p:spPr>
          <a:xfrm>
            <a:off x="8926513" y="3915966"/>
            <a:ext cx="1565374"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Типични пропусти</a:t>
            </a:r>
            <a:endParaRPr lang="en-US" sz="1200" dirty="0"/>
          </a:p>
        </p:txBody>
      </p:sp>
      <p:sp>
        <p:nvSpPr>
          <p:cNvPr id="10" name="Text 8"/>
          <p:cNvSpPr/>
          <p:nvPr/>
        </p:nvSpPr>
        <p:spPr>
          <a:xfrm>
            <a:off x="4270375" y="4319786"/>
            <a:ext cx="789087"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Резиме</a:t>
            </a:r>
            <a:endParaRPr lang="en-US" sz="1200" dirty="0"/>
          </a:p>
        </p:txBody>
      </p:sp>
      <p:sp>
        <p:nvSpPr>
          <p:cNvPr id="11" name="Text 9"/>
          <p:cNvSpPr/>
          <p:nvPr/>
        </p:nvSpPr>
        <p:spPr>
          <a:xfrm>
            <a:off x="5142012" y="4319786"/>
            <a:ext cx="990898" cy="321270"/>
          </a:xfrm>
          <a:prstGeom prst="roundRect">
            <a:avLst>
              <a:gd name="adj" fmla="val 50000"/>
            </a:avLst>
          </a:prstGeom>
          <a:solidFill>
            <a:srgbClr val="FCFCFB"/>
          </a:solidFill>
          <a:ln w="6350">
            <a:solidFill>
              <a:srgbClr val="AEC2C6"/>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Припрема</a:t>
            </a:r>
            <a:endParaRPr lang="en-US" sz="1200" dirty="0"/>
          </a:p>
        </p:txBody>
      </p:sp>
      <p:sp>
        <p:nvSpPr>
          <p:cNvPr id="12" name="Shape 10"/>
          <p:cNvSpPr/>
          <p:nvPr/>
        </p:nvSpPr>
        <p:spPr>
          <a:xfrm>
            <a:off x="812800" y="6209705"/>
            <a:ext cx="10566400" cy="0"/>
          </a:xfrm>
          <a:prstGeom prst="line">
            <a:avLst/>
          </a:prstGeom>
          <a:noFill/>
          <a:ln w="6350">
            <a:solidFill>
              <a:srgbClr val="AEC2C6"/>
            </a:solidFill>
            <a:prstDash val="solid"/>
          </a:ln>
        </p:spPr>
      </p:sp>
      <p:sp>
        <p:nvSpPr>
          <p:cNvPr id="13" name="Text 1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4" name="Text 1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31</a:t>
            </a:r>
            <a:endParaRPr lang="en-US" sz="1200" dirty="0"/>
          </a:p>
        </p:txBody>
      </p:sp>
    </p:spTree>
  </p:cSld>
  <p:clrMapOvr>
    <a:masterClrMapping/>
  </p:clrMapOvr>
</p:sld>
</file>

<file path=ppt/slides/slide32.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93458B-CA0A-4828-B933-25E1A8965F2A}"/>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0E6E68"/>
          </a:solidFill>
        </p:spPr>
      </p:sp>
      <p:sp>
        <p:nvSpPr>
          <p:cNvPr id="3" name="Text 1">
            <a:extLst xmlns:a="http://schemas.openxmlformats.org/drawingml/2006/main">
              <a:ext uri="{FF2B5EF4-FFF2-40B4-BE49-F238E27FC236}">
                <a16:creationId xmlns:a16="http://schemas.microsoft.com/office/drawing/2014/main" id="{5F274CDA-A1F3-4771-9544-012F9120F1F7}"/>
              </a:ext>
            </a:extLst>
          </p:cNvPr>
          <p:cNvSpPr>
            <a:spLocks xmlns:a="http://schemas.openxmlformats.org/drawingml/2006/main" noGrp="1"/>
          </p:cNvSpPr>
          <p:nvPr/>
        </p:nvSpPr>
        <p:spPr>
          <a:xfrm xmlns:a="http://schemas.openxmlformats.org/drawingml/2006/main">
            <a:off x="812800" y="711200"/>
            <a:ext cx="39045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00">
                <a:solidFill>
                  <a:srgbClr val="0E6E68"/>
                </a:solidFill>
                <a:latin typeface="IBM Plex Mono"/>
                <a:ea typeface="IBM Plex Mono"/>
                <a:cs typeface="IBM Plex Mono"/>
              </a:rPr>
              <a:t>05 · ПРЕДАЈА И КТ1</a:t>
            </a:r>
            <a:endParaRPr sz="1200"/>
          </a:p>
        </p:txBody>
      </p:sp>
      <p:sp>
        <p:nvSpPr>
          <p:cNvPr id="4" name="Text 2">
            <a:extLst xmlns:a="http://schemas.openxmlformats.org/drawingml/2006/main">
              <a:ext uri="{FF2B5EF4-FFF2-40B4-BE49-F238E27FC236}">
                <a16:creationId xmlns:a16="http://schemas.microsoft.com/office/drawing/2014/main" id="{26288FD1-EFB8-45AD-840B-F46D553F2FFF}"/>
              </a:ext>
            </a:extLst>
          </p:cNvPr>
          <p:cNvSpPr>
            <a:spLocks xmlns:a="http://schemas.openxmlformats.org/drawingml/2006/main" noGrp="1"/>
          </p:cNvSpPr>
          <p:nvPr>
            <p:ph type="title" idx="0"/>
          </p:nvPr>
        </p:nvSpPr>
        <p:spPr>
          <a:xfrm xmlns:a="http://schemas.openxmlformats.org/drawingml/2006/main">
            <a:off x="812800" y="1000720"/>
            <a:ext cx="4549021"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Контролна тачка КТ1</a:t>
            </a:r>
            <a:endParaRPr sz="3000"/>
          </a:p>
        </p:txBody>
      </p:sp>
      <p:sp>
        <p:nvSpPr>
          <p:cNvPr id="5" name="Text 3">
            <a:extLst xmlns:a="http://schemas.openxmlformats.org/drawingml/2006/main">
              <a:ext uri="{FF2B5EF4-FFF2-40B4-BE49-F238E27FC236}">
                <a16:creationId xmlns:a16="http://schemas.microsoft.com/office/drawing/2014/main" id="{03BBE4E4-387A-405A-BEC5-FE9F215B7BA7}"/>
              </a:ext>
            </a:extLst>
          </p:cNvPr>
          <p:cNvSpPr>
            <a:spLocks xmlns:a="http://schemas.openxmlformats.org/drawingml/2006/main" noGrp="1"/>
          </p:cNvSpPr>
          <p:nvPr/>
        </p:nvSpPr>
        <p:spPr>
          <a:xfrm xmlns:a="http://schemas.openxmlformats.org/drawingml/2006/main">
            <a:off x="10352980" y="1069380"/>
            <a:ext cx="1026220" cy="350441"/>
          </a:xfrm>
          <a:prstGeom xmlns:a="http://schemas.openxmlformats.org/drawingml/2006/main" prst="roundRect">
            <a:avLst>
              <a:gd name="adj" fmla="val 50000"/>
            </a:avLst>
          </a:prstGeom>
          <a:solidFill xmlns:a="http://schemas.openxmlformats.org/drawingml/2006/main">
            <a:srgbClr val="DDEBEA"/>
          </a:solidFill>
        </p:spPr>
        <p:txBody>
          <a:bodyPr xmlns:a="http://schemas.openxmlformats.org/drawingml/2006/main" wrap="none" lIns="0" tIns="0" rIns="0" bIns="0" anchor="ctr">
            <a:normAutofit fontScale="10000"/>
          </a:bodyPr>
          <a:lstStyle xmlns:a="http://schemas.openxmlformats.org/drawingml/2006/main"/>
          <a:p xmlns:a="http://schemas.openxmlformats.org/drawingml/2006/main">
            <a:pPr marL="0" indent="0" algn="ctr">
              <a:lnSpc>
                <a:spcPts val="1960"/>
              </a:lnSpc>
              <a:buNone/>
            </a:pPr>
            <a:r>
              <a:rPr sz="1400" b="1">
                <a:solidFill>
                  <a:srgbClr val="0E6E68"/>
                </a:solidFill>
                <a:latin typeface="IBM Plex Mono"/>
                <a:ea typeface="IBM Plex Mono"/>
                <a:cs typeface="IBM Plex Mono"/>
              </a:rPr>
              <a:t>10 поена</a:t>
            </a:r>
            <a:endParaRPr sz="1400"/>
          </a:p>
        </p:txBody>
      </p:sp>
      <p:sp>
        <p:nvSpPr>
          <p:cNvPr id="6" name="Text 4">
            <a:extLst xmlns:a="http://schemas.openxmlformats.org/drawingml/2006/main">
              <a:ext uri="{FF2B5EF4-FFF2-40B4-BE49-F238E27FC236}">
                <a16:creationId xmlns:a16="http://schemas.microsoft.com/office/drawing/2014/main" id="{CD9AC353-EADA-4735-BC5A-4C7D2232D01D}"/>
              </a:ext>
            </a:extLst>
          </p:cNvPr>
          <p:cNvSpPr>
            <a:spLocks xmlns:a="http://schemas.openxmlformats.org/drawingml/2006/main" noGrp="1"/>
          </p:cNvSpPr>
          <p:nvPr/>
        </p:nvSpPr>
        <p:spPr>
          <a:xfrm xmlns:a="http://schemas.openxmlformats.org/drawingml/2006/main">
            <a:off x="812800" y="16484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КТ1 у термину Вежбе 4: основна имплементација, извршив ток и тест.</a:t>
            </a:r>
            <a:endParaRPr sz="1400"/>
          </a:p>
        </p:txBody>
      </p:sp>
      <p:sp>
        <p:nvSpPr>
          <p:cNvPr id="7" name="Shape 5">
            <a:extLst xmlns:a="http://schemas.openxmlformats.org/drawingml/2006/main">
              <a:ext uri="{FF2B5EF4-FFF2-40B4-BE49-F238E27FC236}">
                <a16:creationId xmlns:a16="http://schemas.microsoft.com/office/drawing/2014/main" id="{D1DAC49E-FE35-4A2A-855F-33EBB289C9AC}"/>
              </a:ext>
            </a:extLst>
          </p:cNvPr>
          <p:cNvSpPr>
            <a:spLocks xmlns:a="http://schemas.openxmlformats.org/drawingml/2006/main" noGrp="1"/>
          </p:cNvSpPr>
          <p:nvPr/>
        </p:nvSpPr>
        <p:spPr>
          <a:xfrm xmlns:a="http://schemas.openxmlformats.org/drawingml/2006/main">
            <a:off x="815975" y="2129036"/>
            <a:ext cx="5213350" cy="801291"/>
          </a:xfrm>
          <a:prstGeom xmlns:a="http://schemas.openxmlformats.org/drawingml/2006/main" prst="roundRect">
            <a:avLst>
              <a:gd name="adj" fmla="val 12283"/>
            </a:avLst>
          </a:prstGeom>
          <a:solidFill xmlns:a="http://schemas.openxmlformats.org/drawingml/2006/main">
            <a:srgbClr val="FCFCFB"/>
          </a:solidFill>
          <a:ln xmlns:a="http://schemas.openxmlformats.org/drawingml/2006/main" w="6350">
            <a:solidFill>
              <a:srgbClr val="D3DAE1"/>
            </a:solidFill>
            <a:prstDash val="solid"/>
          </a:ln>
        </p:spPr>
      </p:sp>
      <p:sp>
        <p:nvSpPr>
          <p:cNvPr id="8" name="Text 6">
            <a:extLst xmlns:a="http://schemas.openxmlformats.org/drawingml/2006/main">
              <a:ext uri="{FF2B5EF4-FFF2-40B4-BE49-F238E27FC236}">
                <a16:creationId xmlns:a16="http://schemas.microsoft.com/office/drawing/2014/main" id="{12E085EA-1381-409B-A132-76AC14F11214}"/>
              </a:ext>
            </a:extLst>
          </p:cNvPr>
          <p:cNvSpPr>
            <a:spLocks xmlns:a="http://schemas.openxmlformats.org/drawingml/2006/main" noGrp="1"/>
          </p:cNvSpPr>
          <p:nvPr/>
        </p:nvSpPr>
        <p:spPr>
          <a:xfrm xmlns:a="http://schemas.openxmlformats.org/drawingml/2006/main">
            <a:off x="1022350" y="2297311"/>
            <a:ext cx="402431"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0E6E68"/>
                </a:solidFill>
                <a:latin typeface="IBM Plex Mono"/>
                <a:ea typeface="IBM Plex Mono"/>
                <a:cs typeface="IBM Plex Mono"/>
              </a:rPr>
              <a:t>01</a:t>
            </a:r>
            <a:endParaRPr sz="2200"/>
          </a:p>
        </p:txBody>
      </p:sp>
      <p:sp>
        <p:nvSpPr>
          <p:cNvPr id="9" name="Text 7">
            <a:extLst xmlns:a="http://schemas.openxmlformats.org/drawingml/2006/main">
              <a:ext uri="{FF2B5EF4-FFF2-40B4-BE49-F238E27FC236}">
                <a16:creationId xmlns:a16="http://schemas.microsoft.com/office/drawing/2014/main" id="{AFFE1F34-DF6B-4E22-AC2A-3864F6B64784}"/>
              </a:ext>
            </a:extLst>
          </p:cNvPr>
          <p:cNvSpPr>
            <a:spLocks xmlns:a="http://schemas.openxmlformats.org/drawingml/2006/main" noGrp="1"/>
          </p:cNvSpPr>
          <p:nvPr/>
        </p:nvSpPr>
        <p:spPr>
          <a:xfrm xmlns:a="http://schemas.openxmlformats.org/drawingml/2006/main">
            <a:off x="1510109" y="2297311"/>
            <a:ext cx="44422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Репозиторијум и README</a:t>
            </a:r>
            <a:endParaRPr sz="1400"/>
          </a:p>
        </p:txBody>
      </p:sp>
      <p:sp>
        <p:nvSpPr>
          <p:cNvPr id="10" name="Text 8">
            <a:extLst xmlns:a="http://schemas.openxmlformats.org/drawingml/2006/main">
              <a:ext uri="{FF2B5EF4-FFF2-40B4-BE49-F238E27FC236}">
                <a16:creationId xmlns:a16="http://schemas.microsoft.com/office/drawing/2014/main" id="{566DAF11-295F-4F95-A9F5-C0FE01CED65F}"/>
              </a:ext>
            </a:extLst>
          </p:cNvPr>
          <p:cNvSpPr>
            <a:spLocks xmlns:a="http://schemas.openxmlformats.org/drawingml/2006/main" noGrp="1"/>
          </p:cNvSpPr>
          <p:nvPr/>
        </p:nvSpPr>
        <p:spPr>
          <a:xfrm xmlns:a="http://schemas.openxmlformats.org/drawingml/2006/main">
            <a:off x="1510109" y="2548731"/>
            <a:ext cx="44422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README и приступ свих чланова тима</a:t>
            </a:r>
            <a:endParaRPr sz="1200"/>
          </a:p>
        </p:txBody>
      </p:sp>
      <p:sp>
        <p:nvSpPr>
          <p:cNvPr id="11" name="Shape 9">
            <a:extLst xmlns:a="http://schemas.openxmlformats.org/drawingml/2006/main">
              <a:ext uri="{FF2B5EF4-FFF2-40B4-BE49-F238E27FC236}">
                <a16:creationId xmlns:a16="http://schemas.microsoft.com/office/drawing/2014/main" id="{642747D0-A150-4F69-A2DE-E392A0D05FF3}"/>
              </a:ext>
            </a:extLst>
          </p:cNvPr>
          <p:cNvSpPr>
            <a:spLocks xmlns:a="http://schemas.openxmlformats.org/drawingml/2006/main" noGrp="1"/>
          </p:cNvSpPr>
          <p:nvPr/>
        </p:nvSpPr>
        <p:spPr>
          <a:xfrm xmlns:a="http://schemas.openxmlformats.org/drawingml/2006/main">
            <a:off x="6162675" y="2129036"/>
            <a:ext cx="5213350" cy="801291"/>
          </a:xfrm>
          <a:prstGeom xmlns:a="http://schemas.openxmlformats.org/drawingml/2006/main" prst="roundRect">
            <a:avLst>
              <a:gd name="adj" fmla="val 12283"/>
            </a:avLst>
          </a:prstGeom>
          <a:solidFill xmlns:a="http://schemas.openxmlformats.org/drawingml/2006/main">
            <a:srgbClr val="FCFCFB"/>
          </a:solidFill>
          <a:ln xmlns:a="http://schemas.openxmlformats.org/drawingml/2006/main" w="6350">
            <a:solidFill>
              <a:srgbClr val="D3DAE1"/>
            </a:solidFill>
            <a:prstDash val="solid"/>
          </a:ln>
        </p:spPr>
      </p:sp>
      <p:sp>
        <p:nvSpPr>
          <p:cNvPr id="12" name="Text 10">
            <a:extLst xmlns:a="http://schemas.openxmlformats.org/drawingml/2006/main">
              <a:ext uri="{FF2B5EF4-FFF2-40B4-BE49-F238E27FC236}">
                <a16:creationId xmlns:a16="http://schemas.microsoft.com/office/drawing/2014/main" id="{9EA332C3-CFA9-4A0F-B8AD-461BFDC90353}"/>
              </a:ext>
            </a:extLst>
          </p:cNvPr>
          <p:cNvSpPr>
            <a:spLocks xmlns:a="http://schemas.openxmlformats.org/drawingml/2006/main" noGrp="1"/>
          </p:cNvSpPr>
          <p:nvPr/>
        </p:nvSpPr>
        <p:spPr>
          <a:xfrm xmlns:a="http://schemas.openxmlformats.org/drawingml/2006/main">
            <a:off x="6369050" y="2297311"/>
            <a:ext cx="402431"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0E6E68"/>
                </a:solidFill>
                <a:latin typeface="IBM Plex Mono"/>
                <a:ea typeface="IBM Plex Mono"/>
                <a:cs typeface="IBM Plex Mono"/>
              </a:rPr>
              <a:t>02</a:t>
            </a:r>
            <a:endParaRPr sz="2200"/>
          </a:p>
        </p:txBody>
      </p:sp>
      <p:sp>
        <p:nvSpPr>
          <p:cNvPr id="13" name="Text 11">
            <a:extLst xmlns:a="http://schemas.openxmlformats.org/drawingml/2006/main">
              <a:ext uri="{FF2B5EF4-FFF2-40B4-BE49-F238E27FC236}">
                <a16:creationId xmlns:a16="http://schemas.microsoft.com/office/drawing/2014/main" id="{F2AD29ED-2AE4-4EA2-81D0-B62212328E12}"/>
              </a:ext>
            </a:extLst>
          </p:cNvPr>
          <p:cNvSpPr>
            <a:spLocks xmlns:a="http://schemas.openxmlformats.org/drawingml/2006/main" noGrp="1"/>
          </p:cNvSpPr>
          <p:nvPr/>
        </p:nvSpPr>
        <p:spPr>
          <a:xfrm xmlns:a="http://schemas.openxmlformats.org/drawingml/2006/main">
            <a:off x="6856809" y="2297311"/>
            <a:ext cx="44422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Backlog у Tapiz Boards</a:t>
            </a:r>
            <a:endParaRPr sz="1400"/>
          </a:p>
        </p:txBody>
      </p:sp>
      <p:sp>
        <p:nvSpPr>
          <p:cNvPr id="14" name="Text 12">
            <a:extLst xmlns:a="http://schemas.openxmlformats.org/drawingml/2006/main">
              <a:ext uri="{FF2B5EF4-FFF2-40B4-BE49-F238E27FC236}">
                <a16:creationId xmlns:a16="http://schemas.microsoft.com/office/drawing/2014/main" id="{6522A8B3-6A88-4BAD-B47B-2954079F0A00}"/>
              </a:ext>
            </a:extLst>
          </p:cNvPr>
          <p:cNvSpPr>
            <a:spLocks xmlns:a="http://schemas.openxmlformats.org/drawingml/2006/main" noGrp="1"/>
          </p:cNvSpPr>
          <p:nvPr/>
        </p:nvSpPr>
        <p:spPr>
          <a:xfrm xmlns:a="http://schemas.openxmlformats.org/drawingml/2006/main">
            <a:off x="6856809" y="2548731"/>
            <a:ext cx="44422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приоритети и критеријуми прихватања</a:t>
            </a:r>
            <a:endParaRPr sz="1200"/>
          </a:p>
        </p:txBody>
      </p:sp>
      <p:sp>
        <p:nvSpPr>
          <p:cNvPr id="15" name="Shape 13">
            <a:extLst xmlns:a="http://schemas.openxmlformats.org/drawingml/2006/main">
              <a:ext uri="{FF2B5EF4-FFF2-40B4-BE49-F238E27FC236}">
                <a16:creationId xmlns:a16="http://schemas.microsoft.com/office/drawing/2014/main" id="{27EECE1A-AD3F-41BD-8E90-73173E6EBC54}"/>
              </a:ext>
            </a:extLst>
          </p:cNvPr>
          <p:cNvSpPr>
            <a:spLocks xmlns:a="http://schemas.openxmlformats.org/drawingml/2006/main" noGrp="1"/>
          </p:cNvSpPr>
          <p:nvPr/>
        </p:nvSpPr>
        <p:spPr>
          <a:xfrm xmlns:a="http://schemas.openxmlformats.org/drawingml/2006/main">
            <a:off x="815975" y="3063677"/>
            <a:ext cx="5213350" cy="801291"/>
          </a:xfrm>
          <a:prstGeom xmlns:a="http://schemas.openxmlformats.org/drawingml/2006/main" prst="roundRect">
            <a:avLst>
              <a:gd name="adj" fmla="val 12283"/>
            </a:avLst>
          </a:prstGeom>
          <a:solidFill xmlns:a="http://schemas.openxmlformats.org/drawingml/2006/main">
            <a:srgbClr val="FCFCFB"/>
          </a:solidFill>
          <a:ln xmlns:a="http://schemas.openxmlformats.org/drawingml/2006/main" w="6350">
            <a:solidFill>
              <a:srgbClr val="D3DAE1"/>
            </a:solidFill>
            <a:prstDash val="solid"/>
          </a:ln>
        </p:spPr>
      </p:sp>
      <p:sp>
        <p:nvSpPr>
          <p:cNvPr id="16" name="Text 14">
            <a:extLst xmlns:a="http://schemas.openxmlformats.org/drawingml/2006/main">
              <a:ext uri="{FF2B5EF4-FFF2-40B4-BE49-F238E27FC236}">
                <a16:creationId xmlns:a16="http://schemas.microsoft.com/office/drawing/2014/main" id="{1778732D-CB4A-4D80-9C9A-3D937719833A}"/>
              </a:ext>
            </a:extLst>
          </p:cNvPr>
          <p:cNvSpPr>
            <a:spLocks xmlns:a="http://schemas.openxmlformats.org/drawingml/2006/main" noGrp="1"/>
          </p:cNvSpPr>
          <p:nvPr/>
        </p:nvSpPr>
        <p:spPr>
          <a:xfrm xmlns:a="http://schemas.openxmlformats.org/drawingml/2006/main">
            <a:off x="1022350" y="3231952"/>
            <a:ext cx="402431"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0E6E68"/>
                </a:solidFill>
                <a:latin typeface="IBM Plex Mono"/>
                <a:ea typeface="IBM Plex Mono"/>
                <a:cs typeface="IBM Plex Mono"/>
              </a:rPr>
              <a:t>03</a:t>
            </a:r>
            <a:endParaRPr sz="2200"/>
          </a:p>
        </p:txBody>
      </p:sp>
      <p:sp>
        <p:nvSpPr>
          <p:cNvPr id="17" name="Text 15">
            <a:extLst xmlns:a="http://schemas.openxmlformats.org/drawingml/2006/main">
              <a:ext uri="{FF2B5EF4-FFF2-40B4-BE49-F238E27FC236}">
                <a16:creationId xmlns:a16="http://schemas.microsoft.com/office/drawing/2014/main" id="{0A395070-FD19-457A-B079-55F788772E98}"/>
              </a:ext>
            </a:extLst>
          </p:cNvPr>
          <p:cNvSpPr>
            <a:spLocks xmlns:a="http://schemas.openxmlformats.org/drawingml/2006/main" noGrp="1"/>
          </p:cNvSpPr>
          <p:nvPr/>
        </p:nvSpPr>
        <p:spPr>
          <a:xfrm xmlns:a="http://schemas.openxmlformats.org/drawingml/2006/main">
            <a:off x="1510109" y="3231952"/>
            <a:ext cx="44422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Pull Request</a:t>
            </a:r>
            <a:endParaRPr sz="1400"/>
          </a:p>
        </p:txBody>
      </p:sp>
      <p:sp>
        <p:nvSpPr>
          <p:cNvPr id="18" name="Text 16">
            <a:extLst xmlns:a="http://schemas.openxmlformats.org/drawingml/2006/main">
              <a:ext uri="{FF2B5EF4-FFF2-40B4-BE49-F238E27FC236}">
                <a16:creationId xmlns:a16="http://schemas.microsoft.com/office/drawing/2014/main" id="{BCFDAD02-3495-400E-AF7E-3B5CD2ED72C6}"/>
              </a:ext>
            </a:extLst>
          </p:cNvPr>
          <p:cNvSpPr>
            <a:spLocks xmlns:a="http://schemas.openxmlformats.org/drawingml/2006/main" noGrp="1"/>
          </p:cNvSpPr>
          <p:nvPr/>
        </p:nvSpPr>
        <p:spPr>
          <a:xfrm xmlns:a="http://schemas.openxmlformats.org/drawingml/2006/main">
            <a:off x="1510109" y="3483372"/>
            <a:ext cx="44422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преглед измена и образложени коментари</a:t>
            </a:r>
            <a:endParaRPr sz="1200"/>
          </a:p>
        </p:txBody>
      </p:sp>
      <p:sp>
        <p:nvSpPr>
          <p:cNvPr id="19" name="Shape 17">
            <a:extLst xmlns:a="http://schemas.openxmlformats.org/drawingml/2006/main">
              <a:ext uri="{FF2B5EF4-FFF2-40B4-BE49-F238E27FC236}">
                <a16:creationId xmlns:a16="http://schemas.microsoft.com/office/drawing/2014/main" id="{EDC287F8-0B99-4AE4-9AE3-87A79E74479C}"/>
              </a:ext>
            </a:extLst>
          </p:cNvPr>
          <p:cNvSpPr>
            <a:spLocks xmlns:a="http://schemas.openxmlformats.org/drawingml/2006/main" noGrp="1"/>
          </p:cNvSpPr>
          <p:nvPr/>
        </p:nvSpPr>
        <p:spPr>
          <a:xfrm xmlns:a="http://schemas.openxmlformats.org/drawingml/2006/main">
            <a:off x="6162675" y="3063677"/>
            <a:ext cx="5213350" cy="801291"/>
          </a:xfrm>
          <a:prstGeom xmlns:a="http://schemas.openxmlformats.org/drawingml/2006/main" prst="roundRect">
            <a:avLst>
              <a:gd name="adj" fmla="val 12283"/>
            </a:avLst>
          </a:prstGeom>
          <a:solidFill xmlns:a="http://schemas.openxmlformats.org/drawingml/2006/main">
            <a:srgbClr val="FCFCFB"/>
          </a:solidFill>
          <a:ln xmlns:a="http://schemas.openxmlformats.org/drawingml/2006/main" w="6350">
            <a:solidFill>
              <a:srgbClr val="D3DAE1"/>
            </a:solidFill>
            <a:prstDash val="solid"/>
          </a:ln>
        </p:spPr>
      </p:sp>
      <p:sp>
        <p:nvSpPr>
          <p:cNvPr id="20" name="Text 18">
            <a:extLst xmlns:a="http://schemas.openxmlformats.org/drawingml/2006/main">
              <a:ext uri="{FF2B5EF4-FFF2-40B4-BE49-F238E27FC236}">
                <a16:creationId xmlns:a16="http://schemas.microsoft.com/office/drawing/2014/main" id="{E34B58B1-2A21-4438-8085-D6BE9CB497A1}"/>
              </a:ext>
            </a:extLst>
          </p:cNvPr>
          <p:cNvSpPr>
            <a:spLocks xmlns:a="http://schemas.openxmlformats.org/drawingml/2006/main" noGrp="1"/>
          </p:cNvSpPr>
          <p:nvPr/>
        </p:nvSpPr>
        <p:spPr>
          <a:xfrm xmlns:a="http://schemas.openxmlformats.org/drawingml/2006/main">
            <a:off x="6369050" y="3231952"/>
            <a:ext cx="402431"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0E6E68"/>
                </a:solidFill>
                <a:latin typeface="IBM Plex Mono"/>
                <a:ea typeface="IBM Plex Mono"/>
                <a:cs typeface="IBM Plex Mono"/>
              </a:rPr>
              <a:t>04</a:t>
            </a:r>
            <a:endParaRPr sz="2200"/>
          </a:p>
        </p:txBody>
      </p:sp>
      <p:sp>
        <p:nvSpPr>
          <p:cNvPr id="21" name="Text 19">
            <a:extLst xmlns:a="http://schemas.openxmlformats.org/drawingml/2006/main">
              <a:ext uri="{FF2B5EF4-FFF2-40B4-BE49-F238E27FC236}">
                <a16:creationId xmlns:a16="http://schemas.microsoft.com/office/drawing/2014/main" id="{70B5CB73-0FB8-42E2-AAE9-D22BC41EF442}"/>
              </a:ext>
            </a:extLst>
          </p:cNvPr>
          <p:cNvSpPr>
            <a:spLocks xmlns:a="http://schemas.openxmlformats.org/drawingml/2006/main" noGrp="1"/>
          </p:cNvSpPr>
          <p:nvPr/>
        </p:nvSpPr>
        <p:spPr>
          <a:xfrm xmlns:a="http://schemas.openxmlformats.org/drawingml/2006/main">
            <a:off x="6856809" y="3231952"/>
            <a:ext cx="44422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Договорени ток</a:t>
            </a:r>
            <a:endParaRPr sz="1400"/>
          </a:p>
        </p:txBody>
      </p:sp>
      <p:sp>
        <p:nvSpPr>
          <p:cNvPr id="22" name="Text 20">
            <a:extLst xmlns:a="http://schemas.openxmlformats.org/drawingml/2006/main">
              <a:ext uri="{FF2B5EF4-FFF2-40B4-BE49-F238E27FC236}">
                <a16:creationId xmlns:a16="http://schemas.microsoft.com/office/drawing/2014/main" id="{34D19A0B-58DF-4566-97DF-B4D373A43858}"/>
              </a:ext>
            </a:extLst>
          </p:cNvPr>
          <p:cNvSpPr>
            <a:spLocks xmlns:a="http://schemas.openxmlformats.org/drawingml/2006/main" noGrp="1"/>
          </p:cNvSpPr>
          <p:nvPr/>
        </p:nvSpPr>
        <p:spPr>
          <a:xfrm xmlns:a="http://schemas.openxmlformats.org/drawingml/2006/main">
            <a:off x="6856809" y="3483372"/>
            <a:ext cx="44422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од Backlog до Done, кроз Review и QA</a:t>
            </a:r>
            <a:endParaRPr sz="1200"/>
          </a:p>
        </p:txBody>
      </p:sp>
      <p:sp>
        <p:nvSpPr>
          <p:cNvPr id="23" name="Shape 21">
            <a:extLst xmlns:a="http://schemas.openxmlformats.org/drawingml/2006/main">
              <a:ext uri="{FF2B5EF4-FFF2-40B4-BE49-F238E27FC236}">
                <a16:creationId xmlns:a16="http://schemas.microsoft.com/office/drawing/2014/main" id="{AFEEB5B5-0A03-4F67-93D7-9543E26B6FD9}"/>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24" name="Text 22">
            <a:extLst xmlns:a="http://schemas.openxmlformats.org/drawingml/2006/main">
              <a:ext uri="{FF2B5EF4-FFF2-40B4-BE49-F238E27FC236}">
                <a16:creationId xmlns:a16="http://schemas.microsoft.com/office/drawing/2014/main" id="{F51A4734-B0E4-456F-A0EF-A76A696201A0}"/>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25" name="Text 23">
            <a:extLst xmlns:a="http://schemas.openxmlformats.org/drawingml/2006/main">
              <a:ext uri="{FF2B5EF4-FFF2-40B4-BE49-F238E27FC236}">
                <a16:creationId xmlns:a16="http://schemas.microsoft.com/office/drawing/2014/main" id="{0289C21F-A7F1-4AEE-8FA7-21055E57DDAD}"/>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32</a:t>
            </a:r>
            <a:endParaRPr sz="1200"/>
          </a:p>
        </p:txBody>
      </p:sp>
    </p:spTree>
    <p:extLst>
      <p:ext uri="{BB962C8B-B14F-4D97-AF65-F5344CB8AC3E}">
        <p14:creationId xmlns:p14="http://schemas.microsoft.com/office/powerpoint/2010/main" val="183690279"/>
      </p:ext>
    </p:extLst>
  </p:cSld>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05 · ПРЕДАЈА И КТ1</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Одговорност студента при употреби AI алата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AI алати су дозвољени уз проверљив лични допринос и разумевање решења.</a:t>
            </a:r>
            <a:endParaRPr lang="en-US" sz="1400" dirty="0"/>
          </a:p>
        </p:txBody>
      </p:sp>
      <p:sp>
        <p:nvSpPr>
          <p:cNvPr id="6" name="Text 4"/>
          <p:cNvSpPr/>
          <p:nvPr/>
        </p:nvSpPr>
        <p:spPr>
          <a:xfrm>
            <a:off x="812800" y="212586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ПОТРЕБНО ЈЕ РАЗГРАНИЧИТИ</a:t>
            </a:r>
            <a:endParaRPr lang="en-US" sz="1200" dirty="0"/>
          </a:p>
        </p:txBody>
      </p:sp>
      <p:sp>
        <p:nvSpPr>
          <p:cNvPr id="7" name="Shape 5"/>
          <p:cNvSpPr/>
          <p:nvPr/>
        </p:nvSpPr>
        <p:spPr>
          <a:xfrm>
            <a:off x="812800" y="2453481"/>
            <a:ext cx="5130800" cy="528241"/>
          </a:xfrm>
          <a:prstGeom prst="roundRect">
            <a:avLst>
              <a:gd name="adj" fmla="val 16829"/>
            </a:avLst>
          </a:prstGeom>
          <a:solidFill>
            <a:srgbClr val="0E6E68"/>
          </a:solidFill>
          <a:ln/>
        </p:spPr>
      </p:sp>
      <p:pic>
        <p:nvPicPr>
          <p:cNvPr id="8" name="Image 0" descr="Users">    </p:cNvPr>
          <p:cNvPicPr>
            <a:picLocks noChangeAspect="1"/>
          </p:cNvPicPr>
          <p:nvPr/>
        </p:nvPicPr>
        <p:blipFill>
          <a:blip r:embed="rId1"/>
          <a:srcRect l="0" r="0" t="0" b="0"/>
          <a:stretch/>
        </p:blipFill>
        <p:spPr>
          <a:xfrm>
            <a:off x="990600" y="2603302"/>
            <a:ext cx="228600" cy="228600"/>
          </a:xfrm>
          <a:prstGeom prst="rect">
            <a:avLst/>
          </a:prstGeom>
        </p:spPr>
      </p:pic>
      <p:sp>
        <p:nvSpPr>
          <p:cNvPr id="9" name="Text 6"/>
          <p:cNvSpPr/>
          <p:nvPr/>
        </p:nvSpPr>
        <p:spPr>
          <a:xfrm>
            <a:off x="1346200" y="2593181"/>
            <a:ext cx="455218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CFB"/>
                </a:solidFill>
                <a:latin typeface="IBM Plex Sans" pitchFamily="34" charset="0"/>
                <a:ea typeface="IBM Plex Sans" pitchFamily="34" charset="-122"/>
                <a:cs typeface="IBM Plex Sans" pitchFamily="34" charset="-120"/>
              </a:rPr>
              <a:t>сопствени рад</a:t>
            </a:r>
            <a:endParaRPr lang="en-US" sz="1400" dirty="0"/>
          </a:p>
        </p:txBody>
      </p:sp>
      <p:sp>
        <p:nvSpPr>
          <p:cNvPr id="10" name="Shape 7"/>
          <p:cNvSpPr/>
          <p:nvPr/>
        </p:nvSpPr>
        <p:spPr>
          <a:xfrm>
            <a:off x="812800" y="3070622"/>
            <a:ext cx="5130800" cy="528241"/>
          </a:xfrm>
          <a:prstGeom prst="roundRect">
            <a:avLst>
              <a:gd name="adj" fmla="val 16829"/>
            </a:avLst>
          </a:prstGeom>
          <a:solidFill>
            <a:srgbClr val="DDEBEA"/>
          </a:solidFill>
          <a:ln/>
        </p:spPr>
      </p:sp>
      <p:pic>
        <p:nvPicPr>
          <p:cNvPr id="11" name="Image 1" descr="Users">    </p:cNvPr>
          <p:cNvPicPr>
            <a:picLocks noChangeAspect="1"/>
          </p:cNvPicPr>
          <p:nvPr/>
        </p:nvPicPr>
        <p:blipFill>
          <a:blip r:embed="rId2"/>
          <a:srcRect l="0" r="0" t="0" b="0"/>
          <a:stretch/>
        </p:blipFill>
        <p:spPr>
          <a:xfrm>
            <a:off x="990600" y="3220442"/>
            <a:ext cx="228600" cy="228600"/>
          </a:xfrm>
          <a:prstGeom prst="rect">
            <a:avLst/>
          </a:prstGeom>
        </p:spPr>
      </p:pic>
      <p:sp>
        <p:nvSpPr>
          <p:cNvPr id="12" name="Text 8"/>
          <p:cNvSpPr/>
          <p:nvPr/>
        </p:nvSpPr>
        <p:spPr>
          <a:xfrm>
            <a:off x="1346200" y="3210322"/>
            <a:ext cx="455218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рад осталих чланова тима</a:t>
            </a:r>
            <a:endParaRPr lang="en-US" sz="1400" dirty="0"/>
          </a:p>
        </p:txBody>
      </p:sp>
      <p:sp>
        <p:nvSpPr>
          <p:cNvPr id="13" name="Shape 9"/>
          <p:cNvSpPr/>
          <p:nvPr/>
        </p:nvSpPr>
        <p:spPr>
          <a:xfrm>
            <a:off x="815975" y="3690937"/>
            <a:ext cx="5124450" cy="534591"/>
          </a:xfrm>
          <a:prstGeom prst="roundRect">
            <a:avLst>
              <a:gd name="adj" fmla="val 16036"/>
            </a:avLst>
          </a:prstGeom>
          <a:solidFill>
            <a:srgbClr val="FBF1E6"/>
          </a:solidFill>
          <a:ln w="6350">
            <a:solidFill>
              <a:srgbClr val="E9B98C"/>
            </a:solidFill>
            <a:prstDash val="solid"/>
          </a:ln>
        </p:spPr>
      </p:sp>
      <p:pic>
        <p:nvPicPr>
          <p:cNvPr id="14" name="Image 2" descr="Lightning">    </p:cNvPr>
          <p:cNvPicPr>
            <a:picLocks noChangeAspect="1"/>
          </p:cNvPicPr>
          <p:nvPr/>
        </p:nvPicPr>
        <p:blipFill>
          <a:blip r:embed="rId3"/>
          <a:srcRect l="0" r="0" t="0" b="0"/>
          <a:stretch/>
        </p:blipFill>
        <p:spPr>
          <a:xfrm>
            <a:off x="996950" y="3843933"/>
            <a:ext cx="228600" cy="228600"/>
          </a:xfrm>
          <a:prstGeom prst="rect">
            <a:avLst/>
          </a:prstGeom>
        </p:spPr>
      </p:pic>
      <p:sp>
        <p:nvSpPr>
          <p:cNvPr id="15" name="Text 10"/>
          <p:cNvSpPr/>
          <p:nvPr/>
        </p:nvSpPr>
        <p:spPr>
          <a:xfrm>
            <a:off x="1352550" y="3833812"/>
            <a:ext cx="45391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садржај добијен спољним алатима</a:t>
            </a:r>
            <a:endParaRPr lang="en-US" sz="1400" dirty="0"/>
          </a:p>
        </p:txBody>
      </p:sp>
      <p:sp>
        <p:nvSpPr>
          <p:cNvPr id="16" name="Shape 11"/>
          <p:cNvSpPr/>
          <p:nvPr/>
        </p:nvSpPr>
        <p:spPr>
          <a:xfrm>
            <a:off x="6251575" y="2129036"/>
            <a:ext cx="5124450" cy="2021483"/>
          </a:xfrm>
          <a:prstGeom prst="roundRect">
            <a:avLst>
              <a:gd name="adj" fmla="val 4869"/>
            </a:avLst>
          </a:prstGeom>
          <a:solidFill>
            <a:srgbClr val="FCFCFB"/>
          </a:solidFill>
          <a:ln w="6350">
            <a:solidFill>
              <a:srgbClr val="D3DAE1"/>
            </a:solidFill>
            <a:prstDash val="solid"/>
          </a:ln>
        </p:spPr>
      </p:sp>
      <p:sp>
        <p:nvSpPr>
          <p:cNvPr id="17" name="Text 12"/>
          <p:cNvSpPr/>
          <p:nvPr/>
        </p:nvSpPr>
        <p:spPr>
          <a:xfrm>
            <a:off x="6470650" y="2310011"/>
            <a:ext cx="48268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РЕЛЕВАНТАН ДОКАЗ РАДА</a:t>
            </a:r>
            <a:endParaRPr lang="en-US" sz="1200" dirty="0"/>
          </a:p>
        </p:txBody>
      </p:sp>
      <p:sp>
        <p:nvSpPr>
          <p:cNvPr id="18" name="Shape 13"/>
          <p:cNvSpPr/>
          <p:nvPr/>
        </p:nvSpPr>
        <p:spPr>
          <a:xfrm>
            <a:off x="6470650" y="2615406"/>
            <a:ext cx="4686300" cy="0"/>
          </a:xfrm>
          <a:prstGeom prst="line">
            <a:avLst/>
          </a:prstGeom>
          <a:noFill/>
          <a:ln w="6350">
            <a:solidFill>
              <a:srgbClr val="E3E8EE"/>
            </a:solidFill>
            <a:prstDash val="solid"/>
          </a:ln>
        </p:spPr>
      </p:sp>
      <p:pic>
        <p:nvPicPr>
          <p:cNvPr id="19" name="Image 3" descr="Code">    </p:cNvPr>
          <p:cNvPicPr>
            <a:picLocks noChangeAspect="1"/>
          </p:cNvPicPr>
          <p:nvPr/>
        </p:nvPicPr>
        <p:blipFill>
          <a:blip r:embed="rId4"/>
          <a:srcRect l="0" r="0" t="0" b="0"/>
          <a:stretch/>
        </p:blipFill>
        <p:spPr>
          <a:xfrm>
            <a:off x="6470650" y="2730302"/>
            <a:ext cx="203200" cy="203200"/>
          </a:xfrm>
          <a:prstGeom prst="rect">
            <a:avLst/>
          </a:prstGeom>
        </p:spPr>
      </p:pic>
      <p:sp>
        <p:nvSpPr>
          <p:cNvPr id="20" name="Text 14"/>
          <p:cNvSpPr/>
          <p:nvPr/>
        </p:nvSpPr>
        <p:spPr>
          <a:xfrm>
            <a:off x="6788150" y="2707481"/>
            <a:ext cx="449986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репозиторијум и историја измена</a:t>
            </a:r>
            <a:endParaRPr lang="en-US" sz="1400" dirty="0"/>
          </a:p>
        </p:txBody>
      </p:sp>
      <p:pic>
        <p:nvPicPr>
          <p:cNvPr id="21" name="Image 4" descr="CheckCircle">    </p:cNvPr>
          <p:cNvPicPr>
            <a:picLocks noChangeAspect="1"/>
          </p:cNvPicPr>
          <p:nvPr/>
        </p:nvPicPr>
        <p:blipFill>
          <a:blip r:embed="rId5"/>
          <a:srcRect l="0" r="0" t="0" b="0"/>
          <a:stretch/>
        </p:blipFill>
        <p:spPr>
          <a:xfrm>
            <a:off x="6470650" y="3068042"/>
            <a:ext cx="203200" cy="203200"/>
          </a:xfrm>
          <a:prstGeom prst="rect">
            <a:avLst/>
          </a:prstGeom>
        </p:spPr>
      </p:pic>
      <p:sp>
        <p:nvSpPr>
          <p:cNvPr id="22" name="Text 15"/>
          <p:cNvSpPr/>
          <p:nvPr/>
        </p:nvSpPr>
        <p:spPr>
          <a:xfrm>
            <a:off x="6788150" y="3045222"/>
            <a:ext cx="449986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тестови и документација</a:t>
            </a:r>
            <a:endParaRPr lang="en-US" sz="1400" dirty="0"/>
          </a:p>
        </p:txBody>
      </p:sp>
      <p:pic>
        <p:nvPicPr>
          <p:cNvPr id="23" name="Image 5" descr="Book">    </p:cNvPr>
          <p:cNvPicPr>
            <a:picLocks noChangeAspect="1"/>
          </p:cNvPicPr>
          <p:nvPr/>
        </p:nvPicPr>
        <p:blipFill>
          <a:blip r:embed="rId6"/>
          <a:srcRect l="0" r="0" t="0" b="0"/>
          <a:stretch/>
        </p:blipFill>
        <p:spPr>
          <a:xfrm>
            <a:off x="6470650" y="3405783"/>
            <a:ext cx="203200" cy="203200"/>
          </a:xfrm>
          <a:prstGeom prst="rect">
            <a:avLst/>
          </a:prstGeom>
        </p:spPr>
      </p:pic>
      <p:sp>
        <p:nvSpPr>
          <p:cNvPr id="24" name="Text 16"/>
          <p:cNvSpPr/>
          <p:nvPr/>
        </p:nvSpPr>
        <p:spPr>
          <a:xfrm>
            <a:off x="6788150" y="3382963"/>
            <a:ext cx="449986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евиденција употребе AI алата</a:t>
            </a:r>
            <a:endParaRPr lang="en-US" sz="1400" dirty="0"/>
          </a:p>
        </p:txBody>
      </p:sp>
      <p:pic>
        <p:nvPicPr>
          <p:cNvPr id="25" name="Image 6" descr="Chat">    </p:cNvPr>
          <p:cNvPicPr>
            <a:picLocks noChangeAspect="1"/>
          </p:cNvPicPr>
          <p:nvPr/>
        </p:nvPicPr>
        <p:blipFill>
          <a:blip r:embed="rId7"/>
          <a:srcRect l="0" r="0" t="0" b="0"/>
          <a:stretch/>
        </p:blipFill>
        <p:spPr>
          <a:xfrm>
            <a:off x="6470650" y="3743523"/>
            <a:ext cx="203200" cy="203200"/>
          </a:xfrm>
          <a:prstGeom prst="rect">
            <a:avLst/>
          </a:prstGeom>
        </p:spPr>
      </p:pic>
      <p:sp>
        <p:nvSpPr>
          <p:cNvPr id="26" name="Text 17"/>
          <p:cNvSpPr/>
          <p:nvPr/>
        </p:nvSpPr>
        <p:spPr>
          <a:xfrm>
            <a:off x="6788150" y="3720703"/>
            <a:ext cx="449986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самостално образложење</a:t>
            </a:r>
            <a:endParaRPr lang="en-US" sz="1400" dirty="0"/>
          </a:p>
        </p:txBody>
      </p:sp>
      <p:sp>
        <p:nvSpPr>
          <p:cNvPr id="27" name="Shape 18"/>
          <p:cNvSpPr/>
          <p:nvPr/>
        </p:nvSpPr>
        <p:spPr>
          <a:xfrm>
            <a:off x="812800" y="6209705"/>
            <a:ext cx="10566400" cy="0"/>
          </a:xfrm>
          <a:prstGeom prst="line">
            <a:avLst/>
          </a:prstGeom>
          <a:noFill/>
          <a:ln w="6350">
            <a:solidFill>
              <a:srgbClr val="D3DAE1"/>
            </a:solidFill>
            <a:prstDash val="solid"/>
          </a:ln>
        </p:spPr>
      </p:sp>
      <p:sp>
        <p:nvSpPr>
          <p:cNvPr id="28" name="Text 1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9" name="Text 2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05 · ПРЕДАЈА И КТ1</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Провера пре предаје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Тим проверава основне услове пре означавања рада као завршеног.</a:t>
            </a:r>
            <a:endParaRPr lang="en-US" sz="1400" dirty="0"/>
          </a:p>
        </p:txBody>
      </p:sp>
      <p:sp>
        <p:nvSpPr>
          <p:cNvPr id="6" name="Shape 4"/>
          <p:cNvSpPr/>
          <p:nvPr/>
        </p:nvSpPr>
        <p:spPr>
          <a:xfrm>
            <a:off x="815975" y="2129036"/>
            <a:ext cx="10560050" cy="2825651"/>
          </a:xfrm>
          <a:prstGeom prst="roundRect">
            <a:avLst>
              <a:gd name="adj" fmla="val 3483"/>
            </a:avLst>
          </a:prstGeom>
          <a:solidFill>
            <a:srgbClr val="FCFCFB"/>
          </a:solidFill>
          <a:ln w="6350">
            <a:solidFill>
              <a:srgbClr val="D3DAE1"/>
            </a:solidFill>
            <a:prstDash val="solid"/>
          </a:ln>
        </p:spPr>
      </p:sp>
      <p:sp>
        <p:nvSpPr>
          <p:cNvPr id="7" name="Text 5"/>
          <p:cNvSpPr/>
          <p:nvPr/>
        </p:nvSpPr>
        <p:spPr>
          <a:xfrm>
            <a:off x="1047750" y="2310011"/>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6E68"/>
                </a:solidFill>
                <a:latin typeface="IBM Plex Mono" pitchFamily="49" charset="0"/>
                <a:ea typeface="IBM Plex Mono" pitchFamily="49" charset="-122"/>
                <a:cs typeface="IBM Plex Mono" pitchFamily="49" charset="-120"/>
              </a:rPr>
              <a:t>01</a:t>
            </a:r>
            <a:endParaRPr lang="en-US" sz="1600" dirty="0"/>
          </a:p>
        </p:txBody>
      </p:sp>
      <p:sp>
        <p:nvSpPr>
          <p:cNvPr id="8" name="Text 6"/>
          <p:cNvSpPr/>
          <p:nvPr/>
        </p:nvSpPr>
        <p:spPr>
          <a:xfrm>
            <a:off x="1469430" y="2318841"/>
            <a:ext cx="95203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2D"/>
                </a:solidFill>
                <a:latin typeface="IBM Plex Sans" pitchFamily="34" charset="0"/>
                <a:ea typeface="IBM Plex Sans" pitchFamily="34" charset="-122"/>
                <a:cs typeface="IBM Plex Sans" pitchFamily="34" charset="-120"/>
              </a:rPr>
              <a:t>Да ли је ставка повезана са граном или Pull Request-ом?</a:t>
            </a:r>
            <a:endParaRPr lang="en-US" sz="1500" dirty="0"/>
          </a:p>
        </p:txBody>
      </p:sp>
      <p:sp>
        <p:nvSpPr>
          <p:cNvPr id="9" name="Shape 7"/>
          <p:cNvSpPr/>
          <p:nvPr/>
        </p:nvSpPr>
        <p:spPr>
          <a:xfrm>
            <a:off x="10896600" y="2331541"/>
            <a:ext cx="241300" cy="241300"/>
          </a:xfrm>
          <a:prstGeom prst="roundRect">
            <a:avLst>
              <a:gd name="adj" fmla="val 18421"/>
            </a:avLst>
          </a:prstGeom>
          <a:solidFill>
            <a:srgbClr val="FCFCFB"/>
          </a:solidFill>
          <a:ln w="12700">
            <a:solidFill>
              <a:srgbClr val="A9B6C3"/>
            </a:solidFill>
            <a:prstDash val="solid"/>
          </a:ln>
        </p:spPr>
      </p:sp>
      <p:sp>
        <p:nvSpPr>
          <p:cNvPr id="10" name="Shape 8"/>
          <p:cNvSpPr/>
          <p:nvPr/>
        </p:nvSpPr>
        <p:spPr>
          <a:xfrm>
            <a:off x="1047750" y="2724646"/>
            <a:ext cx="10096500" cy="0"/>
          </a:xfrm>
          <a:prstGeom prst="line">
            <a:avLst/>
          </a:prstGeom>
          <a:noFill/>
          <a:ln w="6350">
            <a:solidFill>
              <a:srgbClr val="E3E8EE"/>
            </a:solidFill>
            <a:prstDash val="solid"/>
          </a:ln>
        </p:spPr>
      </p:sp>
      <p:sp>
        <p:nvSpPr>
          <p:cNvPr id="11" name="Text 9"/>
          <p:cNvSpPr/>
          <p:nvPr/>
        </p:nvSpPr>
        <p:spPr>
          <a:xfrm>
            <a:off x="1047750" y="2854821"/>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6E68"/>
                </a:solidFill>
                <a:latin typeface="IBM Plex Mono" pitchFamily="49" charset="0"/>
                <a:ea typeface="IBM Plex Mono" pitchFamily="49" charset="-122"/>
                <a:cs typeface="IBM Plex Mono" pitchFamily="49" charset="-120"/>
              </a:rPr>
              <a:t>02</a:t>
            </a:r>
            <a:endParaRPr lang="en-US" sz="1600" dirty="0"/>
          </a:p>
        </p:txBody>
      </p:sp>
      <p:sp>
        <p:nvSpPr>
          <p:cNvPr id="12" name="Text 10"/>
          <p:cNvSpPr/>
          <p:nvPr/>
        </p:nvSpPr>
        <p:spPr>
          <a:xfrm>
            <a:off x="1469430" y="2863652"/>
            <a:ext cx="95203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2D"/>
                </a:solidFill>
                <a:latin typeface="IBM Plex Sans" pitchFamily="34" charset="0"/>
                <a:ea typeface="IBM Plex Sans" pitchFamily="34" charset="-122"/>
                <a:cs typeface="IBM Plex Sans" pitchFamily="34" charset="-120"/>
              </a:rPr>
              <a:t>Да ли критеријуми прихватања имају видљиву проверу?</a:t>
            </a:r>
            <a:endParaRPr lang="en-US" sz="1500" dirty="0"/>
          </a:p>
        </p:txBody>
      </p:sp>
      <p:sp>
        <p:nvSpPr>
          <p:cNvPr id="13" name="Shape 11"/>
          <p:cNvSpPr/>
          <p:nvPr/>
        </p:nvSpPr>
        <p:spPr>
          <a:xfrm>
            <a:off x="10896600" y="2876352"/>
            <a:ext cx="241300" cy="241300"/>
          </a:xfrm>
          <a:prstGeom prst="roundRect">
            <a:avLst>
              <a:gd name="adj" fmla="val 18421"/>
            </a:avLst>
          </a:prstGeom>
          <a:solidFill>
            <a:srgbClr val="FCFCFB"/>
          </a:solidFill>
          <a:ln w="12700">
            <a:solidFill>
              <a:srgbClr val="A9B6C3"/>
            </a:solidFill>
            <a:prstDash val="solid"/>
          </a:ln>
        </p:spPr>
      </p:sp>
      <p:sp>
        <p:nvSpPr>
          <p:cNvPr id="14" name="Shape 12"/>
          <p:cNvSpPr/>
          <p:nvPr/>
        </p:nvSpPr>
        <p:spPr>
          <a:xfrm>
            <a:off x="1047750" y="3269456"/>
            <a:ext cx="10096500" cy="0"/>
          </a:xfrm>
          <a:prstGeom prst="line">
            <a:avLst/>
          </a:prstGeom>
          <a:noFill/>
          <a:ln w="6350">
            <a:solidFill>
              <a:srgbClr val="E3E8EE"/>
            </a:solidFill>
            <a:prstDash val="solid"/>
          </a:ln>
        </p:spPr>
      </p:sp>
      <p:sp>
        <p:nvSpPr>
          <p:cNvPr id="15" name="Text 13"/>
          <p:cNvSpPr/>
          <p:nvPr/>
        </p:nvSpPr>
        <p:spPr>
          <a:xfrm>
            <a:off x="1047750" y="3399631"/>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6E68"/>
                </a:solidFill>
                <a:latin typeface="IBM Plex Mono" pitchFamily="49" charset="0"/>
                <a:ea typeface="IBM Plex Mono" pitchFamily="49" charset="-122"/>
                <a:cs typeface="IBM Plex Mono" pitchFamily="49" charset="-120"/>
              </a:rPr>
              <a:t>03</a:t>
            </a:r>
            <a:endParaRPr lang="en-US" sz="1600" dirty="0"/>
          </a:p>
        </p:txBody>
      </p:sp>
      <p:sp>
        <p:nvSpPr>
          <p:cNvPr id="16" name="Text 14"/>
          <p:cNvSpPr/>
          <p:nvPr/>
        </p:nvSpPr>
        <p:spPr>
          <a:xfrm>
            <a:off x="1469430" y="3408462"/>
            <a:ext cx="95203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2D"/>
                </a:solidFill>
                <a:latin typeface="IBM Plex Sans" pitchFamily="34" charset="0"/>
                <a:ea typeface="IBM Plex Sans" pitchFamily="34" charset="-122"/>
                <a:cs typeface="IBM Plex Sans" pitchFamily="34" charset="-120"/>
              </a:rPr>
              <a:t>Да ли diff садржи само релевантне измене?</a:t>
            </a:r>
            <a:endParaRPr lang="en-US" sz="1500" dirty="0"/>
          </a:p>
        </p:txBody>
      </p:sp>
      <p:sp>
        <p:nvSpPr>
          <p:cNvPr id="17" name="Shape 15"/>
          <p:cNvSpPr/>
          <p:nvPr/>
        </p:nvSpPr>
        <p:spPr>
          <a:xfrm>
            <a:off x="10896600" y="3421162"/>
            <a:ext cx="241300" cy="241300"/>
          </a:xfrm>
          <a:prstGeom prst="roundRect">
            <a:avLst>
              <a:gd name="adj" fmla="val 18421"/>
            </a:avLst>
          </a:prstGeom>
          <a:solidFill>
            <a:srgbClr val="FCFCFB"/>
          </a:solidFill>
          <a:ln w="12700">
            <a:solidFill>
              <a:srgbClr val="A9B6C3"/>
            </a:solidFill>
            <a:prstDash val="solid"/>
          </a:ln>
        </p:spPr>
      </p:sp>
      <p:sp>
        <p:nvSpPr>
          <p:cNvPr id="18" name="Shape 16"/>
          <p:cNvSpPr/>
          <p:nvPr/>
        </p:nvSpPr>
        <p:spPr>
          <a:xfrm>
            <a:off x="1047750" y="3814266"/>
            <a:ext cx="10096500" cy="0"/>
          </a:xfrm>
          <a:prstGeom prst="line">
            <a:avLst/>
          </a:prstGeom>
          <a:noFill/>
          <a:ln w="6350">
            <a:solidFill>
              <a:srgbClr val="E3E8EE"/>
            </a:solidFill>
            <a:prstDash val="solid"/>
          </a:ln>
        </p:spPr>
      </p:sp>
      <p:sp>
        <p:nvSpPr>
          <p:cNvPr id="19" name="Text 17"/>
          <p:cNvSpPr/>
          <p:nvPr/>
        </p:nvSpPr>
        <p:spPr>
          <a:xfrm>
            <a:off x="1047750" y="3944441"/>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6E68"/>
                </a:solidFill>
                <a:latin typeface="IBM Plex Mono" pitchFamily="49" charset="0"/>
                <a:ea typeface="IBM Plex Mono" pitchFamily="49" charset="-122"/>
                <a:cs typeface="IBM Plex Mono" pitchFamily="49" charset="-120"/>
              </a:rPr>
              <a:t>04</a:t>
            </a:r>
            <a:endParaRPr lang="en-US" sz="1600" dirty="0"/>
          </a:p>
        </p:txBody>
      </p:sp>
      <p:sp>
        <p:nvSpPr>
          <p:cNvPr id="20" name="Text 18"/>
          <p:cNvSpPr/>
          <p:nvPr/>
        </p:nvSpPr>
        <p:spPr>
          <a:xfrm>
            <a:off x="1469430" y="3953272"/>
            <a:ext cx="95203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2D"/>
                </a:solidFill>
                <a:latin typeface="IBM Plex Sans" pitchFamily="34" charset="0"/>
                <a:ea typeface="IBM Plex Sans" pitchFamily="34" charset="-122"/>
                <a:cs typeface="IBM Plex Sans" pitchFamily="34" charset="-120"/>
              </a:rPr>
              <a:t>Да ли је главна грана стабилна?</a:t>
            </a:r>
            <a:endParaRPr lang="en-US" sz="1500" dirty="0"/>
          </a:p>
        </p:txBody>
      </p:sp>
      <p:sp>
        <p:nvSpPr>
          <p:cNvPr id="21" name="Shape 19"/>
          <p:cNvSpPr/>
          <p:nvPr/>
        </p:nvSpPr>
        <p:spPr>
          <a:xfrm>
            <a:off x="10896600" y="3965972"/>
            <a:ext cx="241300" cy="241300"/>
          </a:xfrm>
          <a:prstGeom prst="roundRect">
            <a:avLst>
              <a:gd name="adj" fmla="val 18421"/>
            </a:avLst>
          </a:prstGeom>
          <a:solidFill>
            <a:srgbClr val="FCFCFB"/>
          </a:solidFill>
          <a:ln w="12700">
            <a:solidFill>
              <a:srgbClr val="A9B6C3"/>
            </a:solidFill>
            <a:prstDash val="solid"/>
          </a:ln>
        </p:spPr>
      </p:sp>
      <p:sp>
        <p:nvSpPr>
          <p:cNvPr id="22" name="Shape 20"/>
          <p:cNvSpPr/>
          <p:nvPr/>
        </p:nvSpPr>
        <p:spPr>
          <a:xfrm>
            <a:off x="1047750" y="4359077"/>
            <a:ext cx="10096500" cy="0"/>
          </a:xfrm>
          <a:prstGeom prst="line">
            <a:avLst/>
          </a:prstGeom>
          <a:noFill/>
          <a:ln w="6350">
            <a:solidFill>
              <a:srgbClr val="E3E8EE"/>
            </a:solidFill>
            <a:prstDash val="solid"/>
          </a:ln>
        </p:spPr>
      </p:sp>
      <p:sp>
        <p:nvSpPr>
          <p:cNvPr id="23" name="Text 21"/>
          <p:cNvSpPr/>
          <p:nvPr/>
        </p:nvSpPr>
        <p:spPr>
          <a:xfrm>
            <a:off x="1047750" y="4489252"/>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8520A"/>
                </a:solidFill>
                <a:latin typeface="IBM Plex Mono" pitchFamily="49" charset="0"/>
                <a:ea typeface="IBM Plex Mono" pitchFamily="49" charset="-122"/>
                <a:cs typeface="IBM Plex Mono" pitchFamily="49" charset="-120"/>
              </a:rPr>
              <a:t>05</a:t>
            </a:r>
            <a:endParaRPr lang="en-US" sz="1600" dirty="0"/>
          </a:p>
        </p:txBody>
      </p:sp>
      <p:sp>
        <p:nvSpPr>
          <p:cNvPr id="24" name="Text 22"/>
          <p:cNvSpPr/>
          <p:nvPr/>
        </p:nvSpPr>
        <p:spPr>
          <a:xfrm>
            <a:off x="1469430" y="4498082"/>
            <a:ext cx="95203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2D"/>
                </a:solidFill>
                <a:latin typeface="IBM Plex Sans" pitchFamily="34" charset="0"/>
                <a:ea typeface="IBM Plex Sans" pitchFamily="34" charset="-122"/>
                <a:cs typeface="IBM Plex Sans" pitchFamily="34" charset="-120"/>
              </a:rPr>
              <a:t>Да ли сваки члан може да објасни свој допринос?</a:t>
            </a:r>
            <a:endParaRPr lang="en-US" sz="1500" dirty="0"/>
          </a:p>
        </p:txBody>
      </p:sp>
      <p:sp>
        <p:nvSpPr>
          <p:cNvPr id="25" name="Shape 23"/>
          <p:cNvSpPr/>
          <p:nvPr/>
        </p:nvSpPr>
        <p:spPr>
          <a:xfrm>
            <a:off x="10896600" y="4510782"/>
            <a:ext cx="241300" cy="241300"/>
          </a:xfrm>
          <a:prstGeom prst="roundRect">
            <a:avLst>
              <a:gd name="adj" fmla="val 18421"/>
            </a:avLst>
          </a:prstGeom>
          <a:solidFill>
            <a:srgbClr val="FCFCFB"/>
          </a:solidFill>
          <a:ln w="12700">
            <a:solidFill>
              <a:srgbClr val="E9B98C"/>
            </a:solidFill>
            <a:prstDash val="solid"/>
          </a:ln>
        </p:spPr>
      </p:sp>
      <p:sp>
        <p:nvSpPr>
          <p:cNvPr id="26" name="Shape 24"/>
          <p:cNvSpPr/>
          <p:nvPr/>
        </p:nvSpPr>
        <p:spPr>
          <a:xfrm>
            <a:off x="812800" y="6209705"/>
            <a:ext cx="10566400" cy="0"/>
          </a:xfrm>
          <a:prstGeom prst="line">
            <a:avLst/>
          </a:prstGeom>
          <a:noFill/>
          <a:ln w="6350">
            <a:solidFill>
              <a:srgbClr val="D3DAE1"/>
            </a:solidFill>
            <a:prstDash val="solid"/>
          </a:ln>
        </p:spPr>
      </p:sp>
      <p:sp>
        <p:nvSpPr>
          <p:cNvPr id="27"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E6E6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8"/>
                </a:solidFill>
                <a:latin typeface="IBM Plex Mono" pitchFamily="49" charset="0"/>
                <a:ea typeface="IBM Plex Mono" pitchFamily="49" charset="-122"/>
                <a:cs typeface="IBM Plex Mono" pitchFamily="49" charset="-120"/>
              </a:rPr>
              <a:t>05 · ПРЕДАЈА И КТ1</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Типични пропусти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Наведени пропусти нарушавају следљивост и отежавају проверу рада.</a:t>
            </a:r>
            <a:endParaRPr lang="en-US" sz="1400" dirty="0"/>
          </a:p>
        </p:txBody>
      </p:sp>
      <p:sp>
        <p:nvSpPr>
          <p:cNvPr id="6" name="Shape 4"/>
          <p:cNvSpPr/>
          <p:nvPr/>
        </p:nvSpPr>
        <p:spPr>
          <a:xfrm>
            <a:off x="815975" y="2129036"/>
            <a:ext cx="5213350" cy="859730"/>
          </a:xfrm>
          <a:prstGeom prst="roundRect">
            <a:avLst>
              <a:gd name="adj" fmla="val 11448"/>
            </a:avLst>
          </a:prstGeom>
          <a:solidFill>
            <a:srgbClr val="FCFCFB"/>
          </a:solidFill>
          <a:ln w="6350">
            <a:solidFill>
              <a:srgbClr val="D3DAE1"/>
            </a:solidFill>
            <a:prstDash val="solid"/>
          </a:ln>
        </p:spPr>
      </p:sp>
      <p:pic>
        <p:nvPicPr>
          <p:cNvPr id="7" name="Image 0" descr="Warning">    </p:cNvPr>
          <p:cNvPicPr>
            <a:picLocks noChangeAspect="1"/>
          </p:cNvPicPr>
          <p:nvPr/>
        </p:nvPicPr>
        <p:blipFill>
          <a:blip r:embed="rId1"/>
          <a:srcRect l="0" r="0" t="0" b="0"/>
          <a:stretch/>
        </p:blipFill>
        <p:spPr>
          <a:xfrm>
            <a:off x="1022350" y="2310011"/>
            <a:ext cx="254000" cy="254000"/>
          </a:xfrm>
          <a:prstGeom prst="rect">
            <a:avLst/>
          </a:prstGeom>
        </p:spPr>
      </p:pic>
      <p:sp>
        <p:nvSpPr>
          <p:cNvPr id="8" name="Text 5"/>
          <p:cNvSpPr/>
          <p:nvPr/>
        </p:nvSpPr>
        <p:spPr>
          <a:xfrm>
            <a:off x="1428750" y="2310011"/>
            <a:ext cx="45260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Нејасна прича</a:t>
            </a:r>
            <a:endParaRPr lang="en-US" sz="1500" dirty="0"/>
          </a:p>
        </p:txBody>
      </p:sp>
      <p:sp>
        <p:nvSpPr>
          <p:cNvPr id="9" name="Text 6"/>
          <p:cNvSpPr/>
          <p:nvPr/>
        </p:nvSpPr>
        <p:spPr>
          <a:xfrm>
            <a:off x="1428750" y="2576711"/>
            <a:ext cx="452602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није јасно ко добија вредност</a:t>
            </a:r>
            <a:endParaRPr lang="en-US" sz="1300" dirty="0"/>
          </a:p>
        </p:txBody>
      </p:sp>
      <p:sp>
        <p:nvSpPr>
          <p:cNvPr id="10" name="Shape 7"/>
          <p:cNvSpPr/>
          <p:nvPr/>
        </p:nvSpPr>
        <p:spPr>
          <a:xfrm>
            <a:off x="6162675" y="2129036"/>
            <a:ext cx="5213350" cy="859730"/>
          </a:xfrm>
          <a:prstGeom prst="roundRect">
            <a:avLst>
              <a:gd name="adj" fmla="val 11448"/>
            </a:avLst>
          </a:prstGeom>
          <a:solidFill>
            <a:srgbClr val="FCFCFB"/>
          </a:solidFill>
          <a:ln w="6350">
            <a:solidFill>
              <a:srgbClr val="D3DAE1"/>
            </a:solidFill>
            <a:prstDash val="solid"/>
          </a:ln>
        </p:spPr>
      </p:sp>
      <p:pic>
        <p:nvPicPr>
          <p:cNvPr id="11" name="Image 1" descr="Warning">    </p:cNvPr>
          <p:cNvPicPr>
            <a:picLocks noChangeAspect="1"/>
          </p:cNvPicPr>
          <p:nvPr/>
        </p:nvPicPr>
        <p:blipFill>
          <a:blip r:embed="rId2"/>
          <a:srcRect l="0" r="0" t="0" b="0"/>
          <a:stretch/>
        </p:blipFill>
        <p:spPr>
          <a:xfrm>
            <a:off x="6369050" y="2310011"/>
            <a:ext cx="254000" cy="254000"/>
          </a:xfrm>
          <a:prstGeom prst="rect">
            <a:avLst/>
          </a:prstGeom>
        </p:spPr>
      </p:pic>
      <p:sp>
        <p:nvSpPr>
          <p:cNvPr id="12" name="Text 8"/>
          <p:cNvSpPr/>
          <p:nvPr/>
        </p:nvSpPr>
        <p:spPr>
          <a:xfrm>
            <a:off x="6775450" y="2310011"/>
            <a:ext cx="45260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Без критеријума</a:t>
            </a:r>
            <a:endParaRPr lang="en-US" sz="1500" dirty="0"/>
          </a:p>
        </p:txBody>
      </p:sp>
      <p:sp>
        <p:nvSpPr>
          <p:cNvPr id="13" name="Text 9"/>
          <p:cNvSpPr/>
          <p:nvPr/>
        </p:nvSpPr>
        <p:spPr>
          <a:xfrm>
            <a:off x="6775450" y="2576711"/>
            <a:ext cx="452602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не зна се када је ставка завршена</a:t>
            </a:r>
            <a:endParaRPr lang="en-US" sz="1300" dirty="0"/>
          </a:p>
        </p:txBody>
      </p:sp>
      <p:sp>
        <p:nvSpPr>
          <p:cNvPr id="14" name="Shape 10"/>
          <p:cNvSpPr/>
          <p:nvPr/>
        </p:nvSpPr>
        <p:spPr>
          <a:xfrm>
            <a:off x="815975" y="3122116"/>
            <a:ext cx="5213350" cy="859730"/>
          </a:xfrm>
          <a:prstGeom prst="roundRect">
            <a:avLst>
              <a:gd name="adj" fmla="val 11448"/>
            </a:avLst>
          </a:prstGeom>
          <a:solidFill>
            <a:srgbClr val="FCFCFB"/>
          </a:solidFill>
          <a:ln w="6350">
            <a:solidFill>
              <a:srgbClr val="D3DAE1"/>
            </a:solidFill>
            <a:prstDash val="solid"/>
          </a:ln>
        </p:spPr>
      </p:sp>
      <p:pic>
        <p:nvPicPr>
          <p:cNvPr id="15" name="Image 2" descr="Warning">    </p:cNvPr>
          <p:cNvPicPr>
            <a:picLocks noChangeAspect="1"/>
          </p:cNvPicPr>
          <p:nvPr/>
        </p:nvPicPr>
        <p:blipFill>
          <a:blip r:embed="rId3"/>
          <a:srcRect l="0" r="0" t="0" b="0"/>
          <a:stretch/>
        </p:blipFill>
        <p:spPr>
          <a:xfrm>
            <a:off x="1022350" y="3303091"/>
            <a:ext cx="254000" cy="254000"/>
          </a:xfrm>
          <a:prstGeom prst="rect">
            <a:avLst/>
          </a:prstGeom>
        </p:spPr>
      </p:pic>
      <p:sp>
        <p:nvSpPr>
          <p:cNvPr id="16" name="Text 11"/>
          <p:cNvSpPr/>
          <p:nvPr/>
        </p:nvSpPr>
        <p:spPr>
          <a:xfrm>
            <a:off x="1428750" y="3303091"/>
            <a:ext cx="45260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Велики Pull Request</a:t>
            </a:r>
            <a:endParaRPr lang="en-US" sz="1500" dirty="0"/>
          </a:p>
        </p:txBody>
      </p:sp>
      <p:sp>
        <p:nvSpPr>
          <p:cNvPr id="17" name="Text 12"/>
          <p:cNvSpPr/>
          <p:nvPr/>
        </p:nvSpPr>
        <p:spPr>
          <a:xfrm>
            <a:off x="1428750" y="3569791"/>
            <a:ext cx="452602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преглед губи фокус</a:t>
            </a:r>
            <a:endParaRPr lang="en-US" sz="1300" dirty="0"/>
          </a:p>
        </p:txBody>
      </p:sp>
      <p:sp>
        <p:nvSpPr>
          <p:cNvPr id="18" name="Shape 13"/>
          <p:cNvSpPr/>
          <p:nvPr/>
        </p:nvSpPr>
        <p:spPr>
          <a:xfrm>
            <a:off x="6162675" y="3122116"/>
            <a:ext cx="5213350" cy="859730"/>
          </a:xfrm>
          <a:prstGeom prst="roundRect">
            <a:avLst>
              <a:gd name="adj" fmla="val 11448"/>
            </a:avLst>
          </a:prstGeom>
          <a:solidFill>
            <a:srgbClr val="FCFCFB"/>
          </a:solidFill>
          <a:ln w="6350">
            <a:solidFill>
              <a:srgbClr val="D3DAE1"/>
            </a:solidFill>
            <a:prstDash val="solid"/>
          </a:ln>
        </p:spPr>
      </p:sp>
      <p:pic>
        <p:nvPicPr>
          <p:cNvPr id="19" name="Image 3" descr="Warning">    </p:cNvPr>
          <p:cNvPicPr>
            <a:picLocks noChangeAspect="1"/>
          </p:cNvPicPr>
          <p:nvPr/>
        </p:nvPicPr>
        <p:blipFill>
          <a:blip r:embed="rId4"/>
          <a:srcRect l="0" r="0" t="0" b="0"/>
          <a:stretch/>
        </p:blipFill>
        <p:spPr>
          <a:xfrm>
            <a:off x="6369050" y="3303091"/>
            <a:ext cx="254000" cy="254000"/>
          </a:xfrm>
          <a:prstGeom prst="rect">
            <a:avLst/>
          </a:prstGeom>
        </p:spPr>
      </p:pic>
      <p:sp>
        <p:nvSpPr>
          <p:cNvPr id="20" name="Text 14"/>
          <p:cNvSpPr/>
          <p:nvPr/>
        </p:nvSpPr>
        <p:spPr>
          <a:xfrm>
            <a:off x="6775450" y="3303091"/>
            <a:ext cx="45260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Без доказа</a:t>
            </a:r>
            <a:endParaRPr lang="en-US" sz="1500" dirty="0"/>
          </a:p>
        </p:txBody>
      </p:sp>
      <p:sp>
        <p:nvSpPr>
          <p:cNvPr id="21" name="Text 15"/>
          <p:cNvSpPr/>
          <p:nvPr/>
        </p:nvSpPr>
        <p:spPr>
          <a:xfrm>
            <a:off x="6775450" y="3569791"/>
            <a:ext cx="452602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нема теста, diff-а или објашњења</a:t>
            </a:r>
            <a:endParaRPr lang="en-US" sz="1300" dirty="0"/>
          </a:p>
        </p:txBody>
      </p:sp>
      <p:sp>
        <p:nvSpPr>
          <p:cNvPr id="22" name="Shape 16"/>
          <p:cNvSpPr/>
          <p:nvPr/>
        </p:nvSpPr>
        <p:spPr>
          <a:xfrm>
            <a:off x="812800" y="6209705"/>
            <a:ext cx="10566400" cy="0"/>
          </a:xfrm>
          <a:prstGeom prst="line">
            <a:avLst/>
          </a:prstGeom>
          <a:noFill/>
          <a:ln w="6350">
            <a:solidFill>
              <a:srgbClr val="D3DAE1"/>
            </a:solidFill>
            <a:prstDash val="solid"/>
          </a:ln>
        </p:spPr>
      </p:sp>
      <p:sp>
        <p:nvSpPr>
          <p:cNvPr id="23" name="Text 1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1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6E68"/>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DDEBEA"/>
                </a:solidFill>
                <a:latin typeface="IBM Plex Mono" pitchFamily="49" charset="0"/>
                <a:ea typeface="IBM Plex Mono" pitchFamily="49" charset="-122"/>
                <a:cs typeface="IBM Plex Mono" pitchFamily="49" charset="-120"/>
              </a:rPr>
              <a:t>05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DEBEA"/>
                </a:solidFill>
                <a:latin typeface="IBM Plex Sans" pitchFamily="34" charset="0"/>
                <a:ea typeface="IBM Plex Sans" pitchFamily="34" charset="-122"/>
                <a:cs typeface="IBM Plex Sans" pitchFamily="34" charset="-120"/>
              </a:rPr>
              <a:t>Циљ прве вежбе је успостављање дисциплинованог и следљивог развојног поступка.</a:t>
            </a:r>
            <a:endParaRPr lang="en-US" sz="1500" dirty="0"/>
          </a:p>
        </p:txBody>
      </p:sp>
      <p:sp>
        <p:nvSpPr>
          <p:cNvPr id="5" name="Text 3"/>
          <p:cNvSpPr/>
          <p:nvPr>
            <p:ph type="title"/>
          </p:nvPr>
        </p:nvSpPr>
        <p:spPr>
          <a:xfrm>
            <a:off x="812800" y="2602309"/>
            <a:ext cx="9810750" cy="1602680"/>
          </a:xfrm>
          <a:prstGeom prst="rect">
            <a:avLst/>
          </a:prstGeom>
          <a:noFill/>
          <a:ln/>
        </p:spPr>
        <p:txBody>
          <a:bodyPr wrap="square" lIns="0" tIns="0" rIns="0" bIns="0" rtlCol="0" anchor="t">
            <a:normAutofit/>
          </a:bodyPr>
          <a:lstStyle/>
          <a:p>
            <a:pPr algn="l" indent="0" marL="0">
              <a:lnSpc>
                <a:spcPts val="4140"/>
              </a:lnSpc>
              <a:buNone/>
            </a:pPr>
            <a:r>
              <a:rPr lang="en-US" sz="3600" b="1" i="0" spc="-75" kern="0" dirty="0">
                <a:solidFill>
                  <a:srgbClr val="FCFCFB"/>
                </a:solidFill>
                <a:latin typeface="IBM Plex Sans" pitchFamily="34" charset="0"/>
                <a:ea typeface="IBM Plex Sans" pitchFamily="34" charset="-122"/>
                <a:cs typeface="IBM Plex Sans" pitchFamily="34" charset="-120"/>
              </a:rPr>
              <a:t>Професионалан тимски рад почиње када се захтев може пратити до кода, теста, review-а и интеграције.</a:t>
            </a:r>
            <a:endParaRPr lang="en-US" sz="3600" dirty="0"/>
          </a:p>
        </p:txBody>
      </p:sp>
      <p:sp>
        <p:nvSpPr>
          <p:cNvPr id="6" name="Text 4"/>
          <p:cNvSpPr/>
          <p:nvPr/>
        </p:nvSpPr>
        <p:spPr>
          <a:xfrm>
            <a:off x="815975" y="5517555"/>
            <a:ext cx="809030" cy="321270"/>
          </a:xfrm>
          <a:prstGeom prst="roundRect">
            <a:avLst>
              <a:gd name="adj" fmla="val 50000"/>
            </a:avLst>
          </a:prstGeom>
          <a:noFill/>
          <a:ln w="6350">
            <a:solidFill>
              <a:srgbClr val="A6C9C7"/>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захтев</a:t>
            </a:r>
            <a:endParaRPr lang="en-US" sz="1200" dirty="0"/>
          </a:p>
        </p:txBody>
      </p:sp>
      <p:sp>
        <p:nvSpPr>
          <p:cNvPr id="7" name="Text 5"/>
          <p:cNvSpPr/>
          <p:nvPr/>
        </p:nvSpPr>
        <p:spPr>
          <a:xfrm>
            <a:off x="1729780"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C9C7"/>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1986955" y="5517555"/>
            <a:ext cx="534690" cy="321270"/>
          </a:xfrm>
          <a:prstGeom prst="roundRect">
            <a:avLst>
              <a:gd name="adj" fmla="val 50000"/>
            </a:avLst>
          </a:prstGeom>
          <a:noFill/>
          <a:ln w="6350">
            <a:solidFill>
              <a:srgbClr val="A6C9C7"/>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код</a:t>
            </a:r>
            <a:endParaRPr lang="en-US" sz="1200" dirty="0"/>
          </a:p>
        </p:txBody>
      </p:sp>
      <p:sp>
        <p:nvSpPr>
          <p:cNvPr id="9" name="Text 7"/>
          <p:cNvSpPr/>
          <p:nvPr/>
        </p:nvSpPr>
        <p:spPr>
          <a:xfrm>
            <a:off x="2626420"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C9C7"/>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2883595" y="5517555"/>
            <a:ext cx="626170" cy="321270"/>
          </a:xfrm>
          <a:prstGeom prst="roundRect">
            <a:avLst>
              <a:gd name="adj" fmla="val 50000"/>
            </a:avLst>
          </a:prstGeom>
          <a:noFill/>
          <a:ln w="6350">
            <a:solidFill>
              <a:srgbClr val="A6C9C7"/>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тест</a:t>
            </a:r>
            <a:endParaRPr lang="en-US" sz="1200" dirty="0"/>
          </a:p>
        </p:txBody>
      </p:sp>
      <p:sp>
        <p:nvSpPr>
          <p:cNvPr id="11" name="Text 9"/>
          <p:cNvSpPr/>
          <p:nvPr/>
        </p:nvSpPr>
        <p:spPr>
          <a:xfrm>
            <a:off x="3614539"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C9C7"/>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3871714" y="5517555"/>
            <a:ext cx="809030" cy="321270"/>
          </a:xfrm>
          <a:prstGeom prst="roundRect">
            <a:avLst>
              <a:gd name="adj" fmla="val 50000"/>
            </a:avLst>
          </a:prstGeom>
          <a:noFill/>
          <a:ln w="6350">
            <a:solidFill>
              <a:srgbClr val="A6C9C7"/>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review</a:t>
            </a:r>
            <a:endParaRPr lang="en-US" sz="1200" dirty="0"/>
          </a:p>
        </p:txBody>
      </p:sp>
      <p:sp>
        <p:nvSpPr>
          <p:cNvPr id="13" name="Text 11"/>
          <p:cNvSpPr/>
          <p:nvPr/>
        </p:nvSpPr>
        <p:spPr>
          <a:xfrm>
            <a:off x="4785519"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C9C7"/>
                </a:solidFill>
                <a:latin typeface="IBM Plex Sans" pitchFamily="34" charset="0"/>
                <a:ea typeface="IBM Plex Sans" pitchFamily="34" charset="-122"/>
                <a:cs typeface="IBM Plex Sans" pitchFamily="34" charset="-120"/>
              </a:rPr>
              <a:t>→</a:t>
            </a:r>
            <a:endParaRPr lang="en-US" sz="1200" dirty="0"/>
          </a:p>
        </p:txBody>
      </p:sp>
      <p:sp>
        <p:nvSpPr>
          <p:cNvPr id="14" name="Text 12"/>
          <p:cNvSpPr/>
          <p:nvPr/>
        </p:nvSpPr>
        <p:spPr>
          <a:xfrm>
            <a:off x="5039519" y="5520730"/>
            <a:ext cx="1259880"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0E6E68"/>
                </a:solidFill>
                <a:latin typeface="IBM Plex Mono" pitchFamily="49" charset="0"/>
                <a:ea typeface="IBM Plex Mono" pitchFamily="49" charset="-122"/>
                <a:cs typeface="IBM Plex Mono" pitchFamily="49" charset="-120"/>
              </a:rPr>
              <a:t>интеграција</a:t>
            </a:r>
            <a:endParaRPr lang="en-US" sz="1200" dirty="0"/>
          </a:p>
        </p:txBody>
      </p:sp>
      <p:sp>
        <p:nvSpPr>
          <p:cNvPr id="15" name="Text 13"/>
          <p:cNvSpPr/>
          <p:nvPr/>
        </p:nvSpPr>
        <p:spPr>
          <a:xfrm>
            <a:off x="7097117" y="5562600"/>
            <a:ext cx="509488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DEBEA"/>
                </a:solidFill>
                <a:latin typeface="IBM Plex Sans" pitchFamily="34" charset="0"/>
                <a:ea typeface="IBM Plex Sans" pitchFamily="34" charset="-122"/>
                <a:cs typeface="IBM Plex Sans" pitchFamily="34" charset="-120"/>
              </a:rPr>
              <a:t>Ови резултати представљају основу за наредне вежбе.</a:t>
            </a:r>
            <a:endParaRPr lang="en-US" sz="1300" dirty="0"/>
          </a:p>
        </p:txBody>
      </p:sp>
      <p:sp>
        <p:nvSpPr>
          <p:cNvPr id="16" name="Shape 14"/>
          <p:cNvSpPr/>
          <p:nvPr/>
        </p:nvSpPr>
        <p:spPr>
          <a:xfrm>
            <a:off x="812800" y="6209705"/>
            <a:ext cx="10566400" cy="0"/>
          </a:xfrm>
          <a:prstGeom prst="line">
            <a:avLst/>
          </a:prstGeom>
          <a:noFill/>
          <a:ln w="6350">
            <a:solidFill>
              <a:srgbClr val="438E89"/>
            </a:solidFill>
            <a:prstDash val="solid"/>
          </a:ln>
        </p:spPr>
      </p:sp>
      <p:sp>
        <p:nvSpPr>
          <p:cNvPr id="17" name="Text 1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DEBEA"/>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8" name="Text 1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DEBEA"/>
                </a:solidFill>
                <a:latin typeface="IBM Plex Mono" pitchFamily="49" charset="0"/>
                <a:ea typeface="IBM Plex Mono" pitchFamily="49" charset="-122"/>
                <a:cs typeface="IBM Plex Mono" pitchFamily="49" charset="-120"/>
              </a:rPr>
              <a:t>36</a:t>
            </a:r>
            <a:endParaRPr lang="en-US" sz="1200" dirty="0"/>
          </a:p>
        </p:txBody>
      </p:sp>
    </p:spTree>
  </p:cSld>
  <p:clrMapOvr>
    <a:masterClrMapping/>
  </p:clrMapOvr>
</p:sld>
</file>

<file path=ppt/slides/slide37.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3B2266-50A0-4C08-B426-DB1F7592E818}"/>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0E6E68"/>
          </a:solidFill>
        </p:spPr>
      </p:sp>
      <p:sp>
        <p:nvSpPr>
          <p:cNvPr id="3" name="Text 1">
            <a:extLst xmlns:a="http://schemas.openxmlformats.org/drawingml/2006/main">
              <a:ext uri="{FF2B5EF4-FFF2-40B4-BE49-F238E27FC236}">
                <a16:creationId xmlns:a16="http://schemas.microsoft.com/office/drawing/2014/main" id="{EC8F99A0-FED9-4F96-A0A0-229CEFAEF5CE}"/>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00">
                <a:solidFill>
                  <a:srgbClr val="0E6E68"/>
                </a:solidFill>
                <a:latin typeface="IBM Plex Mono"/>
                <a:ea typeface="IBM Plex Mono"/>
                <a:cs typeface="IBM Plex Mono"/>
              </a:rPr>
              <a:t>05 · ПРЕДАЈА И КТ1</a:t>
            </a:r>
            <a:endParaRPr sz="1200"/>
          </a:p>
        </p:txBody>
      </p:sp>
      <p:sp>
        <p:nvSpPr>
          <p:cNvPr id="4" name="Text 2">
            <a:extLst xmlns:a="http://schemas.openxmlformats.org/drawingml/2006/main">
              <a:ext uri="{FF2B5EF4-FFF2-40B4-BE49-F238E27FC236}">
                <a16:creationId xmlns:a16="http://schemas.microsoft.com/office/drawing/2014/main" id="{812EB57D-9D88-4793-8ABE-67A9CA03EE1D}"/>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Припрема за наредну вежбу</a:t>
            </a:r>
            <a:endParaRPr sz="3000"/>
          </a:p>
        </p:txBody>
      </p:sp>
      <p:sp>
        <p:nvSpPr>
          <p:cNvPr id="5" name="Text 3">
            <a:extLst xmlns:a="http://schemas.openxmlformats.org/drawingml/2006/main">
              <a:ext uri="{FF2B5EF4-FFF2-40B4-BE49-F238E27FC236}">
                <a16:creationId xmlns:a16="http://schemas.microsoft.com/office/drawing/2014/main" id="{F515B219-3037-43B3-A5C5-A5B6F494B907}"/>
              </a:ext>
            </a:extLst>
          </p:cNvPr>
          <p:cNvSpPr>
            <a:spLocks xmlns:a="http://schemas.openxmlformats.org/drawingml/2006/main" noGrp="1"/>
          </p:cNvSpPr>
          <p:nvPr/>
        </p:nvSpPr>
        <p:spPr>
          <a:xfrm xmlns:a="http://schemas.openxmlformats.org/drawingml/2006/main">
            <a:off x="812800" y="16484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Резултати прве вежбе користе се у даљем раду на пројекту.</a:t>
            </a:r>
            <a:endParaRPr sz="1400"/>
          </a:p>
        </p:txBody>
      </p:sp>
      <p:sp>
        <p:nvSpPr>
          <p:cNvPr id="6" name="Shape 4">
            <a:extLst xmlns:a="http://schemas.openxmlformats.org/drawingml/2006/main">
              <a:ext uri="{FF2B5EF4-FFF2-40B4-BE49-F238E27FC236}">
                <a16:creationId xmlns:a16="http://schemas.microsoft.com/office/drawing/2014/main" id="{A40267A2-CF7D-44BB-BEA6-7DA1FE95AAA7}"/>
              </a:ext>
            </a:extLst>
          </p:cNvPr>
          <p:cNvSpPr>
            <a:spLocks xmlns:a="http://schemas.openxmlformats.org/drawingml/2006/main" noGrp="1"/>
          </p:cNvSpPr>
          <p:nvPr/>
        </p:nvSpPr>
        <p:spPr>
          <a:xfrm xmlns:a="http://schemas.openxmlformats.org/drawingml/2006/main">
            <a:off x="815975" y="2129036"/>
            <a:ext cx="2025650" cy="1888133"/>
          </a:xfrm>
          <a:prstGeom xmlns:a="http://schemas.openxmlformats.org/drawingml/2006/main" prst="roundRect">
            <a:avLst>
              <a:gd name="adj" fmla="val 5213"/>
            </a:avLst>
          </a:prstGeom>
          <a:solidFill xmlns:a="http://schemas.openxmlformats.org/drawingml/2006/main">
            <a:srgbClr val="FCFCFB"/>
          </a:solidFill>
          <a:ln xmlns:a="http://schemas.openxmlformats.org/drawingml/2006/main" w="6350">
            <a:solidFill>
              <a:srgbClr val="D3DAE1"/>
            </a:solidFill>
            <a:prstDash val="solid"/>
          </a:ln>
        </p:spPr>
      </p:sp>
      <p:sp>
        <p:nvSpPr>
          <p:cNvPr id="7" name="Text 5">
            <a:extLst xmlns:a="http://schemas.openxmlformats.org/drawingml/2006/main">
              <a:ext uri="{FF2B5EF4-FFF2-40B4-BE49-F238E27FC236}">
                <a16:creationId xmlns:a16="http://schemas.microsoft.com/office/drawing/2014/main" id="{C33AA826-9B0E-4A49-9FA8-EB0CE41FB998}"/>
              </a:ext>
            </a:extLst>
          </p:cNvPr>
          <p:cNvSpPr>
            <a:spLocks xmlns:a="http://schemas.openxmlformats.org/drawingml/2006/main" noGrp="1"/>
          </p:cNvSpPr>
          <p:nvPr/>
        </p:nvSpPr>
        <p:spPr>
          <a:xfrm xmlns:a="http://schemas.openxmlformats.org/drawingml/2006/main">
            <a:off x="9842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0E6E68"/>
                </a:solidFill>
                <a:latin typeface="IBM Plex Mono"/>
                <a:ea typeface="IBM Plex Mono"/>
                <a:cs typeface="IBM Plex Mono"/>
              </a:rPr>
              <a:t>01</a:t>
            </a:r>
            <a:endParaRPr sz="2200"/>
          </a:p>
        </p:txBody>
      </p:sp>
      <p:sp>
        <p:nvSpPr>
          <p:cNvPr id="8" name="Text 6">
            <a:extLst xmlns:a="http://schemas.openxmlformats.org/drawingml/2006/main">
              <a:ext uri="{FF2B5EF4-FFF2-40B4-BE49-F238E27FC236}">
                <a16:creationId xmlns:a16="http://schemas.microsoft.com/office/drawing/2014/main" id="{98C813B7-1364-447E-B411-6018EE2E5E8F}"/>
              </a:ext>
            </a:extLst>
          </p:cNvPr>
          <p:cNvSpPr>
            <a:spLocks xmlns:a="http://schemas.openxmlformats.org/drawingml/2006/main" noGrp="1"/>
          </p:cNvSpPr>
          <p:nvPr/>
        </p:nvSpPr>
        <p:spPr>
          <a:xfrm xmlns:a="http://schemas.openxmlformats.org/drawingml/2006/main">
            <a:off x="984250" y="2693491"/>
            <a:ext cx="1739900"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Написати User Story за једну ставку пројектног домена.</a:t>
            </a:r>
            <a:endParaRPr sz="1300"/>
          </a:p>
        </p:txBody>
      </p:sp>
      <p:sp>
        <p:nvSpPr>
          <p:cNvPr id="9" name="Shape 7">
            <a:extLst xmlns:a="http://schemas.openxmlformats.org/drawingml/2006/main">
              <a:ext uri="{FF2B5EF4-FFF2-40B4-BE49-F238E27FC236}">
                <a16:creationId xmlns:a16="http://schemas.microsoft.com/office/drawing/2014/main" id="{09E05520-082C-4C51-AB93-432181A71E42}"/>
              </a:ext>
            </a:extLst>
          </p:cNvPr>
          <p:cNvSpPr>
            <a:spLocks xmlns:a="http://schemas.openxmlformats.org/drawingml/2006/main" noGrp="1"/>
          </p:cNvSpPr>
          <p:nvPr/>
        </p:nvSpPr>
        <p:spPr>
          <a:xfrm xmlns:a="http://schemas.openxmlformats.org/drawingml/2006/main">
            <a:off x="2949575" y="2129036"/>
            <a:ext cx="2025650" cy="1888133"/>
          </a:xfrm>
          <a:prstGeom xmlns:a="http://schemas.openxmlformats.org/drawingml/2006/main" prst="roundRect">
            <a:avLst>
              <a:gd name="adj" fmla="val 5213"/>
            </a:avLst>
          </a:prstGeom>
          <a:solidFill xmlns:a="http://schemas.openxmlformats.org/drawingml/2006/main">
            <a:srgbClr val="FCFCFB"/>
          </a:solidFill>
          <a:ln xmlns:a="http://schemas.openxmlformats.org/drawingml/2006/main" w="6350">
            <a:solidFill>
              <a:srgbClr val="D3DAE1"/>
            </a:solidFill>
            <a:prstDash val="solid"/>
          </a:ln>
        </p:spPr>
      </p:sp>
      <p:sp>
        <p:nvSpPr>
          <p:cNvPr id="10" name="Text 8">
            <a:extLst xmlns:a="http://schemas.openxmlformats.org/drawingml/2006/main">
              <a:ext uri="{FF2B5EF4-FFF2-40B4-BE49-F238E27FC236}">
                <a16:creationId xmlns:a16="http://schemas.microsoft.com/office/drawing/2014/main" id="{ACDED543-BDEE-4092-8078-04ABAFE6F78F}"/>
              </a:ext>
            </a:extLst>
          </p:cNvPr>
          <p:cNvSpPr>
            <a:spLocks xmlns:a="http://schemas.openxmlformats.org/drawingml/2006/main" noGrp="1"/>
          </p:cNvSpPr>
          <p:nvPr/>
        </p:nvSpPr>
        <p:spPr>
          <a:xfrm xmlns:a="http://schemas.openxmlformats.org/drawingml/2006/main">
            <a:off x="31178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0E6E68"/>
                </a:solidFill>
                <a:latin typeface="IBM Plex Mono"/>
                <a:ea typeface="IBM Plex Mono"/>
                <a:cs typeface="IBM Plex Mono"/>
              </a:rPr>
              <a:t>02</a:t>
            </a:r>
            <a:endParaRPr sz="2200"/>
          </a:p>
        </p:txBody>
      </p:sp>
      <p:sp>
        <p:nvSpPr>
          <p:cNvPr id="11" name="Text 9">
            <a:extLst xmlns:a="http://schemas.openxmlformats.org/drawingml/2006/main">
              <a:ext uri="{FF2B5EF4-FFF2-40B4-BE49-F238E27FC236}">
                <a16:creationId xmlns:a16="http://schemas.microsoft.com/office/drawing/2014/main" id="{6B80FC23-C39D-4907-B83D-6B9CB34E547D}"/>
              </a:ext>
            </a:extLst>
          </p:cNvPr>
          <p:cNvSpPr>
            <a:spLocks xmlns:a="http://schemas.openxmlformats.org/drawingml/2006/main" noGrp="1"/>
          </p:cNvSpPr>
          <p:nvPr/>
        </p:nvSpPr>
        <p:spPr>
          <a:xfrm xmlns:a="http://schemas.openxmlformats.org/drawingml/2006/main">
            <a:off x="3117850" y="2693491"/>
            <a:ext cx="1739900" cy="1180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Додати успешне, негативне и граничне критеријуме прихватања.</a:t>
            </a:r>
            <a:endParaRPr sz="1300"/>
          </a:p>
        </p:txBody>
      </p:sp>
      <p:sp>
        <p:nvSpPr>
          <p:cNvPr id="12" name="Shape 10">
            <a:extLst xmlns:a="http://schemas.openxmlformats.org/drawingml/2006/main">
              <a:ext uri="{FF2B5EF4-FFF2-40B4-BE49-F238E27FC236}">
                <a16:creationId xmlns:a16="http://schemas.microsoft.com/office/drawing/2014/main" id="{CEACEEF9-2912-4C38-ABEC-201B005682DB}"/>
              </a:ext>
            </a:extLst>
          </p:cNvPr>
          <p:cNvSpPr>
            <a:spLocks xmlns:a="http://schemas.openxmlformats.org/drawingml/2006/main" noGrp="1"/>
          </p:cNvSpPr>
          <p:nvPr/>
        </p:nvSpPr>
        <p:spPr>
          <a:xfrm xmlns:a="http://schemas.openxmlformats.org/drawingml/2006/main">
            <a:off x="5083175" y="2129036"/>
            <a:ext cx="2025650" cy="1888133"/>
          </a:xfrm>
          <a:prstGeom xmlns:a="http://schemas.openxmlformats.org/drawingml/2006/main" prst="roundRect">
            <a:avLst>
              <a:gd name="adj" fmla="val 5213"/>
            </a:avLst>
          </a:prstGeom>
          <a:solidFill xmlns:a="http://schemas.openxmlformats.org/drawingml/2006/main">
            <a:srgbClr val="FCFCFB"/>
          </a:solidFill>
          <a:ln xmlns:a="http://schemas.openxmlformats.org/drawingml/2006/main" w="6350">
            <a:solidFill>
              <a:srgbClr val="D3DAE1"/>
            </a:solidFill>
            <a:prstDash val="solid"/>
          </a:ln>
        </p:spPr>
      </p:sp>
      <p:sp>
        <p:nvSpPr>
          <p:cNvPr id="13" name="Text 11">
            <a:extLst xmlns:a="http://schemas.openxmlformats.org/drawingml/2006/main">
              <a:ext uri="{FF2B5EF4-FFF2-40B4-BE49-F238E27FC236}">
                <a16:creationId xmlns:a16="http://schemas.microsoft.com/office/drawing/2014/main" id="{DD773EAE-E940-4F58-8AC2-601960CF3A9F}"/>
              </a:ext>
            </a:extLst>
          </p:cNvPr>
          <p:cNvSpPr>
            <a:spLocks xmlns:a="http://schemas.openxmlformats.org/drawingml/2006/main" noGrp="1"/>
          </p:cNvSpPr>
          <p:nvPr/>
        </p:nvSpPr>
        <p:spPr>
          <a:xfrm xmlns:a="http://schemas.openxmlformats.org/drawingml/2006/main">
            <a:off x="52514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0E6E68"/>
                </a:solidFill>
                <a:latin typeface="IBM Plex Mono"/>
                <a:ea typeface="IBM Plex Mono"/>
                <a:cs typeface="IBM Plex Mono"/>
              </a:rPr>
              <a:t>03</a:t>
            </a:r>
            <a:endParaRPr sz="2200"/>
          </a:p>
        </p:txBody>
      </p:sp>
      <p:sp>
        <p:nvSpPr>
          <p:cNvPr id="14" name="Text 12">
            <a:extLst xmlns:a="http://schemas.openxmlformats.org/drawingml/2006/main">
              <a:ext uri="{FF2B5EF4-FFF2-40B4-BE49-F238E27FC236}">
                <a16:creationId xmlns:a16="http://schemas.microsoft.com/office/drawing/2014/main" id="{A8E09FE3-6BD4-4BA5-B98C-7580B5A50791}"/>
              </a:ext>
            </a:extLst>
          </p:cNvPr>
          <p:cNvSpPr>
            <a:spLocks xmlns:a="http://schemas.openxmlformats.org/drawingml/2006/main" noGrp="1"/>
          </p:cNvSpPr>
          <p:nvPr/>
        </p:nvSpPr>
        <p:spPr>
          <a:xfrm xmlns:a="http://schemas.openxmlformats.org/drawingml/2006/main">
            <a:off x="5251450" y="2693491"/>
            <a:ext cx="1739900"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Увести ставку у Tapiz ток и радити преко feature гране.</a:t>
            </a:r>
            <a:endParaRPr sz="1300"/>
          </a:p>
        </p:txBody>
      </p:sp>
      <p:sp>
        <p:nvSpPr>
          <p:cNvPr id="15" name="Shape 13">
            <a:extLst xmlns:a="http://schemas.openxmlformats.org/drawingml/2006/main">
              <a:ext uri="{FF2B5EF4-FFF2-40B4-BE49-F238E27FC236}">
                <a16:creationId xmlns:a16="http://schemas.microsoft.com/office/drawing/2014/main" id="{DA04F0D9-6B0C-4029-B138-0AD95398BAF4}"/>
              </a:ext>
            </a:extLst>
          </p:cNvPr>
          <p:cNvSpPr>
            <a:spLocks xmlns:a="http://schemas.openxmlformats.org/drawingml/2006/main" noGrp="1"/>
          </p:cNvSpPr>
          <p:nvPr/>
        </p:nvSpPr>
        <p:spPr>
          <a:xfrm xmlns:a="http://schemas.openxmlformats.org/drawingml/2006/main">
            <a:off x="7216775" y="2129036"/>
            <a:ext cx="2025650" cy="1888133"/>
          </a:xfrm>
          <a:prstGeom xmlns:a="http://schemas.openxmlformats.org/drawingml/2006/main" prst="roundRect">
            <a:avLst>
              <a:gd name="adj" fmla="val 5213"/>
            </a:avLst>
          </a:prstGeom>
          <a:solidFill xmlns:a="http://schemas.openxmlformats.org/drawingml/2006/main">
            <a:srgbClr val="FCFCFB"/>
          </a:solidFill>
          <a:ln xmlns:a="http://schemas.openxmlformats.org/drawingml/2006/main" w="6350">
            <a:solidFill>
              <a:srgbClr val="D3DAE1"/>
            </a:solidFill>
            <a:prstDash val="solid"/>
          </a:ln>
        </p:spPr>
      </p:sp>
      <p:sp>
        <p:nvSpPr>
          <p:cNvPr id="16" name="Text 14">
            <a:extLst xmlns:a="http://schemas.openxmlformats.org/drawingml/2006/main">
              <a:ext uri="{FF2B5EF4-FFF2-40B4-BE49-F238E27FC236}">
                <a16:creationId xmlns:a16="http://schemas.microsoft.com/office/drawing/2014/main" id="{BA4FA61E-CCD4-48D1-8465-EE248FBA6A79}"/>
              </a:ext>
            </a:extLst>
          </p:cNvPr>
          <p:cNvSpPr>
            <a:spLocks xmlns:a="http://schemas.openxmlformats.org/drawingml/2006/main" noGrp="1"/>
          </p:cNvSpPr>
          <p:nvPr/>
        </p:nvSpPr>
        <p:spPr>
          <a:xfrm xmlns:a="http://schemas.openxmlformats.org/drawingml/2006/main">
            <a:off x="73850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0E6E68"/>
                </a:solidFill>
                <a:latin typeface="IBM Plex Mono"/>
                <a:ea typeface="IBM Plex Mono"/>
                <a:cs typeface="IBM Plex Mono"/>
              </a:rPr>
              <a:t>04</a:t>
            </a:r>
            <a:endParaRPr sz="2200"/>
          </a:p>
        </p:txBody>
      </p:sp>
      <p:sp>
        <p:nvSpPr>
          <p:cNvPr id="17" name="Text 15">
            <a:extLst xmlns:a="http://schemas.openxmlformats.org/drawingml/2006/main">
              <a:ext uri="{FF2B5EF4-FFF2-40B4-BE49-F238E27FC236}">
                <a16:creationId xmlns:a16="http://schemas.microsoft.com/office/drawing/2014/main" id="{A15F2CE4-46E1-4D88-9893-54E173A5706D}"/>
              </a:ext>
            </a:extLst>
          </p:cNvPr>
          <p:cNvSpPr>
            <a:spLocks xmlns:a="http://schemas.openxmlformats.org/drawingml/2006/main" noGrp="1"/>
          </p:cNvSpPr>
          <p:nvPr/>
        </p:nvSpPr>
        <p:spPr>
          <a:xfrm xmlns:a="http://schemas.openxmlformats.org/drawingml/2006/main">
            <a:off x="7385050" y="2693491"/>
            <a:ext cx="1739900"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Отворити Pull Request са доказом провере.</a:t>
            </a:r>
            <a:endParaRPr sz="1300"/>
          </a:p>
        </p:txBody>
      </p:sp>
      <p:sp>
        <p:nvSpPr>
          <p:cNvPr id="18" name="Shape 16">
            <a:extLst xmlns:a="http://schemas.openxmlformats.org/drawingml/2006/main">
              <a:ext uri="{FF2B5EF4-FFF2-40B4-BE49-F238E27FC236}">
                <a16:creationId xmlns:a16="http://schemas.microsoft.com/office/drawing/2014/main" id="{4789AB29-031C-471D-84BD-9AB40FC12E58}"/>
              </a:ext>
            </a:extLst>
          </p:cNvPr>
          <p:cNvSpPr>
            <a:spLocks xmlns:a="http://schemas.openxmlformats.org/drawingml/2006/main" noGrp="1"/>
          </p:cNvSpPr>
          <p:nvPr/>
        </p:nvSpPr>
        <p:spPr>
          <a:xfrm xmlns:a="http://schemas.openxmlformats.org/drawingml/2006/main">
            <a:off x="9350375" y="2129036"/>
            <a:ext cx="2025650" cy="1888133"/>
          </a:xfrm>
          <a:prstGeom xmlns:a="http://schemas.openxmlformats.org/drawingml/2006/main" prst="roundRect">
            <a:avLst>
              <a:gd name="adj" fmla="val 5213"/>
            </a:avLst>
          </a:prstGeom>
          <a:solidFill xmlns:a="http://schemas.openxmlformats.org/drawingml/2006/main">
            <a:srgbClr val="FCFCFB"/>
          </a:solidFill>
          <a:ln xmlns:a="http://schemas.openxmlformats.org/drawingml/2006/main" w="6350">
            <a:solidFill>
              <a:srgbClr val="D3DAE1"/>
            </a:solidFill>
            <a:prstDash val="solid"/>
          </a:ln>
        </p:spPr>
      </p:sp>
      <p:sp>
        <p:nvSpPr>
          <p:cNvPr id="19" name="Text 17">
            <a:extLst xmlns:a="http://schemas.openxmlformats.org/drawingml/2006/main">
              <a:ext uri="{FF2B5EF4-FFF2-40B4-BE49-F238E27FC236}">
                <a16:creationId xmlns:a16="http://schemas.microsoft.com/office/drawing/2014/main" id="{CC727334-BA1A-476A-AB1C-F47A1CB31286}"/>
              </a:ext>
            </a:extLst>
          </p:cNvPr>
          <p:cNvSpPr>
            <a:spLocks xmlns:a="http://schemas.openxmlformats.org/drawingml/2006/main" noGrp="1"/>
          </p:cNvSpPr>
          <p:nvPr/>
        </p:nvSpPr>
        <p:spPr>
          <a:xfrm xmlns:a="http://schemas.openxmlformats.org/drawingml/2006/main">
            <a:off x="95186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A8520A"/>
                </a:solidFill>
                <a:latin typeface="IBM Plex Mono"/>
                <a:ea typeface="IBM Plex Mono"/>
                <a:cs typeface="IBM Plex Mono"/>
              </a:rPr>
              <a:t>05</a:t>
            </a:r>
            <a:endParaRPr sz="2200"/>
          </a:p>
        </p:txBody>
      </p:sp>
      <p:sp>
        <p:nvSpPr>
          <p:cNvPr id="20" name="Text 18">
            <a:extLst xmlns:a="http://schemas.openxmlformats.org/drawingml/2006/main">
              <a:ext uri="{FF2B5EF4-FFF2-40B4-BE49-F238E27FC236}">
                <a16:creationId xmlns:a16="http://schemas.microsoft.com/office/drawing/2014/main" id="{67CC7E58-6F09-4741-9BFF-C2942644A734}"/>
              </a:ext>
            </a:extLst>
          </p:cNvPr>
          <p:cNvSpPr>
            <a:spLocks xmlns:a="http://schemas.openxmlformats.org/drawingml/2006/main" noGrp="1"/>
          </p:cNvSpPr>
          <p:nvPr/>
        </p:nvSpPr>
        <p:spPr>
          <a:xfrm xmlns:a="http://schemas.openxmlformats.org/drawingml/2006/main">
            <a:off x="9518650" y="2693491"/>
            <a:ext cx="1739900"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Објаснити цео пут од захтева до интегрисане промене.</a:t>
            </a:r>
            <a:endParaRPr sz="1300"/>
          </a:p>
        </p:txBody>
      </p:sp>
      <p:sp>
        <p:nvSpPr>
          <p:cNvPr id="21" name="Shape 19">
            <a:extLst xmlns:a="http://schemas.openxmlformats.org/drawingml/2006/main">
              <a:ext uri="{FF2B5EF4-FFF2-40B4-BE49-F238E27FC236}">
                <a16:creationId xmlns:a16="http://schemas.microsoft.com/office/drawing/2014/main" id="{333F27A2-67E7-41A9-8464-7023E7496CE1}"/>
              </a:ext>
            </a:extLst>
          </p:cNvPr>
          <p:cNvSpPr>
            <a:spLocks xmlns:a="http://schemas.openxmlformats.org/drawingml/2006/main" noGrp="1"/>
          </p:cNvSpPr>
          <p:nvPr/>
        </p:nvSpPr>
        <p:spPr>
          <a:xfrm xmlns:a="http://schemas.openxmlformats.org/drawingml/2006/main">
            <a:off x="812800" y="4248944"/>
            <a:ext cx="10566400" cy="451445"/>
          </a:xfrm>
          <a:prstGeom xmlns:a="http://schemas.openxmlformats.org/drawingml/2006/main" prst="roundRect">
            <a:avLst>
              <a:gd name="adj" fmla="val 19692"/>
            </a:avLst>
          </a:prstGeom>
          <a:solidFill xmlns:a="http://schemas.openxmlformats.org/drawingml/2006/main">
            <a:srgbClr val="E2EBE9"/>
          </a:solidFill>
        </p:spPr>
      </p:sp>
      <p:pic>
        <p:nvPicPr>
          <p:cNvPr id="22" name="Image 0">
            <a:extLst xmlns:a="http://schemas.openxmlformats.org/drawingml/2006/main">
              <a:ext uri="{FF2B5EF4-FFF2-40B4-BE49-F238E27FC236}">
                <a16:creationId xmlns:a16="http://schemas.microsoft.com/office/drawing/2014/main" id="{A0A2B0A3-0107-485C-B3F4-08B29459F310}"/>
              </a:ext>
            </a:extLst>
          </p:cNvPr>
          <p:cNvPicPr>
            <a:picLocks xmlns:a="http://schemas.openxmlformats.org/drawingml/2006/main" noChangeAspect="1"/>
          </p:cNvPicPr>
          <p:nvPr/>
        </p:nvPicPr>
        <p:blipFill>
          <a:blip xmlns:r="http://schemas.openxmlformats.org/officeDocument/2006/relationships" xmlns:a="http://schemas.openxmlformats.org/drawingml/2006/main" r:embed="R588df93b5c864273"/>
          <a:srcRect xmlns:a="http://schemas.openxmlformats.org/drawingml/2006/main" l="0" t="0" r="0" b="0"/>
          <a:stretch xmlns:a="http://schemas.openxmlformats.org/drawingml/2006/main"/>
        </p:blipFill>
        <p:spPr>
          <a:xfrm xmlns:a="http://schemas.openxmlformats.org/drawingml/2006/main">
            <a:off x="990600" y="4373066"/>
            <a:ext cx="203200" cy="203200"/>
          </a:xfrm>
          <a:prstGeom xmlns:a="http://schemas.openxmlformats.org/drawingml/2006/main" prst="rect">
            <a:avLst/>
          </a:prstGeom>
        </p:spPr>
      </p:pic>
      <p:sp>
        <p:nvSpPr>
          <p:cNvPr id="23" name="Text 20">
            <a:extLst xmlns:a="http://schemas.openxmlformats.org/drawingml/2006/main">
              <a:ext uri="{FF2B5EF4-FFF2-40B4-BE49-F238E27FC236}">
                <a16:creationId xmlns:a16="http://schemas.microsoft.com/office/drawing/2014/main" id="{50B4C2DF-B3A1-4E34-B2CE-7595CE269E10}"/>
              </a:ext>
            </a:extLst>
          </p:cNvPr>
          <p:cNvSpPr>
            <a:spLocks xmlns:a="http://schemas.openxmlformats.org/drawingml/2006/main" noGrp="1"/>
          </p:cNvSpPr>
          <p:nvPr/>
        </p:nvSpPr>
        <p:spPr>
          <a:xfrm xmlns:a="http://schemas.openxmlformats.org/drawingml/2006/main">
            <a:off x="1320800" y="4363244"/>
            <a:ext cx="10177018" cy="24824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55"/>
              </a:lnSpc>
              <a:buNone/>
            </a:pPr>
            <a:r>
              <a:rPr sz="1300">
                <a:solidFill>
                  <a:srgbClr val="13202D"/>
                </a:solidFill>
                <a:latin typeface="IBM Plex Sans"/>
                <a:ea typeface="IBM Plex Sans"/>
                <a:cs typeface="IBM Plex Sans"/>
              </a:rPr>
              <a:t>Ово је основа за контролну тачку КТ1 у термину Вежбе 4.</a:t>
            </a:r>
            <a:endParaRPr sz="1300"/>
          </a:p>
        </p:txBody>
      </p:sp>
      <p:sp>
        <p:nvSpPr>
          <p:cNvPr id="24" name="Shape 21">
            <a:extLst xmlns:a="http://schemas.openxmlformats.org/drawingml/2006/main">
              <a:ext uri="{FF2B5EF4-FFF2-40B4-BE49-F238E27FC236}">
                <a16:creationId xmlns:a16="http://schemas.microsoft.com/office/drawing/2014/main" id="{9830A650-C8FD-4A56-A8D1-A2F8A4DEC647}"/>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25" name="Text 22">
            <a:extLst xmlns:a="http://schemas.openxmlformats.org/drawingml/2006/main">
              <a:ext uri="{FF2B5EF4-FFF2-40B4-BE49-F238E27FC236}">
                <a16:creationId xmlns:a16="http://schemas.microsoft.com/office/drawing/2014/main" id="{ECD44F5A-4F9B-4EB5-981E-E91D13FF97C2}"/>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26" name="Text 23">
            <a:extLst xmlns:a="http://schemas.openxmlformats.org/drawingml/2006/main">
              <a:ext uri="{FF2B5EF4-FFF2-40B4-BE49-F238E27FC236}">
                <a16:creationId xmlns:a16="http://schemas.microsoft.com/office/drawing/2014/main" id="{7F77A75D-8044-42FB-9B00-918DC6253471}"/>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37</a:t>
            </a:r>
            <a:endParaRPr sz="1200"/>
          </a:p>
        </p:txBody>
      </p:sp>
    </p:spTree>
    <p:extLst>
      <p:ext uri="{BB962C8B-B14F-4D97-AF65-F5344CB8AC3E}">
        <p14:creationId xmlns:p14="http://schemas.microsoft.com/office/powerpoint/2010/main" val="1214779678"/>
      </p:ext>
    </p:extLst>
  </p:cSld>
</p:sld>
</file>

<file path=ppt/theme/theme1.xml><?xml version="1.0" encoding="utf-8"?>
<a:theme xmlns:a="http://schemas.openxmlformats.org/drawingml/2006/main" name="Захтеви, backlog, Git и тимски развој">
  <a:themeElements>
    <a:clrScheme name="Захтеви, backlog, Git и тимски развој">
      <a:dk1>
        <a:srgbClr val="13202D"/>
      </a:dk1>
      <a:lt1>
        <a:srgbClr val="F6F7F5"/>
      </a:lt1>
      <a:dk2>
        <a:srgbClr val="4C565F"/>
      </a:dk2>
      <a:lt2>
        <a:srgbClr val="DFE2E1"/>
      </a:lt2>
      <a:accent1>
        <a:srgbClr val="0E6E68"/>
      </a:accent1>
      <a:accent2>
        <a:srgbClr val="A8520A"/>
      </a:accent2>
      <a:accent3>
        <a:srgbClr val="E07B1F"/>
      </a:accent3>
      <a:accent4>
        <a:srgbClr val="44505D"/>
      </a:accent4>
      <a:accent5>
        <a:srgbClr val="5E6975"/>
      </a:accent5>
      <a:accent6>
        <a:srgbClr val="DDEBEA"/>
      </a:accent6>
      <a:hlink>
        <a:srgbClr val="0563C1"/>
      </a:hlink>
      <a:folHlink>
        <a:srgbClr val="954F72"/>
      </a:folHlink>
    </a:clrScheme>
    <a:fontScheme name="Захтеви, backlog, Git и тимски развој">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Захтеви, backlog, Git и тимски развој</dc:title>
  <dc:subject/>
  <dc:creator/>
  <cp:lastModifiedBy/>
  <cp:revision>1</cp:revision>
  <dcterms:created xsi:type="dcterms:W3CDTF">2026-10-09T16:56:06Z</dcterms:created>
  <dcterms:modified xsi:type="dcterms:W3CDTF">2026-10-09T16:56:06Z</dcterms:modified>
</cp:coreProperties>
</file>