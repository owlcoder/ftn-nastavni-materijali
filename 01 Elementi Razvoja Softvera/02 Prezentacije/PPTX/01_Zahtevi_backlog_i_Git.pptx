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0f6f24ba3d4aa0" /><Relationship Type="http://schemas.openxmlformats.org/officeDocument/2006/relationships/extended-properties" Target="/docProps/app.xml" Id="R36067410069c47d5" /><Relationship Type="http://schemas.openxmlformats.org/officeDocument/2006/relationships/officeDocument" Target="/ppt/presentation.xml" Id="R575c0f5181b247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8c45e727644dd0"/>
  </p:sldMasterIdLst>
  <p:notesMasterIdLst>
    <p:notesMasterId xmlns:r="http://schemas.openxmlformats.org/officeDocument/2006/relationships" r:id="Rb445124473c74f47"/>
  </p:notesMasterIdLst>
  <p:sldIdLst>
    <p:sldId xmlns:r="http://schemas.openxmlformats.org/officeDocument/2006/relationships" id="256" r:id="Ree900575c9ff4125"/>
    <p:sldId xmlns:r="http://schemas.openxmlformats.org/officeDocument/2006/relationships" id="257" r:id="R4702eaef720d45f2"/>
    <p:sldId xmlns:r="http://schemas.openxmlformats.org/officeDocument/2006/relationships" id="258" r:id="Rd6719ae1f3454a86"/>
    <p:sldId xmlns:r="http://schemas.openxmlformats.org/officeDocument/2006/relationships" id="259" r:id="Rc118e052cc0646aa"/>
    <p:sldId xmlns:r="http://schemas.openxmlformats.org/officeDocument/2006/relationships" id="260" r:id="Rb5a97188628146fa"/>
    <p:sldId xmlns:r="http://schemas.openxmlformats.org/officeDocument/2006/relationships" id="261" r:id="Rcadcf4f5566a41f2"/>
    <p:sldId xmlns:r="http://schemas.openxmlformats.org/officeDocument/2006/relationships" id="262" r:id="R91db3da6cc4f4d53"/>
    <p:sldId xmlns:r="http://schemas.openxmlformats.org/officeDocument/2006/relationships" id="263" r:id="R385df015c898436d"/>
    <p:sldId xmlns:r="http://schemas.openxmlformats.org/officeDocument/2006/relationships" id="264" r:id="R846b56e612054549"/>
    <p:sldId xmlns:r="http://schemas.openxmlformats.org/officeDocument/2006/relationships" id="265" r:id="R8be1654e393d4d55"/>
    <p:sldId xmlns:r="http://schemas.openxmlformats.org/officeDocument/2006/relationships" id="266" r:id="R0a6ab1d7b6394a0e"/>
    <p:sldId xmlns:r="http://schemas.openxmlformats.org/officeDocument/2006/relationships" id="267" r:id="R339728d271b84db0"/>
    <p:sldId xmlns:r="http://schemas.openxmlformats.org/officeDocument/2006/relationships" id="268" r:id="R00f6860a3c2f4b59"/>
    <p:sldId xmlns:r="http://schemas.openxmlformats.org/officeDocument/2006/relationships" id="269" r:id="R21ebc0a4e4564ca4"/>
    <p:sldId xmlns:r="http://schemas.openxmlformats.org/officeDocument/2006/relationships" id="270" r:id="Rcbb0066e316f459e"/>
    <p:sldId xmlns:r="http://schemas.openxmlformats.org/officeDocument/2006/relationships" id="271" r:id="R003a26dc590e4c56"/>
    <p:sldId xmlns:r="http://schemas.openxmlformats.org/officeDocument/2006/relationships" id="272" r:id="R7f0d0b87d35c42bc"/>
    <p:sldId xmlns:r="http://schemas.openxmlformats.org/officeDocument/2006/relationships" id="273" r:id="R49a920ae73df4428"/>
    <p:sldId xmlns:r="http://schemas.openxmlformats.org/officeDocument/2006/relationships" id="274" r:id="Rb089aa447dd64475"/>
    <p:sldId xmlns:r="http://schemas.openxmlformats.org/officeDocument/2006/relationships" id="275" r:id="Rbc301076cf5b43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837a0a31c14ea9" /><Relationship Type="http://schemas.openxmlformats.org/officeDocument/2006/relationships/slideMaster" Target="/ppt/slideMasters/slideMaster1.xml" Id="R478c45e727644dd0" /><Relationship Type="http://schemas.openxmlformats.org/officeDocument/2006/relationships/notesMaster" Target="/ppt/notesMasters/notesMaster1.xml" Id="Rb445124473c74f47" /><Relationship Type="http://schemas.openxmlformats.org/officeDocument/2006/relationships/presProps" Target="/ppt/presProps.xml" Id="R6abc612f98ae4c81" /><Relationship Type="http://schemas.openxmlformats.org/officeDocument/2006/relationships/viewProps" Target="/ppt/viewProps.xml" Id="R1221da5a132c46a8" /><Relationship Type="http://schemas.openxmlformats.org/officeDocument/2006/relationships/tableStyles" Target="/ppt/tableStyles.xml" Id="R73340a83bb744050" /><Relationship Type="http://schemas.openxmlformats.org/officeDocument/2006/relationships/slide" Target="/ppt/slides/slide1.xml" Id="Ree900575c9ff4125" /><Relationship Type="http://schemas.openxmlformats.org/officeDocument/2006/relationships/slide" Target="/ppt/slides/slide2.xml" Id="R4702eaef720d45f2" /><Relationship Type="http://schemas.openxmlformats.org/officeDocument/2006/relationships/slide" Target="/ppt/slides/slide3.xml" Id="Rd6719ae1f3454a86" /><Relationship Type="http://schemas.openxmlformats.org/officeDocument/2006/relationships/slide" Target="/ppt/slides/slide4.xml" Id="Rc118e052cc0646aa" /><Relationship Type="http://schemas.openxmlformats.org/officeDocument/2006/relationships/slide" Target="/ppt/slides/slide5.xml" Id="Rb5a97188628146fa" /><Relationship Type="http://schemas.openxmlformats.org/officeDocument/2006/relationships/slide" Target="/ppt/slides/slide6.xml" Id="Rcadcf4f5566a41f2" /><Relationship Type="http://schemas.openxmlformats.org/officeDocument/2006/relationships/slide" Target="/ppt/slides/slide7.xml" Id="R91db3da6cc4f4d53" /><Relationship Type="http://schemas.openxmlformats.org/officeDocument/2006/relationships/slide" Target="/ppt/slides/slide8.xml" Id="R385df015c898436d" /><Relationship Type="http://schemas.openxmlformats.org/officeDocument/2006/relationships/slide" Target="/ppt/slides/slide9.xml" Id="R846b56e612054549" /><Relationship Type="http://schemas.openxmlformats.org/officeDocument/2006/relationships/slide" Target="/ppt/slides/slide10.xml" Id="R8be1654e393d4d55" /><Relationship Type="http://schemas.openxmlformats.org/officeDocument/2006/relationships/slide" Target="/ppt/slides/slide11.xml" Id="R0a6ab1d7b6394a0e" /><Relationship Type="http://schemas.openxmlformats.org/officeDocument/2006/relationships/slide" Target="/ppt/slides/slide12.xml" Id="R339728d271b84db0" /><Relationship Type="http://schemas.openxmlformats.org/officeDocument/2006/relationships/slide" Target="/ppt/slides/slide13.xml" Id="R00f6860a3c2f4b59" /><Relationship Type="http://schemas.openxmlformats.org/officeDocument/2006/relationships/slide" Target="/ppt/slides/slide14.xml" Id="R21ebc0a4e4564ca4" /><Relationship Type="http://schemas.openxmlformats.org/officeDocument/2006/relationships/slide" Target="/ppt/slides/slide15.xml" Id="Rcbb0066e316f459e" /><Relationship Type="http://schemas.openxmlformats.org/officeDocument/2006/relationships/slide" Target="/ppt/slides/slide16.xml" Id="R003a26dc590e4c56" /><Relationship Type="http://schemas.openxmlformats.org/officeDocument/2006/relationships/slide" Target="/ppt/slides/slide17.xml" Id="R7f0d0b87d35c42bc" /><Relationship Type="http://schemas.openxmlformats.org/officeDocument/2006/relationships/slide" Target="/ppt/slides/slide18.xml" Id="R49a920ae73df4428" /><Relationship Type="http://schemas.openxmlformats.org/officeDocument/2006/relationships/slide" Target="/ppt/slides/slide19.xml" Id="Rb089aa447dd64475" /><Relationship Type="http://schemas.openxmlformats.org/officeDocument/2006/relationships/slide" Target="/ppt/slides/slide20.xml" Id="Rbc301076cf5b43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79d79f307a4b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b322465b7f4e74" /><Relationship Type="http://schemas.openxmlformats.org/officeDocument/2006/relationships/notesMaster" Target="/ppt/notesMasters/notesMaster1.xml" Id="R405e0174387f4d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b98b4ba03e4c78" /><Relationship Type="http://schemas.openxmlformats.org/officeDocument/2006/relationships/notesMaster" Target="/ppt/notesMasters/notesMaster1.xml" Id="Rcdb044aa711241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a7cd1b79824051" /><Relationship Type="http://schemas.openxmlformats.org/officeDocument/2006/relationships/notesMaster" Target="/ppt/notesMasters/notesMaster1.xml" Id="R5f5ce5a82cfb46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c0822c235a4682" /><Relationship Type="http://schemas.openxmlformats.org/officeDocument/2006/relationships/notesMaster" Target="/ppt/notesMasters/notesMaster1.xml" Id="R0fb2af7f9eae47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6091bbc8874dce" /><Relationship Type="http://schemas.openxmlformats.org/officeDocument/2006/relationships/notesMaster" Target="/ppt/notesMasters/notesMaster1.xml" Id="R5871f61dff8841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10e0fd96a24d30" /><Relationship Type="http://schemas.openxmlformats.org/officeDocument/2006/relationships/notesMaster" Target="/ppt/notesMasters/notesMaster1.xml" Id="Rbbc12f2b27884c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48234351a84f69" /><Relationship Type="http://schemas.openxmlformats.org/officeDocument/2006/relationships/notesMaster" Target="/ppt/notesMasters/notesMaster1.xml" Id="Rfe43ef8447f248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447c49f1134fa6" /><Relationship Type="http://schemas.openxmlformats.org/officeDocument/2006/relationships/notesMaster" Target="/ppt/notesMasters/notesMaster1.xml" Id="R67dc676edbdf415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9fc7db0833464b" /><Relationship Type="http://schemas.openxmlformats.org/officeDocument/2006/relationships/notesMaster" Target="/ppt/notesMasters/notesMaster1.xml" Id="R9584fd87f465417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636aee0e9a427e" /><Relationship Type="http://schemas.openxmlformats.org/officeDocument/2006/relationships/notesMaster" Target="/ppt/notesMasters/notesMaster1.xml" Id="R16612349d80e407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219df040c0b41eb" /><Relationship Type="http://schemas.openxmlformats.org/officeDocument/2006/relationships/notesMaster" Target="/ppt/notesMasters/notesMaster1.xml" Id="R8f86f6633a44436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a82f68df0204689" /><Relationship Type="http://schemas.openxmlformats.org/officeDocument/2006/relationships/notesMaster" Target="/ppt/notesMasters/notesMaster1.xml" Id="Rf9e3b1fd803742d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ae1d8690363427a" /><Relationship Type="http://schemas.openxmlformats.org/officeDocument/2006/relationships/notesMaster" Target="/ppt/notesMasters/notesMaster1.xml" Id="Rd6c34d836b2a476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94db52be8c64fec" /><Relationship Type="http://schemas.openxmlformats.org/officeDocument/2006/relationships/notesMaster" Target="/ppt/notesMasters/notesMaster1.xml" Id="R669efee511554f1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59347a7124544a8" /><Relationship Type="http://schemas.openxmlformats.org/officeDocument/2006/relationships/notesMaster" Target="/ppt/notesMasters/notesMaster1.xml" Id="Rbaf2421d062f49d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cec633dce0b48fe" /><Relationship Type="http://schemas.openxmlformats.org/officeDocument/2006/relationships/notesMaster" Target="/ppt/notesMasters/notesMaster1.xml" Id="R17eeb0c657b74bd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a3bc6d208914b17" /><Relationship Type="http://schemas.openxmlformats.org/officeDocument/2006/relationships/notesMaster" Target="/ppt/notesMasters/notesMaster1.xml" Id="R84abd461c1f54da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470a2fc19834dca" /><Relationship Type="http://schemas.openxmlformats.org/officeDocument/2006/relationships/notesMaster" Target="/ppt/notesMasters/notesMaster1.xml" Id="Re19ab112c444405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0eb4095ab704474" /><Relationship Type="http://schemas.openxmlformats.org/officeDocument/2006/relationships/notesMaster" Target="/ppt/notesMasters/notesMaster1.xml" Id="Rf294fa37a619422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044f725e21c478e" /><Relationship Type="http://schemas.openxmlformats.org/officeDocument/2006/relationships/notesMaster" Target="/ppt/notesMasters/notesMaster1.xml" Id="R7bd29a5a521449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901a47d65a462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0c732637c0454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06bc5f014d4ec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1e737eeff34dc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e3f4b5e4eb40c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673d2cae914cb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5a2ead2f0c4fa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3cd5ecf231490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c15540742e427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865ee3c63a480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77f247c1514809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29DF9D-2A61-4046-911D-A20D5835892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69AC10B-7F9B-4DA9-9E5B-3FEF4EA7C81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F5C0D38-CB7F-4F96-B4FD-C8419C0472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966E36D-6D3C-47E8-8367-BA42D18A05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9B66A2-C49D-4725-856E-1B8A7C1D1A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0212FB-A59D-42FE-8F40-E513F0309E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1083509-9585-4E84-84C2-80D37E48E9A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E718710-AB5C-4025-B2E4-79595D0742C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EB652-1147-48CA-AF84-4B443927F57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9C4D8E4-6C6A-475E-A685-E0E36D5C40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CD0117B-E7DA-48D1-97FD-DC4F9683EB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F15339-7C49-4829-85FB-B1D8C05DBF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EEF4F8D-ECC9-4496-8CF8-538E14AC44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643B221-2F4E-4DAC-A444-18729590D8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69D5564-FA23-437D-9B75-4808407C79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C680A56-910C-486B-A449-E5DA639E6B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C9D8298-CA7B-4F6B-A728-781C3C0C86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E3A7BFD-66B7-4F1C-9642-4C1A65E1493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BBCF57C-16EB-4CC3-9B85-7EC7BB13F43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9CB66C6-A762-4D9E-AC73-0AB582CFF4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F600440-139D-4ED7-AC46-6D4955E6FE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88D9E9F-4C74-487A-8832-0B89718B82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3FD0CD4-4C53-47F3-AF77-4AC25F5CCF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E061870-5611-4932-88DD-B4B7FFF0026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C5563AC-2189-42E7-A0A0-E04BF64A550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367B4E1-05E0-4063-AC77-CA7B40CC8FF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7F9A47E-A706-41BD-B0AE-78C5402F39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BA9143A-F311-42C5-A6F0-3BFB5EC0EF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BE54A767-A313-4ACE-A390-F9EE3620E0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35BEC20-7717-4211-9C2A-FE2BE02219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E7909A5A-C1C8-4288-921D-0FA1EDC205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05B78B4F-7D6F-4EEA-B539-9F80DB1D47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97055E7-7269-424D-9B90-069DA1E20A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5EE3D037-2917-4C3E-B992-01FEE3D08B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2F3356C-DB78-4D6D-9C9B-0D0FCDCA23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E65263E-6699-4C4E-827A-1403C4D904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36622F2-2E3D-4A15-95B0-65DD55C2F6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65E6A8D-9312-4846-9B99-08A75793916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3F7D520-5683-4160-B812-1B7099AD8CB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351916F-9202-412D-B621-8FBDF0ECE4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A76D6AA-9044-4ADA-AB4C-B32FEE3C60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771B473-B53F-4D3D-8EDE-B727B8C0B5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1B81899-548E-44F7-9944-03AED0E867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6A78F0F1-915D-4996-A325-4A9AC327222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9B1187E-EEAB-4FF7-BD7F-153C21E4704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A5DD382-CC18-4D35-94ED-6D2A83600ED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A88AAA6-793D-4DCD-B7D2-C340BE07ED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736D4F8-0F62-412D-812D-4D27955530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3A667E3-979D-4B0C-B283-2D7356F841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4CB59BC-7C0F-4321-A33B-89EA308C7F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61BC5A5-53E2-44D2-8207-495C497AB4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AF66770-6DCF-4BE8-8232-13F5B50CFA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8B45D88-1C85-4F8A-BBAD-E5D8909BD1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2B58605-8F32-4345-A3FD-AD0DE87DE2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A4A61D0-4B1A-4ED4-98C2-DA7480961D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729433B-674A-42F4-BA07-AE8A829A6A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282A70-1CAC-404A-B34E-E8BF5C0CB6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F187B22-027B-47E9-BA63-8A79B3F4AA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fb06442e4143e9" /><Relationship Type="http://schemas.openxmlformats.org/officeDocument/2006/relationships/slideLayout" Target="/ppt/slideLayouts/slideLayout1.xml" Id="R2757731995d14f6c" /><Relationship Type="http://schemas.openxmlformats.org/officeDocument/2006/relationships/slideLayout" Target="/ppt/slideLayouts/slideLayout2.xml" Id="Rdbbc126674a84b19" /><Relationship Type="http://schemas.openxmlformats.org/officeDocument/2006/relationships/slideLayout" Target="/ppt/slideLayouts/slideLayout3.xml" Id="R378e8fa300ae4145" /><Relationship Type="http://schemas.openxmlformats.org/officeDocument/2006/relationships/slideLayout" Target="/ppt/slideLayouts/slideLayout4.xml" Id="Re1c195d93fdf41c8" /><Relationship Type="http://schemas.openxmlformats.org/officeDocument/2006/relationships/slideLayout" Target="/ppt/slideLayouts/slideLayout5.xml" Id="R2323679799134c10" /><Relationship Type="http://schemas.openxmlformats.org/officeDocument/2006/relationships/slideLayout" Target="/ppt/slideLayouts/slideLayout6.xml" Id="R1122d9180e7d43e1" /><Relationship Type="http://schemas.openxmlformats.org/officeDocument/2006/relationships/slideLayout" Target="/ppt/slideLayouts/slideLayout7.xml" Id="Rb4e20f9838c0444f" /><Relationship Type="http://schemas.openxmlformats.org/officeDocument/2006/relationships/slideLayout" Target="/ppt/slideLayouts/slideLayout8.xml" Id="Rc566dcdd312f4d88" /><Relationship Type="http://schemas.openxmlformats.org/officeDocument/2006/relationships/slideLayout" Target="/ppt/slideLayouts/slideLayout9.xml" Id="R056f76681ba349cd" /><Relationship Type="http://schemas.openxmlformats.org/officeDocument/2006/relationships/slideLayout" Target="/ppt/slideLayouts/slideLayout10.xml" Id="Rad1c8eb8bc044d04" /><Relationship Type="http://schemas.openxmlformats.org/officeDocument/2006/relationships/slideLayout" Target="/ppt/slideLayouts/slideLayout11.xml" Id="R9efb9f4092724ee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2C6BF78-8E74-4C64-BAAD-997387094F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E5D412F-5B1C-4382-A565-7DC0ABE680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52DDE35-3F52-4150-8F9D-CB9255521E3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36F8287-BD7A-43BF-8BDF-0C9097CE1EE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7B1CCCE-55F5-4736-8861-9BC6A5AA203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57731995d14f6c"/>
    <p:sldLayoutId xmlns:r="http://schemas.openxmlformats.org/officeDocument/2006/relationships" id="2147483650" r:id="Rdbbc126674a84b19"/>
    <p:sldLayoutId xmlns:r="http://schemas.openxmlformats.org/officeDocument/2006/relationships" id="2147483651" r:id="R378e8fa300ae4145"/>
    <p:sldLayoutId xmlns:r="http://schemas.openxmlformats.org/officeDocument/2006/relationships" id="2147483652" r:id="Re1c195d93fdf41c8"/>
    <p:sldLayoutId xmlns:r="http://schemas.openxmlformats.org/officeDocument/2006/relationships" id="2147483653" r:id="R2323679799134c10"/>
    <p:sldLayoutId xmlns:r="http://schemas.openxmlformats.org/officeDocument/2006/relationships" id="2147483654" r:id="R1122d9180e7d43e1"/>
    <p:sldLayoutId xmlns:r="http://schemas.openxmlformats.org/officeDocument/2006/relationships" id="2147483655" r:id="Rb4e20f9838c0444f"/>
    <p:sldLayoutId xmlns:r="http://schemas.openxmlformats.org/officeDocument/2006/relationships" id="2147483656" r:id="Rc566dcdd312f4d88"/>
    <p:sldLayoutId xmlns:r="http://schemas.openxmlformats.org/officeDocument/2006/relationships" id="2147483657" r:id="R056f76681ba349cd"/>
    <p:sldLayoutId xmlns:r="http://schemas.openxmlformats.org/officeDocument/2006/relationships" id="2147483658" r:id="Rad1c8eb8bc044d04"/>
    <p:sldLayoutId xmlns:r="http://schemas.openxmlformats.org/officeDocument/2006/relationships" id="2147483659" r:id="R9efb9f4092724eef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0792765b23042aa" /><Relationship Type="http://schemas.openxmlformats.org/officeDocument/2006/relationships/notesSlide" Target="/ppt/notesSlides/notesSlide1.xml" Id="R31b7e43a28b840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d59781dd9c14f0e" /><Relationship Type="http://schemas.openxmlformats.org/officeDocument/2006/relationships/notesSlide" Target="/ppt/notesSlides/notesSlide2.xml" Id="R0378cc11440d4a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78d7d7f46e14829" /><Relationship Type="http://schemas.openxmlformats.org/officeDocument/2006/relationships/notesSlide" Target="/ppt/notesSlides/notesSlide3.xml" Id="R05b3339a293947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3f57166ba32436e" /><Relationship Type="http://schemas.openxmlformats.org/officeDocument/2006/relationships/notesSlide" Target="/ppt/notesSlides/notesSlide4.xml" Id="R4c171250f89d43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7f137875f9d4bb8" /><Relationship Type="http://schemas.openxmlformats.org/officeDocument/2006/relationships/notesSlide" Target="/ppt/notesSlides/notesSlide5.xml" Id="Rd304435592fe41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689798ee23f4206" /><Relationship Type="http://schemas.openxmlformats.org/officeDocument/2006/relationships/notesSlide" Target="/ppt/notesSlides/notesSlide6.xml" Id="R908c6d78869944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4134a49158443c9" /><Relationship Type="http://schemas.openxmlformats.org/officeDocument/2006/relationships/notesSlide" Target="/ppt/notesSlides/notesSlide7.xml" Id="Rc87e45f6bb614a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9f569294bed4a59" /><Relationship Type="http://schemas.openxmlformats.org/officeDocument/2006/relationships/notesSlide" Target="/ppt/notesSlides/notesSlide8.xml" Id="Rca4192eb1e354c1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f2a160917fb4171" /><Relationship Type="http://schemas.openxmlformats.org/officeDocument/2006/relationships/notesSlide" Target="/ppt/notesSlides/notesSlide9.xml" Id="Rb7a60aa721544e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f77c62245084736" /><Relationship Type="http://schemas.openxmlformats.org/officeDocument/2006/relationships/notesSlide" Target="/ppt/notesSlides/notesSlide10.xml" Id="Ree70c28084d54b9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fc13e522ba444f1" /><Relationship Type="http://schemas.openxmlformats.org/officeDocument/2006/relationships/notesSlide" Target="/ppt/notesSlides/notesSlide11.xml" Id="R796680ff35184ee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a33bd64e0fe4e2f" /><Relationship Type="http://schemas.openxmlformats.org/officeDocument/2006/relationships/notesSlide" Target="/ppt/notesSlides/notesSlide12.xml" Id="Rfc6445d77185473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76b0813ec4540ee" /><Relationship Type="http://schemas.openxmlformats.org/officeDocument/2006/relationships/notesSlide" Target="/ppt/notesSlides/notesSlide13.xml" Id="R586c93a2a9df403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8fa38b784b44cb5" /><Relationship Type="http://schemas.openxmlformats.org/officeDocument/2006/relationships/notesSlide" Target="/ppt/notesSlides/notesSlide14.xml" Id="Ra2271b0b1f4a493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92f610e7a7b44eb" /><Relationship Type="http://schemas.openxmlformats.org/officeDocument/2006/relationships/notesSlide" Target="/ppt/notesSlides/notesSlide15.xml" Id="R5054eb91039e4c4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1039dc1ec7242c2" /><Relationship Type="http://schemas.openxmlformats.org/officeDocument/2006/relationships/notesSlide" Target="/ppt/notesSlides/notesSlide16.xml" Id="R7787f558274f4de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7563dfbab2a499e" /><Relationship Type="http://schemas.openxmlformats.org/officeDocument/2006/relationships/notesSlide" Target="/ppt/notesSlides/notesSlide17.xml" Id="R0ac8f39b14754f5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bcb0699905e47db" /><Relationship Type="http://schemas.openxmlformats.org/officeDocument/2006/relationships/notesSlide" Target="/ppt/notesSlides/notesSlide18.xml" Id="Ra93b3c35136a45c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8e717d40bb5479a" /><Relationship Type="http://schemas.openxmlformats.org/officeDocument/2006/relationships/notesSlide" Target="/ppt/notesSlides/notesSlide19.xml" Id="R2593b9a7aa2a414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a89a9722914465f" /><Relationship Type="http://schemas.openxmlformats.org/officeDocument/2006/relationships/notesSlide" Target="/ppt/notesSlides/notesSlide20.xml" Id="Rccf26347916943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E9A8D69-A4F1-417E-9863-82D062E9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F16CD144-F798-4F14-AD86-18CE5209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9650"/>
            <a:ext cx="103632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816959AF-DFEC-468E-BEA6-E7386A96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38275"/>
            <a:ext cx="6477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C6A4F44-71CB-4605-8F7C-09EBB614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10096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Захтеви, backlog, Git и тимски развој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5B9B21-065B-4351-87F9-DC00EA6E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62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Од захтева и backlog ставке до проверене промене у репозиторијуму.</a:t>
            </a:r>
          </a:p>
        </p:txBody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BAEB227C-E824-4712-B749-D2615A7F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86375"/>
            <a:ext cx="103632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392ED5E-39C4-4DC3-9C73-7609FF69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E5E7D"/>
                </a:solidFill>
                <a:latin typeface="Aptos"/>
                <a:ea typeface="Aptos"/>
                <a:cs typeface="Aptos"/>
              </a:rPr>
              <a:t>Факултет техничких наука · Универзитет у Новом Саду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1A79A78-87CA-4004-AA5C-4C1746C7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81650"/>
            <a:ext cx="3181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Академска 2026/27</a:t>
            </a:r>
          </a:p>
        </p:txBody>
      </p:sp>
    </p:spTree>
    <p:extLst>
      <p:ext uri="{BB962C8B-B14F-4D97-AF65-F5344CB8AC3E}">
        <p14:creationId xmlns:p14="http://schemas.microsoft.com/office/powerpoint/2010/main" val="17693431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A7E21C2-E776-487F-9F29-70F9FAD8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2F18987-3A4A-4C6E-8200-6BBB9F52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C5DE552-2CB0-4B01-A2FC-3A24999A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B5D751E-F463-4032-B2C4-7DB46466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Развојни ток од захтева до интеграције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3EAACDB-DF6F-4CE3-A8AC-FE8ECFA1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Захтев, планирање рада и Git чине повезан процес.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B59986A6-DCAF-4283-BC19-D52219D7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" y="2788920"/>
            <a:ext cx="1508760" cy="694944"/>
          </a:xfrm>
          <a:prstGeom xmlns:a="http://schemas.openxmlformats.org/drawingml/2006/main" prst="roundRect">
            <a:avLst>
              <a:gd name="adj" fmla="val 1370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F1A6AE3-2739-4BF6-B016-E6D9D5D3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532" y="2999232"/>
            <a:ext cx="1353312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Потреба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2E117C5-F7C1-4B54-A222-FF7670C1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" y="3630168"/>
            <a:ext cx="1691640" cy="477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корисничка вредност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6C8C4B4-432A-43CC-BA76-9A802B62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580" y="2990088"/>
            <a:ext cx="320040" cy="2633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607D9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9BF20CF4-A630-4201-A2F9-2518D9FE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88920"/>
            <a:ext cx="1508760" cy="694944"/>
          </a:xfrm>
          <a:prstGeom xmlns:a="http://schemas.openxmlformats.org/drawingml/2006/main" prst="roundRect">
            <a:avLst>
              <a:gd name="adj" fmla="val 1370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2D986DD-27BC-4B01-8BA4-95E35D18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652" y="2999232"/>
            <a:ext cx="1353312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backlog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B8E1EB2-13FE-4C79-B306-CF084947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060" y="3630168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опис и критеријуми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7BD5E8C-E865-4152-95D1-A8EE0270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90088"/>
            <a:ext cx="320040" cy="2633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607D9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6D55880D-4B95-4D35-94EE-667A2356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620" y="2788920"/>
            <a:ext cx="1508760" cy="694944"/>
          </a:xfrm>
          <a:prstGeom xmlns:a="http://schemas.openxmlformats.org/drawingml/2006/main" prst="roundRect">
            <a:avLst>
              <a:gd name="adj" fmla="val 1370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D936F5D-F504-4C17-B56F-9B3AAC12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772" y="2999232"/>
            <a:ext cx="1353312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feature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94BC7FA-795B-407C-BEF8-A6E59BC3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3630168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издвојена промена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2C3C72F-8E27-4251-B4CB-46691C1B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1820" y="2990088"/>
            <a:ext cx="320040" cy="2633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607D9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5C016445-8CCB-4EB3-9D7E-AFD81A89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4740" y="2788920"/>
            <a:ext cx="1508760" cy="694944"/>
          </a:xfrm>
          <a:prstGeom xmlns:a="http://schemas.openxmlformats.org/drawingml/2006/main" prst="roundRect">
            <a:avLst>
              <a:gd name="adj" fmla="val 1370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57EA5AE5-2089-4D20-9AC8-8F2E0AA1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892" y="2999232"/>
            <a:ext cx="1353312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Pull Request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E38F6FD5-9D3F-490C-BC15-8D6D0210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30168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преглед и тестови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AC6A69F-EEAC-487C-B405-0D8AE462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4940" y="2990088"/>
            <a:ext cx="320040" cy="2633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607D9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7632405F-85DE-445C-AC7B-BDDA2C07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7860" y="2788920"/>
            <a:ext cx="1508760" cy="694944"/>
          </a:xfrm>
          <a:prstGeom xmlns:a="http://schemas.openxmlformats.org/drawingml/2006/main" prst="roundRect">
            <a:avLst>
              <a:gd name="adj" fmla="val 1370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CC3F392B-A2DB-4013-BCC1-384357A3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1012" y="2999232"/>
            <a:ext cx="1353312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Интеграција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7B435838-D046-4E58-9E8D-864B4877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420" y="3630168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проверена промена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4A8A2E67-7D1B-44C2-BA7A-B3D13242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103632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E65C57A6-6CCD-4D64-A8CE-0694C506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6730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1803420E-B067-4807-B2D4-D95CF735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292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НАПОМЕНА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C53389C-9EB0-4660-B646-904185E9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76850"/>
            <a:ext cx="960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Развојни ток повезује захтев, одлуке, имплементацију и доказе провере.</a:t>
            </a:r>
          </a:p>
        </p:txBody>
      </p:sp>
    </p:spTree>
    <p:extLst>
      <p:ext uri="{BB962C8B-B14F-4D97-AF65-F5344CB8AC3E}">
        <p14:creationId xmlns:p14="http://schemas.microsoft.com/office/powerpoint/2010/main" val="4660767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1CEE52B-9D13-493D-A6A9-C1549BE0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6E1A5DA-A9FA-43AE-8396-828681EC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04F2FF8-636C-4954-A4E2-38989C00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D27C4C1-D48C-4830-A8DB-A14CD965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Структура корисничке приче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0E0399F-4F78-4D50-B391-120753FB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Корисничка прича наводи корисника, потребу и очекивану вредност.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AD17554-AE8B-4AA5-A6E5-313B905E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23160"/>
            <a:ext cx="8229600" cy="1728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Као наставник лабораторије,
желим да резервишем слободну опрему за одређени термин,
како бих знао да је опрема доступна и спречио двоструку резервацију.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06D2FD5-D2BE-47E8-9AC6-E4FEBB80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41648"/>
            <a:ext cx="694944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DFF20728-11CA-4DA5-A449-0C077D45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03632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7762DA28-ADDF-411D-AD75-A7D533EE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17FC6F4-B03D-43D2-BB6A-529A633B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81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НАПОМЕНА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DBBD11E-0A9C-40D8-9782-1FF092E2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960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Корисничка прича има вредност када дефинише проверљиво понашање система.</a:t>
            </a:r>
          </a:p>
        </p:txBody>
      </p:sp>
    </p:spTree>
    <p:extLst>
      <p:ext uri="{BB962C8B-B14F-4D97-AF65-F5344CB8AC3E}">
        <p14:creationId xmlns:p14="http://schemas.microsoft.com/office/powerpoint/2010/main" val="13293214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082C0E3-2264-49D2-BD3C-54385547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A4AFFF0-0F8D-4E87-B3AC-F39213F8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12D872B-D406-45AA-BB40-09BFF3CA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438340B-E7A5-423D-BE54-6AEEF663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Критеријуми прихватања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C11CF06-6C98-40B4-80FE-59D70F70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Сваки критеријум треба да буде проверљив тестом или демонстрационим сценаријем.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E5ABE66-1719-45A3-8597-3354A39D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26670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489FEF9-F205-482C-B2D9-CBE0712D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193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Тип сценарија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E10DF5B-21AF-4DCC-A135-AA5D0E78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24100"/>
            <a:ext cx="76962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D64CC24-F95F-4D43-ACCE-C2E12B8B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193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Пример критеријума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D07BD2A-EC17-411B-8176-D18D19C3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26670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9DA8447-286D-47A9-A6A0-1C8C9B40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05125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Успешан ток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8E93917-C52D-4568-B364-C28DE6C4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81300"/>
            <a:ext cx="76962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4FED958-CCAD-4417-8EB6-2834F87F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05125"/>
            <a:ext cx="73914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88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Резервација се креира када је опрема доступна и период исправан.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E91F08D-B085-4FC5-8348-7E0A7831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26670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A41F0BE-E7FA-49E2-8535-DFD92C72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14725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Пословни конфликт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54C9501-5231-4B7E-A9C6-83C34DC7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90900"/>
            <a:ext cx="76962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81AD2F9F-36F8-4A26-A914-48710C6D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14725"/>
            <a:ext cx="73914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88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Систем одбија период који се преклапа са активном резервацијом.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876F1953-D900-453C-846A-6BF2A9F1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26670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8350C991-9936-4C9A-87BD-A73E163F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24325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Неисправан улаз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E8EDA35-70BA-4681-9F6C-F7C07F4B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00500"/>
            <a:ext cx="76962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1C8D9628-60D7-497A-B914-437B67C9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124325"/>
            <a:ext cx="73914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88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Почетак термина мора бити пре краја.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FC32EEE9-1559-404F-AD20-27B64BE0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26670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26F5DEE7-0D67-44EE-8D28-9D573106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33925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Гранични случај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4D3E5CB0-AB4F-4C63-9EB0-4957A287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610100"/>
            <a:ext cx="76962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EA35B276-DDDE-4D3A-B4CB-DE7D4F24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733925"/>
            <a:ext cx="7391400" cy="2284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88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Правило</a:t>
            </a:r>
            <a:r>
              <a:rPr sz="1388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388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јасно</a:t>
            </a:r>
            <a:r>
              <a:rPr sz="1388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388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дефинише</a:t>
            </a:r>
            <a:r>
              <a:rPr sz="1388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388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термин</a:t>
            </a:r>
            <a:r>
              <a:rPr sz="1388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388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краја</a:t>
            </a:r>
            <a:r>
              <a:rPr sz="1388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388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и</a:t>
            </a:r>
            <a:r>
              <a:rPr sz="1388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388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почетка</a:t>
            </a:r>
            <a:r>
              <a:rPr sz="1388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388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термина</a:t>
            </a:r>
            <a:r>
              <a:rPr sz="1388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312840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5881B70-BD52-4051-889C-FC4BB336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659D703-D0C3-4801-8E67-C627EE13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ED725B2-490D-492E-8C90-CA4E9062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CBB1798-942B-4120-8C77-0AC0C9F9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Структура backlog-а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2914C20-E87B-421B-BBC8-B2932B88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Ставка спремна за рад садржи циљ, приоритет, критеријуме и позната ограничења.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910812B-064F-4AC9-B911-FBBD5205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280" y="2560320"/>
            <a:ext cx="2834640" cy="1828800"/>
          </a:xfrm>
          <a:prstGeom xmlns:a="http://schemas.openxmlformats.org/drawingml/2006/main" prst="roundRect">
            <a:avLst>
              <a:gd name="adj" fmla="val 520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C7FA4B9-A5A3-4745-B792-C012AB4C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872" y="2761488"/>
            <a:ext cx="73152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2EE1368-9106-4771-B122-449961AB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872" y="3063240"/>
            <a:ext cx="23317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Product Backlog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75F86D0-DA21-4534-AC34-3B4188A9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872" y="3703320"/>
            <a:ext cx="2331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све будуће ставке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ACB4ABF7-CCC0-4786-BB98-42809D30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8680" y="2560320"/>
            <a:ext cx="2834640" cy="1828800"/>
          </a:xfrm>
          <a:prstGeom xmlns:a="http://schemas.openxmlformats.org/drawingml/2006/main" prst="roundRect">
            <a:avLst>
              <a:gd name="adj" fmla="val 520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F00FCF0-C19D-4EF2-8972-CA95D458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3272" y="2761488"/>
            <a:ext cx="73152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A274CD5-8BE7-43CA-B6C1-F3642A0C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3272" y="3063240"/>
            <a:ext cx="23317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Sprint Backlog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B7A59BB-9FAD-4174-B413-C3142794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3272" y="3703320"/>
            <a:ext cx="2331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изабрани обим рада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EF3D7502-58BF-47F9-9A8A-07C10964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080" y="2560320"/>
            <a:ext cx="2834640" cy="1828800"/>
          </a:xfrm>
          <a:prstGeom xmlns:a="http://schemas.openxmlformats.org/drawingml/2006/main" prst="roundRect">
            <a:avLst>
              <a:gd name="adj" fmla="val 520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7194C58-B291-4215-B83F-40031DCA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3672" y="2761488"/>
            <a:ext cx="73152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674854C-290B-4DB4-82B3-BC68A5CC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3672" y="3063240"/>
            <a:ext cx="23317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Increment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B4D257C-CA5D-4913-BB67-919A377D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3672" y="3703320"/>
            <a:ext cx="2331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реализована промена</a:t>
            </a:r>
          </a:p>
        </p:txBody>
      </p:sp>
    </p:spTree>
    <p:extLst>
      <p:ext uri="{BB962C8B-B14F-4D97-AF65-F5344CB8AC3E}">
        <p14:creationId xmlns:p14="http://schemas.microsoft.com/office/powerpoint/2010/main" val="2766864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7D5CECB-ED9D-4FB0-9F15-04FC06A4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E13099E-A603-432B-9D99-CECCCF23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3A3500A-0662-4072-B1FD-06B9710A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F25ED0A-4088-4F7D-BA2F-947EB67C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Стања у развојном току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8241BAA-42E6-4717-BC42-206EB9D8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Статус картице одговара стварном стању посла.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0BD2F13-C7D3-4902-BA4F-E1A5AA0A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" y="2788920"/>
            <a:ext cx="1508760" cy="694944"/>
          </a:xfrm>
          <a:prstGeom xmlns:a="http://schemas.openxmlformats.org/drawingml/2006/main" prst="roundRect">
            <a:avLst>
              <a:gd name="adj" fmla="val 1370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4EF2EB0-F9CB-4C4F-99BB-EF86C0DD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532" y="2999232"/>
            <a:ext cx="1353312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Backlog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35326BE-A51E-49AB-B130-47AD842C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" y="3630168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идеја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F5FCB30-0368-4E98-B6BA-42F847ED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580" y="2990088"/>
            <a:ext cx="320040" cy="2633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607D9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C2B78EC-FE68-497B-9010-7E5F400A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88920"/>
            <a:ext cx="1508760" cy="694944"/>
          </a:xfrm>
          <a:prstGeom xmlns:a="http://schemas.openxmlformats.org/drawingml/2006/main" prst="roundRect">
            <a:avLst>
              <a:gd name="adj" fmla="val 1370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5559014-8885-4A39-8FB3-D1B8A6BD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652" y="2999232"/>
            <a:ext cx="1353312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80618B8-123B-4C93-9784-7635F648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060" y="3630168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спремно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0EA01F1-5725-47ED-97D1-8C8BDD18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90088"/>
            <a:ext cx="320040" cy="2633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607D9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2660EDD5-B41A-42B8-B2A9-628955AE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620" y="2788920"/>
            <a:ext cx="1508760" cy="694944"/>
          </a:xfrm>
          <a:prstGeom xmlns:a="http://schemas.openxmlformats.org/drawingml/2006/main" prst="roundRect">
            <a:avLst>
              <a:gd name="adj" fmla="val 1370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7E66A89-726D-43D5-9231-92534EAB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772" y="2999232"/>
            <a:ext cx="1353312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In Progress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1D05C67-043F-485D-A333-64827FB6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3630168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рад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2627D93-E34A-47A6-9CFB-489091FB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1820" y="2990088"/>
            <a:ext cx="320040" cy="2633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607D9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3B81FFF8-039E-49D5-B9E1-81C7CF93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4740" y="2788920"/>
            <a:ext cx="1508760" cy="694944"/>
          </a:xfrm>
          <a:prstGeom xmlns:a="http://schemas.openxmlformats.org/drawingml/2006/main" prst="roundRect">
            <a:avLst>
              <a:gd name="adj" fmla="val 1370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382C35D-1BDB-4EDF-ABB7-42AF70E1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892" y="2999232"/>
            <a:ext cx="1353312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Code Review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A476DD9-52B2-4A6F-9EF7-EDBAB713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30168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преглед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2281BDD-B21C-49C2-B655-142BC721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4940" y="2990088"/>
            <a:ext cx="320040" cy="2633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607D9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237D25FA-C380-4A7D-92E9-431DD63C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7860" y="2788920"/>
            <a:ext cx="1508760" cy="694944"/>
          </a:xfrm>
          <a:prstGeom xmlns:a="http://schemas.openxmlformats.org/drawingml/2006/main" prst="roundRect">
            <a:avLst>
              <a:gd name="adj" fmla="val 1370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5924F1A9-9592-4A1D-B271-C07DC86F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1012" y="2999232"/>
            <a:ext cx="1353312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D3A2F4D8-A008-4832-91C1-64047C02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420" y="3630168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прихваћено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F7B38D7C-4E7C-4FEF-8BAC-947AE88D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103632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249360AD-93DB-4BD6-9075-3B149CE0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6730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F430E53F-8CAA-4E74-81B5-A4DD8F73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292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НАПОМЕНА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76468C2C-4D15-4250-A2B6-B32F5681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76850"/>
            <a:ext cx="960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Статус Done захтева испуњене критеријуме, успешно извршене провере и интегрисану промену.</a:t>
            </a:r>
          </a:p>
        </p:txBody>
      </p:sp>
    </p:spTree>
    <p:extLst>
      <p:ext uri="{BB962C8B-B14F-4D97-AF65-F5344CB8AC3E}">
        <p14:creationId xmlns:p14="http://schemas.microsoft.com/office/powerpoint/2010/main" val="13600049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5BB4E60-CF4E-4599-A855-8C7F4C3A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3134254-4BED-4925-A6AD-EC2D2342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C2C6E13-0AE4-4518-8504-3174C47C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AF1C1C2-348C-4B1D-83B2-CF61FAD9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Садржај backlog ставке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DA3C1E4-FAF2-464B-9BDB-DE1F56EC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Опис, критеријуми, приоритет и подаци о одговорности чувају се уз ставку.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8444FF6E-F980-4B43-A354-B685EA93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17B4C4A-C52F-48D0-9663-4C6F8C40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33625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C8BBE31-0E39-42C9-814C-0987BC2A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Опис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5D20F2D-66B4-4F81-82E3-A5E073FB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52750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шта се тражи и ко добија вредност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00529B8-FBAA-4CC9-A08E-98B91D10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09800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263350E-E0C2-4586-941D-E7A8F73A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FAD7BD5-5046-4F23-ADA9-C221D397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908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Критеријуми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5646989-8754-4D59-9560-D510C6AA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како се доказује исправност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4520248C-6F01-4A7E-BFA6-78EC58C2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1925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3802620-051C-403C-84F7-E8D7C112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95750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59D9E1E-EB30-4333-B319-BF88590D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52925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Приоритет и sprint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AC68B64-3FC6-4E0D-903B-73F5B7A1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14875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зашто се ради сада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1A06C9F7-4BF5-4BAE-A305-26A6ADF9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71925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0953FD2-22F8-4720-A159-13FB56E6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1D40D27D-27A1-4EA4-9F4D-17930AF9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52925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Assignee и коментари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CD7912E0-F3FD-424D-8658-710700A9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14875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 ради и шта је договорено</a:t>
            </a:r>
          </a:p>
        </p:txBody>
      </p:sp>
    </p:spTree>
    <p:extLst>
      <p:ext uri="{BB962C8B-B14F-4D97-AF65-F5344CB8AC3E}">
        <p14:creationId xmlns:p14="http://schemas.microsoft.com/office/powerpoint/2010/main" val="11834470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3A3D2D2-9F19-4B8D-ADAF-2A237CF9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815F425-6F1A-42FB-84BE-217093CE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163C9B0-7C8C-42F9-A14A-5BCFA994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F32797F-5538-47C6-BC37-3F9D749B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Разлагање задатка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DED2661-C30F-44E3-9F3E-E00559FC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Контролна листа смањује ризик и чини напредак видљивим.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43482AB-A243-4FD4-A406-9D3C3F4B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1720"/>
            <a:ext cx="47625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ПРИМЕР КОРАКА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5AC5CDC-5C59-4266-944A-0255AB96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7480"/>
            <a:ext cx="476250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wireframe или ток екрана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имплементација основне логике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тестови кључног правила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code review и дорада</a:t>
            </a:r>
          </a:p>
        </p:txBody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60D71D20-3D15-45C8-9E6F-F032B6ED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1720"/>
            <a:ext cx="0" cy="32004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F7C89A4-9C84-4034-8C76-5E1E3FFA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1720"/>
            <a:ext cx="47625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ЕФЕКТИ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821077F-37B8-4358-9B1A-0038D588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97480"/>
            <a:ext cx="476250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мање ризика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видљив застој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лакша провера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лакше образложење</a:t>
            </a:r>
          </a:p>
        </p:txBody>
      </p:sp>
    </p:spTree>
    <p:extLst>
      <p:ext uri="{BB962C8B-B14F-4D97-AF65-F5344CB8AC3E}">
        <p14:creationId xmlns:p14="http://schemas.microsoft.com/office/powerpoint/2010/main" val="6889061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CD69D30-26A8-4C23-B244-3855A784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3630A0E-DC17-4D0F-BEEE-18D67BEF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D5B3944-D461-4484-8A49-7B6BA68A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6F7247E-8D2F-4C54-88CE-7B7B559D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Git историја измена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58C161C-B5D1-48F3-BA0F-246CD640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Историја развоја омогућава реконструкцију малих и смислених промена.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06C38E7-E151-4E0A-9531-CA5297C7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" y="2240280"/>
            <a:ext cx="2377440" cy="411480"/>
          </a:xfrm>
          <a:prstGeom xmlns:a="http://schemas.openxmlformats.org/drawingml/2006/main" prst="roundRect">
            <a:avLst>
              <a:gd name="adj" fmla="val 2314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04B37B4-D1E2-4CC4-B539-E0E4803D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688" y="2368296"/>
            <a:ext cx="2194560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Појам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765772B-43E2-4DED-8B6B-EFDF030D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40280"/>
            <a:ext cx="7406640" cy="411480"/>
          </a:xfrm>
          <a:prstGeom xmlns:a="http://schemas.openxmlformats.org/drawingml/2006/main" prst="roundRect">
            <a:avLst>
              <a:gd name="adj" fmla="val 2314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AC16EF9-5136-4DD3-B9D9-C4B74C4E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1128" y="2368296"/>
            <a:ext cx="7223759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Улога у раду тима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455B6EB-09D5-426D-924D-A365E19D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" y="2651760"/>
            <a:ext cx="2377440" cy="438912"/>
          </a:xfrm>
          <a:prstGeom xmlns:a="http://schemas.openxmlformats.org/drawingml/2006/main" prst="roundRect">
            <a:avLst>
              <a:gd name="adj" fmla="val 2170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6A4C810-B69C-4CA9-AECE-A9A9D9D1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688" y="2761488"/>
            <a:ext cx="2148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Working tree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301204E-2A20-4F20-8270-65F87501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51760"/>
            <a:ext cx="7406640" cy="438912"/>
          </a:xfrm>
          <a:prstGeom xmlns:a="http://schemas.openxmlformats.org/drawingml/2006/main" prst="roundRect">
            <a:avLst>
              <a:gd name="adj" fmla="val 2170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934970A-A61B-46EA-9059-D3F16C0B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1128" y="2761488"/>
            <a:ext cx="71780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датотеке које се тренутно мењају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F57A775-A5A5-44CD-9A49-BC3A13F0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" y="3090672"/>
            <a:ext cx="2377440" cy="438912"/>
          </a:xfrm>
          <a:prstGeom xmlns:a="http://schemas.openxmlformats.org/drawingml/2006/main" prst="roundRect">
            <a:avLst>
              <a:gd name="adj" fmla="val 2170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DDC06DF-0A41-45DF-939F-CA1D4144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688" y="3200400"/>
            <a:ext cx="2148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Staging area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80C080D-9436-4EBA-A935-A3B1149C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90672"/>
            <a:ext cx="7406640" cy="438912"/>
          </a:xfrm>
          <a:prstGeom xmlns:a="http://schemas.openxmlformats.org/drawingml/2006/main" prst="roundRect">
            <a:avLst>
              <a:gd name="adj" fmla="val 2170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751EDCD-0D5F-4DDA-BBB4-79953B15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1128" y="3200400"/>
            <a:ext cx="71780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избор садржаја за наредни commit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2431A8FC-F7AF-454B-8BD6-FB2A2371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" y="3529584"/>
            <a:ext cx="2377440" cy="438912"/>
          </a:xfrm>
          <a:prstGeom xmlns:a="http://schemas.openxmlformats.org/drawingml/2006/main" prst="roundRect">
            <a:avLst>
              <a:gd name="adj" fmla="val 2170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56137570-2AB8-4B87-9CA6-7BCA7334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688" y="3639312"/>
            <a:ext cx="2148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Commit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ACEA1CD6-86F8-4D41-B5D5-D43657AA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29584"/>
            <a:ext cx="7406640" cy="438912"/>
          </a:xfrm>
          <a:prstGeom xmlns:a="http://schemas.openxmlformats.org/drawingml/2006/main" prst="roundRect">
            <a:avLst>
              <a:gd name="adj" fmla="val 2170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1F133464-2FD9-4468-BB22-A74EA580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1128" y="3639312"/>
            <a:ext cx="71780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кохерентна промена са описом намере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1D8063A9-2F99-41D4-A53F-1947C411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" y="3968496"/>
            <a:ext cx="2377440" cy="438912"/>
          </a:xfrm>
          <a:prstGeom xmlns:a="http://schemas.openxmlformats.org/drawingml/2006/main" prst="roundRect">
            <a:avLst>
              <a:gd name="adj" fmla="val 2170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C2DAD7E-693F-4D6A-903D-52A48F2A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688" y="4078224"/>
            <a:ext cx="2148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Branch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F4A2A9D2-DD5D-4FDB-A12A-05B67402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68496"/>
            <a:ext cx="7406640" cy="438912"/>
          </a:xfrm>
          <a:prstGeom xmlns:a="http://schemas.openxmlformats.org/drawingml/2006/main" prst="roundRect">
            <a:avLst>
              <a:gd name="adj" fmla="val 2170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9AD6422F-0798-405E-BCDD-7409401C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1128" y="4078224"/>
            <a:ext cx="71780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издвојена линија развоја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F27FE70F-B256-4FD1-823D-65BB7BBF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" y="4407408"/>
            <a:ext cx="2377440" cy="438912"/>
          </a:xfrm>
          <a:prstGeom xmlns:a="http://schemas.openxmlformats.org/drawingml/2006/main" prst="roundRect">
            <a:avLst>
              <a:gd name="adj" fmla="val 2170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30777A0F-9354-4962-8CFB-1BB0A7CD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688" y="4517136"/>
            <a:ext cx="2148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Remote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D91C7241-79C6-4017-ABE9-97E728F1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407408"/>
            <a:ext cx="7406640" cy="438912"/>
          </a:xfrm>
          <a:prstGeom xmlns:a="http://schemas.openxmlformats.org/drawingml/2006/main" prst="roundRect">
            <a:avLst>
              <a:gd name="adj" fmla="val 2170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FDB3C0F1-E0C8-479A-95E5-CDD2C693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1128" y="4517136"/>
            <a:ext cx="71780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удаљени репозиторијум за размену промена</a:t>
            </a:r>
          </a:p>
        </p:txBody>
      </p:sp>
    </p:spTree>
    <p:extLst>
      <p:ext uri="{BB962C8B-B14F-4D97-AF65-F5344CB8AC3E}">
        <p14:creationId xmlns:p14="http://schemas.microsoft.com/office/powerpoint/2010/main" val="2907484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1E0C059-FFD4-4BCD-A09C-FD03162A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53AB0F1-BD42-43C1-83B9-81A6D6EB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89F62B1-35C3-47A9-AAE7-BAABD4CE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F083E2D-9975-429D-8895-92A9A00A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Пример малог развојног корака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499E325-B4A3-4A51-9510-F71FBD8D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Команде су део договореног поступка припреме и провере измене.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CD89768-80FA-4A2E-9AB7-64FBD827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21" y="2578608"/>
            <a:ext cx="5715000" cy="1947885"/>
          </a:xfrm>
          <a:prstGeom xmlns:a="http://schemas.openxmlformats.org/drawingml/2006/main" prst="roundRect">
            <a:avLst>
              <a:gd name="adj" fmla="val 4890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266FEE0-C8A3-485E-A1FC-A9E720BF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21" y="2926080"/>
            <a:ext cx="571500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BEC9"/>
          </a:solidFill>
          <a:ln xmlns:a="http://schemas.openxmlformats.org/drawingml/2006/main" w="9525">
            <a:solidFill>
              <a:srgbClr val="AFBEC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A8DE9453-806E-4EB5-A0E1-8FCE2B1B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6190" y="2697671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900F10C7-74C5-4ED1-A70B-493B9BEF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80" y="2697671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E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2C80A41F-ABA5-47D9-8D73-AB85839D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369" y="2697671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C4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C15FBF3-B1E2-4678-9840-8E8BF2C1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271" y="3054858"/>
            <a:ext cx="5448300" cy="2228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git status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git diff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3  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git add 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src</a:t>
            </a:r>
            <a:r>
              <a:rPr sz="1125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125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Application</a:t>
            </a:r>
            <a:r>
              <a:rPr sz="1125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125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ReservationService</a:t>
            </a:r>
            <a:r>
              <a:rPr sz="1125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cs</a:t>
            </a:r>
            <a:endParaRPr sz="1125">
              <a:solidFill>
                <a:srgbClr val="262B36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4  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git add tests</a:t>
            </a:r>
            <a:r>
              <a:rPr sz="1125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125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ReservationServiceTests</a:t>
            </a:r>
            <a:r>
              <a:rPr sz="1125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cs</a:t>
            </a:r>
            <a:endParaRPr sz="1125">
              <a:solidFill>
                <a:srgbClr val="262B36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5  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git diff </a:t>
            </a:r>
            <a:r>
              <a:rPr sz="1125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--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staged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6  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git commit </a:t>
            </a:r>
            <a:r>
              <a:rPr sz="1125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m </a:t>
            </a:r>
            <a:r>
              <a:rPr sz="1125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"Add reservation overlap rule"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7  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g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t push </a:t>
            </a:r>
            <a:r>
              <a:rPr sz="1125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u origin feature</a:t>
            </a:r>
            <a:r>
              <a:rPr sz="1125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reservation</a:t>
            </a:r>
            <a:r>
              <a:rPr sz="1125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overlap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91412EB-4CFD-4B68-A774-FE11ABCE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240280"/>
            <a:ext cx="3840480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НАПОМЕНЕ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13855949-8864-4E1F-898C-5A3FADE3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578608"/>
            <a:ext cx="388620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Пре commit-а прегледати припремљени diff.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Један commit треба да има једну кохерентну намеру.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Неповезане промене не иду у исти Pull Request.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Главна грана остаје стабилна за цео тим.</a:t>
            </a:r>
          </a:p>
        </p:txBody>
      </p:sp>
    </p:spTree>
    <p:extLst>
      <p:ext uri="{BB962C8B-B14F-4D97-AF65-F5344CB8AC3E}">
        <p14:creationId xmlns:p14="http://schemas.microsoft.com/office/powerpoint/2010/main" val="20346789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C8BFA43-3F6B-4006-8845-72ABAF30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21761DF-0787-4941-9BBC-8C30C647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A866ACD-7CE5-4C67-AB55-0C2D77F4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6D39EB0-149F-4CA0-BD6B-049D70AE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Pull Request и преглед измене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71AE252-BD65-4B22-8642-18384877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Преглед кода је обавезан део развојног поступка.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8010E66-88FC-4CFC-AF06-01E5F3FE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03C068C-76D9-4CA3-AB12-EDDA3996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33625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047B5F6-F7E6-47B6-B70C-99F405D1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Обим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472A819-2BC4-4B22-996A-AA997B54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52750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да ли промена решава тачну ставку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A2FD6332-8F1D-4FE2-B5EA-139A0BF8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09800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3455E27-300B-43F9-A8F7-8D7947A3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4F7340E-F77B-4ECD-B745-B50677BF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908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Архитектура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9202C36-C974-40CC-AE3E-6BC355D4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да ли се поштују договорене границе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CFC23F61-E6A2-4366-8DCD-ECB245E3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1925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8B7E502-74C3-41A3-81B0-C80E4B64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95750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7235EAF-1CD9-4CAD-9FA6-C171F603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52925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Тестови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98C5BE7-CBC7-4485-9337-D47730E9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14875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да ли постоји доказ провере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4A49231E-E5AC-4374-B810-0F41BC49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71925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EE43AD6-E6F3-42D5-901A-67EDD1E3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1B95C29B-5D35-4928-9592-FF6F6859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52925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Ризици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1A1724A3-44E8-4414-B430-54CE0864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14875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шта се мења и шта може поћи по злу</a:t>
            </a:r>
          </a:p>
        </p:txBody>
      </p:sp>
    </p:spTree>
    <p:extLst>
      <p:ext uri="{BB962C8B-B14F-4D97-AF65-F5344CB8AC3E}">
        <p14:creationId xmlns:p14="http://schemas.microsoft.com/office/powerpoint/2010/main" val="8878074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4E680FA-F3CD-4716-90BF-1339B29F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0F682B4-2CCD-4998-AB96-A27F4F1C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6C1CA9A-EC86-4196-989E-5CA57840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C0D3857-7081-4514-A120-40FCC795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Решавање конфликта при спајању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683A0AD-922A-410F-8236-0A4DAADA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Тим усаглашава очекивано понашање пре завршетка спајања.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C3BE7D5-BF4C-4012-AE5E-F7422B58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1857"/>
            <a:ext cx="5715000" cy="2001047"/>
          </a:xfrm>
          <a:prstGeom xmlns:a="http://schemas.openxmlformats.org/drawingml/2006/main" prst="roundRect">
            <a:avLst>
              <a:gd name="adj" fmla="val 4760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5BD5C48-BFA6-4D67-8F43-32981893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9329"/>
            <a:ext cx="571500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BEC9"/>
          </a:solidFill>
          <a:ln xmlns:a="http://schemas.openxmlformats.org/drawingml/2006/main" w="9525">
            <a:solidFill>
              <a:srgbClr val="AFBEC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4DAB81CB-7A15-489E-9799-13E8E7CF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4669" y="26309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C3087797-CFB2-4F0E-B8EA-911F38CB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9259" y="26309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E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E42E2808-832F-418E-BCC3-A45F9C69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3848" y="26309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C4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8A67DBA-E473-4C8C-8CD8-A6C7547C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88107"/>
            <a:ext cx="5448300" cy="2228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git checkout main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git pull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3  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git checkout feature</a:t>
            </a:r>
            <a:r>
              <a:rPr sz="1125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reservation</a:t>
            </a:r>
            <a:r>
              <a:rPr sz="1125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overlap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4  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git merge main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5  </a:t>
            </a:r>
            <a:r>
              <a:rPr sz="1125">
                <a:solidFill>
                  <a:srgbClr val="55845A"/>
                </a:solidFill>
                <a:latin typeface="Consolas"/>
                <a:ea typeface="Consolas"/>
                <a:cs typeface="Consolas"/>
              </a:rPr>
              <a:t># решити конфликт и прегледати diff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6  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git add src</a:t>
            </a:r>
            <a:r>
              <a:rPr sz="1125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125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Application</a:t>
            </a:r>
            <a:r>
              <a:rPr sz="1125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125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ReservationService</a:t>
            </a:r>
            <a:r>
              <a:rPr sz="1125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cs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7  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git commit </a:t>
            </a:r>
            <a:r>
              <a:rPr sz="1125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m </a:t>
            </a:r>
            <a:r>
              <a:rPr sz="1125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"Resolve reservation rule conflict"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8  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dotnet test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2E9E001-2E22-45E7-837F-BF5017F8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240280"/>
            <a:ext cx="3840480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НАПОМЕНЕ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7013708-FC78-47E4-86CF-EA51E7BD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578608"/>
            <a:ext cx="388620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Одлучити које понашање мора да остане.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Последњи корак је провера да систем и даље ради.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Force push није уобичајен ток на дељеним гранама.</a:t>
            </a:r>
          </a:p>
        </p:txBody>
      </p:sp>
    </p:spTree>
    <p:extLst>
      <p:ext uri="{BB962C8B-B14F-4D97-AF65-F5344CB8AC3E}">
        <p14:creationId xmlns:p14="http://schemas.microsoft.com/office/powerpoint/2010/main" val="171823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FB2400D-34AA-49E8-882F-4ADC10C2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E3D3E3F-E90E-49BC-9CB0-38880E7D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222D32D-087B-4519-9363-6A972215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F3C8899-4F27-4569-A0D7-52126185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Контролна тачка P1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3C6FD43-7C98-4C99-9BA1-540F5DD9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После Вежбе 2, недеља од 19.10: проблем, backlog и развојни ток у репозиторијуму.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60519446-7006-4334-B805-84B6F9DD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0A22AC7-BBC8-4EE3-B35B-F8FA3FE8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33625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026238C-CF01-436E-AAA7-15A73504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Репозиторијум и README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43CBD03-EBF6-42AD-9255-E9740309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52750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README и приступ свих чланова тима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58655E3-92DB-4546-9FC0-48C3341D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09800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4FF5065-EE3E-4529-8EE8-FAEC35E2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F524162-81F2-4717-9E72-2B3C35C0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908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Backlog у Tapiz Boards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BBCF2ED-5445-4603-9C01-E58D1522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приоритети и критеријуми прихватања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455A00B3-235A-48A2-9E22-2E4312E1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1925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B598E15-B2EF-4328-9E3C-770A3F51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95750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D84F83FF-AC4D-4690-B820-95D0857A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52925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Pull request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5EB8678-AF7D-402A-B588-DA2F475D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14875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преглед измена и образложени коментари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306A5792-B15C-422D-AD1F-22D9215C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71925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30F7658-5E48-4597-BCCB-B24E3D92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B841B65-F169-4B3F-B5F7-180943EE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52925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Договорени ток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EC158D0-FDD5-4E30-9BCE-123B7968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14875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од Backlog до Done, кроз Review и QA</a:t>
            </a:r>
          </a:p>
        </p:txBody>
      </p:sp>
    </p:spTree>
    <p:extLst>
      <p:ext uri="{BB962C8B-B14F-4D97-AF65-F5344CB8AC3E}">
        <p14:creationId xmlns:p14="http://schemas.microsoft.com/office/powerpoint/2010/main" val="8291660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90B63D8-6DF1-41D4-B396-AA6995C0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C88BDCF-596F-4B87-A405-F969563E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2D498F1-9E48-44C5-B8C1-3E29F36F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16BA577-585F-4F69-8229-744C60E1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Одговорност студента при употреби AI алата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460BDB7-E936-41DB-8817-245367A0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AI алати су дозвољени уз проверљив лични допринос и разумевање решења.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A8C5686-D4C1-4A91-8720-1EB0365C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1720"/>
            <a:ext cx="47625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ПОТРЕБНО ЈЕ РАЗГРАНИЧИТИ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7F7AAA4-CC4C-4A31-B917-6147A933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7480"/>
            <a:ext cx="476250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сопствени рад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рад осталих чланова тима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садржај добијен спољним алатима</a:t>
            </a:r>
          </a:p>
        </p:txBody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8FC3E92E-62D7-4272-B07C-4331C2E0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1720"/>
            <a:ext cx="0" cy="32004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C89D09E-CBBA-4B34-BF1A-07B3390C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1720"/>
            <a:ext cx="47625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РЕЛЕВАНТАН ДОКАЗ РАДА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249B669-1FEB-48C1-8512-88BF6252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97480"/>
            <a:ext cx="476250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репозиторијум и историја измена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тестови и документација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евиденција употребе AI алата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самостално образложење</a:t>
            </a:r>
          </a:p>
        </p:txBody>
      </p:sp>
    </p:spTree>
    <p:extLst>
      <p:ext uri="{BB962C8B-B14F-4D97-AF65-F5344CB8AC3E}">
        <p14:creationId xmlns:p14="http://schemas.microsoft.com/office/powerpoint/2010/main" val="88823348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68EEE03-97C0-4C68-8F54-690DACB4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D87B101-9009-4EEC-9442-B81A1FE2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6B09176-6A91-4D8D-83C6-FA9B3F1E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47C4C8F-DDAB-4FA8-AA38-81B8A887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Tapiz Boards као договор о процесу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A0C4E5D-8F27-4E03-8D7F-AD0F0224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Табла приказује ток рада од идеје до прихваћене промене.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A66CE8D6-802E-440F-9FE8-00451242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6858000" cy="3505200"/>
          </a:xfrm>
          <a:prstGeom xmlns:a="http://schemas.openxmlformats.org/drawingml/2006/main" prst="roundRect">
            <a:avLst>
              <a:gd name="adj" fmla="val 2717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E020F70-9922-4F60-BA45-14DFAD62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43175"/>
            <a:ext cx="685800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EE4BA23-2F18-432F-A0C8-3FF5A15E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263" y="224236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Tapiz Boards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2C7806D-14D6-443A-93BA-39315F91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1504950" cy="2514600"/>
          </a:xfrm>
          <a:prstGeom xmlns:a="http://schemas.openxmlformats.org/drawingml/2006/main" prst="roundRect">
            <a:avLst>
              <a:gd name="adj" fmla="val 632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5AC520F-FB22-44E9-AF81-724FAFB8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14650"/>
            <a:ext cx="1276350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63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To do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186EF244-01CB-4E38-9450-05C8B820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38500"/>
            <a:ext cx="12763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78CAF06-742D-4C41-A227-3717B830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33750"/>
            <a:ext cx="1123950" cy="7920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13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US-05
Резервација опреме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B0FCA1BF-339A-4815-919A-B4934C9E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71950"/>
            <a:ext cx="12763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492A8CC-2C37-41A7-BC01-EE020896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76725"/>
            <a:ext cx="1123950" cy="4080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38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Validacija termina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59451191-30A3-4F7D-9FAC-27591F60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81300"/>
            <a:ext cx="1504950" cy="2514600"/>
          </a:xfrm>
          <a:prstGeom xmlns:a="http://schemas.openxmlformats.org/drawingml/2006/main" prst="roundRect">
            <a:avLst>
              <a:gd name="adj" fmla="val 632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331497E2-C78C-4EE3-9738-CD32FD54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914650"/>
            <a:ext cx="1276350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63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U radu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7F5BC2CA-3AC6-4711-B89C-35E83BCB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238500"/>
            <a:ext cx="12763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BFDCC4C-6064-4A77-A9BF-ED7E6325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33750"/>
            <a:ext cx="1123950" cy="7920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13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Sprečiti preklapanje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76F2611C-B95C-4161-BFDD-50F0F226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171950"/>
            <a:ext cx="12763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5A0C8A14-33B9-4013-9601-B13552D9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276725"/>
            <a:ext cx="11239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38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Unit testovi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43AE7639-EBEF-40C1-9BD4-683FF25F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81300"/>
            <a:ext cx="1504950" cy="2514600"/>
          </a:xfrm>
          <a:prstGeom xmlns:a="http://schemas.openxmlformats.org/drawingml/2006/main" prst="roundRect">
            <a:avLst>
              <a:gd name="adj" fmla="val 632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E58D9703-BF67-4107-B0A6-D16376EA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14650"/>
            <a:ext cx="1276350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63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Pregled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35343142-5861-46C5-972F-7521C58C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38500"/>
            <a:ext cx="12763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44DE442A-A641-45C6-A653-6E386186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33750"/>
            <a:ext cx="112395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13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Repository ugovor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B2F3F0AC-E102-4545-8235-D16F5127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71950"/>
            <a:ext cx="12763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9E51517C-D4F1-434C-BD17-5B9BCCEB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76725"/>
            <a:ext cx="1123950" cy="4080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38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build ✓ testovi ✓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B8095096-4308-4D24-80D5-0C02A155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81300"/>
            <a:ext cx="1504950" cy="2514600"/>
          </a:xfrm>
          <a:prstGeom xmlns:a="http://schemas.openxmlformats.org/drawingml/2006/main" prst="roundRect">
            <a:avLst>
              <a:gd name="adj" fmla="val 632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29918BDE-05B3-492E-A5EA-AEAE030C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14650"/>
            <a:ext cx="1276350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63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Završeno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FF000881-CEB8-402C-9F3C-A7CBD457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38500"/>
            <a:ext cx="12763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75A34BF1-8CA8-44F1-8443-8B8F20F5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33750"/>
            <a:ext cx="112395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13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Domain model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3E9DCE74-9763-483B-AF83-58EA36D8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171950"/>
            <a:ext cx="12763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9E16F1FA-9587-4536-8EF7-F2F28745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76725"/>
            <a:ext cx="1123950" cy="4080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38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README dopuna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69F13831-BC60-4A3B-B02B-EC9DFA66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Како се чита табла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970BDCB4-56D0-48D0-9071-2035A5E8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3181350" cy="2876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</a:pPr>
            <a:r>
              <a:rPr sz="1313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Колоне показују стварно стање рада, не жељу тима.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</a:pPr>
            <a:r>
              <a:rPr sz="1313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Картица треба да има опис, приоритет, assignee и критеријуме прихватања.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</a:pPr>
            <a:r>
              <a:rPr sz="1313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Веза са PR-ом и тестовима показује да је промена проверљива.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</a:pPr>
            <a:r>
              <a:rPr sz="1313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Done значи прихваћено по Definition of Done, не само померено у последњу колону.</a:t>
            </a:r>
          </a:p>
        </p:txBody>
      </p:sp>
    </p:spTree>
    <p:extLst>
      <p:ext uri="{BB962C8B-B14F-4D97-AF65-F5344CB8AC3E}">
        <p14:creationId xmlns:p14="http://schemas.microsoft.com/office/powerpoint/2010/main" val="131727067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A848CB2-F17C-48BC-84C4-A2B9FB7B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683121E-3F25-4195-9936-9AC80B0B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784333F-FC47-442D-BEA1-6659C780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E53CD8D-3E24-4C1B-B79C-25085AE6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Ток од backlog ставке до интеграције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333DC30-FF95-4932-BC5D-D07428DA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Сваки корак оставља проверљив траг рада тима.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BD3E2C44-B5DF-419F-8784-84EB777C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" y="2788920"/>
            <a:ext cx="1508760" cy="694944"/>
          </a:xfrm>
          <a:prstGeom xmlns:a="http://schemas.openxmlformats.org/drawingml/2006/main" prst="roundRect">
            <a:avLst>
              <a:gd name="adj" fmla="val 1370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8874AAE-2785-4FEE-826A-0DC47F0C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532" y="2999232"/>
            <a:ext cx="1353312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Story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41898EC-9417-419F-8E28-5843E2F8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" y="3630168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опис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0882311-D7BA-4F29-8463-DAD5AFCD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580" y="2990088"/>
            <a:ext cx="320040" cy="2633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607D9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9D1B7E35-5897-4647-8548-46B46914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88920"/>
            <a:ext cx="1508760" cy="694944"/>
          </a:xfrm>
          <a:prstGeom xmlns:a="http://schemas.openxmlformats.org/drawingml/2006/main" prst="roundRect">
            <a:avLst>
              <a:gd name="adj" fmla="val 1370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6C10C1C-9B29-43D6-8228-47DCE5AC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652" y="2999232"/>
            <a:ext cx="1353312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Branch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6C34764-4F2F-4342-BB1A-057DB851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060" y="3630168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рад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2F3064C-57AD-4C3F-BDA3-E28DF990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90088"/>
            <a:ext cx="320040" cy="2633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607D9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97D37806-2142-4656-971F-3D08BDDF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620" y="2788920"/>
            <a:ext cx="1508760" cy="694944"/>
          </a:xfrm>
          <a:prstGeom xmlns:a="http://schemas.openxmlformats.org/drawingml/2006/main" prst="roundRect">
            <a:avLst>
              <a:gd name="adj" fmla="val 1370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A7D2AC4-B9EF-4B44-BE36-2AC79F8D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772" y="2999232"/>
            <a:ext cx="1353312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Commit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3A2A100-C8F0-4564-B380-B6C9DD9D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3630168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намера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A1B507F-D5AD-4545-85D9-0C0BEEE8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1820" y="2990088"/>
            <a:ext cx="320040" cy="2633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607D9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4981252C-8FAE-4753-B3BD-B747C694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4740" y="2788920"/>
            <a:ext cx="1508760" cy="694944"/>
          </a:xfrm>
          <a:prstGeom xmlns:a="http://schemas.openxmlformats.org/drawingml/2006/main" prst="roundRect">
            <a:avLst>
              <a:gd name="adj" fmla="val 1370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63299CAC-D362-4A04-9FAA-E5D5949D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892" y="2999232"/>
            <a:ext cx="1353312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PR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9593EA3D-4285-4115-867E-581FF3BC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30168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преглед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AD219645-E3FC-4F29-8C8B-E5A77612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4940" y="2990088"/>
            <a:ext cx="320040" cy="2633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607D9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F4C344A0-4867-4566-BDED-51D00B69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7860" y="2788920"/>
            <a:ext cx="1508760" cy="694944"/>
          </a:xfrm>
          <a:prstGeom xmlns:a="http://schemas.openxmlformats.org/drawingml/2006/main" prst="roundRect">
            <a:avLst>
              <a:gd name="adj" fmla="val 1370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B840D1E-DBDF-4353-A96E-8658ACB0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1012" y="2999232"/>
            <a:ext cx="1353312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DB669CBC-8838-401F-822E-D9CD755B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420" y="3630168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доказ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5EDE30E3-D2A9-4C67-9F43-1C1F2688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103632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855143D0-634E-4705-954E-12FF6B00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6730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BA5620B-F187-42C4-A884-832B037C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292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НАПОМЕНА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5BB7E2E2-7018-40ED-AA69-D9B5DE12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76850"/>
            <a:ext cx="960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Професионални развојни ток повезује алате, договорени процес и проверу резултата.</a:t>
            </a:r>
          </a:p>
        </p:txBody>
      </p:sp>
    </p:spTree>
    <p:extLst>
      <p:ext uri="{BB962C8B-B14F-4D97-AF65-F5344CB8AC3E}">
        <p14:creationId xmlns:p14="http://schemas.microsoft.com/office/powerpoint/2010/main" val="79115997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FEB9F04-16C5-4187-B09B-174E1953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DAEEB52-0DDC-4A63-98FA-CA114178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FE7C4AB-9FF5-4E9C-BF1C-F3E582E7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FB0C1A4-163A-4C9A-902C-41B9EAE5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Провера пре предаје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A0AAFFE-C6D1-4F66-9A8B-5E818D56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Тим проверава основне услове пре означавања рада као завршеног.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A384661-6A97-49F3-B09D-E2860F5A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40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A11FCEF-B66E-4A26-A3E0-26A6156B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40280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Да ли је ставка повезана са граном или Pull Request-ом?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A8A4487-5968-4ABE-B40E-97C8C989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0720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D98E5AF-6E5E-46E9-81F1-7DE2A0FE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0720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Да ли критеријуми прихватања имају видљиву проверу?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2F8E8B2-2ACB-4812-A847-7D954CDC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74136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3843210-EA47-406F-BFB3-72FFE970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74136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Да ли diff садржи само релевантне измене?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4F05898-0573-48C9-A1A6-085CA0E7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41064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0950B74-4327-4395-842A-DD9DCF8E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41064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Да ли је главна грана стабилна?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A6633A44-CE17-472B-BAB1-7AE05635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07992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0AD3CDB-8A67-4152-9DC6-48BCC84A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07992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Да ли сваки члан може да објасни свој допринос?</a:t>
            </a:r>
          </a:p>
        </p:txBody>
      </p:sp>
    </p:spTree>
    <p:extLst>
      <p:ext uri="{BB962C8B-B14F-4D97-AF65-F5344CB8AC3E}">
        <p14:creationId xmlns:p14="http://schemas.microsoft.com/office/powerpoint/2010/main" val="69563739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C851E80-39F8-415B-BDB9-00EC9A0B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B3863B2-8FDE-4091-9B08-1BE573E5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3F0BCA0-0C0C-4860-AA29-85A217E0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1ACAD8D-372E-4E6A-9B5E-E333D2AB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Резиме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13AECDC-43F6-4829-BE4E-C6DCA8EC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Циљ прве вежбе је успостављање дисциплинованог и следљивог развојног поступка.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ECE2C5C-2F6B-4E32-9153-2E7E1181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23160"/>
            <a:ext cx="8229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Професионалан тимски рад почиње када се захтев може пратити до кода, теста, review-а и интеграције.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04F1FC3-0F98-4E69-A373-D7656726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377236"/>
            <a:ext cx="694944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37F4C60A-5442-4F5B-9D2A-6D9A66C1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03632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8D83C72-5759-433C-892F-38BCB83E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C15B4D6-4C3C-4AF6-8FB5-71E15AE8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81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НАПОМЕНА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992F1D2-7895-4D97-BD3F-83DC1B58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960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Ови резултати представљају основу за наредне вежбе.</a:t>
            </a:r>
          </a:p>
        </p:txBody>
      </p:sp>
    </p:spTree>
    <p:extLst>
      <p:ext uri="{BB962C8B-B14F-4D97-AF65-F5344CB8AC3E}">
        <p14:creationId xmlns:p14="http://schemas.microsoft.com/office/powerpoint/2010/main" val="65502445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B27DD8A-D6AE-4749-B00A-15015381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05A9E6C-79E8-49E2-8426-32BE76BE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88E4E48-93E9-4499-9FA0-54B07A05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707F7C4-B99D-42EB-811B-4746BBB4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Типични пропусти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0248401-C10B-44B2-9E25-209C4026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Наведени пропусти нарушавају следљивост и отежавају проверу рада.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96BEB36-BA73-4648-846A-B2037A5C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1B40523-F6C4-432A-97F7-9014FF50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33625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20F2325-C042-49B4-A200-02DDF00B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Нејасан Story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09DCBFE-9A01-4822-8198-9902810E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52750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није јасно ко добија вредност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60F6965C-151D-4584-A572-7F6FF8E6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09800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359A960-BA43-4A50-A807-56D7446F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6C73D4B-CEB9-4A5B-9190-C5FBA3E7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908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Без критеријума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61C8647-73EB-41CE-BDB5-F843C4F9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не зна се када је завршено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23E75A53-9B1B-4F1B-AE31-D45C26C6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1925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005FC54D-4753-4586-A52F-C51E8EDA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95750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3F83266-AB2D-469E-A2A7-2ACB03B0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52925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Велики PR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D0DF984-4DA7-4AB8-8F07-50FF9F80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14875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review губи фокус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F8599691-62F9-4109-940A-75B5B150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71925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1DBF2B3-0DAC-4345-BE34-EFA1BBB8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104B9BEE-B960-4E7B-AC72-C2BF91C6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52925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Без доказа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9BFD328D-B154-48A0-BD95-38C2B13B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14875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нема теста, diff-а или објашњења</a:t>
            </a:r>
          </a:p>
        </p:txBody>
      </p:sp>
    </p:spTree>
    <p:extLst>
      <p:ext uri="{BB962C8B-B14F-4D97-AF65-F5344CB8AC3E}">
        <p14:creationId xmlns:p14="http://schemas.microsoft.com/office/powerpoint/2010/main" val="165826991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667E783-7118-4DC1-8B4D-AF059B2D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DA7D748-1A2E-4426-A07B-1CDD91E2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7579151-FF4E-4A15-B065-FEC582AE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C4185A4-4235-4942-82A6-D68587EE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396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Припрема за наредну вежбу</a:t>
            </a:r>
            <a:endParaRPr sz="2550" b="1">
              <a:solidFill>
                <a:srgbClr val="1B202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EAF3CCA-273B-477E-A268-D47756F5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Резултати прве вежбе користе се у даљем раду на пројекту.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E36D6BE-7176-49C6-9D4B-46360186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40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D36383B-D455-4502-9086-86EF7115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40280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Написати User Story за једну ставку пројектног домена.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6A87530-A2E1-499F-820C-81CD6728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0720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F37B3E8-FE27-46A9-8326-C4A334E5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0720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Додати успешне, негативне и граничне критеријуме прихватања.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334FF55-7DFC-4EC1-8B5F-A80D2305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74136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EA96A44-5EC5-4F5C-B737-C8FD4DFB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74136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Увести ставку у Tapiz ток и радити преко feature гране.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72E061A-4502-4177-8FD5-72226AD1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41064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8D9D392-F2B5-4F60-B69F-90D365E9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41064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Отворити Pull Request са доказом провере.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5DE1722-9237-4CFB-B1AC-C5239AFD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07992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8C5BF44-B281-4D68-9FD1-ED6B4EC5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07992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Објаснити цео пут од захтева до интегрисане промене.</a:t>
            </a:r>
          </a:p>
        </p:txBody>
      </p:sp>
    </p:spTree>
    <p:extLst>
      <p:ext uri="{BB962C8B-B14F-4D97-AF65-F5344CB8AC3E}">
        <p14:creationId xmlns:p14="http://schemas.microsoft.com/office/powerpoint/2010/main" val="201883609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2026-09-29T18:47:00.8950000Z</dcterms:created>
  <dcterms:modified xsi:type="dcterms:W3CDTF">2026-09-29T18:47:00.8950000Z</dcterms:modified>
</coreProperties>
</file>