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29DF9D-2A61-4046-911D-A20D583589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9AC10B-7F9B-4DA9-9E5B-3FEF4EA7C8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5C0D38-CB7F-4F96-B4FD-C8419C04722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66E36D-6D3C-47E8-8367-BA42D18A05A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9B66A2-C49D-4725-856E-1B8A7C1D1A6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0212FB-A59D-42FE-8F40-E513F0309E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083509-9585-4E84-84C2-80D37E48E9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718710-AB5C-4025-B2E4-79595D0742C6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1EB652-1147-48CA-AF84-4B443927F57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C4D8E4-6C6A-475E-A685-E0E36D5C400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D0117B-E7DA-48D1-97FD-DC4F9683EB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buNone/>
              <a:defRPr sz="4000" b="1" cap="all"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F15339-7C49-4829-85FB-B1D8C05DBF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EF4F8D-ECC9-4496-8CF8-538E14AC4457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43B221-2F4E-4DAC-A444-18729590D893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9D5564-FA23-437D-9B75-4808407C791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680A56-910C-486B-A449-E5DA639E6B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9D8298-CA7B-4F6B-A728-781C3C0C86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3A7BFD-66B7-4F1C-9642-4C1A65E1493A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BCF57C-16EB-4CC3-9B85-7EC7BB13F43A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9/28/26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CB66C6-A762-4D9E-AC73-0AB582CFF49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600440-139D-4ED7-AC46-6D4955E6FE5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8D9E9F-4C74-487A-8832-0B89718B82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FD0CD4-4C53-47F3-AF77-4AC25F5CCF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061870-5611-4932-88DD-B4B7FFF00263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C5563AC-2189-42E7-A0A0-E04BF64A5503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367B4E1-05E0-4063-AC77-CA7B40CC8FF0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7F9A47E-A706-41BD-B0AE-78C5402F39F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9/28/26</a:t>
            </a:fld>
            <a:endParaRPr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BA9143A-F311-42C5-A6F0-3BFB5EC0EFE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E54A767-A313-4ACE-A390-F9EE3620E03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5BEC20-7717-4211-9C2A-FE2BE02219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7909A5A-C1C8-4288-921D-0FA1EDC2051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9/28/26</a:t>
            </a:fld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5B78B4F-7D6F-4EEA-B539-9F80DB1D478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7055E7-7269-424D-9B90-069DA1E20A2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E3D037-2917-4C3E-B992-01FEE3D08B19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9/28/26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2F3356C-DB78-4D6D-9C9B-0D0FCDCA233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65263E-6699-4C4E-827A-1403C4D9041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6622F2-2E3D-4A15-95B0-65DD55C2F6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buNone/>
              <a:defRPr sz="2000" b="1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5E6A8D-9312-4846-9B99-08A7579391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F7D520-5683-4160-B812-1B7099AD8CB7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51916F-9202-412D-B621-8FBDF0ECE4E7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9/28/26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76D6AA-9044-4ADA-AB4C-B32FEE3C6053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71B473-B53F-4D3D-8EDE-B727B8C0B5C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B81899-548E-44F7-9944-03AED0E867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buNone/>
              <a:defRPr sz="2000" b="1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A78F0F1-915D-4996-A325-4A9AC327222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B1187E-EEAB-4FF7-BD7F-153C21E4704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A5DD382-CC18-4D35-94ED-6D2A83600ED7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9/28/26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88AAA6-793D-4DCD-B7D2-C340BE07ED6B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36D4F8-0F62-412D-812D-4D279555308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A667E3-979D-4B0C-B283-2D7356F841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CB59BC-7C0F-4321-A33B-89EA308C7F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1BC5A5-53E2-44D2-8207-495C497AB48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F66770-6DCF-4BE8-8232-13F5B50CFA13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B45D88-1C85-4F8A-BBAD-E5D8909BD10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2B58605-8F32-4345-A3FD-AD0DE87DE2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4A61D0-4B1A-4ED4-98C2-DA7480961D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29433B-674A-42F4-BA07-AE8A829A6AB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282A70-1CAC-404A-B34E-E8BF5C0CB6C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187B22-027B-47E9-BA63-8A79B3F4AAD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2C6BF78-8E74-4C64-BAAD-997387094F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5D412F-5B1C-4382-A565-7DC0ABE680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2DDE35-3F52-4150-8F9D-CB9255521E32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6F8287-BD7A-43BF-8BDF-0C9097CE1EEB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B1CCCE-55F5-4736-8861-9BC6A5AA2036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3E9A8D69-A4F1-417E-9863-82D062E9B6E2}"/>
              </a:ext>
            </a:extLst>
          </p:cNvPr>
          <p:cNvSpPr>
            <a:spLocks noGrp="1"/>
          </p:cNvSpPr>
          <p:nvPr/>
        </p:nvSpPr>
        <p:spPr>
          <a:xfrm>
            <a:off x="914400" y="590550"/>
            <a:ext cx="7810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47084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F16CD144-F798-4F14-AD86-18CE52091BA4}"/>
              </a:ext>
            </a:extLst>
          </p:cNvPr>
          <p:cNvSpPr>
            <a:spLocks noGrp="1"/>
          </p:cNvSpPr>
          <p:nvPr/>
        </p:nvSpPr>
        <p:spPr>
          <a:xfrm>
            <a:off x="914400" y="1009650"/>
            <a:ext cx="10363200" cy="9525"/>
          </a:xfrm>
          <a:prstGeom prst="line">
            <a:avLst/>
          </a:prstGeom>
          <a:noFill/>
          <a:ln w="8573">
            <a:solidFill>
              <a:srgbClr val="7F8B9B"/>
            </a:solidFill>
            <a:prstDash val="solid"/>
          </a:ln>
        </p:spPr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816959AF-DFEC-468E-BEA6-E7386A96D657}"/>
              </a:ext>
            </a:extLst>
          </p:cNvPr>
          <p:cNvSpPr>
            <a:spLocks noGrp="1"/>
          </p:cNvSpPr>
          <p:nvPr/>
        </p:nvSpPr>
        <p:spPr>
          <a:xfrm>
            <a:off x="914400" y="1438275"/>
            <a:ext cx="647700" cy="66675"/>
          </a:xfrm>
          <a:prstGeom prst="roundRect">
            <a:avLst>
              <a:gd name="adj" fmla="val 50000"/>
            </a:avLst>
          </a:prstGeom>
          <a:solidFill>
            <a:srgbClr val="315CF4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C6A4F44-71CB-4605-8F7C-09EBB6147DBC}"/>
              </a:ext>
            </a:extLst>
          </p:cNvPr>
          <p:cNvSpPr>
            <a:spLocks noGrp="1"/>
          </p:cNvSpPr>
          <p:nvPr/>
        </p:nvSpPr>
        <p:spPr>
          <a:xfrm>
            <a:off x="914400" y="1790700"/>
            <a:ext cx="10096500" cy="1485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94000"/>
              </a:lnSpc>
              <a:buNone/>
              <a:defRPr sz="360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Захтеви, backlog, Git и тимски развој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95B9B21-065B-4351-87F9-DC00EA6EC2DB}"/>
              </a:ext>
            </a:extLst>
          </p:cNvPr>
          <p:cNvSpPr>
            <a:spLocks noGrp="1"/>
          </p:cNvSpPr>
          <p:nvPr/>
        </p:nvSpPr>
        <p:spPr>
          <a:xfrm>
            <a:off x="933450" y="3562350"/>
            <a:ext cx="933450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4000"/>
              </a:lnSpc>
              <a:buNone/>
              <a:defRPr sz="1725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647084"/>
                </a:solidFill>
                <a:latin typeface="Aptos"/>
                <a:ea typeface="Aptos"/>
                <a:cs typeface="Aptos"/>
              </a:rPr>
              <a:t>Пословна потреба постаје проверљива промена у систему</a:t>
            </a:r>
          </a:p>
        </p:txBody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BAEB227C-E824-4712-B749-D2615A7FB239}"/>
              </a:ext>
            </a:extLst>
          </p:cNvPr>
          <p:cNvSpPr>
            <a:spLocks noGrp="1"/>
          </p:cNvSpPr>
          <p:nvPr/>
        </p:nvSpPr>
        <p:spPr>
          <a:xfrm>
            <a:off x="914400" y="5286375"/>
            <a:ext cx="10363200" cy="9525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392ED5E-39C4-4DC3-9C73-7609FF690D37}"/>
              </a:ext>
            </a:extLst>
          </p:cNvPr>
          <p:cNvSpPr>
            <a:spLocks noGrp="1"/>
          </p:cNvSpPr>
          <p:nvPr/>
        </p:nvSpPr>
        <p:spPr>
          <a:xfrm>
            <a:off x="914400" y="5581650"/>
            <a:ext cx="40005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ПСИ · 5. семестар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1A79A78-87CA-4004-AA5C-4C1746C72C6A}"/>
              </a:ext>
            </a:extLst>
          </p:cNvPr>
          <p:cNvSpPr>
            <a:spLocks noGrp="1"/>
          </p:cNvSpPr>
          <p:nvPr/>
        </p:nvSpPr>
        <p:spPr>
          <a:xfrm>
            <a:off x="8096250" y="5581650"/>
            <a:ext cx="31813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200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7084"/>
                </a:solidFill>
                <a:latin typeface="Aptos"/>
                <a:ea typeface="Aptos"/>
                <a:cs typeface="Aptos"/>
              </a:rPr>
              <a:t>Академска 2026/27</a:t>
            </a:r>
          </a:p>
        </p:txBody>
      </p:sp>
    </p:spTree>
    <p:extLst>
      <p:ext uri="{BB962C8B-B14F-4D97-AF65-F5344CB8AC3E}">
        <p14:creationId xmlns:p14="http://schemas.microsoft.com/office/powerpoint/2010/main" val="1769343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A7E21C2-E776-487F-9F29-70F9FAD88529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2F18987-3A4A-4C6E-8200-6BBB9F521780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5DE552-2CB0-4B01-A2FC-3A24999A6240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5D751E-F463-4032-B2C4-7DB46466B8A1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Развојни ток је једна повезана целина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EAACDB-DF6F-4CE3-A8AC-FE8ECFA10FB5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Захтев, планирање рада и Git не треба посматрати као одвојене теме.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59986A6-DCAF-4283-BC19-D52219D7683C}"/>
              </a:ext>
            </a:extLst>
          </p:cNvPr>
          <p:cNvSpPr>
            <a:spLocks noGrp="1"/>
          </p:cNvSpPr>
          <p:nvPr/>
        </p:nvSpPr>
        <p:spPr>
          <a:xfrm>
            <a:off x="1135380" y="2788920"/>
            <a:ext cx="1508760" cy="694944"/>
          </a:xfrm>
          <a:prstGeom prst="roundRect">
            <a:avLst>
              <a:gd name="adj" fmla="val 12000"/>
            </a:avLst>
          </a:prstGeom>
          <a:solidFill>
            <a:srgbClr val="F7F8FA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F1A6AE3-2739-4BF6-B016-E6D9D5D3373F}"/>
              </a:ext>
            </a:extLst>
          </p:cNvPr>
          <p:cNvSpPr>
            <a:spLocks noGrp="1"/>
          </p:cNvSpPr>
          <p:nvPr/>
        </p:nvSpPr>
        <p:spPr>
          <a:xfrm>
            <a:off x="1208532" y="2999232"/>
            <a:ext cx="1353312" cy="2715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Потреба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2E117C5-F7C1-4B54-A222-FF7670C1B9F1}"/>
              </a:ext>
            </a:extLst>
          </p:cNvPr>
          <p:cNvSpPr>
            <a:spLocks noGrp="1"/>
          </p:cNvSpPr>
          <p:nvPr/>
        </p:nvSpPr>
        <p:spPr>
          <a:xfrm>
            <a:off x="1043940" y="3630168"/>
            <a:ext cx="1691640" cy="4777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корисничка вредност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6C8C4B4-432A-43CC-BA76-9A802B62ACFD}"/>
              </a:ext>
            </a:extLst>
          </p:cNvPr>
          <p:cNvSpPr>
            <a:spLocks noGrp="1"/>
          </p:cNvSpPr>
          <p:nvPr/>
        </p:nvSpPr>
        <p:spPr>
          <a:xfrm>
            <a:off x="2735580" y="2990088"/>
            <a:ext cx="320040" cy="2633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5D6878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9BF20CF4-A630-4201-A2F9-2518D9FEB8A1}"/>
              </a:ext>
            </a:extLst>
          </p:cNvPr>
          <p:cNvSpPr>
            <a:spLocks noGrp="1"/>
          </p:cNvSpPr>
          <p:nvPr/>
        </p:nvSpPr>
        <p:spPr>
          <a:xfrm>
            <a:off x="3238500" y="2788920"/>
            <a:ext cx="1508760" cy="694944"/>
          </a:xfrm>
          <a:prstGeom prst="roundRect">
            <a:avLst>
              <a:gd name="adj" fmla="val 12000"/>
            </a:avLst>
          </a:prstGeom>
          <a:solidFill>
            <a:srgbClr val="F4F7FF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2D986DD-27BC-4B01-8BA4-95E35D18D18C}"/>
              </a:ext>
            </a:extLst>
          </p:cNvPr>
          <p:cNvSpPr>
            <a:spLocks noGrp="1"/>
          </p:cNvSpPr>
          <p:nvPr/>
        </p:nvSpPr>
        <p:spPr>
          <a:xfrm>
            <a:off x="3311652" y="2999232"/>
            <a:ext cx="1353312" cy="2715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backlog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B8E1EB2-13FE-4C79-B306-CF084947181B}"/>
              </a:ext>
            </a:extLst>
          </p:cNvPr>
          <p:cNvSpPr>
            <a:spLocks noGrp="1"/>
          </p:cNvSpPr>
          <p:nvPr/>
        </p:nvSpPr>
        <p:spPr>
          <a:xfrm>
            <a:off x="3147060" y="3630168"/>
            <a:ext cx="1691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опис и критеријуми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7BD5E8C-E865-4152-95D1-A8EE02704E00}"/>
              </a:ext>
            </a:extLst>
          </p:cNvPr>
          <p:cNvSpPr>
            <a:spLocks noGrp="1"/>
          </p:cNvSpPr>
          <p:nvPr/>
        </p:nvSpPr>
        <p:spPr>
          <a:xfrm>
            <a:off x="4838700" y="2990088"/>
            <a:ext cx="320040" cy="2633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5D6878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6D55880D-4B95-4D35-94EE-667A23568823}"/>
              </a:ext>
            </a:extLst>
          </p:cNvPr>
          <p:cNvSpPr>
            <a:spLocks noGrp="1"/>
          </p:cNvSpPr>
          <p:nvPr/>
        </p:nvSpPr>
        <p:spPr>
          <a:xfrm>
            <a:off x="5341620" y="2788920"/>
            <a:ext cx="1508760" cy="694944"/>
          </a:xfrm>
          <a:prstGeom prst="roundRect">
            <a:avLst>
              <a:gd name="adj" fmla="val 12000"/>
            </a:avLst>
          </a:prstGeom>
          <a:solidFill>
            <a:srgbClr val="F4F7FF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D936F5D-F504-4C17-B56F-9B3AAC12F1B4}"/>
              </a:ext>
            </a:extLst>
          </p:cNvPr>
          <p:cNvSpPr>
            <a:spLocks noGrp="1"/>
          </p:cNvSpPr>
          <p:nvPr/>
        </p:nvSpPr>
        <p:spPr>
          <a:xfrm>
            <a:off x="5414772" y="2999232"/>
            <a:ext cx="1353312" cy="2715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feature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94BC7FA-795B-407C-BEF8-A6E59BC3918D}"/>
              </a:ext>
            </a:extLst>
          </p:cNvPr>
          <p:cNvSpPr>
            <a:spLocks noGrp="1"/>
          </p:cNvSpPr>
          <p:nvPr/>
        </p:nvSpPr>
        <p:spPr>
          <a:xfrm>
            <a:off x="5250180" y="3630168"/>
            <a:ext cx="1691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издвојена промена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2C3C72F-8E27-4251-B4CB-46691C1B1AF6}"/>
              </a:ext>
            </a:extLst>
          </p:cNvPr>
          <p:cNvSpPr>
            <a:spLocks noGrp="1"/>
          </p:cNvSpPr>
          <p:nvPr/>
        </p:nvSpPr>
        <p:spPr>
          <a:xfrm>
            <a:off x="6941820" y="2990088"/>
            <a:ext cx="320040" cy="2633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5D6878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5C016445-8CCB-4EB3-9D7E-AFD81A89202D}"/>
              </a:ext>
            </a:extLst>
          </p:cNvPr>
          <p:cNvSpPr>
            <a:spLocks noGrp="1"/>
          </p:cNvSpPr>
          <p:nvPr/>
        </p:nvSpPr>
        <p:spPr>
          <a:xfrm>
            <a:off x="7444740" y="2788920"/>
            <a:ext cx="1508760" cy="694944"/>
          </a:xfrm>
          <a:prstGeom prst="roundRect">
            <a:avLst>
              <a:gd name="adj" fmla="val 12000"/>
            </a:avLst>
          </a:prstGeom>
          <a:solidFill>
            <a:srgbClr val="FDF9F1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7EA5AE5-2089-4D20-9AC8-8F2E0AA19D82}"/>
              </a:ext>
            </a:extLst>
          </p:cNvPr>
          <p:cNvSpPr>
            <a:spLocks noGrp="1"/>
          </p:cNvSpPr>
          <p:nvPr/>
        </p:nvSpPr>
        <p:spPr>
          <a:xfrm>
            <a:off x="7517892" y="2999232"/>
            <a:ext cx="1353312" cy="2715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BE770F"/>
                </a:solidFill>
                <a:latin typeface="Aptos"/>
                <a:ea typeface="Aptos"/>
                <a:cs typeface="Aptos"/>
              </a:rPr>
              <a:t>Pull Request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38F6FD5-9D3F-490C-BC15-8D6D0210D472}"/>
              </a:ext>
            </a:extLst>
          </p:cNvPr>
          <p:cNvSpPr>
            <a:spLocks noGrp="1"/>
          </p:cNvSpPr>
          <p:nvPr/>
        </p:nvSpPr>
        <p:spPr>
          <a:xfrm>
            <a:off x="7353300" y="3630168"/>
            <a:ext cx="1691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преглед и тестови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AC6A69F-EEAC-487C-B405-0D8AE4627D3C}"/>
              </a:ext>
            </a:extLst>
          </p:cNvPr>
          <p:cNvSpPr>
            <a:spLocks noGrp="1"/>
          </p:cNvSpPr>
          <p:nvPr/>
        </p:nvSpPr>
        <p:spPr>
          <a:xfrm>
            <a:off x="9044940" y="2990088"/>
            <a:ext cx="320040" cy="2633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5D6878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7632405F-85DE-445C-AC7B-BDDA2C075160}"/>
              </a:ext>
            </a:extLst>
          </p:cNvPr>
          <p:cNvSpPr>
            <a:spLocks noGrp="1"/>
          </p:cNvSpPr>
          <p:nvPr/>
        </p:nvSpPr>
        <p:spPr>
          <a:xfrm>
            <a:off x="9547860" y="2788920"/>
            <a:ext cx="1508760" cy="694944"/>
          </a:xfrm>
          <a:prstGeom prst="roundRect">
            <a:avLst>
              <a:gd name="adj" fmla="val 12000"/>
            </a:avLst>
          </a:prstGeom>
          <a:solidFill>
            <a:srgbClr val="F3FAF6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C3F392B-A2DB-4013-BCC1-384357A3901F}"/>
              </a:ext>
            </a:extLst>
          </p:cNvPr>
          <p:cNvSpPr>
            <a:spLocks noGrp="1"/>
          </p:cNvSpPr>
          <p:nvPr/>
        </p:nvSpPr>
        <p:spPr>
          <a:xfrm>
            <a:off x="9621012" y="2999232"/>
            <a:ext cx="1353312" cy="2715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0A915F"/>
                </a:solidFill>
                <a:latin typeface="Aptos"/>
                <a:ea typeface="Aptos"/>
                <a:cs typeface="Aptos"/>
              </a:rPr>
              <a:t>Интеграција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B435838-D046-4E58-9E8D-864B4877FCB3}"/>
              </a:ext>
            </a:extLst>
          </p:cNvPr>
          <p:cNvSpPr>
            <a:spLocks noGrp="1"/>
          </p:cNvSpPr>
          <p:nvPr/>
        </p:nvSpPr>
        <p:spPr>
          <a:xfrm>
            <a:off x="9456420" y="3630168"/>
            <a:ext cx="1691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проверена промена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4A8A2E67-7D1B-44C2-BA7A-B3D132423987}"/>
              </a:ext>
            </a:extLst>
          </p:cNvPr>
          <p:cNvSpPr>
            <a:spLocks noGrp="1"/>
          </p:cNvSpPr>
          <p:nvPr/>
        </p:nvSpPr>
        <p:spPr>
          <a:xfrm>
            <a:off x="914400" y="4914900"/>
            <a:ext cx="10363200" cy="800100"/>
          </a:xfrm>
          <a:prstGeom prst="roundRect">
            <a:avLst>
              <a:gd name="adj" fmla="val 16667"/>
            </a:avLst>
          </a:prstGeom>
          <a:solidFill>
            <a:srgbClr val="FFF6E9"/>
          </a:solidFill>
          <a:ln w="7620">
            <a:solidFill>
              <a:srgbClr val="E9D4AF"/>
            </a:solidFill>
            <a:prstDash val="solid"/>
          </a:ln>
        </p:spPr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E65C57A6-6CCD-4D64-A8CE-0694C506B961}"/>
              </a:ext>
            </a:extLst>
          </p:cNvPr>
          <p:cNvSpPr>
            <a:spLocks noGrp="1"/>
          </p:cNvSpPr>
          <p:nvPr/>
        </p:nvSpPr>
        <p:spPr>
          <a:xfrm>
            <a:off x="1085850" y="5067300"/>
            <a:ext cx="57150" cy="495300"/>
          </a:xfrm>
          <a:prstGeom prst="roundRect">
            <a:avLst>
              <a:gd name="adj" fmla="val 50000"/>
            </a:avLst>
          </a:prstGeom>
          <a:solidFill>
            <a:srgbClr val="B86A09"/>
          </a:solidFill>
          <a:ln w="0">
            <a:noFill/>
          </a:ln>
        </p:spPr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803420E-B067-4807-B2D4-D95CF7354128}"/>
              </a:ext>
            </a:extLst>
          </p:cNvPr>
          <p:cNvSpPr>
            <a:spLocks noGrp="1"/>
          </p:cNvSpPr>
          <p:nvPr/>
        </p:nvSpPr>
        <p:spPr>
          <a:xfrm>
            <a:off x="1333500" y="5029200"/>
            <a:ext cx="23812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buNone/>
              <a:defRPr sz="975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КЉУЧНА ПОРУКА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C53389C-9EB0-4660-B646-904185E9F215}"/>
              </a:ext>
            </a:extLst>
          </p:cNvPr>
          <p:cNvSpPr>
            <a:spLocks noGrp="1"/>
          </p:cNvSpPr>
          <p:nvPr/>
        </p:nvSpPr>
        <p:spPr>
          <a:xfrm>
            <a:off x="1333500" y="5276850"/>
            <a:ext cx="96012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Циљ је да тим повеже захтев, одлуку, имплементацију и доказ да све ради исправно.</a:t>
            </a:r>
          </a:p>
        </p:txBody>
      </p:sp>
    </p:spTree>
    <p:extLst>
      <p:ext uri="{BB962C8B-B14F-4D97-AF65-F5344CB8AC3E}">
        <p14:creationId xmlns:p14="http://schemas.microsoft.com/office/powerpoint/2010/main" val="4660767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1CEE52B-9D13-493D-A6A9-C1549BE08F5B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6E1A5DA-A9FA-43AE-8396-828681EC1837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4F2FF8-636C-4954-A4E2-38989C00B65E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27C4C1-D48C-4830-A8DB-A14CD9657B4A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User Story описује вредност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0E0399F-4F78-4D50-B391-120753FB7D4C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Добар запис одговара на питања ко, шта и зашто.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AD17554-AE8B-4AA5-A6E5-313B905EC6CC}"/>
              </a:ext>
            </a:extLst>
          </p:cNvPr>
          <p:cNvSpPr>
            <a:spLocks noGrp="1"/>
          </p:cNvSpPr>
          <p:nvPr/>
        </p:nvSpPr>
        <p:spPr>
          <a:xfrm>
            <a:off x="1051560" y="2423160"/>
            <a:ext cx="82296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Као наставник лабораторије,
желим да резервишем слободну опрему за одређени термин,
како бих знао да је опрема доступна и спречио двоструку резервацију.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06D2FD5-D2BE-47E8-9AC6-E4FEBB80DF09}"/>
              </a:ext>
            </a:extLst>
          </p:cNvPr>
          <p:cNvSpPr>
            <a:spLocks noGrp="1"/>
          </p:cNvSpPr>
          <p:nvPr/>
        </p:nvSpPr>
        <p:spPr>
          <a:xfrm>
            <a:off x="1051560" y="4041648"/>
            <a:ext cx="6949440" cy="10972"/>
          </a:xfrm>
          <a:prstGeom prst="rect">
            <a:avLst/>
          </a:prstGeom>
          <a:solidFill>
            <a:srgbClr val="2A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DFF20728-11CA-4DA5-A449-0C077D45DE54}"/>
              </a:ext>
            </a:extLst>
          </p:cNvPr>
          <p:cNvSpPr>
            <a:spLocks noGrp="1"/>
          </p:cNvSpPr>
          <p:nvPr/>
        </p:nvSpPr>
        <p:spPr>
          <a:xfrm>
            <a:off x="914400" y="4267200"/>
            <a:ext cx="10363200" cy="800100"/>
          </a:xfrm>
          <a:prstGeom prst="roundRect">
            <a:avLst>
              <a:gd name="adj" fmla="val 16667"/>
            </a:avLst>
          </a:prstGeom>
          <a:solidFill>
            <a:srgbClr val="FFF6E9"/>
          </a:solidFill>
          <a:ln w="7620">
            <a:solidFill>
              <a:srgbClr val="E9D4AF"/>
            </a:solidFill>
            <a:prstDash val="solid"/>
          </a:ln>
        </p:spPr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7762DA28-ADDF-411D-AD75-A7D533EE0810}"/>
              </a:ext>
            </a:extLst>
          </p:cNvPr>
          <p:cNvSpPr>
            <a:spLocks noGrp="1"/>
          </p:cNvSpPr>
          <p:nvPr/>
        </p:nvSpPr>
        <p:spPr>
          <a:xfrm>
            <a:off x="1085850" y="4419600"/>
            <a:ext cx="57150" cy="495300"/>
          </a:xfrm>
          <a:prstGeom prst="roundRect">
            <a:avLst>
              <a:gd name="adj" fmla="val 50000"/>
            </a:avLst>
          </a:prstGeom>
          <a:solidFill>
            <a:srgbClr val="B86A09"/>
          </a:solidFill>
          <a:ln w="0">
            <a:noFill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7FC6F4-B03D-43D2-BB6A-529A633B1D1E}"/>
              </a:ext>
            </a:extLst>
          </p:cNvPr>
          <p:cNvSpPr>
            <a:spLocks noGrp="1"/>
          </p:cNvSpPr>
          <p:nvPr/>
        </p:nvSpPr>
        <p:spPr>
          <a:xfrm>
            <a:off x="1333500" y="4381500"/>
            <a:ext cx="23812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buNone/>
              <a:defRPr sz="975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КЉУЧНА ПОРУКА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DBBD11E-0A9C-40D8-9782-1FF092E2AC82}"/>
              </a:ext>
            </a:extLst>
          </p:cNvPr>
          <p:cNvSpPr>
            <a:spLocks noGrp="1"/>
          </p:cNvSpPr>
          <p:nvPr/>
        </p:nvSpPr>
        <p:spPr>
          <a:xfrm>
            <a:off x="1333500" y="4629150"/>
            <a:ext cx="96012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Форма има смисла само ако иза ње стоји проверљиво понашање система.</a:t>
            </a:r>
          </a:p>
        </p:txBody>
      </p:sp>
    </p:spTree>
    <p:extLst>
      <p:ext uri="{BB962C8B-B14F-4D97-AF65-F5344CB8AC3E}">
        <p14:creationId xmlns:p14="http://schemas.microsoft.com/office/powerpoint/2010/main" val="13293214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082C0E3-2264-49D2-BD3C-543855474CE8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A4AFFF0-0F8D-4E87-B3AC-F39213F879A7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2D872B-D406-45AA-BB40-09BFF3CA0CA2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38340B-E7A5-423D-BE54-6AEEF663F31B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Критеријуми прихватања претварају захтев у доказ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11CF06-6C98-40B4-80FE-59D70F709655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Сваки критеријум треба да буде проверљив тестом или демонстрационим сценаријем.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E5ABE66-1719-45A3-8597-3354A39D49C6}"/>
              </a:ext>
            </a:extLst>
          </p:cNvPr>
          <p:cNvSpPr>
            <a:spLocks noGrp="1"/>
          </p:cNvSpPr>
          <p:nvPr/>
        </p:nvSpPr>
        <p:spPr>
          <a:xfrm>
            <a:off x="914400" y="2324100"/>
            <a:ext cx="2667000" cy="457200"/>
          </a:xfrm>
          <a:prstGeom prst="rect">
            <a:avLst/>
          </a:prstGeom>
          <a:solidFill>
            <a:srgbClr val="EAF0FF"/>
          </a:solidFill>
          <a:ln w="6191">
            <a:solidFill>
              <a:srgbClr val="CDD7E8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89FEF9-F205-482C-B2D9-CBE0712D401D}"/>
              </a:ext>
            </a:extLst>
          </p:cNvPr>
          <p:cNvSpPr>
            <a:spLocks noGrp="1"/>
          </p:cNvSpPr>
          <p:nvPr/>
        </p:nvSpPr>
        <p:spPr>
          <a:xfrm>
            <a:off x="1047750" y="2419350"/>
            <a:ext cx="24003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4E5B70"/>
                </a:solidFill>
                <a:latin typeface="Aptos"/>
                <a:ea typeface="Aptos"/>
                <a:cs typeface="Aptos"/>
              </a:rPr>
              <a:t>Тип сценарија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E10DF5B-21AF-4DCC-A135-AA5D0E78AE1E}"/>
              </a:ext>
            </a:extLst>
          </p:cNvPr>
          <p:cNvSpPr>
            <a:spLocks noGrp="1"/>
          </p:cNvSpPr>
          <p:nvPr/>
        </p:nvSpPr>
        <p:spPr>
          <a:xfrm>
            <a:off x="3581400" y="2324100"/>
            <a:ext cx="7696200" cy="457200"/>
          </a:xfrm>
          <a:prstGeom prst="rect">
            <a:avLst/>
          </a:prstGeom>
          <a:solidFill>
            <a:srgbClr val="EAF0FF"/>
          </a:solidFill>
          <a:ln w="6191">
            <a:solidFill>
              <a:srgbClr val="CDD7E8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D64CC24-F95F-4D43-ACCE-C2E12B8B3297}"/>
              </a:ext>
            </a:extLst>
          </p:cNvPr>
          <p:cNvSpPr>
            <a:spLocks noGrp="1"/>
          </p:cNvSpPr>
          <p:nvPr/>
        </p:nvSpPr>
        <p:spPr>
          <a:xfrm>
            <a:off x="3714750" y="2419350"/>
            <a:ext cx="74295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4E5B70"/>
                </a:solidFill>
                <a:latin typeface="Aptos"/>
                <a:ea typeface="Aptos"/>
                <a:cs typeface="Aptos"/>
              </a:rPr>
              <a:t>Пример критеријума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D07BD2A-EC17-411B-8176-D18D19C30C75}"/>
              </a:ext>
            </a:extLst>
          </p:cNvPr>
          <p:cNvSpPr>
            <a:spLocks noGrp="1"/>
          </p:cNvSpPr>
          <p:nvPr/>
        </p:nvSpPr>
        <p:spPr>
          <a:xfrm>
            <a:off x="914400" y="2781300"/>
            <a:ext cx="2667000" cy="609600"/>
          </a:xfrm>
          <a:prstGeom prst="rect">
            <a:avLst/>
          </a:prstGeom>
          <a:solidFill>
            <a:srgbClr val="F4F7FF"/>
          </a:solidFill>
          <a:ln w="5239">
            <a:solidFill>
              <a:srgbClr val="D8DEE8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9DA8447-286D-47A9-A6A0-1C8C9B40CB2E}"/>
              </a:ext>
            </a:extLst>
          </p:cNvPr>
          <p:cNvSpPr>
            <a:spLocks noGrp="1"/>
          </p:cNvSpPr>
          <p:nvPr/>
        </p:nvSpPr>
        <p:spPr>
          <a:xfrm>
            <a:off x="1047750" y="2905125"/>
            <a:ext cx="2400300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88" b="1">
                <a:solidFill>
                  <a:srgbClr val="2D5BFF"/>
                </a:solidFill>
                <a:latin typeface="Aptos"/>
                <a:ea typeface="Aptos"/>
                <a:cs typeface="Aptos"/>
              </a:rPr>
              <a:t>Успешан ток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8E93917-C52D-4568-B364-C28DE6C41AF7}"/>
              </a:ext>
            </a:extLst>
          </p:cNvPr>
          <p:cNvSpPr>
            <a:spLocks noGrp="1"/>
          </p:cNvSpPr>
          <p:nvPr/>
        </p:nvSpPr>
        <p:spPr>
          <a:xfrm>
            <a:off x="3581400" y="2781300"/>
            <a:ext cx="7696200" cy="609600"/>
          </a:xfrm>
          <a:prstGeom prst="rect">
            <a:avLst/>
          </a:prstGeom>
          <a:solidFill>
            <a:srgbClr val="FFFFFF"/>
          </a:solidFill>
          <a:ln w="5239">
            <a:solidFill>
              <a:srgbClr val="D8DEE8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4FED958-CCAD-4417-8EB6-2834F87F4E40}"/>
              </a:ext>
            </a:extLst>
          </p:cNvPr>
          <p:cNvSpPr>
            <a:spLocks noGrp="1"/>
          </p:cNvSpPr>
          <p:nvPr/>
        </p:nvSpPr>
        <p:spPr>
          <a:xfrm>
            <a:off x="3733800" y="2905125"/>
            <a:ext cx="7391400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88" b="0">
                <a:solidFill>
                  <a:srgbClr val="1F2633"/>
                </a:solidFill>
                <a:latin typeface="Aptos"/>
                <a:ea typeface="Aptos"/>
                <a:cs typeface="Aptos"/>
              </a:rPr>
              <a:t>Резервација се креира када је опрема доступна и период исправан.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E91F08D-B085-4FC5-8348-7E0A7831128E}"/>
              </a:ext>
            </a:extLst>
          </p:cNvPr>
          <p:cNvSpPr>
            <a:spLocks noGrp="1"/>
          </p:cNvSpPr>
          <p:nvPr/>
        </p:nvSpPr>
        <p:spPr>
          <a:xfrm>
            <a:off x="914400" y="3390900"/>
            <a:ext cx="2667000" cy="609600"/>
          </a:xfrm>
          <a:prstGeom prst="rect">
            <a:avLst/>
          </a:prstGeom>
          <a:solidFill>
            <a:srgbClr val="FFF8EC"/>
          </a:solidFill>
          <a:ln w="5239">
            <a:solidFill>
              <a:srgbClr val="D8DEE8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A41F0BE-E7FA-49E2-8535-DFD92C728F5E}"/>
              </a:ext>
            </a:extLst>
          </p:cNvPr>
          <p:cNvSpPr>
            <a:spLocks noGrp="1"/>
          </p:cNvSpPr>
          <p:nvPr/>
        </p:nvSpPr>
        <p:spPr>
          <a:xfrm>
            <a:off x="1047750" y="3514725"/>
            <a:ext cx="2400300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88" b="1">
                <a:solidFill>
                  <a:srgbClr val="B66A00"/>
                </a:solidFill>
                <a:latin typeface="Aptos"/>
                <a:ea typeface="Aptos"/>
                <a:cs typeface="Aptos"/>
              </a:rPr>
              <a:t>Пословни конфликт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54C9501-5231-4B7E-A9C6-83C34DC7F8B2}"/>
              </a:ext>
            </a:extLst>
          </p:cNvPr>
          <p:cNvSpPr>
            <a:spLocks noGrp="1"/>
          </p:cNvSpPr>
          <p:nvPr/>
        </p:nvSpPr>
        <p:spPr>
          <a:xfrm>
            <a:off x="3581400" y="3390900"/>
            <a:ext cx="7696200" cy="609600"/>
          </a:xfrm>
          <a:prstGeom prst="rect">
            <a:avLst/>
          </a:prstGeom>
          <a:solidFill>
            <a:srgbClr val="FFFFFF"/>
          </a:solidFill>
          <a:ln w="5239">
            <a:solidFill>
              <a:srgbClr val="D8DEE8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1AD2F9F-36F8-4A26-A914-48710C6D2DFD}"/>
              </a:ext>
            </a:extLst>
          </p:cNvPr>
          <p:cNvSpPr>
            <a:spLocks noGrp="1"/>
          </p:cNvSpPr>
          <p:nvPr/>
        </p:nvSpPr>
        <p:spPr>
          <a:xfrm>
            <a:off x="3733800" y="3514725"/>
            <a:ext cx="7391400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88" b="0">
                <a:solidFill>
                  <a:srgbClr val="1F2633"/>
                </a:solidFill>
                <a:latin typeface="Aptos"/>
                <a:ea typeface="Aptos"/>
                <a:cs typeface="Aptos"/>
              </a:rPr>
              <a:t>Систем одбија период који се преклапа са активном резервацијом.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76F1953-D900-453C-846A-6BF2A9F1F200}"/>
              </a:ext>
            </a:extLst>
          </p:cNvPr>
          <p:cNvSpPr>
            <a:spLocks noGrp="1"/>
          </p:cNvSpPr>
          <p:nvPr/>
        </p:nvSpPr>
        <p:spPr>
          <a:xfrm>
            <a:off x="914400" y="4000500"/>
            <a:ext cx="2667000" cy="609600"/>
          </a:xfrm>
          <a:prstGeom prst="rect">
            <a:avLst/>
          </a:prstGeom>
          <a:solidFill>
            <a:srgbClr val="FFF4E8"/>
          </a:solidFill>
          <a:ln w="5239">
            <a:solidFill>
              <a:srgbClr val="D8DEE8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350C991-9936-4C9A-87BD-A73E163FB46C}"/>
              </a:ext>
            </a:extLst>
          </p:cNvPr>
          <p:cNvSpPr>
            <a:spLocks noGrp="1"/>
          </p:cNvSpPr>
          <p:nvPr/>
        </p:nvSpPr>
        <p:spPr>
          <a:xfrm>
            <a:off x="1047750" y="4124325"/>
            <a:ext cx="2400300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88" b="1">
                <a:solidFill>
                  <a:srgbClr val="C05B18"/>
                </a:solidFill>
                <a:latin typeface="Aptos"/>
                <a:ea typeface="Aptos"/>
                <a:cs typeface="Aptos"/>
              </a:rPr>
              <a:t>Неисправан улаз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E8EDA35-70BA-4681-9F6C-F7C07F4B223B}"/>
              </a:ext>
            </a:extLst>
          </p:cNvPr>
          <p:cNvSpPr>
            <a:spLocks noGrp="1"/>
          </p:cNvSpPr>
          <p:nvPr/>
        </p:nvSpPr>
        <p:spPr>
          <a:xfrm>
            <a:off x="3581400" y="4000500"/>
            <a:ext cx="7696200" cy="609600"/>
          </a:xfrm>
          <a:prstGeom prst="rect">
            <a:avLst/>
          </a:prstGeom>
          <a:solidFill>
            <a:srgbClr val="FFFFFF"/>
          </a:solidFill>
          <a:ln w="5239">
            <a:solidFill>
              <a:srgbClr val="D8DEE8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C8D9628-60D7-497A-B914-437B67C917B8}"/>
              </a:ext>
            </a:extLst>
          </p:cNvPr>
          <p:cNvSpPr>
            <a:spLocks noGrp="1"/>
          </p:cNvSpPr>
          <p:nvPr/>
        </p:nvSpPr>
        <p:spPr>
          <a:xfrm>
            <a:off x="3733800" y="4124325"/>
            <a:ext cx="7391400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88" b="0">
                <a:solidFill>
                  <a:srgbClr val="1F2633"/>
                </a:solidFill>
                <a:latin typeface="Aptos"/>
                <a:ea typeface="Aptos"/>
                <a:cs typeface="Aptos"/>
              </a:rPr>
              <a:t>Почетак термина мора бити пре краја.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C32EEE9-1559-404F-AD20-27B64BE05C04}"/>
              </a:ext>
            </a:extLst>
          </p:cNvPr>
          <p:cNvSpPr>
            <a:spLocks noGrp="1"/>
          </p:cNvSpPr>
          <p:nvPr/>
        </p:nvSpPr>
        <p:spPr>
          <a:xfrm>
            <a:off x="914400" y="4610100"/>
            <a:ext cx="2667000" cy="609600"/>
          </a:xfrm>
          <a:prstGeom prst="rect">
            <a:avLst/>
          </a:prstGeom>
          <a:solidFill>
            <a:srgbClr val="F3F6FA"/>
          </a:solidFill>
          <a:ln w="5239">
            <a:solidFill>
              <a:srgbClr val="D8DEE8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6F5DEE7-0D67-44EE-8D28-9D5731064DFE}"/>
              </a:ext>
            </a:extLst>
          </p:cNvPr>
          <p:cNvSpPr>
            <a:spLocks noGrp="1"/>
          </p:cNvSpPr>
          <p:nvPr/>
        </p:nvSpPr>
        <p:spPr>
          <a:xfrm>
            <a:off x="1047750" y="4733925"/>
            <a:ext cx="2400300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88" b="1">
                <a:solidFill>
                  <a:srgbClr val="445066"/>
                </a:solidFill>
                <a:latin typeface="Aptos"/>
                <a:ea typeface="Aptos"/>
                <a:cs typeface="Aptos"/>
              </a:rPr>
              <a:t>Гранични случај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D3E5CB0-AB4F-4C63-9EB0-4957A2878744}"/>
              </a:ext>
            </a:extLst>
          </p:cNvPr>
          <p:cNvSpPr>
            <a:spLocks noGrp="1"/>
          </p:cNvSpPr>
          <p:nvPr/>
        </p:nvSpPr>
        <p:spPr>
          <a:xfrm>
            <a:off x="3581400" y="4610100"/>
            <a:ext cx="7696200" cy="609600"/>
          </a:xfrm>
          <a:prstGeom prst="rect">
            <a:avLst/>
          </a:prstGeom>
          <a:solidFill>
            <a:srgbClr val="FFFFFF"/>
          </a:solidFill>
          <a:ln w="5239">
            <a:solidFill>
              <a:srgbClr val="D8DEE8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A35B276-DDDE-4D3A-B4CB-DE7D4F24DE89}"/>
              </a:ext>
            </a:extLst>
          </p:cNvPr>
          <p:cNvSpPr>
            <a:spLocks noGrp="1"/>
          </p:cNvSpPr>
          <p:nvPr/>
        </p:nvSpPr>
        <p:spPr>
          <a:xfrm>
            <a:off x="3733800" y="4733925"/>
            <a:ext cx="7391400" cy="222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88" b="0" dirty="0" err="1">
                <a:solidFill>
                  <a:srgbClr val="1F2633"/>
                </a:solidFill>
                <a:latin typeface="Aptos"/>
                <a:ea typeface="Aptos"/>
                <a:cs typeface="Aptos"/>
              </a:rPr>
              <a:t>Правило</a:t>
            </a:r>
            <a:r>
              <a:rPr sz="1388" b="0" dirty="0">
                <a:solidFill>
                  <a:srgbClr val="1F2633"/>
                </a:solidFill>
                <a:latin typeface="Aptos"/>
                <a:ea typeface="Aptos"/>
                <a:cs typeface="Aptos"/>
              </a:rPr>
              <a:t> </a:t>
            </a:r>
            <a:r>
              <a:rPr sz="1388" b="0" dirty="0" err="1">
                <a:solidFill>
                  <a:srgbClr val="1F2633"/>
                </a:solidFill>
                <a:latin typeface="Aptos"/>
                <a:ea typeface="Aptos"/>
                <a:cs typeface="Aptos"/>
              </a:rPr>
              <a:t>јасно</a:t>
            </a:r>
            <a:r>
              <a:rPr sz="1388" b="0" dirty="0">
                <a:solidFill>
                  <a:srgbClr val="1F2633"/>
                </a:solidFill>
                <a:latin typeface="Aptos"/>
                <a:ea typeface="Aptos"/>
                <a:cs typeface="Aptos"/>
              </a:rPr>
              <a:t> </a:t>
            </a:r>
            <a:r>
              <a:rPr sz="1388" b="0" dirty="0" err="1">
                <a:solidFill>
                  <a:srgbClr val="1F2633"/>
                </a:solidFill>
                <a:latin typeface="Aptos"/>
                <a:ea typeface="Aptos"/>
                <a:cs typeface="Aptos"/>
              </a:rPr>
              <a:t>дефинише</a:t>
            </a:r>
            <a:r>
              <a:rPr sz="1388" b="0" dirty="0">
                <a:solidFill>
                  <a:srgbClr val="1F2633"/>
                </a:solidFill>
                <a:latin typeface="Aptos"/>
                <a:ea typeface="Aptos"/>
                <a:cs typeface="Aptos"/>
              </a:rPr>
              <a:t> </a:t>
            </a:r>
            <a:r>
              <a:rPr lang="sr-Cyrl-RS" sz="1388" b="0" dirty="0">
                <a:solidFill>
                  <a:srgbClr val="1F2633"/>
                </a:solidFill>
                <a:latin typeface="Aptos"/>
                <a:ea typeface="Aptos"/>
                <a:cs typeface="Aptos"/>
              </a:rPr>
              <a:t>термин</a:t>
            </a:r>
            <a:r>
              <a:rPr sz="1388" b="0" dirty="0">
                <a:solidFill>
                  <a:srgbClr val="1F2633"/>
                </a:solidFill>
                <a:latin typeface="Aptos"/>
                <a:ea typeface="Aptos"/>
                <a:cs typeface="Aptos"/>
              </a:rPr>
              <a:t> </a:t>
            </a:r>
            <a:r>
              <a:rPr sz="1388" b="0" dirty="0" err="1">
                <a:solidFill>
                  <a:srgbClr val="1F2633"/>
                </a:solidFill>
                <a:latin typeface="Aptos"/>
                <a:ea typeface="Aptos"/>
                <a:cs typeface="Aptos"/>
              </a:rPr>
              <a:t>краја</a:t>
            </a:r>
            <a:r>
              <a:rPr sz="1388" b="0" dirty="0">
                <a:solidFill>
                  <a:srgbClr val="1F2633"/>
                </a:solidFill>
                <a:latin typeface="Aptos"/>
                <a:ea typeface="Aptos"/>
                <a:cs typeface="Aptos"/>
              </a:rPr>
              <a:t> </a:t>
            </a:r>
            <a:r>
              <a:rPr sz="1388" b="0" dirty="0" err="1">
                <a:solidFill>
                  <a:srgbClr val="1F2633"/>
                </a:solidFill>
                <a:latin typeface="Aptos"/>
                <a:ea typeface="Aptos"/>
                <a:cs typeface="Aptos"/>
              </a:rPr>
              <a:t>и</a:t>
            </a:r>
            <a:r>
              <a:rPr sz="1388" b="0" dirty="0">
                <a:solidFill>
                  <a:srgbClr val="1F2633"/>
                </a:solidFill>
                <a:latin typeface="Aptos"/>
                <a:ea typeface="Aptos"/>
                <a:cs typeface="Aptos"/>
              </a:rPr>
              <a:t> </a:t>
            </a:r>
            <a:r>
              <a:rPr sz="1388" b="0" dirty="0" err="1">
                <a:solidFill>
                  <a:srgbClr val="1F2633"/>
                </a:solidFill>
                <a:latin typeface="Aptos"/>
                <a:ea typeface="Aptos"/>
                <a:cs typeface="Aptos"/>
              </a:rPr>
              <a:t>почетка</a:t>
            </a:r>
            <a:r>
              <a:rPr sz="1388" b="0" dirty="0">
                <a:solidFill>
                  <a:srgbClr val="1F2633"/>
                </a:solidFill>
                <a:latin typeface="Aptos"/>
                <a:ea typeface="Aptos"/>
                <a:cs typeface="Aptos"/>
              </a:rPr>
              <a:t> </a:t>
            </a:r>
            <a:r>
              <a:rPr sz="1388" b="0" dirty="0" err="1">
                <a:solidFill>
                  <a:srgbClr val="1F2633"/>
                </a:solidFill>
                <a:latin typeface="Aptos"/>
                <a:ea typeface="Aptos"/>
                <a:cs typeface="Aptos"/>
              </a:rPr>
              <a:t>термина</a:t>
            </a:r>
            <a:r>
              <a:rPr sz="1388" b="0" dirty="0">
                <a:solidFill>
                  <a:srgbClr val="1F2633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312840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881B70-BD52-4051-889C-FC4BB336B603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659D703-D0C3-4801-8E67-C627EE13C69B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D725B2-490D-492E-8C90-CA4E906248D3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CBB1798-942B-4120-8C77-0AC0C9F90BC4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Backlog није архива идеја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2914C20-E87B-421B-BBC8-B2932B88D637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Ставка спремна за рад има циљ, приоритет, критеријуме и позната ограничења.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910812B-064F-4AC9-B911-FBBD5205CC7F}"/>
              </a:ext>
            </a:extLst>
          </p:cNvPr>
          <p:cNvSpPr>
            <a:spLocks noGrp="1"/>
          </p:cNvSpPr>
          <p:nvPr/>
        </p:nvSpPr>
        <p:spPr>
          <a:xfrm>
            <a:off x="1478280" y="2560320"/>
            <a:ext cx="2834640" cy="1828800"/>
          </a:xfrm>
          <a:prstGeom prst="roundRect">
            <a:avLst>
              <a:gd name="adj" fmla="val 12000"/>
            </a:avLst>
          </a:prstGeom>
          <a:solidFill>
            <a:srgbClr val="F4F7FF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7FA4B9-A5A3-4745-B792-C012AB4CB50F}"/>
              </a:ext>
            </a:extLst>
          </p:cNvPr>
          <p:cNvSpPr>
            <a:spLocks noGrp="1"/>
          </p:cNvSpPr>
          <p:nvPr/>
        </p:nvSpPr>
        <p:spPr>
          <a:xfrm>
            <a:off x="1642872" y="2761488"/>
            <a:ext cx="731520" cy="2098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EE1368-9106-4771-B122-449961AB87A1}"/>
              </a:ext>
            </a:extLst>
          </p:cNvPr>
          <p:cNvSpPr>
            <a:spLocks noGrp="1"/>
          </p:cNvSpPr>
          <p:nvPr/>
        </p:nvSpPr>
        <p:spPr>
          <a:xfrm>
            <a:off x="1642872" y="3063240"/>
            <a:ext cx="2331720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Product Backlog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75F86D0-DA21-4534-AC34-3B4188A9CA45}"/>
              </a:ext>
            </a:extLst>
          </p:cNvPr>
          <p:cNvSpPr>
            <a:spLocks noGrp="1"/>
          </p:cNvSpPr>
          <p:nvPr/>
        </p:nvSpPr>
        <p:spPr>
          <a:xfrm>
            <a:off x="1642872" y="3703320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све будуће ставке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ACB4ABF7-CCC0-4786-BB98-42809D30EB6B}"/>
              </a:ext>
            </a:extLst>
          </p:cNvPr>
          <p:cNvSpPr>
            <a:spLocks noGrp="1"/>
          </p:cNvSpPr>
          <p:nvPr/>
        </p:nvSpPr>
        <p:spPr>
          <a:xfrm>
            <a:off x="4678680" y="2560320"/>
            <a:ext cx="2834640" cy="1828800"/>
          </a:xfrm>
          <a:prstGeom prst="roundRect">
            <a:avLst>
              <a:gd name="adj" fmla="val 12000"/>
            </a:avLst>
          </a:prstGeom>
          <a:solidFill>
            <a:srgbClr val="F3FAF6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F00FCF0-C19D-4EF2-8972-CA95D4583A5D}"/>
              </a:ext>
            </a:extLst>
          </p:cNvPr>
          <p:cNvSpPr>
            <a:spLocks noGrp="1"/>
          </p:cNvSpPr>
          <p:nvPr/>
        </p:nvSpPr>
        <p:spPr>
          <a:xfrm>
            <a:off x="4843272" y="2761488"/>
            <a:ext cx="731520" cy="2098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A915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A274CD5-8BE7-43CA-B6C1-F3642A0C410C}"/>
              </a:ext>
            </a:extLst>
          </p:cNvPr>
          <p:cNvSpPr>
            <a:spLocks noGrp="1"/>
          </p:cNvSpPr>
          <p:nvPr/>
        </p:nvSpPr>
        <p:spPr>
          <a:xfrm>
            <a:off x="4843272" y="3063240"/>
            <a:ext cx="2331720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Sprint Backlog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B7A59BB-9FAD-4174-B413-C3142794B91C}"/>
              </a:ext>
            </a:extLst>
          </p:cNvPr>
          <p:cNvSpPr>
            <a:spLocks noGrp="1"/>
          </p:cNvSpPr>
          <p:nvPr/>
        </p:nvSpPr>
        <p:spPr>
          <a:xfrm>
            <a:off x="4843272" y="3703320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изабрани обим рада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EF3D7502-58BF-47F9-9A8A-07C10964A8CD}"/>
              </a:ext>
            </a:extLst>
          </p:cNvPr>
          <p:cNvSpPr>
            <a:spLocks noGrp="1"/>
          </p:cNvSpPr>
          <p:nvPr/>
        </p:nvSpPr>
        <p:spPr>
          <a:xfrm>
            <a:off x="7879080" y="2560320"/>
            <a:ext cx="2834640" cy="1828800"/>
          </a:xfrm>
          <a:prstGeom prst="roundRect">
            <a:avLst>
              <a:gd name="adj" fmla="val 12000"/>
            </a:avLst>
          </a:prstGeom>
          <a:solidFill>
            <a:srgbClr val="FDF9F1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7194C58-B291-4215-B83F-40031DCA35C6}"/>
              </a:ext>
            </a:extLst>
          </p:cNvPr>
          <p:cNvSpPr>
            <a:spLocks noGrp="1"/>
          </p:cNvSpPr>
          <p:nvPr/>
        </p:nvSpPr>
        <p:spPr>
          <a:xfrm>
            <a:off x="8043672" y="2761488"/>
            <a:ext cx="731520" cy="2098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BE770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674854C-290B-4DB4-82B3-BC68A5CC7D5D}"/>
              </a:ext>
            </a:extLst>
          </p:cNvPr>
          <p:cNvSpPr>
            <a:spLocks noGrp="1"/>
          </p:cNvSpPr>
          <p:nvPr/>
        </p:nvSpPr>
        <p:spPr>
          <a:xfrm>
            <a:off x="8043672" y="3063240"/>
            <a:ext cx="2331720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Increment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B4D257C-CA5D-4913-BB67-919A377DE8B7}"/>
              </a:ext>
            </a:extLst>
          </p:cNvPr>
          <p:cNvSpPr>
            <a:spLocks noGrp="1"/>
          </p:cNvSpPr>
          <p:nvPr/>
        </p:nvSpPr>
        <p:spPr>
          <a:xfrm>
            <a:off x="8043672" y="3703320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реализована промена</a:t>
            </a:r>
          </a:p>
        </p:txBody>
      </p:sp>
    </p:spTree>
    <p:extLst>
      <p:ext uri="{BB962C8B-B14F-4D97-AF65-F5344CB8AC3E}">
        <p14:creationId xmlns:p14="http://schemas.microsoft.com/office/powerpoint/2010/main" val="2766864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7D5CECB-ED9D-4FB0-9F15-04FC06A4B200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E13099E-A603-432B-9D99-CECCCF23D695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A3500A-0662-4072-B1FD-06B9710A6CD3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25ED0A-4088-4F7D-BA2F-947EB67C5593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Договорени ток рада мора бити видљив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241BAA-42E6-4717-BC42-206EB9D8ED11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Статус картице мора да одговара стварном стању посла.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00BD2F13-C7D3-4902-BA4F-E1A5AA0AC2CA}"/>
              </a:ext>
            </a:extLst>
          </p:cNvPr>
          <p:cNvSpPr>
            <a:spLocks noGrp="1"/>
          </p:cNvSpPr>
          <p:nvPr/>
        </p:nvSpPr>
        <p:spPr>
          <a:xfrm>
            <a:off x="1135380" y="2788920"/>
            <a:ext cx="1508760" cy="694944"/>
          </a:xfrm>
          <a:prstGeom prst="roundRect">
            <a:avLst>
              <a:gd name="adj" fmla="val 12000"/>
            </a:avLst>
          </a:prstGeom>
          <a:solidFill>
            <a:srgbClr val="F7F8FA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4EF2EB0-F9CB-4C4F-99BB-EF86C0DDA078}"/>
              </a:ext>
            </a:extLst>
          </p:cNvPr>
          <p:cNvSpPr>
            <a:spLocks noGrp="1"/>
          </p:cNvSpPr>
          <p:nvPr/>
        </p:nvSpPr>
        <p:spPr>
          <a:xfrm>
            <a:off x="1208532" y="2999232"/>
            <a:ext cx="1353312" cy="2715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Backlog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5326BE-A51E-49AB-B130-47AD842C5F4D}"/>
              </a:ext>
            </a:extLst>
          </p:cNvPr>
          <p:cNvSpPr>
            <a:spLocks noGrp="1"/>
          </p:cNvSpPr>
          <p:nvPr/>
        </p:nvSpPr>
        <p:spPr>
          <a:xfrm>
            <a:off x="1043940" y="3630168"/>
            <a:ext cx="1691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идеја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F5FCB30-0368-4E98-B6BA-42F847ED5814}"/>
              </a:ext>
            </a:extLst>
          </p:cNvPr>
          <p:cNvSpPr>
            <a:spLocks noGrp="1"/>
          </p:cNvSpPr>
          <p:nvPr/>
        </p:nvSpPr>
        <p:spPr>
          <a:xfrm>
            <a:off x="2735580" y="2990088"/>
            <a:ext cx="320040" cy="2633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5D6878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2C2B78EC-FE68-497B-9010-7E5F400AE386}"/>
              </a:ext>
            </a:extLst>
          </p:cNvPr>
          <p:cNvSpPr>
            <a:spLocks noGrp="1"/>
          </p:cNvSpPr>
          <p:nvPr/>
        </p:nvSpPr>
        <p:spPr>
          <a:xfrm>
            <a:off x="3238500" y="2788920"/>
            <a:ext cx="1508760" cy="694944"/>
          </a:xfrm>
          <a:prstGeom prst="roundRect">
            <a:avLst>
              <a:gd name="adj" fmla="val 12000"/>
            </a:avLst>
          </a:prstGeom>
          <a:solidFill>
            <a:srgbClr val="F4F7FF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5559014-8885-4A39-8FB3-D1B8A6BDF952}"/>
              </a:ext>
            </a:extLst>
          </p:cNvPr>
          <p:cNvSpPr>
            <a:spLocks noGrp="1"/>
          </p:cNvSpPr>
          <p:nvPr/>
        </p:nvSpPr>
        <p:spPr>
          <a:xfrm>
            <a:off x="3311652" y="2999232"/>
            <a:ext cx="1353312" cy="2715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Ready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80618B8-123B-4C93-9784-7635F6482314}"/>
              </a:ext>
            </a:extLst>
          </p:cNvPr>
          <p:cNvSpPr>
            <a:spLocks noGrp="1"/>
          </p:cNvSpPr>
          <p:nvPr/>
        </p:nvSpPr>
        <p:spPr>
          <a:xfrm>
            <a:off x="3147060" y="3630168"/>
            <a:ext cx="1691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спремно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0EA01F1-5725-47ED-97D1-8C8BDD1838CD}"/>
              </a:ext>
            </a:extLst>
          </p:cNvPr>
          <p:cNvSpPr>
            <a:spLocks noGrp="1"/>
          </p:cNvSpPr>
          <p:nvPr/>
        </p:nvSpPr>
        <p:spPr>
          <a:xfrm>
            <a:off x="4838700" y="2990088"/>
            <a:ext cx="320040" cy="2633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5D6878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2660EDD5-B41A-42B8-B2A9-628955AECB6B}"/>
              </a:ext>
            </a:extLst>
          </p:cNvPr>
          <p:cNvSpPr>
            <a:spLocks noGrp="1"/>
          </p:cNvSpPr>
          <p:nvPr/>
        </p:nvSpPr>
        <p:spPr>
          <a:xfrm>
            <a:off x="5341620" y="2788920"/>
            <a:ext cx="1508760" cy="694944"/>
          </a:xfrm>
          <a:prstGeom prst="roundRect">
            <a:avLst>
              <a:gd name="adj" fmla="val 12000"/>
            </a:avLst>
          </a:prstGeom>
          <a:solidFill>
            <a:srgbClr val="F4F7FF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7E66A89-726D-43D5-9231-92534EABAF73}"/>
              </a:ext>
            </a:extLst>
          </p:cNvPr>
          <p:cNvSpPr>
            <a:spLocks noGrp="1"/>
          </p:cNvSpPr>
          <p:nvPr/>
        </p:nvSpPr>
        <p:spPr>
          <a:xfrm>
            <a:off x="5414772" y="2999232"/>
            <a:ext cx="1353312" cy="2715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In Progress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1D05C67-043F-485D-A333-64827FB61707}"/>
              </a:ext>
            </a:extLst>
          </p:cNvPr>
          <p:cNvSpPr>
            <a:spLocks noGrp="1"/>
          </p:cNvSpPr>
          <p:nvPr/>
        </p:nvSpPr>
        <p:spPr>
          <a:xfrm>
            <a:off x="5250180" y="3630168"/>
            <a:ext cx="1691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рад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2627D93-E34A-47A6-9CFB-489091FBAC51}"/>
              </a:ext>
            </a:extLst>
          </p:cNvPr>
          <p:cNvSpPr>
            <a:spLocks noGrp="1"/>
          </p:cNvSpPr>
          <p:nvPr/>
        </p:nvSpPr>
        <p:spPr>
          <a:xfrm>
            <a:off x="6941820" y="2990088"/>
            <a:ext cx="320040" cy="2633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5D6878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3B81FFF8-039E-49D5-B9E1-81C7CF93CCFE}"/>
              </a:ext>
            </a:extLst>
          </p:cNvPr>
          <p:cNvSpPr>
            <a:spLocks noGrp="1"/>
          </p:cNvSpPr>
          <p:nvPr/>
        </p:nvSpPr>
        <p:spPr>
          <a:xfrm>
            <a:off x="7444740" y="2788920"/>
            <a:ext cx="1508760" cy="694944"/>
          </a:xfrm>
          <a:prstGeom prst="roundRect">
            <a:avLst>
              <a:gd name="adj" fmla="val 12000"/>
            </a:avLst>
          </a:prstGeom>
          <a:solidFill>
            <a:srgbClr val="FDF9F1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382C35D-1BDB-4EDF-ABB7-42AF70E16754}"/>
              </a:ext>
            </a:extLst>
          </p:cNvPr>
          <p:cNvSpPr>
            <a:spLocks noGrp="1"/>
          </p:cNvSpPr>
          <p:nvPr/>
        </p:nvSpPr>
        <p:spPr>
          <a:xfrm>
            <a:off x="7517892" y="2999232"/>
            <a:ext cx="1353312" cy="2715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BE770F"/>
                </a:solidFill>
                <a:latin typeface="Aptos"/>
                <a:ea typeface="Aptos"/>
                <a:cs typeface="Aptos"/>
              </a:rPr>
              <a:t>Code Review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A476DD9-52B2-4A6F-9EF7-EDBAB7130293}"/>
              </a:ext>
            </a:extLst>
          </p:cNvPr>
          <p:cNvSpPr>
            <a:spLocks noGrp="1"/>
          </p:cNvSpPr>
          <p:nvPr/>
        </p:nvSpPr>
        <p:spPr>
          <a:xfrm>
            <a:off x="7353300" y="3630168"/>
            <a:ext cx="1691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преглед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2281BDD-B21C-49C2-B655-142BC72192DC}"/>
              </a:ext>
            </a:extLst>
          </p:cNvPr>
          <p:cNvSpPr>
            <a:spLocks noGrp="1"/>
          </p:cNvSpPr>
          <p:nvPr/>
        </p:nvSpPr>
        <p:spPr>
          <a:xfrm>
            <a:off x="9044940" y="2990088"/>
            <a:ext cx="320040" cy="2633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5D6878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237D25FA-C380-4A7D-92E9-431DD63C2F97}"/>
              </a:ext>
            </a:extLst>
          </p:cNvPr>
          <p:cNvSpPr>
            <a:spLocks noGrp="1"/>
          </p:cNvSpPr>
          <p:nvPr/>
        </p:nvSpPr>
        <p:spPr>
          <a:xfrm>
            <a:off x="9547860" y="2788920"/>
            <a:ext cx="1508760" cy="694944"/>
          </a:xfrm>
          <a:prstGeom prst="roundRect">
            <a:avLst>
              <a:gd name="adj" fmla="val 12000"/>
            </a:avLst>
          </a:prstGeom>
          <a:solidFill>
            <a:srgbClr val="F3FAF6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924F1A9-9592-4A1D-B271-C07DC86FAD3C}"/>
              </a:ext>
            </a:extLst>
          </p:cNvPr>
          <p:cNvSpPr>
            <a:spLocks noGrp="1"/>
          </p:cNvSpPr>
          <p:nvPr/>
        </p:nvSpPr>
        <p:spPr>
          <a:xfrm>
            <a:off x="9621012" y="2999232"/>
            <a:ext cx="1353312" cy="2715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0A915F"/>
                </a:solidFill>
                <a:latin typeface="Aptos"/>
                <a:ea typeface="Aptos"/>
                <a:cs typeface="Aptos"/>
              </a:rPr>
              <a:t>Done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3A2F4D8-A008-4832-91C1-64047C027516}"/>
              </a:ext>
            </a:extLst>
          </p:cNvPr>
          <p:cNvSpPr>
            <a:spLocks noGrp="1"/>
          </p:cNvSpPr>
          <p:nvPr/>
        </p:nvSpPr>
        <p:spPr>
          <a:xfrm>
            <a:off x="9456420" y="3630168"/>
            <a:ext cx="1691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прихваћено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F7B38D7C-4E7C-4FEF-8BAC-947AE88D644C}"/>
              </a:ext>
            </a:extLst>
          </p:cNvPr>
          <p:cNvSpPr>
            <a:spLocks noGrp="1"/>
          </p:cNvSpPr>
          <p:nvPr/>
        </p:nvSpPr>
        <p:spPr>
          <a:xfrm>
            <a:off x="914400" y="4914900"/>
            <a:ext cx="10363200" cy="800100"/>
          </a:xfrm>
          <a:prstGeom prst="roundRect">
            <a:avLst>
              <a:gd name="adj" fmla="val 16667"/>
            </a:avLst>
          </a:prstGeom>
          <a:solidFill>
            <a:srgbClr val="FFF6E9"/>
          </a:solidFill>
          <a:ln w="7620">
            <a:solidFill>
              <a:srgbClr val="E9D4AF"/>
            </a:solidFill>
            <a:prstDash val="solid"/>
          </a:ln>
        </p:spPr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249360AD-93DB-4BD6-9075-3B149CE07835}"/>
              </a:ext>
            </a:extLst>
          </p:cNvPr>
          <p:cNvSpPr>
            <a:spLocks noGrp="1"/>
          </p:cNvSpPr>
          <p:nvPr/>
        </p:nvSpPr>
        <p:spPr>
          <a:xfrm>
            <a:off x="1085850" y="5067300"/>
            <a:ext cx="57150" cy="495300"/>
          </a:xfrm>
          <a:prstGeom prst="roundRect">
            <a:avLst>
              <a:gd name="adj" fmla="val 50000"/>
            </a:avLst>
          </a:prstGeom>
          <a:solidFill>
            <a:srgbClr val="B86A09"/>
          </a:solidFill>
          <a:ln w="0">
            <a:noFill/>
          </a:ln>
        </p:spPr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430E53F-8CAA-4E74-81B5-A4DD8F738C50}"/>
              </a:ext>
            </a:extLst>
          </p:cNvPr>
          <p:cNvSpPr>
            <a:spLocks noGrp="1"/>
          </p:cNvSpPr>
          <p:nvPr/>
        </p:nvSpPr>
        <p:spPr>
          <a:xfrm>
            <a:off x="1333500" y="5029200"/>
            <a:ext cx="23812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buNone/>
              <a:defRPr sz="975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КЉУЧНА ПОРУКА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6468C2C-4D15-4250-A2B6-B32F5681DB20}"/>
              </a:ext>
            </a:extLst>
          </p:cNvPr>
          <p:cNvSpPr>
            <a:spLocks noGrp="1"/>
          </p:cNvSpPr>
          <p:nvPr/>
        </p:nvSpPr>
        <p:spPr>
          <a:xfrm>
            <a:off x="1333500" y="5276850"/>
            <a:ext cx="96012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Done значи да су испуњени критеријуми, извршене провере и интегрисана одговарајућа промена.</a:t>
            </a:r>
          </a:p>
        </p:txBody>
      </p:sp>
    </p:spTree>
    <p:extLst>
      <p:ext uri="{BB962C8B-B14F-4D97-AF65-F5344CB8AC3E}">
        <p14:creationId xmlns:p14="http://schemas.microsoft.com/office/powerpoint/2010/main" val="13600049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5BB4E60-CF4E-4599-A855-8C7F4C3A8207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3134254-4BED-4925-A6AD-EC2D2342F00E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2C6E13-0AE4-4518-8504-3174C47CFCA9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F1C1C2-348C-4B1D-83B2-CF61FAD9AF4B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Једна backlog ставка има више од наслова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DA3C1E4-FAF2-464B-9BDB-DE1F56ECA151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Контекст, договор и траг одлука треба да буду на једном месту.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8444FF6E-F980-4B43-A354-B685EA938386}"/>
              </a:ext>
            </a:extLst>
          </p:cNvPr>
          <p:cNvSpPr>
            <a:spLocks noGrp="1"/>
          </p:cNvSpPr>
          <p:nvPr/>
        </p:nvSpPr>
        <p:spPr>
          <a:xfrm>
            <a:off x="914400" y="2209800"/>
            <a:ext cx="5067300" cy="1571625"/>
          </a:xfrm>
          <a:prstGeom prst="roundRect">
            <a:avLst>
              <a:gd name="adj" fmla="val 12000"/>
            </a:avLst>
          </a:prstGeom>
          <a:solidFill>
            <a:srgbClr val="F4F7FF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7B4C4A-C52F-48D0-9663-4C6F8C40B874}"/>
              </a:ext>
            </a:extLst>
          </p:cNvPr>
          <p:cNvSpPr>
            <a:spLocks noGrp="1"/>
          </p:cNvSpPr>
          <p:nvPr/>
        </p:nvSpPr>
        <p:spPr>
          <a:xfrm>
            <a:off x="1085850" y="2333625"/>
            <a:ext cx="4724400" cy="2098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C8BBE31-0E39-42C9-814C-0987BC2A13B2}"/>
              </a:ext>
            </a:extLst>
          </p:cNvPr>
          <p:cNvSpPr>
            <a:spLocks noGrp="1"/>
          </p:cNvSpPr>
          <p:nvPr/>
        </p:nvSpPr>
        <p:spPr>
          <a:xfrm>
            <a:off x="1085850" y="2590800"/>
            <a:ext cx="472440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Опис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5D20F2D-66B4-4F81-82E3-A5E073FBE1C0}"/>
              </a:ext>
            </a:extLst>
          </p:cNvPr>
          <p:cNvSpPr>
            <a:spLocks noGrp="1"/>
          </p:cNvSpPr>
          <p:nvPr/>
        </p:nvSpPr>
        <p:spPr>
          <a:xfrm>
            <a:off x="1085850" y="2952750"/>
            <a:ext cx="4724400" cy="733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шта се тражи и ко добија вредност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200529B8-FBAA-4CC9-A08E-98B91D10B523}"/>
              </a:ext>
            </a:extLst>
          </p:cNvPr>
          <p:cNvSpPr>
            <a:spLocks noGrp="1"/>
          </p:cNvSpPr>
          <p:nvPr/>
        </p:nvSpPr>
        <p:spPr>
          <a:xfrm>
            <a:off x="6210300" y="2209800"/>
            <a:ext cx="5067300" cy="1571625"/>
          </a:xfrm>
          <a:prstGeom prst="roundRect">
            <a:avLst>
              <a:gd name="adj" fmla="val 12000"/>
            </a:avLst>
          </a:prstGeom>
          <a:solidFill>
            <a:srgbClr val="F3FAF6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263350E-E0C2-4586-941D-E7A8F73AC80F}"/>
              </a:ext>
            </a:extLst>
          </p:cNvPr>
          <p:cNvSpPr>
            <a:spLocks noGrp="1"/>
          </p:cNvSpPr>
          <p:nvPr/>
        </p:nvSpPr>
        <p:spPr>
          <a:xfrm>
            <a:off x="6381750" y="2333625"/>
            <a:ext cx="4724400" cy="2098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A915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FAD7BD5-5046-4F23-ADA9-C221D397B608}"/>
              </a:ext>
            </a:extLst>
          </p:cNvPr>
          <p:cNvSpPr>
            <a:spLocks noGrp="1"/>
          </p:cNvSpPr>
          <p:nvPr/>
        </p:nvSpPr>
        <p:spPr>
          <a:xfrm>
            <a:off x="6381750" y="2590800"/>
            <a:ext cx="472440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Критеријуми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5646989-8754-4D59-9560-D510C6AA386F}"/>
              </a:ext>
            </a:extLst>
          </p:cNvPr>
          <p:cNvSpPr>
            <a:spLocks noGrp="1"/>
          </p:cNvSpPr>
          <p:nvPr/>
        </p:nvSpPr>
        <p:spPr>
          <a:xfrm>
            <a:off x="6381750" y="2952750"/>
            <a:ext cx="4724400" cy="733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како се доказује исправност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4520248C-6F01-4A7E-BFA6-78EC58C2598D}"/>
              </a:ext>
            </a:extLst>
          </p:cNvPr>
          <p:cNvSpPr>
            <a:spLocks noGrp="1"/>
          </p:cNvSpPr>
          <p:nvPr/>
        </p:nvSpPr>
        <p:spPr>
          <a:xfrm>
            <a:off x="914400" y="3971925"/>
            <a:ext cx="5067300" cy="1571625"/>
          </a:xfrm>
          <a:prstGeom prst="roundRect">
            <a:avLst>
              <a:gd name="adj" fmla="val 12000"/>
            </a:avLst>
          </a:prstGeom>
          <a:solidFill>
            <a:srgbClr val="FDF9F1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3802620-051C-403C-84F7-E8D7C1128AF9}"/>
              </a:ext>
            </a:extLst>
          </p:cNvPr>
          <p:cNvSpPr>
            <a:spLocks noGrp="1"/>
          </p:cNvSpPr>
          <p:nvPr/>
        </p:nvSpPr>
        <p:spPr>
          <a:xfrm>
            <a:off x="1085850" y="4095750"/>
            <a:ext cx="4724400" cy="2098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BE770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59D9E1E-EB30-4333-B319-BF88590D04E0}"/>
              </a:ext>
            </a:extLst>
          </p:cNvPr>
          <p:cNvSpPr>
            <a:spLocks noGrp="1"/>
          </p:cNvSpPr>
          <p:nvPr/>
        </p:nvSpPr>
        <p:spPr>
          <a:xfrm>
            <a:off x="1085850" y="4352925"/>
            <a:ext cx="472440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Приоритет и sprint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AC68B64-3FC6-4E0D-903B-73F5B7A11608}"/>
              </a:ext>
            </a:extLst>
          </p:cNvPr>
          <p:cNvSpPr>
            <a:spLocks noGrp="1"/>
          </p:cNvSpPr>
          <p:nvPr/>
        </p:nvSpPr>
        <p:spPr>
          <a:xfrm>
            <a:off x="1085850" y="4714875"/>
            <a:ext cx="4724400" cy="733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зашто се ради сада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1A06C9F7-4BF5-4BAE-A305-26A6ADF91D0B}"/>
              </a:ext>
            </a:extLst>
          </p:cNvPr>
          <p:cNvSpPr>
            <a:spLocks noGrp="1"/>
          </p:cNvSpPr>
          <p:nvPr/>
        </p:nvSpPr>
        <p:spPr>
          <a:xfrm>
            <a:off x="6210300" y="3971925"/>
            <a:ext cx="5067300" cy="1571625"/>
          </a:xfrm>
          <a:prstGeom prst="roundRect">
            <a:avLst>
              <a:gd name="adj" fmla="val 12000"/>
            </a:avLst>
          </a:prstGeom>
          <a:solidFill>
            <a:srgbClr val="F7F8FA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0953FD2-22F8-4720-A159-13FB56E6831C}"/>
              </a:ext>
            </a:extLst>
          </p:cNvPr>
          <p:cNvSpPr>
            <a:spLocks noGrp="1"/>
          </p:cNvSpPr>
          <p:nvPr/>
        </p:nvSpPr>
        <p:spPr>
          <a:xfrm>
            <a:off x="6381750" y="4095750"/>
            <a:ext cx="4724400" cy="2098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D40D27D-27A1-4EA4-9F4D-17930AF96936}"/>
              </a:ext>
            </a:extLst>
          </p:cNvPr>
          <p:cNvSpPr>
            <a:spLocks noGrp="1"/>
          </p:cNvSpPr>
          <p:nvPr/>
        </p:nvSpPr>
        <p:spPr>
          <a:xfrm>
            <a:off x="6381750" y="4352925"/>
            <a:ext cx="472440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Assignee и коментари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D7912E0-F3FD-424D-8658-710700A9A1B1}"/>
              </a:ext>
            </a:extLst>
          </p:cNvPr>
          <p:cNvSpPr>
            <a:spLocks noGrp="1"/>
          </p:cNvSpPr>
          <p:nvPr/>
        </p:nvSpPr>
        <p:spPr>
          <a:xfrm>
            <a:off x="6381750" y="4714875"/>
            <a:ext cx="4724400" cy="733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ко ради и шта је договорено</a:t>
            </a:r>
          </a:p>
        </p:txBody>
      </p:sp>
    </p:spTree>
    <p:extLst>
      <p:ext uri="{BB962C8B-B14F-4D97-AF65-F5344CB8AC3E}">
        <p14:creationId xmlns:p14="http://schemas.microsoft.com/office/powerpoint/2010/main" val="11834470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3A3D2D2-9F19-4B8D-ADAF-2A237CF964BF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815F425-6F1A-42FB-84BE-217093CEF634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163C9B0-7C8C-42F9-A14A-5BCFA994D0C6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F32797F-5538-47C6-BC37-3F9D749B748B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Велики задатак треба разбити на мале проверљиве кораке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DED2661-C30F-44E3-9F3E-E00559FC2BEB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Checklist није бирократија. Она смањује ризик и чини напредак видљивим.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3482AB-A243-4FD4-A406-9D3C3F4BCD1A}"/>
              </a:ext>
            </a:extLst>
          </p:cNvPr>
          <p:cNvSpPr>
            <a:spLocks noGrp="1"/>
          </p:cNvSpPr>
          <p:nvPr/>
        </p:nvSpPr>
        <p:spPr>
          <a:xfrm>
            <a:off x="914400" y="2331720"/>
            <a:ext cx="47625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ПРИМЕР КОРАКА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5AC5CDC-5C59-4266-944A-0255AB9653BB}"/>
              </a:ext>
            </a:extLst>
          </p:cNvPr>
          <p:cNvSpPr>
            <a:spLocks noGrp="1"/>
          </p:cNvSpPr>
          <p:nvPr/>
        </p:nvSpPr>
        <p:spPr>
          <a:xfrm>
            <a:off x="914400" y="2697480"/>
            <a:ext cx="4762500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wireframe или ток екрана</a:t>
            </a:r>
          </a:p>
          <a:p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имплементација основне логике</a:t>
            </a:r>
          </a:p>
          <a:p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тестови кључног правила</a:t>
            </a:r>
          </a:p>
          <a:p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code review и дорада</a:t>
            </a:r>
          </a:p>
        </p:txBody>
      </p:sp>
      <p:sp>
        <p:nvSpPr>
          <p:cNvPr id="9" name="Connector 8">
            <a:extLst>
              <a:ext uri="{FF2B5EF4-FFF2-40B4-BE49-F238E27FC236}">
                <a16:creationId xmlns:a16="http://schemas.microsoft.com/office/drawing/2014/main" id="{60D71D20-3D15-45C8-9E6F-F032B6ED36F7}"/>
              </a:ext>
            </a:extLst>
          </p:cNvPr>
          <p:cNvSpPr>
            <a:spLocks noGrp="1"/>
          </p:cNvSpPr>
          <p:nvPr/>
        </p:nvSpPr>
        <p:spPr>
          <a:xfrm>
            <a:off x="6096000" y="2331720"/>
            <a:ext cx="0" cy="3200400"/>
          </a:xfrm>
          <a:prstGeom prst="line">
            <a:avLst/>
          </a:prstGeom>
          <a:ln w="1016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F7C89A4-9C84-4034-8C76-5E1E3FFA4C23}"/>
              </a:ext>
            </a:extLst>
          </p:cNvPr>
          <p:cNvSpPr>
            <a:spLocks noGrp="1"/>
          </p:cNvSpPr>
          <p:nvPr/>
        </p:nvSpPr>
        <p:spPr>
          <a:xfrm>
            <a:off x="6515100" y="2331720"/>
            <a:ext cx="47625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0A915F"/>
                </a:solidFill>
                <a:latin typeface="Aptos"/>
                <a:ea typeface="Aptos"/>
                <a:cs typeface="Aptos"/>
              </a:rPr>
              <a:t>ЗАШТО ЈЕ ТО ВАЖНО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821077F-37B8-4358-9B1A-0038D58860F7}"/>
              </a:ext>
            </a:extLst>
          </p:cNvPr>
          <p:cNvSpPr>
            <a:spLocks noGrp="1"/>
          </p:cNvSpPr>
          <p:nvPr/>
        </p:nvSpPr>
        <p:spPr>
          <a:xfrm>
            <a:off x="6515100" y="2697480"/>
            <a:ext cx="4762500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мање ризика</a:t>
            </a:r>
          </a:p>
          <a:p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видљив застој</a:t>
            </a:r>
          </a:p>
          <a:p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лакша провера</a:t>
            </a:r>
          </a:p>
          <a:p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лакше образложење</a:t>
            </a:r>
          </a:p>
        </p:txBody>
      </p:sp>
    </p:spTree>
    <p:extLst>
      <p:ext uri="{BB962C8B-B14F-4D97-AF65-F5344CB8AC3E}">
        <p14:creationId xmlns:p14="http://schemas.microsoft.com/office/powerpoint/2010/main" val="6889061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CD69D30-26A8-4C23-B244-3855A784B317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630A0E-DC17-4D0F-BEEE-18D67BEF9E79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D5B3944-D461-4484-8A49-7B6BA68AF180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F7247E-8D2F-4C54-88CE-7B7B559D8811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Git је запис намере, не резервна копија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8C161C-B5D1-48F3-BA0F-246CD640C6CD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Развој треба моћи реконструисати из малих и смислених промена.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06C38E7-E151-4E0A-9531-CA5297C7A12E}"/>
              </a:ext>
            </a:extLst>
          </p:cNvPr>
          <p:cNvSpPr>
            <a:spLocks noGrp="1"/>
          </p:cNvSpPr>
          <p:nvPr/>
        </p:nvSpPr>
        <p:spPr>
          <a:xfrm>
            <a:off x="1203960" y="2240280"/>
            <a:ext cx="2377440" cy="411480"/>
          </a:xfrm>
          <a:prstGeom prst="rect">
            <a:avLst/>
          </a:prstGeom>
          <a:solidFill>
            <a:srgbClr val="F7F8FA"/>
          </a:solidFill>
          <a:ln w="5239">
            <a:solidFill>
              <a:srgbClr val="DDE2EA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04B37B4-D1E2-4CC4-B539-E0E4803D0E42}"/>
              </a:ext>
            </a:extLst>
          </p:cNvPr>
          <p:cNvSpPr>
            <a:spLocks noGrp="1"/>
          </p:cNvSpPr>
          <p:nvPr/>
        </p:nvSpPr>
        <p:spPr>
          <a:xfrm>
            <a:off x="1313688" y="2368296"/>
            <a:ext cx="2194560" cy="2715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5D6878"/>
                </a:solidFill>
                <a:latin typeface="Aptos"/>
                <a:ea typeface="Aptos"/>
                <a:cs typeface="Aptos"/>
              </a:rPr>
              <a:t>Појам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765772B-43E2-4DED-8B6B-EFDF030D0A7D}"/>
              </a:ext>
            </a:extLst>
          </p:cNvPr>
          <p:cNvSpPr>
            <a:spLocks noGrp="1"/>
          </p:cNvSpPr>
          <p:nvPr/>
        </p:nvSpPr>
        <p:spPr>
          <a:xfrm>
            <a:off x="3581400" y="2240280"/>
            <a:ext cx="7406640" cy="411480"/>
          </a:xfrm>
          <a:prstGeom prst="rect">
            <a:avLst/>
          </a:prstGeom>
          <a:solidFill>
            <a:srgbClr val="F7F8FA"/>
          </a:solidFill>
          <a:ln w="5239">
            <a:solidFill>
              <a:srgbClr val="DDE2EA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AC16EF9-5136-4DD3-B9D9-C4B74C4E64B2}"/>
              </a:ext>
            </a:extLst>
          </p:cNvPr>
          <p:cNvSpPr>
            <a:spLocks noGrp="1"/>
          </p:cNvSpPr>
          <p:nvPr/>
        </p:nvSpPr>
        <p:spPr>
          <a:xfrm>
            <a:off x="3691128" y="2368296"/>
            <a:ext cx="7223759" cy="2715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5D6878"/>
                </a:solidFill>
                <a:latin typeface="Aptos"/>
                <a:ea typeface="Aptos"/>
                <a:cs typeface="Aptos"/>
              </a:rPr>
              <a:t>Улога у раду тима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455B6EB-09D5-426D-924D-A365E19DF9EF}"/>
              </a:ext>
            </a:extLst>
          </p:cNvPr>
          <p:cNvSpPr>
            <a:spLocks noGrp="1"/>
          </p:cNvSpPr>
          <p:nvPr/>
        </p:nvSpPr>
        <p:spPr>
          <a:xfrm>
            <a:off x="1203960" y="2651760"/>
            <a:ext cx="2377440" cy="438912"/>
          </a:xfrm>
          <a:prstGeom prst="rect">
            <a:avLst/>
          </a:prstGeom>
          <a:solidFill>
            <a:srgbClr val="FFFFFF"/>
          </a:solidFill>
          <a:ln w="5239">
            <a:solidFill>
              <a:srgbClr val="DDE2EA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6A4C810-B69C-4CA9-AECE-A9A9D9D1FD1D}"/>
              </a:ext>
            </a:extLst>
          </p:cNvPr>
          <p:cNvSpPr>
            <a:spLocks noGrp="1"/>
          </p:cNvSpPr>
          <p:nvPr/>
        </p:nvSpPr>
        <p:spPr>
          <a:xfrm>
            <a:off x="1313688" y="2761488"/>
            <a:ext cx="214884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Working tree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301204E-2A20-4F20-8270-65F875015B2F}"/>
              </a:ext>
            </a:extLst>
          </p:cNvPr>
          <p:cNvSpPr>
            <a:spLocks noGrp="1"/>
          </p:cNvSpPr>
          <p:nvPr/>
        </p:nvSpPr>
        <p:spPr>
          <a:xfrm>
            <a:off x="3581400" y="2651760"/>
            <a:ext cx="7406640" cy="438912"/>
          </a:xfrm>
          <a:prstGeom prst="rect">
            <a:avLst/>
          </a:prstGeom>
          <a:solidFill>
            <a:srgbClr val="FFFFFF"/>
          </a:solidFill>
          <a:ln w="5239">
            <a:solidFill>
              <a:srgbClr val="DDE2EA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934970A-A61B-46EA-9059-D3F16C0B3338}"/>
              </a:ext>
            </a:extLst>
          </p:cNvPr>
          <p:cNvSpPr>
            <a:spLocks noGrp="1"/>
          </p:cNvSpPr>
          <p:nvPr/>
        </p:nvSpPr>
        <p:spPr>
          <a:xfrm>
            <a:off x="3691128" y="2761488"/>
            <a:ext cx="717804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датотеке које се тренутно мењају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F57A775-A5A5-44CD-9A49-BC3A13F022E9}"/>
              </a:ext>
            </a:extLst>
          </p:cNvPr>
          <p:cNvSpPr>
            <a:spLocks noGrp="1"/>
          </p:cNvSpPr>
          <p:nvPr/>
        </p:nvSpPr>
        <p:spPr>
          <a:xfrm>
            <a:off x="1203960" y="3090672"/>
            <a:ext cx="2377440" cy="438912"/>
          </a:xfrm>
          <a:prstGeom prst="rect">
            <a:avLst/>
          </a:prstGeom>
          <a:solidFill>
            <a:srgbClr val="FFFFFF"/>
          </a:solidFill>
          <a:ln w="5239">
            <a:solidFill>
              <a:srgbClr val="DDE2EA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DDC06DF-0A41-45DF-939F-CA1D4144BE1F}"/>
              </a:ext>
            </a:extLst>
          </p:cNvPr>
          <p:cNvSpPr>
            <a:spLocks noGrp="1"/>
          </p:cNvSpPr>
          <p:nvPr/>
        </p:nvSpPr>
        <p:spPr>
          <a:xfrm>
            <a:off x="1313688" y="3200400"/>
            <a:ext cx="214884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Staging area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80C080D-9436-4EBA-A935-A3B1149C1425}"/>
              </a:ext>
            </a:extLst>
          </p:cNvPr>
          <p:cNvSpPr>
            <a:spLocks noGrp="1"/>
          </p:cNvSpPr>
          <p:nvPr/>
        </p:nvSpPr>
        <p:spPr>
          <a:xfrm>
            <a:off x="3581400" y="3090672"/>
            <a:ext cx="7406640" cy="438912"/>
          </a:xfrm>
          <a:prstGeom prst="rect">
            <a:avLst/>
          </a:prstGeom>
          <a:solidFill>
            <a:srgbClr val="FFFFFF"/>
          </a:solidFill>
          <a:ln w="5239">
            <a:solidFill>
              <a:srgbClr val="DDE2EA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751EDCD-0D5F-4DDA-BBB4-79953B156DD6}"/>
              </a:ext>
            </a:extLst>
          </p:cNvPr>
          <p:cNvSpPr>
            <a:spLocks noGrp="1"/>
          </p:cNvSpPr>
          <p:nvPr/>
        </p:nvSpPr>
        <p:spPr>
          <a:xfrm>
            <a:off x="3691128" y="3200400"/>
            <a:ext cx="717804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избор садржаја за наредни commit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431A8FC-F7AF-454B-8BD6-FB2A23719541}"/>
              </a:ext>
            </a:extLst>
          </p:cNvPr>
          <p:cNvSpPr>
            <a:spLocks noGrp="1"/>
          </p:cNvSpPr>
          <p:nvPr/>
        </p:nvSpPr>
        <p:spPr>
          <a:xfrm>
            <a:off x="1203960" y="3529584"/>
            <a:ext cx="2377440" cy="438912"/>
          </a:xfrm>
          <a:prstGeom prst="rect">
            <a:avLst/>
          </a:prstGeom>
          <a:solidFill>
            <a:srgbClr val="FFFFFF"/>
          </a:solidFill>
          <a:ln w="5239">
            <a:solidFill>
              <a:srgbClr val="DDE2EA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6137570-2AB8-4B87-9CA6-7BCA73341EC8}"/>
              </a:ext>
            </a:extLst>
          </p:cNvPr>
          <p:cNvSpPr>
            <a:spLocks noGrp="1"/>
          </p:cNvSpPr>
          <p:nvPr/>
        </p:nvSpPr>
        <p:spPr>
          <a:xfrm>
            <a:off x="1313688" y="3639312"/>
            <a:ext cx="214884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Commit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CEA1CD6-86F8-4D41-B5D5-D43657AA2BAB}"/>
              </a:ext>
            </a:extLst>
          </p:cNvPr>
          <p:cNvSpPr>
            <a:spLocks noGrp="1"/>
          </p:cNvSpPr>
          <p:nvPr/>
        </p:nvSpPr>
        <p:spPr>
          <a:xfrm>
            <a:off x="3581400" y="3529584"/>
            <a:ext cx="7406640" cy="438912"/>
          </a:xfrm>
          <a:prstGeom prst="rect">
            <a:avLst/>
          </a:prstGeom>
          <a:solidFill>
            <a:srgbClr val="FFFFFF"/>
          </a:solidFill>
          <a:ln w="5239">
            <a:solidFill>
              <a:srgbClr val="DDE2EA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F133464-2FD9-4468-BB22-A74EA5804C09}"/>
              </a:ext>
            </a:extLst>
          </p:cNvPr>
          <p:cNvSpPr>
            <a:spLocks noGrp="1"/>
          </p:cNvSpPr>
          <p:nvPr/>
        </p:nvSpPr>
        <p:spPr>
          <a:xfrm>
            <a:off x="3691128" y="3639312"/>
            <a:ext cx="717804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кохерентна промена са описом намере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D8063A9-2F99-41D4-A53F-1947C41122CF}"/>
              </a:ext>
            </a:extLst>
          </p:cNvPr>
          <p:cNvSpPr>
            <a:spLocks noGrp="1"/>
          </p:cNvSpPr>
          <p:nvPr/>
        </p:nvSpPr>
        <p:spPr>
          <a:xfrm>
            <a:off x="1203960" y="3968496"/>
            <a:ext cx="2377440" cy="438912"/>
          </a:xfrm>
          <a:prstGeom prst="rect">
            <a:avLst/>
          </a:prstGeom>
          <a:solidFill>
            <a:srgbClr val="FFFFFF"/>
          </a:solidFill>
          <a:ln w="5239">
            <a:solidFill>
              <a:srgbClr val="DDE2EA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C2DAD7E-693F-4D6A-903D-52A48F2A294E}"/>
              </a:ext>
            </a:extLst>
          </p:cNvPr>
          <p:cNvSpPr>
            <a:spLocks noGrp="1"/>
          </p:cNvSpPr>
          <p:nvPr/>
        </p:nvSpPr>
        <p:spPr>
          <a:xfrm>
            <a:off x="1313688" y="4078224"/>
            <a:ext cx="214884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Branch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4A2A9D2-DD5D-4FDB-A12A-05B6740285DB}"/>
              </a:ext>
            </a:extLst>
          </p:cNvPr>
          <p:cNvSpPr>
            <a:spLocks noGrp="1"/>
          </p:cNvSpPr>
          <p:nvPr/>
        </p:nvSpPr>
        <p:spPr>
          <a:xfrm>
            <a:off x="3581400" y="3968496"/>
            <a:ext cx="7406640" cy="438912"/>
          </a:xfrm>
          <a:prstGeom prst="rect">
            <a:avLst/>
          </a:prstGeom>
          <a:solidFill>
            <a:srgbClr val="FFFFFF"/>
          </a:solidFill>
          <a:ln w="5239">
            <a:solidFill>
              <a:srgbClr val="DDE2EA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D6422F-0798-405E-BCDD-7409401C2F72}"/>
              </a:ext>
            </a:extLst>
          </p:cNvPr>
          <p:cNvSpPr>
            <a:spLocks noGrp="1"/>
          </p:cNvSpPr>
          <p:nvPr/>
        </p:nvSpPr>
        <p:spPr>
          <a:xfrm>
            <a:off x="3691128" y="4078224"/>
            <a:ext cx="717804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издвојена линија развоја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27FE70F-B256-4FD1-823D-65BB7BBF0C41}"/>
              </a:ext>
            </a:extLst>
          </p:cNvPr>
          <p:cNvSpPr>
            <a:spLocks noGrp="1"/>
          </p:cNvSpPr>
          <p:nvPr/>
        </p:nvSpPr>
        <p:spPr>
          <a:xfrm>
            <a:off x="1203960" y="4407408"/>
            <a:ext cx="2377440" cy="438912"/>
          </a:xfrm>
          <a:prstGeom prst="rect">
            <a:avLst/>
          </a:prstGeom>
          <a:solidFill>
            <a:srgbClr val="FFFFFF"/>
          </a:solidFill>
          <a:ln w="5239">
            <a:solidFill>
              <a:srgbClr val="DDE2EA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0777A0F-9354-4962-8CFB-1BB0A7CDA941}"/>
              </a:ext>
            </a:extLst>
          </p:cNvPr>
          <p:cNvSpPr>
            <a:spLocks noGrp="1"/>
          </p:cNvSpPr>
          <p:nvPr/>
        </p:nvSpPr>
        <p:spPr>
          <a:xfrm>
            <a:off x="1313688" y="4517136"/>
            <a:ext cx="214884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Remote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91C7241-79C6-4017-ABE9-97E728F1E2A1}"/>
              </a:ext>
            </a:extLst>
          </p:cNvPr>
          <p:cNvSpPr>
            <a:spLocks noGrp="1"/>
          </p:cNvSpPr>
          <p:nvPr/>
        </p:nvSpPr>
        <p:spPr>
          <a:xfrm>
            <a:off x="3581400" y="4407408"/>
            <a:ext cx="7406640" cy="438912"/>
          </a:xfrm>
          <a:prstGeom prst="rect">
            <a:avLst/>
          </a:prstGeom>
          <a:solidFill>
            <a:srgbClr val="FFFFFF"/>
          </a:solidFill>
          <a:ln w="5239">
            <a:solidFill>
              <a:srgbClr val="DDE2EA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DB3C0F1-E0C8-479A-95E5-CDD2C6930523}"/>
              </a:ext>
            </a:extLst>
          </p:cNvPr>
          <p:cNvSpPr>
            <a:spLocks noGrp="1"/>
          </p:cNvSpPr>
          <p:nvPr/>
        </p:nvSpPr>
        <p:spPr>
          <a:xfrm>
            <a:off x="3691128" y="4517136"/>
            <a:ext cx="717804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удаљени репозиторијум за размену промена</a:t>
            </a:r>
          </a:p>
        </p:txBody>
      </p:sp>
    </p:spTree>
    <p:extLst>
      <p:ext uri="{BB962C8B-B14F-4D97-AF65-F5344CB8AC3E}">
        <p14:creationId xmlns:p14="http://schemas.microsoft.com/office/powerpoint/2010/main" val="2907484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1E0C059-FFD4-4BCD-A09C-FD03162A862A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53AB0F1-BD42-43C1-83B9-81A6D6EB7875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9F62B1-35C3-47A9-AAE7-BAABD4CE1C3D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083E2D-9975-429D-8895-92A9A00AB7EA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Мали развојни корак изгледа овако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499E325-B4A3-4A51-9510-F71FBD8D47EF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 dirty="0" err="1">
                <a:solidFill>
                  <a:srgbClr val="5D6878"/>
                </a:solidFill>
                <a:latin typeface="Aptos"/>
                <a:ea typeface="Aptos"/>
                <a:cs typeface="Aptos"/>
              </a:rPr>
              <a:t>Команде</a:t>
            </a:r>
            <a:r>
              <a:rPr sz="1650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 </a:t>
            </a:r>
            <a:r>
              <a:rPr sz="1650" b="0" dirty="0" err="1">
                <a:solidFill>
                  <a:srgbClr val="5D6878"/>
                </a:solidFill>
                <a:latin typeface="Aptos"/>
                <a:ea typeface="Aptos"/>
                <a:cs typeface="Aptos"/>
              </a:rPr>
              <a:t>су</a:t>
            </a:r>
            <a:r>
              <a:rPr sz="1650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 </a:t>
            </a:r>
            <a:r>
              <a:rPr sz="1650" b="0" dirty="0" err="1">
                <a:solidFill>
                  <a:srgbClr val="5D6878"/>
                </a:solidFill>
                <a:latin typeface="Aptos"/>
                <a:ea typeface="Aptos"/>
                <a:cs typeface="Aptos"/>
              </a:rPr>
              <a:t>мање</a:t>
            </a:r>
            <a:r>
              <a:rPr sz="1650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 </a:t>
            </a:r>
            <a:r>
              <a:rPr sz="1650" b="0" dirty="0" err="1">
                <a:solidFill>
                  <a:srgbClr val="5D6878"/>
                </a:solidFill>
                <a:latin typeface="Aptos"/>
                <a:ea typeface="Aptos"/>
                <a:cs typeface="Aptos"/>
              </a:rPr>
              <a:t>важне</a:t>
            </a:r>
            <a:r>
              <a:rPr sz="1650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 </a:t>
            </a:r>
            <a:r>
              <a:rPr sz="1650" b="0" dirty="0" err="1">
                <a:solidFill>
                  <a:srgbClr val="5D6878"/>
                </a:solidFill>
                <a:latin typeface="Aptos"/>
                <a:ea typeface="Aptos"/>
                <a:cs typeface="Aptos"/>
              </a:rPr>
              <a:t>од</a:t>
            </a:r>
            <a:r>
              <a:rPr sz="1650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 </a:t>
            </a:r>
            <a:r>
              <a:rPr sz="1650" b="0" dirty="0" err="1">
                <a:solidFill>
                  <a:srgbClr val="5D6878"/>
                </a:solidFill>
                <a:latin typeface="Aptos"/>
                <a:ea typeface="Aptos"/>
                <a:cs typeface="Aptos"/>
              </a:rPr>
              <a:t>дисциплине</a:t>
            </a:r>
            <a:r>
              <a:rPr sz="1650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 </a:t>
            </a:r>
            <a:r>
              <a:rPr sz="1650" b="0" dirty="0" err="1">
                <a:solidFill>
                  <a:srgbClr val="5D6878"/>
                </a:solidFill>
                <a:latin typeface="Aptos"/>
                <a:ea typeface="Aptos"/>
                <a:cs typeface="Aptos"/>
              </a:rPr>
              <a:t>рада</a:t>
            </a:r>
            <a:r>
              <a:rPr sz="1650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 </a:t>
            </a:r>
            <a:r>
              <a:rPr sz="1650" b="0" dirty="0" err="1">
                <a:solidFill>
                  <a:srgbClr val="5D6878"/>
                </a:solidFill>
                <a:latin typeface="Aptos"/>
                <a:ea typeface="Aptos"/>
                <a:cs typeface="Aptos"/>
              </a:rPr>
              <a:t>око</a:t>
            </a:r>
            <a:r>
              <a:rPr sz="1650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 </a:t>
            </a:r>
            <a:r>
              <a:rPr sz="1650" b="0" dirty="0" err="1">
                <a:solidFill>
                  <a:srgbClr val="5D6878"/>
                </a:solidFill>
                <a:latin typeface="Aptos"/>
                <a:ea typeface="Aptos"/>
                <a:cs typeface="Aptos"/>
              </a:rPr>
              <a:t>њих</a:t>
            </a:r>
            <a:r>
              <a:rPr sz="1650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CD89768-80FA-4A2E-9AB7-64FBD827394F}"/>
              </a:ext>
            </a:extLst>
          </p:cNvPr>
          <p:cNvSpPr>
            <a:spLocks noGrp="1"/>
          </p:cNvSpPr>
          <p:nvPr/>
        </p:nvSpPr>
        <p:spPr>
          <a:xfrm>
            <a:off x="855921" y="2578608"/>
            <a:ext cx="5715000" cy="1947885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266FEE0-C8A3-485E-A1FC-A9E720BFB44D}"/>
              </a:ext>
            </a:extLst>
          </p:cNvPr>
          <p:cNvSpPr>
            <a:spLocks noGrp="1"/>
          </p:cNvSpPr>
          <p:nvPr/>
        </p:nvSpPr>
        <p:spPr>
          <a:xfrm>
            <a:off x="855921" y="2926080"/>
            <a:ext cx="5715000" cy="10972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A8DE9453-806E-4EB5-A0E1-8FCE2B1B06E4}"/>
              </a:ext>
            </a:extLst>
          </p:cNvPr>
          <p:cNvSpPr>
            <a:spLocks noGrp="1"/>
          </p:cNvSpPr>
          <p:nvPr/>
        </p:nvSpPr>
        <p:spPr>
          <a:xfrm>
            <a:off x="6049930" y="2697480"/>
            <a:ext cx="73152" cy="73152"/>
          </a:xfrm>
          <a:prstGeom prst="ellipse">
            <a:avLst/>
          </a:prstGeom>
          <a:solidFill>
            <a:srgbClr val="EE6B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900F10C7-74C5-4ED1-A70B-493B9BEF9E9F}"/>
              </a:ext>
            </a:extLst>
          </p:cNvPr>
          <p:cNvSpPr>
            <a:spLocks noGrp="1"/>
          </p:cNvSpPr>
          <p:nvPr/>
        </p:nvSpPr>
        <p:spPr>
          <a:xfrm>
            <a:off x="6196234" y="2697480"/>
            <a:ext cx="73152" cy="73152"/>
          </a:xfrm>
          <a:prstGeom prst="ellipse">
            <a:avLst/>
          </a:prstGeom>
          <a:solidFill>
            <a:srgbClr val="F5B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C80A41F-ABA5-47D9-8D73-AB85839D10A1}"/>
              </a:ext>
            </a:extLst>
          </p:cNvPr>
          <p:cNvSpPr>
            <a:spLocks noGrp="1"/>
          </p:cNvSpPr>
          <p:nvPr/>
        </p:nvSpPr>
        <p:spPr>
          <a:xfrm>
            <a:off x="6342538" y="2697480"/>
            <a:ext cx="73152" cy="73152"/>
          </a:xfrm>
          <a:prstGeom prst="ellipse">
            <a:avLst/>
          </a:prstGeom>
          <a:solidFill>
            <a:srgbClr val="62C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C15FBF3-B1E2-4678-9840-8E8BF2C10457}"/>
              </a:ext>
            </a:extLst>
          </p:cNvPr>
          <p:cNvSpPr>
            <a:spLocks noGrp="1"/>
          </p:cNvSpPr>
          <p:nvPr/>
        </p:nvSpPr>
        <p:spPr>
          <a:xfrm>
            <a:off x="989271" y="3054858"/>
            <a:ext cx="5448300" cy="22288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 dirty="0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125" dirty="0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git status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 dirty="0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125" dirty="0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git diff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 dirty="0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125" dirty="0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git add </a:t>
            </a:r>
            <a:r>
              <a:rPr sz="1125" dirty="0" err="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src</a:t>
            </a:r>
            <a:r>
              <a:rPr sz="1125" dirty="0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/</a:t>
            </a:r>
            <a:r>
              <a:rPr sz="1125" b="1" dirty="0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Application</a:t>
            </a:r>
            <a:r>
              <a:rPr sz="1125" dirty="0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/</a:t>
            </a:r>
            <a:r>
              <a:rPr sz="1125" b="1" dirty="0" err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ReservationService</a:t>
            </a:r>
            <a:r>
              <a:rPr sz="1125" dirty="0" err="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25" dirty="0" err="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cs</a:t>
            </a:r>
            <a:endParaRPr sz="1125" dirty="0">
              <a:solidFill>
                <a:srgbClr val="262B36"/>
              </a:solidFill>
              <a:latin typeface="Consolas"/>
              <a:ea typeface="Consolas"/>
              <a:cs typeface="Consolas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 dirty="0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4  </a:t>
            </a:r>
            <a:r>
              <a:rPr sz="1125" dirty="0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git add tests</a:t>
            </a:r>
            <a:r>
              <a:rPr sz="1125" dirty="0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/</a:t>
            </a:r>
            <a:r>
              <a:rPr sz="1125" b="1" dirty="0" err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ReservationServiceTests</a:t>
            </a:r>
            <a:r>
              <a:rPr sz="1125" dirty="0" err="1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25" dirty="0" err="1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cs</a:t>
            </a:r>
            <a:endParaRPr sz="1125" dirty="0">
              <a:solidFill>
                <a:srgbClr val="262B36"/>
              </a:solidFill>
              <a:latin typeface="Consolas"/>
              <a:ea typeface="Consolas"/>
              <a:cs typeface="Consolas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 dirty="0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5  </a:t>
            </a:r>
            <a:r>
              <a:rPr sz="1125" dirty="0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git diff </a:t>
            </a:r>
            <a:r>
              <a:rPr sz="1125" dirty="0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--</a:t>
            </a:r>
            <a:r>
              <a:rPr sz="1125" dirty="0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staged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 dirty="0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6  </a:t>
            </a:r>
            <a:r>
              <a:rPr sz="1125" dirty="0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git commit </a:t>
            </a:r>
            <a:r>
              <a:rPr sz="1125" dirty="0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125" dirty="0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m </a:t>
            </a:r>
            <a:r>
              <a:rPr sz="1125" dirty="0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"Add reservation overlap rule"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 dirty="0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7  </a:t>
            </a:r>
            <a:r>
              <a:rPr sz="1125" dirty="0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g</a:t>
            </a:r>
            <a:r>
              <a:rPr lang="en-US" sz="1125" dirty="0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i</a:t>
            </a:r>
            <a:r>
              <a:rPr sz="1125" dirty="0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t push </a:t>
            </a:r>
            <a:r>
              <a:rPr sz="1125" dirty="0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125" dirty="0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u origin feature</a:t>
            </a:r>
            <a:r>
              <a:rPr sz="1125" dirty="0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/</a:t>
            </a:r>
            <a:r>
              <a:rPr sz="1125" dirty="0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reservation</a:t>
            </a:r>
            <a:r>
              <a:rPr sz="1125" dirty="0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125" dirty="0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overlap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91412EB-4CFD-4B68-A774-FE11ABCE2F23}"/>
              </a:ext>
            </a:extLst>
          </p:cNvPr>
          <p:cNvSpPr>
            <a:spLocks noGrp="1"/>
          </p:cNvSpPr>
          <p:nvPr/>
        </p:nvSpPr>
        <p:spPr>
          <a:xfrm>
            <a:off x="6873240" y="2240280"/>
            <a:ext cx="3840480" cy="2715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Шта је важно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3855949-8864-4E1F-898C-5A3FADE37FEC}"/>
              </a:ext>
            </a:extLst>
          </p:cNvPr>
          <p:cNvSpPr>
            <a:spLocks noGrp="1"/>
          </p:cNvSpPr>
          <p:nvPr/>
        </p:nvSpPr>
        <p:spPr>
          <a:xfrm>
            <a:off x="6873240" y="2578608"/>
            <a:ext cx="3886200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Пре commit-а прегледати припремљени diff.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Један commit треба да има једну кохерентну намеру.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Неповезане промене не иду у исти Pull Request.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Главна грана остаје стабилна за цео тим.</a:t>
            </a:r>
          </a:p>
        </p:txBody>
      </p:sp>
    </p:spTree>
    <p:extLst>
      <p:ext uri="{BB962C8B-B14F-4D97-AF65-F5344CB8AC3E}">
        <p14:creationId xmlns:p14="http://schemas.microsoft.com/office/powerpoint/2010/main" val="20346789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C8BFA43-3F6B-4006-8845-72ABAF30A50E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21761DF-0787-4941-9BBC-8C30C64714CB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866ACD-7CE5-4C67-AB55-0C2D77F4FF5A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D39EB0-149F-4CA0-BD6B-049D70AE74E6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Pull Request повезује захтев са имплементацијом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71AE252-BD65-4B22-8642-183848776A98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Преглед се не ради после рада. Он је део рада.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8010E66-88FC-4CFC-AF06-01E5F3FE9A06}"/>
              </a:ext>
            </a:extLst>
          </p:cNvPr>
          <p:cNvSpPr>
            <a:spLocks noGrp="1"/>
          </p:cNvSpPr>
          <p:nvPr/>
        </p:nvSpPr>
        <p:spPr>
          <a:xfrm>
            <a:off x="914400" y="2209800"/>
            <a:ext cx="5067300" cy="1571625"/>
          </a:xfrm>
          <a:prstGeom prst="roundRect">
            <a:avLst>
              <a:gd name="adj" fmla="val 12000"/>
            </a:avLst>
          </a:prstGeom>
          <a:solidFill>
            <a:srgbClr val="F4F7FF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03C068C-76D9-4CA3-AB12-EDDA3996F522}"/>
              </a:ext>
            </a:extLst>
          </p:cNvPr>
          <p:cNvSpPr>
            <a:spLocks noGrp="1"/>
          </p:cNvSpPr>
          <p:nvPr/>
        </p:nvSpPr>
        <p:spPr>
          <a:xfrm>
            <a:off x="1085850" y="2333625"/>
            <a:ext cx="4724400" cy="2098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047B5F6-F7E6-47B6-B70C-99F405D1F780}"/>
              </a:ext>
            </a:extLst>
          </p:cNvPr>
          <p:cNvSpPr>
            <a:spLocks noGrp="1"/>
          </p:cNvSpPr>
          <p:nvPr/>
        </p:nvSpPr>
        <p:spPr>
          <a:xfrm>
            <a:off x="1085850" y="2590800"/>
            <a:ext cx="472440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Обим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472A819-2BC4-4B22-996A-AA997B54EEA7}"/>
              </a:ext>
            </a:extLst>
          </p:cNvPr>
          <p:cNvSpPr>
            <a:spLocks noGrp="1"/>
          </p:cNvSpPr>
          <p:nvPr/>
        </p:nvSpPr>
        <p:spPr>
          <a:xfrm>
            <a:off x="1085850" y="2952750"/>
            <a:ext cx="4724400" cy="733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да ли промена решава тачну ставку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A2FD6332-8F1D-4FE2-B5EA-139A0BF83DC3}"/>
              </a:ext>
            </a:extLst>
          </p:cNvPr>
          <p:cNvSpPr>
            <a:spLocks noGrp="1"/>
          </p:cNvSpPr>
          <p:nvPr/>
        </p:nvSpPr>
        <p:spPr>
          <a:xfrm>
            <a:off x="6210300" y="2209800"/>
            <a:ext cx="5067300" cy="1571625"/>
          </a:xfrm>
          <a:prstGeom prst="roundRect">
            <a:avLst>
              <a:gd name="adj" fmla="val 12000"/>
            </a:avLst>
          </a:prstGeom>
          <a:solidFill>
            <a:srgbClr val="F3FAF6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3455E27-300B-43F9-A8F7-8D7947A3AE44}"/>
              </a:ext>
            </a:extLst>
          </p:cNvPr>
          <p:cNvSpPr>
            <a:spLocks noGrp="1"/>
          </p:cNvSpPr>
          <p:nvPr/>
        </p:nvSpPr>
        <p:spPr>
          <a:xfrm>
            <a:off x="6381750" y="2333625"/>
            <a:ext cx="4724400" cy="2098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A915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4F7340E-F77B-4ECD-B745-B50677BF527D}"/>
              </a:ext>
            </a:extLst>
          </p:cNvPr>
          <p:cNvSpPr>
            <a:spLocks noGrp="1"/>
          </p:cNvSpPr>
          <p:nvPr/>
        </p:nvSpPr>
        <p:spPr>
          <a:xfrm>
            <a:off x="6381750" y="2590800"/>
            <a:ext cx="472440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Архитектура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9202C36-C974-40CC-AE3E-6BC355D4116E}"/>
              </a:ext>
            </a:extLst>
          </p:cNvPr>
          <p:cNvSpPr>
            <a:spLocks noGrp="1"/>
          </p:cNvSpPr>
          <p:nvPr/>
        </p:nvSpPr>
        <p:spPr>
          <a:xfrm>
            <a:off x="6381750" y="2952750"/>
            <a:ext cx="4724400" cy="733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да ли се поштују договорене границе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CFC23F61-E6A2-4366-8DCD-ECB245E3BC46}"/>
              </a:ext>
            </a:extLst>
          </p:cNvPr>
          <p:cNvSpPr>
            <a:spLocks noGrp="1"/>
          </p:cNvSpPr>
          <p:nvPr/>
        </p:nvSpPr>
        <p:spPr>
          <a:xfrm>
            <a:off x="914400" y="3971925"/>
            <a:ext cx="5067300" cy="1571625"/>
          </a:xfrm>
          <a:prstGeom prst="roundRect">
            <a:avLst>
              <a:gd name="adj" fmla="val 12000"/>
            </a:avLst>
          </a:prstGeom>
          <a:solidFill>
            <a:srgbClr val="FDF9F1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8B7E502-74C3-41A3-81B0-C80E4B640B52}"/>
              </a:ext>
            </a:extLst>
          </p:cNvPr>
          <p:cNvSpPr>
            <a:spLocks noGrp="1"/>
          </p:cNvSpPr>
          <p:nvPr/>
        </p:nvSpPr>
        <p:spPr>
          <a:xfrm>
            <a:off x="1085850" y="4095750"/>
            <a:ext cx="4724400" cy="2098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BE770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7235EAF-1CD9-4CAD-9FA6-C171F6035965}"/>
              </a:ext>
            </a:extLst>
          </p:cNvPr>
          <p:cNvSpPr>
            <a:spLocks noGrp="1"/>
          </p:cNvSpPr>
          <p:nvPr/>
        </p:nvSpPr>
        <p:spPr>
          <a:xfrm>
            <a:off x="1085850" y="4352925"/>
            <a:ext cx="472440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Тестови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98C5BE7-CBC7-4485-9337-D47730E9179A}"/>
              </a:ext>
            </a:extLst>
          </p:cNvPr>
          <p:cNvSpPr>
            <a:spLocks noGrp="1"/>
          </p:cNvSpPr>
          <p:nvPr/>
        </p:nvSpPr>
        <p:spPr>
          <a:xfrm>
            <a:off x="1085850" y="4714875"/>
            <a:ext cx="4724400" cy="733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да ли постоји доказ провере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4A49231E-E5AC-4374-B810-0F41BC491C75}"/>
              </a:ext>
            </a:extLst>
          </p:cNvPr>
          <p:cNvSpPr>
            <a:spLocks noGrp="1"/>
          </p:cNvSpPr>
          <p:nvPr/>
        </p:nvSpPr>
        <p:spPr>
          <a:xfrm>
            <a:off x="6210300" y="3971925"/>
            <a:ext cx="5067300" cy="1571625"/>
          </a:xfrm>
          <a:prstGeom prst="roundRect">
            <a:avLst>
              <a:gd name="adj" fmla="val 12000"/>
            </a:avLst>
          </a:prstGeom>
          <a:solidFill>
            <a:srgbClr val="F7F8FA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EE43AD6-E6F3-42D5-901A-67EDD1E33747}"/>
              </a:ext>
            </a:extLst>
          </p:cNvPr>
          <p:cNvSpPr>
            <a:spLocks noGrp="1"/>
          </p:cNvSpPr>
          <p:nvPr/>
        </p:nvSpPr>
        <p:spPr>
          <a:xfrm>
            <a:off x="6381750" y="4095750"/>
            <a:ext cx="4724400" cy="2098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B95C29B-5D35-4928-9592-FF6F6859FFE4}"/>
              </a:ext>
            </a:extLst>
          </p:cNvPr>
          <p:cNvSpPr>
            <a:spLocks noGrp="1"/>
          </p:cNvSpPr>
          <p:nvPr/>
        </p:nvSpPr>
        <p:spPr>
          <a:xfrm>
            <a:off x="6381750" y="4352925"/>
            <a:ext cx="472440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Ризици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A1724A3-44E8-4414-B430-54CE08642849}"/>
              </a:ext>
            </a:extLst>
          </p:cNvPr>
          <p:cNvSpPr>
            <a:spLocks noGrp="1"/>
          </p:cNvSpPr>
          <p:nvPr/>
        </p:nvSpPr>
        <p:spPr>
          <a:xfrm>
            <a:off x="6381750" y="4714875"/>
            <a:ext cx="4724400" cy="733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шта се мења и шта може поћи по злу</a:t>
            </a:r>
          </a:p>
        </p:txBody>
      </p:sp>
    </p:spTree>
    <p:extLst>
      <p:ext uri="{BB962C8B-B14F-4D97-AF65-F5344CB8AC3E}">
        <p14:creationId xmlns:p14="http://schemas.microsoft.com/office/powerpoint/2010/main" val="8878074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4E680FA-F3CD-4716-90BF-1339B29FF793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0F682B4-2CCD-4998-AB96-A27F4F1CDDF6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6C1CA9A-EC86-4196-989E-5CA57840C0D3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0D3857-7081-4514-A120-40FCC795DD58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Конфликт при спајању је одлука о понашању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83A0AD-922A-410F-8236-0A4DAADAABD7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Решење конфликта није само уклањање техничких маркера.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C3BE7D5-BF4C-4012-AE5E-F7422B584E90}"/>
              </a:ext>
            </a:extLst>
          </p:cNvPr>
          <p:cNvSpPr>
            <a:spLocks noGrp="1"/>
          </p:cNvSpPr>
          <p:nvPr/>
        </p:nvSpPr>
        <p:spPr>
          <a:xfrm>
            <a:off x="914400" y="2511857"/>
            <a:ext cx="5715000" cy="2001047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5BD5C48-BFA6-4D67-8F43-32981893B161}"/>
              </a:ext>
            </a:extLst>
          </p:cNvPr>
          <p:cNvSpPr>
            <a:spLocks noGrp="1"/>
          </p:cNvSpPr>
          <p:nvPr/>
        </p:nvSpPr>
        <p:spPr>
          <a:xfrm>
            <a:off x="914400" y="2859329"/>
            <a:ext cx="5715000" cy="10972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4DAB81CB-7A15-489E-9799-13E8E7CF035A}"/>
              </a:ext>
            </a:extLst>
          </p:cNvPr>
          <p:cNvSpPr>
            <a:spLocks noGrp="1"/>
          </p:cNvSpPr>
          <p:nvPr/>
        </p:nvSpPr>
        <p:spPr>
          <a:xfrm>
            <a:off x="6065871" y="2630729"/>
            <a:ext cx="73152" cy="73152"/>
          </a:xfrm>
          <a:prstGeom prst="ellipse">
            <a:avLst/>
          </a:prstGeom>
          <a:solidFill>
            <a:srgbClr val="EE6B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3087797-CFB2-4F0E-B8EA-911F38CBF0B7}"/>
              </a:ext>
            </a:extLst>
          </p:cNvPr>
          <p:cNvSpPr>
            <a:spLocks noGrp="1"/>
          </p:cNvSpPr>
          <p:nvPr/>
        </p:nvSpPr>
        <p:spPr>
          <a:xfrm>
            <a:off x="6212175" y="2630729"/>
            <a:ext cx="73152" cy="73152"/>
          </a:xfrm>
          <a:prstGeom prst="ellipse">
            <a:avLst/>
          </a:prstGeom>
          <a:solidFill>
            <a:srgbClr val="F5B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42E2808-832F-418E-BCC3-A45F9C69CD2B}"/>
              </a:ext>
            </a:extLst>
          </p:cNvPr>
          <p:cNvSpPr>
            <a:spLocks noGrp="1"/>
          </p:cNvSpPr>
          <p:nvPr/>
        </p:nvSpPr>
        <p:spPr>
          <a:xfrm>
            <a:off x="6358479" y="2630729"/>
            <a:ext cx="73152" cy="73152"/>
          </a:xfrm>
          <a:prstGeom prst="ellipse">
            <a:avLst/>
          </a:prstGeom>
          <a:solidFill>
            <a:srgbClr val="62C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8A67DBA-E473-4C8C-8CD8-A6C7547C31D1}"/>
              </a:ext>
            </a:extLst>
          </p:cNvPr>
          <p:cNvSpPr>
            <a:spLocks noGrp="1"/>
          </p:cNvSpPr>
          <p:nvPr/>
        </p:nvSpPr>
        <p:spPr>
          <a:xfrm>
            <a:off x="1047750" y="2988107"/>
            <a:ext cx="5448300" cy="22288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git checkout main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git pull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git checkout feature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/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reservation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overlap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4  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git merge main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5  </a:t>
            </a:r>
            <a:r>
              <a:rPr sz="1125">
                <a:solidFill>
                  <a:srgbClr val="55845A"/>
                </a:solidFill>
                <a:latin typeface="Consolas"/>
                <a:ea typeface="Consolas"/>
                <a:cs typeface="Consolas"/>
              </a:rPr>
              <a:t># решити конфликт и прегледати diff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6  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git add src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/</a:t>
            </a:r>
            <a:r>
              <a:rPr sz="1125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Application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/</a:t>
            </a:r>
            <a:r>
              <a:rPr sz="1125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ReservationService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cs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7  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git commit 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m </a:t>
            </a:r>
            <a:r>
              <a:rPr sz="1125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"Resolve reservation rule conflict"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8  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dotnet test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2E9E001-2E22-45E7-837F-BF5017F841D1}"/>
              </a:ext>
            </a:extLst>
          </p:cNvPr>
          <p:cNvSpPr>
            <a:spLocks noGrp="1"/>
          </p:cNvSpPr>
          <p:nvPr/>
        </p:nvSpPr>
        <p:spPr>
          <a:xfrm>
            <a:off x="6873240" y="2240280"/>
            <a:ext cx="3840480" cy="2715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Шта је важно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7013708-FC78-47E4-86CF-EA51E7BDC016}"/>
              </a:ext>
            </a:extLst>
          </p:cNvPr>
          <p:cNvSpPr>
            <a:spLocks noGrp="1"/>
          </p:cNvSpPr>
          <p:nvPr/>
        </p:nvSpPr>
        <p:spPr>
          <a:xfrm>
            <a:off x="6873240" y="2578608"/>
            <a:ext cx="3886200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Одлучити које понашање мора да остане.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Последњи корак је провера да систем и даље ради.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Force push није уобичајен ток на дељеним гранама.</a:t>
            </a:r>
          </a:p>
        </p:txBody>
      </p:sp>
    </p:spTree>
    <p:extLst>
      <p:ext uri="{BB962C8B-B14F-4D97-AF65-F5344CB8AC3E}">
        <p14:creationId xmlns:p14="http://schemas.microsoft.com/office/powerpoint/2010/main" val="171823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FB2400D-34AA-49E8-882F-4ADC10C2FA20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E3D3E3F-E90E-49BC-9CB0-38880E7D93E8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22D32D-087B-4519-9363-6A972215BB31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F3C8899-4F27-4569-A0D7-521261853797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P1 је први доказ да тим ради контролисано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C6FD43-7C98-4C99-9BA1-540F5DD9B0A7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Не очекује се велика имплементација. Очекује се следљив процес.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0519446-7006-4334-B805-84B6F9DD07AA}"/>
              </a:ext>
            </a:extLst>
          </p:cNvPr>
          <p:cNvSpPr>
            <a:spLocks noGrp="1"/>
          </p:cNvSpPr>
          <p:nvPr/>
        </p:nvSpPr>
        <p:spPr>
          <a:xfrm>
            <a:off x="914400" y="2209800"/>
            <a:ext cx="5067300" cy="1571625"/>
          </a:xfrm>
          <a:prstGeom prst="roundRect">
            <a:avLst>
              <a:gd name="adj" fmla="val 12000"/>
            </a:avLst>
          </a:prstGeom>
          <a:solidFill>
            <a:srgbClr val="F4F7FF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0A22AC7-BBC8-4EE3-B35B-F8FA3FE8F563}"/>
              </a:ext>
            </a:extLst>
          </p:cNvPr>
          <p:cNvSpPr>
            <a:spLocks noGrp="1"/>
          </p:cNvSpPr>
          <p:nvPr/>
        </p:nvSpPr>
        <p:spPr>
          <a:xfrm>
            <a:off x="1085850" y="2333625"/>
            <a:ext cx="4724400" cy="2098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026238C-CF01-436E-AAA7-15A735040C16}"/>
              </a:ext>
            </a:extLst>
          </p:cNvPr>
          <p:cNvSpPr>
            <a:spLocks noGrp="1"/>
          </p:cNvSpPr>
          <p:nvPr/>
        </p:nvSpPr>
        <p:spPr>
          <a:xfrm>
            <a:off x="1085850" y="2590800"/>
            <a:ext cx="472440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Репозиторијум и README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43CBD03-EBF6-42AD-9255-E9740309C557}"/>
              </a:ext>
            </a:extLst>
          </p:cNvPr>
          <p:cNvSpPr>
            <a:spLocks noGrp="1"/>
          </p:cNvSpPr>
          <p:nvPr/>
        </p:nvSpPr>
        <p:spPr>
          <a:xfrm>
            <a:off x="1085850" y="2952750"/>
            <a:ext cx="4724400" cy="733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заједнички репозиторијум и основни опис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58655E3-92DB-4546-9FC0-48C3341D12B5}"/>
              </a:ext>
            </a:extLst>
          </p:cNvPr>
          <p:cNvSpPr>
            <a:spLocks noGrp="1"/>
          </p:cNvSpPr>
          <p:nvPr/>
        </p:nvSpPr>
        <p:spPr>
          <a:xfrm>
            <a:off x="6210300" y="2209800"/>
            <a:ext cx="5067300" cy="1571625"/>
          </a:xfrm>
          <a:prstGeom prst="roundRect">
            <a:avLst>
              <a:gd name="adj" fmla="val 12000"/>
            </a:avLst>
          </a:prstGeom>
          <a:solidFill>
            <a:srgbClr val="F3FAF6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4FF5065-EE3E-4529-8EE8-FAEC35E23799}"/>
              </a:ext>
            </a:extLst>
          </p:cNvPr>
          <p:cNvSpPr>
            <a:spLocks noGrp="1"/>
          </p:cNvSpPr>
          <p:nvPr/>
        </p:nvSpPr>
        <p:spPr>
          <a:xfrm>
            <a:off x="6381750" y="2333625"/>
            <a:ext cx="4724400" cy="2098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A915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F524162-81F2-4717-9E72-2B3C35C086B3}"/>
              </a:ext>
            </a:extLst>
          </p:cNvPr>
          <p:cNvSpPr>
            <a:spLocks noGrp="1"/>
          </p:cNvSpPr>
          <p:nvPr/>
        </p:nvSpPr>
        <p:spPr>
          <a:xfrm>
            <a:off x="6381750" y="2590800"/>
            <a:ext cx="472440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Почетни backlog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BBCF2ED-5445-4603-9C01-E58D152242B6}"/>
              </a:ext>
            </a:extLst>
          </p:cNvPr>
          <p:cNvSpPr>
            <a:spLocks noGrp="1"/>
          </p:cNvSpPr>
          <p:nvPr/>
        </p:nvSpPr>
        <p:spPr>
          <a:xfrm>
            <a:off x="6381750" y="2952750"/>
            <a:ext cx="4724400" cy="733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јасне ставке и приоритети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455A00B3-235A-48A2-9E22-2E4312E1417E}"/>
              </a:ext>
            </a:extLst>
          </p:cNvPr>
          <p:cNvSpPr>
            <a:spLocks noGrp="1"/>
          </p:cNvSpPr>
          <p:nvPr/>
        </p:nvSpPr>
        <p:spPr>
          <a:xfrm>
            <a:off x="914400" y="3971925"/>
            <a:ext cx="5067300" cy="1571625"/>
          </a:xfrm>
          <a:prstGeom prst="roundRect">
            <a:avLst>
              <a:gd name="adj" fmla="val 12000"/>
            </a:avLst>
          </a:prstGeom>
          <a:solidFill>
            <a:srgbClr val="FDF9F1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B598E15-B2EF-4328-9E3C-770A3F510B55}"/>
              </a:ext>
            </a:extLst>
          </p:cNvPr>
          <p:cNvSpPr>
            <a:spLocks noGrp="1"/>
          </p:cNvSpPr>
          <p:nvPr/>
        </p:nvSpPr>
        <p:spPr>
          <a:xfrm>
            <a:off x="1085850" y="4095750"/>
            <a:ext cx="4724400" cy="2098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BE770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84F83FF-AC4D-4690-B820-95D0857A1DB5}"/>
              </a:ext>
            </a:extLst>
          </p:cNvPr>
          <p:cNvSpPr>
            <a:spLocks noGrp="1"/>
          </p:cNvSpPr>
          <p:nvPr/>
        </p:nvSpPr>
        <p:spPr>
          <a:xfrm>
            <a:off x="1085850" y="4352925"/>
            <a:ext cx="472440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Грана или PR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5EB8678-AF7D-402A-B588-DA2F475D9AED}"/>
              </a:ext>
            </a:extLst>
          </p:cNvPr>
          <p:cNvSpPr>
            <a:spLocks noGrp="1"/>
          </p:cNvSpPr>
          <p:nvPr/>
        </p:nvSpPr>
        <p:spPr>
          <a:xfrm>
            <a:off x="1085850" y="4714875"/>
            <a:ext cx="4724400" cy="733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ставка повезана са конкретним радом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306A5792-B15C-422D-AD1F-22D9215C8FD2}"/>
              </a:ext>
            </a:extLst>
          </p:cNvPr>
          <p:cNvSpPr>
            <a:spLocks noGrp="1"/>
          </p:cNvSpPr>
          <p:nvPr/>
        </p:nvSpPr>
        <p:spPr>
          <a:xfrm>
            <a:off x="6210300" y="3971925"/>
            <a:ext cx="5067300" cy="1571625"/>
          </a:xfrm>
          <a:prstGeom prst="roundRect">
            <a:avLst>
              <a:gd name="adj" fmla="val 12000"/>
            </a:avLst>
          </a:prstGeom>
          <a:solidFill>
            <a:srgbClr val="F7F8FA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30F7658-5E48-4597-BCCB-B24E3D925F4F}"/>
              </a:ext>
            </a:extLst>
          </p:cNvPr>
          <p:cNvSpPr>
            <a:spLocks noGrp="1"/>
          </p:cNvSpPr>
          <p:nvPr/>
        </p:nvSpPr>
        <p:spPr>
          <a:xfrm>
            <a:off x="6381750" y="4095750"/>
            <a:ext cx="4724400" cy="2098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B841B65-F169-4B3F-B5F7-180943EE0A68}"/>
              </a:ext>
            </a:extLst>
          </p:cNvPr>
          <p:cNvSpPr>
            <a:spLocks noGrp="1"/>
          </p:cNvSpPr>
          <p:nvPr/>
        </p:nvSpPr>
        <p:spPr>
          <a:xfrm>
            <a:off x="6381750" y="4352925"/>
            <a:ext cx="472440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Докази провере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EC158D0-FDD5-4E30-9BCE-123B796877FC}"/>
              </a:ext>
            </a:extLst>
          </p:cNvPr>
          <p:cNvSpPr>
            <a:spLocks noGrp="1"/>
          </p:cNvSpPr>
          <p:nvPr/>
        </p:nvSpPr>
        <p:spPr>
          <a:xfrm>
            <a:off x="6381750" y="4714875"/>
            <a:ext cx="4724400" cy="733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тим уме да објасни шта је урађено</a:t>
            </a:r>
          </a:p>
        </p:txBody>
      </p:sp>
    </p:spTree>
    <p:extLst>
      <p:ext uri="{BB962C8B-B14F-4D97-AF65-F5344CB8AC3E}">
        <p14:creationId xmlns:p14="http://schemas.microsoft.com/office/powerpoint/2010/main" val="8291660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90B63D8-6DF1-41D4-B396-AA6995C0BD3E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C88BDCF-596F-4B87-A405-F969563E1BB7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2D498F1-9E48-44C5-B8C1-3E29F36F0A8F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6BA577-585F-4F69-8229-744C60E172A1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Одговорност за рад остаје код студента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60BDB7-E936-41DB-8817-245367A0EB57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AI алати су дозвољени, али нису доказ разумевања.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8C5686-D4C1-4A91-8720-1EB0365C743E}"/>
              </a:ext>
            </a:extLst>
          </p:cNvPr>
          <p:cNvSpPr>
            <a:spLocks noGrp="1"/>
          </p:cNvSpPr>
          <p:nvPr/>
        </p:nvSpPr>
        <p:spPr>
          <a:xfrm>
            <a:off x="914400" y="2331720"/>
            <a:ext cx="47625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ПОТРЕБНО ЈЕ РАЗГРАНИЧИТИ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7F7AAA4-CC4C-4A31-B917-6147A9333003}"/>
              </a:ext>
            </a:extLst>
          </p:cNvPr>
          <p:cNvSpPr>
            <a:spLocks noGrp="1"/>
          </p:cNvSpPr>
          <p:nvPr/>
        </p:nvSpPr>
        <p:spPr>
          <a:xfrm>
            <a:off x="914400" y="2697480"/>
            <a:ext cx="4762500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сопствени рад</a:t>
            </a:r>
          </a:p>
          <a:p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рад осталих чланова тима</a:t>
            </a:r>
          </a:p>
          <a:p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садржај добијен спољним алатима</a:t>
            </a:r>
          </a:p>
        </p:txBody>
      </p:sp>
      <p:sp>
        <p:nvSpPr>
          <p:cNvPr id="9" name="Connector 8">
            <a:extLst>
              <a:ext uri="{FF2B5EF4-FFF2-40B4-BE49-F238E27FC236}">
                <a16:creationId xmlns:a16="http://schemas.microsoft.com/office/drawing/2014/main" id="{8FC3E92E-62D7-4272-B07C-4331C2E0D84D}"/>
              </a:ext>
            </a:extLst>
          </p:cNvPr>
          <p:cNvSpPr>
            <a:spLocks noGrp="1"/>
          </p:cNvSpPr>
          <p:nvPr/>
        </p:nvSpPr>
        <p:spPr>
          <a:xfrm>
            <a:off x="6096000" y="2331720"/>
            <a:ext cx="0" cy="3200400"/>
          </a:xfrm>
          <a:prstGeom prst="line">
            <a:avLst/>
          </a:prstGeom>
          <a:ln w="1016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C89D09E-CBBA-4B34-BF1A-07B3390C75FB}"/>
              </a:ext>
            </a:extLst>
          </p:cNvPr>
          <p:cNvSpPr>
            <a:spLocks noGrp="1"/>
          </p:cNvSpPr>
          <p:nvPr/>
        </p:nvSpPr>
        <p:spPr>
          <a:xfrm>
            <a:off x="6515100" y="2331720"/>
            <a:ext cx="47625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0A915F"/>
                </a:solidFill>
                <a:latin typeface="Aptos"/>
                <a:ea typeface="Aptos"/>
                <a:cs typeface="Aptos"/>
              </a:rPr>
              <a:t>РЕЛЕВАНТАН ДОКАЗ РАДА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249B669-1FEB-48C1-8512-88BF625233BD}"/>
              </a:ext>
            </a:extLst>
          </p:cNvPr>
          <p:cNvSpPr>
            <a:spLocks noGrp="1"/>
          </p:cNvSpPr>
          <p:nvPr/>
        </p:nvSpPr>
        <p:spPr>
          <a:xfrm>
            <a:off x="6515100" y="2697480"/>
            <a:ext cx="4762500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репозиторијум и историја измена</a:t>
            </a:r>
          </a:p>
          <a:p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тестови и документација</a:t>
            </a:r>
          </a:p>
          <a:p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евиденција употребе AI алата</a:t>
            </a:r>
          </a:p>
          <a:p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самостално образложење</a:t>
            </a:r>
          </a:p>
        </p:txBody>
      </p:sp>
    </p:spTree>
    <p:extLst>
      <p:ext uri="{BB962C8B-B14F-4D97-AF65-F5344CB8AC3E}">
        <p14:creationId xmlns:p14="http://schemas.microsoft.com/office/powerpoint/2010/main" val="8882334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68EEE03-97C0-4C68-8F54-690DACB4DAEB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D87B101-9009-4EEC-9442-B81A1FE2AABC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B09176-6A91-4D8D-83C6-FA9B3F1E9A96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47C4C8F-DDAB-4FA8-AA38-81B8A887E549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Tapiz Boards је радни договор тима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A0C4E5D-8F27-4E03-8D7F-AD0F0224DA81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Табла није само списак картица, већ видљив ток од идеје до прихваћене промене.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A66CE8D6-802E-440F-9FE8-00451242D275}"/>
              </a:ext>
            </a:extLst>
          </p:cNvPr>
          <p:cNvSpPr>
            <a:spLocks noGrp="1"/>
          </p:cNvSpPr>
          <p:nvPr/>
        </p:nvSpPr>
        <p:spPr>
          <a:xfrm>
            <a:off x="914400" y="2152650"/>
            <a:ext cx="6858000" cy="3505200"/>
          </a:xfrm>
          <a:prstGeom prst="roundRect">
            <a:avLst>
              <a:gd name="adj" fmla="val 12000"/>
            </a:avLst>
          </a:prstGeom>
          <a:solidFill>
            <a:srgbClr val="FCFDFF"/>
          </a:solidFill>
          <a:ln w="6668">
            <a:solidFill>
              <a:srgbClr val="CBD5E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E020F70-9922-4F60-BA45-14DFAD626D75}"/>
              </a:ext>
            </a:extLst>
          </p:cNvPr>
          <p:cNvSpPr>
            <a:spLocks noGrp="1"/>
          </p:cNvSpPr>
          <p:nvPr/>
        </p:nvSpPr>
        <p:spPr>
          <a:xfrm>
            <a:off x="914400" y="2543175"/>
            <a:ext cx="6858000" cy="6858"/>
          </a:xfrm>
          <a:prstGeom prst="rect">
            <a:avLst/>
          </a:prstGeom>
          <a:solidFill>
            <a:srgbClr val="AAB4C3"/>
          </a:solidFill>
          <a:ln w="3810">
            <a:solidFill>
              <a:srgbClr val="AAB4C3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EE4BA23-2F18-432F-A0C8-3FF5A15EA4A5}"/>
              </a:ext>
            </a:extLst>
          </p:cNvPr>
          <p:cNvSpPr>
            <a:spLocks noGrp="1"/>
          </p:cNvSpPr>
          <p:nvPr/>
        </p:nvSpPr>
        <p:spPr>
          <a:xfrm>
            <a:off x="1164263" y="2242360"/>
            <a:ext cx="20955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dirty="0">
                <a:solidFill>
                  <a:srgbClr val="2D5BFF"/>
                </a:solidFill>
                <a:latin typeface="Aptos"/>
                <a:ea typeface="Aptos"/>
                <a:cs typeface="Aptos"/>
              </a:rPr>
              <a:t>Tapiz Boards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82C7806D-14D6-443A-93BA-39315F9110AA}"/>
              </a:ext>
            </a:extLst>
          </p:cNvPr>
          <p:cNvSpPr>
            <a:spLocks noGrp="1"/>
          </p:cNvSpPr>
          <p:nvPr/>
        </p:nvSpPr>
        <p:spPr>
          <a:xfrm>
            <a:off x="1066800" y="2781300"/>
            <a:ext cx="1504950" cy="2514600"/>
          </a:xfrm>
          <a:prstGeom prst="roundRect">
            <a:avLst>
              <a:gd name="adj" fmla="val 12000"/>
            </a:avLst>
          </a:prstGeom>
          <a:solidFill>
            <a:srgbClr val="F7F8FA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5AC520F-FB22-44E9-AF81-724FAFB88F5E}"/>
              </a:ext>
            </a:extLst>
          </p:cNvPr>
          <p:cNvSpPr>
            <a:spLocks noGrp="1"/>
          </p:cNvSpPr>
          <p:nvPr/>
        </p:nvSpPr>
        <p:spPr>
          <a:xfrm>
            <a:off x="1181100" y="2914650"/>
            <a:ext cx="1276350" cy="2715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63" b="1">
                <a:solidFill>
                  <a:srgbClr val="1F2633"/>
                </a:solidFill>
                <a:latin typeface="Aptos"/>
                <a:ea typeface="Aptos"/>
                <a:cs typeface="Aptos"/>
              </a:rPr>
              <a:t>To do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186EF244-01CB-4E38-9450-05C8B82004A0}"/>
              </a:ext>
            </a:extLst>
          </p:cNvPr>
          <p:cNvSpPr>
            <a:spLocks noGrp="1"/>
          </p:cNvSpPr>
          <p:nvPr/>
        </p:nvSpPr>
        <p:spPr>
          <a:xfrm>
            <a:off x="1181100" y="3238500"/>
            <a:ext cx="1276350" cy="7429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5715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5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78CAF06-742D-4C41-A227-3717B8302BD9}"/>
              </a:ext>
            </a:extLst>
          </p:cNvPr>
          <p:cNvSpPr>
            <a:spLocks noGrp="1"/>
          </p:cNvSpPr>
          <p:nvPr/>
        </p:nvSpPr>
        <p:spPr>
          <a:xfrm>
            <a:off x="1257300" y="3333750"/>
            <a:ext cx="1123950" cy="7920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13" b="1">
                <a:solidFill>
                  <a:srgbClr val="1F2633"/>
                </a:solidFill>
                <a:latin typeface="Aptos"/>
                <a:ea typeface="Aptos"/>
                <a:cs typeface="Aptos"/>
              </a:rPr>
              <a:t>US-05
Резервација опреме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B0FCA1BF-339A-4815-919A-B4934C9EB278}"/>
              </a:ext>
            </a:extLst>
          </p:cNvPr>
          <p:cNvSpPr>
            <a:spLocks noGrp="1"/>
          </p:cNvSpPr>
          <p:nvPr/>
        </p:nvSpPr>
        <p:spPr>
          <a:xfrm>
            <a:off x="1181100" y="4171950"/>
            <a:ext cx="1276350" cy="5715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5715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492A8CC-2C37-41A7-BC01-EE020896D0BF}"/>
              </a:ext>
            </a:extLst>
          </p:cNvPr>
          <p:cNvSpPr>
            <a:spLocks noGrp="1"/>
          </p:cNvSpPr>
          <p:nvPr/>
        </p:nvSpPr>
        <p:spPr>
          <a:xfrm>
            <a:off x="1257300" y="4276725"/>
            <a:ext cx="1123950" cy="4080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38" b="0">
                <a:solidFill>
                  <a:srgbClr val="5B6678"/>
                </a:solidFill>
                <a:latin typeface="Aptos"/>
                <a:ea typeface="Aptos"/>
                <a:cs typeface="Aptos"/>
              </a:rPr>
              <a:t>Validacija termina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9451191-30A3-4F7D-9FAC-27591F60D0DE}"/>
              </a:ext>
            </a:extLst>
          </p:cNvPr>
          <p:cNvSpPr>
            <a:spLocks noGrp="1"/>
          </p:cNvSpPr>
          <p:nvPr/>
        </p:nvSpPr>
        <p:spPr>
          <a:xfrm>
            <a:off x="2724150" y="2781300"/>
            <a:ext cx="1504950" cy="2514600"/>
          </a:xfrm>
          <a:prstGeom prst="roundRect">
            <a:avLst>
              <a:gd name="adj" fmla="val 12000"/>
            </a:avLst>
          </a:prstGeom>
          <a:solidFill>
            <a:srgbClr val="F7F8FA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31497E2-C78C-4EE3-9738-CD32FD546D34}"/>
              </a:ext>
            </a:extLst>
          </p:cNvPr>
          <p:cNvSpPr>
            <a:spLocks noGrp="1"/>
          </p:cNvSpPr>
          <p:nvPr/>
        </p:nvSpPr>
        <p:spPr>
          <a:xfrm>
            <a:off x="2838450" y="2914650"/>
            <a:ext cx="1276350" cy="2715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63" b="1">
                <a:solidFill>
                  <a:srgbClr val="1F2633"/>
                </a:solidFill>
                <a:latin typeface="Aptos"/>
                <a:ea typeface="Aptos"/>
                <a:cs typeface="Aptos"/>
              </a:rPr>
              <a:t>U radu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7F5BC2CA-3AC6-4711-B89C-35E83BCB1E84}"/>
              </a:ext>
            </a:extLst>
          </p:cNvPr>
          <p:cNvSpPr>
            <a:spLocks noGrp="1"/>
          </p:cNvSpPr>
          <p:nvPr/>
        </p:nvSpPr>
        <p:spPr>
          <a:xfrm>
            <a:off x="2838450" y="3238500"/>
            <a:ext cx="1276350" cy="7429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5715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5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BFDCC4C-6064-4A77-A9BF-ED7E6325CF74}"/>
              </a:ext>
            </a:extLst>
          </p:cNvPr>
          <p:cNvSpPr>
            <a:spLocks noGrp="1"/>
          </p:cNvSpPr>
          <p:nvPr/>
        </p:nvSpPr>
        <p:spPr>
          <a:xfrm>
            <a:off x="2914650" y="3333750"/>
            <a:ext cx="1123950" cy="7920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13" b="1">
                <a:solidFill>
                  <a:srgbClr val="1F2633"/>
                </a:solidFill>
                <a:latin typeface="Aptos"/>
                <a:ea typeface="Aptos"/>
                <a:cs typeface="Aptos"/>
              </a:rPr>
              <a:t>Sprečiti preklapanje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76F2611C-B95C-4161-BFDD-50F0F2260E5E}"/>
              </a:ext>
            </a:extLst>
          </p:cNvPr>
          <p:cNvSpPr>
            <a:spLocks noGrp="1"/>
          </p:cNvSpPr>
          <p:nvPr/>
        </p:nvSpPr>
        <p:spPr>
          <a:xfrm>
            <a:off x="2838450" y="4171950"/>
            <a:ext cx="1276350" cy="5715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5715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A0C8A14-33B9-4013-9601-B13552D99029}"/>
              </a:ext>
            </a:extLst>
          </p:cNvPr>
          <p:cNvSpPr>
            <a:spLocks noGrp="1"/>
          </p:cNvSpPr>
          <p:nvPr/>
        </p:nvSpPr>
        <p:spPr>
          <a:xfrm>
            <a:off x="2914650" y="4276725"/>
            <a:ext cx="1123950" cy="38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38" b="0">
                <a:solidFill>
                  <a:srgbClr val="5B6678"/>
                </a:solidFill>
                <a:latin typeface="Aptos"/>
                <a:ea typeface="Aptos"/>
                <a:cs typeface="Aptos"/>
              </a:rPr>
              <a:t>Unit testovi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43AE7639-EBEF-40C1-9BD4-683FF25F6785}"/>
              </a:ext>
            </a:extLst>
          </p:cNvPr>
          <p:cNvSpPr>
            <a:spLocks noGrp="1"/>
          </p:cNvSpPr>
          <p:nvPr/>
        </p:nvSpPr>
        <p:spPr>
          <a:xfrm>
            <a:off x="4381500" y="2781300"/>
            <a:ext cx="1504950" cy="2514600"/>
          </a:xfrm>
          <a:prstGeom prst="roundRect">
            <a:avLst>
              <a:gd name="adj" fmla="val 12000"/>
            </a:avLst>
          </a:prstGeom>
          <a:solidFill>
            <a:srgbClr val="F7F8FA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58D9703-BF67-4107-B0A6-D16376EAE9F0}"/>
              </a:ext>
            </a:extLst>
          </p:cNvPr>
          <p:cNvSpPr>
            <a:spLocks noGrp="1"/>
          </p:cNvSpPr>
          <p:nvPr/>
        </p:nvSpPr>
        <p:spPr>
          <a:xfrm>
            <a:off x="4495800" y="2914650"/>
            <a:ext cx="1276350" cy="2715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63" b="1">
                <a:solidFill>
                  <a:srgbClr val="1F2633"/>
                </a:solidFill>
                <a:latin typeface="Aptos"/>
                <a:ea typeface="Aptos"/>
                <a:cs typeface="Aptos"/>
              </a:rPr>
              <a:t>Pregled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35343142-5861-46C5-972F-7521C58CAF64}"/>
              </a:ext>
            </a:extLst>
          </p:cNvPr>
          <p:cNvSpPr>
            <a:spLocks noGrp="1"/>
          </p:cNvSpPr>
          <p:nvPr/>
        </p:nvSpPr>
        <p:spPr>
          <a:xfrm>
            <a:off x="4495800" y="3238500"/>
            <a:ext cx="1276350" cy="7429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5715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5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4DE442A-A641-45C6-A653-6E386186970E}"/>
              </a:ext>
            </a:extLst>
          </p:cNvPr>
          <p:cNvSpPr>
            <a:spLocks noGrp="1"/>
          </p:cNvSpPr>
          <p:nvPr/>
        </p:nvSpPr>
        <p:spPr>
          <a:xfrm>
            <a:off x="4572000" y="3333750"/>
            <a:ext cx="1123950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13" b="1">
                <a:solidFill>
                  <a:srgbClr val="1F2633"/>
                </a:solidFill>
                <a:latin typeface="Aptos"/>
                <a:ea typeface="Aptos"/>
                <a:cs typeface="Aptos"/>
              </a:rPr>
              <a:t>Repository ugovor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B2F3F0AC-E102-4545-8235-D16F512760F3}"/>
              </a:ext>
            </a:extLst>
          </p:cNvPr>
          <p:cNvSpPr>
            <a:spLocks noGrp="1"/>
          </p:cNvSpPr>
          <p:nvPr/>
        </p:nvSpPr>
        <p:spPr>
          <a:xfrm>
            <a:off x="4495800" y="4171950"/>
            <a:ext cx="1276350" cy="5715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5715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E51517C-D4F1-434C-BD17-5B9BCCEBA254}"/>
              </a:ext>
            </a:extLst>
          </p:cNvPr>
          <p:cNvSpPr>
            <a:spLocks noGrp="1"/>
          </p:cNvSpPr>
          <p:nvPr/>
        </p:nvSpPr>
        <p:spPr>
          <a:xfrm>
            <a:off x="4572000" y="4276725"/>
            <a:ext cx="1123950" cy="4080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38" b="0">
                <a:solidFill>
                  <a:srgbClr val="5B6678"/>
                </a:solidFill>
                <a:latin typeface="Aptos"/>
                <a:ea typeface="Aptos"/>
                <a:cs typeface="Aptos"/>
              </a:rPr>
              <a:t>build ✓ testovi ✓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B8095096-4308-4D24-80D5-0C02A155ABEF}"/>
              </a:ext>
            </a:extLst>
          </p:cNvPr>
          <p:cNvSpPr>
            <a:spLocks noGrp="1"/>
          </p:cNvSpPr>
          <p:nvPr/>
        </p:nvSpPr>
        <p:spPr>
          <a:xfrm>
            <a:off x="6038850" y="2781300"/>
            <a:ext cx="1504950" cy="2514600"/>
          </a:xfrm>
          <a:prstGeom prst="roundRect">
            <a:avLst>
              <a:gd name="adj" fmla="val 12000"/>
            </a:avLst>
          </a:prstGeom>
          <a:solidFill>
            <a:srgbClr val="F7F8FA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9918BDE-05B3-492E-A5EA-AEAE030CB535}"/>
              </a:ext>
            </a:extLst>
          </p:cNvPr>
          <p:cNvSpPr>
            <a:spLocks noGrp="1"/>
          </p:cNvSpPr>
          <p:nvPr/>
        </p:nvSpPr>
        <p:spPr>
          <a:xfrm>
            <a:off x="6153150" y="2914650"/>
            <a:ext cx="1276350" cy="2715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63" b="1">
                <a:solidFill>
                  <a:srgbClr val="1F2633"/>
                </a:solidFill>
                <a:latin typeface="Aptos"/>
                <a:ea typeface="Aptos"/>
                <a:cs typeface="Aptos"/>
              </a:rPr>
              <a:t>Završeno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FF000881-CEB8-402C-9F3C-A7CBD45752FB}"/>
              </a:ext>
            </a:extLst>
          </p:cNvPr>
          <p:cNvSpPr>
            <a:spLocks noGrp="1"/>
          </p:cNvSpPr>
          <p:nvPr/>
        </p:nvSpPr>
        <p:spPr>
          <a:xfrm>
            <a:off x="6153150" y="3238500"/>
            <a:ext cx="1276350" cy="7429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5715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5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5A34BF1-8CA8-44F1-8443-8B8F20F501B1}"/>
              </a:ext>
            </a:extLst>
          </p:cNvPr>
          <p:cNvSpPr>
            <a:spLocks noGrp="1"/>
          </p:cNvSpPr>
          <p:nvPr/>
        </p:nvSpPr>
        <p:spPr>
          <a:xfrm>
            <a:off x="6229350" y="3333750"/>
            <a:ext cx="1123950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13" b="1">
                <a:solidFill>
                  <a:srgbClr val="1F2633"/>
                </a:solidFill>
                <a:latin typeface="Aptos"/>
                <a:ea typeface="Aptos"/>
                <a:cs typeface="Aptos"/>
              </a:rPr>
              <a:t>Domain model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3E9DCE74-9763-483B-AF83-58EA36D8F2F1}"/>
              </a:ext>
            </a:extLst>
          </p:cNvPr>
          <p:cNvSpPr>
            <a:spLocks noGrp="1"/>
          </p:cNvSpPr>
          <p:nvPr/>
        </p:nvSpPr>
        <p:spPr>
          <a:xfrm>
            <a:off x="6153150" y="4171950"/>
            <a:ext cx="1276350" cy="5715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5715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E16F1FA-9587-4536-8EF7-F2F28745063F}"/>
              </a:ext>
            </a:extLst>
          </p:cNvPr>
          <p:cNvSpPr>
            <a:spLocks noGrp="1"/>
          </p:cNvSpPr>
          <p:nvPr/>
        </p:nvSpPr>
        <p:spPr>
          <a:xfrm>
            <a:off x="6229350" y="4276725"/>
            <a:ext cx="1123950" cy="4080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38" b="0">
                <a:solidFill>
                  <a:srgbClr val="5B6678"/>
                </a:solidFill>
                <a:latin typeface="Aptos"/>
                <a:ea typeface="Aptos"/>
                <a:cs typeface="Aptos"/>
              </a:rPr>
              <a:t>README dopuna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9F13831-BC60-4A3B-B02B-EC9DFA667722}"/>
              </a:ext>
            </a:extLst>
          </p:cNvPr>
          <p:cNvSpPr>
            <a:spLocks noGrp="1"/>
          </p:cNvSpPr>
          <p:nvPr/>
        </p:nvSpPr>
        <p:spPr>
          <a:xfrm>
            <a:off x="8096250" y="2333625"/>
            <a:ext cx="318135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2D5BFF"/>
                </a:solidFill>
                <a:latin typeface="Aptos"/>
                <a:ea typeface="Aptos"/>
                <a:cs typeface="Aptos"/>
              </a:rPr>
              <a:t>Како се чита табла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70BDCB4-56D0-48D0-9071-2035A5E88D03}"/>
              </a:ext>
            </a:extLst>
          </p:cNvPr>
          <p:cNvSpPr>
            <a:spLocks noGrp="1"/>
          </p:cNvSpPr>
          <p:nvPr/>
        </p:nvSpPr>
        <p:spPr>
          <a:xfrm>
            <a:off x="8096250" y="2781300"/>
            <a:ext cx="3181350" cy="2876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800"/>
              </a:spcAft>
              <a:buNone/>
            </a:pPr>
            <a:r>
              <a:rPr sz="1313" b="0">
                <a:solidFill>
                  <a:srgbClr val="1F2633"/>
                </a:solidFill>
                <a:latin typeface="Aptos"/>
                <a:ea typeface="Aptos"/>
                <a:cs typeface="Aptos"/>
              </a:rPr>
              <a:t>Колоне показују стварно стање рада, не жељу тима.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  <a:buNone/>
            </a:pPr>
            <a:r>
              <a:rPr sz="1313" b="0">
                <a:solidFill>
                  <a:srgbClr val="1F2633"/>
                </a:solidFill>
                <a:latin typeface="Aptos"/>
                <a:ea typeface="Aptos"/>
                <a:cs typeface="Aptos"/>
              </a:rPr>
              <a:t>Картица треба да има опис, приоритет, assignee и критеријуме прихватања.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  <a:buNone/>
            </a:pPr>
            <a:r>
              <a:rPr sz="1313" b="0">
                <a:solidFill>
                  <a:srgbClr val="1F2633"/>
                </a:solidFill>
                <a:latin typeface="Aptos"/>
                <a:ea typeface="Aptos"/>
                <a:cs typeface="Aptos"/>
              </a:rPr>
              <a:t>Веза са PR-ом и тестовима показује да је промена проверљива.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  <a:buNone/>
            </a:pPr>
            <a:r>
              <a:rPr sz="1313" b="0">
                <a:solidFill>
                  <a:srgbClr val="1F2633"/>
                </a:solidFill>
                <a:latin typeface="Aptos"/>
                <a:ea typeface="Aptos"/>
                <a:cs typeface="Aptos"/>
              </a:rPr>
              <a:t>Done значи прихваћено по Definition of Done, не само померено у последњу колону.</a:t>
            </a:r>
          </a:p>
        </p:txBody>
      </p:sp>
    </p:spTree>
    <p:extLst>
      <p:ext uri="{BB962C8B-B14F-4D97-AF65-F5344CB8AC3E}">
        <p14:creationId xmlns:p14="http://schemas.microsoft.com/office/powerpoint/2010/main" val="13172706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848CB2-F17C-48BC-84C4-A2B9FB7BB5CF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683121E-3F25-4195-9936-9AC80B0B305C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84333F-FC47-442D-BEA1-6659C7800452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53CD8D-3E24-4C1B-B79C-25085AE62A06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Од backlog ставке до интегрисане промене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33DC30-FF95-4932-BC5D-D07428DA8E3A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Сваки корак оставља траг који тим може да покаже.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D3E2C44-B5DF-419F-8784-84EB777CE2F0}"/>
              </a:ext>
            </a:extLst>
          </p:cNvPr>
          <p:cNvSpPr>
            <a:spLocks noGrp="1"/>
          </p:cNvSpPr>
          <p:nvPr/>
        </p:nvSpPr>
        <p:spPr>
          <a:xfrm>
            <a:off x="1135380" y="2788920"/>
            <a:ext cx="1508760" cy="694944"/>
          </a:xfrm>
          <a:prstGeom prst="roundRect">
            <a:avLst>
              <a:gd name="adj" fmla="val 12000"/>
            </a:avLst>
          </a:prstGeom>
          <a:solidFill>
            <a:srgbClr val="F7F8FA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874AAE-2785-4FEE-826A-0DC47F0CA43A}"/>
              </a:ext>
            </a:extLst>
          </p:cNvPr>
          <p:cNvSpPr>
            <a:spLocks noGrp="1"/>
          </p:cNvSpPr>
          <p:nvPr/>
        </p:nvSpPr>
        <p:spPr>
          <a:xfrm>
            <a:off x="1208532" y="2999232"/>
            <a:ext cx="1353312" cy="2715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Story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41898EC-9417-419F-8E28-5843E2F8CFCA}"/>
              </a:ext>
            </a:extLst>
          </p:cNvPr>
          <p:cNvSpPr>
            <a:spLocks noGrp="1"/>
          </p:cNvSpPr>
          <p:nvPr/>
        </p:nvSpPr>
        <p:spPr>
          <a:xfrm>
            <a:off x="1043940" y="3630168"/>
            <a:ext cx="1691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опис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0882311-D7BA-4F29-8463-DAD5AFCD5B28}"/>
              </a:ext>
            </a:extLst>
          </p:cNvPr>
          <p:cNvSpPr>
            <a:spLocks noGrp="1"/>
          </p:cNvSpPr>
          <p:nvPr/>
        </p:nvSpPr>
        <p:spPr>
          <a:xfrm>
            <a:off x="2735580" y="2990088"/>
            <a:ext cx="320040" cy="2633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5D6878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9D1B7E35-5897-4647-8548-46B46914D5FD}"/>
              </a:ext>
            </a:extLst>
          </p:cNvPr>
          <p:cNvSpPr>
            <a:spLocks noGrp="1"/>
          </p:cNvSpPr>
          <p:nvPr/>
        </p:nvSpPr>
        <p:spPr>
          <a:xfrm>
            <a:off x="3238500" y="2788920"/>
            <a:ext cx="1508760" cy="694944"/>
          </a:xfrm>
          <a:prstGeom prst="roundRect">
            <a:avLst>
              <a:gd name="adj" fmla="val 12000"/>
            </a:avLst>
          </a:prstGeom>
          <a:solidFill>
            <a:srgbClr val="F4F7FF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6C10C1C-9B29-43D6-8228-47DCE5AC49ED}"/>
              </a:ext>
            </a:extLst>
          </p:cNvPr>
          <p:cNvSpPr>
            <a:spLocks noGrp="1"/>
          </p:cNvSpPr>
          <p:nvPr/>
        </p:nvSpPr>
        <p:spPr>
          <a:xfrm>
            <a:off x="3311652" y="2999232"/>
            <a:ext cx="1353312" cy="2715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Branch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6C34764-4F2F-4342-BB1A-057DB851ADDC}"/>
              </a:ext>
            </a:extLst>
          </p:cNvPr>
          <p:cNvSpPr>
            <a:spLocks noGrp="1"/>
          </p:cNvSpPr>
          <p:nvPr/>
        </p:nvSpPr>
        <p:spPr>
          <a:xfrm>
            <a:off x="3147060" y="3630168"/>
            <a:ext cx="1691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рад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2F3064C-57AD-4C3F-BDA3-E28DF990E455}"/>
              </a:ext>
            </a:extLst>
          </p:cNvPr>
          <p:cNvSpPr>
            <a:spLocks noGrp="1"/>
          </p:cNvSpPr>
          <p:nvPr/>
        </p:nvSpPr>
        <p:spPr>
          <a:xfrm>
            <a:off x="4838700" y="2990088"/>
            <a:ext cx="320040" cy="2633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5D6878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97D37806-2142-4656-971F-3D08BDDFE904}"/>
              </a:ext>
            </a:extLst>
          </p:cNvPr>
          <p:cNvSpPr>
            <a:spLocks noGrp="1"/>
          </p:cNvSpPr>
          <p:nvPr/>
        </p:nvSpPr>
        <p:spPr>
          <a:xfrm>
            <a:off x="5341620" y="2788920"/>
            <a:ext cx="1508760" cy="694944"/>
          </a:xfrm>
          <a:prstGeom prst="roundRect">
            <a:avLst>
              <a:gd name="adj" fmla="val 12000"/>
            </a:avLst>
          </a:prstGeom>
          <a:solidFill>
            <a:srgbClr val="F4F7FF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A7D2AC4-B9EF-4B44-BE36-2AC79F8DF1A2}"/>
              </a:ext>
            </a:extLst>
          </p:cNvPr>
          <p:cNvSpPr>
            <a:spLocks noGrp="1"/>
          </p:cNvSpPr>
          <p:nvPr/>
        </p:nvSpPr>
        <p:spPr>
          <a:xfrm>
            <a:off x="5414772" y="2999232"/>
            <a:ext cx="1353312" cy="2715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Commit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3A2A100-C8F0-4564-B380-B6C9DD9D3872}"/>
              </a:ext>
            </a:extLst>
          </p:cNvPr>
          <p:cNvSpPr>
            <a:spLocks noGrp="1"/>
          </p:cNvSpPr>
          <p:nvPr/>
        </p:nvSpPr>
        <p:spPr>
          <a:xfrm>
            <a:off x="5250180" y="3630168"/>
            <a:ext cx="1691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намера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A1B507F-D5AD-4545-85D9-0C0BEEE8862A}"/>
              </a:ext>
            </a:extLst>
          </p:cNvPr>
          <p:cNvSpPr>
            <a:spLocks noGrp="1"/>
          </p:cNvSpPr>
          <p:nvPr/>
        </p:nvSpPr>
        <p:spPr>
          <a:xfrm>
            <a:off x="6941820" y="2990088"/>
            <a:ext cx="320040" cy="2633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5D6878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4981252C-8FAE-4753-B3BD-B747C6947CD5}"/>
              </a:ext>
            </a:extLst>
          </p:cNvPr>
          <p:cNvSpPr>
            <a:spLocks noGrp="1"/>
          </p:cNvSpPr>
          <p:nvPr/>
        </p:nvSpPr>
        <p:spPr>
          <a:xfrm>
            <a:off x="7444740" y="2788920"/>
            <a:ext cx="1508760" cy="694944"/>
          </a:xfrm>
          <a:prstGeom prst="roundRect">
            <a:avLst>
              <a:gd name="adj" fmla="val 12000"/>
            </a:avLst>
          </a:prstGeom>
          <a:solidFill>
            <a:srgbClr val="FDF9F1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3299CAC-D362-4A04-9FAA-E5D5949D49D8}"/>
              </a:ext>
            </a:extLst>
          </p:cNvPr>
          <p:cNvSpPr>
            <a:spLocks noGrp="1"/>
          </p:cNvSpPr>
          <p:nvPr/>
        </p:nvSpPr>
        <p:spPr>
          <a:xfrm>
            <a:off x="7517892" y="2999232"/>
            <a:ext cx="1353312" cy="2098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BE770F"/>
                </a:solidFill>
                <a:latin typeface="Aptos"/>
                <a:ea typeface="Aptos"/>
                <a:cs typeface="Aptos"/>
              </a:rPr>
              <a:t>PR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593EA3D-4285-4115-867E-581FF3BCF5D9}"/>
              </a:ext>
            </a:extLst>
          </p:cNvPr>
          <p:cNvSpPr>
            <a:spLocks noGrp="1"/>
          </p:cNvSpPr>
          <p:nvPr/>
        </p:nvSpPr>
        <p:spPr>
          <a:xfrm>
            <a:off x="7353300" y="3630168"/>
            <a:ext cx="1691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преглед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D219645-E3FC-4F29-8C8B-E5A77612FF73}"/>
              </a:ext>
            </a:extLst>
          </p:cNvPr>
          <p:cNvSpPr>
            <a:spLocks noGrp="1"/>
          </p:cNvSpPr>
          <p:nvPr/>
        </p:nvSpPr>
        <p:spPr>
          <a:xfrm>
            <a:off x="9044940" y="2990088"/>
            <a:ext cx="320040" cy="2633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5D6878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F4C344A0-4867-4566-BDED-51D00B6928E1}"/>
              </a:ext>
            </a:extLst>
          </p:cNvPr>
          <p:cNvSpPr>
            <a:spLocks noGrp="1"/>
          </p:cNvSpPr>
          <p:nvPr/>
        </p:nvSpPr>
        <p:spPr>
          <a:xfrm>
            <a:off x="9547860" y="2788920"/>
            <a:ext cx="1508760" cy="694944"/>
          </a:xfrm>
          <a:prstGeom prst="roundRect">
            <a:avLst>
              <a:gd name="adj" fmla="val 12000"/>
            </a:avLst>
          </a:prstGeom>
          <a:solidFill>
            <a:srgbClr val="F3FAF6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B840D1E-DBDF-4353-A96E-8658ACB0F2D1}"/>
              </a:ext>
            </a:extLst>
          </p:cNvPr>
          <p:cNvSpPr>
            <a:spLocks noGrp="1"/>
          </p:cNvSpPr>
          <p:nvPr/>
        </p:nvSpPr>
        <p:spPr>
          <a:xfrm>
            <a:off x="9621012" y="2999232"/>
            <a:ext cx="1353312" cy="2715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0A915F"/>
                </a:solidFill>
                <a:latin typeface="Aptos"/>
                <a:ea typeface="Aptos"/>
                <a:cs typeface="Aptos"/>
              </a:rPr>
              <a:t>Done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669CBC-8838-401F-822E-D9CD755BD387}"/>
              </a:ext>
            </a:extLst>
          </p:cNvPr>
          <p:cNvSpPr>
            <a:spLocks noGrp="1"/>
          </p:cNvSpPr>
          <p:nvPr/>
        </p:nvSpPr>
        <p:spPr>
          <a:xfrm>
            <a:off x="9456420" y="3630168"/>
            <a:ext cx="1691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доказ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5EDE30E3-D2A9-4C67-9F43-1C1F268876EC}"/>
              </a:ext>
            </a:extLst>
          </p:cNvPr>
          <p:cNvSpPr>
            <a:spLocks noGrp="1"/>
          </p:cNvSpPr>
          <p:nvPr/>
        </p:nvSpPr>
        <p:spPr>
          <a:xfrm>
            <a:off x="914400" y="4914900"/>
            <a:ext cx="10363200" cy="800100"/>
          </a:xfrm>
          <a:prstGeom prst="roundRect">
            <a:avLst>
              <a:gd name="adj" fmla="val 16667"/>
            </a:avLst>
          </a:prstGeom>
          <a:solidFill>
            <a:srgbClr val="FFF6E9"/>
          </a:solidFill>
          <a:ln w="7620">
            <a:solidFill>
              <a:srgbClr val="E9D4AF"/>
            </a:solidFill>
            <a:prstDash val="solid"/>
          </a:ln>
        </p:spPr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855143D0-634E-4705-954E-12FF6B00725A}"/>
              </a:ext>
            </a:extLst>
          </p:cNvPr>
          <p:cNvSpPr>
            <a:spLocks noGrp="1"/>
          </p:cNvSpPr>
          <p:nvPr/>
        </p:nvSpPr>
        <p:spPr>
          <a:xfrm>
            <a:off x="1085850" y="5067300"/>
            <a:ext cx="57150" cy="495300"/>
          </a:xfrm>
          <a:prstGeom prst="roundRect">
            <a:avLst>
              <a:gd name="adj" fmla="val 50000"/>
            </a:avLst>
          </a:prstGeom>
          <a:solidFill>
            <a:srgbClr val="B86A09"/>
          </a:solidFill>
          <a:ln w="0">
            <a:noFill/>
          </a:ln>
        </p:spPr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BA5620B-F187-42C4-A884-832B037CEEDD}"/>
              </a:ext>
            </a:extLst>
          </p:cNvPr>
          <p:cNvSpPr>
            <a:spLocks noGrp="1"/>
          </p:cNvSpPr>
          <p:nvPr/>
        </p:nvSpPr>
        <p:spPr>
          <a:xfrm>
            <a:off x="1333500" y="5029200"/>
            <a:ext cx="23812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buNone/>
              <a:defRPr sz="975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КЉУЧНА ПОРУКА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BB7E2E2-7018-40ED-AA69-D9B5DE120D40}"/>
              </a:ext>
            </a:extLst>
          </p:cNvPr>
          <p:cNvSpPr>
            <a:spLocks noGrp="1"/>
          </p:cNvSpPr>
          <p:nvPr/>
        </p:nvSpPr>
        <p:spPr>
          <a:xfrm>
            <a:off x="1333500" y="5276850"/>
            <a:ext cx="96012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Нема професионалног развојног тока без повезивања алата, договора и провере.</a:t>
            </a:r>
          </a:p>
        </p:txBody>
      </p:sp>
    </p:spTree>
    <p:extLst>
      <p:ext uri="{BB962C8B-B14F-4D97-AF65-F5344CB8AC3E}">
        <p14:creationId xmlns:p14="http://schemas.microsoft.com/office/powerpoint/2010/main" val="7911599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FEB9F04-16C5-4187-B09B-174E1953B82B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DAEEB52-0DDC-4A63-98FA-CA114178EA6B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E7C4AB-9FF5-4E9C-BF1C-F3E582E713B1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B0C1A4-163A-4C9A-902C-41B9EAE50C2B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Провера пре предаје рада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0AAFFE-C6D1-4F66-9A8B-5E818D561892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Пре него што се рад прогласи завршеним, тим треба да провери основне сигнале.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384661-6A97-49F3-B09D-E2860F5ACF9F}"/>
              </a:ext>
            </a:extLst>
          </p:cNvPr>
          <p:cNvSpPr>
            <a:spLocks noGrp="1"/>
          </p:cNvSpPr>
          <p:nvPr/>
        </p:nvSpPr>
        <p:spPr>
          <a:xfrm>
            <a:off x="1638300" y="22402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11FCEF-B66E-4A26-A3E0-26A6156B31C3}"/>
              </a:ext>
            </a:extLst>
          </p:cNvPr>
          <p:cNvSpPr>
            <a:spLocks noGrp="1"/>
          </p:cNvSpPr>
          <p:nvPr/>
        </p:nvSpPr>
        <p:spPr>
          <a:xfrm>
            <a:off x="2324100" y="2240280"/>
            <a:ext cx="82296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Да ли је ставка повезана са граном или Pull Request-ом?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A8A4487-5968-4ABE-B40E-97C8C9893581}"/>
              </a:ext>
            </a:extLst>
          </p:cNvPr>
          <p:cNvSpPr>
            <a:spLocks noGrp="1"/>
          </p:cNvSpPr>
          <p:nvPr/>
        </p:nvSpPr>
        <p:spPr>
          <a:xfrm>
            <a:off x="1638300" y="2807208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98E5AF-6E5E-46E9-81F1-7DE2A0FEEE49}"/>
              </a:ext>
            </a:extLst>
          </p:cNvPr>
          <p:cNvSpPr>
            <a:spLocks noGrp="1"/>
          </p:cNvSpPr>
          <p:nvPr/>
        </p:nvSpPr>
        <p:spPr>
          <a:xfrm>
            <a:off x="2324100" y="2807208"/>
            <a:ext cx="82296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Да ли критеријуми прихватања имају видљиву проверу?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2F8E8B2-2ACB-4812-A847-7D954CDC57BC}"/>
              </a:ext>
            </a:extLst>
          </p:cNvPr>
          <p:cNvSpPr>
            <a:spLocks noGrp="1"/>
          </p:cNvSpPr>
          <p:nvPr/>
        </p:nvSpPr>
        <p:spPr>
          <a:xfrm>
            <a:off x="1638300" y="3374136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3843210-EA47-406F-BFB3-72FFE970A9AE}"/>
              </a:ext>
            </a:extLst>
          </p:cNvPr>
          <p:cNvSpPr>
            <a:spLocks noGrp="1"/>
          </p:cNvSpPr>
          <p:nvPr/>
        </p:nvSpPr>
        <p:spPr>
          <a:xfrm>
            <a:off x="2324100" y="3374136"/>
            <a:ext cx="82296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Да ли diff садржи само релевантне измене?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4F05898-0573-48C9-A1A6-085CA0E7E03B}"/>
              </a:ext>
            </a:extLst>
          </p:cNvPr>
          <p:cNvSpPr>
            <a:spLocks noGrp="1"/>
          </p:cNvSpPr>
          <p:nvPr/>
        </p:nvSpPr>
        <p:spPr>
          <a:xfrm>
            <a:off x="1638300" y="3941064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0950B74-4327-4395-842A-DD9DCF8E1CB1}"/>
              </a:ext>
            </a:extLst>
          </p:cNvPr>
          <p:cNvSpPr>
            <a:spLocks noGrp="1"/>
          </p:cNvSpPr>
          <p:nvPr/>
        </p:nvSpPr>
        <p:spPr>
          <a:xfrm>
            <a:off x="2324100" y="3941064"/>
            <a:ext cx="82296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Да ли је главна грана стабилна?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6633A44-CE17-472B-BAB1-7AE05635FF19}"/>
              </a:ext>
            </a:extLst>
          </p:cNvPr>
          <p:cNvSpPr>
            <a:spLocks noGrp="1"/>
          </p:cNvSpPr>
          <p:nvPr/>
        </p:nvSpPr>
        <p:spPr>
          <a:xfrm>
            <a:off x="1638300" y="4507992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0AD3CDB-8A67-4152-9DC6-48BCC84AAE2F}"/>
              </a:ext>
            </a:extLst>
          </p:cNvPr>
          <p:cNvSpPr>
            <a:spLocks noGrp="1"/>
          </p:cNvSpPr>
          <p:nvPr/>
        </p:nvSpPr>
        <p:spPr>
          <a:xfrm>
            <a:off x="2324100" y="4507992"/>
            <a:ext cx="82296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Да ли сваки члан може да објасни свој допринос?</a:t>
            </a:r>
          </a:p>
        </p:txBody>
      </p:sp>
    </p:spTree>
    <p:extLst>
      <p:ext uri="{BB962C8B-B14F-4D97-AF65-F5344CB8AC3E}">
        <p14:creationId xmlns:p14="http://schemas.microsoft.com/office/powerpoint/2010/main" val="6956373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C851E80-39F8-415B-BDB9-00EC9A0BA9DD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B3863B2-8FDE-4091-9B08-1BE573E5728B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3F0BCA0-0C0C-4860-AA29-85A217E0C621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ACAD8D-372E-4E6A-9B5E-E333D2AB4587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Суштина Вежбе 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3AECDC-43F6-4829-BE4E-C6DCA8ECB105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Први практични циљ је дисциплина рада, а не количина написаног кода.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CE2C5C-2F6B-4E32-9153-2E7E118171D9}"/>
              </a:ext>
            </a:extLst>
          </p:cNvPr>
          <p:cNvSpPr>
            <a:spLocks noGrp="1"/>
          </p:cNvSpPr>
          <p:nvPr/>
        </p:nvSpPr>
        <p:spPr>
          <a:xfrm>
            <a:off x="1051560" y="2423160"/>
            <a:ext cx="82296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Професионалан тимски рад почиње када се захтев може пратити до кода, теста, review-а и интеграције.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04F1FC3-0F98-4E69-A373-D76567265589}"/>
              </a:ext>
            </a:extLst>
          </p:cNvPr>
          <p:cNvSpPr>
            <a:spLocks noGrp="1"/>
          </p:cNvSpPr>
          <p:nvPr/>
        </p:nvSpPr>
        <p:spPr>
          <a:xfrm>
            <a:off x="1051560" y="3377236"/>
            <a:ext cx="6949440" cy="10972"/>
          </a:xfrm>
          <a:prstGeom prst="rect">
            <a:avLst/>
          </a:prstGeom>
          <a:solidFill>
            <a:srgbClr val="2A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37F4C60A-5442-4F5B-9D2A-6D9A66C17208}"/>
              </a:ext>
            </a:extLst>
          </p:cNvPr>
          <p:cNvSpPr>
            <a:spLocks noGrp="1"/>
          </p:cNvSpPr>
          <p:nvPr/>
        </p:nvSpPr>
        <p:spPr>
          <a:xfrm>
            <a:off x="914400" y="4267200"/>
            <a:ext cx="10363200" cy="800100"/>
          </a:xfrm>
          <a:prstGeom prst="roundRect">
            <a:avLst>
              <a:gd name="adj" fmla="val 16667"/>
            </a:avLst>
          </a:prstGeom>
          <a:solidFill>
            <a:srgbClr val="FFF6E9"/>
          </a:solidFill>
          <a:ln w="7620">
            <a:solidFill>
              <a:srgbClr val="E9D4AF"/>
            </a:solidFill>
            <a:prstDash val="solid"/>
          </a:ln>
        </p:spPr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28D83C72-5759-433C-892F-38BCB83E82D4}"/>
              </a:ext>
            </a:extLst>
          </p:cNvPr>
          <p:cNvSpPr>
            <a:spLocks noGrp="1"/>
          </p:cNvSpPr>
          <p:nvPr/>
        </p:nvSpPr>
        <p:spPr>
          <a:xfrm>
            <a:off x="1085850" y="4419600"/>
            <a:ext cx="57150" cy="495300"/>
          </a:xfrm>
          <a:prstGeom prst="roundRect">
            <a:avLst>
              <a:gd name="adj" fmla="val 50000"/>
            </a:avLst>
          </a:prstGeom>
          <a:solidFill>
            <a:srgbClr val="B86A09"/>
          </a:solidFill>
          <a:ln w="0">
            <a:noFill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C15B4D6-4C3C-4AF6-8FB5-71E15AE8161D}"/>
              </a:ext>
            </a:extLst>
          </p:cNvPr>
          <p:cNvSpPr>
            <a:spLocks noGrp="1"/>
          </p:cNvSpPr>
          <p:nvPr/>
        </p:nvSpPr>
        <p:spPr>
          <a:xfrm>
            <a:off x="1333500" y="4381500"/>
            <a:ext cx="23812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buNone/>
              <a:defRPr sz="975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КЉУЧНА ПОРУКА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992F1D2-7895-4D97-BD3F-83DC1B58E8B2}"/>
              </a:ext>
            </a:extLst>
          </p:cNvPr>
          <p:cNvSpPr>
            <a:spLocks noGrp="1"/>
          </p:cNvSpPr>
          <p:nvPr/>
        </p:nvSpPr>
        <p:spPr>
          <a:xfrm>
            <a:off x="1333500" y="4629150"/>
            <a:ext cx="96012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То је основа за све наредне вежбе.</a:t>
            </a:r>
          </a:p>
        </p:txBody>
      </p:sp>
    </p:spTree>
    <p:extLst>
      <p:ext uri="{BB962C8B-B14F-4D97-AF65-F5344CB8AC3E}">
        <p14:creationId xmlns:p14="http://schemas.microsoft.com/office/powerpoint/2010/main" val="6550244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B27DD8A-D6AE-4749-B00A-15015381EAAA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05A9E6C-79E8-49E2-8426-32BE76BE0B7E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88E4E48-93E9-4499-9FA0-54B07A05EFD6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07F7C4-B99D-42EB-811B-4746BBB46227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Најчешћи пропусти у првом току рада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248401-C10B-44B2-9E25-209C40267AF1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Ови пропусти касније постају скупи јер прекидају следљивост рада.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296BEB36-BA73-4648-846A-B2037A5C7A5E}"/>
              </a:ext>
            </a:extLst>
          </p:cNvPr>
          <p:cNvSpPr>
            <a:spLocks noGrp="1"/>
          </p:cNvSpPr>
          <p:nvPr/>
        </p:nvSpPr>
        <p:spPr>
          <a:xfrm>
            <a:off x="914400" y="2209800"/>
            <a:ext cx="5067300" cy="1571625"/>
          </a:xfrm>
          <a:prstGeom prst="roundRect">
            <a:avLst>
              <a:gd name="adj" fmla="val 12000"/>
            </a:avLst>
          </a:prstGeom>
          <a:solidFill>
            <a:srgbClr val="F4F7FF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1B40523-F6C4-432A-97F7-9014FF503880}"/>
              </a:ext>
            </a:extLst>
          </p:cNvPr>
          <p:cNvSpPr>
            <a:spLocks noGrp="1"/>
          </p:cNvSpPr>
          <p:nvPr/>
        </p:nvSpPr>
        <p:spPr>
          <a:xfrm>
            <a:off x="1085850" y="2333625"/>
            <a:ext cx="4724400" cy="2098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0F2325-C042-49B4-A200-02DDF00B588F}"/>
              </a:ext>
            </a:extLst>
          </p:cNvPr>
          <p:cNvSpPr>
            <a:spLocks noGrp="1"/>
          </p:cNvSpPr>
          <p:nvPr/>
        </p:nvSpPr>
        <p:spPr>
          <a:xfrm>
            <a:off x="1085850" y="2590800"/>
            <a:ext cx="472440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Нејасан Story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09DCBFE-9A01-4822-8198-9902810E0658}"/>
              </a:ext>
            </a:extLst>
          </p:cNvPr>
          <p:cNvSpPr>
            <a:spLocks noGrp="1"/>
          </p:cNvSpPr>
          <p:nvPr/>
        </p:nvSpPr>
        <p:spPr>
          <a:xfrm>
            <a:off x="1085850" y="2952750"/>
            <a:ext cx="4724400" cy="733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није јасно ко добија вредност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60F6965C-151D-4584-A572-7F6FF8E6E586}"/>
              </a:ext>
            </a:extLst>
          </p:cNvPr>
          <p:cNvSpPr>
            <a:spLocks noGrp="1"/>
          </p:cNvSpPr>
          <p:nvPr/>
        </p:nvSpPr>
        <p:spPr>
          <a:xfrm>
            <a:off x="6210300" y="2209800"/>
            <a:ext cx="5067300" cy="1571625"/>
          </a:xfrm>
          <a:prstGeom prst="roundRect">
            <a:avLst>
              <a:gd name="adj" fmla="val 12000"/>
            </a:avLst>
          </a:prstGeom>
          <a:solidFill>
            <a:srgbClr val="F3FAF6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359A960-BA43-4A50-A807-56D7446F9985}"/>
              </a:ext>
            </a:extLst>
          </p:cNvPr>
          <p:cNvSpPr>
            <a:spLocks noGrp="1"/>
          </p:cNvSpPr>
          <p:nvPr/>
        </p:nvSpPr>
        <p:spPr>
          <a:xfrm>
            <a:off x="6381750" y="2333625"/>
            <a:ext cx="4724400" cy="2098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A915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6C73D4B-CEB9-4A5B-9190-C5FBA3E725BD}"/>
              </a:ext>
            </a:extLst>
          </p:cNvPr>
          <p:cNvSpPr>
            <a:spLocks noGrp="1"/>
          </p:cNvSpPr>
          <p:nvPr/>
        </p:nvSpPr>
        <p:spPr>
          <a:xfrm>
            <a:off x="6381750" y="2590800"/>
            <a:ext cx="472440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Без критеријума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61C8647-73EB-41CE-BDB5-F843C4F97A38}"/>
              </a:ext>
            </a:extLst>
          </p:cNvPr>
          <p:cNvSpPr>
            <a:spLocks noGrp="1"/>
          </p:cNvSpPr>
          <p:nvPr/>
        </p:nvSpPr>
        <p:spPr>
          <a:xfrm>
            <a:off x="6381750" y="2952750"/>
            <a:ext cx="4724400" cy="733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не зна се када је завршено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23E75A53-9B1B-4F1B-AE31-D45C26C620C1}"/>
              </a:ext>
            </a:extLst>
          </p:cNvPr>
          <p:cNvSpPr>
            <a:spLocks noGrp="1"/>
          </p:cNvSpPr>
          <p:nvPr/>
        </p:nvSpPr>
        <p:spPr>
          <a:xfrm>
            <a:off x="914400" y="3971925"/>
            <a:ext cx="5067300" cy="1571625"/>
          </a:xfrm>
          <a:prstGeom prst="roundRect">
            <a:avLst>
              <a:gd name="adj" fmla="val 12000"/>
            </a:avLst>
          </a:prstGeom>
          <a:solidFill>
            <a:srgbClr val="FDF9F1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05FC54D-4753-4586-A52F-C51E8EDA0EF7}"/>
              </a:ext>
            </a:extLst>
          </p:cNvPr>
          <p:cNvSpPr>
            <a:spLocks noGrp="1"/>
          </p:cNvSpPr>
          <p:nvPr/>
        </p:nvSpPr>
        <p:spPr>
          <a:xfrm>
            <a:off x="1085850" y="4095750"/>
            <a:ext cx="4724400" cy="2098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BE770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3F83266-AB2D-469E-A2A7-2ACB03B0D3F2}"/>
              </a:ext>
            </a:extLst>
          </p:cNvPr>
          <p:cNvSpPr>
            <a:spLocks noGrp="1"/>
          </p:cNvSpPr>
          <p:nvPr/>
        </p:nvSpPr>
        <p:spPr>
          <a:xfrm>
            <a:off x="1085850" y="4352925"/>
            <a:ext cx="472440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Велики PR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D0DF984-4DA7-4AB8-8F07-50FF9F800C0F}"/>
              </a:ext>
            </a:extLst>
          </p:cNvPr>
          <p:cNvSpPr>
            <a:spLocks noGrp="1"/>
          </p:cNvSpPr>
          <p:nvPr/>
        </p:nvSpPr>
        <p:spPr>
          <a:xfrm>
            <a:off x="1085850" y="4714875"/>
            <a:ext cx="4724400" cy="733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review губи фокус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F8599691-62F9-4109-940A-75B5B150FF04}"/>
              </a:ext>
            </a:extLst>
          </p:cNvPr>
          <p:cNvSpPr>
            <a:spLocks noGrp="1"/>
          </p:cNvSpPr>
          <p:nvPr/>
        </p:nvSpPr>
        <p:spPr>
          <a:xfrm>
            <a:off x="6210300" y="3971925"/>
            <a:ext cx="5067300" cy="1571625"/>
          </a:xfrm>
          <a:prstGeom prst="roundRect">
            <a:avLst>
              <a:gd name="adj" fmla="val 12000"/>
            </a:avLst>
          </a:prstGeom>
          <a:solidFill>
            <a:srgbClr val="F7F8FA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1DBF2B3-0DAC-4345-BE34-EFA1BBB8E82A}"/>
              </a:ext>
            </a:extLst>
          </p:cNvPr>
          <p:cNvSpPr>
            <a:spLocks noGrp="1"/>
          </p:cNvSpPr>
          <p:nvPr/>
        </p:nvSpPr>
        <p:spPr>
          <a:xfrm>
            <a:off x="6381750" y="4095750"/>
            <a:ext cx="4724400" cy="2098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04B9BEE-B960-4E7B-AC72-C2BF91C6E3AD}"/>
              </a:ext>
            </a:extLst>
          </p:cNvPr>
          <p:cNvSpPr>
            <a:spLocks noGrp="1"/>
          </p:cNvSpPr>
          <p:nvPr/>
        </p:nvSpPr>
        <p:spPr>
          <a:xfrm>
            <a:off x="6381750" y="4352925"/>
            <a:ext cx="472440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Без доказа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BFD328D-B154-48A0-BD95-38C2B13B25CF}"/>
              </a:ext>
            </a:extLst>
          </p:cNvPr>
          <p:cNvSpPr>
            <a:spLocks noGrp="1"/>
          </p:cNvSpPr>
          <p:nvPr/>
        </p:nvSpPr>
        <p:spPr>
          <a:xfrm>
            <a:off x="6381750" y="4714875"/>
            <a:ext cx="4724400" cy="733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нема теста, diff-а или објашњења</a:t>
            </a:r>
          </a:p>
        </p:txBody>
      </p:sp>
    </p:spTree>
    <p:extLst>
      <p:ext uri="{BB962C8B-B14F-4D97-AF65-F5344CB8AC3E}">
        <p14:creationId xmlns:p14="http://schemas.microsoft.com/office/powerpoint/2010/main" val="165826991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667E783-7118-4DC1-8B4D-AF059B2D1109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DA7D748-1A2E-4426-A07B-1CDD91E28845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579151-FF4E-4A15-B065-FEC582AEC917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C4185A4-4235-4942-82A6-D68587EEBE2E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3908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 dirty="0" err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За</a:t>
            </a:r>
            <a:r>
              <a:rPr sz="255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550" b="1" dirty="0" err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наредни</a:t>
            </a:r>
            <a:r>
              <a:rPr sz="255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lang="sr-Cyrl-RS"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термин</a:t>
            </a:r>
            <a:endParaRPr sz="2550" b="1" dirty="0">
              <a:solidFill>
                <a:srgbClr val="1B202B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AF3CCA-273B-477E-A268-D47756F5D313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Резултат вежбе треба да буде употребљив у пројекту.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E36D6BE-7176-49C6-9D4B-463601863222}"/>
              </a:ext>
            </a:extLst>
          </p:cNvPr>
          <p:cNvSpPr>
            <a:spLocks noGrp="1"/>
          </p:cNvSpPr>
          <p:nvPr/>
        </p:nvSpPr>
        <p:spPr>
          <a:xfrm>
            <a:off x="1638300" y="22402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D36383B-D455-4502-9086-86EF71154FC7}"/>
              </a:ext>
            </a:extLst>
          </p:cNvPr>
          <p:cNvSpPr>
            <a:spLocks noGrp="1"/>
          </p:cNvSpPr>
          <p:nvPr/>
        </p:nvSpPr>
        <p:spPr>
          <a:xfrm>
            <a:off x="2324100" y="2240280"/>
            <a:ext cx="82296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Написати User Story за једну ставку пројектног домена.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6A87530-A2E1-499F-820C-81CD67289C52}"/>
              </a:ext>
            </a:extLst>
          </p:cNvPr>
          <p:cNvSpPr>
            <a:spLocks noGrp="1"/>
          </p:cNvSpPr>
          <p:nvPr/>
        </p:nvSpPr>
        <p:spPr>
          <a:xfrm>
            <a:off x="1638300" y="2807208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37B3E8-FE27-46A9-8326-C4A334E52108}"/>
              </a:ext>
            </a:extLst>
          </p:cNvPr>
          <p:cNvSpPr>
            <a:spLocks noGrp="1"/>
          </p:cNvSpPr>
          <p:nvPr/>
        </p:nvSpPr>
        <p:spPr>
          <a:xfrm>
            <a:off x="2324100" y="2807208"/>
            <a:ext cx="82296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Додати успешне, негативне и граничне критеријуме прихватања.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334FF55-7DFC-4EC1-8B5F-A80D230534AC}"/>
              </a:ext>
            </a:extLst>
          </p:cNvPr>
          <p:cNvSpPr>
            <a:spLocks noGrp="1"/>
          </p:cNvSpPr>
          <p:nvPr/>
        </p:nvSpPr>
        <p:spPr>
          <a:xfrm>
            <a:off x="1638300" y="3374136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A96A44-5EC5-4F5C-B737-C8FD4DFB8150}"/>
              </a:ext>
            </a:extLst>
          </p:cNvPr>
          <p:cNvSpPr>
            <a:spLocks noGrp="1"/>
          </p:cNvSpPr>
          <p:nvPr/>
        </p:nvSpPr>
        <p:spPr>
          <a:xfrm>
            <a:off x="2324100" y="3374136"/>
            <a:ext cx="82296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Увести ставку у Tapiz ток и радити преко feature гране.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72E061A-4502-4177-8FD5-72226AD108AE}"/>
              </a:ext>
            </a:extLst>
          </p:cNvPr>
          <p:cNvSpPr>
            <a:spLocks noGrp="1"/>
          </p:cNvSpPr>
          <p:nvPr/>
        </p:nvSpPr>
        <p:spPr>
          <a:xfrm>
            <a:off x="1638300" y="3941064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8D9D392-F2B5-4F60-B69F-90D365E92414}"/>
              </a:ext>
            </a:extLst>
          </p:cNvPr>
          <p:cNvSpPr>
            <a:spLocks noGrp="1"/>
          </p:cNvSpPr>
          <p:nvPr/>
        </p:nvSpPr>
        <p:spPr>
          <a:xfrm>
            <a:off x="2324100" y="3941064"/>
            <a:ext cx="82296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Отворити Pull Request са доказом провере.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5DE1722-9237-4CFB-B1AC-C5239AFD70AB}"/>
              </a:ext>
            </a:extLst>
          </p:cNvPr>
          <p:cNvSpPr>
            <a:spLocks noGrp="1"/>
          </p:cNvSpPr>
          <p:nvPr/>
        </p:nvSpPr>
        <p:spPr>
          <a:xfrm>
            <a:off x="1638300" y="4507992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8C5BF44-B281-4D68-9FD1-ED6B4EC5824E}"/>
              </a:ext>
            </a:extLst>
          </p:cNvPr>
          <p:cNvSpPr>
            <a:spLocks noGrp="1"/>
          </p:cNvSpPr>
          <p:nvPr/>
        </p:nvSpPr>
        <p:spPr>
          <a:xfrm>
            <a:off x="2324100" y="4507992"/>
            <a:ext cx="82296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Објаснити цео пут од захтева до интегрисане промене.</a:t>
            </a:r>
          </a:p>
        </p:txBody>
      </p:sp>
    </p:spTree>
    <p:extLst>
      <p:ext uri="{BB962C8B-B14F-4D97-AF65-F5344CB8AC3E}">
        <p14:creationId xmlns:p14="http://schemas.microsoft.com/office/powerpoint/2010/main" val="20188360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1245</Words>
  <Application>Microsoft Macintosh PowerPoint</Application>
  <DocSecurity>0</DocSecurity>
  <PresentationFormat>Widescreen</PresentationFormat>
  <Paragraphs>295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Aptos</vt:lpstr>
      <vt:lpstr>Aptos Display</vt:lpstr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Jovanović Danijel</cp:lastModifiedBy>
  <cp:revision>1</cp:revision>
  <dcterms:created xsi:type="dcterms:W3CDTF">2026-09-28T19:34:41Z</dcterms:created>
  <dcterms:modified xsi:type="dcterms:W3CDTF">2026-09-28T19:42:05Z</dcterms:modified>
</cp:coreProperties>
</file>