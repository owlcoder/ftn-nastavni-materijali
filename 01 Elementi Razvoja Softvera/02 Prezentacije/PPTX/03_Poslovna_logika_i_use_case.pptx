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206C7E-CA23-479B-9331-2C2354362A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FF36D6-2180-4878-8508-E94AF4A8AC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24AEBF-4B49-4777-AC40-1A446DCB21C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A249FB-8941-4A84-AE51-CC4760C0349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7C2AA1-ABEB-4B08-BC51-5392369C767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DE505-295C-4306-A83B-2B6E523B9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2550D1-FBA3-406B-AEAB-7708046967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CE7F7B-81AD-453F-8E15-FF84C29E662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4755AA-5773-4CF1-AB16-4C9893815C1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514D9C-00DB-4398-8233-3A70D6C20F8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1195A4-9EE9-43CE-9765-9C684EF7F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buNone/>
              <a:defRPr sz="4000" b="1" cap="all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54F238-1ED3-4AE1-8F59-830B98F083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EF7A42-68D9-4780-A7FC-BF1C7495171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68097E-222D-47A6-814D-BE372EC262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F88C6A-070E-4D69-B093-ABE922FB0DD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9D784-080B-454E-9194-A1E1DA951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61FD66-1933-4051-BD14-71A8AA2F6E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667B88-2E21-4133-81F2-EF5C6E9C8D4C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53030-FE40-4D98-B3C9-8BF0D9A43F5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6D574F-2D65-48F2-B533-2C69111B459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9A7C11-AE63-48D9-9B36-A79E0F97C7A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96B98D-8B3D-4CAC-B775-CD23607A8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13D5B2-C06A-43DA-9BE2-832624E5C8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768881-7E71-46FE-AF46-A55FAD35653F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17BCD2-0B90-461F-8D74-5E80FDDC6331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FBCB58-623C-4D5E-AB66-A0D90952A1E4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63DF078-7B82-428C-8373-9E684A5FF44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34F72E9-8C1F-40FF-B029-4AD30916E7B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72A685-96C5-40CF-B768-98F7771DA89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CF8458-E9E3-468E-A566-3744FFDCD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E5F78BB-D6A8-4D57-B185-933BF3069D5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D72457-4C8F-4D45-84F3-34CAF7932F3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009CDD-21AB-498C-B54F-928DBCC1185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CCAD3BF-93C7-47F3-9240-6857D767290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961720-FB9B-4DC5-B8D4-10E0D368F8E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87155F-21E1-4E54-84A2-C9E3AB04BF1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416A9D-278F-4FDF-BF12-A594A0306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FEB91-E07F-42DF-B6F6-779BCA986E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AF37D4-B818-4398-94E0-19782DD696B1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C46B49-0107-43E6-B5AB-373FA790897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6C8971-E25A-473E-A679-6CFA28236E6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653961-210A-49C4-BF1C-57C0C1FEF1D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6F63E9-E56E-4818-9F56-F07537BDA7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955C8FD-5BB3-4F51-98E3-479516D07B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1EB9C8-2A38-45F7-B406-9729DE1980A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22ED47-7F9E-4397-B876-D2D4FFBF268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5024FD-0FD1-43B4-8633-258DA6A1BDA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70915F-BB0B-42B1-8BC1-4D7D0536DD4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4E846-0547-45EF-803E-7376B8BF3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CE591E-4F84-46D2-9C51-11E6B058E4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D9D945-59F9-465D-8FFD-B36EA612248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89F7ED-354A-4FD3-B6D3-889830A573F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68198D-AC0C-4597-B376-D0A4FBE5178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D4FB26-30D5-4C4B-ADBC-3B211994BD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D9FEFC-4B11-4997-A669-360280576A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5AA6D6-E2C9-4BB7-A678-1344B331FA6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C707AA-B572-4B7A-BBDD-EFFA454ED15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E2DAAC-9B5E-468A-81C7-2EBBE4CE6B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6151922-266E-4D79-A55A-AFB682BC28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BE0C9F-C6AF-4DF5-843D-C44627FBAF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304A58-5DD9-4311-888F-4AD994AE09DC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60CF40-8687-4481-8059-7029F9512F45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32E6DB-8434-41ED-A3DF-260885C2C301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1EB2887-D6DF-4695-B6D9-585E58CC19E2}"/>
              </a:ext>
            </a:extLst>
          </p:cNvPr>
          <p:cNvSpPr>
            <a:spLocks noGrp="1"/>
          </p:cNvSpPr>
          <p:nvPr/>
        </p:nvSpPr>
        <p:spPr>
          <a:xfrm>
            <a:off x="914400" y="590550"/>
            <a:ext cx="7810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47084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7CF86153-BDBB-4E5A-9C22-FEA66828F1BB}"/>
              </a:ext>
            </a:extLst>
          </p:cNvPr>
          <p:cNvSpPr>
            <a:spLocks noGrp="1"/>
          </p:cNvSpPr>
          <p:nvPr/>
        </p:nvSpPr>
        <p:spPr>
          <a:xfrm>
            <a:off x="914400" y="1009650"/>
            <a:ext cx="10363200" cy="9525"/>
          </a:xfrm>
          <a:prstGeom prst="line">
            <a:avLst/>
          </a:prstGeom>
          <a:noFill/>
          <a:ln w="8573">
            <a:solidFill>
              <a:srgbClr val="7F8B9B"/>
            </a:solidFill>
            <a:prstDash val="solid"/>
          </a:ln>
        </p:spPr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7FCA517A-BA34-47DA-BD2F-29CFF781D2A6}"/>
              </a:ext>
            </a:extLst>
          </p:cNvPr>
          <p:cNvSpPr>
            <a:spLocks noGrp="1"/>
          </p:cNvSpPr>
          <p:nvPr/>
        </p:nvSpPr>
        <p:spPr>
          <a:xfrm>
            <a:off x="914400" y="1438275"/>
            <a:ext cx="647700" cy="66675"/>
          </a:xfrm>
          <a:prstGeom prst="roundRect">
            <a:avLst>
              <a:gd name="adj" fmla="val 50000"/>
            </a:avLst>
          </a:prstGeom>
          <a:solidFill>
            <a:srgbClr val="315CF4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9EE1C2-9905-40C0-B698-BBE73E242138}"/>
              </a:ext>
            </a:extLst>
          </p:cNvPr>
          <p:cNvSpPr>
            <a:spLocks noGrp="1"/>
          </p:cNvSpPr>
          <p:nvPr/>
        </p:nvSpPr>
        <p:spPr>
          <a:xfrm>
            <a:off x="914400" y="1790700"/>
            <a:ext cx="10096500" cy="1485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4000"/>
              </a:lnSpc>
              <a:buNone/>
              <a:def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Пословна логика и use-case слој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11F344-A834-442C-A8BB-DCE2B36B80E8}"/>
              </a:ext>
            </a:extLst>
          </p:cNvPr>
          <p:cNvSpPr>
            <a:spLocks noGrp="1"/>
          </p:cNvSpPr>
          <p:nvPr/>
        </p:nvSpPr>
        <p:spPr>
          <a:xfrm>
            <a:off x="933450" y="3562350"/>
            <a:ext cx="93345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Границе пословних правила и организација use-case сценарија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32662486-E732-46B6-928B-6D698D64B878}"/>
              </a:ext>
            </a:extLst>
          </p:cNvPr>
          <p:cNvSpPr>
            <a:spLocks noGrp="1"/>
          </p:cNvSpPr>
          <p:nvPr/>
        </p:nvSpPr>
        <p:spPr>
          <a:xfrm>
            <a:off x="914400" y="5286375"/>
            <a:ext cx="10363200" cy="9525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305498-E217-4FA2-A0E9-6F3B3CE4DE96}"/>
              </a:ext>
            </a:extLst>
          </p:cNvPr>
          <p:cNvSpPr>
            <a:spLocks noGrp="1"/>
          </p:cNvSpPr>
          <p:nvPr/>
        </p:nvSpPr>
        <p:spPr>
          <a:xfrm>
            <a:off x="914400" y="5581650"/>
            <a:ext cx="40005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ПСИ · 5. семестар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92BBD70-0214-4D23-AF38-758918EC77C2}"/>
              </a:ext>
            </a:extLst>
          </p:cNvPr>
          <p:cNvSpPr>
            <a:spLocks noGrp="1"/>
          </p:cNvSpPr>
          <p:nvPr/>
        </p:nvSpPr>
        <p:spPr>
          <a:xfrm>
            <a:off x="8096250" y="5581650"/>
            <a:ext cx="31813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Академска 2026/27</a:t>
            </a:r>
          </a:p>
        </p:txBody>
      </p:sp>
    </p:spTree>
    <p:extLst>
      <p:ext uri="{BB962C8B-B14F-4D97-AF65-F5344CB8AC3E}">
        <p14:creationId xmlns:p14="http://schemas.microsoft.com/office/powerpoint/2010/main" val="5621527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B6D0FF-00A0-42C0-9060-071319F36713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2E2B3B-7E65-442E-B980-BE9637656AC7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054778-121C-4C04-88BC-C8500C910C54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9AD7A2-984A-454C-8532-40BB6D6702A5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Use-case повезује захтев са пословним исходом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03D80F-18E8-46DC-B6D5-FD2393173054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Он оркестрира доменске објекте и уговоре, али не припада UI-у, бази или transport-у.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5D87B11-B3A8-4CE9-BFF3-F91CA5B73CC7}"/>
              </a:ext>
            </a:extLst>
          </p:cNvPr>
          <p:cNvSpPr>
            <a:spLocks noGrp="1"/>
          </p:cNvSpPr>
          <p:nvPr/>
        </p:nvSpPr>
        <p:spPr>
          <a:xfrm>
            <a:off x="1135380" y="2788920"/>
            <a:ext cx="1508760" cy="694944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16EEAE-6893-45CA-B74B-7DF336400C3E}"/>
              </a:ext>
            </a:extLst>
          </p:cNvPr>
          <p:cNvSpPr>
            <a:spLocks noGrp="1"/>
          </p:cNvSpPr>
          <p:nvPr/>
        </p:nvSpPr>
        <p:spPr>
          <a:xfrm>
            <a:off x="1208532" y="2999232"/>
            <a:ext cx="1353312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Улаз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F1C15C-2289-49F7-ADF1-E10A6200350E}"/>
              </a:ext>
            </a:extLst>
          </p:cNvPr>
          <p:cNvSpPr>
            <a:spLocks noGrp="1"/>
          </p:cNvSpPr>
          <p:nvPr/>
        </p:nvSpPr>
        <p:spPr>
          <a:xfrm>
            <a:off x="1043940" y="3630168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команда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59404A5-19AE-49F8-908F-CB26F205B929}"/>
              </a:ext>
            </a:extLst>
          </p:cNvPr>
          <p:cNvSpPr>
            <a:spLocks noGrp="1"/>
          </p:cNvSpPr>
          <p:nvPr/>
        </p:nvSpPr>
        <p:spPr>
          <a:xfrm>
            <a:off x="2735580" y="2990088"/>
            <a:ext cx="320040" cy="2633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820523A-D3AF-427F-8647-9D832CDAFA80}"/>
              </a:ext>
            </a:extLst>
          </p:cNvPr>
          <p:cNvSpPr>
            <a:spLocks noGrp="1"/>
          </p:cNvSpPr>
          <p:nvPr/>
        </p:nvSpPr>
        <p:spPr>
          <a:xfrm>
            <a:off x="3238500" y="2788920"/>
            <a:ext cx="1508760" cy="694944"/>
          </a:xfrm>
          <a:prstGeom prst="roundRect">
            <a:avLst>
              <a:gd name="adj" fmla="val 12000"/>
            </a:avLst>
          </a:prstGeom>
          <a:solidFill>
            <a:srgbClr val="F4F7FF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EB38919-771B-47C1-9B36-5EF07122CEBA}"/>
              </a:ext>
            </a:extLst>
          </p:cNvPr>
          <p:cNvSpPr>
            <a:spLocks noGrp="1"/>
          </p:cNvSpPr>
          <p:nvPr/>
        </p:nvSpPr>
        <p:spPr>
          <a:xfrm>
            <a:off x="3311652" y="2999232"/>
            <a:ext cx="1353312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dirty="0">
                <a:solidFill>
                  <a:srgbClr val="2A5BFF"/>
                </a:solidFill>
                <a:latin typeface="Aptos"/>
                <a:ea typeface="Aptos"/>
                <a:cs typeface="Aptos"/>
              </a:rPr>
              <a:t>Validation</a:t>
            </a:r>
            <a:endParaRPr sz="1650" b="1" dirty="0">
              <a:solidFill>
                <a:srgbClr val="2A5BF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1A4969-B119-49C9-B72F-6BB8F912F450}"/>
              </a:ext>
            </a:extLst>
          </p:cNvPr>
          <p:cNvSpPr>
            <a:spLocks noGrp="1"/>
          </p:cNvSpPr>
          <p:nvPr/>
        </p:nvSpPr>
        <p:spPr>
          <a:xfrm>
            <a:off x="3147060" y="3630168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правила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F64E8E0-F252-4E4E-A1F6-48C4E16F01AA}"/>
              </a:ext>
            </a:extLst>
          </p:cNvPr>
          <p:cNvSpPr>
            <a:spLocks noGrp="1"/>
          </p:cNvSpPr>
          <p:nvPr/>
        </p:nvSpPr>
        <p:spPr>
          <a:xfrm>
            <a:off x="4838700" y="2990088"/>
            <a:ext cx="320040" cy="2633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D8A5211-22D5-4F3F-AE43-CA464B74C464}"/>
              </a:ext>
            </a:extLst>
          </p:cNvPr>
          <p:cNvSpPr>
            <a:spLocks noGrp="1"/>
          </p:cNvSpPr>
          <p:nvPr/>
        </p:nvSpPr>
        <p:spPr>
          <a:xfrm>
            <a:off x="5341620" y="2788920"/>
            <a:ext cx="1508760" cy="694944"/>
          </a:xfrm>
          <a:prstGeom prst="roundRect">
            <a:avLst>
              <a:gd name="adj" fmla="val 12000"/>
            </a:avLst>
          </a:prstGeom>
          <a:solidFill>
            <a:srgbClr val="F4F7FF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644B033-1125-4432-A472-857C3A62C07D}"/>
              </a:ext>
            </a:extLst>
          </p:cNvPr>
          <p:cNvSpPr>
            <a:spLocks noGrp="1"/>
          </p:cNvSpPr>
          <p:nvPr/>
        </p:nvSpPr>
        <p:spPr>
          <a:xfrm>
            <a:off x="5414772" y="2999232"/>
            <a:ext cx="1353312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Domain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018BC85-91DF-46CB-B4E9-465BDEBC9EB1}"/>
              </a:ext>
            </a:extLst>
          </p:cNvPr>
          <p:cNvSpPr>
            <a:spLocks noGrp="1"/>
          </p:cNvSpPr>
          <p:nvPr/>
        </p:nvSpPr>
        <p:spPr>
          <a:xfrm>
            <a:off x="5250180" y="3630168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стање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6455D39-AB02-4D39-A0C4-AEC443F89974}"/>
              </a:ext>
            </a:extLst>
          </p:cNvPr>
          <p:cNvSpPr>
            <a:spLocks noGrp="1"/>
          </p:cNvSpPr>
          <p:nvPr/>
        </p:nvSpPr>
        <p:spPr>
          <a:xfrm>
            <a:off x="6941820" y="2990088"/>
            <a:ext cx="320040" cy="2633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9A727076-9F90-4332-9C86-E9EC4911999A}"/>
              </a:ext>
            </a:extLst>
          </p:cNvPr>
          <p:cNvSpPr>
            <a:spLocks noGrp="1"/>
          </p:cNvSpPr>
          <p:nvPr/>
        </p:nvSpPr>
        <p:spPr>
          <a:xfrm>
            <a:off x="7444740" y="2788920"/>
            <a:ext cx="1508760" cy="694944"/>
          </a:xfrm>
          <a:prstGeom prst="roundRect">
            <a:avLst>
              <a:gd name="adj" fmla="val 12000"/>
            </a:avLst>
          </a:prstGeom>
          <a:solidFill>
            <a:srgbClr val="FDF9F1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D47E557-E8E7-495F-AF7F-F4AEB4698F7E}"/>
              </a:ext>
            </a:extLst>
          </p:cNvPr>
          <p:cNvSpPr>
            <a:spLocks noGrp="1"/>
          </p:cNvSpPr>
          <p:nvPr/>
        </p:nvSpPr>
        <p:spPr>
          <a:xfrm>
            <a:off x="7517892" y="2999232"/>
            <a:ext cx="1353312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BE770F"/>
                </a:solidFill>
                <a:latin typeface="Aptos"/>
                <a:ea typeface="Aptos"/>
                <a:cs typeface="Aptos"/>
              </a:rPr>
              <a:t>Repository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E5EE3CF-B452-4D7A-9B8B-865973D24165}"/>
              </a:ext>
            </a:extLst>
          </p:cNvPr>
          <p:cNvSpPr>
            <a:spLocks noGrp="1"/>
          </p:cNvSpPr>
          <p:nvPr/>
        </p:nvSpPr>
        <p:spPr>
          <a:xfrm>
            <a:off x="7353300" y="3630168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чување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537AC71-D0E1-43EF-A1E6-FF3D4AC67C0E}"/>
              </a:ext>
            </a:extLst>
          </p:cNvPr>
          <p:cNvSpPr>
            <a:spLocks noGrp="1"/>
          </p:cNvSpPr>
          <p:nvPr/>
        </p:nvSpPr>
        <p:spPr>
          <a:xfrm>
            <a:off x="9044940" y="2990088"/>
            <a:ext cx="320040" cy="2633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BC516C12-6211-4EAD-BBA3-10C6EE59844B}"/>
              </a:ext>
            </a:extLst>
          </p:cNvPr>
          <p:cNvSpPr>
            <a:spLocks noGrp="1"/>
          </p:cNvSpPr>
          <p:nvPr/>
        </p:nvSpPr>
        <p:spPr>
          <a:xfrm>
            <a:off x="9547860" y="2788920"/>
            <a:ext cx="1508760" cy="694944"/>
          </a:xfrm>
          <a:prstGeom prst="roundRect">
            <a:avLst>
              <a:gd name="adj" fmla="val 12000"/>
            </a:avLst>
          </a:prstGeom>
          <a:solidFill>
            <a:srgbClr val="F3FAF6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4B5C72B-2886-424C-9DE9-BFFC286B54B3}"/>
              </a:ext>
            </a:extLst>
          </p:cNvPr>
          <p:cNvSpPr>
            <a:spLocks noGrp="1"/>
          </p:cNvSpPr>
          <p:nvPr/>
        </p:nvSpPr>
        <p:spPr>
          <a:xfrm>
            <a:off x="9621012" y="2999232"/>
            <a:ext cx="1353312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0A915F"/>
                </a:solidFill>
                <a:latin typeface="Aptos"/>
                <a:ea typeface="Aptos"/>
                <a:cs typeface="Aptos"/>
              </a:rPr>
              <a:t>Result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B225C6-0147-450F-991F-4637C419C7A8}"/>
              </a:ext>
            </a:extLst>
          </p:cNvPr>
          <p:cNvSpPr>
            <a:spLocks noGrp="1"/>
          </p:cNvSpPr>
          <p:nvPr/>
        </p:nvSpPr>
        <p:spPr>
          <a:xfrm>
            <a:off x="9456420" y="3630168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исход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535246A8-0F71-48E0-A47F-7232BDA8B212}"/>
              </a:ext>
            </a:extLst>
          </p:cNvPr>
          <p:cNvSpPr>
            <a:spLocks noGrp="1"/>
          </p:cNvSpPr>
          <p:nvPr/>
        </p:nvSpPr>
        <p:spPr>
          <a:xfrm>
            <a:off x="914400" y="4914900"/>
            <a:ext cx="10363200" cy="800100"/>
          </a:xfrm>
          <a:prstGeom prst="roundRect">
            <a:avLst>
              <a:gd name="adj" fmla="val 16667"/>
            </a:avLst>
          </a:prstGeom>
          <a:solidFill>
            <a:srgbClr val="FFF6E9"/>
          </a:solidFill>
          <a:ln w="7620">
            <a:solidFill>
              <a:srgbClr val="E9D4AF"/>
            </a:solidFill>
            <a:prstDash val="solid"/>
          </a:ln>
        </p:spPr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10EC050D-62BF-4FD4-8483-940D0D30FDCB}"/>
              </a:ext>
            </a:extLst>
          </p:cNvPr>
          <p:cNvSpPr>
            <a:spLocks noGrp="1"/>
          </p:cNvSpPr>
          <p:nvPr/>
        </p:nvSpPr>
        <p:spPr>
          <a:xfrm>
            <a:off x="1085850" y="5067300"/>
            <a:ext cx="57150" cy="495300"/>
          </a:xfrm>
          <a:prstGeom prst="roundRect">
            <a:avLst>
              <a:gd name="adj" fmla="val 50000"/>
            </a:avLst>
          </a:prstGeom>
          <a:solidFill>
            <a:srgbClr val="B86A09"/>
          </a:solidFill>
          <a:ln w="0">
            <a:noFill/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9F5EA82-39BF-454C-BF1E-F41F20A2DD33}"/>
              </a:ext>
            </a:extLst>
          </p:cNvPr>
          <p:cNvSpPr>
            <a:spLocks noGrp="1"/>
          </p:cNvSpPr>
          <p:nvPr/>
        </p:nvSpPr>
        <p:spPr>
          <a:xfrm>
            <a:off x="1333500" y="5029200"/>
            <a:ext cx="2381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КЉУЧНА ПОРУКА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DBE9991-6CA8-4227-A5A7-26FDBE396443}"/>
              </a:ext>
            </a:extLst>
          </p:cNvPr>
          <p:cNvSpPr>
            <a:spLocks noGrp="1"/>
          </p:cNvSpPr>
          <p:nvPr/>
        </p:nvSpPr>
        <p:spPr>
          <a:xfrm>
            <a:off x="1333500" y="5276850"/>
            <a:ext cx="96012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Use-case треба да има јасан улаз, експлицитан резултат и контролисане зависности.</a:t>
            </a:r>
          </a:p>
        </p:txBody>
      </p:sp>
    </p:spTree>
    <p:extLst>
      <p:ext uri="{BB962C8B-B14F-4D97-AF65-F5344CB8AC3E}">
        <p14:creationId xmlns:p14="http://schemas.microsoft.com/office/powerpoint/2010/main" val="19404300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AD0B3C-E09B-4E93-AACA-55BBA76F4F3A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9C6812-0265-4D50-AFCE-AD5C9E35B68F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49F3B6-6CDF-4778-8E33-BE1C89CC42B8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2AE8D1-8839-4D92-9CEC-7099E927036D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Entitet није само DTO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96EDDB-22E7-4A94-AF9F-19E6A8E70E99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277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Јавни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lang="sr-Cyrl-RS" sz="165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сетери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и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правила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у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сервисима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лако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воде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у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неважеће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стање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D7996F-3C90-4996-A5EA-33AB465C9017}"/>
              </a:ext>
            </a:extLst>
          </p:cNvPr>
          <p:cNvSpPr>
            <a:spLocks noGrp="1"/>
          </p:cNvSpPr>
          <p:nvPr/>
        </p:nvSpPr>
        <p:spPr>
          <a:xfrm>
            <a:off x="1051560" y="2423160"/>
            <a:ext cx="8229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Доменски објекат треба да штити своје инваријанте и да излаже операције које имају пословно значење.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31C552-29DB-4938-80C3-0F8E8B2AC772}"/>
              </a:ext>
            </a:extLst>
          </p:cNvPr>
          <p:cNvSpPr>
            <a:spLocks noGrp="1"/>
          </p:cNvSpPr>
          <p:nvPr/>
        </p:nvSpPr>
        <p:spPr>
          <a:xfrm>
            <a:off x="1051560" y="3391739"/>
            <a:ext cx="6949440" cy="10972"/>
          </a:xfrm>
          <a:prstGeom prst="rect">
            <a:avLst/>
          </a:prstGeom>
          <a:solidFill>
            <a:srgbClr val="2A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1235DB8-39BC-4568-9313-1F47394449DE}"/>
              </a:ext>
            </a:extLst>
          </p:cNvPr>
          <p:cNvSpPr>
            <a:spLocks noGrp="1"/>
          </p:cNvSpPr>
          <p:nvPr/>
        </p:nvSpPr>
        <p:spPr>
          <a:xfrm>
            <a:off x="914400" y="4267200"/>
            <a:ext cx="10363200" cy="800100"/>
          </a:xfrm>
          <a:prstGeom prst="roundRect">
            <a:avLst>
              <a:gd name="adj" fmla="val 16667"/>
            </a:avLst>
          </a:prstGeom>
          <a:solidFill>
            <a:srgbClr val="FFF6E9"/>
          </a:solidFill>
          <a:ln w="7620">
            <a:solidFill>
              <a:srgbClr val="E9D4AF"/>
            </a:solidFill>
            <a:prstDash val="solid"/>
          </a:ln>
        </p:spPr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6DE8DE9-E3B1-44BE-9CD6-54521436464E}"/>
              </a:ext>
            </a:extLst>
          </p:cNvPr>
          <p:cNvSpPr>
            <a:spLocks noGrp="1"/>
          </p:cNvSpPr>
          <p:nvPr/>
        </p:nvSpPr>
        <p:spPr>
          <a:xfrm>
            <a:off x="1085850" y="4419600"/>
            <a:ext cx="57150" cy="495300"/>
          </a:xfrm>
          <a:prstGeom prst="roundRect">
            <a:avLst>
              <a:gd name="adj" fmla="val 50000"/>
            </a:avLst>
          </a:prstGeom>
          <a:solidFill>
            <a:srgbClr val="B86A09"/>
          </a:solidFill>
          <a:ln w="0">
            <a:noFill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0991161-6C3C-42C9-A598-459115BC089B}"/>
              </a:ext>
            </a:extLst>
          </p:cNvPr>
          <p:cNvSpPr>
            <a:spLocks noGrp="1"/>
          </p:cNvSpPr>
          <p:nvPr/>
        </p:nvSpPr>
        <p:spPr>
          <a:xfrm>
            <a:off x="1333500" y="4381500"/>
            <a:ext cx="2381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КЉУЧНА ПОРУКА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A29BDF1-CD27-4A18-B284-923EA9333A5F}"/>
              </a:ext>
            </a:extLst>
          </p:cNvPr>
          <p:cNvSpPr>
            <a:spLocks noGrp="1"/>
          </p:cNvSpPr>
          <p:nvPr/>
        </p:nvSpPr>
        <p:spPr>
          <a:xfrm>
            <a:off x="1333500" y="4629150"/>
            <a:ext cx="96012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Use-case координише, али не мора да понавља исто правило при сваком позиву.</a:t>
            </a:r>
          </a:p>
        </p:txBody>
      </p:sp>
    </p:spTree>
    <p:extLst>
      <p:ext uri="{BB962C8B-B14F-4D97-AF65-F5344CB8AC3E}">
        <p14:creationId xmlns:p14="http://schemas.microsoft.com/office/powerpoint/2010/main" val="12990272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2F93C9-2687-4B45-9802-4E0B18266D55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F020EEF-EC86-4A1F-B605-CEB7517DCC9C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466323-D6CF-429F-8EC3-E5E208996C29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1E461D-0DC7-4273-92C8-B8D9D3BFD88B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Factory метод чува валидно стање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DC9DF0-24CF-4FE1-BA15-456EFE645B68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277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Очекиван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пословни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неуспех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враћа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Result, </a:t>
            </a: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не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lang="sr-Cyrl-RS"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генерички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exception.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B4C5B99-F94E-4ECD-B653-8A9166E48D20}"/>
              </a:ext>
            </a:extLst>
          </p:cNvPr>
          <p:cNvSpPr>
            <a:spLocks noGrp="1"/>
          </p:cNvSpPr>
          <p:nvPr/>
        </p:nvSpPr>
        <p:spPr>
          <a:xfrm>
            <a:off x="797442" y="2498035"/>
            <a:ext cx="5715000" cy="2394452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EDC3813-4C86-434A-8A66-2207DB27F690}"/>
              </a:ext>
            </a:extLst>
          </p:cNvPr>
          <p:cNvSpPr>
            <a:spLocks noGrp="1"/>
          </p:cNvSpPr>
          <p:nvPr/>
        </p:nvSpPr>
        <p:spPr>
          <a:xfrm>
            <a:off x="797442" y="2845507"/>
            <a:ext cx="5715000" cy="10972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516F279-F4AB-4B74-8427-438CC4148CC8}"/>
              </a:ext>
            </a:extLst>
          </p:cNvPr>
          <p:cNvSpPr>
            <a:spLocks noGrp="1"/>
          </p:cNvSpPr>
          <p:nvPr/>
        </p:nvSpPr>
        <p:spPr>
          <a:xfrm>
            <a:off x="5598042" y="2616907"/>
            <a:ext cx="73152" cy="73152"/>
          </a:xfrm>
          <a:prstGeom prst="ellipse">
            <a:avLst/>
          </a:prstGeom>
          <a:solidFill>
            <a:srgbClr val="EE6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EF67554-F6DF-4316-BF30-FC8F99794654}"/>
              </a:ext>
            </a:extLst>
          </p:cNvPr>
          <p:cNvSpPr>
            <a:spLocks noGrp="1"/>
          </p:cNvSpPr>
          <p:nvPr/>
        </p:nvSpPr>
        <p:spPr>
          <a:xfrm>
            <a:off x="5744346" y="2616907"/>
            <a:ext cx="73152" cy="73152"/>
          </a:xfrm>
          <a:prstGeom prst="ellipse">
            <a:avLst/>
          </a:prstGeom>
          <a:solidFill>
            <a:srgbClr val="F5B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23BDA29-606A-416C-A243-B247F9055147}"/>
              </a:ext>
            </a:extLst>
          </p:cNvPr>
          <p:cNvSpPr>
            <a:spLocks noGrp="1"/>
          </p:cNvSpPr>
          <p:nvPr/>
        </p:nvSpPr>
        <p:spPr>
          <a:xfrm>
            <a:off x="5890650" y="2616907"/>
            <a:ext cx="73152" cy="73152"/>
          </a:xfrm>
          <a:prstGeom prst="ellipse">
            <a:avLst/>
          </a:prstGeom>
          <a:solidFill>
            <a:srgbClr val="62C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0D8E39-6D66-4E06-9AFD-23C07C4FCE9E}"/>
              </a:ext>
            </a:extLst>
          </p:cNvPr>
          <p:cNvSpPr>
            <a:spLocks noGrp="1"/>
          </p:cNvSpPr>
          <p:nvPr/>
        </p:nvSpPr>
        <p:spPr>
          <a:xfrm>
            <a:off x="930793" y="2974285"/>
            <a:ext cx="5427478" cy="17143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 dirty="0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66" b="1" dirty="0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 dirty="0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sealed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 dirty="0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class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 dirty="0" err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Reservation</a:t>
            </a:r>
            <a:r>
              <a:rPr lang="en-US" sz="1066" b="1" dirty="0" err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Maker</a:t>
            </a:r>
            <a:endParaRPr sz="1066" b="1" dirty="0">
              <a:solidFill>
                <a:srgbClr val="7442C8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 dirty="0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66" dirty="0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 dirty="0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</a:t>
            </a:r>
            <a:endParaRPr lang="sr-Cyrl-RS" sz="1066" dirty="0">
              <a:solidFill>
                <a:srgbClr val="8E97A6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sr-Cyrl-RS" sz="1066" b="1" dirty="0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en-US" sz="1066" dirty="0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4</a:t>
            </a:r>
            <a:r>
              <a:rPr lang="sr-Cyrl-RS" sz="1066" b="1" dirty="0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66" b="1" dirty="0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 dirty="0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066" dirty="0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066" b="1" dirty="0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Reservation</a:t>
            </a:r>
            <a:r>
              <a:rPr sz="1066" dirty="0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&gt;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 dirty="0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Create</a:t>
            </a:r>
            <a:r>
              <a:rPr sz="1066" dirty="0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66" b="1" dirty="0" err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DateTime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from</a:t>
            </a:r>
            <a:r>
              <a:rPr sz="1066" dirty="0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lang="en-US" sz="1066" dirty="0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en-US" sz="1066" b="1" dirty="0" err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DateTime</a:t>
            </a:r>
            <a:r>
              <a:rPr lang="en-US" sz="1066" b="1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en-US"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to</a:t>
            </a:r>
            <a:r>
              <a:rPr lang="en-US" sz="1066" dirty="0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  <a:endParaRPr sz="1066" dirty="0">
              <a:solidFill>
                <a:srgbClr val="5C6574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 dirty="0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en-US" sz="1066" dirty="0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5</a:t>
            </a:r>
            <a:r>
              <a:rPr sz="1066" dirty="0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66" dirty="0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 dirty="0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en-US" sz="1066" dirty="0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6</a:t>
            </a:r>
            <a:r>
              <a:rPr sz="1066" dirty="0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66" b="1" dirty="0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dirty="0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from </a:t>
            </a:r>
            <a:r>
              <a:rPr sz="1066" dirty="0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to</a:t>
            </a:r>
            <a:r>
              <a:rPr sz="1066" dirty="0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66" dirty="0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</a:t>
            </a:r>
            <a:r>
              <a:rPr sz="1066" dirty="0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66" b="1" dirty="0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 dirty="0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066" dirty="0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066" b="1" dirty="0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Reservation</a:t>
            </a:r>
            <a:r>
              <a:rPr sz="1066" dirty="0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&gt;.</a:t>
            </a:r>
            <a:r>
              <a:rPr sz="1066" b="1" dirty="0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Fail</a:t>
            </a:r>
            <a:r>
              <a:rPr sz="1066" dirty="0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66" dirty="0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</a:t>
            </a:r>
            <a:r>
              <a:rPr sz="1066" dirty="0" err="1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InvalidPeriod</a:t>
            </a:r>
            <a:r>
              <a:rPr sz="1066" dirty="0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</a:t>
            </a:r>
            <a:r>
              <a:rPr sz="1066" dirty="0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66" dirty="0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</a:t>
            </a:r>
            <a:r>
              <a:rPr sz="1066" dirty="0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66" b="1" dirty="0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 dirty="0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066" dirty="0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066" b="1" dirty="0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Reservation</a:t>
            </a:r>
            <a:r>
              <a:rPr sz="1066" dirty="0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&gt;.</a:t>
            </a:r>
            <a:r>
              <a:rPr sz="1066" b="1" dirty="0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Ok</a:t>
            </a:r>
            <a:r>
              <a:rPr sz="1066" dirty="0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66" b="1" dirty="0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 dirty="0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Reservation</a:t>
            </a:r>
            <a:r>
              <a:rPr sz="1066" dirty="0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066" dirty="0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lang="en-US" sz="1066" dirty="0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to</a:t>
            </a:r>
            <a:r>
              <a:rPr sz="1066" dirty="0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));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66" dirty="0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9</a:t>
            </a:r>
            <a:r>
              <a:rPr sz="1066" dirty="0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66" dirty="0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 dirty="0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</a:t>
            </a:r>
            <a:r>
              <a:rPr lang="en-US" sz="1066" dirty="0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1066" dirty="0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66" dirty="0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79FA08-A706-4712-ACAB-EAA622930321}"/>
              </a:ext>
            </a:extLst>
          </p:cNvPr>
          <p:cNvSpPr>
            <a:spLocks noGrp="1"/>
          </p:cNvSpPr>
          <p:nvPr/>
        </p:nvSpPr>
        <p:spPr>
          <a:xfrm>
            <a:off x="6873240" y="2240280"/>
            <a:ext cx="3840480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Шта је важно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DD48FF-B613-49FF-AEB7-FC956670AEDE}"/>
              </a:ext>
            </a:extLst>
          </p:cNvPr>
          <p:cNvSpPr>
            <a:spLocks noGrp="1"/>
          </p:cNvSpPr>
          <p:nvPr/>
        </p:nvSpPr>
        <p:spPr>
          <a:xfrm>
            <a:off x="6873240" y="2578608"/>
            <a:ext cx="3886200" cy="12118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Конструктор</a:t>
            </a:r>
            <a:r>
              <a:rPr sz="144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може</a:t>
            </a:r>
            <a:r>
              <a:rPr sz="144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бити</a:t>
            </a:r>
            <a:r>
              <a:rPr sz="144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</a:t>
            </a:r>
            <a:r>
              <a:rPr lang="sr-Cyrl-RS" sz="144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приватан</a:t>
            </a:r>
            <a:r>
              <a:rPr sz="144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Factory </a:t>
            </a:r>
            <a:r>
              <a:rPr lang="sr-Cyrl-RS" sz="144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спречава очигледно </a:t>
            </a:r>
            <a:r>
              <a:rPr lang="sr-Cyrl-RS" sz="144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невалидно</a:t>
            </a:r>
            <a:r>
              <a:rPr lang="sr-Cyrl-RS" sz="144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стање</a:t>
            </a:r>
            <a:r>
              <a:rPr sz="144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lang="sr-Cyrl-RS" sz="144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Методе ентитета не треба да имају пословну логику – она остаје у сервисима.</a:t>
            </a:r>
            <a:endParaRPr sz="1440" b="0" dirty="0">
              <a:solidFill>
                <a:srgbClr val="1B202B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136638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158D5D-6BF8-4771-AEB7-57568797D819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253C84-0DE2-41F8-9391-1A0AA37DDB3D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6BCEA0-6162-4D5F-8A1A-DC508983294B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4CF660-6532-4A9E-88CA-3C299708A9D8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Инваријанта је правило које увек важи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4A7B3F-DA99-441C-9E5F-C3C9FCFC5FCF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Она се не сме ослањати на добру вољу позиваоца.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4CE0AF4-59D1-44C8-9682-CFD646E6A01C}"/>
              </a:ext>
            </a:extLst>
          </p:cNvPr>
          <p:cNvSpPr>
            <a:spLocks noGrp="1"/>
          </p:cNvSpPr>
          <p:nvPr/>
        </p:nvSpPr>
        <p:spPr>
          <a:xfrm>
            <a:off x="1478280" y="2560320"/>
            <a:ext cx="2834640" cy="1828800"/>
          </a:xfrm>
          <a:prstGeom prst="roundRect">
            <a:avLst>
              <a:gd name="adj" fmla="val 12000"/>
            </a:avLst>
          </a:prstGeom>
          <a:solidFill>
            <a:srgbClr val="F4F7FF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63CBE2-8E5B-409D-9945-27F7AC1B8545}"/>
              </a:ext>
            </a:extLst>
          </p:cNvPr>
          <p:cNvSpPr>
            <a:spLocks noGrp="1"/>
          </p:cNvSpPr>
          <p:nvPr/>
        </p:nvSpPr>
        <p:spPr>
          <a:xfrm>
            <a:off x="1642872" y="2761488"/>
            <a:ext cx="73152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44C0B1E-71FC-4A54-A673-15B0A0EA4CDE}"/>
              </a:ext>
            </a:extLst>
          </p:cNvPr>
          <p:cNvSpPr>
            <a:spLocks noGrp="1"/>
          </p:cNvSpPr>
          <p:nvPr/>
        </p:nvSpPr>
        <p:spPr>
          <a:xfrm>
            <a:off x="1642872" y="3063240"/>
            <a:ext cx="233172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Период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56F94A-CB5B-4315-90CC-67B379286CC5}"/>
              </a:ext>
            </a:extLst>
          </p:cNvPr>
          <p:cNvSpPr>
            <a:spLocks noGrp="1"/>
          </p:cNvSpPr>
          <p:nvPr/>
        </p:nvSpPr>
        <p:spPr>
          <a:xfrm>
            <a:off x="1642872" y="3522562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почетак</a:t>
            </a:r>
            <a:r>
              <a:rPr sz="1425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мора</a:t>
            </a:r>
            <a:r>
              <a:rPr sz="1425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бити</a:t>
            </a:r>
            <a:r>
              <a:rPr sz="1425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пре</a:t>
            </a:r>
            <a:r>
              <a:rPr sz="1425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краја</a:t>
            </a:r>
            <a:endParaRPr sz="1425" b="0" dirty="0">
              <a:solidFill>
                <a:srgbClr val="5D687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C8197C17-FC45-4CC5-AB83-4FAEDE3FBD49}"/>
              </a:ext>
            </a:extLst>
          </p:cNvPr>
          <p:cNvSpPr>
            <a:spLocks noGrp="1"/>
          </p:cNvSpPr>
          <p:nvPr/>
        </p:nvSpPr>
        <p:spPr>
          <a:xfrm>
            <a:off x="4678680" y="2560320"/>
            <a:ext cx="2834640" cy="1828800"/>
          </a:xfrm>
          <a:prstGeom prst="roundRect">
            <a:avLst>
              <a:gd name="adj" fmla="val 12000"/>
            </a:avLst>
          </a:prstGeom>
          <a:solidFill>
            <a:srgbClr val="F3FAF6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A27E4E4-9F78-46B1-88FA-3482CFF465FD}"/>
              </a:ext>
            </a:extLst>
          </p:cNvPr>
          <p:cNvSpPr>
            <a:spLocks noGrp="1"/>
          </p:cNvSpPr>
          <p:nvPr/>
        </p:nvSpPr>
        <p:spPr>
          <a:xfrm>
            <a:off x="4843272" y="2761488"/>
            <a:ext cx="73152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A915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8EEF982-C2C2-46D0-92BA-A5627C0595E9}"/>
              </a:ext>
            </a:extLst>
          </p:cNvPr>
          <p:cNvSpPr>
            <a:spLocks noGrp="1"/>
          </p:cNvSpPr>
          <p:nvPr/>
        </p:nvSpPr>
        <p:spPr>
          <a:xfrm>
            <a:off x="4843272" y="3063240"/>
            <a:ext cx="233172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Стање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B7D022B-8AB9-4447-ABBC-F1A60806FA26}"/>
              </a:ext>
            </a:extLst>
          </p:cNvPr>
          <p:cNvSpPr>
            <a:spLocks noGrp="1"/>
          </p:cNvSpPr>
          <p:nvPr/>
        </p:nvSpPr>
        <p:spPr>
          <a:xfrm>
            <a:off x="4843272" y="3522562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отказана</a:t>
            </a:r>
            <a:r>
              <a:rPr sz="1425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резервација</a:t>
            </a:r>
            <a:r>
              <a:rPr sz="1425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се</a:t>
            </a:r>
            <a:r>
              <a:rPr sz="1425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не</a:t>
            </a:r>
            <a:r>
              <a:rPr sz="1425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отказује</a:t>
            </a:r>
            <a:r>
              <a:rPr sz="1425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поново</a:t>
            </a:r>
            <a:endParaRPr sz="1425" b="0" dirty="0">
              <a:solidFill>
                <a:srgbClr val="5D687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6BF2826B-23BF-44D5-86B4-51379248D663}"/>
              </a:ext>
            </a:extLst>
          </p:cNvPr>
          <p:cNvSpPr>
            <a:spLocks noGrp="1"/>
          </p:cNvSpPr>
          <p:nvPr/>
        </p:nvSpPr>
        <p:spPr>
          <a:xfrm>
            <a:off x="7879080" y="2560320"/>
            <a:ext cx="2834640" cy="1828800"/>
          </a:xfrm>
          <a:prstGeom prst="roundRect">
            <a:avLst>
              <a:gd name="adj" fmla="val 12000"/>
            </a:avLst>
          </a:prstGeom>
          <a:solidFill>
            <a:srgbClr val="FDF9F1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6644745-ACE2-4700-AC7F-184CB5C7BF96}"/>
              </a:ext>
            </a:extLst>
          </p:cNvPr>
          <p:cNvSpPr>
            <a:spLocks noGrp="1"/>
          </p:cNvSpPr>
          <p:nvPr/>
        </p:nvSpPr>
        <p:spPr>
          <a:xfrm>
            <a:off x="8043672" y="2761488"/>
            <a:ext cx="73152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BE770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2401F9-E12D-4788-8417-DFCDB5342161}"/>
              </a:ext>
            </a:extLst>
          </p:cNvPr>
          <p:cNvSpPr>
            <a:spLocks noGrp="1"/>
          </p:cNvSpPr>
          <p:nvPr/>
        </p:nvSpPr>
        <p:spPr>
          <a:xfrm>
            <a:off x="8043672" y="3063240"/>
            <a:ext cx="233172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Време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3F162F-BF4E-41FF-BA2F-20AB3283E3FF}"/>
              </a:ext>
            </a:extLst>
          </p:cNvPr>
          <p:cNvSpPr>
            <a:spLocks noGrp="1"/>
          </p:cNvSpPr>
          <p:nvPr/>
        </p:nvSpPr>
        <p:spPr>
          <a:xfrm>
            <a:off x="8043672" y="3522562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прошла</a:t>
            </a:r>
            <a:r>
              <a:rPr sz="1425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резервација</a:t>
            </a:r>
            <a:r>
              <a:rPr sz="1425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се</a:t>
            </a:r>
            <a:r>
              <a:rPr sz="1425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не</a:t>
            </a:r>
            <a:r>
              <a:rPr sz="1425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мења</a:t>
            </a:r>
            <a:r>
              <a:rPr sz="1425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као</a:t>
            </a:r>
            <a:r>
              <a:rPr sz="1425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будућа</a:t>
            </a:r>
            <a:endParaRPr sz="1425" b="0" dirty="0">
              <a:solidFill>
                <a:srgbClr val="5D6878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8230837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A9C3C1-22E7-4CDD-B8E4-B2D44BCCE036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46F0930-3267-4EC5-A2A0-0FA5E45C3BB1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3FF7BC-B4F6-46F5-9A99-80DE528DC8C3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B9DD4C-DE68-4733-917A-91A0AE01CF57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Очeкивани неуспех није грешка система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ECD7F6-C4EE-444B-AAB0-F472C3BDE547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Заузет термин није пад апликације, већ исправно одбијен захтев.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39B708-E84D-470E-B386-0DB54D55D9E1}"/>
              </a:ext>
            </a:extLst>
          </p:cNvPr>
          <p:cNvSpPr>
            <a:spLocks noGrp="1"/>
          </p:cNvSpPr>
          <p:nvPr/>
        </p:nvSpPr>
        <p:spPr>
          <a:xfrm>
            <a:off x="1051560" y="2423160"/>
            <a:ext cx="8229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Систем ради исправно када стабилно врати OverlappingReservation и не промени стање које не сме да се промени.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131F833-0551-4292-B483-A3B8EF04CEC8}"/>
              </a:ext>
            </a:extLst>
          </p:cNvPr>
          <p:cNvSpPr>
            <a:spLocks noGrp="1"/>
          </p:cNvSpPr>
          <p:nvPr/>
        </p:nvSpPr>
        <p:spPr>
          <a:xfrm>
            <a:off x="1051560" y="3429000"/>
            <a:ext cx="6949440" cy="10972"/>
          </a:xfrm>
          <a:prstGeom prst="rect">
            <a:avLst/>
          </a:prstGeom>
          <a:solidFill>
            <a:srgbClr val="2A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2FDA6EA-3BE1-47AF-81C0-D0A97A7AC1CB}"/>
              </a:ext>
            </a:extLst>
          </p:cNvPr>
          <p:cNvSpPr>
            <a:spLocks noGrp="1"/>
          </p:cNvSpPr>
          <p:nvPr/>
        </p:nvSpPr>
        <p:spPr>
          <a:xfrm>
            <a:off x="914400" y="4267200"/>
            <a:ext cx="10363200" cy="800100"/>
          </a:xfrm>
          <a:prstGeom prst="roundRect">
            <a:avLst>
              <a:gd name="adj" fmla="val 16667"/>
            </a:avLst>
          </a:prstGeom>
          <a:solidFill>
            <a:srgbClr val="FFF6E9"/>
          </a:solidFill>
          <a:ln w="7620">
            <a:solidFill>
              <a:srgbClr val="E9D4AF"/>
            </a:solidFill>
            <a:prstDash val="solid"/>
          </a:ln>
        </p:spPr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3009B652-48EF-42F2-B688-B9538E16E5F1}"/>
              </a:ext>
            </a:extLst>
          </p:cNvPr>
          <p:cNvSpPr>
            <a:spLocks noGrp="1"/>
          </p:cNvSpPr>
          <p:nvPr/>
        </p:nvSpPr>
        <p:spPr>
          <a:xfrm>
            <a:off x="1085850" y="4419600"/>
            <a:ext cx="57150" cy="495300"/>
          </a:xfrm>
          <a:prstGeom prst="roundRect">
            <a:avLst>
              <a:gd name="adj" fmla="val 50000"/>
            </a:avLst>
          </a:prstGeom>
          <a:solidFill>
            <a:srgbClr val="B86A09"/>
          </a:solidFill>
          <a:ln w="0">
            <a:noFill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F4CA7BE-6956-4DC0-87A5-D02F007652FA}"/>
              </a:ext>
            </a:extLst>
          </p:cNvPr>
          <p:cNvSpPr>
            <a:spLocks noGrp="1"/>
          </p:cNvSpPr>
          <p:nvPr/>
        </p:nvSpPr>
        <p:spPr>
          <a:xfrm>
            <a:off x="1333500" y="4381500"/>
            <a:ext cx="2381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КЉУЧНА ПОРУКА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E93E561-7184-4EC6-92E1-ABBC6F6DF00F}"/>
              </a:ext>
            </a:extLst>
          </p:cNvPr>
          <p:cNvSpPr>
            <a:spLocks noGrp="1"/>
          </p:cNvSpPr>
          <p:nvPr/>
        </p:nvSpPr>
        <p:spPr>
          <a:xfrm>
            <a:off x="1333500" y="4629150"/>
            <a:ext cx="96012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Овакво понашање мора бити експлицитно и тестабилно.</a:t>
            </a:r>
          </a:p>
        </p:txBody>
      </p:sp>
    </p:spTree>
    <p:extLst>
      <p:ext uri="{BB962C8B-B14F-4D97-AF65-F5344CB8AC3E}">
        <p14:creationId xmlns:p14="http://schemas.microsoft.com/office/powerpoint/2010/main" val="17084256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A6AA0D-67D3-46BB-9150-B1BFB106EEDB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F439E91-5E68-4FE8-B7B0-E650EE57802A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232DFD-8DCD-440D-BC41-A331BEFC2400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E1B757-0FBF-44BE-9B63-10DD52AF49A2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Result моделује пословни исход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C84F99-BBE0-4421-B970-A7FA79110B21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277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null, false </a:t>
            </a: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и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lang="sr-Cyrl-RS"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генерички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exception </a:t>
            </a: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сакривају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разлог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неуспеха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9652651-748E-47DB-8DCB-ADF4CDB435BE}"/>
              </a:ext>
            </a:extLst>
          </p:cNvPr>
          <p:cNvSpPr>
            <a:spLocks noGrp="1"/>
          </p:cNvSpPr>
          <p:nvPr/>
        </p:nvSpPr>
        <p:spPr>
          <a:xfrm>
            <a:off x="914400" y="2487402"/>
            <a:ext cx="5715000" cy="2351922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1C2243-78B8-414E-A08A-915DB0FAEB41}"/>
              </a:ext>
            </a:extLst>
          </p:cNvPr>
          <p:cNvSpPr>
            <a:spLocks noGrp="1"/>
          </p:cNvSpPr>
          <p:nvPr/>
        </p:nvSpPr>
        <p:spPr>
          <a:xfrm>
            <a:off x="914400" y="2834874"/>
            <a:ext cx="5715000" cy="10972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09A061C-8D8D-4C3B-BC60-D7BE2F7FEADE}"/>
              </a:ext>
            </a:extLst>
          </p:cNvPr>
          <p:cNvSpPr>
            <a:spLocks noGrp="1"/>
          </p:cNvSpPr>
          <p:nvPr/>
        </p:nvSpPr>
        <p:spPr>
          <a:xfrm>
            <a:off x="5715000" y="2606274"/>
            <a:ext cx="73152" cy="73152"/>
          </a:xfrm>
          <a:prstGeom prst="ellipse">
            <a:avLst/>
          </a:prstGeom>
          <a:solidFill>
            <a:srgbClr val="EE6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41850AE-539B-4226-B180-D9574DA23F2A}"/>
              </a:ext>
            </a:extLst>
          </p:cNvPr>
          <p:cNvSpPr>
            <a:spLocks noGrp="1"/>
          </p:cNvSpPr>
          <p:nvPr/>
        </p:nvSpPr>
        <p:spPr>
          <a:xfrm>
            <a:off x="5861304" y="2606274"/>
            <a:ext cx="73152" cy="73152"/>
          </a:xfrm>
          <a:prstGeom prst="ellipse">
            <a:avLst/>
          </a:prstGeom>
          <a:solidFill>
            <a:srgbClr val="F5B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33CF049-5D63-465A-A77E-A7748EA8BCAD}"/>
              </a:ext>
            </a:extLst>
          </p:cNvPr>
          <p:cNvSpPr>
            <a:spLocks noGrp="1"/>
          </p:cNvSpPr>
          <p:nvPr/>
        </p:nvSpPr>
        <p:spPr>
          <a:xfrm>
            <a:off x="6007608" y="2606274"/>
            <a:ext cx="73152" cy="73152"/>
          </a:xfrm>
          <a:prstGeom prst="ellipse">
            <a:avLst/>
          </a:prstGeom>
          <a:solidFill>
            <a:srgbClr val="62C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0E1A11-27D7-40CC-A2AF-D8FDB6F6C782}"/>
              </a:ext>
            </a:extLst>
          </p:cNvPr>
          <p:cNvSpPr>
            <a:spLocks noGrp="1"/>
          </p:cNvSpPr>
          <p:nvPr/>
        </p:nvSpPr>
        <p:spPr>
          <a:xfrm>
            <a:off x="1047750" y="2963652"/>
            <a:ext cx="5448300" cy="22288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sealed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record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bool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Success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string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?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Error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static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Ok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=&gt;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true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null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static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Fail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string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error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=&gt;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false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error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sealed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record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10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&gt;(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bool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Success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?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Value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string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?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Error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0467C4-E0F1-490E-B80E-A23A7B2D6F81}"/>
              </a:ext>
            </a:extLst>
          </p:cNvPr>
          <p:cNvSpPr>
            <a:spLocks noGrp="1"/>
          </p:cNvSpPr>
          <p:nvPr/>
        </p:nvSpPr>
        <p:spPr>
          <a:xfrm>
            <a:off x="6873240" y="2240280"/>
            <a:ext cx="3840480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Шта је важно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BEEB427-05C8-4566-B6F3-1AA5E14CD9D0}"/>
              </a:ext>
            </a:extLst>
          </p:cNvPr>
          <p:cNvSpPr>
            <a:spLocks noGrp="1"/>
          </p:cNvSpPr>
          <p:nvPr/>
        </p:nvSpPr>
        <p:spPr>
          <a:xfrm>
            <a:off x="6873240" y="2578608"/>
            <a:ext cx="388620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Код неуспеха је стабилан.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Клијент не мора да тумачи изузетак.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Тест може директно да провери очекиван исход.</a:t>
            </a:r>
          </a:p>
        </p:txBody>
      </p:sp>
    </p:spTree>
    <p:extLst>
      <p:ext uri="{BB962C8B-B14F-4D97-AF65-F5344CB8AC3E}">
        <p14:creationId xmlns:p14="http://schemas.microsoft.com/office/powerpoint/2010/main" val="9980791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65D8ABF-C403-422F-A585-C059BEF29419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ECB2352-A87D-4EF4-A119-37B22E9CA80A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9F0015-C930-4414-90C2-9141CA77D76E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AE9767-73E4-4ED5-92A8-37802DC0F9ED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Различите ситуације траже различит модел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5BA9E9-1741-4559-BE38-EFA4B76632E4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Не треба све третирати као exception.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EF584C5-A91D-4F3A-A368-C83AF8B6D76C}"/>
              </a:ext>
            </a:extLst>
          </p:cNvPr>
          <p:cNvSpPr>
            <a:spLocks noGrp="1"/>
          </p:cNvSpPr>
          <p:nvPr/>
        </p:nvSpPr>
        <p:spPr>
          <a:xfrm>
            <a:off x="914400" y="2240280"/>
            <a:ext cx="2518161" cy="457200"/>
          </a:xfrm>
          <a:prstGeom prst="rect">
            <a:avLst/>
          </a:prstGeom>
          <a:solidFill>
            <a:srgbClr val="F7F8FA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21F454-022D-4FD1-A283-ACF53D3FC9F3}"/>
              </a:ext>
            </a:extLst>
          </p:cNvPr>
          <p:cNvSpPr>
            <a:spLocks noGrp="1"/>
          </p:cNvSpPr>
          <p:nvPr/>
        </p:nvSpPr>
        <p:spPr>
          <a:xfrm>
            <a:off x="1030623" y="2306955"/>
            <a:ext cx="2324456" cy="352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Ситуација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CBB0E2F-2B4E-48A4-8874-36ED8F2E5172}"/>
              </a:ext>
            </a:extLst>
          </p:cNvPr>
          <p:cNvSpPr>
            <a:spLocks noGrp="1"/>
          </p:cNvSpPr>
          <p:nvPr/>
        </p:nvSpPr>
        <p:spPr>
          <a:xfrm>
            <a:off x="3432561" y="2240280"/>
            <a:ext cx="7845039" cy="457200"/>
          </a:xfrm>
          <a:prstGeom prst="rect">
            <a:avLst/>
          </a:prstGeom>
          <a:solidFill>
            <a:srgbClr val="F7F8FA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ADB56C-2F79-4BCC-87D7-F34A03C190C2}"/>
              </a:ext>
            </a:extLst>
          </p:cNvPr>
          <p:cNvSpPr>
            <a:spLocks noGrp="1"/>
          </p:cNvSpPr>
          <p:nvPr/>
        </p:nvSpPr>
        <p:spPr>
          <a:xfrm>
            <a:off x="3548784" y="2306955"/>
            <a:ext cx="7651334" cy="352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Препоручени модел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478C151-A5CA-43EB-BFE5-CCDB7D8606D1}"/>
              </a:ext>
            </a:extLst>
          </p:cNvPr>
          <p:cNvSpPr>
            <a:spLocks noGrp="1"/>
          </p:cNvSpPr>
          <p:nvPr/>
        </p:nvSpPr>
        <p:spPr>
          <a:xfrm>
            <a:off x="914400" y="2697480"/>
            <a:ext cx="2518161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4B121E5-32FE-42CA-8443-5425F473F351}"/>
              </a:ext>
            </a:extLst>
          </p:cNvPr>
          <p:cNvSpPr>
            <a:spLocks noGrp="1"/>
          </p:cNvSpPr>
          <p:nvPr/>
        </p:nvSpPr>
        <p:spPr>
          <a:xfrm>
            <a:off x="1030623" y="2764155"/>
            <a:ext cx="227603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Неважећи пословни захтев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2731ED8-8664-4236-A5FB-A58A2C1D897C}"/>
              </a:ext>
            </a:extLst>
          </p:cNvPr>
          <p:cNvSpPr>
            <a:spLocks noGrp="1"/>
          </p:cNvSpPr>
          <p:nvPr/>
        </p:nvSpPr>
        <p:spPr>
          <a:xfrm>
            <a:off x="3432561" y="2697480"/>
            <a:ext cx="7845039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163DE0-9059-49D6-A294-326B679EFF41}"/>
              </a:ext>
            </a:extLst>
          </p:cNvPr>
          <p:cNvSpPr>
            <a:spLocks noGrp="1"/>
          </p:cNvSpPr>
          <p:nvPr/>
        </p:nvSpPr>
        <p:spPr>
          <a:xfrm>
            <a:off x="3548784" y="2764155"/>
            <a:ext cx="7602908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Result и стабилан код неуспеха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4FFD40C-57B5-4C1F-93A0-ADB611A5FC06}"/>
              </a:ext>
            </a:extLst>
          </p:cNvPr>
          <p:cNvSpPr>
            <a:spLocks noGrp="1"/>
          </p:cNvSpPr>
          <p:nvPr/>
        </p:nvSpPr>
        <p:spPr>
          <a:xfrm>
            <a:off x="914400" y="3307080"/>
            <a:ext cx="2518161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A66E6E-1193-4FC5-9CF5-636AF4D02E9A}"/>
              </a:ext>
            </a:extLst>
          </p:cNvPr>
          <p:cNvSpPr>
            <a:spLocks noGrp="1"/>
          </p:cNvSpPr>
          <p:nvPr/>
        </p:nvSpPr>
        <p:spPr>
          <a:xfrm>
            <a:off x="1030623" y="3373755"/>
            <a:ext cx="227603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Ентитет није пронађен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EB9B752-6F56-41B4-B781-AF09C8A9CAEC}"/>
              </a:ext>
            </a:extLst>
          </p:cNvPr>
          <p:cNvSpPr>
            <a:spLocks noGrp="1"/>
          </p:cNvSpPr>
          <p:nvPr/>
        </p:nvSpPr>
        <p:spPr>
          <a:xfrm>
            <a:off x="3432561" y="3307080"/>
            <a:ext cx="7845039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4735D92-33B9-46B0-B4BF-6EB2AF3040FD}"/>
              </a:ext>
            </a:extLst>
          </p:cNvPr>
          <p:cNvSpPr>
            <a:spLocks noGrp="1"/>
          </p:cNvSpPr>
          <p:nvPr/>
        </p:nvSpPr>
        <p:spPr>
          <a:xfrm>
            <a:off x="3548784" y="3373755"/>
            <a:ext cx="7602908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NotFound исход или Result код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A81CA0F-02D3-41E9-93E3-1D60B90C1629}"/>
              </a:ext>
            </a:extLst>
          </p:cNvPr>
          <p:cNvSpPr>
            <a:spLocks noGrp="1"/>
          </p:cNvSpPr>
          <p:nvPr/>
        </p:nvSpPr>
        <p:spPr>
          <a:xfrm>
            <a:off x="914400" y="3916680"/>
            <a:ext cx="2518161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C572637-E21A-44CB-B4AC-3A72B480115F}"/>
              </a:ext>
            </a:extLst>
          </p:cNvPr>
          <p:cNvSpPr>
            <a:spLocks noGrp="1"/>
          </p:cNvSpPr>
          <p:nvPr/>
        </p:nvSpPr>
        <p:spPr>
          <a:xfrm>
            <a:off x="1030623" y="3983355"/>
            <a:ext cx="227603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База недоступна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37D0253-635C-426E-8E51-287C961B2090}"/>
              </a:ext>
            </a:extLst>
          </p:cNvPr>
          <p:cNvSpPr>
            <a:spLocks noGrp="1"/>
          </p:cNvSpPr>
          <p:nvPr/>
        </p:nvSpPr>
        <p:spPr>
          <a:xfrm>
            <a:off x="3432561" y="3916680"/>
            <a:ext cx="7845039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DF869AC-7BA0-45FB-8E36-743A6EB1B092}"/>
              </a:ext>
            </a:extLst>
          </p:cNvPr>
          <p:cNvSpPr>
            <a:spLocks noGrp="1"/>
          </p:cNvSpPr>
          <p:nvPr/>
        </p:nvSpPr>
        <p:spPr>
          <a:xfrm>
            <a:off x="3548784" y="3983355"/>
            <a:ext cx="7602908" cy="2282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инфраструктурна</a:t>
            </a:r>
            <a:r>
              <a:rPr sz="1425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грешка</a:t>
            </a:r>
            <a:endParaRPr sz="1425" b="0" dirty="0">
              <a:solidFill>
                <a:srgbClr val="1B202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73E6807-85B5-41EB-B2B1-B0C9969260A7}"/>
              </a:ext>
            </a:extLst>
          </p:cNvPr>
          <p:cNvSpPr>
            <a:spLocks noGrp="1"/>
          </p:cNvSpPr>
          <p:nvPr/>
        </p:nvSpPr>
        <p:spPr>
          <a:xfrm>
            <a:off x="914400" y="4526280"/>
            <a:ext cx="2518161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43B61D7-C6F2-4F9F-92EA-96E8197BFEC4}"/>
              </a:ext>
            </a:extLst>
          </p:cNvPr>
          <p:cNvSpPr>
            <a:spLocks noGrp="1"/>
          </p:cNvSpPr>
          <p:nvPr/>
        </p:nvSpPr>
        <p:spPr>
          <a:xfrm>
            <a:off x="1030623" y="4592955"/>
            <a:ext cx="227603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Нарушена доменска претпоставка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F6D4D1E-EA17-4A25-AD83-6625AE61018D}"/>
              </a:ext>
            </a:extLst>
          </p:cNvPr>
          <p:cNvSpPr>
            <a:spLocks noGrp="1"/>
          </p:cNvSpPr>
          <p:nvPr/>
        </p:nvSpPr>
        <p:spPr>
          <a:xfrm>
            <a:off x="3432561" y="4526280"/>
            <a:ext cx="7845039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D6FD46-D044-4BBE-BA17-128BE5E9AFEC}"/>
              </a:ext>
            </a:extLst>
          </p:cNvPr>
          <p:cNvSpPr>
            <a:spLocks noGrp="1"/>
          </p:cNvSpPr>
          <p:nvPr/>
        </p:nvSpPr>
        <p:spPr>
          <a:xfrm>
            <a:off x="3548784" y="4592955"/>
            <a:ext cx="7602908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експлицитан неуспех у пословном слоју</a:t>
            </a:r>
          </a:p>
        </p:txBody>
      </p:sp>
    </p:spTree>
    <p:extLst>
      <p:ext uri="{BB962C8B-B14F-4D97-AF65-F5344CB8AC3E}">
        <p14:creationId xmlns:p14="http://schemas.microsoft.com/office/powerpoint/2010/main" val="13770649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127535-73DE-454A-896C-EF4C1360770D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8506417-38C3-4FCE-9D70-59D2C29324FC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76761A-A026-4C83-B14B-84293A6FC9D3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7D5125-0173-4000-8BFB-4DA1D57C2A09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Use-case сервис оркестрира операцију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F94338-95DB-4F3E-A289-4E23A98FC66F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Он користи Domain и уговоре, али не преузима све одговорности.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14CBDB2-ED87-47EB-B725-26A792FB3C6B}"/>
              </a:ext>
            </a:extLst>
          </p:cNvPr>
          <p:cNvSpPr>
            <a:spLocks noGrp="1"/>
          </p:cNvSpPr>
          <p:nvPr/>
        </p:nvSpPr>
        <p:spPr>
          <a:xfrm>
            <a:off x="914400" y="2103120"/>
            <a:ext cx="5715000" cy="3233245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DC6086E-DD2E-413F-8026-AA425B3D9DE2}"/>
              </a:ext>
            </a:extLst>
          </p:cNvPr>
          <p:cNvSpPr>
            <a:spLocks noGrp="1"/>
          </p:cNvSpPr>
          <p:nvPr/>
        </p:nvSpPr>
        <p:spPr>
          <a:xfrm>
            <a:off x="914400" y="2450592"/>
            <a:ext cx="5715000" cy="10972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86FAA62-7538-4930-BB2B-8A04B95878B8}"/>
              </a:ext>
            </a:extLst>
          </p:cNvPr>
          <p:cNvSpPr>
            <a:spLocks noGrp="1"/>
          </p:cNvSpPr>
          <p:nvPr/>
        </p:nvSpPr>
        <p:spPr>
          <a:xfrm>
            <a:off x="5715000" y="2221992"/>
            <a:ext cx="73152" cy="73152"/>
          </a:xfrm>
          <a:prstGeom prst="ellipse">
            <a:avLst/>
          </a:prstGeom>
          <a:solidFill>
            <a:srgbClr val="EE6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23ABAF3-0B6A-4C1E-B26E-3B4C49282A20}"/>
              </a:ext>
            </a:extLst>
          </p:cNvPr>
          <p:cNvSpPr>
            <a:spLocks noGrp="1"/>
          </p:cNvSpPr>
          <p:nvPr/>
        </p:nvSpPr>
        <p:spPr>
          <a:xfrm>
            <a:off x="5861304" y="2221992"/>
            <a:ext cx="73152" cy="73152"/>
          </a:xfrm>
          <a:prstGeom prst="ellipse">
            <a:avLst/>
          </a:prstGeom>
          <a:solidFill>
            <a:srgbClr val="F5B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803426A-D9AB-4700-9F48-980A530DD9C9}"/>
              </a:ext>
            </a:extLst>
          </p:cNvPr>
          <p:cNvSpPr>
            <a:spLocks noGrp="1"/>
          </p:cNvSpPr>
          <p:nvPr/>
        </p:nvSpPr>
        <p:spPr>
          <a:xfrm>
            <a:off x="6007608" y="2221992"/>
            <a:ext cx="73152" cy="73152"/>
          </a:xfrm>
          <a:prstGeom prst="ellipse">
            <a:avLst/>
          </a:prstGeom>
          <a:solidFill>
            <a:srgbClr val="62C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A82F193-FBC2-47A2-BCB5-C52C9863B5EB}"/>
              </a:ext>
            </a:extLst>
          </p:cNvPr>
          <p:cNvSpPr>
            <a:spLocks noGrp="1"/>
          </p:cNvSpPr>
          <p:nvPr/>
        </p:nvSpPr>
        <p:spPr>
          <a:xfrm>
            <a:off x="1047750" y="2579370"/>
            <a:ext cx="5448300" cy="342042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sealed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class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ReservationService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private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readonly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IReservationRepository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_repository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private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readonly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IClock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_clock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Reserve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ReservationRequest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request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request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&lt;=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_clock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UtcNow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Fail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21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"ReservationMustBeInFuture"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_repository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HasOverlap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request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EquipmentId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  request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request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To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12  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Fail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21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"OverlappingReservation"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13  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Ok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14  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15  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81F9BF-796D-4D07-90D9-E1B6DAC23AFB}"/>
              </a:ext>
            </a:extLst>
          </p:cNvPr>
          <p:cNvSpPr>
            <a:spLocks noGrp="1"/>
          </p:cNvSpPr>
          <p:nvPr/>
        </p:nvSpPr>
        <p:spPr>
          <a:xfrm>
            <a:off x="6873240" y="2240280"/>
            <a:ext cx="3840480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Шта је важно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491CFA-F3D2-4750-8BD8-2C408AAA2346}"/>
              </a:ext>
            </a:extLst>
          </p:cNvPr>
          <p:cNvSpPr>
            <a:spLocks noGrp="1"/>
          </p:cNvSpPr>
          <p:nvPr/>
        </p:nvSpPr>
        <p:spPr>
          <a:xfrm>
            <a:off x="6873240" y="2578608"/>
            <a:ext cx="388620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Use-case проверава ток операције.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Repository је уговор, не конкретна база.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Време је зависност која се контролише.</a:t>
            </a:r>
          </a:p>
        </p:txBody>
      </p:sp>
    </p:spTree>
    <p:extLst>
      <p:ext uri="{BB962C8B-B14F-4D97-AF65-F5344CB8AC3E}">
        <p14:creationId xmlns:p14="http://schemas.microsoft.com/office/powerpoint/2010/main" val="20106924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D73F69D-A962-4005-8B91-0E7CC3312FE9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C9C06D0-61F1-4BAA-B7AC-43E0D40D9123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C0B254-D640-436E-968E-6B75DDC61003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9FD174-6B23-45E9-AFEF-A9324BC0DFEE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Dependency Injection није само framework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E0C607-6849-46F5-80E1-4EFC28B488E8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То је начин да се променљиве зависности добију споља.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F89BAB1-DEA1-4159-87E2-73B5B2FAFD29}"/>
              </a:ext>
            </a:extLst>
          </p:cNvPr>
          <p:cNvSpPr>
            <a:spLocks noGrp="1"/>
          </p:cNvSpPr>
          <p:nvPr/>
        </p:nvSpPr>
        <p:spPr>
          <a:xfrm>
            <a:off x="914400" y="2209800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4F7FF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4B7787-9690-4842-9768-F233351BA639}"/>
              </a:ext>
            </a:extLst>
          </p:cNvPr>
          <p:cNvSpPr>
            <a:spLocks noGrp="1"/>
          </p:cNvSpPr>
          <p:nvPr/>
        </p:nvSpPr>
        <p:spPr>
          <a:xfrm>
            <a:off x="1085850" y="2333625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3D839D-EE88-45F5-AFB4-ADD82885ACF2}"/>
              </a:ext>
            </a:extLst>
          </p:cNvPr>
          <p:cNvSpPr>
            <a:spLocks noGrp="1"/>
          </p:cNvSpPr>
          <p:nvPr/>
        </p:nvSpPr>
        <p:spPr>
          <a:xfrm>
            <a:off x="1085850" y="2590800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IClock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A4D3274-2B4B-43FA-A2B4-858CE437A18D}"/>
              </a:ext>
            </a:extLst>
          </p:cNvPr>
          <p:cNvSpPr>
            <a:spLocks noGrp="1"/>
          </p:cNvSpPr>
          <p:nvPr/>
        </p:nvSpPr>
        <p:spPr>
          <a:xfrm>
            <a:off x="1085850" y="2952750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контролише време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CB4B3C1-8029-483F-BCC7-73D7132ECDEE}"/>
              </a:ext>
            </a:extLst>
          </p:cNvPr>
          <p:cNvSpPr>
            <a:spLocks noGrp="1"/>
          </p:cNvSpPr>
          <p:nvPr/>
        </p:nvSpPr>
        <p:spPr>
          <a:xfrm>
            <a:off x="6210300" y="2209800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3FAF6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909B53-0B92-4A2E-98F7-5114F587F18B}"/>
              </a:ext>
            </a:extLst>
          </p:cNvPr>
          <p:cNvSpPr>
            <a:spLocks noGrp="1"/>
          </p:cNvSpPr>
          <p:nvPr/>
        </p:nvSpPr>
        <p:spPr>
          <a:xfrm>
            <a:off x="6381750" y="2333625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A915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5C164C-BE10-40E8-B6B9-48C486513108}"/>
              </a:ext>
            </a:extLst>
          </p:cNvPr>
          <p:cNvSpPr>
            <a:spLocks noGrp="1"/>
          </p:cNvSpPr>
          <p:nvPr/>
        </p:nvSpPr>
        <p:spPr>
          <a:xfrm>
            <a:off x="6381750" y="2590800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Repository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F86717D-A170-41F1-87BB-C843CB706466}"/>
              </a:ext>
            </a:extLst>
          </p:cNvPr>
          <p:cNvSpPr>
            <a:spLocks noGrp="1"/>
          </p:cNvSpPr>
          <p:nvPr/>
        </p:nvSpPr>
        <p:spPr>
          <a:xfrm>
            <a:off x="6381750" y="2952750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складиште као уговор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FCDAE626-4024-4AF2-8669-9CC9103FB4A7}"/>
              </a:ext>
            </a:extLst>
          </p:cNvPr>
          <p:cNvSpPr>
            <a:spLocks noGrp="1"/>
          </p:cNvSpPr>
          <p:nvPr/>
        </p:nvSpPr>
        <p:spPr>
          <a:xfrm>
            <a:off x="914400" y="3971925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DF9F1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F3C385-35CD-4A12-8640-957CE51ED552}"/>
              </a:ext>
            </a:extLst>
          </p:cNvPr>
          <p:cNvSpPr>
            <a:spLocks noGrp="1"/>
          </p:cNvSpPr>
          <p:nvPr/>
        </p:nvSpPr>
        <p:spPr>
          <a:xfrm>
            <a:off x="1085850" y="4095750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BE770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035C88D-07CE-41EA-9F09-E09203CEF37F}"/>
              </a:ext>
            </a:extLst>
          </p:cNvPr>
          <p:cNvSpPr>
            <a:spLocks noGrp="1"/>
          </p:cNvSpPr>
          <p:nvPr/>
        </p:nvSpPr>
        <p:spPr>
          <a:xfrm>
            <a:off x="1085850" y="4352925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Service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A06A5A2-FE25-494A-8C88-B31A45FD3796}"/>
              </a:ext>
            </a:extLst>
          </p:cNvPr>
          <p:cNvSpPr>
            <a:spLocks noGrp="1"/>
          </p:cNvSpPr>
          <p:nvPr/>
        </p:nvSpPr>
        <p:spPr>
          <a:xfrm>
            <a:off x="1085850" y="4714875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оркестрација use-case-а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FFF73FAE-6103-40E8-BFB0-0F0AC7CF7F2E}"/>
              </a:ext>
            </a:extLst>
          </p:cNvPr>
          <p:cNvSpPr>
            <a:spLocks noGrp="1"/>
          </p:cNvSpPr>
          <p:nvPr/>
        </p:nvSpPr>
        <p:spPr>
          <a:xfrm>
            <a:off x="6210300" y="3971925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4973CE1-1C47-43A4-8CC9-21026AF65AC9}"/>
              </a:ext>
            </a:extLst>
          </p:cNvPr>
          <p:cNvSpPr>
            <a:spLocks noGrp="1"/>
          </p:cNvSpPr>
          <p:nvPr/>
        </p:nvSpPr>
        <p:spPr>
          <a:xfrm>
            <a:off x="6381750" y="4095750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926BB57-BD14-48E7-B684-59BF88C7CF82}"/>
              </a:ext>
            </a:extLst>
          </p:cNvPr>
          <p:cNvSpPr>
            <a:spLocks noGrp="1"/>
          </p:cNvSpPr>
          <p:nvPr/>
        </p:nvSpPr>
        <p:spPr>
          <a:xfrm>
            <a:off x="6381750" y="4352925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Composition root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66EF39-F5F8-4DF2-A518-2636345A21F8}"/>
              </a:ext>
            </a:extLst>
          </p:cNvPr>
          <p:cNvSpPr>
            <a:spLocks noGrp="1"/>
          </p:cNvSpPr>
          <p:nvPr/>
        </p:nvSpPr>
        <p:spPr>
          <a:xfrm>
            <a:off x="6381750" y="4714875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бира конкретне имплементације</a:t>
            </a:r>
          </a:p>
        </p:txBody>
      </p:sp>
    </p:spTree>
    <p:extLst>
      <p:ext uri="{BB962C8B-B14F-4D97-AF65-F5344CB8AC3E}">
        <p14:creationId xmlns:p14="http://schemas.microsoft.com/office/powerpoint/2010/main" val="8185733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2A10F7-8326-4AC7-B370-AA88CB0D5B5C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DB786D6-3D70-4324-B6BA-8F2C92C3A100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65603-181E-4015-A7E6-52856BBF785A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6D4EDA-94E3-4567-AEFB-61117BB28C81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Пословна правила не припадају controller-у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89F9AA-331A-4AB3-B2F1-72EE554F6206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UI/API треба да преведе улаз, позове use-case и мапира резултат.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0895EF-C876-4044-8FEA-964D8682A7C1}"/>
              </a:ext>
            </a:extLst>
          </p:cNvPr>
          <p:cNvSpPr>
            <a:spLocks noGrp="1"/>
          </p:cNvSpPr>
          <p:nvPr/>
        </p:nvSpPr>
        <p:spPr>
          <a:xfrm>
            <a:off x="914400" y="2331720"/>
            <a:ext cx="47625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CONTROLLER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89FAC3-2B11-4C11-ABB9-0248AE9EC8AC}"/>
              </a:ext>
            </a:extLst>
          </p:cNvPr>
          <p:cNvSpPr>
            <a:spLocks noGrp="1"/>
          </p:cNvSpPr>
          <p:nvPr/>
        </p:nvSpPr>
        <p:spPr>
          <a:xfrm>
            <a:off x="914400" y="2697480"/>
            <a:ext cx="476250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прима захтев</a:t>
            </a:r>
          </a:p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валидација формата</a:t>
            </a:r>
          </a:p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позива application use-case</a:t>
            </a:r>
          </a:p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мапира Result у HTTP или UI одговор</a:t>
            </a:r>
          </a:p>
        </p:txBody>
      </p:sp>
      <p:sp>
        <p:nvSpPr>
          <p:cNvPr id="9" name="Connector 8">
            <a:extLst>
              <a:ext uri="{FF2B5EF4-FFF2-40B4-BE49-F238E27FC236}">
                <a16:creationId xmlns:a16="http://schemas.microsoft.com/office/drawing/2014/main" id="{F39933EC-0132-490E-B973-60B99A595388}"/>
              </a:ext>
            </a:extLst>
          </p:cNvPr>
          <p:cNvSpPr>
            <a:spLocks noGrp="1"/>
          </p:cNvSpPr>
          <p:nvPr/>
        </p:nvSpPr>
        <p:spPr>
          <a:xfrm>
            <a:off x="6096000" y="2331720"/>
            <a:ext cx="0" cy="320040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63ED73B-2030-4088-8B68-279AB5586BA1}"/>
              </a:ext>
            </a:extLst>
          </p:cNvPr>
          <p:cNvSpPr>
            <a:spLocks noGrp="1"/>
          </p:cNvSpPr>
          <p:nvPr/>
        </p:nvSpPr>
        <p:spPr>
          <a:xfrm>
            <a:off x="6515100" y="2331720"/>
            <a:ext cx="47625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0A915F"/>
                </a:solidFill>
                <a:latin typeface="Aptos"/>
                <a:ea typeface="Aptos"/>
                <a:cs typeface="Aptos"/>
              </a:rPr>
              <a:t>USE-CASE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2129E5E-EA06-4ACC-8E7E-880175DC55D4}"/>
              </a:ext>
            </a:extLst>
          </p:cNvPr>
          <p:cNvSpPr>
            <a:spLocks noGrp="1"/>
          </p:cNvSpPr>
          <p:nvPr/>
        </p:nvSpPr>
        <p:spPr>
          <a:xfrm>
            <a:off x="6515100" y="2697480"/>
            <a:ext cx="476250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проверава пословни ток</a:t>
            </a:r>
          </a:p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позива доменске операције</a:t>
            </a:r>
          </a:p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користи портове</a:t>
            </a:r>
          </a:p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враћа експлицитан исход</a:t>
            </a:r>
          </a:p>
        </p:txBody>
      </p:sp>
    </p:spTree>
    <p:extLst>
      <p:ext uri="{BB962C8B-B14F-4D97-AF65-F5344CB8AC3E}">
        <p14:creationId xmlns:p14="http://schemas.microsoft.com/office/powerpoint/2010/main" val="5174432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201E78F-A0A7-4BFA-94D1-9E03A1664E29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099D71-2DEC-4CBD-B029-081422CD940D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E8625C-6A2B-4269-B780-4A74781DA8A5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FBB9B2-C517-4057-B6F9-35FA54832EE2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Use-case треба да буде кориснички смислена операција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025441-E48C-4814-B9C8-050D772EA823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То није свака метода у коду.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EA92E9-A1CE-4D25-8A9D-31BC473EE436}"/>
              </a:ext>
            </a:extLst>
          </p:cNvPr>
          <p:cNvSpPr>
            <a:spLocks noGrp="1"/>
          </p:cNvSpPr>
          <p:nvPr/>
        </p:nvSpPr>
        <p:spPr>
          <a:xfrm>
            <a:off x="1051560" y="2423160"/>
            <a:ext cx="8229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Добар use-case може да се објасни од захтева до резултата: шта корисник покушава, која правила важе, које стање се мења и који исход систем враћа.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0330465-A5DE-485C-8338-8EB0B7B82B48}"/>
              </a:ext>
            </a:extLst>
          </p:cNvPr>
          <p:cNvSpPr>
            <a:spLocks noGrp="1"/>
          </p:cNvSpPr>
          <p:nvPr/>
        </p:nvSpPr>
        <p:spPr>
          <a:xfrm>
            <a:off x="1051560" y="3716026"/>
            <a:ext cx="6949440" cy="10972"/>
          </a:xfrm>
          <a:prstGeom prst="rect">
            <a:avLst/>
          </a:prstGeom>
          <a:solidFill>
            <a:srgbClr val="2A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F8CBFF2-0422-4337-B310-E59274D1D6C2}"/>
              </a:ext>
            </a:extLst>
          </p:cNvPr>
          <p:cNvSpPr>
            <a:spLocks noGrp="1"/>
          </p:cNvSpPr>
          <p:nvPr/>
        </p:nvSpPr>
        <p:spPr>
          <a:xfrm>
            <a:off x="914400" y="4267200"/>
            <a:ext cx="10363200" cy="800100"/>
          </a:xfrm>
          <a:prstGeom prst="roundRect">
            <a:avLst>
              <a:gd name="adj" fmla="val 16667"/>
            </a:avLst>
          </a:prstGeom>
          <a:solidFill>
            <a:srgbClr val="FFF6E9"/>
          </a:solidFill>
          <a:ln w="7620">
            <a:solidFill>
              <a:srgbClr val="E9D4AF"/>
            </a:solidFill>
            <a:prstDash val="solid"/>
          </a:ln>
        </p:spPr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70C879F-42E1-42AD-AA4B-B696AE71FC3F}"/>
              </a:ext>
            </a:extLst>
          </p:cNvPr>
          <p:cNvSpPr>
            <a:spLocks noGrp="1"/>
          </p:cNvSpPr>
          <p:nvPr/>
        </p:nvSpPr>
        <p:spPr>
          <a:xfrm>
            <a:off x="1085850" y="4419600"/>
            <a:ext cx="57150" cy="495300"/>
          </a:xfrm>
          <a:prstGeom prst="roundRect">
            <a:avLst>
              <a:gd name="adj" fmla="val 50000"/>
            </a:avLst>
          </a:prstGeom>
          <a:solidFill>
            <a:srgbClr val="B86A09"/>
          </a:solidFill>
          <a:ln w="0">
            <a:noFill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7BCCE61-E629-4EC9-A112-F0FE0551B57F}"/>
              </a:ext>
            </a:extLst>
          </p:cNvPr>
          <p:cNvSpPr>
            <a:spLocks noGrp="1"/>
          </p:cNvSpPr>
          <p:nvPr/>
        </p:nvSpPr>
        <p:spPr>
          <a:xfrm>
            <a:off x="1333500" y="4381500"/>
            <a:ext cx="2381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КЉУЧНА ПОРУКА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E3A089F-78E8-4E45-9586-A79A2E3FBCBF}"/>
              </a:ext>
            </a:extLst>
          </p:cNvPr>
          <p:cNvSpPr>
            <a:spLocks noGrp="1"/>
          </p:cNvSpPr>
          <p:nvPr/>
        </p:nvSpPr>
        <p:spPr>
          <a:xfrm>
            <a:off x="1333500" y="4629150"/>
            <a:ext cx="96012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То је јединица пројектовања и одбране.</a:t>
            </a:r>
          </a:p>
        </p:txBody>
      </p:sp>
    </p:spTree>
    <p:extLst>
      <p:ext uri="{BB962C8B-B14F-4D97-AF65-F5344CB8AC3E}">
        <p14:creationId xmlns:p14="http://schemas.microsoft.com/office/powerpoint/2010/main" val="21395117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B0A53E-BA97-4383-9729-436E2C85FBB2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8CB8FA5-02FE-4084-8477-E892E30FC758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A20C49-64E7-440C-81C3-7E96578AFB9C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97717F-9859-4B5F-A24F-A7E10A03944C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Где се смешта правило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79D7D3-C405-4308-9131-4D182EC6C9AA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Положај правила зависи од тога шта оно зна и шта штити.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0C16458-FD9D-4E53-8156-629FFE8A601C}"/>
              </a:ext>
            </a:extLst>
          </p:cNvPr>
          <p:cNvSpPr>
            <a:spLocks noGrp="1"/>
          </p:cNvSpPr>
          <p:nvPr/>
        </p:nvSpPr>
        <p:spPr>
          <a:xfrm>
            <a:off x="914400" y="2209800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4F7FF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B6B51F-1438-4E10-9856-DD3F8E85B94F}"/>
              </a:ext>
            </a:extLst>
          </p:cNvPr>
          <p:cNvSpPr>
            <a:spLocks noGrp="1"/>
          </p:cNvSpPr>
          <p:nvPr/>
        </p:nvSpPr>
        <p:spPr>
          <a:xfrm>
            <a:off x="1085850" y="2333625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C91316-9050-4D6C-8213-57301DCAD82A}"/>
              </a:ext>
            </a:extLst>
          </p:cNvPr>
          <p:cNvSpPr>
            <a:spLocks noGrp="1"/>
          </p:cNvSpPr>
          <p:nvPr/>
        </p:nvSpPr>
        <p:spPr>
          <a:xfrm>
            <a:off x="1085850" y="2590800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Entity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41DE53-86C4-4C8F-A092-35E61B4E6D1D}"/>
              </a:ext>
            </a:extLst>
          </p:cNvPr>
          <p:cNvSpPr>
            <a:spLocks noGrp="1"/>
          </p:cNvSpPr>
          <p:nvPr/>
        </p:nvSpPr>
        <p:spPr>
          <a:xfrm>
            <a:off x="1085850" y="2952750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инваријанте сопственог стања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61DCA7E1-B936-4FBB-812D-6FE0698BC5CD}"/>
              </a:ext>
            </a:extLst>
          </p:cNvPr>
          <p:cNvSpPr>
            <a:spLocks noGrp="1"/>
          </p:cNvSpPr>
          <p:nvPr/>
        </p:nvSpPr>
        <p:spPr>
          <a:xfrm>
            <a:off x="6210300" y="2209800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3FAF6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CE33D5-050A-472E-9D34-B1ADA4433570}"/>
              </a:ext>
            </a:extLst>
          </p:cNvPr>
          <p:cNvSpPr>
            <a:spLocks noGrp="1"/>
          </p:cNvSpPr>
          <p:nvPr/>
        </p:nvSpPr>
        <p:spPr>
          <a:xfrm>
            <a:off x="6381750" y="2333625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A915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F98E7F-AF2B-475F-8ACE-67894FFA6459}"/>
              </a:ext>
            </a:extLst>
          </p:cNvPr>
          <p:cNvSpPr>
            <a:spLocks noGrp="1"/>
          </p:cNvSpPr>
          <p:nvPr/>
        </p:nvSpPr>
        <p:spPr>
          <a:xfrm>
            <a:off x="6381750" y="2590800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Domain service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5D6F22-9676-4E00-8EE0-35E0E49AC085}"/>
              </a:ext>
            </a:extLst>
          </p:cNvPr>
          <p:cNvSpPr>
            <a:spLocks noGrp="1"/>
          </p:cNvSpPr>
          <p:nvPr/>
        </p:nvSpPr>
        <p:spPr>
          <a:xfrm>
            <a:off x="6381750" y="2952750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правило више доменских објеката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4079E98-4209-49A8-8AC3-C667C8F9AFAF}"/>
              </a:ext>
            </a:extLst>
          </p:cNvPr>
          <p:cNvSpPr>
            <a:spLocks noGrp="1"/>
          </p:cNvSpPr>
          <p:nvPr/>
        </p:nvSpPr>
        <p:spPr>
          <a:xfrm>
            <a:off x="914400" y="3971925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DF9F1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CFC1AEC-0AF7-46DA-8AAE-FC173FF78FBF}"/>
              </a:ext>
            </a:extLst>
          </p:cNvPr>
          <p:cNvSpPr>
            <a:spLocks noGrp="1"/>
          </p:cNvSpPr>
          <p:nvPr/>
        </p:nvSpPr>
        <p:spPr>
          <a:xfrm>
            <a:off x="1085850" y="4095750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BE770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99E0B7B-0AAD-484D-AF3D-07658EEEF31F}"/>
              </a:ext>
            </a:extLst>
          </p:cNvPr>
          <p:cNvSpPr>
            <a:spLocks noGrp="1"/>
          </p:cNvSpPr>
          <p:nvPr/>
        </p:nvSpPr>
        <p:spPr>
          <a:xfrm>
            <a:off x="1085850" y="4352925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Application service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96E4CEB-8B0F-4F85-BF06-5B3770816E7C}"/>
              </a:ext>
            </a:extLst>
          </p:cNvPr>
          <p:cNvSpPr>
            <a:spLocks noGrp="1"/>
          </p:cNvSpPr>
          <p:nvPr/>
        </p:nvSpPr>
        <p:spPr>
          <a:xfrm>
            <a:off x="1085850" y="4714875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оркестрација use-case-а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DE0BB46-C1AA-465A-BF10-968FE0A4B54C}"/>
              </a:ext>
            </a:extLst>
          </p:cNvPr>
          <p:cNvSpPr>
            <a:spLocks noGrp="1"/>
          </p:cNvSpPr>
          <p:nvPr/>
        </p:nvSpPr>
        <p:spPr>
          <a:xfrm>
            <a:off x="6210300" y="3971925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A0D30A3-921C-47E2-B747-E1BDB1945F2E}"/>
              </a:ext>
            </a:extLst>
          </p:cNvPr>
          <p:cNvSpPr>
            <a:spLocks noGrp="1"/>
          </p:cNvSpPr>
          <p:nvPr/>
        </p:nvSpPr>
        <p:spPr>
          <a:xfrm>
            <a:off x="6381750" y="4095750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AFF28DB-3F95-4C72-AED8-D9BD1F7E4298}"/>
              </a:ext>
            </a:extLst>
          </p:cNvPr>
          <p:cNvSpPr>
            <a:spLocks noGrp="1"/>
          </p:cNvSpPr>
          <p:nvPr/>
        </p:nvSpPr>
        <p:spPr>
          <a:xfrm>
            <a:off x="6381750" y="4352925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Infrastructure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B46C560-2ABE-4021-8FD9-323450085E58}"/>
              </a:ext>
            </a:extLst>
          </p:cNvPr>
          <p:cNvSpPr>
            <a:spLocks noGrp="1"/>
          </p:cNvSpPr>
          <p:nvPr/>
        </p:nvSpPr>
        <p:spPr>
          <a:xfrm>
            <a:off x="6381750" y="4714875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технички адаптер без пословне одлуке</a:t>
            </a:r>
          </a:p>
        </p:txBody>
      </p:sp>
    </p:spTree>
    <p:extLst>
      <p:ext uri="{BB962C8B-B14F-4D97-AF65-F5344CB8AC3E}">
        <p14:creationId xmlns:p14="http://schemas.microsoft.com/office/powerpoint/2010/main" val="19504627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C5B813-FB8A-447E-92B5-8227E40ADEF8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358D12-95E2-4B2E-88A8-259FDA547A3C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AA82E6-BACA-4F5D-90F2-A67CD20EB430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1486BA-94F3-406B-8424-8061A266B141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Стабилни кодови исхода су део уговора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27CFE0-46AB-407D-A756-1A9A949C9A66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Клијент треба да зна шта значи неуспех.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2DD89F-74FF-4FBD-ACC5-20BC25EC11F3}"/>
              </a:ext>
            </a:extLst>
          </p:cNvPr>
          <p:cNvSpPr>
            <a:spLocks noGrp="1"/>
          </p:cNvSpPr>
          <p:nvPr/>
        </p:nvSpPr>
        <p:spPr>
          <a:xfrm>
            <a:off x="914400" y="2240280"/>
            <a:ext cx="2518161" cy="457200"/>
          </a:xfrm>
          <a:prstGeom prst="rect">
            <a:avLst/>
          </a:prstGeom>
          <a:solidFill>
            <a:srgbClr val="F7F8FA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876558-315A-48BC-A0C5-0DAD943573C9}"/>
              </a:ext>
            </a:extLst>
          </p:cNvPr>
          <p:cNvSpPr>
            <a:spLocks noGrp="1"/>
          </p:cNvSpPr>
          <p:nvPr/>
        </p:nvSpPr>
        <p:spPr>
          <a:xfrm>
            <a:off x="1030623" y="2306955"/>
            <a:ext cx="2324456" cy="352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Код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3858515-743C-4A08-901B-54C862F30FBC}"/>
              </a:ext>
            </a:extLst>
          </p:cNvPr>
          <p:cNvSpPr>
            <a:spLocks noGrp="1"/>
          </p:cNvSpPr>
          <p:nvPr/>
        </p:nvSpPr>
        <p:spPr>
          <a:xfrm>
            <a:off x="3432561" y="2240280"/>
            <a:ext cx="7845039" cy="457200"/>
          </a:xfrm>
          <a:prstGeom prst="rect">
            <a:avLst/>
          </a:prstGeom>
          <a:solidFill>
            <a:srgbClr val="F7F8FA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30B9FC8-BA6E-4614-BBD3-93131D659769}"/>
              </a:ext>
            </a:extLst>
          </p:cNvPr>
          <p:cNvSpPr>
            <a:spLocks noGrp="1"/>
          </p:cNvSpPr>
          <p:nvPr/>
        </p:nvSpPr>
        <p:spPr>
          <a:xfrm>
            <a:off x="3548784" y="2306955"/>
            <a:ext cx="7651334" cy="352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Значење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4465ECE-2904-4AEE-AF2E-5152199C28EA}"/>
              </a:ext>
            </a:extLst>
          </p:cNvPr>
          <p:cNvSpPr>
            <a:spLocks noGrp="1"/>
          </p:cNvSpPr>
          <p:nvPr/>
        </p:nvSpPr>
        <p:spPr>
          <a:xfrm>
            <a:off x="914400" y="2697480"/>
            <a:ext cx="2518161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A79296-81E2-4401-95B0-051DDCEE5DD3}"/>
              </a:ext>
            </a:extLst>
          </p:cNvPr>
          <p:cNvSpPr>
            <a:spLocks noGrp="1"/>
          </p:cNvSpPr>
          <p:nvPr/>
        </p:nvSpPr>
        <p:spPr>
          <a:xfrm>
            <a:off x="1030623" y="2764155"/>
            <a:ext cx="227603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InvalidPeriod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2DA39FC-F195-45C9-B5AE-707C7333ABD8}"/>
              </a:ext>
            </a:extLst>
          </p:cNvPr>
          <p:cNvSpPr>
            <a:spLocks noGrp="1"/>
          </p:cNvSpPr>
          <p:nvPr/>
        </p:nvSpPr>
        <p:spPr>
          <a:xfrm>
            <a:off x="3432561" y="2697480"/>
            <a:ext cx="7845039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57DD94B-43BA-4878-BF0C-A0C66BDADA88}"/>
              </a:ext>
            </a:extLst>
          </p:cNvPr>
          <p:cNvSpPr>
            <a:spLocks noGrp="1"/>
          </p:cNvSpPr>
          <p:nvPr/>
        </p:nvSpPr>
        <p:spPr>
          <a:xfrm>
            <a:off x="3548784" y="2764155"/>
            <a:ext cx="7602908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почетак није пре краја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0366B33-1B39-40C1-9527-F9DE7971E503}"/>
              </a:ext>
            </a:extLst>
          </p:cNvPr>
          <p:cNvSpPr>
            <a:spLocks noGrp="1"/>
          </p:cNvSpPr>
          <p:nvPr/>
        </p:nvSpPr>
        <p:spPr>
          <a:xfrm>
            <a:off x="914400" y="3307080"/>
            <a:ext cx="2518161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27055C1-F984-46AE-BBAB-F2E09A106913}"/>
              </a:ext>
            </a:extLst>
          </p:cNvPr>
          <p:cNvSpPr>
            <a:spLocks noGrp="1"/>
          </p:cNvSpPr>
          <p:nvPr/>
        </p:nvSpPr>
        <p:spPr>
          <a:xfrm>
            <a:off x="1030623" y="3373755"/>
            <a:ext cx="227603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ReservationMustBeInFuture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0E7CBE6-B4E2-4630-B246-D1B0C2B5F785}"/>
              </a:ext>
            </a:extLst>
          </p:cNvPr>
          <p:cNvSpPr>
            <a:spLocks noGrp="1"/>
          </p:cNvSpPr>
          <p:nvPr/>
        </p:nvSpPr>
        <p:spPr>
          <a:xfrm>
            <a:off x="3432561" y="3307080"/>
            <a:ext cx="7845039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E06437-7B89-42F6-974E-6FD6835468A2}"/>
              </a:ext>
            </a:extLst>
          </p:cNvPr>
          <p:cNvSpPr>
            <a:spLocks noGrp="1"/>
          </p:cNvSpPr>
          <p:nvPr/>
        </p:nvSpPr>
        <p:spPr>
          <a:xfrm>
            <a:off x="3548784" y="3373755"/>
            <a:ext cx="7602908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термин није у будућности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9163320-EE4A-4231-9334-E7B1949A77FC}"/>
              </a:ext>
            </a:extLst>
          </p:cNvPr>
          <p:cNvSpPr>
            <a:spLocks noGrp="1"/>
          </p:cNvSpPr>
          <p:nvPr/>
        </p:nvSpPr>
        <p:spPr>
          <a:xfrm>
            <a:off x="914400" y="3916680"/>
            <a:ext cx="2518161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1D71298-878B-4563-8AD3-43C94501815F}"/>
              </a:ext>
            </a:extLst>
          </p:cNvPr>
          <p:cNvSpPr>
            <a:spLocks noGrp="1"/>
          </p:cNvSpPr>
          <p:nvPr/>
        </p:nvSpPr>
        <p:spPr>
          <a:xfrm>
            <a:off x="1030623" y="3983355"/>
            <a:ext cx="227603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OverlappingReservation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1972ECB-F861-49A8-8C23-B2C2E4FCEDA8}"/>
              </a:ext>
            </a:extLst>
          </p:cNvPr>
          <p:cNvSpPr>
            <a:spLocks noGrp="1"/>
          </p:cNvSpPr>
          <p:nvPr/>
        </p:nvSpPr>
        <p:spPr>
          <a:xfrm>
            <a:off x="3432561" y="3916680"/>
            <a:ext cx="7845039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318E9D-3DA1-4416-84F4-F594A34F484A}"/>
              </a:ext>
            </a:extLst>
          </p:cNvPr>
          <p:cNvSpPr>
            <a:spLocks noGrp="1"/>
          </p:cNvSpPr>
          <p:nvPr/>
        </p:nvSpPr>
        <p:spPr>
          <a:xfrm>
            <a:off x="3548784" y="3983355"/>
            <a:ext cx="7602908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период се преклапа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869C9F6-55DA-4ED7-B3E1-E67620EE8C88}"/>
              </a:ext>
            </a:extLst>
          </p:cNvPr>
          <p:cNvSpPr>
            <a:spLocks noGrp="1"/>
          </p:cNvSpPr>
          <p:nvPr/>
        </p:nvSpPr>
        <p:spPr>
          <a:xfrm>
            <a:off x="914400" y="4526280"/>
            <a:ext cx="2518161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FA1EF1-A621-44DC-8E22-B1CF965F28CF}"/>
              </a:ext>
            </a:extLst>
          </p:cNvPr>
          <p:cNvSpPr>
            <a:spLocks noGrp="1"/>
          </p:cNvSpPr>
          <p:nvPr/>
        </p:nvSpPr>
        <p:spPr>
          <a:xfrm>
            <a:off x="1030623" y="4592955"/>
            <a:ext cx="227603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AlreadyCancelled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02AACFD-917F-46A4-B1DA-441C41D8247C}"/>
              </a:ext>
            </a:extLst>
          </p:cNvPr>
          <p:cNvSpPr>
            <a:spLocks noGrp="1"/>
          </p:cNvSpPr>
          <p:nvPr/>
        </p:nvSpPr>
        <p:spPr>
          <a:xfrm>
            <a:off x="3432561" y="4526280"/>
            <a:ext cx="7845039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8A86221-3A35-492E-9BB4-BBDF8FBF1DCE}"/>
              </a:ext>
            </a:extLst>
          </p:cNvPr>
          <p:cNvSpPr>
            <a:spLocks noGrp="1"/>
          </p:cNvSpPr>
          <p:nvPr/>
        </p:nvSpPr>
        <p:spPr>
          <a:xfrm>
            <a:off x="3548784" y="4592955"/>
            <a:ext cx="7602908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операција је већ извршена</a:t>
            </a:r>
          </a:p>
        </p:txBody>
      </p:sp>
    </p:spTree>
    <p:extLst>
      <p:ext uri="{BB962C8B-B14F-4D97-AF65-F5344CB8AC3E}">
        <p14:creationId xmlns:p14="http://schemas.microsoft.com/office/powerpoint/2010/main" val="5956736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7133AB8-E1B0-4F39-B229-2E709A6D7B92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FFB7C41-EA07-49E8-9F0D-213A3CAA9EFD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B45831-7B93-48F5-AA5A-C6401318546E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5B56A3-A2E5-4721-A26E-B67D405BEAF3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P2 фокус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5F838E-8E49-4461-9271-40BD466C5ADA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Функционално језгро мора бити објашњиво.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84C008-C865-41C7-8495-DD3BAF12AE59}"/>
              </a:ext>
            </a:extLst>
          </p:cNvPr>
          <p:cNvSpPr>
            <a:spLocks noGrp="1"/>
          </p:cNvSpPr>
          <p:nvPr/>
        </p:nvSpPr>
        <p:spPr>
          <a:xfrm>
            <a:off x="1706880" y="2331720"/>
            <a:ext cx="25603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400" b="1">
                <a:solidFill>
                  <a:srgbClr val="0A915F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7D1056-D1F8-4002-AAEE-2204E3ECD0C8}"/>
              </a:ext>
            </a:extLst>
          </p:cNvPr>
          <p:cNvSpPr>
            <a:spLocks noGrp="1"/>
          </p:cNvSpPr>
          <p:nvPr/>
        </p:nvSpPr>
        <p:spPr>
          <a:xfrm>
            <a:off x="4541520" y="2514600"/>
            <a:ext cx="5303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кључна use-case-а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E80705-33E4-497A-B865-AE15722FC9C7}"/>
              </a:ext>
            </a:extLst>
          </p:cNvPr>
          <p:cNvSpPr>
            <a:spLocks noGrp="1"/>
          </p:cNvSpPr>
          <p:nvPr/>
        </p:nvSpPr>
        <p:spPr>
          <a:xfrm>
            <a:off x="4541520" y="3246120"/>
            <a:ext cx="5943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До контролне тачке треба имати најмање два use-case-а са експлицитним улазима, резултатима и јасним границама одговорности.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80FED6A-CC75-4130-8DD7-E203A95287E1}"/>
              </a:ext>
            </a:extLst>
          </p:cNvPr>
          <p:cNvSpPr>
            <a:spLocks noGrp="1"/>
          </p:cNvSpPr>
          <p:nvPr/>
        </p:nvSpPr>
        <p:spPr>
          <a:xfrm>
            <a:off x="4541520" y="4389120"/>
            <a:ext cx="4937760" cy="12801"/>
          </a:xfrm>
          <a:prstGeom prst="rect">
            <a:avLst/>
          </a:prstGeom>
          <a:solidFill>
            <a:srgbClr val="0A9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69761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B9996F8-8542-4FB5-BE64-1D729050F954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7E1363-2BC1-48D8-9419-71A554657079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8CE998-76D7-4BD3-81F6-9A5DED74B901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256034-4963-435B-9E27-ED2E3AD4E6B2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Пројектна контролна тачка P2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9D71B7-7406-4C26-9D7B-46F61AB89233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Важно је централно понашање, не завршени екрани.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2D02B1-26B9-440B-ABD4-3AE617AAA7B7}"/>
              </a:ext>
            </a:extLst>
          </p:cNvPr>
          <p:cNvSpPr>
            <a:spLocks noGrp="1"/>
          </p:cNvSpPr>
          <p:nvPr/>
        </p:nvSpPr>
        <p:spPr>
          <a:xfrm>
            <a:off x="1638300" y="22402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2B666E-E4F2-4E67-8D96-E1D8359ABCAA}"/>
              </a:ext>
            </a:extLst>
          </p:cNvPr>
          <p:cNvSpPr>
            <a:spLocks noGrp="1"/>
          </p:cNvSpPr>
          <p:nvPr/>
        </p:nvSpPr>
        <p:spPr>
          <a:xfrm>
            <a:off x="2324100" y="2240280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Имплементирати најмање два кључна use-case-а.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0004E0-FD44-455C-8ACD-2CF8043AC830}"/>
              </a:ext>
            </a:extLst>
          </p:cNvPr>
          <p:cNvSpPr>
            <a:spLocks noGrp="1"/>
          </p:cNvSpPr>
          <p:nvPr/>
        </p:nvSpPr>
        <p:spPr>
          <a:xfrm>
            <a:off x="1638300" y="280720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552FCE-CE0E-454D-9098-A05A49EA81BE}"/>
              </a:ext>
            </a:extLst>
          </p:cNvPr>
          <p:cNvSpPr>
            <a:spLocks noGrp="1"/>
          </p:cNvSpPr>
          <p:nvPr/>
        </p:nvSpPr>
        <p:spPr>
          <a:xfrm>
            <a:off x="2324100" y="2807208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Пословна правила не расипати по controller-у, менију и repository-ју.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943FA9B-A7D0-46E4-B9BA-7AE69CC581FB}"/>
              </a:ext>
            </a:extLst>
          </p:cNvPr>
          <p:cNvSpPr>
            <a:spLocks noGrp="1"/>
          </p:cNvSpPr>
          <p:nvPr/>
        </p:nvSpPr>
        <p:spPr>
          <a:xfrm>
            <a:off x="1638300" y="3374136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8032BC-A16F-4698-ACCF-8E87B91B7EB9}"/>
              </a:ext>
            </a:extLst>
          </p:cNvPr>
          <p:cNvSpPr>
            <a:spLocks noGrp="1"/>
          </p:cNvSpPr>
          <p:nvPr/>
        </p:nvSpPr>
        <p:spPr>
          <a:xfrm>
            <a:off x="2324100" y="3374136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За очекиване неуспехе дефинисати стабилне кодове или типове резултата.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690A6E-73F5-4B93-9687-3033ED490A79}"/>
              </a:ext>
            </a:extLst>
          </p:cNvPr>
          <p:cNvSpPr>
            <a:spLocks noGrp="1"/>
          </p:cNvSpPr>
          <p:nvPr/>
        </p:nvSpPr>
        <p:spPr>
          <a:xfrm>
            <a:off x="1638300" y="3941064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22A5D2-CA72-4AC6-B2B9-A8A52F1D4A78}"/>
              </a:ext>
            </a:extLst>
          </p:cNvPr>
          <p:cNvSpPr>
            <a:spLocks noGrp="1"/>
          </p:cNvSpPr>
          <p:nvPr/>
        </p:nvSpPr>
        <p:spPr>
          <a:xfrm>
            <a:off x="2324100" y="3941064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Спољне зависности уводити кроз уговоре и composition root.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3D2028-65E0-4F3F-A20F-A37E015CCDA4}"/>
              </a:ext>
            </a:extLst>
          </p:cNvPr>
          <p:cNvSpPr>
            <a:spLocks noGrp="1"/>
          </p:cNvSpPr>
          <p:nvPr/>
        </p:nvSpPr>
        <p:spPr>
          <a:xfrm>
            <a:off x="1638300" y="4507992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518CDA-B8A6-4D74-987D-1FB37862974A}"/>
              </a:ext>
            </a:extLst>
          </p:cNvPr>
          <p:cNvSpPr>
            <a:spLocks noGrp="1"/>
          </p:cNvSpPr>
          <p:nvPr/>
        </p:nvSpPr>
        <p:spPr>
          <a:xfrm>
            <a:off x="2324100" y="4507992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У PR-у описати најмање једну архитектонску одлуку.</a:t>
            </a:r>
          </a:p>
        </p:txBody>
      </p:sp>
    </p:spTree>
    <p:extLst>
      <p:ext uri="{BB962C8B-B14F-4D97-AF65-F5344CB8AC3E}">
        <p14:creationId xmlns:p14="http://schemas.microsoft.com/office/powerpoint/2010/main" val="600210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83BF657-79C0-434E-8150-37D21B8C1A7F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80422F-BFC7-4E04-9E11-C5EAD7CFF889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BA67F3-245A-4AA0-9B3E-ED3B26AADEC7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1C688B-27A6-4B8E-A543-A8781FA91C0B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3908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sr-Cyrl-RS" sz="255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Мини домаћи</a:t>
            </a:r>
            <a:r>
              <a:rPr sz="255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: bool/null </a:t>
            </a:r>
            <a:r>
              <a:rPr sz="255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у</a:t>
            </a:r>
            <a:r>
              <a:rPr sz="255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Result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933D1A-6B2C-4B17-9C0E-6A445B6C3E61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Метода која враћа bool не објашњава зашто је операција одбијена.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34B24F6-8198-49B7-A7FE-0EB068006FC3}"/>
              </a:ext>
            </a:extLst>
          </p:cNvPr>
          <p:cNvSpPr>
            <a:spLocks noGrp="1"/>
          </p:cNvSpPr>
          <p:nvPr/>
        </p:nvSpPr>
        <p:spPr>
          <a:xfrm>
            <a:off x="914400" y="2522255"/>
            <a:ext cx="5715000" cy="2280285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94A85F3-2D23-4D91-8927-A2E39B689A92}"/>
              </a:ext>
            </a:extLst>
          </p:cNvPr>
          <p:cNvSpPr>
            <a:spLocks noGrp="1"/>
          </p:cNvSpPr>
          <p:nvPr/>
        </p:nvSpPr>
        <p:spPr>
          <a:xfrm>
            <a:off x="914400" y="2869727"/>
            <a:ext cx="5715000" cy="10972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A97493E-F8E6-438D-A79B-312C1B07C8F5}"/>
              </a:ext>
            </a:extLst>
          </p:cNvPr>
          <p:cNvSpPr>
            <a:spLocks noGrp="1"/>
          </p:cNvSpPr>
          <p:nvPr/>
        </p:nvSpPr>
        <p:spPr>
          <a:xfrm>
            <a:off x="5715000" y="2641127"/>
            <a:ext cx="73152" cy="73152"/>
          </a:xfrm>
          <a:prstGeom prst="ellipse">
            <a:avLst/>
          </a:prstGeom>
          <a:solidFill>
            <a:srgbClr val="EE6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F68CFE4-B11A-462C-90A0-EC70485BDE9B}"/>
              </a:ext>
            </a:extLst>
          </p:cNvPr>
          <p:cNvSpPr>
            <a:spLocks noGrp="1"/>
          </p:cNvSpPr>
          <p:nvPr/>
        </p:nvSpPr>
        <p:spPr>
          <a:xfrm>
            <a:off x="5861304" y="2641127"/>
            <a:ext cx="73152" cy="73152"/>
          </a:xfrm>
          <a:prstGeom prst="ellipse">
            <a:avLst/>
          </a:prstGeom>
          <a:solidFill>
            <a:srgbClr val="F5B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0228A29-8E5D-411B-8480-7AAF28958FE0}"/>
              </a:ext>
            </a:extLst>
          </p:cNvPr>
          <p:cNvSpPr>
            <a:spLocks noGrp="1"/>
          </p:cNvSpPr>
          <p:nvPr/>
        </p:nvSpPr>
        <p:spPr>
          <a:xfrm>
            <a:off x="6007608" y="2641127"/>
            <a:ext cx="73152" cy="73152"/>
          </a:xfrm>
          <a:prstGeom prst="ellipse">
            <a:avLst/>
          </a:prstGeom>
          <a:solidFill>
            <a:srgbClr val="62C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EC0CA7B-35BC-49F8-8FFA-E6AA3845CB3B}"/>
              </a:ext>
            </a:extLst>
          </p:cNvPr>
          <p:cNvSpPr>
            <a:spLocks noGrp="1"/>
          </p:cNvSpPr>
          <p:nvPr/>
        </p:nvSpPr>
        <p:spPr>
          <a:xfrm>
            <a:off x="1047750" y="2998505"/>
            <a:ext cx="5448300" cy="228028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32">
                <a:solidFill>
                  <a:srgbClr val="55845A"/>
                </a:solidFill>
                <a:latin typeface="Consolas"/>
                <a:ea typeface="Consolas"/>
                <a:cs typeface="Consolas"/>
              </a:rPr>
              <a:t>// пре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bool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Reserve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Request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request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032">
                <a:solidFill>
                  <a:srgbClr val="55845A"/>
                </a:solidFill>
                <a:latin typeface="Consolas"/>
                <a:ea typeface="Consolas"/>
                <a:cs typeface="Consolas"/>
              </a:rPr>
              <a:t>// после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Reserve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Request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request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032">
                <a:solidFill>
                  <a:srgbClr val="55845A"/>
                </a:solidFill>
                <a:latin typeface="Consolas"/>
                <a:ea typeface="Consolas"/>
                <a:cs typeface="Consolas"/>
              </a:rPr>
              <a:t>// тест проверава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That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Success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Is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False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That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Error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Is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EqualTo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OverlappingReservatio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n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));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005170-C28A-41BD-AA4C-CEACECB9CA60}"/>
              </a:ext>
            </a:extLst>
          </p:cNvPr>
          <p:cNvSpPr>
            <a:spLocks noGrp="1"/>
          </p:cNvSpPr>
          <p:nvPr/>
        </p:nvSpPr>
        <p:spPr>
          <a:xfrm>
            <a:off x="6873240" y="2240280"/>
            <a:ext cx="3840480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Шта је важно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843E0E2-C2D3-4286-9D7B-8FD4EFFE9355}"/>
              </a:ext>
            </a:extLst>
          </p:cNvPr>
          <p:cNvSpPr>
            <a:spLocks noGrp="1"/>
          </p:cNvSpPr>
          <p:nvPr/>
        </p:nvSpPr>
        <p:spPr>
          <a:xfrm>
            <a:off x="6873240" y="2578608"/>
            <a:ext cx="388620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Рефакторисати једну методу са bool/null исходом.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Додати два мала теста или демонстрациона сценарија.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Образложити нови стабилан код неуспеха.</a:t>
            </a:r>
          </a:p>
        </p:txBody>
      </p:sp>
    </p:spTree>
    <p:extLst>
      <p:ext uri="{BB962C8B-B14F-4D97-AF65-F5344CB8AC3E}">
        <p14:creationId xmlns:p14="http://schemas.microsoft.com/office/powerpoint/2010/main" val="8723584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F7024B1-FD9D-4543-A3FB-8E3E22DB0418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0798EC-ECA7-4DD4-82BD-0EE0DBB01FC7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6E6F67-89B4-43D0-AA71-0C1BE779C4CA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9E3C53-AA7A-4A21-BCEC-8F1BC2ADC5A6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Добар use-case има три видљиве границе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3D686F-9890-4703-AD37-FDC8C894C6BF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Без њих је тешко доказати исправност.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A5157F6-66F9-42C4-8BFA-C0AB5200432E}"/>
              </a:ext>
            </a:extLst>
          </p:cNvPr>
          <p:cNvSpPr>
            <a:spLocks noGrp="1"/>
          </p:cNvSpPr>
          <p:nvPr/>
        </p:nvSpPr>
        <p:spPr>
          <a:xfrm>
            <a:off x="1478280" y="2560320"/>
            <a:ext cx="2834640" cy="1828800"/>
          </a:xfrm>
          <a:prstGeom prst="roundRect">
            <a:avLst>
              <a:gd name="adj" fmla="val 12000"/>
            </a:avLst>
          </a:prstGeom>
          <a:solidFill>
            <a:srgbClr val="F4F7FF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01D35D-F4CE-465B-B2F6-F8A8431AAA86}"/>
              </a:ext>
            </a:extLst>
          </p:cNvPr>
          <p:cNvSpPr>
            <a:spLocks noGrp="1"/>
          </p:cNvSpPr>
          <p:nvPr/>
        </p:nvSpPr>
        <p:spPr>
          <a:xfrm>
            <a:off x="1642872" y="2761488"/>
            <a:ext cx="73152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D30893-EF95-470A-9E42-CA5606602228}"/>
              </a:ext>
            </a:extLst>
          </p:cNvPr>
          <p:cNvSpPr>
            <a:spLocks noGrp="1"/>
          </p:cNvSpPr>
          <p:nvPr/>
        </p:nvSpPr>
        <p:spPr>
          <a:xfrm>
            <a:off x="1642872" y="3063240"/>
            <a:ext cx="233172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71391B-0A73-424E-A73F-A545800A2408}"/>
              </a:ext>
            </a:extLst>
          </p:cNvPr>
          <p:cNvSpPr>
            <a:spLocks noGrp="1"/>
          </p:cNvSpPr>
          <p:nvPr/>
        </p:nvSpPr>
        <p:spPr>
          <a:xfrm>
            <a:off x="1642872" y="3703320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команда или захтев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5E8D0D4-A036-47B2-9ED4-E14E193B3B64}"/>
              </a:ext>
            </a:extLst>
          </p:cNvPr>
          <p:cNvSpPr>
            <a:spLocks noGrp="1"/>
          </p:cNvSpPr>
          <p:nvPr/>
        </p:nvSpPr>
        <p:spPr>
          <a:xfrm>
            <a:off x="4678680" y="2560320"/>
            <a:ext cx="2834640" cy="1828800"/>
          </a:xfrm>
          <a:prstGeom prst="roundRect">
            <a:avLst>
              <a:gd name="adj" fmla="val 12000"/>
            </a:avLst>
          </a:prstGeom>
          <a:solidFill>
            <a:srgbClr val="F3FAF6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6B0A894-2DD1-4D8F-909E-457B1A986237}"/>
              </a:ext>
            </a:extLst>
          </p:cNvPr>
          <p:cNvSpPr>
            <a:spLocks noGrp="1"/>
          </p:cNvSpPr>
          <p:nvPr/>
        </p:nvSpPr>
        <p:spPr>
          <a:xfrm>
            <a:off x="4843272" y="2761488"/>
            <a:ext cx="73152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A915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333251E-C927-4664-8AD9-AE9DEFDF59B9}"/>
              </a:ext>
            </a:extLst>
          </p:cNvPr>
          <p:cNvSpPr>
            <a:spLocks noGrp="1"/>
          </p:cNvSpPr>
          <p:nvPr/>
        </p:nvSpPr>
        <p:spPr>
          <a:xfrm>
            <a:off x="4843272" y="3063240"/>
            <a:ext cx="233172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Policy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25B7EDA-2731-40BC-9FA5-6130468A739C}"/>
              </a:ext>
            </a:extLst>
          </p:cNvPr>
          <p:cNvSpPr>
            <a:spLocks noGrp="1"/>
          </p:cNvSpPr>
          <p:nvPr/>
        </p:nvSpPr>
        <p:spPr>
          <a:xfrm>
            <a:off x="4843272" y="3703320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пословно понашање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B4DDE820-D19D-433E-A49A-EF333F67C2E2}"/>
              </a:ext>
            </a:extLst>
          </p:cNvPr>
          <p:cNvSpPr>
            <a:spLocks noGrp="1"/>
          </p:cNvSpPr>
          <p:nvPr/>
        </p:nvSpPr>
        <p:spPr>
          <a:xfrm>
            <a:off x="7879080" y="2560320"/>
            <a:ext cx="2834640" cy="1828800"/>
          </a:xfrm>
          <a:prstGeom prst="roundRect">
            <a:avLst>
              <a:gd name="adj" fmla="val 12000"/>
            </a:avLst>
          </a:prstGeom>
          <a:solidFill>
            <a:srgbClr val="FDF9F1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347C029-ACF7-4E1D-B714-4F58908CD6CB}"/>
              </a:ext>
            </a:extLst>
          </p:cNvPr>
          <p:cNvSpPr>
            <a:spLocks noGrp="1"/>
          </p:cNvSpPr>
          <p:nvPr/>
        </p:nvSpPr>
        <p:spPr>
          <a:xfrm>
            <a:off x="8043672" y="2761488"/>
            <a:ext cx="73152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BE770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8364113-5822-45AB-B3AC-0E6FB901816F}"/>
              </a:ext>
            </a:extLst>
          </p:cNvPr>
          <p:cNvSpPr>
            <a:spLocks noGrp="1"/>
          </p:cNvSpPr>
          <p:nvPr/>
        </p:nvSpPr>
        <p:spPr>
          <a:xfrm>
            <a:off x="8043672" y="3063240"/>
            <a:ext cx="233172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5B93BBC-F391-467F-B000-A2ED0CBE99DC}"/>
              </a:ext>
            </a:extLst>
          </p:cNvPr>
          <p:cNvSpPr>
            <a:spLocks noGrp="1"/>
          </p:cNvSpPr>
          <p:nvPr/>
        </p:nvSpPr>
        <p:spPr>
          <a:xfrm>
            <a:off x="8043672" y="3703320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експлицитан исход</a:t>
            </a:r>
          </a:p>
        </p:txBody>
      </p:sp>
    </p:spTree>
    <p:extLst>
      <p:ext uri="{BB962C8B-B14F-4D97-AF65-F5344CB8AC3E}">
        <p14:creationId xmlns:p14="http://schemas.microsoft.com/office/powerpoint/2010/main" val="16658149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6867022-261C-48BF-B733-906F31108F74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435EBC-DBFC-4DF7-A760-619F45FD7026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92FA09-529E-4553-AB15-C870A27F3F81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CAF22B-1EF3-4EC5-90DB-C48176F95774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Суштина Вежбе 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1570CC-7F9B-4B53-AC84-F389FA78013F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Пословна логика мора бити на месту где може да се разуме, тестира и брани.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098A56-5D51-4DDA-934D-C172DAECE94E}"/>
              </a:ext>
            </a:extLst>
          </p:cNvPr>
          <p:cNvSpPr>
            <a:spLocks noGrp="1"/>
          </p:cNvSpPr>
          <p:nvPr/>
        </p:nvSpPr>
        <p:spPr>
          <a:xfrm>
            <a:off x="1051560" y="2423160"/>
            <a:ext cx="8229600" cy="6853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Use-case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није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техничка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sr-Cyrl-RS"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основа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,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већ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контролисан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ток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који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повезује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захтев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,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доменска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правила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,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зависности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и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стабилан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резултат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306A3D8-E3CB-429B-B786-C89AB36AF8FF}"/>
              </a:ext>
            </a:extLst>
          </p:cNvPr>
          <p:cNvSpPr>
            <a:spLocks noGrp="1"/>
          </p:cNvSpPr>
          <p:nvPr/>
        </p:nvSpPr>
        <p:spPr>
          <a:xfrm>
            <a:off x="1051560" y="3472806"/>
            <a:ext cx="6949440" cy="10972"/>
          </a:xfrm>
          <a:prstGeom prst="rect">
            <a:avLst/>
          </a:prstGeom>
          <a:solidFill>
            <a:srgbClr val="2A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48FAD3F-19AF-4390-A7B2-230EB5D1FC2D}"/>
              </a:ext>
            </a:extLst>
          </p:cNvPr>
          <p:cNvSpPr>
            <a:spLocks noGrp="1"/>
          </p:cNvSpPr>
          <p:nvPr/>
        </p:nvSpPr>
        <p:spPr>
          <a:xfrm>
            <a:off x="914400" y="4267200"/>
            <a:ext cx="10363200" cy="800100"/>
          </a:xfrm>
          <a:prstGeom prst="roundRect">
            <a:avLst>
              <a:gd name="adj" fmla="val 16667"/>
            </a:avLst>
          </a:prstGeom>
          <a:solidFill>
            <a:srgbClr val="FFF6E9"/>
          </a:solidFill>
          <a:ln w="7620">
            <a:solidFill>
              <a:srgbClr val="E9D4AF"/>
            </a:solidFill>
            <a:prstDash val="solid"/>
          </a:ln>
        </p:spPr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FDD50F8-4BA4-41B0-8B8F-4FEA31A87680}"/>
              </a:ext>
            </a:extLst>
          </p:cNvPr>
          <p:cNvSpPr>
            <a:spLocks noGrp="1"/>
          </p:cNvSpPr>
          <p:nvPr/>
        </p:nvSpPr>
        <p:spPr>
          <a:xfrm>
            <a:off x="1085850" y="4419600"/>
            <a:ext cx="57150" cy="495300"/>
          </a:xfrm>
          <a:prstGeom prst="roundRect">
            <a:avLst>
              <a:gd name="adj" fmla="val 50000"/>
            </a:avLst>
          </a:prstGeom>
          <a:solidFill>
            <a:srgbClr val="B86A09"/>
          </a:solidFill>
          <a:ln w="0">
            <a:noFill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65B5E8-5A6F-420D-9B7C-AC3969959BED}"/>
              </a:ext>
            </a:extLst>
          </p:cNvPr>
          <p:cNvSpPr>
            <a:spLocks noGrp="1"/>
          </p:cNvSpPr>
          <p:nvPr/>
        </p:nvSpPr>
        <p:spPr>
          <a:xfrm>
            <a:off x="1333500" y="4381500"/>
            <a:ext cx="2381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КЉУЧНА ПОРУКА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7007A10-C382-4D65-A4A0-891882A30D08}"/>
              </a:ext>
            </a:extLst>
          </p:cNvPr>
          <p:cNvSpPr>
            <a:spLocks noGrp="1"/>
          </p:cNvSpPr>
          <p:nvPr/>
        </p:nvSpPr>
        <p:spPr>
          <a:xfrm>
            <a:off x="1333500" y="4629150"/>
            <a:ext cx="96012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Тако се припрема основа за тестирање.</a:t>
            </a:r>
          </a:p>
        </p:txBody>
      </p:sp>
    </p:spTree>
    <p:extLst>
      <p:ext uri="{BB962C8B-B14F-4D97-AF65-F5344CB8AC3E}">
        <p14:creationId xmlns:p14="http://schemas.microsoft.com/office/powerpoint/2010/main" val="17614088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32B1C47-8864-4E70-B1F4-C70572C47712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62C733-7CDF-4F3E-ACDC-339D59B98449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0B2E46-1399-48E0-8DAC-1695152EB7D7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42BE95-21DA-458F-8AF3-BB2995ADAA65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3908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За</a:t>
            </a:r>
            <a:r>
              <a:rPr sz="255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55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наредни</a:t>
            </a:r>
            <a:r>
              <a:rPr sz="255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sr-Cyrl-RS"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термин</a:t>
            </a:r>
            <a:endParaRPr sz="2550" b="1" dirty="0">
              <a:solidFill>
                <a:srgbClr val="1B202B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AC429E-7FBC-4C7E-992A-A5D9A7006AAF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Припремити код који може да се тестира из пословних сценарија.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AC5E19-5D44-4D3C-9F42-37A4B68B8330}"/>
              </a:ext>
            </a:extLst>
          </p:cNvPr>
          <p:cNvSpPr>
            <a:spLocks noGrp="1"/>
          </p:cNvSpPr>
          <p:nvPr/>
        </p:nvSpPr>
        <p:spPr>
          <a:xfrm>
            <a:off x="1638300" y="22402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5029D4-94CC-4A62-9600-31D74FE38776}"/>
              </a:ext>
            </a:extLst>
          </p:cNvPr>
          <p:cNvSpPr>
            <a:spLocks noGrp="1"/>
          </p:cNvSpPr>
          <p:nvPr/>
        </p:nvSpPr>
        <p:spPr>
          <a:xfrm>
            <a:off x="2324100" y="2240280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Изабрати два use-case-а у пројекту.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F0FE14-DCD7-4596-A1DE-6F9CA6E45D52}"/>
              </a:ext>
            </a:extLst>
          </p:cNvPr>
          <p:cNvSpPr>
            <a:spLocks noGrp="1"/>
          </p:cNvSpPr>
          <p:nvPr/>
        </p:nvSpPr>
        <p:spPr>
          <a:xfrm>
            <a:off x="1638300" y="280720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1BBD19-61DC-4E87-BE06-C4432A585849}"/>
              </a:ext>
            </a:extLst>
          </p:cNvPr>
          <p:cNvSpPr>
            <a:spLocks noGrp="1"/>
          </p:cNvSpPr>
          <p:nvPr/>
        </p:nvSpPr>
        <p:spPr>
          <a:xfrm>
            <a:off x="2324100" y="2807208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За сваки дефинисати улаз, пословне исходе и стабилне кодове грешке.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5913A3-DB23-42A4-A348-9B16768726B9}"/>
              </a:ext>
            </a:extLst>
          </p:cNvPr>
          <p:cNvSpPr>
            <a:spLocks noGrp="1"/>
          </p:cNvSpPr>
          <p:nvPr/>
        </p:nvSpPr>
        <p:spPr>
          <a:xfrm>
            <a:off x="1638300" y="3374136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AECCFC-E59C-4DAF-9999-24BDBE7F2DCD}"/>
              </a:ext>
            </a:extLst>
          </p:cNvPr>
          <p:cNvSpPr>
            <a:spLocks noGrp="1"/>
          </p:cNvSpPr>
          <p:nvPr/>
        </p:nvSpPr>
        <p:spPr>
          <a:xfrm>
            <a:off x="2324100" y="3374136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Проверити да ли доменски објекти штите своје инваријанте.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2F1028-9D28-4575-A0C5-4C863392918F}"/>
              </a:ext>
            </a:extLst>
          </p:cNvPr>
          <p:cNvSpPr>
            <a:spLocks noGrp="1"/>
          </p:cNvSpPr>
          <p:nvPr/>
        </p:nvSpPr>
        <p:spPr>
          <a:xfrm>
            <a:off x="1638300" y="3941064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B07EBEA-8EFC-47A1-8ECC-11236F260012}"/>
              </a:ext>
            </a:extLst>
          </p:cNvPr>
          <p:cNvSpPr>
            <a:spLocks noGrp="1"/>
          </p:cNvSpPr>
          <p:nvPr/>
        </p:nvSpPr>
        <p:spPr>
          <a:xfrm>
            <a:off x="2324100" y="3941064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Изместити пословна правила из UI/API слоја.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851ACE-D2A5-4569-A7D6-D36E0BB374A0}"/>
              </a:ext>
            </a:extLst>
          </p:cNvPr>
          <p:cNvSpPr>
            <a:spLocks noGrp="1"/>
          </p:cNvSpPr>
          <p:nvPr/>
        </p:nvSpPr>
        <p:spPr>
          <a:xfrm>
            <a:off x="1638300" y="4507992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12ACC49-13CE-4AC0-9BEC-6900CF817D05}"/>
              </a:ext>
            </a:extLst>
          </p:cNvPr>
          <p:cNvSpPr>
            <a:spLocks noGrp="1"/>
          </p:cNvSpPr>
          <p:nvPr/>
        </p:nvSpPr>
        <p:spPr>
          <a:xfrm>
            <a:off x="2324100" y="4507992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Припремити сценарије за NUnit тестове.</a:t>
            </a:r>
          </a:p>
        </p:txBody>
      </p:sp>
    </p:spTree>
    <p:extLst>
      <p:ext uri="{BB962C8B-B14F-4D97-AF65-F5344CB8AC3E}">
        <p14:creationId xmlns:p14="http://schemas.microsoft.com/office/powerpoint/2010/main" val="2669296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1233</Words>
  <Application>Microsoft Macintosh PowerPoint</Application>
  <DocSecurity>0</DocSecurity>
  <PresentationFormat>Widescreen</PresentationFormat>
  <Paragraphs>264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Aptos Display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Jovanović Danijel</cp:lastModifiedBy>
  <cp:revision>10</cp:revision>
  <dcterms:created xsi:type="dcterms:W3CDTF">2026-09-28T19:34:46Z</dcterms:created>
  <dcterms:modified xsi:type="dcterms:W3CDTF">2026-09-28T19:56:59Z</dcterms:modified>
</cp:coreProperties>
</file>