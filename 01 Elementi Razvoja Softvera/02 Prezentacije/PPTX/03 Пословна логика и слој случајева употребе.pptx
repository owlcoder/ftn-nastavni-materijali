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ове вежбе је где живи пословна логика. Пратимо како случај употребе прима захтев, проверава правила, сарађује са доменским моделом и складиштем и враћа експлицитан исход, било успех било очекивани пословни неуспех. Пример је систем за резервацију опреме.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Вежба има четири дела. Прво раздвајамо улоге модела, валидатора и доменског сервиса. Затим уводимо Result као модел исхода и стабилне кодове неуспеха. Трећи део је сервис случаја употребе и место правила у слојевима, а последњи део је посвећен контролној тачки P2 и припреми за тестирање.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ток кроз који пролази сваки случај употребе. Улаз је команда, на пример захтев за резервацију. Валидација проверава дозвољене вредности, доменски модел носи стање, repository га чува, а на крају стоји експлицитан исход. Случај употребе све ово оркестрира, али не зна ништа о корисничком интерфејсу ни о конкретној бази.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део раздваја три улоге које се често мешају: модел који носи стање, валидатор који проверава дозвољене вредности и доменски сервис који спроводи правила сценарија. Затим видимо како factory метод спречава настанак очигледно невалидног модела.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улоге треба држати раздвојено. Reservation садржи податке о периоду и стању резервације. ReservationValidator проверава да ли су вредности дозвољене, на пример да ли почетак претходи крају. Доменски сервис спроводи правила сценарија која обухватају више објеката. Случај употребе изнад њих координише цео ток и позива портове, али сам не садржи ова правила.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метод је једно место на коме модел настаје. Пре креирања проверава да ли почетак претходи крају и, ако не претходи, враћа Result са стабилним кодом InvalidPeriod уместо изузетка. Ако је конструктор модела internal, нико изван доменског пројекта не може да заобиђе ову проверу. Ентитет и даље чува сопствене инваријанте, на пример да се отказана резервација не откаже поново, док правила која обухватају више објеката, попут преклапања термина, остају у сервисима.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групе ограничења штите валидност модела. Период мора имати почетак пре краја. Стање мора бити доследно, па се отказана резервација не може отказати поново. Време је такође правило: прошла резервација се не мења као да је будућа. Испод прва два ограничења је стабилан код исхода из табеле кодова на слајду 13, а за треће ограничење код дефинише тим у свом домену.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део се бави исходима. Одбијен захтев није грешка система, већ исправан одговор, под условом да је стабилан и проверљив. Уводимо правило преклапања термина, Result тип и стабилне кодове неуспеха као део уговора са клијентом.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корисник тражи термин који је већ заузет, систем не треба да пукне ни да врати нејасну поруку. Исправно понашање је одбијање са стабилним кодом OverlappingReservation, без икакве промене стања. Очекивани пословни неуспех мора имати експлицитан и тестабилан исход, јер га клијент обрађује, а тест проверава.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Правило преклапања вреди записати прецизно, јер се у њему најчешће греши. Ако термин посматрамо као полуотворен интервал од почетка до краја, без самог краја, два термина a и b се преклапају тачно онда када a почиње пре краја b и b почиње пре краја a. Први ред је преклапање и захтев се одбија кодом OverlappingReservation. Други ред је гранични случај: нови термин почиње тачно када се постојећи завршава, што је дозвољено. Трећи ред су раздвојени термини. Управо гранични случај из другог реда је добар кандидат за тест на наредној вежби.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је мали тип са два стања: успех или очекивани неуспех са стабилним кодом. Генеричка верзија носи и вредност, на пример креирану резервацију из factory метода. Предност у односу на изузетак је у томе што клијент не мора да тумачи врсту изузетка, а тест може директно да провери Success и Error. Изузеци остају за ситуације које нису део пословног тока, на пример недоступну базу.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Није свака грешка исте врсте. Неважећи пословни захтев и ентитет који не постоји су очекивани исходи, па их враћамо као Result са стабилним кодом. Недоступна база није пословни исход, већ инфраструктурна грешка, и обрађује се другачије, обично изузетком који се хвата на граници система. Нарушена доменска претпоставка мора бити експлицитан неуспех у пословном слоју, а не тихо игнорисана.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Кодови исхода су део уговора између случаја употребе и клијента, баш као и потпис методе. Зато их бирамо пажљиво и не мењамо их олако. Порука кориснику може да се преведе или преформулише, а код остаје исти, па клијент и тестови не морају да се мењају.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Трећи део уводи сам сервис случаја употребе. Видећемо како координише сценарио, зашто се време третира као зависност, где је граница између контролера и случаја употребе и како одлучујемо у који слој припада неко правило.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Сервис случаја употребе прима захтев и води сценарио. Прво проверава да ли је термин у будућности, и то преко IClock-а, а не позивом DateTime.Now. Затим преко уговора repository-ја проверава преклапање. Тек ако обе провере прођу, резервација се креира кроз factory метод и чува, што је на слајду назначено коментаром, и враћа се успех. Конструктор који прима зависности је изостављен ради прегледности. Сервис не зна која база стоји иза уговора ни како је време обезбеђено.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 што се мења или што желимо да контролишемо у тесту прослеђујемо споља. IClock даје тренутно време, repository даје приступ складишту, а сервис их само користи. Једино место које зна конкретне класе је composition root, исто као у примеру Logger–Blogger са претходне вежбе.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Зашто је време зависност? Ако сервис директно позове DateTime.Now, тест који проверава правило о будућем термину даје различит резултат у зависности од тога када се покрене. Зато време стиже преко уговора IClock. У раду апликације composition root прослеђује SystemClock, а у тесту прослеђујемо FixedClock са тачно одређеним тренутком. Од .NET 8 платформа нуди и уграђену апстракцију TimeProvider, која решава исти проблем. Ово је директна припрема за NUnit тестове на наредној вежби.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Граница између контролера и случаја употребе мора бити јасна. Контролер ради само са форматом: прима захтев, проверава да ли је облик исправан, позива случај употребе и мапира Result у HTTP или UI одговор. Пословни ток, позиви доменских операција и портова и одлука о исходу припадају случају употребе. Ако контролер почне да проверава преклапање термина, правило је на погрешном месту.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Добар случај употребе може да се објасни од захтева до резултата у четири корака: шта корисник покушава, која правила важе, које стање се мења и који исход систем враћа. Ако неки од ових одговора није јасан, граница случаја употребе није добро постављена. Случај употребе је уједно јединица коју студент пројектује и брани на контролној тачки.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Када одлучујемо где припада правило, питамо које податке користи и које стање штити. Ако правило штити стање једног ентитета, на пример да се отказана резервација не откаже поново, припада ентитету. Ако обухвата више доменских објеката, припада доменском сервису. Апликациони сервис оркестрира случај употребе, а инфраструктура је технички адаптер који не доноси пословне одлуке.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Сваки случај употребе можемо свести на три елемента. Улаз је команда или захтев, у примеру ReservationRequest. Политика је пословно понашање, у примеру правило будућег термина и правило преклапања. Излаз је експлицитан исход, Result. Када су ова три елемента јасна, сценарио може да се провери тестом без базе и корисничког интерфејса.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повезује градиво са контролном тачком P2. Видећемо шта значи вертикални пролаз кроз систем, шта тачно P2 проверава, и урадићемо мали самостални задатак замене bool вредности Result типом.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Контролна тачка P2 је после Вежбе 4, у недељи од 2. новембра. Тражи се најмање један вертикални пролаз кроз систем. То значи да један захтев пролази кроз све слојеве, од корисничког интерфејса или API-ја, преко случаја употребе и домена, до складишта, и враћа резултат. Пролаз не мора бити богат функционалностима, али границе одговорности морају бити јасне и образложиве.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контролну тачку P2 потребно је пет ствари. Документовати одговорност сваког слоја и смер зависности. Имплементирати најмање један вертикални пролаз. За очекиване неуспехе дефинисати стабилне кодове или типове резултата. Domain и Application морају моћи да се тестирају без базе и корисничког интерфејса. Термин је недеља од 2. новембра, после Вежбе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Самостални задатак је мали, али показује суштину вежбе. Пронађите методу која враћа bool или null, па позивалац не зна зашто нешто није успело. Промените је тако да враћа Result са стабилним кодом. Додајте два мала теста или демонстрациона сценарија и образложите зашто сте изабрали баш тај код неуспеха.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Ако из ове вежбе треба запамтити једну реченицу, то је ова: случај употребе није техничка основа, већ контролисан ток који повезује захтев, доменска правила, зависности и стабилан резултат. Модел носи стање, валидатор проверава вредности, а сервиси спроводе правила. Када је све то раздвојено, тестирање постаје природан следећи корак.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наредну вежбу изаберите два случаја употребе у свом пројекту. За сваки дефинишите улаз, пословне исходе и стабилне кодове грешке, проверите да ли доменски објекти штите своје инваријанте и изместите пословна правила из UI или API слоја. Припремите сценарије које ћемо проверавати NUnit тестовима. Гранични случај из правила преклапања је добар први кандидат.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случаја употребе: захтев улази у use-case који проверава правила, сарађује са доменским језгром и складиштем и враћа експлицитан исход, успех или очекивани неуспех">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6B3FA0"/>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6B3FA0"/>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Пословна логика и слој случајева употребе</a:t>
            </a:r>
            <a:endParaRPr lang="en-US" sz="4600" dirty="0"/>
          </a:p>
        </p:txBody>
      </p:sp>
      <p:sp>
        <p:nvSpPr>
          <p:cNvPr id="5" name="Text 2"/>
          <p:cNvSpPr/>
          <p:nvPr/>
        </p:nvSpPr>
        <p:spPr>
          <a:xfrm>
            <a:off x="812800" y="285234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Распоређивање пословних правила и организација сценарија случаја употребе.</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540000" cy="2330252"/>
          </a:xfrm>
          <a:prstGeom prst="roundRect">
            <a:avLst>
              <a:gd name="adj" fmla="val 4224"/>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6B3FA0"/>
          </a:solidFill>
          <a:ln/>
        </p:spPr>
      </p:sp>
      <p:sp>
        <p:nvSpPr>
          <p:cNvPr id="7" name="Text 5"/>
          <p:cNvSpPr/>
          <p:nvPr/>
        </p:nvSpPr>
        <p:spPr>
          <a:xfrm>
            <a:off x="9969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6B3FA0"/>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Модел и правила</a:t>
            </a:r>
            <a:endParaRPr lang="en-US" sz="1400" dirty="0"/>
          </a:p>
        </p:txBody>
      </p:sp>
      <p:sp>
        <p:nvSpPr>
          <p:cNvPr id="9" name="Text 7"/>
          <p:cNvSpPr/>
          <p:nvPr/>
        </p:nvSpPr>
        <p:spPr>
          <a:xfrm>
            <a:off x="99695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Модел, валидатор и доменски сервис, factory метод и ограничења валидног стања.</a:t>
            </a:r>
            <a:endParaRPr lang="en-US" sz="1200" dirty="0"/>
          </a:p>
        </p:txBody>
      </p:sp>
      <p:sp>
        <p:nvSpPr>
          <p:cNvPr id="10" name="Text 8"/>
          <p:cNvSpPr/>
          <p:nvPr/>
        </p:nvSpPr>
        <p:spPr>
          <a:xfrm>
            <a:off x="99695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04–07</a:t>
            </a:r>
            <a:endParaRPr lang="en-US" sz="1200" dirty="0"/>
          </a:p>
        </p:txBody>
      </p:sp>
      <p:sp>
        <p:nvSpPr>
          <p:cNvPr id="11" name="Shape 9"/>
          <p:cNvSpPr/>
          <p:nvPr/>
        </p:nvSpPr>
        <p:spPr>
          <a:xfrm>
            <a:off x="3489325" y="1676995"/>
            <a:ext cx="2540000" cy="2330252"/>
          </a:xfrm>
          <a:prstGeom prst="roundRect">
            <a:avLst>
              <a:gd name="adj" fmla="val 4224"/>
            </a:avLst>
          </a:prstGeom>
          <a:solidFill>
            <a:srgbClr val="FCFCFB"/>
          </a:solidFill>
          <a:ln w="6350">
            <a:solidFill>
              <a:srgbClr val="D3DAE1"/>
            </a:solidFill>
            <a:prstDash val="solid"/>
          </a:ln>
        </p:spPr>
      </p:sp>
      <p:sp>
        <p:nvSpPr>
          <p:cNvPr id="12" name="Shape 10"/>
          <p:cNvSpPr/>
          <p:nvPr/>
        </p:nvSpPr>
        <p:spPr>
          <a:xfrm>
            <a:off x="3670300" y="1857970"/>
            <a:ext cx="355600" cy="38100"/>
          </a:xfrm>
          <a:prstGeom prst="roundRect">
            <a:avLst>
              <a:gd name="adj" fmla="val 50000"/>
            </a:avLst>
          </a:prstGeom>
          <a:solidFill>
            <a:srgbClr val="6B3FA0"/>
          </a:solidFill>
          <a:ln/>
        </p:spPr>
      </p:sp>
      <p:sp>
        <p:nvSpPr>
          <p:cNvPr id="13" name="Text 11"/>
          <p:cNvSpPr/>
          <p:nvPr/>
        </p:nvSpPr>
        <p:spPr>
          <a:xfrm>
            <a:off x="36703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6B3FA0"/>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6703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Исходи и Result</a:t>
            </a:r>
            <a:endParaRPr lang="en-US" sz="1400" dirty="0"/>
          </a:p>
        </p:txBody>
      </p:sp>
      <p:sp>
        <p:nvSpPr>
          <p:cNvPr id="15" name="Text 13"/>
          <p:cNvSpPr/>
          <p:nvPr/>
        </p:nvSpPr>
        <p:spPr>
          <a:xfrm>
            <a:off x="36703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Очекивани неуспех, правило преклапања, Result тип и стабилни кодови исхода.</a:t>
            </a:r>
            <a:endParaRPr lang="en-US" sz="1200" dirty="0"/>
          </a:p>
        </p:txBody>
      </p:sp>
      <p:sp>
        <p:nvSpPr>
          <p:cNvPr id="16" name="Text 14"/>
          <p:cNvSpPr/>
          <p:nvPr/>
        </p:nvSpPr>
        <p:spPr>
          <a:xfrm>
            <a:off x="367030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08–13</a:t>
            </a:r>
            <a:endParaRPr lang="en-US" sz="1200" dirty="0"/>
          </a:p>
        </p:txBody>
      </p:sp>
      <p:sp>
        <p:nvSpPr>
          <p:cNvPr id="17" name="Shape 15"/>
          <p:cNvSpPr/>
          <p:nvPr/>
        </p:nvSpPr>
        <p:spPr>
          <a:xfrm>
            <a:off x="6162675" y="1676995"/>
            <a:ext cx="2540000" cy="2330252"/>
          </a:xfrm>
          <a:prstGeom prst="roundRect">
            <a:avLst>
              <a:gd name="adj" fmla="val 4224"/>
            </a:avLst>
          </a:prstGeom>
          <a:solidFill>
            <a:srgbClr val="FCFCFB"/>
          </a:solidFill>
          <a:ln w="6350">
            <a:solidFill>
              <a:srgbClr val="D3DAE1"/>
            </a:solidFill>
            <a:prstDash val="solid"/>
          </a:ln>
        </p:spPr>
      </p:sp>
      <p:sp>
        <p:nvSpPr>
          <p:cNvPr id="18" name="Shape 16"/>
          <p:cNvSpPr/>
          <p:nvPr/>
        </p:nvSpPr>
        <p:spPr>
          <a:xfrm>
            <a:off x="6343650" y="1857970"/>
            <a:ext cx="355600" cy="38100"/>
          </a:xfrm>
          <a:prstGeom prst="roundRect">
            <a:avLst>
              <a:gd name="adj" fmla="val 50000"/>
            </a:avLst>
          </a:prstGeom>
          <a:solidFill>
            <a:srgbClr val="6B3FA0"/>
          </a:solidFill>
          <a:ln/>
        </p:spPr>
      </p:sp>
      <p:sp>
        <p:nvSpPr>
          <p:cNvPr id="19" name="Text 17"/>
          <p:cNvSpPr/>
          <p:nvPr/>
        </p:nvSpPr>
        <p:spPr>
          <a:xfrm>
            <a:off x="63436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6B3FA0"/>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6343650" y="2492970"/>
            <a:ext cx="23558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Сервис случаја употребе</a:t>
            </a:r>
            <a:endParaRPr lang="en-US" sz="1400" dirty="0"/>
          </a:p>
        </p:txBody>
      </p:sp>
      <p:sp>
        <p:nvSpPr>
          <p:cNvPr id="21" name="Text 19"/>
          <p:cNvSpPr/>
          <p:nvPr/>
        </p:nvSpPr>
        <p:spPr>
          <a:xfrm>
            <a:off x="634365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Оркестрација, dependency injection, контрола времена и положај правила.</a:t>
            </a:r>
            <a:endParaRPr lang="en-US" sz="1200" dirty="0"/>
          </a:p>
        </p:txBody>
      </p:sp>
      <p:sp>
        <p:nvSpPr>
          <p:cNvPr id="22" name="Text 20"/>
          <p:cNvSpPr/>
          <p:nvPr/>
        </p:nvSpPr>
        <p:spPr>
          <a:xfrm>
            <a:off x="634365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14–21</a:t>
            </a:r>
            <a:endParaRPr lang="en-US" sz="1200" dirty="0"/>
          </a:p>
        </p:txBody>
      </p:sp>
      <p:sp>
        <p:nvSpPr>
          <p:cNvPr id="23" name="Shape 21"/>
          <p:cNvSpPr/>
          <p:nvPr/>
        </p:nvSpPr>
        <p:spPr>
          <a:xfrm>
            <a:off x="8836025" y="1676995"/>
            <a:ext cx="2540000" cy="2330252"/>
          </a:xfrm>
          <a:prstGeom prst="roundRect">
            <a:avLst>
              <a:gd name="adj" fmla="val 4224"/>
            </a:avLst>
          </a:prstGeom>
          <a:solidFill>
            <a:srgbClr val="FCFCFB"/>
          </a:solidFill>
          <a:ln w="6350">
            <a:solidFill>
              <a:srgbClr val="D3DAE1"/>
            </a:solidFill>
            <a:prstDash val="solid"/>
          </a:ln>
        </p:spPr>
      </p:sp>
      <p:sp>
        <p:nvSpPr>
          <p:cNvPr id="24" name="Shape 22"/>
          <p:cNvSpPr/>
          <p:nvPr/>
        </p:nvSpPr>
        <p:spPr>
          <a:xfrm>
            <a:off x="9017000" y="1857970"/>
            <a:ext cx="355600" cy="38100"/>
          </a:xfrm>
          <a:prstGeom prst="roundRect">
            <a:avLst>
              <a:gd name="adj" fmla="val 50000"/>
            </a:avLst>
          </a:prstGeom>
          <a:solidFill>
            <a:srgbClr val="E07B1F"/>
          </a:solidFill>
          <a:ln/>
        </p:spPr>
      </p:sp>
      <p:sp>
        <p:nvSpPr>
          <p:cNvPr id="25" name="Text 23"/>
          <p:cNvSpPr/>
          <p:nvPr/>
        </p:nvSpPr>
        <p:spPr>
          <a:xfrm>
            <a:off x="90170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6B3FA0"/>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90170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Контролна тачка P2</a:t>
            </a:r>
            <a:endParaRPr lang="en-US" sz="1400" dirty="0"/>
          </a:p>
        </p:txBody>
      </p:sp>
      <p:sp>
        <p:nvSpPr>
          <p:cNvPr id="27" name="Text 25"/>
          <p:cNvSpPr/>
          <p:nvPr/>
        </p:nvSpPr>
        <p:spPr>
          <a:xfrm>
            <a:off x="90170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Вертикални пролаз, захтеви P2, самостални задатак и припрема.</a:t>
            </a:r>
            <a:endParaRPr lang="en-US" sz="1200" dirty="0"/>
          </a:p>
        </p:txBody>
      </p:sp>
      <p:sp>
        <p:nvSpPr>
          <p:cNvPr id="28" name="Text 26"/>
          <p:cNvSpPr/>
          <p:nvPr/>
        </p:nvSpPr>
        <p:spPr>
          <a:xfrm>
            <a:off x="9017000" y="36129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22–27</a:t>
            </a:r>
            <a:endParaRPr lang="en-US" sz="1200" dirty="0"/>
          </a:p>
        </p:txBody>
      </p:sp>
      <p:sp>
        <p:nvSpPr>
          <p:cNvPr id="29" name="Text 27"/>
          <p:cNvSpPr/>
          <p:nvPr/>
        </p:nvSpPr>
        <p:spPr>
          <a:xfrm>
            <a:off x="812800" y="4264422"/>
            <a:ext cx="10566400" cy="416520"/>
          </a:xfrm>
          <a:prstGeom prst="roundRect">
            <a:avLst>
              <a:gd name="adj" fmla="val 18294"/>
            </a:avLst>
          </a:prstGeom>
          <a:solidFill>
            <a:srgbClr val="EAE7EE"/>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ток случаја употребе од улаза до исхода (03)</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Случај употребе и пословни исход</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Случај употребе оркестрира валидаторе, доменске сервисе и портове без зависности од корисничког интерфејса и базе.</a:t>
            </a:r>
            <a:endParaRPr lang="en-US" sz="1400" dirty="0"/>
          </a:p>
        </p:txBody>
      </p:sp>
      <p:sp>
        <p:nvSpPr>
          <p:cNvPr id="6" name="Shape 4"/>
          <p:cNvSpPr/>
          <p:nvPr/>
        </p:nvSpPr>
        <p:spPr>
          <a:xfrm>
            <a:off x="815975" y="2179836"/>
            <a:ext cx="1784350" cy="1288951"/>
          </a:xfrm>
          <a:prstGeom prst="roundRect">
            <a:avLst>
              <a:gd name="adj" fmla="val 7636"/>
            </a:avLst>
          </a:prstGeom>
          <a:solidFill>
            <a:srgbClr val="FCFCFB"/>
          </a:solidFill>
          <a:ln w="6350">
            <a:solidFill>
              <a:srgbClr val="D3DAE1"/>
            </a:solidFill>
            <a:prstDash val="solid"/>
          </a:ln>
        </p:spPr>
      </p:sp>
      <p:sp>
        <p:nvSpPr>
          <p:cNvPr id="7" name="Shape 5"/>
          <p:cNvSpPr/>
          <p:nvPr/>
        </p:nvSpPr>
        <p:spPr>
          <a:xfrm>
            <a:off x="971550" y="2348111"/>
            <a:ext cx="355600" cy="355600"/>
          </a:xfrm>
          <a:prstGeom prst="roundRect">
            <a:avLst>
              <a:gd name="adj" fmla="val 21429"/>
            </a:avLst>
          </a:prstGeom>
          <a:solidFill>
            <a:srgbClr val="EAE4F2"/>
          </a:solidFill>
          <a:ln/>
        </p:spPr>
      </p:sp>
      <p:pic>
        <p:nvPicPr>
          <p:cNvPr id="8" name="Image 0" descr="PaperPlane">    </p:cNvPr>
          <p:cNvPicPr>
            <a:picLocks noChangeAspect="1"/>
          </p:cNvPicPr>
          <p:nvPr/>
        </p:nvPicPr>
        <p:blipFill>
          <a:blip r:embed="rId1"/>
          <a:srcRect l="0" r="0" t="0" b="0"/>
          <a:stretch/>
        </p:blipFill>
        <p:spPr>
          <a:xfrm>
            <a:off x="1047750" y="2424311"/>
            <a:ext cx="203200" cy="203200"/>
          </a:xfrm>
          <a:prstGeom prst="rect">
            <a:avLst/>
          </a:prstGeom>
        </p:spPr>
      </p:pic>
      <p:sp>
        <p:nvSpPr>
          <p:cNvPr id="9" name="Text 6"/>
          <p:cNvSpPr/>
          <p:nvPr/>
        </p:nvSpPr>
        <p:spPr>
          <a:xfrm>
            <a:off x="9715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Улаз</a:t>
            </a:r>
            <a:endParaRPr lang="en-US" sz="1400" dirty="0"/>
          </a:p>
        </p:txBody>
      </p:sp>
      <p:sp>
        <p:nvSpPr>
          <p:cNvPr id="10" name="Text 7"/>
          <p:cNvSpPr/>
          <p:nvPr/>
        </p:nvSpPr>
        <p:spPr>
          <a:xfrm>
            <a:off x="9715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команда</a:t>
            </a:r>
            <a:endParaRPr lang="en-US" sz="1200" dirty="0"/>
          </a:p>
        </p:txBody>
      </p:sp>
      <p:pic>
        <p:nvPicPr>
          <p:cNvPr id="11" name="Image 1" descr="arrow-right">    </p:cNvPr>
          <p:cNvPicPr>
            <a:picLocks noChangeAspect="1"/>
          </p:cNvPicPr>
          <p:nvPr/>
        </p:nvPicPr>
        <p:blipFill>
          <a:blip r:embed="rId2"/>
          <a:srcRect l="0" r="0" t="0" b="0"/>
          <a:stretch/>
        </p:blipFill>
        <p:spPr>
          <a:xfrm>
            <a:off x="2692400" y="2767112"/>
            <a:ext cx="228600" cy="114300"/>
          </a:xfrm>
          <a:prstGeom prst="rect">
            <a:avLst/>
          </a:prstGeom>
        </p:spPr>
      </p:pic>
      <p:sp>
        <p:nvSpPr>
          <p:cNvPr id="12" name="Shape 8"/>
          <p:cNvSpPr/>
          <p:nvPr/>
        </p:nvSpPr>
        <p:spPr>
          <a:xfrm>
            <a:off x="3013075" y="2179836"/>
            <a:ext cx="1784350" cy="1288951"/>
          </a:xfrm>
          <a:prstGeom prst="roundRect">
            <a:avLst>
              <a:gd name="adj" fmla="val 7636"/>
            </a:avLst>
          </a:prstGeom>
          <a:solidFill>
            <a:srgbClr val="FCFCFB"/>
          </a:solidFill>
          <a:ln w="6350">
            <a:solidFill>
              <a:srgbClr val="D3DAE1"/>
            </a:solidFill>
            <a:prstDash val="solid"/>
          </a:ln>
        </p:spPr>
      </p:sp>
      <p:sp>
        <p:nvSpPr>
          <p:cNvPr id="13" name="Shape 9"/>
          <p:cNvSpPr/>
          <p:nvPr/>
        </p:nvSpPr>
        <p:spPr>
          <a:xfrm>
            <a:off x="3168650" y="2348111"/>
            <a:ext cx="355600" cy="355600"/>
          </a:xfrm>
          <a:prstGeom prst="roundRect">
            <a:avLst>
              <a:gd name="adj" fmla="val 21429"/>
            </a:avLst>
          </a:prstGeom>
          <a:solidFill>
            <a:srgbClr val="EAE4F2"/>
          </a:solidFill>
          <a:ln/>
        </p:spPr>
      </p:sp>
      <p:pic>
        <p:nvPicPr>
          <p:cNvPr id="14" name="Image 2" descr="Check">    </p:cNvPr>
          <p:cNvPicPr>
            <a:picLocks noChangeAspect="1"/>
          </p:cNvPicPr>
          <p:nvPr/>
        </p:nvPicPr>
        <p:blipFill>
          <a:blip r:embed="rId3"/>
          <a:srcRect l="0" r="0" t="0" b="0"/>
          <a:stretch/>
        </p:blipFill>
        <p:spPr>
          <a:xfrm>
            <a:off x="3244850" y="2424311"/>
            <a:ext cx="203200" cy="203200"/>
          </a:xfrm>
          <a:prstGeom prst="rect">
            <a:avLst/>
          </a:prstGeom>
        </p:spPr>
      </p:pic>
      <p:sp>
        <p:nvSpPr>
          <p:cNvPr id="15" name="Text 10"/>
          <p:cNvSpPr/>
          <p:nvPr/>
        </p:nvSpPr>
        <p:spPr>
          <a:xfrm>
            <a:off x="31686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Validation</a:t>
            </a:r>
            <a:endParaRPr lang="en-US" sz="1400" dirty="0"/>
          </a:p>
        </p:txBody>
      </p:sp>
      <p:sp>
        <p:nvSpPr>
          <p:cNvPr id="16" name="Text 11"/>
          <p:cNvSpPr/>
          <p:nvPr/>
        </p:nvSpPr>
        <p:spPr>
          <a:xfrm>
            <a:off x="31686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правила</a:t>
            </a:r>
            <a:endParaRPr lang="en-US" sz="1200" dirty="0"/>
          </a:p>
        </p:txBody>
      </p:sp>
      <p:pic>
        <p:nvPicPr>
          <p:cNvPr id="17" name="Image 3" descr="arrow-right">    </p:cNvPr>
          <p:cNvPicPr>
            <a:picLocks noChangeAspect="1"/>
          </p:cNvPicPr>
          <p:nvPr/>
        </p:nvPicPr>
        <p:blipFill>
          <a:blip r:embed="rId4"/>
          <a:srcRect l="0" r="0" t="0" b="0"/>
          <a:stretch/>
        </p:blipFill>
        <p:spPr>
          <a:xfrm>
            <a:off x="4889500" y="2767112"/>
            <a:ext cx="228600" cy="114300"/>
          </a:xfrm>
          <a:prstGeom prst="rect">
            <a:avLst/>
          </a:prstGeom>
        </p:spPr>
      </p:pic>
      <p:sp>
        <p:nvSpPr>
          <p:cNvPr id="18" name="Shape 12"/>
          <p:cNvSpPr/>
          <p:nvPr/>
        </p:nvSpPr>
        <p:spPr>
          <a:xfrm>
            <a:off x="5210175" y="2179836"/>
            <a:ext cx="1784350" cy="1288951"/>
          </a:xfrm>
          <a:prstGeom prst="roundRect">
            <a:avLst>
              <a:gd name="adj" fmla="val 7636"/>
            </a:avLst>
          </a:prstGeom>
          <a:solidFill>
            <a:srgbClr val="FCFCFB"/>
          </a:solidFill>
          <a:ln w="6350">
            <a:solidFill>
              <a:srgbClr val="D3DAE1"/>
            </a:solidFill>
            <a:prstDash val="solid"/>
          </a:ln>
        </p:spPr>
      </p:sp>
      <p:sp>
        <p:nvSpPr>
          <p:cNvPr id="19" name="Shape 13"/>
          <p:cNvSpPr/>
          <p:nvPr/>
        </p:nvSpPr>
        <p:spPr>
          <a:xfrm>
            <a:off x="5365750" y="2348111"/>
            <a:ext cx="355600" cy="355600"/>
          </a:xfrm>
          <a:prstGeom prst="roundRect">
            <a:avLst>
              <a:gd name="adj" fmla="val 21429"/>
            </a:avLst>
          </a:prstGeom>
          <a:solidFill>
            <a:srgbClr val="EAE4F2"/>
          </a:solidFill>
          <a:ln/>
        </p:spPr>
      </p:sp>
      <p:pic>
        <p:nvPicPr>
          <p:cNvPr id="20" name="Image 4" descr="Key">    </p:cNvPr>
          <p:cNvPicPr>
            <a:picLocks noChangeAspect="1"/>
          </p:cNvPicPr>
          <p:nvPr/>
        </p:nvPicPr>
        <p:blipFill>
          <a:blip r:embed="rId5"/>
          <a:srcRect l="0" r="0" t="0" b="0"/>
          <a:stretch/>
        </p:blipFill>
        <p:spPr>
          <a:xfrm>
            <a:off x="5441950" y="2424311"/>
            <a:ext cx="203200" cy="203200"/>
          </a:xfrm>
          <a:prstGeom prst="rect">
            <a:avLst/>
          </a:prstGeom>
        </p:spPr>
      </p:pic>
      <p:sp>
        <p:nvSpPr>
          <p:cNvPr id="21" name="Text 14"/>
          <p:cNvSpPr/>
          <p:nvPr/>
        </p:nvSpPr>
        <p:spPr>
          <a:xfrm>
            <a:off x="53657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Domain</a:t>
            </a:r>
            <a:endParaRPr lang="en-US" sz="1400" dirty="0"/>
          </a:p>
        </p:txBody>
      </p:sp>
      <p:sp>
        <p:nvSpPr>
          <p:cNvPr id="22" name="Text 15"/>
          <p:cNvSpPr/>
          <p:nvPr/>
        </p:nvSpPr>
        <p:spPr>
          <a:xfrm>
            <a:off x="53657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стање</a:t>
            </a:r>
            <a:endParaRPr lang="en-US" sz="1200" dirty="0"/>
          </a:p>
        </p:txBody>
      </p:sp>
      <p:pic>
        <p:nvPicPr>
          <p:cNvPr id="23" name="Image 5" descr="arrow-right">    </p:cNvPr>
          <p:cNvPicPr>
            <a:picLocks noChangeAspect="1"/>
          </p:cNvPicPr>
          <p:nvPr/>
        </p:nvPicPr>
        <p:blipFill>
          <a:blip r:embed="rId6"/>
          <a:srcRect l="0" r="0" t="0" b="0"/>
          <a:stretch/>
        </p:blipFill>
        <p:spPr>
          <a:xfrm>
            <a:off x="7086600" y="2767112"/>
            <a:ext cx="228600" cy="114300"/>
          </a:xfrm>
          <a:prstGeom prst="rect">
            <a:avLst/>
          </a:prstGeom>
        </p:spPr>
      </p:pic>
      <p:sp>
        <p:nvSpPr>
          <p:cNvPr id="24" name="Shape 16"/>
          <p:cNvSpPr/>
          <p:nvPr/>
        </p:nvSpPr>
        <p:spPr>
          <a:xfrm>
            <a:off x="7407275" y="2179836"/>
            <a:ext cx="1784350" cy="1288951"/>
          </a:xfrm>
          <a:prstGeom prst="roundRect">
            <a:avLst>
              <a:gd name="adj" fmla="val 7636"/>
            </a:avLst>
          </a:prstGeom>
          <a:solidFill>
            <a:srgbClr val="FCFCFB"/>
          </a:solidFill>
          <a:ln w="6350">
            <a:solidFill>
              <a:srgbClr val="D3DAE1"/>
            </a:solidFill>
            <a:prstDash val="solid"/>
          </a:ln>
        </p:spPr>
      </p:sp>
      <p:sp>
        <p:nvSpPr>
          <p:cNvPr id="25" name="Shape 17"/>
          <p:cNvSpPr/>
          <p:nvPr/>
        </p:nvSpPr>
        <p:spPr>
          <a:xfrm>
            <a:off x="7562850" y="2348111"/>
            <a:ext cx="355600" cy="355600"/>
          </a:xfrm>
          <a:prstGeom prst="roundRect">
            <a:avLst>
              <a:gd name="adj" fmla="val 21429"/>
            </a:avLst>
          </a:prstGeom>
          <a:solidFill>
            <a:srgbClr val="FBF1E6"/>
          </a:solidFill>
          <a:ln/>
        </p:spPr>
      </p:sp>
      <p:pic>
        <p:nvPicPr>
          <p:cNvPr id="26" name="Image 6" descr="Database">    </p:cNvPr>
          <p:cNvPicPr>
            <a:picLocks noChangeAspect="1"/>
          </p:cNvPicPr>
          <p:nvPr/>
        </p:nvPicPr>
        <p:blipFill>
          <a:blip r:embed="rId7"/>
          <a:srcRect l="0" r="0" t="0" b="0"/>
          <a:stretch/>
        </p:blipFill>
        <p:spPr>
          <a:xfrm>
            <a:off x="7639050" y="2424311"/>
            <a:ext cx="203200" cy="203200"/>
          </a:xfrm>
          <a:prstGeom prst="rect">
            <a:avLst/>
          </a:prstGeom>
        </p:spPr>
      </p:pic>
      <p:sp>
        <p:nvSpPr>
          <p:cNvPr id="27" name="Text 18"/>
          <p:cNvSpPr/>
          <p:nvPr/>
        </p:nvSpPr>
        <p:spPr>
          <a:xfrm>
            <a:off x="7562850" y="279261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Repository</a:t>
            </a:r>
            <a:endParaRPr lang="en-US" sz="1400" dirty="0"/>
          </a:p>
        </p:txBody>
      </p:sp>
      <p:sp>
        <p:nvSpPr>
          <p:cNvPr id="28" name="Text 19"/>
          <p:cNvSpPr/>
          <p:nvPr/>
        </p:nvSpPr>
        <p:spPr>
          <a:xfrm>
            <a:off x="7562850" y="309483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D"/>
                </a:solidFill>
                <a:latin typeface="IBM Plex Sans" pitchFamily="34" charset="0"/>
                <a:ea typeface="IBM Plex Sans" pitchFamily="34" charset="-122"/>
                <a:cs typeface="IBM Plex Sans" pitchFamily="34" charset="-120"/>
              </a:rPr>
              <a:t>чување</a:t>
            </a:r>
            <a:endParaRPr lang="en-US" sz="1200" dirty="0"/>
          </a:p>
        </p:txBody>
      </p:sp>
      <p:pic>
        <p:nvPicPr>
          <p:cNvPr id="29" name="Image 7" descr="arrow-right">    </p:cNvPr>
          <p:cNvPicPr>
            <a:picLocks noChangeAspect="1"/>
          </p:cNvPicPr>
          <p:nvPr/>
        </p:nvPicPr>
        <p:blipFill>
          <a:blip r:embed="rId8"/>
          <a:srcRect l="0" r="0" t="0" b="0"/>
          <a:stretch/>
        </p:blipFill>
        <p:spPr>
          <a:xfrm>
            <a:off x="9283700" y="2767112"/>
            <a:ext cx="228600" cy="114300"/>
          </a:xfrm>
          <a:prstGeom prst="rect">
            <a:avLst/>
          </a:prstGeom>
        </p:spPr>
      </p:pic>
      <p:sp>
        <p:nvSpPr>
          <p:cNvPr id="30" name="Shape 20"/>
          <p:cNvSpPr/>
          <p:nvPr/>
        </p:nvSpPr>
        <p:spPr>
          <a:xfrm>
            <a:off x="9601200" y="2176661"/>
            <a:ext cx="1778000" cy="1295301"/>
          </a:xfrm>
          <a:prstGeom prst="roundRect">
            <a:avLst>
              <a:gd name="adj" fmla="val 7844"/>
            </a:avLst>
          </a:prstGeom>
          <a:solidFill>
            <a:srgbClr val="6B3FA0"/>
          </a:solidFill>
          <a:ln/>
        </p:spPr>
      </p:sp>
      <p:sp>
        <p:nvSpPr>
          <p:cNvPr id="31" name="Shape 21"/>
          <p:cNvSpPr/>
          <p:nvPr/>
        </p:nvSpPr>
        <p:spPr>
          <a:xfrm>
            <a:off x="9753600" y="2341761"/>
            <a:ext cx="355600" cy="355600"/>
          </a:xfrm>
          <a:prstGeom prst="roundRect">
            <a:avLst>
              <a:gd name="adj" fmla="val 21429"/>
            </a:avLst>
          </a:prstGeom>
          <a:solidFill>
            <a:srgbClr val="FCFCFB"/>
          </a:solidFill>
          <a:ln/>
        </p:spPr>
      </p:sp>
      <p:pic>
        <p:nvPicPr>
          <p:cNvPr id="32" name="Image 8" descr="CheckCircle">    </p:cNvPr>
          <p:cNvPicPr>
            <a:picLocks noChangeAspect="1"/>
          </p:cNvPicPr>
          <p:nvPr/>
        </p:nvPicPr>
        <p:blipFill>
          <a:blip r:embed="rId9"/>
          <a:srcRect l="0" r="0" t="0" b="0"/>
          <a:stretch/>
        </p:blipFill>
        <p:spPr>
          <a:xfrm>
            <a:off x="9829800" y="2417961"/>
            <a:ext cx="203200" cy="203200"/>
          </a:xfrm>
          <a:prstGeom prst="rect">
            <a:avLst/>
          </a:prstGeom>
        </p:spPr>
      </p:pic>
      <p:sp>
        <p:nvSpPr>
          <p:cNvPr id="33" name="Text 22"/>
          <p:cNvSpPr/>
          <p:nvPr/>
        </p:nvSpPr>
        <p:spPr>
          <a:xfrm>
            <a:off x="9753600" y="2786261"/>
            <a:ext cx="15240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CFCFB"/>
                </a:solidFill>
                <a:latin typeface="IBM Plex Sans" pitchFamily="34" charset="0"/>
                <a:ea typeface="IBM Plex Sans" pitchFamily="34" charset="-122"/>
                <a:cs typeface="IBM Plex Sans" pitchFamily="34" charset="-120"/>
              </a:rPr>
              <a:t>Result</a:t>
            </a:r>
            <a:endParaRPr lang="en-US" sz="1400" dirty="0"/>
          </a:p>
        </p:txBody>
      </p:sp>
      <p:sp>
        <p:nvSpPr>
          <p:cNvPr id="34" name="Text 23"/>
          <p:cNvSpPr/>
          <p:nvPr/>
        </p:nvSpPr>
        <p:spPr>
          <a:xfrm>
            <a:off x="9753600" y="3088481"/>
            <a:ext cx="15240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AE4F2"/>
                </a:solidFill>
                <a:latin typeface="IBM Plex Sans" pitchFamily="34" charset="0"/>
                <a:ea typeface="IBM Plex Sans" pitchFamily="34" charset="-122"/>
                <a:cs typeface="IBM Plex Sans" pitchFamily="34" charset="-120"/>
              </a:rPr>
              <a:t>исход</a:t>
            </a:r>
            <a:endParaRPr lang="en-US" sz="1200" dirty="0"/>
          </a:p>
        </p:txBody>
      </p:sp>
      <p:sp>
        <p:nvSpPr>
          <p:cNvPr id="35" name="Shape 24"/>
          <p:cNvSpPr/>
          <p:nvPr/>
        </p:nvSpPr>
        <p:spPr>
          <a:xfrm>
            <a:off x="812800" y="3725962"/>
            <a:ext cx="10566400" cy="783530"/>
          </a:xfrm>
          <a:prstGeom prst="roundRect">
            <a:avLst>
              <a:gd name="adj" fmla="val 12967"/>
            </a:avLst>
          </a:prstGeom>
          <a:solidFill>
            <a:srgbClr val="EAE7EE"/>
          </a:solidFill>
          <a:ln/>
        </p:spPr>
      </p:sp>
      <p:sp>
        <p:nvSpPr>
          <p:cNvPr id="36" name="Shape 25"/>
          <p:cNvSpPr/>
          <p:nvPr/>
        </p:nvSpPr>
        <p:spPr>
          <a:xfrm>
            <a:off x="812800" y="372596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37" name="Text 26"/>
          <p:cNvSpPr/>
          <p:nvPr/>
        </p:nvSpPr>
        <p:spPr>
          <a:xfrm>
            <a:off x="1054100" y="387836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38" name="Text 27"/>
          <p:cNvSpPr/>
          <p:nvPr/>
        </p:nvSpPr>
        <p:spPr>
          <a:xfrm>
            <a:off x="1054100" y="4117082"/>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Случај употребе има јасан улаз, експлицитан резултат и контролисане зависности.</a:t>
            </a:r>
            <a:endParaRPr lang="en-US" sz="1400" dirty="0"/>
          </a:p>
        </p:txBody>
      </p:sp>
      <p:sp>
        <p:nvSpPr>
          <p:cNvPr id="39" name="Shape 28"/>
          <p:cNvSpPr/>
          <p:nvPr/>
        </p:nvSpPr>
        <p:spPr>
          <a:xfrm>
            <a:off x="812800" y="6209705"/>
            <a:ext cx="10566400" cy="0"/>
          </a:xfrm>
          <a:prstGeom prst="line">
            <a:avLst/>
          </a:prstGeom>
          <a:noFill/>
          <a:ln w="6350">
            <a:solidFill>
              <a:srgbClr val="D3DAE1"/>
            </a:solidFill>
            <a:prstDash val="solid"/>
          </a:ln>
        </p:spPr>
      </p:sp>
      <p:sp>
        <p:nvSpPr>
          <p:cNvPr id="40"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1"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E7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6B3FA0"/>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21238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60350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Модел и правила</a:t>
            </a:r>
            <a:endParaRPr lang="en-US" sz="4800" dirty="0"/>
          </a:p>
        </p:txBody>
      </p:sp>
      <p:sp>
        <p:nvSpPr>
          <p:cNvPr id="5" name="Text 3"/>
          <p:cNvSpPr/>
          <p:nvPr/>
        </p:nvSpPr>
        <p:spPr>
          <a:xfrm>
            <a:off x="4267200" y="342136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Ко носи стање, ко проверава вредности, а ко спроводи правила сценарија.</a:t>
            </a:r>
            <a:endParaRPr lang="en-US" sz="1400" dirty="0"/>
          </a:p>
        </p:txBody>
      </p:sp>
      <p:sp>
        <p:nvSpPr>
          <p:cNvPr id="6" name="Text 4"/>
          <p:cNvSpPr/>
          <p:nvPr/>
        </p:nvSpPr>
        <p:spPr>
          <a:xfrm>
            <a:off x="4270375" y="4117876"/>
            <a:ext cx="729952"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Модел</a:t>
            </a:r>
            <a:endParaRPr lang="en-US" sz="1200" dirty="0"/>
          </a:p>
        </p:txBody>
      </p:sp>
      <p:sp>
        <p:nvSpPr>
          <p:cNvPr id="7" name="Text 5"/>
          <p:cNvSpPr/>
          <p:nvPr/>
        </p:nvSpPr>
        <p:spPr>
          <a:xfrm>
            <a:off x="5082877" y="4117876"/>
            <a:ext cx="1031677"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Валидатор</a:t>
            </a:r>
            <a:endParaRPr lang="en-US" sz="1200" dirty="0"/>
          </a:p>
        </p:txBody>
      </p:sp>
      <p:sp>
        <p:nvSpPr>
          <p:cNvPr id="8" name="Text 6"/>
          <p:cNvSpPr/>
          <p:nvPr/>
        </p:nvSpPr>
        <p:spPr>
          <a:xfrm>
            <a:off x="6197104" y="4117876"/>
            <a:ext cx="1520130"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Доменски сервис</a:t>
            </a:r>
            <a:endParaRPr lang="en-US" sz="1200" dirty="0"/>
          </a:p>
        </p:txBody>
      </p:sp>
      <p:sp>
        <p:nvSpPr>
          <p:cNvPr id="9" name="Text 7"/>
          <p:cNvSpPr/>
          <p:nvPr/>
        </p:nvSpPr>
        <p:spPr>
          <a:xfrm>
            <a:off x="7799784" y="4117876"/>
            <a:ext cx="1238945"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Factory метод</a:t>
            </a:r>
            <a:endParaRPr lang="en-US" sz="1200" dirty="0"/>
          </a:p>
        </p:txBody>
      </p:sp>
      <p:sp>
        <p:nvSpPr>
          <p:cNvPr id="10" name="Text 8"/>
          <p:cNvSpPr/>
          <p:nvPr/>
        </p:nvSpPr>
        <p:spPr>
          <a:xfrm>
            <a:off x="9121279" y="4117876"/>
            <a:ext cx="1157387"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Ограничења</a:t>
            </a:r>
            <a:endParaRPr lang="en-US" sz="1200" dirty="0"/>
          </a:p>
        </p:txBody>
      </p:sp>
      <p:sp>
        <p:nvSpPr>
          <p:cNvPr id="11" name="Shape 9"/>
          <p:cNvSpPr/>
          <p:nvPr/>
        </p:nvSpPr>
        <p:spPr>
          <a:xfrm>
            <a:off x="812800" y="6209705"/>
            <a:ext cx="10566400" cy="0"/>
          </a:xfrm>
          <a:prstGeom prst="line">
            <a:avLst/>
          </a:prstGeom>
          <a:noFill/>
          <a:ln w="6350">
            <a:solidFill>
              <a:srgbClr val="BDBAC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01 · МОДЕЛ И ПРАВИЛА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Модел и пословна правила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Модел представља стање, док валидатори и доменски сервиси проверавају ограничења и спроводе пословна правила.</a:t>
            </a:r>
            <a:endParaRPr lang="en-US" sz="1400" dirty="0"/>
          </a:p>
        </p:txBody>
      </p:sp>
      <p:sp>
        <p:nvSpPr>
          <p:cNvPr id="6" name="Shape 4"/>
          <p:cNvSpPr/>
          <p:nvPr/>
        </p:nvSpPr>
        <p:spPr>
          <a:xfrm>
            <a:off x="812800" y="2075061"/>
            <a:ext cx="10566400" cy="635000"/>
          </a:xfrm>
          <a:prstGeom prst="roundRect">
            <a:avLst>
              <a:gd name="adj" fmla="val 16000"/>
            </a:avLst>
          </a:prstGeom>
          <a:solidFill>
            <a:srgbClr val="6B3FA0"/>
          </a:solidFill>
          <a:ln/>
        </p:spPr>
      </p:sp>
      <p:sp>
        <p:nvSpPr>
          <p:cNvPr id="7" name="Shape 5"/>
          <p:cNvSpPr/>
          <p:nvPr/>
        </p:nvSpPr>
        <p:spPr>
          <a:xfrm>
            <a:off x="1016000" y="2214761"/>
            <a:ext cx="355600" cy="355600"/>
          </a:xfrm>
          <a:prstGeom prst="roundRect">
            <a:avLst>
              <a:gd name="adj" fmla="val 21429"/>
            </a:avLst>
          </a:prstGeom>
          <a:solidFill>
            <a:srgbClr val="FCFCFB"/>
          </a:solidFill>
          <a:ln/>
        </p:spPr>
      </p:sp>
      <p:pic>
        <p:nvPicPr>
          <p:cNvPr id="8" name="Image 0" descr="Settings">    </p:cNvPr>
          <p:cNvPicPr>
            <a:picLocks noChangeAspect="1"/>
          </p:cNvPicPr>
          <p:nvPr/>
        </p:nvPicPr>
        <p:blipFill>
          <a:blip r:embed="rId1"/>
          <a:srcRect l="0" r="0" t="0" b="0"/>
          <a:stretch/>
        </p:blipFill>
        <p:spPr>
          <a:xfrm>
            <a:off x="1092200" y="2290961"/>
            <a:ext cx="203200" cy="203200"/>
          </a:xfrm>
          <a:prstGeom prst="rect">
            <a:avLst/>
          </a:prstGeom>
        </p:spPr>
      </p:pic>
      <p:sp>
        <p:nvSpPr>
          <p:cNvPr id="9" name="Text 6"/>
          <p:cNvSpPr/>
          <p:nvPr/>
        </p:nvSpPr>
        <p:spPr>
          <a:xfrm>
            <a:off x="1524000" y="2270621"/>
            <a:ext cx="17451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CFB"/>
                </a:solidFill>
                <a:latin typeface="IBM Plex Sans" pitchFamily="34" charset="0"/>
                <a:ea typeface="IBM Plex Sans" pitchFamily="34" charset="-122"/>
                <a:cs typeface="IBM Plex Sans" pitchFamily="34" charset="-120"/>
              </a:rPr>
              <a:t>Случај употребе</a:t>
            </a:r>
            <a:endParaRPr lang="en-US" sz="1600" dirty="0"/>
          </a:p>
        </p:txBody>
      </p:sp>
      <p:sp>
        <p:nvSpPr>
          <p:cNvPr id="10" name="Text 7"/>
          <p:cNvSpPr/>
          <p:nvPr/>
        </p:nvSpPr>
        <p:spPr>
          <a:xfrm>
            <a:off x="3269159" y="2281138"/>
            <a:ext cx="814404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E4F2"/>
                </a:solidFill>
                <a:latin typeface="IBM Plex Sans" pitchFamily="34" charset="0"/>
                <a:ea typeface="IBM Plex Sans" pitchFamily="34" charset="-122"/>
                <a:cs typeface="IBM Plex Sans" pitchFamily="34" charset="-120"/>
              </a:rPr>
              <a:t>координише валидаторе, доменске сервисе и портове</a:t>
            </a:r>
            <a:endParaRPr lang="en-US" sz="1300" dirty="0"/>
          </a:p>
        </p:txBody>
      </p:sp>
      <p:pic>
        <p:nvPicPr>
          <p:cNvPr id="11" name="Image 1" descr="arrow-down">    </p:cNvPr>
          <p:cNvPicPr>
            <a:picLocks noChangeAspect="1"/>
          </p:cNvPicPr>
          <p:nvPr/>
        </p:nvPicPr>
        <p:blipFill>
          <a:blip r:embed="rId2"/>
          <a:srcRect l="0" r="0" t="0" b="0"/>
          <a:stretch/>
        </p:blipFill>
        <p:spPr>
          <a:xfrm>
            <a:off x="2453184" y="2913261"/>
            <a:ext cx="139700" cy="228600"/>
          </a:xfrm>
          <a:prstGeom prst="rect">
            <a:avLst/>
          </a:prstGeom>
        </p:spPr>
      </p:pic>
      <p:pic>
        <p:nvPicPr>
          <p:cNvPr id="12" name="Image 2" descr="arrow-down">    </p:cNvPr>
          <p:cNvPicPr>
            <a:picLocks noChangeAspect="1"/>
          </p:cNvPicPr>
          <p:nvPr/>
        </p:nvPicPr>
        <p:blipFill>
          <a:blip r:embed="rId3"/>
          <a:srcRect l="0" r="0" t="0" b="0"/>
          <a:stretch/>
        </p:blipFill>
        <p:spPr>
          <a:xfrm>
            <a:off x="6026150" y="2913261"/>
            <a:ext cx="139700" cy="228600"/>
          </a:xfrm>
          <a:prstGeom prst="rect">
            <a:avLst/>
          </a:prstGeom>
        </p:spPr>
      </p:pic>
      <p:pic>
        <p:nvPicPr>
          <p:cNvPr id="13" name="Image 3" descr="arrow-down">    </p:cNvPr>
          <p:cNvPicPr>
            <a:picLocks noChangeAspect="1"/>
          </p:cNvPicPr>
          <p:nvPr/>
        </p:nvPicPr>
        <p:blipFill>
          <a:blip r:embed="rId4"/>
          <a:srcRect l="0" r="0" t="0" b="0"/>
          <a:stretch/>
        </p:blipFill>
        <p:spPr>
          <a:xfrm>
            <a:off x="9599017" y="2913261"/>
            <a:ext cx="139700" cy="228600"/>
          </a:xfrm>
          <a:prstGeom prst="rect">
            <a:avLst/>
          </a:prstGeom>
        </p:spPr>
      </p:pic>
      <p:sp>
        <p:nvSpPr>
          <p:cNvPr id="14" name="Shape 8"/>
          <p:cNvSpPr/>
          <p:nvPr/>
        </p:nvSpPr>
        <p:spPr>
          <a:xfrm>
            <a:off x="815975" y="3348236"/>
            <a:ext cx="3414117" cy="1475581"/>
          </a:xfrm>
          <a:prstGeom prst="roundRect">
            <a:avLst>
              <a:gd name="adj" fmla="val 6670"/>
            </a:avLst>
          </a:prstGeom>
          <a:solidFill>
            <a:srgbClr val="FCFCFB"/>
          </a:solidFill>
          <a:ln w="6350">
            <a:solidFill>
              <a:srgbClr val="D3DAE1"/>
            </a:solidFill>
            <a:prstDash val="solid"/>
          </a:ln>
        </p:spPr>
      </p:sp>
      <p:sp>
        <p:nvSpPr>
          <p:cNvPr id="15" name="Text 9"/>
          <p:cNvSpPr/>
          <p:nvPr/>
        </p:nvSpPr>
        <p:spPr>
          <a:xfrm>
            <a:off x="1009650" y="3516511"/>
            <a:ext cx="31175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МОДЕЛ</a:t>
            </a:r>
            <a:endParaRPr lang="en-US" sz="1200" dirty="0"/>
          </a:p>
        </p:txBody>
      </p:sp>
      <p:sp>
        <p:nvSpPr>
          <p:cNvPr id="16" name="Text 10"/>
          <p:cNvSpPr/>
          <p:nvPr/>
        </p:nvSpPr>
        <p:spPr>
          <a:xfrm>
            <a:off x="1009650" y="3806031"/>
            <a:ext cx="31175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Reservation</a:t>
            </a:r>
            <a:endParaRPr lang="en-US" sz="1500" dirty="0"/>
          </a:p>
        </p:txBody>
      </p:sp>
      <p:sp>
        <p:nvSpPr>
          <p:cNvPr id="17" name="Shape 11"/>
          <p:cNvSpPr/>
          <p:nvPr/>
        </p:nvSpPr>
        <p:spPr>
          <a:xfrm>
            <a:off x="1009650" y="4114006"/>
            <a:ext cx="3026767" cy="0"/>
          </a:xfrm>
          <a:prstGeom prst="line">
            <a:avLst/>
          </a:prstGeom>
          <a:noFill/>
          <a:ln w="6350">
            <a:solidFill>
              <a:srgbClr val="E3E8EE"/>
            </a:solidFill>
            <a:prstDash val="solid"/>
          </a:ln>
        </p:spPr>
      </p:sp>
      <p:sp>
        <p:nvSpPr>
          <p:cNvPr id="18" name="Text 12"/>
          <p:cNvSpPr/>
          <p:nvPr/>
        </p:nvSpPr>
        <p:spPr>
          <a:xfrm>
            <a:off x="1009650" y="4193381"/>
            <a:ext cx="31175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садржи податке о периоду и стању</a:t>
            </a:r>
            <a:endParaRPr lang="en-US" sz="1300" dirty="0"/>
          </a:p>
        </p:txBody>
      </p:sp>
      <p:sp>
        <p:nvSpPr>
          <p:cNvPr id="19" name="Shape 13"/>
          <p:cNvSpPr/>
          <p:nvPr/>
        </p:nvSpPr>
        <p:spPr>
          <a:xfrm>
            <a:off x="4388842" y="3348236"/>
            <a:ext cx="3414216" cy="1475581"/>
          </a:xfrm>
          <a:prstGeom prst="roundRect">
            <a:avLst>
              <a:gd name="adj" fmla="val 6670"/>
            </a:avLst>
          </a:prstGeom>
          <a:solidFill>
            <a:srgbClr val="FCFCFB"/>
          </a:solidFill>
          <a:ln w="6350">
            <a:solidFill>
              <a:srgbClr val="D3DAE1"/>
            </a:solidFill>
            <a:prstDash val="solid"/>
          </a:ln>
        </p:spPr>
      </p:sp>
      <p:sp>
        <p:nvSpPr>
          <p:cNvPr id="20" name="Text 14"/>
          <p:cNvSpPr/>
          <p:nvPr/>
        </p:nvSpPr>
        <p:spPr>
          <a:xfrm>
            <a:off x="4582517" y="3516511"/>
            <a:ext cx="31176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ВАЛИДАТОР</a:t>
            </a:r>
            <a:endParaRPr lang="en-US" sz="1200" dirty="0"/>
          </a:p>
        </p:txBody>
      </p:sp>
      <p:sp>
        <p:nvSpPr>
          <p:cNvPr id="21" name="Text 15"/>
          <p:cNvSpPr/>
          <p:nvPr/>
        </p:nvSpPr>
        <p:spPr>
          <a:xfrm>
            <a:off x="4582517" y="3806031"/>
            <a:ext cx="311767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ReservationValidator</a:t>
            </a:r>
            <a:endParaRPr lang="en-US" sz="1500" dirty="0"/>
          </a:p>
        </p:txBody>
      </p:sp>
      <p:sp>
        <p:nvSpPr>
          <p:cNvPr id="22" name="Shape 16"/>
          <p:cNvSpPr/>
          <p:nvPr/>
        </p:nvSpPr>
        <p:spPr>
          <a:xfrm>
            <a:off x="4582517" y="4114006"/>
            <a:ext cx="3026866" cy="0"/>
          </a:xfrm>
          <a:prstGeom prst="line">
            <a:avLst/>
          </a:prstGeom>
          <a:noFill/>
          <a:ln w="6350">
            <a:solidFill>
              <a:srgbClr val="E3E8EE"/>
            </a:solidFill>
            <a:prstDash val="solid"/>
          </a:ln>
        </p:spPr>
      </p:sp>
      <p:sp>
        <p:nvSpPr>
          <p:cNvPr id="23" name="Text 17"/>
          <p:cNvSpPr/>
          <p:nvPr/>
        </p:nvSpPr>
        <p:spPr>
          <a:xfrm>
            <a:off x="4582517" y="4193381"/>
            <a:ext cx="311767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проверава дозвољене вредности</a:t>
            </a:r>
            <a:endParaRPr lang="en-US" sz="1300" dirty="0"/>
          </a:p>
        </p:txBody>
      </p:sp>
      <p:sp>
        <p:nvSpPr>
          <p:cNvPr id="24" name="Shape 18"/>
          <p:cNvSpPr/>
          <p:nvPr/>
        </p:nvSpPr>
        <p:spPr>
          <a:xfrm>
            <a:off x="7961809" y="3348236"/>
            <a:ext cx="3414216" cy="1475581"/>
          </a:xfrm>
          <a:prstGeom prst="roundRect">
            <a:avLst>
              <a:gd name="adj" fmla="val 6670"/>
            </a:avLst>
          </a:prstGeom>
          <a:solidFill>
            <a:srgbClr val="FCFCFB"/>
          </a:solidFill>
          <a:ln w="6350">
            <a:solidFill>
              <a:srgbClr val="D3DAE1"/>
            </a:solidFill>
            <a:prstDash val="solid"/>
          </a:ln>
        </p:spPr>
      </p:sp>
      <p:sp>
        <p:nvSpPr>
          <p:cNvPr id="25" name="Text 19"/>
          <p:cNvSpPr/>
          <p:nvPr/>
        </p:nvSpPr>
        <p:spPr>
          <a:xfrm>
            <a:off x="8155484" y="3516511"/>
            <a:ext cx="31176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ДОМЕНСКИ СЕРВИС</a:t>
            </a:r>
            <a:endParaRPr lang="en-US" sz="1200" dirty="0"/>
          </a:p>
        </p:txBody>
      </p:sp>
      <p:sp>
        <p:nvSpPr>
          <p:cNvPr id="26" name="Text 20"/>
          <p:cNvSpPr/>
          <p:nvPr/>
        </p:nvSpPr>
        <p:spPr>
          <a:xfrm>
            <a:off x="8155484" y="3806031"/>
            <a:ext cx="311767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правила сценарија</a:t>
            </a:r>
            <a:endParaRPr lang="en-US" sz="1500" dirty="0"/>
          </a:p>
        </p:txBody>
      </p:sp>
      <p:sp>
        <p:nvSpPr>
          <p:cNvPr id="27" name="Shape 21"/>
          <p:cNvSpPr/>
          <p:nvPr/>
        </p:nvSpPr>
        <p:spPr>
          <a:xfrm>
            <a:off x="8155484" y="4114006"/>
            <a:ext cx="3026866" cy="0"/>
          </a:xfrm>
          <a:prstGeom prst="line">
            <a:avLst/>
          </a:prstGeom>
          <a:noFill/>
          <a:ln w="6350">
            <a:solidFill>
              <a:srgbClr val="E3E8EE"/>
            </a:solidFill>
            <a:prstDash val="solid"/>
          </a:ln>
        </p:spPr>
      </p:sp>
      <p:sp>
        <p:nvSpPr>
          <p:cNvPr id="28" name="Text 22"/>
          <p:cNvSpPr/>
          <p:nvPr/>
        </p:nvSpPr>
        <p:spPr>
          <a:xfrm>
            <a:off x="8155484" y="4193381"/>
            <a:ext cx="311767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спроводи правила која обухватају више објеката</a:t>
            </a:r>
            <a:endParaRPr lang="en-US" sz="1300" dirty="0"/>
          </a:p>
        </p:txBody>
      </p:sp>
      <p:sp>
        <p:nvSpPr>
          <p:cNvPr id="29" name="Shape 23"/>
          <p:cNvSpPr/>
          <p:nvPr/>
        </p:nvSpPr>
        <p:spPr>
          <a:xfrm>
            <a:off x="812800" y="6209705"/>
            <a:ext cx="10566400" cy="0"/>
          </a:xfrm>
          <a:prstGeom prst="line">
            <a:avLst/>
          </a:prstGeom>
          <a:noFill/>
          <a:ln w="6350">
            <a:solidFill>
              <a:srgbClr val="D3DAE1"/>
            </a:solidFill>
            <a:prstDash val="solid"/>
          </a:ln>
        </p:spPr>
      </p:sp>
      <p:sp>
        <p:nvSpPr>
          <p:cNvPr id="30" name="Text 2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1" name="Text 2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01 · МОДЕЛ И ПРАВИЛА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Factory метод и валидно стање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Factory метод користи валидацију приликом креирања модела и враћа експлицитан Result.</a:t>
            </a:r>
            <a:endParaRPr lang="en-US" sz="1400" dirty="0"/>
          </a:p>
        </p:txBody>
      </p:sp>
      <p:sp>
        <p:nvSpPr>
          <p:cNvPr id="6" name="Shape 4"/>
          <p:cNvSpPr/>
          <p:nvPr/>
        </p:nvSpPr>
        <p:spPr>
          <a:xfrm>
            <a:off x="815975" y="2129036"/>
            <a:ext cx="7740650" cy="3201194"/>
          </a:xfrm>
          <a:prstGeom prst="roundRect">
            <a:avLst>
              <a:gd name="adj" fmla="val 3075"/>
            </a:avLst>
          </a:prstGeom>
          <a:solidFill>
            <a:srgbClr val="FCFCFB"/>
          </a:solidFill>
          <a:ln w="6350">
            <a:solidFill>
              <a:srgbClr val="D3DAE1"/>
            </a:solidFill>
            <a:prstDash val="solid"/>
          </a:ln>
        </p:spPr>
      </p:sp>
      <p:sp>
        <p:nvSpPr>
          <p:cNvPr id="7" name="Text 5"/>
          <p:cNvSpPr/>
          <p:nvPr/>
        </p:nvSpPr>
        <p:spPr>
          <a:xfrm>
            <a:off x="1022350" y="2284611"/>
            <a:ext cx="75477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Domain</a:t>
            </a:r>
            <a:endParaRPr lang="en-US" sz="1200" dirty="0"/>
          </a:p>
        </p:txBody>
      </p:sp>
      <p:sp>
        <p:nvSpPr>
          <p:cNvPr id="8" name="Text 6"/>
          <p:cNvSpPr/>
          <p:nvPr/>
        </p:nvSpPr>
        <p:spPr>
          <a:xfrm>
            <a:off x="1022350" y="25741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ReservationMaker</a:t>
            </a:r>
            <a:endParaRPr lang="en-US" sz="1200" dirty="0"/>
          </a:p>
        </p:txBody>
      </p:sp>
      <p:sp>
        <p:nvSpPr>
          <p:cNvPr id="10" name="Text 8"/>
          <p:cNvSpPr/>
          <p:nvPr/>
        </p:nvSpPr>
        <p:spPr>
          <a:xfrm>
            <a:off x="1022350" y="28128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12852"/>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30515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3051572"/>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Result&lt;Reservation&gt; Create(DateTime from, DateTime to)</a:t>
            </a:r>
            <a:endParaRPr lang="en-US" sz="1200" dirty="0"/>
          </a:p>
        </p:txBody>
      </p:sp>
      <p:sp>
        <p:nvSpPr>
          <p:cNvPr id="14" name="Text 12"/>
          <p:cNvSpPr/>
          <p:nvPr/>
        </p:nvSpPr>
        <p:spPr>
          <a:xfrm>
            <a:off x="1022350" y="32902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290292"/>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6" name="Text 14"/>
          <p:cNvSpPr/>
          <p:nvPr/>
        </p:nvSpPr>
        <p:spPr>
          <a:xfrm>
            <a:off x="1022350" y="3529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529013"/>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(from &gt;= to)</a:t>
            </a:r>
            <a:endParaRPr lang="en-US" sz="1200" dirty="0"/>
          </a:p>
        </p:txBody>
      </p:sp>
      <p:sp>
        <p:nvSpPr>
          <p:cNvPr id="18" name="Text 16"/>
          <p:cNvSpPr/>
          <p:nvPr/>
        </p:nvSpPr>
        <p:spPr>
          <a:xfrm>
            <a:off x="1022350" y="37677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403350" y="3767733"/>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Result&lt;Reservation&gt;.Fail(</a:t>
            </a:r>
            <a:r>
              <a:rPr lang="en-US" sz="1200" dirty="0">
                <a:solidFill>
                  <a:srgbClr val="A8520A"/>
                </a:solidFill>
                <a:latin typeface="IBM Plex Mono" pitchFamily="49" charset="0"/>
                <a:ea typeface="IBM Plex Mono" pitchFamily="49" charset="-122"/>
                <a:cs typeface="IBM Plex Mono" pitchFamily="49" charset="-120"/>
              </a:rPr>
              <a:t>"InvalidPeriod"</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8"/>
          <p:cNvSpPr/>
          <p:nvPr/>
        </p:nvSpPr>
        <p:spPr>
          <a:xfrm>
            <a:off x="1022350" y="40064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022350" y="42451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403350" y="4245173"/>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Result&lt;Reservation&gt;.Ok(</a:t>
            </a:r>
            <a:endParaRPr lang="en-US" sz="1200" dirty="0"/>
          </a:p>
        </p:txBody>
      </p:sp>
      <p:sp>
        <p:nvSpPr>
          <p:cNvPr id="23" name="Text 21"/>
          <p:cNvSpPr/>
          <p:nvPr/>
        </p:nvSpPr>
        <p:spPr>
          <a:xfrm>
            <a:off x="1022350" y="4483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403350" y="4483894"/>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Reservation(from, to));</a:t>
            </a:r>
            <a:endParaRPr lang="en-US" sz="1200" dirty="0"/>
          </a:p>
        </p:txBody>
      </p:sp>
      <p:sp>
        <p:nvSpPr>
          <p:cNvPr id="25" name="Text 23"/>
          <p:cNvSpPr/>
          <p:nvPr/>
        </p:nvSpPr>
        <p:spPr>
          <a:xfrm>
            <a:off x="1022350" y="47226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403350" y="4722614"/>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7" name="Text 25"/>
          <p:cNvSpPr/>
          <p:nvPr/>
        </p:nvSpPr>
        <p:spPr>
          <a:xfrm>
            <a:off x="1022350" y="49613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403350" y="4961334"/>
            <a:ext cx="71553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Text 27"/>
          <p:cNvSpPr/>
          <p:nvPr/>
        </p:nvSpPr>
        <p:spPr>
          <a:xfrm>
            <a:off x="8839200" y="2125861"/>
            <a:ext cx="26162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0" name="Shape 28"/>
          <p:cNvSpPr/>
          <p:nvPr/>
        </p:nvSpPr>
        <p:spPr>
          <a:xfrm>
            <a:off x="8851900" y="2466181"/>
            <a:ext cx="0" cy="718641"/>
          </a:xfrm>
          <a:prstGeom prst="line">
            <a:avLst/>
          </a:prstGeom>
          <a:noFill/>
          <a:ln w="25400">
            <a:solidFill>
              <a:srgbClr val="6B3FA0"/>
            </a:solidFill>
            <a:prstDash val="solid"/>
          </a:ln>
        </p:spPr>
      </p:sp>
      <p:sp>
        <p:nvSpPr>
          <p:cNvPr id="31" name="Text 29"/>
          <p:cNvSpPr/>
          <p:nvPr/>
        </p:nvSpPr>
        <p:spPr>
          <a:xfrm>
            <a:off x="9004300" y="2478881"/>
            <a:ext cx="244614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Конструктор модела може бити internal, па модел настаје само кроз factory.</a:t>
            </a:r>
            <a:endParaRPr lang="en-US" sz="1300" dirty="0"/>
          </a:p>
        </p:txBody>
      </p:sp>
      <p:sp>
        <p:nvSpPr>
          <p:cNvPr id="32" name="Shape 30"/>
          <p:cNvSpPr/>
          <p:nvPr/>
        </p:nvSpPr>
        <p:spPr>
          <a:xfrm>
            <a:off x="8851900" y="3311823"/>
            <a:ext cx="0" cy="487561"/>
          </a:xfrm>
          <a:prstGeom prst="line">
            <a:avLst/>
          </a:prstGeom>
          <a:noFill/>
          <a:ln w="25400">
            <a:solidFill>
              <a:srgbClr val="6B3FA0"/>
            </a:solidFill>
            <a:prstDash val="solid"/>
          </a:ln>
        </p:spPr>
      </p:sp>
      <p:sp>
        <p:nvSpPr>
          <p:cNvPr id="33" name="Text 31"/>
          <p:cNvSpPr/>
          <p:nvPr/>
        </p:nvSpPr>
        <p:spPr>
          <a:xfrm>
            <a:off x="9004300" y="3324523"/>
            <a:ext cx="244614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Factory спречава очигледно невалидно стање.</a:t>
            </a:r>
            <a:endParaRPr lang="en-US" sz="1300" dirty="0"/>
          </a:p>
        </p:txBody>
      </p:sp>
      <p:sp>
        <p:nvSpPr>
          <p:cNvPr id="34" name="Shape 32"/>
          <p:cNvSpPr/>
          <p:nvPr/>
        </p:nvSpPr>
        <p:spPr>
          <a:xfrm>
            <a:off x="8851900" y="3926384"/>
            <a:ext cx="0" cy="718641"/>
          </a:xfrm>
          <a:prstGeom prst="line">
            <a:avLst/>
          </a:prstGeom>
          <a:noFill/>
          <a:ln w="25400">
            <a:solidFill>
              <a:srgbClr val="E07B1F"/>
            </a:solidFill>
            <a:prstDash val="solid"/>
          </a:ln>
        </p:spPr>
      </p:sp>
      <p:sp>
        <p:nvSpPr>
          <p:cNvPr id="35" name="Text 33"/>
          <p:cNvSpPr/>
          <p:nvPr/>
        </p:nvSpPr>
        <p:spPr>
          <a:xfrm>
            <a:off x="9004300" y="3939084"/>
            <a:ext cx="244614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Ентитет чува сопствене инваријанте, а правила сценарија остају у сервисима.</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01 · МОДЕЛ И ПРАВИЛА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Ограничења валидног модела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Валидатор проверава ограничења вредности пре покретања пословног сценарија.</a:t>
            </a:r>
            <a:endParaRPr lang="en-US" sz="1400" dirty="0"/>
          </a:p>
        </p:txBody>
      </p:sp>
      <p:sp>
        <p:nvSpPr>
          <p:cNvPr id="6" name="Shape 4"/>
          <p:cNvSpPr/>
          <p:nvPr/>
        </p:nvSpPr>
        <p:spPr>
          <a:xfrm>
            <a:off x="815975" y="2179836"/>
            <a:ext cx="3414117" cy="2059682"/>
          </a:xfrm>
          <a:prstGeom prst="roundRect">
            <a:avLst>
              <a:gd name="adj" fmla="val 4779"/>
            </a:avLst>
          </a:prstGeom>
          <a:solidFill>
            <a:srgbClr val="FCFCFB"/>
          </a:solidFill>
          <a:ln w="6350">
            <a:solidFill>
              <a:srgbClr val="D3DAE1"/>
            </a:solidFill>
            <a:prstDash val="solid"/>
          </a:ln>
        </p:spPr>
      </p:sp>
      <p:sp>
        <p:nvSpPr>
          <p:cNvPr id="7" name="Shape 5"/>
          <p:cNvSpPr/>
          <p:nvPr/>
        </p:nvSpPr>
        <p:spPr>
          <a:xfrm>
            <a:off x="1022350" y="2378571"/>
            <a:ext cx="355600" cy="355600"/>
          </a:xfrm>
          <a:prstGeom prst="roundRect">
            <a:avLst>
              <a:gd name="adj" fmla="val 21429"/>
            </a:avLst>
          </a:prstGeom>
          <a:solidFill>
            <a:srgbClr val="EAE4F2"/>
          </a:solidFill>
          <a:ln/>
        </p:spPr>
      </p:sp>
      <p:pic>
        <p:nvPicPr>
          <p:cNvPr id="8" name="Image 0" descr="Clock">    </p:cNvPr>
          <p:cNvPicPr>
            <a:picLocks noChangeAspect="1"/>
          </p:cNvPicPr>
          <p:nvPr/>
        </p:nvPicPr>
        <p:blipFill>
          <a:blip r:embed="rId1"/>
          <a:srcRect l="0" r="0" t="0" b="0"/>
          <a:stretch/>
        </p:blipFill>
        <p:spPr>
          <a:xfrm>
            <a:off x="1098550" y="2454771"/>
            <a:ext cx="203200" cy="203200"/>
          </a:xfrm>
          <a:prstGeom prst="rect">
            <a:avLst/>
          </a:prstGeom>
        </p:spPr>
      </p:pic>
      <p:sp>
        <p:nvSpPr>
          <p:cNvPr id="9" name="Text 6"/>
          <p:cNvSpPr/>
          <p:nvPr/>
        </p:nvSpPr>
        <p:spPr>
          <a:xfrm>
            <a:off x="1479550"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01</a:t>
            </a:r>
            <a:endParaRPr lang="en-US" sz="2200" dirty="0"/>
          </a:p>
        </p:txBody>
      </p:sp>
      <p:sp>
        <p:nvSpPr>
          <p:cNvPr id="10" name="Text 7"/>
          <p:cNvSpPr/>
          <p:nvPr/>
        </p:nvSpPr>
        <p:spPr>
          <a:xfrm>
            <a:off x="1022350" y="285353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Период</a:t>
            </a:r>
            <a:endParaRPr lang="en-US" sz="1600" dirty="0"/>
          </a:p>
        </p:txBody>
      </p:sp>
      <p:sp>
        <p:nvSpPr>
          <p:cNvPr id="11" name="Text 8"/>
          <p:cNvSpPr/>
          <p:nvPr/>
        </p:nvSpPr>
        <p:spPr>
          <a:xfrm>
            <a:off x="1022350" y="3198912"/>
            <a:ext cx="30914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почетак мора бити пре краја</a:t>
            </a:r>
            <a:endParaRPr lang="en-US" sz="1300" dirty="0"/>
          </a:p>
        </p:txBody>
      </p:sp>
      <p:sp>
        <p:nvSpPr>
          <p:cNvPr id="12" name="Shape 9"/>
          <p:cNvSpPr/>
          <p:nvPr/>
        </p:nvSpPr>
        <p:spPr>
          <a:xfrm>
            <a:off x="1022350" y="3534767"/>
            <a:ext cx="3001367" cy="0"/>
          </a:xfrm>
          <a:prstGeom prst="line">
            <a:avLst/>
          </a:prstGeom>
          <a:noFill/>
          <a:ln w="6350">
            <a:solidFill>
              <a:srgbClr val="E3E8EE"/>
            </a:solidFill>
            <a:prstDash val="solid"/>
          </a:ln>
        </p:spPr>
      </p:sp>
      <p:sp>
        <p:nvSpPr>
          <p:cNvPr id="13" name="Text 10"/>
          <p:cNvSpPr/>
          <p:nvPr/>
        </p:nvSpPr>
        <p:spPr>
          <a:xfrm>
            <a:off x="1022350" y="3614142"/>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InvalidPeriod</a:t>
            </a:r>
            <a:endParaRPr lang="en-US" sz="1200" dirty="0"/>
          </a:p>
        </p:txBody>
      </p:sp>
      <p:sp>
        <p:nvSpPr>
          <p:cNvPr id="14" name="Shape 11"/>
          <p:cNvSpPr/>
          <p:nvPr/>
        </p:nvSpPr>
        <p:spPr>
          <a:xfrm>
            <a:off x="4388842" y="2179836"/>
            <a:ext cx="3414216" cy="2059682"/>
          </a:xfrm>
          <a:prstGeom prst="roundRect">
            <a:avLst>
              <a:gd name="adj" fmla="val 4779"/>
            </a:avLst>
          </a:prstGeom>
          <a:solidFill>
            <a:srgbClr val="FCFCFB"/>
          </a:solidFill>
          <a:ln w="6350">
            <a:solidFill>
              <a:srgbClr val="D3DAE1"/>
            </a:solidFill>
            <a:prstDash val="solid"/>
          </a:ln>
        </p:spPr>
      </p:sp>
      <p:sp>
        <p:nvSpPr>
          <p:cNvPr id="15" name="Shape 12"/>
          <p:cNvSpPr/>
          <p:nvPr/>
        </p:nvSpPr>
        <p:spPr>
          <a:xfrm>
            <a:off x="4595217" y="2378571"/>
            <a:ext cx="355600" cy="355600"/>
          </a:xfrm>
          <a:prstGeom prst="roundRect">
            <a:avLst>
              <a:gd name="adj" fmla="val 21429"/>
            </a:avLst>
          </a:prstGeom>
          <a:solidFill>
            <a:srgbClr val="EAE4F2"/>
          </a:solidFill>
          <a:ln/>
        </p:spPr>
      </p:sp>
      <p:pic>
        <p:nvPicPr>
          <p:cNvPr id="16" name="Image 1" descr="Lock">    </p:cNvPr>
          <p:cNvPicPr>
            <a:picLocks noChangeAspect="1"/>
          </p:cNvPicPr>
          <p:nvPr/>
        </p:nvPicPr>
        <p:blipFill>
          <a:blip r:embed="rId2"/>
          <a:srcRect l="0" r="0" t="0" b="0"/>
          <a:stretch/>
        </p:blipFill>
        <p:spPr>
          <a:xfrm>
            <a:off x="4671417" y="2454771"/>
            <a:ext cx="203200" cy="203200"/>
          </a:xfrm>
          <a:prstGeom prst="rect">
            <a:avLst/>
          </a:prstGeom>
        </p:spPr>
      </p:pic>
      <p:sp>
        <p:nvSpPr>
          <p:cNvPr id="17" name="Text 13"/>
          <p:cNvSpPr/>
          <p:nvPr/>
        </p:nvSpPr>
        <p:spPr>
          <a:xfrm>
            <a:off x="5052417"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02</a:t>
            </a:r>
            <a:endParaRPr lang="en-US" sz="2200" dirty="0"/>
          </a:p>
        </p:txBody>
      </p:sp>
      <p:sp>
        <p:nvSpPr>
          <p:cNvPr id="18" name="Text 14"/>
          <p:cNvSpPr/>
          <p:nvPr/>
        </p:nvSpPr>
        <p:spPr>
          <a:xfrm>
            <a:off x="4595217"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Стање</a:t>
            </a:r>
            <a:endParaRPr lang="en-US" sz="1600" dirty="0"/>
          </a:p>
        </p:txBody>
      </p:sp>
      <p:sp>
        <p:nvSpPr>
          <p:cNvPr id="19" name="Text 15"/>
          <p:cNvSpPr/>
          <p:nvPr/>
        </p:nvSpPr>
        <p:spPr>
          <a:xfrm>
            <a:off x="4595217" y="319891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отказана резервација се не отказује поново</a:t>
            </a:r>
            <a:endParaRPr lang="en-US" sz="1300" dirty="0"/>
          </a:p>
        </p:txBody>
      </p:sp>
      <p:sp>
        <p:nvSpPr>
          <p:cNvPr id="20" name="Shape 16"/>
          <p:cNvSpPr/>
          <p:nvPr/>
        </p:nvSpPr>
        <p:spPr>
          <a:xfrm>
            <a:off x="4595217" y="3765848"/>
            <a:ext cx="3001466" cy="0"/>
          </a:xfrm>
          <a:prstGeom prst="line">
            <a:avLst/>
          </a:prstGeom>
          <a:noFill/>
          <a:ln w="6350">
            <a:solidFill>
              <a:srgbClr val="E3E8EE"/>
            </a:solidFill>
            <a:prstDash val="solid"/>
          </a:ln>
        </p:spPr>
      </p:sp>
      <p:sp>
        <p:nvSpPr>
          <p:cNvPr id="21" name="Text 17"/>
          <p:cNvSpPr/>
          <p:nvPr/>
        </p:nvSpPr>
        <p:spPr>
          <a:xfrm>
            <a:off x="4595217" y="384522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AlreadyCancelled</a:t>
            </a:r>
            <a:endParaRPr lang="en-US" sz="1200" dirty="0"/>
          </a:p>
        </p:txBody>
      </p:sp>
      <p:sp>
        <p:nvSpPr>
          <p:cNvPr id="22" name="Shape 18"/>
          <p:cNvSpPr/>
          <p:nvPr/>
        </p:nvSpPr>
        <p:spPr>
          <a:xfrm>
            <a:off x="7961809" y="2179836"/>
            <a:ext cx="3414216" cy="2059682"/>
          </a:xfrm>
          <a:prstGeom prst="roundRect">
            <a:avLst>
              <a:gd name="adj" fmla="val 4779"/>
            </a:avLst>
          </a:prstGeom>
          <a:solidFill>
            <a:srgbClr val="FCFCFB"/>
          </a:solidFill>
          <a:ln w="6350">
            <a:solidFill>
              <a:srgbClr val="D3DAE1"/>
            </a:solidFill>
            <a:prstDash val="solid"/>
          </a:ln>
        </p:spPr>
      </p:sp>
      <p:sp>
        <p:nvSpPr>
          <p:cNvPr id="23" name="Shape 19"/>
          <p:cNvSpPr/>
          <p:nvPr/>
        </p:nvSpPr>
        <p:spPr>
          <a:xfrm>
            <a:off x="8168184" y="2378571"/>
            <a:ext cx="355600" cy="355600"/>
          </a:xfrm>
          <a:prstGeom prst="roundRect">
            <a:avLst>
              <a:gd name="adj" fmla="val 21429"/>
            </a:avLst>
          </a:prstGeom>
          <a:solidFill>
            <a:srgbClr val="EAE4F2"/>
          </a:solidFill>
          <a:ln/>
        </p:spPr>
      </p:sp>
      <p:pic>
        <p:nvPicPr>
          <p:cNvPr id="24" name="Image 2" descr="Activity">    </p:cNvPr>
          <p:cNvPicPr>
            <a:picLocks noChangeAspect="1"/>
          </p:cNvPicPr>
          <p:nvPr/>
        </p:nvPicPr>
        <p:blipFill>
          <a:blip r:embed="rId3"/>
          <a:srcRect l="0" r="0" t="0" b="0"/>
          <a:stretch/>
        </p:blipFill>
        <p:spPr>
          <a:xfrm>
            <a:off x="8244384" y="2454771"/>
            <a:ext cx="203200" cy="203200"/>
          </a:xfrm>
          <a:prstGeom prst="rect">
            <a:avLst/>
          </a:prstGeom>
        </p:spPr>
      </p:pic>
      <p:sp>
        <p:nvSpPr>
          <p:cNvPr id="25" name="Text 20"/>
          <p:cNvSpPr/>
          <p:nvPr/>
        </p:nvSpPr>
        <p:spPr>
          <a:xfrm>
            <a:off x="8625384" y="23608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03</a:t>
            </a:r>
            <a:endParaRPr lang="en-US" sz="2200" dirty="0"/>
          </a:p>
        </p:txBody>
      </p:sp>
      <p:sp>
        <p:nvSpPr>
          <p:cNvPr id="26" name="Text 21"/>
          <p:cNvSpPr/>
          <p:nvPr/>
        </p:nvSpPr>
        <p:spPr>
          <a:xfrm>
            <a:off x="8168184" y="285353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Време</a:t>
            </a:r>
            <a:endParaRPr lang="en-US" sz="1600" dirty="0"/>
          </a:p>
        </p:txBody>
      </p:sp>
      <p:sp>
        <p:nvSpPr>
          <p:cNvPr id="27" name="Text 22"/>
          <p:cNvSpPr/>
          <p:nvPr/>
        </p:nvSpPr>
        <p:spPr>
          <a:xfrm>
            <a:off x="8168184" y="319891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прошла резервација се не мења као будућа</a:t>
            </a:r>
            <a:endParaRPr lang="en-US" sz="1300" dirty="0"/>
          </a:p>
        </p:txBody>
      </p:sp>
      <p:sp>
        <p:nvSpPr>
          <p:cNvPr id="28" name="Shape 23"/>
          <p:cNvSpPr/>
          <p:nvPr/>
        </p:nvSpPr>
        <p:spPr>
          <a:xfrm>
            <a:off x="8168184" y="3765848"/>
            <a:ext cx="3001466" cy="0"/>
          </a:xfrm>
          <a:prstGeom prst="line">
            <a:avLst/>
          </a:prstGeom>
          <a:noFill/>
          <a:ln w="6350">
            <a:solidFill>
              <a:srgbClr val="E3E8EE"/>
            </a:solidFill>
            <a:prstDash val="solid"/>
          </a:ln>
        </p:spPr>
      </p:sp>
      <p:sp>
        <p:nvSpPr>
          <p:cNvPr id="29" name="Text 24"/>
          <p:cNvSpPr/>
          <p:nvPr/>
        </p:nvSpPr>
        <p:spPr>
          <a:xfrm>
            <a:off x="8168184" y="3845223"/>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код дефинише тим за свој домен</a:t>
            </a:r>
            <a:endParaRPr lang="en-US" sz="1200" dirty="0"/>
          </a:p>
        </p:txBody>
      </p:sp>
      <p:sp>
        <p:nvSpPr>
          <p:cNvPr id="30" name="Shape 25"/>
          <p:cNvSpPr/>
          <p:nvPr/>
        </p:nvSpPr>
        <p:spPr>
          <a:xfrm>
            <a:off x="812800" y="6209705"/>
            <a:ext cx="10566400" cy="0"/>
          </a:xfrm>
          <a:prstGeom prst="line">
            <a:avLst/>
          </a:prstGeom>
          <a:noFill/>
          <a:ln w="6350">
            <a:solidFill>
              <a:srgbClr val="D3DAE1"/>
            </a:solidFill>
            <a:prstDash val="solid"/>
          </a:ln>
        </p:spPr>
      </p:sp>
      <p:sp>
        <p:nvSpPr>
          <p:cNvPr id="31" name="Text 2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7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6B3FA0"/>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13935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53047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Исходи и Result</a:t>
            </a:r>
            <a:endParaRPr lang="en-US" sz="4800" dirty="0"/>
          </a:p>
        </p:txBody>
      </p:sp>
      <p:sp>
        <p:nvSpPr>
          <p:cNvPr id="5" name="Text 3"/>
          <p:cNvSpPr/>
          <p:nvPr/>
        </p:nvSpPr>
        <p:spPr>
          <a:xfrm>
            <a:off x="4267200" y="3348335"/>
            <a:ext cx="73152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Како систем исправно каже „не” и како клијент поуздано разуме зашто.</a:t>
            </a:r>
            <a:endParaRPr lang="en-US" sz="1400" dirty="0"/>
          </a:p>
        </p:txBody>
      </p:sp>
      <p:sp>
        <p:nvSpPr>
          <p:cNvPr id="6" name="Text 4"/>
          <p:cNvSpPr/>
          <p:nvPr/>
        </p:nvSpPr>
        <p:spPr>
          <a:xfrm>
            <a:off x="4270375" y="3787080"/>
            <a:ext cx="165764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Очекивани неуспех</a:t>
            </a:r>
            <a:endParaRPr lang="en-US" sz="1200" dirty="0"/>
          </a:p>
        </p:txBody>
      </p:sp>
      <p:sp>
        <p:nvSpPr>
          <p:cNvPr id="7" name="Text 5"/>
          <p:cNvSpPr/>
          <p:nvPr/>
        </p:nvSpPr>
        <p:spPr>
          <a:xfrm>
            <a:off x="6010573" y="3787080"/>
            <a:ext cx="1805384"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Правило преклапања</a:t>
            </a:r>
            <a:endParaRPr lang="en-US" sz="1200" dirty="0"/>
          </a:p>
        </p:txBody>
      </p:sp>
      <p:sp>
        <p:nvSpPr>
          <p:cNvPr id="8" name="Text 6"/>
          <p:cNvSpPr/>
          <p:nvPr/>
        </p:nvSpPr>
        <p:spPr>
          <a:xfrm>
            <a:off x="7898507" y="3787080"/>
            <a:ext cx="979091"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Result тип</a:t>
            </a:r>
            <a:endParaRPr lang="en-US" sz="1200" dirty="0"/>
          </a:p>
        </p:txBody>
      </p:sp>
      <p:sp>
        <p:nvSpPr>
          <p:cNvPr id="9" name="Text 7"/>
          <p:cNvSpPr/>
          <p:nvPr/>
        </p:nvSpPr>
        <p:spPr>
          <a:xfrm>
            <a:off x="4270375" y="4190901"/>
            <a:ext cx="1807270"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Избор модела исхода</a:t>
            </a:r>
            <a:endParaRPr lang="en-US" sz="1200" dirty="0"/>
          </a:p>
        </p:txBody>
      </p:sp>
      <p:sp>
        <p:nvSpPr>
          <p:cNvPr id="10" name="Text 8"/>
          <p:cNvSpPr/>
          <p:nvPr/>
        </p:nvSpPr>
        <p:spPr>
          <a:xfrm>
            <a:off x="6160195" y="4190901"/>
            <a:ext cx="132734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Кодови исхода</a:t>
            </a:r>
            <a:endParaRPr lang="en-US" sz="1200" dirty="0"/>
          </a:p>
        </p:txBody>
      </p:sp>
      <p:sp>
        <p:nvSpPr>
          <p:cNvPr id="11" name="Shape 9"/>
          <p:cNvSpPr/>
          <p:nvPr/>
        </p:nvSpPr>
        <p:spPr>
          <a:xfrm>
            <a:off x="812800" y="6209705"/>
            <a:ext cx="10566400" cy="0"/>
          </a:xfrm>
          <a:prstGeom prst="line">
            <a:avLst/>
          </a:prstGeom>
          <a:noFill/>
          <a:ln w="6350">
            <a:solidFill>
              <a:srgbClr val="BDBAC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Очекивани пословни неуспех</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Заузет термин представља исправно одбијен захтев са стабилним кодом исхода.</a:t>
            </a:r>
            <a:endParaRPr lang="en-US" sz="1400" dirty="0"/>
          </a:p>
        </p:txBody>
      </p:sp>
      <p:sp>
        <p:nvSpPr>
          <p:cNvPr id="6" name="Shape 4"/>
          <p:cNvSpPr/>
          <p:nvPr/>
        </p:nvSpPr>
        <p:spPr>
          <a:xfrm>
            <a:off x="831850" y="2176661"/>
            <a:ext cx="0" cy="777081"/>
          </a:xfrm>
          <a:prstGeom prst="line">
            <a:avLst/>
          </a:prstGeom>
          <a:noFill/>
          <a:ln w="38100">
            <a:solidFill>
              <a:srgbClr val="6B3FA0"/>
            </a:solidFill>
            <a:prstDash val="solid"/>
          </a:ln>
        </p:spPr>
      </p:sp>
      <p:sp>
        <p:nvSpPr>
          <p:cNvPr id="7" name="Text 5"/>
          <p:cNvSpPr/>
          <p:nvPr/>
        </p:nvSpPr>
        <p:spPr>
          <a:xfrm>
            <a:off x="1079500" y="2202061"/>
            <a:ext cx="9536049" cy="75168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Систем ради исправно када стабилно врати OverlappingReservation и не промени стање које не сме да се промени.</a:t>
            </a:r>
            <a:endParaRPr lang="en-US" sz="2200" dirty="0"/>
          </a:p>
        </p:txBody>
      </p:sp>
      <p:sp>
        <p:nvSpPr>
          <p:cNvPr id="8" name="Shape 6"/>
          <p:cNvSpPr/>
          <p:nvPr/>
        </p:nvSpPr>
        <p:spPr>
          <a:xfrm>
            <a:off x="815975" y="3210917"/>
            <a:ext cx="3244850" cy="995561"/>
          </a:xfrm>
          <a:prstGeom prst="roundRect">
            <a:avLst>
              <a:gd name="adj" fmla="val 9886"/>
            </a:avLst>
          </a:prstGeom>
          <a:solidFill>
            <a:srgbClr val="FCFCFB"/>
          </a:solidFill>
          <a:ln w="6350">
            <a:solidFill>
              <a:srgbClr val="D3DAE1"/>
            </a:solidFill>
            <a:prstDash val="solid"/>
          </a:ln>
        </p:spPr>
      </p:sp>
      <p:sp>
        <p:nvSpPr>
          <p:cNvPr id="9" name="Text 7"/>
          <p:cNvSpPr/>
          <p:nvPr/>
        </p:nvSpPr>
        <p:spPr>
          <a:xfrm>
            <a:off x="984250" y="335379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ЗАХТЕВ</a:t>
            </a:r>
            <a:endParaRPr lang="en-US" sz="1200" dirty="0"/>
          </a:p>
        </p:txBody>
      </p:sp>
      <p:sp>
        <p:nvSpPr>
          <p:cNvPr id="10" name="Text 8"/>
          <p:cNvSpPr/>
          <p:nvPr/>
        </p:nvSpPr>
        <p:spPr>
          <a:xfrm>
            <a:off x="984250" y="3617913"/>
            <a:ext cx="299554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термин се преклапа са постојећом резервацијом</a:t>
            </a:r>
            <a:endParaRPr lang="en-US" sz="1300" dirty="0"/>
          </a:p>
        </p:txBody>
      </p:sp>
      <p:pic>
        <p:nvPicPr>
          <p:cNvPr id="11" name="Image 0" descr="arrow-right">    </p:cNvPr>
          <p:cNvPicPr>
            <a:picLocks noChangeAspect="1"/>
          </p:cNvPicPr>
          <p:nvPr/>
        </p:nvPicPr>
        <p:blipFill>
          <a:blip r:embed="rId1"/>
          <a:srcRect l="0" r="0" t="0" b="0"/>
          <a:stretch/>
        </p:blipFill>
        <p:spPr>
          <a:xfrm>
            <a:off x="4152900" y="3651548"/>
            <a:ext cx="228600" cy="114300"/>
          </a:xfrm>
          <a:prstGeom prst="rect">
            <a:avLst/>
          </a:prstGeom>
        </p:spPr>
      </p:pic>
      <p:sp>
        <p:nvSpPr>
          <p:cNvPr id="12" name="Shape 9"/>
          <p:cNvSpPr/>
          <p:nvPr/>
        </p:nvSpPr>
        <p:spPr>
          <a:xfrm>
            <a:off x="4473575" y="3210917"/>
            <a:ext cx="3244850" cy="995561"/>
          </a:xfrm>
          <a:prstGeom prst="roundRect">
            <a:avLst>
              <a:gd name="adj" fmla="val 9886"/>
            </a:avLst>
          </a:prstGeom>
          <a:solidFill>
            <a:srgbClr val="FBF1E6"/>
          </a:solidFill>
          <a:ln w="6350">
            <a:solidFill>
              <a:srgbClr val="E9B98C"/>
            </a:solidFill>
            <a:prstDash val="solid"/>
          </a:ln>
        </p:spPr>
      </p:sp>
      <p:sp>
        <p:nvSpPr>
          <p:cNvPr id="13" name="Text 10"/>
          <p:cNvSpPr/>
          <p:nvPr/>
        </p:nvSpPr>
        <p:spPr>
          <a:xfrm>
            <a:off x="4641850" y="335379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ИСХОД</a:t>
            </a:r>
            <a:endParaRPr lang="en-US" sz="1200" dirty="0"/>
          </a:p>
        </p:txBody>
      </p:sp>
      <p:sp>
        <p:nvSpPr>
          <p:cNvPr id="14" name="Text 11"/>
          <p:cNvSpPr/>
          <p:nvPr/>
        </p:nvSpPr>
        <p:spPr>
          <a:xfrm>
            <a:off x="4641850" y="3617913"/>
            <a:ext cx="299554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Fail("OverlappingReservation")</a:t>
            </a:r>
            <a:endParaRPr lang="en-US" sz="1200" dirty="0"/>
          </a:p>
        </p:txBody>
      </p:sp>
      <p:pic>
        <p:nvPicPr>
          <p:cNvPr id="15" name="Image 1" descr="arrow-right">    </p:cNvPr>
          <p:cNvPicPr>
            <a:picLocks noChangeAspect="1"/>
          </p:cNvPicPr>
          <p:nvPr/>
        </p:nvPicPr>
        <p:blipFill>
          <a:blip r:embed="rId2"/>
          <a:srcRect l="0" r="0" t="0" b="0"/>
          <a:stretch/>
        </p:blipFill>
        <p:spPr>
          <a:xfrm>
            <a:off x="7810500" y="3651548"/>
            <a:ext cx="228600" cy="114300"/>
          </a:xfrm>
          <a:prstGeom prst="rect">
            <a:avLst/>
          </a:prstGeom>
        </p:spPr>
      </p:pic>
      <p:sp>
        <p:nvSpPr>
          <p:cNvPr id="16" name="Shape 12"/>
          <p:cNvSpPr/>
          <p:nvPr/>
        </p:nvSpPr>
        <p:spPr>
          <a:xfrm>
            <a:off x="8131175" y="3210917"/>
            <a:ext cx="3244850" cy="995561"/>
          </a:xfrm>
          <a:prstGeom prst="roundRect">
            <a:avLst>
              <a:gd name="adj" fmla="val 9886"/>
            </a:avLst>
          </a:prstGeom>
          <a:solidFill>
            <a:srgbClr val="EAE7EE"/>
          </a:solidFill>
          <a:ln w="6350">
            <a:solidFill>
              <a:srgbClr val="DBD1E8"/>
            </a:solidFill>
            <a:prstDash val="solid"/>
          </a:ln>
        </p:spPr>
      </p:sp>
      <p:sp>
        <p:nvSpPr>
          <p:cNvPr id="17" name="Text 13"/>
          <p:cNvSpPr/>
          <p:nvPr/>
        </p:nvSpPr>
        <p:spPr>
          <a:xfrm>
            <a:off x="8299450" y="335379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СТАЊЕ</a:t>
            </a:r>
            <a:endParaRPr lang="en-US" sz="1200" dirty="0"/>
          </a:p>
        </p:txBody>
      </p:sp>
      <p:sp>
        <p:nvSpPr>
          <p:cNvPr id="18" name="Text 14"/>
          <p:cNvSpPr/>
          <p:nvPr/>
        </p:nvSpPr>
        <p:spPr>
          <a:xfrm>
            <a:off x="8299450" y="3617913"/>
            <a:ext cx="2995549"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непромењено, ништа није сачувано</a:t>
            </a:r>
            <a:endParaRPr lang="en-US" sz="1300" dirty="0"/>
          </a:p>
        </p:txBody>
      </p:sp>
      <p:sp>
        <p:nvSpPr>
          <p:cNvPr id="19" name="Shape 15"/>
          <p:cNvSpPr/>
          <p:nvPr/>
        </p:nvSpPr>
        <p:spPr>
          <a:xfrm>
            <a:off x="812800" y="6209705"/>
            <a:ext cx="10566400" cy="0"/>
          </a:xfrm>
          <a:prstGeom prst="line">
            <a:avLst/>
          </a:prstGeom>
          <a:noFill/>
          <a:ln w="6350">
            <a:solidFill>
              <a:srgbClr val="D3DAE1"/>
            </a:solidFill>
            <a:prstDash val="solid"/>
          </a:ln>
        </p:spPr>
      </p:sp>
      <p:sp>
        <p:nvSpPr>
          <p:cNvPr id="20" name="Text 1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1" name="Text 1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pic>
        <p:nvPicPr>
          <p:cNvPr id="3" name="Image 0" descr="Три случаја на временској оси: нова резервација која се преклапа са постојећом се одбија, нова која почиње тачно када се постојећа завршава је дозвољена, а потпуно раздвојена је дозвољена">    </p:cNvPr>
          <p:cNvPicPr>
            <a:picLocks noChangeAspect="1"/>
          </p:cNvPicPr>
          <p:nvPr/>
        </p:nvPicPr>
        <p:blipFill>
          <a:blip r:embed="rId1"/>
          <a:srcRect l="0" r="0" t="-55" b="-55"/>
          <a:stretch/>
        </p:blipFill>
        <p:spPr>
          <a:xfrm>
            <a:off x="812800" y="2984500"/>
            <a:ext cx="10566400" cy="21590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Правило преклапања термина</a:t>
            </a:r>
            <a:endParaRPr lang="en-US" sz="3000" dirty="0"/>
          </a:p>
        </p:txBody>
      </p:sp>
      <p:sp>
        <p:nvSpPr>
          <p:cNvPr id="6"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Термин је полуотворен интервал [from, to): крај једне резервације може бити почетак друге.</a:t>
            </a:r>
            <a:endParaRPr lang="en-US" sz="1400" dirty="0"/>
          </a:p>
        </p:txBody>
      </p:sp>
      <p:sp>
        <p:nvSpPr>
          <p:cNvPr id="7" name="Shape 4"/>
          <p:cNvSpPr/>
          <p:nvPr/>
        </p:nvSpPr>
        <p:spPr>
          <a:xfrm>
            <a:off x="815975" y="2078236"/>
            <a:ext cx="10560050" cy="648891"/>
          </a:xfrm>
          <a:prstGeom prst="roundRect">
            <a:avLst>
              <a:gd name="adj" fmla="val 15168"/>
            </a:avLst>
          </a:prstGeom>
          <a:solidFill>
            <a:srgbClr val="FCFCFB"/>
          </a:solidFill>
          <a:ln w="6350">
            <a:solidFill>
              <a:srgbClr val="D3DAE1"/>
            </a:solidFill>
            <a:prstDash val="solid"/>
          </a:ln>
        </p:spPr>
      </p:sp>
      <p:sp>
        <p:nvSpPr>
          <p:cNvPr id="8" name="Text 5"/>
          <p:cNvSpPr/>
          <p:nvPr/>
        </p:nvSpPr>
        <p:spPr>
          <a:xfrm>
            <a:off x="1047750" y="229602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5"/>
                </a:solidFill>
                <a:latin typeface="IBM Plex Mono" pitchFamily="49" charset="0"/>
                <a:ea typeface="IBM Plex Mono" pitchFamily="49" charset="-122"/>
                <a:cs typeface="IBM Plex Mono" pitchFamily="49" charset="-120"/>
              </a:rPr>
              <a:t>ПРЕКЛАПАЊЕ</a:t>
            </a:r>
            <a:endParaRPr lang="en-US" sz="1200" dirty="0"/>
          </a:p>
        </p:txBody>
      </p:sp>
      <p:sp>
        <p:nvSpPr>
          <p:cNvPr id="9" name="Text 6"/>
          <p:cNvSpPr/>
          <p:nvPr/>
        </p:nvSpPr>
        <p:spPr>
          <a:xfrm>
            <a:off x="3206750" y="2221111"/>
            <a:ext cx="8175625" cy="388541"/>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13202D"/>
                </a:solidFill>
                <a:latin typeface="STIX Two Text" pitchFamily="18" charset="0"/>
                <a:ea typeface="STIX Two Text" pitchFamily="18" charset="-122"/>
                <a:cs typeface="STIX Two Text" pitchFamily="18" charset="-120"/>
              </a:rPr>
              <a:t>a</a:t>
            </a:r>
            <a:r>
              <a:rPr lang="en-US" sz="2200" dirty="0">
                <a:solidFill>
                  <a:srgbClr val="13202D"/>
                </a:solidFill>
                <a:latin typeface="STIX Two Text" pitchFamily="18" charset="0"/>
                <a:ea typeface="STIX Two Text" pitchFamily="18" charset="-122"/>
                <a:cs typeface="STIX Two Text" pitchFamily="18" charset="-120"/>
              </a:rPr>
              <a:t>.from &lt; </a:t>
            </a:r>
            <a:r>
              <a:rPr lang="en-US" sz="2200" i="1" dirty="0">
                <a:solidFill>
                  <a:srgbClr val="13202D"/>
                </a:solidFill>
                <a:latin typeface="STIX Two Text" pitchFamily="18" charset="0"/>
                <a:ea typeface="STIX Two Text" pitchFamily="18" charset="-122"/>
                <a:cs typeface="STIX Two Text" pitchFamily="18" charset="-120"/>
              </a:rPr>
              <a:t>b</a:t>
            </a:r>
            <a:r>
              <a:rPr lang="en-US" sz="2200" dirty="0">
                <a:solidFill>
                  <a:srgbClr val="13202D"/>
                </a:solidFill>
                <a:latin typeface="STIX Two Text" pitchFamily="18" charset="0"/>
                <a:ea typeface="STIX Two Text" pitchFamily="18" charset="-122"/>
                <a:cs typeface="STIX Two Text" pitchFamily="18" charset="-120"/>
              </a:rPr>
              <a:t>.to </a:t>
            </a:r>
            <a:r>
              <a:rPr lang="en-US" sz="2200" dirty="0">
                <a:solidFill>
                  <a:srgbClr val="6B3FA0"/>
                </a:solidFill>
                <a:latin typeface="STIX Two Text" pitchFamily="18" charset="0"/>
                <a:ea typeface="STIX Two Text" pitchFamily="18" charset="-122"/>
                <a:cs typeface="STIX Two Text" pitchFamily="18" charset="-120"/>
              </a:rPr>
              <a:t>∧</a:t>
            </a:r>
            <a:r>
              <a:rPr lang="en-US" sz="2200" dirty="0">
                <a:solidFill>
                  <a:srgbClr val="13202D"/>
                </a:solidFill>
                <a:latin typeface="STIX Two Text" pitchFamily="18" charset="0"/>
                <a:ea typeface="STIX Two Text" pitchFamily="18" charset="-122"/>
                <a:cs typeface="STIX Two Text" pitchFamily="18" charset="-120"/>
              </a:rPr>
              <a:t> </a:t>
            </a:r>
            <a:r>
              <a:rPr lang="en-US" sz="2200" i="1" dirty="0">
                <a:solidFill>
                  <a:srgbClr val="13202D"/>
                </a:solidFill>
                <a:latin typeface="STIX Two Text" pitchFamily="18" charset="0"/>
                <a:ea typeface="STIX Two Text" pitchFamily="18" charset="-122"/>
                <a:cs typeface="STIX Two Text" pitchFamily="18" charset="-120"/>
              </a:rPr>
              <a:t>b</a:t>
            </a:r>
            <a:r>
              <a:rPr lang="en-US" sz="2200" dirty="0">
                <a:solidFill>
                  <a:srgbClr val="13202D"/>
                </a:solidFill>
                <a:latin typeface="STIX Two Text" pitchFamily="18" charset="0"/>
                <a:ea typeface="STIX Two Text" pitchFamily="18" charset="-122"/>
                <a:cs typeface="STIX Two Text" pitchFamily="18" charset="-120"/>
              </a:rPr>
              <a:t>.from &lt; </a:t>
            </a:r>
            <a:r>
              <a:rPr lang="en-US" sz="2200" i="1" dirty="0">
                <a:solidFill>
                  <a:srgbClr val="13202D"/>
                </a:solidFill>
                <a:latin typeface="STIX Two Text" pitchFamily="18" charset="0"/>
                <a:ea typeface="STIX Two Text" pitchFamily="18" charset="-122"/>
                <a:cs typeface="STIX Two Text" pitchFamily="18" charset="-120"/>
              </a:rPr>
              <a:t>a</a:t>
            </a:r>
            <a:r>
              <a:rPr lang="en-US" sz="2200" dirty="0">
                <a:solidFill>
                  <a:srgbClr val="13202D"/>
                </a:solidFill>
                <a:latin typeface="STIX Two Text" pitchFamily="18" charset="0"/>
                <a:ea typeface="STIX Two Text" pitchFamily="18" charset="-122"/>
                <a:cs typeface="STIX Two Text" pitchFamily="18" charset="-120"/>
              </a:rPr>
              <a:t>.to</a:t>
            </a:r>
            <a:endParaRPr lang="en-US" sz="2200" dirty="0"/>
          </a:p>
        </p:txBody>
      </p:sp>
      <p:sp>
        <p:nvSpPr>
          <p:cNvPr id="10" name="Text 7"/>
          <p:cNvSpPr/>
          <p:nvPr/>
        </p:nvSpPr>
        <p:spPr>
          <a:xfrm>
            <a:off x="4069080" y="3022600"/>
            <a:ext cx="3139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постојећа</a:t>
            </a:r>
            <a:endParaRPr lang="en-US" sz="1200" dirty="0"/>
          </a:p>
        </p:txBody>
      </p:sp>
      <p:sp>
        <p:nvSpPr>
          <p:cNvPr id="11" name="Text 8"/>
          <p:cNvSpPr/>
          <p:nvPr/>
        </p:nvSpPr>
        <p:spPr>
          <a:xfrm>
            <a:off x="5854700" y="3378200"/>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нова</a:t>
            </a:r>
            <a:endParaRPr lang="en-US" sz="1200" dirty="0"/>
          </a:p>
        </p:txBody>
      </p:sp>
      <p:sp>
        <p:nvSpPr>
          <p:cNvPr id="12" name="Text 9"/>
          <p:cNvSpPr/>
          <p:nvPr/>
        </p:nvSpPr>
        <p:spPr>
          <a:xfrm>
            <a:off x="4069080" y="3784600"/>
            <a:ext cx="3139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постојећа</a:t>
            </a:r>
            <a:endParaRPr lang="en-US" sz="1200" dirty="0"/>
          </a:p>
        </p:txBody>
      </p:sp>
      <p:sp>
        <p:nvSpPr>
          <p:cNvPr id="13" name="Text 10"/>
          <p:cNvSpPr/>
          <p:nvPr/>
        </p:nvSpPr>
        <p:spPr>
          <a:xfrm>
            <a:off x="7137400" y="4140200"/>
            <a:ext cx="1574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нова</a:t>
            </a:r>
            <a:endParaRPr lang="en-US" sz="1200" dirty="0"/>
          </a:p>
        </p:txBody>
      </p:sp>
      <p:sp>
        <p:nvSpPr>
          <p:cNvPr id="14" name="Text 11"/>
          <p:cNvSpPr/>
          <p:nvPr/>
        </p:nvSpPr>
        <p:spPr>
          <a:xfrm>
            <a:off x="4069080" y="4546600"/>
            <a:ext cx="31394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постојећа</a:t>
            </a:r>
            <a:endParaRPr lang="en-US" sz="1200" dirty="0"/>
          </a:p>
        </p:txBody>
      </p:sp>
      <p:sp>
        <p:nvSpPr>
          <p:cNvPr id="15" name="Text 12"/>
          <p:cNvSpPr/>
          <p:nvPr/>
        </p:nvSpPr>
        <p:spPr>
          <a:xfrm>
            <a:off x="7645400" y="490220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3FA0"/>
                </a:solidFill>
                <a:latin typeface="IBM Plex Sans" pitchFamily="34" charset="0"/>
                <a:ea typeface="IBM Plex Sans" pitchFamily="34" charset="-122"/>
                <a:cs typeface="IBM Plex Sans" pitchFamily="34" charset="-120"/>
              </a:rPr>
              <a:t>нова</a:t>
            </a:r>
            <a:endParaRPr lang="en-US" sz="1200" dirty="0"/>
          </a:p>
        </p:txBody>
      </p:sp>
      <p:sp>
        <p:nvSpPr>
          <p:cNvPr id="16" name="Text 13"/>
          <p:cNvSpPr/>
          <p:nvPr/>
        </p:nvSpPr>
        <p:spPr>
          <a:xfrm>
            <a:off x="812800" y="320040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Преклапање</a:t>
            </a:r>
            <a:endParaRPr lang="en-US" sz="1400" dirty="0"/>
          </a:p>
        </p:txBody>
      </p:sp>
      <p:sp>
        <p:nvSpPr>
          <p:cNvPr id="17" name="Text 14"/>
          <p:cNvSpPr/>
          <p:nvPr/>
        </p:nvSpPr>
        <p:spPr>
          <a:xfrm>
            <a:off x="812800" y="396240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Додир на граници</a:t>
            </a:r>
            <a:endParaRPr lang="en-US" sz="1400" dirty="0"/>
          </a:p>
        </p:txBody>
      </p:sp>
      <p:sp>
        <p:nvSpPr>
          <p:cNvPr id="18" name="Text 15"/>
          <p:cNvSpPr/>
          <p:nvPr/>
        </p:nvSpPr>
        <p:spPr>
          <a:xfrm>
            <a:off x="812800" y="4724400"/>
            <a:ext cx="248539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Раздвојени термини</a:t>
            </a:r>
            <a:endParaRPr lang="en-US" sz="1400" dirty="0"/>
          </a:p>
        </p:txBody>
      </p:sp>
      <p:sp>
        <p:nvSpPr>
          <p:cNvPr id="19" name="Text 16"/>
          <p:cNvSpPr/>
          <p:nvPr/>
        </p:nvSpPr>
        <p:spPr>
          <a:xfrm>
            <a:off x="9067800" y="3213100"/>
            <a:ext cx="23807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OverlappingReservation</a:t>
            </a:r>
            <a:endParaRPr lang="en-US" sz="1200" dirty="0"/>
          </a:p>
        </p:txBody>
      </p:sp>
      <p:sp>
        <p:nvSpPr>
          <p:cNvPr id="20" name="Text 17"/>
          <p:cNvSpPr/>
          <p:nvPr/>
        </p:nvSpPr>
        <p:spPr>
          <a:xfrm>
            <a:off x="9067800" y="3975100"/>
            <a:ext cx="23807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3FA0"/>
                </a:solidFill>
                <a:latin typeface="IBM Plex Mono" pitchFamily="49" charset="0"/>
                <a:ea typeface="IBM Plex Mono" pitchFamily="49" charset="-122"/>
                <a:cs typeface="IBM Plex Mono" pitchFamily="49" charset="-120"/>
              </a:rPr>
              <a:t>дозвољено</a:t>
            </a:r>
            <a:endParaRPr lang="en-US" sz="1200" dirty="0"/>
          </a:p>
        </p:txBody>
      </p:sp>
      <p:sp>
        <p:nvSpPr>
          <p:cNvPr id="21" name="Text 18"/>
          <p:cNvSpPr/>
          <p:nvPr/>
        </p:nvSpPr>
        <p:spPr>
          <a:xfrm>
            <a:off x="9067800" y="4737100"/>
            <a:ext cx="238074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3FA0"/>
                </a:solidFill>
                <a:latin typeface="IBM Plex Mono" pitchFamily="49" charset="0"/>
                <a:ea typeface="IBM Plex Mono" pitchFamily="49" charset="-122"/>
                <a:cs typeface="IBM Plex Mono" pitchFamily="49" charset="-120"/>
              </a:rPr>
              <a:t>дозвољено</a:t>
            </a:r>
            <a:endParaRPr lang="en-US" sz="1200" dirty="0"/>
          </a:p>
        </p:txBody>
      </p:sp>
      <p:sp>
        <p:nvSpPr>
          <p:cNvPr id="22" name="Shape 19"/>
          <p:cNvSpPr/>
          <p:nvPr/>
        </p:nvSpPr>
        <p:spPr>
          <a:xfrm>
            <a:off x="812800" y="6209705"/>
            <a:ext cx="10566400" cy="0"/>
          </a:xfrm>
          <a:prstGeom prst="line">
            <a:avLst/>
          </a:prstGeom>
          <a:noFill/>
          <a:ln w="6350">
            <a:solidFill>
              <a:srgbClr val="D3DAE1"/>
            </a:solidFill>
            <a:prstDash val="solid"/>
          </a:ln>
        </p:spPr>
      </p:sp>
      <p:sp>
        <p:nvSpPr>
          <p:cNvPr id="23"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Result као модел исхода</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Result експлицитно представља успех или очекивани пословни неуспех.</a:t>
            </a:r>
            <a:endParaRPr lang="en-US" sz="1400" dirty="0"/>
          </a:p>
        </p:txBody>
      </p:sp>
      <p:sp>
        <p:nvSpPr>
          <p:cNvPr id="6" name="Shape 4"/>
          <p:cNvSpPr/>
          <p:nvPr/>
        </p:nvSpPr>
        <p:spPr>
          <a:xfrm>
            <a:off x="815975" y="2078236"/>
            <a:ext cx="10560050" cy="3036094"/>
          </a:xfrm>
          <a:prstGeom prst="roundRect">
            <a:avLst>
              <a:gd name="adj" fmla="val 3242"/>
            </a:avLst>
          </a:prstGeom>
          <a:solidFill>
            <a:srgbClr val="FCFCFB"/>
          </a:solidFill>
          <a:ln w="6350">
            <a:solidFill>
              <a:srgbClr val="D3DAE1"/>
            </a:solidFill>
            <a:prstDash val="solid"/>
          </a:ln>
        </p:spPr>
      </p:sp>
      <p:sp>
        <p:nvSpPr>
          <p:cNvPr id="7" name="Text 5"/>
          <p:cNvSpPr/>
          <p:nvPr/>
        </p:nvSpPr>
        <p:spPr>
          <a:xfrm>
            <a:off x="1022350" y="2221111"/>
            <a:ext cx="104517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a:t>
            </a:r>
            <a:endParaRPr lang="en-US" sz="1200" dirty="0"/>
          </a:p>
        </p:txBody>
      </p:sp>
      <p:sp>
        <p:nvSpPr>
          <p:cNvPr id="8" name="Text 6"/>
          <p:cNvSpPr/>
          <p:nvPr/>
        </p:nvSpPr>
        <p:spPr>
          <a:xfrm>
            <a:off x="1022350" y="24979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497931"/>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public sealed record</a:t>
            </a:r>
            <a:r>
              <a:rPr lang="en-US" sz="1200" dirty="0">
                <a:solidFill>
                  <a:srgbClr val="13202D"/>
                </a:solidFill>
                <a:latin typeface="IBM Plex Mono" pitchFamily="49" charset="0"/>
                <a:ea typeface="IBM Plex Mono" pitchFamily="49" charset="-122"/>
                <a:cs typeface="IBM Plex Mono" pitchFamily="49" charset="-120"/>
              </a:rPr>
              <a:t> Result(</a:t>
            </a:r>
            <a:r>
              <a:rPr lang="en-US" sz="1200" dirty="0">
                <a:solidFill>
                  <a:srgbClr val="6B3FA0"/>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Success, </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10" name="Text 8"/>
          <p:cNvSpPr/>
          <p:nvPr/>
        </p:nvSpPr>
        <p:spPr>
          <a:xfrm>
            <a:off x="1022350" y="27239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723952"/>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1022350" y="29499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403350" y="2949972"/>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 Ok()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1022350" y="31759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403350" y="3175992"/>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 Fail(</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16" name="Text 14"/>
          <p:cNvSpPr/>
          <p:nvPr/>
        </p:nvSpPr>
        <p:spPr>
          <a:xfrm>
            <a:off x="1022350" y="3402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403350" y="3402013"/>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1022350" y="36280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022350" y="38540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403350" y="3854053"/>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public sealed record</a:t>
            </a:r>
            <a:r>
              <a:rPr lang="en-US" sz="1200" dirty="0">
                <a:solidFill>
                  <a:srgbClr val="13202D"/>
                </a:solidFill>
                <a:latin typeface="IBM Plex Mono" pitchFamily="49" charset="0"/>
                <a:ea typeface="IBM Plex Mono" pitchFamily="49" charset="-122"/>
                <a:cs typeface="IBM Plex Mono" pitchFamily="49" charset="-120"/>
              </a:rPr>
              <a:t> Result&lt;T&gt;(</a:t>
            </a:r>
            <a:r>
              <a:rPr lang="en-US" sz="1200" dirty="0">
                <a:solidFill>
                  <a:srgbClr val="6B3FA0"/>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Success, T? Value, </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21" name="Text 19"/>
          <p:cNvSpPr/>
          <p:nvPr/>
        </p:nvSpPr>
        <p:spPr>
          <a:xfrm>
            <a:off x="1022350" y="4080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403350" y="4080073"/>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1022350" y="43060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403350" y="4306094"/>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Result&lt;T&gt; Ok(T value)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true</a:t>
            </a:r>
            <a:r>
              <a:rPr lang="en-US" sz="1200" dirty="0">
                <a:solidFill>
                  <a:srgbClr val="13202D"/>
                </a:solidFill>
                <a:latin typeface="IBM Plex Mono" pitchFamily="49" charset="0"/>
                <a:ea typeface="IBM Plex Mono" pitchFamily="49" charset="-122"/>
                <a:cs typeface="IBM Plex Mono" pitchFamily="49" charset="-120"/>
              </a:rPr>
              <a:t>, value, </a:t>
            </a:r>
            <a:r>
              <a:rPr lang="en-US" sz="1200" dirty="0">
                <a:solidFill>
                  <a:srgbClr val="6B3FA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5" name="Text 23"/>
          <p:cNvSpPr/>
          <p:nvPr/>
        </p:nvSpPr>
        <p:spPr>
          <a:xfrm>
            <a:off x="1022350" y="45321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403350" y="4532114"/>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 static</a:t>
            </a:r>
            <a:r>
              <a:rPr lang="en-US" sz="1200" dirty="0">
                <a:solidFill>
                  <a:srgbClr val="13202D"/>
                </a:solidFill>
                <a:latin typeface="IBM Plex Mono" pitchFamily="49" charset="0"/>
                <a:ea typeface="IBM Plex Mono" pitchFamily="49" charset="-122"/>
                <a:cs typeface="IBM Plex Mono" pitchFamily="49" charset="-120"/>
              </a:rPr>
              <a:t> Result&lt;T&gt; Fail(</a:t>
            </a:r>
            <a:r>
              <a:rPr lang="en-US" sz="1200" dirty="0">
                <a:solidFill>
                  <a:srgbClr val="6B3FA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error) =&gt; </a:t>
            </a:r>
            <a:r>
              <a:rPr lang="en-US" sz="1200" dirty="0">
                <a:solidFill>
                  <a:srgbClr val="6B3FA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a:t>
            </a:r>
            <a:r>
              <a:rPr lang="en-US" sz="1200" dirty="0">
                <a:solidFill>
                  <a:srgbClr val="6B3FA0"/>
                </a:solidFill>
                <a:latin typeface="IBM Plex Mono" pitchFamily="49" charset="0"/>
                <a:ea typeface="IBM Plex Mono" pitchFamily="49" charset="-122"/>
                <a:cs typeface="IBM Plex Mono" pitchFamily="49" charset="-120"/>
              </a:rPr>
              <a:t>false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default</a:t>
            </a:r>
            <a:r>
              <a:rPr lang="en-US" sz="1200" dirty="0">
                <a:solidFill>
                  <a:srgbClr val="13202D"/>
                </a:solidFill>
                <a:latin typeface="IBM Plex Mono" pitchFamily="49" charset="0"/>
                <a:ea typeface="IBM Plex Mono" pitchFamily="49" charset="-122"/>
                <a:cs typeface="IBM Plex Mono" pitchFamily="49" charset="-120"/>
              </a:rPr>
              <a:t>, error);</a:t>
            </a:r>
            <a:endParaRPr lang="en-US" sz="1200" dirty="0"/>
          </a:p>
        </p:txBody>
      </p:sp>
      <p:sp>
        <p:nvSpPr>
          <p:cNvPr id="27" name="Text 25"/>
          <p:cNvSpPr/>
          <p:nvPr/>
        </p:nvSpPr>
        <p:spPr>
          <a:xfrm>
            <a:off x="1022350" y="47581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403350" y="4758134"/>
            <a:ext cx="100592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9" name="Shape 27"/>
          <p:cNvSpPr/>
          <p:nvPr/>
        </p:nvSpPr>
        <p:spPr>
          <a:xfrm>
            <a:off x="825500" y="5320705"/>
            <a:ext cx="0" cy="487561"/>
          </a:xfrm>
          <a:prstGeom prst="line">
            <a:avLst/>
          </a:prstGeom>
          <a:noFill/>
          <a:ln w="25400">
            <a:solidFill>
              <a:srgbClr val="6B3FA0"/>
            </a:solidFill>
            <a:prstDash val="solid"/>
          </a:ln>
        </p:spPr>
      </p:sp>
      <p:sp>
        <p:nvSpPr>
          <p:cNvPr id="30" name="Text 28"/>
          <p:cNvSpPr/>
          <p:nvPr/>
        </p:nvSpPr>
        <p:spPr>
          <a:xfrm>
            <a:off x="977900" y="5333405"/>
            <a:ext cx="335302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Код неуспеха је стабилан.</a:t>
            </a:r>
            <a:endParaRPr lang="en-US" sz="1300" dirty="0"/>
          </a:p>
        </p:txBody>
      </p:sp>
      <p:sp>
        <p:nvSpPr>
          <p:cNvPr id="31" name="Shape 29"/>
          <p:cNvSpPr/>
          <p:nvPr/>
        </p:nvSpPr>
        <p:spPr>
          <a:xfrm>
            <a:off x="4398367" y="5320705"/>
            <a:ext cx="0" cy="487561"/>
          </a:xfrm>
          <a:prstGeom prst="line">
            <a:avLst/>
          </a:prstGeom>
          <a:noFill/>
          <a:ln w="25400">
            <a:solidFill>
              <a:srgbClr val="6B3FA0"/>
            </a:solidFill>
            <a:prstDash val="solid"/>
          </a:ln>
        </p:spPr>
      </p:sp>
      <p:sp>
        <p:nvSpPr>
          <p:cNvPr id="32" name="Text 30"/>
          <p:cNvSpPr/>
          <p:nvPr/>
        </p:nvSpPr>
        <p:spPr>
          <a:xfrm>
            <a:off x="4550767" y="5333405"/>
            <a:ext cx="335313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Клијент не мора да тумачи изузетак.</a:t>
            </a:r>
            <a:endParaRPr lang="en-US" sz="1300" dirty="0"/>
          </a:p>
        </p:txBody>
      </p:sp>
      <p:sp>
        <p:nvSpPr>
          <p:cNvPr id="33" name="Shape 31"/>
          <p:cNvSpPr/>
          <p:nvPr/>
        </p:nvSpPr>
        <p:spPr>
          <a:xfrm>
            <a:off x="7971334" y="5320705"/>
            <a:ext cx="0" cy="487561"/>
          </a:xfrm>
          <a:prstGeom prst="line">
            <a:avLst/>
          </a:prstGeom>
          <a:noFill/>
          <a:ln w="25400">
            <a:solidFill>
              <a:srgbClr val="E07B1F"/>
            </a:solidFill>
            <a:prstDash val="solid"/>
          </a:ln>
        </p:spPr>
      </p:sp>
      <p:sp>
        <p:nvSpPr>
          <p:cNvPr id="34" name="Text 32"/>
          <p:cNvSpPr/>
          <p:nvPr/>
        </p:nvSpPr>
        <p:spPr>
          <a:xfrm>
            <a:off x="8123734" y="5333405"/>
            <a:ext cx="335313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 директно проверава очекиван исход.</a:t>
            </a:r>
            <a:endParaRPr lang="en-US" sz="1300" dirty="0"/>
          </a:p>
        </p:txBody>
      </p:sp>
      <p:sp>
        <p:nvSpPr>
          <p:cNvPr id="35" name="Shape 33"/>
          <p:cNvSpPr/>
          <p:nvPr/>
        </p:nvSpPr>
        <p:spPr>
          <a:xfrm>
            <a:off x="812800" y="6209705"/>
            <a:ext cx="10566400" cy="0"/>
          </a:xfrm>
          <a:prstGeom prst="line">
            <a:avLst/>
          </a:prstGeom>
          <a:noFill/>
          <a:ln w="6350">
            <a:solidFill>
              <a:srgbClr val="D3DAE1"/>
            </a:solidFill>
            <a:prstDash val="solid"/>
          </a:ln>
        </p:spPr>
      </p:sp>
      <p:sp>
        <p:nvSpPr>
          <p:cNvPr id="36" name="Text 3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7" name="Text 3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Избор модела исхода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Модел исхода зависи од врсте грешке и места на коме она настаје.</a:t>
            </a:r>
            <a:endParaRPr lang="en-US" sz="1400" dirty="0"/>
          </a:p>
        </p:txBody>
      </p:sp>
      <p:sp>
        <p:nvSpPr>
          <p:cNvPr id="6" name="Shape 4"/>
          <p:cNvSpPr/>
          <p:nvPr/>
        </p:nvSpPr>
        <p:spPr>
          <a:xfrm>
            <a:off x="812800" y="2176661"/>
            <a:ext cx="10566400" cy="2596753"/>
          </a:xfrm>
          <a:prstGeom prst="roundRect">
            <a:avLst>
              <a:gd name="adj" fmla="val 3913"/>
            </a:avLst>
          </a:prstGeom>
          <a:solidFill>
            <a:srgbClr val="FCFCFB"/>
          </a:solidFill>
          <a:ln/>
        </p:spPr>
      </p:sp>
      <p:sp>
        <p:nvSpPr>
          <p:cNvPr id="7" name="Shape 5"/>
          <p:cNvSpPr/>
          <p:nvPr/>
        </p:nvSpPr>
        <p:spPr>
          <a:xfrm>
            <a:off x="812800" y="21766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577703"/>
        </p:xfrm>
        <a:graphic>
          <a:graphicData uri="http://schemas.openxmlformats.org/drawingml/2006/table">
            <a:tbl>
              <a:tblPr/>
              <a:tblGrid>
                <a:gridCol w="4746308"/>
                <a:gridCol w="5801043"/>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Ситуација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Препоручени модел</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BB9BE"/>
                      </a:solidFill>
                      <a:prstDash val="solid"/>
                      <a:round/>
                      <a:headEnd type="none" w="med" len="med"/>
                      <a:tailEnd type="none" w="med" len="med"/>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Неважећи пословни захтев</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Result и стабилан код неуспеха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Ентитет није пронађен</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NotFound исход или Result код</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База недоступна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инфраструктурна грешка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Нарушена доменска претпоставка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експлицитан неуспех у пословном слоју</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5975" y="5030589"/>
            <a:ext cx="5200650" cy="457795"/>
          </a:xfrm>
          <a:prstGeom prst="roundRect">
            <a:avLst>
              <a:gd name="adj" fmla="val 18726"/>
            </a:avLst>
          </a:prstGeom>
          <a:solidFill>
            <a:srgbClr val="EAE7EE"/>
          </a:solidFill>
          <a:ln w="6350">
            <a:solidFill>
              <a:srgbClr val="DBD1E8"/>
            </a:solidFill>
            <a:prstDash val="solid"/>
          </a:ln>
        </p:spPr>
      </p:sp>
      <p:pic>
        <p:nvPicPr>
          <p:cNvPr id="11" name="Image 0" descr="CheckCircle">    </p:cNvPr>
          <p:cNvPicPr>
            <a:picLocks noChangeAspect="1"/>
          </p:cNvPicPr>
          <p:nvPr/>
        </p:nvPicPr>
        <p:blipFill>
          <a:blip r:embed="rId1"/>
          <a:srcRect l="0" r="0" t="0" b="0"/>
          <a:stretch/>
        </p:blipFill>
        <p:spPr>
          <a:xfrm>
            <a:off x="971550" y="5157887"/>
            <a:ext cx="203200" cy="203200"/>
          </a:xfrm>
          <a:prstGeom prst="rect">
            <a:avLst/>
          </a:prstGeom>
        </p:spPr>
      </p:pic>
      <p:sp>
        <p:nvSpPr>
          <p:cNvPr id="12" name="Text 8"/>
          <p:cNvSpPr/>
          <p:nvPr/>
        </p:nvSpPr>
        <p:spPr>
          <a:xfrm>
            <a:off x="1276350" y="5148064"/>
            <a:ext cx="472224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Плаво: пословни исход који клијент обрађује.</a:t>
            </a:r>
            <a:endParaRPr lang="en-US" sz="1300" dirty="0"/>
          </a:p>
        </p:txBody>
      </p:sp>
      <p:sp>
        <p:nvSpPr>
          <p:cNvPr id="13" name="Shape 9"/>
          <p:cNvSpPr/>
          <p:nvPr/>
        </p:nvSpPr>
        <p:spPr>
          <a:xfrm>
            <a:off x="6175375" y="5030589"/>
            <a:ext cx="5200650" cy="457795"/>
          </a:xfrm>
          <a:prstGeom prst="roundRect">
            <a:avLst>
              <a:gd name="adj" fmla="val 18726"/>
            </a:avLst>
          </a:prstGeom>
          <a:solidFill>
            <a:srgbClr val="FBF1E6"/>
          </a:solidFill>
          <a:ln w="6350">
            <a:solidFill>
              <a:srgbClr val="E9B98C"/>
            </a:solidFill>
            <a:prstDash val="solid"/>
          </a:ln>
        </p:spPr>
      </p:sp>
      <p:pic>
        <p:nvPicPr>
          <p:cNvPr id="14" name="Image 1" descr="Warning">    </p:cNvPr>
          <p:cNvPicPr>
            <a:picLocks noChangeAspect="1"/>
          </p:cNvPicPr>
          <p:nvPr/>
        </p:nvPicPr>
        <p:blipFill>
          <a:blip r:embed="rId2"/>
          <a:srcRect l="0" r="0" t="0" b="0"/>
          <a:stretch/>
        </p:blipFill>
        <p:spPr>
          <a:xfrm>
            <a:off x="6330950" y="5157887"/>
            <a:ext cx="203200" cy="203200"/>
          </a:xfrm>
          <a:prstGeom prst="rect">
            <a:avLst/>
          </a:prstGeom>
        </p:spPr>
      </p:pic>
      <p:sp>
        <p:nvSpPr>
          <p:cNvPr id="15" name="Text 10"/>
          <p:cNvSpPr/>
          <p:nvPr/>
        </p:nvSpPr>
        <p:spPr>
          <a:xfrm>
            <a:off x="6635750" y="5148064"/>
            <a:ext cx="472224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Наранџасто: техничка грешка изван пословног тока.</a:t>
            </a:r>
            <a:endParaRPr lang="en-US" sz="1300" dirty="0"/>
          </a:p>
        </p:txBody>
      </p:sp>
      <p:sp>
        <p:nvSpPr>
          <p:cNvPr id="16" name="Shape 11"/>
          <p:cNvSpPr/>
          <p:nvPr/>
        </p:nvSpPr>
        <p:spPr>
          <a:xfrm>
            <a:off x="812800" y="6209705"/>
            <a:ext cx="10566400" cy="0"/>
          </a:xfrm>
          <a:prstGeom prst="line">
            <a:avLst/>
          </a:prstGeom>
          <a:noFill/>
          <a:ln w="6350">
            <a:solidFill>
              <a:srgbClr val="D3DAE1"/>
            </a:solidFill>
            <a:prstDash val="solid"/>
          </a:ln>
        </p:spPr>
      </p:sp>
      <p:sp>
        <p:nvSpPr>
          <p:cNvPr id="17"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8"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02 · ИСХОДИ И RESULT</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Кодови исхода као део уговора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Стабилни кодови омогућавају клијенту да поуздано обради очекивани неуспех.</a:t>
            </a:r>
            <a:endParaRPr lang="en-US" sz="1400" dirty="0"/>
          </a:p>
        </p:txBody>
      </p:sp>
      <p:sp>
        <p:nvSpPr>
          <p:cNvPr id="6" name="Shape 4"/>
          <p:cNvSpPr/>
          <p:nvPr/>
        </p:nvSpPr>
        <p:spPr>
          <a:xfrm>
            <a:off x="812800" y="2176661"/>
            <a:ext cx="10566400" cy="2596753"/>
          </a:xfrm>
          <a:prstGeom prst="roundRect">
            <a:avLst>
              <a:gd name="adj" fmla="val 3913"/>
            </a:avLst>
          </a:prstGeom>
          <a:solidFill>
            <a:srgbClr val="FCFCFB"/>
          </a:solidFill>
          <a:ln/>
        </p:spPr>
      </p:sp>
      <p:sp>
        <p:nvSpPr>
          <p:cNvPr id="7" name="Shape 5"/>
          <p:cNvSpPr/>
          <p:nvPr/>
        </p:nvSpPr>
        <p:spPr>
          <a:xfrm>
            <a:off x="812800" y="21766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766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89361"/>
          <a:ext cx="10547350" cy="2577703"/>
        </p:xfrm>
        <a:graphic>
          <a:graphicData uri="http://schemas.openxmlformats.org/drawingml/2006/table">
            <a:tbl>
              <a:tblPr/>
              <a:tblGrid>
                <a:gridCol w="5273675"/>
                <a:gridCol w="5273675"/>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Код</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Значење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BB9BE"/>
                      </a:solidFill>
                      <a:prstDash val="solid"/>
                      <a:round/>
                      <a:headEnd type="none" w="med" len="med"/>
                      <a:tailEnd type="none" w="med" len="med"/>
                    </a:lnL>
                    <a:lnR w="12700" cap="flat" cmpd="sng" algn="ctr">
                      <a:solidFill>
                        <a:srgbClr val="BBB9BE"/>
                      </a:solidFill>
                      <a:prstDash val="solid"/>
                      <a:round/>
                      <a:headEnd type="none" w="med" len="med"/>
                      <a:tailEnd type="none" w="med" len="med"/>
                    </a:lnR>
                    <a:lnT w="0" cap="flat" cmpd="sng" algn="ctr">
                      <a:noFill/>
                    </a:lnT>
                    <a:lnB w="12700" cap="flat" cmpd="sng" algn="ctr">
                      <a:solidFill>
                        <a:srgbClr val="BBB9BE"/>
                      </a:solidFill>
                      <a:prstDash val="solid"/>
                      <a:round/>
                      <a:headEnd type="none" w="med" len="med"/>
                      <a:tailEnd type="none" w="med" len="med"/>
                    </a:lnB>
                    <a:solidFill>
                      <a:srgbClr val="EAE7EE"/>
                    </a:solidFill>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InvalidPeriod</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почетак није пре краја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BB9BE"/>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ReservationMustBeInFuture</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термин није у будућности</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OverlappingReservation</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период се преклапа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6B3FA0"/>
                          </a:solidFill>
                          <a:latin typeface="IBM Plex Sans" pitchFamily="34" charset="0"/>
                          <a:ea typeface="IBM Plex Sans" pitchFamily="34" charset="-122"/>
                          <a:cs typeface="IBM Plex Sans" pitchFamily="34" charset="-120"/>
                        </a:rPr>
                        <a:t>AlreadyCancelled</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операција је већ извршена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5027414"/>
            <a:ext cx="10566400" cy="783530"/>
          </a:xfrm>
          <a:prstGeom prst="roundRect">
            <a:avLst>
              <a:gd name="adj" fmla="val 12967"/>
            </a:avLst>
          </a:prstGeom>
          <a:solidFill>
            <a:srgbClr val="EAE7EE"/>
          </a:solidFill>
          <a:ln/>
        </p:spPr>
      </p:sp>
      <p:sp>
        <p:nvSpPr>
          <p:cNvPr id="11" name="Shape 8"/>
          <p:cNvSpPr/>
          <p:nvPr/>
        </p:nvSpPr>
        <p:spPr>
          <a:xfrm>
            <a:off x="812800" y="5027414"/>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12" name="Text 9"/>
          <p:cNvSpPr/>
          <p:nvPr/>
        </p:nvSpPr>
        <p:spPr>
          <a:xfrm>
            <a:off x="1054100" y="517981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1054100" y="541853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Код се не мења када се промени текст поруке, па клијент и тестови остају стабилни.</a:t>
            </a:r>
            <a:endParaRPr lang="en-US" sz="1400" dirty="0"/>
          </a:p>
        </p:txBody>
      </p:sp>
      <p:sp>
        <p:nvSpPr>
          <p:cNvPr id="14" name="Shape 11"/>
          <p:cNvSpPr/>
          <p:nvPr/>
        </p:nvSpPr>
        <p:spPr>
          <a:xfrm>
            <a:off x="812800" y="6209705"/>
            <a:ext cx="10566400" cy="0"/>
          </a:xfrm>
          <a:prstGeom prst="line">
            <a:avLst/>
          </a:prstGeom>
          <a:noFill/>
          <a:ln w="6350">
            <a:solidFill>
              <a:srgbClr val="D3DAE1"/>
            </a:solidFill>
            <a:prstDash val="solid"/>
          </a:ln>
        </p:spPr>
      </p:sp>
      <p:sp>
        <p:nvSpPr>
          <p:cNvPr id="15"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E7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6B3FA0"/>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401590"/>
            <a:ext cx="792480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Сервис случаја употребе</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Оркестрација сценарија, зависности које се прослеђују споља и место сваког правила.</a:t>
            </a:r>
            <a:endParaRPr lang="en-US" sz="1400" dirty="0"/>
          </a:p>
        </p:txBody>
      </p:sp>
      <p:sp>
        <p:nvSpPr>
          <p:cNvPr id="6" name="Text 4"/>
          <p:cNvSpPr/>
          <p:nvPr/>
        </p:nvSpPr>
        <p:spPr>
          <a:xfrm>
            <a:off x="4270375" y="3915966"/>
            <a:ext cx="1575296"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ReservationService</a:t>
            </a:r>
            <a:endParaRPr lang="en-US" sz="1200" dirty="0"/>
          </a:p>
        </p:txBody>
      </p:sp>
      <p:sp>
        <p:nvSpPr>
          <p:cNvPr id="7" name="Text 5"/>
          <p:cNvSpPr/>
          <p:nvPr/>
        </p:nvSpPr>
        <p:spPr>
          <a:xfrm>
            <a:off x="5928221" y="3915966"/>
            <a:ext cx="176172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Dependency Injection</a:t>
            </a:r>
            <a:endParaRPr lang="en-US" sz="1200" dirty="0"/>
          </a:p>
        </p:txBody>
      </p:sp>
      <p:sp>
        <p:nvSpPr>
          <p:cNvPr id="8" name="Text 6"/>
          <p:cNvSpPr/>
          <p:nvPr/>
        </p:nvSpPr>
        <p:spPr>
          <a:xfrm>
            <a:off x="7772499" y="3915966"/>
            <a:ext cx="699790"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IClock</a:t>
            </a:r>
            <a:endParaRPr lang="en-US" sz="1200" dirty="0"/>
          </a:p>
        </p:txBody>
      </p:sp>
      <p:sp>
        <p:nvSpPr>
          <p:cNvPr id="9" name="Text 7"/>
          <p:cNvSpPr/>
          <p:nvPr/>
        </p:nvSpPr>
        <p:spPr>
          <a:xfrm>
            <a:off x="8554839" y="3915966"/>
            <a:ext cx="182145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Контролер и use-case</a:t>
            </a:r>
            <a:endParaRPr lang="en-US" sz="1200" dirty="0"/>
          </a:p>
        </p:txBody>
      </p:sp>
      <p:sp>
        <p:nvSpPr>
          <p:cNvPr id="10" name="Text 8"/>
          <p:cNvSpPr/>
          <p:nvPr/>
        </p:nvSpPr>
        <p:spPr>
          <a:xfrm>
            <a:off x="4270375" y="4319786"/>
            <a:ext cx="185449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Правила по слојевима</a:t>
            </a:r>
            <a:endParaRPr lang="en-US" sz="1200" dirty="0"/>
          </a:p>
        </p:txBody>
      </p:sp>
      <p:sp>
        <p:nvSpPr>
          <p:cNvPr id="11" name="Shape 9"/>
          <p:cNvSpPr/>
          <p:nvPr/>
        </p:nvSpPr>
        <p:spPr>
          <a:xfrm>
            <a:off x="812800" y="6209705"/>
            <a:ext cx="10566400" cy="0"/>
          </a:xfrm>
          <a:prstGeom prst="line">
            <a:avLst/>
          </a:prstGeom>
          <a:noFill/>
          <a:ln w="6350">
            <a:solidFill>
              <a:srgbClr val="BDBAC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Сервис случаја употребе</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Сервис координише сценарио преко доменских сервиса и уговора.</a:t>
            </a:r>
            <a:endParaRPr lang="en-US" sz="1400" dirty="0"/>
          </a:p>
        </p:txBody>
      </p:sp>
      <p:sp>
        <p:nvSpPr>
          <p:cNvPr id="6" name="Shape 4"/>
          <p:cNvSpPr/>
          <p:nvPr/>
        </p:nvSpPr>
        <p:spPr>
          <a:xfrm>
            <a:off x="815975" y="2078236"/>
            <a:ext cx="7105650" cy="3596977"/>
          </a:xfrm>
          <a:prstGeom prst="roundRect">
            <a:avLst>
              <a:gd name="adj" fmla="val 2736"/>
            </a:avLst>
          </a:prstGeom>
          <a:solidFill>
            <a:srgbClr val="FCFCFB"/>
          </a:solidFill>
          <a:ln w="6350">
            <a:solidFill>
              <a:srgbClr val="D3DAE1"/>
            </a:solidFill>
            <a:prstDash val="solid"/>
          </a:ln>
        </p:spPr>
      </p:sp>
      <p:sp>
        <p:nvSpPr>
          <p:cNvPr id="7" name="Text 5"/>
          <p:cNvSpPr/>
          <p:nvPr/>
        </p:nvSpPr>
        <p:spPr>
          <a:xfrm>
            <a:off x="996950" y="220841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a:t>
            </a:r>
            <a:endParaRPr lang="en-US" sz="1200" dirty="0"/>
          </a:p>
        </p:txBody>
      </p:sp>
      <p:sp>
        <p:nvSpPr>
          <p:cNvPr id="8" name="Text 6"/>
          <p:cNvSpPr/>
          <p:nvPr/>
        </p:nvSpPr>
        <p:spPr>
          <a:xfrm>
            <a:off x="996950" y="2459831"/>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ReservationService</a:t>
            </a:r>
            <a:endParaRPr lang="en-US" sz="1200" dirty="0"/>
          </a:p>
        </p:txBody>
      </p:sp>
      <p:sp>
        <p:nvSpPr>
          <p:cNvPr id="10" name="Text 8"/>
          <p:cNvSpPr/>
          <p:nvPr/>
        </p:nvSpPr>
        <p:spPr>
          <a:xfrm>
            <a:off x="996950" y="266551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65512"/>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7119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71192"/>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private readonly</a:t>
            </a:r>
            <a:r>
              <a:rPr lang="en-US" sz="1200" dirty="0">
                <a:solidFill>
                  <a:srgbClr val="13202D"/>
                </a:solidFill>
                <a:latin typeface="IBM Plex Mono" pitchFamily="49" charset="0"/>
                <a:ea typeface="IBM Plex Mono" pitchFamily="49" charset="-122"/>
                <a:cs typeface="IBM Plex Mono" pitchFamily="49" charset="-120"/>
              </a:rPr>
              <a:t> IReservationRepository _repository;</a:t>
            </a:r>
            <a:endParaRPr lang="en-US" sz="1200" dirty="0"/>
          </a:p>
        </p:txBody>
      </p:sp>
      <p:sp>
        <p:nvSpPr>
          <p:cNvPr id="14" name="Text 12"/>
          <p:cNvSpPr/>
          <p:nvPr/>
        </p:nvSpPr>
        <p:spPr>
          <a:xfrm>
            <a:off x="996950" y="307687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76873"/>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private readonly</a:t>
            </a:r>
            <a:r>
              <a:rPr lang="en-US" sz="1200" dirty="0">
                <a:solidFill>
                  <a:srgbClr val="13202D"/>
                </a:solidFill>
                <a:latin typeface="IBM Plex Mono" pitchFamily="49" charset="0"/>
                <a:ea typeface="IBM Plex Mono" pitchFamily="49" charset="-122"/>
                <a:cs typeface="IBM Plex Mono" pitchFamily="49" charset="-120"/>
              </a:rPr>
              <a:t> IClock _clock;</a:t>
            </a:r>
            <a:endParaRPr lang="en-US" sz="1200" dirty="0"/>
          </a:p>
        </p:txBody>
      </p:sp>
      <p:sp>
        <p:nvSpPr>
          <p:cNvPr id="16" name="Text 14"/>
          <p:cNvSpPr/>
          <p:nvPr/>
        </p:nvSpPr>
        <p:spPr>
          <a:xfrm>
            <a:off x="996950" y="328255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282553"/>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Result Reserve(ReservationRequest request)</a:t>
            </a:r>
            <a:endParaRPr lang="en-US" sz="1200" dirty="0"/>
          </a:p>
        </p:txBody>
      </p:sp>
      <p:sp>
        <p:nvSpPr>
          <p:cNvPr id="18" name="Text 16"/>
          <p:cNvSpPr/>
          <p:nvPr/>
        </p:nvSpPr>
        <p:spPr>
          <a:xfrm>
            <a:off x="996950" y="348823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488234"/>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0" name="Text 18"/>
          <p:cNvSpPr/>
          <p:nvPr/>
        </p:nvSpPr>
        <p:spPr>
          <a:xfrm>
            <a:off x="996950" y="369391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693914"/>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(request.From &lt;= _clock.UtcNow)</a:t>
            </a:r>
            <a:endParaRPr lang="en-US" sz="1200" dirty="0"/>
          </a:p>
        </p:txBody>
      </p:sp>
      <p:sp>
        <p:nvSpPr>
          <p:cNvPr id="22" name="Text 20"/>
          <p:cNvSpPr/>
          <p:nvPr/>
        </p:nvSpPr>
        <p:spPr>
          <a:xfrm>
            <a:off x="996950" y="389959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899595"/>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r>
              <a:rPr lang="en-US" sz="1200" dirty="0">
                <a:solidFill>
                  <a:srgbClr val="A8520A"/>
                </a:solidFill>
                <a:latin typeface="IBM Plex Mono" pitchFamily="49" charset="0"/>
                <a:ea typeface="IBM Plex Mono" pitchFamily="49" charset="-122"/>
                <a:cs typeface="IBM Plex Mono" pitchFamily="49" charset="-120"/>
              </a:rPr>
              <a:t>"ReservationMustBeInFuture"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4" name="Text 22"/>
          <p:cNvSpPr/>
          <p:nvPr/>
        </p:nvSpPr>
        <p:spPr>
          <a:xfrm>
            <a:off x="996950" y="410527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05275"/>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(_repository.HasOverlap(request.EquipmentId,</a:t>
            </a:r>
            <a:endParaRPr lang="en-US" sz="1200" dirty="0"/>
          </a:p>
        </p:txBody>
      </p:sp>
      <p:sp>
        <p:nvSpPr>
          <p:cNvPr id="26" name="Text 24"/>
          <p:cNvSpPr/>
          <p:nvPr/>
        </p:nvSpPr>
        <p:spPr>
          <a:xfrm>
            <a:off x="996950" y="431095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310955"/>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request.From, request.To))</a:t>
            </a:r>
            <a:endParaRPr lang="en-US" sz="1200" dirty="0"/>
          </a:p>
        </p:txBody>
      </p:sp>
      <p:sp>
        <p:nvSpPr>
          <p:cNvPr id="28" name="Text 26"/>
          <p:cNvSpPr/>
          <p:nvPr/>
        </p:nvSpPr>
        <p:spPr>
          <a:xfrm>
            <a:off x="996950" y="451663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516636"/>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Result.Fail(</a:t>
            </a:r>
            <a:r>
              <a:rPr lang="en-US" sz="1200" dirty="0">
                <a:solidFill>
                  <a:srgbClr val="A8520A"/>
                </a:solidFill>
                <a:latin typeface="IBM Plex Mono" pitchFamily="49" charset="0"/>
                <a:ea typeface="IBM Plex Mono" pitchFamily="49" charset="-122"/>
                <a:cs typeface="IBM Plex Mono" pitchFamily="49" charset="-120"/>
              </a:rPr>
              <a:t>"OverlappingReservation"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0" name="Text 28"/>
          <p:cNvSpPr/>
          <p:nvPr/>
        </p:nvSpPr>
        <p:spPr>
          <a:xfrm>
            <a:off x="996950" y="472231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722316"/>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 креирање преко factory метода и чување у repository</a:t>
            </a:r>
            <a:endParaRPr lang="en-US" sz="1200" dirty="0"/>
          </a:p>
        </p:txBody>
      </p:sp>
      <p:sp>
        <p:nvSpPr>
          <p:cNvPr id="32" name="Text 30"/>
          <p:cNvSpPr/>
          <p:nvPr/>
        </p:nvSpPr>
        <p:spPr>
          <a:xfrm>
            <a:off x="996950" y="492799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4927997"/>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Result.Ok();</a:t>
            </a:r>
            <a:endParaRPr lang="en-US" sz="1200" dirty="0"/>
          </a:p>
        </p:txBody>
      </p:sp>
      <p:sp>
        <p:nvSpPr>
          <p:cNvPr id="34" name="Text 32"/>
          <p:cNvSpPr/>
          <p:nvPr/>
        </p:nvSpPr>
        <p:spPr>
          <a:xfrm>
            <a:off x="996950" y="513367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133677"/>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6" name="Text 34"/>
          <p:cNvSpPr/>
          <p:nvPr/>
        </p:nvSpPr>
        <p:spPr>
          <a:xfrm>
            <a:off x="996950" y="5339358"/>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15</a:t>
            </a:r>
            <a:endParaRPr lang="en-US" sz="1200" dirty="0"/>
          </a:p>
        </p:txBody>
      </p:sp>
      <p:sp>
        <p:nvSpPr>
          <p:cNvPr id="37" name="Text 35"/>
          <p:cNvSpPr/>
          <p:nvPr/>
        </p:nvSpPr>
        <p:spPr>
          <a:xfrm>
            <a:off x="1377950" y="5339358"/>
            <a:ext cx="655358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8" name="Text 36"/>
          <p:cNvSpPr/>
          <p:nvPr/>
        </p:nvSpPr>
        <p:spPr>
          <a:xfrm>
            <a:off x="8204200" y="2075061"/>
            <a:ext cx="32702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9" name="Shape 37"/>
          <p:cNvSpPr/>
          <p:nvPr/>
        </p:nvSpPr>
        <p:spPr>
          <a:xfrm>
            <a:off x="8216900" y="2415381"/>
            <a:ext cx="0" cy="256480"/>
          </a:xfrm>
          <a:prstGeom prst="line">
            <a:avLst/>
          </a:prstGeom>
          <a:noFill/>
          <a:ln w="25400">
            <a:solidFill>
              <a:srgbClr val="6B3FA0"/>
            </a:solidFill>
            <a:prstDash val="solid"/>
          </a:ln>
        </p:spPr>
      </p:sp>
      <p:sp>
        <p:nvSpPr>
          <p:cNvPr id="40" name="Text 38"/>
          <p:cNvSpPr/>
          <p:nvPr/>
        </p:nvSpPr>
        <p:spPr>
          <a:xfrm>
            <a:off x="8369300" y="2428081"/>
            <a:ext cx="31001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Use-case проверава ток операције.</a:t>
            </a:r>
            <a:endParaRPr lang="en-US" sz="1300" dirty="0"/>
          </a:p>
        </p:txBody>
      </p:sp>
      <p:sp>
        <p:nvSpPr>
          <p:cNvPr id="41" name="Shape 39"/>
          <p:cNvSpPr/>
          <p:nvPr/>
        </p:nvSpPr>
        <p:spPr>
          <a:xfrm>
            <a:off x="8216900" y="2798862"/>
            <a:ext cx="0" cy="487561"/>
          </a:xfrm>
          <a:prstGeom prst="line">
            <a:avLst/>
          </a:prstGeom>
          <a:noFill/>
          <a:ln w="25400">
            <a:solidFill>
              <a:srgbClr val="6B3FA0"/>
            </a:solidFill>
            <a:prstDash val="solid"/>
          </a:ln>
        </p:spPr>
      </p:sp>
      <p:sp>
        <p:nvSpPr>
          <p:cNvPr id="42" name="Text 40"/>
          <p:cNvSpPr/>
          <p:nvPr/>
        </p:nvSpPr>
        <p:spPr>
          <a:xfrm>
            <a:off x="8369300" y="2811562"/>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Repository је уговор, а не конкретна база.</a:t>
            </a:r>
            <a:endParaRPr lang="en-US" sz="1300" dirty="0"/>
          </a:p>
        </p:txBody>
      </p:sp>
      <p:sp>
        <p:nvSpPr>
          <p:cNvPr id="43" name="Shape 41"/>
          <p:cNvSpPr/>
          <p:nvPr/>
        </p:nvSpPr>
        <p:spPr>
          <a:xfrm>
            <a:off x="8216900" y="3413423"/>
            <a:ext cx="0" cy="487561"/>
          </a:xfrm>
          <a:prstGeom prst="line">
            <a:avLst/>
          </a:prstGeom>
          <a:noFill/>
          <a:ln w="25400">
            <a:solidFill>
              <a:srgbClr val="E07B1F"/>
            </a:solidFill>
            <a:prstDash val="solid"/>
          </a:ln>
        </p:spPr>
      </p:sp>
      <p:sp>
        <p:nvSpPr>
          <p:cNvPr id="44" name="Text 42"/>
          <p:cNvSpPr/>
          <p:nvPr/>
        </p:nvSpPr>
        <p:spPr>
          <a:xfrm>
            <a:off x="8369300" y="3426123"/>
            <a:ext cx="31001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Време је зависност која се контролише.</a:t>
            </a:r>
            <a:endParaRPr lang="en-US" sz="1300" dirty="0"/>
          </a:p>
        </p:txBody>
      </p:sp>
      <p:sp>
        <p:nvSpPr>
          <p:cNvPr id="45" name="Shape 43"/>
          <p:cNvSpPr/>
          <p:nvPr/>
        </p:nvSpPr>
        <p:spPr>
          <a:xfrm>
            <a:off x="812800" y="6209705"/>
            <a:ext cx="10566400" cy="0"/>
          </a:xfrm>
          <a:prstGeom prst="line">
            <a:avLst/>
          </a:prstGeom>
          <a:noFill/>
          <a:ln w="6350">
            <a:solidFill>
              <a:srgbClr val="D3DAE1"/>
            </a:solidFill>
            <a:prstDash val="solid"/>
          </a:ln>
        </p:spPr>
      </p:sp>
      <p:sp>
        <p:nvSpPr>
          <p:cNvPr id="46" name="Text 44"/>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7" name="Text 45"/>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Dependency Injection</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Променљиве зависности прослеђују се споља преко јасних уговора.</a:t>
            </a:r>
            <a:endParaRPr lang="en-US" sz="1400" dirty="0"/>
          </a:p>
        </p:txBody>
      </p:sp>
      <p:sp>
        <p:nvSpPr>
          <p:cNvPr id="6" name="Shape 4"/>
          <p:cNvSpPr/>
          <p:nvPr/>
        </p:nvSpPr>
        <p:spPr>
          <a:xfrm>
            <a:off x="815975" y="2179836"/>
            <a:ext cx="2571750" cy="1583531"/>
          </a:xfrm>
          <a:prstGeom prst="roundRect">
            <a:avLst>
              <a:gd name="adj" fmla="val 6216"/>
            </a:avLst>
          </a:prstGeom>
          <a:solidFill>
            <a:srgbClr val="FCFCFB"/>
          </a:solidFill>
          <a:ln w="6350">
            <a:solidFill>
              <a:srgbClr val="D3DAE1"/>
            </a:solidFill>
            <a:prstDash val="solid"/>
          </a:ln>
        </p:spPr>
      </p:sp>
      <p:sp>
        <p:nvSpPr>
          <p:cNvPr id="7" name="Text 5"/>
          <p:cNvSpPr/>
          <p:nvPr/>
        </p:nvSpPr>
        <p:spPr>
          <a:xfrm>
            <a:off x="984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01</a:t>
            </a:r>
            <a:endParaRPr lang="en-US" sz="2200" dirty="0"/>
          </a:p>
        </p:txBody>
      </p:sp>
      <p:sp>
        <p:nvSpPr>
          <p:cNvPr id="8" name="Shape 6"/>
          <p:cNvSpPr/>
          <p:nvPr/>
        </p:nvSpPr>
        <p:spPr>
          <a:xfrm>
            <a:off x="2889250" y="2378571"/>
            <a:ext cx="330200" cy="330200"/>
          </a:xfrm>
          <a:prstGeom prst="roundRect">
            <a:avLst>
              <a:gd name="adj" fmla="val 23077"/>
            </a:avLst>
          </a:prstGeom>
          <a:solidFill>
            <a:srgbClr val="EAE4F2"/>
          </a:solidFill>
          <a:ln/>
        </p:spPr>
      </p:sp>
      <p:pic>
        <p:nvPicPr>
          <p:cNvPr id="9" name="Image 0" descr="Clock">    </p:cNvPr>
          <p:cNvPicPr>
            <a:picLocks noChangeAspect="1"/>
          </p:cNvPicPr>
          <p:nvPr/>
        </p:nvPicPr>
        <p:blipFill>
          <a:blip r:embed="rId1"/>
          <a:srcRect l="0" r="0" t="0" b="0"/>
          <a:stretch/>
        </p:blipFill>
        <p:spPr>
          <a:xfrm>
            <a:off x="2959100" y="2448421"/>
            <a:ext cx="190500" cy="190500"/>
          </a:xfrm>
          <a:prstGeom prst="rect">
            <a:avLst/>
          </a:prstGeom>
        </p:spPr>
      </p:pic>
      <p:sp>
        <p:nvSpPr>
          <p:cNvPr id="10" name="Text 7"/>
          <p:cNvSpPr/>
          <p:nvPr/>
        </p:nvSpPr>
        <p:spPr>
          <a:xfrm>
            <a:off x="984250" y="282813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IClock</a:t>
            </a:r>
            <a:endParaRPr lang="en-US" sz="1500" dirty="0"/>
          </a:p>
        </p:txBody>
      </p:sp>
      <p:sp>
        <p:nvSpPr>
          <p:cNvPr id="11" name="Text 8"/>
          <p:cNvSpPr/>
          <p:nvPr/>
        </p:nvSpPr>
        <p:spPr>
          <a:xfrm>
            <a:off x="984250" y="3145631"/>
            <a:ext cx="23022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контролише време</a:t>
            </a:r>
            <a:endParaRPr lang="en-US" sz="1300" dirty="0"/>
          </a:p>
        </p:txBody>
      </p:sp>
      <p:sp>
        <p:nvSpPr>
          <p:cNvPr id="12" name="Shape 9"/>
          <p:cNvSpPr/>
          <p:nvPr/>
        </p:nvSpPr>
        <p:spPr>
          <a:xfrm>
            <a:off x="3482975" y="2179836"/>
            <a:ext cx="2571750" cy="1583531"/>
          </a:xfrm>
          <a:prstGeom prst="roundRect">
            <a:avLst>
              <a:gd name="adj" fmla="val 6216"/>
            </a:avLst>
          </a:prstGeom>
          <a:solidFill>
            <a:srgbClr val="FCFCFB"/>
          </a:solidFill>
          <a:ln w="6350">
            <a:solidFill>
              <a:srgbClr val="D3DAE1"/>
            </a:solidFill>
            <a:prstDash val="solid"/>
          </a:ln>
        </p:spPr>
      </p:sp>
      <p:sp>
        <p:nvSpPr>
          <p:cNvPr id="13" name="Text 10"/>
          <p:cNvSpPr/>
          <p:nvPr/>
        </p:nvSpPr>
        <p:spPr>
          <a:xfrm>
            <a:off x="3651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02</a:t>
            </a:r>
            <a:endParaRPr lang="en-US" sz="2200" dirty="0"/>
          </a:p>
        </p:txBody>
      </p:sp>
      <p:sp>
        <p:nvSpPr>
          <p:cNvPr id="14" name="Shape 11"/>
          <p:cNvSpPr/>
          <p:nvPr/>
        </p:nvSpPr>
        <p:spPr>
          <a:xfrm>
            <a:off x="5556250" y="2378571"/>
            <a:ext cx="330200" cy="330200"/>
          </a:xfrm>
          <a:prstGeom prst="roundRect">
            <a:avLst>
              <a:gd name="adj" fmla="val 23077"/>
            </a:avLst>
          </a:prstGeom>
          <a:solidFill>
            <a:srgbClr val="EAE4F2"/>
          </a:solidFill>
          <a:ln/>
        </p:spPr>
      </p:sp>
      <p:pic>
        <p:nvPicPr>
          <p:cNvPr id="15" name="Image 1" descr="Database">    </p:cNvPr>
          <p:cNvPicPr>
            <a:picLocks noChangeAspect="1"/>
          </p:cNvPicPr>
          <p:nvPr/>
        </p:nvPicPr>
        <p:blipFill>
          <a:blip r:embed="rId2"/>
          <a:srcRect l="0" r="0" t="0" b="0"/>
          <a:stretch/>
        </p:blipFill>
        <p:spPr>
          <a:xfrm>
            <a:off x="5626100" y="2448421"/>
            <a:ext cx="190500" cy="190500"/>
          </a:xfrm>
          <a:prstGeom prst="rect">
            <a:avLst/>
          </a:prstGeom>
        </p:spPr>
      </p:pic>
      <p:sp>
        <p:nvSpPr>
          <p:cNvPr id="16" name="Text 12"/>
          <p:cNvSpPr/>
          <p:nvPr/>
        </p:nvSpPr>
        <p:spPr>
          <a:xfrm>
            <a:off x="3651250" y="282813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Repository</a:t>
            </a:r>
            <a:endParaRPr lang="en-US" sz="1500" dirty="0"/>
          </a:p>
        </p:txBody>
      </p:sp>
      <p:sp>
        <p:nvSpPr>
          <p:cNvPr id="17" name="Text 13"/>
          <p:cNvSpPr/>
          <p:nvPr/>
        </p:nvSpPr>
        <p:spPr>
          <a:xfrm>
            <a:off x="3651250" y="3145631"/>
            <a:ext cx="23022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складиште као уговор</a:t>
            </a:r>
            <a:endParaRPr lang="en-US" sz="1300" dirty="0"/>
          </a:p>
        </p:txBody>
      </p:sp>
      <p:sp>
        <p:nvSpPr>
          <p:cNvPr id="18" name="Shape 14"/>
          <p:cNvSpPr/>
          <p:nvPr/>
        </p:nvSpPr>
        <p:spPr>
          <a:xfrm>
            <a:off x="6149975" y="2179836"/>
            <a:ext cx="2571750" cy="1583531"/>
          </a:xfrm>
          <a:prstGeom prst="roundRect">
            <a:avLst>
              <a:gd name="adj" fmla="val 6216"/>
            </a:avLst>
          </a:prstGeom>
          <a:solidFill>
            <a:srgbClr val="FCFCFB"/>
          </a:solidFill>
          <a:ln w="6350">
            <a:solidFill>
              <a:srgbClr val="D3DAE1"/>
            </a:solidFill>
            <a:prstDash val="solid"/>
          </a:ln>
        </p:spPr>
      </p:sp>
      <p:sp>
        <p:nvSpPr>
          <p:cNvPr id="19" name="Text 15"/>
          <p:cNvSpPr/>
          <p:nvPr/>
        </p:nvSpPr>
        <p:spPr>
          <a:xfrm>
            <a:off x="6318250" y="234811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03</a:t>
            </a:r>
            <a:endParaRPr lang="en-US" sz="2200" dirty="0"/>
          </a:p>
        </p:txBody>
      </p:sp>
      <p:sp>
        <p:nvSpPr>
          <p:cNvPr id="20" name="Shape 16"/>
          <p:cNvSpPr/>
          <p:nvPr/>
        </p:nvSpPr>
        <p:spPr>
          <a:xfrm>
            <a:off x="8223250" y="2378571"/>
            <a:ext cx="330200" cy="330200"/>
          </a:xfrm>
          <a:prstGeom prst="roundRect">
            <a:avLst>
              <a:gd name="adj" fmla="val 23077"/>
            </a:avLst>
          </a:prstGeom>
          <a:solidFill>
            <a:srgbClr val="EAE4F2"/>
          </a:solidFill>
          <a:ln/>
        </p:spPr>
      </p:sp>
      <p:pic>
        <p:nvPicPr>
          <p:cNvPr id="21" name="Image 2" descr="Settings">    </p:cNvPr>
          <p:cNvPicPr>
            <a:picLocks noChangeAspect="1"/>
          </p:cNvPicPr>
          <p:nvPr/>
        </p:nvPicPr>
        <p:blipFill>
          <a:blip r:embed="rId3"/>
          <a:srcRect l="0" r="0" t="0" b="0"/>
          <a:stretch/>
        </p:blipFill>
        <p:spPr>
          <a:xfrm>
            <a:off x="8293100" y="2448421"/>
            <a:ext cx="190500" cy="190500"/>
          </a:xfrm>
          <a:prstGeom prst="rect">
            <a:avLst/>
          </a:prstGeom>
        </p:spPr>
      </p:pic>
      <p:sp>
        <p:nvSpPr>
          <p:cNvPr id="22" name="Text 17"/>
          <p:cNvSpPr/>
          <p:nvPr/>
        </p:nvSpPr>
        <p:spPr>
          <a:xfrm>
            <a:off x="6318250" y="282813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Mono" pitchFamily="49" charset="0"/>
                <a:ea typeface="IBM Plex Mono" pitchFamily="49" charset="-122"/>
                <a:cs typeface="IBM Plex Mono" pitchFamily="49" charset="-120"/>
              </a:rPr>
              <a:t>Service</a:t>
            </a:r>
            <a:endParaRPr lang="en-US" sz="1500" dirty="0"/>
          </a:p>
        </p:txBody>
      </p:sp>
      <p:sp>
        <p:nvSpPr>
          <p:cNvPr id="23" name="Text 18"/>
          <p:cNvSpPr/>
          <p:nvPr/>
        </p:nvSpPr>
        <p:spPr>
          <a:xfrm>
            <a:off x="6318250" y="3145631"/>
            <a:ext cx="23022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оркестрација use-case-а</a:t>
            </a:r>
            <a:endParaRPr lang="en-US" sz="1300" dirty="0"/>
          </a:p>
        </p:txBody>
      </p:sp>
      <p:sp>
        <p:nvSpPr>
          <p:cNvPr id="24" name="Shape 19"/>
          <p:cNvSpPr/>
          <p:nvPr/>
        </p:nvSpPr>
        <p:spPr>
          <a:xfrm>
            <a:off x="8813800" y="2176661"/>
            <a:ext cx="2565400" cy="1589881"/>
          </a:xfrm>
          <a:prstGeom prst="roundRect">
            <a:avLst>
              <a:gd name="adj" fmla="val 6390"/>
            </a:avLst>
          </a:prstGeom>
          <a:solidFill>
            <a:srgbClr val="13202D"/>
          </a:solidFill>
          <a:ln/>
        </p:spPr>
      </p:sp>
      <p:sp>
        <p:nvSpPr>
          <p:cNvPr id="25" name="Text 20"/>
          <p:cNvSpPr/>
          <p:nvPr/>
        </p:nvSpPr>
        <p:spPr>
          <a:xfrm>
            <a:off x="8978900" y="2341761"/>
            <a:ext cx="402431"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8B8DC"/>
                </a:solidFill>
                <a:latin typeface="IBM Plex Mono" pitchFamily="49" charset="0"/>
                <a:ea typeface="IBM Plex Mono" pitchFamily="49" charset="-122"/>
                <a:cs typeface="IBM Plex Mono" pitchFamily="49" charset="-120"/>
              </a:rPr>
              <a:t>04</a:t>
            </a:r>
            <a:endParaRPr lang="en-US" sz="2200" dirty="0"/>
          </a:p>
        </p:txBody>
      </p:sp>
      <p:sp>
        <p:nvSpPr>
          <p:cNvPr id="26" name="Shape 21"/>
          <p:cNvSpPr/>
          <p:nvPr/>
        </p:nvSpPr>
        <p:spPr>
          <a:xfrm>
            <a:off x="10883900" y="2372221"/>
            <a:ext cx="330200" cy="330200"/>
          </a:xfrm>
          <a:prstGeom prst="roundRect">
            <a:avLst>
              <a:gd name="adj" fmla="val 23077"/>
            </a:avLst>
          </a:prstGeom>
          <a:solidFill>
            <a:srgbClr val="FCFCFB"/>
          </a:solidFill>
          <a:ln/>
        </p:spPr>
      </p:sp>
      <p:pic>
        <p:nvPicPr>
          <p:cNvPr id="27" name="Image 3" descr="Wrench">    </p:cNvPr>
          <p:cNvPicPr>
            <a:picLocks noChangeAspect="1"/>
          </p:cNvPicPr>
          <p:nvPr/>
        </p:nvPicPr>
        <p:blipFill>
          <a:blip r:embed="rId4"/>
          <a:srcRect l="0" r="0" t="0" b="0"/>
          <a:stretch/>
        </p:blipFill>
        <p:spPr>
          <a:xfrm>
            <a:off x="10953750" y="2442071"/>
            <a:ext cx="190500" cy="190500"/>
          </a:xfrm>
          <a:prstGeom prst="rect">
            <a:avLst/>
          </a:prstGeom>
        </p:spPr>
      </p:pic>
      <p:sp>
        <p:nvSpPr>
          <p:cNvPr id="28" name="Text 22"/>
          <p:cNvSpPr/>
          <p:nvPr/>
        </p:nvSpPr>
        <p:spPr>
          <a:xfrm>
            <a:off x="8978900" y="2821781"/>
            <a:ext cx="23022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CFCFB"/>
                </a:solidFill>
                <a:latin typeface="IBM Plex Mono" pitchFamily="49" charset="0"/>
                <a:ea typeface="IBM Plex Mono" pitchFamily="49" charset="-122"/>
                <a:cs typeface="IBM Plex Mono" pitchFamily="49" charset="-120"/>
              </a:rPr>
              <a:t>Composition root</a:t>
            </a:r>
            <a:endParaRPr lang="en-US" sz="1500" dirty="0"/>
          </a:p>
        </p:txBody>
      </p:sp>
      <p:sp>
        <p:nvSpPr>
          <p:cNvPr id="29" name="Text 23"/>
          <p:cNvSpPr/>
          <p:nvPr/>
        </p:nvSpPr>
        <p:spPr>
          <a:xfrm>
            <a:off x="8978900" y="3139281"/>
            <a:ext cx="230225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E4F2"/>
                </a:solidFill>
                <a:latin typeface="IBM Plex Sans" pitchFamily="34" charset="0"/>
                <a:ea typeface="IBM Plex Sans" pitchFamily="34" charset="-122"/>
                <a:cs typeface="IBM Plex Sans" pitchFamily="34" charset="-120"/>
              </a:rPr>
              <a:t>бира конкретне имплементације</a:t>
            </a:r>
            <a:endParaRPr lang="en-US" sz="1300" dirty="0"/>
          </a:p>
        </p:txBody>
      </p:sp>
      <p:sp>
        <p:nvSpPr>
          <p:cNvPr id="30" name="Shape 24"/>
          <p:cNvSpPr/>
          <p:nvPr/>
        </p:nvSpPr>
        <p:spPr>
          <a:xfrm>
            <a:off x="812800" y="4020542"/>
            <a:ext cx="10566400" cy="783530"/>
          </a:xfrm>
          <a:prstGeom prst="roundRect">
            <a:avLst>
              <a:gd name="adj" fmla="val 12967"/>
            </a:avLst>
          </a:prstGeom>
          <a:solidFill>
            <a:srgbClr val="EAE7EE"/>
          </a:solidFill>
          <a:ln/>
        </p:spPr>
      </p:sp>
      <p:sp>
        <p:nvSpPr>
          <p:cNvPr id="31" name="Shape 25"/>
          <p:cNvSpPr/>
          <p:nvPr/>
        </p:nvSpPr>
        <p:spPr>
          <a:xfrm>
            <a:off x="812800" y="402054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32" name="Text 26"/>
          <p:cNvSpPr/>
          <p:nvPr/>
        </p:nvSpPr>
        <p:spPr>
          <a:xfrm>
            <a:off x="1054100" y="417294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33" name="Text 27"/>
          <p:cNvSpPr/>
          <p:nvPr/>
        </p:nvSpPr>
        <p:spPr>
          <a:xfrm>
            <a:off x="1054100" y="441166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Сервис добија зависности кроз конструктор и не креира их сам.</a:t>
            </a:r>
            <a:endParaRPr lang="en-US" sz="1400" dirty="0"/>
          </a:p>
        </p:txBody>
      </p:sp>
      <p:sp>
        <p:nvSpPr>
          <p:cNvPr id="34" name="Shape 28"/>
          <p:cNvSpPr/>
          <p:nvPr/>
        </p:nvSpPr>
        <p:spPr>
          <a:xfrm>
            <a:off x="812800" y="6209705"/>
            <a:ext cx="10566400" cy="0"/>
          </a:xfrm>
          <a:prstGeom prst="line">
            <a:avLst/>
          </a:prstGeom>
          <a:noFill/>
          <a:ln w="6350">
            <a:solidFill>
              <a:srgbClr val="D3DAE1"/>
            </a:solidFill>
            <a:prstDash val="solid"/>
          </a:ln>
        </p:spPr>
      </p:sp>
      <p:sp>
        <p:nvSpPr>
          <p:cNvPr id="35"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Време као контролисана зависност</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Правило „термин мора бити у будућности” постаје поновљиво тек када време долази преко уговора.</a:t>
            </a:r>
            <a:endParaRPr lang="en-US" sz="1400" dirty="0"/>
          </a:p>
        </p:txBody>
      </p:sp>
      <p:sp>
        <p:nvSpPr>
          <p:cNvPr id="6" name="Shape 4"/>
          <p:cNvSpPr/>
          <p:nvPr/>
        </p:nvSpPr>
        <p:spPr>
          <a:xfrm>
            <a:off x="815975" y="2078236"/>
            <a:ext cx="6597650" cy="3391297"/>
          </a:xfrm>
          <a:prstGeom prst="roundRect">
            <a:avLst>
              <a:gd name="adj" fmla="val 2902"/>
            </a:avLst>
          </a:prstGeom>
          <a:solidFill>
            <a:srgbClr val="FCFCFB"/>
          </a:solidFill>
          <a:ln w="6350">
            <a:solidFill>
              <a:srgbClr val="D3DAE1"/>
            </a:solidFill>
            <a:prstDash val="solid"/>
          </a:ln>
        </p:spPr>
      </p:sp>
      <p:sp>
        <p:nvSpPr>
          <p:cNvPr id="7" name="Text 5"/>
          <p:cNvSpPr/>
          <p:nvPr/>
        </p:nvSpPr>
        <p:spPr>
          <a:xfrm>
            <a:off x="996950" y="2208411"/>
            <a:ext cx="64227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Application и Tests</a:t>
            </a:r>
            <a:endParaRPr lang="en-US" sz="1200" dirty="0"/>
          </a:p>
        </p:txBody>
      </p:sp>
      <p:sp>
        <p:nvSpPr>
          <p:cNvPr id="8" name="Text 6"/>
          <p:cNvSpPr/>
          <p:nvPr/>
        </p:nvSpPr>
        <p:spPr>
          <a:xfrm>
            <a:off x="996950" y="2459831"/>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interface</a:t>
            </a:r>
            <a:r>
              <a:rPr lang="en-US" sz="1200" dirty="0">
                <a:solidFill>
                  <a:srgbClr val="13202D"/>
                </a:solidFill>
                <a:latin typeface="IBM Plex Mono" pitchFamily="49" charset="0"/>
                <a:ea typeface="IBM Plex Mono" pitchFamily="49" charset="-122"/>
                <a:cs typeface="IBM Plex Mono" pitchFamily="49" charset="-120"/>
              </a:rPr>
              <a:t> IClock</a:t>
            </a:r>
            <a:endParaRPr lang="en-US" sz="1200" dirty="0"/>
          </a:p>
        </p:txBody>
      </p:sp>
      <p:sp>
        <p:nvSpPr>
          <p:cNvPr id="10" name="Text 8"/>
          <p:cNvSpPr/>
          <p:nvPr/>
        </p:nvSpPr>
        <p:spPr>
          <a:xfrm>
            <a:off x="996950" y="266551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65512"/>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71192"/>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71192"/>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DateTime UtcNow { </a:t>
            </a:r>
            <a:r>
              <a:rPr lang="en-US" sz="1200" dirty="0">
                <a:solidFill>
                  <a:srgbClr val="6B3FA0"/>
                </a:solidFill>
                <a:latin typeface="IBM Plex Mono" pitchFamily="49" charset="0"/>
                <a:ea typeface="IBM Plex Mono" pitchFamily="49" charset="-122"/>
                <a:cs typeface="IBM Plex Mono" pitchFamily="49" charset="-120"/>
              </a:rPr>
              <a:t>get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4" name="Text 12"/>
          <p:cNvSpPr/>
          <p:nvPr/>
        </p:nvSpPr>
        <p:spPr>
          <a:xfrm>
            <a:off x="996950" y="307687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76873"/>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6" name="Text 14"/>
          <p:cNvSpPr/>
          <p:nvPr/>
        </p:nvSpPr>
        <p:spPr>
          <a:xfrm>
            <a:off x="996950" y="3282553"/>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282553"/>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у раду апликације: стварно време</a:t>
            </a:r>
            <a:endParaRPr lang="en-US" sz="1200" dirty="0"/>
          </a:p>
        </p:txBody>
      </p:sp>
      <p:sp>
        <p:nvSpPr>
          <p:cNvPr id="18" name="Text 16"/>
          <p:cNvSpPr/>
          <p:nvPr/>
        </p:nvSpPr>
        <p:spPr>
          <a:xfrm>
            <a:off x="996950" y="348823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488234"/>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SystemClock : IClock</a:t>
            </a:r>
            <a:endParaRPr lang="en-US" sz="1200" dirty="0"/>
          </a:p>
        </p:txBody>
      </p:sp>
      <p:sp>
        <p:nvSpPr>
          <p:cNvPr id="20" name="Text 18"/>
          <p:cNvSpPr/>
          <p:nvPr/>
        </p:nvSpPr>
        <p:spPr>
          <a:xfrm>
            <a:off x="996950" y="3693914"/>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693914"/>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2" name="Text 20"/>
          <p:cNvSpPr/>
          <p:nvPr/>
        </p:nvSpPr>
        <p:spPr>
          <a:xfrm>
            <a:off x="996950" y="389959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899595"/>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DateTime UtcNow =&gt; DateTime.UtcNow;</a:t>
            </a:r>
            <a:endParaRPr lang="en-US" sz="1200" dirty="0"/>
          </a:p>
        </p:txBody>
      </p:sp>
      <p:sp>
        <p:nvSpPr>
          <p:cNvPr id="24" name="Text 22"/>
          <p:cNvSpPr/>
          <p:nvPr/>
        </p:nvSpPr>
        <p:spPr>
          <a:xfrm>
            <a:off x="996950" y="410527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05275"/>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996950" y="4310955"/>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310955"/>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8590"/>
                </a:solidFill>
                <a:latin typeface="IBM Plex Mono" pitchFamily="49" charset="0"/>
                <a:ea typeface="IBM Plex Mono" pitchFamily="49" charset="-122"/>
                <a:cs typeface="IBM Plex Mono" pitchFamily="49" charset="-120"/>
              </a:rPr>
              <a:t>// у тесту: фиксно и поновљиво време</a:t>
            </a:r>
            <a:endParaRPr lang="en-US" sz="1200" dirty="0"/>
          </a:p>
        </p:txBody>
      </p:sp>
      <p:sp>
        <p:nvSpPr>
          <p:cNvPr id="28" name="Text 26"/>
          <p:cNvSpPr/>
          <p:nvPr/>
        </p:nvSpPr>
        <p:spPr>
          <a:xfrm>
            <a:off x="996950" y="451663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516636"/>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3FA0"/>
                </a:solidFill>
                <a:latin typeface="IBM Plex Mono" pitchFamily="49" charset="0"/>
                <a:ea typeface="IBM Plex Mono" pitchFamily="49" charset="-122"/>
                <a:cs typeface="IBM Plex Mono" pitchFamily="49" charset="-120"/>
              </a:rPr>
              <a:t>public sealed class</a:t>
            </a:r>
            <a:r>
              <a:rPr lang="en-US" sz="1200" dirty="0">
                <a:solidFill>
                  <a:srgbClr val="13202D"/>
                </a:solidFill>
                <a:latin typeface="IBM Plex Mono" pitchFamily="49" charset="0"/>
                <a:ea typeface="IBM Plex Mono" pitchFamily="49" charset="-122"/>
                <a:cs typeface="IBM Plex Mono" pitchFamily="49" charset="-120"/>
              </a:rPr>
              <a:t> FixedClock(DateTime now) : IClock</a:t>
            </a:r>
            <a:endParaRPr lang="en-US" sz="1200" dirty="0"/>
          </a:p>
        </p:txBody>
      </p:sp>
      <p:sp>
        <p:nvSpPr>
          <p:cNvPr id="30" name="Text 28"/>
          <p:cNvSpPr/>
          <p:nvPr/>
        </p:nvSpPr>
        <p:spPr>
          <a:xfrm>
            <a:off x="996950" y="4722316"/>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722316"/>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2" name="Text 30"/>
          <p:cNvSpPr/>
          <p:nvPr/>
        </p:nvSpPr>
        <p:spPr>
          <a:xfrm>
            <a:off x="996950" y="492799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4927997"/>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6B3FA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DateTime UtcNow =&gt; now;</a:t>
            </a:r>
            <a:endParaRPr lang="en-US" sz="1200" dirty="0"/>
          </a:p>
        </p:txBody>
      </p:sp>
      <p:sp>
        <p:nvSpPr>
          <p:cNvPr id="34" name="Text 32"/>
          <p:cNvSpPr/>
          <p:nvPr/>
        </p:nvSpPr>
        <p:spPr>
          <a:xfrm>
            <a:off x="996950" y="5133677"/>
            <a:ext cx="3302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133677"/>
            <a:ext cx="603034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6" name="Text 34"/>
          <p:cNvSpPr/>
          <p:nvPr/>
        </p:nvSpPr>
        <p:spPr>
          <a:xfrm>
            <a:off x="7721600" y="20750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7" name="Shape 35"/>
          <p:cNvSpPr/>
          <p:nvPr/>
        </p:nvSpPr>
        <p:spPr>
          <a:xfrm>
            <a:off x="7734300" y="2415381"/>
            <a:ext cx="0" cy="487561"/>
          </a:xfrm>
          <a:prstGeom prst="line">
            <a:avLst/>
          </a:prstGeom>
          <a:noFill/>
          <a:ln w="25400">
            <a:solidFill>
              <a:srgbClr val="E07B1F"/>
            </a:solidFill>
            <a:prstDash val="solid"/>
          </a:ln>
        </p:spPr>
      </p:sp>
      <p:sp>
        <p:nvSpPr>
          <p:cNvPr id="38" name="Text 36"/>
          <p:cNvSpPr/>
          <p:nvPr/>
        </p:nvSpPr>
        <p:spPr>
          <a:xfrm>
            <a:off x="7886700" y="242808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DateTime.Now у сервису чини тест зависним од тренутка покретања.</a:t>
            </a:r>
            <a:endParaRPr lang="en-US" sz="1300" dirty="0"/>
          </a:p>
        </p:txBody>
      </p:sp>
      <p:sp>
        <p:nvSpPr>
          <p:cNvPr id="39" name="Shape 37"/>
          <p:cNvSpPr/>
          <p:nvPr/>
        </p:nvSpPr>
        <p:spPr>
          <a:xfrm>
            <a:off x="7734300" y="3029942"/>
            <a:ext cx="0" cy="487561"/>
          </a:xfrm>
          <a:prstGeom prst="line">
            <a:avLst/>
          </a:prstGeom>
          <a:noFill/>
          <a:ln w="25400">
            <a:solidFill>
              <a:srgbClr val="6B3FA0"/>
            </a:solidFill>
            <a:prstDash val="solid"/>
          </a:ln>
        </p:spPr>
      </p:sp>
      <p:sp>
        <p:nvSpPr>
          <p:cNvPr id="40" name="Text 38"/>
          <p:cNvSpPr/>
          <p:nvPr/>
        </p:nvSpPr>
        <p:spPr>
          <a:xfrm>
            <a:off x="7886700" y="30426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Апликација користи SystemClock, а тест FixedClock.</a:t>
            </a:r>
            <a:endParaRPr lang="en-US" sz="1300" dirty="0"/>
          </a:p>
        </p:txBody>
      </p:sp>
      <p:sp>
        <p:nvSpPr>
          <p:cNvPr id="41" name="Shape 39"/>
          <p:cNvSpPr/>
          <p:nvPr/>
        </p:nvSpPr>
        <p:spPr>
          <a:xfrm>
            <a:off x="7734300" y="3644503"/>
            <a:ext cx="0" cy="487561"/>
          </a:xfrm>
          <a:prstGeom prst="line">
            <a:avLst/>
          </a:prstGeom>
          <a:noFill/>
          <a:ln w="25400">
            <a:solidFill>
              <a:srgbClr val="6B3FA0"/>
            </a:solidFill>
            <a:prstDash val="solid"/>
          </a:ln>
        </p:spPr>
      </p:sp>
      <p:sp>
        <p:nvSpPr>
          <p:cNvPr id="42" name="Text 40"/>
          <p:cNvSpPr/>
          <p:nvPr/>
        </p:nvSpPr>
        <p:spPr>
          <a:xfrm>
            <a:off x="7886700" y="365720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Од .NET 8 постоји и уграђени TimeProvider са истом улогом.</a:t>
            </a:r>
            <a:endParaRPr lang="en-US" sz="1300" dirty="0"/>
          </a:p>
        </p:txBody>
      </p:sp>
      <p:sp>
        <p:nvSpPr>
          <p:cNvPr id="43" name="Shape 41"/>
          <p:cNvSpPr/>
          <p:nvPr/>
        </p:nvSpPr>
        <p:spPr>
          <a:xfrm>
            <a:off x="812800" y="6209705"/>
            <a:ext cx="10566400" cy="0"/>
          </a:xfrm>
          <a:prstGeom prst="line">
            <a:avLst/>
          </a:prstGeom>
          <a:noFill/>
          <a:ln w="6350">
            <a:solidFill>
              <a:srgbClr val="D3DAE1"/>
            </a:solidFill>
            <a:prstDash val="solid"/>
          </a:ln>
        </p:spPr>
      </p:sp>
      <p:sp>
        <p:nvSpPr>
          <p:cNvPr id="44" name="Text 4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5" name="Text 4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Положај пословних правила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Контролер преводи улаз, позива случај употребе и мапира резултат.</a:t>
            </a:r>
            <a:endParaRPr lang="en-US" sz="1400" dirty="0"/>
          </a:p>
        </p:txBody>
      </p:sp>
      <p:sp>
        <p:nvSpPr>
          <p:cNvPr id="6" name="Shape 4"/>
          <p:cNvSpPr/>
          <p:nvPr/>
        </p:nvSpPr>
        <p:spPr>
          <a:xfrm>
            <a:off x="815975" y="2179836"/>
            <a:ext cx="4984750" cy="2429272"/>
          </a:xfrm>
          <a:prstGeom prst="roundRect">
            <a:avLst>
              <a:gd name="adj" fmla="val 4052"/>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FBF1E6"/>
          </a:solidFill>
          <a:ln/>
        </p:spPr>
      </p:sp>
      <p:pic>
        <p:nvPicPr>
          <p:cNvPr id="8" name="Image 0" descr="Globe">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479550" y="2416671"/>
            <a:ext cx="11337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Controller</a:t>
            </a:r>
            <a:endParaRPr lang="en-US" sz="1600" dirty="0"/>
          </a:p>
        </p:txBody>
      </p:sp>
      <p:sp>
        <p:nvSpPr>
          <p:cNvPr id="10" name="Shape 7"/>
          <p:cNvSpPr/>
          <p:nvPr/>
        </p:nvSpPr>
        <p:spPr>
          <a:xfrm>
            <a:off x="1022350" y="2821186"/>
            <a:ext cx="4572000" cy="0"/>
          </a:xfrm>
          <a:prstGeom prst="line">
            <a:avLst/>
          </a:prstGeom>
          <a:noFill/>
          <a:ln w="6350">
            <a:solidFill>
              <a:srgbClr val="E3E8EE"/>
            </a:solidFill>
            <a:prstDash val="solid"/>
          </a:ln>
        </p:spPr>
      </p:sp>
      <p:sp>
        <p:nvSpPr>
          <p:cNvPr id="11" name="Text 8"/>
          <p:cNvSpPr/>
          <p:nvPr/>
        </p:nvSpPr>
        <p:spPr>
          <a:xfrm>
            <a:off x="1022350" y="291326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прима захтев</a:t>
            </a:r>
            <a:endParaRPr lang="en-US" sz="1300" dirty="0"/>
          </a:p>
        </p:txBody>
      </p:sp>
      <p:sp>
        <p:nvSpPr>
          <p:cNvPr id="12" name="Shape 9"/>
          <p:cNvSpPr/>
          <p:nvPr/>
        </p:nvSpPr>
        <p:spPr>
          <a:xfrm>
            <a:off x="1022350" y="3249116"/>
            <a:ext cx="4572000" cy="0"/>
          </a:xfrm>
          <a:prstGeom prst="line">
            <a:avLst/>
          </a:prstGeom>
          <a:noFill/>
          <a:ln w="6350">
            <a:solidFill>
              <a:srgbClr val="E3E8EE"/>
            </a:solidFill>
            <a:prstDash val="solid"/>
          </a:ln>
        </p:spPr>
      </p:sp>
      <p:sp>
        <p:nvSpPr>
          <p:cNvPr id="13" name="Text 10"/>
          <p:cNvSpPr/>
          <p:nvPr/>
        </p:nvSpPr>
        <p:spPr>
          <a:xfrm>
            <a:off x="1022350" y="334119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валидација формата</a:t>
            </a:r>
            <a:endParaRPr lang="en-US" sz="1300" dirty="0"/>
          </a:p>
        </p:txBody>
      </p:sp>
      <p:sp>
        <p:nvSpPr>
          <p:cNvPr id="14" name="Shape 11"/>
          <p:cNvSpPr/>
          <p:nvPr/>
        </p:nvSpPr>
        <p:spPr>
          <a:xfrm>
            <a:off x="1022350" y="3677047"/>
            <a:ext cx="4572000" cy="0"/>
          </a:xfrm>
          <a:prstGeom prst="line">
            <a:avLst/>
          </a:prstGeom>
          <a:noFill/>
          <a:ln w="6350">
            <a:solidFill>
              <a:srgbClr val="E3E8EE"/>
            </a:solidFill>
            <a:prstDash val="solid"/>
          </a:ln>
        </p:spPr>
      </p:sp>
      <p:sp>
        <p:nvSpPr>
          <p:cNvPr id="15" name="Text 12"/>
          <p:cNvSpPr/>
          <p:nvPr/>
        </p:nvSpPr>
        <p:spPr>
          <a:xfrm>
            <a:off x="1022350" y="376912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позива application use-case</a:t>
            </a:r>
            <a:endParaRPr lang="en-US" sz="1300" dirty="0"/>
          </a:p>
        </p:txBody>
      </p:sp>
      <p:sp>
        <p:nvSpPr>
          <p:cNvPr id="16" name="Shape 13"/>
          <p:cNvSpPr/>
          <p:nvPr/>
        </p:nvSpPr>
        <p:spPr>
          <a:xfrm>
            <a:off x="1022350" y="4104977"/>
            <a:ext cx="4572000" cy="0"/>
          </a:xfrm>
          <a:prstGeom prst="line">
            <a:avLst/>
          </a:prstGeom>
          <a:noFill/>
          <a:ln w="6350">
            <a:solidFill>
              <a:srgbClr val="E3E8EE"/>
            </a:solidFill>
            <a:prstDash val="solid"/>
          </a:ln>
        </p:spPr>
      </p:sp>
      <p:sp>
        <p:nvSpPr>
          <p:cNvPr id="17" name="Text 14"/>
          <p:cNvSpPr/>
          <p:nvPr/>
        </p:nvSpPr>
        <p:spPr>
          <a:xfrm>
            <a:off x="1022350" y="419705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мапира Result у HTTP или UI одговор</a:t>
            </a:r>
            <a:endParaRPr lang="en-US" sz="1300" dirty="0"/>
          </a:p>
        </p:txBody>
      </p:sp>
      <p:pic>
        <p:nvPicPr>
          <p:cNvPr id="18" name="Image 1" descr="arrow-right">    </p:cNvPr>
          <p:cNvPicPr>
            <a:picLocks noChangeAspect="1"/>
          </p:cNvPicPr>
          <p:nvPr/>
        </p:nvPicPr>
        <p:blipFill>
          <a:blip r:embed="rId2"/>
          <a:srcRect l="0" r="0" t="0" b="0"/>
          <a:stretch/>
        </p:blipFill>
        <p:spPr>
          <a:xfrm>
            <a:off x="5981700" y="3337322"/>
            <a:ext cx="228600" cy="114300"/>
          </a:xfrm>
          <a:prstGeom prst="rect">
            <a:avLst/>
          </a:prstGeom>
        </p:spPr>
      </p:pic>
      <p:sp>
        <p:nvSpPr>
          <p:cNvPr id="19" name="Shape 15"/>
          <p:cNvSpPr/>
          <p:nvPr/>
        </p:nvSpPr>
        <p:spPr>
          <a:xfrm>
            <a:off x="6391275" y="2179836"/>
            <a:ext cx="4984750" cy="2429272"/>
          </a:xfrm>
          <a:prstGeom prst="roundRect">
            <a:avLst>
              <a:gd name="adj" fmla="val 4052"/>
            </a:avLst>
          </a:prstGeom>
          <a:solidFill>
            <a:srgbClr val="FCFCFB"/>
          </a:solidFill>
          <a:ln w="6350">
            <a:solidFill>
              <a:srgbClr val="D3DAE1"/>
            </a:solidFill>
            <a:prstDash val="solid"/>
          </a:ln>
        </p:spPr>
      </p:sp>
      <p:sp>
        <p:nvSpPr>
          <p:cNvPr id="20" name="Shape 16"/>
          <p:cNvSpPr/>
          <p:nvPr/>
        </p:nvSpPr>
        <p:spPr>
          <a:xfrm>
            <a:off x="6597650" y="2360811"/>
            <a:ext cx="355600" cy="355600"/>
          </a:xfrm>
          <a:prstGeom prst="roundRect">
            <a:avLst>
              <a:gd name="adj" fmla="val 21429"/>
            </a:avLst>
          </a:prstGeom>
          <a:solidFill>
            <a:srgbClr val="EAE4F2"/>
          </a:solidFill>
          <a:ln/>
        </p:spPr>
      </p:sp>
      <p:pic>
        <p:nvPicPr>
          <p:cNvPr id="21" name="Image 2" descr="Settings">    </p:cNvPr>
          <p:cNvPicPr>
            <a:picLocks noChangeAspect="1"/>
          </p:cNvPicPr>
          <p:nvPr/>
        </p:nvPicPr>
        <p:blipFill>
          <a:blip r:embed="rId3"/>
          <a:srcRect l="0" r="0" t="0" b="0"/>
          <a:stretch/>
        </p:blipFill>
        <p:spPr>
          <a:xfrm>
            <a:off x="6673850" y="2437011"/>
            <a:ext cx="203200" cy="203200"/>
          </a:xfrm>
          <a:prstGeom prst="rect">
            <a:avLst/>
          </a:prstGeom>
        </p:spPr>
      </p:pic>
      <p:sp>
        <p:nvSpPr>
          <p:cNvPr id="22" name="Text 17"/>
          <p:cNvSpPr/>
          <p:nvPr/>
        </p:nvSpPr>
        <p:spPr>
          <a:xfrm>
            <a:off x="7054850" y="2416671"/>
            <a:ext cx="10478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Use-case</a:t>
            </a:r>
            <a:endParaRPr lang="en-US" sz="1600" dirty="0"/>
          </a:p>
        </p:txBody>
      </p:sp>
      <p:sp>
        <p:nvSpPr>
          <p:cNvPr id="23" name="Shape 18"/>
          <p:cNvSpPr/>
          <p:nvPr/>
        </p:nvSpPr>
        <p:spPr>
          <a:xfrm>
            <a:off x="6597650" y="2821186"/>
            <a:ext cx="4572000" cy="0"/>
          </a:xfrm>
          <a:prstGeom prst="line">
            <a:avLst/>
          </a:prstGeom>
          <a:noFill/>
          <a:ln w="6350">
            <a:solidFill>
              <a:srgbClr val="E3E8EE"/>
            </a:solidFill>
            <a:prstDash val="solid"/>
          </a:ln>
        </p:spPr>
      </p:sp>
      <p:sp>
        <p:nvSpPr>
          <p:cNvPr id="24" name="Text 19"/>
          <p:cNvSpPr/>
          <p:nvPr/>
        </p:nvSpPr>
        <p:spPr>
          <a:xfrm>
            <a:off x="6597650" y="291326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проверава пословни ток</a:t>
            </a:r>
            <a:endParaRPr lang="en-US" sz="1300" dirty="0"/>
          </a:p>
        </p:txBody>
      </p:sp>
      <p:sp>
        <p:nvSpPr>
          <p:cNvPr id="25" name="Shape 20"/>
          <p:cNvSpPr/>
          <p:nvPr/>
        </p:nvSpPr>
        <p:spPr>
          <a:xfrm>
            <a:off x="6597650" y="3249116"/>
            <a:ext cx="4572000" cy="0"/>
          </a:xfrm>
          <a:prstGeom prst="line">
            <a:avLst/>
          </a:prstGeom>
          <a:noFill/>
          <a:ln w="6350">
            <a:solidFill>
              <a:srgbClr val="E3E8EE"/>
            </a:solidFill>
            <a:prstDash val="solid"/>
          </a:ln>
        </p:spPr>
      </p:sp>
      <p:sp>
        <p:nvSpPr>
          <p:cNvPr id="26" name="Text 21"/>
          <p:cNvSpPr/>
          <p:nvPr/>
        </p:nvSpPr>
        <p:spPr>
          <a:xfrm>
            <a:off x="6597650" y="3341191"/>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позива доменске операције</a:t>
            </a:r>
            <a:endParaRPr lang="en-US" sz="1300" dirty="0"/>
          </a:p>
        </p:txBody>
      </p:sp>
      <p:sp>
        <p:nvSpPr>
          <p:cNvPr id="27" name="Shape 22"/>
          <p:cNvSpPr/>
          <p:nvPr/>
        </p:nvSpPr>
        <p:spPr>
          <a:xfrm>
            <a:off x="6597650" y="3677047"/>
            <a:ext cx="4572000" cy="0"/>
          </a:xfrm>
          <a:prstGeom prst="line">
            <a:avLst/>
          </a:prstGeom>
          <a:noFill/>
          <a:ln w="6350">
            <a:solidFill>
              <a:srgbClr val="E3E8EE"/>
            </a:solidFill>
            <a:prstDash val="solid"/>
          </a:ln>
        </p:spPr>
      </p:sp>
      <p:sp>
        <p:nvSpPr>
          <p:cNvPr id="28" name="Text 23"/>
          <p:cNvSpPr/>
          <p:nvPr/>
        </p:nvSpPr>
        <p:spPr>
          <a:xfrm>
            <a:off x="6597650" y="376912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користи портове</a:t>
            </a:r>
            <a:endParaRPr lang="en-US" sz="1300" dirty="0"/>
          </a:p>
        </p:txBody>
      </p:sp>
      <p:sp>
        <p:nvSpPr>
          <p:cNvPr id="29" name="Shape 24"/>
          <p:cNvSpPr/>
          <p:nvPr/>
        </p:nvSpPr>
        <p:spPr>
          <a:xfrm>
            <a:off x="6597650" y="4104977"/>
            <a:ext cx="4572000" cy="0"/>
          </a:xfrm>
          <a:prstGeom prst="line">
            <a:avLst/>
          </a:prstGeom>
          <a:noFill/>
          <a:ln w="6350">
            <a:solidFill>
              <a:srgbClr val="E3E8EE"/>
            </a:solidFill>
            <a:prstDash val="solid"/>
          </a:ln>
        </p:spPr>
      </p:sp>
      <p:sp>
        <p:nvSpPr>
          <p:cNvPr id="30" name="Text 25"/>
          <p:cNvSpPr/>
          <p:nvPr/>
        </p:nvSpPr>
        <p:spPr>
          <a:xfrm>
            <a:off x="6597650" y="4197052"/>
            <a:ext cx="470916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враћа експлицитан исход</a:t>
            </a:r>
            <a:endParaRPr lang="en-US" sz="1300" dirty="0"/>
          </a:p>
        </p:txBody>
      </p:sp>
      <p:sp>
        <p:nvSpPr>
          <p:cNvPr id="31" name="Shape 26"/>
          <p:cNvSpPr/>
          <p:nvPr/>
        </p:nvSpPr>
        <p:spPr>
          <a:xfrm>
            <a:off x="812800" y="6209705"/>
            <a:ext cx="10566400" cy="0"/>
          </a:xfrm>
          <a:prstGeom prst="line">
            <a:avLst/>
          </a:prstGeom>
          <a:noFill/>
          <a:ln w="6350">
            <a:solidFill>
              <a:srgbClr val="D3DAE1"/>
            </a:solidFill>
            <a:prstDash val="solid"/>
          </a:ln>
        </p:spPr>
      </p:sp>
      <p:sp>
        <p:nvSpPr>
          <p:cNvPr id="32"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Граница случаја употребе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Случај употребе представља операцију са јасним улазом, пословним исходом и зависностима.</a:t>
            </a:r>
            <a:endParaRPr lang="en-US" sz="1400" dirty="0"/>
          </a:p>
        </p:txBody>
      </p:sp>
      <p:sp>
        <p:nvSpPr>
          <p:cNvPr id="6" name="Shape 4"/>
          <p:cNvSpPr/>
          <p:nvPr/>
        </p:nvSpPr>
        <p:spPr>
          <a:xfrm>
            <a:off x="831850" y="2176661"/>
            <a:ext cx="0" cy="413941"/>
          </a:xfrm>
          <a:prstGeom prst="line">
            <a:avLst/>
          </a:prstGeom>
          <a:noFill/>
          <a:ln w="38100">
            <a:solidFill>
              <a:srgbClr val="6B3FA0"/>
            </a:solidFill>
            <a:prstDash val="solid"/>
          </a:ln>
        </p:spPr>
      </p:sp>
      <p:sp>
        <p:nvSpPr>
          <p:cNvPr id="7" name="Text 5"/>
          <p:cNvSpPr/>
          <p:nvPr/>
        </p:nvSpPr>
        <p:spPr>
          <a:xfrm>
            <a:off x="1079500" y="2202061"/>
            <a:ext cx="9536049" cy="388541"/>
          </a:xfrm>
          <a:prstGeom prst="rect">
            <a:avLst/>
          </a:prstGeom>
          <a:noFill/>
          <a:ln/>
        </p:spPr>
        <p:txBody>
          <a:bodyPr wrap="square" lIns="0" tIns="0" rIns="0" bIns="0" rtlCol="0" anchor="t">
            <a:normAutofit/>
          </a:bodyPr>
          <a:lstStyle/>
          <a:p>
            <a:pPr algn="l" indent="0" marL="0">
              <a:lnSpc>
                <a:spcPts val="2860"/>
              </a:lnSpc>
              <a:buNone/>
            </a:pPr>
            <a:r>
              <a:rPr lang="en-US" sz="2200" b="1" spc="-25" kern="0" dirty="0">
                <a:solidFill>
                  <a:srgbClr val="13202D"/>
                </a:solidFill>
                <a:latin typeface="IBM Plex Sans" pitchFamily="34" charset="0"/>
                <a:ea typeface="IBM Plex Sans" pitchFamily="34" charset="-122"/>
                <a:cs typeface="IBM Plex Sans" pitchFamily="34" charset="-120"/>
              </a:rPr>
              <a:t>Добар use-case може да се објасни од захтева до резултата.</a:t>
            </a:r>
            <a:endParaRPr lang="en-US" sz="2200" dirty="0"/>
          </a:p>
        </p:txBody>
      </p:sp>
      <p:sp>
        <p:nvSpPr>
          <p:cNvPr id="8" name="Shape 6"/>
          <p:cNvSpPr/>
          <p:nvPr/>
        </p:nvSpPr>
        <p:spPr>
          <a:xfrm>
            <a:off x="815975" y="2847777"/>
            <a:ext cx="2540000" cy="819051"/>
          </a:xfrm>
          <a:prstGeom prst="roundRect">
            <a:avLst>
              <a:gd name="adj" fmla="val 12017"/>
            </a:avLst>
          </a:prstGeom>
          <a:solidFill>
            <a:srgbClr val="FCFCFB"/>
          </a:solidFill>
          <a:ln w="6350">
            <a:solidFill>
              <a:srgbClr val="D3DAE1"/>
            </a:solidFill>
            <a:prstDash val="solid"/>
          </a:ln>
        </p:spPr>
      </p:sp>
      <p:sp>
        <p:nvSpPr>
          <p:cNvPr id="9" name="Text 7"/>
          <p:cNvSpPr/>
          <p:nvPr/>
        </p:nvSpPr>
        <p:spPr>
          <a:xfrm>
            <a:off x="98425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НАМЕРА</a:t>
            </a:r>
            <a:endParaRPr lang="en-US" sz="1200" dirty="0"/>
          </a:p>
        </p:txBody>
      </p:sp>
      <p:sp>
        <p:nvSpPr>
          <p:cNvPr id="10" name="Text 8"/>
          <p:cNvSpPr/>
          <p:nvPr/>
        </p:nvSpPr>
        <p:spPr>
          <a:xfrm>
            <a:off x="98425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шта корисник покушава</a:t>
            </a:r>
            <a:endParaRPr lang="en-US" sz="1300" dirty="0"/>
          </a:p>
        </p:txBody>
      </p:sp>
      <p:sp>
        <p:nvSpPr>
          <p:cNvPr id="11" name="Shape 9"/>
          <p:cNvSpPr/>
          <p:nvPr/>
        </p:nvSpPr>
        <p:spPr>
          <a:xfrm>
            <a:off x="3489325" y="2847777"/>
            <a:ext cx="2540000" cy="819051"/>
          </a:xfrm>
          <a:prstGeom prst="roundRect">
            <a:avLst>
              <a:gd name="adj" fmla="val 12017"/>
            </a:avLst>
          </a:prstGeom>
          <a:solidFill>
            <a:srgbClr val="FCFCFB"/>
          </a:solidFill>
          <a:ln w="6350">
            <a:solidFill>
              <a:srgbClr val="D3DAE1"/>
            </a:solidFill>
            <a:prstDash val="solid"/>
          </a:ln>
        </p:spPr>
      </p:sp>
      <p:sp>
        <p:nvSpPr>
          <p:cNvPr id="12" name="Text 10"/>
          <p:cNvSpPr/>
          <p:nvPr/>
        </p:nvSpPr>
        <p:spPr>
          <a:xfrm>
            <a:off x="365760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ПРАВИЛА</a:t>
            </a:r>
            <a:endParaRPr lang="en-US" sz="1200" dirty="0"/>
          </a:p>
        </p:txBody>
      </p:sp>
      <p:sp>
        <p:nvSpPr>
          <p:cNvPr id="13" name="Text 11"/>
          <p:cNvSpPr/>
          <p:nvPr/>
        </p:nvSpPr>
        <p:spPr>
          <a:xfrm>
            <a:off x="365760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која правила важе</a:t>
            </a:r>
            <a:endParaRPr lang="en-US" sz="1300" dirty="0"/>
          </a:p>
        </p:txBody>
      </p:sp>
      <p:sp>
        <p:nvSpPr>
          <p:cNvPr id="14" name="Shape 12"/>
          <p:cNvSpPr/>
          <p:nvPr/>
        </p:nvSpPr>
        <p:spPr>
          <a:xfrm>
            <a:off x="6162675" y="2847777"/>
            <a:ext cx="2540000" cy="819051"/>
          </a:xfrm>
          <a:prstGeom prst="roundRect">
            <a:avLst>
              <a:gd name="adj" fmla="val 12017"/>
            </a:avLst>
          </a:prstGeom>
          <a:solidFill>
            <a:srgbClr val="FCFCFB"/>
          </a:solidFill>
          <a:ln w="6350">
            <a:solidFill>
              <a:srgbClr val="D3DAE1"/>
            </a:solidFill>
            <a:prstDash val="solid"/>
          </a:ln>
        </p:spPr>
      </p:sp>
      <p:sp>
        <p:nvSpPr>
          <p:cNvPr id="15" name="Text 13"/>
          <p:cNvSpPr/>
          <p:nvPr/>
        </p:nvSpPr>
        <p:spPr>
          <a:xfrm>
            <a:off x="633095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СТАЊЕ</a:t>
            </a:r>
            <a:endParaRPr lang="en-US" sz="1200" dirty="0"/>
          </a:p>
        </p:txBody>
      </p:sp>
      <p:sp>
        <p:nvSpPr>
          <p:cNvPr id="16" name="Text 14"/>
          <p:cNvSpPr/>
          <p:nvPr/>
        </p:nvSpPr>
        <p:spPr>
          <a:xfrm>
            <a:off x="633095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које стање се мења</a:t>
            </a:r>
            <a:endParaRPr lang="en-US" sz="1300" dirty="0"/>
          </a:p>
        </p:txBody>
      </p:sp>
      <p:sp>
        <p:nvSpPr>
          <p:cNvPr id="17" name="Shape 15"/>
          <p:cNvSpPr/>
          <p:nvPr/>
        </p:nvSpPr>
        <p:spPr>
          <a:xfrm>
            <a:off x="8836025" y="2847777"/>
            <a:ext cx="2540000" cy="819051"/>
          </a:xfrm>
          <a:prstGeom prst="roundRect">
            <a:avLst>
              <a:gd name="adj" fmla="val 12017"/>
            </a:avLst>
          </a:prstGeom>
          <a:solidFill>
            <a:srgbClr val="FCFCFB"/>
          </a:solidFill>
          <a:ln w="6350">
            <a:solidFill>
              <a:srgbClr val="D3DAE1"/>
            </a:solidFill>
            <a:prstDash val="solid"/>
          </a:ln>
        </p:spPr>
      </p:sp>
      <p:sp>
        <p:nvSpPr>
          <p:cNvPr id="18" name="Text 16"/>
          <p:cNvSpPr/>
          <p:nvPr/>
        </p:nvSpPr>
        <p:spPr>
          <a:xfrm>
            <a:off x="9004300" y="3003352"/>
            <a:ext cx="22695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ИСХОД</a:t>
            </a:r>
            <a:endParaRPr lang="en-US" sz="1200" dirty="0"/>
          </a:p>
        </p:txBody>
      </p:sp>
      <p:sp>
        <p:nvSpPr>
          <p:cNvPr id="19" name="Text 17"/>
          <p:cNvSpPr/>
          <p:nvPr/>
        </p:nvSpPr>
        <p:spPr>
          <a:xfrm>
            <a:off x="9004300" y="3280172"/>
            <a:ext cx="22695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који исход систем враћа</a:t>
            </a:r>
            <a:endParaRPr lang="en-US" sz="1300" dirty="0"/>
          </a:p>
        </p:txBody>
      </p:sp>
      <p:sp>
        <p:nvSpPr>
          <p:cNvPr id="20" name="Shape 18"/>
          <p:cNvSpPr/>
          <p:nvPr/>
        </p:nvSpPr>
        <p:spPr>
          <a:xfrm>
            <a:off x="812800" y="3924002"/>
            <a:ext cx="10566400" cy="783530"/>
          </a:xfrm>
          <a:prstGeom prst="roundRect">
            <a:avLst>
              <a:gd name="adj" fmla="val 12967"/>
            </a:avLst>
          </a:prstGeom>
          <a:solidFill>
            <a:srgbClr val="EAE7EE"/>
          </a:solidFill>
          <a:ln/>
        </p:spPr>
      </p:sp>
      <p:sp>
        <p:nvSpPr>
          <p:cNvPr id="21" name="Shape 19"/>
          <p:cNvSpPr/>
          <p:nvPr/>
        </p:nvSpPr>
        <p:spPr>
          <a:xfrm>
            <a:off x="812800" y="392400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6B3FA0"/>
          </a:solidFill>
          <a:ln/>
        </p:spPr>
      </p:sp>
      <p:sp>
        <p:nvSpPr>
          <p:cNvPr id="22" name="Text 20"/>
          <p:cNvSpPr/>
          <p:nvPr/>
        </p:nvSpPr>
        <p:spPr>
          <a:xfrm>
            <a:off x="1054100" y="40764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НАПОМЕНА</a:t>
            </a:r>
            <a:endParaRPr lang="en-US" sz="1200" dirty="0"/>
          </a:p>
        </p:txBody>
      </p:sp>
      <p:sp>
        <p:nvSpPr>
          <p:cNvPr id="23" name="Text 21"/>
          <p:cNvSpPr/>
          <p:nvPr/>
        </p:nvSpPr>
        <p:spPr>
          <a:xfrm>
            <a:off x="1054100" y="431512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Случај употребе је јединица пројектовања и одбране функционалности.</a:t>
            </a:r>
            <a:endParaRPr lang="en-US" sz="1400" dirty="0"/>
          </a:p>
        </p:txBody>
      </p:sp>
      <p:sp>
        <p:nvSpPr>
          <p:cNvPr id="24" name="Shape 22"/>
          <p:cNvSpPr/>
          <p:nvPr/>
        </p:nvSpPr>
        <p:spPr>
          <a:xfrm>
            <a:off x="812800" y="6209705"/>
            <a:ext cx="10566400" cy="0"/>
          </a:xfrm>
          <a:prstGeom prst="line">
            <a:avLst/>
          </a:prstGeom>
          <a:noFill/>
          <a:ln w="6350">
            <a:solidFill>
              <a:srgbClr val="D3DAE1"/>
            </a:solidFill>
            <a:prstDash val="solid"/>
          </a:ln>
        </p:spPr>
      </p:sp>
      <p:sp>
        <p:nvSpPr>
          <p:cNvPr id="25" name="Text 2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Распоређивање правила по слојевима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Положај правила зависи од података које користи и стања које штити.</a:t>
            </a:r>
            <a:endParaRPr lang="en-US" sz="1400" dirty="0"/>
          </a:p>
        </p:txBody>
      </p:sp>
      <p:sp>
        <p:nvSpPr>
          <p:cNvPr id="6" name="Shape 4"/>
          <p:cNvSpPr/>
          <p:nvPr/>
        </p:nvSpPr>
        <p:spPr>
          <a:xfrm>
            <a:off x="812800" y="2125861"/>
            <a:ext cx="10566400" cy="635000"/>
          </a:xfrm>
          <a:prstGeom prst="roundRect">
            <a:avLst>
              <a:gd name="adj" fmla="val 16000"/>
            </a:avLst>
          </a:prstGeom>
          <a:solidFill>
            <a:srgbClr val="6B3FA0"/>
          </a:solidFill>
          <a:ln/>
        </p:spPr>
      </p:sp>
      <p:sp>
        <p:nvSpPr>
          <p:cNvPr id="7" name="Text 5"/>
          <p:cNvSpPr/>
          <p:nvPr/>
        </p:nvSpPr>
        <p:spPr>
          <a:xfrm>
            <a:off x="1016000" y="226556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8B8DC"/>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625600" y="232142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FCFB"/>
                </a:solidFill>
                <a:latin typeface="IBM Plex Sans" pitchFamily="34" charset="0"/>
                <a:ea typeface="IBM Plex Sans" pitchFamily="34" charset="-122"/>
                <a:cs typeface="IBM Plex Sans" pitchFamily="34" charset="-120"/>
              </a:rPr>
              <a:t>Entity</a:t>
            </a:r>
            <a:endParaRPr lang="en-US" sz="1600" dirty="0"/>
          </a:p>
        </p:txBody>
      </p:sp>
      <p:sp>
        <p:nvSpPr>
          <p:cNvPr id="9" name="Text 7"/>
          <p:cNvSpPr/>
          <p:nvPr/>
        </p:nvSpPr>
        <p:spPr>
          <a:xfrm>
            <a:off x="4495800" y="2323306"/>
            <a:ext cx="688060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AE4F2"/>
                </a:solidFill>
                <a:latin typeface="IBM Plex Sans" pitchFamily="34" charset="0"/>
                <a:ea typeface="IBM Plex Sans" pitchFamily="34" charset="-122"/>
                <a:cs typeface="IBM Plex Sans" pitchFamily="34" charset="-120"/>
              </a:rPr>
              <a:t>инваријанте сопственог стања</a:t>
            </a:r>
            <a:endParaRPr lang="en-US" sz="1400" dirty="0"/>
          </a:p>
        </p:txBody>
      </p:sp>
      <p:sp>
        <p:nvSpPr>
          <p:cNvPr id="10" name="Shape 8"/>
          <p:cNvSpPr/>
          <p:nvPr/>
        </p:nvSpPr>
        <p:spPr>
          <a:xfrm>
            <a:off x="812800" y="2837061"/>
            <a:ext cx="10566400" cy="635000"/>
          </a:xfrm>
          <a:prstGeom prst="roundRect">
            <a:avLst>
              <a:gd name="adj" fmla="val 16000"/>
            </a:avLst>
          </a:prstGeom>
          <a:solidFill>
            <a:srgbClr val="EAE4F2"/>
          </a:solidFill>
          <a:ln/>
        </p:spPr>
      </p:sp>
      <p:sp>
        <p:nvSpPr>
          <p:cNvPr id="11" name="Text 9"/>
          <p:cNvSpPr/>
          <p:nvPr/>
        </p:nvSpPr>
        <p:spPr>
          <a:xfrm>
            <a:off x="1016000" y="297676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02</a:t>
            </a:r>
            <a:endParaRPr lang="en-US" sz="2000" dirty="0"/>
          </a:p>
        </p:txBody>
      </p:sp>
      <p:sp>
        <p:nvSpPr>
          <p:cNvPr id="12" name="Text 10"/>
          <p:cNvSpPr/>
          <p:nvPr/>
        </p:nvSpPr>
        <p:spPr>
          <a:xfrm>
            <a:off x="1625600" y="303262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Domain service</a:t>
            </a:r>
            <a:endParaRPr lang="en-US" sz="1600" dirty="0"/>
          </a:p>
        </p:txBody>
      </p:sp>
      <p:sp>
        <p:nvSpPr>
          <p:cNvPr id="13" name="Text 11"/>
          <p:cNvSpPr/>
          <p:nvPr/>
        </p:nvSpPr>
        <p:spPr>
          <a:xfrm>
            <a:off x="4495800" y="3034506"/>
            <a:ext cx="688060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правило више доменских објеката</a:t>
            </a:r>
            <a:endParaRPr lang="en-US" sz="1400" dirty="0"/>
          </a:p>
        </p:txBody>
      </p:sp>
      <p:sp>
        <p:nvSpPr>
          <p:cNvPr id="14" name="Shape 12"/>
          <p:cNvSpPr/>
          <p:nvPr/>
        </p:nvSpPr>
        <p:spPr>
          <a:xfrm>
            <a:off x="815975" y="3551436"/>
            <a:ext cx="10560050" cy="641350"/>
          </a:xfrm>
          <a:prstGeom prst="roundRect">
            <a:avLst>
              <a:gd name="adj" fmla="val 15347"/>
            </a:avLst>
          </a:prstGeom>
          <a:solidFill>
            <a:srgbClr val="EAE7EE"/>
          </a:solidFill>
          <a:ln w="6350">
            <a:solidFill>
              <a:srgbClr val="DBD1E8"/>
            </a:solidFill>
            <a:prstDash val="solid"/>
          </a:ln>
        </p:spPr>
      </p:sp>
      <p:sp>
        <p:nvSpPr>
          <p:cNvPr id="15" name="Text 13"/>
          <p:cNvSpPr/>
          <p:nvPr/>
        </p:nvSpPr>
        <p:spPr>
          <a:xfrm>
            <a:off x="1022350" y="369431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03</a:t>
            </a:r>
            <a:endParaRPr lang="en-US" sz="2000" dirty="0"/>
          </a:p>
        </p:txBody>
      </p:sp>
      <p:sp>
        <p:nvSpPr>
          <p:cNvPr id="16" name="Text 14"/>
          <p:cNvSpPr/>
          <p:nvPr/>
        </p:nvSpPr>
        <p:spPr>
          <a:xfrm>
            <a:off x="1631950" y="375017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Application service</a:t>
            </a:r>
            <a:endParaRPr lang="en-US" sz="1600" dirty="0"/>
          </a:p>
        </p:txBody>
      </p:sp>
      <p:sp>
        <p:nvSpPr>
          <p:cNvPr id="17" name="Text 15"/>
          <p:cNvSpPr/>
          <p:nvPr/>
        </p:nvSpPr>
        <p:spPr>
          <a:xfrm>
            <a:off x="4502150" y="3752056"/>
            <a:ext cx="686752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оркестрација use-case-а</a:t>
            </a:r>
            <a:endParaRPr lang="en-US" sz="1400" dirty="0"/>
          </a:p>
        </p:txBody>
      </p:sp>
      <p:sp>
        <p:nvSpPr>
          <p:cNvPr id="18" name="Shape 16"/>
          <p:cNvSpPr/>
          <p:nvPr/>
        </p:nvSpPr>
        <p:spPr>
          <a:xfrm>
            <a:off x="815975" y="4275336"/>
            <a:ext cx="10560050" cy="641350"/>
          </a:xfrm>
          <a:prstGeom prst="roundRect">
            <a:avLst>
              <a:gd name="adj" fmla="val 15347"/>
            </a:avLst>
          </a:prstGeom>
          <a:solidFill>
            <a:srgbClr val="FBF1E6"/>
          </a:solidFill>
          <a:ln w="6350">
            <a:solidFill>
              <a:srgbClr val="E9B98C"/>
            </a:solidFill>
            <a:prstDash val="solid"/>
          </a:ln>
        </p:spPr>
      </p:sp>
      <p:sp>
        <p:nvSpPr>
          <p:cNvPr id="19" name="Text 17"/>
          <p:cNvSpPr/>
          <p:nvPr/>
        </p:nvSpPr>
        <p:spPr>
          <a:xfrm>
            <a:off x="1022350" y="4418211"/>
            <a:ext cx="457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04</a:t>
            </a:r>
            <a:endParaRPr lang="en-US" sz="2000" dirty="0"/>
          </a:p>
        </p:txBody>
      </p:sp>
      <p:sp>
        <p:nvSpPr>
          <p:cNvPr id="20" name="Text 18"/>
          <p:cNvSpPr/>
          <p:nvPr/>
        </p:nvSpPr>
        <p:spPr>
          <a:xfrm>
            <a:off x="1631950" y="4474071"/>
            <a:ext cx="27470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D"/>
                </a:solidFill>
                <a:latin typeface="IBM Plex Sans" pitchFamily="34" charset="0"/>
                <a:ea typeface="IBM Plex Sans" pitchFamily="34" charset="-122"/>
                <a:cs typeface="IBM Plex Sans" pitchFamily="34" charset="-120"/>
              </a:rPr>
              <a:t>Infrastructure</a:t>
            </a:r>
            <a:endParaRPr lang="en-US" sz="1600" dirty="0"/>
          </a:p>
        </p:txBody>
      </p:sp>
      <p:sp>
        <p:nvSpPr>
          <p:cNvPr id="21" name="Text 19"/>
          <p:cNvSpPr/>
          <p:nvPr/>
        </p:nvSpPr>
        <p:spPr>
          <a:xfrm>
            <a:off x="4502150" y="4475956"/>
            <a:ext cx="686752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технички адаптер без пословне одлуке</a:t>
            </a:r>
            <a:endParaRPr lang="en-US" sz="1400" dirty="0"/>
          </a:p>
        </p:txBody>
      </p:sp>
      <p:sp>
        <p:nvSpPr>
          <p:cNvPr id="22" name="Text 20"/>
          <p:cNvSpPr/>
          <p:nvPr/>
        </p:nvSpPr>
        <p:spPr>
          <a:xfrm>
            <a:off x="812800" y="5148461"/>
            <a:ext cx="10566400" cy="416520"/>
          </a:xfrm>
          <a:prstGeom prst="roundRect">
            <a:avLst>
              <a:gd name="adj" fmla="val 18294"/>
            </a:avLst>
          </a:prstGeom>
          <a:solidFill>
            <a:srgbClr val="EAE7EE"/>
          </a:solidFill>
          <a:ln/>
        </p:spPr>
        <p:txBody>
          <a:bodyPr wrap="square" lIns="130082" tIns="79282" rIns="0" bIns="53882"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Што је правило ближе језгру, то ређе треба да се мења и мање зависи од технологије.</a:t>
            </a:r>
            <a:endParaRPr lang="en-US" sz="1200" dirty="0"/>
          </a:p>
        </p:txBody>
      </p:sp>
      <p:sp>
        <p:nvSpPr>
          <p:cNvPr id="23" name="Shape 21"/>
          <p:cNvSpPr/>
          <p:nvPr/>
        </p:nvSpPr>
        <p:spPr>
          <a:xfrm>
            <a:off x="812800" y="6209705"/>
            <a:ext cx="10566400" cy="0"/>
          </a:xfrm>
          <a:prstGeom prst="line">
            <a:avLst/>
          </a:prstGeom>
          <a:noFill/>
          <a:ln w="6350">
            <a:solidFill>
              <a:srgbClr val="D3DAE1"/>
            </a:solidFill>
            <a:prstDash val="solid"/>
          </a:ln>
        </p:spPr>
      </p:sp>
      <p:sp>
        <p:nvSpPr>
          <p:cNvPr id="24"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5"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03 · СЕРВИС СЛУЧАЈА УПОТРЕБЕ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Границе случаја употребе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Јасан улаз, пословно правило и експлицитан резултат омогућавају проверу сценарија.</a:t>
            </a:r>
            <a:endParaRPr lang="en-US" sz="1400" dirty="0"/>
          </a:p>
        </p:txBody>
      </p:sp>
      <p:sp>
        <p:nvSpPr>
          <p:cNvPr id="6" name="Shape 4"/>
          <p:cNvSpPr/>
          <p:nvPr/>
        </p:nvSpPr>
        <p:spPr>
          <a:xfrm>
            <a:off x="815975" y="2179836"/>
            <a:ext cx="3249017" cy="1846362"/>
          </a:xfrm>
          <a:prstGeom prst="roundRect">
            <a:avLst>
              <a:gd name="adj" fmla="val 5331"/>
            </a:avLst>
          </a:prstGeom>
          <a:solidFill>
            <a:srgbClr val="FCFCFB"/>
          </a:solidFill>
          <a:ln w="6350">
            <a:solidFill>
              <a:srgbClr val="D3DAE1"/>
            </a:solidFill>
            <a:prstDash val="solid"/>
          </a:ln>
        </p:spPr>
      </p:sp>
      <p:sp>
        <p:nvSpPr>
          <p:cNvPr id="7" name="Text 5"/>
          <p:cNvSpPr/>
          <p:nvPr/>
        </p:nvSpPr>
        <p:spPr>
          <a:xfrm>
            <a:off x="1022350" y="2373511"/>
            <a:ext cx="2921355"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022350" y="2853531"/>
            <a:ext cx="292135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D"/>
                </a:solidFill>
                <a:latin typeface="IBM Plex Sans" pitchFamily="34" charset="0"/>
                <a:ea typeface="IBM Plex Sans" pitchFamily="34" charset="-122"/>
                <a:cs typeface="IBM Plex Sans" pitchFamily="34" charset="-120"/>
              </a:rPr>
              <a:t>Input</a:t>
            </a:r>
            <a:endParaRPr lang="en-US" sz="1800" dirty="0"/>
          </a:p>
        </p:txBody>
      </p:sp>
      <p:sp>
        <p:nvSpPr>
          <p:cNvPr id="9" name="Text 7"/>
          <p:cNvSpPr/>
          <p:nvPr/>
        </p:nvSpPr>
        <p:spPr>
          <a:xfrm>
            <a:off x="1022350" y="3216672"/>
            <a:ext cx="292135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команда или захтев</a:t>
            </a:r>
            <a:endParaRPr lang="en-US" sz="1300" dirty="0"/>
          </a:p>
        </p:txBody>
      </p:sp>
      <p:sp>
        <p:nvSpPr>
          <p:cNvPr id="10" name="Shape 8"/>
          <p:cNvSpPr/>
          <p:nvPr/>
        </p:nvSpPr>
        <p:spPr>
          <a:xfrm>
            <a:off x="1022350" y="3539827"/>
            <a:ext cx="2836267" cy="0"/>
          </a:xfrm>
          <a:prstGeom prst="line">
            <a:avLst/>
          </a:prstGeom>
          <a:noFill/>
          <a:ln w="6350">
            <a:solidFill>
              <a:srgbClr val="E3E8EE"/>
            </a:solidFill>
            <a:prstDash val="solid"/>
          </a:ln>
        </p:spPr>
      </p:sp>
      <p:sp>
        <p:nvSpPr>
          <p:cNvPr id="11" name="Text 9"/>
          <p:cNvSpPr/>
          <p:nvPr/>
        </p:nvSpPr>
        <p:spPr>
          <a:xfrm>
            <a:off x="1022350" y="3619202"/>
            <a:ext cx="29213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ReservationRequest</a:t>
            </a:r>
            <a:endParaRPr lang="en-US" sz="1200" dirty="0"/>
          </a:p>
        </p:txBody>
      </p:sp>
      <p:pic>
        <p:nvPicPr>
          <p:cNvPr id="12" name="Image 0" descr="arrow-right">    </p:cNvPr>
          <p:cNvPicPr>
            <a:picLocks noChangeAspect="1"/>
          </p:cNvPicPr>
          <p:nvPr/>
        </p:nvPicPr>
        <p:blipFill>
          <a:blip r:embed="rId1"/>
          <a:srcRect l="0" r="0" t="0" b="0"/>
          <a:stretch/>
        </p:blipFill>
        <p:spPr>
          <a:xfrm>
            <a:off x="4157067" y="3045817"/>
            <a:ext cx="228600" cy="114300"/>
          </a:xfrm>
          <a:prstGeom prst="rect">
            <a:avLst/>
          </a:prstGeom>
        </p:spPr>
      </p:pic>
      <p:sp>
        <p:nvSpPr>
          <p:cNvPr id="13" name="Shape 10"/>
          <p:cNvSpPr/>
          <p:nvPr/>
        </p:nvSpPr>
        <p:spPr>
          <a:xfrm>
            <a:off x="4477742" y="2179836"/>
            <a:ext cx="3249116" cy="1846362"/>
          </a:xfrm>
          <a:prstGeom prst="roundRect">
            <a:avLst>
              <a:gd name="adj" fmla="val 5331"/>
            </a:avLst>
          </a:prstGeom>
          <a:solidFill>
            <a:srgbClr val="FCFCFB"/>
          </a:solidFill>
          <a:ln w="6350">
            <a:solidFill>
              <a:srgbClr val="D3DAE1"/>
            </a:solidFill>
            <a:prstDash val="solid"/>
          </a:ln>
        </p:spPr>
      </p:sp>
      <p:sp>
        <p:nvSpPr>
          <p:cNvPr id="14" name="Text 11"/>
          <p:cNvSpPr/>
          <p:nvPr/>
        </p:nvSpPr>
        <p:spPr>
          <a:xfrm>
            <a:off x="4684117" y="2373511"/>
            <a:ext cx="2921457"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6B3FA0"/>
                </a:solidFill>
                <a:latin typeface="IBM Plex Mono" pitchFamily="49" charset="0"/>
                <a:ea typeface="IBM Plex Mono" pitchFamily="49" charset="-122"/>
                <a:cs typeface="IBM Plex Mono" pitchFamily="49" charset="-120"/>
              </a:rPr>
              <a:t>02</a:t>
            </a:r>
            <a:endParaRPr lang="en-US" sz="2200" dirty="0"/>
          </a:p>
        </p:txBody>
      </p:sp>
      <p:sp>
        <p:nvSpPr>
          <p:cNvPr id="15" name="Text 12"/>
          <p:cNvSpPr/>
          <p:nvPr/>
        </p:nvSpPr>
        <p:spPr>
          <a:xfrm>
            <a:off x="4684117" y="2853531"/>
            <a:ext cx="292145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D"/>
                </a:solidFill>
                <a:latin typeface="IBM Plex Sans" pitchFamily="34" charset="0"/>
                <a:ea typeface="IBM Plex Sans" pitchFamily="34" charset="-122"/>
                <a:cs typeface="IBM Plex Sans" pitchFamily="34" charset="-120"/>
              </a:rPr>
              <a:t>Policy</a:t>
            </a:r>
            <a:endParaRPr lang="en-US" sz="1800" dirty="0"/>
          </a:p>
        </p:txBody>
      </p:sp>
      <p:sp>
        <p:nvSpPr>
          <p:cNvPr id="16" name="Text 13"/>
          <p:cNvSpPr/>
          <p:nvPr/>
        </p:nvSpPr>
        <p:spPr>
          <a:xfrm>
            <a:off x="4684117" y="3216672"/>
            <a:ext cx="29214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пословно понашање</a:t>
            </a:r>
            <a:endParaRPr lang="en-US" sz="1300" dirty="0"/>
          </a:p>
        </p:txBody>
      </p:sp>
      <p:sp>
        <p:nvSpPr>
          <p:cNvPr id="17" name="Shape 14"/>
          <p:cNvSpPr/>
          <p:nvPr/>
        </p:nvSpPr>
        <p:spPr>
          <a:xfrm>
            <a:off x="4684117" y="3539827"/>
            <a:ext cx="2836366" cy="0"/>
          </a:xfrm>
          <a:prstGeom prst="line">
            <a:avLst/>
          </a:prstGeom>
          <a:noFill/>
          <a:ln w="6350">
            <a:solidFill>
              <a:srgbClr val="E3E8EE"/>
            </a:solidFill>
            <a:prstDash val="solid"/>
          </a:ln>
        </p:spPr>
      </p:sp>
      <p:sp>
        <p:nvSpPr>
          <p:cNvPr id="18" name="Text 15"/>
          <p:cNvSpPr/>
          <p:nvPr/>
        </p:nvSpPr>
        <p:spPr>
          <a:xfrm>
            <a:off x="4684117" y="3619202"/>
            <a:ext cx="29214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будућност, преклапање</a:t>
            </a:r>
            <a:endParaRPr lang="en-US" sz="1200" dirty="0"/>
          </a:p>
        </p:txBody>
      </p:sp>
      <p:pic>
        <p:nvPicPr>
          <p:cNvPr id="19" name="Image 1" descr="arrow-right">    </p:cNvPr>
          <p:cNvPicPr>
            <a:picLocks noChangeAspect="1"/>
          </p:cNvPicPr>
          <p:nvPr/>
        </p:nvPicPr>
        <p:blipFill>
          <a:blip r:embed="rId2"/>
          <a:srcRect l="0" r="0" t="0" b="0"/>
          <a:stretch/>
        </p:blipFill>
        <p:spPr>
          <a:xfrm>
            <a:off x="7818934" y="3045817"/>
            <a:ext cx="228600" cy="114300"/>
          </a:xfrm>
          <a:prstGeom prst="rect">
            <a:avLst/>
          </a:prstGeom>
        </p:spPr>
      </p:pic>
      <p:sp>
        <p:nvSpPr>
          <p:cNvPr id="20" name="Shape 16"/>
          <p:cNvSpPr/>
          <p:nvPr/>
        </p:nvSpPr>
        <p:spPr>
          <a:xfrm>
            <a:off x="8136434" y="2176661"/>
            <a:ext cx="3242766" cy="1852712"/>
          </a:xfrm>
          <a:prstGeom prst="roundRect">
            <a:avLst>
              <a:gd name="adj" fmla="val 5484"/>
            </a:avLst>
          </a:prstGeom>
          <a:solidFill>
            <a:srgbClr val="6B3FA0"/>
          </a:solidFill>
          <a:ln/>
        </p:spPr>
      </p:sp>
      <p:sp>
        <p:nvSpPr>
          <p:cNvPr id="21" name="Text 17"/>
          <p:cNvSpPr/>
          <p:nvPr/>
        </p:nvSpPr>
        <p:spPr>
          <a:xfrm>
            <a:off x="8339634" y="2367161"/>
            <a:ext cx="2921457"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8B8DC"/>
                </a:solidFill>
                <a:latin typeface="IBM Plex Mono" pitchFamily="49" charset="0"/>
                <a:ea typeface="IBM Plex Mono" pitchFamily="49" charset="-122"/>
                <a:cs typeface="IBM Plex Mono" pitchFamily="49" charset="-120"/>
              </a:rPr>
              <a:t>03</a:t>
            </a:r>
            <a:endParaRPr lang="en-US" sz="2200" dirty="0"/>
          </a:p>
        </p:txBody>
      </p:sp>
      <p:sp>
        <p:nvSpPr>
          <p:cNvPr id="22" name="Text 18"/>
          <p:cNvSpPr/>
          <p:nvPr/>
        </p:nvSpPr>
        <p:spPr>
          <a:xfrm>
            <a:off x="8339634" y="2847181"/>
            <a:ext cx="292145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CFCFB"/>
                </a:solidFill>
                <a:latin typeface="IBM Plex Sans" pitchFamily="34" charset="0"/>
                <a:ea typeface="IBM Plex Sans" pitchFamily="34" charset="-122"/>
                <a:cs typeface="IBM Plex Sans" pitchFamily="34" charset="-120"/>
              </a:rPr>
              <a:t>Output</a:t>
            </a:r>
            <a:endParaRPr lang="en-US" sz="1800" dirty="0"/>
          </a:p>
        </p:txBody>
      </p:sp>
      <p:sp>
        <p:nvSpPr>
          <p:cNvPr id="23" name="Text 19"/>
          <p:cNvSpPr/>
          <p:nvPr/>
        </p:nvSpPr>
        <p:spPr>
          <a:xfrm>
            <a:off x="8339634" y="3210322"/>
            <a:ext cx="29214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AE4F2"/>
                </a:solidFill>
                <a:latin typeface="IBM Plex Sans" pitchFamily="34" charset="0"/>
                <a:ea typeface="IBM Plex Sans" pitchFamily="34" charset="-122"/>
                <a:cs typeface="IBM Plex Sans" pitchFamily="34" charset="-120"/>
              </a:rPr>
              <a:t>експлицитан исход</a:t>
            </a:r>
            <a:endParaRPr lang="en-US" sz="1300" dirty="0"/>
          </a:p>
        </p:txBody>
      </p:sp>
      <p:sp>
        <p:nvSpPr>
          <p:cNvPr id="24" name="Shape 20"/>
          <p:cNvSpPr/>
          <p:nvPr/>
        </p:nvSpPr>
        <p:spPr>
          <a:xfrm>
            <a:off x="8339634" y="3533477"/>
            <a:ext cx="2836366" cy="0"/>
          </a:xfrm>
          <a:prstGeom prst="line">
            <a:avLst/>
          </a:prstGeom>
          <a:noFill/>
          <a:ln w="6350">
            <a:solidFill>
              <a:srgbClr val="8C69B5"/>
            </a:solidFill>
            <a:prstDash val="solid"/>
          </a:ln>
        </p:spPr>
      </p:sp>
      <p:sp>
        <p:nvSpPr>
          <p:cNvPr id="25" name="Text 21"/>
          <p:cNvSpPr/>
          <p:nvPr/>
        </p:nvSpPr>
        <p:spPr>
          <a:xfrm>
            <a:off x="8339634" y="3612852"/>
            <a:ext cx="29214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Result</a:t>
            </a:r>
            <a:endParaRPr lang="en-US" sz="1200" dirty="0"/>
          </a:p>
        </p:txBody>
      </p:sp>
      <p:sp>
        <p:nvSpPr>
          <p:cNvPr id="26" name="Shape 22"/>
          <p:cNvSpPr/>
          <p:nvPr/>
        </p:nvSpPr>
        <p:spPr>
          <a:xfrm>
            <a:off x="812800" y="6209705"/>
            <a:ext cx="10566400" cy="0"/>
          </a:xfrm>
          <a:prstGeom prst="line">
            <a:avLst/>
          </a:prstGeom>
          <a:noFill/>
          <a:ln w="6350">
            <a:solidFill>
              <a:srgbClr val="D3DAE1"/>
            </a:solidFill>
            <a:prstDash val="solid"/>
          </a:ln>
        </p:spPr>
      </p:sp>
      <p:sp>
        <p:nvSpPr>
          <p:cNvPr id="27" name="Text 2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AE7EE"/>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6B3FA0"/>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Контролна тачка P2</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Шта функционално језгро мора да покаже и како се припремамо за тестирање.</a:t>
            </a:r>
            <a:endParaRPr lang="en-US" sz="1400" dirty="0"/>
          </a:p>
        </p:txBody>
      </p:sp>
      <p:sp>
        <p:nvSpPr>
          <p:cNvPr id="6" name="Text 4"/>
          <p:cNvSpPr/>
          <p:nvPr/>
        </p:nvSpPr>
        <p:spPr>
          <a:xfrm>
            <a:off x="4270375" y="3915966"/>
            <a:ext cx="1662509"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Вертикални пролаз</a:t>
            </a:r>
            <a:endParaRPr lang="en-US" sz="1200" dirty="0"/>
          </a:p>
        </p:txBody>
      </p:sp>
      <p:sp>
        <p:nvSpPr>
          <p:cNvPr id="7" name="Text 5"/>
          <p:cNvSpPr/>
          <p:nvPr/>
        </p:nvSpPr>
        <p:spPr>
          <a:xfrm>
            <a:off x="6015434" y="3915966"/>
            <a:ext cx="105816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Захтеви P2</a:t>
            </a:r>
            <a:endParaRPr lang="en-US" sz="1200" dirty="0"/>
          </a:p>
        </p:txBody>
      </p:sp>
      <p:sp>
        <p:nvSpPr>
          <p:cNvPr id="8" name="Text 6"/>
          <p:cNvSpPr/>
          <p:nvPr/>
        </p:nvSpPr>
        <p:spPr>
          <a:xfrm>
            <a:off x="7156152" y="3915966"/>
            <a:ext cx="1724323"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Самостални задатак</a:t>
            </a:r>
            <a:endParaRPr lang="en-US" sz="1200" dirty="0"/>
          </a:p>
        </p:txBody>
      </p:sp>
      <p:sp>
        <p:nvSpPr>
          <p:cNvPr id="9" name="Text 7"/>
          <p:cNvSpPr/>
          <p:nvPr/>
        </p:nvSpPr>
        <p:spPr>
          <a:xfrm>
            <a:off x="8963025" y="3915966"/>
            <a:ext cx="789087"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Резиме</a:t>
            </a:r>
            <a:endParaRPr lang="en-US" sz="1200" dirty="0"/>
          </a:p>
        </p:txBody>
      </p:sp>
      <p:sp>
        <p:nvSpPr>
          <p:cNvPr id="10" name="Text 8"/>
          <p:cNvSpPr/>
          <p:nvPr/>
        </p:nvSpPr>
        <p:spPr>
          <a:xfrm>
            <a:off x="4270375" y="4319786"/>
            <a:ext cx="990898" cy="321270"/>
          </a:xfrm>
          <a:prstGeom prst="roundRect">
            <a:avLst>
              <a:gd name="adj" fmla="val 50000"/>
            </a:avLst>
          </a:prstGeom>
          <a:solidFill>
            <a:srgbClr val="FCFCFB"/>
          </a:solidFill>
          <a:ln w="6350">
            <a:solidFill>
              <a:srgbClr val="BDBACF"/>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Припрема</a:t>
            </a:r>
            <a:endParaRPr lang="en-US" sz="1200" dirty="0"/>
          </a:p>
        </p:txBody>
      </p:sp>
      <p:sp>
        <p:nvSpPr>
          <p:cNvPr id="11" name="Shape 9"/>
          <p:cNvSpPr/>
          <p:nvPr/>
        </p:nvSpPr>
        <p:spPr>
          <a:xfrm>
            <a:off x="812800" y="6209705"/>
            <a:ext cx="10566400" cy="0"/>
          </a:xfrm>
          <a:prstGeom prst="line">
            <a:avLst/>
          </a:prstGeom>
          <a:noFill/>
          <a:ln w="6350">
            <a:solidFill>
              <a:srgbClr val="BDBACF"/>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pic>
        <p:nvPicPr>
          <p:cNvPr id="3" name="Image 0" descr="Вертикални пролаз: наранџаста трака пролази кроз сва четири слоја, од Presentation преко Application и Domain до Infrastructure">    </p:cNvPr>
          <p:cNvPicPr>
            <a:picLocks noChangeAspect="1"/>
          </p:cNvPicPr>
          <p:nvPr/>
        </p:nvPicPr>
        <p:blipFill>
          <a:blip r:embed="rId1"/>
          <a:srcRect l="0" r="0" t="0" b="0"/>
          <a:stretch/>
        </p:blipFill>
        <p:spPr>
          <a:xfrm>
            <a:off x="6934200" y="2095500"/>
            <a:ext cx="4445000" cy="3111500"/>
          </a:xfrm>
          <a:prstGeom prst="rect">
            <a:avLst/>
          </a:prstGeom>
        </p:spPr>
      </p:pic>
      <p:sp>
        <p:nvSpPr>
          <p:cNvPr id="4"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04 · КОНТРОЛНА ТАЧКА P2</a:t>
            </a:r>
            <a:endParaRPr lang="en-US" sz="1200" dirty="0"/>
          </a:p>
        </p:txBody>
      </p:sp>
      <p:sp>
        <p:nvSpPr>
          <p:cNvPr id="5"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Контролна тачка P2</a:t>
            </a:r>
            <a:endParaRPr lang="en-US" sz="3000" dirty="0"/>
          </a:p>
        </p:txBody>
      </p:sp>
      <p:sp>
        <p:nvSpPr>
          <p:cNvPr id="6" name="Text 3"/>
          <p:cNvSpPr/>
          <p:nvPr/>
        </p:nvSpPr>
        <p:spPr>
          <a:xfrm>
            <a:off x="812800" y="1673820"/>
            <a:ext cx="58864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Функционално језгро мора бити разумљиво и образложиво.</a:t>
            </a:r>
            <a:endParaRPr lang="en-US" sz="1400" dirty="0"/>
          </a:p>
        </p:txBody>
      </p:sp>
      <p:sp>
        <p:nvSpPr>
          <p:cNvPr id="7" name="Text 4"/>
          <p:cNvSpPr/>
          <p:nvPr/>
        </p:nvSpPr>
        <p:spPr>
          <a:xfrm>
            <a:off x="812800" y="2176661"/>
            <a:ext cx="914400" cy="1295400"/>
          </a:xfrm>
          <a:prstGeom prst="rect">
            <a:avLst/>
          </a:prstGeom>
          <a:noFill/>
          <a:ln/>
        </p:spPr>
        <p:txBody>
          <a:bodyPr wrap="square" lIns="0" tIns="0" rIns="0" bIns="0" rtlCol="0" anchor="t">
            <a:normAutofit/>
          </a:bodyPr>
          <a:lstStyle/>
          <a:p>
            <a:pPr algn="l" indent="0" marL="0">
              <a:lnSpc>
                <a:spcPts val="10000"/>
              </a:lnSpc>
              <a:buNone/>
            </a:pPr>
            <a:r>
              <a:rPr lang="en-US" sz="10000" dirty="0">
                <a:solidFill>
                  <a:srgbClr val="6B3FA0"/>
                </a:solidFill>
                <a:latin typeface="IBM Plex Mono" pitchFamily="49" charset="0"/>
                <a:ea typeface="IBM Plex Mono" pitchFamily="49" charset="-122"/>
                <a:cs typeface="IBM Plex Mono" pitchFamily="49" charset="-120"/>
              </a:rPr>
              <a:t>1</a:t>
            </a:r>
            <a:endParaRPr lang="en-US" sz="10000" dirty="0"/>
          </a:p>
        </p:txBody>
      </p:sp>
      <p:sp>
        <p:nvSpPr>
          <p:cNvPr id="8" name="Shape 5"/>
          <p:cNvSpPr/>
          <p:nvPr/>
        </p:nvSpPr>
        <p:spPr>
          <a:xfrm>
            <a:off x="1847850" y="2236490"/>
            <a:ext cx="0" cy="1150342"/>
          </a:xfrm>
          <a:prstGeom prst="line">
            <a:avLst/>
          </a:prstGeom>
          <a:noFill/>
          <a:ln w="38100">
            <a:solidFill>
              <a:srgbClr val="6B3FA0"/>
            </a:solidFill>
            <a:prstDash val="solid"/>
          </a:ln>
        </p:spPr>
      </p:sp>
      <p:sp>
        <p:nvSpPr>
          <p:cNvPr id="9" name="Text 6"/>
          <p:cNvSpPr/>
          <p:nvPr/>
        </p:nvSpPr>
        <p:spPr>
          <a:xfrm>
            <a:off x="2070100" y="2261890"/>
            <a:ext cx="45914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3FA0"/>
                </a:solidFill>
                <a:latin typeface="IBM Plex Mono" pitchFamily="49" charset="0"/>
                <a:ea typeface="IBM Plex Mono" pitchFamily="49" charset="-122"/>
                <a:cs typeface="IBM Plex Mono" pitchFamily="49" charset="-120"/>
              </a:rPr>
              <a:t>ВЕРТИКАЛНИ ПРОЛАЗ</a:t>
            </a:r>
            <a:endParaRPr lang="en-US" sz="1200" dirty="0"/>
          </a:p>
        </p:txBody>
      </p:sp>
      <p:sp>
        <p:nvSpPr>
          <p:cNvPr id="10" name="Text 7"/>
          <p:cNvSpPr/>
          <p:nvPr/>
        </p:nvSpPr>
        <p:spPr>
          <a:xfrm>
            <a:off x="2070100" y="2538710"/>
            <a:ext cx="4591431" cy="848122"/>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3202D"/>
                </a:solidFill>
                <a:latin typeface="IBM Plex Sans" pitchFamily="34" charset="0"/>
                <a:ea typeface="IBM Plex Sans" pitchFamily="34" charset="-122"/>
                <a:cs typeface="IBM Plex Sans" pitchFamily="34" charset="-120"/>
              </a:rPr>
              <a:t>Најмање један пролаз кроз систем, од захтева до резултата, са јасним границама одговорности.</a:t>
            </a:r>
            <a:endParaRPr lang="en-US" sz="1600" dirty="0"/>
          </a:p>
        </p:txBody>
      </p:sp>
      <p:sp>
        <p:nvSpPr>
          <p:cNvPr id="11" name="Shape 8"/>
          <p:cNvSpPr/>
          <p:nvPr/>
        </p:nvSpPr>
        <p:spPr>
          <a:xfrm>
            <a:off x="812800" y="3700661"/>
            <a:ext cx="5715000" cy="451445"/>
          </a:xfrm>
          <a:prstGeom prst="roundRect">
            <a:avLst>
              <a:gd name="adj" fmla="val 19692"/>
            </a:avLst>
          </a:prstGeom>
          <a:solidFill>
            <a:srgbClr val="EAE7EE"/>
          </a:solidFill>
          <a:ln/>
        </p:spPr>
      </p:sp>
      <p:pic>
        <p:nvPicPr>
          <p:cNvPr id="12" name="Image 1" descr="Clock">    </p:cNvPr>
          <p:cNvPicPr>
            <a:picLocks noChangeAspect="1"/>
          </p:cNvPicPr>
          <p:nvPr/>
        </p:nvPicPr>
        <p:blipFill>
          <a:blip r:embed="rId2"/>
          <a:srcRect l="0" r="0" t="0" b="0"/>
          <a:stretch/>
        </p:blipFill>
        <p:spPr>
          <a:xfrm>
            <a:off x="990600" y="3824784"/>
            <a:ext cx="203200" cy="203200"/>
          </a:xfrm>
          <a:prstGeom prst="rect">
            <a:avLst/>
          </a:prstGeom>
        </p:spPr>
      </p:pic>
      <p:sp>
        <p:nvSpPr>
          <p:cNvPr id="13" name="Text 9"/>
          <p:cNvSpPr/>
          <p:nvPr/>
        </p:nvSpPr>
        <p:spPr>
          <a:xfrm>
            <a:off x="1320800" y="3814961"/>
            <a:ext cx="518007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P2 је после Вежбе 4, недеља од 02.11.</a:t>
            </a:r>
            <a:endParaRPr lang="en-US" sz="1300" dirty="0"/>
          </a:p>
        </p:txBody>
      </p:sp>
      <p:sp>
        <p:nvSpPr>
          <p:cNvPr id="14" name="Text 10"/>
          <p:cNvSpPr/>
          <p:nvPr/>
        </p:nvSpPr>
        <p:spPr>
          <a:xfrm>
            <a:off x="7086600" y="2298700"/>
            <a:ext cx="18313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Presentation</a:t>
            </a:r>
            <a:endParaRPr lang="en-US" sz="1300" dirty="0"/>
          </a:p>
        </p:txBody>
      </p:sp>
      <p:sp>
        <p:nvSpPr>
          <p:cNvPr id="15" name="Text 11"/>
          <p:cNvSpPr/>
          <p:nvPr/>
        </p:nvSpPr>
        <p:spPr>
          <a:xfrm>
            <a:off x="7086600" y="3124200"/>
            <a:ext cx="18313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Application</a:t>
            </a:r>
            <a:endParaRPr lang="en-US" sz="1300" dirty="0"/>
          </a:p>
        </p:txBody>
      </p:sp>
      <p:sp>
        <p:nvSpPr>
          <p:cNvPr id="16" name="Text 12"/>
          <p:cNvSpPr/>
          <p:nvPr/>
        </p:nvSpPr>
        <p:spPr>
          <a:xfrm>
            <a:off x="7086600" y="3949700"/>
            <a:ext cx="18313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CFCFB"/>
                </a:solidFill>
                <a:latin typeface="IBM Plex Sans" pitchFamily="34" charset="0"/>
                <a:ea typeface="IBM Plex Sans" pitchFamily="34" charset="-122"/>
                <a:cs typeface="IBM Plex Sans" pitchFamily="34" charset="-120"/>
              </a:rPr>
              <a:t>Domain</a:t>
            </a:r>
            <a:endParaRPr lang="en-US" sz="1300" dirty="0"/>
          </a:p>
        </p:txBody>
      </p:sp>
      <p:sp>
        <p:nvSpPr>
          <p:cNvPr id="17" name="Text 13"/>
          <p:cNvSpPr/>
          <p:nvPr/>
        </p:nvSpPr>
        <p:spPr>
          <a:xfrm>
            <a:off x="7086600" y="4775200"/>
            <a:ext cx="18313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02D"/>
                </a:solidFill>
                <a:latin typeface="IBM Plex Sans" pitchFamily="34" charset="0"/>
                <a:ea typeface="IBM Plex Sans" pitchFamily="34" charset="-122"/>
                <a:cs typeface="IBM Plex Sans" pitchFamily="34" charset="-120"/>
              </a:rPr>
              <a:t>Infrastructure</a:t>
            </a:r>
            <a:endParaRPr lang="en-US" sz="1300" dirty="0"/>
          </a:p>
        </p:txBody>
      </p:sp>
      <p:sp>
        <p:nvSpPr>
          <p:cNvPr id="18" name="Shape 14"/>
          <p:cNvSpPr/>
          <p:nvPr/>
        </p:nvSpPr>
        <p:spPr>
          <a:xfrm>
            <a:off x="812800" y="6209705"/>
            <a:ext cx="10566400" cy="0"/>
          </a:xfrm>
          <a:prstGeom prst="line">
            <a:avLst/>
          </a:prstGeom>
          <a:noFill/>
          <a:ln w="6350">
            <a:solidFill>
              <a:srgbClr val="D3DAE1"/>
            </a:solidFill>
            <a:prstDash val="solid"/>
          </a:ln>
        </p:spPr>
      </p:sp>
      <p:sp>
        <p:nvSpPr>
          <p:cNvPr id="19" name="Text 1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0" name="Text 1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04 · КОНТРОЛНА ТАЧКА P2</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Захтеви контролне тачке P2</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Провера обухвата архитектонске границе, вертикални пролаз и стабилне исходе.</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Документовати одговорност сваког слоја и смер зависности.</a:t>
            </a:r>
            <a:endParaRPr lang="en-US" sz="1400" dirty="0"/>
          </a:p>
        </p:txBody>
      </p:sp>
      <p:sp>
        <p:nvSpPr>
          <p:cNvPr id="9" name="Shape 7"/>
          <p:cNvSpPr/>
          <p:nvPr/>
        </p:nvSpPr>
        <p:spPr>
          <a:xfrm>
            <a:off x="1047750" y="2770386"/>
            <a:ext cx="10096500" cy="0"/>
          </a:xfrm>
          <a:prstGeom prst="line">
            <a:avLst/>
          </a:prstGeom>
          <a:noFill/>
          <a:ln w="6350">
            <a:solidFill>
              <a:srgbClr val="E3E8EE"/>
            </a:solidFill>
            <a:prstDash val="solid"/>
          </a:ln>
        </p:spPr>
      </p:sp>
      <p:sp>
        <p:nvSpPr>
          <p:cNvPr id="10" name="Text 8"/>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412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Имплементирати најмање један вертикални пролаз кроз систем.</a:t>
            </a:r>
            <a:endParaRPr lang="en-US" sz="1400" dirty="0"/>
          </a:p>
        </p:txBody>
      </p:sp>
      <p:sp>
        <p:nvSpPr>
          <p:cNvPr id="12" name="Shape 10"/>
          <p:cNvSpPr/>
          <p:nvPr/>
        </p:nvSpPr>
        <p:spPr>
          <a:xfrm>
            <a:off x="1047750" y="3360936"/>
            <a:ext cx="10096500" cy="0"/>
          </a:xfrm>
          <a:prstGeom prst="line">
            <a:avLst/>
          </a:prstGeom>
          <a:noFill/>
          <a:ln w="6350">
            <a:solidFill>
              <a:srgbClr val="E3E8EE"/>
            </a:solidFill>
            <a:prstDash val="solid"/>
          </a:ln>
        </p:spPr>
      </p:sp>
      <p:sp>
        <p:nvSpPr>
          <p:cNvPr id="13" name="Text 11"/>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5317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За очекиване неуспехе дефинисати стабилне кодове или типове резултата.</a:t>
            </a:r>
            <a:endParaRPr lang="en-US" sz="1400" dirty="0"/>
          </a:p>
        </p:txBody>
      </p:sp>
      <p:sp>
        <p:nvSpPr>
          <p:cNvPr id="15" name="Shape 13"/>
          <p:cNvSpPr/>
          <p:nvPr/>
        </p:nvSpPr>
        <p:spPr>
          <a:xfrm>
            <a:off x="1047750" y="3951486"/>
            <a:ext cx="10096500" cy="0"/>
          </a:xfrm>
          <a:prstGeom prst="line">
            <a:avLst/>
          </a:prstGeom>
          <a:noFill/>
          <a:ln w="6350">
            <a:solidFill>
              <a:srgbClr val="E3E8EE"/>
            </a:solidFill>
            <a:prstDash val="solid"/>
          </a:ln>
        </p:spPr>
      </p:sp>
      <p:sp>
        <p:nvSpPr>
          <p:cNvPr id="16" name="Text 14"/>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6B3FA0"/>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1223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Domain и Application тестирати без базе и корисничког интерфејса.</a:t>
            </a:r>
            <a:endParaRPr lang="en-US" sz="1400" dirty="0"/>
          </a:p>
        </p:txBody>
      </p:sp>
      <p:sp>
        <p:nvSpPr>
          <p:cNvPr id="18" name="Shape 16"/>
          <p:cNvSpPr/>
          <p:nvPr/>
        </p:nvSpPr>
        <p:spPr>
          <a:xfrm>
            <a:off x="1047750" y="4542036"/>
            <a:ext cx="10096500" cy="0"/>
          </a:xfrm>
          <a:prstGeom prst="line">
            <a:avLst/>
          </a:prstGeom>
          <a:noFill/>
          <a:ln w="6350">
            <a:solidFill>
              <a:srgbClr val="E3E8EE"/>
            </a:solidFill>
            <a:prstDash val="solid"/>
          </a:ln>
        </p:spPr>
      </p:sp>
      <p:sp>
        <p:nvSpPr>
          <p:cNvPr id="19" name="Text 17"/>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7128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Термин: недеља од 02.11., после Вежбе 4.</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04 · КОНТРОЛНА ТАЧКА P2</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Самостални задатак: bool/null у Result</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Метода треба да врати стабилан код и податке потребне за обраду исхода.</a:t>
            </a:r>
            <a:endParaRPr lang="en-US" sz="1400" dirty="0"/>
          </a:p>
        </p:txBody>
      </p:sp>
      <p:sp>
        <p:nvSpPr>
          <p:cNvPr id="6" name="Shape 4"/>
          <p:cNvSpPr/>
          <p:nvPr/>
        </p:nvSpPr>
        <p:spPr>
          <a:xfrm>
            <a:off x="815975" y="2129036"/>
            <a:ext cx="6597650" cy="2962473"/>
          </a:xfrm>
          <a:prstGeom prst="roundRect">
            <a:avLst>
              <a:gd name="adj" fmla="val 3322"/>
            </a:avLst>
          </a:prstGeom>
          <a:solidFill>
            <a:srgbClr val="FCFCFB"/>
          </a:solidFill>
          <a:ln w="6350">
            <a:solidFill>
              <a:srgbClr val="D3DAE1"/>
            </a:solidFill>
            <a:prstDash val="solid"/>
          </a:ln>
        </p:spPr>
      </p:sp>
      <p:sp>
        <p:nvSpPr>
          <p:cNvPr id="7" name="Text 5"/>
          <p:cNvSpPr/>
          <p:nvPr/>
        </p:nvSpPr>
        <p:spPr>
          <a:xfrm>
            <a:off x="1022350" y="2284611"/>
            <a:ext cx="63704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пре и после</a:t>
            </a:r>
            <a:endParaRPr lang="en-US" sz="1200" dirty="0"/>
          </a:p>
        </p:txBody>
      </p:sp>
      <p:sp>
        <p:nvSpPr>
          <p:cNvPr id="8" name="Text 6"/>
          <p:cNvSpPr/>
          <p:nvPr/>
        </p:nvSpPr>
        <p:spPr>
          <a:xfrm>
            <a:off x="1022350" y="25741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403350" y="2574131"/>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0"/>
                </a:solidFill>
                <a:latin typeface="IBM Plex Mono" pitchFamily="49" charset="0"/>
                <a:ea typeface="IBM Plex Mono" pitchFamily="49" charset="-122"/>
                <a:cs typeface="IBM Plex Mono" pitchFamily="49" charset="-120"/>
              </a:rPr>
              <a:t>// пре</a:t>
            </a:r>
            <a:endParaRPr lang="en-US" sz="1200" dirty="0"/>
          </a:p>
        </p:txBody>
      </p:sp>
      <p:sp>
        <p:nvSpPr>
          <p:cNvPr id="10" name="Text 8"/>
          <p:cNvSpPr/>
          <p:nvPr/>
        </p:nvSpPr>
        <p:spPr>
          <a:xfrm>
            <a:off x="1022350" y="28128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403350" y="281285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bool</a:t>
            </a:r>
            <a:r>
              <a:rPr lang="en-US" sz="1200" dirty="0">
                <a:solidFill>
                  <a:srgbClr val="13202D"/>
                </a:solidFill>
                <a:latin typeface="IBM Plex Mono" pitchFamily="49" charset="0"/>
                <a:ea typeface="IBM Plex Mono" pitchFamily="49" charset="-122"/>
                <a:cs typeface="IBM Plex Mono" pitchFamily="49" charset="-120"/>
              </a:rPr>
              <a:t> Reserve(Request request);</a:t>
            </a:r>
            <a:endParaRPr lang="en-US" sz="1200" dirty="0"/>
          </a:p>
        </p:txBody>
      </p:sp>
      <p:sp>
        <p:nvSpPr>
          <p:cNvPr id="12" name="Text 10"/>
          <p:cNvSpPr/>
          <p:nvPr/>
        </p:nvSpPr>
        <p:spPr>
          <a:xfrm>
            <a:off x="1022350" y="30515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022350" y="32902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403350" y="3290292"/>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0"/>
                </a:solidFill>
                <a:latin typeface="IBM Plex Mono" pitchFamily="49" charset="0"/>
                <a:ea typeface="IBM Plex Mono" pitchFamily="49" charset="-122"/>
                <a:cs typeface="IBM Plex Mono" pitchFamily="49" charset="-120"/>
              </a:rPr>
              <a:t>// после</a:t>
            </a:r>
            <a:endParaRPr lang="en-US" sz="1200" dirty="0"/>
          </a:p>
        </p:txBody>
      </p:sp>
      <p:sp>
        <p:nvSpPr>
          <p:cNvPr id="15" name="Text 13"/>
          <p:cNvSpPr/>
          <p:nvPr/>
        </p:nvSpPr>
        <p:spPr>
          <a:xfrm>
            <a:off x="1022350" y="35290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403350" y="352901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Result Reserve(Request request);</a:t>
            </a:r>
            <a:endParaRPr lang="en-US" sz="1200" dirty="0"/>
          </a:p>
        </p:txBody>
      </p:sp>
      <p:sp>
        <p:nvSpPr>
          <p:cNvPr id="17" name="Text 15"/>
          <p:cNvSpPr/>
          <p:nvPr/>
        </p:nvSpPr>
        <p:spPr>
          <a:xfrm>
            <a:off x="1022350" y="37677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022350" y="40064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19" name="Text 17"/>
          <p:cNvSpPr/>
          <p:nvPr/>
        </p:nvSpPr>
        <p:spPr>
          <a:xfrm>
            <a:off x="1403350" y="400645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590"/>
                </a:solidFill>
                <a:latin typeface="IBM Plex Mono" pitchFamily="49" charset="0"/>
                <a:ea typeface="IBM Plex Mono" pitchFamily="49" charset="-122"/>
                <a:cs typeface="IBM Plex Mono" pitchFamily="49" charset="-120"/>
              </a:rPr>
              <a:t>// тест проверава</a:t>
            </a:r>
            <a:endParaRPr lang="en-US" sz="1200" dirty="0"/>
          </a:p>
        </p:txBody>
      </p:sp>
      <p:sp>
        <p:nvSpPr>
          <p:cNvPr id="20" name="Text 18"/>
          <p:cNvSpPr/>
          <p:nvPr/>
        </p:nvSpPr>
        <p:spPr>
          <a:xfrm>
            <a:off x="1022350" y="42451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1" name="Text 19"/>
          <p:cNvSpPr/>
          <p:nvPr/>
        </p:nvSpPr>
        <p:spPr>
          <a:xfrm>
            <a:off x="1403350" y="4245173"/>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Assert.That(result.Success, Is.False);</a:t>
            </a:r>
            <a:endParaRPr lang="en-US" sz="1200" dirty="0"/>
          </a:p>
        </p:txBody>
      </p:sp>
      <p:sp>
        <p:nvSpPr>
          <p:cNvPr id="22" name="Text 20"/>
          <p:cNvSpPr/>
          <p:nvPr/>
        </p:nvSpPr>
        <p:spPr>
          <a:xfrm>
            <a:off x="1022350" y="44838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3" name="Text 21"/>
          <p:cNvSpPr/>
          <p:nvPr/>
        </p:nvSpPr>
        <p:spPr>
          <a:xfrm>
            <a:off x="1403350" y="448389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Assert.That(result.Error,</a:t>
            </a:r>
            <a:endParaRPr lang="en-US" sz="1200" dirty="0"/>
          </a:p>
        </p:txBody>
      </p:sp>
      <p:sp>
        <p:nvSpPr>
          <p:cNvPr id="24" name="Text 22"/>
          <p:cNvSpPr/>
          <p:nvPr/>
        </p:nvSpPr>
        <p:spPr>
          <a:xfrm>
            <a:off x="1022350" y="47226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5" name="Text 23"/>
          <p:cNvSpPr/>
          <p:nvPr/>
        </p:nvSpPr>
        <p:spPr>
          <a:xfrm>
            <a:off x="1403350" y="4722614"/>
            <a:ext cx="5978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Is.EqualTo(</a:t>
            </a:r>
            <a:r>
              <a:rPr lang="en-US" sz="1200" dirty="0">
                <a:solidFill>
                  <a:srgbClr val="A8520A"/>
                </a:solidFill>
                <a:latin typeface="IBM Plex Mono" pitchFamily="49" charset="0"/>
                <a:ea typeface="IBM Plex Mono" pitchFamily="49" charset="-122"/>
                <a:cs typeface="IBM Plex Mono" pitchFamily="49" charset="-120"/>
              </a:rPr>
              <a:t>"OverlappingReservation"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7721600" y="2125861"/>
            <a:ext cx="37673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ЗАДАТАК</a:t>
            </a:r>
            <a:endParaRPr lang="en-US" sz="1200" dirty="0"/>
          </a:p>
        </p:txBody>
      </p:sp>
      <p:sp>
        <p:nvSpPr>
          <p:cNvPr id="27" name="Shape 25"/>
          <p:cNvSpPr/>
          <p:nvPr/>
        </p:nvSpPr>
        <p:spPr>
          <a:xfrm>
            <a:off x="7734300" y="2466181"/>
            <a:ext cx="0" cy="487561"/>
          </a:xfrm>
          <a:prstGeom prst="line">
            <a:avLst/>
          </a:prstGeom>
          <a:noFill/>
          <a:ln w="25400">
            <a:solidFill>
              <a:srgbClr val="6B3FA0"/>
            </a:solidFill>
            <a:prstDash val="solid"/>
          </a:ln>
        </p:spPr>
      </p:sp>
      <p:sp>
        <p:nvSpPr>
          <p:cNvPr id="28" name="Text 26"/>
          <p:cNvSpPr/>
          <p:nvPr/>
        </p:nvSpPr>
        <p:spPr>
          <a:xfrm>
            <a:off x="7886700" y="247888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Рефакторисати једну методу са bool/null исходом.</a:t>
            </a:r>
            <a:endParaRPr lang="en-US" sz="1300" dirty="0"/>
          </a:p>
        </p:txBody>
      </p:sp>
      <p:sp>
        <p:nvSpPr>
          <p:cNvPr id="29" name="Shape 27"/>
          <p:cNvSpPr/>
          <p:nvPr/>
        </p:nvSpPr>
        <p:spPr>
          <a:xfrm>
            <a:off x="7734300" y="3080742"/>
            <a:ext cx="0" cy="487561"/>
          </a:xfrm>
          <a:prstGeom prst="line">
            <a:avLst/>
          </a:prstGeom>
          <a:noFill/>
          <a:ln w="25400">
            <a:solidFill>
              <a:srgbClr val="6B3FA0"/>
            </a:solidFill>
            <a:prstDash val="solid"/>
          </a:ln>
        </p:spPr>
      </p:sp>
      <p:sp>
        <p:nvSpPr>
          <p:cNvPr id="30" name="Text 28"/>
          <p:cNvSpPr/>
          <p:nvPr/>
        </p:nvSpPr>
        <p:spPr>
          <a:xfrm>
            <a:off x="7886700" y="3093442"/>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Додати два мала теста или демонстрациона сценарија.</a:t>
            </a:r>
            <a:endParaRPr lang="en-US" sz="1300" dirty="0"/>
          </a:p>
        </p:txBody>
      </p:sp>
      <p:sp>
        <p:nvSpPr>
          <p:cNvPr id="31" name="Shape 29"/>
          <p:cNvSpPr/>
          <p:nvPr/>
        </p:nvSpPr>
        <p:spPr>
          <a:xfrm>
            <a:off x="7734300" y="3695303"/>
            <a:ext cx="0" cy="256480"/>
          </a:xfrm>
          <a:prstGeom prst="line">
            <a:avLst/>
          </a:prstGeom>
          <a:noFill/>
          <a:ln w="25400">
            <a:solidFill>
              <a:srgbClr val="E07B1F"/>
            </a:solidFill>
            <a:prstDash val="solid"/>
          </a:ln>
        </p:spPr>
      </p:sp>
      <p:sp>
        <p:nvSpPr>
          <p:cNvPr id="32" name="Text 30"/>
          <p:cNvSpPr/>
          <p:nvPr/>
        </p:nvSpPr>
        <p:spPr>
          <a:xfrm>
            <a:off x="7886700" y="3708003"/>
            <a:ext cx="35972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Образложити нови стабилан код неуспеха.</a:t>
            </a:r>
            <a:endParaRPr lang="en-US" sz="1300" dirty="0"/>
          </a:p>
        </p:txBody>
      </p:sp>
      <p:sp>
        <p:nvSpPr>
          <p:cNvPr id="33" name="Shape 31"/>
          <p:cNvSpPr/>
          <p:nvPr/>
        </p:nvSpPr>
        <p:spPr>
          <a:xfrm>
            <a:off x="812800" y="6209705"/>
            <a:ext cx="10566400" cy="0"/>
          </a:xfrm>
          <a:prstGeom prst="line">
            <a:avLst/>
          </a:prstGeom>
          <a:noFill/>
          <a:ln w="6350">
            <a:solidFill>
              <a:srgbClr val="D3DAE1"/>
            </a:solidFill>
            <a:prstDash val="solid"/>
          </a:ln>
        </p:spPr>
      </p:sp>
      <p:sp>
        <p:nvSpPr>
          <p:cNvPr id="34" name="Text 3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6B3FA0"/>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AE4F2"/>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E4F2"/>
                </a:solidFill>
                <a:latin typeface="IBM Plex Sans" pitchFamily="34" charset="0"/>
                <a:ea typeface="IBM Plex Sans" pitchFamily="34" charset="-122"/>
                <a:cs typeface="IBM Plex Sans" pitchFamily="34" charset="-120"/>
              </a:rPr>
              <a:t>Пословна логика припада доменским сервисима и случајевима употребе, уз одвојену валидацију модела.</a:t>
            </a:r>
            <a:endParaRPr lang="en-US" sz="1500" dirty="0"/>
          </a:p>
        </p:txBody>
      </p:sp>
      <p:sp>
        <p:nvSpPr>
          <p:cNvPr id="5" name="Text 3"/>
          <p:cNvSpPr/>
          <p:nvPr>
            <p:ph type="title"/>
          </p:nvPr>
        </p:nvSpPr>
        <p:spPr>
          <a:xfrm>
            <a:off x="812800" y="2587129"/>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Use-case није техничка основа, већ контролисан ток који повезује захтев, доменска правила, зависности и стабилан резултат.</a:t>
            </a:r>
            <a:endParaRPr lang="en-US" sz="3400" dirty="0"/>
          </a:p>
        </p:txBody>
      </p:sp>
      <p:sp>
        <p:nvSpPr>
          <p:cNvPr id="6" name="Text 4"/>
          <p:cNvSpPr/>
          <p:nvPr/>
        </p:nvSpPr>
        <p:spPr>
          <a:xfrm>
            <a:off x="815975" y="5458520"/>
            <a:ext cx="809030" cy="321270"/>
          </a:xfrm>
          <a:prstGeom prst="roundRect">
            <a:avLst>
              <a:gd name="adj" fmla="val 50000"/>
            </a:avLst>
          </a:prstGeom>
          <a:noFill/>
          <a:ln w="6350">
            <a:solidFill>
              <a:srgbClr val="C8B8D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захтев</a:t>
            </a:r>
            <a:endParaRPr lang="en-US" sz="1200" dirty="0"/>
          </a:p>
        </p:txBody>
      </p:sp>
      <p:sp>
        <p:nvSpPr>
          <p:cNvPr id="7" name="Text 5"/>
          <p:cNvSpPr/>
          <p:nvPr/>
        </p:nvSpPr>
        <p:spPr>
          <a:xfrm>
            <a:off x="1729780"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B8DC"/>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1986955" y="5458520"/>
            <a:ext cx="900509" cy="321270"/>
          </a:xfrm>
          <a:prstGeom prst="roundRect">
            <a:avLst>
              <a:gd name="adj" fmla="val 50000"/>
            </a:avLst>
          </a:prstGeom>
          <a:noFill/>
          <a:ln w="6350">
            <a:solidFill>
              <a:srgbClr val="C8B8D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правила</a:t>
            </a:r>
            <a:endParaRPr lang="en-US" sz="1200" dirty="0"/>
          </a:p>
        </p:txBody>
      </p:sp>
      <p:sp>
        <p:nvSpPr>
          <p:cNvPr id="9" name="Text 7"/>
          <p:cNvSpPr/>
          <p:nvPr/>
        </p:nvSpPr>
        <p:spPr>
          <a:xfrm>
            <a:off x="299223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B8DC"/>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249414" y="5458520"/>
            <a:ext cx="1174750" cy="321270"/>
          </a:xfrm>
          <a:prstGeom prst="roundRect">
            <a:avLst>
              <a:gd name="adj" fmla="val 50000"/>
            </a:avLst>
          </a:prstGeom>
          <a:noFill/>
          <a:ln w="6350">
            <a:solidFill>
              <a:srgbClr val="C8B8DC"/>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зависности</a:t>
            </a:r>
            <a:endParaRPr lang="en-US" sz="1200" dirty="0"/>
          </a:p>
        </p:txBody>
      </p:sp>
      <p:sp>
        <p:nvSpPr>
          <p:cNvPr id="11" name="Text 9"/>
          <p:cNvSpPr/>
          <p:nvPr/>
        </p:nvSpPr>
        <p:spPr>
          <a:xfrm>
            <a:off x="4528939" y="5512495"/>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B8DC"/>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782939" y="5461695"/>
            <a:ext cx="802680"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6B3FA0"/>
                </a:solidFill>
                <a:latin typeface="IBM Plex Mono" pitchFamily="49" charset="0"/>
                <a:ea typeface="IBM Plex Mono" pitchFamily="49" charset="-122"/>
                <a:cs typeface="IBM Plex Mono" pitchFamily="49" charset="-120"/>
              </a:rPr>
              <a:t>Result</a:t>
            </a:r>
            <a:endParaRPr lang="en-US" sz="1200" dirty="0"/>
          </a:p>
        </p:txBody>
      </p:sp>
      <p:sp>
        <p:nvSpPr>
          <p:cNvPr id="13" name="Text 11"/>
          <p:cNvSpPr/>
          <p:nvPr/>
        </p:nvSpPr>
        <p:spPr>
          <a:xfrm>
            <a:off x="7823200" y="5396309"/>
            <a:ext cx="366268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AE4F2"/>
                </a:solidFill>
                <a:latin typeface="IBM Plex Sans" pitchFamily="34" charset="0"/>
                <a:ea typeface="IBM Plex Sans" pitchFamily="34" charset="-122"/>
                <a:cs typeface="IBM Plex Sans" pitchFamily="34" charset="-120"/>
              </a:rPr>
              <a:t>Овим се поставља основа за аутоматизовано тестирање.</a:t>
            </a:r>
            <a:endParaRPr lang="en-US" sz="1300" dirty="0"/>
          </a:p>
        </p:txBody>
      </p:sp>
      <p:sp>
        <p:nvSpPr>
          <p:cNvPr id="14" name="Shape 12"/>
          <p:cNvSpPr/>
          <p:nvPr/>
        </p:nvSpPr>
        <p:spPr>
          <a:xfrm>
            <a:off x="812800" y="6209705"/>
            <a:ext cx="10566400" cy="0"/>
          </a:xfrm>
          <a:prstGeom prst="line">
            <a:avLst/>
          </a:prstGeom>
          <a:noFill/>
          <a:ln w="6350">
            <a:solidFill>
              <a:srgbClr val="8C69B5"/>
            </a:solidFill>
            <a:prstDash val="solid"/>
          </a:ln>
        </p:spPr>
      </p:sp>
      <p:sp>
        <p:nvSpPr>
          <p:cNvPr id="15" name="Text 1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AE4F2"/>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AE4F2"/>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6B3FA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3FA0"/>
                </a:solidFill>
                <a:latin typeface="IBM Plex Mono" pitchFamily="49" charset="0"/>
                <a:ea typeface="IBM Plex Mono" pitchFamily="49" charset="-122"/>
                <a:cs typeface="IBM Plex Mono" pitchFamily="49" charset="-120"/>
              </a:rPr>
              <a:t>04 · КОНТРОЛНА ТАЧКА P2</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Припрема за наредну вежбу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Припремити сценарије који се могу проверити NUnit тестовима.</a:t>
            </a:r>
            <a:endParaRPr lang="en-US" sz="1400" dirty="0"/>
          </a:p>
        </p:txBody>
      </p:sp>
      <p:sp>
        <p:nvSpPr>
          <p:cNvPr id="6" name="Shape 4"/>
          <p:cNvSpPr/>
          <p:nvPr/>
        </p:nvSpPr>
        <p:spPr>
          <a:xfrm>
            <a:off x="815975" y="2129036"/>
            <a:ext cx="2025650" cy="1657052"/>
          </a:xfrm>
          <a:prstGeom prst="roundRect">
            <a:avLst>
              <a:gd name="adj" fmla="val 5940"/>
            </a:avLst>
          </a:prstGeom>
          <a:solidFill>
            <a:srgbClr val="FCFCFB"/>
          </a:solidFill>
          <a:ln w="6350">
            <a:solidFill>
              <a:srgbClr val="D3DAE1"/>
            </a:solidFill>
            <a:prstDash val="solid"/>
          </a:ln>
        </p:spPr>
      </p:sp>
      <p:sp>
        <p:nvSpPr>
          <p:cNvPr id="7" name="Text 5"/>
          <p:cNvSpPr/>
          <p:nvPr/>
        </p:nvSpPr>
        <p:spPr>
          <a:xfrm>
            <a:off x="9842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3FA0"/>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173990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Изабрати два use-case-а у пројекту.</a:t>
            </a:r>
            <a:endParaRPr lang="en-US" sz="1300" dirty="0"/>
          </a:p>
        </p:txBody>
      </p:sp>
      <p:sp>
        <p:nvSpPr>
          <p:cNvPr id="9" name="Shape 7"/>
          <p:cNvSpPr/>
          <p:nvPr/>
        </p:nvSpPr>
        <p:spPr>
          <a:xfrm>
            <a:off x="2949575" y="2129036"/>
            <a:ext cx="2025650" cy="1657052"/>
          </a:xfrm>
          <a:prstGeom prst="roundRect">
            <a:avLst>
              <a:gd name="adj" fmla="val 5940"/>
            </a:avLst>
          </a:prstGeom>
          <a:solidFill>
            <a:srgbClr val="FCFCFB"/>
          </a:solidFill>
          <a:ln w="6350">
            <a:solidFill>
              <a:srgbClr val="D3DAE1"/>
            </a:solidFill>
            <a:prstDash val="solid"/>
          </a:ln>
        </p:spPr>
      </p:sp>
      <p:sp>
        <p:nvSpPr>
          <p:cNvPr id="10" name="Text 8"/>
          <p:cNvSpPr/>
          <p:nvPr/>
        </p:nvSpPr>
        <p:spPr>
          <a:xfrm>
            <a:off x="31178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3FA0"/>
                </a:solidFill>
                <a:latin typeface="IBM Plex Mono" pitchFamily="49" charset="0"/>
                <a:ea typeface="IBM Plex Mono" pitchFamily="49" charset="-122"/>
                <a:cs typeface="IBM Plex Mono" pitchFamily="49" charset="-120"/>
              </a:rPr>
              <a:t>02</a:t>
            </a:r>
            <a:endParaRPr lang="en-US" sz="2200" dirty="0"/>
          </a:p>
        </p:txBody>
      </p:sp>
      <p:sp>
        <p:nvSpPr>
          <p:cNvPr id="11" name="Text 9"/>
          <p:cNvSpPr/>
          <p:nvPr/>
        </p:nvSpPr>
        <p:spPr>
          <a:xfrm>
            <a:off x="31178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За сваки дефинисати улаз, пословне исходе и стабилне кодове грешке.</a:t>
            </a:r>
            <a:endParaRPr lang="en-US" sz="1300" dirty="0"/>
          </a:p>
        </p:txBody>
      </p:sp>
      <p:sp>
        <p:nvSpPr>
          <p:cNvPr id="12" name="Shape 10"/>
          <p:cNvSpPr/>
          <p:nvPr/>
        </p:nvSpPr>
        <p:spPr>
          <a:xfrm>
            <a:off x="5083175" y="2129036"/>
            <a:ext cx="2025650" cy="1657052"/>
          </a:xfrm>
          <a:prstGeom prst="roundRect">
            <a:avLst>
              <a:gd name="adj" fmla="val 5940"/>
            </a:avLst>
          </a:prstGeom>
          <a:solidFill>
            <a:srgbClr val="FCFCFB"/>
          </a:solidFill>
          <a:ln w="6350">
            <a:solidFill>
              <a:srgbClr val="D3DAE1"/>
            </a:solidFill>
            <a:prstDash val="solid"/>
          </a:ln>
        </p:spPr>
      </p:sp>
      <p:sp>
        <p:nvSpPr>
          <p:cNvPr id="13" name="Text 11"/>
          <p:cNvSpPr/>
          <p:nvPr/>
        </p:nvSpPr>
        <p:spPr>
          <a:xfrm>
            <a:off x="52514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3FA0"/>
                </a:solidFill>
                <a:latin typeface="IBM Plex Mono" pitchFamily="49" charset="0"/>
                <a:ea typeface="IBM Plex Mono" pitchFamily="49" charset="-122"/>
                <a:cs typeface="IBM Plex Mono" pitchFamily="49" charset="-120"/>
              </a:rPr>
              <a:t>03</a:t>
            </a:r>
            <a:endParaRPr lang="en-US" sz="2200" dirty="0"/>
          </a:p>
        </p:txBody>
      </p:sp>
      <p:sp>
        <p:nvSpPr>
          <p:cNvPr id="14" name="Text 12"/>
          <p:cNvSpPr/>
          <p:nvPr/>
        </p:nvSpPr>
        <p:spPr>
          <a:xfrm>
            <a:off x="5251450" y="2693491"/>
            <a:ext cx="173990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Проверити да ли доменски објекти штите своје инваријанте.</a:t>
            </a:r>
            <a:endParaRPr lang="en-US" sz="1300" dirty="0"/>
          </a:p>
        </p:txBody>
      </p:sp>
      <p:sp>
        <p:nvSpPr>
          <p:cNvPr id="15" name="Shape 13"/>
          <p:cNvSpPr/>
          <p:nvPr/>
        </p:nvSpPr>
        <p:spPr>
          <a:xfrm>
            <a:off x="7216775" y="2129036"/>
            <a:ext cx="2025650" cy="1657052"/>
          </a:xfrm>
          <a:prstGeom prst="roundRect">
            <a:avLst>
              <a:gd name="adj" fmla="val 5940"/>
            </a:avLst>
          </a:prstGeom>
          <a:solidFill>
            <a:srgbClr val="FCFCFB"/>
          </a:solidFill>
          <a:ln w="6350">
            <a:solidFill>
              <a:srgbClr val="D3DAE1"/>
            </a:solidFill>
            <a:prstDash val="solid"/>
          </a:ln>
        </p:spPr>
      </p:sp>
      <p:sp>
        <p:nvSpPr>
          <p:cNvPr id="16" name="Text 14"/>
          <p:cNvSpPr/>
          <p:nvPr/>
        </p:nvSpPr>
        <p:spPr>
          <a:xfrm>
            <a:off x="73850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3FA0"/>
                </a:solidFill>
                <a:latin typeface="IBM Plex Mono" pitchFamily="49" charset="0"/>
                <a:ea typeface="IBM Plex Mono" pitchFamily="49" charset="-122"/>
                <a:cs typeface="IBM Plex Mono" pitchFamily="49" charset="-120"/>
              </a:rPr>
              <a:t>04</a:t>
            </a:r>
            <a:endParaRPr lang="en-US" sz="2200" dirty="0"/>
          </a:p>
        </p:txBody>
      </p:sp>
      <p:sp>
        <p:nvSpPr>
          <p:cNvPr id="17" name="Text 15"/>
          <p:cNvSpPr/>
          <p:nvPr/>
        </p:nvSpPr>
        <p:spPr>
          <a:xfrm>
            <a:off x="73850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Изместити пословна правила из UI/API слоја.</a:t>
            </a:r>
            <a:endParaRPr lang="en-US" sz="1300" dirty="0"/>
          </a:p>
        </p:txBody>
      </p:sp>
      <p:sp>
        <p:nvSpPr>
          <p:cNvPr id="18" name="Shape 16"/>
          <p:cNvSpPr/>
          <p:nvPr/>
        </p:nvSpPr>
        <p:spPr>
          <a:xfrm>
            <a:off x="9350375" y="2129036"/>
            <a:ext cx="2025650" cy="1657052"/>
          </a:xfrm>
          <a:prstGeom prst="roundRect">
            <a:avLst>
              <a:gd name="adj" fmla="val 5940"/>
            </a:avLst>
          </a:prstGeom>
          <a:solidFill>
            <a:srgbClr val="FCFCFB"/>
          </a:solidFill>
          <a:ln w="6350">
            <a:solidFill>
              <a:srgbClr val="D3DAE1"/>
            </a:solidFill>
            <a:prstDash val="solid"/>
          </a:ln>
        </p:spPr>
      </p:sp>
      <p:sp>
        <p:nvSpPr>
          <p:cNvPr id="19" name="Text 17"/>
          <p:cNvSpPr/>
          <p:nvPr/>
        </p:nvSpPr>
        <p:spPr>
          <a:xfrm>
            <a:off x="9518650" y="2297311"/>
            <a:ext cx="17399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05</a:t>
            </a:r>
            <a:endParaRPr lang="en-US" sz="2200" dirty="0"/>
          </a:p>
        </p:txBody>
      </p:sp>
      <p:sp>
        <p:nvSpPr>
          <p:cNvPr id="20" name="Text 18"/>
          <p:cNvSpPr/>
          <p:nvPr/>
        </p:nvSpPr>
        <p:spPr>
          <a:xfrm>
            <a:off x="9518650" y="2693491"/>
            <a:ext cx="173990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Припремити сценарије за NUnit тестове.</a:t>
            </a:r>
            <a:endParaRPr lang="en-US" sz="1300" dirty="0"/>
          </a:p>
        </p:txBody>
      </p:sp>
      <p:sp>
        <p:nvSpPr>
          <p:cNvPr id="21" name="Shape 19"/>
          <p:cNvSpPr/>
          <p:nvPr/>
        </p:nvSpPr>
        <p:spPr>
          <a:xfrm>
            <a:off x="812800" y="4017863"/>
            <a:ext cx="10566400" cy="451445"/>
          </a:xfrm>
          <a:prstGeom prst="roundRect">
            <a:avLst>
              <a:gd name="adj" fmla="val 19692"/>
            </a:avLst>
          </a:prstGeom>
          <a:solidFill>
            <a:srgbClr val="EAE7EE"/>
          </a:solidFill>
          <a:ln/>
        </p:spPr>
      </p:sp>
      <p:pic>
        <p:nvPicPr>
          <p:cNvPr id="22" name="Image 0" descr="Lightbulb">    </p:cNvPr>
          <p:cNvPicPr>
            <a:picLocks noChangeAspect="1"/>
          </p:cNvPicPr>
          <p:nvPr/>
        </p:nvPicPr>
        <p:blipFill>
          <a:blip r:embed="rId1"/>
          <a:srcRect l="0" r="0" t="0" b="0"/>
          <a:stretch/>
        </p:blipFill>
        <p:spPr>
          <a:xfrm>
            <a:off x="990600" y="4141986"/>
            <a:ext cx="203200" cy="203200"/>
          </a:xfrm>
          <a:prstGeom prst="rect">
            <a:avLst/>
          </a:prstGeom>
        </p:spPr>
      </p:pic>
      <p:sp>
        <p:nvSpPr>
          <p:cNvPr id="23" name="Text 20"/>
          <p:cNvSpPr/>
          <p:nvPr/>
        </p:nvSpPr>
        <p:spPr>
          <a:xfrm>
            <a:off x="1320800" y="4132163"/>
            <a:ext cx="101770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3202D"/>
                </a:solidFill>
                <a:latin typeface="IBM Plex Sans" pitchFamily="34" charset="0"/>
                <a:ea typeface="IBM Plex Sans" pitchFamily="34" charset="-122"/>
                <a:cs typeface="IBM Plex Sans" pitchFamily="34" charset="-120"/>
              </a:rPr>
              <a:t>Гранични случај из правила преклапања (слајд 10) је добар први кандидат за тест.</a:t>
            </a:r>
            <a:endParaRPr lang="en-US" sz="1300" dirty="0"/>
          </a:p>
        </p:txBody>
      </p:sp>
      <p:sp>
        <p:nvSpPr>
          <p:cNvPr id="24" name="Shape 21"/>
          <p:cNvSpPr/>
          <p:nvPr/>
        </p:nvSpPr>
        <p:spPr>
          <a:xfrm>
            <a:off x="812800" y="6209705"/>
            <a:ext cx="10566400" cy="0"/>
          </a:xfrm>
          <a:prstGeom prst="line">
            <a:avLst/>
          </a:prstGeom>
          <a:noFill/>
          <a:ln w="6350">
            <a:solidFill>
              <a:srgbClr val="D3DAE1"/>
            </a:solidFill>
            <a:prstDash val="solid"/>
          </a:ln>
        </p:spPr>
      </p:sp>
      <p:sp>
        <p:nvSpPr>
          <p:cNvPr id="25"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27</a:t>
            </a:r>
            <a:endParaRPr lang="en-US" sz="1200" dirty="0"/>
          </a:p>
        </p:txBody>
      </p:sp>
    </p:spTree>
  </p:cSld>
  <p:clrMapOvr>
    <a:masterClrMapping/>
  </p:clrMapOvr>
</p:sld>
</file>

<file path=ppt/theme/theme1.xml><?xml version="1.0" encoding="utf-8"?>
<a:theme xmlns:a="http://schemas.openxmlformats.org/drawingml/2006/main" name="Пословна логика и слој случајева употребе">
  <a:themeElements>
    <a:clrScheme name="Пословна логика и слој случајева употребе">
      <a:dk1>
        <a:srgbClr val="13202D"/>
      </a:dk1>
      <a:lt1>
        <a:srgbClr val="F6F7F5"/>
      </a:lt1>
      <a:dk2>
        <a:srgbClr val="4C565F"/>
      </a:dk2>
      <a:lt2>
        <a:srgbClr val="DFE2E1"/>
      </a:lt2>
      <a:accent1>
        <a:srgbClr val="6B3FA0"/>
      </a:accent1>
      <a:accent2>
        <a:srgbClr val="A8520A"/>
      </a:accent2>
      <a:accent3>
        <a:srgbClr val="E07B1F"/>
      </a:accent3>
      <a:accent4>
        <a:srgbClr val="44505D"/>
      </a:accent4>
      <a:accent5>
        <a:srgbClr val="5E6975"/>
      </a:accent5>
      <a:accent6>
        <a:srgbClr val="8C99A6"/>
      </a:accent6>
      <a:hlink>
        <a:srgbClr val="0563C1"/>
      </a:hlink>
      <a:folHlink>
        <a:srgbClr val="954F72"/>
      </a:folHlink>
    </a:clrScheme>
    <a:fontScheme name="Пословна логика и слој случајева употребе">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Пословна логика и слој случајева употребе</dc:title>
  <dc:subject/>
  <dc:creator/>
  <cp:lastModifiedBy/>
  <cp:revision>1</cp:revision>
  <dcterms:created xsi:type="dcterms:W3CDTF">2026-10-09T16:53:36Z</dcterms:created>
  <dcterms:modified xsi:type="dcterms:W3CDTF">2026-10-09T16:53:36Z</dcterms:modified>
</cp:coreProperties>
</file>