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F9FC2-216E-43A5-A09E-78FDF379D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4FEA91-2BFF-42ED-B605-9D9178962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547F0-1924-4364-BC82-50FE7517432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49724-8605-4ED2-92E3-D8A5733FE77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775E9-1F68-42F4-8625-98A9B4913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FCBA8-2131-400A-876D-5F8A0228C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27214-FCBA-4C70-832A-C7C1E01C8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1ABDD-9ACC-4044-AAD0-0908EC4FA7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371A7-F743-4868-8AFE-8E919E2560F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2B9C2-C38B-4842-9B37-E5E2D74567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30E85-69FC-45D5-8E30-6FB3F7D2A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810B7-8585-412E-BA01-AB1F6C4E3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07B5D-0632-4652-816A-F6A18568881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1AC65-8672-4BE4-BA41-4334FE3D219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58E79-BCD9-4A1E-BE8D-9032139D4F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C77EE-0870-4F2A-BF84-CB16D4DF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EAE9E-6704-47F8-A3E6-E3565879E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126AE4-AE09-45A8-8708-7E3EB688333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966F3-4C2C-47C6-B944-068161FA983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9CF6C-16E7-404F-8684-A45ADBE6BC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8CCFB-4FC6-4552-B0C2-40F063087D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725B7-567A-405B-BEB4-DAEE52CBC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BC5C3-7DE5-4785-821B-70DCB42A5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CA21C1-783F-4E0B-B041-537B5801E45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AD0934-3CCD-408B-8EB9-AB46199A852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0C79C6-AD30-49A1-9752-78B3440790BE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371C6-1BA6-45F4-8D55-FBE1A31C865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BCD375-6F16-4D61-908E-0185C26D4D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326EB5-C1A9-4771-888C-8E4AC264DE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49F07-8379-4608-8546-917169117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735F6-7590-47EB-84F1-122B23F8860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4604A-C8EF-4A90-92AB-8354C859786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783EB1-9AA4-4096-B3EC-3E978DF7D5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D45E62-817C-401C-895C-1EF920D2E5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1874C6-C44C-4EA3-B2E6-B6665773E7E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67A46-3ED8-4C0D-879E-1122054818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E6546-5B1B-491F-8BAA-486846B6E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C9CFF-8BA8-497E-ADFF-3C798EF9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C575F-D019-435F-8C03-119699D275E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5667E-F167-4D4B-9538-B1E8554C6B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957C1-1DE3-40C2-B80D-B3FC228BE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9E45E-0011-4415-AE95-25C0C4E14E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14C92-0931-4319-BF90-EDBE9B5A9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B412AF-16AB-47BC-8C79-AFFC46E0C7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AE6A0-5E69-425C-8D86-26BEF1F58CC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2BABC-6BB6-4716-955D-6E101822D20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EF4E5-FD39-419E-8C86-9D2DEF7E77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9C269-196A-4DE4-A2E8-D01E08380B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6FD52-9C82-4206-AB09-7973771F8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88BA1-70C8-4BB5-B09A-B42D52850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22F20-A8D8-4F4D-8A9C-E4D361E2C14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D469E-95F6-4BBA-B042-1A2A6619CD8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A68F7-02D5-429D-8E45-4AB9DD3051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A41E55-BF8C-4113-B808-1EEA1716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13616F-2FB6-4BEF-A116-09BACFDEF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2AFB8-3002-4795-AD15-957DFEEF5F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D42F9-F608-48B0-B22C-B8147783F53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442A3-8180-428B-A796-9A51428455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4901F7-EFAC-4EB9-BC70-C3E32B0DD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6BB99-3E76-4386-B49C-EC23A05F8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7E0CF-B7E0-4652-9821-283AF388259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6D84B-2C06-454C-B794-7EF690998ED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C876C-CAF4-4EC2-AADB-978D0F3AC48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07322E7-AD56-4A78-852B-E779D5A9D80A}"/>
              </a:ext>
            </a:extLst>
          </p:cNvPr>
          <p:cNvSpPr>
            <a:spLocks noGrp="1"/>
          </p:cNvSpPr>
          <p:nvPr/>
        </p:nvSpPr>
        <p:spPr>
          <a:xfrm>
            <a:off x="914400" y="590550"/>
            <a:ext cx="7810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F117E4E3-8067-4F64-A83A-A17F82E96157}"/>
              </a:ext>
            </a:extLst>
          </p:cNvPr>
          <p:cNvSpPr>
            <a:spLocks noGrp="1"/>
          </p:cNvSpPr>
          <p:nvPr/>
        </p:nvSpPr>
        <p:spPr>
          <a:xfrm>
            <a:off x="914400" y="1009650"/>
            <a:ext cx="10363200" cy="9525"/>
          </a:xfrm>
          <a:prstGeom prst="line">
            <a:avLst/>
          </a:prstGeom>
          <a:noFill/>
          <a:ln w="8573">
            <a:solidFill>
              <a:srgbClr val="7F8B9B"/>
            </a:solidFill>
            <a:prstDash val="solid"/>
          </a:ln>
        </p:spPr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E3BD1D6-9734-4537-B2F3-C671E8A5E3BC}"/>
              </a:ext>
            </a:extLst>
          </p:cNvPr>
          <p:cNvSpPr>
            <a:spLocks noGrp="1"/>
          </p:cNvSpPr>
          <p:nvPr/>
        </p:nvSpPr>
        <p:spPr>
          <a:xfrm>
            <a:off x="914400" y="1438275"/>
            <a:ext cx="647700" cy="66675"/>
          </a:xfrm>
          <a:prstGeom prst="roundRect">
            <a:avLst>
              <a:gd name="adj" fmla="val 50000"/>
            </a:avLst>
          </a:prstGeom>
          <a:solidFill>
            <a:srgbClr val="315CF4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FCFD19-DDDF-44E7-AD17-7DAC1BA8E4F0}"/>
              </a:ext>
            </a:extLst>
          </p:cNvPr>
          <p:cNvSpPr>
            <a:spLocks noGrp="1"/>
          </p:cNvSpPr>
          <p:nvPr/>
        </p:nvSpPr>
        <p:spPr>
          <a:xfrm>
            <a:off x="914400" y="1790700"/>
            <a:ext cx="10096500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Тестабилни дизајн, NUnit, Moq и покривеност кода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FE2A2-C724-46BD-A8B7-E2A5BC615892}"/>
              </a:ext>
            </a:extLst>
          </p:cNvPr>
          <p:cNvSpPr>
            <a:spLocks noGrp="1"/>
          </p:cNvSpPr>
          <p:nvPr/>
        </p:nvSpPr>
        <p:spPr>
          <a:xfrm>
            <a:off x="933450" y="3562350"/>
            <a:ext cx="93345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725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Тестови као доказ пословног понашања и квалитета граница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EDC8BA03-9BBF-4B67-98A6-1E7981811012}"/>
              </a:ext>
            </a:extLst>
          </p:cNvPr>
          <p:cNvSpPr>
            <a:spLocks noGrp="1"/>
          </p:cNvSpPr>
          <p:nvPr/>
        </p:nvSpPr>
        <p:spPr>
          <a:xfrm>
            <a:off x="914400" y="5286375"/>
            <a:ext cx="10363200" cy="952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2B7A7A-6099-4997-AE83-08266247DBA9}"/>
              </a:ext>
            </a:extLst>
          </p:cNvPr>
          <p:cNvSpPr>
            <a:spLocks noGrp="1"/>
          </p:cNvSpPr>
          <p:nvPr/>
        </p:nvSpPr>
        <p:spPr>
          <a:xfrm>
            <a:off x="914400" y="558165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ПСИ · 5. семестар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7CC6CD-888B-4FA0-890A-E4E5F1B66B49}"/>
              </a:ext>
            </a:extLst>
          </p:cNvPr>
          <p:cNvSpPr>
            <a:spLocks noGrp="1"/>
          </p:cNvSpPr>
          <p:nvPr/>
        </p:nvSpPr>
        <p:spPr>
          <a:xfrm>
            <a:off x="8096250" y="5581650"/>
            <a:ext cx="3181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Академска 2026/27</a:t>
            </a:r>
          </a:p>
        </p:txBody>
      </p:sp>
    </p:spTree>
    <p:extLst>
      <p:ext uri="{BB962C8B-B14F-4D97-AF65-F5344CB8AC3E}">
        <p14:creationId xmlns:p14="http://schemas.microsoft.com/office/powerpoint/2010/main" val="115832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7FEB84-E4B8-4034-A9B0-43790F1CBC30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D52A91-AC8B-4BDD-808A-09FE9C7A3F5A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5FE84F-37FE-4D6F-9CB8-34E693D03B57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DBFE03-3E41-4DFF-83B3-1650A927543A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Тестабилни дизајн се пројектује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99DB5F-EB8D-40B6-B7CB-19C506CE819C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Unit тестирање није активност која се накнадно додаје готовом коду.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812755-7D06-495E-B653-DDD48ED98BC7}"/>
              </a:ext>
            </a:extLst>
          </p:cNvPr>
          <p:cNvSpPr>
            <a:spLocks noGrp="1"/>
          </p:cNvSpPr>
          <p:nvPr/>
        </p:nvSpPr>
        <p:spPr>
          <a:xfrm>
            <a:off x="1051560" y="242316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Раздвајање одговорности, јасни уговори и dependency injection омогућавају да се компоненте проверавају изоловано и детерминистички.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EFCA72-4EAB-48D4-84D7-CAC1AD55E46A}"/>
              </a:ext>
            </a:extLst>
          </p:cNvPr>
          <p:cNvSpPr>
            <a:spLocks noGrp="1"/>
          </p:cNvSpPr>
          <p:nvPr/>
        </p:nvSpPr>
        <p:spPr>
          <a:xfrm>
            <a:off x="1051560" y="3716365"/>
            <a:ext cx="6949440" cy="10972"/>
          </a:xfrm>
          <a:prstGeom prst="rect">
            <a:avLst/>
          </a:prstGeom>
          <a:solidFill>
            <a:srgbClr val="2A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624D202-61C9-4160-BAEF-2CE69B6465F8}"/>
              </a:ext>
            </a:extLst>
          </p:cNvPr>
          <p:cNvSpPr>
            <a:spLocks noGrp="1"/>
          </p:cNvSpPr>
          <p:nvPr/>
        </p:nvSpPr>
        <p:spPr>
          <a:xfrm>
            <a:off x="914400" y="4267200"/>
            <a:ext cx="10363200" cy="800100"/>
          </a:xfrm>
          <a:prstGeom prst="roundRect">
            <a:avLst>
              <a:gd name="adj" fmla="val 16667"/>
            </a:avLst>
          </a:prstGeom>
          <a:solidFill>
            <a:srgbClr val="FFF6E9"/>
          </a:solidFill>
          <a:ln w="7620">
            <a:solidFill>
              <a:srgbClr val="E9D4AF"/>
            </a:solidFill>
            <a:prstDash val="solid"/>
          </a:ln>
        </p:spPr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E147BB3-DB85-4A88-99BB-165E0C873940}"/>
              </a:ext>
            </a:extLst>
          </p:cNvPr>
          <p:cNvSpPr>
            <a:spLocks noGrp="1"/>
          </p:cNvSpPr>
          <p:nvPr/>
        </p:nvSpPr>
        <p:spPr>
          <a:xfrm>
            <a:off x="1085850" y="4419600"/>
            <a:ext cx="57150" cy="495300"/>
          </a:xfrm>
          <a:prstGeom prst="roundRect">
            <a:avLst>
              <a:gd name="adj" fmla="val 50000"/>
            </a:avLst>
          </a:prstGeom>
          <a:solidFill>
            <a:srgbClr val="B86A09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D52ED4-D0ED-4A24-8424-B000D633D45A}"/>
              </a:ext>
            </a:extLst>
          </p:cNvPr>
          <p:cNvSpPr>
            <a:spLocks noGrp="1"/>
          </p:cNvSpPr>
          <p:nvPr/>
        </p:nvSpPr>
        <p:spPr>
          <a:xfrm>
            <a:off x="1333500" y="438150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КЉУЧНА ПОРУКА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649FB9-D623-4989-96BA-8DA4D320CFE3}"/>
              </a:ext>
            </a:extLst>
          </p:cNvPr>
          <p:cNvSpPr>
            <a:spLocks noGrp="1"/>
          </p:cNvSpPr>
          <p:nvPr/>
        </p:nvSpPr>
        <p:spPr>
          <a:xfrm>
            <a:off x="1333500" y="4629150"/>
            <a:ext cx="96012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Тестови су повратна информација о квалитету граница система.</a:t>
            </a:r>
          </a:p>
        </p:txBody>
      </p:sp>
    </p:spTree>
    <p:extLst>
      <p:ext uri="{BB962C8B-B14F-4D97-AF65-F5344CB8AC3E}">
        <p14:creationId xmlns:p14="http://schemas.microsoft.com/office/powerpoint/2010/main" val="2115582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2055B5-32ED-463A-B500-4DBBB95E5B02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8EA21B-5225-4E99-94BC-7B9E6DF5971E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3CD4C7-3A5A-40F9-9458-ECB0E25A9C7B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2C95B6-0EB2-40F9-B332-2050897095FC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Test Explorer се чита као развојни сигнал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87AC10-618F-4DE2-B0F2-AE5F6C3C9E47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Један неуспех усмерава дијагностику. Укупан пролаз не замењује проверу захтева.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8877BDB-09D0-498C-AC73-CDDB32BFF451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4953000" cy="333375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D6C14-22E3-4678-B92E-167C72C3890D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2952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Test Explorer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0E067C78-80B6-49AB-A8D1-7B0D44C20375}"/>
              </a:ext>
            </a:extLst>
          </p:cNvPr>
          <p:cNvSpPr>
            <a:spLocks noGrp="1"/>
          </p:cNvSpPr>
          <p:nvPr/>
        </p:nvSpPr>
        <p:spPr>
          <a:xfrm>
            <a:off x="1104900" y="2762250"/>
            <a:ext cx="4572000" cy="9525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303B23-34A3-4427-BE81-505AEBA33930}"/>
              </a:ext>
            </a:extLst>
          </p:cNvPr>
          <p:cNvSpPr>
            <a:spLocks noGrp="1"/>
          </p:cNvSpPr>
          <p:nvPr/>
        </p:nvSpPr>
        <p:spPr>
          <a:xfrm>
            <a:off x="1104900" y="2914650"/>
            <a:ext cx="2381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ERS.Tests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D9A04DE-ED53-43A2-90EA-0B7D6B508F08}"/>
              </a:ext>
            </a:extLst>
          </p:cNvPr>
          <p:cNvSpPr>
            <a:spLocks noGrp="1"/>
          </p:cNvSpPr>
          <p:nvPr/>
        </p:nvSpPr>
        <p:spPr>
          <a:xfrm>
            <a:off x="1104900" y="3295650"/>
            <a:ext cx="228600" cy="228600"/>
          </a:xfrm>
          <a:prstGeom prst="ellipse">
            <a:avLst/>
          </a:prstGeom>
          <a:solidFill>
            <a:srgbClr val="EAF7F1"/>
          </a:solidFill>
          <a:ln w="7620">
            <a:solidFill>
              <a:srgbClr val="07885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3B2929-53CF-4581-8173-D1DE7ABCAC17}"/>
              </a:ext>
            </a:extLst>
          </p:cNvPr>
          <p:cNvSpPr>
            <a:spLocks noGrp="1"/>
          </p:cNvSpPr>
          <p:nvPr/>
        </p:nvSpPr>
        <p:spPr>
          <a:xfrm>
            <a:off x="1104900" y="3305175"/>
            <a:ext cx="2286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0788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885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3BDA9D-5BD7-4F72-805A-8FAE761734FA}"/>
              </a:ext>
            </a:extLst>
          </p:cNvPr>
          <p:cNvSpPr>
            <a:spLocks noGrp="1"/>
          </p:cNvSpPr>
          <p:nvPr/>
        </p:nvSpPr>
        <p:spPr>
          <a:xfrm>
            <a:off x="1466850" y="3286125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38" b="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263044"/>
                </a:solidFill>
                <a:latin typeface="Consolas"/>
                <a:ea typeface="Consolas"/>
                <a:cs typeface="Consolas"/>
              </a:rPr>
              <a:t>Reserve_WhenFree_ReturnsSuccess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29B9370-A130-4C0D-B214-C7156853A2B2}"/>
              </a:ext>
            </a:extLst>
          </p:cNvPr>
          <p:cNvSpPr>
            <a:spLocks noGrp="1"/>
          </p:cNvSpPr>
          <p:nvPr/>
        </p:nvSpPr>
        <p:spPr>
          <a:xfrm>
            <a:off x="1104900" y="3714750"/>
            <a:ext cx="228600" cy="228600"/>
          </a:xfrm>
          <a:prstGeom prst="ellipse">
            <a:avLst/>
          </a:prstGeom>
          <a:solidFill>
            <a:srgbClr val="EAF7F1"/>
          </a:solidFill>
          <a:ln w="7620">
            <a:solidFill>
              <a:srgbClr val="07885E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E536C1-F50C-4038-9BE9-EB0D89E953C6}"/>
              </a:ext>
            </a:extLst>
          </p:cNvPr>
          <p:cNvSpPr>
            <a:spLocks noGrp="1"/>
          </p:cNvSpPr>
          <p:nvPr/>
        </p:nvSpPr>
        <p:spPr>
          <a:xfrm>
            <a:off x="1104900" y="3724275"/>
            <a:ext cx="2286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0788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885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292BCE-A61C-4116-9E77-7853AF666BD0}"/>
              </a:ext>
            </a:extLst>
          </p:cNvPr>
          <p:cNvSpPr>
            <a:spLocks noGrp="1"/>
          </p:cNvSpPr>
          <p:nvPr/>
        </p:nvSpPr>
        <p:spPr>
          <a:xfrm>
            <a:off x="1466850" y="3705225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38" b="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263044"/>
                </a:solidFill>
                <a:latin typeface="Consolas"/>
                <a:ea typeface="Consolas"/>
                <a:cs typeface="Consolas"/>
              </a:rPr>
              <a:t>Reserve_WhenOverlap_ReturnsConflict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96E92DA-7A30-4D66-9962-0C829B181DDC}"/>
              </a:ext>
            </a:extLst>
          </p:cNvPr>
          <p:cNvSpPr>
            <a:spLocks noGrp="1"/>
          </p:cNvSpPr>
          <p:nvPr/>
        </p:nvSpPr>
        <p:spPr>
          <a:xfrm>
            <a:off x="1104900" y="4133850"/>
            <a:ext cx="228600" cy="228600"/>
          </a:xfrm>
          <a:prstGeom prst="ellipse">
            <a:avLst/>
          </a:prstGeom>
          <a:solidFill>
            <a:srgbClr val="EAF7F1"/>
          </a:solidFill>
          <a:ln w="7620">
            <a:solidFill>
              <a:srgbClr val="07885E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73A0BA-2684-47CE-8603-F59677D62548}"/>
              </a:ext>
            </a:extLst>
          </p:cNvPr>
          <p:cNvSpPr>
            <a:spLocks noGrp="1"/>
          </p:cNvSpPr>
          <p:nvPr/>
        </p:nvSpPr>
        <p:spPr>
          <a:xfrm>
            <a:off x="1104900" y="4143375"/>
            <a:ext cx="2286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0788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885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B30618-76E0-48B7-8F18-B9B9DE0B8BA8}"/>
              </a:ext>
            </a:extLst>
          </p:cNvPr>
          <p:cNvSpPr>
            <a:spLocks noGrp="1"/>
          </p:cNvSpPr>
          <p:nvPr/>
        </p:nvSpPr>
        <p:spPr>
          <a:xfrm>
            <a:off x="1466850" y="4124325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38" b="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263044"/>
                </a:solidFill>
                <a:latin typeface="Consolas"/>
                <a:ea typeface="Consolas"/>
                <a:cs typeface="Consolas"/>
              </a:rPr>
              <a:t>Reserve_WhenInactive_ReturnsFailure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3AE51D-4B29-4142-91DB-0D5F457667B7}"/>
              </a:ext>
            </a:extLst>
          </p:cNvPr>
          <p:cNvSpPr>
            <a:spLocks noGrp="1"/>
          </p:cNvSpPr>
          <p:nvPr/>
        </p:nvSpPr>
        <p:spPr>
          <a:xfrm>
            <a:off x="1104900" y="4552950"/>
            <a:ext cx="228600" cy="228600"/>
          </a:xfrm>
          <a:prstGeom prst="ellipse">
            <a:avLst/>
          </a:prstGeom>
          <a:solidFill>
            <a:srgbClr val="FFF0EE"/>
          </a:solidFill>
          <a:ln w="7620">
            <a:solidFill>
              <a:srgbClr val="C43D32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3C665F-A696-4AAD-9D53-CC1A22F48DA6}"/>
              </a:ext>
            </a:extLst>
          </p:cNvPr>
          <p:cNvSpPr>
            <a:spLocks noGrp="1"/>
          </p:cNvSpPr>
          <p:nvPr/>
        </p:nvSpPr>
        <p:spPr>
          <a:xfrm>
            <a:off x="1104900" y="4562475"/>
            <a:ext cx="2286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C43D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43D32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E453AE-F5B7-4D3C-9373-909C67B27CD8}"/>
              </a:ext>
            </a:extLst>
          </p:cNvPr>
          <p:cNvSpPr>
            <a:spLocks noGrp="1"/>
          </p:cNvSpPr>
          <p:nvPr/>
        </p:nvSpPr>
        <p:spPr>
          <a:xfrm>
            <a:off x="1466850" y="4543425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38" b="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263044"/>
                </a:solidFill>
                <a:latin typeface="Consolas"/>
                <a:ea typeface="Consolas"/>
                <a:cs typeface="Consolas"/>
              </a:rPr>
              <a:t>Cancel_AfterDeadline_ReturnsFailure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4C9610-1FEF-4FD9-8879-6808E06502FF}"/>
              </a:ext>
            </a:extLst>
          </p:cNvPr>
          <p:cNvSpPr>
            <a:spLocks noGrp="1"/>
          </p:cNvSpPr>
          <p:nvPr/>
        </p:nvSpPr>
        <p:spPr>
          <a:xfrm>
            <a:off x="1104900" y="5143500"/>
            <a:ext cx="428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63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3 теста су прошла, један захтева анализу.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E2AF1B6-6F60-45DD-ADBA-B9A3C7CE7A61}"/>
              </a:ext>
            </a:extLst>
          </p:cNvPr>
          <p:cNvSpPr>
            <a:spLocks noGrp="1"/>
          </p:cNvSpPr>
          <p:nvPr/>
        </p:nvSpPr>
        <p:spPr>
          <a:xfrm>
            <a:off x="6286500" y="2266950"/>
            <a:ext cx="4991100" cy="333375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3DF94C-10A9-4951-AAA3-B3A455165B53}"/>
              </a:ext>
            </a:extLst>
          </p:cNvPr>
          <p:cNvSpPr>
            <a:spLocks noGrp="1"/>
          </p:cNvSpPr>
          <p:nvPr/>
        </p:nvSpPr>
        <p:spPr>
          <a:xfrm>
            <a:off x="6515100" y="2419350"/>
            <a:ext cx="428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315CF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15CF4"/>
                </a:solidFill>
                <a:latin typeface="Aptos"/>
                <a:ea typeface="Aptos"/>
                <a:cs typeface="Aptos"/>
              </a:rPr>
              <a:t>Како се чита резултат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BB666F-9976-41CF-B710-0B6C6418AC62}"/>
              </a:ext>
            </a:extLst>
          </p:cNvPr>
          <p:cNvSpPr>
            <a:spLocks noGrp="1"/>
          </p:cNvSpPr>
          <p:nvPr/>
        </p:nvSpPr>
        <p:spPr>
          <a:xfrm>
            <a:off x="6515100" y="2743200"/>
            <a:ext cx="4305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63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Црвени тест прво треба разумети, па тек онда мењати код.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9E8CD19-9F3A-47AA-AC76-86D14D7C1968}"/>
              </a:ext>
            </a:extLst>
          </p:cNvPr>
          <p:cNvSpPr>
            <a:spLocks noGrp="1"/>
          </p:cNvSpPr>
          <p:nvPr/>
        </p:nvSpPr>
        <p:spPr>
          <a:xfrm>
            <a:off x="6515100" y="3143250"/>
            <a:ext cx="4533900" cy="895350"/>
          </a:xfrm>
          <a:prstGeom prst="roundRect">
            <a:avLst>
              <a:gd name="adj" fmla="val 10638"/>
            </a:avLst>
          </a:prstGeom>
          <a:solidFill>
            <a:srgbClr val="FFF5F3"/>
          </a:solidFill>
          <a:ln w="8573">
            <a:solidFill>
              <a:srgbClr val="E9C8C3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5EEA03-C0A9-42BB-8977-C8FBACA7B08F}"/>
              </a:ext>
            </a:extLst>
          </p:cNvPr>
          <p:cNvSpPr>
            <a:spLocks noGrp="1"/>
          </p:cNvSpPr>
          <p:nvPr/>
        </p:nvSpPr>
        <p:spPr>
          <a:xfrm>
            <a:off x="6667500" y="3257550"/>
            <a:ext cx="41910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263044"/>
                </a:solidFill>
                <a:latin typeface="Consolas"/>
                <a:ea typeface="Consolas"/>
                <a:cs typeface="Consolas"/>
              </a:rPr>
              <a:t>Cancel_AfterDeadline_ReturnsFailure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46625DB-E08C-4390-A033-679CCD4FDD54}"/>
              </a:ext>
            </a:extLst>
          </p:cNvPr>
          <p:cNvSpPr>
            <a:spLocks noGrp="1"/>
          </p:cNvSpPr>
          <p:nvPr/>
        </p:nvSpPr>
        <p:spPr>
          <a:xfrm>
            <a:off x="6667500" y="3524250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63" b="1">
                <a:solidFill>
                  <a:srgbClr val="C43D32"/>
                </a:solidFill>
                <a:latin typeface="Consolas"/>
                <a:ea typeface="Consolas"/>
                <a:cs typeface="Consolas"/>
              </a:defRPr>
            </a:pPr>
            <a:r>
              <a:rPr sz="1163" b="1">
                <a:solidFill>
                  <a:srgbClr val="C43D32"/>
                </a:solidFill>
                <a:latin typeface="Consolas"/>
                <a:ea typeface="Consolas"/>
                <a:cs typeface="Consolas"/>
              </a:rPr>
              <a:t>Очекивано: CancellationWindowExpired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8C8AE9-CF37-4FDC-8DE3-823668DA8C3A}"/>
              </a:ext>
            </a:extLst>
          </p:cNvPr>
          <p:cNvSpPr>
            <a:spLocks noGrp="1"/>
          </p:cNvSpPr>
          <p:nvPr/>
        </p:nvSpPr>
        <p:spPr>
          <a:xfrm>
            <a:off x="6667500" y="3762375"/>
            <a:ext cx="4191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88" b="0">
                <a:solidFill>
                  <a:srgbClr val="647084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647084"/>
                </a:solidFill>
                <a:latin typeface="Consolas"/>
                <a:ea typeface="Consolas"/>
                <a:cs typeface="Consolas"/>
              </a:rPr>
              <a:t>Добијено: Success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703601-B19C-4BFD-8C88-9C140BE82040}"/>
              </a:ext>
            </a:extLst>
          </p:cNvPr>
          <p:cNvSpPr>
            <a:spLocks noGrp="1"/>
          </p:cNvSpPr>
          <p:nvPr/>
        </p:nvSpPr>
        <p:spPr>
          <a:xfrm>
            <a:off x="6515100" y="4210050"/>
            <a:ext cx="1524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Тумачење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EE1EC23-F46E-4543-83E3-FDE8BB166CFD}"/>
              </a:ext>
            </a:extLst>
          </p:cNvPr>
          <p:cNvSpPr>
            <a:spLocks noGrp="1"/>
          </p:cNvSpPr>
          <p:nvPr/>
        </p:nvSpPr>
        <p:spPr>
          <a:xfrm>
            <a:off x="6515100" y="4476750"/>
            <a:ext cx="44005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416"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26304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63044"/>
                </a:solidFill>
                <a:latin typeface="Aptos"/>
                <a:ea typeface="Aptos"/>
                <a:cs typeface="Aptos"/>
              </a:rPr>
              <a:t>Порука показује да ли је проблем у правилу, имплементацији или очекивању теста. Код се мења тек после разумевања узрока.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E9F009B-EC7E-411C-AF24-451FA2012C8E}"/>
              </a:ext>
            </a:extLst>
          </p:cNvPr>
          <p:cNvSpPr>
            <a:spLocks noGrp="1"/>
          </p:cNvSpPr>
          <p:nvPr/>
        </p:nvSpPr>
        <p:spPr>
          <a:xfrm>
            <a:off x="6515100" y="5124450"/>
            <a:ext cx="4533900" cy="323850"/>
          </a:xfrm>
          <a:prstGeom prst="roundRect">
            <a:avLst>
              <a:gd name="adj" fmla="val 23529"/>
            </a:avLst>
          </a:prstGeom>
          <a:solidFill>
            <a:srgbClr val="F2F6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55D25FF-3B41-481B-819F-8AFDEEE44CDA}"/>
              </a:ext>
            </a:extLst>
          </p:cNvPr>
          <p:cNvSpPr>
            <a:spLocks noGrp="1"/>
          </p:cNvSpPr>
          <p:nvPr/>
        </p:nvSpPr>
        <p:spPr>
          <a:xfrm>
            <a:off x="6667500" y="5200650"/>
            <a:ext cx="1238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13" b="1">
                <a:solidFill>
                  <a:srgbClr val="07885E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07885E"/>
                </a:solidFill>
                <a:latin typeface="Aptos"/>
                <a:ea typeface="Aptos"/>
                <a:cs typeface="Aptos"/>
              </a:rPr>
              <a:t>ПРОШЛО  3</a:t>
            </a:r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99E619A6-3987-4F6D-BF9A-FA99FD1DD0FF}"/>
              </a:ext>
            </a:extLst>
          </p:cNvPr>
          <p:cNvSpPr>
            <a:spLocks noGrp="1"/>
          </p:cNvSpPr>
          <p:nvPr/>
        </p:nvSpPr>
        <p:spPr>
          <a:xfrm>
            <a:off x="8020050" y="5200650"/>
            <a:ext cx="9525" cy="1714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674CC7A-CBD3-4290-83EF-16DDCD93231D}"/>
              </a:ext>
            </a:extLst>
          </p:cNvPr>
          <p:cNvSpPr>
            <a:spLocks noGrp="1"/>
          </p:cNvSpPr>
          <p:nvPr/>
        </p:nvSpPr>
        <p:spPr>
          <a:xfrm>
            <a:off x="8248650" y="5200650"/>
            <a:ext cx="1047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13" b="1">
                <a:solidFill>
                  <a:srgbClr val="C43D32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C43D32"/>
                </a:solidFill>
                <a:latin typeface="Aptos"/>
                <a:ea typeface="Aptos"/>
                <a:cs typeface="Aptos"/>
              </a:rPr>
              <a:t>ПАЛО  1</a:t>
            </a:r>
          </a:p>
        </p:txBody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91A066EA-FD70-4B14-B1AE-79733B4B1221}"/>
              </a:ext>
            </a:extLst>
          </p:cNvPr>
          <p:cNvSpPr>
            <a:spLocks noGrp="1"/>
          </p:cNvSpPr>
          <p:nvPr/>
        </p:nvSpPr>
        <p:spPr>
          <a:xfrm>
            <a:off x="9410700" y="5200650"/>
            <a:ext cx="9525" cy="1714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B38E8B2-E07B-4719-806C-088FCDFAB567}"/>
              </a:ext>
            </a:extLst>
          </p:cNvPr>
          <p:cNvSpPr>
            <a:spLocks noGrp="1"/>
          </p:cNvSpPr>
          <p:nvPr/>
        </p:nvSpPr>
        <p:spPr>
          <a:xfrm>
            <a:off x="9639300" y="5200650"/>
            <a:ext cx="1257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13" b="1">
                <a:solidFill>
                  <a:srgbClr val="315CF4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315CF4"/>
                </a:solidFill>
                <a:latin typeface="Aptos"/>
                <a:ea typeface="Aptos"/>
                <a:cs typeface="Aptos"/>
              </a:rPr>
              <a:t>ТРАЈАЊЕ  184 ms</a:t>
            </a:r>
          </a:p>
        </p:txBody>
      </p:sp>
    </p:spTree>
    <p:extLst>
      <p:ext uri="{BB962C8B-B14F-4D97-AF65-F5344CB8AC3E}">
        <p14:creationId xmlns:p14="http://schemas.microsoft.com/office/powerpoint/2010/main" val="917995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CEE31B-A442-4E35-8002-60A77C08376D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55E5E1-A6B0-4B6F-97C4-6EAECCFA8E4A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D5221B-B9DC-4795-818D-D6052EBF7327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FB6567-A1A0-4A66-AD61-9F2B0F205ADE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AAA структура чини тест читљивим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120374-0EAD-4C36-86A6-35B884E4EAB3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Један тест треба да има један јасан разлог постојања.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410613F-0422-45B2-84A3-0C6880DA2B19}"/>
              </a:ext>
            </a:extLst>
          </p:cNvPr>
          <p:cNvSpPr>
            <a:spLocks noGrp="1"/>
          </p:cNvSpPr>
          <p:nvPr/>
        </p:nvSpPr>
        <p:spPr>
          <a:xfrm>
            <a:off x="1135380" y="2788920"/>
            <a:ext cx="1508760" cy="694944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EF3B03-8735-4FB7-82AA-BE7C3D365919}"/>
              </a:ext>
            </a:extLst>
          </p:cNvPr>
          <p:cNvSpPr>
            <a:spLocks noGrp="1"/>
          </p:cNvSpPr>
          <p:nvPr/>
        </p:nvSpPr>
        <p:spPr>
          <a:xfrm>
            <a:off x="1208532" y="2999232"/>
            <a:ext cx="1353312" cy="271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B202B"/>
                </a:solidFill>
                <a:latin typeface="Aptos"/>
                <a:ea typeface="Aptos"/>
                <a:cs typeface="Aptos"/>
              </a:rPr>
              <a:t>Arrange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7C5249-2353-4532-8F35-FC3B9B627CE5}"/>
              </a:ext>
            </a:extLst>
          </p:cNvPr>
          <p:cNvSpPr>
            <a:spLocks noGrp="1"/>
          </p:cNvSpPr>
          <p:nvPr/>
        </p:nvSpPr>
        <p:spPr>
          <a:xfrm>
            <a:off x="1043940" y="363016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улази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5880AA-C3A1-493C-95E3-F9928E6661F9}"/>
              </a:ext>
            </a:extLst>
          </p:cNvPr>
          <p:cNvSpPr>
            <a:spLocks noGrp="1"/>
          </p:cNvSpPr>
          <p:nvPr/>
        </p:nvSpPr>
        <p:spPr>
          <a:xfrm>
            <a:off x="2735580" y="2990088"/>
            <a:ext cx="320040" cy="263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D687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8E6AE46-BFA7-410A-9A04-5675814C66CD}"/>
              </a:ext>
            </a:extLst>
          </p:cNvPr>
          <p:cNvSpPr>
            <a:spLocks noGrp="1"/>
          </p:cNvSpPr>
          <p:nvPr/>
        </p:nvSpPr>
        <p:spPr>
          <a:xfrm>
            <a:off x="3238500" y="2788920"/>
            <a:ext cx="1508760" cy="694944"/>
          </a:xfrm>
          <a:prstGeom prst="roundRect">
            <a:avLst>
              <a:gd name="adj" fmla="val 12000"/>
            </a:avLst>
          </a:prstGeom>
          <a:solidFill>
            <a:srgbClr val="F4F7FF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9D01D3-EDD1-4D39-8073-7B448DCF1A4A}"/>
              </a:ext>
            </a:extLst>
          </p:cNvPr>
          <p:cNvSpPr>
            <a:spLocks noGrp="1"/>
          </p:cNvSpPr>
          <p:nvPr/>
        </p:nvSpPr>
        <p:spPr>
          <a:xfrm>
            <a:off x="3311652" y="2999232"/>
            <a:ext cx="1353312" cy="2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83AF62-617C-423E-9258-17FD7C08555F}"/>
              </a:ext>
            </a:extLst>
          </p:cNvPr>
          <p:cNvSpPr>
            <a:spLocks noGrp="1"/>
          </p:cNvSpPr>
          <p:nvPr/>
        </p:nvSpPr>
        <p:spPr>
          <a:xfrm>
            <a:off x="3147060" y="363016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операција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614C30-68B5-4596-B13F-8370996EBC0C}"/>
              </a:ext>
            </a:extLst>
          </p:cNvPr>
          <p:cNvSpPr>
            <a:spLocks noGrp="1"/>
          </p:cNvSpPr>
          <p:nvPr/>
        </p:nvSpPr>
        <p:spPr>
          <a:xfrm>
            <a:off x="4838700" y="2990088"/>
            <a:ext cx="320040" cy="263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D687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75AB732-9B29-475B-8124-7825409A612D}"/>
              </a:ext>
            </a:extLst>
          </p:cNvPr>
          <p:cNvSpPr>
            <a:spLocks noGrp="1"/>
          </p:cNvSpPr>
          <p:nvPr/>
        </p:nvSpPr>
        <p:spPr>
          <a:xfrm>
            <a:off x="5341620" y="2788920"/>
            <a:ext cx="1508760" cy="694944"/>
          </a:xfrm>
          <a:prstGeom prst="roundRect">
            <a:avLst>
              <a:gd name="adj" fmla="val 12000"/>
            </a:avLst>
          </a:prstGeom>
          <a:solidFill>
            <a:srgbClr val="F4F7FF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53E176-F800-4604-B9C5-341AA26727BB}"/>
              </a:ext>
            </a:extLst>
          </p:cNvPr>
          <p:cNvSpPr>
            <a:spLocks noGrp="1"/>
          </p:cNvSpPr>
          <p:nvPr/>
        </p:nvSpPr>
        <p:spPr>
          <a:xfrm>
            <a:off x="5414772" y="2999232"/>
            <a:ext cx="1353312" cy="271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Assert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38856E-4A22-45B2-9AAB-7B3D29085B5F}"/>
              </a:ext>
            </a:extLst>
          </p:cNvPr>
          <p:cNvSpPr>
            <a:spLocks noGrp="1"/>
          </p:cNvSpPr>
          <p:nvPr/>
        </p:nvSpPr>
        <p:spPr>
          <a:xfrm>
            <a:off x="5250180" y="363016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исход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7CCC2C-6FD4-4725-A3CB-7E7307611266}"/>
              </a:ext>
            </a:extLst>
          </p:cNvPr>
          <p:cNvSpPr>
            <a:spLocks noGrp="1"/>
          </p:cNvSpPr>
          <p:nvPr/>
        </p:nvSpPr>
        <p:spPr>
          <a:xfrm>
            <a:off x="6941820" y="2990088"/>
            <a:ext cx="320040" cy="263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D687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76B592F-6A8F-4838-8A87-ABE2C894B4B3}"/>
              </a:ext>
            </a:extLst>
          </p:cNvPr>
          <p:cNvSpPr>
            <a:spLocks noGrp="1"/>
          </p:cNvSpPr>
          <p:nvPr/>
        </p:nvSpPr>
        <p:spPr>
          <a:xfrm>
            <a:off x="7444740" y="2788920"/>
            <a:ext cx="1508760" cy="694944"/>
          </a:xfrm>
          <a:prstGeom prst="roundRect">
            <a:avLst>
              <a:gd name="adj" fmla="val 12000"/>
            </a:avLst>
          </a:prstGeom>
          <a:solidFill>
            <a:srgbClr val="FDF9F1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1C0D21-EA6B-4AD9-823F-8D2EDC86E67B}"/>
              </a:ext>
            </a:extLst>
          </p:cNvPr>
          <p:cNvSpPr>
            <a:spLocks noGrp="1"/>
          </p:cNvSpPr>
          <p:nvPr/>
        </p:nvSpPr>
        <p:spPr>
          <a:xfrm>
            <a:off x="7517892" y="2999232"/>
            <a:ext cx="1353312" cy="271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BE770F"/>
                </a:solidFill>
                <a:latin typeface="Aptos"/>
                <a:ea typeface="Aptos"/>
                <a:cs typeface="Aptos"/>
              </a:rPr>
              <a:t>Diagnose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1B2401-6323-452F-8D90-6EAFBD6FDE22}"/>
              </a:ext>
            </a:extLst>
          </p:cNvPr>
          <p:cNvSpPr>
            <a:spLocks noGrp="1"/>
          </p:cNvSpPr>
          <p:nvPr/>
        </p:nvSpPr>
        <p:spPr>
          <a:xfrm>
            <a:off x="7353300" y="363016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порука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4173D5-F620-4B00-AFDD-7294C482B9CC}"/>
              </a:ext>
            </a:extLst>
          </p:cNvPr>
          <p:cNvSpPr>
            <a:spLocks noGrp="1"/>
          </p:cNvSpPr>
          <p:nvPr/>
        </p:nvSpPr>
        <p:spPr>
          <a:xfrm>
            <a:off x="9044940" y="2990088"/>
            <a:ext cx="320040" cy="263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D687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04DE803-70A5-4857-9356-1E47C1773A04}"/>
              </a:ext>
            </a:extLst>
          </p:cNvPr>
          <p:cNvSpPr>
            <a:spLocks noGrp="1"/>
          </p:cNvSpPr>
          <p:nvPr/>
        </p:nvSpPr>
        <p:spPr>
          <a:xfrm>
            <a:off x="9547860" y="2788920"/>
            <a:ext cx="1508760" cy="694944"/>
          </a:xfrm>
          <a:prstGeom prst="roundRect">
            <a:avLst>
              <a:gd name="adj" fmla="val 12000"/>
            </a:avLst>
          </a:prstGeom>
          <a:solidFill>
            <a:srgbClr val="F3FAF6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D2EE5D-1F94-427F-B096-175D93AECD77}"/>
              </a:ext>
            </a:extLst>
          </p:cNvPr>
          <p:cNvSpPr>
            <a:spLocks noGrp="1"/>
          </p:cNvSpPr>
          <p:nvPr/>
        </p:nvSpPr>
        <p:spPr>
          <a:xfrm>
            <a:off x="9621012" y="2999232"/>
            <a:ext cx="1353312" cy="271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0A915F"/>
                </a:solidFill>
                <a:latin typeface="Aptos"/>
                <a:ea typeface="Aptos"/>
                <a:cs typeface="Aptos"/>
              </a:rPr>
              <a:t>Refactor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AAE55E-D8AD-4353-AEB4-577524CFCB3B}"/>
              </a:ext>
            </a:extLst>
          </p:cNvPr>
          <p:cNvSpPr>
            <a:spLocks noGrp="1"/>
          </p:cNvSpPr>
          <p:nvPr/>
        </p:nvSpPr>
        <p:spPr>
          <a:xfrm>
            <a:off x="9456420" y="363016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сигнал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10B0D13-8803-4B3A-9ADF-91D69A5B7857}"/>
              </a:ext>
            </a:extLst>
          </p:cNvPr>
          <p:cNvSpPr>
            <a:spLocks noGrp="1"/>
          </p:cNvSpPr>
          <p:nvPr/>
        </p:nvSpPr>
        <p:spPr>
          <a:xfrm>
            <a:off x="914400" y="4914900"/>
            <a:ext cx="10363200" cy="800100"/>
          </a:xfrm>
          <a:prstGeom prst="roundRect">
            <a:avLst>
              <a:gd name="adj" fmla="val 16667"/>
            </a:avLst>
          </a:prstGeom>
          <a:solidFill>
            <a:srgbClr val="FFF6E9"/>
          </a:solidFill>
          <a:ln w="7620">
            <a:solidFill>
              <a:srgbClr val="E9D4AF"/>
            </a:solidFill>
            <a:prstDash val="solid"/>
          </a:ln>
        </p:spPr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9046163-07E5-4D26-B94B-34B00BCE0190}"/>
              </a:ext>
            </a:extLst>
          </p:cNvPr>
          <p:cNvSpPr>
            <a:spLocks noGrp="1"/>
          </p:cNvSpPr>
          <p:nvPr/>
        </p:nvSpPr>
        <p:spPr>
          <a:xfrm>
            <a:off x="1085850" y="5067300"/>
            <a:ext cx="57150" cy="495300"/>
          </a:xfrm>
          <a:prstGeom prst="roundRect">
            <a:avLst>
              <a:gd name="adj" fmla="val 50000"/>
            </a:avLst>
          </a:prstGeom>
          <a:solidFill>
            <a:srgbClr val="B86A09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43D482-9F23-4164-9692-25181366223B}"/>
              </a:ext>
            </a:extLst>
          </p:cNvPr>
          <p:cNvSpPr>
            <a:spLocks noGrp="1"/>
          </p:cNvSpPr>
          <p:nvPr/>
        </p:nvSpPr>
        <p:spPr>
          <a:xfrm>
            <a:off x="1333500" y="502920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КЉУЧНА ПОРУКА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77646A3-FE40-48D1-B02F-AF63A0E8B561}"/>
              </a:ext>
            </a:extLst>
          </p:cNvPr>
          <p:cNvSpPr>
            <a:spLocks noGrp="1"/>
          </p:cNvSpPr>
          <p:nvPr/>
        </p:nvSpPr>
        <p:spPr>
          <a:xfrm>
            <a:off x="1333500" y="5276850"/>
            <a:ext cx="96012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Назив теста треба да описује понашање које штити, а не само методу коју позива.</a:t>
            </a:r>
          </a:p>
        </p:txBody>
      </p:sp>
    </p:spTree>
    <p:extLst>
      <p:ext uri="{BB962C8B-B14F-4D97-AF65-F5344CB8AC3E}">
        <p14:creationId xmlns:p14="http://schemas.microsoft.com/office/powerpoint/2010/main" val="409397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53FABB-AC04-4A9E-B361-462C4BB1EC33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593A57-059B-472E-A575-ABD4D381B616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CD779A-AFBC-424C-BF71-D431EA580924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7E5356-33BA-49F6-AA3B-0E3DC9274D6B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Негативни сценарио из критеријума прихватања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673C88-9E37-40C2-ACCE-CD254770A2C9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Тест проверава понашање, не приватне детаље имплементације.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CA04554-B0F4-4447-9B0B-B1CDDEBA9487}"/>
              </a:ext>
            </a:extLst>
          </p:cNvPr>
          <p:cNvSpPr>
            <a:spLocks noGrp="1"/>
          </p:cNvSpPr>
          <p:nvPr/>
        </p:nvSpPr>
        <p:spPr>
          <a:xfrm>
            <a:off x="914400" y="2103120"/>
            <a:ext cx="5715000" cy="3026531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D72DF-97E3-42DF-BDAD-687A929FC23B}"/>
              </a:ext>
            </a:extLst>
          </p:cNvPr>
          <p:cNvSpPr>
            <a:spLocks noGrp="1"/>
          </p:cNvSpPr>
          <p:nvPr/>
        </p:nvSpPr>
        <p:spPr>
          <a:xfrm>
            <a:off x="914400" y="2450592"/>
            <a:ext cx="5715000" cy="109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BB885A2-4336-4166-9EEB-049483F53C72}"/>
              </a:ext>
            </a:extLst>
          </p:cNvPr>
          <p:cNvSpPr>
            <a:spLocks noGrp="1"/>
          </p:cNvSpPr>
          <p:nvPr/>
        </p:nvSpPr>
        <p:spPr>
          <a:xfrm>
            <a:off x="5715000" y="2221992"/>
            <a:ext cx="73152" cy="73152"/>
          </a:xfrm>
          <a:prstGeom prst="ellipse">
            <a:avLst/>
          </a:prstGeom>
          <a:solidFill>
            <a:srgbClr val="EE6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AF284C0-471D-4AEF-AF2D-27B9F56BB5C8}"/>
              </a:ext>
            </a:extLst>
          </p:cNvPr>
          <p:cNvSpPr>
            <a:spLocks noGrp="1"/>
          </p:cNvSpPr>
          <p:nvPr/>
        </p:nvSpPr>
        <p:spPr>
          <a:xfrm>
            <a:off x="5861304" y="2221992"/>
            <a:ext cx="73152" cy="73152"/>
          </a:xfrm>
          <a:prstGeom prst="ellipse">
            <a:avLst/>
          </a:prstGeom>
          <a:solidFill>
            <a:srgbClr val="F5B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A0A89E-EF6F-4E5D-AF59-64833B96AB15}"/>
              </a:ext>
            </a:extLst>
          </p:cNvPr>
          <p:cNvSpPr>
            <a:spLocks noGrp="1"/>
          </p:cNvSpPr>
          <p:nvPr/>
        </p:nvSpPr>
        <p:spPr>
          <a:xfrm>
            <a:off x="6007608" y="2221992"/>
            <a:ext cx="73152" cy="73152"/>
          </a:xfrm>
          <a:prstGeom prst="ellipse">
            <a:avLst/>
          </a:prstGeom>
          <a:solidFill>
            <a:srgbClr val="62C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A88B6C-5E9B-4056-8C3D-5DA9643C8735}"/>
              </a:ext>
            </a:extLst>
          </p:cNvPr>
          <p:cNvSpPr>
            <a:spLocks noGrp="1"/>
          </p:cNvSpPr>
          <p:nvPr/>
        </p:nvSpPr>
        <p:spPr>
          <a:xfrm>
            <a:off x="1047750" y="2579370"/>
            <a:ext cx="5448300" cy="34204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Test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void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Reserve_WhenPeriodOverlaps_ReturnsConflict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repository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Mock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IReservationRepository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&gt;();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repository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Setup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r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=&gt;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r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HasOverlap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IsAny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Guid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&gt;(),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IsAny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DateTime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&gt;(),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IsAny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DateTime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&gt;()))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Returns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8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result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service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Reserve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TestRequests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ValidFutureReservation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11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Assert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That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Success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Assert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That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Error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EqualTo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OverlappingReservat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14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ion</a:t>
            </a:r>
            <a:r>
              <a:rPr sz="1032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15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C4202B-F866-47D3-8D67-2D44C895D244}"/>
              </a:ext>
            </a:extLst>
          </p:cNvPr>
          <p:cNvSpPr>
            <a:spLocks noGrp="1"/>
          </p:cNvSpPr>
          <p:nvPr/>
        </p:nvSpPr>
        <p:spPr>
          <a:xfrm>
            <a:off x="6873240" y="2240280"/>
            <a:ext cx="3840480" cy="271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Шта је важно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3A81AD-254B-4910-8B69-0A764748AAAB}"/>
              </a:ext>
            </a:extLst>
          </p:cNvPr>
          <p:cNvSpPr>
            <a:spLocks noGrp="1"/>
          </p:cNvSpPr>
          <p:nvPr/>
        </p:nvSpPr>
        <p:spPr>
          <a:xfrm>
            <a:off x="6873240" y="2578608"/>
            <a:ext cx="3886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Arrange припрема контролисаног сарадника.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Act извршава једну релевантну операцију.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Assert проверава посматрани исход.</a:t>
            </a:r>
          </a:p>
        </p:txBody>
      </p:sp>
    </p:spTree>
    <p:extLst>
      <p:ext uri="{BB962C8B-B14F-4D97-AF65-F5344CB8AC3E}">
        <p14:creationId xmlns:p14="http://schemas.microsoft.com/office/powerpoint/2010/main" val="716041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F09FC5-97CA-4B8C-A180-AECB62E08C1A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E52101-D7DA-4A43-AC11-7344087221A0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A0E25-8FE7-468A-950A-F134007582DE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1E0B62-28C1-444F-8CF1-D515B62BFB3A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Test double није замена за сваки објекат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E69F05-E194-4D0E-904A-941943D55D54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Mock се користи на граници коју тест намерно изолује.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BEA7A-CA58-486D-9688-5CB690B377EC}"/>
              </a:ext>
            </a:extLst>
          </p:cNvPr>
          <p:cNvSpPr>
            <a:spLocks noGrp="1"/>
          </p:cNvSpPr>
          <p:nvPr/>
        </p:nvSpPr>
        <p:spPr>
          <a:xfrm>
            <a:off x="1051560" y="242316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Мали value object или доменска класа чије понашање је предмет теста најчешће треба да буде стварни објекат, не mock.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79109E-796F-4882-8139-B253CE90782C}"/>
              </a:ext>
            </a:extLst>
          </p:cNvPr>
          <p:cNvSpPr>
            <a:spLocks noGrp="1"/>
          </p:cNvSpPr>
          <p:nvPr/>
        </p:nvSpPr>
        <p:spPr>
          <a:xfrm>
            <a:off x="1051560" y="3462174"/>
            <a:ext cx="6949440" cy="10972"/>
          </a:xfrm>
          <a:prstGeom prst="rect">
            <a:avLst/>
          </a:prstGeom>
          <a:solidFill>
            <a:srgbClr val="2A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8DD9C1B-88A2-4875-B75D-0B9E8D5BF94F}"/>
              </a:ext>
            </a:extLst>
          </p:cNvPr>
          <p:cNvSpPr>
            <a:spLocks noGrp="1"/>
          </p:cNvSpPr>
          <p:nvPr/>
        </p:nvSpPr>
        <p:spPr>
          <a:xfrm>
            <a:off x="914400" y="4267200"/>
            <a:ext cx="10363200" cy="800100"/>
          </a:xfrm>
          <a:prstGeom prst="roundRect">
            <a:avLst>
              <a:gd name="adj" fmla="val 16667"/>
            </a:avLst>
          </a:prstGeom>
          <a:solidFill>
            <a:srgbClr val="FFF6E9"/>
          </a:solidFill>
          <a:ln w="7620">
            <a:solidFill>
              <a:srgbClr val="E9D4AF"/>
            </a:solidFill>
            <a:prstDash val="solid"/>
          </a:ln>
        </p:spPr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CD5D823-7EDE-4371-A855-BC267A5753DE}"/>
              </a:ext>
            </a:extLst>
          </p:cNvPr>
          <p:cNvSpPr>
            <a:spLocks noGrp="1"/>
          </p:cNvSpPr>
          <p:nvPr/>
        </p:nvSpPr>
        <p:spPr>
          <a:xfrm>
            <a:off x="1085850" y="4419600"/>
            <a:ext cx="57150" cy="495300"/>
          </a:xfrm>
          <a:prstGeom prst="roundRect">
            <a:avLst>
              <a:gd name="adj" fmla="val 50000"/>
            </a:avLst>
          </a:prstGeom>
          <a:solidFill>
            <a:srgbClr val="B86A09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57DC17-7FD2-46BC-A4BF-35C155C43688}"/>
              </a:ext>
            </a:extLst>
          </p:cNvPr>
          <p:cNvSpPr>
            <a:spLocks noGrp="1"/>
          </p:cNvSpPr>
          <p:nvPr/>
        </p:nvSpPr>
        <p:spPr>
          <a:xfrm>
            <a:off x="1333500" y="438150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КЉУЧНА ПОРУКА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F2A0E9-FD1E-4068-BAC1-C6CD04CE7862}"/>
              </a:ext>
            </a:extLst>
          </p:cNvPr>
          <p:cNvSpPr>
            <a:spLocks noGrp="1"/>
          </p:cNvSpPr>
          <p:nvPr/>
        </p:nvSpPr>
        <p:spPr>
          <a:xfrm>
            <a:off x="1333500" y="4629150"/>
            <a:ext cx="96012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Mock је користан за repository, HTTP клијент, време или случајност.</a:t>
            </a:r>
          </a:p>
        </p:txBody>
      </p:sp>
    </p:spTree>
    <p:extLst>
      <p:ext uri="{BB962C8B-B14F-4D97-AF65-F5344CB8AC3E}">
        <p14:creationId xmlns:p14="http://schemas.microsoft.com/office/powerpoint/2010/main" val="23173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80B8A5-48A9-4C4C-872E-D4C7BF27D24C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3BC400-5355-4E6B-A3F4-9243CA93B190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578EF-C88C-453C-8577-B40043A23F03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E325F6-AE04-4E77-9208-C7C7C3B2B1F1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Када користити mock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51810-2C5F-4EAB-A126-57ABA174C175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Изолација има смисла само када контролише променљиву спољну зависност.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B94E9C-E6FA-499D-B990-EEBDA6878963}"/>
              </a:ext>
            </a:extLst>
          </p:cNvPr>
          <p:cNvSpPr>
            <a:spLocks noGrp="1"/>
          </p:cNvSpPr>
          <p:nvPr/>
        </p:nvSpPr>
        <p:spPr>
          <a:xfrm>
            <a:off x="914400" y="2240280"/>
            <a:ext cx="2518161" cy="457200"/>
          </a:xfrm>
          <a:prstGeom prst="rect">
            <a:avLst/>
          </a:prstGeom>
          <a:solidFill>
            <a:srgbClr val="F7F8FA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C99913-DA0C-419B-92C2-82F13179B733}"/>
              </a:ext>
            </a:extLst>
          </p:cNvPr>
          <p:cNvSpPr>
            <a:spLocks noGrp="1"/>
          </p:cNvSpPr>
          <p:nvPr/>
        </p:nvSpPr>
        <p:spPr>
          <a:xfrm>
            <a:off x="1030623" y="2306955"/>
            <a:ext cx="2324456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5D6878"/>
                </a:solidFill>
                <a:latin typeface="Aptos"/>
                <a:ea typeface="Aptos"/>
                <a:cs typeface="Aptos"/>
              </a:rPr>
              <a:t>Ситуација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7725A6-8D83-4232-A84C-E2F2F2F3AFF8}"/>
              </a:ext>
            </a:extLst>
          </p:cNvPr>
          <p:cNvSpPr>
            <a:spLocks noGrp="1"/>
          </p:cNvSpPr>
          <p:nvPr/>
        </p:nvSpPr>
        <p:spPr>
          <a:xfrm>
            <a:off x="3432561" y="2240280"/>
            <a:ext cx="7845039" cy="457200"/>
          </a:xfrm>
          <a:prstGeom prst="rect">
            <a:avLst/>
          </a:prstGeom>
          <a:solidFill>
            <a:srgbClr val="F7F8FA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137684-B4CC-41E1-8700-197F4062A6D8}"/>
              </a:ext>
            </a:extLst>
          </p:cNvPr>
          <p:cNvSpPr>
            <a:spLocks noGrp="1"/>
          </p:cNvSpPr>
          <p:nvPr/>
        </p:nvSpPr>
        <p:spPr>
          <a:xfrm>
            <a:off x="3548784" y="2306955"/>
            <a:ext cx="7651334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5D6878"/>
                </a:solidFill>
                <a:latin typeface="Aptos"/>
                <a:ea typeface="Aptos"/>
                <a:cs typeface="Aptos"/>
              </a:rPr>
              <a:t>Одлука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3067C2-D92F-482F-81AB-6D317B39F328}"/>
              </a:ext>
            </a:extLst>
          </p:cNvPr>
          <p:cNvSpPr>
            <a:spLocks noGrp="1"/>
          </p:cNvSpPr>
          <p:nvPr/>
        </p:nvSpPr>
        <p:spPr>
          <a:xfrm>
            <a:off x="914400" y="2697480"/>
            <a:ext cx="2518161" cy="609600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0A542B-94C1-4DAD-AFAF-8095BE9541AC}"/>
              </a:ext>
            </a:extLst>
          </p:cNvPr>
          <p:cNvSpPr>
            <a:spLocks noGrp="1"/>
          </p:cNvSpPr>
          <p:nvPr/>
        </p:nvSpPr>
        <p:spPr>
          <a:xfrm>
            <a:off x="1030623" y="2764155"/>
            <a:ext cx="227603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Repository или HTTP клијент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58C582-3AB9-42AA-A0A6-3D605C9F846B}"/>
              </a:ext>
            </a:extLst>
          </p:cNvPr>
          <p:cNvSpPr>
            <a:spLocks noGrp="1"/>
          </p:cNvSpPr>
          <p:nvPr/>
        </p:nvSpPr>
        <p:spPr>
          <a:xfrm>
            <a:off x="3432561" y="2697480"/>
            <a:ext cx="7845039" cy="609600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0F84C9-B3F5-4966-8B17-30A841D9B2E1}"/>
              </a:ext>
            </a:extLst>
          </p:cNvPr>
          <p:cNvSpPr>
            <a:spLocks noGrp="1"/>
          </p:cNvSpPr>
          <p:nvPr/>
        </p:nvSpPr>
        <p:spPr>
          <a:xfrm>
            <a:off x="3548784" y="2764155"/>
            <a:ext cx="7602908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mock контролише повратну вредност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B3BC84-5886-4D9E-9BAF-174441F546B0}"/>
              </a:ext>
            </a:extLst>
          </p:cNvPr>
          <p:cNvSpPr>
            <a:spLocks noGrp="1"/>
          </p:cNvSpPr>
          <p:nvPr/>
        </p:nvSpPr>
        <p:spPr>
          <a:xfrm>
            <a:off x="914400" y="3307080"/>
            <a:ext cx="2518161" cy="609600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112235-CAD5-4373-8E48-427898BD433A}"/>
              </a:ext>
            </a:extLst>
          </p:cNvPr>
          <p:cNvSpPr>
            <a:spLocks noGrp="1"/>
          </p:cNvSpPr>
          <p:nvPr/>
        </p:nvSpPr>
        <p:spPr>
          <a:xfrm>
            <a:off x="1030623" y="3373755"/>
            <a:ext cx="227603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IClock или generator ID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C78DF4-07EF-45E0-9C4A-BD52C2B9F7DA}"/>
              </a:ext>
            </a:extLst>
          </p:cNvPr>
          <p:cNvSpPr>
            <a:spLocks noGrp="1"/>
          </p:cNvSpPr>
          <p:nvPr/>
        </p:nvSpPr>
        <p:spPr>
          <a:xfrm>
            <a:off x="3432561" y="3307080"/>
            <a:ext cx="7845039" cy="609600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4CFA8A-E84D-46F5-B1DF-319D65E908F5}"/>
              </a:ext>
            </a:extLst>
          </p:cNvPr>
          <p:cNvSpPr>
            <a:spLocks noGrp="1"/>
          </p:cNvSpPr>
          <p:nvPr/>
        </p:nvSpPr>
        <p:spPr>
          <a:xfrm>
            <a:off x="3548784" y="3373755"/>
            <a:ext cx="7602908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mock обезбеђује детерминизам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DDA927-409C-49BE-8705-0BD2C2669FD1}"/>
              </a:ext>
            </a:extLst>
          </p:cNvPr>
          <p:cNvSpPr>
            <a:spLocks noGrp="1"/>
          </p:cNvSpPr>
          <p:nvPr/>
        </p:nvSpPr>
        <p:spPr>
          <a:xfrm>
            <a:off x="914400" y="3916680"/>
            <a:ext cx="2518161" cy="609600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773309-8436-4C52-8040-BA05BB54D9B9}"/>
              </a:ext>
            </a:extLst>
          </p:cNvPr>
          <p:cNvSpPr>
            <a:spLocks noGrp="1"/>
          </p:cNvSpPr>
          <p:nvPr/>
        </p:nvSpPr>
        <p:spPr>
          <a:xfrm>
            <a:off x="1030623" y="3983355"/>
            <a:ext cx="227603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Мали value object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A5C5C0-D99D-486C-9ACC-DC769529B422}"/>
              </a:ext>
            </a:extLst>
          </p:cNvPr>
          <p:cNvSpPr>
            <a:spLocks noGrp="1"/>
          </p:cNvSpPr>
          <p:nvPr/>
        </p:nvSpPr>
        <p:spPr>
          <a:xfrm>
            <a:off x="3432561" y="3916680"/>
            <a:ext cx="7845039" cy="609600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A9D83B-45D6-488D-B465-E4BF71BF157E}"/>
              </a:ext>
            </a:extLst>
          </p:cNvPr>
          <p:cNvSpPr>
            <a:spLocks noGrp="1"/>
          </p:cNvSpPr>
          <p:nvPr/>
        </p:nvSpPr>
        <p:spPr>
          <a:xfrm>
            <a:off x="3548784" y="3983355"/>
            <a:ext cx="7602908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користити стварни објекат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297502-5FF8-44E4-AB56-BD78EE218A20}"/>
              </a:ext>
            </a:extLst>
          </p:cNvPr>
          <p:cNvSpPr>
            <a:spLocks noGrp="1"/>
          </p:cNvSpPr>
          <p:nvPr/>
        </p:nvSpPr>
        <p:spPr>
          <a:xfrm>
            <a:off x="914400" y="4526280"/>
            <a:ext cx="2518161" cy="609600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ACFC68-3792-4984-A7CE-0F05C6398B30}"/>
              </a:ext>
            </a:extLst>
          </p:cNvPr>
          <p:cNvSpPr>
            <a:spLocks noGrp="1"/>
          </p:cNvSpPr>
          <p:nvPr/>
        </p:nvSpPr>
        <p:spPr>
          <a:xfrm>
            <a:off x="1030623" y="4592955"/>
            <a:ext cx="227603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Доменска класа која се тестира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32EF49-51C4-4B09-B253-30B6E157B036}"/>
              </a:ext>
            </a:extLst>
          </p:cNvPr>
          <p:cNvSpPr>
            <a:spLocks noGrp="1"/>
          </p:cNvSpPr>
          <p:nvPr/>
        </p:nvSpPr>
        <p:spPr>
          <a:xfrm>
            <a:off x="3432561" y="4526280"/>
            <a:ext cx="7845039" cy="609600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E6FD30-DCA4-4624-A136-909B0A99D205}"/>
              </a:ext>
            </a:extLst>
          </p:cNvPr>
          <p:cNvSpPr>
            <a:spLocks noGrp="1"/>
          </p:cNvSpPr>
          <p:nvPr/>
        </p:nvSpPr>
        <p:spPr>
          <a:xfrm>
            <a:off x="3548784" y="4592955"/>
            <a:ext cx="7602908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не mock-овати предмет теста</a:t>
            </a:r>
          </a:p>
        </p:txBody>
      </p:sp>
    </p:spTree>
    <p:extLst>
      <p:ext uri="{BB962C8B-B14F-4D97-AF65-F5344CB8AC3E}">
        <p14:creationId xmlns:p14="http://schemas.microsoft.com/office/powerpoint/2010/main" val="1019755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ACDD61-9B3C-4FBE-A336-CCC1A8A92C4C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83C3D4-1867-4652-8B27-7076B685BB85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F0626F-26ED-46A8-8FCF-7E5249F06576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19552E-19C4-44F4-A231-C633EFD082C8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Moq Setup и Verify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15774A-5CDB-4AC6-B2F7-977380554088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Setup контролише сарадника, Verify проверава значајну интеракцију.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79D3510-85BE-4243-9446-79E5A3AF4E8F}"/>
              </a:ext>
            </a:extLst>
          </p:cNvPr>
          <p:cNvSpPr>
            <a:spLocks noGrp="1"/>
          </p:cNvSpPr>
          <p:nvPr/>
        </p:nvSpPr>
        <p:spPr>
          <a:xfrm>
            <a:off x="914400" y="2511857"/>
            <a:ext cx="5715000" cy="1947885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B4CA81-50C6-4D1E-BF3A-22030A5572F9}"/>
              </a:ext>
            </a:extLst>
          </p:cNvPr>
          <p:cNvSpPr>
            <a:spLocks noGrp="1"/>
          </p:cNvSpPr>
          <p:nvPr/>
        </p:nvSpPr>
        <p:spPr>
          <a:xfrm>
            <a:off x="914400" y="2859329"/>
            <a:ext cx="5715000" cy="109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B281133-286B-4E77-8C3F-362EA3BFCCAA}"/>
              </a:ext>
            </a:extLst>
          </p:cNvPr>
          <p:cNvSpPr>
            <a:spLocks noGrp="1"/>
          </p:cNvSpPr>
          <p:nvPr/>
        </p:nvSpPr>
        <p:spPr>
          <a:xfrm>
            <a:off x="5715000" y="2630729"/>
            <a:ext cx="73152" cy="73152"/>
          </a:xfrm>
          <a:prstGeom prst="ellipse">
            <a:avLst/>
          </a:prstGeom>
          <a:solidFill>
            <a:srgbClr val="EE6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8DE9087-8539-463B-B102-9728CC42FBCC}"/>
              </a:ext>
            </a:extLst>
          </p:cNvPr>
          <p:cNvSpPr>
            <a:spLocks noGrp="1"/>
          </p:cNvSpPr>
          <p:nvPr/>
        </p:nvSpPr>
        <p:spPr>
          <a:xfrm>
            <a:off x="5861304" y="2630729"/>
            <a:ext cx="73152" cy="73152"/>
          </a:xfrm>
          <a:prstGeom prst="ellipse">
            <a:avLst/>
          </a:prstGeom>
          <a:solidFill>
            <a:srgbClr val="F5B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6B4259E-D864-4FAC-84A9-0CDA50422A29}"/>
              </a:ext>
            </a:extLst>
          </p:cNvPr>
          <p:cNvSpPr>
            <a:spLocks noGrp="1"/>
          </p:cNvSpPr>
          <p:nvPr/>
        </p:nvSpPr>
        <p:spPr>
          <a:xfrm>
            <a:off x="6007608" y="2630729"/>
            <a:ext cx="73152" cy="73152"/>
          </a:xfrm>
          <a:prstGeom prst="ellipse">
            <a:avLst/>
          </a:prstGeom>
          <a:solidFill>
            <a:srgbClr val="62C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9624E3-5C4E-4D7A-B5B1-F8276ED1F648}"/>
              </a:ext>
            </a:extLst>
          </p:cNvPr>
          <p:cNvSpPr>
            <a:spLocks noGrp="1"/>
          </p:cNvSpPr>
          <p:nvPr/>
        </p:nvSpPr>
        <p:spPr>
          <a:xfrm>
            <a:off x="1047750" y="2988107"/>
            <a:ext cx="5448300" cy="2228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repository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Mock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IReservationRepository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&gt;();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repository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Setup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r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=&gt;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r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FindById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reservationId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Returns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existingReservation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result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service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Cancel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reservationId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6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repository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Verify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r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=&gt;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r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Save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existingReservation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),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Times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Once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6B07B6-82DC-4B67-8477-A2DB0DE3AD69}"/>
              </a:ext>
            </a:extLst>
          </p:cNvPr>
          <p:cNvSpPr>
            <a:spLocks noGrp="1"/>
          </p:cNvSpPr>
          <p:nvPr/>
        </p:nvSpPr>
        <p:spPr>
          <a:xfrm>
            <a:off x="6873240" y="2240280"/>
            <a:ext cx="3840480" cy="271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Шта је важно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D60265-8F66-472F-962D-351DF86E55EA}"/>
              </a:ext>
            </a:extLst>
          </p:cNvPr>
          <p:cNvSpPr>
            <a:spLocks noGrp="1"/>
          </p:cNvSpPr>
          <p:nvPr/>
        </p:nvSpPr>
        <p:spPr>
          <a:xfrm>
            <a:off x="6873240" y="2578608"/>
            <a:ext cx="3886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Verify је оправдан када је интеракција део понашања.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Превише Verify провера прави крхак тест.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Не проверавати сваки интерни позив без потребе.</a:t>
            </a:r>
          </a:p>
        </p:txBody>
      </p:sp>
    </p:spTree>
    <p:extLst>
      <p:ext uri="{BB962C8B-B14F-4D97-AF65-F5344CB8AC3E}">
        <p14:creationId xmlns:p14="http://schemas.microsoft.com/office/powerpoint/2010/main" val="55897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99C1A9-80C4-4733-80DC-A5A1EB8DC988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720F26-4F43-44CA-9002-E95DEBD2AA9B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B2129-231F-4701-8FAB-EA76B4F2463C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0D42E9-78F7-48C2-BA6A-5CB296D7DAD0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Тест сценарији потичу из правила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79844-BE2E-4A21-A46B-99EDB4344D87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Највреднији тестови штите пословни ризик.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D3760DC-8C7B-423C-AFCE-343CB4CC39D8}"/>
              </a:ext>
            </a:extLst>
          </p:cNvPr>
          <p:cNvSpPr>
            <a:spLocks noGrp="1"/>
          </p:cNvSpPr>
          <p:nvPr/>
        </p:nvSpPr>
        <p:spPr>
          <a:xfrm>
            <a:off x="1478280" y="2560320"/>
            <a:ext cx="2834640" cy="1828800"/>
          </a:xfrm>
          <a:prstGeom prst="roundRect">
            <a:avLst>
              <a:gd name="adj" fmla="val 12000"/>
            </a:avLst>
          </a:prstGeom>
          <a:solidFill>
            <a:srgbClr val="F4F7FF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0D8DCF-D247-4A2E-BFE4-0503FCE4FCBC}"/>
              </a:ext>
            </a:extLst>
          </p:cNvPr>
          <p:cNvSpPr>
            <a:spLocks noGrp="1"/>
          </p:cNvSpPr>
          <p:nvPr/>
        </p:nvSpPr>
        <p:spPr>
          <a:xfrm>
            <a:off x="1642872" y="2761488"/>
            <a:ext cx="731520" cy="2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617A4B-D570-471A-B8AC-F96B85BF8A5D}"/>
              </a:ext>
            </a:extLst>
          </p:cNvPr>
          <p:cNvSpPr>
            <a:spLocks noGrp="1"/>
          </p:cNvSpPr>
          <p:nvPr/>
        </p:nvSpPr>
        <p:spPr>
          <a:xfrm>
            <a:off x="1642872" y="3063240"/>
            <a:ext cx="23317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B202B"/>
                </a:solidFill>
                <a:latin typeface="Aptos"/>
                <a:ea typeface="Aptos"/>
                <a:cs typeface="Aptos"/>
              </a:rPr>
              <a:t>Успешан ток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9E9E55-5707-430C-ADC4-4A196DAE7E43}"/>
              </a:ext>
            </a:extLst>
          </p:cNvPr>
          <p:cNvSpPr>
            <a:spLocks noGrp="1"/>
          </p:cNvSpPr>
          <p:nvPr/>
        </p:nvSpPr>
        <p:spPr>
          <a:xfrm>
            <a:off x="1642872" y="370332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валидни подаци и очекиван резултат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870E0A0-CCD2-465C-A0FC-F523081FA575}"/>
              </a:ext>
            </a:extLst>
          </p:cNvPr>
          <p:cNvSpPr>
            <a:spLocks noGrp="1"/>
          </p:cNvSpPr>
          <p:nvPr/>
        </p:nvSpPr>
        <p:spPr>
          <a:xfrm>
            <a:off x="4678680" y="2560320"/>
            <a:ext cx="2834640" cy="1828800"/>
          </a:xfrm>
          <a:prstGeom prst="roundRect">
            <a:avLst>
              <a:gd name="adj" fmla="val 12000"/>
            </a:avLst>
          </a:prstGeom>
          <a:solidFill>
            <a:srgbClr val="F3FAF6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A45594-C387-48CD-AC09-77168F2E5B71}"/>
              </a:ext>
            </a:extLst>
          </p:cNvPr>
          <p:cNvSpPr>
            <a:spLocks noGrp="1"/>
          </p:cNvSpPr>
          <p:nvPr/>
        </p:nvSpPr>
        <p:spPr>
          <a:xfrm>
            <a:off x="4843272" y="2761488"/>
            <a:ext cx="731520" cy="2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A915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46567B-A1BE-4BE3-934A-3CE8200D0702}"/>
              </a:ext>
            </a:extLst>
          </p:cNvPr>
          <p:cNvSpPr>
            <a:spLocks noGrp="1"/>
          </p:cNvSpPr>
          <p:nvPr/>
        </p:nvSpPr>
        <p:spPr>
          <a:xfrm>
            <a:off x="4843272" y="3063240"/>
            <a:ext cx="23317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Негативни ток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83917F-D6DE-4824-88FE-153FBA9B279C}"/>
              </a:ext>
            </a:extLst>
          </p:cNvPr>
          <p:cNvSpPr>
            <a:spLocks noGrp="1"/>
          </p:cNvSpPr>
          <p:nvPr/>
        </p:nvSpPr>
        <p:spPr>
          <a:xfrm>
            <a:off x="4843272" y="370332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очекивано одбијање захтева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A1C0D20-6DE3-4227-BA8A-386CEB21054F}"/>
              </a:ext>
            </a:extLst>
          </p:cNvPr>
          <p:cNvSpPr>
            <a:spLocks noGrp="1"/>
          </p:cNvSpPr>
          <p:nvPr/>
        </p:nvSpPr>
        <p:spPr>
          <a:xfrm>
            <a:off x="7879080" y="2560320"/>
            <a:ext cx="2834640" cy="1828800"/>
          </a:xfrm>
          <a:prstGeom prst="roundRect">
            <a:avLst>
              <a:gd name="adj" fmla="val 12000"/>
            </a:avLst>
          </a:prstGeom>
          <a:solidFill>
            <a:srgbClr val="FDF9F1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7E3FD5-14F5-45D0-8247-B377D1ADE890}"/>
              </a:ext>
            </a:extLst>
          </p:cNvPr>
          <p:cNvSpPr>
            <a:spLocks noGrp="1"/>
          </p:cNvSpPr>
          <p:nvPr/>
        </p:nvSpPr>
        <p:spPr>
          <a:xfrm>
            <a:off x="8043672" y="2761488"/>
            <a:ext cx="731520" cy="2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BE770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4A8CDF-9B77-4DB7-B7B3-9F249A0C3F61}"/>
              </a:ext>
            </a:extLst>
          </p:cNvPr>
          <p:cNvSpPr>
            <a:spLocks noGrp="1"/>
          </p:cNvSpPr>
          <p:nvPr/>
        </p:nvSpPr>
        <p:spPr>
          <a:xfrm>
            <a:off x="8043672" y="3063240"/>
            <a:ext cx="23317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Гранични случај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C11067-FFB5-4416-B526-470A878ECD74}"/>
              </a:ext>
            </a:extLst>
          </p:cNvPr>
          <p:cNvSpPr>
            <a:spLocks noGrp="1"/>
          </p:cNvSpPr>
          <p:nvPr/>
        </p:nvSpPr>
        <p:spPr>
          <a:xfrm>
            <a:off x="8043672" y="370332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вредност која мења понашање</a:t>
            </a:r>
          </a:p>
        </p:txBody>
      </p:sp>
    </p:spTree>
    <p:extLst>
      <p:ext uri="{BB962C8B-B14F-4D97-AF65-F5344CB8AC3E}">
        <p14:creationId xmlns:p14="http://schemas.microsoft.com/office/powerpoint/2010/main" val="183352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A7AC71-B6E1-4491-93C8-56D7BCCCE6C5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3C887C-DB46-49CB-9CB8-3CC388579F6B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AFDC1B-842A-40A4-876F-A89D5F40EE48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29EA6-EEC1-4408-B911-C24DF13F477C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План тестирања за резервисање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D7A72D-D067-4DDE-96E8-220E1828CAF0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Пре кода треба знати шта се доказује.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510578-5D1A-4E1B-BE8F-9DD950C86477}"/>
              </a:ext>
            </a:extLst>
          </p:cNvPr>
          <p:cNvSpPr>
            <a:spLocks noGrp="1"/>
          </p:cNvSpPr>
          <p:nvPr/>
        </p:nvSpPr>
        <p:spPr>
          <a:xfrm>
            <a:off x="914400" y="2240280"/>
            <a:ext cx="2518161" cy="457200"/>
          </a:xfrm>
          <a:prstGeom prst="rect">
            <a:avLst/>
          </a:prstGeom>
          <a:solidFill>
            <a:srgbClr val="F7F8FA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E8633A-CE07-48EC-B4D4-162844CCD743}"/>
              </a:ext>
            </a:extLst>
          </p:cNvPr>
          <p:cNvSpPr>
            <a:spLocks noGrp="1"/>
          </p:cNvSpPr>
          <p:nvPr/>
        </p:nvSpPr>
        <p:spPr>
          <a:xfrm>
            <a:off x="1030623" y="2306955"/>
            <a:ext cx="2324456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5D6878"/>
                </a:solidFill>
                <a:latin typeface="Aptos"/>
                <a:ea typeface="Aptos"/>
                <a:cs typeface="Aptos"/>
              </a:rPr>
              <a:t>Врста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275A46-54AA-4982-8135-9ADB75D606AA}"/>
              </a:ext>
            </a:extLst>
          </p:cNvPr>
          <p:cNvSpPr>
            <a:spLocks noGrp="1"/>
          </p:cNvSpPr>
          <p:nvPr/>
        </p:nvSpPr>
        <p:spPr>
          <a:xfrm>
            <a:off x="3432561" y="2240280"/>
            <a:ext cx="7845039" cy="457200"/>
          </a:xfrm>
          <a:prstGeom prst="rect">
            <a:avLst/>
          </a:prstGeom>
          <a:solidFill>
            <a:srgbClr val="F7F8FA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266641-BC9B-4754-A986-A3AFABF718FF}"/>
              </a:ext>
            </a:extLst>
          </p:cNvPr>
          <p:cNvSpPr>
            <a:spLocks noGrp="1"/>
          </p:cNvSpPr>
          <p:nvPr/>
        </p:nvSpPr>
        <p:spPr>
          <a:xfrm>
            <a:off x="3548784" y="2306955"/>
            <a:ext cx="7651334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5D6878"/>
                </a:solidFill>
                <a:latin typeface="Aptos"/>
                <a:ea typeface="Aptos"/>
                <a:cs typeface="Aptos"/>
              </a:rPr>
              <a:t>Пример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BC6806-F760-4ADE-93DA-076B65EAD8B6}"/>
              </a:ext>
            </a:extLst>
          </p:cNvPr>
          <p:cNvSpPr>
            <a:spLocks noGrp="1"/>
          </p:cNvSpPr>
          <p:nvPr/>
        </p:nvSpPr>
        <p:spPr>
          <a:xfrm>
            <a:off x="914400" y="2697480"/>
            <a:ext cx="2518161" cy="584454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2D754A-8C87-44F4-816A-9FE4A6787BD7}"/>
              </a:ext>
            </a:extLst>
          </p:cNvPr>
          <p:cNvSpPr>
            <a:spLocks noGrp="1"/>
          </p:cNvSpPr>
          <p:nvPr/>
        </p:nvSpPr>
        <p:spPr>
          <a:xfrm>
            <a:off x="1030623" y="2764155"/>
            <a:ext cx="2276030" cy="47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Успешан сценарио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01D325-CFAE-4C8D-9AC9-4A02E71EDCED}"/>
              </a:ext>
            </a:extLst>
          </p:cNvPr>
          <p:cNvSpPr>
            <a:spLocks noGrp="1"/>
          </p:cNvSpPr>
          <p:nvPr/>
        </p:nvSpPr>
        <p:spPr>
          <a:xfrm>
            <a:off x="3432561" y="2697480"/>
            <a:ext cx="7845039" cy="584454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6F9DC3-FCDD-470F-9707-0172A2FF1FA4}"/>
              </a:ext>
            </a:extLst>
          </p:cNvPr>
          <p:cNvSpPr>
            <a:spLocks noGrp="1"/>
          </p:cNvSpPr>
          <p:nvPr/>
        </p:nvSpPr>
        <p:spPr>
          <a:xfrm>
            <a:off x="3548784" y="2764155"/>
            <a:ext cx="7602908" cy="47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опрема је слободна, корисник овлашћен, термин валидан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48380F-F26C-44F9-A8FA-B3595F08F0DE}"/>
              </a:ext>
            </a:extLst>
          </p:cNvPr>
          <p:cNvSpPr>
            <a:spLocks noGrp="1"/>
          </p:cNvSpPr>
          <p:nvPr/>
        </p:nvSpPr>
        <p:spPr>
          <a:xfrm>
            <a:off x="914400" y="3281934"/>
            <a:ext cx="2518161" cy="584454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35AC2D-8672-4FE0-9794-235B1EBD7F77}"/>
              </a:ext>
            </a:extLst>
          </p:cNvPr>
          <p:cNvSpPr>
            <a:spLocks noGrp="1"/>
          </p:cNvSpPr>
          <p:nvPr/>
        </p:nvSpPr>
        <p:spPr>
          <a:xfrm>
            <a:off x="1030623" y="3348609"/>
            <a:ext cx="2276030" cy="47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Негативни сценарио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49D624-93EF-4BFC-823C-60815D2CDEE0}"/>
              </a:ext>
            </a:extLst>
          </p:cNvPr>
          <p:cNvSpPr>
            <a:spLocks noGrp="1"/>
          </p:cNvSpPr>
          <p:nvPr/>
        </p:nvSpPr>
        <p:spPr>
          <a:xfrm>
            <a:off x="3432561" y="3281934"/>
            <a:ext cx="7845039" cy="584454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C546C1-11C0-46A9-9B5C-633C1E88D78A}"/>
              </a:ext>
            </a:extLst>
          </p:cNvPr>
          <p:cNvSpPr>
            <a:spLocks noGrp="1"/>
          </p:cNvSpPr>
          <p:nvPr/>
        </p:nvSpPr>
        <p:spPr>
          <a:xfrm>
            <a:off x="3548784" y="3348609"/>
            <a:ext cx="7602908" cy="47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термин се преклапа са постојећом резервацијом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76C05F-7570-477D-9D05-59F753D9E773}"/>
              </a:ext>
            </a:extLst>
          </p:cNvPr>
          <p:cNvSpPr>
            <a:spLocks noGrp="1"/>
          </p:cNvSpPr>
          <p:nvPr/>
        </p:nvSpPr>
        <p:spPr>
          <a:xfrm>
            <a:off x="914400" y="3866388"/>
            <a:ext cx="2518161" cy="584454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3DF27D-3209-4FBE-B999-1512303A382F}"/>
              </a:ext>
            </a:extLst>
          </p:cNvPr>
          <p:cNvSpPr>
            <a:spLocks noGrp="1"/>
          </p:cNvSpPr>
          <p:nvPr/>
        </p:nvSpPr>
        <p:spPr>
          <a:xfrm>
            <a:off x="1030623" y="3933063"/>
            <a:ext cx="2276030" cy="47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Негативни сценарио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066CEA-C9D9-4196-B331-AA0A50FE99B2}"/>
              </a:ext>
            </a:extLst>
          </p:cNvPr>
          <p:cNvSpPr>
            <a:spLocks noGrp="1"/>
          </p:cNvSpPr>
          <p:nvPr/>
        </p:nvSpPr>
        <p:spPr>
          <a:xfrm>
            <a:off x="3432561" y="3866388"/>
            <a:ext cx="7845039" cy="584454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F14388-B87D-49B3-BC2C-FB5FE5F2758C}"/>
              </a:ext>
            </a:extLst>
          </p:cNvPr>
          <p:cNvSpPr>
            <a:spLocks noGrp="1"/>
          </p:cNvSpPr>
          <p:nvPr/>
        </p:nvSpPr>
        <p:spPr>
          <a:xfrm>
            <a:off x="3548784" y="3933063"/>
            <a:ext cx="7602908" cy="47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опрема је неактивна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E4F44D-A5C8-411F-8F98-BEEBBBB60330}"/>
              </a:ext>
            </a:extLst>
          </p:cNvPr>
          <p:cNvSpPr>
            <a:spLocks noGrp="1"/>
          </p:cNvSpPr>
          <p:nvPr/>
        </p:nvSpPr>
        <p:spPr>
          <a:xfrm>
            <a:off x="914400" y="4450842"/>
            <a:ext cx="2518161" cy="584454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A973F0-04CE-430C-8658-F591F09B3D6D}"/>
              </a:ext>
            </a:extLst>
          </p:cNvPr>
          <p:cNvSpPr>
            <a:spLocks noGrp="1"/>
          </p:cNvSpPr>
          <p:nvPr/>
        </p:nvSpPr>
        <p:spPr>
          <a:xfrm>
            <a:off x="1030623" y="4517517"/>
            <a:ext cx="2276030" cy="47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Гранични сценарио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E2424E-A4E6-42DA-8483-B8BD623E4D8E}"/>
              </a:ext>
            </a:extLst>
          </p:cNvPr>
          <p:cNvSpPr>
            <a:spLocks noGrp="1"/>
          </p:cNvSpPr>
          <p:nvPr/>
        </p:nvSpPr>
        <p:spPr>
          <a:xfrm>
            <a:off x="3432561" y="4450842"/>
            <a:ext cx="7845039" cy="584454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E07290-B8DB-47BB-AF61-82E50331498A}"/>
              </a:ext>
            </a:extLst>
          </p:cNvPr>
          <p:cNvSpPr>
            <a:spLocks noGrp="1"/>
          </p:cNvSpPr>
          <p:nvPr/>
        </p:nvSpPr>
        <p:spPr>
          <a:xfrm>
            <a:off x="3548784" y="4517517"/>
            <a:ext cx="7602908" cy="47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нови термин почиње тачно када се претходни завршава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62D720-3B25-4789-8F36-C2AC3717743D}"/>
              </a:ext>
            </a:extLst>
          </p:cNvPr>
          <p:cNvSpPr>
            <a:spLocks noGrp="1"/>
          </p:cNvSpPr>
          <p:nvPr/>
        </p:nvSpPr>
        <p:spPr>
          <a:xfrm>
            <a:off x="914400" y="5035296"/>
            <a:ext cx="2518161" cy="584454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7DC0C4-A9D8-4132-903A-0EF892BDFB29}"/>
              </a:ext>
            </a:extLst>
          </p:cNvPr>
          <p:cNvSpPr>
            <a:spLocks noGrp="1"/>
          </p:cNvSpPr>
          <p:nvPr/>
        </p:nvSpPr>
        <p:spPr>
          <a:xfrm>
            <a:off x="1030623" y="5101971"/>
            <a:ext cx="2276030" cy="47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Инфраструктурни квар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F500125-9270-493F-AF84-7A46757B2393}"/>
              </a:ext>
            </a:extLst>
          </p:cNvPr>
          <p:cNvSpPr>
            <a:spLocks noGrp="1"/>
          </p:cNvSpPr>
          <p:nvPr/>
        </p:nvSpPr>
        <p:spPr>
          <a:xfrm>
            <a:off x="3432561" y="5035296"/>
            <a:ext cx="7845039" cy="584454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C88B34-9512-4749-B6DF-5D3FD4097775}"/>
              </a:ext>
            </a:extLst>
          </p:cNvPr>
          <p:cNvSpPr>
            <a:spLocks noGrp="1"/>
          </p:cNvSpPr>
          <p:nvPr/>
        </p:nvSpPr>
        <p:spPr>
          <a:xfrm>
            <a:off x="3548784" y="5101971"/>
            <a:ext cx="7602908" cy="47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repository пријављује грешку</a:t>
            </a:r>
          </a:p>
        </p:txBody>
      </p:sp>
    </p:spTree>
    <p:extLst>
      <p:ext uri="{BB962C8B-B14F-4D97-AF65-F5344CB8AC3E}">
        <p14:creationId xmlns:p14="http://schemas.microsoft.com/office/powerpoint/2010/main" val="1989080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A650B4-5858-401E-923F-1D62A7188D34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C65157-C2AF-4569-9EB4-12BE338DC935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86458A-F2F9-4289-A458-90424798FE6B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98DC8E-B4C7-49BA-93BD-31CCCFD37BB6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Покретање тестова и coverage сигнала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0EE61F-EADA-45EA-8E28-ECF64AF4CBEA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Покривеност показује шта је извршено, не да ли је провера смислена.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1AFF7C8-D5C4-47B1-9E45-E608A6237A5C}"/>
              </a:ext>
            </a:extLst>
          </p:cNvPr>
          <p:cNvSpPr>
            <a:spLocks noGrp="1"/>
          </p:cNvSpPr>
          <p:nvPr/>
        </p:nvSpPr>
        <p:spPr>
          <a:xfrm>
            <a:off x="914400" y="2578608"/>
            <a:ext cx="5715000" cy="1405624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D6365B-C723-49B3-B15F-32AC6689FE26}"/>
              </a:ext>
            </a:extLst>
          </p:cNvPr>
          <p:cNvSpPr>
            <a:spLocks noGrp="1"/>
          </p:cNvSpPr>
          <p:nvPr/>
        </p:nvSpPr>
        <p:spPr>
          <a:xfrm>
            <a:off x="914400" y="2926080"/>
            <a:ext cx="5715000" cy="109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4518C4F-749F-4080-BF74-8737BBDB453D}"/>
              </a:ext>
            </a:extLst>
          </p:cNvPr>
          <p:cNvSpPr>
            <a:spLocks noGrp="1"/>
          </p:cNvSpPr>
          <p:nvPr/>
        </p:nvSpPr>
        <p:spPr>
          <a:xfrm>
            <a:off x="5715000" y="2697480"/>
            <a:ext cx="73152" cy="73152"/>
          </a:xfrm>
          <a:prstGeom prst="ellipse">
            <a:avLst/>
          </a:prstGeom>
          <a:solidFill>
            <a:srgbClr val="EE6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093FA5A-9994-4FB8-8998-5205D572C2C0}"/>
              </a:ext>
            </a:extLst>
          </p:cNvPr>
          <p:cNvSpPr>
            <a:spLocks noGrp="1"/>
          </p:cNvSpPr>
          <p:nvPr/>
        </p:nvSpPr>
        <p:spPr>
          <a:xfrm>
            <a:off x="5861304" y="2697480"/>
            <a:ext cx="73152" cy="73152"/>
          </a:xfrm>
          <a:prstGeom prst="ellipse">
            <a:avLst/>
          </a:prstGeom>
          <a:solidFill>
            <a:srgbClr val="F5B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99061A-6DD7-4321-99C9-81DE8D9ECDF6}"/>
              </a:ext>
            </a:extLst>
          </p:cNvPr>
          <p:cNvSpPr>
            <a:spLocks noGrp="1"/>
          </p:cNvSpPr>
          <p:nvPr/>
        </p:nvSpPr>
        <p:spPr>
          <a:xfrm>
            <a:off x="6007608" y="2697480"/>
            <a:ext cx="73152" cy="73152"/>
          </a:xfrm>
          <a:prstGeom prst="ellipse">
            <a:avLst/>
          </a:prstGeom>
          <a:solidFill>
            <a:srgbClr val="62C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9632BF-7414-4498-B3AF-E33634D6DA09}"/>
              </a:ext>
            </a:extLst>
          </p:cNvPr>
          <p:cNvSpPr>
            <a:spLocks noGrp="1"/>
          </p:cNvSpPr>
          <p:nvPr/>
        </p:nvSpPr>
        <p:spPr>
          <a:xfrm>
            <a:off x="1047750" y="3054858"/>
            <a:ext cx="5448300" cy="2228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dotnet test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125">
                <a:solidFill>
                  <a:srgbClr val="55845A"/>
                </a:solidFill>
                <a:latin typeface="Consolas"/>
                <a:ea typeface="Consolas"/>
                <a:cs typeface="Consolas"/>
              </a:rPr>
              <a:t># ако је collector подешен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dotnet test 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--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collect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125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"XPlat Code Coverage"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F80A84-58B9-457C-950B-B03939B4E663}"/>
              </a:ext>
            </a:extLst>
          </p:cNvPr>
          <p:cNvSpPr>
            <a:spLocks noGrp="1"/>
          </p:cNvSpPr>
          <p:nvPr/>
        </p:nvSpPr>
        <p:spPr>
          <a:xfrm>
            <a:off x="6873240" y="2240280"/>
            <a:ext cx="3840480" cy="271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Шта је важно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5A6495-6415-4AB5-A300-3A27745BB0FA}"/>
              </a:ext>
            </a:extLst>
          </p:cNvPr>
          <p:cNvSpPr>
            <a:spLocks noGrp="1"/>
          </p:cNvSpPr>
          <p:nvPr/>
        </p:nvSpPr>
        <p:spPr>
          <a:xfrm>
            <a:off x="6873240" y="2578608"/>
            <a:ext cx="3886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Најпре дефинисати пословно важне сценарије.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Coverage користити као дијагностички сигнал.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Висок проценат не доказује одсуство грешака.</a:t>
            </a:r>
          </a:p>
        </p:txBody>
      </p:sp>
    </p:spTree>
    <p:extLst>
      <p:ext uri="{BB962C8B-B14F-4D97-AF65-F5344CB8AC3E}">
        <p14:creationId xmlns:p14="http://schemas.microsoft.com/office/powerpoint/2010/main" val="1029043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F8B397-5E38-4BC5-B3FB-22DBADAD713D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8DD3D0-3CB0-4570-9489-7207F4CC5414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377143-D067-4774-90FF-9A9F662A63F8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D6337-CD1B-4E0E-A6A0-8121E303A56F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Покривеност кода није циљ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7612AA-0C36-42CC-851D-28AC94626F22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277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dirty="0" err="1">
                <a:solidFill>
                  <a:srgbClr val="5D6878"/>
                </a:solidFill>
                <a:latin typeface="Aptos"/>
                <a:ea typeface="Aptos"/>
                <a:cs typeface="Aptos"/>
              </a:rPr>
              <a:t>Није</a:t>
            </a:r>
            <a:r>
              <a:rPr sz="1650" b="0" dirty="0">
                <a:solidFill>
                  <a:srgbClr val="5D6878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5D6878"/>
                </a:solidFill>
                <a:latin typeface="Aptos"/>
                <a:ea typeface="Aptos"/>
                <a:cs typeface="Aptos"/>
              </a:rPr>
              <a:t>корисно</a:t>
            </a:r>
            <a:r>
              <a:rPr sz="1650" b="0" dirty="0">
                <a:solidFill>
                  <a:srgbClr val="5D6878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5D6878"/>
                </a:solidFill>
                <a:latin typeface="Aptos"/>
                <a:ea typeface="Aptos"/>
                <a:cs typeface="Aptos"/>
              </a:rPr>
              <a:t>тестирати</a:t>
            </a:r>
            <a:r>
              <a:rPr sz="1650" b="0" dirty="0">
                <a:solidFill>
                  <a:srgbClr val="5D6878"/>
                </a:solidFill>
                <a:latin typeface="Aptos"/>
                <a:ea typeface="Aptos"/>
                <a:cs typeface="Aptos"/>
              </a:rPr>
              <a:t> </a:t>
            </a:r>
            <a:r>
              <a:rPr lang="sr-Cyrl-RS" sz="1650" b="0" dirty="0">
                <a:solidFill>
                  <a:srgbClr val="5D6878"/>
                </a:solidFill>
                <a:latin typeface="Aptos"/>
                <a:ea typeface="Aptos"/>
                <a:cs typeface="Aptos"/>
              </a:rPr>
              <a:t>тривијалне </a:t>
            </a:r>
            <a:r>
              <a:rPr lang="sr-Cyrl-RS" sz="1650" b="0" dirty="0" err="1">
                <a:solidFill>
                  <a:srgbClr val="5D6878"/>
                </a:solidFill>
                <a:latin typeface="Aptos"/>
                <a:ea typeface="Aptos"/>
                <a:cs typeface="Aptos"/>
              </a:rPr>
              <a:t>гетере</a:t>
            </a:r>
            <a:r>
              <a:rPr sz="1650" b="0" dirty="0">
                <a:solidFill>
                  <a:srgbClr val="5D6878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5D6878"/>
                </a:solidFill>
                <a:latin typeface="Aptos"/>
                <a:ea typeface="Aptos"/>
                <a:cs typeface="Aptos"/>
              </a:rPr>
              <a:t>ако</a:t>
            </a:r>
            <a:r>
              <a:rPr sz="1650" b="0" dirty="0">
                <a:solidFill>
                  <a:srgbClr val="5D6878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5D6878"/>
                </a:solidFill>
                <a:latin typeface="Aptos"/>
                <a:ea typeface="Aptos"/>
                <a:cs typeface="Aptos"/>
              </a:rPr>
              <a:t>важна</a:t>
            </a:r>
            <a:r>
              <a:rPr lang="sr-Cyrl-RS" sz="1650" b="0" dirty="0">
                <a:solidFill>
                  <a:srgbClr val="5D6878"/>
                </a:solidFill>
                <a:latin typeface="Aptos"/>
                <a:ea typeface="Aptos"/>
                <a:cs typeface="Aptos"/>
              </a:rPr>
              <a:t> програмска</a:t>
            </a:r>
            <a:r>
              <a:rPr sz="1650" b="0" dirty="0">
                <a:solidFill>
                  <a:srgbClr val="5D6878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5D6878"/>
                </a:solidFill>
                <a:latin typeface="Aptos"/>
                <a:ea typeface="Aptos"/>
                <a:cs typeface="Aptos"/>
              </a:rPr>
              <a:t>грана</a:t>
            </a:r>
            <a:r>
              <a:rPr sz="1650" b="0" dirty="0">
                <a:solidFill>
                  <a:srgbClr val="5D6878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5D6878"/>
                </a:solidFill>
                <a:latin typeface="Aptos"/>
                <a:ea typeface="Aptos"/>
                <a:cs typeface="Aptos"/>
              </a:rPr>
              <a:t>остаје</a:t>
            </a:r>
            <a:r>
              <a:rPr sz="1650" b="0" dirty="0">
                <a:solidFill>
                  <a:srgbClr val="5D6878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5D6878"/>
                </a:solidFill>
                <a:latin typeface="Aptos"/>
                <a:ea typeface="Aptos"/>
                <a:cs typeface="Aptos"/>
              </a:rPr>
              <a:t>непроверена</a:t>
            </a:r>
            <a:r>
              <a:rPr sz="1650" b="0" dirty="0">
                <a:solidFill>
                  <a:srgbClr val="5D6878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3F2256-4774-4FF8-A584-7489AA438C78}"/>
              </a:ext>
            </a:extLst>
          </p:cNvPr>
          <p:cNvSpPr>
            <a:spLocks noGrp="1"/>
          </p:cNvSpPr>
          <p:nvPr/>
        </p:nvSpPr>
        <p:spPr>
          <a:xfrm>
            <a:off x="1051560" y="242316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Питање није „колики је проценат”, већ који непокривени део носи највећи ризик и који тест би дао највише нових информација.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516154-9FB8-4263-BE0C-34C6D115763C}"/>
              </a:ext>
            </a:extLst>
          </p:cNvPr>
          <p:cNvSpPr>
            <a:spLocks noGrp="1"/>
          </p:cNvSpPr>
          <p:nvPr/>
        </p:nvSpPr>
        <p:spPr>
          <a:xfrm>
            <a:off x="1051560" y="3430276"/>
            <a:ext cx="6949440" cy="10972"/>
          </a:xfrm>
          <a:prstGeom prst="rect">
            <a:avLst/>
          </a:prstGeom>
          <a:solidFill>
            <a:srgbClr val="2A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FD38598-AA86-4322-AEE5-9F944294C58A}"/>
              </a:ext>
            </a:extLst>
          </p:cNvPr>
          <p:cNvSpPr>
            <a:spLocks noGrp="1"/>
          </p:cNvSpPr>
          <p:nvPr/>
        </p:nvSpPr>
        <p:spPr>
          <a:xfrm>
            <a:off x="914400" y="4267200"/>
            <a:ext cx="10363200" cy="800100"/>
          </a:xfrm>
          <a:prstGeom prst="roundRect">
            <a:avLst>
              <a:gd name="adj" fmla="val 16667"/>
            </a:avLst>
          </a:prstGeom>
          <a:solidFill>
            <a:srgbClr val="FFF6E9"/>
          </a:solidFill>
          <a:ln w="7620">
            <a:solidFill>
              <a:srgbClr val="E9D4AF"/>
            </a:solidFill>
            <a:prstDash val="solid"/>
          </a:ln>
        </p:spPr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97A60A0-A841-4755-8DA4-ABDA9AF6CF94}"/>
              </a:ext>
            </a:extLst>
          </p:cNvPr>
          <p:cNvSpPr>
            <a:spLocks noGrp="1"/>
          </p:cNvSpPr>
          <p:nvPr/>
        </p:nvSpPr>
        <p:spPr>
          <a:xfrm>
            <a:off x="1085850" y="4419600"/>
            <a:ext cx="57150" cy="495300"/>
          </a:xfrm>
          <a:prstGeom prst="roundRect">
            <a:avLst>
              <a:gd name="adj" fmla="val 50000"/>
            </a:avLst>
          </a:prstGeom>
          <a:solidFill>
            <a:srgbClr val="B86A09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9957AD-AFFC-4A80-864B-2B442C41CC8F}"/>
              </a:ext>
            </a:extLst>
          </p:cNvPr>
          <p:cNvSpPr>
            <a:spLocks noGrp="1"/>
          </p:cNvSpPr>
          <p:nvPr/>
        </p:nvSpPr>
        <p:spPr>
          <a:xfrm>
            <a:off x="1333500" y="438150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КЉУЧНА ПОРУКА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C2B70B-F1E0-4504-8184-FF9270842501}"/>
              </a:ext>
            </a:extLst>
          </p:cNvPr>
          <p:cNvSpPr>
            <a:spLocks noGrp="1"/>
          </p:cNvSpPr>
          <p:nvPr/>
        </p:nvSpPr>
        <p:spPr>
          <a:xfrm>
            <a:off x="1333500" y="4629150"/>
            <a:ext cx="96012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То је професионална употреба coverage извештаја.</a:t>
            </a:r>
          </a:p>
        </p:txBody>
      </p:sp>
    </p:spTree>
    <p:extLst>
      <p:ext uri="{BB962C8B-B14F-4D97-AF65-F5344CB8AC3E}">
        <p14:creationId xmlns:p14="http://schemas.microsoft.com/office/powerpoint/2010/main" val="315555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1E5573-0EBA-4843-BE65-92CFDE3324B8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6A306A-546B-42EC-B6A0-0B8C0548C6B7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04DE59-DF5B-4371-8471-1874EBDB4FF4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D84BA5-FACE-44D5-9853-0CC17A1D67C2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Шта coverage извештај треба да покрене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8502D3-D0A1-42FD-9B3A-14006BB2DE22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Извештај је почетак анализе, не завршна оцена.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164F2E-4C5E-40EF-BD0D-BF31AE827D1E}"/>
              </a:ext>
            </a:extLst>
          </p:cNvPr>
          <p:cNvSpPr>
            <a:spLocks noGrp="1"/>
          </p:cNvSpPr>
          <p:nvPr/>
        </p:nvSpPr>
        <p:spPr>
          <a:xfrm>
            <a:off x="914400" y="2209800"/>
            <a:ext cx="5067300" cy="1571625"/>
          </a:xfrm>
          <a:prstGeom prst="roundRect">
            <a:avLst>
              <a:gd name="adj" fmla="val 12000"/>
            </a:avLst>
          </a:prstGeom>
          <a:solidFill>
            <a:srgbClr val="F4F7FF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132ACC-57D2-4FF2-A611-A363267DFB2D}"/>
              </a:ext>
            </a:extLst>
          </p:cNvPr>
          <p:cNvSpPr>
            <a:spLocks noGrp="1"/>
          </p:cNvSpPr>
          <p:nvPr/>
        </p:nvSpPr>
        <p:spPr>
          <a:xfrm>
            <a:off x="1085850" y="2333625"/>
            <a:ext cx="4724400" cy="2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6B6E16-1718-4270-9BC8-5E3036AF6315}"/>
              </a:ext>
            </a:extLst>
          </p:cNvPr>
          <p:cNvSpPr>
            <a:spLocks noGrp="1"/>
          </p:cNvSpPr>
          <p:nvPr/>
        </p:nvSpPr>
        <p:spPr>
          <a:xfrm>
            <a:off x="1085850" y="2590800"/>
            <a:ext cx="47244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B202B"/>
                </a:solidFill>
                <a:latin typeface="Aptos"/>
                <a:ea typeface="Aptos"/>
                <a:cs typeface="Aptos"/>
              </a:rPr>
              <a:t>Условне гране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2C1B30-32DA-4D9E-BC3C-6C6B64F76B85}"/>
              </a:ext>
            </a:extLst>
          </p:cNvPr>
          <p:cNvSpPr>
            <a:spLocks noGrp="1"/>
          </p:cNvSpPr>
          <p:nvPr/>
        </p:nvSpPr>
        <p:spPr>
          <a:xfrm>
            <a:off x="1085850" y="2952750"/>
            <a:ext cx="4724400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да ли су оба исхода проверена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41CE324-E554-4636-9BAD-042B6E217C60}"/>
              </a:ext>
            </a:extLst>
          </p:cNvPr>
          <p:cNvSpPr>
            <a:spLocks noGrp="1"/>
          </p:cNvSpPr>
          <p:nvPr/>
        </p:nvSpPr>
        <p:spPr>
          <a:xfrm>
            <a:off x="6210300" y="2209800"/>
            <a:ext cx="5067300" cy="1571625"/>
          </a:xfrm>
          <a:prstGeom prst="roundRect">
            <a:avLst>
              <a:gd name="adj" fmla="val 12000"/>
            </a:avLst>
          </a:prstGeom>
          <a:solidFill>
            <a:srgbClr val="F3FAF6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EF175E-84FE-4473-A82E-7387ADE60FBF}"/>
              </a:ext>
            </a:extLst>
          </p:cNvPr>
          <p:cNvSpPr>
            <a:spLocks noGrp="1"/>
          </p:cNvSpPr>
          <p:nvPr/>
        </p:nvSpPr>
        <p:spPr>
          <a:xfrm>
            <a:off x="6381750" y="2333625"/>
            <a:ext cx="4724400" cy="2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A915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8BA4CC-D563-47B9-BF02-05A67D8E475B}"/>
              </a:ext>
            </a:extLst>
          </p:cNvPr>
          <p:cNvSpPr>
            <a:spLocks noGrp="1"/>
          </p:cNvSpPr>
          <p:nvPr/>
        </p:nvSpPr>
        <p:spPr>
          <a:xfrm>
            <a:off x="6381750" y="2590800"/>
            <a:ext cx="47244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Обрада грешака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65C61B-724E-48C7-874B-A6D4B3E0DB0B}"/>
              </a:ext>
            </a:extLst>
          </p:cNvPr>
          <p:cNvSpPr>
            <a:spLocks noGrp="1"/>
          </p:cNvSpPr>
          <p:nvPr/>
        </p:nvSpPr>
        <p:spPr>
          <a:xfrm>
            <a:off x="6381750" y="2952750"/>
            <a:ext cx="4724400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да ли грешка не постаје лажни успех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DB4A205-5ECB-49D7-8BEA-9BC1B12DF781}"/>
              </a:ext>
            </a:extLst>
          </p:cNvPr>
          <p:cNvSpPr>
            <a:spLocks noGrp="1"/>
          </p:cNvSpPr>
          <p:nvPr/>
        </p:nvSpPr>
        <p:spPr>
          <a:xfrm>
            <a:off x="914400" y="3971925"/>
            <a:ext cx="5067300" cy="1571625"/>
          </a:xfrm>
          <a:prstGeom prst="roundRect">
            <a:avLst>
              <a:gd name="adj" fmla="val 12000"/>
            </a:avLst>
          </a:prstGeom>
          <a:solidFill>
            <a:srgbClr val="FDF9F1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673DE9-DC08-46F3-955D-3AEA22224E34}"/>
              </a:ext>
            </a:extLst>
          </p:cNvPr>
          <p:cNvSpPr>
            <a:spLocks noGrp="1"/>
          </p:cNvSpPr>
          <p:nvPr/>
        </p:nvSpPr>
        <p:spPr>
          <a:xfrm>
            <a:off x="1085850" y="4095750"/>
            <a:ext cx="4724400" cy="2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BE770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C0C213-3728-4D64-9585-877F4EB95497}"/>
              </a:ext>
            </a:extLst>
          </p:cNvPr>
          <p:cNvSpPr>
            <a:spLocks noGrp="1"/>
          </p:cNvSpPr>
          <p:nvPr/>
        </p:nvSpPr>
        <p:spPr>
          <a:xfrm>
            <a:off x="1085850" y="4352925"/>
            <a:ext cx="47244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Критично стање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E8C6B2-36C4-414D-88BC-E78B33A8DF74}"/>
              </a:ext>
            </a:extLst>
          </p:cNvPr>
          <p:cNvSpPr>
            <a:spLocks noGrp="1"/>
          </p:cNvSpPr>
          <p:nvPr/>
        </p:nvSpPr>
        <p:spPr>
          <a:xfrm>
            <a:off x="1085850" y="4714875"/>
            <a:ext cx="4724400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новац, дозволе, резервације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76AD062-9CA8-45D9-B062-CB9682F0A978}"/>
              </a:ext>
            </a:extLst>
          </p:cNvPr>
          <p:cNvSpPr>
            <a:spLocks noGrp="1"/>
          </p:cNvSpPr>
          <p:nvPr/>
        </p:nvSpPr>
        <p:spPr>
          <a:xfrm>
            <a:off x="6210300" y="3971925"/>
            <a:ext cx="5067300" cy="1571625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29D507-778F-478C-B1BB-AF8BC03C552E}"/>
              </a:ext>
            </a:extLst>
          </p:cNvPr>
          <p:cNvSpPr>
            <a:spLocks noGrp="1"/>
          </p:cNvSpPr>
          <p:nvPr/>
        </p:nvSpPr>
        <p:spPr>
          <a:xfrm>
            <a:off x="6381750" y="4095750"/>
            <a:ext cx="4724400" cy="2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B202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217793-4DAC-4B6F-80D2-8652F3BD388F}"/>
              </a:ext>
            </a:extLst>
          </p:cNvPr>
          <p:cNvSpPr>
            <a:spLocks noGrp="1"/>
          </p:cNvSpPr>
          <p:nvPr/>
        </p:nvSpPr>
        <p:spPr>
          <a:xfrm>
            <a:off x="6381750" y="4352925"/>
            <a:ext cx="47244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Непокривен ризик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5AA79F-4F82-4E75-BE9D-1B330E4362DE}"/>
              </a:ext>
            </a:extLst>
          </p:cNvPr>
          <p:cNvSpPr>
            <a:spLocks noGrp="1"/>
          </p:cNvSpPr>
          <p:nvPr/>
        </p:nvSpPr>
        <p:spPr>
          <a:xfrm>
            <a:off x="6381750" y="4714875"/>
            <a:ext cx="4724400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образложити или покрити тестом</a:t>
            </a:r>
          </a:p>
        </p:txBody>
      </p:sp>
    </p:spTree>
    <p:extLst>
      <p:ext uri="{BB962C8B-B14F-4D97-AF65-F5344CB8AC3E}">
        <p14:creationId xmlns:p14="http://schemas.microsoft.com/office/powerpoint/2010/main" val="207708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43966A-297C-4B14-8FC7-1D66B6D16C05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252E25-2F24-446F-B081-147F2492073B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53E3F-75BC-4937-8C37-6A5CD7249C53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11C907-36B9-4005-87B3-F05CF5B04168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P3 граница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32FB9B-4E1B-4CC7-AE5D-5A4FB5268304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До ове тачке језгро мора бити ручно разумљиво и тестирано.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73544C-2264-4177-8D31-F5173B29EDC4}"/>
              </a:ext>
            </a:extLst>
          </p:cNvPr>
          <p:cNvSpPr>
            <a:spLocks noGrp="1"/>
          </p:cNvSpPr>
          <p:nvPr/>
        </p:nvSpPr>
        <p:spPr>
          <a:xfrm>
            <a:off x="914400" y="2331720"/>
            <a:ext cx="3429000" cy="26663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0A915F"/>
                </a:solidFill>
                <a:latin typeface="Aptos Display"/>
                <a:ea typeface="Aptos Display"/>
                <a:cs typeface="Aptos Display"/>
              </a:rPr>
              <a:t>manual-core-baseline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AFC458-AC96-4AFE-9543-F41E5BD76A25}"/>
              </a:ext>
            </a:extLst>
          </p:cNvPr>
          <p:cNvSpPr>
            <a:spLocks noGrp="1"/>
          </p:cNvSpPr>
          <p:nvPr/>
        </p:nvSpPr>
        <p:spPr>
          <a:xfrm>
            <a:off x="4541520" y="251460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стабилна верзија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398A18-9DFA-45C6-8FC3-7F913A1FC4C2}"/>
              </a:ext>
            </a:extLst>
          </p:cNvPr>
          <p:cNvSpPr>
            <a:spLocks noGrp="1"/>
          </p:cNvSpPr>
          <p:nvPr/>
        </p:nvSpPr>
        <p:spPr>
          <a:xfrm>
            <a:off x="4541520" y="3246120"/>
            <a:ext cx="5943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После ове контролне тачке AI добија већу улогу, али систем већ има структуру и тестове који омогућавају независну проверу.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E8804E-D0B4-4387-82E5-35A9AE3DC499}"/>
              </a:ext>
            </a:extLst>
          </p:cNvPr>
          <p:cNvSpPr>
            <a:spLocks noGrp="1"/>
          </p:cNvSpPr>
          <p:nvPr/>
        </p:nvSpPr>
        <p:spPr>
          <a:xfrm>
            <a:off x="4541520" y="4389120"/>
            <a:ext cx="4937760" cy="12801"/>
          </a:xfrm>
          <a:prstGeom prst="rect">
            <a:avLst/>
          </a:prstGeom>
          <a:solidFill>
            <a:srgbClr val="0A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035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546BC5-34AA-4D77-A9A2-C9A489CA4819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3E573D-DED2-48E3-A2F8-76C0B4A3590A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07035-9720-41C1-882D-FB23FB468772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65BBD8-4402-4E79-8C7E-5B7389CA4B6A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P3 — manual-core-baseline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790D67-4B8E-4BFA-99A7-DA3908D4898E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277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dirty="0" err="1">
                <a:solidFill>
                  <a:srgbClr val="5D6878"/>
                </a:solidFill>
                <a:latin typeface="Aptos"/>
                <a:ea typeface="Aptos"/>
                <a:cs typeface="Aptos"/>
              </a:rPr>
              <a:t>Контролна</a:t>
            </a:r>
            <a:r>
              <a:rPr sz="1650" b="0" dirty="0">
                <a:solidFill>
                  <a:srgbClr val="5D6878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5D6878"/>
                </a:solidFill>
                <a:latin typeface="Aptos"/>
                <a:ea typeface="Aptos"/>
                <a:cs typeface="Aptos"/>
              </a:rPr>
              <a:t>тачка</a:t>
            </a:r>
            <a:r>
              <a:rPr sz="1650" b="0" dirty="0">
                <a:solidFill>
                  <a:srgbClr val="5D6878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5D6878"/>
                </a:solidFill>
                <a:latin typeface="Aptos"/>
                <a:ea typeface="Aptos"/>
                <a:cs typeface="Aptos"/>
              </a:rPr>
              <a:t>раздваја</a:t>
            </a:r>
            <a:r>
              <a:rPr sz="1650" b="0" dirty="0">
                <a:solidFill>
                  <a:srgbClr val="5D6878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5D6878"/>
                </a:solidFill>
                <a:latin typeface="Aptos"/>
                <a:ea typeface="Aptos"/>
                <a:cs typeface="Aptos"/>
              </a:rPr>
              <a:t>ручно</a:t>
            </a:r>
            <a:r>
              <a:rPr sz="1650" b="0" dirty="0">
                <a:solidFill>
                  <a:srgbClr val="5D6878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5D6878"/>
                </a:solidFill>
                <a:latin typeface="Aptos"/>
                <a:ea typeface="Aptos"/>
                <a:cs typeface="Aptos"/>
              </a:rPr>
              <a:t>пројектовано</a:t>
            </a:r>
            <a:r>
              <a:rPr sz="1650" b="0" dirty="0">
                <a:solidFill>
                  <a:srgbClr val="5D6878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5D6878"/>
                </a:solidFill>
                <a:latin typeface="Aptos"/>
                <a:ea typeface="Aptos"/>
                <a:cs typeface="Aptos"/>
              </a:rPr>
              <a:t>језгро</a:t>
            </a:r>
            <a:r>
              <a:rPr sz="1650" b="0" dirty="0">
                <a:solidFill>
                  <a:srgbClr val="5D6878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5D6878"/>
                </a:solidFill>
                <a:latin typeface="Aptos"/>
                <a:ea typeface="Aptos"/>
                <a:cs typeface="Aptos"/>
              </a:rPr>
              <a:t>од</a:t>
            </a:r>
            <a:r>
              <a:rPr sz="1650" b="0" dirty="0">
                <a:solidFill>
                  <a:srgbClr val="5D6878"/>
                </a:solidFill>
                <a:latin typeface="Aptos"/>
                <a:ea typeface="Aptos"/>
                <a:cs typeface="Aptos"/>
              </a:rPr>
              <a:t> </a:t>
            </a:r>
            <a:r>
              <a:rPr lang="sr-Cyrl-RS" sz="1650" b="0" dirty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почетка</a:t>
            </a:r>
            <a:r>
              <a:rPr sz="1650" b="0" dirty="0">
                <a:solidFill>
                  <a:srgbClr val="5D6878"/>
                </a:solidFill>
                <a:latin typeface="Aptos"/>
                <a:ea typeface="Aptos"/>
                <a:cs typeface="Aptos"/>
              </a:rPr>
              <a:t> AI </a:t>
            </a:r>
            <a:r>
              <a:rPr sz="1650" b="0" dirty="0" err="1">
                <a:solidFill>
                  <a:srgbClr val="5D6878"/>
                </a:solidFill>
                <a:latin typeface="Aptos"/>
                <a:ea typeface="Aptos"/>
                <a:cs typeface="Aptos"/>
              </a:rPr>
              <a:t>фазе</a:t>
            </a:r>
            <a:r>
              <a:rPr sz="1650" b="0" dirty="0">
                <a:solidFill>
                  <a:srgbClr val="5D6878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3022CC-0A74-46F7-B0B6-D4ED52930FDA}"/>
              </a:ext>
            </a:extLst>
          </p:cNvPr>
          <p:cNvSpPr>
            <a:spLocks noGrp="1"/>
          </p:cNvSpPr>
          <p:nvPr/>
        </p:nvSpPr>
        <p:spPr>
          <a:xfrm>
            <a:off x="1638300" y="22402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3F4248-5E2D-4346-89C4-D278184F5128}"/>
              </a:ext>
            </a:extLst>
          </p:cNvPr>
          <p:cNvSpPr>
            <a:spLocks noGrp="1"/>
          </p:cNvSpPr>
          <p:nvPr/>
        </p:nvSpPr>
        <p:spPr>
          <a:xfrm>
            <a:off x="2324100" y="2240280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Кључни use-case-ови имају NUnit тестове.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9CB434-EA11-439A-862E-6EC1B0700955}"/>
              </a:ext>
            </a:extLst>
          </p:cNvPr>
          <p:cNvSpPr>
            <a:spLocks noGrp="1"/>
          </p:cNvSpPr>
          <p:nvPr/>
        </p:nvSpPr>
        <p:spPr>
          <a:xfrm>
            <a:off x="1638300" y="280720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69A030-A450-4730-B6AB-17CEAD2389B7}"/>
              </a:ext>
            </a:extLst>
          </p:cNvPr>
          <p:cNvSpPr>
            <a:spLocks noGrp="1"/>
          </p:cNvSpPr>
          <p:nvPr/>
        </p:nvSpPr>
        <p:spPr>
          <a:xfrm>
            <a:off x="2324100" y="2807208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Moq се користи само за променљиве спољне зависности.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F4D517-6988-42E7-8C76-0E07E496227C}"/>
              </a:ext>
            </a:extLst>
          </p:cNvPr>
          <p:cNvSpPr>
            <a:spLocks noGrp="1"/>
          </p:cNvSpPr>
          <p:nvPr/>
        </p:nvSpPr>
        <p:spPr>
          <a:xfrm>
            <a:off x="1638300" y="3374136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0DA9F8-E588-406E-BE31-823A669F5615}"/>
              </a:ext>
            </a:extLst>
          </p:cNvPr>
          <p:cNvSpPr>
            <a:spLocks noGrp="1"/>
          </p:cNvSpPr>
          <p:nvPr/>
        </p:nvSpPr>
        <p:spPr>
          <a:xfrm>
            <a:off x="2324100" y="3374136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Coverage је прегледан и ризична грана је покривена или образложена.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A35F05-84E6-4C37-ACA5-FA8C37771669}"/>
              </a:ext>
            </a:extLst>
          </p:cNvPr>
          <p:cNvSpPr>
            <a:spLocks noGrp="1"/>
          </p:cNvSpPr>
          <p:nvPr/>
        </p:nvSpPr>
        <p:spPr>
          <a:xfrm>
            <a:off x="1638300" y="3941064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60B7D5-3F07-4C1D-B1C1-1808C09F8589}"/>
              </a:ext>
            </a:extLst>
          </p:cNvPr>
          <p:cNvSpPr>
            <a:spLocks noGrp="1"/>
          </p:cNvSpPr>
          <p:nvPr/>
        </p:nvSpPr>
        <p:spPr>
          <a:xfrm>
            <a:off x="2324100" y="3941064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Најмање један bug је прво репродукован тестом.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7E2510-0FB2-4868-9538-2AB7F0664A19}"/>
              </a:ext>
            </a:extLst>
          </p:cNvPr>
          <p:cNvSpPr>
            <a:spLocks noGrp="1"/>
          </p:cNvSpPr>
          <p:nvPr/>
        </p:nvSpPr>
        <p:spPr>
          <a:xfrm>
            <a:off x="1638300" y="450799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B837D0-8CE2-4960-A88D-C69EC2A8F4BA}"/>
              </a:ext>
            </a:extLst>
          </p:cNvPr>
          <p:cNvSpPr>
            <a:spLocks noGrp="1"/>
          </p:cNvSpPr>
          <p:nvPr/>
        </p:nvSpPr>
        <p:spPr>
          <a:xfrm>
            <a:off x="2324100" y="4507992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Стабилна верзија језгра означена је Git tag-ом manual-core-baseline.</a:t>
            </a:r>
          </a:p>
        </p:txBody>
      </p:sp>
    </p:spTree>
    <p:extLst>
      <p:ext uri="{BB962C8B-B14F-4D97-AF65-F5344CB8AC3E}">
        <p14:creationId xmlns:p14="http://schemas.microsoft.com/office/powerpoint/2010/main" val="472607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C9AD5B-61B7-4A81-9A2D-47ACC7D6410B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15B24C-1A58-46F5-9DBE-241AE5E9CC1A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D2CD8B-1D94-4BDA-AE88-3C438963E3F7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0AEEE1-6D4B-4467-879D-5E8AC76B11EC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Добар тест је стабилан на refactoring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E416AC-92C6-49EA-8F01-DF3DF2FA4E88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78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Ако тест пада при промени приватне имплементације без промене понашања, вероватно је превише крхак.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4D714B-9DCB-4657-87EE-BB3BE5F7140F}"/>
              </a:ext>
            </a:extLst>
          </p:cNvPr>
          <p:cNvSpPr>
            <a:spLocks noGrp="1"/>
          </p:cNvSpPr>
          <p:nvPr/>
        </p:nvSpPr>
        <p:spPr>
          <a:xfrm>
            <a:off x="914400" y="2331720"/>
            <a:ext cx="47625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ТЕСТИРАТИ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281132-1A7B-47B4-8C74-0584AA9E0D37}"/>
              </a:ext>
            </a:extLst>
          </p:cNvPr>
          <p:cNvSpPr>
            <a:spLocks noGrp="1"/>
          </p:cNvSpPr>
          <p:nvPr/>
        </p:nvSpPr>
        <p:spPr>
          <a:xfrm>
            <a:off x="914400" y="2697480"/>
            <a:ext cx="47625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видљиви резултат</a:t>
            </a:r>
          </a:p>
          <a:p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стабилан код неуспеха</a:t>
            </a:r>
          </a:p>
          <a:p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значајну интеракцију</a:t>
            </a:r>
          </a:p>
          <a:p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гранично понашање</a:t>
            </a:r>
          </a:p>
        </p:txBody>
      </p:sp>
      <p:sp>
        <p:nvSpPr>
          <p:cNvPr id="9" name="Connector 8">
            <a:extLst>
              <a:ext uri="{FF2B5EF4-FFF2-40B4-BE49-F238E27FC236}">
                <a16:creationId xmlns:a16="http://schemas.microsoft.com/office/drawing/2014/main" id="{8E71942F-F8B4-467F-91B0-0CE88674B924}"/>
              </a:ext>
            </a:extLst>
          </p:cNvPr>
          <p:cNvSpPr>
            <a:spLocks noGrp="1"/>
          </p:cNvSpPr>
          <p:nvPr/>
        </p:nvSpPr>
        <p:spPr>
          <a:xfrm>
            <a:off x="6096000" y="2331720"/>
            <a:ext cx="0" cy="3200400"/>
          </a:xfrm>
          <a:prstGeom prst="line">
            <a:avLst/>
          </a:prstGeom>
          <a:ln w="10160">
            <a:solidFill>
              <a:srgbClr val="E8E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4B449E-8058-4AD9-87F0-3FBB961B799A}"/>
              </a:ext>
            </a:extLst>
          </p:cNvPr>
          <p:cNvSpPr>
            <a:spLocks noGrp="1"/>
          </p:cNvSpPr>
          <p:nvPr/>
        </p:nvSpPr>
        <p:spPr>
          <a:xfrm>
            <a:off x="6515100" y="2331720"/>
            <a:ext cx="47625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0A915F"/>
                </a:solidFill>
                <a:latin typeface="Aptos"/>
                <a:ea typeface="Aptos"/>
                <a:cs typeface="Aptos"/>
              </a:rPr>
              <a:t>НЕ ВЕЗИВАТИ СЕ ЗА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E52D8B-53B2-48CC-8984-5DA641B22F35}"/>
              </a:ext>
            </a:extLst>
          </p:cNvPr>
          <p:cNvSpPr>
            <a:spLocks noGrp="1"/>
          </p:cNvSpPr>
          <p:nvPr/>
        </p:nvSpPr>
        <p:spPr>
          <a:xfrm>
            <a:off x="6515100" y="2697480"/>
            <a:ext cx="47625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приватну методу</a:t>
            </a:r>
          </a:p>
          <a:p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редослед непотребних позива</a:t>
            </a:r>
          </a:p>
          <a:p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тренутну структуру петље</a:t>
            </a:r>
          </a:p>
          <a:p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тривијалне setter-е</a:t>
            </a:r>
          </a:p>
        </p:txBody>
      </p:sp>
    </p:spTree>
    <p:extLst>
      <p:ext uri="{BB962C8B-B14F-4D97-AF65-F5344CB8AC3E}">
        <p14:creationId xmlns:p14="http://schemas.microsoft.com/office/powerpoint/2010/main" val="1873556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FA5E45-34CC-4F92-968F-6BD47ABA42E1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A81113-E8BE-4473-802A-4334AC294C1F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779E89-4AD6-40DC-8AFE-77B5ACD59874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BA37A4-A9ED-4070-9846-6FAF65CF4BD5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Bug fix треба да почне тестом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C53917-3B5E-4C91-9325-B941177AFD01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Тест прво репродукује проблем, онда промена поправља понашање.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DFCC1AA-96F3-4ED3-9607-5990E11E4AF6}"/>
              </a:ext>
            </a:extLst>
          </p:cNvPr>
          <p:cNvSpPr>
            <a:spLocks noGrp="1"/>
          </p:cNvSpPr>
          <p:nvPr/>
        </p:nvSpPr>
        <p:spPr>
          <a:xfrm>
            <a:off x="1478280" y="2560320"/>
            <a:ext cx="2834640" cy="1828800"/>
          </a:xfrm>
          <a:prstGeom prst="roundRect">
            <a:avLst>
              <a:gd name="adj" fmla="val 12000"/>
            </a:avLst>
          </a:prstGeom>
          <a:solidFill>
            <a:srgbClr val="F4F7FF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E3B7D0-8A51-4A68-AE77-B1B8C025790D}"/>
              </a:ext>
            </a:extLst>
          </p:cNvPr>
          <p:cNvSpPr>
            <a:spLocks noGrp="1"/>
          </p:cNvSpPr>
          <p:nvPr/>
        </p:nvSpPr>
        <p:spPr>
          <a:xfrm>
            <a:off x="1642872" y="2761488"/>
            <a:ext cx="731520" cy="2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B18AE9-4E66-4772-BC65-BBC2501DE37B}"/>
              </a:ext>
            </a:extLst>
          </p:cNvPr>
          <p:cNvSpPr>
            <a:spLocks noGrp="1"/>
          </p:cNvSpPr>
          <p:nvPr/>
        </p:nvSpPr>
        <p:spPr>
          <a:xfrm>
            <a:off x="1642872" y="3063240"/>
            <a:ext cx="23317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B202B"/>
                </a:solidFill>
                <a:latin typeface="Aptos"/>
                <a:ea typeface="Aptos"/>
                <a:cs typeface="Aptos"/>
              </a:rPr>
              <a:t>Reproduce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AD70D5-59EA-4ADC-A44B-A411B49633E5}"/>
              </a:ext>
            </a:extLst>
          </p:cNvPr>
          <p:cNvSpPr>
            <a:spLocks noGrp="1"/>
          </p:cNvSpPr>
          <p:nvPr/>
        </p:nvSpPr>
        <p:spPr>
          <a:xfrm>
            <a:off x="1642872" y="370332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тест показује тренутни bug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C788DA4-3821-4142-80FB-CB7A63F243C4}"/>
              </a:ext>
            </a:extLst>
          </p:cNvPr>
          <p:cNvSpPr>
            <a:spLocks noGrp="1"/>
          </p:cNvSpPr>
          <p:nvPr/>
        </p:nvSpPr>
        <p:spPr>
          <a:xfrm>
            <a:off x="4678680" y="2560320"/>
            <a:ext cx="2834640" cy="1828800"/>
          </a:xfrm>
          <a:prstGeom prst="roundRect">
            <a:avLst>
              <a:gd name="adj" fmla="val 12000"/>
            </a:avLst>
          </a:prstGeom>
          <a:solidFill>
            <a:srgbClr val="F3FAF6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0620DE-2FAD-488C-B5C9-D9CD4BBBC332}"/>
              </a:ext>
            </a:extLst>
          </p:cNvPr>
          <p:cNvSpPr>
            <a:spLocks noGrp="1"/>
          </p:cNvSpPr>
          <p:nvPr/>
        </p:nvSpPr>
        <p:spPr>
          <a:xfrm>
            <a:off x="4843272" y="2761488"/>
            <a:ext cx="731520" cy="2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A915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F74400-8DB8-4D20-B175-7614DD9ECB91}"/>
              </a:ext>
            </a:extLst>
          </p:cNvPr>
          <p:cNvSpPr>
            <a:spLocks noGrp="1"/>
          </p:cNvSpPr>
          <p:nvPr/>
        </p:nvSpPr>
        <p:spPr>
          <a:xfrm>
            <a:off x="4843272" y="3063240"/>
            <a:ext cx="23317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B202B"/>
                </a:solidFill>
                <a:latin typeface="Aptos"/>
                <a:ea typeface="Aptos"/>
                <a:cs typeface="Aptos"/>
              </a:rPr>
              <a:t>Fix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2382FA-A073-456B-A909-7BE059EED31F}"/>
              </a:ext>
            </a:extLst>
          </p:cNvPr>
          <p:cNvSpPr>
            <a:spLocks noGrp="1"/>
          </p:cNvSpPr>
          <p:nvPr/>
        </p:nvSpPr>
        <p:spPr>
          <a:xfrm>
            <a:off x="4843272" y="370332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минимална измена понашања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35D92C6-1255-4FB0-9B05-0A7B72C5F2C4}"/>
              </a:ext>
            </a:extLst>
          </p:cNvPr>
          <p:cNvSpPr>
            <a:spLocks noGrp="1"/>
          </p:cNvSpPr>
          <p:nvPr/>
        </p:nvSpPr>
        <p:spPr>
          <a:xfrm>
            <a:off x="7879080" y="2560320"/>
            <a:ext cx="2834640" cy="1828800"/>
          </a:xfrm>
          <a:prstGeom prst="roundRect">
            <a:avLst>
              <a:gd name="adj" fmla="val 12000"/>
            </a:avLst>
          </a:prstGeom>
          <a:solidFill>
            <a:srgbClr val="FDF9F1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D9B10A-ED4A-4623-AE78-D9B0EBB56333}"/>
              </a:ext>
            </a:extLst>
          </p:cNvPr>
          <p:cNvSpPr>
            <a:spLocks noGrp="1"/>
          </p:cNvSpPr>
          <p:nvPr/>
        </p:nvSpPr>
        <p:spPr>
          <a:xfrm>
            <a:off x="8043672" y="2761488"/>
            <a:ext cx="731520" cy="2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BE770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7F806C-A52E-4DF0-8917-8285D9DA5C72}"/>
              </a:ext>
            </a:extLst>
          </p:cNvPr>
          <p:cNvSpPr>
            <a:spLocks noGrp="1"/>
          </p:cNvSpPr>
          <p:nvPr/>
        </p:nvSpPr>
        <p:spPr>
          <a:xfrm>
            <a:off x="8043672" y="3063240"/>
            <a:ext cx="23317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B202B"/>
                </a:solidFill>
                <a:latin typeface="Aptos"/>
                <a:ea typeface="Aptos"/>
                <a:cs typeface="Aptos"/>
              </a:rPr>
              <a:t>Protect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73F22E-26F2-4F92-811B-44972BB08763}"/>
              </a:ext>
            </a:extLst>
          </p:cNvPr>
          <p:cNvSpPr>
            <a:spLocks noGrp="1"/>
          </p:cNvSpPr>
          <p:nvPr/>
        </p:nvSpPr>
        <p:spPr>
          <a:xfrm>
            <a:off x="8043672" y="370332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тест остаје као регресиона заштита</a:t>
            </a:r>
          </a:p>
        </p:txBody>
      </p:sp>
    </p:spTree>
    <p:extLst>
      <p:ext uri="{BB962C8B-B14F-4D97-AF65-F5344CB8AC3E}">
        <p14:creationId xmlns:p14="http://schemas.microsoft.com/office/powerpoint/2010/main" val="2043034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A7C7CD-824D-4E78-95AF-A809DA434478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CDB758-E1DD-412D-9F5D-E08E218887ED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EE245-E5EE-4117-8196-B4ABD41E852F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8A5CD2-3FAF-4A17-87C8-DC8FBEB356FF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390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2550" b="1" dirty="0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Мини домаћи</a:t>
            </a:r>
            <a:r>
              <a:rPr sz="2550" b="1" dirty="0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: AI </a:t>
            </a:r>
            <a:r>
              <a:rPr sz="2550" b="1" dirty="0" err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предлаже</a:t>
            </a:r>
            <a:r>
              <a:rPr sz="2550" b="1" dirty="0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50" b="1" dirty="0" err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сценарије</a:t>
            </a:r>
            <a:endParaRPr sz="2550" b="1" dirty="0">
              <a:solidFill>
                <a:srgbClr val="1B202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B69777-1D3B-42BD-A3AC-D11363E3CD7E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AI може помоћи у откривању пропуштених тестова, али тим одлучује.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DFB40E0-6503-4B37-A1B4-BE9376D8C2CB}"/>
              </a:ext>
            </a:extLst>
          </p:cNvPr>
          <p:cNvSpPr>
            <a:spLocks noGrp="1"/>
          </p:cNvSpPr>
          <p:nvPr/>
        </p:nvSpPr>
        <p:spPr>
          <a:xfrm>
            <a:off x="914400" y="2578608"/>
            <a:ext cx="5715000" cy="132588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A9CC08-A3E2-4228-820B-7C025F613F9B}"/>
              </a:ext>
            </a:extLst>
          </p:cNvPr>
          <p:cNvSpPr>
            <a:spLocks noGrp="1"/>
          </p:cNvSpPr>
          <p:nvPr/>
        </p:nvSpPr>
        <p:spPr>
          <a:xfrm>
            <a:off x="914400" y="2926080"/>
            <a:ext cx="5715000" cy="109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CACAF32-E6EE-40ED-AD10-68B69F5225FC}"/>
              </a:ext>
            </a:extLst>
          </p:cNvPr>
          <p:cNvSpPr>
            <a:spLocks noGrp="1"/>
          </p:cNvSpPr>
          <p:nvPr/>
        </p:nvSpPr>
        <p:spPr>
          <a:xfrm>
            <a:off x="5715000" y="2697480"/>
            <a:ext cx="73152" cy="73152"/>
          </a:xfrm>
          <a:prstGeom prst="ellipse">
            <a:avLst/>
          </a:prstGeom>
          <a:solidFill>
            <a:srgbClr val="EE6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A87E637-F7DE-4C93-B323-E5D3292879D8}"/>
              </a:ext>
            </a:extLst>
          </p:cNvPr>
          <p:cNvSpPr>
            <a:spLocks noGrp="1"/>
          </p:cNvSpPr>
          <p:nvPr/>
        </p:nvSpPr>
        <p:spPr>
          <a:xfrm>
            <a:off x="5861304" y="2697480"/>
            <a:ext cx="73152" cy="73152"/>
          </a:xfrm>
          <a:prstGeom prst="ellipse">
            <a:avLst/>
          </a:prstGeom>
          <a:solidFill>
            <a:srgbClr val="F5B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E4FB38A-8F19-47E4-9FCD-2D6282BD3F71}"/>
              </a:ext>
            </a:extLst>
          </p:cNvPr>
          <p:cNvSpPr>
            <a:spLocks noGrp="1"/>
          </p:cNvSpPr>
          <p:nvPr/>
        </p:nvSpPr>
        <p:spPr>
          <a:xfrm>
            <a:off x="6007608" y="2697480"/>
            <a:ext cx="73152" cy="73152"/>
          </a:xfrm>
          <a:prstGeom prst="ellipse">
            <a:avLst/>
          </a:prstGeom>
          <a:solidFill>
            <a:srgbClr val="62C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3264C9-AD2F-47E6-8E5D-13E5CE654D4F}"/>
              </a:ext>
            </a:extLst>
          </p:cNvPr>
          <p:cNvSpPr>
            <a:spLocks noGrp="1"/>
          </p:cNvSpPr>
          <p:nvPr/>
        </p:nvSpPr>
        <p:spPr>
          <a:xfrm>
            <a:off x="1047750" y="3054858"/>
            <a:ext cx="5448300" cy="2228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125">
                <a:solidFill>
                  <a:srgbClr val="55845A"/>
                </a:solidFill>
                <a:latin typeface="Consolas"/>
                <a:ea typeface="Consolas"/>
                <a:cs typeface="Consolas"/>
              </a:rPr>
              <a:t># Задатак за AI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125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П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редложи недостајуће тест сценарије за овај use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125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125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Н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е мењај код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125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О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бразложи пословни ризик сваког предлога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6314D7-FA87-4E27-BA89-593E7E2E451B}"/>
              </a:ext>
            </a:extLst>
          </p:cNvPr>
          <p:cNvSpPr>
            <a:spLocks noGrp="1"/>
          </p:cNvSpPr>
          <p:nvPr/>
        </p:nvSpPr>
        <p:spPr>
          <a:xfrm>
            <a:off x="6873240" y="2240280"/>
            <a:ext cx="3840480" cy="271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Шта је важно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0A6081-207F-4E92-AAF7-E54D75966819}"/>
              </a:ext>
            </a:extLst>
          </p:cNvPr>
          <p:cNvSpPr>
            <a:spLocks noGrp="1"/>
          </p:cNvSpPr>
          <p:nvPr/>
        </p:nvSpPr>
        <p:spPr>
          <a:xfrm>
            <a:off x="6873240" y="2578608"/>
            <a:ext cx="3886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Први бод: нови смислен гранични тест.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Други бод: образложење прихватања или одбијања предлога.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Одговорност остаје код студента.</a:t>
            </a:r>
          </a:p>
        </p:txBody>
      </p:sp>
    </p:spTree>
    <p:extLst>
      <p:ext uri="{BB962C8B-B14F-4D97-AF65-F5344CB8AC3E}">
        <p14:creationId xmlns:p14="http://schemas.microsoft.com/office/powerpoint/2010/main" val="625741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A0B592-96B6-4CB5-8E8D-E64A3F10C045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A167C5-CDCD-4ED5-B2D3-FBBD99A6B539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0527B2-5BBD-47DA-A5D1-AA62EF0A3FEE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F69F0-960E-47C0-9A53-E3D1D8DDEB67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Суштина Вежбе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B4835-2348-4FAA-9873-51E24EC95206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Тестови су дизајнерски сигнал, не само доказ да код тренутно ради.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2D2C31-A931-4932-AFCC-DDE9D066B4D3}"/>
              </a:ext>
            </a:extLst>
          </p:cNvPr>
          <p:cNvSpPr>
            <a:spLocks noGrp="1"/>
          </p:cNvSpPr>
          <p:nvPr/>
        </p:nvSpPr>
        <p:spPr>
          <a:xfrm>
            <a:off x="1051560" y="242316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Када су границе система добре, тестови постају краћи, јаснији и ближи пословном понашању које студент треба да одбрани.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F2E406-84AA-4719-9625-99A1470F6596}"/>
              </a:ext>
            </a:extLst>
          </p:cNvPr>
          <p:cNvSpPr>
            <a:spLocks noGrp="1"/>
          </p:cNvSpPr>
          <p:nvPr/>
        </p:nvSpPr>
        <p:spPr>
          <a:xfrm>
            <a:off x="1051560" y="3520652"/>
            <a:ext cx="6949440" cy="10972"/>
          </a:xfrm>
          <a:prstGeom prst="rect">
            <a:avLst/>
          </a:prstGeom>
          <a:solidFill>
            <a:srgbClr val="2A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BA0DCD4-C2AB-41AB-A73E-45C8962B2E44}"/>
              </a:ext>
            </a:extLst>
          </p:cNvPr>
          <p:cNvSpPr>
            <a:spLocks noGrp="1"/>
          </p:cNvSpPr>
          <p:nvPr/>
        </p:nvSpPr>
        <p:spPr>
          <a:xfrm>
            <a:off x="914400" y="4267200"/>
            <a:ext cx="10363200" cy="800100"/>
          </a:xfrm>
          <a:prstGeom prst="roundRect">
            <a:avLst>
              <a:gd name="adj" fmla="val 16667"/>
            </a:avLst>
          </a:prstGeom>
          <a:solidFill>
            <a:srgbClr val="FFF6E9"/>
          </a:solidFill>
          <a:ln w="7620">
            <a:solidFill>
              <a:srgbClr val="E9D4AF"/>
            </a:solidFill>
            <a:prstDash val="solid"/>
          </a:ln>
        </p:spPr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467E8C3-5F8E-43A4-8910-22EBAECE1AD5}"/>
              </a:ext>
            </a:extLst>
          </p:cNvPr>
          <p:cNvSpPr>
            <a:spLocks noGrp="1"/>
          </p:cNvSpPr>
          <p:nvPr/>
        </p:nvSpPr>
        <p:spPr>
          <a:xfrm>
            <a:off x="1085850" y="4419600"/>
            <a:ext cx="57150" cy="495300"/>
          </a:xfrm>
          <a:prstGeom prst="roundRect">
            <a:avLst>
              <a:gd name="adj" fmla="val 50000"/>
            </a:avLst>
          </a:prstGeom>
          <a:solidFill>
            <a:srgbClr val="B86A09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8CA61A-346D-417E-BA57-B54B3B20F55E}"/>
              </a:ext>
            </a:extLst>
          </p:cNvPr>
          <p:cNvSpPr>
            <a:spLocks noGrp="1"/>
          </p:cNvSpPr>
          <p:nvPr/>
        </p:nvSpPr>
        <p:spPr>
          <a:xfrm>
            <a:off x="1333500" y="438150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КЉУЧНА ПОРУКА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07859C-D922-4674-B660-DBF938479FBA}"/>
              </a:ext>
            </a:extLst>
          </p:cNvPr>
          <p:cNvSpPr>
            <a:spLocks noGrp="1"/>
          </p:cNvSpPr>
          <p:nvPr/>
        </p:nvSpPr>
        <p:spPr>
          <a:xfrm>
            <a:off x="1333500" y="4629150"/>
            <a:ext cx="96012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То је основа за интеграцију и AI workflow.</a:t>
            </a:r>
          </a:p>
        </p:txBody>
      </p:sp>
    </p:spTree>
    <p:extLst>
      <p:ext uri="{BB962C8B-B14F-4D97-AF65-F5344CB8AC3E}">
        <p14:creationId xmlns:p14="http://schemas.microsoft.com/office/powerpoint/2010/main" val="804675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716F3A-2E79-4EED-9498-F1D1C40145E7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DAA4F6-9543-4ABF-B414-F1569AB98934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8887E9-3459-428F-93B5-15BC5E1FF0AA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00FA46-E218-43DE-889C-AFF57D9508A3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За наредни рад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1D89E9-99A7-4874-9469-5AD7FE3F8F83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Припремити пројекат за стабилну интеграцију.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835815-97F8-485B-A9D0-10831A4A3AF3}"/>
              </a:ext>
            </a:extLst>
          </p:cNvPr>
          <p:cNvSpPr>
            <a:spLocks noGrp="1"/>
          </p:cNvSpPr>
          <p:nvPr/>
        </p:nvSpPr>
        <p:spPr>
          <a:xfrm>
            <a:off x="1638300" y="22402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C60FE-7AF1-4D09-A9A1-6264CB14FF28}"/>
              </a:ext>
            </a:extLst>
          </p:cNvPr>
          <p:cNvSpPr>
            <a:spLocks noGrp="1"/>
          </p:cNvSpPr>
          <p:nvPr/>
        </p:nvSpPr>
        <p:spPr>
          <a:xfrm>
            <a:off x="2324100" y="2240280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Написати план тестирања за један use-case пре тест кода.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47353B-F32D-480D-AD67-A74A60AD2730}"/>
              </a:ext>
            </a:extLst>
          </p:cNvPr>
          <p:cNvSpPr>
            <a:spLocks noGrp="1"/>
          </p:cNvSpPr>
          <p:nvPr/>
        </p:nvSpPr>
        <p:spPr>
          <a:xfrm>
            <a:off x="1638300" y="280720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CD98E8-E115-4FDD-9DD9-BE6131EC6236}"/>
              </a:ext>
            </a:extLst>
          </p:cNvPr>
          <p:cNvSpPr>
            <a:spLocks noGrp="1"/>
          </p:cNvSpPr>
          <p:nvPr/>
        </p:nvSpPr>
        <p:spPr>
          <a:xfrm>
            <a:off x="2324100" y="2807208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Додати успешне, негативне и граничне NUnit тестове.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F5A52C-A9BA-438F-9127-4CF8843AA86C}"/>
              </a:ext>
            </a:extLst>
          </p:cNvPr>
          <p:cNvSpPr>
            <a:spLocks noGrp="1"/>
          </p:cNvSpPr>
          <p:nvPr/>
        </p:nvSpPr>
        <p:spPr>
          <a:xfrm>
            <a:off x="1638300" y="3374136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6CD271-3CDB-4C27-BF32-C91F36673824}"/>
              </a:ext>
            </a:extLst>
          </p:cNvPr>
          <p:cNvSpPr>
            <a:spLocks noGrp="1"/>
          </p:cNvSpPr>
          <p:nvPr/>
        </p:nvSpPr>
        <p:spPr>
          <a:xfrm>
            <a:off x="2324100" y="3374136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Mock користити само на јасним спољним границама.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43467B-6B4B-4B82-972D-ED2EF243DD07}"/>
              </a:ext>
            </a:extLst>
          </p:cNvPr>
          <p:cNvSpPr>
            <a:spLocks noGrp="1"/>
          </p:cNvSpPr>
          <p:nvPr/>
        </p:nvSpPr>
        <p:spPr>
          <a:xfrm>
            <a:off x="1638300" y="3941064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085AF-3302-41A7-A9E1-C4602F03788B}"/>
              </a:ext>
            </a:extLst>
          </p:cNvPr>
          <p:cNvSpPr>
            <a:spLocks noGrp="1"/>
          </p:cNvSpPr>
          <p:nvPr/>
        </p:nvSpPr>
        <p:spPr>
          <a:xfrm>
            <a:off x="2324100" y="3941064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Покренути coverage и анализирати једну ризичну грану.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91661B-3361-494B-8A0A-12A69EE0143B}"/>
              </a:ext>
            </a:extLst>
          </p:cNvPr>
          <p:cNvSpPr>
            <a:spLocks noGrp="1"/>
          </p:cNvSpPr>
          <p:nvPr/>
        </p:nvSpPr>
        <p:spPr>
          <a:xfrm>
            <a:off x="1638300" y="450799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7FD66F-D141-4A51-98BD-64C454F38059}"/>
              </a:ext>
            </a:extLst>
          </p:cNvPr>
          <p:cNvSpPr>
            <a:spLocks noGrp="1"/>
          </p:cNvSpPr>
          <p:nvPr/>
        </p:nvSpPr>
        <p:spPr>
          <a:xfrm>
            <a:off x="2324100" y="4507992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Означити стабилну верзију језгра када је спремна.</a:t>
            </a:r>
          </a:p>
        </p:txBody>
      </p:sp>
    </p:spTree>
    <p:extLst>
      <p:ext uri="{BB962C8B-B14F-4D97-AF65-F5344CB8AC3E}">
        <p14:creationId xmlns:p14="http://schemas.microsoft.com/office/powerpoint/2010/main" val="297477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1263</Words>
  <Application>Microsoft Macintosh PowerPoint</Application>
  <DocSecurity>0</DocSecurity>
  <PresentationFormat>Widescreen</PresentationFormat>
  <Paragraphs>262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Jovanović Danijel</cp:lastModifiedBy>
  <cp:revision>2</cp:revision>
  <dcterms:created xsi:type="dcterms:W3CDTF">2026-09-28T20:01:27Z</dcterms:created>
  <dcterms:modified xsi:type="dcterms:W3CDTF">2026-09-28T20:05:30Z</dcterms:modified>
</cp:coreProperties>
</file>