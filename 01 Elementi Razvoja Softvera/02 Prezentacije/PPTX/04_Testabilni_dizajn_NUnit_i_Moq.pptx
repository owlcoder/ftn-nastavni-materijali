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28146ebcc42455d" /><Relationship Type="http://schemas.openxmlformats.org/officeDocument/2006/relationships/extended-properties" Target="/docProps/app.xml" Id="R1514097ae1c34a6b" /><Relationship Type="http://schemas.openxmlformats.org/officeDocument/2006/relationships/officeDocument" Target="/ppt/presentation.xml" Id="R737eaf7450c84d7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f5a5a31da144a7e"/>
  </p:sldMasterIdLst>
  <p:notesMasterIdLst>
    <p:notesMasterId xmlns:r="http://schemas.openxmlformats.org/officeDocument/2006/relationships" r:id="Rdb51b0cdf81c4c34"/>
  </p:notesMasterIdLst>
  <p:sldIdLst>
    <p:sldId xmlns:r="http://schemas.openxmlformats.org/officeDocument/2006/relationships" id="256" r:id="R7d3ec3c10378449a"/>
    <p:sldId xmlns:r="http://schemas.openxmlformats.org/officeDocument/2006/relationships" id="257" r:id="Re2b3b70c32124f6f"/>
    <p:sldId xmlns:r="http://schemas.openxmlformats.org/officeDocument/2006/relationships" id="258" r:id="R39e5763cfb0c42f5"/>
    <p:sldId xmlns:r="http://schemas.openxmlformats.org/officeDocument/2006/relationships" id="259" r:id="Re520a513f7144be8"/>
    <p:sldId xmlns:r="http://schemas.openxmlformats.org/officeDocument/2006/relationships" id="260" r:id="R29b11f77247c4a5f"/>
    <p:sldId xmlns:r="http://schemas.openxmlformats.org/officeDocument/2006/relationships" id="261" r:id="Racc27152721d4841"/>
    <p:sldId xmlns:r="http://schemas.openxmlformats.org/officeDocument/2006/relationships" id="262" r:id="Re7899dacd2d44582"/>
    <p:sldId xmlns:r="http://schemas.openxmlformats.org/officeDocument/2006/relationships" id="263" r:id="Rf6d0cf29225b4e4d"/>
    <p:sldId xmlns:r="http://schemas.openxmlformats.org/officeDocument/2006/relationships" id="264" r:id="R78c23a465be4436c"/>
    <p:sldId xmlns:r="http://schemas.openxmlformats.org/officeDocument/2006/relationships" id="265" r:id="R96e2c1f594fc40a1"/>
    <p:sldId xmlns:r="http://schemas.openxmlformats.org/officeDocument/2006/relationships" id="266" r:id="Ra62fe23fbcaa4699"/>
    <p:sldId xmlns:r="http://schemas.openxmlformats.org/officeDocument/2006/relationships" id="267" r:id="R14a3eb38958d47d8"/>
    <p:sldId xmlns:r="http://schemas.openxmlformats.org/officeDocument/2006/relationships" id="268" r:id="R608663a06a034704"/>
    <p:sldId xmlns:r="http://schemas.openxmlformats.org/officeDocument/2006/relationships" id="269" r:id="R80a17208d5c44120"/>
    <p:sldId xmlns:r="http://schemas.openxmlformats.org/officeDocument/2006/relationships" id="270" r:id="R34208b5eeb854888"/>
    <p:sldId xmlns:r="http://schemas.openxmlformats.org/officeDocument/2006/relationships" id="271" r:id="R782528dedd724446"/>
    <p:sldId xmlns:r="http://schemas.openxmlformats.org/officeDocument/2006/relationships" id="272" r:id="R7ae66d5a5a824ac5"/>
    <p:sldId xmlns:r="http://schemas.openxmlformats.org/officeDocument/2006/relationships" id="273" r:id="R125bb629092f4085"/>
    <p:sldId xmlns:r="http://schemas.openxmlformats.org/officeDocument/2006/relationships" id="274" r:id="R165b8d2b11e949fc"/>
    <p:sldId xmlns:r="http://schemas.openxmlformats.org/officeDocument/2006/relationships" id="275" r:id="R60a9292ee2c3460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7b5614b8bf04fad" /><Relationship Type="http://schemas.openxmlformats.org/officeDocument/2006/relationships/slideMaster" Target="/ppt/slideMasters/slideMaster1.xml" Id="R8f5a5a31da144a7e" /><Relationship Type="http://schemas.openxmlformats.org/officeDocument/2006/relationships/notesMaster" Target="/ppt/notesMasters/notesMaster1.xml" Id="Rdb51b0cdf81c4c34" /><Relationship Type="http://schemas.openxmlformats.org/officeDocument/2006/relationships/presProps" Target="/ppt/presProps.xml" Id="R5b7d164c3b5b47f4" /><Relationship Type="http://schemas.openxmlformats.org/officeDocument/2006/relationships/viewProps" Target="/ppt/viewProps.xml" Id="R458f9a3aa3b046a4" /><Relationship Type="http://schemas.openxmlformats.org/officeDocument/2006/relationships/tableStyles" Target="/ppt/tableStyles.xml" Id="Rb22a6639142042ae" /><Relationship Type="http://schemas.openxmlformats.org/officeDocument/2006/relationships/slide" Target="/ppt/slides/slide1.xml" Id="R7d3ec3c10378449a" /><Relationship Type="http://schemas.openxmlformats.org/officeDocument/2006/relationships/slide" Target="/ppt/slides/slide2.xml" Id="Re2b3b70c32124f6f" /><Relationship Type="http://schemas.openxmlformats.org/officeDocument/2006/relationships/slide" Target="/ppt/slides/slide3.xml" Id="R39e5763cfb0c42f5" /><Relationship Type="http://schemas.openxmlformats.org/officeDocument/2006/relationships/slide" Target="/ppt/slides/slide4.xml" Id="Re520a513f7144be8" /><Relationship Type="http://schemas.openxmlformats.org/officeDocument/2006/relationships/slide" Target="/ppt/slides/slide5.xml" Id="R29b11f77247c4a5f" /><Relationship Type="http://schemas.openxmlformats.org/officeDocument/2006/relationships/slide" Target="/ppt/slides/slide6.xml" Id="Racc27152721d4841" /><Relationship Type="http://schemas.openxmlformats.org/officeDocument/2006/relationships/slide" Target="/ppt/slides/slide7.xml" Id="Re7899dacd2d44582" /><Relationship Type="http://schemas.openxmlformats.org/officeDocument/2006/relationships/slide" Target="/ppt/slides/slide8.xml" Id="Rf6d0cf29225b4e4d" /><Relationship Type="http://schemas.openxmlformats.org/officeDocument/2006/relationships/slide" Target="/ppt/slides/slide9.xml" Id="R78c23a465be4436c" /><Relationship Type="http://schemas.openxmlformats.org/officeDocument/2006/relationships/slide" Target="/ppt/slides/slide10.xml" Id="R96e2c1f594fc40a1" /><Relationship Type="http://schemas.openxmlformats.org/officeDocument/2006/relationships/slide" Target="/ppt/slides/slide11.xml" Id="Ra62fe23fbcaa4699" /><Relationship Type="http://schemas.openxmlformats.org/officeDocument/2006/relationships/slide" Target="/ppt/slides/slide12.xml" Id="R14a3eb38958d47d8" /><Relationship Type="http://schemas.openxmlformats.org/officeDocument/2006/relationships/slide" Target="/ppt/slides/slide13.xml" Id="R608663a06a034704" /><Relationship Type="http://schemas.openxmlformats.org/officeDocument/2006/relationships/slide" Target="/ppt/slides/slide14.xml" Id="R80a17208d5c44120" /><Relationship Type="http://schemas.openxmlformats.org/officeDocument/2006/relationships/slide" Target="/ppt/slides/slide15.xml" Id="R34208b5eeb854888" /><Relationship Type="http://schemas.openxmlformats.org/officeDocument/2006/relationships/slide" Target="/ppt/slides/slide16.xml" Id="R782528dedd724446" /><Relationship Type="http://schemas.openxmlformats.org/officeDocument/2006/relationships/slide" Target="/ppt/slides/slide17.xml" Id="R7ae66d5a5a824ac5" /><Relationship Type="http://schemas.openxmlformats.org/officeDocument/2006/relationships/slide" Target="/ppt/slides/slide18.xml" Id="R125bb629092f4085" /><Relationship Type="http://schemas.openxmlformats.org/officeDocument/2006/relationships/slide" Target="/ppt/slides/slide19.xml" Id="R165b8d2b11e949fc" /><Relationship Type="http://schemas.openxmlformats.org/officeDocument/2006/relationships/slide" Target="/ppt/slides/slide20.xml" Id="R60a9292ee2c3460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59b46993d3947a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0b7de02017e445e" /><Relationship Type="http://schemas.openxmlformats.org/officeDocument/2006/relationships/notesMaster" Target="/ppt/notesMasters/notesMaster1.xml" Id="R7ec2604577f0465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52e51996e8d4e98" /><Relationship Type="http://schemas.openxmlformats.org/officeDocument/2006/relationships/notesMaster" Target="/ppt/notesMasters/notesMaster1.xml" Id="Ra782563af49c420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4a5c14ea4ca4190" /><Relationship Type="http://schemas.openxmlformats.org/officeDocument/2006/relationships/notesMaster" Target="/ppt/notesMasters/notesMaster1.xml" Id="Rdf02577a41624bd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83e76b29c03448e" /><Relationship Type="http://schemas.openxmlformats.org/officeDocument/2006/relationships/notesMaster" Target="/ppt/notesMasters/notesMaster1.xml" Id="R7f08f056e03b465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2935079d8f940da" /><Relationship Type="http://schemas.openxmlformats.org/officeDocument/2006/relationships/notesMaster" Target="/ppt/notesMasters/notesMaster1.xml" Id="R20cef0fb7b324c0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6ec0d266239470c" /><Relationship Type="http://schemas.openxmlformats.org/officeDocument/2006/relationships/notesMaster" Target="/ppt/notesMasters/notesMaster1.xml" Id="R9ba0664fb62f490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368572973c84306" /><Relationship Type="http://schemas.openxmlformats.org/officeDocument/2006/relationships/notesMaster" Target="/ppt/notesMasters/notesMaster1.xml" Id="Rc3de4b6d68e6466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8438e206eec46ad" /><Relationship Type="http://schemas.openxmlformats.org/officeDocument/2006/relationships/notesMaster" Target="/ppt/notesMasters/notesMaster1.xml" Id="R662cb43a91d04dc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5639d1ad8de46d4" /><Relationship Type="http://schemas.openxmlformats.org/officeDocument/2006/relationships/notesMaster" Target="/ppt/notesMasters/notesMaster1.xml" Id="Rc18ceb3722604d1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b6eec60268c480a" /><Relationship Type="http://schemas.openxmlformats.org/officeDocument/2006/relationships/notesMaster" Target="/ppt/notesMasters/notesMaster1.xml" Id="R38e3fb25cdf747f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cf6a20443254e0b" /><Relationship Type="http://schemas.openxmlformats.org/officeDocument/2006/relationships/notesMaster" Target="/ppt/notesMasters/notesMaster1.xml" Id="R2259aa0741b4440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a68e90ad61545da" /><Relationship Type="http://schemas.openxmlformats.org/officeDocument/2006/relationships/notesMaster" Target="/ppt/notesMasters/notesMaster1.xml" Id="R808a72cc1a7a418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3e3dbe198a6471f" /><Relationship Type="http://schemas.openxmlformats.org/officeDocument/2006/relationships/notesMaster" Target="/ppt/notesMasters/notesMaster1.xml" Id="Re42416c47fee4af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4c12071b70b4b83" /><Relationship Type="http://schemas.openxmlformats.org/officeDocument/2006/relationships/notesMaster" Target="/ppt/notesMasters/notesMaster1.xml" Id="Rf6130403037244b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134847bf43b4a8f" /><Relationship Type="http://schemas.openxmlformats.org/officeDocument/2006/relationships/notesMaster" Target="/ppt/notesMasters/notesMaster1.xml" Id="R05613f9fda4e404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3df0666d196466d" /><Relationship Type="http://schemas.openxmlformats.org/officeDocument/2006/relationships/notesMaster" Target="/ppt/notesMasters/notesMaster1.xml" Id="Rbd4bb16b76f04b61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d748921e47640a8" /><Relationship Type="http://schemas.openxmlformats.org/officeDocument/2006/relationships/notesMaster" Target="/ppt/notesMasters/notesMaster1.xml" Id="R27e2ee8d515b4399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e210f603a50145ab" /><Relationship Type="http://schemas.openxmlformats.org/officeDocument/2006/relationships/notesMaster" Target="/ppt/notesMasters/notesMaster1.xml" Id="R9f0e4598e37147d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17d1a9eea9548e9" /><Relationship Type="http://schemas.openxmlformats.org/officeDocument/2006/relationships/notesMaster" Target="/ppt/notesMasters/notesMaster1.xml" Id="R3ac1b1af5d994e37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9dc68b3c8c25498c" /><Relationship Type="http://schemas.openxmlformats.org/officeDocument/2006/relationships/notesMaster" Target="/ppt/notesMasters/notesMaster1.xml" Id="R718f075efb054c5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aeb07363b44b6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0f9541ecaba44e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cde0ee157a8441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1811d0b2eff49b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e000b02838247b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3c3f4d4fb2f4800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6f647a77ca41c9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a8ce292dfc4e96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85428bcc724fcd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49e544c540493c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d24438a7d44652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05F9FC2-216E-43A5-A09E-78FDF379DBB6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C34FEA91-2BFF-42ED-B605-9D91789620F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10547F0-1924-4364-BC82-50FE7517432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D549724-8605-4ED2-92E3-D8A5733FE77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0B775E9-1F68-42F4-8625-98A9B491326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A9FCBA8-2131-400A-876D-5F8A0228C6F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4227214-FCBA-4C70-832A-C7C1E01C8AD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271ABDD-9ACC-4044-AAD0-0908EC4FA7A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A9371A7-F743-4868-8AFE-8E919E2560F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962B9C2-C38B-4842-9B37-E5E2D745671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C930E85-69FC-45D5-8E30-6FB3F7D2A7A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FC810B7-8585-412E-BA01-AB1F6C4E358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0D07B5D-0632-4652-816A-F6A18568881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5D1AC65-8672-4BE4-BA41-4334FE3D219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5E58E79-BCD9-4A1E-BE8D-9032139D4FF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AC77EE-0870-4F2A-BF84-CB16D4DFF4C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7AEAE9E-6704-47F8-A3E6-E3565879E3F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3126AE4-AE09-45A8-8708-7E3EB688333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98966F3-4C2C-47C6-B944-068161FA983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109CF6C-16E7-404F-8684-A45ADBE6BCA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E28CCFB-4FC6-4552-B0C2-40F063087DD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B8725B7-567A-405B-BEB4-DAEE52CBC0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45BC5C3-7DE5-4785-821B-70DCB42A598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8ACA21C1-783F-4E0B-B041-537B5801E45A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A3AD0934-3CCD-408B-8EB9-AB46199A852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480C79C6-AD30-49A1-9752-78B3440790BE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28D371C6-1BA6-45F4-8D55-FBE1A31C865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80BCD375-6F16-4D61-908E-0185C26D4D9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07326EB5-C1A9-4771-888C-8E4AC264DEF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E649F07-8379-4608-8546-917169117FC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080735F6-7590-47EB-84F1-122B23F8860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D224604A-C8EF-4A90-92AB-8354C859786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84783EB1-9AA4-4096-B3EC-3E978DF7D5B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D3D45E62-817C-401C-895C-1EF920D2E50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DA1874C6-C44C-4EA3-B2E6-B6665773E7E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CFD67A46-3ED8-4C0D-879E-11220548186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25E6546-5B1B-491F-8BAA-486846B6EF6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28C9CFF-8BA8-497E-ADFF-3C798EF94B1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B2CC575F-D019-435F-8C03-119699D275E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C75667E-F167-4D4B-9538-B1E8554C6B0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0B957C1-1DE3-40C2-B80D-B3FC228BE0F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4E9E45E-0011-4415-AE95-25C0C4E14E8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A414C92-0931-4319-BF90-EDBE9B5A95B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3FB412AF-16AB-47BC-8C79-AFFC46E0C7EC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76AE6A0-5E69-425C-8D86-26BEF1F58CC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DD2BABC-6BB6-4716-955D-6E101822D20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43EF4E5-FD39-419E-8C86-9D2DEF7E778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FE9C269-196A-4DE4-A2E8-D01E08380B0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A66FD52-9C82-4206-AB09-7973771F841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6F988BA1-70C8-4BB5-B09A-B42D5285083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9222F20-A8D8-4F4D-8A9C-E4D361E2C14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14D469E-95F6-4BBA-B042-1A2A6619CD8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BFA68F7-02D5-429D-8E45-4AB9DD30517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A8A41E55-BF8C-4113-B808-1EEA1716C47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3013616F-2FB6-4BEF-A116-09BACFDEFED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5D2AFB8-3002-4795-AD15-957DFEEF5F8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B4D42F9-F608-48B0-B22C-B8147783F53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5F442A3-8180-428B-A796-9A51428455E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3916236cfcd4432" /><Relationship Type="http://schemas.openxmlformats.org/officeDocument/2006/relationships/slideLayout" Target="/ppt/slideLayouts/slideLayout1.xml" Id="R09dbf1a3370d4398" /><Relationship Type="http://schemas.openxmlformats.org/officeDocument/2006/relationships/slideLayout" Target="/ppt/slideLayouts/slideLayout2.xml" Id="R8b1db8b8e7fc40b4" /><Relationship Type="http://schemas.openxmlformats.org/officeDocument/2006/relationships/slideLayout" Target="/ppt/slideLayouts/slideLayout3.xml" Id="Rdcd98f4046d040e1" /><Relationship Type="http://schemas.openxmlformats.org/officeDocument/2006/relationships/slideLayout" Target="/ppt/slideLayouts/slideLayout4.xml" Id="R0288dd3be1c64087" /><Relationship Type="http://schemas.openxmlformats.org/officeDocument/2006/relationships/slideLayout" Target="/ppt/slideLayouts/slideLayout5.xml" Id="Ra659fcd5f5dd4417" /><Relationship Type="http://schemas.openxmlformats.org/officeDocument/2006/relationships/slideLayout" Target="/ppt/slideLayouts/slideLayout6.xml" Id="R40e9013dbdb246e4" /><Relationship Type="http://schemas.openxmlformats.org/officeDocument/2006/relationships/slideLayout" Target="/ppt/slideLayouts/slideLayout7.xml" Id="R14810baf65b54128" /><Relationship Type="http://schemas.openxmlformats.org/officeDocument/2006/relationships/slideLayout" Target="/ppt/slideLayouts/slideLayout8.xml" Id="R34f0edc99c004cf9" /><Relationship Type="http://schemas.openxmlformats.org/officeDocument/2006/relationships/slideLayout" Target="/ppt/slideLayouts/slideLayout9.xml" Id="R8c2540b1da0347d6" /><Relationship Type="http://schemas.openxmlformats.org/officeDocument/2006/relationships/slideLayout" Target="/ppt/slideLayouts/slideLayout10.xml" Id="Rb02a98d3570c4fc2" /><Relationship Type="http://schemas.openxmlformats.org/officeDocument/2006/relationships/slideLayout" Target="/ppt/slideLayouts/slideLayout11.xml" Id="Reb4e139475134f58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44901F7-EFAC-4EB9-BC70-C3E32B0DD26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B46BB99-3E76-4386-B49C-EC23A05F8FD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D87E0CF-B7E0-4652-9821-283AF388259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C16D84B-2C06-454C-B794-7EF690998ED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AFC876C-CAF4-4EC2-AADB-978D0F3AC48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9dbf1a3370d4398"/>
    <p:sldLayoutId xmlns:r="http://schemas.openxmlformats.org/officeDocument/2006/relationships" id="2147483650" r:id="R8b1db8b8e7fc40b4"/>
    <p:sldLayoutId xmlns:r="http://schemas.openxmlformats.org/officeDocument/2006/relationships" id="2147483651" r:id="Rdcd98f4046d040e1"/>
    <p:sldLayoutId xmlns:r="http://schemas.openxmlformats.org/officeDocument/2006/relationships" id="2147483652" r:id="R0288dd3be1c64087"/>
    <p:sldLayoutId xmlns:r="http://schemas.openxmlformats.org/officeDocument/2006/relationships" id="2147483653" r:id="Ra659fcd5f5dd4417"/>
    <p:sldLayoutId xmlns:r="http://schemas.openxmlformats.org/officeDocument/2006/relationships" id="2147483654" r:id="R40e9013dbdb246e4"/>
    <p:sldLayoutId xmlns:r="http://schemas.openxmlformats.org/officeDocument/2006/relationships" id="2147483655" r:id="R14810baf65b54128"/>
    <p:sldLayoutId xmlns:r="http://schemas.openxmlformats.org/officeDocument/2006/relationships" id="2147483656" r:id="R34f0edc99c004cf9"/>
    <p:sldLayoutId xmlns:r="http://schemas.openxmlformats.org/officeDocument/2006/relationships" id="2147483657" r:id="R8c2540b1da0347d6"/>
    <p:sldLayoutId xmlns:r="http://schemas.openxmlformats.org/officeDocument/2006/relationships" id="2147483658" r:id="Rb02a98d3570c4fc2"/>
    <p:sldLayoutId xmlns:r="http://schemas.openxmlformats.org/officeDocument/2006/relationships" id="2147483659" r:id="Reb4e139475134f58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24e603a7d0d4ffe" /><Relationship Type="http://schemas.openxmlformats.org/officeDocument/2006/relationships/notesSlide" Target="/ppt/notesSlides/notesSlide1.xml" Id="R741dbe380eb5422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8fe8903b3a8489f" /><Relationship Type="http://schemas.openxmlformats.org/officeDocument/2006/relationships/notesSlide" Target="/ppt/notesSlides/notesSlide2.xml" Id="R448d8e2ae7a440e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54a49e36bed45d9" /><Relationship Type="http://schemas.openxmlformats.org/officeDocument/2006/relationships/notesSlide" Target="/ppt/notesSlides/notesSlide3.xml" Id="R69b580b262dc4ce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04fd8668b6f496a" /><Relationship Type="http://schemas.openxmlformats.org/officeDocument/2006/relationships/notesSlide" Target="/ppt/notesSlides/notesSlide4.xml" Id="Rfb3fcf115fa24b9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625ff8a644641e3" /><Relationship Type="http://schemas.openxmlformats.org/officeDocument/2006/relationships/notesSlide" Target="/ppt/notesSlides/notesSlide5.xml" Id="R5dbc80b114bc4ab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82cc434900b40ae" /><Relationship Type="http://schemas.openxmlformats.org/officeDocument/2006/relationships/notesSlide" Target="/ppt/notesSlides/notesSlide6.xml" Id="R424b82ad0ebf4cd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e9253c580054992" /><Relationship Type="http://schemas.openxmlformats.org/officeDocument/2006/relationships/notesSlide" Target="/ppt/notesSlides/notesSlide7.xml" Id="R9741573af75b403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40bcb6b21fc445d" /><Relationship Type="http://schemas.openxmlformats.org/officeDocument/2006/relationships/notesSlide" Target="/ppt/notesSlides/notesSlide8.xml" Id="Rea8d4802665b498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c7f6456b2824980" /><Relationship Type="http://schemas.openxmlformats.org/officeDocument/2006/relationships/notesSlide" Target="/ppt/notesSlides/notesSlide9.xml" Id="Rcbc23d0a7f8845c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79777f9aa9641ea" /><Relationship Type="http://schemas.openxmlformats.org/officeDocument/2006/relationships/notesSlide" Target="/ppt/notesSlides/notesSlide10.xml" Id="R3d3cf146dc6e45d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81934aadd914a33" /><Relationship Type="http://schemas.openxmlformats.org/officeDocument/2006/relationships/notesSlide" Target="/ppt/notesSlides/notesSlide11.xml" Id="R857226043513467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d4d8350bca849c3" /><Relationship Type="http://schemas.openxmlformats.org/officeDocument/2006/relationships/notesSlide" Target="/ppt/notesSlides/notesSlide12.xml" Id="Rc77a837c6e8e49e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e1e18ca62194161" /><Relationship Type="http://schemas.openxmlformats.org/officeDocument/2006/relationships/notesSlide" Target="/ppt/notesSlides/notesSlide13.xml" Id="R3510b6298673453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9c3f79ec7174911" /><Relationship Type="http://schemas.openxmlformats.org/officeDocument/2006/relationships/notesSlide" Target="/ppt/notesSlides/notesSlide14.xml" Id="R20bd3d80d95141d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02e60fc19f24501" /><Relationship Type="http://schemas.openxmlformats.org/officeDocument/2006/relationships/notesSlide" Target="/ppt/notesSlides/notesSlide15.xml" Id="Rb55ea49a78c6499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3871ddf52144eb0" /><Relationship Type="http://schemas.openxmlformats.org/officeDocument/2006/relationships/notesSlide" Target="/ppt/notesSlides/notesSlide16.xml" Id="R5eb7f2d9e11c456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4d6b421527c4260" /><Relationship Type="http://schemas.openxmlformats.org/officeDocument/2006/relationships/notesSlide" Target="/ppt/notesSlides/notesSlide17.xml" Id="R08f6825495874aa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913ee1f4a914582" /><Relationship Type="http://schemas.openxmlformats.org/officeDocument/2006/relationships/notesSlide" Target="/ppt/notesSlides/notesSlide18.xml" Id="R2566b49827d044fd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d68f6f066d3451f" /><Relationship Type="http://schemas.openxmlformats.org/officeDocument/2006/relationships/notesSlide" Target="/ppt/notesSlides/notesSlide19.xml" Id="Rcfd635185a1947c5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25ad9dc86a249d6" /><Relationship Type="http://schemas.openxmlformats.org/officeDocument/2006/relationships/notesSlide" Target="/ppt/notesSlides/notesSlide20.xml" Id="R27a4e488252943d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407322E7-AD56-4A78-852B-E779D5A9D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"/>
            <a:ext cx="781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F117E4E3-8067-4F64-A83A-A17F82E96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09650"/>
            <a:ext cx="103632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</p:sp>
      <p:sp>
        <p:nvSpPr>
          <p:cNvPr id="3" name="Rounded Rectangle 2">
            <a:extLst xmlns:a="http://schemas.openxmlformats.org/drawingml/2006/main">
              <a:ext uri="{FF2B5EF4-FFF2-40B4-BE49-F238E27FC236}">
                <a16:creationId xmlns:a16="http://schemas.microsoft.com/office/drawing/2014/main" id="{7E3BD1D6-9734-4537-B2F3-C671E8A5E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38275"/>
            <a:ext cx="6477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BFCFD19-DDDF-44E7-AD17-7DAC1BA8E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90700"/>
            <a:ext cx="100965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Тестабилни дизајн, NUnit, Moq и покривеност кода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A5FE2A2-C724-46BD-A8B7-E2A5BC615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562350"/>
            <a:ext cx="9334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Тестови као доказ пословног понашања и квалитета архитектонских граница.</a:t>
            </a:r>
          </a:p>
        </p:txBody>
      </p:sp>
      <p:sp>
        <p:nvSpPr>
          <p:cNvPr id="6" name="Straight Connector 5">
            <a:extLst xmlns:a="http://schemas.openxmlformats.org/drawingml/2006/main">
              <a:ext uri="{FF2B5EF4-FFF2-40B4-BE49-F238E27FC236}">
                <a16:creationId xmlns:a16="http://schemas.microsoft.com/office/drawing/2014/main" id="{EDC8BA03-9BBF-4B67-98A6-1E7981811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86375"/>
            <a:ext cx="103632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302B7A7A-6099-4997-AE83-08266247D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816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E5E7D"/>
                </a:solidFill>
                <a:latin typeface="Aptos"/>
                <a:ea typeface="Aptos"/>
                <a:cs typeface="Aptos"/>
              </a:rPr>
              <a:t>Факултет техничких наука · Универзитет у Новом Саду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BA7CC6CD-888B-4FA0-890A-E4E5F1B66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581650"/>
            <a:ext cx="3181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Академска 2026/27</a:t>
            </a:r>
          </a:p>
        </p:txBody>
      </p:sp>
    </p:spTree>
    <p:extLst>
      <p:ext uri="{BB962C8B-B14F-4D97-AF65-F5344CB8AC3E}">
        <p14:creationId xmlns:p14="http://schemas.microsoft.com/office/powerpoint/2010/main" val="11583277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D7FEB84-E4B8-4034-A9B0-43790F1CB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AD52A91-AC8B-4BDD-808A-09FE9C7A3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F5FE84F-37FE-4D6F-9CB8-34E693D03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FDBFE03-3E41-4DFF-83B3-1650A9275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Пројектовање тестабилног кода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D99DB5F-EB8D-40B6-B7CB-19C506CE8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7835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Раздвајање одговорности, јасни уговори и убризгавање зависности омогућавају контролисано тестирање.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D812755-7D06-495E-B653-DDD48ED98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Раздвајање одговорности, јасни уговори и dependency injection омогућавају да се компоненте проверавају изоловано и детерминистички.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D2EFCA72-4EAB-48D4-84D7-CAC1AD55E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716365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F624D202-61C9-4160-BAEF-2CE69B646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0E147BB3-DB85-4A88-99BB-165E0C873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DCD52ED4-D0ED-4A24-8424-B000D633D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F7649FB9-D623-4989-96BA-8DA4D320C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Тестови обезбеђују повратну информацију о квалитету архитектонских граница.</a:t>
            </a:r>
          </a:p>
        </p:txBody>
      </p:sp>
    </p:spTree>
    <p:extLst>
      <p:ext uri="{BB962C8B-B14F-4D97-AF65-F5344CB8AC3E}">
        <p14:creationId xmlns:p14="http://schemas.microsoft.com/office/powerpoint/2010/main" val="211558218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E2055B5-32ED-463A-B500-4DBBB95E5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38EA21B-5225-4E99-94BC-7B9E6DF59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C73CD4C7-3A5A-40F9-9458-ECB0E25A9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72C95B6-0EB2-40F9-B332-205089709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Тумачење резултата у Test Explorer-у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A87AC10-618F-4DE2-B0F2-AE5F6C3C9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Неуспешан тест усмерава дијагностику, а укупан пролаз потврђује само извршене сценарије.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88877BDB-09D0-498C-AC73-CDDB32BFF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66950"/>
            <a:ext cx="4953000" cy="3333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49ED6C14-22E3-4678-B92E-167C72C38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19350"/>
            <a:ext cx="295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Test Explorer</a:t>
            </a:r>
          </a:p>
        </p:txBody>
      </p:sp>
      <p:sp>
        <p:nvSpPr>
          <p:cNvPr id="9" name="Straight Connector 8">
            <a:extLst xmlns:a="http://schemas.openxmlformats.org/drawingml/2006/main">
              <a:ext uri="{FF2B5EF4-FFF2-40B4-BE49-F238E27FC236}">
                <a16:creationId xmlns:a16="http://schemas.microsoft.com/office/drawing/2014/main" id="{0E067C78-80B6-49AB-A8D1-7B0D44C20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762250"/>
            <a:ext cx="45720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87303B23-34A3-4427-BE81-505AEBA33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914650"/>
            <a:ext cx="238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ERS.Tests</a:t>
            </a:r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FD9A04DE-ED53-43A2-90EA-0B7D6B508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2956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7F1"/>
          </a:solidFill>
          <a:ln xmlns:a="http://schemas.openxmlformats.org/drawingml/2006/main" w="7620">
            <a:solidFill>
              <a:srgbClr val="07885E"/>
            </a:solidFill>
            <a:prstDash val="solid"/>
          </a:ln>
        </p:spPr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EF3B2929-53CF-4581-8173-D1DE7ABCA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305175"/>
            <a:ext cx="228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7885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283BDA9D-5BD7-4F72-805A-8FAE76173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286125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38" b="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sz="1238" b="0">
                <a:solidFill>
                  <a:srgbClr val="263044"/>
                </a:solidFill>
                <a:latin typeface="Consolas"/>
                <a:ea typeface="Consolas"/>
                <a:cs typeface="Consolas"/>
              </a:rPr>
              <a:t>Reserve_WhenFree_ReturnsSuccess</a:t>
            </a:r>
          </a:p>
        </p:txBody>
      </p:sp>
      <p:sp>
        <p:nvSpPr>
          <p:cNvPr id="14" name="Oval 13">
            <a:extLst xmlns:a="http://schemas.openxmlformats.org/drawingml/2006/main">
              <a:ext uri="{FF2B5EF4-FFF2-40B4-BE49-F238E27FC236}">
                <a16:creationId xmlns:a16="http://schemas.microsoft.com/office/drawing/2014/main" id="{729B9370-A130-4C0D-B214-C7156853A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147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7F1"/>
          </a:solidFill>
          <a:ln xmlns:a="http://schemas.openxmlformats.org/drawingml/2006/main" w="7620">
            <a:solidFill>
              <a:srgbClr val="07885E"/>
            </a:solidFill>
            <a:prstDash val="solid"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1FE536C1-F50C-4038-9BE9-EB0D89E95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24275"/>
            <a:ext cx="228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7885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B1292BCE-A61C-4116-9E77-7853AF666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705225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38" b="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sz="1238" b="0">
                <a:solidFill>
                  <a:srgbClr val="263044"/>
                </a:solidFill>
                <a:latin typeface="Consolas"/>
                <a:ea typeface="Consolas"/>
                <a:cs typeface="Consolas"/>
              </a:rPr>
              <a:t>Reserve_WhenOverlap_ReturnsConflict</a:t>
            </a:r>
          </a:p>
        </p:txBody>
      </p:sp>
      <p:sp>
        <p:nvSpPr>
          <p:cNvPr id="17" name="Oval 16">
            <a:extLst xmlns:a="http://schemas.openxmlformats.org/drawingml/2006/main">
              <a:ext uri="{FF2B5EF4-FFF2-40B4-BE49-F238E27FC236}">
                <a16:creationId xmlns:a16="http://schemas.microsoft.com/office/drawing/2014/main" id="{496E92DA-7A30-4D66-9962-0C829B181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1338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7F1"/>
          </a:solidFill>
          <a:ln xmlns:a="http://schemas.openxmlformats.org/drawingml/2006/main" w="7620">
            <a:solidFill>
              <a:srgbClr val="07885E"/>
            </a:solidFill>
            <a:prstDash val="solid"/>
          </a:ln>
        </p:spPr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DB73A0BA-2684-47CE-8603-F59677D62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143375"/>
            <a:ext cx="228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07885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7EB30618-76E0-48B7-8F18-B9B9DE0B8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124325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38" b="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sz="1238" b="0">
                <a:solidFill>
                  <a:srgbClr val="263044"/>
                </a:solidFill>
                <a:latin typeface="Consolas"/>
                <a:ea typeface="Consolas"/>
                <a:cs typeface="Consolas"/>
              </a:rPr>
              <a:t>Reserve_WhenInactive_ReturnsFailure</a:t>
            </a:r>
          </a:p>
        </p:txBody>
      </p:sp>
      <p:sp>
        <p:nvSpPr>
          <p:cNvPr id="20" name="Oval 19">
            <a:extLst xmlns:a="http://schemas.openxmlformats.org/drawingml/2006/main">
              <a:ext uri="{FF2B5EF4-FFF2-40B4-BE49-F238E27FC236}">
                <a16:creationId xmlns:a16="http://schemas.microsoft.com/office/drawing/2014/main" id="{733AE51D-4B29-4142-91DB-0D5F45766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5529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0EE"/>
          </a:solidFill>
          <a:ln xmlns:a="http://schemas.openxmlformats.org/drawingml/2006/main" w="7620">
            <a:solidFill>
              <a:srgbClr val="C43D32"/>
            </a:solidFill>
            <a:prstDash val="solid"/>
          </a:ln>
        </p:spPr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7B3C665F-A696-4AAD-9D53-CC1A22F48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562475"/>
            <a:ext cx="228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>
                <a:solidFill>
                  <a:srgbClr val="C43D32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×</a:t>
            </a:r>
          </a:p>
        </p:txBody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32E453AE-F5B7-4D3C-9373-909C67B27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543425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38" b="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sz="1238" b="0">
                <a:solidFill>
                  <a:srgbClr val="263044"/>
                </a:solidFill>
                <a:latin typeface="Consolas"/>
                <a:ea typeface="Consolas"/>
                <a:cs typeface="Consolas"/>
              </a:rPr>
              <a:t>Cancel_AfterDeadline_ReturnsFailure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D14C9610-1FEF-4FD9-8879-6808E0650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143500"/>
            <a:ext cx="428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63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3 теста су прошла, један захтева анализу.</a:t>
            </a:r>
          </a:p>
        </p:txBody>
      </p:sp>
      <p:sp>
        <p:nvSpPr>
          <p:cNvPr id="24" name="Rounded Rectangle 23">
            <a:extLst xmlns:a="http://schemas.openxmlformats.org/drawingml/2006/main">
              <a:ext uri="{FF2B5EF4-FFF2-40B4-BE49-F238E27FC236}">
                <a16:creationId xmlns:a16="http://schemas.microsoft.com/office/drawing/2014/main" id="{8E2AF1B6-6F60-45DD-ADBA-B9A3C7CE7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66950"/>
            <a:ext cx="4991100" cy="3333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8C3DF94C-10A9-4951-AAA3-B3A455165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419350"/>
            <a:ext cx="428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Како се чита резултат</a:t>
            </a:r>
          </a:p>
        </p:txBody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FCBB666F-9976-41CF-B710-0B6C6418A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743200"/>
            <a:ext cx="430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63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Црвени тест прво треба разумети, па тек онда мењати код.</a:t>
            </a:r>
          </a:p>
        </p:txBody>
      </p:sp>
      <p:sp>
        <p:nvSpPr>
          <p:cNvPr id="27" name="Rounded Rectangle 26">
            <a:extLst xmlns:a="http://schemas.openxmlformats.org/drawingml/2006/main">
              <a:ext uri="{FF2B5EF4-FFF2-40B4-BE49-F238E27FC236}">
                <a16:creationId xmlns:a16="http://schemas.microsoft.com/office/drawing/2014/main" id="{49E8CD19-9F3A-47AA-AC76-86D14D7C1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143250"/>
            <a:ext cx="4533900" cy="895350"/>
          </a:xfrm>
          <a:prstGeom xmlns:a="http://schemas.openxmlformats.org/drawingml/2006/main" prst="roundRect">
            <a:avLst>
              <a:gd name="adj" fmla="val 10638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BC5EEA03-C0A9-42BB-8977-C8FBACA7B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257550"/>
            <a:ext cx="4191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263044"/>
                </a:solidFill>
                <a:latin typeface="Consolas"/>
                <a:ea typeface="Consolas"/>
                <a:cs typeface="Consolas"/>
              </a:rPr>
              <a:t>Cancel_AfterDeadline_ReturnsFailure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F46625DB-E08C-4390-A033-679CCD4FD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52425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63" b="1">
                <a:solidFill>
                  <a:srgbClr val="C43D32"/>
                </a:solidFill>
                <a:latin typeface="Consolas"/>
                <a:ea typeface="Consolas"/>
                <a:cs typeface="Consolas"/>
              </a:defRPr>
            </a:pPr>
            <a:r>
              <a:rPr sz="1163" b="1">
                <a:solidFill>
                  <a:srgbClr val="C43D32"/>
                </a:solidFill>
                <a:latin typeface="Consolas"/>
                <a:ea typeface="Consolas"/>
                <a:cs typeface="Consolas"/>
              </a:rPr>
              <a:t>Очекивано: CancellationWindowExpired</a:t>
            </a:r>
          </a:p>
        </p:txBody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468C8AE9-CF37-4FDC-8DE3-823668DA8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762375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88" b="0">
                <a:solidFill>
                  <a:srgbClr val="647084"/>
                </a:solidFill>
                <a:latin typeface="Consolas"/>
                <a:ea typeface="Consolas"/>
                <a:cs typeface="Consolas"/>
              </a:defRPr>
            </a:pPr>
            <a:r>
              <a:rPr sz="1088" b="0">
                <a:solidFill>
                  <a:srgbClr val="647084"/>
                </a:solidFill>
                <a:latin typeface="Consolas"/>
                <a:ea typeface="Consolas"/>
                <a:cs typeface="Consolas"/>
              </a:rPr>
              <a:t>Добијено: Success</a:t>
            </a:r>
          </a:p>
        </p:txBody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73703601-B19C-4BFD-8C88-9C140BE82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1005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Тумачење</a:t>
            </a:r>
          </a:p>
        </p:txBody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4EE1EC23-F46E-4543-83E3-FDE8BB166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476750"/>
            <a:ext cx="44005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341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0">
                <a:solidFill>
                  <a:srgbClr val="26304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Порука показује да ли је проблем у правилу, имплементацији или очекивању теста. Код се мења тек после разумевања узрока.</a:t>
            </a:r>
          </a:p>
        </p:txBody>
      </p:sp>
      <p:sp>
        <p:nvSpPr>
          <p:cNvPr id="33" name="Rounded Rectangle 32">
            <a:extLst xmlns:a="http://schemas.openxmlformats.org/drawingml/2006/main">
              <a:ext uri="{FF2B5EF4-FFF2-40B4-BE49-F238E27FC236}">
                <a16:creationId xmlns:a16="http://schemas.microsoft.com/office/drawing/2014/main" id="{CE9F009B-EC7E-411C-AF24-451FA2012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124450"/>
            <a:ext cx="4533900" cy="323850"/>
          </a:xfrm>
          <a:prstGeom xmlns:a="http://schemas.openxmlformats.org/drawingml/2006/main" prst="roundRect">
            <a:avLst>
              <a:gd name="adj" fmla="val 29412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255D25FF-3B41-481B-819F-8AFDEEE44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00650"/>
            <a:ext cx="1238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07885E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ПРОШЛО  3</a:t>
            </a:r>
          </a:p>
        </p:txBody>
      </p:sp>
      <p:sp>
        <p:nvSpPr>
          <p:cNvPr id="35" name="Straight Connector 34">
            <a:extLst xmlns:a="http://schemas.openxmlformats.org/drawingml/2006/main">
              <a:ext uri="{FF2B5EF4-FFF2-40B4-BE49-F238E27FC236}">
                <a16:creationId xmlns:a16="http://schemas.microsoft.com/office/drawing/2014/main" id="{99E619A6-3987-4F6D-BF9A-FA99FD1DD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200650"/>
            <a:ext cx="9525" cy="17145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</p:sp>
      <p:sp>
        <p:nvSpPr>
          <p:cNvPr id="36" name="Rectangle 35">
            <a:extLst xmlns:a="http://schemas.openxmlformats.org/drawingml/2006/main">
              <a:ext uri="{FF2B5EF4-FFF2-40B4-BE49-F238E27FC236}">
                <a16:creationId xmlns:a16="http://schemas.microsoft.com/office/drawing/2014/main" id="{7674CC7A-CBD3-4290-83EF-16DDCD932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200650"/>
            <a:ext cx="1047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C43D32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ПАЛО  1</a:t>
            </a:r>
          </a:p>
        </p:txBody>
      </p:sp>
      <p:sp>
        <p:nvSpPr>
          <p:cNvPr id="37" name="Straight Connector 36">
            <a:extLst xmlns:a="http://schemas.openxmlformats.org/drawingml/2006/main">
              <a:ext uri="{FF2B5EF4-FFF2-40B4-BE49-F238E27FC236}">
                <a16:creationId xmlns:a16="http://schemas.microsoft.com/office/drawing/2014/main" id="{91A066EA-FD70-4B14-B1AE-79733B4B1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200650"/>
            <a:ext cx="9525" cy="17145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8B38E8B2-E07B-4719-806C-088FCDFAB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5200650"/>
            <a:ext cx="1257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ТРАЈАЊЕ  184 ms</a:t>
            </a:r>
          </a:p>
        </p:txBody>
      </p:sp>
    </p:spTree>
    <p:extLst>
      <p:ext uri="{BB962C8B-B14F-4D97-AF65-F5344CB8AC3E}">
        <p14:creationId xmlns:p14="http://schemas.microsoft.com/office/powerpoint/2010/main" val="91799542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4CEE31B-A442-4E35-8002-60A77C083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255E5E1-A6B0-4B6F-97C4-6EAECCFA8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CD5221B-B9DC-4795-818D-D6052EBF7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58FB6567-A1A0-4A66-AD61-9F2B0F205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AAA структура теста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C120374-0EAD-4C36-86A6-35B884E4E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Један тест проверава једно јасно понашање.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7410613F-0422-45B2-84A3-0C6880DA2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7EF3B03-8735-4FB7-82AA-BE7C3D365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853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Arrange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77C5249-2353-4532-8F35-FC3B9B627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улази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035880AA-C3A1-493C-95E3-F9928E666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558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C8E6AE46-BFA7-410A-9A04-5675814C6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C9D01D3-EDD1-4D39-8073-7B448DCF1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1652" y="2999232"/>
            <a:ext cx="1353312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Act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D83AF62-617C-423E-9258-17FD7C085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706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операција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D1614C30-68B5-4596-B13F-8370996EB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C75AB732-9B29-475B-8124-7825409A6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62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8053E176-F800-4604-B9C5-341AA2672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477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Assert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D738856E-4A22-45B2-9AAB-7B3D29085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018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исход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C47CCC2C-6FD4-4725-A3CB-7E7307611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182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C76B592F-6A8F-4838-8A87-ABE2C894B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474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0A1C0D21-EA6B-4AD9-823F-8D2EDC86E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789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Diagnose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8F1B2401-6323-452F-8D90-6EAFBD6FD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порука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2A4173D5-F620-4B00-AFDD-7294C482B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3" name="Rounded Rectangle 22">
            <a:extLst xmlns:a="http://schemas.openxmlformats.org/drawingml/2006/main">
              <a:ext uri="{FF2B5EF4-FFF2-40B4-BE49-F238E27FC236}">
                <a16:creationId xmlns:a16="http://schemas.microsoft.com/office/drawing/2014/main" id="{C04DE803-70A5-4857-9356-1E47C1773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786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C3D2EE5D-1F94-427F-B096-175D93AEC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101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Refactor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97AAE55E-D8AD-4353-AEB4-577524CFC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642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сигнал</a:t>
            </a:r>
          </a:p>
        </p:txBody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410B0D13-8803-4B3A-9ADF-91D69A5B7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149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27" name="Rounded Rectangle 26">
            <a:extLst xmlns:a="http://schemas.openxmlformats.org/drawingml/2006/main">
              <a:ext uri="{FF2B5EF4-FFF2-40B4-BE49-F238E27FC236}">
                <a16:creationId xmlns:a16="http://schemas.microsoft.com/office/drawing/2014/main" id="{E9046163-07E5-4D26-B94B-34B00BCE0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0673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E143D482-9F23-4164-9692-251813662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0292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E77646A3-FE40-48D1-B02F-AF63A0E8B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2768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Назив теста описује понашање које тест штити.</a:t>
            </a:r>
          </a:p>
        </p:txBody>
      </p:sp>
    </p:spTree>
    <p:extLst>
      <p:ext uri="{BB962C8B-B14F-4D97-AF65-F5344CB8AC3E}">
        <p14:creationId xmlns:p14="http://schemas.microsoft.com/office/powerpoint/2010/main" val="40939715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553FABB-AC04-4A9E-B361-462C4BB1E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8593A57-059B-472E-A575-ABD4D381B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C6CD779A-AFBC-424C-BF71-D431EA580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A7E5356-33BA-49F6-AA3B-0E3DC9274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Негативни сценарио из критеријума прихватања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8673C88-9E37-40C2-ACCE-CD254770A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Тест проверава понашање система, а не приватне детаље имплементације.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4CA04554-B0F4-4447-9B0B-B1CDDEBA9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03120"/>
            <a:ext cx="5715000" cy="3026531"/>
          </a:xfrm>
          <a:prstGeom xmlns:a="http://schemas.openxmlformats.org/drawingml/2006/main" prst="roundRect">
            <a:avLst>
              <a:gd name="adj" fmla="val 314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5F6D72DF-97E3-42DF-BDAD-687A929FC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50592"/>
            <a:ext cx="57150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EBB885A2-4336-4166-9EEB-049483F53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221992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6AF284C0-471D-4AEF-AF2D-27B9F56BB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1304" y="2221992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D1A0A89E-EF6F-4E5D-AF59-64833B96A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608" y="2221992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3A88B6C-5E9B-4056-8C3D-5DA9643C8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9370"/>
            <a:ext cx="5448300" cy="34204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Test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]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void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Reserve_WhenPeriodOverlaps_ReturnsConflict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()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repository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Mock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IReservationRepository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&gt;();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5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repository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Setup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r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=&gt;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r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HasOverlap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It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IsAny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Guid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&gt;(),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It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6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IsAny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DateTime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&gt;(),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It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IsAny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DateTime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&gt;()))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     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Returns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true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8  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9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32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result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service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Reserve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TestRequests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10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ValidFutureReservation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());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11  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12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Assert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That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Success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Is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False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13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Assert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That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Error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Is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EqualTo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32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</a:t>
            </a:r>
            <a:r>
              <a:rPr sz="1032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OverlappingReservat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14  </a:t>
            </a:r>
            <a:r>
              <a:rPr sz="1032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ion</a:t>
            </a:r>
            <a:r>
              <a:rPr sz="1032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32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15  </a:t>
            </a:r>
            <a:r>
              <a:rPr sz="1032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1DC4202B-F866-47D3-8D67-2D44C895D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240280"/>
            <a:ext cx="384048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НАПОМЕНЕ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183A81AD-254B-4910-8B69-0A764748A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578608"/>
            <a:ext cx="388620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Arrange припрема контролисаног сарадника.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Act извршава једну релевантну операцију.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Assert проверава посматрани исход.</a:t>
            </a:r>
          </a:p>
        </p:txBody>
      </p:sp>
    </p:spTree>
    <p:extLst>
      <p:ext uri="{BB962C8B-B14F-4D97-AF65-F5344CB8AC3E}">
        <p14:creationId xmlns:p14="http://schemas.microsoft.com/office/powerpoint/2010/main" val="71604199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7F09FC5-97CA-4B8C-A180-AECB62E08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AE52101-D7DA-4A43-AC11-734408722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8BA0E25-8FE7-468A-950A-F13400758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21E0B62-28C1-444F-8CF1-D515B62BF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Улога test double објеката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AE69F05-E194-4D0E-904A-941943D55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Test double се користи за изолацију конкретне спољне зависности.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78BEA7A-CA58-486D-9688-5CB690B37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Мали value object или доменска класа чије понашање је предмет теста најчешће треба да буде стварни објекат, не mock.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A279109E-796F-4882-8139-B253CE907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462174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68DD9C1B-88A2-4875-B75D-0B9E8D5BF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FCD5D823-7EDE-4371-A855-BC267A575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D557DC17-7FD2-46BC-A4BF-35C155C43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B6F2A0E9-FD1E-4068-BAC1-C6CD04CE7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2856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Mock објекти су оправдани на променљивим спољним границама: репозиторијум, HTTP клијент, време и случајност.</a:t>
            </a:r>
          </a:p>
        </p:txBody>
      </p:sp>
    </p:spTree>
    <p:extLst>
      <p:ext uri="{BB962C8B-B14F-4D97-AF65-F5344CB8AC3E}">
        <p14:creationId xmlns:p14="http://schemas.microsoft.com/office/powerpoint/2010/main" val="2317347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480B8A5-48A9-4C4C-872E-D4C7BF27D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43BC400-5355-4E6B-A3F4-9243CA93B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E9578EF-C88C-453C-8577-B40043A23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7E325F6-AE04-4E77-9208-C7C7C3B2B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Критеријуми за употребу mock објеката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C051810-2C5F-4EAB-A126-57ABA174C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Mock објекат контролише променљиву спољну зависност чија имплементација није предмет теста.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C5B94E9C-E6FA-499D-B990-EEBDA6878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0280"/>
            <a:ext cx="2518161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70C99913-DA0C-419B-92C2-82F13179B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2306955"/>
            <a:ext cx="2324456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Ситуација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017725A6-8D83-4232-A84C-E2F2F2F3A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2240280"/>
            <a:ext cx="7845039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B137684-B4CC-41E1-8700-197F4062A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2306955"/>
            <a:ext cx="7651334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Одлука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AC3067C2-D92F-482F-81AB-6D317B39F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97480"/>
            <a:ext cx="2518161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80A542B-94C1-4DAD-AFAF-8095BE954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2764155"/>
            <a:ext cx="2276030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Repository или HTTP клијент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3458C582-3AB9-42AA-A0A6-3D605C9F8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2697480"/>
            <a:ext cx="7845039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C00F84C9-B3F5-4966-8B17-30A841D9B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2764155"/>
            <a:ext cx="7602908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mock контролише повратну вредност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0CB3BC84-5886-4D9E-9BAF-174441F54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07080"/>
            <a:ext cx="2518161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00112235-CAD5-4373-8E48-427898BD4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3373755"/>
            <a:ext cx="2276030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IClock или generator ID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17C78DF4-07EF-45E0-9C4A-BD52C2B9F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3307080"/>
            <a:ext cx="7845039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984CFA8A-E84D-46F5-B1DF-319D65E90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3373755"/>
            <a:ext cx="7602908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mock обезбеђује детерминизам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E1DDA927-409C-49BE-8705-0BD2C266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16680"/>
            <a:ext cx="2518161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91773309-8436-4C52-8040-BA05BB54D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3983355"/>
            <a:ext cx="2276030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Мали value object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0AA5C5C0-D99D-486C-9ACC-DC769529B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3916680"/>
            <a:ext cx="7845039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7A9D83B-45D6-488D-B465-E4BF71BF1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3983355"/>
            <a:ext cx="7602908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користити стварни објекат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B0297502-5FF8-44E4-AB56-BD78EE218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26280"/>
            <a:ext cx="2518161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9BACFC68-3792-4984-A7CE-0F05C6398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4592955"/>
            <a:ext cx="2276030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Доменска класа која се тестира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6732EF49-51C4-4B09-B253-30B6E157B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4526280"/>
            <a:ext cx="7845039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A6E6FD30-DCA4-4624-A136-909B0A99D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4592955"/>
            <a:ext cx="7602908" cy="5048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не mock-овати предмет теста</a:t>
            </a:r>
          </a:p>
        </p:txBody>
      </p:sp>
    </p:spTree>
    <p:extLst>
      <p:ext uri="{BB962C8B-B14F-4D97-AF65-F5344CB8AC3E}">
        <p14:creationId xmlns:p14="http://schemas.microsoft.com/office/powerpoint/2010/main" val="101975505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AACDD61-9B3C-4FBE-A336-CCC1A8A92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C83C3D4-1867-4652-8B27-7076B685B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EF0626F-26ED-46A8-8FCF-7E5249F06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719552E-19C4-44F4-A231-C633EFD08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Moq: Setup и Verify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A15774A-5CDB-4AC6-B2F7-977380554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Setup контролише сарадника, а Verify проверава значајну интеракцију.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679D3510-85BE-4243-9446-79E5A3AF4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11857"/>
            <a:ext cx="5715000" cy="1947885"/>
          </a:xfrm>
          <a:prstGeom xmlns:a="http://schemas.openxmlformats.org/drawingml/2006/main" prst="roundRect">
            <a:avLst>
              <a:gd name="adj" fmla="val 4890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18B4CA81-50C6-4D1E-BF3A-22030A557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59329"/>
            <a:ext cx="57150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EB281133-286B-4E77-8C3F-362EA3BFC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4669" y="26309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B8DE9087-8539-463B-B102-9728CC42F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9259" y="26309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26B4259E-D864-4FAC-84A9-0CDA50422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3848" y="26309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A69624E3-5C4E-4D7A-B5B1-F8276ED1F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88107"/>
            <a:ext cx="5448300" cy="2228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repository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Mock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IReservationRepository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&gt;();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repository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Setup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r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=&gt;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r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FindById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reservationId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))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   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Returns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existingReservation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4  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5 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result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service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Cancel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reservationId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6  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repository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Verify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r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=&gt;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r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Save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existingReservation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),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Times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Once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8F6B07B6-82DC-4B67-8477-A2DB0DE3A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240280"/>
            <a:ext cx="384048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НАПОМЕНЕ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8AD60265-8F66-472F-962D-351DF86E5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578608"/>
            <a:ext cx="388620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Verify је оправдан када је интеракција део понашања.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Превише Verify провера прави крхак тест.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Не проверавати сваки интерни позив без потребе.</a:t>
            </a:r>
          </a:p>
        </p:txBody>
      </p:sp>
    </p:spTree>
    <p:extLst>
      <p:ext uri="{BB962C8B-B14F-4D97-AF65-F5344CB8AC3E}">
        <p14:creationId xmlns:p14="http://schemas.microsoft.com/office/powerpoint/2010/main" val="5589798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099C1A9-80C4-4733-80DC-A5A1EB8DC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E5720F26-4F43-44CA-9002-E95DEBD2A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00B2129-231F-4701-8FAB-EA76B4F24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90D42E9-78F7-48C2-BA6A-5CB296D7D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Извођење тест сценарија из правила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1579844-BE2E-4A21-A46B-99EDB4344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Тестови са највећом вредношћу покривају пословне ризике и граничне услове.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7D3760DC-8C7B-423C-AFCE-343CB4CC3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8280" y="2560320"/>
            <a:ext cx="2834640" cy="1828800"/>
          </a:xfrm>
          <a:prstGeom xmlns:a="http://schemas.openxmlformats.org/drawingml/2006/main" prst="roundRect">
            <a:avLst>
              <a:gd name="adj" fmla="val 5208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70D8DCF-D247-4A2E-BFE4-0503FCE4F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872" y="2761488"/>
            <a:ext cx="73152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5617A4B-D570-471A-B8AC-F96B85BF8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872" y="3063240"/>
            <a:ext cx="233172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Успешан ток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7C9E9E55-5707-430C-ADC4-4A196DAE7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872" y="3703320"/>
            <a:ext cx="2331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валидни подаци и очекиван резултат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870E0A0-CCD2-465C-A0FC-F523081FA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8680" y="2560320"/>
            <a:ext cx="2834640" cy="1828800"/>
          </a:xfrm>
          <a:prstGeom xmlns:a="http://schemas.openxmlformats.org/drawingml/2006/main" prst="roundRect">
            <a:avLst>
              <a:gd name="adj" fmla="val 5208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6A45594-C387-48CD-AC09-77168F2E5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3272" y="2761488"/>
            <a:ext cx="73152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346567B-A1BE-4BE3-934A-3CE8200D0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3272" y="3063240"/>
            <a:ext cx="233172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Негативни ток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D683917F-D6DE-4824-88FE-153FBA9B2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3272" y="3703320"/>
            <a:ext cx="2331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очекивано одбијање захтева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3A1C0D20-6DE3-4227-BA8A-386CEB210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9080" y="2560320"/>
            <a:ext cx="2834640" cy="1828800"/>
          </a:xfrm>
          <a:prstGeom xmlns:a="http://schemas.openxmlformats.org/drawingml/2006/main" prst="roundRect">
            <a:avLst>
              <a:gd name="adj" fmla="val 5208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187E3FD5-14F5-45D0-8247-B377D1ADE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3672" y="2761488"/>
            <a:ext cx="73152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EC4A8CDF-9B77-4DB7-B7B3-9F249A0C3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3672" y="3063240"/>
            <a:ext cx="233172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Гранични случај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10C11067-FFB5-4416-B526-470A878EC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3672" y="3703320"/>
            <a:ext cx="2331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вредност која мења понашање</a:t>
            </a:r>
          </a:p>
        </p:txBody>
      </p:sp>
    </p:spTree>
    <p:extLst>
      <p:ext uri="{BB962C8B-B14F-4D97-AF65-F5344CB8AC3E}">
        <p14:creationId xmlns:p14="http://schemas.microsoft.com/office/powerpoint/2010/main" val="18335217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1A7AC71-B6E1-4491-93C8-56D7BCCCE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93C887C-DB46-49CB-9CB8-3CC388579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AAFDC1B-842A-40A4-876F-A89D5F40E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2929EA6-EEC1-4408-B911-C24DF13F4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План тестирања резервисања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9D7A72D-D067-4DDE-96E8-220E1828C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План наводи сценарио, очекивани исход и потребне зависности.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EB510578-5D1A-4E1B-BE8F-9DD950C86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0280"/>
            <a:ext cx="2518161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C7E8633A-CE07-48EC-B4D4-162844CCD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2306955"/>
            <a:ext cx="2324456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Врста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B3275A46-54AA-4982-8135-9ADB75D60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2240280"/>
            <a:ext cx="7845039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D266641-BC9B-4754-A986-A3AFABF71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2306955"/>
            <a:ext cx="7651334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Пример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C2BC6806-F760-4ADE-93DA-076B65EAD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97480"/>
            <a:ext cx="2518161" cy="584454"/>
          </a:xfrm>
          <a:prstGeom xmlns:a="http://schemas.openxmlformats.org/drawingml/2006/main" prst="roundRect">
            <a:avLst>
              <a:gd name="adj" fmla="val 1629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7A2D754A-8C87-44F4-816A-9FE4A6787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2764155"/>
            <a:ext cx="2276030" cy="4796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Успешан сценарио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BF01D325-CFAE-4C8D-9AC9-4A02E71ED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2697480"/>
            <a:ext cx="7845039" cy="584454"/>
          </a:xfrm>
          <a:prstGeom xmlns:a="http://schemas.openxmlformats.org/drawingml/2006/main" prst="roundRect">
            <a:avLst>
              <a:gd name="adj" fmla="val 1629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646F9DC3-FCDD-470F-9707-0172A2FF1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2764155"/>
            <a:ext cx="7602908" cy="4796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опрема је слободна, корисник овлашћен, термин валидан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E948380F-F26C-44F9-A8FA-B3595F08F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81934"/>
            <a:ext cx="2518161" cy="584454"/>
          </a:xfrm>
          <a:prstGeom xmlns:a="http://schemas.openxmlformats.org/drawingml/2006/main" prst="roundRect">
            <a:avLst>
              <a:gd name="adj" fmla="val 1629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2C35AC2D-8672-4FE0-9794-235B1EBD7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3348609"/>
            <a:ext cx="2276030" cy="4796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Негативни сценарио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7B49D624-93EF-4BFC-823C-60815D2CD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3281934"/>
            <a:ext cx="7845039" cy="584454"/>
          </a:xfrm>
          <a:prstGeom xmlns:a="http://schemas.openxmlformats.org/drawingml/2006/main" prst="roundRect">
            <a:avLst>
              <a:gd name="adj" fmla="val 1629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7FC546C1-11C0-46A9-9B5C-633C1E88D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3348609"/>
            <a:ext cx="7602908" cy="4796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термин се преклапа са постојећом резервацијом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D576C05F-7570-477D-9D05-59F753D9E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66388"/>
            <a:ext cx="2518161" cy="584454"/>
          </a:xfrm>
          <a:prstGeom xmlns:a="http://schemas.openxmlformats.org/drawingml/2006/main" prst="roundRect">
            <a:avLst>
              <a:gd name="adj" fmla="val 1629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A33DF27D-3209-4FBE-B999-1512303A3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3933063"/>
            <a:ext cx="2276030" cy="4796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Негативни сценарио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23066CEA-C9D9-4196-B331-AA0A50FE9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3866388"/>
            <a:ext cx="7845039" cy="584454"/>
          </a:xfrm>
          <a:prstGeom xmlns:a="http://schemas.openxmlformats.org/drawingml/2006/main" prst="roundRect">
            <a:avLst>
              <a:gd name="adj" fmla="val 1629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A9F14388-B87D-49B3-BC2C-FB5FE5F27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3933063"/>
            <a:ext cx="7602908" cy="4796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опрема је неактивна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BAE4F44D-A5C8-411F-8F98-BEEBBBB60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50842"/>
            <a:ext cx="2518161" cy="584454"/>
          </a:xfrm>
          <a:prstGeom xmlns:a="http://schemas.openxmlformats.org/drawingml/2006/main" prst="roundRect">
            <a:avLst>
              <a:gd name="adj" fmla="val 1629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B7A973F0-04CE-430C-8658-F591F09B3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4517517"/>
            <a:ext cx="2276030" cy="4796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Гранични сценарио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4BE2424E-A4E6-42DA-8483-B8BD623E4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4450842"/>
            <a:ext cx="7845039" cy="584454"/>
          </a:xfrm>
          <a:prstGeom xmlns:a="http://schemas.openxmlformats.org/drawingml/2006/main" prst="roundRect">
            <a:avLst>
              <a:gd name="adj" fmla="val 1629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C0E07290-B8DB-47BB-AF61-82E503314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4517517"/>
            <a:ext cx="7602908" cy="4796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нови термин почиње тачно када се претходни завршава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EB62D720-3B25-4789-8F36-C2AC37177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35296"/>
            <a:ext cx="2518161" cy="584454"/>
          </a:xfrm>
          <a:prstGeom xmlns:a="http://schemas.openxmlformats.org/drawingml/2006/main" prst="roundRect">
            <a:avLst>
              <a:gd name="adj" fmla="val 1629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F17DC0C4-A9D8-4132-903A-0EF892BDF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5101971"/>
            <a:ext cx="2276030" cy="4796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Инфраструктурни квар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3F500125-9270-493F-AF84-7A46757B2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5035296"/>
            <a:ext cx="7845039" cy="584454"/>
          </a:xfrm>
          <a:prstGeom xmlns:a="http://schemas.openxmlformats.org/drawingml/2006/main" prst="roundRect">
            <a:avLst>
              <a:gd name="adj" fmla="val 1629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FAC88B34-9512-4749-B6DF-5D3FD4097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5101971"/>
            <a:ext cx="7602908" cy="4796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repository пријављује грешку</a:t>
            </a:r>
          </a:p>
        </p:txBody>
      </p:sp>
    </p:spTree>
    <p:extLst>
      <p:ext uri="{BB962C8B-B14F-4D97-AF65-F5344CB8AC3E}">
        <p14:creationId xmlns:p14="http://schemas.microsoft.com/office/powerpoint/2010/main" val="198908082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8A650B4-5858-401E-923F-1D62A7188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3C65157-C2AF-4569-9EB4-12BE338DC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586458A-F2F9-4289-A458-90424798F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798DC8E-B4C7-49BA-93BD-31CCCFD37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Покретање тестова и анализа покривености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60EE61F-EADA-45EA-8E28-ECF64AF4C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Покривеност кода показује извршене гране и служи као дијагностички сигнал.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61AFF7C8-D5C4-47B1-9E45-E608A6237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78608"/>
            <a:ext cx="5715000" cy="1405624"/>
          </a:xfrm>
          <a:prstGeom xmlns:a="http://schemas.openxmlformats.org/drawingml/2006/main" prst="roundRect">
            <a:avLst>
              <a:gd name="adj" fmla="val 677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07D6365B-C723-49B3-B15F-32AC6689F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26080"/>
            <a:ext cx="57150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64518C4F-749F-4080-BF74-8737BBDB4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69748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C093FA5A-9994-4FB8-8998-5205D572C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1304" y="269748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E099061A-6DD7-4321-99C9-81DE8D9EC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608" y="269748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89632BF-7414-4498-B3AF-E33634D6D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54858"/>
            <a:ext cx="5448300" cy="2228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dotnet test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125">
                <a:solidFill>
                  <a:srgbClr val="55845A"/>
                </a:solidFill>
                <a:latin typeface="Consolas"/>
                <a:ea typeface="Consolas"/>
                <a:cs typeface="Consolas"/>
              </a:rPr>
              <a:t># ако је collector подешен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dotnet test 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--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collect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:</a:t>
            </a:r>
            <a:r>
              <a:rPr sz="1125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"XPlat Code Coverage"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E6F80A84-58B9-457C-950B-B03939B4E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240280"/>
            <a:ext cx="384048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НАПОМЕНЕ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A5A6495-6415-4AB5-A300-3A27745BB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578608"/>
            <a:ext cx="388620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Најпре дефинисати пословно важне сценарије.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Coverage користити као дијагностички сигнал.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Висок проценат не доказује одсуство грешака.</a:t>
            </a:r>
          </a:p>
        </p:txBody>
      </p:sp>
    </p:spTree>
    <p:extLst>
      <p:ext uri="{BB962C8B-B14F-4D97-AF65-F5344CB8AC3E}">
        <p14:creationId xmlns:p14="http://schemas.microsoft.com/office/powerpoint/2010/main" val="102904332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8F8B397-5E38-4BC5-B3FB-22DBADAD7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28DD3D0-3CB0-4570-9489-7207F4CC5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5377143-D067-4774-90FF-9A9F662A6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6CD6337-CD1B-4E0E-A6A0-8121E303A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Ограничења показатеља покривености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B7612AA-0C36-42CC-851D-28AC94626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2891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Проценат покривености не замењује анализу пословног ризика и квалитета теста.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03F2256-4774-4FF8-A584-7489AA438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Питање није „колики је проценат”, већ који непокривени део носи највећи ризик и који тест би дао највише нових информација.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0E516154-9FB8-4263-BE0C-34C6D1157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430276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DFD38598-AA86-4322-AEE5-9F944294C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197A60A0-A841-4755-8DA4-ABDA9AF6C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FB9957AD-AFFC-4A80-864B-2B442C41C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C0C2B70B-F1E0-4504-8184-FF9270842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Извештај о покривености служи за идентификацију непроверених ризика.</a:t>
            </a:r>
          </a:p>
        </p:txBody>
      </p:sp>
    </p:spTree>
    <p:extLst>
      <p:ext uri="{BB962C8B-B14F-4D97-AF65-F5344CB8AC3E}">
        <p14:creationId xmlns:p14="http://schemas.microsoft.com/office/powerpoint/2010/main" val="31555576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61E5573-0EBA-4843-BE65-92CFDE332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06A306A-546B-42EC-B6A0-0B8C0548C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804DE59-DF5B-4371-8471-1874EBDB4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7D84BA5-FACE-44D5-9853-0CC17A1D6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Анализа извештаја о покривености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58502D3-D0A1-42FD-9B3A-14006BB2D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Извештај служи за идентификацију непроверених грана и ризика.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90164F2E-4C5E-40EF-BD0D-BF31AE827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0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0132ACC-57D2-4FF2-A611-A363267DF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33625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86B6E16-1718-4270-9BC8-5E3036AF6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59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Условне гране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D2C1B30-32DA-4D9E-BC3C-6C6B64F76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95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да ли су оба исхода проверена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41CE324-E554-4636-9BAD-042B6E217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0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5EF175E-84FE-4473-A82E-7387ADE60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33625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FF8BA4CC-D563-47B9-BF02-05A67D8E4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9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Обрада грешака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4065C61B-724E-48C7-874B-A6D4B3E0D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5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да ли грешка не постаје лажни успех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CDB4A205-5ECB-49D7-8BEA-9BC1B12DF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7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B7673DE9-DC08-46F3-955D-3AEA22224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095750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3BC0C213-3728-4D64-9585-877F4EB95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5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Критично стање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E1E8C6B2-36C4-414D-88BC-E78B33A8D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71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новац, дозволе, резервације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E76AD062-9CA8-45D9-B062-CB9682F0A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97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C29D507-778F-478C-B1BB-AF8BC03C5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95750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EB217793-4DAC-4B6F-80D2-8652F3BD3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35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Непокривен ризик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FB5AA79F-4F82-4E75-BE9D-1B330E436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1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образложити или покрити тестом</a:t>
            </a:r>
          </a:p>
        </p:txBody>
      </p:sp>
    </p:spTree>
    <p:extLst>
      <p:ext uri="{BB962C8B-B14F-4D97-AF65-F5344CB8AC3E}">
        <p14:creationId xmlns:p14="http://schemas.microsoft.com/office/powerpoint/2010/main" val="20770874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C43966A-297C-4B14-8FC7-1D66B6D16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0252E25-2F24-446F-B081-147F24920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7F53E3F-75BC-4937-8C37-6A5CD7249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3111C907-36B9-4005-87B3-F05CF5B04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Контролна тачка P3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C32FB9B-4E1B-4CC7-AE5D-5A4FB5268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До ове тачке функционално језгро мора бити ручно разумљиво и тестирано.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673544C-2264-4177-8D31-F5173B29E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31720"/>
            <a:ext cx="3429000" cy="266639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manual-core-baseline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CAFC458-AC96-4AFE-9543-F41E5BD76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1520" y="2514600"/>
            <a:ext cx="53035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стабилна верзија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5398A18-9DFA-45C6-8FC3-7F913A1FC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1520" y="3246120"/>
            <a:ext cx="594360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P3 је после Вежбе 6, недеља од 23.11. После ње AI добија већу улогу, али систем већ има структуру и тестове за независну проверу.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C6E8804E-D0B4-4387-82E5-35A9AE3DC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1520" y="4389120"/>
            <a:ext cx="4937760" cy="128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503557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D546BC5-34AA-4D77-A9A2-C9A489CA4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C83E573D-DED2-48E3-A2F8-76C0B4A35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3F07035-9720-41C1-882D-FB23FB468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165BBD8-4402-4E79-8C7E-5B7389CA4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P3: manual-core-baseline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F790D67-4B8E-4BFA-99A7-DA3908D48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2891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Контролна тачка раздваја ручно пројектовано језгро од почетка AI фазе.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E3022CC-0A74-46F7-B0B6-D4ED52930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2402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CE3F4248-5E2D-4346-89C4-D278184F5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240280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Кључни use-case-ови имају тестове за успешне и негативне сценарије.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69CB434-EA11-439A-862E-6EC1B0700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807208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C69A030-A450-4730-B6AB-17CEAD238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80720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Coverage је прегледан и ризична грана је покривена или образложена.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25F4D517-6988-42E7-8C76-0E07E4962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374136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90DA9F8-E588-406E-BE31-823A669F5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374136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Најмање један bug је прво репродукован тестом.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5A35F05-84E6-4C37-ACA5-FA8C37771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94106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0960B7D5-3F07-4C1D-B1C1-1808C09F8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941064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Стабилна верзија језгра означена је Git tag-ом manual-core-baseline.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AF7E2510-0FB2-4868-9538-2AB7F0664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07992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0DB837D0-8CE2-4960-A88D-C69EC2A8F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507992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Термин: недеља од 23.11., после Вежбе 6.</a:t>
            </a:r>
          </a:p>
        </p:txBody>
      </p:sp>
    </p:spTree>
    <p:extLst>
      <p:ext uri="{BB962C8B-B14F-4D97-AF65-F5344CB8AC3E}">
        <p14:creationId xmlns:p14="http://schemas.microsoft.com/office/powerpoint/2010/main" val="47260701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2C9AD5B-61B7-4A81-9A2D-47ACC7D64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215B24C-1A58-46F5-9DBE-241AE5E9C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9D2CD8B-1D94-4BDA-AE88-3C438963E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5A0AEEE1-6D4B-4467-879D-5E8AC76B1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Стабилност теста при рефакторисању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7E416AC-92C6-49EA-8F01-DF3DF2FA4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7835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Тест треба да остане стабилан када се мења приватна имплементација без промене понашања.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84D714B-9DCB-4657-87EE-BB3BE5F71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31720"/>
            <a:ext cx="47625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ТЕСТИРАТИ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5281132-1A7B-47B4-8C74-0584AA9E0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97480"/>
            <a:ext cx="4762500" cy="2926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видљиви резултат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стабилан код неуспеха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значајну интеракцију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гранично понашање</a:t>
            </a:r>
          </a:p>
        </p:txBody>
      </p:sp>
      <p:sp>
        <p:nvSpPr>
          <p:cNvPr id="9" name="Connector 8">
            <a:extLst xmlns:a="http://schemas.openxmlformats.org/drawingml/2006/main">
              <a:ext uri="{FF2B5EF4-FFF2-40B4-BE49-F238E27FC236}">
                <a16:creationId xmlns:a16="http://schemas.microsoft.com/office/drawing/2014/main" id="{8E71942F-F8B4-467F-91B0-0CE88674B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31720"/>
            <a:ext cx="0" cy="320040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tx1"/>
          </a:fontRef>
        </p:style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714B449E-8058-4AD9-87F0-3FBB961B7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1720"/>
            <a:ext cx="47625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НЕ ВЕЗИВАТИ СЕ ЗА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EE52D8B-53B2-48CC-8984-5DA641B22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97480"/>
            <a:ext cx="4762500" cy="2926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приватну методу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редослед непотребних позива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тренутну структуру петље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тривијалне setter-е</a:t>
            </a:r>
          </a:p>
        </p:txBody>
      </p:sp>
    </p:spTree>
    <p:extLst>
      <p:ext uri="{BB962C8B-B14F-4D97-AF65-F5344CB8AC3E}">
        <p14:creationId xmlns:p14="http://schemas.microsoft.com/office/powerpoint/2010/main" val="187355644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DFA5E45-34CC-4F92-968F-6BD47ABA4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AA81113-E8BE-4473-802A-4334AC294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B2779E89-4AD6-40DC-8AFE-77B5ACD59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8BA37A4-A9ED-4070-9846-6FAF65CF4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Тест за репродукцију грешке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AC53917-3B5E-4C91-9325-B941177AF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Тест прво репродукује проблем, а затим потврђује исправку и спречава регресију.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BDFCC1AA-96F3-4ED3-9607-5990E11E4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8280" y="2560320"/>
            <a:ext cx="2834640" cy="1828800"/>
          </a:xfrm>
          <a:prstGeom xmlns:a="http://schemas.openxmlformats.org/drawingml/2006/main" prst="roundRect">
            <a:avLst>
              <a:gd name="adj" fmla="val 5208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FE3B7D0-8A51-4A68-AE77-B1B8C0257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872" y="2761488"/>
            <a:ext cx="73152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AB18AE9-4E66-4772-BC65-BBC2501DE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872" y="3063240"/>
            <a:ext cx="233172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Reproduce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7AD70D5-59EA-4ADC-A44B-A411B4963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872" y="3703320"/>
            <a:ext cx="2331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тест показује тренутни bug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BC788DA4-3821-4142-80FB-CB7A63F24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8680" y="2560320"/>
            <a:ext cx="2834640" cy="1828800"/>
          </a:xfrm>
          <a:prstGeom xmlns:a="http://schemas.openxmlformats.org/drawingml/2006/main" prst="roundRect">
            <a:avLst>
              <a:gd name="adj" fmla="val 5208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F0620DE-2FAD-488C-B5C9-D9CD4BBBC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3272" y="2761488"/>
            <a:ext cx="73152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31F74400-8DB8-4D20-B175-7614DD9EC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3272" y="3063240"/>
            <a:ext cx="233172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Fix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FE2382FA-A073-456B-A909-7BE059EED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3272" y="3703320"/>
            <a:ext cx="2331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минимална измена понашања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635D92C6-1255-4FB0-9B05-0A7B72C5F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9080" y="2560320"/>
            <a:ext cx="2834640" cy="1828800"/>
          </a:xfrm>
          <a:prstGeom xmlns:a="http://schemas.openxmlformats.org/drawingml/2006/main" prst="roundRect">
            <a:avLst>
              <a:gd name="adj" fmla="val 5208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5CD9B10A-ED4A-4623-AE78-D9B0EBB56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3672" y="2761488"/>
            <a:ext cx="73152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DC7F806C-A52E-4DF0-8917-8285D9DA5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3672" y="3063240"/>
            <a:ext cx="233172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Protect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C373F22E-26F2-4F92-811B-44972BB08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3672" y="3703320"/>
            <a:ext cx="2331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тест остаје као регресиона заштита</a:t>
            </a:r>
          </a:p>
        </p:txBody>
      </p:sp>
    </p:spTree>
    <p:extLst>
      <p:ext uri="{BB962C8B-B14F-4D97-AF65-F5344CB8AC3E}">
        <p14:creationId xmlns:p14="http://schemas.microsoft.com/office/powerpoint/2010/main" val="204303438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6A7C7CD-824D-4E78-95AF-A809DA434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C5CDB758-E1DD-412D-9F5D-E08E21888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A6EE245-E5EE-4117-8196-B4ABD41E8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D8A5CD2-3FAF-4A17-87C8-DC8FBEB35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3963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Самостални задатак: AI предлог тест сценарија</a:t>
            </a:r>
            <a:endParaRPr sz="2550" b="1">
              <a:solidFill>
                <a:srgbClr val="1B202B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5B69777-1D3B-42BD-A3AC-D11363E3C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AI може предложити сценарије, а тим бира релевантне тестове и образлаже избор.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3DFB40E0-6503-4B37-A1B4-BE9376D8C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78608"/>
            <a:ext cx="5715000" cy="1325880"/>
          </a:xfrm>
          <a:prstGeom xmlns:a="http://schemas.openxmlformats.org/drawingml/2006/main" prst="roundRect">
            <a:avLst>
              <a:gd name="adj" fmla="val 7184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B5A9CC08-A3E2-4228-820B-7C025F613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26080"/>
            <a:ext cx="57150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9CACAF32-E6EE-40ED-AD10-68B69F522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69748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8A87E637-F7DE-4C93-B323-E5D329287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1304" y="269748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8E4FB38A-8F19-47E4-9FCD-2D6282BD3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608" y="269748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CF3264C9-AD2F-47E6-8E5D-13E5CE654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54858"/>
            <a:ext cx="5448300" cy="2228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125">
                <a:solidFill>
                  <a:srgbClr val="55845A"/>
                </a:solidFill>
                <a:latin typeface="Consolas"/>
                <a:ea typeface="Consolas"/>
                <a:cs typeface="Consolas"/>
              </a:rPr>
              <a:t># Задатак за AI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125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П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редложи недостајуће тест сценарије за овај use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125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case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125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Н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е мењај код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125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О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бразложи пословни ризик сваког предлога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1E6314D7-FA87-4E27-BA89-593E7E2E4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240280"/>
            <a:ext cx="384048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НАПОМЕНЕ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450A6081-207F-4E92-AAF7-E54D75966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578608"/>
            <a:ext cx="388620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Први бод: нови смислен гранични тест.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Други бод: образложење прихватања или одбијања предлога.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Одговорност остаје код студента.</a:t>
            </a:r>
          </a:p>
        </p:txBody>
      </p:sp>
    </p:spTree>
    <p:extLst>
      <p:ext uri="{BB962C8B-B14F-4D97-AF65-F5344CB8AC3E}">
        <p14:creationId xmlns:p14="http://schemas.microsoft.com/office/powerpoint/2010/main" val="625741414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BA0B592-96B6-4CB5-8E8D-E64A3F10C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5CA167C5-CDCD-4ED5-B2D3-FBBD99A6B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30527B2-5BBD-47DA-A5D1-AA62EF0A3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DBF69F0-960E-47C0-9A53-E3D1D8DDE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Резиме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42B4835-2348-4FAA-9873-51E24EC95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7835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Добре архитектонске границе омогућавају кратке и стабилне тестове усмерене на пословно понашање.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72D2C31-A931-4932-AFCC-DDE9D066B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Када су границе система добре, тестови постају краћи, јаснији и ближи пословном понашању које студент треба да одбрани.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DEF2E406-84AA-4719-9625-99A1470F6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520652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8BA0DCD4-C2AB-41AB-A73E-45C8962B2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1467E8C3-5F8E-43A4-8910-22EBAECE1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E08CA61A-346D-417E-BA57-B54B3B20F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D607859C-D922-4674-B660-DBF938479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Ови резултати су основа за интеграцију и контролисан AI радни ток.</a:t>
            </a:r>
          </a:p>
        </p:txBody>
      </p:sp>
    </p:spTree>
    <p:extLst>
      <p:ext uri="{BB962C8B-B14F-4D97-AF65-F5344CB8AC3E}">
        <p14:creationId xmlns:p14="http://schemas.microsoft.com/office/powerpoint/2010/main" val="804675814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0716F3A-2E79-4EED-9498-F1D1C4014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7DAA4F6-9543-4ABF-B414-F1569AB98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A8887E9-3459-428F-93B5-15BC5E1FF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5100FA46-E218-43DE-889C-AFF57D950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Припрема за интеграцију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21D89E9-99A7-4874-9469-5AD7FE3F8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Припремити стабилно функционално језгро и тестове за интеграцију модула.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C835815-97F8-485B-A9D0-10831A4A3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2402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06C60FE-7AF1-4D09-A9A1-6264CB14F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240280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Написати план тестирања за један use-case пре тест кода.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F47353B-F32D-480D-AD67-A74A60AD2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807208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BCD98E8-E115-4FDD-9DD9-BE6131EC6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80720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Додати успешне, негативне и граничне NUnit тестове.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38F5A52C-A9BA-438F-9127-4CF8843AA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374136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EE6CD271-3CDB-4C27-BF32-C91F36673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374136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Mock користити само на јасним спољним границама.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C43467B-6B4B-4B82-972D-ED2EF243D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94106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53B085AF-3302-41A7-A9E1-C4602F037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941064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Покренути coverage и анализирати једну ризичну грану.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E91661B-3361-494B-8A0A-12A69EE01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07992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E67FD66F-D141-4A51-98BD-64C454F38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507992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Означити стабилну верзију језгра када је спремна.</a:t>
            </a:r>
          </a:p>
        </p:txBody>
      </p:sp>
    </p:spTree>
    <p:extLst>
      <p:ext uri="{BB962C8B-B14F-4D97-AF65-F5344CB8AC3E}">
        <p14:creationId xmlns:p14="http://schemas.microsoft.com/office/powerpoint/2010/main" val="297477173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2026-09-29T18:47:07.4980000Z</dcterms:created>
  <dcterms:modified xsi:type="dcterms:W3CDTF">2026-09-29T18:47:07.4980000Z</dcterms:modified>
</coreProperties>
</file>