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2849cee868b4feb" /><Relationship Type="http://schemas.openxmlformats.org/officeDocument/2006/relationships/extended-properties" Target="/docProps/app.xml" Id="R31b005d17a5f42c8" /><Relationship Type="http://schemas.openxmlformats.org/officeDocument/2006/relationships/officeDocument" Target="/ppt/presentation.xml" Id="R90827dc2a8024c4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0742bc4eada486b"/>
  </p:sldMasterIdLst>
  <p:notesMasterIdLst>
    <p:notesMasterId xmlns:r="http://schemas.openxmlformats.org/officeDocument/2006/relationships" r:id="Ra75126d9ecc94737"/>
  </p:notesMasterIdLst>
  <p:sldIdLst>
    <p:sldId xmlns:r="http://schemas.openxmlformats.org/officeDocument/2006/relationships" id="256" r:id="R71978eb13d4045bf"/>
    <p:sldId xmlns:r="http://schemas.openxmlformats.org/officeDocument/2006/relationships" id="257" r:id="R89772ee3e2894a88"/>
    <p:sldId xmlns:r="http://schemas.openxmlformats.org/officeDocument/2006/relationships" id="258" r:id="R717cd2329b2d4728"/>
    <p:sldId xmlns:r="http://schemas.openxmlformats.org/officeDocument/2006/relationships" id="259" r:id="R5702036a45fc4645"/>
    <p:sldId xmlns:r="http://schemas.openxmlformats.org/officeDocument/2006/relationships" id="260" r:id="R6bf898eb298548a2"/>
    <p:sldId xmlns:r="http://schemas.openxmlformats.org/officeDocument/2006/relationships" id="261" r:id="R53b1d5b77f264714"/>
    <p:sldId xmlns:r="http://schemas.openxmlformats.org/officeDocument/2006/relationships" id="262" r:id="R4f38f36602ac4e58"/>
    <p:sldId xmlns:r="http://schemas.openxmlformats.org/officeDocument/2006/relationships" id="263" r:id="R4c98c01a3d4241ef"/>
    <p:sldId xmlns:r="http://schemas.openxmlformats.org/officeDocument/2006/relationships" id="264" r:id="R9afab45440be428b"/>
    <p:sldId xmlns:r="http://schemas.openxmlformats.org/officeDocument/2006/relationships" id="265" r:id="Ra72f09ccde0f4c35"/>
    <p:sldId xmlns:r="http://schemas.openxmlformats.org/officeDocument/2006/relationships" id="266" r:id="R8f375173fe7c48d6"/>
    <p:sldId xmlns:r="http://schemas.openxmlformats.org/officeDocument/2006/relationships" id="267" r:id="Ra846b025df2e4b3e"/>
    <p:sldId xmlns:r="http://schemas.openxmlformats.org/officeDocument/2006/relationships" id="268" r:id="R640b8060ca63432a"/>
    <p:sldId xmlns:r="http://schemas.openxmlformats.org/officeDocument/2006/relationships" id="269" r:id="R627dc43a071a4294"/>
    <p:sldId xmlns:r="http://schemas.openxmlformats.org/officeDocument/2006/relationships" id="270" r:id="R4c3c5ccc6a074518"/>
    <p:sldId xmlns:r="http://schemas.openxmlformats.org/officeDocument/2006/relationships" id="271" r:id="Ra64124d95c344d10"/>
    <p:sldId xmlns:r="http://schemas.openxmlformats.org/officeDocument/2006/relationships" id="272" r:id="R5c8af4ea6eb7401c"/>
    <p:sldId xmlns:r="http://schemas.openxmlformats.org/officeDocument/2006/relationships" id="273" r:id="R4fdc54c278ef4bba"/>
    <p:sldId xmlns:r="http://schemas.openxmlformats.org/officeDocument/2006/relationships" id="274" r:id="Raa6b102c8e5241a3"/>
    <p:sldId xmlns:r="http://schemas.openxmlformats.org/officeDocument/2006/relationships" id="275" r:id="Re128ce1a95034259"/>
    <p:sldId xmlns:r="http://schemas.openxmlformats.org/officeDocument/2006/relationships" id="276" r:id="R7de38533ae634368"/>
    <p:sldId xmlns:r="http://schemas.openxmlformats.org/officeDocument/2006/relationships" id="277" r:id="R9af0a67df8fc49e5"/>
    <p:sldId xmlns:r="http://schemas.openxmlformats.org/officeDocument/2006/relationships" id="278" r:id="R10bf64e50ee44d7c"/>
    <p:sldId xmlns:r="http://schemas.openxmlformats.org/officeDocument/2006/relationships" id="279" r:id="R31ee81a8006e49ae"/>
    <p:sldId xmlns:r="http://schemas.openxmlformats.org/officeDocument/2006/relationships" id="280" r:id="Rfc52c33d7cc34658"/>
    <p:sldId xmlns:r="http://schemas.openxmlformats.org/officeDocument/2006/relationships" id="281" r:id="R6323aacf3d9049c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de13c109ebd4b6d" /><Relationship Type="http://schemas.openxmlformats.org/officeDocument/2006/relationships/slideMaster" Target="/ppt/slideMasters/slideMaster1.xml" Id="Rf0742bc4eada486b" /><Relationship Type="http://schemas.openxmlformats.org/officeDocument/2006/relationships/notesMaster" Target="/ppt/notesMasters/notesMaster1.xml" Id="Ra75126d9ecc94737" /><Relationship Type="http://schemas.openxmlformats.org/officeDocument/2006/relationships/presProps" Target="/ppt/presProps.xml" Id="R866213d244e94a9f" /><Relationship Type="http://schemas.openxmlformats.org/officeDocument/2006/relationships/tableStyles" Target="/ppt/tableStyles.xml" Id="R361e8f2171fa4907" /><Relationship Type="http://schemas.openxmlformats.org/officeDocument/2006/relationships/slide" Target="/ppt/slides/slide1.xml" Id="R71978eb13d4045bf" /><Relationship Type="http://schemas.openxmlformats.org/officeDocument/2006/relationships/slide" Target="/ppt/slides/slide2.xml" Id="R89772ee3e2894a88" /><Relationship Type="http://schemas.openxmlformats.org/officeDocument/2006/relationships/slide" Target="/ppt/slides/slide3.xml" Id="R717cd2329b2d4728" /><Relationship Type="http://schemas.openxmlformats.org/officeDocument/2006/relationships/slide" Target="/ppt/slides/slide4.xml" Id="R5702036a45fc4645" /><Relationship Type="http://schemas.openxmlformats.org/officeDocument/2006/relationships/slide" Target="/ppt/slides/slide5.xml" Id="R6bf898eb298548a2" /><Relationship Type="http://schemas.openxmlformats.org/officeDocument/2006/relationships/slide" Target="/ppt/slides/slide6.xml" Id="R53b1d5b77f264714" /><Relationship Type="http://schemas.openxmlformats.org/officeDocument/2006/relationships/slide" Target="/ppt/slides/slide7.xml" Id="R4f38f36602ac4e58" /><Relationship Type="http://schemas.openxmlformats.org/officeDocument/2006/relationships/slide" Target="/ppt/slides/slide8.xml" Id="R4c98c01a3d4241ef" /><Relationship Type="http://schemas.openxmlformats.org/officeDocument/2006/relationships/slide" Target="/ppt/slides/slide9.xml" Id="R9afab45440be428b" /><Relationship Type="http://schemas.openxmlformats.org/officeDocument/2006/relationships/slide" Target="/ppt/slides/slide10.xml" Id="Ra72f09ccde0f4c35" /><Relationship Type="http://schemas.openxmlformats.org/officeDocument/2006/relationships/slide" Target="/ppt/slides/slide11.xml" Id="R8f375173fe7c48d6" /><Relationship Type="http://schemas.openxmlformats.org/officeDocument/2006/relationships/slide" Target="/ppt/slides/slide12.xml" Id="Ra846b025df2e4b3e" /><Relationship Type="http://schemas.openxmlformats.org/officeDocument/2006/relationships/slide" Target="/ppt/slides/slide13.xml" Id="R640b8060ca63432a" /><Relationship Type="http://schemas.openxmlformats.org/officeDocument/2006/relationships/slide" Target="/ppt/slides/slide14.xml" Id="R627dc43a071a4294" /><Relationship Type="http://schemas.openxmlformats.org/officeDocument/2006/relationships/slide" Target="/ppt/slides/slide15.xml" Id="R4c3c5ccc6a074518" /><Relationship Type="http://schemas.openxmlformats.org/officeDocument/2006/relationships/slide" Target="/ppt/slides/slide16.xml" Id="Ra64124d95c344d10" /><Relationship Type="http://schemas.openxmlformats.org/officeDocument/2006/relationships/slide" Target="/ppt/slides/slide17.xml" Id="R5c8af4ea6eb7401c" /><Relationship Type="http://schemas.openxmlformats.org/officeDocument/2006/relationships/slide" Target="/ppt/slides/slide18.xml" Id="R4fdc54c278ef4bba" /><Relationship Type="http://schemas.openxmlformats.org/officeDocument/2006/relationships/slide" Target="/ppt/slides/slide19.xml" Id="Raa6b102c8e5241a3" /><Relationship Type="http://schemas.openxmlformats.org/officeDocument/2006/relationships/slide" Target="/ppt/slides/slide20.xml" Id="Re128ce1a95034259" /><Relationship Type="http://schemas.openxmlformats.org/officeDocument/2006/relationships/slide" Target="/ppt/slides/slide21.xml" Id="R7de38533ae634368" /><Relationship Type="http://schemas.openxmlformats.org/officeDocument/2006/relationships/slide" Target="/ppt/slides/slide22.xml" Id="R9af0a67df8fc49e5" /><Relationship Type="http://schemas.openxmlformats.org/officeDocument/2006/relationships/slide" Target="/ppt/slides/slide23.xml" Id="R10bf64e50ee44d7c" /><Relationship Type="http://schemas.openxmlformats.org/officeDocument/2006/relationships/slide" Target="/ppt/slides/slide24.xml" Id="R31ee81a8006e49ae" /><Relationship Type="http://schemas.openxmlformats.org/officeDocument/2006/relationships/slide" Target="/ppt/slides/slide25.xml" Id="Rfc52c33d7cc34658" /><Relationship Type="http://schemas.openxmlformats.org/officeDocument/2006/relationships/slide" Target="/ppt/slides/slide26.xml" Id="R6323aacf3d9049c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fb4d3bad9d0442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1d344c2f4864411" /><Relationship Type="http://schemas.openxmlformats.org/officeDocument/2006/relationships/notesMaster" Target="/ppt/notesMasters/notesMaster1.xml" Id="R8980c84e4df1451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82f495a2fff479d" /><Relationship Type="http://schemas.openxmlformats.org/officeDocument/2006/relationships/notesMaster" Target="/ppt/notesMasters/notesMaster1.xml" Id="R1ec265471aae40f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3ef7cc9d3d9444f" /><Relationship Type="http://schemas.openxmlformats.org/officeDocument/2006/relationships/notesMaster" Target="/ppt/notesMasters/notesMaster1.xml" Id="Rac613f740aba484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8d7e532b0a041a9" /><Relationship Type="http://schemas.openxmlformats.org/officeDocument/2006/relationships/notesMaster" Target="/ppt/notesMasters/notesMaster1.xml" Id="Rb14fb3754f7f4cb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e5b9211dc3e4867" /><Relationship Type="http://schemas.openxmlformats.org/officeDocument/2006/relationships/notesMaster" Target="/ppt/notesMasters/notesMaster1.xml" Id="Ra20c66cf326b42e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5d3bef74b234073" /><Relationship Type="http://schemas.openxmlformats.org/officeDocument/2006/relationships/notesMaster" Target="/ppt/notesMasters/notesMaster1.xml" Id="R628f73bff37d497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f1cd21986434eb7" /><Relationship Type="http://schemas.openxmlformats.org/officeDocument/2006/relationships/notesMaster" Target="/ppt/notesMasters/notesMaster1.xml" Id="Re7d761234bb342f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12dd2f58f934cbd" /><Relationship Type="http://schemas.openxmlformats.org/officeDocument/2006/relationships/notesMaster" Target="/ppt/notesMasters/notesMaster1.xml" Id="R7c91f8d623d14b0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430277b278d4ad0" /><Relationship Type="http://schemas.openxmlformats.org/officeDocument/2006/relationships/notesMaster" Target="/ppt/notesMasters/notesMaster1.xml" Id="R589b03f4a1394dd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92c23bcdd354abf" /><Relationship Type="http://schemas.openxmlformats.org/officeDocument/2006/relationships/notesMaster" Target="/ppt/notesMasters/notesMaster1.xml" Id="R0ce4991077c14f3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10b81d75c6442d2" /><Relationship Type="http://schemas.openxmlformats.org/officeDocument/2006/relationships/notesMaster" Target="/ppt/notesMasters/notesMaster1.xml" Id="R4b83512e797040b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fac64c6de5a4757" /><Relationship Type="http://schemas.openxmlformats.org/officeDocument/2006/relationships/notesMaster" Target="/ppt/notesMasters/notesMaster1.xml" Id="R6f4ac8b9901d4c3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a825f2f3b324667" /><Relationship Type="http://schemas.openxmlformats.org/officeDocument/2006/relationships/notesMaster" Target="/ppt/notesMasters/notesMaster1.xml" Id="Rbc377069d3d94f3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10f5e46decb40d4" /><Relationship Type="http://schemas.openxmlformats.org/officeDocument/2006/relationships/notesMaster" Target="/ppt/notesMasters/notesMaster1.xml" Id="R282380f1d3bb406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3e525b209944251" /><Relationship Type="http://schemas.openxmlformats.org/officeDocument/2006/relationships/notesMaster" Target="/ppt/notesMasters/notesMaster1.xml" Id="R80595177d7ed43b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ff7a27494924b96" /><Relationship Type="http://schemas.openxmlformats.org/officeDocument/2006/relationships/notesMaster" Target="/ppt/notesMasters/notesMaster1.xml" Id="R4bb80080ffdf4ce7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a1d47ff0074c4510" /><Relationship Type="http://schemas.openxmlformats.org/officeDocument/2006/relationships/notesMaster" Target="/ppt/notesMasters/notesMaster1.xml" Id="R8b2c0871ed94481f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2b4e83fff7d14e4f" /><Relationship Type="http://schemas.openxmlformats.org/officeDocument/2006/relationships/notesMaster" Target="/ppt/notesMasters/notesMaster1.xml" Id="Rfa9d27a18ea94aeb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843945816ab04063" /><Relationship Type="http://schemas.openxmlformats.org/officeDocument/2006/relationships/notesMaster" Target="/ppt/notesMasters/notesMaster1.xml" Id="R408562cb5de44720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fd1ce250933d4778" /><Relationship Type="http://schemas.openxmlformats.org/officeDocument/2006/relationships/notesMaster" Target="/ppt/notesMasters/notesMaster1.xml" Id="R65ecd04f3ec244bf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ae9be2f265534c41" /><Relationship Type="http://schemas.openxmlformats.org/officeDocument/2006/relationships/notesMaster" Target="/ppt/notesMasters/notesMaster1.xml" Id="Rf53a84be41254946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47d9bf832fbb440c" /><Relationship Type="http://schemas.openxmlformats.org/officeDocument/2006/relationships/notesMaster" Target="/ppt/notesMasters/notesMaster1.xml" Id="R87d05a8eea5b42c0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da82151801b6438e" /><Relationship Type="http://schemas.openxmlformats.org/officeDocument/2006/relationships/notesMaster" Target="/ppt/notesMasters/notesMaster1.xml" Id="Rc22829f9195b4be4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5cb628ec0447428a" /><Relationship Type="http://schemas.openxmlformats.org/officeDocument/2006/relationships/notesMaster" Target="/ppt/notesMasters/notesMaster1.xml" Id="R6728ad332c604c4d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c09c77288dc74e8f" /><Relationship Type="http://schemas.openxmlformats.org/officeDocument/2006/relationships/notesMaster" Target="/ppt/notesMasters/notesMaster1.xml" Id="Rf4d4989f48f54ce2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727645e34a6343c1" /><Relationship Type="http://schemas.openxmlformats.org/officeDocument/2006/relationships/notesMaster" Target="/ppt/notesMasters/notesMaster1.xml" Id="R088b81d0ca114bf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Систем који рачуна на кашњење и дупликате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Уградити неизвесност мреже у уговор, тест и образложење понашања.</a:t>
            </a:r>
          </a:p>
          <a:p xmlns:a="http://schemas.openxmlformats.org/drawingml/2006/main">
            <a:r>
              <a:t>Поруке могу каснити, стићи поново или ван редоследа. Локално успешан тест не доказује да сарадња компоненти остаје исправна.</a:t>
            </a:r>
          </a:p>
          <a:p xmlns:a="http://schemas.openxmlformats.org/drawingml/2006/main">
            <a:r>
              <a:t>Контролисани failure сценарији откривају границе система док су мале и разумљиве, а верзионисање чува кориснике старог уговора.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У дистрибуираном систему нормалан сценарио никада није цела прича.</a:t>
            </a:r>
          </a:p>
          <a:p xmlns:a="http://schemas.openxmlformats.org/drawingml/2006/main">
            <a:r>
              <a:t>нови уговор или понашање</a:t>
            </a:r>
          </a:p>
          <a:p xmlns:a="http://schemas.openxmlformats.org/drawingml/2006/main">
            <a:r>
              <a:t>шта стари корисници разумеју</a:t>
            </a:r>
          </a:p>
          <a:p xmlns:a="http://schemas.openxmlformats.org/drawingml/2006/main">
            <a:r>
              <a:t>контролисана сметња</a:t>
            </a:r>
          </a:p>
          <a:p xmlns:a="http://schemas.openxmlformats.org/drawingml/2006/main">
            <a:r>
              <a:t>доказ очекиваног исхода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Свака промена поруке утиче на бар једног пошиљаоца или примаоца. Пре објаве треба знати да ли старији корисник и даље може да сарађује.</a:t>
            </a:r>
          </a:p>
          <a:p xmlns:a="http://schemas.openxmlformats.org/drawingml/2006/main">
            <a:r>
              <a:t>Утиче на бар једног пошиљаоца или примаоца.</a:t>
            </a:r>
          </a:p>
          <a:p xmlns:a="http://schemas.openxmlformats.org/drawingml/2006/main">
            <a:r>
              <a:t>Објављена верзија се не мења у месту.</a:t>
            </a:r>
          </a:p>
          <a:p xmlns:a="http://schemas.openxmlformats.org/drawingml/2006/main">
            <a:r>
              <a:t>Старији корисник мора и даље моћи да сарађује.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Компатибилност се посматра из угла примаоца: може ли да разуме нову или стару поруку без погрешне пословне интерпретације?</a:t>
            </a:r>
          </a:p>
          <a:p xmlns:a="http://schemas.openxmlformats.org/drawingml/2006/main">
            <a:r>
              <a:t>Посматра се из угла примаоца, не пошиљаоца.</a:t>
            </a:r>
          </a:p>
          <a:p xmlns:a="http://schemas.openxmlformats.org/drawingml/2006/main">
            <a:r>
              <a:t>Breaking промена се не сме означити као компатибилна.</a:t>
            </a:r>
          </a:p>
          <a:p xmlns:a="http://schemas.openxmlformats.org/drawingml/2006/main">
            <a:r>
              <a:t>Погрешна интерпретација је гора од одбијања поруке.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Failure сценарио намерно уводи кашњење, дупликат, прекид или промењен редослед. Тиме се проверава понашање које мрежа реално може изазвати.</a:t>
            </a:r>
          </a:p>
          <a:p xmlns:a="http://schemas.openxmlformats.org/drawingml/2006/main">
            <a:r>
              <a:t>Намерно уводи кашњење, дупликат или прекид.</a:t>
            </a:r>
          </a:p>
          <a:p xmlns:a="http://schemas.openxmlformats.org/drawingml/2006/main">
            <a:r>
              <a:t>Проверава реално мрежно понашање, не идеалан случај.</a:t>
            </a:r>
          </a:p>
          <a:p xmlns:a="http://schemas.openxmlformats.org/drawingml/2006/main">
            <a:r>
              <a:t>Тестира се пре интеграције, не тек на крају.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Тест треба да провери видљив пословни исход, а не само одсуство изузетка. То показује да сметња није променила значење операције.</a:t>
            </a:r>
          </a:p>
          <a:p xmlns:a="http://schemas.openxmlformats.org/drawingml/2006/main">
            <a:r>
              <a:t>Проверава видљив пословни исход, не само одсуство грешке.</a:t>
            </a:r>
          </a:p>
          <a:p xmlns:a="http://schemas.openxmlformats.org/drawingml/2006/main">
            <a:r>
              <a:t>Показује да сметња није променила значење операције.</a:t>
            </a:r>
          </a:p>
          <a:p xmlns:a="http://schemas.openxmlformats.org/drawingml/2006/main">
            <a:r>
              <a:t>Основа је за manual-core-baseline пре AI фазе.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Компонента чека одговор до истека рока и покреће безбедан опоравак.</a:t>
            </a:r>
          </a:p>
          <a:p xmlns:a="http://schemas.openxmlformats.org/drawingml/2006/main">
            <a:r>
              <a:t>Timeout значи да одговор није стигао на време, не да се радња сигурно није извршила.</a:t>
            </a:r>
          </a:p>
          <a:p xmlns:a="http://schemas.openxmlformats.org/drawingml/2006/main">
            <a:r>
              <a:t>Дупликат и касна порука морају се раздвојити од нове легитимне операције.</a:t>
            </a:r>
          </a:p>
          <a:p xmlns:a="http://schemas.openxmlformats.org/drawingml/2006/main">
            <a:r>
              <a:t>Поновљив симулатор омогућава да се исти редослед грешке провери након сваке измене.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Циљ није претпоставити савршен транспорт, већ јасно дефинисати понашање када транспорт није савршен.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Лева матрица прати InboxDecision у изворном коду и демонстрацију v1.0, v1.3 и v2.0. Десно исти m-1 стиже два пута, а Receive тест доказује један пословни ефекат. Major/minor понашање је политика овог примера.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Пример полази од онога што мрежа сигурно ради: иста порука може стићи два пута, може закаснити и може бити послата новијом верзијом уговора.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Дупликат, закаснела порука и друга major верзија су очекивани улази са сопственим кодом.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Пословни ефекат се дешава једном, колико год пута да иста порука стигне.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Новија minor верзија се прихвата, друга major верзија се одбија.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Принцип важи тек када је препозната и замка која га тихо поништава.</a:t>
            </a:r>
          </a:p>
          <a:p xmlns:a="http://schemas.openxmlformats.org/drawingml/2006/main">
            <a:r>
              <a:t>Компатибилност се процењује према примаоцима поруке, не само према коду пошиљаоца.</a:t>
            </a:r>
          </a:p>
          <a:p xmlns:a="http://schemas.openxmlformats.org/drawingml/2006/main">
            <a:r>
              <a:t>Кашњење и дупликат су нормални улази које компонента мора да објасни.</a:t>
            </a:r>
          </a:p>
          <a:p xmlns:a="http://schemas.openxmlformats.org/drawingml/2006/main">
            <a:r>
              <a:t>Тест треба да провери видљив исход, не само да метода не баца изузетак.</a:t>
            </a:r>
          </a:p>
          <a:p xmlns:a="http://schemas.openxmlformats.org/drawingml/2006/main">
            <a:r>
              <a:t>Претпоставка да се порука испоручује тачно једном.</a:t>
            </a:r>
          </a:p>
          <a:p xmlns:a="http://schemas.openxmlformats.org/drawingml/2006/main">
            <a:r>
              <a:t>Breaking промена означена као безопасна јер локални тестови пролазе.</a:t>
            </a:r>
          </a:p>
          <a:p xmlns:a="http://schemas.openxmlformats.org/drawingml/2006/main">
            <a:r>
              <a:t>Тестирање прекида тек након интеграције свих компоненти.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Ове грешке се најчешће понављају када се принцип површно примени.</a:t>
            </a:r>
          </a:p>
          <a:p xmlns:a="http://schemas.openxmlformats.org/drawingml/2006/main">
            <a:r>
              <a:t>Претпоставка о испоруци тачно једном.</a:t>
            </a:r>
          </a:p>
          <a:p xmlns:a="http://schemas.openxmlformats.org/drawingml/2006/main">
            <a:r>
              <a:t>Breaking промена означена као компатибилна.</a:t>
            </a:r>
          </a:p>
          <a:p xmlns:a="http://schemas.openxmlformats.org/drawingml/2006/main">
            <a:r>
              <a:t>Прекид се тестира тек на крају интеграције.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Кораци показују како се принцип препознаје и доследно спроводи у развоју.</a:t>
            </a:r>
          </a:p>
          <a:p xmlns:a="http://schemas.openxmlformats.org/drawingml/2006/main">
            <a:r>
              <a:t>За важан ток навести кашњење, дупликат и прекид.</a:t>
            </a:r>
          </a:p>
          <a:p xmlns:a="http://schemas.openxmlformats.org/drawingml/2006/main">
            <a:r>
              <a:t>Покретати исте експерименте више пута.</a:t>
            </a:r>
          </a:p>
          <a:p xmlns:a="http://schemas.openxmlformats.org/drawingml/2006/main">
            <a:r>
              <a:t>Проверити исход уместо одсуства изузетка.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Одговор се образлаже failure сценаријем и тестом, а не описом срећног пута.</a:t>
            </a:r>
          </a:p>
          <a:p xmlns:a="http://schemas.openxmlformats.org/drawingml/2006/main">
            <a:r>
              <a:t>За коју радњу би касно пристигла порука била опаснија од изгубљене и како би је систем препознао?</a:t>
            </a:r>
          </a:p>
          <a:p xmlns:a="http://schemas.openxmlformats.org/drawingml/2006/main">
            <a:r>
              <a:t>За коју операцију би касно пристигла порука била опаснија од потпуно изгубљене поруке и зашто?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Проширење примера уз вежбу, правило иде у домен, а доказ у тест.</a:t>
            </a:r>
          </a:p>
          <a:p xmlns:a="http://schemas.openxmlformats.org/drawingml/2006/main">
            <a:r>
              <a:t>Додати правило да се порука са minor верзијом већом од познате прихвата, али се исход означава новим кодом message_accepted_newer_minor, како би тим знао да уговор треба прегледати.</a:t>
            </a:r>
          </a:p>
          <a:p xmlns:a="http://schemas.openxmlformats.org/drawingml/2006/main">
            <a:r>
              <a:t>Покрити гранични случај тестом.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Друга контролна тачка (Вежба 3–4) проверава да су идентитет, audit, observability и конфигурација стабилни пре оперативних токова.</a:t>
            </a:r>
          </a:p>
          <a:p xmlns:a="http://schemas.openxmlformats.org/drawingml/2006/main">
            <a:r>
              <a:t>Провера дозволе захтева и улогу и припадност мисији.</a:t>
            </a:r>
          </a:p>
          <a:p xmlns:a="http://schemas.openxmlformats.org/drawingml/2006/main">
            <a:r>
              <a:t>Audit евиденција је append-only и претражива по correlation id-у.</a:t>
            </a:r>
          </a:p>
          <a:p xmlns:a="http://schemas.openxmlformats.org/drawingml/2006/main">
            <a:r>
              <a:t>Message contract registry спречава измену објављене верзије у месту.</a:t>
            </a:r>
          </a:p>
          <a:p xmlns:a="http://schemas.openxmlformats.org/drawingml/2006/main">
            <a:r>
              <a:t>Failure симулатор омогућава поновљиво увођење кашњења и дупликације.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За најважније токове тим формулише неколико малих failure експеримената и покреће их у истом окружењу.</a:t>
            </a:r>
          </a:p>
          <a:p xmlns:a="http://schemas.openxmlformats.org/drawingml/2006/main">
            <a:r>
              <a:t>Циљ није претпоставити савршен транспорт, већ јасно дефинисати понашање када транспорт није савршен.</a:t>
            </a:r>
          </a:p>
          <a:p xmlns:a="http://schemas.openxmlformats.org/drawingml/2006/main">
            <a:r>
              <a:t>Наредна вежба: Ток података и read модели.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65ef4fc73de419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c26fdb3fdf742d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042b1654a34418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da1514155e451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418d25711ab4e6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b2e017bbe214e7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D7214D7-0EFB-4611-923C-7A5C03EA8FB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D1203EA-F264-4BE6-BEA6-375C02F68B0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648E399A-861D-4757-842A-F42730DFC54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3CCBE42-A5C7-4234-B6CA-97450CA9003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96648FE-495F-4D6D-A51A-68CA7DFF0C0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65A1924-8733-4E42-A2C8-0694CC194C9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23F2E1D-D164-4B4B-BC73-23C4E376A41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60CB142-8C3C-45DC-8101-E4B3753F44B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95B9DFB-5B26-49BC-84BE-27DA71942F0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1F7AE01-98FF-4F34-8F19-8A72326F7C1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af269fc70564bc9" /><Relationship Type="http://schemas.openxmlformats.org/officeDocument/2006/relationships/slideLayout" Target="/ppt/slideLayouts/slideLayout1.xml" Id="R6f969a9e8d814237" /><Relationship Type="http://schemas.openxmlformats.org/officeDocument/2006/relationships/slideLayout" Target="/ppt/slideLayouts/slideLayout2.xml" Id="R912ea4aec0f8494a" /><Relationship Type="http://schemas.openxmlformats.org/officeDocument/2006/relationships/slideLayout" Target="/ppt/slideLayouts/slideLayout3.xml" Id="Re86787af71124894" /><Relationship Type="http://schemas.openxmlformats.org/officeDocument/2006/relationships/slideLayout" Target="/ppt/slideLayouts/slideLayout4.xml" Id="R40d089194c144ebf" /><Relationship Type="http://schemas.openxmlformats.org/officeDocument/2006/relationships/slideLayout" Target="/ppt/slideLayouts/slideLayout5.xml" Id="R8571bb43757f496d" /><Relationship Type="http://schemas.openxmlformats.org/officeDocument/2006/relationships/slideLayout" Target="/ppt/slideLayouts/slideLayout6.xml" Id="Rb3612334839742a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f969a9e8d814237"/>
    <p:sldLayoutId xmlns:r="http://schemas.openxmlformats.org/officeDocument/2006/relationships" id="2147483650" r:id="R912ea4aec0f8494a"/>
    <p:sldLayoutId xmlns:r="http://schemas.openxmlformats.org/officeDocument/2006/relationships" id="2147483651" r:id="Re86787af71124894"/>
    <p:sldLayoutId xmlns:r="http://schemas.openxmlformats.org/officeDocument/2006/relationships" id="2147483652" r:id="R40d089194c144ebf"/>
    <p:sldLayoutId xmlns:r="http://schemas.openxmlformats.org/officeDocument/2006/relationships" id="2147483653" r:id="R8571bb43757f496d"/>
    <p:sldLayoutId xmlns:r="http://schemas.openxmlformats.org/officeDocument/2006/relationships" id="2147483654" r:id="Rb3612334839742a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180aea3f5a0472f" /><Relationship Type="http://schemas.openxmlformats.org/officeDocument/2006/relationships/notesSlide" Target="/ppt/notesSlides/notesSlide1.xml" Id="R6454231ebcd24d8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729460f458e4a28" /><Relationship Type="http://schemas.openxmlformats.org/officeDocument/2006/relationships/notesSlide" Target="/ppt/notesSlides/notesSlide2.xml" Id="R69e51ad4dd2d421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36fe41b0b444af7" /><Relationship Type="http://schemas.openxmlformats.org/officeDocument/2006/relationships/notesSlide" Target="/ppt/notesSlides/notesSlide3.xml" Id="R569db4c4135c413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caeea47c16341e0" /><Relationship Type="http://schemas.openxmlformats.org/officeDocument/2006/relationships/notesSlide" Target="/ppt/notesSlides/notesSlide4.xml" Id="R3f9559fe79794c9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bb12c7cc9514c32" /><Relationship Type="http://schemas.openxmlformats.org/officeDocument/2006/relationships/notesSlide" Target="/ppt/notesSlides/notesSlide5.xml" Id="R96eb2c48ba4747a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5b3d5fbb0ca4d86" /><Relationship Type="http://schemas.openxmlformats.org/officeDocument/2006/relationships/notesSlide" Target="/ppt/notesSlides/notesSlide6.xml" Id="Rd9eca1975c7b410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859402c954d4dbe" /><Relationship Type="http://schemas.openxmlformats.org/officeDocument/2006/relationships/notesSlide" Target="/ppt/notesSlides/notesSlide7.xml" Id="R572238563dd7414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e6ff60068a74836" /><Relationship Type="http://schemas.openxmlformats.org/officeDocument/2006/relationships/notesSlide" Target="/ppt/notesSlides/notesSlide8.xml" Id="Ra200fba4d36043d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0f0cd2267ff47f3" /><Relationship Type="http://schemas.openxmlformats.org/officeDocument/2006/relationships/notesSlide" Target="/ppt/notesSlides/notesSlide9.xml" Id="R2c3948a7745b437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18721a63b4b4055" /><Relationship Type="http://schemas.openxmlformats.org/officeDocument/2006/relationships/notesSlide" Target="/ppt/notesSlides/notesSlide10.xml" Id="R26a907a72426423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7d476be3cf044f8" /><Relationship Type="http://schemas.openxmlformats.org/officeDocument/2006/relationships/notesSlide" Target="/ppt/notesSlides/notesSlide11.xml" Id="R54feefd1861e47f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fff96b34be34349" /><Relationship Type="http://schemas.openxmlformats.org/officeDocument/2006/relationships/notesSlide" Target="/ppt/notesSlides/notesSlide12.xml" Id="R5b6a140bade2429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4bf10d61baa499a" /><Relationship Type="http://schemas.openxmlformats.org/officeDocument/2006/relationships/notesSlide" Target="/ppt/notesSlides/notesSlide13.xml" Id="Rb5fefce5b6454ee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27f1fc7f6e24fd0" /><Relationship Type="http://schemas.openxmlformats.org/officeDocument/2006/relationships/notesSlide" Target="/ppt/notesSlides/notesSlide14.xml" Id="R902cf88184f94ed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2c480de1d7f4d7c" /><Relationship Type="http://schemas.openxmlformats.org/officeDocument/2006/relationships/notesSlide" Target="/ppt/notesSlides/notesSlide15.xml" Id="R225babe0072e4cba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c7e23fcba9e4432" /><Relationship Type="http://schemas.openxmlformats.org/officeDocument/2006/relationships/notesSlide" Target="/ppt/notesSlides/notesSlide16.xml" Id="R424c36339c474128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b38c7455506487d" /><Relationship Type="http://schemas.openxmlformats.org/officeDocument/2006/relationships/notesSlide" Target="/ppt/notesSlides/notesSlide17.xml" Id="R2888ae875bdc41f6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2e8863f337541f3" /><Relationship Type="http://schemas.openxmlformats.org/officeDocument/2006/relationships/notesSlide" Target="/ppt/notesSlides/notesSlide18.xml" Id="R7132eb830c084f6f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5e3cd9c7c3c4755" /><Relationship Type="http://schemas.openxmlformats.org/officeDocument/2006/relationships/notesSlide" Target="/ppt/notesSlides/notesSlide19.xml" Id="R8613457218f748b6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486a781504946dc" /><Relationship Type="http://schemas.openxmlformats.org/officeDocument/2006/relationships/notesSlide" Target="/ppt/notesSlides/notesSlide20.xml" Id="R653dad8a80ff42cb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2018050162c470a" /><Relationship Type="http://schemas.openxmlformats.org/officeDocument/2006/relationships/notesSlide" Target="/ppt/notesSlides/notesSlide21.xml" Id="R322d06b288fb45e6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f5115ed387c4394" /><Relationship Type="http://schemas.openxmlformats.org/officeDocument/2006/relationships/notesSlide" Target="/ppt/notesSlides/notesSlide22.xml" Id="Rd9fbb699195e45f2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40f7531fe6c4b3f" /><Relationship Type="http://schemas.openxmlformats.org/officeDocument/2006/relationships/notesSlide" Target="/ppt/notesSlides/notesSlide23.xml" Id="R204a63d881224e2b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062c20a6d194c72" /><Relationship Type="http://schemas.openxmlformats.org/officeDocument/2006/relationships/notesSlide" Target="/ppt/notesSlides/notesSlide24.xml" Id="R605fbfe3a9214942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c4c13a123e3487e" /><Relationship Type="http://schemas.openxmlformats.org/officeDocument/2006/relationships/notesSlide" Target="/ppt/notesSlides/notesSlide25.xml" Id="R1128c42218f94c13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b59f062e3494718" /><Relationship Type="http://schemas.openxmlformats.org/officeDocument/2006/relationships/notesSlide" Target="/ppt/notesSlides/notesSlide26.xml" Id="R676a54f283f340d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ADA255B-AC77-4A73-A002-CB4014691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809625"/>
            <a:ext cx="6667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6B3FA0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50000"/>
              </a:lnSpc>
              <a:buNone/>
              <a:defRPr sz="1200" b="1">
                <a:solidFill>
                  <a:srgbClr val="6B3FA0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1">
                <a:solidFill>
                  <a:srgbClr val="6B3FA0"/>
                </a:solidFill>
                <a:latin typeface="IBM Plex Mono"/>
                <a:ea typeface="IBM Plex Mono"/>
                <a:cs typeface="IBM Plex Mono"/>
              </a:rPr>
              <a:t>ПРИМЕЊЕНО СОФТВЕРСКО ИНЖЕЊЕРСТВО</a:t>
            </a:r>
          </a:p>
          <a:p xmlns:a="http://schemas.openxmlformats.org/drawingml/2006/main">
            <a:pPr algn="l">
              <a:lnSpc>
                <a:spcPct val="150000"/>
              </a:lnSpc>
              <a:buNone/>
              <a:defRPr sz="1200" b="1">
                <a:solidFill>
                  <a:srgbClr val="6B3FA0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1">
                <a:solidFill>
                  <a:srgbClr val="6B3FA0"/>
                </a:solidFill>
                <a:latin typeface="IBM Plex Mono"/>
                <a:ea typeface="IBM Plex Mono"/>
                <a:cs typeface="IBM Plex Mono"/>
              </a:rPr>
              <a:t>ОСНОВЕ ДИСТРИБУИРАНОГ ПРОГРАМИРАЊА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950D29A7-9C2C-4EAB-9B23-5B8110728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771650"/>
            <a:ext cx="6572250" cy="12805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65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465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465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Верзионисање и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465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465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failure-first тестирање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8FE338-565C-47E9-ACC0-26189D9C0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299841"/>
            <a:ext cx="6191250" cy="3126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98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598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598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Систем који рачуна на кашњење и дупликате</a:t>
            </a:r>
          </a:p>
        </p:txBody>
      </p:sp>
      <p:sp>
        <p:nvSpPr>
          <p:cNvPr id="4" name="diagram-label">
            <a:extLst xmlns:a="http://schemas.openxmlformats.org/drawingml/2006/main">
              <a:ext uri="{FF2B5EF4-FFF2-40B4-BE49-F238E27FC236}">
                <a16:creationId xmlns:a16="http://schemas.microsoft.com/office/drawing/2014/main" id="{E01CDCF7-5A65-45EB-9557-36F26D0F4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8964" y="1903358"/>
            <a:ext cx="3407322" cy="3202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362" b="0">
                <a:solidFill>
                  <a:srgbClr val="6B3FA0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362" b="0">
                <a:solidFill>
                  <a:srgbClr val="6B3FA0"/>
                </a:solidFill>
                <a:latin typeface="IBM Plex Mono"/>
                <a:ea typeface="IBM Plex Mono"/>
                <a:cs typeface="IBM Plex Mono"/>
              </a:defRPr>
            </a:pPr>
            <a:r>
              <a:rPr sz="1362" b="0">
                <a:solidFill>
                  <a:srgbClr val="6B3FA0"/>
                </a:solidFill>
                <a:latin typeface="IBM Plex Mono"/>
                <a:ea typeface="IBM Plex Mono"/>
                <a:cs typeface="IBM Plex Mono"/>
              </a:rPr>
              <a:t>ПРИМАЛАЦ • major 1</a:t>
            </a:r>
          </a:p>
        </p:txBody>
      </p:sp>
      <p:sp>
        <p:nvSpPr>
          <p:cNvPr id="5" name="diagram-node">
            <a:extLst xmlns:a="http://schemas.openxmlformats.org/drawingml/2006/main">
              <a:ext uri="{FF2B5EF4-FFF2-40B4-BE49-F238E27FC236}">
                <a16:creationId xmlns:a16="http://schemas.microsoft.com/office/drawing/2014/main" id="{FD417415-7363-420F-9169-424F2DD4D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8964" y="2402928"/>
            <a:ext cx="3407322" cy="1665233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19214">
            <a:solidFill>
              <a:srgbClr val="13202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90F4F4-4450-4CF8-8806-0702CC883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8266058" y="3235544"/>
            <a:ext cx="166523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809">
            <a:solidFill>
              <a:srgbClr val="13202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3436FE-433F-4C84-AB01-B2B5A7B3C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68964" y="2953735"/>
            <a:ext cx="340732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809">
            <a:solidFill>
              <a:srgbClr val="13202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B41B0F-91FD-4CBA-A833-E4BAA3C87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68964" y="3504543"/>
            <a:ext cx="340732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809">
            <a:solidFill>
              <a:srgbClr val="13202D"/>
            </a:solidFill>
            <a:prstDash val="solid"/>
          </a:ln>
        </p:spPr>
      </p:sp>
      <p:sp>
        <p:nvSpPr>
          <p:cNvPr id="9" name="diagram-label">
            <a:extLst xmlns:a="http://schemas.openxmlformats.org/drawingml/2006/main">
              <a:ext uri="{FF2B5EF4-FFF2-40B4-BE49-F238E27FC236}">
                <a16:creationId xmlns:a16="http://schemas.microsoft.com/office/drawing/2014/main" id="{3AD18FB7-F42A-41FB-945B-6F3357EE7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1440" y="2454166"/>
            <a:ext cx="1024759" cy="4483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13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ctr">
              <a:lnSpc>
                <a:spcPct val="135000"/>
              </a:lnSpc>
              <a:buNone/>
              <a:defRPr sz="1513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defRPr>
            </a:pPr>
            <a:r>
              <a:rPr sz="1513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v1.0</a:t>
            </a:r>
          </a:p>
        </p:txBody>
      </p:sp>
      <p:sp>
        <p:nvSpPr>
          <p:cNvPr id="10" name="diagram-label">
            <a:extLst xmlns:a="http://schemas.openxmlformats.org/drawingml/2006/main">
              <a:ext uri="{FF2B5EF4-FFF2-40B4-BE49-F238E27FC236}">
                <a16:creationId xmlns:a16="http://schemas.microsoft.com/office/drawing/2014/main" id="{B7218A8D-F2BE-4132-9B08-FD15033BE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3959" y="2454166"/>
            <a:ext cx="1908613" cy="4483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13" b="0">
                <a:solidFill>
                  <a:srgbClr val="6B3FA0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ctr">
              <a:lnSpc>
                <a:spcPct val="135000"/>
              </a:lnSpc>
              <a:buNone/>
              <a:defRPr sz="1513" b="0">
                <a:solidFill>
                  <a:srgbClr val="6B3FA0"/>
                </a:solidFill>
                <a:latin typeface="IBM Plex Sans"/>
                <a:ea typeface="IBM Plex Sans"/>
                <a:cs typeface="IBM Plex Sans"/>
              </a:defRPr>
            </a:pPr>
            <a:r>
              <a:rPr sz="1513" b="0">
                <a:solidFill>
                  <a:srgbClr val="6B3FA0"/>
                </a:solidFill>
                <a:latin typeface="IBM Plex Sans"/>
                <a:ea typeface="IBM Plex Sans"/>
                <a:cs typeface="IBM Plex Sans"/>
              </a:rPr>
              <a:t>прихвата</a:t>
            </a:r>
          </a:p>
        </p:txBody>
      </p:sp>
      <p:sp>
        <p:nvSpPr>
          <p:cNvPr id="11" name="diagram-label">
            <a:extLst xmlns:a="http://schemas.openxmlformats.org/drawingml/2006/main">
              <a:ext uri="{FF2B5EF4-FFF2-40B4-BE49-F238E27FC236}">
                <a16:creationId xmlns:a16="http://schemas.microsoft.com/office/drawing/2014/main" id="{6F6C3612-E977-4844-A221-CCC6398F8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1440" y="3004973"/>
            <a:ext cx="1024759" cy="4483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13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ctr">
              <a:lnSpc>
                <a:spcPct val="135000"/>
              </a:lnSpc>
              <a:buNone/>
              <a:defRPr sz="1513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defRPr>
            </a:pPr>
            <a:r>
              <a:rPr sz="1513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v1.3</a:t>
            </a:r>
          </a:p>
        </p:txBody>
      </p:sp>
      <p:sp>
        <p:nvSpPr>
          <p:cNvPr id="12" name="diagram-label">
            <a:extLst xmlns:a="http://schemas.openxmlformats.org/drawingml/2006/main">
              <a:ext uri="{FF2B5EF4-FFF2-40B4-BE49-F238E27FC236}">
                <a16:creationId xmlns:a16="http://schemas.microsoft.com/office/drawing/2014/main" id="{1456BBD0-0A01-4D7B-9BF1-32D47E8DE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3959" y="3004973"/>
            <a:ext cx="1908613" cy="4483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13" b="0">
                <a:solidFill>
                  <a:srgbClr val="6B3FA0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ctr">
              <a:lnSpc>
                <a:spcPct val="135000"/>
              </a:lnSpc>
              <a:buNone/>
              <a:defRPr sz="1513" b="0">
                <a:solidFill>
                  <a:srgbClr val="6B3FA0"/>
                </a:solidFill>
                <a:latin typeface="IBM Plex Sans"/>
                <a:ea typeface="IBM Plex Sans"/>
                <a:cs typeface="IBM Plex Sans"/>
              </a:defRPr>
            </a:pPr>
            <a:r>
              <a:rPr sz="1513" b="0">
                <a:solidFill>
                  <a:srgbClr val="6B3FA0"/>
                </a:solidFill>
                <a:latin typeface="IBM Plex Sans"/>
                <a:ea typeface="IBM Plex Sans"/>
                <a:cs typeface="IBM Plex Sans"/>
              </a:rPr>
              <a:t>прихвата</a:t>
            </a:r>
          </a:p>
        </p:txBody>
      </p:sp>
      <p:sp>
        <p:nvSpPr>
          <p:cNvPr id="13" name="diagram-label">
            <a:extLst xmlns:a="http://schemas.openxmlformats.org/drawingml/2006/main">
              <a:ext uri="{FF2B5EF4-FFF2-40B4-BE49-F238E27FC236}">
                <a16:creationId xmlns:a16="http://schemas.microsoft.com/office/drawing/2014/main" id="{1DD2E232-CAC2-4613-9CEB-17CA2CBC2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1440" y="3555781"/>
            <a:ext cx="1024759" cy="4483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13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ctr">
              <a:lnSpc>
                <a:spcPct val="135000"/>
              </a:lnSpc>
              <a:buNone/>
              <a:defRPr sz="1513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defRPr>
            </a:pPr>
            <a:r>
              <a:rPr sz="1513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v2.0</a:t>
            </a:r>
          </a:p>
        </p:txBody>
      </p:sp>
      <p:sp>
        <p:nvSpPr>
          <p:cNvPr id="14" name="diagram-label">
            <a:extLst xmlns:a="http://schemas.openxmlformats.org/drawingml/2006/main">
              <a:ext uri="{FF2B5EF4-FFF2-40B4-BE49-F238E27FC236}">
                <a16:creationId xmlns:a16="http://schemas.microsoft.com/office/drawing/2014/main" id="{62FC3024-0EC5-4408-8B85-2EE16D105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3959" y="3555781"/>
            <a:ext cx="1908613" cy="4483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13" b="0">
                <a:solidFill>
                  <a:srgbClr val="E07B1F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ctr">
              <a:lnSpc>
                <a:spcPct val="135000"/>
              </a:lnSpc>
              <a:buNone/>
              <a:defRPr sz="1513" b="0">
                <a:solidFill>
                  <a:srgbClr val="E07B1F"/>
                </a:solidFill>
                <a:latin typeface="IBM Plex Sans"/>
                <a:ea typeface="IBM Plex Sans"/>
                <a:cs typeface="IBM Plex Sans"/>
              </a:defRPr>
            </a:pPr>
            <a:r>
              <a:rPr sz="1513" b="0">
                <a:solidFill>
                  <a:srgbClr val="E07B1F"/>
                </a:solidFill>
                <a:latin typeface="IBM Plex Sans"/>
                <a:ea typeface="IBM Plex Sans"/>
                <a:cs typeface="IBM Plex Sans"/>
              </a:rPr>
              <a:t>одбија</a:t>
            </a:r>
          </a:p>
        </p:txBody>
      </p:sp>
      <p:sp>
        <p:nvSpPr>
          <p:cNvPr id="15" name="diagram-node">
            <a:extLst xmlns:a="http://schemas.openxmlformats.org/drawingml/2006/main">
              <a:ext uri="{FF2B5EF4-FFF2-40B4-BE49-F238E27FC236}">
                <a16:creationId xmlns:a16="http://schemas.microsoft.com/office/drawing/2014/main" id="{DF8AE294-20DA-4931-B4CA-E4BF0F6D3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8964" y="4426826"/>
            <a:ext cx="1434662" cy="422713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AE4F2"/>
          </a:solidFill>
          <a:ln xmlns:a="http://schemas.openxmlformats.org/drawingml/2006/main" w="19214">
            <a:solidFill>
              <a:srgbClr val="6B3FA0"/>
            </a:solidFill>
            <a:prstDash val="solid"/>
          </a:ln>
        </p:spPr>
      </p:sp>
      <p:sp>
        <p:nvSpPr>
          <p:cNvPr id="16" name="diagram-label">
            <a:extLst xmlns:a="http://schemas.openxmlformats.org/drawingml/2006/main">
              <a:ext uri="{FF2B5EF4-FFF2-40B4-BE49-F238E27FC236}">
                <a16:creationId xmlns:a16="http://schemas.microsoft.com/office/drawing/2014/main" id="{1E5FDADF-3CDE-4F62-9568-BEFBB2C68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3011" y="4471659"/>
            <a:ext cx="1306567" cy="3330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11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ctr">
              <a:lnSpc>
                <a:spcPct val="135000"/>
              </a:lnSpc>
              <a:buNone/>
              <a:defRPr sz="1311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1311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Дупликат</a:t>
            </a:r>
          </a:p>
        </p:txBody>
      </p:sp>
      <p:sp>
        <p:nvSpPr>
          <p:cNvPr id="17" name="diagram-node">
            <a:extLst xmlns:a="http://schemas.openxmlformats.org/drawingml/2006/main">
              <a:ext uri="{FF2B5EF4-FFF2-40B4-BE49-F238E27FC236}">
                <a16:creationId xmlns:a16="http://schemas.microsoft.com/office/drawing/2014/main" id="{0D03DB23-A099-459D-BA1D-CC6FBD638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1624" y="4426826"/>
            <a:ext cx="1434662" cy="422713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19214">
            <a:solidFill>
              <a:srgbClr val="13202D"/>
            </a:solidFill>
            <a:prstDash val="solid"/>
          </a:ln>
        </p:spPr>
      </p:sp>
      <p:sp>
        <p:nvSpPr>
          <p:cNvPr id="18" name="diagram-label">
            <a:extLst xmlns:a="http://schemas.openxmlformats.org/drawingml/2006/main">
              <a:ext uri="{FF2B5EF4-FFF2-40B4-BE49-F238E27FC236}">
                <a16:creationId xmlns:a16="http://schemas.microsoft.com/office/drawing/2014/main" id="{A5BAC7A5-8CA0-4761-914F-8AEA8BD90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5672" y="4471659"/>
            <a:ext cx="1306567" cy="3330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11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ctr">
              <a:lnSpc>
                <a:spcPct val="135000"/>
              </a:lnSpc>
              <a:buNone/>
              <a:defRPr sz="1311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1311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1 ефекат</a:t>
            </a:r>
          </a:p>
        </p:txBody>
      </p:sp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9D8852-384F-410C-8A2D-16AF642A4100}"/>
              </a:ext>
            </a:extLst>
          </p:cNvPr>
          <p:cNvCxnSpPr/>
          <p:nvPr/>
        </p:nvCxnSpPr>
        <p:spPr>
          <a:xfrm xmlns:a="http://schemas.openxmlformats.org/drawingml/2006/main" rot="0">
            <a:off x="9342054" y="4638182"/>
            <a:ext cx="461141" cy="0"/>
          </a:xfrm>
          <a:prstGeom xmlns:a="http://schemas.openxmlformats.org/drawingml/2006/main" prst="straightConnector1">
            <a:avLst/>
          </a:prstGeom>
          <a:ln xmlns:a="http://schemas.openxmlformats.org/drawingml/2006/main" w="19214">
            <a:solidFill>
              <a:srgbClr val="6B3FA0"/>
            </a:solidFill>
            <a:prstDash val="solid"/>
            <a:tailEnd type="triangle" w="sm" len="sm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469C994-40B3-4857-85DD-7B615844E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5781675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FC415B6-89D2-4777-B852-B5BC09A74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953125"/>
            <a:ext cx="9525000" cy="268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4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14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Факултет техничких наука · Универзитет у Новом Саду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7C510C4-F687-4CD8-AB7C-47E27EB78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229350"/>
            <a:ext cx="9525000" cy="2343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Нови Сад</a:t>
            </a:r>
          </a:p>
        </p:txBody>
      </p:sp>
    </p:spTree>
    <p:extLst>
      <p:ext uri="{BB962C8B-B14F-4D97-AF65-F5344CB8AC3E}">
        <p14:creationId xmlns:p14="http://schemas.microsoft.com/office/powerpoint/2010/main" val="134306651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C8A4977-6652-4DE4-B226-EB6503B28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7200"/>
            <a:ext cx="4572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B3F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5C72CA-6F36-4B18-A638-F7617BB00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714375"/>
            <a:ext cx="1057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6B3FA0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1">
                <a:solidFill>
                  <a:srgbClr val="6B3FA0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1">
                <a:solidFill>
                  <a:srgbClr val="6B3FA0"/>
                </a:solidFill>
                <a:latin typeface="IBM Plex Mono"/>
                <a:ea typeface="IBM Plex Mono"/>
                <a:cs typeface="IBM Plex Mono"/>
              </a:rPr>
              <a:t>ПРОВЕРА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982163A-EDFE-46A9-96BA-3459AFBF7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981075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Садржај презентације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D9FCB1-A45D-4B15-A312-0B5889F55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333625"/>
            <a:ext cx="2528888" cy="2924175"/>
          </a:xfrm>
          <a:prstGeom xmlns:a="http://schemas.openxmlformats.org/drawingml/2006/main" prst="roundRect">
            <a:avLst>
              <a:gd name="adj" fmla="val 3766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729630-2F42-4EF3-A936-42FDE630B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524125"/>
            <a:ext cx="3619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B3F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DF6C1A-00F0-451C-8BAF-75C99AFEF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762250"/>
            <a:ext cx="2185988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0">
                <a:solidFill>
                  <a:srgbClr val="6B3FA0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3000" b="0">
                <a:solidFill>
                  <a:srgbClr val="6B3FA0"/>
                </a:solidFill>
                <a:latin typeface="IBM Plex Mono"/>
                <a:ea typeface="IBM Plex Mono"/>
                <a:cs typeface="IBM Plex Mono"/>
              </a:defRPr>
            </a:pPr>
            <a:r>
              <a:rPr sz="3000" b="0">
                <a:solidFill>
                  <a:srgbClr val="6B3FA0"/>
                </a:solidFill>
                <a:latin typeface="IBM Plex Mono"/>
                <a:ea typeface="IBM Plex Mono"/>
                <a:cs typeface="IBM Plex Mono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4DAB9F-9E14-4FD1-960B-C967AA6F1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409950"/>
            <a:ext cx="2185988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25000"/>
              </a:lnSpc>
              <a:buNone/>
              <a:defRPr sz="1725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1725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Појмови и границе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2E1677-4250-4572-9999-10668FF5D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162425"/>
            <a:ext cx="2185988" cy="6686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2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Кључни појмови,</a:t>
            </a:r>
          </a:p>
          <a:p xmlns:a="http://schemas.openxmlformats.org/drawingml/2006/main">
            <a:pPr algn="l">
              <a:lnSpc>
                <a:spcPct val="140000"/>
              </a:lnSpc>
              <a:buNone/>
              <a:defRPr sz="12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одговорности компоненти и</a:t>
            </a:r>
          </a:p>
          <a:p xmlns:a="http://schemas.openxmlformats.org/drawingml/2006/main">
            <a:pPr algn="l">
              <a:lnSpc>
                <a:spcPct val="140000"/>
              </a:lnSpc>
              <a:buNone/>
              <a:defRPr sz="12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конкретан failure сценарио.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05BDED-688A-4187-8F24-5A7A853B8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914900"/>
            <a:ext cx="2185988" cy="2343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03–10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186098-6C78-443E-89D4-2D7FAD830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0913" y="2333625"/>
            <a:ext cx="2528888" cy="2924175"/>
          </a:xfrm>
          <a:prstGeom xmlns:a="http://schemas.openxmlformats.org/drawingml/2006/main" prst="roundRect">
            <a:avLst>
              <a:gd name="adj" fmla="val 3766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ECE681-5410-477E-8CBB-6B9A31DDD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2363" y="2524125"/>
            <a:ext cx="3619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B3F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310330-351C-412D-AFD3-1E8FB3B15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2363" y="2762250"/>
            <a:ext cx="2185988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0">
                <a:solidFill>
                  <a:srgbClr val="6B3FA0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3000" b="0">
                <a:solidFill>
                  <a:srgbClr val="6B3FA0"/>
                </a:solidFill>
                <a:latin typeface="IBM Plex Mono"/>
                <a:ea typeface="IBM Plex Mono"/>
                <a:cs typeface="IBM Plex Mono"/>
              </a:defRPr>
            </a:pPr>
            <a:r>
              <a:rPr sz="3000" b="0">
                <a:solidFill>
                  <a:srgbClr val="6B3FA0"/>
                </a:solidFill>
                <a:latin typeface="IBM Plex Mono"/>
                <a:ea typeface="IBM Plex Mono"/>
                <a:cs typeface="IBM Plex Mon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8F5BA9-A44D-4F9B-92B6-2B001EE15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2363" y="3409950"/>
            <a:ext cx="2185988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25000"/>
              </a:lnSpc>
              <a:buNone/>
              <a:defRPr sz="1725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1725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Дистрибуирани ток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22FB93-9D88-48D6-AB1A-CB88F9786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2363" y="4162425"/>
            <a:ext cx="2185988" cy="4552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2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Шема тока и гаранције које</a:t>
            </a:r>
          </a:p>
          <a:p xmlns:a="http://schemas.openxmlformats.org/drawingml/2006/main">
            <a:pPr algn="l">
              <a:lnSpc>
                <a:spcPct val="140000"/>
              </a:lnSpc>
              <a:buNone/>
              <a:defRPr sz="12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повезују компоненте система.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293E95-15AF-479D-834C-75836EBC9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2363" y="4914900"/>
            <a:ext cx="2185988" cy="2343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11–13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DD323B-FED7-4DDF-9146-6F62D1199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333625"/>
            <a:ext cx="2528888" cy="2924175"/>
          </a:xfrm>
          <a:prstGeom xmlns:a="http://schemas.openxmlformats.org/drawingml/2006/main" prst="roundRect">
            <a:avLst>
              <a:gd name="adj" fmla="val 3766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5B38F9-4F46-450A-AF5F-58C87D3C1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524125"/>
            <a:ext cx="3619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B3F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70B634-26B8-4B8C-B1A6-46D8A317F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762250"/>
            <a:ext cx="2185988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0">
                <a:solidFill>
                  <a:srgbClr val="6B3FA0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3000" b="0">
                <a:solidFill>
                  <a:srgbClr val="6B3FA0"/>
                </a:solidFill>
                <a:latin typeface="IBM Plex Mono"/>
                <a:ea typeface="IBM Plex Mono"/>
                <a:cs typeface="IBM Plex Mono"/>
              </a:defRPr>
            </a:pPr>
            <a:r>
              <a:rPr sz="3000" b="0">
                <a:solidFill>
                  <a:srgbClr val="6B3FA0"/>
                </a:solidFill>
                <a:latin typeface="IBM Plex Mono"/>
                <a:ea typeface="IBM Plex Mono"/>
                <a:cs typeface="IBM Plex Mono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5D7B5F5-2B8D-453C-B1F5-DAFD360AF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409950"/>
            <a:ext cx="2185988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25000"/>
              </a:lnSpc>
              <a:buNone/>
              <a:defRPr sz="1725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1725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Код и failure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725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1725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тестови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FC7DBBF-D022-4AB7-B426-E3F4D00A1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162425"/>
            <a:ext cx="2185988" cy="6686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2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Покретање примера,</a:t>
            </a:r>
          </a:p>
          <a:p xmlns:a="http://schemas.openxmlformats.org/drawingml/2006/main">
            <a:pPr algn="l">
              <a:lnSpc>
                <a:spcPct val="140000"/>
              </a:lnSpc>
              <a:buNone/>
              <a:defRPr sz="12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доменско правило, тест и</a:t>
            </a:r>
          </a:p>
          <a:p xmlns:a="http://schemas.openxmlformats.org/drawingml/2006/main">
            <a:pPr algn="l">
              <a:lnSpc>
                <a:spcPct val="140000"/>
              </a:lnSpc>
              <a:buNone/>
              <a:defRPr sz="12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видљиви исходи.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9607982-09EA-4175-B2F9-3F9BA59CF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914900"/>
            <a:ext cx="2185988" cy="2343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14–18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948D177-1C4E-498E-BF38-19259A082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3488" y="2333625"/>
            <a:ext cx="2528888" cy="2924175"/>
          </a:xfrm>
          <a:prstGeom xmlns:a="http://schemas.openxmlformats.org/drawingml/2006/main" prst="roundRect">
            <a:avLst>
              <a:gd name="adj" fmla="val 3766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9DEC895-52DC-4FB2-842F-2BBCC8B34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4938" y="2524125"/>
            <a:ext cx="3619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B3F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45F1C25-2182-4786-8711-7F4124E10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4938" y="2762250"/>
            <a:ext cx="2185988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0">
                <a:solidFill>
                  <a:srgbClr val="6B3FA0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3000" b="0">
                <a:solidFill>
                  <a:srgbClr val="6B3FA0"/>
                </a:solidFill>
                <a:latin typeface="IBM Plex Mono"/>
                <a:ea typeface="IBM Plex Mono"/>
                <a:cs typeface="IBM Plex Mono"/>
              </a:defRPr>
            </a:pPr>
            <a:r>
              <a:rPr sz="3000" b="0">
                <a:solidFill>
                  <a:srgbClr val="6B3FA0"/>
                </a:solidFill>
                <a:latin typeface="IBM Plex Mono"/>
                <a:ea typeface="IBM Plex Mono"/>
                <a:cs typeface="IBM Plex Mono"/>
              </a:rP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06B770B-0E70-4206-BBD3-52D30F0C5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4938" y="3409950"/>
            <a:ext cx="2185988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25000"/>
              </a:lnSpc>
              <a:buNone/>
              <a:defRPr sz="1725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1725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Примена и провера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C999BAF-3255-4932-9631-5E90D3442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4938" y="4162425"/>
            <a:ext cx="2185988" cy="6686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2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Принципи, замке, задатак уз</a:t>
            </a:r>
          </a:p>
          <a:p xmlns:a="http://schemas.openxmlformats.org/drawingml/2006/main">
            <a:pPr algn="l">
              <a:lnSpc>
                <a:spcPct val="140000"/>
              </a:lnSpc>
              <a:buNone/>
              <a:defRPr sz="12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пример и примена на</a:t>
            </a:r>
          </a:p>
          <a:p xmlns:a="http://schemas.openxmlformats.org/drawingml/2006/main">
            <a:pPr algn="l">
              <a:lnSpc>
                <a:spcPct val="140000"/>
              </a:lnSpc>
              <a:buNone/>
              <a:defRPr sz="12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пројектну целину.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1D63623-1BB6-47A8-AEDC-BDE9F0DCC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4938" y="4914900"/>
            <a:ext cx="2185988" cy="2343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19–26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9FFDEFB-E9BC-48AD-AC3B-EDEED9F74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619125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00F8065-7C93-40E4-9085-30C71D68D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296025"/>
            <a:ext cx="9858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дистрибуираног програмирања</a:t>
            </a:r>
          </a:p>
        </p:txBody>
      </p:sp>
      <p:sp>
        <p:nvSpPr>
          <p:cNvPr id="30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3E08C695-8551-453F-ABE3-1902C635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2960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r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33230419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EAE7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0F2B04-1DE0-4959-B72A-F9FB98995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714500"/>
            <a:ext cx="2667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3875" b="0">
                <a:solidFill>
                  <a:srgbClr val="6B3FA0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3875" b="0">
                <a:solidFill>
                  <a:srgbClr val="6B3FA0"/>
                </a:solidFill>
                <a:latin typeface="IBM Plex Mono"/>
                <a:ea typeface="IBM Plex Mono"/>
                <a:cs typeface="IBM Plex Mono"/>
              </a:defRPr>
            </a:pPr>
            <a:r>
              <a:rPr sz="13875" b="0">
                <a:solidFill>
                  <a:srgbClr val="6B3FA0"/>
                </a:solidFill>
                <a:latin typeface="IBM Plex Mono"/>
                <a:ea typeface="IBM Plex Mono"/>
                <a:cs typeface="IBM Plex Mono"/>
              </a:rPr>
              <a:t>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203024-99B5-4182-9A6C-BC32AE487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152650"/>
            <a:ext cx="6858000" cy="2343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6B3FA0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1">
                <a:solidFill>
                  <a:srgbClr val="6B3FA0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1">
                <a:solidFill>
                  <a:srgbClr val="6B3FA0"/>
                </a:solidFill>
                <a:latin typeface="IBM Plex Mono"/>
                <a:ea typeface="IBM Plex Mono"/>
                <a:cs typeface="IBM Plex Mono"/>
              </a:rPr>
              <a:t>ПРВИ ДЕО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F7E1D5-A7F8-4CAA-8E4C-E0392EC02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609850"/>
            <a:ext cx="6858000" cy="6991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8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48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48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Појмови и границе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A77860-D45C-4D7F-9F43-5DDDC2CF9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537585"/>
            <a:ext cx="685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45000"/>
              </a:lnSpc>
              <a:buNone/>
              <a:defRPr sz="15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5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Кључни појмови, одговорности компоненти и конкретан failure сценарио.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3C9B4E-BEB5-4CE4-836B-A70B55A1B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619125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5BBC1A-574A-4A09-8694-09E895586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296025"/>
            <a:ext cx="9858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дистрибуираног програмирања</a:t>
            </a:r>
          </a:p>
        </p:txBody>
      </p:sp>
      <p:sp>
        <p:nvSpPr>
          <p:cNvPr id="7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08DBF4EB-18CD-4F6D-A227-34161BB4A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2960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r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20051610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F1E1C3-2571-4494-9A79-F18FAB49A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7200"/>
            <a:ext cx="4572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B3F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80D62E-CBF9-44C4-99BC-CFBE98731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714375"/>
            <a:ext cx="1057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6B3FA0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1">
                <a:solidFill>
                  <a:srgbClr val="6B3FA0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1">
                <a:solidFill>
                  <a:srgbClr val="6B3FA0"/>
                </a:solidFill>
                <a:latin typeface="IBM Plex Mono"/>
                <a:ea typeface="IBM Plex Mono"/>
                <a:cs typeface="IBM Plex Mono"/>
              </a:rPr>
              <a:t>01 · ПОЈМОВИ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6682B74-D3CF-490F-AF6D-8BB569BB6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981075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Тема и проблем</a:t>
            </a:r>
          </a:p>
        </p:txBody>
      </p:sp>
      <p:sp>
        <p:nvSpPr>
          <p:cNvPr id="4" name="slide-lead">
            <a:extLst xmlns:a="http://schemas.openxmlformats.org/drawingml/2006/main">
              <a:ext uri="{FF2B5EF4-FFF2-40B4-BE49-F238E27FC236}">
                <a16:creationId xmlns:a16="http://schemas.microsoft.com/office/drawing/2014/main" id="{623CF450-8AD6-4281-9C01-FD15DA495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90675"/>
            <a:ext cx="10572750" cy="2775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Уградити неизвесност мреже у уговор, тест и образложење понашања.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694CAB-8C8B-4E48-92B4-AA97382FC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524125"/>
            <a:ext cx="9810750" cy="721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1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21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Поруке могу каснити, стићи поново или ван редоследа. Локално успешан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21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21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тест не доказује да сарадња компоненти остаје исправна.</a:t>
            </a:r>
          </a:p>
        </p:txBody>
      </p:sp>
      <p:sp>
        <p:nvSpPr>
          <p:cNvPr id="6" name="banner-background">
            <a:extLst xmlns:a="http://schemas.openxmlformats.org/drawingml/2006/main">
              <a:ext uri="{FF2B5EF4-FFF2-40B4-BE49-F238E27FC236}">
                <a16:creationId xmlns:a16="http://schemas.microsoft.com/office/drawing/2014/main" id="{B3FB1EA7-787B-4180-9C7F-628FBCEF3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33875"/>
            <a:ext cx="10572750" cy="975360"/>
          </a:xfrm>
          <a:prstGeom xmlns:a="http://schemas.openxmlformats.org/drawingml/2006/main" prst="roundRect">
            <a:avLst>
              <a:gd name="adj" fmla="val 7813"/>
            </a:avLst>
          </a:prstGeom>
          <a:solidFill xmlns:a="http://schemas.openxmlformats.org/drawingml/2006/main">
            <a:srgbClr val="EAE7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banner-curved-accent">
            <a:extLst xmlns:a="http://schemas.openxmlformats.org/drawingml/2006/main">
              <a:ext uri="{FF2B5EF4-FFF2-40B4-BE49-F238E27FC236}">
                <a16:creationId xmlns:a16="http://schemas.microsoft.com/office/drawing/2014/main" id="{0A42A95C-AE88-4E61-932B-FF5C3E647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33875"/>
            <a:ext cx="76200" cy="975360"/>
          </a:xfrm>
          <a:custGeom xmlns:a="http://schemas.openxmlformats.org/drawingml/2006/main">
            <a:pathLst>
              <a:path w="76200" h="975360">
                <a:moveTo>
                  <a:pt x="76200" y="0"/>
                </a:moveTo>
                <a:cubicBezTo>
                  <a:pt x="34100" y="0"/>
                  <a:pt x="0" y="34100"/>
                  <a:pt x="0" y="76200"/>
                </a:cubicBezTo>
                <a:lnTo>
                  <a:pt x="0" y="899160"/>
                </a:lnTo>
                <a:cubicBezTo>
                  <a:pt x="0" y="941261"/>
                  <a:pt x="34100" y="975360"/>
                  <a:pt x="76200" y="975360"/>
                </a:cubicBezTo>
                <a:lnTo>
                  <a:pt x="76200" y="937260"/>
                </a:lnTo>
                <a:cubicBezTo>
                  <a:pt x="55150" y="937260"/>
                  <a:pt x="38100" y="920210"/>
                  <a:pt x="38100" y="899160"/>
                </a:cubicBezTo>
                <a:lnTo>
                  <a:pt x="38100" y="76200"/>
                </a:lnTo>
                <a:cubicBezTo>
                  <a:pt x="38100" y="55150"/>
                  <a:pt x="55150" y="38100"/>
                  <a:pt x="76200" y="38100"/>
                </a:cubicBezTo>
                <a:close/>
              </a:path>
            </a:pathLst>
          </a:custGeom>
          <a:solidFill xmlns:a="http://schemas.openxmlformats.org/drawingml/2006/main">
            <a:srgbClr val="6B3FA0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0CB01D-B87C-45C1-8118-C06706399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4457700"/>
            <a:ext cx="101155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6B3FA0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1">
                <a:solidFill>
                  <a:srgbClr val="6B3FA0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1">
                <a:solidFill>
                  <a:srgbClr val="6B3FA0"/>
                </a:solidFill>
                <a:latin typeface="IBM Plex Mono"/>
                <a:ea typeface="IBM Plex Mono"/>
                <a:cs typeface="IBM Plex Mono"/>
              </a:rPr>
              <a:t>НАПОМЕНА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557B1C-8889-486A-BF36-B91DA29F5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4695825"/>
            <a:ext cx="10115550" cy="5086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Контролисани failure сценарији откривају границе система док су мале и разумљиве, а верзионисање чува кориснике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старог уговора.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9E34C8-36E0-4230-A6AD-F8651EED3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619125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38A88D-28BE-4101-8095-FF2A36EA5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296025"/>
            <a:ext cx="9858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дистрибуираног програмирања</a:t>
            </a:r>
          </a:p>
        </p:txBody>
      </p:sp>
      <p:sp>
        <p:nvSpPr>
          <p:cNvPr id="12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4BD8DB7F-D516-4746-B0C3-AA66A0A71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2960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r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09329949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79C9F0B-4AAC-42B1-860C-F6840C6A3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7200"/>
            <a:ext cx="4572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B3F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85BC99-9FD0-4989-A24B-34A3571EB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714375"/>
            <a:ext cx="1057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6B3FA0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1">
                <a:solidFill>
                  <a:srgbClr val="6B3FA0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1">
                <a:solidFill>
                  <a:srgbClr val="6B3FA0"/>
                </a:solidFill>
                <a:latin typeface="IBM Plex Mono"/>
                <a:ea typeface="IBM Plex Mono"/>
                <a:cs typeface="IBM Plex Mono"/>
              </a:rPr>
              <a:t>01 · ПОЈМОВИ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63F42A2-5035-4748-A951-A619A0F4C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981075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Четири појма теме</a:t>
            </a:r>
          </a:p>
        </p:txBody>
      </p:sp>
      <p:sp>
        <p:nvSpPr>
          <p:cNvPr id="4" name="slide-lead">
            <a:extLst xmlns:a="http://schemas.openxmlformats.org/drawingml/2006/main">
              <a:ext uri="{FF2B5EF4-FFF2-40B4-BE49-F238E27FC236}">
                <a16:creationId xmlns:a16="http://schemas.microsoft.com/office/drawing/2014/main" id="{C573FF99-28C0-49F4-9F14-077C1351E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90675"/>
            <a:ext cx="10572750" cy="2775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У дистрибуираном систему нормалан сценарио никада није цела прича.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CD3CF2-344D-4730-8372-2C3333E70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333625"/>
            <a:ext cx="5162550" cy="1495425"/>
          </a:xfrm>
          <a:prstGeom xmlns:a="http://schemas.openxmlformats.org/drawingml/2006/main" prst="roundRect">
            <a:avLst>
              <a:gd name="adj" fmla="val 6369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DB84C5-F122-4786-9952-6CA8BC52D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486025"/>
            <a:ext cx="762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98" b="0">
                <a:solidFill>
                  <a:srgbClr val="6B3FA0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198" b="0">
                <a:solidFill>
                  <a:srgbClr val="6B3FA0"/>
                </a:solidFill>
                <a:latin typeface="IBM Plex Mono"/>
                <a:ea typeface="IBM Plex Mono"/>
                <a:cs typeface="IBM Plex Mono"/>
              </a:defRPr>
            </a:pPr>
            <a:r>
              <a:rPr sz="2198" b="0">
                <a:solidFill>
                  <a:srgbClr val="6B3FA0"/>
                </a:solidFill>
                <a:latin typeface="IBM Plex Mono"/>
                <a:ea typeface="IBM Plex Mono"/>
                <a:cs typeface="IBM Plex Mono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CAA2BA-C31D-4CF0-8560-DF7CB7413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5" y="2543175"/>
            <a:ext cx="3848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725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1725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Промена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182405-0678-4B80-885A-4CEAEB15F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5" y="3190875"/>
            <a:ext cx="3848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4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44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4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нови уговор или понашање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61D1F1-5D37-48D2-AFAD-A8CC6C095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2333625"/>
            <a:ext cx="5162550" cy="1495425"/>
          </a:xfrm>
          <a:prstGeom xmlns:a="http://schemas.openxmlformats.org/drawingml/2006/main" prst="roundRect">
            <a:avLst>
              <a:gd name="adj" fmla="val 6369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A18DDF-08FA-4539-ACC0-20112D227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486025"/>
            <a:ext cx="762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98" b="0">
                <a:solidFill>
                  <a:srgbClr val="6B3FA0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198" b="0">
                <a:solidFill>
                  <a:srgbClr val="6B3FA0"/>
                </a:solidFill>
                <a:latin typeface="IBM Plex Mono"/>
                <a:ea typeface="IBM Plex Mono"/>
                <a:cs typeface="IBM Plex Mono"/>
              </a:defRPr>
            </a:pPr>
            <a:r>
              <a:rPr sz="2198" b="0">
                <a:solidFill>
                  <a:srgbClr val="6B3FA0"/>
                </a:solidFill>
                <a:latin typeface="IBM Plex Mono"/>
                <a:ea typeface="IBM Plex Mono"/>
                <a:cs typeface="IBM Plex Mono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89C1D7-CEC5-4B9A-9F11-4DC5AD503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543175"/>
            <a:ext cx="3848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725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1725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Компатибилност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B5E791-7382-4846-90CD-CB37E10F4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190875"/>
            <a:ext cx="3848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4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44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4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шта стари корисници разумеју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12BB78-569B-4860-9F52-934FFAB21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038600"/>
            <a:ext cx="5162550" cy="1495425"/>
          </a:xfrm>
          <a:prstGeom xmlns:a="http://schemas.openxmlformats.org/drawingml/2006/main" prst="roundRect">
            <a:avLst>
              <a:gd name="adj" fmla="val 6369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587D31-C8C4-4E32-BDB5-29FC30984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191000"/>
            <a:ext cx="762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98" b="0">
                <a:solidFill>
                  <a:srgbClr val="6B3FA0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198" b="0">
                <a:solidFill>
                  <a:srgbClr val="6B3FA0"/>
                </a:solidFill>
                <a:latin typeface="IBM Plex Mono"/>
                <a:ea typeface="IBM Plex Mono"/>
                <a:cs typeface="IBM Plex Mono"/>
              </a:defRPr>
            </a:pPr>
            <a:r>
              <a:rPr sz="2198" b="0">
                <a:solidFill>
                  <a:srgbClr val="6B3FA0"/>
                </a:solidFill>
                <a:latin typeface="IBM Plex Mono"/>
                <a:ea typeface="IBM Plex Mono"/>
                <a:cs typeface="IBM Plex Mono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D58544-69C4-4DB0-8507-E8B0ED8A2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5" y="4248150"/>
            <a:ext cx="3848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725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1725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Failure сценарио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8E34EA-31E5-4A40-A359-09A36FE38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5" y="4895850"/>
            <a:ext cx="3848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4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44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4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контролисана сметња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1DF16A-2F58-45EA-9B25-0D082DF18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4038600"/>
            <a:ext cx="5162550" cy="1495425"/>
          </a:xfrm>
          <a:prstGeom xmlns:a="http://schemas.openxmlformats.org/drawingml/2006/main" prst="roundRect">
            <a:avLst>
              <a:gd name="adj" fmla="val 6369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EA1F80-7F38-4B5C-A13B-EE18A9EA6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4191000"/>
            <a:ext cx="762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98" b="0">
                <a:solidFill>
                  <a:srgbClr val="6B3FA0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198" b="0">
                <a:solidFill>
                  <a:srgbClr val="6B3FA0"/>
                </a:solidFill>
                <a:latin typeface="IBM Plex Mono"/>
                <a:ea typeface="IBM Plex Mono"/>
                <a:cs typeface="IBM Plex Mono"/>
              </a:defRPr>
            </a:pPr>
            <a:r>
              <a:rPr sz="2198" b="0">
                <a:solidFill>
                  <a:srgbClr val="6B3FA0"/>
                </a:solidFill>
                <a:latin typeface="IBM Plex Mono"/>
                <a:ea typeface="IBM Plex Mono"/>
                <a:cs typeface="IBM Plex Mono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FA95ED9-C99F-4ABD-B5F8-19DB4CEBB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4248150"/>
            <a:ext cx="3848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725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1725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Тест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EDA382E-6DEF-4F4B-AE9D-82911C1BA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4895850"/>
            <a:ext cx="3848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4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44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4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доказ очекиваног исхода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EF84455-E2D0-4454-A50A-6504DBA60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619125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411641D-CCD0-4D0F-AD2D-381BFB548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296025"/>
            <a:ext cx="9858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дистрибуираног програмирања</a:t>
            </a:r>
          </a:p>
        </p:txBody>
      </p:sp>
      <p:sp>
        <p:nvSpPr>
          <p:cNvPr id="23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98975C02-8131-441C-8449-4D788E138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2960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r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37252881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B3E5A8-3B76-401C-BCE9-65085F046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7200"/>
            <a:ext cx="4572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B3F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B17AB6-06D3-4976-8243-0C4F889DA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714375"/>
            <a:ext cx="1057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6B3FA0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1">
                <a:solidFill>
                  <a:srgbClr val="6B3FA0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1">
                <a:solidFill>
                  <a:srgbClr val="6B3FA0"/>
                </a:solidFill>
                <a:latin typeface="IBM Plex Mono"/>
                <a:ea typeface="IBM Plex Mono"/>
                <a:cs typeface="IBM Plex Mono"/>
              </a:rPr>
              <a:t>01 · ПОЈМОВИ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1CEE9B4-7FE3-4B4D-967C-F2065BF32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981075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Промена уговора</a:t>
            </a:r>
          </a:p>
        </p:txBody>
      </p:sp>
      <p:sp>
        <p:nvSpPr>
          <p:cNvPr id="4" name="slide-lead">
            <a:extLst xmlns:a="http://schemas.openxmlformats.org/drawingml/2006/main">
              <a:ext uri="{FF2B5EF4-FFF2-40B4-BE49-F238E27FC236}">
                <a16:creationId xmlns:a16="http://schemas.microsoft.com/office/drawing/2014/main" id="{AD8AA4F0-A205-484D-B6A9-D505F9D32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90675"/>
            <a:ext cx="10572750" cy="526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Свака промена поруке утиче на бар једног пошиљаоца или примаоца. Пре објаве треба знати да ли старији корисник и даље</a:t>
            </a:r>
          </a:p>
          <a:p xmlns:a="http://schemas.openxmlformats.org/drawingml/2006/main">
            <a:pPr algn="l">
              <a:lnSpc>
                <a:spcPct val="140000"/>
              </a:lnSpc>
              <a:buNone/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може да сарађује.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4C6FB8-49AD-4410-9724-4610559C1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2364829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AB5895-1982-4278-8A72-D2EA7E05F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88654"/>
            <a:ext cx="6953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98" b="0">
                <a:solidFill>
                  <a:srgbClr val="6B3FA0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198" b="0">
                <a:solidFill>
                  <a:srgbClr val="6B3FA0"/>
                </a:solidFill>
                <a:latin typeface="IBM Plex Mono"/>
                <a:ea typeface="IBM Plex Mono"/>
                <a:cs typeface="IBM Plex Mono"/>
              </a:defRPr>
            </a:pPr>
            <a:r>
              <a:rPr sz="2198" b="0">
                <a:solidFill>
                  <a:srgbClr val="6B3FA0"/>
                </a:solidFill>
                <a:latin typeface="IBM Plex Mono"/>
                <a:ea typeface="IBM Plex Mono"/>
                <a:cs typeface="IBM Plex Mono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F50F68-B3E1-458B-A8E3-8C0EEFA46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507704"/>
            <a:ext cx="9791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6000"/>
              </a:lnSpc>
              <a:buNone/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Утиче на бар једног пошиљаоца или примаоца.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F47ACE-5671-4BC0-A137-EFEBEAA30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2917279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21064F-7547-4A8E-9309-A4F984839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041104"/>
            <a:ext cx="6953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98" b="0">
                <a:solidFill>
                  <a:srgbClr val="6B3FA0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198" b="0">
                <a:solidFill>
                  <a:srgbClr val="6B3FA0"/>
                </a:solidFill>
                <a:latin typeface="IBM Plex Mono"/>
                <a:ea typeface="IBM Plex Mono"/>
                <a:cs typeface="IBM Plex Mono"/>
              </a:defRPr>
            </a:pPr>
            <a:r>
              <a:rPr sz="2198" b="0">
                <a:solidFill>
                  <a:srgbClr val="6B3FA0"/>
                </a:solidFill>
                <a:latin typeface="IBM Plex Mono"/>
                <a:ea typeface="IBM Plex Mono"/>
                <a:cs typeface="IBM Plex Mono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638096-7F09-4929-8A8D-299EB5DDA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060154"/>
            <a:ext cx="9791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6000"/>
              </a:lnSpc>
              <a:buNone/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Објављена верзија се не мења у месту.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E80473-EF97-4C88-B16B-48DBAD8DF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3469729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B4B534-C6AD-4731-AF01-7E531B210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93554"/>
            <a:ext cx="6953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98" b="0">
                <a:solidFill>
                  <a:srgbClr val="6B3FA0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198" b="0">
                <a:solidFill>
                  <a:srgbClr val="6B3FA0"/>
                </a:solidFill>
                <a:latin typeface="IBM Plex Mono"/>
                <a:ea typeface="IBM Plex Mono"/>
                <a:cs typeface="IBM Plex Mono"/>
              </a:defRPr>
            </a:pPr>
            <a:r>
              <a:rPr sz="2198" b="0">
                <a:solidFill>
                  <a:srgbClr val="6B3FA0"/>
                </a:solidFill>
                <a:latin typeface="IBM Plex Mono"/>
                <a:ea typeface="IBM Plex Mono"/>
                <a:cs typeface="IBM Plex Mono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0E9A00-BA73-4927-A663-0DDF098AC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612604"/>
            <a:ext cx="9791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6000"/>
              </a:lnSpc>
              <a:buNone/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Старији корисник мора и даље моћи да сарађује.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A4FE2C-B08C-4C0C-B145-EB4AC30C6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619125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478198-6C8C-47C8-B067-2D60E6700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296025"/>
            <a:ext cx="9858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дистрибуираног програмирања</a:t>
            </a:r>
          </a:p>
        </p:txBody>
      </p:sp>
      <p:sp>
        <p:nvSpPr>
          <p:cNvPr id="16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0FEECE84-7235-459D-A373-A21B1C28C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2960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r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11687830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19451C-A5C4-4C2B-A727-A428DBBD4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7200"/>
            <a:ext cx="4572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B3F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DB7EDF-1355-49ED-84E8-C047FAFAF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714375"/>
            <a:ext cx="1057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6B3FA0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1">
                <a:solidFill>
                  <a:srgbClr val="6B3FA0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1">
                <a:solidFill>
                  <a:srgbClr val="6B3FA0"/>
                </a:solidFill>
                <a:latin typeface="IBM Plex Mono"/>
                <a:ea typeface="IBM Plex Mono"/>
                <a:cs typeface="IBM Plex Mono"/>
              </a:rPr>
              <a:t>01 · ПОЈМОВИ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EF27404-AE7C-4403-B50C-33DC45EAF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981075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Компатибилност</a:t>
            </a:r>
          </a:p>
        </p:txBody>
      </p:sp>
      <p:sp>
        <p:nvSpPr>
          <p:cNvPr id="4" name="slide-lead">
            <a:extLst xmlns:a="http://schemas.openxmlformats.org/drawingml/2006/main">
              <a:ext uri="{FF2B5EF4-FFF2-40B4-BE49-F238E27FC236}">
                <a16:creationId xmlns:a16="http://schemas.microsoft.com/office/drawing/2014/main" id="{57224145-654E-40C1-9BAE-0D858DB2B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90675"/>
            <a:ext cx="10572750" cy="526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Компатибилност се посматра из угла примаоца: може ли да разуме нову или стару поруку без погрешне пословне</a:t>
            </a:r>
          </a:p>
          <a:p xmlns:a="http://schemas.openxmlformats.org/drawingml/2006/main">
            <a:pPr algn="l">
              <a:lnSpc>
                <a:spcPct val="140000"/>
              </a:lnSpc>
              <a:buNone/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интерпретације?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2079E1-82B0-4922-87A3-E61B3B7A8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2364829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40C672-FA91-4A5D-A762-35F4C8929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88654"/>
            <a:ext cx="6953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98" b="0">
                <a:solidFill>
                  <a:srgbClr val="6B3FA0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198" b="0">
                <a:solidFill>
                  <a:srgbClr val="6B3FA0"/>
                </a:solidFill>
                <a:latin typeface="IBM Plex Mono"/>
                <a:ea typeface="IBM Plex Mono"/>
                <a:cs typeface="IBM Plex Mono"/>
              </a:defRPr>
            </a:pPr>
            <a:r>
              <a:rPr sz="2198" b="0">
                <a:solidFill>
                  <a:srgbClr val="6B3FA0"/>
                </a:solidFill>
                <a:latin typeface="IBM Plex Mono"/>
                <a:ea typeface="IBM Plex Mono"/>
                <a:cs typeface="IBM Plex Mono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55EF0A-21ED-4D1A-9D03-82E97584B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507704"/>
            <a:ext cx="9791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6000"/>
              </a:lnSpc>
              <a:buNone/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Посматра се из угла примаоца, не пошиљаоца.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BB480A-426E-4443-BEF1-EE048F1C9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2917279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0D38D0-8144-4B62-8442-09958E5F5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041104"/>
            <a:ext cx="6953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98" b="0">
                <a:solidFill>
                  <a:srgbClr val="6B3FA0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198" b="0">
                <a:solidFill>
                  <a:srgbClr val="6B3FA0"/>
                </a:solidFill>
                <a:latin typeface="IBM Plex Mono"/>
                <a:ea typeface="IBM Plex Mono"/>
                <a:cs typeface="IBM Plex Mono"/>
              </a:defRPr>
            </a:pPr>
            <a:r>
              <a:rPr sz="2198" b="0">
                <a:solidFill>
                  <a:srgbClr val="6B3FA0"/>
                </a:solidFill>
                <a:latin typeface="IBM Plex Mono"/>
                <a:ea typeface="IBM Plex Mono"/>
                <a:cs typeface="IBM Plex Mono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0C1067-7727-47D3-BFCF-74346CCBB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060154"/>
            <a:ext cx="9791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6000"/>
              </a:lnSpc>
              <a:buNone/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Breaking промена се не сме означити као компатибилна.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CCD6CB-BC7C-4DF6-AE39-FABCDB80F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3469729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3FE0CC-DDDE-44ED-BF27-1447A8F49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93554"/>
            <a:ext cx="6953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98" b="0">
                <a:solidFill>
                  <a:srgbClr val="6B3FA0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198" b="0">
                <a:solidFill>
                  <a:srgbClr val="6B3FA0"/>
                </a:solidFill>
                <a:latin typeface="IBM Plex Mono"/>
                <a:ea typeface="IBM Plex Mono"/>
                <a:cs typeface="IBM Plex Mono"/>
              </a:defRPr>
            </a:pPr>
            <a:r>
              <a:rPr sz="2198" b="0">
                <a:solidFill>
                  <a:srgbClr val="6B3FA0"/>
                </a:solidFill>
                <a:latin typeface="IBM Plex Mono"/>
                <a:ea typeface="IBM Plex Mono"/>
                <a:cs typeface="IBM Plex Mono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2F16C7-E01B-476E-89AD-056B0FA9E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612604"/>
            <a:ext cx="9791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6000"/>
              </a:lnSpc>
              <a:buNone/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Погрешна интерпретација је гора од одбијања поруке.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98D0E2-167F-481D-B7C6-823DF1ECE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619125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5789D3-08DB-477A-839D-02E96923D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296025"/>
            <a:ext cx="9858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дистрибуираног програмирања</a:t>
            </a:r>
          </a:p>
        </p:txBody>
      </p:sp>
      <p:sp>
        <p:nvSpPr>
          <p:cNvPr id="16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B9513DB1-36E4-4DE1-9831-242FAFE16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2960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r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09356054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46C589-7B92-4DB7-833B-FE8ECDED2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7200"/>
            <a:ext cx="4572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B3F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E25C90-AB89-40FC-9FD4-CEC85203A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714375"/>
            <a:ext cx="1057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6B3FA0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1">
                <a:solidFill>
                  <a:srgbClr val="6B3FA0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1">
                <a:solidFill>
                  <a:srgbClr val="6B3FA0"/>
                </a:solidFill>
                <a:latin typeface="IBM Plex Mono"/>
                <a:ea typeface="IBM Plex Mono"/>
                <a:cs typeface="IBM Plex Mono"/>
              </a:rPr>
              <a:t>01 · ПОЈМОВИ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E9ECA0D-0754-4B6B-AB41-4A694CDC8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981075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Failure сценарио</a:t>
            </a:r>
          </a:p>
        </p:txBody>
      </p:sp>
      <p:sp>
        <p:nvSpPr>
          <p:cNvPr id="4" name="slide-lead">
            <a:extLst xmlns:a="http://schemas.openxmlformats.org/drawingml/2006/main">
              <a:ext uri="{FF2B5EF4-FFF2-40B4-BE49-F238E27FC236}">
                <a16:creationId xmlns:a16="http://schemas.microsoft.com/office/drawing/2014/main" id="{C7F4290A-8258-4463-AB43-63D561B10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90675"/>
            <a:ext cx="10572750" cy="526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Failure сценарио намерно уводи кашњење, дупликат, прекид или промењен редослед. Тиме се проверава понашање које</a:t>
            </a:r>
          </a:p>
          <a:p xmlns:a="http://schemas.openxmlformats.org/drawingml/2006/main">
            <a:pPr algn="l">
              <a:lnSpc>
                <a:spcPct val="140000"/>
              </a:lnSpc>
              <a:buNone/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мрежа реално може изазвати.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9BA1FC-8582-484D-8EB6-27287E820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2364829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331D25-0A0E-4BC8-9A7B-7AC8EE5DF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88654"/>
            <a:ext cx="6953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98" b="0">
                <a:solidFill>
                  <a:srgbClr val="6B3FA0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198" b="0">
                <a:solidFill>
                  <a:srgbClr val="6B3FA0"/>
                </a:solidFill>
                <a:latin typeface="IBM Plex Mono"/>
                <a:ea typeface="IBM Plex Mono"/>
                <a:cs typeface="IBM Plex Mono"/>
              </a:defRPr>
            </a:pPr>
            <a:r>
              <a:rPr sz="2198" b="0">
                <a:solidFill>
                  <a:srgbClr val="6B3FA0"/>
                </a:solidFill>
                <a:latin typeface="IBM Plex Mono"/>
                <a:ea typeface="IBM Plex Mono"/>
                <a:cs typeface="IBM Plex Mono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A222C1-44E8-424B-AFD1-9BE062A39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507704"/>
            <a:ext cx="9791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6000"/>
              </a:lnSpc>
              <a:buNone/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Намерно уводи кашњење, дупликат или прекид.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0260FC-F764-4DAC-AC35-41170C315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2917279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7B8E01-7867-4DBF-A2F4-773CD7DA8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041104"/>
            <a:ext cx="6953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98" b="0">
                <a:solidFill>
                  <a:srgbClr val="6B3FA0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198" b="0">
                <a:solidFill>
                  <a:srgbClr val="6B3FA0"/>
                </a:solidFill>
                <a:latin typeface="IBM Plex Mono"/>
                <a:ea typeface="IBM Plex Mono"/>
                <a:cs typeface="IBM Plex Mono"/>
              </a:defRPr>
            </a:pPr>
            <a:r>
              <a:rPr sz="2198" b="0">
                <a:solidFill>
                  <a:srgbClr val="6B3FA0"/>
                </a:solidFill>
                <a:latin typeface="IBM Plex Mono"/>
                <a:ea typeface="IBM Plex Mono"/>
                <a:cs typeface="IBM Plex Mono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D6100B-C312-455E-A4B5-3DAB46EBF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060154"/>
            <a:ext cx="9791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6000"/>
              </a:lnSpc>
              <a:buNone/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Проверава реално мрежно понашање, не идеалан случај.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6B9A59-BA1E-4B98-9212-32713D024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3469729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96D618-89DF-4C39-B43A-893859113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93554"/>
            <a:ext cx="6953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98" b="0">
                <a:solidFill>
                  <a:srgbClr val="6B3FA0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198" b="0">
                <a:solidFill>
                  <a:srgbClr val="6B3FA0"/>
                </a:solidFill>
                <a:latin typeface="IBM Plex Mono"/>
                <a:ea typeface="IBM Plex Mono"/>
                <a:cs typeface="IBM Plex Mono"/>
              </a:defRPr>
            </a:pPr>
            <a:r>
              <a:rPr sz="2198" b="0">
                <a:solidFill>
                  <a:srgbClr val="6B3FA0"/>
                </a:solidFill>
                <a:latin typeface="IBM Plex Mono"/>
                <a:ea typeface="IBM Plex Mono"/>
                <a:cs typeface="IBM Plex Mono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89B227-02DD-41C8-90CC-6E0162FBD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612604"/>
            <a:ext cx="9791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6000"/>
              </a:lnSpc>
              <a:buNone/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Тестира се пре интеграције, не тек на крају.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07E90C-5574-45D1-A597-302066D43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619125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03B7F0-2EBF-46D3-8FC1-FAA5B1080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296025"/>
            <a:ext cx="9858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дистрибуираног програмирања</a:t>
            </a:r>
          </a:p>
        </p:txBody>
      </p:sp>
      <p:sp>
        <p:nvSpPr>
          <p:cNvPr id="16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3EB36A8B-5545-408F-A1F7-CBC04A1EF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2960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r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70054341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EFBD10-0221-4A11-8B4F-D89A2F2D9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7200"/>
            <a:ext cx="4572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B3F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6830B8-2A69-4A75-AFA4-A6991E60F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714375"/>
            <a:ext cx="1057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6B3FA0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1">
                <a:solidFill>
                  <a:srgbClr val="6B3FA0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1">
                <a:solidFill>
                  <a:srgbClr val="6B3FA0"/>
                </a:solidFill>
                <a:latin typeface="IBM Plex Mono"/>
                <a:ea typeface="IBM Plex Mono"/>
                <a:cs typeface="IBM Plex Mono"/>
              </a:rPr>
              <a:t>01 · ПОЈМОВИ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E1A3D3D-A035-4962-AE2A-A44B9692C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981075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Тестирани исход</a:t>
            </a:r>
          </a:p>
        </p:txBody>
      </p:sp>
      <p:sp>
        <p:nvSpPr>
          <p:cNvPr id="4" name="slide-lead">
            <a:extLst xmlns:a="http://schemas.openxmlformats.org/drawingml/2006/main">
              <a:ext uri="{FF2B5EF4-FFF2-40B4-BE49-F238E27FC236}">
                <a16:creationId xmlns:a16="http://schemas.microsoft.com/office/drawing/2014/main" id="{3F6D3E1F-96BE-44A0-BE65-2B425AE70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90675"/>
            <a:ext cx="10572750" cy="526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Тест треба да провери видљив пословни исход, а не само одсуство изузетка. То показује да сметња није променила значење</a:t>
            </a:r>
          </a:p>
          <a:p xmlns:a="http://schemas.openxmlformats.org/drawingml/2006/main">
            <a:pPr algn="l">
              <a:lnSpc>
                <a:spcPct val="140000"/>
              </a:lnSpc>
              <a:buNone/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операције.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66F96A-5A14-4515-B1F3-7DEE64860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2364829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E3A6E7-B508-4EEE-ACB2-F47238C8F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88654"/>
            <a:ext cx="6953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98" b="0">
                <a:solidFill>
                  <a:srgbClr val="6B3FA0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198" b="0">
                <a:solidFill>
                  <a:srgbClr val="6B3FA0"/>
                </a:solidFill>
                <a:latin typeface="IBM Plex Mono"/>
                <a:ea typeface="IBM Plex Mono"/>
                <a:cs typeface="IBM Plex Mono"/>
              </a:defRPr>
            </a:pPr>
            <a:r>
              <a:rPr sz="2198" b="0">
                <a:solidFill>
                  <a:srgbClr val="6B3FA0"/>
                </a:solidFill>
                <a:latin typeface="IBM Plex Mono"/>
                <a:ea typeface="IBM Plex Mono"/>
                <a:cs typeface="IBM Plex Mono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79590F-9644-4D1C-A499-546E75F44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507704"/>
            <a:ext cx="9791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6000"/>
              </a:lnSpc>
              <a:buNone/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Проверава видљив пословни исход, не само одсуство грешке.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D71B04-F667-4C41-B7E4-7493AE772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2917279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BB63DF-7BED-40DE-8841-BC1A1AB2C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041104"/>
            <a:ext cx="6953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98" b="0">
                <a:solidFill>
                  <a:srgbClr val="6B3FA0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198" b="0">
                <a:solidFill>
                  <a:srgbClr val="6B3FA0"/>
                </a:solidFill>
                <a:latin typeface="IBM Plex Mono"/>
                <a:ea typeface="IBM Plex Mono"/>
                <a:cs typeface="IBM Plex Mono"/>
              </a:defRPr>
            </a:pPr>
            <a:r>
              <a:rPr sz="2198" b="0">
                <a:solidFill>
                  <a:srgbClr val="6B3FA0"/>
                </a:solidFill>
                <a:latin typeface="IBM Plex Mono"/>
                <a:ea typeface="IBM Plex Mono"/>
                <a:cs typeface="IBM Plex Mono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942B35-1FA8-47B8-9782-358736EAD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060154"/>
            <a:ext cx="9791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6000"/>
              </a:lnSpc>
              <a:buNone/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Показује да сметња није променила значење операције.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A5DA58-ADAE-44C3-A6C5-FEE7CEF8F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3469729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E579B2-896C-4084-8504-614EB0123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93554"/>
            <a:ext cx="6953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98" b="0">
                <a:solidFill>
                  <a:srgbClr val="6B3FA0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198" b="0">
                <a:solidFill>
                  <a:srgbClr val="6B3FA0"/>
                </a:solidFill>
                <a:latin typeface="IBM Plex Mono"/>
                <a:ea typeface="IBM Plex Mono"/>
                <a:cs typeface="IBM Plex Mono"/>
              </a:defRPr>
            </a:pPr>
            <a:r>
              <a:rPr sz="2198" b="0">
                <a:solidFill>
                  <a:srgbClr val="6B3FA0"/>
                </a:solidFill>
                <a:latin typeface="IBM Plex Mono"/>
                <a:ea typeface="IBM Plex Mono"/>
                <a:cs typeface="IBM Plex Mono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E81656-CBF4-48F4-8141-6F8FC7EB7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612604"/>
            <a:ext cx="9791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6000"/>
              </a:lnSpc>
              <a:buNone/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Основа је за manual-core-baseline пре AI фазе.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59FF90-E76B-4B90-83CF-C417BE53A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619125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BD3E8D-2CF7-4D18-B8C4-34CC8AA06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296025"/>
            <a:ext cx="9858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дистрибуираног програмирања</a:t>
            </a:r>
          </a:p>
        </p:txBody>
      </p:sp>
      <p:sp>
        <p:nvSpPr>
          <p:cNvPr id="16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28FD8CCE-66F9-484D-B095-3A0936B43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2960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r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58962919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DAE6A2-3152-41E3-B3B1-AD39F79CB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7200"/>
            <a:ext cx="4572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B3F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8E0BFB-DC07-4D32-811F-5AE2E9CA5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714375"/>
            <a:ext cx="1057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6B3FA0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1">
                <a:solidFill>
                  <a:srgbClr val="6B3FA0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1">
                <a:solidFill>
                  <a:srgbClr val="6B3FA0"/>
                </a:solidFill>
                <a:latin typeface="IBM Plex Mono"/>
                <a:ea typeface="IBM Plex Mono"/>
                <a:cs typeface="IBM Plex Mono"/>
              </a:rPr>
              <a:t>01 · ПОЈМОВИ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EB640C8-CD5F-4F29-9493-5D0A635DF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981075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Пример: потврда стиже након истека рока</a:t>
            </a:r>
          </a:p>
        </p:txBody>
      </p:sp>
      <p:sp>
        <p:nvSpPr>
          <p:cNvPr id="4" name="slide-lead">
            <a:extLst xmlns:a="http://schemas.openxmlformats.org/drawingml/2006/main">
              <a:ext uri="{FF2B5EF4-FFF2-40B4-BE49-F238E27FC236}">
                <a16:creationId xmlns:a16="http://schemas.microsoft.com/office/drawing/2014/main" id="{57E61282-F4EF-4943-8599-F7D091966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90675"/>
            <a:ext cx="10572750" cy="2775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Компонента чека одговор до истека рока и покреће безбедан опоравак.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A783D4-28E6-45E8-AD91-C74646F58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2333625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D96C55-3F3B-4B62-8F25-52C646BEB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57450"/>
            <a:ext cx="6953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98" b="0">
                <a:solidFill>
                  <a:srgbClr val="6B3FA0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198" b="0">
                <a:solidFill>
                  <a:srgbClr val="6B3FA0"/>
                </a:solidFill>
                <a:latin typeface="IBM Plex Mono"/>
                <a:ea typeface="IBM Plex Mono"/>
                <a:cs typeface="IBM Plex Mono"/>
              </a:defRPr>
            </a:pPr>
            <a:r>
              <a:rPr sz="2198" b="0">
                <a:solidFill>
                  <a:srgbClr val="6B3FA0"/>
                </a:solidFill>
                <a:latin typeface="IBM Plex Mono"/>
                <a:ea typeface="IBM Plex Mono"/>
                <a:cs typeface="IBM Plex Mono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F313D0-5CE8-418E-B325-87FB033B3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476500"/>
            <a:ext cx="9791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6000"/>
              </a:lnSpc>
              <a:buNone/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Timeout значи да одговор није стигао на време, не да се радња сигурно није извршила.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BD2731-6225-42E2-AC94-CD44C298E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2886075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1C5E49-B67B-47F1-B12B-3D2FA7AA4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009900"/>
            <a:ext cx="6953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98" b="0">
                <a:solidFill>
                  <a:srgbClr val="6B3FA0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198" b="0">
                <a:solidFill>
                  <a:srgbClr val="6B3FA0"/>
                </a:solidFill>
                <a:latin typeface="IBM Plex Mono"/>
                <a:ea typeface="IBM Plex Mono"/>
                <a:cs typeface="IBM Plex Mono"/>
              </a:defRPr>
            </a:pPr>
            <a:r>
              <a:rPr sz="2198" b="0">
                <a:solidFill>
                  <a:srgbClr val="6B3FA0"/>
                </a:solidFill>
                <a:latin typeface="IBM Plex Mono"/>
                <a:ea typeface="IBM Plex Mono"/>
                <a:cs typeface="IBM Plex Mono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B425F7-07C1-44A5-9394-9492BCF05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028950"/>
            <a:ext cx="9791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6000"/>
              </a:lnSpc>
              <a:buNone/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Дупликат и касна порука морају се раздвојити од нове легитимне операције.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227899-F050-4D1D-ABCB-55CBC396B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3438525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4428F3-3744-4D34-BDE4-6087F8A09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62350"/>
            <a:ext cx="6953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98" b="0">
                <a:solidFill>
                  <a:srgbClr val="6B3FA0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198" b="0">
                <a:solidFill>
                  <a:srgbClr val="6B3FA0"/>
                </a:solidFill>
                <a:latin typeface="IBM Plex Mono"/>
                <a:ea typeface="IBM Plex Mono"/>
                <a:cs typeface="IBM Plex Mono"/>
              </a:defRPr>
            </a:pPr>
            <a:r>
              <a:rPr sz="2198" b="0">
                <a:solidFill>
                  <a:srgbClr val="6B3FA0"/>
                </a:solidFill>
                <a:latin typeface="IBM Plex Mono"/>
                <a:ea typeface="IBM Plex Mono"/>
                <a:cs typeface="IBM Plex Mono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0EBE81-D128-4A1A-911E-DEB13B898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581400"/>
            <a:ext cx="9791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6000"/>
              </a:lnSpc>
              <a:buNone/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Поновљив симулатор омогућава да се исти редослед грешке провери након сваке измене.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F92964-F435-4346-9D2C-FF4F0E0EB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619125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0FD795-E102-4932-AD87-6E2153AAF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296025"/>
            <a:ext cx="9858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дистрибуираног програмирања</a:t>
            </a:r>
          </a:p>
        </p:txBody>
      </p:sp>
      <p:sp>
        <p:nvSpPr>
          <p:cNvPr id="16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5CC21046-779A-4442-ABF6-29A82CFA4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2960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r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7131356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EAE7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E64F07-EC90-47E1-B77B-F76E43B98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714500"/>
            <a:ext cx="2667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3875" b="0">
                <a:solidFill>
                  <a:srgbClr val="6B3FA0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3875" b="0">
                <a:solidFill>
                  <a:srgbClr val="6B3FA0"/>
                </a:solidFill>
                <a:latin typeface="IBM Plex Mono"/>
                <a:ea typeface="IBM Plex Mono"/>
                <a:cs typeface="IBM Plex Mono"/>
              </a:defRPr>
            </a:pPr>
            <a:r>
              <a:rPr sz="13875" b="0">
                <a:solidFill>
                  <a:srgbClr val="6B3FA0"/>
                </a:solidFill>
                <a:latin typeface="IBM Plex Mono"/>
                <a:ea typeface="IBM Plex Mono"/>
                <a:cs typeface="IBM Plex Mono"/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4C9B2A-C7E9-46DD-8CAB-CFEFC4E51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152650"/>
            <a:ext cx="6858000" cy="2343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6B3FA0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1">
                <a:solidFill>
                  <a:srgbClr val="6B3FA0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1">
                <a:solidFill>
                  <a:srgbClr val="6B3FA0"/>
                </a:solidFill>
                <a:latin typeface="IBM Plex Mono"/>
                <a:ea typeface="IBM Plex Mono"/>
                <a:cs typeface="IBM Plex Mono"/>
              </a:rPr>
              <a:t>ДРУГИ ДЕО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BA6244-EA85-410A-BB0A-0F7413B80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609850"/>
            <a:ext cx="6858000" cy="6991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8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48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48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Дистрибуирани ток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F9C29D-C76F-4794-96DD-AA1BC834F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537585"/>
            <a:ext cx="685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45000"/>
              </a:lnSpc>
              <a:buNone/>
              <a:defRPr sz="15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5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Шема тока и гаранције које повезују компоненте система.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EB554E-9747-45DE-9458-E902C45B1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619125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51D04C-1D03-48DC-AA0C-A13153F4E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296025"/>
            <a:ext cx="9858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дистрибуираног програмирања</a:t>
            </a:r>
          </a:p>
        </p:txBody>
      </p:sp>
      <p:sp>
        <p:nvSpPr>
          <p:cNvPr id="7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CB9C4120-8D9F-4F0A-8E7B-AD9E6FA47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2960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r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81561502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1825BB-BBF1-4820-862D-9EBC0DF69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7200"/>
            <a:ext cx="4572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B3F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A8FF32-9F35-4CDD-B24A-CCA446C01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714375"/>
            <a:ext cx="1057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6B3FA0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1">
                <a:solidFill>
                  <a:srgbClr val="6B3FA0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1">
                <a:solidFill>
                  <a:srgbClr val="6B3FA0"/>
                </a:solidFill>
                <a:latin typeface="IBM Plex Mono"/>
                <a:ea typeface="IBM Plex Mono"/>
                <a:cs typeface="IBM Plex Mono"/>
              </a:rPr>
              <a:t>02 · ТОК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A75D7E0-2010-4B48-AB9B-E3A0ECBFC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981075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Шема failure-first провере</a:t>
            </a:r>
          </a:p>
        </p:txBody>
      </p:sp>
      <p:sp>
        <p:nvSpPr>
          <p:cNvPr id="4" name="slide-lead">
            <a:extLst xmlns:a="http://schemas.openxmlformats.org/drawingml/2006/main">
              <a:ext uri="{FF2B5EF4-FFF2-40B4-BE49-F238E27FC236}">
                <a16:creationId xmlns:a16="http://schemas.microsoft.com/office/drawing/2014/main" id="{E45ED278-261B-4BDD-8E15-B166F178E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90675"/>
            <a:ext cx="10572750" cy="2775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Циљ није претпоставити савршен транспорт, већ јасно дефинисати понашање када транспорт није савршен.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22D4F8-13B4-4532-AC26-4025F77A7075}"/>
              </a:ext>
            </a:extLst>
          </p:cNvPr>
          <p:cNvGraphicFramePr/>
          <p:nvPr/>
        </p:nvGraphicFramePr>
        <p:xfrm>
          <a:off xmlns:a="http://schemas.openxmlformats.org/drawingml/2006/main" x="809625" y="2333625"/>
          <a:ext xmlns:a="http://schemas.openxmlformats.org/drawingml/2006/main" cx="10572750" cy="2714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7429500"/>
              </a:tblGrid>
              <a:tr h="542925">
                <a:tc>
                  <a:txBody>
                    <a:bodyPr lIns="152400" tIns="152400" rIns="152400" bIns="152400">
                      <a:noAutofit/>
                    </a:bodyPr>
                    <a:lstStyle/>
                    <a:p>
                      <a:r>
                        <a:rPr sz="1440" b="1">
                          <a:solidFill>
                            <a:srgbClr val="13202D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Елемент</a:t>
                      </a:r>
                    </a:p>
                  </a:txBody>
                  <a:tcPr marL="91440" marR="91440" marT="45720" marB="45720" anchor="ctr">
                    <a:solidFill>
                      <a:srgbClr val="EAE7EE"/>
                    </a:solidFill>
                  </a:tcPr>
                </a:tc>
                <a:tc>
                  <a:txBody>
                    <a:bodyPr lIns="152400" tIns="152400" rIns="152400" bIns="152400">
                      <a:noAutofit/>
                    </a:bodyPr>
                    <a:lstStyle/>
                    <a:p>
                      <a:r>
                        <a:rPr sz="1440" b="1">
                          <a:solidFill>
                            <a:srgbClr val="13202D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Улога у току</a:t>
                      </a:r>
                    </a:p>
                  </a:txBody>
                  <a:tcPr marL="91440" marR="91440" marT="45720" marB="45720" anchor="ctr">
                    <a:solidFill>
                      <a:srgbClr val="EAE7EE"/>
                    </a:solidFill>
                  </a:tcPr>
                </a:tc>
              </a:tr>
              <a:tr h="542925">
                <a:tc>
                  <a:txBody>
                    <a:bodyPr lIns="152400" tIns="152400" rIns="152400" bIns="152400">
                      <a:noAutofit/>
                    </a:bodyPr>
                    <a:lstStyle/>
                    <a:p>
                      <a:r>
                        <a:rPr sz="1440" b="0">
                          <a:solidFill>
                            <a:srgbClr val="13202D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Нормалан ток</a:t>
                      </a:r>
                    </a:p>
                  </a:txBody>
                  <a:tcPr marL="91440" marR="91440" marT="45720" marB="45720" anchor="ctr">
                    <a:solidFill>
                      <a:srgbClr val="FCFCFB"/>
                    </a:solidFill>
                  </a:tcPr>
                </a:tc>
                <a:tc>
                  <a:txBody>
                    <a:bodyPr lIns="152400" tIns="152400" rIns="152400" bIns="152400">
                      <a:noAutofit/>
                    </a:bodyPr>
                    <a:lstStyle/>
                    <a:p>
                      <a:r>
                        <a:rPr sz="1440" b="0">
                          <a:solidFill>
                            <a:srgbClr val="44505D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захтев и очекиван одговор</a:t>
                      </a:r>
                    </a:p>
                  </a:txBody>
                  <a:tcPr marL="91440" marR="91440" marT="45720" marB="45720" anchor="ctr">
                    <a:solidFill>
                      <a:srgbClr val="FCFCFB"/>
                    </a:solidFill>
                  </a:tcPr>
                </a:tc>
              </a:tr>
              <a:tr h="542925">
                <a:tc>
                  <a:txBody>
                    <a:bodyPr lIns="152400" tIns="152400" rIns="152400" bIns="152400">
                      <a:noAutofit/>
                    </a:bodyPr>
                    <a:lstStyle/>
                    <a:p>
                      <a:r>
                        <a:rPr sz="1440" b="0">
                          <a:solidFill>
                            <a:srgbClr val="13202D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Контролисана сметња</a:t>
                      </a:r>
                    </a:p>
                  </a:txBody>
                  <a:tcPr marL="91440" marR="91440" marT="45720" marB="45720" anchor="ctr">
                    <a:solidFill>
                      <a:srgbClr val="FCFCFB"/>
                    </a:solidFill>
                  </a:tcPr>
                </a:tc>
                <a:tc>
                  <a:txBody>
                    <a:bodyPr lIns="152400" tIns="152400" rIns="152400" bIns="152400">
                      <a:noAutofit/>
                    </a:bodyPr>
                    <a:lstStyle/>
                    <a:p>
                      <a:r>
                        <a:rPr sz="1440" b="0">
                          <a:solidFill>
                            <a:srgbClr val="44505D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кашњење, дупликат или прекид</a:t>
                      </a:r>
                    </a:p>
                  </a:txBody>
                  <a:tcPr marL="91440" marR="91440" marT="45720" marB="45720" anchor="ctr">
                    <a:solidFill>
                      <a:srgbClr val="FCFCFB"/>
                    </a:solidFill>
                  </a:tcPr>
                </a:tc>
              </a:tr>
              <a:tr h="542925">
                <a:tc>
                  <a:txBody>
                    <a:bodyPr lIns="152400" tIns="152400" rIns="152400" bIns="152400">
                      <a:noAutofit/>
                    </a:bodyPr>
                    <a:lstStyle/>
                    <a:p>
                      <a:r>
                        <a:rPr sz="1440" b="0">
                          <a:solidFill>
                            <a:srgbClr val="13202D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Видљив исход</a:t>
                      </a:r>
                    </a:p>
                  </a:txBody>
                  <a:tcPr marL="91440" marR="91440" marT="45720" marB="45720" anchor="ctr">
                    <a:solidFill>
                      <a:srgbClr val="FCFCFB"/>
                    </a:solidFill>
                  </a:tcPr>
                </a:tc>
                <a:tc>
                  <a:txBody>
                    <a:bodyPr lIns="152400" tIns="152400" rIns="152400" bIns="152400">
                      <a:noAutofit/>
                    </a:bodyPr>
                    <a:lstStyle/>
                    <a:p>
                      <a:r>
                        <a:rPr sz="1440" b="0">
                          <a:solidFill>
                            <a:srgbClr val="44505D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стање које систем задржава</a:t>
                      </a:r>
                    </a:p>
                  </a:txBody>
                  <a:tcPr marL="91440" marR="91440" marT="45720" marB="45720" anchor="ctr">
                    <a:solidFill>
                      <a:srgbClr val="FCFCFB"/>
                    </a:solidFill>
                  </a:tcPr>
                </a:tc>
              </a:tr>
              <a:tr h="542925">
                <a:tc>
                  <a:txBody>
                    <a:bodyPr lIns="152400" tIns="152400" rIns="152400" bIns="152400">
                      <a:noAutofit/>
                    </a:bodyPr>
                    <a:lstStyle/>
                    <a:p>
                      <a:r>
                        <a:rPr sz="1440" b="0">
                          <a:solidFill>
                            <a:srgbClr val="13202D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Тест</a:t>
                      </a:r>
                    </a:p>
                  </a:txBody>
                  <a:tcPr marL="91440" marR="91440" marT="45720" marB="45720" anchor="ctr">
                    <a:solidFill>
                      <a:srgbClr val="FCFCFB"/>
                    </a:solidFill>
                  </a:tcPr>
                </a:tc>
                <a:tc>
                  <a:txBody>
                    <a:bodyPr lIns="152400" tIns="152400" rIns="152400" bIns="152400">
                      <a:noAutofit/>
                    </a:bodyPr>
                    <a:lstStyle/>
                    <a:p>
                      <a:r>
                        <a:rPr sz="1440" b="0">
                          <a:solidFill>
                            <a:srgbClr val="44505D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доказ поновљивог понашања</a:t>
                      </a:r>
                    </a:p>
                  </a:txBody>
                  <a:tcPr marL="91440" marR="91440" marT="45720" marB="45720" anchor="ctr">
                    <a:solidFill>
                      <a:srgbClr val="FCFCFB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CE183C-2ACF-4048-B6CF-7F0956641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619125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ABB73C-F983-46C5-818B-C3BC3CFDB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296025"/>
            <a:ext cx="9858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дистрибуираног програмирања</a:t>
            </a:r>
          </a:p>
        </p:txBody>
      </p:sp>
      <p:sp>
        <p:nvSpPr>
          <p:cNvPr id="8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332810A3-D104-4BD2-B9C5-28497168A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2960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r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57449774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40168AB-1548-4E6A-A75C-7CF646459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7200"/>
            <a:ext cx="4572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B3F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D942EB-F687-4351-A7BE-00DC16D67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714375"/>
            <a:ext cx="1057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6B3FA0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1">
                <a:solidFill>
                  <a:srgbClr val="6B3FA0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1">
                <a:solidFill>
                  <a:srgbClr val="6B3FA0"/>
                </a:solidFill>
                <a:latin typeface="IBM Plex Mono"/>
                <a:ea typeface="IBM Plex Mono"/>
                <a:cs typeface="IBM Plex Mono"/>
              </a:rPr>
              <a:t>02 · ДИЈАГРАМ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38C4B3E-C648-44F3-B64A-40E164B27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981075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Уговор и сметња имају експлицитан исход</a:t>
            </a:r>
          </a:p>
        </p:txBody>
      </p:sp>
      <p:sp>
        <p:nvSpPr>
          <p:cNvPr id="4" name="slide-lead">
            <a:extLst xmlns:a="http://schemas.openxmlformats.org/drawingml/2006/main">
              <a:ext uri="{FF2B5EF4-FFF2-40B4-BE49-F238E27FC236}">
                <a16:creationId xmlns:a16="http://schemas.microsoft.com/office/drawing/2014/main" id="{E0E22B19-8645-4DDE-907A-2C4909B23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90675"/>
            <a:ext cx="10572750" cy="2775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У примеру се верзија проверава пре обраде, а стабилан идентитет раздваја дупликат од нове поруке.</a:t>
            </a:r>
          </a:p>
        </p:txBody>
      </p:sp>
      <p:sp>
        <p:nvSpPr>
          <p:cNvPr id="5" name="diagram-label">
            <a:extLst xmlns:a="http://schemas.openxmlformats.org/drawingml/2006/main">
              <a:ext uri="{FF2B5EF4-FFF2-40B4-BE49-F238E27FC236}">
                <a16:creationId xmlns:a16="http://schemas.microsoft.com/office/drawing/2014/main" id="{443994C2-2F08-4F09-BCD8-4FF2CB648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93156"/>
            <a:ext cx="4071938" cy="2500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219" b="0">
                <a:solidFill>
                  <a:srgbClr val="6B3FA0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19" b="0">
                <a:solidFill>
                  <a:srgbClr val="6B3FA0"/>
                </a:solidFill>
                <a:latin typeface="IBM Plex Mono"/>
                <a:ea typeface="IBM Plex Mono"/>
                <a:cs typeface="IBM Plex Mono"/>
              </a:defRPr>
            </a:pPr>
            <a:r>
              <a:rPr sz="1219" b="0">
                <a:solidFill>
                  <a:srgbClr val="6B3FA0"/>
                </a:solidFill>
                <a:latin typeface="IBM Plex Mono"/>
                <a:ea typeface="IBM Plex Mono"/>
                <a:cs typeface="IBM Plex Mono"/>
              </a:rPr>
              <a:t>ПОЛИТИКА ПРИМЕРА</a:t>
            </a:r>
          </a:p>
        </p:txBody>
      </p:sp>
      <p:sp>
        <p:nvSpPr>
          <p:cNvPr id="6" name="diagram-node">
            <a:extLst xmlns:a="http://schemas.openxmlformats.org/drawingml/2006/main">
              <a:ext uri="{FF2B5EF4-FFF2-40B4-BE49-F238E27FC236}">
                <a16:creationId xmlns:a16="http://schemas.microsoft.com/office/drawing/2014/main" id="{ECD88CC6-5382-4ADE-9417-F448E2AF3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74156"/>
            <a:ext cx="4167188" cy="2428875"/>
          </a:xfrm>
          <a:prstGeom xmlns:a="http://schemas.openxmlformats.org/drawingml/2006/main" prst="roundRect">
            <a:avLst>
              <a:gd name="adj" fmla="val 2941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17859">
            <a:solidFill>
              <a:srgbClr val="13202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00EE5C-481F-4BCD-B5A6-610723FDE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7750" y="3214688"/>
            <a:ext cx="416718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930">
            <a:solidFill>
              <a:srgbClr val="13202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6773EE-54AB-4FE0-AF50-F203F11FE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7750" y="3833813"/>
            <a:ext cx="416718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930">
            <a:solidFill>
              <a:srgbClr val="13202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513E25-2E2A-4C4B-8425-C12CF70A9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7750" y="4452938"/>
            <a:ext cx="416718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930">
            <a:solidFill>
              <a:srgbClr val="13202D"/>
            </a:solidFill>
            <a:prstDash val="solid"/>
          </a:ln>
        </p:spPr>
      </p:sp>
      <p:sp>
        <p:nvSpPr>
          <p:cNvPr id="10" name="diagram-label">
            <a:extLst xmlns:a="http://schemas.openxmlformats.org/drawingml/2006/main">
              <a:ext uri="{FF2B5EF4-FFF2-40B4-BE49-F238E27FC236}">
                <a16:creationId xmlns:a16="http://schemas.microsoft.com/office/drawing/2014/main" id="{AAFE6051-3699-45F8-BC3F-BB36BB2AB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833688"/>
            <a:ext cx="1250156" cy="2976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313" b="1">
                <a:solidFill>
                  <a:srgbClr val="6B3FA0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313" b="1">
                <a:solidFill>
                  <a:srgbClr val="6B3FA0"/>
                </a:solidFill>
                <a:latin typeface="IBM Plex Sans"/>
                <a:ea typeface="IBM Plex Sans"/>
                <a:cs typeface="IBM Plex Sans"/>
              </a:defRPr>
            </a:pPr>
            <a:r>
              <a:rPr sz="1313" b="1">
                <a:solidFill>
                  <a:srgbClr val="6B3FA0"/>
                </a:solidFill>
                <a:latin typeface="IBM Plex Sans"/>
                <a:ea typeface="IBM Plex Sans"/>
                <a:cs typeface="IBM Plex Sans"/>
              </a:rPr>
              <a:t>Верзија</a:t>
            </a:r>
          </a:p>
        </p:txBody>
      </p:sp>
      <p:sp>
        <p:nvSpPr>
          <p:cNvPr id="11" name="diagram-label">
            <a:extLst xmlns:a="http://schemas.openxmlformats.org/drawingml/2006/main">
              <a:ext uri="{FF2B5EF4-FFF2-40B4-BE49-F238E27FC236}">
                <a16:creationId xmlns:a16="http://schemas.microsoft.com/office/drawing/2014/main" id="{7EECF39C-D2DD-4E7A-BC79-00E630B24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2833688"/>
            <a:ext cx="2428875" cy="2976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313" b="1">
                <a:solidFill>
                  <a:srgbClr val="6B3FA0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313" b="1">
                <a:solidFill>
                  <a:srgbClr val="6B3FA0"/>
                </a:solidFill>
                <a:latin typeface="IBM Plex Sans"/>
                <a:ea typeface="IBM Plex Sans"/>
                <a:cs typeface="IBM Plex Sans"/>
              </a:defRPr>
            </a:pPr>
            <a:r>
              <a:rPr sz="1313" b="1">
                <a:solidFill>
                  <a:srgbClr val="6B3FA0"/>
                </a:solidFill>
                <a:latin typeface="IBM Plex Sans"/>
                <a:ea typeface="IBM Plex Sans"/>
                <a:cs typeface="IBM Plex Sans"/>
              </a:rPr>
              <a:t>Исход</a:t>
            </a:r>
          </a:p>
        </p:txBody>
      </p:sp>
      <p:sp>
        <p:nvSpPr>
          <p:cNvPr id="12" name="diagram-label">
            <a:extLst xmlns:a="http://schemas.openxmlformats.org/drawingml/2006/main">
              <a:ext uri="{FF2B5EF4-FFF2-40B4-BE49-F238E27FC236}">
                <a16:creationId xmlns:a16="http://schemas.microsoft.com/office/drawing/2014/main" id="{BA7FF416-D8E0-4818-B0D8-8477DEECA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321844"/>
            <a:ext cx="1250156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688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688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defRPr>
            </a:pPr>
            <a:r>
              <a:rPr sz="1688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v1.0</a:t>
            </a:r>
          </a:p>
        </p:txBody>
      </p:sp>
      <p:sp>
        <p:nvSpPr>
          <p:cNvPr id="13" name="diagram-label">
            <a:extLst xmlns:a="http://schemas.openxmlformats.org/drawingml/2006/main">
              <a:ext uri="{FF2B5EF4-FFF2-40B4-BE49-F238E27FC236}">
                <a16:creationId xmlns:a16="http://schemas.microsoft.com/office/drawing/2014/main" id="{FEF05AE0-90E5-425D-B329-3A6B61A40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3321844"/>
            <a:ext cx="2428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313" b="0">
                <a:solidFill>
                  <a:srgbClr val="6B3FA0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313" b="0">
                <a:solidFill>
                  <a:srgbClr val="6B3FA0"/>
                </a:solidFill>
                <a:latin typeface="IBM Plex Mono"/>
                <a:ea typeface="IBM Plex Mono"/>
                <a:cs typeface="IBM Plex Mono"/>
              </a:defRPr>
            </a:pPr>
            <a:r>
              <a:rPr sz="1313" b="0">
                <a:solidFill>
                  <a:srgbClr val="6B3FA0"/>
                </a:solidFill>
                <a:latin typeface="IBM Plex Mono"/>
                <a:ea typeface="IBM Plex Mono"/>
                <a:cs typeface="IBM Plex Mono"/>
              </a:rPr>
              <a:t>message_accepted</a:t>
            </a:r>
          </a:p>
        </p:txBody>
      </p:sp>
      <p:sp>
        <p:nvSpPr>
          <p:cNvPr id="14" name="diagram-label">
            <a:extLst xmlns:a="http://schemas.openxmlformats.org/drawingml/2006/main">
              <a:ext uri="{FF2B5EF4-FFF2-40B4-BE49-F238E27FC236}">
                <a16:creationId xmlns:a16="http://schemas.microsoft.com/office/drawing/2014/main" id="{5B0A5BBC-422A-40F4-BCAB-C7C658B89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940969"/>
            <a:ext cx="1250156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688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688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defRPr>
            </a:pPr>
            <a:r>
              <a:rPr sz="1688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v1.3</a:t>
            </a:r>
          </a:p>
        </p:txBody>
      </p:sp>
      <p:sp>
        <p:nvSpPr>
          <p:cNvPr id="15" name="diagram-label">
            <a:extLst xmlns:a="http://schemas.openxmlformats.org/drawingml/2006/main">
              <a:ext uri="{FF2B5EF4-FFF2-40B4-BE49-F238E27FC236}">
                <a16:creationId xmlns:a16="http://schemas.microsoft.com/office/drawing/2014/main" id="{1BA9CD6E-AD18-44C9-8744-0EFE0F830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3940969"/>
            <a:ext cx="2428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313" b="0">
                <a:solidFill>
                  <a:srgbClr val="6B3FA0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313" b="0">
                <a:solidFill>
                  <a:srgbClr val="6B3FA0"/>
                </a:solidFill>
                <a:latin typeface="IBM Plex Mono"/>
                <a:ea typeface="IBM Plex Mono"/>
                <a:cs typeface="IBM Plex Mono"/>
              </a:defRPr>
            </a:pPr>
            <a:r>
              <a:rPr sz="1313" b="0">
                <a:solidFill>
                  <a:srgbClr val="6B3FA0"/>
                </a:solidFill>
                <a:latin typeface="IBM Plex Mono"/>
                <a:ea typeface="IBM Plex Mono"/>
                <a:cs typeface="IBM Plex Mono"/>
              </a:rPr>
              <a:t>message_accepted</a:t>
            </a:r>
          </a:p>
        </p:txBody>
      </p:sp>
      <p:sp>
        <p:nvSpPr>
          <p:cNvPr id="16" name="diagram-label">
            <a:extLst xmlns:a="http://schemas.openxmlformats.org/drawingml/2006/main">
              <a:ext uri="{FF2B5EF4-FFF2-40B4-BE49-F238E27FC236}">
                <a16:creationId xmlns:a16="http://schemas.microsoft.com/office/drawing/2014/main" id="{42EE2425-C5E6-4580-AFD1-A09DD7047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560094"/>
            <a:ext cx="1250156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688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688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defRPr>
            </a:pPr>
            <a:r>
              <a:rPr sz="1688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v2.0</a:t>
            </a:r>
          </a:p>
        </p:txBody>
      </p:sp>
      <p:sp>
        <p:nvSpPr>
          <p:cNvPr id="17" name="diagram-label">
            <a:extLst xmlns:a="http://schemas.openxmlformats.org/drawingml/2006/main">
              <a:ext uri="{FF2B5EF4-FFF2-40B4-BE49-F238E27FC236}">
                <a16:creationId xmlns:a16="http://schemas.microsoft.com/office/drawing/2014/main" id="{BB9F4960-022F-4F6D-B8D9-883A81B88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4560094"/>
            <a:ext cx="2428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313" b="0">
                <a:solidFill>
                  <a:srgbClr val="E07B1F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313" b="0">
                <a:solidFill>
                  <a:srgbClr val="E07B1F"/>
                </a:solidFill>
                <a:latin typeface="IBM Plex Mono"/>
                <a:ea typeface="IBM Plex Mono"/>
                <a:cs typeface="IBM Plex Mono"/>
              </a:defRPr>
            </a:pPr>
            <a:r>
              <a:rPr sz="1313" b="0">
                <a:solidFill>
                  <a:srgbClr val="E07B1F"/>
                </a:solidFill>
                <a:latin typeface="IBM Plex Mono"/>
                <a:ea typeface="IBM Plex Mono"/>
                <a:cs typeface="IBM Plex Mono"/>
              </a:rPr>
              <a:t>unsupported major</a:t>
            </a:r>
          </a:p>
        </p:txBody>
      </p:sp>
      <p:sp>
        <p:nvSpPr>
          <p:cNvPr id="18" name="diagram-label">
            <a:extLst xmlns:a="http://schemas.openxmlformats.org/drawingml/2006/main">
              <a:ext uri="{FF2B5EF4-FFF2-40B4-BE49-F238E27FC236}">
                <a16:creationId xmlns:a16="http://schemas.microsoft.com/office/drawing/2014/main" id="{25EA6255-389C-461B-88BF-E6FD44157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1688" y="2393156"/>
            <a:ext cx="4583906" cy="2500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219" b="0">
                <a:solidFill>
                  <a:srgbClr val="6B3FA0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19" b="0">
                <a:solidFill>
                  <a:srgbClr val="6B3FA0"/>
                </a:solidFill>
                <a:latin typeface="IBM Plex Mono"/>
                <a:ea typeface="IBM Plex Mono"/>
                <a:cs typeface="IBM Plex Mono"/>
              </a:defRPr>
            </a:pPr>
            <a:r>
              <a:rPr sz="1219" b="0">
                <a:solidFill>
                  <a:srgbClr val="6B3FA0"/>
                </a:solidFill>
                <a:latin typeface="IBM Plex Mono"/>
                <a:ea typeface="IBM Plex Mono"/>
                <a:cs typeface="IBM Plex Mono"/>
              </a:rPr>
              <a:t>FAILURE СЦЕНАРИО</a:t>
            </a:r>
          </a:p>
        </p:txBody>
      </p:sp>
      <p:sp>
        <p:nvSpPr>
          <p:cNvPr id="19" name="diagram-node">
            <a:extLst xmlns:a="http://schemas.openxmlformats.org/drawingml/2006/main">
              <a:ext uri="{FF2B5EF4-FFF2-40B4-BE49-F238E27FC236}">
                <a16:creationId xmlns:a16="http://schemas.microsoft.com/office/drawing/2014/main" id="{A328E021-63AC-4A5F-9114-7C691310C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1688" y="2893219"/>
            <a:ext cx="1226344" cy="511969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EAE4F2"/>
          </a:solidFill>
          <a:ln xmlns:a="http://schemas.openxmlformats.org/drawingml/2006/main" w="17859">
            <a:solidFill>
              <a:srgbClr val="6B3FA0"/>
            </a:solidFill>
            <a:prstDash val="solid"/>
          </a:ln>
        </p:spPr>
      </p:sp>
      <p:sp>
        <p:nvSpPr>
          <p:cNvPr id="20" name="diagram-label">
            <a:extLst xmlns:a="http://schemas.openxmlformats.org/drawingml/2006/main">
              <a:ext uri="{FF2B5EF4-FFF2-40B4-BE49-F238E27FC236}">
                <a16:creationId xmlns:a16="http://schemas.microsoft.com/office/drawing/2014/main" id="{42CC3C34-567E-4C08-90F5-611F905EE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1219" y="2934891"/>
            <a:ext cx="1107281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688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ctr">
              <a:lnSpc>
                <a:spcPct val="135000"/>
              </a:lnSpc>
              <a:buNone/>
              <a:defRPr sz="1688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defRPr>
            </a:pPr>
            <a:r>
              <a:rPr sz="1688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m-1</a:t>
            </a:r>
          </a:p>
        </p:txBody>
      </p:sp>
      <p:sp>
        <p:nvSpPr>
          <p:cNvPr id="21" name="diagram-node">
            <a:extLst xmlns:a="http://schemas.openxmlformats.org/drawingml/2006/main">
              <a:ext uri="{FF2B5EF4-FFF2-40B4-BE49-F238E27FC236}">
                <a16:creationId xmlns:a16="http://schemas.microsoft.com/office/drawing/2014/main" id="{14B8B4CB-0B3F-478E-8DD1-2CE52A456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1688" y="3881438"/>
            <a:ext cx="1226344" cy="511969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EAE4F2"/>
          </a:solidFill>
          <a:ln xmlns:a="http://schemas.openxmlformats.org/drawingml/2006/main" w="17859">
            <a:solidFill>
              <a:srgbClr val="6B3FA0"/>
            </a:solidFill>
            <a:prstDash val="solid"/>
          </a:ln>
        </p:spPr>
      </p:sp>
      <p:sp>
        <p:nvSpPr>
          <p:cNvPr id="22" name="diagram-label">
            <a:extLst xmlns:a="http://schemas.openxmlformats.org/drawingml/2006/main">
              <a:ext uri="{FF2B5EF4-FFF2-40B4-BE49-F238E27FC236}">
                <a16:creationId xmlns:a16="http://schemas.microsoft.com/office/drawing/2014/main" id="{DC41FF5A-1740-4D33-A8CD-9A214CF24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1219" y="3923109"/>
            <a:ext cx="1107281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688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ctr">
              <a:lnSpc>
                <a:spcPct val="135000"/>
              </a:lnSpc>
              <a:buNone/>
              <a:defRPr sz="1688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defRPr>
            </a:pPr>
            <a:r>
              <a:rPr sz="1688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m-1</a:t>
            </a:r>
          </a:p>
        </p:txBody>
      </p:sp>
      <p:sp>
        <p:nvSpPr>
          <p:cNvPr id="23" name="diagram-node">
            <a:extLst xmlns:a="http://schemas.openxmlformats.org/drawingml/2006/main">
              <a:ext uri="{FF2B5EF4-FFF2-40B4-BE49-F238E27FC236}">
                <a16:creationId xmlns:a16="http://schemas.microsoft.com/office/drawing/2014/main" id="{3C4CF171-0BEE-42B5-B873-8FC698F75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7219" y="3381375"/>
            <a:ext cx="2107406" cy="619125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17859">
            <a:solidFill>
              <a:srgbClr val="13202D"/>
            </a:solidFill>
            <a:prstDash val="solid"/>
          </a:ln>
        </p:spPr>
      </p:sp>
      <p:sp>
        <p:nvSpPr>
          <p:cNvPr id="24" name="diagram-label">
            <a:extLst xmlns:a="http://schemas.openxmlformats.org/drawingml/2006/main">
              <a:ext uri="{FF2B5EF4-FFF2-40B4-BE49-F238E27FC236}">
                <a16:creationId xmlns:a16="http://schemas.microsoft.com/office/drawing/2014/main" id="{7989E8B4-42FA-4C5F-878B-F6DA1F3E0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423047"/>
            <a:ext cx="1988344" cy="535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75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ctr">
              <a:lnSpc>
                <a:spcPct val="135000"/>
              </a:lnSpc>
              <a:buNone/>
              <a:defRPr sz="1875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1875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Inbox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A319FF9-BBA5-4E8D-8348-683E3240C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43750" y="3149203"/>
            <a:ext cx="54768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859">
            <a:solidFill>
              <a:srgbClr val="6B3FA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558AC9A-A31B-4E64-8F27-12EE9676E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480102" y="3360539"/>
            <a:ext cx="42267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859">
            <a:solidFill>
              <a:srgbClr val="6B3FA0"/>
            </a:solidFill>
            <a:prstDash val="solid"/>
          </a:ln>
        </p:spPr>
      </p:sp>
      <p:cxnSp>
        <p:nvCxn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1EFB1B2-B9D5-44CD-8E90-B1CF40B94A4F}"/>
              </a:ext>
            </a:extLst>
          </p:cNvPr>
          <p:cNvCxnSpPr/>
          <p:nvPr/>
        </p:nvCxnSpPr>
        <p:spPr>
          <a:xfrm xmlns:a="http://schemas.openxmlformats.org/drawingml/2006/main" rot="0">
            <a:off x="7691438" y="3571875"/>
            <a:ext cx="500063" cy="0"/>
          </a:xfrm>
          <a:prstGeom xmlns:a="http://schemas.openxmlformats.org/drawingml/2006/main" prst="straightConnector1">
            <a:avLst/>
          </a:prstGeom>
          <a:ln xmlns:a="http://schemas.openxmlformats.org/drawingml/2006/main" w="17859">
            <a:solidFill>
              <a:srgbClr val="6B3FA0"/>
            </a:solidFill>
            <a:prstDash val="solid"/>
            <a:tailEnd type="triangle" w="sm" len="sm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ADE7F8A-9DA1-47D6-83FC-77183357D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43750" y="4137422"/>
            <a:ext cx="54768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859">
            <a:solidFill>
              <a:srgbClr val="E07B1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7A02B96-6195-4E33-B123-E861C13DD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>
            <a:off x="7527727" y="3973711"/>
            <a:ext cx="32742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859">
            <a:solidFill>
              <a:srgbClr val="E07B1F"/>
            </a:solidFill>
            <a:prstDash val="solid"/>
          </a:ln>
        </p:spPr>
      </p:sp>
      <p:cxnSp>
        <p:nvCxn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C3E6250-C604-4575-B2C6-F030C8ABB4A6}"/>
              </a:ext>
            </a:extLst>
          </p:cNvPr>
          <p:cNvCxnSpPr/>
          <p:nvPr/>
        </p:nvCxnSpPr>
        <p:spPr>
          <a:xfrm xmlns:a="http://schemas.openxmlformats.org/drawingml/2006/main" rot="0">
            <a:off x="7691438" y="3810000"/>
            <a:ext cx="500063" cy="0"/>
          </a:xfrm>
          <a:prstGeom xmlns:a="http://schemas.openxmlformats.org/drawingml/2006/main" prst="straightConnector1">
            <a:avLst/>
          </a:prstGeom>
          <a:ln xmlns:a="http://schemas.openxmlformats.org/drawingml/2006/main" w="17859">
            <a:solidFill>
              <a:srgbClr val="E07B1F"/>
            </a:solidFill>
            <a:prstDash val="solid"/>
            <a:tailEnd type="triangle" w="sm" len="sm"/>
          </a:ln>
        </p:spPr>
      </p:cxnSp>
      <p:sp>
        <p:nvSpPr>
          <p:cNvPr id="31" name="diagram-node">
            <a:extLst xmlns:a="http://schemas.openxmlformats.org/drawingml/2006/main">
              <a:ext uri="{FF2B5EF4-FFF2-40B4-BE49-F238E27FC236}">
                <a16:creationId xmlns:a16="http://schemas.microsoft.com/office/drawing/2014/main" id="{C01A452F-9875-4609-9FB0-257850956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1688" y="4774406"/>
            <a:ext cx="4452938" cy="642938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AE4F2"/>
          </a:solidFill>
          <a:ln xmlns:a="http://schemas.openxmlformats.org/drawingml/2006/main" w="17859">
            <a:solidFill>
              <a:srgbClr val="6B3FA0"/>
            </a:solidFill>
            <a:prstDash val="solid"/>
          </a:ln>
        </p:spPr>
      </p:sp>
      <p:sp>
        <p:nvSpPr>
          <p:cNvPr id="32" name="diagram-label">
            <a:extLst xmlns:a="http://schemas.openxmlformats.org/drawingml/2006/main">
              <a:ext uri="{FF2B5EF4-FFF2-40B4-BE49-F238E27FC236}">
                <a16:creationId xmlns:a16="http://schemas.microsoft.com/office/drawing/2014/main" id="{52C589FD-8740-489D-8C79-E7B1FE27F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1219" y="4816078"/>
            <a:ext cx="4333875" cy="5595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688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ctr">
              <a:lnSpc>
                <a:spcPct val="135000"/>
              </a:lnSpc>
              <a:buNone/>
              <a:defRPr sz="1688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1688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Један пословни ефекат</a:t>
            </a:r>
          </a:p>
        </p:txBody>
      </p:sp>
      <p:cxnSp>
        <p:nvCxn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FD99B75-F7B8-475C-935E-7DF46C60B9D2}"/>
              </a:ext>
            </a:extLst>
          </p:cNvPr>
          <p:cNvCxnSpPr/>
          <p:nvPr/>
        </p:nvCxnSpPr>
        <p:spPr>
          <a:xfrm xmlns:a="http://schemas.openxmlformats.org/drawingml/2006/main" rot="5400000">
            <a:off x="8929688" y="4387453"/>
            <a:ext cx="702469" cy="0"/>
          </a:xfrm>
          <a:prstGeom xmlns:a="http://schemas.openxmlformats.org/drawingml/2006/main" prst="straightConnector1">
            <a:avLst/>
          </a:prstGeom>
          <a:ln xmlns:a="http://schemas.openxmlformats.org/drawingml/2006/main" w="17859">
            <a:solidFill>
              <a:srgbClr val="6B3FA0"/>
            </a:solidFill>
            <a:prstDash val="solid"/>
            <a:tailEnd type="triangle" w="sm" len="sm"/>
          </a:ln>
        </p:spPr>
      </p:cxn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B1BD130-03B8-41D4-A008-792774D28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619125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6CFCA68-BCC6-40D9-88B3-13DD3C91B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296025"/>
            <a:ext cx="9858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дистрибуираног програмирања</a:t>
            </a:r>
          </a:p>
        </p:txBody>
      </p:sp>
      <p:sp>
        <p:nvSpPr>
          <p:cNvPr id="36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004FCBB5-975F-4001-925C-BE807E9A3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2960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r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33782885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EAE7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71E5AF-EBEB-4B08-AF69-06D9F3033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714500"/>
            <a:ext cx="2667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3875" b="0">
                <a:solidFill>
                  <a:srgbClr val="6B3FA0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3875" b="0">
                <a:solidFill>
                  <a:srgbClr val="6B3FA0"/>
                </a:solidFill>
                <a:latin typeface="IBM Plex Mono"/>
                <a:ea typeface="IBM Plex Mono"/>
                <a:cs typeface="IBM Plex Mono"/>
              </a:defRPr>
            </a:pPr>
            <a:r>
              <a:rPr sz="13875" b="0">
                <a:solidFill>
                  <a:srgbClr val="6B3FA0"/>
                </a:solidFill>
                <a:latin typeface="IBM Plex Mono"/>
                <a:ea typeface="IBM Plex Mono"/>
                <a:cs typeface="IBM Plex Mono"/>
              </a:rPr>
              <a:t>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D39986-5442-4D6C-AB2C-BE0805AE3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152650"/>
            <a:ext cx="6858000" cy="2343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6B3FA0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1">
                <a:solidFill>
                  <a:srgbClr val="6B3FA0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1">
                <a:solidFill>
                  <a:srgbClr val="6B3FA0"/>
                </a:solidFill>
                <a:latin typeface="IBM Plex Mono"/>
                <a:ea typeface="IBM Plex Mono"/>
                <a:cs typeface="IBM Plex Mono"/>
              </a:rPr>
              <a:t>ТРЕЋИ ДЕО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D3D80B-9EE3-466C-BFC1-AE0ED8E10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609850"/>
            <a:ext cx="6858000" cy="6991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8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48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48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Код и failure тестови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EDA29C-B617-44C2-AADE-4A398B27C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537585"/>
            <a:ext cx="685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45000"/>
              </a:lnSpc>
              <a:buNone/>
              <a:defRPr sz="15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5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Покретање примера, доменско правило, тест и видљиви исходи.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FD9596-2E43-4119-B790-103D40742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619125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8E0305-A0DF-4311-9445-D9EDA6BB6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296025"/>
            <a:ext cx="9858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дистрибуираног програмирања</a:t>
            </a:r>
          </a:p>
        </p:txBody>
      </p:sp>
      <p:sp>
        <p:nvSpPr>
          <p:cNvPr id="7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17B595E3-FD40-4888-9A8E-461F57C52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2960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r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39178834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381EA0-5276-44C4-94B1-29D5BD0AF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7200"/>
            <a:ext cx="4572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B3F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6ADD5B-F0A4-4D0C-9A94-DD25BFF26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714375"/>
            <a:ext cx="1057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6B3FA0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1">
                <a:solidFill>
                  <a:srgbClr val="6B3FA0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1">
                <a:solidFill>
                  <a:srgbClr val="6B3FA0"/>
                </a:solidFill>
                <a:latin typeface="IBM Plex Mono"/>
                <a:ea typeface="IBM Plex Mono"/>
                <a:cs typeface="IBM Plex Mono"/>
              </a:rPr>
              <a:t>03 · КОД И ТЕСТ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F986C35-4952-4093-9B54-BFC23B312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981075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Покретање примера</a:t>
            </a:r>
          </a:p>
        </p:txBody>
      </p:sp>
      <p:sp>
        <p:nvSpPr>
          <p:cNvPr id="4" name="slide-lead">
            <a:extLst xmlns:a="http://schemas.openxmlformats.org/drawingml/2006/main">
              <a:ext uri="{FF2B5EF4-FFF2-40B4-BE49-F238E27FC236}">
                <a16:creationId xmlns:a16="http://schemas.microsoft.com/office/drawing/2014/main" id="{79C631FA-9238-415D-920C-D7594D515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90675"/>
            <a:ext cx="10572750" cy="526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Пример полази од онога што мрежа сигурно ради: иста порука може стићи два пута, може закаснити и може бити послата</a:t>
            </a:r>
          </a:p>
          <a:p xmlns:a="http://schemas.openxmlformats.org/drawingml/2006/main">
            <a:pPr algn="l">
              <a:lnSpc>
                <a:spcPct val="140000"/>
              </a:lnSpc>
              <a:buNone/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новијом верзијом уговора.</a:t>
            </a:r>
          </a:p>
        </p:txBody>
      </p:sp>
      <p:sp>
        <p:nvSpPr>
          <p:cNvPr id="5" name="code-panel">
            <a:extLst xmlns:a="http://schemas.openxmlformats.org/drawingml/2006/main">
              <a:ext uri="{FF2B5EF4-FFF2-40B4-BE49-F238E27FC236}">
                <a16:creationId xmlns:a16="http://schemas.microsoft.com/office/drawing/2014/main" id="{B6E06AC6-943E-4FF9-ADF0-A1EF3D23F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364829"/>
            <a:ext cx="8753475" cy="1144905"/>
          </a:xfrm>
          <a:prstGeom xmlns:a="http://schemas.openxmlformats.org/drawingml/2006/main" prst="roundRect">
            <a:avLst>
              <a:gd name="adj" fmla="val 8319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FF2496-21C5-44C6-A441-3801E19FA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88654"/>
            <a:ext cx="8391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terminal · Корен Git репозиторијума nastava.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4DE037-1C86-4498-B8F0-6C096B4D0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0600" y="2745829"/>
            <a:ext cx="8391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8" name="line-number">
            <a:extLst xmlns:a="http://schemas.openxmlformats.org/drawingml/2006/main">
              <a:ext uri="{FF2B5EF4-FFF2-40B4-BE49-F238E27FC236}">
                <a16:creationId xmlns:a16="http://schemas.microsoft.com/office/drawing/2014/main" id="{98B58925-2836-4BBC-BB6A-5F874E93D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22029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1</a:t>
            </a:r>
          </a:p>
        </p:txBody>
      </p:sp>
      <p:sp>
        <p:nvSpPr>
          <p:cNvPr id="9" name="code-line">
            <a:extLst xmlns:a="http://schemas.openxmlformats.org/drawingml/2006/main">
              <a:ext uri="{FF2B5EF4-FFF2-40B4-BE49-F238E27FC236}">
                <a16:creationId xmlns:a16="http://schemas.microsoft.com/office/drawing/2014/main" id="{07E5C492-7A4D-4FBF-BFBE-C05C99CEA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822029"/>
            <a:ext cx="796290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>
                <a:latin typeface="IBM Plex Mono"/>
                <a:ea typeface="IBM Plex Mono"/>
                <a:cs typeface="IBM Plex Mono"/>
              </a:defRPr>
            </a:pP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cd </a:t>
            </a:r>
            <a:r>
              <a:rPr sz="1200">
                <a:solidFill>
                  <a:srgbClr val="A8520A"/>
                </a:solidFill>
                <a:latin typeface="IBM Plex Mono"/>
                <a:ea typeface="IBM Plex Mono"/>
                <a:cs typeface="IBM Plex Mono"/>
              </a:rPr>
              <a:t>"03 Osnove Distribuiranog Programiranja/04 Primeri/04 Verzionisanje failure-first"</a:t>
            </a:r>
          </a:p>
        </p:txBody>
      </p:sp>
      <p:sp>
        <p:nvSpPr>
          <p:cNvPr id="10" name="line-number">
            <a:extLst xmlns:a="http://schemas.openxmlformats.org/drawingml/2006/main">
              <a:ext uri="{FF2B5EF4-FFF2-40B4-BE49-F238E27FC236}">
                <a16:creationId xmlns:a16="http://schemas.microsoft.com/office/drawing/2014/main" id="{5CC7D979-4F8B-47FE-BFC3-6BC855D00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35389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2</a:t>
            </a:r>
          </a:p>
        </p:txBody>
      </p:sp>
      <p:sp>
        <p:nvSpPr>
          <p:cNvPr id="11" name="code-line">
            <a:extLst xmlns:a="http://schemas.openxmlformats.org/drawingml/2006/main">
              <a:ext uri="{FF2B5EF4-FFF2-40B4-BE49-F238E27FC236}">
                <a16:creationId xmlns:a16="http://schemas.microsoft.com/office/drawing/2014/main" id="{1F0BAD09-D67C-447E-BC1C-5B0CB1691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035389"/>
            <a:ext cx="796290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>
                <a:latin typeface="IBM Plex Mono"/>
                <a:ea typeface="IBM Plex Mono"/>
                <a:cs typeface="IBM Plex Mono"/>
              </a:defRPr>
            </a:pP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dotnet run --project src/Odp.Vezba04.ConsoleUi</a:t>
            </a:r>
          </a:p>
        </p:txBody>
      </p:sp>
      <p:sp>
        <p:nvSpPr>
          <p:cNvPr id="12" name="line-number">
            <a:extLst xmlns:a="http://schemas.openxmlformats.org/drawingml/2006/main">
              <a:ext uri="{FF2B5EF4-FFF2-40B4-BE49-F238E27FC236}">
                <a16:creationId xmlns:a16="http://schemas.microsoft.com/office/drawing/2014/main" id="{5A0D7EDA-9378-4A4F-A1B3-1D614E7FC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48749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3</a:t>
            </a:r>
          </a:p>
        </p:txBody>
      </p:sp>
      <p:sp>
        <p:nvSpPr>
          <p:cNvPr id="13" name="code-line">
            <a:extLst xmlns:a="http://schemas.openxmlformats.org/drawingml/2006/main">
              <a:ext uri="{FF2B5EF4-FFF2-40B4-BE49-F238E27FC236}">
                <a16:creationId xmlns:a16="http://schemas.microsoft.com/office/drawing/2014/main" id="{40B32B29-7AFC-40CA-AB50-526A4A041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248749"/>
            <a:ext cx="796290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>
                <a:latin typeface="IBM Plex Mono"/>
                <a:ea typeface="IBM Plex Mono"/>
                <a:cs typeface="IBM Plex Mono"/>
              </a:defRPr>
            </a:pP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dotnet test Odp.Vezba04.sln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59513B-CCB8-444C-91CC-8EF6049EA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619125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25E12D-14B2-44A0-AB96-7FCFC41FF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296025"/>
            <a:ext cx="9858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дистрибуираног програмирања</a:t>
            </a:r>
          </a:p>
        </p:txBody>
      </p:sp>
      <p:sp>
        <p:nvSpPr>
          <p:cNvPr id="16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22B2BD73-4AF6-4F95-80D8-ABCA324DF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2960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r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57742084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7AFCC60-BA79-468E-AAC6-A437F675B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7200"/>
            <a:ext cx="4572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B3F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DD702A-7E4B-4660-B410-0358B12A5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714375"/>
            <a:ext cx="1057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6B3FA0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1">
                <a:solidFill>
                  <a:srgbClr val="6B3FA0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1">
                <a:solidFill>
                  <a:srgbClr val="6B3FA0"/>
                </a:solidFill>
                <a:latin typeface="IBM Plex Mono"/>
                <a:ea typeface="IBM Plex Mono"/>
                <a:cs typeface="IBM Plex Mono"/>
              </a:rPr>
              <a:t>03 · КОД И ТЕСТ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A4ABD20-466B-43AC-8D37-E1A74B9B8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981075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Правило у коду</a:t>
            </a:r>
          </a:p>
        </p:txBody>
      </p:sp>
      <p:sp>
        <p:nvSpPr>
          <p:cNvPr id="4" name="slide-lead">
            <a:extLst xmlns:a="http://schemas.openxmlformats.org/drawingml/2006/main">
              <a:ext uri="{FF2B5EF4-FFF2-40B4-BE49-F238E27FC236}">
                <a16:creationId xmlns:a16="http://schemas.microsoft.com/office/drawing/2014/main" id="{240DB4E0-64CD-47B1-9BFD-13AB9B559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90675"/>
            <a:ext cx="10572750" cy="2775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Дупликат, закаснела порука и друга major верзија су очекивани улази са сопственим кодом.</a:t>
            </a:r>
          </a:p>
        </p:txBody>
      </p:sp>
      <p:sp>
        <p:nvSpPr>
          <p:cNvPr id="5" name="code-panel">
            <a:extLst xmlns:a="http://schemas.openxmlformats.org/drawingml/2006/main">
              <a:ext uri="{FF2B5EF4-FFF2-40B4-BE49-F238E27FC236}">
                <a16:creationId xmlns:a16="http://schemas.microsoft.com/office/drawing/2014/main" id="{A45B6564-B77A-499C-8766-23BAF7EBB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333625"/>
            <a:ext cx="9759315" cy="2851785"/>
          </a:xfrm>
          <a:prstGeom xmlns:a="http://schemas.openxmlformats.org/drawingml/2006/main" prst="roundRect">
            <a:avLst>
              <a:gd name="adj" fmla="val 3340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F6162F-DE57-4CCB-921C-B5704DD6F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57450"/>
            <a:ext cx="939736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C# · доменско правило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072D41-268A-4826-B2F8-163B330C3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0600" y="2714625"/>
            <a:ext cx="939736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8" name="line-number">
            <a:extLst xmlns:a="http://schemas.openxmlformats.org/drawingml/2006/main">
              <a:ext uri="{FF2B5EF4-FFF2-40B4-BE49-F238E27FC236}">
                <a16:creationId xmlns:a16="http://schemas.microsoft.com/office/drawing/2014/main" id="{4D3F8E1B-6E37-4076-85AF-A8969F70B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9082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1</a:t>
            </a:r>
          </a:p>
        </p:txBody>
      </p:sp>
      <p:sp>
        <p:nvSpPr>
          <p:cNvPr id="9" name="code-line">
            <a:extLst xmlns:a="http://schemas.openxmlformats.org/drawingml/2006/main">
              <a:ext uri="{FF2B5EF4-FFF2-40B4-BE49-F238E27FC236}">
                <a16:creationId xmlns:a16="http://schemas.microsoft.com/office/drawing/2014/main" id="{78CEF546-F433-4F9E-A3F2-050A176FD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790825"/>
            <a:ext cx="896874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>
                <a:latin typeface="IBM Plex Mono"/>
                <a:ea typeface="IBM Plex Mono"/>
                <a:cs typeface="IBM Plex Mono"/>
              </a:defRPr>
            </a:pPr>
            <a:r>
              <a:rPr sz="1200">
                <a:solidFill>
                  <a:srgbClr val="6B3FA0"/>
                </a:solidFill>
                <a:latin typeface="IBM Plex Mono"/>
                <a:ea typeface="IBM Plex Mono"/>
                <a:cs typeface="IBM Plex Mono"/>
              </a:rPr>
              <a:t>public</a:t>
            </a: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InboxDecision Decide(MessageEnvelope envelope, </a:t>
            </a:r>
            <a:r>
              <a:rPr sz="1200">
                <a:solidFill>
                  <a:srgbClr val="6B3FA0"/>
                </a:solidFill>
                <a:latin typeface="IBM Plex Mono"/>
                <a:ea typeface="IBM Plex Mono"/>
                <a:cs typeface="IBM Plex Mono"/>
              </a:rPr>
              <a:t>bool</a:t>
            </a: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alreadyProcessed, DateTimeOffset now)</a:t>
            </a:r>
          </a:p>
        </p:txBody>
      </p:sp>
      <p:sp>
        <p:nvSpPr>
          <p:cNvPr id="10" name="line-number">
            <a:extLst xmlns:a="http://schemas.openxmlformats.org/drawingml/2006/main">
              <a:ext uri="{FF2B5EF4-FFF2-40B4-BE49-F238E27FC236}">
                <a16:creationId xmlns:a16="http://schemas.microsoft.com/office/drawing/2014/main" id="{50BE463A-ED99-4D3D-A342-4FEF4A08B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0418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2</a:t>
            </a:r>
          </a:p>
        </p:txBody>
      </p:sp>
      <p:sp>
        <p:nvSpPr>
          <p:cNvPr id="11" name="code-line">
            <a:extLst xmlns:a="http://schemas.openxmlformats.org/drawingml/2006/main">
              <a:ext uri="{FF2B5EF4-FFF2-40B4-BE49-F238E27FC236}">
                <a16:creationId xmlns:a16="http://schemas.microsoft.com/office/drawing/2014/main" id="{CAD553BF-C9FE-4C05-ACDD-47897FD4A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004185"/>
            <a:ext cx="896874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>
                <a:latin typeface="IBM Plex Mono"/>
                <a:ea typeface="IBM Plex Mono"/>
                <a:cs typeface="IBM Plex Mono"/>
              </a:defRPr>
            </a:pP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{</a:t>
            </a:r>
          </a:p>
        </p:txBody>
      </p:sp>
      <p:sp>
        <p:nvSpPr>
          <p:cNvPr id="12" name="line-number">
            <a:extLst xmlns:a="http://schemas.openxmlformats.org/drawingml/2006/main">
              <a:ext uri="{FF2B5EF4-FFF2-40B4-BE49-F238E27FC236}">
                <a16:creationId xmlns:a16="http://schemas.microsoft.com/office/drawing/2014/main" id="{1AABC70C-E3C8-41D9-AA0E-461BBFAA8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1754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3</a:t>
            </a:r>
          </a:p>
        </p:txBody>
      </p:sp>
      <p:sp>
        <p:nvSpPr>
          <p:cNvPr id="13" name="code-line">
            <a:extLst xmlns:a="http://schemas.openxmlformats.org/drawingml/2006/main">
              <a:ext uri="{FF2B5EF4-FFF2-40B4-BE49-F238E27FC236}">
                <a16:creationId xmlns:a16="http://schemas.microsoft.com/office/drawing/2014/main" id="{DDB9243E-E0F4-433D-BAD8-2CB3BBD3C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217545"/>
            <a:ext cx="896874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>
                <a:latin typeface="IBM Plex Mono"/>
                <a:ea typeface="IBM Plex Mono"/>
                <a:cs typeface="IBM Plex Mono"/>
              </a:defRPr>
            </a:pP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   ArgumentNullException.ThrowIfNull(envelope);</a:t>
            </a:r>
          </a:p>
        </p:txBody>
      </p:sp>
      <p:sp>
        <p:nvSpPr>
          <p:cNvPr id="14" name="line-number">
            <a:extLst xmlns:a="http://schemas.openxmlformats.org/drawingml/2006/main">
              <a:ext uri="{FF2B5EF4-FFF2-40B4-BE49-F238E27FC236}">
                <a16:creationId xmlns:a16="http://schemas.microsoft.com/office/drawing/2014/main" id="{9F4A552F-3492-476A-9365-7E9CD3901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3090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4</a:t>
            </a:r>
          </a:p>
        </p:txBody>
      </p:sp>
      <p:sp>
        <p:nvSpPr>
          <p:cNvPr id="15" name="code-line">
            <a:extLst xmlns:a="http://schemas.openxmlformats.org/drawingml/2006/main">
              <a:ext uri="{FF2B5EF4-FFF2-40B4-BE49-F238E27FC236}">
                <a16:creationId xmlns:a16="http://schemas.microsoft.com/office/drawing/2014/main" id="{E70B402F-F358-47E8-AA06-3DD73CBAB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430905"/>
            <a:ext cx="896874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>
                <a:latin typeface="IBM Plex Mono"/>
                <a:ea typeface="IBM Plex Mono"/>
                <a:cs typeface="IBM Plex Mono"/>
              </a:defRPr>
            </a:pP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   </a:t>
            </a:r>
            <a:r>
              <a:rPr sz="1200">
                <a:solidFill>
                  <a:srgbClr val="6B3FA0"/>
                </a:solidFill>
                <a:latin typeface="IBM Plex Mono"/>
                <a:ea typeface="IBM Plex Mono"/>
                <a:cs typeface="IBM Plex Mono"/>
              </a:rPr>
              <a:t>if</a:t>
            </a: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(envelope.Version.Major != rules.SupportedMajor)</a:t>
            </a:r>
          </a:p>
        </p:txBody>
      </p:sp>
      <p:sp>
        <p:nvSpPr>
          <p:cNvPr id="16" name="line-number">
            <a:extLst xmlns:a="http://schemas.openxmlformats.org/drawingml/2006/main">
              <a:ext uri="{FF2B5EF4-FFF2-40B4-BE49-F238E27FC236}">
                <a16:creationId xmlns:a16="http://schemas.microsoft.com/office/drawing/2014/main" id="{C72260C0-47BC-4426-9003-3C1BBCD4F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4426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5</a:t>
            </a:r>
          </a:p>
        </p:txBody>
      </p:sp>
      <p:sp>
        <p:nvSpPr>
          <p:cNvPr id="17" name="code-line">
            <a:extLst xmlns:a="http://schemas.openxmlformats.org/drawingml/2006/main">
              <a:ext uri="{FF2B5EF4-FFF2-40B4-BE49-F238E27FC236}">
                <a16:creationId xmlns:a16="http://schemas.microsoft.com/office/drawing/2014/main" id="{8D582626-F774-4470-BD0F-5E7C849AC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644265"/>
            <a:ext cx="896874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>
                <a:latin typeface="IBM Plex Mono"/>
                <a:ea typeface="IBM Plex Mono"/>
                <a:cs typeface="IBM Plex Mono"/>
              </a:defRPr>
            </a:pP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       </a:t>
            </a:r>
            <a:r>
              <a:rPr sz="1200">
                <a:solidFill>
                  <a:srgbClr val="6B3FA0"/>
                </a:solidFill>
                <a:latin typeface="IBM Plex Mono"/>
                <a:ea typeface="IBM Plex Mono"/>
                <a:cs typeface="IBM Plex Mono"/>
              </a:rPr>
              <a:t>return</a:t>
            </a: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</a:t>
            </a:r>
            <a:r>
              <a:rPr sz="1200">
                <a:solidFill>
                  <a:srgbClr val="6B3FA0"/>
                </a:solidFill>
                <a:latin typeface="IBM Plex Mono"/>
                <a:ea typeface="IBM Plex Mono"/>
                <a:cs typeface="IBM Plex Mono"/>
              </a:rPr>
              <a:t>new</a:t>
            </a: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(</a:t>
            </a:r>
            <a:r>
              <a:rPr sz="1200">
                <a:solidFill>
                  <a:srgbClr val="6B3FA0"/>
                </a:solidFill>
                <a:latin typeface="IBM Plex Mono"/>
                <a:ea typeface="IBM Plex Mono"/>
                <a:cs typeface="IBM Plex Mono"/>
              </a:rPr>
              <a:t>false</a:t>
            </a: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, InboxCodes.UnsupportedMajorVersion);</a:t>
            </a:r>
          </a:p>
        </p:txBody>
      </p:sp>
      <p:sp>
        <p:nvSpPr>
          <p:cNvPr id="18" name="line-number">
            <a:extLst xmlns:a="http://schemas.openxmlformats.org/drawingml/2006/main">
              <a:ext uri="{FF2B5EF4-FFF2-40B4-BE49-F238E27FC236}">
                <a16:creationId xmlns:a16="http://schemas.microsoft.com/office/drawing/2014/main" id="{FF286D46-6281-4DD0-9EF4-61F70B942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5762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6</a:t>
            </a:r>
          </a:p>
        </p:txBody>
      </p:sp>
      <p:sp>
        <p:nvSpPr>
          <p:cNvPr id="19" name="code-line">
            <a:extLst xmlns:a="http://schemas.openxmlformats.org/drawingml/2006/main">
              <a:ext uri="{FF2B5EF4-FFF2-40B4-BE49-F238E27FC236}">
                <a16:creationId xmlns:a16="http://schemas.microsoft.com/office/drawing/2014/main" id="{D2134176-CFB7-40B0-8866-AB3FD2FB0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857625"/>
            <a:ext cx="896874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>
                <a:latin typeface="IBM Plex Mono"/>
                <a:ea typeface="IBM Plex Mono"/>
                <a:cs typeface="IBM Plex Mono"/>
              </a:defRPr>
            </a:pP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   </a:t>
            </a:r>
            <a:r>
              <a:rPr sz="1200">
                <a:solidFill>
                  <a:srgbClr val="6B3FA0"/>
                </a:solidFill>
                <a:latin typeface="IBM Plex Mono"/>
                <a:ea typeface="IBM Plex Mono"/>
                <a:cs typeface="IBM Plex Mono"/>
              </a:rPr>
              <a:t>if</a:t>
            </a: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(alreadyProcessed)</a:t>
            </a:r>
          </a:p>
        </p:txBody>
      </p:sp>
      <p:sp>
        <p:nvSpPr>
          <p:cNvPr id="20" name="line-number">
            <a:extLst xmlns:a="http://schemas.openxmlformats.org/drawingml/2006/main">
              <a:ext uri="{FF2B5EF4-FFF2-40B4-BE49-F238E27FC236}">
                <a16:creationId xmlns:a16="http://schemas.microsoft.com/office/drawing/2014/main" id="{82D1D64A-C841-4235-84F8-F87378D14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7098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7</a:t>
            </a:r>
          </a:p>
        </p:txBody>
      </p:sp>
      <p:sp>
        <p:nvSpPr>
          <p:cNvPr id="21" name="code-line">
            <a:extLst xmlns:a="http://schemas.openxmlformats.org/drawingml/2006/main">
              <a:ext uri="{FF2B5EF4-FFF2-40B4-BE49-F238E27FC236}">
                <a16:creationId xmlns:a16="http://schemas.microsoft.com/office/drawing/2014/main" id="{57297E87-E62B-460E-8DD5-C5C46EC95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070985"/>
            <a:ext cx="896874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>
                <a:latin typeface="IBM Plex Mono"/>
                <a:ea typeface="IBM Plex Mono"/>
                <a:cs typeface="IBM Plex Mono"/>
              </a:defRPr>
            </a:pP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       </a:t>
            </a:r>
            <a:r>
              <a:rPr sz="1200">
                <a:solidFill>
                  <a:srgbClr val="6B3FA0"/>
                </a:solidFill>
                <a:latin typeface="IBM Plex Mono"/>
                <a:ea typeface="IBM Plex Mono"/>
                <a:cs typeface="IBM Plex Mono"/>
              </a:rPr>
              <a:t>return</a:t>
            </a: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</a:t>
            </a:r>
            <a:r>
              <a:rPr sz="1200">
                <a:solidFill>
                  <a:srgbClr val="6B3FA0"/>
                </a:solidFill>
                <a:latin typeface="IBM Plex Mono"/>
                <a:ea typeface="IBM Plex Mono"/>
                <a:cs typeface="IBM Plex Mono"/>
              </a:rPr>
              <a:t>new</a:t>
            </a: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(</a:t>
            </a:r>
            <a:r>
              <a:rPr sz="1200">
                <a:solidFill>
                  <a:srgbClr val="6B3FA0"/>
                </a:solidFill>
                <a:latin typeface="IBM Plex Mono"/>
                <a:ea typeface="IBM Plex Mono"/>
                <a:cs typeface="IBM Plex Mono"/>
              </a:rPr>
              <a:t>false</a:t>
            </a: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, InboxCodes.Duplicate);</a:t>
            </a:r>
          </a:p>
        </p:txBody>
      </p:sp>
      <p:sp>
        <p:nvSpPr>
          <p:cNvPr id="22" name="line-number">
            <a:extLst xmlns:a="http://schemas.openxmlformats.org/drawingml/2006/main">
              <a:ext uri="{FF2B5EF4-FFF2-40B4-BE49-F238E27FC236}">
                <a16:creationId xmlns:a16="http://schemas.microsoft.com/office/drawing/2014/main" id="{DB25134E-CAFF-42FC-BE62-B7FE96C02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8434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8</a:t>
            </a:r>
          </a:p>
        </p:txBody>
      </p:sp>
      <p:sp>
        <p:nvSpPr>
          <p:cNvPr id="23" name="code-line">
            <a:extLst xmlns:a="http://schemas.openxmlformats.org/drawingml/2006/main">
              <a:ext uri="{FF2B5EF4-FFF2-40B4-BE49-F238E27FC236}">
                <a16:creationId xmlns:a16="http://schemas.microsoft.com/office/drawing/2014/main" id="{E6F11F6C-519E-4320-9A07-192E80B1F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284345"/>
            <a:ext cx="896874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>
                <a:latin typeface="IBM Plex Mono"/>
                <a:ea typeface="IBM Plex Mono"/>
                <a:cs typeface="IBM Plex Mono"/>
              </a:defRPr>
            </a:pP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   </a:t>
            </a:r>
            <a:r>
              <a:rPr sz="1200">
                <a:solidFill>
                  <a:srgbClr val="6B3FA0"/>
                </a:solidFill>
                <a:latin typeface="IBM Plex Mono"/>
                <a:ea typeface="IBM Plex Mono"/>
                <a:cs typeface="IBM Plex Mono"/>
              </a:rPr>
              <a:t>if</a:t>
            </a: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(now - envelope.SentAt &gt; rules.MaxAge)</a:t>
            </a:r>
          </a:p>
        </p:txBody>
      </p:sp>
      <p:sp>
        <p:nvSpPr>
          <p:cNvPr id="24" name="line-number">
            <a:extLst xmlns:a="http://schemas.openxmlformats.org/drawingml/2006/main">
              <a:ext uri="{FF2B5EF4-FFF2-40B4-BE49-F238E27FC236}">
                <a16:creationId xmlns:a16="http://schemas.microsoft.com/office/drawing/2014/main" id="{AE739E0C-6971-442A-8DA0-44711CA53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9770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9</a:t>
            </a:r>
          </a:p>
        </p:txBody>
      </p:sp>
      <p:sp>
        <p:nvSpPr>
          <p:cNvPr id="25" name="code-line">
            <a:extLst xmlns:a="http://schemas.openxmlformats.org/drawingml/2006/main">
              <a:ext uri="{FF2B5EF4-FFF2-40B4-BE49-F238E27FC236}">
                <a16:creationId xmlns:a16="http://schemas.microsoft.com/office/drawing/2014/main" id="{FB353D52-F702-4493-84A1-105A9A25D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497705"/>
            <a:ext cx="896874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>
                <a:latin typeface="IBM Plex Mono"/>
                <a:ea typeface="IBM Plex Mono"/>
                <a:cs typeface="IBM Plex Mono"/>
              </a:defRPr>
            </a:pP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       </a:t>
            </a:r>
            <a:r>
              <a:rPr sz="1200">
                <a:solidFill>
                  <a:srgbClr val="6B3FA0"/>
                </a:solidFill>
                <a:latin typeface="IBM Plex Mono"/>
                <a:ea typeface="IBM Plex Mono"/>
                <a:cs typeface="IBM Plex Mono"/>
              </a:rPr>
              <a:t>return</a:t>
            </a: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</a:t>
            </a:r>
            <a:r>
              <a:rPr sz="1200">
                <a:solidFill>
                  <a:srgbClr val="6B3FA0"/>
                </a:solidFill>
                <a:latin typeface="IBM Plex Mono"/>
                <a:ea typeface="IBM Plex Mono"/>
                <a:cs typeface="IBM Plex Mono"/>
              </a:rPr>
              <a:t>new</a:t>
            </a: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(</a:t>
            </a:r>
            <a:r>
              <a:rPr sz="1200">
                <a:solidFill>
                  <a:srgbClr val="6B3FA0"/>
                </a:solidFill>
                <a:latin typeface="IBM Plex Mono"/>
                <a:ea typeface="IBM Plex Mono"/>
                <a:cs typeface="IBM Plex Mono"/>
              </a:rPr>
              <a:t>false</a:t>
            </a: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, InboxCodes.TooOld);</a:t>
            </a:r>
          </a:p>
        </p:txBody>
      </p:sp>
      <p:sp>
        <p:nvSpPr>
          <p:cNvPr id="26" name="line-number">
            <a:extLst xmlns:a="http://schemas.openxmlformats.org/drawingml/2006/main">
              <a:ext uri="{FF2B5EF4-FFF2-40B4-BE49-F238E27FC236}">
                <a16:creationId xmlns:a16="http://schemas.microsoft.com/office/drawing/2014/main" id="{6BD7D37D-F0EC-426D-BFBA-D622E8E59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71106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10</a:t>
            </a:r>
          </a:p>
        </p:txBody>
      </p:sp>
      <p:sp>
        <p:nvSpPr>
          <p:cNvPr id="27" name="code-line">
            <a:extLst xmlns:a="http://schemas.openxmlformats.org/drawingml/2006/main">
              <a:ext uri="{FF2B5EF4-FFF2-40B4-BE49-F238E27FC236}">
                <a16:creationId xmlns:a16="http://schemas.microsoft.com/office/drawing/2014/main" id="{D1403EA3-1C4F-4754-82F9-C7CCFBD87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711065"/>
            <a:ext cx="896874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>
                <a:latin typeface="IBM Plex Mono"/>
                <a:ea typeface="IBM Plex Mono"/>
                <a:cs typeface="IBM Plex Mono"/>
              </a:defRPr>
            </a:pP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   </a:t>
            </a:r>
            <a:r>
              <a:rPr sz="1200">
                <a:solidFill>
                  <a:srgbClr val="6B3FA0"/>
                </a:solidFill>
                <a:latin typeface="IBM Plex Mono"/>
                <a:ea typeface="IBM Plex Mono"/>
                <a:cs typeface="IBM Plex Mono"/>
              </a:rPr>
              <a:t>return</a:t>
            </a: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</a:t>
            </a:r>
            <a:r>
              <a:rPr sz="1200">
                <a:solidFill>
                  <a:srgbClr val="6B3FA0"/>
                </a:solidFill>
                <a:latin typeface="IBM Plex Mono"/>
                <a:ea typeface="IBM Plex Mono"/>
                <a:cs typeface="IBM Plex Mono"/>
              </a:rPr>
              <a:t>new</a:t>
            </a: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(</a:t>
            </a:r>
            <a:r>
              <a:rPr sz="1200">
                <a:solidFill>
                  <a:srgbClr val="6B3FA0"/>
                </a:solidFill>
                <a:latin typeface="IBM Plex Mono"/>
                <a:ea typeface="IBM Plex Mono"/>
                <a:cs typeface="IBM Plex Mono"/>
              </a:rPr>
              <a:t>true</a:t>
            </a: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, InboxCodes.Accepted);</a:t>
            </a:r>
          </a:p>
        </p:txBody>
      </p:sp>
      <p:sp>
        <p:nvSpPr>
          <p:cNvPr id="28" name="line-number">
            <a:extLst xmlns:a="http://schemas.openxmlformats.org/drawingml/2006/main">
              <a:ext uri="{FF2B5EF4-FFF2-40B4-BE49-F238E27FC236}">
                <a16:creationId xmlns:a16="http://schemas.microsoft.com/office/drawing/2014/main" id="{04976223-0657-499A-8FF1-5A4819E52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92442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11</a:t>
            </a:r>
          </a:p>
        </p:txBody>
      </p:sp>
      <p:sp>
        <p:nvSpPr>
          <p:cNvPr id="29" name="code-line">
            <a:extLst xmlns:a="http://schemas.openxmlformats.org/drawingml/2006/main">
              <a:ext uri="{FF2B5EF4-FFF2-40B4-BE49-F238E27FC236}">
                <a16:creationId xmlns:a16="http://schemas.microsoft.com/office/drawing/2014/main" id="{5E9ABBA7-9FC2-40A3-B29C-2EED6C761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924425"/>
            <a:ext cx="896874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>
                <a:latin typeface="IBM Plex Mono"/>
                <a:ea typeface="IBM Plex Mono"/>
                <a:cs typeface="IBM Plex Mono"/>
              </a:defRPr>
            </a:pP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}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A7B0CCB-0780-4641-B447-623504D98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619125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2C07B1C-925E-4DC5-87E4-2F02F55FD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296025"/>
            <a:ext cx="9858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дистрибуираног програмирања</a:t>
            </a:r>
          </a:p>
        </p:txBody>
      </p:sp>
      <p:sp>
        <p:nvSpPr>
          <p:cNvPr id="32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EF9C17A8-1CAC-4B79-AC9E-5BE3FF5F6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2960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r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3994548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582578D-ED52-4229-A99B-BD0F18BC9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7200"/>
            <a:ext cx="4572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B3F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618C68-54B3-47F2-B29C-42AEE424A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714375"/>
            <a:ext cx="1057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6B3FA0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1">
                <a:solidFill>
                  <a:srgbClr val="6B3FA0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1">
                <a:solidFill>
                  <a:srgbClr val="6B3FA0"/>
                </a:solidFill>
                <a:latin typeface="IBM Plex Mono"/>
                <a:ea typeface="IBM Plex Mono"/>
                <a:cs typeface="IBM Plex Mono"/>
              </a:rPr>
              <a:t>03 · КОД И ТЕСТ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32ECAEA-BBFE-4EE1-9AF4-0AF9664D6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981075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Тест који задаје квар</a:t>
            </a:r>
          </a:p>
        </p:txBody>
      </p:sp>
      <p:sp>
        <p:nvSpPr>
          <p:cNvPr id="4" name="slide-lead">
            <a:extLst xmlns:a="http://schemas.openxmlformats.org/drawingml/2006/main">
              <a:ext uri="{FF2B5EF4-FFF2-40B4-BE49-F238E27FC236}">
                <a16:creationId xmlns:a16="http://schemas.microsoft.com/office/drawing/2014/main" id="{356E1A8D-8638-42F6-A69E-9B52AEE82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90675"/>
            <a:ext cx="10572750" cy="2775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Пословни ефекат се дешава једном, колико год пута да иста порука стигне.</a:t>
            </a:r>
          </a:p>
        </p:txBody>
      </p:sp>
      <p:sp>
        <p:nvSpPr>
          <p:cNvPr id="5" name="code-panel">
            <a:extLst xmlns:a="http://schemas.openxmlformats.org/drawingml/2006/main">
              <a:ext uri="{FF2B5EF4-FFF2-40B4-BE49-F238E27FC236}">
                <a16:creationId xmlns:a16="http://schemas.microsoft.com/office/drawing/2014/main" id="{5D638039-2F60-4FB8-BB9C-F8872FE58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333625"/>
            <a:ext cx="7564755" cy="3278505"/>
          </a:xfrm>
          <a:prstGeom xmlns:a="http://schemas.openxmlformats.org/drawingml/2006/main" prst="roundRect">
            <a:avLst>
              <a:gd name="adj" fmla="val 2905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2F80F8-D295-4F78-BF5B-F16C57DC6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57450"/>
            <a:ext cx="720280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C# · NUnit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9F7E54-37EE-4D2A-B696-42F126EE4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0600" y="2714625"/>
            <a:ext cx="720280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8" name="line-number">
            <a:extLst xmlns:a="http://schemas.openxmlformats.org/drawingml/2006/main">
              <a:ext uri="{FF2B5EF4-FFF2-40B4-BE49-F238E27FC236}">
                <a16:creationId xmlns:a16="http://schemas.microsoft.com/office/drawing/2014/main" id="{9FCEFE17-CAF0-41C3-811B-8B3FAB989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9082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1</a:t>
            </a:r>
          </a:p>
        </p:txBody>
      </p:sp>
      <p:sp>
        <p:nvSpPr>
          <p:cNvPr id="9" name="code-line">
            <a:extLst xmlns:a="http://schemas.openxmlformats.org/drawingml/2006/main">
              <a:ext uri="{FF2B5EF4-FFF2-40B4-BE49-F238E27FC236}">
                <a16:creationId xmlns:a16="http://schemas.microsoft.com/office/drawing/2014/main" id="{D9B1E537-4939-4443-81DD-5CCA5BA1B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790825"/>
            <a:ext cx="677418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>
                <a:latin typeface="IBM Plex Mono"/>
                <a:ea typeface="IBM Plex Mono"/>
                <a:cs typeface="IBM Plex Mono"/>
              </a:defRPr>
            </a:pP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[Test]</a:t>
            </a:r>
          </a:p>
        </p:txBody>
      </p:sp>
      <p:sp>
        <p:nvSpPr>
          <p:cNvPr id="10" name="line-number">
            <a:extLst xmlns:a="http://schemas.openxmlformats.org/drawingml/2006/main">
              <a:ext uri="{FF2B5EF4-FFF2-40B4-BE49-F238E27FC236}">
                <a16:creationId xmlns:a16="http://schemas.microsoft.com/office/drawing/2014/main" id="{C3B952CE-7684-40AA-B623-644D59221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0418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2</a:t>
            </a:r>
          </a:p>
        </p:txBody>
      </p:sp>
      <p:sp>
        <p:nvSpPr>
          <p:cNvPr id="11" name="code-line">
            <a:extLst xmlns:a="http://schemas.openxmlformats.org/drawingml/2006/main">
              <a:ext uri="{FF2B5EF4-FFF2-40B4-BE49-F238E27FC236}">
                <a16:creationId xmlns:a16="http://schemas.microsoft.com/office/drawing/2014/main" id="{5E81BED2-C44D-49E8-9C9B-5C4CCFE07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004185"/>
            <a:ext cx="677418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>
                <a:latin typeface="IBM Plex Mono"/>
                <a:ea typeface="IBM Plex Mono"/>
                <a:cs typeface="IBM Plex Mono"/>
              </a:defRPr>
            </a:pPr>
            <a:r>
              <a:rPr sz="1200">
                <a:solidFill>
                  <a:srgbClr val="6B3FA0"/>
                </a:solidFill>
                <a:latin typeface="IBM Plex Mono"/>
                <a:ea typeface="IBM Plex Mono"/>
                <a:cs typeface="IBM Plex Mono"/>
              </a:rPr>
              <a:t>public</a:t>
            </a: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</a:t>
            </a:r>
            <a:r>
              <a:rPr sz="1200">
                <a:solidFill>
                  <a:srgbClr val="6B3FA0"/>
                </a:solidFill>
                <a:latin typeface="IBM Plex Mono"/>
                <a:ea typeface="IBM Plex Mono"/>
                <a:cs typeface="IBM Plex Mono"/>
              </a:rPr>
              <a:t>void</a:t>
            </a: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Receive_WhenTheSameMessageIsDeliveredTwice_ProcessesItOnce()</a:t>
            </a:r>
          </a:p>
        </p:txBody>
      </p:sp>
      <p:sp>
        <p:nvSpPr>
          <p:cNvPr id="12" name="line-number">
            <a:extLst xmlns:a="http://schemas.openxmlformats.org/drawingml/2006/main">
              <a:ext uri="{FF2B5EF4-FFF2-40B4-BE49-F238E27FC236}">
                <a16:creationId xmlns:a16="http://schemas.microsoft.com/office/drawing/2014/main" id="{C17F6C62-6B34-4E2E-B53B-B4FCF3E5D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1754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3</a:t>
            </a:r>
          </a:p>
        </p:txBody>
      </p:sp>
      <p:sp>
        <p:nvSpPr>
          <p:cNvPr id="13" name="code-line">
            <a:extLst xmlns:a="http://schemas.openxmlformats.org/drawingml/2006/main">
              <a:ext uri="{FF2B5EF4-FFF2-40B4-BE49-F238E27FC236}">
                <a16:creationId xmlns:a16="http://schemas.microsoft.com/office/drawing/2014/main" id="{3285431C-5986-4523-8349-8697C5E0B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217545"/>
            <a:ext cx="677418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>
                <a:latin typeface="IBM Plex Mono"/>
                <a:ea typeface="IBM Plex Mono"/>
                <a:cs typeface="IBM Plex Mono"/>
              </a:defRPr>
            </a:pP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{</a:t>
            </a:r>
          </a:p>
        </p:txBody>
      </p:sp>
      <p:sp>
        <p:nvSpPr>
          <p:cNvPr id="14" name="line-number">
            <a:extLst xmlns:a="http://schemas.openxmlformats.org/drawingml/2006/main">
              <a:ext uri="{FF2B5EF4-FFF2-40B4-BE49-F238E27FC236}">
                <a16:creationId xmlns:a16="http://schemas.microsoft.com/office/drawing/2014/main" id="{20A338D4-E043-4417-9633-28608A891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3090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4</a:t>
            </a:r>
          </a:p>
        </p:txBody>
      </p:sp>
      <p:sp>
        <p:nvSpPr>
          <p:cNvPr id="15" name="code-line">
            <a:extLst xmlns:a="http://schemas.openxmlformats.org/drawingml/2006/main">
              <a:ext uri="{FF2B5EF4-FFF2-40B4-BE49-F238E27FC236}">
                <a16:creationId xmlns:a16="http://schemas.microsoft.com/office/drawing/2014/main" id="{FB7B03DD-05BE-4890-B753-4077514A3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430905"/>
            <a:ext cx="677418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>
                <a:latin typeface="IBM Plex Mono"/>
                <a:ea typeface="IBM Plex Mono"/>
                <a:cs typeface="IBM Plex Mono"/>
              </a:defRPr>
            </a:pP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   </a:t>
            </a:r>
            <a:r>
              <a:rPr sz="1200">
                <a:solidFill>
                  <a:srgbClr val="6B3FA0"/>
                </a:solidFill>
                <a:latin typeface="IBM Plex Mono"/>
                <a:ea typeface="IBM Plex Mono"/>
                <a:cs typeface="IBM Plex Mono"/>
              </a:rPr>
              <a:t>var</a:t>
            </a: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envelope = Envelope(</a:t>
            </a:r>
            <a:r>
              <a:rPr sz="1200">
                <a:solidFill>
                  <a:srgbClr val="A8520A"/>
                </a:solidFill>
                <a:latin typeface="IBM Plex Mono"/>
                <a:ea typeface="IBM Plex Mono"/>
                <a:cs typeface="IBM Plex Mono"/>
              </a:rPr>
              <a:t>"m-1"</a:t>
            </a: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, 1, Start);</a:t>
            </a:r>
          </a:p>
        </p:txBody>
      </p:sp>
      <p:sp>
        <p:nvSpPr>
          <p:cNvPr id="16" name="line-number">
            <a:extLst xmlns:a="http://schemas.openxmlformats.org/drawingml/2006/main">
              <a:ext uri="{FF2B5EF4-FFF2-40B4-BE49-F238E27FC236}">
                <a16:creationId xmlns:a16="http://schemas.microsoft.com/office/drawing/2014/main" id="{3EDD0800-1FF2-4281-B795-FA6F47A4B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4426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5</a:t>
            </a:r>
          </a:p>
        </p:txBody>
      </p:sp>
      <p:sp>
        <p:nvSpPr>
          <p:cNvPr id="17" name="code-line">
            <a:extLst xmlns:a="http://schemas.openxmlformats.org/drawingml/2006/main">
              <a:ext uri="{FF2B5EF4-FFF2-40B4-BE49-F238E27FC236}">
                <a16:creationId xmlns:a16="http://schemas.microsoft.com/office/drawing/2014/main" id="{236524B9-BB31-4937-B30A-73754DB8E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644265"/>
            <a:ext cx="677418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>
                <a:latin typeface="IBM Plex Mono"/>
                <a:ea typeface="IBM Plex Mono"/>
                <a:cs typeface="IBM Plex Mono"/>
              </a:defRPr>
            </a:pP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   </a:t>
            </a:r>
            <a:r>
              <a:rPr sz="1200">
                <a:solidFill>
                  <a:srgbClr val="6B3FA0"/>
                </a:solidFill>
                <a:latin typeface="IBM Plex Mono"/>
                <a:ea typeface="IBM Plex Mono"/>
                <a:cs typeface="IBM Plex Mono"/>
              </a:rPr>
              <a:t>var</a:t>
            </a: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first = _handler.Receive(envelope);</a:t>
            </a:r>
          </a:p>
        </p:txBody>
      </p:sp>
      <p:sp>
        <p:nvSpPr>
          <p:cNvPr id="18" name="line-number">
            <a:extLst xmlns:a="http://schemas.openxmlformats.org/drawingml/2006/main">
              <a:ext uri="{FF2B5EF4-FFF2-40B4-BE49-F238E27FC236}">
                <a16:creationId xmlns:a16="http://schemas.microsoft.com/office/drawing/2014/main" id="{A65C413F-0FAB-4DE7-8E41-81ED9986C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5762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6</a:t>
            </a:r>
          </a:p>
        </p:txBody>
      </p:sp>
      <p:sp>
        <p:nvSpPr>
          <p:cNvPr id="19" name="code-line">
            <a:extLst xmlns:a="http://schemas.openxmlformats.org/drawingml/2006/main">
              <a:ext uri="{FF2B5EF4-FFF2-40B4-BE49-F238E27FC236}">
                <a16:creationId xmlns:a16="http://schemas.microsoft.com/office/drawing/2014/main" id="{B02E5F4F-5AF4-4266-A0D4-384DF46F3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857625"/>
            <a:ext cx="677418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>
                <a:latin typeface="IBM Plex Mono"/>
                <a:ea typeface="IBM Plex Mono"/>
                <a:cs typeface="IBM Plex Mono"/>
              </a:defRPr>
            </a:pP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   </a:t>
            </a:r>
            <a:r>
              <a:rPr sz="1200">
                <a:solidFill>
                  <a:srgbClr val="6B3FA0"/>
                </a:solidFill>
                <a:latin typeface="IBM Plex Mono"/>
                <a:ea typeface="IBM Plex Mono"/>
                <a:cs typeface="IBM Plex Mono"/>
              </a:rPr>
              <a:t>var</a:t>
            </a: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second = _handler.Receive(envelope);</a:t>
            </a:r>
          </a:p>
        </p:txBody>
      </p:sp>
      <p:sp>
        <p:nvSpPr>
          <p:cNvPr id="20" name="line-number">
            <a:extLst xmlns:a="http://schemas.openxmlformats.org/drawingml/2006/main">
              <a:ext uri="{FF2B5EF4-FFF2-40B4-BE49-F238E27FC236}">
                <a16:creationId xmlns:a16="http://schemas.microsoft.com/office/drawing/2014/main" id="{551EC9AD-6FE1-46CD-B9A4-8293F43E5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7098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7</a:t>
            </a:r>
          </a:p>
        </p:txBody>
      </p:sp>
      <p:sp>
        <p:nvSpPr>
          <p:cNvPr id="21" name="code-line">
            <a:extLst xmlns:a="http://schemas.openxmlformats.org/drawingml/2006/main">
              <a:ext uri="{FF2B5EF4-FFF2-40B4-BE49-F238E27FC236}">
                <a16:creationId xmlns:a16="http://schemas.microsoft.com/office/drawing/2014/main" id="{917D9A88-3A10-4C51-A660-E0B0C2AB4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070985"/>
            <a:ext cx="677418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>
                <a:latin typeface="IBM Plex Mono"/>
                <a:ea typeface="IBM Plex Mono"/>
                <a:cs typeface="IBM Plex Mono"/>
              </a:defRPr>
            </a:pP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   </a:t>
            </a:r>
            <a:r>
              <a:rPr sz="1200">
                <a:solidFill>
                  <a:srgbClr val="6B3FA0"/>
                </a:solidFill>
                <a:latin typeface="IBM Plex Mono"/>
                <a:ea typeface="IBM Plex Mono"/>
                <a:cs typeface="IBM Plex Mono"/>
              </a:rPr>
              <a:t>using</a:t>
            </a: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(Assert.EnterMultipleScope())</a:t>
            </a:r>
          </a:p>
        </p:txBody>
      </p:sp>
      <p:sp>
        <p:nvSpPr>
          <p:cNvPr id="22" name="line-number">
            <a:extLst xmlns:a="http://schemas.openxmlformats.org/drawingml/2006/main">
              <a:ext uri="{FF2B5EF4-FFF2-40B4-BE49-F238E27FC236}">
                <a16:creationId xmlns:a16="http://schemas.microsoft.com/office/drawing/2014/main" id="{5AFADCE4-E7D4-47FF-B031-08454E3F9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8434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8</a:t>
            </a:r>
          </a:p>
        </p:txBody>
      </p:sp>
      <p:sp>
        <p:nvSpPr>
          <p:cNvPr id="23" name="code-line">
            <a:extLst xmlns:a="http://schemas.openxmlformats.org/drawingml/2006/main">
              <a:ext uri="{FF2B5EF4-FFF2-40B4-BE49-F238E27FC236}">
                <a16:creationId xmlns:a16="http://schemas.microsoft.com/office/drawing/2014/main" id="{4A1BFD2C-809A-414E-99BD-D8BBD0950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284345"/>
            <a:ext cx="677418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>
                <a:latin typeface="IBM Plex Mono"/>
                <a:ea typeface="IBM Plex Mono"/>
                <a:cs typeface="IBM Plex Mono"/>
              </a:defRPr>
            </a:pP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   {</a:t>
            </a:r>
          </a:p>
        </p:txBody>
      </p:sp>
      <p:sp>
        <p:nvSpPr>
          <p:cNvPr id="24" name="line-number">
            <a:extLst xmlns:a="http://schemas.openxmlformats.org/drawingml/2006/main">
              <a:ext uri="{FF2B5EF4-FFF2-40B4-BE49-F238E27FC236}">
                <a16:creationId xmlns:a16="http://schemas.microsoft.com/office/drawing/2014/main" id="{D951FB0F-56CB-4CC0-BBE4-4C1360383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9770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9</a:t>
            </a:r>
          </a:p>
        </p:txBody>
      </p:sp>
      <p:sp>
        <p:nvSpPr>
          <p:cNvPr id="25" name="code-line">
            <a:extLst xmlns:a="http://schemas.openxmlformats.org/drawingml/2006/main">
              <a:ext uri="{FF2B5EF4-FFF2-40B4-BE49-F238E27FC236}">
                <a16:creationId xmlns:a16="http://schemas.microsoft.com/office/drawing/2014/main" id="{E6879BCC-F9F1-4E93-BFEF-748F4EAD9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497705"/>
            <a:ext cx="677418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>
                <a:latin typeface="IBM Plex Mono"/>
                <a:ea typeface="IBM Plex Mono"/>
                <a:cs typeface="IBM Plex Mono"/>
              </a:defRPr>
            </a:pP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       Assert.That(first.Code, Is.EqualTo(InboxCodes.Accepted));</a:t>
            </a:r>
          </a:p>
        </p:txBody>
      </p:sp>
      <p:sp>
        <p:nvSpPr>
          <p:cNvPr id="26" name="line-number">
            <a:extLst xmlns:a="http://schemas.openxmlformats.org/drawingml/2006/main">
              <a:ext uri="{FF2B5EF4-FFF2-40B4-BE49-F238E27FC236}">
                <a16:creationId xmlns:a16="http://schemas.microsoft.com/office/drawing/2014/main" id="{3E34D819-ACDA-4440-A452-F0DB26A93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71106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10</a:t>
            </a:r>
          </a:p>
        </p:txBody>
      </p:sp>
      <p:sp>
        <p:nvSpPr>
          <p:cNvPr id="27" name="code-line">
            <a:extLst xmlns:a="http://schemas.openxmlformats.org/drawingml/2006/main">
              <a:ext uri="{FF2B5EF4-FFF2-40B4-BE49-F238E27FC236}">
                <a16:creationId xmlns:a16="http://schemas.microsoft.com/office/drawing/2014/main" id="{FCAD21B0-1DA1-4FC4-9E9A-230874DC6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711065"/>
            <a:ext cx="677418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>
                <a:latin typeface="IBM Plex Mono"/>
                <a:ea typeface="IBM Plex Mono"/>
                <a:cs typeface="IBM Plex Mono"/>
              </a:defRPr>
            </a:pP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       Assert.That(second.Code, Is.EqualTo(InboxCodes.Duplicate));</a:t>
            </a:r>
          </a:p>
        </p:txBody>
      </p:sp>
      <p:sp>
        <p:nvSpPr>
          <p:cNvPr id="28" name="line-number">
            <a:extLst xmlns:a="http://schemas.openxmlformats.org/drawingml/2006/main">
              <a:ext uri="{FF2B5EF4-FFF2-40B4-BE49-F238E27FC236}">
                <a16:creationId xmlns:a16="http://schemas.microsoft.com/office/drawing/2014/main" id="{8D0969C4-66AB-42D5-85F9-4DF9CBA58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92442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11</a:t>
            </a:r>
          </a:p>
        </p:txBody>
      </p:sp>
      <p:sp>
        <p:nvSpPr>
          <p:cNvPr id="29" name="code-line">
            <a:extLst xmlns:a="http://schemas.openxmlformats.org/drawingml/2006/main">
              <a:ext uri="{FF2B5EF4-FFF2-40B4-BE49-F238E27FC236}">
                <a16:creationId xmlns:a16="http://schemas.microsoft.com/office/drawing/2014/main" id="{F2BE27AA-DCD8-4EB5-BDA0-8331570E3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924425"/>
            <a:ext cx="677418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>
                <a:latin typeface="IBM Plex Mono"/>
                <a:ea typeface="IBM Plex Mono"/>
                <a:cs typeface="IBM Plex Mono"/>
              </a:defRPr>
            </a:pP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       Assert.That(_processor.ProcessedPayloads, Has.Count.EqualTo(1));</a:t>
            </a:r>
          </a:p>
        </p:txBody>
      </p:sp>
      <p:sp>
        <p:nvSpPr>
          <p:cNvPr id="30" name="line-number">
            <a:extLst xmlns:a="http://schemas.openxmlformats.org/drawingml/2006/main">
              <a:ext uri="{FF2B5EF4-FFF2-40B4-BE49-F238E27FC236}">
                <a16:creationId xmlns:a16="http://schemas.microsoft.com/office/drawing/2014/main" id="{69C573D4-05EC-4DF8-A602-BAEE3C44B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13778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12</a:t>
            </a:r>
          </a:p>
        </p:txBody>
      </p:sp>
      <p:sp>
        <p:nvSpPr>
          <p:cNvPr id="31" name="code-line">
            <a:extLst xmlns:a="http://schemas.openxmlformats.org/drawingml/2006/main">
              <a:ext uri="{FF2B5EF4-FFF2-40B4-BE49-F238E27FC236}">
                <a16:creationId xmlns:a16="http://schemas.microsoft.com/office/drawing/2014/main" id="{7D28D7FE-4503-428D-9164-8F0C8E97B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137785"/>
            <a:ext cx="677418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>
                <a:latin typeface="IBM Plex Mono"/>
                <a:ea typeface="IBM Plex Mono"/>
                <a:cs typeface="IBM Plex Mono"/>
              </a:defRPr>
            </a:pP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   }</a:t>
            </a:r>
          </a:p>
        </p:txBody>
      </p:sp>
      <p:sp>
        <p:nvSpPr>
          <p:cNvPr id="32" name="line-number">
            <a:extLst xmlns:a="http://schemas.openxmlformats.org/drawingml/2006/main">
              <a:ext uri="{FF2B5EF4-FFF2-40B4-BE49-F238E27FC236}">
                <a16:creationId xmlns:a16="http://schemas.microsoft.com/office/drawing/2014/main" id="{C261244C-F5C0-4B85-80AE-98BF835AD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35114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13</a:t>
            </a:r>
          </a:p>
        </p:txBody>
      </p:sp>
      <p:sp>
        <p:nvSpPr>
          <p:cNvPr id="33" name="code-line">
            <a:extLst xmlns:a="http://schemas.openxmlformats.org/drawingml/2006/main">
              <a:ext uri="{FF2B5EF4-FFF2-40B4-BE49-F238E27FC236}">
                <a16:creationId xmlns:a16="http://schemas.microsoft.com/office/drawing/2014/main" id="{D7AC35AB-13D2-49A9-89EE-91C612A99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351145"/>
            <a:ext cx="677418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>
                <a:latin typeface="IBM Plex Mono"/>
                <a:ea typeface="IBM Plex Mono"/>
                <a:cs typeface="IBM Plex Mono"/>
              </a:defRPr>
            </a:pP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}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39D3254-2289-4576-AA61-E65252E06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619125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A327BD7-0CF4-4A0E-A9F5-88BC042B3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296025"/>
            <a:ext cx="9858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дистрибуираног програмирања</a:t>
            </a:r>
          </a:p>
        </p:txBody>
      </p:sp>
      <p:sp>
        <p:nvSpPr>
          <p:cNvPr id="36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CAB872CC-1C41-49A3-8CB8-7F0DF633A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2960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r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95677385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E3E38F2-8FB6-4AF5-9383-345B15E75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7200"/>
            <a:ext cx="4572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B3F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19DC64-EEC0-4121-810E-F8762B06B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714375"/>
            <a:ext cx="1057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6B3FA0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1">
                <a:solidFill>
                  <a:srgbClr val="6B3FA0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1">
                <a:solidFill>
                  <a:srgbClr val="6B3FA0"/>
                </a:solidFill>
                <a:latin typeface="IBM Plex Mono"/>
                <a:ea typeface="IBM Plex Mono"/>
                <a:cs typeface="IBM Plex Mono"/>
              </a:rPr>
              <a:t>03 · КОД И ТЕСТ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F452438-7D39-4EA1-A60E-D75A45D4F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981075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Испис демонстрације</a:t>
            </a:r>
          </a:p>
        </p:txBody>
      </p:sp>
      <p:sp>
        <p:nvSpPr>
          <p:cNvPr id="4" name="slide-lead">
            <a:extLst xmlns:a="http://schemas.openxmlformats.org/drawingml/2006/main">
              <a:ext uri="{FF2B5EF4-FFF2-40B4-BE49-F238E27FC236}">
                <a16:creationId xmlns:a16="http://schemas.microsoft.com/office/drawing/2014/main" id="{C57D56E3-A35A-4C2C-90F7-A017210C7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90675"/>
            <a:ext cx="10572750" cy="2775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Новија minor верзија се прихвата, друга major верзија се одбија.</a:t>
            </a:r>
          </a:p>
        </p:txBody>
      </p:sp>
      <p:sp>
        <p:nvSpPr>
          <p:cNvPr id="5" name="code-panel">
            <a:extLst xmlns:a="http://schemas.openxmlformats.org/drawingml/2006/main">
              <a:ext uri="{FF2B5EF4-FFF2-40B4-BE49-F238E27FC236}">
                <a16:creationId xmlns:a16="http://schemas.microsoft.com/office/drawing/2014/main" id="{ED3E24FB-DDF4-4A96-905B-13F25556E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333625"/>
            <a:ext cx="7143750" cy="2211705"/>
          </a:xfrm>
          <a:prstGeom xmlns:a="http://schemas.openxmlformats.org/drawingml/2006/main" prst="roundRect">
            <a:avLst>
              <a:gd name="adj" fmla="val 4307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34EFA6-AD28-4B6C-992B-BFAE13C2C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57450"/>
            <a:ext cx="6781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console · исходи демонстрације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45DC6B-472E-4376-AE12-2E2492BCE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0600" y="2714625"/>
            <a:ext cx="678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8" name="line-number">
            <a:extLst xmlns:a="http://schemas.openxmlformats.org/drawingml/2006/main">
              <a:ext uri="{FF2B5EF4-FFF2-40B4-BE49-F238E27FC236}">
                <a16:creationId xmlns:a16="http://schemas.microsoft.com/office/drawing/2014/main" id="{59731E70-54E1-4B2A-8213-3058DACD8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9082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1</a:t>
            </a:r>
          </a:p>
        </p:txBody>
      </p:sp>
      <p:sp>
        <p:nvSpPr>
          <p:cNvPr id="9" name="code-line">
            <a:extLst xmlns:a="http://schemas.openxmlformats.org/drawingml/2006/main">
              <a:ext uri="{FF2B5EF4-FFF2-40B4-BE49-F238E27FC236}">
                <a16:creationId xmlns:a16="http://schemas.microsoft.com/office/drawing/2014/main" id="{D40E92DC-1923-4E18-9779-74C1A9D12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790825"/>
            <a:ext cx="63531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m-1 v1.0 (prva isporuka) -&gt; message_accepted</a:t>
            </a:r>
          </a:p>
        </p:txBody>
      </p:sp>
      <p:sp>
        <p:nvSpPr>
          <p:cNvPr id="10" name="line-number">
            <a:extLst xmlns:a="http://schemas.openxmlformats.org/drawingml/2006/main">
              <a:ext uri="{FF2B5EF4-FFF2-40B4-BE49-F238E27FC236}">
                <a16:creationId xmlns:a16="http://schemas.microsoft.com/office/drawing/2014/main" id="{90056649-1CBF-4934-9AB0-CB374106A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0418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2</a:t>
            </a:r>
          </a:p>
        </p:txBody>
      </p:sp>
      <p:sp>
        <p:nvSpPr>
          <p:cNvPr id="11" name="code-line">
            <a:extLst xmlns:a="http://schemas.openxmlformats.org/drawingml/2006/main">
              <a:ext uri="{FF2B5EF4-FFF2-40B4-BE49-F238E27FC236}">
                <a16:creationId xmlns:a16="http://schemas.microsoft.com/office/drawing/2014/main" id="{54C18A61-0A23-404C-B9D3-BD6C32A10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004185"/>
            <a:ext cx="63531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m-1 v1.0 (ponovljena isporuka iste poruke) -&gt; message_duplicate</a:t>
            </a:r>
          </a:p>
        </p:txBody>
      </p:sp>
      <p:sp>
        <p:nvSpPr>
          <p:cNvPr id="12" name="line-number">
            <a:extLst xmlns:a="http://schemas.openxmlformats.org/drawingml/2006/main">
              <a:ext uri="{FF2B5EF4-FFF2-40B4-BE49-F238E27FC236}">
                <a16:creationId xmlns:a16="http://schemas.microsoft.com/office/drawing/2014/main" id="{EECAA49A-EE59-46E8-8831-FBDC9BB16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1754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3</a:t>
            </a:r>
          </a:p>
        </p:txBody>
      </p:sp>
      <p:sp>
        <p:nvSpPr>
          <p:cNvPr id="13" name="code-line">
            <a:extLst xmlns:a="http://schemas.openxmlformats.org/drawingml/2006/main">
              <a:ext uri="{FF2B5EF4-FFF2-40B4-BE49-F238E27FC236}">
                <a16:creationId xmlns:a16="http://schemas.microsoft.com/office/drawing/2014/main" id="{5E857ACD-145B-42D1-9192-2C6277ADB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217545"/>
            <a:ext cx="63531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m-2 v1.3 (novija minor verzija) -&gt; message_accepted</a:t>
            </a:r>
          </a:p>
        </p:txBody>
      </p:sp>
      <p:sp>
        <p:nvSpPr>
          <p:cNvPr id="14" name="line-number">
            <a:extLst xmlns:a="http://schemas.openxmlformats.org/drawingml/2006/main">
              <a:ext uri="{FF2B5EF4-FFF2-40B4-BE49-F238E27FC236}">
                <a16:creationId xmlns:a16="http://schemas.microsoft.com/office/drawing/2014/main" id="{470EBBC2-BBEB-4EEC-86FA-6AC0FD98C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3090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4</a:t>
            </a:r>
          </a:p>
        </p:txBody>
      </p:sp>
      <p:sp>
        <p:nvSpPr>
          <p:cNvPr id="15" name="code-line">
            <a:extLst xmlns:a="http://schemas.openxmlformats.org/drawingml/2006/main">
              <a:ext uri="{FF2B5EF4-FFF2-40B4-BE49-F238E27FC236}">
                <a16:creationId xmlns:a16="http://schemas.microsoft.com/office/drawing/2014/main" id="{7565C63B-05CB-4097-9178-42B86F714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430905"/>
            <a:ext cx="63531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m-3 v2.0 (druga major verzija) -&gt; message_major_version_unsupported</a:t>
            </a:r>
          </a:p>
        </p:txBody>
      </p:sp>
      <p:sp>
        <p:nvSpPr>
          <p:cNvPr id="16" name="line-number">
            <a:extLst xmlns:a="http://schemas.openxmlformats.org/drawingml/2006/main">
              <a:ext uri="{FF2B5EF4-FFF2-40B4-BE49-F238E27FC236}">
                <a16:creationId xmlns:a16="http://schemas.microsoft.com/office/drawing/2014/main" id="{DCF737C0-8A40-41F6-AF52-ABB10F9D6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4426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5</a:t>
            </a:r>
          </a:p>
        </p:txBody>
      </p:sp>
      <p:sp>
        <p:nvSpPr>
          <p:cNvPr id="17" name="code-line">
            <a:extLst xmlns:a="http://schemas.openxmlformats.org/drawingml/2006/main">
              <a:ext uri="{FF2B5EF4-FFF2-40B4-BE49-F238E27FC236}">
                <a16:creationId xmlns:a16="http://schemas.microsoft.com/office/drawing/2014/main" id="{6417A1EA-E4C6-4880-804E-EB71DB322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644265"/>
            <a:ext cx="63531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m-4 v1.0 (poruka koja je putovala 12 minuta) -&gt; message_too_old</a:t>
            </a:r>
          </a:p>
        </p:txBody>
      </p:sp>
      <p:sp>
        <p:nvSpPr>
          <p:cNvPr id="18" name="line-number">
            <a:extLst xmlns:a="http://schemas.openxmlformats.org/drawingml/2006/main">
              <a:ext uri="{FF2B5EF4-FFF2-40B4-BE49-F238E27FC236}">
                <a16:creationId xmlns:a16="http://schemas.microsoft.com/office/drawing/2014/main" id="{27EC1C7F-A085-4924-942D-365A5467D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5762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6</a:t>
            </a:r>
          </a:p>
        </p:txBody>
      </p:sp>
      <p:sp>
        <p:nvSpPr>
          <p:cNvPr id="19" name="code-line">
            <a:extLst xmlns:a="http://schemas.openxmlformats.org/drawingml/2006/main">
              <a:ext uri="{FF2B5EF4-FFF2-40B4-BE49-F238E27FC236}">
                <a16:creationId xmlns:a16="http://schemas.microsoft.com/office/drawing/2014/main" id="{FE37DE38-321E-4A48-BCAB-5A5D5524C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857625"/>
            <a:ext cx="63531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Poslovni efekat se dogodio 2 puta:</a:t>
            </a:r>
          </a:p>
        </p:txBody>
      </p:sp>
      <p:sp>
        <p:nvSpPr>
          <p:cNvPr id="20" name="line-number">
            <a:extLst xmlns:a="http://schemas.openxmlformats.org/drawingml/2006/main">
              <a:ext uri="{FF2B5EF4-FFF2-40B4-BE49-F238E27FC236}">
                <a16:creationId xmlns:a16="http://schemas.microsoft.com/office/drawing/2014/main" id="{63FDE4BC-157C-49AF-A3A1-01914EA45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7098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7</a:t>
            </a:r>
          </a:p>
        </p:txBody>
      </p:sp>
      <p:sp>
        <p:nvSpPr>
          <p:cNvPr id="21" name="code-line">
            <a:extLst xmlns:a="http://schemas.openxmlformats.org/drawingml/2006/main">
              <a:ext uri="{FF2B5EF4-FFF2-40B4-BE49-F238E27FC236}">
                <a16:creationId xmlns:a16="http://schemas.microsoft.com/office/drawing/2014/main" id="{28174BC0-0267-4ECA-A090-94D3F91A9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070985"/>
            <a:ext cx="63531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 telemetrija m-1</a:t>
            </a:r>
          </a:p>
        </p:txBody>
      </p:sp>
      <p:sp>
        <p:nvSpPr>
          <p:cNvPr id="22" name="line-number">
            <a:extLst xmlns:a="http://schemas.openxmlformats.org/drawingml/2006/main">
              <a:ext uri="{FF2B5EF4-FFF2-40B4-BE49-F238E27FC236}">
                <a16:creationId xmlns:a16="http://schemas.microsoft.com/office/drawing/2014/main" id="{5768D90C-E9C5-4EAE-8502-975442250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8434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8</a:t>
            </a:r>
          </a:p>
        </p:txBody>
      </p:sp>
      <p:sp>
        <p:nvSpPr>
          <p:cNvPr id="23" name="code-line">
            <a:extLst xmlns:a="http://schemas.openxmlformats.org/drawingml/2006/main">
              <a:ext uri="{FF2B5EF4-FFF2-40B4-BE49-F238E27FC236}">
                <a16:creationId xmlns:a16="http://schemas.microsoft.com/office/drawing/2014/main" id="{31104865-CA0B-4BCD-9BC4-7A0DFBE88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284345"/>
            <a:ext cx="63531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 telemetrija m-2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62BABDF-C32D-402C-AC6D-249252C30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619125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E7EF206-8F27-4DAB-B9CB-6BCDFA7D5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296025"/>
            <a:ext cx="9858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дистрибуираног програмирања</a:t>
            </a:r>
          </a:p>
        </p:txBody>
      </p:sp>
      <p:sp>
        <p:nvSpPr>
          <p:cNvPr id="26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7BAC7BA5-E1E1-4B45-8C94-4B86C031E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2960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r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84621107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EAE7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5BB7C2-FC75-4A65-B5AB-B2E51A472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714500"/>
            <a:ext cx="2667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3875" b="0">
                <a:solidFill>
                  <a:srgbClr val="6B3FA0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3875" b="0">
                <a:solidFill>
                  <a:srgbClr val="6B3FA0"/>
                </a:solidFill>
                <a:latin typeface="IBM Plex Mono"/>
                <a:ea typeface="IBM Plex Mono"/>
                <a:cs typeface="IBM Plex Mono"/>
              </a:defRPr>
            </a:pPr>
            <a:r>
              <a:rPr sz="13875" b="0">
                <a:solidFill>
                  <a:srgbClr val="6B3FA0"/>
                </a:solidFill>
                <a:latin typeface="IBM Plex Mono"/>
                <a:ea typeface="IBM Plex Mono"/>
                <a:cs typeface="IBM Plex Mono"/>
              </a:rPr>
              <a:t>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169304-B2EC-4704-BF27-B94E4EA3A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152650"/>
            <a:ext cx="6858000" cy="2343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6B3FA0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1">
                <a:solidFill>
                  <a:srgbClr val="6B3FA0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1">
                <a:solidFill>
                  <a:srgbClr val="6B3FA0"/>
                </a:solidFill>
                <a:latin typeface="IBM Plex Mono"/>
                <a:ea typeface="IBM Plex Mono"/>
                <a:cs typeface="IBM Plex Mono"/>
              </a:rPr>
              <a:t>ЧЕТВРТИ ДЕО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E5B290-C8B9-489F-8839-1603B28CA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609850"/>
            <a:ext cx="6858000" cy="6991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8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48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48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Примена и провера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4DCCED-41B8-4001-A261-0D1FC2A1A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537585"/>
            <a:ext cx="685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45000"/>
              </a:lnSpc>
              <a:buNone/>
              <a:defRPr sz="15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5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Принципи, замке, задатак уз пример и примена на пројектну целину.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CAB970-FFF2-43D6-9517-03AD279B4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619125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C6BDC6-6494-4120-BAAC-6AF1DE261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296025"/>
            <a:ext cx="9858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дистрибуираног програмирања</a:t>
            </a:r>
          </a:p>
        </p:txBody>
      </p:sp>
      <p:sp>
        <p:nvSpPr>
          <p:cNvPr id="7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E2611648-A84F-46AB-8AFB-964FBD2F3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2960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r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519460138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DE21128-719D-416B-81A2-A7FBF5EC0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7200"/>
            <a:ext cx="4572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B3F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8CCB1F-37B6-4CF0-823E-D2301FCAB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714375"/>
            <a:ext cx="1057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6B3FA0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1">
                <a:solidFill>
                  <a:srgbClr val="6B3FA0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1">
                <a:solidFill>
                  <a:srgbClr val="6B3FA0"/>
                </a:solidFill>
                <a:latin typeface="IBM Plex Mono"/>
                <a:ea typeface="IBM Plex Mono"/>
                <a:cs typeface="IBM Plex Mono"/>
              </a:rPr>
              <a:t>04 · ПРИМЕНА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AD9A64F-F8D2-44B0-B22E-F2407D498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981075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Принципи и замке</a:t>
            </a:r>
          </a:p>
        </p:txBody>
      </p:sp>
      <p:sp>
        <p:nvSpPr>
          <p:cNvPr id="4" name="slide-lead">
            <a:extLst xmlns:a="http://schemas.openxmlformats.org/drawingml/2006/main">
              <a:ext uri="{FF2B5EF4-FFF2-40B4-BE49-F238E27FC236}">
                <a16:creationId xmlns:a16="http://schemas.microsoft.com/office/drawing/2014/main" id="{73619BEE-4B2C-45F7-AD3A-36B89FD90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90675"/>
            <a:ext cx="10572750" cy="2775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Принцип важи тек када је препозната и замка која га тихо поништава.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2628C9-D67E-4B8D-AC5F-83AD64EAE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333625"/>
            <a:ext cx="5162550" cy="2747010"/>
          </a:xfrm>
          <a:prstGeom xmlns:a="http://schemas.openxmlformats.org/drawingml/2006/main" prst="roundRect">
            <a:avLst>
              <a:gd name="adj" fmla="val 3467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D92D3F-6788-4277-8BE1-EB11F5AD1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2524125"/>
            <a:ext cx="4743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6B3FA0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1">
                <a:solidFill>
                  <a:srgbClr val="6B3FA0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1">
                <a:solidFill>
                  <a:srgbClr val="6B3FA0"/>
                </a:solidFill>
                <a:latin typeface="IBM Plex Mono"/>
                <a:ea typeface="IBM Plex Mono"/>
                <a:cs typeface="IBM Plex Mono"/>
              </a:rPr>
              <a:t>ПРИНЦИПИ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24CD10-1F31-41E5-B09D-A7FC0CFF1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133725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3F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D855EA-2E55-4AC3-A5A1-EF4B644C1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2943225"/>
            <a:ext cx="4552950" cy="5314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4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7500"/>
              </a:lnSpc>
              <a:buNone/>
              <a:defRPr sz="144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4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Компатибилност се процењује према примаоцима</a:t>
            </a:r>
          </a:p>
          <a:p xmlns:a="http://schemas.openxmlformats.org/drawingml/2006/main">
            <a:pPr algn="l">
              <a:lnSpc>
                <a:spcPct val="137500"/>
              </a:lnSpc>
              <a:buNone/>
              <a:defRPr sz="144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4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поруке, не само према коду пошиљаоца.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F31B60-CFF4-4909-874F-25B1028E2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827145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3F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7850EB-DAAE-4C47-B4AD-671EFD33B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3636645"/>
            <a:ext cx="4552950" cy="5314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4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7500"/>
              </a:lnSpc>
              <a:buNone/>
              <a:defRPr sz="144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4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Кашњење и дупликат су нормални улази које</a:t>
            </a:r>
          </a:p>
          <a:p xmlns:a="http://schemas.openxmlformats.org/drawingml/2006/main">
            <a:pPr algn="l">
              <a:lnSpc>
                <a:spcPct val="137500"/>
              </a:lnSpc>
              <a:buNone/>
              <a:defRPr sz="144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4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компонента мора да објасни.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B469C2-29C3-4F61-8471-D111C0849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4520565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3F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C96DA8-C48B-4EAF-9EC3-8C7109532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4330065"/>
            <a:ext cx="4552950" cy="5314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4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7500"/>
              </a:lnSpc>
              <a:buNone/>
              <a:defRPr sz="144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4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Тест треба да провери видљив исход, не само да</a:t>
            </a:r>
          </a:p>
          <a:p xmlns:a="http://schemas.openxmlformats.org/drawingml/2006/main">
            <a:pPr algn="l">
              <a:lnSpc>
                <a:spcPct val="137500"/>
              </a:lnSpc>
              <a:buNone/>
              <a:defRPr sz="144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4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метода не баца изузетак.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CCAA0C-D65D-41D0-9E17-266C9539F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2333625"/>
            <a:ext cx="5162550" cy="2495550"/>
          </a:xfrm>
          <a:prstGeom xmlns:a="http://schemas.openxmlformats.org/drawingml/2006/main" prst="roundRect">
            <a:avLst>
              <a:gd name="adj" fmla="val 3817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012B0D-473B-4598-A137-CE8C51179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524125"/>
            <a:ext cx="4743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A8520A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1">
                <a:solidFill>
                  <a:srgbClr val="A8520A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1">
                <a:solidFill>
                  <a:srgbClr val="A8520A"/>
                </a:solidFill>
                <a:latin typeface="IBM Plex Mono"/>
                <a:ea typeface="IBM Plex Mono"/>
                <a:cs typeface="IBM Plex Mono"/>
              </a:rPr>
              <a:t>ЗАМКЕ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B42877-3885-4681-B9B5-39102024B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133725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7B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9D2040-582A-4ADF-80E7-FC7E063AE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943225"/>
            <a:ext cx="4552950" cy="2800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4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7500"/>
              </a:lnSpc>
              <a:buNone/>
              <a:defRPr sz="144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4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Претпоставка да се порука испоручује тачно једном.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27D50E-DFD6-4A3C-8F13-104731CFD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575685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7B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225CA3-B729-48AE-94CB-67D77D3B9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385185"/>
            <a:ext cx="4552950" cy="5314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4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7500"/>
              </a:lnSpc>
              <a:buNone/>
              <a:defRPr sz="144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4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Breaking промена означена као безопасна јер</a:t>
            </a:r>
          </a:p>
          <a:p xmlns:a="http://schemas.openxmlformats.org/drawingml/2006/main">
            <a:pPr algn="l">
              <a:lnSpc>
                <a:spcPct val="137500"/>
              </a:lnSpc>
              <a:buNone/>
              <a:defRPr sz="144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4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локални тестови пролазе.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4099F57-FEA8-4B3E-A2D4-B3C9A7DB3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269105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7B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733DE54-6C5C-413C-B3C9-ACC16BF07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4078605"/>
            <a:ext cx="4552950" cy="5314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4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7500"/>
              </a:lnSpc>
              <a:buNone/>
              <a:defRPr sz="144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4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Тестирање прекида тек након интеграције свих</a:t>
            </a:r>
          </a:p>
          <a:p xmlns:a="http://schemas.openxmlformats.org/drawingml/2006/main">
            <a:pPr algn="l">
              <a:lnSpc>
                <a:spcPct val="137500"/>
              </a:lnSpc>
              <a:buNone/>
              <a:defRPr sz="144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4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компоненти.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34BEC5B-67FE-4F70-891E-BC499DE13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619125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5224235-C9B3-4BAC-A7C5-1B37B0325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296025"/>
            <a:ext cx="9858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дистрибуираног програмирања</a:t>
            </a:r>
          </a:p>
        </p:txBody>
      </p:sp>
      <p:sp>
        <p:nvSpPr>
          <p:cNvPr id="23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55552B7A-A492-4605-876C-56BBBE7E0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2960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r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778406796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0B4C5F-1830-4ECE-A74D-36E8C375D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7200"/>
            <a:ext cx="4572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B3F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05C3EB-C7A3-4BC3-8F2E-EF79335E2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714375"/>
            <a:ext cx="1057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6B3FA0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1">
                <a:solidFill>
                  <a:srgbClr val="6B3FA0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1">
                <a:solidFill>
                  <a:srgbClr val="6B3FA0"/>
                </a:solidFill>
                <a:latin typeface="IBM Plex Mono"/>
                <a:ea typeface="IBM Plex Mono"/>
                <a:cs typeface="IBM Plex Mono"/>
              </a:rPr>
              <a:t>04 · ПРИМЕНА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AC1B36D-A3EC-4F08-A391-5AE1A9133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981075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Типичне грешке</a:t>
            </a:r>
          </a:p>
        </p:txBody>
      </p:sp>
      <p:sp>
        <p:nvSpPr>
          <p:cNvPr id="4" name="slide-lead">
            <a:extLst xmlns:a="http://schemas.openxmlformats.org/drawingml/2006/main">
              <a:ext uri="{FF2B5EF4-FFF2-40B4-BE49-F238E27FC236}">
                <a16:creationId xmlns:a16="http://schemas.microsoft.com/office/drawing/2014/main" id="{E5E48411-2BC0-4626-8A5E-61CBAA902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90675"/>
            <a:ext cx="10572750" cy="2775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Ове грешке се најчешће понављају када се принцип површно примени.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F748EC-2236-4CE9-9178-146872910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2333625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668D09-575C-4EF6-869D-258F733C7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57450"/>
            <a:ext cx="6953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98" b="0">
                <a:solidFill>
                  <a:srgbClr val="A8520A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198" b="0">
                <a:solidFill>
                  <a:srgbClr val="A8520A"/>
                </a:solidFill>
                <a:latin typeface="IBM Plex Mono"/>
                <a:ea typeface="IBM Plex Mono"/>
                <a:cs typeface="IBM Plex Mono"/>
              </a:defRPr>
            </a:pPr>
            <a:r>
              <a:rPr sz="2198" b="0">
                <a:solidFill>
                  <a:srgbClr val="A8520A"/>
                </a:solidFill>
                <a:latin typeface="IBM Plex Mono"/>
                <a:ea typeface="IBM Plex Mono"/>
                <a:cs typeface="IBM Plex Mono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95294C-85DB-4DF3-AA47-94CAD526C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476500"/>
            <a:ext cx="9791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6000"/>
              </a:lnSpc>
              <a:buNone/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Претпоставка о испоруци тачно једном.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DFB3F4-3F98-46B4-8B8D-AF2F0E76D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2886075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6B2220-3FE7-4C22-8D53-60E33D0EE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009900"/>
            <a:ext cx="6953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98" b="0">
                <a:solidFill>
                  <a:srgbClr val="A8520A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198" b="0">
                <a:solidFill>
                  <a:srgbClr val="A8520A"/>
                </a:solidFill>
                <a:latin typeface="IBM Plex Mono"/>
                <a:ea typeface="IBM Plex Mono"/>
                <a:cs typeface="IBM Plex Mono"/>
              </a:defRPr>
            </a:pPr>
            <a:r>
              <a:rPr sz="2198" b="0">
                <a:solidFill>
                  <a:srgbClr val="A8520A"/>
                </a:solidFill>
                <a:latin typeface="IBM Plex Mono"/>
                <a:ea typeface="IBM Plex Mono"/>
                <a:cs typeface="IBM Plex Mono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191C38-9B40-49AF-B7CC-C260286AA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028950"/>
            <a:ext cx="9791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6000"/>
              </a:lnSpc>
              <a:buNone/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Breaking промена означена као компатибилна.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B0ACA9-C35A-4757-8E6F-FF036B28C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3438525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1A104B-0F1F-4C06-94E4-B067253AD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62350"/>
            <a:ext cx="6953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98" b="0">
                <a:solidFill>
                  <a:srgbClr val="A8520A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198" b="0">
                <a:solidFill>
                  <a:srgbClr val="A8520A"/>
                </a:solidFill>
                <a:latin typeface="IBM Plex Mono"/>
                <a:ea typeface="IBM Plex Mono"/>
                <a:cs typeface="IBM Plex Mono"/>
              </a:defRPr>
            </a:pPr>
            <a:r>
              <a:rPr sz="2198" b="0">
                <a:solidFill>
                  <a:srgbClr val="A8520A"/>
                </a:solidFill>
                <a:latin typeface="IBM Plex Mono"/>
                <a:ea typeface="IBM Plex Mono"/>
                <a:cs typeface="IBM Plex Mono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D516E6-9DB5-4240-A5FA-AD4D62CBA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581400"/>
            <a:ext cx="9791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6000"/>
              </a:lnSpc>
              <a:buNone/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Прекид се тестира тек на крају интеграције.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B80728-53C9-4C9C-A536-25B94B1F9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619125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9A1BBC-174A-45BF-A415-17EE2DA55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296025"/>
            <a:ext cx="9858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дистрибуираног програмирања</a:t>
            </a:r>
          </a:p>
        </p:txBody>
      </p:sp>
      <p:sp>
        <p:nvSpPr>
          <p:cNvPr id="16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2F0BAF0D-DC87-4639-A250-468D1AA57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2960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r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1837290034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DDA5EA-35FC-4044-9902-762B8DE10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7200"/>
            <a:ext cx="4572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B3F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10983C-D823-4B0B-AB29-75768EE27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714375"/>
            <a:ext cx="1057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6B3FA0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1">
                <a:solidFill>
                  <a:srgbClr val="6B3FA0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1">
                <a:solidFill>
                  <a:srgbClr val="6B3FA0"/>
                </a:solidFill>
                <a:latin typeface="IBM Plex Mono"/>
                <a:ea typeface="IBM Plex Mono"/>
                <a:cs typeface="IBM Plex Mono"/>
              </a:rPr>
              <a:t>04 · ПРИМЕНА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E2FC603-94F3-4917-AF68-862AB8855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981075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Како се принцип примењује</a:t>
            </a:r>
          </a:p>
        </p:txBody>
      </p:sp>
      <p:sp>
        <p:nvSpPr>
          <p:cNvPr id="4" name="slide-lead">
            <a:extLst xmlns:a="http://schemas.openxmlformats.org/drawingml/2006/main">
              <a:ext uri="{FF2B5EF4-FFF2-40B4-BE49-F238E27FC236}">
                <a16:creationId xmlns:a16="http://schemas.microsoft.com/office/drawing/2014/main" id="{4802FA71-EC0E-4A52-8E42-88B4F5D47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90675"/>
            <a:ext cx="10572750" cy="2775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Кораци показују како се принцип препознаје и доследно спроводи у развоју.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04D270-3FEF-48D3-91BF-B0A11A23C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2333625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581F34-066C-496E-9D6F-E0C6926D9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57450"/>
            <a:ext cx="6953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98" b="0">
                <a:solidFill>
                  <a:srgbClr val="6B3FA0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198" b="0">
                <a:solidFill>
                  <a:srgbClr val="6B3FA0"/>
                </a:solidFill>
                <a:latin typeface="IBM Plex Mono"/>
                <a:ea typeface="IBM Plex Mono"/>
                <a:cs typeface="IBM Plex Mono"/>
              </a:defRPr>
            </a:pPr>
            <a:r>
              <a:rPr sz="2198" b="0">
                <a:solidFill>
                  <a:srgbClr val="6B3FA0"/>
                </a:solidFill>
                <a:latin typeface="IBM Plex Mono"/>
                <a:ea typeface="IBM Plex Mono"/>
                <a:cs typeface="IBM Plex Mono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3FED2D-582A-40D2-B5CB-024F7CF18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476500"/>
            <a:ext cx="9791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6000"/>
              </a:lnSpc>
              <a:buNone/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За важан ток навести кашњење, дупликат и прекид.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A003DD-3990-43CE-BACA-6D99B901F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2886075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B82369-1BFB-4962-9505-1846F22E7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009900"/>
            <a:ext cx="6953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98" b="0">
                <a:solidFill>
                  <a:srgbClr val="6B3FA0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198" b="0">
                <a:solidFill>
                  <a:srgbClr val="6B3FA0"/>
                </a:solidFill>
                <a:latin typeface="IBM Plex Mono"/>
                <a:ea typeface="IBM Plex Mono"/>
                <a:cs typeface="IBM Plex Mono"/>
              </a:defRPr>
            </a:pPr>
            <a:r>
              <a:rPr sz="2198" b="0">
                <a:solidFill>
                  <a:srgbClr val="6B3FA0"/>
                </a:solidFill>
                <a:latin typeface="IBM Plex Mono"/>
                <a:ea typeface="IBM Plex Mono"/>
                <a:cs typeface="IBM Plex Mono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668501-626D-473C-9DF8-57E029154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028950"/>
            <a:ext cx="9791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6000"/>
              </a:lnSpc>
              <a:buNone/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Покретати исте експерименте више пута.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FA9A89-BFF3-44F9-99DC-E505CD871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3438525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2F7D10-115B-4D4F-8C11-C5C53B394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62350"/>
            <a:ext cx="6953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98" b="0">
                <a:solidFill>
                  <a:srgbClr val="6B3FA0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198" b="0">
                <a:solidFill>
                  <a:srgbClr val="6B3FA0"/>
                </a:solidFill>
                <a:latin typeface="IBM Plex Mono"/>
                <a:ea typeface="IBM Plex Mono"/>
                <a:cs typeface="IBM Plex Mono"/>
              </a:defRPr>
            </a:pPr>
            <a:r>
              <a:rPr sz="2198" b="0">
                <a:solidFill>
                  <a:srgbClr val="6B3FA0"/>
                </a:solidFill>
                <a:latin typeface="IBM Plex Mono"/>
                <a:ea typeface="IBM Plex Mono"/>
                <a:cs typeface="IBM Plex Mono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2B19E7-423C-41FE-9BBE-AFAA13363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581400"/>
            <a:ext cx="9791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6000"/>
              </a:lnSpc>
              <a:buNone/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Проверити исход уместо одсуства изузетка.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281BBE-65E9-48A9-BF87-2E9BB208D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619125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2E7CDD-A614-461F-B311-1FDC6A44A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296025"/>
            <a:ext cx="9858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дистрибуираног програмирања</a:t>
            </a:r>
          </a:p>
        </p:txBody>
      </p:sp>
      <p:sp>
        <p:nvSpPr>
          <p:cNvPr id="16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F2A1EAA1-9EB3-49D5-BFD2-0CA02115A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2960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r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645198147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AA8AD9-D35A-496E-A6E2-1BC215E23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7200"/>
            <a:ext cx="4572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B3F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0C93B5-2823-4BAD-BE5A-414A0D3F6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714375"/>
            <a:ext cx="1057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6B3FA0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1">
                <a:solidFill>
                  <a:srgbClr val="6B3FA0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1">
                <a:solidFill>
                  <a:srgbClr val="6B3FA0"/>
                </a:solidFill>
                <a:latin typeface="IBM Plex Mono"/>
                <a:ea typeface="IBM Plex Mono"/>
                <a:cs typeface="IBM Plex Mono"/>
              </a:rPr>
              <a:t>04 · ПРИМЕНА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8CCD839-E2C6-4F7C-8FC0-3A32B6E22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981075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Питање за дискусију</a:t>
            </a:r>
          </a:p>
        </p:txBody>
      </p:sp>
      <p:sp>
        <p:nvSpPr>
          <p:cNvPr id="4" name="slide-lead">
            <a:extLst xmlns:a="http://schemas.openxmlformats.org/drawingml/2006/main">
              <a:ext uri="{FF2B5EF4-FFF2-40B4-BE49-F238E27FC236}">
                <a16:creationId xmlns:a16="http://schemas.microsoft.com/office/drawing/2014/main" id="{946D0AA3-1747-495E-BF7A-75D486C2A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90675"/>
            <a:ext cx="10572750" cy="2775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Одговор се образлаже failure сценаријем и тестом, а не описом срећног пута.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98EE5D-BD06-4688-9668-029D1CD2C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524125"/>
            <a:ext cx="9810750" cy="721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1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21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За коју радњу би касно пристигла порука била опаснија од изгубљене и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21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21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како би је систем препознао?</a:t>
            </a:r>
          </a:p>
        </p:txBody>
      </p:sp>
      <p:sp>
        <p:nvSpPr>
          <p:cNvPr id="6" name="banner-background">
            <a:extLst xmlns:a="http://schemas.openxmlformats.org/drawingml/2006/main">
              <a:ext uri="{FF2B5EF4-FFF2-40B4-BE49-F238E27FC236}">
                <a16:creationId xmlns:a16="http://schemas.microsoft.com/office/drawing/2014/main" id="{227CF9BF-5A08-4E39-BA4C-B5DE7AD56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33875"/>
            <a:ext cx="10572750" cy="735330"/>
          </a:xfrm>
          <a:prstGeom xmlns:a="http://schemas.openxmlformats.org/drawingml/2006/main" prst="roundRect">
            <a:avLst>
              <a:gd name="adj" fmla="val 10363"/>
            </a:avLst>
          </a:prstGeom>
          <a:solidFill xmlns:a="http://schemas.openxmlformats.org/drawingml/2006/main">
            <a:srgbClr val="EAE7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banner-curved-accent">
            <a:extLst xmlns:a="http://schemas.openxmlformats.org/drawingml/2006/main">
              <a:ext uri="{FF2B5EF4-FFF2-40B4-BE49-F238E27FC236}">
                <a16:creationId xmlns:a16="http://schemas.microsoft.com/office/drawing/2014/main" id="{42DB8E6F-FF99-4FB5-BE76-290E3CE7F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33875"/>
            <a:ext cx="76200" cy="735330"/>
          </a:xfrm>
          <a:custGeom xmlns:a="http://schemas.openxmlformats.org/drawingml/2006/main">
            <a:pathLst>
              <a:path w="76200" h="735330">
                <a:moveTo>
                  <a:pt x="76200" y="0"/>
                </a:moveTo>
                <a:cubicBezTo>
                  <a:pt x="34100" y="0"/>
                  <a:pt x="0" y="34100"/>
                  <a:pt x="0" y="76200"/>
                </a:cubicBezTo>
                <a:lnTo>
                  <a:pt x="0" y="659130"/>
                </a:lnTo>
                <a:cubicBezTo>
                  <a:pt x="0" y="701231"/>
                  <a:pt x="34100" y="735330"/>
                  <a:pt x="76200" y="735330"/>
                </a:cubicBezTo>
                <a:lnTo>
                  <a:pt x="76200" y="697230"/>
                </a:lnTo>
                <a:cubicBezTo>
                  <a:pt x="55150" y="697230"/>
                  <a:pt x="38100" y="680180"/>
                  <a:pt x="38100" y="659130"/>
                </a:cubicBezTo>
                <a:lnTo>
                  <a:pt x="38100" y="76200"/>
                </a:lnTo>
                <a:cubicBezTo>
                  <a:pt x="38100" y="55150"/>
                  <a:pt x="55150" y="38100"/>
                  <a:pt x="76200" y="38100"/>
                </a:cubicBezTo>
                <a:close/>
              </a:path>
            </a:pathLst>
          </a:custGeom>
          <a:solidFill xmlns:a="http://schemas.openxmlformats.org/drawingml/2006/main">
            <a:srgbClr val="6B3FA0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1A11A0-9C90-4F9B-ADEF-38914B12B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4457700"/>
            <a:ext cx="101155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6B3FA0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1">
                <a:solidFill>
                  <a:srgbClr val="6B3FA0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1">
                <a:solidFill>
                  <a:srgbClr val="6B3FA0"/>
                </a:solidFill>
                <a:latin typeface="IBM Plex Mono"/>
                <a:ea typeface="IBM Plex Mono"/>
                <a:cs typeface="IBM Plex Mono"/>
              </a:rPr>
              <a:t>ЗА ВЕЖБУ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3B7886-F551-495B-821A-7BB4BBF79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4695825"/>
            <a:ext cx="10115550" cy="2686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За коју операцију би касно пристигла порука била опаснија од потпуно изгубљене поруке и зашто?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ECE6A2-5B89-48C9-AEDE-1A7880AF0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619125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6FBB1B-753D-4944-A852-DB1E87713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296025"/>
            <a:ext cx="9858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дистрибуираног програмирања</a:t>
            </a:r>
          </a:p>
        </p:txBody>
      </p:sp>
      <p:sp>
        <p:nvSpPr>
          <p:cNvPr id="12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1768E5A0-EE0B-4DC0-BB6E-343E2EB05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2960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r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80045470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590EC7-B661-41E7-A48D-B22DF3405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7200"/>
            <a:ext cx="4572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B3F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9E56B1-C1DB-49C2-B9C5-A370D9B7A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714375"/>
            <a:ext cx="1057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6B3FA0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1">
                <a:solidFill>
                  <a:srgbClr val="6B3FA0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1">
                <a:solidFill>
                  <a:srgbClr val="6B3FA0"/>
                </a:solidFill>
                <a:latin typeface="IBM Plex Mono"/>
                <a:ea typeface="IBM Plex Mono"/>
                <a:cs typeface="IBM Plex Mono"/>
              </a:rPr>
              <a:t>04 · ПРИМЕНА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D288077-9415-4C81-8284-0B75612CB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981075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Задатак уз пример</a:t>
            </a:r>
          </a:p>
        </p:txBody>
      </p:sp>
      <p:sp>
        <p:nvSpPr>
          <p:cNvPr id="4" name="slide-lead">
            <a:extLst xmlns:a="http://schemas.openxmlformats.org/drawingml/2006/main">
              <a:ext uri="{FF2B5EF4-FFF2-40B4-BE49-F238E27FC236}">
                <a16:creationId xmlns:a16="http://schemas.microsoft.com/office/drawing/2014/main" id="{E76DDE1B-4994-427E-97C8-8B5222C74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90675"/>
            <a:ext cx="10572750" cy="2775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Проширење примера уз вежбу, правило иде у домен, а доказ у тест.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1BAD15-C102-47DC-A8BB-B7823E0AB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2333625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17F40B-AB89-4990-9566-2ADD70C2F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57450"/>
            <a:ext cx="6953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98" b="0">
                <a:solidFill>
                  <a:srgbClr val="6B3FA0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198" b="0">
                <a:solidFill>
                  <a:srgbClr val="6B3FA0"/>
                </a:solidFill>
                <a:latin typeface="IBM Plex Mono"/>
                <a:ea typeface="IBM Plex Mono"/>
                <a:cs typeface="IBM Plex Mono"/>
              </a:defRPr>
            </a:pPr>
            <a:r>
              <a:rPr sz="2198" b="0">
                <a:solidFill>
                  <a:srgbClr val="6B3FA0"/>
                </a:solidFill>
                <a:latin typeface="IBM Plex Mono"/>
                <a:ea typeface="IBM Plex Mono"/>
                <a:cs typeface="IBM Plex Mono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FA1381-B755-4469-BBAA-004AF67CF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476500"/>
            <a:ext cx="97917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6000"/>
              </a:lnSpc>
              <a:buNone/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Додати правило да се порука са minor верзијом већом од познате прихвата, али се исход означава</a:t>
            </a:r>
          </a:p>
          <a:p xmlns:a="http://schemas.openxmlformats.org/drawingml/2006/main">
            <a:pPr algn="l">
              <a:lnSpc>
                <a:spcPct val="136000"/>
              </a:lnSpc>
              <a:buNone/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новим кодом message_accepted_newer_minor, како би тим знао да уговор треба прегледати.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397C57-C7A6-47E5-A4F6-0B005219D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350520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7CE383-F84C-45EC-8D9B-D9ABD8EC2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629025"/>
            <a:ext cx="6953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98" b="0">
                <a:solidFill>
                  <a:srgbClr val="6B3FA0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198" b="0">
                <a:solidFill>
                  <a:srgbClr val="6B3FA0"/>
                </a:solidFill>
                <a:latin typeface="IBM Plex Mono"/>
                <a:ea typeface="IBM Plex Mono"/>
                <a:cs typeface="IBM Plex Mono"/>
              </a:defRPr>
            </a:pPr>
            <a:r>
              <a:rPr sz="2198" b="0">
                <a:solidFill>
                  <a:srgbClr val="6B3FA0"/>
                </a:solidFill>
                <a:latin typeface="IBM Plex Mono"/>
                <a:ea typeface="IBM Plex Mono"/>
                <a:cs typeface="IBM Plex Mono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7436F4-7354-4044-B188-AB20D1E3C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648075"/>
            <a:ext cx="9791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6000"/>
              </a:lnSpc>
              <a:buNone/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Покрити гранични случај тестом.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AD4418-0E7C-4295-90DB-26933BD6E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619125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B0D380-2ACB-4C32-8821-687638EBB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296025"/>
            <a:ext cx="9858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дистрибуираног програмирања</a:t>
            </a:r>
          </a:p>
        </p:txBody>
      </p:sp>
      <p:sp>
        <p:nvSpPr>
          <p:cNvPr id="13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D77146F2-910C-4069-B78F-5B41E167B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2960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r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733412881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A71629A-E27C-4A71-9A33-7C1AAA839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7200"/>
            <a:ext cx="4572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B3F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9B4EC0-6353-4665-9EB6-1FB2C985F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714375"/>
            <a:ext cx="1057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6B3FA0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1">
                <a:solidFill>
                  <a:srgbClr val="6B3FA0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1">
                <a:solidFill>
                  <a:srgbClr val="6B3FA0"/>
                </a:solidFill>
                <a:latin typeface="IBM Plex Mono"/>
                <a:ea typeface="IBM Plex Mono"/>
                <a:cs typeface="IBM Plex Mono"/>
              </a:rPr>
              <a:t>04 · ПРИМЕНА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B749503-B323-46D0-8BB7-4DF27CEA3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981075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Контролна тачка P2 (10.03.)</a:t>
            </a:r>
          </a:p>
        </p:txBody>
      </p:sp>
      <p:sp>
        <p:nvSpPr>
          <p:cNvPr id="4" name="slide-lead">
            <a:extLst xmlns:a="http://schemas.openxmlformats.org/drawingml/2006/main">
              <a:ext uri="{FF2B5EF4-FFF2-40B4-BE49-F238E27FC236}">
                <a16:creationId xmlns:a16="http://schemas.microsoft.com/office/drawing/2014/main" id="{36BBB67A-4B9D-40A0-A7C7-AF276EA36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90675"/>
            <a:ext cx="10572750" cy="526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Друга контролна тачка (Вежба 3–4) проверава да су идентитет, audit, observability и конфигурација стабилни пре</a:t>
            </a:r>
          </a:p>
          <a:p xmlns:a="http://schemas.openxmlformats.org/drawingml/2006/main">
            <a:pPr algn="l">
              <a:lnSpc>
                <a:spcPct val="140000"/>
              </a:lnSpc>
              <a:buNone/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оперативних токова.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C94D08-33EB-44E1-9008-CAF0E3505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2364829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6C1741-6142-4E8F-B942-7BE126B39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88654"/>
            <a:ext cx="6953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98" b="0">
                <a:solidFill>
                  <a:srgbClr val="6B3FA0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198" b="0">
                <a:solidFill>
                  <a:srgbClr val="6B3FA0"/>
                </a:solidFill>
                <a:latin typeface="IBM Plex Mono"/>
                <a:ea typeface="IBM Plex Mono"/>
                <a:cs typeface="IBM Plex Mono"/>
              </a:defRPr>
            </a:pPr>
            <a:r>
              <a:rPr sz="2198" b="0">
                <a:solidFill>
                  <a:srgbClr val="6B3FA0"/>
                </a:solidFill>
                <a:latin typeface="IBM Plex Mono"/>
                <a:ea typeface="IBM Plex Mono"/>
                <a:cs typeface="IBM Plex Mono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CED531-8BA6-4A71-AD37-7751B833F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507704"/>
            <a:ext cx="9791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6000"/>
              </a:lnSpc>
              <a:buNone/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Провера дозволе захтева и улогу и припадност мисији.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7D9DCA-ACAE-414A-B927-FCE845B43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2917279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A4631D-C3B6-4BE7-847B-B35508795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041104"/>
            <a:ext cx="6953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98" b="0">
                <a:solidFill>
                  <a:srgbClr val="6B3FA0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198" b="0">
                <a:solidFill>
                  <a:srgbClr val="6B3FA0"/>
                </a:solidFill>
                <a:latin typeface="IBM Plex Mono"/>
                <a:ea typeface="IBM Plex Mono"/>
                <a:cs typeface="IBM Plex Mono"/>
              </a:defRPr>
            </a:pPr>
            <a:r>
              <a:rPr sz="2198" b="0">
                <a:solidFill>
                  <a:srgbClr val="6B3FA0"/>
                </a:solidFill>
                <a:latin typeface="IBM Plex Mono"/>
                <a:ea typeface="IBM Plex Mono"/>
                <a:cs typeface="IBM Plex Mono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0A0A10-A5C4-44EC-8665-80D8AD147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060154"/>
            <a:ext cx="9791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6000"/>
              </a:lnSpc>
              <a:buNone/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Audit евиденција је append-only и претражива по correlation id-у.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B83669-F8EB-4391-95FE-2D6F07FBA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3469729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4948F6-E1D7-4381-876F-8A3BC97D9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93554"/>
            <a:ext cx="6953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98" b="0">
                <a:solidFill>
                  <a:srgbClr val="6B3FA0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198" b="0">
                <a:solidFill>
                  <a:srgbClr val="6B3FA0"/>
                </a:solidFill>
                <a:latin typeface="IBM Plex Mono"/>
                <a:ea typeface="IBM Plex Mono"/>
                <a:cs typeface="IBM Plex Mono"/>
              </a:defRPr>
            </a:pPr>
            <a:r>
              <a:rPr sz="2198" b="0">
                <a:solidFill>
                  <a:srgbClr val="6B3FA0"/>
                </a:solidFill>
                <a:latin typeface="IBM Plex Mono"/>
                <a:ea typeface="IBM Plex Mono"/>
                <a:cs typeface="IBM Plex Mono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84DDEC-D0C7-42F2-85B9-39E1F932B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612604"/>
            <a:ext cx="9791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6000"/>
              </a:lnSpc>
              <a:buNone/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Message contract registry спречава измену објављене верзије у месту.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4FB60C-EA7D-48D5-A123-44D3682C7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4022179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18DD2D-9C3D-4DA8-9AD2-CF7BC9CA0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146004"/>
            <a:ext cx="6953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98" b="0">
                <a:solidFill>
                  <a:srgbClr val="6B3FA0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198" b="0">
                <a:solidFill>
                  <a:srgbClr val="6B3FA0"/>
                </a:solidFill>
                <a:latin typeface="IBM Plex Mono"/>
                <a:ea typeface="IBM Plex Mono"/>
                <a:cs typeface="IBM Plex Mono"/>
              </a:defRPr>
            </a:pPr>
            <a:r>
              <a:rPr sz="2198" b="0">
                <a:solidFill>
                  <a:srgbClr val="6B3FA0"/>
                </a:solidFill>
                <a:latin typeface="IBM Plex Mono"/>
                <a:ea typeface="IBM Plex Mono"/>
                <a:cs typeface="IBM Plex Mono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2CEF98-9676-4DDD-B24D-44AA8BFE7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165054"/>
            <a:ext cx="9791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6000"/>
              </a:lnSpc>
              <a:buNone/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Failure симулатор омогућава поновљиво увођење кашњења и дупликације.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04516F-A8F7-4AA0-97F5-09A5BC39F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619125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046366-85E9-4568-B015-A8B629D7E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296025"/>
            <a:ext cx="9858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дистрибуираног програмирања</a:t>
            </a:r>
          </a:p>
        </p:txBody>
      </p:sp>
      <p:sp>
        <p:nvSpPr>
          <p:cNvPr id="19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57C28A7D-FC86-48C3-8C92-A08627AA9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2960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r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2084955301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6B3FA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4E36D2-F960-433C-8F9C-4FB8246EC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7200"/>
            <a:ext cx="4572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C1872D-FF30-4D08-8D5C-410C5C054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714375"/>
            <a:ext cx="1057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FCFCFB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1">
                <a:solidFill>
                  <a:srgbClr val="FCFCFB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1">
                <a:solidFill>
                  <a:srgbClr val="FCFCFB"/>
                </a:solidFill>
                <a:latin typeface="IBM Plex Mono"/>
                <a:ea typeface="IBM Plex Mono"/>
                <a:cs typeface="IBM Plex Mono"/>
              </a:rPr>
              <a:t>04 · ПРИМЕНА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6434EB9-1DD8-472E-9F1B-2052AF91A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981075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FCFCFB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3000" b="1">
                <a:solidFill>
                  <a:srgbClr val="FCFCFB"/>
                </a:solidFill>
                <a:latin typeface="IBM Plex Sans"/>
                <a:ea typeface="IBM Plex Sans"/>
                <a:cs typeface="IBM Plex Sans"/>
              </a:defRPr>
            </a:pPr>
            <a:r>
              <a:rPr sz="3000" b="1">
                <a:solidFill>
                  <a:srgbClr val="FCFCFB"/>
                </a:solidFill>
                <a:latin typeface="IBM Plex Sans"/>
                <a:ea typeface="IBM Plex Sans"/>
                <a:cs typeface="IBM Plex Sans"/>
              </a:rPr>
              <a:t>Резиме</a:t>
            </a:r>
          </a:p>
        </p:txBody>
      </p:sp>
      <p:sp>
        <p:nvSpPr>
          <p:cNvPr id="4" name="slide-lead">
            <a:extLst xmlns:a="http://schemas.openxmlformats.org/drawingml/2006/main">
              <a:ext uri="{FF2B5EF4-FFF2-40B4-BE49-F238E27FC236}">
                <a16:creationId xmlns:a16="http://schemas.microsoft.com/office/drawing/2014/main" id="{EEE63D2A-1B1B-4755-93C7-6C2017CC0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90675"/>
            <a:ext cx="10572750" cy="2775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FCFCFB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400" b="0">
                <a:solidFill>
                  <a:srgbClr val="FCFCFB"/>
                </a:solidFill>
                <a:latin typeface="IBM Plex Sans"/>
                <a:ea typeface="IBM Plex Sans"/>
                <a:cs typeface="IBM Plex Sans"/>
              </a:defRPr>
            </a:pPr>
            <a:r>
              <a:rPr sz="1400" b="0">
                <a:solidFill>
                  <a:srgbClr val="FCFCFB"/>
                </a:solidFill>
                <a:latin typeface="IBM Plex Sans"/>
                <a:ea typeface="IBM Plex Sans"/>
                <a:cs typeface="IBM Plex Sans"/>
              </a:rPr>
              <a:t>За најважније токове тим формулише неколико малих failure експеримената и покреће их у истом окружењу.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1AF8BF-8D33-4E90-9974-4857DB6D5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524125"/>
            <a:ext cx="98107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FCFCFB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50" b="1">
                <a:solidFill>
                  <a:srgbClr val="FCFCFB"/>
                </a:solidFill>
                <a:latin typeface="IBM Plex Sans"/>
                <a:ea typeface="IBM Plex Sans"/>
                <a:cs typeface="IBM Plex Sans"/>
              </a:defRPr>
            </a:pPr>
            <a:r>
              <a:rPr sz="2250" b="1">
                <a:solidFill>
                  <a:srgbClr val="FCFCFB"/>
                </a:solidFill>
                <a:latin typeface="IBM Plex Sans"/>
                <a:ea typeface="IBM Plex Sans"/>
                <a:cs typeface="IBM Plex Sans"/>
              </a:rPr>
              <a:t>Циљ није претпоставити савршен транспорт, већ јасно дефинисати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2250" b="1">
                <a:solidFill>
                  <a:srgbClr val="FCFCFB"/>
                </a:solidFill>
                <a:latin typeface="IBM Plex Sans"/>
                <a:ea typeface="IBM Plex Sans"/>
                <a:cs typeface="IBM Plex Sans"/>
              </a:defRPr>
            </a:pPr>
            <a:r>
              <a:rPr sz="2250" b="1">
                <a:solidFill>
                  <a:srgbClr val="FCFCFB"/>
                </a:solidFill>
                <a:latin typeface="IBM Plex Sans"/>
                <a:ea typeface="IBM Plex Sans"/>
                <a:cs typeface="IBM Plex Sans"/>
              </a:rPr>
              <a:t>понашање када транспорт није савршен.</a:t>
            </a:r>
          </a:p>
        </p:txBody>
      </p:sp>
      <p:sp>
        <p:nvSpPr>
          <p:cNvPr id="6" name="banner-background">
            <a:extLst xmlns:a="http://schemas.openxmlformats.org/drawingml/2006/main">
              <a:ext uri="{FF2B5EF4-FFF2-40B4-BE49-F238E27FC236}">
                <a16:creationId xmlns:a16="http://schemas.microsoft.com/office/drawing/2014/main" id="{5C751B77-D2D0-4E2A-A8F9-25C177BB4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33875"/>
            <a:ext cx="10572750" cy="735330"/>
          </a:xfrm>
          <a:prstGeom xmlns:a="http://schemas.openxmlformats.org/drawingml/2006/main" prst="roundRect">
            <a:avLst>
              <a:gd name="adj" fmla="val 10363"/>
            </a:avLst>
          </a:prstGeom>
          <a:solidFill xmlns:a="http://schemas.openxmlformats.org/drawingml/2006/main">
            <a:srgbClr val="7E58A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banner-curved-accent">
            <a:extLst xmlns:a="http://schemas.openxmlformats.org/drawingml/2006/main">
              <a:ext uri="{FF2B5EF4-FFF2-40B4-BE49-F238E27FC236}">
                <a16:creationId xmlns:a16="http://schemas.microsoft.com/office/drawing/2014/main" id="{A1D1ACF4-8E6F-4C78-A60C-702DECA9C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33875"/>
            <a:ext cx="76200" cy="735330"/>
          </a:xfrm>
          <a:custGeom xmlns:a="http://schemas.openxmlformats.org/drawingml/2006/main">
            <a:pathLst>
              <a:path w="76200" h="735330">
                <a:moveTo>
                  <a:pt x="76200" y="0"/>
                </a:moveTo>
                <a:cubicBezTo>
                  <a:pt x="34100" y="0"/>
                  <a:pt x="0" y="34100"/>
                  <a:pt x="0" y="76200"/>
                </a:cubicBezTo>
                <a:lnTo>
                  <a:pt x="0" y="659130"/>
                </a:lnTo>
                <a:cubicBezTo>
                  <a:pt x="0" y="701231"/>
                  <a:pt x="34100" y="735330"/>
                  <a:pt x="76200" y="735330"/>
                </a:cubicBezTo>
                <a:lnTo>
                  <a:pt x="76200" y="697230"/>
                </a:lnTo>
                <a:cubicBezTo>
                  <a:pt x="55150" y="697230"/>
                  <a:pt x="38100" y="680180"/>
                  <a:pt x="38100" y="659130"/>
                </a:cubicBezTo>
                <a:lnTo>
                  <a:pt x="38100" y="76200"/>
                </a:lnTo>
                <a:cubicBezTo>
                  <a:pt x="38100" y="55150"/>
                  <a:pt x="55150" y="38100"/>
                  <a:pt x="76200" y="38100"/>
                </a:cubicBezTo>
                <a:close/>
              </a:path>
            </a:pathLst>
          </a:custGeom>
          <a:solidFill xmlns:a="http://schemas.openxmlformats.org/drawingml/2006/main">
            <a:srgbClr val="FCFCFB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4C9B4A-99D9-472D-89D0-AEA335181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4457700"/>
            <a:ext cx="101155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FCFCFB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1">
                <a:solidFill>
                  <a:srgbClr val="FCFCFB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1">
                <a:solidFill>
                  <a:srgbClr val="FCFCFB"/>
                </a:solidFill>
                <a:latin typeface="IBM Plex Mono"/>
                <a:ea typeface="IBM Plex Mono"/>
                <a:cs typeface="IBM Plex Mono"/>
              </a:rPr>
              <a:t>НАПОМЕНА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9215BF-8D54-47FB-AFA6-17A8B5297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4695825"/>
            <a:ext cx="10115550" cy="2686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FCFCFB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400" b="0">
                <a:solidFill>
                  <a:srgbClr val="FCFCFB"/>
                </a:solidFill>
                <a:latin typeface="IBM Plex Sans"/>
                <a:ea typeface="IBM Plex Sans"/>
                <a:cs typeface="IBM Plex Sans"/>
              </a:defRPr>
            </a:pPr>
            <a:r>
              <a:rPr sz="1400" b="0">
                <a:solidFill>
                  <a:srgbClr val="FCFCFB"/>
                </a:solidFill>
                <a:latin typeface="IBM Plex Sans"/>
                <a:ea typeface="IBM Plex Sans"/>
                <a:cs typeface="IBM Plex Sans"/>
              </a:rPr>
              <a:t>Наредна вежба: Ток података и read модели.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401233-1919-4C0A-A8E5-3B327F57C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619125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C69B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C75B99-F81D-4840-80C2-7FEDF027F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296025"/>
            <a:ext cx="9858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FCFCFB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FCFCFB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FCFCFB"/>
                </a:solidFill>
                <a:latin typeface="IBM Plex Sans"/>
                <a:ea typeface="IBM Plex Sans"/>
                <a:cs typeface="IBM Plex Sans"/>
              </a:rPr>
              <a:t>Основе дистрибуираног програмирања</a:t>
            </a:r>
          </a:p>
        </p:txBody>
      </p:sp>
      <p:sp>
        <p:nvSpPr>
          <p:cNvPr id="12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C89E124F-4392-45A4-B897-4DE9A0E3F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2960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FCFCFB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r">
              <a:lnSpc>
                <a:spcPct val="135000"/>
              </a:lnSpc>
              <a:buNone/>
              <a:defRPr sz="1200" b="0">
                <a:solidFill>
                  <a:srgbClr val="FCFCFB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FCFCFB"/>
                </a:solidFill>
                <a:latin typeface="IBM Plex Mono"/>
                <a:ea typeface="IBM Plex Mono"/>
                <a:cs typeface="IBM Plex Mono"/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184882238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2026-10-10T19:18:03.9060000Z</dcterms:created>
  <dcterms:modified xsi:type="dcterms:W3CDTF">2026-10-10T19:18:03.9060000Z</dcterms:modified>
</coreProperties>
</file>